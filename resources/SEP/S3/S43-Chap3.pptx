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tags/tag89.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Override PartName="/ppt/tags/tag78.xml" ContentType="application/vnd.openxmlformats-officedocument.presentationml.tags+xml"/>
  <Override PartName="/ppt/tags/tag96.xml" ContentType="application/vnd.openxmlformats-officedocument.presentationml.tag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tags/tag38.xml" ContentType="application/vnd.openxmlformats-officedocument.presentationml.tags+xml"/>
  <Override PartName="/ppt/tags/tag56.xml" ContentType="application/vnd.openxmlformats-officedocument.presentationml.tags+xml"/>
  <Override PartName="/ppt/tags/tag67.xml" ContentType="application/vnd.openxmlformats-officedocument.presentationml.tags+xml"/>
  <Override PartName="/ppt/notesSlides/notesSlide16.xml" ContentType="application/vnd.openxmlformats-officedocument.presentationml.notesSlide+xml"/>
  <Override PartName="/ppt/tags/tag85.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ppt/tags/tag92.xml" ContentType="application/vnd.openxmlformats-officedocument.presentationml.tags+xml"/>
  <Override PartName="/ppt/notesSlides/notesSlide23.xml" ContentType="application/vnd.openxmlformats-officedocument.presentationml.notesSlide+xml"/>
  <Override PartName="/ppt/tags/tag34.xml" ContentType="application/vnd.openxmlformats-officedocument.presentationml.tags+xml"/>
  <Override PartName="/ppt/tags/tag52.xml" ContentType="application/vnd.openxmlformats-officedocument.presentationml.tags+xml"/>
  <Override PartName="/ppt/notesSlides/notesSlide12.xml" ContentType="application/vnd.openxmlformats-officedocument.presentationml.notesSlide+xml"/>
  <Override PartName="/ppt/tags/tag81.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tags/tag41.xml" ContentType="application/vnd.openxmlformats-officedocument.presentationml.tags+xml"/>
  <Override PartName="/ppt/tags/tag70.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openxmlformats-officedocument.oleObject"/>
  <Override PartName="/ppt/presProps.xml" ContentType="application/vnd.openxmlformats-officedocument.presentationml.presProps+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68.xml" ContentType="application/vnd.openxmlformats-officedocument.presentationml.tags+xml"/>
  <Override PartName="/ppt/notesSlides/notesSlide17.xml" ContentType="application/vnd.openxmlformats-officedocument.presentationml.notesSlide+xml"/>
  <Override PartName="/ppt/tags/tag86.xml" ContentType="application/vnd.openxmlformats-officedocument.presentationml.tags+xml"/>
  <Override PartName="/ppt/tags/tag97.xml" ContentType="application/vnd.openxmlformats-officedocument.presentationml.tags+xml"/>
  <Override PartName="/ppt/presentation.xml" ContentType="application/vnd.openxmlformats-officedocument.presentationml.presentation.main+xml"/>
  <Override PartName="/ppt/slides/slide22.xml" ContentType="application/vnd.openxmlformats-officedocument.presentationml.slide+xml"/>
  <Override PartName="/ppt/tags/tag1.xml" ContentType="application/vnd.openxmlformats-officedocument.presentationml.tags+xml"/>
  <Override PartName="/ppt/tags/tag28.xml" ContentType="application/vnd.openxmlformats-officedocument.presentationml.tags+xml"/>
  <Override PartName="/ppt/tags/tag57.xml" ContentType="application/vnd.openxmlformats-officedocument.presentationml.tags+xml"/>
  <Override PartName="/ppt/tags/tag75.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tags/tag17.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notesSlides/notesSlide13.xml" ContentType="application/vnd.openxmlformats-officedocument.presentationml.notesSlide+xml"/>
  <Override PartName="/ppt/tags/tag64.xml" ContentType="application/vnd.openxmlformats-officedocument.presentationml.tags+xml"/>
  <Override PartName="/ppt/tags/tag82.xml" ContentType="application/vnd.openxmlformats-officedocument.presentationml.tags+xml"/>
  <Override PartName="/ppt/tags/tag93.xml" ContentType="application/vnd.openxmlformats-officedocument.presentationml.tags+xml"/>
  <Override PartName="/ppt/slideLayouts/slideLayout10.xml" ContentType="application/vnd.openxmlformats-officedocument.presentationml.slideLayout+xml"/>
  <Override PartName="/ppt/tags/tag24.xml" ContentType="application/vnd.openxmlformats-officedocument.presentationml.tags+xml"/>
  <Override PartName="/ppt/notesSlides/notesSlide8.xml" ContentType="application/vnd.openxmlformats-officedocument.presentationml.notesSlide+xml"/>
  <Override PartName="/ppt/tags/tag53.xml" ContentType="application/vnd.openxmlformats-officedocument.presentationml.tags+xml"/>
  <Default Extension="vml" ContentType="application/vnd.openxmlformats-officedocument.vmlDrawing"/>
  <Override PartName="/ppt/tags/tag71.xml" ContentType="application/vnd.openxmlformats-officedocument.presentationml.tags+xml"/>
  <Override PartName="/ppt/notesSlides/notesSlide20.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tags/tag60.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tags/tag98.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ags/tag2.xml" ContentType="application/vnd.openxmlformats-officedocument.presentationml.tags+xml"/>
  <Override PartName="/ppt/tags/tag58.xml" ContentType="application/vnd.openxmlformats-officedocument.presentationml.tags+xml"/>
  <Override PartName="/ppt/tags/tag69.xml" ContentType="application/vnd.openxmlformats-officedocument.presentationml.tags+xml"/>
  <Override PartName="/ppt/notesSlides/notesSlide18.xml" ContentType="application/vnd.openxmlformats-officedocument.presentationml.notesSlide+xml"/>
  <Override PartName="/ppt/tags/tag87.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tags/tag47.xml" ContentType="application/vnd.openxmlformats-officedocument.presentationml.tags+xml"/>
  <Override PartName="/ppt/tags/tag76.xml" ContentType="application/vnd.openxmlformats-officedocument.presentationml.tags+xml"/>
  <Override PartName="/ppt/tags/tag94.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notesSlides/notesSlide14.xml" ContentType="application/vnd.openxmlformats-officedocument.presentationml.notesSlide+xml"/>
  <Override PartName="/ppt/tags/tag65.xml" ContentType="application/vnd.openxmlformats-officedocument.presentationml.tags+xml"/>
  <Override PartName="/ppt/tags/tag83.xml" ContentType="application/vnd.openxmlformats-officedocument.presentationml.tag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43.xml" ContentType="application/vnd.openxmlformats-officedocument.presentationml.tags+xml"/>
  <Override PartName="/ppt/notesSlides/notesSlide9.xml" ContentType="application/vnd.openxmlformats-officedocument.presentationml.notesSlide+xml"/>
  <Override PartName="/ppt/tags/tag61.xml" ContentType="application/vnd.openxmlformats-officedocument.presentationml.tags+xml"/>
  <Override PartName="/ppt/tags/tag72.xml" ContentType="application/vnd.openxmlformats-officedocument.presentationml.tags+xml"/>
  <Override PartName="/ppt/notesSlides/notesSlide21.xml" ContentType="application/vnd.openxmlformats-officedocument.presentationml.notesSlide+xml"/>
  <Override PartName="/ppt/tags/tag90.xml" ContentType="application/vnd.openxmlformats-officedocument.presentationml.tags+xml"/>
  <Override PartName="/ppt/tags/tag32.xml" ContentType="application/vnd.openxmlformats-officedocument.presentationml.tags+xml"/>
  <Override PartName="/ppt/notesSlides/notesSlide10.xml" ContentType="application/vnd.openxmlformats-officedocument.presentationml.notesSlide+xml"/>
  <Override PartName="/ppt/tags/tag50.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tags/tag99.xml" ContentType="application/vnd.openxmlformats-officedocument.presentationml.tags+xml"/>
  <Override PartName="/ppt/slides/slide24.xml" ContentType="application/vnd.openxmlformats-officedocument.presentationml.slide+xml"/>
  <Default Extension="jpeg" ContentType="image/jpeg"/>
  <Override PartName="/ppt/tags/tag3.xml" ContentType="application/vnd.openxmlformats-officedocument.presentationml.tags+xml"/>
  <Override PartName="/ppt/tags/tag59.xml" ContentType="application/vnd.openxmlformats-officedocument.presentationml.tags+xml"/>
  <Override PartName="/ppt/tags/tag77.xml" ContentType="application/vnd.openxmlformats-officedocument.presentationml.tags+xml"/>
  <Override PartName="/ppt/tags/tag88.xml" ContentType="application/vnd.openxmlformats-officedocument.presentationml.tags+xml"/>
  <Override PartName="/ppt/slides/slide13.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notesSlides/notesSlide15.xml" ContentType="application/vnd.openxmlformats-officedocument.presentationml.notesSlide+xml"/>
  <Override PartName="/ppt/tags/tag66.xml" ContentType="application/vnd.openxmlformats-officedocument.presentationml.tags+xml"/>
  <Override PartName="/ppt/tags/tag84.xml" ContentType="application/vnd.openxmlformats-officedocument.presentationml.tags+xml"/>
  <Override PartName="/ppt/tags/tag95.xml" ContentType="application/vnd.openxmlformats-officedocument.presentationml.tags+xml"/>
  <Override PartName="/ppt/slides/slide20.xml" ContentType="application/vnd.openxmlformats-officedocument.presentationml.slide+xml"/>
  <Override PartName="/ppt/slideLayouts/slideLayout12.xml" ContentType="application/vnd.openxmlformats-officedocument.presentationml.slideLayout+xml"/>
  <Override PartName="/ppt/tags/tag26.xml" ContentType="application/vnd.openxmlformats-officedocument.presentationml.tags+xml"/>
  <Override PartName="/ppt/tags/tag55.xml" ContentType="application/vnd.openxmlformats-officedocument.presentationml.tags+xml"/>
  <Override PartName="/ppt/tags/tag73.xml" ContentType="application/vnd.openxmlformats-officedocument.presentationml.tags+xml"/>
  <Override PartName="/ppt/notesSlides/notesSlide22.xml" ContentType="application/vnd.openxmlformats-officedocument.presentationml.notesSlide+xml"/>
  <Override PartName="/ppt/tags/tag15.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notesSlides/notesSlide11.xml" ContentType="application/vnd.openxmlformats-officedocument.presentationml.notesSlide+xml"/>
  <Override PartName="/ppt/tags/tag62.xml" ContentType="application/vnd.openxmlformats-officedocument.presentationml.tags+xml"/>
  <Override PartName="/ppt/tags/tag80.xml" ContentType="application/vnd.openxmlformats-officedocument.presentationml.tags+xml"/>
  <Override PartName="/ppt/tags/tag91.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27"/>
  </p:notesMasterIdLst>
  <p:handoutMasterIdLst>
    <p:handoutMasterId r:id="rId28"/>
  </p:handoutMasterIdLst>
  <p:sldIdLst>
    <p:sldId id="256" r:id="rId2"/>
    <p:sldId id="257" r:id="rId3"/>
    <p:sldId id="391" r:id="rId4"/>
    <p:sldId id="368" r:id="rId5"/>
    <p:sldId id="354" r:id="rId6"/>
    <p:sldId id="340" r:id="rId7"/>
    <p:sldId id="390" r:id="rId8"/>
    <p:sldId id="353" r:id="rId9"/>
    <p:sldId id="392" r:id="rId10"/>
    <p:sldId id="369" r:id="rId11"/>
    <p:sldId id="371" r:id="rId12"/>
    <p:sldId id="376" r:id="rId13"/>
    <p:sldId id="365" r:id="rId14"/>
    <p:sldId id="382" r:id="rId15"/>
    <p:sldId id="375" r:id="rId16"/>
    <p:sldId id="396" r:id="rId17"/>
    <p:sldId id="397" r:id="rId18"/>
    <p:sldId id="398" r:id="rId19"/>
    <p:sldId id="393" r:id="rId20"/>
    <p:sldId id="384" r:id="rId21"/>
    <p:sldId id="385" r:id="rId22"/>
    <p:sldId id="386" r:id="rId23"/>
    <p:sldId id="387" r:id="rId24"/>
    <p:sldId id="394" r:id="rId25"/>
    <p:sldId id="395" r:id="rId26"/>
  </p:sldIdLst>
  <p:sldSz cx="9144000" cy="6858000" type="screen4x3"/>
  <p:notesSz cx="6997700" cy="9283700"/>
  <p:embeddedFontLst>
    <p:embeddedFont>
      <p:font typeface="Georgia" pitchFamily="18" charset="0"/>
      <p:regular r:id="rId29"/>
      <p:bold r:id="rId30"/>
      <p:italic r:id="rId31"/>
      <p:boldItalic r:id="rId32"/>
    </p:embeddedFont>
    <p:embeddedFont>
      <p:font typeface="Arial Narrow" pitchFamily="34" charset="0"/>
      <p:regular r:id="rId33"/>
      <p:bold r:id="rId34"/>
      <p:italic r:id="rId35"/>
      <p:boldItalic r:id="rId36"/>
    </p:embeddedFont>
    <p:embeddedFont>
      <p:font typeface="Wingdings 2" pitchFamily="18" charset="2"/>
      <p:regular r:id="rId37"/>
    </p:embeddedFont>
  </p:embeddedFontLst>
  <p:custShowLst>
    <p:custShow name="Custom Show 1" id="0">
      <p:sldLst>
        <p:sld r:id="rId13"/>
      </p:sldLst>
    </p:custShow>
  </p:custShowLst>
  <p:defaultTextStyle>
    <a:defPPr>
      <a:defRPr lang="en-US"/>
    </a:defPPr>
    <a:lvl1pPr algn="ctr" rtl="0" eaLnBrk="0" fontAlgn="base" hangingPunct="0">
      <a:lnSpc>
        <a:spcPct val="90000"/>
      </a:lnSpc>
      <a:spcBef>
        <a:spcPct val="40000"/>
      </a:spcBef>
      <a:spcAft>
        <a:spcPct val="0"/>
      </a:spcAft>
      <a:buClr>
        <a:srgbClr val="8DACD0"/>
      </a:buClr>
      <a:buSzPct val="70000"/>
      <a:buFont typeface="Wingdings" pitchFamily="2" charset="2"/>
      <a:buChar char="l"/>
      <a:defRPr sz="2400" b="1" kern="1200">
        <a:solidFill>
          <a:schemeClr val="tx1"/>
        </a:solidFill>
        <a:latin typeface="Arial Narrow" pitchFamily="34" charset="0"/>
        <a:ea typeface="+mn-ea"/>
        <a:cs typeface="+mn-cs"/>
      </a:defRPr>
    </a:lvl1pPr>
    <a:lvl2pPr marL="457200" algn="ctr" rtl="0" eaLnBrk="0" fontAlgn="base" hangingPunct="0">
      <a:lnSpc>
        <a:spcPct val="90000"/>
      </a:lnSpc>
      <a:spcBef>
        <a:spcPct val="40000"/>
      </a:spcBef>
      <a:spcAft>
        <a:spcPct val="0"/>
      </a:spcAft>
      <a:buClr>
        <a:srgbClr val="8DACD0"/>
      </a:buClr>
      <a:buSzPct val="70000"/>
      <a:buFont typeface="Wingdings" pitchFamily="2" charset="2"/>
      <a:buChar char="l"/>
      <a:defRPr sz="2400" b="1" kern="1200">
        <a:solidFill>
          <a:schemeClr val="tx1"/>
        </a:solidFill>
        <a:latin typeface="Arial Narrow" pitchFamily="34" charset="0"/>
        <a:ea typeface="+mn-ea"/>
        <a:cs typeface="+mn-cs"/>
      </a:defRPr>
    </a:lvl2pPr>
    <a:lvl3pPr marL="914400" algn="ctr" rtl="0" eaLnBrk="0" fontAlgn="base" hangingPunct="0">
      <a:lnSpc>
        <a:spcPct val="90000"/>
      </a:lnSpc>
      <a:spcBef>
        <a:spcPct val="40000"/>
      </a:spcBef>
      <a:spcAft>
        <a:spcPct val="0"/>
      </a:spcAft>
      <a:buClr>
        <a:srgbClr val="8DACD0"/>
      </a:buClr>
      <a:buSzPct val="70000"/>
      <a:buFont typeface="Wingdings" pitchFamily="2" charset="2"/>
      <a:buChar char="l"/>
      <a:defRPr sz="2400" b="1" kern="1200">
        <a:solidFill>
          <a:schemeClr val="tx1"/>
        </a:solidFill>
        <a:latin typeface="Arial Narrow" pitchFamily="34" charset="0"/>
        <a:ea typeface="+mn-ea"/>
        <a:cs typeface="+mn-cs"/>
      </a:defRPr>
    </a:lvl3pPr>
    <a:lvl4pPr marL="1371600" algn="ctr" rtl="0" eaLnBrk="0" fontAlgn="base" hangingPunct="0">
      <a:lnSpc>
        <a:spcPct val="90000"/>
      </a:lnSpc>
      <a:spcBef>
        <a:spcPct val="40000"/>
      </a:spcBef>
      <a:spcAft>
        <a:spcPct val="0"/>
      </a:spcAft>
      <a:buClr>
        <a:srgbClr val="8DACD0"/>
      </a:buClr>
      <a:buSzPct val="70000"/>
      <a:buFont typeface="Wingdings" pitchFamily="2" charset="2"/>
      <a:buChar char="l"/>
      <a:defRPr sz="2400" b="1" kern="1200">
        <a:solidFill>
          <a:schemeClr val="tx1"/>
        </a:solidFill>
        <a:latin typeface="Arial Narrow" pitchFamily="34" charset="0"/>
        <a:ea typeface="+mn-ea"/>
        <a:cs typeface="+mn-cs"/>
      </a:defRPr>
    </a:lvl4pPr>
    <a:lvl5pPr marL="1828800" algn="ctr" rtl="0" eaLnBrk="0" fontAlgn="base" hangingPunct="0">
      <a:lnSpc>
        <a:spcPct val="90000"/>
      </a:lnSpc>
      <a:spcBef>
        <a:spcPct val="40000"/>
      </a:spcBef>
      <a:spcAft>
        <a:spcPct val="0"/>
      </a:spcAft>
      <a:buClr>
        <a:srgbClr val="8DACD0"/>
      </a:buClr>
      <a:buSzPct val="70000"/>
      <a:buFont typeface="Wingdings" pitchFamily="2" charset="2"/>
      <a:buChar char="l"/>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elley Umphrey" initials="" lastIdx="8" clrIdx="0"/>
  <p:cmAuthor id="1" name="eliree" initials="" lastIdx="32" clrIdx="1"/>
  <p:cmAuthor id="2" name="jimcla" initials="" lastIdx="7" clrIdx="2"/>
  <p:cmAuthor id="3" name="Elisem" initials="" lastIdx="1" clrIdx="3"/>
  <p:cmAuthor id="4" name="ESM" initials="" lastIdx="6" clrIdx="4"/>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showPr showNarration="1">
    <p:present/>
    <p:sldAll/>
    <p:penClr>
      <a:schemeClr val="tx1"/>
    </p:penClr>
  </p:showPr>
  <p:clrMru>
    <a:srgbClr val="F2C9C2"/>
    <a:srgbClr val="CBEDC3"/>
    <a:srgbClr val="DFD2FF"/>
    <a:srgbClr val="CCB8E4"/>
    <a:srgbClr val="F6D9D4"/>
    <a:srgbClr val="DEE7F1"/>
    <a:srgbClr val="EEEFD7"/>
    <a:srgbClr val="D5D69C"/>
  </p:clrMru>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15620" autoAdjust="0"/>
    <p:restoredTop sz="94660" autoAdjust="0"/>
  </p:normalViewPr>
  <p:slideViewPr>
    <p:cSldViewPr snapToGrid="0">
      <p:cViewPr varScale="1">
        <p:scale>
          <a:sx n="62" d="100"/>
          <a:sy n="62" d="100"/>
        </p:scale>
        <p:origin x="-123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36" d="100"/>
          <a:sy n="36" d="100"/>
        </p:scale>
        <p:origin x="-2274" y="-66"/>
      </p:cViewPr>
      <p:guideLst>
        <p:guide orient="horz" pos="2924"/>
        <p:guide pos="22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image" Target="../media/image11.png"/></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282" name="Rectangle 2"/>
          <p:cNvSpPr>
            <a:spLocks noGrp="1" noChangeArrowheads="1"/>
          </p:cNvSpPr>
          <p:nvPr>
            <p:ph type="hdr" sz="quarter"/>
            <p:custDataLst>
              <p:tags r:id="rId2"/>
            </p:custDataLst>
          </p:nvPr>
        </p:nvSpPr>
        <p:spPr bwMode="auto">
          <a:xfrm>
            <a:off x="0" y="0"/>
            <a:ext cx="3032125"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ClrTx/>
              <a:buSzTx/>
              <a:buFontTx/>
              <a:buNone/>
              <a:defRPr sz="1200" b="0">
                <a:latin typeface="Arial" charset="0"/>
              </a:defRPr>
            </a:lvl1pPr>
          </a:lstStyle>
          <a:p>
            <a:endParaRPr lang="en-US"/>
          </a:p>
        </p:txBody>
      </p:sp>
      <p:sp>
        <p:nvSpPr>
          <p:cNvPr id="225283" name="Rectangle 3"/>
          <p:cNvSpPr>
            <a:spLocks noGrp="1" noChangeArrowheads="1"/>
          </p:cNvSpPr>
          <p:nvPr>
            <p:ph type="dt" sz="quarter" idx="1"/>
            <p:custDataLst>
              <p:tags r:id="rId3"/>
            </p:custDataLst>
          </p:nvPr>
        </p:nvSpPr>
        <p:spPr bwMode="auto">
          <a:xfrm>
            <a:off x="3963988" y="0"/>
            <a:ext cx="3032125"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ClrTx/>
              <a:buSzTx/>
              <a:buFontTx/>
              <a:buNone/>
              <a:defRPr sz="1200" b="0">
                <a:latin typeface="Arial" charset="0"/>
              </a:defRPr>
            </a:lvl1pPr>
          </a:lstStyle>
          <a:p>
            <a:endParaRPr lang="en-US"/>
          </a:p>
        </p:txBody>
      </p:sp>
      <p:sp>
        <p:nvSpPr>
          <p:cNvPr id="225284" name="Rectangle 4"/>
          <p:cNvSpPr>
            <a:spLocks noGrp="1" noChangeArrowheads="1"/>
          </p:cNvSpPr>
          <p:nvPr>
            <p:ph type="ftr" sz="quarter" idx="2"/>
            <p:custDataLst>
              <p:tags r:id="rId4"/>
            </p:custDataLst>
          </p:nvPr>
        </p:nvSpPr>
        <p:spPr bwMode="auto">
          <a:xfrm>
            <a:off x="0" y="8818563"/>
            <a:ext cx="3032125"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spcBef>
                <a:spcPct val="0"/>
              </a:spcBef>
              <a:buClrTx/>
              <a:buSzTx/>
              <a:buFontTx/>
              <a:buNone/>
              <a:defRPr sz="1200" b="0">
                <a:latin typeface="Arial" charset="0"/>
              </a:defRPr>
            </a:lvl1pPr>
          </a:lstStyle>
          <a:p>
            <a:endParaRPr lang="en-US"/>
          </a:p>
        </p:txBody>
      </p:sp>
      <p:sp>
        <p:nvSpPr>
          <p:cNvPr id="225285" name="Rectangle 5"/>
          <p:cNvSpPr>
            <a:spLocks noGrp="1" noChangeArrowheads="1"/>
          </p:cNvSpPr>
          <p:nvPr>
            <p:ph type="sldNum" sz="quarter" idx="3"/>
            <p:custDataLst>
              <p:tags r:id="rId5"/>
            </p:custDataLst>
          </p:nvPr>
        </p:nvSpPr>
        <p:spPr bwMode="auto">
          <a:xfrm>
            <a:off x="3963988" y="8818563"/>
            <a:ext cx="3032125"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ClrTx/>
              <a:buSzTx/>
              <a:buFontTx/>
              <a:buNone/>
              <a:defRPr sz="1200" b="0">
                <a:latin typeface="Arial" charset="0"/>
              </a:defRPr>
            </a:lvl1pPr>
          </a:lstStyle>
          <a:p>
            <a:fld id="{6A20EC4B-41E4-4B9E-878A-AC20B306FA54}"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custDataLst>
              <p:tags r:id="rId2"/>
            </p:custDataLst>
          </p:nvPr>
        </p:nvSpPr>
        <p:spPr bwMode="auto">
          <a:xfrm>
            <a:off x="0" y="0"/>
            <a:ext cx="3032125" cy="4635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l" defTabSz="930275" eaLnBrk="1" hangingPunct="1">
              <a:lnSpc>
                <a:spcPct val="100000"/>
              </a:lnSpc>
              <a:spcBef>
                <a:spcPct val="0"/>
              </a:spcBef>
              <a:buClrTx/>
              <a:buSzTx/>
              <a:buFontTx/>
              <a:buNone/>
              <a:defRPr sz="1200" b="0">
                <a:latin typeface="Arial" charset="0"/>
              </a:defRPr>
            </a:lvl1pPr>
          </a:lstStyle>
          <a:p>
            <a:endParaRPr lang="en-US"/>
          </a:p>
        </p:txBody>
      </p:sp>
      <p:sp>
        <p:nvSpPr>
          <p:cNvPr id="16387" name="Rectangle 3"/>
          <p:cNvSpPr>
            <a:spLocks noGrp="1" noChangeArrowheads="1"/>
          </p:cNvSpPr>
          <p:nvPr>
            <p:ph type="dt" idx="1"/>
            <p:custDataLst>
              <p:tags r:id="rId3"/>
            </p:custDataLst>
          </p:nvPr>
        </p:nvSpPr>
        <p:spPr bwMode="auto">
          <a:xfrm>
            <a:off x="3963988" y="0"/>
            <a:ext cx="3032125" cy="4635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eaLnBrk="1" hangingPunct="1">
              <a:lnSpc>
                <a:spcPct val="100000"/>
              </a:lnSpc>
              <a:spcBef>
                <a:spcPct val="0"/>
              </a:spcBef>
              <a:buClrTx/>
              <a:buSzTx/>
              <a:buFontTx/>
              <a:buNone/>
              <a:defRPr sz="1200" b="0">
                <a:latin typeface="Arial" charset="0"/>
              </a:defRPr>
            </a:lvl1pPr>
          </a:lstStyle>
          <a:p>
            <a:endParaRPr lang="en-US"/>
          </a:p>
        </p:txBody>
      </p:sp>
      <p:sp>
        <p:nvSpPr>
          <p:cNvPr id="16388"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ffectLst/>
        </p:spPr>
      </p:sp>
      <p:sp>
        <p:nvSpPr>
          <p:cNvPr id="16389" name="Rectangle 5"/>
          <p:cNvSpPr>
            <a:spLocks noGrp="1" noChangeArrowheads="1"/>
          </p:cNvSpPr>
          <p:nvPr>
            <p:ph type="body" sz="quarter" idx="3"/>
            <p:custDataLst>
              <p:tags r:id="rId4"/>
            </p:custDataLst>
          </p:nvPr>
        </p:nvSpPr>
        <p:spPr bwMode="auto">
          <a:xfrm>
            <a:off x="700088" y="4410075"/>
            <a:ext cx="5597525" cy="4176713"/>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6390" name="Rectangle 6"/>
          <p:cNvSpPr>
            <a:spLocks noGrp="1" noChangeArrowheads="1"/>
          </p:cNvSpPr>
          <p:nvPr>
            <p:ph type="ftr" sz="quarter" idx="4"/>
            <p:custDataLst>
              <p:tags r:id="rId5"/>
            </p:custDataLst>
          </p:nvPr>
        </p:nvSpPr>
        <p:spPr bwMode="auto">
          <a:xfrm>
            <a:off x="0" y="8818563"/>
            <a:ext cx="3032125" cy="463550"/>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l" defTabSz="930275" eaLnBrk="1" hangingPunct="1">
              <a:lnSpc>
                <a:spcPct val="100000"/>
              </a:lnSpc>
              <a:spcBef>
                <a:spcPct val="0"/>
              </a:spcBef>
              <a:buClrTx/>
              <a:buSzTx/>
              <a:buFontTx/>
              <a:buNone/>
              <a:defRPr sz="1200" b="0">
                <a:latin typeface="Arial" charset="0"/>
              </a:defRPr>
            </a:lvl1pPr>
          </a:lstStyle>
          <a:p>
            <a:endParaRPr lang="en-US"/>
          </a:p>
        </p:txBody>
      </p:sp>
      <p:sp>
        <p:nvSpPr>
          <p:cNvPr id="16391" name="Rectangle 7"/>
          <p:cNvSpPr>
            <a:spLocks noGrp="1" noChangeArrowheads="1"/>
          </p:cNvSpPr>
          <p:nvPr>
            <p:ph type="sldNum" sz="quarter" idx="5"/>
            <p:custDataLst>
              <p:tags r:id="rId6"/>
            </p:custDataLst>
          </p:nvPr>
        </p:nvSpPr>
        <p:spPr bwMode="auto">
          <a:xfrm>
            <a:off x="3963988" y="8818563"/>
            <a:ext cx="3032125" cy="463550"/>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eaLnBrk="1" hangingPunct="1">
              <a:lnSpc>
                <a:spcPct val="100000"/>
              </a:lnSpc>
              <a:spcBef>
                <a:spcPct val="0"/>
              </a:spcBef>
              <a:buClrTx/>
              <a:buSzTx/>
              <a:buFontTx/>
              <a:buNone/>
              <a:defRPr sz="1200" b="0">
                <a:latin typeface="Arial" charset="0"/>
              </a:defRPr>
            </a:lvl1pPr>
          </a:lstStyle>
          <a:p>
            <a:fld id="{C1B222F3-AE9C-4A29-80F3-379BE2D4E8E9}"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2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27.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41.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44.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48.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5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55.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59.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61.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6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70.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72.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76.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7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85.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89.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93.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07ABB04-CD61-4297-BF00-2956B91BF9A9}" type="slidenum">
              <a:rPr lang="en-US"/>
              <a:pPr/>
              <a:t>1</a:t>
            </a:fld>
            <a:endParaRPr lang="en-US"/>
          </a:p>
        </p:txBody>
      </p:sp>
      <p:sp>
        <p:nvSpPr>
          <p:cNvPr id="256002" name="Rectangle 2"/>
          <p:cNvSpPr>
            <a:spLocks noGrp="1" noRot="1" noChangeAspect="1" noChangeArrowheads="1" noTextEdit="1"/>
          </p:cNvSpPr>
          <p:nvPr>
            <p:ph type="sldImg"/>
          </p:nvPr>
        </p:nvSpPr>
        <p:spPr>
          <a:ln/>
        </p:spPr>
      </p:sp>
      <p:sp>
        <p:nvSpPr>
          <p:cNvPr id="25600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FD74524-7A35-42E8-BB57-A4D0C2958506}" type="slidenum">
              <a:rPr lang="en-US"/>
              <a:pPr/>
              <a:t>2</a:t>
            </a:fld>
            <a:endParaRPr lang="en-US"/>
          </a:p>
        </p:txBody>
      </p:sp>
      <p:sp>
        <p:nvSpPr>
          <p:cNvPr id="257026" name="Rectangle 2"/>
          <p:cNvSpPr>
            <a:spLocks noGrp="1" noRot="1" noChangeAspect="1" noChangeArrowheads="1" noTextEdit="1"/>
          </p:cNvSpPr>
          <p:nvPr>
            <p:ph type="sldImg"/>
          </p:nvPr>
        </p:nvSpPr>
        <p:spPr>
          <a:ln/>
        </p:spPr>
      </p:sp>
      <p:sp>
        <p:nvSpPr>
          <p:cNvPr id="25702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EE83EA1-9AEC-41D7-BA56-10253325C987}" type="slidenum">
              <a:rPr lang="en-US"/>
              <a:pPr/>
              <a:t>3</a:t>
            </a:fld>
            <a:endParaRPr lang="en-US"/>
          </a:p>
        </p:txBody>
      </p:sp>
      <p:sp>
        <p:nvSpPr>
          <p:cNvPr id="258050" name="Rectangle 2"/>
          <p:cNvSpPr>
            <a:spLocks noGrp="1" noRot="1" noChangeAspect="1" noChangeArrowheads="1" noTextEdit="1"/>
          </p:cNvSpPr>
          <p:nvPr>
            <p:ph type="sldImg"/>
          </p:nvPr>
        </p:nvSpPr>
        <p:spPr>
          <a:ln/>
        </p:spPr>
      </p:sp>
      <p:sp>
        <p:nvSpPr>
          <p:cNvPr id="25805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F86342E-AADB-48BE-B7D6-C50398387749}" type="slidenum">
              <a:rPr lang="en-US"/>
              <a:pPr/>
              <a:t>4</a:t>
            </a:fld>
            <a:endParaRPr lang="en-US"/>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8B65E156-9B36-4C3C-B355-4784888BA0B3}" type="slidenum">
              <a:rPr lang="en-US"/>
              <a:pPr/>
              <a:t>5</a:t>
            </a:fld>
            <a:endParaRPr lang="en-US"/>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CF343CE-E53F-438C-A5BE-90B4E2B040E0}" type="slidenum">
              <a:rPr lang="en-US"/>
              <a:pPr/>
              <a:t>6</a:t>
            </a:fld>
            <a:endParaRPr lang="en-US"/>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0B9FE63-0B43-4B1E-A010-73723D2F8A16}" type="slidenum">
              <a:rPr lang="en-US"/>
              <a:pPr/>
              <a:t>7</a:t>
            </a:fld>
            <a:endParaRPr lang="en-US"/>
          </a:p>
        </p:txBody>
      </p:sp>
      <p:sp>
        <p:nvSpPr>
          <p:cNvPr id="259074" name="Rectangle 2"/>
          <p:cNvSpPr>
            <a:spLocks noGrp="1" noRot="1" noChangeAspect="1" noChangeArrowheads="1" noTextEdit="1"/>
          </p:cNvSpPr>
          <p:nvPr>
            <p:ph type="sldImg"/>
          </p:nvPr>
        </p:nvSpPr>
        <p:spPr>
          <a:ln/>
        </p:spPr>
      </p:sp>
      <p:sp>
        <p:nvSpPr>
          <p:cNvPr id="25907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49639F38-BC5F-4002-B264-2F38A246D322}" type="slidenum">
              <a:rPr lang="en-US"/>
              <a:pPr/>
              <a:t>8</a:t>
            </a:fld>
            <a:endParaRPr lang="en-US"/>
          </a:p>
        </p:txBody>
      </p:sp>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58F8E773-A14F-43E5-8444-3916585DB81F}" type="slidenum">
              <a:rPr lang="en-US"/>
              <a:pPr/>
              <a:t>9</a:t>
            </a:fld>
            <a:endParaRPr lang="en-US"/>
          </a:p>
        </p:txBody>
      </p:sp>
      <p:sp>
        <p:nvSpPr>
          <p:cNvPr id="262146" name="Rectangle 2"/>
          <p:cNvSpPr>
            <a:spLocks noGrp="1" noRot="1" noChangeAspect="1" noChangeArrowheads="1" noTextEdit="1"/>
          </p:cNvSpPr>
          <p:nvPr>
            <p:ph type="sldImg"/>
          </p:nvPr>
        </p:nvSpPr>
        <p:spPr>
          <a:ln/>
        </p:spPr>
      </p:sp>
      <p:sp>
        <p:nvSpPr>
          <p:cNvPr id="26214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986E34B-249F-4573-8553-DA0A80951388}" type="slidenum">
              <a:rPr lang="en-US"/>
              <a:pPr/>
              <a:t>10</a:t>
            </a:fld>
            <a:endParaRPr lang="en-US"/>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D7BA746-B7AD-4BB5-AC66-DF55B441284C}" type="slidenum">
              <a:rPr lang="en-US"/>
              <a:pPr/>
              <a:t>11</a:t>
            </a:fld>
            <a:endParaRPr lang="en-US"/>
          </a:p>
        </p:txBody>
      </p:sp>
      <p:sp>
        <p:nvSpPr>
          <p:cNvPr id="220162" name="Rectangle 2"/>
          <p:cNvSpPr>
            <a:spLocks noGrp="1" noRot="1" noChangeAspect="1" noChangeArrowheads="1" noTextEdit="1"/>
          </p:cNvSpPr>
          <p:nvPr>
            <p:ph type="sldImg"/>
          </p:nvPr>
        </p:nvSpPr>
        <p:spPr>
          <a:ln/>
        </p:spPr>
      </p:sp>
      <p:sp>
        <p:nvSpPr>
          <p:cNvPr id="22016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DC08964B-A144-455D-80C6-A3BC2855BF35}" type="slidenum">
              <a:rPr lang="en-US"/>
              <a:pPr/>
              <a:t>12</a:t>
            </a:fld>
            <a:endParaRPr lang="en-US"/>
          </a:p>
        </p:txBody>
      </p:sp>
      <p:sp>
        <p:nvSpPr>
          <p:cNvPr id="264194" name="Rectangle 2"/>
          <p:cNvSpPr>
            <a:spLocks noGrp="1" noRot="1" noChangeAspect="1" noChangeArrowheads="1" noTextEdit="1"/>
          </p:cNvSpPr>
          <p:nvPr>
            <p:ph type="sldImg"/>
          </p:nvPr>
        </p:nvSpPr>
        <p:spPr>
          <a:ln/>
        </p:spPr>
      </p:sp>
      <p:sp>
        <p:nvSpPr>
          <p:cNvPr id="2641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7EC42C1-0485-4C6D-A706-D1DB4C7EA688}" type="slidenum">
              <a:rPr lang="en-US"/>
              <a:pPr/>
              <a:t>13</a:t>
            </a:fld>
            <a:endParaRPr lang="en-US"/>
          </a:p>
        </p:txBody>
      </p:sp>
      <p:sp>
        <p:nvSpPr>
          <p:cNvPr id="205826" name="Rectangle 2"/>
          <p:cNvSpPr>
            <a:spLocks noGrp="1" noRot="1" noChangeAspect="1" noChangeArrowheads="1" noTextEdit="1"/>
          </p:cNvSpPr>
          <p:nvPr>
            <p:ph type="sldImg"/>
          </p:nvPr>
        </p:nvSpPr>
        <p:spPr>
          <a:ln/>
        </p:spPr>
      </p:sp>
      <p:sp>
        <p:nvSpPr>
          <p:cNvPr id="20582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2D09291-AF42-4640-BFAE-1B9CBE516FE6}" type="slidenum">
              <a:rPr lang="en-US"/>
              <a:pPr/>
              <a:t>14</a:t>
            </a:fld>
            <a:endParaRPr lang="en-US"/>
          </a:p>
        </p:txBody>
      </p:sp>
      <p:sp>
        <p:nvSpPr>
          <p:cNvPr id="238594" name="Rectangle 2"/>
          <p:cNvSpPr>
            <a:spLocks noGrp="1" noRot="1" noChangeAspect="1" noChangeArrowheads="1" noTextEdit="1"/>
          </p:cNvSpPr>
          <p:nvPr>
            <p:ph type="sldImg"/>
          </p:nvPr>
        </p:nvSpPr>
        <p:spPr>
          <a:ln/>
        </p:spPr>
      </p:sp>
      <p:sp>
        <p:nvSpPr>
          <p:cNvPr id="2385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9D0CFE0-C6A7-47D0-9D97-A762986F1952}" type="slidenum">
              <a:rPr lang="en-US"/>
              <a:pPr/>
              <a:t>15</a:t>
            </a:fld>
            <a:endParaRPr lang="en-US"/>
          </a:p>
        </p:txBody>
      </p:sp>
      <p:sp>
        <p:nvSpPr>
          <p:cNvPr id="265218" name="Rectangle 2"/>
          <p:cNvSpPr>
            <a:spLocks noGrp="1" noRot="1" noChangeAspect="1" noChangeArrowheads="1" noTextEdit="1"/>
          </p:cNvSpPr>
          <p:nvPr>
            <p:ph type="sldImg"/>
          </p:nvPr>
        </p:nvSpPr>
        <p:spPr>
          <a:ln/>
        </p:spPr>
      </p:sp>
      <p:sp>
        <p:nvSpPr>
          <p:cNvPr id="26521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C3EB87B-4245-4FBA-95D7-67CF767A976C}" type="slidenum">
              <a:rPr lang="en-US"/>
              <a:pPr/>
              <a:t>16</a:t>
            </a:fld>
            <a:endParaRPr lang="en-US"/>
          </a:p>
        </p:txBody>
      </p:sp>
      <p:sp>
        <p:nvSpPr>
          <p:cNvPr id="250882" name="Rectangle 2"/>
          <p:cNvSpPr>
            <a:spLocks noRot="1" noChangeArrowheads="1" noTextEdit="1"/>
          </p:cNvSpPr>
          <p:nvPr>
            <p:ph type="sldImg"/>
          </p:nvPr>
        </p:nvSpPr>
        <p:spPr>
          <a:ln/>
        </p:spPr>
      </p:sp>
      <p:sp>
        <p:nvSpPr>
          <p:cNvPr id="25088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4AD2BAA2-653C-45DD-9841-7D2B0526BFE6}" type="slidenum">
              <a:rPr lang="en-US"/>
              <a:pPr/>
              <a:t>17</a:t>
            </a:fld>
            <a:endParaRPr lang="en-US"/>
          </a:p>
        </p:txBody>
      </p:sp>
      <p:sp>
        <p:nvSpPr>
          <p:cNvPr id="175106" name="Rectangle 2"/>
          <p:cNvSpPr>
            <a:spLocks noRot="1" noChangeArrowheads="1" noTextEdit="1"/>
          </p:cNvSpPr>
          <p:nvPr>
            <p:ph type="sldImg"/>
          </p:nvPr>
        </p:nvSpPr>
        <p:spPr>
          <a:ln/>
        </p:spPr>
      </p:sp>
      <p:sp>
        <p:nvSpPr>
          <p:cNvPr id="17510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B9BAF34-89F7-41DE-8A11-44A5568D6964}" type="slidenum">
              <a:rPr lang="en-US"/>
              <a:pPr/>
              <a:t>18</a:t>
            </a:fld>
            <a:endParaRPr lang="en-US"/>
          </a:p>
        </p:txBody>
      </p:sp>
      <p:sp>
        <p:nvSpPr>
          <p:cNvPr id="169986" name="Rectangle 2"/>
          <p:cNvSpPr>
            <a:spLocks noRot="1" noChangeArrowheads="1" noTextEdit="1"/>
          </p:cNvSpPr>
          <p:nvPr>
            <p:ph type="sldImg"/>
          </p:nvPr>
        </p:nvSpPr>
        <p:spPr>
          <a:ln/>
        </p:spPr>
      </p:sp>
      <p:sp>
        <p:nvSpPr>
          <p:cNvPr id="16998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D348366E-9C0F-4423-8BFF-0D441A6ECFFD}" type="slidenum">
              <a:rPr lang="en-US"/>
              <a:pPr/>
              <a:t>19</a:t>
            </a:fld>
            <a:endParaRPr lang="en-US"/>
          </a:p>
        </p:txBody>
      </p:sp>
      <p:sp>
        <p:nvSpPr>
          <p:cNvPr id="244738" name="Rectangle 2"/>
          <p:cNvSpPr>
            <a:spLocks noGrp="1" noRot="1" noChangeAspect="1" noChangeArrowheads="1" noTextEdit="1"/>
          </p:cNvSpPr>
          <p:nvPr>
            <p:ph type="sldImg"/>
          </p:nvPr>
        </p:nvSpPr>
        <p:spPr>
          <a:xfrm>
            <a:off x="1179513" y="696913"/>
            <a:ext cx="4641850" cy="3481387"/>
          </a:xfrm>
          <a:ln/>
        </p:spPr>
      </p:sp>
      <p:sp>
        <p:nvSpPr>
          <p:cNvPr id="24473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783E8DE-26B9-432C-81FC-4F29D82F7401}" type="slidenum">
              <a:rPr lang="en-US"/>
              <a:pPr/>
              <a:t>20</a:t>
            </a:fld>
            <a:endParaRPr lang="en-US"/>
          </a:p>
        </p:txBody>
      </p:sp>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4F868F4A-7104-4FE6-A1DC-40B9A1D456DC}" type="slidenum">
              <a:rPr lang="en-US"/>
              <a:pPr/>
              <a:t>21</a:t>
            </a:fld>
            <a:endParaRPr lang="en-US"/>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AF96392-D8A6-40BA-88DF-0B43B460984B}" type="slidenum">
              <a:rPr lang="en-US"/>
              <a:pPr/>
              <a:t>22</a:t>
            </a:fld>
            <a:endParaRPr lang="en-US"/>
          </a:p>
        </p:txBody>
      </p:sp>
      <p:sp>
        <p:nvSpPr>
          <p:cNvPr id="269314" name="Rectangle 2"/>
          <p:cNvSpPr>
            <a:spLocks noGrp="1" noRot="1" noChangeAspect="1" noChangeArrowheads="1" noTextEdit="1"/>
          </p:cNvSpPr>
          <p:nvPr>
            <p:ph type="sldImg"/>
          </p:nvPr>
        </p:nvSpPr>
        <p:spPr>
          <a:ln/>
        </p:spPr>
      </p:sp>
      <p:sp>
        <p:nvSpPr>
          <p:cNvPr id="26931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BF5DD27-429E-4468-8941-C3A7A86C6E03}" type="slidenum">
              <a:rPr lang="en-US"/>
              <a:pPr/>
              <a:t>23</a:t>
            </a:fld>
            <a:endParaRPr lang="en-US"/>
          </a:p>
        </p:txBody>
      </p:sp>
      <p:sp>
        <p:nvSpPr>
          <p:cNvPr id="270338" name="Rectangle 2"/>
          <p:cNvSpPr>
            <a:spLocks noGrp="1" noRot="1" noChangeAspect="1" noChangeArrowheads="1" noTextEdit="1"/>
          </p:cNvSpPr>
          <p:nvPr>
            <p:ph type="sldImg"/>
          </p:nvPr>
        </p:nvSpPr>
        <p:spPr>
          <a:ln/>
        </p:spPr>
      </p:sp>
      <p:sp>
        <p:nvSpPr>
          <p:cNvPr id="270339" name="Rectangle 3"/>
          <p:cNvSpPr>
            <a:spLocks noGrp="1" noChangeArrowheads="1"/>
          </p:cNvSpPr>
          <p:nvPr>
            <p:ph type="body" idx="1"/>
          </p:nvPr>
        </p:nvSpPr>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11/9/2015</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1">
                <a:solidFill>
                  <a:schemeClr val="tx1"/>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11/9/2015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11/9/2015</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11/9/2015</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11/9/2015</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11/9/2015</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11/9/2015</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11/9/2015</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11/9/2015</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11/9/2015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11/9/2015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re. Contenu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1050925" y="1447800"/>
            <a:ext cx="3436938"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0263" y="1447800"/>
            <a:ext cx="3436937"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0263" y="3870325"/>
            <a:ext cx="3436937"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11/9/2015</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2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6.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hyperlink" Target="Base%20de%20donn&#233;es%20DHCP_0002.wmv" TargetMode="External"/><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media/image4.png"/><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notesSlide" Target="../notesSlides/notesSlide8.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slideLayout" Target="../slideLayouts/slideLayout2.xml"/><Relationship Id="rId5" Type="http://schemas.openxmlformats.org/officeDocument/2006/relationships/tags" Target="../tags/tag35.xml"/><Relationship Id="rId15" Type="http://schemas.openxmlformats.org/officeDocument/2006/relationships/image" Target="../media/image5.png"/><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hyperlink" Target="Statistiques%20DHCP_0003.wmv" TargetMode="Externa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57.xml"/><Relationship Id="rId7" Type="http://schemas.openxmlformats.org/officeDocument/2006/relationships/oleObject" Target="../embeddings/oleObject1.bin"/><Relationship Id="rId2" Type="http://schemas.openxmlformats.org/officeDocument/2006/relationships/tags" Target="../tags/tag56.xml"/><Relationship Id="rId1" Type="http://schemas.openxmlformats.org/officeDocument/2006/relationships/vmlDrawing" Target="../drawings/vmlDrawing1.vml"/><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tags" Target="../tags/tag5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6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hyperlink" Target="Audit%20DHCP_0003.wmv" TargetMode="Externa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3.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3.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6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8.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82.xml"/><Relationship Id="rId7" Type="http://schemas.openxmlformats.org/officeDocument/2006/relationships/notesSlide" Target="../notesSlides/notesSlide20.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slideLayout" Target="../slideLayouts/slideLayout6.xml"/><Relationship Id="rId5" Type="http://schemas.openxmlformats.org/officeDocument/2006/relationships/tags" Target="../tags/tag84.xml"/><Relationship Id="rId4" Type="http://schemas.openxmlformats.org/officeDocument/2006/relationships/tags" Target="../tags/tag83.xml"/></Relationships>
</file>

<file path=ppt/slides/_rels/slide21.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3.png"/><Relationship Id="rId5" Type="http://schemas.openxmlformats.org/officeDocument/2006/relationships/notesSlide" Target="../notesSlides/notesSlide21.xml"/><Relationship Id="rId4"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3.png"/><Relationship Id="rId5" Type="http://schemas.openxmlformats.org/officeDocument/2006/relationships/notesSlide" Target="../notesSlides/notesSlide22.xml"/><Relationship Id="rId4"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96.xml"/><Relationship Id="rId7" Type="http://schemas.openxmlformats.org/officeDocument/2006/relationships/notesSlide" Target="../notesSlides/notesSlide23.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slideLayout" Target="../slideLayouts/slideLayout6.xml"/><Relationship Id="rId5" Type="http://schemas.openxmlformats.org/officeDocument/2006/relationships/tags" Target="../tags/tag98.xml"/><Relationship Id="rId4" Type="http://schemas.openxmlformats.org/officeDocument/2006/relationships/tags" Target="../tags/tag9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custDataLst>
              <p:tags r:id="rId1"/>
            </p:custDataLst>
          </p:nvPr>
        </p:nvSpPr>
        <p:spPr>
          <a:xfrm>
            <a:off x="902153" y="2235200"/>
            <a:ext cx="7102475" cy="2351314"/>
          </a:xfrm>
          <a:noFill/>
          <a:ln/>
        </p:spPr>
        <p:txBody>
          <a:bodyPr lIns="90488" tIns="44450" rIns="90488" bIns="44450"/>
          <a:lstStyle/>
          <a:p>
            <a:pPr algn="ctr">
              <a:lnSpc>
                <a:spcPct val="95000"/>
              </a:lnSpc>
            </a:pPr>
            <a:r>
              <a:rPr lang="en-GB" sz="4800" dirty="0" err="1" smtClean="0">
                <a:solidFill>
                  <a:srgbClr val="000000"/>
                </a:solidFill>
              </a:rPr>
              <a:t>Chapitre</a:t>
            </a:r>
            <a:r>
              <a:rPr lang="en-GB" sz="4800" dirty="0" smtClean="0">
                <a:solidFill>
                  <a:srgbClr val="000000"/>
                </a:solidFill>
              </a:rPr>
              <a:t> 3 </a:t>
            </a:r>
            <a:r>
              <a:rPr lang="en-US" sz="4800" dirty="0" smtClean="0"/>
              <a:t> </a:t>
            </a:r>
            <a:r>
              <a:rPr lang="en-US" sz="4800" dirty="0"/>
              <a:t/>
            </a:r>
            <a:br>
              <a:rPr lang="en-US" sz="4800" dirty="0"/>
            </a:br>
            <a:r>
              <a:rPr lang="en-GB" sz="4800" dirty="0" err="1">
                <a:solidFill>
                  <a:srgbClr val="000000"/>
                </a:solidFill>
              </a:rPr>
              <a:t>Gestion</a:t>
            </a:r>
            <a:r>
              <a:rPr lang="en-GB" sz="4800" dirty="0">
                <a:solidFill>
                  <a:srgbClr val="000000"/>
                </a:solidFill>
              </a:rPr>
              <a:t> et analyse du service DHCP</a:t>
            </a:r>
            <a:endParaRPr lang="en-US" sz="4800" dirty="0">
              <a:solidFill>
                <a:srgbClr val="000000"/>
              </a:solidFill>
            </a:endParaRPr>
          </a:p>
        </p:txBody>
      </p:sp>
      <p:sp>
        <p:nvSpPr>
          <p:cNvPr id="3" name="Rectangle 2"/>
          <p:cNvSpPr/>
          <p:nvPr/>
        </p:nvSpPr>
        <p:spPr>
          <a:xfrm>
            <a:off x="2985432" y="284750"/>
            <a:ext cx="3139596" cy="757130"/>
          </a:xfrm>
          <a:prstGeom prst="rect">
            <a:avLst/>
          </a:prstGeom>
        </p:spPr>
        <p:txBody>
          <a:bodyPr wrap="square">
            <a:spAutoFit/>
          </a:bodyPr>
          <a:lstStyle/>
          <a:p>
            <a:pPr>
              <a:buNone/>
            </a:pPr>
            <a:r>
              <a:rPr lang="en-GB" sz="4800" dirty="0" smtClean="0">
                <a:solidFill>
                  <a:srgbClr val="000000"/>
                </a:solidFill>
              </a:rPr>
              <a:t>Module S43</a:t>
            </a:r>
            <a:endParaRPr lang="fr-FR" sz="48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custDataLst>
              <p:tags r:id="rId1"/>
            </p:custDataLst>
          </p:nvPr>
        </p:nvSpPr>
        <p:spPr/>
        <p:txBody>
          <a:bodyPr/>
          <a:lstStyle/>
          <a:p>
            <a:r>
              <a:rPr lang="en-GB" b="1" dirty="0" smtClean="0">
                <a:solidFill>
                  <a:srgbClr val="000000"/>
                </a:solidFill>
              </a:rPr>
              <a:t>Plan du </a:t>
            </a:r>
            <a:r>
              <a:rPr lang="en-GB" b="1" dirty="0" err="1" smtClean="0">
                <a:solidFill>
                  <a:srgbClr val="000000"/>
                </a:solidFill>
              </a:rPr>
              <a:t>cours</a:t>
            </a:r>
            <a:endParaRPr lang="en-US" b="1" dirty="0"/>
          </a:p>
        </p:txBody>
      </p:sp>
      <p:sp>
        <p:nvSpPr>
          <p:cNvPr id="6147" name="Rectangle 3"/>
          <p:cNvSpPr>
            <a:spLocks noGrp="1" noChangeArrowheads="1"/>
          </p:cNvSpPr>
          <p:nvPr>
            <p:ph sz="quarter" idx="1"/>
            <p:custDataLst>
              <p:tags r:id="rId2"/>
            </p:custDataLst>
          </p:nvPr>
        </p:nvSpPr>
        <p:spPr>
          <a:xfrm>
            <a:off x="780723" y="2136647"/>
            <a:ext cx="7826248" cy="3523923"/>
          </a:xfrm>
        </p:spPr>
        <p:txBody>
          <a:bodyPr>
            <a:normAutofit/>
          </a:bodyPr>
          <a:lstStyle/>
          <a:p>
            <a:pPr marL="514350" indent="-514350">
              <a:lnSpc>
                <a:spcPct val="150000"/>
              </a:lnSpc>
              <a:buClr>
                <a:schemeClr val="tx1"/>
              </a:buClr>
              <a:buFont typeface="+mj-lt"/>
              <a:buAutoNum type="arabicPeriod"/>
            </a:pPr>
            <a:r>
              <a:rPr lang="en-GB" sz="2800" b="1" dirty="0" err="1">
                <a:solidFill>
                  <a:srgbClr val="000000"/>
                </a:solidFill>
              </a:rPr>
              <a:t>Gestion</a:t>
            </a:r>
            <a:r>
              <a:rPr lang="en-GB" sz="2800" b="1" dirty="0">
                <a:solidFill>
                  <a:srgbClr val="000000"/>
                </a:solidFill>
              </a:rPr>
              <a:t> </a:t>
            </a:r>
            <a:r>
              <a:rPr lang="en-GB" sz="2800" b="1" dirty="0" err="1">
                <a:solidFill>
                  <a:srgbClr val="000000"/>
                </a:solidFill>
              </a:rPr>
              <a:t>d'une</a:t>
            </a:r>
            <a:r>
              <a:rPr lang="en-GB" sz="2800" b="1" dirty="0">
                <a:solidFill>
                  <a:srgbClr val="000000"/>
                </a:solidFill>
              </a:rPr>
              <a:t> base de </a:t>
            </a:r>
            <a:r>
              <a:rPr lang="en-GB" sz="2800" b="1" dirty="0" err="1">
                <a:solidFill>
                  <a:srgbClr val="000000"/>
                </a:solidFill>
              </a:rPr>
              <a:t>données</a:t>
            </a:r>
            <a:r>
              <a:rPr lang="en-GB" sz="2800" b="1" dirty="0">
                <a:solidFill>
                  <a:srgbClr val="000000"/>
                </a:solidFill>
              </a:rPr>
              <a:t> DHCP</a:t>
            </a:r>
            <a:endParaRPr lang="en-US" sz="2800" b="1" dirty="0"/>
          </a:p>
          <a:p>
            <a:pPr marL="514350" indent="-514350">
              <a:lnSpc>
                <a:spcPct val="150000"/>
              </a:lnSpc>
              <a:buClr>
                <a:schemeClr val="tx1"/>
              </a:buClr>
              <a:buFont typeface="+mj-lt"/>
              <a:buAutoNum type="arabicPeriod"/>
            </a:pPr>
            <a:r>
              <a:rPr lang="en-GB" sz="2800" b="1" dirty="0">
                <a:solidFill>
                  <a:srgbClr val="000000"/>
                </a:solidFill>
              </a:rPr>
              <a:t>Analyse du service DHCP</a:t>
            </a:r>
            <a:endParaRPr lang="en-US" sz="2800" b="1" dirty="0"/>
          </a:p>
          <a:p>
            <a:pPr marL="514350" indent="-514350">
              <a:lnSpc>
                <a:spcPct val="150000"/>
              </a:lnSpc>
              <a:buClr>
                <a:schemeClr val="tx1"/>
              </a:buClr>
              <a:buFont typeface="+mj-lt"/>
              <a:buAutoNum type="arabicPeriod"/>
            </a:pPr>
            <a:r>
              <a:rPr lang="en-GB" sz="2800" b="1" dirty="0">
                <a:solidFill>
                  <a:srgbClr val="000000"/>
                </a:solidFill>
              </a:rPr>
              <a:t>Application des instructions de </a:t>
            </a:r>
            <a:r>
              <a:rPr lang="en-GB" sz="2800" b="1" dirty="0" err="1">
                <a:solidFill>
                  <a:srgbClr val="000000"/>
                </a:solidFill>
              </a:rPr>
              <a:t>sécurité</a:t>
            </a:r>
            <a:r>
              <a:rPr lang="en-GB" sz="2800" b="1" dirty="0">
                <a:solidFill>
                  <a:srgbClr val="000000"/>
                </a:solidFill>
              </a:rPr>
              <a:t> pour le </a:t>
            </a:r>
            <a:r>
              <a:rPr lang="en-GB" sz="2800" b="1" dirty="0" smtClean="0">
                <a:solidFill>
                  <a:srgbClr val="000000"/>
                </a:solidFill>
              </a:rPr>
              <a:t> service </a:t>
            </a:r>
            <a:r>
              <a:rPr lang="en-GB" sz="2800" b="1" dirty="0">
                <a:solidFill>
                  <a:srgbClr val="000000"/>
                </a:solidFill>
              </a:rPr>
              <a:t>DHCP</a:t>
            </a:r>
            <a:endParaRPr lang="en-US" sz="2800" b="1" dirty="0"/>
          </a:p>
          <a:p>
            <a:pPr>
              <a:lnSpc>
                <a:spcPct val="150000"/>
              </a:lnSpc>
              <a:buFont typeface="Wingdings" pitchFamily="2" charset="2"/>
              <a:buNone/>
            </a:pPr>
            <a:endParaRPr lang="en-US" sz="2800" dirty="0"/>
          </a:p>
          <a:p>
            <a:pPr>
              <a:lnSpc>
                <a:spcPct val="150000"/>
              </a:lnSpc>
            </a:pPr>
            <a:endParaRPr 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custDataLst>
              <p:tags r:id="rId1"/>
            </p:custDataLst>
          </p:nvPr>
        </p:nvSpPr>
        <p:spPr/>
        <p:txBody>
          <a:bodyPr>
            <a:normAutofit fontScale="90000"/>
          </a:bodyPr>
          <a:lstStyle/>
          <a:p>
            <a:pPr marL="460375" indent="-460375"/>
            <a:r>
              <a:rPr lang="fr-FR" dirty="0" smtClean="0">
                <a:solidFill>
                  <a:srgbClr val="000000"/>
                </a:solidFill>
              </a:rPr>
              <a:t>1. Gestion </a:t>
            </a:r>
            <a:r>
              <a:rPr lang="fr-FR" dirty="0">
                <a:solidFill>
                  <a:srgbClr val="000000"/>
                </a:solidFill>
              </a:rPr>
              <a:t>d'une base de données DHCP</a:t>
            </a:r>
            <a:endParaRPr lang="en-US" dirty="0">
              <a:solidFill>
                <a:srgbClr val="000000"/>
              </a:solidFill>
            </a:endParaRPr>
          </a:p>
        </p:txBody>
      </p:sp>
      <p:sp>
        <p:nvSpPr>
          <p:cNvPr id="10243" name="Rectangle 3"/>
          <p:cNvSpPr>
            <a:spLocks noGrp="1" noChangeArrowheads="1"/>
          </p:cNvSpPr>
          <p:nvPr>
            <p:ph type="body" idx="1"/>
            <p:custDataLst>
              <p:tags r:id="rId2"/>
            </p:custDataLst>
          </p:nvPr>
        </p:nvSpPr>
        <p:spPr>
          <a:xfrm>
            <a:off x="290944" y="1780309"/>
            <a:ext cx="8548255" cy="4694238"/>
          </a:xfrm>
        </p:spPr>
        <p:txBody>
          <a:bodyPr>
            <a:normAutofit/>
          </a:bodyPr>
          <a:lstStyle/>
          <a:p>
            <a:pPr>
              <a:buClrTx/>
            </a:pPr>
            <a:r>
              <a:rPr lang="en-GB" dirty="0" err="1">
                <a:solidFill>
                  <a:srgbClr val="000000"/>
                </a:solidFill>
              </a:rPr>
              <a:t>Vue</a:t>
            </a:r>
            <a:r>
              <a:rPr lang="en-GB" dirty="0">
                <a:solidFill>
                  <a:srgbClr val="000000"/>
                </a:solidFill>
              </a:rPr>
              <a:t> </a:t>
            </a:r>
            <a:r>
              <a:rPr lang="en-GB" dirty="0" err="1">
                <a:solidFill>
                  <a:srgbClr val="000000"/>
                </a:solidFill>
              </a:rPr>
              <a:t>d'ensemble</a:t>
            </a:r>
            <a:r>
              <a:rPr lang="en-GB" dirty="0">
                <a:solidFill>
                  <a:srgbClr val="000000"/>
                </a:solidFill>
              </a:rPr>
              <a:t> de la </a:t>
            </a:r>
            <a:r>
              <a:rPr lang="en-GB" dirty="0" err="1">
                <a:solidFill>
                  <a:srgbClr val="000000"/>
                </a:solidFill>
              </a:rPr>
              <a:t>gestion</a:t>
            </a:r>
            <a:r>
              <a:rPr lang="en-GB" dirty="0">
                <a:solidFill>
                  <a:srgbClr val="000000"/>
                </a:solidFill>
              </a:rPr>
              <a:t> du service DHCP</a:t>
            </a:r>
            <a:endParaRPr lang="en-US" dirty="0"/>
          </a:p>
          <a:p>
            <a:pPr>
              <a:buClrTx/>
            </a:pPr>
            <a:r>
              <a:rPr lang="en-GB" dirty="0" err="1">
                <a:solidFill>
                  <a:srgbClr val="000000"/>
                </a:solidFill>
              </a:rPr>
              <a:t>Qu'est-ce</a:t>
            </a:r>
            <a:r>
              <a:rPr lang="en-GB" dirty="0">
                <a:solidFill>
                  <a:srgbClr val="000000"/>
                </a:solidFill>
              </a:rPr>
              <a:t> </a:t>
            </a:r>
            <a:r>
              <a:rPr lang="en-GB" dirty="0" err="1">
                <a:solidFill>
                  <a:srgbClr val="000000"/>
                </a:solidFill>
              </a:rPr>
              <a:t>qu'une</a:t>
            </a:r>
            <a:r>
              <a:rPr lang="en-GB" dirty="0">
                <a:solidFill>
                  <a:srgbClr val="000000"/>
                </a:solidFill>
              </a:rPr>
              <a:t> base de </a:t>
            </a:r>
            <a:r>
              <a:rPr lang="en-GB" dirty="0" err="1">
                <a:solidFill>
                  <a:srgbClr val="000000"/>
                </a:solidFill>
              </a:rPr>
              <a:t>données</a:t>
            </a:r>
            <a:r>
              <a:rPr lang="en-GB" dirty="0">
                <a:solidFill>
                  <a:srgbClr val="000000"/>
                </a:solidFill>
              </a:rPr>
              <a:t> DHCP ?</a:t>
            </a:r>
            <a:endParaRPr lang="en-US" dirty="0"/>
          </a:p>
          <a:p>
            <a:pPr>
              <a:buClrTx/>
            </a:pPr>
            <a:r>
              <a:rPr lang="en-GB" dirty="0" err="1">
                <a:solidFill>
                  <a:srgbClr val="000000"/>
                </a:solidFill>
              </a:rPr>
              <a:t>Modalités</a:t>
            </a:r>
            <a:r>
              <a:rPr lang="en-GB" dirty="0">
                <a:solidFill>
                  <a:srgbClr val="000000"/>
                </a:solidFill>
              </a:rPr>
              <a:t> de </a:t>
            </a:r>
            <a:r>
              <a:rPr lang="en-GB" dirty="0" err="1">
                <a:solidFill>
                  <a:srgbClr val="000000"/>
                </a:solidFill>
              </a:rPr>
              <a:t>sauvegarde</a:t>
            </a:r>
            <a:r>
              <a:rPr lang="en-GB" dirty="0">
                <a:solidFill>
                  <a:srgbClr val="000000"/>
                </a:solidFill>
              </a:rPr>
              <a:t> et de </a:t>
            </a:r>
            <a:r>
              <a:rPr lang="en-GB" dirty="0" err="1">
                <a:solidFill>
                  <a:srgbClr val="000000"/>
                </a:solidFill>
              </a:rPr>
              <a:t>restauration</a:t>
            </a:r>
            <a:r>
              <a:rPr lang="en-GB" dirty="0">
                <a:solidFill>
                  <a:srgbClr val="000000"/>
                </a:solidFill>
              </a:rPr>
              <a:t> </a:t>
            </a:r>
            <a:r>
              <a:rPr lang="en-GB" dirty="0" err="1">
                <a:solidFill>
                  <a:srgbClr val="000000"/>
                </a:solidFill>
              </a:rPr>
              <a:t>d'une</a:t>
            </a:r>
            <a:r>
              <a:rPr lang="en-GB" dirty="0">
                <a:solidFill>
                  <a:srgbClr val="000000"/>
                </a:solidFill>
              </a:rPr>
              <a:t> </a:t>
            </a:r>
            <a:br>
              <a:rPr lang="en-GB" dirty="0">
                <a:solidFill>
                  <a:srgbClr val="000000"/>
                </a:solidFill>
              </a:rPr>
            </a:br>
            <a:r>
              <a:rPr lang="en-GB" dirty="0">
                <a:solidFill>
                  <a:srgbClr val="000000"/>
                </a:solidFill>
              </a:rPr>
              <a:t>base de </a:t>
            </a:r>
            <a:r>
              <a:rPr lang="en-GB" dirty="0" err="1">
                <a:solidFill>
                  <a:srgbClr val="000000"/>
                </a:solidFill>
              </a:rPr>
              <a:t>données</a:t>
            </a:r>
            <a:r>
              <a:rPr lang="en-GB" dirty="0">
                <a:solidFill>
                  <a:srgbClr val="000000"/>
                </a:solidFill>
              </a:rPr>
              <a:t> DHCP</a:t>
            </a:r>
            <a:endParaRPr lang="en-US" dirty="0"/>
          </a:p>
          <a:p>
            <a:pPr>
              <a:buClrTx/>
            </a:pPr>
            <a:r>
              <a:rPr lang="en-GB" dirty="0">
                <a:solidFill>
                  <a:srgbClr val="000000"/>
                </a:solidFill>
              </a:rPr>
              <a:t>Comment </a:t>
            </a:r>
            <a:r>
              <a:rPr lang="en-GB" dirty="0" err="1">
                <a:solidFill>
                  <a:srgbClr val="000000"/>
                </a:solidFill>
              </a:rPr>
              <a:t>sauvegarder</a:t>
            </a:r>
            <a:r>
              <a:rPr lang="en-GB" dirty="0">
                <a:solidFill>
                  <a:srgbClr val="000000"/>
                </a:solidFill>
              </a:rPr>
              <a:t> et </a:t>
            </a:r>
            <a:r>
              <a:rPr lang="en-GB" dirty="0" err="1">
                <a:solidFill>
                  <a:srgbClr val="000000"/>
                </a:solidFill>
              </a:rPr>
              <a:t>restaurer</a:t>
            </a:r>
            <a:r>
              <a:rPr lang="en-GB" dirty="0">
                <a:solidFill>
                  <a:srgbClr val="000000"/>
                </a:solidFill>
              </a:rPr>
              <a:t> </a:t>
            </a:r>
            <a:r>
              <a:rPr lang="en-GB" dirty="0" err="1">
                <a:solidFill>
                  <a:srgbClr val="000000"/>
                </a:solidFill>
              </a:rPr>
              <a:t>une</a:t>
            </a:r>
            <a:r>
              <a:rPr lang="en-GB" dirty="0">
                <a:solidFill>
                  <a:srgbClr val="000000"/>
                </a:solidFill>
              </a:rPr>
              <a:t> base de </a:t>
            </a:r>
            <a:br>
              <a:rPr lang="en-GB" dirty="0">
                <a:solidFill>
                  <a:srgbClr val="000000"/>
                </a:solidFill>
              </a:rPr>
            </a:br>
            <a:r>
              <a:rPr lang="en-GB" dirty="0" err="1">
                <a:solidFill>
                  <a:srgbClr val="000000"/>
                </a:solidFill>
              </a:rPr>
              <a:t>données</a:t>
            </a:r>
            <a:r>
              <a:rPr lang="en-GB" dirty="0">
                <a:solidFill>
                  <a:srgbClr val="000000"/>
                </a:solidFill>
              </a:rPr>
              <a:t> DHCP</a:t>
            </a:r>
            <a:endParaRPr lang="en-US" dirty="0"/>
          </a:p>
          <a:p>
            <a:pPr>
              <a:buClrTx/>
            </a:pPr>
            <a:r>
              <a:rPr lang="en-GB" dirty="0" err="1">
                <a:solidFill>
                  <a:srgbClr val="000000"/>
                </a:solidFill>
              </a:rPr>
              <a:t>Modalités</a:t>
            </a:r>
            <a:r>
              <a:rPr lang="en-GB" dirty="0">
                <a:solidFill>
                  <a:srgbClr val="000000"/>
                </a:solidFill>
              </a:rPr>
              <a:t> de </a:t>
            </a:r>
            <a:r>
              <a:rPr lang="en-GB" dirty="0" err="1">
                <a:solidFill>
                  <a:srgbClr val="000000"/>
                </a:solidFill>
              </a:rPr>
              <a:t>réconciliation</a:t>
            </a:r>
            <a:r>
              <a:rPr lang="en-GB" dirty="0">
                <a:solidFill>
                  <a:srgbClr val="000000"/>
                </a:solidFill>
              </a:rPr>
              <a:t> </a:t>
            </a:r>
            <a:r>
              <a:rPr lang="en-GB" dirty="0" err="1">
                <a:solidFill>
                  <a:srgbClr val="000000"/>
                </a:solidFill>
              </a:rPr>
              <a:t>d'une</a:t>
            </a:r>
            <a:r>
              <a:rPr lang="en-GB" dirty="0">
                <a:solidFill>
                  <a:srgbClr val="000000"/>
                </a:solidFill>
              </a:rPr>
              <a:t> base de </a:t>
            </a:r>
            <a:br>
              <a:rPr lang="en-GB" dirty="0">
                <a:solidFill>
                  <a:srgbClr val="000000"/>
                </a:solidFill>
              </a:rPr>
            </a:br>
            <a:r>
              <a:rPr lang="en-GB" dirty="0" err="1">
                <a:solidFill>
                  <a:srgbClr val="000000"/>
                </a:solidFill>
              </a:rPr>
              <a:t>données</a:t>
            </a:r>
            <a:r>
              <a:rPr lang="en-GB" dirty="0">
                <a:solidFill>
                  <a:srgbClr val="000000"/>
                </a:solidFill>
              </a:rPr>
              <a:t> DHCP</a:t>
            </a:r>
            <a:endParaRPr lang="en-US" dirty="0"/>
          </a:p>
          <a:p>
            <a:pPr>
              <a:buClrTx/>
            </a:pPr>
            <a:r>
              <a:rPr lang="en-GB" dirty="0">
                <a:solidFill>
                  <a:srgbClr val="000000"/>
                </a:solidFill>
              </a:rPr>
              <a:t>Comment </a:t>
            </a:r>
            <a:r>
              <a:rPr lang="en-GB" dirty="0" err="1">
                <a:solidFill>
                  <a:srgbClr val="000000"/>
                </a:solidFill>
              </a:rPr>
              <a:t>réconcilier</a:t>
            </a:r>
            <a:r>
              <a:rPr lang="en-GB" dirty="0">
                <a:solidFill>
                  <a:srgbClr val="000000"/>
                </a:solidFill>
              </a:rPr>
              <a:t> </a:t>
            </a:r>
            <a:r>
              <a:rPr lang="en-GB" dirty="0" err="1">
                <a:solidFill>
                  <a:srgbClr val="000000"/>
                </a:solidFill>
              </a:rPr>
              <a:t>une</a:t>
            </a:r>
            <a:r>
              <a:rPr lang="en-GB" dirty="0">
                <a:solidFill>
                  <a:srgbClr val="000000"/>
                </a:solidFill>
              </a:rPr>
              <a:t> base de </a:t>
            </a:r>
            <a:r>
              <a:rPr lang="en-GB" dirty="0" err="1">
                <a:solidFill>
                  <a:srgbClr val="000000"/>
                </a:solidFill>
              </a:rPr>
              <a:t>données</a:t>
            </a:r>
            <a:r>
              <a:rPr lang="en-GB" dirty="0">
                <a:solidFill>
                  <a:srgbClr val="000000"/>
                </a:solidFill>
              </a:rPr>
              <a:t> DHCP</a:t>
            </a:r>
            <a:endParaRPr lang="en-US" dirty="0">
              <a:solidFill>
                <a:srgbClr val="00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custDataLst>
              <p:tags r:id="rId1"/>
            </p:custDataLst>
          </p:nvPr>
        </p:nvSpPr>
        <p:spPr>
          <a:xfrm>
            <a:off x="193963" y="315356"/>
            <a:ext cx="8783782" cy="551541"/>
          </a:xfrm>
        </p:spPr>
        <p:txBody>
          <a:bodyPr>
            <a:normAutofit/>
          </a:bodyPr>
          <a:lstStyle/>
          <a:p>
            <a:r>
              <a:rPr lang="en-GB" sz="2600" dirty="0" err="1" smtClean="0">
                <a:solidFill>
                  <a:srgbClr val="C00000"/>
                </a:solidFill>
              </a:rPr>
              <a:t>Vue</a:t>
            </a:r>
            <a:r>
              <a:rPr lang="en-GB" sz="2600" dirty="0" smtClean="0">
                <a:solidFill>
                  <a:srgbClr val="C00000"/>
                </a:solidFill>
              </a:rPr>
              <a:t> </a:t>
            </a:r>
            <a:r>
              <a:rPr lang="en-GB" sz="2600" dirty="0" err="1" smtClean="0">
                <a:solidFill>
                  <a:srgbClr val="C00000"/>
                </a:solidFill>
              </a:rPr>
              <a:t>d'ensemble</a:t>
            </a:r>
            <a:r>
              <a:rPr lang="en-GB" sz="2600" dirty="0" smtClean="0">
                <a:solidFill>
                  <a:srgbClr val="C00000"/>
                </a:solidFill>
              </a:rPr>
              <a:t> de la </a:t>
            </a:r>
            <a:r>
              <a:rPr lang="en-GB" sz="2600" dirty="0" err="1" smtClean="0">
                <a:solidFill>
                  <a:srgbClr val="C00000"/>
                </a:solidFill>
              </a:rPr>
              <a:t>gestion</a:t>
            </a:r>
            <a:r>
              <a:rPr lang="en-GB" sz="2600" dirty="0" smtClean="0">
                <a:solidFill>
                  <a:srgbClr val="C00000"/>
                </a:solidFill>
              </a:rPr>
              <a:t> du service DHCP</a:t>
            </a:r>
            <a:endParaRPr lang="en-US" sz="2600" dirty="0">
              <a:solidFill>
                <a:srgbClr val="C00000"/>
              </a:solidFill>
            </a:endParaRPr>
          </a:p>
        </p:txBody>
      </p:sp>
      <p:sp>
        <p:nvSpPr>
          <p:cNvPr id="210001" name="AutoShape 81"/>
          <p:cNvSpPr>
            <a:spLocks noChangeArrowheads="1"/>
          </p:cNvSpPr>
          <p:nvPr>
            <p:custDataLst>
              <p:tags r:id="rId2"/>
            </p:custDataLst>
          </p:nvPr>
        </p:nvSpPr>
        <p:spPr bwMode="auto">
          <a:xfrm>
            <a:off x="296355" y="2689051"/>
            <a:ext cx="8515136" cy="3126694"/>
          </a:xfrm>
          <a:prstGeom prst="roundRect">
            <a:avLst>
              <a:gd name="adj" fmla="val 4167"/>
            </a:avLst>
          </a:prstGeom>
          <a:solidFill>
            <a:schemeClr val="bg1"/>
          </a:solidFill>
          <a:ln w="12700">
            <a:solidFill>
              <a:srgbClr val="4D4D4D"/>
            </a:solidFill>
            <a:round/>
            <a:headEnd/>
            <a:tailEnd/>
          </a:ln>
          <a:effectLst>
            <a:outerShdw dist="35921" dir="2700000" algn="ctr" rotWithShape="0">
              <a:srgbClr val="AFAFAF"/>
            </a:outerShdw>
          </a:effectLst>
        </p:spPr>
        <p:txBody>
          <a:bodyPr tIns="91440" rIns="0" anchor="ctr"/>
          <a:lstStyle/>
          <a:p>
            <a:pPr marL="225425" indent="-225425" algn="l">
              <a:lnSpc>
                <a:spcPct val="85000"/>
              </a:lnSpc>
              <a:buClrTx/>
              <a:buSzPct val="80000"/>
              <a:buFontTx/>
              <a:buBlip>
                <a:blip r:embed="rId5"/>
              </a:buBlip>
            </a:pPr>
            <a:r>
              <a:rPr lang="en-GB" dirty="0" err="1">
                <a:solidFill>
                  <a:srgbClr val="000000"/>
                </a:solidFill>
              </a:rPr>
              <a:t>Gestion</a:t>
            </a:r>
            <a:r>
              <a:rPr lang="en-GB" dirty="0">
                <a:solidFill>
                  <a:srgbClr val="000000"/>
                </a:solidFill>
              </a:rPr>
              <a:t> de la </a:t>
            </a:r>
            <a:r>
              <a:rPr lang="en-GB" dirty="0" err="1">
                <a:solidFill>
                  <a:srgbClr val="000000"/>
                </a:solidFill>
              </a:rPr>
              <a:t>croissance</a:t>
            </a:r>
            <a:r>
              <a:rPr lang="en-GB" dirty="0">
                <a:solidFill>
                  <a:srgbClr val="000000"/>
                </a:solidFill>
              </a:rPr>
              <a:t> de la base de </a:t>
            </a:r>
            <a:r>
              <a:rPr lang="en-GB" dirty="0" err="1">
                <a:solidFill>
                  <a:srgbClr val="000000"/>
                </a:solidFill>
              </a:rPr>
              <a:t>données</a:t>
            </a:r>
            <a:r>
              <a:rPr lang="en-GB" dirty="0">
                <a:solidFill>
                  <a:srgbClr val="000000"/>
                </a:solidFill>
              </a:rPr>
              <a:t> DHCP</a:t>
            </a:r>
            <a:endParaRPr lang="en-US" dirty="0"/>
          </a:p>
          <a:p>
            <a:pPr marL="225425" indent="-225425" algn="l">
              <a:lnSpc>
                <a:spcPct val="85000"/>
              </a:lnSpc>
              <a:buClrTx/>
              <a:buSzPct val="80000"/>
              <a:buFontTx/>
              <a:buBlip>
                <a:blip r:embed="rId5"/>
              </a:buBlip>
            </a:pPr>
            <a:r>
              <a:rPr lang="en-GB" dirty="0">
                <a:solidFill>
                  <a:srgbClr val="000000"/>
                </a:solidFill>
              </a:rPr>
              <a:t>Protection de la base de </a:t>
            </a:r>
            <a:r>
              <a:rPr lang="en-GB" dirty="0" err="1">
                <a:solidFill>
                  <a:srgbClr val="000000"/>
                </a:solidFill>
              </a:rPr>
              <a:t>données</a:t>
            </a:r>
            <a:r>
              <a:rPr lang="en-GB" dirty="0">
                <a:solidFill>
                  <a:srgbClr val="000000"/>
                </a:solidFill>
              </a:rPr>
              <a:t> DHCP</a:t>
            </a:r>
            <a:endParaRPr lang="en-US" dirty="0"/>
          </a:p>
          <a:p>
            <a:pPr marL="225425" indent="-225425" algn="l">
              <a:lnSpc>
                <a:spcPct val="85000"/>
              </a:lnSpc>
              <a:buClrTx/>
              <a:buSzPct val="80000"/>
              <a:buFontTx/>
              <a:buBlip>
                <a:blip r:embed="rId5"/>
              </a:buBlip>
            </a:pPr>
            <a:r>
              <a:rPr lang="en-GB" dirty="0" err="1">
                <a:solidFill>
                  <a:srgbClr val="000000"/>
                </a:solidFill>
              </a:rPr>
              <a:t>Préservation</a:t>
            </a:r>
            <a:r>
              <a:rPr lang="en-GB" dirty="0">
                <a:solidFill>
                  <a:srgbClr val="000000"/>
                </a:solidFill>
              </a:rPr>
              <a:t> de la </a:t>
            </a:r>
            <a:r>
              <a:rPr lang="en-GB" dirty="0" err="1">
                <a:solidFill>
                  <a:srgbClr val="000000"/>
                </a:solidFill>
              </a:rPr>
              <a:t>cohérence</a:t>
            </a:r>
            <a:r>
              <a:rPr lang="en-GB" dirty="0">
                <a:solidFill>
                  <a:srgbClr val="000000"/>
                </a:solidFill>
              </a:rPr>
              <a:t> de la base de </a:t>
            </a:r>
            <a:r>
              <a:rPr lang="en-GB" dirty="0" err="1">
                <a:solidFill>
                  <a:srgbClr val="000000"/>
                </a:solidFill>
              </a:rPr>
              <a:t>données</a:t>
            </a:r>
            <a:r>
              <a:rPr lang="en-GB" dirty="0">
                <a:solidFill>
                  <a:srgbClr val="000000"/>
                </a:solidFill>
              </a:rPr>
              <a:t> DHCP</a:t>
            </a:r>
            <a:endParaRPr lang="en-US" dirty="0"/>
          </a:p>
          <a:p>
            <a:pPr marL="225425" indent="-225425" algn="l">
              <a:lnSpc>
                <a:spcPct val="85000"/>
              </a:lnSpc>
              <a:buClrTx/>
              <a:buSzPct val="80000"/>
              <a:buFontTx/>
              <a:buBlip>
                <a:blip r:embed="rId5"/>
              </a:buBlip>
            </a:pPr>
            <a:r>
              <a:rPr lang="en-GB" dirty="0" err="1" smtClean="0">
                <a:solidFill>
                  <a:srgbClr val="000000"/>
                </a:solidFill>
              </a:rPr>
              <a:t>Gestion</a:t>
            </a:r>
            <a:r>
              <a:rPr lang="en-GB" dirty="0" smtClean="0">
                <a:solidFill>
                  <a:srgbClr val="000000"/>
                </a:solidFill>
              </a:rPr>
              <a:t> </a:t>
            </a:r>
            <a:r>
              <a:rPr lang="en-GB" dirty="0" err="1" smtClean="0">
                <a:solidFill>
                  <a:srgbClr val="000000"/>
                </a:solidFill>
              </a:rPr>
              <a:t>d’ajout</a:t>
            </a:r>
            <a:r>
              <a:rPr lang="en-GB" dirty="0" smtClean="0">
                <a:solidFill>
                  <a:srgbClr val="000000"/>
                </a:solidFill>
              </a:rPr>
              <a:t> de: </a:t>
            </a:r>
          </a:p>
          <a:p>
            <a:pPr marL="1139825" lvl="2" indent="-225425" algn="l">
              <a:lnSpc>
                <a:spcPct val="85000"/>
              </a:lnSpc>
              <a:buClrTx/>
              <a:buSzPct val="80000"/>
              <a:buFont typeface="Wingdings" pitchFamily="2" charset="2"/>
              <a:buChar char="q"/>
            </a:pPr>
            <a:r>
              <a:rPr lang="en-GB" dirty="0" smtClean="0">
                <a:solidFill>
                  <a:srgbClr val="000000"/>
                </a:solidFill>
              </a:rPr>
              <a:t> Clients</a:t>
            </a:r>
            <a:endParaRPr lang="en-US" dirty="0"/>
          </a:p>
          <a:p>
            <a:pPr marL="1139825" lvl="2" indent="-225425" algn="l">
              <a:lnSpc>
                <a:spcPct val="85000"/>
              </a:lnSpc>
              <a:buClrTx/>
              <a:buSzPct val="80000"/>
              <a:buFont typeface="Wingdings" pitchFamily="2" charset="2"/>
              <a:buChar char="q"/>
            </a:pPr>
            <a:r>
              <a:rPr lang="en-GB" dirty="0" smtClean="0">
                <a:solidFill>
                  <a:srgbClr val="000000"/>
                </a:solidFill>
              </a:rPr>
              <a:t> Nouveaux </a:t>
            </a:r>
            <a:r>
              <a:rPr lang="en-GB" dirty="0" err="1">
                <a:solidFill>
                  <a:srgbClr val="000000"/>
                </a:solidFill>
              </a:rPr>
              <a:t>serveurs</a:t>
            </a:r>
            <a:r>
              <a:rPr lang="en-GB" dirty="0">
                <a:solidFill>
                  <a:srgbClr val="000000"/>
                </a:solidFill>
              </a:rPr>
              <a:t> au </a:t>
            </a:r>
            <a:r>
              <a:rPr lang="en-GB" dirty="0" err="1">
                <a:solidFill>
                  <a:srgbClr val="000000"/>
                </a:solidFill>
              </a:rPr>
              <a:t>réseau</a:t>
            </a:r>
            <a:endParaRPr lang="en-US" dirty="0"/>
          </a:p>
          <a:p>
            <a:pPr marL="1139825" lvl="2" indent="-225425" algn="l">
              <a:lnSpc>
                <a:spcPct val="85000"/>
              </a:lnSpc>
              <a:buClrTx/>
              <a:buSzPct val="80000"/>
              <a:buFont typeface="Wingdings" pitchFamily="2" charset="2"/>
              <a:buChar char="q"/>
            </a:pPr>
            <a:r>
              <a:rPr lang="en-GB" dirty="0" smtClean="0">
                <a:solidFill>
                  <a:srgbClr val="000000"/>
                </a:solidFill>
              </a:rPr>
              <a:t> Nouveaux </a:t>
            </a:r>
            <a:r>
              <a:rPr lang="en-GB" dirty="0" err="1">
                <a:solidFill>
                  <a:srgbClr val="000000"/>
                </a:solidFill>
              </a:rPr>
              <a:t>sous-réseaux</a:t>
            </a:r>
            <a:endParaRPr lang="en-US" dirty="0">
              <a:solidFill>
                <a:srgbClr val="000000"/>
              </a:solidFill>
            </a:endParaRPr>
          </a:p>
        </p:txBody>
      </p:sp>
      <p:sp>
        <p:nvSpPr>
          <p:cNvPr id="7" name="Rectangle 6"/>
          <p:cNvSpPr/>
          <p:nvPr/>
        </p:nvSpPr>
        <p:spPr>
          <a:xfrm>
            <a:off x="341086" y="1479007"/>
            <a:ext cx="8512628" cy="830997"/>
          </a:xfrm>
          <a:prstGeom prst="rect">
            <a:avLst/>
          </a:prstGeom>
        </p:spPr>
        <p:txBody>
          <a:bodyPr wrap="square">
            <a:spAutoFit/>
          </a:bodyPr>
          <a:lstStyle/>
          <a:p>
            <a:pPr algn="l">
              <a:lnSpc>
                <a:spcPct val="100000"/>
              </a:lnSpc>
              <a:spcBef>
                <a:spcPct val="0"/>
              </a:spcBef>
              <a:buClrTx/>
              <a:buSzTx/>
              <a:buFontTx/>
              <a:buNone/>
            </a:pPr>
            <a:r>
              <a:rPr lang="en-GB" dirty="0" smtClean="0">
                <a:solidFill>
                  <a:srgbClr val="000000"/>
                </a:solidFill>
              </a:rPr>
              <a:t>Le service DHCP </a:t>
            </a:r>
            <a:r>
              <a:rPr lang="en-GB" dirty="0" err="1" smtClean="0">
                <a:solidFill>
                  <a:srgbClr val="000000"/>
                </a:solidFill>
              </a:rPr>
              <a:t>doit</a:t>
            </a:r>
            <a:r>
              <a:rPr lang="en-GB" dirty="0" smtClean="0">
                <a:solidFill>
                  <a:srgbClr val="000000"/>
                </a:solidFill>
              </a:rPr>
              <a:t> </a:t>
            </a:r>
            <a:r>
              <a:rPr lang="en-GB" dirty="0" err="1" smtClean="0">
                <a:solidFill>
                  <a:srgbClr val="000000"/>
                </a:solidFill>
              </a:rPr>
              <a:t>être</a:t>
            </a:r>
            <a:r>
              <a:rPr lang="en-GB" dirty="0" smtClean="0">
                <a:solidFill>
                  <a:srgbClr val="000000"/>
                </a:solidFill>
              </a:rPr>
              <a:t> </a:t>
            </a:r>
            <a:r>
              <a:rPr lang="en-GB" dirty="0" err="1" smtClean="0">
                <a:solidFill>
                  <a:srgbClr val="000000"/>
                </a:solidFill>
              </a:rPr>
              <a:t>géré</a:t>
            </a:r>
            <a:r>
              <a:rPr lang="en-GB" dirty="0" smtClean="0">
                <a:solidFill>
                  <a:srgbClr val="000000"/>
                </a:solidFill>
              </a:rPr>
              <a:t> pour </a:t>
            </a:r>
            <a:r>
              <a:rPr lang="en-GB" dirty="0" err="1" smtClean="0">
                <a:solidFill>
                  <a:srgbClr val="000000"/>
                </a:solidFill>
              </a:rPr>
              <a:t>refléter</a:t>
            </a:r>
            <a:r>
              <a:rPr lang="en-GB" dirty="0" smtClean="0">
                <a:solidFill>
                  <a:srgbClr val="000000"/>
                </a:solidFill>
              </a:rPr>
              <a:t> les </a:t>
            </a:r>
            <a:r>
              <a:rPr lang="en-GB" dirty="0" err="1" smtClean="0">
                <a:solidFill>
                  <a:srgbClr val="000000"/>
                </a:solidFill>
              </a:rPr>
              <a:t>changements</a:t>
            </a:r>
            <a:r>
              <a:rPr lang="en-GB" dirty="0" smtClean="0">
                <a:solidFill>
                  <a:srgbClr val="000000"/>
                </a:solidFill>
              </a:rPr>
              <a:t> </a:t>
            </a:r>
            <a:r>
              <a:rPr lang="en-GB" dirty="0" err="1" smtClean="0">
                <a:solidFill>
                  <a:srgbClr val="000000"/>
                </a:solidFill>
              </a:rPr>
              <a:t>dans</a:t>
            </a:r>
            <a:r>
              <a:rPr lang="en-GB" dirty="0" smtClean="0">
                <a:solidFill>
                  <a:srgbClr val="000000"/>
                </a:solidFill>
              </a:rPr>
              <a:t> le </a:t>
            </a:r>
            <a:r>
              <a:rPr lang="en-GB" dirty="0" err="1" smtClean="0">
                <a:solidFill>
                  <a:srgbClr val="000000"/>
                </a:solidFill>
              </a:rPr>
              <a:t>réseau</a:t>
            </a:r>
            <a:r>
              <a:rPr lang="en-GB" dirty="0" smtClean="0">
                <a:solidFill>
                  <a:srgbClr val="000000"/>
                </a:solidFill>
              </a:rPr>
              <a:t> et le </a:t>
            </a:r>
            <a:r>
              <a:rPr lang="en-GB" dirty="0" err="1" smtClean="0">
                <a:solidFill>
                  <a:srgbClr val="000000"/>
                </a:solidFill>
              </a:rPr>
              <a:t>serveur</a:t>
            </a:r>
            <a:r>
              <a:rPr lang="en-GB" dirty="0" smtClean="0">
                <a:solidFill>
                  <a:srgbClr val="000000"/>
                </a:solidFill>
              </a:rPr>
              <a:t> DHCP</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custDataLst>
              <p:tags r:id="rId1"/>
            </p:custDataLst>
          </p:nvPr>
        </p:nvSpPr>
        <p:spPr>
          <a:xfrm>
            <a:off x="190255" y="190339"/>
            <a:ext cx="8534400" cy="758952"/>
          </a:xfrm>
        </p:spPr>
        <p:txBody>
          <a:bodyPr vert="horz" anchor="b">
            <a:normAutofit/>
          </a:bodyPr>
          <a:lstStyle/>
          <a:p>
            <a:r>
              <a:rPr lang="fr-FR" sz="2500" dirty="0">
                <a:solidFill>
                  <a:srgbClr val="C00000"/>
                </a:solidFill>
              </a:rPr>
              <a:t>Qu'est-ce qu'une base de données DHCP ?</a:t>
            </a:r>
            <a:endParaRPr lang="en-US" sz="2500" dirty="0">
              <a:solidFill>
                <a:srgbClr val="C00000"/>
              </a:solidFill>
            </a:endParaRPr>
          </a:p>
        </p:txBody>
      </p:sp>
      <p:sp>
        <p:nvSpPr>
          <p:cNvPr id="182305" name="Rectangle 33"/>
          <p:cNvSpPr>
            <a:spLocks noGrp="1" noChangeArrowheads="1"/>
          </p:cNvSpPr>
          <p:nvPr>
            <p:ph sz="quarter" idx="1"/>
            <p:custDataLst>
              <p:tags r:id="rId2"/>
            </p:custDataLst>
          </p:nvPr>
        </p:nvSpPr>
        <p:spPr>
          <a:xfrm>
            <a:off x="319314" y="1422174"/>
            <a:ext cx="8592457" cy="2836317"/>
          </a:xfrm>
          <a:noFill/>
          <a:ln/>
        </p:spPr>
        <p:txBody>
          <a:bodyPr>
            <a:normAutofit/>
          </a:bodyPr>
          <a:lstStyle/>
          <a:p>
            <a:pPr>
              <a:lnSpc>
                <a:spcPct val="95000"/>
              </a:lnSpc>
              <a:spcBef>
                <a:spcPct val="30000"/>
              </a:spcBef>
              <a:buClrTx/>
            </a:pPr>
            <a:r>
              <a:rPr lang="en-GB" sz="2600" b="1" i="1" u="sng" dirty="0" err="1" smtClean="0">
                <a:solidFill>
                  <a:srgbClr val="000000"/>
                </a:solidFill>
                <a:latin typeface="Arial Narrow" pitchFamily="34" charset="0"/>
              </a:rPr>
              <a:t>Dynamique</a:t>
            </a:r>
            <a:r>
              <a:rPr lang="en-GB" sz="2600" dirty="0" smtClean="0">
                <a:solidFill>
                  <a:srgbClr val="000000"/>
                </a:solidFill>
                <a:latin typeface="Arial Narrow" pitchFamily="34" charset="0"/>
              </a:rPr>
              <a:t>:  </a:t>
            </a:r>
            <a:r>
              <a:rPr lang="en-GB" sz="2600" dirty="0" err="1" smtClean="0">
                <a:solidFill>
                  <a:srgbClr val="000000"/>
                </a:solidFill>
                <a:latin typeface="Arial Narrow" pitchFamily="34" charset="0"/>
              </a:rPr>
              <a:t>mise</a:t>
            </a:r>
            <a:r>
              <a:rPr lang="en-GB" sz="2600" dirty="0" smtClean="0">
                <a:solidFill>
                  <a:srgbClr val="000000"/>
                </a:solidFill>
                <a:latin typeface="Arial Narrow" pitchFamily="34" charset="0"/>
              </a:rPr>
              <a:t> à jour </a:t>
            </a:r>
            <a:r>
              <a:rPr lang="en-GB" sz="2600" dirty="0" err="1" smtClean="0">
                <a:solidFill>
                  <a:srgbClr val="000000"/>
                </a:solidFill>
                <a:latin typeface="Arial Narrow" pitchFamily="34" charset="0"/>
              </a:rPr>
              <a:t>lorsque</a:t>
            </a:r>
            <a:r>
              <a:rPr lang="en-GB" sz="2600" dirty="0" smtClean="0">
                <a:solidFill>
                  <a:srgbClr val="000000"/>
                </a:solidFill>
                <a:latin typeface="Arial Narrow" pitchFamily="34" charset="0"/>
              </a:rPr>
              <a:t> les clients DHCP </a:t>
            </a:r>
            <a:r>
              <a:rPr lang="en-GB" sz="2600" dirty="0" err="1" smtClean="0">
                <a:solidFill>
                  <a:srgbClr val="000000"/>
                </a:solidFill>
                <a:latin typeface="Arial Narrow" pitchFamily="34" charset="0"/>
              </a:rPr>
              <a:t>obtiennent</a:t>
            </a:r>
            <a:r>
              <a:rPr lang="en-GB" sz="2600" dirty="0" smtClean="0">
                <a:solidFill>
                  <a:srgbClr val="000000"/>
                </a:solidFill>
                <a:latin typeface="Arial Narrow" pitchFamily="34" charset="0"/>
              </a:rPr>
              <a:t> </a:t>
            </a:r>
            <a:r>
              <a:rPr lang="en-GB" sz="2600" dirty="0" err="1" smtClean="0">
                <a:solidFill>
                  <a:srgbClr val="000000"/>
                </a:solidFill>
                <a:latin typeface="Arial Narrow" pitchFamily="34" charset="0"/>
              </a:rPr>
              <a:t>ou</a:t>
            </a:r>
            <a:r>
              <a:rPr lang="en-GB" sz="2600" dirty="0" smtClean="0">
                <a:solidFill>
                  <a:srgbClr val="000000"/>
                </a:solidFill>
                <a:latin typeface="Arial Narrow" pitchFamily="34" charset="0"/>
              </a:rPr>
              <a:t> </a:t>
            </a:r>
            <a:r>
              <a:rPr lang="en-GB" sz="2600" dirty="0" err="1" smtClean="0">
                <a:solidFill>
                  <a:srgbClr val="000000"/>
                </a:solidFill>
                <a:latin typeface="Arial Narrow" pitchFamily="34" charset="0"/>
              </a:rPr>
              <a:t>libèrent</a:t>
            </a:r>
            <a:r>
              <a:rPr lang="en-GB" sz="2600" dirty="0" smtClean="0">
                <a:solidFill>
                  <a:srgbClr val="000000"/>
                </a:solidFill>
                <a:latin typeface="Arial Narrow" pitchFamily="34" charset="0"/>
              </a:rPr>
              <a:t> </a:t>
            </a:r>
            <a:r>
              <a:rPr lang="en-GB" sz="2600" dirty="0" err="1" smtClean="0">
                <a:solidFill>
                  <a:srgbClr val="000000"/>
                </a:solidFill>
                <a:latin typeface="Arial Narrow" pitchFamily="34" charset="0"/>
              </a:rPr>
              <a:t>leurs</a:t>
            </a:r>
            <a:r>
              <a:rPr lang="en-GB" sz="2600" dirty="0" smtClean="0">
                <a:solidFill>
                  <a:srgbClr val="000000"/>
                </a:solidFill>
                <a:latin typeface="Arial Narrow" pitchFamily="34" charset="0"/>
              </a:rPr>
              <a:t> </a:t>
            </a:r>
            <a:r>
              <a:rPr lang="en-GB" sz="2600" dirty="0" err="1" smtClean="0">
                <a:solidFill>
                  <a:srgbClr val="000000"/>
                </a:solidFill>
                <a:latin typeface="Arial Narrow" pitchFamily="34" charset="0"/>
              </a:rPr>
              <a:t>baux</a:t>
            </a:r>
            <a:r>
              <a:rPr lang="en-GB" sz="2600" dirty="0" smtClean="0">
                <a:solidFill>
                  <a:srgbClr val="000000"/>
                </a:solidFill>
                <a:latin typeface="Arial Narrow" pitchFamily="34" charset="0"/>
              </a:rPr>
              <a:t> </a:t>
            </a:r>
            <a:r>
              <a:rPr lang="en-GB" sz="2600" dirty="0" err="1" smtClean="0">
                <a:solidFill>
                  <a:srgbClr val="000000"/>
                </a:solidFill>
                <a:latin typeface="Arial Narrow" pitchFamily="34" charset="0"/>
              </a:rPr>
              <a:t>d'adresses</a:t>
            </a:r>
            <a:r>
              <a:rPr lang="en-GB" sz="2600" dirty="0" smtClean="0">
                <a:solidFill>
                  <a:srgbClr val="000000"/>
                </a:solidFill>
                <a:latin typeface="Arial Narrow" pitchFamily="34" charset="0"/>
              </a:rPr>
              <a:t> TCP/IP</a:t>
            </a:r>
            <a:endParaRPr lang="en-US" sz="2600" dirty="0" smtClean="0">
              <a:latin typeface="Arial Narrow" pitchFamily="34" charset="0"/>
            </a:endParaRPr>
          </a:p>
          <a:p>
            <a:pPr>
              <a:lnSpc>
                <a:spcPct val="95000"/>
              </a:lnSpc>
              <a:spcBef>
                <a:spcPct val="30000"/>
              </a:spcBef>
              <a:buClrTx/>
            </a:pPr>
            <a:r>
              <a:rPr lang="en-GB" sz="2600" b="1" i="1" u="sng" dirty="0" err="1" smtClean="0">
                <a:solidFill>
                  <a:srgbClr val="000000"/>
                </a:solidFill>
                <a:latin typeface="Arial Narrow" pitchFamily="34" charset="0"/>
              </a:rPr>
              <a:t>Contient</a:t>
            </a:r>
            <a:r>
              <a:rPr lang="en-GB" sz="2600" b="1" i="1" u="sng" dirty="0" smtClean="0">
                <a:solidFill>
                  <a:srgbClr val="000000"/>
                </a:solidFill>
                <a:latin typeface="Arial Narrow" pitchFamily="34" charset="0"/>
              </a:rPr>
              <a:t> </a:t>
            </a:r>
            <a:r>
              <a:rPr lang="en-GB" sz="2600" b="1" i="1" u="sng" dirty="0">
                <a:solidFill>
                  <a:srgbClr val="000000"/>
                </a:solidFill>
                <a:latin typeface="Arial Narrow" pitchFamily="34" charset="0"/>
              </a:rPr>
              <a:t>des </a:t>
            </a:r>
            <a:r>
              <a:rPr lang="en-GB" sz="2600" b="1" i="1" u="sng" dirty="0" err="1">
                <a:solidFill>
                  <a:srgbClr val="000000"/>
                </a:solidFill>
                <a:latin typeface="Arial Narrow" pitchFamily="34" charset="0"/>
              </a:rPr>
              <a:t>données</a:t>
            </a:r>
            <a:r>
              <a:rPr lang="en-GB" sz="2600" b="1" i="1" u="sng" dirty="0">
                <a:solidFill>
                  <a:srgbClr val="000000"/>
                </a:solidFill>
                <a:latin typeface="Arial Narrow" pitchFamily="34" charset="0"/>
              </a:rPr>
              <a:t> de </a:t>
            </a:r>
            <a:r>
              <a:rPr lang="en-GB" sz="2600" b="1" i="1" u="sng" dirty="0" smtClean="0">
                <a:solidFill>
                  <a:srgbClr val="000000"/>
                </a:solidFill>
                <a:latin typeface="Arial Narrow" pitchFamily="34" charset="0"/>
              </a:rPr>
              <a:t>configuration</a:t>
            </a:r>
            <a:r>
              <a:rPr lang="en-GB" sz="2600" dirty="0" smtClean="0">
                <a:solidFill>
                  <a:srgbClr val="000000"/>
                </a:solidFill>
                <a:latin typeface="Arial Narrow" pitchFamily="34" charset="0"/>
              </a:rPr>
              <a:t>:  </a:t>
            </a:r>
            <a:r>
              <a:rPr lang="en-GB" sz="2600" dirty="0" err="1" smtClean="0">
                <a:solidFill>
                  <a:srgbClr val="000000"/>
                </a:solidFill>
                <a:latin typeface="Arial Narrow" pitchFamily="34" charset="0"/>
              </a:rPr>
              <a:t>informations</a:t>
            </a:r>
            <a:r>
              <a:rPr lang="en-GB" sz="2600" dirty="0" smtClean="0">
                <a:solidFill>
                  <a:srgbClr val="000000"/>
                </a:solidFill>
                <a:latin typeface="Arial Narrow" pitchFamily="34" charset="0"/>
              </a:rPr>
              <a:t> </a:t>
            </a:r>
            <a:r>
              <a:rPr lang="en-GB" sz="2600" dirty="0" err="1">
                <a:solidFill>
                  <a:srgbClr val="000000"/>
                </a:solidFill>
                <a:latin typeface="Arial Narrow" pitchFamily="34" charset="0"/>
              </a:rPr>
              <a:t>sur</a:t>
            </a:r>
            <a:r>
              <a:rPr lang="en-GB" sz="2600" dirty="0">
                <a:solidFill>
                  <a:srgbClr val="000000"/>
                </a:solidFill>
                <a:latin typeface="Arial Narrow" pitchFamily="34" charset="0"/>
              </a:rPr>
              <a:t> les </a:t>
            </a:r>
            <a:r>
              <a:rPr lang="en-GB" sz="2600" dirty="0" err="1">
                <a:solidFill>
                  <a:srgbClr val="000000"/>
                </a:solidFill>
                <a:latin typeface="Arial Narrow" pitchFamily="34" charset="0"/>
              </a:rPr>
              <a:t>étendues</a:t>
            </a:r>
            <a:r>
              <a:rPr lang="en-GB" sz="2600" dirty="0">
                <a:solidFill>
                  <a:srgbClr val="000000"/>
                </a:solidFill>
                <a:latin typeface="Arial Narrow" pitchFamily="34" charset="0"/>
              </a:rPr>
              <a:t>, </a:t>
            </a:r>
            <a:r>
              <a:rPr lang="en-GB" sz="2600" dirty="0" smtClean="0">
                <a:solidFill>
                  <a:srgbClr val="000000"/>
                </a:solidFill>
                <a:latin typeface="Arial Narrow" pitchFamily="34" charset="0"/>
              </a:rPr>
              <a:t>les </a:t>
            </a:r>
            <a:r>
              <a:rPr lang="en-GB" sz="2600" dirty="0" err="1">
                <a:solidFill>
                  <a:srgbClr val="000000"/>
                </a:solidFill>
                <a:latin typeface="Arial Narrow" pitchFamily="34" charset="0"/>
              </a:rPr>
              <a:t>réservations</a:t>
            </a:r>
            <a:r>
              <a:rPr lang="en-GB" sz="2600" dirty="0">
                <a:solidFill>
                  <a:srgbClr val="000000"/>
                </a:solidFill>
                <a:latin typeface="Arial Narrow" pitchFamily="34" charset="0"/>
              </a:rPr>
              <a:t>, les options et les </a:t>
            </a:r>
            <a:r>
              <a:rPr lang="en-GB" sz="2600" dirty="0" err="1" smtClean="0">
                <a:solidFill>
                  <a:srgbClr val="000000"/>
                </a:solidFill>
                <a:latin typeface="Arial Narrow" pitchFamily="34" charset="0"/>
              </a:rPr>
              <a:t>baux</a:t>
            </a:r>
            <a:endParaRPr lang="en-US" sz="2600" dirty="0">
              <a:solidFill>
                <a:srgbClr val="000000"/>
              </a:solidFill>
              <a:latin typeface="Arial Narrow" pitchFamily="34" charset="0"/>
            </a:endParaRPr>
          </a:p>
          <a:p>
            <a:pPr>
              <a:lnSpc>
                <a:spcPct val="95000"/>
              </a:lnSpc>
              <a:spcBef>
                <a:spcPct val="30000"/>
              </a:spcBef>
              <a:buClrTx/>
              <a:buNone/>
            </a:pPr>
            <a:r>
              <a:rPr lang="en-GB" sz="2600" i="1" u="sng" dirty="0" smtClean="0">
                <a:solidFill>
                  <a:srgbClr val="000000"/>
                </a:solidFill>
                <a:latin typeface="Arial Narrow" pitchFamily="34" charset="0"/>
              </a:rPr>
              <a:t>Emplacement</a:t>
            </a:r>
            <a:r>
              <a:rPr lang="en-GB" sz="2600" dirty="0" smtClean="0">
                <a:solidFill>
                  <a:srgbClr val="000000"/>
                </a:solidFill>
                <a:latin typeface="Arial Narrow" pitchFamily="34" charset="0"/>
              </a:rPr>
              <a:t>: </a:t>
            </a:r>
            <a:r>
              <a:rPr lang="en-GB" sz="2600" dirty="0" err="1" smtClean="0">
                <a:solidFill>
                  <a:srgbClr val="000000"/>
                </a:solidFill>
                <a:latin typeface="Arial Narrow" pitchFamily="34" charset="0"/>
              </a:rPr>
              <a:t>Systemroot</a:t>
            </a:r>
            <a:r>
              <a:rPr lang="en-GB" sz="2600" dirty="0">
                <a:solidFill>
                  <a:srgbClr val="000000"/>
                </a:solidFill>
                <a:latin typeface="Arial Narrow" pitchFamily="34" charset="0"/>
              </a:rPr>
              <a:t>%\System32\</a:t>
            </a:r>
            <a:r>
              <a:rPr lang="en-GB" sz="2600" dirty="0" err="1">
                <a:solidFill>
                  <a:srgbClr val="000000"/>
                </a:solidFill>
                <a:latin typeface="Arial Narrow" pitchFamily="34" charset="0"/>
              </a:rPr>
              <a:t>Dhcp</a:t>
            </a:r>
            <a:r>
              <a:rPr lang="en-GB" sz="2600" dirty="0">
                <a:solidFill>
                  <a:srgbClr val="000000"/>
                </a:solidFill>
                <a:latin typeface="Arial Narrow" pitchFamily="34" charset="0"/>
              </a:rPr>
              <a:t> </a:t>
            </a:r>
            <a:endParaRPr lang="en-US" sz="2600" dirty="0">
              <a:solidFill>
                <a:srgbClr val="000000"/>
              </a:solidFill>
              <a:latin typeface="Arial Narrow" pitchFamily="34" charset="0"/>
            </a:endParaRPr>
          </a:p>
          <a:p>
            <a:pPr>
              <a:lnSpc>
                <a:spcPct val="95000"/>
              </a:lnSpc>
              <a:spcBef>
                <a:spcPct val="30000"/>
              </a:spcBef>
              <a:buClrTx/>
              <a:buNone/>
            </a:pPr>
            <a:r>
              <a:rPr lang="en-GB" sz="2600" i="1" u="sng" dirty="0" err="1" smtClean="0">
                <a:solidFill>
                  <a:srgbClr val="000000"/>
                </a:solidFill>
                <a:latin typeface="Arial Narrow" pitchFamily="34" charset="0"/>
              </a:rPr>
              <a:t>Contenu</a:t>
            </a:r>
            <a:r>
              <a:rPr lang="en-GB" sz="2600" b="1" i="1" dirty="0" smtClean="0">
                <a:solidFill>
                  <a:srgbClr val="000000"/>
                </a:solidFill>
                <a:latin typeface="Arial Narrow" pitchFamily="34" charset="0"/>
              </a:rPr>
              <a:t>:</a:t>
            </a:r>
            <a:endParaRPr lang="en-US" sz="2600" b="1" i="1" dirty="0">
              <a:solidFill>
                <a:srgbClr val="000000"/>
              </a:solidFill>
              <a:latin typeface="Arial Narrow" pitchFamily="34" charset="0"/>
            </a:endParaRPr>
          </a:p>
        </p:txBody>
      </p:sp>
      <p:sp>
        <p:nvSpPr>
          <p:cNvPr id="182306" name="AutoShape 34"/>
          <p:cNvSpPr>
            <a:spLocks noChangeArrowheads="1"/>
          </p:cNvSpPr>
          <p:nvPr>
            <p:custDataLst>
              <p:tags r:id="rId3"/>
            </p:custDataLst>
          </p:nvPr>
        </p:nvSpPr>
        <p:spPr bwMode="auto">
          <a:xfrm>
            <a:off x="438150" y="4241710"/>
            <a:ext cx="3376203" cy="188477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buClr>
                <a:schemeClr val="accent2"/>
              </a:buClr>
              <a:buSzTx/>
              <a:buFont typeface="Wingdings" pitchFamily="2" charset="2"/>
              <a:buChar char=""/>
            </a:pPr>
            <a:r>
              <a:rPr lang="en-GB" sz="2600" dirty="0">
                <a:solidFill>
                  <a:srgbClr val="000000"/>
                </a:solidFill>
              </a:rPr>
              <a:t>DHCP.mdb</a:t>
            </a:r>
            <a:endParaRPr lang="en-US" sz="2600" dirty="0"/>
          </a:p>
          <a:p>
            <a:pPr marL="225425" indent="-225425" algn="l">
              <a:lnSpc>
                <a:spcPct val="85000"/>
              </a:lnSpc>
              <a:buClr>
                <a:schemeClr val="accent2"/>
              </a:buClr>
              <a:buSzTx/>
              <a:buFont typeface="Wingdings" pitchFamily="2" charset="2"/>
              <a:buChar char=""/>
            </a:pPr>
            <a:r>
              <a:rPr lang="en-GB" sz="2600" dirty="0">
                <a:solidFill>
                  <a:srgbClr val="000000"/>
                </a:solidFill>
              </a:rPr>
              <a:t>Tmp.edb</a:t>
            </a:r>
            <a:endParaRPr lang="en-US" sz="2600" dirty="0"/>
          </a:p>
          <a:p>
            <a:pPr marL="225425" indent="-225425" algn="l">
              <a:lnSpc>
                <a:spcPct val="85000"/>
              </a:lnSpc>
              <a:buClr>
                <a:schemeClr val="accent2"/>
              </a:buClr>
              <a:buSzTx/>
              <a:buFont typeface="Wingdings" pitchFamily="2" charset="2"/>
              <a:buChar char=""/>
            </a:pPr>
            <a:r>
              <a:rPr lang="en-GB" sz="2600" dirty="0">
                <a:solidFill>
                  <a:srgbClr val="000000"/>
                </a:solidFill>
              </a:rPr>
              <a:t>J50.log et J50*.log</a:t>
            </a:r>
            <a:endParaRPr lang="en-US" sz="2600" dirty="0">
              <a:solidFill>
                <a:srgbClr val="000000"/>
              </a:solidFill>
            </a:endParaRPr>
          </a:p>
        </p:txBody>
      </p:sp>
      <p:sp>
        <p:nvSpPr>
          <p:cNvPr id="182307" name="AutoShape 35"/>
          <p:cNvSpPr>
            <a:spLocks noChangeArrowheads="1"/>
          </p:cNvSpPr>
          <p:nvPr>
            <p:custDataLst>
              <p:tags r:id="rId4"/>
            </p:custDataLst>
          </p:nvPr>
        </p:nvSpPr>
        <p:spPr bwMode="auto">
          <a:xfrm>
            <a:off x="4058466" y="4241708"/>
            <a:ext cx="3779247" cy="1884771"/>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buClr>
                <a:schemeClr val="accent2"/>
              </a:buClr>
              <a:buSzTx/>
              <a:buFont typeface="Wingdings" pitchFamily="2" charset="2"/>
              <a:buChar char=""/>
            </a:pPr>
            <a:r>
              <a:rPr lang="en-GB" sz="2600" dirty="0">
                <a:solidFill>
                  <a:srgbClr val="000000"/>
                </a:solidFill>
              </a:rPr>
              <a:t>Res*.log</a:t>
            </a:r>
            <a:endParaRPr lang="en-US" sz="2600" dirty="0"/>
          </a:p>
          <a:p>
            <a:pPr marL="225425" indent="-225425" algn="l">
              <a:lnSpc>
                <a:spcPct val="85000"/>
              </a:lnSpc>
              <a:buClr>
                <a:schemeClr val="accent2"/>
              </a:buClr>
              <a:buSzTx/>
              <a:buFont typeface="Wingdings" pitchFamily="2" charset="2"/>
              <a:buChar char=""/>
            </a:pPr>
            <a:r>
              <a:rPr lang="en-GB" sz="2600" dirty="0">
                <a:solidFill>
                  <a:srgbClr val="000000"/>
                </a:solidFill>
              </a:rPr>
              <a:t>J50.chk </a:t>
            </a:r>
            <a:endParaRPr lang="en-US" sz="26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2305">
                                            <p:txEl>
                                              <p:pRg st="0" end="0"/>
                                            </p:txEl>
                                          </p:spTgt>
                                        </p:tgtEl>
                                        <p:attrNameLst>
                                          <p:attrName>style.visibility</p:attrName>
                                        </p:attrNameLst>
                                      </p:cBhvr>
                                      <p:to>
                                        <p:strVal val="visible"/>
                                      </p:to>
                                    </p:set>
                                    <p:animEffect transition="in" filter="checkerboard(across)">
                                      <p:cBhvr>
                                        <p:cTn id="7" dur="1000"/>
                                        <p:tgtEl>
                                          <p:spTgt spid="1823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2305">
                                            <p:txEl>
                                              <p:pRg st="1" end="1"/>
                                            </p:txEl>
                                          </p:spTgt>
                                        </p:tgtEl>
                                        <p:attrNameLst>
                                          <p:attrName>style.visibility</p:attrName>
                                        </p:attrNameLst>
                                      </p:cBhvr>
                                      <p:to>
                                        <p:strVal val="visible"/>
                                      </p:to>
                                    </p:set>
                                    <p:animEffect transition="in" filter="checkerboard(across)">
                                      <p:cBhvr>
                                        <p:cTn id="12" dur="1000"/>
                                        <p:tgtEl>
                                          <p:spTgt spid="1823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82305">
                                            <p:txEl>
                                              <p:pRg st="2" end="2"/>
                                            </p:txEl>
                                          </p:spTgt>
                                        </p:tgtEl>
                                        <p:attrNameLst>
                                          <p:attrName>style.visibility</p:attrName>
                                        </p:attrNameLst>
                                      </p:cBhvr>
                                      <p:to>
                                        <p:strVal val="visible"/>
                                      </p:to>
                                    </p:set>
                                    <p:animEffect transition="in" filter="checkerboard(across)">
                                      <p:cBhvr>
                                        <p:cTn id="17" dur="1000"/>
                                        <p:tgtEl>
                                          <p:spTgt spid="1823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82305">
                                            <p:txEl>
                                              <p:pRg st="3" end="3"/>
                                            </p:txEl>
                                          </p:spTgt>
                                        </p:tgtEl>
                                        <p:attrNameLst>
                                          <p:attrName>style.visibility</p:attrName>
                                        </p:attrNameLst>
                                      </p:cBhvr>
                                      <p:to>
                                        <p:strVal val="visible"/>
                                      </p:to>
                                    </p:set>
                                    <p:animEffect transition="in" filter="checkerboard(across)">
                                      <p:cBhvr>
                                        <p:cTn id="22" dur="1000"/>
                                        <p:tgtEl>
                                          <p:spTgt spid="182305">
                                            <p:txEl>
                                              <p:pRg st="3" end="3"/>
                                            </p:txEl>
                                          </p:spTgt>
                                        </p:tgtEl>
                                      </p:cBhvr>
                                    </p:animEffect>
                                  </p:childTnLst>
                                </p:cTn>
                              </p:par>
                            </p:childTnLst>
                          </p:cTn>
                        </p:par>
                        <p:par>
                          <p:cTn id="23" fill="hold">
                            <p:stCondLst>
                              <p:cond delay="1000"/>
                            </p:stCondLst>
                            <p:childTnLst>
                              <p:par>
                                <p:cTn id="24" presetID="5" presetClass="entr" presetSubtype="10" fill="hold" grpId="0" nodeType="afterEffect">
                                  <p:stCondLst>
                                    <p:cond delay="0"/>
                                  </p:stCondLst>
                                  <p:childTnLst>
                                    <p:set>
                                      <p:cBhvr>
                                        <p:cTn id="25" dur="1" fill="hold">
                                          <p:stCondLst>
                                            <p:cond delay="0"/>
                                          </p:stCondLst>
                                        </p:cTn>
                                        <p:tgtEl>
                                          <p:spTgt spid="182306"/>
                                        </p:tgtEl>
                                        <p:attrNameLst>
                                          <p:attrName>style.visibility</p:attrName>
                                        </p:attrNameLst>
                                      </p:cBhvr>
                                      <p:to>
                                        <p:strVal val="visible"/>
                                      </p:to>
                                    </p:set>
                                    <p:animEffect transition="in" filter="checkerboard(across)">
                                      <p:cBhvr>
                                        <p:cTn id="26" dur="500"/>
                                        <p:tgtEl>
                                          <p:spTgt spid="182306"/>
                                        </p:tgtEl>
                                      </p:cBhvr>
                                    </p:animEffect>
                                  </p:childTnLst>
                                </p:cTn>
                              </p:par>
                            </p:childTnLst>
                          </p:cTn>
                        </p:par>
                        <p:par>
                          <p:cTn id="27" fill="hold">
                            <p:stCondLst>
                              <p:cond delay="1500"/>
                            </p:stCondLst>
                            <p:childTnLst>
                              <p:par>
                                <p:cTn id="28" presetID="5" presetClass="entr" presetSubtype="10" fill="hold" grpId="0" nodeType="afterEffect">
                                  <p:stCondLst>
                                    <p:cond delay="0"/>
                                  </p:stCondLst>
                                  <p:childTnLst>
                                    <p:set>
                                      <p:cBhvr>
                                        <p:cTn id="29" dur="1" fill="hold">
                                          <p:stCondLst>
                                            <p:cond delay="0"/>
                                          </p:stCondLst>
                                        </p:cTn>
                                        <p:tgtEl>
                                          <p:spTgt spid="182307"/>
                                        </p:tgtEl>
                                        <p:attrNameLst>
                                          <p:attrName>style.visibility</p:attrName>
                                        </p:attrNameLst>
                                      </p:cBhvr>
                                      <p:to>
                                        <p:strVal val="visible"/>
                                      </p:to>
                                    </p:set>
                                    <p:animEffect transition="in" filter="checkerboard(across)">
                                      <p:cBhvr>
                                        <p:cTn id="30" dur="500"/>
                                        <p:tgtEl>
                                          <p:spTgt spid="182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306" grpId="0" animBg="1"/>
      <p:bldP spid="18230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Rectangle 3"/>
          <p:cNvSpPr>
            <a:spLocks noGrp="1" noChangeArrowheads="1"/>
          </p:cNvSpPr>
          <p:nvPr>
            <p:ph type="title"/>
            <p:custDataLst>
              <p:tags r:id="rId1"/>
            </p:custDataLst>
          </p:nvPr>
        </p:nvSpPr>
        <p:spPr>
          <a:xfrm>
            <a:off x="182880" y="213360"/>
            <a:ext cx="8778240" cy="977392"/>
          </a:xfrm>
        </p:spPr>
        <p:txBody>
          <a:bodyPr vert="horz" anchor="b">
            <a:noAutofit/>
          </a:bodyPr>
          <a:lstStyle/>
          <a:p>
            <a:r>
              <a:rPr lang="fr-FR" sz="2600" dirty="0">
                <a:solidFill>
                  <a:srgbClr val="C00000"/>
                </a:solidFill>
              </a:rPr>
              <a:t>Modalités de sauvegarde et de restauration d'une base de données DHCP</a:t>
            </a:r>
            <a:endParaRPr lang="en-US" sz="2600" dirty="0">
              <a:solidFill>
                <a:srgbClr val="C00000"/>
              </a:solidFill>
            </a:endParaRPr>
          </a:p>
        </p:txBody>
      </p:sp>
      <p:sp>
        <p:nvSpPr>
          <p:cNvPr id="138448" name="AutoShape 208"/>
          <p:cNvSpPr>
            <a:spLocks noChangeArrowheads="1"/>
          </p:cNvSpPr>
          <p:nvPr/>
        </p:nvSpPr>
        <p:spPr bwMode="auto">
          <a:xfrm>
            <a:off x="5805488" y="1519238"/>
            <a:ext cx="2619375" cy="3148012"/>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lnSpc>
                <a:spcPct val="100000"/>
              </a:lnSpc>
              <a:spcBef>
                <a:spcPct val="0"/>
              </a:spcBef>
              <a:buClrTx/>
              <a:buSzPct val="85000"/>
              <a:buFontTx/>
              <a:buNone/>
            </a:pPr>
            <a:endParaRPr lang="pt-BR" sz="1800"/>
          </a:p>
        </p:txBody>
      </p:sp>
      <p:sp>
        <p:nvSpPr>
          <p:cNvPr id="138449" name="AutoShape 209"/>
          <p:cNvSpPr>
            <a:spLocks noChangeArrowheads="1"/>
          </p:cNvSpPr>
          <p:nvPr/>
        </p:nvSpPr>
        <p:spPr bwMode="auto">
          <a:xfrm>
            <a:off x="581025" y="1519238"/>
            <a:ext cx="3794125" cy="3148012"/>
          </a:xfrm>
          <a:prstGeom prst="roundRect">
            <a:avLst>
              <a:gd name="adj" fmla="val 4167"/>
            </a:avLst>
          </a:prstGeom>
          <a:solidFill>
            <a:srgbClr val="F0F1E1"/>
          </a:solidFill>
          <a:ln w="9525" algn="ctr">
            <a:solidFill>
              <a:srgbClr val="808080"/>
            </a:solidFill>
            <a:round/>
            <a:headEnd/>
            <a:tailEnd/>
          </a:ln>
          <a:effectLst>
            <a:outerShdw dist="35921" dir="2700000" algn="ctr" rotWithShape="0">
              <a:srgbClr val="AFAFAF"/>
            </a:outerShdw>
          </a:effectLst>
        </p:spPr>
        <p:txBody>
          <a:bodyPr anchor="ctr"/>
          <a:lstStyle/>
          <a:p>
            <a:pPr>
              <a:lnSpc>
                <a:spcPct val="100000"/>
              </a:lnSpc>
              <a:spcBef>
                <a:spcPct val="0"/>
              </a:spcBef>
              <a:buClrTx/>
              <a:buSzPct val="85000"/>
              <a:buFontTx/>
              <a:buNone/>
            </a:pPr>
            <a:endParaRPr lang="pt-BR" sz="1800"/>
          </a:p>
        </p:txBody>
      </p:sp>
      <p:pic>
        <p:nvPicPr>
          <p:cNvPr id="138450" name="Picture 210" descr="Server01"/>
          <p:cNvPicPr>
            <a:picLocks noChangeAspect="1" noChangeArrowheads="1"/>
          </p:cNvPicPr>
          <p:nvPr/>
        </p:nvPicPr>
        <p:blipFill>
          <a:blip r:embed="rId4"/>
          <a:srcRect/>
          <a:stretch>
            <a:fillRect/>
          </a:stretch>
        </p:blipFill>
        <p:spPr bwMode="auto">
          <a:xfrm>
            <a:off x="400050" y="2070100"/>
            <a:ext cx="1720850" cy="2025650"/>
          </a:xfrm>
          <a:prstGeom prst="rect">
            <a:avLst/>
          </a:prstGeom>
          <a:noFill/>
        </p:spPr>
      </p:pic>
      <p:sp>
        <p:nvSpPr>
          <p:cNvPr id="138451" name="AutoShape 211"/>
          <p:cNvSpPr>
            <a:spLocks noChangeArrowheads="1"/>
          </p:cNvSpPr>
          <p:nvPr/>
        </p:nvSpPr>
        <p:spPr bwMode="auto">
          <a:xfrm>
            <a:off x="954088" y="1349375"/>
            <a:ext cx="1447800" cy="469900"/>
          </a:xfrm>
          <a:prstGeom prst="roundRect">
            <a:avLst>
              <a:gd name="adj" fmla="val 12208"/>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en-US" sz="1800"/>
              <a:t>Serveur DHCP</a:t>
            </a:r>
          </a:p>
        </p:txBody>
      </p:sp>
      <p:pic>
        <p:nvPicPr>
          <p:cNvPr id="138452" name="Picture 212" descr="Database01"/>
          <p:cNvPicPr>
            <a:picLocks noChangeAspect="1" noChangeArrowheads="1"/>
          </p:cNvPicPr>
          <p:nvPr/>
        </p:nvPicPr>
        <p:blipFill>
          <a:blip r:embed="rId5" cstate="print"/>
          <a:srcRect/>
          <a:stretch>
            <a:fillRect/>
          </a:stretch>
        </p:blipFill>
        <p:spPr bwMode="auto">
          <a:xfrm>
            <a:off x="2547938" y="1646238"/>
            <a:ext cx="1143000" cy="923925"/>
          </a:xfrm>
          <a:prstGeom prst="rect">
            <a:avLst/>
          </a:prstGeom>
          <a:noFill/>
        </p:spPr>
      </p:pic>
      <p:sp>
        <p:nvSpPr>
          <p:cNvPr id="138453" name="Text Box 213"/>
          <p:cNvSpPr txBox="1">
            <a:spLocks noChangeArrowheads="1"/>
          </p:cNvSpPr>
          <p:nvPr/>
        </p:nvSpPr>
        <p:spPr bwMode="auto">
          <a:xfrm>
            <a:off x="2616200" y="1754188"/>
            <a:ext cx="1008063" cy="641350"/>
          </a:xfrm>
          <a:prstGeom prst="rect">
            <a:avLst/>
          </a:prstGeom>
          <a:noFill/>
          <a:ln w="9525" algn="ctr">
            <a:noFill/>
            <a:miter lim="800000"/>
            <a:headEnd/>
            <a:tailEnd/>
          </a:ln>
          <a:effectLst/>
        </p:spPr>
        <p:txBody>
          <a:bodyPr wrap="none">
            <a:spAutoFit/>
          </a:bodyPr>
          <a:lstStyle/>
          <a:p>
            <a:pPr>
              <a:lnSpc>
                <a:spcPct val="100000"/>
              </a:lnSpc>
              <a:spcBef>
                <a:spcPct val="0"/>
              </a:spcBef>
              <a:buClrTx/>
              <a:buSzTx/>
              <a:buFontTx/>
              <a:buNone/>
            </a:pPr>
            <a:r>
              <a:rPr lang="en-US" sz="1800"/>
              <a:t>Base de</a:t>
            </a:r>
            <a:br>
              <a:rPr lang="en-US" sz="1800"/>
            </a:br>
            <a:r>
              <a:rPr lang="en-US" sz="1800"/>
              <a:t> données</a:t>
            </a:r>
          </a:p>
        </p:txBody>
      </p:sp>
      <p:grpSp>
        <p:nvGrpSpPr>
          <p:cNvPr id="138454" name="Group 214"/>
          <p:cNvGrpSpPr>
            <a:grpSpLocks/>
          </p:cNvGrpSpPr>
          <p:nvPr/>
        </p:nvGrpSpPr>
        <p:grpSpPr bwMode="auto">
          <a:xfrm>
            <a:off x="2547938" y="3595688"/>
            <a:ext cx="1162050" cy="939800"/>
            <a:chOff x="1605" y="2265"/>
            <a:chExt cx="732" cy="592"/>
          </a:xfrm>
        </p:grpSpPr>
        <p:pic>
          <p:nvPicPr>
            <p:cNvPr id="138455" name="Picture 215" descr="Database01"/>
            <p:cNvPicPr>
              <a:picLocks noChangeAspect="1" noChangeArrowheads="1"/>
            </p:cNvPicPr>
            <p:nvPr/>
          </p:nvPicPr>
          <p:blipFill>
            <a:blip r:embed="rId6" cstate="print"/>
            <a:srcRect/>
            <a:stretch>
              <a:fillRect/>
            </a:stretch>
          </p:blipFill>
          <p:spPr bwMode="auto">
            <a:xfrm>
              <a:off x="1605" y="2265"/>
              <a:ext cx="732" cy="592"/>
            </a:xfrm>
            <a:prstGeom prst="rect">
              <a:avLst/>
            </a:prstGeom>
            <a:noFill/>
          </p:spPr>
        </p:pic>
        <p:sp>
          <p:nvSpPr>
            <p:cNvPr id="138456" name="Text Box 216"/>
            <p:cNvSpPr txBox="1">
              <a:spLocks noChangeArrowheads="1"/>
            </p:cNvSpPr>
            <p:nvPr/>
          </p:nvSpPr>
          <p:spPr bwMode="auto">
            <a:xfrm>
              <a:off x="1635" y="2343"/>
              <a:ext cx="635" cy="404"/>
            </a:xfrm>
            <a:prstGeom prst="rect">
              <a:avLst/>
            </a:prstGeom>
            <a:noFill/>
            <a:ln w="9525" algn="ctr">
              <a:noFill/>
              <a:miter lim="800000"/>
              <a:headEnd/>
              <a:tailEnd/>
            </a:ln>
            <a:effectLst/>
          </p:spPr>
          <p:txBody>
            <a:bodyPr wrap="none">
              <a:spAutoFit/>
            </a:bodyPr>
            <a:lstStyle/>
            <a:p>
              <a:pPr>
                <a:lnSpc>
                  <a:spcPct val="100000"/>
                </a:lnSpc>
                <a:spcBef>
                  <a:spcPct val="0"/>
                </a:spcBef>
                <a:buClrTx/>
                <a:buSzTx/>
                <a:buFontTx/>
                <a:buNone/>
              </a:pPr>
              <a:r>
                <a:rPr lang="en-US" sz="1800"/>
                <a:t>Base de</a:t>
              </a:r>
              <a:br>
                <a:rPr lang="en-US" sz="1800"/>
              </a:br>
              <a:r>
                <a:rPr lang="en-US" sz="1800"/>
                <a:t> données</a:t>
              </a:r>
            </a:p>
          </p:txBody>
        </p:sp>
      </p:grpSp>
      <p:grpSp>
        <p:nvGrpSpPr>
          <p:cNvPr id="138457" name="Group 217"/>
          <p:cNvGrpSpPr>
            <a:grpSpLocks/>
          </p:cNvGrpSpPr>
          <p:nvPr/>
        </p:nvGrpSpPr>
        <p:grpSpPr bwMode="auto">
          <a:xfrm>
            <a:off x="6313488" y="2322513"/>
            <a:ext cx="2054225" cy="1781175"/>
            <a:chOff x="3993" y="1340"/>
            <a:chExt cx="946" cy="820"/>
          </a:xfrm>
        </p:grpSpPr>
        <p:pic>
          <p:nvPicPr>
            <p:cNvPr id="138458" name="Picture 218" descr="TapeStorage_TapeMedia01"/>
            <p:cNvPicPr>
              <a:picLocks noChangeAspect="1" noChangeArrowheads="1"/>
            </p:cNvPicPr>
            <p:nvPr/>
          </p:nvPicPr>
          <p:blipFill>
            <a:blip r:embed="rId7"/>
            <a:srcRect/>
            <a:stretch>
              <a:fillRect/>
            </a:stretch>
          </p:blipFill>
          <p:spPr bwMode="auto">
            <a:xfrm>
              <a:off x="3993" y="1340"/>
              <a:ext cx="664" cy="672"/>
            </a:xfrm>
            <a:prstGeom prst="rect">
              <a:avLst/>
            </a:prstGeom>
            <a:noFill/>
          </p:spPr>
        </p:pic>
        <p:pic>
          <p:nvPicPr>
            <p:cNvPr id="138459" name="Picture 219" descr="CdDvd_CdDvdMedia01"/>
            <p:cNvPicPr>
              <a:picLocks noChangeAspect="1" noChangeArrowheads="1"/>
            </p:cNvPicPr>
            <p:nvPr/>
          </p:nvPicPr>
          <p:blipFill>
            <a:blip r:embed="rId8"/>
            <a:srcRect/>
            <a:stretch>
              <a:fillRect/>
            </a:stretch>
          </p:blipFill>
          <p:spPr bwMode="auto">
            <a:xfrm>
              <a:off x="4171" y="1780"/>
              <a:ext cx="768" cy="380"/>
            </a:xfrm>
            <a:prstGeom prst="rect">
              <a:avLst/>
            </a:prstGeom>
            <a:noFill/>
          </p:spPr>
        </p:pic>
      </p:grpSp>
      <p:sp>
        <p:nvSpPr>
          <p:cNvPr id="138460" name="AutoShape 220"/>
          <p:cNvSpPr>
            <a:spLocks noChangeArrowheads="1"/>
          </p:cNvSpPr>
          <p:nvPr/>
        </p:nvSpPr>
        <p:spPr bwMode="auto">
          <a:xfrm>
            <a:off x="6313488" y="1349375"/>
            <a:ext cx="1604962" cy="469900"/>
          </a:xfrm>
          <a:prstGeom prst="roundRect">
            <a:avLst>
              <a:gd name="adj" fmla="val 12208"/>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en-US" sz="1800"/>
              <a:t>Stockage hors connexion</a:t>
            </a:r>
          </a:p>
        </p:txBody>
      </p:sp>
      <p:pic>
        <p:nvPicPr>
          <p:cNvPr id="138461" name="Picture 221" descr="Validate_XMark01"/>
          <p:cNvPicPr>
            <a:picLocks noChangeAspect="1" noChangeArrowheads="1"/>
          </p:cNvPicPr>
          <p:nvPr/>
        </p:nvPicPr>
        <p:blipFill>
          <a:blip r:embed="rId9" cstate="print"/>
          <a:srcRect/>
          <a:stretch>
            <a:fillRect/>
          </a:stretch>
        </p:blipFill>
        <p:spPr bwMode="auto">
          <a:xfrm>
            <a:off x="501650" y="2619375"/>
            <a:ext cx="942975" cy="1149350"/>
          </a:xfrm>
          <a:prstGeom prst="rect">
            <a:avLst/>
          </a:prstGeom>
          <a:noFill/>
        </p:spPr>
      </p:pic>
      <p:pic>
        <p:nvPicPr>
          <p:cNvPr id="138462" name="Picture 222" descr="Validate_XMark01"/>
          <p:cNvPicPr>
            <a:picLocks noChangeAspect="1" noChangeArrowheads="1"/>
          </p:cNvPicPr>
          <p:nvPr/>
        </p:nvPicPr>
        <p:blipFill>
          <a:blip r:embed="rId9" cstate="print"/>
          <a:srcRect/>
          <a:stretch>
            <a:fillRect/>
          </a:stretch>
        </p:blipFill>
        <p:spPr bwMode="auto">
          <a:xfrm>
            <a:off x="2663825" y="1444625"/>
            <a:ext cx="942975" cy="1149350"/>
          </a:xfrm>
          <a:prstGeom prst="rect">
            <a:avLst/>
          </a:prstGeom>
          <a:noFill/>
        </p:spPr>
      </p:pic>
      <p:grpSp>
        <p:nvGrpSpPr>
          <p:cNvPr id="138463" name="Group 223"/>
          <p:cNvGrpSpPr>
            <a:grpSpLocks/>
          </p:cNvGrpSpPr>
          <p:nvPr/>
        </p:nvGrpSpPr>
        <p:grpSpPr bwMode="auto">
          <a:xfrm>
            <a:off x="1600200" y="2665413"/>
            <a:ext cx="1439863" cy="884237"/>
            <a:chOff x="1008" y="1679"/>
            <a:chExt cx="907" cy="557"/>
          </a:xfrm>
        </p:grpSpPr>
        <p:sp>
          <p:nvSpPr>
            <p:cNvPr id="138464" name="Line 224"/>
            <p:cNvSpPr>
              <a:spLocks noChangeShapeType="1"/>
            </p:cNvSpPr>
            <p:nvPr/>
          </p:nvSpPr>
          <p:spPr bwMode="auto">
            <a:xfrm>
              <a:off x="1915" y="1679"/>
              <a:ext cx="0" cy="557"/>
            </a:xfrm>
            <a:prstGeom prst="line">
              <a:avLst/>
            </a:prstGeom>
            <a:noFill/>
            <a:ln w="76200">
              <a:solidFill>
                <a:srgbClr val="CC0000"/>
              </a:solidFill>
              <a:round/>
              <a:headEnd/>
              <a:tailEnd type="triangle" w="med" len="med"/>
            </a:ln>
            <a:effectLst/>
          </p:spPr>
          <p:txBody>
            <a:bodyPr anchor="ctr"/>
            <a:lstStyle/>
            <a:p>
              <a:endParaRPr lang="fr-FR"/>
            </a:p>
          </p:txBody>
        </p:sp>
        <p:sp>
          <p:nvSpPr>
            <p:cNvPr id="138465" name="Text Box 225"/>
            <p:cNvSpPr txBox="1">
              <a:spLocks noChangeArrowheads="1"/>
            </p:cNvSpPr>
            <p:nvPr/>
          </p:nvSpPr>
          <p:spPr bwMode="auto">
            <a:xfrm>
              <a:off x="1008" y="1848"/>
              <a:ext cx="811" cy="173"/>
            </a:xfrm>
            <a:prstGeom prst="rect">
              <a:avLst/>
            </a:prstGeom>
            <a:solidFill>
              <a:schemeClr val="accent1">
                <a:alpha val="60001"/>
              </a:schemeClr>
            </a:solidFill>
            <a:ln w="9525" algn="ctr">
              <a:noFill/>
              <a:miter lim="800000"/>
              <a:headEnd/>
              <a:tailEnd/>
            </a:ln>
            <a:effectLst/>
          </p:spPr>
          <p:txBody>
            <a:bodyPr lIns="0" tIns="0" rIns="0" bIns="0">
              <a:spAutoFit/>
            </a:bodyPr>
            <a:lstStyle/>
            <a:p>
              <a:pPr marL="342900" indent="-342900" algn="r">
                <a:buFont typeface="Wingdings" pitchFamily="2" charset="2"/>
                <a:buNone/>
              </a:pPr>
              <a:r>
                <a:rPr lang="en-US" sz="2000"/>
                <a:t>Sauvegarde</a:t>
              </a:r>
            </a:p>
          </p:txBody>
        </p:sp>
      </p:grpSp>
      <p:sp>
        <p:nvSpPr>
          <p:cNvPr id="138466" name="AutoShape 226"/>
          <p:cNvSpPr>
            <a:spLocks noChangeArrowheads="1"/>
          </p:cNvSpPr>
          <p:nvPr/>
        </p:nvSpPr>
        <p:spPr bwMode="auto">
          <a:xfrm>
            <a:off x="232229" y="4950731"/>
            <a:ext cx="8563427" cy="1397817"/>
          </a:xfrm>
          <a:prstGeom prst="roundRect">
            <a:avLst>
              <a:gd name="adj" fmla="val 16667"/>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174625" indent="-174625" algn="l"/>
            <a:r>
              <a:rPr lang="fr-FR" dirty="0" smtClean="0"/>
              <a:t>Le service DHCP sauvegarde automatiquement la base de données DHCP sur le répertoire de sauvegarde du lecteur local</a:t>
            </a:r>
          </a:p>
          <a:p>
            <a:pPr marL="174625" indent="-174625">
              <a:lnSpc>
                <a:spcPct val="100000"/>
              </a:lnSpc>
              <a:spcBef>
                <a:spcPts val="0"/>
              </a:spcBef>
              <a:buNone/>
            </a:pPr>
            <a:r>
              <a:rPr lang="fr-FR" dirty="0" smtClean="0"/>
              <a:t>\%</a:t>
            </a:r>
            <a:r>
              <a:rPr lang="fr-FR" dirty="0" err="1" smtClean="0"/>
              <a:t>Systemroot</a:t>
            </a:r>
            <a:r>
              <a:rPr lang="fr-FR" dirty="0" smtClean="0"/>
              <a:t>%\System32\</a:t>
            </a:r>
            <a:r>
              <a:rPr lang="fr-FR" dirty="0" err="1" smtClean="0"/>
              <a:t>Dhcp</a:t>
            </a:r>
            <a:r>
              <a:rPr lang="fr-FR" dirty="0" smtClean="0"/>
              <a:t>\</a:t>
            </a:r>
            <a:r>
              <a:rPr lang="fr-FR" dirty="0" err="1" smtClean="0"/>
              <a:t>Backup\New</a:t>
            </a:r>
            <a:endParaRPr lang="fr-FR" dirty="0"/>
          </a:p>
        </p:txBody>
      </p:sp>
      <p:grpSp>
        <p:nvGrpSpPr>
          <p:cNvPr id="138467" name="Group 227"/>
          <p:cNvGrpSpPr>
            <a:grpSpLocks/>
          </p:cNvGrpSpPr>
          <p:nvPr/>
        </p:nvGrpSpPr>
        <p:grpSpPr bwMode="auto">
          <a:xfrm>
            <a:off x="3286125" y="2665413"/>
            <a:ext cx="1509713" cy="884237"/>
            <a:chOff x="2070" y="1679"/>
            <a:chExt cx="951" cy="557"/>
          </a:xfrm>
        </p:grpSpPr>
        <p:sp>
          <p:nvSpPr>
            <p:cNvPr id="138468" name="Text Box 228"/>
            <p:cNvSpPr txBox="1">
              <a:spLocks noChangeArrowheads="1"/>
            </p:cNvSpPr>
            <p:nvPr/>
          </p:nvSpPr>
          <p:spPr bwMode="auto">
            <a:xfrm>
              <a:off x="2219" y="1848"/>
              <a:ext cx="802" cy="173"/>
            </a:xfrm>
            <a:prstGeom prst="rect">
              <a:avLst/>
            </a:prstGeom>
            <a:noFill/>
            <a:ln w="9525" algn="ctr">
              <a:noFill/>
              <a:miter lim="800000"/>
              <a:headEnd/>
              <a:tailEnd/>
            </a:ln>
            <a:effectLst/>
          </p:spPr>
          <p:txBody>
            <a:bodyPr wrap="none" lIns="0" tIns="0" rIns="0" bIns="0">
              <a:spAutoFit/>
            </a:bodyPr>
            <a:lstStyle/>
            <a:p>
              <a:pPr marL="342900" indent="-342900" algn="r">
                <a:buFont typeface="Wingdings" pitchFamily="2" charset="2"/>
                <a:buNone/>
              </a:pPr>
              <a:r>
                <a:rPr lang="en-GB" sz="2000">
                  <a:solidFill>
                    <a:srgbClr val="000000"/>
                  </a:solidFill>
                </a:rPr>
                <a:t>Restauration</a:t>
              </a:r>
              <a:endParaRPr lang="en-US" sz="2000">
                <a:solidFill>
                  <a:srgbClr val="000000"/>
                </a:solidFill>
              </a:endParaRPr>
            </a:p>
          </p:txBody>
        </p:sp>
        <p:sp>
          <p:nvSpPr>
            <p:cNvPr id="138469" name="Line 229"/>
            <p:cNvSpPr>
              <a:spLocks noChangeShapeType="1"/>
            </p:cNvSpPr>
            <p:nvPr/>
          </p:nvSpPr>
          <p:spPr bwMode="auto">
            <a:xfrm flipV="1">
              <a:off x="2070" y="1679"/>
              <a:ext cx="0" cy="557"/>
            </a:xfrm>
            <a:prstGeom prst="line">
              <a:avLst/>
            </a:prstGeom>
            <a:noFill/>
            <a:ln w="76200">
              <a:solidFill>
                <a:srgbClr val="CC0000"/>
              </a:solidFill>
              <a:round/>
              <a:headEnd/>
              <a:tailEnd type="triangle" w="med" len="med"/>
            </a:ln>
            <a:effectLst/>
          </p:spPr>
          <p:txBody>
            <a:bodyPr anchor="ctr"/>
            <a:lstStyle/>
            <a:p>
              <a:endParaRPr lang="fr-FR"/>
            </a:p>
          </p:txBody>
        </p:sp>
      </p:grpSp>
      <p:grpSp>
        <p:nvGrpSpPr>
          <p:cNvPr id="138470" name="Group 230"/>
          <p:cNvGrpSpPr>
            <a:grpSpLocks/>
          </p:cNvGrpSpPr>
          <p:nvPr/>
        </p:nvGrpSpPr>
        <p:grpSpPr bwMode="auto">
          <a:xfrm>
            <a:off x="3789363" y="2652713"/>
            <a:ext cx="2519362" cy="1841500"/>
            <a:chOff x="2387" y="1671"/>
            <a:chExt cx="1587" cy="1160"/>
          </a:xfrm>
        </p:grpSpPr>
        <p:sp>
          <p:nvSpPr>
            <p:cNvPr id="138471" name="Arc 231"/>
            <p:cNvSpPr>
              <a:spLocks/>
            </p:cNvSpPr>
            <p:nvPr/>
          </p:nvSpPr>
          <p:spPr bwMode="auto">
            <a:xfrm flipV="1">
              <a:off x="2387" y="1671"/>
              <a:ext cx="1587" cy="938"/>
            </a:xfrm>
            <a:custGeom>
              <a:avLst/>
              <a:gdLst>
                <a:gd name="G0" fmla="+- 1303 0 0"/>
                <a:gd name="G1" fmla="+- 21600 0 0"/>
                <a:gd name="G2" fmla="+- 21600 0 0"/>
                <a:gd name="T0" fmla="*/ 0 w 19353"/>
                <a:gd name="T1" fmla="*/ 39 h 21600"/>
                <a:gd name="T2" fmla="*/ 19353 w 19353"/>
                <a:gd name="T3" fmla="*/ 9736 h 21600"/>
                <a:gd name="T4" fmla="*/ 1303 w 19353"/>
                <a:gd name="T5" fmla="*/ 21600 h 21600"/>
              </a:gdLst>
              <a:ahLst/>
              <a:cxnLst>
                <a:cxn ang="0">
                  <a:pos x="T0" y="T1"/>
                </a:cxn>
                <a:cxn ang="0">
                  <a:pos x="T2" y="T3"/>
                </a:cxn>
                <a:cxn ang="0">
                  <a:pos x="T4" y="T5"/>
                </a:cxn>
              </a:cxnLst>
              <a:rect l="0" t="0" r="r" b="b"/>
              <a:pathLst>
                <a:path w="19353" h="21600" fill="none" extrusionOk="0">
                  <a:moveTo>
                    <a:pt x="0" y="39"/>
                  </a:moveTo>
                  <a:cubicBezTo>
                    <a:pt x="433" y="13"/>
                    <a:pt x="868" y="-1"/>
                    <a:pt x="1303" y="0"/>
                  </a:cubicBezTo>
                  <a:cubicBezTo>
                    <a:pt x="8574" y="0"/>
                    <a:pt x="15358" y="3659"/>
                    <a:pt x="19353" y="9735"/>
                  </a:cubicBezTo>
                </a:path>
                <a:path w="19353" h="21600" stroke="0" extrusionOk="0">
                  <a:moveTo>
                    <a:pt x="0" y="39"/>
                  </a:moveTo>
                  <a:cubicBezTo>
                    <a:pt x="433" y="13"/>
                    <a:pt x="868" y="-1"/>
                    <a:pt x="1303" y="0"/>
                  </a:cubicBezTo>
                  <a:cubicBezTo>
                    <a:pt x="8574" y="0"/>
                    <a:pt x="15358" y="3659"/>
                    <a:pt x="19353" y="9735"/>
                  </a:cubicBezTo>
                  <a:lnTo>
                    <a:pt x="1303" y="21600"/>
                  </a:lnTo>
                  <a:close/>
                </a:path>
              </a:pathLst>
            </a:custGeom>
            <a:noFill/>
            <a:ln w="76200">
              <a:solidFill>
                <a:srgbClr val="CC0000"/>
              </a:solidFill>
              <a:round/>
              <a:headEnd/>
              <a:tailEnd type="triangle" w="med" len="med"/>
            </a:ln>
            <a:effectLst/>
          </p:spPr>
          <p:txBody>
            <a:bodyPr anchor="ctr"/>
            <a:lstStyle/>
            <a:p>
              <a:endParaRPr lang="fr-FR"/>
            </a:p>
          </p:txBody>
        </p:sp>
        <p:sp>
          <p:nvSpPr>
            <p:cNvPr id="138472" name="Text Box 232"/>
            <p:cNvSpPr txBox="1">
              <a:spLocks noChangeArrowheads="1"/>
            </p:cNvSpPr>
            <p:nvPr/>
          </p:nvSpPr>
          <p:spPr bwMode="auto">
            <a:xfrm>
              <a:off x="2814" y="2658"/>
              <a:ext cx="777" cy="173"/>
            </a:xfrm>
            <a:prstGeom prst="rect">
              <a:avLst/>
            </a:prstGeom>
            <a:noFill/>
            <a:ln w="9525" algn="ctr">
              <a:noFill/>
              <a:miter lim="800000"/>
              <a:headEnd/>
              <a:tailEnd/>
            </a:ln>
            <a:effectLst/>
          </p:spPr>
          <p:txBody>
            <a:bodyPr lIns="0" tIns="0" rIns="0" bIns="0">
              <a:spAutoFit/>
            </a:bodyPr>
            <a:lstStyle/>
            <a:p>
              <a:pPr marL="342900" indent="-342900">
                <a:buFont typeface="Wingdings" pitchFamily="2" charset="2"/>
                <a:buNone/>
              </a:pPr>
              <a:r>
                <a:rPr lang="en-US" sz="2000"/>
                <a:t>Sauvegarde</a:t>
              </a:r>
            </a:p>
          </p:txBody>
        </p:sp>
      </p:grpSp>
      <p:grpSp>
        <p:nvGrpSpPr>
          <p:cNvPr id="138473" name="Group 233"/>
          <p:cNvGrpSpPr>
            <a:grpSpLocks/>
          </p:cNvGrpSpPr>
          <p:nvPr/>
        </p:nvGrpSpPr>
        <p:grpSpPr bwMode="auto">
          <a:xfrm>
            <a:off x="3776663" y="1643063"/>
            <a:ext cx="2424112" cy="1857375"/>
            <a:chOff x="2379" y="1035"/>
            <a:chExt cx="1527" cy="1170"/>
          </a:xfrm>
        </p:grpSpPr>
        <p:sp>
          <p:nvSpPr>
            <p:cNvPr id="138474" name="Text Box 234"/>
            <p:cNvSpPr txBox="1">
              <a:spLocks noChangeArrowheads="1"/>
            </p:cNvSpPr>
            <p:nvPr/>
          </p:nvSpPr>
          <p:spPr bwMode="auto">
            <a:xfrm>
              <a:off x="2813" y="1035"/>
              <a:ext cx="802" cy="173"/>
            </a:xfrm>
            <a:prstGeom prst="rect">
              <a:avLst/>
            </a:prstGeom>
            <a:noFill/>
            <a:ln w="9525" algn="ctr">
              <a:noFill/>
              <a:miter lim="800000"/>
              <a:headEnd/>
              <a:tailEnd/>
            </a:ln>
            <a:effectLst/>
          </p:spPr>
          <p:txBody>
            <a:bodyPr wrap="none" lIns="0" tIns="0" rIns="0" bIns="0">
              <a:spAutoFit/>
            </a:bodyPr>
            <a:lstStyle/>
            <a:p>
              <a:pPr marL="342900" indent="-342900" algn="r">
                <a:buFont typeface="Wingdings" pitchFamily="2" charset="2"/>
                <a:buNone/>
              </a:pPr>
              <a:r>
                <a:rPr lang="en-US" sz="2000"/>
                <a:t>Restauration</a:t>
              </a:r>
            </a:p>
          </p:txBody>
        </p:sp>
        <p:sp>
          <p:nvSpPr>
            <p:cNvPr id="138475" name="Arc 235"/>
            <p:cNvSpPr>
              <a:spLocks/>
            </p:cNvSpPr>
            <p:nvPr/>
          </p:nvSpPr>
          <p:spPr bwMode="auto">
            <a:xfrm flipH="1">
              <a:off x="2379" y="1267"/>
              <a:ext cx="1527" cy="938"/>
            </a:xfrm>
            <a:custGeom>
              <a:avLst/>
              <a:gdLst>
                <a:gd name="G0" fmla="+- 12623 0 0"/>
                <a:gd name="G1" fmla="+- 21600 0 0"/>
                <a:gd name="G2" fmla="+- 21600 0 0"/>
                <a:gd name="T0" fmla="*/ 0 w 18620"/>
                <a:gd name="T1" fmla="*/ 4072 h 21600"/>
                <a:gd name="T2" fmla="*/ 18620 w 18620"/>
                <a:gd name="T3" fmla="*/ 849 h 21600"/>
                <a:gd name="T4" fmla="*/ 12623 w 18620"/>
                <a:gd name="T5" fmla="*/ 21600 h 21600"/>
              </a:gdLst>
              <a:ahLst/>
              <a:cxnLst>
                <a:cxn ang="0">
                  <a:pos x="T0" y="T1"/>
                </a:cxn>
                <a:cxn ang="0">
                  <a:pos x="T2" y="T3"/>
                </a:cxn>
                <a:cxn ang="0">
                  <a:pos x="T4" y="T5"/>
                </a:cxn>
              </a:cxnLst>
              <a:rect l="0" t="0" r="r" b="b"/>
              <a:pathLst>
                <a:path w="18620" h="21600" fill="none" extrusionOk="0">
                  <a:moveTo>
                    <a:pt x="0" y="4072"/>
                  </a:moveTo>
                  <a:cubicBezTo>
                    <a:pt x="3676" y="1424"/>
                    <a:pt x="8092" y="-1"/>
                    <a:pt x="12623" y="0"/>
                  </a:cubicBezTo>
                  <a:cubicBezTo>
                    <a:pt x="14651" y="0"/>
                    <a:pt x="16670" y="285"/>
                    <a:pt x="18619" y="849"/>
                  </a:cubicBezTo>
                </a:path>
                <a:path w="18620" h="21600" stroke="0" extrusionOk="0">
                  <a:moveTo>
                    <a:pt x="0" y="4072"/>
                  </a:moveTo>
                  <a:cubicBezTo>
                    <a:pt x="3676" y="1424"/>
                    <a:pt x="8092" y="-1"/>
                    <a:pt x="12623" y="0"/>
                  </a:cubicBezTo>
                  <a:cubicBezTo>
                    <a:pt x="14651" y="0"/>
                    <a:pt x="16670" y="285"/>
                    <a:pt x="18619" y="849"/>
                  </a:cubicBezTo>
                  <a:lnTo>
                    <a:pt x="12623" y="21600"/>
                  </a:lnTo>
                  <a:close/>
                </a:path>
              </a:pathLst>
            </a:custGeom>
            <a:noFill/>
            <a:ln w="76200">
              <a:solidFill>
                <a:srgbClr val="CC0000"/>
              </a:solidFill>
              <a:round/>
              <a:headEnd/>
              <a:tailEnd type="triangle" w="med" len="med"/>
            </a:ln>
            <a:effectLst/>
          </p:spPr>
          <p:txBody>
            <a:bodyPr anchor="ctr"/>
            <a:lstStyle/>
            <a:p>
              <a:endParaRPr lang="fr-FR"/>
            </a:p>
          </p:txBody>
        </p:sp>
      </p:grpSp>
      <p:sp>
        <p:nvSpPr>
          <p:cNvPr id="138476" name="AutoShape 236"/>
          <p:cNvSpPr>
            <a:spLocks noChangeArrowheads="1"/>
          </p:cNvSpPr>
          <p:nvPr/>
        </p:nvSpPr>
        <p:spPr bwMode="auto">
          <a:xfrm>
            <a:off x="219166" y="4920249"/>
            <a:ext cx="8592457" cy="1441362"/>
          </a:xfrm>
          <a:prstGeom prst="roundRect">
            <a:avLst>
              <a:gd name="adj" fmla="val 16667"/>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174625" indent="-174625" algn="l"/>
            <a:r>
              <a:rPr lang="fr-FR" dirty="0" smtClean="0"/>
              <a:t>S'il ne parvient pas à charger la base de données originale, le service DHCP la restaure automatiquement à partir du répertoire de sauvegarde du lecteur local</a:t>
            </a:r>
          </a:p>
        </p:txBody>
      </p:sp>
      <p:sp>
        <p:nvSpPr>
          <p:cNvPr id="138477" name="AutoShape 237"/>
          <p:cNvSpPr>
            <a:spLocks noChangeArrowheads="1"/>
          </p:cNvSpPr>
          <p:nvPr/>
        </p:nvSpPr>
        <p:spPr bwMode="auto">
          <a:xfrm>
            <a:off x="169818" y="4947822"/>
            <a:ext cx="8781143" cy="1426853"/>
          </a:xfrm>
          <a:prstGeom prst="roundRect">
            <a:avLst>
              <a:gd name="adj" fmla="val 16667"/>
            </a:avLst>
          </a:prstGeom>
          <a:gradFill rotWithShape="1">
            <a:gsLst>
              <a:gs pos="0">
                <a:srgbClr val="D5D69C"/>
              </a:gs>
              <a:gs pos="100000">
                <a:schemeClr val="accent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174625" indent="-174625" algn="l">
              <a:buNone/>
            </a:pPr>
            <a:r>
              <a:rPr lang="fr-FR" dirty="0"/>
              <a:t>L'administrateur place une copie de la base de données DHCP sauvegardée dans un emplacement de stockage hors connexion</a:t>
            </a:r>
          </a:p>
        </p:txBody>
      </p:sp>
      <p:sp>
        <p:nvSpPr>
          <p:cNvPr id="138478" name="AutoShape 238"/>
          <p:cNvSpPr>
            <a:spLocks noChangeArrowheads="1"/>
          </p:cNvSpPr>
          <p:nvPr/>
        </p:nvSpPr>
        <p:spPr bwMode="auto">
          <a:xfrm>
            <a:off x="169817" y="4936203"/>
            <a:ext cx="8795658" cy="1425408"/>
          </a:xfrm>
          <a:prstGeom prst="roundRect">
            <a:avLst>
              <a:gd name="adj" fmla="val 16667"/>
            </a:avLst>
          </a:prstGeom>
          <a:gradFill rotWithShape="1">
            <a:gsLst>
              <a:gs pos="0">
                <a:srgbClr val="D5D69C"/>
              </a:gs>
              <a:gs pos="100000">
                <a:schemeClr val="accent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174625" indent="-174625" algn="l">
              <a:buNone/>
            </a:pPr>
            <a:r>
              <a:rPr lang="en-GB" dirty="0"/>
              <a:t>En </a:t>
            </a:r>
            <a:r>
              <a:rPr lang="en-GB" dirty="0" err="1"/>
              <a:t>cas</a:t>
            </a:r>
            <a:r>
              <a:rPr lang="en-GB" dirty="0"/>
              <a:t> de </a:t>
            </a:r>
            <a:r>
              <a:rPr lang="en-GB" dirty="0" err="1"/>
              <a:t>panne</a:t>
            </a:r>
            <a:r>
              <a:rPr lang="en-GB" dirty="0"/>
              <a:t> du </a:t>
            </a:r>
            <a:r>
              <a:rPr lang="en-GB" dirty="0" err="1"/>
              <a:t>matériel</a:t>
            </a:r>
            <a:r>
              <a:rPr lang="en-GB" dirty="0"/>
              <a:t> du </a:t>
            </a:r>
            <a:r>
              <a:rPr lang="en-GB" dirty="0" err="1"/>
              <a:t>serveur</a:t>
            </a:r>
            <a:r>
              <a:rPr lang="en-GB" dirty="0"/>
              <a:t>, </a:t>
            </a:r>
            <a:r>
              <a:rPr lang="en-GB" dirty="0" err="1"/>
              <a:t>l'administrateur</a:t>
            </a:r>
            <a:r>
              <a:rPr lang="en-GB" dirty="0"/>
              <a:t> ne </a:t>
            </a:r>
            <a:r>
              <a:rPr lang="en-GB" dirty="0" err="1"/>
              <a:t>peut</a:t>
            </a:r>
            <a:r>
              <a:rPr lang="en-GB" dirty="0"/>
              <a:t> </a:t>
            </a:r>
            <a:r>
              <a:rPr lang="en-GB" dirty="0" err="1"/>
              <a:t>effectuer</a:t>
            </a:r>
            <a:r>
              <a:rPr lang="en-GB" dirty="0"/>
              <a:t> la </a:t>
            </a:r>
            <a:r>
              <a:rPr lang="en-GB" dirty="0" err="1"/>
              <a:t>restauration</a:t>
            </a:r>
            <a:r>
              <a:rPr lang="en-GB" dirty="0"/>
              <a:t> </a:t>
            </a:r>
            <a:r>
              <a:rPr lang="en-GB" dirty="0" err="1"/>
              <a:t>qu'à</a:t>
            </a:r>
            <a:r>
              <a:rPr lang="en-GB" dirty="0"/>
              <a:t> </a:t>
            </a:r>
            <a:r>
              <a:rPr lang="en-GB" dirty="0" err="1"/>
              <a:t>partir</a:t>
            </a:r>
            <a:r>
              <a:rPr lang="en-GB" dirty="0"/>
              <a:t> de </a:t>
            </a:r>
            <a:r>
              <a:rPr lang="en-GB" dirty="0" err="1"/>
              <a:t>l'emplacement</a:t>
            </a:r>
            <a:r>
              <a:rPr lang="en-GB" dirty="0"/>
              <a:t> de </a:t>
            </a:r>
            <a:r>
              <a:rPr lang="en-GB" dirty="0" err="1"/>
              <a:t>stockage</a:t>
            </a:r>
            <a:r>
              <a:rPr lang="en-GB" dirty="0"/>
              <a:t> hors connexion</a:t>
            </a:r>
            <a:endParaRPr lang="en-US" dirty="0"/>
          </a:p>
        </p:txBody>
      </p:sp>
      <p:grpSp>
        <p:nvGrpSpPr>
          <p:cNvPr id="138479" name="Group 239"/>
          <p:cNvGrpSpPr>
            <a:grpSpLocks/>
          </p:cNvGrpSpPr>
          <p:nvPr/>
        </p:nvGrpSpPr>
        <p:grpSpPr bwMode="auto">
          <a:xfrm>
            <a:off x="100143" y="6365062"/>
            <a:ext cx="914400" cy="425450"/>
            <a:chOff x="384" y="3024"/>
            <a:chExt cx="720" cy="336"/>
          </a:xfrm>
        </p:grpSpPr>
        <p:sp>
          <p:nvSpPr>
            <p:cNvPr id="138480" name="Oval 24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138481" name="Group 241"/>
            <p:cNvGrpSpPr>
              <a:grpSpLocks/>
            </p:cNvGrpSpPr>
            <p:nvPr/>
          </p:nvGrpSpPr>
          <p:grpSpPr bwMode="auto">
            <a:xfrm>
              <a:off x="480" y="3096"/>
              <a:ext cx="240" cy="192"/>
              <a:chOff x="480" y="3096"/>
              <a:chExt cx="240" cy="192"/>
            </a:xfrm>
          </p:grpSpPr>
          <p:sp>
            <p:nvSpPr>
              <p:cNvPr id="138482" name="Oval 24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138483" name="Freeform 243"/>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138484" name="Group 244"/>
          <p:cNvGrpSpPr>
            <a:grpSpLocks/>
          </p:cNvGrpSpPr>
          <p:nvPr/>
        </p:nvGrpSpPr>
        <p:grpSpPr bwMode="auto">
          <a:xfrm>
            <a:off x="587506" y="6455550"/>
            <a:ext cx="304800" cy="244475"/>
            <a:chOff x="768" y="3096"/>
            <a:chExt cx="240" cy="192"/>
          </a:xfrm>
        </p:grpSpPr>
        <p:sp>
          <p:nvSpPr>
            <p:cNvPr id="138485" name="Oval 24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138486" name="Rectangle 246"/>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8466"/>
                                        </p:tgtEl>
                                        <p:attrNameLst>
                                          <p:attrName>style.visibility</p:attrName>
                                        </p:attrNameLst>
                                      </p:cBhvr>
                                      <p:to>
                                        <p:strVal val="visible"/>
                                      </p:to>
                                    </p:set>
                                    <p:animEffect transition="in" filter="fade">
                                      <p:cBhvr>
                                        <p:cTn id="7" dur="1000"/>
                                        <p:tgtEl>
                                          <p:spTgt spid="138466"/>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138463"/>
                                        </p:tgtEl>
                                        <p:attrNameLst>
                                          <p:attrName>style.visibility</p:attrName>
                                        </p:attrNameLst>
                                      </p:cBhvr>
                                      <p:to>
                                        <p:strVal val="visible"/>
                                      </p:to>
                                    </p:set>
                                    <p:animEffect transition="in" filter="wipe(up)">
                                      <p:cBhvr>
                                        <p:cTn id="11" dur="500"/>
                                        <p:tgtEl>
                                          <p:spTgt spid="13846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1000"/>
                                        <p:tgtEl>
                                          <p:spTgt spid="138466"/>
                                        </p:tgtEl>
                                      </p:cBhvr>
                                    </p:animEffect>
                                    <p:set>
                                      <p:cBhvr>
                                        <p:cTn id="16" dur="1" fill="hold">
                                          <p:stCondLst>
                                            <p:cond delay="999"/>
                                          </p:stCondLst>
                                        </p:cTn>
                                        <p:tgtEl>
                                          <p:spTgt spid="138466"/>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38463"/>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138476"/>
                                        </p:tgtEl>
                                        <p:attrNameLst>
                                          <p:attrName>style.visibility</p:attrName>
                                        </p:attrNameLst>
                                      </p:cBhvr>
                                      <p:to>
                                        <p:strVal val="visible"/>
                                      </p:to>
                                    </p:set>
                                    <p:animEffect transition="in" filter="fade">
                                      <p:cBhvr>
                                        <p:cTn id="21" dur="1000"/>
                                        <p:tgtEl>
                                          <p:spTgt spid="138476"/>
                                        </p:tgtEl>
                                      </p:cBhvr>
                                    </p:animEffect>
                                  </p:childTnLst>
                                </p:cTn>
                              </p:par>
                              <p:par>
                                <p:cTn id="22" presetID="10" presetClass="entr" presetSubtype="0" fill="hold" nodeType="withEffect">
                                  <p:stCondLst>
                                    <p:cond delay="0"/>
                                  </p:stCondLst>
                                  <p:childTnLst>
                                    <p:set>
                                      <p:cBhvr>
                                        <p:cTn id="23" dur="1" fill="hold">
                                          <p:stCondLst>
                                            <p:cond delay="0"/>
                                          </p:stCondLst>
                                        </p:cTn>
                                        <p:tgtEl>
                                          <p:spTgt spid="138462"/>
                                        </p:tgtEl>
                                        <p:attrNameLst>
                                          <p:attrName>style.visibility</p:attrName>
                                        </p:attrNameLst>
                                      </p:cBhvr>
                                      <p:to>
                                        <p:strVal val="visible"/>
                                      </p:to>
                                    </p:set>
                                    <p:animEffect transition="in" filter="fade">
                                      <p:cBhvr>
                                        <p:cTn id="24" dur="1000"/>
                                        <p:tgtEl>
                                          <p:spTgt spid="138462"/>
                                        </p:tgtEl>
                                      </p:cBhvr>
                                    </p:animEffect>
                                  </p:childTnLst>
                                </p:cTn>
                              </p:par>
                            </p:childTnLst>
                          </p:cTn>
                        </p:par>
                        <p:par>
                          <p:cTn id="25" fill="hold">
                            <p:stCondLst>
                              <p:cond delay="1000"/>
                            </p:stCondLst>
                            <p:childTnLst>
                              <p:par>
                                <p:cTn id="26" presetID="22" presetClass="entr" presetSubtype="4" fill="hold" nodeType="afterEffect">
                                  <p:stCondLst>
                                    <p:cond delay="0"/>
                                  </p:stCondLst>
                                  <p:childTnLst>
                                    <p:set>
                                      <p:cBhvr>
                                        <p:cTn id="27" dur="1" fill="hold">
                                          <p:stCondLst>
                                            <p:cond delay="0"/>
                                          </p:stCondLst>
                                        </p:cTn>
                                        <p:tgtEl>
                                          <p:spTgt spid="138467"/>
                                        </p:tgtEl>
                                        <p:attrNameLst>
                                          <p:attrName>style.visibility</p:attrName>
                                        </p:attrNameLst>
                                      </p:cBhvr>
                                      <p:to>
                                        <p:strVal val="visible"/>
                                      </p:to>
                                    </p:set>
                                    <p:animEffect transition="in" filter="wipe(down)">
                                      <p:cBhvr>
                                        <p:cTn id="28" dur="500"/>
                                        <p:tgtEl>
                                          <p:spTgt spid="138467"/>
                                        </p:tgtEl>
                                      </p:cBhvr>
                                    </p:animEffect>
                                  </p:childTnLst>
                                </p:cTn>
                              </p:par>
                            </p:childTnLst>
                          </p:cTn>
                        </p:par>
                        <p:par>
                          <p:cTn id="29" fill="hold">
                            <p:stCondLst>
                              <p:cond delay="1500"/>
                            </p:stCondLst>
                            <p:childTnLst>
                              <p:par>
                                <p:cTn id="30" presetID="10" presetClass="exit" presetSubtype="0" fill="hold" nodeType="afterEffect">
                                  <p:stCondLst>
                                    <p:cond delay="0"/>
                                  </p:stCondLst>
                                  <p:childTnLst>
                                    <p:animEffect transition="out" filter="fade">
                                      <p:cBhvr>
                                        <p:cTn id="31" dur="1000"/>
                                        <p:tgtEl>
                                          <p:spTgt spid="138462"/>
                                        </p:tgtEl>
                                      </p:cBhvr>
                                    </p:animEffect>
                                    <p:set>
                                      <p:cBhvr>
                                        <p:cTn id="32" dur="1" fill="hold">
                                          <p:stCondLst>
                                            <p:cond delay="999"/>
                                          </p:stCondLst>
                                        </p:cTn>
                                        <p:tgtEl>
                                          <p:spTgt spid="13846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38467"/>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1000"/>
                                        <p:tgtEl>
                                          <p:spTgt spid="138476"/>
                                        </p:tgtEl>
                                      </p:cBhvr>
                                    </p:animEffect>
                                    <p:set>
                                      <p:cBhvr>
                                        <p:cTn id="39" dur="1" fill="hold">
                                          <p:stCondLst>
                                            <p:cond delay="999"/>
                                          </p:stCondLst>
                                        </p:cTn>
                                        <p:tgtEl>
                                          <p:spTgt spid="138476"/>
                                        </p:tgtEl>
                                        <p:attrNameLst>
                                          <p:attrName>style.visibility</p:attrName>
                                        </p:attrNameLst>
                                      </p:cBhvr>
                                      <p:to>
                                        <p:strVal val="hidden"/>
                                      </p:to>
                                    </p:set>
                                  </p:childTnLst>
                                </p:cTn>
                              </p:par>
                              <p:par>
                                <p:cTn id="40" presetID="10" presetClass="entr" presetSubtype="0" fill="hold" grpId="0" nodeType="withEffect">
                                  <p:stCondLst>
                                    <p:cond delay="0"/>
                                  </p:stCondLst>
                                  <p:childTnLst>
                                    <p:set>
                                      <p:cBhvr>
                                        <p:cTn id="41" dur="1" fill="hold">
                                          <p:stCondLst>
                                            <p:cond delay="0"/>
                                          </p:stCondLst>
                                        </p:cTn>
                                        <p:tgtEl>
                                          <p:spTgt spid="138477"/>
                                        </p:tgtEl>
                                        <p:attrNameLst>
                                          <p:attrName>style.visibility</p:attrName>
                                        </p:attrNameLst>
                                      </p:cBhvr>
                                      <p:to>
                                        <p:strVal val="visible"/>
                                      </p:to>
                                    </p:set>
                                    <p:animEffect transition="in" filter="fade">
                                      <p:cBhvr>
                                        <p:cTn id="42" dur="1000"/>
                                        <p:tgtEl>
                                          <p:spTgt spid="138477"/>
                                        </p:tgtEl>
                                      </p:cBhvr>
                                    </p:animEffect>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138470"/>
                                        </p:tgtEl>
                                        <p:attrNameLst>
                                          <p:attrName>style.visibility</p:attrName>
                                        </p:attrNameLst>
                                      </p:cBhvr>
                                      <p:to>
                                        <p:strVal val="visible"/>
                                      </p:to>
                                    </p:set>
                                    <p:animEffect transition="in" filter="wipe(left)">
                                      <p:cBhvr>
                                        <p:cTn id="46" dur="500"/>
                                        <p:tgtEl>
                                          <p:spTgt spid="138470"/>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38448"/>
                                        </p:tgtEl>
                                        <p:attrNameLst>
                                          <p:attrName>style.visibility</p:attrName>
                                        </p:attrNameLst>
                                      </p:cBhvr>
                                      <p:to>
                                        <p:strVal val="visible"/>
                                      </p:to>
                                    </p:set>
                                    <p:animEffect transition="in" filter="checkerboard(across)">
                                      <p:cBhvr>
                                        <p:cTn id="49" dur="500"/>
                                        <p:tgtEl>
                                          <p:spTgt spid="138448"/>
                                        </p:tgtEl>
                                      </p:cBhvr>
                                    </p:animEffect>
                                  </p:childTnLst>
                                </p:cTn>
                              </p:par>
                              <p:par>
                                <p:cTn id="50" presetID="5" presetClass="entr" presetSubtype="10" fill="hold" nodeType="withEffect">
                                  <p:stCondLst>
                                    <p:cond delay="0"/>
                                  </p:stCondLst>
                                  <p:childTnLst>
                                    <p:set>
                                      <p:cBhvr>
                                        <p:cTn id="51" dur="1" fill="hold">
                                          <p:stCondLst>
                                            <p:cond delay="0"/>
                                          </p:stCondLst>
                                        </p:cTn>
                                        <p:tgtEl>
                                          <p:spTgt spid="138457"/>
                                        </p:tgtEl>
                                        <p:attrNameLst>
                                          <p:attrName>style.visibility</p:attrName>
                                        </p:attrNameLst>
                                      </p:cBhvr>
                                      <p:to>
                                        <p:strVal val="visible"/>
                                      </p:to>
                                    </p:set>
                                    <p:animEffect transition="in" filter="checkerboard(across)">
                                      <p:cBhvr>
                                        <p:cTn id="52" dur="500"/>
                                        <p:tgtEl>
                                          <p:spTgt spid="138457"/>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38460"/>
                                        </p:tgtEl>
                                        <p:attrNameLst>
                                          <p:attrName>style.visibility</p:attrName>
                                        </p:attrNameLst>
                                      </p:cBhvr>
                                      <p:to>
                                        <p:strVal val="visible"/>
                                      </p:to>
                                    </p:set>
                                    <p:animEffect transition="in" filter="checkerboard(across)">
                                      <p:cBhvr>
                                        <p:cTn id="55" dur="500"/>
                                        <p:tgtEl>
                                          <p:spTgt spid="138460"/>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nodeType="clickEffect">
                                  <p:stCondLst>
                                    <p:cond delay="0"/>
                                  </p:stCondLst>
                                  <p:childTnLst>
                                    <p:set>
                                      <p:cBhvr>
                                        <p:cTn id="59" dur="1" fill="hold">
                                          <p:stCondLst>
                                            <p:cond delay="0"/>
                                          </p:stCondLst>
                                        </p:cTn>
                                        <p:tgtEl>
                                          <p:spTgt spid="138470"/>
                                        </p:tgtEl>
                                        <p:attrNameLst>
                                          <p:attrName>style.visibility</p:attrName>
                                        </p:attrNameLst>
                                      </p:cBhvr>
                                      <p:to>
                                        <p:strVal val="hidden"/>
                                      </p:to>
                                    </p:set>
                                  </p:childTnLst>
                                </p:cTn>
                              </p:par>
                              <p:par>
                                <p:cTn id="60" presetID="10" presetClass="exit" presetSubtype="0" fill="hold" grpId="1" nodeType="withEffect">
                                  <p:stCondLst>
                                    <p:cond delay="0"/>
                                  </p:stCondLst>
                                  <p:childTnLst>
                                    <p:animEffect transition="out" filter="fade">
                                      <p:cBhvr>
                                        <p:cTn id="61" dur="1000"/>
                                        <p:tgtEl>
                                          <p:spTgt spid="138477"/>
                                        </p:tgtEl>
                                      </p:cBhvr>
                                    </p:animEffect>
                                    <p:set>
                                      <p:cBhvr>
                                        <p:cTn id="62" dur="1" fill="hold">
                                          <p:stCondLst>
                                            <p:cond delay="999"/>
                                          </p:stCondLst>
                                        </p:cTn>
                                        <p:tgtEl>
                                          <p:spTgt spid="138477"/>
                                        </p:tgtEl>
                                        <p:attrNameLst>
                                          <p:attrName>style.visibility</p:attrName>
                                        </p:attrNameLst>
                                      </p:cBhvr>
                                      <p:to>
                                        <p:strVal val="hidden"/>
                                      </p:to>
                                    </p:set>
                                  </p:childTnLst>
                                </p:cTn>
                              </p:par>
                              <p:par>
                                <p:cTn id="63" presetID="10" presetClass="entr" presetSubtype="0" fill="hold" nodeType="withEffect">
                                  <p:stCondLst>
                                    <p:cond delay="0"/>
                                  </p:stCondLst>
                                  <p:childTnLst>
                                    <p:set>
                                      <p:cBhvr>
                                        <p:cTn id="64" dur="1" fill="hold">
                                          <p:stCondLst>
                                            <p:cond delay="0"/>
                                          </p:stCondLst>
                                        </p:cTn>
                                        <p:tgtEl>
                                          <p:spTgt spid="138461"/>
                                        </p:tgtEl>
                                        <p:attrNameLst>
                                          <p:attrName>style.visibility</p:attrName>
                                        </p:attrNameLst>
                                      </p:cBhvr>
                                      <p:to>
                                        <p:strVal val="visible"/>
                                      </p:to>
                                    </p:set>
                                    <p:animEffect transition="in" filter="fade">
                                      <p:cBhvr>
                                        <p:cTn id="65" dur="2000"/>
                                        <p:tgtEl>
                                          <p:spTgt spid="13846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38478"/>
                                        </p:tgtEl>
                                        <p:attrNameLst>
                                          <p:attrName>style.visibility</p:attrName>
                                        </p:attrNameLst>
                                      </p:cBhvr>
                                      <p:to>
                                        <p:strVal val="visible"/>
                                      </p:to>
                                    </p:set>
                                    <p:animEffect transition="in" filter="fade">
                                      <p:cBhvr>
                                        <p:cTn id="68" dur="1000"/>
                                        <p:tgtEl>
                                          <p:spTgt spid="138478"/>
                                        </p:tgtEl>
                                      </p:cBhvr>
                                    </p:animEffect>
                                  </p:childTnLst>
                                </p:cTn>
                              </p:par>
                            </p:childTnLst>
                          </p:cTn>
                        </p:par>
                        <p:par>
                          <p:cTn id="69" fill="hold">
                            <p:stCondLst>
                              <p:cond delay="2000"/>
                            </p:stCondLst>
                            <p:childTnLst>
                              <p:par>
                                <p:cTn id="70" presetID="22" presetClass="entr" presetSubtype="2" fill="hold" nodeType="afterEffect">
                                  <p:stCondLst>
                                    <p:cond delay="0"/>
                                  </p:stCondLst>
                                  <p:childTnLst>
                                    <p:set>
                                      <p:cBhvr>
                                        <p:cTn id="71" dur="1" fill="hold">
                                          <p:stCondLst>
                                            <p:cond delay="0"/>
                                          </p:stCondLst>
                                        </p:cTn>
                                        <p:tgtEl>
                                          <p:spTgt spid="138473"/>
                                        </p:tgtEl>
                                        <p:attrNameLst>
                                          <p:attrName>style.visibility</p:attrName>
                                        </p:attrNameLst>
                                      </p:cBhvr>
                                      <p:to>
                                        <p:strVal val="visible"/>
                                      </p:to>
                                    </p:set>
                                    <p:animEffect transition="in" filter="wipe(right)">
                                      <p:cBhvr>
                                        <p:cTn id="72" dur="500"/>
                                        <p:tgtEl>
                                          <p:spTgt spid="138473"/>
                                        </p:tgtEl>
                                      </p:cBhvr>
                                    </p:animEffect>
                                  </p:childTnLst>
                                </p:cTn>
                              </p:par>
                            </p:childTnLst>
                          </p:cTn>
                        </p:par>
                        <p:par>
                          <p:cTn id="73" fill="hold">
                            <p:stCondLst>
                              <p:cond delay="2500"/>
                            </p:stCondLst>
                            <p:childTnLst>
                              <p:par>
                                <p:cTn id="74" presetID="10" presetClass="exit" presetSubtype="0" fill="hold" nodeType="afterEffect">
                                  <p:stCondLst>
                                    <p:cond delay="0"/>
                                  </p:stCondLst>
                                  <p:childTnLst>
                                    <p:animEffect transition="out" filter="fade">
                                      <p:cBhvr>
                                        <p:cTn id="75" dur="1000"/>
                                        <p:tgtEl>
                                          <p:spTgt spid="138461"/>
                                        </p:tgtEl>
                                      </p:cBhvr>
                                    </p:animEffect>
                                    <p:set>
                                      <p:cBhvr>
                                        <p:cTn id="76" dur="1" fill="hold">
                                          <p:stCondLst>
                                            <p:cond delay="999"/>
                                          </p:stCondLst>
                                        </p:cTn>
                                        <p:tgtEl>
                                          <p:spTgt spid="138461"/>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nodeType="clickEffect">
                                  <p:stCondLst>
                                    <p:cond delay="0"/>
                                  </p:stCondLst>
                                  <p:childTnLst>
                                    <p:set>
                                      <p:cBhvr>
                                        <p:cTn id="80" dur="1" fill="hold">
                                          <p:stCondLst>
                                            <p:cond delay="0"/>
                                          </p:stCondLst>
                                        </p:cTn>
                                        <p:tgtEl>
                                          <p:spTgt spid="138473"/>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1000"/>
                                        <p:tgtEl>
                                          <p:spTgt spid="138478"/>
                                        </p:tgtEl>
                                      </p:cBhvr>
                                    </p:animEffect>
                                    <p:set>
                                      <p:cBhvr>
                                        <p:cTn id="83" dur="1" fill="hold">
                                          <p:stCondLst>
                                            <p:cond delay="999"/>
                                          </p:stCondLst>
                                        </p:cTn>
                                        <p:tgtEl>
                                          <p:spTgt spid="138478"/>
                                        </p:tgtEl>
                                        <p:attrNameLst>
                                          <p:attrName>style.visibility</p:attrName>
                                        </p:attrNameLst>
                                      </p:cBhvr>
                                      <p:to>
                                        <p:strVal val="hidden"/>
                                      </p:to>
                                    </p:set>
                                  </p:childTnLst>
                                </p:cTn>
                              </p:par>
                            </p:childTnLst>
                          </p:cTn>
                        </p:par>
                        <p:par>
                          <p:cTn id="84" fill="hold">
                            <p:stCondLst>
                              <p:cond delay="1000"/>
                            </p:stCondLst>
                            <p:childTnLst>
                              <p:par>
                                <p:cTn id="85" presetID="1" presetClass="entr" presetSubtype="0" fill="hold" nodeType="afterEffect">
                                  <p:stCondLst>
                                    <p:cond delay="0"/>
                                  </p:stCondLst>
                                  <p:childTnLst>
                                    <p:set>
                                      <p:cBhvr>
                                        <p:cTn id="86" dur="1" fill="hold">
                                          <p:stCondLst>
                                            <p:cond delay="0"/>
                                          </p:stCondLst>
                                        </p:cTn>
                                        <p:tgtEl>
                                          <p:spTgt spid="138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448" grpId="0" animBg="1"/>
      <p:bldP spid="138460" grpId="0" animBg="1"/>
      <p:bldP spid="138466" grpId="0" animBg="1"/>
      <p:bldP spid="138466" grpId="1" animBg="1"/>
      <p:bldP spid="138476" grpId="0" animBg="1"/>
      <p:bldP spid="138476" grpId="1" animBg="1"/>
      <p:bldP spid="138477" grpId="0" animBg="1"/>
      <p:bldP spid="138477" grpId="1" animBg="1"/>
      <p:bldP spid="138478" grpId="0" animBg="1"/>
      <p:bldP spid="13847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custDataLst>
              <p:tags r:id="rId1"/>
            </p:custDataLst>
          </p:nvPr>
        </p:nvSpPr>
        <p:spPr>
          <a:xfrm>
            <a:off x="301751" y="402772"/>
            <a:ext cx="8668077" cy="758952"/>
          </a:xfrm>
        </p:spPr>
        <p:txBody>
          <a:bodyPr vert="horz" anchor="b">
            <a:noAutofit/>
          </a:bodyPr>
          <a:lstStyle/>
          <a:p>
            <a:r>
              <a:rPr lang="en-GB" sz="2600" dirty="0">
                <a:solidFill>
                  <a:srgbClr val="C00000"/>
                </a:solidFill>
              </a:rPr>
              <a:t>Comment sauvegarder et </a:t>
            </a:r>
            <a:r>
              <a:rPr lang="en-GB" sz="2600" dirty="0" err="1">
                <a:solidFill>
                  <a:srgbClr val="C00000"/>
                </a:solidFill>
              </a:rPr>
              <a:t>restaurer</a:t>
            </a:r>
            <a:r>
              <a:rPr lang="en-GB" sz="2600" dirty="0">
                <a:solidFill>
                  <a:srgbClr val="C00000"/>
                </a:solidFill>
              </a:rPr>
              <a:t> </a:t>
            </a:r>
            <a:r>
              <a:rPr lang="en-GB" sz="2600" dirty="0" err="1">
                <a:solidFill>
                  <a:srgbClr val="C00000"/>
                </a:solidFill>
              </a:rPr>
              <a:t>une</a:t>
            </a:r>
            <a:r>
              <a:rPr lang="en-GB" sz="2600" dirty="0">
                <a:solidFill>
                  <a:srgbClr val="C00000"/>
                </a:solidFill>
              </a:rPr>
              <a:t> base de </a:t>
            </a:r>
            <a:r>
              <a:rPr lang="en-GB" sz="2600" dirty="0" err="1">
                <a:solidFill>
                  <a:srgbClr val="C00000"/>
                </a:solidFill>
              </a:rPr>
              <a:t>données</a:t>
            </a:r>
            <a:r>
              <a:rPr lang="en-GB" sz="2600" dirty="0">
                <a:solidFill>
                  <a:srgbClr val="C00000"/>
                </a:solidFill>
              </a:rPr>
              <a:t> DHCP</a:t>
            </a:r>
            <a:endParaRPr lang="en-US" sz="2600" dirty="0">
              <a:solidFill>
                <a:srgbClr val="C00000"/>
              </a:solidFill>
            </a:endParaRPr>
          </a:p>
        </p:txBody>
      </p:sp>
      <p:sp>
        <p:nvSpPr>
          <p:cNvPr id="232455" name="AutoShape 7"/>
          <p:cNvSpPr>
            <a:spLocks noChangeArrowheads="1"/>
          </p:cNvSpPr>
          <p:nvPr>
            <p:custDataLst>
              <p:tags r:id="rId2"/>
            </p:custDataLst>
          </p:nvPr>
        </p:nvSpPr>
        <p:spPr bwMode="auto">
          <a:xfrm>
            <a:off x="786675" y="3037116"/>
            <a:ext cx="7168606" cy="1048656"/>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buClrTx/>
              <a:buSzPct val="80000"/>
              <a:buFontTx/>
              <a:buBlip>
                <a:blip r:embed="rId5"/>
              </a:buBlip>
            </a:pPr>
            <a:r>
              <a:rPr lang="en-GB" dirty="0" smtClean="0">
                <a:hlinkClick r:id="rId6" action="ppaction://hlinkfile"/>
              </a:rPr>
              <a:t>Sauvegarder et </a:t>
            </a:r>
            <a:r>
              <a:rPr lang="en-GB" dirty="0" err="1" smtClean="0">
                <a:hlinkClick r:id="rId6" action="ppaction://hlinkfile"/>
              </a:rPr>
              <a:t>restaurer</a:t>
            </a:r>
            <a:r>
              <a:rPr lang="en-GB" dirty="0" smtClean="0">
                <a:hlinkClick r:id="rId6" action="ppaction://hlinkfile"/>
              </a:rPr>
              <a:t> </a:t>
            </a:r>
            <a:r>
              <a:rPr lang="en-GB" dirty="0" err="1" smtClean="0">
                <a:hlinkClick r:id="rId6" action="ppaction://hlinkfile"/>
              </a:rPr>
              <a:t>une</a:t>
            </a:r>
            <a:r>
              <a:rPr lang="en-GB" dirty="0" smtClean="0">
                <a:hlinkClick r:id="rId6" action="ppaction://hlinkfile"/>
              </a:rPr>
              <a:t> base de </a:t>
            </a:r>
            <a:r>
              <a:rPr lang="en-GB" dirty="0" err="1" smtClean="0">
                <a:hlinkClick r:id="rId6" action="ppaction://hlinkfile"/>
              </a:rPr>
              <a:t>données</a:t>
            </a:r>
            <a:r>
              <a:rPr lang="en-GB" dirty="0" smtClean="0">
                <a:hlinkClick r:id="rId6" action="ppaction://hlinkfile"/>
              </a:rPr>
              <a:t> DHCP</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350" name="Group 64"/>
          <p:cNvGrpSpPr>
            <a:grpSpLocks/>
          </p:cNvGrpSpPr>
          <p:nvPr/>
        </p:nvGrpSpPr>
        <p:grpSpPr bwMode="auto">
          <a:xfrm>
            <a:off x="5575300" y="2249488"/>
            <a:ext cx="766763" cy="566737"/>
            <a:chOff x="3512" y="1417"/>
            <a:chExt cx="483" cy="357"/>
          </a:xfrm>
        </p:grpSpPr>
        <p:sp>
          <p:nvSpPr>
            <p:cNvPr id="180285" name="Line 61"/>
            <p:cNvSpPr>
              <a:spLocks noChangeShapeType="1"/>
            </p:cNvSpPr>
            <p:nvPr>
              <p:custDataLst>
                <p:tags r:id="rId9"/>
              </p:custDataLst>
            </p:nvPr>
          </p:nvSpPr>
          <p:spPr bwMode="auto">
            <a:xfrm flipV="1">
              <a:off x="3512" y="1417"/>
              <a:ext cx="483" cy="0"/>
            </a:xfrm>
            <a:prstGeom prst="line">
              <a:avLst/>
            </a:prstGeom>
            <a:noFill/>
            <a:ln w="57150">
              <a:solidFill>
                <a:srgbClr val="CC0000"/>
              </a:solidFill>
              <a:round/>
              <a:headEnd/>
              <a:tailEnd type="triangle" w="med" len="med"/>
            </a:ln>
            <a:effectLst/>
          </p:spPr>
          <p:txBody>
            <a:bodyPr anchor="ctr"/>
            <a:lstStyle/>
            <a:p>
              <a:endParaRPr lang="fr-FR"/>
            </a:p>
          </p:txBody>
        </p:sp>
        <p:sp>
          <p:nvSpPr>
            <p:cNvPr id="180286" name="Line 62"/>
            <p:cNvSpPr>
              <a:spLocks noChangeShapeType="1"/>
            </p:cNvSpPr>
            <p:nvPr>
              <p:custDataLst>
                <p:tags r:id="rId10"/>
              </p:custDataLst>
            </p:nvPr>
          </p:nvSpPr>
          <p:spPr bwMode="auto">
            <a:xfrm flipV="1">
              <a:off x="3512" y="1774"/>
              <a:ext cx="483" cy="0"/>
            </a:xfrm>
            <a:prstGeom prst="line">
              <a:avLst/>
            </a:prstGeom>
            <a:noFill/>
            <a:ln w="57150">
              <a:solidFill>
                <a:srgbClr val="CC0000"/>
              </a:solidFill>
              <a:round/>
              <a:headEnd/>
              <a:tailEnd type="triangle" w="med" len="med"/>
            </a:ln>
            <a:effectLst/>
          </p:spPr>
          <p:txBody>
            <a:bodyPr anchor="ctr"/>
            <a:lstStyle/>
            <a:p>
              <a:endParaRPr lang="fr-FR"/>
            </a:p>
          </p:txBody>
        </p:sp>
      </p:grpSp>
      <p:sp>
        <p:nvSpPr>
          <p:cNvPr id="180227" name="Rectangle 3"/>
          <p:cNvSpPr>
            <a:spLocks noGrp="1" noChangeArrowheads="1"/>
          </p:cNvSpPr>
          <p:nvPr>
            <p:ph type="title"/>
            <p:custDataLst>
              <p:tags r:id="rId1"/>
            </p:custDataLst>
          </p:nvPr>
        </p:nvSpPr>
        <p:spPr>
          <a:xfrm>
            <a:off x="167640" y="544286"/>
            <a:ext cx="8766628" cy="508586"/>
          </a:xfrm>
        </p:spPr>
        <p:txBody>
          <a:bodyPr vert="horz" anchor="b">
            <a:noAutofit/>
          </a:bodyPr>
          <a:lstStyle/>
          <a:p>
            <a:r>
              <a:rPr lang="en-GB" sz="2600" dirty="0" err="1">
                <a:solidFill>
                  <a:srgbClr val="C00000"/>
                </a:solidFill>
              </a:rPr>
              <a:t>Modalités</a:t>
            </a:r>
            <a:r>
              <a:rPr lang="en-GB" sz="2600" dirty="0">
                <a:solidFill>
                  <a:srgbClr val="C00000"/>
                </a:solidFill>
              </a:rPr>
              <a:t> de </a:t>
            </a:r>
            <a:r>
              <a:rPr lang="en-GB" sz="2600" dirty="0" err="1">
                <a:solidFill>
                  <a:srgbClr val="C00000"/>
                </a:solidFill>
              </a:rPr>
              <a:t>réconciliation</a:t>
            </a:r>
            <a:r>
              <a:rPr lang="en-GB" sz="2600" dirty="0">
                <a:solidFill>
                  <a:srgbClr val="C00000"/>
                </a:solidFill>
              </a:rPr>
              <a:t> </a:t>
            </a:r>
            <a:r>
              <a:rPr lang="en-GB" sz="2600" dirty="0" err="1">
                <a:solidFill>
                  <a:srgbClr val="C00000"/>
                </a:solidFill>
              </a:rPr>
              <a:t>d'une</a:t>
            </a:r>
            <a:r>
              <a:rPr lang="en-GB" sz="2600" dirty="0">
                <a:solidFill>
                  <a:srgbClr val="C00000"/>
                </a:solidFill>
              </a:rPr>
              <a:t> base de </a:t>
            </a:r>
            <a:r>
              <a:rPr lang="en-GB" sz="2600" dirty="0" err="1" smtClean="0">
                <a:solidFill>
                  <a:srgbClr val="C00000"/>
                </a:solidFill>
              </a:rPr>
              <a:t>données</a:t>
            </a:r>
            <a:r>
              <a:rPr lang="en-GB" sz="2600" dirty="0" smtClean="0">
                <a:solidFill>
                  <a:srgbClr val="C00000"/>
                </a:solidFill>
              </a:rPr>
              <a:t> </a:t>
            </a:r>
            <a:r>
              <a:rPr lang="en-GB" sz="2600" dirty="0">
                <a:solidFill>
                  <a:srgbClr val="C00000"/>
                </a:solidFill>
              </a:rPr>
              <a:t>DHCP</a:t>
            </a:r>
            <a:endParaRPr lang="en-US" sz="2600" dirty="0">
              <a:solidFill>
                <a:srgbClr val="C00000"/>
              </a:solidFill>
            </a:endParaRPr>
          </a:p>
        </p:txBody>
      </p:sp>
      <p:graphicFrame>
        <p:nvGraphicFramePr>
          <p:cNvPr id="180349" name="Group 125"/>
          <p:cNvGraphicFramePr>
            <a:graphicFrameLocks noGrp="1"/>
          </p:cNvGraphicFramePr>
          <p:nvPr/>
        </p:nvGraphicFramePr>
        <p:xfrm>
          <a:off x="188686" y="4724400"/>
          <a:ext cx="8766628" cy="1789176"/>
        </p:xfrm>
        <a:graphic>
          <a:graphicData uri="http://schemas.openxmlformats.org/drawingml/2006/table">
            <a:tbl>
              <a:tblPr firstCol="1"/>
              <a:tblGrid>
                <a:gridCol w="2743160"/>
                <a:gridCol w="2837624"/>
                <a:gridCol w="3185844"/>
              </a:tblGrid>
              <a:tr h="381000">
                <a:tc gridSpan="3">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none" strike="noStrike" cap="none" normalizeH="0" baseline="0" dirty="0" err="1" smtClean="0">
                          <a:ln>
                            <a:noFill/>
                          </a:ln>
                          <a:solidFill>
                            <a:srgbClr val="000000"/>
                          </a:solidFill>
                          <a:effectLst/>
                          <a:latin typeface="Arial Narrow" pitchFamily="34" charset="0"/>
                        </a:rPr>
                        <a:t>Exemple</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2"/>
                    </a:solidFill>
                  </a:tcPr>
                </a:tc>
                <a:tc hMerge="1">
                  <a:txBody>
                    <a:bodyPr/>
                    <a:lstStyle/>
                    <a:p>
                      <a:endParaRPr lang="fr-FR"/>
                    </a:p>
                  </a:txBody>
                  <a:tcPr/>
                </a:tc>
                <a:tc hMerge="1">
                  <a:txBody>
                    <a:bodyPr/>
                    <a:lstStyle/>
                    <a:p>
                      <a:endParaRPr lang="fr-FR"/>
                    </a:p>
                  </a:txBody>
                  <a:tcPr/>
                </a:tc>
              </a:tr>
              <a:tr h="385763">
                <a:tc>
                  <a:txBody>
                    <a:bodyPr/>
                    <a:lstStyle/>
                    <a:p>
                      <a:pPr marL="0" marR="0" lvl="0" indent="0" algn="ctr" defTabSz="914400" rtl="0" eaLnBrk="0" fontAlgn="base" latinLnBrk="0" hangingPunct="0">
                        <a:lnSpc>
                          <a:spcPct val="100000"/>
                        </a:lnSpc>
                        <a:spcBef>
                          <a:spcPct val="0"/>
                        </a:spcBef>
                        <a:spcAft>
                          <a:spcPct val="0"/>
                        </a:spcAft>
                        <a:buClr>
                          <a:schemeClr val="accent2"/>
                        </a:buClr>
                        <a:buSzTx/>
                        <a:buFont typeface="Wingdings" pitchFamily="2" charset="2"/>
                        <a:buNone/>
                        <a:tabLst/>
                      </a:pPr>
                      <a:r>
                        <a:rPr kumimoji="0" lang="en-GB" sz="2200" b="1" i="0" u="none" strike="noStrike" cap="none" normalizeH="0" baseline="0" dirty="0" smtClean="0">
                          <a:ln>
                            <a:noFill/>
                          </a:ln>
                          <a:solidFill>
                            <a:srgbClr val="000000"/>
                          </a:solidFill>
                          <a:effectLst/>
                          <a:latin typeface="Arial Narrow" pitchFamily="34" charset="0"/>
                        </a:rPr>
                        <a:t>Information </a:t>
                      </a:r>
                      <a:r>
                        <a:rPr kumimoji="0" lang="en-GB" sz="2200" b="1" i="0" u="none" strike="noStrike" cap="none" normalizeH="0" baseline="0" dirty="0" err="1" smtClean="0">
                          <a:ln>
                            <a:noFill/>
                          </a:ln>
                          <a:solidFill>
                            <a:srgbClr val="000000"/>
                          </a:solidFill>
                          <a:effectLst/>
                          <a:latin typeface="Arial Narrow" pitchFamily="34" charset="0"/>
                        </a:rPr>
                        <a:t>résumée</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none" strike="noStrike" cap="none" normalizeH="0" baseline="0" dirty="0" smtClean="0">
                          <a:ln>
                            <a:noFill/>
                          </a:ln>
                          <a:solidFill>
                            <a:srgbClr val="000000"/>
                          </a:solidFill>
                          <a:effectLst/>
                          <a:latin typeface="Arial Narrow" pitchFamily="34" charset="0"/>
                        </a:rPr>
                        <a:t>Information </a:t>
                      </a:r>
                      <a:r>
                        <a:rPr kumimoji="0" lang="en-GB" sz="2200" b="1" i="0" u="none" strike="noStrike" cap="none" normalizeH="0" baseline="0" dirty="0" err="1" smtClean="0">
                          <a:ln>
                            <a:noFill/>
                          </a:ln>
                          <a:solidFill>
                            <a:srgbClr val="000000"/>
                          </a:solidFill>
                          <a:effectLst/>
                          <a:latin typeface="Arial Narrow" pitchFamily="34" charset="0"/>
                        </a:rPr>
                        <a:t>détaillée</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none" strike="noStrike" cap="none" normalizeH="0" baseline="0" dirty="0" smtClean="0">
                          <a:ln>
                            <a:noFill/>
                          </a:ln>
                          <a:solidFill>
                            <a:srgbClr val="000000"/>
                          </a:solidFill>
                          <a:effectLst/>
                          <a:latin typeface="Arial Narrow" pitchFamily="34" charset="0"/>
                        </a:rPr>
                        <a:t>Base de </a:t>
                      </a:r>
                      <a:r>
                        <a:rPr kumimoji="0" lang="en-GB" sz="2200" b="1" i="0" u="none" strike="noStrike" cap="none" normalizeH="0" baseline="0" dirty="0" err="1" smtClean="0">
                          <a:ln>
                            <a:noFill/>
                          </a:ln>
                          <a:solidFill>
                            <a:srgbClr val="000000"/>
                          </a:solidFill>
                          <a:effectLst/>
                          <a:latin typeface="Arial Narrow" pitchFamily="34" charset="0"/>
                        </a:rPr>
                        <a:t>donnée</a:t>
                      </a:r>
                      <a:r>
                        <a:rPr kumimoji="0" lang="en-GB" sz="2200" b="1" i="0" u="none" strike="noStrike" cap="none" normalizeH="0" baseline="0" dirty="0" smtClean="0">
                          <a:ln>
                            <a:noFill/>
                          </a:ln>
                          <a:solidFill>
                            <a:srgbClr val="000000"/>
                          </a:solidFill>
                          <a:effectLst/>
                          <a:latin typeface="Arial Narrow" pitchFamily="34" charset="0"/>
                        </a:rPr>
                        <a:t> DHCP </a:t>
                      </a:r>
                      <a:r>
                        <a:rPr kumimoji="0" lang="en-GB" sz="2200" b="1" i="0" u="none" strike="noStrike" cap="none" normalizeH="0" baseline="0" dirty="0" err="1" smtClean="0">
                          <a:ln>
                            <a:noFill/>
                          </a:ln>
                          <a:solidFill>
                            <a:srgbClr val="000000"/>
                          </a:solidFill>
                          <a:effectLst/>
                          <a:latin typeface="Arial Narrow" pitchFamily="34" charset="0"/>
                        </a:rPr>
                        <a:t>réconciliée</a:t>
                      </a:r>
                      <a:endParaRPr kumimoji="0" lang="en-US" sz="22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r>
              <a:tr h="406400">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itchFamily="2" charset="2"/>
                        <a:buNone/>
                        <a:tabLst/>
                      </a:pPr>
                      <a:r>
                        <a:rPr kumimoji="0" lang="en-GB" sz="2000" b="1" i="0" u="none" strike="noStrike" cap="none" normalizeH="0" baseline="0" dirty="0" smtClean="0">
                          <a:ln>
                            <a:noFill/>
                          </a:ln>
                          <a:solidFill>
                            <a:srgbClr val="000000"/>
                          </a:solidFill>
                          <a:effectLst/>
                          <a:latin typeface="Arial Narrow" pitchFamily="34" charset="0"/>
                        </a:rPr>
                        <a:t>Un client a </a:t>
                      </a:r>
                      <a:r>
                        <a:rPr kumimoji="0" lang="en-GB" sz="2000" b="1" i="0" u="none" strike="noStrike" cap="none" normalizeH="0" baseline="0" dirty="0" err="1" smtClean="0">
                          <a:ln>
                            <a:noFill/>
                          </a:ln>
                          <a:solidFill>
                            <a:srgbClr val="000000"/>
                          </a:solidFill>
                          <a:effectLst/>
                          <a:latin typeface="Arial Narrow" pitchFamily="34" charset="0"/>
                        </a:rPr>
                        <a:t>l'adresse</a:t>
                      </a:r>
                      <a:r>
                        <a:rPr kumimoji="0" lang="en-GB" sz="2000" b="1" i="0" u="none" strike="noStrike" cap="none" normalizeH="0" baseline="0" dirty="0" smtClean="0">
                          <a:ln>
                            <a:noFill/>
                          </a:ln>
                          <a:solidFill>
                            <a:srgbClr val="000000"/>
                          </a:solidFill>
                          <a:effectLst/>
                          <a:latin typeface="Arial Narrow" pitchFamily="34" charset="0"/>
                        </a:rPr>
                        <a:t> IP 192.168.1.34</a:t>
                      </a:r>
                      <a:endParaRPr kumimoji="0" lang="en-US" sz="20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itchFamily="2" charset="2"/>
                        <a:buNone/>
                        <a:tabLst/>
                      </a:pPr>
                      <a:r>
                        <a:rPr kumimoji="0" lang="en-GB" sz="2000" b="1" i="0" u="none" strike="noStrike" cap="none" normalizeH="0" baseline="0" dirty="0" err="1" smtClean="0">
                          <a:ln>
                            <a:noFill/>
                          </a:ln>
                          <a:solidFill>
                            <a:srgbClr val="000000"/>
                          </a:solidFill>
                          <a:effectLst/>
                          <a:latin typeface="Arial Narrow" pitchFamily="34" charset="0"/>
                        </a:rPr>
                        <a:t>L'adresseIP</a:t>
                      </a:r>
                      <a:r>
                        <a:rPr kumimoji="0" lang="en-GB" sz="2000" b="1" i="0" u="none" strike="noStrike" cap="none" normalizeH="0" baseline="0" dirty="0" smtClean="0">
                          <a:ln>
                            <a:noFill/>
                          </a:ln>
                          <a:solidFill>
                            <a:srgbClr val="000000"/>
                          </a:solidFill>
                          <a:effectLst/>
                          <a:latin typeface="Arial Narrow" pitchFamily="34" charset="0"/>
                        </a:rPr>
                        <a:t> 192.168.1.34 </a:t>
                      </a:r>
                      <a:endParaRPr kumimoji="0" lang="en-US" sz="2000" b="1" i="0" u="none" strike="noStrike" cap="none" normalizeH="0" baseline="0" dirty="0" smtClean="0">
                        <a:ln>
                          <a:noFill/>
                        </a:ln>
                        <a:solidFill>
                          <a:schemeClr val="tx1"/>
                        </a:solidFill>
                        <a:effectLst/>
                        <a:latin typeface="Arial Narrow" pitchFamily="34" charset="0"/>
                      </a:endParaRPr>
                    </a:p>
                    <a:p>
                      <a:pPr marL="0" marR="0" lvl="0" indent="0" algn="l" defTabSz="914400" rtl="0" eaLnBrk="0" fontAlgn="base" latinLnBrk="0" hangingPunct="0">
                        <a:lnSpc>
                          <a:spcPct val="100000"/>
                        </a:lnSpc>
                        <a:spcBef>
                          <a:spcPct val="0"/>
                        </a:spcBef>
                        <a:spcAft>
                          <a:spcPct val="0"/>
                        </a:spcAft>
                        <a:buClr>
                          <a:schemeClr val="accent2"/>
                        </a:buClr>
                        <a:buSzTx/>
                        <a:buFont typeface="Wingdings" pitchFamily="2" charset="2"/>
                        <a:buNone/>
                        <a:tabLst/>
                      </a:pPr>
                      <a:r>
                        <a:rPr kumimoji="0" lang="en-GB" sz="2000" b="1" i="0" u="none" strike="noStrike" cap="none" normalizeH="0" baseline="0" dirty="0" err="1" smtClean="0">
                          <a:ln>
                            <a:noFill/>
                          </a:ln>
                          <a:solidFill>
                            <a:srgbClr val="000000"/>
                          </a:solidFill>
                          <a:effectLst/>
                          <a:latin typeface="Arial Narrow" pitchFamily="34" charset="0"/>
                        </a:rPr>
                        <a:t>est</a:t>
                      </a:r>
                      <a:r>
                        <a:rPr kumimoji="0" lang="en-GB" sz="2000" b="1" i="0" u="none" strike="noStrike" cap="none" normalizeH="0" baseline="0" dirty="0" smtClean="0">
                          <a:ln>
                            <a:noFill/>
                          </a:ln>
                          <a:solidFill>
                            <a:srgbClr val="000000"/>
                          </a:solidFill>
                          <a:effectLst/>
                          <a:latin typeface="Arial Narrow" pitchFamily="34" charset="0"/>
                        </a:rPr>
                        <a:t> </a:t>
                      </a:r>
                      <a:r>
                        <a:rPr kumimoji="0" lang="en-GB" sz="2000" b="1" i="0" u="none" strike="noStrike" cap="none" normalizeH="0" baseline="0" dirty="0" err="1" smtClean="0">
                          <a:ln>
                            <a:noFill/>
                          </a:ln>
                          <a:solidFill>
                            <a:srgbClr val="000000"/>
                          </a:solidFill>
                          <a:effectLst/>
                          <a:latin typeface="Arial Narrow" pitchFamily="34" charset="0"/>
                        </a:rPr>
                        <a:t>disponible</a:t>
                      </a:r>
                      <a:endParaRPr kumimoji="0" lang="en-US" sz="2000" b="1" i="0" u="none" strike="noStrike" cap="none" normalizeH="0" baseline="0" dirty="0" smtClean="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0"/>
                        </a:spcBef>
                        <a:spcAft>
                          <a:spcPct val="0"/>
                        </a:spcAft>
                        <a:buClr>
                          <a:schemeClr val="accent2"/>
                        </a:buClr>
                        <a:buSzTx/>
                        <a:buFont typeface="Wingdings" pitchFamily="2" charset="2"/>
                        <a:buNone/>
                        <a:tabLst/>
                      </a:pPr>
                      <a:r>
                        <a:rPr kumimoji="0" lang="en-GB" sz="2000" b="1" i="0" u="none" strike="noStrike" cap="none" normalizeH="0" baseline="0" dirty="0" err="1" smtClean="0">
                          <a:ln>
                            <a:noFill/>
                          </a:ln>
                          <a:solidFill>
                            <a:srgbClr val="000000"/>
                          </a:solidFill>
                          <a:effectLst/>
                          <a:latin typeface="Arial Narrow" pitchFamily="34" charset="0"/>
                        </a:rPr>
                        <a:t>Créer</a:t>
                      </a:r>
                      <a:r>
                        <a:rPr kumimoji="0" lang="en-GB" sz="2000" b="1" i="0" u="none" strike="noStrike" cap="none" normalizeH="0" baseline="0" dirty="0" smtClean="0">
                          <a:ln>
                            <a:noFill/>
                          </a:ln>
                          <a:solidFill>
                            <a:srgbClr val="000000"/>
                          </a:solidFill>
                          <a:effectLst/>
                          <a:latin typeface="Arial Narrow" pitchFamily="34" charset="0"/>
                        </a:rPr>
                        <a:t> </a:t>
                      </a:r>
                      <a:r>
                        <a:rPr kumimoji="0" lang="en-GB" sz="2000" b="1" i="0" u="none" strike="noStrike" cap="none" normalizeH="0" baseline="0" dirty="0" err="1" smtClean="0">
                          <a:ln>
                            <a:noFill/>
                          </a:ln>
                          <a:solidFill>
                            <a:srgbClr val="000000"/>
                          </a:solidFill>
                          <a:effectLst/>
                          <a:latin typeface="Arial Narrow" pitchFamily="34" charset="0"/>
                        </a:rPr>
                        <a:t>une</a:t>
                      </a:r>
                      <a:r>
                        <a:rPr kumimoji="0" lang="en-GB" sz="2000" b="1" i="0" u="none" strike="noStrike" cap="none" normalizeH="0" baseline="0" dirty="0" smtClean="0">
                          <a:ln>
                            <a:noFill/>
                          </a:ln>
                          <a:solidFill>
                            <a:srgbClr val="000000"/>
                          </a:solidFill>
                          <a:effectLst/>
                          <a:latin typeface="Arial Narrow" pitchFamily="34" charset="0"/>
                        </a:rPr>
                        <a:t> entrée de bail </a:t>
                      </a:r>
                      <a:r>
                        <a:rPr kumimoji="0" lang="en-GB" sz="2000" b="1" i="0" u="none" strike="noStrike" cap="none" normalizeH="0" baseline="0" dirty="0" err="1" smtClean="0">
                          <a:ln>
                            <a:noFill/>
                          </a:ln>
                          <a:solidFill>
                            <a:srgbClr val="000000"/>
                          </a:solidFill>
                          <a:effectLst/>
                          <a:latin typeface="Arial Narrow" pitchFamily="34" charset="0"/>
                        </a:rPr>
                        <a:t>actif</a:t>
                      </a:r>
                      <a:endParaRPr kumimoji="0" lang="en-US" sz="20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r>
            </a:tbl>
          </a:graphicData>
        </a:graphic>
      </p:graphicFrame>
      <p:sp>
        <p:nvSpPr>
          <p:cNvPr id="180283" name="Line 59"/>
          <p:cNvSpPr>
            <a:spLocks noChangeShapeType="1"/>
          </p:cNvSpPr>
          <p:nvPr/>
        </p:nvSpPr>
        <p:spPr bwMode="auto">
          <a:xfrm flipV="1">
            <a:off x="3240088" y="3048000"/>
            <a:ext cx="585787" cy="0"/>
          </a:xfrm>
          <a:prstGeom prst="line">
            <a:avLst/>
          </a:prstGeom>
          <a:noFill/>
          <a:ln w="57150">
            <a:solidFill>
              <a:srgbClr val="CC0000"/>
            </a:solidFill>
            <a:round/>
            <a:headEnd/>
            <a:tailEnd type="triangle" w="med" len="med"/>
          </a:ln>
          <a:effectLst/>
        </p:spPr>
        <p:txBody>
          <a:bodyPr anchor="ctr"/>
          <a:lstStyle/>
          <a:p>
            <a:endParaRPr lang="fr-FR"/>
          </a:p>
        </p:txBody>
      </p:sp>
      <p:sp>
        <p:nvSpPr>
          <p:cNvPr id="180284" name="Line 60"/>
          <p:cNvSpPr>
            <a:spLocks noChangeShapeType="1"/>
          </p:cNvSpPr>
          <p:nvPr/>
        </p:nvSpPr>
        <p:spPr bwMode="auto">
          <a:xfrm flipV="1">
            <a:off x="3240088" y="2093913"/>
            <a:ext cx="585787" cy="0"/>
          </a:xfrm>
          <a:prstGeom prst="line">
            <a:avLst/>
          </a:prstGeom>
          <a:noFill/>
          <a:ln w="57150">
            <a:solidFill>
              <a:srgbClr val="CC0000"/>
            </a:solidFill>
            <a:round/>
            <a:headEnd/>
            <a:tailEnd type="triangle" w="med" len="med"/>
          </a:ln>
          <a:effectLst/>
        </p:spPr>
        <p:txBody>
          <a:bodyPr anchor="ctr"/>
          <a:lstStyle/>
          <a:p>
            <a:endParaRPr lang="fr-FR"/>
          </a:p>
        </p:txBody>
      </p:sp>
      <p:pic>
        <p:nvPicPr>
          <p:cNvPr id="180229" name="Picture 5" descr="Server01"/>
          <p:cNvPicPr>
            <a:picLocks noChangeAspect="1" noChangeArrowheads="1"/>
          </p:cNvPicPr>
          <p:nvPr/>
        </p:nvPicPr>
        <p:blipFill>
          <a:blip r:embed="rId13"/>
          <a:srcRect/>
          <a:stretch>
            <a:fillRect/>
          </a:stretch>
        </p:blipFill>
        <p:spPr bwMode="auto">
          <a:xfrm>
            <a:off x="682625" y="1655763"/>
            <a:ext cx="1798638" cy="2117725"/>
          </a:xfrm>
          <a:prstGeom prst="rect">
            <a:avLst/>
          </a:prstGeom>
          <a:noFill/>
        </p:spPr>
      </p:pic>
      <p:sp>
        <p:nvSpPr>
          <p:cNvPr id="180230" name="AutoShape 6"/>
          <p:cNvSpPr>
            <a:spLocks noChangeArrowheads="1"/>
          </p:cNvSpPr>
          <p:nvPr>
            <p:custDataLst>
              <p:tags r:id="rId2"/>
            </p:custDataLst>
          </p:nvPr>
        </p:nvSpPr>
        <p:spPr bwMode="auto">
          <a:xfrm>
            <a:off x="1152525" y="3890963"/>
            <a:ext cx="1428750" cy="338137"/>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spcBef>
                <a:spcPct val="0"/>
              </a:spcBef>
              <a:buClrTx/>
              <a:buSzTx/>
              <a:buFontTx/>
              <a:buNone/>
            </a:pPr>
            <a:r>
              <a:rPr lang="en-GB" sz="1800">
                <a:solidFill>
                  <a:srgbClr val="000000"/>
                </a:solidFill>
              </a:rPr>
              <a:t>Serveur DHCP</a:t>
            </a:r>
            <a:endParaRPr lang="en-US" sz="1800"/>
          </a:p>
        </p:txBody>
      </p:sp>
      <p:sp>
        <p:nvSpPr>
          <p:cNvPr id="180263" name="Line 39"/>
          <p:cNvSpPr>
            <a:spLocks noChangeShapeType="1"/>
          </p:cNvSpPr>
          <p:nvPr/>
        </p:nvSpPr>
        <p:spPr bwMode="auto">
          <a:xfrm flipH="1">
            <a:off x="7369175" y="2763838"/>
            <a:ext cx="0" cy="714375"/>
          </a:xfrm>
          <a:prstGeom prst="line">
            <a:avLst/>
          </a:prstGeom>
          <a:noFill/>
          <a:ln w="57150">
            <a:solidFill>
              <a:srgbClr val="CC0000"/>
            </a:solidFill>
            <a:round/>
            <a:headEnd/>
            <a:tailEnd type="triangle" w="med" len="med"/>
          </a:ln>
          <a:effectLst/>
        </p:spPr>
        <p:txBody>
          <a:bodyPr anchor="ctr"/>
          <a:lstStyle/>
          <a:p>
            <a:endParaRPr lang="fr-FR"/>
          </a:p>
        </p:txBody>
      </p:sp>
      <p:pic>
        <p:nvPicPr>
          <p:cNvPr id="180265" name="Picture 41" descr="Database01"/>
          <p:cNvPicPr>
            <a:picLocks noChangeAspect="1" noChangeArrowheads="1"/>
          </p:cNvPicPr>
          <p:nvPr/>
        </p:nvPicPr>
        <p:blipFill>
          <a:blip r:embed="rId14" cstate="print"/>
          <a:srcRect/>
          <a:stretch>
            <a:fillRect/>
          </a:stretch>
        </p:blipFill>
        <p:spPr bwMode="auto">
          <a:xfrm>
            <a:off x="2297113" y="2616200"/>
            <a:ext cx="1162050" cy="939800"/>
          </a:xfrm>
          <a:prstGeom prst="rect">
            <a:avLst/>
          </a:prstGeom>
          <a:noFill/>
        </p:spPr>
      </p:pic>
      <p:pic>
        <p:nvPicPr>
          <p:cNvPr id="180228" name="Picture 4" descr="Database01"/>
          <p:cNvPicPr>
            <a:picLocks noChangeAspect="1" noChangeArrowheads="1"/>
          </p:cNvPicPr>
          <p:nvPr/>
        </p:nvPicPr>
        <p:blipFill>
          <a:blip r:embed="rId15" cstate="print"/>
          <a:srcRect/>
          <a:stretch>
            <a:fillRect/>
          </a:stretch>
        </p:blipFill>
        <p:spPr bwMode="auto">
          <a:xfrm>
            <a:off x="2297113" y="1654175"/>
            <a:ext cx="1143000" cy="923925"/>
          </a:xfrm>
          <a:prstGeom prst="rect">
            <a:avLst/>
          </a:prstGeom>
          <a:noFill/>
        </p:spPr>
      </p:pic>
      <p:sp>
        <p:nvSpPr>
          <p:cNvPr id="180231" name="Text Box 7"/>
          <p:cNvSpPr txBox="1">
            <a:spLocks noChangeArrowheads="1"/>
          </p:cNvSpPr>
          <p:nvPr>
            <p:custDataLst>
              <p:tags r:id="rId3"/>
            </p:custDataLst>
          </p:nvPr>
        </p:nvSpPr>
        <p:spPr bwMode="auto">
          <a:xfrm>
            <a:off x="2392363" y="1641475"/>
            <a:ext cx="955675" cy="915988"/>
          </a:xfrm>
          <a:prstGeom prst="rect">
            <a:avLst/>
          </a:prstGeom>
          <a:noFill/>
          <a:ln w="9525" algn="ctr">
            <a:noFill/>
            <a:miter lim="800000"/>
            <a:headEnd/>
            <a:tailEnd/>
          </a:ln>
          <a:effectLst/>
        </p:spPr>
        <p:txBody>
          <a:bodyPr wrap="none">
            <a:spAutoFit/>
          </a:bodyPr>
          <a:lstStyle/>
          <a:p>
            <a:pPr>
              <a:lnSpc>
                <a:spcPct val="100000"/>
              </a:lnSpc>
              <a:spcBef>
                <a:spcPct val="0"/>
              </a:spcBef>
              <a:buClrTx/>
              <a:buSzTx/>
              <a:buFontTx/>
              <a:buNone/>
            </a:pPr>
            <a:r>
              <a:rPr lang="en-GB" sz="1800">
                <a:solidFill>
                  <a:srgbClr val="000000"/>
                </a:solidFill>
              </a:rPr>
              <a:t>Base de</a:t>
            </a:r>
            <a:br>
              <a:rPr lang="en-GB" sz="1800">
                <a:solidFill>
                  <a:srgbClr val="000000"/>
                </a:solidFill>
              </a:rPr>
            </a:br>
            <a:r>
              <a:rPr lang="en-GB" sz="1800">
                <a:solidFill>
                  <a:srgbClr val="000000"/>
                </a:solidFill>
              </a:rPr>
              <a:t>données</a:t>
            </a:r>
            <a:endParaRPr lang="en-US" sz="1800"/>
          </a:p>
          <a:p>
            <a:pPr>
              <a:lnSpc>
                <a:spcPct val="100000"/>
              </a:lnSpc>
              <a:spcBef>
                <a:spcPct val="0"/>
              </a:spcBef>
              <a:buClrTx/>
              <a:buSzTx/>
              <a:buFontTx/>
              <a:buNone/>
            </a:pPr>
            <a:r>
              <a:rPr lang="en-GB" sz="1800">
                <a:solidFill>
                  <a:srgbClr val="000000"/>
                </a:solidFill>
              </a:rPr>
              <a:t>DHCP</a:t>
            </a:r>
            <a:endParaRPr lang="en-US" sz="1800">
              <a:solidFill>
                <a:srgbClr val="000000"/>
              </a:solidFill>
            </a:endParaRPr>
          </a:p>
        </p:txBody>
      </p:sp>
      <p:sp>
        <p:nvSpPr>
          <p:cNvPr id="180266" name="Text Box 42"/>
          <p:cNvSpPr txBox="1">
            <a:spLocks noChangeArrowheads="1"/>
          </p:cNvSpPr>
          <p:nvPr>
            <p:custDataLst>
              <p:tags r:id="rId4"/>
            </p:custDataLst>
          </p:nvPr>
        </p:nvSpPr>
        <p:spPr bwMode="auto">
          <a:xfrm>
            <a:off x="2414588" y="2673350"/>
            <a:ext cx="935037" cy="366713"/>
          </a:xfrm>
          <a:prstGeom prst="rect">
            <a:avLst/>
          </a:prstGeom>
          <a:noFill/>
          <a:ln w="9525" algn="ctr">
            <a:noFill/>
            <a:miter lim="800000"/>
            <a:headEnd/>
            <a:tailEnd/>
          </a:ln>
          <a:effectLst/>
        </p:spPr>
        <p:txBody>
          <a:bodyPr wrap="none">
            <a:spAutoFit/>
          </a:bodyPr>
          <a:lstStyle/>
          <a:p>
            <a:pPr>
              <a:lnSpc>
                <a:spcPct val="100000"/>
              </a:lnSpc>
              <a:spcBef>
                <a:spcPct val="0"/>
              </a:spcBef>
              <a:buClrTx/>
              <a:buSzTx/>
              <a:buFontTx/>
              <a:buNone/>
            </a:pPr>
            <a:r>
              <a:rPr lang="en-GB" sz="1800">
                <a:solidFill>
                  <a:srgbClr val="000000"/>
                </a:solidFill>
              </a:rPr>
              <a:t>Registre</a:t>
            </a:r>
            <a:endParaRPr lang="en-US" sz="1800"/>
          </a:p>
        </p:txBody>
      </p:sp>
      <p:sp>
        <p:nvSpPr>
          <p:cNvPr id="180277" name="AutoShape 53"/>
          <p:cNvSpPr>
            <a:spLocks noChangeArrowheads="1"/>
          </p:cNvSpPr>
          <p:nvPr>
            <p:custDataLst>
              <p:tags r:id="rId5"/>
            </p:custDataLst>
          </p:nvPr>
        </p:nvSpPr>
        <p:spPr bwMode="auto">
          <a:xfrm>
            <a:off x="3835400" y="2671763"/>
            <a:ext cx="2159000" cy="1000351"/>
          </a:xfrm>
          <a:prstGeom prst="roundRect">
            <a:avLst>
              <a:gd name="adj" fmla="val 105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en-GB" sz="2000" dirty="0" err="1">
                <a:solidFill>
                  <a:srgbClr val="000000"/>
                </a:solidFill>
              </a:rPr>
              <a:t>Informations</a:t>
            </a:r>
            <a:r>
              <a:rPr lang="en-GB" sz="2000" dirty="0">
                <a:solidFill>
                  <a:srgbClr val="000000"/>
                </a:solidFill>
              </a:rPr>
              <a:t> </a:t>
            </a:r>
            <a:r>
              <a:rPr lang="en-GB" sz="2000" dirty="0" err="1">
                <a:solidFill>
                  <a:srgbClr val="000000"/>
                </a:solidFill>
              </a:rPr>
              <a:t>résumées</a:t>
            </a:r>
            <a:r>
              <a:rPr lang="en-GB" sz="2000" dirty="0">
                <a:solidFill>
                  <a:srgbClr val="000000"/>
                </a:solidFill>
              </a:rPr>
              <a:t> </a:t>
            </a:r>
            <a:r>
              <a:rPr lang="en-GB" sz="2000" dirty="0" err="1">
                <a:solidFill>
                  <a:srgbClr val="000000"/>
                </a:solidFill>
              </a:rPr>
              <a:t>sur</a:t>
            </a:r>
            <a:r>
              <a:rPr lang="en-GB" sz="2000" dirty="0">
                <a:solidFill>
                  <a:srgbClr val="000000"/>
                </a:solidFill>
              </a:rPr>
              <a:t> les </a:t>
            </a:r>
            <a:r>
              <a:rPr lang="en-GB" sz="2000" dirty="0" err="1">
                <a:solidFill>
                  <a:srgbClr val="000000"/>
                </a:solidFill>
              </a:rPr>
              <a:t>baux</a:t>
            </a:r>
            <a:r>
              <a:rPr lang="en-GB" sz="2000" dirty="0">
                <a:solidFill>
                  <a:srgbClr val="000000"/>
                </a:solidFill>
              </a:rPr>
              <a:t> </a:t>
            </a:r>
            <a:r>
              <a:rPr lang="en-GB" sz="2000" dirty="0" err="1">
                <a:solidFill>
                  <a:srgbClr val="000000"/>
                </a:solidFill>
              </a:rPr>
              <a:t>d'adresses</a:t>
            </a:r>
            <a:r>
              <a:rPr lang="en-GB" sz="2000" dirty="0">
                <a:solidFill>
                  <a:srgbClr val="000000"/>
                </a:solidFill>
              </a:rPr>
              <a:t> IP</a:t>
            </a:r>
            <a:endParaRPr lang="en-US" sz="2000" dirty="0"/>
          </a:p>
        </p:txBody>
      </p:sp>
      <p:sp>
        <p:nvSpPr>
          <p:cNvPr id="180279" name="AutoShape 55"/>
          <p:cNvSpPr>
            <a:spLocks noChangeArrowheads="1"/>
          </p:cNvSpPr>
          <p:nvPr>
            <p:custDataLst>
              <p:tags r:id="rId6"/>
            </p:custDataLst>
          </p:nvPr>
        </p:nvSpPr>
        <p:spPr bwMode="auto">
          <a:xfrm>
            <a:off x="3835399" y="1509486"/>
            <a:ext cx="2144487" cy="982889"/>
          </a:xfrm>
          <a:prstGeom prst="roundRect">
            <a:avLst>
              <a:gd name="adj" fmla="val 2954"/>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en-GB" sz="2000" dirty="0" err="1">
                <a:solidFill>
                  <a:srgbClr val="000000"/>
                </a:solidFill>
              </a:rPr>
              <a:t>Informations</a:t>
            </a:r>
            <a:r>
              <a:rPr lang="en-GB" sz="2000" dirty="0">
                <a:solidFill>
                  <a:srgbClr val="000000"/>
                </a:solidFill>
              </a:rPr>
              <a:t> </a:t>
            </a:r>
            <a:r>
              <a:rPr lang="en-GB" sz="2000" dirty="0" err="1">
                <a:solidFill>
                  <a:srgbClr val="000000"/>
                </a:solidFill>
              </a:rPr>
              <a:t>détaillées</a:t>
            </a:r>
            <a:r>
              <a:rPr lang="en-GB" sz="2000" dirty="0">
                <a:solidFill>
                  <a:srgbClr val="000000"/>
                </a:solidFill>
              </a:rPr>
              <a:t> </a:t>
            </a:r>
            <a:r>
              <a:rPr lang="en-GB" sz="2000" dirty="0" err="1">
                <a:solidFill>
                  <a:srgbClr val="000000"/>
                </a:solidFill>
              </a:rPr>
              <a:t>sur</a:t>
            </a:r>
            <a:r>
              <a:rPr lang="en-GB" sz="2000" dirty="0">
                <a:solidFill>
                  <a:srgbClr val="000000"/>
                </a:solidFill>
              </a:rPr>
              <a:t> les </a:t>
            </a:r>
            <a:r>
              <a:rPr lang="en-GB" sz="2000" dirty="0" err="1">
                <a:solidFill>
                  <a:srgbClr val="000000"/>
                </a:solidFill>
              </a:rPr>
              <a:t>baux</a:t>
            </a:r>
            <a:r>
              <a:rPr lang="en-GB" sz="2000" dirty="0">
                <a:solidFill>
                  <a:srgbClr val="000000"/>
                </a:solidFill>
              </a:rPr>
              <a:t> </a:t>
            </a:r>
            <a:r>
              <a:rPr lang="en-GB" sz="2000" dirty="0" err="1">
                <a:solidFill>
                  <a:srgbClr val="000000"/>
                </a:solidFill>
              </a:rPr>
              <a:t>d'adresses</a:t>
            </a:r>
            <a:r>
              <a:rPr lang="en-GB" sz="2000" dirty="0">
                <a:solidFill>
                  <a:srgbClr val="000000"/>
                </a:solidFill>
              </a:rPr>
              <a:t> IP</a:t>
            </a:r>
            <a:endParaRPr lang="en-US" sz="2000" dirty="0"/>
          </a:p>
        </p:txBody>
      </p:sp>
      <p:sp>
        <p:nvSpPr>
          <p:cNvPr id="180280" name="AutoShape 56"/>
          <p:cNvSpPr>
            <a:spLocks noChangeArrowheads="1"/>
          </p:cNvSpPr>
          <p:nvPr>
            <p:custDataLst>
              <p:tags r:id="rId7"/>
            </p:custDataLst>
          </p:nvPr>
        </p:nvSpPr>
        <p:spPr bwMode="auto">
          <a:xfrm>
            <a:off x="6337299" y="1865312"/>
            <a:ext cx="2429329" cy="1298801"/>
          </a:xfrm>
          <a:prstGeom prst="roundRect">
            <a:avLst>
              <a:gd name="adj" fmla="val 2542"/>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en-GB" sz="2000">
                <a:solidFill>
                  <a:srgbClr val="000000"/>
                </a:solidFill>
              </a:rPr>
              <a:t>Compare les informations pour détecter les incohérences</a:t>
            </a:r>
            <a:endParaRPr lang="en-US" sz="2000"/>
          </a:p>
        </p:txBody>
      </p:sp>
      <p:sp>
        <p:nvSpPr>
          <p:cNvPr id="180282" name="AutoShape 58"/>
          <p:cNvSpPr>
            <a:spLocks noChangeArrowheads="1"/>
          </p:cNvSpPr>
          <p:nvPr>
            <p:custDataLst>
              <p:tags r:id="rId8"/>
            </p:custDataLst>
          </p:nvPr>
        </p:nvSpPr>
        <p:spPr bwMode="auto">
          <a:xfrm>
            <a:off x="6337299" y="3463925"/>
            <a:ext cx="2458357" cy="1151618"/>
          </a:xfrm>
          <a:prstGeom prst="roundRect">
            <a:avLst>
              <a:gd name="adj" fmla="val 1111"/>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en-GB" sz="2000">
                <a:solidFill>
                  <a:srgbClr val="000000"/>
                </a:solidFill>
              </a:rPr>
              <a:t>Supprime les incohérences dans la base de données DHCP</a:t>
            </a:r>
            <a:endParaRPr lang="en-US" sz="20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custDataLst>
              <p:tags r:id="rId1"/>
            </p:custDataLst>
          </p:nvPr>
        </p:nvSpPr>
        <p:spPr/>
        <p:txBody>
          <a:bodyPr/>
          <a:lstStyle/>
          <a:p>
            <a:pPr marL="460375" indent="-460375"/>
            <a:r>
              <a:rPr lang="fr-FR" dirty="0" smtClean="0">
                <a:solidFill>
                  <a:srgbClr val="000000"/>
                </a:solidFill>
              </a:rPr>
              <a:t>2. </a:t>
            </a:r>
            <a:r>
              <a:rPr lang="en-GB" dirty="0" smtClean="0">
                <a:solidFill>
                  <a:srgbClr val="000000"/>
                </a:solidFill>
              </a:rPr>
              <a:t>Analyse </a:t>
            </a:r>
            <a:r>
              <a:rPr lang="en-GB" dirty="0">
                <a:solidFill>
                  <a:srgbClr val="000000"/>
                </a:solidFill>
              </a:rPr>
              <a:t>du service DHCP</a:t>
            </a:r>
            <a:endParaRPr lang="en-US" dirty="0">
              <a:solidFill>
                <a:srgbClr val="000000"/>
              </a:solidFill>
            </a:endParaRPr>
          </a:p>
        </p:txBody>
      </p:sp>
      <p:sp>
        <p:nvSpPr>
          <p:cNvPr id="218115" name="Rectangle 3"/>
          <p:cNvSpPr>
            <a:spLocks noGrp="1" noChangeArrowheads="1"/>
          </p:cNvSpPr>
          <p:nvPr>
            <p:ph type="body" idx="1"/>
            <p:custDataLst>
              <p:tags r:id="rId2"/>
            </p:custDataLst>
          </p:nvPr>
        </p:nvSpPr>
        <p:spPr>
          <a:xfrm>
            <a:off x="301752" y="1386840"/>
            <a:ext cx="8659368" cy="5181600"/>
          </a:xfrm>
        </p:spPr>
        <p:txBody>
          <a:bodyPr>
            <a:noAutofit/>
          </a:bodyPr>
          <a:lstStyle/>
          <a:p>
            <a:pPr>
              <a:buClr>
                <a:schemeClr val="tx1"/>
              </a:buClr>
              <a:buFont typeface="Wingdings" pitchFamily="2" charset="2"/>
              <a:buChar char="q"/>
            </a:pPr>
            <a:r>
              <a:rPr lang="en-GB" sz="2400" dirty="0" err="1"/>
              <a:t>Vue</a:t>
            </a:r>
            <a:r>
              <a:rPr lang="en-GB" sz="2400" dirty="0"/>
              <a:t> </a:t>
            </a:r>
            <a:r>
              <a:rPr lang="en-GB" sz="2400" dirty="0" err="1"/>
              <a:t>d'ensemble</a:t>
            </a:r>
            <a:r>
              <a:rPr lang="en-GB" sz="2400" dirty="0"/>
              <a:t> de </a:t>
            </a:r>
            <a:r>
              <a:rPr lang="en-GB" sz="2400" dirty="0" err="1"/>
              <a:t>l'analyse</a:t>
            </a:r>
            <a:r>
              <a:rPr lang="en-GB" sz="2400" dirty="0"/>
              <a:t> du service DHCP</a:t>
            </a:r>
            <a:endParaRPr lang="en-US" sz="2400" dirty="0"/>
          </a:p>
          <a:p>
            <a:pPr>
              <a:buClr>
                <a:schemeClr val="tx1"/>
              </a:buClr>
              <a:buFont typeface="Wingdings" pitchFamily="2" charset="2"/>
              <a:buChar char="q"/>
            </a:pPr>
            <a:r>
              <a:rPr lang="en-GB" sz="2400" dirty="0" err="1" smtClean="0"/>
              <a:t>Présentation</a:t>
            </a:r>
            <a:r>
              <a:rPr lang="en-GB" sz="2400" dirty="0" smtClean="0"/>
              <a:t> </a:t>
            </a:r>
            <a:r>
              <a:rPr lang="en-GB" sz="2400" dirty="0"/>
              <a:t>des </a:t>
            </a:r>
            <a:r>
              <a:rPr lang="en-GB" sz="2400" dirty="0" err="1"/>
              <a:t>statistiques</a:t>
            </a:r>
            <a:r>
              <a:rPr lang="en-GB" sz="2400" dirty="0"/>
              <a:t> DHCP</a:t>
            </a:r>
            <a:endParaRPr lang="en-US" sz="2400" dirty="0"/>
          </a:p>
          <a:p>
            <a:pPr>
              <a:buClr>
                <a:schemeClr val="tx1"/>
              </a:buClr>
              <a:buFont typeface="Wingdings" pitchFamily="2" charset="2"/>
              <a:buChar char="q"/>
            </a:pPr>
            <a:r>
              <a:rPr lang="en-GB" sz="2400" dirty="0"/>
              <a:t>Comment </a:t>
            </a:r>
            <a:r>
              <a:rPr lang="en-GB" sz="2400" dirty="0" err="1"/>
              <a:t>afficher</a:t>
            </a:r>
            <a:r>
              <a:rPr lang="en-GB" sz="2400" dirty="0"/>
              <a:t> les </a:t>
            </a:r>
            <a:r>
              <a:rPr lang="en-GB" sz="2400" dirty="0" err="1"/>
              <a:t>statistiques</a:t>
            </a:r>
            <a:r>
              <a:rPr lang="en-GB" sz="2400" dirty="0"/>
              <a:t> DHCP</a:t>
            </a:r>
            <a:endParaRPr lang="en-US" sz="2400" dirty="0"/>
          </a:p>
          <a:p>
            <a:pPr>
              <a:buClr>
                <a:schemeClr val="tx1"/>
              </a:buClr>
              <a:buFont typeface="Wingdings" pitchFamily="2" charset="2"/>
              <a:buChar char="q"/>
            </a:pPr>
            <a:r>
              <a:rPr lang="en-GB" sz="2400" dirty="0" err="1"/>
              <a:t>Qu'est-ce</a:t>
            </a:r>
            <a:r>
              <a:rPr lang="en-GB" sz="2400" dirty="0"/>
              <a:t> </a:t>
            </a:r>
            <a:r>
              <a:rPr lang="en-GB" sz="2400" dirty="0" err="1"/>
              <a:t>qu'un</a:t>
            </a:r>
            <a:r>
              <a:rPr lang="en-GB" sz="2400" dirty="0"/>
              <a:t> </a:t>
            </a:r>
            <a:r>
              <a:rPr lang="en-GB" sz="2400" dirty="0" err="1"/>
              <a:t>fichier</a:t>
            </a:r>
            <a:r>
              <a:rPr lang="en-GB" sz="2400" dirty="0"/>
              <a:t> journal </a:t>
            </a:r>
            <a:r>
              <a:rPr lang="en-GB" sz="2400" dirty="0" err="1"/>
              <a:t>d'audit</a:t>
            </a:r>
            <a:r>
              <a:rPr lang="en-GB" sz="2400" dirty="0"/>
              <a:t> DHCP ?</a:t>
            </a:r>
            <a:endParaRPr lang="en-US" sz="2400" dirty="0"/>
          </a:p>
          <a:p>
            <a:pPr>
              <a:buClr>
                <a:schemeClr val="tx1"/>
              </a:buClr>
              <a:buFont typeface="Wingdings" pitchFamily="2" charset="2"/>
              <a:buChar char="q"/>
            </a:pPr>
            <a:r>
              <a:rPr lang="en-GB" sz="2400" dirty="0" err="1"/>
              <a:t>Fonctionnement</a:t>
            </a:r>
            <a:r>
              <a:rPr lang="en-GB" sz="2400" dirty="0"/>
              <a:t> de </a:t>
            </a:r>
            <a:r>
              <a:rPr lang="en-GB" sz="2400" dirty="0" err="1"/>
              <a:t>l'enregistrement</a:t>
            </a:r>
            <a:r>
              <a:rPr lang="en-GB" sz="2400" dirty="0"/>
              <a:t> </a:t>
            </a:r>
            <a:r>
              <a:rPr lang="en-GB" sz="2400" dirty="0" err="1"/>
              <a:t>d'audit</a:t>
            </a:r>
            <a:r>
              <a:rPr lang="en-GB" sz="2400" dirty="0"/>
              <a:t> DHCP</a:t>
            </a:r>
            <a:endParaRPr lang="en-US" sz="2400" dirty="0"/>
          </a:p>
          <a:p>
            <a:pPr>
              <a:buClr>
                <a:schemeClr val="tx1"/>
              </a:buClr>
              <a:buFont typeface="Wingdings" pitchFamily="2" charset="2"/>
              <a:buChar char="q"/>
            </a:pPr>
            <a:r>
              <a:rPr lang="en-GB" sz="2400" dirty="0"/>
              <a:t>Comment analyser les performances de </a:t>
            </a:r>
            <a:r>
              <a:rPr lang="en-GB" sz="2400" dirty="0" err="1"/>
              <a:t>serveur</a:t>
            </a:r>
            <a:r>
              <a:rPr lang="en-GB" sz="2400" dirty="0"/>
              <a:t> DHCP à </a:t>
            </a:r>
            <a:r>
              <a:rPr lang="en-GB" sz="2400" dirty="0" err="1"/>
              <a:t>l'aide</a:t>
            </a:r>
            <a:r>
              <a:rPr lang="en-GB" sz="2400" dirty="0"/>
              <a:t> du journal </a:t>
            </a:r>
            <a:r>
              <a:rPr lang="en-GB" sz="2400" dirty="0" err="1"/>
              <a:t>d'audit</a:t>
            </a:r>
            <a:r>
              <a:rPr lang="en-GB" sz="2400" dirty="0"/>
              <a:t> </a:t>
            </a:r>
            <a:r>
              <a:rPr lang="en-GB" sz="2400" dirty="0" smtClean="0"/>
              <a:t>DHCP</a:t>
            </a:r>
          </a:p>
          <a:p>
            <a:pPr>
              <a:buClr>
                <a:schemeClr val="tx1"/>
              </a:buClr>
              <a:buFont typeface="Wingdings" pitchFamily="2" charset="2"/>
              <a:buChar char="q"/>
            </a:pPr>
            <a:r>
              <a:rPr lang="en-GB" sz="2400" dirty="0" smtClean="0"/>
              <a:t>Instructions pour analyser les performances </a:t>
            </a:r>
            <a:r>
              <a:rPr lang="en-GB" sz="2400" dirty="0" smtClean="0"/>
              <a:t>de </a:t>
            </a:r>
            <a:r>
              <a:rPr lang="en-GB" sz="2400" dirty="0" err="1" smtClean="0"/>
              <a:t>serveur</a:t>
            </a:r>
            <a:r>
              <a:rPr lang="en-GB" sz="2400" dirty="0" smtClean="0"/>
              <a:t> </a:t>
            </a:r>
            <a:r>
              <a:rPr lang="en-GB" sz="2400" dirty="0" smtClean="0"/>
              <a:t>DHCP</a:t>
            </a:r>
          </a:p>
          <a:p>
            <a:pPr>
              <a:buClr>
                <a:schemeClr val="tx1"/>
              </a:buClr>
              <a:buFont typeface="Wingdings" pitchFamily="2" charset="2"/>
              <a:buChar char="q"/>
            </a:pPr>
            <a:r>
              <a:rPr lang="en-GB" sz="2400" dirty="0" err="1" smtClean="0"/>
              <a:t>Compteurs</a:t>
            </a:r>
            <a:r>
              <a:rPr lang="en-GB" sz="2400" dirty="0" smtClean="0"/>
              <a:t> de performance </a:t>
            </a:r>
            <a:r>
              <a:rPr lang="en-GB" sz="2400" dirty="0" err="1" smtClean="0"/>
              <a:t>communément</a:t>
            </a:r>
            <a:r>
              <a:rPr lang="en-GB" sz="2400" dirty="0" smtClean="0"/>
              <a:t> </a:t>
            </a:r>
            <a:r>
              <a:rPr lang="en-GB" sz="2400" dirty="0" err="1" smtClean="0"/>
              <a:t>utilisés</a:t>
            </a:r>
            <a:r>
              <a:rPr lang="en-GB" sz="2400" dirty="0" smtClean="0"/>
              <a:t> pour </a:t>
            </a:r>
            <a:r>
              <a:rPr lang="en-GB" sz="2400" dirty="0" smtClean="0"/>
              <a:t>analyser les performances de </a:t>
            </a:r>
            <a:r>
              <a:rPr lang="en-GB" sz="2400" dirty="0" err="1" smtClean="0"/>
              <a:t>serveur</a:t>
            </a:r>
            <a:r>
              <a:rPr lang="en-GB" sz="2400" dirty="0" smtClean="0"/>
              <a:t> </a:t>
            </a:r>
            <a:r>
              <a:rPr lang="en-GB" sz="2400" dirty="0" smtClean="0"/>
              <a:t>DHCP</a:t>
            </a:r>
          </a:p>
          <a:p>
            <a:pPr>
              <a:buClr>
                <a:schemeClr val="tx1"/>
              </a:buClr>
              <a:buFont typeface="Wingdings" pitchFamily="2" charset="2"/>
              <a:buChar char="q"/>
            </a:pPr>
            <a:r>
              <a:rPr lang="fr-FR" sz="2400" dirty="0" smtClean="0"/>
              <a:t>Instructions pour créer des alertes pour un </a:t>
            </a:r>
            <a:r>
              <a:rPr lang="fr-FR" sz="2400" dirty="0" smtClean="0"/>
              <a:t>serveur </a:t>
            </a:r>
            <a:r>
              <a:rPr lang="fr-FR" sz="2400" dirty="0" smtClean="0"/>
              <a:t>DHCP</a:t>
            </a:r>
            <a:endParaRPr lang="en-US" sz="2400" dirty="0"/>
          </a:p>
          <a:p>
            <a:pPr>
              <a:buClr>
                <a:schemeClr val="tx1"/>
              </a:buClr>
              <a:buFont typeface="Wingdings" pitchFamily="2" charset="2"/>
              <a:buChar char="q"/>
            </a:pPr>
            <a:endParaRPr lang="en-US" sz="2400" dirty="0"/>
          </a:p>
          <a:p>
            <a:pPr>
              <a:buClr>
                <a:schemeClr val="tx1"/>
              </a:buClr>
              <a:buFont typeface="Wingdings" pitchFamily="2" charset="2"/>
              <a:buChar char="q"/>
            </a:pPr>
            <a:endParaRPr 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custDataLst>
              <p:tags r:id="rId1"/>
            </p:custDataLst>
          </p:nvPr>
        </p:nvSpPr>
        <p:spPr>
          <a:xfrm>
            <a:off x="215327" y="312062"/>
            <a:ext cx="8534400" cy="566638"/>
          </a:xfrm>
        </p:spPr>
        <p:txBody>
          <a:bodyPr vert="horz" anchor="b">
            <a:noAutofit/>
          </a:bodyPr>
          <a:lstStyle/>
          <a:p>
            <a:r>
              <a:rPr lang="en-GB" sz="2600" dirty="0" err="1" smtClean="0">
                <a:solidFill>
                  <a:srgbClr val="C00000"/>
                </a:solidFill>
              </a:rPr>
              <a:t>Vue</a:t>
            </a:r>
            <a:r>
              <a:rPr lang="en-GB" sz="2600" dirty="0" smtClean="0">
                <a:solidFill>
                  <a:srgbClr val="C00000"/>
                </a:solidFill>
              </a:rPr>
              <a:t> </a:t>
            </a:r>
            <a:r>
              <a:rPr lang="en-GB" sz="2600" dirty="0" err="1" smtClean="0">
                <a:solidFill>
                  <a:srgbClr val="C00000"/>
                </a:solidFill>
              </a:rPr>
              <a:t>d'ensemble</a:t>
            </a:r>
            <a:r>
              <a:rPr lang="en-GB" sz="2600" dirty="0" smtClean="0">
                <a:solidFill>
                  <a:srgbClr val="C00000"/>
                </a:solidFill>
              </a:rPr>
              <a:t> de </a:t>
            </a:r>
            <a:r>
              <a:rPr lang="en-GB" sz="2600" dirty="0" err="1" smtClean="0">
                <a:solidFill>
                  <a:srgbClr val="C00000"/>
                </a:solidFill>
              </a:rPr>
              <a:t>l'analyse</a:t>
            </a:r>
            <a:r>
              <a:rPr lang="en-GB" sz="2600" dirty="0" smtClean="0">
                <a:solidFill>
                  <a:srgbClr val="C00000"/>
                </a:solidFill>
              </a:rPr>
              <a:t> du service DHCP</a:t>
            </a:r>
            <a:endParaRPr lang="en-US" sz="2600" dirty="0">
              <a:solidFill>
                <a:srgbClr val="C00000"/>
              </a:solidFill>
            </a:endParaRPr>
          </a:p>
        </p:txBody>
      </p:sp>
      <p:sp>
        <p:nvSpPr>
          <p:cNvPr id="211974" name="AutoShape 6"/>
          <p:cNvSpPr>
            <a:spLocks noChangeArrowheads="1"/>
          </p:cNvSpPr>
          <p:nvPr>
            <p:custDataLst>
              <p:tags r:id="rId2"/>
            </p:custDataLst>
          </p:nvPr>
        </p:nvSpPr>
        <p:spPr bwMode="auto">
          <a:xfrm>
            <a:off x="617220" y="1537560"/>
            <a:ext cx="8082643" cy="170750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buClrTx/>
              <a:buSzPct val="80000"/>
              <a:buFontTx/>
              <a:buBlip>
                <a:blip r:embed="rId6"/>
              </a:buBlip>
            </a:pPr>
            <a:r>
              <a:rPr lang="en-GB" sz="2200" dirty="0" err="1">
                <a:solidFill>
                  <a:srgbClr val="000000"/>
                </a:solidFill>
              </a:rPr>
              <a:t>L'environnement</a:t>
            </a:r>
            <a:r>
              <a:rPr lang="en-GB" sz="2200" dirty="0">
                <a:solidFill>
                  <a:srgbClr val="000000"/>
                </a:solidFill>
              </a:rPr>
              <a:t> DHCP </a:t>
            </a:r>
            <a:r>
              <a:rPr lang="en-GB" sz="2200" dirty="0" err="1">
                <a:solidFill>
                  <a:srgbClr val="000000"/>
                </a:solidFill>
              </a:rPr>
              <a:t>est</a:t>
            </a:r>
            <a:r>
              <a:rPr lang="en-GB" sz="2200" dirty="0">
                <a:solidFill>
                  <a:srgbClr val="000000"/>
                </a:solidFill>
              </a:rPr>
              <a:t> </a:t>
            </a:r>
            <a:r>
              <a:rPr lang="en-GB" sz="2200" dirty="0" err="1">
                <a:solidFill>
                  <a:srgbClr val="000000"/>
                </a:solidFill>
              </a:rPr>
              <a:t>dynamique</a:t>
            </a:r>
            <a:endParaRPr lang="en-US" sz="2200" dirty="0"/>
          </a:p>
          <a:p>
            <a:pPr marL="225425" indent="-225425" algn="l">
              <a:lnSpc>
                <a:spcPct val="85000"/>
              </a:lnSpc>
              <a:buClrTx/>
              <a:buSzPct val="80000"/>
              <a:buFontTx/>
              <a:buBlip>
                <a:blip r:embed="rId6"/>
              </a:buBlip>
            </a:pPr>
            <a:r>
              <a:rPr lang="en-GB" sz="2200" dirty="0">
                <a:solidFill>
                  <a:srgbClr val="000000"/>
                </a:solidFill>
              </a:rPr>
              <a:t>Performances de </a:t>
            </a:r>
            <a:r>
              <a:rPr lang="en-GB" sz="2200" dirty="0" err="1">
                <a:solidFill>
                  <a:srgbClr val="000000"/>
                </a:solidFill>
              </a:rPr>
              <a:t>serveur</a:t>
            </a:r>
            <a:r>
              <a:rPr lang="en-GB" sz="2200" dirty="0">
                <a:solidFill>
                  <a:srgbClr val="000000"/>
                </a:solidFill>
              </a:rPr>
              <a:t> DHCP accrues</a:t>
            </a:r>
            <a:endParaRPr lang="en-US" sz="2200" dirty="0"/>
          </a:p>
          <a:p>
            <a:pPr marL="225425" indent="-225425" algn="l">
              <a:lnSpc>
                <a:spcPct val="85000"/>
              </a:lnSpc>
              <a:buClrTx/>
              <a:buSzPct val="80000"/>
              <a:buFontTx/>
              <a:buBlip>
                <a:blip r:embed="rId6"/>
              </a:buBlip>
            </a:pPr>
            <a:r>
              <a:rPr lang="en-GB" sz="2200" dirty="0" err="1">
                <a:solidFill>
                  <a:srgbClr val="000000"/>
                </a:solidFill>
              </a:rPr>
              <a:t>Possibilité</a:t>
            </a:r>
            <a:r>
              <a:rPr lang="en-GB" sz="2200" dirty="0">
                <a:solidFill>
                  <a:srgbClr val="000000"/>
                </a:solidFill>
              </a:rPr>
              <a:t> de </a:t>
            </a:r>
            <a:r>
              <a:rPr lang="en-GB" sz="2200" dirty="0" err="1">
                <a:solidFill>
                  <a:srgbClr val="000000"/>
                </a:solidFill>
              </a:rPr>
              <a:t>planifier</a:t>
            </a:r>
            <a:r>
              <a:rPr lang="en-GB" sz="2200" dirty="0">
                <a:solidFill>
                  <a:srgbClr val="000000"/>
                </a:solidFill>
              </a:rPr>
              <a:t> les </a:t>
            </a:r>
            <a:r>
              <a:rPr lang="en-GB" sz="2200" dirty="0" err="1">
                <a:solidFill>
                  <a:srgbClr val="000000"/>
                </a:solidFill>
              </a:rPr>
              <a:t>besoins</a:t>
            </a:r>
            <a:r>
              <a:rPr lang="en-GB" sz="2200" dirty="0">
                <a:solidFill>
                  <a:srgbClr val="000000"/>
                </a:solidFill>
              </a:rPr>
              <a:t> </a:t>
            </a:r>
            <a:r>
              <a:rPr lang="en-GB" sz="2200" dirty="0" err="1">
                <a:solidFill>
                  <a:srgbClr val="000000"/>
                </a:solidFill>
              </a:rPr>
              <a:t>actuels</a:t>
            </a:r>
            <a:r>
              <a:rPr lang="en-GB" sz="2200" dirty="0">
                <a:solidFill>
                  <a:srgbClr val="000000"/>
                </a:solidFill>
              </a:rPr>
              <a:t> et </a:t>
            </a:r>
            <a:r>
              <a:rPr lang="en-GB" sz="2200" dirty="0" err="1">
                <a:solidFill>
                  <a:srgbClr val="000000"/>
                </a:solidFill>
              </a:rPr>
              <a:t>futurs</a:t>
            </a:r>
            <a:endParaRPr lang="en-US" sz="2200" dirty="0">
              <a:solidFill>
                <a:srgbClr val="000000"/>
              </a:solidFill>
            </a:endParaRPr>
          </a:p>
        </p:txBody>
      </p:sp>
      <p:sp>
        <p:nvSpPr>
          <p:cNvPr id="211976" name="AutoShape 8"/>
          <p:cNvSpPr>
            <a:spLocks noChangeArrowheads="1"/>
          </p:cNvSpPr>
          <p:nvPr>
            <p:custDataLst>
              <p:tags r:id="rId3"/>
            </p:custDataLst>
          </p:nvPr>
        </p:nvSpPr>
        <p:spPr bwMode="auto">
          <a:xfrm>
            <a:off x="617220" y="4392851"/>
            <a:ext cx="8082643" cy="170750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buClrTx/>
              <a:buSzPct val="80000"/>
              <a:buFontTx/>
              <a:buBlip>
                <a:blip r:embed="rId6"/>
              </a:buBlip>
            </a:pPr>
            <a:r>
              <a:rPr lang="en-GB" sz="2200">
                <a:solidFill>
                  <a:srgbClr val="000000"/>
                </a:solidFill>
              </a:rPr>
              <a:t>Statistiques DHCP</a:t>
            </a:r>
            <a:endParaRPr lang="en-US" sz="2200"/>
          </a:p>
          <a:p>
            <a:pPr marL="225425" indent="-225425" algn="l">
              <a:lnSpc>
                <a:spcPct val="85000"/>
              </a:lnSpc>
              <a:buClrTx/>
              <a:buSzPct val="80000"/>
              <a:buFontTx/>
              <a:buBlip>
                <a:blip r:embed="rId6"/>
              </a:buBlip>
            </a:pPr>
            <a:r>
              <a:rPr lang="en-GB" sz="2200">
                <a:solidFill>
                  <a:srgbClr val="000000"/>
                </a:solidFill>
              </a:rPr>
              <a:t>Événements DHCP</a:t>
            </a:r>
            <a:endParaRPr lang="en-US" sz="2200"/>
          </a:p>
          <a:p>
            <a:pPr marL="225425" indent="-225425" algn="l">
              <a:lnSpc>
                <a:spcPct val="85000"/>
              </a:lnSpc>
              <a:buClrTx/>
              <a:buSzPct val="80000"/>
              <a:buFontTx/>
              <a:buBlip>
                <a:blip r:embed="rId6"/>
              </a:buBlip>
            </a:pPr>
            <a:r>
              <a:rPr lang="en-GB" sz="2200">
                <a:solidFill>
                  <a:srgbClr val="000000"/>
                </a:solidFill>
              </a:rPr>
              <a:t>Données de performances DHCP</a:t>
            </a:r>
            <a:endParaRPr lang="en-US" sz="2200">
              <a:solidFill>
                <a:srgbClr val="000000"/>
              </a:solidFill>
            </a:endParaRPr>
          </a:p>
        </p:txBody>
      </p:sp>
      <p:sp>
        <p:nvSpPr>
          <p:cNvPr id="10" name="Rectangle 9"/>
          <p:cNvSpPr/>
          <p:nvPr/>
        </p:nvSpPr>
        <p:spPr>
          <a:xfrm>
            <a:off x="208373" y="3666577"/>
            <a:ext cx="7353570" cy="480131"/>
          </a:xfrm>
          <a:prstGeom prst="rect">
            <a:avLst/>
          </a:prstGeom>
        </p:spPr>
        <p:txBody>
          <a:bodyPr wrap="square">
            <a:spAutoFit/>
          </a:bodyPr>
          <a:lstStyle/>
          <a:p>
            <a:pPr algn="l">
              <a:buNone/>
            </a:pPr>
            <a:r>
              <a:rPr lang="en-GB" sz="2800" dirty="0" err="1" smtClean="0">
                <a:solidFill>
                  <a:srgbClr val="000000"/>
                </a:solidFill>
              </a:rPr>
              <a:t>Où</a:t>
            </a:r>
            <a:r>
              <a:rPr lang="en-GB" sz="2800" dirty="0" smtClean="0">
                <a:solidFill>
                  <a:srgbClr val="000000"/>
                </a:solidFill>
              </a:rPr>
              <a:t> </a:t>
            </a:r>
            <a:r>
              <a:rPr lang="en-GB" sz="2800" dirty="0" err="1" smtClean="0">
                <a:solidFill>
                  <a:srgbClr val="000000"/>
                </a:solidFill>
              </a:rPr>
              <a:t>trouver</a:t>
            </a:r>
            <a:r>
              <a:rPr lang="en-GB" sz="2800" dirty="0" smtClean="0">
                <a:solidFill>
                  <a:srgbClr val="000000"/>
                </a:solidFill>
              </a:rPr>
              <a:t> les </a:t>
            </a:r>
            <a:r>
              <a:rPr lang="en-GB" sz="2800" dirty="0" err="1" smtClean="0">
                <a:solidFill>
                  <a:srgbClr val="000000"/>
                </a:solidFill>
              </a:rPr>
              <a:t>données</a:t>
            </a:r>
            <a:r>
              <a:rPr lang="en-GB" sz="2800" dirty="0" smtClean="0">
                <a:solidFill>
                  <a:srgbClr val="000000"/>
                </a:solidFill>
              </a:rPr>
              <a:t> DHCP:</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211976"/>
                                        </p:tgtEl>
                                        <p:attrNameLst>
                                          <p:attrName>style.visibility</p:attrName>
                                        </p:attrNameLst>
                                      </p:cBhvr>
                                      <p:to>
                                        <p:strVal val="visible"/>
                                      </p:to>
                                    </p:set>
                                    <p:animEffect transition="in" filter="checkerboard(across)">
                                      <p:cBhvr>
                                        <p:cTn id="11" dur="1000"/>
                                        <p:tgtEl>
                                          <p:spTgt spid="211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6" grpId="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custDataLst>
              <p:tags r:id="rId1"/>
            </p:custDataLst>
          </p:nvPr>
        </p:nvSpPr>
        <p:spPr>
          <a:xfrm>
            <a:off x="301752" y="214089"/>
            <a:ext cx="8534400" cy="758952"/>
          </a:xfrm>
        </p:spPr>
        <p:txBody>
          <a:bodyPr vert="horz" anchor="b">
            <a:noAutofit/>
          </a:bodyPr>
          <a:lstStyle/>
          <a:p>
            <a:r>
              <a:rPr lang="en-GB" sz="2600" dirty="0" smtClean="0">
                <a:solidFill>
                  <a:srgbClr val="C00000"/>
                </a:solidFill>
              </a:rPr>
              <a:t>Les </a:t>
            </a:r>
            <a:r>
              <a:rPr lang="en-GB" sz="2600" dirty="0" err="1">
                <a:solidFill>
                  <a:srgbClr val="C00000"/>
                </a:solidFill>
              </a:rPr>
              <a:t>statistiques</a:t>
            </a:r>
            <a:r>
              <a:rPr lang="en-GB" sz="2600" dirty="0">
                <a:solidFill>
                  <a:srgbClr val="C00000"/>
                </a:solidFill>
              </a:rPr>
              <a:t> DHCP</a:t>
            </a:r>
            <a:endParaRPr lang="en-US" sz="2600" dirty="0">
              <a:solidFill>
                <a:srgbClr val="C00000"/>
              </a:solidFill>
            </a:endParaRPr>
          </a:p>
        </p:txBody>
      </p:sp>
      <p:pic>
        <p:nvPicPr>
          <p:cNvPr id="219150" name="Picture 14"/>
          <p:cNvPicPr>
            <a:picLocks noGrp="1" noChangeAspect="1" noChangeArrowheads="1"/>
          </p:cNvPicPr>
          <p:nvPr>
            <p:ph sz="quarter" idx="1"/>
          </p:nvPr>
        </p:nvPicPr>
        <p:blipFill>
          <a:blip r:embed="rId5"/>
          <a:srcRect/>
          <a:stretch>
            <a:fillRect/>
          </a:stretch>
        </p:blipFill>
        <p:spPr>
          <a:xfrm>
            <a:off x="3590925" y="1344612"/>
            <a:ext cx="5344069" cy="3934175"/>
          </a:xfrm>
          <a:noFill/>
          <a:ln/>
        </p:spPr>
      </p:pic>
      <p:sp>
        <p:nvSpPr>
          <p:cNvPr id="219141" name="Freeform 5"/>
          <p:cNvSpPr>
            <a:spLocks/>
          </p:cNvSpPr>
          <p:nvPr/>
        </p:nvSpPr>
        <p:spPr bwMode="auto">
          <a:xfrm>
            <a:off x="2109788" y="1314450"/>
            <a:ext cx="1493837" cy="3238500"/>
          </a:xfrm>
          <a:custGeom>
            <a:avLst/>
            <a:gdLst/>
            <a:ahLst/>
            <a:cxnLst>
              <a:cxn ang="0">
                <a:pos x="0" y="1872"/>
              </a:cxn>
              <a:cxn ang="0">
                <a:pos x="1104" y="0"/>
              </a:cxn>
              <a:cxn ang="0">
                <a:pos x="1104" y="1824"/>
              </a:cxn>
              <a:cxn ang="0">
                <a:pos x="0" y="1872"/>
              </a:cxn>
            </a:cxnLst>
            <a:rect l="0" t="0" r="r" b="b"/>
            <a:pathLst>
              <a:path w="1104" h="1872">
                <a:moveTo>
                  <a:pt x="0" y="1872"/>
                </a:moveTo>
                <a:lnTo>
                  <a:pt x="1104" y="0"/>
                </a:lnTo>
                <a:lnTo>
                  <a:pt x="1104" y="1824"/>
                </a:lnTo>
                <a:lnTo>
                  <a:pt x="0" y="1872"/>
                </a:lnTo>
                <a:close/>
              </a:path>
            </a:pathLst>
          </a:custGeom>
          <a:solidFill>
            <a:schemeClr val="accent2">
              <a:alpha val="50000"/>
            </a:schemeClr>
          </a:solidFill>
          <a:ln w="9525" cap="flat" cmpd="sng">
            <a:noFill/>
            <a:prstDash val="solid"/>
            <a:round/>
            <a:headEnd/>
            <a:tailEnd/>
          </a:ln>
          <a:effectLst/>
        </p:spPr>
        <p:txBody>
          <a:bodyPr anchor="ctr"/>
          <a:lstStyle/>
          <a:p>
            <a:endParaRPr lang="fr-FR"/>
          </a:p>
        </p:txBody>
      </p:sp>
      <p:pic>
        <p:nvPicPr>
          <p:cNvPr id="219142" name="Picture 6" descr="Server01"/>
          <p:cNvPicPr>
            <a:picLocks noChangeAspect="1" noChangeArrowheads="1"/>
          </p:cNvPicPr>
          <p:nvPr/>
        </p:nvPicPr>
        <p:blipFill>
          <a:blip r:embed="rId6"/>
          <a:srcRect/>
          <a:stretch>
            <a:fillRect/>
          </a:stretch>
        </p:blipFill>
        <p:spPr bwMode="auto">
          <a:xfrm>
            <a:off x="1233488" y="2916238"/>
            <a:ext cx="1697037" cy="1997075"/>
          </a:xfrm>
          <a:prstGeom prst="rect">
            <a:avLst/>
          </a:prstGeom>
          <a:noFill/>
        </p:spPr>
      </p:pic>
      <p:sp>
        <p:nvSpPr>
          <p:cNvPr id="219143" name="AutoShape 7"/>
          <p:cNvSpPr>
            <a:spLocks noChangeArrowheads="1"/>
          </p:cNvSpPr>
          <p:nvPr>
            <p:custDataLst>
              <p:tags r:id="rId2"/>
            </p:custDataLst>
          </p:nvPr>
        </p:nvSpPr>
        <p:spPr bwMode="auto">
          <a:xfrm>
            <a:off x="1314450" y="2417763"/>
            <a:ext cx="1511300" cy="338137"/>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spcBef>
                <a:spcPct val="0"/>
              </a:spcBef>
              <a:buClrTx/>
              <a:buSzTx/>
              <a:buFontTx/>
              <a:buNone/>
            </a:pPr>
            <a:r>
              <a:rPr lang="en-GB" sz="1800">
                <a:solidFill>
                  <a:srgbClr val="000000"/>
                </a:solidFill>
              </a:rPr>
              <a:t>Serveur DHCP</a:t>
            </a:r>
            <a:endParaRPr lang="en-US" sz="1800"/>
          </a:p>
        </p:txBody>
      </p:sp>
      <p:sp>
        <p:nvSpPr>
          <p:cNvPr id="9" name="Rectangle 8"/>
          <p:cNvSpPr/>
          <p:nvPr/>
        </p:nvSpPr>
        <p:spPr>
          <a:xfrm>
            <a:off x="181429" y="5189640"/>
            <a:ext cx="8701314" cy="1200329"/>
          </a:xfrm>
          <a:prstGeom prst="rect">
            <a:avLst/>
          </a:prstGeom>
        </p:spPr>
        <p:txBody>
          <a:bodyPr wrap="square">
            <a:spAutoFit/>
          </a:bodyPr>
          <a:lstStyle/>
          <a:p>
            <a:pPr algn="l" eaLnBrk="1" hangingPunct="1">
              <a:lnSpc>
                <a:spcPct val="100000"/>
              </a:lnSpc>
              <a:spcBef>
                <a:spcPct val="0"/>
              </a:spcBef>
              <a:buClrTx/>
              <a:buSzTx/>
              <a:buFontTx/>
              <a:buNone/>
            </a:pPr>
            <a:r>
              <a:rPr lang="en-GB" dirty="0" smtClean="0">
                <a:solidFill>
                  <a:srgbClr val="000000"/>
                </a:solidFill>
              </a:rPr>
              <a:t>Les </a:t>
            </a:r>
            <a:r>
              <a:rPr lang="en-GB" i="1" dirty="0" err="1" smtClean="0">
                <a:solidFill>
                  <a:srgbClr val="000000"/>
                </a:solidFill>
              </a:rPr>
              <a:t>statistiques</a:t>
            </a:r>
            <a:r>
              <a:rPr lang="en-GB" i="1" dirty="0" smtClean="0">
                <a:solidFill>
                  <a:srgbClr val="000000"/>
                </a:solidFill>
              </a:rPr>
              <a:t> DHCP</a:t>
            </a:r>
            <a:r>
              <a:rPr lang="en-GB" dirty="0" smtClean="0">
                <a:solidFill>
                  <a:srgbClr val="000000"/>
                </a:solidFill>
              </a:rPr>
              <a:t> </a:t>
            </a:r>
            <a:r>
              <a:rPr lang="en-GB" dirty="0" err="1" smtClean="0">
                <a:solidFill>
                  <a:srgbClr val="000000"/>
                </a:solidFill>
              </a:rPr>
              <a:t>représentent</a:t>
            </a:r>
            <a:r>
              <a:rPr lang="en-GB" dirty="0" smtClean="0">
                <a:solidFill>
                  <a:srgbClr val="000000"/>
                </a:solidFill>
              </a:rPr>
              <a:t> les </a:t>
            </a:r>
            <a:r>
              <a:rPr lang="en-GB" dirty="0" err="1" smtClean="0">
                <a:solidFill>
                  <a:srgbClr val="000000"/>
                </a:solidFill>
              </a:rPr>
              <a:t>statistiques</a:t>
            </a:r>
            <a:r>
              <a:rPr lang="en-GB" dirty="0" smtClean="0">
                <a:solidFill>
                  <a:srgbClr val="000000"/>
                </a:solidFill>
              </a:rPr>
              <a:t> </a:t>
            </a:r>
            <a:r>
              <a:rPr lang="en-GB" dirty="0" err="1" smtClean="0">
                <a:solidFill>
                  <a:srgbClr val="000000"/>
                </a:solidFill>
              </a:rPr>
              <a:t>collectées</a:t>
            </a:r>
            <a:r>
              <a:rPr lang="en-GB" dirty="0" smtClean="0">
                <a:solidFill>
                  <a:srgbClr val="000000"/>
                </a:solidFill>
              </a:rPr>
              <a:t> </a:t>
            </a:r>
            <a:br>
              <a:rPr lang="en-GB" dirty="0" smtClean="0">
                <a:solidFill>
                  <a:srgbClr val="000000"/>
                </a:solidFill>
              </a:rPr>
            </a:br>
            <a:r>
              <a:rPr lang="en-GB" dirty="0" smtClean="0">
                <a:solidFill>
                  <a:srgbClr val="000000"/>
                </a:solidFill>
              </a:rPr>
              <a:t>au </a:t>
            </a:r>
            <a:r>
              <a:rPr lang="en-GB" dirty="0" err="1" smtClean="0">
                <a:solidFill>
                  <a:srgbClr val="000000"/>
                </a:solidFill>
              </a:rPr>
              <a:t>niveau</a:t>
            </a:r>
            <a:r>
              <a:rPr lang="en-GB" dirty="0" smtClean="0">
                <a:solidFill>
                  <a:srgbClr val="000000"/>
                </a:solidFill>
              </a:rPr>
              <a:t> du </a:t>
            </a:r>
            <a:r>
              <a:rPr lang="en-GB" dirty="0" err="1" smtClean="0">
                <a:solidFill>
                  <a:srgbClr val="000000"/>
                </a:solidFill>
              </a:rPr>
              <a:t>serveur</a:t>
            </a:r>
            <a:r>
              <a:rPr lang="en-GB" dirty="0" smtClean="0">
                <a:solidFill>
                  <a:srgbClr val="000000"/>
                </a:solidFill>
              </a:rPr>
              <a:t> </a:t>
            </a:r>
            <a:r>
              <a:rPr lang="en-GB" dirty="0" err="1" smtClean="0">
                <a:solidFill>
                  <a:srgbClr val="000000"/>
                </a:solidFill>
              </a:rPr>
              <a:t>ou</a:t>
            </a:r>
            <a:r>
              <a:rPr lang="en-GB" dirty="0" smtClean="0">
                <a:solidFill>
                  <a:srgbClr val="000000"/>
                </a:solidFill>
              </a:rPr>
              <a:t> de </a:t>
            </a:r>
            <a:r>
              <a:rPr lang="en-GB" dirty="0" err="1" smtClean="0">
                <a:solidFill>
                  <a:srgbClr val="000000"/>
                </a:solidFill>
              </a:rPr>
              <a:t>l'étendue</a:t>
            </a:r>
            <a:r>
              <a:rPr lang="en-GB" dirty="0" smtClean="0">
                <a:solidFill>
                  <a:srgbClr val="000000"/>
                </a:solidFill>
              </a:rPr>
              <a:t> </a:t>
            </a:r>
            <a:r>
              <a:rPr lang="en-GB" dirty="0" err="1" smtClean="0">
                <a:solidFill>
                  <a:srgbClr val="000000"/>
                </a:solidFill>
              </a:rPr>
              <a:t>depuis</a:t>
            </a:r>
            <a:r>
              <a:rPr lang="en-GB" dirty="0" smtClean="0">
                <a:solidFill>
                  <a:srgbClr val="000000"/>
                </a:solidFill>
              </a:rPr>
              <a:t> le </a:t>
            </a:r>
            <a:r>
              <a:rPr lang="en-GB" dirty="0" err="1" smtClean="0">
                <a:solidFill>
                  <a:srgbClr val="000000"/>
                </a:solidFill>
              </a:rPr>
              <a:t>dernier</a:t>
            </a:r>
            <a:r>
              <a:rPr lang="en-GB" dirty="0" smtClean="0">
                <a:solidFill>
                  <a:srgbClr val="000000"/>
                </a:solidFill>
              </a:rPr>
              <a:t> </a:t>
            </a:r>
            <a:r>
              <a:rPr lang="en-GB" dirty="0" err="1" smtClean="0">
                <a:solidFill>
                  <a:srgbClr val="000000"/>
                </a:solidFill>
              </a:rPr>
              <a:t>démarrage</a:t>
            </a:r>
            <a:r>
              <a:rPr lang="en-GB" dirty="0" smtClean="0">
                <a:solidFill>
                  <a:srgbClr val="000000"/>
                </a:solidFill>
              </a:rPr>
              <a:t> du service DHCP</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custDataLst>
              <p:tags r:id="rId1"/>
            </p:custDataLst>
          </p:nvPr>
        </p:nvSpPr>
        <p:spPr>
          <a:xfrm>
            <a:off x="301752" y="257630"/>
            <a:ext cx="8534400" cy="758952"/>
          </a:xfrm>
        </p:spPr>
        <p:txBody>
          <a:bodyPr vert="horz" anchor="b">
            <a:noAutofit/>
          </a:bodyPr>
          <a:lstStyle/>
          <a:p>
            <a:r>
              <a:rPr lang="en-GB" sz="2600" dirty="0">
                <a:solidFill>
                  <a:srgbClr val="C00000"/>
                </a:solidFill>
              </a:rPr>
              <a:t>Comment </a:t>
            </a:r>
            <a:r>
              <a:rPr lang="en-GB" sz="2600" dirty="0" err="1">
                <a:solidFill>
                  <a:srgbClr val="C00000"/>
                </a:solidFill>
              </a:rPr>
              <a:t>afficher</a:t>
            </a:r>
            <a:r>
              <a:rPr lang="en-GB" sz="2600" dirty="0">
                <a:solidFill>
                  <a:srgbClr val="C00000"/>
                </a:solidFill>
              </a:rPr>
              <a:t> les </a:t>
            </a:r>
            <a:r>
              <a:rPr lang="en-GB" sz="2600" dirty="0" err="1">
                <a:solidFill>
                  <a:srgbClr val="C00000"/>
                </a:solidFill>
              </a:rPr>
              <a:t>statistiques</a:t>
            </a:r>
            <a:r>
              <a:rPr lang="en-GB" sz="2600" dirty="0">
                <a:solidFill>
                  <a:srgbClr val="C00000"/>
                </a:solidFill>
              </a:rPr>
              <a:t> DHCP</a:t>
            </a:r>
            <a:endParaRPr lang="en-US" sz="2600" dirty="0">
              <a:solidFill>
                <a:srgbClr val="C00000"/>
              </a:solidFill>
            </a:endParaRPr>
          </a:p>
        </p:txBody>
      </p:sp>
      <p:sp>
        <p:nvSpPr>
          <p:cNvPr id="229380" name="Rectangle 4"/>
          <p:cNvSpPr>
            <a:spLocks noGrp="1" noChangeArrowheads="1"/>
          </p:cNvSpPr>
          <p:nvPr>
            <p:ph sz="quarter" idx="1"/>
            <p:custDataLst>
              <p:tags r:id="rId2"/>
            </p:custDataLst>
          </p:nvPr>
        </p:nvSpPr>
        <p:spPr>
          <a:xfrm>
            <a:off x="2757488" y="1447800"/>
            <a:ext cx="5319712" cy="4694238"/>
          </a:xfrm>
          <a:noFill/>
          <a:ln/>
        </p:spPr>
        <p:txBody>
          <a:bodyPr/>
          <a:lstStyle/>
          <a:p>
            <a:pPr marL="342900" indent="-342900"/>
            <a:endParaRPr lang="en-US"/>
          </a:p>
          <a:p>
            <a:pPr marL="342900" indent="-342900">
              <a:buFont typeface="Wingdings" pitchFamily="2" charset="2"/>
              <a:buNone/>
            </a:pPr>
            <a:endParaRPr lang="en-US"/>
          </a:p>
        </p:txBody>
      </p:sp>
      <p:sp>
        <p:nvSpPr>
          <p:cNvPr id="229384" name="AutoShape 8"/>
          <p:cNvSpPr>
            <a:spLocks noChangeArrowheads="1"/>
          </p:cNvSpPr>
          <p:nvPr>
            <p:custDataLst>
              <p:tags r:id="rId3"/>
            </p:custDataLst>
          </p:nvPr>
        </p:nvSpPr>
        <p:spPr bwMode="auto">
          <a:xfrm>
            <a:off x="1000578" y="1868713"/>
            <a:ext cx="6708775" cy="177958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rIns="0" anchor="ctr"/>
          <a:lstStyle/>
          <a:p>
            <a:pPr marL="231775" indent="-231775" algn="l">
              <a:buClrTx/>
              <a:buSzPct val="80000"/>
              <a:buFontTx/>
              <a:buBlip>
                <a:blip r:embed="rId6"/>
              </a:buBlip>
            </a:pPr>
            <a:r>
              <a:rPr lang="en-GB" sz="2200">
                <a:solidFill>
                  <a:srgbClr val="000000"/>
                </a:solidFill>
              </a:rPr>
              <a:t>Activer l'actualisation automatique des statistiques DHCP</a:t>
            </a:r>
            <a:endParaRPr lang="en-US" sz="2200"/>
          </a:p>
          <a:p>
            <a:pPr marL="231775" indent="-231775" algn="l">
              <a:buClrTx/>
              <a:buSzPct val="80000"/>
              <a:buFontTx/>
              <a:buBlip>
                <a:blip r:embed="rId6"/>
              </a:buBlip>
            </a:pPr>
            <a:r>
              <a:rPr lang="en-GB" sz="2200">
                <a:solidFill>
                  <a:srgbClr val="000000"/>
                </a:solidFill>
              </a:rPr>
              <a:t>Afficher les statistiques de serveur DHCP</a:t>
            </a:r>
            <a:endParaRPr lang="en-US" sz="2200"/>
          </a:p>
          <a:p>
            <a:pPr marL="231775" indent="-231775" algn="l">
              <a:buClrTx/>
              <a:buSzPct val="80000"/>
              <a:buFontTx/>
              <a:buBlip>
                <a:blip r:embed="rId6"/>
              </a:buBlip>
            </a:pPr>
            <a:r>
              <a:rPr lang="en-GB" sz="2200">
                <a:solidFill>
                  <a:srgbClr val="000000"/>
                </a:solidFill>
              </a:rPr>
              <a:t>Afficher les statistiques d'étendue DHCP</a:t>
            </a:r>
            <a:endParaRPr lang="it-IT" sz="2200">
              <a:solidFill>
                <a:srgbClr val="000000"/>
              </a:solidFill>
            </a:endParaRPr>
          </a:p>
        </p:txBody>
      </p:sp>
      <p:sp>
        <p:nvSpPr>
          <p:cNvPr id="8" name="Triangle isocèle 7">
            <a:hlinkClick r:id="rId7" action="ppaction://hlinkfile"/>
          </p:cNvPr>
          <p:cNvSpPr/>
          <p:nvPr/>
        </p:nvSpPr>
        <p:spPr>
          <a:xfrm rot="5400000">
            <a:off x="3556000" y="4107543"/>
            <a:ext cx="1175657" cy="914400"/>
          </a:xfrm>
          <a:prstGeom prst="triangle">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Rectangle 3"/>
          <p:cNvSpPr>
            <a:spLocks noGrp="1" noChangeArrowheads="1"/>
          </p:cNvSpPr>
          <p:nvPr>
            <p:ph type="title"/>
            <p:custDataLst>
              <p:tags r:id="rId2"/>
            </p:custDataLst>
          </p:nvPr>
        </p:nvSpPr>
        <p:spPr>
          <a:xfrm>
            <a:off x="243113" y="339045"/>
            <a:ext cx="8639629" cy="684212"/>
          </a:xfrm>
        </p:spPr>
        <p:txBody>
          <a:bodyPr vert="horz" anchor="b">
            <a:noAutofit/>
          </a:bodyPr>
          <a:lstStyle/>
          <a:p>
            <a:r>
              <a:rPr lang="fr-FR" sz="2600" b="1" dirty="0">
                <a:solidFill>
                  <a:srgbClr val="C00000"/>
                </a:solidFill>
              </a:rPr>
              <a:t>Qu'est-ce qu'un fichier journal d'audit DHCP ?</a:t>
            </a:r>
            <a:endParaRPr lang="en-US" sz="2600" b="1" dirty="0">
              <a:solidFill>
                <a:srgbClr val="C00000"/>
              </a:solidFill>
            </a:endParaRPr>
          </a:p>
        </p:txBody>
      </p:sp>
      <p:graphicFrame>
        <p:nvGraphicFramePr>
          <p:cNvPr id="204893" name="Object 93"/>
          <p:cNvGraphicFramePr>
            <a:graphicFrameLocks noChangeAspect="1"/>
          </p:cNvGraphicFramePr>
          <p:nvPr>
            <p:ph sz="half" idx="1"/>
          </p:nvPr>
        </p:nvGraphicFramePr>
        <p:xfrm>
          <a:off x="1165890" y="2856498"/>
          <a:ext cx="5118100" cy="3489325"/>
        </p:xfrm>
        <a:graphic>
          <a:graphicData uri="http://schemas.openxmlformats.org/presentationml/2006/ole">
            <p:oleObj spid="_x0000_s204893" name="Imagem de bitmap" r:id="rId7" imgW="5714286" imgH="3895238" progId="PBrush">
              <p:embed/>
            </p:oleObj>
          </a:graphicData>
        </a:graphic>
      </p:graphicFrame>
      <p:sp>
        <p:nvSpPr>
          <p:cNvPr id="204813" name="Line 13"/>
          <p:cNvSpPr>
            <a:spLocks noChangeShapeType="1"/>
          </p:cNvSpPr>
          <p:nvPr/>
        </p:nvSpPr>
        <p:spPr bwMode="auto">
          <a:xfrm>
            <a:off x="1114727" y="4167773"/>
            <a:ext cx="0" cy="0"/>
          </a:xfrm>
          <a:prstGeom prst="line">
            <a:avLst/>
          </a:prstGeom>
          <a:noFill/>
          <a:ln w="9525">
            <a:noFill/>
            <a:round/>
            <a:headEnd/>
            <a:tailEnd/>
          </a:ln>
          <a:effectLst/>
        </p:spPr>
        <p:txBody>
          <a:bodyPr lIns="0" tIns="0" rIns="0" bIns="0"/>
          <a:lstStyle/>
          <a:p>
            <a:endParaRPr lang="fr-FR"/>
          </a:p>
        </p:txBody>
      </p:sp>
      <p:grpSp>
        <p:nvGrpSpPr>
          <p:cNvPr id="204901" name="Group 101"/>
          <p:cNvGrpSpPr>
            <a:grpSpLocks/>
          </p:cNvGrpSpPr>
          <p:nvPr/>
        </p:nvGrpSpPr>
        <p:grpSpPr bwMode="auto">
          <a:xfrm>
            <a:off x="1116315" y="2727236"/>
            <a:ext cx="7901417" cy="4032925"/>
            <a:chOff x="1057" y="2004"/>
            <a:chExt cx="4006" cy="1981"/>
          </a:xfrm>
        </p:grpSpPr>
        <p:sp>
          <p:nvSpPr>
            <p:cNvPr id="204851" name="Oval 51"/>
            <p:cNvSpPr>
              <a:spLocks noChangeArrowheads="1"/>
            </p:cNvSpPr>
            <p:nvPr>
              <p:custDataLst>
                <p:tags r:id="rId3"/>
              </p:custDataLst>
            </p:nvPr>
          </p:nvSpPr>
          <p:spPr bwMode="auto">
            <a:xfrm>
              <a:off x="1057" y="2748"/>
              <a:ext cx="828" cy="105"/>
            </a:xfrm>
            <a:prstGeom prst="ellipse">
              <a:avLst/>
            </a:prstGeom>
            <a:noFill/>
            <a:ln w="38100" algn="ctr">
              <a:solidFill>
                <a:srgbClr val="CC0000"/>
              </a:solidFill>
              <a:round/>
              <a:headEnd/>
              <a:tailEnd/>
            </a:ln>
            <a:effectLst/>
          </p:spPr>
          <p:txBody>
            <a:bodyPr wrap="none" anchor="ctr"/>
            <a:lstStyle/>
            <a:p>
              <a:endParaRPr lang="fr-FR"/>
            </a:p>
          </p:txBody>
        </p:sp>
        <p:sp>
          <p:nvSpPr>
            <p:cNvPr id="204865" name="Line 65"/>
            <p:cNvSpPr>
              <a:spLocks noChangeShapeType="1"/>
            </p:cNvSpPr>
            <p:nvPr>
              <p:custDataLst>
                <p:tags r:id="rId4"/>
              </p:custDataLst>
            </p:nvPr>
          </p:nvSpPr>
          <p:spPr bwMode="auto">
            <a:xfrm>
              <a:off x="1883" y="2802"/>
              <a:ext cx="474" cy="2"/>
            </a:xfrm>
            <a:prstGeom prst="line">
              <a:avLst/>
            </a:prstGeom>
            <a:noFill/>
            <a:ln w="38100">
              <a:solidFill>
                <a:srgbClr val="CC0000"/>
              </a:solidFill>
              <a:round/>
              <a:headEnd/>
              <a:tailEnd/>
            </a:ln>
            <a:effectLst/>
          </p:spPr>
          <p:txBody>
            <a:bodyPr wrap="none" anchor="ctr"/>
            <a:lstStyle/>
            <a:p>
              <a:endParaRPr lang="fr-FR"/>
            </a:p>
          </p:txBody>
        </p:sp>
        <p:graphicFrame>
          <p:nvGraphicFramePr>
            <p:cNvPr id="204898" name="Object 98"/>
            <p:cNvGraphicFramePr>
              <a:graphicFrameLocks noChangeAspect="1"/>
            </p:cNvGraphicFramePr>
            <p:nvPr/>
          </p:nvGraphicFramePr>
          <p:xfrm>
            <a:off x="2268" y="2004"/>
            <a:ext cx="2795" cy="1981"/>
          </p:xfrm>
          <a:graphic>
            <a:graphicData uri="http://schemas.openxmlformats.org/presentationml/2006/ole">
              <p:oleObj spid="_x0000_s204898" name="Imagem de bitmap" r:id="rId8" imgW="5495238" imgH="3895238" progId="PBrush">
                <p:embed/>
              </p:oleObj>
            </a:graphicData>
          </a:graphic>
        </p:graphicFrame>
      </p:grpSp>
      <p:grpSp>
        <p:nvGrpSpPr>
          <p:cNvPr id="204902" name="Group 102"/>
          <p:cNvGrpSpPr>
            <a:grpSpLocks/>
          </p:cNvGrpSpPr>
          <p:nvPr/>
        </p:nvGrpSpPr>
        <p:grpSpPr bwMode="auto">
          <a:xfrm>
            <a:off x="110316" y="6346187"/>
            <a:ext cx="914400" cy="425450"/>
            <a:chOff x="384" y="3024"/>
            <a:chExt cx="720" cy="336"/>
          </a:xfrm>
        </p:grpSpPr>
        <p:sp>
          <p:nvSpPr>
            <p:cNvPr id="204903" name="Oval 103"/>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204904" name="Group 104"/>
            <p:cNvGrpSpPr>
              <a:grpSpLocks/>
            </p:cNvGrpSpPr>
            <p:nvPr/>
          </p:nvGrpSpPr>
          <p:grpSpPr bwMode="auto">
            <a:xfrm>
              <a:off x="480" y="3096"/>
              <a:ext cx="240" cy="192"/>
              <a:chOff x="480" y="3096"/>
              <a:chExt cx="240" cy="192"/>
            </a:xfrm>
          </p:grpSpPr>
          <p:sp>
            <p:nvSpPr>
              <p:cNvPr id="204905" name="Oval 105"/>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204906" name="Freeform 106"/>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204907" name="Group 107"/>
          <p:cNvGrpSpPr>
            <a:grpSpLocks/>
          </p:cNvGrpSpPr>
          <p:nvPr/>
        </p:nvGrpSpPr>
        <p:grpSpPr bwMode="auto">
          <a:xfrm>
            <a:off x="597679" y="6436675"/>
            <a:ext cx="304800" cy="244475"/>
            <a:chOff x="768" y="3096"/>
            <a:chExt cx="240" cy="192"/>
          </a:xfrm>
        </p:grpSpPr>
        <p:sp>
          <p:nvSpPr>
            <p:cNvPr id="204908" name="Oval 108"/>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204909" name="Rectangle 109"/>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19" name="Rectangle 18"/>
          <p:cNvSpPr/>
          <p:nvPr/>
        </p:nvSpPr>
        <p:spPr>
          <a:xfrm>
            <a:off x="210456" y="1314305"/>
            <a:ext cx="8933544" cy="1661993"/>
          </a:xfrm>
          <a:prstGeom prst="rect">
            <a:avLst/>
          </a:prstGeom>
        </p:spPr>
        <p:txBody>
          <a:bodyPr wrap="square">
            <a:spAutoFit/>
          </a:bodyPr>
          <a:lstStyle/>
          <a:p>
            <a:pPr algn="l" eaLnBrk="1" hangingPunct="1">
              <a:lnSpc>
                <a:spcPct val="85000"/>
              </a:lnSpc>
              <a:spcBef>
                <a:spcPct val="0"/>
              </a:spcBef>
              <a:buClrTx/>
              <a:buSzTx/>
              <a:buFontTx/>
              <a:buNone/>
            </a:pPr>
            <a:r>
              <a:rPr lang="en-GB" dirty="0" err="1" smtClean="0">
                <a:solidFill>
                  <a:srgbClr val="000000"/>
                </a:solidFill>
              </a:rPr>
              <a:t>Où</a:t>
            </a:r>
            <a:r>
              <a:rPr lang="en-GB" dirty="0" smtClean="0">
                <a:solidFill>
                  <a:srgbClr val="000000"/>
                </a:solidFill>
              </a:rPr>
              <a:t> </a:t>
            </a:r>
            <a:r>
              <a:rPr lang="en-GB" dirty="0" err="1" smtClean="0">
                <a:solidFill>
                  <a:srgbClr val="000000"/>
                </a:solidFill>
              </a:rPr>
              <a:t>sont</a:t>
            </a:r>
            <a:r>
              <a:rPr lang="en-GB" dirty="0" smtClean="0">
                <a:solidFill>
                  <a:srgbClr val="000000"/>
                </a:solidFill>
              </a:rPr>
              <a:t> </a:t>
            </a:r>
            <a:r>
              <a:rPr lang="en-GB" dirty="0" err="1" smtClean="0">
                <a:solidFill>
                  <a:srgbClr val="000000"/>
                </a:solidFill>
              </a:rPr>
              <a:t>consignés</a:t>
            </a:r>
            <a:r>
              <a:rPr lang="en-GB" dirty="0" smtClean="0">
                <a:solidFill>
                  <a:srgbClr val="000000"/>
                </a:solidFill>
              </a:rPr>
              <a:t> des </a:t>
            </a:r>
            <a:r>
              <a:rPr lang="en-GB" dirty="0" err="1" smtClean="0">
                <a:solidFill>
                  <a:srgbClr val="000000"/>
                </a:solidFill>
              </a:rPr>
              <a:t>événements</a:t>
            </a:r>
            <a:r>
              <a:rPr lang="en-GB" dirty="0" smtClean="0">
                <a:solidFill>
                  <a:srgbClr val="000000"/>
                </a:solidFill>
              </a:rPr>
              <a:t> </a:t>
            </a:r>
            <a:r>
              <a:rPr lang="en-GB" dirty="0" err="1" smtClean="0">
                <a:solidFill>
                  <a:srgbClr val="000000"/>
                </a:solidFill>
              </a:rPr>
              <a:t>relatifs</a:t>
            </a:r>
            <a:r>
              <a:rPr lang="en-GB" dirty="0" smtClean="0">
                <a:solidFill>
                  <a:srgbClr val="000000"/>
                </a:solidFill>
              </a:rPr>
              <a:t> à un service, </a:t>
            </a:r>
            <a:r>
              <a:rPr lang="en-GB" dirty="0" err="1" smtClean="0">
                <a:solidFill>
                  <a:srgbClr val="000000"/>
                </a:solidFill>
              </a:rPr>
              <a:t>exemple</a:t>
            </a:r>
            <a:r>
              <a:rPr lang="en-GB" dirty="0" smtClean="0">
                <a:solidFill>
                  <a:srgbClr val="000000"/>
                </a:solidFill>
              </a:rPr>
              <a:t>: </a:t>
            </a:r>
          </a:p>
          <a:p>
            <a:pPr algn="l" eaLnBrk="1" hangingPunct="1">
              <a:lnSpc>
                <a:spcPct val="85000"/>
              </a:lnSpc>
              <a:spcBef>
                <a:spcPct val="0"/>
              </a:spcBef>
              <a:buClrTx/>
              <a:buSzTx/>
              <a:buFont typeface="Wingdings" pitchFamily="2" charset="2"/>
              <a:buChar char="§"/>
            </a:pPr>
            <a:r>
              <a:rPr lang="en-GB" dirty="0" err="1" smtClean="0">
                <a:solidFill>
                  <a:srgbClr val="000000"/>
                </a:solidFill>
              </a:rPr>
              <a:t>Lorsque</a:t>
            </a:r>
            <a:r>
              <a:rPr lang="en-GB" dirty="0" smtClean="0">
                <a:solidFill>
                  <a:srgbClr val="000000"/>
                </a:solidFill>
              </a:rPr>
              <a:t> le service </a:t>
            </a:r>
            <a:r>
              <a:rPr lang="en-GB" dirty="0" err="1" smtClean="0">
                <a:solidFill>
                  <a:srgbClr val="000000"/>
                </a:solidFill>
              </a:rPr>
              <a:t>démarre</a:t>
            </a:r>
            <a:r>
              <a:rPr lang="en-GB" dirty="0" smtClean="0">
                <a:solidFill>
                  <a:srgbClr val="000000"/>
                </a:solidFill>
              </a:rPr>
              <a:t> </a:t>
            </a:r>
            <a:r>
              <a:rPr lang="en-GB" dirty="0" err="1" smtClean="0">
                <a:solidFill>
                  <a:srgbClr val="000000"/>
                </a:solidFill>
              </a:rPr>
              <a:t>ou</a:t>
            </a:r>
            <a:r>
              <a:rPr lang="en-GB" dirty="0" smtClean="0">
                <a:solidFill>
                  <a:srgbClr val="000000"/>
                </a:solidFill>
              </a:rPr>
              <a:t> </a:t>
            </a:r>
            <a:r>
              <a:rPr lang="en-GB" dirty="0" err="1" smtClean="0">
                <a:solidFill>
                  <a:srgbClr val="000000"/>
                </a:solidFill>
              </a:rPr>
              <a:t>s'arrête</a:t>
            </a:r>
            <a:endParaRPr lang="en-GB" dirty="0" smtClean="0">
              <a:solidFill>
                <a:srgbClr val="000000"/>
              </a:solidFill>
            </a:endParaRPr>
          </a:p>
          <a:p>
            <a:pPr algn="l" eaLnBrk="1" hangingPunct="1">
              <a:lnSpc>
                <a:spcPct val="85000"/>
              </a:lnSpc>
              <a:spcBef>
                <a:spcPct val="0"/>
              </a:spcBef>
              <a:buClrTx/>
              <a:buSzTx/>
              <a:buFont typeface="Wingdings" pitchFamily="2" charset="2"/>
              <a:buChar char="§"/>
            </a:pPr>
            <a:r>
              <a:rPr lang="en-GB" dirty="0" err="1" smtClean="0">
                <a:solidFill>
                  <a:srgbClr val="000000"/>
                </a:solidFill>
              </a:rPr>
              <a:t>Lorsque</a:t>
            </a:r>
            <a:r>
              <a:rPr lang="en-GB" dirty="0" smtClean="0">
                <a:solidFill>
                  <a:srgbClr val="000000"/>
                </a:solidFill>
              </a:rPr>
              <a:t>  des </a:t>
            </a:r>
            <a:r>
              <a:rPr lang="en-GB" dirty="0" err="1" smtClean="0">
                <a:solidFill>
                  <a:srgbClr val="000000"/>
                </a:solidFill>
              </a:rPr>
              <a:t>autorisations</a:t>
            </a:r>
            <a:r>
              <a:rPr lang="en-GB" dirty="0" smtClean="0">
                <a:solidFill>
                  <a:srgbClr val="000000"/>
                </a:solidFill>
              </a:rPr>
              <a:t> </a:t>
            </a:r>
            <a:r>
              <a:rPr lang="en-GB" dirty="0" err="1" smtClean="0">
                <a:solidFill>
                  <a:srgbClr val="000000"/>
                </a:solidFill>
              </a:rPr>
              <a:t>ont</a:t>
            </a:r>
            <a:r>
              <a:rPr lang="en-GB" dirty="0" smtClean="0">
                <a:solidFill>
                  <a:srgbClr val="000000"/>
                </a:solidFill>
              </a:rPr>
              <a:t> </a:t>
            </a:r>
            <a:r>
              <a:rPr lang="en-GB" dirty="0" err="1" smtClean="0">
                <a:solidFill>
                  <a:srgbClr val="000000"/>
                </a:solidFill>
              </a:rPr>
              <a:t>été</a:t>
            </a:r>
            <a:r>
              <a:rPr lang="en-GB" dirty="0" smtClean="0">
                <a:solidFill>
                  <a:srgbClr val="000000"/>
                </a:solidFill>
              </a:rPr>
              <a:t> </a:t>
            </a:r>
            <a:r>
              <a:rPr lang="en-GB" dirty="0" err="1" smtClean="0">
                <a:solidFill>
                  <a:srgbClr val="000000"/>
                </a:solidFill>
              </a:rPr>
              <a:t>vérifiées</a:t>
            </a:r>
            <a:endParaRPr lang="en-GB" dirty="0" smtClean="0">
              <a:solidFill>
                <a:srgbClr val="000000"/>
              </a:solidFill>
            </a:endParaRPr>
          </a:p>
          <a:p>
            <a:pPr algn="l" eaLnBrk="1" hangingPunct="1">
              <a:lnSpc>
                <a:spcPct val="85000"/>
              </a:lnSpc>
              <a:spcBef>
                <a:spcPct val="0"/>
              </a:spcBef>
              <a:buClrTx/>
              <a:buSzTx/>
              <a:buFont typeface="Wingdings" pitchFamily="2" charset="2"/>
              <a:buChar char="§"/>
            </a:pPr>
            <a:r>
              <a:rPr lang="en-GB" dirty="0" err="1" smtClean="0">
                <a:solidFill>
                  <a:srgbClr val="000000"/>
                </a:solidFill>
              </a:rPr>
              <a:t>Lorsque</a:t>
            </a:r>
            <a:r>
              <a:rPr lang="en-GB" dirty="0" smtClean="0">
                <a:solidFill>
                  <a:srgbClr val="000000"/>
                </a:solidFill>
              </a:rPr>
              <a:t>  des </a:t>
            </a:r>
            <a:r>
              <a:rPr lang="en-GB" dirty="0" err="1" smtClean="0">
                <a:solidFill>
                  <a:srgbClr val="000000"/>
                </a:solidFill>
              </a:rPr>
              <a:t>adresses</a:t>
            </a:r>
            <a:r>
              <a:rPr lang="en-GB" dirty="0" smtClean="0">
                <a:solidFill>
                  <a:srgbClr val="000000"/>
                </a:solidFill>
              </a:rPr>
              <a:t> IP </a:t>
            </a:r>
            <a:r>
              <a:rPr lang="en-GB" dirty="0" err="1" smtClean="0">
                <a:solidFill>
                  <a:srgbClr val="000000"/>
                </a:solidFill>
              </a:rPr>
              <a:t>sont</a:t>
            </a:r>
            <a:r>
              <a:rPr lang="en-GB" dirty="0" smtClean="0">
                <a:solidFill>
                  <a:srgbClr val="000000"/>
                </a:solidFill>
              </a:rPr>
              <a:t> </a:t>
            </a:r>
            <a:r>
              <a:rPr lang="en-GB" dirty="0" err="1" smtClean="0">
                <a:solidFill>
                  <a:srgbClr val="000000"/>
                </a:solidFill>
              </a:rPr>
              <a:t>louées</a:t>
            </a:r>
            <a:r>
              <a:rPr lang="en-GB" dirty="0" smtClean="0">
                <a:solidFill>
                  <a:srgbClr val="000000"/>
                </a:solidFill>
              </a:rPr>
              <a:t>, </a:t>
            </a:r>
            <a:r>
              <a:rPr lang="en-GB" dirty="0" err="1" smtClean="0">
                <a:solidFill>
                  <a:srgbClr val="000000"/>
                </a:solidFill>
              </a:rPr>
              <a:t>renouvelées</a:t>
            </a:r>
            <a:r>
              <a:rPr lang="en-GB" dirty="0" smtClean="0">
                <a:solidFill>
                  <a:srgbClr val="000000"/>
                </a:solidFill>
              </a:rPr>
              <a:t>, </a:t>
            </a:r>
            <a:r>
              <a:rPr lang="en-GB" dirty="0" err="1" smtClean="0">
                <a:solidFill>
                  <a:srgbClr val="000000"/>
                </a:solidFill>
              </a:rPr>
              <a:t>libérées</a:t>
            </a:r>
            <a:r>
              <a:rPr lang="en-GB" dirty="0" smtClean="0">
                <a:solidFill>
                  <a:srgbClr val="000000"/>
                </a:solidFill>
              </a:rPr>
              <a:t> </a:t>
            </a:r>
            <a:r>
              <a:rPr lang="en-GB" dirty="0" err="1" smtClean="0">
                <a:solidFill>
                  <a:srgbClr val="000000"/>
                </a:solidFill>
              </a:rPr>
              <a:t>ou</a:t>
            </a:r>
            <a:r>
              <a:rPr lang="en-GB" dirty="0" smtClean="0">
                <a:solidFill>
                  <a:srgbClr val="000000"/>
                </a:solidFill>
              </a:rPr>
              <a:t> </a:t>
            </a:r>
            <a:r>
              <a:rPr lang="en-GB" dirty="0" err="1" smtClean="0">
                <a:solidFill>
                  <a:srgbClr val="000000"/>
                </a:solidFill>
              </a:rPr>
              <a:t>refusées</a:t>
            </a:r>
            <a:endParaRPr lang="en-US"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901"/>
                                        </p:tgtEl>
                                        <p:attrNameLst>
                                          <p:attrName>style.visibility</p:attrName>
                                        </p:attrNameLst>
                                      </p:cBhvr>
                                      <p:to>
                                        <p:strVal val="visible"/>
                                      </p:to>
                                    </p:set>
                                    <p:animEffect transition="in" filter="dissolve">
                                      <p:cBhvr>
                                        <p:cTn id="7" dur="500"/>
                                        <p:tgtEl>
                                          <p:spTgt spid="204901"/>
                                        </p:tgtEl>
                                      </p:cBhvr>
                                    </p:animEffect>
                                  </p:childTnLst>
                                </p:cTn>
                              </p:par>
                              <p:par>
                                <p:cTn id="8" presetID="1" presetClass="entr" presetSubtype="0" fill="hold" nodeType="withEffect">
                                  <p:stCondLst>
                                    <p:cond delay="0"/>
                                  </p:stCondLst>
                                  <p:childTnLst>
                                    <p:set>
                                      <p:cBhvr>
                                        <p:cTn id="9" dur="1" fill="hold">
                                          <p:stCondLst>
                                            <p:cond delay="0"/>
                                          </p:stCondLst>
                                        </p:cTn>
                                        <p:tgtEl>
                                          <p:spTgt spid="2049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custDataLst>
              <p:tags r:id="rId1"/>
            </p:custDataLst>
          </p:nvPr>
        </p:nvSpPr>
        <p:spPr>
          <a:xfrm>
            <a:off x="167640" y="505890"/>
            <a:ext cx="8793480" cy="494066"/>
          </a:xfrm>
        </p:spPr>
        <p:txBody>
          <a:bodyPr vert="horz" anchor="b">
            <a:noAutofit/>
          </a:bodyPr>
          <a:lstStyle/>
          <a:p>
            <a:r>
              <a:rPr lang="fr-FR" sz="2600" dirty="0">
                <a:solidFill>
                  <a:srgbClr val="C00000"/>
                </a:solidFill>
              </a:rPr>
              <a:t>Fonctionnement de l'enregistrement </a:t>
            </a:r>
            <a:r>
              <a:rPr lang="fr-FR" sz="2600" dirty="0" smtClean="0">
                <a:solidFill>
                  <a:srgbClr val="C00000"/>
                </a:solidFill>
              </a:rPr>
              <a:t>d'audit </a:t>
            </a:r>
            <a:r>
              <a:rPr lang="fr-FR" sz="2600" dirty="0">
                <a:solidFill>
                  <a:srgbClr val="C00000"/>
                </a:solidFill>
              </a:rPr>
              <a:t>DHCP</a:t>
            </a:r>
            <a:endParaRPr lang="en-US" sz="2600" dirty="0">
              <a:solidFill>
                <a:srgbClr val="C00000"/>
              </a:solidFill>
            </a:endParaRPr>
          </a:p>
        </p:txBody>
      </p:sp>
      <p:pic>
        <p:nvPicPr>
          <p:cNvPr id="237603" name="Picture 35" descr="ClockAtNoon"/>
          <p:cNvPicPr>
            <a:picLocks noChangeAspect="1" noChangeArrowheads="1"/>
          </p:cNvPicPr>
          <p:nvPr/>
        </p:nvPicPr>
        <p:blipFill>
          <a:blip r:embed="rId4" cstate="print"/>
          <a:srcRect/>
          <a:stretch>
            <a:fillRect/>
          </a:stretch>
        </p:blipFill>
        <p:spPr bwMode="auto">
          <a:xfrm>
            <a:off x="4003675" y="1749461"/>
            <a:ext cx="835025" cy="895350"/>
          </a:xfrm>
          <a:prstGeom prst="rect">
            <a:avLst/>
          </a:prstGeom>
          <a:noFill/>
        </p:spPr>
      </p:pic>
      <p:pic>
        <p:nvPicPr>
          <p:cNvPr id="237604" name="Picture 36" descr="Arrows-72dpi"/>
          <p:cNvPicPr>
            <a:picLocks noChangeAspect="1" noChangeArrowheads="1"/>
          </p:cNvPicPr>
          <p:nvPr/>
        </p:nvPicPr>
        <p:blipFill>
          <a:blip r:embed="rId5"/>
          <a:srcRect/>
          <a:stretch>
            <a:fillRect/>
          </a:stretch>
        </p:blipFill>
        <p:spPr bwMode="auto">
          <a:xfrm>
            <a:off x="2723169" y="2589248"/>
            <a:ext cx="4446888" cy="2616030"/>
          </a:xfrm>
          <a:prstGeom prst="rect">
            <a:avLst/>
          </a:prstGeom>
          <a:noFill/>
        </p:spPr>
      </p:pic>
      <p:sp>
        <p:nvSpPr>
          <p:cNvPr id="237605" name="Text Box 37"/>
          <p:cNvSpPr txBox="1">
            <a:spLocks noChangeArrowheads="1"/>
          </p:cNvSpPr>
          <p:nvPr/>
        </p:nvSpPr>
        <p:spPr bwMode="auto">
          <a:xfrm>
            <a:off x="2091421" y="3290466"/>
            <a:ext cx="2381250" cy="701675"/>
          </a:xfrm>
          <a:prstGeom prst="rect">
            <a:avLst/>
          </a:prstGeom>
          <a:noFill/>
          <a:ln w="9525" algn="ctr">
            <a:noFill/>
            <a:miter lim="800000"/>
            <a:headEnd/>
            <a:tailEnd/>
          </a:ln>
          <a:effectLst/>
        </p:spPr>
        <p:txBody>
          <a:bodyPr wrap="none">
            <a:spAutoFit/>
          </a:bodyPr>
          <a:lstStyle/>
          <a:p>
            <a:pPr>
              <a:lnSpc>
                <a:spcPct val="100000"/>
              </a:lnSpc>
              <a:spcBef>
                <a:spcPct val="0"/>
              </a:spcBef>
              <a:buClrTx/>
              <a:buSzTx/>
              <a:buFontTx/>
              <a:buNone/>
            </a:pPr>
            <a:r>
              <a:rPr lang="fr-FR" sz="2000" dirty="0"/>
              <a:t>3. DHCP ferme journal</a:t>
            </a:r>
            <a:br>
              <a:rPr lang="fr-FR" sz="2000" dirty="0"/>
            </a:br>
            <a:r>
              <a:rPr lang="fr-FR" sz="2000" dirty="0"/>
              <a:t>d'audit quotidien</a:t>
            </a:r>
            <a:endParaRPr lang="en-US" sz="2000" dirty="0"/>
          </a:p>
        </p:txBody>
      </p:sp>
      <p:sp>
        <p:nvSpPr>
          <p:cNvPr id="237606" name="Text Box 38"/>
          <p:cNvSpPr txBox="1">
            <a:spLocks noChangeArrowheads="1"/>
          </p:cNvSpPr>
          <p:nvPr/>
        </p:nvSpPr>
        <p:spPr bwMode="auto">
          <a:xfrm>
            <a:off x="3370263" y="4248408"/>
            <a:ext cx="2447925" cy="701675"/>
          </a:xfrm>
          <a:prstGeom prst="rect">
            <a:avLst/>
          </a:prstGeom>
          <a:noFill/>
          <a:ln w="9525" algn="ctr">
            <a:noFill/>
            <a:miter lim="800000"/>
            <a:headEnd/>
            <a:tailEnd/>
          </a:ln>
          <a:effectLst/>
        </p:spPr>
        <p:txBody>
          <a:bodyPr wrap="none">
            <a:spAutoFit/>
          </a:bodyPr>
          <a:lstStyle/>
          <a:p>
            <a:pPr>
              <a:lnSpc>
                <a:spcPct val="100000"/>
              </a:lnSpc>
              <a:spcBef>
                <a:spcPct val="0"/>
              </a:spcBef>
              <a:buClrTx/>
              <a:buSzTx/>
              <a:buFontTx/>
              <a:buNone/>
            </a:pPr>
            <a:r>
              <a:rPr lang="fr-FR" sz="2000" dirty="0"/>
              <a:t>2. DHCP effectue des</a:t>
            </a:r>
          </a:p>
          <a:p>
            <a:pPr>
              <a:lnSpc>
                <a:spcPct val="100000"/>
              </a:lnSpc>
              <a:spcBef>
                <a:spcPct val="0"/>
              </a:spcBef>
              <a:buClrTx/>
              <a:buSzTx/>
              <a:buFontTx/>
              <a:buNone/>
            </a:pPr>
            <a:r>
              <a:rPr lang="fr-FR" sz="2000" dirty="0"/>
              <a:t>vérifications du disque</a:t>
            </a:r>
          </a:p>
        </p:txBody>
      </p:sp>
      <p:sp>
        <p:nvSpPr>
          <p:cNvPr id="237607" name="Text Box 39"/>
          <p:cNvSpPr txBox="1">
            <a:spLocks noChangeArrowheads="1"/>
          </p:cNvSpPr>
          <p:nvPr/>
        </p:nvSpPr>
        <p:spPr bwMode="auto">
          <a:xfrm>
            <a:off x="4486275" y="3263026"/>
            <a:ext cx="2598738" cy="701675"/>
          </a:xfrm>
          <a:prstGeom prst="rect">
            <a:avLst/>
          </a:prstGeom>
          <a:noFill/>
          <a:ln w="9525" algn="ctr">
            <a:noFill/>
            <a:miter lim="800000"/>
            <a:headEnd/>
            <a:tailEnd/>
          </a:ln>
          <a:effectLst/>
        </p:spPr>
        <p:txBody>
          <a:bodyPr wrap="none">
            <a:spAutoFit/>
          </a:bodyPr>
          <a:lstStyle/>
          <a:p>
            <a:pPr>
              <a:lnSpc>
                <a:spcPct val="100000"/>
              </a:lnSpc>
              <a:spcBef>
                <a:spcPct val="0"/>
              </a:spcBef>
              <a:buClrTx/>
              <a:buSzTx/>
              <a:buFontTx/>
              <a:buNone/>
            </a:pPr>
            <a:r>
              <a:rPr lang="fr-FR" sz="2000" dirty="0"/>
              <a:t>1. DHCP ouvre le</a:t>
            </a:r>
          </a:p>
          <a:p>
            <a:pPr>
              <a:lnSpc>
                <a:spcPct val="100000"/>
              </a:lnSpc>
              <a:spcBef>
                <a:spcPct val="0"/>
              </a:spcBef>
              <a:buClrTx/>
              <a:buSzTx/>
              <a:buFontTx/>
              <a:buNone/>
            </a:pPr>
            <a:r>
              <a:rPr lang="fr-FR" sz="2000" dirty="0"/>
              <a:t>journal d'audit quotidien</a:t>
            </a:r>
            <a:endParaRPr lang="en-US" sz="2000" dirty="0"/>
          </a:p>
        </p:txBody>
      </p:sp>
      <p:sp>
        <p:nvSpPr>
          <p:cNvPr id="237608" name="AutoShape 40"/>
          <p:cNvSpPr>
            <a:spLocks noChangeArrowheads="1"/>
          </p:cNvSpPr>
          <p:nvPr/>
        </p:nvSpPr>
        <p:spPr bwMode="auto">
          <a:xfrm>
            <a:off x="5638800" y="1717034"/>
            <a:ext cx="3316514" cy="1262739"/>
          </a:xfrm>
          <a:prstGeom prst="roundRect">
            <a:avLst>
              <a:gd name="adj" fmla="val 4167"/>
            </a:avLst>
          </a:prstGeom>
          <a:gradFill rotWithShape="1">
            <a:gsLst>
              <a:gs pos="0">
                <a:srgbClr val="CCB8E4"/>
              </a:gs>
              <a:gs pos="100000">
                <a:srgbClr val="DFD2FF"/>
              </a:gs>
            </a:gsLst>
            <a:lin ang="54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en-US" sz="2000"/>
              <a:t/>
            </a:r>
            <a:br>
              <a:rPr lang="en-US" sz="2000"/>
            </a:br>
            <a:r>
              <a:rPr lang="en-US" sz="2000"/>
              <a:t/>
            </a:r>
            <a:br>
              <a:rPr lang="en-US" sz="2000"/>
            </a:br>
            <a:r>
              <a:rPr lang="fr-FR" sz="2000"/>
              <a:t>Le serveur DHCP écrit un </a:t>
            </a:r>
          </a:p>
          <a:p>
            <a:pPr>
              <a:lnSpc>
                <a:spcPct val="85000"/>
              </a:lnSpc>
              <a:spcBef>
                <a:spcPct val="0"/>
              </a:spcBef>
              <a:buClrTx/>
              <a:buSzTx/>
              <a:buFontTx/>
              <a:buNone/>
            </a:pPr>
            <a:r>
              <a:rPr lang="fr-FR" sz="2000"/>
              <a:t>message d'en-tête dans le</a:t>
            </a:r>
          </a:p>
          <a:p>
            <a:pPr>
              <a:lnSpc>
                <a:spcPct val="85000"/>
              </a:lnSpc>
              <a:spcBef>
                <a:spcPct val="0"/>
              </a:spcBef>
              <a:buClrTx/>
              <a:buSzTx/>
              <a:buFontTx/>
              <a:buNone/>
            </a:pPr>
            <a:r>
              <a:rPr lang="fr-FR" sz="2000"/>
              <a:t>journal d'audit pour indiquer </a:t>
            </a:r>
          </a:p>
          <a:p>
            <a:pPr>
              <a:lnSpc>
                <a:spcPct val="85000"/>
              </a:lnSpc>
              <a:spcBef>
                <a:spcPct val="0"/>
              </a:spcBef>
              <a:buClrTx/>
              <a:buSzTx/>
              <a:buFontTx/>
              <a:buNone/>
            </a:pPr>
            <a:r>
              <a:rPr lang="fr-FR" sz="2000"/>
              <a:t>le début de l'enregistrement</a:t>
            </a:r>
          </a:p>
          <a:p>
            <a:pPr>
              <a:lnSpc>
                <a:spcPct val="85000"/>
              </a:lnSpc>
              <a:spcBef>
                <a:spcPct val="0"/>
              </a:spcBef>
              <a:buClrTx/>
              <a:buSzTx/>
              <a:buFontTx/>
              <a:buNone/>
            </a:pPr>
            <a:endParaRPr lang="en-US" sz="2000"/>
          </a:p>
          <a:p>
            <a:pPr>
              <a:lnSpc>
                <a:spcPct val="85000"/>
              </a:lnSpc>
              <a:spcBef>
                <a:spcPct val="0"/>
              </a:spcBef>
              <a:buClrTx/>
              <a:buSzTx/>
              <a:buFontTx/>
              <a:buNone/>
            </a:pPr>
            <a:endParaRPr lang="en-US" sz="2000"/>
          </a:p>
        </p:txBody>
      </p:sp>
      <p:sp>
        <p:nvSpPr>
          <p:cNvPr id="237609" name="AutoShape 41"/>
          <p:cNvSpPr>
            <a:spLocks noChangeArrowheads="1"/>
          </p:cNvSpPr>
          <p:nvPr/>
        </p:nvSpPr>
        <p:spPr bwMode="auto">
          <a:xfrm>
            <a:off x="1043441" y="4978661"/>
            <a:ext cx="7926388" cy="1119188"/>
          </a:xfrm>
          <a:prstGeom prst="roundRect">
            <a:avLst>
              <a:gd name="adj" fmla="val 4167"/>
            </a:avLst>
          </a:prstGeom>
          <a:gradFill rotWithShape="1">
            <a:gsLst>
              <a:gs pos="0">
                <a:srgbClr val="BBCDE3"/>
              </a:gs>
              <a:gs pos="100000">
                <a:srgbClr val="DEE7F1"/>
              </a:gs>
            </a:gsLst>
            <a:lin ang="54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fr-FR" sz="2200" dirty="0"/>
              <a:t>Le disque est vérifié pour s'assurer qu'il reste de l'espace disque disponible sur le serveur et que le fichier journal d'audit actuel ne devient pas trop volumineux ou qu'il ne grossit pas trop vite</a:t>
            </a:r>
          </a:p>
        </p:txBody>
      </p:sp>
      <p:sp>
        <p:nvSpPr>
          <p:cNvPr id="237610" name="AutoShape 42"/>
          <p:cNvSpPr>
            <a:spLocks noChangeArrowheads="1"/>
          </p:cNvSpPr>
          <p:nvPr/>
        </p:nvSpPr>
        <p:spPr bwMode="auto">
          <a:xfrm>
            <a:off x="188686" y="1702520"/>
            <a:ext cx="3010127" cy="1277253"/>
          </a:xfrm>
          <a:prstGeom prst="roundRect">
            <a:avLst>
              <a:gd name="adj" fmla="val 4167"/>
            </a:avLst>
          </a:prstGeom>
          <a:gradFill rotWithShape="1">
            <a:gsLst>
              <a:gs pos="0">
                <a:srgbClr val="F2C9C2"/>
              </a:gs>
              <a:gs pos="100000">
                <a:srgbClr val="F6D9D4"/>
              </a:gs>
            </a:gsLst>
            <a:lin ang="54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spcBef>
                <a:spcPct val="0"/>
              </a:spcBef>
              <a:buClrTx/>
              <a:buSzTx/>
              <a:buFontTx/>
              <a:buNone/>
            </a:pPr>
            <a:r>
              <a:rPr lang="fr-FR" sz="2000" dirty="0"/>
              <a:t>Le serveur DHCP ferme le journal existant et passe au fichier journal du jour suivant de la semaine</a:t>
            </a:r>
          </a:p>
        </p:txBody>
      </p:sp>
      <p:sp>
        <p:nvSpPr>
          <p:cNvPr id="237611" name="AutoShape 43"/>
          <p:cNvSpPr>
            <a:spLocks noChangeArrowheads="1"/>
          </p:cNvSpPr>
          <p:nvPr/>
        </p:nvSpPr>
        <p:spPr bwMode="auto">
          <a:xfrm>
            <a:off x="6991793" y="4046573"/>
            <a:ext cx="1958975" cy="38100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spcBef>
                <a:spcPct val="0"/>
              </a:spcBef>
              <a:buClrTx/>
              <a:buSzTx/>
              <a:buFontTx/>
              <a:buNone/>
            </a:pPr>
            <a:r>
              <a:rPr lang="en-US" sz="1600"/>
              <a:t>DHCPSrvLog-Lun.Log</a:t>
            </a:r>
          </a:p>
        </p:txBody>
      </p:sp>
      <p:sp>
        <p:nvSpPr>
          <p:cNvPr id="237612" name="AutoShape 44"/>
          <p:cNvSpPr>
            <a:spLocks noChangeArrowheads="1"/>
          </p:cNvSpPr>
          <p:nvPr/>
        </p:nvSpPr>
        <p:spPr bwMode="auto">
          <a:xfrm>
            <a:off x="161709" y="4046573"/>
            <a:ext cx="1901825" cy="38100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spcBef>
                <a:spcPct val="0"/>
              </a:spcBef>
              <a:buClrTx/>
              <a:buSzTx/>
              <a:buFontTx/>
              <a:buNone/>
            </a:pPr>
            <a:r>
              <a:rPr lang="en-US" sz="1600"/>
              <a:t>DHCPSrvLog-Mar.Log</a:t>
            </a:r>
          </a:p>
        </p:txBody>
      </p:sp>
      <p:sp>
        <p:nvSpPr>
          <p:cNvPr id="237614" name="AutoShape 46"/>
          <p:cNvSpPr>
            <a:spLocks noChangeArrowheads="1"/>
          </p:cNvSpPr>
          <p:nvPr/>
        </p:nvSpPr>
        <p:spPr bwMode="auto">
          <a:xfrm>
            <a:off x="4572000" y="2370173"/>
            <a:ext cx="762000" cy="30480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wrap="none" anchor="ctr"/>
          <a:lstStyle/>
          <a:p>
            <a:pPr>
              <a:lnSpc>
                <a:spcPct val="85000"/>
              </a:lnSpc>
              <a:spcBef>
                <a:spcPct val="0"/>
              </a:spcBef>
              <a:buClrTx/>
              <a:buSzTx/>
              <a:buFontTx/>
              <a:buNone/>
            </a:pPr>
            <a:r>
              <a:rPr lang="en-US" sz="1600"/>
              <a:t>00:00</a:t>
            </a:r>
          </a:p>
        </p:txBody>
      </p:sp>
      <p:pic>
        <p:nvPicPr>
          <p:cNvPr id="237615" name="Picture 47" descr="Document_Writing01"/>
          <p:cNvPicPr>
            <a:picLocks noChangeAspect="1" noChangeArrowheads="1"/>
          </p:cNvPicPr>
          <p:nvPr/>
        </p:nvPicPr>
        <p:blipFill>
          <a:blip r:embed="rId6" cstate="print"/>
          <a:srcRect/>
          <a:stretch>
            <a:fillRect/>
          </a:stretch>
        </p:blipFill>
        <p:spPr bwMode="auto">
          <a:xfrm>
            <a:off x="739559" y="3146461"/>
            <a:ext cx="606425" cy="976312"/>
          </a:xfrm>
          <a:prstGeom prst="rect">
            <a:avLst/>
          </a:prstGeom>
          <a:noFill/>
        </p:spPr>
      </p:pic>
      <p:pic>
        <p:nvPicPr>
          <p:cNvPr id="237616" name="Picture 48" descr="Document_Writing01"/>
          <p:cNvPicPr>
            <a:picLocks noChangeAspect="1" noChangeArrowheads="1"/>
          </p:cNvPicPr>
          <p:nvPr/>
        </p:nvPicPr>
        <p:blipFill>
          <a:blip r:embed="rId6" cstate="print"/>
          <a:srcRect/>
          <a:stretch>
            <a:fillRect/>
          </a:stretch>
        </p:blipFill>
        <p:spPr bwMode="auto">
          <a:xfrm>
            <a:off x="7772843" y="3146461"/>
            <a:ext cx="606425" cy="976312"/>
          </a:xfrm>
          <a:prstGeom prst="rect">
            <a:avLst/>
          </a:prstGeom>
          <a:noFill/>
        </p:spPr>
      </p:pic>
      <p:grpSp>
        <p:nvGrpSpPr>
          <p:cNvPr id="237617" name="Group 49"/>
          <p:cNvGrpSpPr>
            <a:grpSpLocks/>
          </p:cNvGrpSpPr>
          <p:nvPr/>
        </p:nvGrpSpPr>
        <p:grpSpPr bwMode="auto">
          <a:xfrm>
            <a:off x="29040" y="6312802"/>
            <a:ext cx="914400" cy="425450"/>
            <a:chOff x="384" y="3024"/>
            <a:chExt cx="720" cy="336"/>
          </a:xfrm>
        </p:grpSpPr>
        <p:sp>
          <p:nvSpPr>
            <p:cNvPr id="237618" name="Oval 5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237619" name="Group 51"/>
            <p:cNvGrpSpPr>
              <a:grpSpLocks/>
            </p:cNvGrpSpPr>
            <p:nvPr/>
          </p:nvGrpSpPr>
          <p:grpSpPr bwMode="auto">
            <a:xfrm>
              <a:off x="480" y="3096"/>
              <a:ext cx="240" cy="192"/>
              <a:chOff x="480" y="3096"/>
              <a:chExt cx="240" cy="192"/>
            </a:xfrm>
          </p:grpSpPr>
          <p:sp>
            <p:nvSpPr>
              <p:cNvPr id="237620" name="Oval 5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237621" name="Freeform 53"/>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237622" name="Group 54"/>
          <p:cNvGrpSpPr>
            <a:grpSpLocks/>
          </p:cNvGrpSpPr>
          <p:nvPr/>
        </p:nvGrpSpPr>
        <p:grpSpPr bwMode="auto">
          <a:xfrm>
            <a:off x="516403" y="6403290"/>
            <a:ext cx="304800" cy="244475"/>
            <a:chOff x="768" y="3096"/>
            <a:chExt cx="240" cy="192"/>
          </a:xfrm>
        </p:grpSpPr>
        <p:sp>
          <p:nvSpPr>
            <p:cNvPr id="237623" name="Oval 5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237624" name="Rectangle 56"/>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7607"/>
                                        </p:tgtEl>
                                        <p:attrNameLst>
                                          <p:attrName>style.visibility</p:attrName>
                                        </p:attrNameLst>
                                      </p:cBhvr>
                                      <p:to>
                                        <p:strVal val="visible"/>
                                      </p:to>
                                    </p:set>
                                    <p:animEffect transition="in" filter="dissolve">
                                      <p:cBhvr>
                                        <p:cTn id="7" dur="500"/>
                                        <p:tgtEl>
                                          <p:spTgt spid="2376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37608"/>
                                        </p:tgtEl>
                                        <p:attrNameLst>
                                          <p:attrName>style.visibility</p:attrName>
                                        </p:attrNameLst>
                                      </p:cBhvr>
                                      <p:to>
                                        <p:strVal val="visible"/>
                                      </p:to>
                                    </p:set>
                                    <p:animEffect transition="in" filter="dissolve">
                                      <p:cBhvr>
                                        <p:cTn id="10" dur="500"/>
                                        <p:tgtEl>
                                          <p:spTgt spid="23760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37611"/>
                                        </p:tgtEl>
                                        <p:attrNameLst>
                                          <p:attrName>style.visibility</p:attrName>
                                        </p:attrNameLst>
                                      </p:cBhvr>
                                      <p:to>
                                        <p:strVal val="visible"/>
                                      </p:to>
                                    </p:set>
                                    <p:animEffect transition="in" filter="dissolve">
                                      <p:cBhvr>
                                        <p:cTn id="13" dur="500"/>
                                        <p:tgtEl>
                                          <p:spTgt spid="237611"/>
                                        </p:tgtEl>
                                      </p:cBhvr>
                                    </p:animEffect>
                                  </p:childTnLst>
                                </p:cTn>
                              </p:par>
                              <p:par>
                                <p:cTn id="14" presetID="9" presetClass="entr" presetSubtype="0" fill="hold" nodeType="withEffect">
                                  <p:stCondLst>
                                    <p:cond delay="0"/>
                                  </p:stCondLst>
                                  <p:childTnLst>
                                    <p:set>
                                      <p:cBhvr>
                                        <p:cTn id="15" dur="1" fill="hold">
                                          <p:stCondLst>
                                            <p:cond delay="0"/>
                                          </p:stCondLst>
                                        </p:cTn>
                                        <p:tgtEl>
                                          <p:spTgt spid="237616"/>
                                        </p:tgtEl>
                                        <p:attrNameLst>
                                          <p:attrName>style.visibility</p:attrName>
                                        </p:attrNameLst>
                                      </p:cBhvr>
                                      <p:to>
                                        <p:strVal val="visible"/>
                                      </p:to>
                                    </p:set>
                                    <p:animEffect transition="in" filter="dissolve">
                                      <p:cBhvr>
                                        <p:cTn id="16" dur="500"/>
                                        <p:tgtEl>
                                          <p:spTgt spid="2376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37606"/>
                                        </p:tgtEl>
                                        <p:attrNameLst>
                                          <p:attrName>style.visibility</p:attrName>
                                        </p:attrNameLst>
                                      </p:cBhvr>
                                      <p:to>
                                        <p:strVal val="visible"/>
                                      </p:to>
                                    </p:set>
                                    <p:animEffect transition="in" filter="dissolve">
                                      <p:cBhvr>
                                        <p:cTn id="21" dur="500"/>
                                        <p:tgtEl>
                                          <p:spTgt spid="237606"/>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37609"/>
                                        </p:tgtEl>
                                        <p:attrNameLst>
                                          <p:attrName>style.visibility</p:attrName>
                                        </p:attrNameLst>
                                      </p:cBhvr>
                                      <p:to>
                                        <p:strVal val="visible"/>
                                      </p:to>
                                    </p:set>
                                    <p:animEffect transition="in" filter="dissolve">
                                      <p:cBhvr>
                                        <p:cTn id="24" dur="500"/>
                                        <p:tgtEl>
                                          <p:spTgt spid="23760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37605"/>
                                        </p:tgtEl>
                                        <p:attrNameLst>
                                          <p:attrName>style.visibility</p:attrName>
                                        </p:attrNameLst>
                                      </p:cBhvr>
                                      <p:to>
                                        <p:strVal val="visible"/>
                                      </p:to>
                                    </p:set>
                                    <p:animEffect transition="in" filter="dissolve">
                                      <p:cBhvr>
                                        <p:cTn id="29" dur="500"/>
                                        <p:tgtEl>
                                          <p:spTgt spid="237605"/>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37610"/>
                                        </p:tgtEl>
                                        <p:attrNameLst>
                                          <p:attrName>style.visibility</p:attrName>
                                        </p:attrNameLst>
                                      </p:cBhvr>
                                      <p:to>
                                        <p:strVal val="visible"/>
                                      </p:to>
                                    </p:set>
                                    <p:animEffect transition="in" filter="dissolve">
                                      <p:cBhvr>
                                        <p:cTn id="32" dur="500"/>
                                        <p:tgtEl>
                                          <p:spTgt spid="237610"/>
                                        </p:tgtEl>
                                      </p:cBhvr>
                                    </p:animEffect>
                                  </p:childTnLst>
                                </p:cTn>
                              </p:par>
                              <p:par>
                                <p:cTn id="33" presetID="9" presetClass="entr" presetSubtype="0" fill="hold" nodeType="withEffect">
                                  <p:stCondLst>
                                    <p:cond delay="0"/>
                                  </p:stCondLst>
                                  <p:childTnLst>
                                    <p:set>
                                      <p:cBhvr>
                                        <p:cTn id="34" dur="1" fill="hold">
                                          <p:stCondLst>
                                            <p:cond delay="0"/>
                                          </p:stCondLst>
                                        </p:cTn>
                                        <p:tgtEl>
                                          <p:spTgt spid="237615"/>
                                        </p:tgtEl>
                                        <p:attrNameLst>
                                          <p:attrName>style.visibility</p:attrName>
                                        </p:attrNameLst>
                                      </p:cBhvr>
                                      <p:to>
                                        <p:strVal val="visible"/>
                                      </p:to>
                                    </p:set>
                                    <p:animEffect transition="in" filter="dissolve">
                                      <p:cBhvr>
                                        <p:cTn id="35" dur="500"/>
                                        <p:tgtEl>
                                          <p:spTgt spid="237615"/>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37612"/>
                                        </p:tgtEl>
                                        <p:attrNameLst>
                                          <p:attrName>style.visibility</p:attrName>
                                        </p:attrNameLst>
                                      </p:cBhvr>
                                      <p:to>
                                        <p:strVal val="visible"/>
                                      </p:to>
                                    </p:set>
                                    <p:animEffect transition="in" filter="dissolve">
                                      <p:cBhvr>
                                        <p:cTn id="38" dur="500"/>
                                        <p:tgtEl>
                                          <p:spTgt spid="237612"/>
                                        </p:tgtEl>
                                      </p:cBhvr>
                                    </p:animEffect>
                                  </p:childTnLst>
                                </p:cTn>
                              </p:par>
                              <p:par>
                                <p:cTn id="39" presetID="1" presetClass="entr" presetSubtype="0" fill="hold" nodeType="withEffect">
                                  <p:stCondLst>
                                    <p:cond delay="0"/>
                                  </p:stCondLst>
                                  <p:childTnLst>
                                    <p:set>
                                      <p:cBhvr>
                                        <p:cTn id="40" dur="1" fill="hold">
                                          <p:stCondLst>
                                            <p:cond delay="0"/>
                                          </p:stCondLst>
                                        </p:cTn>
                                        <p:tgtEl>
                                          <p:spTgt spid="237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605" grpId="0"/>
      <p:bldP spid="237606" grpId="0"/>
      <p:bldP spid="237607" grpId="0"/>
      <p:bldP spid="237608" grpId="0" animBg="1"/>
      <p:bldP spid="237609" grpId="0" animBg="1"/>
      <p:bldP spid="237610" grpId="0" animBg="1"/>
      <p:bldP spid="237611" grpId="0" animBg="1"/>
      <p:bldP spid="2376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custDataLst>
              <p:tags r:id="rId1"/>
            </p:custDataLst>
          </p:nvPr>
        </p:nvSpPr>
        <p:spPr>
          <a:xfrm>
            <a:off x="316266" y="388257"/>
            <a:ext cx="8534400" cy="758952"/>
          </a:xfrm>
        </p:spPr>
        <p:txBody>
          <a:bodyPr vert="horz" anchor="b">
            <a:noAutofit/>
          </a:bodyPr>
          <a:lstStyle/>
          <a:p>
            <a:r>
              <a:rPr lang="fr-FR" sz="2600" dirty="0">
                <a:solidFill>
                  <a:srgbClr val="C00000"/>
                </a:solidFill>
              </a:rPr>
              <a:t>Comment analyser les performances de serveur DHCP à l'aide du journal d'audit DHCP</a:t>
            </a:r>
            <a:endParaRPr lang="en-US" sz="2600" dirty="0">
              <a:solidFill>
                <a:srgbClr val="C00000"/>
              </a:solidFill>
            </a:endParaRPr>
          </a:p>
        </p:txBody>
      </p:sp>
      <p:sp>
        <p:nvSpPr>
          <p:cNvPr id="228356" name="Rectangle 4"/>
          <p:cNvSpPr>
            <a:spLocks noGrp="1" noChangeArrowheads="1"/>
          </p:cNvSpPr>
          <p:nvPr>
            <p:ph sz="quarter" idx="1"/>
            <p:custDataLst>
              <p:tags r:id="rId2"/>
            </p:custDataLst>
          </p:nvPr>
        </p:nvSpPr>
        <p:spPr>
          <a:xfrm>
            <a:off x="2757488" y="1447800"/>
            <a:ext cx="5319712" cy="4694238"/>
          </a:xfrm>
          <a:noFill/>
          <a:ln/>
        </p:spPr>
        <p:txBody>
          <a:bodyPr/>
          <a:lstStyle/>
          <a:p>
            <a:pPr marL="342900" indent="-342900"/>
            <a:endParaRPr lang="en-US"/>
          </a:p>
          <a:p>
            <a:pPr marL="342900" indent="-342900">
              <a:buFont typeface="Wingdings" pitchFamily="2" charset="2"/>
              <a:buNone/>
            </a:pPr>
            <a:endParaRPr lang="en-US"/>
          </a:p>
        </p:txBody>
      </p:sp>
      <p:sp>
        <p:nvSpPr>
          <p:cNvPr id="228359" name="AutoShape 7"/>
          <p:cNvSpPr>
            <a:spLocks noChangeArrowheads="1"/>
          </p:cNvSpPr>
          <p:nvPr>
            <p:custDataLst>
              <p:tags r:id="rId3"/>
            </p:custDataLst>
          </p:nvPr>
        </p:nvSpPr>
        <p:spPr bwMode="auto">
          <a:xfrm>
            <a:off x="1057049" y="2362201"/>
            <a:ext cx="6477000" cy="11779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buClrTx/>
              <a:buSzPct val="80000"/>
              <a:buFontTx/>
              <a:buBlip>
                <a:blip r:embed="rId6"/>
              </a:buBlip>
            </a:pPr>
            <a:r>
              <a:rPr lang="en-GB" sz="2200">
                <a:solidFill>
                  <a:srgbClr val="000000"/>
                </a:solidFill>
              </a:rPr>
              <a:t>Activer et configurer l'enregistrement d'audit DHCP</a:t>
            </a:r>
            <a:endParaRPr lang="en-US" sz="2200"/>
          </a:p>
          <a:p>
            <a:pPr marL="231775" indent="-231775" algn="l">
              <a:buClrTx/>
              <a:buSzPct val="80000"/>
              <a:buFontTx/>
              <a:buBlip>
                <a:blip r:embed="rId6"/>
              </a:buBlip>
            </a:pPr>
            <a:r>
              <a:rPr lang="en-GB" sz="2200">
                <a:solidFill>
                  <a:srgbClr val="000000"/>
                </a:solidFill>
              </a:rPr>
              <a:t>Afficher le journal d'audit DHCP</a:t>
            </a:r>
            <a:endParaRPr lang="en-US" sz="2200">
              <a:solidFill>
                <a:srgbClr val="000000"/>
              </a:solidFill>
            </a:endParaRPr>
          </a:p>
        </p:txBody>
      </p:sp>
      <p:sp>
        <p:nvSpPr>
          <p:cNvPr id="7" name="Triangle isocèle 6">
            <a:hlinkClick r:id="rId7" action="ppaction://hlinkfile"/>
          </p:cNvPr>
          <p:cNvSpPr/>
          <p:nvPr/>
        </p:nvSpPr>
        <p:spPr>
          <a:xfrm rot="5400000">
            <a:off x="3556000" y="4107543"/>
            <a:ext cx="1175657" cy="914400"/>
          </a:xfrm>
          <a:prstGeom prst="triangle">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custDataLst>
              <p:tags r:id="rId1"/>
            </p:custDataLst>
          </p:nvPr>
        </p:nvSpPr>
        <p:spPr/>
        <p:txBody>
          <a:bodyPr vert="horz" anchor="b">
            <a:noAutofit/>
          </a:bodyPr>
          <a:lstStyle/>
          <a:p>
            <a:r>
              <a:rPr lang="en-GB" sz="2600" dirty="0">
                <a:solidFill>
                  <a:srgbClr val="C00000"/>
                </a:solidFill>
              </a:rPr>
              <a:t>Instructions pour analyser les performances </a:t>
            </a:r>
            <a:br>
              <a:rPr lang="en-GB" sz="2600" dirty="0">
                <a:solidFill>
                  <a:srgbClr val="C00000"/>
                </a:solidFill>
              </a:rPr>
            </a:br>
            <a:r>
              <a:rPr lang="en-GB" sz="2600" dirty="0">
                <a:solidFill>
                  <a:srgbClr val="C00000"/>
                </a:solidFill>
              </a:rPr>
              <a:t>de serveur DHCP</a:t>
            </a:r>
            <a:endParaRPr lang="en-US" sz="2600" dirty="0">
              <a:solidFill>
                <a:srgbClr val="C00000"/>
              </a:solidFill>
            </a:endParaRPr>
          </a:p>
        </p:txBody>
      </p:sp>
      <p:sp>
        <p:nvSpPr>
          <p:cNvPr id="7" name="AutoShape 24"/>
          <p:cNvSpPr>
            <a:spLocks noChangeArrowheads="1"/>
          </p:cNvSpPr>
          <p:nvPr>
            <p:custDataLst>
              <p:tags r:id="rId2"/>
            </p:custDataLst>
          </p:nvPr>
        </p:nvSpPr>
        <p:spPr bwMode="auto">
          <a:xfrm>
            <a:off x="329883" y="1570673"/>
            <a:ext cx="8453372" cy="882650"/>
          </a:xfrm>
          <a:prstGeom prst="roundRect">
            <a:avLst>
              <a:gd name="adj" fmla="val 7014"/>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7"/>
              </a:buBlip>
            </a:pPr>
            <a:r>
              <a:rPr lang="en-GB">
                <a:solidFill>
                  <a:srgbClr val="000000"/>
                </a:solidFill>
              </a:rPr>
              <a:t>Créer une ligne de base des données de performances sur le serveur DHCP</a:t>
            </a:r>
            <a:endParaRPr lang="en-US"/>
          </a:p>
        </p:txBody>
      </p:sp>
      <p:sp>
        <p:nvSpPr>
          <p:cNvPr id="8" name="AutoShape 25"/>
          <p:cNvSpPr>
            <a:spLocks noChangeArrowheads="1"/>
          </p:cNvSpPr>
          <p:nvPr>
            <p:custDataLst>
              <p:tags r:id="rId3"/>
            </p:custDataLst>
          </p:nvPr>
        </p:nvSpPr>
        <p:spPr bwMode="auto">
          <a:xfrm>
            <a:off x="323532" y="2639060"/>
            <a:ext cx="8469947" cy="138906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7"/>
              </a:buBlip>
            </a:pPr>
            <a:r>
              <a:rPr lang="en-GB" dirty="0" err="1">
                <a:solidFill>
                  <a:srgbClr val="000000"/>
                </a:solidFill>
              </a:rPr>
              <a:t>Vérifier</a:t>
            </a:r>
            <a:r>
              <a:rPr lang="en-GB" dirty="0">
                <a:solidFill>
                  <a:srgbClr val="000000"/>
                </a:solidFill>
              </a:rPr>
              <a:t> les </a:t>
            </a:r>
            <a:r>
              <a:rPr lang="en-GB" dirty="0" err="1">
                <a:solidFill>
                  <a:srgbClr val="000000"/>
                </a:solidFill>
              </a:rPr>
              <a:t>compteurs</a:t>
            </a:r>
            <a:r>
              <a:rPr lang="en-GB" dirty="0">
                <a:solidFill>
                  <a:srgbClr val="000000"/>
                </a:solidFill>
              </a:rPr>
              <a:t> de performance de </a:t>
            </a:r>
            <a:r>
              <a:rPr lang="en-GB" dirty="0" err="1">
                <a:solidFill>
                  <a:srgbClr val="000000"/>
                </a:solidFill>
              </a:rPr>
              <a:t>serveur</a:t>
            </a:r>
            <a:r>
              <a:rPr lang="en-GB" dirty="0">
                <a:solidFill>
                  <a:srgbClr val="000000"/>
                </a:solidFill>
              </a:rPr>
              <a:t> standard, par </a:t>
            </a:r>
            <a:r>
              <a:rPr lang="en-GB" dirty="0" err="1">
                <a:solidFill>
                  <a:srgbClr val="000000"/>
                </a:solidFill>
              </a:rPr>
              <a:t>exemple</a:t>
            </a:r>
            <a:r>
              <a:rPr lang="en-GB" dirty="0">
                <a:solidFill>
                  <a:srgbClr val="000000"/>
                </a:solidFill>
              </a:rPr>
              <a:t> </a:t>
            </a:r>
            <a:r>
              <a:rPr lang="en-GB" dirty="0" err="1">
                <a:solidFill>
                  <a:srgbClr val="000000"/>
                </a:solidFill>
              </a:rPr>
              <a:t>l'utilisation</a:t>
            </a:r>
            <a:r>
              <a:rPr lang="en-GB" dirty="0">
                <a:solidFill>
                  <a:srgbClr val="000000"/>
                </a:solidFill>
              </a:rPr>
              <a:t> du </a:t>
            </a:r>
            <a:r>
              <a:rPr lang="en-GB" dirty="0" err="1">
                <a:solidFill>
                  <a:srgbClr val="000000"/>
                </a:solidFill>
              </a:rPr>
              <a:t>processeur</a:t>
            </a:r>
            <a:r>
              <a:rPr lang="en-GB" dirty="0">
                <a:solidFill>
                  <a:srgbClr val="000000"/>
                </a:solidFill>
              </a:rPr>
              <a:t>, la pagination, les </a:t>
            </a:r>
            <a:r>
              <a:rPr lang="en-GB" dirty="0" smtClean="0">
                <a:solidFill>
                  <a:srgbClr val="000000"/>
                </a:solidFill>
              </a:rPr>
              <a:t>performances </a:t>
            </a:r>
            <a:r>
              <a:rPr lang="en-GB" dirty="0">
                <a:solidFill>
                  <a:srgbClr val="000000"/>
                </a:solidFill>
              </a:rPr>
              <a:t>de </a:t>
            </a:r>
            <a:r>
              <a:rPr lang="en-GB" dirty="0" err="1">
                <a:solidFill>
                  <a:srgbClr val="000000"/>
                </a:solidFill>
              </a:rPr>
              <a:t>disque</a:t>
            </a:r>
            <a:r>
              <a:rPr lang="en-GB" dirty="0">
                <a:solidFill>
                  <a:srgbClr val="000000"/>
                </a:solidFill>
              </a:rPr>
              <a:t> et </a:t>
            </a:r>
            <a:r>
              <a:rPr lang="en-GB" dirty="0" err="1">
                <a:solidFill>
                  <a:srgbClr val="000000"/>
                </a:solidFill>
              </a:rPr>
              <a:t>l'utilisation</a:t>
            </a:r>
            <a:r>
              <a:rPr lang="en-GB" dirty="0">
                <a:solidFill>
                  <a:srgbClr val="000000"/>
                </a:solidFill>
              </a:rPr>
              <a:t> du </a:t>
            </a:r>
            <a:r>
              <a:rPr lang="en-GB" dirty="0" err="1">
                <a:solidFill>
                  <a:srgbClr val="000000"/>
                </a:solidFill>
              </a:rPr>
              <a:t>réseau</a:t>
            </a:r>
            <a:endParaRPr lang="en-US" dirty="0"/>
          </a:p>
        </p:txBody>
      </p:sp>
      <p:sp>
        <p:nvSpPr>
          <p:cNvPr id="9" name="AutoShape 26"/>
          <p:cNvSpPr>
            <a:spLocks noChangeArrowheads="1"/>
          </p:cNvSpPr>
          <p:nvPr>
            <p:custDataLst>
              <p:tags r:id="rId4"/>
            </p:custDataLst>
          </p:nvPr>
        </p:nvSpPr>
        <p:spPr bwMode="auto">
          <a:xfrm>
            <a:off x="329883" y="4220210"/>
            <a:ext cx="8453372" cy="13208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7"/>
              </a:buBlip>
            </a:pPr>
            <a:r>
              <a:rPr lang="en-GB" dirty="0">
                <a:solidFill>
                  <a:srgbClr val="000000"/>
                </a:solidFill>
              </a:rPr>
              <a:t>Examiner les </a:t>
            </a:r>
            <a:r>
              <a:rPr lang="en-GB" dirty="0" err="1">
                <a:solidFill>
                  <a:srgbClr val="000000"/>
                </a:solidFill>
              </a:rPr>
              <a:t>compteurs</a:t>
            </a:r>
            <a:r>
              <a:rPr lang="en-GB" dirty="0">
                <a:solidFill>
                  <a:srgbClr val="000000"/>
                </a:solidFill>
              </a:rPr>
              <a:t> de </a:t>
            </a:r>
            <a:r>
              <a:rPr lang="en-GB" dirty="0" err="1">
                <a:solidFill>
                  <a:srgbClr val="000000"/>
                </a:solidFill>
              </a:rPr>
              <a:t>serveur</a:t>
            </a:r>
            <a:r>
              <a:rPr lang="en-GB" dirty="0">
                <a:solidFill>
                  <a:srgbClr val="000000"/>
                </a:solidFill>
              </a:rPr>
              <a:t> DHCP pour </a:t>
            </a:r>
            <a:r>
              <a:rPr lang="en-GB" dirty="0" err="1">
                <a:solidFill>
                  <a:srgbClr val="000000"/>
                </a:solidFill>
              </a:rPr>
              <a:t>rechercher</a:t>
            </a:r>
            <a:r>
              <a:rPr lang="en-GB" dirty="0">
                <a:solidFill>
                  <a:srgbClr val="000000"/>
                </a:solidFill>
              </a:rPr>
              <a:t> les augmentations </a:t>
            </a:r>
            <a:r>
              <a:rPr lang="en-GB" dirty="0" err="1">
                <a:solidFill>
                  <a:srgbClr val="000000"/>
                </a:solidFill>
              </a:rPr>
              <a:t>ou</a:t>
            </a:r>
            <a:r>
              <a:rPr lang="en-GB" dirty="0">
                <a:solidFill>
                  <a:srgbClr val="000000"/>
                </a:solidFill>
              </a:rPr>
              <a:t> les diminutions </a:t>
            </a:r>
            <a:r>
              <a:rPr lang="en-GB" dirty="0" err="1">
                <a:solidFill>
                  <a:srgbClr val="000000"/>
                </a:solidFill>
              </a:rPr>
              <a:t>significatives</a:t>
            </a:r>
            <a:r>
              <a:rPr lang="en-GB" dirty="0">
                <a:solidFill>
                  <a:srgbClr val="000000"/>
                </a:solidFill>
              </a:rPr>
              <a:t> </a:t>
            </a:r>
            <a:r>
              <a:rPr lang="en-GB" dirty="0" err="1">
                <a:solidFill>
                  <a:srgbClr val="000000"/>
                </a:solidFill>
              </a:rPr>
              <a:t>dénotant</a:t>
            </a:r>
            <a:r>
              <a:rPr lang="en-GB" dirty="0">
                <a:solidFill>
                  <a:srgbClr val="000000"/>
                </a:solidFill>
              </a:rPr>
              <a:t> un </a:t>
            </a:r>
            <a:r>
              <a:rPr lang="en-GB" dirty="0" err="1">
                <a:solidFill>
                  <a:srgbClr val="000000"/>
                </a:solidFill>
              </a:rPr>
              <a:t>changement</a:t>
            </a:r>
            <a:r>
              <a:rPr lang="en-GB" dirty="0">
                <a:solidFill>
                  <a:srgbClr val="000000"/>
                </a:solidFill>
              </a:rPr>
              <a:t> </a:t>
            </a:r>
            <a:r>
              <a:rPr lang="en-GB" dirty="0" err="1">
                <a:solidFill>
                  <a:srgbClr val="000000"/>
                </a:solidFill>
              </a:rPr>
              <a:t>dans</a:t>
            </a:r>
            <a:r>
              <a:rPr lang="en-GB" dirty="0">
                <a:solidFill>
                  <a:srgbClr val="000000"/>
                </a:solidFill>
              </a:rPr>
              <a:t> le </a:t>
            </a:r>
            <a:r>
              <a:rPr lang="en-GB" dirty="0" err="1" smtClean="0">
                <a:solidFill>
                  <a:srgbClr val="000000"/>
                </a:solidFill>
              </a:rPr>
              <a:t>trafic</a:t>
            </a:r>
            <a:r>
              <a:rPr lang="en-GB" dirty="0" smtClean="0">
                <a:solidFill>
                  <a:srgbClr val="000000"/>
                </a:solidFill>
              </a:rPr>
              <a:t> </a:t>
            </a:r>
            <a:r>
              <a:rPr lang="en-GB" dirty="0">
                <a:solidFill>
                  <a:srgbClr val="000000"/>
                </a:solidFill>
              </a:rPr>
              <a:t>DHCP</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heckerboard(across)">
                                      <p:cBhvr>
                                        <p:cTn id="1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custDataLst>
              <p:tags r:id="rId1"/>
            </p:custDataLst>
          </p:nvPr>
        </p:nvSpPr>
        <p:spPr/>
        <p:txBody>
          <a:bodyPr vert="horz" anchor="b">
            <a:noAutofit/>
          </a:bodyPr>
          <a:lstStyle/>
          <a:p>
            <a:r>
              <a:rPr lang="en-GB" sz="2400" dirty="0">
                <a:solidFill>
                  <a:srgbClr val="C00000"/>
                </a:solidFill>
              </a:rPr>
              <a:t>Compteurs de performance communément utilisés </a:t>
            </a:r>
            <a:br>
              <a:rPr lang="en-GB" sz="2400" dirty="0">
                <a:solidFill>
                  <a:srgbClr val="C00000"/>
                </a:solidFill>
              </a:rPr>
            </a:br>
            <a:r>
              <a:rPr lang="en-GB" sz="2400" dirty="0">
                <a:solidFill>
                  <a:srgbClr val="C00000"/>
                </a:solidFill>
              </a:rPr>
              <a:t>pour analyser les performances de serveur DHCP</a:t>
            </a:r>
            <a:endParaRPr lang="en-US" sz="2400" dirty="0">
              <a:solidFill>
                <a:srgbClr val="C00000"/>
              </a:solidFill>
            </a:endParaRPr>
          </a:p>
        </p:txBody>
      </p:sp>
      <p:graphicFrame>
        <p:nvGraphicFramePr>
          <p:cNvPr id="174289" name="Group 209"/>
          <p:cNvGraphicFramePr>
            <a:graphicFrameLocks noGrp="1"/>
          </p:cNvGraphicFramePr>
          <p:nvPr/>
        </p:nvGraphicFramePr>
        <p:xfrm>
          <a:off x="228600" y="1542733"/>
          <a:ext cx="8732519" cy="4480560"/>
        </p:xfrm>
        <a:graphic>
          <a:graphicData uri="http://schemas.openxmlformats.org/drawingml/2006/table">
            <a:tbl>
              <a:tblPr/>
              <a:tblGrid>
                <a:gridCol w="1981200"/>
                <a:gridCol w="6751319"/>
              </a:tblGrid>
              <a:tr h="352425">
                <a:tc>
                  <a:txBody>
                    <a:bodyPr/>
                    <a:lstStyle/>
                    <a:p>
                      <a:pPr marL="0" marR="0" lvl="0" indent="0" algn="ctr"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1" i="0" u="sng" strike="noStrike" cap="none" normalizeH="0" baseline="0" dirty="0" err="1" smtClean="0">
                          <a:ln>
                            <a:noFill/>
                          </a:ln>
                          <a:solidFill>
                            <a:srgbClr val="000000"/>
                          </a:solidFill>
                          <a:effectLst/>
                          <a:latin typeface="Arial Narrow" pitchFamily="34" charset="0"/>
                        </a:rPr>
                        <a:t>Compteurs</a:t>
                      </a:r>
                      <a:r>
                        <a:rPr kumimoji="0" lang="en-GB" sz="2400" b="1" i="0" u="sng" strike="noStrike" cap="none" normalizeH="0" baseline="0" dirty="0" smtClean="0">
                          <a:ln>
                            <a:noFill/>
                          </a:ln>
                          <a:solidFill>
                            <a:srgbClr val="000000"/>
                          </a:solidFill>
                          <a:effectLst/>
                          <a:latin typeface="Arial Narrow" pitchFamily="34" charset="0"/>
                        </a:rPr>
                        <a:t> de performance</a:t>
                      </a:r>
                      <a:endParaRPr kumimoji="0" lang="en-US" sz="2400" b="1" i="0" u="sng"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c>
                  <a:txBody>
                    <a:bodyPr/>
                    <a:lstStyle/>
                    <a:p>
                      <a:pPr marL="0" marR="0" lvl="0" indent="0" algn="ctr"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1" i="0" u="sng" strike="noStrike" cap="none" normalizeH="0" baseline="0" dirty="0" err="1" smtClean="0">
                          <a:ln>
                            <a:noFill/>
                          </a:ln>
                          <a:solidFill>
                            <a:srgbClr val="000000"/>
                          </a:solidFill>
                          <a:effectLst/>
                          <a:latin typeface="Arial Narrow" pitchFamily="34" charset="0"/>
                        </a:rPr>
                        <a:t>Événements</a:t>
                      </a:r>
                      <a:r>
                        <a:rPr kumimoji="0" lang="en-GB" sz="2400" b="1" i="0" u="sng" strike="noStrike" cap="none" normalizeH="0" baseline="0" dirty="0" smtClean="0">
                          <a:ln>
                            <a:noFill/>
                          </a:ln>
                          <a:solidFill>
                            <a:srgbClr val="000000"/>
                          </a:solidFill>
                          <a:effectLst/>
                          <a:latin typeface="Arial Narrow" pitchFamily="34" charset="0"/>
                        </a:rPr>
                        <a:t> à </a:t>
                      </a:r>
                      <a:r>
                        <a:rPr kumimoji="0" lang="en-GB" sz="2400" b="1" i="0" u="sng" strike="noStrike" cap="none" normalizeH="0" baseline="0" dirty="0" err="1" smtClean="0">
                          <a:ln>
                            <a:noFill/>
                          </a:ln>
                          <a:solidFill>
                            <a:srgbClr val="000000"/>
                          </a:solidFill>
                          <a:effectLst/>
                          <a:latin typeface="Arial Narrow" pitchFamily="34" charset="0"/>
                        </a:rPr>
                        <a:t>rechercher</a:t>
                      </a:r>
                      <a:r>
                        <a:rPr kumimoji="0" lang="en-GB" sz="2400" b="1" i="0" u="sng" strike="noStrike" cap="none" normalizeH="0" baseline="0" dirty="0" smtClean="0">
                          <a:ln>
                            <a:noFill/>
                          </a:ln>
                          <a:solidFill>
                            <a:srgbClr val="000000"/>
                          </a:solidFill>
                          <a:effectLst/>
                          <a:latin typeface="Arial Narrow" pitchFamily="34" charset="0"/>
                        </a:rPr>
                        <a:t> après </a:t>
                      </a:r>
                      <a:r>
                        <a:rPr kumimoji="0" lang="en-GB" sz="2400" b="1" i="0" u="sng" strike="noStrike" cap="none" normalizeH="0" baseline="0" dirty="0" err="1" smtClean="0">
                          <a:ln>
                            <a:noFill/>
                          </a:ln>
                          <a:solidFill>
                            <a:srgbClr val="000000"/>
                          </a:solidFill>
                          <a:effectLst/>
                          <a:latin typeface="Arial Narrow" pitchFamily="34" charset="0"/>
                        </a:rPr>
                        <a:t>l'établissement</a:t>
                      </a:r>
                      <a:r>
                        <a:rPr kumimoji="0" lang="en-GB" sz="2400" b="1" i="0" u="sng" strike="noStrike" cap="none" normalizeH="0" baseline="0" dirty="0" smtClean="0">
                          <a:ln>
                            <a:noFill/>
                          </a:ln>
                          <a:solidFill>
                            <a:srgbClr val="000000"/>
                          </a:solidFill>
                          <a:effectLst/>
                          <a:latin typeface="Arial Narrow" pitchFamily="34" charset="0"/>
                        </a:rPr>
                        <a:t> </a:t>
                      </a:r>
                      <a:r>
                        <a:rPr kumimoji="0" lang="en-GB" sz="2400" b="1" i="0" u="sng" strike="noStrike" cap="none" normalizeH="0" baseline="0" dirty="0" err="1" smtClean="0">
                          <a:ln>
                            <a:noFill/>
                          </a:ln>
                          <a:solidFill>
                            <a:srgbClr val="000000"/>
                          </a:solidFill>
                          <a:effectLst/>
                          <a:latin typeface="Arial Narrow" pitchFamily="34" charset="0"/>
                        </a:rPr>
                        <a:t>d'une</a:t>
                      </a:r>
                      <a:r>
                        <a:rPr kumimoji="0" lang="en-GB" sz="2400" b="1" i="0" u="sng" strike="noStrike" cap="none" normalizeH="0" baseline="0" dirty="0" smtClean="0">
                          <a:ln>
                            <a:noFill/>
                          </a:ln>
                          <a:solidFill>
                            <a:srgbClr val="000000"/>
                          </a:solidFill>
                          <a:effectLst/>
                          <a:latin typeface="Arial Narrow" pitchFamily="34" charset="0"/>
                        </a:rPr>
                        <a:t> </a:t>
                      </a:r>
                      <a:r>
                        <a:rPr kumimoji="0" lang="en-GB" sz="2400" b="1" i="0" u="sng" strike="noStrike" cap="none" normalizeH="0" baseline="0" dirty="0" err="1" smtClean="0">
                          <a:ln>
                            <a:noFill/>
                          </a:ln>
                          <a:solidFill>
                            <a:srgbClr val="000000"/>
                          </a:solidFill>
                          <a:effectLst/>
                          <a:latin typeface="Arial Narrow" pitchFamily="34" charset="0"/>
                        </a:rPr>
                        <a:t>ligne</a:t>
                      </a:r>
                      <a:r>
                        <a:rPr kumimoji="0" lang="en-GB" sz="2400" b="1" i="0" u="sng" strike="noStrike" cap="none" normalizeH="0" baseline="0" dirty="0" smtClean="0">
                          <a:ln>
                            <a:noFill/>
                          </a:ln>
                          <a:solidFill>
                            <a:srgbClr val="000000"/>
                          </a:solidFill>
                          <a:effectLst/>
                          <a:latin typeface="Arial Narrow" pitchFamily="34" charset="0"/>
                        </a:rPr>
                        <a:t> de base</a:t>
                      </a:r>
                      <a:endParaRPr kumimoji="0" lang="en-US" sz="2400" b="1" i="0" u="sng"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r>
              <a:tr h="606425">
                <a:tc>
                  <a:txBody>
                    <a:bodyPr/>
                    <a:lstStyle/>
                    <a:p>
                      <a:pPr marL="0" marR="0" lvl="0" indent="0" algn="l"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1" i="0" u="none" strike="noStrike" cap="none" normalizeH="0" baseline="0" dirty="0" err="1" smtClean="0">
                          <a:ln>
                            <a:noFill/>
                          </a:ln>
                          <a:solidFill>
                            <a:srgbClr val="000000"/>
                          </a:solidFill>
                          <a:effectLst/>
                          <a:latin typeface="Arial Narrow" pitchFamily="34" charset="0"/>
                        </a:rPr>
                        <a:t>Paquets</a:t>
                      </a:r>
                      <a:r>
                        <a:rPr kumimoji="0" lang="en-GB" sz="2400" b="1" i="0" u="none" strike="noStrike" cap="none" normalizeH="0" baseline="0" dirty="0" smtClean="0">
                          <a:ln>
                            <a:noFill/>
                          </a:ln>
                          <a:solidFill>
                            <a:srgbClr val="000000"/>
                          </a:solidFill>
                          <a:effectLst/>
                          <a:latin typeface="Arial Narrow" pitchFamily="34" charset="0"/>
                        </a:rPr>
                        <a:t> </a:t>
                      </a:r>
                      <a:r>
                        <a:rPr kumimoji="0" lang="en-GB" sz="2400" b="1" i="0" u="none" strike="noStrike" cap="none" normalizeH="0" baseline="0" dirty="0" err="1" smtClean="0">
                          <a:ln>
                            <a:noFill/>
                          </a:ln>
                          <a:solidFill>
                            <a:srgbClr val="000000"/>
                          </a:solidFill>
                          <a:effectLst/>
                          <a:latin typeface="Arial Narrow" pitchFamily="34" charset="0"/>
                        </a:rPr>
                        <a:t>reçus</a:t>
                      </a:r>
                      <a:r>
                        <a:rPr kumimoji="0" lang="en-GB" sz="2400" b="1" i="0" u="none" strike="noStrike" cap="none" normalizeH="0" baseline="0" dirty="0" smtClean="0">
                          <a:ln>
                            <a:noFill/>
                          </a:ln>
                          <a:solidFill>
                            <a:srgbClr val="000000"/>
                          </a:solidFill>
                          <a:effectLst/>
                          <a:latin typeface="Arial Narrow" pitchFamily="34" charset="0"/>
                        </a:rPr>
                        <a:t>/s</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D5D69C"/>
                        </a:gs>
                        <a:gs pos="5000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0" i="0" u="none" strike="noStrike" cap="none" normalizeH="0" baseline="0" dirty="0" err="1" smtClean="0">
                          <a:ln>
                            <a:noFill/>
                          </a:ln>
                          <a:solidFill>
                            <a:srgbClr val="000000"/>
                          </a:solidFill>
                          <a:effectLst/>
                          <a:latin typeface="Arial Narrow" pitchFamily="34" charset="0"/>
                        </a:rPr>
                        <a:t>Surveiller</a:t>
                      </a:r>
                      <a:r>
                        <a:rPr kumimoji="0" lang="en-GB" sz="2400" b="0" i="0" u="none" strike="noStrike" cap="none" normalizeH="0" baseline="0" dirty="0" smtClean="0">
                          <a:ln>
                            <a:noFill/>
                          </a:ln>
                          <a:solidFill>
                            <a:srgbClr val="000000"/>
                          </a:solidFill>
                          <a:effectLst/>
                          <a:latin typeface="Arial Narrow" pitchFamily="34" charset="0"/>
                        </a:rPr>
                        <a:t> les augmentations </a:t>
                      </a:r>
                      <a:r>
                        <a:rPr kumimoji="0" lang="en-GB" sz="2400" b="0" i="0" u="none" strike="noStrike" cap="none" normalizeH="0" baseline="0" dirty="0" err="1" smtClean="0">
                          <a:ln>
                            <a:noFill/>
                          </a:ln>
                          <a:solidFill>
                            <a:srgbClr val="000000"/>
                          </a:solidFill>
                          <a:effectLst/>
                          <a:latin typeface="Arial Narrow" pitchFamily="34" charset="0"/>
                        </a:rPr>
                        <a:t>ou</a:t>
                      </a:r>
                      <a:r>
                        <a:rPr kumimoji="0" lang="en-GB" sz="2400" b="0" i="0" u="none" strike="noStrike" cap="none" normalizeH="0" baseline="0" dirty="0" smtClean="0">
                          <a:ln>
                            <a:noFill/>
                          </a:ln>
                          <a:solidFill>
                            <a:srgbClr val="000000"/>
                          </a:solidFill>
                          <a:effectLst/>
                          <a:latin typeface="Arial Narrow" pitchFamily="34" charset="0"/>
                        </a:rPr>
                        <a:t> les diminutions </a:t>
                      </a:r>
                      <a:r>
                        <a:rPr kumimoji="0" lang="en-GB" sz="2400" b="0" i="0" u="none" strike="noStrike" cap="none" normalizeH="0" baseline="0" dirty="0" err="1" smtClean="0">
                          <a:ln>
                            <a:noFill/>
                          </a:ln>
                          <a:solidFill>
                            <a:srgbClr val="000000"/>
                          </a:solidFill>
                          <a:effectLst/>
                          <a:latin typeface="Arial Narrow" pitchFamily="34" charset="0"/>
                        </a:rPr>
                        <a:t>soudaines</a:t>
                      </a:r>
                      <a:r>
                        <a:rPr kumimoji="0" lang="en-GB" sz="2400" b="0" i="0" u="none" strike="noStrike" cap="none" normalizeH="0" baseline="0" dirty="0" smtClean="0">
                          <a:ln>
                            <a:noFill/>
                          </a:ln>
                          <a:solidFill>
                            <a:srgbClr val="000000"/>
                          </a:solidFill>
                          <a:effectLst/>
                          <a:latin typeface="Arial Narrow" pitchFamily="34" charset="0"/>
                        </a:rPr>
                        <a:t> qui </a:t>
                      </a:r>
                      <a:r>
                        <a:rPr kumimoji="0" lang="en-GB" sz="2400" b="0" i="0" u="none" strike="noStrike" cap="none" normalizeH="0" baseline="0" dirty="0" err="1" smtClean="0">
                          <a:ln>
                            <a:noFill/>
                          </a:ln>
                          <a:solidFill>
                            <a:srgbClr val="000000"/>
                          </a:solidFill>
                          <a:effectLst/>
                          <a:latin typeface="Arial Narrow" pitchFamily="34" charset="0"/>
                        </a:rPr>
                        <a:t>pourraient</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dénoter</a:t>
                      </a:r>
                      <a:r>
                        <a:rPr kumimoji="0" lang="en-GB" sz="2400" b="0" i="0" u="none" strike="noStrike" cap="none" normalizeH="0" baseline="0" dirty="0" smtClean="0">
                          <a:ln>
                            <a:noFill/>
                          </a:ln>
                          <a:solidFill>
                            <a:srgbClr val="000000"/>
                          </a:solidFill>
                          <a:effectLst/>
                          <a:latin typeface="Arial Narrow" pitchFamily="34" charset="0"/>
                        </a:rPr>
                        <a:t> des </a:t>
                      </a:r>
                      <a:r>
                        <a:rPr kumimoji="0" lang="en-GB" sz="2400" b="0" i="0" u="none" strike="noStrike" cap="none" normalizeH="0" baseline="0" dirty="0" err="1" smtClean="0">
                          <a:ln>
                            <a:noFill/>
                          </a:ln>
                          <a:solidFill>
                            <a:srgbClr val="000000"/>
                          </a:solidFill>
                          <a:effectLst/>
                          <a:latin typeface="Arial Narrow" pitchFamily="34" charset="0"/>
                        </a:rPr>
                        <a:t>problèmes</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sur</a:t>
                      </a:r>
                      <a:r>
                        <a:rPr kumimoji="0" lang="en-GB" sz="2400" b="0" i="0" u="none" strike="noStrike" cap="none" normalizeH="0" baseline="0" dirty="0" smtClean="0">
                          <a:ln>
                            <a:noFill/>
                          </a:ln>
                          <a:solidFill>
                            <a:srgbClr val="000000"/>
                          </a:solidFill>
                          <a:effectLst/>
                          <a:latin typeface="Arial Narrow" pitchFamily="34" charset="0"/>
                        </a:rPr>
                        <a:t> le </a:t>
                      </a:r>
                      <a:r>
                        <a:rPr kumimoji="0" lang="en-GB" sz="2400" b="0" i="0" u="none" strike="noStrike" cap="none" normalizeH="0" baseline="0" dirty="0" err="1" smtClean="0">
                          <a:ln>
                            <a:noFill/>
                          </a:ln>
                          <a:solidFill>
                            <a:srgbClr val="000000"/>
                          </a:solidFill>
                          <a:effectLst/>
                          <a:latin typeface="Arial Narrow" pitchFamily="34" charset="0"/>
                        </a:rPr>
                        <a:t>réseau</a:t>
                      </a:r>
                      <a:r>
                        <a:rPr kumimoji="0" lang="en-GB" sz="2400" b="0" i="0" u="none" strike="noStrike" cap="none" normalizeH="0" baseline="0" dirty="0" smtClean="0">
                          <a:ln>
                            <a:noFill/>
                          </a:ln>
                          <a:solidFill>
                            <a:srgbClr val="000000"/>
                          </a:solidFill>
                          <a:effectLst/>
                          <a:latin typeface="Arial Narrow" pitchFamily="34" charset="0"/>
                        </a:rPr>
                        <a:t> </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r>
              <a:tr h="276225">
                <a:tc>
                  <a:txBody>
                    <a:bodyPr/>
                    <a:lstStyle/>
                    <a:p>
                      <a:pPr marL="0" marR="0" lvl="0" indent="0" algn="l"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1" i="0" u="none" strike="noStrike" cap="none" normalizeH="0" baseline="0" dirty="0" err="1" smtClean="0">
                          <a:ln>
                            <a:noFill/>
                          </a:ln>
                          <a:solidFill>
                            <a:srgbClr val="000000"/>
                          </a:solidFill>
                          <a:effectLst/>
                          <a:latin typeface="Arial Narrow" pitchFamily="34" charset="0"/>
                        </a:rPr>
                        <a:t>Nombre</a:t>
                      </a:r>
                      <a:r>
                        <a:rPr kumimoji="0" lang="en-GB" sz="2400" b="1" i="0" u="none" strike="noStrike" cap="none" normalizeH="0" baseline="0" dirty="0" smtClean="0">
                          <a:ln>
                            <a:noFill/>
                          </a:ln>
                          <a:solidFill>
                            <a:srgbClr val="000000"/>
                          </a:solidFill>
                          <a:effectLst/>
                          <a:latin typeface="Arial Narrow" pitchFamily="34" charset="0"/>
                        </a:rPr>
                        <a:t> de </a:t>
                      </a:r>
                      <a:r>
                        <a:rPr kumimoji="0" lang="en-GB" sz="2400" b="1" i="0" u="none" strike="noStrike" cap="none" normalizeH="0" baseline="0" dirty="0" err="1" smtClean="0">
                          <a:ln>
                            <a:noFill/>
                          </a:ln>
                          <a:solidFill>
                            <a:srgbClr val="000000"/>
                          </a:solidFill>
                          <a:effectLst/>
                          <a:latin typeface="Arial Narrow" pitchFamily="34" charset="0"/>
                        </a:rPr>
                        <a:t>requêtes</a:t>
                      </a:r>
                      <a:r>
                        <a:rPr kumimoji="0" lang="en-GB" sz="2400" b="1" i="0" u="none" strike="noStrike" cap="none" normalizeH="0" baseline="0" dirty="0" smtClean="0">
                          <a:ln>
                            <a:noFill/>
                          </a:ln>
                          <a:solidFill>
                            <a:srgbClr val="000000"/>
                          </a:solidFill>
                          <a:effectLst/>
                          <a:latin typeface="Arial Narrow" pitchFamily="34" charset="0"/>
                        </a:rPr>
                        <a:t>/s</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D5D69C"/>
                        </a:gs>
                        <a:gs pos="5000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0" i="0" u="none" strike="noStrike" cap="none" normalizeH="0" baseline="0" dirty="0" err="1" smtClean="0">
                          <a:ln>
                            <a:noFill/>
                          </a:ln>
                          <a:solidFill>
                            <a:srgbClr val="000000"/>
                          </a:solidFill>
                          <a:effectLst/>
                          <a:latin typeface="Arial Narrow" pitchFamily="34" charset="0"/>
                        </a:rPr>
                        <a:t>Surveiller</a:t>
                      </a:r>
                      <a:r>
                        <a:rPr kumimoji="0" lang="en-GB" sz="2400" b="0" i="0" u="none" strike="noStrike" cap="none" normalizeH="0" baseline="0" dirty="0" smtClean="0">
                          <a:ln>
                            <a:noFill/>
                          </a:ln>
                          <a:solidFill>
                            <a:srgbClr val="000000"/>
                          </a:solidFill>
                          <a:effectLst/>
                          <a:latin typeface="Arial Narrow" pitchFamily="34" charset="0"/>
                        </a:rPr>
                        <a:t> les augmentations </a:t>
                      </a:r>
                      <a:r>
                        <a:rPr kumimoji="0" lang="en-GB" sz="2400" b="0" i="0" u="none" strike="noStrike" cap="none" normalizeH="0" baseline="0" dirty="0" err="1" smtClean="0">
                          <a:ln>
                            <a:noFill/>
                          </a:ln>
                          <a:solidFill>
                            <a:srgbClr val="000000"/>
                          </a:solidFill>
                          <a:effectLst/>
                          <a:latin typeface="Arial Narrow" pitchFamily="34" charset="0"/>
                        </a:rPr>
                        <a:t>ou</a:t>
                      </a:r>
                      <a:r>
                        <a:rPr kumimoji="0" lang="en-GB" sz="2400" b="0" i="0" u="none" strike="noStrike" cap="none" normalizeH="0" baseline="0" dirty="0" smtClean="0">
                          <a:ln>
                            <a:noFill/>
                          </a:ln>
                          <a:solidFill>
                            <a:srgbClr val="000000"/>
                          </a:solidFill>
                          <a:effectLst/>
                          <a:latin typeface="Arial Narrow" pitchFamily="34" charset="0"/>
                        </a:rPr>
                        <a:t> les diminutions </a:t>
                      </a:r>
                      <a:r>
                        <a:rPr kumimoji="0" lang="en-GB" sz="2400" b="0" i="0" u="none" strike="noStrike" cap="none" normalizeH="0" baseline="0" dirty="0" err="1" smtClean="0">
                          <a:ln>
                            <a:noFill/>
                          </a:ln>
                          <a:solidFill>
                            <a:srgbClr val="000000"/>
                          </a:solidFill>
                          <a:effectLst/>
                          <a:latin typeface="Arial Narrow" pitchFamily="34" charset="0"/>
                        </a:rPr>
                        <a:t>soudaines</a:t>
                      </a:r>
                      <a:r>
                        <a:rPr kumimoji="0" lang="en-GB" sz="2400" b="0" i="0" u="none" strike="noStrike" cap="none" normalizeH="0" baseline="0" dirty="0" smtClean="0">
                          <a:ln>
                            <a:noFill/>
                          </a:ln>
                          <a:solidFill>
                            <a:srgbClr val="000000"/>
                          </a:solidFill>
                          <a:effectLst/>
                          <a:latin typeface="Arial Narrow" pitchFamily="34" charset="0"/>
                        </a:rPr>
                        <a:t> qui </a:t>
                      </a:r>
                      <a:r>
                        <a:rPr kumimoji="0" lang="en-GB" sz="2400" b="0" i="0" u="none" strike="noStrike" cap="none" normalizeH="0" baseline="0" dirty="0" err="1" smtClean="0">
                          <a:ln>
                            <a:noFill/>
                          </a:ln>
                          <a:solidFill>
                            <a:srgbClr val="000000"/>
                          </a:solidFill>
                          <a:effectLst/>
                          <a:latin typeface="Arial Narrow" pitchFamily="34" charset="0"/>
                        </a:rPr>
                        <a:t>pourraient</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dénoter</a:t>
                      </a:r>
                      <a:r>
                        <a:rPr kumimoji="0" lang="en-GB" sz="2400" b="0" i="0" u="none" strike="noStrike" cap="none" normalizeH="0" baseline="0" dirty="0" smtClean="0">
                          <a:ln>
                            <a:noFill/>
                          </a:ln>
                          <a:solidFill>
                            <a:srgbClr val="000000"/>
                          </a:solidFill>
                          <a:effectLst/>
                          <a:latin typeface="Arial Narrow" pitchFamily="34" charset="0"/>
                        </a:rPr>
                        <a:t> des </a:t>
                      </a:r>
                      <a:r>
                        <a:rPr kumimoji="0" lang="en-GB" sz="2400" b="0" i="0" u="none" strike="noStrike" cap="none" normalizeH="0" baseline="0" dirty="0" err="1" smtClean="0">
                          <a:ln>
                            <a:noFill/>
                          </a:ln>
                          <a:solidFill>
                            <a:srgbClr val="000000"/>
                          </a:solidFill>
                          <a:effectLst/>
                          <a:latin typeface="Arial Narrow" pitchFamily="34" charset="0"/>
                        </a:rPr>
                        <a:t>problèmes</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sur</a:t>
                      </a:r>
                      <a:r>
                        <a:rPr kumimoji="0" lang="en-GB" sz="2400" b="0" i="0" u="none" strike="noStrike" cap="none" normalizeH="0" baseline="0" dirty="0" smtClean="0">
                          <a:ln>
                            <a:noFill/>
                          </a:ln>
                          <a:solidFill>
                            <a:srgbClr val="000000"/>
                          </a:solidFill>
                          <a:effectLst/>
                          <a:latin typeface="Arial Narrow" pitchFamily="34" charset="0"/>
                        </a:rPr>
                        <a:t> le </a:t>
                      </a:r>
                      <a:r>
                        <a:rPr kumimoji="0" lang="en-GB" sz="2400" b="0" i="0" u="none" strike="noStrike" cap="none" normalizeH="0" baseline="0" dirty="0" err="1" smtClean="0">
                          <a:ln>
                            <a:noFill/>
                          </a:ln>
                          <a:solidFill>
                            <a:srgbClr val="000000"/>
                          </a:solidFill>
                          <a:effectLst/>
                          <a:latin typeface="Arial Narrow" pitchFamily="34" charset="0"/>
                        </a:rPr>
                        <a:t>réseau</a:t>
                      </a:r>
                      <a:r>
                        <a:rPr kumimoji="0" lang="en-GB" sz="2400" b="0" i="0" u="none" strike="noStrike" cap="none" normalizeH="0" baseline="0" dirty="0" smtClean="0">
                          <a:ln>
                            <a:noFill/>
                          </a:ln>
                          <a:solidFill>
                            <a:srgbClr val="000000"/>
                          </a:solidFill>
                          <a:effectLst/>
                          <a:latin typeface="Arial Narrow" pitchFamily="34" charset="0"/>
                        </a:rPr>
                        <a:t> </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r>
              <a:tr h="382588">
                <a:tc>
                  <a:txBody>
                    <a:bodyPr/>
                    <a:lstStyle/>
                    <a:p>
                      <a:pPr marL="0" marR="0" lvl="0" indent="0" algn="l"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1" i="0" u="none" strike="noStrike" cap="none" normalizeH="0" baseline="0" dirty="0" err="1" smtClean="0">
                          <a:ln>
                            <a:noFill/>
                          </a:ln>
                          <a:solidFill>
                            <a:srgbClr val="000000"/>
                          </a:solidFill>
                          <a:effectLst/>
                          <a:latin typeface="Arial Narrow" pitchFamily="34" charset="0"/>
                        </a:rPr>
                        <a:t>Longueur</a:t>
                      </a:r>
                      <a:r>
                        <a:rPr kumimoji="0" lang="en-GB" sz="2400" b="1" i="0" u="none" strike="noStrike" cap="none" normalizeH="0" baseline="0" dirty="0" smtClean="0">
                          <a:ln>
                            <a:noFill/>
                          </a:ln>
                          <a:solidFill>
                            <a:srgbClr val="000000"/>
                          </a:solidFill>
                          <a:effectLst/>
                          <a:latin typeface="Arial Narrow" pitchFamily="34" charset="0"/>
                        </a:rPr>
                        <a:t> de </a:t>
                      </a:r>
                      <a:br>
                        <a:rPr kumimoji="0" lang="en-GB" sz="2400" b="1" i="0" u="none" strike="noStrike" cap="none" normalizeH="0" baseline="0" dirty="0" smtClean="0">
                          <a:ln>
                            <a:noFill/>
                          </a:ln>
                          <a:solidFill>
                            <a:srgbClr val="000000"/>
                          </a:solidFill>
                          <a:effectLst/>
                          <a:latin typeface="Arial Narrow" pitchFamily="34" charset="0"/>
                        </a:rPr>
                      </a:br>
                      <a:r>
                        <a:rPr kumimoji="0" lang="en-GB" sz="2400" b="1" i="0" u="none" strike="noStrike" cap="none" normalizeH="0" baseline="0" dirty="0" smtClean="0">
                          <a:ln>
                            <a:noFill/>
                          </a:ln>
                          <a:solidFill>
                            <a:srgbClr val="000000"/>
                          </a:solidFill>
                          <a:effectLst/>
                          <a:latin typeface="Arial Narrow" pitchFamily="34" charset="0"/>
                        </a:rPr>
                        <a:t>la file </a:t>
                      </a:r>
                      <a:r>
                        <a:rPr kumimoji="0" lang="en-GB" sz="2400" b="1" i="0" u="none" strike="noStrike" cap="none" normalizeH="0" baseline="0" dirty="0" err="1" smtClean="0">
                          <a:ln>
                            <a:noFill/>
                          </a:ln>
                          <a:solidFill>
                            <a:srgbClr val="000000"/>
                          </a:solidFill>
                          <a:effectLst/>
                          <a:latin typeface="Arial Narrow" pitchFamily="34" charset="0"/>
                        </a:rPr>
                        <a:t>d'attente</a:t>
                      </a:r>
                      <a:r>
                        <a:rPr kumimoji="0" lang="en-GB" sz="2400" b="1" i="0" u="none" strike="noStrike" cap="none" normalizeH="0" baseline="0" dirty="0" smtClean="0">
                          <a:ln>
                            <a:noFill/>
                          </a:ln>
                          <a:solidFill>
                            <a:srgbClr val="000000"/>
                          </a:solidFill>
                          <a:effectLst/>
                          <a:latin typeface="Arial Narrow" pitchFamily="34" charset="0"/>
                        </a:rPr>
                        <a:t> active</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D5D69C"/>
                        </a:gs>
                        <a:gs pos="5000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0" i="0" u="none" strike="noStrike" cap="none" normalizeH="0" baseline="0" dirty="0" err="1" smtClean="0">
                          <a:ln>
                            <a:noFill/>
                          </a:ln>
                          <a:solidFill>
                            <a:srgbClr val="000000"/>
                          </a:solidFill>
                          <a:effectLst/>
                          <a:latin typeface="Arial Narrow" pitchFamily="34" charset="0"/>
                        </a:rPr>
                        <a:t>Surveiller</a:t>
                      </a:r>
                      <a:r>
                        <a:rPr kumimoji="0" lang="en-GB" sz="2400" b="0" i="0" u="none" strike="noStrike" cap="none" normalizeH="0" baseline="0" dirty="0" smtClean="0">
                          <a:ln>
                            <a:noFill/>
                          </a:ln>
                          <a:solidFill>
                            <a:srgbClr val="000000"/>
                          </a:solidFill>
                          <a:effectLst/>
                          <a:latin typeface="Arial Narrow" pitchFamily="34" charset="0"/>
                        </a:rPr>
                        <a:t> les augmentations </a:t>
                      </a:r>
                      <a:r>
                        <a:rPr kumimoji="0" lang="en-GB" sz="2400" b="0" i="0" u="none" strike="noStrike" cap="none" normalizeH="0" baseline="0" dirty="0" err="1" smtClean="0">
                          <a:ln>
                            <a:noFill/>
                          </a:ln>
                          <a:solidFill>
                            <a:srgbClr val="000000"/>
                          </a:solidFill>
                          <a:effectLst/>
                          <a:latin typeface="Arial Narrow" pitchFamily="34" charset="0"/>
                        </a:rPr>
                        <a:t>soudaines</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ou</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graduelles</a:t>
                      </a:r>
                      <a:r>
                        <a:rPr kumimoji="0" lang="en-GB" sz="2400" b="0" i="0" u="none" strike="noStrike" cap="none" normalizeH="0" baseline="0" dirty="0" smtClean="0">
                          <a:ln>
                            <a:noFill/>
                          </a:ln>
                          <a:solidFill>
                            <a:srgbClr val="000000"/>
                          </a:solidFill>
                          <a:effectLst/>
                          <a:latin typeface="Arial Narrow" pitchFamily="34" charset="0"/>
                        </a:rPr>
                        <a:t> qui </a:t>
                      </a:r>
                      <a:r>
                        <a:rPr kumimoji="0" lang="en-GB" sz="2400" b="0" i="0" u="none" strike="noStrike" cap="none" normalizeH="0" baseline="0" dirty="0" err="1" smtClean="0">
                          <a:ln>
                            <a:noFill/>
                          </a:ln>
                          <a:solidFill>
                            <a:srgbClr val="000000"/>
                          </a:solidFill>
                          <a:effectLst/>
                          <a:latin typeface="Arial Narrow" pitchFamily="34" charset="0"/>
                        </a:rPr>
                        <a:t>pourraient</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dénoter</a:t>
                      </a:r>
                      <a:r>
                        <a:rPr kumimoji="0" lang="en-GB" sz="2400" b="0" i="0" u="none" strike="noStrike" cap="none" normalizeH="0" baseline="0" dirty="0" smtClean="0">
                          <a:ln>
                            <a:noFill/>
                          </a:ln>
                          <a:solidFill>
                            <a:srgbClr val="000000"/>
                          </a:solidFill>
                          <a:effectLst/>
                          <a:latin typeface="Arial Narrow" pitchFamily="34" charset="0"/>
                        </a:rPr>
                        <a:t> un </a:t>
                      </a:r>
                      <a:r>
                        <a:rPr kumimoji="0" lang="en-GB" sz="2400" b="0" i="0" u="none" strike="noStrike" cap="none" normalizeH="0" baseline="0" dirty="0" err="1" smtClean="0">
                          <a:ln>
                            <a:noFill/>
                          </a:ln>
                          <a:solidFill>
                            <a:srgbClr val="000000"/>
                          </a:solidFill>
                          <a:effectLst/>
                          <a:latin typeface="Arial Narrow" pitchFamily="34" charset="0"/>
                        </a:rPr>
                        <a:t>accroissement</a:t>
                      </a:r>
                      <a:r>
                        <a:rPr kumimoji="0" lang="en-GB" sz="2400" b="0" i="0" u="none" strike="noStrike" cap="none" normalizeH="0" baseline="0" dirty="0" smtClean="0">
                          <a:ln>
                            <a:noFill/>
                          </a:ln>
                          <a:solidFill>
                            <a:srgbClr val="000000"/>
                          </a:solidFill>
                          <a:effectLst/>
                          <a:latin typeface="Arial Narrow" pitchFamily="34" charset="0"/>
                        </a:rPr>
                        <a:t> de la charge </a:t>
                      </a:r>
                      <a:r>
                        <a:rPr kumimoji="0" lang="en-GB" sz="2400" b="0" i="0" u="none" strike="noStrike" cap="none" normalizeH="0" baseline="0" dirty="0" err="1" smtClean="0">
                          <a:ln>
                            <a:noFill/>
                          </a:ln>
                          <a:solidFill>
                            <a:srgbClr val="000000"/>
                          </a:solidFill>
                          <a:effectLst/>
                          <a:latin typeface="Arial Narrow" pitchFamily="34" charset="0"/>
                        </a:rPr>
                        <a:t>ou</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une</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baisse</a:t>
                      </a:r>
                      <a:r>
                        <a:rPr kumimoji="0" lang="en-GB" sz="2400" b="0" i="0" u="none" strike="noStrike" cap="none" normalizeH="0" baseline="0" dirty="0" smtClean="0">
                          <a:ln>
                            <a:noFill/>
                          </a:ln>
                          <a:solidFill>
                            <a:srgbClr val="000000"/>
                          </a:solidFill>
                          <a:effectLst/>
                          <a:latin typeface="Arial Narrow" pitchFamily="34" charset="0"/>
                        </a:rPr>
                        <a:t> de la </a:t>
                      </a:r>
                      <a:r>
                        <a:rPr kumimoji="0" lang="en-GB" sz="2400" b="0" i="0" u="none" strike="noStrike" cap="none" normalizeH="0" baseline="0" dirty="0" err="1" smtClean="0">
                          <a:ln>
                            <a:noFill/>
                          </a:ln>
                          <a:solidFill>
                            <a:srgbClr val="000000"/>
                          </a:solidFill>
                          <a:effectLst/>
                          <a:latin typeface="Arial Narrow" pitchFamily="34" charset="0"/>
                        </a:rPr>
                        <a:t>capacité</a:t>
                      </a:r>
                      <a:r>
                        <a:rPr kumimoji="0" lang="en-GB" sz="2400" b="0" i="0" u="none" strike="noStrike" cap="none" normalizeH="0" baseline="0" dirty="0" smtClean="0">
                          <a:ln>
                            <a:noFill/>
                          </a:ln>
                          <a:solidFill>
                            <a:srgbClr val="000000"/>
                          </a:solidFill>
                          <a:effectLst/>
                          <a:latin typeface="Arial Narrow" pitchFamily="34" charset="0"/>
                        </a:rPr>
                        <a:t> de </a:t>
                      </a:r>
                      <a:r>
                        <a:rPr kumimoji="0" lang="en-GB" sz="2400" b="0" i="0" u="none" strike="noStrike" cap="none" normalizeH="0" baseline="0" dirty="0" err="1" smtClean="0">
                          <a:ln>
                            <a:noFill/>
                          </a:ln>
                          <a:solidFill>
                            <a:srgbClr val="000000"/>
                          </a:solidFill>
                          <a:effectLst/>
                          <a:latin typeface="Arial Narrow" pitchFamily="34" charset="0"/>
                        </a:rPr>
                        <a:t>traitement</a:t>
                      </a:r>
                      <a:r>
                        <a:rPr kumimoji="0" lang="en-GB" sz="2400" b="0" i="0" u="none" strike="noStrike" cap="none" normalizeH="0" baseline="0" dirty="0" smtClean="0">
                          <a:ln>
                            <a:noFill/>
                          </a:ln>
                          <a:solidFill>
                            <a:srgbClr val="000000"/>
                          </a:solidFill>
                          <a:effectLst/>
                          <a:latin typeface="Arial Narrow" pitchFamily="34" charset="0"/>
                        </a:rPr>
                        <a:t> du </a:t>
                      </a:r>
                      <a:r>
                        <a:rPr kumimoji="0" lang="en-GB" sz="2400" b="0" i="0" u="none" strike="noStrike" cap="none" normalizeH="0" baseline="0" dirty="0" err="1" smtClean="0">
                          <a:ln>
                            <a:noFill/>
                          </a:ln>
                          <a:solidFill>
                            <a:srgbClr val="000000"/>
                          </a:solidFill>
                          <a:effectLst/>
                          <a:latin typeface="Arial Narrow" pitchFamily="34" charset="0"/>
                        </a:rPr>
                        <a:t>serveur</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r>
              <a:tr h="666750">
                <a:tc>
                  <a:txBody>
                    <a:bodyPr/>
                    <a:lstStyle/>
                    <a:p>
                      <a:pPr marL="0" marR="0" lvl="0" indent="0" algn="l"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1" i="0" u="none" strike="noStrike" cap="none" normalizeH="0" baseline="0" dirty="0" err="1" smtClean="0">
                          <a:ln>
                            <a:noFill/>
                          </a:ln>
                          <a:solidFill>
                            <a:srgbClr val="000000"/>
                          </a:solidFill>
                          <a:effectLst/>
                          <a:latin typeface="Arial Narrow" pitchFamily="34" charset="0"/>
                        </a:rPr>
                        <a:t>Doublons</a:t>
                      </a:r>
                      <a:r>
                        <a:rPr kumimoji="0" lang="en-GB" sz="2400" b="1" i="0" u="none" strike="noStrike" cap="none" normalizeH="0" baseline="0" dirty="0" smtClean="0">
                          <a:ln>
                            <a:noFill/>
                          </a:ln>
                          <a:solidFill>
                            <a:srgbClr val="000000"/>
                          </a:solidFill>
                          <a:effectLst/>
                          <a:latin typeface="Arial Narrow" pitchFamily="34" charset="0"/>
                        </a:rPr>
                        <a:t> </a:t>
                      </a:r>
                      <a:r>
                        <a:rPr kumimoji="0" lang="en-GB" sz="2400" b="1" i="0" u="none" strike="noStrike" cap="none" normalizeH="0" baseline="0" dirty="0" err="1" smtClean="0">
                          <a:ln>
                            <a:noFill/>
                          </a:ln>
                          <a:solidFill>
                            <a:srgbClr val="000000"/>
                          </a:solidFill>
                          <a:effectLst/>
                          <a:latin typeface="Arial Narrow" pitchFamily="34" charset="0"/>
                        </a:rPr>
                        <a:t>ignorés</a:t>
                      </a:r>
                      <a:r>
                        <a:rPr kumimoji="0" lang="en-GB" sz="2400" b="1" i="0" u="none" strike="noStrike" cap="none" normalizeH="0" baseline="0" dirty="0" smtClean="0">
                          <a:ln>
                            <a:noFill/>
                          </a:ln>
                          <a:solidFill>
                            <a:srgbClr val="000000"/>
                          </a:solidFill>
                          <a:effectLst/>
                          <a:latin typeface="Arial Narrow" pitchFamily="34" charset="0"/>
                        </a:rPr>
                        <a:t>/s</a:t>
                      </a:r>
                      <a:endParaRPr kumimoji="0" lang="en-US" sz="2400" b="1"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D5D69C"/>
                        </a:gs>
                        <a:gs pos="5000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ts val="0"/>
                        </a:spcBef>
                        <a:spcAft>
                          <a:spcPts val="600"/>
                        </a:spcAft>
                        <a:buClr>
                          <a:srgbClr val="8DACD0"/>
                        </a:buClr>
                        <a:buSzPct val="70000"/>
                        <a:buFont typeface="Wingdings" pitchFamily="2" charset="2"/>
                        <a:buNone/>
                        <a:tabLst/>
                      </a:pPr>
                      <a:r>
                        <a:rPr kumimoji="0" lang="en-GB" sz="2400" b="0" i="0" u="none" strike="noStrike" cap="none" normalizeH="0" baseline="0" dirty="0" err="1" smtClean="0">
                          <a:ln>
                            <a:noFill/>
                          </a:ln>
                          <a:solidFill>
                            <a:srgbClr val="000000"/>
                          </a:solidFill>
                          <a:effectLst/>
                          <a:latin typeface="Arial Narrow" pitchFamily="34" charset="0"/>
                        </a:rPr>
                        <a:t>Surveiller</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toute</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activité</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pouvant</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indiquer</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que</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plusieurs</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demandes</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sont</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transmises</a:t>
                      </a:r>
                      <a:r>
                        <a:rPr kumimoji="0" lang="en-GB" sz="2400" b="0" i="0" u="none" strike="noStrike" cap="none" normalizeH="0" baseline="0" dirty="0" smtClean="0">
                          <a:ln>
                            <a:noFill/>
                          </a:ln>
                          <a:solidFill>
                            <a:srgbClr val="000000"/>
                          </a:solidFill>
                          <a:effectLst/>
                          <a:latin typeface="Arial Narrow" pitchFamily="34" charset="0"/>
                        </a:rPr>
                        <a:t> au </a:t>
                      </a:r>
                      <a:r>
                        <a:rPr kumimoji="0" lang="en-GB" sz="2400" b="0" i="0" u="none" strike="noStrike" cap="none" normalizeH="0" baseline="0" dirty="0" err="1" smtClean="0">
                          <a:ln>
                            <a:noFill/>
                          </a:ln>
                          <a:solidFill>
                            <a:srgbClr val="000000"/>
                          </a:solidFill>
                          <a:effectLst/>
                          <a:latin typeface="Arial Narrow" pitchFamily="34" charset="0"/>
                        </a:rPr>
                        <a:t>serveur</a:t>
                      </a:r>
                      <a:r>
                        <a:rPr kumimoji="0" lang="en-GB" sz="2400" b="0" i="0" u="none" strike="noStrike" cap="none" normalizeH="0" baseline="0" dirty="0" smtClean="0">
                          <a:ln>
                            <a:noFill/>
                          </a:ln>
                          <a:solidFill>
                            <a:srgbClr val="000000"/>
                          </a:solidFill>
                          <a:effectLst/>
                          <a:latin typeface="Arial Narrow" pitchFamily="34" charset="0"/>
                        </a:rPr>
                        <a:t> au nom des clients</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custDataLst>
              <p:tags r:id="rId1"/>
            </p:custDataLst>
          </p:nvPr>
        </p:nvSpPr>
        <p:spPr/>
        <p:txBody>
          <a:bodyPr vert="horz" anchor="b">
            <a:noAutofit/>
          </a:bodyPr>
          <a:lstStyle/>
          <a:p>
            <a:r>
              <a:rPr lang="fr-FR" sz="2600" dirty="0">
                <a:solidFill>
                  <a:srgbClr val="C00000"/>
                </a:solidFill>
              </a:rPr>
              <a:t>Instructions pour créer des alertes pour un </a:t>
            </a:r>
            <a:br>
              <a:rPr lang="fr-FR" sz="2600" dirty="0">
                <a:solidFill>
                  <a:srgbClr val="C00000"/>
                </a:solidFill>
              </a:rPr>
            </a:br>
            <a:r>
              <a:rPr lang="fr-FR" sz="2600" dirty="0">
                <a:solidFill>
                  <a:srgbClr val="C00000"/>
                </a:solidFill>
              </a:rPr>
              <a:t>serveur DHCP</a:t>
            </a:r>
            <a:endParaRPr lang="en-US" sz="2600" dirty="0">
              <a:solidFill>
                <a:srgbClr val="C00000"/>
              </a:solidFill>
            </a:endParaRPr>
          </a:p>
        </p:txBody>
      </p:sp>
      <p:sp>
        <p:nvSpPr>
          <p:cNvPr id="6" name="AutoShape 14"/>
          <p:cNvSpPr>
            <a:spLocks noChangeArrowheads="1"/>
          </p:cNvSpPr>
          <p:nvPr>
            <p:custDataLst>
              <p:tags r:id="rId2"/>
            </p:custDataLst>
          </p:nvPr>
        </p:nvSpPr>
        <p:spPr bwMode="auto">
          <a:xfrm>
            <a:off x="411480" y="1724025"/>
            <a:ext cx="8442959" cy="165925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marL="177800" indent="-177800" algn="l">
              <a:buFont typeface="Wingdings" pitchFamily="2" charset="2"/>
              <a:buBlip>
                <a:blip r:embed="rId6"/>
              </a:buBlip>
            </a:pPr>
            <a:r>
              <a:rPr lang="en-GB" sz="2600">
                <a:solidFill>
                  <a:srgbClr val="000000"/>
                </a:solidFill>
              </a:rPr>
              <a:t>Avant de créer une alerte, définir le niveau acceptable au-dessus ou au-dessous duquel la valeur d'un compteur DHCP peut augmenter ou diminuer</a:t>
            </a:r>
            <a:endParaRPr lang="en-US" sz="2600"/>
          </a:p>
        </p:txBody>
      </p:sp>
      <p:sp>
        <p:nvSpPr>
          <p:cNvPr id="7" name="AutoShape 16"/>
          <p:cNvSpPr>
            <a:spLocks noChangeArrowheads="1"/>
          </p:cNvSpPr>
          <p:nvPr>
            <p:custDataLst>
              <p:tags r:id="rId3"/>
            </p:custDataLst>
          </p:nvPr>
        </p:nvSpPr>
        <p:spPr bwMode="auto">
          <a:xfrm>
            <a:off x="396240" y="3634105"/>
            <a:ext cx="8442959" cy="7620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marL="177800" indent="-177800" algn="l">
              <a:buFont typeface="Wingdings" pitchFamily="2" charset="2"/>
              <a:buBlip>
                <a:blip r:embed="rId6"/>
              </a:buBlip>
            </a:pPr>
            <a:r>
              <a:rPr lang="en-GB" sz="2600">
                <a:solidFill>
                  <a:srgbClr val="000000"/>
                </a:solidFill>
              </a:rPr>
              <a:t>Utiliser des scripts avec vos alertes</a:t>
            </a:r>
            <a:endParaRPr lang="en-US" sz="2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custDataLst>
              <p:tags r:id="rId1"/>
            </p:custDataLst>
          </p:nvPr>
        </p:nvSpPr>
        <p:spPr/>
        <p:txBody>
          <a:bodyPr>
            <a:normAutofit fontScale="90000"/>
          </a:bodyPr>
          <a:lstStyle/>
          <a:p>
            <a:r>
              <a:rPr lang="fr-FR" sz="2600" dirty="0" smtClean="0">
                <a:solidFill>
                  <a:srgbClr val="000000"/>
                </a:solidFill>
              </a:rPr>
              <a:t>3. Application </a:t>
            </a:r>
            <a:r>
              <a:rPr lang="fr-FR" sz="2600" dirty="0">
                <a:solidFill>
                  <a:srgbClr val="000000"/>
                </a:solidFill>
              </a:rPr>
              <a:t>des instructions de sécurité pour le service DHCP</a:t>
            </a:r>
            <a:endParaRPr lang="en-US" sz="2600" dirty="0">
              <a:solidFill>
                <a:srgbClr val="000000"/>
              </a:solidFill>
            </a:endParaRPr>
          </a:p>
        </p:txBody>
      </p:sp>
      <p:sp>
        <p:nvSpPr>
          <p:cNvPr id="243715" name="Rectangle 3"/>
          <p:cNvSpPr>
            <a:spLocks noGrp="1" noChangeArrowheads="1"/>
          </p:cNvSpPr>
          <p:nvPr>
            <p:ph type="body" idx="1"/>
            <p:custDataLst>
              <p:tags r:id="rId2"/>
            </p:custDataLst>
          </p:nvPr>
        </p:nvSpPr>
        <p:spPr/>
        <p:txBody>
          <a:bodyPr/>
          <a:lstStyle/>
          <a:p>
            <a:r>
              <a:rPr lang="en-GB" dirty="0">
                <a:solidFill>
                  <a:srgbClr val="000000"/>
                </a:solidFill>
              </a:rPr>
              <a:t>Instructions pour </a:t>
            </a:r>
            <a:r>
              <a:rPr lang="en-GB" dirty="0" err="1">
                <a:solidFill>
                  <a:srgbClr val="000000"/>
                </a:solidFill>
              </a:rPr>
              <a:t>empêcher</a:t>
            </a:r>
            <a:r>
              <a:rPr lang="en-GB" dirty="0">
                <a:solidFill>
                  <a:srgbClr val="000000"/>
                </a:solidFill>
              </a:rPr>
              <a:t> un </a:t>
            </a:r>
            <a:r>
              <a:rPr lang="en-GB" dirty="0" err="1">
                <a:solidFill>
                  <a:srgbClr val="000000"/>
                </a:solidFill>
              </a:rPr>
              <a:t>utilisateur</a:t>
            </a:r>
            <a:r>
              <a:rPr lang="en-GB" dirty="0">
                <a:solidFill>
                  <a:srgbClr val="000000"/>
                </a:solidFill>
              </a:rPr>
              <a:t> non </a:t>
            </a:r>
            <a:r>
              <a:rPr lang="en-GB" dirty="0" err="1">
                <a:solidFill>
                  <a:srgbClr val="000000"/>
                </a:solidFill>
              </a:rPr>
              <a:t>autorisé</a:t>
            </a:r>
            <a:r>
              <a:rPr lang="en-GB" dirty="0">
                <a:solidFill>
                  <a:srgbClr val="000000"/>
                </a:solidFill>
              </a:rPr>
              <a:t> </a:t>
            </a:r>
            <a:r>
              <a:rPr lang="en-GB" dirty="0" err="1">
                <a:solidFill>
                  <a:srgbClr val="000000"/>
                </a:solidFill>
              </a:rPr>
              <a:t>d'obtenir</a:t>
            </a:r>
            <a:r>
              <a:rPr lang="en-GB" dirty="0">
                <a:solidFill>
                  <a:srgbClr val="000000"/>
                </a:solidFill>
              </a:rPr>
              <a:t> un bail</a:t>
            </a:r>
            <a:endParaRPr lang="en-US" dirty="0"/>
          </a:p>
          <a:p>
            <a:r>
              <a:rPr lang="en-GB" dirty="0">
                <a:solidFill>
                  <a:srgbClr val="000000"/>
                </a:solidFill>
              </a:rPr>
              <a:t>Instructions pour </a:t>
            </a:r>
            <a:r>
              <a:rPr lang="en-GB" dirty="0" err="1">
                <a:solidFill>
                  <a:srgbClr val="000000"/>
                </a:solidFill>
              </a:rPr>
              <a:t>empêcher</a:t>
            </a:r>
            <a:r>
              <a:rPr lang="en-GB" dirty="0">
                <a:solidFill>
                  <a:srgbClr val="000000"/>
                </a:solidFill>
              </a:rPr>
              <a:t> un </a:t>
            </a:r>
            <a:r>
              <a:rPr lang="en-GB" dirty="0" err="1">
                <a:solidFill>
                  <a:srgbClr val="000000"/>
                </a:solidFill>
              </a:rPr>
              <a:t>serveur</a:t>
            </a:r>
            <a:r>
              <a:rPr lang="en-GB" dirty="0">
                <a:solidFill>
                  <a:srgbClr val="000000"/>
                </a:solidFill>
              </a:rPr>
              <a:t> DHCP non </a:t>
            </a:r>
            <a:r>
              <a:rPr lang="en-GB" dirty="0" err="1">
                <a:solidFill>
                  <a:srgbClr val="000000"/>
                </a:solidFill>
              </a:rPr>
              <a:t>autorisé</a:t>
            </a:r>
            <a:r>
              <a:rPr lang="en-GB" dirty="0">
                <a:solidFill>
                  <a:srgbClr val="000000"/>
                </a:solidFill>
              </a:rPr>
              <a:t>, non-Microsoft, de </a:t>
            </a:r>
            <a:r>
              <a:rPr lang="en-GB" dirty="0" err="1">
                <a:solidFill>
                  <a:srgbClr val="000000"/>
                </a:solidFill>
              </a:rPr>
              <a:t>louer</a:t>
            </a:r>
            <a:r>
              <a:rPr lang="en-GB" dirty="0">
                <a:solidFill>
                  <a:srgbClr val="000000"/>
                </a:solidFill>
              </a:rPr>
              <a:t> des </a:t>
            </a:r>
            <a:r>
              <a:rPr lang="en-GB" dirty="0" err="1">
                <a:solidFill>
                  <a:srgbClr val="000000"/>
                </a:solidFill>
              </a:rPr>
              <a:t>adresses</a:t>
            </a:r>
            <a:r>
              <a:rPr lang="en-GB" dirty="0">
                <a:solidFill>
                  <a:srgbClr val="000000"/>
                </a:solidFill>
              </a:rPr>
              <a:t> IP</a:t>
            </a:r>
            <a:endParaRPr lang="en-US" dirty="0"/>
          </a:p>
          <a:p>
            <a:r>
              <a:rPr lang="en-GB" dirty="0">
                <a:solidFill>
                  <a:srgbClr val="000000"/>
                </a:solidFill>
              </a:rPr>
              <a:t>Instructions pour limiter le </a:t>
            </a:r>
            <a:r>
              <a:rPr lang="en-GB" dirty="0" err="1">
                <a:solidFill>
                  <a:srgbClr val="000000"/>
                </a:solidFill>
              </a:rPr>
              <a:t>cercle</a:t>
            </a:r>
            <a:r>
              <a:rPr lang="en-GB" dirty="0">
                <a:solidFill>
                  <a:srgbClr val="000000"/>
                </a:solidFill>
              </a:rPr>
              <a:t> des </a:t>
            </a:r>
            <a:r>
              <a:rPr lang="en-GB" dirty="0" err="1">
                <a:solidFill>
                  <a:srgbClr val="000000"/>
                </a:solidFill>
              </a:rPr>
              <a:t>personnes</a:t>
            </a:r>
            <a:r>
              <a:rPr lang="en-GB" dirty="0">
                <a:solidFill>
                  <a:srgbClr val="000000"/>
                </a:solidFill>
              </a:rPr>
              <a:t> </a:t>
            </a:r>
            <a:r>
              <a:rPr lang="en-GB" dirty="0" err="1">
                <a:solidFill>
                  <a:srgbClr val="000000"/>
                </a:solidFill>
              </a:rPr>
              <a:t>autorisées</a:t>
            </a:r>
            <a:r>
              <a:rPr lang="en-GB" dirty="0">
                <a:solidFill>
                  <a:srgbClr val="000000"/>
                </a:solidFill>
              </a:rPr>
              <a:t> à </a:t>
            </a:r>
            <a:r>
              <a:rPr lang="en-GB" dirty="0" err="1">
                <a:solidFill>
                  <a:srgbClr val="000000"/>
                </a:solidFill>
              </a:rPr>
              <a:t>administrer</a:t>
            </a:r>
            <a:r>
              <a:rPr lang="en-GB" dirty="0">
                <a:solidFill>
                  <a:srgbClr val="000000"/>
                </a:solidFill>
              </a:rPr>
              <a:t> le service DHCP</a:t>
            </a:r>
            <a:endParaRPr lang="en-US" dirty="0"/>
          </a:p>
          <a:p>
            <a:r>
              <a:rPr lang="en-GB" dirty="0">
                <a:solidFill>
                  <a:srgbClr val="000000"/>
                </a:solidFill>
              </a:rPr>
              <a:t>Instructions pour </a:t>
            </a:r>
            <a:r>
              <a:rPr lang="en-GB" dirty="0" err="1">
                <a:solidFill>
                  <a:srgbClr val="000000"/>
                </a:solidFill>
              </a:rPr>
              <a:t>sécuriser</a:t>
            </a:r>
            <a:r>
              <a:rPr lang="en-GB" dirty="0">
                <a:solidFill>
                  <a:srgbClr val="000000"/>
                </a:solidFill>
              </a:rPr>
              <a:t> la base de </a:t>
            </a:r>
            <a:r>
              <a:rPr lang="en-GB" dirty="0" err="1">
                <a:solidFill>
                  <a:srgbClr val="000000"/>
                </a:solidFill>
              </a:rPr>
              <a:t>données</a:t>
            </a:r>
            <a:r>
              <a:rPr lang="en-GB" dirty="0">
                <a:solidFill>
                  <a:srgbClr val="000000"/>
                </a:solidFill>
              </a:rPr>
              <a:t> DHCP</a:t>
            </a:r>
            <a:endParaRPr lang="en-US" dirty="0">
              <a:solidFill>
                <a:srgbClr val="0000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custDataLst>
              <p:tags r:id="rId1"/>
            </p:custDataLst>
          </p:nvPr>
        </p:nvSpPr>
        <p:spPr>
          <a:xfrm>
            <a:off x="330780" y="446313"/>
            <a:ext cx="8534400" cy="758952"/>
          </a:xfrm>
        </p:spPr>
        <p:txBody>
          <a:bodyPr vert="horz" anchor="b">
            <a:noAutofit/>
          </a:bodyPr>
          <a:lstStyle/>
          <a:p>
            <a:r>
              <a:rPr lang="fr-FR" sz="2600" b="1" dirty="0">
                <a:solidFill>
                  <a:srgbClr val="C00000"/>
                </a:solidFill>
              </a:rPr>
              <a:t>Instructions pour empêcher un utilisateur non autorisé d'obtenir un bail</a:t>
            </a:r>
            <a:endParaRPr lang="en-US" sz="2600" b="1" dirty="0">
              <a:solidFill>
                <a:srgbClr val="C00000"/>
              </a:solidFill>
            </a:endParaRPr>
          </a:p>
        </p:txBody>
      </p:sp>
      <p:sp>
        <p:nvSpPr>
          <p:cNvPr id="245764" name="AutoShape 4"/>
          <p:cNvSpPr>
            <a:spLocks noChangeArrowheads="1"/>
          </p:cNvSpPr>
          <p:nvPr>
            <p:custDataLst>
              <p:tags r:id="rId2"/>
            </p:custDataLst>
          </p:nvPr>
        </p:nvSpPr>
        <p:spPr bwMode="auto">
          <a:xfrm>
            <a:off x="374877" y="1524681"/>
            <a:ext cx="8145009" cy="94651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8"/>
              </a:buBlip>
            </a:pPr>
            <a:r>
              <a:rPr lang="en-GB" dirty="0" err="1">
                <a:solidFill>
                  <a:srgbClr val="000000"/>
                </a:solidFill>
              </a:rPr>
              <a:t>Vérifier</a:t>
            </a:r>
            <a:r>
              <a:rPr lang="en-GB" dirty="0">
                <a:solidFill>
                  <a:srgbClr val="000000"/>
                </a:solidFill>
              </a:rPr>
              <a:t> </a:t>
            </a:r>
            <a:r>
              <a:rPr lang="en-GB" dirty="0" err="1">
                <a:solidFill>
                  <a:srgbClr val="000000"/>
                </a:solidFill>
              </a:rPr>
              <a:t>que</a:t>
            </a:r>
            <a:r>
              <a:rPr lang="en-GB" dirty="0">
                <a:solidFill>
                  <a:srgbClr val="000000"/>
                </a:solidFill>
              </a:rPr>
              <a:t> les </a:t>
            </a:r>
            <a:r>
              <a:rPr lang="en-GB" dirty="0" err="1">
                <a:solidFill>
                  <a:srgbClr val="000000"/>
                </a:solidFill>
              </a:rPr>
              <a:t>personnes</a:t>
            </a:r>
            <a:r>
              <a:rPr lang="en-GB" dirty="0">
                <a:solidFill>
                  <a:srgbClr val="000000"/>
                </a:solidFill>
              </a:rPr>
              <a:t> non </a:t>
            </a:r>
            <a:r>
              <a:rPr lang="en-GB" dirty="0" err="1">
                <a:solidFill>
                  <a:srgbClr val="000000"/>
                </a:solidFill>
              </a:rPr>
              <a:t>autorisées</a:t>
            </a:r>
            <a:r>
              <a:rPr lang="en-GB" dirty="0">
                <a:solidFill>
                  <a:srgbClr val="000000"/>
                </a:solidFill>
              </a:rPr>
              <a:t> </a:t>
            </a:r>
            <a:r>
              <a:rPr lang="en-GB" dirty="0" err="1">
                <a:solidFill>
                  <a:srgbClr val="000000"/>
                </a:solidFill>
              </a:rPr>
              <a:t>n'ont</a:t>
            </a:r>
            <a:r>
              <a:rPr lang="en-GB" dirty="0">
                <a:solidFill>
                  <a:srgbClr val="000000"/>
                </a:solidFill>
              </a:rPr>
              <a:t> pas </a:t>
            </a:r>
            <a:r>
              <a:rPr lang="en-GB" dirty="0" err="1">
                <a:solidFill>
                  <a:srgbClr val="000000"/>
                </a:solidFill>
              </a:rPr>
              <a:t>d'accès</a:t>
            </a:r>
            <a:r>
              <a:rPr lang="en-GB" dirty="0">
                <a:solidFill>
                  <a:srgbClr val="000000"/>
                </a:solidFill>
              </a:rPr>
              <a:t> physique </a:t>
            </a:r>
            <a:r>
              <a:rPr lang="en-GB" dirty="0" err="1">
                <a:solidFill>
                  <a:srgbClr val="000000"/>
                </a:solidFill>
              </a:rPr>
              <a:t>ou</a:t>
            </a:r>
            <a:r>
              <a:rPr lang="en-GB" dirty="0">
                <a:solidFill>
                  <a:srgbClr val="000000"/>
                </a:solidFill>
              </a:rPr>
              <a:t> sans </a:t>
            </a:r>
            <a:r>
              <a:rPr lang="en-GB" dirty="0" err="1">
                <a:solidFill>
                  <a:srgbClr val="000000"/>
                </a:solidFill>
              </a:rPr>
              <a:t>fil</a:t>
            </a:r>
            <a:r>
              <a:rPr lang="en-GB" dirty="0">
                <a:solidFill>
                  <a:srgbClr val="000000"/>
                </a:solidFill>
              </a:rPr>
              <a:t> à </a:t>
            </a:r>
            <a:r>
              <a:rPr lang="en-GB" dirty="0" err="1">
                <a:solidFill>
                  <a:srgbClr val="000000"/>
                </a:solidFill>
              </a:rPr>
              <a:t>votre</a:t>
            </a:r>
            <a:r>
              <a:rPr lang="en-GB" dirty="0">
                <a:solidFill>
                  <a:srgbClr val="000000"/>
                </a:solidFill>
              </a:rPr>
              <a:t> </a:t>
            </a:r>
            <a:r>
              <a:rPr lang="en-GB" dirty="0" err="1">
                <a:solidFill>
                  <a:srgbClr val="000000"/>
                </a:solidFill>
              </a:rPr>
              <a:t>réseau</a:t>
            </a:r>
            <a:endParaRPr lang="en-US" dirty="0"/>
          </a:p>
        </p:txBody>
      </p:sp>
      <p:sp>
        <p:nvSpPr>
          <p:cNvPr id="245765" name="AutoShape 5"/>
          <p:cNvSpPr>
            <a:spLocks noChangeArrowheads="1"/>
          </p:cNvSpPr>
          <p:nvPr>
            <p:custDataLst>
              <p:tags r:id="rId3"/>
            </p:custDataLst>
          </p:nvPr>
        </p:nvSpPr>
        <p:spPr bwMode="auto">
          <a:xfrm>
            <a:off x="374876" y="2649085"/>
            <a:ext cx="8145009" cy="94651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8"/>
              </a:buBlip>
            </a:pPr>
            <a:r>
              <a:rPr lang="en-GB">
                <a:solidFill>
                  <a:srgbClr val="000000"/>
                </a:solidFill>
              </a:rPr>
              <a:t>Activer l'enregistrement d'audit pour tous les serveurs DHCP de votre réseau</a:t>
            </a:r>
            <a:endParaRPr lang="en-US"/>
          </a:p>
        </p:txBody>
      </p:sp>
      <p:sp>
        <p:nvSpPr>
          <p:cNvPr id="245766" name="AutoShape 6"/>
          <p:cNvSpPr>
            <a:spLocks noChangeArrowheads="1"/>
          </p:cNvSpPr>
          <p:nvPr>
            <p:custDataLst>
              <p:tags r:id="rId4"/>
            </p:custDataLst>
          </p:nvPr>
        </p:nvSpPr>
        <p:spPr bwMode="auto">
          <a:xfrm>
            <a:off x="374877" y="3802743"/>
            <a:ext cx="8145009" cy="946514"/>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8"/>
              </a:buBlip>
            </a:pPr>
            <a:r>
              <a:rPr lang="en-GB">
                <a:solidFill>
                  <a:srgbClr val="000000"/>
                </a:solidFill>
              </a:rPr>
              <a:t>Vérifier et analyser régulièrement les fichiers journaux d'audit</a:t>
            </a:r>
            <a:endParaRPr lang="en-US"/>
          </a:p>
        </p:txBody>
      </p:sp>
      <p:sp>
        <p:nvSpPr>
          <p:cNvPr id="245767" name="AutoShape 7"/>
          <p:cNvSpPr>
            <a:spLocks noChangeArrowheads="1"/>
          </p:cNvSpPr>
          <p:nvPr>
            <p:custDataLst>
              <p:tags r:id="rId5"/>
            </p:custDataLst>
          </p:nvPr>
        </p:nvSpPr>
        <p:spPr bwMode="auto">
          <a:xfrm>
            <a:off x="345848" y="4962072"/>
            <a:ext cx="8145009" cy="12065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8"/>
              </a:buBlip>
            </a:pPr>
            <a:r>
              <a:rPr lang="en-GB" dirty="0" err="1">
                <a:solidFill>
                  <a:srgbClr val="000000"/>
                </a:solidFill>
              </a:rPr>
              <a:t>Utiliser</a:t>
            </a:r>
            <a:r>
              <a:rPr lang="en-GB" dirty="0">
                <a:solidFill>
                  <a:srgbClr val="000000"/>
                </a:solidFill>
              </a:rPr>
              <a:t> des </a:t>
            </a:r>
            <a:r>
              <a:rPr lang="en-GB" dirty="0" err="1">
                <a:solidFill>
                  <a:srgbClr val="000000"/>
                </a:solidFill>
              </a:rPr>
              <a:t>commutateurs</a:t>
            </a:r>
            <a:r>
              <a:rPr lang="en-GB" dirty="0">
                <a:solidFill>
                  <a:srgbClr val="000000"/>
                </a:solidFill>
              </a:rPr>
              <a:t> de </a:t>
            </a:r>
            <a:r>
              <a:rPr lang="en-GB" dirty="0" err="1">
                <a:solidFill>
                  <a:srgbClr val="000000"/>
                </a:solidFill>
              </a:rPr>
              <a:t>réseau</a:t>
            </a:r>
            <a:r>
              <a:rPr lang="en-GB" dirty="0">
                <a:solidFill>
                  <a:srgbClr val="000000"/>
                </a:solidFill>
              </a:rPr>
              <a:t> local </a:t>
            </a:r>
            <a:r>
              <a:rPr lang="en-GB" dirty="0" err="1">
                <a:solidFill>
                  <a:srgbClr val="000000"/>
                </a:solidFill>
              </a:rPr>
              <a:t>ou</a:t>
            </a:r>
            <a:r>
              <a:rPr lang="en-GB" dirty="0">
                <a:solidFill>
                  <a:srgbClr val="000000"/>
                </a:solidFill>
              </a:rPr>
              <a:t> des points </a:t>
            </a:r>
            <a:r>
              <a:rPr lang="en-GB" dirty="0" err="1">
                <a:solidFill>
                  <a:srgbClr val="000000"/>
                </a:solidFill>
              </a:rPr>
              <a:t>d'accès</a:t>
            </a:r>
            <a:r>
              <a:rPr lang="en-GB" dirty="0">
                <a:solidFill>
                  <a:srgbClr val="000000"/>
                </a:solidFill>
              </a:rPr>
              <a:t> sans </a:t>
            </a:r>
            <a:r>
              <a:rPr lang="en-GB" dirty="0" err="1">
                <a:solidFill>
                  <a:srgbClr val="000000"/>
                </a:solidFill>
              </a:rPr>
              <a:t>fil</a:t>
            </a:r>
            <a:r>
              <a:rPr lang="en-GB" dirty="0">
                <a:solidFill>
                  <a:srgbClr val="000000"/>
                </a:solidFill>
              </a:rPr>
              <a:t> </a:t>
            </a:r>
            <a:r>
              <a:rPr lang="en-GB" dirty="0" err="1">
                <a:solidFill>
                  <a:srgbClr val="000000"/>
                </a:solidFill>
              </a:rPr>
              <a:t>basés</a:t>
            </a:r>
            <a:r>
              <a:rPr lang="en-GB" dirty="0">
                <a:solidFill>
                  <a:srgbClr val="000000"/>
                </a:solidFill>
              </a:rPr>
              <a:t> </a:t>
            </a:r>
            <a:r>
              <a:rPr lang="en-GB" dirty="0" err="1">
                <a:solidFill>
                  <a:srgbClr val="000000"/>
                </a:solidFill>
              </a:rPr>
              <a:t>sur</a:t>
            </a:r>
            <a:r>
              <a:rPr lang="en-GB" dirty="0">
                <a:solidFill>
                  <a:srgbClr val="000000"/>
                </a:solidFill>
              </a:rPr>
              <a:t> la </a:t>
            </a:r>
            <a:r>
              <a:rPr lang="en-GB" dirty="0" err="1">
                <a:solidFill>
                  <a:srgbClr val="000000"/>
                </a:solidFill>
              </a:rPr>
              <a:t>norme</a:t>
            </a:r>
            <a:r>
              <a:rPr lang="en-GB" dirty="0">
                <a:solidFill>
                  <a:srgbClr val="000000"/>
                </a:solidFill>
              </a:rPr>
              <a:t> 802.1X </a:t>
            </a:r>
            <a:r>
              <a:rPr lang="en-GB" dirty="0" smtClean="0">
                <a:solidFill>
                  <a:srgbClr val="000000"/>
                </a:solidFill>
              </a:rPr>
              <a:t> pour </a:t>
            </a:r>
            <a:r>
              <a:rPr lang="en-GB" dirty="0" err="1">
                <a:solidFill>
                  <a:srgbClr val="000000"/>
                </a:solidFill>
              </a:rPr>
              <a:t>accéder</a:t>
            </a:r>
            <a:r>
              <a:rPr lang="en-GB" dirty="0">
                <a:solidFill>
                  <a:srgbClr val="000000"/>
                </a:solidFill>
              </a:rPr>
              <a:t> au </a:t>
            </a:r>
            <a:r>
              <a:rPr lang="en-GB" dirty="0" err="1">
                <a:solidFill>
                  <a:srgbClr val="000000"/>
                </a:solidFill>
              </a:rPr>
              <a:t>réseau</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custDataLst>
              <p:tags r:id="rId1"/>
            </p:custDataLst>
          </p:nvPr>
        </p:nvSpPr>
        <p:spPr>
          <a:xfrm>
            <a:off x="316267" y="293254"/>
            <a:ext cx="8534400" cy="758952"/>
          </a:xfrm>
        </p:spPr>
        <p:txBody>
          <a:bodyPr vert="horz" anchor="b">
            <a:noAutofit/>
          </a:bodyPr>
          <a:lstStyle/>
          <a:p>
            <a:r>
              <a:rPr lang="fr-FR" sz="2400" b="1" dirty="0">
                <a:solidFill>
                  <a:srgbClr val="C00000"/>
                </a:solidFill>
              </a:rPr>
              <a:t>Instructions pour empêcher les serveurs DHCP non autorisés, </a:t>
            </a:r>
            <a:r>
              <a:rPr lang="fr-FR" sz="2400" b="1" dirty="0" smtClean="0">
                <a:solidFill>
                  <a:srgbClr val="C00000"/>
                </a:solidFill>
              </a:rPr>
              <a:t>non Microsoft</a:t>
            </a:r>
            <a:r>
              <a:rPr lang="fr-FR" sz="2400" b="1" dirty="0">
                <a:solidFill>
                  <a:srgbClr val="C00000"/>
                </a:solidFill>
              </a:rPr>
              <a:t>, de louer des adresses IP</a:t>
            </a:r>
            <a:endParaRPr lang="en-US" sz="2400" b="1" dirty="0">
              <a:solidFill>
                <a:srgbClr val="C00000"/>
              </a:solidFill>
            </a:endParaRPr>
          </a:p>
        </p:txBody>
      </p:sp>
      <p:sp>
        <p:nvSpPr>
          <p:cNvPr id="246788" name="AutoShape 4"/>
          <p:cNvSpPr>
            <a:spLocks noChangeArrowheads="1"/>
          </p:cNvSpPr>
          <p:nvPr>
            <p:custDataLst>
              <p:tags r:id="rId2"/>
            </p:custDataLst>
          </p:nvPr>
        </p:nvSpPr>
        <p:spPr bwMode="auto">
          <a:xfrm>
            <a:off x="420913" y="1570717"/>
            <a:ext cx="8244115" cy="92574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6"/>
              </a:buBlip>
            </a:pPr>
            <a:r>
              <a:rPr lang="en-GB" sz="2200">
                <a:solidFill>
                  <a:srgbClr val="000000"/>
                </a:solidFill>
              </a:rPr>
              <a:t>Vérifier que les personnes non autorisées n'ont pas d'accès physique ou sans fil à votre réseau</a:t>
            </a:r>
            <a:endParaRPr lang="en-US" sz="2200"/>
          </a:p>
        </p:txBody>
      </p:sp>
      <p:sp>
        <p:nvSpPr>
          <p:cNvPr id="246789" name="Text Box 5"/>
          <p:cNvSpPr txBox="1">
            <a:spLocks noChangeArrowheads="1"/>
          </p:cNvSpPr>
          <p:nvPr>
            <p:custDataLst>
              <p:tags r:id="rId3"/>
            </p:custDataLst>
          </p:nvPr>
        </p:nvSpPr>
        <p:spPr bwMode="auto">
          <a:xfrm>
            <a:off x="454478" y="2677431"/>
            <a:ext cx="8123465" cy="2939266"/>
          </a:xfrm>
          <a:prstGeom prst="rect">
            <a:avLst/>
          </a:prstGeom>
          <a:solidFill>
            <a:srgbClr val="F2C9C2"/>
          </a:solidFill>
          <a:ln w="9525" algn="ctr">
            <a:noFill/>
            <a:miter lim="800000"/>
            <a:headEnd/>
            <a:tailEnd/>
          </a:ln>
          <a:effectLst/>
        </p:spPr>
        <p:txBody>
          <a:bodyPr wrap="square">
            <a:spAutoFit/>
          </a:bodyPr>
          <a:lstStyle/>
          <a:p>
            <a:pPr marL="228600" indent="-228600" algn="l">
              <a:lnSpc>
                <a:spcPct val="125000"/>
              </a:lnSpc>
              <a:spcBef>
                <a:spcPct val="0"/>
              </a:spcBef>
              <a:buClrTx/>
              <a:buSzPct val="80000"/>
              <a:buFontTx/>
              <a:buBlip>
                <a:blip r:embed="rId6"/>
              </a:buBlip>
            </a:pPr>
            <a:r>
              <a:rPr lang="en-GB" dirty="0" err="1">
                <a:solidFill>
                  <a:srgbClr val="000000"/>
                </a:solidFill>
              </a:rPr>
              <a:t>Serveur</a:t>
            </a:r>
            <a:r>
              <a:rPr lang="en-GB" dirty="0">
                <a:solidFill>
                  <a:srgbClr val="000000"/>
                </a:solidFill>
              </a:rPr>
              <a:t> DHCP Microsoft</a:t>
            </a:r>
            <a:endParaRPr lang="en-US" dirty="0"/>
          </a:p>
          <a:p>
            <a:pPr marL="685800" lvl="1" indent="-228600" algn="l">
              <a:lnSpc>
                <a:spcPct val="125000"/>
              </a:lnSpc>
              <a:spcBef>
                <a:spcPct val="0"/>
              </a:spcBef>
              <a:buClrTx/>
              <a:buSzPct val="80000"/>
              <a:buFontTx/>
              <a:buBlip>
                <a:blip r:embed="rId6"/>
              </a:buBlip>
            </a:pPr>
            <a:r>
              <a:rPr lang="en-GB" sz="2000" dirty="0" err="1">
                <a:solidFill>
                  <a:srgbClr val="000000"/>
                </a:solidFill>
              </a:rPr>
              <a:t>Seuls</a:t>
            </a:r>
            <a:r>
              <a:rPr lang="en-GB" sz="2000" dirty="0">
                <a:solidFill>
                  <a:srgbClr val="000000"/>
                </a:solidFill>
              </a:rPr>
              <a:t> les </a:t>
            </a:r>
            <a:r>
              <a:rPr lang="en-GB" sz="2000" dirty="0" err="1">
                <a:solidFill>
                  <a:srgbClr val="000000"/>
                </a:solidFill>
              </a:rPr>
              <a:t>serveurs</a:t>
            </a:r>
            <a:r>
              <a:rPr lang="en-GB" sz="2000" dirty="0">
                <a:solidFill>
                  <a:srgbClr val="000000"/>
                </a:solidFill>
              </a:rPr>
              <a:t> DHCP </a:t>
            </a:r>
            <a:r>
              <a:rPr lang="en-GB" sz="2000" dirty="0" err="1">
                <a:solidFill>
                  <a:srgbClr val="000000"/>
                </a:solidFill>
              </a:rPr>
              <a:t>exécutant</a:t>
            </a:r>
            <a:r>
              <a:rPr lang="en-GB" sz="2000" dirty="0">
                <a:solidFill>
                  <a:srgbClr val="000000"/>
                </a:solidFill>
              </a:rPr>
              <a:t> Windows 2000 </a:t>
            </a:r>
            <a:r>
              <a:rPr lang="en-GB" sz="2000" dirty="0" err="1">
                <a:solidFill>
                  <a:srgbClr val="000000"/>
                </a:solidFill>
              </a:rPr>
              <a:t>ou</a:t>
            </a:r>
            <a:r>
              <a:rPr lang="en-GB" sz="2000" dirty="0">
                <a:solidFill>
                  <a:srgbClr val="000000"/>
                </a:solidFill>
              </a:rPr>
              <a:t> Windows Server 2003 </a:t>
            </a:r>
            <a:r>
              <a:rPr lang="en-GB" sz="2000" dirty="0" err="1">
                <a:solidFill>
                  <a:srgbClr val="000000"/>
                </a:solidFill>
              </a:rPr>
              <a:t>peuvent</a:t>
            </a:r>
            <a:r>
              <a:rPr lang="en-GB" sz="2000" dirty="0">
                <a:solidFill>
                  <a:srgbClr val="000000"/>
                </a:solidFill>
              </a:rPr>
              <a:t> </a:t>
            </a:r>
            <a:r>
              <a:rPr lang="en-GB" sz="2000" dirty="0" err="1">
                <a:solidFill>
                  <a:srgbClr val="000000"/>
                </a:solidFill>
              </a:rPr>
              <a:t>être</a:t>
            </a:r>
            <a:r>
              <a:rPr lang="en-GB" sz="2000" dirty="0">
                <a:solidFill>
                  <a:srgbClr val="000000"/>
                </a:solidFill>
              </a:rPr>
              <a:t> </a:t>
            </a:r>
            <a:r>
              <a:rPr lang="en-GB" sz="2000" dirty="0" err="1">
                <a:solidFill>
                  <a:srgbClr val="000000"/>
                </a:solidFill>
              </a:rPr>
              <a:t>autorisés</a:t>
            </a:r>
            <a:r>
              <a:rPr lang="en-GB" sz="2000" dirty="0">
                <a:solidFill>
                  <a:srgbClr val="000000"/>
                </a:solidFill>
              </a:rPr>
              <a:t> </a:t>
            </a:r>
            <a:r>
              <a:rPr lang="en-GB" sz="2000" dirty="0" err="1">
                <a:solidFill>
                  <a:srgbClr val="000000"/>
                </a:solidFill>
              </a:rPr>
              <a:t>dans</a:t>
            </a:r>
            <a:r>
              <a:rPr lang="en-GB" sz="2000" dirty="0">
                <a:solidFill>
                  <a:srgbClr val="000000"/>
                </a:solidFill>
              </a:rPr>
              <a:t> Active Directory</a:t>
            </a:r>
            <a:endParaRPr lang="en-US" sz="2000" dirty="0"/>
          </a:p>
          <a:p>
            <a:pPr marL="228600" indent="-228600" algn="l">
              <a:lnSpc>
                <a:spcPct val="125000"/>
              </a:lnSpc>
              <a:spcBef>
                <a:spcPct val="0"/>
              </a:spcBef>
              <a:buClrTx/>
              <a:buSzPct val="80000"/>
              <a:buFontTx/>
              <a:buBlip>
                <a:blip r:embed="rId6"/>
              </a:buBlip>
            </a:pPr>
            <a:r>
              <a:rPr lang="en-GB" dirty="0" err="1">
                <a:solidFill>
                  <a:srgbClr val="000000"/>
                </a:solidFill>
              </a:rPr>
              <a:t>Serveur</a:t>
            </a:r>
            <a:r>
              <a:rPr lang="en-GB" dirty="0">
                <a:solidFill>
                  <a:srgbClr val="000000"/>
                </a:solidFill>
              </a:rPr>
              <a:t> DHCP non </a:t>
            </a:r>
            <a:r>
              <a:rPr lang="en-GB" dirty="0" err="1">
                <a:solidFill>
                  <a:srgbClr val="000000"/>
                </a:solidFill>
              </a:rPr>
              <a:t>autorisé</a:t>
            </a:r>
            <a:r>
              <a:rPr lang="en-GB" dirty="0">
                <a:solidFill>
                  <a:srgbClr val="000000"/>
                </a:solidFill>
              </a:rPr>
              <a:t>, non-Microsoft</a:t>
            </a:r>
            <a:endParaRPr lang="en-US" dirty="0"/>
          </a:p>
          <a:p>
            <a:pPr marL="685800" lvl="1" indent="-228600" algn="l">
              <a:lnSpc>
                <a:spcPct val="125000"/>
              </a:lnSpc>
              <a:spcBef>
                <a:spcPct val="0"/>
              </a:spcBef>
              <a:buClrTx/>
              <a:buSzPct val="80000"/>
              <a:buFontTx/>
              <a:buBlip>
                <a:blip r:embed="rId6"/>
              </a:buBlip>
            </a:pPr>
            <a:r>
              <a:rPr lang="en-GB" sz="2000" dirty="0">
                <a:solidFill>
                  <a:srgbClr val="000000"/>
                </a:solidFill>
              </a:rPr>
              <a:t>Le </a:t>
            </a:r>
            <a:r>
              <a:rPr lang="en-GB" sz="2000" dirty="0" err="1">
                <a:solidFill>
                  <a:srgbClr val="000000"/>
                </a:solidFill>
              </a:rPr>
              <a:t>logiciel</a:t>
            </a:r>
            <a:r>
              <a:rPr lang="en-GB" sz="2000" dirty="0">
                <a:solidFill>
                  <a:srgbClr val="000000"/>
                </a:solidFill>
              </a:rPr>
              <a:t> de </a:t>
            </a:r>
            <a:r>
              <a:rPr lang="en-GB" sz="2000" dirty="0" err="1">
                <a:solidFill>
                  <a:srgbClr val="000000"/>
                </a:solidFill>
              </a:rPr>
              <a:t>serveur</a:t>
            </a:r>
            <a:r>
              <a:rPr lang="en-GB" sz="2000" dirty="0">
                <a:solidFill>
                  <a:srgbClr val="000000"/>
                </a:solidFill>
              </a:rPr>
              <a:t> DHCP non-Microsoft ne </a:t>
            </a:r>
            <a:r>
              <a:rPr lang="en-GB" sz="2000" dirty="0" err="1">
                <a:solidFill>
                  <a:srgbClr val="000000"/>
                </a:solidFill>
              </a:rPr>
              <a:t>contient</a:t>
            </a:r>
            <a:r>
              <a:rPr lang="en-GB" sz="2000" dirty="0">
                <a:solidFill>
                  <a:srgbClr val="000000"/>
                </a:solidFill>
              </a:rPr>
              <a:t> pas </a:t>
            </a:r>
            <a:br>
              <a:rPr lang="en-GB" sz="2000" dirty="0">
                <a:solidFill>
                  <a:srgbClr val="000000"/>
                </a:solidFill>
              </a:rPr>
            </a:br>
            <a:r>
              <a:rPr lang="en-GB" sz="2000" dirty="0">
                <a:solidFill>
                  <a:srgbClr val="000000"/>
                </a:solidFill>
              </a:rPr>
              <a:t>la </a:t>
            </a:r>
            <a:r>
              <a:rPr lang="en-GB" sz="2000" dirty="0" err="1">
                <a:solidFill>
                  <a:srgbClr val="000000"/>
                </a:solidFill>
              </a:rPr>
              <a:t>fonctionnalité</a:t>
            </a:r>
            <a:r>
              <a:rPr lang="en-GB" sz="2000" dirty="0">
                <a:solidFill>
                  <a:srgbClr val="000000"/>
                </a:solidFill>
              </a:rPr>
              <a:t> </a:t>
            </a:r>
            <a:r>
              <a:rPr lang="en-GB" sz="2000" dirty="0" err="1">
                <a:solidFill>
                  <a:srgbClr val="000000"/>
                </a:solidFill>
              </a:rPr>
              <a:t>d'autorisation</a:t>
            </a:r>
            <a:r>
              <a:rPr lang="en-GB" sz="2000" dirty="0">
                <a:solidFill>
                  <a:srgbClr val="000000"/>
                </a:solidFill>
              </a:rPr>
              <a:t> </a:t>
            </a:r>
            <a:r>
              <a:rPr lang="en-GB" sz="2000" dirty="0" err="1">
                <a:solidFill>
                  <a:srgbClr val="000000"/>
                </a:solidFill>
              </a:rPr>
              <a:t>incluse</a:t>
            </a:r>
            <a:r>
              <a:rPr lang="en-GB" sz="2000" dirty="0">
                <a:solidFill>
                  <a:srgbClr val="000000"/>
                </a:solidFill>
              </a:rPr>
              <a:t> </a:t>
            </a:r>
            <a:r>
              <a:rPr lang="en-GB" sz="2000" dirty="0" err="1">
                <a:solidFill>
                  <a:srgbClr val="000000"/>
                </a:solidFill>
              </a:rPr>
              <a:t>dans</a:t>
            </a:r>
            <a:r>
              <a:rPr lang="en-GB" sz="2000" dirty="0">
                <a:solidFill>
                  <a:srgbClr val="000000"/>
                </a:solidFill>
              </a:rPr>
              <a:t> Windows 2000 </a:t>
            </a:r>
            <a:br>
              <a:rPr lang="en-GB" sz="2000" dirty="0">
                <a:solidFill>
                  <a:srgbClr val="000000"/>
                </a:solidFill>
              </a:rPr>
            </a:br>
            <a:r>
              <a:rPr lang="en-GB" sz="2000" dirty="0">
                <a:solidFill>
                  <a:srgbClr val="000000"/>
                </a:solidFill>
              </a:rPr>
              <a:t>et Windows Server 2003</a:t>
            </a:r>
            <a:endParaRPr lang="en-US" sz="2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custDataLst>
              <p:tags r:id="rId1"/>
            </p:custDataLst>
          </p:nvPr>
        </p:nvSpPr>
        <p:spPr>
          <a:xfrm>
            <a:off x="246994" y="307109"/>
            <a:ext cx="8534400" cy="758952"/>
          </a:xfrm>
        </p:spPr>
        <p:txBody>
          <a:bodyPr vert="horz" anchor="b">
            <a:noAutofit/>
          </a:bodyPr>
          <a:lstStyle/>
          <a:p>
            <a:r>
              <a:rPr lang="fr-FR" sz="2400" b="1" dirty="0">
                <a:solidFill>
                  <a:srgbClr val="C00000"/>
                </a:solidFill>
              </a:rPr>
              <a:t>Instructions pour limiter le cercle des </a:t>
            </a:r>
            <a:r>
              <a:rPr lang="fr-FR" sz="2400" b="1" dirty="0" smtClean="0">
                <a:solidFill>
                  <a:srgbClr val="C00000"/>
                </a:solidFill>
              </a:rPr>
              <a:t>personnes autorisées </a:t>
            </a:r>
            <a:r>
              <a:rPr lang="fr-FR" sz="2400" b="1" dirty="0">
                <a:solidFill>
                  <a:srgbClr val="C00000"/>
                </a:solidFill>
              </a:rPr>
              <a:t>à administrer le service DHCP</a:t>
            </a:r>
            <a:endParaRPr lang="en-US" sz="2400" b="1" dirty="0">
              <a:solidFill>
                <a:srgbClr val="C00000"/>
              </a:solidFill>
            </a:endParaRPr>
          </a:p>
        </p:txBody>
      </p:sp>
      <p:sp>
        <p:nvSpPr>
          <p:cNvPr id="247812" name="AutoShape 4"/>
          <p:cNvSpPr>
            <a:spLocks noChangeArrowheads="1"/>
          </p:cNvSpPr>
          <p:nvPr>
            <p:custDataLst>
              <p:tags r:id="rId2"/>
            </p:custDataLst>
          </p:nvPr>
        </p:nvSpPr>
        <p:spPr bwMode="auto">
          <a:xfrm>
            <a:off x="489630" y="1495879"/>
            <a:ext cx="8218941" cy="111669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85000"/>
              </a:lnSpc>
              <a:spcBef>
                <a:spcPct val="0"/>
              </a:spcBef>
              <a:buClrTx/>
              <a:buSzPct val="80000"/>
              <a:buFontTx/>
              <a:buBlip>
                <a:blip r:embed="rId6"/>
              </a:buBlip>
            </a:pPr>
            <a:r>
              <a:rPr lang="en-GB" sz="2200">
                <a:solidFill>
                  <a:srgbClr val="000000"/>
                </a:solidFill>
              </a:rPr>
              <a:t>Limiter la composition du groupe Administrateurs DHCP au nombre minimal d'utilisateurs nécessaires pour administrer le service</a:t>
            </a:r>
            <a:endParaRPr lang="en-US" sz="2200"/>
          </a:p>
        </p:txBody>
      </p:sp>
      <p:sp>
        <p:nvSpPr>
          <p:cNvPr id="247813" name="AutoShape 5"/>
          <p:cNvSpPr>
            <a:spLocks noChangeArrowheads="1"/>
          </p:cNvSpPr>
          <p:nvPr>
            <p:custDataLst>
              <p:tags r:id="rId3"/>
            </p:custDataLst>
          </p:nvPr>
        </p:nvSpPr>
        <p:spPr bwMode="auto">
          <a:xfrm>
            <a:off x="433161" y="2902857"/>
            <a:ext cx="8362496" cy="105954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85000"/>
              </a:lnSpc>
              <a:spcBef>
                <a:spcPct val="0"/>
              </a:spcBef>
              <a:buClrTx/>
              <a:buSzPct val="80000"/>
              <a:buFontTx/>
              <a:buBlip>
                <a:blip r:embed="rId6"/>
              </a:buBlip>
            </a:pPr>
            <a:r>
              <a:rPr lang="en-GB" sz="2200">
                <a:solidFill>
                  <a:srgbClr val="000000"/>
                </a:solidFill>
              </a:rPr>
              <a:t>Ajouter des utilisateurs qui ont besoin d'un accès en lecture seule à la console DHCP au groupe Utilisateurs DHCP au lieu du groupe Administrateurs DHCP</a:t>
            </a:r>
            <a:endParaRPr lang="en-US" sz="2200"/>
          </a:p>
        </p:txBody>
      </p:sp>
      <p:graphicFrame>
        <p:nvGraphicFramePr>
          <p:cNvPr id="247834" name="Group 26"/>
          <p:cNvGraphicFramePr>
            <a:graphicFrameLocks noGrp="1"/>
          </p:cNvGraphicFramePr>
          <p:nvPr/>
        </p:nvGraphicFramePr>
        <p:xfrm>
          <a:off x="296862" y="4165601"/>
          <a:ext cx="8571366" cy="2061028"/>
        </p:xfrm>
        <a:graphic>
          <a:graphicData uri="http://schemas.openxmlformats.org/drawingml/2006/table">
            <a:tbl>
              <a:tblPr/>
              <a:tblGrid>
                <a:gridCol w="3106401"/>
                <a:gridCol w="5464965"/>
              </a:tblGrid>
              <a:tr h="98312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1" i="0" u="none" strike="noStrike" cap="none" normalizeH="0" baseline="0" smtClean="0">
                          <a:ln>
                            <a:noFill/>
                          </a:ln>
                          <a:solidFill>
                            <a:srgbClr val="000000"/>
                          </a:solidFill>
                          <a:effectLst/>
                          <a:latin typeface="Arial Narrow" pitchFamily="34" charset="0"/>
                        </a:rPr>
                        <a:t>Groupe Utilisateurs DHCP</a:t>
                      </a:r>
                      <a:endParaRPr kumimoji="0" lang="en-US"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22238" marR="0" lvl="0" indent="0" algn="l" defTabSz="914400" rtl="0" eaLnBrk="0" fontAlgn="base" latinLnBrk="0" hangingPunct="0">
                        <a:lnSpc>
                          <a:spcPct val="90000"/>
                        </a:lnSpc>
                        <a:spcBef>
                          <a:spcPct val="0"/>
                        </a:spcBef>
                        <a:spcAft>
                          <a:spcPct val="0"/>
                        </a:spcAft>
                        <a:buClrTx/>
                        <a:buSzTx/>
                        <a:buFontTx/>
                        <a:buNone/>
                        <a:tabLst/>
                      </a:pPr>
                      <a:r>
                        <a:rPr kumimoji="0" lang="en-GB" sz="2400" b="0" i="0" u="none" strike="noStrike" cap="none" normalizeH="0" baseline="0" dirty="0" err="1" smtClean="0">
                          <a:ln>
                            <a:noFill/>
                          </a:ln>
                          <a:solidFill>
                            <a:srgbClr val="000000"/>
                          </a:solidFill>
                          <a:effectLst/>
                          <a:latin typeface="Arial Narrow" pitchFamily="34" charset="0"/>
                        </a:rPr>
                        <a:t>Ont</a:t>
                      </a:r>
                      <a:r>
                        <a:rPr kumimoji="0" lang="en-GB" sz="2400" b="0" i="0" u="none" strike="noStrike" cap="none" normalizeH="0" baseline="0" dirty="0" smtClean="0">
                          <a:ln>
                            <a:noFill/>
                          </a:ln>
                          <a:solidFill>
                            <a:srgbClr val="000000"/>
                          </a:solidFill>
                          <a:effectLst/>
                          <a:latin typeface="Arial Narrow" pitchFamily="34" charset="0"/>
                        </a:rPr>
                        <a:t> un </a:t>
                      </a:r>
                      <a:r>
                        <a:rPr kumimoji="0" lang="en-GB" sz="2400" b="0" i="0" u="none" strike="noStrike" cap="none" normalizeH="0" baseline="0" dirty="0" err="1" smtClean="0">
                          <a:ln>
                            <a:noFill/>
                          </a:ln>
                          <a:solidFill>
                            <a:srgbClr val="000000"/>
                          </a:solidFill>
                          <a:effectLst/>
                          <a:latin typeface="Arial Narrow" pitchFamily="34" charset="0"/>
                        </a:rPr>
                        <a:t>accès</a:t>
                      </a:r>
                      <a:r>
                        <a:rPr kumimoji="0" lang="en-GB" sz="2400" b="0" i="0" u="none" strike="noStrike" cap="none" normalizeH="0" baseline="0" dirty="0" smtClean="0">
                          <a:ln>
                            <a:noFill/>
                          </a:ln>
                          <a:solidFill>
                            <a:srgbClr val="000000"/>
                          </a:solidFill>
                          <a:effectLst/>
                          <a:latin typeface="Arial Narrow" pitchFamily="34" charset="0"/>
                        </a:rPr>
                        <a:t> en lecture </a:t>
                      </a:r>
                      <a:r>
                        <a:rPr kumimoji="0" lang="en-GB" sz="2400" b="0" i="0" u="none" strike="noStrike" cap="none" normalizeH="0" baseline="0" dirty="0" err="1" smtClean="0">
                          <a:ln>
                            <a:noFill/>
                          </a:ln>
                          <a:solidFill>
                            <a:srgbClr val="000000"/>
                          </a:solidFill>
                          <a:effectLst/>
                          <a:latin typeface="Arial Narrow" pitchFamily="34" charset="0"/>
                        </a:rPr>
                        <a:t>seule</a:t>
                      </a:r>
                      <a:r>
                        <a:rPr kumimoji="0" lang="en-GB" sz="2400" b="0" i="0" u="none" strike="noStrike" cap="none" normalizeH="0" baseline="0" dirty="0" smtClean="0">
                          <a:ln>
                            <a:noFill/>
                          </a:ln>
                          <a:solidFill>
                            <a:srgbClr val="000000"/>
                          </a:solidFill>
                          <a:effectLst/>
                          <a:latin typeface="Arial Narrow" pitchFamily="34" charset="0"/>
                        </a:rPr>
                        <a:t> au </a:t>
                      </a:r>
                      <a:r>
                        <a:rPr kumimoji="0" lang="en-GB" sz="2400" b="0" i="0" u="none" strike="noStrike" cap="none" normalizeH="0" baseline="0" dirty="0" err="1" smtClean="0">
                          <a:ln>
                            <a:noFill/>
                          </a:ln>
                          <a:solidFill>
                            <a:srgbClr val="000000"/>
                          </a:solidFill>
                          <a:effectLst/>
                          <a:latin typeface="Arial Narrow" pitchFamily="34" charset="0"/>
                        </a:rPr>
                        <a:t>serveur</a:t>
                      </a:r>
                      <a:r>
                        <a:rPr kumimoji="0" lang="en-GB" sz="2400" b="0" i="0" u="none" strike="noStrike" cap="none" normalizeH="0" baseline="0" dirty="0" smtClean="0">
                          <a:ln>
                            <a:noFill/>
                          </a:ln>
                          <a:solidFill>
                            <a:srgbClr val="000000"/>
                          </a:solidFill>
                          <a:effectLst/>
                          <a:latin typeface="Arial Narrow" pitchFamily="34" charset="0"/>
                        </a:rPr>
                        <a:t> à </a:t>
                      </a:r>
                      <a:br>
                        <a:rPr kumimoji="0" lang="en-GB" sz="2400" b="0" i="0" u="none" strike="noStrike" cap="none" normalizeH="0" baseline="0" dirty="0" smtClean="0">
                          <a:ln>
                            <a:noFill/>
                          </a:ln>
                          <a:solidFill>
                            <a:srgbClr val="000000"/>
                          </a:solidFill>
                          <a:effectLst/>
                          <a:latin typeface="Arial Narrow" pitchFamily="34" charset="0"/>
                        </a:rPr>
                      </a:br>
                      <a:r>
                        <a:rPr kumimoji="0" lang="en-GB" sz="2400" b="0" i="0" u="none" strike="noStrike" cap="none" normalizeH="0" baseline="0" dirty="0" err="1" smtClean="0">
                          <a:ln>
                            <a:noFill/>
                          </a:ln>
                          <a:solidFill>
                            <a:srgbClr val="000000"/>
                          </a:solidFill>
                          <a:effectLst/>
                          <a:latin typeface="Arial Narrow" pitchFamily="34" charset="0"/>
                        </a:rPr>
                        <a:t>travers</a:t>
                      </a:r>
                      <a:r>
                        <a:rPr kumimoji="0" lang="en-GB" sz="2400" b="0" i="0" u="none" strike="noStrike" cap="none" normalizeH="0" baseline="0" dirty="0" smtClean="0">
                          <a:ln>
                            <a:noFill/>
                          </a:ln>
                          <a:solidFill>
                            <a:srgbClr val="000000"/>
                          </a:solidFill>
                          <a:effectLst/>
                          <a:latin typeface="Arial Narrow" pitchFamily="34" charset="0"/>
                        </a:rPr>
                        <a:t> la console DHCP</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r h="1077907">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b="1" i="0" u="none" strike="noStrike" cap="none" normalizeH="0" baseline="0" smtClean="0">
                          <a:ln>
                            <a:noFill/>
                          </a:ln>
                          <a:solidFill>
                            <a:srgbClr val="000000"/>
                          </a:solidFill>
                          <a:effectLst/>
                          <a:latin typeface="Arial Narrow" pitchFamily="34" charset="0"/>
                        </a:rPr>
                        <a:t>Groupe Administrateurs DHCP</a:t>
                      </a:r>
                      <a:endParaRPr kumimoji="0" lang="en-US" sz="2400" b="1" i="0" u="none" strike="noStrike" cap="none" normalizeH="0" baseline="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22238" marR="0" lvl="0" indent="0" algn="l" defTabSz="914400" rtl="0" eaLnBrk="0" fontAlgn="base" latinLnBrk="0" hangingPunct="0">
                        <a:lnSpc>
                          <a:spcPct val="90000"/>
                        </a:lnSpc>
                        <a:spcBef>
                          <a:spcPct val="0"/>
                        </a:spcBef>
                        <a:spcAft>
                          <a:spcPct val="0"/>
                        </a:spcAft>
                        <a:buClrTx/>
                        <a:buSzTx/>
                        <a:buFontTx/>
                        <a:buNone/>
                        <a:tabLst/>
                      </a:pPr>
                      <a:r>
                        <a:rPr kumimoji="0" lang="en-GB" sz="2400" b="0" i="0" u="none" strike="noStrike" cap="none" normalizeH="0" baseline="0" dirty="0" err="1" smtClean="0">
                          <a:ln>
                            <a:noFill/>
                          </a:ln>
                          <a:solidFill>
                            <a:srgbClr val="000000"/>
                          </a:solidFill>
                          <a:effectLst/>
                          <a:latin typeface="Arial Narrow" pitchFamily="34" charset="0"/>
                        </a:rPr>
                        <a:t>Peuvent</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afficher</a:t>
                      </a:r>
                      <a:r>
                        <a:rPr kumimoji="0" lang="en-GB" sz="2400" b="0" i="0" u="none" strike="noStrike" cap="none" normalizeH="0" baseline="0" dirty="0" smtClean="0">
                          <a:ln>
                            <a:noFill/>
                          </a:ln>
                          <a:solidFill>
                            <a:srgbClr val="000000"/>
                          </a:solidFill>
                          <a:effectLst/>
                          <a:latin typeface="Arial Narrow" pitchFamily="34" charset="0"/>
                        </a:rPr>
                        <a:t> et modifier </a:t>
                      </a:r>
                      <a:r>
                        <a:rPr kumimoji="0" lang="en-GB" sz="2400" b="0" i="0" u="none" strike="noStrike" cap="none" normalizeH="0" baseline="0" dirty="0" err="1" smtClean="0">
                          <a:ln>
                            <a:noFill/>
                          </a:ln>
                          <a:solidFill>
                            <a:srgbClr val="000000"/>
                          </a:solidFill>
                          <a:effectLst/>
                          <a:latin typeface="Arial Narrow" pitchFamily="34" charset="0"/>
                        </a:rPr>
                        <a:t>toutes</a:t>
                      </a:r>
                      <a:r>
                        <a:rPr kumimoji="0" lang="en-GB" sz="2400" b="0" i="0" u="none" strike="noStrike" cap="none" normalizeH="0" baseline="0" dirty="0" smtClean="0">
                          <a:ln>
                            <a:noFill/>
                          </a:ln>
                          <a:solidFill>
                            <a:srgbClr val="000000"/>
                          </a:solidFill>
                          <a:effectLst/>
                          <a:latin typeface="Arial Narrow" pitchFamily="34" charset="0"/>
                        </a:rPr>
                        <a:t> les </a:t>
                      </a:r>
                      <a:r>
                        <a:rPr kumimoji="0" lang="en-GB" sz="2400" b="0" i="0" u="none" strike="noStrike" cap="none" normalizeH="0" baseline="0" dirty="0" err="1" smtClean="0">
                          <a:ln>
                            <a:noFill/>
                          </a:ln>
                          <a:solidFill>
                            <a:srgbClr val="000000"/>
                          </a:solidFill>
                          <a:effectLst/>
                          <a:latin typeface="Arial Narrow" pitchFamily="34" charset="0"/>
                        </a:rPr>
                        <a:t>données</a:t>
                      </a:r>
                      <a:r>
                        <a:rPr kumimoji="0" lang="en-GB" sz="2400" b="0" i="0" u="none" strike="noStrike" cap="none" normalizeH="0" baseline="0" dirty="0" smtClean="0">
                          <a:ln>
                            <a:noFill/>
                          </a:ln>
                          <a:solidFill>
                            <a:srgbClr val="000000"/>
                          </a:solidFill>
                          <a:effectLst/>
                          <a:latin typeface="Arial Narrow" pitchFamily="34" charset="0"/>
                        </a:rPr>
                        <a:t> </a:t>
                      </a:r>
                      <a:r>
                        <a:rPr kumimoji="0" lang="en-GB" sz="2400" b="0" i="0" u="none" strike="noStrike" cap="none" normalizeH="0" baseline="0" dirty="0" err="1" smtClean="0">
                          <a:ln>
                            <a:noFill/>
                          </a:ln>
                          <a:solidFill>
                            <a:srgbClr val="000000"/>
                          </a:solidFill>
                          <a:effectLst/>
                          <a:latin typeface="Arial Narrow" pitchFamily="34" charset="0"/>
                        </a:rPr>
                        <a:t>sur</a:t>
                      </a:r>
                      <a:r>
                        <a:rPr kumimoji="0" lang="en-GB" sz="2400" b="0" i="0" u="none" strike="noStrike" cap="none" normalizeH="0" baseline="0" dirty="0" smtClean="0">
                          <a:ln>
                            <a:noFill/>
                          </a:ln>
                          <a:solidFill>
                            <a:srgbClr val="000000"/>
                          </a:solidFill>
                          <a:effectLst/>
                          <a:latin typeface="Arial Narrow" pitchFamily="34" charset="0"/>
                        </a:rPr>
                        <a:t> le </a:t>
                      </a:r>
                      <a:r>
                        <a:rPr kumimoji="0" lang="en-GB" sz="2400" b="0" i="0" u="none" strike="noStrike" cap="none" normalizeH="0" baseline="0" dirty="0" err="1" smtClean="0">
                          <a:ln>
                            <a:noFill/>
                          </a:ln>
                          <a:solidFill>
                            <a:srgbClr val="000000"/>
                          </a:solidFill>
                          <a:effectLst/>
                          <a:latin typeface="Arial Narrow" pitchFamily="34" charset="0"/>
                        </a:rPr>
                        <a:t>serveur</a:t>
                      </a:r>
                      <a:r>
                        <a:rPr kumimoji="0" lang="en-GB" sz="2400" b="0" i="0" u="none" strike="noStrike" cap="none" normalizeH="0" baseline="0" dirty="0" smtClean="0">
                          <a:ln>
                            <a:noFill/>
                          </a:ln>
                          <a:solidFill>
                            <a:srgbClr val="000000"/>
                          </a:solidFill>
                          <a:effectLst/>
                          <a:latin typeface="Arial Narrow" pitchFamily="34" charset="0"/>
                        </a:rPr>
                        <a:t> DHCP</a:t>
                      </a:r>
                      <a:endParaRPr kumimoji="0" lang="en-US" sz="2400" b="0" i="0" u="none" strike="noStrike" cap="none" normalizeH="0" baseline="0" dirty="0" smtClean="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7812"/>
                                        </p:tgtEl>
                                        <p:attrNameLst>
                                          <p:attrName>style.visibility</p:attrName>
                                        </p:attrNameLst>
                                      </p:cBhvr>
                                      <p:to>
                                        <p:strVal val="visible"/>
                                      </p:to>
                                    </p:set>
                                    <p:animEffect transition="in" filter="checkerboard(across)">
                                      <p:cBhvr>
                                        <p:cTn id="7" dur="500"/>
                                        <p:tgtEl>
                                          <p:spTgt spid="24781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7813"/>
                                        </p:tgtEl>
                                        <p:attrNameLst>
                                          <p:attrName>style.visibility</p:attrName>
                                        </p:attrNameLst>
                                      </p:cBhvr>
                                      <p:to>
                                        <p:strVal val="visible"/>
                                      </p:to>
                                    </p:set>
                                    <p:animEffect transition="in" filter="checkerboard(across)">
                                      <p:cBhvr>
                                        <p:cTn id="12" dur="500"/>
                                        <p:tgtEl>
                                          <p:spTgt spid="24781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7834"/>
                                        </p:tgtEl>
                                        <p:attrNameLst>
                                          <p:attrName>style.visibility</p:attrName>
                                        </p:attrNameLst>
                                      </p:cBhvr>
                                      <p:to>
                                        <p:strVal val="visible"/>
                                      </p:to>
                                    </p:set>
                                    <p:animEffect transition="in" filter="checkerboard(across)">
                                      <p:cBhvr>
                                        <p:cTn id="17" dur="500"/>
                                        <p:tgtEl>
                                          <p:spTgt spid="247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2" grpId="0" animBg="1"/>
      <p:bldP spid="2478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custDataLst>
              <p:tags r:id="rId1"/>
            </p:custDataLst>
          </p:nvPr>
        </p:nvSpPr>
        <p:spPr>
          <a:xfrm>
            <a:off x="301751" y="406400"/>
            <a:ext cx="8668077" cy="581152"/>
          </a:xfrm>
        </p:spPr>
        <p:txBody>
          <a:bodyPr vert="horz" anchor="b">
            <a:noAutofit/>
          </a:bodyPr>
          <a:lstStyle/>
          <a:p>
            <a:r>
              <a:rPr lang="fr-FR" sz="2400" b="1" dirty="0">
                <a:solidFill>
                  <a:srgbClr val="C00000"/>
                </a:solidFill>
              </a:rPr>
              <a:t>Instructions pour sécuriser la base </a:t>
            </a:r>
            <a:r>
              <a:rPr lang="fr-FR" sz="2400" b="1" dirty="0" smtClean="0">
                <a:solidFill>
                  <a:srgbClr val="C00000"/>
                </a:solidFill>
              </a:rPr>
              <a:t>de données </a:t>
            </a:r>
            <a:r>
              <a:rPr lang="fr-FR" sz="2400" b="1" dirty="0">
                <a:solidFill>
                  <a:srgbClr val="C00000"/>
                </a:solidFill>
              </a:rPr>
              <a:t>DHCP</a:t>
            </a:r>
            <a:endParaRPr lang="en-US" sz="2400" b="1" dirty="0">
              <a:solidFill>
                <a:srgbClr val="C00000"/>
              </a:solidFill>
            </a:endParaRPr>
          </a:p>
        </p:txBody>
      </p:sp>
      <p:sp>
        <p:nvSpPr>
          <p:cNvPr id="248836" name="AutoShape 4"/>
          <p:cNvSpPr>
            <a:spLocks noChangeArrowheads="1"/>
          </p:cNvSpPr>
          <p:nvPr>
            <p:custDataLst>
              <p:tags r:id="rId2"/>
            </p:custDataLst>
          </p:nvPr>
        </p:nvSpPr>
        <p:spPr bwMode="auto">
          <a:xfrm>
            <a:off x="420687" y="1579789"/>
            <a:ext cx="8287883" cy="7397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8"/>
              </a:buBlip>
            </a:pPr>
            <a:r>
              <a:rPr lang="fr-FR" sz="2200" smtClean="0">
                <a:solidFill>
                  <a:srgbClr val="000000"/>
                </a:solidFill>
              </a:rPr>
              <a:t>Décider s'il faut modifier les autorisations associées par défaut au dossier DHCP</a:t>
            </a:r>
            <a:endParaRPr lang="fr-FR" sz="2200"/>
          </a:p>
        </p:txBody>
      </p:sp>
      <p:sp>
        <p:nvSpPr>
          <p:cNvPr id="248837" name="AutoShape 5"/>
          <p:cNvSpPr>
            <a:spLocks noChangeArrowheads="1"/>
          </p:cNvSpPr>
          <p:nvPr>
            <p:custDataLst>
              <p:tags r:id="rId3"/>
            </p:custDataLst>
          </p:nvPr>
        </p:nvSpPr>
        <p:spPr bwMode="auto">
          <a:xfrm>
            <a:off x="427037" y="2508477"/>
            <a:ext cx="8287883" cy="7397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8"/>
              </a:buBlip>
            </a:pPr>
            <a:r>
              <a:rPr lang="fr-FR" sz="2200" smtClean="0">
                <a:solidFill>
                  <a:srgbClr val="000000"/>
                </a:solidFill>
              </a:rPr>
              <a:t>N'octroyer que les autorisations minimales indispensables aux utilisateurs pour effectuer leur tâche</a:t>
            </a:r>
            <a:endParaRPr lang="fr-FR" sz="2200"/>
          </a:p>
        </p:txBody>
      </p:sp>
      <p:sp>
        <p:nvSpPr>
          <p:cNvPr id="248838" name="AutoShape 6"/>
          <p:cNvSpPr>
            <a:spLocks noChangeArrowheads="1"/>
          </p:cNvSpPr>
          <p:nvPr>
            <p:custDataLst>
              <p:tags r:id="rId4"/>
            </p:custDataLst>
          </p:nvPr>
        </p:nvSpPr>
        <p:spPr bwMode="auto">
          <a:xfrm>
            <a:off x="434974" y="3437164"/>
            <a:ext cx="8287883" cy="7397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8"/>
              </a:buBlip>
            </a:pPr>
            <a:r>
              <a:rPr lang="en-GB" sz="2200">
                <a:solidFill>
                  <a:srgbClr val="000000"/>
                </a:solidFill>
              </a:rPr>
              <a:t>Accorder l'autorisation de Lecture aux utilisateurs chargés d'analyser les fichiers journaux de serveur DHCP</a:t>
            </a:r>
            <a:endParaRPr lang="en-US" sz="2200"/>
          </a:p>
        </p:txBody>
      </p:sp>
      <p:sp>
        <p:nvSpPr>
          <p:cNvPr id="248839" name="AutoShape 7"/>
          <p:cNvSpPr>
            <a:spLocks noChangeArrowheads="1"/>
          </p:cNvSpPr>
          <p:nvPr>
            <p:custDataLst>
              <p:tags r:id="rId5"/>
            </p:custDataLst>
          </p:nvPr>
        </p:nvSpPr>
        <p:spPr bwMode="auto">
          <a:xfrm>
            <a:off x="438149" y="4367439"/>
            <a:ext cx="8287883" cy="958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spcBef>
                <a:spcPct val="0"/>
              </a:spcBef>
              <a:buClrTx/>
              <a:buSzPct val="80000"/>
              <a:buFontTx/>
              <a:buBlip>
                <a:blip r:embed="rId8"/>
              </a:buBlip>
            </a:pPr>
            <a:r>
              <a:rPr lang="fr-FR" sz="2200" smtClean="0">
                <a:solidFill>
                  <a:srgbClr val="000000"/>
                </a:solidFill>
              </a:rPr>
              <a:t>Retirer les autorisations aux Utilisateurs authentifiés et aux Utilisateurs avec pouvoir afin de minimiser les accès aux fichiers du dossier DHCP</a:t>
            </a:r>
            <a:endParaRPr lang="fr-F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8836"/>
                                        </p:tgtEl>
                                        <p:attrNameLst>
                                          <p:attrName>style.visibility</p:attrName>
                                        </p:attrNameLst>
                                      </p:cBhvr>
                                      <p:to>
                                        <p:strVal val="visible"/>
                                      </p:to>
                                    </p:set>
                                    <p:animEffect transition="in" filter="checkerboard(across)">
                                      <p:cBhvr>
                                        <p:cTn id="7" dur="500"/>
                                        <p:tgtEl>
                                          <p:spTgt spid="24883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8837"/>
                                        </p:tgtEl>
                                        <p:attrNameLst>
                                          <p:attrName>style.visibility</p:attrName>
                                        </p:attrNameLst>
                                      </p:cBhvr>
                                      <p:to>
                                        <p:strVal val="visible"/>
                                      </p:to>
                                    </p:set>
                                    <p:animEffect transition="in" filter="checkerboard(across)">
                                      <p:cBhvr>
                                        <p:cTn id="12" dur="500"/>
                                        <p:tgtEl>
                                          <p:spTgt spid="24883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48838"/>
                                        </p:tgtEl>
                                        <p:attrNameLst>
                                          <p:attrName>style.visibility</p:attrName>
                                        </p:attrNameLst>
                                      </p:cBhvr>
                                      <p:to>
                                        <p:strVal val="visible"/>
                                      </p:to>
                                    </p:set>
                                    <p:animEffect transition="in" filter="checkerboard(across)">
                                      <p:cBhvr>
                                        <p:cTn id="17" dur="500"/>
                                        <p:tgtEl>
                                          <p:spTgt spid="24883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48839"/>
                                        </p:tgtEl>
                                        <p:attrNameLst>
                                          <p:attrName>style.visibility</p:attrName>
                                        </p:attrNameLst>
                                      </p:cBhvr>
                                      <p:to>
                                        <p:strVal val="visible"/>
                                      </p:to>
                                    </p:set>
                                    <p:animEffect transition="in" filter="checkerboard(across)">
                                      <p:cBhvr>
                                        <p:cTn id="22" dur="500"/>
                                        <p:tgtEl>
                                          <p:spTgt spid="248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6" grpId="0" animBg="1"/>
      <p:bldP spid="248837" grpId="0" animBg="1"/>
      <p:bldP spid="248838" grpId="0" animBg="1"/>
      <p:bldP spid="24883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p:txBody>
          <a:bodyPr/>
          <a:lstStyle/>
          <a:p>
            <a:pPr marL="514350" indent="-514350">
              <a:buClr>
                <a:schemeClr val="tx1"/>
              </a:buClr>
              <a:buFont typeface="+mj-lt"/>
              <a:buAutoNum type="arabicPeriod"/>
            </a:pPr>
            <a:r>
              <a:rPr lang="fr-FR" dirty="0" smtClean="0"/>
              <a:t>Pourquoi doit-on gérer le service DHCP?</a:t>
            </a:r>
          </a:p>
          <a:p>
            <a:pPr marL="514350" indent="-514350">
              <a:buClr>
                <a:schemeClr val="tx1"/>
              </a:buClr>
              <a:buFont typeface="+mj-lt"/>
              <a:buAutoNum type="arabicPeriod"/>
            </a:pPr>
            <a:r>
              <a:rPr lang="fr-FR" dirty="0" smtClean="0"/>
              <a:t>Quelles sont les caractéristiques d'une BD DHCP?</a:t>
            </a:r>
          </a:p>
          <a:p>
            <a:pPr marL="514350" indent="-514350">
              <a:buClr>
                <a:schemeClr val="tx1"/>
              </a:buClr>
              <a:buFont typeface="+mj-lt"/>
              <a:buAutoNum type="arabicPeriod"/>
            </a:pPr>
            <a:r>
              <a:rPr lang="fr-FR" dirty="0" smtClean="0"/>
              <a:t>Expliquez le processus de sauvegarde et de restauration DHCP.</a:t>
            </a:r>
          </a:p>
          <a:p>
            <a:pPr marL="514350" indent="-514350">
              <a:buClr>
                <a:schemeClr val="tx1"/>
              </a:buClr>
              <a:buFont typeface="+mj-lt"/>
              <a:buAutoNum type="arabicPeriod"/>
            </a:pPr>
            <a:r>
              <a:rPr lang="fr-FR" dirty="0" smtClean="0"/>
              <a:t>C'est quoi la réconciliation d'une BD DHCP?</a:t>
            </a:r>
          </a:p>
          <a:p>
            <a:pPr marL="514350" indent="-514350">
              <a:buClr>
                <a:schemeClr val="tx1"/>
              </a:buClr>
              <a:buFont typeface="+mj-lt"/>
              <a:buAutoNum type="arabicPeriod"/>
            </a:pPr>
            <a:r>
              <a:rPr lang="fr-FR" dirty="0" smtClean="0"/>
              <a:t>Pourquoi analyser le service DHCP?</a:t>
            </a:r>
          </a:p>
          <a:p>
            <a:pPr marL="514350" indent="-514350">
              <a:buClr>
                <a:schemeClr val="tx1"/>
              </a:buClr>
              <a:buFont typeface="+mj-lt"/>
              <a:buAutoNum type="arabicPeriod"/>
            </a:pPr>
            <a:r>
              <a:rPr lang="fr-FR" dirty="0" smtClean="0"/>
              <a:t>Quels sont les composants qui nous permettent d'analyser le service DHCP?</a:t>
            </a:r>
          </a:p>
          <a:p>
            <a:pPr marL="514350" indent="-514350">
              <a:buClr>
                <a:schemeClr val="tx1"/>
              </a:buClr>
              <a:buFont typeface="+mj-lt"/>
              <a:buAutoNum type="arabicPeriod"/>
            </a:pPr>
            <a:r>
              <a:rPr lang="fr-FR" dirty="0" smtClean="0"/>
              <a:t>C'est quoi les statistiques DHCP?</a:t>
            </a:r>
          </a:p>
          <a:p>
            <a:pPr marL="514350" indent="-514350">
              <a:buClr>
                <a:schemeClr val="tx1"/>
              </a:buClr>
              <a:buFont typeface="+mj-lt"/>
              <a:buAutoNum type="arabicPeriod"/>
            </a:pPr>
            <a:endParaRPr lang="fr-FR" dirty="0" smtClean="0"/>
          </a:p>
          <a:p>
            <a:pPr marL="514350" indent="-514350">
              <a:buClr>
                <a:schemeClr val="tx1"/>
              </a:buClr>
              <a:buFont typeface="+mj-lt"/>
              <a:buAutoNum type="arabicPeriod"/>
            </a:pPr>
            <a:endParaRPr lang="fr-FR" dirty="0" smtClean="0"/>
          </a:p>
          <a:p>
            <a:pPr marL="514350" indent="-514350">
              <a:buClr>
                <a:schemeClr val="tx1"/>
              </a:buClr>
              <a:buFont typeface="+mj-lt"/>
              <a:buAutoNum type="arabicPeriod"/>
            </a:pPr>
            <a:endParaRPr lang="fr-FR" dirty="0" smtClean="0"/>
          </a:p>
          <a:p>
            <a:pPr marL="514350" indent="-514350">
              <a:buClr>
                <a:schemeClr val="tx1"/>
              </a:buClr>
              <a:buFont typeface="+mj-lt"/>
              <a:buAutoNum type="arabicPeriod"/>
            </a:pPr>
            <a:endParaRPr lang="fr-FR" dirty="0" smtClean="0"/>
          </a:p>
          <a:p>
            <a:pPr marL="514350" indent="-514350">
              <a:buClr>
                <a:schemeClr val="tx1"/>
              </a:buClr>
              <a:buFont typeface="+mj-lt"/>
              <a:buAutoNum type="arabicPeriod"/>
            </a:pPr>
            <a:endParaRPr lang="fr-FR" dirty="0" smtClean="0"/>
          </a:p>
          <a:p>
            <a:pPr marL="514350" indent="-514350">
              <a:buClr>
                <a:schemeClr val="tx1"/>
              </a:buClr>
              <a:buFont typeface="+mj-lt"/>
              <a:buAutoNum type="arabicPeriod"/>
            </a:pPr>
            <a:endParaRPr lang="fr-F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p:txBody>
          <a:bodyPr/>
          <a:lstStyle/>
          <a:p>
            <a:pPr marL="514350" indent="-514350">
              <a:buClr>
                <a:schemeClr val="tx1"/>
              </a:buClr>
              <a:buFont typeface="+mj-lt"/>
              <a:buAutoNum type="arabicPeriod" startAt="8"/>
            </a:pPr>
            <a:r>
              <a:rPr lang="fr-FR" dirty="0" smtClean="0"/>
              <a:t>Où peut-on enregistrer les évènements relatifs au service DHCP?</a:t>
            </a:r>
          </a:p>
          <a:p>
            <a:pPr marL="514350" indent="-514350">
              <a:buClr>
                <a:schemeClr val="tx1"/>
              </a:buClr>
              <a:buFont typeface="+mj-lt"/>
              <a:buAutoNum type="arabicPeriod" startAt="8"/>
            </a:pPr>
            <a:r>
              <a:rPr lang="fr-FR" dirty="0" smtClean="0"/>
              <a:t>Expliquez le principe de l'enregistrement d'audit DHCP.</a:t>
            </a:r>
          </a:p>
          <a:p>
            <a:pPr marL="514350" indent="-514350">
              <a:buClr>
                <a:schemeClr val="tx1"/>
              </a:buClr>
              <a:buFont typeface="+mj-lt"/>
              <a:buAutoNum type="arabicPeriod" startAt="8"/>
            </a:pPr>
            <a:r>
              <a:rPr lang="fr-FR" dirty="0" smtClean="0"/>
              <a:t>Comment utiliser les données de performances pour analyser </a:t>
            </a:r>
            <a:r>
              <a:rPr lang="fr-FR" smtClean="0"/>
              <a:t>le service DHCP?</a:t>
            </a:r>
            <a:endParaRPr lang="fr-FR" dirty="0" smtClean="0"/>
          </a:p>
          <a:p>
            <a:pPr marL="514350" indent="-514350">
              <a:buClr>
                <a:schemeClr val="tx1"/>
              </a:buClr>
              <a:buFont typeface="+mj-lt"/>
              <a:buAutoNum type="arabicPeriod" startAt="8"/>
            </a:pPr>
            <a:r>
              <a:rPr lang="fr-FR" dirty="0" smtClean="0"/>
              <a:t>Quelles sont les précautions à faire pour sécuriser le service DHCP?</a:t>
            </a:r>
          </a:p>
          <a:p>
            <a:pPr marL="514350" indent="-514350">
              <a:buClr>
                <a:schemeClr val="tx1"/>
              </a:buClr>
              <a:buFont typeface="+mj-lt"/>
              <a:buAutoNum type="arabicPeriod" startAt="8"/>
            </a:pPr>
            <a:endParaRPr lang="fr-FR" dirty="0" smtClean="0"/>
          </a:p>
          <a:p>
            <a:pPr marL="514350" indent="-514350">
              <a:buClr>
                <a:schemeClr val="tx1"/>
              </a:buClr>
              <a:buFont typeface="+mj-lt"/>
              <a:buAutoNum type="arabicPeriod" startAt="8"/>
            </a:pPr>
            <a:endParaRPr lang="fr-FR" dirty="0" smtClean="0"/>
          </a:p>
          <a:p>
            <a:pPr marL="514350" indent="-514350">
              <a:buClr>
                <a:schemeClr val="tx1"/>
              </a:buClr>
              <a:buFont typeface="+mj-lt"/>
              <a:buAutoNum type="arabicPeriod" startAt="8"/>
            </a:pPr>
            <a:endParaRPr lang="fr-FR" dirty="0" smtClean="0"/>
          </a:p>
          <a:p>
            <a:pPr marL="514350" indent="-514350">
              <a:buClr>
                <a:schemeClr val="tx1"/>
              </a:buClr>
              <a:buFont typeface="+mj-lt"/>
              <a:buAutoNum type="arabicPeriod" startAt="8"/>
            </a:pPr>
            <a:endParaRPr lang="fr-FR" dirty="0" smtClean="0"/>
          </a:p>
          <a:p>
            <a:pPr marL="514350" indent="-514350">
              <a:buClr>
                <a:schemeClr val="tx1"/>
              </a:buClr>
              <a:buFont typeface="+mj-lt"/>
              <a:buAutoNum type="arabicPeriod" startAt="8"/>
            </a:pPr>
            <a:endParaRPr lang="fr-FR" dirty="0" smtClean="0"/>
          </a:p>
          <a:p>
            <a:pPr marL="514350" indent="-514350">
              <a:buClr>
                <a:schemeClr val="tx1"/>
              </a:buClr>
              <a:buFont typeface="+mj-lt"/>
              <a:buAutoNum type="arabicPeriod" startAt="8"/>
            </a:pPr>
            <a:endParaRPr lang="fr-FR" dirty="0" smtClean="0"/>
          </a:p>
          <a:p>
            <a:pPr marL="514350" indent="-514350">
              <a:buClr>
                <a:schemeClr val="tx1"/>
              </a:buClr>
              <a:buFont typeface="+mj-lt"/>
              <a:buAutoNum type="arabicPeriod" startAt="8"/>
            </a:pPr>
            <a:endParaRPr lang="fr-FR"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96\b\cf0 Module 3:\par}}"/>
  <p:tag name="PPWINSEGMENT1TARGETRTF" val="{\rtf1\ansi\deff1{\fonttbl{\f1\fcharset0 Arial;}{\f2\fcharset0 Arial Narrow;}}{\colortbl\red0\green0\blue0;}{\f2\fs96\b\cf0 Module 3 :\par}}"/>
  <p:tag name="PPWINSEGMENT2START" val="13"/>
  <p:tag name="PPWINSEGMENT2LENGTH" val="34"/>
  <p:tag name="PPWINSEGMENT2SOURCERTF" val="{\rtf1\ansi\deff0{\fonttbl{\f0\fcharset0 Arial Narrow;}}{\colortbl\red0\green0\blue0;}{\f0\fs96\b\cf0 Managing and Monitoring Dynamic Host Configuration Protocol (DHCP)\par}}"/>
  <p:tag name="PPWINSEGMENT2TARGETRTF" val="{\rtf1\ansi\deff1{\fonttbl{\f1\fcharset0 Arial;}{\f2\fcharset0 Arial Narrow;}}{\colortbl\red0\green0\blue0;}{\f2\fs96\b\cf0 Gestion et analyse du service DHCP\par}}"/>
  <p:tag name="PPWINLASTSAVEDTRANSLATION" val="Module 3 : Gestion et analyse du service DHCP"/>
  <p:tag name="PPWINALREADYSEGMENTED" val="True"/>
  <p:tag name="PPWINTOTALSEGMENTS" val="2"/>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60\b\cf0 Overview\par}}"/>
  <p:tag name="PPWINSEGMENT1TARGETRTF" val="{\rtf1\ansi\deff1{\fonttbl{\f1\fcharset0 Arial;}{\f2\fcharset0 Arial Narrow;}}{\colortbl\red0\green0\blue0;}{\f2\fs60\b\cf0 Vue d'ensemble\par}}"/>
  <p:tag name="PPWINLASTSAVEDTRANSLATION" val="Vue d'ensemble"/>
  <p:tag name="PPWINALREADYSEGMENTED" val="True"/>
  <p:tag name="PPWINTOTALSEGMENTS" val="1"/>
</p:tagLst>
</file>

<file path=ppt/tags/tag13.xml><?xml version="1.0" encoding="utf-8"?>
<p:tagLst xmlns:a="http://schemas.openxmlformats.org/drawingml/2006/main" xmlns:r="http://schemas.openxmlformats.org/officeDocument/2006/relationships" xmlns:p="http://schemas.openxmlformats.org/presentationml/2006/main">
  <p:tag name="PPWINSEGMENT1START" val="1"/>
  <p:tag name="PPWINSEGMENT1LENGTH" val="34"/>
  <p:tag name="PPWINSEGMENT1SOURCERTF" val="{\rtf1\ansi\deff0{\fonttbl{\f0\fcharset0 Arial Narrow;}}{\colortbl\red0\green0\blue0;}{\f0\fs48\b\cf0 Managing a DHCP Database\par}}"/>
  <p:tag name="PPWINSEGMENT1TARGETRTF" val="{\rtf1\ansi\deff1{\fonttbl{\f1\fcharset0 Arial;}{\f2\fcharset0 Arial Narrow;}}{\colortbl\red0\green0\blue0;}{\f2\fs48\b\cf0 Gestion d'une base de donn\'E9es DHCP\par}}"/>
  <p:tag name="PPWINSEGMENT2START" val="36"/>
  <p:tag name="PPWINSEGMENT2LENGTH" val="23"/>
  <p:tag name="PPWINSEGMENT2SOURCERTF" val="{\rtf1\ansi\deff0{\fonttbl{\f0\fcharset0 Arial Narrow;}}{\colortbl\red0\green0\blue0;}{\f0\fs48\b\cf0 Monitoring DHCP \par}}"/>
  <p:tag name="PPWINSEGMENT2TARGETRTF" val="{\rtf1\ansi\deff1{\fonttbl{\f1\fcharset0 Arial;}{\f2\fcharset0 Arial Narrow;}}{\colortbl\red0\green0\blue0;}{\f2\fs48\b\cf0 Analyse du service DHCP\par}}"/>
  <p:tag name="PPWINSEGMENT3START" val="60"/>
  <p:tag name="PPWINSEGMENT3LENGTH" val="61"/>
  <p:tag name="PPWINSEGMENT3SOURCERTF" val="{\rtf1\ansi\deff0{\fonttbl{\f0\fcharset0 Arial Narrow;}}{\colortbl\red0\green0\blue0;}{\f0\fs48\b\cf0 Applying Security Guidelines for DHCP\par}}"/>
  <p:tag name="PPWINSEGMENT3TARGETRTF" val="{\rtf1\ansi\deff1{\fonttbl{\f1\fcharset0 Arial;}{\f2\fcharset0 Arial Narrow;}}{\colortbl\red0\green0\blue0;}{\f2\fs48\b\cf0 Application des instructions de s\'E9curit\'E9 pour le service DHCP\par}}"/>
  <p:tag name="PPWINLASTSAVEDTRANSLATION" val="Gestion d'une base de données DHCP&#10;Analyse du service DHCP&#10;Application des instructions de sécurité pour le service DHCP&#10;&#10;"/>
  <p:tag name="PPWINALREADYSEGMENTED" val="True"/>
  <p:tag name="PPWINTOTALSEGMENTS" val="3"/>
</p:tagLst>
</file>

<file path=ppt/tags/tag1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34"/>
  <p:tag name="PPWINSEGMENT2SOURCERTF" val="{\rtf1\ansi\deff0{\fonttbl{\f0\fcharset0 Arial Narrow;}}{\colortbl\red0\green0\blue0;}{\f0\fs60\b\cf0 Managing a DHCP Database\par}}"/>
  <p:tag name="PPWINSEGMENT2TARGETRTF" val="{\rtf1\ansi\deff1{\fonttbl{\f1\fcharset0 Arial;}{\f2\fcharset0 Arial Narrow;}}{\colortbl\red0\green0\blue0;}{\f2\fs60\b\cf0 Gestion d'une base de donn\'E9es DHCP\par}}"/>
  <p:tag name="PPWINLASTSAVEDTRANSLATION" val="Leçon : Gestion d'une base de données DHCP"/>
  <p:tag name="PPWINALREADYSEGMENTED" val="True"/>
  <p:tag name="PPWINTOTALSEGMENTS" val="2"/>
</p:tagLst>
</file>

<file path=ppt/tags/tag16.xml><?xml version="1.0" encoding="utf-8"?>
<p:tagLst xmlns:a="http://schemas.openxmlformats.org/drawingml/2006/main" xmlns:r="http://schemas.openxmlformats.org/officeDocument/2006/relationships" xmlns:p="http://schemas.openxmlformats.org/presentationml/2006/main">
  <p:tag name="PPWINSEGMENT1START" val="1"/>
  <p:tag name="PPWINSEGMENT1LENGTH" val="44"/>
  <p:tag name="PPWINSEGMENT1SOURCERTF" val="{\rtf1\ansi\deff0{\fonttbl{\f0\fcharset0 Arial Narrow;}}{\colortbl\red0\green0\blue0;}{\f0\fs48\b\cf0 Overview of Managing DHCP\par}}"/>
  <p:tag name="PPWINSEGMENT1TARGETRTF" val="{\rtf1\ansi\deff1{\fonttbl{\f1\fcharset0 Arial;}{\f2\fcharset0 Arial Narrow;}}{\colortbl\red0\green0\blue0;}{\f2\fs48\b\cf0 Vue d'ensemble de la gestion du service DHCP\par}}"/>
  <p:tag name="PPWINSEGMENT2START" val="46"/>
  <p:tag name="PPWINSEGMENT2LENGTH" val="39"/>
  <p:tag name="PPWINSEGMENT2SOURCERTF" val="{\rtf1\ansi\deff0{\fonttbl{\f0\fcharset0 Arial Narrow;}}{\colortbl\red0\green0\blue0;}{\f0\fs48\b\cf0 What Is a DHCP Database?\par}}"/>
  <p:tag name="PPWINSEGMENT2TARGETRTF" val="{\rtf1\ansi\deff1{\fonttbl{\f1\fcharset0 Arial;}{\f2\fcharset0 Arial Narrow;}}{\colortbl\red0\green0\blue0;}{\f2\fs48\b\cf0 Qu'est-ce qu'une base de donn\'E9es DHCP ?\par}}"/>
  <p:tag name="PPWINSEGMENT3START" val="86"/>
  <p:tag name="PPWINSEGMENT3LENGTH" val="69"/>
  <p:tag name="PPWINSEGMENT3SOURCERTF" val="{\rtf1\ansi\deff0{\fonttbl{\f0\fcharset0 Arial Narrow;}}{\colortbl\red0\green0\blue0;}{\f0\fs48\b\cf0 How a DHCP Database Is Backed Up and Restored\par}}"/>
  <p:tag name="PPWINSEGMENT3TARGETRTF" val="{\rtf1\ansi\deff1{\fonttbl{\f1\fcharset0 Arial;}{\f2\fcharset0 Arial Narrow;}}{\colortbl\red0\green0\blue0;}{\f2\fs48\b\cf0 Modalit\'E9s de sauvegarde et de restauration d'une base de donn\'E9es DHCP\par}}"/>
  <p:tag name="PPWINSEGMENT4START" val="156"/>
  <p:tag name="PPWINSEGMENT4LENGTH" val="57"/>
  <p:tag name="PPWINSEGMENT4SOURCERTF" val="{\rtf1\ansi\deff0{\fonttbl{\f0\fcharset0 Arial Narrow;}}{\colortbl\red0\green0\blue0;}{\f0\fs48\b\cf0 How To Back Up and Restore a DHCP Database\par}}"/>
  <p:tag name="PPWINSEGMENT4TARGETRTF" val="{\rtf1\ansi\deff1{\fonttbl{\f1\fcharset0 Arial;}{\f2\fcharset0 Arial Narrow;}}{\colortbl\red0\green0\blue0;}{\f2\fs48\b\cf0 Comment sauvegarder et restaurer une base de donn\'E9es DHCP\par}}"/>
  <p:tag name="PPWINSEGMENT5START" val="214"/>
  <p:tag name="PPWINSEGMENT5LENGTH" val="54"/>
  <p:tag name="PPWINSEGMENT5SOURCERTF" val="{\rtf1\ansi\deff0{\fonttbl{\f0\fcharset0 Arial Narrow;}}{\colortbl\red0\green0\blue0;}{\f0\fs48\b\cf0 How a DHCP Database Is Reconciled\par}}"/>
  <p:tag name="PPWINSEGMENT5TARGETRTF" val="{\rtf1\ansi\deff1{\fonttbl{\f1\fcharset0 Arial;}{\f2\fcharset0 Arial Narrow;}}{\colortbl\red0\green0\blue0;}{\f2\fs48\b\cf0 Modalit\'E9s de r\'E9conciliation d'une base de donn\'E9es DHCP\par}}"/>
  <p:tag name="PPWINSEGMENT6START" val="269"/>
  <p:tag name="PPWINSEGMENT6LENGTH" val="44"/>
  <p:tag name="PPWINSEGMENT6SOURCERTF" val="{\rtf1\ansi\deff0{\fonttbl{\f0\fcharset0 Arial Narrow;}}{\colortbl\red0\green0\blue0;}{\f0\fs48\b\cf0 How To Reconcile a DHCP Database\par}}"/>
  <p:tag name="PPWINSEGMENT6TARGETRTF" val="{\rtf1\ansi\deff1{\fonttbl{\f1\fcharset0 Arial;}{\f2\fcharset0 Arial Narrow;}}{\colortbl\red0\green0\blue0;}{\f2\fs48\b\cf0 Comment r\'E9concilier une base de donn\'E9es DHCP\par}}"/>
  <p:tag name="PPWINLASTSAVEDTRANSLATION" val="Vue d'ensemble de la gestion du service DHCP&#10;Qu'est-ce qu'une base de données DHCP ?&#10;Modalités de sauvegarde et de restauration d'une base de données DHCP&#10;Comment sauvegarder et restaurer une base de données DHCP&#10;Modalités de réconciliation d'une base de données DHCP&#10;Comment réconcilier une base de données DHCP"/>
  <p:tag name="PPWINALREADYSEGMENTED" val="True"/>
  <p:tag name="PPWINTOTALSEGMENTS" val="6"/>
</p:tagLst>
</file>

<file path=ppt/tags/tag17.xml><?xml version="1.0" encoding="utf-8"?>
<p:tagLst xmlns:a="http://schemas.openxmlformats.org/drawingml/2006/main" xmlns:r="http://schemas.openxmlformats.org/officeDocument/2006/relationships" xmlns:p="http://schemas.openxmlformats.org/presentationml/2006/main">
  <p:tag name="PPWINTOTALSEGMENTS" val="0"/>
</p:tagLst>
</file>

<file path=ppt/tags/tag18.xml><?xml version="1.0" encoding="utf-8"?>
<p:tagLst xmlns:a="http://schemas.openxmlformats.org/drawingml/2006/main" xmlns:r="http://schemas.openxmlformats.org/officeDocument/2006/relationships" xmlns:p="http://schemas.openxmlformats.org/presentationml/2006/main">
  <p:tag name="PPWINSEGMENT1START" val="1"/>
  <p:tag name="PPWINSEGMENT1LENGTH" val="44"/>
  <p:tag name="PPWINSEGMENT1SOURCERTF" val="{\rtf1\ansi\deff0{\fonttbl{\f0\fcharset0 Arial Narrow;}}{\colortbl\red0\green0\blue0;}{\f0\fs60\b\cf0 Overview of Managing DHCP\par}}"/>
  <p:tag name="PPWINSEGMENT1TARGETRTF" val="{\rtf1\ansi\deff1{\fonttbl{\f1\fcharset0 Arial;}{\f2\fcharset0 Arial Narrow;}}{\colortbl\red0\green0\blue0;}{\f2\fs60\b\cf0 Vue d'ensemble de la gestion du service DHCP\par}}"/>
  <p:tag name="PPWINLASTSAVEDTRANSLATION" val="Vue d'ensemble de la gestion du service DHCP"/>
  <p:tag name="PPWINALREADYSEGMENTED" val="True"/>
  <p:tag name="PPWINTOTALSEGMENTS" val="1"/>
</p:tagLst>
</file>

<file path=ppt/tags/tag19.xml><?xml version="1.0" encoding="utf-8"?>
<p:tagLst xmlns:a="http://schemas.openxmlformats.org/drawingml/2006/main" xmlns:r="http://schemas.openxmlformats.org/officeDocument/2006/relationships" xmlns:p="http://schemas.openxmlformats.org/presentationml/2006/main">
  <p:tag name="PPWINSEGMENT1START" val="1"/>
  <p:tag name="PPWINSEGMENT1LENGTH" val="51"/>
  <p:tag name="PPWINSEGMENT1SOURCERTF" val="{\rtf1\ansi\deff0{\fonttbl{\f0\fcharset0 Arial Narrow;}}{\colortbl\red0\green0\blue0;}{\f0\fs44\b\cf0 Managing DHCP database growth \par}}"/>
  <p:tag name="PPWINSEGMENT1TARGETRTF" val="{\rtf1\ansi\deff1{\fonttbl{\f1\fcharset0 Arial;}{\f2\fcharset0 Arial Narrow;}}{\colortbl\red0\green0\blue0;}{\f2\fs44\b\cf0 Gestion de la croissance de la base de donn\'E9es DHCP\par}}"/>
  <p:tag name="PPWINSEGMENT2START" val="53"/>
  <p:tag name="PPWINSEGMENT2LENGTH" val="37"/>
  <p:tag name="PPWINSEGMENT2SOURCERTF" val="{\rtf1\ansi\deff0{\fonttbl{\f0\fcharset0 Arial Narrow;}}{\colortbl\red0\green0\blue0;}{\f0\fs44\b\cf0 Protecting the DHCP database \par}}"/>
  <p:tag name="PPWINSEGMENT2TARGETRTF" val="{\rtf1\ansi\deff1{\fonttbl{\f1\fcharset0 Arial;}{\f2\fcharset0 Arial Narrow;}}{\colortbl\red0\green0\blue0;}{\f2\fs44\b\cf0 Protection de la base de donn\'E9es DHCP\par}}"/>
  <p:tag name="PPWINSEGMENT3START" val="91"/>
  <p:tag name="PPWINSEGMENT3LENGTH" val="55"/>
  <p:tag name="PPWINSEGMENT3SOURCERTF" val="{\rtf1\ansi\deff0{\fonttbl{\f0\fcharset0 Arial Narrow;}}{\colortbl\red0\green0\blue0;}{\f0\fs44\b\cf0 Ensuring DHCP database consistency \par}}"/>
  <p:tag name="PPWINSEGMENT3TARGETRTF" val="{\rtf1\ansi\deff1{\fonttbl{\f1\fcharset0 Arial;}{\f2\fcharset0 Arial Narrow;}}{\colortbl\red0\green0\blue0;}{\f2\fs44\b\cf0 Pr\'E9servation de la coh\'E9rence de la base de donn\'E9es DHCP\par}}"/>
  <p:tag name="PPWINSEGMENT4START" val="147"/>
  <p:tag name="PPWINSEGMENT4LENGTH" val="16"/>
  <p:tag name="PPWINSEGMENT4SOURCERTF" val="{\rtf1\ansi\deff0{\fonttbl{\f0\fcharset0 Arial Narrow;}}{\colortbl\red0\green0\blue0;}{\f0\fs44\b\cf0 Adding clients\par}}"/>
  <p:tag name="PPWINSEGMENT4TARGETRTF" val="{\rtf1\ansi\deff1{\fonttbl{\f1\fcharset0 Arial;}{\f2\fcharset0 Arial Narrow;}}{\colortbl\red0\green0\blue0;}{\f2\fs44\b\cf0 Ajout de clients\par}}"/>
  <p:tag name="PPWINSEGMENT5START" val="164"/>
  <p:tag name="PPWINSEGMENT5LENGTH" val="36"/>
  <p:tag name="PPWINSEGMENT5SOURCERTF" val="{\rtf1\ansi\deff0{\fonttbl{\f0\fcharset0 Arial Narrow;}}{\colortbl\red0\green0\blue0;}{\f0\fs44\b\cf0 Adding new network service servers \par}}"/>
  <p:tag name="PPWINSEGMENT5TARGETRTF" val="{\rtf1\ansi\deff1{\fonttbl{\f1\fcharset0 Arial;}{\f2\fcharset0 Arial Narrow;}}{\colortbl\red0\green0\blue0;}{\f2\fs44\b\cf0 Ajout de nouveaux serveurs au r\'E9seau\par}}"/>
  <p:tag name="PPWINSEGMENT6START" val="201"/>
  <p:tag name="PPWINSEGMENT6LENGTH" val="30"/>
  <p:tag name="PPWINSEGMENT6SOURCERTF" val="{\rtf1\ansi\deff0{\fonttbl{\f0\fcharset0 Arial Narrow;}}{\colortbl\red0\green0\blue0;}{\f0\fs44\b\cf0 Adding new subnets\par}}"/>
  <p:tag name="PPWINSEGMENT6TARGETRTF" val="{\rtf1\ansi\deff1{\fonttbl{\f1\fcharset0 Arial;}{\f2\fcharset0 Arial Narrow;}}{\colortbl\red0\green0\blue0;}{\f2\fs44\b\cf0 Ajout de nouveaux sous-r\'E9seaux\par}}"/>
  <p:tag name="PPWINLASTSAVEDTRANSLATION" val="Gestion de la croissance de la base de données DHCP&#10;Protection de la base de données DHCP&#10;Préservation de la cohérence de la base de données DHCP&#10;Ajout de clients&#10;Ajout de nouveaux serveurs au réseau&#10;Ajout de nouveaux sous-réseaux"/>
  <p:tag name="PPWINALREADYSEGMENTED" val="True"/>
  <p:tag name="PPWINTOTALSEGMENTS" val="6"/>
</p:tagLst>
</file>

<file path=ppt/tags/tag20.xml><?xml version="1.0" encoding="utf-8"?>
<p:tagLst xmlns:a="http://schemas.openxmlformats.org/drawingml/2006/main" xmlns:r="http://schemas.openxmlformats.org/officeDocument/2006/relationships" xmlns:p="http://schemas.openxmlformats.org/presentationml/2006/main">
  <p:tag name="PPWINTOTALSEGMENTS" val="0"/>
</p:tagLst>
</file>

<file path=ppt/tags/tag21.xml><?xml version="1.0" encoding="utf-8"?>
<p:tagLst xmlns:a="http://schemas.openxmlformats.org/drawingml/2006/main" xmlns:r="http://schemas.openxmlformats.org/officeDocument/2006/relationships" xmlns:p="http://schemas.openxmlformats.org/presentationml/2006/main">
  <p:tag name="PPWINSEGMENT1START" val="1"/>
  <p:tag name="PPWINSEGMENT1LENGTH" val="39"/>
  <p:tag name="PPWINSEGMENT1SOURCERTF" val="{\rtf1\ansi\deff0{\fonttbl{\f0\fcharset0 Arial Narrow;}}{\colortbl\red0\green0\blue0;}{\f0\fs60\b\cf0 What Is a DHCP Database?\par}}"/>
  <p:tag name="PPWINSEGMENT1TARGETRTF" val="{\rtf1\ansi\deff1{\fonttbl{\f1\fcharset0 Arial;}{\f2\fcharset0 Arial Narrow;}}{\colortbl\red0\green0\blue0;}{\f2\fs60\b\cf0 Qu'est-ce qu'une base de donn\'E9es DHCP ?\par}}"/>
  <p:tag name="PPWINLASTSAVEDTRANSLATION" val="Qu'est-ce qu'une base de données DHCP ?"/>
  <p:tag name="PPWINALREADYSEGMENTED" val="True"/>
  <p:tag name="PPWINTOTALSEGMENTS" val="1"/>
</p:tagLst>
</file>

<file path=ppt/tags/tag2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1"/>
  <p:tag name="PPWINSEGMENT1SOURCERTF" val="{\rtf1\ansi\deff0{\fonttbl{\f0\fcharset0 Arial Narrow;}}{\colortbl\red0\green0\blue0;}{\f0\fs48\b\cf0 The DHCP database contains DHCP configuration data, such as information about scopes, reservations, options, and leases\par}}"/>
  <p:tag name="PPWINSEGMENT1TARGETRTF" val="{\rtf1\ansi\deff1{\fonttbl{\f1\fcharset0 Arial;}{\f2\fcharset0 Arial Narrow;}}{\colortbl\red0\green0\blue0;}{\f2\fs48\b\cf0 La base de donn\'E9es DHCP contient des donn\'E9es de configuration DHCP (informations sur les \'E9tendues, les r\'E9servations, les options et les baux)\par}}"/>
  <p:tag name="PPWINSEGMENT2START" val="143"/>
  <p:tag name="PPWINSEGMENT2LENGTH" val="96"/>
  <p:tag name="PPWINSEGMENT2SOURCERTF" val="{\rtf1\ansi\deff0{\fonttbl{\f0\fcharset0 Arial Narrow;}}{\colortbl\red0\green0\blue0;}{\f0\fs48\b\cf0 Windows Server 2003 stores the DHCP database in the directory }{\f0\fs56\cf0 %}{\f0\fs56\i\cf0 Systemroot%}{\f0\fs56\cf0 \\System32\\Dhcp}{\f0\fs56\b\cf0  \par}}"/>
  <p:tag name="PPWINSEGMENT2TARGETRTF" val="{\rtf1\ansi\deff1{\fonttbl{\f1\fcharset0 Arial;}{\f2\fcharset0 Arial Narrow;}}{\colortbl\red0\green0\blue0;}{\f2\fs48\b\cf0 Windows Server2003 stocke la base de donn\'E9es DHCP dans le r\'E9pertoire }{\f2\fs56\cf0 %}{\f2\fs56\i\cf0 Systemroot%}{\f2\fs56\cf0 \\}{\f2\fs56\cf0 System32\\}{\f2\fs56\cf0 Dhcp}{\f2\fs56\b\cf0  \par}}"/>
  <p:tag name="PPWINSEGMENT3START" val="240"/>
  <p:tag name="PPWINSEGMENT3LENGTH" val="56"/>
  <p:tag name="PPWINSEGMENT3SOURCERTF" val="{\rtf1\ansi\deff0{\fonttbl{\f0\fcharset0 Arial Narrow;}}{\colortbl\red0\green0\blue0;}{\f0\fs48\b\cf0 The DHCP database files include:\par}}"/>
  <p:tag name="PPWINSEGMENT3TARGETRTF" val="{\rtf1\ansi\deff1{\fonttbl{\f1\fcharset0 Arial;}{\f2\fcharset0 Arial Narrow;}}{\colortbl\red0\green0\blue0;}{\f2\fs48\b\cf0 La base de donn\'E9es DHCP comporte les fichiers suivants :\par}}"/>
  <p:tag name="PPWINLASTSAVEDTRANSLATION" val="La base de données DHCP contient des données de configuration DHCP (informations sur les étendues, les réservations, les options et les baux)&#10;Windows Server2003 stocke la base de données DHCP dans le répertoire %Systemroot%\System32\Dhcp &#10;La base de données DHCP comporte les fichiers suivants :"/>
  <p:tag name="PPWINALREADYSEGMENTED" val="True"/>
  <p:tag name="PPWINTOTALSEGMENTS" val="3"/>
</p:tagLst>
</file>

<file path=ppt/tags/tag23.xml><?xml version="1.0" encoding="utf-8"?>
<p:tagLst xmlns:a="http://schemas.openxmlformats.org/drawingml/2006/main" xmlns:r="http://schemas.openxmlformats.org/officeDocument/2006/relationships" xmlns:p="http://schemas.openxmlformats.org/presentationml/2006/main">
  <p:tag name="PPWINSEGMENT1START" val="1"/>
  <p:tag name="PPWINSEGMENT1LENGTH" val="8"/>
  <p:tag name="PPWINSEGMENT1SOURCERTF" val="{\rtf1\ansi\deff0{\fonttbl{\f0\fcharset0 Arial Narrow;}}{\colortbl\red0\green0\blue0;}{\f0\fs44\cf0 DHCP.mdb\par}}"/>
  <p:tag name="PPWINSEGMENT1TARGETRTF" val="{\rtf1\ansi\deff1{\fonttbl{\f1\fcharset0 Arial;}{\f2\fcharset0 Arial Narrow;}}{\colortbl\red0\green0\blue0;}{\f2\fs44\cf0 DHCP.mdb\par}}"/>
  <p:tag name="PPWINSEGMENT2START" val="10"/>
  <p:tag name="PPWINSEGMENT2LENGTH" val="7"/>
  <p:tag name="PPWINSEGMENT2SOURCERTF" val="{\rtf1\ansi\deff0{\fonttbl{\f0\fcharset0 Arial Narrow;}}{\colortbl\red0\green0\blue0;}{\f0\fs44\cf0 Tmp.edb\par}}"/>
  <p:tag name="PPWINSEGMENT2TARGETRTF" val="{\rtf1\ansi\deff1{\fonttbl{\f1\fcharset0 Arial;}{\f2\fcharset0 Arial Narrow;}}{\colortbl\red0\green0\blue0;}{\f2\fs44\cf0 Tmp.edb\par}}"/>
  <p:tag name="PPWINSEGMENT3START" val="18"/>
  <p:tag name="PPWINSEGMENT3LENGTH" val="19"/>
  <p:tag name="PPWINSEGMENT3SOURCERTF" val="{\rtf1\ansi\deff0{\fonttbl{\f0\fcharset0 Arial Narrow;}}{\colortbl\red0\green0\blue0;}{\f0\fs44\cf0 J50.log and J50*.log\par}}"/>
  <p:tag name="PPWINSEGMENT3TARGETRTF" val="{\rtf1\ansi\deff1{\fonttbl{\f1\fcharset0 Arial;}{\f2\fcharset0 Arial Narrow;}}{\colortbl\red0\green0\blue0;}{\f2\fs44\cf0 J50.log et J50*.log\par}}"/>
  <p:tag name="PPWINLASTSAVEDTRANSLATION" val="DHCP.mdb&#10;Tmp.edb&#10;J50.log et J50*.log"/>
  <p:tag name="PPWINALREADYSEGMENTED" val="True"/>
  <p:tag name="PPWINTOTALSEGMENTS" val="3"/>
</p:tagLst>
</file>

<file path=ppt/tags/tag24.xml><?xml version="1.0" encoding="utf-8"?>
<p:tagLst xmlns:a="http://schemas.openxmlformats.org/drawingml/2006/main" xmlns:r="http://schemas.openxmlformats.org/officeDocument/2006/relationships" xmlns:p="http://schemas.openxmlformats.org/presentationml/2006/main">
  <p:tag name="PPWINSEGMENT1START" val="1"/>
  <p:tag name="PPWINSEGMENT1LENGTH" val="8"/>
  <p:tag name="PPWINSEGMENT1SOURCERTF" val="{\rtf1\ansi\deff0{\fonttbl{\f0\fcharset0 Arial Narrow;}}{\colortbl\red0\green0\blue0;}{\f0\fs44\cf0 Res*.log\par}}"/>
  <p:tag name="PPWINSEGMENT1TARGETRTF" val="{\rtf1\ansi\deff1{\fonttbl{\f1\fcharset0 Arial;}{\f2\fcharset0 Arial Narrow;}}{\colortbl\red0\green0\blue0;}{\f2\fs44\cf0 Res*.log\par}}"/>
  <p:tag name="PPWINSEGMENT2START" val="10"/>
  <p:tag name="PPWINSEGMENT2LENGTH" val="8"/>
  <p:tag name="PPWINSEGMENT2SOURCERTF" val="{\rtf1\ansi\deff0{\fonttbl{\f0\fcharset0 Arial Narrow;}}{\colortbl\red0\green0\blue0;}{\f0\fs44\cf0 J50.chk\par}}"/>
  <p:tag name="PPWINSEGMENT2TARGETRTF" val="{\rtf1\ansi\deff1{\fonttbl{\f1\fcharset0 Arial;}{\f2\fcharset0 Arial Narrow;}}{\colortbl\red0\green0\blue0;}{\f2\fs44\cf0 J50.chk \par}}"/>
  <p:tag name="PPWINLASTSAVEDTRANSLATION" val="Res*.log&#10;J50.chk "/>
  <p:tag name="PPWINALREADYSEGMENTED" val="True"/>
  <p:tag name="PPWINTOTALSEGMENTS" val="2"/>
</p:tagLst>
</file>

<file path=ppt/tags/tag25.xml><?xml version="1.0" encoding="utf-8"?>
<p:tagLst xmlns:a="http://schemas.openxmlformats.org/drawingml/2006/main" xmlns:r="http://schemas.openxmlformats.org/officeDocument/2006/relationships" xmlns:p="http://schemas.openxmlformats.org/presentationml/2006/main">
  <p:tag name="PPWINTOTALSEGMENTS" val="0"/>
</p:tagLst>
</file>

<file path=ppt/tags/tag26.xml><?xml version="1.0" encoding="utf-8"?>
<p:tagLst xmlns:a="http://schemas.openxmlformats.org/drawingml/2006/main" xmlns:r="http://schemas.openxmlformats.org/officeDocument/2006/relationships" xmlns:p="http://schemas.openxmlformats.org/presentationml/2006/main">
  <p:tag name="PPWINSEGMENT1START" val="1"/>
  <p:tag name="PPWINSEGMENT1LENGTH" val="69"/>
  <p:tag name="PPWINSEGMENT1SOURCERTF" val="{\rtf1\ansi\deff0{\fonttbl{\f0\fcharset0 Arial Narrow;}}{\colortbl\red0\green0\blue0;}{\f0\fs52\b\cf0 How a DHCP Database Is Backed Up and Restored\par}}"/>
  <p:tag name="PPWINSEGMENT1TARGETRTF" val="{\rtf1\ansi\deff1{\fonttbl{\f1\fcharset0 Arial;}{\f2\fcharset0 Arial Narrow;}}{\colortbl\red0\green0\blue0;}{\f2\fs52\b\cf0 Modalit\'E9s de sauvegarde et de restauration d'une base de donn\'E9es DHCP\par}}"/>
  <p:tag name="PPWINLASTSAVEDTRANSLATION" val="Modalités de sauvegarde et de restauration d'une base de données DHCP"/>
  <p:tag name="PPWINALREADYSEGMENTED" val="True"/>
  <p:tag name="PPWINTOTALSEGMENTS" val="1"/>
</p:tagLst>
</file>

<file path=ppt/tags/tag27.xml><?xml version="1.0" encoding="utf-8"?>
<p:tagLst xmlns:a="http://schemas.openxmlformats.org/drawingml/2006/main" xmlns:r="http://schemas.openxmlformats.org/officeDocument/2006/relationships" xmlns:p="http://schemas.openxmlformats.org/presentationml/2006/main">
  <p:tag name="PPWINTOTALSEGMENTS" val="0"/>
</p:tagLst>
</file>

<file path=ppt/tags/tag28.xml><?xml version="1.0" encoding="utf-8"?>
<p:tagLst xmlns:a="http://schemas.openxmlformats.org/drawingml/2006/main" xmlns:r="http://schemas.openxmlformats.org/officeDocument/2006/relationships" xmlns:p="http://schemas.openxmlformats.org/presentationml/2006/main">
  <p:tag name="PPWINSEGMENT1START" val="1"/>
  <p:tag name="PPWINSEGMENT1LENGTH" val="57"/>
  <p:tag name="PPWINSEGMENT1SOURCERTF" val="{\rtf1\ansi\deff0{\fonttbl{\f0\fcharset0 Arial Narrow;}}{\colortbl\red0\green0\blue0;}{\f0\fs60\b\cf0 How to Back Up and Restore a DHCP Database\par}}"/>
  <p:tag name="PPWINLASTSAVEDTRANSLATION" val="Comment sauvegarder et restaurer une base de données DHCP"/>
  <p:tag name="PPWINALREADYSEGMENTED" val="True"/>
  <p:tag name="PPWINTOTALSEGMENTS" val="1"/>
  <p:tag name="PPWINSEGMENT1TARGETRTF" val="{\rtf1\ansi\deff0{\fonttbl{\f0\fcharset0 Arial Narrow;}}{\colortbl\red0\green0\blue0;}{\f0\fs60\b\cf0 Comment sauvegarder et restaurer une base de donn\'E9es DHCP\par}}"/>
</p:tagLst>
</file>

<file path=ppt/tags/tag29.xml><?xml version="1.0" encoding="utf-8"?>
<p:tagLst xmlns:a="http://schemas.openxmlformats.org/drawingml/2006/main" xmlns:r="http://schemas.openxmlformats.org/officeDocument/2006/relationships" xmlns:p="http://schemas.openxmlformats.org/presentationml/2006/main">
  <p:tag name="PPWINSEGMENT1START" val="1"/>
  <p:tag name="PPWINSEGMENT1LENGTH" val="97"/>
  <p:tag name="PPWINSEGMENT1SOURCERTF" val="{\rtf1\ansi\deff0{\fonttbl{\f0\fcharset0 Arial Narrow;}}{\colortbl\red0\green0\blue0;}{\f0\fs44\b\cf0 Apply guidelines when backing up and restoring a DHCP database\par}}"/>
  <p:tag name="PPWINSEGMENT2START" val="99"/>
  <p:tag name="PPWINSEGMENT2LENGTH" val="62"/>
  <p:tag name="PPWINSEGMENT2SOURCERTF" val="{\rtf1\ansi\deff0{\fonttbl{\f0\fcharset0 Arial Narrow;}}{\colortbl\red0\green0\blue0;}{\f0\fs44\b\cf0 Configure a DHCP database backup path \par}}"/>
  <p:tag name="PPWINSEGMENT3START" val="162"/>
  <p:tag name="PPWINSEGMENT3LENGTH" val="100"/>
  <p:tag name="PPWINSEGMENT3SOURCERTF" val="{\rtf1\ansi\deff0{\fonttbl{\f0\fcharset0 Arial Narrow;}}{\colortbl\red0\green0\blue0;}{\f0\fs44\b\cf0 Manually back up a DHCP database to the backup directory on a local drive \par}}"/>
  <p:tag name="PPWINSEGMENT4START" val="263"/>
  <p:tag name="PPWINSEGMENT4LENGTH" val="103"/>
  <p:tag name="PPWINSEGMENT4SOURCERTF" val="{\rtf1\ansi\deff0{\fonttbl{\f0\fcharset0 Arial Narrow;}}{\colortbl\red0\green0\blue0;}{\f0\fs44\b\cf0 Manually restore a DHCP database from the backup directory on a local drive \par}}"/>
  <p:tag name="PPWINLASTSAVEDTRANSLATION" val="Appliquer des instructions lors de la sauvegarde et de la restauration d'une base de données DHCP&#10;Configurer un chemin de sauvegarde de la base de données DHCP &#10;Sauvegarder une base de données DHCP manuellement sur le répertoire de sauvegarde d'un lecteur local&#10;Restaurer une base de données DHCP manuellement à partir du répertoire de sauvegarde d'un lecteur local"/>
  <p:tag name="PPWINALREADYSEGMENTED" val="True"/>
  <p:tag name="PPWINTOTALSEGMENTS" val="4"/>
  <p:tag name="PPWINSEGMENT1TARGETRTF" val="{\rtf1\ansi\deff0{\fonttbl{\f0\fcharset0 Arial Narrow;}}{\colortbl\red0\green0\blue0;}{\f0\fs44\b\cf0 Appliquer des instructions lors de la sauvegarde et de la restauration d'une base de donn\'E9es DHCP\par}}"/>
  <p:tag name="PPWINSEGMENT2TARGETRTF" val="{\rtf1\ansi\deff0{\fonttbl{\f0\fcharset0 Arial Narrow;}}{\colortbl\red0\green0\blue0;}{\f0\fs44\b\cf0 Configurer un chemin de sauvegarde de la base de donn\'E9es DHCP \par}}"/>
  <p:tag name="PPWINSEGMENT3TARGETRTF" val="{\rtf1\ansi\deff0{\fonttbl{\f0\fcharset0 Arial Narrow;}}{\colortbl\red0\green0\blue0;}{\f0\fs44\b\cf0 Sauvegarder une base de donn\'E9es DHCP manuellement sur le r\'E9pertoire de sauvegarde d'un lecteur local\par}}"/>
  <p:tag name="PPWINSEGMENT4TARGETRTF" val="{\rtf1\ansi\deff0{\fonttbl{\f0\fcharset0 Arial Narrow;}}{\colortbl\red0\green0\blue0;}{\f0\fs44\b\cf0 Restaurer une base de donn\'E9es DHCP manuellement \'E0 partir du r\'E9pertoire de sauvegarde d'un lecteur local\par}}"/>
</p:tagLst>
</file>

<file path=ppt/tags/tag30.xml><?xml version="1.0" encoding="utf-8"?>
<p:tagLst xmlns:a="http://schemas.openxmlformats.org/drawingml/2006/main" xmlns:r="http://schemas.openxmlformats.org/officeDocument/2006/relationships" xmlns:p="http://schemas.openxmlformats.org/presentationml/2006/main">
  <p:tag name="PPWINTOTALSEGMENTS" val="0"/>
</p:tagLst>
</file>

<file path=ppt/tags/tag31.xml><?xml version="1.0" encoding="utf-8"?>
<p:tagLst xmlns:a="http://schemas.openxmlformats.org/drawingml/2006/main" xmlns:r="http://schemas.openxmlformats.org/officeDocument/2006/relationships" xmlns:p="http://schemas.openxmlformats.org/presentationml/2006/main">
  <p:tag name="PPWINSEGMENT1START" val="1"/>
  <p:tag name="PPWINSEGMENT1LENGTH" val="54"/>
  <p:tag name="PPWINSEGMENT1SOURCERTF" val="{\rtf1\ansi\deff0{\fonttbl{\f0\fcharset0 Arial Narrow;}}{\colortbl\red0\green0\blue0;}{\f0\fs60\b\cf0 How a DHCP Database Is Reconciled\par}}"/>
  <p:tag name="PPWINSEGMENT1TARGETRTF" val="{\rtf1\ansi\deff1{\fonttbl{\f1\fcharset0 Arial;}{\f2\fcharset0 Arial Narrow;}}{\colortbl\red0\green0\blue0;}{\f2\fs60\b\cf0 Modalit\'E9s de r\'E9conciliation d'une base de donn\'E9es DHCP\par}}"/>
  <p:tag name="PPWINLASTSAVEDTRANSLATION" val="Modalités de réconciliation d'une base de données DHCP"/>
  <p:tag name="PPWINALREADYSEGMENTED" val="True"/>
  <p:tag name="PPWINTOTALSEGMENTS" val="1"/>
</p:tagLst>
</file>

<file path=ppt/tags/tag3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2"/>
  <p:tag name="PPWINSEGMENT1SOURCERTF" val="{\rtf1\ansi\deff0{\fonttbl{\f0\fcharset0 Arial Narrow;}}{\colortbl\red0\green0\blue0;}{\f0\fs36\b\cf0 DHCP Server\par}}"/>
  <p:tag name="PPWINSEGMENT1TARGETRTF" val="{\rtf1\ansi\deff1{\fonttbl{\f1\fcharset0 Arial;}{\f2\fcharset0 Arial Narrow;}}{\colortbl\red0\green0\blue0;}{\f2\fs36\b\cf0 Serveur DHCP\par}}"/>
  <p:tag name="PPWINLASTSAVEDTRANSLATION" val="Serveur DHCP"/>
  <p:tag name="PPWINALREADYSEGMENTED" val="True"/>
  <p:tag name="PPWINTOTALSEGMENTS" val="1"/>
</p:tagLst>
</file>

<file path=ppt/tags/tag3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36\b\cf0 DHCP\par}}"/>
  <p:tag name="PPWINSEGMENT1TARGETRTF" val="{\rtf1\ansi\deff1{\fonttbl{\f1\fcharset0 Arial;}{\f2\fcharset0 Arial Narrow;}}{\colortbl\red0\green0\blue0;}{\f2\fs36\b\cf0 Base de donn\'E9es\par}}"/>
  <p:tag name="PPWINSEGMENT2START" val="17"/>
  <p:tag name="PPWINSEGMENT2LENGTH" val="4"/>
  <p:tag name="PPWINSEGMENT2SOURCERTF" val="{\rtf1\ansi\deff0{\fonttbl{\f0\fcharset0 Arial Narrow;}}{\colortbl\red0\green0\blue0;}{\f0\fs36\b\cf0 Database\par}}"/>
  <p:tag name="PPWINSEGMENT2TARGETRTF" val="{\rtf1\ansi\deff1{\fonttbl{\f1\fcharset0 Arial;}{\f2\fcharset0 Arial Narrow;}}{\colortbl\red0\green0\blue0;}{\f2\fs36\b\cf0 DHCP\par}}"/>
  <p:tag name="PPWINLASTSAVEDTRANSLATION" val="Base de données&#10;DHCP"/>
  <p:tag name="PPWINALREADYSEGMENTED" val="True"/>
  <p:tag name="PPWINTOTALSEGMENTS" val="2"/>
</p:tagLst>
</file>

<file path=ppt/tags/tag34.xml><?xml version="1.0" encoding="utf-8"?>
<p:tagLst xmlns:a="http://schemas.openxmlformats.org/drawingml/2006/main" xmlns:r="http://schemas.openxmlformats.org/officeDocument/2006/relationships" xmlns:p="http://schemas.openxmlformats.org/presentationml/2006/main">
  <p:tag name="PPWINSEGMENT1START" val="1"/>
  <p:tag name="PPWINSEGMENT1LENGTH" val="8"/>
  <p:tag name="PPWINSEGMENT1SOURCERTF" val="{\rtf1\ansi\deff0{\fonttbl{\f0\fcharset0 Arial Narrow;}}{\colortbl\red0\green0\blue0;}{\f0\fs36\b\cf0 Registry\par}}"/>
  <p:tag name="PPWINSEGMENT1TARGETRTF" val="{\rtf1\ansi\deff1{\fonttbl{\f1\fcharset0 Arial;}{\f2\fcharset0 Arial Narrow;}}{\colortbl\red0\green0\blue0;}{\f2\fs36\b\cf0 Registre\par}}"/>
  <p:tag name="PPWINLASTSAVEDTRANSLATION" val="Registre"/>
  <p:tag name="PPWINALREADYSEGMENTED" val="True"/>
  <p:tag name="PPWINTOTALSEGMENTS" val="1"/>
</p:tagLst>
</file>

<file path=ppt/tags/tag35.xml><?xml version="1.0" encoding="utf-8"?>
<p:tagLst xmlns:a="http://schemas.openxmlformats.org/drawingml/2006/main" xmlns:r="http://schemas.openxmlformats.org/officeDocument/2006/relationships" xmlns:p="http://schemas.openxmlformats.org/presentationml/2006/main">
  <p:tag name="PPWINSEGMENT1START" val="1"/>
  <p:tag name="PPWINSEGMENT1LENGTH" val="48"/>
  <p:tag name="PPWINSEGMENT1SOURCERTF" val="{\rtf1\ansi\deff0{\fonttbl{\f0\fcharset0 Arial Narrow;}}{\colortbl\red0\green0\blue0;}{\f0\fs36\b\cf0 Summary IP address lease information\par}}"/>
  <p:tag name="PPWINSEGMENT1TARGETRTF" val="{\rtf1\ansi\deff1{\fonttbl{\f1\fcharset0 Arial;}{\f2\fcharset0 Arial Narrow;}}{\colortbl\red0\green0\blue0;}{\f2\fs36\b\cf0 Informations r\'E9sum\'E9es sur les baux d'adresses IP\par}}"/>
  <p:tag name="PPWINLASTSAVEDTRANSLATION" val="Informations résumées sur les baux d'adresses IP"/>
  <p:tag name="PPWINALREADYSEGMENTED" val="True"/>
  <p:tag name="PPWINTOTALSEGMENTS" val="1"/>
</p:tagLst>
</file>

<file path=ppt/tags/tag36.xml><?xml version="1.0" encoding="utf-8"?>
<p:tagLst xmlns:a="http://schemas.openxmlformats.org/drawingml/2006/main" xmlns:r="http://schemas.openxmlformats.org/officeDocument/2006/relationships" xmlns:p="http://schemas.openxmlformats.org/presentationml/2006/main">
  <p:tag name="PPWINSEGMENT1START" val="1"/>
  <p:tag name="PPWINSEGMENT1LENGTH" val="50"/>
  <p:tag name="PPWINSEGMENT1SOURCERTF" val="{\rtf1\ansi\deff0{\fonttbl{\f0\fcharset0 Arial Narrow;}}{\colortbl\red0\green0\blue0;}{\f0\fs36\b\cf0 Detailed IP address lease information\par}}"/>
  <p:tag name="PPWINSEGMENT1TARGETRTF" val="{\rtf1\ansi\deff1{\fonttbl{\f1\fcharset0 Arial;}{\f2\fcharset0 Arial Narrow;}}{\colortbl\red0\green0\blue0;}{\f2\fs36\b\cf0 Informations d\'E9taill\'E9es sur les baux d'adresses IP\par}}"/>
  <p:tag name="PPWINLASTSAVEDTRANSLATION" val="Informations détaillées sur les baux d'adresses IP"/>
  <p:tag name="PPWINALREADYSEGMENTED" val="True"/>
  <p:tag name="PPWINTOTALSEGMENTS" val="1"/>
</p:tagLst>
</file>

<file path=ppt/tags/tag37.xml><?xml version="1.0" encoding="utf-8"?>
<p:tagLst xmlns:a="http://schemas.openxmlformats.org/drawingml/2006/main" xmlns:r="http://schemas.openxmlformats.org/officeDocument/2006/relationships" xmlns:p="http://schemas.openxmlformats.org/presentationml/2006/main">
  <p:tag name="PPWINSEGMENT1START" val="1"/>
  <p:tag name="PPWINSEGMENT1LENGTH" val="55"/>
  <p:tag name="PPWINSEGMENT1SOURCERTF" val="{\rtf1\ansi\deff0{\fonttbl{\f0\fcharset0 Arial Narrow;}}{\colortbl\red0\green0\blue0;}{\f0\fs36\b\cf0 Compares information to find inconsistencies\par}}"/>
  <p:tag name="PPWINSEGMENT1TARGETRTF" val="{\rtf1\ansi\deff1{\fonttbl{\f1\fcharset0 Arial;}{\f2\fcharset0 Arial Narrow;}}{\colortbl\red0\green0\blue0;}{\f2\fs36\b\cf0 Compare les informations pour d\'E9tecter les incoh\'E9rences\par}}"/>
  <p:tag name="PPWINLASTSAVEDTRANSLATION" val="Compare les informations pour détecter les incohérences"/>
  <p:tag name="PPWINALREADYSEGMENTED" val="True"/>
  <p:tag name="PPWINTOTALSEGMENTS" val="1"/>
</p:tagLst>
</file>

<file path=ppt/tags/tag38.xml><?xml version="1.0" encoding="utf-8"?>
<p:tagLst xmlns:a="http://schemas.openxmlformats.org/drawingml/2006/main" xmlns:r="http://schemas.openxmlformats.org/officeDocument/2006/relationships" xmlns:p="http://schemas.openxmlformats.org/presentationml/2006/main">
  <p:tag name="PPWINSEGMENT1START" val="1"/>
  <p:tag name="PPWINSEGMENT1LENGTH" val="54"/>
  <p:tag name="PPWINSEGMENT1SOURCERTF" val="{\rtf1\ansi\deff0{\fonttbl{\f0\fcharset0 Arial Narrow;}}{\colortbl\red0\green0\blue0;}{\f0\fs36\b\cf0 Reconciles inconsistencies in the DHCP database\par}}"/>
  <p:tag name="PPWINSEGMENT1TARGETRTF" val="{\rtf1\ansi\deff1{\fonttbl{\f1\fcharset0 Arial;}{\f2\fcharset0 Arial Narrow;}}{\colortbl\red0\green0\blue0;}{\f2\fs36\b\cf0 Supprime les incoh\'E9rences dans la base de donn\'E9es DHCP\par}}"/>
  <p:tag name="PPWINLASTSAVEDTRANSLATION" val="Supprime les incohérences dans la base de données DHCP"/>
  <p:tag name="PPWINALREADYSEGMENTED" val="True"/>
  <p:tag name="PPWINTOTALSEGMENTS" val="1"/>
</p:tagLst>
</file>

<file path=ppt/tags/tag39.xml><?xml version="1.0" encoding="utf-8"?>
<p:tagLst xmlns:a="http://schemas.openxmlformats.org/drawingml/2006/main" xmlns:r="http://schemas.openxmlformats.org/officeDocument/2006/relationships" xmlns:p="http://schemas.openxmlformats.org/presentationml/2006/main">
  <p:tag name="PPTAGGERGROUP" val="1"/>
</p:tagLst>
</file>

<file path=ppt/tags/tag40.xml><?xml version="1.0" encoding="utf-8"?>
<p:tagLst xmlns:a="http://schemas.openxmlformats.org/drawingml/2006/main" xmlns:r="http://schemas.openxmlformats.org/officeDocument/2006/relationships" xmlns:p="http://schemas.openxmlformats.org/presentationml/2006/main">
  <p:tag name="PPTAGGERGROUP" val="1"/>
</p:tagLst>
</file>

<file path=ppt/tags/tag41.xml><?xml version="1.0" encoding="utf-8"?>
<p:tagLst xmlns:a="http://schemas.openxmlformats.org/drawingml/2006/main" xmlns:r="http://schemas.openxmlformats.org/officeDocument/2006/relationships" xmlns:p="http://schemas.openxmlformats.org/presentationml/2006/main">
  <p:tag name="PPWINTOTALSEGMENTS" val="0"/>
</p:tagLst>
</file>

<file path=ppt/tags/tag42.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23"/>
  <p:tag name="PPWINSEGMENT2SOURCERTF" val="{\rtf1\ansi\deff0{\fonttbl{\f0\fcharset0 Arial Narrow;}}{\colortbl\red0\green0\blue0;}{\f0\fs60\b\cf0 Monitoring DHCP\par}}"/>
  <p:tag name="PPWINSEGMENT2TARGETRTF" val="{\rtf1\ansi\deff1{\fonttbl{\f1\fcharset0 Arial;}{\f2\fcharset0 Arial Narrow;}}{\colortbl\red0\green0\blue0;}{\f2\fs60\b\cf0 Analyse du service DHCP\par}}"/>
  <p:tag name="PPWINLASTSAVEDTRANSLATION" val="Leçon : Analyse du service DHCP"/>
  <p:tag name="PPWINALREADYSEGMENTED" val="True"/>
  <p:tag name="PPWINTOTALSEGMENTS" val="2"/>
</p:tagLst>
</file>

<file path=ppt/tags/tag43.xml><?xml version="1.0" encoding="utf-8"?>
<p:tagLst xmlns:a="http://schemas.openxmlformats.org/drawingml/2006/main" xmlns:r="http://schemas.openxmlformats.org/officeDocument/2006/relationships" xmlns:p="http://schemas.openxmlformats.org/presentationml/2006/main">
  <p:tag name="PPWINSEGMENT1START" val="1"/>
  <p:tag name="PPWINSEGMENT1LENGTH" val="43"/>
  <p:tag name="PPWINSEGMENT1SOURCERTF" val="{\rtf1\ansi\deff0{\fonttbl{\f0\fcharset0 Arial Narrow;}}{\colortbl\red0\green0\blue0;}{\f0\fs40\b\cf0 Overview of Monitoring DHCP\par}}"/>
  <p:tag name="PPWINSEGMENT1TARGETRTF" val="{\rtf1\ansi\deff1{\fonttbl{\f1\fcharset0 Arial;}{\f2\fcharset0 Arial Narrow;}}{\colortbl\red0\green0\blue0;}{\f2\fs40\b\cf0 Vue d'ensemble de l'analyse du service DHCP\par}}"/>
  <p:tag name="PPWINSEGMENT2START" val="45"/>
  <p:tag name="PPWINSEGMENT2LENGTH" val="25"/>
  <p:tag name="PPWINSEGMENT2SOURCERTF" val="{\rtf1\ansi\deff0{\fonttbl{\f0\fcharset0 Arial Narrow;}}{\colortbl\red0\green0\blue0;}{\f0\fs40\b\cf0 Multimedia:\par}}"/>
  <p:tag name="PPWINSEGMENT2TARGETRTF" val="{\rtf1\ansi\deff1{\fonttbl{\f1\fcharset0 Arial;}{\f2\fcharset0 Arial Narrow;}}{\colortbl\red0\green0\blue0;}{\f2\fs40\b\cf0 Pr\'E9sentation multim\'E9dia :\par}}"/>
  <p:tag name="PPWINSEGMENT3START" val="71"/>
  <p:tag name="PPWINSEGMENT3LENGTH" val="58"/>
  <p:tag name="PPWINSEGMENT3SOURCERTF" val="{\rtf1\ansi\deff0{\fonttbl{\f0\fcharset0 Arial Narrow;}}{\colortbl\red0\green0\blue0;}{\f0\fs40\b\cf0 Creating a Performance Baseline }{\f0\fs40\b\i\cf0 (Optional)\par}}"/>
  <p:tag name="PPWINSEGMENT3TARGETRTF" val="{\rtf1\ansi\deff1{\fonttbl{\f1\fcharset0 Arial;}{\f2\fcharset0 Arial Narrow;}}{\colortbl\red0\green0\blue0;}{\f2\fs40\b\cf0 Cr\'E9ation d'une ligne de base des performances }{\f2\fs40\b\i\cf0 (Facultatif)\par}}"/>
  <p:tag name="PPWINSEGMENT4START" val="130"/>
  <p:tag name="PPWINSEGMENT4LENGTH" val="34"/>
  <p:tag name="PPWINSEGMENT4SOURCERTF" val="{\rtf1\ansi\deff0{\fonttbl{\f0\fcharset0 Arial Narrow;}}{\colortbl\red0\green0\blue0;}{\f0\fs40\b\cf0 What Are DHCP Statistics?\par}}"/>
  <p:tag name="PPWINSEGMENT4TARGETRTF" val="{\rtf1\ansi\deff1{\fonttbl{\f1\fcharset0 Arial;}{\f2\fcharset0 Arial Narrow;}}{\colortbl\red0\green0\blue0;}{\f2\fs40\b\cf0 Pr\'E9sentation des statistiques DHCP\par}}"/>
  <p:tag name="PPWINSEGMENT5START" val="165"/>
  <p:tag name="PPWINSEGMENT5LENGTH" val="38"/>
  <p:tag name="PPWINSEGMENT5SOURCERTF" val="{\rtf1\ansi\deff0{\fonttbl{\f0\fcharset0 Arial Narrow;}}{\colortbl\red0\green0\blue0;}{\f0\fs40\b\cf0 How to View DHCP Statistics\par}}"/>
  <p:tag name="PPWINSEGMENT5TARGETRTF" val="{\rtf1\ansi\deff1{\fonttbl{\f1\fcharset0 Arial;}{\f2\fcharset0 Arial Narrow;}}{\colortbl\red0\green0\blue0;}{\f2\fs40\b\cf0 Comment afficher les statistiques DHCP\par}}"/>
  <p:tag name="PPWINSEGMENT6START" val="204"/>
  <p:tag name="PPWINSEGMENT6LENGTH" val="46"/>
  <p:tag name="PPWINSEGMENT6SOURCERTF" val="{\rtf1\ansi\deff0{\fonttbl{\f0\fcharset0 Arial Narrow;}}{\colortbl\red0\green0\blue0;}{\f0\fs40\b\cf0 What Is a DHCP Audit Log File?\par}}"/>
  <p:tag name="PPWINSEGMENT6TARGETRTF" val="{\rtf1\ansi\deff1{\fonttbl{\f1\fcharset0 Arial;}{\f2\fcharset0 Arial Narrow;}}{\colortbl\red0\green0\blue0;}{\f2\fs40\b\cf0 Qu'est-ce qu'un fichier journal d'audit DHCP ?\par}}"/>
  <p:tag name="PPWINSEGMENT7START" val="251"/>
  <p:tag name="PPWINSEGMENT7LENGTH" val="47"/>
  <p:tag name="PPWINSEGMENT7SOURCERTF" val="{\rtf1\ansi\deff0{\fonttbl{\f0\fcharset0 Arial Narrow;}}{\colortbl\red0\green0\blue0;}{\f0\fs40\b\cf0 How DHCP Audit Logging Works \par}}"/>
  <p:tag name="PPWINSEGMENT7TARGETRTF" val="{\rtf1\ansi\deff1{\fonttbl{\f1\fcharset0 Arial;}{\f2\fcharset0 Arial Narrow;}}{\colortbl\red0\green0\blue0;}{\f2\fs40\b\cf0 Fonctionnement de l'enregistrement d'audit DHCP\par}}"/>
  <p:tag name="PPWINSEGMENT8START" val="299"/>
  <p:tag name="PPWINSEGMENT8LENGTH" val="82"/>
  <p:tag name="PPWINSEGMENT8SOURCERTF" val="{\rtf1\ansi\deff0{\fonttbl{\f0\fcharset0 Arial Narrow;}}{\colortbl\red0\green0\blue0;}{\f0\fs40\b\cf0 How to Monitor DHCP Server Performance by Using the DHCP Audit Log\par}}"/>
  <p:tag name="PPWINSEGMENT8TARGETRTF" val="{\rtf1\ansi\deff1{\fonttbl{\f1\fcharset0 Arial;}{\f2\fcharset0 Arial Narrow;}}{\colortbl\red0\green0\blue0;}{\f2\fs40\b\cf0 Comment analyser les performances de serveur DHCP \'E0 l'aide du journal d'audit DHCP\par}}"/>
  <p:tag name="PPWINSEGMENT9START" val="382"/>
  <p:tag name="PPWINSEGMENT9LENGTH" val="59"/>
  <p:tag name="PPWINSEGMENT9SOURCERTF" val="{\rtf1\ansi\deff0{\fonttbl{\f0\fcharset0 Arial Narrow;}}{\colortbl\red0\green0\blue0;}{\f0\fs40\b\cf0 Guidelines for Monitoring DHCP Server Performance\par}}"/>
  <p:tag name="PPWINSEGMENT9TARGETRTF" val="{\rtf1\ansi\deff1{\fonttbl{\f1\fcharset0 Arial;}{\f2\fcharset0 Arial Narrow;}}{\colortbl\red0\green0\blue0;}{\f2\fs40\b\cf0 Instructions pour analyser les performances de serveur DHCP\par}}"/>
  <p:tag name="PPWINSEGMENT10START" val="442"/>
  <p:tag name="PPWINSEGMENT10LENGTH" val="92"/>
  <p:tag name="PPWINSEGMENT10SOURCERTF" val="{\rtf1\ansi\deff0{\fonttbl{\f0\fcharset0 Arial Narrow;}}{\colortbl\red0\green0\blue0;}{\f0\fs40\b\cf0 Common Performance Counters for Monitoring DHCP Server Performance\par}}"/>
  <p:tag name="PPWINSEGMENT10TARGETRTF" val="{\rtf1\ansi\deff1{\fonttbl{\f1\fcharset0 Arial;}{\f2\fcharset0 Arial Narrow;}}{\colortbl\red0\green0\blue0;}{\f2\fs40\b\cf0 Compteurs de performance commun\'E9ment utilis\'E9s pour analyser les performances de serveur DHCP\par}}"/>
  <p:tag name="PPWINSEGMENT11START" val="535"/>
  <p:tag name="PPWINSEGMENT11LENGTH" val="56"/>
  <p:tag name="PPWINSEGMENT11SOURCERTF" val="{\rtf1\ansi\deff0{\fonttbl{\f0\fcharset0 Arial Narrow;}}{\colortbl\red0\green0\blue0;}{\f0\fs40\b\cf0 Guidelines for Creating Alerts for a DHCP Server\par}}"/>
  <p:tag name="PPWINSEGMENT11TARGETRTF" val="{\rtf1\ansi\deff1{\fonttbl{\f1\fcharset0 Arial;}{\f2\fcharset0 Arial Narrow;}}{\colortbl\red0\green0\blue0;}{\f2\fs40\b\cf0 Instructions pour cr\'E9er des alertes pour un serveur DHCP\par}}"/>
  <p:tag name="PPWINLASTSAVEDTRANSLATION" val="Vue d'ensemble de l'analyse du service DHCP&#10;Présentation multimédia : Création d'une ligne de base des performances (Facultatif)&#10;Présentation des statistiques DHCP&#10;Comment afficher les statistiques DHCP&#10;Qu'est-ce qu'un fichier journal d'audit DHCP ?&#10;Fonctionnement de l'enregistrement d'audit DHCP&#10;Comment analyser les performances de serveur DHCP à l'aide du journal d'audit DHCP&#10;Instructions pour analyser les performances de serveur DHCP&#10;Compteurs de performance communément utilisés pour analyser les performances de serveur DHCP&#10;Instructions pour créer des alertes pour un serveur DHCP&#10;&#10;"/>
  <p:tag name="PPWINALREADYSEGMENTED" val="True"/>
  <p:tag name="PPWINTOTALSEGMENTS" val="11"/>
</p:tagLst>
</file>

<file path=ppt/tags/tag44.xml><?xml version="1.0" encoding="utf-8"?>
<p:tagLst xmlns:a="http://schemas.openxmlformats.org/drawingml/2006/main" xmlns:r="http://schemas.openxmlformats.org/officeDocument/2006/relationships" xmlns:p="http://schemas.openxmlformats.org/presentationml/2006/main">
  <p:tag name="PPWINTOTALSEGMENTS" val="0"/>
</p:tagLst>
</file>

<file path=ppt/tags/tag45.xml><?xml version="1.0" encoding="utf-8"?>
<p:tagLst xmlns:a="http://schemas.openxmlformats.org/drawingml/2006/main" xmlns:r="http://schemas.openxmlformats.org/officeDocument/2006/relationships" xmlns:p="http://schemas.openxmlformats.org/presentationml/2006/main">
  <p:tag name="PPWINSEGMENT1START" val="1"/>
  <p:tag name="PPWINSEGMENT1LENGTH" val="43"/>
  <p:tag name="PPWINSEGMENT1SOURCERTF" val="{\rtf1\ansi\deff0{\fonttbl{\f0\fcharset0 Arial Narrow;}}{\colortbl\red0\green0\blue0;}{\f0\fs60\b\cf0 Overview of Monitoring DHCP\par}}"/>
  <p:tag name="PPWINSEGMENT1TARGETRTF" val="{\rtf1\ansi\deff1{\fonttbl{\f1\fcharset0 Arial;}{\f2\fcharset0 Arial Narrow;}}{\colortbl\red0\green0\blue0;}{\f2\fs60\b\cf0 Vue d'ensemble de l'analyse du service DHCP\par}}"/>
  <p:tag name="PPWINLASTSAVEDTRANSLATION" val="Vue d'ensemble de l'analyse du service DHCP"/>
  <p:tag name="PPWINALREADYSEGMENTED" val="True"/>
  <p:tag name="PPWINTOTALSEGMENTS" val="1"/>
</p:tagLst>
</file>

<file path=ppt/tags/tag46.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34"/>
  <p:tag name="PPWINSEGMENT1SOURCERTF" val="{\rtf1\ansi\deff0{\fonttbl{\f0\fcharset0 Arial Narrow;}}{\colortbl\red0\green0\blue0;}{\f0\fs44\b\cf0 The DHCP environment is dynamic\par}}"/>
  <p:tag name="PPWINSEGMENT1TARGETRTF" val="{\rtf1\ansi\deff1{\fonttbl{\f1\fcharset0 Arial;}{\f2\fcharset0 Arial Narrow;}}{\colortbl\red0\green0\blue0;}{\f2\fs44\b\cf0 L'environnement DHCP est dynamique\par}}"/>
  <p:tag name="PPWINSEGMENT2START" val="36"/>
  <p:tag name="PPWINSEGMENT2LENGTH" val="36"/>
  <p:tag name="PPWINSEGMENT2SOURCERTF" val="{\rtf1\ansi\deff0{\fonttbl{\f0\fcharset0 Arial Narrow;}}{\colortbl\red0\green0\blue0;}{\f0\fs44\b\cf0 Increased DHCP server performance\par}}"/>
  <p:tag name="PPWINSEGMENT2TARGETRTF" val="{\rtf1\ansi\deff1{\fonttbl{\f1\fcharset0 Arial;}{\f2\fcharset0 Arial Narrow;}}{\colortbl\red0\green0\blue0;}{\f2\fs44\b\cf0 Performances de serveur DHCP accrues\par}}"/>
  <p:tag name="PPWINSEGMENT3START" val="73"/>
  <p:tag name="PPWINSEGMENT3LENGTH" val="54"/>
  <p:tag name="PPWINSEGMENT3SOURCERTF" val="{\rtf1\ansi\deff0{\fonttbl{\f0\fcharset0 Arial Narrow;}}{\colortbl\red0\green0\blue0;}{\f0\fs44\b\cf0 Provides the ability to plan for current and future needs\par}}"/>
  <p:tag name="PPWINSEGMENT3TARGETRTF" val="{\rtf1\ansi\deff1{\fonttbl{\f1\fcharset0 Arial;}{\f2\fcharset0 Arial Narrow;}}{\colortbl\red0\green0\blue0;}{\f2\fs44\b\cf0 Possibilit\'E9 de planifier les besoins actuels et futurs\par}}"/>
  <p:tag name="PPWINLASTSAVEDTRANSLATION" val="L'environnement DHCP est dynamique&#10;Performances de serveur DHCP accrues&#10;Possibilité de planifier les besoins actuels et futurs"/>
  <p:tag name="PPWINALREADYSEGMENTED" val="True"/>
  <p:tag name="PPWINTOTALSEGMENTS" val="3"/>
</p:tagLst>
</file>

<file path=ppt/tags/tag47.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7"/>
  <p:tag name="PPWINSEGMENT1SOURCERTF" val="{\rtf1\ansi\deff0{\fonttbl{\f0\fcharset0 Arial Narrow;}}{\colortbl\red0\green0\blue0;}{\f0\fs44\b\cf0 DHCP statistics\par}}"/>
  <p:tag name="PPWINSEGMENT1TARGETRTF" val="{\rtf1\ansi\deff1{\fonttbl{\f1\fcharset0 Arial;}{\f2\fcharset0 Arial Narrow;}}{\colortbl\red0\green0\blue0;}{\f2\fs44\b\cf0 Statistiques DHCP\par}}"/>
  <p:tag name="PPWINSEGMENT2START" val="19"/>
  <p:tag name="PPWINSEGMENT2LENGTH" val="15"/>
  <p:tag name="PPWINSEGMENT2SOURCERTF" val="{\rtf1\ansi\deff0{\fonttbl{\f0\fcharset0 Arial Narrow;}}{\colortbl\red0\green0\blue0;}{\f0\fs44\b\cf0 DHCP events\par}}"/>
  <p:tag name="PPWINSEGMENT2TARGETRTF" val="{\rtf1\ansi\deff1{\fonttbl{\f1\fcharset0 Arial;}{\f2\fcharset0 Arial Narrow;}}{\colortbl\red0\green0\blue0;}{\f2\fs44\b\cf0 \'C9v\'E9nements DHCP\par}}"/>
  <p:tag name="PPWINSEGMENT3START" val="35"/>
  <p:tag name="PPWINSEGMENT3LENGTH" val="28"/>
  <p:tag name="PPWINSEGMENT3SOURCERTF" val="{\rtf1\ansi\deff0{\fonttbl{\f0\fcharset0 Arial Narrow;}}{\colortbl\red0\green0\blue0;}{\f0\fs44\b\cf0 DHCP performance data\par}}"/>
  <p:tag name="PPWINSEGMENT3TARGETRTF" val="{\rtf1\ansi\deff1{\fonttbl{\f1\fcharset0 Arial;}{\f2\fcharset0 Arial Narrow;}}{\colortbl\red0\green0\blue0;}{\f2\fs44\b\cf0 Donn\'E9es de performances DHCP\par}}"/>
  <p:tag name="PPWINLASTSAVEDTRANSLATION" val="Statistiques DHCP&#10;Événements DHCP&#10;Données de performances DHCP"/>
  <p:tag name="PPWINALREADYSEGMENTED" val="True"/>
  <p:tag name="PPWINTOTALSEGMENTS" val="3"/>
</p:tagLst>
</file>

<file path=ppt/tags/tag48.xml><?xml version="1.0" encoding="utf-8"?>
<p:tagLst xmlns:a="http://schemas.openxmlformats.org/drawingml/2006/main" xmlns:r="http://schemas.openxmlformats.org/officeDocument/2006/relationships" xmlns:p="http://schemas.openxmlformats.org/presentationml/2006/main">
  <p:tag name="PPWINTOTALSEGMENTS" val="0"/>
</p:tagLst>
</file>

<file path=ppt/tags/tag49.xml><?xml version="1.0" encoding="utf-8"?>
<p:tagLst xmlns:a="http://schemas.openxmlformats.org/drawingml/2006/main" xmlns:r="http://schemas.openxmlformats.org/officeDocument/2006/relationships" xmlns:p="http://schemas.openxmlformats.org/presentationml/2006/main">
  <p:tag name="PPWINSEGMENT1START" val="1"/>
  <p:tag name="PPWINSEGMENT1LENGTH" val="34"/>
  <p:tag name="PPWINSEGMENT1SOURCERTF" val="{\rtf1\ansi\deff0{\fonttbl{\f0\fcharset0 Arial Narrow;}}{\colortbl\red0\green0\blue0;}{\f0\fs60\b\cf0 What Are DHCP Statistics?\par}}"/>
  <p:tag name="PPWINSEGMENT1TARGETRTF" val="{\rtf1\ansi\deff1{\fonttbl{\f1\fcharset0 Arial;}{\f2\fcharset0 Arial Narrow;}}{\colortbl\red0\green0\blue0;}{\f2\fs60\b\cf0 Pr\'E9sentation des statistiques DHCP\par}}"/>
  <p:tag name="PPWINLASTSAVEDTRANSLATION" val="Présentation des statistiques DHCP"/>
  <p:tag name="PPWINALREADYSEGMENTED" val="True"/>
  <p:tag name="PPWINTOTALSEGMENTS" val="1"/>
</p:tagLst>
</file>

<file path=ppt/tags/tag5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2"/>
  <p:tag name="PPWINSEGMENT1SOURCERTF" val="{\rtf1\ansi\deff0{\fonttbl{\f0\fcharset0 Arial Narrow;}}{\colortbl\red0\green0\blue0;}{\f0\fs36\b\cf0 DHCP Server\par}}"/>
  <p:tag name="PPWINSEGMENT1TARGETRTF" val="{\rtf1\ansi\deff1{\fonttbl{\f1\fcharset0 Arial;}{\f2\fcharset0 Arial Narrow;}}{\colortbl\red0\green0\blue0;}{\f2\fs36\b\cf0 Serveur DHCP\par}}"/>
  <p:tag name="PPWINLASTSAVEDTRANSLATION" val="Serveur DHCP"/>
  <p:tag name="PPWINALREADYSEGMENTED" val="True"/>
  <p:tag name="PPWINTOTALSEGMENTS" val="1"/>
</p:tagLst>
</file>

<file path=ppt/tags/tag51.xml><?xml version="1.0" encoding="utf-8"?>
<p:tagLst xmlns:a="http://schemas.openxmlformats.org/drawingml/2006/main" xmlns:r="http://schemas.openxmlformats.org/officeDocument/2006/relationships" xmlns:p="http://schemas.openxmlformats.org/presentationml/2006/main">
  <p:tag name="PPWINTOTALSEGMENTS" val="0"/>
</p:tagLst>
</file>

<file path=ppt/tags/tag52.xml><?xml version="1.0" encoding="utf-8"?>
<p:tagLst xmlns:a="http://schemas.openxmlformats.org/drawingml/2006/main" xmlns:r="http://schemas.openxmlformats.org/officeDocument/2006/relationships" xmlns:p="http://schemas.openxmlformats.org/presentationml/2006/main">
  <p:tag name="PPWINSEGMENT1START" val="1"/>
  <p:tag name="PPWINSEGMENT1LENGTH" val="38"/>
  <p:tag name="PPWINSEGMENT1SOURCERTF" val="{\rtf1\ansi\deff0{\fonttbl{\f0\fcharset0 Arial Narrow;}}{\colortbl\red0\green0\blue0;}{\f0\fs60\b\cf0 How to View DHCP Statistics\par}}"/>
  <p:tag name="PPWINLASTSAVEDTRANSLATION" val="Comment afficher les statistiques DHCP"/>
  <p:tag name="PPWINALREADYSEGMENTED" val="True"/>
  <p:tag name="PPWINTOTALSEGMENTS" val="1"/>
  <p:tag name="PPWINSEGMENT1TARGETRTF" val="{\rtf1\ansi\deff0{\fonttbl{\f0\fcharset0 Arial Narrow;}}{\colortbl\red0\green0\blue0;}{\f0\fs60\b\cf0 Comment afficher les statistiques DHCP\par}}"/>
</p:tagLst>
</file>

<file path=ppt/tags/tag53.xml><?xml version="1.0" encoding="utf-8"?>
<p:tagLst xmlns:a="http://schemas.openxmlformats.org/drawingml/2006/main" xmlns:r="http://schemas.openxmlformats.org/officeDocument/2006/relationships" xmlns:p="http://schemas.openxmlformats.org/presentationml/2006/main">
  <p:tag name="PPWINTOTALSEGMENTS" val="0"/>
</p:tagLst>
</file>

<file path=ppt/tags/tag54.xml><?xml version="1.0" encoding="utf-8"?>
<p:tagLst xmlns:a="http://schemas.openxmlformats.org/drawingml/2006/main" xmlns:r="http://schemas.openxmlformats.org/officeDocument/2006/relationships" xmlns:p="http://schemas.openxmlformats.org/presentationml/2006/main">
  <p:tag name="PPWINSEGMENT1START" val="1"/>
  <p:tag name="PPWINSEGMENT1LENGTH" val="57"/>
  <p:tag name="PPWINSEGMENT1SOURCERTF" val="{\rtf1\ansi\deff0{\fonttbl{\f0\fcharset0 Arial Narrow;}}{\colortbl\red0\green0\blue0;}{\f0\fs44\b\cf0 Enable DHCP statistics to automatically refresh \par}}"/>
  <p:tag name="PPWINSEGMENT2START" val="59"/>
  <p:tag name="PPWINSEGMENT2LENGTH" val="41"/>
  <p:tag name="PPWINSEGMENT2SOURCERTF" val="{\rtf1\ansi\deff0{\fonttbl{\f0\fcharset0 Arial Narrow;}}{\colortbl\red0\green0\blue0;}{\f0\fs44\b\cf0 View DHCP server statistics\par}}"/>
  <p:tag name="PPWINSEGMENT3START" val="101"/>
  <p:tag name="PPWINSEGMENT3LENGTH" val="40"/>
  <p:tag name="PPWINSEGMENT3SOURCERTF" val="{\rtf1\ansi\deff0{\fonttbl{\f0\fcharset0 Arial Narrow;}}{\colortbl\red0\green0\blue0;}{\f0\fs44\b\cf0 View DHCP scope statistics\par}}"/>
  <p:tag name="PPWINLASTSAVEDTRANSLATION" val="Activer l'actualisation automatique des statistiques DHCP&#10;Afficher les statistiques de serveur DHCP&#10;Afficher les statistiques d'étendue DHCP"/>
  <p:tag name="PPWINALREADYSEGMENTED" val="True"/>
  <p:tag name="PPWINTOTALSEGMENTS" val="3"/>
  <p:tag name="PPWINSEGMENT1TARGETRTF" val="{\rtf1\ansi\deff0{\fonttbl{\f0\fcharset0 Arial Narrow;}}{\colortbl\red0\green0\blue0;}{\f0\fs44\b\cf0 Activer l'actualisation automatique des statistiques DHCP\par}}"/>
  <p:tag name="PPWINSEGMENT2TARGETRTF" val="{\rtf1\ansi\deff0{\fonttbl{\f0\fcharset0 Arial Narrow;}}{\colortbl\red0\green0\blue0;}{\f0\fs44\b\cf0 Afficher les statistiques de serveur DHCP\par}}"/>
  <p:tag name="PPWINSEGMENT3TARGETRTF" val="{\rtf1\ansi\deff0{\fonttbl{\f0\fcharset0 Arial Narrow;}}{\colortbl\red0\green0\blue0;}{\f0\fs44\b\cf0 Afficher les statistiques d'\'E9tendue DHCP\par}}"/>
</p:tagLst>
</file>

<file path=ppt/tags/tag55.xml><?xml version="1.0" encoding="utf-8"?>
<p:tagLst xmlns:a="http://schemas.openxmlformats.org/drawingml/2006/main" xmlns:r="http://schemas.openxmlformats.org/officeDocument/2006/relationships" xmlns:p="http://schemas.openxmlformats.org/presentationml/2006/main">
  <p:tag name="PPWINTOTALSEGMENTS" val="0"/>
</p:tagLst>
</file>

<file path=ppt/tags/tag56.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60\b\cf0 What Is a DHCP Audit Log File?\par}}"/>
  <p:tag name="PPWINSEGMENT1TARGETRTF" val="{\rtf1\ansi\deff1{\fonttbl{\f1\fcharset0 Arial;}{\f2\fcharset0 Arial Narrow;}}{\colortbl\red0\green0\blue0;}{\f2\fs60\b\cf0 Qu'est-ce qu'un fichier journal d'audit DHCP ?\par}}"/>
  <p:tag name="PPWINLASTSAVEDTRANSLATION" val="Qu'est-ce qu'un fichier journal d'audit DHCP ?"/>
  <p:tag name="PPWINALREADYSEGMENTED" val="True"/>
  <p:tag name="PPWINTOTALSEGMENTS" val="1"/>
</p:tagLst>
</file>

<file path=ppt/tags/tag57.xml><?xml version="1.0" encoding="utf-8"?>
<p:tagLst xmlns:a="http://schemas.openxmlformats.org/drawingml/2006/main" xmlns:r="http://schemas.openxmlformats.org/officeDocument/2006/relationships" xmlns:p="http://schemas.openxmlformats.org/presentationml/2006/main">
  <p:tag name="PPTAGGERGROUP" val="1"/>
</p:tagLst>
</file>

<file path=ppt/tags/tag58.xml><?xml version="1.0" encoding="utf-8"?>
<p:tagLst xmlns:a="http://schemas.openxmlformats.org/drawingml/2006/main" xmlns:r="http://schemas.openxmlformats.org/officeDocument/2006/relationships" xmlns:p="http://schemas.openxmlformats.org/presentationml/2006/main">
  <p:tag name="PPTAGGERGROUP" val="1"/>
</p:tagLst>
</file>

<file path=ppt/tags/tag59.xml><?xml version="1.0" encoding="utf-8"?>
<p:tagLst xmlns:a="http://schemas.openxmlformats.org/drawingml/2006/main" xmlns:r="http://schemas.openxmlformats.org/officeDocument/2006/relationships" xmlns:p="http://schemas.openxmlformats.org/presentationml/2006/main">
  <p:tag name="PPWINTOTALSEGMENTS" val="0"/>
</p:tagLst>
</file>

<file path=ppt/tags/tag60.xml><?xml version="1.0" encoding="utf-8"?>
<p:tagLst xmlns:a="http://schemas.openxmlformats.org/drawingml/2006/main" xmlns:r="http://schemas.openxmlformats.org/officeDocument/2006/relationships" xmlns:p="http://schemas.openxmlformats.org/presentationml/2006/main">
  <p:tag name="PPWINSEGMENT1START" val="1"/>
  <p:tag name="PPWINSEGMENT1LENGTH" val="47"/>
  <p:tag name="PPWINSEGMENT1SOURCERTF" val="{\rtf1\ansi\deff0{\fonttbl{\f0\fcharset0 Arial Narrow;}}{\colortbl\red0\green0\blue0;}{\f0\fs60\b\cf0 How DHCP Audit Logging Works\par}}"/>
  <p:tag name="PPWINSEGMENT1TARGETRTF" val="{\rtf1\ansi\deff1{\fonttbl{\f1\fcharset0 Arial;}{\f2\fcharset0 Arial Narrow;}}{\colortbl\red0\green0\blue0;}{\f2\fs60\b\cf0 Fonctionnement de l'enregistrement d'audit DHCP\par}}"/>
  <p:tag name="PPWINLASTSAVEDTRANSLATION" val="Fonctionnement de l'enregistrement d'audit DHCP"/>
  <p:tag name="PPWINALREADYSEGMENTED" val="True"/>
  <p:tag name="PPWINTOTALSEGMENTS" val="1"/>
</p:tagLst>
</file>

<file path=ppt/tags/tag61.xml><?xml version="1.0" encoding="utf-8"?>
<p:tagLst xmlns:a="http://schemas.openxmlformats.org/drawingml/2006/main" xmlns:r="http://schemas.openxmlformats.org/officeDocument/2006/relationships" xmlns:p="http://schemas.openxmlformats.org/presentationml/2006/main">
  <p:tag name="PPWINTOTALSEGMENTS" val="0"/>
</p:tagLst>
</file>

<file path=ppt/tags/tag62.xml><?xml version="1.0" encoding="utf-8"?>
<p:tagLst xmlns:a="http://schemas.openxmlformats.org/drawingml/2006/main" xmlns:r="http://schemas.openxmlformats.org/officeDocument/2006/relationships" xmlns:p="http://schemas.openxmlformats.org/presentationml/2006/main">
  <p:tag name="PPWINSEGMENT1START" val="1"/>
  <p:tag name="PPWINSEGMENT1LENGTH" val="82"/>
  <p:tag name="PPWINSEGMENT1SOURCERTF" val="{\rtf1\ansi\deff0{\fonttbl{\f0\fcharset0 Arial Narrow;}}{\colortbl\red0\green0\blue0;}{\f0\fs52\b\cf0 How to Monitor DHCP Server Performance by Using the DHCP Audit Log\par}}"/>
  <p:tag name="PPWINLASTSAVEDTRANSLATION" val="Comment analyser les performances de serveur DHCP à l'aide du journal d'audit DHCP"/>
  <p:tag name="PPWINALREADYSEGMENTED" val="True"/>
  <p:tag name="PPWINTOTALSEGMENTS" val="1"/>
  <p:tag name="PPWINSEGMENT1TARGETRTF" val="{\rtf1\ansi\deff0{\fonttbl{\f0\fcharset0 Arial Narrow;}}{\colortbl\red0\green0\blue0;}{\f0\fs52\b\cf0 Comment analyser les performances de serveur DHCP \'E0 l'aide du journal d'audit DHCP\par}}"/>
</p:tagLst>
</file>

<file path=ppt/tags/tag63.xml><?xml version="1.0" encoding="utf-8"?>
<p:tagLst xmlns:a="http://schemas.openxmlformats.org/drawingml/2006/main" xmlns:r="http://schemas.openxmlformats.org/officeDocument/2006/relationships" xmlns:p="http://schemas.openxmlformats.org/presentationml/2006/main">
  <p:tag name="PPWINTOTALSEGMENTS" val="0"/>
</p:tagLst>
</file>

<file path=ppt/tags/tag64.xml><?xml version="1.0" encoding="utf-8"?>
<p:tagLst xmlns:a="http://schemas.openxmlformats.org/drawingml/2006/main" xmlns:r="http://schemas.openxmlformats.org/officeDocument/2006/relationships" xmlns:p="http://schemas.openxmlformats.org/presentationml/2006/main">
  <p:tag name="PPWINSEGMENT1START" val="1"/>
  <p:tag name="PPWINSEGMENT1LENGTH" val="51"/>
  <p:tag name="PPWINSEGMENT1SOURCERTF" val="{\rtf1\ansi\deff0{\fonttbl{\f0\fcharset0 Arial Narrow;}}{\colortbl\red0\green0\blue0;}{\f0\fs44\b\cf0 Enable and configure DHCP audit logging\par}}"/>
  <p:tag name="PPWINSEGMENT2START" val="53"/>
  <p:tag name="PPWINSEGMENT2LENGTH" val="32"/>
  <p:tag name="PPWINSEGMENT2SOURCERTF" val="{\rtf1\ansi\deff0{\fonttbl{\f0\fcharset0 Arial Narrow;}}{\colortbl\red0\green0\blue0;}{\f0\fs44\b\cf0 View the DHCP audit log\par}}"/>
  <p:tag name="PPWINLASTSAVEDTRANSLATION" val="Activer et configurer l'enregistrement d'audit DHCP&#10;Afficher le journal d'audit DHCP"/>
  <p:tag name="PPWINALREADYSEGMENTED" val="True"/>
  <p:tag name="PPWINTOTALSEGMENTS" val="2"/>
  <p:tag name="PPWINSEGMENT1TARGETRTF" val="{\rtf1\ansi\deff0{\fonttbl{\f0\fcharset0 Arial Narrow;}}{\colortbl\red0\green0\blue0;}{\f0\fs44\b\cf0 Activer et configurer l'enregistrement d'audit DHCP\par}}"/>
  <p:tag name="PPWINSEGMENT2TARGETRTF" val="{\rtf1\ansi\deff0{\fonttbl{\f0\fcharset0 Arial Narrow;}}{\colortbl\red0\green0\blue0;}{\f0\fs44\b\cf0 Afficher le journal d'audit DHCP\par}}"/>
</p:tagLst>
</file>

<file path=ppt/tags/tag6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6.xml><?xml version="1.0" encoding="utf-8"?>
<p:tagLst xmlns:a="http://schemas.openxmlformats.org/drawingml/2006/main" xmlns:r="http://schemas.openxmlformats.org/officeDocument/2006/relationships" xmlns:p="http://schemas.openxmlformats.org/presentationml/2006/main">
  <p:tag name="PPWINSEGMENT1START" val="1"/>
  <p:tag name="PPWINSEGMENT1LENGTH" val="59"/>
  <p:tag name="PPWINSEGMENT1SOURCERTF" val="{\rtf1\ansi\deff0{\fonttbl{\f0\fcharset0 Arial Narrow;}}{\colortbl\red0\green0\blue0;}{\f0\fs52\b\cf0 Guidelines for Monitoring DHCP Server Performance \par}}"/>
  <p:tag name="PPWINSEGMENT1TARGETRTF" val="{\rtf1\ansi\deff1{\fonttbl{\f1\fcharset0 Arial;}{\f2\fcharset0 Arial Narrow;}}{\colortbl\red0\green0\blue0;}{\f2\fs52\b\cf0 Instructions pour analyser les performances de serveur DHCP\par}}"/>
  <p:tag name="PPWINLASTSAVEDTRANSLATION" val="Instructions pour analyser les performances de serveur DHCP"/>
  <p:tag name="PPWINALREADYSEGMENTED" val="True"/>
  <p:tag name="PPWINTOTALSEGMENTS" val="1"/>
</p:tagLst>
</file>

<file path=ppt/tags/tag67.xml><?xml version="1.0" encoding="utf-8"?>
<p:tagLst xmlns:a="http://schemas.openxmlformats.org/drawingml/2006/main" xmlns:r="http://schemas.openxmlformats.org/officeDocument/2006/relationships" xmlns:p="http://schemas.openxmlformats.org/presentationml/2006/main">
  <p:tag name="PPWINSEGMENT1START" val="1"/>
  <p:tag name="PPWINSEGMENT1LENGTH" val="71"/>
  <p:tag name="PPWINSEGMENT1SOURCERTF" val="{\rtf1\ansi\deff0{\fonttbl{\f0\fcharset0 Arial Narrow;}}{\colortbl\red0\green0\blue0;}{\f0\fs44\b\cf0 Create a baseline of performance data on the DHCP server\par}}"/>
  <p:tag name="PPWINSEGMENT1TARGETRTF" val="{\rtf1\ansi\deff1{\fonttbl{\f1\fcharset0 Arial;}{\f2\fcharset0 Arial Narrow;}}{\colortbl\red0\green0\blue0;}{\f2\fs44\b\cf0 Cr\'E9er une ligne de base des donn\'E9es de performances sur le serveur DHCP\par}}"/>
  <p:tag name="PPWINLASTSAVEDTRANSLATION" val="Créer une ligne de base des données de performances sur le serveur DHCP"/>
  <p:tag name="PPWINALREADYSEGMENTED" val="True"/>
  <p:tag name="PPWINTOTALSEGMENTS" val="1"/>
</p:tagLst>
</file>

<file path=ppt/tags/tag68.xml><?xml version="1.0" encoding="utf-8"?>
<p:tagLst xmlns:a="http://schemas.openxmlformats.org/drawingml/2006/main" xmlns:r="http://schemas.openxmlformats.org/officeDocument/2006/relationships" xmlns:p="http://schemas.openxmlformats.org/presentationml/2006/main">
  <p:tag name="PPWINSEGMENT1START" val="1"/>
  <p:tag name="PPWINSEGMENT1LENGTH" val="168"/>
  <p:tag name="PPWINSEGMENT1SOURCERTF" val="{\rtf1\ansi\deff0{\fonttbl{\f0\fcharset0 Arial Narrow;}}{\colortbl\red0\green0\blue0;}{\f0\fs44\b\cf0 Check the standard counters for server performance, such as processor utilization, paging, disk performance, and network utilization\par}}"/>
  <p:tag name="PPWINSEGMENT1TARGETRTF" val="{\rtf1\ansi\deff1{\fonttbl{\f1\fcharset0 Arial;}{\f2\fcharset0 Arial Narrow;}}{\colortbl\red0\green0\blue0;}{\f2\fs44\b\cf0 V\'E9rifier les compteurs de performance de serveur standard, par exemple l'utilisation du processeur, la pagination, les performances de disque et l'utilisation du r\'E9seau\par}}"/>
  <p:tag name="PPWINLASTSAVEDTRANSLATION" val="Vérifier les compteurs de performance de serveur standard, par exemple l'utilisation du processeur, la pagination, les performances de disque et l'utilisation du réseau"/>
  <p:tag name="PPWINALREADYSEGMENTED" val="True"/>
  <p:tag name="PPWINTOTALSEGMENTS" val="1"/>
</p:tagLst>
</file>

<file path=ppt/tags/tag69.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9"/>
  <p:tag name="PPWINSEGMENT1SOURCERTF" val="{\rtf1\ansi\deff0{\fonttbl{\f0\fcharset0 Arial Narrow;}}{\colortbl\red0\green0\blue0;}{\f0\fs44\b\cf0 Review DHCP server counters to look for significant drops or increases that indicate a change in DHCP traffic\par}}"/>
  <p:tag name="PPWINSEGMENT1TARGETRTF" val="{\rtf1\ansi\deff1{\fonttbl{\f1\fcharset0 Arial;}{\f2\fcharset0 Arial Narrow;}}{\colortbl\red0\green0\blue0;}{\f2\fs44\b\cf0 Examiner les compteurs de serveur DHCP pour rechercher les augmentations ou les diminutions significatives d\'E9notant un changement dans le trafic DHCP\par}}"/>
  <p:tag name="PPWINLASTSAVEDTRANSLATION" val="Examiner les compteurs de serveur DHCP pour rechercher les augmentations ou les diminutions significatives dénotant un changement dans le trafic DHCP"/>
  <p:tag name="PPWINALREADYSEGMENTED" val="True"/>
  <p:tag name="PPWINTOTALSEGMENTS" val="1"/>
</p:tagLst>
</file>

<file path=ppt/tags/tag70.xml><?xml version="1.0" encoding="utf-8"?>
<p:tagLst xmlns:a="http://schemas.openxmlformats.org/drawingml/2006/main" xmlns:r="http://schemas.openxmlformats.org/officeDocument/2006/relationships" xmlns:p="http://schemas.openxmlformats.org/presentationml/2006/main">
  <p:tag name="PPWINTOTALSEGMENTS" val="0"/>
</p:tagLst>
</file>

<file path=ppt/tags/tag71.xml><?xml version="1.0" encoding="utf-8"?>
<p:tagLst xmlns:a="http://schemas.openxmlformats.org/drawingml/2006/main" xmlns:r="http://schemas.openxmlformats.org/officeDocument/2006/relationships" xmlns:p="http://schemas.openxmlformats.org/presentationml/2006/main">
  <p:tag name="PPWINSEGMENT1START" val="1"/>
  <p:tag name="PPWINSEGMENT1LENGTH" val="92"/>
  <p:tag name="PPWINSEGMENT1SOURCERTF" val="{\rtf1\ansi\deff0{\fonttbl{\f0\fcharset0 Arial Narrow;}}{\colortbl\red0\green0\blue0;}{\f0\fs52\b\cf0 Common Performance Counters for Monitoring DHCP Server Performance\par}}"/>
  <p:tag name="PPWINSEGMENT1TARGETRTF" val="{\rtf1\ansi\deff1{\fonttbl{\f1\fcharset0 Arial;}{\f2\fcharset0 Arial Narrow;}}{\colortbl\red0\green0\blue0;}{\f2\fs52\b\cf0 Compteurs de performance commun\'E9ment utilis\'E9s pour analyser les performances de serveur DHCP\par}}"/>
  <p:tag name="PPWINLASTSAVEDTRANSLATION" val="Compteurs de performance communément utilisés pour analyser les performances de serveur DHCP"/>
  <p:tag name="PPWINALREADYSEGMENTED" val="True"/>
  <p:tag name="PPWINTOTALSEGMENTS" val="1"/>
</p:tagLst>
</file>

<file path=ppt/tags/tag72.xml><?xml version="1.0" encoding="utf-8"?>
<p:tagLst xmlns:a="http://schemas.openxmlformats.org/drawingml/2006/main" xmlns:r="http://schemas.openxmlformats.org/officeDocument/2006/relationships" xmlns:p="http://schemas.openxmlformats.org/presentationml/2006/main">
  <p:tag name="PPWINTOTALSEGMENTS" val="0"/>
</p:tagLst>
</file>

<file path=ppt/tags/tag73.xml><?xml version="1.0" encoding="utf-8"?>
<p:tagLst xmlns:a="http://schemas.openxmlformats.org/drawingml/2006/main" xmlns:r="http://schemas.openxmlformats.org/officeDocument/2006/relationships" xmlns:p="http://schemas.openxmlformats.org/presentationml/2006/main">
  <p:tag name="PPWINSEGMENT1START" val="1"/>
  <p:tag name="PPWINSEGMENT1LENGTH" val="56"/>
  <p:tag name="PPWINSEGMENT1SOURCERTF" val="{\rtf1\ansi\deff0{\fonttbl{\f0\fcharset0 Arial Narrow;}}{\colortbl\red0\green0\blue0;}{\f0\fs52\b\cf0 Guidelines for Creating Alerts for a DHCP Server\par}}"/>
  <p:tag name="PPWINSEGMENT1TARGETRTF" val="{\rtf1\ansi\deff1{\fonttbl{\f1\fcharset0 Arial;}{\f2\fcharset0 Arial Narrow;}}{\colortbl\red0\green0\blue0;}{\f2\fs52\b\cf0 Instructions pour cr\'E9er des alertes pour un serveur DHCP\par}}"/>
  <p:tag name="PPWINLASTSAVEDTRANSLATION" val="Instructions pour créer des alertes pour un serveur DHCP"/>
  <p:tag name="PPWINALREADYSEGMENTED" val="True"/>
  <p:tag name="PPWINTOTALSEGMENTS" val="1"/>
</p:tagLst>
</file>

<file path=ppt/tags/tag7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2"/>
  <p:tag name="PPWINSEGMENT1SOURCERTF" val="{\rtf1\ansi\deff0{\fonttbl{\f0\fcharset0 Arial Narrow;}}{\colortbl\red0\green0\blue0;}{\f0\fs44\b\cf0 Define the acceptable level that a DHCP counter can rise above or fall below, before creating an alert \par}}"/>
  <p:tag name="PPWINSEGMENT1TARGETRTF" val="{\rtf1\ansi\deff1{\fonttbl{\f1\fcharset0 Arial;}{\f2\fcharset0 Arial Narrow;}}{\colortbl\red0\green0\blue0;}{\f2\fs44\b\cf0 Avant de cr\'E9er une alerte, d\'E9finir le niveau acceptable au-dessus ou au-dessous duquel la valeur d'un compteur DHCP peut augmenter ou diminuer\par}}"/>
  <p:tag name="PPWINLASTSAVEDTRANSLATION" val="Avant de créer une alerte, définir le niveau acceptable au-dessus ou au-dessous duquel la valeur d'un compteur DHCP peut augmenter ou diminuer"/>
  <p:tag name="PPWINALREADYSEGMENTED" val="True"/>
  <p:tag name="PPWINTOTALSEGMENTS" val="1"/>
</p:tagLst>
</file>

<file path=ppt/tags/tag75.xml><?xml version="1.0" encoding="utf-8"?>
<p:tagLst xmlns:a="http://schemas.openxmlformats.org/drawingml/2006/main" xmlns:r="http://schemas.openxmlformats.org/officeDocument/2006/relationships" xmlns:p="http://schemas.openxmlformats.org/presentationml/2006/main">
  <p:tag name="PPWINSEGMENT1START" val="1"/>
  <p:tag name="PPWINSEGMENT1LENGTH" val="37"/>
  <p:tag name="PPWINSEGMENT1SOURCERTF" val="{\rtf1\ansi\deff0{\fonttbl{\f0\fcharset0 Arial Narrow;}}{\colortbl\red0\green0\blue0;}{\f0\fs44\b\cf0 Use scripts with your alerts\par}}"/>
  <p:tag name="PPWINSEGMENT1TARGETRTF" val="{\rtf1\ansi\deff1{\fonttbl{\f1\fcharset0 Arial;}{\f2\fcharset0 Arial Narrow;}}{\colortbl\red0\green0\blue0;}{\f2\fs44\b\cf0 Utiliser des scripts avec vos alertes\par}}"/>
  <p:tag name="PPWINLASTSAVEDTRANSLATION" val="Utiliser des scripts avec vos alertes"/>
  <p:tag name="PPWINALREADYSEGMENTED" val="True"/>
  <p:tag name="PPWINTOTALSEGMENTS" val="1"/>
</p:tagLst>
</file>

<file path=ppt/tags/tag76.xml><?xml version="1.0" encoding="utf-8"?>
<p:tagLst xmlns:a="http://schemas.openxmlformats.org/drawingml/2006/main" xmlns:r="http://schemas.openxmlformats.org/officeDocument/2006/relationships" xmlns:p="http://schemas.openxmlformats.org/presentationml/2006/main">
  <p:tag name="PPWINTOTALSEGMENTS" val="0"/>
</p:tagLst>
</file>

<file path=ppt/tags/tag77.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61"/>
  <p:tag name="PPWINSEGMENT2SOURCERTF" val="{\rtf1\ansi\deff0{\fonttbl{\f0\fcharset0 Arial Narrow;}}{\colortbl\red0\green0\blue0;}{\f0\fs52\b\cf0 Applying Security Guidelines for DHCP\par}}"/>
  <p:tag name="PPWINSEGMENT2TARGETRTF" val="{\rtf1\ansi\deff1{\fonttbl{\f1\fcharset0 Arial;}{\f2\fcharset0 Arial Narrow;}}{\colortbl\red0\green0\blue0;}{\f2\fs52\b\cf0 Application des instructions de s\'E9curit\'E9 pour le service DHCP\par}}"/>
  <p:tag name="PPWINLASTSAVEDTRANSLATION" val="Leçon : Application des instructions de sécurité pour le service DHCP"/>
  <p:tag name="PPWINALREADYSEGMENTED" val="True"/>
  <p:tag name="PPWINTOTALSEGMENTS" val="2"/>
</p:tagLst>
</file>

<file path=ppt/tags/tag78.xml><?xml version="1.0" encoding="utf-8"?>
<p:tagLst xmlns:a="http://schemas.openxmlformats.org/drawingml/2006/main" xmlns:r="http://schemas.openxmlformats.org/officeDocument/2006/relationships" xmlns:p="http://schemas.openxmlformats.org/presentationml/2006/main">
  <p:tag name="PPWINSEGMENT1START" val="1"/>
  <p:tag name="PPWINSEGMENT1LENGTH" val="72"/>
  <p:tag name="PPWINSEGMENT1SOURCERTF" val="{\rtf1\ansi\deff0{\fonttbl{\f0\fcharset0 Arial Narrow;}}{\colortbl\red0\green0\blue0;}{\f0\fs48\b\cf0 Guidelines for Restricting an Unauthorized User from Obtaining a Lease\par}}"/>
  <p:tag name="PPWINSEGMENT1TARGETRTF" val="{\rtf1\ansi\deff1{\fonttbl{\f1\fcharset0 Arial;}{\f2\fcharset0 Arial Narrow;}}{\colortbl\red0\green0\blue0;}{\f2\fs48\b\cf0 Instructions pour emp\'EAcher un utilisateur non autoris\'E9 d'obtenir un bail\par}}"/>
  <p:tag name="PPWINSEGMENT2START" val="74"/>
  <p:tag name="PPWINSEGMENT2LENGTH" val="96"/>
  <p:tag name="PPWINSEGMENT2SOURCERTF" val="{\rtf1\ansi\deff0{\fonttbl{\f0\fcharset0 Arial Narrow;}}{\colortbl\red0\green0\blue0;}{\f0\fs48\b\cf0 Guidelines for Restricting an Unauthorized, non-Microsoft DHCP Server from Leasing IP Addresses\par}}"/>
  <p:tag name="PPWINSEGMENT2TARGETRTF" val="{\rtf1\ansi\deff1{\fonttbl{\f1\fcharset0 Arial;}{\f2\fcharset0 Arial Narrow;}}{\colortbl\red0\green0\blue0;}{\f2\fs48\b\cf0 Instructions pour emp\'EAcher un serveur DHCP non autoris\'E9, non-Microsoft, de louer des adresses IP\par}}"/>
  <p:tag name="PPWINSEGMENT3START" val="171"/>
  <p:tag name="PPWINSEGMENT3LENGTH" val="90"/>
  <p:tag name="PPWINSEGMENT3SOURCERTF" val="{\rtf1\ansi\deff0{\fonttbl{\f0\fcharset0 Arial Narrow;}}{\colortbl\red0\green0\blue0;}{\f0\fs48\b\cf0 Guidelines for Restricting Who Can Administer the DHCP Service\par}}"/>
  <p:tag name="PPWINSEGMENT3TARGETRTF" val="{\rtf1\ansi\deff1{\fonttbl{\f1\fcharset0 Arial;}{\f2\fcharset0 Arial Narrow;}}{\colortbl\red0\green0\blue0;}{\f2\fs48\b\cf0 Instructions pour limiter le cercle des personnes autoris\'E9es \'E0 administrer le service DHCP\par}}"/>
  <p:tag name="PPWINSEGMENT4START" val="262"/>
  <p:tag name="PPWINSEGMENT4LENGTH" val="51"/>
  <p:tag name="PPWINSEGMENT4SOURCERTF" val="{\rtf1\ansi\deff0{\fonttbl{\f0\fcharset0 Arial Narrow;}}{\colortbl\red0\green0\blue0;}{\f0\fs48\b\cf0 Guidelines for Securing the DHCP Database\par}}"/>
  <p:tag name="PPWINSEGMENT4TARGETRTF" val="{\rtf1\ansi\deff1{\fonttbl{\f1\fcharset0 Arial;}{\f2\fcharset0 Arial Narrow;}}{\colortbl\red0\green0\blue0;}{\f2\fs48\b\cf0 Instructions pour s\'E9curiser la base de donn\'E9es DHCP\par}}"/>
  <p:tag name="PPWINLASTSAVEDTRANSLATION" val="Instructions pour empêcher un utilisateur non autorisé d'obtenir un bail&#10;Instructions pour empêcher un serveur DHCP non autorisé, non-Microsoft, de louer des adresses IP&#10;Instructions pour limiter le cercle des personnes autorisées à administrer le service DHCP&#10;Instructions pour sécuriser la base de données DHCP"/>
  <p:tag name="PPWINALREADYSEGMENTED" val="True"/>
  <p:tag name="PPWINTOTALSEGMENTS" val="4"/>
</p:tagLst>
</file>

<file path=ppt/tags/tag79.xml><?xml version="1.0" encoding="utf-8"?>
<p:tagLst xmlns:a="http://schemas.openxmlformats.org/drawingml/2006/main" xmlns:r="http://schemas.openxmlformats.org/officeDocument/2006/relationships" xmlns:p="http://schemas.openxmlformats.org/presentationml/2006/main">
  <p:tag name="PPWINTOTALSEGMENTS" val="0"/>
</p:tagLst>
</file>

<file path=ppt/tags/tag80.xml><?xml version="1.0" encoding="utf-8"?>
<p:tagLst xmlns:a="http://schemas.openxmlformats.org/drawingml/2006/main" xmlns:r="http://schemas.openxmlformats.org/officeDocument/2006/relationships" xmlns:p="http://schemas.openxmlformats.org/presentationml/2006/main">
  <p:tag name="PPWINSEGMENT1START" val="1"/>
  <p:tag name="PPWINSEGMENT1LENGTH" val="72"/>
  <p:tag name="PPWINSEGMENT1SOURCERTF" val="{\rtf1\ansi\deff0{\fonttbl{\f0\fcharset0 Arial Narrow;}}{\colortbl\red0\green0\blue0;}{\f0\fs60\b\cf0 Guidelines for Restricting an Unauthorized User from Obtaining a Lease\par}}"/>
  <p:tag name="PPWINSEGMENT1TARGETRTF" val="{\rtf1\ansi\deff1{\fonttbl{\f1\fcharset0 Arial;}{\f2\fcharset0 Arial Narrow;}}{\colortbl\red0\green0\blue0;}{\f2\fs60\b\cf0 Instructions pour emp\'EAcher un utilisateur non autoris\'E9 d'obtenir un bail\par}}"/>
  <p:tag name="PPWINLASTSAVEDTRANSLATION" val="Instructions pour empêcher un utilisateur non autorisé d'obtenir un bail"/>
  <p:tag name="PPWINALREADYSEGMENTED" val="True"/>
  <p:tag name="PPWINTOTALSEGMENTS" val="1"/>
</p:tagLst>
</file>

<file path=ppt/tags/tag81.xml><?xml version="1.0" encoding="utf-8"?>
<p:tagLst xmlns:a="http://schemas.openxmlformats.org/drawingml/2006/main" xmlns:r="http://schemas.openxmlformats.org/officeDocument/2006/relationships" xmlns:p="http://schemas.openxmlformats.org/presentationml/2006/main">
  <p:tag name="PPWINSEGMENT1START" val="1"/>
  <p:tag name="PPWINSEGMENT1LENGTH" val="95"/>
  <p:tag name="PPWINSEGMENT1SOURCERTF" val="{\rtf1\ansi\deff0{\fonttbl{\f0\fcharset0 Arial Narrow;}}{\colortbl\red0\green0\blue0;}{\f0\fs44\b\cf0 Ensure that unauthorized persons do not have physical or wireless access to your network\par}}"/>
  <p:tag name="PPWINSEGMENT1TARGETRTF" val="{\rtf1\ansi\deff1{\fonttbl{\f1\fcharset0 Arial;}{\f2\fcharset0 Arial Narrow;}}{\colortbl\red0\green0\blue0;}{\f2\fs44\b\cf0 V\'E9rifier que les personnes non autoris\'E9es n'ont pas d'acc\'E8s physique ou sans fil \'E0 votre r\'E9seau\par}}"/>
  <p:tag name="PPWINLASTSAVEDTRANSLATION" val="Vérifier que les personnes non autorisées n'ont pas d'accès physique ou sans fil à votre réseau"/>
  <p:tag name="PPWINALREADYSEGMENTED" val="True"/>
  <p:tag name="PPWINTOTALSEGMENTS" val="1"/>
</p:tagLst>
</file>

<file path=ppt/tags/tag82.xml><?xml version="1.0" encoding="utf-8"?>
<p:tagLst xmlns:a="http://schemas.openxmlformats.org/drawingml/2006/main" xmlns:r="http://schemas.openxmlformats.org/officeDocument/2006/relationships" xmlns:p="http://schemas.openxmlformats.org/presentationml/2006/main">
  <p:tag name="PPWINSEGMENT1START" val="1"/>
  <p:tag name="PPWINSEGMENT1LENGTH" val="76"/>
  <p:tag name="PPWINSEGMENT1SOURCERTF" val="{\rtf1\ansi\deff0{\fonttbl{\f0\fcharset0 Arial Narrow;}}{\colortbl\red0\green0\blue0;}{\f0\fs44\b\cf0 Enable audit logging for every DHCP server on your network\par}}"/>
  <p:tag name="PPWINSEGMENT1TARGETRTF" val="{\rtf1\ansi\deff1{\fonttbl{\f1\fcharset0 Arial;}{\f2\fcharset0 Arial Narrow;}}{\colortbl\red0\green0\blue0;}{\f2\fs44\b\cf0 Activer l'enregistrement d'audit pour tous les serveurs DHCP de votre r\'E9seau\par}}"/>
  <p:tag name="PPWINLASTSAVEDTRANSLATION" val="Activer l'enregistrement d'audit pour tous les serveurs DHCP de votre réseau"/>
  <p:tag name="PPWINALREADYSEGMENTED" val="True"/>
  <p:tag name="PPWINTOTALSEGMENTS" val="1"/>
</p:tagLst>
</file>

<file path=ppt/tags/tag83.xml><?xml version="1.0" encoding="utf-8"?>
<p:tagLst xmlns:a="http://schemas.openxmlformats.org/drawingml/2006/main" xmlns:r="http://schemas.openxmlformats.org/officeDocument/2006/relationships" xmlns:p="http://schemas.openxmlformats.org/presentationml/2006/main">
  <p:tag name="PPWINSEGMENT1START" val="1"/>
  <p:tag name="PPWINSEGMENT1LENGTH" val="64"/>
  <p:tag name="PPWINSEGMENT1SOURCERTF" val="{\rtf1\ansi\deff0{\fonttbl{\f0\fcharset0 Arial Narrow;}}{\colortbl\red0\green0\blue0;}{\f0\fs44\b\cf0 Regularly check and monitor audit log files\par}}"/>
  <p:tag name="PPWINSEGMENT1TARGETRTF" val="{\rtf1\ansi\deff1{\fonttbl{\f1\fcharset0 Arial;}{\f2\fcharset0 Arial Narrow;}}{\colortbl\red0\green0\blue0;}{\f2\fs44\b\cf0 V\'E9rifier et analyser r\'E9guli\'E8rement les fichiers journaux d'audit\par}}"/>
  <p:tag name="PPWINLASTSAVEDTRANSLATION" val="Vérifier et analyser régulièrement les fichiers journaux d'audit"/>
  <p:tag name="PPWINALREADYSEGMENTED" val="True"/>
  <p:tag name="PPWINTOTALSEGMENTS" val="1"/>
</p:tagLst>
</file>

<file path=ppt/tags/tag8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21"/>
  <p:tag name="PPWINSEGMENT1SOURCERTF" val="{\rtf1\ansi\deff0{\fonttbl{\f0\fcharset0 Arial Narrow;}}{\colortbl\red0\green0\blue0;}{\f0\fs44\b\cf0 Use 802.1X-enabled LAN switches or wireless access points to access the network\par}}"/>
  <p:tag name="PPWINSEGMENT1TARGETRTF" val="{\rtf1\ansi\deff1{\fonttbl{\f1\fcharset0 Arial;}{\f2\fcharset0 Arial Narrow;}}{\colortbl\red0\green0\blue0;}{\f2\fs44\b\cf0 Utiliser des commutateurs de r\'E9seau local ou des points d'acc\'E8s sans fil bas\'E9s sur la norme 802.1X pour acc\'E9der au r\'E9seau\par}}"/>
  <p:tag name="PPWINLASTSAVEDTRANSLATION" val="Utiliser des commutateurs de réseau local ou des points d'accès sans fil basés sur la norme 802.1X pour accéder au réseau"/>
  <p:tag name="PPWINALREADYSEGMENTED" val="True"/>
  <p:tag name="PPWINTOTALSEGMENTS" val="1"/>
</p:tagLst>
</file>

<file path=ppt/tags/tag85.xml><?xml version="1.0" encoding="utf-8"?>
<p:tagLst xmlns:a="http://schemas.openxmlformats.org/drawingml/2006/main" xmlns:r="http://schemas.openxmlformats.org/officeDocument/2006/relationships" xmlns:p="http://schemas.openxmlformats.org/presentationml/2006/main">
  <p:tag name="PPWINTOTALSEGMENTS" val="0"/>
</p:tagLst>
</file>

<file path=ppt/tags/tag86.xml><?xml version="1.0" encoding="utf-8"?>
<p:tagLst xmlns:a="http://schemas.openxmlformats.org/drawingml/2006/main" xmlns:r="http://schemas.openxmlformats.org/officeDocument/2006/relationships" xmlns:p="http://schemas.openxmlformats.org/presentationml/2006/main">
  <p:tag name="PPWINSEGMENT1START" val="1"/>
  <p:tag name="PPWINSEGMENT1LENGTH" val="99"/>
  <p:tag name="PPWINSEGMENT1SOURCERTF" val="{\rtf1\ansi\deff0{\fonttbl{\f0\fcharset0 Arial Narrow;}}{\colortbl\red0\green0\blue0;}{\f0\fs52\b\cf0 Guidelines for Restricting Unauthorized, Non-Microsoft DHCP Servers from Leasing IP Addresses \par}}"/>
  <p:tag name="PPWINSEGMENT1TARGETRTF" val="{\rtf1\ansi\deff1{\fonttbl{\f1\fcharset0 Arial;}{\f2\fcharset0 Arial Narrow;}}{\colortbl\red0\green0\blue0;}{\f2\fs52\b\cf0 Instructions pour emp\'EAcher les serveurs DHCP non autoris\'E9s, non-Microsoft, de louer des adresses IP\par}}"/>
  <p:tag name="PPWINLASTSAVEDTRANSLATION" val="Instructions pour empêcher les serveurs DHCP non autorisés, non-Microsoft, de louer des adresses IP"/>
  <p:tag name="PPWINALREADYSEGMENTED" val="True"/>
  <p:tag name="PPWINTOTALSEGMENTS" val="1"/>
</p:tagLst>
</file>

<file path=ppt/tags/tag87.xml><?xml version="1.0" encoding="utf-8"?>
<p:tagLst xmlns:a="http://schemas.openxmlformats.org/drawingml/2006/main" xmlns:r="http://schemas.openxmlformats.org/officeDocument/2006/relationships" xmlns:p="http://schemas.openxmlformats.org/presentationml/2006/main">
  <p:tag name="PPWINSEGMENT1START" val="1"/>
  <p:tag name="PPWINSEGMENT1LENGTH" val="95"/>
  <p:tag name="PPWINSEGMENT1SOURCERTF" val="{\rtf1\ansi\deff0{\fonttbl{\f0\fcharset0 Arial Narrow;}}{\colortbl\red0\green0\blue0;}{\f0\fs44\b\cf0 Ensure that unauthorized persons do not have physical or wireless access to your network\par}}"/>
  <p:tag name="PPWINSEGMENT1TARGETRTF" val="{\rtf1\ansi\deff1{\fonttbl{\f1\fcharset0 Arial;}{\f2\fcharset0 Arial Narrow;}}{\colortbl\red0\green0\blue0;}{\f2\fs44\b\cf0 V\'E9rifier que les personnes non autoris\'E9es n'ont pas d'acc\'E8s physique ou sans fil \'E0 votre r\'E9seau\par}}"/>
  <p:tag name="PPWINLASTSAVEDTRANSLATION" val="Vérifier que les personnes non autorisées n'ont pas d'accès physique ou sans fil à votre réseau"/>
  <p:tag name="PPWINALREADYSEGMENTED" val="True"/>
  <p:tag name="PPWINTOTALSEGMENTS" val="1"/>
</p:tagLst>
</file>

<file path=ppt/tags/tag8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2"/>
  <p:tag name="PPWINSEGMENT1SOURCERTF" val="{\rtf1\ansi\deff0{\fonttbl{\f0\fcharset0 Arial Narrow;}}{\colortbl\red0\green0\blue0;}{\f0\fs48\b\cf0 Microsoft DHCP Server\par}}"/>
  <p:tag name="PPWINSEGMENT1TARGETRTF" val="{\rtf1\ansi\deff1{\fonttbl{\f1\fcharset0 Arial;}{\f2\fcharset0 Arial Narrow;}}{\colortbl\red0\green0\blue0;}{\f2\fs48\b\cf0 Serveur DHCP Microsoft\par}}"/>
  <p:tag name="PPWINSEGMENT2START" val="24"/>
  <p:tag name="PPWINSEGMENT2LENGTH" val="112"/>
  <p:tag name="PPWINSEGMENT2SOURCERTF" val="{\rtf1\ansi\deff0{\fonttbl{\f0\fcharset0 Arial Narrow;}}{\colortbl\red0\green0\blue0;}{\f0\fs36\b\cf0 Only DHCP servers running Windows 2000 or Windows Server 2003 can be authorized in Active Directory\par}}"/>
  <p:tag name="PPWINSEGMENT2TARGETRTF" val="{\rtf1\ansi\deff1{\fonttbl{\f1\fcharset0 Arial;}{\f2\fcharset0 Arial Narrow;}}{\colortbl\red0\green0\blue0;}{\f2\fs36\b\cf0 Seuls les serveurs DHCP ex\'E9cutant Windows2000 ou Windows Server2003 peuvent \'EAtre autoris\'E9s dans Active Directory\par}}"/>
  <p:tag name="PPWINSEGMENT3START" val="137"/>
  <p:tag name="PPWINSEGMENT3LENGTH" val="40"/>
  <p:tag name="PPWINSEGMENT3SOURCERTF" val="{\rtf1\ansi\deff0{\fonttbl{\f0\fcharset0 Arial Narrow;}}{\colortbl\red0\green0\blue0;}{\f0\fs48\b\cf0 Unauthorized, non-Microsoft DHCP Server\par}}"/>
  <p:tag name="PPWINSEGMENT3TARGETRTF" val="{\rtf1\ansi\deff1{\fonttbl{\f1\fcharset0 Arial;}{\f2\fcharset0 Arial Narrow;}}{\colortbl\red0\green0\blue0;}{\f2\fs48\b\cf0 Serveur DHCP non autoris\'E9, non-Microsoft\par}}"/>
  <p:tag name="PPWINSEGMENT4START" val="178"/>
  <p:tag name="PPWINSEGMENT4LENGTH" val="137"/>
  <p:tag name="PPWINSEGMENT4SOURCERTF" val="{\rtf1\ansi\deff0{\fonttbl{\f0\fcharset0 Arial Narrow;}}{\colortbl\red0\green0\blue0;}{\f0\fs36\b\cf0 Non-Microsoft DHCP server software does not include the authorization feature that is included in Windows 2000 and Windows Server 2003\par}}"/>
  <p:tag name="PPWINSEGMENT4TARGETRTF" val="{\rtf1\ansi\deff1{\fonttbl{\f1\fcharset0 Arial;}{\f2\fcharset0 Arial Narrow;}}{\colortbl\red0\green0\blue0;}{\f2\fs36\b\cf0 Le logiciel de serveur DHCP non-Microsoft ne contient pas la fonctionnalit\'E9 d'autorisation incluse dans Windows2000 et Windows Server2003\par}}"/>
  <p:tag name="PPWINLASTSAVEDTRANSLATION" val="Serveur DHCP Microsoft&#10;Seuls les serveurs DHCP exécutant Windows2000 ou Windows Server2003 peuvent être autorisés dans Active Directory&#10;Serveur DHCP non autorisé, non-Microsoft&#10;Le logiciel de serveur DHCP non-Microsoft ne contient pas la fonctionnalité d'autorisation incluse dans Windows2000 et Windows Server2003&#10;"/>
  <p:tag name="PPWINALREADYSEGMENTED" val="True"/>
  <p:tag name="PPWINTOTALSEGMENTS" val="4"/>
</p:tagLst>
</file>

<file path=ppt/tags/tag89.xml><?xml version="1.0" encoding="utf-8"?>
<p:tagLst xmlns:a="http://schemas.openxmlformats.org/drawingml/2006/main" xmlns:r="http://schemas.openxmlformats.org/officeDocument/2006/relationships" xmlns:p="http://schemas.openxmlformats.org/presentationml/2006/main">
  <p:tag name="PPWINTOTALSEGMENTS" val="0"/>
</p:tagLst>
</file>

<file path=ppt/tags/tag90.xml><?xml version="1.0" encoding="utf-8"?>
<p:tagLst xmlns:a="http://schemas.openxmlformats.org/drawingml/2006/main" xmlns:r="http://schemas.openxmlformats.org/officeDocument/2006/relationships" xmlns:p="http://schemas.openxmlformats.org/presentationml/2006/main">
  <p:tag name="PPWINSEGMENT1START" val="1"/>
  <p:tag name="PPWINSEGMENT1LENGTH" val="90"/>
  <p:tag name="PPWINSEGMENT1SOURCERTF" val="{\rtf1\ansi\deff0{\fonttbl{\f0\fcharset0 Arial Narrow;}}{\colortbl\red0\green0\blue0;}{\f0\fs52\b\cf0 Guidelines for Restricting Who Can Administer the DHCP Service \par}}"/>
  <p:tag name="PPWINSEGMENT1TARGETRTF" val="{\rtf1\ansi\deff1{\fonttbl{\f1\fcharset0 Arial;}{\f2\fcharset0 Arial Narrow;}}{\colortbl\red0\green0\blue0;}{\f2\fs52\b\cf0 Instructions pour limiter le cercle des personnes autoris\'E9es \'E0 administrer le service DHCP\par}}"/>
  <p:tag name="PPWINLASTSAVEDTRANSLATION" val="Instructions pour limiter le cercle des personnes autorisées à administrer le service DHCP"/>
  <p:tag name="PPWINALREADYSEGMENTED" val="True"/>
  <p:tag name="PPWINTOTALSEGMENTS" val="1"/>
</p:tagLst>
</file>

<file path=ppt/tags/tag91.xml><?xml version="1.0" encoding="utf-8"?>
<p:tagLst xmlns:a="http://schemas.openxmlformats.org/drawingml/2006/main" xmlns:r="http://schemas.openxmlformats.org/officeDocument/2006/relationships" xmlns:p="http://schemas.openxmlformats.org/presentationml/2006/main">
  <p:tag name="PPWINSEGMENT1START" val="1"/>
  <p:tag name="PPWINSEGMENT1LENGTH" val="126"/>
  <p:tag name="PPWINSEGMENT1SOURCERTF" val="{\rtf1\ansi\deff0{\fonttbl{\f0\fcharset0 Arial Narrow;}}{\colortbl\red0\green0\blue0;}{\f0\fs44\b\cf0 Restrict the membership of the DHCP Administrators group to the minimum number of users necessary to administer the service\par}}"/>
  <p:tag name="PPWINSEGMENT1TARGETRTF" val="{\rtf1\ansi\deff1{\fonttbl{\f1\fcharset0 Arial;}{\f2\fcharset0 Arial Narrow;}}{\colortbl\red0\green0\blue0;}{\f2\fs44\b\cf0 Limiter la composition du groupe Administrateurs DHCP au nombre minimal d'utilisateurs n\'E9cessaires pour administrer le service\par}}"/>
  <p:tag name="PPWINLASTSAVEDTRANSLATION" val="Limiter la composition du groupe Administrateurs DHCP au nombre minimal d'utilisateurs nécessaires pour administrer le service"/>
  <p:tag name="PPWINALREADYSEGMENTED" val="True"/>
  <p:tag name="PPWINTOTALSEGMENTS" val="1"/>
</p:tagLst>
</file>

<file path=ppt/tags/tag9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2"/>
  <p:tag name="PPWINSEGMENT1SOURCERTF" val="{\rtf1\ansi\deff0{\fonttbl{\f0\fcharset0 Arial Narrow;}}{\colortbl\red0\green0\blue0;}{\f0\fs44\b\cf0 If there are users who need read-only access to the DHCP console, then add them to the DHCP Users group instead of the DHCP Administrators group\par}}"/>
  <p:tag name="PPWINSEGMENT1TARGETRTF" val="{\rtf1\ansi\deff1{\fonttbl{\f1\fcharset0 Arial;}{\f2\fcharset0 Arial Narrow;}}{\colortbl\red0\green0\blue0;}{\f2\fs44\b\cf0 Ajouter des utilisateurs qui ont besoin d'un acc\'E8s en lecture seule \'E0 la console DHCP au groupe Utilisateurs DHCP au lieu du groupe Administrateurs DHCP\par}}"/>
  <p:tag name="PPWINLASTSAVEDTRANSLATION" val="Ajouter des utilisateurs qui ont besoin d'un accès en lecture seule à la console DHCP au groupe Utilisateurs DHCP au lieu du groupe Administrateurs DHCP"/>
  <p:tag name="PPWINALREADYSEGMENTED" val="True"/>
  <p:tag name="PPWINTOTALSEGMENTS" val="1"/>
</p:tagLst>
</file>

<file path=ppt/tags/tag93.xml><?xml version="1.0" encoding="utf-8"?>
<p:tagLst xmlns:a="http://schemas.openxmlformats.org/drawingml/2006/main" xmlns:r="http://schemas.openxmlformats.org/officeDocument/2006/relationships" xmlns:p="http://schemas.openxmlformats.org/presentationml/2006/main">
  <p:tag name="PPWINTOTALSEGMENTS" val="0"/>
</p:tagLst>
</file>

<file path=ppt/tags/tag94.xml><?xml version="1.0" encoding="utf-8"?>
<p:tagLst xmlns:a="http://schemas.openxmlformats.org/drawingml/2006/main" xmlns:r="http://schemas.openxmlformats.org/officeDocument/2006/relationships" xmlns:p="http://schemas.openxmlformats.org/presentationml/2006/main">
  <p:tag name="PPWINSEGMENT1START" val="1"/>
  <p:tag name="PPWINSEGMENT1LENGTH" val="51"/>
  <p:tag name="PPWINSEGMENT1SOURCERTF" val="{\rtf1\ansi\deff0{\fonttbl{\f0\fcharset0 Arial Narrow;}}{\colortbl\red0\green0\blue0;}{\f0\fs60\b\cf0 Guidelines for Securing the DHCP Database \par}}"/>
  <p:tag name="PPWINSEGMENT1TARGETRTF" val="{\rtf1\ansi\deff1{\fonttbl{\f1\fcharset0 Arial;}{\f2\fcharset0 Arial Narrow;}}{\colortbl\red0\green0\blue0;}{\f2\fs60\b\cf0 Instructions pour s\'E9curiser la base de donn\'E9es DHCP\par}}"/>
  <p:tag name="PPWINLASTSAVEDTRANSLATION" val="Instructions pour sécuriser la base de données DHCP"/>
  <p:tag name="PPWINALREADYSEGMENTED" val="True"/>
  <p:tag name="PPWINTOTALSEGMENTS" val="1"/>
</p:tagLst>
</file>

<file path=ppt/tags/tag95.xml><?xml version="1.0" encoding="utf-8"?>
<p:tagLst xmlns:a="http://schemas.openxmlformats.org/drawingml/2006/main" xmlns:r="http://schemas.openxmlformats.org/officeDocument/2006/relationships" xmlns:p="http://schemas.openxmlformats.org/presentationml/2006/main">
  <p:tag name="PPWINSEGMENT1START" val="1"/>
  <p:tag name="PPWINSEGMENT1LENGTH" val="81"/>
  <p:tag name="PPWINSEGMENT1SOURCERTF" val="{\rtf1\ansi\deff0{\fonttbl{\f0\fcharset0 Arial Narrow;}}{\colortbl\red0\green0\blue0;}{\f0\fs44\b\cf0 Consider changing the default permissions of the DHCP folder\par}}"/>
  <p:tag name="PPWINSEGMENT1TARGETRTF" val="{\rtf1\ansi\deff1{\fonttbl{\f1\fcharset0 Arial;}{\f2\fcharset0 Arial Narrow;}}{\colortbl\red0\green0\blue0;}{\f2\fs44\b\cf0 D\'E9cider s'il faut modifier les autorisations associ\'E9es par d\'E9faut au dossier DHCP\par}}"/>
  <p:tag name="PPWINLASTSAVEDTRANSLATION" val="Décider s'il faut modifier les autorisations associées par défaut au dossier DHCP"/>
  <p:tag name="PPWINALREADYSEGMENTED" val="True"/>
  <p:tag name="PPWINTOTALSEGMENTS" val="1"/>
</p:tagLst>
</file>

<file path=ppt/tags/tag9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0"/>
  <p:tag name="PPWINSEGMENT1SOURCERTF" val="{\rtf1\ansi\deff0{\fonttbl{\f0\fcharset0 Arial Narrow;}}{\colortbl\red0\green0\blue0;}{\f0\fs44\b\cf0 Provide only the minimum permissions required to users to enable them to perform their task\par}}"/>
  <p:tag name="PPWINSEGMENT1TARGETRTF" val="{\rtf1\ansi\deff1{\fonttbl{\f1\fcharset0 Arial;}{\f2\fcharset0 Arial Narrow;}}{\colortbl\red0\green0\blue0;}{\f2\fs44\b\cf0 N'octroyer que les autorisations minimales indispensables aux utilisateurs pour effectuer leur t\'E2che\par}}"/>
  <p:tag name="PPWINLASTSAVEDTRANSLATION" val="N'octroyer que les autorisations minimales indispensables aux utilisateurs pour effectuer leur tâche"/>
  <p:tag name="PPWINALREADYSEGMENTED" val="True"/>
  <p:tag name="PPWINTOTALSEGMENTS" val="1"/>
</p:tagLst>
</file>

<file path=ppt/tags/tag97.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8"/>
  <p:tag name="PPWINSEGMENT1SOURCERTF" val="{\rtf1\ansi\deff0{\fonttbl{\f0\fcharset0 Arial Narrow;}}{\colortbl\red0\green0\blue0;}{\f0\fs44\b\cf0 Provide Read permissions to users responsible for analyzing DHCP server log files\par}}"/>
  <p:tag name="PPWINSEGMENT1TARGETRTF" val="{\rtf1\ansi\deff1{\fonttbl{\f1\fcharset0 Arial;}{\f2\fcharset0 Arial Narrow;}}{\colortbl\red0\green0\blue0;}{\f2\fs44\b\cf0 Accorder l'autorisation de Lecture aux utilisateurs charg\'E9s d'analyser les fichiers journaux de serveur DHCP\par}}"/>
  <p:tag name="PPWINLASTSAVEDTRANSLATION" val="Accorder l'autorisation de Lecture aux utilisateurs chargés d'analyser les fichiers journaux de serveur DHCP"/>
  <p:tag name="PPWINALREADYSEGMENTED" val="True"/>
  <p:tag name="PPWINTOTALSEGMENTS" val="1"/>
</p:tagLst>
</file>

<file path=ppt/tags/tag98.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7"/>
  <p:tag name="PPWINSEGMENT1SOURCERTF" val="{\rtf1\ansi\deff0{\fonttbl{\f0\fcharset0 Arial Narrow;}}{\colortbl\red0\green0\blue0;}{\f0\fs44\b\cf0 Remove Authenticated Users and Power Users to minimize access to the files in the DHCP folder\par}}"/>
  <p:tag name="PPWINSEGMENT1TARGETRTF" val="{\rtf1\ansi\deff1{\fonttbl{\f1\fcharset0 Arial;}{\f2\fcharset0 Arial Narrow;}}{\colortbl\red0\green0\blue0;}{\f2\fs44\b\cf0 Retirer leurs autorisations aux Utilisateurs authentifi\'E9s et aux Utilisateurs avec pouvoir afin de minimiser les acc\'E8s aux fichiers du dossier DHCP\par}}"/>
  <p:tag name="PPWINLASTSAVEDTRANSLATION" val="Retirer leurs autorisations aux Utilisateurs authentifiés et aux Utilisateurs avec pouvoir afin de minimiser les accès aux fichiers du dossier DHCP"/>
  <p:tag name="PPWINALREADYSEGMENTED" val="True"/>
  <p:tag name="PPWINTOTALSEGMENTS" val="1"/>
</p:tagLst>
</file>

<file path=ppt/tags/tag99.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8070</TotalTime>
  <Words>1334</Words>
  <Application>Microsoft PowerPoint</Application>
  <PresentationFormat>Affichage à l'écran (4:3)</PresentationFormat>
  <Paragraphs>204</Paragraphs>
  <Slides>25</Slides>
  <Notes>23</Notes>
  <HiddenSlides>0</HiddenSlides>
  <MMClips>0</MMClips>
  <ScaleCrop>false</ScaleCrop>
  <HeadingPairs>
    <vt:vector size="10"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25</vt:i4>
      </vt:variant>
      <vt:variant>
        <vt:lpstr>Diaporamas personnalisés</vt:lpstr>
      </vt:variant>
      <vt:variant>
        <vt:i4>1</vt:i4>
      </vt:variant>
    </vt:vector>
  </HeadingPairs>
  <TitlesOfParts>
    <vt:vector size="33" baseType="lpstr">
      <vt:lpstr>Arial</vt:lpstr>
      <vt:lpstr>Georgia</vt:lpstr>
      <vt:lpstr>Arial Narrow</vt:lpstr>
      <vt:lpstr>Wingdings</vt:lpstr>
      <vt:lpstr>Wingdings 2</vt:lpstr>
      <vt:lpstr>Civil</vt:lpstr>
      <vt:lpstr>Imagem de bitmap</vt:lpstr>
      <vt:lpstr>Chapitre 3   Gestion et analyse du service DHCP</vt:lpstr>
      <vt:lpstr>Plan du cours</vt:lpstr>
      <vt:lpstr>1. Gestion d'une base de données DHCP</vt:lpstr>
      <vt:lpstr>Vue d'ensemble de la gestion du service DHCP</vt:lpstr>
      <vt:lpstr>Qu'est-ce qu'une base de données DHCP ?</vt:lpstr>
      <vt:lpstr>Modalités de sauvegarde et de restauration d'une base de données DHCP</vt:lpstr>
      <vt:lpstr>Comment sauvegarder et restaurer une base de données DHCP</vt:lpstr>
      <vt:lpstr>Modalités de réconciliation d'une base de données DHCP</vt:lpstr>
      <vt:lpstr>2. Analyse du service DHCP</vt:lpstr>
      <vt:lpstr>Vue d'ensemble de l'analyse du service DHCP</vt:lpstr>
      <vt:lpstr>Les statistiques DHCP</vt:lpstr>
      <vt:lpstr>Comment afficher les statistiques DHCP</vt:lpstr>
      <vt:lpstr>Qu'est-ce qu'un fichier journal d'audit DHCP ?</vt:lpstr>
      <vt:lpstr>Fonctionnement de l'enregistrement d'audit DHCP</vt:lpstr>
      <vt:lpstr>Comment analyser les performances de serveur DHCP à l'aide du journal d'audit DHCP</vt:lpstr>
      <vt:lpstr>Instructions pour analyser les performances  de serveur DHCP</vt:lpstr>
      <vt:lpstr>Compteurs de performance communément utilisés  pour analyser les performances de serveur DHCP</vt:lpstr>
      <vt:lpstr>Instructions pour créer des alertes pour un  serveur DHCP</vt:lpstr>
      <vt:lpstr>3. Application des instructions de sécurité pour le service DHCP</vt:lpstr>
      <vt:lpstr>Instructions pour empêcher un utilisateur non autorisé d'obtenir un bail</vt:lpstr>
      <vt:lpstr>Instructions pour empêcher les serveurs DHCP non autorisés, non Microsoft, de louer des adresses IP</vt:lpstr>
      <vt:lpstr>Instructions pour limiter le cercle des personnes autorisées à administrer le service DHCP</vt:lpstr>
      <vt:lpstr>Instructions pour sécuriser la base de données DHCP</vt:lpstr>
      <vt:lpstr>Exercices</vt:lpstr>
      <vt:lpstr>Exercices</vt:lpstr>
      <vt:lpstr>Custom Show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Managing and Monitoring Dynamic Host Configuration Protocol (DHCP)</dc:title>
  <dc:creator>Brenna Calnan</dc:creator>
  <cp:lastModifiedBy>Halima</cp:lastModifiedBy>
  <cp:revision>430</cp:revision>
  <dcterms:created xsi:type="dcterms:W3CDTF">2002-08-16T13:42:45Z</dcterms:created>
  <dcterms:modified xsi:type="dcterms:W3CDTF">2015-11-09T14:40:37Z</dcterms:modified>
</cp:coreProperties>
</file>