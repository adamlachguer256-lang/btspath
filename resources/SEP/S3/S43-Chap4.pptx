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140.xml" ContentType="application/vnd.openxmlformats-officedocument.presentationml.tags+xml"/>
  <Override PartName="/ppt/tags/tag151.xml" ContentType="application/vnd.openxmlformats-officedocument.presentationml.tags+xml"/>
  <Override PartName="/ppt/slideLayouts/slideLayout2.xml" ContentType="application/vnd.openxmlformats-officedocument.presentationml.slideLayout+xml"/>
  <Override PartName="/ppt/tags/tag49.xml" ContentType="application/vnd.openxmlformats-officedocument.presentationml.tags+xml"/>
  <Override PartName="/ppt/tags/tag96.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ags/tag38.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52.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145.xml" ContentType="application/vnd.openxmlformats-officedocument.presentationml.tags+xml"/>
  <Override PartName="/ppt/tags/tag30.xml" ContentType="application/vnd.openxmlformats-officedocument.presentationml.tags+xml"/>
  <Override PartName="/ppt/tags/tag134.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tags/tag112.xml" ContentType="application/vnd.openxmlformats-officedocument.presentationml.tags+xml"/>
  <Override PartName="/ppt/tags/tag123.xml" ContentType="application/vnd.openxmlformats-officedocument.presentationml.tags+xml"/>
  <Override PartName="/ppt/tags/tag141.xml" ContentType="application/vnd.openxmlformats-officedocument.presentationml.tags+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tags/tag101.xml" ContentType="application/vnd.openxmlformats-officedocument.presentationml.tags+xml"/>
  <Override PartName="/ppt/tags/tag130.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emf" ContentType="image/x-emf"/>
  <Override PartName="/ppt/tags/tag39.xml" ContentType="application/vnd.openxmlformats-officedocument.presentationml.tags+xml"/>
  <Override PartName="/ppt/tags/tag68.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ppt/tags/tag57.xml" ContentType="application/vnd.openxmlformats-officedocument.presentationml.tags+xml"/>
  <Override PartName="/ppt/tags/tag75.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17.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tags/tag82.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notesSlides/notesSlide8.xml" ContentType="application/vnd.openxmlformats-officedocument.presentationml.notesSlide+xml"/>
  <Override PartName="/ppt/tags/tag53.xml" ContentType="application/vnd.openxmlformats-officedocument.presentationml.tags+xml"/>
  <Override PartName="/ppt/tags/tag71.xml" ContentType="application/vnd.openxmlformats-officedocument.presentationml.tags+xml"/>
  <Override PartName="/ppt/tags/tag128.xml" ContentType="application/vnd.openxmlformats-officedocument.presentationml.tags+xml"/>
  <Override PartName="/ppt/comments/comment1.xml" ContentType="application/vnd.openxmlformats-officedocument.presentationml.comments+xml"/>
  <Override PartName="/ppt/tags/tag157.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31.xml" ContentType="application/vnd.openxmlformats-officedocument.presentationml.tags+xml"/>
  <Override PartName="/ppt/tags/tag42.xml" ContentType="application/vnd.openxmlformats-officedocument.presentationml.tags+xml"/>
  <Override PartName="/ppt/tags/tag60.xml" ContentType="application/vnd.openxmlformats-officedocument.presentationml.tags+xml"/>
  <Override PartName="/ppt/tags/tag117.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tags/tag20.xml" ContentType="application/vnd.openxmlformats-officedocument.presentationml.tags+xml"/>
  <Override PartName="/ppt/tags/tag106.xml" ContentType="application/vnd.openxmlformats-officedocument.presentationml.tags+xml"/>
  <Override PartName="/ppt/tags/tag124.xml" ContentType="application/vnd.openxmlformats-officedocument.presentationml.tags+xml"/>
  <Override PartName="/ppt/tags/tag142.xml" ContentType="application/vnd.openxmlformats-officedocument.presentationml.tags+xml"/>
  <Override PartName="/ppt/tags/tag153.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31.xml" ContentType="application/vnd.openxmlformats-officedocument.presentationml.tags+xml"/>
  <Override PartName="/ppt/tags/tag160.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tags/tag98.xml" ContentType="application/vnd.openxmlformats-officedocument.presentationml.tags+xml"/>
  <Override PartName="/ppt/tags/tag102.xml" ContentType="application/vnd.openxmlformats-officedocument.presentationml.tags+xml"/>
  <Override PartName="/ppt/tags/tag120.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Override PartName="/ppt/tags/tag87.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tags/tag94.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83.xml" ContentType="application/vnd.openxmlformats-officedocument.presentationml.tags+xml"/>
  <Override PartName="/ppt/notesSlides/notesSlide14.xml" ContentType="application/vnd.openxmlformats-officedocument.presentationml.notesSlide+xml"/>
  <Override PartName="/ppt/tags/tag158.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notesSlides/notesSlide9.xml" ContentType="application/vnd.openxmlformats-officedocument.presentationml.notesSlide+xml"/>
  <Override PartName="/ppt/tags/tag72.xml" ContentType="application/vnd.openxmlformats-officedocument.presentationml.tags+xml"/>
  <Override PartName="/ppt/tags/tag90.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47.xml" ContentType="application/vnd.openxmlformats-officedocument.presentationml.tags+xml"/>
  <Override PartName="/ppt/tags/tag32.xml" ContentType="application/vnd.openxmlformats-officedocument.presentationml.tags+xml"/>
  <Override PartName="/ppt/tags/tag50.xml" ContentType="application/vnd.openxmlformats-officedocument.presentationml.tags+xml"/>
  <Override PartName="/ppt/notesSlides/notesSlide10.xml" ContentType="application/vnd.openxmlformats-officedocument.presentationml.notesSlide+xml"/>
  <Override PartName="/ppt/tags/tag107.xml" ContentType="application/vnd.openxmlformats-officedocument.presentationml.tags+xml"/>
  <Override PartName="/ppt/tags/tag136.xml" ContentType="application/vnd.openxmlformats-officedocument.presentationml.tags+xml"/>
  <Override PartName="/ppt/tags/tag154.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114.xml" ContentType="application/vnd.openxmlformats-officedocument.presentationml.tags+xml"/>
  <Override PartName="/ppt/tags/tag125.xml" ContentType="application/vnd.openxmlformats-officedocument.presentationml.tags+xml"/>
  <Override PartName="/ppt/tags/tag143.xml" ContentType="application/vnd.openxmlformats-officedocument.presentationml.tags+xml"/>
  <Override PartName="/ppt/tags/tag161.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32.xml" ContentType="application/vnd.openxmlformats-officedocument.presentationml.tags+xml"/>
  <Override PartName="/ppt/tags/tag150.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notesSlides/notesSlide19.xml" ContentType="application/vnd.openxmlformats-officedocument.presentationml.notesSlide+xml"/>
  <Override PartName="/ppt/slides/slide24.xml" ContentType="application/vnd.openxmlformats-officedocument.presentationml.slide+xml"/>
  <Default Extension="jpeg" ContentType="image/jpeg"/>
  <Override PartName="/ppt/tags/tag3.xml" ContentType="application/vnd.openxmlformats-officedocument.presentationml.tags+xml"/>
  <Override PartName="/ppt/tags/tag59.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Override PartName="/ppt/slides/slide13.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notesSlides/notesSlide15.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26.xml" ContentType="application/vnd.openxmlformats-officedocument.presentationml.tags+xml"/>
  <Override PartName="/ppt/tags/tag55.xml" ContentType="application/vnd.openxmlformats-officedocument.presentationml.tags+xml"/>
  <Override PartName="/ppt/tags/tag73.xml" ContentType="application/vnd.openxmlformats-officedocument.presentationml.tags+xml"/>
  <Override PartName="/ppt/tags/tag159.xml" ContentType="application/vnd.openxmlformats-officedocument.presentationml.tags+xml"/>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tags/tag91.xml" ContentType="application/vnd.openxmlformats-officedocument.presentationml.tags+xml"/>
  <Override PartName="/ppt/tags/tag119.xml" ContentType="application/vnd.openxmlformats-officedocument.presentationml.tags+xml"/>
  <Override PartName="/ppt/tags/tag137.xml" ContentType="application/vnd.openxmlformats-officedocument.presentationml.tags+xml"/>
  <Override PartName="/ppt/tags/tag148.xml" ContentType="application/vnd.openxmlformats-officedocument.presentationml.tags+xml"/>
  <Override PartName="/ppt/tags/tag22.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51.xml" ContentType="application/vnd.openxmlformats-officedocument.presentationml.tags+xml"/>
  <Override PartName="/ppt/tags/tag108.xml" ContentType="application/vnd.openxmlformats-officedocument.presentationml.tags+xml"/>
  <Override PartName="/ppt/tags/tag126.xml" ContentType="application/vnd.openxmlformats-officedocument.presentationml.tags+xml"/>
  <Override PartName="/ppt/tags/tag155.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33.xml" ContentType="application/vnd.openxmlformats-officedocument.presentationml.tags+xml"/>
  <Override PartName="/ppt/tags/tag144.xml" ContentType="application/vnd.openxmlformats-officedocument.presentationml.tags+xml"/>
  <Override PartName="/ppt/tags/tag162.xml" ContentType="application/vnd.openxmlformats-officedocument.presentationml.tags+xml"/>
  <Override PartName="/ppt/tags/tag122.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Default Extension="fntdata" ContentType="application/x-fontdata"/>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gs/tag45.xml" ContentType="application/vnd.openxmlformats-officedocument.presentationml.tags+xml"/>
  <Override PartName="/ppt/tags/tag92.xml" ContentType="application/vnd.openxmlformats-officedocument.presentationml.tags+xml"/>
  <Override PartName="/ppt/tags/tag149.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138.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5" r:id="rId1"/>
  </p:sldMasterIdLst>
  <p:notesMasterIdLst>
    <p:notesMasterId r:id="rId26"/>
  </p:notesMasterIdLst>
  <p:handoutMasterIdLst>
    <p:handoutMasterId r:id="rId27"/>
  </p:handoutMasterIdLst>
  <p:sldIdLst>
    <p:sldId id="501" r:id="rId2"/>
    <p:sldId id="447" r:id="rId3"/>
    <p:sldId id="559" r:id="rId4"/>
    <p:sldId id="593" r:id="rId5"/>
    <p:sldId id="630" r:id="rId6"/>
    <p:sldId id="618" r:id="rId7"/>
    <p:sldId id="631" r:id="rId8"/>
    <p:sldId id="613" r:id="rId9"/>
    <p:sldId id="624" r:id="rId10"/>
    <p:sldId id="594" r:id="rId11"/>
    <p:sldId id="595" r:id="rId12"/>
    <p:sldId id="604" r:id="rId13"/>
    <p:sldId id="626" r:id="rId14"/>
    <p:sldId id="606" r:id="rId15"/>
    <p:sldId id="627" r:id="rId16"/>
    <p:sldId id="619" r:id="rId17"/>
    <p:sldId id="620" r:id="rId18"/>
    <p:sldId id="610" r:id="rId19"/>
    <p:sldId id="628" r:id="rId20"/>
    <p:sldId id="611" r:id="rId21"/>
    <p:sldId id="612" r:id="rId22"/>
    <p:sldId id="629" r:id="rId23"/>
    <p:sldId id="632" r:id="rId24"/>
    <p:sldId id="633" r:id="rId25"/>
  </p:sldIdLst>
  <p:sldSz cx="9144000" cy="6858000" type="screen4x3"/>
  <p:notesSz cx="6997700" cy="9283700"/>
  <p:embeddedFontLst>
    <p:embeddedFont>
      <p:font typeface="Arial Narrow" pitchFamily="34" charset="0"/>
      <p:regular r:id="rId28"/>
      <p:bold r:id="rId29"/>
      <p:italic r:id="rId30"/>
      <p:boldItalic r:id="rId31"/>
    </p:embeddedFont>
    <p:embeddedFont>
      <p:font typeface="Wingdings 2" pitchFamily="18" charset="2"/>
      <p:regular r:id="rId32"/>
    </p:embeddedFont>
  </p:embeddedFontLst>
  <p:defaultTextStyle>
    <a:defPPr>
      <a:defRPr lang="en-US"/>
    </a:defPPr>
    <a:lvl1pPr algn="ctr" rtl="0" eaLnBrk="0" fontAlgn="base" hangingPunct="0">
      <a:spcBef>
        <a:spcPct val="0"/>
      </a:spcBef>
      <a:spcAft>
        <a:spcPct val="0"/>
      </a:spcAft>
      <a:defRPr sz="1600"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sz="1600"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sz="1600"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sz="1600"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sz="1600" b="1" kern="1200">
        <a:solidFill>
          <a:schemeClr val="tx1"/>
        </a:solidFill>
        <a:latin typeface="Arial Narrow" pitchFamily="34" charset="0"/>
        <a:ea typeface="+mn-ea"/>
        <a:cs typeface="+mn-cs"/>
      </a:defRPr>
    </a:lvl5pPr>
    <a:lvl6pPr marL="2286000" algn="l" defTabSz="914400" rtl="0" eaLnBrk="1" latinLnBrk="0" hangingPunct="1">
      <a:defRPr sz="1600" b="1" kern="1200">
        <a:solidFill>
          <a:schemeClr val="tx1"/>
        </a:solidFill>
        <a:latin typeface="Arial Narrow" pitchFamily="34" charset="0"/>
        <a:ea typeface="+mn-ea"/>
        <a:cs typeface="+mn-cs"/>
      </a:defRPr>
    </a:lvl6pPr>
    <a:lvl7pPr marL="2743200" algn="l" defTabSz="914400" rtl="0" eaLnBrk="1" latinLnBrk="0" hangingPunct="1">
      <a:defRPr sz="1600" b="1" kern="1200">
        <a:solidFill>
          <a:schemeClr val="tx1"/>
        </a:solidFill>
        <a:latin typeface="Arial Narrow" pitchFamily="34" charset="0"/>
        <a:ea typeface="+mn-ea"/>
        <a:cs typeface="+mn-cs"/>
      </a:defRPr>
    </a:lvl7pPr>
    <a:lvl8pPr marL="3200400" algn="l" defTabSz="914400" rtl="0" eaLnBrk="1" latinLnBrk="0" hangingPunct="1">
      <a:defRPr sz="1600" b="1" kern="1200">
        <a:solidFill>
          <a:schemeClr val="tx1"/>
        </a:solidFill>
        <a:latin typeface="Arial Narrow" pitchFamily="34" charset="0"/>
        <a:ea typeface="+mn-ea"/>
        <a:cs typeface="+mn-cs"/>
      </a:defRPr>
    </a:lvl8pPr>
    <a:lvl9pPr marL="3657600" algn="l" defTabSz="914400" rtl="0" eaLnBrk="1" latinLnBrk="0" hangingPunct="1">
      <a:defRPr sz="1600"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1" name="jimcla" initials="" lastIdx="1" clrIdx="1"/>
  <p:cmAuthor id="2" name="Kelley Umphrey" initials="ku" lastIdx="47" clrIdx="2"/>
  <p:cmAuthor id="3" name="eliree" initials="" lastIdx="7" clrIdx="3"/>
  <p:cmAuthor id="4" name="Elisem" initials="" lastIdx="1" clrIdx="4"/>
  <p:cmAuthor id="5" name="Halima" initials="H" lastIdx="1" clrIdx="5"/>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333333"/>
    <a:srgbClr val="EEEFD7"/>
    <a:srgbClr val="D5D69C"/>
    <a:srgbClr val="DFE8F2"/>
    <a:srgbClr val="DEE7F1"/>
    <a:srgbClr val="ADE2A1"/>
    <a:srgbClr val="BBCDE3"/>
    <a:srgbClr val="CC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autoAdjust="0"/>
    <p:restoredTop sz="94660" autoAdjust="0"/>
  </p:normalViewPr>
  <p:slideViewPr>
    <p:cSldViewPr snapToGrid="0">
      <p:cViewPr>
        <p:scale>
          <a:sx n="70" d="100"/>
          <a:sy n="70" d="100"/>
        </p:scale>
        <p:origin x="-1578" y="-24"/>
      </p:cViewPr>
      <p:guideLst>
        <p:guide orient="horz" pos="2160"/>
        <p:guide orient="horz" pos="347"/>
        <p:guide pos="2880"/>
        <p:guide pos="669"/>
        <p:guide pos="8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5" d="100"/>
          <a:sy n="75" d="100"/>
        </p:scale>
        <p:origin x="-1380" y="72"/>
      </p:cViewPr>
      <p:guideLst>
        <p:guide orient="horz" pos="2925"/>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5" dt="2015-11-23T15:47:50.823" idx="1">
    <p:pos x="10" y="10"/>
    <p:text>ceci est un test</p:text>
  </p:cm>
</p:cmLst>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custDataLst>
              <p:tags r:id="rId2"/>
            </p:custDataLst>
          </p:nvPr>
        </p:nvSpPr>
        <p:spPr bwMode="auto">
          <a:xfrm>
            <a:off x="0" y="0"/>
            <a:ext cx="3032125" cy="465138"/>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l" defTabSz="927100" eaLnBrk="1" hangingPunct="1">
              <a:defRPr sz="1200" b="0">
                <a:latin typeface="Arial" charset="0"/>
              </a:defRPr>
            </a:lvl1pPr>
          </a:lstStyle>
          <a:p>
            <a:endParaRPr lang="en-US"/>
          </a:p>
        </p:txBody>
      </p:sp>
      <p:sp>
        <p:nvSpPr>
          <p:cNvPr id="278531" name="Rectangle 3"/>
          <p:cNvSpPr>
            <a:spLocks noGrp="1" noChangeArrowheads="1"/>
          </p:cNvSpPr>
          <p:nvPr>
            <p:ph type="dt" sz="quarter" idx="1"/>
            <p:custDataLst>
              <p:tags r:id="rId3"/>
            </p:custDataLst>
          </p:nvPr>
        </p:nvSpPr>
        <p:spPr bwMode="auto">
          <a:xfrm>
            <a:off x="3963988" y="0"/>
            <a:ext cx="3032125" cy="465138"/>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r" defTabSz="927100" eaLnBrk="1" hangingPunct="1">
              <a:defRPr sz="1200" b="0">
                <a:latin typeface="Arial" charset="0"/>
              </a:defRPr>
            </a:lvl1pPr>
          </a:lstStyle>
          <a:p>
            <a:endParaRPr lang="en-US"/>
          </a:p>
        </p:txBody>
      </p:sp>
      <p:sp>
        <p:nvSpPr>
          <p:cNvPr id="278532" name="Rectangle 4"/>
          <p:cNvSpPr>
            <a:spLocks noGrp="1" noChangeArrowheads="1"/>
          </p:cNvSpPr>
          <p:nvPr>
            <p:ph type="ftr" sz="quarter" idx="2"/>
            <p:custDataLst>
              <p:tags r:id="rId4"/>
            </p:custDataLst>
          </p:nvPr>
        </p:nvSpPr>
        <p:spPr bwMode="auto">
          <a:xfrm>
            <a:off x="0" y="8816975"/>
            <a:ext cx="3032125" cy="465138"/>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l" defTabSz="927100" eaLnBrk="1" hangingPunct="1">
              <a:defRPr sz="1200" b="0">
                <a:latin typeface="Arial" charset="0"/>
              </a:defRPr>
            </a:lvl1pPr>
          </a:lstStyle>
          <a:p>
            <a:endParaRPr lang="en-US"/>
          </a:p>
        </p:txBody>
      </p:sp>
      <p:sp>
        <p:nvSpPr>
          <p:cNvPr id="278533" name="Rectangle 5"/>
          <p:cNvSpPr>
            <a:spLocks noGrp="1" noChangeArrowheads="1"/>
          </p:cNvSpPr>
          <p:nvPr>
            <p:ph type="sldNum" sz="quarter" idx="3"/>
            <p:custDataLst>
              <p:tags r:id="rId5"/>
            </p:custDataLst>
          </p:nvPr>
        </p:nvSpPr>
        <p:spPr bwMode="auto">
          <a:xfrm>
            <a:off x="3963988" y="8816975"/>
            <a:ext cx="3032125" cy="465138"/>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r" defTabSz="927100" eaLnBrk="1" hangingPunct="1">
              <a:defRPr sz="1200" b="0">
                <a:latin typeface="Arial" charset="0"/>
              </a:defRPr>
            </a:lvl1pPr>
          </a:lstStyle>
          <a:p>
            <a:fld id="{40AE7F3B-BA7F-4291-853F-7E3B6A55351F}"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custDataLst>
              <p:tags r:id="rId2"/>
            </p:custDataLst>
          </p:nvPr>
        </p:nvSpPr>
        <p:spPr bwMode="auto">
          <a:xfrm>
            <a:off x="0" y="0"/>
            <a:ext cx="3032125" cy="465138"/>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l" defTabSz="927100" eaLnBrk="1" hangingPunct="1">
              <a:defRPr sz="1200" b="0">
                <a:latin typeface="Arial" charset="0"/>
              </a:defRPr>
            </a:lvl1pPr>
          </a:lstStyle>
          <a:p>
            <a:endParaRPr lang="en-US"/>
          </a:p>
        </p:txBody>
      </p:sp>
      <p:sp>
        <p:nvSpPr>
          <p:cNvPr id="5123" name="Rectangle 3"/>
          <p:cNvSpPr>
            <a:spLocks noGrp="1" noChangeArrowheads="1"/>
          </p:cNvSpPr>
          <p:nvPr>
            <p:ph type="dt" idx="1"/>
            <p:custDataLst>
              <p:tags r:id="rId3"/>
            </p:custDataLst>
          </p:nvPr>
        </p:nvSpPr>
        <p:spPr bwMode="auto">
          <a:xfrm>
            <a:off x="3963988" y="0"/>
            <a:ext cx="3032125" cy="465138"/>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r" defTabSz="927100"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79513" y="696913"/>
            <a:ext cx="4641850" cy="3481387"/>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custDataLst>
              <p:tags r:id="rId4"/>
            </p:custDataLst>
          </p:nvPr>
        </p:nvSpPr>
        <p:spPr bwMode="auto">
          <a:xfrm>
            <a:off x="700088" y="4410075"/>
            <a:ext cx="5597525" cy="4176713"/>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custDataLst>
              <p:tags r:id="rId5"/>
            </p:custDataLst>
          </p:nvPr>
        </p:nvSpPr>
        <p:spPr bwMode="auto">
          <a:xfrm>
            <a:off x="0" y="8816975"/>
            <a:ext cx="3032125" cy="465138"/>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l" defTabSz="927100" eaLnBrk="1" hangingPunct="1">
              <a:defRPr sz="1200" b="0">
                <a:latin typeface="Arial" charset="0"/>
              </a:defRPr>
            </a:lvl1pPr>
          </a:lstStyle>
          <a:p>
            <a:endParaRPr lang="en-US"/>
          </a:p>
        </p:txBody>
      </p:sp>
      <p:sp>
        <p:nvSpPr>
          <p:cNvPr id="5127" name="Rectangle 7"/>
          <p:cNvSpPr>
            <a:spLocks noGrp="1" noChangeArrowheads="1"/>
          </p:cNvSpPr>
          <p:nvPr>
            <p:ph type="sldNum" sz="quarter" idx="5"/>
            <p:custDataLst>
              <p:tags r:id="rId6"/>
            </p:custDataLst>
          </p:nvPr>
        </p:nvSpPr>
        <p:spPr bwMode="auto">
          <a:xfrm>
            <a:off x="3963988" y="8816975"/>
            <a:ext cx="3032125" cy="465138"/>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r" defTabSz="927100" eaLnBrk="1" hangingPunct="1">
              <a:defRPr sz="1200" b="0">
                <a:latin typeface="Arial" charset="0"/>
              </a:defRPr>
            </a:lvl1pPr>
          </a:lstStyle>
          <a:p>
            <a:fld id="{D80BEB86-07E2-471F-849C-E08BFC9C6D65}"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41.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47.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63.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69.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7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78.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8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8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98.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15.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18.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53.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5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3472E6E-34F1-42EC-9E1D-6044CF74EDD7}" type="slidenum">
              <a:rPr lang="en-US"/>
              <a:pPr/>
              <a:t>1</a:t>
            </a:fld>
            <a:endParaRPr lang="en-US"/>
          </a:p>
        </p:txBody>
      </p:sp>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5591315-5A95-4EAF-8F93-4ACE9E07EA78}" type="slidenum">
              <a:rPr lang="en-US"/>
              <a:pPr/>
              <a:t>2</a:t>
            </a:fld>
            <a:endParaRPr lang="en-US"/>
          </a:p>
        </p:txBody>
      </p:sp>
      <p:sp>
        <p:nvSpPr>
          <p:cNvPr id="471042" name="Rectangle 2"/>
          <p:cNvSpPr>
            <a:spLocks noGrp="1" noRot="1" noChangeAspect="1" noChangeArrowheads="1" noTextEdit="1"/>
          </p:cNvSpPr>
          <p:nvPr>
            <p:ph type="sldImg"/>
          </p:nvPr>
        </p:nvSpPr>
        <p:spPr>
          <a:ln/>
        </p:spPr>
      </p:sp>
      <p:sp>
        <p:nvSpPr>
          <p:cNvPr id="47104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A5F18823-BB7F-4737-AEA7-F367B1AF26B2}" type="slidenum">
              <a:rPr lang="en-US"/>
              <a:pPr/>
              <a:t>3</a:t>
            </a:fld>
            <a:endParaRPr lang="en-US"/>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12F1B3A-FC19-4F60-9F5F-B5A08C553D3C}" type="slidenum">
              <a:rPr lang="en-US"/>
              <a:pPr/>
              <a:t>4</a:t>
            </a:fld>
            <a:endParaRPr lang="en-US"/>
          </a:p>
        </p:txBody>
      </p:sp>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89C7DC0-BFD9-4808-AB94-711E762B6F91}" type="slidenum">
              <a:rPr lang="en-US"/>
              <a:pPr/>
              <a:t>6</a:t>
            </a:fld>
            <a:endParaRPr lang="en-US"/>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DC1F61F-BE41-47E7-BC69-0EE5B9131BD3}" type="slidenum">
              <a:rPr lang="en-US"/>
              <a:pPr/>
              <a:t>8</a:t>
            </a:fld>
            <a:endParaRPr lang="en-US"/>
          </a:p>
        </p:txBody>
      </p:sp>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770865A-B8FE-4D09-9CFA-453A8A390237}" type="slidenum">
              <a:rPr lang="en-US"/>
              <a:pPr/>
              <a:t>9</a:t>
            </a:fld>
            <a:endParaRPr lang="en-US"/>
          </a:p>
        </p:txBody>
      </p:sp>
      <p:sp>
        <p:nvSpPr>
          <p:cNvPr id="617474" name="Rectangle 2"/>
          <p:cNvSpPr>
            <a:spLocks noGrp="1" noRot="1" noChangeAspect="1" noChangeArrowheads="1" noTextEdit="1"/>
          </p:cNvSpPr>
          <p:nvPr>
            <p:ph type="sldImg"/>
          </p:nvPr>
        </p:nvSpPr>
        <p:spPr>
          <a:ln/>
        </p:spPr>
      </p:sp>
      <p:sp>
        <p:nvSpPr>
          <p:cNvPr id="6174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84C53B2-5E9F-4BE3-8914-62F0009EF762}" type="slidenum">
              <a:rPr lang="en-US"/>
              <a:pPr/>
              <a:t>10</a:t>
            </a:fld>
            <a:endParaRPr lang="en-US"/>
          </a:p>
        </p:txBody>
      </p:sp>
      <p:sp>
        <p:nvSpPr>
          <p:cNvPr id="557058" name="Rectangle 2"/>
          <p:cNvSpPr>
            <a:spLocks noGrp="1" noRot="1" noChangeAspec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AA11BC9-6F63-4E71-BF47-2A1BA1A3C961}" type="slidenum">
              <a:rPr lang="en-US"/>
              <a:pPr/>
              <a:t>11</a:t>
            </a:fld>
            <a:endParaRPr lang="en-US"/>
          </a:p>
        </p:txBody>
      </p:sp>
      <p:sp>
        <p:nvSpPr>
          <p:cNvPr id="540674" name="Rectangle 2"/>
          <p:cNvSpPr>
            <a:spLocks noGrp="1" noRot="1" noChangeAspect="1" noChangeArrowheads="1" noTextEdit="1"/>
          </p:cNvSpPr>
          <p:nvPr>
            <p:ph type="sldImg"/>
          </p:nvPr>
        </p:nvSpPr>
        <p:spPr>
          <a:ln/>
        </p:spPr>
      </p:sp>
      <p:sp>
        <p:nvSpPr>
          <p:cNvPr id="540675" name="Rectangle 3"/>
          <p:cNvSpPr>
            <a:spLocks noGrp="1" noChangeArrowheads="1"/>
          </p:cNvSpPr>
          <p:nvPr>
            <p:ph type="body" idx="1"/>
          </p:nvPr>
        </p:nvSpPr>
        <p:spPr/>
        <p:txBody>
          <a:bodyPr/>
          <a:lstStyle/>
          <a:p>
            <a:pPr marL="228600" indent="-228600">
              <a:lnSpc>
                <a:spcPct val="80000"/>
              </a:lnSpc>
            </a:pPr>
            <a:endParaRPr lang="en-GB"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35622C0-787F-4D04-8902-2823736F60B8}" type="slidenum">
              <a:rPr lang="en-US"/>
              <a:pPr/>
              <a:t>12</a:t>
            </a:fld>
            <a:endParaRPr lang="en-US"/>
          </a:p>
        </p:txBody>
      </p:sp>
      <p:sp>
        <p:nvSpPr>
          <p:cNvPr id="559106" name="Rectangle 2"/>
          <p:cNvSpPr>
            <a:spLocks noGrp="1" noRot="1" noChangeAspect="1" noChangeArrowheads="1" noTextEdit="1"/>
          </p:cNvSpPr>
          <p:nvPr>
            <p:ph type="sldImg"/>
          </p:nvPr>
        </p:nvSpPr>
        <p:spPr>
          <a:ln/>
        </p:spPr>
      </p:sp>
      <p:sp>
        <p:nvSpPr>
          <p:cNvPr id="559107" name="Rectangle 3"/>
          <p:cNvSpPr>
            <a:spLocks noGrp="1" noChangeArrowheads="1"/>
          </p:cNvSpPr>
          <p:nvPr>
            <p:ph type="body" idx="1"/>
          </p:nvPr>
        </p:nvSpPr>
        <p:spPr/>
        <p:txBody>
          <a:bodyPr/>
          <a:lstStyle/>
          <a:p>
            <a:pPr marL="228600" indent="-228600">
              <a:lnSpc>
                <a:spcPct val="80000"/>
              </a:lnSpc>
            </a:pPr>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05F4AFB-DEFF-47F2-BBAD-B925EB2F8B3D}" type="slidenum">
              <a:rPr lang="en-US"/>
              <a:pPr/>
              <a:t>13</a:t>
            </a:fld>
            <a:endParaRPr lang="en-US"/>
          </a:p>
        </p:txBody>
      </p:sp>
      <p:sp>
        <p:nvSpPr>
          <p:cNvPr id="618498" name="Rectangle 2"/>
          <p:cNvSpPr>
            <a:spLocks noGrp="1" noRot="1" noChangeAspect="1" noChangeArrowheads="1" noTextEdit="1"/>
          </p:cNvSpPr>
          <p:nvPr>
            <p:ph type="sldImg"/>
          </p:nvPr>
        </p:nvSpPr>
        <p:spPr>
          <a:ln/>
        </p:spPr>
      </p:sp>
      <p:sp>
        <p:nvSpPr>
          <p:cNvPr id="61849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B8A5D2B-6225-4A67-A1C4-F257BF4AB7E1}" type="slidenum">
              <a:rPr lang="en-US"/>
              <a:pPr/>
              <a:t>14</a:t>
            </a:fld>
            <a:endParaRPr lang="en-US"/>
          </a:p>
        </p:txBody>
      </p:sp>
      <p:sp>
        <p:nvSpPr>
          <p:cNvPr id="564226" name="Rectangle 2"/>
          <p:cNvSpPr>
            <a:spLocks noGrp="1" noRot="1" noChangeAspect="1" noChangeArrowheads="1" noTextEdit="1"/>
          </p:cNvSpPr>
          <p:nvPr>
            <p:ph type="sldImg"/>
          </p:nvPr>
        </p:nvSpPr>
        <p:spPr>
          <a:ln/>
        </p:spPr>
      </p:sp>
      <p:sp>
        <p:nvSpPr>
          <p:cNvPr id="564227" name="Rectangle 3"/>
          <p:cNvSpPr>
            <a:spLocks noGrp="1" noChangeArrowheads="1"/>
          </p:cNvSpPr>
          <p:nvPr>
            <p:ph type="body" idx="1"/>
          </p:nvPr>
        </p:nvSpPr>
        <p:spPr/>
        <p:txBody>
          <a:bodyPr/>
          <a:lstStyle/>
          <a:p>
            <a:pPr marL="228600" indent="-228600">
              <a:lnSpc>
                <a:spcPct val="80000"/>
              </a:lnSpc>
            </a:pPr>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8F6B991-A262-4935-AE54-00E2A6279A56}" type="slidenum">
              <a:rPr lang="en-US"/>
              <a:pPr/>
              <a:t>15</a:t>
            </a:fld>
            <a:endParaRPr lang="en-US"/>
          </a:p>
        </p:txBody>
      </p:sp>
      <p:sp>
        <p:nvSpPr>
          <p:cNvPr id="619522" name="Rectangle 2"/>
          <p:cNvSpPr>
            <a:spLocks noGrp="1" noRot="1" noChangeAspect="1" noChangeArrowheads="1" noTextEdit="1"/>
          </p:cNvSpPr>
          <p:nvPr>
            <p:ph type="sldImg"/>
          </p:nvPr>
        </p:nvSpPr>
        <p:spPr>
          <a:ln/>
        </p:spPr>
      </p:sp>
      <p:sp>
        <p:nvSpPr>
          <p:cNvPr id="6195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5BF976F-D067-4393-9DA3-4F54A237D466}" type="slidenum">
              <a:rPr lang="en-US"/>
              <a:pPr/>
              <a:t>16</a:t>
            </a:fld>
            <a:endParaRPr lang="en-US"/>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D92D845-22DE-4421-8EC4-079C4398205F}" type="slidenum">
              <a:rPr lang="en-US"/>
              <a:pPr/>
              <a:t>17</a:t>
            </a:fld>
            <a:endParaRPr lang="en-US"/>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pPr marL="228600" indent="-228600">
              <a:lnSpc>
                <a:spcPct val="80000"/>
              </a:lnSpc>
            </a:pPr>
            <a:endParaRPr lang="en-GB" b="1"/>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5B624508-7826-4E5C-A040-BDC3D6C8A69A}" type="slidenum">
              <a:rPr lang="en-US"/>
              <a:pPr/>
              <a:t>18</a:t>
            </a:fld>
            <a:endParaRPr lang="en-US"/>
          </a:p>
        </p:txBody>
      </p:sp>
      <p:sp>
        <p:nvSpPr>
          <p:cNvPr id="575490" name="Rectangle 2"/>
          <p:cNvSpPr>
            <a:spLocks noGrp="1" noRot="1" noChangeAspect="1" noChangeArrowheads="1" noTextEdit="1"/>
          </p:cNvSpPr>
          <p:nvPr>
            <p:ph type="sldImg"/>
          </p:nvPr>
        </p:nvSpPr>
        <p:spPr>
          <a:ln/>
        </p:spPr>
      </p:sp>
      <p:sp>
        <p:nvSpPr>
          <p:cNvPr id="575491" name="Rectangle 3"/>
          <p:cNvSpPr>
            <a:spLocks noGrp="1" noChangeArrowheads="1"/>
          </p:cNvSpPr>
          <p:nvPr>
            <p:ph type="body" idx="1"/>
          </p:nvPr>
        </p:nvSpPr>
        <p:spPr/>
        <p:txBody>
          <a:bodyPr/>
          <a:lstStyle/>
          <a:p>
            <a:pPr marL="228600" indent="-228600">
              <a:lnSpc>
                <a:spcPct val="80000"/>
              </a:lnSpc>
            </a:pPr>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D3CFB93-6D98-499B-825C-D624A6BC054B}" type="slidenum">
              <a:rPr lang="en-US"/>
              <a:pPr/>
              <a:t>19</a:t>
            </a:fld>
            <a:endParaRPr lang="en-US"/>
          </a:p>
        </p:txBody>
      </p:sp>
      <p:sp>
        <p:nvSpPr>
          <p:cNvPr id="620546" name="Rectangle 2"/>
          <p:cNvSpPr>
            <a:spLocks noGrp="1" noRot="1" noChangeAspect="1" noChangeArrowheads="1" noTextEdit="1"/>
          </p:cNvSpPr>
          <p:nvPr>
            <p:ph type="sldImg"/>
          </p:nvPr>
        </p:nvSpPr>
        <p:spPr>
          <a:ln/>
        </p:spPr>
      </p:sp>
      <p:sp>
        <p:nvSpPr>
          <p:cNvPr id="62054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8DA5C29-0378-4FF6-AAF6-5446D778F92F}" type="slidenum">
              <a:rPr lang="en-US"/>
              <a:pPr/>
              <a:t>20</a:t>
            </a:fld>
            <a:endParaRPr lang="en-US"/>
          </a:p>
        </p:txBody>
      </p:sp>
      <p:sp>
        <p:nvSpPr>
          <p:cNvPr id="577538" name="Rectangle 2"/>
          <p:cNvSpPr>
            <a:spLocks noGrp="1" noRot="1" noChangeAspect="1" noChangeArrowheads="1" noTextEdit="1"/>
          </p:cNvSpPr>
          <p:nvPr>
            <p:ph type="sldImg"/>
          </p:nvPr>
        </p:nvSpPr>
        <p:spPr>
          <a:ln/>
        </p:spPr>
      </p:sp>
      <p:sp>
        <p:nvSpPr>
          <p:cNvPr id="577539" name="Rectangle 3"/>
          <p:cNvSpPr>
            <a:spLocks noGrp="1" noChangeArrowheads="1"/>
          </p:cNvSpPr>
          <p:nvPr>
            <p:ph type="body" idx="1"/>
          </p:nvPr>
        </p:nvSpPr>
        <p:spPr/>
        <p:txBody>
          <a:bodyPr/>
          <a:lstStyle/>
          <a:p>
            <a:pPr marL="228600" indent="-228600">
              <a:lnSpc>
                <a:spcPct val="80000"/>
              </a:lnSpc>
            </a:pPr>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C732383-8945-4D32-BE83-DCD0B4BF3790}" type="slidenum">
              <a:rPr lang="en-US"/>
              <a:pPr/>
              <a:t>21</a:t>
            </a:fld>
            <a:endParaRPr lang="en-US"/>
          </a:p>
        </p:txBody>
      </p:sp>
      <p:sp>
        <p:nvSpPr>
          <p:cNvPr id="579586" name="Rectangle 2"/>
          <p:cNvSpPr>
            <a:spLocks noGrp="1" noRot="1" noChangeAspect="1" noChangeArrowheads="1" noTextEdit="1"/>
          </p:cNvSpPr>
          <p:nvPr>
            <p:ph type="sldImg"/>
          </p:nvPr>
        </p:nvSpPr>
        <p:spPr>
          <a:ln/>
        </p:spPr>
      </p:sp>
      <p:sp>
        <p:nvSpPr>
          <p:cNvPr id="579587" name="Rectangle 3"/>
          <p:cNvSpPr>
            <a:spLocks noGrp="1" noChangeArrowheads="1"/>
          </p:cNvSpPr>
          <p:nvPr>
            <p:ph type="body" idx="1"/>
          </p:nvPr>
        </p:nvSpPr>
        <p:spPr/>
        <p:txBody>
          <a:bodyPr/>
          <a:lstStyle/>
          <a:p>
            <a:pPr marL="228600" indent="-228600">
              <a:lnSpc>
                <a:spcPct val="80000"/>
              </a:lnSpc>
            </a:pPr>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1B7E3CC-90D3-4E9B-B758-516EE866FE1A}" type="slidenum">
              <a:rPr lang="en-US"/>
              <a:pPr/>
              <a:t>22</a:t>
            </a:fld>
            <a:endParaRPr lang="en-US"/>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11/23/2015</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11/23/2015</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11/23/2015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0263" y="1447800"/>
            <a:ext cx="3436937"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11/23/2015</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3.emf"/><Relationship Id="rId4" Type="http://schemas.openxmlformats.org/officeDocument/2006/relationships/hyperlink" Target="../animations%2043/2182A_2277A_04_A_NAME_RESOLUTION.SWF"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7.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slideLayout" Target="../slideLayouts/slideLayout2.xml"/><Relationship Id="rId3" Type="http://schemas.openxmlformats.org/officeDocument/2006/relationships/tags" Target="../tags/tag26.xml"/><Relationship Id="rId21" Type="http://schemas.openxmlformats.org/officeDocument/2006/relationships/image" Target="../media/image10.png"/><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tags" Target="../tags/tag40.xml"/><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image" Target="../media/image9.png"/><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19" Type="http://schemas.openxmlformats.org/officeDocument/2006/relationships/notesSlide" Target="../notesSlides/notesSlide6.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image" Target="../media/image14.png"/><Relationship Id="rId3" Type="http://schemas.openxmlformats.org/officeDocument/2006/relationships/tags" Target="../tags/tag50.xml"/><Relationship Id="rId21" Type="http://schemas.openxmlformats.org/officeDocument/2006/relationships/image" Target="../media/image11.png"/><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notesSlide" Target="../notesSlides/notesSlide9.xml"/><Relationship Id="rId2" Type="http://schemas.openxmlformats.org/officeDocument/2006/relationships/tags" Target="../tags/tag49.xml"/><Relationship Id="rId16" Type="http://schemas.openxmlformats.org/officeDocument/2006/relationships/slideLayout" Target="../slideLayouts/slideLayout2.xml"/><Relationship Id="rId20" Type="http://schemas.openxmlformats.org/officeDocument/2006/relationships/image" Target="../media/image10.pn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5" Type="http://schemas.openxmlformats.org/officeDocument/2006/relationships/tags" Target="../tags/tag62.xml"/><Relationship Id="rId10" Type="http://schemas.openxmlformats.org/officeDocument/2006/relationships/tags" Target="../tags/tag57.xml"/><Relationship Id="rId19" Type="http://schemas.openxmlformats.org/officeDocument/2006/relationships/image" Target="../media/image9.png"/><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66.xml"/><Relationship Id="rId7" Type="http://schemas.openxmlformats.org/officeDocument/2006/relationships/notesSlide" Target="../notesSlides/notesSlide1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Layout" Target="../slideLayouts/slideLayout2.xml"/><Relationship Id="rId11" Type="http://schemas.openxmlformats.org/officeDocument/2006/relationships/image" Target="../media/image17.png"/><Relationship Id="rId5" Type="http://schemas.openxmlformats.org/officeDocument/2006/relationships/tags" Target="../tags/tag68.xml"/><Relationship Id="rId10" Type="http://schemas.openxmlformats.org/officeDocument/2006/relationships/image" Target="../media/image16.png"/><Relationship Id="rId4" Type="http://schemas.openxmlformats.org/officeDocument/2006/relationships/tags" Target="../tags/tag67.xml"/><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75.xml"/><Relationship Id="rId7" Type="http://schemas.openxmlformats.org/officeDocument/2006/relationships/notesSlide" Target="../notesSlides/notesSlide1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4.xml"/><Relationship Id="rId5" Type="http://schemas.openxmlformats.org/officeDocument/2006/relationships/tags" Target="../tags/tag77.xml"/><Relationship Id="rId4" Type="http://schemas.openxmlformats.org/officeDocument/2006/relationships/tags" Target="../tags/tag76.xml"/><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image" Target="../media/image11.png"/><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image" Target="../media/image10.png"/><Relationship Id="rId2" Type="http://schemas.openxmlformats.org/officeDocument/2006/relationships/tags" Target="../tags/tag86.xml"/><Relationship Id="rId16" Type="http://schemas.openxmlformats.org/officeDocument/2006/relationships/image" Target="../media/image9.png"/><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5" Type="http://schemas.openxmlformats.org/officeDocument/2006/relationships/notesSlide" Target="../notesSlides/notesSlide15.xml"/><Relationship Id="rId10" Type="http://schemas.openxmlformats.org/officeDocument/2006/relationships/tags" Target="../tags/tag94.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notesSlide" Target="../notesSlides/notesSlide16.xml"/><Relationship Id="rId3" Type="http://schemas.openxmlformats.org/officeDocument/2006/relationships/tags" Target="../tags/tag101.xml"/><Relationship Id="rId21" Type="http://schemas.openxmlformats.org/officeDocument/2006/relationships/image" Target="../media/image19.png"/><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slideLayout" Target="../slideLayouts/slideLayout2.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image" Target="../media/image10.png"/><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image" Target="../media/image21.png"/><Relationship Id="rId10" Type="http://schemas.openxmlformats.org/officeDocument/2006/relationships/tags" Target="../tags/tag108.xml"/><Relationship Id="rId19" Type="http://schemas.openxmlformats.org/officeDocument/2006/relationships/image" Target="../media/image18.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image" Target="../media/image22.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26" Type="http://schemas.openxmlformats.org/officeDocument/2006/relationships/tags" Target="../tags/tag144.xml"/><Relationship Id="rId39" Type="http://schemas.openxmlformats.org/officeDocument/2006/relationships/image" Target="../media/image24.png"/><Relationship Id="rId3" Type="http://schemas.openxmlformats.org/officeDocument/2006/relationships/tags" Target="../tags/tag121.xml"/><Relationship Id="rId21" Type="http://schemas.openxmlformats.org/officeDocument/2006/relationships/tags" Target="../tags/tag139.xml"/><Relationship Id="rId34" Type="http://schemas.openxmlformats.org/officeDocument/2006/relationships/tags" Target="../tags/tag152.xml"/><Relationship Id="rId42" Type="http://schemas.openxmlformats.org/officeDocument/2006/relationships/image" Target="../media/image27.png"/><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5" Type="http://schemas.openxmlformats.org/officeDocument/2006/relationships/tags" Target="../tags/tag143.xml"/><Relationship Id="rId33" Type="http://schemas.openxmlformats.org/officeDocument/2006/relationships/tags" Target="../tags/tag151.xml"/><Relationship Id="rId38" Type="http://schemas.openxmlformats.org/officeDocument/2006/relationships/image" Target="../media/image5.png"/><Relationship Id="rId46" Type="http://schemas.openxmlformats.org/officeDocument/2006/relationships/comments" Target="../comments/comment1.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29" Type="http://schemas.openxmlformats.org/officeDocument/2006/relationships/tags" Target="../tags/tag147.xml"/><Relationship Id="rId41" Type="http://schemas.openxmlformats.org/officeDocument/2006/relationships/image" Target="../media/image26.png"/><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24" Type="http://schemas.openxmlformats.org/officeDocument/2006/relationships/tags" Target="../tags/tag142.xml"/><Relationship Id="rId32" Type="http://schemas.openxmlformats.org/officeDocument/2006/relationships/tags" Target="../tags/tag150.xml"/><Relationship Id="rId37" Type="http://schemas.openxmlformats.org/officeDocument/2006/relationships/image" Target="../media/image23.png"/><Relationship Id="rId40" Type="http://schemas.openxmlformats.org/officeDocument/2006/relationships/image" Target="../media/image25.png"/><Relationship Id="rId45" Type="http://schemas.openxmlformats.org/officeDocument/2006/relationships/image" Target="../media/image30.png"/><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tags" Target="../tags/tag141.xml"/><Relationship Id="rId28" Type="http://schemas.openxmlformats.org/officeDocument/2006/relationships/tags" Target="../tags/tag146.xml"/><Relationship Id="rId36" Type="http://schemas.openxmlformats.org/officeDocument/2006/relationships/notesSlide" Target="../notesSlides/notesSlide18.xml"/><Relationship Id="rId10" Type="http://schemas.openxmlformats.org/officeDocument/2006/relationships/tags" Target="../tags/tag128.xml"/><Relationship Id="rId19" Type="http://schemas.openxmlformats.org/officeDocument/2006/relationships/tags" Target="../tags/tag137.xml"/><Relationship Id="rId31" Type="http://schemas.openxmlformats.org/officeDocument/2006/relationships/tags" Target="../tags/tag149.xml"/><Relationship Id="rId44" Type="http://schemas.openxmlformats.org/officeDocument/2006/relationships/image" Target="../media/image29.png"/><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tags" Target="../tags/tag140.xml"/><Relationship Id="rId27" Type="http://schemas.openxmlformats.org/officeDocument/2006/relationships/tags" Target="../tags/tag145.xml"/><Relationship Id="rId30" Type="http://schemas.openxmlformats.org/officeDocument/2006/relationships/tags" Target="../tags/tag148.xml"/><Relationship Id="rId35" Type="http://schemas.openxmlformats.org/officeDocument/2006/relationships/slideLayout" Target="../slideLayouts/slideLayout4.xml"/><Relationship Id="rId43"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56.xml"/><Relationship Id="rId7" Type="http://schemas.openxmlformats.org/officeDocument/2006/relationships/notesSlide" Target="../notesSlides/notesSlide19.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slideLayout" Target="../slideLayouts/slideLayout4.xml"/><Relationship Id="rId5" Type="http://schemas.openxmlformats.org/officeDocument/2006/relationships/tags" Target="../tags/tag158.xml"/><Relationship Id="rId4" Type="http://schemas.openxmlformats.org/officeDocument/2006/relationships/tags" Target="../tags/tag157.xml"/><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custDataLst>
              <p:tags r:id="rId1"/>
            </p:custDataLst>
          </p:nvPr>
        </p:nvSpPr>
        <p:spPr>
          <a:xfrm>
            <a:off x="848044" y="2238231"/>
            <a:ext cx="7436144" cy="2906975"/>
          </a:xfrm>
          <a:noFill/>
          <a:ln/>
        </p:spPr>
        <p:txBody>
          <a:bodyPr lIns="90488" tIns="44450" rIns="90488" bIns="44450">
            <a:normAutofit/>
          </a:bodyPr>
          <a:lstStyle/>
          <a:p>
            <a:pPr algn="ctr">
              <a:lnSpc>
                <a:spcPct val="150000"/>
              </a:lnSpc>
            </a:pPr>
            <a:r>
              <a:rPr lang="en-GB" sz="5000" b="1" dirty="0" err="1" smtClean="0">
                <a:solidFill>
                  <a:srgbClr val="000000"/>
                </a:solidFill>
              </a:rPr>
              <a:t>Chapitre</a:t>
            </a:r>
            <a:r>
              <a:rPr lang="en-GB" sz="5000" b="1" dirty="0" smtClean="0">
                <a:solidFill>
                  <a:srgbClr val="000000"/>
                </a:solidFill>
              </a:rPr>
              <a:t> 4 </a:t>
            </a:r>
            <a:r>
              <a:rPr lang="en-US" sz="5000" b="1" dirty="0" smtClean="0"/>
              <a:t> </a:t>
            </a:r>
            <a:r>
              <a:rPr lang="en-US" sz="5000" b="1" dirty="0"/>
              <a:t/>
            </a:r>
            <a:br>
              <a:rPr lang="en-US" sz="5000" b="1" dirty="0"/>
            </a:br>
            <a:r>
              <a:rPr lang="en-GB" sz="5000" b="1" dirty="0" err="1">
                <a:solidFill>
                  <a:srgbClr val="000000"/>
                </a:solidFill>
              </a:rPr>
              <a:t>Résolution</a:t>
            </a:r>
            <a:r>
              <a:rPr lang="en-GB" sz="5000" b="1" dirty="0">
                <a:solidFill>
                  <a:srgbClr val="000000"/>
                </a:solidFill>
              </a:rPr>
              <a:t> de </a:t>
            </a:r>
            <a:r>
              <a:rPr lang="en-GB" sz="5000" b="1" dirty="0" err="1">
                <a:solidFill>
                  <a:srgbClr val="000000"/>
                </a:solidFill>
              </a:rPr>
              <a:t>noms</a:t>
            </a:r>
            <a:endParaRPr lang="en-US" sz="5000" b="1" dirty="0">
              <a:solidFill>
                <a:srgbClr val="000000"/>
              </a:solidFill>
            </a:endParaRPr>
          </a:p>
        </p:txBody>
      </p:sp>
      <p:sp>
        <p:nvSpPr>
          <p:cNvPr id="4" name="Rectangle 3"/>
          <p:cNvSpPr/>
          <p:nvPr/>
        </p:nvSpPr>
        <p:spPr>
          <a:xfrm>
            <a:off x="2807463" y="255267"/>
            <a:ext cx="3593341" cy="830997"/>
          </a:xfrm>
          <a:prstGeom prst="rect">
            <a:avLst/>
          </a:prstGeom>
        </p:spPr>
        <p:txBody>
          <a:bodyPr wrap="square">
            <a:spAutoFit/>
          </a:bodyPr>
          <a:lstStyle/>
          <a:p>
            <a:r>
              <a:rPr lang="en-GB" sz="4800" dirty="0" smtClean="0">
                <a:solidFill>
                  <a:srgbClr val="000000"/>
                </a:solidFill>
              </a:rPr>
              <a:t>Module S43</a:t>
            </a:r>
            <a:endParaRPr lang="fr-FR" sz="48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custDataLst>
              <p:tags r:id="rId1"/>
            </p:custDataLst>
          </p:nvPr>
        </p:nvSpPr>
        <p:spPr/>
        <p:txBody>
          <a:bodyPr/>
          <a:lstStyle/>
          <a:p>
            <a:r>
              <a:rPr lang="en-GB" dirty="0" smtClean="0">
                <a:solidFill>
                  <a:srgbClr val="000000"/>
                </a:solidFill>
              </a:rPr>
              <a:t>Plan du </a:t>
            </a:r>
            <a:r>
              <a:rPr lang="en-GB" dirty="0" err="1" smtClean="0">
                <a:solidFill>
                  <a:srgbClr val="000000"/>
                </a:solidFill>
              </a:rPr>
              <a:t>cours</a:t>
            </a:r>
            <a:endParaRPr lang="en-US" dirty="0"/>
          </a:p>
        </p:txBody>
      </p:sp>
      <p:sp>
        <p:nvSpPr>
          <p:cNvPr id="325635" name="Rectangle 3"/>
          <p:cNvSpPr>
            <a:spLocks noGrp="1" noChangeArrowheads="1"/>
          </p:cNvSpPr>
          <p:nvPr>
            <p:ph sz="quarter" idx="1"/>
            <p:custDataLst>
              <p:tags r:id="rId2"/>
            </p:custDataLst>
          </p:nvPr>
        </p:nvSpPr>
        <p:spPr>
          <a:xfrm>
            <a:off x="272723" y="1903769"/>
            <a:ext cx="8503920" cy="3882881"/>
          </a:xfrm>
        </p:spPr>
        <p:txBody>
          <a:bodyPr>
            <a:noAutofit/>
          </a:bodyPr>
          <a:lstStyle/>
          <a:p>
            <a:pPr marL="514350" indent="-514350">
              <a:buClrTx/>
              <a:buFont typeface="+mj-lt"/>
              <a:buAutoNum type="arabicPeriod"/>
            </a:pPr>
            <a:r>
              <a:rPr lang="en-GB" sz="3000" b="1" dirty="0" smtClean="0">
                <a:solidFill>
                  <a:srgbClr val="000000"/>
                </a:solidFill>
              </a:rPr>
              <a:t>Introduction </a:t>
            </a:r>
            <a:r>
              <a:rPr lang="en-GB" sz="3000" b="1" dirty="0">
                <a:solidFill>
                  <a:srgbClr val="000000"/>
                </a:solidFill>
              </a:rPr>
              <a:t>au </a:t>
            </a:r>
            <a:r>
              <a:rPr lang="en-GB" sz="3000" b="1" dirty="0" err="1">
                <a:solidFill>
                  <a:srgbClr val="000000"/>
                </a:solidFill>
              </a:rPr>
              <a:t>processus</a:t>
            </a:r>
            <a:r>
              <a:rPr lang="en-GB" sz="3000" b="1" dirty="0">
                <a:solidFill>
                  <a:srgbClr val="000000"/>
                </a:solidFill>
              </a:rPr>
              <a:t> de </a:t>
            </a:r>
            <a:r>
              <a:rPr lang="en-GB" sz="3000" b="1" dirty="0" err="1">
                <a:solidFill>
                  <a:srgbClr val="000000"/>
                </a:solidFill>
              </a:rPr>
              <a:t>résolution</a:t>
            </a:r>
            <a:r>
              <a:rPr lang="en-GB" sz="3000" b="1" dirty="0">
                <a:solidFill>
                  <a:srgbClr val="000000"/>
                </a:solidFill>
              </a:rPr>
              <a:t> de </a:t>
            </a:r>
            <a:r>
              <a:rPr lang="en-GB" sz="3000" b="1" dirty="0" err="1">
                <a:solidFill>
                  <a:srgbClr val="000000"/>
                </a:solidFill>
              </a:rPr>
              <a:t>noms</a:t>
            </a:r>
            <a:endParaRPr lang="en-US" sz="3000" b="1" dirty="0"/>
          </a:p>
          <a:p>
            <a:pPr marL="514350" indent="-514350">
              <a:buClrTx/>
              <a:buFont typeface="+mj-lt"/>
              <a:buAutoNum type="arabicPeriod"/>
            </a:pPr>
            <a:r>
              <a:rPr lang="en-GB" sz="3000" b="1" dirty="0" err="1">
                <a:solidFill>
                  <a:srgbClr val="000000"/>
                </a:solidFill>
              </a:rPr>
              <a:t>Affichage</a:t>
            </a:r>
            <a:r>
              <a:rPr lang="en-GB" sz="3000" b="1" dirty="0">
                <a:solidFill>
                  <a:srgbClr val="000000"/>
                </a:solidFill>
              </a:rPr>
              <a:t> de </a:t>
            </a:r>
            <a:r>
              <a:rPr lang="en-GB" sz="3000" b="1" dirty="0" err="1">
                <a:solidFill>
                  <a:srgbClr val="000000"/>
                </a:solidFill>
              </a:rPr>
              <a:t>noms</a:t>
            </a:r>
            <a:r>
              <a:rPr lang="en-GB" sz="3000" b="1" dirty="0">
                <a:solidFill>
                  <a:srgbClr val="000000"/>
                </a:solidFill>
              </a:rPr>
              <a:t> </a:t>
            </a:r>
            <a:r>
              <a:rPr lang="en-GB" sz="3000" b="1" dirty="0" err="1">
                <a:solidFill>
                  <a:srgbClr val="000000"/>
                </a:solidFill>
              </a:rPr>
              <a:t>sur</a:t>
            </a:r>
            <a:r>
              <a:rPr lang="en-GB" sz="3000" b="1" dirty="0">
                <a:solidFill>
                  <a:srgbClr val="000000"/>
                </a:solidFill>
              </a:rPr>
              <a:t> un client</a:t>
            </a:r>
            <a:endParaRPr lang="en-US" sz="3000" b="1" dirty="0"/>
          </a:p>
          <a:p>
            <a:pPr marL="514350" indent="-514350">
              <a:buClrTx/>
              <a:buFont typeface="+mj-lt"/>
              <a:buAutoNum type="arabicPeriod"/>
            </a:pPr>
            <a:r>
              <a:rPr lang="en-GB" sz="3000" b="1" dirty="0">
                <a:solidFill>
                  <a:srgbClr val="000000"/>
                </a:solidFill>
              </a:rPr>
              <a:t>Configuration de la </a:t>
            </a:r>
            <a:r>
              <a:rPr lang="en-GB" sz="3000" b="1" dirty="0" err="1">
                <a:solidFill>
                  <a:srgbClr val="000000"/>
                </a:solidFill>
              </a:rPr>
              <a:t>résolution</a:t>
            </a:r>
            <a:r>
              <a:rPr lang="en-GB" sz="3000" b="1" dirty="0">
                <a:solidFill>
                  <a:srgbClr val="000000"/>
                </a:solidFill>
              </a:rPr>
              <a:t> de </a:t>
            </a:r>
            <a:r>
              <a:rPr lang="en-GB" sz="3000" b="1" dirty="0" err="1">
                <a:solidFill>
                  <a:srgbClr val="000000"/>
                </a:solidFill>
              </a:rPr>
              <a:t>noms</a:t>
            </a:r>
            <a:r>
              <a:rPr lang="en-GB" sz="3000" b="1" dirty="0">
                <a:solidFill>
                  <a:srgbClr val="000000"/>
                </a:solidFill>
              </a:rPr>
              <a:t> </a:t>
            </a:r>
            <a:r>
              <a:rPr lang="en-GB" sz="3000" b="1" dirty="0" err="1">
                <a:solidFill>
                  <a:srgbClr val="000000"/>
                </a:solidFill>
              </a:rPr>
              <a:t>d'hôtes</a:t>
            </a:r>
            <a:endParaRPr lang="en-US" sz="3000" b="1" dirty="0"/>
          </a:p>
          <a:p>
            <a:pPr marL="514350" indent="-514350">
              <a:buClrTx/>
              <a:buFont typeface="+mj-lt"/>
              <a:buAutoNum type="arabicPeriod"/>
            </a:pPr>
            <a:r>
              <a:rPr lang="en-GB" sz="3000" b="1" dirty="0">
                <a:solidFill>
                  <a:srgbClr val="000000"/>
                </a:solidFill>
              </a:rPr>
              <a:t>Configuration de la </a:t>
            </a:r>
            <a:r>
              <a:rPr lang="en-GB" sz="3000" b="1" dirty="0" err="1">
                <a:solidFill>
                  <a:srgbClr val="000000"/>
                </a:solidFill>
              </a:rPr>
              <a:t>résolution</a:t>
            </a:r>
            <a:r>
              <a:rPr lang="en-GB" sz="3000" b="1" dirty="0">
                <a:solidFill>
                  <a:srgbClr val="000000"/>
                </a:solidFill>
              </a:rPr>
              <a:t> de </a:t>
            </a:r>
            <a:r>
              <a:rPr lang="en-GB" sz="3000" b="1" dirty="0" err="1">
                <a:solidFill>
                  <a:srgbClr val="000000"/>
                </a:solidFill>
              </a:rPr>
              <a:t>noms</a:t>
            </a:r>
            <a:r>
              <a:rPr lang="en-GB" sz="3000" b="1" dirty="0">
                <a:solidFill>
                  <a:srgbClr val="000000"/>
                </a:solidFill>
              </a:rPr>
              <a:t> NetBIOS</a:t>
            </a:r>
            <a:endParaRPr lang="en-US" sz="3000" b="1"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custDataLst>
              <p:tags r:id="rId1"/>
            </p:custDataLst>
          </p:nvPr>
        </p:nvSpPr>
        <p:spPr>
          <a:xfrm>
            <a:off x="304800" y="290284"/>
            <a:ext cx="8548914" cy="899885"/>
          </a:xfrm>
        </p:spPr>
        <p:txBody>
          <a:bodyPr>
            <a:noAutofit/>
          </a:bodyPr>
          <a:lstStyle/>
          <a:p>
            <a:r>
              <a:rPr lang="en-GB" sz="3200" dirty="0" smtClean="0">
                <a:solidFill>
                  <a:srgbClr val="000000"/>
                </a:solidFill>
              </a:rPr>
              <a:t>1. Introduction </a:t>
            </a:r>
            <a:r>
              <a:rPr lang="en-GB" sz="3200" dirty="0">
                <a:solidFill>
                  <a:srgbClr val="000000"/>
                </a:solidFill>
              </a:rPr>
              <a:t>au </a:t>
            </a:r>
            <a:r>
              <a:rPr lang="en-GB" sz="3200" dirty="0" err="1">
                <a:solidFill>
                  <a:srgbClr val="000000"/>
                </a:solidFill>
              </a:rPr>
              <a:t>processus</a:t>
            </a:r>
            <a:r>
              <a:rPr lang="en-GB" sz="3200" dirty="0">
                <a:solidFill>
                  <a:srgbClr val="000000"/>
                </a:solidFill>
              </a:rPr>
              <a:t> de </a:t>
            </a:r>
            <a:r>
              <a:rPr lang="en-GB" sz="3200" dirty="0" err="1">
                <a:solidFill>
                  <a:srgbClr val="000000"/>
                </a:solidFill>
              </a:rPr>
              <a:t>résolution</a:t>
            </a:r>
            <a:r>
              <a:rPr lang="en-GB" sz="3200" dirty="0">
                <a:solidFill>
                  <a:srgbClr val="000000"/>
                </a:solidFill>
              </a:rPr>
              <a:t> de </a:t>
            </a:r>
            <a:r>
              <a:rPr lang="en-GB" sz="3200" dirty="0" err="1">
                <a:solidFill>
                  <a:srgbClr val="000000"/>
                </a:solidFill>
              </a:rPr>
              <a:t>noms</a:t>
            </a:r>
            <a:endParaRPr lang="en-US" sz="3200" dirty="0">
              <a:solidFill>
                <a:srgbClr val="000000"/>
              </a:solidFill>
            </a:endParaRPr>
          </a:p>
        </p:txBody>
      </p:sp>
      <p:pic>
        <p:nvPicPr>
          <p:cNvPr id="484358" name="Picture 6" descr="media icon">
            <a:hlinkClick r:id="rId4" action="ppaction://hlinkfile"/>
          </p:cNvPr>
          <p:cNvPicPr>
            <a:picLocks noChangeAspect="1" noChangeArrowheads="1"/>
          </p:cNvPicPr>
          <p:nvPr/>
        </p:nvPicPr>
        <p:blipFill>
          <a:blip r:embed="rId5"/>
          <a:srcRect/>
          <a:stretch>
            <a:fillRect/>
          </a:stretch>
        </p:blipFill>
        <p:spPr bwMode="auto">
          <a:xfrm>
            <a:off x="2911181" y="2586901"/>
            <a:ext cx="3342566" cy="160296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custDataLst>
              <p:tags r:id="rId1"/>
            </p:custDataLst>
          </p:nvPr>
        </p:nvSpPr>
        <p:spPr/>
        <p:txBody>
          <a:bodyPr/>
          <a:lstStyle/>
          <a:p>
            <a:pPr marL="460375" indent="-460375"/>
            <a:r>
              <a:rPr lang="fr-FR" dirty="0" smtClean="0">
                <a:solidFill>
                  <a:srgbClr val="000000"/>
                </a:solidFill>
              </a:rPr>
              <a:t>2. </a:t>
            </a:r>
            <a:r>
              <a:rPr lang="en-GB" dirty="0" err="1" smtClean="0">
                <a:solidFill>
                  <a:srgbClr val="000000"/>
                </a:solidFill>
              </a:rPr>
              <a:t>Affichage</a:t>
            </a:r>
            <a:r>
              <a:rPr lang="en-GB" dirty="0" smtClean="0">
                <a:solidFill>
                  <a:srgbClr val="000000"/>
                </a:solidFill>
              </a:rPr>
              <a:t> </a:t>
            </a:r>
            <a:r>
              <a:rPr lang="en-GB" dirty="0">
                <a:solidFill>
                  <a:srgbClr val="000000"/>
                </a:solidFill>
              </a:rPr>
              <a:t>de </a:t>
            </a:r>
            <a:r>
              <a:rPr lang="en-GB" dirty="0" err="1">
                <a:solidFill>
                  <a:srgbClr val="000000"/>
                </a:solidFill>
              </a:rPr>
              <a:t>noms</a:t>
            </a:r>
            <a:r>
              <a:rPr lang="en-GB" dirty="0">
                <a:solidFill>
                  <a:srgbClr val="000000"/>
                </a:solidFill>
              </a:rPr>
              <a:t> </a:t>
            </a:r>
            <a:r>
              <a:rPr lang="en-GB" dirty="0" err="1">
                <a:solidFill>
                  <a:srgbClr val="000000"/>
                </a:solidFill>
              </a:rPr>
              <a:t>sur</a:t>
            </a:r>
            <a:r>
              <a:rPr lang="en-GB" dirty="0">
                <a:solidFill>
                  <a:srgbClr val="000000"/>
                </a:solidFill>
              </a:rPr>
              <a:t> un client</a:t>
            </a:r>
            <a:endParaRPr lang="en-US" dirty="0">
              <a:solidFill>
                <a:srgbClr val="000000"/>
              </a:solidFill>
            </a:endParaRPr>
          </a:p>
        </p:txBody>
      </p:sp>
      <p:sp>
        <p:nvSpPr>
          <p:cNvPr id="537603" name="Rectangle 3"/>
          <p:cNvSpPr>
            <a:spLocks noGrp="1" noChangeArrowheads="1"/>
          </p:cNvSpPr>
          <p:nvPr>
            <p:ph sz="quarter" idx="1"/>
            <p:custDataLst>
              <p:tags r:id="rId2"/>
            </p:custDataLst>
          </p:nvPr>
        </p:nvSpPr>
        <p:spPr>
          <a:xfrm>
            <a:off x="503004" y="2002987"/>
            <a:ext cx="8149677" cy="3155867"/>
          </a:xfrm>
        </p:spPr>
        <p:txBody>
          <a:bodyPr>
            <a:normAutofit/>
          </a:bodyPr>
          <a:lstStyle/>
          <a:p>
            <a:pPr>
              <a:buClr>
                <a:schemeClr val="tx1"/>
              </a:buClr>
              <a:buFont typeface="Symbol" pitchFamily="18" charset="2"/>
              <a:buChar char="®"/>
            </a:pPr>
            <a:r>
              <a:rPr lang="en-GB" b="1" dirty="0">
                <a:solidFill>
                  <a:srgbClr val="000000"/>
                </a:solidFill>
              </a:rPr>
              <a:t>Comment les </a:t>
            </a:r>
            <a:r>
              <a:rPr lang="en-GB" b="1" dirty="0" err="1">
                <a:solidFill>
                  <a:srgbClr val="000000"/>
                </a:solidFill>
              </a:rPr>
              <a:t>noms</a:t>
            </a:r>
            <a:r>
              <a:rPr lang="en-GB" b="1" dirty="0">
                <a:solidFill>
                  <a:srgbClr val="000000"/>
                </a:solidFill>
              </a:rPr>
              <a:t> </a:t>
            </a:r>
            <a:r>
              <a:rPr lang="en-GB" b="1" dirty="0" err="1">
                <a:solidFill>
                  <a:srgbClr val="000000"/>
                </a:solidFill>
              </a:rPr>
              <a:t>sont</a:t>
            </a:r>
            <a:r>
              <a:rPr lang="en-GB" b="1" dirty="0">
                <a:solidFill>
                  <a:srgbClr val="000000"/>
                </a:solidFill>
              </a:rPr>
              <a:t> </a:t>
            </a:r>
            <a:r>
              <a:rPr lang="en-GB" b="1" dirty="0" err="1">
                <a:solidFill>
                  <a:srgbClr val="000000"/>
                </a:solidFill>
              </a:rPr>
              <a:t>mappés</a:t>
            </a:r>
            <a:r>
              <a:rPr lang="en-GB" b="1" dirty="0">
                <a:solidFill>
                  <a:srgbClr val="000000"/>
                </a:solidFill>
              </a:rPr>
              <a:t> à des </a:t>
            </a:r>
            <a:r>
              <a:rPr lang="en-GB" b="1" dirty="0" err="1">
                <a:solidFill>
                  <a:srgbClr val="000000"/>
                </a:solidFill>
              </a:rPr>
              <a:t>adresses</a:t>
            </a:r>
            <a:r>
              <a:rPr lang="en-GB" b="1" dirty="0">
                <a:solidFill>
                  <a:srgbClr val="000000"/>
                </a:solidFill>
              </a:rPr>
              <a:t> IP</a:t>
            </a:r>
            <a:endParaRPr lang="en-US" b="1" dirty="0"/>
          </a:p>
          <a:p>
            <a:pPr>
              <a:buClr>
                <a:schemeClr val="tx1"/>
              </a:buClr>
              <a:buFont typeface="Symbol" pitchFamily="18" charset="2"/>
              <a:buChar char="®"/>
            </a:pPr>
            <a:r>
              <a:rPr lang="en-GB" b="1" dirty="0" err="1" smtClean="0">
                <a:solidFill>
                  <a:srgbClr val="000000"/>
                </a:solidFill>
              </a:rPr>
              <a:t>C’est</a:t>
            </a:r>
            <a:r>
              <a:rPr lang="en-GB" b="1" dirty="0" smtClean="0">
                <a:solidFill>
                  <a:srgbClr val="000000"/>
                </a:solidFill>
              </a:rPr>
              <a:t> quoi un nom d'hôte </a:t>
            </a:r>
            <a:r>
              <a:rPr lang="en-GB" b="1" dirty="0">
                <a:solidFill>
                  <a:srgbClr val="000000"/>
                </a:solidFill>
              </a:rPr>
              <a:t>?</a:t>
            </a:r>
            <a:endParaRPr lang="en-US" b="1" dirty="0"/>
          </a:p>
          <a:p>
            <a:pPr>
              <a:buClr>
                <a:schemeClr val="tx1"/>
              </a:buClr>
              <a:buFont typeface="Symbol" pitchFamily="18" charset="2"/>
              <a:buChar char="®"/>
            </a:pPr>
            <a:r>
              <a:rPr lang="en-GB" b="1" dirty="0" err="1" smtClean="0">
                <a:solidFill>
                  <a:srgbClr val="000000"/>
                </a:solidFill>
              </a:rPr>
              <a:t>C’est</a:t>
            </a:r>
            <a:r>
              <a:rPr lang="en-GB" b="1" dirty="0" smtClean="0">
                <a:solidFill>
                  <a:srgbClr val="000000"/>
                </a:solidFill>
              </a:rPr>
              <a:t> quoi un nom </a:t>
            </a:r>
            <a:r>
              <a:rPr lang="en-GB" b="1" dirty="0">
                <a:solidFill>
                  <a:srgbClr val="000000"/>
                </a:solidFill>
              </a:rPr>
              <a:t>NetBIOS ?</a:t>
            </a:r>
            <a:endParaRPr lang="en-US" b="1" dirty="0"/>
          </a:p>
          <a:p>
            <a:pPr>
              <a:buClr>
                <a:schemeClr val="tx1"/>
              </a:buClr>
              <a:buFont typeface="Symbol" pitchFamily="18" charset="2"/>
              <a:buChar char="®"/>
            </a:pPr>
            <a:r>
              <a:rPr lang="en-GB" b="1" dirty="0">
                <a:solidFill>
                  <a:srgbClr val="000000"/>
                </a:solidFill>
              </a:rPr>
              <a:t>Comment </a:t>
            </a:r>
            <a:r>
              <a:rPr lang="en-GB" b="1" dirty="0" err="1">
                <a:solidFill>
                  <a:srgbClr val="000000"/>
                </a:solidFill>
              </a:rPr>
              <a:t>afficher</a:t>
            </a:r>
            <a:r>
              <a:rPr lang="en-GB" b="1" dirty="0">
                <a:solidFill>
                  <a:srgbClr val="000000"/>
                </a:solidFill>
              </a:rPr>
              <a:t> les </a:t>
            </a:r>
            <a:r>
              <a:rPr lang="en-GB" b="1" dirty="0" err="1">
                <a:solidFill>
                  <a:srgbClr val="000000"/>
                </a:solidFill>
              </a:rPr>
              <a:t>noms</a:t>
            </a:r>
            <a:r>
              <a:rPr lang="en-GB" b="1" dirty="0">
                <a:solidFill>
                  <a:srgbClr val="000000"/>
                </a:solidFill>
              </a:rPr>
              <a:t> </a:t>
            </a:r>
            <a:r>
              <a:rPr lang="en-GB" b="1" dirty="0" err="1">
                <a:solidFill>
                  <a:srgbClr val="000000"/>
                </a:solidFill>
              </a:rPr>
              <a:t>sur</a:t>
            </a:r>
            <a:r>
              <a:rPr lang="en-GB" b="1" dirty="0">
                <a:solidFill>
                  <a:srgbClr val="000000"/>
                </a:solidFill>
              </a:rPr>
              <a:t> un </a:t>
            </a:r>
            <a:r>
              <a:rPr lang="en-GB" b="1" dirty="0" smtClean="0">
                <a:solidFill>
                  <a:srgbClr val="000000"/>
                </a:solidFill>
              </a:rPr>
              <a:t>client?</a:t>
            </a:r>
            <a:endParaRPr lang="en-US" b="1" dirty="0">
              <a:solidFill>
                <a:srgbClr val="0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01752" y="1527048"/>
            <a:ext cx="8623884" cy="2062313"/>
          </a:xfrm>
        </p:spPr>
        <p:txBody>
          <a:bodyPr>
            <a:normAutofit/>
          </a:bodyPr>
          <a:lstStyle/>
          <a:p>
            <a:r>
              <a:rPr lang="fr-FR" sz="2400" dirty="0" smtClean="0"/>
              <a:t>C’est le composants de gauche d’un nom DNS</a:t>
            </a:r>
          </a:p>
          <a:p>
            <a:r>
              <a:rPr lang="fr-FR" sz="2400" dirty="0" smtClean="0"/>
              <a:t>Il identifie un hôte (un ordinateur, une ressource) sur le réseau</a:t>
            </a:r>
          </a:p>
          <a:p>
            <a:r>
              <a:rPr lang="fr-FR" sz="2400" dirty="0" smtClean="0"/>
              <a:t>Il peut être utilisé sur Internet ou sur Intranet</a:t>
            </a:r>
            <a:endParaRPr lang="fr-FR" sz="2400" dirty="0"/>
          </a:p>
        </p:txBody>
      </p:sp>
      <p:pic>
        <p:nvPicPr>
          <p:cNvPr id="1027" name="Picture 3"/>
          <p:cNvPicPr>
            <a:picLocks noChangeAspect="1" noChangeArrowheads="1"/>
          </p:cNvPicPr>
          <p:nvPr/>
        </p:nvPicPr>
        <p:blipFill>
          <a:blip r:embed="rId3"/>
          <a:srcRect l="30343" t="33209" r="22458" b="33769"/>
          <a:stretch>
            <a:fillRect/>
          </a:stretch>
        </p:blipFill>
        <p:spPr bwMode="auto">
          <a:xfrm>
            <a:off x="341197" y="3350522"/>
            <a:ext cx="8463154" cy="3343702"/>
          </a:xfrm>
          <a:prstGeom prst="rect">
            <a:avLst/>
          </a:prstGeom>
          <a:noFill/>
          <a:ln w="9525">
            <a:noFill/>
            <a:miter lim="800000"/>
            <a:headEnd/>
            <a:tailEnd/>
          </a:ln>
          <a:effectLst/>
        </p:spPr>
      </p:pic>
      <p:sp>
        <p:nvSpPr>
          <p:cNvPr id="6" name="Rectangle 2"/>
          <p:cNvSpPr>
            <a:spLocks noGrp="1" noChangeArrowheads="1"/>
          </p:cNvSpPr>
          <p:nvPr>
            <p:ph type="title"/>
            <p:custDataLst>
              <p:tags r:id="rId1"/>
            </p:custDataLst>
          </p:nvPr>
        </p:nvSpPr>
        <p:spPr/>
        <p:txBody>
          <a:bodyPr vert="horz" anchor="b">
            <a:normAutofit/>
          </a:bodyPr>
          <a:lstStyle/>
          <a:p>
            <a:pPr marL="460375" indent="-460375"/>
            <a:r>
              <a:rPr lang="fr-FR" sz="3000" b="1" dirty="0" smtClean="0">
                <a:solidFill>
                  <a:srgbClr val="C00000"/>
                </a:solidFill>
              </a:rPr>
              <a:t>C’est quoi un nom d'hôte</a:t>
            </a:r>
            <a:r>
              <a:rPr lang="fr-FR" sz="3000" b="1" dirty="0">
                <a:solidFill>
                  <a:srgbClr val="C00000"/>
                </a:solidFill>
              </a:rPr>
              <a:t> ?</a:t>
            </a:r>
            <a:endParaRPr lang="en-US" sz="3000" b="1" dirty="0">
              <a:solidFill>
                <a:srgbClr val="C0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2" name="Rectangle 4"/>
          <p:cNvSpPr>
            <a:spLocks noGrp="1" noChangeArrowheads="1"/>
          </p:cNvSpPr>
          <p:nvPr>
            <p:ph type="title"/>
            <p:custDataLst>
              <p:tags r:id="rId1"/>
            </p:custDataLst>
          </p:nvPr>
        </p:nvSpPr>
        <p:spPr>
          <a:xfrm>
            <a:off x="808305" y="228997"/>
            <a:ext cx="7391400" cy="684212"/>
          </a:xfrm>
        </p:spPr>
        <p:txBody>
          <a:bodyPr vert="horz" anchor="b">
            <a:normAutofit/>
          </a:bodyPr>
          <a:lstStyle/>
          <a:p>
            <a:pPr marL="460375" indent="-460375"/>
            <a:r>
              <a:rPr lang="fr-FR" sz="3000" b="1" dirty="0" smtClean="0">
                <a:solidFill>
                  <a:srgbClr val="C00000"/>
                </a:solidFill>
              </a:rPr>
              <a:t>C’est quoi un nom </a:t>
            </a:r>
            <a:r>
              <a:rPr lang="fr-FR" sz="3000" b="1" dirty="0">
                <a:solidFill>
                  <a:srgbClr val="C00000"/>
                </a:solidFill>
              </a:rPr>
              <a:t>NetBIOS ?</a:t>
            </a:r>
            <a:endParaRPr lang="en-US" sz="3000" b="1" dirty="0">
              <a:solidFill>
                <a:srgbClr val="C00000"/>
              </a:solidFill>
            </a:endParaRPr>
          </a:p>
        </p:txBody>
      </p:sp>
      <p:sp>
        <p:nvSpPr>
          <p:cNvPr id="590945" name="Freeform 97"/>
          <p:cNvSpPr>
            <a:spLocks/>
          </p:cNvSpPr>
          <p:nvPr/>
        </p:nvSpPr>
        <p:spPr bwMode="auto">
          <a:xfrm>
            <a:off x="1146175" y="4713194"/>
            <a:ext cx="6400800" cy="952500"/>
          </a:xfrm>
          <a:custGeom>
            <a:avLst/>
            <a:gdLst/>
            <a:ahLst/>
            <a:cxnLst>
              <a:cxn ang="0">
                <a:pos x="1290" y="600"/>
              </a:cxn>
              <a:cxn ang="0">
                <a:pos x="0" y="16"/>
              </a:cxn>
              <a:cxn ang="0">
                <a:pos x="4032" y="0"/>
              </a:cxn>
              <a:cxn ang="0">
                <a:pos x="1290" y="600"/>
              </a:cxn>
            </a:cxnLst>
            <a:rect l="0" t="0" r="r" b="b"/>
            <a:pathLst>
              <a:path w="4032" h="600">
                <a:moveTo>
                  <a:pt x="1290" y="600"/>
                </a:moveTo>
                <a:lnTo>
                  <a:pt x="0" y="16"/>
                </a:lnTo>
                <a:lnTo>
                  <a:pt x="4032" y="0"/>
                </a:lnTo>
                <a:lnTo>
                  <a:pt x="1290" y="600"/>
                </a:lnTo>
                <a:close/>
              </a:path>
            </a:pathLst>
          </a:custGeom>
          <a:solidFill>
            <a:srgbClr val="DEE7F1"/>
          </a:solidFill>
          <a:ln w="9525" cap="flat" cmpd="sng">
            <a:noFill/>
            <a:prstDash val="solid"/>
            <a:round/>
            <a:headEnd/>
            <a:tailEnd/>
          </a:ln>
          <a:effectLst/>
        </p:spPr>
        <p:txBody>
          <a:bodyPr anchor="ctr"/>
          <a:lstStyle/>
          <a:p>
            <a:endParaRPr lang="fr-FR"/>
          </a:p>
        </p:txBody>
      </p:sp>
      <p:pic>
        <p:nvPicPr>
          <p:cNvPr id="590946" name="Picture 98" descr="Server01"/>
          <p:cNvPicPr>
            <a:picLocks noChangeAspect="1" noChangeArrowheads="1"/>
          </p:cNvPicPr>
          <p:nvPr/>
        </p:nvPicPr>
        <p:blipFill>
          <a:blip r:embed="rId5"/>
          <a:srcRect/>
          <a:stretch>
            <a:fillRect/>
          </a:stretch>
        </p:blipFill>
        <p:spPr bwMode="auto">
          <a:xfrm>
            <a:off x="2771775" y="5116419"/>
            <a:ext cx="1411288" cy="1658937"/>
          </a:xfrm>
          <a:prstGeom prst="rect">
            <a:avLst/>
          </a:prstGeom>
          <a:noFill/>
        </p:spPr>
      </p:pic>
      <p:sp>
        <p:nvSpPr>
          <p:cNvPr id="590947" name="AutoShape 99"/>
          <p:cNvSpPr>
            <a:spLocks noChangeArrowheads="1"/>
          </p:cNvSpPr>
          <p:nvPr>
            <p:custDataLst>
              <p:tags r:id="rId2"/>
            </p:custDataLst>
          </p:nvPr>
        </p:nvSpPr>
        <p:spPr bwMode="auto">
          <a:xfrm>
            <a:off x="3889375" y="6186394"/>
            <a:ext cx="1117600" cy="307975"/>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1800">
                <a:solidFill>
                  <a:srgbClr val="000000"/>
                </a:solidFill>
              </a:rPr>
              <a:t>Server2</a:t>
            </a:r>
            <a:endParaRPr lang="en-US" sz="1800"/>
          </a:p>
        </p:txBody>
      </p:sp>
      <p:graphicFrame>
        <p:nvGraphicFramePr>
          <p:cNvPr id="590989" name="Group 141"/>
          <p:cNvGraphicFramePr>
            <a:graphicFrameLocks noGrp="1"/>
          </p:cNvGraphicFramePr>
          <p:nvPr/>
        </p:nvGraphicFramePr>
        <p:xfrm>
          <a:off x="290286" y="3003456"/>
          <a:ext cx="8563428" cy="2084832"/>
        </p:xfrm>
        <a:graphic>
          <a:graphicData uri="http://schemas.openxmlformats.org/drawingml/2006/table">
            <a:tbl>
              <a:tblPr/>
              <a:tblGrid>
                <a:gridCol w="2182223"/>
                <a:gridCol w="1792889"/>
                <a:gridCol w="2293185"/>
                <a:gridCol w="2295131"/>
              </a:tblGrid>
              <a:tr h="242888">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1" i="0" u="none" strike="noStrike" cap="none" normalizeH="0" baseline="0" dirty="0" smtClean="0">
                          <a:ln>
                            <a:noFill/>
                          </a:ln>
                          <a:solidFill>
                            <a:srgbClr val="000000"/>
                          </a:solidFill>
                          <a:effectLst/>
                          <a:latin typeface="Arial Narrow" pitchFamily="34" charset="0"/>
                        </a:rPr>
                        <a:t>Nom NetBIOS</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1" i="0" u="none" strike="noStrike" cap="none" normalizeH="0" baseline="0" dirty="0" smtClean="0">
                          <a:ln>
                            <a:noFill/>
                          </a:ln>
                          <a:solidFill>
                            <a:srgbClr val="000000"/>
                          </a:solidFill>
                          <a:effectLst/>
                          <a:latin typeface="Arial Narrow" pitchFamily="34" charset="0"/>
                        </a:rPr>
                        <a:t>16ème </a:t>
                      </a:r>
                      <a:r>
                        <a:rPr kumimoji="0" lang="en-GB" sz="2400" b="1" i="0" u="none" strike="noStrike" cap="none" normalizeH="0" baseline="0" dirty="0" err="1" smtClean="0">
                          <a:ln>
                            <a:noFill/>
                          </a:ln>
                          <a:solidFill>
                            <a:srgbClr val="000000"/>
                          </a:solidFill>
                          <a:effectLst/>
                          <a:latin typeface="Arial Narrow" pitchFamily="34" charset="0"/>
                        </a:rPr>
                        <a:t>caractère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1" i="0" u="none" strike="noStrike" cap="none" normalizeH="0" baseline="0" smtClean="0">
                          <a:ln>
                            <a:noFill/>
                          </a:ln>
                          <a:solidFill>
                            <a:srgbClr val="000000"/>
                          </a:solidFill>
                          <a:effectLst/>
                          <a:latin typeface="Arial Narrow" pitchFamily="34" charset="0"/>
                        </a:rPr>
                        <a:t>Services</a:t>
                      </a:r>
                      <a:endParaRPr kumimoji="0" lang="en-US"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GB" sz="2400" b="1" i="0" u="none" strike="noStrike" cap="none" normalizeH="0" baseline="0" dirty="0" err="1" smtClean="0">
                          <a:ln>
                            <a:noFill/>
                          </a:ln>
                          <a:solidFill>
                            <a:srgbClr val="000000"/>
                          </a:solidFill>
                          <a:effectLst/>
                          <a:latin typeface="Arial Narrow" pitchFamily="34" charset="0"/>
                        </a:rPr>
                        <a:t>Adresse</a:t>
                      </a:r>
                      <a:r>
                        <a:rPr kumimoji="0" lang="en-GB" sz="2400" b="1" i="0" u="none" strike="noStrike" cap="none" normalizeH="0" baseline="0" dirty="0" smtClean="0">
                          <a:ln>
                            <a:noFill/>
                          </a:ln>
                          <a:solidFill>
                            <a:srgbClr val="000000"/>
                          </a:solidFill>
                          <a:effectLst/>
                          <a:latin typeface="Arial Narrow" pitchFamily="34" charset="0"/>
                        </a:rPr>
                        <a:t> IP</a:t>
                      </a:r>
                      <a:endParaRPr kumimoji="0" lang="en-US" sz="2400" b="1"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r>
              <a:tr h="300038">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0" i="0" u="none" strike="noStrike" cap="none" normalizeH="0" baseline="0" dirty="0" smtClean="0">
                          <a:ln>
                            <a:noFill/>
                          </a:ln>
                          <a:solidFill>
                            <a:srgbClr val="000000"/>
                          </a:solidFill>
                          <a:effectLst/>
                          <a:latin typeface="Arial Narrow" pitchFamily="34" charset="0"/>
                        </a:rPr>
                        <a:t>Server2</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Narrow" pitchFamily="34" charset="0"/>
                        </a:rPr>
                        <a:t>00</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0" i="0" u="none" strike="noStrike" cap="none" normalizeH="0" baseline="0" dirty="0" smtClean="0">
                          <a:ln>
                            <a:noFill/>
                          </a:ln>
                          <a:solidFill>
                            <a:srgbClr val="000000"/>
                          </a:solidFill>
                          <a:effectLst/>
                          <a:latin typeface="Arial Narrow" pitchFamily="34" charset="0"/>
                        </a:rPr>
                        <a:t>Station de travail</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Narrow" pitchFamily="34" charset="0"/>
                        </a:rPr>
                        <a:t>192.168.0.39</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3952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rgbClr val="000000"/>
                          </a:solidFill>
                          <a:effectLst/>
                          <a:latin typeface="Arial Narrow" pitchFamily="34" charset="0"/>
                        </a:rPr>
                        <a:t>Server2</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Narrow" pitchFamily="34" charset="0"/>
                        </a:rPr>
                        <a:t>20</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err="1" smtClean="0">
                          <a:ln>
                            <a:noFill/>
                          </a:ln>
                          <a:solidFill>
                            <a:srgbClr val="000000"/>
                          </a:solidFill>
                          <a:effectLst/>
                          <a:latin typeface="Arial Narrow" pitchFamily="34" charset="0"/>
                        </a:rPr>
                        <a:t>Serveur</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Narrow" pitchFamily="34" charset="0"/>
                        </a:rPr>
                        <a:t>192.168.0.39</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3810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rgbClr val="000000"/>
                          </a:solidFill>
                          <a:effectLst/>
                          <a:latin typeface="Arial Narrow" pitchFamily="34" charset="0"/>
                        </a:rPr>
                        <a:t>Server2</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Narrow" pitchFamily="34" charset="0"/>
                        </a:rPr>
                        <a:t>01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rgbClr val="000000"/>
                          </a:solidFill>
                          <a:effectLst/>
                          <a:latin typeface="Arial Narrow" pitchFamily="34" charset="0"/>
                        </a:rPr>
                        <a:t>Messenger</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Narrow" pitchFamily="34" charset="0"/>
                        </a:rPr>
                        <a:t>192.168.0.39</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
        <p:nvSpPr>
          <p:cNvPr id="35" name="Rectangle 34"/>
          <p:cNvSpPr/>
          <p:nvPr/>
        </p:nvSpPr>
        <p:spPr>
          <a:xfrm>
            <a:off x="177421" y="1498314"/>
            <a:ext cx="8802806" cy="1661993"/>
          </a:xfrm>
          <a:prstGeom prst="rect">
            <a:avLst/>
          </a:prstGeom>
        </p:spPr>
        <p:txBody>
          <a:bodyPr wrap="square">
            <a:spAutoFit/>
          </a:bodyPr>
          <a:lstStyle/>
          <a:p>
            <a:pPr algn="l" eaLnBrk="1" hangingPunct="1">
              <a:lnSpc>
                <a:spcPct val="85000"/>
              </a:lnSpc>
              <a:buFont typeface="Wingdings" pitchFamily="2" charset="2"/>
              <a:buChar char="q"/>
            </a:pPr>
            <a:r>
              <a:rPr lang="en-GB" sz="2400" dirty="0" smtClean="0">
                <a:solidFill>
                  <a:srgbClr val="000000"/>
                </a:solidFill>
              </a:rPr>
              <a:t>Un </a:t>
            </a:r>
            <a:r>
              <a:rPr lang="en-GB" sz="2400" i="1" dirty="0" smtClean="0">
                <a:solidFill>
                  <a:srgbClr val="000000"/>
                </a:solidFill>
              </a:rPr>
              <a:t>nom NetBIOS </a:t>
            </a:r>
            <a:r>
              <a:rPr lang="en-GB" sz="2400" dirty="0" err="1" smtClean="0">
                <a:solidFill>
                  <a:srgbClr val="000000"/>
                </a:solidFill>
              </a:rPr>
              <a:t>est</a:t>
            </a:r>
            <a:r>
              <a:rPr lang="en-GB" sz="2400" dirty="0" smtClean="0">
                <a:solidFill>
                  <a:srgbClr val="000000"/>
                </a:solidFill>
              </a:rPr>
              <a:t> un nom unique</a:t>
            </a:r>
          </a:p>
          <a:p>
            <a:pPr algn="l" eaLnBrk="1" hangingPunct="1">
              <a:lnSpc>
                <a:spcPct val="85000"/>
              </a:lnSpc>
              <a:buFont typeface="Wingdings" pitchFamily="2" charset="2"/>
              <a:buChar char="q"/>
            </a:pPr>
            <a:r>
              <a:rPr lang="en-GB" sz="2400" dirty="0" smtClean="0">
                <a:solidFill>
                  <a:srgbClr val="000000"/>
                </a:solidFill>
              </a:rPr>
              <a:t>Il </a:t>
            </a:r>
            <a:r>
              <a:rPr lang="en-GB" sz="2400" dirty="0" err="1" smtClean="0">
                <a:solidFill>
                  <a:srgbClr val="000000"/>
                </a:solidFill>
              </a:rPr>
              <a:t>peut</a:t>
            </a:r>
            <a:r>
              <a:rPr lang="en-GB" sz="2400" dirty="0" smtClean="0">
                <a:solidFill>
                  <a:srgbClr val="000000"/>
                </a:solidFill>
              </a:rPr>
              <a:t> </a:t>
            </a:r>
            <a:r>
              <a:rPr lang="en-GB" sz="2400" dirty="0" err="1" smtClean="0">
                <a:solidFill>
                  <a:srgbClr val="000000"/>
                </a:solidFill>
              </a:rPr>
              <a:t>identifie</a:t>
            </a:r>
            <a:r>
              <a:rPr lang="en-GB" sz="2400" dirty="0" smtClean="0">
                <a:solidFill>
                  <a:srgbClr val="000000"/>
                </a:solidFill>
              </a:rPr>
              <a:t> un </a:t>
            </a:r>
            <a:r>
              <a:rPr lang="en-GB" sz="2400" dirty="0" err="1" smtClean="0">
                <a:solidFill>
                  <a:srgbClr val="000000"/>
                </a:solidFill>
              </a:rPr>
              <a:t>ordinateur</a:t>
            </a:r>
            <a:r>
              <a:rPr lang="en-GB" sz="2400" dirty="0" smtClean="0">
                <a:solidFill>
                  <a:srgbClr val="000000"/>
                </a:solidFill>
              </a:rPr>
              <a:t> </a:t>
            </a:r>
            <a:r>
              <a:rPr lang="en-GB" sz="2400" dirty="0" err="1" smtClean="0">
                <a:solidFill>
                  <a:srgbClr val="000000"/>
                </a:solidFill>
              </a:rPr>
              <a:t>ou</a:t>
            </a:r>
            <a:r>
              <a:rPr lang="en-GB" sz="2400" dirty="0" smtClean="0">
                <a:solidFill>
                  <a:srgbClr val="000000"/>
                </a:solidFill>
              </a:rPr>
              <a:t> </a:t>
            </a:r>
            <a:r>
              <a:rPr lang="en-GB" sz="2400" dirty="0" err="1" smtClean="0">
                <a:solidFill>
                  <a:srgbClr val="000000"/>
                </a:solidFill>
              </a:rPr>
              <a:t>une</a:t>
            </a:r>
            <a:r>
              <a:rPr lang="en-GB" sz="2400" dirty="0" smtClean="0">
                <a:solidFill>
                  <a:srgbClr val="000000"/>
                </a:solidFill>
              </a:rPr>
              <a:t> </a:t>
            </a:r>
            <a:r>
              <a:rPr lang="en-GB" sz="2400" dirty="0" err="1" smtClean="0">
                <a:solidFill>
                  <a:srgbClr val="000000"/>
                </a:solidFill>
              </a:rPr>
              <a:t>ressource</a:t>
            </a:r>
            <a:endParaRPr lang="en-GB" sz="2400" dirty="0" smtClean="0">
              <a:solidFill>
                <a:srgbClr val="000000"/>
              </a:solidFill>
            </a:endParaRPr>
          </a:p>
          <a:p>
            <a:pPr algn="l" eaLnBrk="1" hangingPunct="1">
              <a:lnSpc>
                <a:spcPct val="85000"/>
              </a:lnSpc>
              <a:buFont typeface="Wingdings" pitchFamily="2" charset="2"/>
              <a:buChar char="q"/>
            </a:pPr>
            <a:r>
              <a:rPr lang="en-GB" sz="2400" dirty="0" smtClean="0">
                <a:solidFill>
                  <a:srgbClr val="000000"/>
                </a:solidFill>
              </a:rPr>
              <a:t>Il </a:t>
            </a:r>
            <a:r>
              <a:rPr lang="en-GB" sz="2400" dirty="0" err="1" smtClean="0">
                <a:solidFill>
                  <a:srgbClr val="000000"/>
                </a:solidFill>
              </a:rPr>
              <a:t>est</a:t>
            </a:r>
            <a:r>
              <a:rPr lang="en-GB" sz="2400" dirty="0" smtClean="0">
                <a:solidFill>
                  <a:srgbClr val="000000"/>
                </a:solidFill>
              </a:rPr>
              <a:t> </a:t>
            </a:r>
            <a:r>
              <a:rPr lang="en-GB" sz="2400" dirty="0" err="1" smtClean="0">
                <a:solidFill>
                  <a:srgbClr val="000000"/>
                </a:solidFill>
              </a:rPr>
              <a:t>composé</a:t>
            </a:r>
            <a:r>
              <a:rPr lang="en-GB" sz="2400" dirty="0" smtClean="0">
                <a:solidFill>
                  <a:srgbClr val="000000"/>
                </a:solidFill>
              </a:rPr>
              <a:t> d'un nom de 15 </a:t>
            </a:r>
            <a:r>
              <a:rPr lang="en-GB" sz="2400" dirty="0" err="1" smtClean="0">
                <a:solidFill>
                  <a:srgbClr val="000000"/>
                </a:solidFill>
              </a:rPr>
              <a:t>caractères</a:t>
            </a:r>
            <a:r>
              <a:rPr lang="en-GB" sz="2400" dirty="0" smtClean="0">
                <a:solidFill>
                  <a:srgbClr val="000000"/>
                </a:solidFill>
              </a:rPr>
              <a:t> plus un 16ème (octet) </a:t>
            </a:r>
            <a:r>
              <a:rPr lang="en-GB" sz="2400" dirty="0" err="1" smtClean="0">
                <a:solidFill>
                  <a:srgbClr val="000000"/>
                </a:solidFill>
              </a:rPr>
              <a:t>indiquant</a:t>
            </a:r>
            <a:r>
              <a:rPr lang="en-GB" sz="2400" dirty="0" smtClean="0">
                <a:solidFill>
                  <a:srgbClr val="000000"/>
                </a:solidFill>
              </a:rPr>
              <a:t> le service</a:t>
            </a:r>
          </a:p>
          <a:p>
            <a:pPr algn="l" eaLnBrk="1" hangingPunct="1">
              <a:lnSpc>
                <a:spcPct val="85000"/>
              </a:lnSpc>
              <a:buFont typeface="Wingdings" pitchFamily="2" charset="2"/>
              <a:buChar char="q"/>
            </a:pPr>
            <a:r>
              <a:rPr lang="en-GB" sz="2400" dirty="0" smtClean="0">
                <a:solidFill>
                  <a:srgbClr val="000000"/>
                </a:solidFill>
              </a:rPr>
              <a:t>Il </a:t>
            </a:r>
            <a:r>
              <a:rPr lang="en-GB" sz="2400" dirty="0" err="1" smtClean="0">
                <a:solidFill>
                  <a:srgbClr val="000000"/>
                </a:solidFill>
              </a:rPr>
              <a:t>est</a:t>
            </a:r>
            <a:r>
              <a:rPr lang="en-GB" sz="2400" dirty="0" smtClean="0">
                <a:solidFill>
                  <a:srgbClr val="000000"/>
                </a:solidFill>
              </a:rPr>
              <a:t> </a:t>
            </a:r>
            <a:r>
              <a:rPr lang="en-GB" sz="2400" dirty="0" err="1" smtClean="0">
                <a:solidFill>
                  <a:srgbClr val="000000"/>
                </a:solidFill>
              </a:rPr>
              <a:t>utilisé</a:t>
            </a:r>
            <a:r>
              <a:rPr lang="en-GB" sz="2400" dirty="0" smtClean="0">
                <a:solidFill>
                  <a:srgbClr val="000000"/>
                </a:solidFill>
              </a:rPr>
              <a:t> </a:t>
            </a:r>
            <a:r>
              <a:rPr lang="en-GB" sz="2400" dirty="0" err="1" smtClean="0">
                <a:solidFill>
                  <a:srgbClr val="000000"/>
                </a:solidFill>
              </a:rPr>
              <a:t>sur</a:t>
            </a:r>
            <a:r>
              <a:rPr lang="en-GB" sz="2400" dirty="0" smtClean="0">
                <a:solidFill>
                  <a:srgbClr val="000000"/>
                </a:solidFill>
              </a:rPr>
              <a:t> Intranet et pas </a:t>
            </a:r>
            <a:r>
              <a:rPr lang="en-GB" sz="2400" dirty="0" err="1" smtClean="0">
                <a:solidFill>
                  <a:srgbClr val="000000"/>
                </a:solidFill>
              </a:rPr>
              <a:t>sur</a:t>
            </a:r>
            <a:r>
              <a:rPr lang="en-GB" sz="2400" dirty="0" smtClean="0">
                <a:solidFill>
                  <a:srgbClr val="000000"/>
                </a:solidFill>
              </a:rPr>
              <a:t> internet</a:t>
            </a:r>
            <a:endParaRPr lang="en-US" sz="2400" dirty="0">
              <a:solidFill>
                <a:srgbClr val="000000"/>
              </a:solidFill>
            </a:endParaRPr>
          </a:p>
        </p:txBody>
      </p:sp>
      <p:pic>
        <p:nvPicPr>
          <p:cNvPr id="2050" name="Picture 2"/>
          <p:cNvPicPr>
            <a:picLocks noChangeAspect="1" noChangeArrowheads="1"/>
          </p:cNvPicPr>
          <p:nvPr/>
        </p:nvPicPr>
        <p:blipFill>
          <a:blip r:embed="rId6"/>
          <a:srcRect l="29289" t="35448" r="31519" b="30970"/>
          <a:stretch>
            <a:fillRect/>
          </a:stretch>
        </p:blipFill>
        <p:spPr bwMode="auto">
          <a:xfrm>
            <a:off x="736980" y="2923484"/>
            <a:ext cx="7779223" cy="3764140"/>
          </a:xfrm>
          <a:prstGeom prst="rect">
            <a:avLst/>
          </a:prstGeom>
          <a:noFill/>
          <a:ln w="9525">
            <a:noFill/>
            <a:miter lim="800000"/>
            <a:headEnd/>
            <a:tailEnd/>
          </a:ln>
          <a:effectLst/>
        </p:spPr>
      </p:pic>
      <p:pic>
        <p:nvPicPr>
          <p:cNvPr id="2051" name="Picture 3"/>
          <p:cNvPicPr>
            <a:picLocks noChangeAspect="1" noChangeArrowheads="1"/>
          </p:cNvPicPr>
          <p:nvPr/>
        </p:nvPicPr>
        <p:blipFill>
          <a:blip r:embed="rId7"/>
          <a:srcRect l="30509" t="40438" r="31457" b="17398"/>
          <a:stretch>
            <a:fillRect/>
          </a:stretch>
        </p:blipFill>
        <p:spPr bwMode="auto">
          <a:xfrm>
            <a:off x="1760561" y="3160324"/>
            <a:ext cx="5732060" cy="358849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checkerboard(across)">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
                                            <p:txEl>
                                              <p:pRg st="1" end="1"/>
                                            </p:txEl>
                                          </p:spTgt>
                                        </p:tgtEl>
                                        <p:attrNameLst>
                                          <p:attrName>style.visibility</p:attrName>
                                        </p:attrNameLst>
                                      </p:cBhvr>
                                      <p:to>
                                        <p:strVal val="visible"/>
                                      </p:to>
                                    </p:set>
                                    <p:animEffect transition="in" filter="checkerboard(across)">
                                      <p:cBhvr>
                                        <p:cTn id="12" dur="500"/>
                                        <p:tgtEl>
                                          <p:spTgt spid="35">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checkerboard(across)">
                                      <p:cBhvr>
                                        <p:cTn id="15" dur="500"/>
                                        <p:tgtEl>
                                          <p:spTgt spid="2050"/>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35">
                                            <p:txEl>
                                              <p:pRg st="2" end="2"/>
                                            </p:txEl>
                                          </p:spTgt>
                                        </p:tgtEl>
                                        <p:attrNameLst>
                                          <p:attrName>style.visibility</p:attrName>
                                        </p:attrNameLst>
                                      </p:cBhvr>
                                      <p:to>
                                        <p:strVal val="visible"/>
                                      </p:to>
                                    </p:set>
                                    <p:animEffect transition="in" filter="checkerboard(across)">
                                      <p:cBhvr>
                                        <p:cTn id="20" dur="500"/>
                                        <p:tgtEl>
                                          <p:spTgt spid="35">
                                            <p:txEl>
                                              <p:pRg st="2" end="2"/>
                                            </p:txEl>
                                          </p:spTgt>
                                        </p:tgtEl>
                                      </p:cBhvr>
                                    </p:animEffect>
                                  </p:childTnLst>
                                </p:cTn>
                              </p:par>
                              <p:par>
                                <p:cTn id="21" presetID="5" presetClass="exit" presetSubtype="10" fill="hold" nodeType="withEffect">
                                  <p:stCondLst>
                                    <p:cond delay="0"/>
                                  </p:stCondLst>
                                  <p:childTnLst>
                                    <p:animEffect transition="out" filter="checkerboard(across)">
                                      <p:cBhvr>
                                        <p:cTn id="22" dur="500"/>
                                        <p:tgtEl>
                                          <p:spTgt spid="2050"/>
                                        </p:tgtEl>
                                      </p:cBhvr>
                                    </p:animEffect>
                                    <p:set>
                                      <p:cBhvr>
                                        <p:cTn id="23" dur="1" fill="hold">
                                          <p:stCondLst>
                                            <p:cond delay="499"/>
                                          </p:stCondLst>
                                        </p:cTn>
                                        <p:tgtEl>
                                          <p:spTgt spid="2050"/>
                                        </p:tgtEl>
                                        <p:attrNameLst>
                                          <p:attrName>style.visibility</p:attrName>
                                        </p:attrNameLst>
                                      </p:cBhvr>
                                      <p:to>
                                        <p:strVal val="hidden"/>
                                      </p:to>
                                    </p:set>
                                  </p:childTnLst>
                                </p:cTn>
                              </p:par>
                              <p:par>
                                <p:cTn id="24" presetID="5" presetClass="entr" presetSubtype="10" fill="hold" grpId="0" nodeType="withEffect">
                                  <p:stCondLst>
                                    <p:cond delay="0"/>
                                  </p:stCondLst>
                                  <p:childTnLst>
                                    <p:set>
                                      <p:cBhvr>
                                        <p:cTn id="25" dur="1" fill="hold">
                                          <p:stCondLst>
                                            <p:cond delay="0"/>
                                          </p:stCondLst>
                                        </p:cTn>
                                        <p:tgtEl>
                                          <p:spTgt spid="590945"/>
                                        </p:tgtEl>
                                        <p:attrNameLst>
                                          <p:attrName>style.visibility</p:attrName>
                                        </p:attrNameLst>
                                      </p:cBhvr>
                                      <p:to>
                                        <p:strVal val="visible"/>
                                      </p:to>
                                    </p:set>
                                    <p:animEffect transition="in" filter="checkerboard(across)">
                                      <p:cBhvr>
                                        <p:cTn id="26" dur="500"/>
                                        <p:tgtEl>
                                          <p:spTgt spid="590945"/>
                                        </p:tgtEl>
                                      </p:cBhvr>
                                    </p:animEffect>
                                  </p:childTnLst>
                                </p:cTn>
                              </p:par>
                              <p:par>
                                <p:cTn id="27" presetID="5" presetClass="entr" presetSubtype="10" fill="hold" nodeType="withEffect">
                                  <p:stCondLst>
                                    <p:cond delay="0"/>
                                  </p:stCondLst>
                                  <p:childTnLst>
                                    <p:set>
                                      <p:cBhvr>
                                        <p:cTn id="28" dur="1" fill="hold">
                                          <p:stCondLst>
                                            <p:cond delay="0"/>
                                          </p:stCondLst>
                                        </p:cTn>
                                        <p:tgtEl>
                                          <p:spTgt spid="590946"/>
                                        </p:tgtEl>
                                        <p:attrNameLst>
                                          <p:attrName>style.visibility</p:attrName>
                                        </p:attrNameLst>
                                      </p:cBhvr>
                                      <p:to>
                                        <p:strVal val="visible"/>
                                      </p:to>
                                    </p:set>
                                    <p:animEffect transition="in" filter="checkerboard(across)">
                                      <p:cBhvr>
                                        <p:cTn id="29" dur="500"/>
                                        <p:tgtEl>
                                          <p:spTgt spid="590946"/>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590947"/>
                                        </p:tgtEl>
                                        <p:attrNameLst>
                                          <p:attrName>style.visibility</p:attrName>
                                        </p:attrNameLst>
                                      </p:cBhvr>
                                      <p:to>
                                        <p:strVal val="visible"/>
                                      </p:to>
                                    </p:set>
                                    <p:animEffect transition="in" filter="checkerboard(across)">
                                      <p:cBhvr>
                                        <p:cTn id="32" dur="500"/>
                                        <p:tgtEl>
                                          <p:spTgt spid="590947"/>
                                        </p:tgtEl>
                                      </p:cBhvr>
                                    </p:animEffect>
                                  </p:childTnLst>
                                </p:cTn>
                              </p:par>
                              <p:par>
                                <p:cTn id="33" presetID="5" presetClass="entr" presetSubtype="10" fill="hold" nodeType="withEffect">
                                  <p:stCondLst>
                                    <p:cond delay="0"/>
                                  </p:stCondLst>
                                  <p:childTnLst>
                                    <p:set>
                                      <p:cBhvr>
                                        <p:cTn id="34" dur="1" fill="hold">
                                          <p:stCondLst>
                                            <p:cond delay="0"/>
                                          </p:stCondLst>
                                        </p:cTn>
                                        <p:tgtEl>
                                          <p:spTgt spid="590989"/>
                                        </p:tgtEl>
                                        <p:attrNameLst>
                                          <p:attrName>style.visibility</p:attrName>
                                        </p:attrNameLst>
                                      </p:cBhvr>
                                      <p:to>
                                        <p:strVal val="visible"/>
                                      </p:to>
                                    </p:set>
                                    <p:animEffect transition="in" filter="checkerboard(across)">
                                      <p:cBhvr>
                                        <p:cTn id="35" dur="500"/>
                                        <p:tgtEl>
                                          <p:spTgt spid="590989"/>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nodeType="clickEffect">
                                  <p:stCondLst>
                                    <p:cond delay="0"/>
                                  </p:stCondLst>
                                  <p:childTnLst>
                                    <p:set>
                                      <p:cBhvr>
                                        <p:cTn id="39" dur="1" fill="hold">
                                          <p:stCondLst>
                                            <p:cond delay="0"/>
                                          </p:stCondLst>
                                        </p:cTn>
                                        <p:tgtEl>
                                          <p:spTgt spid="35">
                                            <p:txEl>
                                              <p:pRg st="3" end="3"/>
                                            </p:txEl>
                                          </p:spTgt>
                                        </p:tgtEl>
                                        <p:attrNameLst>
                                          <p:attrName>style.visibility</p:attrName>
                                        </p:attrNameLst>
                                      </p:cBhvr>
                                      <p:to>
                                        <p:strVal val="visible"/>
                                      </p:to>
                                    </p:set>
                                    <p:animEffect transition="in" filter="checkerboard(across)">
                                      <p:cBhvr>
                                        <p:cTn id="40" dur="500"/>
                                        <p:tgtEl>
                                          <p:spTgt spid="35">
                                            <p:txEl>
                                              <p:pRg st="3" end="3"/>
                                            </p:txEl>
                                          </p:spTgt>
                                        </p:tgtEl>
                                      </p:cBhvr>
                                    </p:animEffect>
                                  </p:childTnLst>
                                </p:cTn>
                              </p:par>
                              <p:par>
                                <p:cTn id="41" presetID="5" presetClass="exit" presetSubtype="10" fill="hold" grpId="1" nodeType="withEffect">
                                  <p:stCondLst>
                                    <p:cond delay="0"/>
                                  </p:stCondLst>
                                  <p:childTnLst>
                                    <p:animEffect transition="out" filter="checkerboard(across)">
                                      <p:cBhvr>
                                        <p:cTn id="42" dur="500"/>
                                        <p:tgtEl>
                                          <p:spTgt spid="590945"/>
                                        </p:tgtEl>
                                      </p:cBhvr>
                                    </p:animEffect>
                                    <p:set>
                                      <p:cBhvr>
                                        <p:cTn id="43" dur="1" fill="hold">
                                          <p:stCondLst>
                                            <p:cond delay="499"/>
                                          </p:stCondLst>
                                        </p:cTn>
                                        <p:tgtEl>
                                          <p:spTgt spid="590945"/>
                                        </p:tgtEl>
                                        <p:attrNameLst>
                                          <p:attrName>style.visibility</p:attrName>
                                        </p:attrNameLst>
                                      </p:cBhvr>
                                      <p:to>
                                        <p:strVal val="hidden"/>
                                      </p:to>
                                    </p:set>
                                  </p:childTnLst>
                                </p:cTn>
                              </p:par>
                              <p:par>
                                <p:cTn id="44" presetID="5" presetClass="exit" presetSubtype="10" fill="hold" nodeType="withEffect">
                                  <p:stCondLst>
                                    <p:cond delay="0"/>
                                  </p:stCondLst>
                                  <p:childTnLst>
                                    <p:animEffect transition="out" filter="checkerboard(across)">
                                      <p:cBhvr>
                                        <p:cTn id="45" dur="500"/>
                                        <p:tgtEl>
                                          <p:spTgt spid="590946"/>
                                        </p:tgtEl>
                                      </p:cBhvr>
                                    </p:animEffect>
                                    <p:set>
                                      <p:cBhvr>
                                        <p:cTn id="46" dur="1" fill="hold">
                                          <p:stCondLst>
                                            <p:cond delay="499"/>
                                          </p:stCondLst>
                                        </p:cTn>
                                        <p:tgtEl>
                                          <p:spTgt spid="590946"/>
                                        </p:tgtEl>
                                        <p:attrNameLst>
                                          <p:attrName>style.visibility</p:attrName>
                                        </p:attrNameLst>
                                      </p:cBhvr>
                                      <p:to>
                                        <p:strVal val="hidden"/>
                                      </p:to>
                                    </p:set>
                                  </p:childTnLst>
                                </p:cTn>
                              </p:par>
                              <p:par>
                                <p:cTn id="47" presetID="5" presetClass="exit" presetSubtype="10" fill="hold" grpId="1" nodeType="withEffect">
                                  <p:stCondLst>
                                    <p:cond delay="0"/>
                                  </p:stCondLst>
                                  <p:childTnLst>
                                    <p:animEffect transition="out" filter="checkerboard(across)">
                                      <p:cBhvr>
                                        <p:cTn id="48" dur="500"/>
                                        <p:tgtEl>
                                          <p:spTgt spid="590947"/>
                                        </p:tgtEl>
                                      </p:cBhvr>
                                    </p:animEffect>
                                    <p:set>
                                      <p:cBhvr>
                                        <p:cTn id="49" dur="1" fill="hold">
                                          <p:stCondLst>
                                            <p:cond delay="499"/>
                                          </p:stCondLst>
                                        </p:cTn>
                                        <p:tgtEl>
                                          <p:spTgt spid="590947"/>
                                        </p:tgtEl>
                                        <p:attrNameLst>
                                          <p:attrName>style.visibility</p:attrName>
                                        </p:attrNameLst>
                                      </p:cBhvr>
                                      <p:to>
                                        <p:strVal val="hidden"/>
                                      </p:to>
                                    </p:set>
                                  </p:childTnLst>
                                </p:cTn>
                              </p:par>
                              <p:par>
                                <p:cTn id="50" presetID="5" presetClass="exit" presetSubtype="10" fill="hold" nodeType="withEffect">
                                  <p:stCondLst>
                                    <p:cond delay="0"/>
                                  </p:stCondLst>
                                  <p:childTnLst>
                                    <p:animEffect transition="out" filter="checkerboard(across)">
                                      <p:cBhvr>
                                        <p:cTn id="51" dur="500"/>
                                        <p:tgtEl>
                                          <p:spTgt spid="590989"/>
                                        </p:tgtEl>
                                      </p:cBhvr>
                                    </p:animEffect>
                                    <p:set>
                                      <p:cBhvr>
                                        <p:cTn id="52" dur="1" fill="hold">
                                          <p:stCondLst>
                                            <p:cond delay="499"/>
                                          </p:stCondLst>
                                        </p:cTn>
                                        <p:tgtEl>
                                          <p:spTgt spid="590989"/>
                                        </p:tgtEl>
                                        <p:attrNameLst>
                                          <p:attrName>style.visibility</p:attrName>
                                        </p:attrNameLst>
                                      </p:cBhvr>
                                      <p:to>
                                        <p:strVal val="hidden"/>
                                      </p:to>
                                    </p:set>
                                  </p:childTnLst>
                                </p:cTn>
                              </p:par>
                              <p:par>
                                <p:cTn id="53" presetID="5" presetClass="entr" presetSubtype="10" fill="hold" nodeType="withEffect">
                                  <p:stCondLst>
                                    <p:cond delay="0"/>
                                  </p:stCondLst>
                                  <p:childTnLst>
                                    <p:set>
                                      <p:cBhvr>
                                        <p:cTn id="54" dur="1" fill="hold">
                                          <p:stCondLst>
                                            <p:cond delay="0"/>
                                          </p:stCondLst>
                                        </p:cTn>
                                        <p:tgtEl>
                                          <p:spTgt spid="2051"/>
                                        </p:tgtEl>
                                        <p:attrNameLst>
                                          <p:attrName>style.visibility</p:attrName>
                                        </p:attrNameLst>
                                      </p:cBhvr>
                                      <p:to>
                                        <p:strVal val="visible"/>
                                      </p:to>
                                    </p:set>
                                    <p:animEffect transition="in" filter="checkerboard(across)">
                                      <p:cBhvr>
                                        <p:cTn id="55"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945" grpId="0" animBg="1"/>
      <p:bldP spid="590945" grpId="1" animBg="1"/>
      <p:bldP spid="590947" grpId="0" animBg="1"/>
      <p:bldP spid="59094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5938" y="405335"/>
            <a:ext cx="8606050" cy="684212"/>
          </a:xfrm>
        </p:spPr>
        <p:txBody>
          <a:bodyPr>
            <a:normAutofit fontScale="90000"/>
          </a:bodyPr>
          <a:lstStyle/>
          <a:p>
            <a:r>
              <a:rPr lang="fr-FR" b="1" dirty="0" smtClean="0">
                <a:solidFill>
                  <a:srgbClr val="C00000"/>
                </a:solidFill>
              </a:rPr>
              <a:t>Pourquoi les noms sont mappés à des adresses IP</a:t>
            </a:r>
            <a:endParaRPr lang="fr-FR" b="1" dirty="0">
              <a:solidFill>
                <a:srgbClr val="C00000"/>
              </a:solidFill>
            </a:endParaRPr>
          </a:p>
        </p:txBody>
      </p:sp>
      <p:sp>
        <p:nvSpPr>
          <p:cNvPr id="3" name="Espace réservé du texte 2"/>
          <p:cNvSpPr>
            <a:spLocks noGrp="1"/>
          </p:cNvSpPr>
          <p:nvPr>
            <p:ph type="body" sz="half" idx="1"/>
          </p:nvPr>
        </p:nvSpPr>
        <p:spPr>
          <a:xfrm>
            <a:off x="204717" y="5745707"/>
            <a:ext cx="8543497" cy="601046"/>
          </a:xfrm>
        </p:spPr>
        <p:txBody>
          <a:bodyPr/>
          <a:lstStyle/>
          <a:p>
            <a:pPr algn="ctr">
              <a:buNone/>
            </a:pPr>
            <a:r>
              <a:rPr lang="fr-FR" b="1" dirty="0" smtClean="0"/>
              <a:t>Service résolution de noms</a:t>
            </a:r>
            <a:endParaRPr lang="fr-FR" b="1" dirty="0"/>
          </a:p>
        </p:txBody>
      </p:sp>
      <p:pic>
        <p:nvPicPr>
          <p:cNvPr id="3075" name="Picture 3"/>
          <p:cNvPicPr>
            <a:picLocks noChangeAspect="1" noChangeArrowheads="1"/>
          </p:cNvPicPr>
          <p:nvPr/>
        </p:nvPicPr>
        <p:blipFill>
          <a:blip r:embed="rId2"/>
          <a:srcRect l="28235" t="34888" r="26462" b="29664"/>
          <a:stretch>
            <a:fillRect/>
          </a:stretch>
        </p:blipFill>
        <p:spPr bwMode="auto">
          <a:xfrm>
            <a:off x="218364" y="1460310"/>
            <a:ext cx="8488908" cy="375091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custDataLst>
              <p:tags r:id="rId1"/>
            </p:custDataLst>
          </p:nvPr>
        </p:nvSpPr>
        <p:spPr>
          <a:xfrm>
            <a:off x="195618" y="224645"/>
            <a:ext cx="8743666" cy="662459"/>
          </a:xfrm>
        </p:spPr>
        <p:txBody>
          <a:bodyPr>
            <a:normAutofit/>
          </a:bodyPr>
          <a:lstStyle/>
          <a:p>
            <a:pPr marL="460375" indent="-460375"/>
            <a:r>
              <a:rPr lang="en-GB" b="1" dirty="0" smtClean="0">
                <a:solidFill>
                  <a:srgbClr val="C00000"/>
                </a:solidFill>
              </a:rPr>
              <a:t>Service de </a:t>
            </a:r>
            <a:r>
              <a:rPr lang="en-GB" b="1" dirty="0" err="1" smtClean="0">
                <a:solidFill>
                  <a:srgbClr val="C00000"/>
                </a:solidFill>
              </a:rPr>
              <a:t>résolution</a:t>
            </a:r>
            <a:r>
              <a:rPr lang="en-GB" b="1" dirty="0" smtClean="0">
                <a:solidFill>
                  <a:srgbClr val="C00000"/>
                </a:solidFill>
              </a:rPr>
              <a:t> de </a:t>
            </a:r>
            <a:r>
              <a:rPr lang="en-GB" b="1" dirty="0" err="1" smtClean="0">
                <a:solidFill>
                  <a:srgbClr val="C00000"/>
                </a:solidFill>
              </a:rPr>
              <a:t>noms</a:t>
            </a:r>
            <a:endParaRPr lang="en-US" b="1" dirty="0">
              <a:solidFill>
                <a:srgbClr val="C00000"/>
              </a:solidFill>
            </a:endParaRPr>
          </a:p>
        </p:txBody>
      </p:sp>
      <p:sp>
        <p:nvSpPr>
          <p:cNvPr id="580676" name="Oval 68"/>
          <p:cNvSpPr>
            <a:spLocks noChangeArrowheads="1"/>
          </p:cNvSpPr>
          <p:nvPr>
            <p:custDataLst>
              <p:tags r:id="rId2"/>
            </p:custDataLst>
          </p:nvPr>
        </p:nvSpPr>
        <p:spPr bwMode="auto">
          <a:xfrm>
            <a:off x="5600700" y="4448175"/>
            <a:ext cx="2235200" cy="1096963"/>
          </a:xfrm>
          <a:prstGeom prst="ellipse">
            <a:avLst/>
          </a:prstGeom>
          <a:gradFill rotWithShape="1">
            <a:gsLst>
              <a:gs pos="0">
                <a:srgbClr val="F0F1FF"/>
              </a:gs>
              <a:gs pos="100000">
                <a:srgbClr val="B3C8DF"/>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sp>
        <p:nvSpPr>
          <p:cNvPr id="580675" name="Oval 67"/>
          <p:cNvSpPr>
            <a:spLocks noChangeArrowheads="1"/>
          </p:cNvSpPr>
          <p:nvPr>
            <p:custDataLst>
              <p:tags r:id="rId3"/>
            </p:custDataLst>
          </p:nvPr>
        </p:nvSpPr>
        <p:spPr bwMode="auto">
          <a:xfrm>
            <a:off x="1312863" y="4960938"/>
            <a:ext cx="2490787" cy="1162050"/>
          </a:xfrm>
          <a:prstGeom prst="ellipse">
            <a:avLst/>
          </a:prstGeom>
          <a:gradFill rotWithShape="1">
            <a:gsLst>
              <a:gs pos="0">
                <a:srgbClr val="FFFFFF"/>
              </a:gs>
              <a:gs pos="100000">
                <a:srgbClr val="EEEFD7"/>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580664" name="Picture 56" descr="tube2"/>
          <p:cNvPicPr>
            <a:picLocks noChangeAspect="1" noChangeArrowheads="1"/>
          </p:cNvPicPr>
          <p:nvPr>
            <p:custDataLst>
              <p:tags r:id="rId4"/>
            </p:custDataLst>
          </p:nvPr>
        </p:nvPicPr>
        <p:blipFill>
          <a:blip r:embed="rId20"/>
          <a:srcRect/>
          <a:stretch>
            <a:fillRect/>
          </a:stretch>
        </p:blipFill>
        <p:spPr bwMode="auto">
          <a:xfrm>
            <a:off x="3297238" y="1304925"/>
            <a:ext cx="3597048" cy="1373188"/>
          </a:xfrm>
          <a:prstGeom prst="rect">
            <a:avLst/>
          </a:prstGeom>
          <a:noFill/>
        </p:spPr>
      </p:pic>
      <p:pic>
        <p:nvPicPr>
          <p:cNvPr id="580665" name="Picture 57" descr="UserWithDesktopComputer01"/>
          <p:cNvPicPr>
            <a:picLocks noChangeAspect="1" noChangeArrowheads="1"/>
          </p:cNvPicPr>
          <p:nvPr>
            <p:custDataLst>
              <p:tags r:id="rId5"/>
            </p:custDataLst>
          </p:nvPr>
        </p:nvPicPr>
        <p:blipFill>
          <a:blip r:embed="rId21"/>
          <a:srcRect/>
          <a:stretch>
            <a:fillRect/>
          </a:stretch>
        </p:blipFill>
        <p:spPr bwMode="auto">
          <a:xfrm>
            <a:off x="1808163" y="3949700"/>
            <a:ext cx="1868487" cy="2171700"/>
          </a:xfrm>
          <a:prstGeom prst="rect">
            <a:avLst/>
          </a:prstGeom>
          <a:noFill/>
        </p:spPr>
      </p:pic>
      <p:pic>
        <p:nvPicPr>
          <p:cNvPr id="580666" name="Picture 58" descr="Computer_DesktopComputerSansKeyboard01"/>
          <p:cNvPicPr>
            <a:picLocks noChangeAspect="1" noChangeArrowheads="1"/>
          </p:cNvPicPr>
          <p:nvPr>
            <p:custDataLst>
              <p:tags r:id="rId6"/>
            </p:custDataLst>
          </p:nvPr>
        </p:nvPicPr>
        <p:blipFill>
          <a:blip r:embed="rId22" cstate="print"/>
          <a:srcRect/>
          <a:stretch>
            <a:fillRect/>
          </a:stretch>
        </p:blipFill>
        <p:spPr bwMode="auto">
          <a:xfrm>
            <a:off x="6215063" y="3711575"/>
            <a:ext cx="1141412" cy="1392238"/>
          </a:xfrm>
          <a:prstGeom prst="rect">
            <a:avLst/>
          </a:prstGeom>
          <a:noFill/>
        </p:spPr>
      </p:pic>
      <p:sp>
        <p:nvSpPr>
          <p:cNvPr id="580667" name="Text Box 59"/>
          <p:cNvSpPr txBox="1">
            <a:spLocks noChangeArrowheads="1"/>
          </p:cNvSpPr>
          <p:nvPr>
            <p:custDataLst>
              <p:tags r:id="rId7"/>
            </p:custDataLst>
          </p:nvPr>
        </p:nvSpPr>
        <p:spPr bwMode="auto">
          <a:xfrm>
            <a:off x="3716690" y="1374115"/>
            <a:ext cx="3079893" cy="830997"/>
          </a:xfrm>
          <a:prstGeom prst="rect">
            <a:avLst/>
          </a:prstGeom>
          <a:noFill/>
          <a:ln w="9525">
            <a:noFill/>
            <a:miter lim="800000"/>
            <a:headEnd/>
            <a:tailEnd/>
          </a:ln>
          <a:effectLst/>
        </p:spPr>
        <p:txBody>
          <a:bodyPr wrap="square">
            <a:spAutoFit/>
          </a:bodyPr>
          <a:lstStyle/>
          <a:p>
            <a:pPr eaLnBrk="1" hangingPunct="1"/>
            <a:r>
              <a:rPr lang="en-GB" sz="2400" dirty="0">
                <a:solidFill>
                  <a:srgbClr val="000000"/>
                </a:solidFill>
                <a:effectLst>
                  <a:outerShdw blurRad="38100" dist="38100" dir="2700000" algn="tl">
                    <a:srgbClr val="C0C0C0"/>
                  </a:outerShdw>
                </a:effectLst>
              </a:rPr>
              <a:t>Service </a:t>
            </a:r>
            <a:r>
              <a:rPr lang="en-GB" sz="2400" dirty="0" smtClean="0">
                <a:solidFill>
                  <a:srgbClr val="000000"/>
                </a:solidFill>
                <a:effectLst>
                  <a:outerShdw blurRad="38100" dist="38100" dir="2700000" algn="tl">
                    <a:srgbClr val="C0C0C0"/>
                  </a:outerShdw>
                </a:effectLst>
              </a:rPr>
              <a:t>de </a:t>
            </a:r>
            <a:r>
              <a:rPr lang="en-GB" sz="2400" dirty="0" err="1" smtClean="0">
                <a:solidFill>
                  <a:srgbClr val="000000"/>
                </a:solidFill>
                <a:effectLst>
                  <a:outerShdw blurRad="38100" dist="38100" dir="2700000" algn="tl">
                    <a:srgbClr val="C0C0C0"/>
                  </a:outerShdw>
                </a:effectLst>
              </a:rPr>
              <a:t>résolution</a:t>
            </a:r>
            <a:r>
              <a:rPr lang="en-GB" sz="2400" dirty="0" smtClean="0">
                <a:solidFill>
                  <a:srgbClr val="000000"/>
                </a:solidFill>
                <a:effectLst>
                  <a:outerShdw blurRad="38100" dist="38100" dir="2700000" algn="tl">
                    <a:srgbClr val="C0C0C0"/>
                  </a:outerShdw>
                </a:effectLst>
              </a:rPr>
              <a:t> </a:t>
            </a:r>
            <a:r>
              <a:rPr lang="en-GB" sz="2400" dirty="0">
                <a:solidFill>
                  <a:srgbClr val="000000"/>
                </a:solidFill>
                <a:effectLst>
                  <a:outerShdw blurRad="38100" dist="38100" dir="2700000" algn="tl">
                    <a:srgbClr val="C0C0C0"/>
                  </a:outerShdw>
                </a:effectLst>
              </a:rPr>
              <a:t/>
            </a:r>
            <a:br>
              <a:rPr lang="en-GB" sz="2400" dirty="0">
                <a:solidFill>
                  <a:srgbClr val="000000"/>
                </a:solidFill>
                <a:effectLst>
                  <a:outerShdw blurRad="38100" dist="38100" dir="2700000" algn="tl">
                    <a:srgbClr val="C0C0C0"/>
                  </a:outerShdw>
                </a:effectLst>
              </a:rPr>
            </a:br>
            <a:r>
              <a:rPr lang="en-GB" sz="2400" dirty="0">
                <a:solidFill>
                  <a:srgbClr val="000000"/>
                </a:solidFill>
                <a:effectLst>
                  <a:outerShdw blurRad="38100" dist="38100" dir="2700000" algn="tl">
                    <a:srgbClr val="C0C0C0"/>
                  </a:outerShdw>
                </a:effectLst>
              </a:rPr>
              <a:t>de </a:t>
            </a:r>
            <a:r>
              <a:rPr lang="en-GB" sz="2400" dirty="0" err="1">
                <a:solidFill>
                  <a:srgbClr val="000000"/>
                </a:solidFill>
                <a:effectLst>
                  <a:outerShdw blurRad="38100" dist="38100" dir="2700000" algn="tl">
                    <a:srgbClr val="C0C0C0"/>
                  </a:outerShdw>
                </a:effectLst>
              </a:rPr>
              <a:t>noms</a:t>
            </a:r>
            <a:endParaRPr lang="en-US" sz="2400" dirty="0">
              <a:solidFill>
                <a:srgbClr val="000000"/>
              </a:solidFill>
              <a:effectLst>
                <a:outerShdw blurRad="38100" dist="38100" dir="2700000" algn="tl">
                  <a:srgbClr val="C0C0C0"/>
                </a:outerShdw>
              </a:effectLst>
            </a:endParaRPr>
          </a:p>
        </p:txBody>
      </p:sp>
      <p:sp>
        <p:nvSpPr>
          <p:cNvPr id="580668" name="Text Box 60"/>
          <p:cNvSpPr txBox="1">
            <a:spLocks noChangeArrowheads="1"/>
          </p:cNvSpPr>
          <p:nvPr>
            <p:custDataLst>
              <p:tags r:id="rId8"/>
            </p:custDataLst>
          </p:nvPr>
        </p:nvSpPr>
        <p:spPr bwMode="auto">
          <a:xfrm>
            <a:off x="2859314" y="3165475"/>
            <a:ext cx="1792968" cy="461665"/>
          </a:xfrm>
          <a:prstGeom prst="rect">
            <a:avLst/>
          </a:prstGeom>
          <a:noFill/>
          <a:ln w="9525" algn="ctr">
            <a:noFill/>
            <a:miter lim="800000"/>
            <a:headEnd/>
            <a:tailEnd/>
          </a:ln>
          <a:effectLst/>
        </p:spPr>
        <p:txBody>
          <a:bodyPr wrap="square">
            <a:spAutoFit/>
          </a:bodyPr>
          <a:lstStyle/>
          <a:p>
            <a:r>
              <a:rPr lang="en-US" sz="2400" dirty="0"/>
              <a:t>192.168.1.200</a:t>
            </a:r>
          </a:p>
        </p:txBody>
      </p:sp>
      <p:sp>
        <p:nvSpPr>
          <p:cNvPr id="580669" name="Freeform 61"/>
          <p:cNvSpPr>
            <a:spLocks/>
          </p:cNvSpPr>
          <p:nvPr>
            <p:custDataLst>
              <p:tags r:id="rId9"/>
            </p:custDataLst>
          </p:nvPr>
        </p:nvSpPr>
        <p:spPr bwMode="auto">
          <a:xfrm rot="27349702" flipH="1" flipV="1">
            <a:off x="2255044" y="2251869"/>
            <a:ext cx="2019300" cy="1116012"/>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80670" name="Text Box 62"/>
          <p:cNvSpPr txBox="1">
            <a:spLocks noChangeArrowheads="1"/>
          </p:cNvSpPr>
          <p:nvPr>
            <p:custDataLst>
              <p:tags r:id="rId10"/>
            </p:custDataLst>
          </p:nvPr>
        </p:nvSpPr>
        <p:spPr bwMode="auto">
          <a:xfrm>
            <a:off x="1146635" y="1928813"/>
            <a:ext cx="1885293" cy="461665"/>
          </a:xfrm>
          <a:prstGeom prst="rect">
            <a:avLst/>
          </a:prstGeom>
          <a:noFill/>
          <a:ln w="9525" algn="ctr">
            <a:noFill/>
            <a:miter lim="800000"/>
            <a:headEnd/>
            <a:tailEnd/>
          </a:ln>
          <a:effectLst/>
        </p:spPr>
        <p:txBody>
          <a:bodyPr wrap="square">
            <a:spAutoFit/>
          </a:bodyPr>
          <a:lstStyle/>
          <a:p>
            <a:r>
              <a:rPr lang="en-GB" sz="2400">
                <a:solidFill>
                  <a:srgbClr val="000000"/>
                </a:solidFill>
              </a:rPr>
              <a:t>Computer44</a:t>
            </a:r>
            <a:endParaRPr lang="en-US" sz="2400"/>
          </a:p>
        </p:txBody>
      </p:sp>
      <p:sp>
        <p:nvSpPr>
          <p:cNvPr id="580671" name="AutoShape 63"/>
          <p:cNvSpPr>
            <a:spLocks noChangeArrowheads="1"/>
          </p:cNvSpPr>
          <p:nvPr>
            <p:custDataLst>
              <p:tags r:id="rId11"/>
            </p:custDataLst>
          </p:nvPr>
        </p:nvSpPr>
        <p:spPr bwMode="auto">
          <a:xfrm>
            <a:off x="653144" y="2947988"/>
            <a:ext cx="1978932" cy="1086983"/>
          </a:xfrm>
          <a:prstGeom prst="wedgeRoundRectCallout">
            <a:avLst>
              <a:gd name="adj1" fmla="val 31093"/>
              <a:gd name="adj2" fmla="val 81755"/>
              <a:gd name="adj3" fmla="val 16667"/>
            </a:avLst>
          </a:prstGeom>
          <a:solidFill>
            <a:srgbClr val="DAF4E9"/>
          </a:solidFill>
          <a:ln w="9525" algn="ctr">
            <a:solidFill>
              <a:srgbClr val="333333"/>
            </a:solidFill>
            <a:miter lim="800000"/>
            <a:headEnd/>
            <a:tailEnd/>
          </a:ln>
          <a:effectLst>
            <a:outerShdw dist="35921" dir="2700000" algn="ctr" rotWithShape="0">
              <a:schemeClr val="bg2"/>
            </a:outerShdw>
          </a:effectLst>
        </p:spPr>
        <p:txBody>
          <a:bodyPr anchor="ctr"/>
          <a:lstStyle/>
          <a:p>
            <a:r>
              <a:rPr lang="en-GB" sz="2400">
                <a:solidFill>
                  <a:srgbClr val="000000"/>
                </a:solidFill>
              </a:rPr>
              <a:t>Où se trouve le fichier Computer44 ?</a:t>
            </a:r>
            <a:endParaRPr lang="en-US" sz="2400"/>
          </a:p>
        </p:txBody>
      </p:sp>
      <p:sp>
        <p:nvSpPr>
          <p:cNvPr id="580672" name="Freeform 64"/>
          <p:cNvSpPr>
            <a:spLocks/>
          </p:cNvSpPr>
          <p:nvPr>
            <p:custDataLst>
              <p:tags r:id="rId12"/>
            </p:custDataLst>
          </p:nvPr>
        </p:nvSpPr>
        <p:spPr bwMode="auto">
          <a:xfrm rot="38149702" flipH="1" flipV="1">
            <a:off x="3299619" y="2818607"/>
            <a:ext cx="2019300" cy="1116012"/>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80673" name="Arc 65"/>
          <p:cNvSpPr>
            <a:spLocks/>
          </p:cNvSpPr>
          <p:nvPr>
            <p:custDataLst>
              <p:tags r:id="rId13"/>
            </p:custDataLst>
          </p:nvPr>
        </p:nvSpPr>
        <p:spPr bwMode="auto">
          <a:xfrm rot="-357729">
            <a:off x="3790950" y="4324350"/>
            <a:ext cx="2368550" cy="1066800"/>
          </a:xfrm>
          <a:custGeom>
            <a:avLst/>
            <a:gdLst>
              <a:gd name="G0" fmla="+- 17725 0 0"/>
              <a:gd name="G1" fmla="+- 21600 0 0"/>
              <a:gd name="G2" fmla="+- 21600 0 0"/>
              <a:gd name="T0" fmla="*/ 0 w 26071"/>
              <a:gd name="T1" fmla="*/ 9256 h 21600"/>
              <a:gd name="T2" fmla="*/ 26071 w 26071"/>
              <a:gd name="T3" fmla="*/ 1678 h 21600"/>
              <a:gd name="T4" fmla="*/ 17725 w 26071"/>
              <a:gd name="T5" fmla="*/ 21600 h 21600"/>
            </a:gdLst>
            <a:ahLst/>
            <a:cxnLst>
              <a:cxn ang="0">
                <a:pos x="T0" y="T1"/>
              </a:cxn>
              <a:cxn ang="0">
                <a:pos x="T2" y="T3"/>
              </a:cxn>
              <a:cxn ang="0">
                <a:pos x="T4" y="T5"/>
              </a:cxn>
            </a:cxnLst>
            <a:rect l="0" t="0" r="r" b="b"/>
            <a:pathLst>
              <a:path w="26071" h="21600" fill="none" extrusionOk="0">
                <a:moveTo>
                  <a:pt x="-1" y="9255"/>
                </a:moveTo>
                <a:cubicBezTo>
                  <a:pt x="4038" y="3456"/>
                  <a:pt x="10658" y="-1"/>
                  <a:pt x="17725" y="0"/>
                </a:cubicBezTo>
                <a:cubicBezTo>
                  <a:pt x="20590" y="0"/>
                  <a:pt x="23427" y="570"/>
                  <a:pt x="26071" y="1677"/>
                </a:cubicBezTo>
              </a:path>
              <a:path w="26071" h="21600" stroke="0" extrusionOk="0">
                <a:moveTo>
                  <a:pt x="-1" y="9255"/>
                </a:moveTo>
                <a:cubicBezTo>
                  <a:pt x="4038" y="3456"/>
                  <a:pt x="10658" y="-1"/>
                  <a:pt x="17725" y="0"/>
                </a:cubicBezTo>
                <a:cubicBezTo>
                  <a:pt x="20590" y="0"/>
                  <a:pt x="23427" y="570"/>
                  <a:pt x="26071" y="1677"/>
                </a:cubicBezTo>
                <a:lnTo>
                  <a:pt x="17725" y="21600"/>
                </a:lnTo>
                <a:close/>
              </a:path>
            </a:pathLst>
          </a:custGeom>
          <a:noFill/>
          <a:ln w="76200" cap="rnd">
            <a:solidFill>
              <a:srgbClr val="CC0000"/>
            </a:solidFill>
            <a:prstDash val="sysDot"/>
            <a:round/>
            <a:headEnd/>
            <a:tailEnd type="triangle" w="med" len="med"/>
          </a:ln>
          <a:effectLst/>
        </p:spPr>
        <p:txBody>
          <a:bodyPr wrap="none" anchor="ctr"/>
          <a:lstStyle/>
          <a:p>
            <a:endParaRPr lang="fr-FR"/>
          </a:p>
        </p:txBody>
      </p:sp>
      <p:sp>
        <p:nvSpPr>
          <p:cNvPr id="580674" name="AutoShape 66"/>
          <p:cNvSpPr>
            <a:spLocks noChangeArrowheads="1"/>
          </p:cNvSpPr>
          <p:nvPr>
            <p:custDataLst>
              <p:tags r:id="rId14"/>
            </p:custDataLst>
          </p:nvPr>
        </p:nvSpPr>
        <p:spPr bwMode="auto">
          <a:xfrm>
            <a:off x="5631544" y="5197474"/>
            <a:ext cx="1764620" cy="4921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400">
                <a:solidFill>
                  <a:srgbClr val="000000"/>
                </a:solidFill>
              </a:rPr>
              <a:t>Computer44</a:t>
            </a:r>
            <a:endParaRPr lang="en-US" sz="2400"/>
          </a:p>
        </p:txBody>
      </p:sp>
      <p:sp>
        <p:nvSpPr>
          <p:cNvPr id="580677" name="AutoShape 69"/>
          <p:cNvSpPr>
            <a:spLocks noChangeArrowheads="1"/>
          </p:cNvSpPr>
          <p:nvPr>
            <p:custDataLst>
              <p:tags r:id="rId15"/>
            </p:custDataLst>
          </p:nvPr>
        </p:nvSpPr>
        <p:spPr bwMode="auto">
          <a:xfrm>
            <a:off x="2714625" y="232251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1</a:t>
            </a:r>
          </a:p>
        </p:txBody>
      </p:sp>
      <p:sp>
        <p:nvSpPr>
          <p:cNvPr id="580678" name="AutoShape 70"/>
          <p:cNvSpPr>
            <a:spLocks noChangeArrowheads="1"/>
          </p:cNvSpPr>
          <p:nvPr>
            <p:custDataLst>
              <p:tags r:id="rId16"/>
            </p:custDataLst>
          </p:nvPr>
        </p:nvSpPr>
        <p:spPr bwMode="auto">
          <a:xfrm>
            <a:off x="4659313" y="315277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2</a:t>
            </a:r>
          </a:p>
        </p:txBody>
      </p:sp>
      <p:sp>
        <p:nvSpPr>
          <p:cNvPr id="580679" name="AutoShape 71"/>
          <p:cNvSpPr>
            <a:spLocks noChangeArrowheads="1"/>
          </p:cNvSpPr>
          <p:nvPr>
            <p:custDataLst>
              <p:tags r:id="rId17"/>
            </p:custDataLst>
          </p:nvPr>
        </p:nvSpPr>
        <p:spPr bwMode="auto">
          <a:xfrm>
            <a:off x="4659313" y="4256088"/>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dirty="0">
                <a:solidFill>
                  <a:srgbClr val="990033"/>
                </a:solidFill>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0675"/>
                                        </p:tgtEl>
                                        <p:attrNameLst>
                                          <p:attrName>style.visibility</p:attrName>
                                        </p:attrNameLst>
                                      </p:cBhvr>
                                      <p:to>
                                        <p:strVal val="visible"/>
                                      </p:to>
                                    </p:set>
                                    <p:animEffect transition="in" filter="checkerboard(across)">
                                      <p:cBhvr>
                                        <p:cTn id="7" dur="500"/>
                                        <p:tgtEl>
                                          <p:spTgt spid="580675"/>
                                        </p:tgtEl>
                                      </p:cBhvr>
                                    </p:animEffect>
                                  </p:childTnLst>
                                </p:cTn>
                              </p:par>
                              <p:par>
                                <p:cTn id="8" presetID="5" presetClass="entr" presetSubtype="10" fill="hold" nodeType="withEffect">
                                  <p:stCondLst>
                                    <p:cond delay="0"/>
                                  </p:stCondLst>
                                  <p:childTnLst>
                                    <p:set>
                                      <p:cBhvr>
                                        <p:cTn id="9" dur="1" fill="hold">
                                          <p:stCondLst>
                                            <p:cond delay="0"/>
                                          </p:stCondLst>
                                        </p:cTn>
                                        <p:tgtEl>
                                          <p:spTgt spid="580665"/>
                                        </p:tgtEl>
                                        <p:attrNameLst>
                                          <p:attrName>style.visibility</p:attrName>
                                        </p:attrNameLst>
                                      </p:cBhvr>
                                      <p:to>
                                        <p:strVal val="visible"/>
                                      </p:to>
                                    </p:set>
                                    <p:animEffect transition="in" filter="checkerboard(across)">
                                      <p:cBhvr>
                                        <p:cTn id="10" dur="500"/>
                                        <p:tgtEl>
                                          <p:spTgt spid="58066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80676"/>
                                        </p:tgtEl>
                                        <p:attrNameLst>
                                          <p:attrName>style.visibility</p:attrName>
                                        </p:attrNameLst>
                                      </p:cBhvr>
                                      <p:to>
                                        <p:strVal val="visible"/>
                                      </p:to>
                                    </p:set>
                                    <p:animEffect transition="in" filter="checkerboard(across)">
                                      <p:cBhvr>
                                        <p:cTn id="13" dur="500"/>
                                        <p:tgtEl>
                                          <p:spTgt spid="580676"/>
                                        </p:tgtEl>
                                      </p:cBhvr>
                                    </p:animEffect>
                                  </p:childTnLst>
                                </p:cTn>
                              </p:par>
                              <p:par>
                                <p:cTn id="14" presetID="5" presetClass="entr" presetSubtype="10" fill="hold" nodeType="withEffect">
                                  <p:stCondLst>
                                    <p:cond delay="0"/>
                                  </p:stCondLst>
                                  <p:childTnLst>
                                    <p:set>
                                      <p:cBhvr>
                                        <p:cTn id="15" dur="1" fill="hold">
                                          <p:stCondLst>
                                            <p:cond delay="0"/>
                                          </p:stCondLst>
                                        </p:cTn>
                                        <p:tgtEl>
                                          <p:spTgt spid="580666"/>
                                        </p:tgtEl>
                                        <p:attrNameLst>
                                          <p:attrName>style.visibility</p:attrName>
                                        </p:attrNameLst>
                                      </p:cBhvr>
                                      <p:to>
                                        <p:strVal val="visible"/>
                                      </p:to>
                                    </p:set>
                                    <p:animEffect transition="in" filter="checkerboard(across)">
                                      <p:cBhvr>
                                        <p:cTn id="16" dur="500"/>
                                        <p:tgtEl>
                                          <p:spTgt spid="580666"/>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80674"/>
                                        </p:tgtEl>
                                        <p:attrNameLst>
                                          <p:attrName>style.visibility</p:attrName>
                                        </p:attrNameLst>
                                      </p:cBhvr>
                                      <p:to>
                                        <p:strVal val="visible"/>
                                      </p:to>
                                    </p:set>
                                    <p:animEffect transition="in" filter="checkerboard(across)">
                                      <p:cBhvr>
                                        <p:cTn id="19" dur="500"/>
                                        <p:tgtEl>
                                          <p:spTgt spid="580674"/>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580671"/>
                                        </p:tgtEl>
                                        <p:attrNameLst>
                                          <p:attrName>style.visibility</p:attrName>
                                        </p:attrNameLst>
                                      </p:cBhvr>
                                      <p:to>
                                        <p:strVal val="visible"/>
                                      </p:to>
                                    </p:set>
                                    <p:animEffect transition="in" filter="checkerboard(across)">
                                      <p:cBhvr>
                                        <p:cTn id="24" dur="500"/>
                                        <p:tgtEl>
                                          <p:spTgt spid="580671"/>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580664"/>
                                        </p:tgtEl>
                                        <p:attrNameLst>
                                          <p:attrName>style.visibility</p:attrName>
                                        </p:attrNameLst>
                                      </p:cBhvr>
                                      <p:to>
                                        <p:strVal val="visible"/>
                                      </p:to>
                                    </p:set>
                                    <p:animEffect transition="in" filter="checkerboard(across)">
                                      <p:cBhvr>
                                        <p:cTn id="29" dur="500"/>
                                        <p:tgtEl>
                                          <p:spTgt spid="580664"/>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580667"/>
                                        </p:tgtEl>
                                        <p:attrNameLst>
                                          <p:attrName>style.visibility</p:attrName>
                                        </p:attrNameLst>
                                      </p:cBhvr>
                                      <p:to>
                                        <p:strVal val="visible"/>
                                      </p:to>
                                    </p:set>
                                    <p:animEffect transition="in" filter="checkerboard(across)">
                                      <p:cBhvr>
                                        <p:cTn id="32" dur="500"/>
                                        <p:tgtEl>
                                          <p:spTgt spid="580667"/>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80669"/>
                                        </p:tgtEl>
                                        <p:attrNameLst>
                                          <p:attrName>style.visibility</p:attrName>
                                        </p:attrNameLst>
                                      </p:cBhvr>
                                      <p:to>
                                        <p:strVal val="visible"/>
                                      </p:to>
                                    </p:set>
                                    <p:animEffect transition="in" filter="checkerboard(across)">
                                      <p:cBhvr>
                                        <p:cTn id="37" dur="500"/>
                                        <p:tgtEl>
                                          <p:spTgt spid="580669"/>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580670"/>
                                        </p:tgtEl>
                                        <p:attrNameLst>
                                          <p:attrName>style.visibility</p:attrName>
                                        </p:attrNameLst>
                                      </p:cBhvr>
                                      <p:to>
                                        <p:strVal val="visible"/>
                                      </p:to>
                                    </p:set>
                                    <p:animEffect transition="in" filter="checkerboard(across)">
                                      <p:cBhvr>
                                        <p:cTn id="40" dur="500"/>
                                        <p:tgtEl>
                                          <p:spTgt spid="580670"/>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580677"/>
                                        </p:tgtEl>
                                        <p:attrNameLst>
                                          <p:attrName>style.visibility</p:attrName>
                                        </p:attrNameLst>
                                      </p:cBhvr>
                                      <p:to>
                                        <p:strVal val="visible"/>
                                      </p:to>
                                    </p:set>
                                    <p:animEffect transition="in" filter="checkerboard(across)">
                                      <p:cBhvr>
                                        <p:cTn id="43" dur="500"/>
                                        <p:tgtEl>
                                          <p:spTgt spid="580677"/>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580672"/>
                                        </p:tgtEl>
                                        <p:attrNameLst>
                                          <p:attrName>style.visibility</p:attrName>
                                        </p:attrNameLst>
                                      </p:cBhvr>
                                      <p:to>
                                        <p:strVal val="visible"/>
                                      </p:to>
                                    </p:set>
                                    <p:animEffect transition="in" filter="checkerboard(across)">
                                      <p:cBhvr>
                                        <p:cTn id="48" dur="500"/>
                                        <p:tgtEl>
                                          <p:spTgt spid="580672"/>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580668"/>
                                        </p:tgtEl>
                                        <p:attrNameLst>
                                          <p:attrName>style.visibility</p:attrName>
                                        </p:attrNameLst>
                                      </p:cBhvr>
                                      <p:to>
                                        <p:strVal val="visible"/>
                                      </p:to>
                                    </p:set>
                                    <p:animEffect transition="in" filter="checkerboard(across)">
                                      <p:cBhvr>
                                        <p:cTn id="51" dur="500"/>
                                        <p:tgtEl>
                                          <p:spTgt spid="580668"/>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580678"/>
                                        </p:tgtEl>
                                        <p:attrNameLst>
                                          <p:attrName>style.visibility</p:attrName>
                                        </p:attrNameLst>
                                      </p:cBhvr>
                                      <p:to>
                                        <p:strVal val="visible"/>
                                      </p:to>
                                    </p:set>
                                    <p:animEffect transition="in" filter="checkerboard(across)">
                                      <p:cBhvr>
                                        <p:cTn id="54" dur="500"/>
                                        <p:tgtEl>
                                          <p:spTgt spid="580678"/>
                                        </p:tgtEl>
                                      </p:cBhvr>
                                    </p:animEffec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580679"/>
                                        </p:tgtEl>
                                        <p:attrNameLst>
                                          <p:attrName>style.visibility</p:attrName>
                                        </p:attrNameLst>
                                      </p:cBhvr>
                                      <p:to>
                                        <p:strVal val="visible"/>
                                      </p:to>
                                    </p:set>
                                    <p:animEffect transition="in" filter="checkerboard(across)">
                                      <p:cBhvr>
                                        <p:cTn id="59" dur="500"/>
                                        <p:tgtEl>
                                          <p:spTgt spid="580679"/>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580673"/>
                                        </p:tgtEl>
                                        <p:attrNameLst>
                                          <p:attrName>style.visibility</p:attrName>
                                        </p:attrNameLst>
                                      </p:cBhvr>
                                      <p:to>
                                        <p:strVal val="visible"/>
                                      </p:to>
                                    </p:set>
                                    <p:animEffect transition="in" filter="checkerboard(across)">
                                      <p:cBhvr>
                                        <p:cTn id="62" dur="500"/>
                                        <p:tgtEl>
                                          <p:spTgt spid="580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76" grpId="0" animBg="1"/>
      <p:bldP spid="580675" grpId="0" animBg="1"/>
      <p:bldP spid="580667" grpId="0"/>
      <p:bldP spid="580668" grpId="0"/>
      <p:bldP spid="580669" grpId="0" animBg="1"/>
      <p:bldP spid="580670" grpId="0"/>
      <p:bldP spid="580671" grpId="0" animBg="1"/>
      <p:bldP spid="580672" grpId="0" animBg="1"/>
      <p:bldP spid="580673" grpId="0" animBg="1"/>
      <p:bldP spid="580674" grpId="0" animBg="1"/>
      <p:bldP spid="580677" grpId="0" animBg="1"/>
      <p:bldP spid="580678" grpId="0" animBg="1"/>
      <p:bldP spid="58067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custDataLst>
              <p:tags r:id="rId1"/>
            </p:custDataLst>
          </p:nvPr>
        </p:nvSpPr>
        <p:spPr>
          <a:xfrm>
            <a:off x="301752" y="174009"/>
            <a:ext cx="8534400" cy="758952"/>
          </a:xfrm>
        </p:spPr>
        <p:txBody>
          <a:bodyPr vert="horz" anchor="b">
            <a:normAutofit/>
          </a:bodyPr>
          <a:lstStyle/>
          <a:p>
            <a:pPr marL="460375" indent="-460375"/>
            <a:r>
              <a:rPr lang="en-GB" sz="3000" b="1" dirty="0">
                <a:solidFill>
                  <a:srgbClr val="C00000"/>
                </a:solidFill>
              </a:rPr>
              <a:t>Comment afficher les noms sur un client</a:t>
            </a:r>
            <a:endParaRPr lang="en-US" sz="3000" b="1" dirty="0">
              <a:solidFill>
                <a:srgbClr val="C00000"/>
              </a:solidFill>
            </a:endParaRPr>
          </a:p>
        </p:txBody>
      </p:sp>
      <p:sp>
        <p:nvSpPr>
          <p:cNvPr id="603142" name="AutoShape 6"/>
          <p:cNvSpPr>
            <a:spLocks noChangeArrowheads="1"/>
          </p:cNvSpPr>
          <p:nvPr>
            <p:custDataLst>
              <p:tags r:id="rId2"/>
            </p:custDataLst>
          </p:nvPr>
        </p:nvSpPr>
        <p:spPr bwMode="auto">
          <a:xfrm>
            <a:off x="142504" y="1460665"/>
            <a:ext cx="8811490" cy="539733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pPr>
            <a:r>
              <a:rPr lang="en-GB" sz="2400" dirty="0" err="1">
                <a:solidFill>
                  <a:srgbClr val="000000"/>
                </a:solidFill>
              </a:rPr>
              <a:t>Afficher</a:t>
            </a:r>
            <a:r>
              <a:rPr lang="en-GB" sz="2400" dirty="0">
                <a:solidFill>
                  <a:srgbClr val="000000"/>
                </a:solidFill>
              </a:rPr>
              <a:t> </a:t>
            </a:r>
            <a:r>
              <a:rPr lang="en-GB" sz="2400" dirty="0" smtClean="0">
                <a:solidFill>
                  <a:srgbClr val="000000"/>
                </a:solidFill>
              </a:rPr>
              <a:t>:</a:t>
            </a:r>
          </a:p>
          <a:p>
            <a:pPr marL="231775" indent="-231775" algn="l">
              <a:lnSpc>
                <a:spcPct val="90000"/>
              </a:lnSpc>
              <a:spcBef>
                <a:spcPct val="40000"/>
              </a:spcBef>
              <a:buSzPct val="80000"/>
              <a:buFont typeface="Wingdings" pitchFamily="2" charset="2"/>
              <a:buChar char="Ø"/>
            </a:pPr>
            <a:r>
              <a:rPr lang="en-GB" sz="2400" dirty="0" smtClean="0">
                <a:solidFill>
                  <a:srgbClr val="000000"/>
                </a:solidFill>
              </a:rPr>
              <a:t>Des </a:t>
            </a:r>
            <a:r>
              <a:rPr lang="en-GB" sz="2400" dirty="0" err="1">
                <a:solidFill>
                  <a:srgbClr val="000000"/>
                </a:solidFill>
              </a:rPr>
              <a:t>noms</a:t>
            </a:r>
            <a:r>
              <a:rPr lang="en-GB" sz="2400" dirty="0">
                <a:solidFill>
                  <a:srgbClr val="000000"/>
                </a:solidFill>
              </a:rPr>
              <a:t> </a:t>
            </a:r>
            <a:r>
              <a:rPr lang="en-GB" sz="2400" dirty="0" err="1">
                <a:solidFill>
                  <a:srgbClr val="000000"/>
                </a:solidFill>
              </a:rPr>
              <a:t>d'hôtes</a:t>
            </a:r>
            <a:r>
              <a:rPr lang="en-GB" sz="2400" dirty="0">
                <a:solidFill>
                  <a:srgbClr val="000000"/>
                </a:solidFill>
              </a:rPr>
              <a:t> et des suffixes DNS à </a:t>
            </a:r>
            <a:r>
              <a:rPr lang="en-GB" sz="2400" dirty="0" err="1">
                <a:solidFill>
                  <a:srgbClr val="000000"/>
                </a:solidFill>
              </a:rPr>
              <a:t>l'aide</a:t>
            </a:r>
            <a:r>
              <a:rPr lang="en-GB" sz="2400" dirty="0">
                <a:solidFill>
                  <a:srgbClr val="000000"/>
                </a:solidFill>
              </a:rPr>
              <a:t> de </a:t>
            </a:r>
            <a:r>
              <a:rPr lang="en-GB" sz="2400" dirty="0" err="1">
                <a:solidFill>
                  <a:srgbClr val="000000"/>
                </a:solidFill>
              </a:rPr>
              <a:t>l'utilitaire</a:t>
            </a:r>
            <a:r>
              <a:rPr lang="en-GB" sz="2400" dirty="0">
                <a:solidFill>
                  <a:srgbClr val="000000"/>
                </a:solidFill>
              </a:rPr>
              <a:t> </a:t>
            </a:r>
            <a:r>
              <a:rPr lang="en-GB" sz="2400" dirty="0" err="1" smtClean="0">
                <a:solidFill>
                  <a:srgbClr val="C00000"/>
                </a:solidFill>
              </a:rPr>
              <a:t>Ipconfig</a:t>
            </a:r>
            <a:r>
              <a:rPr lang="en-GB" sz="2400" dirty="0" smtClean="0">
                <a:solidFill>
                  <a:srgbClr val="C00000"/>
                </a:solidFill>
              </a:rPr>
              <a:t>     </a:t>
            </a:r>
          </a:p>
          <a:p>
            <a:pPr marL="455613" indent="41275" algn="l">
              <a:lnSpc>
                <a:spcPct val="90000"/>
              </a:lnSpc>
              <a:spcBef>
                <a:spcPct val="40000"/>
              </a:spcBef>
              <a:buSzPct val="80000"/>
            </a:pPr>
            <a:r>
              <a:rPr lang="en-GB" sz="2400" i="1" dirty="0" err="1" smtClean="0">
                <a:solidFill>
                  <a:srgbClr val="0070C0"/>
                </a:solidFill>
              </a:rPr>
              <a:t>Ipconfig</a:t>
            </a:r>
            <a:r>
              <a:rPr lang="en-GB" sz="2400" i="1" dirty="0" smtClean="0">
                <a:solidFill>
                  <a:srgbClr val="0070C0"/>
                </a:solidFill>
              </a:rPr>
              <a:t> /all</a:t>
            </a:r>
            <a:endParaRPr lang="en-US" sz="2400" i="1" dirty="0">
              <a:solidFill>
                <a:srgbClr val="0070C0"/>
              </a:solidFill>
            </a:endParaRPr>
          </a:p>
          <a:p>
            <a:pPr marL="231775" indent="-231775" algn="l">
              <a:lnSpc>
                <a:spcPct val="90000"/>
              </a:lnSpc>
              <a:spcBef>
                <a:spcPct val="40000"/>
              </a:spcBef>
              <a:buSzPct val="80000"/>
              <a:buFont typeface="Wingdings" pitchFamily="2" charset="2"/>
              <a:buChar char="Ø"/>
            </a:pPr>
            <a:r>
              <a:rPr lang="en-GB" sz="2400" dirty="0" smtClean="0">
                <a:solidFill>
                  <a:srgbClr val="000000"/>
                </a:solidFill>
              </a:rPr>
              <a:t>Des </a:t>
            </a:r>
            <a:r>
              <a:rPr lang="en-GB" sz="2400" dirty="0" err="1" smtClean="0">
                <a:solidFill>
                  <a:srgbClr val="000000"/>
                </a:solidFill>
              </a:rPr>
              <a:t>noms</a:t>
            </a:r>
            <a:r>
              <a:rPr lang="en-GB" sz="2400" dirty="0" smtClean="0">
                <a:solidFill>
                  <a:srgbClr val="000000"/>
                </a:solidFill>
              </a:rPr>
              <a:t> </a:t>
            </a:r>
            <a:r>
              <a:rPr lang="en-GB" sz="2400" dirty="0" err="1" smtClean="0">
                <a:solidFill>
                  <a:srgbClr val="000000"/>
                </a:solidFill>
              </a:rPr>
              <a:t>d'hôtes</a:t>
            </a:r>
            <a:r>
              <a:rPr lang="en-GB" sz="2400" dirty="0" smtClean="0">
                <a:solidFill>
                  <a:srgbClr val="000000"/>
                </a:solidFill>
              </a:rPr>
              <a:t> à </a:t>
            </a:r>
            <a:r>
              <a:rPr lang="en-GB" sz="2400" dirty="0" err="1" smtClean="0">
                <a:solidFill>
                  <a:srgbClr val="000000"/>
                </a:solidFill>
              </a:rPr>
              <a:t>l'aide</a:t>
            </a:r>
            <a:r>
              <a:rPr lang="en-GB" sz="2400" dirty="0" smtClean="0">
                <a:solidFill>
                  <a:srgbClr val="000000"/>
                </a:solidFill>
              </a:rPr>
              <a:t> des </a:t>
            </a:r>
            <a:r>
              <a:rPr lang="en-GB" sz="2400" dirty="0" err="1" smtClean="0">
                <a:solidFill>
                  <a:srgbClr val="C00000"/>
                </a:solidFill>
              </a:rPr>
              <a:t>Propriétés</a:t>
            </a:r>
            <a:r>
              <a:rPr lang="en-GB" sz="2400" dirty="0" smtClean="0">
                <a:solidFill>
                  <a:srgbClr val="C00000"/>
                </a:solidFill>
              </a:rPr>
              <a:t> </a:t>
            </a:r>
            <a:r>
              <a:rPr lang="en-GB" sz="2400" dirty="0" err="1" smtClean="0">
                <a:solidFill>
                  <a:srgbClr val="C00000"/>
                </a:solidFill>
              </a:rPr>
              <a:t>Système</a:t>
            </a:r>
            <a:r>
              <a:rPr lang="en-GB" sz="2400" dirty="0" smtClean="0">
                <a:solidFill>
                  <a:srgbClr val="C00000"/>
                </a:solidFill>
              </a:rPr>
              <a:t> </a:t>
            </a:r>
          </a:p>
          <a:p>
            <a:pPr marL="4763" indent="-4763" algn="l">
              <a:lnSpc>
                <a:spcPct val="90000"/>
              </a:lnSpc>
              <a:spcBef>
                <a:spcPct val="40000"/>
              </a:spcBef>
              <a:buSzPct val="80000"/>
            </a:pPr>
            <a:r>
              <a:rPr lang="fr-FR" sz="2400" i="1" dirty="0" smtClean="0">
                <a:solidFill>
                  <a:srgbClr val="0070C0"/>
                </a:solidFill>
              </a:rPr>
              <a:t>Panneau de configuration/ Système/ Nom complet de l’ordinateur/ Modifier</a:t>
            </a:r>
            <a:endParaRPr lang="en-US" sz="2400" i="1" dirty="0">
              <a:solidFill>
                <a:srgbClr val="0070C0"/>
              </a:solidFill>
            </a:endParaRPr>
          </a:p>
          <a:p>
            <a:pPr marL="231775" indent="-231775" algn="l">
              <a:lnSpc>
                <a:spcPct val="90000"/>
              </a:lnSpc>
              <a:spcBef>
                <a:spcPct val="40000"/>
              </a:spcBef>
              <a:buSzPct val="80000"/>
              <a:buFont typeface="Wingdings" pitchFamily="2" charset="2"/>
              <a:buChar char="Ø"/>
            </a:pPr>
            <a:r>
              <a:rPr lang="en-GB" sz="2400" dirty="0" smtClean="0">
                <a:solidFill>
                  <a:srgbClr val="000000"/>
                </a:solidFill>
              </a:rPr>
              <a:t>Des </a:t>
            </a:r>
            <a:r>
              <a:rPr lang="en-GB" sz="2400" dirty="0" err="1">
                <a:solidFill>
                  <a:srgbClr val="000000"/>
                </a:solidFill>
              </a:rPr>
              <a:t>noms</a:t>
            </a:r>
            <a:r>
              <a:rPr lang="en-GB" sz="2400" dirty="0">
                <a:solidFill>
                  <a:srgbClr val="000000"/>
                </a:solidFill>
              </a:rPr>
              <a:t> NetBIOS à </a:t>
            </a:r>
            <a:r>
              <a:rPr lang="en-GB" sz="2400" dirty="0" err="1">
                <a:solidFill>
                  <a:srgbClr val="000000"/>
                </a:solidFill>
              </a:rPr>
              <a:t>l'aide</a:t>
            </a:r>
            <a:r>
              <a:rPr lang="en-GB" sz="2400" dirty="0">
                <a:solidFill>
                  <a:srgbClr val="000000"/>
                </a:solidFill>
              </a:rPr>
              <a:t> de la </a:t>
            </a:r>
            <a:r>
              <a:rPr lang="en-GB" sz="2400" dirty="0" err="1">
                <a:solidFill>
                  <a:srgbClr val="000000"/>
                </a:solidFill>
              </a:rPr>
              <a:t>commande</a:t>
            </a:r>
            <a:r>
              <a:rPr lang="en-GB" sz="2400" dirty="0">
                <a:solidFill>
                  <a:srgbClr val="000000"/>
                </a:solidFill>
              </a:rPr>
              <a:t> </a:t>
            </a:r>
            <a:r>
              <a:rPr lang="en-GB" sz="2400" dirty="0" err="1" smtClean="0">
                <a:solidFill>
                  <a:srgbClr val="C00000"/>
                </a:solidFill>
              </a:rPr>
              <a:t>Nbtstat</a:t>
            </a:r>
            <a:r>
              <a:rPr lang="en-GB" sz="2400" dirty="0" smtClean="0">
                <a:solidFill>
                  <a:srgbClr val="C00000"/>
                </a:solidFill>
              </a:rPr>
              <a:t> </a:t>
            </a:r>
          </a:p>
          <a:p>
            <a:pPr marL="450850" algn="l"/>
            <a:r>
              <a:rPr lang="fr-FR" sz="2400" i="1" dirty="0" err="1" smtClean="0">
                <a:solidFill>
                  <a:srgbClr val="0070C0"/>
                </a:solidFill>
              </a:rPr>
              <a:t>Nbtstat</a:t>
            </a:r>
            <a:r>
              <a:rPr lang="fr-FR" sz="2400" i="1" dirty="0" smtClean="0">
                <a:solidFill>
                  <a:srgbClr val="0070C0"/>
                </a:solidFill>
              </a:rPr>
              <a:t>  -n</a:t>
            </a:r>
          </a:p>
          <a:p>
            <a:pPr marL="450850" algn="l"/>
            <a:r>
              <a:rPr lang="fr-FR" sz="2400" i="1" dirty="0" err="1" smtClean="0">
                <a:solidFill>
                  <a:srgbClr val="0070C0"/>
                </a:solidFill>
              </a:rPr>
              <a:t>Nbtstat</a:t>
            </a:r>
            <a:r>
              <a:rPr lang="fr-FR" sz="2400" i="1" dirty="0" smtClean="0">
                <a:solidFill>
                  <a:srgbClr val="0070C0"/>
                </a:solidFill>
              </a:rPr>
              <a:t> -A </a:t>
            </a:r>
            <a:r>
              <a:rPr lang="fr-FR" sz="2400" i="1" dirty="0" err="1" smtClean="0">
                <a:solidFill>
                  <a:srgbClr val="0070C0"/>
                </a:solidFill>
              </a:rPr>
              <a:t>AdresseIP</a:t>
            </a:r>
            <a:r>
              <a:rPr lang="fr-FR" sz="2400" i="1" dirty="0" smtClean="0">
                <a:solidFill>
                  <a:srgbClr val="0070C0"/>
                </a:solidFill>
              </a:rPr>
              <a:t> (</a:t>
            </a:r>
            <a:r>
              <a:rPr lang="fr-FR" sz="2400" i="1" dirty="0" err="1" smtClean="0">
                <a:solidFill>
                  <a:srgbClr val="0070C0"/>
                </a:solidFill>
              </a:rPr>
              <a:t>AdresseIP</a:t>
            </a:r>
            <a:r>
              <a:rPr lang="fr-FR" sz="2400" i="1" dirty="0" smtClean="0">
                <a:solidFill>
                  <a:srgbClr val="0070C0"/>
                </a:solidFill>
              </a:rPr>
              <a:t> est l’adresse IP du serveur distant)</a:t>
            </a:r>
            <a:endParaRPr lang="en-US" sz="2400" i="1" dirty="0">
              <a:solidFill>
                <a:srgbClr val="0070C0"/>
              </a:solidFill>
            </a:endParaRPr>
          </a:p>
          <a:p>
            <a:pPr marL="231775" indent="-231775" algn="l">
              <a:lnSpc>
                <a:spcPct val="90000"/>
              </a:lnSpc>
              <a:spcBef>
                <a:spcPct val="40000"/>
              </a:spcBef>
              <a:buSzPct val="80000"/>
              <a:buFont typeface="Wingdings" pitchFamily="2" charset="2"/>
              <a:buChar char="Ø"/>
            </a:pPr>
            <a:r>
              <a:rPr lang="en-GB" sz="2400" dirty="0" smtClean="0">
                <a:solidFill>
                  <a:srgbClr val="000000"/>
                </a:solidFill>
              </a:rPr>
              <a:t>Le </a:t>
            </a:r>
            <a:r>
              <a:rPr lang="en-GB" sz="2400" dirty="0">
                <a:solidFill>
                  <a:srgbClr val="000000"/>
                </a:solidFill>
              </a:rPr>
              <a:t>nom NetBIOS de </a:t>
            </a:r>
            <a:r>
              <a:rPr lang="en-GB" sz="2400" dirty="0" err="1">
                <a:solidFill>
                  <a:srgbClr val="000000"/>
                </a:solidFill>
              </a:rPr>
              <a:t>votre</a:t>
            </a:r>
            <a:r>
              <a:rPr lang="en-GB" sz="2400" dirty="0">
                <a:solidFill>
                  <a:srgbClr val="000000"/>
                </a:solidFill>
              </a:rPr>
              <a:t> </a:t>
            </a:r>
            <a:r>
              <a:rPr lang="en-GB" sz="2400" dirty="0" err="1">
                <a:solidFill>
                  <a:srgbClr val="000000"/>
                </a:solidFill>
              </a:rPr>
              <a:t>ordinateur</a:t>
            </a:r>
            <a:r>
              <a:rPr lang="en-GB" sz="2400" dirty="0">
                <a:solidFill>
                  <a:srgbClr val="000000"/>
                </a:solidFill>
              </a:rPr>
              <a:t> à </a:t>
            </a:r>
            <a:r>
              <a:rPr lang="en-GB" sz="2400" dirty="0" err="1">
                <a:solidFill>
                  <a:srgbClr val="000000"/>
                </a:solidFill>
              </a:rPr>
              <a:t>l'aide</a:t>
            </a:r>
            <a:r>
              <a:rPr lang="en-GB" sz="2400" dirty="0">
                <a:solidFill>
                  <a:srgbClr val="000000"/>
                </a:solidFill>
              </a:rPr>
              <a:t> des </a:t>
            </a:r>
            <a:r>
              <a:rPr lang="en-GB" sz="2400" dirty="0" err="1">
                <a:solidFill>
                  <a:srgbClr val="C00000"/>
                </a:solidFill>
              </a:rPr>
              <a:t>Propriétés</a:t>
            </a:r>
            <a:r>
              <a:rPr lang="en-GB" sz="2400" dirty="0">
                <a:solidFill>
                  <a:srgbClr val="C00000"/>
                </a:solidFill>
              </a:rPr>
              <a:t> </a:t>
            </a:r>
            <a:r>
              <a:rPr lang="en-GB" sz="2400" dirty="0" err="1" smtClean="0">
                <a:solidFill>
                  <a:srgbClr val="C00000"/>
                </a:solidFill>
              </a:rPr>
              <a:t>Système</a:t>
            </a:r>
            <a:r>
              <a:rPr lang="en-GB" sz="2400" dirty="0" smtClean="0">
                <a:solidFill>
                  <a:srgbClr val="C00000"/>
                </a:solidFill>
              </a:rPr>
              <a:t> </a:t>
            </a:r>
          </a:p>
          <a:p>
            <a:pPr marL="4763" indent="-4763" algn="l">
              <a:lnSpc>
                <a:spcPct val="90000"/>
              </a:lnSpc>
              <a:spcBef>
                <a:spcPct val="40000"/>
              </a:spcBef>
              <a:buSzPct val="80000"/>
            </a:pPr>
            <a:r>
              <a:rPr lang="fr-FR" sz="2400" i="1" dirty="0" smtClean="0">
                <a:solidFill>
                  <a:srgbClr val="0070C0"/>
                </a:solidFill>
              </a:rPr>
              <a:t>Panneau de configuration/ Système/ Nom complet de l’ordinateur/ Modifier/ Autres</a:t>
            </a:r>
            <a:endParaRPr lang="en-GB" sz="2400" dirty="0" smtClean="0">
              <a:solidFill>
                <a:srgbClr val="000000"/>
              </a:solidFill>
            </a:endParaRPr>
          </a:p>
        </p:txBody>
      </p:sp>
      <p:grpSp>
        <p:nvGrpSpPr>
          <p:cNvPr id="10" name="Groupe 9"/>
          <p:cNvGrpSpPr/>
          <p:nvPr/>
        </p:nvGrpSpPr>
        <p:grpSpPr>
          <a:xfrm>
            <a:off x="186900" y="3043454"/>
            <a:ext cx="8629554" cy="1435292"/>
            <a:chOff x="282434" y="3043450"/>
            <a:chExt cx="8629554" cy="1435292"/>
          </a:xfrm>
        </p:grpSpPr>
        <p:pic>
          <p:nvPicPr>
            <p:cNvPr id="7" name="Image 6" descr="PC_A.png"/>
            <p:cNvPicPr>
              <a:picLocks noChangeAspect="1"/>
            </p:cNvPicPr>
            <p:nvPr/>
          </p:nvPicPr>
          <p:blipFill>
            <a:blip r:embed="rId5"/>
            <a:srcRect t="17085" r="19100" b="65002"/>
            <a:stretch>
              <a:fillRect/>
            </a:stretch>
          </p:blipFill>
          <p:spPr>
            <a:xfrm>
              <a:off x="282434" y="3043450"/>
              <a:ext cx="8629554" cy="1433063"/>
            </a:xfrm>
            <a:prstGeom prst="rect">
              <a:avLst/>
            </a:prstGeom>
          </p:spPr>
        </p:pic>
        <p:sp>
          <p:nvSpPr>
            <p:cNvPr id="9" name="Rectangle 8"/>
            <p:cNvSpPr/>
            <p:nvPr/>
          </p:nvSpPr>
          <p:spPr>
            <a:xfrm>
              <a:off x="6212003" y="4192139"/>
              <a:ext cx="2129051" cy="28660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l"/>
              <a:r>
                <a:rPr lang="fr-FR" dirty="0" smtClean="0"/>
                <a:t>Server1.SRI2.BTS</a:t>
              </a:r>
              <a:endParaRPr lang="fr-FR" dirty="0"/>
            </a:p>
          </p:txBody>
        </p:sp>
        <p:sp>
          <p:nvSpPr>
            <p:cNvPr id="8" name="Rectangle 7"/>
            <p:cNvSpPr/>
            <p:nvPr/>
          </p:nvSpPr>
          <p:spPr>
            <a:xfrm>
              <a:off x="6209731" y="3957851"/>
              <a:ext cx="2129051" cy="28660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r>
                <a:rPr lang="fr-FR" dirty="0" smtClean="0"/>
                <a:t>Server1</a:t>
              </a:r>
              <a:endParaRPr lang="fr-FR" dirty="0"/>
            </a:p>
          </p:txBody>
        </p:sp>
      </p:grpSp>
      <p:pic>
        <p:nvPicPr>
          <p:cNvPr id="11" name="Image 10" descr="SERV1.png"/>
          <p:cNvPicPr>
            <a:picLocks noChangeAspect="1"/>
          </p:cNvPicPr>
          <p:nvPr/>
        </p:nvPicPr>
        <p:blipFill>
          <a:blip r:embed="rId6"/>
          <a:srcRect l="7911" t="15788" r="59104" b="46419"/>
          <a:stretch>
            <a:fillRect/>
          </a:stretch>
        </p:blipFill>
        <p:spPr>
          <a:xfrm>
            <a:off x="2688608" y="4335789"/>
            <a:ext cx="4495233" cy="25222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3142">
                                            <p:txEl>
                                              <p:pRg st="0" end="0"/>
                                            </p:txEl>
                                          </p:spTgt>
                                        </p:tgtEl>
                                        <p:attrNameLst>
                                          <p:attrName>style.visibility</p:attrName>
                                        </p:attrNameLst>
                                      </p:cBhvr>
                                      <p:to>
                                        <p:strVal val="visible"/>
                                      </p:to>
                                    </p:set>
                                    <p:animEffect transition="in" filter="checkerboard(across)">
                                      <p:cBhvr>
                                        <p:cTn id="7" dur="500"/>
                                        <p:tgtEl>
                                          <p:spTgt spid="603142">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3142">
                                            <p:txEl>
                                              <p:pRg st="1" end="1"/>
                                            </p:txEl>
                                          </p:spTgt>
                                        </p:tgtEl>
                                        <p:attrNameLst>
                                          <p:attrName>style.visibility</p:attrName>
                                        </p:attrNameLst>
                                      </p:cBhvr>
                                      <p:to>
                                        <p:strVal val="visible"/>
                                      </p:to>
                                    </p:set>
                                    <p:animEffect transition="in" filter="checkerboard(across)">
                                      <p:cBhvr>
                                        <p:cTn id="10" dur="500"/>
                                        <p:tgtEl>
                                          <p:spTgt spid="603142">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603142">
                                            <p:txEl>
                                              <p:pRg st="2" end="2"/>
                                            </p:txEl>
                                          </p:spTgt>
                                        </p:tgtEl>
                                        <p:attrNameLst>
                                          <p:attrName>style.visibility</p:attrName>
                                        </p:attrNameLst>
                                      </p:cBhvr>
                                      <p:to>
                                        <p:strVal val="visible"/>
                                      </p:to>
                                    </p:set>
                                    <p:animEffect transition="in" filter="checkerboard(across)">
                                      <p:cBhvr>
                                        <p:cTn id="13" dur="500"/>
                                        <p:tgtEl>
                                          <p:spTgt spid="603142">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603142">
                                            <p:txEl>
                                              <p:pRg st="3" end="3"/>
                                            </p:txEl>
                                          </p:spTgt>
                                        </p:tgtEl>
                                        <p:attrNameLst>
                                          <p:attrName>style.visibility</p:attrName>
                                        </p:attrNameLst>
                                      </p:cBhvr>
                                      <p:to>
                                        <p:strVal val="visible"/>
                                      </p:to>
                                    </p:set>
                                    <p:animEffect transition="in" filter="checkerboard(across)">
                                      <p:cBhvr>
                                        <p:cTn id="21" dur="500"/>
                                        <p:tgtEl>
                                          <p:spTgt spid="603142">
                                            <p:txEl>
                                              <p:pRg st="3" end="3"/>
                                            </p:txEl>
                                          </p:spTgt>
                                        </p:tgtEl>
                                      </p:cBhvr>
                                    </p:animEffect>
                                  </p:childTnLst>
                                </p:cTn>
                              </p:par>
                              <p:par>
                                <p:cTn id="22" presetID="5" presetClass="exit" presetSubtype="10" fill="hold" nodeType="withEffect">
                                  <p:stCondLst>
                                    <p:cond delay="0"/>
                                  </p:stCondLst>
                                  <p:childTnLst>
                                    <p:animEffect transition="out" filter="checkerboard(across)">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par>
                                <p:cTn id="25" presetID="5" presetClass="entr" presetSubtype="1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par>
                                <p:cTn id="28" presetID="5" presetClass="entr" presetSubtype="10" fill="hold" nodeType="withEffect">
                                  <p:stCondLst>
                                    <p:cond delay="0"/>
                                  </p:stCondLst>
                                  <p:childTnLst>
                                    <p:set>
                                      <p:cBhvr>
                                        <p:cTn id="29" dur="1" fill="hold">
                                          <p:stCondLst>
                                            <p:cond delay="0"/>
                                          </p:stCondLst>
                                        </p:cTn>
                                        <p:tgtEl>
                                          <p:spTgt spid="603142">
                                            <p:txEl>
                                              <p:pRg st="4" end="4"/>
                                            </p:txEl>
                                          </p:spTgt>
                                        </p:tgtEl>
                                        <p:attrNameLst>
                                          <p:attrName>style.visibility</p:attrName>
                                        </p:attrNameLst>
                                      </p:cBhvr>
                                      <p:to>
                                        <p:strVal val="visible"/>
                                      </p:to>
                                    </p:set>
                                    <p:animEffect transition="in" filter="checkerboard(across)">
                                      <p:cBhvr>
                                        <p:cTn id="30" dur="500"/>
                                        <p:tgtEl>
                                          <p:spTgt spid="603142">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603142">
                                            <p:txEl>
                                              <p:pRg st="5" end="5"/>
                                            </p:txEl>
                                          </p:spTgt>
                                        </p:tgtEl>
                                        <p:attrNameLst>
                                          <p:attrName>style.visibility</p:attrName>
                                        </p:attrNameLst>
                                      </p:cBhvr>
                                      <p:to>
                                        <p:strVal val="visible"/>
                                      </p:to>
                                    </p:set>
                                    <p:animEffect transition="in" filter="checkerboard(across)">
                                      <p:cBhvr>
                                        <p:cTn id="35" dur="500"/>
                                        <p:tgtEl>
                                          <p:spTgt spid="603142">
                                            <p:txEl>
                                              <p:pRg st="5" end="5"/>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603142">
                                            <p:txEl>
                                              <p:pRg st="6" end="6"/>
                                            </p:txEl>
                                          </p:spTgt>
                                        </p:tgtEl>
                                        <p:attrNameLst>
                                          <p:attrName>style.visibility</p:attrName>
                                        </p:attrNameLst>
                                      </p:cBhvr>
                                      <p:to>
                                        <p:strVal val="visible"/>
                                      </p:to>
                                    </p:set>
                                    <p:animEffect transition="in" filter="checkerboard(across)">
                                      <p:cBhvr>
                                        <p:cTn id="38" dur="500"/>
                                        <p:tgtEl>
                                          <p:spTgt spid="603142">
                                            <p:txEl>
                                              <p:pRg st="6" end="6"/>
                                            </p:txEl>
                                          </p:spTgt>
                                        </p:tgtEl>
                                      </p:cBhvr>
                                    </p:animEffect>
                                  </p:childTnLst>
                                </p:cTn>
                              </p:par>
                              <p:par>
                                <p:cTn id="39" presetID="5" presetClass="exit" presetSubtype="10" fill="hold" nodeType="withEffect">
                                  <p:stCondLst>
                                    <p:cond delay="0"/>
                                  </p:stCondLst>
                                  <p:childTnLst>
                                    <p:animEffect transition="out" filter="checkerboard(across)">
                                      <p:cBhvr>
                                        <p:cTn id="40" dur="500"/>
                                        <p:tgtEl>
                                          <p:spTgt spid="11"/>
                                        </p:tgtEl>
                                      </p:cBhvr>
                                    </p:animEffect>
                                    <p:set>
                                      <p:cBhvr>
                                        <p:cTn id="41" dur="1" fill="hold">
                                          <p:stCondLst>
                                            <p:cond delay="499"/>
                                          </p:stCondLst>
                                        </p:cTn>
                                        <p:tgtEl>
                                          <p:spTgt spid="11"/>
                                        </p:tgtEl>
                                        <p:attrNameLst>
                                          <p:attrName>style.visibility</p:attrName>
                                        </p:attrNameLst>
                                      </p:cBhvr>
                                      <p:to>
                                        <p:strVal val="hidden"/>
                                      </p:to>
                                    </p:set>
                                  </p:childTnLst>
                                </p:cTn>
                              </p:par>
                              <p:par>
                                <p:cTn id="42" presetID="5" presetClass="entr" presetSubtype="10" fill="hold" nodeType="withEffect">
                                  <p:stCondLst>
                                    <p:cond delay="0"/>
                                  </p:stCondLst>
                                  <p:childTnLst>
                                    <p:set>
                                      <p:cBhvr>
                                        <p:cTn id="43" dur="1" fill="hold">
                                          <p:stCondLst>
                                            <p:cond delay="0"/>
                                          </p:stCondLst>
                                        </p:cTn>
                                        <p:tgtEl>
                                          <p:spTgt spid="603142">
                                            <p:txEl>
                                              <p:pRg st="7" end="7"/>
                                            </p:txEl>
                                          </p:spTgt>
                                        </p:tgtEl>
                                        <p:attrNameLst>
                                          <p:attrName>style.visibility</p:attrName>
                                        </p:attrNameLst>
                                      </p:cBhvr>
                                      <p:to>
                                        <p:strVal val="visible"/>
                                      </p:to>
                                    </p:set>
                                    <p:animEffect transition="in" filter="checkerboard(across)">
                                      <p:cBhvr>
                                        <p:cTn id="44" dur="500"/>
                                        <p:tgtEl>
                                          <p:spTgt spid="603142">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nodeType="clickEffect">
                                  <p:stCondLst>
                                    <p:cond delay="0"/>
                                  </p:stCondLst>
                                  <p:childTnLst>
                                    <p:set>
                                      <p:cBhvr>
                                        <p:cTn id="48" dur="1" fill="hold">
                                          <p:stCondLst>
                                            <p:cond delay="0"/>
                                          </p:stCondLst>
                                        </p:cTn>
                                        <p:tgtEl>
                                          <p:spTgt spid="603142">
                                            <p:txEl>
                                              <p:pRg st="8" end="8"/>
                                            </p:txEl>
                                          </p:spTgt>
                                        </p:tgtEl>
                                        <p:attrNameLst>
                                          <p:attrName>style.visibility</p:attrName>
                                        </p:attrNameLst>
                                      </p:cBhvr>
                                      <p:to>
                                        <p:strVal val="visible"/>
                                      </p:to>
                                    </p:set>
                                    <p:animEffect transition="in" filter="checkerboard(across)">
                                      <p:cBhvr>
                                        <p:cTn id="49" dur="500"/>
                                        <p:tgtEl>
                                          <p:spTgt spid="603142">
                                            <p:txEl>
                                              <p:pRg st="8" end="8"/>
                                            </p:txEl>
                                          </p:spTgt>
                                        </p:tgtEl>
                                      </p:cBhvr>
                                    </p:animEffect>
                                  </p:childTnLst>
                                </p:cTn>
                              </p:par>
                              <p:par>
                                <p:cTn id="50" presetID="5" presetClass="entr" presetSubtype="10" fill="hold" nodeType="withEffect">
                                  <p:stCondLst>
                                    <p:cond delay="0"/>
                                  </p:stCondLst>
                                  <p:childTnLst>
                                    <p:set>
                                      <p:cBhvr>
                                        <p:cTn id="51" dur="1" fill="hold">
                                          <p:stCondLst>
                                            <p:cond delay="0"/>
                                          </p:stCondLst>
                                        </p:cTn>
                                        <p:tgtEl>
                                          <p:spTgt spid="603142">
                                            <p:txEl>
                                              <p:pRg st="9" end="9"/>
                                            </p:txEl>
                                          </p:spTgt>
                                        </p:tgtEl>
                                        <p:attrNameLst>
                                          <p:attrName>style.visibility</p:attrName>
                                        </p:attrNameLst>
                                      </p:cBhvr>
                                      <p:to>
                                        <p:strVal val="visible"/>
                                      </p:to>
                                    </p:set>
                                    <p:animEffect transition="in" filter="checkerboard(across)">
                                      <p:cBhvr>
                                        <p:cTn id="52" dur="500"/>
                                        <p:tgtEl>
                                          <p:spTgt spid="60314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custDataLst>
              <p:tags r:id="rId1"/>
            </p:custDataLst>
          </p:nvPr>
        </p:nvSpPr>
        <p:spPr>
          <a:xfrm>
            <a:off x="304799" y="396649"/>
            <a:ext cx="8519885" cy="684212"/>
          </a:xfrm>
        </p:spPr>
        <p:txBody>
          <a:bodyPr vert="horz" anchor="b">
            <a:normAutofit fontScale="90000"/>
          </a:bodyPr>
          <a:lstStyle/>
          <a:p>
            <a:pPr marL="460375" indent="-460375"/>
            <a:r>
              <a:rPr lang="fr-FR" b="1" dirty="0" smtClean="0">
                <a:solidFill>
                  <a:srgbClr val="000000"/>
                </a:solidFill>
              </a:rPr>
              <a:t>3. Configuration de la résolution de noms d'hôtes</a:t>
            </a:r>
            <a:endParaRPr lang="en-US" b="1" dirty="0" smtClean="0">
              <a:solidFill>
                <a:srgbClr val="000000"/>
              </a:solidFill>
            </a:endParaRPr>
          </a:p>
        </p:txBody>
      </p:sp>
      <p:sp>
        <p:nvSpPr>
          <p:cNvPr id="538627" name="Rectangle 3"/>
          <p:cNvSpPr>
            <a:spLocks noGrp="1" noChangeArrowheads="1"/>
          </p:cNvSpPr>
          <p:nvPr>
            <p:ph sz="quarter" idx="1"/>
            <p:custDataLst>
              <p:tags r:id="rId2"/>
            </p:custDataLst>
          </p:nvPr>
        </p:nvSpPr>
        <p:spPr>
          <a:xfrm>
            <a:off x="316266" y="1831848"/>
            <a:ext cx="8503920" cy="3523923"/>
          </a:xfrm>
        </p:spPr>
        <p:txBody>
          <a:bodyPr/>
          <a:lstStyle/>
          <a:p>
            <a:pPr>
              <a:buClrTx/>
              <a:buFont typeface="Symbol" pitchFamily="18" charset="2"/>
              <a:buChar char="®"/>
            </a:pPr>
            <a:r>
              <a:rPr lang="en-GB" dirty="0" err="1">
                <a:solidFill>
                  <a:srgbClr val="000000"/>
                </a:solidFill>
              </a:rPr>
              <a:t>Processus</a:t>
            </a:r>
            <a:r>
              <a:rPr lang="en-GB" dirty="0">
                <a:solidFill>
                  <a:srgbClr val="000000"/>
                </a:solidFill>
              </a:rPr>
              <a:t> de </a:t>
            </a:r>
            <a:r>
              <a:rPr lang="en-GB" dirty="0" err="1">
                <a:solidFill>
                  <a:srgbClr val="000000"/>
                </a:solidFill>
              </a:rPr>
              <a:t>résolution</a:t>
            </a:r>
            <a:r>
              <a:rPr lang="en-GB" dirty="0">
                <a:solidFill>
                  <a:srgbClr val="000000"/>
                </a:solidFill>
              </a:rPr>
              <a:t> de </a:t>
            </a:r>
            <a:r>
              <a:rPr lang="en-GB" dirty="0" err="1">
                <a:solidFill>
                  <a:srgbClr val="000000"/>
                </a:solidFill>
              </a:rPr>
              <a:t>noms</a:t>
            </a:r>
            <a:r>
              <a:rPr lang="en-GB" dirty="0">
                <a:solidFill>
                  <a:srgbClr val="000000"/>
                </a:solidFill>
              </a:rPr>
              <a:t> </a:t>
            </a:r>
            <a:r>
              <a:rPr lang="en-GB" dirty="0" err="1">
                <a:solidFill>
                  <a:srgbClr val="000000"/>
                </a:solidFill>
              </a:rPr>
              <a:t>d'hôtes</a:t>
            </a:r>
            <a:endParaRPr lang="en-US" dirty="0"/>
          </a:p>
          <a:p>
            <a:pPr>
              <a:buClrTx/>
              <a:buFont typeface="Symbol" pitchFamily="18" charset="2"/>
              <a:buChar char="®"/>
            </a:pPr>
            <a:r>
              <a:rPr lang="en-GB" dirty="0">
                <a:solidFill>
                  <a:srgbClr val="000000"/>
                </a:solidFill>
              </a:rPr>
              <a:t>Cache de </a:t>
            </a:r>
            <a:r>
              <a:rPr lang="en-GB" dirty="0" err="1">
                <a:solidFill>
                  <a:srgbClr val="000000"/>
                </a:solidFill>
              </a:rPr>
              <a:t>résolution</a:t>
            </a:r>
            <a:r>
              <a:rPr lang="en-GB" dirty="0">
                <a:solidFill>
                  <a:srgbClr val="000000"/>
                </a:solidFill>
              </a:rPr>
              <a:t> client</a:t>
            </a:r>
            <a:endParaRPr lang="en-US" dirty="0"/>
          </a:p>
          <a:p>
            <a:pPr>
              <a:buClrTx/>
              <a:buFont typeface="Symbol" pitchFamily="18" charset="2"/>
              <a:buChar char="®"/>
            </a:pPr>
            <a:r>
              <a:rPr lang="en-GB" dirty="0">
                <a:solidFill>
                  <a:srgbClr val="000000"/>
                </a:solidFill>
              </a:rPr>
              <a:t>Comment </a:t>
            </a:r>
            <a:r>
              <a:rPr lang="en-GB" dirty="0" err="1">
                <a:solidFill>
                  <a:srgbClr val="000000"/>
                </a:solidFill>
              </a:rPr>
              <a:t>afficher</a:t>
            </a:r>
            <a:r>
              <a:rPr lang="en-GB" dirty="0">
                <a:solidFill>
                  <a:srgbClr val="000000"/>
                </a:solidFill>
              </a:rPr>
              <a:t> et </a:t>
            </a:r>
            <a:r>
              <a:rPr lang="en-GB" dirty="0" err="1">
                <a:solidFill>
                  <a:srgbClr val="000000"/>
                </a:solidFill>
              </a:rPr>
              <a:t>vider</a:t>
            </a:r>
            <a:r>
              <a:rPr lang="en-GB" dirty="0">
                <a:solidFill>
                  <a:srgbClr val="000000"/>
                </a:solidFill>
              </a:rPr>
              <a:t> le cache de </a:t>
            </a:r>
            <a:r>
              <a:rPr lang="en-GB" dirty="0" err="1">
                <a:solidFill>
                  <a:srgbClr val="000000"/>
                </a:solidFill>
              </a:rPr>
              <a:t>résolution</a:t>
            </a:r>
            <a:r>
              <a:rPr lang="en-GB" dirty="0">
                <a:solidFill>
                  <a:srgbClr val="000000"/>
                </a:solidFill>
              </a:rPr>
              <a:t> client</a:t>
            </a:r>
            <a:endParaRPr lang="en-US" dirty="0"/>
          </a:p>
          <a:p>
            <a:pPr>
              <a:buClrTx/>
              <a:buFont typeface="Symbol" pitchFamily="18" charset="2"/>
              <a:buChar char="®"/>
            </a:pPr>
            <a:r>
              <a:rPr lang="en-GB" dirty="0" err="1">
                <a:solidFill>
                  <a:srgbClr val="000000"/>
                </a:solidFill>
              </a:rPr>
              <a:t>Fichier</a:t>
            </a:r>
            <a:r>
              <a:rPr lang="en-GB" dirty="0">
                <a:solidFill>
                  <a:srgbClr val="000000"/>
                </a:solidFill>
              </a:rPr>
              <a:t> Hosts</a:t>
            </a:r>
            <a:endParaRPr lang="en-US" dirty="0"/>
          </a:p>
          <a:p>
            <a:pPr>
              <a:buClrTx/>
              <a:buFont typeface="Symbol" pitchFamily="18" charset="2"/>
              <a:buChar char="®"/>
            </a:pPr>
            <a:r>
              <a:rPr lang="en-GB" dirty="0">
                <a:solidFill>
                  <a:srgbClr val="000000"/>
                </a:solidFill>
              </a:rPr>
              <a:t>Comment </a:t>
            </a:r>
            <a:r>
              <a:rPr lang="en-GB" dirty="0" err="1">
                <a:solidFill>
                  <a:srgbClr val="000000"/>
                </a:solidFill>
              </a:rPr>
              <a:t>précharger</a:t>
            </a:r>
            <a:r>
              <a:rPr lang="en-GB" dirty="0">
                <a:solidFill>
                  <a:srgbClr val="000000"/>
                </a:solidFill>
              </a:rPr>
              <a:t> un cache de </a:t>
            </a:r>
            <a:r>
              <a:rPr lang="en-GB" dirty="0" err="1">
                <a:solidFill>
                  <a:srgbClr val="000000"/>
                </a:solidFill>
              </a:rPr>
              <a:t>résolution</a:t>
            </a:r>
            <a:r>
              <a:rPr lang="en-GB" dirty="0">
                <a:solidFill>
                  <a:srgbClr val="000000"/>
                </a:solidFill>
              </a:rPr>
              <a:t> client en </a:t>
            </a:r>
            <a:r>
              <a:rPr lang="en-GB" dirty="0" err="1">
                <a:solidFill>
                  <a:srgbClr val="000000"/>
                </a:solidFill>
              </a:rPr>
              <a:t>utilisant</a:t>
            </a:r>
            <a:r>
              <a:rPr lang="en-GB" dirty="0">
                <a:solidFill>
                  <a:srgbClr val="000000"/>
                </a:solidFill>
              </a:rPr>
              <a:t> un </a:t>
            </a:r>
            <a:r>
              <a:rPr lang="en-GB" dirty="0" err="1">
                <a:solidFill>
                  <a:srgbClr val="000000"/>
                </a:solidFill>
              </a:rPr>
              <a:t>fichier</a:t>
            </a:r>
            <a:r>
              <a:rPr lang="en-GB" dirty="0">
                <a:solidFill>
                  <a:srgbClr val="000000"/>
                </a:solidFill>
              </a:rPr>
              <a:t> Hosts</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custDataLst>
              <p:tags r:id="rId1"/>
            </p:custDataLst>
          </p:nvPr>
        </p:nvSpPr>
        <p:spPr/>
        <p:txBody>
          <a:bodyPr/>
          <a:lstStyle/>
          <a:p>
            <a:r>
              <a:rPr lang="fr-FR" b="1" dirty="0">
                <a:solidFill>
                  <a:srgbClr val="C00000"/>
                </a:solidFill>
              </a:rPr>
              <a:t>Processus de résolution de noms d'hôtes</a:t>
            </a:r>
            <a:endParaRPr lang="en-US" b="1" dirty="0">
              <a:solidFill>
                <a:srgbClr val="C00000"/>
              </a:solidFill>
            </a:endParaRPr>
          </a:p>
        </p:txBody>
      </p:sp>
      <p:sp>
        <p:nvSpPr>
          <p:cNvPr id="539752" name="Oval 104"/>
          <p:cNvSpPr>
            <a:spLocks noChangeArrowheads="1"/>
          </p:cNvSpPr>
          <p:nvPr/>
        </p:nvSpPr>
        <p:spPr bwMode="auto">
          <a:xfrm>
            <a:off x="1055688" y="4960938"/>
            <a:ext cx="2284412" cy="1162050"/>
          </a:xfrm>
          <a:prstGeom prst="ellipse">
            <a:avLst/>
          </a:prstGeom>
          <a:gradFill rotWithShape="1">
            <a:gsLst>
              <a:gs pos="0">
                <a:srgbClr val="FFFFFF"/>
              </a:gs>
              <a:gs pos="100000">
                <a:srgbClr val="EEEFD7"/>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sp>
        <p:nvSpPr>
          <p:cNvPr id="539737" name="AutoShape 89"/>
          <p:cNvSpPr>
            <a:spLocks noChangeArrowheads="1"/>
          </p:cNvSpPr>
          <p:nvPr>
            <p:custDataLst>
              <p:tags r:id="rId2"/>
            </p:custDataLst>
          </p:nvPr>
        </p:nvSpPr>
        <p:spPr bwMode="auto">
          <a:xfrm>
            <a:off x="3555999" y="5180012"/>
            <a:ext cx="5396931" cy="1104673"/>
          </a:xfrm>
          <a:prstGeom prst="roundRect">
            <a:avLst>
              <a:gd name="adj" fmla="val 23130"/>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r>
              <a:rPr lang="en-GB" sz="2400" dirty="0">
                <a:solidFill>
                  <a:srgbClr val="000000"/>
                </a:solidFill>
              </a:rPr>
              <a:t>La </a:t>
            </a:r>
            <a:r>
              <a:rPr lang="en-GB" sz="2400" i="1" dirty="0" err="1">
                <a:solidFill>
                  <a:srgbClr val="000000"/>
                </a:solidFill>
              </a:rPr>
              <a:t>résolution</a:t>
            </a:r>
            <a:r>
              <a:rPr lang="en-GB" sz="2400" i="1" dirty="0">
                <a:solidFill>
                  <a:srgbClr val="000000"/>
                </a:solidFill>
              </a:rPr>
              <a:t> de </a:t>
            </a:r>
            <a:r>
              <a:rPr lang="en-GB" sz="2400" i="1" dirty="0" err="1">
                <a:solidFill>
                  <a:srgbClr val="000000"/>
                </a:solidFill>
              </a:rPr>
              <a:t>noms</a:t>
            </a:r>
            <a:r>
              <a:rPr lang="en-GB" sz="2400" i="1" dirty="0">
                <a:solidFill>
                  <a:srgbClr val="000000"/>
                </a:solidFill>
              </a:rPr>
              <a:t> </a:t>
            </a:r>
            <a:r>
              <a:rPr lang="en-GB" sz="2400" i="1" dirty="0" err="1">
                <a:solidFill>
                  <a:srgbClr val="000000"/>
                </a:solidFill>
              </a:rPr>
              <a:t>d'hôtes</a:t>
            </a:r>
            <a:r>
              <a:rPr lang="en-GB" sz="2400" dirty="0">
                <a:solidFill>
                  <a:srgbClr val="000000"/>
                </a:solidFill>
              </a:rPr>
              <a:t> </a:t>
            </a:r>
            <a:r>
              <a:rPr lang="en-GB" sz="2400" dirty="0" err="1">
                <a:solidFill>
                  <a:srgbClr val="000000"/>
                </a:solidFill>
              </a:rPr>
              <a:t>est</a:t>
            </a:r>
            <a:r>
              <a:rPr lang="en-GB" sz="2400" dirty="0">
                <a:solidFill>
                  <a:srgbClr val="000000"/>
                </a:solidFill>
              </a:rPr>
              <a:t> le </a:t>
            </a:r>
            <a:r>
              <a:rPr lang="en-GB" sz="2400" dirty="0" err="1">
                <a:solidFill>
                  <a:srgbClr val="000000"/>
                </a:solidFill>
              </a:rPr>
              <a:t>processus</a:t>
            </a:r>
            <a:r>
              <a:rPr lang="en-GB" sz="2400" dirty="0">
                <a:solidFill>
                  <a:srgbClr val="000000"/>
                </a:solidFill>
              </a:rPr>
              <a:t> qui </a:t>
            </a:r>
            <a:r>
              <a:rPr lang="en-GB" sz="2400" dirty="0" err="1">
                <a:solidFill>
                  <a:srgbClr val="000000"/>
                </a:solidFill>
              </a:rPr>
              <a:t>consiste</a:t>
            </a:r>
            <a:r>
              <a:rPr lang="en-GB" sz="2400" dirty="0">
                <a:solidFill>
                  <a:srgbClr val="000000"/>
                </a:solidFill>
              </a:rPr>
              <a:t> à </a:t>
            </a:r>
            <a:r>
              <a:rPr lang="en-GB" sz="2400" dirty="0" err="1">
                <a:solidFill>
                  <a:srgbClr val="000000"/>
                </a:solidFill>
              </a:rPr>
              <a:t>résoudre</a:t>
            </a:r>
            <a:r>
              <a:rPr lang="en-GB" sz="2400" dirty="0">
                <a:solidFill>
                  <a:srgbClr val="000000"/>
                </a:solidFill>
              </a:rPr>
              <a:t> un nom d'hôte en </a:t>
            </a:r>
            <a:r>
              <a:rPr lang="en-GB" sz="2400" dirty="0" err="1">
                <a:solidFill>
                  <a:srgbClr val="000000"/>
                </a:solidFill>
              </a:rPr>
              <a:t>adresse</a:t>
            </a:r>
            <a:r>
              <a:rPr lang="en-GB" sz="2400" dirty="0">
                <a:solidFill>
                  <a:srgbClr val="000000"/>
                </a:solidFill>
              </a:rPr>
              <a:t> IP</a:t>
            </a:r>
            <a:endParaRPr lang="en-US" sz="2400" dirty="0"/>
          </a:p>
        </p:txBody>
      </p:sp>
      <p:pic>
        <p:nvPicPr>
          <p:cNvPr id="539744" name="Picture 96" descr="tube3"/>
          <p:cNvPicPr>
            <a:picLocks noChangeAspect="1" noChangeArrowheads="1"/>
          </p:cNvPicPr>
          <p:nvPr/>
        </p:nvPicPr>
        <p:blipFill>
          <a:blip r:embed="rId18"/>
          <a:srcRect/>
          <a:stretch>
            <a:fillRect/>
          </a:stretch>
        </p:blipFill>
        <p:spPr bwMode="auto">
          <a:xfrm>
            <a:off x="7137093" y="1322695"/>
            <a:ext cx="1843134" cy="899917"/>
          </a:xfrm>
          <a:prstGeom prst="rect">
            <a:avLst/>
          </a:prstGeom>
          <a:noFill/>
        </p:spPr>
      </p:pic>
      <p:pic>
        <p:nvPicPr>
          <p:cNvPr id="539745" name="Picture 97" descr="tube3"/>
          <p:cNvPicPr>
            <a:picLocks noChangeAspect="1" noChangeArrowheads="1"/>
          </p:cNvPicPr>
          <p:nvPr/>
        </p:nvPicPr>
        <p:blipFill>
          <a:blip r:embed="rId18"/>
          <a:srcRect/>
          <a:stretch>
            <a:fillRect/>
          </a:stretch>
        </p:blipFill>
        <p:spPr bwMode="auto">
          <a:xfrm>
            <a:off x="5892279" y="1322695"/>
            <a:ext cx="1791411" cy="874662"/>
          </a:xfrm>
          <a:prstGeom prst="rect">
            <a:avLst/>
          </a:prstGeom>
          <a:noFill/>
        </p:spPr>
      </p:pic>
      <p:pic>
        <p:nvPicPr>
          <p:cNvPr id="539746" name="Picture 98" descr="tube3"/>
          <p:cNvPicPr>
            <a:picLocks noChangeAspect="1" noChangeArrowheads="1"/>
          </p:cNvPicPr>
          <p:nvPr/>
        </p:nvPicPr>
        <p:blipFill>
          <a:blip r:embed="rId18"/>
          <a:srcRect/>
          <a:stretch>
            <a:fillRect/>
          </a:stretch>
        </p:blipFill>
        <p:spPr bwMode="auto">
          <a:xfrm>
            <a:off x="4755061" y="1336342"/>
            <a:ext cx="1679462" cy="820003"/>
          </a:xfrm>
          <a:prstGeom prst="rect">
            <a:avLst/>
          </a:prstGeom>
          <a:noFill/>
        </p:spPr>
      </p:pic>
      <p:pic>
        <p:nvPicPr>
          <p:cNvPr id="539747" name="Picture 99" descr="tube3"/>
          <p:cNvPicPr>
            <a:picLocks noChangeAspect="1" noChangeArrowheads="1"/>
          </p:cNvPicPr>
          <p:nvPr/>
        </p:nvPicPr>
        <p:blipFill>
          <a:blip r:embed="rId18"/>
          <a:srcRect/>
          <a:stretch>
            <a:fillRect/>
          </a:stretch>
        </p:blipFill>
        <p:spPr bwMode="auto">
          <a:xfrm>
            <a:off x="3522309" y="1336344"/>
            <a:ext cx="1718433" cy="839030"/>
          </a:xfrm>
          <a:prstGeom prst="rect">
            <a:avLst/>
          </a:prstGeom>
          <a:noFill/>
        </p:spPr>
      </p:pic>
      <p:pic>
        <p:nvPicPr>
          <p:cNvPr id="539748" name="Picture 100" descr="tube2"/>
          <p:cNvPicPr>
            <a:picLocks noChangeAspect="1" noChangeArrowheads="1"/>
          </p:cNvPicPr>
          <p:nvPr/>
        </p:nvPicPr>
        <p:blipFill>
          <a:blip r:embed="rId19"/>
          <a:srcRect/>
          <a:stretch>
            <a:fillRect/>
          </a:stretch>
        </p:blipFill>
        <p:spPr bwMode="auto">
          <a:xfrm>
            <a:off x="2322513" y="1336343"/>
            <a:ext cx="1722762" cy="833651"/>
          </a:xfrm>
          <a:prstGeom prst="rect">
            <a:avLst/>
          </a:prstGeom>
          <a:noFill/>
        </p:spPr>
      </p:pic>
      <p:pic>
        <p:nvPicPr>
          <p:cNvPr id="539749" name="Picture 101" descr="tube2"/>
          <p:cNvPicPr>
            <a:picLocks noChangeAspect="1" noChangeArrowheads="1"/>
          </p:cNvPicPr>
          <p:nvPr/>
        </p:nvPicPr>
        <p:blipFill>
          <a:blip r:embed="rId19"/>
          <a:srcRect/>
          <a:stretch>
            <a:fillRect/>
          </a:stretch>
        </p:blipFill>
        <p:spPr bwMode="auto">
          <a:xfrm>
            <a:off x="771576" y="1322695"/>
            <a:ext cx="2071024" cy="874594"/>
          </a:xfrm>
          <a:prstGeom prst="rect">
            <a:avLst/>
          </a:prstGeom>
          <a:noFill/>
          <a:effectLst>
            <a:outerShdw blurRad="50800" dist="50800" dir="5400000" algn="ctr" rotWithShape="0">
              <a:srgbClr val="000000">
                <a:alpha val="0"/>
              </a:srgbClr>
            </a:outerShdw>
          </a:effectLst>
        </p:spPr>
      </p:pic>
      <p:sp>
        <p:nvSpPr>
          <p:cNvPr id="539751" name="Oval 103"/>
          <p:cNvSpPr>
            <a:spLocks noChangeArrowheads="1"/>
          </p:cNvSpPr>
          <p:nvPr/>
        </p:nvSpPr>
        <p:spPr bwMode="auto">
          <a:xfrm>
            <a:off x="5600700" y="3713163"/>
            <a:ext cx="2235200" cy="1096962"/>
          </a:xfrm>
          <a:prstGeom prst="ellipse">
            <a:avLst/>
          </a:prstGeom>
          <a:gradFill rotWithShape="1">
            <a:gsLst>
              <a:gs pos="0">
                <a:srgbClr val="F0F1FF"/>
              </a:gs>
              <a:gs pos="100000">
                <a:srgbClr val="B3C8DF"/>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539753" name="Picture 105" descr="UserWithDesktopComputer01"/>
          <p:cNvPicPr>
            <a:picLocks noChangeAspect="1" noChangeArrowheads="1"/>
          </p:cNvPicPr>
          <p:nvPr/>
        </p:nvPicPr>
        <p:blipFill>
          <a:blip r:embed="rId20"/>
          <a:srcRect/>
          <a:stretch>
            <a:fillRect/>
          </a:stretch>
        </p:blipFill>
        <p:spPr bwMode="auto">
          <a:xfrm>
            <a:off x="1228725" y="4052888"/>
            <a:ext cx="1868488" cy="2171700"/>
          </a:xfrm>
          <a:prstGeom prst="rect">
            <a:avLst/>
          </a:prstGeom>
          <a:noFill/>
        </p:spPr>
      </p:pic>
      <p:pic>
        <p:nvPicPr>
          <p:cNvPr id="539754" name="Picture 106" descr="Computer_DesktopComputerSansKeyboard01"/>
          <p:cNvPicPr>
            <a:picLocks noChangeAspect="1" noChangeArrowheads="1"/>
          </p:cNvPicPr>
          <p:nvPr/>
        </p:nvPicPr>
        <p:blipFill>
          <a:blip r:embed="rId21" cstate="print"/>
          <a:srcRect/>
          <a:stretch>
            <a:fillRect/>
          </a:stretch>
        </p:blipFill>
        <p:spPr bwMode="auto">
          <a:xfrm>
            <a:off x="6215063" y="2976563"/>
            <a:ext cx="1141412" cy="1392237"/>
          </a:xfrm>
          <a:prstGeom prst="rect">
            <a:avLst/>
          </a:prstGeom>
          <a:noFill/>
        </p:spPr>
      </p:pic>
      <p:sp>
        <p:nvSpPr>
          <p:cNvPr id="539755" name="Freeform 107"/>
          <p:cNvSpPr>
            <a:spLocks/>
          </p:cNvSpPr>
          <p:nvPr/>
        </p:nvSpPr>
        <p:spPr bwMode="auto">
          <a:xfrm rot="45885198" flipH="1" flipV="1">
            <a:off x="269875" y="2278063"/>
            <a:ext cx="2282825" cy="1546225"/>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39756" name="AutoShape 108"/>
          <p:cNvSpPr>
            <a:spLocks noChangeArrowheads="1"/>
          </p:cNvSpPr>
          <p:nvPr>
            <p:custDataLst>
              <p:tags r:id="rId3"/>
            </p:custDataLst>
          </p:nvPr>
        </p:nvSpPr>
        <p:spPr bwMode="auto">
          <a:xfrm>
            <a:off x="1303338" y="2909888"/>
            <a:ext cx="2147887" cy="1004887"/>
          </a:xfrm>
          <a:prstGeom prst="wedgeRoundRectCallout">
            <a:avLst>
              <a:gd name="adj1" fmla="val 14894"/>
              <a:gd name="adj2" fmla="val 92023"/>
              <a:gd name="adj3" fmla="val 16667"/>
            </a:avLst>
          </a:prstGeom>
          <a:solidFill>
            <a:srgbClr val="DAF4E9"/>
          </a:solidFill>
          <a:ln w="9525" algn="ctr">
            <a:solidFill>
              <a:srgbClr val="333333"/>
            </a:solidFill>
            <a:miter lim="800000"/>
            <a:headEnd/>
            <a:tailEnd/>
          </a:ln>
          <a:effectLst>
            <a:outerShdw dist="35921" dir="2700000" algn="ctr" rotWithShape="0">
              <a:schemeClr val="bg2"/>
            </a:outerShdw>
          </a:effectLst>
        </p:spPr>
        <p:txBody>
          <a:bodyPr anchor="ctr"/>
          <a:lstStyle/>
          <a:p>
            <a:r>
              <a:rPr lang="en-GB" sz="2000">
                <a:solidFill>
                  <a:srgbClr val="000000"/>
                </a:solidFill>
              </a:rPr>
              <a:t>Quelle est</a:t>
            </a:r>
            <a:endParaRPr lang="en-US" sz="2000"/>
          </a:p>
          <a:p>
            <a:r>
              <a:rPr lang="en-GB" sz="2000">
                <a:solidFill>
                  <a:srgbClr val="000000"/>
                </a:solidFill>
              </a:rPr>
              <a:t>l'adresse IP de Salescomputer2 ?</a:t>
            </a:r>
            <a:endParaRPr lang="en-US" sz="2000">
              <a:solidFill>
                <a:srgbClr val="000000"/>
              </a:solidFill>
            </a:endParaRPr>
          </a:p>
        </p:txBody>
      </p:sp>
      <p:sp>
        <p:nvSpPr>
          <p:cNvPr id="539757" name="Freeform 109"/>
          <p:cNvSpPr>
            <a:spLocks/>
          </p:cNvSpPr>
          <p:nvPr/>
        </p:nvSpPr>
        <p:spPr bwMode="auto">
          <a:xfrm rot="36146407" flipH="1" flipV="1">
            <a:off x="2223294" y="2570956"/>
            <a:ext cx="2136775" cy="1160463"/>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39758" name="Arc 110"/>
          <p:cNvSpPr>
            <a:spLocks/>
          </p:cNvSpPr>
          <p:nvPr/>
        </p:nvSpPr>
        <p:spPr bwMode="auto">
          <a:xfrm rot="-896028">
            <a:off x="3252788" y="3881438"/>
            <a:ext cx="3040062" cy="1573212"/>
          </a:xfrm>
          <a:custGeom>
            <a:avLst/>
            <a:gdLst>
              <a:gd name="G0" fmla="+- 17725 0 0"/>
              <a:gd name="G1" fmla="+- 21600 0 0"/>
              <a:gd name="G2" fmla="+- 21600 0 0"/>
              <a:gd name="T0" fmla="*/ 0 w 26071"/>
              <a:gd name="T1" fmla="*/ 9256 h 21600"/>
              <a:gd name="T2" fmla="*/ 26071 w 26071"/>
              <a:gd name="T3" fmla="*/ 1678 h 21600"/>
              <a:gd name="T4" fmla="*/ 17725 w 26071"/>
              <a:gd name="T5" fmla="*/ 21600 h 21600"/>
            </a:gdLst>
            <a:ahLst/>
            <a:cxnLst>
              <a:cxn ang="0">
                <a:pos x="T0" y="T1"/>
              </a:cxn>
              <a:cxn ang="0">
                <a:pos x="T2" y="T3"/>
              </a:cxn>
              <a:cxn ang="0">
                <a:pos x="T4" y="T5"/>
              </a:cxn>
            </a:cxnLst>
            <a:rect l="0" t="0" r="r" b="b"/>
            <a:pathLst>
              <a:path w="26071" h="21600" fill="none" extrusionOk="0">
                <a:moveTo>
                  <a:pt x="-1" y="9255"/>
                </a:moveTo>
                <a:cubicBezTo>
                  <a:pt x="4038" y="3456"/>
                  <a:pt x="10658" y="-1"/>
                  <a:pt x="17725" y="0"/>
                </a:cubicBezTo>
                <a:cubicBezTo>
                  <a:pt x="20590" y="0"/>
                  <a:pt x="23427" y="570"/>
                  <a:pt x="26071" y="1677"/>
                </a:cubicBezTo>
              </a:path>
              <a:path w="26071" h="21600" stroke="0" extrusionOk="0">
                <a:moveTo>
                  <a:pt x="-1" y="9255"/>
                </a:moveTo>
                <a:cubicBezTo>
                  <a:pt x="4038" y="3456"/>
                  <a:pt x="10658" y="-1"/>
                  <a:pt x="17725" y="0"/>
                </a:cubicBezTo>
                <a:cubicBezTo>
                  <a:pt x="20590" y="0"/>
                  <a:pt x="23427" y="570"/>
                  <a:pt x="26071" y="1677"/>
                </a:cubicBezTo>
                <a:lnTo>
                  <a:pt x="17725" y="21600"/>
                </a:lnTo>
                <a:close/>
              </a:path>
            </a:pathLst>
          </a:custGeom>
          <a:noFill/>
          <a:ln w="76200" cap="rnd">
            <a:solidFill>
              <a:srgbClr val="CC0000"/>
            </a:solidFill>
            <a:prstDash val="sysDot"/>
            <a:round/>
            <a:headEnd/>
            <a:tailEnd type="triangle" w="med" len="med"/>
          </a:ln>
          <a:effectLst/>
        </p:spPr>
        <p:txBody>
          <a:bodyPr wrap="none" anchor="ctr"/>
          <a:lstStyle/>
          <a:p>
            <a:endParaRPr lang="fr-FR"/>
          </a:p>
        </p:txBody>
      </p:sp>
      <p:sp>
        <p:nvSpPr>
          <p:cNvPr id="539759" name="AutoShape 111"/>
          <p:cNvSpPr>
            <a:spLocks noChangeArrowheads="1"/>
          </p:cNvSpPr>
          <p:nvPr>
            <p:custDataLst>
              <p:tags r:id="rId4"/>
            </p:custDataLst>
          </p:nvPr>
        </p:nvSpPr>
        <p:spPr bwMode="auto">
          <a:xfrm>
            <a:off x="5846763" y="4618037"/>
            <a:ext cx="2049008" cy="43293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Salescomputer2</a:t>
            </a:r>
            <a:endParaRPr lang="en-US" sz="2000"/>
          </a:p>
        </p:txBody>
      </p:sp>
      <p:sp>
        <p:nvSpPr>
          <p:cNvPr id="539760" name="AutoShape 112"/>
          <p:cNvSpPr>
            <a:spLocks noChangeArrowheads="1"/>
          </p:cNvSpPr>
          <p:nvPr>
            <p:custDataLst>
              <p:tags r:id="rId5"/>
            </p:custDataLst>
          </p:nvPr>
        </p:nvSpPr>
        <p:spPr bwMode="auto">
          <a:xfrm>
            <a:off x="639763" y="242887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1</a:t>
            </a:r>
          </a:p>
        </p:txBody>
      </p:sp>
      <p:sp>
        <p:nvSpPr>
          <p:cNvPr id="539761" name="AutoShape 113"/>
          <p:cNvSpPr>
            <a:spLocks noChangeArrowheads="1"/>
          </p:cNvSpPr>
          <p:nvPr>
            <p:custDataLst>
              <p:tags r:id="rId6"/>
            </p:custDataLst>
          </p:nvPr>
        </p:nvSpPr>
        <p:spPr bwMode="auto">
          <a:xfrm>
            <a:off x="3379788" y="2328863"/>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dirty="0">
                <a:solidFill>
                  <a:srgbClr val="990033"/>
                </a:solidFill>
              </a:rPr>
              <a:t>2</a:t>
            </a:r>
          </a:p>
        </p:txBody>
      </p:sp>
      <p:sp>
        <p:nvSpPr>
          <p:cNvPr id="539762" name="AutoShape 114"/>
          <p:cNvSpPr>
            <a:spLocks noChangeArrowheads="1"/>
          </p:cNvSpPr>
          <p:nvPr>
            <p:custDataLst>
              <p:tags r:id="rId7"/>
            </p:custDataLst>
          </p:nvPr>
        </p:nvSpPr>
        <p:spPr bwMode="auto">
          <a:xfrm>
            <a:off x="4505325" y="376713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3</a:t>
            </a:r>
          </a:p>
        </p:txBody>
      </p:sp>
      <p:sp>
        <p:nvSpPr>
          <p:cNvPr id="539763" name="Text Box 115"/>
          <p:cNvSpPr txBox="1">
            <a:spLocks noChangeArrowheads="1"/>
          </p:cNvSpPr>
          <p:nvPr>
            <p:custDataLst>
              <p:tags r:id="rId8"/>
            </p:custDataLst>
          </p:nvPr>
        </p:nvSpPr>
        <p:spPr bwMode="auto">
          <a:xfrm>
            <a:off x="3817938" y="2371725"/>
            <a:ext cx="1410964" cy="400110"/>
          </a:xfrm>
          <a:prstGeom prst="rect">
            <a:avLst/>
          </a:prstGeom>
          <a:noFill/>
          <a:ln w="9525" algn="ctr">
            <a:noFill/>
            <a:miter lim="800000"/>
            <a:headEnd/>
            <a:tailEnd/>
          </a:ln>
          <a:effectLst/>
        </p:spPr>
        <p:txBody>
          <a:bodyPr wrap="none">
            <a:spAutoFit/>
          </a:bodyPr>
          <a:lstStyle/>
          <a:p>
            <a:r>
              <a:rPr lang="en-US" sz="2000" dirty="0"/>
              <a:t>192.168.1.35</a:t>
            </a:r>
          </a:p>
        </p:txBody>
      </p:sp>
      <p:sp>
        <p:nvSpPr>
          <p:cNvPr id="539764" name="Text Box 116"/>
          <p:cNvSpPr txBox="1">
            <a:spLocks noChangeArrowheads="1"/>
          </p:cNvSpPr>
          <p:nvPr>
            <p:custDataLst>
              <p:tags r:id="rId9"/>
            </p:custDataLst>
          </p:nvPr>
        </p:nvSpPr>
        <p:spPr bwMode="auto">
          <a:xfrm>
            <a:off x="1027113" y="2441575"/>
            <a:ext cx="2006373" cy="400110"/>
          </a:xfrm>
          <a:prstGeom prst="rect">
            <a:avLst/>
          </a:prstGeom>
          <a:noFill/>
          <a:ln w="9525" algn="ctr">
            <a:noFill/>
            <a:miter lim="800000"/>
            <a:headEnd/>
            <a:tailEnd/>
          </a:ln>
          <a:effectLst/>
        </p:spPr>
        <p:txBody>
          <a:bodyPr wrap="square">
            <a:spAutoFit/>
          </a:bodyPr>
          <a:lstStyle/>
          <a:p>
            <a:r>
              <a:rPr lang="en-GB" sz="2000" dirty="0">
                <a:solidFill>
                  <a:srgbClr val="000000"/>
                </a:solidFill>
              </a:rPr>
              <a:t>Salescomputer2</a:t>
            </a:r>
            <a:endParaRPr lang="en-US" sz="2000" dirty="0"/>
          </a:p>
        </p:txBody>
      </p:sp>
      <p:sp>
        <p:nvSpPr>
          <p:cNvPr id="539765" name="Text Box 117"/>
          <p:cNvSpPr txBox="1">
            <a:spLocks noChangeArrowheads="1"/>
          </p:cNvSpPr>
          <p:nvPr>
            <p:custDataLst>
              <p:tags r:id="rId10"/>
            </p:custDataLst>
          </p:nvPr>
        </p:nvSpPr>
        <p:spPr bwMode="auto">
          <a:xfrm>
            <a:off x="832513" y="1375391"/>
            <a:ext cx="1987835" cy="563231"/>
          </a:xfrm>
          <a:prstGeom prst="rect">
            <a:avLst/>
          </a:prstGeom>
          <a:noFill/>
          <a:ln w="9525">
            <a:noFill/>
            <a:miter lim="800000"/>
            <a:headEnd/>
            <a:tailEnd/>
          </a:ln>
          <a:effectLst/>
        </p:spPr>
        <p:txBody>
          <a:bodyPr wrap="square">
            <a:spAutoFit/>
          </a:bodyPr>
          <a:lstStyle/>
          <a:p>
            <a:pPr eaLnBrk="1" hangingPunct="1">
              <a:lnSpc>
                <a:spcPct val="85000"/>
              </a:lnSpc>
            </a:pPr>
            <a:r>
              <a:rPr lang="en-GB" sz="1800" dirty="0">
                <a:solidFill>
                  <a:srgbClr val="000000"/>
                </a:solidFill>
              </a:rPr>
              <a:t>Cache de </a:t>
            </a:r>
            <a:r>
              <a:rPr lang="en-GB" sz="1800" dirty="0" err="1">
                <a:solidFill>
                  <a:srgbClr val="000000"/>
                </a:solidFill>
              </a:rPr>
              <a:t>résolution</a:t>
            </a:r>
            <a:r>
              <a:rPr lang="en-GB" sz="1800" dirty="0">
                <a:solidFill>
                  <a:srgbClr val="000000"/>
                </a:solidFill>
              </a:rPr>
              <a:t> client/</a:t>
            </a:r>
            <a:r>
              <a:rPr lang="en-GB" sz="1800" dirty="0" err="1">
                <a:solidFill>
                  <a:srgbClr val="000000"/>
                </a:solidFill>
              </a:rPr>
              <a:t>fichier</a:t>
            </a:r>
            <a:r>
              <a:rPr lang="en-GB" sz="1800" dirty="0">
                <a:solidFill>
                  <a:srgbClr val="000000"/>
                </a:solidFill>
              </a:rPr>
              <a:t> Hosts</a:t>
            </a:r>
            <a:endParaRPr lang="en-US" sz="1800" dirty="0"/>
          </a:p>
        </p:txBody>
      </p:sp>
      <p:sp>
        <p:nvSpPr>
          <p:cNvPr id="539766" name="Text Box 118"/>
          <p:cNvSpPr txBox="1">
            <a:spLocks noChangeArrowheads="1"/>
          </p:cNvSpPr>
          <p:nvPr>
            <p:custDataLst>
              <p:tags r:id="rId11"/>
            </p:custDataLst>
          </p:nvPr>
        </p:nvSpPr>
        <p:spPr bwMode="auto">
          <a:xfrm>
            <a:off x="3133962" y="1449056"/>
            <a:ext cx="583814" cy="369332"/>
          </a:xfrm>
          <a:prstGeom prst="rect">
            <a:avLst/>
          </a:prstGeom>
          <a:noFill/>
          <a:ln w="9525">
            <a:noFill/>
            <a:miter lim="800000"/>
            <a:headEnd/>
            <a:tailEnd/>
          </a:ln>
          <a:effectLst/>
        </p:spPr>
        <p:txBody>
          <a:bodyPr wrap="none">
            <a:spAutoFit/>
          </a:bodyPr>
          <a:lstStyle/>
          <a:p>
            <a:pPr algn="l" eaLnBrk="1" hangingPunct="1"/>
            <a:r>
              <a:rPr lang="en-GB" sz="1800" dirty="0">
                <a:solidFill>
                  <a:srgbClr val="000000"/>
                </a:solidFill>
              </a:rPr>
              <a:t>DNS</a:t>
            </a:r>
            <a:endParaRPr lang="en-US" sz="1800" dirty="0"/>
          </a:p>
        </p:txBody>
      </p:sp>
      <p:sp>
        <p:nvSpPr>
          <p:cNvPr id="539768" name="Text Box 120"/>
          <p:cNvSpPr txBox="1">
            <a:spLocks noChangeArrowheads="1"/>
          </p:cNvSpPr>
          <p:nvPr>
            <p:custDataLst>
              <p:tags r:id="rId12"/>
            </p:custDataLst>
          </p:nvPr>
        </p:nvSpPr>
        <p:spPr bwMode="auto">
          <a:xfrm>
            <a:off x="3983938" y="1378566"/>
            <a:ext cx="1237839" cy="563231"/>
          </a:xfrm>
          <a:prstGeom prst="rect">
            <a:avLst/>
          </a:prstGeom>
          <a:noFill/>
          <a:ln w="9525">
            <a:noFill/>
            <a:miter lim="800000"/>
            <a:headEnd/>
            <a:tailEnd/>
          </a:ln>
          <a:effectLst/>
        </p:spPr>
        <p:txBody>
          <a:bodyPr wrap="none">
            <a:spAutoFit/>
          </a:bodyPr>
          <a:lstStyle/>
          <a:p>
            <a:pPr eaLnBrk="1" hangingPunct="1">
              <a:lnSpc>
                <a:spcPct val="85000"/>
              </a:lnSpc>
            </a:pPr>
            <a:r>
              <a:rPr lang="en-GB" sz="1800" dirty="0" err="1">
                <a:solidFill>
                  <a:srgbClr val="000000"/>
                </a:solidFill>
              </a:rPr>
              <a:t>Redirecteur</a:t>
            </a:r>
            <a:endParaRPr lang="en-US" sz="1800" dirty="0"/>
          </a:p>
          <a:p>
            <a:pPr eaLnBrk="1" hangingPunct="1">
              <a:lnSpc>
                <a:spcPct val="85000"/>
              </a:lnSpc>
            </a:pPr>
            <a:r>
              <a:rPr lang="en-GB" sz="1800" dirty="0">
                <a:solidFill>
                  <a:srgbClr val="000000"/>
                </a:solidFill>
              </a:rPr>
              <a:t>NetBIOS</a:t>
            </a:r>
            <a:endParaRPr lang="en-US" sz="1800" dirty="0">
              <a:solidFill>
                <a:srgbClr val="000000"/>
              </a:solidFill>
            </a:endParaRPr>
          </a:p>
        </p:txBody>
      </p:sp>
      <p:sp>
        <p:nvSpPr>
          <p:cNvPr id="539769" name="Text Box 121"/>
          <p:cNvSpPr txBox="1">
            <a:spLocks noChangeArrowheads="1"/>
          </p:cNvSpPr>
          <p:nvPr>
            <p:custDataLst>
              <p:tags r:id="rId13"/>
            </p:custDataLst>
          </p:nvPr>
        </p:nvSpPr>
        <p:spPr bwMode="auto">
          <a:xfrm>
            <a:off x="5396103" y="1475404"/>
            <a:ext cx="678391" cy="369332"/>
          </a:xfrm>
          <a:prstGeom prst="rect">
            <a:avLst/>
          </a:prstGeom>
          <a:noFill/>
          <a:ln w="9525">
            <a:noFill/>
            <a:miter lim="800000"/>
            <a:headEnd/>
            <a:tailEnd/>
          </a:ln>
          <a:effectLst/>
        </p:spPr>
        <p:txBody>
          <a:bodyPr wrap="none">
            <a:spAutoFit/>
          </a:bodyPr>
          <a:lstStyle/>
          <a:p>
            <a:pPr algn="l" eaLnBrk="1" hangingPunct="1"/>
            <a:r>
              <a:rPr lang="en-GB" sz="1800" dirty="0">
                <a:solidFill>
                  <a:srgbClr val="000000"/>
                </a:solidFill>
              </a:rPr>
              <a:t>WINS</a:t>
            </a:r>
            <a:endParaRPr lang="en-US" sz="1800" dirty="0"/>
          </a:p>
        </p:txBody>
      </p:sp>
      <p:sp>
        <p:nvSpPr>
          <p:cNvPr id="539770" name="Text Box 122"/>
          <p:cNvSpPr txBox="1">
            <a:spLocks noChangeArrowheads="1"/>
          </p:cNvSpPr>
          <p:nvPr>
            <p:custDataLst>
              <p:tags r:id="rId14"/>
            </p:custDataLst>
          </p:nvPr>
        </p:nvSpPr>
        <p:spPr bwMode="auto">
          <a:xfrm>
            <a:off x="6538983" y="1491279"/>
            <a:ext cx="1003801" cy="369332"/>
          </a:xfrm>
          <a:prstGeom prst="rect">
            <a:avLst/>
          </a:prstGeom>
          <a:noFill/>
          <a:ln w="9525">
            <a:noFill/>
            <a:miter lim="800000"/>
            <a:headEnd/>
            <a:tailEnd/>
          </a:ln>
          <a:effectLst/>
        </p:spPr>
        <p:txBody>
          <a:bodyPr wrap="none">
            <a:spAutoFit/>
          </a:bodyPr>
          <a:lstStyle/>
          <a:p>
            <a:pPr algn="l" eaLnBrk="1" hangingPunct="1"/>
            <a:r>
              <a:rPr lang="en-GB" sz="1800" dirty="0">
                <a:solidFill>
                  <a:srgbClr val="000000"/>
                </a:solidFill>
              </a:rPr>
              <a:t>Diffusion</a:t>
            </a:r>
            <a:endParaRPr lang="en-US" sz="1800" dirty="0"/>
          </a:p>
        </p:txBody>
      </p:sp>
      <p:sp>
        <p:nvSpPr>
          <p:cNvPr id="539771" name="Text Box 123"/>
          <p:cNvSpPr txBox="1">
            <a:spLocks noChangeArrowheads="1"/>
          </p:cNvSpPr>
          <p:nvPr>
            <p:custDataLst>
              <p:tags r:id="rId15"/>
            </p:custDataLst>
          </p:nvPr>
        </p:nvSpPr>
        <p:spPr bwMode="auto">
          <a:xfrm>
            <a:off x="7770789" y="1365866"/>
            <a:ext cx="973343" cy="563231"/>
          </a:xfrm>
          <a:prstGeom prst="rect">
            <a:avLst/>
          </a:prstGeom>
          <a:noFill/>
          <a:ln w="9525">
            <a:noFill/>
            <a:miter lim="800000"/>
            <a:headEnd/>
            <a:tailEnd/>
          </a:ln>
          <a:effectLst/>
        </p:spPr>
        <p:txBody>
          <a:bodyPr wrap="none">
            <a:spAutoFit/>
          </a:bodyPr>
          <a:lstStyle/>
          <a:p>
            <a:pPr algn="l" eaLnBrk="1" hangingPunct="1">
              <a:lnSpc>
                <a:spcPct val="85000"/>
              </a:lnSpc>
            </a:pPr>
            <a:r>
              <a:rPr lang="en-GB" sz="1800" dirty="0" err="1">
                <a:solidFill>
                  <a:srgbClr val="000000"/>
                </a:solidFill>
              </a:rPr>
              <a:t>Fichier</a:t>
            </a:r>
            <a:r>
              <a:rPr lang="en-GB" sz="1800" dirty="0">
                <a:solidFill>
                  <a:srgbClr val="000000"/>
                </a:solidFill>
              </a:rPr>
              <a:t> </a:t>
            </a:r>
            <a:br>
              <a:rPr lang="en-GB" sz="1800" dirty="0">
                <a:solidFill>
                  <a:srgbClr val="000000"/>
                </a:solidFill>
              </a:rPr>
            </a:br>
            <a:r>
              <a:rPr lang="en-GB" sz="1800" dirty="0" err="1">
                <a:solidFill>
                  <a:srgbClr val="000000"/>
                </a:solidFill>
              </a:rPr>
              <a:t>Lmhosts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9752"/>
                                        </p:tgtEl>
                                        <p:attrNameLst>
                                          <p:attrName>style.visibility</p:attrName>
                                        </p:attrNameLst>
                                      </p:cBhvr>
                                      <p:to>
                                        <p:strVal val="visible"/>
                                      </p:to>
                                    </p:set>
                                    <p:animEffect transition="in" filter="box(out)">
                                      <p:cBhvr>
                                        <p:cTn id="7" dur="2000"/>
                                        <p:tgtEl>
                                          <p:spTgt spid="539752"/>
                                        </p:tgtEl>
                                      </p:cBhvr>
                                    </p:animEffect>
                                  </p:childTnLst>
                                </p:cTn>
                              </p:par>
                              <p:par>
                                <p:cTn id="8" presetID="4" presetClass="entr" presetSubtype="32" fill="hold" nodeType="withEffect">
                                  <p:stCondLst>
                                    <p:cond delay="0"/>
                                  </p:stCondLst>
                                  <p:childTnLst>
                                    <p:set>
                                      <p:cBhvr>
                                        <p:cTn id="9" dur="1" fill="hold">
                                          <p:stCondLst>
                                            <p:cond delay="0"/>
                                          </p:stCondLst>
                                        </p:cTn>
                                        <p:tgtEl>
                                          <p:spTgt spid="539753"/>
                                        </p:tgtEl>
                                        <p:attrNameLst>
                                          <p:attrName>style.visibility</p:attrName>
                                        </p:attrNameLst>
                                      </p:cBhvr>
                                      <p:to>
                                        <p:strVal val="visible"/>
                                      </p:to>
                                    </p:set>
                                    <p:animEffect transition="in" filter="box(out)">
                                      <p:cBhvr>
                                        <p:cTn id="10" dur="2000"/>
                                        <p:tgtEl>
                                          <p:spTgt spid="539753"/>
                                        </p:tgtEl>
                                      </p:cBhvr>
                                    </p:animEffect>
                                  </p:childTnLst>
                                </p:cTn>
                              </p:par>
                              <p:par>
                                <p:cTn id="11" presetID="4" presetClass="entr" presetSubtype="32" fill="hold" grpId="0" nodeType="withEffect">
                                  <p:stCondLst>
                                    <p:cond delay="0"/>
                                  </p:stCondLst>
                                  <p:childTnLst>
                                    <p:set>
                                      <p:cBhvr>
                                        <p:cTn id="12" dur="1" fill="hold">
                                          <p:stCondLst>
                                            <p:cond delay="0"/>
                                          </p:stCondLst>
                                        </p:cTn>
                                        <p:tgtEl>
                                          <p:spTgt spid="539751"/>
                                        </p:tgtEl>
                                        <p:attrNameLst>
                                          <p:attrName>style.visibility</p:attrName>
                                        </p:attrNameLst>
                                      </p:cBhvr>
                                      <p:to>
                                        <p:strVal val="visible"/>
                                      </p:to>
                                    </p:set>
                                    <p:animEffect transition="in" filter="box(out)">
                                      <p:cBhvr>
                                        <p:cTn id="13" dur="2000"/>
                                        <p:tgtEl>
                                          <p:spTgt spid="539751"/>
                                        </p:tgtEl>
                                      </p:cBhvr>
                                    </p:animEffect>
                                  </p:childTnLst>
                                </p:cTn>
                              </p:par>
                              <p:par>
                                <p:cTn id="14" presetID="4" presetClass="entr" presetSubtype="32" fill="hold" nodeType="withEffect">
                                  <p:stCondLst>
                                    <p:cond delay="0"/>
                                  </p:stCondLst>
                                  <p:childTnLst>
                                    <p:set>
                                      <p:cBhvr>
                                        <p:cTn id="15" dur="1" fill="hold">
                                          <p:stCondLst>
                                            <p:cond delay="0"/>
                                          </p:stCondLst>
                                        </p:cTn>
                                        <p:tgtEl>
                                          <p:spTgt spid="539754"/>
                                        </p:tgtEl>
                                        <p:attrNameLst>
                                          <p:attrName>style.visibility</p:attrName>
                                        </p:attrNameLst>
                                      </p:cBhvr>
                                      <p:to>
                                        <p:strVal val="visible"/>
                                      </p:to>
                                    </p:set>
                                    <p:animEffect transition="in" filter="box(out)">
                                      <p:cBhvr>
                                        <p:cTn id="16" dur="2000"/>
                                        <p:tgtEl>
                                          <p:spTgt spid="539754"/>
                                        </p:tgtEl>
                                      </p:cBhvr>
                                    </p:animEffect>
                                  </p:childTnLst>
                                </p:cTn>
                              </p:par>
                              <p:par>
                                <p:cTn id="17" presetID="4" presetClass="entr" presetSubtype="32" fill="hold" grpId="0" nodeType="withEffect">
                                  <p:stCondLst>
                                    <p:cond delay="0"/>
                                  </p:stCondLst>
                                  <p:childTnLst>
                                    <p:set>
                                      <p:cBhvr>
                                        <p:cTn id="18" dur="1" fill="hold">
                                          <p:stCondLst>
                                            <p:cond delay="0"/>
                                          </p:stCondLst>
                                        </p:cTn>
                                        <p:tgtEl>
                                          <p:spTgt spid="539759"/>
                                        </p:tgtEl>
                                        <p:attrNameLst>
                                          <p:attrName>style.visibility</p:attrName>
                                        </p:attrNameLst>
                                      </p:cBhvr>
                                      <p:to>
                                        <p:strVal val="visible"/>
                                      </p:to>
                                    </p:set>
                                    <p:animEffect transition="in" filter="box(out)">
                                      <p:cBhvr>
                                        <p:cTn id="19" dur="2000"/>
                                        <p:tgtEl>
                                          <p:spTgt spid="53975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39756"/>
                                        </p:tgtEl>
                                        <p:attrNameLst>
                                          <p:attrName>style.visibility</p:attrName>
                                        </p:attrNameLst>
                                      </p:cBhvr>
                                      <p:to>
                                        <p:strVal val="visible"/>
                                      </p:to>
                                    </p:set>
                                    <p:animEffect transition="in" filter="blinds(horizontal)">
                                      <p:cBhvr>
                                        <p:cTn id="24" dur="2000"/>
                                        <p:tgtEl>
                                          <p:spTgt spid="539756"/>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539744"/>
                                        </p:tgtEl>
                                        <p:attrNameLst>
                                          <p:attrName>style.visibility</p:attrName>
                                        </p:attrNameLst>
                                      </p:cBhvr>
                                      <p:to>
                                        <p:strVal val="visible"/>
                                      </p:to>
                                    </p:set>
                                    <p:animEffect transition="in" filter="checkerboard(across)">
                                      <p:cBhvr>
                                        <p:cTn id="29" dur="2000"/>
                                        <p:tgtEl>
                                          <p:spTgt spid="539744"/>
                                        </p:tgtEl>
                                      </p:cBhvr>
                                    </p:animEffect>
                                  </p:childTnLst>
                                </p:cTn>
                              </p:par>
                              <p:par>
                                <p:cTn id="30" presetID="5" presetClass="entr" presetSubtype="10" fill="hold" nodeType="withEffect">
                                  <p:stCondLst>
                                    <p:cond delay="0"/>
                                  </p:stCondLst>
                                  <p:childTnLst>
                                    <p:set>
                                      <p:cBhvr>
                                        <p:cTn id="31" dur="1" fill="hold">
                                          <p:stCondLst>
                                            <p:cond delay="0"/>
                                          </p:stCondLst>
                                        </p:cTn>
                                        <p:tgtEl>
                                          <p:spTgt spid="539745"/>
                                        </p:tgtEl>
                                        <p:attrNameLst>
                                          <p:attrName>style.visibility</p:attrName>
                                        </p:attrNameLst>
                                      </p:cBhvr>
                                      <p:to>
                                        <p:strVal val="visible"/>
                                      </p:to>
                                    </p:set>
                                    <p:animEffect transition="in" filter="checkerboard(across)">
                                      <p:cBhvr>
                                        <p:cTn id="32" dur="2000"/>
                                        <p:tgtEl>
                                          <p:spTgt spid="539745"/>
                                        </p:tgtEl>
                                      </p:cBhvr>
                                    </p:animEffect>
                                  </p:childTnLst>
                                </p:cTn>
                              </p:par>
                              <p:par>
                                <p:cTn id="33" presetID="5" presetClass="entr" presetSubtype="10" fill="hold" nodeType="withEffect">
                                  <p:stCondLst>
                                    <p:cond delay="0"/>
                                  </p:stCondLst>
                                  <p:childTnLst>
                                    <p:set>
                                      <p:cBhvr>
                                        <p:cTn id="34" dur="1" fill="hold">
                                          <p:stCondLst>
                                            <p:cond delay="0"/>
                                          </p:stCondLst>
                                        </p:cTn>
                                        <p:tgtEl>
                                          <p:spTgt spid="539746"/>
                                        </p:tgtEl>
                                        <p:attrNameLst>
                                          <p:attrName>style.visibility</p:attrName>
                                        </p:attrNameLst>
                                      </p:cBhvr>
                                      <p:to>
                                        <p:strVal val="visible"/>
                                      </p:to>
                                    </p:set>
                                    <p:animEffect transition="in" filter="checkerboard(across)">
                                      <p:cBhvr>
                                        <p:cTn id="35" dur="2000"/>
                                        <p:tgtEl>
                                          <p:spTgt spid="539746"/>
                                        </p:tgtEl>
                                      </p:cBhvr>
                                    </p:animEffect>
                                  </p:childTnLst>
                                </p:cTn>
                              </p:par>
                              <p:par>
                                <p:cTn id="36" presetID="5" presetClass="entr" presetSubtype="10" fill="hold" nodeType="withEffect">
                                  <p:stCondLst>
                                    <p:cond delay="0"/>
                                  </p:stCondLst>
                                  <p:childTnLst>
                                    <p:set>
                                      <p:cBhvr>
                                        <p:cTn id="37" dur="1" fill="hold">
                                          <p:stCondLst>
                                            <p:cond delay="0"/>
                                          </p:stCondLst>
                                        </p:cTn>
                                        <p:tgtEl>
                                          <p:spTgt spid="539747"/>
                                        </p:tgtEl>
                                        <p:attrNameLst>
                                          <p:attrName>style.visibility</p:attrName>
                                        </p:attrNameLst>
                                      </p:cBhvr>
                                      <p:to>
                                        <p:strVal val="visible"/>
                                      </p:to>
                                    </p:set>
                                    <p:animEffect transition="in" filter="checkerboard(across)">
                                      <p:cBhvr>
                                        <p:cTn id="38" dur="2000"/>
                                        <p:tgtEl>
                                          <p:spTgt spid="539747"/>
                                        </p:tgtEl>
                                      </p:cBhvr>
                                    </p:animEffect>
                                  </p:childTnLst>
                                </p:cTn>
                              </p:par>
                              <p:par>
                                <p:cTn id="39" presetID="5" presetClass="entr" presetSubtype="10" fill="hold" nodeType="withEffect">
                                  <p:stCondLst>
                                    <p:cond delay="0"/>
                                  </p:stCondLst>
                                  <p:childTnLst>
                                    <p:set>
                                      <p:cBhvr>
                                        <p:cTn id="40" dur="1" fill="hold">
                                          <p:stCondLst>
                                            <p:cond delay="0"/>
                                          </p:stCondLst>
                                        </p:cTn>
                                        <p:tgtEl>
                                          <p:spTgt spid="539748"/>
                                        </p:tgtEl>
                                        <p:attrNameLst>
                                          <p:attrName>style.visibility</p:attrName>
                                        </p:attrNameLst>
                                      </p:cBhvr>
                                      <p:to>
                                        <p:strVal val="visible"/>
                                      </p:to>
                                    </p:set>
                                    <p:animEffect transition="in" filter="checkerboard(across)">
                                      <p:cBhvr>
                                        <p:cTn id="41" dur="2000"/>
                                        <p:tgtEl>
                                          <p:spTgt spid="539748"/>
                                        </p:tgtEl>
                                      </p:cBhvr>
                                    </p:animEffect>
                                  </p:childTnLst>
                                </p:cTn>
                              </p:par>
                              <p:par>
                                <p:cTn id="42" presetID="5" presetClass="entr" presetSubtype="10" fill="hold" nodeType="withEffect">
                                  <p:stCondLst>
                                    <p:cond delay="0"/>
                                  </p:stCondLst>
                                  <p:childTnLst>
                                    <p:set>
                                      <p:cBhvr>
                                        <p:cTn id="43" dur="1" fill="hold">
                                          <p:stCondLst>
                                            <p:cond delay="0"/>
                                          </p:stCondLst>
                                        </p:cTn>
                                        <p:tgtEl>
                                          <p:spTgt spid="539749"/>
                                        </p:tgtEl>
                                        <p:attrNameLst>
                                          <p:attrName>style.visibility</p:attrName>
                                        </p:attrNameLst>
                                      </p:cBhvr>
                                      <p:to>
                                        <p:strVal val="visible"/>
                                      </p:to>
                                    </p:set>
                                    <p:animEffect transition="in" filter="checkerboard(across)">
                                      <p:cBhvr>
                                        <p:cTn id="44" dur="2000"/>
                                        <p:tgtEl>
                                          <p:spTgt spid="539749"/>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539765"/>
                                        </p:tgtEl>
                                        <p:attrNameLst>
                                          <p:attrName>style.visibility</p:attrName>
                                        </p:attrNameLst>
                                      </p:cBhvr>
                                      <p:to>
                                        <p:strVal val="visible"/>
                                      </p:to>
                                    </p:set>
                                    <p:animEffect transition="in" filter="checkerboard(across)">
                                      <p:cBhvr>
                                        <p:cTn id="47" dur="2000"/>
                                        <p:tgtEl>
                                          <p:spTgt spid="539765"/>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539766"/>
                                        </p:tgtEl>
                                        <p:attrNameLst>
                                          <p:attrName>style.visibility</p:attrName>
                                        </p:attrNameLst>
                                      </p:cBhvr>
                                      <p:to>
                                        <p:strVal val="visible"/>
                                      </p:to>
                                    </p:set>
                                    <p:animEffect transition="in" filter="checkerboard(across)">
                                      <p:cBhvr>
                                        <p:cTn id="50" dur="2000"/>
                                        <p:tgtEl>
                                          <p:spTgt spid="539766"/>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539768"/>
                                        </p:tgtEl>
                                        <p:attrNameLst>
                                          <p:attrName>style.visibility</p:attrName>
                                        </p:attrNameLst>
                                      </p:cBhvr>
                                      <p:to>
                                        <p:strVal val="visible"/>
                                      </p:to>
                                    </p:set>
                                    <p:animEffect transition="in" filter="checkerboard(across)">
                                      <p:cBhvr>
                                        <p:cTn id="53" dur="2000"/>
                                        <p:tgtEl>
                                          <p:spTgt spid="539768"/>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539769"/>
                                        </p:tgtEl>
                                        <p:attrNameLst>
                                          <p:attrName>style.visibility</p:attrName>
                                        </p:attrNameLst>
                                      </p:cBhvr>
                                      <p:to>
                                        <p:strVal val="visible"/>
                                      </p:to>
                                    </p:set>
                                    <p:animEffect transition="in" filter="checkerboard(across)">
                                      <p:cBhvr>
                                        <p:cTn id="56" dur="2000"/>
                                        <p:tgtEl>
                                          <p:spTgt spid="539769"/>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539770"/>
                                        </p:tgtEl>
                                        <p:attrNameLst>
                                          <p:attrName>style.visibility</p:attrName>
                                        </p:attrNameLst>
                                      </p:cBhvr>
                                      <p:to>
                                        <p:strVal val="visible"/>
                                      </p:to>
                                    </p:set>
                                    <p:animEffect transition="in" filter="checkerboard(across)">
                                      <p:cBhvr>
                                        <p:cTn id="59" dur="2000"/>
                                        <p:tgtEl>
                                          <p:spTgt spid="539770"/>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539771"/>
                                        </p:tgtEl>
                                        <p:attrNameLst>
                                          <p:attrName>style.visibility</p:attrName>
                                        </p:attrNameLst>
                                      </p:cBhvr>
                                      <p:to>
                                        <p:strVal val="visible"/>
                                      </p:to>
                                    </p:set>
                                    <p:animEffect transition="in" filter="checkerboard(across)">
                                      <p:cBhvr>
                                        <p:cTn id="62" dur="2000"/>
                                        <p:tgtEl>
                                          <p:spTgt spid="539771"/>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3" fill="hold" grpId="0" nodeType="clickEffect">
                                  <p:stCondLst>
                                    <p:cond delay="0"/>
                                  </p:stCondLst>
                                  <p:childTnLst>
                                    <p:set>
                                      <p:cBhvr>
                                        <p:cTn id="66" dur="1" fill="hold">
                                          <p:stCondLst>
                                            <p:cond delay="0"/>
                                          </p:stCondLst>
                                        </p:cTn>
                                        <p:tgtEl>
                                          <p:spTgt spid="539760"/>
                                        </p:tgtEl>
                                        <p:attrNameLst>
                                          <p:attrName>style.visibility</p:attrName>
                                        </p:attrNameLst>
                                      </p:cBhvr>
                                      <p:to>
                                        <p:strVal val="visible"/>
                                      </p:to>
                                    </p:set>
                                    <p:animEffect transition="in" filter="strips(upRight)">
                                      <p:cBhvr>
                                        <p:cTn id="67" dur="500"/>
                                        <p:tgtEl>
                                          <p:spTgt spid="539760"/>
                                        </p:tgtEl>
                                      </p:cBhvr>
                                    </p:animEffect>
                                  </p:childTnLst>
                                </p:cTn>
                              </p:par>
                              <p:par>
                                <p:cTn id="68" presetID="18" presetClass="entr" presetSubtype="3" fill="hold" grpId="0" nodeType="withEffect">
                                  <p:stCondLst>
                                    <p:cond delay="0"/>
                                  </p:stCondLst>
                                  <p:childTnLst>
                                    <p:set>
                                      <p:cBhvr>
                                        <p:cTn id="69" dur="1" fill="hold">
                                          <p:stCondLst>
                                            <p:cond delay="0"/>
                                          </p:stCondLst>
                                        </p:cTn>
                                        <p:tgtEl>
                                          <p:spTgt spid="539764"/>
                                        </p:tgtEl>
                                        <p:attrNameLst>
                                          <p:attrName>style.visibility</p:attrName>
                                        </p:attrNameLst>
                                      </p:cBhvr>
                                      <p:to>
                                        <p:strVal val="visible"/>
                                      </p:to>
                                    </p:set>
                                    <p:animEffect transition="in" filter="strips(upRight)">
                                      <p:cBhvr>
                                        <p:cTn id="70" dur="500"/>
                                        <p:tgtEl>
                                          <p:spTgt spid="539764"/>
                                        </p:tgtEl>
                                      </p:cBhvr>
                                    </p:animEffect>
                                  </p:childTnLst>
                                </p:cTn>
                              </p:par>
                              <p:par>
                                <p:cTn id="71" presetID="18" presetClass="entr" presetSubtype="3" fill="hold" grpId="0" nodeType="withEffect">
                                  <p:stCondLst>
                                    <p:cond delay="0"/>
                                  </p:stCondLst>
                                  <p:childTnLst>
                                    <p:set>
                                      <p:cBhvr>
                                        <p:cTn id="72" dur="1" fill="hold">
                                          <p:stCondLst>
                                            <p:cond delay="0"/>
                                          </p:stCondLst>
                                        </p:cTn>
                                        <p:tgtEl>
                                          <p:spTgt spid="539755"/>
                                        </p:tgtEl>
                                        <p:attrNameLst>
                                          <p:attrName>style.visibility</p:attrName>
                                        </p:attrNameLst>
                                      </p:cBhvr>
                                      <p:to>
                                        <p:strVal val="visible"/>
                                      </p:to>
                                    </p:set>
                                    <p:animEffect transition="in" filter="strips(upRight)">
                                      <p:cBhvr>
                                        <p:cTn id="73" dur="500"/>
                                        <p:tgtEl>
                                          <p:spTgt spid="539755"/>
                                        </p:tgtEl>
                                      </p:cBhvr>
                                    </p:animEffect>
                                  </p:childTnLst>
                                </p:cTn>
                              </p:par>
                            </p:childTnLst>
                          </p:cTn>
                        </p:par>
                      </p:childTnLst>
                    </p:cTn>
                  </p:par>
                  <p:par>
                    <p:cTn id="74" fill="hold">
                      <p:stCondLst>
                        <p:cond delay="indefinite"/>
                      </p:stCondLst>
                      <p:childTnLst>
                        <p:par>
                          <p:cTn id="75" fill="hold">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539761"/>
                                        </p:tgtEl>
                                        <p:attrNameLst>
                                          <p:attrName>style.visibility</p:attrName>
                                        </p:attrNameLst>
                                      </p:cBhvr>
                                      <p:to>
                                        <p:strVal val="visible"/>
                                      </p:to>
                                    </p:set>
                                    <p:animEffect transition="in" filter="strips(downRight)">
                                      <p:cBhvr>
                                        <p:cTn id="78" dur="500"/>
                                        <p:tgtEl>
                                          <p:spTgt spid="539761"/>
                                        </p:tgtEl>
                                      </p:cBhvr>
                                    </p:animEffect>
                                  </p:childTnLst>
                                </p:cTn>
                              </p:par>
                              <p:par>
                                <p:cTn id="79" presetID="18" presetClass="entr" presetSubtype="6" fill="hold" grpId="0" nodeType="withEffect">
                                  <p:stCondLst>
                                    <p:cond delay="0"/>
                                  </p:stCondLst>
                                  <p:childTnLst>
                                    <p:set>
                                      <p:cBhvr>
                                        <p:cTn id="80" dur="1" fill="hold">
                                          <p:stCondLst>
                                            <p:cond delay="0"/>
                                          </p:stCondLst>
                                        </p:cTn>
                                        <p:tgtEl>
                                          <p:spTgt spid="539757"/>
                                        </p:tgtEl>
                                        <p:attrNameLst>
                                          <p:attrName>style.visibility</p:attrName>
                                        </p:attrNameLst>
                                      </p:cBhvr>
                                      <p:to>
                                        <p:strVal val="visible"/>
                                      </p:to>
                                    </p:set>
                                    <p:animEffect transition="in" filter="strips(downRight)">
                                      <p:cBhvr>
                                        <p:cTn id="81" dur="500"/>
                                        <p:tgtEl>
                                          <p:spTgt spid="539757"/>
                                        </p:tgtEl>
                                      </p:cBhvr>
                                    </p:animEffect>
                                  </p:childTnLst>
                                </p:cTn>
                              </p:par>
                              <p:par>
                                <p:cTn id="82" presetID="18" presetClass="entr" presetSubtype="6" fill="hold" grpId="0" nodeType="withEffect">
                                  <p:stCondLst>
                                    <p:cond delay="0"/>
                                  </p:stCondLst>
                                  <p:childTnLst>
                                    <p:set>
                                      <p:cBhvr>
                                        <p:cTn id="83" dur="1" fill="hold">
                                          <p:stCondLst>
                                            <p:cond delay="0"/>
                                          </p:stCondLst>
                                        </p:cTn>
                                        <p:tgtEl>
                                          <p:spTgt spid="539763"/>
                                        </p:tgtEl>
                                        <p:attrNameLst>
                                          <p:attrName>style.visibility</p:attrName>
                                        </p:attrNameLst>
                                      </p:cBhvr>
                                      <p:to>
                                        <p:strVal val="visible"/>
                                      </p:to>
                                    </p:set>
                                    <p:animEffect transition="in" filter="strips(downRight)">
                                      <p:cBhvr>
                                        <p:cTn id="84" dur="500"/>
                                        <p:tgtEl>
                                          <p:spTgt spid="539763"/>
                                        </p:tgtEl>
                                      </p:cBhvr>
                                    </p:animEffect>
                                  </p:childTnLst>
                                </p:cTn>
                              </p:par>
                            </p:childTnLst>
                          </p:cTn>
                        </p:par>
                      </p:childTnLst>
                    </p:cTn>
                  </p:par>
                  <p:par>
                    <p:cTn id="85" fill="hold">
                      <p:stCondLst>
                        <p:cond delay="indefinite"/>
                      </p:stCondLst>
                      <p:childTnLst>
                        <p:par>
                          <p:cTn id="86" fill="hold">
                            <p:stCondLst>
                              <p:cond delay="0"/>
                            </p:stCondLst>
                            <p:childTnLst>
                              <p:par>
                                <p:cTn id="87" presetID="18" presetClass="entr" presetSubtype="3" fill="hold" grpId="0" nodeType="clickEffect">
                                  <p:stCondLst>
                                    <p:cond delay="0"/>
                                  </p:stCondLst>
                                  <p:childTnLst>
                                    <p:set>
                                      <p:cBhvr>
                                        <p:cTn id="88" dur="1" fill="hold">
                                          <p:stCondLst>
                                            <p:cond delay="0"/>
                                          </p:stCondLst>
                                        </p:cTn>
                                        <p:tgtEl>
                                          <p:spTgt spid="539762"/>
                                        </p:tgtEl>
                                        <p:attrNameLst>
                                          <p:attrName>style.visibility</p:attrName>
                                        </p:attrNameLst>
                                      </p:cBhvr>
                                      <p:to>
                                        <p:strVal val="visible"/>
                                      </p:to>
                                    </p:set>
                                    <p:animEffect transition="in" filter="strips(upRight)">
                                      <p:cBhvr>
                                        <p:cTn id="89" dur="500"/>
                                        <p:tgtEl>
                                          <p:spTgt spid="539762"/>
                                        </p:tgtEl>
                                      </p:cBhvr>
                                    </p:animEffect>
                                  </p:childTnLst>
                                </p:cTn>
                              </p:par>
                              <p:par>
                                <p:cTn id="90" presetID="18" presetClass="entr" presetSubtype="3" fill="hold" grpId="0" nodeType="withEffect">
                                  <p:stCondLst>
                                    <p:cond delay="0"/>
                                  </p:stCondLst>
                                  <p:childTnLst>
                                    <p:set>
                                      <p:cBhvr>
                                        <p:cTn id="91" dur="1" fill="hold">
                                          <p:stCondLst>
                                            <p:cond delay="0"/>
                                          </p:stCondLst>
                                        </p:cTn>
                                        <p:tgtEl>
                                          <p:spTgt spid="539758"/>
                                        </p:tgtEl>
                                        <p:attrNameLst>
                                          <p:attrName>style.visibility</p:attrName>
                                        </p:attrNameLst>
                                      </p:cBhvr>
                                      <p:to>
                                        <p:strVal val="visible"/>
                                      </p:to>
                                    </p:set>
                                    <p:animEffect transition="in" filter="strips(upRight)">
                                      <p:cBhvr>
                                        <p:cTn id="92" dur="500"/>
                                        <p:tgtEl>
                                          <p:spTgt spid="539758"/>
                                        </p:tgtEl>
                                      </p:cBhvr>
                                    </p:animEffect>
                                  </p:childTnLst>
                                </p:cTn>
                              </p:par>
                            </p:childTnLst>
                          </p:cTn>
                        </p:par>
                        <p:par>
                          <p:cTn id="93" fill="hold">
                            <p:stCondLst>
                              <p:cond delay="500"/>
                            </p:stCondLst>
                            <p:childTnLst>
                              <p:par>
                                <p:cTn id="94" presetID="2" presetClass="entr" presetSubtype="4" fill="hold" grpId="0" nodeType="afterEffect">
                                  <p:stCondLst>
                                    <p:cond delay="2000"/>
                                  </p:stCondLst>
                                  <p:childTnLst>
                                    <p:set>
                                      <p:cBhvr>
                                        <p:cTn id="95" dur="1" fill="hold">
                                          <p:stCondLst>
                                            <p:cond delay="0"/>
                                          </p:stCondLst>
                                        </p:cTn>
                                        <p:tgtEl>
                                          <p:spTgt spid="539737"/>
                                        </p:tgtEl>
                                        <p:attrNameLst>
                                          <p:attrName>style.visibility</p:attrName>
                                        </p:attrNameLst>
                                      </p:cBhvr>
                                      <p:to>
                                        <p:strVal val="visible"/>
                                      </p:to>
                                    </p:set>
                                    <p:anim calcmode="lin" valueType="num">
                                      <p:cBhvr additive="base">
                                        <p:cTn id="96" dur="2000" fill="hold"/>
                                        <p:tgtEl>
                                          <p:spTgt spid="539737"/>
                                        </p:tgtEl>
                                        <p:attrNameLst>
                                          <p:attrName>ppt_x</p:attrName>
                                        </p:attrNameLst>
                                      </p:cBhvr>
                                      <p:tavLst>
                                        <p:tav tm="0">
                                          <p:val>
                                            <p:strVal val="#ppt_x"/>
                                          </p:val>
                                        </p:tav>
                                        <p:tav tm="100000">
                                          <p:val>
                                            <p:strVal val="#ppt_x"/>
                                          </p:val>
                                        </p:tav>
                                      </p:tavLst>
                                    </p:anim>
                                    <p:anim calcmode="lin" valueType="num">
                                      <p:cBhvr additive="base">
                                        <p:cTn id="97" dur="2000" fill="hold"/>
                                        <p:tgtEl>
                                          <p:spTgt spid="5397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752" grpId="0" animBg="1"/>
      <p:bldP spid="539737" grpId="0" animBg="1"/>
      <p:bldP spid="539751" grpId="0" animBg="1"/>
      <p:bldP spid="539755" grpId="0" animBg="1"/>
      <p:bldP spid="539756" grpId="0" animBg="1"/>
      <p:bldP spid="539757" grpId="0" animBg="1"/>
      <p:bldP spid="539758" grpId="0" animBg="1"/>
      <p:bldP spid="539759" grpId="0" animBg="1"/>
      <p:bldP spid="539760" grpId="0" animBg="1"/>
      <p:bldP spid="539761" grpId="0" animBg="1"/>
      <p:bldP spid="539762" grpId="0" animBg="1"/>
      <p:bldP spid="539763" grpId="0"/>
      <p:bldP spid="539764" grpId="0"/>
      <p:bldP spid="539765" grpId="0"/>
      <p:bldP spid="539766" grpId="0"/>
      <p:bldP spid="539768" grpId="0"/>
      <p:bldP spid="539769" grpId="0"/>
      <p:bldP spid="539770" grpId="0"/>
      <p:bldP spid="53977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112" name="Freeform 32"/>
          <p:cNvSpPr>
            <a:spLocks/>
          </p:cNvSpPr>
          <p:nvPr/>
        </p:nvSpPr>
        <p:spPr bwMode="auto">
          <a:xfrm>
            <a:off x="2335213" y="2808053"/>
            <a:ext cx="1155700" cy="2978150"/>
          </a:xfrm>
          <a:custGeom>
            <a:avLst/>
            <a:gdLst/>
            <a:ahLst/>
            <a:cxnLst>
              <a:cxn ang="0">
                <a:pos x="0" y="1417"/>
              </a:cxn>
              <a:cxn ang="0">
                <a:pos x="795" y="0"/>
              </a:cxn>
              <a:cxn ang="0">
                <a:pos x="786" y="2048"/>
              </a:cxn>
              <a:cxn ang="0">
                <a:pos x="0" y="1417"/>
              </a:cxn>
            </a:cxnLst>
            <a:rect l="0" t="0" r="r" b="b"/>
            <a:pathLst>
              <a:path w="795" h="2048">
                <a:moveTo>
                  <a:pt x="0" y="1417"/>
                </a:moveTo>
                <a:lnTo>
                  <a:pt x="795" y="0"/>
                </a:lnTo>
                <a:lnTo>
                  <a:pt x="786" y="2048"/>
                </a:lnTo>
                <a:lnTo>
                  <a:pt x="0" y="1417"/>
                </a:lnTo>
                <a:close/>
              </a:path>
            </a:pathLst>
          </a:custGeom>
          <a:solidFill>
            <a:schemeClr val="accent2">
              <a:alpha val="50000"/>
            </a:schemeClr>
          </a:solidFill>
          <a:ln w="9525" cap="flat" cmpd="sng">
            <a:noFill/>
            <a:prstDash val="solid"/>
            <a:round/>
            <a:headEnd/>
            <a:tailEnd/>
          </a:ln>
          <a:effectLst/>
        </p:spPr>
        <p:txBody>
          <a:bodyPr anchor="ctr"/>
          <a:lstStyle/>
          <a:p>
            <a:endParaRPr lang="fr-FR"/>
          </a:p>
        </p:txBody>
      </p:sp>
      <p:sp>
        <p:nvSpPr>
          <p:cNvPr id="558082" name="Rectangle 2"/>
          <p:cNvSpPr>
            <a:spLocks noGrp="1" noChangeArrowheads="1"/>
          </p:cNvSpPr>
          <p:nvPr>
            <p:ph type="title"/>
            <p:custDataLst>
              <p:tags r:id="rId1"/>
            </p:custDataLst>
          </p:nvPr>
        </p:nvSpPr>
        <p:spPr/>
        <p:txBody>
          <a:bodyPr vert="horz" anchor="b">
            <a:normAutofit/>
          </a:bodyPr>
          <a:lstStyle/>
          <a:p>
            <a:r>
              <a:rPr lang="en-GB" b="1" dirty="0">
                <a:solidFill>
                  <a:srgbClr val="C00000"/>
                </a:solidFill>
              </a:rPr>
              <a:t>Cache de résolution client</a:t>
            </a:r>
            <a:endParaRPr lang="en-US" b="1" dirty="0">
              <a:solidFill>
                <a:srgbClr val="C00000"/>
              </a:solidFill>
            </a:endParaRPr>
          </a:p>
        </p:txBody>
      </p:sp>
      <p:pic>
        <p:nvPicPr>
          <p:cNvPr id="558122" name="Picture 42" descr="mod_4_1"/>
          <p:cNvPicPr>
            <a:picLocks noGrp="1" noChangeAspect="1" noChangeArrowheads="1"/>
          </p:cNvPicPr>
          <p:nvPr>
            <p:ph sz="quarter" idx="1"/>
          </p:nvPr>
        </p:nvPicPr>
        <p:blipFill>
          <a:blip r:embed="rId8"/>
          <a:stretch>
            <a:fillRect/>
          </a:stretch>
        </p:blipFill>
        <p:spPr>
          <a:xfrm>
            <a:off x="1963818" y="1350637"/>
            <a:ext cx="5410757" cy="5128541"/>
          </a:xfrm>
          <a:noFill/>
          <a:ln/>
        </p:spPr>
      </p:pic>
      <p:sp>
        <p:nvSpPr>
          <p:cNvPr id="558113" name="AutoShape 33"/>
          <p:cNvSpPr>
            <a:spLocks noChangeArrowheads="1"/>
          </p:cNvSpPr>
          <p:nvPr>
            <p:custDataLst>
              <p:tags r:id="rId2"/>
            </p:custDataLst>
          </p:nvPr>
        </p:nvSpPr>
        <p:spPr bwMode="auto">
          <a:xfrm>
            <a:off x="190007" y="1377538"/>
            <a:ext cx="8752114" cy="2121705"/>
          </a:xfrm>
          <a:prstGeom prst="roundRect">
            <a:avLst>
              <a:gd name="adj" fmla="val 30829"/>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85000"/>
              </a:lnSpc>
            </a:pPr>
            <a:r>
              <a:rPr lang="en-GB" sz="2400" dirty="0" err="1" smtClean="0">
                <a:solidFill>
                  <a:srgbClr val="000000"/>
                </a:solidFill>
              </a:rPr>
              <a:t>C’est</a:t>
            </a:r>
            <a:r>
              <a:rPr lang="en-GB" sz="2400" dirty="0" smtClean="0">
                <a:solidFill>
                  <a:srgbClr val="000000"/>
                </a:solidFill>
              </a:rPr>
              <a:t> un emplacement </a:t>
            </a:r>
            <a:r>
              <a:rPr lang="en-GB" sz="2400" dirty="0" err="1" smtClean="0">
                <a:solidFill>
                  <a:srgbClr val="000000"/>
                </a:solidFill>
              </a:rPr>
              <a:t>mémoire</a:t>
            </a:r>
            <a:r>
              <a:rPr lang="en-GB" sz="2400" dirty="0" smtClean="0">
                <a:solidFill>
                  <a:srgbClr val="000000"/>
                </a:solidFill>
              </a:rPr>
              <a:t> qui </a:t>
            </a:r>
            <a:r>
              <a:rPr lang="en-GB" sz="2400" dirty="0" err="1" smtClean="0">
                <a:solidFill>
                  <a:srgbClr val="000000"/>
                </a:solidFill>
              </a:rPr>
              <a:t>stocke</a:t>
            </a:r>
            <a:r>
              <a:rPr lang="en-GB" sz="2400" dirty="0" smtClean="0">
                <a:solidFill>
                  <a:srgbClr val="000000"/>
                </a:solidFill>
              </a:rPr>
              <a:t>:</a:t>
            </a:r>
          </a:p>
          <a:p>
            <a:pPr algn="l" eaLnBrk="1" hangingPunct="1">
              <a:lnSpc>
                <a:spcPct val="150000"/>
              </a:lnSpc>
              <a:buFont typeface="Wingdings" pitchFamily="2" charset="2"/>
              <a:buChar char="Ø"/>
            </a:pPr>
            <a:r>
              <a:rPr lang="en-GB" sz="2400" dirty="0" smtClean="0">
                <a:solidFill>
                  <a:srgbClr val="000000"/>
                </a:solidFill>
              </a:rPr>
              <a:t>Les </a:t>
            </a:r>
            <a:r>
              <a:rPr lang="en-GB" sz="2400" dirty="0" err="1" smtClean="0">
                <a:solidFill>
                  <a:srgbClr val="000000"/>
                </a:solidFill>
              </a:rPr>
              <a:t>noms</a:t>
            </a:r>
            <a:r>
              <a:rPr lang="en-GB" sz="2400" dirty="0" smtClean="0">
                <a:solidFill>
                  <a:srgbClr val="000000"/>
                </a:solidFill>
              </a:rPr>
              <a:t> </a:t>
            </a:r>
            <a:r>
              <a:rPr lang="en-GB" sz="2400" dirty="0" err="1" smtClean="0">
                <a:solidFill>
                  <a:srgbClr val="000000"/>
                </a:solidFill>
              </a:rPr>
              <a:t>d'hôtes</a:t>
            </a:r>
            <a:r>
              <a:rPr lang="en-GB" sz="2400" dirty="0" smtClean="0">
                <a:solidFill>
                  <a:srgbClr val="000000"/>
                </a:solidFill>
              </a:rPr>
              <a:t> qui </a:t>
            </a:r>
            <a:r>
              <a:rPr lang="en-GB" sz="2400" dirty="0" err="1" smtClean="0">
                <a:solidFill>
                  <a:srgbClr val="000000"/>
                </a:solidFill>
              </a:rPr>
              <a:t>ont</a:t>
            </a:r>
            <a:r>
              <a:rPr lang="en-GB" sz="2400" dirty="0" smtClean="0">
                <a:solidFill>
                  <a:srgbClr val="000000"/>
                </a:solidFill>
              </a:rPr>
              <a:t> </a:t>
            </a:r>
            <a:r>
              <a:rPr lang="en-GB" sz="2400" dirty="0" err="1" smtClean="0">
                <a:solidFill>
                  <a:srgbClr val="000000"/>
                </a:solidFill>
              </a:rPr>
              <a:t>été</a:t>
            </a:r>
            <a:r>
              <a:rPr lang="en-GB" sz="2400" dirty="0" smtClean="0">
                <a:solidFill>
                  <a:srgbClr val="000000"/>
                </a:solidFill>
              </a:rPr>
              <a:t> </a:t>
            </a:r>
            <a:r>
              <a:rPr lang="en-GB" sz="2400" dirty="0" err="1" smtClean="0">
                <a:solidFill>
                  <a:srgbClr val="000000"/>
                </a:solidFill>
              </a:rPr>
              <a:t>récemment</a:t>
            </a:r>
            <a:r>
              <a:rPr lang="en-GB" sz="2400" dirty="0" smtClean="0">
                <a:solidFill>
                  <a:srgbClr val="000000"/>
                </a:solidFill>
              </a:rPr>
              <a:t> </a:t>
            </a:r>
            <a:r>
              <a:rPr lang="en-GB" sz="2400" dirty="0" err="1" smtClean="0">
                <a:solidFill>
                  <a:srgbClr val="000000"/>
                </a:solidFill>
              </a:rPr>
              <a:t>résolus</a:t>
            </a:r>
            <a:r>
              <a:rPr lang="en-GB" sz="2400" dirty="0" smtClean="0">
                <a:solidFill>
                  <a:srgbClr val="000000"/>
                </a:solidFill>
              </a:rPr>
              <a:t> en </a:t>
            </a:r>
            <a:r>
              <a:rPr lang="en-GB" sz="2400" dirty="0" err="1" smtClean="0">
                <a:solidFill>
                  <a:srgbClr val="000000"/>
                </a:solidFill>
              </a:rPr>
              <a:t>adresses</a:t>
            </a:r>
            <a:r>
              <a:rPr lang="en-GB" sz="2400" dirty="0" smtClean="0">
                <a:solidFill>
                  <a:srgbClr val="000000"/>
                </a:solidFill>
              </a:rPr>
              <a:t> IP</a:t>
            </a:r>
          </a:p>
          <a:p>
            <a:pPr algn="l" eaLnBrk="1" hangingPunct="1">
              <a:lnSpc>
                <a:spcPct val="150000"/>
              </a:lnSpc>
              <a:buFont typeface="Wingdings" pitchFamily="2" charset="2"/>
              <a:buChar char="Ø"/>
            </a:pPr>
            <a:r>
              <a:rPr lang="en-GB" sz="2400" dirty="0" smtClean="0">
                <a:solidFill>
                  <a:srgbClr val="000000"/>
                </a:solidFill>
              </a:rPr>
              <a:t>Les </a:t>
            </a:r>
            <a:r>
              <a:rPr lang="en-GB" sz="2400" dirty="0" err="1" smtClean="0">
                <a:solidFill>
                  <a:srgbClr val="000000"/>
                </a:solidFill>
              </a:rPr>
              <a:t>mappages</a:t>
            </a:r>
            <a:r>
              <a:rPr lang="en-GB" sz="2400" dirty="0" smtClean="0">
                <a:solidFill>
                  <a:srgbClr val="000000"/>
                </a:solidFill>
              </a:rPr>
              <a:t> de nom d'hôte à </a:t>
            </a:r>
            <a:r>
              <a:rPr lang="en-GB" sz="2400" dirty="0" err="1" smtClean="0">
                <a:solidFill>
                  <a:srgbClr val="000000"/>
                </a:solidFill>
              </a:rPr>
              <a:t>adresse</a:t>
            </a:r>
            <a:r>
              <a:rPr lang="en-GB" sz="2400" dirty="0" smtClean="0">
                <a:solidFill>
                  <a:srgbClr val="000000"/>
                </a:solidFill>
              </a:rPr>
              <a:t> IP qui </a:t>
            </a:r>
            <a:r>
              <a:rPr lang="en-GB" sz="2400" dirty="0" err="1" smtClean="0">
                <a:solidFill>
                  <a:srgbClr val="000000"/>
                </a:solidFill>
              </a:rPr>
              <a:t>sont</a:t>
            </a:r>
            <a:r>
              <a:rPr lang="en-GB" sz="2400" dirty="0" smtClean="0">
                <a:solidFill>
                  <a:srgbClr val="000000"/>
                </a:solidFill>
              </a:rPr>
              <a:t> </a:t>
            </a:r>
            <a:r>
              <a:rPr lang="en-GB" sz="2400" dirty="0" err="1" smtClean="0">
                <a:solidFill>
                  <a:srgbClr val="000000"/>
                </a:solidFill>
              </a:rPr>
              <a:t>chargés</a:t>
            </a:r>
            <a:r>
              <a:rPr lang="en-GB" sz="2400" dirty="0" smtClean="0">
                <a:solidFill>
                  <a:srgbClr val="000000"/>
                </a:solidFill>
              </a:rPr>
              <a:t> à </a:t>
            </a:r>
            <a:r>
              <a:rPr lang="en-GB" sz="2400" dirty="0" err="1" smtClean="0">
                <a:solidFill>
                  <a:srgbClr val="000000"/>
                </a:solidFill>
              </a:rPr>
              <a:t>partir</a:t>
            </a:r>
            <a:r>
              <a:rPr lang="en-GB" sz="2400" dirty="0" smtClean="0">
                <a:solidFill>
                  <a:srgbClr val="000000"/>
                </a:solidFill>
              </a:rPr>
              <a:t> du </a:t>
            </a:r>
            <a:r>
              <a:rPr lang="en-GB" sz="2400" dirty="0" err="1" smtClean="0">
                <a:solidFill>
                  <a:srgbClr val="000000"/>
                </a:solidFill>
              </a:rPr>
              <a:t>fichier</a:t>
            </a:r>
            <a:r>
              <a:rPr lang="en-GB" sz="2400" dirty="0" smtClean="0">
                <a:solidFill>
                  <a:srgbClr val="000000"/>
                </a:solidFill>
              </a:rPr>
              <a:t> Hosts</a:t>
            </a:r>
            <a:endParaRPr lang="en-US" sz="2400" dirty="0">
              <a:solidFill>
                <a:srgbClr val="000000"/>
              </a:solidFill>
            </a:endParaRPr>
          </a:p>
        </p:txBody>
      </p:sp>
      <p:pic>
        <p:nvPicPr>
          <p:cNvPr id="558097" name="Picture 17" descr="UserWithDesktopComputer01"/>
          <p:cNvPicPr>
            <a:picLocks noChangeAspect="1" noChangeArrowheads="1"/>
          </p:cNvPicPr>
          <p:nvPr/>
        </p:nvPicPr>
        <p:blipFill>
          <a:blip r:embed="rId9"/>
          <a:srcRect/>
          <a:stretch>
            <a:fillRect/>
          </a:stretch>
        </p:blipFill>
        <p:spPr bwMode="auto">
          <a:xfrm>
            <a:off x="962025" y="4303478"/>
            <a:ext cx="1612900" cy="1874838"/>
          </a:xfrm>
          <a:prstGeom prst="rect">
            <a:avLst/>
          </a:prstGeom>
          <a:noFill/>
        </p:spPr>
      </p:pic>
      <p:sp>
        <p:nvSpPr>
          <p:cNvPr id="558110" name="AutoShape 30"/>
          <p:cNvSpPr>
            <a:spLocks noChangeArrowheads="1"/>
          </p:cNvSpPr>
          <p:nvPr>
            <p:custDataLst>
              <p:tags r:id="rId3"/>
            </p:custDataLst>
          </p:nvPr>
        </p:nvSpPr>
        <p:spPr bwMode="auto">
          <a:xfrm>
            <a:off x="783771" y="3776427"/>
            <a:ext cx="1435554" cy="447229"/>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Computer1</a:t>
            </a:r>
            <a:endParaRPr lang="en-US" sz="2000"/>
          </a:p>
        </p:txBody>
      </p:sp>
      <p:pic>
        <p:nvPicPr>
          <p:cNvPr id="558105" name="Picture 25" descr="Document_Writing01"/>
          <p:cNvPicPr>
            <a:picLocks noChangeAspect="1" noChangeArrowheads="1"/>
          </p:cNvPicPr>
          <p:nvPr/>
        </p:nvPicPr>
        <p:blipFill>
          <a:blip r:embed="rId10"/>
          <a:srcRect/>
          <a:stretch>
            <a:fillRect/>
          </a:stretch>
        </p:blipFill>
        <p:spPr bwMode="auto">
          <a:xfrm>
            <a:off x="3474522" y="5665787"/>
            <a:ext cx="731838" cy="1192213"/>
          </a:xfrm>
          <a:prstGeom prst="rect">
            <a:avLst/>
          </a:prstGeom>
          <a:noFill/>
        </p:spPr>
      </p:pic>
      <p:sp>
        <p:nvSpPr>
          <p:cNvPr id="558106" name="AutoShape 26"/>
          <p:cNvSpPr>
            <a:spLocks noChangeArrowheads="1"/>
          </p:cNvSpPr>
          <p:nvPr>
            <p:custDataLst>
              <p:tags r:id="rId4"/>
            </p:custDataLst>
          </p:nvPr>
        </p:nvSpPr>
        <p:spPr bwMode="auto">
          <a:xfrm>
            <a:off x="2017487" y="6281504"/>
            <a:ext cx="1462314" cy="293468"/>
          </a:xfrm>
          <a:prstGeom prst="roundRect">
            <a:avLst>
              <a:gd name="adj" fmla="val 4329"/>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dirty="0" err="1">
                <a:solidFill>
                  <a:srgbClr val="000000"/>
                </a:solidFill>
              </a:rPr>
              <a:t>Fichier</a:t>
            </a:r>
            <a:r>
              <a:rPr lang="en-GB" sz="2000" dirty="0">
                <a:solidFill>
                  <a:srgbClr val="000000"/>
                </a:solidFill>
              </a:rPr>
              <a:t> Hosts</a:t>
            </a:r>
            <a:endParaRPr lang="en-US" sz="2000" dirty="0"/>
          </a:p>
        </p:txBody>
      </p:sp>
      <p:pic>
        <p:nvPicPr>
          <p:cNvPr id="558098" name="Picture 18" descr="Server01"/>
          <p:cNvPicPr>
            <a:picLocks noChangeAspect="1" noChangeArrowheads="1"/>
          </p:cNvPicPr>
          <p:nvPr/>
        </p:nvPicPr>
        <p:blipFill>
          <a:blip r:embed="rId11" cstate="print"/>
          <a:srcRect/>
          <a:stretch>
            <a:fillRect/>
          </a:stretch>
        </p:blipFill>
        <p:spPr bwMode="auto">
          <a:xfrm>
            <a:off x="5402263" y="5700478"/>
            <a:ext cx="985837" cy="1158875"/>
          </a:xfrm>
          <a:prstGeom prst="rect">
            <a:avLst/>
          </a:prstGeom>
          <a:noFill/>
        </p:spPr>
      </p:pic>
      <p:sp>
        <p:nvSpPr>
          <p:cNvPr id="558099" name="AutoShape 19"/>
          <p:cNvSpPr>
            <a:spLocks noChangeArrowheads="1"/>
          </p:cNvSpPr>
          <p:nvPr>
            <p:custDataLst>
              <p:tags r:id="rId5"/>
            </p:custDataLst>
          </p:nvPr>
        </p:nvSpPr>
        <p:spPr bwMode="auto">
          <a:xfrm>
            <a:off x="6210300" y="6022741"/>
            <a:ext cx="2353129" cy="552230"/>
          </a:xfrm>
          <a:prstGeom prst="roundRect">
            <a:avLst>
              <a:gd name="adj" fmla="val 4065"/>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Noms d'hôtes résolus </a:t>
            </a:r>
            <a:endParaRPr lang="en-US" sz="2000"/>
          </a:p>
          <a:p>
            <a:pPr>
              <a:lnSpc>
                <a:spcPct val="85000"/>
              </a:lnSpc>
            </a:pPr>
            <a:r>
              <a:rPr lang="en-GB" sz="2000">
                <a:solidFill>
                  <a:srgbClr val="000000"/>
                </a:solidFill>
              </a:rPr>
              <a:t>à partir du serveur DNS</a:t>
            </a:r>
            <a:endParaRPr lang="en-US" sz="2000">
              <a:solidFill>
                <a:srgbClr val="000000"/>
              </a:solidFill>
            </a:endParaRPr>
          </a:p>
        </p:txBody>
      </p:sp>
      <p:sp>
        <p:nvSpPr>
          <p:cNvPr id="558116" name="Freeform 36"/>
          <p:cNvSpPr>
            <a:spLocks/>
          </p:cNvSpPr>
          <p:nvPr/>
        </p:nvSpPr>
        <p:spPr bwMode="auto">
          <a:xfrm>
            <a:off x="4186238" y="5324241"/>
            <a:ext cx="384175" cy="1044575"/>
          </a:xfrm>
          <a:custGeom>
            <a:avLst/>
            <a:gdLst/>
            <a:ahLst/>
            <a:cxnLst>
              <a:cxn ang="0">
                <a:pos x="0" y="576"/>
              </a:cxn>
              <a:cxn ang="0">
                <a:pos x="170" y="576"/>
              </a:cxn>
              <a:cxn ang="0">
                <a:pos x="170" y="0"/>
              </a:cxn>
            </a:cxnLst>
            <a:rect l="0" t="0" r="r" b="b"/>
            <a:pathLst>
              <a:path w="170" h="576">
                <a:moveTo>
                  <a:pt x="0" y="576"/>
                </a:moveTo>
                <a:lnTo>
                  <a:pt x="170" y="576"/>
                </a:lnTo>
                <a:lnTo>
                  <a:pt x="170" y="0"/>
                </a:lnTo>
              </a:path>
            </a:pathLst>
          </a:custGeom>
          <a:noFill/>
          <a:ln w="57150" cap="rnd" cmpd="sng">
            <a:solidFill>
              <a:srgbClr val="CC0000"/>
            </a:solidFill>
            <a:prstDash val="sysDot"/>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558117" name="Freeform 37"/>
          <p:cNvSpPr>
            <a:spLocks/>
          </p:cNvSpPr>
          <p:nvPr/>
        </p:nvSpPr>
        <p:spPr bwMode="auto">
          <a:xfrm flipH="1">
            <a:off x="5126038" y="5324241"/>
            <a:ext cx="384175" cy="1044575"/>
          </a:xfrm>
          <a:custGeom>
            <a:avLst/>
            <a:gdLst/>
            <a:ahLst/>
            <a:cxnLst>
              <a:cxn ang="0">
                <a:pos x="0" y="576"/>
              </a:cxn>
              <a:cxn ang="0">
                <a:pos x="170" y="576"/>
              </a:cxn>
              <a:cxn ang="0">
                <a:pos x="170" y="0"/>
              </a:cxn>
            </a:cxnLst>
            <a:rect l="0" t="0" r="r" b="b"/>
            <a:pathLst>
              <a:path w="170" h="576">
                <a:moveTo>
                  <a:pt x="0" y="576"/>
                </a:moveTo>
                <a:lnTo>
                  <a:pt x="170" y="576"/>
                </a:lnTo>
                <a:lnTo>
                  <a:pt x="170" y="0"/>
                </a:lnTo>
              </a:path>
            </a:pathLst>
          </a:custGeom>
          <a:noFill/>
          <a:ln w="57150" cap="rnd" cmpd="sng">
            <a:solidFill>
              <a:srgbClr val="CC0000"/>
            </a:solidFill>
            <a:prstDash val="sysDot"/>
            <a:round/>
            <a:headEnd type="none" w="med" len="med"/>
            <a:tailEnd type="none" w="med" len="med"/>
          </a:ln>
          <a:effectLst>
            <a:outerShdw dist="17961" dir="2700000" algn="ctr" rotWithShape="0">
              <a:schemeClr val="bg1"/>
            </a:outerShdw>
          </a:effectLst>
        </p:spPr>
        <p:txBody>
          <a:bodyPr wrap="none"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8113">
                                            <p:bg/>
                                          </p:spTgt>
                                        </p:tgtEl>
                                        <p:attrNameLst>
                                          <p:attrName>style.visibility</p:attrName>
                                        </p:attrNameLst>
                                      </p:cBhvr>
                                      <p:to>
                                        <p:strVal val="visible"/>
                                      </p:to>
                                    </p:set>
                                    <p:anim calcmode="lin" valueType="num">
                                      <p:cBhvr additive="base">
                                        <p:cTn id="7" dur="2000" fill="hold"/>
                                        <p:tgtEl>
                                          <p:spTgt spid="558113">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558113">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58113">
                                            <p:txEl>
                                              <p:pRg st="0" end="0"/>
                                            </p:txEl>
                                          </p:spTgt>
                                        </p:tgtEl>
                                        <p:attrNameLst>
                                          <p:attrName>style.visibility</p:attrName>
                                        </p:attrNameLst>
                                      </p:cBhvr>
                                      <p:to>
                                        <p:strVal val="visible"/>
                                      </p:to>
                                    </p:set>
                                    <p:anim calcmode="lin" valueType="num">
                                      <p:cBhvr additive="base">
                                        <p:cTn id="11" dur="2000" fill="hold"/>
                                        <p:tgtEl>
                                          <p:spTgt spid="558113">
                                            <p:txEl>
                                              <p:pRg st="0" end="0"/>
                                            </p:txEl>
                                          </p:spTgt>
                                        </p:tgtEl>
                                        <p:attrNameLst>
                                          <p:attrName>ppt_x</p:attrName>
                                        </p:attrNameLst>
                                      </p:cBhvr>
                                      <p:tavLst>
                                        <p:tav tm="0">
                                          <p:val>
                                            <p:strVal val="0-#ppt_w/2"/>
                                          </p:val>
                                        </p:tav>
                                        <p:tav tm="100000">
                                          <p:val>
                                            <p:strVal val="#ppt_x"/>
                                          </p:val>
                                        </p:tav>
                                      </p:tavLst>
                                    </p:anim>
                                    <p:anim calcmode="lin" valueType="num">
                                      <p:cBhvr additive="base">
                                        <p:cTn id="12" dur="2000" fill="hold"/>
                                        <p:tgtEl>
                                          <p:spTgt spid="5581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58113">
                                            <p:txEl>
                                              <p:pRg st="1" end="1"/>
                                            </p:txEl>
                                          </p:spTgt>
                                        </p:tgtEl>
                                        <p:attrNameLst>
                                          <p:attrName>style.visibility</p:attrName>
                                        </p:attrNameLst>
                                      </p:cBhvr>
                                      <p:to>
                                        <p:strVal val="visible"/>
                                      </p:to>
                                    </p:set>
                                    <p:anim calcmode="lin" valueType="num">
                                      <p:cBhvr additive="base">
                                        <p:cTn id="17" dur="2000" fill="hold"/>
                                        <p:tgtEl>
                                          <p:spTgt spid="558113">
                                            <p:txEl>
                                              <p:pRg st="1" end="1"/>
                                            </p:txEl>
                                          </p:spTgt>
                                        </p:tgtEl>
                                        <p:attrNameLst>
                                          <p:attrName>ppt_x</p:attrName>
                                        </p:attrNameLst>
                                      </p:cBhvr>
                                      <p:tavLst>
                                        <p:tav tm="0">
                                          <p:val>
                                            <p:strVal val="0-#ppt_w/2"/>
                                          </p:val>
                                        </p:tav>
                                        <p:tav tm="100000">
                                          <p:val>
                                            <p:strVal val="#ppt_x"/>
                                          </p:val>
                                        </p:tav>
                                      </p:tavLst>
                                    </p:anim>
                                    <p:anim calcmode="lin" valueType="num">
                                      <p:cBhvr additive="base">
                                        <p:cTn id="18" dur="2000" fill="hold"/>
                                        <p:tgtEl>
                                          <p:spTgt spid="5581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58113">
                                            <p:txEl>
                                              <p:pRg st="2" end="2"/>
                                            </p:txEl>
                                          </p:spTgt>
                                        </p:tgtEl>
                                        <p:attrNameLst>
                                          <p:attrName>style.visibility</p:attrName>
                                        </p:attrNameLst>
                                      </p:cBhvr>
                                      <p:to>
                                        <p:strVal val="visible"/>
                                      </p:to>
                                    </p:set>
                                    <p:anim calcmode="lin" valueType="num">
                                      <p:cBhvr additive="base">
                                        <p:cTn id="23" dur="2000" fill="hold"/>
                                        <p:tgtEl>
                                          <p:spTgt spid="558113">
                                            <p:txEl>
                                              <p:pRg st="2" end="2"/>
                                            </p:txEl>
                                          </p:spTgt>
                                        </p:tgtEl>
                                        <p:attrNameLst>
                                          <p:attrName>ppt_x</p:attrName>
                                        </p:attrNameLst>
                                      </p:cBhvr>
                                      <p:tavLst>
                                        <p:tav tm="0">
                                          <p:val>
                                            <p:strVal val="0-#ppt_w/2"/>
                                          </p:val>
                                        </p:tav>
                                        <p:tav tm="100000">
                                          <p:val>
                                            <p:strVal val="#ppt_x"/>
                                          </p:val>
                                        </p:tav>
                                      </p:tavLst>
                                    </p:anim>
                                    <p:anim calcmode="lin" valueType="num">
                                      <p:cBhvr additive="base">
                                        <p:cTn id="24" dur="2000" fill="hold"/>
                                        <p:tgtEl>
                                          <p:spTgt spid="55811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113" grpId="0" uiExpand="1"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custDataLst>
              <p:tags r:id="rId1"/>
            </p:custDataLst>
          </p:nvPr>
        </p:nvSpPr>
        <p:spPr>
          <a:xfrm>
            <a:off x="258208" y="348341"/>
            <a:ext cx="8697105" cy="914980"/>
          </a:xfrm>
        </p:spPr>
        <p:txBody>
          <a:bodyPr vert="horz" anchor="b">
            <a:normAutofit fontScale="90000"/>
          </a:bodyPr>
          <a:lstStyle/>
          <a:p>
            <a:r>
              <a:rPr lang="fr-FR" b="1" dirty="0">
                <a:solidFill>
                  <a:srgbClr val="C00000"/>
                </a:solidFill>
              </a:rPr>
              <a:t>Comment afficher et vider le cache </a:t>
            </a:r>
            <a:r>
              <a:rPr lang="fr-FR" b="1" dirty="0" smtClean="0">
                <a:solidFill>
                  <a:srgbClr val="C00000"/>
                </a:solidFill>
              </a:rPr>
              <a:t>de résolution </a:t>
            </a:r>
            <a:r>
              <a:rPr lang="fr-FR" b="1" dirty="0">
                <a:solidFill>
                  <a:srgbClr val="C00000"/>
                </a:solidFill>
              </a:rPr>
              <a:t>client</a:t>
            </a:r>
            <a:endParaRPr lang="en-US" b="1" dirty="0">
              <a:solidFill>
                <a:srgbClr val="C00000"/>
              </a:solidFill>
            </a:endParaRPr>
          </a:p>
        </p:txBody>
      </p:sp>
      <p:sp>
        <p:nvSpPr>
          <p:cNvPr id="605190" name="AutoShape 6"/>
          <p:cNvSpPr>
            <a:spLocks noChangeArrowheads="1"/>
          </p:cNvSpPr>
          <p:nvPr>
            <p:custDataLst>
              <p:tags r:id="rId2"/>
            </p:custDataLst>
          </p:nvPr>
        </p:nvSpPr>
        <p:spPr bwMode="auto">
          <a:xfrm>
            <a:off x="285008" y="1543791"/>
            <a:ext cx="8597735" cy="387437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pPr>
            <a:r>
              <a:rPr lang="en-GB" sz="2400" u="sng" dirty="0" err="1">
                <a:solidFill>
                  <a:srgbClr val="000000"/>
                </a:solidFill>
              </a:rPr>
              <a:t>Afficher</a:t>
            </a:r>
            <a:r>
              <a:rPr lang="en-GB" sz="2400" dirty="0">
                <a:solidFill>
                  <a:srgbClr val="000000"/>
                </a:solidFill>
              </a:rPr>
              <a:t> </a:t>
            </a:r>
            <a:r>
              <a:rPr lang="en-GB" sz="2400" dirty="0" smtClean="0">
                <a:solidFill>
                  <a:srgbClr val="000000"/>
                </a:solidFill>
              </a:rPr>
              <a:t> un </a:t>
            </a:r>
            <a:r>
              <a:rPr lang="en-GB" sz="2400" dirty="0">
                <a:solidFill>
                  <a:srgbClr val="000000"/>
                </a:solidFill>
              </a:rPr>
              <a:t>cache de </a:t>
            </a:r>
            <a:r>
              <a:rPr lang="en-GB" sz="2400" dirty="0" err="1">
                <a:solidFill>
                  <a:srgbClr val="000000"/>
                </a:solidFill>
              </a:rPr>
              <a:t>résolution</a:t>
            </a:r>
            <a:r>
              <a:rPr lang="en-GB" sz="2400" dirty="0">
                <a:solidFill>
                  <a:srgbClr val="000000"/>
                </a:solidFill>
              </a:rPr>
              <a:t> client au </a:t>
            </a:r>
            <a:r>
              <a:rPr lang="en-GB" sz="2400" dirty="0" err="1">
                <a:solidFill>
                  <a:srgbClr val="000000"/>
                </a:solidFill>
              </a:rPr>
              <a:t>moyen</a:t>
            </a:r>
            <a:r>
              <a:rPr lang="en-GB" sz="2400" dirty="0">
                <a:solidFill>
                  <a:srgbClr val="000000"/>
                </a:solidFill>
              </a:rPr>
              <a:t> de la </a:t>
            </a:r>
            <a:r>
              <a:rPr lang="en-GB" sz="2400" dirty="0" err="1">
                <a:solidFill>
                  <a:srgbClr val="000000"/>
                </a:solidFill>
              </a:rPr>
              <a:t>commande</a:t>
            </a:r>
            <a:r>
              <a:rPr lang="en-GB" sz="2400" dirty="0">
                <a:solidFill>
                  <a:srgbClr val="000000"/>
                </a:solidFill>
              </a:rPr>
              <a:t> </a:t>
            </a:r>
            <a:r>
              <a:rPr lang="en-GB" sz="2400" dirty="0" err="1" smtClean="0">
                <a:solidFill>
                  <a:srgbClr val="000000"/>
                </a:solidFill>
              </a:rPr>
              <a:t>Ipconfig</a:t>
            </a:r>
            <a:endParaRPr lang="en-GB" sz="2400" dirty="0" smtClean="0">
              <a:solidFill>
                <a:srgbClr val="000000"/>
              </a:solidFill>
            </a:endParaRPr>
          </a:p>
          <a:p>
            <a:pPr marL="1085850" indent="-231775" algn="l">
              <a:lnSpc>
                <a:spcPct val="90000"/>
              </a:lnSpc>
              <a:spcBef>
                <a:spcPct val="40000"/>
              </a:spcBef>
              <a:buSzPct val="80000"/>
            </a:pPr>
            <a:r>
              <a:rPr lang="fr-FR" sz="2400" i="1" dirty="0" err="1" smtClean="0">
                <a:solidFill>
                  <a:srgbClr val="0070C0"/>
                </a:solidFill>
              </a:rPr>
              <a:t>ipconfig</a:t>
            </a:r>
            <a:r>
              <a:rPr lang="fr-FR" sz="2400" i="1" dirty="0" smtClean="0">
                <a:solidFill>
                  <a:srgbClr val="0070C0"/>
                </a:solidFill>
              </a:rPr>
              <a:t> /</a:t>
            </a:r>
            <a:r>
              <a:rPr lang="fr-FR" sz="2400" i="1" dirty="0" err="1" smtClean="0">
                <a:solidFill>
                  <a:srgbClr val="0070C0"/>
                </a:solidFill>
              </a:rPr>
              <a:t>displaydns</a:t>
            </a:r>
            <a:endParaRPr lang="en-US" sz="2400" i="1" dirty="0">
              <a:solidFill>
                <a:srgbClr val="0070C0"/>
              </a:solidFill>
            </a:endParaRPr>
          </a:p>
          <a:p>
            <a:pPr marL="231775" indent="-231775" algn="l">
              <a:lnSpc>
                <a:spcPct val="90000"/>
              </a:lnSpc>
              <a:spcBef>
                <a:spcPct val="40000"/>
              </a:spcBef>
              <a:buSzPct val="80000"/>
            </a:pPr>
            <a:r>
              <a:rPr lang="en-GB" sz="2400" u="sng" dirty="0" err="1">
                <a:solidFill>
                  <a:srgbClr val="000000"/>
                </a:solidFill>
              </a:rPr>
              <a:t>Vider</a:t>
            </a:r>
            <a:r>
              <a:rPr lang="en-GB" sz="2400" dirty="0">
                <a:solidFill>
                  <a:srgbClr val="000000"/>
                </a:solidFill>
              </a:rPr>
              <a:t> </a:t>
            </a:r>
            <a:r>
              <a:rPr lang="en-GB" sz="2400" dirty="0" smtClean="0">
                <a:solidFill>
                  <a:srgbClr val="000000"/>
                </a:solidFill>
              </a:rPr>
              <a:t>un </a:t>
            </a:r>
            <a:r>
              <a:rPr lang="en-GB" sz="2400" dirty="0">
                <a:solidFill>
                  <a:srgbClr val="000000"/>
                </a:solidFill>
              </a:rPr>
              <a:t>cache de </a:t>
            </a:r>
            <a:r>
              <a:rPr lang="en-GB" sz="2400" dirty="0" err="1">
                <a:solidFill>
                  <a:srgbClr val="000000"/>
                </a:solidFill>
              </a:rPr>
              <a:t>résolution</a:t>
            </a:r>
            <a:r>
              <a:rPr lang="en-GB" sz="2400" dirty="0">
                <a:solidFill>
                  <a:srgbClr val="000000"/>
                </a:solidFill>
              </a:rPr>
              <a:t> client au </a:t>
            </a:r>
            <a:r>
              <a:rPr lang="en-GB" sz="2400" dirty="0" err="1">
                <a:solidFill>
                  <a:srgbClr val="000000"/>
                </a:solidFill>
              </a:rPr>
              <a:t>moyen</a:t>
            </a:r>
            <a:r>
              <a:rPr lang="en-GB" sz="2400" dirty="0">
                <a:solidFill>
                  <a:srgbClr val="000000"/>
                </a:solidFill>
              </a:rPr>
              <a:t> de la </a:t>
            </a:r>
            <a:r>
              <a:rPr lang="en-GB" sz="2400" dirty="0" err="1">
                <a:solidFill>
                  <a:srgbClr val="000000"/>
                </a:solidFill>
              </a:rPr>
              <a:t>commande</a:t>
            </a:r>
            <a:r>
              <a:rPr lang="en-GB" sz="2400" dirty="0">
                <a:solidFill>
                  <a:srgbClr val="000000"/>
                </a:solidFill>
              </a:rPr>
              <a:t> </a:t>
            </a:r>
            <a:r>
              <a:rPr lang="en-GB" sz="2400" dirty="0" err="1" smtClean="0">
                <a:solidFill>
                  <a:srgbClr val="000000"/>
                </a:solidFill>
              </a:rPr>
              <a:t>Ipconfig</a:t>
            </a:r>
            <a:endParaRPr lang="en-GB" sz="2400" dirty="0" smtClean="0">
              <a:solidFill>
                <a:srgbClr val="000000"/>
              </a:solidFill>
            </a:endParaRPr>
          </a:p>
          <a:p>
            <a:pPr marL="903288" algn="l">
              <a:lnSpc>
                <a:spcPct val="90000"/>
              </a:lnSpc>
              <a:spcBef>
                <a:spcPct val="40000"/>
              </a:spcBef>
              <a:buSzPct val="80000"/>
            </a:pPr>
            <a:r>
              <a:rPr lang="fr-FR" sz="2400" i="1" dirty="0" err="1" smtClean="0">
                <a:solidFill>
                  <a:srgbClr val="0070C0"/>
                </a:solidFill>
              </a:rPr>
              <a:t>ipconfig</a:t>
            </a:r>
            <a:r>
              <a:rPr lang="fr-FR" sz="2400" i="1" dirty="0" smtClean="0">
                <a:solidFill>
                  <a:srgbClr val="0070C0"/>
                </a:solidFill>
              </a:rPr>
              <a:t> /</a:t>
            </a:r>
            <a:r>
              <a:rPr lang="fr-FR" sz="2400" i="1" dirty="0" err="1" smtClean="0">
                <a:solidFill>
                  <a:srgbClr val="0070C0"/>
                </a:solidFill>
              </a:rPr>
              <a:t>flushdns</a:t>
            </a:r>
            <a:endParaRPr lang="en-US" sz="2400" i="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5190">
                                            <p:txEl>
                                              <p:pRg st="0" end="0"/>
                                            </p:txEl>
                                          </p:spTgt>
                                        </p:tgtEl>
                                        <p:attrNameLst>
                                          <p:attrName>style.visibility</p:attrName>
                                        </p:attrNameLst>
                                      </p:cBhvr>
                                      <p:to>
                                        <p:strVal val="visible"/>
                                      </p:to>
                                    </p:set>
                                    <p:animEffect transition="in" filter="checkerboard(across)">
                                      <p:cBhvr>
                                        <p:cTn id="7" dur="500"/>
                                        <p:tgtEl>
                                          <p:spTgt spid="605190">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5190">
                                            <p:txEl>
                                              <p:pRg st="1" end="1"/>
                                            </p:txEl>
                                          </p:spTgt>
                                        </p:tgtEl>
                                        <p:attrNameLst>
                                          <p:attrName>style.visibility</p:attrName>
                                        </p:attrNameLst>
                                      </p:cBhvr>
                                      <p:to>
                                        <p:strVal val="visible"/>
                                      </p:to>
                                    </p:set>
                                    <p:animEffect transition="in" filter="checkerboard(across)">
                                      <p:cBhvr>
                                        <p:cTn id="10" dur="500"/>
                                        <p:tgtEl>
                                          <p:spTgt spid="60519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605190">
                                            <p:txEl>
                                              <p:pRg st="2" end="2"/>
                                            </p:txEl>
                                          </p:spTgt>
                                        </p:tgtEl>
                                        <p:attrNameLst>
                                          <p:attrName>style.visibility</p:attrName>
                                        </p:attrNameLst>
                                      </p:cBhvr>
                                      <p:to>
                                        <p:strVal val="visible"/>
                                      </p:to>
                                    </p:set>
                                    <p:animEffect transition="in" filter="checkerboard(across)">
                                      <p:cBhvr>
                                        <p:cTn id="15" dur="500"/>
                                        <p:tgtEl>
                                          <p:spTgt spid="605190">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05190">
                                            <p:txEl>
                                              <p:pRg st="3" end="3"/>
                                            </p:txEl>
                                          </p:spTgt>
                                        </p:tgtEl>
                                        <p:attrNameLst>
                                          <p:attrName>style.visibility</p:attrName>
                                        </p:attrNameLst>
                                      </p:cBhvr>
                                      <p:to>
                                        <p:strVal val="visible"/>
                                      </p:to>
                                    </p:set>
                                    <p:animEffect transition="in" filter="checkerboard(across)">
                                      <p:cBhvr>
                                        <p:cTn id="18" dur="500"/>
                                        <p:tgtEl>
                                          <p:spTgt spid="6051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custDataLst>
              <p:tags r:id="rId1"/>
            </p:custDataLst>
          </p:nvPr>
        </p:nvSpPr>
        <p:spPr>
          <a:xfrm>
            <a:off x="260808" y="0"/>
            <a:ext cx="8534400" cy="758952"/>
          </a:xfrm>
        </p:spPr>
        <p:txBody>
          <a:bodyPr vert="horz" anchor="b">
            <a:normAutofit/>
          </a:bodyPr>
          <a:lstStyle/>
          <a:p>
            <a:r>
              <a:rPr lang="en-GB" b="1" dirty="0">
                <a:solidFill>
                  <a:srgbClr val="C00000"/>
                </a:solidFill>
              </a:rPr>
              <a:t>Fichier Hosts</a:t>
            </a:r>
            <a:endParaRPr lang="en-US" b="1" dirty="0">
              <a:solidFill>
                <a:srgbClr val="C00000"/>
              </a:solidFill>
            </a:endParaRPr>
          </a:p>
        </p:txBody>
      </p:sp>
      <p:sp>
        <p:nvSpPr>
          <p:cNvPr id="563216" name="Freeform 16"/>
          <p:cNvSpPr>
            <a:spLocks/>
          </p:cNvSpPr>
          <p:nvPr/>
        </p:nvSpPr>
        <p:spPr bwMode="auto">
          <a:xfrm>
            <a:off x="2219323" y="2168525"/>
            <a:ext cx="1262063" cy="3251200"/>
          </a:xfrm>
          <a:custGeom>
            <a:avLst/>
            <a:gdLst/>
            <a:ahLst/>
            <a:cxnLst>
              <a:cxn ang="0">
                <a:pos x="0" y="1417"/>
              </a:cxn>
              <a:cxn ang="0">
                <a:pos x="795" y="0"/>
              </a:cxn>
              <a:cxn ang="0">
                <a:pos x="786" y="2048"/>
              </a:cxn>
              <a:cxn ang="0">
                <a:pos x="0" y="1417"/>
              </a:cxn>
            </a:cxnLst>
            <a:rect l="0" t="0" r="r" b="b"/>
            <a:pathLst>
              <a:path w="795" h="2048">
                <a:moveTo>
                  <a:pt x="0" y="1417"/>
                </a:moveTo>
                <a:lnTo>
                  <a:pt x="795" y="0"/>
                </a:lnTo>
                <a:lnTo>
                  <a:pt x="786" y="2048"/>
                </a:lnTo>
                <a:lnTo>
                  <a:pt x="0" y="1417"/>
                </a:lnTo>
                <a:close/>
              </a:path>
            </a:pathLst>
          </a:custGeom>
          <a:solidFill>
            <a:schemeClr val="accent2">
              <a:alpha val="50000"/>
            </a:schemeClr>
          </a:solidFill>
          <a:ln w="9525" cap="flat" cmpd="sng">
            <a:noFill/>
            <a:prstDash val="solid"/>
            <a:round/>
            <a:headEnd/>
            <a:tailEnd/>
          </a:ln>
          <a:effectLst/>
        </p:spPr>
        <p:txBody>
          <a:bodyPr anchor="ctr"/>
          <a:lstStyle/>
          <a:p>
            <a:endParaRPr lang="fr-FR"/>
          </a:p>
        </p:txBody>
      </p:sp>
      <p:pic>
        <p:nvPicPr>
          <p:cNvPr id="563217" name="Picture 17" descr="UserWithDesktopComputer01"/>
          <p:cNvPicPr>
            <a:picLocks noChangeAspect="1" noChangeArrowheads="1"/>
          </p:cNvPicPr>
          <p:nvPr/>
        </p:nvPicPr>
        <p:blipFill>
          <a:blip r:embed="rId8"/>
          <a:srcRect/>
          <a:stretch>
            <a:fillRect/>
          </a:stretch>
        </p:blipFill>
        <p:spPr bwMode="auto">
          <a:xfrm>
            <a:off x="511175" y="3924300"/>
            <a:ext cx="1612900" cy="1874838"/>
          </a:xfrm>
          <a:prstGeom prst="rect">
            <a:avLst/>
          </a:prstGeom>
          <a:noFill/>
        </p:spPr>
      </p:pic>
      <p:sp>
        <p:nvSpPr>
          <p:cNvPr id="563218" name="AutoShape 18"/>
          <p:cNvSpPr>
            <a:spLocks noChangeArrowheads="1"/>
          </p:cNvSpPr>
          <p:nvPr>
            <p:custDataLst>
              <p:tags r:id="rId2"/>
            </p:custDataLst>
          </p:nvPr>
        </p:nvSpPr>
        <p:spPr bwMode="auto">
          <a:xfrm>
            <a:off x="631825" y="3397250"/>
            <a:ext cx="1136650" cy="368300"/>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dirty="0">
                <a:solidFill>
                  <a:srgbClr val="000000"/>
                </a:solidFill>
              </a:rPr>
              <a:t>Computer1</a:t>
            </a:r>
            <a:endParaRPr lang="en-US" sz="2000" dirty="0"/>
          </a:p>
        </p:txBody>
      </p:sp>
      <p:pic>
        <p:nvPicPr>
          <p:cNvPr id="563219" name="Picture 19" descr="Document_Writing01"/>
          <p:cNvPicPr>
            <a:picLocks noChangeAspect="1" noChangeArrowheads="1"/>
          </p:cNvPicPr>
          <p:nvPr/>
        </p:nvPicPr>
        <p:blipFill>
          <a:blip r:embed="rId9"/>
          <a:srcRect/>
          <a:stretch>
            <a:fillRect/>
          </a:stretch>
        </p:blipFill>
        <p:spPr bwMode="auto">
          <a:xfrm>
            <a:off x="1893888" y="3910013"/>
            <a:ext cx="731837" cy="1192212"/>
          </a:xfrm>
          <a:prstGeom prst="rect">
            <a:avLst/>
          </a:prstGeom>
          <a:noFill/>
        </p:spPr>
      </p:pic>
      <p:sp>
        <p:nvSpPr>
          <p:cNvPr id="563220" name="AutoShape 20"/>
          <p:cNvSpPr>
            <a:spLocks noChangeArrowheads="1"/>
          </p:cNvSpPr>
          <p:nvPr>
            <p:custDataLst>
              <p:tags r:id="rId3"/>
            </p:custDataLst>
          </p:nvPr>
        </p:nvSpPr>
        <p:spPr bwMode="auto">
          <a:xfrm>
            <a:off x="1762125" y="5348288"/>
            <a:ext cx="1314450" cy="301625"/>
          </a:xfrm>
          <a:prstGeom prst="roundRect">
            <a:avLst>
              <a:gd name="adj" fmla="val 4329"/>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dirty="0" err="1">
                <a:solidFill>
                  <a:srgbClr val="000000"/>
                </a:solidFill>
              </a:rPr>
              <a:t>Fichier</a:t>
            </a:r>
            <a:r>
              <a:rPr lang="en-GB" sz="2000" dirty="0">
                <a:solidFill>
                  <a:srgbClr val="000000"/>
                </a:solidFill>
              </a:rPr>
              <a:t> Hosts</a:t>
            </a:r>
            <a:endParaRPr lang="en-US" sz="2000" dirty="0"/>
          </a:p>
        </p:txBody>
      </p:sp>
      <p:sp>
        <p:nvSpPr>
          <p:cNvPr id="563221" name="AutoShape 21"/>
          <p:cNvSpPr>
            <a:spLocks noChangeArrowheads="1"/>
          </p:cNvSpPr>
          <p:nvPr>
            <p:custDataLst>
              <p:tags r:id="rId4"/>
            </p:custDataLst>
          </p:nvPr>
        </p:nvSpPr>
        <p:spPr bwMode="auto">
          <a:xfrm>
            <a:off x="3487421" y="1543792"/>
            <a:ext cx="5454650" cy="4845133"/>
          </a:xfrm>
          <a:prstGeom prst="foldedCorner">
            <a:avLst>
              <a:gd name="adj" fmla="val 12500"/>
            </a:avLst>
          </a:prstGeom>
          <a:solidFill>
            <a:schemeClr val="accent1"/>
          </a:solidFill>
          <a:ln w="9525" algn="ctr">
            <a:solidFill>
              <a:schemeClr val="tx1"/>
            </a:solidFill>
            <a:round/>
            <a:headEnd/>
            <a:tailEnd/>
          </a:ln>
          <a:effectLst/>
        </p:spPr>
        <p:txBody>
          <a:bodyPr wrap="none"/>
          <a:lstStyle/>
          <a:p>
            <a:pPr algn="l">
              <a:lnSpc>
                <a:spcPct val="90000"/>
              </a:lnSpc>
            </a:pPr>
            <a:r>
              <a:rPr lang="en-GB" sz="1500" b="0" dirty="0">
                <a:solidFill>
                  <a:srgbClr val="000000"/>
                </a:solidFill>
              </a:rPr>
              <a:t># Copyright (c) 1993-1999 Microsoft Corp.</a:t>
            </a:r>
            <a:endParaRPr lang="en-US" sz="1500" b="0" dirty="0"/>
          </a:p>
          <a:p>
            <a:pPr algn="l">
              <a:lnSpc>
                <a:spcPct val="90000"/>
              </a:lnSpc>
            </a:pPr>
            <a:r>
              <a:rPr lang="en-US" sz="1500" b="0" dirty="0"/>
              <a:t>#</a:t>
            </a:r>
          </a:p>
          <a:p>
            <a:pPr algn="l">
              <a:lnSpc>
                <a:spcPct val="90000"/>
              </a:lnSpc>
            </a:pPr>
            <a:r>
              <a:rPr lang="en-GB" sz="1500" b="0" dirty="0">
                <a:solidFill>
                  <a:srgbClr val="000000"/>
                </a:solidFill>
              </a:rPr>
              <a:t># </a:t>
            </a:r>
            <a:r>
              <a:rPr lang="en-GB" sz="1500" b="0" dirty="0" err="1">
                <a:solidFill>
                  <a:srgbClr val="000000"/>
                </a:solidFill>
              </a:rPr>
              <a:t>Ceci</a:t>
            </a:r>
            <a:r>
              <a:rPr lang="en-GB" sz="1500" b="0" dirty="0">
                <a:solidFill>
                  <a:srgbClr val="000000"/>
                </a:solidFill>
              </a:rPr>
              <a:t> </a:t>
            </a:r>
            <a:r>
              <a:rPr lang="en-GB" sz="1500" b="0" dirty="0" err="1">
                <a:solidFill>
                  <a:srgbClr val="000000"/>
                </a:solidFill>
              </a:rPr>
              <a:t>est</a:t>
            </a:r>
            <a:r>
              <a:rPr lang="en-GB" sz="1500" b="0" dirty="0">
                <a:solidFill>
                  <a:srgbClr val="000000"/>
                </a:solidFill>
              </a:rPr>
              <a:t> un </a:t>
            </a:r>
            <a:r>
              <a:rPr lang="en-GB" sz="1500" b="0" dirty="0" err="1">
                <a:solidFill>
                  <a:srgbClr val="000000"/>
                </a:solidFill>
              </a:rPr>
              <a:t>exemple</a:t>
            </a:r>
            <a:r>
              <a:rPr lang="en-GB" sz="1500" b="0" dirty="0">
                <a:solidFill>
                  <a:srgbClr val="000000"/>
                </a:solidFill>
              </a:rPr>
              <a:t> de </a:t>
            </a:r>
            <a:r>
              <a:rPr lang="en-GB" sz="1500" b="0" dirty="0" err="1">
                <a:solidFill>
                  <a:srgbClr val="000000"/>
                </a:solidFill>
              </a:rPr>
              <a:t>fichier</a:t>
            </a:r>
            <a:r>
              <a:rPr lang="en-GB" sz="1500" b="0" dirty="0">
                <a:solidFill>
                  <a:srgbClr val="000000"/>
                </a:solidFill>
              </a:rPr>
              <a:t> HOSTS </a:t>
            </a:r>
            <a:r>
              <a:rPr lang="en-GB" sz="1500" b="0" dirty="0" err="1">
                <a:solidFill>
                  <a:srgbClr val="000000"/>
                </a:solidFill>
              </a:rPr>
              <a:t>utilisé</a:t>
            </a:r>
            <a:r>
              <a:rPr lang="en-GB" sz="1500" b="0" dirty="0">
                <a:solidFill>
                  <a:srgbClr val="000000"/>
                </a:solidFill>
              </a:rPr>
              <a:t> par Microsoft TCP/IP </a:t>
            </a:r>
            <a:br>
              <a:rPr lang="en-GB" sz="1500" b="0" dirty="0">
                <a:solidFill>
                  <a:srgbClr val="000000"/>
                </a:solidFill>
              </a:rPr>
            </a:br>
            <a:r>
              <a:rPr lang="en-GB" b="0" dirty="0">
                <a:solidFill>
                  <a:srgbClr val="000000"/>
                </a:solidFill>
              </a:rPr>
              <a:t>#</a:t>
            </a:r>
            <a:r>
              <a:rPr lang="en-GB" dirty="0"/>
              <a:t> </a:t>
            </a:r>
            <a:r>
              <a:rPr lang="en-GB" sz="1500" b="0" dirty="0">
                <a:solidFill>
                  <a:srgbClr val="000000"/>
                </a:solidFill>
              </a:rPr>
              <a:t>pour Windows.</a:t>
            </a:r>
            <a:endParaRPr lang="en-US" sz="1500" b="0" dirty="0"/>
          </a:p>
          <a:p>
            <a:pPr algn="l">
              <a:lnSpc>
                <a:spcPct val="90000"/>
              </a:lnSpc>
            </a:pPr>
            <a:r>
              <a:rPr lang="en-US" sz="1500" b="0" dirty="0"/>
              <a:t>#</a:t>
            </a:r>
          </a:p>
          <a:p>
            <a:pPr algn="l">
              <a:lnSpc>
                <a:spcPct val="90000"/>
              </a:lnSpc>
            </a:pPr>
            <a:r>
              <a:rPr lang="en-GB" sz="1500" b="0" dirty="0">
                <a:solidFill>
                  <a:srgbClr val="000000"/>
                </a:solidFill>
              </a:rPr>
              <a:t># </a:t>
            </a:r>
            <a:r>
              <a:rPr lang="en-GB" sz="1500" b="0" dirty="0" err="1">
                <a:solidFill>
                  <a:srgbClr val="000000"/>
                </a:solidFill>
              </a:rPr>
              <a:t>Ce</a:t>
            </a:r>
            <a:r>
              <a:rPr lang="en-GB" sz="1500" b="0" dirty="0">
                <a:solidFill>
                  <a:srgbClr val="000000"/>
                </a:solidFill>
              </a:rPr>
              <a:t> </a:t>
            </a:r>
            <a:r>
              <a:rPr lang="en-GB" sz="1500" b="0" dirty="0" err="1">
                <a:solidFill>
                  <a:srgbClr val="000000"/>
                </a:solidFill>
              </a:rPr>
              <a:t>fichier</a:t>
            </a:r>
            <a:r>
              <a:rPr lang="en-GB" sz="1500" b="0" dirty="0">
                <a:solidFill>
                  <a:srgbClr val="000000"/>
                </a:solidFill>
              </a:rPr>
              <a:t> </a:t>
            </a:r>
            <a:r>
              <a:rPr lang="en-GB" sz="1500" b="0" dirty="0" err="1">
                <a:solidFill>
                  <a:srgbClr val="000000"/>
                </a:solidFill>
              </a:rPr>
              <a:t>contient</a:t>
            </a:r>
            <a:r>
              <a:rPr lang="en-GB" sz="1500" b="0" dirty="0">
                <a:solidFill>
                  <a:srgbClr val="000000"/>
                </a:solidFill>
              </a:rPr>
              <a:t> les </a:t>
            </a:r>
            <a:r>
              <a:rPr lang="en-GB" sz="1500" b="0" dirty="0" err="1">
                <a:solidFill>
                  <a:srgbClr val="000000"/>
                </a:solidFill>
              </a:rPr>
              <a:t>mappages</a:t>
            </a:r>
            <a:r>
              <a:rPr lang="en-GB" sz="1500" b="0" dirty="0">
                <a:solidFill>
                  <a:srgbClr val="000000"/>
                </a:solidFill>
              </a:rPr>
              <a:t> </a:t>
            </a:r>
            <a:r>
              <a:rPr lang="en-GB" sz="1500" b="0" dirty="0" err="1">
                <a:solidFill>
                  <a:srgbClr val="000000"/>
                </a:solidFill>
              </a:rPr>
              <a:t>adresse</a:t>
            </a:r>
            <a:r>
              <a:rPr lang="en-GB" sz="1500" b="0" dirty="0">
                <a:solidFill>
                  <a:srgbClr val="000000"/>
                </a:solidFill>
              </a:rPr>
              <a:t> IP/nom d'hôte.</a:t>
            </a:r>
            <a:r>
              <a:rPr lang="en-US" sz="1500" b="0" dirty="0"/>
              <a:t> </a:t>
            </a:r>
            <a:r>
              <a:rPr lang="en-GB" sz="1500" b="0" dirty="0" err="1">
                <a:solidFill>
                  <a:srgbClr val="000000"/>
                </a:solidFill>
              </a:rPr>
              <a:t>Chaque</a:t>
            </a:r>
            <a:r>
              <a:rPr lang="en-US" sz="1500" b="0" dirty="0"/>
              <a:t> </a:t>
            </a:r>
            <a:r>
              <a:rPr lang="en-GB" sz="1500" b="0" dirty="0">
                <a:solidFill>
                  <a:srgbClr val="000000"/>
                </a:solidFill>
              </a:rPr>
              <a:t>entrée</a:t>
            </a:r>
            <a:br>
              <a:rPr lang="en-GB" sz="1500" b="0" dirty="0">
                <a:solidFill>
                  <a:srgbClr val="000000"/>
                </a:solidFill>
              </a:rPr>
            </a:br>
            <a:r>
              <a:rPr lang="en-GB" sz="1500" b="0" dirty="0">
                <a:solidFill>
                  <a:srgbClr val="000000"/>
                </a:solidFill>
              </a:rPr>
              <a:t># </a:t>
            </a:r>
            <a:r>
              <a:rPr lang="en-GB" sz="1500" b="0" dirty="0" err="1">
                <a:solidFill>
                  <a:srgbClr val="000000"/>
                </a:solidFill>
              </a:rPr>
              <a:t>doit</a:t>
            </a:r>
            <a:r>
              <a:rPr lang="en-GB" sz="1500" b="0" dirty="0">
                <a:solidFill>
                  <a:srgbClr val="000000"/>
                </a:solidFill>
              </a:rPr>
              <a:t> se </a:t>
            </a:r>
            <a:r>
              <a:rPr lang="en-GB" sz="1500" b="0" dirty="0" err="1">
                <a:solidFill>
                  <a:srgbClr val="000000"/>
                </a:solidFill>
              </a:rPr>
              <a:t>trouver</a:t>
            </a:r>
            <a:r>
              <a:rPr lang="en-GB" sz="1500" b="0" dirty="0">
                <a:solidFill>
                  <a:srgbClr val="000000"/>
                </a:solidFill>
              </a:rPr>
              <a:t> </a:t>
            </a:r>
            <a:r>
              <a:rPr lang="en-GB" sz="1500" b="0" dirty="0" err="1">
                <a:solidFill>
                  <a:srgbClr val="000000"/>
                </a:solidFill>
              </a:rPr>
              <a:t>sur</a:t>
            </a:r>
            <a:r>
              <a:rPr lang="en-GB" sz="1500" b="0" dirty="0">
                <a:solidFill>
                  <a:srgbClr val="000000"/>
                </a:solidFill>
              </a:rPr>
              <a:t> </a:t>
            </a:r>
            <a:r>
              <a:rPr lang="en-GB" sz="1500" b="0" dirty="0" err="1">
                <a:solidFill>
                  <a:srgbClr val="000000"/>
                </a:solidFill>
              </a:rPr>
              <a:t>une</a:t>
            </a:r>
            <a:r>
              <a:rPr lang="en-GB" sz="1500" b="0" dirty="0">
                <a:solidFill>
                  <a:srgbClr val="000000"/>
                </a:solidFill>
              </a:rPr>
              <a:t> </a:t>
            </a:r>
            <a:r>
              <a:rPr lang="en-GB" sz="1500" b="0" dirty="0" err="1">
                <a:solidFill>
                  <a:srgbClr val="000000"/>
                </a:solidFill>
              </a:rPr>
              <a:t>ligne</a:t>
            </a:r>
            <a:r>
              <a:rPr lang="en-GB" sz="1500" b="0" dirty="0">
                <a:solidFill>
                  <a:srgbClr val="000000"/>
                </a:solidFill>
              </a:rPr>
              <a:t> </a:t>
            </a:r>
            <a:r>
              <a:rPr lang="en-GB" sz="1500" b="0" dirty="0" err="1">
                <a:solidFill>
                  <a:srgbClr val="000000"/>
                </a:solidFill>
              </a:rPr>
              <a:t>distincte</a:t>
            </a:r>
            <a:r>
              <a:rPr lang="en-GB" sz="1500" b="0" dirty="0">
                <a:solidFill>
                  <a:srgbClr val="000000"/>
                </a:solidFill>
              </a:rPr>
              <a:t>.</a:t>
            </a:r>
            <a:r>
              <a:rPr lang="en-US" sz="1500" b="0" dirty="0"/>
              <a:t> </a:t>
            </a:r>
            <a:r>
              <a:rPr lang="en-GB" sz="1500" b="0" dirty="0" err="1">
                <a:solidFill>
                  <a:srgbClr val="000000"/>
                </a:solidFill>
              </a:rPr>
              <a:t>L'adresse</a:t>
            </a:r>
            <a:r>
              <a:rPr lang="en-GB" sz="1500" b="0" dirty="0">
                <a:solidFill>
                  <a:srgbClr val="000000"/>
                </a:solidFill>
              </a:rPr>
              <a:t> IP </a:t>
            </a:r>
            <a:r>
              <a:rPr lang="en-GB" sz="1500" b="0" dirty="0" err="1">
                <a:solidFill>
                  <a:srgbClr val="000000"/>
                </a:solidFill>
              </a:rPr>
              <a:t>doit</a:t>
            </a:r>
            <a:r>
              <a:rPr lang="en-GB" sz="1500" b="0" dirty="0">
                <a:solidFill>
                  <a:srgbClr val="000000"/>
                </a:solidFill>
              </a:rPr>
              <a:t> </a:t>
            </a:r>
            <a:r>
              <a:rPr lang="en-US" sz="1500" b="0" dirty="0" err="1">
                <a:solidFill>
                  <a:srgbClr val="000000"/>
                </a:solidFill>
              </a:rPr>
              <a:t>être</a:t>
            </a:r>
            <a:r>
              <a:rPr lang="en-US" sz="1500" b="0" dirty="0">
                <a:solidFill>
                  <a:srgbClr val="000000"/>
                </a:solidFill>
              </a:rPr>
              <a:t> </a:t>
            </a:r>
            <a:r>
              <a:rPr lang="en-US" sz="1500" b="0" dirty="0" err="1">
                <a:solidFill>
                  <a:srgbClr val="000000"/>
                </a:solidFill>
              </a:rPr>
              <a:t>placée</a:t>
            </a:r>
            <a:r>
              <a:rPr lang="en-US" sz="1500" b="0" dirty="0">
                <a:solidFill>
                  <a:srgbClr val="000000"/>
                </a:solidFill>
              </a:rPr>
              <a:t> </a:t>
            </a:r>
            <a:endParaRPr lang="en-US" sz="1500" b="0" dirty="0"/>
          </a:p>
          <a:p>
            <a:pPr algn="l">
              <a:lnSpc>
                <a:spcPct val="90000"/>
              </a:lnSpc>
            </a:pPr>
            <a:r>
              <a:rPr lang="en-GB" sz="1500" b="0" dirty="0">
                <a:solidFill>
                  <a:srgbClr val="000000"/>
                </a:solidFill>
              </a:rPr>
              <a:t># </a:t>
            </a:r>
            <a:r>
              <a:rPr lang="en-GB" sz="1500" b="0" dirty="0" err="1">
                <a:solidFill>
                  <a:srgbClr val="000000"/>
                </a:solidFill>
              </a:rPr>
              <a:t>dans</a:t>
            </a:r>
            <a:r>
              <a:rPr lang="en-GB" sz="1500" b="0" dirty="0">
                <a:solidFill>
                  <a:srgbClr val="000000"/>
                </a:solidFill>
              </a:rPr>
              <a:t> la première </a:t>
            </a:r>
            <a:r>
              <a:rPr lang="en-GB" sz="1500" b="0" dirty="0" err="1">
                <a:solidFill>
                  <a:srgbClr val="000000"/>
                </a:solidFill>
              </a:rPr>
              <a:t>colonne</a:t>
            </a:r>
            <a:r>
              <a:rPr lang="en-GB" sz="1500" b="0" dirty="0">
                <a:solidFill>
                  <a:srgbClr val="000000"/>
                </a:solidFill>
              </a:rPr>
              <a:t> </a:t>
            </a:r>
            <a:r>
              <a:rPr lang="en-GB" sz="1500" b="0" dirty="0" err="1">
                <a:solidFill>
                  <a:srgbClr val="000000"/>
                </a:solidFill>
              </a:rPr>
              <a:t>suivie</a:t>
            </a:r>
            <a:r>
              <a:rPr lang="en-GB" sz="1500" b="0" dirty="0">
                <a:solidFill>
                  <a:srgbClr val="000000"/>
                </a:solidFill>
              </a:rPr>
              <a:t> du nom d'hôte </a:t>
            </a:r>
            <a:r>
              <a:rPr lang="en-GB" sz="1500" b="0" dirty="0" err="1">
                <a:solidFill>
                  <a:srgbClr val="000000"/>
                </a:solidFill>
              </a:rPr>
              <a:t>correspondant</a:t>
            </a:r>
            <a:r>
              <a:rPr lang="en-GB" sz="1500" b="0" dirty="0">
                <a:solidFill>
                  <a:srgbClr val="000000"/>
                </a:solidFill>
              </a:rPr>
              <a:t>.</a:t>
            </a:r>
            <a:endParaRPr lang="en-US" sz="1500" b="0" dirty="0"/>
          </a:p>
          <a:p>
            <a:pPr algn="l">
              <a:lnSpc>
                <a:spcPct val="90000"/>
              </a:lnSpc>
            </a:pPr>
            <a:r>
              <a:rPr lang="en-GB" sz="1500" b="0" dirty="0">
                <a:solidFill>
                  <a:srgbClr val="000000"/>
                </a:solidFill>
              </a:rPr>
              <a:t># </a:t>
            </a:r>
            <a:r>
              <a:rPr lang="en-GB" sz="1500" b="0" dirty="0" err="1">
                <a:solidFill>
                  <a:srgbClr val="000000"/>
                </a:solidFill>
              </a:rPr>
              <a:t>L'adresse</a:t>
            </a:r>
            <a:r>
              <a:rPr lang="en-GB" sz="1500" b="0" dirty="0">
                <a:solidFill>
                  <a:srgbClr val="000000"/>
                </a:solidFill>
              </a:rPr>
              <a:t> IP et le nom d'hôte </a:t>
            </a:r>
            <a:r>
              <a:rPr lang="en-GB" sz="1500" b="0" dirty="0" err="1">
                <a:solidFill>
                  <a:srgbClr val="000000"/>
                </a:solidFill>
              </a:rPr>
              <a:t>doivent</a:t>
            </a:r>
            <a:r>
              <a:rPr lang="en-GB" sz="1500" b="0" dirty="0">
                <a:solidFill>
                  <a:srgbClr val="000000"/>
                </a:solidFill>
              </a:rPr>
              <a:t> </a:t>
            </a:r>
            <a:r>
              <a:rPr lang="en-GB" sz="1500" b="0" dirty="0" err="1">
                <a:solidFill>
                  <a:srgbClr val="000000"/>
                </a:solidFill>
              </a:rPr>
              <a:t>être</a:t>
            </a:r>
            <a:r>
              <a:rPr lang="en-GB" sz="1500" b="0" dirty="0">
                <a:solidFill>
                  <a:srgbClr val="000000"/>
                </a:solidFill>
              </a:rPr>
              <a:t> </a:t>
            </a:r>
            <a:r>
              <a:rPr lang="en-GB" sz="1500" b="0" dirty="0" err="1">
                <a:solidFill>
                  <a:srgbClr val="000000"/>
                </a:solidFill>
              </a:rPr>
              <a:t>séparés</a:t>
            </a:r>
            <a:r>
              <a:rPr lang="en-GB" sz="1500" b="0" dirty="0">
                <a:solidFill>
                  <a:srgbClr val="000000"/>
                </a:solidFill>
              </a:rPr>
              <a:t> par au </a:t>
            </a:r>
            <a:r>
              <a:rPr lang="en-GB" sz="1500" b="0" dirty="0" err="1">
                <a:solidFill>
                  <a:srgbClr val="000000"/>
                </a:solidFill>
              </a:rPr>
              <a:t>moins</a:t>
            </a:r>
            <a:r>
              <a:rPr lang="en-GB" sz="1500" b="0" dirty="0">
                <a:solidFill>
                  <a:srgbClr val="000000"/>
                </a:solidFill>
              </a:rPr>
              <a:t/>
            </a:r>
            <a:br>
              <a:rPr lang="en-GB" sz="1500" b="0" dirty="0">
                <a:solidFill>
                  <a:srgbClr val="000000"/>
                </a:solidFill>
              </a:rPr>
            </a:br>
            <a:r>
              <a:rPr lang="en-GB" sz="1500" b="0" dirty="0">
                <a:solidFill>
                  <a:srgbClr val="000000"/>
                </a:solidFill>
              </a:rPr>
              <a:t># un </a:t>
            </a:r>
            <a:r>
              <a:rPr lang="en-GB" sz="1500" b="0" dirty="0" err="1">
                <a:solidFill>
                  <a:srgbClr val="000000"/>
                </a:solidFill>
              </a:rPr>
              <a:t>espace</a:t>
            </a:r>
            <a:r>
              <a:rPr lang="en-GB" sz="1500" b="0" dirty="0">
                <a:solidFill>
                  <a:srgbClr val="000000"/>
                </a:solidFill>
              </a:rPr>
              <a:t>.</a:t>
            </a:r>
            <a:endParaRPr lang="en-US" sz="1500" b="0" dirty="0"/>
          </a:p>
          <a:p>
            <a:pPr algn="l">
              <a:lnSpc>
                <a:spcPct val="90000"/>
              </a:lnSpc>
            </a:pPr>
            <a:r>
              <a:rPr lang="en-US" sz="1500" b="0" dirty="0"/>
              <a:t>#</a:t>
            </a:r>
          </a:p>
          <a:p>
            <a:pPr algn="l">
              <a:lnSpc>
                <a:spcPct val="90000"/>
              </a:lnSpc>
            </a:pPr>
            <a:r>
              <a:rPr lang="en-GB" sz="1500" b="0" dirty="0">
                <a:solidFill>
                  <a:srgbClr val="000000"/>
                </a:solidFill>
              </a:rPr>
              <a:t># Par </a:t>
            </a:r>
            <a:r>
              <a:rPr lang="en-GB" sz="1500" b="0" dirty="0" err="1">
                <a:solidFill>
                  <a:srgbClr val="000000"/>
                </a:solidFill>
              </a:rPr>
              <a:t>ailleurs</a:t>
            </a:r>
            <a:r>
              <a:rPr lang="en-GB" sz="1500" b="0" dirty="0">
                <a:solidFill>
                  <a:srgbClr val="000000"/>
                </a:solidFill>
              </a:rPr>
              <a:t>, des </a:t>
            </a:r>
            <a:r>
              <a:rPr lang="en-GB" sz="1500" b="0" dirty="0" err="1">
                <a:solidFill>
                  <a:srgbClr val="000000"/>
                </a:solidFill>
              </a:rPr>
              <a:t>commentaires</a:t>
            </a:r>
            <a:r>
              <a:rPr lang="en-GB" sz="1500" b="0" dirty="0">
                <a:solidFill>
                  <a:srgbClr val="000000"/>
                </a:solidFill>
              </a:rPr>
              <a:t> (</a:t>
            </a:r>
            <a:r>
              <a:rPr lang="en-GB" sz="1500" b="0" dirty="0" err="1">
                <a:solidFill>
                  <a:srgbClr val="000000"/>
                </a:solidFill>
              </a:rPr>
              <a:t>comme</a:t>
            </a:r>
            <a:r>
              <a:rPr lang="en-GB" sz="1500" b="0" dirty="0">
                <a:solidFill>
                  <a:srgbClr val="000000"/>
                </a:solidFill>
              </a:rPr>
              <a:t> </a:t>
            </a:r>
            <a:r>
              <a:rPr lang="en-GB" sz="1500" b="0" dirty="0" err="1">
                <a:solidFill>
                  <a:srgbClr val="000000"/>
                </a:solidFill>
              </a:rPr>
              <a:t>ceux-ci</a:t>
            </a:r>
            <a:r>
              <a:rPr lang="en-GB" sz="1500" b="0" dirty="0">
                <a:solidFill>
                  <a:srgbClr val="000000"/>
                </a:solidFill>
              </a:rPr>
              <a:t>) </a:t>
            </a:r>
            <a:r>
              <a:rPr lang="en-GB" sz="1500" b="0" dirty="0" err="1">
                <a:solidFill>
                  <a:srgbClr val="000000"/>
                </a:solidFill>
              </a:rPr>
              <a:t>peuvent</a:t>
            </a:r>
            <a:r>
              <a:rPr lang="en-GB" sz="1500" b="0" dirty="0">
                <a:solidFill>
                  <a:srgbClr val="000000"/>
                </a:solidFill>
              </a:rPr>
              <a:t> </a:t>
            </a:r>
            <a:r>
              <a:rPr lang="en-GB" sz="1500" b="0" dirty="0" err="1">
                <a:solidFill>
                  <a:srgbClr val="000000"/>
                </a:solidFill>
              </a:rPr>
              <a:t>être</a:t>
            </a:r>
            <a:r>
              <a:rPr lang="en-GB" sz="1500" b="0" dirty="0">
                <a:solidFill>
                  <a:srgbClr val="000000"/>
                </a:solidFill>
              </a:rPr>
              <a:t> </a:t>
            </a:r>
            <a:r>
              <a:rPr lang="en-GB" sz="1500" b="0" dirty="0" err="1">
                <a:solidFill>
                  <a:srgbClr val="000000"/>
                </a:solidFill>
              </a:rPr>
              <a:t>insérés</a:t>
            </a:r>
            <a:r>
              <a:rPr lang="en-GB" sz="1500" b="0" dirty="0">
                <a:solidFill>
                  <a:srgbClr val="000000"/>
                </a:solidFill>
              </a:rPr>
              <a:t> </a:t>
            </a:r>
            <a:r>
              <a:rPr lang="en-GB" sz="1500" b="0" dirty="0" err="1">
                <a:solidFill>
                  <a:srgbClr val="000000"/>
                </a:solidFill>
              </a:rPr>
              <a:t>sur</a:t>
            </a:r>
            <a:endParaRPr lang="en-US" sz="1500" b="0" dirty="0"/>
          </a:p>
          <a:p>
            <a:pPr algn="l">
              <a:lnSpc>
                <a:spcPct val="90000"/>
              </a:lnSpc>
            </a:pPr>
            <a:r>
              <a:rPr lang="en-GB" sz="1500" b="0" dirty="0">
                <a:solidFill>
                  <a:srgbClr val="000000"/>
                </a:solidFill>
              </a:rPr>
              <a:t># des </a:t>
            </a:r>
            <a:r>
              <a:rPr lang="en-GB" sz="1500" b="0" dirty="0" err="1">
                <a:solidFill>
                  <a:srgbClr val="000000"/>
                </a:solidFill>
              </a:rPr>
              <a:t>lignes</a:t>
            </a:r>
            <a:r>
              <a:rPr lang="en-GB" sz="1500" b="0" dirty="0">
                <a:solidFill>
                  <a:srgbClr val="000000"/>
                </a:solidFill>
              </a:rPr>
              <a:t> </a:t>
            </a:r>
            <a:r>
              <a:rPr lang="en-GB" sz="1500" b="0" dirty="0" err="1">
                <a:solidFill>
                  <a:srgbClr val="000000"/>
                </a:solidFill>
              </a:rPr>
              <a:t>distinctes</a:t>
            </a:r>
            <a:r>
              <a:rPr lang="en-GB" sz="1500" b="0" dirty="0">
                <a:solidFill>
                  <a:srgbClr val="000000"/>
                </a:solidFill>
              </a:rPr>
              <a:t> </a:t>
            </a:r>
            <a:r>
              <a:rPr lang="en-GB" sz="1500" b="0" dirty="0" err="1">
                <a:solidFill>
                  <a:srgbClr val="000000"/>
                </a:solidFill>
              </a:rPr>
              <a:t>ou</a:t>
            </a:r>
            <a:r>
              <a:rPr lang="en-GB" sz="1500" b="0" dirty="0">
                <a:solidFill>
                  <a:srgbClr val="000000"/>
                </a:solidFill>
              </a:rPr>
              <a:t> à la suite du nom </a:t>
            </a:r>
            <a:r>
              <a:rPr lang="en-GB" sz="1500" b="0" dirty="0" err="1">
                <a:solidFill>
                  <a:srgbClr val="000000"/>
                </a:solidFill>
              </a:rPr>
              <a:t>d'ordinateur</a:t>
            </a:r>
            <a:r>
              <a:rPr lang="en-GB" sz="1500" b="0" dirty="0">
                <a:solidFill>
                  <a:srgbClr val="000000"/>
                </a:solidFill>
              </a:rPr>
              <a:t>, </a:t>
            </a:r>
            <a:r>
              <a:rPr lang="en-GB" sz="1500" b="0" dirty="0" err="1">
                <a:solidFill>
                  <a:srgbClr val="000000"/>
                </a:solidFill>
              </a:rPr>
              <a:t>signalés</a:t>
            </a:r>
            <a:r>
              <a:rPr lang="en-GB" sz="1500" b="0" dirty="0">
                <a:solidFill>
                  <a:srgbClr val="000000"/>
                </a:solidFill>
              </a:rPr>
              <a:t> par </a:t>
            </a:r>
            <a:br>
              <a:rPr lang="en-GB" sz="1500" b="0" dirty="0">
                <a:solidFill>
                  <a:srgbClr val="000000"/>
                </a:solidFill>
              </a:rPr>
            </a:br>
            <a:r>
              <a:rPr lang="en-GB" b="0" dirty="0">
                <a:solidFill>
                  <a:srgbClr val="000000"/>
                </a:solidFill>
              </a:rPr>
              <a:t>#</a:t>
            </a:r>
            <a:r>
              <a:rPr lang="en-GB" dirty="0"/>
              <a:t> </a:t>
            </a:r>
            <a:r>
              <a:rPr lang="en-GB" sz="1500" b="0" dirty="0">
                <a:solidFill>
                  <a:srgbClr val="000000"/>
                </a:solidFill>
              </a:rPr>
              <a:t>le </a:t>
            </a:r>
            <a:r>
              <a:rPr lang="en-GB" sz="1500" b="0" dirty="0" err="1">
                <a:solidFill>
                  <a:srgbClr val="000000"/>
                </a:solidFill>
              </a:rPr>
              <a:t>symbole</a:t>
            </a:r>
            <a:r>
              <a:rPr lang="en-GB" sz="1500" b="0" dirty="0">
                <a:solidFill>
                  <a:srgbClr val="000000"/>
                </a:solidFill>
              </a:rPr>
              <a:t> '#'.</a:t>
            </a:r>
            <a:endParaRPr lang="en-US" sz="1500" b="0" dirty="0"/>
          </a:p>
          <a:p>
            <a:pPr algn="l">
              <a:lnSpc>
                <a:spcPct val="90000"/>
              </a:lnSpc>
            </a:pPr>
            <a:r>
              <a:rPr lang="en-US" sz="1500" b="0" dirty="0"/>
              <a:t>#</a:t>
            </a:r>
          </a:p>
          <a:p>
            <a:pPr algn="l">
              <a:lnSpc>
                <a:spcPct val="90000"/>
              </a:lnSpc>
            </a:pPr>
            <a:r>
              <a:rPr lang="en-GB" sz="1500" b="0" dirty="0">
                <a:solidFill>
                  <a:srgbClr val="000000"/>
                </a:solidFill>
              </a:rPr>
              <a:t># Par </a:t>
            </a:r>
            <a:r>
              <a:rPr lang="en-GB" sz="1500" b="0" dirty="0" err="1">
                <a:solidFill>
                  <a:srgbClr val="000000"/>
                </a:solidFill>
              </a:rPr>
              <a:t>exemple</a:t>
            </a:r>
            <a:r>
              <a:rPr lang="en-GB" sz="1500" b="0" dirty="0">
                <a:solidFill>
                  <a:srgbClr val="000000"/>
                </a:solidFill>
              </a:rPr>
              <a:t> :</a:t>
            </a:r>
            <a:endParaRPr lang="en-US" sz="1500" b="0" dirty="0"/>
          </a:p>
          <a:p>
            <a:pPr algn="l">
              <a:lnSpc>
                <a:spcPct val="90000"/>
              </a:lnSpc>
            </a:pPr>
            <a:r>
              <a:rPr lang="en-US" sz="1500" b="0" dirty="0"/>
              <a:t>#</a:t>
            </a:r>
          </a:p>
          <a:p>
            <a:pPr algn="l">
              <a:lnSpc>
                <a:spcPct val="90000"/>
              </a:lnSpc>
            </a:pPr>
            <a:r>
              <a:rPr lang="en-GB" sz="1500" b="0" dirty="0">
                <a:solidFill>
                  <a:srgbClr val="000000"/>
                </a:solidFill>
              </a:rPr>
              <a:t>#      102.54.94.97     rhino.acme.com             # </a:t>
            </a:r>
            <a:r>
              <a:rPr lang="en-GB" sz="1500" b="0" dirty="0" err="1">
                <a:solidFill>
                  <a:srgbClr val="000000"/>
                </a:solidFill>
              </a:rPr>
              <a:t>serveur</a:t>
            </a:r>
            <a:r>
              <a:rPr lang="en-GB" sz="1500" b="0" dirty="0">
                <a:solidFill>
                  <a:srgbClr val="000000"/>
                </a:solidFill>
              </a:rPr>
              <a:t> source</a:t>
            </a:r>
            <a:endParaRPr lang="en-US" sz="1500" b="0" dirty="0"/>
          </a:p>
          <a:p>
            <a:pPr algn="l">
              <a:lnSpc>
                <a:spcPct val="90000"/>
              </a:lnSpc>
            </a:pPr>
            <a:r>
              <a:rPr lang="en-GB" sz="1500" b="0" dirty="0">
                <a:solidFill>
                  <a:srgbClr val="000000"/>
                </a:solidFill>
              </a:rPr>
              <a:t>#       38.25.63.10      x.acme.com                    # </a:t>
            </a:r>
            <a:r>
              <a:rPr lang="en-GB" sz="1500" b="0" dirty="0" err="1">
                <a:solidFill>
                  <a:srgbClr val="000000"/>
                </a:solidFill>
              </a:rPr>
              <a:t>hôte</a:t>
            </a:r>
            <a:r>
              <a:rPr lang="en-GB" sz="1500" b="0" dirty="0">
                <a:solidFill>
                  <a:srgbClr val="000000"/>
                </a:solidFill>
              </a:rPr>
              <a:t> client x</a:t>
            </a:r>
            <a:endParaRPr lang="en-US" sz="1500" b="0" dirty="0"/>
          </a:p>
          <a:p>
            <a:pPr algn="l">
              <a:lnSpc>
                <a:spcPct val="90000"/>
              </a:lnSpc>
            </a:pPr>
            <a:r>
              <a:rPr lang="en-US" sz="1500" b="0" dirty="0"/>
              <a:t> </a:t>
            </a:r>
          </a:p>
          <a:p>
            <a:pPr algn="l">
              <a:lnSpc>
                <a:spcPct val="90000"/>
              </a:lnSpc>
            </a:pPr>
            <a:r>
              <a:rPr lang="en-GB" sz="1500" b="0" dirty="0">
                <a:solidFill>
                  <a:srgbClr val="000000"/>
                </a:solidFill>
              </a:rPr>
              <a:t>127.0.0.1       </a:t>
            </a:r>
            <a:r>
              <a:rPr lang="en-GB" sz="1500" b="0" dirty="0" err="1">
                <a:solidFill>
                  <a:srgbClr val="000000"/>
                </a:solidFill>
              </a:rPr>
              <a:t>localhost</a:t>
            </a:r>
            <a:endParaRPr lang="en-US" sz="1500" b="0" dirty="0">
              <a:solidFill>
                <a:srgbClr val="000000"/>
              </a:solidFill>
            </a:endParaRPr>
          </a:p>
        </p:txBody>
      </p:sp>
      <p:sp>
        <p:nvSpPr>
          <p:cNvPr id="563215" name="AutoShape 15"/>
          <p:cNvSpPr>
            <a:spLocks noChangeArrowheads="1"/>
          </p:cNvSpPr>
          <p:nvPr>
            <p:custDataLst>
              <p:tags r:id="rId5"/>
            </p:custDataLst>
          </p:nvPr>
        </p:nvSpPr>
        <p:spPr bwMode="auto">
          <a:xfrm>
            <a:off x="233549" y="1489711"/>
            <a:ext cx="8752115" cy="1095150"/>
          </a:xfrm>
          <a:prstGeom prst="roundRect">
            <a:avLst>
              <a:gd name="adj" fmla="val 30829"/>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85000"/>
              </a:lnSpc>
              <a:buFont typeface="Wingdings" pitchFamily="2" charset="2"/>
              <a:buChar char="Ø"/>
            </a:pPr>
            <a:r>
              <a:rPr lang="en-GB" sz="2400" dirty="0" smtClean="0">
                <a:solidFill>
                  <a:srgbClr val="000000"/>
                </a:solidFill>
              </a:rPr>
              <a:t> </a:t>
            </a:r>
            <a:r>
              <a:rPr lang="en-GB" sz="2400" dirty="0" err="1" smtClean="0">
                <a:solidFill>
                  <a:srgbClr val="000000"/>
                </a:solidFill>
              </a:rPr>
              <a:t>C’est</a:t>
            </a:r>
            <a:r>
              <a:rPr lang="en-GB" sz="2400" dirty="0" smtClean="0">
                <a:solidFill>
                  <a:srgbClr val="000000"/>
                </a:solidFill>
              </a:rPr>
              <a:t> </a:t>
            </a:r>
            <a:r>
              <a:rPr lang="en-GB" sz="2400" dirty="0">
                <a:solidFill>
                  <a:srgbClr val="000000"/>
                </a:solidFill>
              </a:rPr>
              <a:t>un </a:t>
            </a:r>
            <a:r>
              <a:rPr lang="en-GB" sz="2400" dirty="0" err="1">
                <a:solidFill>
                  <a:srgbClr val="000000"/>
                </a:solidFill>
              </a:rPr>
              <a:t>fichier</a:t>
            </a:r>
            <a:r>
              <a:rPr lang="en-GB" sz="2400" dirty="0">
                <a:solidFill>
                  <a:srgbClr val="000000"/>
                </a:solidFill>
              </a:rPr>
              <a:t> </a:t>
            </a:r>
            <a:r>
              <a:rPr lang="en-GB" sz="2400" dirty="0" err="1">
                <a:solidFill>
                  <a:srgbClr val="000000"/>
                </a:solidFill>
              </a:rPr>
              <a:t>statique</a:t>
            </a:r>
            <a:r>
              <a:rPr lang="en-GB" sz="2400" dirty="0">
                <a:solidFill>
                  <a:srgbClr val="000000"/>
                </a:solidFill>
              </a:rPr>
              <a:t> </a:t>
            </a:r>
            <a:r>
              <a:rPr lang="en-GB" sz="2400" dirty="0" err="1">
                <a:solidFill>
                  <a:srgbClr val="000000"/>
                </a:solidFill>
              </a:rPr>
              <a:t>géré</a:t>
            </a:r>
            <a:r>
              <a:rPr lang="en-GB" sz="2400" dirty="0">
                <a:solidFill>
                  <a:srgbClr val="000000"/>
                </a:solidFill>
              </a:rPr>
              <a:t> </a:t>
            </a:r>
            <a:r>
              <a:rPr lang="en-GB" sz="2400" dirty="0" err="1">
                <a:solidFill>
                  <a:srgbClr val="000000"/>
                </a:solidFill>
              </a:rPr>
              <a:t>sur</a:t>
            </a:r>
            <a:r>
              <a:rPr lang="en-GB" sz="2400" dirty="0">
                <a:solidFill>
                  <a:srgbClr val="000000"/>
                </a:solidFill>
              </a:rPr>
              <a:t> </a:t>
            </a:r>
            <a:r>
              <a:rPr lang="en-GB" sz="2400" dirty="0" err="1">
                <a:solidFill>
                  <a:srgbClr val="000000"/>
                </a:solidFill>
              </a:rPr>
              <a:t>l'ordinateur</a:t>
            </a:r>
            <a:r>
              <a:rPr lang="en-GB" sz="2400" dirty="0">
                <a:solidFill>
                  <a:srgbClr val="000000"/>
                </a:solidFill>
              </a:rPr>
              <a:t> local </a:t>
            </a:r>
            <a:endParaRPr lang="en-GB" sz="2400" dirty="0" smtClean="0">
              <a:solidFill>
                <a:srgbClr val="000000"/>
              </a:solidFill>
            </a:endParaRPr>
          </a:p>
          <a:p>
            <a:pPr algn="l" eaLnBrk="1" hangingPunct="1">
              <a:lnSpc>
                <a:spcPct val="85000"/>
              </a:lnSpc>
              <a:buFont typeface="Wingdings" pitchFamily="2" charset="2"/>
              <a:buChar char="Ø"/>
            </a:pPr>
            <a:r>
              <a:rPr lang="en-GB" sz="2400" dirty="0" smtClean="0">
                <a:solidFill>
                  <a:srgbClr val="000000"/>
                </a:solidFill>
              </a:rPr>
              <a:t> </a:t>
            </a:r>
            <a:r>
              <a:rPr lang="en-GB" sz="2400" dirty="0" err="1" smtClean="0">
                <a:solidFill>
                  <a:srgbClr val="000000"/>
                </a:solidFill>
              </a:rPr>
              <a:t>Sert</a:t>
            </a:r>
            <a:r>
              <a:rPr lang="en-GB" sz="2400" dirty="0" smtClean="0">
                <a:solidFill>
                  <a:srgbClr val="000000"/>
                </a:solidFill>
              </a:rPr>
              <a:t> </a:t>
            </a:r>
            <a:r>
              <a:rPr lang="en-GB" sz="2400" dirty="0">
                <a:solidFill>
                  <a:srgbClr val="000000"/>
                </a:solidFill>
              </a:rPr>
              <a:t>à charger les </a:t>
            </a:r>
            <a:r>
              <a:rPr lang="en-GB" sz="2400" dirty="0" err="1">
                <a:solidFill>
                  <a:srgbClr val="000000"/>
                </a:solidFill>
              </a:rPr>
              <a:t>mappages</a:t>
            </a:r>
            <a:r>
              <a:rPr lang="en-GB" sz="2400" dirty="0">
                <a:solidFill>
                  <a:srgbClr val="000000"/>
                </a:solidFill>
              </a:rPr>
              <a:t> de nom d'hôte à </a:t>
            </a:r>
            <a:r>
              <a:rPr lang="en-GB" sz="2400" dirty="0" err="1">
                <a:solidFill>
                  <a:srgbClr val="000000"/>
                </a:solidFill>
              </a:rPr>
              <a:t>adresse</a:t>
            </a:r>
            <a:r>
              <a:rPr lang="en-GB" sz="2400" dirty="0">
                <a:solidFill>
                  <a:srgbClr val="000000"/>
                </a:solidFill>
              </a:rPr>
              <a:t> IP </a:t>
            </a:r>
            <a:r>
              <a:rPr lang="en-GB" sz="2400" dirty="0" err="1">
                <a:solidFill>
                  <a:srgbClr val="000000"/>
                </a:solidFill>
              </a:rPr>
              <a:t>dans</a:t>
            </a:r>
            <a:r>
              <a:rPr lang="en-GB" sz="2400" dirty="0">
                <a:solidFill>
                  <a:srgbClr val="000000"/>
                </a:solidFill>
              </a:rPr>
              <a:t> le cache de </a:t>
            </a:r>
            <a:r>
              <a:rPr lang="en-GB" sz="2400" dirty="0" err="1">
                <a:solidFill>
                  <a:srgbClr val="000000"/>
                </a:solidFill>
              </a:rPr>
              <a:t>résolution</a:t>
            </a:r>
            <a:r>
              <a:rPr lang="en-GB" sz="2400" dirty="0">
                <a:solidFill>
                  <a:srgbClr val="000000"/>
                </a:solidFill>
              </a:rPr>
              <a:t> client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15">
                                            <p:bg/>
                                          </p:spTgt>
                                        </p:tgtEl>
                                        <p:attrNameLst>
                                          <p:attrName>style.visibility</p:attrName>
                                        </p:attrNameLst>
                                      </p:cBhvr>
                                      <p:to>
                                        <p:strVal val="visible"/>
                                      </p:to>
                                    </p:set>
                                    <p:anim calcmode="lin" valueType="num">
                                      <p:cBhvr additive="base">
                                        <p:cTn id="7" dur="2000" fill="hold"/>
                                        <p:tgtEl>
                                          <p:spTgt spid="563215">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563215">
                                            <p:bg/>
                                          </p:spTgt>
                                        </p:tgtEl>
                                        <p:attrNameLst>
                                          <p:attrName>ppt_y</p:attrName>
                                        </p:attrNameLst>
                                      </p:cBhvr>
                                      <p:tavLst>
                                        <p:tav tm="0">
                                          <p:val>
                                            <p:strVal val="#ppt_y"/>
                                          </p:val>
                                        </p:tav>
                                        <p:tav tm="100000">
                                          <p:val>
                                            <p:strVal val="#ppt_y"/>
                                          </p:val>
                                        </p:tav>
                                      </p:tavLst>
                                    </p:anim>
                                  </p:childTnLst>
                                </p:cTn>
                              </p:par>
                            </p:childTnLst>
                          </p:cTn>
                        </p:par>
                        <p:par>
                          <p:cTn id="9" fill="hold">
                            <p:stCondLst>
                              <p:cond delay="2000"/>
                            </p:stCondLst>
                            <p:childTnLst>
                              <p:par>
                                <p:cTn id="10" presetID="2" presetClass="entr" presetSubtype="8" fill="hold" grpId="0" nodeType="afterEffect">
                                  <p:stCondLst>
                                    <p:cond delay="0"/>
                                  </p:stCondLst>
                                  <p:childTnLst>
                                    <p:set>
                                      <p:cBhvr>
                                        <p:cTn id="11" dur="1" fill="hold">
                                          <p:stCondLst>
                                            <p:cond delay="0"/>
                                          </p:stCondLst>
                                        </p:cTn>
                                        <p:tgtEl>
                                          <p:spTgt spid="563215">
                                            <p:txEl>
                                              <p:pRg st="0" end="0"/>
                                            </p:txEl>
                                          </p:spTgt>
                                        </p:tgtEl>
                                        <p:attrNameLst>
                                          <p:attrName>style.visibility</p:attrName>
                                        </p:attrNameLst>
                                      </p:cBhvr>
                                      <p:to>
                                        <p:strVal val="visible"/>
                                      </p:to>
                                    </p:set>
                                    <p:anim calcmode="lin" valueType="num">
                                      <p:cBhvr additive="base">
                                        <p:cTn id="12" dur="2000" fill="hold"/>
                                        <p:tgtEl>
                                          <p:spTgt spid="563215">
                                            <p:txEl>
                                              <p:pRg st="0" end="0"/>
                                            </p:txEl>
                                          </p:spTgt>
                                        </p:tgtEl>
                                        <p:attrNameLst>
                                          <p:attrName>ppt_x</p:attrName>
                                        </p:attrNameLst>
                                      </p:cBhvr>
                                      <p:tavLst>
                                        <p:tav tm="0">
                                          <p:val>
                                            <p:strVal val="0-#ppt_w/2"/>
                                          </p:val>
                                        </p:tav>
                                        <p:tav tm="100000">
                                          <p:val>
                                            <p:strVal val="#ppt_x"/>
                                          </p:val>
                                        </p:tav>
                                      </p:tavLst>
                                    </p:anim>
                                    <p:anim calcmode="lin" valueType="num">
                                      <p:cBhvr additive="base">
                                        <p:cTn id="13" dur="2000" fill="hold"/>
                                        <p:tgtEl>
                                          <p:spTgt spid="5632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63215">
                                            <p:txEl>
                                              <p:pRg st="1" end="1"/>
                                            </p:txEl>
                                          </p:spTgt>
                                        </p:tgtEl>
                                        <p:attrNameLst>
                                          <p:attrName>style.visibility</p:attrName>
                                        </p:attrNameLst>
                                      </p:cBhvr>
                                      <p:to>
                                        <p:strVal val="visible"/>
                                      </p:to>
                                    </p:set>
                                    <p:anim calcmode="lin" valueType="num">
                                      <p:cBhvr additive="base">
                                        <p:cTn id="18" dur="2000" fill="hold"/>
                                        <p:tgtEl>
                                          <p:spTgt spid="563215">
                                            <p:txEl>
                                              <p:pRg st="1" end="1"/>
                                            </p:txEl>
                                          </p:spTgt>
                                        </p:tgtEl>
                                        <p:attrNameLst>
                                          <p:attrName>ppt_x</p:attrName>
                                        </p:attrNameLst>
                                      </p:cBhvr>
                                      <p:tavLst>
                                        <p:tav tm="0">
                                          <p:val>
                                            <p:strVal val="0-#ppt_w/2"/>
                                          </p:val>
                                        </p:tav>
                                        <p:tav tm="100000">
                                          <p:val>
                                            <p:strVal val="#ppt_x"/>
                                          </p:val>
                                        </p:tav>
                                      </p:tavLst>
                                    </p:anim>
                                    <p:anim calcmode="lin" valueType="num">
                                      <p:cBhvr additive="base">
                                        <p:cTn id="19" dur="2000" fill="hold"/>
                                        <p:tgtEl>
                                          <p:spTgt spid="56321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15" grpId="0" uiExpand="1"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custDataLst>
              <p:tags r:id="rId1"/>
            </p:custDataLst>
          </p:nvPr>
        </p:nvSpPr>
        <p:spPr>
          <a:xfrm>
            <a:off x="243695" y="475343"/>
            <a:ext cx="8534400" cy="758952"/>
          </a:xfrm>
        </p:spPr>
        <p:txBody>
          <a:bodyPr vert="horz" anchor="b">
            <a:normAutofit fontScale="90000"/>
          </a:bodyPr>
          <a:lstStyle/>
          <a:p>
            <a:r>
              <a:rPr lang="fr-FR" b="1" dirty="0">
                <a:solidFill>
                  <a:srgbClr val="C00000"/>
                </a:solidFill>
              </a:rPr>
              <a:t>Comment précharger un cache de résolution client en utilisant un fichier Hosts</a:t>
            </a:r>
            <a:endParaRPr lang="en-US" b="1" dirty="0">
              <a:solidFill>
                <a:srgbClr val="C00000"/>
              </a:solidFill>
            </a:endParaRPr>
          </a:p>
        </p:txBody>
      </p:sp>
      <p:sp>
        <p:nvSpPr>
          <p:cNvPr id="5" name="AutoShape 5"/>
          <p:cNvSpPr>
            <a:spLocks noChangeArrowheads="1"/>
          </p:cNvSpPr>
          <p:nvPr>
            <p:custDataLst>
              <p:tags r:id="rId2"/>
            </p:custDataLst>
          </p:nvPr>
        </p:nvSpPr>
        <p:spPr bwMode="auto">
          <a:xfrm>
            <a:off x="81888" y="2074460"/>
            <a:ext cx="8952931" cy="3657600"/>
          </a:xfrm>
          <a:prstGeom prst="roundRect">
            <a:avLst>
              <a:gd name="adj" fmla="val 17194"/>
            </a:avLst>
          </a:prstGeom>
          <a:solidFill>
            <a:srgbClr val="B3C8DF"/>
          </a:solidFill>
          <a:ln w="9525">
            <a:solidFill>
              <a:srgbClr val="4D4D4D"/>
            </a:solidFill>
            <a:round/>
            <a:headEnd/>
            <a:tailEnd/>
          </a:ln>
          <a:effectLst>
            <a:outerShdw dist="35921" dir="2700000" algn="ctr" rotWithShape="0">
              <a:srgbClr val="AFAFAF"/>
            </a:outerShdw>
          </a:effectLst>
        </p:spPr>
        <p:txBody>
          <a:bodyPr anchor="ctr"/>
          <a:lstStyle/>
          <a:p>
            <a:pPr algn="l"/>
            <a:r>
              <a:rPr lang="fr-FR" sz="2800" dirty="0" smtClean="0"/>
              <a:t>1. A l’invite, entrez la commande suivante :</a:t>
            </a:r>
          </a:p>
          <a:p>
            <a:pPr algn="l"/>
            <a:r>
              <a:rPr lang="fr-FR" sz="2800" dirty="0" err="1" smtClean="0">
                <a:solidFill>
                  <a:srgbClr val="0070C0"/>
                </a:solidFill>
              </a:rPr>
              <a:t>notepad</a:t>
            </a:r>
            <a:r>
              <a:rPr lang="fr-FR" sz="2800" dirty="0" smtClean="0">
                <a:solidFill>
                  <a:srgbClr val="0070C0"/>
                </a:solidFill>
              </a:rPr>
              <a:t> </a:t>
            </a:r>
            <a:r>
              <a:rPr lang="fr-FR" sz="2800" i="1" dirty="0" smtClean="0">
                <a:solidFill>
                  <a:srgbClr val="0070C0"/>
                </a:solidFill>
              </a:rPr>
              <a:t>%</a:t>
            </a:r>
            <a:r>
              <a:rPr lang="fr-FR" sz="2800" i="1" dirty="0" err="1" smtClean="0">
                <a:solidFill>
                  <a:srgbClr val="0070C0"/>
                </a:solidFill>
              </a:rPr>
              <a:t>systemroot</a:t>
            </a:r>
            <a:r>
              <a:rPr lang="fr-FR" sz="2800" i="1" dirty="0" smtClean="0">
                <a:solidFill>
                  <a:srgbClr val="0070C0"/>
                </a:solidFill>
              </a:rPr>
              <a:t>%\system32\drivers\</a:t>
            </a:r>
            <a:r>
              <a:rPr lang="fr-FR" sz="2800" i="1" dirty="0" err="1" smtClean="0">
                <a:solidFill>
                  <a:srgbClr val="0070C0"/>
                </a:solidFill>
              </a:rPr>
              <a:t>etc</a:t>
            </a:r>
            <a:r>
              <a:rPr lang="fr-FR" sz="2800" i="1" dirty="0" smtClean="0">
                <a:solidFill>
                  <a:srgbClr val="0070C0"/>
                </a:solidFill>
              </a:rPr>
              <a:t>\hosts</a:t>
            </a:r>
          </a:p>
          <a:p>
            <a:pPr algn="l"/>
            <a:r>
              <a:rPr lang="fr-FR" sz="2800" dirty="0" smtClean="0"/>
              <a:t>2. Dans le fichier hosts, ajoutez les mappages de nom d’hôte à adresse IP supplémentaire </a:t>
            </a:r>
          </a:p>
          <a:p>
            <a:pPr algn="l"/>
            <a:r>
              <a:rPr lang="fr-FR" sz="2800" dirty="0" smtClean="0"/>
              <a:t>Exemple:</a:t>
            </a:r>
          </a:p>
          <a:p>
            <a:pPr algn="l"/>
            <a:r>
              <a:rPr lang="fr-FR" sz="2800" dirty="0" smtClean="0"/>
              <a:t> </a:t>
            </a:r>
            <a:r>
              <a:rPr lang="fr-FR" sz="2800" dirty="0" smtClean="0">
                <a:solidFill>
                  <a:srgbClr val="0070C0"/>
                </a:solidFill>
              </a:rPr>
              <a:t>192.168.1.100	 Glasgow 	</a:t>
            </a:r>
          </a:p>
          <a:p>
            <a:pPr algn="l"/>
            <a:r>
              <a:rPr lang="fr-FR" sz="2800" dirty="0" smtClean="0"/>
              <a:t>3. Enregistrer le fichier sans extension.</a:t>
            </a:r>
            <a:endParaRPr 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custDataLst>
              <p:tags r:id="rId1"/>
            </p:custDataLst>
          </p:nvPr>
        </p:nvSpPr>
        <p:spPr>
          <a:xfrm>
            <a:off x="210131" y="407469"/>
            <a:ext cx="8490857" cy="684213"/>
          </a:xfrm>
        </p:spPr>
        <p:txBody>
          <a:bodyPr>
            <a:noAutofit/>
          </a:bodyPr>
          <a:lstStyle/>
          <a:p>
            <a:r>
              <a:rPr lang="fr-FR" sz="3000" b="1" dirty="0" smtClean="0">
                <a:solidFill>
                  <a:srgbClr val="000000"/>
                </a:solidFill>
              </a:rPr>
              <a:t>4. Configuration </a:t>
            </a:r>
            <a:r>
              <a:rPr lang="fr-FR" sz="3000" b="1" dirty="0">
                <a:solidFill>
                  <a:srgbClr val="000000"/>
                </a:solidFill>
              </a:rPr>
              <a:t>de la résolution de noms NetBIOS</a:t>
            </a:r>
            <a:endParaRPr lang="en-US" sz="3000" b="1" dirty="0">
              <a:solidFill>
                <a:srgbClr val="000000"/>
              </a:solidFill>
            </a:endParaRPr>
          </a:p>
        </p:txBody>
      </p:sp>
      <p:sp>
        <p:nvSpPr>
          <p:cNvPr id="592899" name="Rectangle 3"/>
          <p:cNvSpPr>
            <a:spLocks noGrp="1" noChangeArrowheads="1"/>
          </p:cNvSpPr>
          <p:nvPr>
            <p:ph sz="quarter" idx="1"/>
            <p:custDataLst>
              <p:tags r:id="rId2"/>
            </p:custDataLst>
          </p:nvPr>
        </p:nvSpPr>
        <p:spPr>
          <a:xfrm>
            <a:off x="301752" y="1889905"/>
            <a:ext cx="8503920" cy="3973866"/>
          </a:xfrm>
        </p:spPr>
        <p:txBody>
          <a:bodyPr/>
          <a:lstStyle/>
          <a:p>
            <a:pPr>
              <a:buClr>
                <a:schemeClr val="tx2"/>
              </a:buClr>
              <a:buFont typeface="Symbol" pitchFamily="18" charset="2"/>
              <a:buChar char="®"/>
            </a:pPr>
            <a:r>
              <a:rPr lang="en-GB" dirty="0" err="1">
                <a:solidFill>
                  <a:srgbClr val="000000"/>
                </a:solidFill>
              </a:rPr>
              <a:t>Processus</a:t>
            </a:r>
            <a:r>
              <a:rPr lang="en-GB" dirty="0">
                <a:solidFill>
                  <a:srgbClr val="000000"/>
                </a:solidFill>
              </a:rPr>
              <a:t> de </a:t>
            </a:r>
            <a:r>
              <a:rPr lang="en-GB" dirty="0" err="1">
                <a:solidFill>
                  <a:srgbClr val="000000"/>
                </a:solidFill>
              </a:rPr>
              <a:t>résolution</a:t>
            </a:r>
            <a:r>
              <a:rPr lang="en-GB" dirty="0">
                <a:solidFill>
                  <a:srgbClr val="000000"/>
                </a:solidFill>
              </a:rPr>
              <a:t> de </a:t>
            </a:r>
            <a:r>
              <a:rPr lang="en-GB" dirty="0" err="1">
                <a:solidFill>
                  <a:srgbClr val="000000"/>
                </a:solidFill>
              </a:rPr>
              <a:t>noms</a:t>
            </a:r>
            <a:r>
              <a:rPr lang="en-GB" dirty="0">
                <a:solidFill>
                  <a:srgbClr val="000000"/>
                </a:solidFill>
              </a:rPr>
              <a:t> NetBIOS</a:t>
            </a:r>
            <a:endParaRPr lang="en-US" dirty="0"/>
          </a:p>
          <a:p>
            <a:pPr>
              <a:buClr>
                <a:schemeClr val="tx2"/>
              </a:buClr>
              <a:buFont typeface="Symbol" pitchFamily="18" charset="2"/>
              <a:buChar char="®"/>
            </a:pPr>
            <a:r>
              <a:rPr lang="en-GB" dirty="0">
                <a:solidFill>
                  <a:srgbClr val="000000"/>
                </a:solidFill>
              </a:rPr>
              <a:t>Cache de </a:t>
            </a:r>
            <a:r>
              <a:rPr lang="en-GB" dirty="0" err="1">
                <a:solidFill>
                  <a:srgbClr val="000000"/>
                </a:solidFill>
              </a:rPr>
              <a:t>noms</a:t>
            </a:r>
            <a:r>
              <a:rPr lang="en-GB" dirty="0">
                <a:solidFill>
                  <a:srgbClr val="000000"/>
                </a:solidFill>
              </a:rPr>
              <a:t> NetBIOS</a:t>
            </a:r>
            <a:endParaRPr lang="en-US" dirty="0"/>
          </a:p>
          <a:p>
            <a:pPr>
              <a:buClr>
                <a:schemeClr val="tx2"/>
              </a:buClr>
              <a:buFont typeface="Symbol" pitchFamily="18" charset="2"/>
              <a:buChar char="®"/>
            </a:pPr>
            <a:r>
              <a:rPr lang="en-GB" dirty="0">
                <a:solidFill>
                  <a:srgbClr val="000000"/>
                </a:solidFill>
              </a:rPr>
              <a:t>Comment </a:t>
            </a:r>
            <a:r>
              <a:rPr lang="en-GB" dirty="0" err="1">
                <a:solidFill>
                  <a:srgbClr val="000000"/>
                </a:solidFill>
              </a:rPr>
              <a:t>afficher</a:t>
            </a:r>
            <a:r>
              <a:rPr lang="en-GB" dirty="0">
                <a:solidFill>
                  <a:srgbClr val="000000"/>
                </a:solidFill>
              </a:rPr>
              <a:t> et </a:t>
            </a:r>
            <a:r>
              <a:rPr lang="en-GB" dirty="0" err="1">
                <a:solidFill>
                  <a:srgbClr val="000000"/>
                </a:solidFill>
              </a:rPr>
              <a:t>libérer</a:t>
            </a:r>
            <a:r>
              <a:rPr lang="en-GB" dirty="0">
                <a:solidFill>
                  <a:srgbClr val="000000"/>
                </a:solidFill>
              </a:rPr>
              <a:t> le cache de </a:t>
            </a:r>
            <a:r>
              <a:rPr lang="en-GB" dirty="0" err="1">
                <a:solidFill>
                  <a:srgbClr val="000000"/>
                </a:solidFill>
              </a:rPr>
              <a:t>noms</a:t>
            </a:r>
            <a:r>
              <a:rPr lang="en-GB" dirty="0">
                <a:solidFill>
                  <a:srgbClr val="000000"/>
                </a:solidFill>
              </a:rPr>
              <a:t> NetBIOS</a:t>
            </a:r>
            <a:endParaRPr lang="en-US" dirty="0"/>
          </a:p>
          <a:p>
            <a:pPr>
              <a:buClr>
                <a:schemeClr val="tx2"/>
              </a:buClr>
              <a:buFont typeface="Symbol" pitchFamily="18" charset="2"/>
              <a:buChar char="®"/>
            </a:pPr>
            <a:r>
              <a:rPr lang="en-GB" dirty="0">
                <a:solidFill>
                  <a:srgbClr val="000000"/>
                </a:solidFill>
              </a:rPr>
              <a:t>Diffusions</a:t>
            </a:r>
            <a:endParaRPr lang="en-US" dirty="0"/>
          </a:p>
          <a:p>
            <a:pPr>
              <a:buClr>
                <a:schemeClr val="tx2"/>
              </a:buClr>
              <a:buFont typeface="Symbol" pitchFamily="18" charset="2"/>
              <a:buChar char="®"/>
            </a:pPr>
            <a:r>
              <a:rPr lang="en-GB" dirty="0" err="1">
                <a:solidFill>
                  <a:srgbClr val="000000"/>
                </a:solidFill>
              </a:rPr>
              <a:t>Fichier</a:t>
            </a:r>
            <a:r>
              <a:rPr lang="en-GB" dirty="0">
                <a:solidFill>
                  <a:srgbClr val="000000"/>
                </a:solidFill>
              </a:rPr>
              <a:t> </a:t>
            </a:r>
            <a:r>
              <a:rPr lang="en-GB" dirty="0" err="1">
                <a:solidFill>
                  <a:srgbClr val="000000"/>
                </a:solidFill>
              </a:rPr>
              <a:t>Lmhosts</a:t>
            </a:r>
            <a:endParaRPr lang="en-US" dirty="0"/>
          </a:p>
          <a:p>
            <a:pPr>
              <a:buClr>
                <a:schemeClr val="tx2"/>
              </a:buClr>
              <a:buFont typeface="Symbol" pitchFamily="18" charset="2"/>
              <a:buChar char="®"/>
            </a:pPr>
            <a:r>
              <a:rPr lang="en-GB" dirty="0">
                <a:solidFill>
                  <a:srgbClr val="000000"/>
                </a:solidFill>
              </a:rPr>
              <a:t>Comment </a:t>
            </a:r>
            <a:r>
              <a:rPr lang="en-GB" dirty="0" err="1">
                <a:solidFill>
                  <a:srgbClr val="000000"/>
                </a:solidFill>
              </a:rPr>
              <a:t>précharger</a:t>
            </a:r>
            <a:r>
              <a:rPr lang="en-GB" dirty="0">
                <a:solidFill>
                  <a:srgbClr val="000000"/>
                </a:solidFill>
              </a:rPr>
              <a:t> un cache de </a:t>
            </a:r>
            <a:r>
              <a:rPr lang="en-GB" dirty="0" err="1">
                <a:solidFill>
                  <a:srgbClr val="000000"/>
                </a:solidFill>
              </a:rPr>
              <a:t>noms</a:t>
            </a:r>
            <a:r>
              <a:rPr lang="en-GB" dirty="0">
                <a:solidFill>
                  <a:srgbClr val="000000"/>
                </a:solidFill>
              </a:rPr>
              <a:t> NetBIOS en </a:t>
            </a:r>
            <a:r>
              <a:rPr lang="en-GB" dirty="0" err="1">
                <a:solidFill>
                  <a:srgbClr val="000000"/>
                </a:solidFill>
              </a:rPr>
              <a:t>utilisant</a:t>
            </a:r>
            <a:r>
              <a:rPr lang="en-GB" dirty="0">
                <a:solidFill>
                  <a:srgbClr val="000000"/>
                </a:solidFill>
              </a:rPr>
              <a:t> un </a:t>
            </a:r>
            <a:r>
              <a:rPr lang="en-GB" dirty="0" err="1">
                <a:solidFill>
                  <a:srgbClr val="000000"/>
                </a:solidFill>
              </a:rPr>
              <a:t>fichier</a:t>
            </a:r>
            <a:r>
              <a:rPr lang="en-GB" dirty="0">
                <a:solidFill>
                  <a:srgbClr val="000000"/>
                </a:solidFill>
              </a:rPr>
              <a:t> </a:t>
            </a:r>
            <a:r>
              <a:rPr lang="en-GB" dirty="0" err="1">
                <a:solidFill>
                  <a:srgbClr val="000000"/>
                </a:solidFill>
              </a:rPr>
              <a:t>Lmhosts</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custDataLst>
              <p:tags r:id="rId1"/>
            </p:custDataLst>
          </p:nvPr>
        </p:nvSpPr>
        <p:spPr>
          <a:xfrm>
            <a:off x="301752" y="359229"/>
            <a:ext cx="8534400" cy="758952"/>
          </a:xfrm>
        </p:spPr>
        <p:txBody>
          <a:bodyPr>
            <a:normAutofit fontScale="90000"/>
          </a:bodyPr>
          <a:lstStyle/>
          <a:p>
            <a:r>
              <a:rPr lang="fr-FR" b="1" dirty="0">
                <a:solidFill>
                  <a:srgbClr val="C00000"/>
                </a:solidFill>
              </a:rPr>
              <a:t>Processus de résolution de noms NetBIOS</a:t>
            </a:r>
            <a:endParaRPr lang="en-US" b="1" dirty="0">
              <a:solidFill>
                <a:srgbClr val="C00000"/>
              </a:solidFill>
            </a:endParaRPr>
          </a:p>
        </p:txBody>
      </p:sp>
      <p:pic>
        <p:nvPicPr>
          <p:cNvPr id="595094" name="Picture 150" descr="tube2"/>
          <p:cNvPicPr>
            <a:picLocks noChangeAspect="1" noChangeArrowheads="1"/>
          </p:cNvPicPr>
          <p:nvPr/>
        </p:nvPicPr>
        <p:blipFill>
          <a:blip r:embed="rId16"/>
          <a:srcRect/>
          <a:stretch>
            <a:fillRect/>
          </a:stretch>
        </p:blipFill>
        <p:spPr bwMode="auto">
          <a:xfrm>
            <a:off x="5308600" y="1295400"/>
            <a:ext cx="1577975" cy="763588"/>
          </a:xfrm>
          <a:prstGeom prst="rect">
            <a:avLst/>
          </a:prstGeom>
          <a:noFill/>
        </p:spPr>
      </p:pic>
      <p:pic>
        <p:nvPicPr>
          <p:cNvPr id="595095" name="Picture 151" descr="tube2"/>
          <p:cNvPicPr>
            <a:picLocks noChangeAspect="1" noChangeArrowheads="1"/>
          </p:cNvPicPr>
          <p:nvPr/>
        </p:nvPicPr>
        <p:blipFill>
          <a:blip r:embed="rId16"/>
          <a:srcRect/>
          <a:stretch>
            <a:fillRect/>
          </a:stretch>
        </p:blipFill>
        <p:spPr bwMode="auto">
          <a:xfrm>
            <a:off x="4268788" y="1295400"/>
            <a:ext cx="1577975" cy="763588"/>
          </a:xfrm>
          <a:prstGeom prst="rect">
            <a:avLst/>
          </a:prstGeom>
          <a:noFill/>
        </p:spPr>
      </p:pic>
      <p:pic>
        <p:nvPicPr>
          <p:cNvPr id="595096" name="Picture 152" descr="tube2"/>
          <p:cNvPicPr>
            <a:picLocks noChangeAspect="1" noChangeArrowheads="1"/>
          </p:cNvPicPr>
          <p:nvPr/>
        </p:nvPicPr>
        <p:blipFill>
          <a:blip r:embed="rId16"/>
          <a:srcRect/>
          <a:stretch>
            <a:fillRect/>
          </a:stretch>
        </p:blipFill>
        <p:spPr bwMode="auto">
          <a:xfrm>
            <a:off x="3227388" y="1295400"/>
            <a:ext cx="1577975" cy="763588"/>
          </a:xfrm>
          <a:prstGeom prst="rect">
            <a:avLst/>
          </a:prstGeom>
          <a:noFill/>
        </p:spPr>
      </p:pic>
      <p:pic>
        <p:nvPicPr>
          <p:cNvPr id="595097" name="Picture 153" descr="tube2"/>
          <p:cNvPicPr>
            <a:picLocks noChangeAspect="1" noChangeArrowheads="1"/>
          </p:cNvPicPr>
          <p:nvPr/>
        </p:nvPicPr>
        <p:blipFill>
          <a:blip r:embed="rId16"/>
          <a:srcRect/>
          <a:stretch>
            <a:fillRect/>
          </a:stretch>
        </p:blipFill>
        <p:spPr bwMode="auto">
          <a:xfrm>
            <a:off x="2185988" y="1295400"/>
            <a:ext cx="1577975" cy="763588"/>
          </a:xfrm>
          <a:prstGeom prst="rect">
            <a:avLst/>
          </a:prstGeom>
          <a:noFill/>
        </p:spPr>
      </p:pic>
      <p:sp>
        <p:nvSpPr>
          <p:cNvPr id="595101" name="Oval 157"/>
          <p:cNvSpPr>
            <a:spLocks noChangeArrowheads="1"/>
          </p:cNvSpPr>
          <p:nvPr/>
        </p:nvSpPr>
        <p:spPr bwMode="auto">
          <a:xfrm>
            <a:off x="1055688" y="4960938"/>
            <a:ext cx="2284412" cy="1162050"/>
          </a:xfrm>
          <a:prstGeom prst="ellipse">
            <a:avLst/>
          </a:prstGeom>
          <a:gradFill rotWithShape="1">
            <a:gsLst>
              <a:gs pos="0">
                <a:srgbClr val="FFFFFF"/>
              </a:gs>
              <a:gs pos="100000">
                <a:srgbClr val="EEEFD7"/>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sp>
        <p:nvSpPr>
          <p:cNvPr id="595102" name="AutoShape 158"/>
          <p:cNvSpPr>
            <a:spLocks noChangeArrowheads="1"/>
          </p:cNvSpPr>
          <p:nvPr>
            <p:custDataLst>
              <p:tags r:id="rId2"/>
            </p:custDataLst>
          </p:nvPr>
        </p:nvSpPr>
        <p:spPr bwMode="auto">
          <a:xfrm>
            <a:off x="3396343" y="5300662"/>
            <a:ext cx="5399313" cy="1085623"/>
          </a:xfrm>
          <a:prstGeom prst="roundRect">
            <a:avLst>
              <a:gd name="adj" fmla="val 23130"/>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eaLnBrk="1" hangingPunct="1"/>
            <a:r>
              <a:rPr lang="en-GB" sz="2400" dirty="0">
                <a:solidFill>
                  <a:srgbClr val="000000"/>
                </a:solidFill>
              </a:rPr>
              <a:t>La </a:t>
            </a:r>
            <a:r>
              <a:rPr lang="en-GB" sz="2400" i="1" dirty="0" err="1">
                <a:solidFill>
                  <a:srgbClr val="000000"/>
                </a:solidFill>
              </a:rPr>
              <a:t>résolution</a:t>
            </a:r>
            <a:r>
              <a:rPr lang="en-GB" sz="2400" i="1" dirty="0">
                <a:solidFill>
                  <a:srgbClr val="000000"/>
                </a:solidFill>
              </a:rPr>
              <a:t> de </a:t>
            </a:r>
            <a:r>
              <a:rPr lang="en-GB" sz="2400" i="1" dirty="0" err="1">
                <a:solidFill>
                  <a:srgbClr val="000000"/>
                </a:solidFill>
              </a:rPr>
              <a:t>noms</a:t>
            </a:r>
            <a:r>
              <a:rPr lang="en-GB" sz="2400" i="1" dirty="0">
                <a:solidFill>
                  <a:srgbClr val="000000"/>
                </a:solidFill>
              </a:rPr>
              <a:t> NetBIOS</a:t>
            </a:r>
            <a:r>
              <a:rPr lang="en-GB" sz="2400" dirty="0">
                <a:solidFill>
                  <a:srgbClr val="000000"/>
                </a:solidFill>
              </a:rPr>
              <a:t> </a:t>
            </a:r>
            <a:r>
              <a:rPr lang="en-GB" sz="2400" dirty="0" err="1">
                <a:solidFill>
                  <a:srgbClr val="000000"/>
                </a:solidFill>
              </a:rPr>
              <a:t>est</a:t>
            </a:r>
            <a:r>
              <a:rPr lang="en-GB" sz="2400" dirty="0">
                <a:solidFill>
                  <a:srgbClr val="000000"/>
                </a:solidFill>
              </a:rPr>
              <a:t> le </a:t>
            </a:r>
            <a:r>
              <a:rPr lang="en-GB" sz="2400" dirty="0" err="1">
                <a:solidFill>
                  <a:srgbClr val="000000"/>
                </a:solidFill>
              </a:rPr>
              <a:t>processus</a:t>
            </a:r>
            <a:r>
              <a:rPr lang="en-GB" sz="2400" dirty="0">
                <a:solidFill>
                  <a:srgbClr val="000000"/>
                </a:solidFill>
              </a:rPr>
              <a:t> qui </a:t>
            </a:r>
            <a:r>
              <a:rPr lang="en-GB" sz="2400" dirty="0" err="1">
                <a:solidFill>
                  <a:srgbClr val="000000"/>
                </a:solidFill>
              </a:rPr>
              <a:t>consiste</a:t>
            </a:r>
            <a:r>
              <a:rPr lang="en-GB" sz="2400" dirty="0">
                <a:solidFill>
                  <a:srgbClr val="000000"/>
                </a:solidFill>
              </a:rPr>
              <a:t> à </a:t>
            </a:r>
            <a:r>
              <a:rPr lang="en-GB" sz="2400" dirty="0" err="1">
                <a:solidFill>
                  <a:srgbClr val="000000"/>
                </a:solidFill>
              </a:rPr>
              <a:t>mapper</a:t>
            </a:r>
            <a:r>
              <a:rPr lang="en-GB" sz="2400" dirty="0">
                <a:solidFill>
                  <a:srgbClr val="000000"/>
                </a:solidFill>
              </a:rPr>
              <a:t> un nom NetBIOS à </a:t>
            </a:r>
            <a:r>
              <a:rPr lang="en-GB" sz="2400" dirty="0" err="1">
                <a:solidFill>
                  <a:srgbClr val="000000"/>
                </a:solidFill>
              </a:rPr>
              <a:t>une</a:t>
            </a:r>
            <a:r>
              <a:rPr lang="en-GB" sz="2400" dirty="0">
                <a:solidFill>
                  <a:srgbClr val="000000"/>
                </a:solidFill>
              </a:rPr>
              <a:t> </a:t>
            </a:r>
            <a:r>
              <a:rPr lang="en-GB" sz="2400" dirty="0" err="1">
                <a:solidFill>
                  <a:srgbClr val="000000"/>
                </a:solidFill>
              </a:rPr>
              <a:t>adresse</a:t>
            </a:r>
            <a:r>
              <a:rPr lang="en-GB" sz="2400" dirty="0">
                <a:solidFill>
                  <a:srgbClr val="000000"/>
                </a:solidFill>
              </a:rPr>
              <a:t> IP</a:t>
            </a:r>
            <a:endParaRPr lang="en-US" sz="2400" dirty="0"/>
          </a:p>
        </p:txBody>
      </p:sp>
      <p:sp>
        <p:nvSpPr>
          <p:cNvPr id="595103" name="Oval 159"/>
          <p:cNvSpPr>
            <a:spLocks noChangeArrowheads="1"/>
          </p:cNvSpPr>
          <p:nvPr/>
        </p:nvSpPr>
        <p:spPr bwMode="auto">
          <a:xfrm>
            <a:off x="5657850" y="3900488"/>
            <a:ext cx="2235200" cy="1096962"/>
          </a:xfrm>
          <a:prstGeom prst="ellipse">
            <a:avLst/>
          </a:prstGeom>
          <a:gradFill rotWithShape="1">
            <a:gsLst>
              <a:gs pos="0">
                <a:srgbClr val="F0F1FF"/>
              </a:gs>
              <a:gs pos="100000">
                <a:srgbClr val="B3C8DF"/>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595104" name="Picture 160" descr="UserWithDesktopComputer01"/>
          <p:cNvPicPr>
            <a:picLocks noChangeAspect="1" noChangeArrowheads="1"/>
          </p:cNvPicPr>
          <p:nvPr/>
        </p:nvPicPr>
        <p:blipFill>
          <a:blip r:embed="rId17"/>
          <a:srcRect/>
          <a:stretch>
            <a:fillRect/>
          </a:stretch>
        </p:blipFill>
        <p:spPr bwMode="auto">
          <a:xfrm>
            <a:off x="1228725" y="4052888"/>
            <a:ext cx="1868488" cy="2171700"/>
          </a:xfrm>
          <a:prstGeom prst="rect">
            <a:avLst/>
          </a:prstGeom>
          <a:noFill/>
        </p:spPr>
      </p:pic>
      <p:pic>
        <p:nvPicPr>
          <p:cNvPr id="595105" name="Picture 161" descr="Computer_DesktopComputerSansKeyboard01"/>
          <p:cNvPicPr>
            <a:picLocks noChangeAspect="1" noChangeArrowheads="1"/>
          </p:cNvPicPr>
          <p:nvPr/>
        </p:nvPicPr>
        <p:blipFill>
          <a:blip r:embed="rId18" cstate="print"/>
          <a:srcRect/>
          <a:stretch>
            <a:fillRect/>
          </a:stretch>
        </p:blipFill>
        <p:spPr bwMode="auto">
          <a:xfrm>
            <a:off x="6272213" y="3163888"/>
            <a:ext cx="1141412" cy="1392237"/>
          </a:xfrm>
          <a:prstGeom prst="rect">
            <a:avLst/>
          </a:prstGeom>
          <a:noFill/>
        </p:spPr>
      </p:pic>
      <p:sp>
        <p:nvSpPr>
          <p:cNvPr id="595106" name="Freeform 162"/>
          <p:cNvSpPr>
            <a:spLocks/>
          </p:cNvSpPr>
          <p:nvPr/>
        </p:nvSpPr>
        <p:spPr bwMode="auto">
          <a:xfrm rot="47633961" flipH="1" flipV="1">
            <a:off x="669925" y="2278063"/>
            <a:ext cx="2282825" cy="1546225"/>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95107" name="AutoShape 163"/>
          <p:cNvSpPr>
            <a:spLocks noChangeArrowheads="1"/>
          </p:cNvSpPr>
          <p:nvPr>
            <p:custDataLst>
              <p:tags r:id="rId3"/>
            </p:custDataLst>
          </p:nvPr>
        </p:nvSpPr>
        <p:spPr bwMode="auto">
          <a:xfrm>
            <a:off x="1546225" y="2830286"/>
            <a:ext cx="2169432" cy="1084489"/>
          </a:xfrm>
          <a:prstGeom prst="wedgeRoundRectCallout">
            <a:avLst>
              <a:gd name="adj1" fmla="val 6375"/>
              <a:gd name="adj2" fmla="val 92023"/>
              <a:gd name="adj3" fmla="val 16667"/>
            </a:avLst>
          </a:prstGeom>
          <a:solidFill>
            <a:srgbClr val="DAF4E9"/>
          </a:solidFill>
          <a:ln w="9525" algn="ctr">
            <a:solidFill>
              <a:srgbClr val="333333"/>
            </a:solidFill>
            <a:miter lim="800000"/>
            <a:headEnd/>
            <a:tailEnd/>
          </a:ln>
          <a:effectLst>
            <a:outerShdw dist="35921" dir="2700000" algn="ctr" rotWithShape="0">
              <a:schemeClr val="bg2"/>
            </a:outerShdw>
          </a:effectLst>
        </p:spPr>
        <p:txBody>
          <a:bodyPr anchor="ctr"/>
          <a:lstStyle/>
          <a:p>
            <a:r>
              <a:rPr lang="en-GB" sz="2000">
                <a:solidFill>
                  <a:srgbClr val="000000"/>
                </a:solidFill>
              </a:rPr>
              <a:t>Quelle est</a:t>
            </a:r>
            <a:endParaRPr lang="en-US" sz="2000"/>
          </a:p>
          <a:p>
            <a:r>
              <a:rPr lang="en-GB" sz="2000">
                <a:solidFill>
                  <a:srgbClr val="000000"/>
                </a:solidFill>
              </a:rPr>
              <a:t>l'adresse IP de Salescomputer2 ?</a:t>
            </a:r>
            <a:endParaRPr lang="en-US" sz="2000">
              <a:solidFill>
                <a:srgbClr val="000000"/>
              </a:solidFill>
            </a:endParaRPr>
          </a:p>
        </p:txBody>
      </p:sp>
      <p:sp>
        <p:nvSpPr>
          <p:cNvPr id="595108" name="Arc 164"/>
          <p:cNvSpPr>
            <a:spLocks/>
          </p:cNvSpPr>
          <p:nvPr/>
        </p:nvSpPr>
        <p:spPr bwMode="auto">
          <a:xfrm rot="-896028">
            <a:off x="3176588" y="4240213"/>
            <a:ext cx="3040062" cy="1258887"/>
          </a:xfrm>
          <a:custGeom>
            <a:avLst/>
            <a:gdLst>
              <a:gd name="G0" fmla="+- 17725 0 0"/>
              <a:gd name="G1" fmla="+- 21600 0 0"/>
              <a:gd name="G2" fmla="+- 21600 0 0"/>
              <a:gd name="T0" fmla="*/ 0 w 26071"/>
              <a:gd name="T1" fmla="*/ 9256 h 21600"/>
              <a:gd name="T2" fmla="*/ 26071 w 26071"/>
              <a:gd name="T3" fmla="*/ 1678 h 21600"/>
              <a:gd name="T4" fmla="*/ 17725 w 26071"/>
              <a:gd name="T5" fmla="*/ 21600 h 21600"/>
            </a:gdLst>
            <a:ahLst/>
            <a:cxnLst>
              <a:cxn ang="0">
                <a:pos x="T0" y="T1"/>
              </a:cxn>
              <a:cxn ang="0">
                <a:pos x="T2" y="T3"/>
              </a:cxn>
              <a:cxn ang="0">
                <a:pos x="T4" y="T5"/>
              </a:cxn>
            </a:cxnLst>
            <a:rect l="0" t="0" r="r" b="b"/>
            <a:pathLst>
              <a:path w="26071" h="21600" fill="none" extrusionOk="0">
                <a:moveTo>
                  <a:pt x="-1" y="9255"/>
                </a:moveTo>
                <a:cubicBezTo>
                  <a:pt x="4038" y="3456"/>
                  <a:pt x="10658" y="-1"/>
                  <a:pt x="17725" y="0"/>
                </a:cubicBezTo>
                <a:cubicBezTo>
                  <a:pt x="20590" y="0"/>
                  <a:pt x="23427" y="570"/>
                  <a:pt x="26071" y="1677"/>
                </a:cubicBezTo>
              </a:path>
              <a:path w="26071" h="21600" stroke="0" extrusionOk="0">
                <a:moveTo>
                  <a:pt x="-1" y="9255"/>
                </a:moveTo>
                <a:cubicBezTo>
                  <a:pt x="4038" y="3456"/>
                  <a:pt x="10658" y="-1"/>
                  <a:pt x="17725" y="0"/>
                </a:cubicBezTo>
                <a:cubicBezTo>
                  <a:pt x="20590" y="0"/>
                  <a:pt x="23427" y="570"/>
                  <a:pt x="26071" y="1677"/>
                </a:cubicBezTo>
                <a:lnTo>
                  <a:pt x="17725" y="21600"/>
                </a:lnTo>
                <a:close/>
              </a:path>
            </a:pathLst>
          </a:custGeom>
          <a:noFill/>
          <a:ln w="76200" cap="rnd">
            <a:solidFill>
              <a:srgbClr val="CC0000"/>
            </a:solidFill>
            <a:prstDash val="sysDot"/>
            <a:round/>
            <a:headEnd/>
            <a:tailEnd type="triangle" w="med" len="med"/>
          </a:ln>
          <a:effectLst/>
        </p:spPr>
        <p:txBody>
          <a:bodyPr wrap="none" anchor="ctr"/>
          <a:lstStyle/>
          <a:p>
            <a:endParaRPr lang="fr-FR"/>
          </a:p>
        </p:txBody>
      </p:sp>
      <p:sp>
        <p:nvSpPr>
          <p:cNvPr id="595109" name="AutoShape 165"/>
          <p:cNvSpPr>
            <a:spLocks noChangeArrowheads="1"/>
          </p:cNvSpPr>
          <p:nvPr>
            <p:custDataLst>
              <p:tags r:id="rId4"/>
            </p:custDataLst>
          </p:nvPr>
        </p:nvSpPr>
        <p:spPr bwMode="auto">
          <a:xfrm>
            <a:off x="5956300" y="4805363"/>
            <a:ext cx="1612900" cy="3810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Salescomputer2</a:t>
            </a:r>
            <a:endParaRPr lang="en-US" sz="2000"/>
          </a:p>
        </p:txBody>
      </p:sp>
      <p:sp>
        <p:nvSpPr>
          <p:cNvPr id="595110" name="AutoShape 166"/>
          <p:cNvSpPr>
            <a:spLocks noChangeArrowheads="1"/>
          </p:cNvSpPr>
          <p:nvPr>
            <p:custDataLst>
              <p:tags r:id="rId5"/>
            </p:custDataLst>
          </p:nvPr>
        </p:nvSpPr>
        <p:spPr bwMode="auto">
          <a:xfrm>
            <a:off x="1060450" y="254476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1</a:t>
            </a:r>
          </a:p>
        </p:txBody>
      </p:sp>
      <p:sp>
        <p:nvSpPr>
          <p:cNvPr id="595111" name="AutoShape 167"/>
          <p:cNvSpPr>
            <a:spLocks noChangeArrowheads="1"/>
          </p:cNvSpPr>
          <p:nvPr>
            <p:custDataLst>
              <p:tags r:id="rId6"/>
            </p:custDataLst>
          </p:nvPr>
        </p:nvSpPr>
        <p:spPr bwMode="auto">
          <a:xfrm>
            <a:off x="4403725" y="4076700"/>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3</a:t>
            </a:r>
          </a:p>
        </p:txBody>
      </p:sp>
      <p:sp>
        <p:nvSpPr>
          <p:cNvPr id="595112" name="Text Box 168"/>
          <p:cNvSpPr txBox="1">
            <a:spLocks noChangeArrowheads="1"/>
          </p:cNvSpPr>
          <p:nvPr>
            <p:custDataLst>
              <p:tags r:id="rId7"/>
            </p:custDataLst>
          </p:nvPr>
        </p:nvSpPr>
        <p:spPr bwMode="auto">
          <a:xfrm>
            <a:off x="4408488" y="2581275"/>
            <a:ext cx="1410964" cy="400110"/>
          </a:xfrm>
          <a:prstGeom prst="rect">
            <a:avLst/>
          </a:prstGeom>
          <a:noFill/>
          <a:ln w="9525" algn="ctr">
            <a:noFill/>
            <a:miter lim="800000"/>
            <a:headEnd/>
            <a:tailEnd/>
          </a:ln>
          <a:effectLst/>
        </p:spPr>
        <p:txBody>
          <a:bodyPr wrap="none">
            <a:spAutoFit/>
          </a:bodyPr>
          <a:lstStyle/>
          <a:p>
            <a:r>
              <a:rPr lang="en-US" sz="2000" dirty="0"/>
              <a:t>192.168.1.35</a:t>
            </a:r>
          </a:p>
        </p:txBody>
      </p:sp>
      <p:sp>
        <p:nvSpPr>
          <p:cNvPr id="595113" name="Text Box 169"/>
          <p:cNvSpPr txBox="1">
            <a:spLocks noChangeArrowheads="1"/>
          </p:cNvSpPr>
          <p:nvPr>
            <p:custDataLst>
              <p:tags r:id="rId8"/>
            </p:custDataLst>
          </p:nvPr>
        </p:nvSpPr>
        <p:spPr bwMode="auto">
          <a:xfrm>
            <a:off x="1492250" y="2290763"/>
            <a:ext cx="1810111" cy="400110"/>
          </a:xfrm>
          <a:prstGeom prst="rect">
            <a:avLst/>
          </a:prstGeom>
          <a:noFill/>
          <a:ln w="9525" algn="ctr">
            <a:noFill/>
            <a:miter lim="800000"/>
            <a:headEnd/>
            <a:tailEnd/>
          </a:ln>
          <a:effectLst/>
        </p:spPr>
        <p:txBody>
          <a:bodyPr wrap="none">
            <a:spAutoFit/>
          </a:bodyPr>
          <a:lstStyle/>
          <a:p>
            <a:r>
              <a:rPr lang="en-GB" sz="2000" dirty="0">
                <a:solidFill>
                  <a:srgbClr val="000000"/>
                </a:solidFill>
              </a:rPr>
              <a:t>Salescomputer2</a:t>
            </a:r>
            <a:endParaRPr lang="en-US" sz="2000" dirty="0"/>
          </a:p>
        </p:txBody>
      </p:sp>
      <p:sp>
        <p:nvSpPr>
          <p:cNvPr id="595117" name="Text Box 173"/>
          <p:cNvSpPr txBox="1">
            <a:spLocks noChangeArrowheads="1"/>
          </p:cNvSpPr>
          <p:nvPr>
            <p:custDataLst>
              <p:tags r:id="rId9"/>
            </p:custDataLst>
          </p:nvPr>
        </p:nvSpPr>
        <p:spPr bwMode="auto">
          <a:xfrm>
            <a:off x="2445205" y="1293813"/>
            <a:ext cx="1353256" cy="615553"/>
          </a:xfrm>
          <a:prstGeom prst="rect">
            <a:avLst/>
          </a:prstGeom>
          <a:noFill/>
          <a:ln w="9525">
            <a:noFill/>
            <a:miter lim="800000"/>
            <a:headEnd/>
            <a:tailEnd/>
          </a:ln>
          <a:effectLst/>
        </p:spPr>
        <p:txBody>
          <a:bodyPr wrap="none">
            <a:spAutoFit/>
          </a:bodyPr>
          <a:lstStyle/>
          <a:p>
            <a:pPr eaLnBrk="1" hangingPunct="1">
              <a:lnSpc>
                <a:spcPct val="85000"/>
              </a:lnSpc>
            </a:pPr>
            <a:r>
              <a:rPr lang="en-GB" sz="2000" dirty="0" err="1">
                <a:solidFill>
                  <a:srgbClr val="000000"/>
                </a:solidFill>
              </a:rPr>
              <a:t>Redirecteur</a:t>
            </a:r>
            <a:endParaRPr lang="en-US" sz="2000" dirty="0"/>
          </a:p>
          <a:p>
            <a:pPr eaLnBrk="1" hangingPunct="1">
              <a:lnSpc>
                <a:spcPct val="85000"/>
              </a:lnSpc>
            </a:pPr>
            <a:r>
              <a:rPr lang="en-GB" sz="2000" dirty="0">
                <a:solidFill>
                  <a:srgbClr val="000000"/>
                </a:solidFill>
              </a:rPr>
              <a:t>NetBIOS</a:t>
            </a:r>
            <a:endParaRPr lang="en-US" sz="2000" dirty="0">
              <a:solidFill>
                <a:srgbClr val="000000"/>
              </a:solidFill>
            </a:endParaRPr>
          </a:p>
        </p:txBody>
      </p:sp>
      <p:sp>
        <p:nvSpPr>
          <p:cNvPr id="595118" name="Text Box 174"/>
          <p:cNvSpPr txBox="1">
            <a:spLocks noChangeArrowheads="1"/>
          </p:cNvSpPr>
          <p:nvPr>
            <p:custDataLst>
              <p:tags r:id="rId10"/>
            </p:custDataLst>
          </p:nvPr>
        </p:nvSpPr>
        <p:spPr bwMode="auto">
          <a:xfrm>
            <a:off x="3884384" y="1408113"/>
            <a:ext cx="734496" cy="400110"/>
          </a:xfrm>
          <a:prstGeom prst="rect">
            <a:avLst/>
          </a:prstGeom>
          <a:noFill/>
          <a:ln w="9525">
            <a:noFill/>
            <a:miter lim="800000"/>
            <a:headEnd/>
            <a:tailEnd/>
          </a:ln>
          <a:effectLst/>
        </p:spPr>
        <p:txBody>
          <a:bodyPr wrap="none">
            <a:spAutoFit/>
          </a:bodyPr>
          <a:lstStyle/>
          <a:p>
            <a:pPr algn="l" eaLnBrk="1" hangingPunct="1"/>
            <a:r>
              <a:rPr lang="en-GB" sz="2000" dirty="0">
                <a:solidFill>
                  <a:srgbClr val="000000"/>
                </a:solidFill>
              </a:rPr>
              <a:t>WINS</a:t>
            </a:r>
            <a:endParaRPr lang="en-US" sz="2000" dirty="0"/>
          </a:p>
        </p:txBody>
      </p:sp>
      <p:sp>
        <p:nvSpPr>
          <p:cNvPr id="595119" name="Text Box 175"/>
          <p:cNvSpPr txBox="1">
            <a:spLocks noChangeArrowheads="1"/>
          </p:cNvSpPr>
          <p:nvPr>
            <p:custDataLst>
              <p:tags r:id="rId11"/>
            </p:custDataLst>
          </p:nvPr>
        </p:nvSpPr>
        <p:spPr bwMode="auto">
          <a:xfrm>
            <a:off x="4688114" y="1378858"/>
            <a:ext cx="1126899" cy="400110"/>
          </a:xfrm>
          <a:prstGeom prst="rect">
            <a:avLst/>
          </a:prstGeom>
          <a:noFill/>
          <a:ln w="9525">
            <a:noFill/>
            <a:miter lim="800000"/>
            <a:headEnd/>
            <a:tailEnd/>
          </a:ln>
          <a:effectLst/>
        </p:spPr>
        <p:txBody>
          <a:bodyPr wrap="square">
            <a:spAutoFit/>
          </a:bodyPr>
          <a:lstStyle/>
          <a:p>
            <a:pPr algn="l" eaLnBrk="1" hangingPunct="1"/>
            <a:r>
              <a:rPr lang="en-GB" sz="2000" dirty="0">
                <a:solidFill>
                  <a:srgbClr val="000000"/>
                </a:solidFill>
              </a:rPr>
              <a:t>Diffusion</a:t>
            </a:r>
            <a:endParaRPr lang="en-US" sz="2000" dirty="0"/>
          </a:p>
        </p:txBody>
      </p:sp>
      <p:sp>
        <p:nvSpPr>
          <p:cNvPr id="595120" name="Text Box 176"/>
          <p:cNvSpPr txBox="1">
            <a:spLocks noChangeArrowheads="1"/>
          </p:cNvSpPr>
          <p:nvPr>
            <p:custDataLst>
              <p:tags r:id="rId12"/>
            </p:custDataLst>
          </p:nvPr>
        </p:nvSpPr>
        <p:spPr bwMode="auto">
          <a:xfrm>
            <a:off x="5810250" y="1309688"/>
            <a:ext cx="1061509" cy="615553"/>
          </a:xfrm>
          <a:prstGeom prst="rect">
            <a:avLst/>
          </a:prstGeom>
          <a:noFill/>
          <a:ln w="9525">
            <a:noFill/>
            <a:miter lim="800000"/>
            <a:headEnd/>
            <a:tailEnd/>
          </a:ln>
          <a:effectLst/>
        </p:spPr>
        <p:txBody>
          <a:bodyPr wrap="none">
            <a:spAutoFit/>
          </a:bodyPr>
          <a:lstStyle/>
          <a:p>
            <a:pPr algn="l" eaLnBrk="1" hangingPunct="1">
              <a:lnSpc>
                <a:spcPct val="85000"/>
              </a:lnSpc>
            </a:pPr>
            <a:r>
              <a:rPr lang="en-GB" sz="2000" dirty="0" err="1">
                <a:solidFill>
                  <a:srgbClr val="000000"/>
                </a:solidFill>
              </a:rPr>
              <a:t>Fichier</a:t>
            </a:r>
            <a:r>
              <a:rPr lang="en-GB" sz="2000" dirty="0">
                <a:solidFill>
                  <a:srgbClr val="000000"/>
                </a:solidFill>
              </a:rPr>
              <a:t> </a:t>
            </a:r>
            <a:br>
              <a:rPr lang="en-GB" sz="2000" dirty="0">
                <a:solidFill>
                  <a:srgbClr val="000000"/>
                </a:solidFill>
              </a:rPr>
            </a:br>
            <a:r>
              <a:rPr lang="en-GB" sz="2000" dirty="0" err="1">
                <a:solidFill>
                  <a:srgbClr val="000000"/>
                </a:solidFill>
              </a:rPr>
              <a:t>Lmhosts</a:t>
            </a:r>
            <a:endParaRPr lang="en-US" sz="2000" dirty="0"/>
          </a:p>
        </p:txBody>
      </p:sp>
      <p:sp>
        <p:nvSpPr>
          <p:cNvPr id="595121" name="Freeform 177"/>
          <p:cNvSpPr>
            <a:spLocks/>
          </p:cNvSpPr>
          <p:nvPr/>
        </p:nvSpPr>
        <p:spPr bwMode="auto">
          <a:xfrm rot="7279257">
            <a:off x="3668713" y="1962150"/>
            <a:ext cx="3162300" cy="1714500"/>
          </a:xfrm>
          <a:custGeom>
            <a:avLst/>
            <a:gdLst/>
            <a:ahLst/>
            <a:cxnLst>
              <a:cxn ang="0">
                <a:pos x="22" y="3"/>
              </a:cxn>
              <a:cxn ang="0">
                <a:pos x="67" y="8"/>
              </a:cxn>
              <a:cxn ang="0">
                <a:pos x="140" y="24"/>
              </a:cxn>
              <a:cxn ang="0">
                <a:pos x="189" y="37"/>
              </a:cxn>
              <a:cxn ang="0">
                <a:pos x="240" y="53"/>
              </a:cxn>
              <a:cxn ang="0">
                <a:pos x="347" y="91"/>
              </a:cxn>
              <a:cxn ang="0">
                <a:pos x="455" y="137"/>
              </a:cxn>
              <a:cxn ang="0">
                <a:pos x="567" y="191"/>
              </a:cxn>
              <a:cxn ang="0">
                <a:pos x="680" y="250"/>
              </a:cxn>
              <a:cxn ang="0">
                <a:pos x="790" y="313"/>
              </a:cxn>
              <a:cxn ang="0">
                <a:pos x="899" y="379"/>
              </a:cxn>
              <a:cxn ang="0">
                <a:pos x="1002" y="448"/>
              </a:cxn>
              <a:cxn ang="0">
                <a:pos x="1100" y="517"/>
              </a:cxn>
              <a:cxn ang="0">
                <a:pos x="1192" y="587"/>
              </a:cxn>
              <a:cxn ang="0">
                <a:pos x="1274" y="655"/>
              </a:cxn>
              <a:cxn ang="0">
                <a:pos x="1347" y="720"/>
              </a:cxn>
              <a:cxn ang="0">
                <a:pos x="1406" y="782"/>
              </a:cxn>
              <a:cxn ang="0">
                <a:pos x="1444" y="824"/>
              </a:cxn>
              <a:cxn ang="0">
                <a:pos x="1472" y="865"/>
              </a:cxn>
              <a:cxn ang="0">
                <a:pos x="1477" y="856"/>
              </a:cxn>
              <a:cxn ang="0">
                <a:pos x="1512" y="819"/>
              </a:cxn>
              <a:cxn ang="0">
                <a:pos x="1576" y="1061"/>
              </a:cxn>
              <a:cxn ang="0">
                <a:pos x="1576" y="1098"/>
              </a:cxn>
              <a:cxn ang="0">
                <a:pos x="1463" y="1020"/>
              </a:cxn>
              <a:cxn ang="0">
                <a:pos x="1369" y="924"/>
              </a:cxn>
              <a:cxn ang="0">
                <a:pos x="1396" y="917"/>
              </a:cxn>
              <a:cxn ang="0">
                <a:pos x="1390" y="907"/>
              </a:cxn>
              <a:cxn ang="0">
                <a:pos x="1367" y="878"/>
              </a:cxn>
              <a:cxn ang="0">
                <a:pos x="1329" y="838"/>
              </a:cxn>
              <a:cxn ang="0">
                <a:pos x="1251" y="758"/>
              </a:cxn>
              <a:cxn ang="0">
                <a:pos x="1185" y="697"/>
              </a:cxn>
              <a:cxn ang="0">
                <a:pos x="1108" y="629"/>
              </a:cxn>
              <a:cxn ang="0">
                <a:pos x="1021" y="558"/>
              </a:cxn>
              <a:cxn ang="0">
                <a:pos x="927" y="482"/>
              </a:cxn>
              <a:cxn ang="0">
                <a:pos x="825" y="408"/>
              </a:cxn>
              <a:cxn ang="0">
                <a:pos x="718" y="335"/>
              </a:cxn>
              <a:cxn ang="0">
                <a:pos x="605" y="262"/>
              </a:cxn>
              <a:cxn ang="0">
                <a:pos x="487" y="195"/>
              </a:cxn>
              <a:cxn ang="0">
                <a:pos x="428" y="164"/>
              </a:cxn>
              <a:cxn ang="0">
                <a:pos x="308" y="106"/>
              </a:cxn>
              <a:cxn ang="0">
                <a:pos x="245" y="79"/>
              </a:cxn>
              <a:cxn ang="0">
                <a:pos x="184" y="56"/>
              </a:cxn>
              <a:cxn ang="0">
                <a:pos x="122" y="35"/>
              </a:cxn>
              <a:cxn ang="0">
                <a:pos x="61" y="16"/>
              </a:cxn>
              <a:cxn ang="0">
                <a:pos x="0" y="0"/>
              </a:cxn>
            </a:cxnLst>
            <a:rect l="0" t="0" r="r" b="b"/>
            <a:pathLst>
              <a:path w="1587" h="1104">
                <a:moveTo>
                  <a:pt x="0" y="0"/>
                </a:moveTo>
                <a:lnTo>
                  <a:pt x="22" y="3"/>
                </a:lnTo>
                <a:lnTo>
                  <a:pt x="44" y="6"/>
                </a:lnTo>
                <a:lnTo>
                  <a:pt x="67" y="8"/>
                </a:lnTo>
                <a:lnTo>
                  <a:pt x="90" y="13"/>
                </a:lnTo>
                <a:lnTo>
                  <a:pt x="140" y="24"/>
                </a:lnTo>
                <a:lnTo>
                  <a:pt x="164" y="30"/>
                </a:lnTo>
                <a:lnTo>
                  <a:pt x="189" y="37"/>
                </a:lnTo>
                <a:lnTo>
                  <a:pt x="215" y="45"/>
                </a:lnTo>
                <a:lnTo>
                  <a:pt x="240" y="53"/>
                </a:lnTo>
                <a:lnTo>
                  <a:pt x="293" y="71"/>
                </a:lnTo>
                <a:lnTo>
                  <a:pt x="347" y="91"/>
                </a:lnTo>
                <a:lnTo>
                  <a:pt x="400" y="114"/>
                </a:lnTo>
                <a:lnTo>
                  <a:pt x="455" y="137"/>
                </a:lnTo>
                <a:lnTo>
                  <a:pt x="512" y="164"/>
                </a:lnTo>
                <a:lnTo>
                  <a:pt x="567" y="191"/>
                </a:lnTo>
                <a:lnTo>
                  <a:pt x="624" y="220"/>
                </a:lnTo>
                <a:lnTo>
                  <a:pt x="680" y="250"/>
                </a:lnTo>
                <a:lnTo>
                  <a:pt x="735" y="281"/>
                </a:lnTo>
                <a:lnTo>
                  <a:pt x="790" y="313"/>
                </a:lnTo>
                <a:lnTo>
                  <a:pt x="845" y="346"/>
                </a:lnTo>
                <a:lnTo>
                  <a:pt x="899" y="379"/>
                </a:lnTo>
                <a:lnTo>
                  <a:pt x="951" y="414"/>
                </a:lnTo>
                <a:lnTo>
                  <a:pt x="1002" y="448"/>
                </a:lnTo>
                <a:lnTo>
                  <a:pt x="1053" y="482"/>
                </a:lnTo>
                <a:lnTo>
                  <a:pt x="1100" y="517"/>
                </a:lnTo>
                <a:lnTo>
                  <a:pt x="1147" y="552"/>
                </a:lnTo>
                <a:lnTo>
                  <a:pt x="1192" y="587"/>
                </a:lnTo>
                <a:lnTo>
                  <a:pt x="1234" y="622"/>
                </a:lnTo>
                <a:lnTo>
                  <a:pt x="1274" y="655"/>
                </a:lnTo>
                <a:lnTo>
                  <a:pt x="1312" y="688"/>
                </a:lnTo>
                <a:lnTo>
                  <a:pt x="1347" y="720"/>
                </a:lnTo>
                <a:lnTo>
                  <a:pt x="1379" y="752"/>
                </a:lnTo>
                <a:lnTo>
                  <a:pt x="1406" y="782"/>
                </a:lnTo>
                <a:lnTo>
                  <a:pt x="1432" y="811"/>
                </a:lnTo>
                <a:lnTo>
                  <a:pt x="1444" y="824"/>
                </a:lnTo>
                <a:lnTo>
                  <a:pt x="1454" y="839"/>
                </a:lnTo>
                <a:lnTo>
                  <a:pt x="1472" y="865"/>
                </a:lnTo>
                <a:lnTo>
                  <a:pt x="1473" y="862"/>
                </a:lnTo>
                <a:lnTo>
                  <a:pt x="1477" y="856"/>
                </a:lnTo>
                <a:lnTo>
                  <a:pt x="1492" y="842"/>
                </a:lnTo>
                <a:lnTo>
                  <a:pt x="1512" y="819"/>
                </a:lnTo>
                <a:lnTo>
                  <a:pt x="1550" y="962"/>
                </a:lnTo>
                <a:lnTo>
                  <a:pt x="1576" y="1061"/>
                </a:lnTo>
                <a:lnTo>
                  <a:pt x="1587" y="1104"/>
                </a:lnTo>
                <a:lnTo>
                  <a:pt x="1576" y="1098"/>
                </a:lnTo>
                <a:lnTo>
                  <a:pt x="1548" y="1078"/>
                </a:lnTo>
                <a:lnTo>
                  <a:pt x="1463" y="1020"/>
                </a:lnTo>
                <a:lnTo>
                  <a:pt x="1337" y="933"/>
                </a:lnTo>
                <a:lnTo>
                  <a:pt x="1369" y="924"/>
                </a:lnTo>
                <a:lnTo>
                  <a:pt x="1387" y="920"/>
                </a:lnTo>
                <a:lnTo>
                  <a:pt x="1396" y="917"/>
                </a:lnTo>
                <a:lnTo>
                  <a:pt x="1393" y="913"/>
                </a:lnTo>
                <a:lnTo>
                  <a:pt x="1390" y="907"/>
                </a:lnTo>
                <a:lnTo>
                  <a:pt x="1380" y="894"/>
                </a:lnTo>
                <a:lnTo>
                  <a:pt x="1367" y="878"/>
                </a:lnTo>
                <a:lnTo>
                  <a:pt x="1350" y="859"/>
                </a:lnTo>
                <a:lnTo>
                  <a:pt x="1329" y="838"/>
                </a:lnTo>
                <a:lnTo>
                  <a:pt x="1306" y="813"/>
                </a:lnTo>
                <a:lnTo>
                  <a:pt x="1251" y="758"/>
                </a:lnTo>
                <a:lnTo>
                  <a:pt x="1219" y="729"/>
                </a:lnTo>
                <a:lnTo>
                  <a:pt x="1185" y="697"/>
                </a:lnTo>
                <a:lnTo>
                  <a:pt x="1147" y="664"/>
                </a:lnTo>
                <a:lnTo>
                  <a:pt x="1108" y="629"/>
                </a:lnTo>
                <a:lnTo>
                  <a:pt x="1066" y="594"/>
                </a:lnTo>
                <a:lnTo>
                  <a:pt x="1021" y="558"/>
                </a:lnTo>
                <a:lnTo>
                  <a:pt x="974" y="520"/>
                </a:lnTo>
                <a:lnTo>
                  <a:pt x="927" y="482"/>
                </a:lnTo>
                <a:lnTo>
                  <a:pt x="877" y="446"/>
                </a:lnTo>
                <a:lnTo>
                  <a:pt x="825" y="408"/>
                </a:lnTo>
                <a:lnTo>
                  <a:pt x="771" y="371"/>
                </a:lnTo>
                <a:lnTo>
                  <a:pt x="718" y="335"/>
                </a:lnTo>
                <a:lnTo>
                  <a:pt x="661" y="298"/>
                </a:lnTo>
                <a:lnTo>
                  <a:pt x="605" y="262"/>
                </a:lnTo>
                <a:lnTo>
                  <a:pt x="547" y="229"/>
                </a:lnTo>
                <a:lnTo>
                  <a:pt x="487" y="195"/>
                </a:lnTo>
                <a:lnTo>
                  <a:pt x="458" y="179"/>
                </a:lnTo>
                <a:lnTo>
                  <a:pt x="428" y="164"/>
                </a:lnTo>
                <a:lnTo>
                  <a:pt x="369" y="133"/>
                </a:lnTo>
                <a:lnTo>
                  <a:pt x="308" y="106"/>
                </a:lnTo>
                <a:lnTo>
                  <a:pt x="277" y="93"/>
                </a:lnTo>
                <a:lnTo>
                  <a:pt x="245" y="79"/>
                </a:lnTo>
                <a:lnTo>
                  <a:pt x="215" y="68"/>
                </a:lnTo>
                <a:lnTo>
                  <a:pt x="184" y="56"/>
                </a:lnTo>
                <a:lnTo>
                  <a:pt x="154" y="45"/>
                </a:lnTo>
                <a:lnTo>
                  <a:pt x="122" y="35"/>
                </a:lnTo>
                <a:lnTo>
                  <a:pt x="92" y="24"/>
                </a:lnTo>
                <a:lnTo>
                  <a:pt x="61" y="16"/>
                </a:lnTo>
                <a:lnTo>
                  <a:pt x="31" y="7"/>
                </a:lnTo>
                <a:lnTo>
                  <a:pt x="0" y="0"/>
                </a:lnTo>
                <a:close/>
              </a:path>
            </a:pathLst>
          </a:custGeom>
          <a:solidFill>
            <a:srgbClr val="FF0000">
              <a:alpha val="75000"/>
            </a:srgbClr>
          </a:solidFill>
          <a:ln w="9525">
            <a:noFill/>
            <a:round/>
            <a:headEnd/>
            <a:tailEnd/>
          </a:ln>
        </p:spPr>
        <p:txBody>
          <a:bodyPr/>
          <a:lstStyle/>
          <a:p>
            <a:endParaRPr lang="fr-FR"/>
          </a:p>
        </p:txBody>
      </p:sp>
      <p:sp>
        <p:nvSpPr>
          <p:cNvPr id="595122" name="AutoShape 178"/>
          <p:cNvSpPr>
            <a:spLocks noChangeArrowheads="1"/>
          </p:cNvSpPr>
          <p:nvPr>
            <p:custDataLst>
              <p:tags r:id="rId13"/>
            </p:custDataLst>
          </p:nvPr>
        </p:nvSpPr>
        <p:spPr bwMode="auto">
          <a:xfrm>
            <a:off x="5976938" y="2424113"/>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95103"/>
                                        </p:tgtEl>
                                        <p:attrNameLst>
                                          <p:attrName>style.visibility</p:attrName>
                                        </p:attrNameLst>
                                      </p:cBhvr>
                                      <p:to>
                                        <p:strVal val="visible"/>
                                      </p:to>
                                    </p:set>
                                    <p:animEffect transition="in" filter="box(out)">
                                      <p:cBhvr>
                                        <p:cTn id="7" dur="2000"/>
                                        <p:tgtEl>
                                          <p:spTgt spid="595103"/>
                                        </p:tgtEl>
                                      </p:cBhvr>
                                    </p:animEffect>
                                  </p:childTnLst>
                                </p:cTn>
                              </p:par>
                              <p:par>
                                <p:cTn id="8" presetID="4" presetClass="entr" presetSubtype="32" fill="hold" nodeType="withEffect">
                                  <p:stCondLst>
                                    <p:cond delay="0"/>
                                  </p:stCondLst>
                                  <p:childTnLst>
                                    <p:set>
                                      <p:cBhvr>
                                        <p:cTn id="9" dur="1" fill="hold">
                                          <p:stCondLst>
                                            <p:cond delay="0"/>
                                          </p:stCondLst>
                                        </p:cTn>
                                        <p:tgtEl>
                                          <p:spTgt spid="595105"/>
                                        </p:tgtEl>
                                        <p:attrNameLst>
                                          <p:attrName>style.visibility</p:attrName>
                                        </p:attrNameLst>
                                      </p:cBhvr>
                                      <p:to>
                                        <p:strVal val="visible"/>
                                      </p:to>
                                    </p:set>
                                    <p:animEffect transition="in" filter="box(out)">
                                      <p:cBhvr>
                                        <p:cTn id="10" dur="2000"/>
                                        <p:tgtEl>
                                          <p:spTgt spid="595105"/>
                                        </p:tgtEl>
                                      </p:cBhvr>
                                    </p:animEffect>
                                  </p:childTnLst>
                                </p:cTn>
                              </p:par>
                              <p:par>
                                <p:cTn id="11" presetID="4" presetClass="entr" presetSubtype="32" fill="hold" grpId="0" nodeType="withEffect">
                                  <p:stCondLst>
                                    <p:cond delay="0"/>
                                  </p:stCondLst>
                                  <p:childTnLst>
                                    <p:set>
                                      <p:cBhvr>
                                        <p:cTn id="12" dur="1" fill="hold">
                                          <p:stCondLst>
                                            <p:cond delay="0"/>
                                          </p:stCondLst>
                                        </p:cTn>
                                        <p:tgtEl>
                                          <p:spTgt spid="595109"/>
                                        </p:tgtEl>
                                        <p:attrNameLst>
                                          <p:attrName>style.visibility</p:attrName>
                                        </p:attrNameLst>
                                      </p:cBhvr>
                                      <p:to>
                                        <p:strVal val="visible"/>
                                      </p:to>
                                    </p:set>
                                    <p:animEffect transition="in" filter="box(out)">
                                      <p:cBhvr>
                                        <p:cTn id="13" dur="2000"/>
                                        <p:tgtEl>
                                          <p:spTgt spid="595109"/>
                                        </p:tgtEl>
                                      </p:cBhvr>
                                    </p:animEffect>
                                  </p:childTnLst>
                                </p:cTn>
                              </p:par>
                              <p:par>
                                <p:cTn id="14" presetID="4" presetClass="entr" presetSubtype="32" fill="hold" grpId="0" nodeType="withEffect">
                                  <p:stCondLst>
                                    <p:cond delay="0"/>
                                  </p:stCondLst>
                                  <p:childTnLst>
                                    <p:set>
                                      <p:cBhvr>
                                        <p:cTn id="15" dur="1" fill="hold">
                                          <p:stCondLst>
                                            <p:cond delay="0"/>
                                          </p:stCondLst>
                                        </p:cTn>
                                        <p:tgtEl>
                                          <p:spTgt spid="595101"/>
                                        </p:tgtEl>
                                        <p:attrNameLst>
                                          <p:attrName>style.visibility</p:attrName>
                                        </p:attrNameLst>
                                      </p:cBhvr>
                                      <p:to>
                                        <p:strVal val="visible"/>
                                      </p:to>
                                    </p:set>
                                    <p:animEffect transition="in" filter="box(out)">
                                      <p:cBhvr>
                                        <p:cTn id="16" dur="500"/>
                                        <p:tgtEl>
                                          <p:spTgt spid="595101"/>
                                        </p:tgtEl>
                                      </p:cBhvr>
                                    </p:animEffect>
                                  </p:childTnLst>
                                </p:cTn>
                              </p:par>
                              <p:par>
                                <p:cTn id="17" presetID="4" presetClass="entr" presetSubtype="16" fill="hold" nodeType="withEffect">
                                  <p:stCondLst>
                                    <p:cond delay="0"/>
                                  </p:stCondLst>
                                  <p:childTnLst>
                                    <p:set>
                                      <p:cBhvr>
                                        <p:cTn id="18" dur="1" fill="hold">
                                          <p:stCondLst>
                                            <p:cond delay="0"/>
                                          </p:stCondLst>
                                        </p:cTn>
                                        <p:tgtEl>
                                          <p:spTgt spid="595104"/>
                                        </p:tgtEl>
                                        <p:attrNameLst>
                                          <p:attrName>style.visibility</p:attrName>
                                        </p:attrNameLst>
                                      </p:cBhvr>
                                      <p:to>
                                        <p:strVal val="visible"/>
                                      </p:to>
                                    </p:set>
                                    <p:animEffect transition="in" filter="box(in)">
                                      <p:cBhvr>
                                        <p:cTn id="19" dur="500"/>
                                        <p:tgtEl>
                                          <p:spTgt spid="59510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95107"/>
                                        </p:tgtEl>
                                        <p:attrNameLst>
                                          <p:attrName>style.visibility</p:attrName>
                                        </p:attrNameLst>
                                      </p:cBhvr>
                                      <p:to>
                                        <p:strVal val="visible"/>
                                      </p:to>
                                    </p:set>
                                    <p:anim calcmode="lin" valueType="num">
                                      <p:cBhvr additive="base">
                                        <p:cTn id="24" dur="2000" fill="hold"/>
                                        <p:tgtEl>
                                          <p:spTgt spid="595107"/>
                                        </p:tgtEl>
                                        <p:attrNameLst>
                                          <p:attrName>ppt_x</p:attrName>
                                        </p:attrNameLst>
                                      </p:cBhvr>
                                      <p:tavLst>
                                        <p:tav tm="0">
                                          <p:val>
                                            <p:strVal val="#ppt_x"/>
                                          </p:val>
                                        </p:tav>
                                        <p:tav tm="100000">
                                          <p:val>
                                            <p:strVal val="#ppt_x"/>
                                          </p:val>
                                        </p:tav>
                                      </p:tavLst>
                                    </p:anim>
                                    <p:anim calcmode="lin" valueType="num">
                                      <p:cBhvr additive="base">
                                        <p:cTn id="25" dur="2000" fill="hold"/>
                                        <p:tgtEl>
                                          <p:spTgt spid="59510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595094"/>
                                        </p:tgtEl>
                                        <p:attrNameLst>
                                          <p:attrName>style.visibility</p:attrName>
                                        </p:attrNameLst>
                                      </p:cBhvr>
                                      <p:to>
                                        <p:strVal val="visible"/>
                                      </p:to>
                                    </p:set>
                                    <p:animEffect transition="in" filter="checkerboard(across)">
                                      <p:cBhvr>
                                        <p:cTn id="30" dur="500"/>
                                        <p:tgtEl>
                                          <p:spTgt spid="595094"/>
                                        </p:tgtEl>
                                      </p:cBhvr>
                                    </p:animEffect>
                                  </p:childTnLst>
                                </p:cTn>
                              </p:par>
                              <p:par>
                                <p:cTn id="31" presetID="5" presetClass="entr" presetSubtype="10" fill="hold" nodeType="withEffect">
                                  <p:stCondLst>
                                    <p:cond delay="0"/>
                                  </p:stCondLst>
                                  <p:childTnLst>
                                    <p:set>
                                      <p:cBhvr>
                                        <p:cTn id="32" dur="1" fill="hold">
                                          <p:stCondLst>
                                            <p:cond delay="0"/>
                                          </p:stCondLst>
                                        </p:cTn>
                                        <p:tgtEl>
                                          <p:spTgt spid="595095"/>
                                        </p:tgtEl>
                                        <p:attrNameLst>
                                          <p:attrName>style.visibility</p:attrName>
                                        </p:attrNameLst>
                                      </p:cBhvr>
                                      <p:to>
                                        <p:strVal val="visible"/>
                                      </p:to>
                                    </p:set>
                                    <p:animEffect transition="in" filter="checkerboard(across)">
                                      <p:cBhvr>
                                        <p:cTn id="33" dur="500"/>
                                        <p:tgtEl>
                                          <p:spTgt spid="595095"/>
                                        </p:tgtEl>
                                      </p:cBhvr>
                                    </p:animEffect>
                                  </p:childTnLst>
                                </p:cTn>
                              </p:par>
                              <p:par>
                                <p:cTn id="34" presetID="5" presetClass="entr" presetSubtype="10" fill="hold" nodeType="withEffect">
                                  <p:stCondLst>
                                    <p:cond delay="0"/>
                                  </p:stCondLst>
                                  <p:childTnLst>
                                    <p:set>
                                      <p:cBhvr>
                                        <p:cTn id="35" dur="1" fill="hold">
                                          <p:stCondLst>
                                            <p:cond delay="0"/>
                                          </p:stCondLst>
                                        </p:cTn>
                                        <p:tgtEl>
                                          <p:spTgt spid="595096"/>
                                        </p:tgtEl>
                                        <p:attrNameLst>
                                          <p:attrName>style.visibility</p:attrName>
                                        </p:attrNameLst>
                                      </p:cBhvr>
                                      <p:to>
                                        <p:strVal val="visible"/>
                                      </p:to>
                                    </p:set>
                                    <p:animEffect transition="in" filter="checkerboard(across)">
                                      <p:cBhvr>
                                        <p:cTn id="36" dur="500"/>
                                        <p:tgtEl>
                                          <p:spTgt spid="595096"/>
                                        </p:tgtEl>
                                      </p:cBhvr>
                                    </p:animEffect>
                                  </p:childTnLst>
                                </p:cTn>
                              </p:par>
                              <p:par>
                                <p:cTn id="37" presetID="5" presetClass="entr" presetSubtype="10" fill="hold" nodeType="withEffect">
                                  <p:stCondLst>
                                    <p:cond delay="0"/>
                                  </p:stCondLst>
                                  <p:childTnLst>
                                    <p:set>
                                      <p:cBhvr>
                                        <p:cTn id="38" dur="1" fill="hold">
                                          <p:stCondLst>
                                            <p:cond delay="0"/>
                                          </p:stCondLst>
                                        </p:cTn>
                                        <p:tgtEl>
                                          <p:spTgt spid="595097"/>
                                        </p:tgtEl>
                                        <p:attrNameLst>
                                          <p:attrName>style.visibility</p:attrName>
                                        </p:attrNameLst>
                                      </p:cBhvr>
                                      <p:to>
                                        <p:strVal val="visible"/>
                                      </p:to>
                                    </p:set>
                                    <p:animEffect transition="in" filter="checkerboard(across)">
                                      <p:cBhvr>
                                        <p:cTn id="39" dur="500"/>
                                        <p:tgtEl>
                                          <p:spTgt spid="595097"/>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595117"/>
                                        </p:tgtEl>
                                        <p:attrNameLst>
                                          <p:attrName>style.visibility</p:attrName>
                                        </p:attrNameLst>
                                      </p:cBhvr>
                                      <p:to>
                                        <p:strVal val="visible"/>
                                      </p:to>
                                    </p:set>
                                    <p:animEffect transition="in" filter="checkerboard(across)">
                                      <p:cBhvr>
                                        <p:cTn id="42" dur="500"/>
                                        <p:tgtEl>
                                          <p:spTgt spid="595117"/>
                                        </p:tgtEl>
                                      </p:cBhvr>
                                    </p:animEffect>
                                  </p:childTnLst>
                                </p:cTn>
                              </p:par>
                              <p:par>
                                <p:cTn id="43" presetID="5" presetClass="entr" presetSubtype="10" fill="hold" grpId="0" nodeType="withEffect">
                                  <p:stCondLst>
                                    <p:cond delay="0"/>
                                  </p:stCondLst>
                                  <p:childTnLst>
                                    <p:set>
                                      <p:cBhvr>
                                        <p:cTn id="44" dur="1" fill="hold">
                                          <p:stCondLst>
                                            <p:cond delay="0"/>
                                          </p:stCondLst>
                                        </p:cTn>
                                        <p:tgtEl>
                                          <p:spTgt spid="595118"/>
                                        </p:tgtEl>
                                        <p:attrNameLst>
                                          <p:attrName>style.visibility</p:attrName>
                                        </p:attrNameLst>
                                      </p:cBhvr>
                                      <p:to>
                                        <p:strVal val="visible"/>
                                      </p:to>
                                    </p:set>
                                    <p:animEffect transition="in" filter="checkerboard(across)">
                                      <p:cBhvr>
                                        <p:cTn id="45" dur="500"/>
                                        <p:tgtEl>
                                          <p:spTgt spid="595118"/>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595119"/>
                                        </p:tgtEl>
                                        <p:attrNameLst>
                                          <p:attrName>style.visibility</p:attrName>
                                        </p:attrNameLst>
                                      </p:cBhvr>
                                      <p:to>
                                        <p:strVal val="visible"/>
                                      </p:to>
                                    </p:set>
                                    <p:animEffect transition="in" filter="checkerboard(across)">
                                      <p:cBhvr>
                                        <p:cTn id="48" dur="500"/>
                                        <p:tgtEl>
                                          <p:spTgt spid="595119"/>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595120"/>
                                        </p:tgtEl>
                                        <p:attrNameLst>
                                          <p:attrName>style.visibility</p:attrName>
                                        </p:attrNameLst>
                                      </p:cBhvr>
                                      <p:to>
                                        <p:strVal val="visible"/>
                                      </p:to>
                                    </p:set>
                                    <p:animEffect transition="in" filter="checkerboard(across)">
                                      <p:cBhvr>
                                        <p:cTn id="51" dur="500"/>
                                        <p:tgtEl>
                                          <p:spTgt spid="595120"/>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3" fill="hold" grpId="0" nodeType="clickEffect">
                                  <p:stCondLst>
                                    <p:cond delay="0"/>
                                  </p:stCondLst>
                                  <p:childTnLst>
                                    <p:set>
                                      <p:cBhvr>
                                        <p:cTn id="55" dur="1" fill="hold">
                                          <p:stCondLst>
                                            <p:cond delay="0"/>
                                          </p:stCondLst>
                                        </p:cTn>
                                        <p:tgtEl>
                                          <p:spTgt spid="595106"/>
                                        </p:tgtEl>
                                        <p:attrNameLst>
                                          <p:attrName>style.visibility</p:attrName>
                                        </p:attrNameLst>
                                      </p:cBhvr>
                                      <p:to>
                                        <p:strVal val="visible"/>
                                      </p:to>
                                    </p:set>
                                    <p:animEffect transition="in" filter="strips(upRight)">
                                      <p:cBhvr>
                                        <p:cTn id="56" dur="2000"/>
                                        <p:tgtEl>
                                          <p:spTgt spid="595106"/>
                                        </p:tgtEl>
                                      </p:cBhvr>
                                    </p:animEffect>
                                  </p:childTnLst>
                                </p:cTn>
                              </p:par>
                              <p:par>
                                <p:cTn id="57" presetID="18" presetClass="entr" presetSubtype="3" fill="hold" grpId="0" nodeType="withEffect">
                                  <p:stCondLst>
                                    <p:cond delay="0"/>
                                  </p:stCondLst>
                                  <p:childTnLst>
                                    <p:set>
                                      <p:cBhvr>
                                        <p:cTn id="58" dur="1" fill="hold">
                                          <p:stCondLst>
                                            <p:cond delay="0"/>
                                          </p:stCondLst>
                                        </p:cTn>
                                        <p:tgtEl>
                                          <p:spTgt spid="595110"/>
                                        </p:tgtEl>
                                        <p:attrNameLst>
                                          <p:attrName>style.visibility</p:attrName>
                                        </p:attrNameLst>
                                      </p:cBhvr>
                                      <p:to>
                                        <p:strVal val="visible"/>
                                      </p:to>
                                    </p:set>
                                    <p:animEffect transition="in" filter="strips(upRight)">
                                      <p:cBhvr>
                                        <p:cTn id="59" dur="2000"/>
                                        <p:tgtEl>
                                          <p:spTgt spid="595110"/>
                                        </p:tgtEl>
                                      </p:cBhvr>
                                    </p:animEffect>
                                  </p:childTnLst>
                                </p:cTn>
                              </p:par>
                              <p:par>
                                <p:cTn id="60" presetID="18" presetClass="entr" presetSubtype="3" fill="hold" grpId="0" nodeType="withEffect">
                                  <p:stCondLst>
                                    <p:cond delay="0"/>
                                  </p:stCondLst>
                                  <p:childTnLst>
                                    <p:set>
                                      <p:cBhvr>
                                        <p:cTn id="61" dur="1" fill="hold">
                                          <p:stCondLst>
                                            <p:cond delay="0"/>
                                          </p:stCondLst>
                                        </p:cTn>
                                        <p:tgtEl>
                                          <p:spTgt spid="595113"/>
                                        </p:tgtEl>
                                        <p:attrNameLst>
                                          <p:attrName>style.visibility</p:attrName>
                                        </p:attrNameLst>
                                      </p:cBhvr>
                                      <p:to>
                                        <p:strVal val="visible"/>
                                      </p:to>
                                    </p:set>
                                    <p:animEffect transition="in" filter="strips(upRight)">
                                      <p:cBhvr>
                                        <p:cTn id="62" dur="2000"/>
                                        <p:tgtEl>
                                          <p:spTgt spid="595113"/>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grpId="0" nodeType="clickEffect">
                                  <p:stCondLst>
                                    <p:cond delay="0"/>
                                  </p:stCondLst>
                                  <p:childTnLst>
                                    <p:set>
                                      <p:cBhvr>
                                        <p:cTn id="66" dur="1" fill="hold">
                                          <p:stCondLst>
                                            <p:cond delay="0"/>
                                          </p:stCondLst>
                                        </p:cTn>
                                        <p:tgtEl>
                                          <p:spTgt spid="595112"/>
                                        </p:tgtEl>
                                        <p:attrNameLst>
                                          <p:attrName>style.visibility</p:attrName>
                                        </p:attrNameLst>
                                      </p:cBhvr>
                                      <p:to>
                                        <p:strVal val="visible"/>
                                      </p:to>
                                    </p:set>
                                    <p:animEffect transition="in" filter="strips(downLeft)">
                                      <p:cBhvr>
                                        <p:cTn id="67" dur="2000"/>
                                        <p:tgtEl>
                                          <p:spTgt spid="595112"/>
                                        </p:tgtEl>
                                      </p:cBhvr>
                                    </p:animEffect>
                                  </p:childTnLst>
                                </p:cTn>
                              </p:par>
                              <p:par>
                                <p:cTn id="68" presetID="18" presetClass="entr" presetSubtype="12" fill="hold" grpId="0" nodeType="withEffect">
                                  <p:stCondLst>
                                    <p:cond delay="0"/>
                                  </p:stCondLst>
                                  <p:childTnLst>
                                    <p:set>
                                      <p:cBhvr>
                                        <p:cTn id="69" dur="1" fill="hold">
                                          <p:stCondLst>
                                            <p:cond delay="0"/>
                                          </p:stCondLst>
                                        </p:cTn>
                                        <p:tgtEl>
                                          <p:spTgt spid="595122"/>
                                        </p:tgtEl>
                                        <p:attrNameLst>
                                          <p:attrName>style.visibility</p:attrName>
                                        </p:attrNameLst>
                                      </p:cBhvr>
                                      <p:to>
                                        <p:strVal val="visible"/>
                                      </p:to>
                                    </p:set>
                                    <p:animEffect transition="in" filter="strips(downLeft)">
                                      <p:cBhvr>
                                        <p:cTn id="70" dur="2000"/>
                                        <p:tgtEl>
                                          <p:spTgt spid="595122"/>
                                        </p:tgtEl>
                                      </p:cBhvr>
                                    </p:animEffect>
                                  </p:childTnLst>
                                </p:cTn>
                              </p:par>
                              <p:par>
                                <p:cTn id="71" presetID="18" presetClass="entr" presetSubtype="12" fill="hold" grpId="0" nodeType="withEffect">
                                  <p:stCondLst>
                                    <p:cond delay="0"/>
                                  </p:stCondLst>
                                  <p:childTnLst>
                                    <p:set>
                                      <p:cBhvr>
                                        <p:cTn id="72" dur="1" fill="hold">
                                          <p:stCondLst>
                                            <p:cond delay="0"/>
                                          </p:stCondLst>
                                        </p:cTn>
                                        <p:tgtEl>
                                          <p:spTgt spid="595121"/>
                                        </p:tgtEl>
                                        <p:attrNameLst>
                                          <p:attrName>style.visibility</p:attrName>
                                        </p:attrNameLst>
                                      </p:cBhvr>
                                      <p:to>
                                        <p:strVal val="visible"/>
                                      </p:to>
                                    </p:set>
                                    <p:animEffect transition="in" filter="strips(downLeft)">
                                      <p:cBhvr>
                                        <p:cTn id="73" dur="2000"/>
                                        <p:tgtEl>
                                          <p:spTgt spid="595121"/>
                                        </p:tgtEl>
                                      </p:cBhvr>
                                    </p:animEffect>
                                  </p:childTnLst>
                                </p:cTn>
                              </p:par>
                            </p:childTnLst>
                          </p:cTn>
                        </p:par>
                      </p:childTnLst>
                    </p:cTn>
                  </p:par>
                  <p:par>
                    <p:cTn id="74" fill="hold">
                      <p:stCondLst>
                        <p:cond delay="indefinite"/>
                      </p:stCondLst>
                      <p:childTnLst>
                        <p:par>
                          <p:cTn id="75" fill="hold">
                            <p:stCondLst>
                              <p:cond delay="0"/>
                            </p:stCondLst>
                            <p:childTnLst>
                              <p:par>
                                <p:cTn id="76" presetID="18" presetClass="entr" presetSubtype="3" fill="hold" grpId="0" nodeType="clickEffect">
                                  <p:stCondLst>
                                    <p:cond delay="0"/>
                                  </p:stCondLst>
                                  <p:childTnLst>
                                    <p:set>
                                      <p:cBhvr>
                                        <p:cTn id="77" dur="1" fill="hold">
                                          <p:stCondLst>
                                            <p:cond delay="0"/>
                                          </p:stCondLst>
                                        </p:cTn>
                                        <p:tgtEl>
                                          <p:spTgt spid="595111"/>
                                        </p:tgtEl>
                                        <p:attrNameLst>
                                          <p:attrName>style.visibility</p:attrName>
                                        </p:attrNameLst>
                                      </p:cBhvr>
                                      <p:to>
                                        <p:strVal val="visible"/>
                                      </p:to>
                                    </p:set>
                                    <p:animEffect transition="in" filter="strips(upRight)">
                                      <p:cBhvr>
                                        <p:cTn id="78" dur="2000"/>
                                        <p:tgtEl>
                                          <p:spTgt spid="595111"/>
                                        </p:tgtEl>
                                      </p:cBhvr>
                                    </p:animEffect>
                                  </p:childTnLst>
                                </p:cTn>
                              </p:par>
                              <p:par>
                                <p:cTn id="79" presetID="18" presetClass="entr" presetSubtype="3" fill="hold" grpId="0" nodeType="withEffect">
                                  <p:stCondLst>
                                    <p:cond delay="0"/>
                                  </p:stCondLst>
                                  <p:childTnLst>
                                    <p:set>
                                      <p:cBhvr>
                                        <p:cTn id="80" dur="1" fill="hold">
                                          <p:stCondLst>
                                            <p:cond delay="0"/>
                                          </p:stCondLst>
                                        </p:cTn>
                                        <p:tgtEl>
                                          <p:spTgt spid="595108"/>
                                        </p:tgtEl>
                                        <p:attrNameLst>
                                          <p:attrName>style.visibility</p:attrName>
                                        </p:attrNameLst>
                                      </p:cBhvr>
                                      <p:to>
                                        <p:strVal val="visible"/>
                                      </p:to>
                                    </p:set>
                                    <p:animEffect transition="in" filter="strips(upRight)">
                                      <p:cBhvr>
                                        <p:cTn id="81" dur="2000"/>
                                        <p:tgtEl>
                                          <p:spTgt spid="595108"/>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ntr" presetSubtype="10" fill="hold" grpId="0" nodeType="clickEffect">
                                  <p:stCondLst>
                                    <p:cond delay="0"/>
                                  </p:stCondLst>
                                  <p:childTnLst>
                                    <p:set>
                                      <p:cBhvr>
                                        <p:cTn id="85" dur="1" fill="hold">
                                          <p:stCondLst>
                                            <p:cond delay="0"/>
                                          </p:stCondLst>
                                        </p:cTn>
                                        <p:tgtEl>
                                          <p:spTgt spid="595102"/>
                                        </p:tgtEl>
                                        <p:attrNameLst>
                                          <p:attrName>style.visibility</p:attrName>
                                        </p:attrNameLst>
                                      </p:cBhvr>
                                      <p:to>
                                        <p:strVal val="visible"/>
                                      </p:to>
                                    </p:set>
                                    <p:animEffect transition="in" filter="checkerboard(across)">
                                      <p:cBhvr>
                                        <p:cTn id="86" dur="2000"/>
                                        <p:tgtEl>
                                          <p:spTgt spid="595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101" grpId="0" animBg="1"/>
      <p:bldP spid="595102" grpId="0" animBg="1"/>
      <p:bldP spid="595103" grpId="0" animBg="1"/>
      <p:bldP spid="595106" grpId="0" animBg="1"/>
      <p:bldP spid="595107" grpId="0" animBg="1"/>
      <p:bldP spid="595108" grpId="0" animBg="1"/>
      <p:bldP spid="595109" grpId="0" animBg="1"/>
      <p:bldP spid="595110" grpId="0" animBg="1"/>
      <p:bldP spid="595111" grpId="0" animBg="1"/>
      <p:bldP spid="595112" grpId="0"/>
      <p:bldP spid="595113" grpId="0"/>
      <p:bldP spid="595117" grpId="0"/>
      <p:bldP spid="595118" grpId="0"/>
      <p:bldP spid="595119" grpId="0"/>
      <p:bldP spid="595120" grpId="0"/>
      <p:bldP spid="595121" grpId="0" animBg="1"/>
      <p:bldP spid="5951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custDataLst>
              <p:tags r:id="rId1"/>
            </p:custDataLst>
          </p:nvPr>
        </p:nvSpPr>
        <p:spPr>
          <a:xfrm>
            <a:off x="247161" y="187657"/>
            <a:ext cx="8534400" cy="758952"/>
          </a:xfrm>
        </p:spPr>
        <p:txBody>
          <a:bodyPr vert="horz" anchor="b">
            <a:normAutofit/>
          </a:bodyPr>
          <a:lstStyle/>
          <a:p>
            <a:r>
              <a:rPr lang="en-GB" sz="3000" b="1" dirty="0">
                <a:solidFill>
                  <a:srgbClr val="C00000"/>
                </a:solidFill>
              </a:rPr>
              <a:t>Cache de </a:t>
            </a:r>
            <a:r>
              <a:rPr lang="en-GB" sz="3000" b="1" dirty="0" err="1">
                <a:solidFill>
                  <a:srgbClr val="C00000"/>
                </a:solidFill>
              </a:rPr>
              <a:t>noms</a:t>
            </a:r>
            <a:r>
              <a:rPr lang="en-GB" sz="3000" b="1" dirty="0">
                <a:solidFill>
                  <a:srgbClr val="C00000"/>
                </a:solidFill>
              </a:rPr>
              <a:t> NetBIOS</a:t>
            </a:r>
            <a:endParaRPr lang="en-US" sz="3000" b="1" dirty="0">
              <a:solidFill>
                <a:srgbClr val="C00000"/>
              </a:solidFill>
            </a:endParaRPr>
          </a:p>
        </p:txBody>
      </p:sp>
      <p:pic>
        <p:nvPicPr>
          <p:cNvPr id="574528" name="Picture 64" descr="mod_4_2"/>
          <p:cNvPicPr>
            <a:picLocks noGrp="1" noChangeAspect="1" noChangeArrowheads="1"/>
          </p:cNvPicPr>
          <p:nvPr>
            <p:ph sz="quarter" idx="1"/>
          </p:nvPr>
        </p:nvPicPr>
        <p:blipFill>
          <a:blip r:embed="rId19"/>
          <a:srcRect/>
          <a:stretch>
            <a:fillRect/>
          </a:stretch>
        </p:blipFill>
        <p:spPr>
          <a:xfrm>
            <a:off x="2573712" y="1781299"/>
            <a:ext cx="6393289" cy="3398253"/>
          </a:xfrm>
          <a:noFill/>
          <a:ln/>
        </p:spPr>
      </p:pic>
      <p:sp>
        <p:nvSpPr>
          <p:cNvPr id="574504" name="AutoShape 40"/>
          <p:cNvSpPr>
            <a:spLocks noChangeArrowheads="1"/>
          </p:cNvSpPr>
          <p:nvPr>
            <p:custDataLst>
              <p:tags r:id="rId2"/>
            </p:custDataLst>
          </p:nvPr>
        </p:nvSpPr>
        <p:spPr bwMode="auto">
          <a:xfrm>
            <a:off x="6156325" y="6178089"/>
            <a:ext cx="2595789" cy="623888"/>
          </a:xfrm>
          <a:prstGeom prst="roundRect">
            <a:avLst>
              <a:gd name="adj" fmla="val 8153"/>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Noms d'hôtes résolus </a:t>
            </a:r>
            <a:endParaRPr lang="en-US" sz="2000"/>
          </a:p>
          <a:p>
            <a:pPr>
              <a:lnSpc>
                <a:spcPct val="85000"/>
              </a:lnSpc>
            </a:pPr>
            <a:r>
              <a:rPr lang="en-GB" sz="2000">
                <a:solidFill>
                  <a:srgbClr val="000000"/>
                </a:solidFill>
              </a:rPr>
              <a:t>à partir du serveur WINS</a:t>
            </a:r>
            <a:endParaRPr lang="en-US" sz="2000">
              <a:solidFill>
                <a:srgbClr val="000000"/>
              </a:solidFill>
            </a:endParaRPr>
          </a:p>
        </p:txBody>
      </p:sp>
      <p:sp>
        <p:nvSpPr>
          <p:cNvPr id="574469" name="Freeform 5"/>
          <p:cNvSpPr>
            <a:spLocks/>
          </p:cNvSpPr>
          <p:nvPr/>
        </p:nvSpPr>
        <p:spPr bwMode="auto">
          <a:xfrm>
            <a:off x="1846263" y="2483977"/>
            <a:ext cx="884237" cy="2627312"/>
          </a:xfrm>
          <a:custGeom>
            <a:avLst/>
            <a:gdLst/>
            <a:ahLst/>
            <a:cxnLst>
              <a:cxn ang="0">
                <a:pos x="0" y="1417"/>
              </a:cxn>
              <a:cxn ang="0">
                <a:pos x="795" y="0"/>
              </a:cxn>
              <a:cxn ang="0">
                <a:pos x="786" y="2048"/>
              </a:cxn>
              <a:cxn ang="0">
                <a:pos x="0" y="1417"/>
              </a:cxn>
            </a:cxnLst>
            <a:rect l="0" t="0" r="r" b="b"/>
            <a:pathLst>
              <a:path w="795" h="2048">
                <a:moveTo>
                  <a:pt x="0" y="1417"/>
                </a:moveTo>
                <a:lnTo>
                  <a:pt x="795" y="0"/>
                </a:lnTo>
                <a:lnTo>
                  <a:pt x="786" y="2048"/>
                </a:lnTo>
                <a:lnTo>
                  <a:pt x="0" y="1417"/>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a:p>
        </p:txBody>
      </p:sp>
      <p:pic>
        <p:nvPicPr>
          <p:cNvPr id="574502" name="Picture 38" descr="UserWithDesktopComputer01"/>
          <p:cNvPicPr>
            <a:picLocks noChangeAspect="1" noChangeArrowheads="1"/>
          </p:cNvPicPr>
          <p:nvPr/>
        </p:nvPicPr>
        <p:blipFill>
          <a:blip r:embed="rId20"/>
          <a:srcRect/>
          <a:stretch>
            <a:fillRect/>
          </a:stretch>
        </p:blipFill>
        <p:spPr bwMode="auto">
          <a:xfrm>
            <a:off x="511175" y="3566652"/>
            <a:ext cx="1612900" cy="1874837"/>
          </a:xfrm>
          <a:prstGeom prst="rect">
            <a:avLst/>
          </a:prstGeom>
          <a:noFill/>
        </p:spPr>
      </p:pic>
      <p:sp>
        <p:nvSpPr>
          <p:cNvPr id="574503" name="AutoShape 39"/>
          <p:cNvSpPr>
            <a:spLocks noChangeArrowheads="1"/>
          </p:cNvSpPr>
          <p:nvPr>
            <p:custDataLst>
              <p:tags r:id="rId3"/>
            </p:custDataLst>
          </p:nvPr>
        </p:nvSpPr>
        <p:spPr bwMode="auto">
          <a:xfrm>
            <a:off x="508000" y="3039602"/>
            <a:ext cx="1260475" cy="368300"/>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Computer1</a:t>
            </a:r>
            <a:endParaRPr lang="en-US" sz="2000"/>
          </a:p>
        </p:txBody>
      </p:sp>
      <p:sp>
        <p:nvSpPr>
          <p:cNvPr id="574475" name="AutoShape 11"/>
          <p:cNvSpPr>
            <a:spLocks noChangeArrowheads="1"/>
          </p:cNvSpPr>
          <p:nvPr>
            <p:custDataLst>
              <p:tags r:id="rId4"/>
            </p:custDataLst>
          </p:nvPr>
        </p:nvSpPr>
        <p:spPr bwMode="auto">
          <a:xfrm>
            <a:off x="4354286" y="6178089"/>
            <a:ext cx="1724252" cy="324311"/>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Fichier Lmhosts</a:t>
            </a:r>
            <a:endParaRPr lang="en-US" sz="2000"/>
          </a:p>
        </p:txBody>
      </p:sp>
      <p:sp>
        <p:nvSpPr>
          <p:cNvPr id="574479" name="AutoShape 15"/>
          <p:cNvSpPr>
            <a:spLocks noChangeArrowheads="1"/>
          </p:cNvSpPr>
          <p:nvPr>
            <p:custDataLst>
              <p:tags r:id="rId5"/>
            </p:custDataLst>
          </p:nvPr>
        </p:nvSpPr>
        <p:spPr bwMode="auto">
          <a:xfrm>
            <a:off x="638629" y="5778039"/>
            <a:ext cx="2399846" cy="623888"/>
          </a:xfrm>
          <a:prstGeom prst="roundRect">
            <a:avLst>
              <a:gd name="adj" fmla="val 8153"/>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Noms d'hôtes résolus </a:t>
            </a:r>
            <a:endParaRPr lang="en-US" sz="2000"/>
          </a:p>
          <a:p>
            <a:pPr>
              <a:lnSpc>
                <a:spcPct val="85000"/>
              </a:lnSpc>
            </a:pPr>
            <a:r>
              <a:rPr lang="en-GB" sz="2000">
                <a:solidFill>
                  <a:srgbClr val="000000"/>
                </a:solidFill>
              </a:rPr>
              <a:t>à partir de diffusions</a:t>
            </a:r>
            <a:endParaRPr lang="en-US" sz="2000">
              <a:solidFill>
                <a:srgbClr val="000000"/>
              </a:solidFill>
            </a:endParaRPr>
          </a:p>
        </p:txBody>
      </p:sp>
      <p:sp>
        <p:nvSpPr>
          <p:cNvPr id="574500" name="AutoShape 36"/>
          <p:cNvSpPr>
            <a:spLocks noChangeArrowheads="1"/>
          </p:cNvSpPr>
          <p:nvPr>
            <p:custDataLst>
              <p:tags r:id="rId6"/>
            </p:custDataLst>
          </p:nvPr>
        </p:nvSpPr>
        <p:spPr bwMode="auto">
          <a:xfrm>
            <a:off x="336476" y="1517970"/>
            <a:ext cx="8486890" cy="1937744"/>
          </a:xfrm>
          <a:prstGeom prst="roundRect">
            <a:avLst>
              <a:gd name="adj" fmla="val 23843"/>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85000"/>
              </a:lnSpc>
            </a:pPr>
            <a:r>
              <a:rPr lang="en-GB" sz="2400" dirty="0" err="1" smtClean="0">
                <a:solidFill>
                  <a:srgbClr val="000000"/>
                </a:solidFill>
              </a:rPr>
              <a:t>C’est</a:t>
            </a:r>
            <a:r>
              <a:rPr lang="en-GB" sz="2400" dirty="0" smtClean="0">
                <a:solidFill>
                  <a:srgbClr val="000000"/>
                </a:solidFill>
              </a:rPr>
              <a:t> </a:t>
            </a:r>
            <a:r>
              <a:rPr lang="en-GB" sz="2400" dirty="0">
                <a:solidFill>
                  <a:srgbClr val="000000"/>
                </a:solidFill>
              </a:rPr>
              <a:t>un emplacement </a:t>
            </a:r>
            <a:r>
              <a:rPr lang="en-GB" sz="2400" dirty="0" err="1">
                <a:solidFill>
                  <a:srgbClr val="000000"/>
                </a:solidFill>
              </a:rPr>
              <a:t>mémoire</a:t>
            </a:r>
            <a:r>
              <a:rPr lang="en-GB" sz="2400" dirty="0">
                <a:solidFill>
                  <a:srgbClr val="000000"/>
                </a:solidFill>
              </a:rPr>
              <a:t> qui </a:t>
            </a:r>
            <a:r>
              <a:rPr lang="en-GB" sz="2400" dirty="0" err="1" smtClean="0">
                <a:solidFill>
                  <a:srgbClr val="000000"/>
                </a:solidFill>
              </a:rPr>
              <a:t>stocke</a:t>
            </a:r>
            <a:r>
              <a:rPr lang="en-GB" sz="2400" dirty="0" smtClean="0">
                <a:solidFill>
                  <a:srgbClr val="000000"/>
                </a:solidFill>
              </a:rPr>
              <a:t> les </a:t>
            </a:r>
            <a:r>
              <a:rPr lang="en-GB" sz="2400" dirty="0" err="1">
                <a:solidFill>
                  <a:srgbClr val="000000"/>
                </a:solidFill>
              </a:rPr>
              <a:t>noms</a:t>
            </a:r>
            <a:r>
              <a:rPr lang="en-GB" sz="2400" dirty="0">
                <a:solidFill>
                  <a:srgbClr val="000000"/>
                </a:solidFill>
              </a:rPr>
              <a:t> NetBIOS </a:t>
            </a:r>
            <a:r>
              <a:rPr lang="en-GB" sz="2400" dirty="0" err="1">
                <a:solidFill>
                  <a:srgbClr val="000000"/>
                </a:solidFill>
              </a:rPr>
              <a:t>récemment</a:t>
            </a:r>
            <a:r>
              <a:rPr lang="en-GB" sz="2400" dirty="0">
                <a:solidFill>
                  <a:srgbClr val="000000"/>
                </a:solidFill>
              </a:rPr>
              <a:t> </a:t>
            </a:r>
            <a:r>
              <a:rPr lang="en-GB" sz="2400" dirty="0" err="1">
                <a:solidFill>
                  <a:srgbClr val="000000"/>
                </a:solidFill>
              </a:rPr>
              <a:t>résolus</a:t>
            </a:r>
            <a:r>
              <a:rPr lang="en-GB" sz="2400" dirty="0">
                <a:solidFill>
                  <a:srgbClr val="000000"/>
                </a:solidFill>
              </a:rPr>
              <a:t> en </a:t>
            </a:r>
            <a:r>
              <a:rPr lang="en-GB" sz="2400" dirty="0" err="1">
                <a:solidFill>
                  <a:srgbClr val="000000"/>
                </a:solidFill>
              </a:rPr>
              <a:t>adresses</a:t>
            </a:r>
            <a:r>
              <a:rPr lang="en-GB" sz="2400" dirty="0">
                <a:solidFill>
                  <a:srgbClr val="000000"/>
                </a:solidFill>
              </a:rPr>
              <a:t> IP, </a:t>
            </a:r>
            <a:r>
              <a:rPr lang="en-GB" sz="2400" dirty="0" err="1">
                <a:solidFill>
                  <a:srgbClr val="000000"/>
                </a:solidFill>
              </a:rPr>
              <a:t>que</a:t>
            </a:r>
            <a:r>
              <a:rPr lang="en-GB" sz="2400" dirty="0">
                <a:solidFill>
                  <a:srgbClr val="000000"/>
                </a:solidFill>
              </a:rPr>
              <a:t> </a:t>
            </a:r>
            <a:r>
              <a:rPr lang="en-GB" sz="2400" dirty="0" err="1">
                <a:solidFill>
                  <a:srgbClr val="000000"/>
                </a:solidFill>
              </a:rPr>
              <a:t>ce</a:t>
            </a:r>
            <a:r>
              <a:rPr lang="en-GB" sz="2400" dirty="0">
                <a:solidFill>
                  <a:srgbClr val="000000"/>
                </a:solidFill>
              </a:rPr>
              <a:t> </a:t>
            </a:r>
            <a:r>
              <a:rPr lang="en-GB" sz="2400" dirty="0" err="1">
                <a:solidFill>
                  <a:srgbClr val="000000"/>
                </a:solidFill>
              </a:rPr>
              <a:t>soit</a:t>
            </a:r>
            <a:r>
              <a:rPr lang="en-GB" sz="2400" dirty="0">
                <a:solidFill>
                  <a:srgbClr val="000000"/>
                </a:solidFill>
              </a:rPr>
              <a:t> </a:t>
            </a:r>
            <a:r>
              <a:rPr lang="en-GB" sz="2400" dirty="0" smtClean="0">
                <a:solidFill>
                  <a:srgbClr val="000000"/>
                </a:solidFill>
              </a:rPr>
              <a:t>via:</a:t>
            </a:r>
          </a:p>
          <a:p>
            <a:pPr lvl="1" algn="l" eaLnBrk="1" hangingPunct="1">
              <a:lnSpc>
                <a:spcPct val="85000"/>
              </a:lnSpc>
              <a:buFont typeface="Wingdings" pitchFamily="2" charset="2"/>
              <a:buChar char="q"/>
            </a:pPr>
            <a:r>
              <a:rPr lang="en-GB" sz="2400" dirty="0" smtClean="0">
                <a:solidFill>
                  <a:srgbClr val="000000"/>
                </a:solidFill>
              </a:rPr>
              <a:t> Un </a:t>
            </a:r>
            <a:r>
              <a:rPr lang="en-GB" sz="2400" dirty="0" err="1">
                <a:solidFill>
                  <a:srgbClr val="000000"/>
                </a:solidFill>
              </a:rPr>
              <a:t>serveur</a:t>
            </a:r>
            <a:r>
              <a:rPr lang="en-GB" sz="2400" dirty="0">
                <a:solidFill>
                  <a:srgbClr val="000000"/>
                </a:solidFill>
              </a:rPr>
              <a:t> </a:t>
            </a:r>
            <a:r>
              <a:rPr lang="en-GB" sz="2400" dirty="0" smtClean="0">
                <a:solidFill>
                  <a:srgbClr val="000000"/>
                </a:solidFill>
              </a:rPr>
              <a:t>WINS</a:t>
            </a:r>
          </a:p>
          <a:p>
            <a:pPr lvl="1" algn="l" eaLnBrk="1" hangingPunct="1">
              <a:lnSpc>
                <a:spcPct val="85000"/>
              </a:lnSpc>
              <a:buFont typeface="Wingdings" pitchFamily="2" charset="2"/>
              <a:buChar char="q"/>
            </a:pPr>
            <a:r>
              <a:rPr lang="en-GB" sz="2400" dirty="0" smtClean="0">
                <a:solidFill>
                  <a:srgbClr val="000000"/>
                </a:solidFill>
              </a:rPr>
              <a:t> </a:t>
            </a:r>
            <a:r>
              <a:rPr lang="en-GB" sz="2400" dirty="0" err="1" smtClean="0">
                <a:solidFill>
                  <a:srgbClr val="000000"/>
                </a:solidFill>
              </a:rPr>
              <a:t>Une</a:t>
            </a:r>
            <a:r>
              <a:rPr lang="en-GB" sz="2400" dirty="0" smtClean="0">
                <a:solidFill>
                  <a:srgbClr val="000000"/>
                </a:solidFill>
              </a:rPr>
              <a:t> </a:t>
            </a:r>
            <a:r>
              <a:rPr lang="en-GB" sz="2400" dirty="0">
                <a:solidFill>
                  <a:srgbClr val="000000"/>
                </a:solidFill>
              </a:rPr>
              <a:t>diffusion </a:t>
            </a:r>
            <a:endParaRPr lang="en-GB" sz="2400" dirty="0" smtClean="0">
              <a:solidFill>
                <a:srgbClr val="000000"/>
              </a:solidFill>
            </a:endParaRPr>
          </a:p>
          <a:p>
            <a:pPr lvl="1" algn="l" eaLnBrk="1" hangingPunct="1">
              <a:lnSpc>
                <a:spcPct val="85000"/>
              </a:lnSpc>
              <a:buFont typeface="Wingdings" pitchFamily="2" charset="2"/>
              <a:buChar char="q"/>
            </a:pPr>
            <a:r>
              <a:rPr lang="en-GB" sz="2400" dirty="0" smtClean="0">
                <a:solidFill>
                  <a:srgbClr val="000000"/>
                </a:solidFill>
              </a:rPr>
              <a:t> Le </a:t>
            </a:r>
            <a:r>
              <a:rPr lang="en-GB" sz="2400" dirty="0" err="1">
                <a:solidFill>
                  <a:srgbClr val="000000"/>
                </a:solidFill>
              </a:rPr>
              <a:t>fichier</a:t>
            </a:r>
            <a:r>
              <a:rPr lang="en-GB" sz="2400" dirty="0">
                <a:solidFill>
                  <a:srgbClr val="000000"/>
                </a:solidFill>
              </a:rPr>
              <a:t> </a:t>
            </a:r>
            <a:r>
              <a:rPr lang="en-GB" sz="2400" dirty="0" err="1">
                <a:solidFill>
                  <a:srgbClr val="000000"/>
                </a:solidFill>
              </a:rPr>
              <a:t>Lmhosts</a:t>
            </a:r>
            <a:endParaRPr lang="en-US" sz="2400" dirty="0"/>
          </a:p>
        </p:txBody>
      </p:sp>
      <p:pic>
        <p:nvPicPr>
          <p:cNvPr id="574471" name="Picture 7" descr="Server01"/>
          <p:cNvPicPr>
            <a:picLocks noChangeAspect="1" noChangeArrowheads="1"/>
          </p:cNvPicPr>
          <p:nvPr/>
        </p:nvPicPr>
        <p:blipFill>
          <a:blip r:embed="rId21" cstate="print"/>
          <a:srcRect/>
          <a:stretch>
            <a:fillRect/>
          </a:stretch>
        </p:blipFill>
        <p:spPr bwMode="auto">
          <a:xfrm>
            <a:off x="6999288" y="5022389"/>
            <a:ext cx="1027112" cy="1208088"/>
          </a:xfrm>
          <a:prstGeom prst="rect">
            <a:avLst/>
          </a:prstGeom>
          <a:noFill/>
        </p:spPr>
      </p:pic>
      <p:pic>
        <p:nvPicPr>
          <p:cNvPr id="574474" name="Picture 10" descr="Document_Writing01"/>
          <p:cNvPicPr>
            <a:picLocks noChangeAspect="1" noChangeArrowheads="1"/>
          </p:cNvPicPr>
          <p:nvPr/>
        </p:nvPicPr>
        <p:blipFill>
          <a:blip r:embed="rId22" cstate="print"/>
          <a:srcRect/>
          <a:stretch>
            <a:fillRect/>
          </a:stretch>
        </p:blipFill>
        <p:spPr bwMode="auto">
          <a:xfrm>
            <a:off x="5122863" y="5011277"/>
            <a:ext cx="673100" cy="1095375"/>
          </a:xfrm>
          <a:prstGeom prst="rect">
            <a:avLst/>
          </a:prstGeom>
          <a:noFill/>
        </p:spPr>
      </p:pic>
      <p:pic>
        <p:nvPicPr>
          <p:cNvPr id="574510" name="Picture 46" descr="Server01"/>
          <p:cNvPicPr>
            <a:picLocks noChangeAspect="1" noChangeArrowheads="1"/>
          </p:cNvPicPr>
          <p:nvPr>
            <p:custDataLst>
              <p:tags r:id="rId7"/>
            </p:custDataLst>
          </p:nvPr>
        </p:nvPicPr>
        <p:blipFill>
          <a:blip r:embed="rId23" cstate="print"/>
          <a:srcRect/>
          <a:stretch>
            <a:fillRect/>
          </a:stretch>
        </p:blipFill>
        <p:spPr bwMode="auto">
          <a:xfrm>
            <a:off x="3109913" y="5955839"/>
            <a:ext cx="774700" cy="909638"/>
          </a:xfrm>
          <a:prstGeom prst="rect">
            <a:avLst/>
          </a:prstGeom>
          <a:noFill/>
        </p:spPr>
      </p:pic>
      <p:grpSp>
        <p:nvGrpSpPr>
          <p:cNvPr id="574526" name="Group 47"/>
          <p:cNvGrpSpPr>
            <a:grpSpLocks/>
          </p:cNvGrpSpPr>
          <p:nvPr>
            <p:custDataLst>
              <p:tags r:id="rId8"/>
            </p:custDataLst>
          </p:nvPr>
        </p:nvGrpSpPr>
        <p:grpSpPr bwMode="auto">
          <a:xfrm>
            <a:off x="3111500" y="5000164"/>
            <a:ext cx="704850" cy="704850"/>
            <a:chOff x="1960" y="2912"/>
            <a:chExt cx="444" cy="444"/>
          </a:xfrm>
        </p:grpSpPr>
        <p:sp>
          <p:nvSpPr>
            <p:cNvPr id="574512" name="Oval 48"/>
            <p:cNvSpPr>
              <a:spLocks noChangeArrowheads="1"/>
            </p:cNvSpPr>
            <p:nvPr>
              <p:custDataLst>
                <p:tags r:id="rId12"/>
              </p:custDataLst>
            </p:nvPr>
          </p:nvSpPr>
          <p:spPr bwMode="auto">
            <a:xfrm>
              <a:off x="1960" y="2912"/>
              <a:ext cx="444" cy="444"/>
            </a:xfrm>
            <a:prstGeom prst="ellipse">
              <a:avLst/>
            </a:prstGeom>
            <a:solidFill>
              <a:schemeClr val="bg1"/>
            </a:solidFill>
            <a:ln w="38100" algn="ctr">
              <a:solidFill>
                <a:srgbClr val="CC0000"/>
              </a:solidFill>
              <a:round/>
              <a:headEnd/>
              <a:tailEnd/>
            </a:ln>
            <a:effectLst/>
          </p:spPr>
          <p:txBody>
            <a:bodyPr wrap="none" anchor="ctr"/>
            <a:lstStyle/>
            <a:p>
              <a:endParaRPr lang="fr-FR"/>
            </a:p>
          </p:txBody>
        </p:sp>
        <p:sp>
          <p:nvSpPr>
            <p:cNvPr id="574513" name="Oval 49"/>
            <p:cNvSpPr>
              <a:spLocks noChangeArrowheads="1"/>
            </p:cNvSpPr>
            <p:nvPr>
              <p:custDataLst>
                <p:tags r:id="rId13"/>
              </p:custDataLst>
            </p:nvPr>
          </p:nvSpPr>
          <p:spPr bwMode="auto">
            <a:xfrm>
              <a:off x="2018" y="2971"/>
              <a:ext cx="327" cy="327"/>
            </a:xfrm>
            <a:prstGeom prst="ellipse">
              <a:avLst/>
            </a:prstGeom>
            <a:solidFill>
              <a:schemeClr val="bg1"/>
            </a:solidFill>
            <a:ln w="28575" algn="ctr">
              <a:solidFill>
                <a:srgbClr val="CC0000"/>
              </a:solidFill>
              <a:round/>
              <a:headEnd/>
              <a:tailEnd/>
            </a:ln>
            <a:effectLst/>
          </p:spPr>
          <p:txBody>
            <a:bodyPr wrap="none" anchor="ctr"/>
            <a:lstStyle/>
            <a:p>
              <a:endParaRPr lang="fr-FR"/>
            </a:p>
          </p:txBody>
        </p:sp>
        <p:sp>
          <p:nvSpPr>
            <p:cNvPr id="574514" name="Oval 50"/>
            <p:cNvSpPr>
              <a:spLocks noChangeArrowheads="1"/>
            </p:cNvSpPr>
            <p:nvPr>
              <p:custDataLst>
                <p:tags r:id="rId14"/>
              </p:custDataLst>
            </p:nvPr>
          </p:nvSpPr>
          <p:spPr bwMode="auto">
            <a:xfrm>
              <a:off x="2072" y="3025"/>
              <a:ext cx="219" cy="219"/>
            </a:xfrm>
            <a:prstGeom prst="ellipse">
              <a:avLst/>
            </a:prstGeom>
            <a:solidFill>
              <a:schemeClr val="bg1"/>
            </a:solidFill>
            <a:ln w="19050" algn="ctr">
              <a:solidFill>
                <a:srgbClr val="CC0000"/>
              </a:solidFill>
              <a:round/>
              <a:headEnd/>
              <a:tailEnd/>
            </a:ln>
            <a:effectLst/>
          </p:spPr>
          <p:txBody>
            <a:bodyPr wrap="none" anchor="ctr"/>
            <a:lstStyle/>
            <a:p>
              <a:endParaRPr lang="fr-FR"/>
            </a:p>
          </p:txBody>
        </p:sp>
        <p:sp>
          <p:nvSpPr>
            <p:cNvPr id="574515" name="Oval 51"/>
            <p:cNvSpPr>
              <a:spLocks noChangeArrowheads="1"/>
            </p:cNvSpPr>
            <p:nvPr>
              <p:custDataLst>
                <p:tags r:id="rId15"/>
              </p:custDataLst>
            </p:nvPr>
          </p:nvSpPr>
          <p:spPr bwMode="auto">
            <a:xfrm>
              <a:off x="2116" y="3071"/>
              <a:ext cx="132" cy="126"/>
            </a:xfrm>
            <a:prstGeom prst="ellipse">
              <a:avLst/>
            </a:prstGeom>
            <a:solidFill>
              <a:schemeClr val="bg1"/>
            </a:solidFill>
            <a:ln w="12700" algn="ctr">
              <a:solidFill>
                <a:srgbClr val="CC0000"/>
              </a:solidFill>
              <a:round/>
              <a:headEnd/>
              <a:tailEnd/>
            </a:ln>
            <a:effectLst/>
          </p:spPr>
          <p:txBody>
            <a:bodyPr wrap="none" anchor="ctr"/>
            <a:lstStyle/>
            <a:p>
              <a:endParaRPr lang="fr-FR"/>
            </a:p>
          </p:txBody>
        </p:sp>
        <p:sp>
          <p:nvSpPr>
            <p:cNvPr id="574516" name="Oval 52"/>
            <p:cNvSpPr>
              <a:spLocks noChangeArrowheads="1"/>
            </p:cNvSpPr>
            <p:nvPr>
              <p:custDataLst>
                <p:tags r:id="rId16"/>
              </p:custDataLst>
            </p:nvPr>
          </p:nvSpPr>
          <p:spPr bwMode="auto">
            <a:xfrm>
              <a:off x="2152" y="3104"/>
              <a:ext cx="60" cy="60"/>
            </a:xfrm>
            <a:prstGeom prst="ellipse">
              <a:avLst/>
            </a:prstGeom>
            <a:solidFill>
              <a:srgbClr val="CC0000"/>
            </a:solidFill>
            <a:ln w="12700" algn="ctr">
              <a:noFill/>
              <a:round/>
              <a:headEnd/>
              <a:tailEnd/>
            </a:ln>
            <a:effectLst/>
          </p:spPr>
          <p:txBody>
            <a:bodyPr wrap="none" anchor="ctr"/>
            <a:lstStyle/>
            <a:p>
              <a:endParaRPr lang="fr-FR"/>
            </a:p>
          </p:txBody>
        </p:sp>
      </p:grpSp>
      <p:sp>
        <p:nvSpPr>
          <p:cNvPr id="574517" name="Text Box 53"/>
          <p:cNvSpPr txBox="1">
            <a:spLocks noChangeArrowheads="1"/>
          </p:cNvSpPr>
          <p:nvPr>
            <p:custDataLst>
              <p:tags r:id="rId9"/>
            </p:custDataLst>
          </p:nvPr>
        </p:nvSpPr>
        <p:spPr bwMode="auto">
          <a:xfrm>
            <a:off x="2968625" y="5266864"/>
            <a:ext cx="977900" cy="171450"/>
          </a:xfrm>
          <a:prstGeom prst="rect">
            <a:avLst/>
          </a:prstGeom>
          <a:solidFill>
            <a:schemeClr val="accent1">
              <a:alpha val="75000"/>
            </a:schemeClr>
          </a:solidFill>
          <a:ln w="9525" algn="ctr">
            <a:noFill/>
            <a:miter lim="800000"/>
            <a:headEnd/>
            <a:tailEnd/>
          </a:ln>
          <a:effectLst/>
        </p:spPr>
        <p:txBody>
          <a:bodyPr wrap="none" anchor="ctr"/>
          <a:lstStyle/>
          <a:p>
            <a:r>
              <a:rPr lang="en-GB" sz="1800">
                <a:solidFill>
                  <a:srgbClr val="000000"/>
                </a:solidFill>
              </a:rPr>
              <a:t>Diffusion</a:t>
            </a:r>
            <a:endParaRPr lang="en-US" sz="1800"/>
          </a:p>
        </p:txBody>
      </p:sp>
      <p:sp>
        <p:nvSpPr>
          <p:cNvPr id="574518" name="Line 54"/>
          <p:cNvSpPr>
            <a:spLocks noChangeShapeType="1"/>
          </p:cNvSpPr>
          <p:nvPr>
            <p:custDataLst>
              <p:tags r:id="rId10"/>
            </p:custDataLst>
          </p:nvPr>
        </p:nvSpPr>
        <p:spPr bwMode="auto">
          <a:xfrm flipV="1">
            <a:off x="3398838" y="5695489"/>
            <a:ext cx="0" cy="476250"/>
          </a:xfrm>
          <a:prstGeom prst="line">
            <a:avLst/>
          </a:prstGeom>
          <a:noFill/>
          <a:ln w="38100">
            <a:solidFill>
              <a:srgbClr val="CC0000"/>
            </a:solidFill>
            <a:round/>
            <a:headEnd/>
            <a:tailEnd type="triangle" w="med" len="med"/>
          </a:ln>
          <a:effectLst/>
        </p:spPr>
        <p:txBody>
          <a:bodyPr anchor="ctr"/>
          <a:lstStyle/>
          <a:p>
            <a:endParaRPr lang="fr-FR"/>
          </a:p>
        </p:txBody>
      </p:sp>
      <p:sp>
        <p:nvSpPr>
          <p:cNvPr id="574519" name="Line 55"/>
          <p:cNvSpPr>
            <a:spLocks noChangeShapeType="1"/>
          </p:cNvSpPr>
          <p:nvPr>
            <p:custDataLst>
              <p:tags r:id="rId11"/>
            </p:custDataLst>
          </p:nvPr>
        </p:nvSpPr>
        <p:spPr bwMode="auto">
          <a:xfrm flipH="1">
            <a:off x="3567113" y="5695489"/>
            <a:ext cx="0" cy="476250"/>
          </a:xfrm>
          <a:prstGeom prst="line">
            <a:avLst/>
          </a:prstGeom>
          <a:noFill/>
          <a:ln w="38100">
            <a:solidFill>
              <a:srgbClr val="CC0000"/>
            </a:solidFill>
            <a:round/>
            <a:headEnd/>
            <a:tailEnd type="triangle" w="med" len="med"/>
          </a:ln>
          <a:effectLst/>
        </p:spPr>
        <p:txBody>
          <a:bodyPr anchor="ctr"/>
          <a:lstStyle/>
          <a:p>
            <a:endParaRPr lang="fr-FR"/>
          </a:p>
        </p:txBody>
      </p:sp>
      <p:sp>
        <p:nvSpPr>
          <p:cNvPr id="574520" name="Freeform 56"/>
          <p:cNvSpPr>
            <a:spLocks/>
          </p:cNvSpPr>
          <p:nvPr/>
        </p:nvSpPr>
        <p:spPr bwMode="auto">
          <a:xfrm>
            <a:off x="3838575" y="4755689"/>
            <a:ext cx="384175" cy="1509713"/>
          </a:xfrm>
          <a:custGeom>
            <a:avLst/>
            <a:gdLst/>
            <a:ahLst/>
            <a:cxnLst>
              <a:cxn ang="0">
                <a:pos x="0" y="576"/>
              </a:cxn>
              <a:cxn ang="0">
                <a:pos x="170" y="576"/>
              </a:cxn>
              <a:cxn ang="0">
                <a:pos x="170" y="0"/>
              </a:cxn>
            </a:cxnLst>
            <a:rect l="0" t="0" r="r" b="b"/>
            <a:pathLst>
              <a:path w="170" h="576">
                <a:moveTo>
                  <a:pt x="0" y="576"/>
                </a:moveTo>
                <a:lnTo>
                  <a:pt x="170" y="576"/>
                </a:lnTo>
                <a:lnTo>
                  <a:pt x="170" y="0"/>
                </a:lnTo>
              </a:path>
            </a:pathLst>
          </a:custGeom>
          <a:noFill/>
          <a:ln w="57150" cap="rnd" cmpd="sng">
            <a:solidFill>
              <a:srgbClr val="CC0000"/>
            </a:solidFill>
            <a:prstDash val="sysDot"/>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574521" name="Freeform 57"/>
          <p:cNvSpPr>
            <a:spLocks/>
          </p:cNvSpPr>
          <p:nvPr/>
        </p:nvSpPr>
        <p:spPr bwMode="auto">
          <a:xfrm flipH="1">
            <a:off x="4803775" y="4755689"/>
            <a:ext cx="384175" cy="839788"/>
          </a:xfrm>
          <a:custGeom>
            <a:avLst/>
            <a:gdLst/>
            <a:ahLst/>
            <a:cxnLst>
              <a:cxn ang="0">
                <a:pos x="0" y="576"/>
              </a:cxn>
              <a:cxn ang="0">
                <a:pos x="170" y="576"/>
              </a:cxn>
              <a:cxn ang="0">
                <a:pos x="170" y="0"/>
              </a:cxn>
            </a:cxnLst>
            <a:rect l="0" t="0" r="r" b="b"/>
            <a:pathLst>
              <a:path w="170" h="576">
                <a:moveTo>
                  <a:pt x="0" y="576"/>
                </a:moveTo>
                <a:lnTo>
                  <a:pt x="170" y="576"/>
                </a:lnTo>
                <a:lnTo>
                  <a:pt x="170" y="0"/>
                </a:lnTo>
              </a:path>
            </a:pathLst>
          </a:custGeom>
          <a:noFill/>
          <a:ln w="57150" cap="rnd" cmpd="sng">
            <a:solidFill>
              <a:srgbClr val="CC0000"/>
            </a:solidFill>
            <a:prstDash val="sysDot"/>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574522" name="Freeform 58"/>
          <p:cNvSpPr>
            <a:spLocks/>
          </p:cNvSpPr>
          <p:nvPr/>
        </p:nvSpPr>
        <p:spPr bwMode="auto">
          <a:xfrm flipH="1">
            <a:off x="6567488" y="4755689"/>
            <a:ext cx="384175" cy="839788"/>
          </a:xfrm>
          <a:custGeom>
            <a:avLst/>
            <a:gdLst/>
            <a:ahLst/>
            <a:cxnLst>
              <a:cxn ang="0">
                <a:pos x="0" y="576"/>
              </a:cxn>
              <a:cxn ang="0">
                <a:pos x="170" y="576"/>
              </a:cxn>
              <a:cxn ang="0">
                <a:pos x="170" y="0"/>
              </a:cxn>
            </a:cxnLst>
            <a:rect l="0" t="0" r="r" b="b"/>
            <a:pathLst>
              <a:path w="170" h="576">
                <a:moveTo>
                  <a:pt x="0" y="576"/>
                </a:moveTo>
                <a:lnTo>
                  <a:pt x="170" y="576"/>
                </a:lnTo>
                <a:lnTo>
                  <a:pt x="170" y="0"/>
                </a:lnTo>
              </a:path>
            </a:pathLst>
          </a:custGeom>
          <a:noFill/>
          <a:ln w="57150" cap="rnd" cmpd="sng">
            <a:solidFill>
              <a:srgbClr val="CC0000"/>
            </a:solidFill>
            <a:prstDash val="sysDot"/>
            <a:round/>
            <a:headEnd type="none" w="med" len="med"/>
            <a:tailEnd type="none" w="med" len="med"/>
          </a:ln>
          <a:effectLst>
            <a:outerShdw dist="17961" dir="2700000" algn="ctr" rotWithShape="0">
              <a:schemeClr val="bg1"/>
            </a:outerShdw>
          </a:effectLst>
        </p:spPr>
        <p:txBody>
          <a:bodyPr wrap="none"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4500">
                                            <p:bg/>
                                          </p:spTgt>
                                        </p:tgtEl>
                                        <p:attrNameLst>
                                          <p:attrName>style.visibility</p:attrName>
                                        </p:attrNameLst>
                                      </p:cBhvr>
                                      <p:to>
                                        <p:strVal val="visible"/>
                                      </p:to>
                                    </p:set>
                                    <p:anim calcmode="lin" valueType="num">
                                      <p:cBhvr additive="base">
                                        <p:cTn id="7" dur="2000" fill="hold"/>
                                        <p:tgtEl>
                                          <p:spTgt spid="574500">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574500">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74500">
                                            <p:txEl>
                                              <p:pRg st="0" end="0"/>
                                            </p:txEl>
                                          </p:spTgt>
                                        </p:tgtEl>
                                        <p:attrNameLst>
                                          <p:attrName>style.visibility</p:attrName>
                                        </p:attrNameLst>
                                      </p:cBhvr>
                                      <p:to>
                                        <p:strVal val="visible"/>
                                      </p:to>
                                    </p:set>
                                    <p:anim calcmode="lin" valueType="num">
                                      <p:cBhvr additive="base">
                                        <p:cTn id="11" dur="2000" fill="hold"/>
                                        <p:tgtEl>
                                          <p:spTgt spid="574500">
                                            <p:txEl>
                                              <p:pRg st="0" end="0"/>
                                            </p:txEl>
                                          </p:spTgt>
                                        </p:tgtEl>
                                        <p:attrNameLst>
                                          <p:attrName>ppt_x</p:attrName>
                                        </p:attrNameLst>
                                      </p:cBhvr>
                                      <p:tavLst>
                                        <p:tav tm="0">
                                          <p:val>
                                            <p:strVal val="0-#ppt_w/2"/>
                                          </p:val>
                                        </p:tav>
                                        <p:tav tm="100000">
                                          <p:val>
                                            <p:strVal val="#ppt_x"/>
                                          </p:val>
                                        </p:tav>
                                      </p:tavLst>
                                    </p:anim>
                                    <p:anim calcmode="lin" valueType="num">
                                      <p:cBhvr additive="base">
                                        <p:cTn id="12" dur="2000" fill="hold"/>
                                        <p:tgtEl>
                                          <p:spTgt spid="57450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74500">
                                            <p:txEl>
                                              <p:pRg st="1" end="1"/>
                                            </p:txEl>
                                          </p:spTgt>
                                        </p:tgtEl>
                                        <p:attrNameLst>
                                          <p:attrName>style.visibility</p:attrName>
                                        </p:attrNameLst>
                                      </p:cBhvr>
                                      <p:to>
                                        <p:strVal val="visible"/>
                                      </p:to>
                                    </p:set>
                                    <p:anim calcmode="lin" valueType="num">
                                      <p:cBhvr additive="base">
                                        <p:cTn id="17" dur="2000" fill="hold"/>
                                        <p:tgtEl>
                                          <p:spTgt spid="574500">
                                            <p:txEl>
                                              <p:pRg st="1" end="1"/>
                                            </p:txEl>
                                          </p:spTgt>
                                        </p:tgtEl>
                                        <p:attrNameLst>
                                          <p:attrName>ppt_x</p:attrName>
                                        </p:attrNameLst>
                                      </p:cBhvr>
                                      <p:tavLst>
                                        <p:tav tm="0">
                                          <p:val>
                                            <p:strVal val="0-#ppt_w/2"/>
                                          </p:val>
                                        </p:tav>
                                        <p:tav tm="100000">
                                          <p:val>
                                            <p:strVal val="#ppt_x"/>
                                          </p:val>
                                        </p:tav>
                                      </p:tavLst>
                                    </p:anim>
                                    <p:anim calcmode="lin" valueType="num">
                                      <p:cBhvr additive="base">
                                        <p:cTn id="18" dur="2000" fill="hold"/>
                                        <p:tgtEl>
                                          <p:spTgt spid="57450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74500">
                                            <p:txEl>
                                              <p:pRg st="2" end="2"/>
                                            </p:txEl>
                                          </p:spTgt>
                                        </p:tgtEl>
                                        <p:attrNameLst>
                                          <p:attrName>style.visibility</p:attrName>
                                        </p:attrNameLst>
                                      </p:cBhvr>
                                      <p:to>
                                        <p:strVal val="visible"/>
                                      </p:to>
                                    </p:set>
                                    <p:anim calcmode="lin" valueType="num">
                                      <p:cBhvr additive="base">
                                        <p:cTn id="23" dur="2000" fill="hold"/>
                                        <p:tgtEl>
                                          <p:spTgt spid="574500">
                                            <p:txEl>
                                              <p:pRg st="2" end="2"/>
                                            </p:txEl>
                                          </p:spTgt>
                                        </p:tgtEl>
                                        <p:attrNameLst>
                                          <p:attrName>ppt_x</p:attrName>
                                        </p:attrNameLst>
                                      </p:cBhvr>
                                      <p:tavLst>
                                        <p:tav tm="0">
                                          <p:val>
                                            <p:strVal val="0-#ppt_w/2"/>
                                          </p:val>
                                        </p:tav>
                                        <p:tav tm="100000">
                                          <p:val>
                                            <p:strVal val="#ppt_x"/>
                                          </p:val>
                                        </p:tav>
                                      </p:tavLst>
                                    </p:anim>
                                    <p:anim calcmode="lin" valueType="num">
                                      <p:cBhvr additive="base">
                                        <p:cTn id="24" dur="2000" fill="hold"/>
                                        <p:tgtEl>
                                          <p:spTgt spid="57450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74500">
                                            <p:txEl>
                                              <p:pRg st="3" end="3"/>
                                            </p:txEl>
                                          </p:spTgt>
                                        </p:tgtEl>
                                        <p:attrNameLst>
                                          <p:attrName>style.visibility</p:attrName>
                                        </p:attrNameLst>
                                      </p:cBhvr>
                                      <p:to>
                                        <p:strVal val="visible"/>
                                      </p:to>
                                    </p:set>
                                    <p:anim calcmode="lin" valueType="num">
                                      <p:cBhvr additive="base">
                                        <p:cTn id="29" dur="2000" fill="hold"/>
                                        <p:tgtEl>
                                          <p:spTgt spid="574500">
                                            <p:txEl>
                                              <p:pRg st="3" end="3"/>
                                            </p:txEl>
                                          </p:spTgt>
                                        </p:tgtEl>
                                        <p:attrNameLst>
                                          <p:attrName>ppt_x</p:attrName>
                                        </p:attrNameLst>
                                      </p:cBhvr>
                                      <p:tavLst>
                                        <p:tav tm="0">
                                          <p:val>
                                            <p:strVal val="0-#ppt_w/2"/>
                                          </p:val>
                                        </p:tav>
                                        <p:tav tm="100000">
                                          <p:val>
                                            <p:strVal val="#ppt_x"/>
                                          </p:val>
                                        </p:tav>
                                      </p:tavLst>
                                    </p:anim>
                                    <p:anim calcmode="lin" valueType="num">
                                      <p:cBhvr additive="base">
                                        <p:cTn id="30" dur="2000" fill="hold"/>
                                        <p:tgtEl>
                                          <p:spTgt spid="57450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00" grpId="0" uiExpand="1" build="allAtOnce"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custDataLst>
              <p:tags r:id="rId1"/>
            </p:custDataLst>
          </p:nvPr>
        </p:nvSpPr>
        <p:spPr>
          <a:xfrm>
            <a:off x="282324" y="335565"/>
            <a:ext cx="8697685" cy="735240"/>
          </a:xfrm>
        </p:spPr>
        <p:txBody>
          <a:bodyPr vert="horz" anchor="b">
            <a:normAutofit fontScale="90000"/>
          </a:bodyPr>
          <a:lstStyle/>
          <a:p>
            <a:r>
              <a:rPr lang="fr-FR" sz="3000" b="1" dirty="0">
                <a:solidFill>
                  <a:srgbClr val="C00000"/>
                </a:solidFill>
              </a:rPr>
              <a:t>Comment afficher et libérer le cache de </a:t>
            </a:r>
            <a:r>
              <a:rPr lang="fr-FR" sz="3000" b="1" dirty="0" smtClean="0">
                <a:solidFill>
                  <a:srgbClr val="C00000"/>
                </a:solidFill>
              </a:rPr>
              <a:t>noms NetBIOS</a:t>
            </a:r>
            <a:endParaRPr lang="en-US" sz="3000" b="1" dirty="0">
              <a:solidFill>
                <a:srgbClr val="C00000"/>
              </a:solidFill>
            </a:endParaRPr>
          </a:p>
        </p:txBody>
      </p:sp>
      <p:sp>
        <p:nvSpPr>
          <p:cNvPr id="607238" name="AutoShape 6"/>
          <p:cNvSpPr>
            <a:spLocks noChangeArrowheads="1"/>
          </p:cNvSpPr>
          <p:nvPr>
            <p:custDataLst>
              <p:tags r:id="rId2"/>
            </p:custDataLst>
          </p:nvPr>
        </p:nvSpPr>
        <p:spPr bwMode="auto">
          <a:xfrm>
            <a:off x="368135" y="1677400"/>
            <a:ext cx="8443356" cy="409401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5"/>
              </a:buBlip>
            </a:pPr>
            <a:r>
              <a:rPr lang="en-GB" sz="2400" dirty="0" err="1">
                <a:solidFill>
                  <a:srgbClr val="000000"/>
                </a:solidFill>
              </a:rPr>
              <a:t>Afficher</a:t>
            </a:r>
            <a:r>
              <a:rPr lang="en-GB" sz="2400" dirty="0">
                <a:solidFill>
                  <a:srgbClr val="000000"/>
                </a:solidFill>
              </a:rPr>
              <a:t> le </a:t>
            </a:r>
            <a:r>
              <a:rPr lang="en-GB" sz="2400" dirty="0" err="1">
                <a:solidFill>
                  <a:srgbClr val="000000"/>
                </a:solidFill>
              </a:rPr>
              <a:t>contenu</a:t>
            </a:r>
            <a:r>
              <a:rPr lang="en-GB" sz="2400" dirty="0">
                <a:solidFill>
                  <a:srgbClr val="000000"/>
                </a:solidFill>
              </a:rPr>
              <a:t> du cache de </a:t>
            </a:r>
            <a:r>
              <a:rPr lang="en-GB" sz="2400" dirty="0" err="1">
                <a:solidFill>
                  <a:srgbClr val="000000"/>
                </a:solidFill>
              </a:rPr>
              <a:t>noms</a:t>
            </a:r>
            <a:r>
              <a:rPr lang="en-GB" sz="2400" dirty="0">
                <a:solidFill>
                  <a:srgbClr val="000000"/>
                </a:solidFill>
              </a:rPr>
              <a:t> NetBIOS de </a:t>
            </a:r>
            <a:r>
              <a:rPr lang="en-GB" sz="2400" dirty="0" err="1">
                <a:solidFill>
                  <a:srgbClr val="000000"/>
                </a:solidFill>
              </a:rPr>
              <a:t>l'ordinateur</a:t>
            </a:r>
            <a:r>
              <a:rPr lang="en-GB" sz="2400" dirty="0">
                <a:solidFill>
                  <a:srgbClr val="000000"/>
                </a:solidFill>
              </a:rPr>
              <a:t> </a:t>
            </a:r>
            <a:r>
              <a:rPr lang="en-GB" sz="2400" dirty="0" smtClean="0">
                <a:solidFill>
                  <a:srgbClr val="000000"/>
                </a:solidFill>
              </a:rPr>
              <a:t>local: </a:t>
            </a:r>
          </a:p>
          <a:p>
            <a:pPr marL="1085850" indent="-231775" algn="l">
              <a:lnSpc>
                <a:spcPct val="90000"/>
              </a:lnSpc>
              <a:spcBef>
                <a:spcPct val="40000"/>
              </a:spcBef>
              <a:buSzPct val="80000"/>
            </a:pPr>
            <a:r>
              <a:rPr lang="fr-FR" sz="2400" i="1" dirty="0" err="1" smtClean="0">
                <a:solidFill>
                  <a:srgbClr val="0070C0"/>
                </a:solidFill>
              </a:rPr>
              <a:t>nbtstat</a:t>
            </a:r>
            <a:r>
              <a:rPr lang="fr-FR" sz="2400" i="1" dirty="0" smtClean="0">
                <a:solidFill>
                  <a:srgbClr val="0070C0"/>
                </a:solidFill>
              </a:rPr>
              <a:t>  -c</a:t>
            </a:r>
            <a:endParaRPr lang="en-US" sz="2400" i="1" dirty="0">
              <a:solidFill>
                <a:srgbClr val="0070C0"/>
              </a:solidFill>
            </a:endParaRPr>
          </a:p>
          <a:p>
            <a:pPr marL="231775" indent="-231775" algn="l">
              <a:lnSpc>
                <a:spcPct val="90000"/>
              </a:lnSpc>
              <a:spcBef>
                <a:spcPct val="40000"/>
              </a:spcBef>
              <a:buSzPct val="80000"/>
              <a:buFontTx/>
              <a:buBlip>
                <a:blip r:embed="rId5"/>
              </a:buBlip>
            </a:pPr>
            <a:r>
              <a:rPr lang="en-GB" sz="2400" dirty="0" err="1">
                <a:solidFill>
                  <a:srgbClr val="000000"/>
                </a:solidFill>
              </a:rPr>
              <a:t>Libérer</a:t>
            </a:r>
            <a:r>
              <a:rPr lang="en-GB" sz="2400" dirty="0">
                <a:solidFill>
                  <a:srgbClr val="000000"/>
                </a:solidFill>
              </a:rPr>
              <a:t> le cache de </a:t>
            </a:r>
            <a:r>
              <a:rPr lang="en-GB" sz="2400" dirty="0" err="1">
                <a:solidFill>
                  <a:srgbClr val="000000"/>
                </a:solidFill>
              </a:rPr>
              <a:t>noms</a:t>
            </a:r>
            <a:r>
              <a:rPr lang="en-GB" sz="2400" dirty="0">
                <a:solidFill>
                  <a:srgbClr val="000000"/>
                </a:solidFill>
              </a:rPr>
              <a:t> NetBIOS et recharger les entrées à </a:t>
            </a:r>
            <a:r>
              <a:rPr lang="en-GB" sz="2400" dirty="0" err="1">
                <a:solidFill>
                  <a:srgbClr val="000000"/>
                </a:solidFill>
              </a:rPr>
              <a:t>balise</a:t>
            </a:r>
            <a:r>
              <a:rPr lang="en-GB" sz="2400" dirty="0">
                <a:solidFill>
                  <a:srgbClr val="000000"/>
                </a:solidFill>
              </a:rPr>
              <a:t> #PRE </a:t>
            </a:r>
            <a:r>
              <a:rPr lang="en-GB" sz="2400" dirty="0" err="1">
                <a:solidFill>
                  <a:srgbClr val="000000"/>
                </a:solidFill>
              </a:rPr>
              <a:t>dans</a:t>
            </a:r>
            <a:r>
              <a:rPr lang="en-GB" sz="2400" dirty="0">
                <a:solidFill>
                  <a:srgbClr val="000000"/>
                </a:solidFill>
              </a:rPr>
              <a:t> le </a:t>
            </a:r>
            <a:r>
              <a:rPr lang="en-GB" sz="2400" dirty="0" err="1">
                <a:solidFill>
                  <a:srgbClr val="000000"/>
                </a:solidFill>
              </a:rPr>
              <a:t>fichier</a:t>
            </a:r>
            <a:r>
              <a:rPr lang="en-GB" sz="2400" dirty="0">
                <a:solidFill>
                  <a:srgbClr val="000000"/>
                </a:solidFill>
              </a:rPr>
              <a:t> local </a:t>
            </a:r>
            <a:r>
              <a:rPr lang="en-GB" sz="2400" dirty="0" err="1" smtClean="0">
                <a:solidFill>
                  <a:srgbClr val="000000"/>
                </a:solidFill>
              </a:rPr>
              <a:t>Lmhosts</a:t>
            </a:r>
            <a:endParaRPr lang="en-GB" sz="2400" dirty="0" smtClean="0">
              <a:solidFill>
                <a:srgbClr val="000000"/>
              </a:solidFill>
            </a:endParaRPr>
          </a:p>
          <a:p>
            <a:pPr marL="1085850" indent="-231775" algn="l">
              <a:lnSpc>
                <a:spcPct val="90000"/>
              </a:lnSpc>
              <a:spcBef>
                <a:spcPct val="40000"/>
              </a:spcBef>
              <a:buSzPct val="80000"/>
            </a:pPr>
            <a:r>
              <a:rPr lang="fr-FR" sz="2400" i="1" dirty="0" err="1" smtClean="0">
                <a:solidFill>
                  <a:srgbClr val="0070C0"/>
                </a:solidFill>
              </a:rPr>
              <a:t>nbtstat</a:t>
            </a:r>
            <a:r>
              <a:rPr lang="fr-FR" sz="2400" i="1" dirty="0" smtClean="0">
                <a:solidFill>
                  <a:srgbClr val="0070C0"/>
                </a:solidFill>
              </a:rPr>
              <a:t> -R</a:t>
            </a:r>
            <a:endParaRPr lang="en-US" sz="2400" i="1" dirty="0">
              <a:solidFill>
                <a:srgbClr val="0070C0"/>
              </a:solidFill>
            </a:endParaRPr>
          </a:p>
          <a:p>
            <a:pPr marL="231775" indent="-231775" algn="l">
              <a:lnSpc>
                <a:spcPct val="90000"/>
              </a:lnSpc>
              <a:spcBef>
                <a:spcPct val="40000"/>
              </a:spcBef>
              <a:buSzPct val="80000"/>
              <a:buFontTx/>
              <a:buBlip>
                <a:blip r:embed="rId5"/>
              </a:buBlip>
            </a:pPr>
            <a:r>
              <a:rPr lang="en-GB" sz="2400" dirty="0" err="1">
                <a:solidFill>
                  <a:srgbClr val="000000"/>
                </a:solidFill>
              </a:rPr>
              <a:t>Afficher</a:t>
            </a:r>
            <a:r>
              <a:rPr lang="en-GB" sz="2400" dirty="0">
                <a:solidFill>
                  <a:srgbClr val="000000"/>
                </a:solidFill>
              </a:rPr>
              <a:t> et consulter la table de </a:t>
            </a:r>
            <a:r>
              <a:rPr lang="en-GB" sz="2400" dirty="0" err="1">
                <a:solidFill>
                  <a:srgbClr val="000000"/>
                </a:solidFill>
              </a:rPr>
              <a:t>noms</a:t>
            </a:r>
            <a:r>
              <a:rPr lang="en-GB" sz="2400" dirty="0">
                <a:solidFill>
                  <a:srgbClr val="000000"/>
                </a:solidFill>
              </a:rPr>
              <a:t> NetBIOS de </a:t>
            </a:r>
            <a:r>
              <a:rPr lang="en-GB" sz="2400" dirty="0" err="1">
                <a:solidFill>
                  <a:srgbClr val="000000"/>
                </a:solidFill>
              </a:rPr>
              <a:t>l'ordinateur</a:t>
            </a:r>
            <a:r>
              <a:rPr lang="en-GB" sz="2400" dirty="0">
                <a:solidFill>
                  <a:srgbClr val="000000"/>
                </a:solidFill>
              </a:rPr>
              <a:t> </a:t>
            </a:r>
            <a:r>
              <a:rPr lang="en-GB" sz="2400" dirty="0" smtClean="0">
                <a:solidFill>
                  <a:srgbClr val="000000"/>
                </a:solidFill>
              </a:rPr>
              <a:t>local</a:t>
            </a:r>
          </a:p>
          <a:p>
            <a:pPr marL="1085850" indent="-231775" algn="l">
              <a:lnSpc>
                <a:spcPct val="90000"/>
              </a:lnSpc>
              <a:spcBef>
                <a:spcPct val="40000"/>
              </a:spcBef>
              <a:buSzPct val="80000"/>
            </a:pPr>
            <a:r>
              <a:rPr lang="fr-FR" sz="2400" i="1" dirty="0" err="1" smtClean="0">
                <a:solidFill>
                  <a:srgbClr val="0070C0"/>
                </a:solidFill>
              </a:rPr>
              <a:t>nbtstat</a:t>
            </a:r>
            <a:r>
              <a:rPr lang="fr-FR" sz="2400" i="1" dirty="0" smtClean="0">
                <a:solidFill>
                  <a:srgbClr val="0070C0"/>
                </a:solidFill>
              </a:rPr>
              <a:t> -n</a:t>
            </a:r>
            <a:endParaRPr lang="en-US" sz="2400" i="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7238">
                                            <p:txEl>
                                              <p:pRg st="0" end="0"/>
                                            </p:txEl>
                                          </p:spTgt>
                                        </p:tgtEl>
                                        <p:attrNameLst>
                                          <p:attrName>style.visibility</p:attrName>
                                        </p:attrNameLst>
                                      </p:cBhvr>
                                      <p:to>
                                        <p:strVal val="visible"/>
                                      </p:to>
                                    </p:set>
                                    <p:animEffect transition="in" filter="checkerboard(across)">
                                      <p:cBhvr>
                                        <p:cTn id="7" dur="500"/>
                                        <p:tgtEl>
                                          <p:spTgt spid="607238">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7238">
                                            <p:txEl>
                                              <p:pRg st="1" end="1"/>
                                            </p:txEl>
                                          </p:spTgt>
                                        </p:tgtEl>
                                        <p:attrNameLst>
                                          <p:attrName>style.visibility</p:attrName>
                                        </p:attrNameLst>
                                      </p:cBhvr>
                                      <p:to>
                                        <p:strVal val="visible"/>
                                      </p:to>
                                    </p:set>
                                    <p:animEffect transition="in" filter="checkerboard(across)">
                                      <p:cBhvr>
                                        <p:cTn id="10" dur="500"/>
                                        <p:tgtEl>
                                          <p:spTgt spid="60723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607238">
                                            <p:txEl>
                                              <p:pRg st="2" end="2"/>
                                            </p:txEl>
                                          </p:spTgt>
                                        </p:tgtEl>
                                        <p:attrNameLst>
                                          <p:attrName>style.visibility</p:attrName>
                                        </p:attrNameLst>
                                      </p:cBhvr>
                                      <p:to>
                                        <p:strVal val="visible"/>
                                      </p:to>
                                    </p:set>
                                    <p:animEffect transition="in" filter="checkerboard(across)">
                                      <p:cBhvr>
                                        <p:cTn id="15" dur="500"/>
                                        <p:tgtEl>
                                          <p:spTgt spid="607238">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07238">
                                            <p:txEl>
                                              <p:pRg st="3" end="3"/>
                                            </p:txEl>
                                          </p:spTgt>
                                        </p:tgtEl>
                                        <p:attrNameLst>
                                          <p:attrName>style.visibility</p:attrName>
                                        </p:attrNameLst>
                                      </p:cBhvr>
                                      <p:to>
                                        <p:strVal val="visible"/>
                                      </p:to>
                                    </p:set>
                                    <p:animEffect transition="in" filter="checkerboard(across)">
                                      <p:cBhvr>
                                        <p:cTn id="18" dur="500"/>
                                        <p:tgtEl>
                                          <p:spTgt spid="60723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607238">
                                            <p:txEl>
                                              <p:pRg st="4" end="4"/>
                                            </p:txEl>
                                          </p:spTgt>
                                        </p:tgtEl>
                                        <p:attrNameLst>
                                          <p:attrName>style.visibility</p:attrName>
                                        </p:attrNameLst>
                                      </p:cBhvr>
                                      <p:to>
                                        <p:strVal val="visible"/>
                                      </p:to>
                                    </p:set>
                                    <p:animEffect transition="in" filter="checkerboard(across)">
                                      <p:cBhvr>
                                        <p:cTn id="23" dur="500"/>
                                        <p:tgtEl>
                                          <p:spTgt spid="607238">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607238">
                                            <p:txEl>
                                              <p:pRg st="5" end="5"/>
                                            </p:txEl>
                                          </p:spTgt>
                                        </p:tgtEl>
                                        <p:attrNameLst>
                                          <p:attrName>style.visibility</p:attrName>
                                        </p:attrNameLst>
                                      </p:cBhvr>
                                      <p:to>
                                        <p:strVal val="visible"/>
                                      </p:to>
                                    </p:set>
                                    <p:animEffect transition="in" filter="checkerboard(across)">
                                      <p:cBhvr>
                                        <p:cTn id="26" dur="500"/>
                                        <p:tgtEl>
                                          <p:spTgt spid="60723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602" name="Line 90"/>
          <p:cNvSpPr>
            <a:spLocks noChangeShapeType="1"/>
          </p:cNvSpPr>
          <p:nvPr>
            <p:custDataLst>
              <p:tags r:id="rId1"/>
            </p:custDataLst>
          </p:nvPr>
        </p:nvSpPr>
        <p:spPr bwMode="auto">
          <a:xfrm flipV="1">
            <a:off x="3596367" y="3479113"/>
            <a:ext cx="2794000" cy="501650"/>
          </a:xfrm>
          <a:prstGeom prst="line">
            <a:avLst/>
          </a:prstGeom>
          <a:noFill/>
          <a:ln w="57150">
            <a:solidFill>
              <a:srgbClr val="808080"/>
            </a:solidFill>
            <a:prstDash val="sysDot"/>
            <a:round/>
            <a:headEnd/>
            <a:tailEnd/>
          </a:ln>
          <a:effectLst/>
        </p:spPr>
        <p:txBody>
          <a:bodyPr anchor="ctr"/>
          <a:lstStyle/>
          <a:p>
            <a:endParaRPr lang="fr-FR"/>
          </a:p>
        </p:txBody>
      </p:sp>
      <p:sp>
        <p:nvSpPr>
          <p:cNvPr id="576514" name="Rectangle 2"/>
          <p:cNvSpPr>
            <a:spLocks noGrp="1" noChangeArrowheads="1"/>
          </p:cNvSpPr>
          <p:nvPr>
            <p:ph type="title"/>
            <p:custDataLst>
              <p:tags r:id="rId2"/>
            </p:custDataLst>
          </p:nvPr>
        </p:nvSpPr>
        <p:spPr>
          <a:xfrm>
            <a:off x="192570" y="163774"/>
            <a:ext cx="8534400" cy="758952"/>
          </a:xfrm>
        </p:spPr>
        <p:txBody>
          <a:bodyPr vert="horz" anchor="b">
            <a:normAutofit/>
          </a:bodyPr>
          <a:lstStyle/>
          <a:p>
            <a:r>
              <a:rPr lang="en-GB" sz="3000" b="1" dirty="0">
                <a:solidFill>
                  <a:srgbClr val="C00000"/>
                </a:solidFill>
              </a:rPr>
              <a:t>Diffusions</a:t>
            </a:r>
            <a:endParaRPr lang="en-US" sz="3000" b="1" dirty="0">
              <a:solidFill>
                <a:srgbClr val="C00000"/>
              </a:solidFill>
            </a:endParaRPr>
          </a:p>
        </p:txBody>
      </p:sp>
      <p:sp>
        <p:nvSpPr>
          <p:cNvPr id="576608" name="AutoShape 96"/>
          <p:cNvSpPr>
            <a:spLocks noChangeArrowheads="1"/>
          </p:cNvSpPr>
          <p:nvPr>
            <p:custDataLst>
              <p:tags r:id="rId3"/>
            </p:custDataLst>
          </p:nvPr>
        </p:nvSpPr>
        <p:spPr bwMode="auto">
          <a:xfrm>
            <a:off x="3483429" y="4704663"/>
            <a:ext cx="5660571" cy="5445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000" dirty="0">
                <a:solidFill>
                  <a:srgbClr val="000000"/>
                </a:solidFill>
              </a:rPr>
              <a:t>Le </a:t>
            </a:r>
            <a:r>
              <a:rPr lang="en-GB" sz="2000" dirty="0" err="1">
                <a:solidFill>
                  <a:srgbClr val="000000"/>
                </a:solidFill>
              </a:rPr>
              <a:t>redirecteur</a:t>
            </a:r>
            <a:r>
              <a:rPr lang="en-GB" sz="2000" dirty="0">
                <a:solidFill>
                  <a:srgbClr val="000000"/>
                </a:solidFill>
              </a:rPr>
              <a:t> NetBIOS </a:t>
            </a:r>
            <a:r>
              <a:rPr lang="en-GB" sz="2000" dirty="0" err="1">
                <a:solidFill>
                  <a:srgbClr val="000000"/>
                </a:solidFill>
              </a:rPr>
              <a:t>envoie</a:t>
            </a:r>
            <a:r>
              <a:rPr lang="en-GB" sz="2000" dirty="0">
                <a:solidFill>
                  <a:srgbClr val="000000"/>
                </a:solidFill>
              </a:rPr>
              <a:t> </a:t>
            </a:r>
            <a:r>
              <a:rPr lang="en-GB" sz="2000" dirty="0" err="1">
                <a:solidFill>
                  <a:srgbClr val="000000"/>
                </a:solidFill>
              </a:rPr>
              <a:t>une</a:t>
            </a:r>
            <a:r>
              <a:rPr lang="en-GB" sz="2000" dirty="0">
                <a:solidFill>
                  <a:srgbClr val="000000"/>
                </a:solidFill>
              </a:rPr>
              <a:t> diffusion locale</a:t>
            </a:r>
            <a:endParaRPr lang="en-US" sz="2000" dirty="0"/>
          </a:p>
        </p:txBody>
      </p:sp>
      <p:sp>
        <p:nvSpPr>
          <p:cNvPr id="576609" name="AutoShape 97"/>
          <p:cNvSpPr>
            <a:spLocks noChangeArrowheads="1"/>
          </p:cNvSpPr>
          <p:nvPr>
            <p:custDataLst>
              <p:tags r:id="rId4"/>
            </p:custDataLst>
          </p:nvPr>
        </p:nvSpPr>
        <p:spPr bwMode="auto">
          <a:xfrm>
            <a:off x="3291122" y="478403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dirty="0">
                <a:solidFill>
                  <a:srgbClr val="990033"/>
                </a:solidFill>
              </a:rPr>
              <a:t>1</a:t>
            </a:r>
          </a:p>
        </p:txBody>
      </p:sp>
      <p:sp>
        <p:nvSpPr>
          <p:cNvPr id="576610" name="AutoShape 98"/>
          <p:cNvSpPr>
            <a:spLocks noChangeArrowheads="1"/>
          </p:cNvSpPr>
          <p:nvPr>
            <p:custDataLst>
              <p:tags r:id="rId5"/>
            </p:custDataLst>
          </p:nvPr>
        </p:nvSpPr>
        <p:spPr bwMode="auto">
          <a:xfrm>
            <a:off x="3483429" y="5323788"/>
            <a:ext cx="5660571" cy="7239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000">
                <a:solidFill>
                  <a:srgbClr val="000000"/>
                </a:solidFill>
              </a:rPr>
              <a:t>Si la ressource se trouve sur le réseau local, la diffusion reçoit une réponse et une adresse IP est renvoyée</a:t>
            </a:r>
            <a:endParaRPr lang="en-US" sz="2000"/>
          </a:p>
        </p:txBody>
      </p:sp>
      <p:sp>
        <p:nvSpPr>
          <p:cNvPr id="576611" name="AutoShape 99"/>
          <p:cNvSpPr>
            <a:spLocks noChangeArrowheads="1"/>
          </p:cNvSpPr>
          <p:nvPr>
            <p:custDataLst>
              <p:tags r:id="rId6"/>
            </p:custDataLst>
          </p:nvPr>
        </p:nvSpPr>
        <p:spPr bwMode="auto">
          <a:xfrm>
            <a:off x="3291122" y="547301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2</a:t>
            </a:r>
          </a:p>
        </p:txBody>
      </p:sp>
      <p:sp>
        <p:nvSpPr>
          <p:cNvPr id="576612" name="AutoShape 100"/>
          <p:cNvSpPr>
            <a:spLocks noChangeArrowheads="1"/>
          </p:cNvSpPr>
          <p:nvPr>
            <p:custDataLst>
              <p:tags r:id="rId7"/>
            </p:custDataLst>
          </p:nvPr>
        </p:nvSpPr>
        <p:spPr bwMode="auto">
          <a:xfrm>
            <a:off x="3483429" y="6122300"/>
            <a:ext cx="5660571" cy="5445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000">
                <a:solidFill>
                  <a:srgbClr val="000000"/>
                </a:solidFill>
              </a:rPr>
              <a:t>Si la ressource se trouve sur un réseau distant, la diffusion ne peut pas passer par le routeur</a:t>
            </a:r>
            <a:endParaRPr lang="en-US" sz="2000"/>
          </a:p>
        </p:txBody>
      </p:sp>
      <p:sp>
        <p:nvSpPr>
          <p:cNvPr id="576613" name="AutoShape 101"/>
          <p:cNvSpPr>
            <a:spLocks noChangeArrowheads="1"/>
          </p:cNvSpPr>
          <p:nvPr>
            <p:custDataLst>
              <p:tags r:id="rId8"/>
            </p:custDataLst>
          </p:nvPr>
        </p:nvSpPr>
        <p:spPr bwMode="auto">
          <a:xfrm>
            <a:off x="3291122" y="620167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3</a:t>
            </a:r>
          </a:p>
        </p:txBody>
      </p:sp>
      <p:pic>
        <p:nvPicPr>
          <p:cNvPr id="576588" name="Picture 76" descr="Site01"/>
          <p:cNvPicPr>
            <a:picLocks noChangeAspect="1" noChangeArrowheads="1"/>
          </p:cNvPicPr>
          <p:nvPr>
            <p:custDataLst>
              <p:tags r:id="rId9"/>
            </p:custDataLst>
          </p:nvPr>
        </p:nvPicPr>
        <p:blipFill>
          <a:blip r:embed="rId37"/>
          <a:srcRect/>
          <a:stretch>
            <a:fillRect/>
          </a:stretch>
        </p:blipFill>
        <p:spPr bwMode="auto">
          <a:xfrm>
            <a:off x="913492" y="3080650"/>
            <a:ext cx="2733675" cy="1827213"/>
          </a:xfrm>
          <a:prstGeom prst="rect">
            <a:avLst/>
          </a:prstGeom>
          <a:noFill/>
        </p:spPr>
      </p:pic>
      <p:pic>
        <p:nvPicPr>
          <p:cNvPr id="576589" name="Picture 77" descr="Server01"/>
          <p:cNvPicPr>
            <a:picLocks noChangeAspect="1" noChangeArrowheads="1"/>
          </p:cNvPicPr>
          <p:nvPr>
            <p:custDataLst>
              <p:tags r:id="rId10"/>
            </p:custDataLst>
          </p:nvPr>
        </p:nvPicPr>
        <p:blipFill>
          <a:blip r:embed="rId38"/>
          <a:srcRect/>
          <a:stretch>
            <a:fillRect/>
          </a:stretch>
        </p:blipFill>
        <p:spPr bwMode="auto">
          <a:xfrm>
            <a:off x="1084942" y="4260163"/>
            <a:ext cx="1574800" cy="1677987"/>
          </a:xfrm>
          <a:prstGeom prst="rect">
            <a:avLst/>
          </a:prstGeom>
          <a:noFill/>
        </p:spPr>
      </p:pic>
      <p:pic>
        <p:nvPicPr>
          <p:cNvPr id="576590" name="Picture 78" descr="ServerProcess01"/>
          <p:cNvPicPr>
            <a:picLocks noChangeAspect="1" noChangeArrowheads="1"/>
          </p:cNvPicPr>
          <p:nvPr>
            <p:custDataLst>
              <p:tags r:id="rId11"/>
            </p:custDataLst>
          </p:nvPr>
        </p:nvPicPr>
        <p:blipFill>
          <a:blip r:embed="rId39" cstate="print"/>
          <a:srcRect/>
          <a:stretch>
            <a:fillRect/>
          </a:stretch>
        </p:blipFill>
        <p:spPr bwMode="auto">
          <a:xfrm>
            <a:off x="637267" y="5428563"/>
            <a:ext cx="1120775" cy="777875"/>
          </a:xfrm>
          <a:prstGeom prst="rect">
            <a:avLst/>
          </a:prstGeom>
          <a:noFill/>
        </p:spPr>
      </p:pic>
      <p:pic>
        <p:nvPicPr>
          <p:cNvPr id="576591" name="Picture 79" descr="Computer_DesktopComputerSansKeyboard01"/>
          <p:cNvPicPr>
            <a:picLocks noChangeAspect="1" noChangeArrowheads="1"/>
          </p:cNvPicPr>
          <p:nvPr>
            <p:custDataLst>
              <p:tags r:id="rId12"/>
            </p:custDataLst>
          </p:nvPr>
        </p:nvPicPr>
        <p:blipFill>
          <a:blip r:embed="rId40" cstate="print"/>
          <a:srcRect/>
          <a:stretch>
            <a:fillRect/>
          </a:stretch>
        </p:blipFill>
        <p:spPr bwMode="auto">
          <a:xfrm>
            <a:off x="2766105" y="2785375"/>
            <a:ext cx="920750" cy="1016000"/>
          </a:xfrm>
          <a:prstGeom prst="rect">
            <a:avLst/>
          </a:prstGeom>
          <a:noFill/>
        </p:spPr>
      </p:pic>
      <p:pic>
        <p:nvPicPr>
          <p:cNvPr id="576603" name="Picture 91" descr="Rackmount_Router01"/>
          <p:cNvPicPr>
            <a:picLocks noChangeAspect="1" noChangeArrowheads="1"/>
          </p:cNvPicPr>
          <p:nvPr>
            <p:custDataLst>
              <p:tags r:id="rId13"/>
            </p:custDataLst>
          </p:nvPr>
        </p:nvPicPr>
        <p:blipFill>
          <a:blip r:embed="rId41"/>
          <a:srcRect/>
          <a:stretch>
            <a:fillRect/>
          </a:stretch>
        </p:blipFill>
        <p:spPr bwMode="auto">
          <a:xfrm>
            <a:off x="4236130" y="3491813"/>
            <a:ext cx="1312862" cy="760412"/>
          </a:xfrm>
          <a:prstGeom prst="rect">
            <a:avLst/>
          </a:prstGeom>
          <a:noFill/>
        </p:spPr>
      </p:pic>
      <p:sp>
        <p:nvSpPr>
          <p:cNvPr id="576604" name="AutoShape 92"/>
          <p:cNvSpPr>
            <a:spLocks noChangeArrowheads="1"/>
          </p:cNvSpPr>
          <p:nvPr>
            <p:custDataLst>
              <p:tags r:id="rId14"/>
            </p:custDataLst>
          </p:nvPr>
        </p:nvSpPr>
        <p:spPr bwMode="auto">
          <a:xfrm>
            <a:off x="5455330" y="3822013"/>
            <a:ext cx="901700" cy="3810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Routeur</a:t>
            </a:r>
            <a:endParaRPr lang="en-US" sz="2000"/>
          </a:p>
        </p:txBody>
      </p:sp>
      <p:sp>
        <p:nvSpPr>
          <p:cNvPr id="576605" name="AutoShape 93"/>
          <p:cNvSpPr>
            <a:spLocks noChangeArrowheads="1"/>
          </p:cNvSpPr>
          <p:nvPr>
            <p:custDataLst>
              <p:tags r:id="rId15"/>
            </p:custDataLst>
          </p:nvPr>
        </p:nvSpPr>
        <p:spPr bwMode="auto">
          <a:xfrm>
            <a:off x="1667555" y="5985775"/>
            <a:ext cx="1157287" cy="5619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Redirecteur</a:t>
            </a:r>
            <a:endParaRPr lang="en-US" sz="2000"/>
          </a:p>
          <a:p>
            <a:pPr>
              <a:lnSpc>
                <a:spcPct val="85000"/>
              </a:lnSpc>
            </a:pPr>
            <a:r>
              <a:rPr lang="en-GB" sz="2000">
                <a:solidFill>
                  <a:srgbClr val="000000"/>
                </a:solidFill>
              </a:rPr>
              <a:t>NetBIOS</a:t>
            </a:r>
            <a:endParaRPr lang="en-US" sz="2000">
              <a:solidFill>
                <a:srgbClr val="000000"/>
              </a:solidFill>
            </a:endParaRPr>
          </a:p>
        </p:txBody>
      </p:sp>
      <p:pic>
        <p:nvPicPr>
          <p:cNvPr id="576617" name="Picture 105" descr="Validated01"/>
          <p:cNvPicPr>
            <a:picLocks noChangeAspect="1" noChangeArrowheads="1"/>
          </p:cNvPicPr>
          <p:nvPr>
            <p:custDataLst>
              <p:tags r:id="rId16"/>
            </p:custDataLst>
          </p:nvPr>
        </p:nvPicPr>
        <p:blipFill>
          <a:blip r:embed="rId42" cstate="print"/>
          <a:srcRect/>
          <a:stretch>
            <a:fillRect/>
          </a:stretch>
        </p:blipFill>
        <p:spPr bwMode="auto">
          <a:xfrm>
            <a:off x="1118280" y="2504388"/>
            <a:ext cx="523875" cy="479425"/>
          </a:xfrm>
          <a:prstGeom prst="rect">
            <a:avLst/>
          </a:prstGeom>
          <a:noFill/>
        </p:spPr>
      </p:pic>
      <p:pic>
        <p:nvPicPr>
          <p:cNvPr id="576618" name="Picture 106" descr="Validate_Invalid01"/>
          <p:cNvPicPr>
            <a:picLocks noChangeAspect="1" noChangeArrowheads="1"/>
          </p:cNvPicPr>
          <p:nvPr>
            <p:custDataLst>
              <p:tags r:id="rId17"/>
            </p:custDataLst>
          </p:nvPr>
        </p:nvPicPr>
        <p:blipFill>
          <a:blip r:embed="rId43" cstate="print"/>
          <a:srcRect/>
          <a:stretch>
            <a:fillRect/>
          </a:stretch>
        </p:blipFill>
        <p:spPr bwMode="auto">
          <a:xfrm>
            <a:off x="5537880" y="2510738"/>
            <a:ext cx="449262" cy="449262"/>
          </a:xfrm>
          <a:prstGeom prst="rect">
            <a:avLst/>
          </a:prstGeom>
          <a:noFill/>
        </p:spPr>
      </p:pic>
      <p:sp>
        <p:nvSpPr>
          <p:cNvPr id="576619" name="Text Box 107"/>
          <p:cNvSpPr txBox="1">
            <a:spLocks noChangeArrowheads="1"/>
          </p:cNvSpPr>
          <p:nvPr>
            <p:custDataLst>
              <p:tags r:id="rId18"/>
            </p:custDataLst>
          </p:nvPr>
        </p:nvSpPr>
        <p:spPr bwMode="auto">
          <a:xfrm>
            <a:off x="1556430" y="2474225"/>
            <a:ext cx="2006600" cy="615553"/>
          </a:xfrm>
          <a:prstGeom prst="rect">
            <a:avLst/>
          </a:prstGeom>
          <a:noFill/>
          <a:ln w="9525" algn="ctr">
            <a:noFill/>
            <a:miter lim="800000"/>
            <a:headEnd/>
            <a:tailEnd/>
          </a:ln>
          <a:effectLst/>
        </p:spPr>
        <p:txBody>
          <a:bodyPr>
            <a:spAutoFit/>
          </a:bodyPr>
          <a:lstStyle/>
          <a:p>
            <a:pPr algn="l">
              <a:lnSpc>
                <a:spcPct val="85000"/>
              </a:lnSpc>
            </a:pPr>
            <a:r>
              <a:rPr lang="en-GB" sz="2000">
                <a:solidFill>
                  <a:srgbClr val="000000"/>
                </a:solidFill>
              </a:rPr>
              <a:t>Diffusion</a:t>
            </a:r>
            <a:r>
              <a:rPr lang="en-US" sz="2000"/>
              <a:t> </a:t>
            </a:r>
            <a:r>
              <a:rPr lang="en-GB" sz="2000">
                <a:solidFill>
                  <a:srgbClr val="000000"/>
                </a:solidFill>
              </a:rPr>
              <a:t>avec réponse</a:t>
            </a:r>
            <a:endParaRPr lang="en-US" sz="2000">
              <a:solidFill>
                <a:srgbClr val="000000"/>
              </a:solidFill>
            </a:endParaRPr>
          </a:p>
        </p:txBody>
      </p:sp>
      <p:sp>
        <p:nvSpPr>
          <p:cNvPr id="576621" name="AutoShape 109"/>
          <p:cNvSpPr>
            <a:spLocks noChangeArrowheads="1"/>
          </p:cNvSpPr>
          <p:nvPr>
            <p:custDataLst>
              <p:tags r:id="rId19"/>
            </p:custDataLst>
          </p:nvPr>
        </p:nvSpPr>
        <p:spPr bwMode="auto">
          <a:xfrm>
            <a:off x="2053317" y="3880750"/>
            <a:ext cx="373063"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1</a:t>
            </a:r>
          </a:p>
        </p:txBody>
      </p:sp>
      <p:sp>
        <p:nvSpPr>
          <p:cNvPr id="576622" name="AutoShape 110"/>
          <p:cNvSpPr>
            <a:spLocks noChangeArrowheads="1"/>
          </p:cNvSpPr>
          <p:nvPr>
            <p:custDataLst>
              <p:tags r:id="rId20"/>
            </p:custDataLst>
          </p:nvPr>
        </p:nvSpPr>
        <p:spPr bwMode="auto">
          <a:xfrm>
            <a:off x="710292" y="2548838"/>
            <a:ext cx="373063"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2</a:t>
            </a:r>
          </a:p>
        </p:txBody>
      </p:sp>
      <p:sp>
        <p:nvSpPr>
          <p:cNvPr id="576623" name="AutoShape 111"/>
          <p:cNvSpPr>
            <a:spLocks noChangeArrowheads="1"/>
          </p:cNvSpPr>
          <p:nvPr>
            <p:custDataLst>
              <p:tags r:id="rId21"/>
            </p:custDataLst>
          </p:nvPr>
        </p:nvSpPr>
        <p:spPr bwMode="auto">
          <a:xfrm>
            <a:off x="5118780" y="2548838"/>
            <a:ext cx="373062"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3</a:t>
            </a:r>
          </a:p>
        </p:txBody>
      </p:sp>
      <p:pic>
        <p:nvPicPr>
          <p:cNvPr id="576624" name="Picture 112" descr="Validate_XMark01"/>
          <p:cNvPicPr>
            <a:picLocks noChangeAspect="1" noChangeArrowheads="1"/>
          </p:cNvPicPr>
          <p:nvPr>
            <p:custDataLst>
              <p:tags r:id="rId22"/>
            </p:custDataLst>
          </p:nvPr>
        </p:nvPicPr>
        <p:blipFill>
          <a:blip r:embed="rId44" cstate="print"/>
          <a:srcRect/>
          <a:stretch>
            <a:fillRect/>
          </a:stretch>
        </p:blipFill>
        <p:spPr bwMode="auto">
          <a:xfrm>
            <a:off x="4477430" y="3191775"/>
            <a:ext cx="833437" cy="849313"/>
          </a:xfrm>
          <a:prstGeom prst="rect">
            <a:avLst/>
          </a:prstGeom>
          <a:noFill/>
        </p:spPr>
      </p:pic>
      <p:grpSp>
        <p:nvGrpSpPr>
          <p:cNvPr id="38" name="Groupe 37"/>
          <p:cNvGrpSpPr/>
          <p:nvPr/>
        </p:nvGrpSpPr>
        <p:grpSpPr>
          <a:xfrm>
            <a:off x="1145267" y="3361638"/>
            <a:ext cx="977900" cy="1171575"/>
            <a:chOff x="1145267" y="3361638"/>
            <a:chExt cx="977900" cy="1171575"/>
          </a:xfrm>
        </p:grpSpPr>
        <p:sp>
          <p:nvSpPr>
            <p:cNvPr id="576594" name="Oval 82"/>
            <p:cNvSpPr>
              <a:spLocks noChangeArrowheads="1"/>
            </p:cNvSpPr>
            <p:nvPr>
              <p:custDataLst>
                <p:tags r:id="rId27"/>
              </p:custDataLst>
            </p:nvPr>
          </p:nvSpPr>
          <p:spPr bwMode="auto">
            <a:xfrm>
              <a:off x="1288142" y="3361638"/>
              <a:ext cx="777875" cy="704850"/>
            </a:xfrm>
            <a:prstGeom prst="ellipse">
              <a:avLst/>
            </a:prstGeom>
            <a:solidFill>
              <a:schemeClr val="bg1"/>
            </a:solidFill>
            <a:ln w="38100" algn="ctr">
              <a:solidFill>
                <a:srgbClr val="CC0000"/>
              </a:solidFill>
              <a:round/>
              <a:headEnd/>
              <a:tailEnd/>
            </a:ln>
            <a:effectLst/>
          </p:spPr>
          <p:txBody>
            <a:bodyPr wrap="none" anchor="ctr"/>
            <a:lstStyle/>
            <a:p>
              <a:endParaRPr lang="fr-FR"/>
            </a:p>
          </p:txBody>
        </p:sp>
        <p:sp>
          <p:nvSpPr>
            <p:cNvPr id="576595" name="Oval 83"/>
            <p:cNvSpPr>
              <a:spLocks noChangeArrowheads="1"/>
            </p:cNvSpPr>
            <p:nvPr>
              <p:custDataLst>
                <p:tags r:id="rId28"/>
              </p:custDataLst>
            </p:nvPr>
          </p:nvSpPr>
          <p:spPr bwMode="auto">
            <a:xfrm>
              <a:off x="1380217" y="3455300"/>
              <a:ext cx="573088" cy="519113"/>
            </a:xfrm>
            <a:prstGeom prst="ellipse">
              <a:avLst/>
            </a:prstGeom>
            <a:solidFill>
              <a:schemeClr val="bg1"/>
            </a:solidFill>
            <a:ln w="28575" algn="ctr">
              <a:solidFill>
                <a:srgbClr val="CC0000"/>
              </a:solidFill>
              <a:round/>
              <a:headEnd/>
              <a:tailEnd/>
            </a:ln>
            <a:effectLst/>
          </p:spPr>
          <p:txBody>
            <a:bodyPr wrap="none" anchor="ctr"/>
            <a:lstStyle/>
            <a:p>
              <a:endParaRPr lang="fr-FR"/>
            </a:p>
          </p:txBody>
        </p:sp>
        <p:sp>
          <p:nvSpPr>
            <p:cNvPr id="576596" name="Oval 84"/>
            <p:cNvSpPr>
              <a:spLocks noChangeArrowheads="1"/>
            </p:cNvSpPr>
            <p:nvPr>
              <p:custDataLst>
                <p:tags r:id="rId29"/>
              </p:custDataLst>
            </p:nvPr>
          </p:nvSpPr>
          <p:spPr bwMode="auto">
            <a:xfrm>
              <a:off x="1465942" y="3541025"/>
              <a:ext cx="384175" cy="347663"/>
            </a:xfrm>
            <a:prstGeom prst="ellipse">
              <a:avLst/>
            </a:prstGeom>
            <a:solidFill>
              <a:schemeClr val="bg1"/>
            </a:solidFill>
            <a:ln w="19050" algn="ctr">
              <a:solidFill>
                <a:srgbClr val="CC0000"/>
              </a:solidFill>
              <a:round/>
              <a:headEnd/>
              <a:tailEnd/>
            </a:ln>
            <a:effectLst/>
          </p:spPr>
          <p:txBody>
            <a:bodyPr wrap="none" anchor="ctr"/>
            <a:lstStyle/>
            <a:p>
              <a:endParaRPr lang="fr-FR"/>
            </a:p>
          </p:txBody>
        </p:sp>
        <p:sp>
          <p:nvSpPr>
            <p:cNvPr id="576597" name="Oval 85"/>
            <p:cNvSpPr>
              <a:spLocks noChangeArrowheads="1"/>
            </p:cNvSpPr>
            <p:nvPr>
              <p:custDataLst>
                <p:tags r:id="rId30"/>
              </p:custDataLst>
            </p:nvPr>
          </p:nvSpPr>
          <p:spPr bwMode="auto">
            <a:xfrm>
              <a:off x="1535792" y="3614050"/>
              <a:ext cx="231775" cy="200025"/>
            </a:xfrm>
            <a:prstGeom prst="ellipse">
              <a:avLst/>
            </a:prstGeom>
            <a:solidFill>
              <a:schemeClr val="bg1"/>
            </a:solidFill>
            <a:ln w="12700" algn="ctr">
              <a:solidFill>
                <a:srgbClr val="CC0000"/>
              </a:solidFill>
              <a:round/>
              <a:headEnd/>
              <a:tailEnd/>
            </a:ln>
            <a:effectLst/>
          </p:spPr>
          <p:txBody>
            <a:bodyPr wrap="none" anchor="ctr"/>
            <a:lstStyle/>
            <a:p>
              <a:endParaRPr lang="fr-FR"/>
            </a:p>
          </p:txBody>
        </p:sp>
        <p:sp>
          <p:nvSpPr>
            <p:cNvPr id="576598" name="Oval 86"/>
            <p:cNvSpPr>
              <a:spLocks noChangeArrowheads="1"/>
            </p:cNvSpPr>
            <p:nvPr>
              <p:custDataLst>
                <p:tags r:id="rId31"/>
              </p:custDataLst>
            </p:nvPr>
          </p:nvSpPr>
          <p:spPr bwMode="auto">
            <a:xfrm>
              <a:off x="1592942" y="3666438"/>
              <a:ext cx="104775" cy="95250"/>
            </a:xfrm>
            <a:prstGeom prst="ellipse">
              <a:avLst/>
            </a:prstGeom>
            <a:solidFill>
              <a:srgbClr val="CC0000"/>
            </a:solidFill>
            <a:ln w="12700" algn="ctr">
              <a:noFill/>
              <a:round/>
              <a:headEnd/>
              <a:tailEnd/>
            </a:ln>
            <a:effectLst/>
          </p:spPr>
          <p:txBody>
            <a:bodyPr wrap="none" anchor="ctr"/>
            <a:lstStyle/>
            <a:p>
              <a:endParaRPr lang="fr-FR"/>
            </a:p>
          </p:txBody>
        </p:sp>
        <p:sp>
          <p:nvSpPr>
            <p:cNvPr id="576599" name="Text Box 87"/>
            <p:cNvSpPr txBox="1">
              <a:spLocks noChangeArrowheads="1"/>
            </p:cNvSpPr>
            <p:nvPr>
              <p:custDataLst>
                <p:tags r:id="rId32"/>
              </p:custDataLst>
            </p:nvPr>
          </p:nvSpPr>
          <p:spPr bwMode="auto">
            <a:xfrm>
              <a:off x="1145267" y="3628338"/>
              <a:ext cx="977900" cy="171450"/>
            </a:xfrm>
            <a:prstGeom prst="rect">
              <a:avLst/>
            </a:prstGeom>
            <a:solidFill>
              <a:schemeClr val="accent1">
                <a:alpha val="75000"/>
              </a:schemeClr>
            </a:solidFill>
            <a:ln w="9525" algn="ctr">
              <a:noFill/>
              <a:miter lim="800000"/>
              <a:headEnd/>
              <a:tailEnd/>
            </a:ln>
            <a:effectLst/>
          </p:spPr>
          <p:txBody>
            <a:bodyPr wrap="none" anchor="ctr"/>
            <a:lstStyle/>
            <a:p>
              <a:r>
                <a:rPr lang="en-GB" sz="2000">
                  <a:solidFill>
                    <a:srgbClr val="000000"/>
                  </a:solidFill>
                </a:rPr>
                <a:t>Diffusion</a:t>
              </a:r>
              <a:endParaRPr lang="en-US" sz="2000"/>
            </a:p>
          </p:txBody>
        </p:sp>
        <p:sp>
          <p:nvSpPr>
            <p:cNvPr id="576600" name="Line 88"/>
            <p:cNvSpPr>
              <a:spLocks noChangeShapeType="1"/>
            </p:cNvSpPr>
            <p:nvPr>
              <p:custDataLst>
                <p:tags r:id="rId33"/>
              </p:custDataLst>
            </p:nvPr>
          </p:nvSpPr>
          <p:spPr bwMode="auto">
            <a:xfrm flipV="1">
              <a:off x="1575480" y="4056963"/>
              <a:ext cx="0" cy="476250"/>
            </a:xfrm>
            <a:prstGeom prst="line">
              <a:avLst/>
            </a:prstGeom>
            <a:noFill/>
            <a:ln w="38100">
              <a:solidFill>
                <a:srgbClr val="CC0000"/>
              </a:solidFill>
              <a:round/>
              <a:headEnd/>
              <a:tailEnd type="triangle" w="med" len="med"/>
            </a:ln>
            <a:effectLst/>
          </p:spPr>
          <p:txBody>
            <a:bodyPr anchor="ctr"/>
            <a:lstStyle/>
            <a:p>
              <a:endParaRPr lang="fr-FR"/>
            </a:p>
          </p:txBody>
        </p:sp>
        <p:sp>
          <p:nvSpPr>
            <p:cNvPr id="576601" name="Line 89"/>
            <p:cNvSpPr>
              <a:spLocks noChangeShapeType="1"/>
            </p:cNvSpPr>
            <p:nvPr>
              <p:custDataLst>
                <p:tags r:id="rId34"/>
              </p:custDataLst>
            </p:nvPr>
          </p:nvSpPr>
          <p:spPr bwMode="auto">
            <a:xfrm flipH="1">
              <a:off x="1743755" y="4056963"/>
              <a:ext cx="0" cy="476250"/>
            </a:xfrm>
            <a:prstGeom prst="line">
              <a:avLst/>
            </a:prstGeom>
            <a:noFill/>
            <a:ln w="38100">
              <a:solidFill>
                <a:srgbClr val="CC0000"/>
              </a:solidFill>
              <a:round/>
              <a:headEnd/>
              <a:tailEnd type="triangle" w="med" len="med"/>
            </a:ln>
            <a:effectLst/>
          </p:spPr>
          <p:txBody>
            <a:bodyPr anchor="ctr"/>
            <a:lstStyle/>
            <a:p>
              <a:endParaRPr lang="fr-FR"/>
            </a:p>
          </p:txBody>
        </p:sp>
      </p:grpSp>
      <p:pic>
        <p:nvPicPr>
          <p:cNvPr id="576615" name="Picture 103" descr="Site01"/>
          <p:cNvPicPr>
            <a:picLocks noChangeAspect="1" noChangeArrowheads="1"/>
          </p:cNvPicPr>
          <p:nvPr>
            <p:custDataLst>
              <p:tags r:id="rId23"/>
            </p:custDataLst>
          </p:nvPr>
        </p:nvPicPr>
        <p:blipFill>
          <a:blip r:embed="rId37"/>
          <a:srcRect/>
          <a:stretch>
            <a:fillRect/>
          </a:stretch>
        </p:blipFill>
        <p:spPr bwMode="auto">
          <a:xfrm>
            <a:off x="6409417" y="2898088"/>
            <a:ext cx="1893888" cy="1003300"/>
          </a:xfrm>
          <a:prstGeom prst="rect">
            <a:avLst/>
          </a:prstGeom>
          <a:noFill/>
        </p:spPr>
      </p:pic>
      <p:pic>
        <p:nvPicPr>
          <p:cNvPr id="576616" name="Picture 104" descr="Computer_DesktopComputerSansKeyboard01"/>
          <p:cNvPicPr>
            <a:picLocks noChangeAspect="1" noChangeArrowheads="1"/>
          </p:cNvPicPr>
          <p:nvPr>
            <p:custDataLst>
              <p:tags r:id="rId24"/>
            </p:custDataLst>
          </p:nvPr>
        </p:nvPicPr>
        <p:blipFill>
          <a:blip r:embed="rId45" cstate="print"/>
          <a:srcRect/>
          <a:stretch>
            <a:fillRect/>
          </a:stretch>
        </p:blipFill>
        <p:spPr bwMode="auto">
          <a:xfrm>
            <a:off x="7196817" y="2593288"/>
            <a:ext cx="895350" cy="989012"/>
          </a:xfrm>
          <a:prstGeom prst="rect">
            <a:avLst/>
          </a:prstGeom>
          <a:noFill/>
        </p:spPr>
      </p:pic>
      <p:sp>
        <p:nvSpPr>
          <p:cNvPr id="576620" name="Text Box 108"/>
          <p:cNvSpPr txBox="1">
            <a:spLocks noChangeArrowheads="1"/>
          </p:cNvSpPr>
          <p:nvPr>
            <p:custDataLst>
              <p:tags r:id="rId25"/>
            </p:custDataLst>
          </p:nvPr>
        </p:nvSpPr>
        <p:spPr bwMode="auto">
          <a:xfrm>
            <a:off x="5910942" y="2474225"/>
            <a:ext cx="1446230" cy="615553"/>
          </a:xfrm>
          <a:prstGeom prst="rect">
            <a:avLst/>
          </a:prstGeom>
          <a:noFill/>
          <a:ln w="9525" algn="ctr">
            <a:noFill/>
            <a:miter lim="800000"/>
            <a:headEnd/>
            <a:tailEnd/>
          </a:ln>
          <a:effectLst/>
        </p:spPr>
        <p:txBody>
          <a:bodyPr wrap="none">
            <a:spAutoFit/>
          </a:bodyPr>
          <a:lstStyle/>
          <a:p>
            <a:pPr algn="l">
              <a:lnSpc>
                <a:spcPct val="85000"/>
              </a:lnSpc>
            </a:pPr>
            <a:r>
              <a:rPr lang="en-GB" sz="2000" dirty="0">
                <a:solidFill>
                  <a:srgbClr val="000000"/>
                </a:solidFill>
              </a:rPr>
              <a:t>Diffusion</a:t>
            </a:r>
            <a:endParaRPr lang="en-US" sz="2000" dirty="0"/>
          </a:p>
          <a:p>
            <a:pPr algn="l">
              <a:lnSpc>
                <a:spcPct val="85000"/>
              </a:lnSpc>
            </a:pPr>
            <a:r>
              <a:rPr lang="en-GB" sz="2000" dirty="0" err="1">
                <a:solidFill>
                  <a:srgbClr val="000000"/>
                </a:solidFill>
              </a:rPr>
              <a:t>infructueuse</a:t>
            </a:r>
            <a:endParaRPr lang="en-US" sz="2000" dirty="0">
              <a:solidFill>
                <a:srgbClr val="000000"/>
              </a:solidFill>
            </a:endParaRPr>
          </a:p>
        </p:txBody>
      </p:sp>
      <p:sp>
        <p:nvSpPr>
          <p:cNvPr id="576614" name="AutoShape 102"/>
          <p:cNvSpPr>
            <a:spLocks noChangeArrowheads="1"/>
          </p:cNvSpPr>
          <p:nvPr>
            <p:custDataLst>
              <p:tags r:id="rId26"/>
            </p:custDataLst>
          </p:nvPr>
        </p:nvSpPr>
        <p:spPr bwMode="auto">
          <a:xfrm>
            <a:off x="182994" y="1520852"/>
            <a:ext cx="8723086" cy="1495303"/>
          </a:xfrm>
          <a:prstGeom prst="roundRect">
            <a:avLst>
              <a:gd name="adj" fmla="val 23843"/>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85000"/>
              </a:lnSpc>
            </a:pPr>
            <a:r>
              <a:rPr lang="en-GB" sz="2500">
                <a:solidFill>
                  <a:srgbClr val="000000"/>
                </a:solidFill>
              </a:rPr>
              <a:t>Les</a:t>
            </a:r>
            <a:r>
              <a:rPr lang="en-GB" sz="2500" i="1">
                <a:solidFill>
                  <a:srgbClr val="000000"/>
                </a:solidFill>
              </a:rPr>
              <a:t> diffusions locales</a:t>
            </a:r>
            <a:r>
              <a:rPr lang="en-GB" sz="2500">
                <a:solidFill>
                  <a:srgbClr val="000000"/>
                </a:solidFill>
              </a:rPr>
              <a:t> sont des messages réseau envoyés à partir d'un seul ordinateur et distribués à tous les autres périphériques du même segment de réseau</a:t>
            </a:r>
            <a:endParaRPr lang="en-US" sz="25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trips(upRight)">
                                      <p:cBhvr>
                                        <p:cTn id="7" dur="2000"/>
                                        <p:tgtEl>
                                          <p:spTgt spid="38"/>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576621"/>
                                        </p:tgtEl>
                                        <p:attrNameLst>
                                          <p:attrName>style.visibility</p:attrName>
                                        </p:attrNameLst>
                                      </p:cBhvr>
                                      <p:to>
                                        <p:strVal val="visible"/>
                                      </p:to>
                                    </p:set>
                                    <p:animEffect transition="in" filter="strips(upRight)">
                                      <p:cBhvr>
                                        <p:cTn id="10" dur="2000"/>
                                        <p:tgtEl>
                                          <p:spTgt spid="576621"/>
                                        </p:tgtEl>
                                      </p:cBhvr>
                                    </p:animEffect>
                                  </p:childTnLst>
                                </p:cTn>
                              </p:par>
                              <p:par>
                                <p:cTn id="11" presetID="18" presetClass="entr" presetSubtype="3" fill="hold" grpId="0" nodeType="withEffect">
                                  <p:stCondLst>
                                    <p:cond delay="0"/>
                                  </p:stCondLst>
                                  <p:childTnLst>
                                    <p:set>
                                      <p:cBhvr>
                                        <p:cTn id="12" dur="1" fill="hold">
                                          <p:stCondLst>
                                            <p:cond delay="0"/>
                                          </p:stCondLst>
                                        </p:cTn>
                                        <p:tgtEl>
                                          <p:spTgt spid="576608"/>
                                        </p:tgtEl>
                                        <p:attrNameLst>
                                          <p:attrName>style.visibility</p:attrName>
                                        </p:attrNameLst>
                                      </p:cBhvr>
                                      <p:to>
                                        <p:strVal val="visible"/>
                                      </p:to>
                                    </p:set>
                                    <p:animEffect transition="in" filter="strips(upRight)">
                                      <p:cBhvr>
                                        <p:cTn id="13" dur="2000"/>
                                        <p:tgtEl>
                                          <p:spTgt spid="576608"/>
                                        </p:tgtEl>
                                      </p:cBhvr>
                                    </p:animEffect>
                                  </p:childTnLst>
                                </p:cTn>
                              </p:par>
                              <p:par>
                                <p:cTn id="14" presetID="18" presetClass="entr" presetSubtype="3" fill="hold" grpId="0" nodeType="withEffect">
                                  <p:stCondLst>
                                    <p:cond delay="0"/>
                                  </p:stCondLst>
                                  <p:childTnLst>
                                    <p:set>
                                      <p:cBhvr>
                                        <p:cTn id="15" dur="1" fill="hold">
                                          <p:stCondLst>
                                            <p:cond delay="0"/>
                                          </p:stCondLst>
                                        </p:cTn>
                                        <p:tgtEl>
                                          <p:spTgt spid="576609"/>
                                        </p:tgtEl>
                                        <p:attrNameLst>
                                          <p:attrName>style.visibility</p:attrName>
                                        </p:attrNameLst>
                                      </p:cBhvr>
                                      <p:to>
                                        <p:strVal val="visible"/>
                                      </p:to>
                                    </p:set>
                                    <p:animEffect transition="in" filter="strips(upRight)">
                                      <p:cBhvr>
                                        <p:cTn id="16" dur="2000"/>
                                        <p:tgtEl>
                                          <p:spTgt spid="576609"/>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576622"/>
                                        </p:tgtEl>
                                        <p:attrNameLst>
                                          <p:attrName>style.visibility</p:attrName>
                                        </p:attrNameLst>
                                      </p:cBhvr>
                                      <p:to>
                                        <p:strVal val="visible"/>
                                      </p:to>
                                    </p:set>
                                    <p:animEffect transition="in" filter="strips(upRight)">
                                      <p:cBhvr>
                                        <p:cTn id="21" dur="2000"/>
                                        <p:tgtEl>
                                          <p:spTgt spid="576622"/>
                                        </p:tgtEl>
                                      </p:cBhvr>
                                    </p:animEffect>
                                  </p:childTnLst>
                                </p:cTn>
                              </p:par>
                              <p:par>
                                <p:cTn id="22" presetID="18" presetClass="entr" presetSubtype="3" fill="hold" nodeType="withEffect">
                                  <p:stCondLst>
                                    <p:cond delay="0"/>
                                  </p:stCondLst>
                                  <p:childTnLst>
                                    <p:set>
                                      <p:cBhvr>
                                        <p:cTn id="23" dur="1" fill="hold">
                                          <p:stCondLst>
                                            <p:cond delay="0"/>
                                          </p:stCondLst>
                                        </p:cTn>
                                        <p:tgtEl>
                                          <p:spTgt spid="576617"/>
                                        </p:tgtEl>
                                        <p:attrNameLst>
                                          <p:attrName>style.visibility</p:attrName>
                                        </p:attrNameLst>
                                      </p:cBhvr>
                                      <p:to>
                                        <p:strVal val="visible"/>
                                      </p:to>
                                    </p:set>
                                    <p:animEffect transition="in" filter="strips(upRight)">
                                      <p:cBhvr>
                                        <p:cTn id="24" dur="2000"/>
                                        <p:tgtEl>
                                          <p:spTgt spid="576617"/>
                                        </p:tgtEl>
                                      </p:cBhvr>
                                    </p:animEffect>
                                  </p:childTnLst>
                                </p:cTn>
                              </p:par>
                              <p:par>
                                <p:cTn id="25" presetID="18" presetClass="entr" presetSubtype="3" fill="hold" grpId="0" nodeType="withEffect">
                                  <p:stCondLst>
                                    <p:cond delay="0"/>
                                  </p:stCondLst>
                                  <p:childTnLst>
                                    <p:set>
                                      <p:cBhvr>
                                        <p:cTn id="26" dur="1" fill="hold">
                                          <p:stCondLst>
                                            <p:cond delay="0"/>
                                          </p:stCondLst>
                                        </p:cTn>
                                        <p:tgtEl>
                                          <p:spTgt spid="576619"/>
                                        </p:tgtEl>
                                        <p:attrNameLst>
                                          <p:attrName>style.visibility</p:attrName>
                                        </p:attrNameLst>
                                      </p:cBhvr>
                                      <p:to>
                                        <p:strVal val="visible"/>
                                      </p:to>
                                    </p:set>
                                    <p:animEffect transition="in" filter="strips(upRight)">
                                      <p:cBhvr>
                                        <p:cTn id="27" dur="2000"/>
                                        <p:tgtEl>
                                          <p:spTgt spid="576619"/>
                                        </p:tgtEl>
                                      </p:cBhvr>
                                    </p:animEffect>
                                  </p:childTnLst>
                                </p:cTn>
                              </p:par>
                              <p:par>
                                <p:cTn id="28" presetID="18" presetClass="entr" presetSubtype="3" fill="hold" grpId="0" nodeType="withEffect">
                                  <p:stCondLst>
                                    <p:cond delay="0"/>
                                  </p:stCondLst>
                                  <p:childTnLst>
                                    <p:set>
                                      <p:cBhvr>
                                        <p:cTn id="29" dur="1" fill="hold">
                                          <p:stCondLst>
                                            <p:cond delay="0"/>
                                          </p:stCondLst>
                                        </p:cTn>
                                        <p:tgtEl>
                                          <p:spTgt spid="576611"/>
                                        </p:tgtEl>
                                        <p:attrNameLst>
                                          <p:attrName>style.visibility</p:attrName>
                                        </p:attrNameLst>
                                      </p:cBhvr>
                                      <p:to>
                                        <p:strVal val="visible"/>
                                      </p:to>
                                    </p:set>
                                    <p:animEffect transition="in" filter="strips(upRight)">
                                      <p:cBhvr>
                                        <p:cTn id="30" dur="2000"/>
                                        <p:tgtEl>
                                          <p:spTgt spid="576611"/>
                                        </p:tgtEl>
                                      </p:cBhvr>
                                    </p:animEffect>
                                  </p:childTnLst>
                                </p:cTn>
                              </p:par>
                              <p:par>
                                <p:cTn id="31" presetID="18" presetClass="entr" presetSubtype="3" fill="hold" grpId="0" nodeType="withEffect">
                                  <p:stCondLst>
                                    <p:cond delay="0"/>
                                  </p:stCondLst>
                                  <p:childTnLst>
                                    <p:set>
                                      <p:cBhvr>
                                        <p:cTn id="32" dur="1" fill="hold">
                                          <p:stCondLst>
                                            <p:cond delay="0"/>
                                          </p:stCondLst>
                                        </p:cTn>
                                        <p:tgtEl>
                                          <p:spTgt spid="576610"/>
                                        </p:tgtEl>
                                        <p:attrNameLst>
                                          <p:attrName>style.visibility</p:attrName>
                                        </p:attrNameLst>
                                      </p:cBhvr>
                                      <p:to>
                                        <p:strVal val="visible"/>
                                      </p:to>
                                    </p:set>
                                    <p:animEffect transition="in" filter="strips(upRight)">
                                      <p:cBhvr>
                                        <p:cTn id="33" dur="2000"/>
                                        <p:tgtEl>
                                          <p:spTgt spid="576610"/>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576603"/>
                                        </p:tgtEl>
                                        <p:attrNameLst>
                                          <p:attrName>style.visibility</p:attrName>
                                        </p:attrNameLst>
                                      </p:cBhvr>
                                      <p:to>
                                        <p:strVal val="visible"/>
                                      </p:to>
                                    </p:set>
                                    <p:animEffect transition="in" filter="strips(upRight)">
                                      <p:cBhvr>
                                        <p:cTn id="38" dur="2000"/>
                                        <p:tgtEl>
                                          <p:spTgt spid="576603"/>
                                        </p:tgtEl>
                                      </p:cBhvr>
                                    </p:animEffect>
                                  </p:childTnLst>
                                </p:cTn>
                              </p:par>
                              <p:par>
                                <p:cTn id="39" presetID="18" presetClass="entr" presetSubtype="3" fill="hold" grpId="0" nodeType="withEffect">
                                  <p:stCondLst>
                                    <p:cond delay="0"/>
                                  </p:stCondLst>
                                  <p:childTnLst>
                                    <p:set>
                                      <p:cBhvr>
                                        <p:cTn id="40" dur="1" fill="hold">
                                          <p:stCondLst>
                                            <p:cond delay="0"/>
                                          </p:stCondLst>
                                        </p:cTn>
                                        <p:tgtEl>
                                          <p:spTgt spid="576604"/>
                                        </p:tgtEl>
                                        <p:attrNameLst>
                                          <p:attrName>style.visibility</p:attrName>
                                        </p:attrNameLst>
                                      </p:cBhvr>
                                      <p:to>
                                        <p:strVal val="visible"/>
                                      </p:to>
                                    </p:set>
                                    <p:animEffect transition="in" filter="strips(upRight)">
                                      <p:cBhvr>
                                        <p:cTn id="41" dur="2000"/>
                                        <p:tgtEl>
                                          <p:spTgt spid="576604"/>
                                        </p:tgtEl>
                                      </p:cBhvr>
                                    </p:animEffect>
                                  </p:childTnLst>
                                </p:cTn>
                              </p:par>
                              <p:par>
                                <p:cTn id="42" presetID="18" presetClass="entr" presetSubtype="3" fill="hold" grpId="0" nodeType="withEffect">
                                  <p:stCondLst>
                                    <p:cond delay="0"/>
                                  </p:stCondLst>
                                  <p:childTnLst>
                                    <p:set>
                                      <p:cBhvr>
                                        <p:cTn id="43" dur="1" fill="hold">
                                          <p:stCondLst>
                                            <p:cond delay="0"/>
                                          </p:stCondLst>
                                        </p:cTn>
                                        <p:tgtEl>
                                          <p:spTgt spid="576623"/>
                                        </p:tgtEl>
                                        <p:attrNameLst>
                                          <p:attrName>style.visibility</p:attrName>
                                        </p:attrNameLst>
                                      </p:cBhvr>
                                      <p:to>
                                        <p:strVal val="visible"/>
                                      </p:to>
                                    </p:set>
                                    <p:animEffect transition="in" filter="strips(upRight)">
                                      <p:cBhvr>
                                        <p:cTn id="44" dur="2000"/>
                                        <p:tgtEl>
                                          <p:spTgt spid="576623"/>
                                        </p:tgtEl>
                                      </p:cBhvr>
                                    </p:animEffect>
                                  </p:childTnLst>
                                </p:cTn>
                              </p:par>
                              <p:par>
                                <p:cTn id="45" presetID="18" presetClass="entr" presetSubtype="3" fill="hold" nodeType="withEffect">
                                  <p:stCondLst>
                                    <p:cond delay="0"/>
                                  </p:stCondLst>
                                  <p:childTnLst>
                                    <p:set>
                                      <p:cBhvr>
                                        <p:cTn id="46" dur="1" fill="hold">
                                          <p:stCondLst>
                                            <p:cond delay="0"/>
                                          </p:stCondLst>
                                        </p:cTn>
                                        <p:tgtEl>
                                          <p:spTgt spid="576615"/>
                                        </p:tgtEl>
                                        <p:attrNameLst>
                                          <p:attrName>style.visibility</p:attrName>
                                        </p:attrNameLst>
                                      </p:cBhvr>
                                      <p:to>
                                        <p:strVal val="visible"/>
                                      </p:to>
                                    </p:set>
                                    <p:animEffect transition="in" filter="strips(upRight)">
                                      <p:cBhvr>
                                        <p:cTn id="47" dur="2000"/>
                                        <p:tgtEl>
                                          <p:spTgt spid="576615"/>
                                        </p:tgtEl>
                                      </p:cBhvr>
                                    </p:animEffect>
                                  </p:childTnLst>
                                </p:cTn>
                              </p:par>
                              <p:par>
                                <p:cTn id="48" presetID="18" presetClass="entr" presetSubtype="3" fill="hold" nodeType="withEffect">
                                  <p:stCondLst>
                                    <p:cond delay="0"/>
                                  </p:stCondLst>
                                  <p:childTnLst>
                                    <p:set>
                                      <p:cBhvr>
                                        <p:cTn id="49" dur="1" fill="hold">
                                          <p:stCondLst>
                                            <p:cond delay="0"/>
                                          </p:stCondLst>
                                        </p:cTn>
                                        <p:tgtEl>
                                          <p:spTgt spid="576616"/>
                                        </p:tgtEl>
                                        <p:attrNameLst>
                                          <p:attrName>style.visibility</p:attrName>
                                        </p:attrNameLst>
                                      </p:cBhvr>
                                      <p:to>
                                        <p:strVal val="visible"/>
                                      </p:to>
                                    </p:set>
                                    <p:animEffect transition="in" filter="strips(upRight)">
                                      <p:cBhvr>
                                        <p:cTn id="50" dur="2000"/>
                                        <p:tgtEl>
                                          <p:spTgt spid="576616"/>
                                        </p:tgtEl>
                                      </p:cBhvr>
                                    </p:animEffect>
                                  </p:childTnLst>
                                </p:cTn>
                              </p:par>
                              <p:par>
                                <p:cTn id="51" presetID="18" presetClass="entr" presetSubtype="3" fill="hold" grpId="0" nodeType="withEffect">
                                  <p:stCondLst>
                                    <p:cond delay="0"/>
                                  </p:stCondLst>
                                  <p:childTnLst>
                                    <p:set>
                                      <p:cBhvr>
                                        <p:cTn id="52" dur="1" fill="hold">
                                          <p:stCondLst>
                                            <p:cond delay="0"/>
                                          </p:stCondLst>
                                        </p:cTn>
                                        <p:tgtEl>
                                          <p:spTgt spid="576602"/>
                                        </p:tgtEl>
                                        <p:attrNameLst>
                                          <p:attrName>style.visibility</p:attrName>
                                        </p:attrNameLst>
                                      </p:cBhvr>
                                      <p:to>
                                        <p:strVal val="visible"/>
                                      </p:to>
                                    </p:set>
                                    <p:animEffect transition="in" filter="strips(upRight)">
                                      <p:cBhvr>
                                        <p:cTn id="53" dur="2000"/>
                                        <p:tgtEl>
                                          <p:spTgt spid="576602"/>
                                        </p:tgtEl>
                                      </p:cBhvr>
                                    </p:animEffect>
                                  </p:childTnLst>
                                </p:cTn>
                              </p:par>
                              <p:par>
                                <p:cTn id="54" presetID="18" presetClass="entr" presetSubtype="3" fill="hold" grpId="0" nodeType="withEffect">
                                  <p:stCondLst>
                                    <p:cond delay="0"/>
                                  </p:stCondLst>
                                  <p:childTnLst>
                                    <p:set>
                                      <p:cBhvr>
                                        <p:cTn id="55" dur="1" fill="hold">
                                          <p:stCondLst>
                                            <p:cond delay="0"/>
                                          </p:stCondLst>
                                        </p:cTn>
                                        <p:tgtEl>
                                          <p:spTgt spid="576613"/>
                                        </p:tgtEl>
                                        <p:attrNameLst>
                                          <p:attrName>style.visibility</p:attrName>
                                        </p:attrNameLst>
                                      </p:cBhvr>
                                      <p:to>
                                        <p:strVal val="visible"/>
                                      </p:to>
                                    </p:set>
                                    <p:animEffect transition="in" filter="strips(upRight)">
                                      <p:cBhvr>
                                        <p:cTn id="56" dur="2000"/>
                                        <p:tgtEl>
                                          <p:spTgt spid="576613"/>
                                        </p:tgtEl>
                                      </p:cBhvr>
                                    </p:animEffect>
                                  </p:childTnLst>
                                </p:cTn>
                              </p:par>
                              <p:par>
                                <p:cTn id="57" presetID="18" presetClass="entr" presetSubtype="3" fill="hold" grpId="0" nodeType="withEffect">
                                  <p:stCondLst>
                                    <p:cond delay="0"/>
                                  </p:stCondLst>
                                  <p:childTnLst>
                                    <p:set>
                                      <p:cBhvr>
                                        <p:cTn id="58" dur="1" fill="hold">
                                          <p:stCondLst>
                                            <p:cond delay="0"/>
                                          </p:stCondLst>
                                        </p:cTn>
                                        <p:tgtEl>
                                          <p:spTgt spid="576612"/>
                                        </p:tgtEl>
                                        <p:attrNameLst>
                                          <p:attrName>style.visibility</p:attrName>
                                        </p:attrNameLst>
                                      </p:cBhvr>
                                      <p:to>
                                        <p:strVal val="visible"/>
                                      </p:to>
                                    </p:set>
                                    <p:animEffect transition="in" filter="strips(upRight)">
                                      <p:cBhvr>
                                        <p:cTn id="59" dur="2000"/>
                                        <p:tgtEl>
                                          <p:spTgt spid="576612"/>
                                        </p:tgtEl>
                                      </p:cBhvr>
                                    </p:animEffect>
                                  </p:childTnLst>
                                </p:cTn>
                              </p:par>
                            </p:childTnLst>
                          </p:cTn>
                        </p:par>
                      </p:childTnLst>
                    </p:cTn>
                  </p:par>
                  <p:par>
                    <p:cTn id="60" fill="hold">
                      <p:stCondLst>
                        <p:cond delay="indefinite"/>
                      </p:stCondLst>
                      <p:childTnLst>
                        <p:par>
                          <p:cTn id="61" fill="hold">
                            <p:stCondLst>
                              <p:cond delay="0"/>
                            </p:stCondLst>
                            <p:childTnLst>
                              <p:par>
                                <p:cTn id="62" presetID="5" presetClass="entr" presetSubtype="10" fill="hold" nodeType="clickEffect">
                                  <p:stCondLst>
                                    <p:cond delay="0"/>
                                  </p:stCondLst>
                                  <p:childTnLst>
                                    <p:set>
                                      <p:cBhvr>
                                        <p:cTn id="63" dur="1" fill="hold">
                                          <p:stCondLst>
                                            <p:cond delay="0"/>
                                          </p:stCondLst>
                                        </p:cTn>
                                        <p:tgtEl>
                                          <p:spTgt spid="576624"/>
                                        </p:tgtEl>
                                        <p:attrNameLst>
                                          <p:attrName>style.visibility</p:attrName>
                                        </p:attrNameLst>
                                      </p:cBhvr>
                                      <p:to>
                                        <p:strVal val="visible"/>
                                      </p:to>
                                    </p:set>
                                    <p:animEffect transition="in" filter="checkerboard(across)">
                                      <p:cBhvr>
                                        <p:cTn id="64" dur="500"/>
                                        <p:tgtEl>
                                          <p:spTgt spid="576624"/>
                                        </p:tgtEl>
                                      </p:cBhvr>
                                    </p:animEffect>
                                  </p:childTnLst>
                                </p:cTn>
                              </p:par>
                              <p:par>
                                <p:cTn id="65" presetID="5" presetClass="entr" presetSubtype="10" fill="hold" nodeType="withEffect">
                                  <p:stCondLst>
                                    <p:cond delay="0"/>
                                  </p:stCondLst>
                                  <p:childTnLst>
                                    <p:set>
                                      <p:cBhvr>
                                        <p:cTn id="66" dur="1" fill="hold">
                                          <p:stCondLst>
                                            <p:cond delay="0"/>
                                          </p:stCondLst>
                                        </p:cTn>
                                        <p:tgtEl>
                                          <p:spTgt spid="576618"/>
                                        </p:tgtEl>
                                        <p:attrNameLst>
                                          <p:attrName>style.visibility</p:attrName>
                                        </p:attrNameLst>
                                      </p:cBhvr>
                                      <p:to>
                                        <p:strVal val="visible"/>
                                      </p:to>
                                    </p:set>
                                    <p:animEffect transition="in" filter="checkerboard(across)">
                                      <p:cBhvr>
                                        <p:cTn id="67" dur="500"/>
                                        <p:tgtEl>
                                          <p:spTgt spid="576618"/>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576620"/>
                                        </p:tgtEl>
                                        <p:attrNameLst>
                                          <p:attrName>style.visibility</p:attrName>
                                        </p:attrNameLst>
                                      </p:cBhvr>
                                      <p:to>
                                        <p:strVal val="visible"/>
                                      </p:to>
                                    </p:set>
                                    <p:animEffect transition="in" filter="checkerboard(across)">
                                      <p:cBhvr>
                                        <p:cTn id="70" dur="500"/>
                                        <p:tgtEl>
                                          <p:spTgt spid="576620"/>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576614"/>
                                        </p:tgtEl>
                                        <p:attrNameLst>
                                          <p:attrName>style.visibility</p:attrName>
                                        </p:attrNameLst>
                                      </p:cBhvr>
                                      <p:to>
                                        <p:strVal val="visible"/>
                                      </p:to>
                                    </p:set>
                                    <p:anim calcmode="lin" valueType="num">
                                      <p:cBhvr additive="base">
                                        <p:cTn id="75" dur="2000" fill="hold"/>
                                        <p:tgtEl>
                                          <p:spTgt spid="576614"/>
                                        </p:tgtEl>
                                        <p:attrNameLst>
                                          <p:attrName>ppt_x</p:attrName>
                                        </p:attrNameLst>
                                      </p:cBhvr>
                                      <p:tavLst>
                                        <p:tav tm="0">
                                          <p:val>
                                            <p:strVal val="0-#ppt_w/2"/>
                                          </p:val>
                                        </p:tav>
                                        <p:tav tm="100000">
                                          <p:val>
                                            <p:strVal val="#ppt_x"/>
                                          </p:val>
                                        </p:tav>
                                      </p:tavLst>
                                    </p:anim>
                                    <p:anim calcmode="lin" valueType="num">
                                      <p:cBhvr additive="base">
                                        <p:cTn id="76" dur="2000" fill="hold"/>
                                        <p:tgtEl>
                                          <p:spTgt spid="5766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602" grpId="0" animBg="1"/>
      <p:bldP spid="576608" grpId="0" animBg="1"/>
      <p:bldP spid="576609" grpId="0" animBg="1"/>
      <p:bldP spid="576610" grpId="0" animBg="1"/>
      <p:bldP spid="576611" grpId="0" animBg="1"/>
      <p:bldP spid="576612" grpId="0" animBg="1"/>
      <p:bldP spid="576613" grpId="0" animBg="1"/>
      <p:bldP spid="576604" grpId="0" animBg="1"/>
      <p:bldP spid="576619" grpId="0"/>
      <p:bldP spid="576621" grpId="0" animBg="1"/>
      <p:bldP spid="576622" grpId="0" animBg="1"/>
      <p:bldP spid="576623" grpId="0" animBg="1"/>
      <p:bldP spid="576620" grpId="0"/>
      <p:bldP spid="5766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custDataLst>
              <p:tags r:id="rId1"/>
            </p:custDataLst>
          </p:nvPr>
        </p:nvSpPr>
        <p:spPr>
          <a:xfrm>
            <a:off x="288104" y="174009"/>
            <a:ext cx="8534400" cy="758952"/>
          </a:xfrm>
        </p:spPr>
        <p:txBody>
          <a:bodyPr vert="horz" anchor="b">
            <a:normAutofit/>
          </a:bodyPr>
          <a:lstStyle/>
          <a:p>
            <a:r>
              <a:rPr lang="en-GB" sz="3000" b="1" dirty="0">
                <a:solidFill>
                  <a:srgbClr val="C00000"/>
                </a:solidFill>
              </a:rPr>
              <a:t>Fichier Lmhosts</a:t>
            </a:r>
            <a:endParaRPr lang="en-US" sz="3000" b="1" dirty="0">
              <a:solidFill>
                <a:srgbClr val="C00000"/>
              </a:solidFill>
            </a:endParaRPr>
          </a:p>
        </p:txBody>
      </p:sp>
      <p:sp>
        <p:nvSpPr>
          <p:cNvPr id="578568" name="Freeform 8"/>
          <p:cNvSpPr>
            <a:spLocks/>
          </p:cNvSpPr>
          <p:nvPr/>
        </p:nvSpPr>
        <p:spPr bwMode="auto">
          <a:xfrm>
            <a:off x="2117725" y="2168525"/>
            <a:ext cx="1262063" cy="3251200"/>
          </a:xfrm>
          <a:custGeom>
            <a:avLst/>
            <a:gdLst/>
            <a:ahLst/>
            <a:cxnLst>
              <a:cxn ang="0">
                <a:pos x="0" y="1417"/>
              </a:cxn>
              <a:cxn ang="0">
                <a:pos x="795" y="0"/>
              </a:cxn>
              <a:cxn ang="0">
                <a:pos x="786" y="2048"/>
              </a:cxn>
              <a:cxn ang="0">
                <a:pos x="0" y="1417"/>
              </a:cxn>
            </a:cxnLst>
            <a:rect l="0" t="0" r="r" b="b"/>
            <a:pathLst>
              <a:path w="795" h="2048">
                <a:moveTo>
                  <a:pt x="0" y="1417"/>
                </a:moveTo>
                <a:lnTo>
                  <a:pt x="795" y="0"/>
                </a:lnTo>
                <a:lnTo>
                  <a:pt x="786" y="2048"/>
                </a:lnTo>
                <a:lnTo>
                  <a:pt x="0" y="1417"/>
                </a:lnTo>
                <a:close/>
              </a:path>
            </a:pathLst>
          </a:custGeom>
          <a:solidFill>
            <a:schemeClr val="accent2">
              <a:alpha val="50000"/>
            </a:schemeClr>
          </a:solidFill>
          <a:ln w="9525" cap="flat" cmpd="sng">
            <a:noFill/>
            <a:prstDash val="solid"/>
            <a:round/>
            <a:headEnd/>
            <a:tailEnd/>
          </a:ln>
          <a:effectLst/>
        </p:spPr>
        <p:txBody>
          <a:bodyPr anchor="ctr"/>
          <a:lstStyle/>
          <a:p>
            <a:endParaRPr lang="fr-FR"/>
          </a:p>
        </p:txBody>
      </p:sp>
      <p:pic>
        <p:nvPicPr>
          <p:cNvPr id="578569" name="Picture 9" descr="UserWithDesktopComputer01"/>
          <p:cNvPicPr>
            <a:picLocks noChangeAspect="1" noChangeArrowheads="1"/>
          </p:cNvPicPr>
          <p:nvPr/>
        </p:nvPicPr>
        <p:blipFill>
          <a:blip r:embed="rId8"/>
          <a:srcRect/>
          <a:stretch>
            <a:fillRect/>
          </a:stretch>
        </p:blipFill>
        <p:spPr bwMode="auto">
          <a:xfrm>
            <a:off x="511175" y="3924300"/>
            <a:ext cx="1612900" cy="1874838"/>
          </a:xfrm>
          <a:prstGeom prst="rect">
            <a:avLst/>
          </a:prstGeom>
          <a:noFill/>
        </p:spPr>
      </p:pic>
      <p:sp>
        <p:nvSpPr>
          <p:cNvPr id="578570" name="AutoShape 10"/>
          <p:cNvSpPr>
            <a:spLocks noChangeArrowheads="1"/>
          </p:cNvSpPr>
          <p:nvPr>
            <p:custDataLst>
              <p:tags r:id="rId2"/>
            </p:custDataLst>
          </p:nvPr>
        </p:nvSpPr>
        <p:spPr bwMode="auto">
          <a:xfrm>
            <a:off x="631825" y="3397250"/>
            <a:ext cx="1136650" cy="368300"/>
          </a:xfrm>
          <a:prstGeom prst="roundRect">
            <a:avLst>
              <a:gd name="adj" fmla="val 16852"/>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Computer1</a:t>
            </a:r>
            <a:endParaRPr lang="en-US" sz="2000"/>
          </a:p>
        </p:txBody>
      </p:sp>
      <p:pic>
        <p:nvPicPr>
          <p:cNvPr id="578571" name="Picture 11" descr="Document_Writing01"/>
          <p:cNvPicPr>
            <a:picLocks noChangeAspect="1" noChangeArrowheads="1"/>
          </p:cNvPicPr>
          <p:nvPr/>
        </p:nvPicPr>
        <p:blipFill>
          <a:blip r:embed="rId9"/>
          <a:srcRect/>
          <a:stretch>
            <a:fillRect/>
          </a:stretch>
        </p:blipFill>
        <p:spPr bwMode="auto">
          <a:xfrm>
            <a:off x="1893888" y="3910013"/>
            <a:ext cx="731837" cy="1192212"/>
          </a:xfrm>
          <a:prstGeom prst="rect">
            <a:avLst/>
          </a:prstGeom>
          <a:noFill/>
        </p:spPr>
      </p:pic>
      <p:sp>
        <p:nvSpPr>
          <p:cNvPr id="578572" name="AutoShape 12"/>
          <p:cNvSpPr>
            <a:spLocks noChangeArrowheads="1"/>
          </p:cNvSpPr>
          <p:nvPr>
            <p:custDataLst>
              <p:tags r:id="rId3"/>
            </p:custDataLst>
          </p:nvPr>
        </p:nvSpPr>
        <p:spPr bwMode="auto">
          <a:xfrm>
            <a:off x="1531938" y="5413375"/>
            <a:ext cx="1117600" cy="581025"/>
          </a:xfrm>
          <a:prstGeom prst="roundRect">
            <a:avLst>
              <a:gd name="adj" fmla="val 4329"/>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a:solidFill>
                  <a:srgbClr val="000000"/>
                </a:solidFill>
              </a:rPr>
              <a:t>Fichier </a:t>
            </a:r>
            <a:br>
              <a:rPr lang="en-GB" sz="2000">
                <a:solidFill>
                  <a:srgbClr val="000000"/>
                </a:solidFill>
              </a:rPr>
            </a:br>
            <a:r>
              <a:rPr lang="en-GB" sz="2000">
                <a:solidFill>
                  <a:srgbClr val="000000"/>
                </a:solidFill>
              </a:rPr>
              <a:t>Lmhosts</a:t>
            </a:r>
            <a:endParaRPr lang="en-US" sz="2000"/>
          </a:p>
        </p:txBody>
      </p:sp>
      <p:sp>
        <p:nvSpPr>
          <p:cNvPr id="578573" name="AutoShape 13"/>
          <p:cNvSpPr>
            <a:spLocks noChangeArrowheads="1"/>
          </p:cNvSpPr>
          <p:nvPr>
            <p:custDataLst>
              <p:tags r:id="rId4"/>
            </p:custDataLst>
          </p:nvPr>
        </p:nvSpPr>
        <p:spPr bwMode="auto">
          <a:xfrm>
            <a:off x="2756845" y="1351128"/>
            <a:ext cx="6201104" cy="5492579"/>
          </a:xfrm>
          <a:prstGeom prst="foldedCorner">
            <a:avLst>
              <a:gd name="adj" fmla="val 12500"/>
            </a:avLst>
          </a:prstGeom>
          <a:solidFill>
            <a:schemeClr val="accent1"/>
          </a:solidFill>
          <a:ln w="9525" algn="ctr">
            <a:solidFill>
              <a:schemeClr val="tx1"/>
            </a:solidFill>
            <a:round/>
            <a:headEnd/>
            <a:tailEnd/>
          </a:ln>
          <a:effectLst/>
        </p:spPr>
        <p:txBody>
          <a:bodyPr wrap="none"/>
          <a:lstStyle/>
          <a:p>
            <a:pPr algn="l">
              <a:lnSpc>
                <a:spcPts val="1500"/>
              </a:lnSpc>
            </a:pPr>
            <a:r>
              <a:rPr lang="en-GB" sz="1400" b="0" dirty="0">
                <a:solidFill>
                  <a:srgbClr val="000000"/>
                </a:solidFill>
              </a:rPr>
              <a:t># Copyright (c) 1993-1999 Microsoft Corp.</a:t>
            </a:r>
            <a:endParaRPr lang="en-US" sz="1400" b="0" dirty="0"/>
          </a:p>
          <a:p>
            <a:pPr algn="l">
              <a:lnSpc>
                <a:spcPts val="1500"/>
              </a:lnSpc>
            </a:pPr>
            <a:r>
              <a:rPr lang="en-US" sz="1400" b="0" dirty="0"/>
              <a:t>#</a:t>
            </a:r>
          </a:p>
          <a:p>
            <a:pPr algn="l">
              <a:lnSpc>
                <a:spcPts val="1500"/>
              </a:lnSpc>
            </a:pPr>
            <a:r>
              <a:rPr lang="en-GB" sz="1400" b="0" dirty="0">
                <a:solidFill>
                  <a:srgbClr val="000000"/>
                </a:solidFill>
              </a:rPr>
              <a:t># </a:t>
            </a:r>
            <a:r>
              <a:rPr lang="en-GB" sz="1400" b="0" dirty="0" err="1">
                <a:solidFill>
                  <a:srgbClr val="000000"/>
                </a:solidFill>
              </a:rPr>
              <a:t>Ceci</a:t>
            </a:r>
            <a:r>
              <a:rPr lang="en-GB" sz="1400" b="0" dirty="0">
                <a:solidFill>
                  <a:srgbClr val="000000"/>
                </a:solidFill>
              </a:rPr>
              <a:t> </a:t>
            </a:r>
            <a:r>
              <a:rPr lang="en-GB" sz="1400" b="0" dirty="0" err="1">
                <a:solidFill>
                  <a:srgbClr val="000000"/>
                </a:solidFill>
              </a:rPr>
              <a:t>est</a:t>
            </a:r>
            <a:r>
              <a:rPr lang="en-GB" sz="1400" b="0" dirty="0">
                <a:solidFill>
                  <a:srgbClr val="000000"/>
                </a:solidFill>
              </a:rPr>
              <a:t> un </a:t>
            </a:r>
            <a:r>
              <a:rPr lang="en-GB" sz="1400" b="0" dirty="0" err="1">
                <a:solidFill>
                  <a:srgbClr val="000000"/>
                </a:solidFill>
              </a:rPr>
              <a:t>exemple</a:t>
            </a:r>
            <a:r>
              <a:rPr lang="en-GB" sz="1400" b="0" dirty="0">
                <a:solidFill>
                  <a:srgbClr val="000000"/>
                </a:solidFill>
              </a:rPr>
              <a:t> de </a:t>
            </a:r>
            <a:r>
              <a:rPr lang="en-GB" sz="1400" b="0" dirty="0" err="1">
                <a:solidFill>
                  <a:srgbClr val="000000"/>
                </a:solidFill>
              </a:rPr>
              <a:t>fichier</a:t>
            </a:r>
            <a:r>
              <a:rPr lang="en-GB" sz="1400" b="0" dirty="0">
                <a:solidFill>
                  <a:srgbClr val="000000"/>
                </a:solidFill>
              </a:rPr>
              <a:t> LMHOSTS </a:t>
            </a:r>
            <a:r>
              <a:rPr lang="en-GB" sz="1400" b="0" dirty="0" err="1">
                <a:solidFill>
                  <a:srgbClr val="000000"/>
                </a:solidFill>
              </a:rPr>
              <a:t>utilisé</a:t>
            </a:r>
            <a:r>
              <a:rPr lang="en-GB" sz="1400" b="0" dirty="0">
                <a:solidFill>
                  <a:srgbClr val="000000"/>
                </a:solidFill>
              </a:rPr>
              <a:t> par Microsoft TCP/IP pour Windows.</a:t>
            </a:r>
            <a:endParaRPr lang="en-US" sz="1400" b="0" dirty="0"/>
          </a:p>
          <a:p>
            <a:pPr algn="l">
              <a:lnSpc>
                <a:spcPts val="1500"/>
              </a:lnSpc>
            </a:pPr>
            <a:r>
              <a:rPr lang="en-US" sz="1400" b="0" dirty="0"/>
              <a:t>#</a:t>
            </a:r>
          </a:p>
          <a:p>
            <a:pPr algn="l">
              <a:lnSpc>
                <a:spcPts val="1500"/>
              </a:lnSpc>
            </a:pPr>
            <a:r>
              <a:rPr lang="en-GB" sz="1400" b="0" dirty="0">
                <a:solidFill>
                  <a:srgbClr val="000000"/>
                </a:solidFill>
              </a:rPr>
              <a:t># </a:t>
            </a:r>
            <a:r>
              <a:rPr lang="en-GB" sz="1400" b="0" dirty="0" err="1">
                <a:solidFill>
                  <a:srgbClr val="000000"/>
                </a:solidFill>
              </a:rPr>
              <a:t>Ce</a:t>
            </a:r>
            <a:r>
              <a:rPr lang="en-GB" sz="1400" b="0" dirty="0">
                <a:solidFill>
                  <a:srgbClr val="000000"/>
                </a:solidFill>
              </a:rPr>
              <a:t> </a:t>
            </a:r>
            <a:r>
              <a:rPr lang="en-GB" sz="1400" b="0" dirty="0" err="1">
                <a:solidFill>
                  <a:srgbClr val="000000"/>
                </a:solidFill>
              </a:rPr>
              <a:t>fichier</a:t>
            </a:r>
            <a:r>
              <a:rPr lang="en-GB" sz="1400" b="0" dirty="0">
                <a:solidFill>
                  <a:srgbClr val="000000"/>
                </a:solidFill>
              </a:rPr>
              <a:t> </a:t>
            </a:r>
            <a:r>
              <a:rPr lang="en-GB" sz="1400" b="0" dirty="0" err="1">
                <a:solidFill>
                  <a:srgbClr val="000000"/>
                </a:solidFill>
              </a:rPr>
              <a:t>contient</a:t>
            </a:r>
            <a:r>
              <a:rPr lang="en-GB" sz="1400" b="0" dirty="0">
                <a:solidFill>
                  <a:srgbClr val="000000"/>
                </a:solidFill>
              </a:rPr>
              <a:t> les </a:t>
            </a:r>
            <a:r>
              <a:rPr lang="en-GB" sz="1400" b="0" dirty="0" err="1">
                <a:solidFill>
                  <a:srgbClr val="000000"/>
                </a:solidFill>
              </a:rPr>
              <a:t>mappages</a:t>
            </a:r>
            <a:r>
              <a:rPr lang="en-GB" sz="1400" b="0" dirty="0">
                <a:solidFill>
                  <a:srgbClr val="000000"/>
                </a:solidFill>
              </a:rPr>
              <a:t> </a:t>
            </a:r>
            <a:r>
              <a:rPr lang="en-GB" sz="1400" b="0" dirty="0" err="1">
                <a:solidFill>
                  <a:srgbClr val="000000"/>
                </a:solidFill>
              </a:rPr>
              <a:t>adresse</a:t>
            </a:r>
            <a:r>
              <a:rPr lang="en-GB" sz="1400" b="0" dirty="0">
                <a:solidFill>
                  <a:srgbClr val="000000"/>
                </a:solidFill>
              </a:rPr>
              <a:t> IP/nom </a:t>
            </a:r>
            <a:r>
              <a:rPr lang="en-GB" sz="1400" b="0" dirty="0" err="1">
                <a:solidFill>
                  <a:srgbClr val="000000"/>
                </a:solidFill>
              </a:rPr>
              <a:t>d'ordinateur</a:t>
            </a:r>
            <a:endParaRPr lang="en-US" sz="1400" b="0" dirty="0"/>
          </a:p>
          <a:p>
            <a:pPr algn="l">
              <a:lnSpc>
                <a:spcPts val="1500"/>
              </a:lnSpc>
            </a:pPr>
            <a:r>
              <a:rPr lang="en-GB" sz="1400" b="0" dirty="0">
                <a:solidFill>
                  <a:srgbClr val="000000"/>
                </a:solidFill>
              </a:rPr>
              <a:t># (nom NetBIOS).</a:t>
            </a:r>
            <a:r>
              <a:rPr lang="en-US" sz="1400" b="0" dirty="0"/>
              <a:t>  </a:t>
            </a:r>
            <a:r>
              <a:rPr lang="en-GB" sz="1400" b="0" dirty="0" err="1">
                <a:solidFill>
                  <a:srgbClr val="000000"/>
                </a:solidFill>
              </a:rPr>
              <a:t>Chaque</a:t>
            </a:r>
            <a:r>
              <a:rPr lang="en-GB" sz="1400" b="0" dirty="0">
                <a:solidFill>
                  <a:srgbClr val="000000"/>
                </a:solidFill>
              </a:rPr>
              <a:t> entrée </a:t>
            </a:r>
            <a:r>
              <a:rPr lang="en-GB" sz="1400" b="0" dirty="0" err="1">
                <a:solidFill>
                  <a:srgbClr val="000000"/>
                </a:solidFill>
              </a:rPr>
              <a:t>doit</a:t>
            </a:r>
            <a:r>
              <a:rPr lang="en-GB" sz="1400" b="0" dirty="0">
                <a:solidFill>
                  <a:srgbClr val="000000"/>
                </a:solidFill>
              </a:rPr>
              <a:t> se </a:t>
            </a:r>
            <a:r>
              <a:rPr lang="en-GB" sz="1400" b="0" dirty="0" err="1">
                <a:solidFill>
                  <a:srgbClr val="000000"/>
                </a:solidFill>
              </a:rPr>
              <a:t>trouver</a:t>
            </a:r>
            <a:r>
              <a:rPr lang="en-GB" sz="1400" b="0" dirty="0">
                <a:solidFill>
                  <a:srgbClr val="000000"/>
                </a:solidFill>
              </a:rPr>
              <a:t> </a:t>
            </a:r>
            <a:r>
              <a:rPr lang="en-GB" sz="1400" b="0" dirty="0" err="1">
                <a:solidFill>
                  <a:srgbClr val="000000"/>
                </a:solidFill>
              </a:rPr>
              <a:t>sur</a:t>
            </a:r>
            <a:r>
              <a:rPr lang="en-GB" sz="1400" b="0" dirty="0">
                <a:solidFill>
                  <a:srgbClr val="000000"/>
                </a:solidFill>
              </a:rPr>
              <a:t> </a:t>
            </a:r>
            <a:r>
              <a:rPr lang="en-GB" sz="1400" b="0" dirty="0" err="1">
                <a:solidFill>
                  <a:srgbClr val="000000"/>
                </a:solidFill>
              </a:rPr>
              <a:t>une</a:t>
            </a:r>
            <a:r>
              <a:rPr lang="en-GB" sz="1400" b="0" dirty="0">
                <a:solidFill>
                  <a:srgbClr val="000000"/>
                </a:solidFill>
              </a:rPr>
              <a:t> </a:t>
            </a:r>
            <a:r>
              <a:rPr lang="en-GB" sz="1400" b="0" dirty="0" err="1">
                <a:solidFill>
                  <a:srgbClr val="000000"/>
                </a:solidFill>
              </a:rPr>
              <a:t>ligne</a:t>
            </a:r>
            <a:r>
              <a:rPr lang="en-GB" sz="1400" b="0" dirty="0">
                <a:solidFill>
                  <a:srgbClr val="000000"/>
                </a:solidFill>
              </a:rPr>
              <a:t> </a:t>
            </a:r>
            <a:r>
              <a:rPr lang="en-GB" sz="1400" b="0" dirty="0" err="1">
                <a:solidFill>
                  <a:srgbClr val="000000"/>
                </a:solidFill>
              </a:rPr>
              <a:t>distincte</a:t>
            </a:r>
            <a:r>
              <a:rPr lang="en-GB" sz="1400" b="0" dirty="0">
                <a:solidFill>
                  <a:srgbClr val="000000"/>
                </a:solidFill>
              </a:rPr>
              <a:t>.</a:t>
            </a:r>
            <a:endParaRPr lang="en-US" sz="1400" b="0" dirty="0"/>
          </a:p>
          <a:p>
            <a:pPr algn="l">
              <a:lnSpc>
                <a:spcPts val="1500"/>
              </a:lnSpc>
            </a:pPr>
            <a:r>
              <a:rPr lang="en-GB" sz="1400" b="0" dirty="0">
                <a:solidFill>
                  <a:srgbClr val="000000"/>
                </a:solidFill>
              </a:rPr>
              <a:t>#</a:t>
            </a:r>
            <a:r>
              <a:rPr lang="en-GB" sz="1400" b="0" dirty="0" err="1">
                <a:solidFill>
                  <a:srgbClr val="000000"/>
                </a:solidFill>
              </a:rPr>
              <a:t>L'adresse</a:t>
            </a:r>
            <a:r>
              <a:rPr lang="en-GB" sz="1400" b="0" dirty="0">
                <a:solidFill>
                  <a:srgbClr val="000000"/>
                </a:solidFill>
              </a:rPr>
              <a:t> IP </a:t>
            </a:r>
            <a:r>
              <a:rPr lang="en-GB" sz="1400" b="0" dirty="0" err="1">
                <a:solidFill>
                  <a:srgbClr val="000000"/>
                </a:solidFill>
              </a:rPr>
              <a:t>doit</a:t>
            </a:r>
            <a:r>
              <a:rPr lang="en-GB" sz="1400" b="0" dirty="0">
                <a:solidFill>
                  <a:srgbClr val="000000"/>
                </a:solidFill>
              </a:rPr>
              <a:t> </a:t>
            </a:r>
            <a:r>
              <a:rPr lang="en-GB" sz="1400" b="0" dirty="0" err="1">
                <a:solidFill>
                  <a:srgbClr val="000000"/>
                </a:solidFill>
              </a:rPr>
              <a:t>être</a:t>
            </a:r>
            <a:r>
              <a:rPr lang="en-GB" sz="1400" b="0" dirty="0">
                <a:solidFill>
                  <a:srgbClr val="000000"/>
                </a:solidFill>
              </a:rPr>
              <a:t> </a:t>
            </a:r>
            <a:r>
              <a:rPr lang="en-GB" sz="1400" b="0" dirty="0" err="1">
                <a:solidFill>
                  <a:srgbClr val="000000"/>
                </a:solidFill>
              </a:rPr>
              <a:t>placée</a:t>
            </a:r>
            <a:r>
              <a:rPr lang="en-GB" sz="1400" b="0" dirty="0">
                <a:solidFill>
                  <a:srgbClr val="000000"/>
                </a:solidFill>
              </a:rPr>
              <a:t> </a:t>
            </a:r>
            <a:r>
              <a:rPr lang="en-GB" sz="1400" b="0" dirty="0" err="1">
                <a:solidFill>
                  <a:srgbClr val="000000"/>
                </a:solidFill>
              </a:rPr>
              <a:t>dans</a:t>
            </a:r>
            <a:r>
              <a:rPr lang="en-GB" sz="1400" b="0" dirty="0">
                <a:solidFill>
                  <a:srgbClr val="000000"/>
                </a:solidFill>
              </a:rPr>
              <a:t> la première </a:t>
            </a:r>
            <a:r>
              <a:rPr lang="en-GB" sz="1400" b="0" dirty="0" err="1">
                <a:solidFill>
                  <a:srgbClr val="000000"/>
                </a:solidFill>
              </a:rPr>
              <a:t>colonne</a:t>
            </a:r>
            <a:r>
              <a:rPr lang="en-GB" sz="1400" b="0" dirty="0">
                <a:solidFill>
                  <a:srgbClr val="000000"/>
                </a:solidFill>
              </a:rPr>
              <a:t>, </a:t>
            </a:r>
            <a:r>
              <a:rPr lang="en-GB" sz="1400" b="0" dirty="0" err="1">
                <a:solidFill>
                  <a:srgbClr val="000000"/>
                </a:solidFill>
              </a:rPr>
              <a:t>suivie</a:t>
            </a:r>
            <a:r>
              <a:rPr lang="en-GB" sz="1400" b="0" dirty="0">
                <a:solidFill>
                  <a:srgbClr val="000000"/>
                </a:solidFill>
              </a:rPr>
              <a:t> du</a:t>
            </a:r>
            <a:endParaRPr lang="en-US" sz="1400" b="0" dirty="0"/>
          </a:p>
          <a:p>
            <a:pPr algn="l">
              <a:lnSpc>
                <a:spcPts val="1500"/>
              </a:lnSpc>
            </a:pPr>
            <a:r>
              <a:rPr lang="en-GB" sz="1400" b="0" dirty="0">
                <a:solidFill>
                  <a:srgbClr val="000000"/>
                </a:solidFill>
              </a:rPr>
              <a:t># nom </a:t>
            </a:r>
            <a:r>
              <a:rPr lang="en-GB" sz="1400" b="0" dirty="0" err="1">
                <a:solidFill>
                  <a:srgbClr val="000000"/>
                </a:solidFill>
              </a:rPr>
              <a:t>d'ordinateur</a:t>
            </a:r>
            <a:r>
              <a:rPr lang="en-GB" sz="1400" b="0" dirty="0">
                <a:solidFill>
                  <a:srgbClr val="000000"/>
                </a:solidFill>
              </a:rPr>
              <a:t> </a:t>
            </a:r>
            <a:r>
              <a:rPr lang="en-GB" sz="1400" b="0" dirty="0" err="1">
                <a:solidFill>
                  <a:srgbClr val="000000"/>
                </a:solidFill>
              </a:rPr>
              <a:t>correspondant</a:t>
            </a:r>
            <a:r>
              <a:rPr lang="en-GB" sz="1400" b="0" dirty="0">
                <a:solidFill>
                  <a:srgbClr val="000000"/>
                </a:solidFill>
              </a:rPr>
              <a:t>.</a:t>
            </a:r>
            <a:r>
              <a:rPr lang="en-US" sz="1400" b="0" dirty="0"/>
              <a:t> </a:t>
            </a:r>
            <a:r>
              <a:rPr lang="en-GB" sz="1400" b="0" dirty="0" err="1">
                <a:solidFill>
                  <a:srgbClr val="000000"/>
                </a:solidFill>
              </a:rPr>
              <a:t>L'addresse</a:t>
            </a:r>
            <a:r>
              <a:rPr lang="en-GB" sz="1400" b="0" dirty="0">
                <a:solidFill>
                  <a:srgbClr val="000000"/>
                </a:solidFill>
              </a:rPr>
              <a:t> et le nom </a:t>
            </a:r>
            <a:r>
              <a:rPr lang="en-GB" sz="1400" b="0" dirty="0" err="1">
                <a:solidFill>
                  <a:srgbClr val="000000"/>
                </a:solidFill>
              </a:rPr>
              <a:t>d'ordinateur</a:t>
            </a:r>
            <a:endParaRPr lang="en-US" sz="1400" b="0" dirty="0"/>
          </a:p>
          <a:p>
            <a:pPr algn="l">
              <a:lnSpc>
                <a:spcPts val="1500"/>
              </a:lnSpc>
            </a:pPr>
            <a:r>
              <a:rPr lang="en-GB" sz="1400" b="0" dirty="0">
                <a:solidFill>
                  <a:srgbClr val="000000"/>
                </a:solidFill>
              </a:rPr>
              <a:t># </a:t>
            </a:r>
            <a:r>
              <a:rPr lang="en-GB" sz="1400" b="0" dirty="0" err="1">
                <a:solidFill>
                  <a:srgbClr val="000000"/>
                </a:solidFill>
              </a:rPr>
              <a:t>doivent</a:t>
            </a:r>
            <a:r>
              <a:rPr lang="en-GB" sz="1400" b="0" dirty="0">
                <a:solidFill>
                  <a:srgbClr val="000000"/>
                </a:solidFill>
              </a:rPr>
              <a:t> </a:t>
            </a:r>
            <a:r>
              <a:rPr lang="en-GB" sz="1400" b="0" dirty="0" err="1">
                <a:solidFill>
                  <a:srgbClr val="000000"/>
                </a:solidFill>
              </a:rPr>
              <a:t>être</a:t>
            </a:r>
            <a:r>
              <a:rPr lang="en-GB" sz="1400" b="0" dirty="0">
                <a:solidFill>
                  <a:srgbClr val="000000"/>
                </a:solidFill>
              </a:rPr>
              <a:t> </a:t>
            </a:r>
            <a:r>
              <a:rPr lang="en-GB" sz="1400" b="0" dirty="0" err="1">
                <a:solidFill>
                  <a:srgbClr val="000000"/>
                </a:solidFill>
              </a:rPr>
              <a:t>séparés</a:t>
            </a:r>
            <a:r>
              <a:rPr lang="en-GB" sz="1400" b="0" dirty="0">
                <a:solidFill>
                  <a:srgbClr val="000000"/>
                </a:solidFill>
              </a:rPr>
              <a:t> par au </a:t>
            </a:r>
            <a:r>
              <a:rPr lang="en-GB" sz="1400" b="0" dirty="0" err="1">
                <a:solidFill>
                  <a:srgbClr val="000000"/>
                </a:solidFill>
              </a:rPr>
              <a:t>moins</a:t>
            </a:r>
            <a:r>
              <a:rPr lang="en-GB" sz="1400" b="0" dirty="0">
                <a:solidFill>
                  <a:srgbClr val="000000"/>
                </a:solidFill>
              </a:rPr>
              <a:t> un </a:t>
            </a:r>
            <a:r>
              <a:rPr lang="en-GB" sz="1400" b="0" dirty="0" err="1">
                <a:solidFill>
                  <a:srgbClr val="000000"/>
                </a:solidFill>
              </a:rPr>
              <a:t>espace</a:t>
            </a:r>
            <a:r>
              <a:rPr lang="en-GB" sz="1400" b="0" dirty="0">
                <a:solidFill>
                  <a:srgbClr val="000000"/>
                </a:solidFill>
              </a:rPr>
              <a:t> </a:t>
            </a:r>
            <a:r>
              <a:rPr lang="en-GB" sz="1400" b="0" dirty="0" err="1">
                <a:solidFill>
                  <a:srgbClr val="000000"/>
                </a:solidFill>
              </a:rPr>
              <a:t>ou</a:t>
            </a:r>
            <a:r>
              <a:rPr lang="en-GB" sz="1400" b="0" dirty="0">
                <a:solidFill>
                  <a:srgbClr val="000000"/>
                </a:solidFill>
              </a:rPr>
              <a:t> </a:t>
            </a:r>
            <a:r>
              <a:rPr lang="en-GB" sz="1400" b="0" dirty="0" err="1">
                <a:solidFill>
                  <a:srgbClr val="000000"/>
                </a:solidFill>
              </a:rPr>
              <a:t>une</a:t>
            </a:r>
            <a:r>
              <a:rPr lang="en-GB" sz="1400" b="0" dirty="0">
                <a:solidFill>
                  <a:srgbClr val="000000"/>
                </a:solidFill>
              </a:rPr>
              <a:t> tabulation.</a:t>
            </a:r>
            <a:r>
              <a:rPr lang="en-US" sz="1400" b="0" dirty="0"/>
              <a:t> </a:t>
            </a:r>
            <a:r>
              <a:rPr lang="en-GB" sz="1400" b="0" dirty="0">
                <a:solidFill>
                  <a:srgbClr val="000000"/>
                </a:solidFill>
              </a:rPr>
              <a:t>Le </a:t>
            </a:r>
            <a:r>
              <a:rPr lang="en-GB" sz="1400" b="0" dirty="0" err="1">
                <a:solidFill>
                  <a:srgbClr val="000000"/>
                </a:solidFill>
              </a:rPr>
              <a:t>caractère</a:t>
            </a:r>
            <a:r>
              <a:rPr lang="en-GB" sz="1400" b="0" dirty="0">
                <a:solidFill>
                  <a:srgbClr val="000000"/>
                </a:solidFill>
              </a:rPr>
              <a:t> "#"</a:t>
            </a:r>
            <a:endParaRPr lang="en-US" sz="1400" b="0" dirty="0"/>
          </a:p>
          <a:p>
            <a:pPr algn="l">
              <a:lnSpc>
                <a:spcPts val="1500"/>
              </a:lnSpc>
            </a:pPr>
            <a:r>
              <a:rPr lang="en-GB" sz="1400" b="0" dirty="0">
                <a:solidFill>
                  <a:srgbClr val="000000"/>
                </a:solidFill>
              </a:rPr>
              <a:t># </a:t>
            </a:r>
            <a:r>
              <a:rPr lang="en-GB" sz="1400" b="0" dirty="0" err="1">
                <a:solidFill>
                  <a:srgbClr val="000000"/>
                </a:solidFill>
              </a:rPr>
              <a:t>est</a:t>
            </a:r>
            <a:r>
              <a:rPr lang="en-GB" sz="1400" b="0" dirty="0">
                <a:solidFill>
                  <a:srgbClr val="000000"/>
                </a:solidFill>
              </a:rPr>
              <a:t> </a:t>
            </a:r>
            <a:r>
              <a:rPr lang="en-GB" sz="1400" b="0" dirty="0" err="1">
                <a:solidFill>
                  <a:srgbClr val="000000"/>
                </a:solidFill>
              </a:rPr>
              <a:t>généralement</a:t>
            </a:r>
            <a:r>
              <a:rPr lang="en-GB" sz="1400" b="0" dirty="0">
                <a:solidFill>
                  <a:srgbClr val="000000"/>
                </a:solidFill>
              </a:rPr>
              <a:t> </a:t>
            </a:r>
            <a:r>
              <a:rPr lang="en-GB" sz="1400" b="0" dirty="0" err="1">
                <a:solidFill>
                  <a:srgbClr val="000000"/>
                </a:solidFill>
              </a:rPr>
              <a:t>utilisé</a:t>
            </a:r>
            <a:r>
              <a:rPr lang="en-GB" sz="1400" b="0" dirty="0">
                <a:solidFill>
                  <a:srgbClr val="000000"/>
                </a:solidFill>
              </a:rPr>
              <a:t> pour </a:t>
            </a:r>
            <a:r>
              <a:rPr lang="en-GB" sz="1400" b="0" dirty="0" err="1">
                <a:solidFill>
                  <a:srgbClr val="000000"/>
                </a:solidFill>
              </a:rPr>
              <a:t>signaler</a:t>
            </a:r>
            <a:r>
              <a:rPr lang="en-GB" sz="1400" b="0" dirty="0">
                <a:solidFill>
                  <a:srgbClr val="000000"/>
                </a:solidFill>
              </a:rPr>
              <a:t> le début d'un </a:t>
            </a:r>
            <a:r>
              <a:rPr lang="en-GB" sz="1400" b="0" dirty="0" err="1">
                <a:solidFill>
                  <a:srgbClr val="000000"/>
                </a:solidFill>
              </a:rPr>
              <a:t>commentaire</a:t>
            </a:r>
            <a:r>
              <a:rPr lang="en-GB" sz="1400" b="0" dirty="0">
                <a:solidFill>
                  <a:srgbClr val="000000"/>
                </a:solidFill>
              </a:rPr>
              <a:t> (</a:t>
            </a:r>
            <a:r>
              <a:rPr lang="en-GB" sz="1400" b="0" dirty="0" err="1">
                <a:solidFill>
                  <a:srgbClr val="000000"/>
                </a:solidFill>
              </a:rPr>
              <a:t>voir</a:t>
            </a:r>
            <a:r>
              <a:rPr lang="en-GB" sz="1400" b="0" dirty="0">
                <a:solidFill>
                  <a:srgbClr val="000000"/>
                </a:solidFill>
              </a:rPr>
              <a:t> les exceptions </a:t>
            </a:r>
            <a:endParaRPr lang="en-US" sz="1400" b="0" dirty="0"/>
          </a:p>
          <a:p>
            <a:pPr algn="l">
              <a:lnSpc>
                <a:spcPts val="1500"/>
              </a:lnSpc>
            </a:pPr>
            <a:r>
              <a:rPr lang="en-GB" sz="1400" b="0" dirty="0">
                <a:solidFill>
                  <a:srgbClr val="000000"/>
                </a:solidFill>
              </a:rPr>
              <a:t># </a:t>
            </a:r>
            <a:r>
              <a:rPr lang="en-GB" sz="1400" b="0" dirty="0" err="1">
                <a:solidFill>
                  <a:srgbClr val="000000"/>
                </a:solidFill>
              </a:rPr>
              <a:t>ci-dessous</a:t>
            </a:r>
            <a:r>
              <a:rPr lang="en-GB" sz="1400" b="0" dirty="0">
                <a:solidFill>
                  <a:srgbClr val="000000"/>
                </a:solidFill>
              </a:rPr>
              <a:t>).</a:t>
            </a:r>
            <a:endParaRPr lang="en-US" sz="1400" b="0" dirty="0"/>
          </a:p>
          <a:p>
            <a:pPr algn="l">
              <a:lnSpc>
                <a:spcPts val="1500"/>
              </a:lnSpc>
            </a:pPr>
            <a:r>
              <a:rPr lang="en-US" sz="1400" b="0" dirty="0"/>
              <a:t>#</a:t>
            </a:r>
          </a:p>
          <a:p>
            <a:pPr algn="l">
              <a:lnSpc>
                <a:spcPts val="1500"/>
              </a:lnSpc>
            </a:pPr>
            <a:r>
              <a:rPr lang="en-GB" sz="1400" b="0" dirty="0">
                <a:solidFill>
                  <a:srgbClr val="000000"/>
                </a:solidFill>
              </a:rPr>
              <a:t># </a:t>
            </a:r>
            <a:r>
              <a:rPr lang="en-GB" sz="1400" b="0" dirty="0" err="1">
                <a:solidFill>
                  <a:srgbClr val="000000"/>
                </a:solidFill>
              </a:rPr>
              <a:t>L'exemple</a:t>
            </a:r>
            <a:r>
              <a:rPr lang="en-GB" sz="1400" b="0" dirty="0">
                <a:solidFill>
                  <a:srgbClr val="000000"/>
                </a:solidFill>
              </a:rPr>
              <a:t> </a:t>
            </a:r>
            <a:r>
              <a:rPr lang="en-GB" sz="1400" b="0" dirty="0" err="1">
                <a:solidFill>
                  <a:srgbClr val="000000"/>
                </a:solidFill>
              </a:rPr>
              <a:t>suivant</a:t>
            </a:r>
            <a:r>
              <a:rPr lang="en-GB" sz="1400" b="0" dirty="0">
                <a:solidFill>
                  <a:srgbClr val="000000"/>
                </a:solidFill>
              </a:rPr>
              <a:t> </a:t>
            </a:r>
            <a:r>
              <a:rPr lang="en-GB" sz="1400" b="0" dirty="0" err="1">
                <a:solidFill>
                  <a:srgbClr val="000000"/>
                </a:solidFill>
              </a:rPr>
              <a:t>illustre</a:t>
            </a:r>
            <a:r>
              <a:rPr lang="en-GB" sz="1400" b="0" dirty="0">
                <a:solidFill>
                  <a:srgbClr val="000000"/>
                </a:solidFill>
              </a:rPr>
              <a:t> </a:t>
            </a:r>
            <a:r>
              <a:rPr lang="en-GB" sz="1400" b="0" dirty="0" err="1">
                <a:solidFill>
                  <a:srgbClr val="000000"/>
                </a:solidFill>
              </a:rPr>
              <a:t>toutes</a:t>
            </a:r>
            <a:r>
              <a:rPr lang="en-GB" sz="1400" b="0" dirty="0">
                <a:solidFill>
                  <a:srgbClr val="000000"/>
                </a:solidFill>
              </a:rPr>
              <a:t> </a:t>
            </a:r>
            <a:r>
              <a:rPr lang="en-GB" sz="1400" b="0" dirty="0" err="1">
                <a:solidFill>
                  <a:srgbClr val="000000"/>
                </a:solidFill>
              </a:rPr>
              <a:t>ces</a:t>
            </a:r>
            <a:r>
              <a:rPr lang="en-GB" sz="1400" b="0" dirty="0">
                <a:solidFill>
                  <a:srgbClr val="000000"/>
                </a:solidFill>
              </a:rPr>
              <a:t> extensions :</a:t>
            </a:r>
            <a:endParaRPr lang="en-US" sz="1400" b="0" dirty="0"/>
          </a:p>
          <a:p>
            <a:pPr algn="l">
              <a:lnSpc>
                <a:spcPts val="1500"/>
              </a:lnSpc>
            </a:pPr>
            <a:r>
              <a:rPr lang="en-US" sz="1400" b="0" dirty="0"/>
              <a:t>#</a:t>
            </a:r>
          </a:p>
          <a:p>
            <a:pPr algn="l">
              <a:lnSpc>
                <a:spcPts val="1500"/>
              </a:lnSpc>
            </a:pPr>
            <a:r>
              <a:rPr lang="en-GB" sz="1400" b="0" dirty="0">
                <a:solidFill>
                  <a:srgbClr val="000000"/>
                </a:solidFill>
              </a:rPr>
              <a:t># 102.54.94.97      rhino               #PRE #</a:t>
            </a:r>
            <a:r>
              <a:rPr lang="en-GB" sz="1400" b="0" dirty="0" err="1">
                <a:solidFill>
                  <a:srgbClr val="000000"/>
                </a:solidFill>
              </a:rPr>
              <a:t>DOM:networking</a:t>
            </a:r>
            <a:r>
              <a:rPr lang="en-GB" sz="1400" b="0" dirty="0">
                <a:solidFill>
                  <a:srgbClr val="000000"/>
                </a:solidFill>
              </a:rPr>
              <a:t>    #Cont. dom. </a:t>
            </a:r>
            <a:r>
              <a:rPr lang="en-GB" sz="1400" b="0" dirty="0" err="1">
                <a:solidFill>
                  <a:srgbClr val="000000"/>
                </a:solidFill>
              </a:rPr>
              <a:t>groupe</a:t>
            </a:r>
            <a:r>
              <a:rPr lang="en-GB" sz="1400" b="0" dirty="0">
                <a:solidFill>
                  <a:srgbClr val="000000"/>
                </a:solidFill>
              </a:rPr>
              <a:t> net</a:t>
            </a:r>
            <a:endParaRPr lang="en-US" sz="1400" b="0" dirty="0"/>
          </a:p>
          <a:p>
            <a:pPr algn="l">
              <a:lnSpc>
                <a:spcPts val="1500"/>
              </a:lnSpc>
            </a:pPr>
            <a:r>
              <a:rPr lang="en-GB" sz="1400" b="0" dirty="0">
                <a:solidFill>
                  <a:srgbClr val="000000"/>
                </a:solidFill>
              </a:rPr>
              <a:t># 102.54.94.102    "</a:t>
            </a:r>
            <a:r>
              <a:rPr lang="en-GB" sz="1400" b="0" dirty="0" err="1">
                <a:solidFill>
                  <a:srgbClr val="000000"/>
                </a:solidFill>
              </a:rPr>
              <a:t>appname</a:t>
            </a:r>
            <a:r>
              <a:rPr lang="en-GB" sz="1400" b="0" dirty="0">
                <a:solidFill>
                  <a:srgbClr val="000000"/>
                </a:solidFill>
              </a:rPr>
              <a:t>  \0x14"                                      #</a:t>
            </a:r>
            <a:r>
              <a:rPr lang="en-GB" sz="1400" b="0" dirty="0" err="1">
                <a:solidFill>
                  <a:srgbClr val="000000"/>
                </a:solidFill>
              </a:rPr>
              <a:t>serveur</a:t>
            </a:r>
            <a:r>
              <a:rPr lang="en-GB" sz="1400" b="0" dirty="0">
                <a:solidFill>
                  <a:srgbClr val="000000"/>
                </a:solidFill>
              </a:rPr>
              <a:t> app </a:t>
            </a:r>
            <a:r>
              <a:rPr lang="en-GB" sz="1400" b="0" dirty="0" err="1">
                <a:solidFill>
                  <a:srgbClr val="000000"/>
                </a:solidFill>
              </a:rPr>
              <a:t>spécial</a:t>
            </a:r>
            <a:endParaRPr lang="en-US" sz="1400" b="0" dirty="0"/>
          </a:p>
          <a:p>
            <a:pPr algn="l">
              <a:lnSpc>
                <a:spcPts val="1500"/>
              </a:lnSpc>
            </a:pPr>
            <a:r>
              <a:rPr lang="en-GB" sz="1400" b="0" dirty="0">
                <a:solidFill>
                  <a:srgbClr val="000000"/>
                </a:solidFill>
              </a:rPr>
              <a:t># 102.54.94.123    popular                     #PRE                        #</a:t>
            </a:r>
            <a:r>
              <a:rPr lang="en-GB" sz="1400" b="0" dirty="0" err="1">
                <a:solidFill>
                  <a:srgbClr val="000000"/>
                </a:solidFill>
              </a:rPr>
              <a:t>serveur</a:t>
            </a:r>
            <a:r>
              <a:rPr lang="en-GB" sz="1400" b="0" dirty="0">
                <a:solidFill>
                  <a:srgbClr val="000000"/>
                </a:solidFill>
              </a:rPr>
              <a:t> source</a:t>
            </a:r>
            <a:endParaRPr lang="en-US" sz="1400" b="0" dirty="0"/>
          </a:p>
          <a:p>
            <a:pPr algn="l">
              <a:lnSpc>
                <a:spcPts val="1500"/>
              </a:lnSpc>
            </a:pPr>
            <a:r>
              <a:rPr lang="en-GB" sz="1400" b="0" dirty="0">
                <a:solidFill>
                  <a:srgbClr val="000000"/>
                </a:solidFill>
              </a:rPr>
              <a:t># 102.54.94.117    </a:t>
            </a:r>
            <a:r>
              <a:rPr lang="en-GB" sz="1400" b="0" dirty="0" err="1">
                <a:solidFill>
                  <a:srgbClr val="000000"/>
                </a:solidFill>
              </a:rPr>
              <a:t>localsrv</a:t>
            </a:r>
            <a:r>
              <a:rPr lang="en-GB" sz="1400" b="0" dirty="0">
                <a:solidFill>
                  <a:srgbClr val="000000"/>
                </a:solidFill>
              </a:rPr>
              <a:t>                    #PRE                         #</a:t>
            </a:r>
            <a:r>
              <a:rPr lang="en-GB" sz="1400" b="0" dirty="0" err="1">
                <a:solidFill>
                  <a:srgbClr val="000000"/>
                </a:solidFill>
              </a:rPr>
              <a:t>requis</a:t>
            </a:r>
            <a:r>
              <a:rPr lang="en-GB" sz="1400" b="0" dirty="0">
                <a:solidFill>
                  <a:srgbClr val="000000"/>
                </a:solidFill>
              </a:rPr>
              <a:t> pour include</a:t>
            </a:r>
            <a:endParaRPr lang="en-US" sz="1400" b="0" dirty="0"/>
          </a:p>
          <a:p>
            <a:pPr algn="l">
              <a:lnSpc>
                <a:spcPts val="1500"/>
              </a:lnSpc>
            </a:pPr>
            <a:r>
              <a:rPr lang="en-US" sz="1400" b="0" dirty="0"/>
              <a:t>#</a:t>
            </a:r>
          </a:p>
          <a:p>
            <a:pPr algn="l">
              <a:lnSpc>
                <a:spcPts val="1500"/>
              </a:lnSpc>
            </a:pPr>
            <a:r>
              <a:rPr lang="en-GB" sz="1400" b="0" dirty="0">
                <a:solidFill>
                  <a:srgbClr val="000000"/>
                </a:solidFill>
              </a:rPr>
              <a:t># #BEGIN_ALTERNATE</a:t>
            </a:r>
            <a:endParaRPr lang="en-US" sz="1400" b="0" dirty="0"/>
          </a:p>
          <a:p>
            <a:pPr algn="l">
              <a:lnSpc>
                <a:spcPts val="1500"/>
              </a:lnSpc>
            </a:pPr>
            <a:r>
              <a:rPr lang="en-GB" sz="1400" b="0" dirty="0">
                <a:solidFill>
                  <a:srgbClr val="000000"/>
                </a:solidFill>
              </a:rPr>
              <a:t># #INCLUDE \\localsrv\public\lmhosts</a:t>
            </a:r>
            <a:endParaRPr lang="en-US" sz="1400" b="0" dirty="0"/>
          </a:p>
          <a:p>
            <a:pPr algn="l">
              <a:lnSpc>
                <a:spcPts val="1500"/>
              </a:lnSpc>
            </a:pPr>
            <a:r>
              <a:rPr lang="en-GB" sz="1400" b="0" dirty="0">
                <a:solidFill>
                  <a:srgbClr val="000000"/>
                </a:solidFill>
              </a:rPr>
              <a:t># #INCLUDE \\rhino\public\lmhosts</a:t>
            </a:r>
            <a:endParaRPr lang="en-US" sz="1400" b="0" dirty="0"/>
          </a:p>
          <a:p>
            <a:pPr algn="l">
              <a:lnSpc>
                <a:spcPts val="1500"/>
              </a:lnSpc>
            </a:pPr>
            <a:r>
              <a:rPr lang="en-GB" sz="1400" b="0" dirty="0">
                <a:solidFill>
                  <a:srgbClr val="000000"/>
                </a:solidFill>
              </a:rPr>
              <a:t># #END_ALTERNATE</a:t>
            </a:r>
            <a:endParaRPr lang="en-US" sz="1400" b="0" dirty="0">
              <a:solidFill>
                <a:srgbClr val="000000"/>
              </a:solidFill>
            </a:endParaRPr>
          </a:p>
        </p:txBody>
      </p:sp>
      <p:sp>
        <p:nvSpPr>
          <p:cNvPr id="578567" name="AutoShape 7"/>
          <p:cNvSpPr>
            <a:spLocks noChangeArrowheads="1"/>
          </p:cNvSpPr>
          <p:nvPr>
            <p:custDataLst>
              <p:tags r:id="rId5"/>
            </p:custDataLst>
          </p:nvPr>
        </p:nvSpPr>
        <p:spPr bwMode="auto">
          <a:xfrm>
            <a:off x="203201" y="1299708"/>
            <a:ext cx="8766628" cy="1211480"/>
          </a:xfrm>
          <a:prstGeom prst="roundRect">
            <a:avLst>
              <a:gd name="adj" fmla="val 30829"/>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85000"/>
              </a:lnSpc>
            </a:pPr>
            <a:r>
              <a:rPr lang="en-GB" sz="2400" dirty="0" err="1" smtClean="0">
                <a:solidFill>
                  <a:srgbClr val="000000"/>
                </a:solidFill>
              </a:rPr>
              <a:t>C’est</a:t>
            </a:r>
            <a:r>
              <a:rPr lang="en-GB" sz="2400" dirty="0" smtClean="0">
                <a:solidFill>
                  <a:srgbClr val="000000"/>
                </a:solidFill>
              </a:rPr>
              <a:t> </a:t>
            </a:r>
            <a:r>
              <a:rPr lang="en-GB" sz="2400" dirty="0">
                <a:solidFill>
                  <a:srgbClr val="000000"/>
                </a:solidFill>
              </a:rPr>
              <a:t>un </a:t>
            </a:r>
            <a:r>
              <a:rPr lang="en-GB" sz="2400" dirty="0" err="1">
                <a:solidFill>
                  <a:srgbClr val="000000"/>
                </a:solidFill>
              </a:rPr>
              <a:t>fichier</a:t>
            </a:r>
            <a:r>
              <a:rPr lang="en-GB" sz="2400" dirty="0">
                <a:solidFill>
                  <a:srgbClr val="000000"/>
                </a:solidFill>
              </a:rPr>
              <a:t> </a:t>
            </a:r>
            <a:r>
              <a:rPr lang="en-GB" sz="2400" dirty="0" err="1">
                <a:solidFill>
                  <a:srgbClr val="000000"/>
                </a:solidFill>
              </a:rPr>
              <a:t>texte</a:t>
            </a:r>
            <a:r>
              <a:rPr lang="en-GB" sz="2400" dirty="0">
                <a:solidFill>
                  <a:srgbClr val="000000"/>
                </a:solidFill>
              </a:rPr>
              <a:t> local qui </a:t>
            </a:r>
            <a:r>
              <a:rPr lang="en-GB" sz="2400" dirty="0" err="1">
                <a:solidFill>
                  <a:srgbClr val="000000"/>
                </a:solidFill>
              </a:rPr>
              <a:t>mappe</a:t>
            </a:r>
            <a:r>
              <a:rPr lang="en-GB" sz="2400" dirty="0">
                <a:solidFill>
                  <a:srgbClr val="000000"/>
                </a:solidFill>
              </a:rPr>
              <a:t> les </a:t>
            </a:r>
            <a:r>
              <a:rPr lang="en-GB" sz="2400" dirty="0" err="1">
                <a:solidFill>
                  <a:srgbClr val="000000"/>
                </a:solidFill>
              </a:rPr>
              <a:t>noms</a:t>
            </a:r>
            <a:r>
              <a:rPr lang="en-GB" sz="2400" dirty="0">
                <a:solidFill>
                  <a:srgbClr val="000000"/>
                </a:solidFill>
              </a:rPr>
              <a:t> </a:t>
            </a:r>
            <a:r>
              <a:rPr lang="en-GB" sz="2400" dirty="0" smtClean="0">
                <a:solidFill>
                  <a:srgbClr val="000000"/>
                </a:solidFill>
              </a:rPr>
              <a:t>NetBIOS à </a:t>
            </a:r>
            <a:r>
              <a:rPr lang="en-GB" sz="2400" dirty="0">
                <a:solidFill>
                  <a:srgbClr val="000000"/>
                </a:solidFill>
              </a:rPr>
              <a:t>des </a:t>
            </a:r>
            <a:r>
              <a:rPr lang="en-GB" sz="2400" dirty="0" err="1">
                <a:solidFill>
                  <a:srgbClr val="000000"/>
                </a:solidFill>
              </a:rPr>
              <a:t>adresses</a:t>
            </a:r>
            <a:r>
              <a:rPr lang="en-GB" sz="2400" dirty="0">
                <a:solidFill>
                  <a:srgbClr val="000000"/>
                </a:solidFill>
              </a:rPr>
              <a:t> IP pour les </a:t>
            </a:r>
            <a:r>
              <a:rPr lang="en-GB" sz="2400" dirty="0" err="1">
                <a:solidFill>
                  <a:srgbClr val="000000"/>
                </a:solidFill>
              </a:rPr>
              <a:t>hôtes</a:t>
            </a:r>
            <a:r>
              <a:rPr lang="en-GB" sz="2400" dirty="0">
                <a:solidFill>
                  <a:srgbClr val="000000"/>
                </a:solidFill>
              </a:rPr>
              <a:t> qui ne </a:t>
            </a:r>
            <a:r>
              <a:rPr lang="en-GB" sz="2400" dirty="0" err="1">
                <a:solidFill>
                  <a:srgbClr val="000000"/>
                </a:solidFill>
              </a:rPr>
              <a:t>sont</a:t>
            </a:r>
            <a:r>
              <a:rPr lang="en-GB" sz="2400" dirty="0">
                <a:solidFill>
                  <a:srgbClr val="000000"/>
                </a:solidFill>
              </a:rPr>
              <a:t> pas </a:t>
            </a:r>
            <a:r>
              <a:rPr lang="en-GB" sz="2400" dirty="0" err="1">
                <a:solidFill>
                  <a:srgbClr val="000000"/>
                </a:solidFill>
              </a:rPr>
              <a:t>situés</a:t>
            </a:r>
            <a:r>
              <a:rPr lang="en-GB" sz="2400" dirty="0">
                <a:solidFill>
                  <a:srgbClr val="000000"/>
                </a:solidFill>
              </a:rPr>
              <a:t> </a:t>
            </a:r>
            <a:r>
              <a:rPr lang="en-GB" sz="2400" dirty="0" err="1">
                <a:solidFill>
                  <a:srgbClr val="000000"/>
                </a:solidFill>
              </a:rPr>
              <a:t>sur</a:t>
            </a:r>
            <a:r>
              <a:rPr lang="en-GB" sz="2400" dirty="0">
                <a:solidFill>
                  <a:srgbClr val="000000"/>
                </a:solidFill>
              </a:rPr>
              <a:t> le </a:t>
            </a:r>
            <a:r>
              <a:rPr lang="en-GB" sz="2400" dirty="0" err="1">
                <a:solidFill>
                  <a:srgbClr val="000000"/>
                </a:solidFill>
              </a:rPr>
              <a:t>sous-réseau</a:t>
            </a:r>
            <a:r>
              <a:rPr lang="en-GB" sz="2400" dirty="0">
                <a:solidFill>
                  <a:srgbClr val="000000"/>
                </a:solidFill>
              </a:rPr>
              <a:t> local</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8567"/>
                                        </p:tgtEl>
                                        <p:attrNameLst>
                                          <p:attrName>style.visibility</p:attrName>
                                        </p:attrNameLst>
                                      </p:cBhvr>
                                      <p:to>
                                        <p:strVal val="visible"/>
                                      </p:to>
                                    </p:set>
                                    <p:anim calcmode="lin" valueType="num">
                                      <p:cBhvr additive="base">
                                        <p:cTn id="7" dur="2000" fill="hold"/>
                                        <p:tgtEl>
                                          <p:spTgt spid="578567"/>
                                        </p:tgtEl>
                                        <p:attrNameLst>
                                          <p:attrName>ppt_x</p:attrName>
                                        </p:attrNameLst>
                                      </p:cBhvr>
                                      <p:tavLst>
                                        <p:tav tm="0">
                                          <p:val>
                                            <p:strVal val="0-#ppt_w/2"/>
                                          </p:val>
                                        </p:tav>
                                        <p:tav tm="100000">
                                          <p:val>
                                            <p:strVal val="#ppt_x"/>
                                          </p:val>
                                        </p:tav>
                                      </p:tavLst>
                                    </p:anim>
                                    <p:anim calcmode="lin" valueType="num">
                                      <p:cBhvr additive="base">
                                        <p:cTn id="8" dur="2000" fill="hold"/>
                                        <p:tgtEl>
                                          <p:spTgt spid="5785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custDataLst>
              <p:tags r:id="rId1"/>
            </p:custDataLst>
          </p:nvPr>
        </p:nvSpPr>
        <p:spPr>
          <a:xfrm>
            <a:off x="177421" y="286603"/>
            <a:ext cx="8775510" cy="824862"/>
          </a:xfrm>
        </p:spPr>
        <p:txBody>
          <a:bodyPr vert="horz" anchor="b">
            <a:normAutofit fontScale="90000"/>
          </a:bodyPr>
          <a:lstStyle/>
          <a:p>
            <a:r>
              <a:rPr lang="fr-FR" sz="3000" b="1" dirty="0">
                <a:solidFill>
                  <a:srgbClr val="C00000"/>
                </a:solidFill>
              </a:rPr>
              <a:t>Comment précharger un cache de noms NetBIOS en utilisant un fichier Lmhosts</a:t>
            </a:r>
            <a:endParaRPr lang="en-US" sz="3000" b="1" dirty="0">
              <a:solidFill>
                <a:srgbClr val="C00000"/>
              </a:solidFill>
            </a:endParaRPr>
          </a:p>
        </p:txBody>
      </p:sp>
      <p:sp>
        <p:nvSpPr>
          <p:cNvPr id="608261" name="AutoShape 5"/>
          <p:cNvSpPr>
            <a:spLocks noChangeArrowheads="1"/>
          </p:cNvSpPr>
          <p:nvPr>
            <p:custDataLst>
              <p:tags r:id="rId2"/>
            </p:custDataLst>
          </p:nvPr>
        </p:nvSpPr>
        <p:spPr bwMode="auto">
          <a:xfrm>
            <a:off x="81888" y="2074460"/>
            <a:ext cx="8952931" cy="3657600"/>
          </a:xfrm>
          <a:prstGeom prst="roundRect">
            <a:avLst>
              <a:gd name="adj" fmla="val 17194"/>
            </a:avLst>
          </a:prstGeom>
          <a:solidFill>
            <a:srgbClr val="B3C8DF"/>
          </a:solidFill>
          <a:ln w="9525">
            <a:solidFill>
              <a:srgbClr val="4D4D4D"/>
            </a:solidFill>
            <a:round/>
            <a:headEnd/>
            <a:tailEnd/>
          </a:ln>
          <a:effectLst>
            <a:outerShdw dist="35921" dir="2700000" algn="ctr" rotWithShape="0">
              <a:srgbClr val="AFAFAF"/>
            </a:outerShdw>
          </a:effectLst>
        </p:spPr>
        <p:txBody>
          <a:bodyPr anchor="ctr"/>
          <a:lstStyle/>
          <a:p>
            <a:pPr algn="l"/>
            <a:r>
              <a:rPr lang="fr-FR" sz="2800" dirty="0" smtClean="0"/>
              <a:t>1. A l’invite, entrez la commande suivante :</a:t>
            </a:r>
          </a:p>
          <a:p>
            <a:pPr algn="l"/>
            <a:r>
              <a:rPr lang="fr-FR" sz="2800" dirty="0" err="1" smtClean="0">
                <a:solidFill>
                  <a:srgbClr val="0070C0"/>
                </a:solidFill>
              </a:rPr>
              <a:t>notepad</a:t>
            </a:r>
            <a:r>
              <a:rPr lang="fr-FR" sz="2800" dirty="0" smtClean="0">
                <a:solidFill>
                  <a:srgbClr val="0070C0"/>
                </a:solidFill>
              </a:rPr>
              <a:t> </a:t>
            </a:r>
            <a:r>
              <a:rPr lang="fr-FR" sz="2800" i="1" dirty="0" smtClean="0">
                <a:solidFill>
                  <a:srgbClr val="0070C0"/>
                </a:solidFill>
              </a:rPr>
              <a:t>%</a:t>
            </a:r>
            <a:r>
              <a:rPr lang="fr-FR" sz="2800" i="1" dirty="0" err="1" smtClean="0">
                <a:solidFill>
                  <a:srgbClr val="0070C0"/>
                </a:solidFill>
              </a:rPr>
              <a:t>systemroot</a:t>
            </a:r>
            <a:r>
              <a:rPr lang="fr-FR" sz="2800" i="1" dirty="0" smtClean="0">
                <a:solidFill>
                  <a:srgbClr val="0070C0"/>
                </a:solidFill>
              </a:rPr>
              <a:t>%\system32\drivers\</a:t>
            </a:r>
            <a:r>
              <a:rPr lang="fr-FR" sz="2800" i="1" dirty="0" err="1" smtClean="0">
                <a:solidFill>
                  <a:srgbClr val="0070C0"/>
                </a:solidFill>
              </a:rPr>
              <a:t>etc</a:t>
            </a:r>
            <a:r>
              <a:rPr lang="fr-FR" sz="2800" i="1" dirty="0" smtClean="0">
                <a:solidFill>
                  <a:srgbClr val="0070C0"/>
                </a:solidFill>
              </a:rPr>
              <a:t>\lmhosts.sam</a:t>
            </a:r>
          </a:p>
          <a:p>
            <a:pPr algn="l"/>
            <a:r>
              <a:rPr lang="fr-FR" sz="2800" dirty="0" smtClean="0"/>
              <a:t>2. Dans le fichier </a:t>
            </a:r>
            <a:r>
              <a:rPr lang="fr-FR" sz="2800" dirty="0" err="1" smtClean="0"/>
              <a:t>Lmhosts</a:t>
            </a:r>
            <a:r>
              <a:rPr lang="fr-FR" sz="2800" dirty="0" smtClean="0"/>
              <a:t>, ajoutez les mappages de nom NetBIOS à adresse IP supplémentaires </a:t>
            </a:r>
          </a:p>
          <a:p>
            <a:pPr algn="l"/>
            <a:r>
              <a:rPr lang="fr-FR" sz="2800" dirty="0" smtClean="0"/>
              <a:t>Exemple:</a:t>
            </a:r>
          </a:p>
          <a:p>
            <a:pPr algn="l"/>
            <a:r>
              <a:rPr lang="fr-FR" sz="2800" dirty="0" smtClean="0"/>
              <a:t> </a:t>
            </a:r>
            <a:r>
              <a:rPr lang="fr-FR" sz="2800" dirty="0" smtClean="0">
                <a:solidFill>
                  <a:srgbClr val="0070C0"/>
                </a:solidFill>
              </a:rPr>
              <a:t>192.168.1.100	 Glasgow 	#PRE</a:t>
            </a:r>
          </a:p>
          <a:p>
            <a:pPr algn="l"/>
            <a:r>
              <a:rPr lang="fr-FR" sz="2800" dirty="0" smtClean="0"/>
              <a:t>3. Enregistrer le fichier sans extension.</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8261">
                                            <p:txEl>
                                              <p:pRg st="0" end="0"/>
                                            </p:txEl>
                                          </p:spTgt>
                                        </p:tgtEl>
                                        <p:attrNameLst>
                                          <p:attrName>style.visibility</p:attrName>
                                        </p:attrNameLst>
                                      </p:cBhvr>
                                      <p:to>
                                        <p:strVal val="visible"/>
                                      </p:to>
                                    </p:set>
                                    <p:animEffect transition="in" filter="checkerboard(across)">
                                      <p:cBhvr>
                                        <p:cTn id="7" dur="500"/>
                                        <p:tgtEl>
                                          <p:spTgt spid="60826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8261">
                                            <p:txEl>
                                              <p:pRg st="1" end="1"/>
                                            </p:txEl>
                                          </p:spTgt>
                                        </p:tgtEl>
                                        <p:attrNameLst>
                                          <p:attrName>style.visibility</p:attrName>
                                        </p:attrNameLst>
                                      </p:cBhvr>
                                      <p:to>
                                        <p:strVal val="visible"/>
                                      </p:to>
                                    </p:set>
                                    <p:animEffect transition="in" filter="checkerboard(across)">
                                      <p:cBhvr>
                                        <p:cTn id="10" dur="500"/>
                                        <p:tgtEl>
                                          <p:spTgt spid="60826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608261">
                                            <p:txEl>
                                              <p:pRg st="2" end="2"/>
                                            </p:txEl>
                                          </p:spTgt>
                                        </p:tgtEl>
                                        <p:attrNameLst>
                                          <p:attrName>style.visibility</p:attrName>
                                        </p:attrNameLst>
                                      </p:cBhvr>
                                      <p:to>
                                        <p:strVal val="visible"/>
                                      </p:to>
                                    </p:set>
                                    <p:animEffect transition="in" filter="checkerboard(across)">
                                      <p:cBhvr>
                                        <p:cTn id="15" dur="500"/>
                                        <p:tgtEl>
                                          <p:spTgt spid="608261">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08261">
                                            <p:txEl>
                                              <p:pRg st="3" end="3"/>
                                            </p:txEl>
                                          </p:spTgt>
                                        </p:tgtEl>
                                        <p:attrNameLst>
                                          <p:attrName>style.visibility</p:attrName>
                                        </p:attrNameLst>
                                      </p:cBhvr>
                                      <p:to>
                                        <p:strVal val="visible"/>
                                      </p:to>
                                    </p:set>
                                    <p:animEffect transition="in" filter="checkerboard(across)">
                                      <p:cBhvr>
                                        <p:cTn id="18" dur="500"/>
                                        <p:tgtEl>
                                          <p:spTgt spid="608261">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608261">
                                            <p:txEl>
                                              <p:pRg st="4" end="4"/>
                                            </p:txEl>
                                          </p:spTgt>
                                        </p:tgtEl>
                                        <p:attrNameLst>
                                          <p:attrName>style.visibility</p:attrName>
                                        </p:attrNameLst>
                                      </p:cBhvr>
                                      <p:to>
                                        <p:strVal val="visible"/>
                                      </p:to>
                                    </p:set>
                                    <p:animEffect transition="in" filter="checkerboard(across)">
                                      <p:cBhvr>
                                        <p:cTn id="21" dur="500"/>
                                        <p:tgtEl>
                                          <p:spTgt spid="60826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608261">
                                            <p:txEl>
                                              <p:pRg st="5" end="5"/>
                                            </p:txEl>
                                          </p:spTgt>
                                        </p:tgtEl>
                                        <p:attrNameLst>
                                          <p:attrName>style.visibility</p:attrName>
                                        </p:attrNameLst>
                                      </p:cBhvr>
                                      <p:to>
                                        <p:strVal val="visible"/>
                                      </p:to>
                                    </p:set>
                                    <p:animEffect transition="in" filter="checkerboard(across)">
                                      <p:cBhvr>
                                        <p:cTn id="26" dur="500"/>
                                        <p:tgtEl>
                                          <p:spTgt spid="60826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p:txBody>
          <a:bodyPr>
            <a:normAutofit fontScale="92500" lnSpcReduction="20000"/>
          </a:bodyPr>
          <a:lstStyle/>
          <a:p>
            <a:pPr marL="514350" indent="-514350">
              <a:buClr>
                <a:schemeClr val="tx1"/>
              </a:buClr>
              <a:buFont typeface="+mj-lt"/>
              <a:buAutoNum type="arabicPeriod"/>
            </a:pPr>
            <a:r>
              <a:rPr lang="en-GB" b="1" dirty="0" smtClean="0">
                <a:solidFill>
                  <a:srgbClr val="000000"/>
                </a:solidFill>
              </a:rPr>
              <a:t>Comment les </a:t>
            </a:r>
            <a:r>
              <a:rPr lang="en-GB" b="1" dirty="0" err="1" smtClean="0">
                <a:solidFill>
                  <a:srgbClr val="000000"/>
                </a:solidFill>
              </a:rPr>
              <a:t>noms</a:t>
            </a:r>
            <a:r>
              <a:rPr lang="en-GB" b="1" dirty="0" smtClean="0">
                <a:solidFill>
                  <a:srgbClr val="000000"/>
                </a:solidFill>
              </a:rPr>
              <a:t> </a:t>
            </a:r>
            <a:r>
              <a:rPr lang="en-GB" b="1" dirty="0" err="1" smtClean="0">
                <a:solidFill>
                  <a:srgbClr val="000000"/>
                </a:solidFill>
              </a:rPr>
              <a:t>sont</a:t>
            </a:r>
            <a:r>
              <a:rPr lang="en-GB" b="1" dirty="0" smtClean="0">
                <a:solidFill>
                  <a:srgbClr val="000000"/>
                </a:solidFill>
              </a:rPr>
              <a:t> </a:t>
            </a:r>
            <a:r>
              <a:rPr lang="en-GB" b="1" dirty="0" err="1" smtClean="0">
                <a:solidFill>
                  <a:srgbClr val="000000"/>
                </a:solidFill>
              </a:rPr>
              <a:t>mappés</a:t>
            </a:r>
            <a:r>
              <a:rPr lang="en-GB" b="1" dirty="0" smtClean="0">
                <a:solidFill>
                  <a:srgbClr val="000000"/>
                </a:solidFill>
              </a:rPr>
              <a:t> à des @ IP</a:t>
            </a:r>
            <a:endParaRPr lang="en-US" b="1" dirty="0" smtClean="0"/>
          </a:p>
          <a:p>
            <a:pPr marL="514350" indent="-514350">
              <a:buClr>
                <a:schemeClr val="tx1"/>
              </a:buClr>
              <a:buFont typeface="+mj-lt"/>
              <a:buAutoNum type="arabicPeriod"/>
            </a:pPr>
            <a:r>
              <a:rPr lang="en-GB" b="1" dirty="0" err="1" smtClean="0">
                <a:solidFill>
                  <a:srgbClr val="000000"/>
                </a:solidFill>
              </a:rPr>
              <a:t>C’est</a:t>
            </a:r>
            <a:r>
              <a:rPr lang="en-GB" b="1" dirty="0" smtClean="0">
                <a:solidFill>
                  <a:srgbClr val="000000"/>
                </a:solidFill>
              </a:rPr>
              <a:t> quoi un nom d'hôte ?</a:t>
            </a:r>
            <a:endParaRPr lang="en-US" b="1" dirty="0" smtClean="0"/>
          </a:p>
          <a:p>
            <a:pPr marL="514350" indent="-514350">
              <a:buClr>
                <a:schemeClr val="tx1"/>
              </a:buClr>
              <a:buFont typeface="+mj-lt"/>
              <a:buAutoNum type="arabicPeriod"/>
            </a:pPr>
            <a:r>
              <a:rPr lang="en-GB" b="1" dirty="0" err="1" smtClean="0">
                <a:solidFill>
                  <a:srgbClr val="000000"/>
                </a:solidFill>
              </a:rPr>
              <a:t>C’est</a:t>
            </a:r>
            <a:r>
              <a:rPr lang="en-GB" b="1" dirty="0" smtClean="0">
                <a:solidFill>
                  <a:srgbClr val="000000"/>
                </a:solidFill>
              </a:rPr>
              <a:t> quoi un nom NetBIOS ?</a:t>
            </a:r>
            <a:endParaRPr lang="en-US" b="1" dirty="0" smtClean="0"/>
          </a:p>
          <a:p>
            <a:pPr marL="514350" indent="-514350">
              <a:buClr>
                <a:schemeClr val="tx1"/>
              </a:buClr>
              <a:buFont typeface="+mj-lt"/>
              <a:buAutoNum type="arabicPeriod"/>
            </a:pPr>
            <a:r>
              <a:rPr lang="en-GB" b="1" dirty="0" smtClean="0">
                <a:solidFill>
                  <a:srgbClr val="000000"/>
                </a:solidFill>
              </a:rPr>
              <a:t>Comment </a:t>
            </a:r>
            <a:r>
              <a:rPr lang="en-GB" b="1" dirty="0" err="1" smtClean="0">
                <a:solidFill>
                  <a:srgbClr val="000000"/>
                </a:solidFill>
              </a:rPr>
              <a:t>afficher</a:t>
            </a:r>
            <a:r>
              <a:rPr lang="en-GB" b="1" dirty="0" smtClean="0">
                <a:solidFill>
                  <a:srgbClr val="000000"/>
                </a:solidFill>
              </a:rPr>
              <a:t> les </a:t>
            </a:r>
            <a:r>
              <a:rPr lang="en-GB" b="1" dirty="0" err="1" smtClean="0">
                <a:solidFill>
                  <a:srgbClr val="000000"/>
                </a:solidFill>
              </a:rPr>
              <a:t>noms</a:t>
            </a:r>
            <a:r>
              <a:rPr lang="en-GB" b="1" dirty="0" smtClean="0">
                <a:solidFill>
                  <a:srgbClr val="000000"/>
                </a:solidFill>
              </a:rPr>
              <a:t> </a:t>
            </a:r>
            <a:r>
              <a:rPr lang="en-GB" b="1" dirty="0" err="1" smtClean="0">
                <a:solidFill>
                  <a:srgbClr val="000000"/>
                </a:solidFill>
              </a:rPr>
              <a:t>sur</a:t>
            </a:r>
            <a:r>
              <a:rPr lang="en-GB" b="1" dirty="0" smtClean="0">
                <a:solidFill>
                  <a:srgbClr val="000000"/>
                </a:solidFill>
              </a:rPr>
              <a:t> un client?</a:t>
            </a:r>
          </a:p>
          <a:p>
            <a:pPr marL="514350" indent="-514350">
              <a:buClr>
                <a:schemeClr val="tx1"/>
              </a:buClr>
              <a:buFont typeface="+mj-lt"/>
              <a:buAutoNum type="arabicPeriod"/>
            </a:pPr>
            <a:r>
              <a:rPr lang="en-GB" sz="2500" b="1" dirty="0" err="1" smtClean="0">
                <a:solidFill>
                  <a:srgbClr val="000000"/>
                </a:solidFill>
              </a:rPr>
              <a:t>Expliquer</a:t>
            </a:r>
            <a:r>
              <a:rPr lang="en-GB" sz="2500" b="1" dirty="0" smtClean="0">
                <a:solidFill>
                  <a:srgbClr val="000000"/>
                </a:solidFill>
              </a:rPr>
              <a:t> le </a:t>
            </a:r>
            <a:r>
              <a:rPr lang="en-GB" sz="2500" b="1" dirty="0" err="1" smtClean="0">
                <a:solidFill>
                  <a:srgbClr val="000000"/>
                </a:solidFill>
              </a:rPr>
              <a:t>p</a:t>
            </a:r>
            <a:r>
              <a:rPr lang="en-GB" b="1" dirty="0" err="1" smtClean="0">
                <a:solidFill>
                  <a:srgbClr val="000000"/>
                </a:solidFill>
              </a:rPr>
              <a:t>rocessus</a:t>
            </a:r>
            <a:r>
              <a:rPr lang="en-GB" b="1" dirty="0" smtClean="0">
                <a:solidFill>
                  <a:srgbClr val="000000"/>
                </a:solidFill>
              </a:rPr>
              <a:t> de </a:t>
            </a:r>
            <a:r>
              <a:rPr lang="en-GB" b="1" dirty="0" err="1" smtClean="0">
                <a:solidFill>
                  <a:srgbClr val="000000"/>
                </a:solidFill>
              </a:rPr>
              <a:t>résolution</a:t>
            </a:r>
            <a:r>
              <a:rPr lang="en-GB" b="1" dirty="0" smtClean="0">
                <a:solidFill>
                  <a:srgbClr val="000000"/>
                </a:solidFill>
              </a:rPr>
              <a:t> de </a:t>
            </a:r>
            <a:r>
              <a:rPr lang="en-GB" b="1" dirty="0" err="1" smtClean="0">
                <a:solidFill>
                  <a:srgbClr val="000000"/>
                </a:solidFill>
              </a:rPr>
              <a:t>noms</a:t>
            </a:r>
            <a:r>
              <a:rPr lang="en-GB" b="1" dirty="0" smtClean="0">
                <a:solidFill>
                  <a:srgbClr val="000000"/>
                </a:solidFill>
              </a:rPr>
              <a:t> </a:t>
            </a:r>
            <a:r>
              <a:rPr lang="en-GB" b="1" dirty="0" err="1" smtClean="0">
                <a:solidFill>
                  <a:srgbClr val="000000"/>
                </a:solidFill>
              </a:rPr>
              <a:t>d'hôtes</a:t>
            </a:r>
            <a:endParaRPr lang="en-US" b="1" dirty="0" smtClean="0">
              <a:solidFill>
                <a:srgbClr val="000000"/>
              </a:solidFill>
            </a:endParaRPr>
          </a:p>
          <a:p>
            <a:pPr marL="514350" indent="-514350">
              <a:buClr>
                <a:schemeClr val="tx1"/>
              </a:buClr>
              <a:buFont typeface="+mj-lt"/>
              <a:buAutoNum type="arabicPeriod"/>
            </a:pPr>
            <a:r>
              <a:rPr lang="en-GB" b="1" dirty="0" err="1" smtClean="0">
                <a:solidFill>
                  <a:srgbClr val="000000"/>
                </a:solidFill>
              </a:rPr>
              <a:t>C’est</a:t>
            </a:r>
            <a:r>
              <a:rPr lang="en-GB" b="1" dirty="0" smtClean="0">
                <a:solidFill>
                  <a:srgbClr val="000000"/>
                </a:solidFill>
              </a:rPr>
              <a:t> quoi le Cache de </a:t>
            </a:r>
            <a:r>
              <a:rPr lang="en-GB" b="1" dirty="0" err="1" smtClean="0">
                <a:solidFill>
                  <a:srgbClr val="000000"/>
                </a:solidFill>
              </a:rPr>
              <a:t>résolution</a:t>
            </a:r>
            <a:r>
              <a:rPr lang="en-GB" b="1" dirty="0" smtClean="0">
                <a:solidFill>
                  <a:srgbClr val="000000"/>
                </a:solidFill>
              </a:rPr>
              <a:t> client?</a:t>
            </a:r>
            <a:endParaRPr lang="en-US" b="1" dirty="0" smtClean="0">
              <a:solidFill>
                <a:srgbClr val="000000"/>
              </a:solidFill>
            </a:endParaRPr>
          </a:p>
          <a:p>
            <a:pPr marL="514350" indent="-514350">
              <a:buClr>
                <a:schemeClr val="tx1"/>
              </a:buClr>
              <a:buFont typeface="+mj-lt"/>
              <a:buAutoNum type="arabicPeriod"/>
            </a:pPr>
            <a:r>
              <a:rPr lang="en-GB" b="1" dirty="0" smtClean="0">
                <a:solidFill>
                  <a:srgbClr val="000000"/>
                </a:solidFill>
              </a:rPr>
              <a:t>Comment </a:t>
            </a:r>
            <a:r>
              <a:rPr lang="en-GB" b="1" dirty="0" err="1" smtClean="0">
                <a:solidFill>
                  <a:srgbClr val="000000"/>
                </a:solidFill>
              </a:rPr>
              <a:t>afficher</a:t>
            </a:r>
            <a:r>
              <a:rPr lang="en-GB" b="1" dirty="0" smtClean="0">
                <a:solidFill>
                  <a:srgbClr val="000000"/>
                </a:solidFill>
              </a:rPr>
              <a:t> et </a:t>
            </a:r>
            <a:r>
              <a:rPr lang="en-GB" b="1" dirty="0" err="1" smtClean="0">
                <a:solidFill>
                  <a:srgbClr val="000000"/>
                </a:solidFill>
              </a:rPr>
              <a:t>vider</a:t>
            </a:r>
            <a:r>
              <a:rPr lang="en-GB" b="1" dirty="0" smtClean="0">
                <a:solidFill>
                  <a:srgbClr val="000000"/>
                </a:solidFill>
              </a:rPr>
              <a:t> le cache de </a:t>
            </a:r>
            <a:r>
              <a:rPr lang="en-GB" b="1" dirty="0" err="1" smtClean="0">
                <a:solidFill>
                  <a:srgbClr val="000000"/>
                </a:solidFill>
              </a:rPr>
              <a:t>résolution</a:t>
            </a:r>
            <a:r>
              <a:rPr lang="en-GB" b="1" dirty="0" smtClean="0">
                <a:solidFill>
                  <a:srgbClr val="000000"/>
                </a:solidFill>
              </a:rPr>
              <a:t> client?</a:t>
            </a:r>
            <a:endParaRPr lang="en-US" b="1" dirty="0" smtClean="0">
              <a:solidFill>
                <a:srgbClr val="000000"/>
              </a:solidFill>
            </a:endParaRPr>
          </a:p>
          <a:p>
            <a:pPr marL="514350" indent="-514350">
              <a:buClr>
                <a:schemeClr val="tx1"/>
              </a:buClr>
              <a:buFont typeface="+mj-lt"/>
              <a:buAutoNum type="arabicPeriod"/>
            </a:pPr>
            <a:r>
              <a:rPr lang="en-GB" b="1" dirty="0" err="1" smtClean="0">
                <a:solidFill>
                  <a:srgbClr val="000000"/>
                </a:solidFill>
              </a:rPr>
              <a:t>C’est</a:t>
            </a:r>
            <a:r>
              <a:rPr lang="en-GB" b="1" dirty="0" smtClean="0">
                <a:solidFill>
                  <a:srgbClr val="000000"/>
                </a:solidFill>
              </a:rPr>
              <a:t> quoi un </a:t>
            </a:r>
            <a:r>
              <a:rPr lang="en-GB" b="1" dirty="0" err="1" smtClean="0">
                <a:solidFill>
                  <a:srgbClr val="000000"/>
                </a:solidFill>
              </a:rPr>
              <a:t>fichier</a:t>
            </a:r>
            <a:r>
              <a:rPr lang="en-GB" b="1" dirty="0" smtClean="0">
                <a:solidFill>
                  <a:srgbClr val="000000"/>
                </a:solidFill>
              </a:rPr>
              <a:t> Hosts?</a:t>
            </a:r>
            <a:endParaRPr lang="en-US" b="1" dirty="0" smtClean="0">
              <a:solidFill>
                <a:srgbClr val="000000"/>
              </a:solidFill>
            </a:endParaRPr>
          </a:p>
          <a:p>
            <a:pPr marL="514350" indent="-514350">
              <a:buClr>
                <a:schemeClr val="tx1"/>
              </a:buClr>
              <a:buFont typeface="+mj-lt"/>
              <a:buAutoNum type="arabicPeriod"/>
            </a:pPr>
            <a:r>
              <a:rPr lang="en-GB" b="1" dirty="0" smtClean="0">
                <a:solidFill>
                  <a:srgbClr val="000000"/>
                </a:solidFill>
              </a:rPr>
              <a:t>Comment </a:t>
            </a:r>
            <a:r>
              <a:rPr lang="en-GB" b="1" dirty="0" err="1" smtClean="0">
                <a:solidFill>
                  <a:srgbClr val="000000"/>
                </a:solidFill>
              </a:rPr>
              <a:t>précharger</a:t>
            </a:r>
            <a:r>
              <a:rPr lang="en-GB" b="1" dirty="0" smtClean="0">
                <a:solidFill>
                  <a:srgbClr val="000000"/>
                </a:solidFill>
              </a:rPr>
              <a:t> un cache de </a:t>
            </a:r>
            <a:r>
              <a:rPr lang="en-GB" b="1" dirty="0" err="1" smtClean="0">
                <a:solidFill>
                  <a:srgbClr val="000000"/>
                </a:solidFill>
              </a:rPr>
              <a:t>résolution</a:t>
            </a:r>
            <a:r>
              <a:rPr lang="en-GB" b="1" dirty="0" smtClean="0">
                <a:solidFill>
                  <a:srgbClr val="000000"/>
                </a:solidFill>
              </a:rPr>
              <a:t> client en </a:t>
            </a:r>
            <a:r>
              <a:rPr lang="en-GB" b="1" dirty="0" err="1" smtClean="0">
                <a:solidFill>
                  <a:srgbClr val="000000"/>
                </a:solidFill>
              </a:rPr>
              <a:t>utilisant</a:t>
            </a:r>
            <a:r>
              <a:rPr lang="en-GB" b="1" dirty="0" smtClean="0">
                <a:solidFill>
                  <a:srgbClr val="000000"/>
                </a:solidFill>
              </a:rPr>
              <a:t> un </a:t>
            </a:r>
            <a:r>
              <a:rPr lang="en-GB" b="1" dirty="0" err="1" smtClean="0">
                <a:solidFill>
                  <a:srgbClr val="000000"/>
                </a:solidFill>
              </a:rPr>
              <a:t>fichier</a:t>
            </a:r>
            <a:r>
              <a:rPr lang="en-GB" b="1" dirty="0" smtClean="0">
                <a:solidFill>
                  <a:srgbClr val="000000"/>
                </a:solidFill>
              </a:rPr>
              <a:t> Hosts?</a:t>
            </a:r>
            <a:endParaRPr lang="en-US" b="1" dirty="0" smtClean="0">
              <a:solidFill>
                <a:srgbClr val="000000"/>
              </a:solidFill>
            </a:endParaRPr>
          </a:p>
          <a:p>
            <a:pPr marL="514350" indent="-514350">
              <a:buClr>
                <a:schemeClr val="tx1"/>
              </a:buClr>
              <a:buFont typeface="+mj-lt"/>
              <a:buAutoNum type="arabicPeriod"/>
            </a:pPr>
            <a:endParaRPr lang="en-US" b="1" dirty="0" smtClean="0">
              <a:solidFill>
                <a:srgbClr val="000000"/>
              </a:solidFill>
            </a:endParaRPr>
          </a:p>
          <a:p>
            <a:pPr marL="514350" indent="-514350">
              <a:buFont typeface="+mj-lt"/>
              <a:buAutoNum type="arabicPeriod"/>
            </a:pPr>
            <a:endParaRPr lang="fr-F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chemeClr val="tx1"/>
                </a:solidFill>
              </a:rPr>
              <a:t>Exercices</a:t>
            </a:r>
            <a:endParaRPr lang="fr-FR" b="1" dirty="0">
              <a:solidFill>
                <a:schemeClr val="tx1"/>
              </a:solidFill>
            </a:endParaRPr>
          </a:p>
        </p:txBody>
      </p:sp>
      <p:sp>
        <p:nvSpPr>
          <p:cNvPr id="3" name="Espace réservé du contenu 2"/>
          <p:cNvSpPr>
            <a:spLocks noGrp="1"/>
          </p:cNvSpPr>
          <p:nvPr>
            <p:ph sz="quarter" idx="1"/>
          </p:nvPr>
        </p:nvSpPr>
        <p:spPr/>
        <p:txBody>
          <a:bodyPr>
            <a:normAutofit/>
          </a:bodyPr>
          <a:lstStyle/>
          <a:p>
            <a:pPr marL="514350" indent="-514350">
              <a:buClr>
                <a:schemeClr val="tx2"/>
              </a:buClr>
              <a:buFont typeface="+mj-lt"/>
              <a:buAutoNum type="arabicPeriod" startAt="10"/>
            </a:pPr>
            <a:r>
              <a:rPr lang="en-GB" b="1" dirty="0" err="1" smtClean="0">
                <a:solidFill>
                  <a:srgbClr val="000000"/>
                </a:solidFill>
              </a:rPr>
              <a:t>Expliquer</a:t>
            </a:r>
            <a:r>
              <a:rPr lang="en-GB" b="1" dirty="0" smtClean="0">
                <a:solidFill>
                  <a:srgbClr val="000000"/>
                </a:solidFill>
              </a:rPr>
              <a:t> le </a:t>
            </a:r>
            <a:r>
              <a:rPr lang="en-GB" b="1" dirty="0" err="1" smtClean="0">
                <a:solidFill>
                  <a:srgbClr val="000000"/>
                </a:solidFill>
              </a:rPr>
              <a:t>processus</a:t>
            </a:r>
            <a:r>
              <a:rPr lang="en-GB" b="1" dirty="0" smtClean="0">
                <a:solidFill>
                  <a:srgbClr val="000000"/>
                </a:solidFill>
              </a:rPr>
              <a:t> de </a:t>
            </a:r>
            <a:r>
              <a:rPr lang="en-GB" b="1" dirty="0" err="1" smtClean="0">
                <a:solidFill>
                  <a:srgbClr val="000000"/>
                </a:solidFill>
              </a:rPr>
              <a:t>résolution</a:t>
            </a:r>
            <a:r>
              <a:rPr lang="en-GB" b="1" dirty="0" smtClean="0">
                <a:solidFill>
                  <a:srgbClr val="000000"/>
                </a:solidFill>
              </a:rPr>
              <a:t> de </a:t>
            </a:r>
            <a:r>
              <a:rPr lang="en-GB" b="1" dirty="0" err="1" smtClean="0">
                <a:solidFill>
                  <a:srgbClr val="000000"/>
                </a:solidFill>
              </a:rPr>
              <a:t>noms</a:t>
            </a:r>
            <a:r>
              <a:rPr lang="en-GB" b="1" dirty="0" smtClean="0">
                <a:solidFill>
                  <a:srgbClr val="000000"/>
                </a:solidFill>
              </a:rPr>
              <a:t> NetBIOS</a:t>
            </a:r>
            <a:endParaRPr lang="en-US" b="1" dirty="0" smtClean="0"/>
          </a:p>
          <a:p>
            <a:pPr marL="514350" indent="-514350">
              <a:buClr>
                <a:schemeClr val="tx2"/>
              </a:buClr>
              <a:buFont typeface="+mj-lt"/>
              <a:buAutoNum type="arabicPeriod" startAt="10"/>
            </a:pPr>
            <a:r>
              <a:rPr lang="en-GB" b="1" dirty="0" err="1" smtClean="0">
                <a:solidFill>
                  <a:srgbClr val="000000"/>
                </a:solidFill>
              </a:rPr>
              <a:t>C’est</a:t>
            </a:r>
            <a:r>
              <a:rPr lang="en-GB" b="1" dirty="0" smtClean="0">
                <a:solidFill>
                  <a:srgbClr val="000000"/>
                </a:solidFill>
              </a:rPr>
              <a:t> quoi le Cache de </a:t>
            </a:r>
            <a:r>
              <a:rPr lang="en-GB" b="1" dirty="0" err="1" smtClean="0">
                <a:solidFill>
                  <a:srgbClr val="000000"/>
                </a:solidFill>
              </a:rPr>
              <a:t>noms</a:t>
            </a:r>
            <a:r>
              <a:rPr lang="en-GB" b="1" dirty="0" smtClean="0">
                <a:solidFill>
                  <a:srgbClr val="000000"/>
                </a:solidFill>
              </a:rPr>
              <a:t> NetBIOS?</a:t>
            </a:r>
            <a:endParaRPr lang="en-US" b="1" dirty="0" smtClean="0"/>
          </a:p>
          <a:p>
            <a:pPr marL="514350" indent="-514350">
              <a:buClr>
                <a:schemeClr val="tx2"/>
              </a:buClr>
              <a:buFont typeface="+mj-lt"/>
              <a:buAutoNum type="arabicPeriod" startAt="10"/>
            </a:pPr>
            <a:r>
              <a:rPr lang="en-GB" b="1" dirty="0" smtClean="0">
                <a:solidFill>
                  <a:srgbClr val="000000"/>
                </a:solidFill>
              </a:rPr>
              <a:t>Comment </a:t>
            </a:r>
            <a:r>
              <a:rPr lang="en-GB" b="1" dirty="0" err="1" smtClean="0">
                <a:solidFill>
                  <a:srgbClr val="000000"/>
                </a:solidFill>
              </a:rPr>
              <a:t>afficher</a:t>
            </a:r>
            <a:r>
              <a:rPr lang="en-GB" b="1" dirty="0" smtClean="0">
                <a:solidFill>
                  <a:srgbClr val="000000"/>
                </a:solidFill>
              </a:rPr>
              <a:t> et </a:t>
            </a:r>
            <a:r>
              <a:rPr lang="en-GB" b="1" dirty="0" err="1" smtClean="0">
                <a:solidFill>
                  <a:srgbClr val="000000"/>
                </a:solidFill>
              </a:rPr>
              <a:t>libérer</a:t>
            </a:r>
            <a:r>
              <a:rPr lang="en-GB" b="1" dirty="0" smtClean="0">
                <a:solidFill>
                  <a:srgbClr val="000000"/>
                </a:solidFill>
              </a:rPr>
              <a:t> le cache de </a:t>
            </a:r>
            <a:r>
              <a:rPr lang="en-GB" b="1" dirty="0" err="1" smtClean="0">
                <a:solidFill>
                  <a:srgbClr val="000000"/>
                </a:solidFill>
              </a:rPr>
              <a:t>noms</a:t>
            </a:r>
            <a:r>
              <a:rPr lang="en-GB" b="1" dirty="0" smtClean="0">
                <a:solidFill>
                  <a:srgbClr val="000000"/>
                </a:solidFill>
              </a:rPr>
              <a:t> NetBIOS?</a:t>
            </a:r>
            <a:endParaRPr lang="en-US" b="1" dirty="0" smtClean="0"/>
          </a:p>
          <a:p>
            <a:pPr marL="514350" indent="-514350">
              <a:buClr>
                <a:schemeClr val="tx2"/>
              </a:buClr>
              <a:buFont typeface="+mj-lt"/>
              <a:buAutoNum type="arabicPeriod" startAt="10"/>
            </a:pPr>
            <a:r>
              <a:rPr lang="en-GB" b="1" dirty="0" err="1" smtClean="0">
                <a:solidFill>
                  <a:srgbClr val="000000"/>
                </a:solidFill>
              </a:rPr>
              <a:t>C’est</a:t>
            </a:r>
            <a:r>
              <a:rPr lang="en-GB" b="1" dirty="0" smtClean="0">
                <a:solidFill>
                  <a:srgbClr val="000000"/>
                </a:solidFill>
              </a:rPr>
              <a:t> quoi </a:t>
            </a:r>
            <a:r>
              <a:rPr lang="en-GB" b="1" dirty="0" err="1" smtClean="0">
                <a:solidFill>
                  <a:srgbClr val="000000"/>
                </a:solidFill>
              </a:rPr>
              <a:t>une</a:t>
            </a:r>
            <a:r>
              <a:rPr lang="en-GB" b="1" dirty="0" smtClean="0">
                <a:solidFill>
                  <a:srgbClr val="000000"/>
                </a:solidFill>
              </a:rPr>
              <a:t> Diffusion?</a:t>
            </a:r>
            <a:endParaRPr lang="en-US" b="1" dirty="0" smtClean="0"/>
          </a:p>
          <a:p>
            <a:pPr marL="514350" indent="-514350">
              <a:buClr>
                <a:schemeClr val="tx2"/>
              </a:buClr>
              <a:buFont typeface="+mj-lt"/>
              <a:buAutoNum type="arabicPeriod" startAt="10"/>
            </a:pPr>
            <a:r>
              <a:rPr lang="en-GB" b="1" dirty="0" err="1" smtClean="0">
                <a:solidFill>
                  <a:srgbClr val="000000"/>
                </a:solidFill>
              </a:rPr>
              <a:t>C’est</a:t>
            </a:r>
            <a:r>
              <a:rPr lang="en-GB" b="1" dirty="0" smtClean="0">
                <a:solidFill>
                  <a:srgbClr val="000000"/>
                </a:solidFill>
              </a:rPr>
              <a:t> quoi un </a:t>
            </a:r>
            <a:r>
              <a:rPr lang="en-GB" b="1" dirty="0" err="1" smtClean="0">
                <a:solidFill>
                  <a:srgbClr val="000000"/>
                </a:solidFill>
              </a:rPr>
              <a:t>Fichier</a:t>
            </a:r>
            <a:r>
              <a:rPr lang="en-GB" b="1" dirty="0" smtClean="0">
                <a:solidFill>
                  <a:srgbClr val="000000"/>
                </a:solidFill>
              </a:rPr>
              <a:t> </a:t>
            </a:r>
            <a:r>
              <a:rPr lang="en-GB" b="1" dirty="0" err="1" smtClean="0">
                <a:solidFill>
                  <a:srgbClr val="000000"/>
                </a:solidFill>
              </a:rPr>
              <a:t>Lmhosts</a:t>
            </a:r>
            <a:endParaRPr lang="en-US" b="1" dirty="0" smtClean="0"/>
          </a:p>
          <a:p>
            <a:pPr marL="514350" indent="-514350">
              <a:buClr>
                <a:schemeClr val="tx2"/>
              </a:buClr>
              <a:buFont typeface="+mj-lt"/>
              <a:buAutoNum type="arabicPeriod" startAt="10"/>
            </a:pPr>
            <a:r>
              <a:rPr lang="en-GB" b="1" dirty="0" smtClean="0">
                <a:solidFill>
                  <a:srgbClr val="000000"/>
                </a:solidFill>
              </a:rPr>
              <a:t>Comment </a:t>
            </a:r>
            <a:r>
              <a:rPr lang="en-GB" b="1" dirty="0" err="1" smtClean="0">
                <a:solidFill>
                  <a:srgbClr val="000000"/>
                </a:solidFill>
              </a:rPr>
              <a:t>précharger</a:t>
            </a:r>
            <a:r>
              <a:rPr lang="en-GB" b="1" dirty="0" smtClean="0">
                <a:solidFill>
                  <a:srgbClr val="000000"/>
                </a:solidFill>
              </a:rPr>
              <a:t> un cache de </a:t>
            </a:r>
            <a:r>
              <a:rPr lang="en-GB" b="1" dirty="0" err="1" smtClean="0">
                <a:solidFill>
                  <a:srgbClr val="000000"/>
                </a:solidFill>
              </a:rPr>
              <a:t>noms</a:t>
            </a:r>
            <a:r>
              <a:rPr lang="en-GB" b="1" dirty="0" smtClean="0">
                <a:solidFill>
                  <a:srgbClr val="000000"/>
                </a:solidFill>
              </a:rPr>
              <a:t> NetBIOS en </a:t>
            </a:r>
            <a:r>
              <a:rPr lang="en-GB" b="1" dirty="0" err="1" smtClean="0">
                <a:solidFill>
                  <a:srgbClr val="000000"/>
                </a:solidFill>
              </a:rPr>
              <a:t>utilisant</a:t>
            </a:r>
            <a:r>
              <a:rPr lang="en-GB" b="1" dirty="0" smtClean="0">
                <a:solidFill>
                  <a:srgbClr val="000000"/>
                </a:solidFill>
              </a:rPr>
              <a:t> un </a:t>
            </a:r>
            <a:r>
              <a:rPr lang="en-GB" b="1" dirty="0" err="1" smtClean="0">
                <a:solidFill>
                  <a:srgbClr val="000000"/>
                </a:solidFill>
              </a:rPr>
              <a:t>fichier</a:t>
            </a:r>
            <a:r>
              <a:rPr lang="en-GB" b="1" dirty="0" smtClean="0">
                <a:solidFill>
                  <a:srgbClr val="000000"/>
                </a:solidFill>
              </a:rPr>
              <a:t> </a:t>
            </a:r>
            <a:r>
              <a:rPr lang="en-GB" b="1" dirty="0" err="1" smtClean="0">
                <a:solidFill>
                  <a:srgbClr val="000000"/>
                </a:solidFill>
              </a:rPr>
              <a:t>Lmhosts</a:t>
            </a:r>
            <a:r>
              <a:rPr lang="en-GB" b="1" dirty="0" smtClean="0">
                <a:solidFill>
                  <a:srgbClr val="000000"/>
                </a:solidFill>
              </a:rPr>
              <a:t>?</a:t>
            </a:r>
            <a:endParaRPr lang="en-US" b="1" dirty="0" smtClean="0">
              <a:solidFill>
                <a:srgbClr val="000000"/>
              </a:solidFill>
            </a:endParaRPr>
          </a:p>
          <a:p>
            <a:pPr marL="514350" indent="-514350">
              <a:buClr>
                <a:schemeClr val="tx1"/>
              </a:buClr>
              <a:buFont typeface="+mj-lt"/>
              <a:buAutoNum type="arabicPeriod" startAt="10"/>
            </a:pPr>
            <a:endParaRPr lang="en-US" b="1" dirty="0" smtClean="0">
              <a:solidFill>
                <a:srgbClr val="000000"/>
              </a:solidFill>
            </a:endParaRPr>
          </a:p>
          <a:p>
            <a:pPr marL="514350" indent="-514350">
              <a:buFont typeface="+mj-lt"/>
              <a:buAutoNum type="arabicPeriod" startAt="10"/>
            </a:pPr>
            <a:endParaRPr lang="fr-F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100\b\cf0 Module 4:\par}}"/>
  <p:tag name="PPWINSEGMENT1TARGETRTF" val="{\rtf1\ansi\deff1{\fonttbl{\f1\fcharset0 Arial;}{\f2\fcharset0 Arial Narrow;}}{\colortbl\red0\green0\blue0;}{\f2\fs100\b\cf0 Module 4 :\par}}"/>
  <p:tag name="PPWINSEGMENT2START" val="13"/>
  <p:tag name="PPWINSEGMENT2LENGTH" val="18"/>
  <p:tag name="PPWINSEGMENT2SOURCERTF" val="{\rtf1\ansi\deff0{\fonttbl{\f0\fcharset0 Arial Narrow;}}{\colortbl\red0\green0\blue0;}{\f0\fs100\b\cf0 Resolving Names\par}}"/>
  <p:tag name="PPWINSEGMENT2TARGETRTF" val="{\rtf1\ansi\deff0{\fonttbl{\f0\fcharset0 Arial Narrow;}}{\colortbl\red0\green0\blue0;}{\f0\fs100\b\cf0 R\'E9solution de noms\par}}"/>
  <p:tag name="PPWINLASTSAVEDTRANSLATION" val="Module 4 : Résolution de noms"/>
  <p:tag name="PPWINALREADYSEGMENTED" val="True"/>
  <p:tag name="PPWINTOTALSEGMENTS" val="2"/>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60\b\cf0 Overview\par}}"/>
  <p:tag name="PPWINSEGMENT1TARGETRTF" val="{\rtf1\ansi\deff1{\fonttbl{\f1\fcharset0 Arial;}{\f2\fcharset0 Arial Narrow;}}{\colortbl\red0\green0\blue0;}{\f2\fs60\b\cf0 Vue d'ensemble\par}}"/>
  <p:tag name="PPWINLASTSAVEDTRANSLATION" val="Vue d'ensemble"/>
  <p:tag name="PPWINALREADYSEGMENTED" val="True"/>
  <p:tag name="PPWINTOTALSEGMENTS" val="1"/>
</p:tagLst>
</file>

<file path=ppt/tags/tag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Multimedia:\par}}"/>
  <p:tag name="PPWINSEGMENT1TARGETRTF" val="{\rtf1\ansi\deff1{\fonttbl{\f1\fcharset0 Arial;}{\f2\fcharset0 Arial Narrow;}}{\colortbl\red0\green0\blue0;}{\f2\fs48\b\cf0 Pr\'E9sentation multim\'E9dia :\par}}"/>
  <p:tag name="PPWINSEGMENT2START" val="27"/>
  <p:tag name="PPWINSEGMENT2LENGTH" val="47"/>
  <p:tag name="PPWINSEGMENT2SOURCERTF" val="{\rtf1\ansi\deff0{\fonttbl{\f0\fcharset0 Arial Narrow;}}{\colortbl\red0\green0\blue0;}{\f0\fs48\b\cf0 Introduction to the Name Resolution Process\par}}"/>
  <p:tag name="PPWINSEGMENT2TARGETRTF" val="{\rtf1\ansi\deff1{\fonttbl{\f1\fcharset0 Arial;}{\f2\fcharset0 Arial Narrow;}}{\colortbl\red0\green0\blue0;}{\f2\fs48\b\cf0 Introduction au processus de r\'E9solution de noms\par}}"/>
  <p:tag name="PPWINSEGMENT3START" val="75"/>
  <p:tag name="PPWINSEGMENT3LENGTH" val="31"/>
  <p:tag name="PPWINSEGMENT3SOURCERTF" val="{\rtf1\ansi\deff0{\fonttbl{\f0\fcharset0 Arial Narrow;}}{\colortbl\red0\green0\blue0;}{\f0\fs48\b\cf0 Viewing Names on a Client\par}}"/>
  <p:tag name="PPWINSEGMENT3TARGETRTF" val="{\rtf1\ansi\deff1{\fonttbl{\f1\fcharset0 Arial;}{\f2\fcharset0 Arial Narrow;}}{\colortbl\red0\green0\blue0;}{\f2\fs48\b\cf0 Affichage de noms sur un client\par}}"/>
  <p:tag name="PPWINSEGMENT4START" val="107"/>
  <p:tag name="PPWINSEGMENT4LENGTH" val="46"/>
  <p:tag name="PPWINSEGMENT4SOURCERTF" val="{\rtf1\ansi\deff0{\fonttbl{\f0\fcharset0 Arial Narrow;}}{\colortbl\red0\green0\blue0;}{\f0\fs48\b\cf0 Configuring Host Name Resolution\par}}"/>
  <p:tag name="PPWINSEGMENT4TARGETRTF" val="{\rtf1\ansi\deff1{\fonttbl{\f1\fcharset0 Arial;}{\f2\fcharset0 Arial Narrow;}}{\colortbl\red0\green0\blue0;}{\f2\fs48\b\cf0 Configuration de la r\'E9solution de noms d'h\'F4tes\par}}"/>
  <p:tag name="PPWINSEGMENT5START" val="154"/>
  <p:tag name="PPWINSEGMENT5LENGTH" val="46"/>
  <p:tag name="PPWINSEGMENT5SOURCERTF" val="{\rtf1\ansi\deff0{\fonttbl{\f0\fcharset0 Arial Narrow;}}{\colortbl\red0\green0\blue0;}{\f0\fs48\b\cf0 Configuring NetBIOS Name Resolution\par}}"/>
  <p:tag name="PPWINSEGMENT5TARGETRTF" val="{\rtf1\ansi\deff1{\fonttbl{\f1\fcharset0 Arial;}{\f2\fcharset0 Arial Narrow;}}{\colortbl\red0\green0\blue0;}{\f2\fs48\b\cf0 Configuration de la r\'E9solution de noms NetBIOS\par}}"/>
  <p:tag name="PPWINLASTSAVEDTRANSLATION" val="Présentation multimédia : Introduction au processus de résolution de noms&#10;Affichage de noms sur un client&#10;Configuration de la résolution de noms d'hôtes&#10;Configuration de la résolution de noms NetBIOS"/>
  <p:tag name="PPWINALREADYSEGMENTED" val="True"/>
  <p:tag name="PPWINTOTALSEGMENTS" val="5"/>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52\b\cf0 Multimedia:\par}}"/>
  <p:tag name="PPWINSEGMENT1TARGETRTF" val="{\rtf1\ansi\deff1{\fonttbl{\f1\fcharset0 Arial;}{\f2\fcharset0 Arial Narrow;}}{\colortbl\red0\green0\blue0;}{\f2\fs52\b\cf0 Pr\'E9sentation multim\'E9dia :\par}}"/>
  <p:tag name="PPWINSEGMENT2START" val="27"/>
  <p:tag name="PPWINSEGMENT2LENGTH" val="47"/>
  <p:tag name="PPWINSEGMENT2SOURCERTF" val="{\rtf1\ansi\deff0{\fonttbl{\f0\fcharset0 Arial Narrow;}}{\colortbl\red0\green0\blue0;}{\f0\fs52\b\cf0 Introduction to the Name Resolution Process\par}}"/>
  <p:tag name="PPWINSEGMENT2TARGETRTF" val="{\rtf1\ansi\deff1{\fonttbl{\f1\fcharset0 Arial;}{\f2\fcharset0 Arial Narrow;}}{\colortbl\red0\green0\blue0;}{\f2\fs52\b\cf0 Introduction au processus de r\'E9solution de noms\par}}"/>
  <p:tag name="PPWINLASTSAVEDTRANSLATION" val="Présentation multimédia : Introduction au processus de résolution de noms"/>
  <p:tag name="PPWINALREADYSEGMENTED" val="True"/>
  <p:tag name="PPWINTOTALSEGMENTS" val="2"/>
</p:tagLst>
</file>

<file path=ppt/tags/tag1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31"/>
  <p:tag name="PPWINSEGMENT2SOURCERTF" val="{\rtf1\ansi\deff0{\fonttbl{\f0\fcharset0 Arial Narrow;}}{\colortbl\red0\green0\blue0;}{\f0\fs52\b\cf0 Viewing Names on a Client\par}}"/>
  <p:tag name="PPWINSEGMENT2TARGETRTF" val="{\rtf1\ansi\deff1{\fonttbl{\f1\fcharset0 Arial;}{\f2\fcharset0 Arial Narrow;}}{\colortbl\red0\green0\blue0;}{\f2\fs52\b\cf0 Affichage de noms sur un client\par}}"/>
  <p:tag name="PPWINLASTSAVEDTRANSLATION" val="Leçon : Affichage de noms sur un client"/>
  <p:tag name="PPWINALREADYSEGMENTED" val="True"/>
  <p:tag name="PPWINTOTALSEGMENTS" val="2"/>
</p:tagLst>
</file>

<file path=ppt/tags/tag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48\b\cf0 How Names Are Mapped to IP Addresses\par}}"/>
  <p:tag name="PPWINSEGMENT1TARGETRTF" val="{\rtf1\ansi\deff1{\fonttbl{\f1\fcharset0 Arial;}{\f2\fcharset0 Arial Narrow;}}{\colortbl\red0\green0\blue0;}{\f2\fs48\b\cf0 Comment les noms sont mapp\'E9s \'E0 des adresses IP\par}}"/>
  <p:tag name="PPWINSEGMENT2START" val="48"/>
  <p:tag name="PPWINSEGMENT2LENGTH" val="27"/>
  <p:tag name="PPWINSEGMENT2SOURCERTF" val="{\rtf1\ansi\deff0{\fonttbl{\f0\fcharset0 Arial Narrow;}}{\colortbl\red0\green0\blue0;}{\f0\fs48\b\cf0 What Are Host Names?\par}}"/>
  <p:tag name="PPWINSEGMENT2TARGETRTF" val="{\rtf1\ansi\deff1{\fonttbl{\f1\fcharset0 Arial;}{\f2\fcharset0 Arial Narrow;}}{\colortbl\red0\green0\blue0;}{\f2\fs48\b\cf0 Que sont les noms d'h\'F4tes ?\par}}"/>
  <p:tag name="PPWINSEGMENT3START" val="76"/>
  <p:tag name="PPWINSEGMENT3LENGTH" val="27"/>
  <p:tag name="PPWINSEGMENT3SOURCERTF" val="{\rtf1\ansi\deff0{\fonttbl{\f0\fcharset0 Arial Narrow;}}{\colortbl\red0\green0\blue0;}{\f0\fs48\b\cf0 What Are NetBIOS Names?\par}}"/>
  <p:tag name="PPWINSEGMENT3TARGETRTF" val="{\rtf1\ansi\deff1{\fonttbl{\f1\fcharset0 Arial;}{\f2\fcharset0 Arial Narrow;}}{\colortbl\red0\green0\blue0;}{\f2\fs48\b\cf0 Que sont les noms NetBIOS ?\par}}"/>
  <p:tag name="PPWINSEGMENT4START" val="104"/>
  <p:tag name="PPWINSEGMENT4LENGTH" val="39"/>
  <p:tag name="PPWINSEGMENT4SOURCERTF" val="{\rtf1\ansi\deff0{\fonttbl{\f0\fcharset0 Arial Narrow;}}{\colortbl\red0\green0\blue0;}{\f0\fs48\b\cf0 How to View Names On a Client\par}}"/>
  <p:tag name="PPWINSEGMENT4TARGETRTF" val="{\rtf1\ansi\deff0{\fonttbl{\f0\fcharset0 Arial Narrow;}}{\colortbl\red0\green0\blue0;}{\f0\fs48\b\cf0 Comment afficher les noms sur un client\par}}"/>
  <p:tag name="PPWINLASTSAVEDTRANSLATION" val="Comment les noms sont mappés à des adresses IP&#10;Que sont les noms d'hôtes ?&#10;Que sont les noms NetBIOS ?&#10;Comment afficher les noms sur un client"/>
  <p:tag name="PPWINALREADYSEGMENTED" val="True"/>
  <p:tag name="PPWINTOTALSEGMENTS" val="4"/>
</p:tagLst>
</file>

<file path=ppt/tags/tag1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60\b\cf0 What Are Host Names?\par}}"/>
  <p:tag name="PPWINLASTSAVEDTRANSLATION" val="Que sont les noms d'hôtes ?"/>
  <p:tag name="PPWINALREADYSEGMENTED" val="True"/>
  <p:tag name="PPWINTOTALSEGMENTS" val="1"/>
  <p:tag name="PPWINSEGMENT1TARGETRTF" val="{\rtf1\ansi\deff0{\fonttbl{\f0\fcharset0 Arial Narrow;}}{\colortbl\red0\green0\blue0;}{\f0\fs60\b\cf0 Que sont les noms d'h\'F4tes ?\par}}"/>
</p:tagLst>
</file>

<file path=ppt/tags/tag2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60\b\cf0 What Are NetBIOS Names?\par}}"/>
  <p:tag name="PPWINLASTSAVEDTRANSLATION" val="Que sont les noms NetBIOS ?"/>
  <p:tag name="PPWINALREADYSEGMENTED" val="True"/>
  <p:tag name="PPWINTOTALSEGMENTS" val="1"/>
  <p:tag name="PPWINSEGMENT1TARGETRTF" val="{\rtf1\ansi\deff0{\fonttbl{\f0\fcharset0 Arial Narrow;}}{\colortbl\red0\green0\blue0;}{\f0\fs60\b\cf0 Que sont les noms NetBIOS ?\par}}"/>
</p:tagLst>
</file>

<file path=ppt/tags/tag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36\b\cf0 Server2\par}}"/>
  <p:tag name="PPWINLASTSAVEDTRANSLATION" val="Server2"/>
  <p:tag name="PPWINALREADYSEGMENTED" val="True"/>
  <p:tag name="PPWINTOTALSEGMENTS" val="1"/>
  <p:tag name="PPWINSEGMENT1TARGETRTF" val="{\rtf1\ansi\deff0{\fonttbl{\f0\fcharset0 Arial Narrow;}}{\colortbl\red0\green0\blue0;}{\f0\fs36\b\cf0 Server2\par}}"/>
</p:tagLst>
</file>

<file path=ppt/tags/tag23.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52\b\cf0 How Names Are Mapped to IP Addresses\par}}"/>
  <p:tag name="PPWINSEGMENT1TARGETRTF" val="{\rtf1\ansi\deff1{\fonttbl{\f1\fcharset0 Arial;}{\f2\fcharset0 Arial Narrow;}}{\colortbl\red0\green0\blue0;}{\f2\fs52\b\cf0 Comment les noms sont mapp\'E9s \'E0 des adresses IP\par}}"/>
  <p:tag name="PPWINLASTSAVEDTRANSLATION" val="Comment les noms sont mappés à des adresses IP"/>
  <p:tag name="PPWINALREADYSEGMENTED" val="True"/>
  <p:tag name="PPWINTOTALSEGMENTS" val="1"/>
</p:tagLst>
</file>

<file path=ppt/tags/tag25.xml><?xml version="1.0" encoding="utf-8"?>
<p:tagLst xmlns:a="http://schemas.openxmlformats.org/drawingml/2006/main" xmlns:r="http://schemas.openxmlformats.org/officeDocument/2006/relationships" xmlns:p="http://schemas.openxmlformats.org/presentationml/2006/main">
  <p:tag name="PPTAGGERGROUP" val="1"/>
</p:tagLst>
</file>

<file path=ppt/tags/tag26.xml><?xml version="1.0" encoding="utf-8"?>
<p:tagLst xmlns:a="http://schemas.openxmlformats.org/drawingml/2006/main" xmlns:r="http://schemas.openxmlformats.org/officeDocument/2006/relationships" xmlns:p="http://schemas.openxmlformats.org/presentationml/2006/main">
  <p:tag name="PPTAGGERGROUP" val="1"/>
</p:tagLst>
</file>

<file path=ppt/tags/tag27.xml><?xml version="1.0" encoding="utf-8"?>
<p:tagLst xmlns:a="http://schemas.openxmlformats.org/drawingml/2006/main" xmlns:r="http://schemas.openxmlformats.org/officeDocument/2006/relationships" xmlns:p="http://schemas.openxmlformats.org/presentationml/2006/main">
  <p:tag name="PPTAGGERGROUP" val="1"/>
</p:tagLst>
</file>

<file path=ppt/tags/tag28.xml><?xml version="1.0" encoding="utf-8"?>
<p:tagLst xmlns:a="http://schemas.openxmlformats.org/drawingml/2006/main" xmlns:r="http://schemas.openxmlformats.org/officeDocument/2006/relationships" xmlns:p="http://schemas.openxmlformats.org/presentationml/2006/main">
  <p:tag name="PPTAGGERGROUP" val="1"/>
</p:tagLst>
</file>

<file path=ppt/tags/tag29.xml><?xml version="1.0" encoding="utf-8"?>
<p:tagLst xmlns:a="http://schemas.openxmlformats.org/drawingml/2006/main" xmlns:r="http://schemas.openxmlformats.org/officeDocument/2006/relationships" xmlns:p="http://schemas.openxmlformats.org/presentationml/2006/main">
  <p:tag name="PPTAGGERGROUP" val="1"/>
</p:tagLst>
</file>

<file path=ppt/tags/tag30.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0"/>
  <p:tag name="PPWINSEGMENT1SOURCERTF" val="{\rtf1\ansi\deff0{\fonttbl{\f0\fcharset0 Arial Narrow;}}{\colortbl\red0\green0\blue0;}{\f0\fs36\b\shad\cf0 Name Resolution\par}}"/>
  <p:tag name="PPWINSEGMENT1TARGETRTF" val="{\rtf1\ansi\deff1{\fonttbl{\f1\fcharset0 Arial;}{\f2\fcharset0 Arial Narrow;}}{\colortbl\red0\green0\blue0;}{\f2\fs36\b\shad\cf0 Service de\par}}"/>
  <p:tag name="PPWINSEGMENT2START" val="12"/>
  <p:tag name="PPWINSEGMENT2LENGTH" val="18"/>
  <p:tag name="PPWINSEGMENT2SOURCERTF" val="{\rtf1\ansi\deff0{\fonttbl{\f0\fcharset0 Arial Narrow;}}{\colortbl\red0\green0\blue0;}{\f0\fs36\b\shad\cf0 Service\par}}"/>
  <p:tag name="PPWINSEGMENT2TARGETRTF" val="{\rtf1\ansi\deff1{\fonttbl{\f1\fcharset0 Arial;}{\f2\fcharset0 Arial Narrow;}}{\colortbl\red0\green0\blue0;}{\f2\fs36\b\shad\cf0 r\'E9solution de noms\par}}"/>
  <p:tag name="PPWINLASTSAVEDTRANSLATION" val="Service de&#10;résolution de noms"/>
  <p:tag name="PPWINALREADYSEGMENTED" val="True"/>
  <p:tag name="PPWINTOTALSEGMENTS" val="2"/>
</p:tagLst>
</file>

<file path=ppt/tags/tag31.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32.xml><?xml version="1.0" encoding="utf-8"?>
<p:tagLst xmlns:a="http://schemas.openxmlformats.org/drawingml/2006/main" xmlns:r="http://schemas.openxmlformats.org/officeDocument/2006/relationships" xmlns:p="http://schemas.openxmlformats.org/presentationml/2006/main">
  <p:tag name="PPTAGGERGROUP" val="1"/>
</p:tagLst>
</file>

<file path=ppt/tags/tag3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0"/>
  <p:tag name="PPWINSEGMENT1SOURCERTF" val="{\rtf1\ansi\deff0{\fonttbl{\f0\fcharset0 Arial Narrow;}}{\colortbl\red0\green0\blue0;}{\f0\fs36\b\cf0 Computer44\par}}"/>
  <p:tag name="PPWINSEGMENT1TARGETRTF" val="{\rtf1\ansi\deff1{\fonttbl{\f1\fcharset0 Arial;}{\f2\fcharset0 Arial Narrow;}}{\colortbl\red0\green0\blue0;}{\f2\fs36\b\cf0 Computer44\par}}"/>
  <p:tag name="PPWINLASTSAVEDTRANSLATION" val="Computer44"/>
  <p:tag name="PPWINALREADYSEGMENTED" val="True"/>
  <p:tag name="PPWINTOTALSEGMENTS" val="1"/>
</p:tagLst>
</file>

<file path=ppt/tags/tag34.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35"/>
  <p:tag name="PPWINSEGMENT1SOURCERTF" val="{\rtf1\ansi\deff0{\fonttbl{\f0\fcharset0 Arial Narrow;}}{\colortbl\red0\green0\blue0;}{\f0\fs36\b\cf0 Where is the Computer44 file?\par}}"/>
  <p:tag name="PPWINSEGMENT1TARGETRTF" val="{\rtf1\ansi\deff1{\fonttbl{\f1\fcharset0 Arial;}{\f2\fcharset0 Arial Narrow;}}{\colortbl\red0\green0\blue0;}{\f2\fs36\b\cf0 O\'F9 se trouve le fichier Computer44?\par}}"/>
  <p:tag name="PPWINLASTSAVEDTRANSLATION" val="Où se trouve le fichier Computer44?"/>
  <p:tag name="PPWINALREADYSEGMENTED" val="True"/>
  <p:tag name="PPWINTOTALSEGMENTS" val="1"/>
</p:tagLst>
</file>

<file path=ppt/tags/tag35.xml><?xml version="1.0" encoding="utf-8"?>
<p:tagLst xmlns:a="http://schemas.openxmlformats.org/drawingml/2006/main" xmlns:r="http://schemas.openxmlformats.org/officeDocument/2006/relationships" xmlns:p="http://schemas.openxmlformats.org/presentationml/2006/main">
  <p:tag name="PPTAGGERGROUP" val="1"/>
</p:tagLst>
</file>

<file path=ppt/tags/tag36.xml><?xml version="1.0" encoding="utf-8"?>
<p:tagLst xmlns:a="http://schemas.openxmlformats.org/drawingml/2006/main" xmlns:r="http://schemas.openxmlformats.org/officeDocument/2006/relationships" xmlns:p="http://schemas.openxmlformats.org/presentationml/2006/main">
  <p:tag name="PPTAGGERGROUP" val="1"/>
</p:tagLst>
</file>

<file path=ppt/tags/tag3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0"/>
  <p:tag name="PPWINSEGMENT1SOURCERTF" val="{\rtf1\ansi\deff0{\fonttbl{\f0\fcharset0 Arial Narrow;}}{\colortbl\red0\green0\blue0;}{\f0\fs36\b\cf0 Computer44\par}}"/>
  <p:tag name="PPWINSEGMENT1TARGETRTF" val="{\rtf1\ansi\deff1{\fonttbl{\f1\fcharset0 Arial;}{\f2\fcharset0 Arial Narrow;}}{\colortbl\red0\green0\blue0;}{\f2\fs36\b\cf0 Computer44\par}}"/>
  <p:tag name="PPWINLASTSAVEDTRANSLATION" val="Computer44"/>
  <p:tag name="PPWINALREADYSEGMENTED" val="True"/>
  <p:tag name="PPWINTOTALSEGMENTS" val="1"/>
</p:tagLst>
</file>

<file path=ppt/tags/tag38.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39.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40.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41.xml><?xml version="1.0" encoding="utf-8"?>
<p:tagLst xmlns:a="http://schemas.openxmlformats.org/drawingml/2006/main" xmlns:r="http://schemas.openxmlformats.org/officeDocument/2006/relationships" xmlns:p="http://schemas.openxmlformats.org/presentationml/2006/main">
  <p:tag name="PPWINTOTALSEGMENTS" val="0"/>
</p:tagLst>
</file>

<file path=ppt/tags/tag42.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60\b\cf0 How to View Names on a Client\par}}"/>
  <p:tag name="PPWINLASTSAVEDTRANSLATION" val="Comment afficher les noms sur un client"/>
  <p:tag name="PPWINALREADYSEGMENTED" val="True"/>
  <p:tag name="PPWINTOTALSEGMENTS" val="1"/>
  <p:tag name="PPWINSEGMENT1TARGETRTF" val="{\rtf1\ansi\deff0{\fonttbl{\f0\fcharset0 Arial Narrow;}}{\colortbl\red0\green0\blue0;}{\f0\fs60\b\cf0 Comment afficher les noms sur un client\par}}"/>
</p:tagLst>
</file>

<file path=ppt/tags/tag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79"/>
  <p:tag name="PPWINSEGMENT1SOURCERTF" val="{\rtf1\ansi\deff0{\fonttbl{\f0\fcharset0 Arial Narrow;}}{\colortbl\red0\green0\blue0;}{\f0\fs44\b\cf0 View host names and DNS suffixes by using the Ipconfig utility\par}}"/>
  <p:tag name="PPWINSEGMENT2START" val="81"/>
  <p:tag name="PPWINSEGMENT2LENGTH" val="57"/>
  <p:tag name="PPWINSEGMENT2SOURCERTF" val="{\rtf1\ansi\deff0{\fonttbl{\f0\fcharset0 Arial Narrow;}}{\colortbl\red0\green0\blue0;}{\f0\fs44\b\cf0 View host names by using System Properties\par}}"/>
  <p:tag name="PPWINSEGMENT3START" val="139"/>
  <p:tag name="PPWINSEGMENT3LENGTH" val="57"/>
  <p:tag name="PPWINSEGMENT3SOURCERTF" val="{\rtf1\ansi\deff0{\fonttbl{\f0\fcharset0 Arial Narrow;}}{\colortbl\red0\green0\blue0;}{\f0\fs44\b\cf0 View NetBIOS names by using the Nbtstat command\par}}"/>
  <p:tag name="PPWINSEGMENT4START" val="197"/>
  <p:tag name="PPWINSEGMENT4LENGTH" val="75"/>
  <p:tag name="PPWINSEGMENT4SOURCERTF" val="{\rtf1\ansi\deff0{\fonttbl{\f0\fcharset0 Arial Narrow;}}{\colortbl\red0\green0\blue0;}{\f0\fs44\b\cf0 View your computer\'92s NetBIOS name by using System Properties\par}}"/>
  <p:tag name="PPWINSEGMENT5START" val="273"/>
  <p:tag name="PPWINSEGMENT5LENGTH" val="22"/>
  <p:tag name="PPWINSEGMENT5SOURCERTF" val="{\rtf1\ansi\deff0{\fonttbl{\f0\fcharset0 Arial Narrow;}}{\colortbl\red0\green0\blue0;}{\f0\fs44\b\cf0 Rename a computer \par}}"/>
  <p:tag name="PPWINLASTSAVEDTRANSLATION" val="Afficher des noms d'hôtes et des suffixes DNS à l'aide de l'utilitaire Ipconfig&#10;Afficher des noms d'hôtes à l'aide des Propriétés Système&#10;Afficher des noms NetBIOS à l'aide de la commande Nbtstat&#10;Afficher le nom NetBIOS de votre ordinateur à l'aide des Propriétés Système&#10;Renommer un ordinateur"/>
  <p:tag name="PPWINALREADYSEGMENTED" val="True"/>
  <p:tag name="PPWINTOTALSEGMENTS" val="5"/>
  <p:tag name="PPWINSEGMENT1TARGETRTF" val="{\rtf1\ansi\deff0{\fonttbl{\f0\fcharset0 Arial Narrow;}}{\colortbl\red0\green0\blue0;}{\f0\fs44\b\cf0 Afficher des noms d'h\'F4tes et des suffixes DNS \'E0 l'aide de l'utilitaire Ipconfig\par}}"/>
  <p:tag name="PPWINSEGMENT2TARGETRTF" val="{\rtf1\ansi\deff0{\fonttbl{\f0\fcharset0 Arial Narrow;}}{\colortbl\red0\green0\blue0;}{\f0\fs44\b\cf0 Afficher des noms d'h\'F4tes \'E0 l'aide des Propri\'E9t\'E9s Syst\'E8me\par}}"/>
  <p:tag name="PPWINSEGMENT3TARGETRTF" val="{\rtf1\ansi\deff0{\fonttbl{\f0\fcharset0 Arial Narrow;}}{\colortbl\red0\green0\blue0;}{\f0\fs44\b\cf0 Afficher des noms NetBIOS \'E0 l'aide de la commande Nbtstat\par}}"/>
  <p:tag name="PPWINSEGMENT4TARGETRTF" val="{\rtf1\ansi\deff0{\fonttbl{\f0\fcharset0 Arial Narrow;}}{\colortbl\red0\green0\blue0;}{\f0\fs44\b\cf0 Afficher le nom NetBIOS de votre ordinateur \'E0 l'aide des Propri\'E9t\'E9s Syst\'E8me\par}}"/>
  <p:tag name="PPWINSEGMENT5TARGETRTF" val="{\rtf1\ansi\deff0{\fonttbl{\f0\fcharset0 Arial Narrow;}}{\colortbl\red0\green0\blue0;}{\f0\fs44\b\cf0 Renommer un ordinateur\par}}"/>
</p:tagLst>
</file>

<file path=ppt/tags/tag44.xml><?xml version="1.0" encoding="utf-8"?>
<p:tagLst xmlns:a="http://schemas.openxmlformats.org/drawingml/2006/main" xmlns:r="http://schemas.openxmlformats.org/officeDocument/2006/relationships" xmlns:p="http://schemas.openxmlformats.org/presentationml/2006/main">
  <p:tag name="PPWINTOTALSEGMENTS" val="0"/>
</p:tagLst>
</file>

<file path=ppt/tags/tag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46"/>
  <p:tag name="PPWINSEGMENT2SOURCERTF" val="{\rtf1\ansi\deff0{\fonttbl{\f0\fcharset0 Arial Narrow;}}{\colortbl\red0\green0\blue0;}{\f0\fs52\b\cf0 Configuring Host Name Resolution\par}}"/>
  <p:tag name="PPWINSEGMENT2TARGETRTF" val="{\rtf1\ansi\deff0{\fonttbl{\f0\fcharset0 Arial Narrow;}}{\colortbl\red0\green0\blue0;}{\f0\fs52\b\cf0 Configuration de la r\'E9solution de noms d'h\'F4tes\par}}"/>
  <p:tag name="PPWINLASTSAVEDTRANSLATION" val="Leçon : Configuration de la résolution de noms d'hôtes"/>
  <p:tag name="PPWINALREADYSEGMENTED" val="True"/>
  <p:tag name="PPWINTOTALSEGMENTS" val="2"/>
</p:tagLst>
</file>

<file path=ppt/tags/tag46.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48\b\cf0 The Host Name Resolution Process\par}}"/>
  <p:tag name="PPWINSEGMENT2START" val="41"/>
  <p:tag name="PPWINSEGMENT2LENGTH" val="26"/>
  <p:tag name="PPWINSEGMENT2SOURCERTF" val="{\rtf1\ansi\deff0{\fonttbl{\f0\fcharset0 Arial Narrow;}}{\colortbl\red0\green0\blue0;}{\f0\fs48\b\cf0 Client Resolver Cache\par}}"/>
  <p:tag name="PPWINSEGMENT3START" val="68"/>
  <p:tag name="PPWINSEGMENT3LENGTH" val="55"/>
  <p:tag name="PPWINSEGMENT3SOURCERTF" val="{\rtf1\ansi\deff0{\fonttbl{\f0\fcharset0 Arial Narrow;}}{\colortbl\red0\green0\blue0;}{\f0\fs48\b\cf0 How to View and Flush the Client Resolver Cache\par}}"/>
  <p:tag name="PPWINSEGMENT4START" val="124"/>
  <p:tag name="PPWINSEGMENT4LENGTH" val="13"/>
  <p:tag name="PPWINSEGMENT4SOURCERTF" val="{\rtf1\ansi\deff0{\fonttbl{\f0\fcharset0 Arial Narrow;}}{\colortbl\red0\green0\blue0;}{\f0\fs48\b\cf0 Hosts File\par}}"/>
  <p:tag name="PPWINSEGMENT5START" val="138"/>
  <p:tag name="PPWINSEGMENT5LENGTH" val="78"/>
  <p:tag name="PPWINSEGMENT5SOURCERTF" val="{\rtf1\ansi\deff0{\fonttbl{\f0\fcharset0 Arial Narrow;}}{\colortbl\red0\green0\blue0;}{\f0\fs48\b\cf0 How to Preload the Client Resolver Cache by Using a Hosts File\par}}"/>
  <p:tag name="PPWINLASTSAVEDTRANSLATION" val="Processus de résolution de noms d'hôtes&#10;Cache de résolution client&#10;Comment afficher et vider le cache de résolution client&#10;Fichier Hosts&#10;Comment précharger un cache de résolution client en utilisant un fichier Hosts"/>
  <p:tag name="PPWINALREADYSEGMENTED" val="True"/>
  <p:tag name="PPWINTOTALSEGMENTS" val="5"/>
  <p:tag name="PPWINSEGMENT1TARGETRTF" val="{\rtf1\ansi\deff0{\fonttbl{\f0\fcharset0 Arial Narrow;}}{\colortbl\red0\green0\blue0;}{\f0\fs48\b\cf0 Processus de r\'E9solution de noms d'h\'F4tes\par}}"/>
  <p:tag name="PPWINSEGMENT2TARGETRTF" val="{\rtf1\ansi\deff0{\fonttbl{\f0\fcharset0 Arial Narrow;}}{\colortbl\red0\green0\blue0;}{\f0\fs48\b\cf0 Cache de r\'E9solution client\par}}"/>
  <p:tag name="PPWINSEGMENT3TARGETRTF" val="{\rtf1\ansi\deff0{\fonttbl{\f0\fcharset0 Arial Narrow;}}{\colortbl\red0\green0\blue0;}{\f0\fs48\b\cf0 Comment afficher et vider le cache de r\'E9solution client\par}}"/>
  <p:tag name="PPWINSEGMENT4TARGETRTF" val="{\rtf1\ansi\deff0{\fonttbl{\f0\fcharset0 Arial Narrow;}}{\colortbl\red0\green0\blue0;}{\f0\fs48\b\cf0 Fichier Hosts\par}}"/>
  <p:tag name="PPWINSEGMENT5TARGETRTF" val="{\rtf1\ansi\deff0{\fonttbl{\f0\fcharset0 Arial Narrow;}}{\colortbl\red0\green0\blue0;}{\f0\fs48\b\cf0 Comment pr\'E9charger un cache de r\'E9solution client en utilisant un fichier Hosts\par}}"/>
</p:tagLst>
</file>

<file path=ppt/tags/tag47.xml><?xml version="1.0" encoding="utf-8"?>
<p:tagLst xmlns:a="http://schemas.openxmlformats.org/drawingml/2006/main" xmlns:r="http://schemas.openxmlformats.org/officeDocument/2006/relationships" xmlns:p="http://schemas.openxmlformats.org/presentationml/2006/main">
  <p:tag name="PPWINTOTALSEGMENTS" val="0"/>
</p:tagLst>
</file>

<file path=ppt/tags/tag48.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60\b\cf0 The Host Name Resolution Process\par}}"/>
  <p:tag name="PPWINLASTSAVEDTRANSLATION" val="Processus de résolution de noms d'hôtes"/>
  <p:tag name="PPWINALREADYSEGMENTED" val="True"/>
  <p:tag name="PPWINTOTALSEGMENTS" val="1"/>
  <p:tag name="PPWINSEGMENT1TARGETRTF" val="{\rtf1\ansi\deff0{\fonttbl{\f0\fcharset0 Arial Narrow;}}{\colortbl\red0\green0\blue0;}{\f0\fs60\b\cf0 Processus de r\'E9solution de noms d'h\'F4tes\par}}"/>
</p:tagLst>
</file>

<file path=ppt/tags/tag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99"/>
  <p:tag name="PPWINSEGMENT1SOURCERTF" val="{\rtf1\ansi\deff0{\fonttbl{\f0\fcharset0 Arial Narrow;}}{\colortbl\red0\green0\blue0;}{\f0\fs40\b\i\cf0 Host name resolution}{\f0\fs40\b\cf0  is the process of resolving a host name to an IP address\par}}"/>
  <p:tag name="PPWINLASTSAVEDTRANSLATION" val="La résolution de noms d'hôtes est le processus qui consiste à résoudre un nom d'hôte en adresse IP."/>
  <p:tag name="PPWINALREADYSEGMENTED" val="True"/>
  <p:tag name="PPWINTOTALSEGMENTS" val="1"/>
  <p:tag name="PPWINSEGMENT1TARGETRTF" val="{\rtf1\ansi\deff0{\fonttbl{\f0\fcharset0 Arial Narrow;}}{\colortbl\red0\green0\blue0;}{\f0\fs40\b\cf0 La }{\f0\fs40\b\i\cf0 r\'E9solution de noms d'h\'F4tes}{\f0\fs40\b\cf0  est le processus qui consiste \'E0 r\'E9soudre un nom d'h\'F4te en adresse IP.\par}}"/>
</p:tagLst>
</file>

<file path=ppt/tags/tag5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What is the \par}}"/>
  <p:tag name="PPWINSEGMENT1TARGETRTF" val="{\rtf1\ansi\deff0{\fonttbl{\f0\fcharset0 Arial Narrow;}}{\colortbl\red0\green0\blue0;}{\f0\fs36\b\cf0 Quelle est\par}}"/>
  <p:tag name="PPWINSEGMENT2START" val="12"/>
  <p:tag name="PPWINSEGMENT2LENGTH" val="32"/>
  <p:tag name="PPWINSEGMENT2SOURCERTF" val="{\rtf1\ansi\deff0{\fonttbl{\f0\fcharset0 Arial Narrow;}}{\colortbl\red0\green0\blue0;}{\f0\fs36\b\cf0 IP address for Salescomputer2?\par}}"/>
  <p:tag name="PPWINSEGMENT2TARGETRTF" val="{\rtf1\ansi\deff1{\fonttbl{\f1\fcharset0 Arial;}{\f2\fcharset0 Arial Narrow;}}{\colortbl\red0\green0\blue0;}{\f2\fs36\b\cf0 l'adresse IP de Salescomputer2 ?\par}}"/>
  <p:tag name="PPWINLASTSAVEDTRANSLATION" val="Quelle est&#10;l'adresse IP de Salescomputer2 ?"/>
  <p:tag name="PPWINALREADYSEGMENTED" val="True"/>
  <p:tag name="PPWINTOTALSEGMENTS" val="2"/>
</p:tagLst>
</file>

<file path=ppt/tags/tag5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cf0 Salescomputer2\par}}"/>
  <p:tag name="PPWINLASTSAVEDTRANSLATION" val="Salescomputer2"/>
  <p:tag name="PPWINALREADYSEGMENTED" val="True"/>
  <p:tag name="PPWINTOTALSEGMENTS" val="1"/>
  <p:tag name="PPWINSEGMENT1TARGETRTF" val="{\rtf1\ansi\deff0{\fonttbl{\f0\fcharset0 Arial Narrow;}}{\colortbl\red0\green0\blue0;}{\f0\fs36\b\cf0 Salescomputer2\par}}"/>
</p:tagLst>
</file>

<file path=ppt/tags/tag52.xml><?xml version="1.0" encoding="utf-8"?>
<p:tagLst xmlns:a="http://schemas.openxmlformats.org/drawingml/2006/main" xmlns:r="http://schemas.openxmlformats.org/officeDocument/2006/relationships" xmlns:p="http://schemas.openxmlformats.org/presentationml/2006/main">
  <p:tag name="PPWINTOTALSEGMENTS" val="0"/>
</p:tagLst>
</file>

<file path=ppt/tags/tag53.xml><?xml version="1.0" encoding="utf-8"?>
<p:tagLst xmlns:a="http://schemas.openxmlformats.org/drawingml/2006/main" xmlns:r="http://schemas.openxmlformats.org/officeDocument/2006/relationships" xmlns:p="http://schemas.openxmlformats.org/presentationml/2006/main">
  <p:tag name="PPWINTOTALSEGMENTS" val="0"/>
</p:tagLst>
</file>

<file path=ppt/tags/tag54.xml><?xml version="1.0" encoding="utf-8"?>
<p:tagLst xmlns:a="http://schemas.openxmlformats.org/drawingml/2006/main" xmlns:r="http://schemas.openxmlformats.org/officeDocument/2006/relationships" xmlns:p="http://schemas.openxmlformats.org/presentationml/2006/main">
  <p:tag name="PPWINTOTALSEGMENTS" val="0"/>
</p:tagLst>
</file>

<file path=ppt/tags/tag55.xml><?xml version="1.0" encoding="utf-8"?>
<p:tagLst xmlns:a="http://schemas.openxmlformats.org/drawingml/2006/main" xmlns:r="http://schemas.openxmlformats.org/officeDocument/2006/relationships" xmlns:p="http://schemas.openxmlformats.org/presentationml/2006/main">
  <p:tag name="PPWINTOTALSEGMENTS" val="0"/>
</p:tagLst>
</file>

<file path=ppt/tags/tag5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cf0 Salescomputer2\par}}"/>
  <p:tag name="PPWINLASTSAVEDTRANSLATION" val="Salescomputer2"/>
  <p:tag name="PPWINALREADYSEGMENTED" val="True"/>
  <p:tag name="PPWINTOTALSEGMENTS" val="1"/>
  <p:tag name="PPWINSEGMENT1TARGETRTF" val="{\rtf1\ansi\deff0{\fonttbl{\f0\fcharset0 Arial Narrow;}}{\colortbl\red0\green0\blue0;}{\f0\fs36\b\cf0 Salescomputer2\par}}"/>
</p:tagLst>
</file>

<file path=ppt/tags/tag57.xml><?xml version="1.0" encoding="utf-8"?>
<p:tagLst xmlns:a="http://schemas.openxmlformats.org/drawingml/2006/main" xmlns:r="http://schemas.openxmlformats.org/officeDocument/2006/relationships" xmlns:p="http://schemas.openxmlformats.org/presentationml/2006/main">
  <p:tag name="PPWINSEGMENT1START" val="1"/>
  <p:tag name="PPWINSEGMENT1LENGTH" val="40"/>
  <p:tag name="PPWINSEGMENT1SOURCERTF" val="{\rtf1\ansi\deff0{\fonttbl{\f0\fcharset0 Arial Narrow;}}{\colortbl\red0\green0\blue0;}{\f0\fs32\b\cf0 Client Resolver Cache/Hosts File\par}}"/>
  <p:tag name="PPWINLASTSAVEDTRANSLATION" val="Cache de résolution client/fichier Hosts"/>
  <p:tag name="PPWINALREADYSEGMENTED" val="True"/>
  <p:tag name="PPWINTOTALSEGMENTS" val="1"/>
  <p:tag name="PPWINSEGMENT1TARGETRTF" val="{\rtf1\ansi\deff0{\fonttbl{\f0\fcharset0 Arial Narrow;}}{\colortbl\red0\green0\blue0;}{\f0\fs32\b\cf0 Cache de r\'E9solution client/fichier Hosts\par}}"/>
</p:tagLst>
</file>

<file path=ppt/tags/tag58.xml><?xml version="1.0" encoding="utf-8"?>
<p:tagLst xmlns:a="http://schemas.openxmlformats.org/drawingml/2006/main" xmlns:r="http://schemas.openxmlformats.org/officeDocument/2006/relationships" xmlns:p="http://schemas.openxmlformats.org/presentationml/2006/main">
  <p:tag name="PPWINSEGMENT1START" val="1"/>
  <p:tag name="PPWINSEGMENT1LENGTH" val="3"/>
  <p:tag name="PPWINSEGMENT1SOURCERTF" val="{\rtf1\ansi\deff0{\fonttbl{\f0\fcharset0 Arial Narrow;}}{\colortbl\red0\green0\blue0;}{\f0\fs32\b\cf0 DNS\par}}"/>
  <p:tag name="PPWINLASTSAVEDTRANSLATION" val="DNS"/>
  <p:tag name="PPWINALREADYSEGMENTED" val="True"/>
  <p:tag name="PPWINTOTALSEGMENTS" val="1"/>
  <p:tag name="PPWINSEGMENT1TARGETRTF" val="{\rtf1\ansi\deff0{\fonttbl{\f0\fcharset0 Arial Narrow;}}{\colortbl\red0\green0\blue0;}{\f0\fs32\b\cf0 DNS\par}}"/>
</p:tagLst>
</file>

<file path=ppt/tags/tag5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2\cf0 NetBIOS \par}}"/>
  <p:tag name="PPWINSEGMENT2START" val="13"/>
  <p:tag name="PPWINSEGMENT2LENGTH" val="7"/>
  <p:tag name="PPWINSEGMENT2SOURCERTF" val="{\rtf1\ansi\deff0{\fonttbl{\f0\fcharset0 Arial Narrow;}}{\colortbl\red0\green0\blue0;}{\f0\fs32\cf0 Name Cache\par}}"/>
  <p:tag name="PPWINLASTSAVEDTRANSLATION" val="Redirecteur&#10;NetBIOS"/>
  <p:tag name="PPWINALREADYSEGMENTED" val="True"/>
  <p:tag name="PPWINTOTALSEGMENTS" val="2"/>
  <p:tag name="PPWINSEGMENT1TARGETRTF" val="{\rtf1\ansi\deff0{\fonttbl{\f0\fcharset0 Arial Narrow;}}{\colortbl\red0\green0\blue0;}{\f0\fs32\cf0 Redirecteur\par}}"/>
  <p:tag name="PPWINSEGMENT2TARGETRTF" val="{\rtf1\ansi\deff0{\fonttbl{\f0\fcharset0 Arial Narrow;}}{\colortbl\red0\green0\blue0;}{\f0\fs32\cf0 NetBIOS\par}}"/>
</p:tagLst>
</file>

<file path=ppt/tags/tag60.xml><?xml version="1.0" encoding="utf-8"?>
<p:tagLst xmlns:a="http://schemas.openxmlformats.org/drawingml/2006/main" xmlns:r="http://schemas.openxmlformats.org/officeDocument/2006/relationships" xmlns:p="http://schemas.openxmlformats.org/presentationml/2006/main">
  <p:tag name="PPWINSEGMENT1START" val="1"/>
  <p:tag name="PPWINSEGMENT1LENGTH" val="4"/>
  <p:tag name="PPWINSEGMENT1SOURCERTF" val="{\rtf1\ansi\deff0{\fonttbl{\f0\fcharset0 Arial Narrow;}}{\colortbl\red0\green0\blue0;}{\f0\fs32\cf0 WINS\par}}"/>
  <p:tag name="PPWINLASTSAVEDTRANSLATION" val="WINS"/>
  <p:tag name="PPWINALREADYSEGMENTED" val="True"/>
  <p:tag name="PPWINTOTALSEGMENTS" val="1"/>
  <p:tag name="PPWINSEGMENT1TARGETRTF" val="{\rtf1\ansi\deff0{\fonttbl{\f0\fcharset0 Arial Narrow;}}{\colortbl\red0\green0\blue0;}{\f0\fs32\cf0 WINS\par}}"/>
</p:tagLst>
</file>

<file path=ppt/tags/tag61.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2\cf0 Broadcast\par}}"/>
  <p:tag name="PPWINLASTSAVEDTRANSLATION" val="Diffusion"/>
  <p:tag name="PPWINALREADYSEGMENTED" val="True"/>
  <p:tag name="PPWINTOTALSEGMENTS" val="1"/>
  <p:tag name="PPWINSEGMENT1TARGETRTF" val="{\rtf1\ansi\deff0{\fonttbl{\f0\fcharset0 Arial Narrow;}}{\colortbl\red0\green0\blue0;}{\f0\fs32\cf0 Diffusion\par}}"/>
</p:tagLst>
</file>

<file path=ppt/tags/tag6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2\cf0 Lmhost File\par}}"/>
  <p:tag name="PPWINLASTSAVEDTRANSLATION" val="Fichier Lmhosts"/>
  <p:tag name="PPWINALREADYSEGMENTED" val="True"/>
  <p:tag name="PPWINTOTALSEGMENTS" val="1"/>
  <p:tag name="PPWINSEGMENT1TARGETRTF" val="{\rtf1\ansi\deff0{\fonttbl{\f0\fcharset0 Arial Narrow;}}{\colortbl\red0\green0\blue0;}{\f0\fs32\cf0 Fichier Lmhosts\par}}"/>
</p:tagLst>
</file>

<file path=ppt/tags/tag63.xml><?xml version="1.0" encoding="utf-8"?>
<p:tagLst xmlns:a="http://schemas.openxmlformats.org/drawingml/2006/main" xmlns:r="http://schemas.openxmlformats.org/officeDocument/2006/relationships" xmlns:p="http://schemas.openxmlformats.org/presentationml/2006/main">
  <p:tag name="PPWINTOTALSEGMENTS" val="0"/>
</p:tagLst>
</file>

<file path=ppt/tags/tag64.xml><?xml version="1.0" encoding="utf-8"?>
<p:tagLst xmlns:a="http://schemas.openxmlformats.org/drawingml/2006/main" xmlns:r="http://schemas.openxmlformats.org/officeDocument/2006/relationships" xmlns:p="http://schemas.openxmlformats.org/presentationml/2006/main">
  <p:tag name="PPWINSEGMENT1START" val="1"/>
  <p:tag name="PPWINSEGMENT1LENGTH" val="26"/>
  <p:tag name="PPWINSEGMENT1SOURCERTF" val="{\rtf1\ansi\deff0{\fonttbl{\f0\fcharset0 Arial Narrow;}}{\colortbl\red0\green0\blue0;}{\f0\fs60\b\cf0 Client Resolver Cache \par}}"/>
  <p:tag name="PPWINLASTSAVEDTRANSLATION" val="Cache de résolution client"/>
  <p:tag name="PPWINALREADYSEGMENTED" val="True"/>
  <p:tag name="PPWINTOTALSEGMENTS" val="1"/>
  <p:tag name="PPWINSEGMENT1TARGETRTF" val="{\rtf1\ansi\deff0{\fonttbl{\f0\fcharset0 Arial Narrow;}}{\colortbl\red0\green0\blue0;}{\f0\fs60\b\cf0 Cache de r\'E9solution client\par}}"/>
</p:tagLst>
</file>

<file path=ppt/tags/tag6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30"/>
  <p:tag name="PPWINSEGMENT1SOURCERTF" val="{\rtf1\ansi\deff0{\fonttbl{\f0\fcharset0 Arial Narrow;}}{\colortbl\red0\green0\blue0;}{\f0\fs40\b\cf0 The }{\f0\fs40\b\i\cf0 client resolver cache}{\f0\fs40\b\cf0  is a location in memory that stores host names that have recently been resolved to IP addresses.\par}}"/>
  <p:tag name="PPWINSEGMENT1TARGETRTF" val="{\rtf1\ansi\deff0{\fonttbl{\f0\fcharset0 Arial Narrow;}}{\colortbl\red0\green0\blue0;}{\f0\fs40\b\cf0 Le }{\f0\fs40\b\i\cf0 cache de r\'E9solution client}{\f0\fs40\b\cf0  est un emplacement m\'E9moire qui stocke les noms d'h\'F4tes qui ont r\'E9cemment \'E9t\'E9 r\'E9solus en adresses IP.\par}}"/>
  <p:tag name="PPWINSEGMENT2START" val="132"/>
  <p:tag name="PPWINSEGMENT2LENGTH" val="103"/>
  <p:tag name="PPWINSEGMENT2SOURCERTF" val="{\rtf1\ansi\deff0{\fonttbl{\f0\fcharset0 Arial Narrow;}}{\colortbl\red0\green0\blue0;}{\f0\fs40\b\cf0 It also stores host name-to-IP address mappings loaded from the Hosts file\par}}"/>
  <p:tag name="PPWINSEGMENT2TARGETRTF" val="{\rtf1\ansi\deff1{\fonttbl{\f1\fcharset0 Arial;}{\f2\fcharset0 Arial Narrow;}}{\colortbl\red0\green0\blue0;}{\f2\fs40\b\cf0 Il stocke \'E9galement les mappages de nom d'h\'F4te \'E0 adresse IP qui sont charg\'E9s \'E0 partir du fichier Hosts.\par}}"/>
  <p:tag name="PPWINLASTSAVEDTRANSLATION" val="Le cache de résolution client est un emplacement mémoire qui stocke les noms d'hôtes qui ont récemment été résolus en adresses IP. Il stocke également les mappages de nom d'hôte à adresse IP qui sont chargés à partir du fichier Hosts."/>
  <p:tag name="PPWINALREADYSEGMENTED" val="True"/>
  <p:tag name="PPWINTOTALSEGMENTS" val="2"/>
</p:tagLst>
</file>

<file path=ppt/tags/tag66.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Computer1\par}}"/>
  <p:tag name="PPWINLASTSAVEDTRANSLATION" val="Computer1"/>
  <p:tag name="PPWINALREADYSEGMENTED" val="True"/>
  <p:tag name="PPWINTOTALSEGMENTS" val="1"/>
  <p:tag name="PPWINSEGMENT1TARGETRTF" val="{\rtf1\ansi\deff0{\fonttbl{\f0\fcharset0 Arial Narrow;}}{\colortbl\red0\green0\blue0;}{\f0\fs36\b\cf0 Computer1\par}}"/>
</p:tagLst>
</file>

<file path=ppt/tags/tag6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3"/>
  <p:tag name="PPWINSEGMENT1SOURCERTF" val="{\rtf1\ansi\deff0{\fonttbl{\f0\fcharset0 Arial Narrow;}}{\colortbl\red0\green0\blue0;}{\f0\fs36\b\cf0 Hosts File\par}}"/>
  <p:tag name="PPWINLASTSAVEDTRANSLATION" val="Fichier Hosts"/>
  <p:tag name="PPWINALREADYSEGMENTED" val="True"/>
  <p:tag name="PPWINTOTALSEGMENTS" val="1"/>
  <p:tag name="PPWINSEGMENT1TARGETRTF" val="{\rtf1\ansi\deff0{\fonttbl{\f0\fcharset0 Arial Narrow;}}{\colortbl\red0\green0\blue0;}{\f0\fs36\b\cf0 Fichier Hosts\par}}"/>
</p:tagLst>
</file>

<file path=ppt/tags/tag6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36\b\cf0 Resolved host names \par}}"/>
  <p:tag name="PPWINSEGMENT2START" val="23"/>
  <p:tag name="PPWINSEGMENT2LENGTH" val="23"/>
  <p:tag name="PPWINSEGMENT2SOURCERTF" val="{\rtf1\ansi\deff0{\fonttbl{\f0\fcharset0 Arial Narrow;}}{\colortbl\red0\green0\blue0;}{\f0\fs36\b\cf0 from the DNS server\par}}"/>
  <p:tag name="PPWINLASTSAVEDTRANSLATION" val="Noms d'hôtes résolus &#10;à partir du serveur DNS"/>
  <p:tag name="PPWINALREADYSEGMENTED" val="True"/>
  <p:tag name="PPWINTOTALSEGMENTS" val="2"/>
  <p:tag name="PPWINSEGMENT1TARGETRTF" val="{\rtf1\ansi\deff0{\fonttbl{\f0\fcharset0 Arial Narrow;}}{\colortbl\red0\green0\blue0;}{\f0\fs36\b\cf0 Noms d'h\'F4tes r\'E9solus \par}}"/>
  <p:tag name="PPWINSEGMENT2TARGETRTF" val="{\rtf1\ansi\deff0{\fonttbl{\f0\fcharset0 Arial Narrow;}}{\colortbl\red0\green0\blue0;}{\f0\fs36\b\cf0 \'E0 partir du serveur DNS\par}}"/>
</p:tagLst>
</file>

<file path=ppt/tags/tag69.xml><?xml version="1.0" encoding="utf-8"?>
<p:tagLst xmlns:a="http://schemas.openxmlformats.org/drawingml/2006/main" xmlns:r="http://schemas.openxmlformats.org/officeDocument/2006/relationships" xmlns:p="http://schemas.openxmlformats.org/presentationml/2006/main">
  <p:tag name="PPWINTOTALSEGMENTS" val="0"/>
</p:tagLst>
</file>

<file path=ppt/tags/tag70.xml><?xml version="1.0" encoding="utf-8"?>
<p:tagLst xmlns:a="http://schemas.openxmlformats.org/drawingml/2006/main" xmlns:r="http://schemas.openxmlformats.org/officeDocument/2006/relationships" xmlns:p="http://schemas.openxmlformats.org/presentationml/2006/main">
  <p:tag name="PPWINSEGMENT1START" val="1"/>
  <p:tag name="PPWINSEGMENT1LENGTH" val="55"/>
  <p:tag name="PPWINSEGMENT1SOURCERTF" val="{\rtf1\ansi\deff0{\fonttbl{\f0\fcharset0 Arial Narrow;}}{\colortbl\red0\green0\blue0;}{\f0\fs52\b\cf0 How to View and Flush the Client Resolver Cache\par}}"/>
  <p:tag name="PPWINLASTSAVEDTRANSLATION" val="Comment afficher et vider le cache de résolution client"/>
  <p:tag name="PPWINALREADYSEGMENTED" val="True"/>
  <p:tag name="PPWINTOTALSEGMENTS" val="1"/>
  <p:tag name="PPWINSEGMENT1TARGETRTF" val="{\rtf1\ansi\deff0{\fonttbl{\f0\fcharset0 Arial Narrow;}}{\colortbl\red0\green0\blue0;}{\f0\fs52\b\cf0 Comment afficher et vider le cache de r\'E9solution client\par}}"/>
</p:tagLst>
</file>

<file path=ppt/tags/tag71.xml><?xml version="1.0" encoding="utf-8"?>
<p:tagLst xmlns:a="http://schemas.openxmlformats.org/drawingml/2006/main" xmlns:r="http://schemas.openxmlformats.org/officeDocument/2006/relationships" xmlns:p="http://schemas.openxmlformats.org/presentationml/2006/main">
  <p:tag name="PPWINSEGMENT1START" val="1"/>
  <p:tag name="PPWINSEGMENT1LENGTH" val="71"/>
  <p:tag name="PPWINSEGMENT1SOURCERTF" val="{\rtf1\ansi\deff0{\fonttbl{\f0\fcharset0 Arial Narrow;}}{\colortbl\red0\green0\blue0;}{\f0\fs44\b\cf0 Display a client resolver cache by using the Ipconfig command\par}}"/>
  <p:tag name="PPWINSEGMENT2START" val="73"/>
  <p:tag name="PPWINSEGMENT2LENGTH" val="68"/>
  <p:tag name="PPWINSEGMENT2SOURCERTF" val="{\rtf1\ansi\deff0{\fonttbl{\f0\fcharset0 Arial Narrow;}}{\colortbl\red0\green0\blue0;}{\f0\fs44\b\cf0 Flush a client resolver cache by using the Ipconfig command\par}}"/>
  <p:tag name="PPWINLASTSAVEDTRANSLATION" val="Afficher un cache de résolution client au moyen de la commande Ipconfig&#10;Vider un cache de résolution client au moyen de la commande Ipconfig"/>
  <p:tag name="PPWINALREADYSEGMENTED" val="True"/>
  <p:tag name="PPWINTOTALSEGMENTS" val="2"/>
  <p:tag name="PPWINSEGMENT1TARGETRTF" val="{\rtf1\ansi\deff0{\fonttbl{\f0\fcharset0 Arial Narrow;}}{\colortbl\red0\green0\blue0;}{\f0\fs44\b\cf0 Afficher un cache de r\'E9solution client au moyen de la commande Ipconfig\par}}"/>
  <p:tag name="PPWINSEGMENT2TARGETRTF" val="{\rtf1\ansi\deff0{\fonttbl{\f0\fcharset0 Arial Narrow;}}{\colortbl\red0\green0\blue0;}{\f0\fs44\b\cf0 Vider un cache de r\'E9solution client au moyen de la commande Ipconfig\par}}"/>
</p:tagLst>
</file>

<file path=ppt/tags/tag72.xml><?xml version="1.0" encoding="utf-8"?>
<p:tagLst xmlns:a="http://schemas.openxmlformats.org/drawingml/2006/main" xmlns:r="http://schemas.openxmlformats.org/officeDocument/2006/relationships" xmlns:p="http://schemas.openxmlformats.org/presentationml/2006/main">
  <p:tag name="PPWINTOTALSEGMENTS" val="0"/>
</p:tagLst>
</file>

<file path=ppt/tags/tag7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3"/>
  <p:tag name="PPWINSEGMENT1SOURCERTF" val="{\rtf1\ansi\deff0{\fonttbl{\f0\fcharset0 Arial Narrow;}}{\colortbl\red0\green0\blue0;}{\f0\fs60\b\cf0 Hosts File\par}}"/>
  <p:tag name="PPWINLASTSAVEDTRANSLATION" val="Fichier Hosts"/>
  <p:tag name="PPWINALREADYSEGMENTED" val="True"/>
  <p:tag name="PPWINTOTALSEGMENTS" val="1"/>
  <p:tag name="PPWINSEGMENT1TARGETRTF" val="{\rtf1\ansi\deff0{\fonttbl{\f0\fcharset0 Arial Narrow;}}{\colortbl\red0\green0\blue0;}{\f0\fs60\b\cf0 Fichier Hosts\par}}"/>
</p:tagLst>
</file>

<file path=ppt/tags/tag74.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Computer1\par}}"/>
  <p:tag name="PPWINLASTSAVEDTRANSLATION" val="Computer1"/>
  <p:tag name="PPWINALREADYSEGMENTED" val="True"/>
  <p:tag name="PPWINTOTALSEGMENTS" val="1"/>
  <p:tag name="PPWINSEGMENT1TARGETRTF" val="{\rtf1\ansi\deff0{\fonttbl{\f0\fcharset0 Arial Narrow;}}{\colortbl\red0\green0\blue0;}{\f0\fs36\b\cf0 Computer1\par}}"/>
</p:tagLst>
</file>

<file path=ppt/tags/tag7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3"/>
  <p:tag name="PPWINSEGMENT1SOURCERTF" val="{\rtf1\ansi\deff0{\fonttbl{\f0\fcharset0 Arial Narrow;}}{\colortbl\red0\green0\blue0;}{\f0\fs36\b\cf0 Hosts File\par}}"/>
  <p:tag name="PPWINLASTSAVEDTRANSLATION" val="Fichier Hosts"/>
  <p:tag name="PPWINALREADYSEGMENTED" val="True"/>
  <p:tag name="PPWINTOTALSEGMENTS" val="1"/>
  <p:tag name="PPWINSEGMENT1TARGETRTF" val="{\rtf1\ansi\deff0{\fonttbl{\f0\fcharset0 Arial Narrow;}}{\colortbl\red0\green0\blue0;}{\f0\fs36\b\cf0 Fichier Hosts\par}}"/>
</p:tagLst>
</file>

<file path=ppt/tags/tag76.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30\cf0 # Copyright (c) 1993-1999 Microsoft Corp.\par}}"/>
  <p:tag name="PPWINSEGMENT1TARGETRTF" val="{\rtf1\ansi\deff0{\fonttbl{\f0\fcharset0 Arial Narrow;}}{\colortbl\red0\green0\blue0;}{\f0\fs30\cf0 # Copyright (c) 1993-1999 Microsoft Corp.\par}}"/>
  <p:tag name="PPWINSEGMENT2START" val="45"/>
  <p:tag name="PPWINSEGMENT2LENGTH" val="81"/>
  <p:tag name="PPWINSEGMENT2SOURCERTF" val="{\rtf1\ansi\deff0{\fonttbl{\f0\fcharset0 Arial Narrow;}}{\colortbl\red0\green0\blue0;}{\f0\fs30\cf0 # This is a sample HOSTS file used by Microsoft TCP/IP for Windows.\par}}"/>
  <p:tag name="PPWINSEGMENT2TARGETRTF" val="{\rtf1\ansi\deff1{\fonttbl{\f1\fcharset0 Arial;}{\f2\fcharset0 Arial Narrow;}}{\colortbl\red0\green0\blue0;}{\f2\fs30\cf0 # Ceci est un exemple de fichier HOSTS utilis\'E9 par Microsoft TCP/IP pour Windows.\par}}"/>
  <p:tag name="PPWINSEGMENT3START" val="129"/>
  <p:tag name="PPWINSEGMENT3LENGTH" val="57"/>
  <p:tag name="PPWINSEGMENT3SOURCERTF" val="{\rtf1\ansi\deff0{\fonttbl{\f0\fcharset0 Arial Narrow;}}{\colortbl\red0\green0\blue0;}{\f0\fs30\cf0 # This file contains the mappings of IP addresses to host names.\par}}"/>
  <p:tag name="PPWINSEGMENT3TARGETRTF" val="{\rtf1\ansi\deff0{\fonttbl{\f0\fcharset0 Arial Narrow;}}{\colortbl\red0\green0\blue0;}{\f0\fs30\cf0 # Ce fichier contient les mappages adresse IP/nom d'h\'F4te.\par}}"/>
  <p:tag name="PPWINSEGMENT4START" val="187"/>
  <p:tag name="PPWINSEGMENT4LENGTH" val="6"/>
  <p:tag name="PPWINSEGMENT4SOURCERTF" val="{\rtf1\ansi\deff0{\fonttbl{\f0\fcharset0 Arial Narrow;}}{\colortbl\red0\green0\blue0;}{\f0\fs30\cf0 Each\par}}"/>
  <p:tag name="PPWINSEGMENT4TARGETRTF" val="{\rtf1\ansi\deff0{\fonttbl{\f0\fcharset0 Arial Narrow;}}{\colortbl\red0\green0\blue0;}{\f0\fs30\cf0 Chaque\par}}"/>
  <p:tag name="PPWINSEGMENT5START" val="194"/>
  <p:tag name="PPWINSEGMENT5LENGTH" val="49"/>
  <p:tag name="PPWINSEGMENT5SOURCERTF" val="{\rtf1\ansi\deff0{\fonttbl{\f0\fcharset0 Arial Narrow;}}{\colortbl\red0\green0\blue0;}{\f0\fs30\cf0 # entry should be kept on an individual line.\par}}"/>
  <p:tag name="PPWINSEGMENT5TARGETRTF" val="{\rtf1\ansi\deff0{\fonttbl{\f0\fcharset0 Arial Narrow;}}{\colortbl\red0\green0\blue0;}{\f0\fs30\cf0 entr\'E9e\line}{\f0\fs30\cf0 # doit se trouver sur une ligne distincte.\par}}"/>
  <p:tag name="PPWINSEGMENT6START" val="244"/>
  <p:tag name="PPWINSEGMENT6LENGTH" val="17"/>
  <p:tag name="PPWINSEGMENT6SOURCERTF" val="{\rtf1\ansi\deff0{\fonttbl{\f0\fcharset0 Arial Narrow;}}{\colortbl\red0\green0\blue0;}{\f0\fs30\cf0 The IP address should\par}}"/>
  <p:tag name="PPWINSEGMENT6TARGETRTF" val="{\rtf1\ansi\deff0{\fonttbl{\f0\fcharset0 Arial Narrow;}}{\colortbl\red0\green0\blue0;}{\f0\fs30\cf0 L'adresse IP doit\par}}"/>
  <p:tag name="PPWINSEGMENT7START" val="262"/>
  <p:tag name="PPWINSEGMENT7LENGTH" val="74"/>
  <p:tag name="PPWINSEGMENT7SOURCERTF" val="{\rtf1\ansi\deff0{\fonttbl{\f0\fcharset0 Arial Narrow;}}{\colortbl\red0\green0\blue0;}{\f0\fs30\cf0 # be placed in the first column followed by the corresponding host name.\par}}"/>
  <p:tag name="PPWINSEGMENT7TARGETRTF" val="{\rtf1\ansi\deff0{\fonttbl{\f0\fcharset0 Arial Narrow;}}{\colortbl\red0\green0\blue0;}{\f0\fs30\cf0 # \'EAtre plac\'E9e dans la premi\'E8re colonne suivie du nom d'h\'F4te correspondant.\par}}"/>
  <p:tag name="PPWINSEGMENT8START" val="337"/>
  <p:tag name="PPWINSEGMENT8LENGTH" val="66"/>
  <p:tag name="PPWINSEGMENT8SOURCERTF" val="{\rtf1\ansi\deff0{\fonttbl{\f0\fcharset0 Arial Narrow;}}{\colortbl\red0\green0\blue0;}{\f0\fs30\cf0 # The IP address and the host name should be separated by at least one\par}}"/>
  <p:tag name="PPWINSEGMENT8TARGETRTF" val="{\rtf1\ansi\deff0{\fonttbl{\f0\fcharset0 Arial Narrow;}}{\colortbl\red0\green0\blue0;}{\f0\fs30\cf0 # L'adresse IP et le nom d'h\'F4te doivent \'EAtre s\'E9par\'E9s par au moins\line\par}}"/>
  <p:tag name="PPWINSEGMENT9START" val="404"/>
  <p:tag name="PPWINSEGMENT9LENGTH" val="12"/>
  <p:tag name="PPWINSEGMENT9SOURCERTF" val="{\rtf1\ansi\deff0{\fonttbl{\f0\fcharset0 Arial Narrow;}}{\colortbl\red0\green0\blue0;}{\f0\fs30\cf0 # space.\par}}"/>
  <p:tag name="PPWINSEGMENT9TARGETRTF" val="{\rtf1\ansi\deff0{\fonttbl{\f0\fcharset0 Arial Narrow;}}{\colortbl\red0\green0\blue0;}{\f0\fs30\cf0 # un espace.\par}}"/>
  <p:tag name="PPWINSEGMENT10START" val="419"/>
  <p:tag name="PPWINSEGMENT10LENGTH" val="73"/>
  <p:tag name="PPWINSEGMENT10SOURCERTF" val="{\rtf1\ansi\deff0{\fonttbl{\f0\fcharset0 Arial Narrow;}}{\colortbl\red0\green0\blue0;}{\f0\fs30\cf0 # Additionally, comments (such as these) may be inserted on individual\par}}"/>
  <p:tag name="PPWINSEGMENT10TARGETRTF" val="{\rtf1\ansi\deff0{\fonttbl{\f0\fcharset0 Arial Narrow;}}{\colortbl\red0\green0\blue0;}{\f0\fs30\cf0 # Par ailleurs, des commentaires (comme ceux-ci) peuvent \'EAtre ins\'E9r\'E9s sur\par}}"/>
  <p:tag name="PPWINSEGMENT11START" val="493"/>
  <p:tag name="PPWINSEGMENT11LENGTH" val="87"/>
  <p:tag name="PPWINSEGMENT11SOURCERTF" val="{\rtf1\ansi\deff0{\fonttbl{\f0\fcharset0 Arial Narrow;}}{\colortbl\red0\green0\blue0;}{\f0\fs30\cf0 # lines or following the machine name denoted by a '#' symbol.\par}}"/>
  <p:tag name="PPWINSEGMENT11TARGETRTF" val="{\rtf1\ansi\deff0{\fonttbl{\f0\fcharset0 Arial Narrow;}}{\colortbl\red0\green0\blue0;}{\f0\fs30\cf0 # des lignes distinctes ou \'E0 la suite du nom d'ordinateur, signal\'E9s par le symbole '#'.\par}}"/>
  <p:tag name="PPWINSEGMENT12START" val="583"/>
  <p:tag name="PPWINSEGMENT12LENGTH" val="15"/>
  <p:tag name="PPWINSEGMENT12SOURCERTF" val="{\rtf1\ansi\deff0{\fonttbl{\f0\fcharset0 Arial Narrow;}}{\colortbl\red0\green0\blue0;}{\f0\fs30\cf0 # For example:\par}}"/>
  <p:tag name="PPWINSEGMENT12TARGETRTF" val="{\rtf1\ansi\deff0{\fonttbl{\f0\fcharset0 Arial Narrow;}}{\colortbl\red0\green0\blue0;}{\f0\fs30\cf0 # Par exemple :\par}}"/>
  <p:tag name="PPWINSEGMENT13START" val="601"/>
  <p:tag name="PPWINSEGMENT13LENGTH" val="67"/>
  <p:tag name="PPWINSEGMENT13SOURCERTF" val="{\rtf1\ansi\deff0{\fonttbl{\f0\fcharset0 Arial Narrow;}}{\colortbl\red0\green0\blue0;}{\f0\fs30\cf0 #\'A0\'A0\'A0\'A0\'A0 102.54.94.97\'A0\'A0\'A0\'A0 rhino.acme.com\'A0\'A0\'A0\'A0\'A0\'A0\'A0\'A0     # source server\par}}"/>
  <p:tag name="PPWINSEGMENT13TARGETRTF" val="{\rtf1\ansi\deff0{\fonttbl{\f0\fcharset0 Arial Narrow;}}{\colortbl\red0\green0\blue0;}{\f0\fs30\cf0 #\'A0\'A0\'A0\'A0\'A0 102.54.94.97\'A0\'A0\'A0\'A0 rhino.acme.com\'A0\'A0\'A0\'A0\'A0\'A0\'A0\'A0     # serveur source\par}}"/>
  <p:tag name="PPWINSEGMENT14START" val="669"/>
  <p:tag name="PPWINSEGMENT14LENGTH" val="70"/>
  <p:tag name="PPWINSEGMENT14SOURCERTF" val="{\rtf1\ansi\deff0{\fonttbl{\f0\fcharset0 Arial Narrow;}}{\colortbl\red0\green0\blue0;}{\f0\fs30\cf0 #\'A0\'A0\'A0\'A0\'A0\'A0 38.25.63.10\'A0\'A0\'A0\'A0  x.acme.com      \'A0\'A0\'A0\'A0\'A0\'A0\'A0\'A0\'A0\'A0\'A0\'A0\'A0 # x client host\par}}"/>
  <p:tag name="PPWINSEGMENT14TARGETRTF" val="{\rtf1\ansi\deff0{\fonttbl{\f0\fcharset0 Arial Narrow;}}{\colortbl\red0\green0\blue0;}{\f0\fs30\cf0 #\'A0\'A0\'A0\'A0\'A0\'A0 38.25.63.10\'A0\'A0\'A0\'A0  x.acme.com      \'A0\'A0\'A0\'A0\'A0\'A0\'A0\'A0\'A0\'A0\'A0\'A0\'A0 # h\'F4te client x\par}}"/>
  <p:tag name="PPWINSEGMENT15START" val="742"/>
  <p:tag name="PPWINSEGMENT15LENGTH" val="25"/>
  <p:tag name="PPWINSEGMENT15SOURCERTF" val="{\rtf1\ansi\deff0{\fonttbl{\f0\fcharset0 Arial Narrow;}}{\colortbl\red0\green0\blue0;}{\f0\fs30\cf0 127.0.0.1\'A0\'A0\'A0\'A0\'A0\'A0 localhost\par}}"/>
  <p:tag name="PPWINSEGMENT15TARGETRTF" val="{\rtf1\ansi\deff0{\fonttbl{\f0\fcharset0 Arial Narrow;}}{\colortbl\red0\green0\blue0;}{\f0\fs30\cf0 127.0.0.1\'A0\'A0\'A0\'A0\'A0\'A0 localhost\par}}"/>
  <p:tag name="PPWINLASTSAVEDTRANSLATION" val="# Copyright (c) 1993-1999 Microsoft Corp.&#10;#&#10;# Ceci est un exemple de fichier HOSTS utilisé par Microsoft TCP/IP pour Windows.&#10;#&#10;# Ce fichier contient les mappages adresse IP/nom d'hôte. Chaque&#10;entrée# doit se trouver sur une ligne distincte. L'adresse IP doit&#10;# être placée dans la première colonne suivie du nom d'hôte correspondant.&#10;# L'adresse IP et le nom d'hôte doivent être séparés par au moins&#10;# un espace.&#10;#&#10;# Par ailleurs, des commentaires (comme ceux-ci) peuvent être insérés sur&#10;# des lignes distinctes ou à la suite du nom d'ordinateur, signalés par le symbole '#'.&#10;#&#10;# Par exemple :&#10;#&#10;#      102.54.94.97     rhino.acme.com             # serveur source&#10;#       38.25.63.10      x.acme.com                    # hôte client x&#10; &#10;127.0.0.1       localhost"/>
  <p:tag name="PPWINALREADYSEGMENTED" val="True"/>
  <p:tag name="PPWINTOTALSEGMENTS" val="15"/>
</p:tagLst>
</file>

<file path=ppt/tags/tag7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3"/>
  <p:tag name="PPWINSEGMENT1SOURCERTF" val="{\rtf1\ansi\deff0{\fonttbl{\f0\fcharset0 Arial Narrow;}}{\colortbl\red0\green0\blue0;}{\f0\fs40\b\cf0 The }{\f0\fs40\b\i\cf0 Hosts file}{\f0\fs40\b\cf0  is a static file that is maintained on the local computer and that is used to load host name-to-IP address mappings into the client resolver cache\par}}"/>
  <p:tag name="PPWINLASTSAVEDTRANSLATION" val="Le fichier Hosts est un fichier statique géré sur l'ordinateur local qui sert à charger les mappages de nom d'hôte à adresse IP dans le cache de résolution client."/>
  <p:tag name="PPWINALREADYSEGMENTED" val="True"/>
  <p:tag name="PPWINTOTALSEGMENTS" val="1"/>
  <p:tag name="PPWINSEGMENT1TARGETRTF" val="{\rtf1\ansi\deff0{\fonttbl{\f0\fcharset0 Arial Narrow;}}{\colortbl\red0\green0\blue0;}{\f0\fs40\b\cf0 Le }{\f0\fs40\b\i\cf0 fichier Hosts }{\f0\fs40\b\cf0 est un fichier statique g\'E9r\'E9 sur l'ordinateur local qui sert \'E0 charger les mappages de nom d'h\'F4te \'E0 adresse IP dans le cache de r\'E9solution client.\par}}"/>
</p:tagLst>
</file>

<file path=ppt/tags/tag78.xml><?xml version="1.0" encoding="utf-8"?>
<p:tagLst xmlns:a="http://schemas.openxmlformats.org/drawingml/2006/main" xmlns:r="http://schemas.openxmlformats.org/officeDocument/2006/relationships" xmlns:p="http://schemas.openxmlformats.org/presentationml/2006/main">
  <p:tag name="PPWINTOTALSEGMENTS" val="0"/>
</p:tagLst>
</file>

<file path=ppt/tags/tag79.xml><?xml version="1.0" encoding="utf-8"?>
<p:tagLst xmlns:a="http://schemas.openxmlformats.org/drawingml/2006/main" xmlns:r="http://schemas.openxmlformats.org/officeDocument/2006/relationships" xmlns:p="http://schemas.openxmlformats.org/presentationml/2006/main">
  <p:tag name="PPWINSEGMENT1START" val="1"/>
  <p:tag name="PPWINSEGMENT1LENGTH" val="78"/>
  <p:tag name="PPWINSEGMENT1SOURCERTF" val="{\rtf1\ansi\deff0{\fonttbl{\f0\fcharset0 Arial Narrow;}}{\colortbl\red0\green0\blue0;}{\f0\fs52\b\cf0 How to Preload a Client Resolver Cache by Using a Hosts File\par}}"/>
  <p:tag name="PPWINLASTSAVEDTRANSLATION" val="Comment précharger un cache de résolution client en utilisant un fichier Hosts"/>
  <p:tag name="PPWINALREADYSEGMENTED" val="True"/>
  <p:tag name="PPWINTOTALSEGMENTS" val="1"/>
  <p:tag name="PPWINSEGMENT1TARGETRTF" val="{\rtf1\ansi\deff0{\fonttbl{\f0\fcharset0 Arial Narrow;}}{\colortbl\red0\green0\blue0;}{\f0\fs52\b\cf0 Comment pr\'E9charger un cache de r\'E9solution client en utilisant un fichier Hosts\par}}"/>
</p:tagLst>
</file>

<file path=ppt/tags/tag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4"/>
  <p:tag name="PPWINSEGMENT1SOURCERTF" val="{\rtf1\ansi\deff0{\fonttbl{\f0\fcharset0 Arial Narrow;}}{\colortbl\red0\green0\blue0;}{\f0\fs48\b\cf0 Your instructor will demonstrate how to preload a NetBIOS name cache by using an Lmhosts file \par}}"/>
  <p:tag name="PPWINSEGMENT1TARGETRTF" val="{\rtf1\ansi\deff1{\fonttbl{\f1\fcharset0 Arial;}{\f2\fcharset0 Arial Narrow;}}{\colortbl\red0\green0\blue0;}{\f2\fs48\b\cf0 L'instructeur va vous montrer comment pr\'E9charger un cache de noms NetBIOS au moyen d'un fichier Lmhosts.\par}}"/>
  <p:tag name="PPWINLASTSAVEDTRANSLATION" val="L'instructeur va vous montrer comment précharger un cache de noms NetBIOS au moyen d'un fichier Lmhosts."/>
  <p:tag name="PPWINALREADYSEGMENTED" val="True"/>
  <p:tag name="PPWINTOTALSEGMENTS" val="1"/>
</p:tagLst>
</file>

<file path=ppt/tags/tag81.xml><?xml version="1.0" encoding="utf-8"?>
<p:tagLst xmlns:a="http://schemas.openxmlformats.org/drawingml/2006/main" xmlns:r="http://schemas.openxmlformats.org/officeDocument/2006/relationships" xmlns:p="http://schemas.openxmlformats.org/presentationml/2006/main">
  <p:tag name="PPWINTOTALSEGMENTS" val="0"/>
</p:tagLst>
</file>

<file path=ppt/tags/tag8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46"/>
  <p:tag name="PPWINSEGMENT2SOURCERTF" val="{\rtf1\ansi\deff0{\fonttbl{\f0\fcharset0 Arial Narrow;}}{\colortbl\red0\green0\blue0;}{\f0\fs52\b\cf0 Configuring NetBIOS Name Resolution\par}}"/>
  <p:tag name="PPWINSEGMENT2TARGETRTF" val="{\rtf1\ansi\deff0{\fonttbl{\f0\fcharset0 Arial Narrow;}}{\colortbl\red0\green0\blue0;}{\f0\fs52\b\cf0 Configuration de la r\'E9solution de noms NetBIOS\par}}"/>
  <p:tag name="PPWINLASTSAVEDTRANSLATION" val="Leçon : Configuration de la résolution de noms NetBIOS"/>
  <p:tag name="PPWINALREADYSEGMENTED" val="True"/>
  <p:tag name="PPWINTOTALSEGMENTS" val="2"/>
</p:tagLst>
</file>

<file path=ppt/tags/tag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48\b\cf0 NetBIOS Name Resolution Process\par}}"/>
  <p:tag name="PPWINSEGMENT2START" val="41"/>
  <p:tag name="PPWINSEGMENT2LENGTH" val="21"/>
  <p:tag name="PPWINSEGMENT2SOURCERTF" val="{\rtf1\ansi\deff0{\fonttbl{\f0\fcharset0 Arial Narrow;}}{\colortbl\red0\green0\blue0;}{\f0\fs48\b\cf0 NetBIOS Name Cache\par}}"/>
  <p:tag name="PPWINSEGMENT3START" val="63"/>
  <p:tag name="PPWINSEGMENT3LENGTH" val="52"/>
  <p:tag name="PPWINSEGMENT3SOURCERTF" val="{\rtf1\ansi\deff0{\fonttbl{\f0\fcharset0 Arial Narrow;}}{\colortbl\red0\green0\blue0;}{\f0\fs48\b\cf0 How to View and Release the NetBIOS Name Cache\par}}"/>
  <p:tag name="PPWINSEGMENT4START" val="116"/>
  <p:tag name="PPWINSEGMENT4LENGTH" val="10"/>
  <p:tag name="PPWINSEGMENT4SOURCERTF" val="{\rtf1\ansi\deff0{\fonttbl{\f0\fcharset0 Arial Narrow;}}{\colortbl\red0\green0\blue0;}{\f0\fs48\b\cf0 Broadcasts\par}}"/>
  <p:tag name="PPWINSEGMENT5START" val="127"/>
  <p:tag name="PPWINSEGMENT5LENGTH" val="15"/>
  <p:tag name="PPWINSEGMENT5SOURCERTF" val="{\rtf1\ansi\deff0{\fonttbl{\f0\fcharset0 Arial Narrow;}}{\colortbl\red0\green0\blue0;}{\f0\fs48\b\cf0 Lmhosts File\par}}"/>
  <p:tag name="PPWINSEGMENT6START" val="143"/>
  <p:tag name="PPWINSEGMENT6LENGTH" val="75"/>
  <p:tag name="PPWINSEGMENT6SOURCERTF" val="{\rtf1\ansi\deff0{\fonttbl{\f0\fcharset0 Arial Narrow;}}{\colortbl\red0\green0\blue0;}{\f0\fs48\b\cf0 How to Preload a NetBIOS Name Cache by Using an Lmhosts File\par}}"/>
  <p:tag name="PPWINLASTSAVEDTRANSLATION" val="Processus de résolution de noms NetBIOS&#10;Cache de noms NetBIOS&#10;Comment afficher et libérer le cache de noms NetBIOS&#10;Diffusions&#10;Fichier Lmhosts&#10;Comment précharger un cache de noms NetBIOS en utilisant un fichier Lmhosts"/>
  <p:tag name="PPWINALREADYSEGMENTED" val="True"/>
  <p:tag name="PPWINTOTALSEGMENTS" val="6"/>
  <p:tag name="PPWINSEGMENT1TARGETRTF" val="{\rtf1\ansi\deff0{\fonttbl{\f0\fcharset0 Arial Narrow;}}{\colortbl\red0\green0\blue0;}{\f0\fs48\b\cf0 Processus de r\'E9solution de noms NetBIOS\par}}"/>
  <p:tag name="PPWINSEGMENT2TARGETRTF" val="{\rtf1\ansi\deff0{\fonttbl{\f0\fcharset0 Arial Narrow;}}{\colortbl\red0\green0\blue0;}{\f0\fs48\b\cf0 Cache de noms NetBIOS\par}}"/>
  <p:tag name="PPWINSEGMENT3TARGETRTF" val="{\rtf1\ansi\deff0{\fonttbl{\f0\fcharset0 Arial Narrow;}}{\colortbl\red0\green0\blue0;}{\f0\fs48\b\cf0 Comment afficher et lib\'E9rer le cache de noms NetBIOS\par}}"/>
  <p:tag name="PPWINSEGMENT4TARGETRTF" val="{\rtf1\ansi\deff0{\fonttbl{\f0\fcharset0 Arial Narrow;}}{\colortbl\red0\green0\blue0;}{\f0\fs48\b\cf0 Diffusions\par}}"/>
  <p:tag name="PPWINSEGMENT5TARGETRTF" val="{\rtf1\ansi\deff0{\fonttbl{\f0\fcharset0 Arial Narrow;}}{\colortbl\red0\green0\blue0;}{\f0\fs48\b\cf0 Fichier Lmhosts\par}}"/>
  <p:tag name="PPWINSEGMENT6TARGETRTF" val="{\rtf1\ansi\deff0{\fonttbl{\f0\fcharset0 Arial Narrow;}}{\colortbl\red0\green0\blue0;}{\f0\fs48\b\cf0 Comment pr\'E9charger un cache de noms NetBIOS en utilisant un fichier Lmhosts\par}}"/>
</p:tagLst>
</file>

<file path=ppt/tags/tag84.xml><?xml version="1.0" encoding="utf-8"?>
<p:tagLst xmlns:a="http://schemas.openxmlformats.org/drawingml/2006/main" xmlns:r="http://schemas.openxmlformats.org/officeDocument/2006/relationships" xmlns:p="http://schemas.openxmlformats.org/presentationml/2006/main">
  <p:tag name="PPWINTOTALSEGMENTS" val="0"/>
</p:tagLst>
</file>

<file path=ppt/tags/tag85.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60\b\cf0 NetBIOS Name Resolution Process\par}}"/>
  <p:tag name="PPWINLASTSAVEDTRANSLATION" val="Processus de résolution de noms NetBIOS"/>
  <p:tag name="PPWINALREADYSEGMENTED" val="True"/>
  <p:tag name="PPWINTOTALSEGMENTS" val="1"/>
  <p:tag name="PPWINSEGMENT1TARGETRTF" val="{\rtf1\ansi\deff0{\fonttbl{\f0\fcharset0 Arial Narrow;}}{\colortbl\red0\green0\blue0;}{\f0\fs60\b\cf0 Processus de r\'E9solution de noms NetBIOS\par}}"/>
</p:tagLst>
</file>

<file path=ppt/tags/tag8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0"/>
  <p:tag name="PPWINSEGMENT1SOURCERTF" val="{\rtf1\ansi\deff0{\fonttbl{\f0\fcharset0 Arial Narrow;}}{\colortbl\red0\green0\blue0;}{\f0\fs40\b\i\cf0 NetBIOS name resolution}{\f0\fs40\b\cf0  is the process of mapping a NetBIOS name to an IP address\par}}"/>
  <p:tag name="PPWINLASTSAVEDTRANSLATION" val="La résolution de noms NetBIOS est le processus qui consiste à mapper un nom NetBIOS à une adresse IP"/>
  <p:tag name="PPWINALREADYSEGMENTED" val="True"/>
  <p:tag name="PPWINTOTALSEGMENTS" val="1"/>
  <p:tag name="PPWINSEGMENT1TARGETRTF" val="{\rtf1\ansi\deff0{\fonttbl{\f0\fcharset0 Arial Narrow;}}{\colortbl\red0\green0\blue0;}{\f0\fs40\b\cf0 La }{\f0\fs40\b\i\cf0 r\'E9solution de noms NetBIOS}{\f0\fs40\b\cf0  est le processus qui consiste \'E0 mapper un nom NetBIOS \'E0 une adresse IP\par}}"/>
</p:tagLst>
</file>

<file path=ppt/tags/tag8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What is the \par}}"/>
  <p:tag name="PPWINSEGMENT1TARGETRTF" val="{\rtf1\ansi\deff0{\fonttbl{\f0\fcharset0 Arial Narrow;}}{\colortbl\red0\green0\blue0;}{\f0\fs36\b\cf0 Quelle est\par}}"/>
  <p:tag name="PPWINSEGMENT2START" val="12"/>
  <p:tag name="PPWINSEGMENT2LENGTH" val="32"/>
  <p:tag name="PPWINSEGMENT2SOURCERTF" val="{\rtf1\ansi\deff0{\fonttbl{\f0\fcharset0 Arial Narrow;}}{\colortbl\red0\green0\blue0;}{\f0\fs36\b\cf0 IP address for Salescomputer2?\par}}"/>
  <p:tag name="PPWINSEGMENT2TARGETRTF" val="{\rtf1\ansi\deff1{\fonttbl{\f1\fcharset0 Arial;}{\f2\fcharset0 Arial Narrow;}}{\colortbl\red0\green0\blue0;}{\f2\fs36\b\cf0 l'adresse IP de Salescomputer2 ?\par}}"/>
  <p:tag name="PPWINLASTSAVEDTRANSLATION" val="Quelle est&#10;l'adresse IP de Salescomputer2 ?"/>
  <p:tag name="PPWINALREADYSEGMENTED" val="True"/>
  <p:tag name="PPWINTOTALSEGMENTS" val="2"/>
</p:tagLst>
</file>

<file path=ppt/tags/tag8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cf0 Salescomputer2\par}}"/>
  <p:tag name="PPWINLASTSAVEDTRANSLATION" val="Salescomputer2"/>
  <p:tag name="PPWINALREADYSEGMENTED" val="True"/>
  <p:tag name="PPWINTOTALSEGMENTS" val="1"/>
  <p:tag name="PPWINSEGMENT1TARGETRTF" val="{\rtf1\ansi\deff0{\fonttbl{\f0\fcharset0 Arial Narrow;}}{\colortbl\red0\green0\blue0;}{\f0\fs36\b\cf0 Salescomputer2\par}}"/>
</p:tagLst>
</file>

<file path=ppt/tags/tag89.xml><?xml version="1.0" encoding="utf-8"?>
<p:tagLst xmlns:a="http://schemas.openxmlformats.org/drawingml/2006/main" xmlns:r="http://schemas.openxmlformats.org/officeDocument/2006/relationships" xmlns:p="http://schemas.openxmlformats.org/presentationml/2006/main">
  <p:tag name="PPWINTOTALSEGMENTS" val="0"/>
</p:tagLst>
</file>

<file path=ppt/tags/tag90.xml><?xml version="1.0" encoding="utf-8"?>
<p:tagLst xmlns:a="http://schemas.openxmlformats.org/drawingml/2006/main" xmlns:r="http://schemas.openxmlformats.org/officeDocument/2006/relationships" xmlns:p="http://schemas.openxmlformats.org/presentationml/2006/main">
  <p:tag name="PPWINTOTALSEGMENTS" val="0"/>
</p:tagLst>
</file>

<file path=ppt/tags/tag91.xml><?xml version="1.0" encoding="utf-8"?>
<p:tagLst xmlns:a="http://schemas.openxmlformats.org/drawingml/2006/main" xmlns:r="http://schemas.openxmlformats.org/officeDocument/2006/relationships" xmlns:p="http://schemas.openxmlformats.org/presentationml/2006/main">
  <p:tag name="PPWINTOTALSEGMENTS" val="0"/>
</p:tagLst>
</file>

<file path=ppt/tags/tag9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cf0 Salescomputer2\par}}"/>
  <p:tag name="PPWINLASTSAVEDTRANSLATION" val="Salescomputer2"/>
  <p:tag name="PPWINALREADYSEGMENTED" val="True"/>
  <p:tag name="PPWINTOTALSEGMENTS" val="1"/>
  <p:tag name="PPWINSEGMENT1TARGETRTF" val="{\rtf1\ansi\deff0{\fonttbl{\f0\fcharset0 Arial Narrow;}}{\colortbl\red0\green0\blue0;}{\f0\fs36\b\cf0 Salescomputer2\par}}"/>
</p:tagLst>
</file>

<file path=ppt/tags/tag9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2\b\cf0 NetBIOS \par}}"/>
  <p:tag name="PPWINSEGMENT2START" val="13"/>
  <p:tag name="PPWINSEGMENT2LENGTH" val="7"/>
  <p:tag name="PPWINSEGMENT2SOURCERTF" val="{\rtf1\ansi\deff0{\fonttbl{\f0\fcharset0 Arial Narrow;}}{\colortbl\red0\green0\blue0;}{\f0\fs32\b\cf0 Name Cache\par}}"/>
  <p:tag name="PPWINLASTSAVEDTRANSLATION" val="Redirecteur&#10;NetBIOS"/>
  <p:tag name="PPWINALREADYSEGMENTED" val="True"/>
  <p:tag name="PPWINTOTALSEGMENTS" val="2"/>
  <p:tag name="PPWINSEGMENT1TARGETRTF" val="{\rtf1\ansi\deff0{\fonttbl{\f0\fcharset0 Arial Narrow;}}{\colortbl\red0\green0\blue0;}{\f0\fs32\b\cf0 Redirecteur\par}}"/>
  <p:tag name="PPWINSEGMENT2TARGETRTF" val="{\rtf1\ansi\deff0{\fonttbl{\f0\fcharset0 Arial Narrow;}}{\colortbl\red0\green0\blue0;}{\f0\fs32\b\cf0 NetBIOS\par}}"/>
</p:tagLst>
</file>

<file path=ppt/tags/tag9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
  <p:tag name="PPWINSEGMENT1SOURCERTF" val="{\rtf1\ansi\deff0{\fonttbl{\f0\fcharset0 Arial Narrow;}}{\colortbl\red0\green0\blue0;}{\f0\fs32\b\cf0 WINS\par}}"/>
  <p:tag name="PPWINLASTSAVEDTRANSLATION" val="WINS"/>
  <p:tag name="PPWINALREADYSEGMENTED" val="True"/>
  <p:tag name="PPWINTOTALSEGMENTS" val="1"/>
  <p:tag name="PPWINSEGMENT1TARGETRTF" val="{\rtf1\ansi\deff0{\fonttbl{\f0\fcharset0 Arial Narrow;}}{\colortbl\red0\green0\blue0;}{\f0\fs32\b\cf0 WINS\par}}"/>
</p:tagLst>
</file>

<file path=ppt/tags/tag95.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2\b\cf0 Broadcast\par}}"/>
  <p:tag name="PPWINLASTSAVEDTRANSLATION" val="Diffusion"/>
  <p:tag name="PPWINALREADYSEGMENTED" val="True"/>
  <p:tag name="PPWINTOTALSEGMENTS" val="1"/>
  <p:tag name="PPWINSEGMENT1TARGETRTF" val="{\rtf1\ansi\deff0{\fonttbl{\f0\fcharset0 Arial Narrow;}}{\colortbl\red0\green0\blue0;}{\f0\fs32\b\cf0 Diffusion\par}}"/>
</p:tagLst>
</file>

<file path=ppt/tags/tag9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2\b\cf0 Lmhosts File\par}}"/>
  <p:tag name="PPWINLASTSAVEDTRANSLATION" val="Fichier Lmhosts"/>
  <p:tag name="PPWINALREADYSEGMENTED" val="True"/>
  <p:tag name="PPWINTOTALSEGMENTS" val="1"/>
  <p:tag name="PPWINSEGMENT1TARGETRTF" val="{\rtf1\ansi\deff0{\fonttbl{\f0\fcharset0 Arial Narrow;}}{\colortbl\red0\green0\blue0;}{\f0\fs32\b\cf0 Fichier Lmhosts\par}}"/>
</p:tagLst>
</file>

<file path=ppt/tags/tag97.xml><?xml version="1.0" encoding="utf-8"?>
<p:tagLst xmlns:a="http://schemas.openxmlformats.org/drawingml/2006/main" xmlns:r="http://schemas.openxmlformats.org/officeDocument/2006/relationships" xmlns:p="http://schemas.openxmlformats.org/presentationml/2006/main">
  <p:tag name="PPWINTOTALSEGMENTS" val="0"/>
</p:tagLst>
</file>

<file path=ppt/tags/tag98.xml><?xml version="1.0" encoding="utf-8"?>
<p:tagLst xmlns:a="http://schemas.openxmlformats.org/drawingml/2006/main" xmlns:r="http://schemas.openxmlformats.org/officeDocument/2006/relationships" xmlns:p="http://schemas.openxmlformats.org/presentationml/2006/main">
  <p:tag name="PPWINTOTALSEGMENTS" val="0"/>
</p:tagLst>
</file>

<file path=ppt/tags/tag99.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60\b\cf0 NetBIOS Name Cache\par}}"/>
  <p:tag name="PPWINSEGMENT1TARGETRTF" val="{\rtf1\ansi\deff1{\fonttbl{\f1\fcharset0 Arial;}{\f2\fcharset0 Arial Narrow;}}{\colortbl\red0\green0\blue0;}{\f2\fs60\b\cf0 Cache de noms NetBIOS\par}}"/>
  <p:tag name="PPWINLASTSAVEDTRANSLATION" val="Cache de noms NetBIOS"/>
  <p:tag name="PPWINALREADYSEGMENTED" val="True"/>
  <p:tag name="PPWINTOTALSEGMENTS" val="1"/>
</p:tagLst>
</file>

<file path=ppt/tags/tag10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36\b\cf0 Resolved host names \par}}"/>
  <p:tag name="PPWINSEGMENT1TARGETRTF" val="{\rtf1\ansi\deff1{\fonttbl{\f1\fcharset0 Arial;}{\f2\fcharset0 Arial Narrow;}}{\colortbl\red0\green0\blue0;}{\f2\fs36\b\cf0 Noms d'h\'F4tes r\'E9solus \par}}"/>
  <p:tag name="PPWINSEGMENT2START" val="23"/>
  <p:tag name="PPWINSEGMENT2LENGTH" val="24"/>
  <p:tag name="PPWINSEGMENT2SOURCERTF" val="{\rtf1\ansi\deff0{\fonttbl{\f0\fcharset0 Arial Narrow;}}{\colortbl\red0\green0\blue0;}{\f0\fs36\b\cf0 from the WINS server\par}}"/>
  <p:tag name="PPWINSEGMENT2TARGETRTF" val="{\rtf1\ansi\deff1{\fonttbl{\f1\fcharset0 Arial;}{\f2\fcharset0 Arial Narrow;}}{\colortbl\red0\green0\blue0;}{\f2\fs36\b\cf0 \'E0 partir du serveur WINS\par}}"/>
  <p:tag name="PPWINLASTSAVEDTRANSLATION" val="Noms d'hôtes résolus &#10;à partir du serveur WINS"/>
  <p:tag name="PPWINALREADYSEGMENTED" val="True"/>
  <p:tag name="PPWINTOTALSEGMENTS" val="2"/>
</p:tagLst>
</file>

<file path=ppt/tags/tag101.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Computer1\par}}"/>
  <p:tag name="PPWINSEGMENT1TARGETRTF" val="{\rtf1\ansi\deff1{\fonttbl{\f1\fcharset0 Arial;}{\f2\fcharset0 Arial Narrow;}}{\colortbl\red0\green0\blue0;}{\f2\fs36\b\cf0 Computer1\par}}"/>
  <p:tag name="PPWINLASTSAVEDTRANSLATION" val="Computer1"/>
  <p:tag name="PPWINALREADYSEGMENTED" val="True"/>
  <p:tag name="PPWINTOTALSEGMENTS" val="1"/>
</p:tagLst>
</file>

<file path=ppt/tags/tag10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6\b\cf0 Lmhosts File\par}}"/>
  <p:tag name="PPWINSEGMENT1TARGETRTF" val="{\rtf1\ansi\deff1{\fonttbl{\f1\fcharset0 Arial;}{\f2\fcharset0 Arial Narrow;}}{\colortbl\red0\green0\blue0;}{\f2\fs36\b\cf0 Fichier Lmhosts\par}}"/>
  <p:tag name="PPWINLASTSAVEDTRANSLATION" val="Fichier Lmhosts"/>
  <p:tag name="PPWINALREADYSEGMENTED" val="True"/>
  <p:tag name="PPWINTOTALSEGMENTS" val="1"/>
</p:tagLst>
</file>

<file path=ppt/tags/tag10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36\b\cf0 Resolved host names \par}}"/>
  <p:tag name="PPWINSEGMENT1TARGETRTF" val="{\rtf1\ansi\deff1{\fonttbl{\f1\fcharset0 Arial;}{\f2\fcharset0 Arial Narrow;}}{\colortbl\red0\green0\blue0;}{\f2\fs36\b\cf0 Noms d'h\'F4tes r\'E9solus \par}}"/>
  <p:tag name="PPWINSEGMENT2START" val="23"/>
  <p:tag name="PPWINSEGMENT2LENGTH" val="22"/>
  <p:tag name="PPWINSEGMENT2SOURCERTF" val="{\rtf1\ansi\deff0{\fonttbl{\f0\fcharset0 Arial Narrow;}}{\colortbl\red0\green0\blue0;}{\f0\fs36\b\cf0 from broadcasts\par}}"/>
  <p:tag name="PPWINSEGMENT2TARGETRTF" val="{\rtf1\ansi\deff1{\fonttbl{\f1\fcharset0 Arial;}{\f2\fcharset0 Arial Narrow;}}{\colortbl\red0\green0\blue0;}{\f2\fs36\b\cf0 \'E0 partir de diffusions\par}}"/>
  <p:tag name="PPWINLASTSAVEDTRANSLATION" val="Noms d'hôtes résolus &#10;à partir de diffusions"/>
  <p:tag name="PPWINALREADYSEGMENTED" val="True"/>
  <p:tag name="PPWINTOTALSEGMENTS" val="2"/>
</p:tagLst>
</file>

<file path=ppt/tags/tag10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3"/>
  <p:tag name="PPWINSEGMENT1SOURCERTF" val="{\rtf1\ansi\deff0{\fonttbl{\f0\fcharset0 Arial Narrow;}}{\colortbl\red0\green0\blue0;}{\f0\fs40\b\cf0 A }{\f0\fs40\b\i\cf0 NetBIOS name cache }{\f0\fs40\b\cf0 is a location in memory that stores NetBIOS names that have recently been resolved to IP addresses whether through a WINS server, broadcast, or Lmhosts file \par}}"/>
  <p:tag name="PPWINSEGMENT1TARGETRTF" val="{\rtf1\ansi\deff1{\fonttbl{\f1\fcharset0 Arial;}{\f2\fcharset0 Arial Narrow;}}{\colortbl\red0\green0\blue0;}{\f2\fs40\b\cf0 Un }{\f2\fs40\b\i\cf0 cache de noms NetBIOS }{\f2\fs40\b\cf0 est un emplacement m\'E9moire qui stocke les noms NetBIOS r\'E9cemment r\'E9solus en adresses IP, que ce soit via un serveur WINS, une diffusion ou le fichier Lmhosts.\par}}"/>
  <p:tag name="PPWINLASTSAVEDTRANSLATION" val="Un cache de noms NetBIOS est un emplacement mémoire qui stocke les noms NetBIOS récemment résolus en adresses IP, que ce soit via un serveur WINS, une diffusion ou le fichier Lmhosts."/>
  <p:tag name="PPWINALREADYSEGMENTED" val="True"/>
  <p:tag name="PPWINTOTALSEGMENTS" val="1"/>
</p:tagLst>
</file>

<file path=ppt/tags/tag105.xml><?xml version="1.0" encoding="utf-8"?>
<p:tagLst xmlns:a="http://schemas.openxmlformats.org/drawingml/2006/main" xmlns:r="http://schemas.openxmlformats.org/officeDocument/2006/relationships" xmlns:p="http://schemas.openxmlformats.org/presentationml/2006/main">
  <p:tag name="PPTAGGERGROUP" val="1"/>
</p:tagLst>
</file>

<file path=ppt/tags/tag106.xml><?xml version="1.0" encoding="utf-8"?>
<p:tagLst xmlns:a="http://schemas.openxmlformats.org/drawingml/2006/main" xmlns:r="http://schemas.openxmlformats.org/officeDocument/2006/relationships" xmlns:p="http://schemas.openxmlformats.org/presentationml/2006/main">
  <p:tag name="PPTAGGERGROUP" val="1"/>
</p:tagLst>
</file>

<file path=ppt/tags/tag10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9"/>
  <p:tag name="PPWINSEGMENT1SOURCERTF" val="{\rtf1\ansi\deff0{\fonttbl{\f0\fcharset0 Arial Narrow;}}{\colortbl\red0\green0\blue0;}{\f0\fs36\b\cf0 Broadcast\par}}"/>
  <p:tag name="PPWINSEGMENT1TARGETRTF" val="{\rtf1\ansi\deff1{\fonttbl{\f1\fcharset0 Arial;}{\f2\fcharset0 Arial Narrow;}}{\colortbl\red0\green0\blue0;}{\f2\fs36\b\cf0 Diffusion\par}}"/>
  <p:tag name="PPWINLASTSAVEDTRANSLATION" val="Diffusion"/>
  <p:tag name="PPWINALREADYSEGMENTED" val="True"/>
  <p:tag name="PPWINTOTALSEGMENTS" val="1"/>
</p:tagLst>
</file>

<file path=ppt/tags/tag108.xml><?xml version="1.0" encoding="utf-8"?>
<p:tagLst xmlns:a="http://schemas.openxmlformats.org/drawingml/2006/main" xmlns:r="http://schemas.openxmlformats.org/officeDocument/2006/relationships" xmlns:p="http://schemas.openxmlformats.org/presentationml/2006/main">
  <p:tag name="PPTAGGERGROUP" val="1"/>
</p:tagLst>
</file>

<file path=ppt/tags/tag109.xml><?xml version="1.0" encoding="utf-8"?>
<p:tagLst xmlns:a="http://schemas.openxmlformats.org/drawingml/2006/main" xmlns:r="http://schemas.openxmlformats.org/officeDocument/2006/relationships" xmlns:p="http://schemas.openxmlformats.org/presentationml/2006/main">
  <p:tag name="PPTAGGERGROUP" val="1"/>
</p:tagLst>
</file>

<file path=ppt/tags/tag110.xml><?xml version="1.0" encoding="utf-8"?>
<p:tagLst xmlns:a="http://schemas.openxmlformats.org/drawingml/2006/main" xmlns:r="http://schemas.openxmlformats.org/officeDocument/2006/relationships" xmlns:p="http://schemas.openxmlformats.org/presentationml/2006/main">
  <p:tag name="PPTAGGERGROUP" val="1,2"/>
</p:tagLst>
</file>

<file path=ppt/tags/tag111.xml><?xml version="1.0" encoding="utf-8"?>
<p:tagLst xmlns:a="http://schemas.openxmlformats.org/drawingml/2006/main" xmlns:r="http://schemas.openxmlformats.org/officeDocument/2006/relationships" xmlns:p="http://schemas.openxmlformats.org/presentationml/2006/main">
  <p:tag name="PPTAGGERGROUP" val="1,2"/>
</p:tagLst>
</file>

<file path=ppt/tags/tag112.xml><?xml version="1.0" encoding="utf-8"?>
<p:tagLst xmlns:a="http://schemas.openxmlformats.org/drawingml/2006/main" xmlns:r="http://schemas.openxmlformats.org/officeDocument/2006/relationships" xmlns:p="http://schemas.openxmlformats.org/presentationml/2006/main">
  <p:tag name="PPTAGGERGROUP" val="1,2"/>
</p:tagLst>
</file>

<file path=ppt/tags/tag113.xml><?xml version="1.0" encoding="utf-8"?>
<p:tagLst xmlns:a="http://schemas.openxmlformats.org/drawingml/2006/main" xmlns:r="http://schemas.openxmlformats.org/officeDocument/2006/relationships" xmlns:p="http://schemas.openxmlformats.org/presentationml/2006/main">
  <p:tag name="PPTAGGERGROUP" val="1,2"/>
</p:tagLst>
</file>

<file path=ppt/tags/tag114.xml><?xml version="1.0" encoding="utf-8"?>
<p:tagLst xmlns:a="http://schemas.openxmlformats.org/drawingml/2006/main" xmlns:r="http://schemas.openxmlformats.org/officeDocument/2006/relationships" xmlns:p="http://schemas.openxmlformats.org/presentationml/2006/main">
  <p:tag name="PPTAGGERGROUP" val="1,2"/>
</p:tagLst>
</file>

<file path=ppt/tags/tag115.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52"/>
  <p:tag name="PPWINSEGMENT1SOURCERTF" val="{\rtf1\ansi\deff0{\fonttbl{\f0\fcharset0 Arial Narrow;}}{\colortbl\red0\green0\blue0;}{\f0\fs52\b\cf0 How to View and Release the NetBIOS Name Cache\par}}"/>
  <p:tag name="PPWINLASTSAVEDTRANSLATION" val="Comment afficher et libérer le cache de noms NetBIOS"/>
  <p:tag name="PPWINALREADYSEGMENTED" val="True"/>
  <p:tag name="PPWINTOTALSEGMENTS" val="1"/>
  <p:tag name="PPWINSEGMENT1TARGETRTF" val="{\rtf1\ansi\deff0{\fonttbl{\f0\fcharset0 Arial Narrow;}}{\colortbl\red0\green0\blue0;}{\f0\fs52\b\cf0 Comment afficher et lib\'E9rer le cache de noms NetBIOS\par}}"/>
</p:tagLst>
</file>

<file path=ppt/tags/tag117.xml><?xml version="1.0" encoding="utf-8"?>
<p:tagLst xmlns:a="http://schemas.openxmlformats.org/drawingml/2006/main" xmlns:r="http://schemas.openxmlformats.org/officeDocument/2006/relationships" xmlns:p="http://schemas.openxmlformats.org/presentationml/2006/main">
  <p:tag name="PPWINSEGMENT1START" val="1"/>
  <p:tag name="PPWINSEGMENT1LENGTH" val="66"/>
  <p:tag name="PPWINSEGMENT1SOURCERTF" val="{\rtf1\ansi\deff0{\fonttbl{\f0\fcharset0 Arial Narrow;}}{\colortbl\red0\green0\blue0;}{\f0\fs44\b\cf0 View the contents of the local computer\'92s NetBIOS name cache \par}}"/>
  <p:tag name="PPWINSEGMENT2START" val="68"/>
  <p:tag name="PPWINSEGMENT2LENGTH" val="101"/>
  <p:tag name="PPWINSEGMENT2SOURCERTF" val="{\rtf1\ansi\deff0{\fonttbl{\f0\fcharset0 Arial Narrow;}}{\colortbl\red0\green0\blue0;}{\f0\fs44\b\cf0 Release the NetBIOS name cache and reload the #PRE-tagged entries in the local Lmhosts file\par}}"/>
  <p:tag name="PPWINSEGMENT3START" val="170"/>
  <p:tag name="PPWINSEGMENT3LENGTH" val="68"/>
  <p:tag name="PPWINSEGMENT3SOURCERTF" val="{\rtf1\ansi\deff0{\fonttbl{\f0\fcharset0 Arial Narrow;}}{\colortbl\red0\green0\blue0;}{\f0\fs44\b\cf0 Display and view the NetBIOS name table of the local computer \par}}"/>
  <p:tag name="PPWINLASTSAVEDTRANSLATION" val="Afficher le contenu du cache de noms NetBIOS de l'ordinateur local&#10;Libérer le cache de noms NetBIOS et recharger les entrées à balise #PRE dans le fichier local Lmhosts&#10;Afficher et consulter la table de noms NetBIOS de l'ordinateur local"/>
  <p:tag name="PPWINALREADYSEGMENTED" val="True"/>
  <p:tag name="PPWINTOTALSEGMENTS" val="3"/>
  <p:tag name="PPWINSEGMENT1TARGETRTF" val="{\rtf1\ansi\deff0{\fonttbl{\f0\fcharset0 Arial Narrow;}}{\colortbl\red0\green0\blue0;}{\f0\fs44\b\cf0 Afficher le contenu du cache de noms NetBIOS de l'ordinateur local\par}}"/>
  <p:tag name="PPWINSEGMENT2TARGETRTF" val="{\rtf1\ansi\deff0{\fonttbl{\f0\fcharset0 Arial Narrow;}}{\colortbl\red0\green0\blue0;}{\f0\fs44\b\cf0 Lib\'E9rer le cache de noms NetBIOS et recharger les entr\'E9es \'E0 balise #PRE dans le fichier local Lmhosts\par}}"/>
  <p:tag name="PPWINSEGMENT3TARGETRTF" val="{\rtf1\ansi\deff0{\fonttbl{\f0\fcharset0 Arial Narrow;}}{\colortbl\red0\green0\blue0;}{\f0\fs44\b\cf0 Afficher et consulter la table de noms NetBIOS de l'ordinateur local\par}}"/>
</p:tagLst>
</file>

<file path=ppt/tags/tag11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9.xml><?xml version="1.0" encoding="utf-8"?>
<p:tagLst xmlns:a="http://schemas.openxmlformats.org/drawingml/2006/main" xmlns:r="http://schemas.openxmlformats.org/officeDocument/2006/relationships" xmlns:p="http://schemas.openxmlformats.org/presentationml/2006/main">
  <p:tag name="PPTAGGERGROUP" val="1"/>
</p:tagLst>
</file>

<file path=ppt/tags/tag1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60\b\cf0 Broadcasts\par}}"/>
  <p:tag name="PPWINLASTSAVEDTRANSLATION" val="Diffusions"/>
  <p:tag name="PPWINALREADYSEGMENTED" val="True"/>
  <p:tag name="PPWINTOTALSEGMENTS" val="1"/>
  <p:tag name="PPWINSEGMENT1TARGETRTF" val="{\rtf1\ansi\deff0{\fonttbl{\f0\fcharset0 Arial Narrow;}}{\colortbl\red0\green0\blue0;}{\f0\fs60\b\cf0 Diffusions\par}}"/>
</p:tagLst>
</file>

<file path=ppt/tags/tag121.xml><?xml version="1.0" encoding="utf-8"?>
<p:tagLst xmlns:a="http://schemas.openxmlformats.org/drawingml/2006/main" xmlns:r="http://schemas.openxmlformats.org/officeDocument/2006/relationships" xmlns:p="http://schemas.openxmlformats.org/presentationml/2006/main">
  <p:tag name="PPTAGGERGROUP" val="1,3"/>
  <p:tag name="PPWINSEGMENT1START" val="1"/>
  <p:tag name="PPWINSEGMENT1LENGTH" val="50"/>
  <p:tag name="PPWINSEGMENT1SOURCERTF" val="{\rtf1\ansi\deff0{\fonttbl{\f0\fcharset0 Arial Narrow;}}{\colortbl\red0\green0\blue0;}{\f0\fs34\b\cf0 The NetBIOS redirector sends out a local broadcast\par}}"/>
  <p:tag name="PPWINLASTSAVEDTRANSLATION" val="Le redirecteur NetBIOS envoie une diffusion locale"/>
  <p:tag name="PPWINALREADYSEGMENTED" val="True"/>
  <p:tag name="PPWINTOTALSEGMENTS" val="1"/>
  <p:tag name="PPWINSEGMENT1TARGETRTF" val="{\rtf1\ansi\deff0{\fonttbl{\f0\fcharset0 Arial Narrow;}}{\colortbl\red0\green0\blue0;}{\f0\fs34\b\cf0 Le redirecteur NetBIOS envoie une diffusion locale\par}}"/>
</p:tagLst>
</file>

<file path=ppt/tags/tag122.xml><?xml version="1.0" encoding="utf-8"?>
<p:tagLst xmlns:a="http://schemas.openxmlformats.org/drawingml/2006/main" xmlns:r="http://schemas.openxmlformats.org/officeDocument/2006/relationships" xmlns:p="http://schemas.openxmlformats.org/presentationml/2006/main">
  <p:tag name="PPTAGGERGROUP" val="1,3"/>
  <p:tag name="PPWINTOTALSEGMENTS" val="0"/>
</p:tagLst>
</file>

<file path=ppt/tags/tag123.xml><?xml version="1.0" encoding="utf-8"?>
<p:tagLst xmlns:a="http://schemas.openxmlformats.org/drawingml/2006/main" xmlns:r="http://schemas.openxmlformats.org/officeDocument/2006/relationships" xmlns:p="http://schemas.openxmlformats.org/presentationml/2006/main">
  <p:tag name="PPTAGGERGROUP" val="1,3"/>
  <p:tag name="PPWINSEGMENT1START" val="1"/>
  <p:tag name="PPWINSEGMENT1LENGTH" val="109"/>
  <p:tag name="PPWINSEGMENT1SOURCERTF" val="{\rtf1\ansi\deff0{\fonttbl{\f0\fcharset0 Arial Narrow;}}{\colortbl\red0\green0\blue0;}{\f0\fs34\b\cf0 If the resource is on the local network, the broadcast is answered and an IP address is returned\par}}"/>
  <p:tag name="PPWINLASTSAVEDTRANSLATION" val="Si la ressource se trouve sur le réseau local, la diffusion reçoit une réponse et une adresse IP est renvoyée"/>
  <p:tag name="PPWINALREADYSEGMENTED" val="True"/>
  <p:tag name="PPWINTOTALSEGMENTS" val="1"/>
  <p:tag name="PPWINSEGMENT1TARGETRTF" val="{\rtf1\ansi\deff0{\fonttbl{\f0\fcharset0 Arial Narrow;}}{\colortbl\red0\green0\blue0;}{\f0\fs34\b\cf0 Si la ressource se trouve sur le r\'E9seau local, la diffusion re\'E7oit une r\'E9ponse et une adresse IP est renvoy\'E9e\par}}"/>
</p:tagLst>
</file>

<file path=ppt/tags/tag124.xml><?xml version="1.0" encoding="utf-8"?>
<p:tagLst xmlns:a="http://schemas.openxmlformats.org/drawingml/2006/main" xmlns:r="http://schemas.openxmlformats.org/officeDocument/2006/relationships" xmlns:p="http://schemas.openxmlformats.org/presentationml/2006/main">
  <p:tag name="PPTAGGERGROUP" val="1,3"/>
  <p:tag name="PPWINTOTALSEGMENTS" val="0"/>
</p:tagLst>
</file>

<file path=ppt/tags/tag125.xml><?xml version="1.0" encoding="utf-8"?>
<p:tagLst xmlns:a="http://schemas.openxmlformats.org/drawingml/2006/main" xmlns:r="http://schemas.openxmlformats.org/officeDocument/2006/relationships" xmlns:p="http://schemas.openxmlformats.org/presentationml/2006/main">
  <p:tag name="PPTAGGERGROUP" val="1,3"/>
  <p:tag name="PPWINSEGMENT1START" val="1"/>
  <p:tag name="PPWINSEGMENT1LENGTH" val="95"/>
  <p:tag name="PPWINSEGMENT1SOURCERTF" val="{\rtf1\ansi\deff0{\fonttbl{\f0\fcharset0 Arial Narrow;}}{\colortbl\red0\green0\blue0;}{\f0\fs34\b\cf0 If the resource is on a remote network, then the broadcast will not pass through the router\par}}"/>
  <p:tag name="PPWINLASTSAVEDTRANSLATION" val="Si la ressource se trouve sur un réseau distant, la diffusion ne peut pas passer par le routeur"/>
  <p:tag name="PPWINALREADYSEGMENTED" val="True"/>
  <p:tag name="PPWINTOTALSEGMENTS" val="1"/>
  <p:tag name="PPWINSEGMENT1TARGETRTF" val="{\rtf1\ansi\deff0{\fonttbl{\f0\fcharset0 Arial Narrow;}}{\colortbl\red0\green0\blue0;}{\f0\fs34\b\cf0 Si la ressource se trouve sur un r\'E9seau distant, la diffusion ne peut pas passer par le routeur\par}}"/>
</p:tagLst>
</file>

<file path=ppt/tags/tag126.xml><?xml version="1.0" encoding="utf-8"?>
<p:tagLst xmlns:a="http://schemas.openxmlformats.org/drawingml/2006/main" xmlns:r="http://schemas.openxmlformats.org/officeDocument/2006/relationships" xmlns:p="http://schemas.openxmlformats.org/presentationml/2006/main">
  <p:tag name="PPTAGGERGROUP" val="1,3"/>
  <p:tag name="PPWINTOTALSEGMENTS" val="0"/>
</p:tagLst>
</file>

<file path=ppt/tags/tag127.xml><?xml version="1.0" encoding="utf-8"?>
<p:tagLst xmlns:a="http://schemas.openxmlformats.org/drawingml/2006/main" xmlns:r="http://schemas.openxmlformats.org/officeDocument/2006/relationships" xmlns:p="http://schemas.openxmlformats.org/presentationml/2006/main">
  <p:tag name="PPTAGGERGROUP" val="1"/>
</p:tagLst>
</file>

<file path=ppt/tags/tag128.xml><?xml version="1.0" encoding="utf-8"?>
<p:tagLst xmlns:a="http://schemas.openxmlformats.org/drawingml/2006/main" xmlns:r="http://schemas.openxmlformats.org/officeDocument/2006/relationships" xmlns:p="http://schemas.openxmlformats.org/presentationml/2006/main">
  <p:tag name="PPTAGGERGROUP" val="1"/>
</p:tagLst>
</file>

<file path=ppt/tags/tag129.xml><?xml version="1.0" encoding="utf-8"?>
<p:tagLst xmlns:a="http://schemas.openxmlformats.org/drawingml/2006/main" xmlns:r="http://schemas.openxmlformats.org/officeDocument/2006/relationships" xmlns:p="http://schemas.openxmlformats.org/presentationml/2006/main">
  <p:tag name="PPTAGGERGROUP" val="1"/>
</p:tagLst>
</file>

<file path=ppt/tags/tag130.xml><?xml version="1.0" encoding="utf-8"?>
<p:tagLst xmlns:a="http://schemas.openxmlformats.org/drawingml/2006/main" xmlns:r="http://schemas.openxmlformats.org/officeDocument/2006/relationships" xmlns:p="http://schemas.openxmlformats.org/presentationml/2006/main">
  <p:tag name="PPTAGGERGROUP" val="1"/>
</p:tagLst>
</file>

<file path=ppt/tags/tag131.xml><?xml version="1.0" encoding="utf-8"?>
<p:tagLst xmlns:a="http://schemas.openxmlformats.org/drawingml/2006/main" xmlns:r="http://schemas.openxmlformats.org/officeDocument/2006/relationships" xmlns:p="http://schemas.openxmlformats.org/presentationml/2006/main">
  <p:tag name="PPTAGGERGROUP" val="1"/>
</p:tagLst>
</file>

<file path=ppt/tags/tag132.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7"/>
  <p:tag name="PPWINSEGMENT1SOURCERTF" val="{\rtf1\ansi\deff0{\fonttbl{\f0\fcharset0 Arial Narrow;}}{\colortbl\red0\green0\blue0;}{\f0\fs36\b\cf0 Router\par}}"/>
  <p:tag name="PPWINLASTSAVEDTRANSLATION" val="Routeur"/>
  <p:tag name="PPWINALREADYSEGMENTED" val="True"/>
  <p:tag name="PPWINTOTALSEGMENTS" val="1"/>
  <p:tag name="PPWINSEGMENT1TARGETRTF" val="{\rtf1\ansi\deff0{\fonttbl{\f0\fcharset0 Arial Narrow;}}{\colortbl\red0\green0\blue0;}{\f0\fs36\b\cf0 Routeur\par}}"/>
</p:tagLst>
</file>

<file path=ppt/tags/tag13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1"/>
  <p:tag name="PPWINSEGMENT1SOURCERTF" val="{\rtf1\ansi\deff0{\fonttbl{\f0\fcharset0 Arial Narrow;}}{\colortbl\red0\green0\blue0;}{\f0\fs36\b\cf0 NetBIOS \par}}"/>
  <p:tag name="PPWINSEGMENT2START" val="13"/>
  <p:tag name="PPWINSEGMENT2LENGTH" val="7"/>
  <p:tag name="PPWINSEGMENT2SOURCERTF" val="{\rtf1\ansi\deff0{\fonttbl{\f0\fcharset0 Arial Narrow;}}{\colortbl\red0\green0\blue0;}{\f0\fs36\b\cf0 Redirector\par}}"/>
  <p:tag name="PPWINLASTSAVEDTRANSLATION" val="Redirecteur&#10;NetBIOS"/>
  <p:tag name="PPWINALREADYSEGMENTED" val="True"/>
  <p:tag name="PPWINTOTALSEGMENTS" val="2"/>
  <p:tag name="PPWINSEGMENT1TARGETRTF" val="{\rtf1\ansi\deff0{\fonttbl{\f0\fcharset0 Arial Narrow;}}{\colortbl\red0\green0\blue0;}{\f0\fs36\b\cf0 Redirecteur\par}}"/>
  <p:tag name="PPWINSEGMENT2TARGETRTF" val="{\rtf1\ansi\deff0{\fonttbl{\f0\fcharset0 Arial Narrow;}}{\colortbl\red0\green0\blue0;}{\f0\fs36\b\cf0 NetBIOS\par}}"/>
</p:tagLst>
</file>

<file path=ppt/tags/tag134.xml><?xml version="1.0" encoding="utf-8"?>
<p:tagLst xmlns:a="http://schemas.openxmlformats.org/drawingml/2006/main" xmlns:r="http://schemas.openxmlformats.org/officeDocument/2006/relationships" xmlns:p="http://schemas.openxmlformats.org/presentationml/2006/main">
  <p:tag name="PPTAGGERGROUP" val="1"/>
</p:tagLst>
</file>

<file path=ppt/tags/tag135.xml><?xml version="1.0" encoding="utf-8"?>
<p:tagLst xmlns:a="http://schemas.openxmlformats.org/drawingml/2006/main" xmlns:r="http://schemas.openxmlformats.org/officeDocument/2006/relationships" xmlns:p="http://schemas.openxmlformats.org/presentationml/2006/main">
  <p:tag name="PPTAGGERGROUP" val="1"/>
</p:tagLst>
</file>

<file path=ppt/tags/tag13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9"/>
  <p:tag name="PPWINSEGMENT1SOURCERTF" val="{\rtf1\ansi\deff0{\fonttbl{\f0\fcharset0 Arial Narrow;}}{\colortbl\red0\green0\blue0;}{\f0\fs36\b\cf0 Broadcast\par}}"/>
  <p:tag name="PPWINSEGMENT2START" val="11"/>
  <p:tag name="PPWINSEGMENT2LENGTH" val="12"/>
  <p:tag name="PPWINSEGMENT2SOURCERTF" val="{\rtf1\ansi\deff0{\fonttbl{\f0\fcharset0 Arial Narrow;}}{\colortbl\red0\green0\blue0;}{\f0\fs36\b\cf0 is answered\par}}"/>
  <p:tag name="PPWINLASTSAVEDTRANSLATION" val="Diffusion&#10;avec réponse"/>
  <p:tag name="PPWINALREADYSEGMENTED" val="True"/>
  <p:tag name="PPWINTOTALSEGMENTS" val="2"/>
  <p:tag name="PPWINSEGMENT1TARGETRTF" val="{\rtf1\ansi\deff0{\fonttbl{\f0\fcharset0 Arial Narrow;}}{\colortbl\red0\green0\blue0;}{\f0\fs36\b\cf0 Diffusion\par}}"/>
  <p:tag name="PPWINSEGMENT2TARGETRTF" val="{\rtf1\ansi\deff0{\fonttbl{\f0\fcharset0 Arial Narrow;}}{\colortbl\red0\green0\blue0;}{\f0\fs36\b\cf0 avec r\'E9ponse\par}}"/>
</p:tagLst>
</file>

<file path=ppt/tags/tag137.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138.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139.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140.xml><?xml version="1.0" encoding="utf-8"?>
<p:tagLst xmlns:a="http://schemas.openxmlformats.org/drawingml/2006/main" xmlns:r="http://schemas.openxmlformats.org/officeDocument/2006/relationships" xmlns:p="http://schemas.openxmlformats.org/presentationml/2006/main">
  <p:tag name="PPTAGGERGROUP" val="1"/>
</p:tagLst>
</file>

<file path=ppt/tags/tag141.xml><?xml version="1.0" encoding="utf-8"?>
<p:tagLst xmlns:a="http://schemas.openxmlformats.org/drawingml/2006/main" xmlns:r="http://schemas.openxmlformats.org/officeDocument/2006/relationships" xmlns:p="http://schemas.openxmlformats.org/presentationml/2006/main">
  <p:tag name="PPTAGGERGROUP" val="1"/>
</p:tagLst>
</file>

<file path=ppt/tags/tag142.xml><?xml version="1.0" encoding="utf-8"?>
<p:tagLst xmlns:a="http://schemas.openxmlformats.org/drawingml/2006/main" xmlns:r="http://schemas.openxmlformats.org/officeDocument/2006/relationships" xmlns:p="http://schemas.openxmlformats.org/presentationml/2006/main">
  <p:tag name="PPTAGGERGROUP" val="1"/>
</p:tagLst>
</file>

<file path=ppt/tags/tag14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9"/>
  <p:tag name="PPWINSEGMENT1SOURCERTF" val="{\rtf1\ansi\deff0{\fonttbl{\f0\fcharset0 Arial Narrow;}}{\colortbl\red0\green0\blue0;}{\f0\fs36\b\cf0 Broadcast\par}}"/>
  <p:tag name="PPWINSEGMENT2START" val="11"/>
  <p:tag name="PPWINSEGMENT2LENGTH" val="12"/>
  <p:tag name="PPWINSEGMENT2SOURCERTF" val="{\rtf1\ansi\deff0{\fonttbl{\f0\fcharset0 Arial Narrow;}}{\colortbl\red0\green0\blue0;}{\f0\fs36\b\cf0 Fails\par}}"/>
  <p:tag name="PPWINLASTSAVEDTRANSLATION" val="Diffusion&#10;infructueuse"/>
  <p:tag name="PPWINALREADYSEGMENTED" val="True"/>
  <p:tag name="PPWINTOTALSEGMENTS" val="2"/>
  <p:tag name="PPWINSEGMENT1TARGETRTF" val="{\rtf1\ansi\deff0{\fonttbl{\f0\fcharset0 Arial Narrow;}}{\colortbl\red0\green0\blue0;}{\f0\fs36\b\cf0 Diffusion\par}}"/>
  <p:tag name="PPWINSEGMENT2TARGETRTF" val="{\rtf1\ansi\deff0{\fonttbl{\f0\fcharset0 Arial Narrow;}}{\colortbl\red0\green0\blue0;}{\f0\fs36\b\cf0 infructueuse\par}}"/>
</p:tagLst>
</file>

<file path=ppt/tags/tag144.xml><?xml version="1.0" encoding="utf-8"?>
<p:tagLst xmlns:a="http://schemas.openxmlformats.org/drawingml/2006/main" xmlns:r="http://schemas.openxmlformats.org/officeDocument/2006/relationships" xmlns:p="http://schemas.openxmlformats.org/presentationml/2006/main">
  <p:tag name="PPTAGGERGROUP" val="1"/>
  <p:tag name="PPWINDOWLASTEDITMARKER" val="1"/>
  <p:tag name="PPWINSEGMENT1START" val="1"/>
  <p:tag name="PPWINSEGMENT1LENGTH" val="158"/>
  <p:tag name="PPWINSEGMENT1SOURCERTF" val="{\rtf1\ansi\deff0{\fonttbl{\f0\fcharset0 Arial Narrow;}}{\colortbl\red0\green0\blue0;}{\f0\fs40\b\i\cf0 Local broadcasts}{\f0\fs40\b\cf0  are network messages, sent from a single computer, that are distributed to all other devices on the same segment of the network as the sending computer\par}}"/>
  <p:tag name="PPWINSEGMENT1TARGETRTF" val="{\rtf1\ansi\deff1{\fonttbl{\f1\fcharset0 Arial;}{\f2\fcharset0 Arial Narrow;}}{\colortbl\red0\green0\blue0;}{\f2\fs40\b\cf0 Les}{\f2\fs40\b\i\cf0  diffusions locales}{\f2\fs40\b\cf0  sont des messages r\'E9seau envoy\'E9s \'E0 partir d'un seul ordinateur et distribu\'E9s \'E0 tous les autres p\'E9riph\'E9riques du m\'EAme segment de r\'E9seau.\par}}"/>
  <p:tag name="PPWINLASTSAVEDTRANSLATION" val="Les diffusions locales sont des messages réseau envoyés à partir d'un seul ordinateur et distribués à tous les autres périphériques du même segment de réseau."/>
  <p:tag name="PPWINALREADYSEGMENTED" val="True"/>
  <p:tag name="PPWINTOTALSEGMENTS" val="1"/>
</p:tagLst>
</file>

<file path=ppt/tags/tag145.xml><?xml version="1.0" encoding="utf-8"?>
<p:tagLst xmlns:a="http://schemas.openxmlformats.org/drawingml/2006/main" xmlns:r="http://schemas.openxmlformats.org/officeDocument/2006/relationships" xmlns:p="http://schemas.openxmlformats.org/presentationml/2006/main">
  <p:tag name="PPTAGGERGROUP" val="1,2,1"/>
</p:tagLst>
</file>

<file path=ppt/tags/tag146.xml><?xml version="1.0" encoding="utf-8"?>
<p:tagLst xmlns:a="http://schemas.openxmlformats.org/drawingml/2006/main" xmlns:r="http://schemas.openxmlformats.org/officeDocument/2006/relationships" xmlns:p="http://schemas.openxmlformats.org/presentationml/2006/main">
  <p:tag name="PPTAGGERGROUP" val="1,2,1"/>
</p:tagLst>
</file>

<file path=ppt/tags/tag147.xml><?xml version="1.0" encoding="utf-8"?>
<p:tagLst xmlns:a="http://schemas.openxmlformats.org/drawingml/2006/main" xmlns:r="http://schemas.openxmlformats.org/officeDocument/2006/relationships" xmlns:p="http://schemas.openxmlformats.org/presentationml/2006/main">
  <p:tag name="PPTAGGERGROUP" val="1,2,1"/>
</p:tagLst>
</file>

<file path=ppt/tags/tag148.xml><?xml version="1.0" encoding="utf-8"?>
<p:tagLst xmlns:a="http://schemas.openxmlformats.org/drawingml/2006/main" xmlns:r="http://schemas.openxmlformats.org/officeDocument/2006/relationships" xmlns:p="http://schemas.openxmlformats.org/presentationml/2006/main">
  <p:tag name="PPTAGGERGROUP" val="1,2,1"/>
</p:tagLst>
</file>

<file path=ppt/tags/tag149.xml><?xml version="1.0" encoding="utf-8"?>
<p:tagLst xmlns:a="http://schemas.openxmlformats.org/drawingml/2006/main" xmlns:r="http://schemas.openxmlformats.org/officeDocument/2006/relationships" xmlns:p="http://schemas.openxmlformats.org/presentationml/2006/main">
  <p:tag name="PPTAGGERGROUP" val="1,2,1"/>
</p:tagLst>
</file>

<file path=ppt/tags/tag150.xml><?xml version="1.0" encoding="utf-8"?>
<p:tagLst xmlns:a="http://schemas.openxmlformats.org/drawingml/2006/main" xmlns:r="http://schemas.openxmlformats.org/officeDocument/2006/relationships" xmlns:p="http://schemas.openxmlformats.org/presentationml/2006/main">
  <p:tag name="PPTAGGERGROUP" val="1,2"/>
  <p:tag name="PPWINSEGMENT1START" val="1"/>
  <p:tag name="PPWINSEGMENT1LENGTH" val="9"/>
  <p:tag name="PPWINSEGMENT1SOURCERTF" val="{\rtf1\ansi\deff0{\fonttbl{\f0\fcharset0 Arial Narrow;}}{\colortbl\red0\green0\blue0;}{\f0\fs36\b\cf0 Broadcast\par}}"/>
  <p:tag name="PPWINLASTSAVEDTRANSLATION" val="Diffusion"/>
  <p:tag name="PPWINALREADYSEGMENTED" val="True"/>
  <p:tag name="PPWINTOTALSEGMENTS" val="1"/>
  <p:tag name="PPWINSEGMENT1TARGETRTF" val="{\rtf1\ansi\deff0{\fonttbl{\f0\fcharset0 Arial Narrow;}}{\colortbl\red0\green0\blue0;}{\f0\fs36\b\cf0 Diffusion\par}}"/>
</p:tagLst>
</file>

<file path=ppt/tags/tag151.xml><?xml version="1.0" encoding="utf-8"?>
<p:tagLst xmlns:a="http://schemas.openxmlformats.org/drawingml/2006/main" xmlns:r="http://schemas.openxmlformats.org/officeDocument/2006/relationships" xmlns:p="http://schemas.openxmlformats.org/presentationml/2006/main">
  <p:tag name="PPTAGGERGROUP" val="1,2"/>
</p:tagLst>
</file>

<file path=ppt/tags/tag152.xml><?xml version="1.0" encoding="utf-8"?>
<p:tagLst xmlns:a="http://schemas.openxmlformats.org/drawingml/2006/main" xmlns:r="http://schemas.openxmlformats.org/officeDocument/2006/relationships" xmlns:p="http://schemas.openxmlformats.org/presentationml/2006/main">
  <p:tag name="PPTAGGERGROUP" val="1,2"/>
</p:tagLst>
</file>

<file path=ppt/tags/tag15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60\b\cf0 Lmhosts File\par}}"/>
  <p:tag name="PPWINLASTSAVEDTRANSLATION" val="Fichier Lmhosts"/>
  <p:tag name="PPWINALREADYSEGMENTED" val="True"/>
  <p:tag name="PPWINTOTALSEGMENTS" val="1"/>
  <p:tag name="PPWINSEGMENT1TARGETRTF" val="{\rtf1\ansi\deff0{\fonttbl{\f0\fcharset0 Arial Narrow;}}{\colortbl\red0\green0\blue0;}{\f0\fs60\b\cf0 Fichier Lmhosts\par}}"/>
</p:tagLst>
</file>

<file path=ppt/tags/tag155.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Computer1\par}}"/>
  <p:tag name="PPWINLASTSAVEDTRANSLATION" val="Computer1"/>
  <p:tag name="PPWINALREADYSEGMENTED" val="True"/>
  <p:tag name="PPWINTOTALSEGMENTS" val="1"/>
  <p:tag name="PPWINSEGMENT1TARGETRTF" val="{\rtf1\ansi\deff0{\fonttbl{\f0\fcharset0 Arial Narrow;}}{\colortbl\red0\green0\blue0;}{\f0\fs36\b\cf0 Computer1\par}}"/>
</p:tagLst>
</file>

<file path=ppt/tags/tag15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6\b\cf0 Lmhosts File\par}}"/>
  <p:tag name="PPWINLASTSAVEDTRANSLATION" val="Fichier Lmhosts"/>
  <p:tag name="PPWINALREADYSEGMENTED" val="True"/>
  <p:tag name="PPWINTOTALSEGMENTS" val="1"/>
  <p:tag name="PPWINSEGMENT1TARGETRTF" val="{\rtf1\ansi\deff0{\fonttbl{\f0\fcharset0 Arial Narrow;}}{\colortbl\red0\green0\blue0;}{\f0\fs36\b\cf0 Fichier Lmhosts\par}}"/>
</p:tagLst>
</file>

<file path=ppt/tags/tag157.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28\cf0 # Copyright (c) 1993-1999 Microsoft Corp.\par}}"/>
  <p:tag name="PPWINSEGMENT1TARGETRTF" val="{\rtf1\ansi\deff0{\fonttbl{\f0\fcharset0 Arial Narrow;}}{\colortbl\red0\green0\blue0;}{\f0\fs28\cf0 # Copyright (c) 1993-1999 Microsoft Corp.\par}}"/>
  <p:tag name="PPWINSEGMENT2START" val="45"/>
  <p:tag name="PPWINSEGMENT2LENGTH" val="83"/>
  <p:tag name="PPWINSEGMENT2SOURCERTF" val="{\rtf1\ansi\deff0{\fonttbl{\f0\fcharset0 Arial Narrow;}}{\colortbl\red0\green0\blue0;}{\f0\fs28\cf0 # This is a sample LMHOSTS file used by the Microsoft TCP/IP for Windows.\par}}"/>
  <p:tag name="PPWINSEGMENT2TARGETRTF" val="{\rtf1\ansi\deff0{\fonttbl{\f0\fcharset0 Arial Narrow;}}{\colortbl\red0\green0\blue0;}{\f0\fs28\cf0 # Ceci est un exemple de fichier LMHOSTS utilis\'E9 par Microsoft TCP/IP pour Windows.\par}}"/>
  <p:tag name="PPWINSEGMENT3START" val="131"/>
  <p:tag name="PPWINSEGMENT3LENGTH" val="62"/>
  <p:tag name="PPWINSEGMENT3SOURCERTF" val="{\rtf1\ansi\deff0{\fonttbl{\f0\fcharset0 Arial Narrow;}}{\colortbl\red0\green0\blue0;}{\f0\fs28\cf0 # This file contains the mappings of IP addresses to computernames\par}}"/>
  <p:tag name="PPWINSEGMENT3TARGETRTF" val="{\rtf1\ansi\deff1{\fonttbl{\f1\fcharset0 Arial;}{\f2\fcharset0 Arial Narrow;}}{\colortbl\red0\green0\blue0;}{\f2\fs28\cf0 # Ce fichier contient les mappages adresse IP/nom d'ordinateur\par}}"/>
  <p:tag name="PPWINSEGMENT4START" val="194"/>
  <p:tag name="PPWINSEGMENT4LENGTH" val="16"/>
  <p:tag name="PPWINSEGMENT4SOURCERTF" val="{\rtf1\ansi\deff0{\fonttbl{\f0\fcharset0 Arial Narrow;}}{\colortbl\red0\green0\blue0;}{\f0\fs28\cf0 # (NetBIOS) names.\par}}"/>
  <p:tag name="PPWINSEGMENT4TARGETRTF" val="{\rtf1\ansi\deff1{\fonttbl{\f1\fcharset0 Arial;}{\f2\fcharset0 Arial Narrow;}}{\colortbl\red0\green0\blue0;}{\f2\fs28\cf0 # (nom NetBIOS).\par}}"/>
  <p:tag name="PPWINSEGMENT5START" val="212"/>
  <p:tag name="PPWINSEGMENT5LENGTH" val="54"/>
  <p:tag name="PPWINSEGMENT5SOURCERTF" val="{\rtf1\ansi\deff0{\fonttbl{\f0\fcharset0 Arial Narrow;}}{\colortbl\red0\green0\blue0;}{\f0\fs28\cf0 Each entry should be kept on an individual line.\par}}"/>
  <p:tag name="PPWINSEGMENT5TARGETRTF" val="{\rtf1\ansi\deff0{\fonttbl{\f0\fcharset0 Arial Narrow;}}{\colortbl\red0\green0\blue0;}{\f0\fs28\cf0 Chaque entr\'E9e doit se trouver sur une ligne distincte.\par}}"/>
  <p:tag name="PPWINSEGMENT6START" val="267"/>
  <p:tag name="PPWINSEGMENT6LENGTH" val="66"/>
  <p:tag name="PPWINSEGMENT6SOURCERTF" val="{\rtf1\ansi\deff0{\fonttbl{\f0\fcharset0 Arial Narrow;}}{\colortbl\red0\green0\blue0;}{\f0\fs28\cf0 # The IP address should be placed in the first column followed by the\par}}"/>
  <p:tag name="PPWINSEGMENT6TARGETRTF" val="{\rtf1\ansi\deff0{\fonttbl{\f0\fcharset0 Arial Narrow;}}{\colortbl\red0\green0\blue0;}{\f0\fs28\cf0 #L'adresse IP doit \'EAtre plac\'E9e dans la premi\'E8re colonne, suivie du\par}}"/>
  <p:tag name="PPWINSEGMENT7START" val="334"/>
  <p:tag name="PPWINSEGMENT7LENGTH" val="33"/>
  <p:tag name="PPWINSEGMENT7SOURCERTF" val="{\rtf1\ansi\deff0{\fonttbl{\f0\fcharset0 Arial Narrow;}}{\colortbl\red0\green0\blue0;}{\f0\fs28\cf0 # corresponding computername.\par}}"/>
  <p:tag name="PPWINSEGMENT7TARGETRTF" val="{\rtf1\ansi\deff0{\fonttbl{\f0\fcharset0 Arial Narrow;}}{\colortbl\red0\green0\blue0;}{\f0\fs28\cf0 # nom d'ordinateur correspondant.\par}}"/>
  <p:tag name="PPWINSEGMENT8START" val="368"/>
  <p:tag name="PPWINSEGMENT8LENGTH" val="33"/>
  <p:tag name="PPWINSEGMENT8SOURCERTF" val="{\rtf1\ansi\deff0{\fonttbl{\f0\fcharset0 Arial Narrow;}}{\colortbl\red0\green0\blue0;}{\f0\fs28\cf0 The address and the computername\par}}"/>
  <p:tag name="PPWINSEGMENT8TARGETRTF" val="{\rtf1\ansi\deff0{\fonttbl{\f0\fcharset0 Arial Narrow;}}{\colortbl\red0\green0\blue0;}{\f0\fs28\cf0 L'addresse et le nom d'ordinateur\par}}"/>
  <p:tag name="PPWINSEGMENT9START" val="402"/>
  <p:tag name="PPWINSEGMENT9LENGTH" val="64"/>
  <p:tag name="PPWINSEGMENT9SOURCERTF" val="{\rtf1\ansi\deff0{\fonttbl{\f0\fcharset0 Arial Narrow;}}{\colortbl\red0\green0\blue0;}{\f0\fs28\cf0 # should be separated by at least one space or tab.\par}}"/>
  <p:tag name="PPWINSEGMENT9TARGETRTF" val="{\rtf1\ansi\deff0{\fonttbl{\f0\fcharset0 Arial Narrow;}}{\colortbl\red0\green0\blue0;}{\f0\fs28\cf0 # doivent \'EAtre s\'E9par\'E9s par au moins un espace ou une tabulation.\par}}"/>
  <p:tag name="PPWINSEGMENT10START" val="467"/>
  <p:tag name="PPWINSEGMENT10LENGTH" val="16"/>
  <p:tag name="PPWINSEGMENT10SOURCERTF" val="{\rtf1\ansi\deff0{\fonttbl{\f0\fcharset0 Arial Narrow;}}{\colortbl\red0\green0\blue0;}{\f0\fs28\cf0 The &quot;#&quot; character\par}}"/>
  <p:tag name="PPWINSEGMENT10TARGETRTF" val="{\rtf1\ansi\deff0{\fonttbl{\f0\fcharset0 Arial Narrow;}}{\colortbl\red0\green0\blue0;}{\f0\fs28\cf0 Le caract\'E8re &quot;#&quot;\par}}"/>
  <p:tag name="PPWINSEGMENT11START" val="484"/>
  <p:tag name="PPWINSEGMENT11LENGTH" val="88"/>
  <p:tag name="PPWINSEGMENT11SOURCERTF" val="{\rtf1\ansi\deff0{\fonttbl{\f0\fcharset0 Arial Narrow;}}{\colortbl\red0\green0\blue0;}{\f0\fs28\cf0 # is generally used to denote the start of a comment (see the exceptions\par}}"/>
  <p:tag name="PPWINSEGMENT11TARGETRTF" val="{\rtf1\ansi\deff0{\fonttbl{\f0\fcharset0 Arial Narrow;}}{\colortbl\red0\green0\blue0;}{\f0\fs28\cf0 # est g\'E9n\'E9ralement utilis\'E9 pour signaler le d\'E9but d'un commentaire (voir les exceptions \par}}"/>
  <p:tag name="PPWINSEGMENT12START" val="573"/>
  <p:tag name="PPWINSEGMENT12LENGTH" val="14"/>
  <p:tag name="PPWINSEGMENT12SOURCERTF" val="{\rtf1\ansi\deff0{\fonttbl{\f0\fcharset0 Arial Narrow;}}{\colortbl\red0\green0\blue0;}{\f0\fs28\cf0 # below).\par}}"/>
  <p:tag name="PPWINSEGMENT12TARGETRTF" val="{\rtf1\ansi\deff0{\fonttbl{\f0\fcharset0 Arial Narrow;}}{\colortbl\red0\green0\blue0;}{\f0\fs28\cf0 # ci-dessous).\par}}"/>
  <p:tag name="PPWINSEGMENT13START" val="590"/>
  <p:tag name="PPWINSEGMENT13LENGTH" val="52"/>
  <p:tag name="PPWINSEGMENT13SOURCERTF" val="{\rtf1\ansi\deff0{\fonttbl{\f0\fcharset0 Arial Narrow;}}{\colortbl\red0\green0\blue0;}{\f0\fs28\cf0 # The following example illustrates all of these extensions:\par}}"/>
  <p:tag name="PPWINSEGMENT13TARGETRTF" val="{\rtf1\ansi\deff0{\fonttbl{\f0\fcharset0 Arial Narrow;}}{\colortbl\red0\green0\blue0;}{\f0\fs28\cf0 # L'exemple suivant illustre toutes ces extensions :\par}}"/>
  <p:tag name="PPWINSEGMENT14START" val="645"/>
  <p:tag name="PPWINSEGMENT14LENGTH" val="86"/>
  <p:tag name="PPWINSEGMENT14SOURCERTF" val="{\rtf1\ansi\deff0{\fonttbl{\f0\fcharset0 Arial Narrow;}}{\colortbl\red0\green0\blue0;}{\f0\fs28\cf0 # 102.54.94.97\'A0\'A0\'A0\'A0  rhino\'A0\'A0\'A0\'A0\'A0\'A0\'A0\'A0       #PRE #DOM:networking\'A0   #net group's DC\par}}"/>
  <p:tag name="PPWINSEGMENT14TARGETRTF" val="{\rtf1\ansi\deff0{\fonttbl{\f0\fcharset0 Arial Narrow;}}{\colortbl\red0\green0\blue0;}{\f0\fs28\cf0 # 102.54.94.97\'A0\'A0\'A0\'A0  rhino\'A0\'A0\'A0\'A0\'A0\'A0\'A0\'A0       #PRE #DOM:networking\'A0   #Cont. dom. groupe net\par}}"/>
  <p:tag name="PPWINSEGMENT15START" val="732"/>
  <p:tag name="PPWINSEGMENT15LENGTH" val="93"/>
  <p:tag name="PPWINSEGMENT15SOURCERTF" val="{\rtf1\ansi\deff0{\fonttbl{\f0\fcharset0 Arial Narrow;}}{\colortbl\red0\green0\blue0;}{\f0\fs28\cf0 # 102.54.94.102\'A0\'A0\'A0 &quot;appname\'A0 \\0x14&quot;\'A0\'A0\'A0\'A0\'A0\'A0\'A0\'A0\'A0\'A0\'A0\'A0\'A0\'A0\'A0\'A0\'A0\'A0                    #special app server\par}}"/>
  <p:tag name="PPWINSEGMENT15TARGETRTF" val="{\rtf1\ansi\deff0{\fonttbl{\f0\fcharset0 Arial Narrow;}}{\colortbl\red0\green0\blue0;}{\f0\fs28\cf0 # 102.54.94.102\'A0\'A0\'A0 &quot;appname\'A0 \\0x14&quot;\'A0\'A0\'A0\'A0\'A0\'A0\'A0\'A0\'A0\'A0\'A0\'A0\'A0\'A0\'A0\'A0\'A0\'A0                    #serveur app sp\'E9cial\par}}"/>
  <p:tag name="PPWINSEGMENT16START" val="826"/>
  <p:tag name="PPWINSEGMENT16LENGTH" val="90"/>
  <p:tag name="PPWINSEGMENT16SOURCERTF" val="{\rtf1\ansi\deff0{\fonttbl{\f0\fcharset0 Arial Narrow;}}{\colortbl\red0\green0\blue0;}{\f0\fs28\cf0 # 102.54.94.123\'A0\'A0\'A0 popular\'A0\'A0\'A0\'A0\'A0\'A0\'A0\'A0\'A0\'A0\'A0          #PRE\'A0\'A0\'A0\'A0\'A0\'A0\'A0\'A0\'A0\'A0\'A0\'A0            #source server\par}}"/>
  <p:tag name="PPWINSEGMENT16TARGETRTF" val="{\rtf1\ansi\deff0{\fonttbl{\f0\fcharset0 Arial Narrow;}}{\colortbl\red0\green0\blue0;}{\f0\fs28\cf0 # 102.54.94.123\'A0\'A0\'A0 popular\'A0\'A0\'A0\'A0\'A0\'A0\'A0\'A0\'A0\'A0\'A0          #PRE\'A0\'A0\'A0\'A0\'A0\'A0\'A0\'A0\'A0\'A0\'A0\'A0            #serveur source\par}}"/>
  <p:tag name="PPWINSEGMENT17START" val="917"/>
  <p:tag name="PPWINSEGMENT17LENGTH" val="96"/>
  <p:tag name="PPWINSEGMENT17SOURCERTF" val="{\rtf1\ansi\deff0{\fonttbl{\f0\fcharset0 Arial Narrow;}}{\colortbl\red0\green0\blue0;}{\f0\fs28\cf0 # 102.54.94.117\'A0\'A0\'A0 localsrv\'A0\'A0\'A0\'A0\'A0\'A0\'A0\'A0\'A0\'A0          #PRE\'A0\'A0\'A0\'A0\'A0\'A0\'A0\'A0\'A0\'A0\'A0\'A0             #needed for the include\par}}"/>
  <p:tag name="PPWINSEGMENT17TARGETRTF" val="{\rtf1\ansi\deff0{\fonttbl{\f0\fcharset0 Arial Narrow;}}{\colortbl\red0\green0\blue0;}{\f0\fs28\cf0 # 102.54.94.117\'A0\'A0\'A0 localsrv\'A0\'A0\'A0\'A0\'A0\'A0\'A0\'A0\'A0\'A0          #PRE\'A0\'A0\'A0\'A0\'A0\'A0\'A0\'A0\'A0\'A0\'A0\'A0             #requis pour include\par}}"/>
  <p:tag name="PPWINSEGMENT18START" val="1016"/>
  <p:tag name="PPWINSEGMENT18LENGTH" val="18"/>
  <p:tag name="PPWINSEGMENT18SOURCERTF" val="{\rtf1\ansi\deff0{\fonttbl{\f0\fcharset0 Arial Narrow;}}{\colortbl\red0\green0\blue0;}{\f0\fs28\cf0 # #BEGIN_ALTERNATE\par}}"/>
  <p:tag name="PPWINSEGMENT18TARGETRTF" val="{\rtf1\ansi\deff0{\fonttbl{\f0\fcharset0 Arial Narrow;}}{\colortbl\red0\green0\blue0;}{\f0\fs28\cf0 # #BEGIN_ALTERNATE\par}}"/>
  <p:tag name="PPWINSEGMENT19START" val="1035"/>
  <p:tag name="PPWINSEGMENT19LENGTH" val="36"/>
  <p:tag name="PPWINSEGMENT19SOURCERTF" val="{\rtf1\ansi\deff0{\fonttbl{\f0\fcharset0 Arial Narrow;}}{\colortbl\red0\green0\blue0;}{\f0\fs28\cf0 # #INCLUDE \\\\localsrv\\public\\lmhosts\par}}"/>
  <p:tag name="PPWINSEGMENT19TARGETRTF" val="{\rtf1\ansi\deff0{\fonttbl{\f0\fcharset0 Arial Narrow;}}{\colortbl\red0\green0\blue0;}{\f0\fs28\cf0 # #INCLUDE \\\\localsrv\\public\\lmhosts\par}}"/>
  <p:tag name="PPWINSEGMENT20START" val="1072"/>
  <p:tag name="PPWINSEGMENT20LENGTH" val="33"/>
  <p:tag name="PPWINSEGMENT20SOURCERTF" val="{\rtf1\ansi\deff0{\fonttbl{\f0\fcharset0 Arial Narrow;}}{\colortbl\red0\green0\blue0;}{\f0\fs28\cf0 # #INCLUDE \\\\rhino\\public\\lmhosts\par}}"/>
  <p:tag name="PPWINSEGMENT20TARGETRTF" val="{\rtf1\ansi\deff0{\fonttbl{\f0\fcharset0 Arial Narrow;}}{\colortbl\red0\green0\blue0;}{\f0\fs28\cf0 # #INCLUDE \\\\rhino\\public\\lmhosts\par}}"/>
  <p:tag name="PPWINSEGMENT21START" val="1106"/>
  <p:tag name="PPWINSEGMENT21LENGTH" val="16"/>
  <p:tag name="PPWINSEGMENT21SOURCERTF" val="{\rtf1\ansi\deff0{\fonttbl{\f0\fcharset0 Arial Narrow;}}{\colortbl\red0\green0\blue0;}{\f0\fs28\cf0 # #END_ALTERNATE\par}}"/>
  <p:tag name="PPWINSEGMENT21TARGETRTF" val="{\rtf1\ansi\deff0{\fonttbl{\f0\fcharset0 Arial Narrow;}}{\colortbl\red0\green0\blue0;}{\f0\fs28\cf0 # #END_ALTERNATE\par}}"/>
  <p:tag name="PPWINLASTSAVEDTRANSLATION" val="# Copyright (c) 1993-1999 Microsoft Corp.&#10;#&#10;# Ceci est un exemple de fichier LMHOSTS utilisé par Microsoft TCP/IP pour Windows.&#10;#&#10;# Ce fichier contient les mappages adresse IP/nom d'ordinateur&#10;# (nom NetBIOS).  Chaque entrée doit se trouver sur une ligne distincte.&#10;#L'adresse IP doit être placée dans la première colonne, suivie du&#10;# nom d'ordinateur correspondant. L'addresse et le nom d'ordinateur&#10;# doivent être séparés par au moins un espace ou une tabulation. Le caractère &quot;#&quot;&#10;# est généralement utilisé pour signaler le début d'un commentaire (voir les exceptions &#10;# ci-dessous).&#10;#&#10;# L'exemple suivant illustre toutes ces extensions :&#10;#&#10;# 102.54.94.97      rhino               #PRE #DOM:networking    #Cont. dom. groupe net&#10;# 102.54.94.102    &quot;appname  \0x14&quot;                                      #serveur app spécial&#10;# 102.54.94.123    popular                     #PRE                        #serveur source&#10;# 102.54.94.117    localsrv                    #PRE                         #requis pour include&#10;#&#10;# #BEGIN_ALTERNATE&#10;# #INCLUDE \\localsrv\public\lmhosts&#10;# #INCLUDE \\rhino\public\lmhosts&#10;# #END_ALTERNATE"/>
  <p:tag name="PPWINALREADYSEGMENTED" val="True"/>
  <p:tag name="PPWINTOTALSEGMENTS" val="21"/>
</p:tagLst>
</file>

<file path=ppt/tags/tag15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4"/>
  <p:tag name="PPWINSEGMENT1SOURCERTF" val="{\rtf1\ansi\deff0{\fonttbl{\f0\fcharset0 Arial Narrow;}}{\colortbl\red0\green0\blue0;}{\f0\fs40\b\cf0 An }{\f0\fs40\b\i\cf0 Lmhosts file}{\f0\fs40\b\cf0  is a local text file that maps NetBIOS names to IP addresses for hosts that are not located on the local subnet\par}}"/>
  <p:tag name="PPWINLASTSAVEDTRANSLATION" val="Un fichier Lmhosts est un fichier texte local qui mappe les noms NetBIOS à des adresses IP pour les hôtes qui ne sont pas situés sur le sous-réseau local."/>
  <p:tag name="PPWINALREADYSEGMENTED" val="True"/>
  <p:tag name="PPWINTOTALSEGMENTS" val="1"/>
  <p:tag name="PPWINSEGMENT1TARGETRTF" val="{\rtf1\ansi\deff0{\fonttbl{\f0\fcharset0 Arial Narrow;}}{\colortbl\red0\green0\blue0;}{\f0\fs40\b\cf0 Un }{\f0\fs40\b\i\cf0 fichier Lmhosts}{\f0\fs40\b\cf0  est un fichier texte local qui mappe les noms NetBIOS \'E0 des adresses IP pour les h\'F4tes qui ne sont pas situ\'E9s sur le sous-r\'E9seau local.\par}}"/>
</p:tagLst>
</file>

<file path=ppt/tags/tag15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0.xml><?xml version="1.0" encoding="utf-8"?>
<p:tagLst xmlns:a="http://schemas.openxmlformats.org/drawingml/2006/main" xmlns:r="http://schemas.openxmlformats.org/officeDocument/2006/relationships" xmlns:p="http://schemas.openxmlformats.org/presentationml/2006/main">
  <p:tag name="PPWINSEGMENT1START" val="1"/>
  <p:tag name="PPWINSEGMENT1LENGTH" val="75"/>
  <p:tag name="PPWINSEGMENT1SOURCERTF" val="{\rtf1\ansi\deff0{\fonttbl{\f0\fcharset0 Arial Narrow;}}{\colortbl\red0\green0\blue0;}{\f0\fs52\b\cf0 How to Preload a NetBIOS Name Cache by Using an Lmhosts File\par}}"/>
  <p:tag name="PPWINSEGMENT1TARGETRTF" val="{\rtf1\ansi\deff1{\fonttbl{\f1\fcharset0 Arial;}{\f2\fcharset0 Arial Narrow;}}{\colortbl\red0\green0\blue0;}{\f2\fs52\b\cf0 Comment pr\'E9charger un cache de noms NetBIOS en utilisant un fichier Lmhosts\par}}"/>
  <p:tag name="PPWINLASTSAVEDTRANSLATION" val="Comment précharger un cache de noms NetBIOS en utilisant un fichier Lmhosts"/>
  <p:tag name="PPWINALREADYSEGMENTED" val="True"/>
  <p:tag name="PPWINTOTALSEGMENTS" val="1"/>
</p:tagLst>
</file>

<file path=ppt/tags/tag16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4"/>
  <p:tag name="PPWINSEGMENT1SOURCERTF" val="{\rtf1\ansi\deff0{\fonttbl{\f0\fcharset0 Arial Narrow;}}{\colortbl\red0\green0\blue0;}{\f0\fs48\b\cf0 Your instructor will demonstrate how to preload a NetBIOS name cache by using an Lmhosts file \par}}"/>
  <p:tag name="PPWINSEGMENT1TARGETRTF" val="{\rtf1\ansi\deff1{\fonttbl{\f1\fcharset0 Arial;}{\f2\fcharset0 Arial Narrow;}}{\colortbl\red0\green0\blue0;}{\f2\fs48\b\cf0 L'instructeur va vous montrer comment pr\'E9charger un cache de noms NetBIOS au moyen d'un fichier Lmhosts.\par}}"/>
  <p:tag name="PPWINLASTSAVEDTRANSLATION" val="L'instructeur va vous montrer comment précharger un cache de noms NetBIOS au moyen d'un fichier Lmhosts."/>
  <p:tag name="PPWINALREADYSEGMENTED" val="True"/>
  <p:tag name="PPWINTOTALSEGMENTS" val="1"/>
</p:tagLst>
</file>

<file path=ppt/tags/tag162.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que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8021</TotalTime>
  <Words>1145</Words>
  <Application>Microsoft PowerPoint</Application>
  <PresentationFormat>Affichage à l'écran (4:3)</PresentationFormat>
  <Paragraphs>258</Paragraphs>
  <Slides>24</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Arial</vt:lpstr>
      <vt:lpstr>Arial Narrow</vt:lpstr>
      <vt:lpstr>Symbol</vt:lpstr>
      <vt:lpstr>Wingdings 2</vt:lpstr>
      <vt:lpstr>Wingdings</vt:lpstr>
      <vt:lpstr>Civil</vt:lpstr>
      <vt:lpstr>Chapitre 4   Résolution de noms</vt:lpstr>
      <vt:lpstr>Plan du cours</vt:lpstr>
      <vt:lpstr>1. Introduction au processus de résolution de noms</vt:lpstr>
      <vt:lpstr>2. Affichage de noms sur un client</vt:lpstr>
      <vt:lpstr>C’est quoi un nom d'hôte ?</vt:lpstr>
      <vt:lpstr>C’est quoi un nom NetBIOS ?</vt:lpstr>
      <vt:lpstr>Pourquoi les noms sont mappés à des adresses IP</vt:lpstr>
      <vt:lpstr>Service de résolution de noms</vt:lpstr>
      <vt:lpstr>Comment afficher les noms sur un client</vt:lpstr>
      <vt:lpstr>3. Configuration de la résolution de noms d'hôtes</vt:lpstr>
      <vt:lpstr>Processus de résolution de noms d'hôtes</vt:lpstr>
      <vt:lpstr>Cache de résolution client</vt:lpstr>
      <vt:lpstr>Comment afficher et vider le cache de résolution client</vt:lpstr>
      <vt:lpstr>Fichier Hosts</vt:lpstr>
      <vt:lpstr>Comment précharger un cache de résolution client en utilisant un fichier Hosts</vt:lpstr>
      <vt:lpstr>4. Configuration de la résolution de noms NetBIOS</vt:lpstr>
      <vt:lpstr>Processus de résolution de noms NetBIOS</vt:lpstr>
      <vt:lpstr>Cache de noms NetBIOS</vt:lpstr>
      <vt:lpstr>Comment afficher et libérer le cache de noms NetBIOS</vt:lpstr>
      <vt:lpstr>Diffusions</vt:lpstr>
      <vt:lpstr>Fichier Lmhosts</vt:lpstr>
      <vt:lpstr>Comment précharger un cache de noms NetBIOS en utilisant un fichier Lmhosts</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474</cp:revision>
  <dcterms:created xsi:type="dcterms:W3CDTF">2002-08-07T17:51:12Z</dcterms:created>
  <dcterms:modified xsi:type="dcterms:W3CDTF">2015-11-23T16:21:14Z</dcterms:modified>
</cp:coreProperties>
</file>