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theme/themeOverride1.xml" ContentType="application/vnd.openxmlformats-officedocument.themeOverride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notesSlides/notesSlide16.xml" ContentType="application/vnd.openxmlformats-officedocument.presentationml.notesSlide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tags/tag52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tags/tag59.xml" ContentType="application/vnd.openxmlformats-officedocument.presentationml.tags+xml"/>
  <Override PartName="/ppt/notesSlides/notesSlide17.xml" ContentType="application/vnd.openxmlformats-officedocument.presentationml.notesSlide+xml"/>
  <Override PartName="/ppt/tags/tag68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notesSlides/notesSlide15.xml" ContentType="application/vnd.openxmlformats-officedocument.presentationml.notesSlide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notesSlides/notesSlide13.xml" ContentType="application/vnd.openxmlformats-officedocument.presentationml.notesSlide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notesSlides/notesSlide14.xml" ContentType="application/vnd.openxmlformats-officedocument.presentationml.notesSlide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notesSlides/notesSlide9.xml" ContentType="application/vnd.openxmlformats-officedocument.presentationml.notesSlide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5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22"/>
  </p:notesMasterIdLst>
  <p:handoutMasterIdLst>
    <p:handoutMasterId r:id="rId23"/>
  </p:handoutMasterIdLst>
  <p:sldIdLst>
    <p:sldId id="627" r:id="rId2"/>
    <p:sldId id="447" r:id="rId3"/>
    <p:sldId id="633" r:id="rId4"/>
    <p:sldId id="604" r:id="rId5"/>
    <p:sldId id="605" r:id="rId6"/>
    <p:sldId id="592" r:id="rId7"/>
    <p:sldId id="615" r:id="rId8"/>
    <p:sldId id="630" r:id="rId9"/>
    <p:sldId id="631" r:id="rId10"/>
    <p:sldId id="632" r:id="rId11"/>
    <p:sldId id="607" r:id="rId12"/>
    <p:sldId id="608" r:id="rId13"/>
    <p:sldId id="609" r:id="rId14"/>
    <p:sldId id="594" r:id="rId15"/>
    <p:sldId id="602" r:id="rId16"/>
    <p:sldId id="597" r:id="rId17"/>
    <p:sldId id="622" r:id="rId18"/>
    <p:sldId id="611" r:id="rId19"/>
    <p:sldId id="624" r:id="rId20"/>
    <p:sldId id="634" r:id="rId21"/>
  </p:sldIdLst>
  <p:sldSz cx="9144000" cy="6858000" type="screen4x3"/>
  <p:notesSz cx="6997700" cy="9283700"/>
  <p:embeddedFontLst>
    <p:embeddedFont>
      <p:font typeface="Arial Narrow" pitchFamily="34" charset="0"/>
      <p:regular r:id="rId24"/>
      <p:bold r:id="rId25"/>
      <p:italic r:id="rId26"/>
      <p:boldItalic r:id="rId27"/>
    </p:embeddedFont>
    <p:embeddedFont>
      <p:font typeface="Georgia" pitchFamily="18" charset="0"/>
      <p:regular r:id="rId28"/>
      <p:bold r:id="rId29"/>
      <p:italic r:id="rId30"/>
      <p:boldItalic r:id="rId31"/>
    </p:embeddedFont>
    <p:embeddedFont>
      <p:font typeface="Wingdings 2" pitchFamily="18" charset="2"/>
      <p:regular r:id="rId32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jimcla" initials="" lastIdx="9" clrIdx="1"/>
  <p:cmAuthor id="2" name="Kelley Umphrey" initials="" lastIdx="41" clrIdx="2"/>
  <p:cmAuthor id="3" name="Chris" initials="" lastIdx="2" clrIdx="3"/>
  <p:cmAuthor id="4" name="eliree" initials="" lastIdx="15" clrIdx="4"/>
  <p:cmAuthor id="5" name="Elisem" initials="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DCC494"/>
    <a:srgbClr val="333333"/>
    <a:srgbClr val="DFD2FF"/>
    <a:srgbClr val="EEEFD7"/>
    <a:srgbClr val="D5D69C"/>
    <a:srgbClr val="DFE8F2"/>
    <a:srgbClr val="DEE7F1"/>
    <a:srgbClr val="ADE2A1"/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1920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892"/>
    </p:cViewPr>
  </p:sorterViewPr>
  <p:notesViewPr>
    <p:cSldViewPr snapToGrid="0">
      <p:cViewPr>
        <p:scale>
          <a:sx n="75" d="100"/>
          <a:sy n="75" d="100"/>
        </p:scale>
        <p:origin x="-1380" y="72"/>
      </p:cViewPr>
      <p:guideLst>
        <p:guide orient="horz" pos="2925"/>
        <p:guide pos="22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t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t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b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fld id="{DED99CCF-8F3A-4B62-B168-D50C68BF84E1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t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t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9513" y="696913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b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8" tIns="46355" rIns="92708" bIns="46355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fld id="{950B56F3-436B-4F51-9030-59AEE555A406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7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0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3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0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2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5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7BEED6F-EDD0-441B-8D03-E33368BF4A87}" type="slidenum">
              <a:rPr lang="en-US"/>
              <a:pPr/>
              <a:t>1</a:t>
            </a:fld>
            <a:endParaRPr lang="en-US"/>
          </a:p>
        </p:txBody>
      </p:sp>
      <p:sp>
        <p:nvSpPr>
          <p:cNvPr id="631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3C58250-7EC2-4DB6-AD5E-ABAE9D141E1F}" type="slidenum">
              <a:rPr lang="en-US"/>
              <a:pPr/>
              <a:t>2</a:t>
            </a:fld>
            <a:endParaRPr lang="en-US"/>
          </a:p>
        </p:txBody>
      </p:sp>
      <p:sp>
        <p:nvSpPr>
          <p:cNvPr id="471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FA05AA9-C52A-44E3-9240-EE5DF533FBA4}" type="slidenum">
              <a:rPr lang="en-US"/>
              <a:pPr/>
              <a:t>3</a:t>
            </a:fld>
            <a:endParaRPr lang="en-US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F9DA897-4393-4A94-9BFB-101863FB2A25}" type="slidenum">
              <a:rPr lang="en-US"/>
              <a:pPr/>
              <a:t>4</a:t>
            </a:fld>
            <a:endParaRPr lang="en-US"/>
          </a:p>
        </p:txBody>
      </p:sp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1E1542BF-9E55-431A-AE66-F6F267B68F23}" type="slidenum">
              <a:rPr lang="en-US"/>
              <a:pPr/>
              <a:t>5</a:t>
            </a:fld>
            <a:endParaRPr lang="en-US"/>
          </a:p>
        </p:txBody>
      </p:sp>
      <p:sp>
        <p:nvSpPr>
          <p:cNvPr id="57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752F9F5-46F4-4382-A144-8325A57067D2}" type="slidenum">
              <a:rPr lang="en-US"/>
              <a:pPr/>
              <a:t>6</a:t>
            </a:fld>
            <a:endParaRPr lang="en-US"/>
          </a:p>
        </p:txBody>
      </p:sp>
      <p:sp>
        <p:nvSpPr>
          <p:cNvPr id="53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2F57F52-5BB4-4B95-AB09-497C011ED5F6}" type="slidenum">
              <a:rPr lang="en-US"/>
              <a:pPr/>
              <a:t>7</a:t>
            </a:fld>
            <a:endParaRPr lang="en-US"/>
          </a:p>
        </p:txBody>
      </p:sp>
      <p:sp>
        <p:nvSpPr>
          <p:cNvPr id="635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A0B1B4A-68BC-49F5-91AC-6F951F02DAE9}" type="slidenum">
              <a:rPr lang="en-US"/>
              <a:pPr/>
              <a:t>8</a:t>
            </a:fld>
            <a:endParaRPr lang="en-US"/>
          </a:p>
        </p:txBody>
      </p:sp>
      <p:sp>
        <p:nvSpPr>
          <p:cNvPr id="640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644A83C-61A1-4111-A86C-2188CF90F1FB}" type="slidenum">
              <a:rPr lang="en-US"/>
              <a:pPr/>
              <a:t>9</a:t>
            </a:fld>
            <a:endParaRPr lang="en-US"/>
          </a:p>
        </p:txBody>
      </p:sp>
      <p:sp>
        <p:nvSpPr>
          <p:cNvPr id="62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EA09421-CE0C-41C7-BD28-2A582D846FCC}" type="slidenum">
              <a:rPr lang="en-US"/>
              <a:pPr/>
              <a:t>10</a:t>
            </a:fld>
            <a:endParaRPr lang="en-US"/>
          </a:p>
        </p:txBody>
      </p:sp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C39D6DEA-6917-46E2-9DF0-B086DA0F43FC}" type="slidenum">
              <a:rPr lang="en-US"/>
              <a:pPr/>
              <a:t>11</a:t>
            </a:fld>
            <a:endParaRPr lang="en-US"/>
          </a:p>
        </p:txBody>
      </p:sp>
      <p:sp>
        <p:nvSpPr>
          <p:cNvPr id="642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EBF47E47-8811-4AF1-8613-EAF0CAEBD289}" type="slidenum">
              <a:rPr lang="en-US"/>
              <a:pPr/>
              <a:t>12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FA95984-D5B9-4A38-B8E7-71C29D531CB3}" type="slidenum">
              <a:rPr lang="en-US"/>
              <a:pPr/>
              <a:t>13</a:t>
            </a:fld>
            <a:endParaRPr lang="en-US"/>
          </a:p>
        </p:txBody>
      </p:sp>
      <p:sp>
        <p:nvSpPr>
          <p:cNvPr id="57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06D812D-A4B5-4841-891F-0074FDF0CE71}" type="slidenum">
              <a:rPr lang="en-US"/>
              <a:pPr/>
              <a:t>14</a:t>
            </a:fld>
            <a:endParaRPr lang="en-US"/>
          </a:p>
        </p:txBody>
      </p:sp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0EDC204-619F-4949-9B7B-5F94C806A245}" type="slidenum">
              <a:rPr lang="en-US"/>
              <a:pPr/>
              <a:t>15</a:t>
            </a:fld>
            <a:endParaRPr lang="en-US"/>
          </a:p>
        </p:txBody>
      </p:sp>
      <p:sp>
        <p:nvSpPr>
          <p:cNvPr id="55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GB" sz="8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CE4ED68F-3E26-4F2A-9547-97625549A81D}" type="slidenum">
              <a:rPr lang="en-US"/>
              <a:pPr/>
              <a:t>16</a:t>
            </a:fld>
            <a:endParaRPr lang="en-US"/>
          </a:p>
        </p:txBody>
      </p:sp>
      <p:sp>
        <p:nvSpPr>
          <p:cNvPr id="64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A9C49D6-4A42-435E-9892-641887622275}" type="slidenum">
              <a:rPr lang="en-US"/>
              <a:pPr/>
              <a:t>17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CDEE665-FF1D-44D8-A2C7-99CD2B81FEE8}" type="slidenum">
              <a:rPr lang="en-US"/>
              <a:pPr/>
              <a:t>18</a:t>
            </a:fld>
            <a:endParaRPr lang="en-US"/>
          </a:p>
        </p:txBody>
      </p:sp>
      <p:sp>
        <p:nvSpPr>
          <p:cNvPr id="58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GB" sz="8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1CA6630-400C-4C3F-A03B-87E04345A192}" type="slidenum">
              <a:rPr lang="en-US"/>
              <a:pPr/>
              <a:t>19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GB" sz="8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705B-4640-4BDF-8241-0B3E1E622193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A2F84-EAC6-4733-9837-55FDD2C31CFF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DD3-A8B2-452B-AD1B-AF4A82BA9C87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4BD1C52-B6E1-45DE-B92C-E565BD240BCC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339FF-E19B-4945-8EDF-D2A91FDD765E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F4BB5-BA35-433A-8CE9-03CC505BC832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C50C-5E1A-445E-9C29-0A0DB73C0974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4B4B1-73F4-433E-AABE-574D2E6F3882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1176309-B50D-473C-B5E1-6DE2D223F52A}" type="datetime1">
              <a:rPr lang="en-US" smtClean="0"/>
              <a:pPr/>
              <a:t>12/29/2015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8985B-CF0B-4043-8D44-2AA83F9B9FFF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C30D6-7CDB-4346-84F3-CC06A3CBA4DA}" type="datetime1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5C2EBE0A-6E9B-4414-BA2E-4A4D49E087FB}" type="datetime1">
              <a:rPr lang="en-US" smtClean="0"/>
              <a:pPr algn="r" eaLnBrk="1" latinLnBrk="0" hangingPunct="1"/>
              <a:t>12/29/2015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Activation%20du%20nettoyage%20automatique%20des%20enregistrements%20de%20ressources%20obsol&#232;tes%20%20sur%20un%20serveur%20DNS.wmv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D&#233;finition%20des%20param&#232;tres%20et%20vieillissement%20et%20de%20nettoyage%20pour%20une%20zone%20DNS.wmv" TargetMode="Externa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hyperlink" Target="D&#233;finition%20des%20param&#232;tres%20de%20vieillissement%20et%20de%20nettoyage%20pour%20un%20serveur%20DNS.wmv" TargetMode="Externa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44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45697" y="2032000"/>
            <a:ext cx="7102475" cy="3200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lnSpc>
                <a:spcPct val="95000"/>
              </a:lnSpc>
              <a:buClr>
                <a:srgbClr val="DC0081"/>
              </a:buClr>
              <a:buFont typeface="Wingdings" pitchFamily="2" charset="2"/>
              <a:buNone/>
            </a:pPr>
            <a:r>
              <a:rPr lang="en-GB" sz="5000" dirty="0" err="1" smtClean="0">
                <a:solidFill>
                  <a:srgbClr val="000000"/>
                </a:solidFill>
              </a:rPr>
              <a:t>Chapitre</a:t>
            </a:r>
            <a:r>
              <a:rPr lang="en-GB" sz="5000" dirty="0" smtClean="0">
                <a:solidFill>
                  <a:srgbClr val="000000"/>
                </a:solidFill>
              </a:rPr>
              <a:t> </a:t>
            </a:r>
            <a:r>
              <a:rPr lang="en-GB" sz="5000" dirty="0">
                <a:solidFill>
                  <a:srgbClr val="000000"/>
                </a:solidFill>
              </a:rPr>
              <a:t>6 </a:t>
            </a:r>
            <a:endParaRPr lang="en-US" sz="5000" dirty="0" smtClean="0">
              <a:solidFill>
                <a:schemeClr val="tx2"/>
              </a:solidFill>
            </a:endParaRPr>
          </a:p>
          <a:p>
            <a:pPr>
              <a:lnSpc>
                <a:spcPct val="95000"/>
              </a:lnSpc>
              <a:buClr>
                <a:srgbClr val="DC0081"/>
              </a:buClr>
              <a:buFont typeface="Wingdings" pitchFamily="2" charset="2"/>
              <a:buNone/>
            </a:pPr>
            <a:r>
              <a:rPr lang="en-GB" sz="5000" dirty="0" err="1" smtClean="0">
                <a:solidFill>
                  <a:srgbClr val="000000"/>
                </a:solidFill>
              </a:rPr>
              <a:t>Gestion</a:t>
            </a:r>
            <a:r>
              <a:rPr lang="en-GB" sz="5000" dirty="0" smtClean="0">
                <a:solidFill>
                  <a:srgbClr val="000000"/>
                </a:solidFill>
              </a:rPr>
              <a:t> </a:t>
            </a:r>
            <a:r>
              <a:rPr lang="en-GB" sz="5000" dirty="0">
                <a:solidFill>
                  <a:srgbClr val="000000"/>
                </a:solidFill>
              </a:rPr>
              <a:t>et analyse du </a:t>
            </a:r>
            <a:r>
              <a:rPr lang="en-GB" sz="5000" dirty="0" err="1">
                <a:solidFill>
                  <a:srgbClr val="000000"/>
                </a:solidFill>
              </a:rPr>
              <a:t>système</a:t>
            </a:r>
            <a:r>
              <a:rPr lang="en-GB" sz="5000" dirty="0">
                <a:solidFill>
                  <a:srgbClr val="000000"/>
                </a:solidFill>
              </a:rPr>
              <a:t> DNS</a:t>
            </a:r>
            <a:endParaRPr lang="en-US" sz="5000" dirty="0">
              <a:solidFill>
                <a:srgbClr val="00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104578" y="159659"/>
            <a:ext cx="4934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 smtClean="0"/>
              <a:t>Module S43</a:t>
            </a:r>
            <a:endParaRPr lang="fr-FR" sz="5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0000"/>
                </a:solidFill>
              </a:rPr>
              <a:t>Plan du </a:t>
            </a:r>
            <a:r>
              <a:rPr lang="en-GB" b="1" dirty="0" err="1" smtClean="0">
                <a:solidFill>
                  <a:srgbClr val="000000"/>
                </a:solidFill>
              </a:rPr>
              <a:t>cours</a:t>
            </a:r>
            <a:endParaRPr lang="en-US" b="1" dirty="0"/>
          </a:p>
        </p:txBody>
      </p:sp>
      <p:sp>
        <p:nvSpPr>
          <p:cNvPr id="32563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514350" indent="-514350">
              <a:buClrTx/>
              <a:buFont typeface="+mj-lt"/>
              <a:buAutoNum type="arabicPeriod"/>
            </a:pPr>
            <a:r>
              <a:rPr lang="en-GB" sz="2800" dirty="0" err="1" smtClean="0">
                <a:solidFill>
                  <a:srgbClr val="000000"/>
                </a:solidFill>
              </a:rPr>
              <a:t>Fonctionnement</a:t>
            </a:r>
            <a:r>
              <a:rPr lang="en-GB" sz="2800" dirty="0" smtClean="0">
                <a:solidFill>
                  <a:srgbClr val="000000"/>
                </a:solidFill>
              </a:rPr>
              <a:t> </a:t>
            </a:r>
            <a:r>
              <a:rPr lang="en-GB" sz="2800" dirty="0">
                <a:solidFill>
                  <a:srgbClr val="000000"/>
                </a:solidFill>
              </a:rPr>
              <a:t>de la </a:t>
            </a:r>
            <a:r>
              <a:rPr lang="en-GB" sz="2800" dirty="0" err="1">
                <a:solidFill>
                  <a:srgbClr val="000000"/>
                </a:solidFill>
              </a:rPr>
              <a:t>valeur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durée</a:t>
            </a:r>
            <a:r>
              <a:rPr lang="en-GB" sz="2800" dirty="0">
                <a:solidFill>
                  <a:srgbClr val="000000"/>
                </a:solidFill>
              </a:rPr>
              <a:t> de vie</a:t>
            </a:r>
            <a:endParaRPr lang="en-US" sz="2800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en-GB" sz="2800" dirty="0">
                <a:solidFill>
                  <a:srgbClr val="000000"/>
                </a:solidFill>
              </a:rPr>
              <a:t>Configuration des </a:t>
            </a:r>
            <a:r>
              <a:rPr lang="en-GB" sz="2800" dirty="0" err="1">
                <a:solidFill>
                  <a:srgbClr val="000000"/>
                </a:solidFill>
              </a:rPr>
              <a:t>paramètres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vieillissement</a:t>
            </a:r>
            <a:r>
              <a:rPr lang="en-GB" sz="2800" dirty="0">
                <a:solidFill>
                  <a:srgbClr val="000000"/>
                </a:solidFill>
              </a:rPr>
              <a:t> et de </a:t>
            </a:r>
            <a:r>
              <a:rPr lang="en-GB" sz="2800" dirty="0" err="1">
                <a:solidFill>
                  <a:srgbClr val="000000"/>
                </a:solidFill>
              </a:rPr>
              <a:t>nettoyage</a:t>
            </a:r>
            <a:endParaRPr lang="en-US" sz="2800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en-GB" sz="2800" dirty="0" smtClean="0">
                <a:solidFill>
                  <a:srgbClr val="000000"/>
                </a:solidFill>
              </a:rPr>
              <a:t>Test </a:t>
            </a:r>
            <a:r>
              <a:rPr lang="en-GB" sz="2800" dirty="0">
                <a:solidFill>
                  <a:srgbClr val="000000"/>
                </a:solidFill>
              </a:rPr>
              <a:t>de la configuration du </a:t>
            </a:r>
            <a:r>
              <a:rPr lang="en-GB" sz="2800" dirty="0" err="1">
                <a:solidFill>
                  <a:srgbClr val="000000"/>
                </a:solidFill>
              </a:rPr>
              <a:t>serveur</a:t>
            </a:r>
            <a:r>
              <a:rPr lang="en-GB" sz="2800" dirty="0">
                <a:solidFill>
                  <a:srgbClr val="000000"/>
                </a:solidFill>
              </a:rPr>
              <a:t> DNS</a:t>
            </a:r>
            <a:endParaRPr lang="en-US" sz="2800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en-GB" sz="2800" dirty="0" err="1">
                <a:solidFill>
                  <a:srgbClr val="000000"/>
                </a:solidFill>
              </a:rPr>
              <a:t>Vérification</a:t>
            </a:r>
            <a:r>
              <a:rPr lang="en-GB" sz="2800" dirty="0">
                <a:solidFill>
                  <a:srgbClr val="000000"/>
                </a:solidFill>
              </a:rPr>
              <a:t> de la </a:t>
            </a:r>
            <a:r>
              <a:rPr lang="en-GB" sz="2800" dirty="0" err="1">
                <a:solidFill>
                  <a:srgbClr val="000000"/>
                </a:solidFill>
              </a:rPr>
              <a:t>présence</a:t>
            </a:r>
            <a:r>
              <a:rPr lang="en-GB" sz="2800" dirty="0">
                <a:solidFill>
                  <a:srgbClr val="000000"/>
                </a:solidFill>
              </a:rPr>
              <a:t> d'un </a:t>
            </a:r>
            <a:r>
              <a:rPr lang="en-GB" sz="2800" dirty="0" err="1">
                <a:solidFill>
                  <a:srgbClr val="000000"/>
                </a:solidFill>
              </a:rPr>
              <a:t>enregistrement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ressource</a:t>
            </a:r>
            <a:r>
              <a:rPr lang="en-GB" sz="2800" dirty="0">
                <a:solidFill>
                  <a:srgbClr val="000000"/>
                </a:solidFill>
              </a:rPr>
              <a:t> à </a:t>
            </a:r>
            <a:r>
              <a:rPr lang="en-GB" sz="2800" dirty="0" err="1">
                <a:solidFill>
                  <a:srgbClr val="000000"/>
                </a:solidFill>
              </a:rPr>
              <a:t>l'aide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Nslookup</a:t>
            </a:r>
            <a:r>
              <a:rPr lang="en-GB" sz="2800" dirty="0">
                <a:solidFill>
                  <a:srgbClr val="000000"/>
                </a:solidFill>
              </a:rPr>
              <a:t>, de </a:t>
            </a:r>
            <a:r>
              <a:rPr lang="en-GB" sz="2800" dirty="0" err="1">
                <a:solidFill>
                  <a:srgbClr val="000000"/>
                </a:solidFill>
              </a:rPr>
              <a:t>DNSCmd</a:t>
            </a:r>
            <a:r>
              <a:rPr lang="en-GB" sz="2800" dirty="0">
                <a:solidFill>
                  <a:srgbClr val="000000"/>
                </a:solidFill>
              </a:rPr>
              <a:t> et de </a:t>
            </a:r>
            <a:r>
              <a:rPr lang="en-GB" sz="2800" dirty="0" err="1">
                <a:solidFill>
                  <a:srgbClr val="000000"/>
                </a:solidFill>
              </a:rPr>
              <a:t>DNSLint</a:t>
            </a:r>
            <a:endParaRPr lang="en-US" sz="2800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en-GB" sz="2800" dirty="0">
                <a:solidFill>
                  <a:srgbClr val="000000"/>
                </a:solidFill>
              </a:rPr>
              <a:t>Analyse des performances du </a:t>
            </a:r>
            <a:r>
              <a:rPr lang="en-GB" sz="2800" dirty="0" err="1">
                <a:solidFill>
                  <a:srgbClr val="000000"/>
                </a:solidFill>
              </a:rPr>
              <a:t>serveur</a:t>
            </a:r>
            <a:r>
              <a:rPr lang="en-GB" sz="2800" dirty="0">
                <a:solidFill>
                  <a:srgbClr val="000000"/>
                </a:solidFill>
              </a:rPr>
              <a:t> DNS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2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373740"/>
            <a:ext cx="9144000" cy="758952"/>
          </a:xfrm>
        </p:spPr>
        <p:txBody>
          <a:bodyPr vert="horz" anchor="b">
            <a:noAutofit/>
          </a:bodyPr>
          <a:lstStyle/>
          <a:p>
            <a:r>
              <a:rPr lang="fr-FR" dirty="0" smtClean="0"/>
              <a:t>1. Fonctionnement </a:t>
            </a:r>
            <a:r>
              <a:rPr lang="fr-FR" dirty="0"/>
              <a:t>de la valeur de durée de vie</a:t>
            </a:r>
            <a:endParaRPr lang="en-US" dirty="0"/>
          </a:p>
        </p:txBody>
      </p:sp>
      <p:sp>
        <p:nvSpPr>
          <p:cNvPr id="534638" name="AutoShape 1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3200" y="1233488"/>
            <a:ext cx="8737600" cy="693737"/>
          </a:xfrm>
          <a:prstGeom prst="roundRect">
            <a:avLst>
              <a:gd name="adj" fmla="val 36569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200">
                <a:solidFill>
                  <a:srgbClr val="000000"/>
                </a:solidFill>
              </a:rPr>
              <a:t>La valeur de </a:t>
            </a:r>
            <a:r>
              <a:rPr lang="en-GB" sz="2200" i="1">
                <a:solidFill>
                  <a:srgbClr val="000000"/>
                </a:solidFill>
              </a:rPr>
              <a:t>durée de vie</a:t>
            </a:r>
            <a:r>
              <a:rPr lang="en-GB" sz="2200">
                <a:solidFill>
                  <a:srgbClr val="000000"/>
                </a:solidFill>
              </a:rPr>
              <a:t> est un délai exprimé en secondes qui figure dans les enregistrements DNS retournés par une requête DNS</a:t>
            </a:r>
            <a:endParaRPr lang="en-US" sz="2200"/>
          </a:p>
        </p:txBody>
      </p:sp>
      <p:grpSp>
        <p:nvGrpSpPr>
          <p:cNvPr id="2" name="Group 142"/>
          <p:cNvGrpSpPr>
            <a:grpSpLocks/>
          </p:cNvGrpSpPr>
          <p:nvPr/>
        </p:nvGrpSpPr>
        <p:grpSpPr bwMode="auto">
          <a:xfrm>
            <a:off x="150153" y="4225929"/>
            <a:ext cx="8805863" cy="825046"/>
            <a:chOff x="762" y="2838"/>
            <a:chExt cx="5547" cy="343"/>
          </a:xfrm>
        </p:grpSpPr>
        <p:sp>
          <p:nvSpPr>
            <p:cNvPr id="534671" name="AutoShape 143"/>
            <p:cNvSpPr>
              <a:spLocks noChangeArrowheads="1"/>
            </p:cNvSpPr>
            <p:nvPr/>
          </p:nvSpPr>
          <p:spPr bwMode="auto">
            <a:xfrm>
              <a:off x="878" y="2838"/>
              <a:ext cx="5431" cy="34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200" dirty="0">
                  <a:solidFill>
                    <a:srgbClr val="000000"/>
                  </a:solidFill>
                </a:rPr>
                <a:t>Les </a:t>
              </a:r>
              <a:r>
                <a:rPr lang="en-GB" sz="2200" dirty="0" err="1">
                  <a:solidFill>
                    <a:srgbClr val="000000"/>
                  </a:solidFill>
                </a:rPr>
                <a:t>enregistrements</a:t>
              </a:r>
              <a:r>
                <a:rPr lang="en-GB" sz="2200" dirty="0">
                  <a:solidFill>
                    <a:srgbClr val="000000"/>
                  </a:solidFill>
                </a:rPr>
                <a:t> de la zone </a:t>
              </a:r>
              <a:r>
                <a:rPr lang="en-GB" sz="2200" dirty="0" err="1">
                  <a:solidFill>
                    <a:srgbClr val="000000"/>
                  </a:solidFill>
                </a:rPr>
                <a:t>sont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envoyés</a:t>
              </a:r>
              <a:r>
                <a:rPr lang="en-GB" sz="2200" dirty="0">
                  <a:solidFill>
                    <a:srgbClr val="000000"/>
                  </a:solidFill>
                </a:rPr>
                <a:t> à </a:t>
              </a:r>
              <a:r>
                <a:rPr lang="en-GB" sz="2200" dirty="0" err="1">
                  <a:solidFill>
                    <a:srgbClr val="000000"/>
                  </a:solidFill>
                </a:rPr>
                <a:t>d'autres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serveurs</a:t>
              </a:r>
              <a:r>
                <a:rPr lang="en-GB" sz="2200" dirty="0">
                  <a:solidFill>
                    <a:srgbClr val="000000"/>
                  </a:solidFill>
                </a:rPr>
                <a:t> et clients DNS en </a:t>
              </a:r>
              <a:r>
                <a:rPr lang="en-GB" sz="2200" dirty="0" err="1">
                  <a:solidFill>
                    <a:srgbClr val="000000"/>
                  </a:solidFill>
                </a:rPr>
                <a:t>réponse</a:t>
              </a:r>
              <a:r>
                <a:rPr lang="en-GB" sz="2200" dirty="0">
                  <a:solidFill>
                    <a:srgbClr val="000000"/>
                  </a:solidFill>
                </a:rPr>
                <a:t> aux </a:t>
              </a:r>
              <a:r>
                <a:rPr lang="en-GB" sz="2200" dirty="0" err="1">
                  <a:solidFill>
                    <a:srgbClr val="000000"/>
                  </a:solidFill>
                </a:rPr>
                <a:t>requêtes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534672" name="AutoShape 144"/>
            <p:cNvSpPr>
              <a:spLocks noChangeArrowheads="1"/>
            </p:cNvSpPr>
            <p:nvPr/>
          </p:nvSpPr>
          <p:spPr bwMode="auto">
            <a:xfrm>
              <a:off x="762" y="2888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3" name="Group 145"/>
          <p:cNvGrpSpPr>
            <a:grpSpLocks/>
          </p:cNvGrpSpPr>
          <p:nvPr/>
        </p:nvGrpSpPr>
        <p:grpSpPr bwMode="auto">
          <a:xfrm>
            <a:off x="150153" y="5165270"/>
            <a:ext cx="8819676" cy="756557"/>
            <a:chOff x="762" y="3256"/>
            <a:chExt cx="4123" cy="343"/>
          </a:xfrm>
        </p:grpSpPr>
        <p:sp>
          <p:nvSpPr>
            <p:cNvPr id="534674" name="AutoShape 146"/>
            <p:cNvSpPr>
              <a:spLocks noChangeArrowheads="1"/>
            </p:cNvSpPr>
            <p:nvPr/>
          </p:nvSpPr>
          <p:spPr bwMode="auto">
            <a:xfrm>
              <a:off x="878" y="3256"/>
              <a:ext cx="4007" cy="34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200" dirty="0">
                  <a:solidFill>
                    <a:srgbClr val="000000"/>
                  </a:solidFill>
                </a:rPr>
                <a:t>Les </a:t>
              </a:r>
              <a:r>
                <a:rPr lang="en-GB" sz="2200" dirty="0" err="1">
                  <a:solidFill>
                    <a:srgbClr val="000000"/>
                  </a:solidFill>
                </a:rPr>
                <a:t>serveurs</a:t>
              </a:r>
              <a:r>
                <a:rPr lang="en-GB" sz="2200" dirty="0">
                  <a:solidFill>
                    <a:srgbClr val="000000"/>
                  </a:solidFill>
                </a:rPr>
                <a:t> et clients DNS qui </a:t>
              </a:r>
              <a:r>
                <a:rPr lang="en-GB" sz="2200" dirty="0" err="1">
                  <a:solidFill>
                    <a:srgbClr val="000000"/>
                  </a:solidFill>
                </a:rPr>
                <a:t>stockent</a:t>
              </a:r>
              <a:r>
                <a:rPr lang="en-GB" sz="2200" dirty="0">
                  <a:solidFill>
                    <a:srgbClr val="000000"/>
                  </a:solidFill>
                </a:rPr>
                <a:t> un </a:t>
              </a:r>
              <a:r>
                <a:rPr lang="en-GB" sz="2200" dirty="0" err="1">
                  <a:solidFill>
                    <a:srgbClr val="000000"/>
                  </a:solidFill>
                </a:rPr>
                <a:t>enregistrement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dans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leur</a:t>
              </a:r>
              <a:r>
                <a:rPr lang="en-GB" sz="2200" dirty="0">
                  <a:solidFill>
                    <a:srgbClr val="000000"/>
                  </a:solidFill>
                </a:rPr>
                <a:t> cache </a:t>
              </a:r>
              <a:r>
                <a:rPr lang="en-GB" sz="2200" dirty="0" err="1">
                  <a:solidFill>
                    <a:srgbClr val="000000"/>
                  </a:solidFill>
                </a:rPr>
                <a:t>conservent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celui-ci</a:t>
              </a:r>
              <a:r>
                <a:rPr lang="en-GB" sz="2200" dirty="0">
                  <a:solidFill>
                    <a:srgbClr val="000000"/>
                  </a:solidFill>
                </a:rPr>
                <a:t> pendant </a:t>
              </a:r>
              <a:r>
                <a:rPr lang="en-GB" sz="2200" dirty="0" err="1">
                  <a:solidFill>
                    <a:srgbClr val="000000"/>
                  </a:solidFill>
                </a:rPr>
                <a:t>sa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période</a:t>
              </a:r>
              <a:r>
                <a:rPr lang="en-GB" sz="2200" dirty="0">
                  <a:solidFill>
                    <a:srgbClr val="000000"/>
                  </a:solidFill>
                </a:rPr>
                <a:t> de </a:t>
              </a:r>
              <a:r>
                <a:rPr lang="en-GB" sz="2200" dirty="0" err="1">
                  <a:solidFill>
                    <a:srgbClr val="000000"/>
                  </a:solidFill>
                </a:rPr>
                <a:t>durée</a:t>
              </a:r>
              <a:r>
                <a:rPr lang="en-GB" sz="2200" dirty="0">
                  <a:solidFill>
                    <a:srgbClr val="000000"/>
                  </a:solidFill>
                </a:rPr>
                <a:t> de vie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534675" name="AutoShape 147"/>
            <p:cNvSpPr>
              <a:spLocks noChangeArrowheads="1"/>
            </p:cNvSpPr>
            <p:nvPr/>
          </p:nvSpPr>
          <p:spPr bwMode="auto">
            <a:xfrm>
              <a:off x="762" y="3306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4" name="Group 148"/>
          <p:cNvGrpSpPr>
            <a:grpSpLocks/>
          </p:cNvGrpSpPr>
          <p:nvPr/>
        </p:nvGrpSpPr>
        <p:grpSpPr bwMode="auto">
          <a:xfrm>
            <a:off x="150153" y="6075583"/>
            <a:ext cx="8805161" cy="659039"/>
            <a:chOff x="762" y="3674"/>
            <a:chExt cx="4123" cy="343"/>
          </a:xfrm>
        </p:grpSpPr>
        <p:sp>
          <p:nvSpPr>
            <p:cNvPr id="534677" name="AutoShape 149"/>
            <p:cNvSpPr>
              <a:spLocks noChangeArrowheads="1"/>
            </p:cNvSpPr>
            <p:nvPr/>
          </p:nvSpPr>
          <p:spPr bwMode="auto">
            <a:xfrm>
              <a:off x="878" y="3674"/>
              <a:ext cx="4007" cy="34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sz="2200" dirty="0">
                  <a:solidFill>
                    <a:srgbClr val="000000"/>
                  </a:solidFill>
                </a:rPr>
                <a:t>À </a:t>
              </a:r>
              <a:r>
                <a:rPr lang="en-GB" sz="2200" dirty="0" err="1">
                  <a:solidFill>
                    <a:srgbClr val="000000"/>
                  </a:solidFill>
                </a:rPr>
                <a:t>l'expiration</a:t>
              </a:r>
              <a:r>
                <a:rPr lang="en-GB" sz="2200" dirty="0">
                  <a:solidFill>
                    <a:srgbClr val="000000"/>
                  </a:solidFill>
                </a:rPr>
                <a:t> de la </a:t>
              </a:r>
              <a:r>
                <a:rPr lang="en-GB" sz="2200" dirty="0" err="1">
                  <a:solidFill>
                    <a:srgbClr val="000000"/>
                  </a:solidFill>
                </a:rPr>
                <a:t>durée</a:t>
              </a:r>
              <a:r>
                <a:rPr lang="en-GB" sz="2200" dirty="0">
                  <a:solidFill>
                    <a:srgbClr val="000000"/>
                  </a:solidFill>
                </a:rPr>
                <a:t> de vie, </a:t>
              </a:r>
              <a:r>
                <a:rPr lang="en-GB" sz="2200" dirty="0" err="1">
                  <a:solidFill>
                    <a:srgbClr val="000000"/>
                  </a:solidFill>
                </a:rPr>
                <a:t>l'enregistrement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>
                  <a:solidFill>
                    <a:srgbClr val="000000"/>
                  </a:solidFill>
                </a:rPr>
                <a:t>est</a:t>
              </a:r>
              <a:r>
                <a:rPr lang="en-GB" sz="2200" dirty="0">
                  <a:solidFill>
                    <a:srgbClr val="000000"/>
                  </a:solidFill>
                </a:rPr>
                <a:t> </a:t>
              </a:r>
              <a:r>
                <a:rPr lang="en-GB" sz="2200" dirty="0" err="1" smtClean="0">
                  <a:solidFill>
                    <a:srgbClr val="000000"/>
                  </a:solidFill>
                </a:rPr>
                <a:t>supprimé</a:t>
              </a:r>
              <a:r>
                <a:rPr lang="en-GB" sz="2200" dirty="0" smtClean="0">
                  <a:solidFill>
                    <a:srgbClr val="000000"/>
                  </a:solidFill>
                </a:rPr>
                <a:t> du </a:t>
              </a:r>
              <a:r>
                <a:rPr lang="en-GB" sz="2200" dirty="0">
                  <a:solidFill>
                    <a:srgbClr val="000000"/>
                  </a:solidFill>
                </a:rPr>
                <a:t>cache</a:t>
              </a:r>
              <a:endParaRPr lang="en-US" sz="2200" dirty="0">
                <a:solidFill>
                  <a:srgbClr val="000000"/>
                </a:solidFill>
              </a:endParaRPr>
            </a:p>
          </p:txBody>
        </p:sp>
        <p:sp>
          <p:nvSpPr>
            <p:cNvPr id="534678" name="AutoShape 150"/>
            <p:cNvSpPr>
              <a:spLocks noChangeArrowheads="1"/>
            </p:cNvSpPr>
            <p:nvPr/>
          </p:nvSpPr>
          <p:spPr bwMode="auto">
            <a:xfrm>
              <a:off x="762" y="3724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200">
                  <a:solidFill>
                    <a:srgbClr val="990033"/>
                  </a:solidFill>
                </a:rPr>
                <a:t>3</a:t>
              </a:r>
            </a:p>
          </p:txBody>
        </p:sp>
      </p:grpSp>
      <p:pic>
        <p:nvPicPr>
          <p:cNvPr id="534679" name="Picture 151" descr="Server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95700" y="2055813"/>
            <a:ext cx="1228725" cy="1477962"/>
          </a:xfrm>
          <a:prstGeom prst="rect">
            <a:avLst/>
          </a:prstGeom>
          <a:noFill/>
        </p:spPr>
      </p:pic>
      <p:pic>
        <p:nvPicPr>
          <p:cNvPr id="534680" name="Picture 152" descr="Computer_DesktopComputerSansKeyboard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35038" y="2089150"/>
            <a:ext cx="1150937" cy="1436688"/>
          </a:xfrm>
          <a:prstGeom prst="rect">
            <a:avLst/>
          </a:prstGeom>
          <a:noFill/>
        </p:spPr>
      </p:pic>
      <p:pic>
        <p:nvPicPr>
          <p:cNvPr id="534681" name="Picture 153" descr="Server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04000" y="2068513"/>
            <a:ext cx="1228725" cy="1477962"/>
          </a:xfrm>
          <a:prstGeom prst="rect">
            <a:avLst/>
          </a:prstGeom>
          <a:noFill/>
        </p:spPr>
      </p:pic>
      <p:pic>
        <p:nvPicPr>
          <p:cNvPr id="534682" name="Picture 154" descr="Database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23138" y="3036888"/>
            <a:ext cx="1028700" cy="688975"/>
          </a:xfrm>
          <a:prstGeom prst="rect">
            <a:avLst/>
          </a:prstGeom>
          <a:noFill/>
        </p:spPr>
      </p:pic>
      <p:sp>
        <p:nvSpPr>
          <p:cNvPr id="534683" name="Text Box 155"/>
          <p:cNvSpPr txBox="1">
            <a:spLocks noChangeArrowheads="1"/>
          </p:cNvSpPr>
          <p:nvPr/>
        </p:nvSpPr>
        <p:spPr bwMode="auto">
          <a:xfrm>
            <a:off x="7546975" y="3033713"/>
            <a:ext cx="5810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Zone</a:t>
            </a:r>
          </a:p>
        </p:txBody>
      </p:sp>
      <p:sp>
        <p:nvSpPr>
          <p:cNvPr id="534684" name="AutoShape 156"/>
          <p:cNvSpPr>
            <a:spLocks noChangeArrowheads="1"/>
          </p:cNvSpPr>
          <p:nvPr/>
        </p:nvSpPr>
        <p:spPr bwMode="auto">
          <a:xfrm>
            <a:off x="7135813" y="3630613"/>
            <a:ext cx="1187450" cy="688975"/>
          </a:xfrm>
          <a:prstGeom prst="roundRect">
            <a:avLst>
              <a:gd name="adj" fmla="val 11060"/>
            </a:avLst>
          </a:prstGeom>
          <a:noFill/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Durée de vie 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définie sur la zone</a:t>
            </a:r>
            <a:r>
              <a:rPr lang="en-GB"/>
              <a:t> </a:t>
            </a:r>
            <a:endParaRPr lang="en-US"/>
          </a:p>
        </p:txBody>
      </p:sp>
      <p:grpSp>
        <p:nvGrpSpPr>
          <p:cNvPr id="5" name="Group 157"/>
          <p:cNvGrpSpPr>
            <a:grpSpLocks/>
          </p:cNvGrpSpPr>
          <p:nvPr/>
        </p:nvGrpSpPr>
        <p:grpSpPr bwMode="auto">
          <a:xfrm>
            <a:off x="2120900" y="2649538"/>
            <a:ext cx="4406900" cy="0"/>
            <a:chOff x="1336" y="1672"/>
            <a:chExt cx="2776" cy="0"/>
          </a:xfrm>
        </p:grpSpPr>
        <p:sp>
          <p:nvSpPr>
            <p:cNvPr id="534686" name="Line 158"/>
            <p:cNvSpPr>
              <a:spLocks noChangeShapeType="1"/>
            </p:cNvSpPr>
            <p:nvPr/>
          </p:nvSpPr>
          <p:spPr bwMode="auto">
            <a:xfrm>
              <a:off x="1336" y="1672"/>
              <a:ext cx="968" cy="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534687" name="Line 159"/>
            <p:cNvSpPr>
              <a:spLocks noChangeShapeType="1"/>
            </p:cNvSpPr>
            <p:nvPr/>
          </p:nvSpPr>
          <p:spPr bwMode="auto">
            <a:xfrm>
              <a:off x="3144" y="1672"/>
              <a:ext cx="968" cy="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  <p:sp>
        <p:nvSpPr>
          <p:cNvPr id="534688" name="Line 160"/>
          <p:cNvSpPr>
            <a:spLocks noChangeShapeType="1"/>
          </p:cNvSpPr>
          <p:nvPr/>
        </p:nvSpPr>
        <p:spPr bwMode="auto">
          <a:xfrm flipH="1">
            <a:off x="2120900" y="2933700"/>
            <a:ext cx="15367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4689" name="Line 161"/>
          <p:cNvSpPr>
            <a:spLocks noChangeShapeType="1"/>
          </p:cNvSpPr>
          <p:nvPr/>
        </p:nvSpPr>
        <p:spPr bwMode="auto">
          <a:xfrm flipH="1">
            <a:off x="4991100" y="2933700"/>
            <a:ext cx="1536700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4690" name="AutoShape 162"/>
          <p:cNvSpPr>
            <a:spLocks noChangeArrowheads="1"/>
          </p:cNvSpPr>
          <p:nvPr/>
        </p:nvSpPr>
        <p:spPr bwMode="auto">
          <a:xfrm>
            <a:off x="3606800" y="3576638"/>
            <a:ext cx="1371600" cy="358775"/>
          </a:xfrm>
          <a:prstGeom prst="roundRect">
            <a:avLst>
              <a:gd name="adj" fmla="val 398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Server1 DNS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34691" name="AutoShape 163"/>
          <p:cNvSpPr>
            <a:spLocks noChangeArrowheads="1"/>
          </p:cNvSpPr>
          <p:nvPr/>
        </p:nvSpPr>
        <p:spPr bwMode="auto">
          <a:xfrm>
            <a:off x="763588" y="3632200"/>
            <a:ext cx="1339850" cy="303213"/>
          </a:xfrm>
          <a:prstGeom prst="roundRect">
            <a:avLst>
              <a:gd name="adj" fmla="val 3755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Client DNS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34692" name="AutoShape 164"/>
          <p:cNvSpPr>
            <a:spLocks noChangeArrowheads="1"/>
          </p:cNvSpPr>
          <p:nvPr/>
        </p:nvSpPr>
        <p:spPr bwMode="auto">
          <a:xfrm>
            <a:off x="5434013" y="3386138"/>
            <a:ext cx="1533525" cy="549275"/>
          </a:xfrm>
          <a:prstGeom prst="roundRect">
            <a:avLst>
              <a:gd name="adj" fmla="val 6356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Server2 DNS</a:t>
            </a:r>
            <a:endParaRPr lang="en-US"/>
          </a:p>
          <a:p>
            <a:pPr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faisant autorité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34693" name="AutoShape 165"/>
          <p:cNvSpPr>
            <a:spLocks noChangeArrowheads="1"/>
          </p:cNvSpPr>
          <p:nvPr/>
        </p:nvSpPr>
        <p:spPr bwMode="auto">
          <a:xfrm>
            <a:off x="1866900" y="3084513"/>
            <a:ext cx="908050" cy="358775"/>
          </a:xfrm>
          <a:prstGeom prst="roundRect">
            <a:avLst>
              <a:gd name="adj" fmla="val 11060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sz="2200"/>
              <a:t>Cache </a:t>
            </a:r>
          </a:p>
        </p:txBody>
      </p:sp>
      <p:sp>
        <p:nvSpPr>
          <p:cNvPr id="534694" name="AutoShape 166"/>
          <p:cNvSpPr>
            <a:spLocks noChangeArrowheads="1"/>
          </p:cNvSpPr>
          <p:nvPr/>
        </p:nvSpPr>
        <p:spPr bwMode="auto">
          <a:xfrm>
            <a:off x="4359275" y="3084513"/>
            <a:ext cx="908050" cy="358775"/>
          </a:xfrm>
          <a:prstGeom prst="roundRect">
            <a:avLst>
              <a:gd name="adj" fmla="val 11060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sz="2200"/>
              <a:t>Cache </a:t>
            </a:r>
          </a:p>
        </p:txBody>
      </p:sp>
      <p:pic>
        <p:nvPicPr>
          <p:cNvPr id="534703" name="Picture 175" descr="Document_Writing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76725" y="2268538"/>
            <a:ext cx="504825" cy="822325"/>
          </a:xfrm>
          <a:prstGeom prst="rect">
            <a:avLst/>
          </a:prstGeom>
          <a:noFill/>
        </p:spPr>
      </p:pic>
      <p:sp>
        <p:nvSpPr>
          <p:cNvPr id="534704" name="AutoShape 176"/>
          <p:cNvSpPr>
            <a:spLocks noChangeArrowheads="1"/>
          </p:cNvSpPr>
          <p:nvPr/>
        </p:nvSpPr>
        <p:spPr bwMode="auto">
          <a:xfrm>
            <a:off x="4419600" y="2001838"/>
            <a:ext cx="1739900" cy="523875"/>
          </a:xfrm>
          <a:prstGeom prst="roundRect">
            <a:avLst>
              <a:gd name="adj" fmla="val 3981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Enregistrement 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de ressource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534705" name="Picture 177" descr="Document_Writing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57325" y="2255838"/>
            <a:ext cx="504825" cy="822325"/>
          </a:xfrm>
          <a:prstGeom prst="rect">
            <a:avLst/>
          </a:prstGeom>
          <a:noFill/>
        </p:spPr>
      </p:pic>
      <p:sp>
        <p:nvSpPr>
          <p:cNvPr id="534706" name="AutoShape 178"/>
          <p:cNvSpPr>
            <a:spLocks noChangeArrowheads="1"/>
          </p:cNvSpPr>
          <p:nvPr/>
        </p:nvSpPr>
        <p:spPr bwMode="auto">
          <a:xfrm>
            <a:off x="1600200" y="2000250"/>
            <a:ext cx="1739900" cy="552450"/>
          </a:xfrm>
          <a:prstGeom prst="roundRect">
            <a:avLst>
              <a:gd name="adj" fmla="val 3981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Enregistrement 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de ressource</a:t>
            </a:r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534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53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53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3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3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53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53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3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3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5346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534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1000"/>
                                        <p:tgtEl>
                                          <p:spTgt spid="534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" dur="1000"/>
                                        <p:tgtEl>
                                          <p:spTgt spid="534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534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534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4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534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638" grpId="0" animBg="1"/>
      <p:bldP spid="534688" grpId="0" animBg="1"/>
      <p:bldP spid="534688" grpId="1" animBg="1"/>
      <p:bldP spid="534689" grpId="0" animBg="1"/>
      <p:bldP spid="534689" grpId="1" animBg="1"/>
      <p:bldP spid="534693" grpId="0" animBg="1"/>
      <p:bldP spid="534693" grpId="1" animBg="1"/>
      <p:bldP spid="534694" grpId="0" animBg="1"/>
      <p:bldP spid="534694" grpId="1" animBg="1"/>
      <p:bldP spid="534704" grpId="0" animBg="1"/>
      <p:bldP spid="534704" grpId="1" animBg="1"/>
      <p:bldP spid="534706" grpId="0" animBg="1"/>
      <p:bldP spid="53470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4515"/>
            <a:ext cx="9144000" cy="1291772"/>
          </a:xfrm>
          <a:noFill/>
        </p:spPr>
        <p:txBody>
          <a:bodyPr vert="horz" anchor="b">
            <a:normAutofit/>
          </a:bodyPr>
          <a:lstStyle/>
          <a:p>
            <a:r>
              <a:rPr lang="fr-FR" sz="3000" dirty="0" smtClean="0">
                <a:solidFill>
                  <a:srgbClr val="000000"/>
                </a:solidFill>
              </a:rPr>
              <a:t>2. Configuration des paramètres de vieillissement et de nettoyage</a:t>
            </a:r>
            <a:endParaRPr lang="en-US" sz="3000" dirty="0" smtClean="0">
              <a:solidFill>
                <a:srgbClr val="000000"/>
              </a:solidFill>
            </a:endParaRPr>
          </a:p>
        </p:txBody>
      </p:sp>
      <p:sp>
        <p:nvSpPr>
          <p:cNvPr id="56934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01751" y="2267276"/>
            <a:ext cx="8503920" cy="2246666"/>
          </a:xfrm>
        </p:spPr>
        <p:txBody>
          <a:bodyPr vert="horz">
            <a:normAutofit lnSpcReduction="10000"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333333"/>
                </a:solidFill>
              </a:rPr>
              <a:t>Définition</a:t>
            </a:r>
            <a:r>
              <a:rPr lang="en-GB" sz="2800" dirty="0">
                <a:solidFill>
                  <a:srgbClr val="333333"/>
                </a:solidFill>
              </a:rPr>
              <a:t> des </a:t>
            </a:r>
            <a:r>
              <a:rPr lang="en-GB" sz="2800" dirty="0" err="1">
                <a:solidFill>
                  <a:srgbClr val="333333"/>
                </a:solidFill>
              </a:rPr>
              <a:t>paramètres</a:t>
            </a:r>
            <a:r>
              <a:rPr lang="en-GB" sz="2800" dirty="0">
                <a:solidFill>
                  <a:srgbClr val="333333"/>
                </a:solidFill>
              </a:rPr>
              <a:t> de </a:t>
            </a:r>
            <a:r>
              <a:rPr lang="en-GB" sz="2800" dirty="0" err="1">
                <a:solidFill>
                  <a:srgbClr val="333333"/>
                </a:solidFill>
              </a:rPr>
              <a:t>vieillissement</a:t>
            </a:r>
            <a:r>
              <a:rPr lang="en-GB" sz="2800" dirty="0">
                <a:solidFill>
                  <a:srgbClr val="333333"/>
                </a:solidFill>
              </a:rPr>
              <a:t> et de </a:t>
            </a:r>
            <a:r>
              <a:rPr lang="en-GB" sz="2800" dirty="0" err="1">
                <a:solidFill>
                  <a:srgbClr val="333333"/>
                </a:solidFill>
              </a:rPr>
              <a:t>nettoyage</a:t>
            </a:r>
            <a:endParaRPr lang="en-US" sz="2800" dirty="0">
              <a:solidFill>
                <a:srgbClr val="333333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333333"/>
                </a:solidFill>
              </a:rPr>
              <a:t>Fonctionnement</a:t>
            </a:r>
            <a:r>
              <a:rPr lang="en-GB" sz="2800" dirty="0">
                <a:solidFill>
                  <a:srgbClr val="333333"/>
                </a:solidFill>
              </a:rPr>
              <a:t> du </a:t>
            </a:r>
            <a:r>
              <a:rPr lang="en-GB" sz="2800" dirty="0" err="1">
                <a:solidFill>
                  <a:srgbClr val="333333"/>
                </a:solidFill>
              </a:rPr>
              <a:t>vieillissement</a:t>
            </a:r>
            <a:r>
              <a:rPr lang="en-GB" sz="2800" dirty="0">
                <a:solidFill>
                  <a:srgbClr val="333333"/>
                </a:solidFill>
              </a:rPr>
              <a:t> et du </a:t>
            </a:r>
            <a:r>
              <a:rPr lang="en-GB" sz="2800" dirty="0" err="1">
                <a:solidFill>
                  <a:srgbClr val="333333"/>
                </a:solidFill>
              </a:rPr>
              <a:t>nettoyage</a:t>
            </a:r>
            <a:endParaRPr lang="en-US" sz="2800" dirty="0">
              <a:solidFill>
                <a:srgbClr val="333333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GB" sz="2800" dirty="0">
                <a:solidFill>
                  <a:srgbClr val="333333"/>
                </a:solidFill>
              </a:rPr>
              <a:t>Comment </a:t>
            </a:r>
            <a:r>
              <a:rPr lang="en-GB" sz="2800" dirty="0" err="1">
                <a:solidFill>
                  <a:srgbClr val="333333"/>
                </a:solidFill>
              </a:rPr>
              <a:t>configurer</a:t>
            </a:r>
            <a:r>
              <a:rPr lang="en-GB" sz="2800" dirty="0">
                <a:solidFill>
                  <a:srgbClr val="333333"/>
                </a:solidFill>
              </a:rPr>
              <a:t> le </a:t>
            </a:r>
            <a:r>
              <a:rPr lang="en-GB" sz="2800" dirty="0" err="1">
                <a:solidFill>
                  <a:srgbClr val="333333"/>
                </a:solidFill>
              </a:rPr>
              <a:t>vieillissement</a:t>
            </a:r>
            <a:r>
              <a:rPr lang="en-GB" sz="2800" dirty="0">
                <a:solidFill>
                  <a:srgbClr val="333333"/>
                </a:solidFill>
              </a:rPr>
              <a:t> et le </a:t>
            </a:r>
            <a:r>
              <a:rPr lang="en-GB" sz="2800" dirty="0" err="1">
                <a:solidFill>
                  <a:srgbClr val="333333"/>
                </a:solidFill>
              </a:rPr>
              <a:t>nettoyage</a:t>
            </a:r>
            <a:endParaRPr lang="en-US" sz="2800" dirty="0">
              <a:solidFill>
                <a:srgbClr val="333333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4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7083" y="185057"/>
            <a:ext cx="9056917" cy="903513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Définition des paramètres de vieillissement et de nettoyage</a:t>
            </a:r>
            <a:endParaRPr lang="en-US" sz="3000" dirty="0">
              <a:solidFill>
                <a:srgbClr val="C00000"/>
              </a:solidFill>
            </a:endParaRPr>
          </a:p>
        </p:txBody>
      </p:sp>
      <p:graphicFrame>
        <p:nvGraphicFramePr>
          <p:cNvPr id="570561" name="Group 193"/>
          <p:cNvGraphicFramePr>
            <a:graphicFrameLocks noGrp="1"/>
          </p:cNvGraphicFramePr>
          <p:nvPr/>
        </p:nvGraphicFramePr>
        <p:xfrm>
          <a:off x="100240" y="4726942"/>
          <a:ext cx="8927647" cy="1995488"/>
        </p:xfrm>
        <a:graphic>
          <a:graphicData uri="http://schemas.openxmlformats.org/drawingml/2006/table">
            <a:tbl>
              <a:tblPr/>
              <a:tblGrid>
                <a:gridCol w="2134960"/>
                <a:gridCol w="4891314"/>
                <a:gridCol w="1901373"/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Paramètre</a:t>
                      </a:r>
                      <a:endParaRPr kumimoji="0" lang="en-US" sz="2400" b="1" i="0" u="sng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Description</a:t>
                      </a:r>
                      <a:endParaRPr kumimoji="0" lang="en-US" sz="2400" b="1" i="0" u="sng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Exemple</a:t>
                      </a:r>
                      <a:endParaRPr kumimoji="0" lang="en-US" sz="24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Intervalle de </a:t>
                      </a:r>
                      <a:br>
                        <a:rPr kumimoji="0" lang="en-GB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en-GB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non-actualisation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Période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durant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laquelle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serveur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DNS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n'accepte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pas les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tentatives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d'actualisation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7 jours (par défaut)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Intervalle d'actualisation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Période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durant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laquelle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serveur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DNS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accepte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les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tentatives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d'actualisation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7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jours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(par </a:t>
                      </a:r>
                      <a:r>
                        <a:rPr kumimoji="0" lang="en-GB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défaut</a:t>
                      </a:r>
                      <a:r>
                        <a:rPr kumimoji="0" lang="en-GB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)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570498" name="AutoShape 13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1428" y="1451432"/>
            <a:ext cx="8773885" cy="104003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400" dirty="0">
                <a:solidFill>
                  <a:srgbClr val="000000"/>
                </a:solidFill>
              </a:rPr>
              <a:t>Le </a:t>
            </a:r>
            <a:r>
              <a:rPr lang="en-GB" sz="2400" i="1" dirty="0" err="1">
                <a:solidFill>
                  <a:srgbClr val="000000"/>
                </a:solidFill>
              </a:rPr>
              <a:t>vieillissement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est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processus</a:t>
            </a:r>
            <a:r>
              <a:rPr lang="en-GB" sz="2400" dirty="0">
                <a:solidFill>
                  <a:srgbClr val="000000"/>
                </a:solidFill>
              </a:rPr>
              <a:t> qui </a:t>
            </a:r>
            <a:r>
              <a:rPr lang="en-GB" sz="2400" dirty="0" err="1">
                <a:solidFill>
                  <a:srgbClr val="000000"/>
                </a:solidFill>
              </a:rPr>
              <a:t>détermine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si</a:t>
            </a:r>
            <a:r>
              <a:rPr lang="en-GB" sz="2400" dirty="0">
                <a:solidFill>
                  <a:srgbClr val="000000"/>
                </a:solidFill>
              </a:rPr>
              <a:t> un </a:t>
            </a:r>
            <a:r>
              <a:rPr lang="en-GB" sz="2400" dirty="0" err="1">
                <a:solidFill>
                  <a:srgbClr val="000000"/>
                </a:solidFill>
              </a:rPr>
              <a:t>enregistrement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ressource</a:t>
            </a:r>
            <a:r>
              <a:rPr lang="en-GB" sz="2400" dirty="0">
                <a:solidFill>
                  <a:srgbClr val="000000"/>
                </a:solidFill>
              </a:rPr>
              <a:t> DNS </a:t>
            </a:r>
            <a:r>
              <a:rPr lang="en-GB" sz="2400" dirty="0" err="1">
                <a:solidFill>
                  <a:srgbClr val="000000"/>
                </a:solidFill>
              </a:rPr>
              <a:t>obsolète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doit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être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supprimé</a:t>
            </a:r>
            <a:r>
              <a:rPr lang="en-GB" sz="2400" dirty="0">
                <a:solidFill>
                  <a:srgbClr val="000000"/>
                </a:solidFill>
              </a:rPr>
              <a:t> de la base de </a:t>
            </a:r>
            <a:r>
              <a:rPr lang="en-GB" sz="2400" dirty="0" err="1">
                <a:solidFill>
                  <a:srgbClr val="000000"/>
                </a:solidFill>
              </a:rPr>
              <a:t>données</a:t>
            </a:r>
            <a:r>
              <a:rPr lang="en-GB" sz="2400" dirty="0">
                <a:solidFill>
                  <a:srgbClr val="000000"/>
                </a:solidFill>
              </a:rPr>
              <a:t> DNS</a:t>
            </a:r>
            <a:endParaRPr lang="en-US" sz="2400" dirty="0"/>
          </a:p>
        </p:txBody>
      </p:sp>
      <p:sp>
        <p:nvSpPr>
          <p:cNvPr id="570501" name="AutoShape 13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0457" y="2569032"/>
            <a:ext cx="8744857" cy="10450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/>
            <a:r>
              <a:rPr lang="en-GB" sz="2400" dirty="0">
                <a:solidFill>
                  <a:srgbClr val="000000"/>
                </a:solidFill>
              </a:rPr>
              <a:t>Le </a:t>
            </a:r>
            <a:r>
              <a:rPr lang="en-GB" sz="2400" i="1" dirty="0" err="1">
                <a:solidFill>
                  <a:srgbClr val="000000"/>
                </a:solidFill>
              </a:rPr>
              <a:t>nettoyage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est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processus</a:t>
            </a:r>
            <a:r>
              <a:rPr lang="en-GB" sz="2400" dirty="0">
                <a:solidFill>
                  <a:srgbClr val="000000"/>
                </a:solidFill>
              </a:rPr>
              <a:t> qui </a:t>
            </a:r>
            <a:r>
              <a:rPr lang="en-GB" sz="2400" dirty="0" err="1">
                <a:solidFill>
                  <a:srgbClr val="000000"/>
                </a:solidFill>
              </a:rPr>
              <a:t>consiste</a:t>
            </a:r>
            <a:r>
              <a:rPr lang="en-GB" sz="2400" dirty="0">
                <a:solidFill>
                  <a:srgbClr val="000000"/>
                </a:solidFill>
              </a:rPr>
              <a:t> à </a:t>
            </a:r>
            <a:r>
              <a:rPr lang="en-GB" sz="2400" dirty="0" err="1">
                <a:solidFill>
                  <a:srgbClr val="000000"/>
                </a:solidFill>
              </a:rPr>
              <a:t>supprimer</a:t>
            </a:r>
            <a:r>
              <a:rPr lang="en-GB" sz="2400" dirty="0">
                <a:solidFill>
                  <a:srgbClr val="000000"/>
                </a:solidFill>
              </a:rPr>
              <a:t> les </a:t>
            </a:r>
            <a:r>
              <a:rPr lang="en-GB" sz="2400" dirty="0" err="1">
                <a:solidFill>
                  <a:srgbClr val="000000"/>
                </a:solidFill>
              </a:rPr>
              <a:t>noms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obsolètes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ou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caducs</a:t>
            </a:r>
            <a:r>
              <a:rPr lang="en-GB" sz="2400" dirty="0">
                <a:solidFill>
                  <a:srgbClr val="000000"/>
                </a:solidFill>
              </a:rPr>
              <a:t> de la base de </a:t>
            </a:r>
            <a:r>
              <a:rPr lang="en-GB" sz="2400" dirty="0" err="1">
                <a:solidFill>
                  <a:srgbClr val="000000"/>
                </a:solidFill>
              </a:rPr>
              <a:t>données</a:t>
            </a:r>
            <a:r>
              <a:rPr lang="en-GB" sz="2400" dirty="0">
                <a:solidFill>
                  <a:srgbClr val="000000"/>
                </a:solidFill>
              </a:rPr>
              <a:t> DNS</a:t>
            </a:r>
            <a:endParaRPr lang="en-US" sz="2400" dirty="0"/>
          </a:p>
        </p:txBody>
      </p:sp>
      <p:sp>
        <p:nvSpPr>
          <p:cNvPr id="570511" name="AutoShape 14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4972" y="3728356"/>
            <a:ext cx="8730342" cy="93073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/>
            <a:r>
              <a:rPr lang="en-GB" sz="2400">
                <a:solidFill>
                  <a:srgbClr val="000000"/>
                </a:solidFill>
              </a:rPr>
              <a:t>Une </a:t>
            </a:r>
            <a:r>
              <a:rPr lang="en-GB" sz="2400" i="1">
                <a:solidFill>
                  <a:srgbClr val="000000"/>
                </a:solidFill>
              </a:rPr>
              <a:t>tentative d'actualisation</a:t>
            </a:r>
            <a:r>
              <a:rPr lang="en-GB" sz="2400">
                <a:solidFill>
                  <a:srgbClr val="000000"/>
                </a:solidFill>
              </a:rPr>
              <a:t> est le processus par lequel un ordinateur demande une actualisation de son enregistrement DNS</a:t>
            </a:r>
            <a:endParaRPr lang="en-US" sz="240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5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7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7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7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7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498" grpId="0" animBg="1"/>
      <p:bldP spid="570501" grpId="0" animBg="1"/>
      <p:bldP spid="5705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9571" y="179387"/>
            <a:ext cx="8770258" cy="967241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Fonctionnement du vieillissement et du nettoyage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37893" name="AutoShape 293"/>
          <p:cNvSpPr>
            <a:spLocks noChangeArrowheads="1"/>
          </p:cNvSpPr>
          <p:nvPr/>
        </p:nvSpPr>
        <p:spPr bwMode="auto">
          <a:xfrm>
            <a:off x="575146" y="2440216"/>
            <a:ext cx="3808168" cy="11684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s-ES" sz="2200"/>
          </a:p>
        </p:txBody>
      </p:sp>
      <p:sp>
        <p:nvSpPr>
          <p:cNvPr id="537894" name="AutoShape 294"/>
          <p:cNvSpPr>
            <a:spLocks noChangeArrowheads="1"/>
          </p:cNvSpPr>
          <p:nvPr/>
        </p:nvSpPr>
        <p:spPr bwMode="auto">
          <a:xfrm>
            <a:off x="4397829" y="2440216"/>
            <a:ext cx="4238171" cy="11684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endParaRPr lang="es-ES" sz="2200"/>
          </a:p>
        </p:txBody>
      </p:sp>
      <p:sp>
        <p:nvSpPr>
          <p:cNvPr id="537895" name="Line 295"/>
          <p:cNvSpPr>
            <a:spLocks noChangeShapeType="1"/>
          </p:cNvSpPr>
          <p:nvPr/>
        </p:nvSpPr>
        <p:spPr bwMode="auto">
          <a:xfrm flipV="1">
            <a:off x="8572500" y="4171043"/>
            <a:ext cx="0" cy="5969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7896" name="Text Box 296"/>
          <p:cNvSpPr txBox="1">
            <a:spLocks noChangeArrowheads="1"/>
          </p:cNvSpPr>
          <p:nvPr/>
        </p:nvSpPr>
        <p:spPr bwMode="auto">
          <a:xfrm>
            <a:off x="5234" y="3834268"/>
            <a:ext cx="1359109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000000"/>
                </a:solidFill>
              </a:rPr>
              <a:t>1er </a:t>
            </a:r>
            <a:r>
              <a:rPr lang="en-GB" sz="2200" dirty="0" err="1">
                <a:solidFill>
                  <a:srgbClr val="000000"/>
                </a:solidFill>
              </a:rPr>
              <a:t>janvier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537897" name="Text Box 297"/>
          <p:cNvSpPr txBox="1">
            <a:spLocks noChangeArrowheads="1"/>
          </p:cNvSpPr>
          <p:nvPr/>
        </p:nvSpPr>
        <p:spPr bwMode="auto">
          <a:xfrm>
            <a:off x="8045450" y="3848781"/>
            <a:ext cx="105251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</a:rPr>
              <a:t>15 janvier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37898" name="Text Box 298"/>
          <p:cNvSpPr txBox="1">
            <a:spLocks noChangeArrowheads="1"/>
          </p:cNvSpPr>
          <p:nvPr/>
        </p:nvSpPr>
        <p:spPr bwMode="auto">
          <a:xfrm>
            <a:off x="4037013" y="3906838"/>
            <a:ext cx="94773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</a:rPr>
              <a:t>8 janvier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37899" name="AutoShape 299"/>
          <p:cNvSpPr>
            <a:spLocks/>
          </p:cNvSpPr>
          <p:nvPr/>
        </p:nvSpPr>
        <p:spPr bwMode="auto">
          <a:xfrm rot="16200000">
            <a:off x="4155396" y="2796949"/>
            <a:ext cx="499382" cy="5442854"/>
          </a:xfrm>
          <a:prstGeom prst="leftBrace">
            <a:avLst>
              <a:gd name="adj1" fmla="val 81233"/>
              <a:gd name="adj2" fmla="val 50843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537900" name="Picture 300" descr="Clock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7720" y="1495654"/>
            <a:ext cx="884237" cy="947737"/>
          </a:xfrm>
          <a:prstGeom prst="rect">
            <a:avLst/>
          </a:prstGeom>
          <a:noFill/>
        </p:spPr>
      </p:pic>
      <p:pic>
        <p:nvPicPr>
          <p:cNvPr id="537901" name="Picture 301" descr="Clock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47891" y="1524682"/>
            <a:ext cx="884237" cy="947737"/>
          </a:xfrm>
          <a:prstGeom prst="rect">
            <a:avLst/>
          </a:prstGeom>
          <a:noFill/>
        </p:spPr>
      </p:pic>
      <p:pic>
        <p:nvPicPr>
          <p:cNvPr id="537902" name="Picture 302" descr="Clock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93534" y="1510169"/>
            <a:ext cx="884237" cy="947737"/>
          </a:xfrm>
          <a:prstGeom prst="rect">
            <a:avLst/>
          </a:prstGeom>
          <a:noFill/>
        </p:spPr>
      </p:pic>
      <p:sp>
        <p:nvSpPr>
          <p:cNvPr id="537903" name="Line 303"/>
          <p:cNvSpPr>
            <a:spLocks noChangeShapeType="1"/>
          </p:cNvSpPr>
          <p:nvPr/>
        </p:nvSpPr>
        <p:spPr bwMode="auto">
          <a:xfrm flipV="1">
            <a:off x="2606902" y="3331029"/>
            <a:ext cx="0" cy="12446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7904" name="Line 304"/>
          <p:cNvSpPr>
            <a:spLocks noChangeShapeType="1"/>
          </p:cNvSpPr>
          <p:nvPr/>
        </p:nvSpPr>
        <p:spPr bwMode="auto">
          <a:xfrm flipV="1">
            <a:off x="6527574" y="3360058"/>
            <a:ext cx="0" cy="12446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7905" name="Line 305"/>
          <p:cNvSpPr>
            <a:spLocks noChangeShapeType="1"/>
          </p:cNvSpPr>
          <p:nvPr/>
        </p:nvSpPr>
        <p:spPr bwMode="auto">
          <a:xfrm flipV="1">
            <a:off x="576734" y="4229100"/>
            <a:ext cx="0" cy="5969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7906" name="Line 306"/>
          <p:cNvSpPr>
            <a:spLocks noChangeShapeType="1"/>
          </p:cNvSpPr>
          <p:nvPr/>
        </p:nvSpPr>
        <p:spPr bwMode="auto">
          <a:xfrm>
            <a:off x="560632" y="3494316"/>
            <a:ext cx="0" cy="3429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7907" name="Line 307"/>
          <p:cNvSpPr>
            <a:spLocks noChangeShapeType="1"/>
          </p:cNvSpPr>
          <p:nvPr/>
        </p:nvSpPr>
        <p:spPr bwMode="auto">
          <a:xfrm>
            <a:off x="4392404" y="3450773"/>
            <a:ext cx="0" cy="3429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7908" name="Line 308"/>
          <p:cNvSpPr>
            <a:spLocks noChangeShapeType="1"/>
          </p:cNvSpPr>
          <p:nvPr/>
        </p:nvSpPr>
        <p:spPr bwMode="auto">
          <a:xfrm>
            <a:off x="8641443" y="3450773"/>
            <a:ext cx="0" cy="34290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537909" name="AutoShape 309"/>
          <p:cNvSpPr>
            <a:spLocks noChangeArrowheads="1"/>
          </p:cNvSpPr>
          <p:nvPr/>
        </p:nvSpPr>
        <p:spPr bwMode="auto">
          <a:xfrm>
            <a:off x="7808687" y="4534581"/>
            <a:ext cx="1335314" cy="71959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200">
                <a:solidFill>
                  <a:srgbClr val="000000"/>
                </a:solidFill>
              </a:rPr>
              <a:t>Nettoyage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537910" name="AutoShape 310"/>
          <p:cNvSpPr>
            <a:spLocks noChangeArrowheads="1"/>
          </p:cNvSpPr>
          <p:nvPr/>
        </p:nvSpPr>
        <p:spPr bwMode="auto">
          <a:xfrm>
            <a:off x="1625612" y="4576763"/>
            <a:ext cx="2438388" cy="70643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>
                <a:solidFill>
                  <a:srgbClr val="000000"/>
                </a:solidFill>
              </a:rPr>
              <a:t>Intervalle</a:t>
            </a:r>
            <a:r>
              <a:rPr lang="en-US" sz="2200"/>
              <a:t> </a:t>
            </a:r>
            <a:r>
              <a:rPr lang="en-GB" sz="2200">
                <a:solidFill>
                  <a:srgbClr val="000000"/>
                </a:solidFill>
              </a:rPr>
              <a:t>de </a:t>
            </a:r>
            <a:br>
              <a:rPr lang="en-GB" sz="2200">
                <a:solidFill>
                  <a:srgbClr val="000000"/>
                </a:solidFill>
              </a:rPr>
            </a:br>
            <a:r>
              <a:rPr lang="en-GB" sz="2200">
                <a:solidFill>
                  <a:srgbClr val="000000"/>
                </a:solidFill>
              </a:rPr>
              <a:t>non-actualisation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537911" name="AutoShape 311"/>
          <p:cNvSpPr>
            <a:spLocks noChangeArrowheads="1"/>
          </p:cNvSpPr>
          <p:nvPr/>
        </p:nvSpPr>
        <p:spPr bwMode="auto">
          <a:xfrm>
            <a:off x="4731651" y="4573588"/>
            <a:ext cx="2409369" cy="69509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>
                <a:solidFill>
                  <a:srgbClr val="000000"/>
                </a:solidFill>
              </a:rPr>
              <a:t>Intervalle</a:t>
            </a:r>
            <a:endParaRPr lang="en-US" sz="2200"/>
          </a:p>
          <a:p>
            <a:r>
              <a:rPr lang="en-GB" sz="2200">
                <a:solidFill>
                  <a:srgbClr val="000000"/>
                </a:solidFill>
              </a:rPr>
              <a:t>d'actualisation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537912" name="AutoShape 312"/>
          <p:cNvSpPr>
            <a:spLocks noChangeArrowheads="1"/>
          </p:cNvSpPr>
          <p:nvPr/>
        </p:nvSpPr>
        <p:spPr bwMode="auto">
          <a:xfrm>
            <a:off x="53765" y="4583113"/>
            <a:ext cx="1034805" cy="74363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>
                <a:solidFill>
                  <a:srgbClr val="000000"/>
                </a:solidFill>
              </a:rPr>
              <a:t>Datage</a:t>
            </a:r>
            <a:endParaRPr lang="en-US" sz="2200"/>
          </a:p>
          <a:p>
            <a:r>
              <a:rPr lang="en-GB" sz="2200">
                <a:solidFill>
                  <a:srgbClr val="000000"/>
                </a:solidFill>
              </a:rPr>
              <a:t>défini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537913" name="AutoShape 313"/>
          <p:cNvSpPr>
            <a:spLocks noChangeArrowheads="1"/>
          </p:cNvSpPr>
          <p:nvPr/>
        </p:nvSpPr>
        <p:spPr bwMode="auto">
          <a:xfrm>
            <a:off x="1197438" y="4757057"/>
            <a:ext cx="304800" cy="304800"/>
          </a:xfrm>
          <a:prstGeom prst="plus">
            <a:avLst>
              <a:gd name="adj" fmla="val 35528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miter lim="800000"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537914" name="AutoShape 314"/>
          <p:cNvSpPr>
            <a:spLocks noChangeArrowheads="1"/>
          </p:cNvSpPr>
          <p:nvPr/>
        </p:nvSpPr>
        <p:spPr bwMode="auto">
          <a:xfrm>
            <a:off x="4210736" y="4757056"/>
            <a:ext cx="304800" cy="304800"/>
          </a:xfrm>
          <a:prstGeom prst="plus">
            <a:avLst>
              <a:gd name="adj" fmla="val 35528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miter lim="800000"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537915" name="AutoShape 315"/>
          <p:cNvSpPr>
            <a:spLocks noChangeArrowheads="1"/>
          </p:cNvSpPr>
          <p:nvPr/>
        </p:nvSpPr>
        <p:spPr bwMode="auto">
          <a:xfrm>
            <a:off x="3556000" y="5792558"/>
            <a:ext cx="1828801" cy="506639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D5D69C"/>
              </a:gs>
              <a:gs pos="100000">
                <a:srgbClr val="EEEFD7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200">
                <a:solidFill>
                  <a:srgbClr val="000000"/>
                </a:solidFill>
              </a:rPr>
              <a:t>Vieillissement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537916" name="AutoShape 316"/>
          <p:cNvSpPr>
            <a:spLocks noChangeArrowheads="1"/>
          </p:cNvSpPr>
          <p:nvPr/>
        </p:nvSpPr>
        <p:spPr bwMode="auto">
          <a:xfrm>
            <a:off x="789232" y="2516415"/>
            <a:ext cx="3463454" cy="299355"/>
          </a:xfrm>
          <a:prstGeom prst="rightArrow">
            <a:avLst>
              <a:gd name="adj1" fmla="val 50926"/>
              <a:gd name="adj2" fmla="val 132053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37917" name="AutoShape 317"/>
          <p:cNvSpPr>
            <a:spLocks noChangeArrowheads="1"/>
          </p:cNvSpPr>
          <p:nvPr/>
        </p:nvSpPr>
        <p:spPr bwMode="auto">
          <a:xfrm>
            <a:off x="4666360" y="2530930"/>
            <a:ext cx="3780953" cy="284841"/>
          </a:xfrm>
          <a:prstGeom prst="rightArrow">
            <a:avLst>
              <a:gd name="adj1" fmla="val 50926"/>
              <a:gd name="adj2" fmla="val 132053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537918" name="Group 318"/>
          <p:cNvGrpSpPr>
            <a:grpSpLocks/>
          </p:cNvGrpSpPr>
          <p:nvPr/>
        </p:nvGrpSpPr>
        <p:grpSpPr bwMode="auto">
          <a:xfrm>
            <a:off x="7437211" y="4796745"/>
            <a:ext cx="280988" cy="223837"/>
            <a:chOff x="3971" y="3497"/>
            <a:chExt cx="177" cy="141"/>
          </a:xfrm>
        </p:grpSpPr>
        <p:sp>
          <p:nvSpPr>
            <p:cNvPr id="537919" name="AutoShape 319"/>
            <p:cNvSpPr>
              <a:spLocks noChangeArrowheads="1"/>
            </p:cNvSpPr>
            <p:nvPr/>
          </p:nvSpPr>
          <p:spPr bwMode="auto">
            <a:xfrm>
              <a:off x="3971" y="3497"/>
              <a:ext cx="177" cy="5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endParaRPr lang="es-ES"/>
            </a:p>
          </p:txBody>
        </p:sp>
        <p:sp>
          <p:nvSpPr>
            <p:cNvPr id="537920" name="AutoShape 320"/>
            <p:cNvSpPr>
              <a:spLocks noChangeArrowheads="1"/>
            </p:cNvSpPr>
            <p:nvPr/>
          </p:nvSpPr>
          <p:spPr bwMode="auto">
            <a:xfrm>
              <a:off x="3971" y="3585"/>
              <a:ext cx="177" cy="5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endParaRPr lang="es-ES"/>
            </a:p>
          </p:txBody>
        </p:sp>
      </p:grpSp>
      <p:sp>
        <p:nvSpPr>
          <p:cNvPr id="537921" name="Text Box 321"/>
          <p:cNvSpPr txBox="1">
            <a:spLocks noChangeArrowheads="1"/>
          </p:cNvSpPr>
          <p:nvPr/>
        </p:nvSpPr>
        <p:spPr bwMode="auto">
          <a:xfrm>
            <a:off x="2121598" y="2809423"/>
            <a:ext cx="800100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dirty="0">
                <a:solidFill>
                  <a:srgbClr val="000000"/>
                </a:solidFill>
              </a:rPr>
              <a:t>7 </a:t>
            </a:r>
            <a:r>
              <a:rPr lang="en-GB" dirty="0" err="1">
                <a:solidFill>
                  <a:srgbClr val="000000"/>
                </a:solidFill>
              </a:rPr>
              <a:t>jours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37922" name="Text Box 322"/>
          <p:cNvSpPr txBox="1">
            <a:spLocks noChangeArrowheads="1"/>
          </p:cNvSpPr>
          <p:nvPr/>
        </p:nvSpPr>
        <p:spPr bwMode="auto">
          <a:xfrm>
            <a:off x="6243655" y="2762252"/>
            <a:ext cx="800100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dirty="0">
                <a:solidFill>
                  <a:srgbClr val="000000"/>
                </a:solidFill>
              </a:rPr>
              <a:t>7 </a:t>
            </a:r>
            <a:r>
              <a:rPr lang="en-GB" dirty="0" err="1">
                <a:solidFill>
                  <a:srgbClr val="000000"/>
                </a:solidFill>
              </a:rPr>
              <a:t>jours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537923" name="Group 323"/>
          <p:cNvGrpSpPr>
            <a:grpSpLocks/>
          </p:cNvGrpSpPr>
          <p:nvPr/>
        </p:nvGrpSpPr>
        <p:grpSpPr bwMode="auto">
          <a:xfrm>
            <a:off x="609600" y="6051550"/>
            <a:ext cx="914400" cy="425450"/>
            <a:chOff x="384" y="3024"/>
            <a:chExt cx="720" cy="336"/>
          </a:xfrm>
        </p:grpSpPr>
        <p:sp>
          <p:nvSpPr>
            <p:cNvPr id="537924" name="Oval 324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537925" name="Group 325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537926" name="Oval 326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37927" name="Freeform 327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537928" name="Group 328"/>
          <p:cNvGrpSpPr>
            <a:grpSpLocks/>
          </p:cNvGrpSpPr>
          <p:nvPr/>
        </p:nvGrpSpPr>
        <p:grpSpPr bwMode="auto">
          <a:xfrm>
            <a:off x="1096963" y="6142038"/>
            <a:ext cx="304800" cy="244475"/>
            <a:chOff x="768" y="3096"/>
            <a:chExt cx="240" cy="192"/>
          </a:xfrm>
        </p:grpSpPr>
        <p:sp>
          <p:nvSpPr>
            <p:cNvPr id="537929" name="Oval 329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7930" name="Rectangle 330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1" name="Espace réservé du numéro de diapositive 40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6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895" grpId="0" animBg="1"/>
      <p:bldP spid="537896" grpId="0"/>
      <p:bldP spid="537897" grpId="0"/>
      <p:bldP spid="537898" grpId="0"/>
      <p:bldP spid="537899" grpId="0" animBg="1"/>
      <p:bldP spid="537903" grpId="0" animBg="1"/>
      <p:bldP spid="537904" grpId="0" animBg="1"/>
      <p:bldP spid="537905" grpId="0" animBg="1"/>
      <p:bldP spid="537906" grpId="0" animBg="1"/>
      <p:bldP spid="537907" grpId="0" animBg="1"/>
      <p:bldP spid="537908" grpId="0" animBg="1"/>
      <p:bldP spid="537909" grpId="0" animBg="1"/>
      <p:bldP spid="537910" grpId="0" animBg="1"/>
      <p:bldP spid="537911" grpId="0" animBg="1"/>
      <p:bldP spid="537912" grpId="0" animBg="1"/>
      <p:bldP spid="537913" grpId="0" animBg="1"/>
      <p:bldP spid="537914" grpId="0" animBg="1"/>
      <p:bldP spid="537915" grpId="0" animBg="1"/>
      <p:bldP spid="537921" grpId="0"/>
      <p:bldP spid="5379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174171"/>
            <a:ext cx="9144000" cy="1001485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Comment configurer le vieillissement et le nettoyage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89831" name="AutoShap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7757" y="2585130"/>
            <a:ext cx="8772071" cy="239327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85000"/>
              </a:lnSpc>
              <a:spcBef>
                <a:spcPct val="20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  <a:hlinkClick r:id="rId6" action="ppaction://hlinkfile"/>
              </a:rPr>
              <a:t>Définir les </a:t>
            </a:r>
            <a:r>
              <a:rPr lang="en-GB" sz="2400" dirty="0" err="1">
                <a:solidFill>
                  <a:srgbClr val="000000"/>
                </a:solidFill>
                <a:hlinkClick r:id="rId6" action="ppaction://hlinkfile"/>
              </a:rPr>
              <a:t>paramètres</a:t>
            </a:r>
            <a:r>
              <a:rPr lang="en-GB" sz="2400" dirty="0">
                <a:solidFill>
                  <a:srgbClr val="000000"/>
                </a:solidFill>
                <a:hlinkClick r:id="rId6" action="ppaction://hlinkfile"/>
              </a:rPr>
              <a:t> de </a:t>
            </a:r>
            <a:r>
              <a:rPr lang="en-GB" sz="2400" dirty="0" err="1">
                <a:solidFill>
                  <a:srgbClr val="000000"/>
                </a:solidFill>
                <a:hlinkClick r:id="rId6" action="ppaction://hlinkfile"/>
              </a:rPr>
              <a:t>vieillissement</a:t>
            </a:r>
            <a:r>
              <a:rPr lang="en-GB" sz="2400" dirty="0">
                <a:solidFill>
                  <a:srgbClr val="000000"/>
                </a:solidFill>
                <a:hlinkClick r:id="rId6" action="ppaction://hlinkfile"/>
              </a:rPr>
              <a:t> et de </a:t>
            </a:r>
            <a:r>
              <a:rPr lang="en-GB" sz="2400" dirty="0" err="1">
                <a:solidFill>
                  <a:srgbClr val="000000"/>
                </a:solidFill>
                <a:hlinkClick r:id="rId6" action="ppaction://hlinkfile"/>
              </a:rPr>
              <a:t>nettoyage</a:t>
            </a:r>
            <a:r>
              <a:rPr lang="en-GB" sz="2400" dirty="0">
                <a:solidFill>
                  <a:srgbClr val="000000"/>
                </a:solidFill>
                <a:hlinkClick r:id="rId6" action="ppaction://hlinkfile"/>
              </a:rPr>
              <a:t> pour le </a:t>
            </a:r>
            <a:r>
              <a:rPr lang="en-GB" sz="2400" dirty="0" err="1">
                <a:solidFill>
                  <a:srgbClr val="000000"/>
                </a:solidFill>
                <a:hlinkClick r:id="rId6" action="ppaction://hlinkfile"/>
              </a:rPr>
              <a:t>serveur</a:t>
            </a:r>
            <a:r>
              <a:rPr lang="en-GB" sz="2400" dirty="0">
                <a:solidFill>
                  <a:srgbClr val="000000"/>
                </a:solidFill>
                <a:hlinkClick r:id="rId6" action="ppaction://hlinkfile"/>
              </a:rPr>
              <a:t> DNS</a:t>
            </a:r>
            <a:endParaRPr lang="en-US" sz="2400" dirty="0"/>
          </a:p>
          <a:p>
            <a:pPr marL="231775" indent="-231775" algn="l">
              <a:lnSpc>
                <a:spcPct val="85000"/>
              </a:lnSpc>
              <a:spcBef>
                <a:spcPct val="20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  <a:hlinkClick r:id="rId7" action="ppaction://hlinkfile"/>
              </a:rPr>
              <a:t>Définir les </a:t>
            </a:r>
            <a:r>
              <a:rPr lang="en-GB" sz="2400" dirty="0" err="1">
                <a:solidFill>
                  <a:srgbClr val="000000"/>
                </a:solidFill>
                <a:hlinkClick r:id="rId7" action="ppaction://hlinkfile"/>
              </a:rPr>
              <a:t>paramètres</a:t>
            </a:r>
            <a:r>
              <a:rPr lang="en-GB" sz="2400" dirty="0">
                <a:solidFill>
                  <a:srgbClr val="000000"/>
                </a:solidFill>
                <a:hlinkClick r:id="rId7" action="ppaction://hlinkfile"/>
              </a:rPr>
              <a:t> de </a:t>
            </a:r>
            <a:r>
              <a:rPr lang="en-GB" sz="2400" dirty="0" err="1">
                <a:solidFill>
                  <a:srgbClr val="000000"/>
                </a:solidFill>
                <a:hlinkClick r:id="rId7" action="ppaction://hlinkfile"/>
              </a:rPr>
              <a:t>vieillissement</a:t>
            </a:r>
            <a:r>
              <a:rPr lang="en-GB" sz="2400" dirty="0">
                <a:solidFill>
                  <a:srgbClr val="000000"/>
                </a:solidFill>
                <a:hlinkClick r:id="rId7" action="ppaction://hlinkfile"/>
              </a:rPr>
              <a:t> et de </a:t>
            </a:r>
            <a:r>
              <a:rPr lang="en-GB" sz="2400" dirty="0" err="1">
                <a:solidFill>
                  <a:srgbClr val="000000"/>
                </a:solidFill>
                <a:hlinkClick r:id="rId7" action="ppaction://hlinkfile"/>
              </a:rPr>
              <a:t>nettoyage</a:t>
            </a:r>
            <a:r>
              <a:rPr lang="en-GB" sz="2400" dirty="0">
                <a:solidFill>
                  <a:srgbClr val="000000"/>
                </a:solidFill>
                <a:hlinkClick r:id="rId7" action="ppaction://hlinkfile"/>
              </a:rPr>
              <a:t> pour </a:t>
            </a:r>
            <a:r>
              <a:rPr lang="en-GB" sz="2400" dirty="0" err="1">
                <a:solidFill>
                  <a:srgbClr val="000000"/>
                </a:solidFill>
                <a:hlinkClick r:id="rId7" action="ppaction://hlinkfile"/>
              </a:rPr>
              <a:t>une</a:t>
            </a:r>
            <a:r>
              <a:rPr lang="en-GB" sz="2400" dirty="0">
                <a:solidFill>
                  <a:srgbClr val="000000"/>
                </a:solidFill>
                <a:hlinkClick r:id="rId7" action="ppaction://hlinkfile"/>
              </a:rPr>
              <a:t> zone DNS</a:t>
            </a:r>
            <a:endParaRPr lang="en-US" sz="2400" dirty="0"/>
          </a:p>
          <a:p>
            <a:pPr marL="231775" indent="-231775" algn="l">
              <a:lnSpc>
                <a:spcPct val="85000"/>
              </a:lnSpc>
              <a:spcBef>
                <a:spcPct val="20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Activer le </a:t>
            </a:r>
            <a:r>
              <a:rPr lang="en-GB" sz="2400" dirty="0" err="1">
                <a:solidFill>
                  <a:srgbClr val="000000"/>
                </a:solidFill>
                <a:hlinkClick r:id="rId8" action="ppaction://hlinkfile"/>
              </a:rPr>
              <a:t>nettoyage</a:t>
            </a: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 </a:t>
            </a:r>
            <a:r>
              <a:rPr lang="en-GB" sz="2400" dirty="0" err="1">
                <a:solidFill>
                  <a:srgbClr val="000000"/>
                </a:solidFill>
                <a:hlinkClick r:id="rId8" action="ppaction://hlinkfile"/>
              </a:rPr>
              <a:t>automatique</a:t>
            </a: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 des </a:t>
            </a:r>
            <a:r>
              <a:rPr lang="en-GB" sz="2400" dirty="0" err="1">
                <a:solidFill>
                  <a:srgbClr val="000000"/>
                </a:solidFill>
                <a:hlinkClick r:id="rId8" action="ppaction://hlinkfile"/>
              </a:rPr>
              <a:t>enregistrements</a:t>
            </a: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 de </a:t>
            </a:r>
            <a:r>
              <a:rPr lang="en-GB" sz="2400" dirty="0" err="1">
                <a:solidFill>
                  <a:srgbClr val="000000"/>
                </a:solidFill>
                <a:hlinkClick r:id="rId8" action="ppaction://hlinkfile"/>
              </a:rPr>
              <a:t>ressources</a:t>
            </a: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 </a:t>
            </a:r>
            <a:r>
              <a:rPr lang="en-GB" sz="2400" dirty="0" err="1">
                <a:solidFill>
                  <a:srgbClr val="000000"/>
                </a:solidFill>
                <a:hlinkClick r:id="rId8" action="ppaction://hlinkfile"/>
              </a:rPr>
              <a:t>obsolètes</a:t>
            </a: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 </a:t>
            </a:r>
            <a:r>
              <a:rPr lang="en-GB" sz="2400" dirty="0" err="1">
                <a:solidFill>
                  <a:srgbClr val="000000"/>
                </a:solidFill>
                <a:hlinkClick r:id="rId8" action="ppaction://hlinkfile"/>
              </a:rPr>
              <a:t>sur</a:t>
            </a: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 un </a:t>
            </a:r>
            <a:r>
              <a:rPr lang="en-GB" sz="2400" dirty="0" err="1">
                <a:solidFill>
                  <a:srgbClr val="000000"/>
                </a:solidFill>
                <a:hlinkClick r:id="rId8" action="ppaction://hlinkfile"/>
              </a:rPr>
              <a:t>serveur</a:t>
            </a:r>
            <a:r>
              <a:rPr lang="en-GB" sz="2400" dirty="0">
                <a:solidFill>
                  <a:srgbClr val="000000"/>
                </a:solidFill>
                <a:hlinkClick r:id="rId8" action="ppaction://hlinkfile"/>
              </a:rPr>
              <a:t> </a:t>
            </a:r>
            <a:r>
              <a:rPr lang="en-GB" sz="2400" dirty="0" smtClean="0">
                <a:solidFill>
                  <a:srgbClr val="000000"/>
                </a:solidFill>
                <a:hlinkClick r:id="rId8" action="ppaction://hlinkfile"/>
              </a:rPr>
              <a:t>DNS</a:t>
            </a:r>
            <a:endParaRPr lang="en-US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7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45150" y="-58056"/>
            <a:ext cx="8374743" cy="1262743"/>
          </a:xfrm>
          <a:noFill/>
        </p:spPr>
        <p:txBody>
          <a:bodyPr vert="horz" anchor="b">
            <a:normAutofit/>
          </a:bodyPr>
          <a:lstStyle/>
          <a:p>
            <a:pPr marL="460375" indent="-460375"/>
            <a:r>
              <a:rPr lang="fr-FR" sz="3000" dirty="0" smtClean="0">
                <a:solidFill>
                  <a:srgbClr val="000000"/>
                </a:solidFill>
              </a:rPr>
              <a:t>3. </a:t>
            </a:r>
            <a:r>
              <a:rPr lang="fr-FR" sz="3000" dirty="0" smtClean="0">
                <a:solidFill>
                  <a:srgbClr val="000000"/>
                </a:solidFill>
              </a:rPr>
              <a:t>Test de la configuration du serveur DNS</a:t>
            </a:r>
            <a:endParaRPr lang="en-US" sz="3000" dirty="0" smtClean="0">
              <a:solidFill>
                <a:srgbClr val="000000"/>
              </a:solidFill>
            </a:endParaRPr>
          </a:p>
        </p:txBody>
      </p:sp>
      <p:sp>
        <p:nvSpPr>
          <p:cNvPr id="62464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72723" y="2136649"/>
            <a:ext cx="8503920" cy="1332266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GB" dirty="0" err="1">
                <a:solidFill>
                  <a:srgbClr val="000000"/>
                </a:solidFill>
              </a:rPr>
              <a:t>Fonctionnement</a:t>
            </a:r>
            <a:r>
              <a:rPr lang="en-GB" dirty="0">
                <a:solidFill>
                  <a:srgbClr val="000000"/>
                </a:solidFill>
              </a:rPr>
              <a:t> des </a:t>
            </a:r>
            <a:r>
              <a:rPr lang="en-GB" dirty="0" err="1">
                <a:solidFill>
                  <a:srgbClr val="000000"/>
                </a:solidFill>
              </a:rPr>
              <a:t>requêtes</a:t>
            </a:r>
            <a:r>
              <a:rPr lang="en-GB" dirty="0">
                <a:solidFill>
                  <a:srgbClr val="000000"/>
                </a:solidFill>
              </a:rPr>
              <a:t> simples et </a:t>
            </a:r>
            <a:r>
              <a:rPr lang="en-GB" dirty="0" err="1">
                <a:solidFill>
                  <a:srgbClr val="000000"/>
                </a:solidFill>
              </a:rPr>
              <a:t>récursives</a:t>
            </a:r>
            <a:endParaRPr lang="en-US" dirty="0"/>
          </a:p>
          <a:p>
            <a:pPr>
              <a:buClrTx/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</a:rPr>
              <a:t>Comment tester la configuration du </a:t>
            </a:r>
            <a:r>
              <a:rPr lang="en-GB" dirty="0" err="1">
                <a:solidFill>
                  <a:srgbClr val="000000"/>
                </a:solidFill>
              </a:rPr>
              <a:t>serveur</a:t>
            </a:r>
            <a:r>
              <a:rPr lang="en-GB" dirty="0">
                <a:solidFill>
                  <a:srgbClr val="000000"/>
                </a:solidFill>
              </a:rPr>
              <a:t> DNS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8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712" name="Line 48"/>
          <p:cNvSpPr>
            <a:spLocks noChangeShapeType="1"/>
          </p:cNvSpPr>
          <p:nvPr/>
        </p:nvSpPr>
        <p:spPr bwMode="auto">
          <a:xfrm flipV="1">
            <a:off x="1567568" y="4949371"/>
            <a:ext cx="1785232" cy="53051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348344"/>
            <a:ext cx="9144000" cy="667657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Fonctionnement des requêtes simples et récursives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625697" name="Line 33"/>
          <p:cNvSpPr>
            <a:spLocks noChangeShapeType="1"/>
          </p:cNvSpPr>
          <p:nvPr/>
        </p:nvSpPr>
        <p:spPr bwMode="auto">
          <a:xfrm>
            <a:off x="656799" y="4403276"/>
            <a:ext cx="45719" cy="790328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625698" name="Line 34"/>
          <p:cNvSpPr>
            <a:spLocks noChangeShapeType="1"/>
          </p:cNvSpPr>
          <p:nvPr/>
        </p:nvSpPr>
        <p:spPr bwMode="auto">
          <a:xfrm>
            <a:off x="1727229" y="4020461"/>
            <a:ext cx="1468483" cy="45719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625700" name="AutoShape 36"/>
          <p:cNvSpPr>
            <a:spLocks noChangeArrowheads="1"/>
          </p:cNvSpPr>
          <p:nvPr/>
        </p:nvSpPr>
        <p:spPr bwMode="auto">
          <a:xfrm>
            <a:off x="0" y="1451431"/>
            <a:ext cx="8969829" cy="1184956"/>
          </a:xfrm>
          <a:prstGeom prst="roundRect">
            <a:avLst>
              <a:gd name="adj" fmla="val 28634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>
                <a:solidFill>
                  <a:srgbClr val="000000"/>
                </a:solidFill>
              </a:rPr>
              <a:t>Une </a:t>
            </a:r>
            <a:r>
              <a:rPr lang="en-GB" sz="2800" i="1">
                <a:solidFill>
                  <a:srgbClr val="000000"/>
                </a:solidFill>
              </a:rPr>
              <a:t>requête récursive </a:t>
            </a:r>
            <a:r>
              <a:rPr lang="en-GB" sz="2800">
                <a:solidFill>
                  <a:srgbClr val="000000"/>
                </a:solidFill>
              </a:rPr>
              <a:t>teste un serveur DNS en transmettant une requête récursive à un autre serveur DNS</a:t>
            </a:r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625701" name="Picture 37" descr="Server0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6365" y="3294067"/>
            <a:ext cx="1603882" cy="1887532"/>
          </a:xfrm>
          <a:prstGeom prst="rect">
            <a:avLst/>
          </a:prstGeom>
          <a:noFill/>
        </p:spPr>
      </p:pic>
      <p:pic>
        <p:nvPicPr>
          <p:cNvPr id="625702" name="Picture 38" descr="Database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0428" y="3605219"/>
            <a:ext cx="1195090" cy="965665"/>
          </a:xfrm>
          <a:prstGeom prst="rect">
            <a:avLst/>
          </a:prstGeom>
          <a:noFill/>
        </p:spPr>
      </p:pic>
      <p:sp>
        <p:nvSpPr>
          <p:cNvPr id="625703" name="AutoShape 39"/>
          <p:cNvSpPr>
            <a:spLocks noChangeArrowheads="1"/>
          </p:cNvSpPr>
          <p:nvPr/>
        </p:nvSpPr>
        <p:spPr bwMode="auto">
          <a:xfrm>
            <a:off x="365381" y="2869979"/>
            <a:ext cx="1660202" cy="35070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 sz="2200" dirty="0" err="1">
                <a:solidFill>
                  <a:srgbClr val="000000"/>
                </a:solidFill>
              </a:rPr>
              <a:t>Serveur</a:t>
            </a:r>
            <a:r>
              <a:rPr lang="en-GB" sz="2200" dirty="0">
                <a:solidFill>
                  <a:srgbClr val="000000"/>
                </a:solidFill>
              </a:rPr>
              <a:t> DNS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625704" name="AutoShape 40"/>
          <p:cNvSpPr>
            <a:spLocks noChangeArrowheads="1"/>
          </p:cNvSpPr>
          <p:nvPr/>
        </p:nvSpPr>
        <p:spPr bwMode="auto">
          <a:xfrm>
            <a:off x="3053472" y="3187479"/>
            <a:ext cx="1660202" cy="35070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 sz="2200">
                <a:solidFill>
                  <a:srgbClr val="000000"/>
                </a:solidFill>
              </a:rPr>
              <a:t>Service DNS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625705" name="Text Box 41"/>
          <p:cNvSpPr txBox="1">
            <a:spLocks noChangeArrowheads="1"/>
          </p:cNvSpPr>
          <p:nvPr/>
        </p:nvSpPr>
        <p:spPr bwMode="auto">
          <a:xfrm>
            <a:off x="2422326" y="4569739"/>
            <a:ext cx="2610637" cy="615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GB" sz="2000" dirty="0">
                <a:solidFill>
                  <a:srgbClr val="000000"/>
                </a:solidFill>
              </a:rPr>
              <a:t>Zone </a:t>
            </a:r>
            <a:r>
              <a:rPr lang="en-GB" sz="2000" dirty="0" err="1">
                <a:solidFill>
                  <a:srgbClr val="000000"/>
                </a:solidFill>
              </a:rPr>
              <a:t>faisant</a:t>
            </a:r>
            <a:r>
              <a:rPr lang="en-GB" sz="2000" dirty="0">
                <a:solidFill>
                  <a:srgbClr val="000000"/>
                </a:solidFill>
              </a:rPr>
              <a:t> </a:t>
            </a:r>
            <a:r>
              <a:rPr lang="en-GB" sz="2000" dirty="0" err="1">
                <a:solidFill>
                  <a:srgbClr val="000000"/>
                </a:solidFill>
              </a:rPr>
              <a:t>autorité</a:t>
            </a:r>
            <a:r>
              <a:rPr lang="en-GB" sz="2000" dirty="0">
                <a:solidFill>
                  <a:srgbClr val="000000"/>
                </a:solidFill>
              </a:rPr>
              <a:t> :</a:t>
            </a:r>
            <a:endParaRPr lang="en-US" sz="2000" dirty="0"/>
          </a:p>
          <a:p>
            <a:pPr>
              <a:lnSpc>
                <a:spcPct val="85000"/>
              </a:lnSpc>
            </a:pPr>
            <a:r>
              <a:rPr lang="en-GB" sz="2000" dirty="0" err="1">
                <a:solidFill>
                  <a:srgbClr val="000000"/>
                </a:solidFill>
              </a:rPr>
              <a:t>training.nwtraders.msft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625706" name="AutoShape 42"/>
          <p:cNvSpPr>
            <a:spLocks noChangeArrowheads="1"/>
          </p:cNvSpPr>
          <p:nvPr/>
        </p:nvSpPr>
        <p:spPr bwMode="auto">
          <a:xfrm>
            <a:off x="1958096" y="5914351"/>
            <a:ext cx="3059339" cy="35070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 sz="2200">
                <a:solidFill>
                  <a:srgbClr val="000000"/>
                </a:solidFill>
              </a:rPr>
              <a:t>Résolution de client DNS</a:t>
            </a:r>
            <a:endParaRPr lang="en-US" sz="2200">
              <a:solidFill>
                <a:srgbClr val="000000"/>
              </a:solidFill>
            </a:endParaRPr>
          </a:p>
        </p:txBody>
      </p:sp>
      <p:pic>
        <p:nvPicPr>
          <p:cNvPr id="625707" name="Picture 43" descr="Server0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77293" y="3308584"/>
            <a:ext cx="1603882" cy="1887532"/>
          </a:xfrm>
          <a:prstGeom prst="rect">
            <a:avLst/>
          </a:prstGeom>
          <a:noFill/>
        </p:spPr>
      </p:pic>
      <p:sp>
        <p:nvSpPr>
          <p:cNvPr id="625708" name="AutoShape 44"/>
          <p:cNvSpPr>
            <a:spLocks noChangeArrowheads="1"/>
          </p:cNvSpPr>
          <p:nvPr/>
        </p:nvSpPr>
        <p:spPr bwMode="auto">
          <a:xfrm>
            <a:off x="6297867" y="2884495"/>
            <a:ext cx="2488263" cy="35070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en-GB" sz="2200">
                <a:solidFill>
                  <a:srgbClr val="000000"/>
                </a:solidFill>
              </a:rPr>
              <a:t>Serveur DNS racine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625709" name="Line 45"/>
          <p:cNvSpPr>
            <a:spLocks noChangeShapeType="1"/>
          </p:cNvSpPr>
          <p:nvPr/>
        </p:nvSpPr>
        <p:spPr bwMode="auto">
          <a:xfrm>
            <a:off x="4503084" y="3960588"/>
            <a:ext cx="2246059" cy="45719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625710" name="Line 46"/>
          <p:cNvSpPr>
            <a:spLocks noChangeShapeType="1"/>
          </p:cNvSpPr>
          <p:nvPr/>
        </p:nvSpPr>
        <p:spPr bwMode="auto">
          <a:xfrm>
            <a:off x="4445027" y="4187374"/>
            <a:ext cx="2231544" cy="65312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 type="triangle" w="med" len="med"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625711" name="Picture 47" descr="ServerProcess0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9385" y="5172987"/>
            <a:ext cx="1628909" cy="1249317"/>
          </a:xfrm>
          <a:prstGeom prst="rect">
            <a:avLst/>
          </a:prstGeom>
          <a:noFill/>
        </p:spPr>
      </p:pic>
      <p:sp>
        <p:nvSpPr>
          <p:cNvPr id="625713" name="Line 49"/>
          <p:cNvSpPr>
            <a:spLocks noChangeShapeType="1"/>
          </p:cNvSpPr>
          <p:nvPr/>
        </p:nvSpPr>
        <p:spPr bwMode="auto">
          <a:xfrm flipV="1">
            <a:off x="1785257" y="5138055"/>
            <a:ext cx="1741713" cy="52251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 type="triangle" w="med" len="med"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625714" name="Group 50"/>
          <p:cNvGrpSpPr>
            <a:grpSpLocks/>
          </p:cNvGrpSpPr>
          <p:nvPr/>
        </p:nvGrpSpPr>
        <p:grpSpPr bwMode="auto">
          <a:xfrm>
            <a:off x="127918" y="6283774"/>
            <a:ext cx="914400" cy="425450"/>
            <a:chOff x="384" y="3024"/>
            <a:chExt cx="720" cy="336"/>
          </a:xfrm>
        </p:grpSpPr>
        <p:sp>
          <p:nvSpPr>
            <p:cNvPr id="625715" name="Oval 51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625716" name="Group 52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625717" name="Oval 53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25718" name="Freeform 54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625719" name="Group 55"/>
          <p:cNvGrpSpPr>
            <a:grpSpLocks/>
          </p:cNvGrpSpPr>
          <p:nvPr/>
        </p:nvGrpSpPr>
        <p:grpSpPr bwMode="auto">
          <a:xfrm>
            <a:off x="615281" y="6374262"/>
            <a:ext cx="304800" cy="244475"/>
            <a:chOff x="768" y="3096"/>
            <a:chExt cx="240" cy="192"/>
          </a:xfrm>
        </p:grpSpPr>
        <p:sp>
          <p:nvSpPr>
            <p:cNvPr id="625720" name="Oval 56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5721" name="Rectangle 57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25699" name="AutoShape 35"/>
          <p:cNvSpPr>
            <a:spLocks noChangeArrowheads="1"/>
          </p:cNvSpPr>
          <p:nvPr/>
        </p:nvSpPr>
        <p:spPr bwMode="auto">
          <a:xfrm>
            <a:off x="0" y="1471615"/>
            <a:ext cx="8955314" cy="1155473"/>
          </a:xfrm>
          <a:prstGeom prst="roundRect">
            <a:avLst>
              <a:gd name="adj" fmla="val 34208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>
                <a:solidFill>
                  <a:srgbClr val="000000"/>
                </a:solidFill>
              </a:rPr>
              <a:t>Une </a:t>
            </a:r>
            <a:r>
              <a:rPr lang="en-GB" sz="2800" i="1">
                <a:solidFill>
                  <a:srgbClr val="000000"/>
                </a:solidFill>
              </a:rPr>
              <a:t>requête simple </a:t>
            </a:r>
            <a:r>
              <a:rPr lang="en-GB" sz="2800">
                <a:solidFill>
                  <a:srgbClr val="000000"/>
                </a:solidFill>
              </a:rPr>
              <a:t>exécute un test local en utilisant le client DNS pour interroger le serveur DNS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9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62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62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1000"/>
                                        <p:tgtEl>
                                          <p:spTgt spid="625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6257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25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2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2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62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712" grpId="0" animBg="1"/>
      <p:bldP spid="625712" grpId="1" animBg="1"/>
      <p:bldP spid="625700" grpId="0" animBg="1"/>
      <p:bldP spid="625709" grpId="0" animBg="1"/>
      <p:bldP spid="625710" grpId="0" animBg="1"/>
      <p:bldP spid="625713" grpId="0" animBg="1"/>
      <p:bldP spid="625713" grpId="1" animBg="1"/>
      <p:bldP spid="625699" grpId="0" animBg="1"/>
      <p:bldP spid="62569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30629" y="373742"/>
            <a:ext cx="8969829" cy="758952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Comment tester la configuration du serveur DNS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627719" name="AutoShap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449" y="2057399"/>
            <a:ext cx="8304666" cy="316774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800" dirty="0">
                <a:solidFill>
                  <a:srgbClr val="000000"/>
                </a:solidFill>
              </a:rPr>
              <a:t>Tester </a:t>
            </a:r>
            <a:r>
              <a:rPr lang="en-GB" sz="2800" dirty="0" err="1">
                <a:solidFill>
                  <a:srgbClr val="000000"/>
                </a:solidFill>
              </a:rPr>
              <a:t>manuellement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requête</a:t>
            </a:r>
            <a:r>
              <a:rPr lang="en-GB" sz="2800" dirty="0">
                <a:solidFill>
                  <a:srgbClr val="000000"/>
                </a:solidFill>
              </a:rPr>
              <a:t> simple </a:t>
            </a:r>
            <a:r>
              <a:rPr lang="en-GB" sz="2800" dirty="0" err="1">
                <a:solidFill>
                  <a:srgbClr val="000000"/>
                </a:solidFill>
              </a:rPr>
              <a:t>sur</a:t>
            </a:r>
            <a:r>
              <a:rPr lang="en-GB" sz="2800" dirty="0">
                <a:solidFill>
                  <a:srgbClr val="000000"/>
                </a:solidFill>
              </a:rPr>
              <a:t> le </a:t>
            </a:r>
            <a:br>
              <a:rPr lang="en-GB" sz="2800" dirty="0">
                <a:solidFill>
                  <a:srgbClr val="000000"/>
                </a:solidFill>
              </a:rPr>
            </a:br>
            <a:r>
              <a:rPr lang="en-GB" sz="2800" dirty="0" err="1">
                <a:solidFill>
                  <a:srgbClr val="000000"/>
                </a:solidFill>
              </a:rPr>
              <a:t>serveur</a:t>
            </a:r>
            <a:r>
              <a:rPr lang="en-GB" sz="2800" dirty="0">
                <a:solidFill>
                  <a:srgbClr val="000000"/>
                </a:solidFill>
              </a:rPr>
              <a:t> DNS</a:t>
            </a:r>
            <a:endParaRPr lang="en-US" sz="2800" dirty="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800" dirty="0">
                <a:solidFill>
                  <a:srgbClr val="000000"/>
                </a:solidFill>
              </a:rPr>
              <a:t>Tester </a:t>
            </a:r>
            <a:r>
              <a:rPr lang="en-GB" sz="2800" dirty="0" err="1">
                <a:solidFill>
                  <a:srgbClr val="000000"/>
                </a:solidFill>
              </a:rPr>
              <a:t>manuellement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requête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récursive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sur</a:t>
            </a:r>
            <a:r>
              <a:rPr lang="en-GB" sz="2800" dirty="0">
                <a:solidFill>
                  <a:srgbClr val="000000"/>
                </a:solidFill>
              </a:rPr>
              <a:t> le </a:t>
            </a:r>
            <a:r>
              <a:rPr lang="en-GB" sz="2800" dirty="0" err="1">
                <a:solidFill>
                  <a:srgbClr val="000000"/>
                </a:solidFill>
              </a:rPr>
              <a:t>serveur</a:t>
            </a:r>
            <a:r>
              <a:rPr lang="en-GB" sz="2800" dirty="0">
                <a:solidFill>
                  <a:srgbClr val="000000"/>
                </a:solidFill>
              </a:rPr>
              <a:t> DNS</a:t>
            </a:r>
            <a:endParaRPr lang="en-US" sz="2800" dirty="0"/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800" dirty="0">
                <a:solidFill>
                  <a:srgbClr val="000000"/>
                </a:solidFill>
              </a:rPr>
              <a:t>Activer le test de </a:t>
            </a:r>
            <a:r>
              <a:rPr lang="en-GB" sz="2800" dirty="0" err="1">
                <a:solidFill>
                  <a:srgbClr val="000000"/>
                </a:solidFill>
              </a:rPr>
              <a:t>requête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automatique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sur</a:t>
            </a:r>
            <a:r>
              <a:rPr lang="en-GB" sz="2800" dirty="0">
                <a:solidFill>
                  <a:srgbClr val="000000"/>
                </a:solidFill>
              </a:rPr>
              <a:t> le </a:t>
            </a:r>
            <a:br>
              <a:rPr lang="en-GB" sz="2800" dirty="0">
                <a:solidFill>
                  <a:srgbClr val="000000"/>
                </a:solidFill>
              </a:rPr>
            </a:br>
            <a:r>
              <a:rPr lang="en-GB" sz="2800" dirty="0" err="1">
                <a:solidFill>
                  <a:srgbClr val="000000"/>
                </a:solidFill>
              </a:rPr>
              <a:t>serveur</a:t>
            </a:r>
            <a:r>
              <a:rPr lang="en-GB" sz="2800" dirty="0">
                <a:solidFill>
                  <a:srgbClr val="000000"/>
                </a:solidFill>
              </a:rPr>
              <a:t> DNS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10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4" name="Rectangle 4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9144000" cy="1320794"/>
          </a:xfrm>
          <a:solidFill>
            <a:schemeClr val="bg1"/>
          </a:solidFill>
        </p:spPr>
        <p:txBody>
          <a:bodyPr vert="horz" anchor="b">
            <a:normAutofit fontScale="90000"/>
          </a:bodyPr>
          <a:lstStyle/>
          <a:p>
            <a:r>
              <a:rPr lang="fr-FR" sz="3000" dirty="0" smtClean="0">
                <a:solidFill>
                  <a:srgbClr val="000000"/>
                </a:solidFill>
              </a:rPr>
              <a:t>4. </a:t>
            </a:r>
            <a:r>
              <a:rPr lang="fr-FR" sz="3000" dirty="0" smtClean="0">
                <a:solidFill>
                  <a:srgbClr val="000000"/>
                </a:solidFill>
              </a:rPr>
              <a:t>Vérification de la présence d'un enregistrement de ressource à l'aide de </a:t>
            </a:r>
            <a:r>
              <a:rPr lang="fr-FR" sz="3000" dirty="0" err="1" smtClean="0">
                <a:solidFill>
                  <a:srgbClr val="000000"/>
                </a:solidFill>
              </a:rPr>
              <a:t>Nslookup</a:t>
            </a:r>
            <a:r>
              <a:rPr lang="fr-FR" sz="3000" dirty="0" smtClean="0">
                <a:solidFill>
                  <a:srgbClr val="000000"/>
                </a:solidFill>
              </a:rPr>
              <a:t>, de </a:t>
            </a:r>
            <a:r>
              <a:rPr lang="fr-FR" sz="3000" dirty="0" err="1" smtClean="0">
                <a:solidFill>
                  <a:srgbClr val="000000"/>
                </a:solidFill>
              </a:rPr>
              <a:t>DNSCmd</a:t>
            </a:r>
            <a:r>
              <a:rPr lang="fr-FR" sz="3000" dirty="0" smtClean="0">
                <a:solidFill>
                  <a:srgbClr val="000000"/>
                </a:solidFill>
              </a:rPr>
              <a:t> et de </a:t>
            </a:r>
            <a:r>
              <a:rPr lang="fr-FR" sz="3000" dirty="0" err="1" smtClean="0">
                <a:solidFill>
                  <a:srgbClr val="000000"/>
                </a:solidFill>
              </a:rPr>
              <a:t>DNSLint</a:t>
            </a:r>
            <a:endParaRPr lang="en-US" sz="3000" dirty="0" smtClean="0">
              <a:solidFill>
                <a:srgbClr val="000000"/>
              </a:solidFill>
            </a:endParaRPr>
          </a:p>
        </p:txBody>
      </p:sp>
      <p:sp>
        <p:nvSpPr>
          <p:cNvPr id="573445" name="Rectangle 5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01752" y="1527048"/>
            <a:ext cx="8503920" cy="4409295"/>
          </a:xfrm>
        </p:spPr>
        <p:txBody>
          <a:bodyPr vert="horz"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C00000"/>
                </a:solidFill>
              </a:rPr>
              <a:t>Pourquoi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800" dirty="0" err="1">
                <a:solidFill>
                  <a:srgbClr val="C00000"/>
                </a:solidFill>
              </a:rPr>
              <a:t>vérifier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800" dirty="0" err="1">
                <a:solidFill>
                  <a:srgbClr val="C00000"/>
                </a:solidFill>
              </a:rPr>
              <a:t>s'il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800" dirty="0" err="1">
                <a:solidFill>
                  <a:srgbClr val="C00000"/>
                </a:solidFill>
              </a:rPr>
              <a:t>existe</a:t>
            </a:r>
            <a:r>
              <a:rPr lang="en-GB" sz="2800" dirty="0">
                <a:solidFill>
                  <a:srgbClr val="C00000"/>
                </a:solidFill>
              </a:rPr>
              <a:t> un </a:t>
            </a:r>
            <a:r>
              <a:rPr lang="en-GB" sz="2800" dirty="0" err="1">
                <a:solidFill>
                  <a:srgbClr val="C00000"/>
                </a:solidFill>
              </a:rPr>
              <a:t>enregistrement</a:t>
            </a:r>
            <a:r>
              <a:rPr lang="en-GB" sz="2800" dirty="0">
                <a:solidFill>
                  <a:srgbClr val="C00000"/>
                </a:solidFill>
              </a:rPr>
              <a:t> de </a:t>
            </a:r>
            <a:r>
              <a:rPr lang="en-GB" sz="2800" dirty="0" err="1">
                <a:solidFill>
                  <a:srgbClr val="C00000"/>
                </a:solidFill>
              </a:rPr>
              <a:t>ressource</a:t>
            </a:r>
            <a:r>
              <a:rPr lang="en-GB" sz="2800" dirty="0">
                <a:solidFill>
                  <a:srgbClr val="C00000"/>
                </a:solidFill>
              </a:rPr>
              <a:t> ?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C00000"/>
                </a:solidFill>
              </a:rPr>
              <a:t>Nslookup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C00000"/>
                </a:solidFill>
              </a:rPr>
              <a:t>DNSCmd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GB" sz="2800" dirty="0" err="1" smtClean="0">
                <a:solidFill>
                  <a:srgbClr val="C00000"/>
                </a:solidFill>
              </a:rPr>
              <a:t>DNSLint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11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8" name="Rectangle 4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5014" y="170543"/>
            <a:ext cx="8987388" cy="903513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Pourquoi vérifier s'il existe un enregistrement de ressource ?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74488" name="AutoShape 2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8686" y="1701792"/>
            <a:ext cx="8766628" cy="2311400"/>
          </a:xfrm>
          <a:prstGeom prst="roundRect">
            <a:avLst>
              <a:gd name="adj" fmla="val 3736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600">
                <a:solidFill>
                  <a:srgbClr val="000000"/>
                </a:solidFill>
              </a:rPr>
              <a:t>Pour identifier les problèmes liés à votre solution DNS, vous devez vérifier :</a:t>
            </a:r>
            <a:endParaRPr lang="en-US" sz="2600">
              <a:solidFill>
                <a:srgbClr val="000000"/>
              </a:solidFill>
            </a:endParaRPr>
          </a:p>
        </p:txBody>
      </p:sp>
      <p:sp>
        <p:nvSpPr>
          <p:cNvPr id="574489" name="AutoShape 2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0407" y="2546342"/>
            <a:ext cx="8243186" cy="145891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en-GB" sz="2600">
                <a:solidFill>
                  <a:srgbClr val="000000"/>
                </a:solidFill>
              </a:rPr>
              <a:t>Les enregistrements manquants</a:t>
            </a:r>
            <a:endParaRPr lang="en-US" sz="260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en-GB" sz="2600">
                <a:solidFill>
                  <a:srgbClr val="000000"/>
                </a:solidFill>
              </a:rPr>
              <a:t>Les enregistrements incomplets</a:t>
            </a:r>
            <a:endParaRPr lang="en-US" sz="260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en-GB" sz="2600">
                <a:solidFill>
                  <a:srgbClr val="000000"/>
                </a:solidFill>
              </a:rPr>
              <a:t>Les enregistrements mal configurés</a:t>
            </a:r>
            <a:endParaRPr lang="en-US" sz="2600">
              <a:solidFill>
                <a:srgbClr val="000000"/>
              </a:solidFill>
            </a:endParaRPr>
          </a:p>
        </p:txBody>
      </p:sp>
      <p:sp>
        <p:nvSpPr>
          <p:cNvPr id="574490" name="AutoShape 2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8686" y="4390560"/>
            <a:ext cx="8766628" cy="2298700"/>
          </a:xfrm>
          <a:prstGeom prst="roundRect">
            <a:avLst>
              <a:gd name="adj" fmla="val 3736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600" dirty="0" err="1">
                <a:solidFill>
                  <a:srgbClr val="000000"/>
                </a:solidFill>
              </a:rPr>
              <a:t>Trois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utilitaires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sont</a:t>
            </a:r>
            <a:r>
              <a:rPr lang="en-GB" sz="2600" dirty="0">
                <a:solidFill>
                  <a:srgbClr val="000000"/>
                </a:solidFill>
              </a:rPr>
              <a:t> à </a:t>
            </a:r>
            <a:r>
              <a:rPr lang="en-GB" sz="2600" dirty="0" err="1">
                <a:solidFill>
                  <a:srgbClr val="000000"/>
                </a:solidFill>
              </a:rPr>
              <a:t>votre</a:t>
            </a:r>
            <a:r>
              <a:rPr lang="en-GB" sz="2600" dirty="0">
                <a:solidFill>
                  <a:srgbClr val="000000"/>
                </a:solidFill>
              </a:rPr>
              <a:t> disposition pour analyser, </a:t>
            </a:r>
            <a:r>
              <a:rPr lang="en-GB" sz="2600" dirty="0" err="1">
                <a:solidFill>
                  <a:srgbClr val="000000"/>
                </a:solidFill>
              </a:rPr>
              <a:t>gérer</a:t>
            </a:r>
            <a:r>
              <a:rPr lang="en-GB" sz="2600" dirty="0">
                <a:solidFill>
                  <a:srgbClr val="000000"/>
                </a:solidFill>
              </a:rPr>
              <a:t> et </a:t>
            </a:r>
            <a:r>
              <a:rPr lang="en-GB" sz="2600" dirty="0" err="1">
                <a:solidFill>
                  <a:srgbClr val="000000"/>
                </a:solidFill>
              </a:rPr>
              <a:t>dépanner</a:t>
            </a:r>
            <a:r>
              <a:rPr lang="en-GB" sz="2600" dirty="0">
                <a:solidFill>
                  <a:srgbClr val="000000"/>
                </a:solidFill>
              </a:rPr>
              <a:t> le </a:t>
            </a:r>
            <a:r>
              <a:rPr lang="en-GB" sz="2600" dirty="0" err="1">
                <a:solidFill>
                  <a:srgbClr val="000000"/>
                </a:solidFill>
              </a:rPr>
              <a:t>système</a:t>
            </a:r>
            <a:r>
              <a:rPr lang="en-GB" sz="2600" dirty="0">
                <a:solidFill>
                  <a:srgbClr val="000000"/>
                </a:solidFill>
              </a:rPr>
              <a:t> DNS :</a:t>
            </a:r>
            <a:endParaRPr lang="en-US" sz="2600" dirty="0"/>
          </a:p>
        </p:txBody>
      </p:sp>
      <p:sp>
        <p:nvSpPr>
          <p:cNvPr id="574491" name="AutoShape 2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0407" y="5209710"/>
            <a:ext cx="8243186" cy="148113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en-GB" sz="2600" dirty="0" err="1">
                <a:solidFill>
                  <a:srgbClr val="000000"/>
                </a:solidFill>
              </a:rPr>
              <a:t>Nslookup</a:t>
            </a:r>
            <a:endParaRPr lang="en-US" sz="26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en-GB" sz="2600" dirty="0" err="1">
                <a:solidFill>
                  <a:srgbClr val="000000"/>
                </a:solidFill>
              </a:rPr>
              <a:t>DNSCmd</a:t>
            </a:r>
            <a:endParaRPr lang="en-US" sz="26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8"/>
              </a:buBlip>
            </a:pPr>
            <a:r>
              <a:rPr lang="en-GB" sz="2600" dirty="0" err="1">
                <a:solidFill>
                  <a:srgbClr val="000000"/>
                </a:solidFill>
              </a:rPr>
              <a:t>DNSLint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12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57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2000"/>
                                        <p:tgtEl>
                                          <p:spTgt spid="57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90" grpId="0" animBg="1"/>
      <p:bldP spid="57449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6" name="Rectangle 4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sz="3000" dirty="0" err="1">
                <a:solidFill>
                  <a:srgbClr val="C00000"/>
                </a:solidFill>
              </a:rPr>
              <a:t>Nslookup</a:t>
            </a:r>
            <a:endParaRPr lang="en-US" sz="3000" dirty="0">
              <a:solidFill>
                <a:srgbClr val="C00000"/>
              </a:solidFill>
            </a:endParaRPr>
          </a:p>
        </p:txBody>
      </p:sp>
      <p:pic>
        <p:nvPicPr>
          <p:cNvPr id="576550" name="Picture 38" descr="mod_6_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98211" y="2152199"/>
            <a:ext cx="9002247" cy="4459984"/>
          </a:xfrm>
          <a:noFill/>
          <a:ln/>
        </p:spPr>
      </p:pic>
      <p:sp>
        <p:nvSpPr>
          <p:cNvPr id="576545" name="AutoShape 3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309007"/>
            <a:ext cx="9144000" cy="781050"/>
          </a:xfrm>
          <a:prstGeom prst="roundRect">
            <a:avLst>
              <a:gd name="adj" fmla="val 30653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600" i="1">
                <a:solidFill>
                  <a:srgbClr val="000000"/>
                </a:solidFill>
              </a:rPr>
              <a:t>Nslookup</a:t>
            </a:r>
            <a:r>
              <a:rPr lang="en-GB" sz="2600">
                <a:solidFill>
                  <a:srgbClr val="000000"/>
                </a:solidFill>
              </a:rPr>
              <a:t> est un utilitaire de ligne de commande permettant de </a:t>
            </a:r>
            <a:br>
              <a:rPr lang="en-GB" sz="2600">
                <a:solidFill>
                  <a:srgbClr val="000000"/>
                </a:solidFill>
              </a:rPr>
            </a:br>
            <a:r>
              <a:rPr lang="en-GB" sz="2600">
                <a:solidFill>
                  <a:srgbClr val="000000"/>
                </a:solidFill>
              </a:rPr>
              <a:t>diagnostiquer l'infrastructure DNS</a:t>
            </a:r>
            <a:endParaRPr lang="en-US" sz="260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13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19" name="AutoShape 9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14" y="1355269"/>
            <a:ext cx="9140586" cy="949325"/>
          </a:xfrm>
          <a:prstGeom prst="roundRect">
            <a:avLst>
              <a:gd name="adj" fmla="val 23014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square" anchor="ctr"/>
          <a:lstStyle/>
          <a:p>
            <a:pPr algn="l">
              <a:lnSpc>
                <a:spcPct val="85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400" i="1" dirty="0" err="1">
                <a:solidFill>
                  <a:srgbClr val="000000"/>
                </a:solidFill>
              </a:rPr>
              <a:t>DNSCmd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est</a:t>
            </a:r>
            <a:r>
              <a:rPr lang="en-GB" sz="2400" dirty="0">
                <a:solidFill>
                  <a:srgbClr val="000000"/>
                </a:solidFill>
              </a:rPr>
              <a:t> un </a:t>
            </a:r>
            <a:r>
              <a:rPr lang="en-GB" sz="2400" dirty="0" err="1">
                <a:solidFill>
                  <a:srgbClr val="000000"/>
                </a:solidFill>
              </a:rPr>
              <a:t>outil</a:t>
            </a:r>
            <a:r>
              <a:rPr lang="en-GB" sz="2400" dirty="0">
                <a:solidFill>
                  <a:srgbClr val="000000"/>
                </a:solidFill>
              </a:rPr>
              <a:t> de support qui </a:t>
            </a:r>
            <a:r>
              <a:rPr lang="en-GB" sz="2400" dirty="0" err="1">
                <a:solidFill>
                  <a:srgbClr val="000000"/>
                </a:solidFill>
              </a:rPr>
              <a:t>permet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d'effectuer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nombreuses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tâches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d'administration</a:t>
            </a:r>
            <a:r>
              <a:rPr lang="en-GB" sz="2400" dirty="0">
                <a:solidFill>
                  <a:srgbClr val="000000"/>
                </a:solidFill>
              </a:rPr>
              <a:t> DNS </a:t>
            </a:r>
            <a:r>
              <a:rPr lang="en-GB" sz="2400" dirty="0" err="1">
                <a:solidFill>
                  <a:srgbClr val="000000"/>
                </a:solidFill>
              </a:rPr>
              <a:t>sur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serveur</a:t>
            </a:r>
            <a:r>
              <a:rPr lang="en-GB" sz="2400" dirty="0">
                <a:solidFill>
                  <a:srgbClr val="000000"/>
                </a:solidFill>
              </a:rPr>
              <a:t> DNS </a:t>
            </a:r>
            <a:r>
              <a:rPr lang="en-GB" sz="2400" dirty="0" smtClean="0">
                <a:solidFill>
                  <a:srgbClr val="000000"/>
                </a:solidFill>
              </a:rPr>
              <a:t>à </a:t>
            </a:r>
            <a:r>
              <a:rPr lang="en-GB" sz="2400" dirty="0" err="1" smtClean="0">
                <a:solidFill>
                  <a:srgbClr val="000000"/>
                </a:solidFill>
              </a:rPr>
              <a:t>partir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d'une</a:t>
            </a:r>
            <a:r>
              <a:rPr lang="en-GB" sz="2400" dirty="0">
                <a:solidFill>
                  <a:srgbClr val="000000"/>
                </a:solidFill>
              </a:rPr>
              <a:t> invite de </a:t>
            </a:r>
            <a:r>
              <a:rPr lang="en-GB" sz="2400" dirty="0" err="1">
                <a:solidFill>
                  <a:srgbClr val="000000"/>
                </a:solidFill>
              </a:rPr>
              <a:t>commandes</a:t>
            </a:r>
            <a:endParaRPr lang="en-US" sz="2400" dirty="0"/>
          </a:p>
        </p:txBody>
      </p:sp>
      <p:pic>
        <p:nvPicPr>
          <p:cNvPr id="542822" name="Picture 102" descr="DNSCMD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0230" y="1349827"/>
            <a:ext cx="7881256" cy="5508173"/>
          </a:xfrm>
          <a:prstGeom prst="rect">
            <a:avLst/>
          </a:prstGeom>
          <a:noFill/>
        </p:spPr>
      </p:pic>
      <p:sp>
        <p:nvSpPr>
          <p:cNvPr id="542723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sz="3000" dirty="0">
                <a:solidFill>
                  <a:srgbClr val="C00000"/>
                </a:solidFill>
              </a:rPr>
              <a:t>DNSCmd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14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5140" y="2895599"/>
            <a:ext cx="8926286" cy="2823030"/>
          </a:xfrm>
          <a:prstGeom prst="roundRect">
            <a:avLst>
              <a:gd name="adj" fmla="val 27315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buFont typeface="Wingdings" pitchFamily="2" charset="2"/>
              <a:buChar char="q"/>
            </a:pPr>
            <a:r>
              <a:rPr lang="fr-FR" sz="2400" dirty="0" smtClean="0"/>
              <a:t> </a:t>
            </a:r>
            <a:r>
              <a:rPr lang="fr-FR" sz="2600" dirty="0" smtClean="0"/>
              <a:t>DNSLINT /d diagnostique les causes possibles de délégations inappropriées et d’autres problèmes DNS apparentés.</a:t>
            </a:r>
          </a:p>
          <a:p>
            <a:pPr algn="l">
              <a:buFont typeface="Wingdings" pitchFamily="2" charset="2"/>
              <a:buChar char="q"/>
            </a:pPr>
            <a:r>
              <a:rPr lang="fr-FR" sz="2600" dirty="0" smtClean="0"/>
              <a:t> DNSLINT /</a:t>
            </a:r>
            <a:r>
              <a:rPr lang="fr-FR" sz="2600" dirty="0" err="1" smtClean="0"/>
              <a:t>ql</a:t>
            </a:r>
            <a:r>
              <a:rPr lang="fr-FR" sz="2600" dirty="0" smtClean="0"/>
              <a:t> vérifie un ensemble défini par l’utilisateur d’enregistrements DNS sur plusieurs serveurs DNS.</a:t>
            </a:r>
          </a:p>
          <a:p>
            <a:pPr algn="l">
              <a:buFont typeface="Wingdings" pitchFamily="2" charset="2"/>
              <a:buChar char="q"/>
            </a:pPr>
            <a:r>
              <a:rPr lang="fr-FR" sz="2600" dirty="0" smtClean="0"/>
              <a:t> DNSLINT /ad vérifie les enregistrements DNS spécifiquement employés pour la réplication Active Directory.</a:t>
            </a:r>
            <a:endParaRPr lang="fr-FR" sz="2600" dirty="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sz="3000" dirty="0">
                <a:solidFill>
                  <a:srgbClr val="C00000"/>
                </a:solidFill>
              </a:rPr>
              <a:t>DNSLint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58093" name="AutoShape 1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306285"/>
            <a:ext cx="9144000" cy="1112157"/>
          </a:xfrm>
          <a:prstGeom prst="roundRect">
            <a:avLst>
              <a:gd name="adj" fmla="val 27315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400" i="1">
                <a:solidFill>
                  <a:srgbClr val="000000"/>
                </a:solidFill>
              </a:rPr>
              <a:t>DNSLint</a:t>
            </a:r>
            <a:r>
              <a:rPr lang="en-GB" sz="2400">
                <a:solidFill>
                  <a:srgbClr val="000000"/>
                </a:solidFill>
              </a:rPr>
              <a:t> est un utilitaire Microsoft Windows qui peut exécuter une série de requêtes facilitant le diagnostic des problèmes courants liés à la résolution de noms DNS</a:t>
            </a:r>
            <a:endParaRPr lang="en-US" sz="2400"/>
          </a:p>
        </p:txBody>
      </p:sp>
      <p:pic>
        <p:nvPicPr>
          <p:cNvPr id="558097" name="Picture 17" descr="DNSLint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46591" y="1252990"/>
            <a:ext cx="7506181" cy="5605010"/>
          </a:xfrm>
          <a:prstGeom prst="rect">
            <a:avLst/>
          </a:prstGeom>
          <a:noFill/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15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5580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8690" y="29032"/>
            <a:ext cx="8737600" cy="1088572"/>
          </a:xfrm>
          <a:noFill/>
        </p:spPr>
        <p:txBody>
          <a:bodyPr vert="horz" anchor="b">
            <a:normAutofit/>
          </a:bodyPr>
          <a:lstStyle/>
          <a:p>
            <a:r>
              <a:rPr lang="fr-FR" sz="3000" dirty="0" smtClean="0">
                <a:solidFill>
                  <a:srgbClr val="000000"/>
                </a:solidFill>
              </a:rPr>
              <a:t>5. </a:t>
            </a:r>
            <a:r>
              <a:rPr lang="fr-FR" sz="3000" dirty="0" smtClean="0">
                <a:solidFill>
                  <a:srgbClr val="000000"/>
                </a:solidFill>
              </a:rPr>
              <a:t>Analyse des performances du serveur DNS</a:t>
            </a:r>
            <a:endParaRPr lang="en-US" sz="3000" dirty="0" smtClean="0">
              <a:solidFill>
                <a:srgbClr val="000000"/>
              </a:solidFill>
            </a:endParaRPr>
          </a:p>
        </p:txBody>
      </p:sp>
      <p:sp>
        <p:nvSpPr>
          <p:cNvPr id="551939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33829" y="1462088"/>
            <a:ext cx="8490857" cy="4694237"/>
          </a:xfrm>
        </p:spPr>
        <p:txBody>
          <a:bodyPr vert="horz">
            <a:normAutofit/>
          </a:bodyPr>
          <a:lstStyle/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C00000"/>
                </a:solidFill>
              </a:rPr>
              <a:t>Principes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800" dirty="0" err="1">
                <a:solidFill>
                  <a:srgbClr val="C00000"/>
                </a:solidFill>
              </a:rPr>
              <a:t>d'analyse</a:t>
            </a:r>
            <a:r>
              <a:rPr lang="en-GB" sz="2800" dirty="0">
                <a:solidFill>
                  <a:srgbClr val="C00000"/>
                </a:solidFill>
              </a:rPr>
              <a:t> des performances du </a:t>
            </a:r>
            <a:r>
              <a:rPr lang="en-GB" sz="2800" dirty="0" err="1">
                <a:solidFill>
                  <a:srgbClr val="C00000"/>
                </a:solidFill>
              </a:rPr>
              <a:t>serveur</a:t>
            </a:r>
            <a:r>
              <a:rPr lang="en-GB" sz="2800" dirty="0">
                <a:solidFill>
                  <a:srgbClr val="C00000"/>
                </a:solidFill>
              </a:rPr>
              <a:t> DNS </a:t>
            </a:r>
            <a:r>
              <a:rPr lang="en-GB" sz="2800" dirty="0" smtClean="0">
                <a:solidFill>
                  <a:srgbClr val="C00000"/>
                </a:solidFill>
              </a:rPr>
              <a:t> à </a:t>
            </a:r>
            <a:r>
              <a:rPr lang="en-GB" sz="2800" dirty="0" err="1">
                <a:solidFill>
                  <a:srgbClr val="C00000"/>
                </a:solidFill>
              </a:rPr>
              <a:t>l'aide</a:t>
            </a:r>
            <a:r>
              <a:rPr lang="en-GB" sz="2800" dirty="0">
                <a:solidFill>
                  <a:srgbClr val="C00000"/>
                </a:solidFill>
              </a:rPr>
              <a:t> de la console de performances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C00000"/>
                </a:solidFill>
              </a:rPr>
              <a:t>Qu'est-ce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800" dirty="0" err="1">
                <a:solidFill>
                  <a:srgbClr val="C00000"/>
                </a:solidFill>
              </a:rPr>
              <a:t>qu'un</a:t>
            </a:r>
            <a:r>
              <a:rPr lang="en-GB" sz="2800" dirty="0">
                <a:solidFill>
                  <a:srgbClr val="C00000"/>
                </a:solidFill>
              </a:rPr>
              <a:t> journal des </a:t>
            </a:r>
            <a:r>
              <a:rPr lang="en-GB" sz="2800" dirty="0" err="1">
                <a:solidFill>
                  <a:srgbClr val="C00000"/>
                </a:solidFill>
              </a:rPr>
              <a:t>événements</a:t>
            </a:r>
            <a:r>
              <a:rPr lang="en-GB" sz="2800" dirty="0">
                <a:solidFill>
                  <a:srgbClr val="C00000"/>
                </a:solidFill>
              </a:rPr>
              <a:t> DNS ?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GB" sz="2800" dirty="0" err="1">
                <a:solidFill>
                  <a:srgbClr val="C00000"/>
                </a:solidFill>
              </a:rPr>
              <a:t>Qu'est-ce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800" dirty="0" err="1">
                <a:solidFill>
                  <a:srgbClr val="C00000"/>
                </a:solidFill>
              </a:rPr>
              <a:t>que</a:t>
            </a:r>
            <a:r>
              <a:rPr lang="en-GB" sz="2800" dirty="0">
                <a:solidFill>
                  <a:srgbClr val="C00000"/>
                </a:solidFill>
              </a:rPr>
              <a:t> </a:t>
            </a:r>
            <a:r>
              <a:rPr lang="en-GB" sz="2800" dirty="0" err="1">
                <a:solidFill>
                  <a:srgbClr val="C00000"/>
                </a:solidFill>
              </a:rPr>
              <a:t>l'enregistrement</a:t>
            </a:r>
            <a:r>
              <a:rPr lang="en-GB" sz="2800" dirty="0">
                <a:solidFill>
                  <a:srgbClr val="C00000"/>
                </a:solidFill>
              </a:rPr>
              <a:t> de </a:t>
            </a:r>
            <a:r>
              <a:rPr lang="en-GB" sz="2800" dirty="0" err="1">
                <a:solidFill>
                  <a:srgbClr val="C00000"/>
                </a:solidFill>
              </a:rPr>
              <a:t>débogage</a:t>
            </a:r>
            <a:r>
              <a:rPr lang="en-GB" sz="2800" dirty="0">
                <a:solidFill>
                  <a:srgbClr val="C00000"/>
                </a:solidFill>
              </a:rPr>
              <a:t> DNS </a:t>
            </a:r>
            <a:r>
              <a:rPr lang="en-GB" sz="2800" dirty="0" smtClean="0">
                <a:solidFill>
                  <a:srgbClr val="C00000"/>
                </a:solidFill>
              </a:rPr>
              <a:t>?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16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-3042" y="170544"/>
            <a:ext cx="9147042" cy="845456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Principes d'analyse des performances du serveur DNS à l'aide de la console de performances</a:t>
            </a:r>
            <a:endParaRPr lang="en-US" sz="3000" dirty="0">
              <a:solidFill>
                <a:srgbClr val="C00000"/>
              </a:solidFill>
            </a:endParaRPr>
          </a:p>
        </p:txBody>
      </p:sp>
      <p:graphicFrame>
        <p:nvGraphicFramePr>
          <p:cNvPr id="601201" name="Group 113"/>
          <p:cNvGraphicFramePr>
            <a:graphicFrameLocks noGrp="1"/>
          </p:cNvGraphicFramePr>
          <p:nvPr/>
        </p:nvGraphicFramePr>
        <p:xfrm>
          <a:off x="198210" y="1402442"/>
          <a:ext cx="8757103" cy="4983844"/>
        </p:xfrm>
        <a:graphic>
          <a:graphicData uri="http://schemas.openxmlformats.org/drawingml/2006/table">
            <a:tbl>
              <a:tblPr/>
              <a:tblGrid>
                <a:gridCol w="3345277"/>
                <a:gridCol w="5411826"/>
              </a:tblGrid>
              <a:tr h="10470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Compteur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performance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Événements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à </a:t>
                      </a: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rechercher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après </a:t>
                      </a: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l'établissement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d'une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6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ligne</a:t>
                      </a:r>
                      <a:r>
                        <a:rPr kumimoji="0" lang="en-GB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base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10470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Mise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à jour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dynamique</a:t>
                      </a:r>
                      <a:r>
                        <a:rPr kumimoji="0" lang="en-GB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refusée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Si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valeur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dépasse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ligne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base,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recherches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supplémentaires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s'imposent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564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Requêtes récursives/seconde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Si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valeur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chute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ou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augmente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considérablement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,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recherches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supplémentaires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s'imposent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6333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Demandes AXFR envoyées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Si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valeur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dépasse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largement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la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ligne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base,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revoir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éventuellement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le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nombre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modifications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apportées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à la zone et à la configuration des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transferts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zone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17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9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5986" y="290285"/>
            <a:ext cx="9118014" cy="653143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Qu'est-ce qu'un journal des événements DNS ?</a:t>
            </a:r>
            <a:endParaRPr lang="en-US" sz="3000" dirty="0">
              <a:solidFill>
                <a:srgbClr val="C00000"/>
              </a:solidFill>
            </a:endParaRPr>
          </a:p>
        </p:txBody>
      </p:sp>
      <p:pic>
        <p:nvPicPr>
          <p:cNvPr id="582678" name="Picture 22" descr="mod_6_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613319" y="1335314"/>
            <a:ext cx="7610385" cy="5345108"/>
          </a:xfrm>
          <a:noFill/>
          <a:ln/>
        </p:spPr>
      </p:pic>
      <p:sp>
        <p:nvSpPr>
          <p:cNvPr id="582676" name="AutoShape 2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4168" y="1334860"/>
            <a:ext cx="8775700" cy="958396"/>
          </a:xfrm>
          <a:prstGeom prst="roundRect">
            <a:avLst>
              <a:gd name="adj" fmla="val 30653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600" dirty="0">
                <a:solidFill>
                  <a:srgbClr val="000000"/>
                </a:solidFill>
              </a:rPr>
              <a:t>Un </a:t>
            </a:r>
            <a:r>
              <a:rPr lang="en-GB" sz="2600" i="1" dirty="0">
                <a:solidFill>
                  <a:srgbClr val="000000"/>
                </a:solidFill>
              </a:rPr>
              <a:t>journal des </a:t>
            </a:r>
            <a:r>
              <a:rPr lang="en-GB" sz="2600" i="1" dirty="0" err="1">
                <a:solidFill>
                  <a:srgbClr val="000000"/>
                </a:solidFill>
              </a:rPr>
              <a:t>événements</a:t>
            </a:r>
            <a:r>
              <a:rPr lang="en-GB" sz="2600" i="1" dirty="0">
                <a:solidFill>
                  <a:srgbClr val="000000"/>
                </a:solidFill>
              </a:rPr>
              <a:t> DNS </a:t>
            </a:r>
            <a:r>
              <a:rPr lang="en-GB" sz="2600" dirty="0" err="1">
                <a:solidFill>
                  <a:srgbClr val="000000"/>
                </a:solidFill>
              </a:rPr>
              <a:t>est</a:t>
            </a:r>
            <a:r>
              <a:rPr lang="en-GB" sz="2600" dirty="0">
                <a:solidFill>
                  <a:srgbClr val="000000"/>
                </a:solidFill>
              </a:rPr>
              <a:t> un journal </a:t>
            </a:r>
            <a:r>
              <a:rPr lang="en-GB" sz="2600" dirty="0" err="1" smtClean="0">
                <a:solidFill>
                  <a:srgbClr val="000000"/>
                </a:solidFill>
              </a:rPr>
              <a:t>système</a:t>
            </a:r>
            <a:r>
              <a:rPr lang="en-GB" sz="2600" dirty="0" smtClean="0">
                <a:solidFill>
                  <a:srgbClr val="000000"/>
                </a:solidFill>
              </a:rPr>
              <a:t> </a:t>
            </a:r>
            <a:r>
              <a:rPr lang="en-GB" sz="2600" dirty="0" err="1" smtClean="0">
                <a:solidFill>
                  <a:srgbClr val="000000"/>
                </a:solidFill>
              </a:rPr>
              <a:t>configuré</a:t>
            </a:r>
            <a:r>
              <a:rPr lang="en-GB" sz="2600" dirty="0" smtClean="0">
                <a:solidFill>
                  <a:srgbClr val="000000"/>
                </a:solidFill>
              </a:rPr>
              <a:t> </a:t>
            </a:r>
            <a:r>
              <a:rPr lang="en-GB" sz="2600" dirty="0">
                <a:solidFill>
                  <a:srgbClr val="000000"/>
                </a:solidFill>
              </a:rPr>
              <a:t>pour </a:t>
            </a:r>
            <a:r>
              <a:rPr lang="en-GB" sz="2600" dirty="0" err="1">
                <a:solidFill>
                  <a:srgbClr val="000000"/>
                </a:solidFill>
              </a:rPr>
              <a:t>n'enregistrer</a:t>
            </a:r>
            <a:r>
              <a:rPr lang="en-GB" sz="2600" dirty="0">
                <a:solidFill>
                  <a:srgbClr val="000000"/>
                </a:solidFill>
              </a:rPr>
              <a:t> </a:t>
            </a:r>
            <a:r>
              <a:rPr lang="en-GB" sz="2600" dirty="0" err="1">
                <a:solidFill>
                  <a:srgbClr val="000000"/>
                </a:solidFill>
              </a:rPr>
              <a:t>que</a:t>
            </a:r>
            <a:r>
              <a:rPr lang="en-GB" sz="2600" dirty="0">
                <a:solidFill>
                  <a:srgbClr val="000000"/>
                </a:solidFill>
              </a:rPr>
              <a:t> les </a:t>
            </a:r>
            <a:r>
              <a:rPr lang="en-GB" sz="2600" dirty="0" err="1">
                <a:solidFill>
                  <a:srgbClr val="000000"/>
                </a:solidFill>
              </a:rPr>
              <a:t>événements</a:t>
            </a:r>
            <a:r>
              <a:rPr lang="en-GB" sz="2600" dirty="0">
                <a:solidFill>
                  <a:srgbClr val="000000"/>
                </a:solidFill>
              </a:rPr>
              <a:t> DNS</a:t>
            </a:r>
            <a:endParaRPr lang="en-US" sz="26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18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5826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03200" y="174171"/>
            <a:ext cx="8766629" cy="994221"/>
          </a:xfrm>
        </p:spPr>
        <p:txBody>
          <a:bodyPr vert="horz" anchor="b">
            <a:normAutofit fontScale="90000"/>
          </a:bodyPr>
          <a:lstStyle/>
          <a:p>
            <a:r>
              <a:rPr lang="fr-FR" sz="3000" dirty="0">
                <a:solidFill>
                  <a:srgbClr val="C00000"/>
                </a:solidFill>
              </a:rPr>
              <a:t>Qu'est-ce que l'enregistrement de débogage DNS ?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605246" name="AutoShape 6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480" y="1314450"/>
            <a:ext cx="8764806" cy="877207"/>
          </a:xfrm>
          <a:prstGeom prst="roundRect">
            <a:avLst>
              <a:gd name="adj" fmla="val 32662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400">
                <a:solidFill>
                  <a:srgbClr val="000000"/>
                </a:solidFill>
              </a:rPr>
              <a:t>L'</a:t>
            </a:r>
            <a:r>
              <a:rPr lang="en-GB" sz="2400" i="1">
                <a:solidFill>
                  <a:srgbClr val="000000"/>
                </a:solidFill>
              </a:rPr>
              <a:t>enregistrement de débogage DNS </a:t>
            </a:r>
            <a:r>
              <a:rPr lang="en-GB" sz="2400">
                <a:solidFill>
                  <a:srgbClr val="000000"/>
                </a:solidFill>
              </a:rPr>
              <a:t>est un outil journal facultatif pour DNS, qui stocke les informations DNS que vous sélectionnez</a:t>
            </a:r>
            <a:endParaRPr lang="en-US" sz="240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4294967295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19</a:t>
            </a:fld>
            <a:endParaRPr kumimoji="0" lang="en-US" dirty="0"/>
          </a:p>
        </p:txBody>
      </p:sp>
      <p:pic>
        <p:nvPicPr>
          <p:cNvPr id="605253" name="Picture 69" descr="mod_6_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/>
          <a:stretch>
            <a:fillRect/>
          </a:stretch>
        </p:blipFill>
        <p:spPr>
          <a:xfrm>
            <a:off x="1626271" y="1262743"/>
            <a:ext cx="5514166" cy="5595257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0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500"/>
                                        <p:tgtEl>
                                          <p:spTgt spid="605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24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Pourquoi la durée de vie est importante?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Que signifie le paramètre de vieillissement dans le service DNS?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Que signifie le paramètre de </a:t>
            </a:r>
            <a:r>
              <a:rPr lang="fr-FR" dirty="0" smtClean="0"/>
              <a:t>nettoyage </a:t>
            </a:r>
            <a:r>
              <a:rPr lang="fr-FR" dirty="0" smtClean="0"/>
              <a:t>dans le service DNS</a:t>
            </a:r>
            <a:r>
              <a:rPr lang="fr-FR" dirty="0" smtClean="0"/>
              <a:t>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A quoi correspond l’intervalle d’actualisation et de non-actualisation?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A quoi sert les tests de requêtes simples et récursives?  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Quels sont les outils de gestion et dépannage du service DNS?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Comment analyser les performances du service DNS?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"/>
  <p:tag name="PPWINSEGMENT1SOURCERTF" val="{\rtf1\ansi\deff0{\fonttbl{\f0\fcharset0 Arial Narrow;}}{\colortbl\red0\green0\blue0;}{\f0\fs100\b\cf0 Module 6:\par}}"/>
  <p:tag name="PPWINSEGMENT1TARGETRTF" val="{\rtf1\ansi\deff1{\fonttbl{\f1\fcharset0 Arial;}{\f2\fcharset0 Arial Narrow;}}{\colortbl\red0\green0\blue0;}{\f2\fs100\b\cf0 Module 6 :\par}}"/>
  <p:tag name="PPWINSEGMENT2START" val="12"/>
  <p:tag name="PPWINSEGMENT2LENGTH" val="33"/>
  <p:tag name="PPWINSEGMENT2SOURCERTF" val="{\rtf1\ansi\deff0{\fonttbl{\f0\fcharset0 Arial Narrow;}}{\colortbl\red0\green0\blue0;}{\f0\fs100\b\cf0 Managing and Monitoring Domain Name System (DNS)\par}}"/>
  <p:tag name="PPWINSEGMENT2TARGETRTF" val="{\rtf1\ansi\deff1{\fonttbl{\f1\fcharset0 Arial;}{\f2\fcharset0 Arial Narrow;}}{\colortbl\red0\green0\blue0;}{\f2\fs100\b\cf0 Gestion et analyse du syst\'E8me DNS\par}}"/>
  <p:tag name="PPWINLASTSAVEDTRANSLATION" val="Module 6 : Gestion et analyse du système DNS"/>
  <p:tag name="PPWINALREADYSEGMENTED" val="True"/>
  <p:tag name="PPWINTOTALSEGMENTS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60\b\cf0 Overview\par}}"/>
  <p:tag name="PPWINSEGMENT1TARGETRTF" val="{\rtf1\ansi\deff1{\fonttbl{\f1\fcharset0 Arial;}{\f2\fcharset0 Arial Narrow;}}{\colortbl\red0\green0\blue0;}{\f2\fs60\b\cf0 Vue d'ensemble\par}}"/>
  <p:tag name="PPWINLASTSAVEDTRANSLATION" val="Vue d'ensemble"/>
  <p:tag name="PPWINALREADYSEGMENTED" val="True"/>
  <p:tag name="PPWINTOTALSEGMENTS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2"/>
  <p:tag name="PPWINSEGMENT1SOURCERTF" val="{\rtf1\ansi\deff0{\fonttbl{\f0\fcharset0 Arial Narrow;}}{\colortbl\red0\green0\blue0;}{\f0\fs48\b\cf0 Configuring the Time-to-Live Value\par}}"/>
  <p:tag name="PPWINSEGMENT1TARGETRTF" val="{\rtf1\ansi\deff1{\fonttbl{\f1\fcharset0 Arial;}{\f2\fcharset0 Arial Narrow;}}{\colortbl\red0\green0\blue0;}{\f2\fs48\b\cf0 Configuration de la valeur de dur\'E9e de vie\par}}"/>
  <p:tag name="PPWINSEGMENT2START" val="44"/>
  <p:tag name="PPWINSEGMENT2LENGTH" val="62"/>
  <p:tag name="PPWINSEGMENT2SOURCERTF" val="{\rtf1\ansi\deff0{\fonttbl{\f0\fcharset0 Arial Narrow;}}{\colortbl\red0\green0\blue0;}{\f0\fs48\b\cf0 Configuring Aging and Scavenging\par}}"/>
  <p:tag name="PPWINSEGMENT2TARGETRTF" val="{\rtf1\ansi\deff1{\fonttbl{\f1\fcharset0 Arial;}{\f2\fcharset0 Arial Narrow;}}{\colortbl\red0\green0\blue0;}{\f2\fs48\b\cf0 Configuration des param\'E8tres de vieillissement et de nettoyage\par}}"/>
  <p:tag name="PPWINSEGMENT3START" val="107"/>
  <p:tag name="PPWINSEGMENT3LENGTH" val="45"/>
  <p:tag name="PPWINSEGMENT3SOURCERTF" val="{\rtf1\ansi\deff0{\fonttbl{\f0\fcharset0 Arial Narrow;}}{\colortbl\red0\green0\blue0;}{\f0\fs48\b\cf0 Integrating DNS with WINS\par}}"/>
  <p:tag name="PPWINSEGMENT3TARGETRTF" val="{\rtf1\ansi\deff1{\fonttbl{\f1\fcharset0 Arial;}{\f2\fcharset0 Arial Narrow;}}{\colortbl\red0\green0\blue0;}{\f2\fs48\b\cf0 Int\'E9gration du syst\'E8me DNS et du service WINS\par}}"/>
  <p:tag name="PPWINSEGMENT4START" val="153"/>
  <p:tag name="PPWINSEGMENT4LENGTH" val="39"/>
  <p:tag name="PPWINSEGMENT4SOURCERTF" val="{\rtf1\ansi\deff0{\fonttbl{\f0\fcharset0 Arial Narrow;}}{\colortbl\red0\green0\blue0;}{\f0\fs48\b\cf0 Testing the DNS Server Configuration \par}}"/>
  <p:tag name="PPWINSEGMENT4TARGETRTF" val="{\rtf1\ansi\deff1{\fonttbl{\f1\fcharset0 Arial;}{\f2\fcharset0 Arial Narrow;}}{\colortbl\red0\green0\blue0;}{\f2\fs48\b\cf0 Test de la configuration du serveur DNS\par}}"/>
  <p:tag name="PPWINSEGMENT5START" val="193"/>
  <p:tag name="PPWINSEGMENT5LENGTH" val="106"/>
  <p:tag name="PPWINSEGMENT5SOURCERTF" val="{\rtf1\ansi\deff0{\fonttbl{\f0\fcharset0 Arial Narrow;}}{\colortbl\red0\green0\blue0;}{\f0\fs48\b\cf0 Verifying that a Resource Record Exists by Using Nslookup, DNSCmd, and DNSLint\par}}"/>
  <p:tag name="PPWINSEGMENT5TARGETRTF" val="{\rtf1\ansi\deff1{\fonttbl{\f1\fcharset0 Arial;}{\f2\fcharset0 Arial Narrow;}}{\colortbl\red0\green0\blue0;}{\f2\fs48\b\cf0 V\'E9rification de la pr\'E9sence d'un enregistrement de ressource \'E0 l'aide de Nslookup, de DNSCmd et de DNSLint\par}}"/>
  <p:tag name="PPWINSEGMENT6START" val="300"/>
  <p:tag name="PPWINSEGMENT6LENGTH" val="39"/>
  <p:tag name="PPWINSEGMENT6SOURCERTF" val="{\rtf1\ansi\deff0{\fonttbl{\f0\fcharset0 Arial Narrow;}}{\colortbl\red0\green0\blue0;}{\f0\fs48\b\cf0 Monitoring DNS Server Performance\par}}"/>
  <p:tag name="PPWINSEGMENT6TARGETRTF" val="{\rtf1\ansi\deff1{\fonttbl{\f1\fcharset0 Arial;}{\f2\fcharset0 Arial Narrow;}}{\colortbl\red0\green0\blue0;}{\f2\fs48\b\cf0 Analyse des performances du serveur DNS\par}}"/>
  <p:tag name="PPWINLASTSAVEDTRANSLATION" val="Configuration de la valeur de durée de vie&#10;Configuration des paramètres de vieillissement et de nettoyage&#10;Intégration du système DNS et du service WINS&#10;Test de la configuration du serveur DNS&#10;Vérification de la présence d'un enregistrement de ressource à l'aide de Nslookup, de DNSCmd et de DNSLint&#10;Analyse des performances du serveur DNS"/>
  <p:tag name="PPWINALREADYSEGMENTED" val="True"/>
  <p:tag name="PPWINTOTALSEGMENTS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3"/>
  <p:tag name="PPWINSEGMENT1SOURCERTF" val="{\rtf1\ansi\deff0{\fonttbl{\f0\fcharset0 Arial Narrow;}}{\colortbl\red0\green0\blue0;}{\f0\fs60\b\cf0 How the Time-to-Live Value Works\par}}"/>
  <p:tag name="PPWINLASTSAVEDTRANSLATION" val="Fonctionnement de la valeur de durée de vie"/>
  <p:tag name="PPWINALREADYSEGMENTED" val="True"/>
  <p:tag name="PPWINTOTALSEGMENTS" val="1"/>
  <p:tag name="PPWINSEGMENT1TARGETRTF" val="{\rtf1\ansi\deff0{\fonttbl{\f0\fcharset0 Arial Narrow;}}{\colortbl\red0\green0\blue0;}{\f0\fs60\b\cf0 Fonctionnement de la valeur de dur\'E9e de vie\par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9"/>
  <p:tag name="PPWINSEGMENT1SOURCERTF" val="{\rtf1\ansi\deff0{\fonttbl{\f0\fcharset0 Arial Narrow;}}{\colortbl\red0\green0\blue0;}{\f0\fs40\b\cf0 The }{\f0\fs40\b\i\cf0 Time-to-Live (TTL)}{\f0\fs40\b\cf0  value is a time-out value expressed in seconds that is included with DNS records that are returned in a DNS query\'A0\par}}"/>
  <p:tag name="PPWINLASTSAVEDTRANSLATION" val="La valeur de durée de vie est un délai exprimé en secondes qui figure dans les enregistrements DNS retournés par une requête DNS."/>
  <p:tag name="PPWINALREADYSEGMENTED" val="True"/>
  <p:tag name="PPWINTOTALSEGMENTS" val="1"/>
  <p:tag name="PPWINSEGMENT1TARGETRTF" val="{\rtf1\ansi\deff0{\fonttbl{\f0\fcharset0 Arial Narrow;}}{\colortbl\red0\green0\blue0;}{\f0\fs40\b\cf0 La valeur de }{\f0\fs40\b\i\cf0 dur\'E9e de vie}{\f0\fs40\b\cf0  est un d\'E9lai exprim\'E9 en secondes qui figure dans les enregistrements DNS retourn\'E9s par une requ\'EAte DNS.\par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62"/>
  <p:tag name="PPWINSEGMENT2SOURCERTF" val="{\rtf1\ansi\deff0{\fonttbl{\f0\fcharset0 Arial Narrow;}}{\colortbl\red0\green0\blue0;}{\f0\fs60\b\cf0 Configuring Aging and Scavenging \par}}"/>
  <p:tag name="PPWINSEGMENT2TARGETRTF" val="{\rtf1\ansi\deff1{\fonttbl{\f1\fcharset0 Arial;}{\f2\fcharset0 Arial Narrow;}}{\colortbl\red0\green0\blue0;}{\f2\fs60\b\cf0 Configuration des param\'E8tres de vieillissement et de nettoyage\par}}"/>
  <p:tag name="PPWINLASTSAVEDTRANSLATION" val="Leçon : Configuration des paramètres de vieillissement et de nettoyage"/>
  <p:tag name="PPWINALREADYSEGMENTED" val="True"/>
  <p:tag name="PPWINTOTALSEGMENTS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9"/>
  <p:tag name="PPWINSEGMENT1SOURCERTF" val="{\rtf1\ansi\deff0{\fonttbl{\f0\fcharset0 Arial Narrow;}}{\colortbl\red0\green0\blue0;}{\f0\fs48\b\cf0 What Are Aging and Scavenging Parameters?\par}}"/>
  <p:tag name="PPWINSEGMENT1TARGETRTF" val="{\rtf1\ansi\deff1{\fonttbl{\f1\fcharset0 Arial;}{\f2\fcharset0 Arial Narrow;}}{\colortbl\red0\green0\blue0;}{\f2\fs48\b\cf0 D\'E9finition des param\'E8tres de vieillissement et de nettoyage\par}}"/>
  <p:tag name="PPWINSEGMENT2START" val="61"/>
  <p:tag name="PPWINSEGMENT2LENGTH" val="48"/>
  <p:tag name="PPWINSEGMENT2SOURCERTF" val="{\rtf1\ansi\deff0{\fonttbl{\f0\fcharset0 Arial Narrow;}}{\colortbl\red0\green0\blue0;}{\f0\fs48\b\cf0 How Aging and Scavenging Work\par}}"/>
  <p:tag name="PPWINSEGMENT2TARGETRTF" val="{\rtf1\ansi\deff1{\fonttbl{\f1\fcharset0 Arial;}{\f2\fcharset0 Arial Narrow;}}{\colortbl\red0\green0\blue0;}{\f2\fs48\b\cf0 Fonctionnement du vieillissement et du nettoyage\par}}"/>
  <p:tag name="PPWINSEGMENT3START" val="110"/>
  <p:tag name="PPWINSEGMENT3LENGTH" val="52"/>
  <p:tag name="PPWINSEGMENT3SOURCERTF" val="{\rtf1\ansi\deff0{\fonttbl{\f0\fcharset0 Arial Narrow;}}{\colortbl\red0\green0\blue0;}{\f0\fs48\b\cf0 How to Configure Aging and Scavenging\par}}"/>
  <p:tag name="PPWINSEGMENT3TARGETRTF" val="{\rtf1\ansi\deff1{\fonttbl{\f1\fcharset0 Arial;}{\f2\fcharset0 Arial Narrow;}}{\colortbl\red0\green0\blue0;}{\f2\fs48\b\cf0 Comment configurer le vieillissement et le nettoyage\par}}"/>
  <p:tag name="PPWINLASTSAVEDTRANSLATION" val="Définition des paramètres de vieillissement et de nettoyage&#10;Fonctionnement du vieillissement et du nettoyage&#10;Comment configurer le vieillissement et le nettoyage"/>
  <p:tag name="PPWINALREADYSEGMENTED" val="True"/>
  <p:tag name="PPWINTOTALSEGMENTS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9"/>
  <p:tag name="PPWINSEGMENT1SOURCERTF" val="{\rtf1\ansi\deff0{\fonttbl{\f0\fcharset0 Arial Narrow;}}{\colortbl\red0\green0\blue0;}{\f0\fs60\b\cf0 What Are Aging and Scavenging Parameters?\par}}"/>
  <p:tag name="PPWINLASTSAVEDTRANSLATION" val="Définition des paramètres de vieillissement et de nettoyage"/>
  <p:tag name="PPWINALREADYSEGMENTED" val="True"/>
  <p:tag name="PPWINTOTALSEGMENTS" val="1"/>
  <p:tag name="PPWINSEGMENT1TARGETRTF" val="{\rtf1\ansi\deff0{\fonttbl{\f0\fcharset0 Arial Narrow;}}{\colortbl\red0\green0\blue0;}{\f0\fs60\b\cf0 D\'E9finition des param\'E8tres de vieillissement et de nettoyage\par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1"/>
  <p:tag name="PPWINSEGMENT1SOURCERTF" val="{\rtf1\ansi\deff0{\fonttbl{\f0\fcharset0 Arial Narrow;}}{\colortbl\red0\green0\blue0;}{\f0\fs40\b\i\cf0 Aging}{\f0\fs40\b\cf0  is the process that determines whether a stale DNS resource record should be removed from the DNS database}{\f0\fs36\b\cf0  \'A0\par}}"/>
  <p:tag name="PPWINLASTSAVEDTRANSLATION" val="Le vieillissement est le processus qui détermine si un enregistrement de ressource DNS obsolète doit être supprimé de la base de données DNS."/>
  <p:tag name="PPWINALREADYSEGMENTED" val="True"/>
  <p:tag name="PPWINTOTALSEGMENTS" val="1"/>
  <p:tag name="PPWINSEGMENT1TARGETRTF" val="{\rtf1\ansi\deff0{\fonttbl{\f0\fcharset0 Arial Narrow;}}{\colortbl\red0\green0\blue0;}{\f0\fs40\b\cf0 Le}{\f0\fs24\b\cf0  }{\f0\fs40\b\i\cf0 vieillissement}{\f0\fs24\b\cf0  }{\f0\fs40\b\cf0 est le processus qui d\'E9termine si un enregistrement de ressource DNS obsol\'E8te doit \'EAtre supprim\'E9 de la base de donn\'E9es DNS.\par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0"/>
  <p:tag name="PPWINSEGMENT1SOURCERTF" val="{\rtf1\ansi\deff0{\fonttbl{\f0\fcharset0 Arial Narrow;}}{\colortbl\red0\green0\blue0;}{\f0\fs40\b\i\cf0 Scavenging}{\f0\fs40\b\cf0  is the process of cleaning and removing outdated or extinct names data from the WINS database\par}}"/>
  <p:tag name="PPWINLASTSAVEDTRANSLATION" val="Le nettoyage est le processus qui consiste à supprimer les noms obsolètes ou caducs de la base de données DNS."/>
  <p:tag name="PPWINALREADYSEGMENTED" val="True"/>
  <p:tag name="PPWINTOTALSEGMENTS" val="1"/>
  <p:tag name="PPWINSEGMENT1TARGETRTF" val="{\rtf1\ansi\deff0{\fonttbl{\f0\fcharset0 Arial Narrow;}}{\colortbl\red0\green0\blue0;}{\f0\fs40\b\cf0 Le }{\f0\fs40\b\i\cf0 nettoyage}{\f0\fs40\b\cf0  est le processus qui consiste \'E0 supprimer les noms obsol\'E8tes ou caducs de la base de donn\'E9es DNS.\par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4"/>
  <p:tag name="PPWINSEGMENT1SOURCERTF" val="{\rtf1\ansi\deff0{\fonttbl{\f0\fcharset0 Arial Narrow;}}{\colortbl\red0\green0\blue0;}{\f0\fs40\b\cf0 A }{\f0\fs40\b\i\cf0 refresh attempt}{\f0\fs40\b\cf0  is the  process of a computer requesting a refresh on its DNS record\par}}"/>
  <p:tag name="PPWINLASTSAVEDTRANSLATION" val="Une tentative d'actualisation est le processus par lequel un ordinateur demande une actualisation de son enregistrement DNS."/>
  <p:tag name="PPWINALREADYSEGMENTED" val="True"/>
  <p:tag name="PPWINTOTALSEGMENTS" val="1"/>
  <p:tag name="PPWINSEGMENT1TARGETRTF" val="{\rtf1\ansi\deff0{\fonttbl{\f0\fcharset0 Arial Narrow;}}{\colortbl\red0\green0\blue0;}{\f0\fs40\b\cf0 Une }{\f0\fs40\b\i\cf0 tentative d'actualisation}{\f0\fs40\b\cf0  est le processus par lequel un ordinateur demande une actualisation de son enregistrement DNS.\par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8"/>
  <p:tag name="PPWINSEGMENT1SOURCERTF" val="{\rtf1\ansi\deff0{\fonttbl{\f0\fcharset0 Arial Narrow;}}{\colortbl\red0\green0\blue0;}{\f0\fs60\b\cf0 How Aging and Scavenging Works\par}}"/>
  <p:tag name="PPWINLASTSAVEDTRANSLATION" val="Fonctionnement du vieillissement et du nettoyage"/>
  <p:tag name="PPWINALREADYSEGMENTED" val="True"/>
  <p:tag name="PPWINTOTALSEGMENTS" val="1"/>
  <p:tag name="PPWINSEGMENT1TARGETRTF" val="{\rtf1\ansi\deff0{\fonttbl{\f0\fcharset0 Arial Narrow;}}{\colortbl\red0\green0\blue0;}{\f0\fs60\b\cf0 Fonctionnement du vieillissement et du nettoyage\par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2"/>
  <p:tag name="PPWINSEGMENT1SOURCERTF" val="{\rtf1\ansi\deff0{\fonttbl{\f0\fcharset0 Arial Narrow;}}{\colortbl\red0\green0\blue0;}{\f0\fs60\b\cf0 How to Configure Aging and Scavenging \par}}"/>
  <p:tag name="PPWINSEGMENT1TARGETRTF" val="{\rtf1\ansi\deff1{\fonttbl{\f1\fcharset0 Arial;}{\f2\fcharset0 Arial Narrow;}}{\colortbl\red0\green0\blue0;}{\f2\fs60\b\cf0 Comment configurer le vieillissement et le nettoyage\par}}"/>
  <p:tag name="PPWINLASTSAVEDTRANSLATION" val="Comment configurer le vieillissement et le nettoyage"/>
  <p:tag name="PPWINALREADYSEGMENTED" val="True"/>
  <p:tag name="PPWINTOTALSEGMENTS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6"/>
  <p:tag name="PPWINSEGMENT1SOURCERTF" val="{\rtf1\ansi\deff0{\fonttbl{\f0\fcharset0 Arial Narrow;}}{\colortbl\red0\green0\blue0;}{\f0\fs44\b\cf0 Set aging/scavenging parameters for the DNS server\par}}"/>
  <p:tag name="PPWINSEGMENT1TARGETRTF" val="{\rtf1\ansi\deff1{\fonttbl{\f1\fcharset0 Arial;}{\f2\fcharset0 Arial Narrow;}}{\colortbl\red0\green0\blue0;}{\f2\fs44\b\cf0 D\'E9finir les param\'E8tres de vieillissement et de nettoyage pour le serveur DNS\par}}"/>
  <p:tag name="PPWINSEGMENT2START" val="78"/>
  <p:tag name="PPWINSEGMENT2LENGTH" val="74"/>
  <p:tag name="PPWINSEGMENT2SOURCERTF" val="{\rtf1\ansi\deff0{\fonttbl{\f0\fcharset0 Arial Narrow;}}{\colortbl\red0\green0\blue0;}{\f0\fs44\b\cf0 Set aging/scavenging parameters on a DNS zone\par}}"/>
  <p:tag name="PPWINSEGMENT2TARGETRTF" val="{\rtf1\ansi\deff1{\fonttbl{\f1\fcharset0 Arial;}{\f2\fcharset0 Arial Narrow;}}{\colortbl\red0\green0\blue0;}{\f2\fs44\b\cf0 D\'E9finir les param\'E8tres de vieillissement et de nettoyage pour une zone DNS\par}}"/>
  <p:tag name="PPWINSEGMENT3START" val="153"/>
  <p:tag name="PPWINSEGMENT3LENGTH" val="95"/>
  <p:tag name="PPWINSEGMENT3SOURCERTF" val="{\rtf1\ansi\deff0{\fonttbl{\f0\fcharset0 Arial Narrow;}}{\colortbl\red0\green0\blue0;}{\f0\fs44\b\cf0 Enable automatic scavenging of stale resource records on a DNS server\par}}"/>
  <p:tag name="PPWINSEGMENT3TARGETRTF" val="{\rtf1\ansi\deff1{\fonttbl{\f1\fcharset0 Arial;}{\f2\fcharset0 Arial Narrow;}}{\colortbl\red0\green0\blue0;}{\f2\fs44\b\cf0 Activer le nettoyage automatique des enregistrements de ressources obsol\'E8tes sur un serveur DNS\par}}"/>
  <p:tag name="PPWINSEGMENT4START" val="249"/>
  <p:tag name="PPWINSEGMENT4LENGTH" val="77"/>
  <p:tag name="PPWINSEGMENT4SOURCERTF" val="{\rtf1\ansi\deff0{\fonttbl{\f0\fcharset0 Arial Narrow;}}{\colortbl\red0\green0\blue0;}{\f0\fs44\b\cf0 Start immediate scavenging of stale resource records\par}}"/>
  <p:tag name="PPWINSEGMENT4TARGETRTF" val="{\rtf1\ansi\deff1{\fonttbl{\f1\fcharset0 Arial;}{\f2\fcharset0 Arial Narrow;}}{\colortbl\red0\green0\blue0;}{\f2\fs44\b\cf0 Lancer imm\'E9diatement le nettoyage des enregistrements de ressources obsol\'E8tes\par}}"/>
  <p:tag name="PPWINSEGMENT5START" val="327"/>
  <p:tag name="PPWINSEGMENT5LENGTH" val="114"/>
  <p:tag name="PPWINSEGMENT5SOURCERTF" val="{\rtf1\ansi\deff0{\fonttbl{\f0\fcharset0 Arial Narrow;}}{\colortbl\red0\green0\blue0;}{\f0\fs44\b\cf0 View when a zone can start scavenging stale resource records\par}}"/>
  <p:tag name="PPWINSEGMENT5TARGETRTF" val="{\rtf1\ansi\deff1{\fonttbl{\f1\fcharset0 Arial;}{\f2\fcharset0 Arial Narrow;}}{\colortbl\red0\green0\blue0;}{\f2\fs44\b\cf0 Afficher la date et l'heure o\'F9 le nettoyage des enregistrements de ressources obsol\'E8tes peut d\'E9buter pour une zone\par}}"/>
  <p:tag name="PPWINSEGMENT6START" val="442"/>
  <p:tag name="PPWINSEGMENT6LENGTH" val="57"/>
  <p:tag name="PPWINSEGMENT6SOURCERTF" val="{\rtf1\ansi\deff0{\fonttbl{\f0\fcharset0 Arial Narrow;}}{\colortbl\red0\green0\blue0;}{\f0\fs44\b\cf0 Configure the time stamp on a DNS resource record\par}}"/>
  <p:tag name="PPWINSEGMENT6TARGETRTF" val="{\rtf1\ansi\deff1{\fonttbl{\f1\fcharset0 Arial;}{\f2\fcharset0 Arial Narrow;}}{\colortbl\red0\green0\blue0;}{\f2\fs44\b\cf0 Configurer le datage d'un enregistrement de ressource DNS\par}}"/>
  <p:tag name="PPWINSEGMENT7START" val="500"/>
  <p:tag name="PPWINSEGMENT7LENGTH" val="62"/>
  <p:tag name="PPWINSEGMENT7SOURCERTF" val="{\rtf1\ansi\deff0{\fonttbl{\f0\fcharset0 Arial Narrow;}}{\colortbl\red0\green0\blue0;}{\f0\fs44\b\cf0 View the time stamp on a dynamic resource record\par}}"/>
  <p:tag name="PPWINSEGMENT7TARGETRTF" val="{\rtf1\ansi\deff1{\fonttbl{\f1\fcharset0 Arial;}{\f2\fcharset0 Arial Narrow;}}{\colortbl\red0\green0\blue0;}{\f2\fs44\b\cf0 Consulter le datage d'un enregistrement de ressource dynamique\par}}"/>
  <p:tag name="PPWINLASTSAVEDTRANSLATION" val="Définir les paramètres de vieillissement et de nettoyage pour le serveur DNS&#10;Définir les paramètres de vieillissement et de nettoyage pour une zone DNS&#10;Activer le nettoyage automatique des enregistrements de ressources obsolètes sur un serveur DNS&#10;Lancer immédiatement le nettoyage des enregistrements de ressources obsolètes&#10;Afficher la date et l'heure où le nettoyage des enregistrements de ressources obsolètes peut débuter pour une zone&#10;Configurer le datage d'un enregistrement de ressource DNS&#10;Consulter le datage d'un enregistrement de ressource dynamique"/>
  <p:tag name="PPWINALREADYSEGMENTED" val="True"/>
  <p:tag name="PPWINTOTALSEGMENTS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39"/>
  <p:tag name="PPWINSEGMENT2SOURCERTF" val="{\rtf1\ansi\deff0{\fonttbl{\f0\fcharset0 Arial Narrow;}}{\colortbl\red0\green0\blue0;}{\f0\fs60\b\cf0 Testing the DNS Server Configuration\par}}"/>
  <p:tag name="PPWINSEGMENT2TARGETRTF" val="{\rtf1\ansi\deff1{\fonttbl{\f1\fcharset0 Arial;}{\f2\fcharset0 Arial Narrow;}}{\colortbl\red0\green0\blue0;}{\f2\fs60\b\cf0 Test de la configuration du serveur DNS\par}}"/>
  <p:tag name="PPWINLASTSAVEDTRANSLATION" val="Leçon : Test de la configuration du serveur DNS"/>
  <p:tag name="PPWINALREADYSEGMENTED" val="True"/>
  <p:tag name="PPWINTOTALSEGMENTS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9"/>
  <p:tag name="PPWINSEGMENT1SOURCERTF" val="{\rtf1\ansi\deff0{\fonttbl{\f0\fcharset0 Arial Narrow;}}{\colortbl\red0\green0\blue0;}{\f0\fs48\b\cf0 How  Simple and Recursive Queries Work\par}}"/>
  <p:tag name="PPWINSEGMENT1TARGETRTF" val="{\rtf1\ansi\deff1{\fonttbl{\f1\fcharset0 Arial;}{\f2\fcharset0 Arial Narrow;}}{\colortbl\red0\green0\blue0;}{\f2\fs48\b\cf0 Fonctionnement des requ\'EAtes simples et r\'E9cursives\par}}"/>
  <p:tag name="PPWINSEGMENT2START" val="51"/>
  <p:tag name="PPWINSEGMENT2LENGTH" val="46"/>
  <p:tag name="PPWINSEGMENT2SOURCERTF" val="{\rtf1\ansi\deff0{\fonttbl{\f0\fcharset0 Arial Narrow;}}{\colortbl\red0\green0\blue0;}{\f0\fs48\b\cf0 How to Test the DNS Server Configuration\par}}"/>
  <p:tag name="PPWINSEGMENT2TARGETRTF" val="{\rtf1\ansi\deff1{\fonttbl{\f1\fcharset0 Arial;}{\f2\fcharset0 Arial Narrow;}}{\colortbl\red0\green0\blue0;}{\f2\fs48\b\cf0 Comment tester la configuration du serveur DNS\par}}"/>
  <p:tag name="PPWINLASTSAVEDTRANSLATION" val="Fonctionnement des requêtes simples et récursives&#10;Comment tester la configuration du serveur DNS"/>
  <p:tag name="PPWINALREADYSEGMENTED" val="True"/>
  <p:tag name="PPWINTOTALSEGMENTS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9"/>
  <p:tag name="PPWINSEGMENT1SOURCERTF" val="{\rtf1\ansi\deff0{\fonttbl{\f0\fcharset0 Arial Narrow;}}{\colortbl\red0\green0\blue0;}{\f0\fs60\b\cf0 How Simple and Recursive Queries Work\par}}"/>
  <p:tag name="PPWINSEGMENT1TARGETRTF" val="{\rtf1\ansi\deff1{\fonttbl{\f1\fcharset0 Arial;}{\f2\fcharset0 Arial Narrow;}}{\colortbl\red0\green0\blue0;}{\f2\fs60\b\cf0 Fonctionnement des requ\'EAtes simples et r\'E9cursives\par}}"/>
  <p:tag name="PPWINLASTSAVEDTRANSLATION" val="Fonctionnement des requêtes simples et récursives"/>
  <p:tag name="PPWINALREADYSEGMENTED" val="True"/>
  <p:tag name="PPWINTOTALSEGMENTS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6"/>
  <p:tag name="PPWINSEGMENT1SOURCERTF" val="{\rtf1\ansi\deff0{\fonttbl{\f0\fcharset0 Arial Narrow;}}{\colortbl\red0\green0\blue0;}{\f0\fs60\b\cf0 How to Test the DNS Server Configuration\par}}"/>
  <p:tag name="PPWINSEGMENT1TARGETRTF" val="{\rtf1\ansi\deff1{\fonttbl{\f1\fcharset0 Arial;}{\f2\fcharset0 Arial Narrow;}}{\colortbl\red0\green0\blue0;}{\f2\fs60\b\cf0 Comment tester la configuration du serveur DNS\par}}"/>
  <p:tag name="PPWINLASTSAVEDTRANSLATION" val="Comment tester la configuration du serveur DNS"/>
  <p:tag name="PPWINALREADYSEGMENTED" val="True"/>
  <p:tag name="PPWINTOTALSEGMENTS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7"/>
  <p:tag name="PPWINSEGMENT1SOURCERTF" val="{\rtf1\ansi\deff0{\fonttbl{\f0\fcharset0 Arial Narrow;}}{\colortbl\red0\green0\blue0;}{\f0\fs44\b\cf0 Manually test a simple query on the DNS server\par}}"/>
  <p:tag name="PPWINSEGMENT1TARGETRTF" val="{\rtf1\ansi\deff1{\fonttbl{\f1\fcharset0 Arial;}{\f2\fcharset0 Arial Narrow;}}{\colortbl\red0\green0\blue0;}{\f2\fs44\b\cf0 Tester manuellement une requ\'EAte simple sur le serveur DNS\par}}"/>
  <p:tag name="PPWINSEGMENT2START" val="59"/>
  <p:tag name="PPWINSEGMENT2LENGTH" val="60"/>
  <p:tag name="PPWINSEGMENT2SOURCERTF" val="{\rtf1\ansi\deff0{\fonttbl{\f0\fcharset0 Arial Narrow;}}{\colortbl\red0\green0\blue0;}{\f0\fs44\b\cf0 Manually test a recursive query on the DNS server\par}}"/>
  <p:tag name="PPWINSEGMENT2TARGETRTF" val="{\rtf1\ansi\deff1{\fonttbl{\f1\fcharset0 Arial;}{\f2\fcharset0 Arial Narrow;}}{\colortbl\red0\green0\blue0;}{\f2\fs44\b\cf0 Tester manuellement une requ\'EAte r\'E9cursive sur le serveur DNS\par}}"/>
  <p:tag name="PPWINSEGMENT3START" val="120"/>
  <p:tag name="PPWINSEGMENT3LENGTH" val="57"/>
  <p:tag name="PPWINSEGMENT3SOURCERTF" val="{\rtf1\ansi\deff0{\fonttbl{\f0\fcharset0 Arial Narrow;}}{\colortbl\red0\green0\blue0;}{\f0\fs44\b\cf0 Enable automatic query testing on the DNS server\par}}"/>
  <p:tag name="PPWINSEGMENT3TARGETRTF" val="{\rtf1\ansi\deff1{\fonttbl{\f1\fcharset0 Arial;}{\f2\fcharset0 Arial Narrow;}}{\colortbl\red0\green0\blue0;}{\f2\fs44\b\cf0 Activer le test de requ\'EAte automatique sur le serveur DNS\par}}"/>
  <p:tag name="PPWINLASTSAVEDTRANSLATION" val="Tester manuellement une requête simple sur le serveur DNS&#10;Tester manuellement une requête récursive sur le serveur DNS&#10;Activer le test de requête automatique sur le serveur DNS"/>
  <p:tag name="PPWINALREADYSEGMENTED" val="True"/>
  <p:tag name="PPWINTOTALSEGMENTS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52\b\cf0 Lesson:\par}}"/>
  <p:tag name="PPWINSEGMENT1TARGETRTF" val="{\rtf1\ansi\deff1{\fonttbl{\f1\fcharset0 Arial;}{\f2\fcharset0 Arial Narrow;}}{\colortbl\red0\green0\blue0;}{\f2\fs52\b\cf0 Le\'E7on :\par}}"/>
  <p:tag name="PPWINSEGMENT2START" val="9"/>
  <p:tag name="PPWINSEGMENT2LENGTH" val="106"/>
  <p:tag name="PPWINSEGMENT2SOURCERTF" val="{\rtf1\ansi\deff0{\fonttbl{\f0\fcharset0 Arial Narrow;}}{\colortbl\red0\green0\blue0;}{\f0\fs52\b\cf0 Verifying that a Resource Record Exists by Using Nslookup, DNSCmd, and DNSLint\par}}"/>
  <p:tag name="PPWINSEGMENT2TARGETRTF" val="{\rtf1\ansi\deff1{\fonttbl{\f1\fcharset0 Arial;}{\f2\fcharset0 Arial Narrow;}}{\colortbl\red0\green0\blue0;}{\f2\fs52\b\cf0 V\'E9rification de la pr\'E9sence d'un enregistrement de ressource \'E0 l'aide de Nslookup, de DNSCmd et de DNSLint\par}}"/>
  <p:tag name="PPWINLASTSAVEDTRANSLATION" val="Leçon : Vérification de la présence d'un enregistrement de ressource à l'aide de Nslookup, de DNSCmd et de DNSLint"/>
  <p:tag name="PPWINALREADYSEGMENTED" val="True"/>
  <p:tag name="PPWINTOTALSEGMENTS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2"/>
  <p:tag name="PPWINSEGMENT1SOURCERTF" val="{\rtf1\ansi\deff0{\fonttbl{\f0\fcharset0 Arial Narrow;}}{\colortbl\red0\green0\blue0;}{\f0\fs48\b\cf0 Why Verify that a Resource Record Exists?\par}}"/>
  <p:tag name="PPWINSEGMENT1TARGETRTF" val="{\rtf1\ansi\deff1{\fonttbl{\f1\fcharset0 Arial;}{\f2\fcharset0 Arial Narrow;}}{\colortbl\red0\green0\blue0;}{\f2\fs48\b\cf0 Pourquoi v\'E9rifier s'il existe un enregistrement de ressource ?\par}}"/>
  <p:tag name="PPWINSEGMENT2START" val="64"/>
  <p:tag name="PPWINSEGMENT2LENGTH" val="8"/>
  <p:tag name="PPWINSEGMENT2SOURCERTF" val="{\rtf1\ansi\deff0{\fonttbl{\f0\fcharset0 Arial Narrow;}}{\colortbl\red0\green0\blue0;}{\f0\fs48\b\cf0 Nslookup\par}}"/>
  <p:tag name="PPWINSEGMENT2TARGETRTF" val="{\rtf1\ansi\deff1{\fonttbl{\f1\fcharset0 Arial;}{\f2\fcharset0 Arial Narrow;}}{\colortbl\red0\green0\blue0;}{\f2\fs48\b\cf0 Nslookup\par}}"/>
  <p:tag name="PPWINSEGMENT3START" val="73"/>
  <p:tag name="PPWINSEGMENT3LENGTH" val="6"/>
  <p:tag name="PPWINSEGMENT3SOURCERTF" val="{\rtf1\ansi\deff0{\fonttbl{\f0\fcharset0 Arial Narrow;}}{\colortbl\red0\green0\blue0;}{\f0\fs48\b\cf0 DNSCmd\par}}"/>
  <p:tag name="PPWINSEGMENT3TARGETRTF" val="{\rtf1\ansi\deff1{\fonttbl{\f1\fcharset0 Arial;}{\f2\fcharset0 Arial Narrow;}}{\colortbl\red0\green0\blue0;}{\f2\fs48\b\cf0 DNSCmd\par}}"/>
  <p:tag name="PPWINSEGMENT4START" val="80"/>
  <p:tag name="PPWINSEGMENT4LENGTH" val="7"/>
  <p:tag name="PPWINSEGMENT4SOURCERTF" val="{\rtf1\ansi\deff0{\fonttbl{\f0\fcharset0 Arial Narrow;}}{\colortbl\red0\green0\blue0;}{\f0\fs48\b\cf0 DNSLint\par}}"/>
  <p:tag name="PPWINSEGMENT4TARGETRTF" val="{\rtf1\ansi\deff1{\fonttbl{\f1\fcharset0 Arial;}{\f2\fcharset0 Arial Narrow;}}{\colortbl\red0\green0\blue0;}{\f2\fs48\b\cf0 DNSLint\par}}"/>
  <p:tag name="PPWINSEGMENT5START" val="88"/>
  <p:tag name="PPWINSEGMENT5LENGTH" val="107"/>
  <p:tag name="PPWINSEGMENT5SOURCERTF" val="{\rtf1\ansi\deff0{\fonttbl{\f0\fcharset0 Arial Narrow;}}{\colortbl\red0\green0\blue0;}{\f0\fs48\b\cf0 How to Verify that a Resource Record Exists by Using Nslookup, DNSCmd, and DNSLint\par}}"/>
  <p:tag name="PPWINSEGMENT5TARGETRTF" val="{\rtf1\ansi\deff1{\fonttbl{\f1\fcharset0 Arial;}{\f2\fcharset0 Arial Narrow;}}{\colortbl\red0\green0\blue0;}{\f2\fs48\b\cf0 Comment v\'E9rifier la pr\'E9sence d'un enregistrement de ressource \'E0 l'aide de Nslookup, de DNSCmd et de DNSLint\par}}"/>
  <p:tag name="PPWINLASTSAVEDTRANSLATION" val="Pourquoi vérifier s'il existe un enregistrement de ressource ?&#10;Nslookup&#10;DNSCmd&#10;DNSLint&#10;Comment vérifier la présence d'un enregistrement de ressource à l'aide de Nslookup, de DNSCmd et de DNSLint&#10;"/>
  <p:tag name="PPWINALREADYSEGMENTED" val="True"/>
  <p:tag name="PPWINTOTALSEGMENTS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2"/>
  <p:tag name="PPWINSEGMENT1SOURCERTF" val="{\rtf1\ansi\deff0{\fonttbl{\f0\fcharset0 Arial Narrow;}}{\colortbl\red0\green0\blue0;}{\f0\fs60\b\cf0 Why Verify that a Resource Record Exists?\par}}"/>
  <p:tag name="PPWINLASTSAVEDTRANSLATION" val="Pourquoi vérifier s'il existe un enregistrement de ressource ?"/>
  <p:tag name="PPWINALREADYSEGMENTED" val="True"/>
  <p:tag name="PPWINTOTALSEGMENTS" val="1"/>
  <p:tag name="PPWINSEGMENT1TARGETRTF" val="{\rtf1\ansi\deff0{\fonttbl{\f0\fcharset0 Arial Narrow;}}{\colortbl\red0\green0\blue0;}{\f0\fs60\b\cf0 Pourquoi v\'E9rifier s'il existe un enregistrement de ressource ?\par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78"/>
  <p:tag name="PPWINSEGMENT1SOURCERTF" val="{\rtf1\ansi\deff0{\fonttbl{\f0\fcharset0 Arial Narrow;}}{\colortbl\red0\green0\blue0;}{\f0\fs48\b\cf0 To identify issues with your DNS solution, you can verify:\par}}"/>
  <p:tag name="PPWINSEGMENT1TARGETRTF" val="{\rtf1\ansi\deff1{\fonttbl{\f1\fcharset0 Arial;}{\f2\fcharset0 Arial Narrow;}}{\colortbl\red0\green0\blue0;}{\f2\fs48\b\cf0 Pour identifier les probl\'E8mes li\'E9s \'E0 votre solution DNS, vous devez v\'E9rifier :\par}}"/>
  <p:tag name="PPWINLASTSAVEDTRANSLATION" val="Pour identifier les problèmes liés à votre solution DNS, vous devez vérifier :"/>
  <p:tag name="PPWINALREADYSEGMENTED" val="True"/>
  <p:tag name="PPWINTOTALSEGMENTS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DOWLASTEDITMARKER" val="62"/>
  <p:tag name="PPWINSEGMENT1START" val="1"/>
  <p:tag name="PPWINSEGMENT1LENGTH" val="29"/>
  <p:tag name="PPWINSEGMENT1SOURCERTF" val="{\rtf1\ansi\deff0{\fonttbl{\f0\fcharset0 Arial Narrow;}}{\colortbl\red0\green0\blue0;}{\f0\fs44\b\cf0 Missing records\par}}"/>
  <p:tag name="PPWINSEGMENT1TARGETRTF" val="{\rtf1\ansi\deff1{\fonttbl{\f1\fcharset0 Arial;}{\f2\fcharset0 Arial Narrow;}}{\colortbl\red0\green0\blue0;}{\f2\fs44\b\cf0 Les enregistrements manquants\par}}"/>
  <p:tag name="PPWINSEGMENT2START" val="31"/>
  <p:tag name="PPWINSEGMENT2LENGTH" val="30"/>
  <p:tag name="PPWINSEGMENT2SOURCERTF" val="{\rtf1\ansi\deff0{\fonttbl{\f0\fcharset0 Arial Narrow;}}{\colortbl\red0\green0\blue0;}{\f0\fs44\b\cf0 Incomplete records\par}}"/>
  <p:tag name="PPWINSEGMENT2TARGETRTF" val="{\rtf1\ansi\deff1{\fonttbl{\f1\fcharset0 Arial;}{\f2\fcharset0 Arial Narrow;}}{\colortbl\red0\green0\blue0;}{\f2\fs44\b\cf0 Les enregistrements incomplets\par}}"/>
  <p:tag name="PPWINSEGMENT3START" val="62"/>
  <p:tag name="PPWINSEGMENT3LENGTH" val="34"/>
  <p:tag name="PPWINSEGMENT3SOURCERTF" val="{\rtf1\ansi\deff0{\fonttbl{\f0\fcharset0 Arial Narrow;}}{\colortbl\red0\green0\blue0;}{\f0\fs44\b\cf0 Incorrectly configured records\par}}"/>
  <p:tag name="PPWINSEGMENT3TARGETRTF" val="{\rtf1\ansi\deff1{\fonttbl{\f1\fcharset0 Arial;}{\f2\fcharset0 Arial Narrow;}}{\colortbl\red0\green0\blue0;}{\f2\fs44\b\cf0 Les enregistrements mal configur\'E9s\par}}"/>
  <p:tag name="PPWINLASTSAVEDTRANSLATION" val="Les enregistrements manquants&#10;Les enregistrements incomplets&#10;Les enregistrements mal configurés"/>
  <p:tag name="PPWINALREADYSEGMENTED" val="True"/>
  <p:tag name="PPWINTOTALSEGMENTS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2"/>
  <p:tag name="PPWINSEGMENT1SOURCERTF" val="{\rtf1\ansi\deff0{\fonttbl{\f0\fcharset0 Arial Narrow;}}{\colortbl\red0\green0\blue0;}{\f0\fs48\b\cf0 You can use the following three utilities to monitor DNS:\par}}"/>
  <p:tag name="PPWINLASTSAVEDTRANSLATION" val="Trois utilitaires sont à votre disposition pour analyser, gérer et dépanner le système DNS :"/>
  <p:tag name="PPWINALREADYSEGMENTED" val="True"/>
  <p:tag name="PPWINTOTALSEGMENTS" val="1"/>
  <p:tag name="PPTAGGERGROUP" val="1"/>
  <p:tag name="PPWINSEGMENT1TARGETRTF" val="{\rtf1\ansi\deff0{\fonttbl{\f0\fcharset0 Arial Narrow;}}{\colortbl\red0\green0\blue0;}{\f0\fs48\b\cf0 Trois utilitaires sont \'E0 votre disposition pour analyser, g\'E9rer et d\'E9panner le syst\'E8me DNS :\par}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8"/>
  <p:tag name="PPWINSEGMENT1SOURCERTF" val="{\rtf1\ansi\deff0{\fonttbl{\f0\fcharset0 Arial Narrow;}}{\colortbl\red0\green0\blue0;}{\f0\fs44\b\cf0 Nslookup\par}}"/>
  <p:tag name="PPWINSEGMENT2START" val="10"/>
  <p:tag name="PPWINSEGMENT2LENGTH" val="6"/>
  <p:tag name="PPWINSEGMENT2SOURCERTF" val="{\rtf1\ansi\deff0{\fonttbl{\f0\fcharset0 Arial Narrow;}}{\colortbl\red0\green0\blue0;}{\f0\fs44\b\cf0 DNSCmd\par}}"/>
  <p:tag name="PPWINSEGMENT3START" val="17"/>
  <p:tag name="PPWINSEGMENT3LENGTH" val="7"/>
  <p:tag name="PPWINSEGMENT3SOURCERTF" val="{\rtf1\ansi\deff0{\fonttbl{\f0\fcharset0 Arial Narrow;}}{\colortbl\red0\green0\blue0;}{\f0\fs44\b\cf0 DNSLint\par}}"/>
  <p:tag name="PPWINLASTSAVEDTRANSLATION" val="Nslookup&#10;DNSCmd&#10;DNSLint"/>
  <p:tag name="PPWINALREADYSEGMENTED" val="True"/>
  <p:tag name="PPWINTOTALSEGMENTS" val="3"/>
  <p:tag name="PPTAGGERGROUP" val="1"/>
  <p:tag name="PPWINSEGMENT1TARGETRTF" val="{\rtf1\ansi\deff0{\fonttbl{\f0\fcharset0 Arial Narrow;}}{\colortbl\red0\green0\blue0;}{\f0\fs44\b\cf0 Nslookup\par}}"/>
  <p:tag name="PPWINSEGMENT2TARGETRTF" val="{\rtf1\ansi\deff0{\fonttbl{\f0\fcharset0 Arial Narrow;}}{\colortbl\red0\green0\blue0;}{\f0\fs44\b\cf0 DNSCmd\par}}"/>
  <p:tag name="PPWINSEGMENT3TARGETRTF" val="{\rtf1\ansi\deff0{\fonttbl{\f0\fcharset0 Arial Narrow;}}{\colortbl\red0\green0\blue0;}{\f0\fs44\b\cf0 DNSLint\par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8"/>
  <p:tag name="PPWINSEGMENT1SOURCERTF" val="{\rtf1\ansi\deff0{\fonttbl{\f0\fcharset0 Arial Narrow;}}{\colortbl\red0\green0\blue0;}{\f0\fs60\b\cf0 Nslookup\par}}"/>
  <p:tag name="PPWINSEGMENT1TARGETRTF" val="{\rtf1\ansi\deff1{\fonttbl{\f1\fcharset0 Arial;}{\f2\fcharset0 Arial Narrow;}}{\colortbl\red0\green0\blue0;}{\f2\fs60\b\cf0 Nslookup\par}}"/>
  <p:tag name="PPWINLASTSAVEDTRANSLATION" val="Nslookup"/>
  <p:tag name="PPWINALREADYSEGMENTED" val="True"/>
  <p:tag name="PPWINTOTALSEGMENTS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7"/>
  <p:tag name="PPWINSEGMENT1SOURCERTF" val="{\rtf1\ansi\deff0{\fonttbl{\f0\fcharset0 Arial Narrow;}}{\colortbl\red0\green0\blue0;}{\f0\fs44\b\i\cf0 Nslookup }{\f0\fs44\b\cf0 is a command-line utility used to diagnose DNS infrastructure\par}}"/>
  <p:tag name="PPWINSEGMENT1TARGETRTF" val="{\rtf1\ansi\deff1{\fonttbl{\f1\fcharset0 Arial;}{\f2\fcharset0 Arial Narrow;}}{\colortbl\red0\green0\blue0;}{\f2\fs44\b\i\cf0 Nslookup}{\f2\fs44\b\cf0  est un utilitaire de ligne de commande permettant de diagnostiquer l'infrastructure DNS.\par}}"/>
  <p:tag name="PPWINLASTSAVEDTRANSLATION" val="Nslookup est un utilitaire de ligne de commande permettant de diagnostiquer l'infrastructure DNS."/>
  <p:tag name="PPWINALREADYSEGMENTED" val="True"/>
  <p:tag name="PPWINTOTALSEGMENTS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50"/>
  <p:tag name="PPWINSEGMENT1SOURCERTF" val="{\rtf1\ansi\deff0{\fonttbl{\f0\fcharset0 Arial Narrow;}}{\colortbl\red0\green0\blue0;}{\f0\fs44\b\i\cf0 DNSCmd}{\f0\fs44\b\cf0  is a DNS support tool which allows you to complete many \line}{\f0\fs44\b\cf0 DNS administrative tasks on the DNS server from a command prompt\par}}"/>
  <p:tag name="PPWINSEGMENT1TARGETRTF" val="{\rtf1\ansi\deff1{\fonttbl{\f1\fcharset0 Arial;}{\f2\fcharset0 Arial Narrow;}}{\colortbl\red0\green0\blue0;}{\f2\fs44\b\i\cf0 DNSCmd}{\f2\fs44\b\cf0  est un outil de support qui permet d'effectuer de nombreuses t\'E2ches d'administration DNS sur le serveur DNS \'E0 partir d'une invite de commandes.\par}}"/>
  <p:tag name="PPWINLASTSAVEDTRANSLATION" val="DNSCmd est un outil de support qui permet d'effectuer de nombreuses tâches d'administration DNS sur le serveur DNS à partir d'une invite de commandes."/>
  <p:tag name="PPWINALREADYSEGMENTED" val="True"/>
  <p:tag name="PPWINTOTALSEGMENTS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"/>
  <p:tag name="PPWINSEGMENT1SOURCERTF" val="{\rtf1\ansi\deff0{\fonttbl{\f0\fcharset0 Arial Narrow;}}{\colortbl\red0\green0\blue0;}{\f0\fs60\b\cf0 DNSCmd\par}}"/>
  <p:tag name="PPWINSEGMENT1TARGETRTF" val="{\rtf1\ansi\deff1{\fonttbl{\f1\fcharset0 Arial;}{\f2\fcharset0 Arial Narrow;}}{\colortbl\red0\green0\blue0;}{\f2\fs60\b\cf0 DNSCmd\par}}"/>
  <p:tag name="PPWINLASTSAVEDTRANSLATION" val="DNSCmd"/>
  <p:tag name="PPWINALREADYSEGMENTED" val="True"/>
  <p:tag name="PPWINTOTALSEGMENTS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65"/>
  <p:tag name="PPWINSEGMENT1SOURCERTF" val="{\rtf1\ansi\deff0{\fonttbl{\f0\fcharset0 Arial Narrow;}}{\colortbl\red0\green0\blue0;}{\f0\fs40\b\i\cf0 DNSLint}{\f0\fs40\b\cf0  is a Microsoft Windows utility that can run a series of queries to help diagnose common DNS name resolution issues}{\f0\fs36\b\cf0  \par}}"/>
  <p:tag name="PPWINSEGMENT1TARGETRTF" val="{\rtf1\ansi\deff1{\fonttbl{\f1\fcharset0 Arial;}{\f2\fcharset0 Arial Narrow;}}{\colortbl\red0\green0\blue0;}{\f2\fs40\b\i\cf0 DNSLint}{\f2\fs40\b\cf0  est un utilitaire Microsoft Windows qui peut ex\'E9cuter une s\'E9rie de requ\'EAtes facilitant le diagnostic des probl\'E8mes courants li\'E9s \'E0 la r\'E9solution de noms DNS}{\f2\fs24\b\cf0 .\par}}"/>
  <p:tag name="PPWINLASTSAVEDTRANSLATION" val="DNSLint est un utilitaire Microsoft Windows qui peut exécuter une série de requêtes facilitant le diagnostic des problèmes courants liés à la résolution de noms DNS."/>
  <p:tag name="PPWINALREADYSEGMENTED" val="True"/>
  <p:tag name="PPWINTOTALSEGMENTS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DNSLint\par}}"/>
  <p:tag name="PPWINSEGMENT1TARGETRTF" val="{\rtf1\ansi\deff1{\fonttbl{\f1\fcharset0 Arial;}{\f2\fcharset0 Arial Narrow;}}{\colortbl\red0\green0\blue0;}{\f2\fs60\b\cf0 DNSLint\par}}"/>
  <p:tag name="PPWINLASTSAVEDTRANSLATION" val="DNSLint"/>
  <p:tag name="PPWINALREADYSEGMENTED" val="True"/>
  <p:tag name="PPWINTOTALSEGMENTS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65"/>
  <p:tag name="PPWINSEGMENT1SOURCERTF" val="{\rtf1\ansi\deff0{\fonttbl{\f0\fcharset0 Arial Narrow;}}{\colortbl\red0\green0\blue0;}{\f0\fs40\b\i\cf0 DNSLint}{\f0\fs40\b\cf0  is a Microsoft Windows utility that can run a series of queries to help diagnose common DNS name resolution issues}{\f0\fs36\b\cf0  \par}}"/>
  <p:tag name="PPWINSEGMENT1TARGETRTF" val="{\rtf1\ansi\deff1{\fonttbl{\f1\fcharset0 Arial;}{\f2\fcharset0 Arial Narrow;}}{\colortbl\red0\green0\blue0;}{\f2\fs40\b\i\cf0 DNSLint}{\f2\fs40\b\cf0  est un utilitaire Microsoft Windows qui peut ex\'E9cuter une s\'E9rie de requ\'EAtes facilitant le diagnostic des probl\'E8mes courants li\'E9s \'E0 la r\'E9solution de noms DNS}{\f2\fs24\b\cf0 .\par}}"/>
  <p:tag name="PPWINLASTSAVEDTRANSLATION" val="DNSLint est un utilitaire Microsoft Windows qui peut exécuter une série de requêtes facilitant le diagnostic des problèmes courants liés à la résolution de noms DNS."/>
  <p:tag name="PPWINALREADYSEGMENTED" val="True"/>
  <p:tag name="PPWINTOTALSEGMENTS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52\b\cf0 Lesson:\par}}"/>
  <p:tag name="PPWINSEGMENT1TARGETRTF" val="{\rtf1\ansi\deff1{\fonttbl{\f1\fcharset0 Arial;}{\f2\fcharset0 Arial Narrow;}}{\colortbl\red0\green0\blue0;}{\f2\fs52\b\cf0 Le\'E7on :\par}}"/>
  <p:tag name="PPWINSEGMENT2START" val="9"/>
  <p:tag name="PPWINSEGMENT2LENGTH" val="39"/>
  <p:tag name="PPWINSEGMENT2SOURCERTF" val="{\rtf1\ansi\deff0{\fonttbl{\f0\fcharset0 Arial Narrow;}}{\colortbl\red0\green0\blue0;}{\f0\fs52\b\cf0 Monitoring DNS Server Performance\par}}"/>
  <p:tag name="PPWINSEGMENT2TARGETRTF" val="{\rtf1\ansi\deff1{\fonttbl{\f1\fcharset0 Arial;}{\f2\fcharset0 Arial Narrow;}}{\colortbl\red0\green0\blue0;}{\f2\fs52\b\cf0 Analyse des performances du serveur DNS\par}}"/>
  <p:tag name="PPWINLASTSAVEDTRANSLATION" val="Leçon : Analyse des performances du serveur DNS"/>
  <p:tag name="PPWINALREADYSEGMENTED" val="True"/>
  <p:tag name="PPWINTOTALSEGMENTS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0"/>
  <p:tag name="PPWINSEGMENT1SOURCERTF" val="{\rtf1\ansi\deff0{\fonttbl{\f0\fcharset0 Arial Narrow;}}{\colortbl\red0\green0\blue0;}{\f0\fs48\b\cf0 Guidelines for Monitoring DNS Server Performance by Using the Performance Console\par}}"/>
  <p:tag name="PPWINSEGMENT1TARGETRTF" val="{\rtf1\ansi\deff1{\fonttbl{\f1\fcharset0 Arial;}{\f2\fcharset0 Arial Narrow;}}{\colortbl\red0\green0\blue0;}{\f2\fs48\b\cf0 Principes d'analyse des performances du serveur DNS \'E0 l'aide de la console de performances\par}}"/>
  <p:tag name="PPWINSEGMENT2START" val="92"/>
  <p:tag name="PPWINSEGMENT2LENGTH" val="44"/>
  <p:tag name="PPWINSEGMENT2SOURCERTF" val="{\rtf1\ansi\deff0{\fonttbl{\f0\fcharset0 Arial Narrow;}}{\colortbl\red0\green0\blue0;}{\f0\fs48\b\cf0 What Is a DNS Event Log?\par}}"/>
  <p:tag name="PPWINSEGMENT2TARGETRTF" val="{\rtf1\ansi\deff1{\fonttbl{\f1\fcharset0 Arial;}{\f2\fcharset0 Arial Narrow;}}{\colortbl\red0\green0\blue0;}{\f2\fs48\b\cf0 Qu'est-ce qu'un journal des \'E9v\'E9nements DNS ?\par}}"/>
  <p:tag name="PPWINSEGMENT3START" val="137"/>
  <p:tag name="PPWINSEGMENT3LENGTH" val="48"/>
  <p:tag name="PPWINSEGMENT3SOURCERTF" val="{\rtf1\ansi\deff0{\fonttbl{\f0\fcharset0 Arial Narrow;}}{\colortbl\red0\green0\blue0;}{\f0\fs48\b\cf0 What Is DNS Debug Logging?\par}}"/>
  <p:tag name="PPWINSEGMENT3TARGETRTF" val="{\rtf1\ansi\deff1{\fonttbl{\f1\fcharset0 Arial;}{\f2\fcharset0 Arial Narrow;}}{\colortbl\red0\green0\blue0;}{\f2\fs48\b\cf0 Qu'est-ce que l'enregistrement de d\'E9bogage DNS ?\par}}"/>
  <p:tag name="PPWINSEGMENT4START" val="186"/>
  <p:tag name="PPWINSEGMENT4LENGTH" val="77"/>
  <p:tag name="PPWINSEGMENT4SOURCERTF" val="{\rtf1\ansi\deff0{\fonttbl{\f0\fcharset0 Arial Narrow;}}{\colortbl\red0\green0\blue0;}{\f0\fs48\b\cf0 How to Monitor DNS Server Performance by Using Logging\par}}"/>
  <p:tag name="PPWINSEGMENT4TARGETRTF" val="{\rtf1\ansi\deff1{\fonttbl{\f1\fcharset0 Arial;}{\f2\fcharset0 Arial Narrow;}}{\colortbl\red0\green0\blue0;}{\f2\fs48\b\cf0 Comment analyser les performances du serveur DNS \'E0 l'aide d'un enregistrement\par}}"/>
  <p:tag name="PPWINLASTSAVEDTRANSLATION" val="Principes d'analyse des performances du serveur DNS à l'aide de la console de performances&#10;Qu'est-ce qu'un journal des événements DNS ?&#10;Qu'est-ce que l'enregistrement de débogage DNS ?&#10;Comment analyser les performances du serveur DNS à l'aide d'un enregistrement&#10;"/>
  <p:tag name="PPWINALREADYSEGMENTED" val="True"/>
  <p:tag name="PPWINTOTALSEGMENTS" val="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0"/>
  <p:tag name="PPWINSEGMENT1SOURCERTF" val="{\rtf1\ansi\deff0{\fonttbl{\f0\fcharset0 Arial Narrow;}}{\colortbl\red0\green0\blue0;}{\f0\fs52\b\cf0 Guidelines for Monitoring DNS Server Performance by Using the Performance Console\par}}"/>
  <p:tag name="PPWINSEGMENT1TARGETRTF" val="{\rtf1\ansi\deff1{\fonttbl{\f1\fcharset0 Arial;}{\f2\fcharset0 Arial Narrow;}}{\colortbl\red0\green0\blue0;}{\f2\fs52\b\cf0 Principes d'analyse des performances du serveur DNS \'E0 l'aide de la console de performances\par}}"/>
  <p:tag name="PPWINLASTSAVEDTRANSLATION" val="Principes d'analyse des performances du serveur DNS à l'aide de la console de performances"/>
  <p:tag name="PPWINALREADYSEGMENTED" val="True"/>
  <p:tag name="PPWINTOTALSEGMENTS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4"/>
  <p:tag name="PPWINSEGMENT1SOURCERTF" val="{\rtf1\ansi\deff0{\fonttbl{\f0\fcharset0 Arial Narrow;}}{\colortbl\red0\green0\blue0;}{\f0\fs60\b\cf0 What Is a DNS Event Log?\par}}"/>
  <p:tag name="PPWINSEGMENT1TARGETRTF" val="{\rtf1\ansi\deff1{\fonttbl{\f1\fcharset0 Arial;}{\f2\fcharset0 Arial Narrow;}}{\colortbl\red0\green0\blue0;}{\f2\fs60\b\cf0 Qu'est-ce qu'un journal des \'E9v\'E9nements DNS ?\par}}"/>
  <p:tag name="PPWINLASTSAVEDTRANSLATION" val="Qu'est-ce qu'un journal des événements DNS ?"/>
  <p:tag name="PPWINALREADYSEGMENTED" val="True"/>
  <p:tag name="PPWINTOTALSEGMENTS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5"/>
  <p:tag name="PPWINSEGMENT1SOURCERTF" val="{\rtf1\ansi\deff0{\fonttbl{\f0\fcharset0 Arial Narrow;}}{\colortbl\red0\green0\blue0;}{\f0\fs44\b\cf0 A }{\f0\fs44\b\i\cf0 DNS event log}{\f0\fs44\b\cf0  is a system log configured to log only DNS events\par}}"/>
  <p:tag name="PPWINSEGMENT1TARGETRTF" val="{\rtf1\ansi\deff1{\fonttbl{\f1\fcharset0 Arial;}{\f2\fcharset0 Arial Narrow;}}{\colortbl\red0\green0\blue0;}{\f2\fs44\b\cf0 Un }{\f2\fs44\b\i\cf0 journal des \'E9v\'E9nements DNS }{\f2\fs44\b\cf0 est un journal syst\'E8me configur\'E9 pour n'enregistrer que les \'E9v\'E9nements DNS.\par}}"/>
  <p:tag name="PPWINLASTSAVEDTRANSLATION" val="Un journal des événements DNS est un journal système configuré pour n'enregistrer que les événements DNS."/>
  <p:tag name="PPWINALREADYSEGMENTED" val="True"/>
  <p:tag name="PPWINTOTALSEGMENTS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8"/>
  <p:tag name="PPWINSEGMENT1SOURCERTF" val="{\rtf1\ansi\deff0{\fonttbl{\f0\fcharset0 Arial Narrow;}}{\colortbl\red0\green0\blue0;}{\f0\fs60\b\cf0 What Is DNS Debug Logging?\par}}"/>
  <p:tag name="PPWINSEGMENT1TARGETRTF" val="{\rtf1\ansi\deff1{\fonttbl{\f1\fcharset0 Arial;}{\f2\fcharset0 Arial Narrow;}}{\colortbl\red0\green0\blue0;}{\f2\fs60\b\cf0 Qu'est-ce que l'enregistrement de d\'E9bogage DNS ?\par}}"/>
  <p:tag name="PPWINLASTSAVEDTRANSLATION" val="Qu'est-ce que l'enregistrement de débogage DNS ?"/>
  <p:tag name="PPWINALREADYSEGMENTED" val="True"/>
  <p:tag name="PPWINTOTALSEGMENTS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9"/>
  <p:tag name="PPWINSEGMENT1SOURCERTF" val="{\rtf1\ansi\deff0{\fonttbl{\f0\fcharset0 Arial Narrow;}}{\colortbl\red0\green0\blue0;}{\f0\fs44\b\i\cf0 DNS debug logging}{\f0\fs44\b\cf0  is an optional logging tool for DNS that stores the DNS information that you select \par}}"/>
  <p:tag name="PPWINSEGMENT1TARGETRTF" val="{\rtf1\ansi\deff1{\fonttbl{\f1\fcharset0 Arial;}{\f2\fcharset0 Arial Narrow;}}{\colortbl\red0\green0\blue0;}{\f2\fs44\b\cf0 L'}{\f2\fs44\b\i\cf0 enregistrement de d\'E9bogage DNS }{\f2\fs44\b\cf0 est un outil journal facultatif pour DNS, qui stocke les informations DNS que vous s\'E9lectionnez.\par}}"/>
  <p:tag name="PPWINLASTSAVEDTRANSLATION" val="L'enregistrement de débogage DNS est un outil journal facultatif pour DNS, qui stocke les informations DNS que vous sélectionnez."/>
  <p:tag name="PPWINALREADYSEGMENTED" val="True"/>
  <p:tag name="PPWINTOTALSEGMENTS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Nuances de gris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6194</TotalTime>
  <Words>939</Words>
  <Application>Microsoft PowerPoint</Application>
  <PresentationFormat>Affichage à l'écran (4:3)</PresentationFormat>
  <Paragraphs>164</Paragraphs>
  <Slides>20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Arial Narrow</vt:lpstr>
      <vt:lpstr>Wingdings</vt:lpstr>
      <vt:lpstr>Georgia</vt:lpstr>
      <vt:lpstr>Wingdings 2</vt:lpstr>
      <vt:lpstr>Civil</vt:lpstr>
      <vt:lpstr>Diapositive 1</vt:lpstr>
      <vt:lpstr>Plan du cours</vt:lpstr>
      <vt:lpstr>1. Fonctionnement de la valeur de durée de vie</vt:lpstr>
      <vt:lpstr>2. Configuration des paramètres de vieillissement et de nettoyage</vt:lpstr>
      <vt:lpstr>Définition des paramètres de vieillissement et de nettoyage</vt:lpstr>
      <vt:lpstr>Fonctionnement du vieillissement et du nettoyage</vt:lpstr>
      <vt:lpstr>Comment configurer le vieillissement et le nettoyage</vt:lpstr>
      <vt:lpstr>3. Test de la configuration du serveur DNS</vt:lpstr>
      <vt:lpstr>Fonctionnement des requêtes simples et récursives</vt:lpstr>
      <vt:lpstr>Comment tester la configuration du serveur DNS</vt:lpstr>
      <vt:lpstr>4. Vérification de la présence d'un enregistrement de ressource à l'aide de Nslookup, de DNSCmd et de DNSLint</vt:lpstr>
      <vt:lpstr>Pourquoi vérifier s'il existe un enregistrement de ressource ?</vt:lpstr>
      <vt:lpstr>Nslookup</vt:lpstr>
      <vt:lpstr>DNSCmd</vt:lpstr>
      <vt:lpstr>DNSLint</vt:lpstr>
      <vt:lpstr>5. Analyse des performances du serveur DNS</vt:lpstr>
      <vt:lpstr>Principes d'analyse des performances du serveur DNS à l'aide de la console de performances</vt:lpstr>
      <vt:lpstr>Qu'est-ce qu'un journal des événements DNS ?</vt:lpstr>
      <vt:lpstr>Qu'est-ce que l'enregistrement de débogage DNS ?</vt:lpstr>
      <vt:lpstr>Exercices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524</cp:revision>
  <dcterms:created xsi:type="dcterms:W3CDTF">2002-08-07T17:51:12Z</dcterms:created>
  <dcterms:modified xsi:type="dcterms:W3CDTF">2015-12-29T20:53:14Z</dcterms:modified>
</cp:coreProperties>
</file>