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6.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8.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9.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0.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1.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12.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3.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notesSlides/notesSlide14.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notesSlides/notesSlide15.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notesSlides/notesSlide16.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17.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8.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notesSlides/notesSlide19.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notesSlides/notesSlide20.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1.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2.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3.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24.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25.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notesSlides/notesSlide26.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notesSlides/notesSlide27.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28.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29.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30.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31.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32.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33.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34.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35.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notesSlides/notesSlide36.xml" ContentType="application/vnd.openxmlformats-officedocument.presentationml.notesSlide+xml"/>
  <Override PartName="/ppt/tags/tag2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61" r:id="rId1"/>
  </p:sldMasterIdLst>
  <p:notesMasterIdLst>
    <p:notesMasterId r:id="rId42"/>
  </p:notesMasterIdLst>
  <p:handoutMasterIdLst>
    <p:handoutMasterId r:id="rId43"/>
  </p:handoutMasterIdLst>
  <p:sldIdLst>
    <p:sldId id="501" r:id="rId2"/>
    <p:sldId id="447" r:id="rId3"/>
    <p:sldId id="454" r:id="rId4"/>
    <p:sldId id="667" r:id="rId5"/>
    <p:sldId id="741" r:id="rId6"/>
    <p:sldId id="622" r:id="rId7"/>
    <p:sldId id="626" r:id="rId8"/>
    <p:sldId id="671" r:id="rId9"/>
    <p:sldId id="684" r:id="rId10"/>
    <p:sldId id="683" r:id="rId11"/>
    <p:sldId id="743" r:id="rId12"/>
    <p:sldId id="678" r:id="rId13"/>
    <p:sldId id="735" r:id="rId14"/>
    <p:sldId id="733" r:id="rId15"/>
    <p:sldId id="732" r:id="rId16"/>
    <p:sldId id="682" r:id="rId17"/>
    <p:sldId id="672" r:id="rId18"/>
    <p:sldId id="738" r:id="rId19"/>
    <p:sldId id="750" r:id="rId20"/>
    <p:sldId id="751" r:id="rId21"/>
    <p:sldId id="740" r:id="rId22"/>
    <p:sldId id="689" r:id="rId23"/>
    <p:sldId id="747" r:id="rId24"/>
    <p:sldId id="734" r:id="rId25"/>
    <p:sldId id="688" r:id="rId26"/>
    <p:sldId id="749" r:id="rId27"/>
    <p:sldId id="675" r:id="rId28"/>
    <p:sldId id="704" r:id="rId29"/>
    <p:sldId id="707" r:id="rId30"/>
    <p:sldId id="674" r:id="rId31"/>
    <p:sldId id="713" r:id="rId32"/>
    <p:sldId id="742" r:id="rId33"/>
    <p:sldId id="692" r:id="rId34"/>
    <p:sldId id="737" r:id="rId35"/>
    <p:sldId id="701" r:id="rId36"/>
    <p:sldId id="673" r:id="rId37"/>
    <p:sldId id="662" r:id="rId38"/>
    <p:sldId id="744" r:id="rId39"/>
    <p:sldId id="745" r:id="rId40"/>
    <p:sldId id="746" r:id="rId41"/>
  </p:sldIdLst>
  <p:sldSz cx="9144000" cy="6858000" type="screen4x3"/>
  <p:notesSz cx="6858000" cy="9199563"/>
  <p:embeddedFontLst>
    <p:embeddedFont>
      <p:font typeface="Arial Narrow" panose="020B0606020202030204" pitchFamily="34" charset="0"/>
      <p:regular r:id="rId44"/>
      <p:bold r:id="rId45"/>
      <p:italic r:id="rId46"/>
      <p:boldItalic r:id="rId47"/>
    </p:embeddedFont>
    <p:embeddedFont>
      <p:font typeface="Georgia" panose="02040502050405020303" pitchFamily="18" charset="0"/>
      <p:regular r:id="rId48"/>
      <p:bold r:id="rId49"/>
      <p:italic r:id="rId50"/>
      <p:boldItalic r:id="rId51"/>
    </p:embeddedFont>
    <p:embeddedFont>
      <p:font typeface="Verdana" panose="020B0604030504040204" pitchFamily="34" charset="0"/>
      <p:regular r:id="rId52"/>
      <p:bold r:id="rId53"/>
      <p:italic r:id="rId54"/>
      <p:boldItalic r:id="rId55"/>
    </p:embeddedFont>
    <p:embeddedFont>
      <p:font typeface="Wingdings 2" panose="05020102010507070707" pitchFamily="18" charset="2"/>
      <p:regular r:id="rId56"/>
    </p:embeddedFont>
  </p:embeddedFontLst>
  <p:defaultTextStyle>
    <a:defPPr>
      <a:defRPr lang="en-US"/>
    </a:defPPr>
    <a:lvl1pPr algn="ctr" rtl="0" eaLnBrk="0" fontAlgn="base" hangingPunct="0">
      <a:spcBef>
        <a:spcPct val="0"/>
      </a:spcBef>
      <a:spcAft>
        <a:spcPct val="0"/>
      </a:spcAft>
      <a:defRPr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Narrow" pitchFamily="34" charset="0"/>
        <a:ea typeface="+mn-ea"/>
        <a:cs typeface="+mn-cs"/>
      </a:defRPr>
    </a:lvl5pPr>
    <a:lvl6pPr marL="2286000" algn="l" defTabSz="914400" rtl="0" eaLnBrk="1" latinLnBrk="0" hangingPunct="1">
      <a:defRPr kern="1200">
        <a:solidFill>
          <a:schemeClr val="tx1"/>
        </a:solidFill>
        <a:latin typeface="Arial Narrow" pitchFamily="34" charset="0"/>
        <a:ea typeface="+mn-ea"/>
        <a:cs typeface="+mn-cs"/>
      </a:defRPr>
    </a:lvl6pPr>
    <a:lvl7pPr marL="2743200" algn="l" defTabSz="914400" rtl="0" eaLnBrk="1" latinLnBrk="0" hangingPunct="1">
      <a:defRPr kern="1200">
        <a:solidFill>
          <a:schemeClr val="tx1"/>
        </a:solidFill>
        <a:latin typeface="Arial Narrow" pitchFamily="34" charset="0"/>
        <a:ea typeface="+mn-ea"/>
        <a:cs typeface="+mn-cs"/>
      </a:defRPr>
    </a:lvl7pPr>
    <a:lvl8pPr marL="3200400" algn="l" defTabSz="914400" rtl="0" eaLnBrk="1" latinLnBrk="0" hangingPunct="1">
      <a:defRPr kern="1200">
        <a:solidFill>
          <a:schemeClr val="tx1"/>
        </a:solidFill>
        <a:latin typeface="Arial Narrow" pitchFamily="34" charset="0"/>
        <a:ea typeface="+mn-ea"/>
        <a:cs typeface="+mn-cs"/>
      </a:defRPr>
    </a:lvl8pPr>
    <a:lvl9pPr marL="3657600" algn="l" defTabSz="914400" rtl="0" eaLnBrk="1" latinLnBrk="0" hangingPunct="1">
      <a:defRPr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348">
          <p15:clr>
            <a:srgbClr val="A4A3A4"/>
          </p15:clr>
        </p15:guide>
      </p15:sldGuideLst>
    </p:ext>
    <p:ext uri="{2D200454-40CA-4A62-9FC3-DE9A4176ACB9}">
      <p15:notesGuideLst xmlns:p15="http://schemas.microsoft.com/office/powerpoint/2012/main">
        <p15:guide id="1" orient="horz" pos="289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7" name="ESM" initials="" lastIdx="10" clrIdx="7"/>
  <p:cmAuthor id="1" name="jimcla" initials="" lastIdx="56" clrIdx="1"/>
  <p:cmAuthor id="2" name="Kelley Umphrey" initials="" lastIdx="83" clrIdx="2"/>
  <p:cmAuthor id="3" name="Chris" initials="" lastIdx="3" clrIdx="3"/>
  <p:cmAuthor id="4" name="eliree" initials="" lastIdx="24" clrIdx="4"/>
  <p:cmAuthor id="5" name="Elisem" initials="" lastIdx="3" clrIdx="5"/>
  <p:cmAuthor id="6" name="cgehrig" initials="" lastIdx="2" clrIdx="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EEFD7"/>
    <a:srgbClr val="D5D69C"/>
    <a:srgbClr val="ADE2A1"/>
    <a:srgbClr val="333333"/>
    <a:srgbClr val="DFE8F2"/>
    <a:srgbClr val="DEE7F1"/>
    <a:srgbClr val="C0C0C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00" autoAdjust="0"/>
    <p:restoredTop sz="94660" autoAdjust="0"/>
  </p:normalViewPr>
  <p:slideViewPr>
    <p:cSldViewPr snapToGrid="0">
      <p:cViewPr varScale="1">
        <p:scale>
          <a:sx n="63" d="100"/>
          <a:sy n="63" d="100"/>
        </p:scale>
        <p:origin x="600" y="64"/>
      </p:cViewPr>
      <p:guideLst>
        <p:guide orient="horz" pos="2160"/>
        <p:guide pos="3348"/>
      </p:guideLst>
    </p:cSldViewPr>
  </p:slideViewPr>
  <p:outlineViewPr>
    <p:cViewPr>
      <p:scale>
        <a:sx n="33" d="100"/>
        <a:sy n="33" d="100"/>
      </p:scale>
      <p:origin x="0" y="1944"/>
    </p:cViewPr>
  </p:outlineViewPr>
  <p:notesTextViewPr>
    <p:cViewPr>
      <p:scale>
        <a:sx n="100" d="100"/>
        <a:sy n="100" d="100"/>
      </p:scale>
      <p:origin x="0" y="0"/>
    </p:cViewPr>
  </p:notesTextViewPr>
  <p:sorterViewPr>
    <p:cViewPr>
      <p:scale>
        <a:sx n="66" d="100"/>
        <a:sy n="66" d="100"/>
      </p:scale>
      <p:origin x="0" y="6684"/>
    </p:cViewPr>
  </p:sorterViewPr>
  <p:notesViewPr>
    <p:cSldViewPr snapToGrid="0">
      <p:cViewPr>
        <p:scale>
          <a:sx n="75" d="100"/>
          <a:sy n="75" d="100"/>
        </p:scale>
        <p:origin x="-1404" y="72"/>
      </p:cViewPr>
      <p:guideLst>
        <p:guide orient="horz" pos="289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custDataLst>
              <p:tags r:id="rId2"/>
            </p:custDataLst>
          </p:nvPr>
        </p:nvSpPr>
        <p:spPr bwMode="auto">
          <a:xfrm>
            <a:off x="0" y="0"/>
            <a:ext cx="2973388" cy="460375"/>
          </a:xfrm>
          <a:prstGeom prst="rect">
            <a:avLst/>
          </a:prstGeom>
          <a:noFill/>
          <a:ln w="9525">
            <a:noFill/>
            <a:miter lim="800000"/>
            <a:headEnd/>
            <a:tailEnd/>
          </a:ln>
          <a:effectLst/>
        </p:spPr>
        <p:txBody>
          <a:bodyPr vert="horz" wrap="square" lIns="91429" tIns="45715" rIns="91429" bIns="45715" numCol="1" anchor="t" anchorCtr="0" compatLnSpc="1">
            <a:prstTxWarp prst="textNoShape">
              <a:avLst/>
            </a:prstTxWarp>
          </a:bodyPr>
          <a:lstStyle>
            <a:lvl1pPr algn="l" eaLnBrk="1" hangingPunct="1">
              <a:defRPr sz="1200">
                <a:latin typeface="Arial" charset="0"/>
              </a:defRPr>
            </a:lvl1pPr>
          </a:lstStyle>
          <a:p>
            <a:endParaRPr lang="en-US"/>
          </a:p>
        </p:txBody>
      </p:sp>
      <p:sp>
        <p:nvSpPr>
          <p:cNvPr id="278531" name="Rectangle 3"/>
          <p:cNvSpPr>
            <a:spLocks noGrp="1" noChangeArrowheads="1"/>
          </p:cNvSpPr>
          <p:nvPr>
            <p:ph type="dt" sz="quarter" idx="1"/>
            <p:custDataLst>
              <p:tags r:id="rId3"/>
            </p:custDataLst>
          </p:nvPr>
        </p:nvSpPr>
        <p:spPr bwMode="auto">
          <a:xfrm>
            <a:off x="3883025" y="0"/>
            <a:ext cx="2973388" cy="460375"/>
          </a:xfrm>
          <a:prstGeom prst="rect">
            <a:avLst/>
          </a:prstGeom>
          <a:noFill/>
          <a:ln w="9525">
            <a:noFill/>
            <a:miter lim="800000"/>
            <a:headEnd/>
            <a:tailEnd/>
          </a:ln>
          <a:effectLst/>
        </p:spPr>
        <p:txBody>
          <a:bodyPr vert="horz" wrap="square" lIns="91429" tIns="45715" rIns="91429" bIns="45715" numCol="1" anchor="t" anchorCtr="0" compatLnSpc="1">
            <a:prstTxWarp prst="textNoShape">
              <a:avLst/>
            </a:prstTxWarp>
          </a:bodyPr>
          <a:lstStyle>
            <a:lvl1pPr algn="r" eaLnBrk="1" hangingPunct="1">
              <a:defRPr sz="1200">
                <a:latin typeface="Arial" charset="0"/>
              </a:defRPr>
            </a:lvl1pPr>
          </a:lstStyle>
          <a:p>
            <a:endParaRPr lang="en-US"/>
          </a:p>
        </p:txBody>
      </p:sp>
      <p:sp>
        <p:nvSpPr>
          <p:cNvPr id="278532" name="Rectangle 4"/>
          <p:cNvSpPr>
            <a:spLocks noGrp="1" noChangeArrowheads="1"/>
          </p:cNvSpPr>
          <p:nvPr>
            <p:ph type="ftr" sz="quarter" idx="2"/>
            <p:custDataLst>
              <p:tags r:id="rId4"/>
            </p:custDataLst>
          </p:nvPr>
        </p:nvSpPr>
        <p:spPr bwMode="auto">
          <a:xfrm>
            <a:off x="0" y="8737600"/>
            <a:ext cx="2973388" cy="460375"/>
          </a:xfrm>
          <a:prstGeom prst="rect">
            <a:avLst/>
          </a:prstGeom>
          <a:noFill/>
          <a:ln w="9525">
            <a:noFill/>
            <a:miter lim="800000"/>
            <a:headEnd/>
            <a:tailEnd/>
          </a:ln>
          <a:effectLst/>
        </p:spPr>
        <p:txBody>
          <a:bodyPr vert="horz" wrap="square" lIns="91429" tIns="45715" rIns="91429" bIns="45715" numCol="1" anchor="b" anchorCtr="0" compatLnSpc="1">
            <a:prstTxWarp prst="textNoShape">
              <a:avLst/>
            </a:prstTxWarp>
          </a:bodyPr>
          <a:lstStyle>
            <a:lvl1pPr algn="l" eaLnBrk="1" hangingPunct="1">
              <a:defRPr sz="1200">
                <a:latin typeface="Arial" charset="0"/>
              </a:defRPr>
            </a:lvl1pPr>
          </a:lstStyle>
          <a:p>
            <a:endParaRPr lang="en-US"/>
          </a:p>
        </p:txBody>
      </p:sp>
      <p:sp>
        <p:nvSpPr>
          <p:cNvPr id="278533" name="Rectangle 5"/>
          <p:cNvSpPr>
            <a:spLocks noGrp="1" noChangeArrowheads="1"/>
          </p:cNvSpPr>
          <p:nvPr>
            <p:ph type="sldNum" sz="quarter" idx="3"/>
            <p:custDataLst>
              <p:tags r:id="rId5"/>
            </p:custDataLst>
          </p:nvPr>
        </p:nvSpPr>
        <p:spPr bwMode="auto">
          <a:xfrm>
            <a:off x="3883025" y="8737600"/>
            <a:ext cx="2973388" cy="460375"/>
          </a:xfrm>
          <a:prstGeom prst="rect">
            <a:avLst/>
          </a:prstGeom>
          <a:noFill/>
          <a:ln w="9525">
            <a:noFill/>
            <a:miter lim="800000"/>
            <a:headEnd/>
            <a:tailEnd/>
          </a:ln>
          <a:effectLst/>
        </p:spPr>
        <p:txBody>
          <a:bodyPr vert="horz" wrap="square" lIns="91429" tIns="45715" rIns="91429" bIns="45715" numCol="1" anchor="b" anchorCtr="0" compatLnSpc="1">
            <a:prstTxWarp prst="textNoShape">
              <a:avLst/>
            </a:prstTxWarp>
          </a:bodyPr>
          <a:lstStyle>
            <a:lvl1pPr algn="r" eaLnBrk="1" hangingPunct="1">
              <a:defRPr sz="1200">
                <a:latin typeface="Arial" charset="0"/>
              </a:defRPr>
            </a:lvl1pPr>
          </a:lstStyle>
          <a:p>
            <a:fld id="{5B5B539C-FDB3-479C-9C77-14DE02D6BBE1}"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custDataLst>
              <p:tags r:id="rId2"/>
            </p:custDataLst>
          </p:nvPr>
        </p:nvSpPr>
        <p:spPr bwMode="auto">
          <a:xfrm>
            <a:off x="0" y="0"/>
            <a:ext cx="2973388" cy="460375"/>
          </a:xfrm>
          <a:prstGeom prst="rect">
            <a:avLst/>
          </a:prstGeom>
          <a:noFill/>
          <a:ln w="9525">
            <a:noFill/>
            <a:miter lim="800000"/>
            <a:headEnd/>
            <a:tailEnd/>
          </a:ln>
          <a:effectLst/>
        </p:spPr>
        <p:txBody>
          <a:bodyPr vert="horz" wrap="square" lIns="91429" tIns="45715" rIns="91429" bIns="45715" numCol="1" anchor="t" anchorCtr="0" compatLnSpc="1">
            <a:prstTxWarp prst="textNoShape">
              <a:avLst/>
            </a:prstTxWarp>
          </a:bodyPr>
          <a:lstStyle>
            <a:lvl1pPr algn="l" eaLnBrk="1" hangingPunct="1">
              <a:defRPr sz="1200">
                <a:latin typeface="Arial" charset="0"/>
              </a:defRPr>
            </a:lvl1pPr>
          </a:lstStyle>
          <a:p>
            <a:endParaRPr lang="en-US"/>
          </a:p>
        </p:txBody>
      </p:sp>
      <p:sp>
        <p:nvSpPr>
          <p:cNvPr id="5123" name="Rectangle 3"/>
          <p:cNvSpPr>
            <a:spLocks noGrp="1" noChangeArrowheads="1"/>
          </p:cNvSpPr>
          <p:nvPr>
            <p:ph type="dt" idx="1"/>
            <p:custDataLst>
              <p:tags r:id="rId3"/>
            </p:custDataLst>
          </p:nvPr>
        </p:nvSpPr>
        <p:spPr bwMode="auto">
          <a:xfrm>
            <a:off x="3883025" y="0"/>
            <a:ext cx="2973388" cy="460375"/>
          </a:xfrm>
          <a:prstGeom prst="rect">
            <a:avLst/>
          </a:prstGeom>
          <a:noFill/>
          <a:ln w="9525">
            <a:noFill/>
            <a:miter lim="800000"/>
            <a:headEnd/>
            <a:tailEnd/>
          </a:ln>
          <a:effectLst/>
        </p:spPr>
        <p:txBody>
          <a:bodyPr vert="horz" wrap="square" lIns="91429" tIns="45715" rIns="91429" bIns="45715" numCol="1" anchor="t" anchorCtr="0" compatLnSpc="1">
            <a:prstTxWarp prst="textNoShape">
              <a:avLst/>
            </a:prstTxWarp>
          </a:bodyPr>
          <a:lstStyle>
            <a:lvl1pPr algn="r" eaLnBrk="1" hangingPunct="1">
              <a:defRPr sz="120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31888" y="690563"/>
            <a:ext cx="4597400" cy="344805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custDataLst>
              <p:tags r:id="rId4"/>
            </p:custDataLst>
          </p:nvPr>
        </p:nvSpPr>
        <p:spPr bwMode="auto">
          <a:xfrm>
            <a:off x="685800" y="4370388"/>
            <a:ext cx="5486400" cy="4138612"/>
          </a:xfrm>
          <a:prstGeom prst="rect">
            <a:avLst/>
          </a:prstGeom>
          <a:noFill/>
          <a:ln w="9525">
            <a:noFill/>
            <a:miter lim="800000"/>
            <a:headEnd/>
            <a:tailEnd/>
          </a:ln>
          <a:effectLst/>
        </p:spPr>
        <p:txBody>
          <a:bodyPr vert="horz" wrap="square" lIns="91429" tIns="45715" rIns="91429" bIns="4571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custDataLst>
              <p:tags r:id="rId5"/>
            </p:custDataLst>
          </p:nvPr>
        </p:nvSpPr>
        <p:spPr bwMode="auto">
          <a:xfrm>
            <a:off x="0" y="8737600"/>
            <a:ext cx="2973388" cy="460375"/>
          </a:xfrm>
          <a:prstGeom prst="rect">
            <a:avLst/>
          </a:prstGeom>
          <a:noFill/>
          <a:ln w="9525">
            <a:noFill/>
            <a:miter lim="800000"/>
            <a:headEnd/>
            <a:tailEnd/>
          </a:ln>
          <a:effectLst/>
        </p:spPr>
        <p:txBody>
          <a:bodyPr vert="horz" wrap="square" lIns="91429" tIns="45715" rIns="91429" bIns="45715" numCol="1" anchor="b" anchorCtr="0" compatLnSpc="1">
            <a:prstTxWarp prst="textNoShape">
              <a:avLst/>
            </a:prstTxWarp>
          </a:bodyPr>
          <a:lstStyle>
            <a:lvl1pPr algn="l" eaLnBrk="1" hangingPunct="1">
              <a:defRPr sz="1200">
                <a:latin typeface="Arial" charset="0"/>
              </a:defRPr>
            </a:lvl1pPr>
          </a:lstStyle>
          <a:p>
            <a:endParaRPr lang="en-US"/>
          </a:p>
        </p:txBody>
      </p:sp>
      <p:sp>
        <p:nvSpPr>
          <p:cNvPr id="5127" name="Rectangle 7"/>
          <p:cNvSpPr>
            <a:spLocks noGrp="1" noChangeArrowheads="1"/>
          </p:cNvSpPr>
          <p:nvPr>
            <p:ph type="sldNum" sz="quarter" idx="5"/>
            <p:custDataLst>
              <p:tags r:id="rId6"/>
            </p:custDataLst>
          </p:nvPr>
        </p:nvSpPr>
        <p:spPr bwMode="auto">
          <a:xfrm>
            <a:off x="3883025" y="8737600"/>
            <a:ext cx="2973388" cy="460375"/>
          </a:xfrm>
          <a:prstGeom prst="rect">
            <a:avLst/>
          </a:prstGeom>
          <a:noFill/>
          <a:ln w="9525">
            <a:noFill/>
            <a:miter lim="800000"/>
            <a:headEnd/>
            <a:tailEnd/>
          </a:ln>
          <a:effectLst/>
        </p:spPr>
        <p:txBody>
          <a:bodyPr vert="horz" wrap="square" lIns="91429" tIns="45715" rIns="91429" bIns="45715" numCol="1" anchor="b" anchorCtr="0" compatLnSpc="1">
            <a:prstTxWarp prst="textNoShape">
              <a:avLst/>
            </a:prstTxWarp>
          </a:bodyPr>
          <a:lstStyle>
            <a:lvl1pPr algn="r" eaLnBrk="1" hangingPunct="1">
              <a:defRPr sz="1200">
                <a:latin typeface="Arial" charset="0"/>
              </a:defRPr>
            </a:lvl1pPr>
          </a:lstStyle>
          <a:p>
            <a:fld id="{8074CE1D-06CB-44ED-AFEF-44808072E426}"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39.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42.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45.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76.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79.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82.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84.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00.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02.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04.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10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09.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12.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14.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16.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19.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29.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132.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143.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148.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150.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157.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160.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164.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167.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199.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227.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ags" Target="../tags/tag241.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244.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ags" Target="../tags/tag2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80BDFA1-D864-46DE-8D5D-40A6E8EBD550}" type="slidenum">
              <a:rPr lang="en-US"/>
              <a:pPr/>
              <a:t>1</a:t>
            </a:fld>
            <a:endParaRPr lang="en-US"/>
          </a:p>
        </p:txBody>
      </p:sp>
      <p:sp>
        <p:nvSpPr>
          <p:cNvPr id="838658" name="Rectangle 2"/>
          <p:cNvSpPr>
            <a:spLocks noGrp="1" noRot="1" noChangeAspect="1" noChangeArrowheads="1" noTextEdit="1"/>
          </p:cNvSpPr>
          <p:nvPr>
            <p:ph type="sldImg"/>
          </p:nvPr>
        </p:nvSpPr>
        <p:spPr>
          <a:ln/>
        </p:spPr>
      </p:sp>
      <p:sp>
        <p:nvSpPr>
          <p:cNvPr id="83865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1297CBA-2A92-4EF0-A631-00C62E5AC12E}" type="slidenum">
              <a:rPr lang="en-US"/>
              <a:pPr/>
              <a:t>2</a:t>
            </a:fld>
            <a:endParaRPr lang="en-US"/>
          </a:p>
        </p:txBody>
      </p:sp>
      <p:sp>
        <p:nvSpPr>
          <p:cNvPr id="471042" name="Rectangle 2"/>
          <p:cNvSpPr>
            <a:spLocks noGrp="1" noRot="1" noChangeAspect="1" noChangeArrowheads="1" noTextEdit="1"/>
          </p:cNvSpPr>
          <p:nvPr>
            <p:ph type="sldImg"/>
          </p:nvPr>
        </p:nvSpPr>
        <p:spPr>
          <a:ln/>
        </p:spPr>
      </p:sp>
      <p:sp>
        <p:nvSpPr>
          <p:cNvPr id="47104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ACDEBD7-E51A-4344-8332-DB7973872943}" type="slidenum">
              <a:rPr lang="en-US"/>
              <a:pPr/>
              <a:t>3</a:t>
            </a:fld>
            <a:endParaRPr lang="en-US"/>
          </a:p>
        </p:txBody>
      </p:sp>
      <p:sp>
        <p:nvSpPr>
          <p:cNvPr id="476162" name="Rectangle 2"/>
          <p:cNvSpPr>
            <a:spLocks noGrp="1" noRot="1" noChangeAspect="1" noChangeArrowheads="1" noTextEdit="1"/>
          </p:cNvSpPr>
          <p:nvPr>
            <p:ph type="sldImg"/>
          </p:nvPr>
        </p:nvSpPr>
        <p:spPr>
          <a:ln/>
        </p:spPr>
      </p:sp>
      <p:sp>
        <p:nvSpPr>
          <p:cNvPr id="47616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B8CB677-9567-40D7-AD10-0F6A857F9895}" type="slidenum">
              <a:rPr lang="en-US"/>
              <a:pPr/>
              <a:t>4</a:t>
            </a:fld>
            <a:endParaRPr lang="en-US"/>
          </a:p>
        </p:txBody>
      </p:sp>
      <p:sp>
        <p:nvSpPr>
          <p:cNvPr id="686082" name="Rectangle 2"/>
          <p:cNvSpPr>
            <a:spLocks noGrp="1" noRot="1" noChangeAspect="1" noChangeArrowheads="1" noTextEdit="1"/>
          </p:cNvSpPr>
          <p:nvPr>
            <p:ph type="sldImg"/>
          </p:nvPr>
        </p:nvSpPr>
        <p:spPr>
          <a:ln/>
        </p:spPr>
      </p:sp>
      <p:sp>
        <p:nvSpPr>
          <p:cNvPr id="68608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B8CB677-9567-40D7-AD10-0F6A857F9895}" type="slidenum">
              <a:rPr lang="en-US"/>
              <a:pPr/>
              <a:t>5</a:t>
            </a:fld>
            <a:endParaRPr lang="en-US"/>
          </a:p>
        </p:txBody>
      </p:sp>
      <p:sp>
        <p:nvSpPr>
          <p:cNvPr id="686082" name="Rectangle 2"/>
          <p:cNvSpPr>
            <a:spLocks noGrp="1" noRot="1" noChangeAspect="1" noChangeArrowheads="1" noTextEdit="1"/>
          </p:cNvSpPr>
          <p:nvPr>
            <p:ph type="sldImg"/>
          </p:nvPr>
        </p:nvSpPr>
        <p:spPr>
          <a:ln/>
        </p:spPr>
      </p:sp>
      <p:sp>
        <p:nvSpPr>
          <p:cNvPr id="68608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59AF21FC-AA08-4515-A73D-19B0AF604C75}" type="slidenum">
              <a:rPr lang="en-US"/>
              <a:pPr/>
              <a:t>6</a:t>
            </a:fld>
            <a:endParaRPr lang="en-US"/>
          </a:p>
        </p:txBody>
      </p:sp>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2B6521C-C93D-467D-8667-C3D46D818F44}" type="slidenum">
              <a:rPr lang="en-US"/>
              <a:pPr/>
              <a:t>7</a:t>
            </a:fld>
            <a:endParaRPr lang="en-US"/>
          </a:p>
        </p:txBody>
      </p:sp>
      <p:sp>
        <p:nvSpPr>
          <p:cNvPr id="606210" name="Rectangle 2"/>
          <p:cNvSpPr>
            <a:spLocks noGrp="1" noRot="1" noChangeAspect="1" noChangeArrowheads="1" noTextEdit="1"/>
          </p:cNvSpPr>
          <p:nvPr>
            <p:ph type="sldImg"/>
          </p:nvPr>
        </p:nvSpPr>
        <p:spPr>
          <a:ln/>
        </p:spPr>
      </p:sp>
      <p:sp>
        <p:nvSpPr>
          <p:cNvPr id="60621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D819FEF-3938-4435-843B-1CC72FA1935A}" type="slidenum">
              <a:rPr lang="en-US"/>
              <a:pPr/>
              <a:t>8</a:t>
            </a:fld>
            <a:endParaRPr lang="en-US"/>
          </a:p>
        </p:txBody>
      </p:sp>
      <p:sp>
        <p:nvSpPr>
          <p:cNvPr id="694274" name="Rectangle 2"/>
          <p:cNvSpPr>
            <a:spLocks noGrp="1" noRot="1" noChangeAspect="1" noChangeArrowheads="1" noTextEdit="1"/>
          </p:cNvSpPr>
          <p:nvPr>
            <p:ph type="sldImg"/>
          </p:nvPr>
        </p:nvSpPr>
        <p:spPr>
          <a:ln/>
        </p:spPr>
      </p:sp>
      <p:sp>
        <p:nvSpPr>
          <p:cNvPr id="6942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020A7A1-552F-4E6C-B81F-C21B4CA92BDC}" type="slidenum">
              <a:rPr lang="en-US"/>
              <a:pPr/>
              <a:t>9</a:t>
            </a:fld>
            <a:endParaRPr lang="en-US"/>
          </a:p>
        </p:txBody>
      </p:sp>
      <p:sp>
        <p:nvSpPr>
          <p:cNvPr id="72089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FBA8B74-3104-4E20-B5AA-6F84963A19A0}" type="slidenum">
              <a:rPr lang="en-US"/>
              <a:pPr/>
              <a:t>10</a:t>
            </a:fld>
            <a:endParaRPr lang="en-US"/>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FBA8B74-3104-4E20-B5AA-6F84963A19A0}" type="slidenum">
              <a:rPr lang="en-US"/>
              <a:pPr/>
              <a:t>11</a:t>
            </a:fld>
            <a:endParaRPr lang="en-US"/>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17CA5AD-2393-467F-8412-91D971D3CE4C}" type="slidenum">
              <a:rPr lang="en-US"/>
              <a:pPr/>
              <a:t>12</a:t>
            </a:fld>
            <a:endParaRPr lang="en-US"/>
          </a:p>
        </p:txBody>
      </p:sp>
      <p:sp>
        <p:nvSpPr>
          <p:cNvPr id="708610" name="Rectangle 2"/>
          <p:cNvSpPr>
            <a:spLocks noGrp="1" noRot="1" noChangeAspect="1" noChangeArrowheads="1" noTextEdit="1"/>
          </p:cNvSpPr>
          <p:nvPr>
            <p:ph type="sldImg"/>
          </p:nvPr>
        </p:nvSpPr>
        <p:spPr>
          <a:ln/>
        </p:spPr>
      </p:sp>
      <p:sp>
        <p:nvSpPr>
          <p:cNvPr id="70861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0D7B842-5792-424F-98C1-F7AD3AA32CAB}" type="slidenum">
              <a:rPr lang="en-US"/>
              <a:pPr/>
              <a:t>13</a:t>
            </a:fld>
            <a:endParaRPr lang="en-US"/>
          </a:p>
        </p:txBody>
      </p:sp>
      <p:sp>
        <p:nvSpPr>
          <p:cNvPr id="802818" name="Rectangle 2"/>
          <p:cNvSpPr>
            <a:spLocks noGrp="1" noRot="1" noChangeAspect="1" noChangeArrowheads="1" noTextEdit="1"/>
          </p:cNvSpPr>
          <p:nvPr>
            <p:ph type="sldImg"/>
          </p:nvPr>
        </p:nvSpPr>
        <p:spPr>
          <a:ln/>
        </p:spPr>
      </p:sp>
      <p:sp>
        <p:nvSpPr>
          <p:cNvPr id="80281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462D2B4-2A5D-4065-B7DD-7DF81CFD9F96}" type="slidenum">
              <a:rPr lang="en-US"/>
              <a:pPr/>
              <a:t>14</a:t>
            </a:fld>
            <a:endParaRPr lang="en-US"/>
          </a:p>
        </p:txBody>
      </p:sp>
      <p:sp>
        <p:nvSpPr>
          <p:cNvPr id="797698" name="Rectangle 2"/>
          <p:cNvSpPr>
            <a:spLocks noGrp="1" noRot="1" noChangeAspect="1" noChangeArrowheads="1" noTextEdit="1"/>
          </p:cNvSpPr>
          <p:nvPr>
            <p:ph type="sldImg"/>
          </p:nvPr>
        </p:nvSpPr>
        <p:spPr>
          <a:ln/>
        </p:spPr>
      </p:sp>
      <p:sp>
        <p:nvSpPr>
          <p:cNvPr id="79769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B9B68C7-EA30-48DC-9540-AD2307B6387B}" type="slidenum">
              <a:rPr lang="en-US"/>
              <a:pPr/>
              <a:t>15</a:t>
            </a:fld>
            <a:endParaRPr lang="en-US"/>
          </a:p>
        </p:txBody>
      </p:sp>
      <p:sp>
        <p:nvSpPr>
          <p:cNvPr id="795650" name="Rectangle 2"/>
          <p:cNvSpPr>
            <a:spLocks noGrp="1" noRot="1" noChangeAspect="1" noChangeArrowheads="1" noTextEdit="1"/>
          </p:cNvSpPr>
          <p:nvPr>
            <p:ph type="sldImg"/>
          </p:nvPr>
        </p:nvSpPr>
        <p:spPr>
          <a:ln/>
        </p:spPr>
      </p:sp>
      <p:sp>
        <p:nvSpPr>
          <p:cNvPr id="7956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564A516-C017-4F49-BC8E-EECFBF3D6F01}" type="slidenum">
              <a:rPr lang="en-US"/>
              <a:pPr/>
              <a:t>16</a:t>
            </a:fld>
            <a:endParaRPr lang="en-US"/>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778D08C-B7B3-4C0B-9D00-7129E104C5AA}" type="slidenum">
              <a:rPr lang="en-US"/>
              <a:pPr/>
              <a:t>17</a:t>
            </a:fld>
            <a:endParaRPr lang="en-US"/>
          </a:p>
        </p:txBody>
      </p:sp>
      <p:sp>
        <p:nvSpPr>
          <p:cNvPr id="696322" name="Rectangle 2"/>
          <p:cNvSpPr>
            <a:spLocks noGrp="1" noRot="1" noChangeAspect="1" noChangeArrowheads="1" noTextEdit="1"/>
          </p:cNvSpPr>
          <p:nvPr>
            <p:ph type="sldImg"/>
          </p:nvPr>
        </p:nvSpPr>
        <p:spPr>
          <a:ln/>
        </p:spPr>
      </p:sp>
      <p:sp>
        <p:nvSpPr>
          <p:cNvPr id="6963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EFE5D74-4867-48F8-979F-CB251DD1298C}" type="slidenum">
              <a:rPr lang="en-US"/>
              <a:pPr/>
              <a:t>18</a:t>
            </a:fld>
            <a:endParaRPr lang="en-US"/>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EFE5D74-4867-48F8-979F-CB251DD1298C}" type="slidenum">
              <a:rPr lang="en-US"/>
              <a:pPr/>
              <a:t>19</a:t>
            </a:fld>
            <a:endParaRPr lang="en-US"/>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EFE5D74-4867-48F8-979F-CB251DD1298C}" type="slidenum">
              <a:rPr lang="en-US"/>
              <a:pPr/>
              <a:t>20</a:t>
            </a:fld>
            <a:endParaRPr lang="en-US"/>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1DA9CD0-17EC-4A14-851C-CD4956912597}" type="slidenum">
              <a:rPr lang="en-US"/>
              <a:pPr/>
              <a:t>21</a:t>
            </a:fld>
            <a:endParaRPr lang="en-US"/>
          </a:p>
        </p:txBody>
      </p:sp>
      <p:sp>
        <p:nvSpPr>
          <p:cNvPr id="830466" name="Rectangle 2"/>
          <p:cNvSpPr>
            <a:spLocks noGrp="1" noRot="1" noChangeAspect="1" noChangeArrowheads="1" noTextEdit="1"/>
          </p:cNvSpPr>
          <p:nvPr>
            <p:ph type="sldImg"/>
          </p:nvPr>
        </p:nvSpPr>
        <p:spPr>
          <a:ln/>
        </p:spPr>
      </p:sp>
      <p:sp>
        <p:nvSpPr>
          <p:cNvPr id="83046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153253B-8776-498A-A8A6-1FB4B7FADCD6}" type="slidenum">
              <a:rPr lang="en-US"/>
              <a:pPr/>
              <a:t>22</a:t>
            </a:fld>
            <a:endParaRPr lang="en-US"/>
          </a:p>
        </p:txBody>
      </p:sp>
      <p:sp>
        <p:nvSpPr>
          <p:cNvPr id="731138" name="Rectangle 2"/>
          <p:cNvSpPr>
            <a:spLocks noGrp="1" noRot="1" noChangeAspect="1" noChangeArrowheads="1" noTextEdit="1"/>
          </p:cNvSpPr>
          <p:nvPr>
            <p:ph type="sldImg"/>
          </p:nvPr>
        </p:nvSpPr>
        <p:spPr>
          <a:ln/>
        </p:spPr>
      </p:sp>
      <p:sp>
        <p:nvSpPr>
          <p:cNvPr id="731139"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0F9ACC8-8016-4329-8997-69E4DA38338C}" type="slidenum">
              <a:rPr lang="en-US"/>
              <a:pPr/>
              <a:t>24</a:t>
            </a:fld>
            <a:endParaRPr lang="en-US"/>
          </a:p>
        </p:txBody>
      </p:sp>
      <p:sp>
        <p:nvSpPr>
          <p:cNvPr id="851970" name="Rectangle 2"/>
          <p:cNvSpPr>
            <a:spLocks noGrp="1" noRot="1" noChangeAspect="1" noChangeArrowheads="1" noTextEdit="1"/>
          </p:cNvSpPr>
          <p:nvPr>
            <p:ph type="sldImg"/>
          </p:nvPr>
        </p:nvSpPr>
        <p:spPr>
          <a:ln/>
        </p:spPr>
      </p:sp>
      <p:sp>
        <p:nvSpPr>
          <p:cNvPr id="85197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B9A9B96-2F62-41A2-8B1B-5D466118ED5A}" type="slidenum">
              <a:rPr lang="en-US"/>
              <a:pPr/>
              <a:t>25</a:t>
            </a:fld>
            <a:endParaRPr lang="en-US"/>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pPr marL="228600" indent="-228600"/>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p>
            <a:r>
              <a:rPr lang="en-US"/>
              <a:t>Module 2: Configuring and Troubleshooting DNS</a:t>
            </a:r>
          </a:p>
        </p:txBody>
      </p:sp>
      <p:sp>
        <p:nvSpPr>
          <p:cNvPr id="74755" name="Rectangle 3"/>
          <p:cNvSpPr>
            <a:spLocks noGrp="1" noChangeArrowheads="1"/>
          </p:cNvSpPr>
          <p:nvPr>
            <p:ph type="dt" sz="quarter" idx="1"/>
          </p:nvPr>
        </p:nvSpPr>
        <p:spPr>
          <a:noFill/>
        </p:spPr>
        <p:txBody>
          <a:bodyPr/>
          <a:lstStyle/>
          <a:p>
            <a:r>
              <a:rPr lang="en-US"/>
              <a:t>Course 6421A</a:t>
            </a:r>
          </a:p>
        </p:txBody>
      </p:sp>
      <p:sp>
        <p:nvSpPr>
          <p:cNvPr id="74756" name="Rectangle 7"/>
          <p:cNvSpPr>
            <a:spLocks noGrp="1" noChangeArrowheads="1"/>
          </p:cNvSpPr>
          <p:nvPr>
            <p:ph type="sldNum" sz="quarter" idx="5"/>
          </p:nvPr>
        </p:nvSpPr>
        <p:spPr>
          <a:noFill/>
        </p:spPr>
        <p:txBody>
          <a:bodyPr/>
          <a:lstStyle/>
          <a:p>
            <a:fld id="{1816F843-DFD5-4015-A793-910853B285F2}" type="slidenum">
              <a:rPr lang="en-US" smtClean="0"/>
              <a:pPr/>
              <a:t>26</a:t>
            </a:fld>
            <a:endParaRPr lang="en-US"/>
          </a:p>
        </p:txBody>
      </p:sp>
      <p:sp>
        <p:nvSpPr>
          <p:cNvPr id="74757" name="Rectangle 2"/>
          <p:cNvSpPr>
            <a:spLocks noGrp="1" noRot="1" noChangeAspect="1" noChangeArrowheads="1" noTextEdit="1"/>
          </p:cNvSpPr>
          <p:nvPr>
            <p:ph type="sldImg"/>
          </p:nvPr>
        </p:nvSpPr>
        <p:spPr>
          <a:ln/>
        </p:spPr>
      </p:sp>
      <p:sp>
        <p:nvSpPr>
          <p:cNvPr id="74758" name="Rectangle 3"/>
          <p:cNvSpPr>
            <a:spLocks noGrp="1" noChangeArrowheads="1"/>
          </p:cNvSpPr>
          <p:nvPr>
            <p:ph type="body" idx="1"/>
          </p:nvPr>
        </p:nvSpPr>
        <p:spPr>
          <a:xfrm>
            <a:off x="307492" y="2161646"/>
            <a:ext cx="6149837" cy="6772425"/>
          </a:xfrm>
          <a:noFill/>
          <a:ln/>
        </p:spPr>
        <p:txBody>
          <a:bodyPr/>
          <a:lstStyle/>
          <a:p>
            <a:pPr eaLnBrk="1" hangingPunct="1"/>
            <a:r>
              <a:rPr lang="en-US"/>
              <a:t>Explain how to use DNS zone delegation.</a:t>
            </a:r>
            <a:r>
              <a:rPr lang="en-US" b="1"/>
              <a:t> </a:t>
            </a:r>
          </a:p>
          <a:p>
            <a:pPr eaLnBrk="1" hangingPunct="1"/>
            <a:r>
              <a:rPr lang="en-CA"/>
              <a:t>DNS provides the option of dividing up the namespace into one or more zones, which you then can store, distribute, and replicate to other DNS servers. </a:t>
            </a:r>
            <a:endParaRPr lang="en-US"/>
          </a:p>
          <a:p>
            <a:pPr eaLnBrk="1" hangingPunct="1"/>
            <a:endParaRPr lang="en-US"/>
          </a:p>
          <a:p>
            <a:pPr eaLnBrk="1" hangingPunct="1"/>
            <a:r>
              <a:rPr lang="en-US"/>
              <a:t>Explain why delegation is used.</a:t>
            </a:r>
          </a:p>
          <a:p>
            <a:pPr eaLnBrk="1" hangingPunct="1"/>
            <a:r>
              <a:rPr lang="en-CA"/>
              <a:t>When deciding whether to divide the DNS namespace to make additional zones, consider the following reasons to use additional zones:</a:t>
            </a:r>
          </a:p>
          <a:p>
            <a:pPr lvl="1" eaLnBrk="1" hangingPunct="1"/>
            <a:r>
              <a:rPr lang="en-CA"/>
              <a:t>A need to delegate management of part of the DNS namespace to another location or department within your organization.</a:t>
            </a:r>
          </a:p>
          <a:p>
            <a:pPr lvl="1" eaLnBrk="1" hangingPunct="1"/>
            <a:r>
              <a:rPr lang="en-CA"/>
              <a:t>A need to divide one large zone into smaller zones for distributing traffic loads among multiple servers, which improves DNS name-resolution performance and/or create a more fault-tolerant DNS environment.</a:t>
            </a:r>
          </a:p>
          <a:p>
            <a:pPr lvl="1" eaLnBrk="1" hangingPunct="1"/>
            <a:r>
              <a:rPr lang="en-CA"/>
              <a:t>A need to extend the namespace by adding numerous subdomains at once to accommodate the opening of a new branch or site.</a:t>
            </a:r>
            <a:endParaRPr lang="en-US"/>
          </a:p>
          <a:p>
            <a:pPr eaLnBrk="1" hangingPunct="1"/>
            <a:r>
              <a:rPr lang="en-CA"/>
              <a:t>When explaining why delegation is used, emphasize the difference between zones and domains.</a:t>
            </a:r>
          </a:p>
          <a:p>
            <a:pPr eaLnBrk="1" hangingPunct="1"/>
            <a:endParaRPr lang="en-US"/>
          </a:p>
          <a:p>
            <a:pPr eaLnBrk="1" hangingPunct="1"/>
            <a:r>
              <a:rPr lang="en-US"/>
              <a:t>Consider demonstrating the process for creating a DNS zone delegation.</a:t>
            </a:r>
          </a:p>
          <a:p>
            <a:pPr eaLnBrk="1" hangingPunct="1"/>
            <a:endParaRPr lang="en-US"/>
          </a:p>
          <a:p>
            <a:pPr eaLnBrk="1" hangingPunct="1"/>
            <a:r>
              <a:rPr lang="en-US" b="1"/>
              <a:t>References</a:t>
            </a:r>
            <a:endParaRPr lang="en-US"/>
          </a:p>
          <a:p>
            <a:pPr eaLnBrk="1" hangingPunct="1"/>
            <a:r>
              <a:rPr lang="en-US"/>
              <a:t>Microsoft TechNet: Delegating Zones: http://go.microsoft.com/fwlink/?LinkId=99849&amp;clcid=0x409</a:t>
            </a:r>
          </a:p>
          <a:p>
            <a:pPr eaLnBrk="1" hangingPunct="1"/>
            <a:r>
              <a:rPr lang="en-US"/>
              <a:t>MOC 2277C: Module 4</a:t>
            </a:r>
          </a:p>
          <a:p>
            <a:pPr eaLnBrk="1" hangingPunct="1"/>
            <a:endParaRPr lang="en-US"/>
          </a:p>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7DCB24A-9FAB-4D43-AB83-CFCEADF7E1C4}" type="slidenum">
              <a:rPr lang="en-US"/>
              <a:pPr/>
              <a:t>27</a:t>
            </a:fld>
            <a:endParaRPr lang="en-US"/>
          </a:p>
        </p:txBody>
      </p:sp>
      <p:sp>
        <p:nvSpPr>
          <p:cNvPr id="702466" name="Rectangle 2"/>
          <p:cNvSpPr>
            <a:spLocks noGrp="1" noRot="1" noChangeAspect="1" noChangeArrowheads="1" noTextEdit="1"/>
          </p:cNvSpPr>
          <p:nvPr>
            <p:ph type="sldImg"/>
          </p:nvPr>
        </p:nvSpPr>
        <p:spPr>
          <a:ln/>
        </p:spPr>
      </p:sp>
      <p:sp>
        <p:nvSpPr>
          <p:cNvPr id="70246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FCDF959-19D1-4797-BF69-37325C50CDC5}" type="slidenum">
              <a:rPr lang="en-US"/>
              <a:pPr/>
              <a:t>28</a:t>
            </a:fld>
            <a:endParaRPr lang="en-US"/>
          </a:p>
        </p:txBody>
      </p:sp>
      <p:sp>
        <p:nvSpPr>
          <p:cNvPr id="751618" name="Rectangle 2"/>
          <p:cNvSpPr>
            <a:spLocks noGrp="1" noRot="1" noChangeAspect="1" noChangeArrowheads="1" noTextEdit="1"/>
          </p:cNvSpPr>
          <p:nvPr>
            <p:ph type="sldImg"/>
          </p:nvPr>
        </p:nvSpPr>
        <p:spPr>
          <a:ln/>
        </p:spPr>
      </p:sp>
      <p:sp>
        <p:nvSpPr>
          <p:cNvPr id="75161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A3E1445-86F4-4C35-BB76-703190C49350}" type="slidenum">
              <a:rPr lang="en-US"/>
              <a:pPr/>
              <a:t>29</a:t>
            </a:fld>
            <a:endParaRPr lang="en-US"/>
          </a:p>
        </p:txBody>
      </p:sp>
      <p:sp>
        <p:nvSpPr>
          <p:cNvPr id="757762" name="Rectangle 2"/>
          <p:cNvSpPr>
            <a:spLocks noGrp="1" noRot="1" noChangeAspect="1" noChangeArrowheads="1" noTextEdit="1"/>
          </p:cNvSpPr>
          <p:nvPr>
            <p:ph type="sldImg"/>
          </p:nvPr>
        </p:nvSpPr>
        <p:spPr>
          <a:ln/>
        </p:spPr>
      </p:sp>
      <p:sp>
        <p:nvSpPr>
          <p:cNvPr id="75776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EAA4C09-9F6C-41E7-949A-3B6B687EA091}" type="slidenum">
              <a:rPr lang="en-US"/>
              <a:pPr/>
              <a:t>30</a:t>
            </a:fld>
            <a:endParaRPr lang="en-US"/>
          </a:p>
        </p:txBody>
      </p:sp>
      <p:sp>
        <p:nvSpPr>
          <p:cNvPr id="700418" name="Rectangle 2"/>
          <p:cNvSpPr>
            <a:spLocks noGrp="1" noRot="1" noChangeAspect="1" noChangeArrowheads="1" noTextEdit="1"/>
          </p:cNvSpPr>
          <p:nvPr>
            <p:ph type="sldImg"/>
          </p:nvPr>
        </p:nvSpPr>
        <p:spPr>
          <a:ln/>
        </p:spPr>
      </p:sp>
      <p:sp>
        <p:nvSpPr>
          <p:cNvPr id="70041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5BFE1F9-1A38-4561-B7C6-2CF542970DCC}" type="slidenum">
              <a:rPr lang="en-US"/>
              <a:pPr/>
              <a:t>31</a:t>
            </a:fld>
            <a:endParaRPr lang="en-US"/>
          </a:p>
        </p:txBody>
      </p:sp>
      <p:sp>
        <p:nvSpPr>
          <p:cNvPr id="768002" name="Rectangle 2"/>
          <p:cNvSpPr>
            <a:spLocks noGrp="1" noRot="1" noChangeAspect="1" noChangeArrowheads="1" noTextEdit="1"/>
          </p:cNvSpPr>
          <p:nvPr>
            <p:ph type="sldImg"/>
          </p:nvPr>
        </p:nvSpPr>
        <p:spPr>
          <a:ln/>
        </p:spPr>
      </p:sp>
      <p:sp>
        <p:nvSpPr>
          <p:cNvPr id="768003"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5BFE1F9-1A38-4561-B7C6-2CF542970DCC}" type="slidenum">
              <a:rPr lang="en-US"/>
              <a:pPr/>
              <a:t>32</a:t>
            </a:fld>
            <a:endParaRPr lang="en-US"/>
          </a:p>
        </p:txBody>
      </p:sp>
      <p:sp>
        <p:nvSpPr>
          <p:cNvPr id="768002" name="Rectangle 2"/>
          <p:cNvSpPr>
            <a:spLocks noGrp="1" noRot="1" noChangeAspect="1" noChangeArrowheads="1" noTextEdit="1"/>
          </p:cNvSpPr>
          <p:nvPr>
            <p:ph type="sldImg"/>
          </p:nvPr>
        </p:nvSpPr>
        <p:spPr>
          <a:ln/>
        </p:spPr>
      </p:sp>
      <p:sp>
        <p:nvSpPr>
          <p:cNvPr id="768003"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52BC965-E3CA-4428-BF57-875A2DC8BCDE}" type="slidenum">
              <a:rPr lang="en-US"/>
              <a:pPr/>
              <a:t>33</a:t>
            </a:fld>
            <a:endParaRPr lang="en-US"/>
          </a:p>
        </p:txBody>
      </p:sp>
      <p:sp>
        <p:nvSpPr>
          <p:cNvPr id="848898" name="Rectangle 2"/>
          <p:cNvSpPr>
            <a:spLocks noGrp="1" noRot="1" noChangeAspect="1" noChangeArrowheads="1" noTextEdit="1"/>
          </p:cNvSpPr>
          <p:nvPr>
            <p:ph type="sldImg"/>
          </p:nvPr>
        </p:nvSpPr>
        <p:spPr>
          <a:ln/>
        </p:spPr>
      </p:sp>
      <p:sp>
        <p:nvSpPr>
          <p:cNvPr id="84889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488F068-036B-4FFB-99E1-384E629AEF91}" type="slidenum">
              <a:rPr lang="en-US"/>
              <a:pPr/>
              <a:t>34</a:t>
            </a:fld>
            <a:endParaRPr lang="en-US"/>
          </a:p>
        </p:txBody>
      </p:sp>
      <p:sp>
        <p:nvSpPr>
          <p:cNvPr id="849922" name="Rectangle 2"/>
          <p:cNvSpPr>
            <a:spLocks noGrp="1" noRot="1" noChangeAspect="1" noChangeArrowheads="1" noTextEdit="1"/>
          </p:cNvSpPr>
          <p:nvPr>
            <p:ph type="sldImg"/>
          </p:nvPr>
        </p:nvSpPr>
        <p:spPr>
          <a:ln/>
        </p:spPr>
      </p:sp>
      <p:sp>
        <p:nvSpPr>
          <p:cNvPr id="8499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DB15FF0-620F-493F-BE42-91485BD7B2B3}" type="slidenum">
              <a:rPr lang="en-US"/>
              <a:pPr/>
              <a:t>35</a:t>
            </a:fld>
            <a:endParaRPr lang="en-US"/>
          </a:p>
        </p:txBody>
      </p:sp>
      <p:sp>
        <p:nvSpPr>
          <p:cNvPr id="852994" name="Rectangle 2"/>
          <p:cNvSpPr>
            <a:spLocks noGrp="1" noRot="1" noChangeAspect="1" noChangeArrowheads="1" noTextEdit="1"/>
          </p:cNvSpPr>
          <p:nvPr>
            <p:ph type="sldImg"/>
          </p:nvPr>
        </p:nvSpPr>
        <p:spPr>
          <a:ln/>
        </p:spPr>
      </p:sp>
      <p:sp>
        <p:nvSpPr>
          <p:cNvPr id="8529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6A234A9-D0D5-4FC8-8982-A83B66831863}" type="slidenum">
              <a:rPr lang="en-US"/>
              <a:pPr/>
              <a:t>36</a:t>
            </a:fld>
            <a:endParaRPr lang="en-US"/>
          </a:p>
        </p:txBody>
      </p:sp>
      <p:sp>
        <p:nvSpPr>
          <p:cNvPr id="698370" name="Rectangle 2"/>
          <p:cNvSpPr>
            <a:spLocks noGrp="1" noRot="1" noChangeAspect="1" noChangeArrowheads="1" noTextEdit="1"/>
          </p:cNvSpPr>
          <p:nvPr>
            <p:ph type="sldImg"/>
          </p:nvPr>
        </p:nvSpPr>
        <p:spPr>
          <a:ln/>
        </p:spPr>
      </p:sp>
      <p:sp>
        <p:nvSpPr>
          <p:cNvPr id="69837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CBA149E-43F1-4D32-879A-2E1D17EEB9F8}" type="slidenum">
              <a:rPr lang="en-US"/>
              <a:pPr/>
              <a:t>37</a:t>
            </a:fld>
            <a:endParaRPr lang="en-US"/>
          </a:p>
        </p:txBody>
      </p:sp>
      <p:sp>
        <p:nvSpPr>
          <p:cNvPr id="677890" name="Rectangle 2"/>
          <p:cNvSpPr>
            <a:spLocks noGrp="1" noRot="1" noChangeAspect="1" noChangeArrowheads="1" noTextEdit="1"/>
          </p:cNvSpPr>
          <p:nvPr>
            <p:ph type="sldImg"/>
          </p:nvPr>
        </p:nvSpPr>
        <p:spPr>
          <a:ln/>
        </p:spPr>
      </p:sp>
      <p:sp>
        <p:nvSpPr>
          <p:cNvPr id="677891" name="Rectangle 3"/>
          <p:cNvSpPr>
            <a:spLocks noGrp="1" noChangeArrowheads="1"/>
          </p:cNvSpPr>
          <p:nvPr>
            <p:ph type="body" idx="1"/>
          </p:nvPr>
        </p:nvSpPr>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E6FE2469-AAED-4A41-A5AB-A6C4E51D4B66}" type="datetime1">
              <a:rPr lang="en-US" smtClean="0"/>
              <a:pPr/>
              <a:t>12/5/2021</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08258FC1-33FD-488E-996A-F06B0ECE1710}" type="datetime1">
              <a:rPr lang="en-US" smtClean="0"/>
              <a:pPr/>
              <a:t>12/5/2021</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03CFA8FE-E2DA-4696-A49B-FF5FDFD0CF56}" type="datetime1">
              <a:rPr lang="en-US" smtClean="0"/>
              <a:pPr/>
              <a:t>12/5/2021</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4EDF3CB0-AE65-453B-AEF2-696ECA1C3DD3}" type="datetime1">
              <a:rPr lang="en-US" smtClean="0"/>
              <a:pPr/>
              <a:t>12/5/2021</a:t>
            </a:fld>
            <a:endParaRPr lang="en-US"/>
          </a:p>
        </p:txBody>
      </p:sp>
      <p:sp>
        <p:nvSpPr>
          <p:cNvPr id="6" name="Espace réservé du pied de page 5"/>
          <p:cNvSpPr>
            <a:spLocks noGrp="1"/>
          </p:cNvSpPr>
          <p:nvPr>
            <p:ph type="ftr" sz="quarter" idx="11"/>
          </p:nvPr>
        </p:nvSpPr>
        <p:spPr/>
        <p:txBody>
          <a:bodyPr/>
          <a:lstStyle/>
          <a:p>
            <a:endParaRPr kumimoji="0" lang="en-US"/>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65DA69A-38BD-4A4F-B48B-A3018DB19AD2}" type="datetime1">
              <a:rPr lang="en-US" smtClean="0"/>
              <a:pPr/>
              <a:t>12/5/2021</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58382141-159C-4A67-9102-6F45B4508A62}" type="datetime1">
              <a:rPr lang="en-US" smtClean="0"/>
              <a:pPr/>
              <a:t>12/5/2021</a:t>
            </a:fld>
            <a:endParaRPr lang="en-US"/>
          </a:p>
        </p:txBody>
      </p:sp>
      <p:sp>
        <p:nvSpPr>
          <p:cNvPr id="4" name="Espace réservé du pied de page 3"/>
          <p:cNvSpPr>
            <a:spLocks noGrp="1"/>
          </p:cNvSpPr>
          <p:nvPr>
            <p:ph type="ftr" sz="quarter" idx="11"/>
          </p:nvPr>
        </p:nvSpPr>
        <p:spPr/>
        <p:txBody>
          <a:bodyPr/>
          <a:lstStyle/>
          <a:p>
            <a:endParaRPr kumimoji="0" lang="en-US"/>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 name="Espace réservé de la date 1"/>
          <p:cNvSpPr>
            <a:spLocks noGrp="1"/>
          </p:cNvSpPr>
          <p:nvPr>
            <p:ph type="dt" sz="half" idx="10"/>
          </p:nvPr>
        </p:nvSpPr>
        <p:spPr/>
        <p:txBody>
          <a:bodyPr/>
          <a:lstStyle/>
          <a:p>
            <a:fld id="{921A83B3-925D-4413-B6E8-9DCD3511DF30}" type="datetime1">
              <a:rPr lang="en-US" smtClean="0"/>
              <a:pPr/>
              <a:t>12/5/2021</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C33C75AC-B2B1-4E2E-89B5-6D5ACA9BEF5B}" type="datetime1">
              <a:rPr lang="en-US" smtClean="0"/>
              <a:pPr/>
              <a:t>12/5/2021</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D8365F6A-5103-43B2-A734-D1E6DB7AF99A}" type="datetime1">
              <a:rPr lang="en-US" smtClean="0"/>
              <a:pPr/>
              <a:t>12/5/2021</a:t>
            </a:fld>
            <a:endParaRPr lang="en-US"/>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08E54152-442B-4861-8F62-3EC8BE7FD5EF}" type="datetime1">
              <a:rPr lang="en-US" smtClean="0"/>
              <a:pPr/>
              <a:t>12/5/2021</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113EBAED-5332-4CC8-B4F0-04FC9E7AF9C5}" type="datetime1">
              <a:rPr lang="en-US" smtClean="0"/>
              <a:pPr/>
              <a:t>12/5/2021</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06D5B768-A696-485B-91E7-FD51AE2823ED}" type="datetime1">
              <a:rPr lang="en-US" smtClean="0"/>
              <a:pPr algn="r" eaLnBrk="1" latinLnBrk="0" hangingPunct="1"/>
              <a:t>12/5/2021</a:t>
            </a:fld>
            <a:endParaRPr lang="en-US" sz="140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image" Target="../media/image4.png"/><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notesSlide" Target="../notesSlides/notesSlide6.xml"/><Relationship Id="rId2" Type="http://schemas.openxmlformats.org/officeDocument/2006/relationships/tags" Target="../tags/tag25.xml"/><Relationship Id="rId16"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tags" Target="../tags/tag71.xml"/><Relationship Id="rId39" Type="http://schemas.openxmlformats.org/officeDocument/2006/relationships/image" Target="../media/image11.png"/><Relationship Id="rId21" Type="http://schemas.openxmlformats.org/officeDocument/2006/relationships/tags" Target="../tags/tag66.xml"/><Relationship Id="rId34" Type="http://schemas.openxmlformats.org/officeDocument/2006/relationships/image" Target="../media/image6.png"/><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tags" Target="../tags/tag70.xml"/><Relationship Id="rId33" Type="http://schemas.openxmlformats.org/officeDocument/2006/relationships/image" Target="../media/image5.png"/><Relationship Id="rId38" Type="http://schemas.openxmlformats.org/officeDocument/2006/relationships/image" Target="../media/image10.png"/><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29" Type="http://schemas.openxmlformats.org/officeDocument/2006/relationships/tags" Target="../tags/tag74.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tags" Target="../tags/tag69.xml"/><Relationship Id="rId32" Type="http://schemas.openxmlformats.org/officeDocument/2006/relationships/notesSlide" Target="../notesSlides/notesSlide9.xml"/><Relationship Id="rId37" Type="http://schemas.openxmlformats.org/officeDocument/2006/relationships/image" Target="../media/image9.png"/><Relationship Id="rId40" Type="http://schemas.openxmlformats.org/officeDocument/2006/relationships/image" Target="../media/image12.pn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tags" Target="../tags/tag68.xml"/><Relationship Id="rId28" Type="http://schemas.openxmlformats.org/officeDocument/2006/relationships/tags" Target="../tags/tag73.xml"/><Relationship Id="rId36" Type="http://schemas.openxmlformats.org/officeDocument/2006/relationships/image" Target="../media/image8.png"/><Relationship Id="rId10" Type="http://schemas.openxmlformats.org/officeDocument/2006/relationships/tags" Target="../tags/tag55.xml"/><Relationship Id="rId19" Type="http://schemas.openxmlformats.org/officeDocument/2006/relationships/tags" Target="../tags/tag64.xml"/><Relationship Id="rId31" Type="http://schemas.openxmlformats.org/officeDocument/2006/relationships/slideLayout" Target="../slideLayouts/slideLayout2.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tags" Target="../tags/tag67.xml"/><Relationship Id="rId27" Type="http://schemas.openxmlformats.org/officeDocument/2006/relationships/tags" Target="../tags/tag72.xml"/><Relationship Id="rId30" Type="http://schemas.openxmlformats.org/officeDocument/2006/relationships/tags" Target="../tags/tag75.xml"/><Relationship Id="rId35" Type="http://schemas.openxmlformats.org/officeDocument/2006/relationships/image" Target="../media/image7.png"/><Relationship Id="rId8" Type="http://schemas.openxmlformats.org/officeDocument/2006/relationships/tags" Target="../tags/tag53.xml"/><Relationship Id="rId3" Type="http://schemas.openxmlformats.org/officeDocument/2006/relationships/tags" Target="../tags/tag4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18" Type="http://schemas.openxmlformats.org/officeDocument/2006/relationships/image" Target="../media/image16.png"/><Relationship Id="rId3" Type="http://schemas.openxmlformats.org/officeDocument/2006/relationships/tags" Target="../tags/tag87.xml"/><Relationship Id="rId21" Type="http://schemas.openxmlformats.org/officeDocument/2006/relationships/image" Target="../media/image19.png"/><Relationship Id="rId7" Type="http://schemas.openxmlformats.org/officeDocument/2006/relationships/tags" Target="../tags/tag91.xml"/><Relationship Id="rId12" Type="http://schemas.openxmlformats.org/officeDocument/2006/relationships/tags" Target="../tags/tag96.xml"/><Relationship Id="rId17" Type="http://schemas.openxmlformats.org/officeDocument/2006/relationships/notesSlide" Target="../notesSlides/notesSlide13.xml"/><Relationship Id="rId2" Type="http://schemas.openxmlformats.org/officeDocument/2006/relationships/tags" Target="../tags/tag86.xml"/><Relationship Id="rId16" Type="http://schemas.openxmlformats.org/officeDocument/2006/relationships/slideLayout" Target="../slideLayouts/slideLayout2.xml"/><Relationship Id="rId20" Type="http://schemas.openxmlformats.org/officeDocument/2006/relationships/image" Target="../media/image18.png"/><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5" Type="http://schemas.openxmlformats.org/officeDocument/2006/relationships/tags" Target="../tags/tag99.xml"/><Relationship Id="rId10" Type="http://schemas.openxmlformats.org/officeDocument/2006/relationships/tags" Target="../tags/tag94.xml"/><Relationship Id="rId19" Type="http://schemas.openxmlformats.org/officeDocument/2006/relationships/image" Target="../media/image17.png"/><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tags" Target="../tags/tag9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01.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15.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03.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05.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tags" Target="../tags/tag107.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1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image" Target="../media/image27.png"/><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26.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notesSlide" Target="../notesSlides/notesSlide22.xml"/><Relationship Id="rId5" Type="http://schemas.openxmlformats.org/officeDocument/2006/relationships/tags" Target="../tags/tag124.xml"/><Relationship Id="rId10" Type="http://schemas.openxmlformats.org/officeDocument/2006/relationships/slideLayout" Target="../slideLayouts/slideLayout2.xml"/><Relationship Id="rId4" Type="http://schemas.openxmlformats.org/officeDocument/2006/relationships/tags" Target="../tags/tag123.xml"/><Relationship Id="rId9" Type="http://schemas.openxmlformats.org/officeDocument/2006/relationships/tags" Target="../tags/tag128.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3.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image" Target="../media/image31.png"/><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notesSlide" Target="../notesSlides/notesSlide24.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slideLayout" Target="../slideLayouts/slideLayout2.xml"/><Relationship Id="rId5" Type="http://schemas.openxmlformats.org/officeDocument/2006/relationships/tags" Target="../tags/tag137.xml"/><Relationship Id="rId15" Type="http://schemas.openxmlformats.org/officeDocument/2006/relationships/image" Target="../media/image33.png"/><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image" Target="../media/image34.png"/><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49.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8.xml"/><Relationship Id="rId3" Type="http://schemas.openxmlformats.org/officeDocument/2006/relationships/tags" Target="../tags/tag153.xml"/><Relationship Id="rId7" Type="http://schemas.openxmlformats.org/officeDocument/2006/relationships/slideLayout" Target="../slideLayouts/slideLayout2.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9"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9.xml"/><Relationship Id="rId1" Type="http://schemas.openxmlformats.org/officeDocument/2006/relationships/tags" Target="../tags/tag158.xml"/><Relationship Id="rId4"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5" Type="http://schemas.openxmlformats.org/officeDocument/2006/relationships/notesSlide" Target="../notesSlides/notesSlide30.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3" Type="http://schemas.openxmlformats.org/officeDocument/2006/relationships/tags" Target="../tags/tag180.xml"/><Relationship Id="rId18" Type="http://schemas.openxmlformats.org/officeDocument/2006/relationships/tags" Target="../tags/tag185.xml"/><Relationship Id="rId26" Type="http://schemas.openxmlformats.org/officeDocument/2006/relationships/tags" Target="../tags/tag193.xml"/><Relationship Id="rId21" Type="http://schemas.openxmlformats.org/officeDocument/2006/relationships/tags" Target="../tags/tag188.xml"/><Relationship Id="rId34" Type="http://schemas.openxmlformats.org/officeDocument/2006/relationships/image" Target="../media/image35.png"/><Relationship Id="rId7" Type="http://schemas.openxmlformats.org/officeDocument/2006/relationships/tags" Target="../tags/tag174.xml"/><Relationship Id="rId12" Type="http://schemas.openxmlformats.org/officeDocument/2006/relationships/tags" Target="../tags/tag179.xml"/><Relationship Id="rId17" Type="http://schemas.openxmlformats.org/officeDocument/2006/relationships/tags" Target="../tags/tag184.xml"/><Relationship Id="rId25" Type="http://schemas.openxmlformats.org/officeDocument/2006/relationships/tags" Target="../tags/tag192.xml"/><Relationship Id="rId33" Type="http://schemas.openxmlformats.org/officeDocument/2006/relationships/notesSlide" Target="../notesSlides/notesSlide32.xml"/><Relationship Id="rId38" Type="http://schemas.openxmlformats.org/officeDocument/2006/relationships/image" Target="../media/image39.png"/><Relationship Id="rId2" Type="http://schemas.openxmlformats.org/officeDocument/2006/relationships/tags" Target="../tags/tag169.xml"/><Relationship Id="rId16" Type="http://schemas.openxmlformats.org/officeDocument/2006/relationships/tags" Target="../tags/tag183.xml"/><Relationship Id="rId20" Type="http://schemas.openxmlformats.org/officeDocument/2006/relationships/tags" Target="../tags/tag187.xml"/><Relationship Id="rId29" Type="http://schemas.openxmlformats.org/officeDocument/2006/relationships/tags" Target="../tags/tag196.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tags" Target="../tags/tag178.xml"/><Relationship Id="rId24" Type="http://schemas.openxmlformats.org/officeDocument/2006/relationships/tags" Target="../tags/tag191.xml"/><Relationship Id="rId32" Type="http://schemas.openxmlformats.org/officeDocument/2006/relationships/slideLayout" Target="../slideLayouts/slideLayout2.xml"/><Relationship Id="rId37" Type="http://schemas.openxmlformats.org/officeDocument/2006/relationships/image" Target="../media/image38.png"/><Relationship Id="rId5" Type="http://schemas.openxmlformats.org/officeDocument/2006/relationships/tags" Target="../tags/tag172.xml"/><Relationship Id="rId15" Type="http://schemas.openxmlformats.org/officeDocument/2006/relationships/tags" Target="../tags/tag182.xml"/><Relationship Id="rId23" Type="http://schemas.openxmlformats.org/officeDocument/2006/relationships/tags" Target="../tags/tag190.xml"/><Relationship Id="rId28" Type="http://schemas.openxmlformats.org/officeDocument/2006/relationships/tags" Target="../tags/tag195.xml"/><Relationship Id="rId36" Type="http://schemas.openxmlformats.org/officeDocument/2006/relationships/image" Target="../media/image37.png"/><Relationship Id="rId10" Type="http://schemas.openxmlformats.org/officeDocument/2006/relationships/tags" Target="../tags/tag177.xml"/><Relationship Id="rId19" Type="http://schemas.openxmlformats.org/officeDocument/2006/relationships/tags" Target="../tags/tag186.xml"/><Relationship Id="rId31" Type="http://schemas.openxmlformats.org/officeDocument/2006/relationships/tags" Target="../tags/tag198.xml"/><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tags" Target="../tags/tag181.xml"/><Relationship Id="rId22" Type="http://schemas.openxmlformats.org/officeDocument/2006/relationships/tags" Target="../tags/tag189.xml"/><Relationship Id="rId27" Type="http://schemas.openxmlformats.org/officeDocument/2006/relationships/tags" Target="../tags/tag194.xml"/><Relationship Id="rId30" Type="http://schemas.openxmlformats.org/officeDocument/2006/relationships/tags" Target="../tags/tag197.xml"/><Relationship Id="rId35" Type="http://schemas.openxmlformats.org/officeDocument/2006/relationships/image" Target="../media/image36.png"/><Relationship Id="rId8" Type="http://schemas.openxmlformats.org/officeDocument/2006/relationships/tags" Target="../tags/tag175.xml"/><Relationship Id="rId3" Type="http://schemas.openxmlformats.org/officeDocument/2006/relationships/tags" Target="../tags/tag170.xml"/></Relationships>
</file>

<file path=ppt/slides/_rels/slide34.xml.rels><?xml version="1.0" encoding="UTF-8" standalone="yes"?>
<Relationships xmlns="http://schemas.openxmlformats.org/package/2006/relationships"><Relationship Id="rId13" Type="http://schemas.openxmlformats.org/officeDocument/2006/relationships/tags" Target="../tags/tag212.xml"/><Relationship Id="rId18" Type="http://schemas.openxmlformats.org/officeDocument/2006/relationships/tags" Target="../tags/tag217.xml"/><Relationship Id="rId26" Type="http://schemas.openxmlformats.org/officeDocument/2006/relationships/tags" Target="../tags/tag225.xml"/><Relationship Id="rId3" Type="http://schemas.openxmlformats.org/officeDocument/2006/relationships/tags" Target="../tags/tag202.xml"/><Relationship Id="rId21" Type="http://schemas.openxmlformats.org/officeDocument/2006/relationships/tags" Target="../tags/tag220.xml"/><Relationship Id="rId34" Type="http://schemas.openxmlformats.org/officeDocument/2006/relationships/image" Target="../media/image39.png"/><Relationship Id="rId7" Type="http://schemas.openxmlformats.org/officeDocument/2006/relationships/tags" Target="../tags/tag206.xml"/><Relationship Id="rId12" Type="http://schemas.openxmlformats.org/officeDocument/2006/relationships/tags" Target="../tags/tag211.xml"/><Relationship Id="rId17" Type="http://schemas.openxmlformats.org/officeDocument/2006/relationships/tags" Target="../tags/tag216.xml"/><Relationship Id="rId25" Type="http://schemas.openxmlformats.org/officeDocument/2006/relationships/tags" Target="../tags/tag224.xml"/><Relationship Id="rId33" Type="http://schemas.openxmlformats.org/officeDocument/2006/relationships/image" Target="../media/image38.png"/><Relationship Id="rId2" Type="http://schemas.openxmlformats.org/officeDocument/2006/relationships/tags" Target="../tags/tag201.xml"/><Relationship Id="rId16" Type="http://schemas.openxmlformats.org/officeDocument/2006/relationships/tags" Target="../tags/tag215.xml"/><Relationship Id="rId20" Type="http://schemas.openxmlformats.org/officeDocument/2006/relationships/tags" Target="../tags/tag219.xml"/><Relationship Id="rId29" Type="http://schemas.openxmlformats.org/officeDocument/2006/relationships/notesSlide" Target="../notesSlides/notesSlide33.xml"/><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tags" Target="../tags/tag210.xml"/><Relationship Id="rId24" Type="http://schemas.openxmlformats.org/officeDocument/2006/relationships/tags" Target="../tags/tag223.xml"/><Relationship Id="rId32" Type="http://schemas.openxmlformats.org/officeDocument/2006/relationships/image" Target="../media/image37.png"/><Relationship Id="rId5" Type="http://schemas.openxmlformats.org/officeDocument/2006/relationships/tags" Target="../tags/tag204.xml"/><Relationship Id="rId15" Type="http://schemas.openxmlformats.org/officeDocument/2006/relationships/tags" Target="../tags/tag214.xml"/><Relationship Id="rId23" Type="http://schemas.openxmlformats.org/officeDocument/2006/relationships/tags" Target="../tags/tag222.xml"/><Relationship Id="rId28" Type="http://schemas.openxmlformats.org/officeDocument/2006/relationships/slideLayout" Target="../slideLayouts/slideLayout2.xml"/><Relationship Id="rId10" Type="http://schemas.openxmlformats.org/officeDocument/2006/relationships/tags" Target="../tags/tag209.xml"/><Relationship Id="rId19" Type="http://schemas.openxmlformats.org/officeDocument/2006/relationships/tags" Target="../tags/tag218.xml"/><Relationship Id="rId31" Type="http://schemas.openxmlformats.org/officeDocument/2006/relationships/image" Target="../media/image36.png"/><Relationship Id="rId4" Type="http://schemas.openxmlformats.org/officeDocument/2006/relationships/tags" Target="../tags/tag203.xml"/><Relationship Id="rId9" Type="http://schemas.openxmlformats.org/officeDocument/2006/relationships/tags" Target="../tags/tag208.xml"/><Relationship Id="rId14" Type="http://schemas.openxmlformats.org/officeDocument/2006/relationships/tags" Target="../tags/tag213.xml"/><Relationship Id="rId22" Type="http://schemas.openxmlformats.org/officeDocument/2006/relationships/tags" Target="../tags/tag221.xml"/><Relationship Id="rId27" Type="http://schemas.openxmlformats.org/officeDocument/2006/relationships/tags" Target="../tags/tag226.xml"/><Relationship Id="rId30" Type="http://schemas.openxmlformats.org/officeDocument/2006/relationships/image" Target="../media/image35.png"/><Relationship Id="rId8" Type="http://schemas.openxmlformats.org/officeDocument/2006/relationships/tags" Target="../tags/tag207.xml"/></Relationships>
</file>

<file path=ppt/slides/_rels/slide35.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tags" Target="../tags/tag240.xml"/><Relationship Id="rId18" Type="http://schemas.openxmlformats.org/officeDocument/2006/relationships/image" Target="../media/image42.png"/><Relationship Id="rId3" Type="http://schemas.openxmlformats.org/officeDocument/2006/relationships/tags" Target="../tags/tag230.xml"/><Relationship Id="rId7" Type="http://schemas.openxmlformats.org/officeDocument/2006/relationships/tags" Target="../tags/tag234.xml"/><Relationship Id="rId12" Type="http://schemas.openxmlformats.org/officeDocument/2006/relationships/tags" Target="../tags/tag239.xml"/><Relationship Id="rId17" Type="http://schemas.openxmlformats.org/officeDocument/2006/relationships/image" Target="../media/image41.png"/><Relationship Id="rId2" Type="http://schemas.openxmlformats.org/officeDocument/2006/relationships/tags" Target="../tags/tag229.xml"/><Relationship Id="rId16" Type="http://schemas.openxmlformats.org/officeDocument/2006/relationships/image" Target="../media/image40.png"/><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tags" Target="../tags/tag238.xml"/><Relationship Id="rId5" Type="http://schemas.openxmlformats.org/officeDocument/2006/relationships/tags" Target="../tags/tag232.xml"/><Relationship Id="rId15" Type="http://schemas.openxmlformats.org/officeDocument/2006/relationships/notesSlide" Target="../notesSlides/notesSlide34.xml"/><Relationship Id="rId10" Type="http://schemas.openxmlformats.org/officeDocument/2006/relationships/tags" Target="../tags/tag237.xml"/><Relationship Id="rId4" Type="http://schemas.openxmlformats.org/officeDocument/2006/relationships/tags" Target="../tags/tag231.xml"/><Relationship Id="rId9" Type="http://schemas.openxmlformats.org/officeDocument/2006/relationships/tags" Target="../tags/tag236.xml"/><Relationship Id="rId1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3.xml"/><Relationship Id="rId1" Type="http://schemas.openxmlformats.org/officeDocument/2006/relationships/tags" Target="../tags/tag242.xml"/><Relationship Id="rId4"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245.xml"/><Relationship Id="rId5" Type="http://schemas.openxmlformats.org/officeDocument/2006/relationships/image" Target="../media/image44.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custDataLst>
              <p:tags r:id="rId1"/>
            </p:custDataLst>
          </p:nvPr>
        </p:nvSpPr>
        <p:spPr>
          <a:xfrm>
            <a:off x="894215" y="2313668"/>
            <a:ext cx="7524069" cy="2838450"/>
          </a:xfrm>
          <a:noFill/>
          <a:ln/>
        </p:spPr>
        <p:txBody>
          <a:bodyPr lIns="90488" tIns="44450" rIns="90488" bIns="44450">
            <a:noAutofit/>
          </a:bodyPr>
          <a:lstStyle/>
          <a:p>
            <a:pPr algn="ctr">
              <a:lnSpc>
                <a:spcPct val="95000"/>
              </a:lnSpc>
            </a:pPr>
            <a:r>
              <a:rPr lang="en-GB" sz="4800" dirty="0" err="1">
                <a:solidFill>
                  <a:srgbClr val="000000"/>
                </a:solidFill>
              </a:rPr>
              <a:t>Chapitre</a:t>
            </a:r>
            <a:r>
              <a:rPr lang="en-GB" sz="4800">
                <a:solidFill>
                  <a:srgbClr val="000000"/>
                </a:solidFill>
              </a:rPr>
              <a:t> 5 </a:t>
            </a:r>
            <a:br>
              <a:rPr lang="en-GB" sz="4800">
                <a:solidFill>
                  <a:srgbClr val="000000"/>
                </a:solidFill>
              </a:rPr>
            </a:br>
            <a:r>
              <a:rPr lang="en-GB" sz="4800" err="1">
                <a:solidFill>
                  <a:srgbClr val="000000"/>
                </a:solidFill>
              </a:rPr>
              <a:t>Résolution</a:t>
            </a:r>
            <a:r>
              <a:rPr lang="en-GB" sz="4800">
                <a:solidFill>
                  <a:srgbClr val="000000"/>
                </a:solidFill>
              </a:rPr>
              <a:t> de </a:t>
            </a:r>
            <a:r>
              <a:rPr lang="en-GB" sz="4800" err="1">
                <a:solidFill>
                  <a:srgbClr val="000000"/>
                </a:solidFill>
              </a:rPr>
              <a:t>noms</a:t>
            </a:r>
            <a:r>
              <a:rPr lang="en-GB" sz="4800">
                <a:solidFill>
                  <a:srgbClr val="000000"/>
                </a:solidFill>
              </a:rPr>
              <a:t> </a:t>
            </a:r>
            <a:r>
              <a:rPr lang="en-GB" sz="4800" err="1">
                <a:solidFill>
                  <a:srgbClr val="000000"/>
                </a:solidFill>
              </a:rPr>
              <a:t>d'hôtes</a:t>
            </a:r>
            <a:r>
              <a:rPr lang="en-GB" sz="4800">
                <a:solidFill>
                  <a:srgbClr val="000000"/>
                </a:solidFill>
              </a:rPr>
              <a:t> à </a:t>
            </a:r>
            <a:r>
              <a:rPr lang="en-GB" sz="4800" err="1">
                <a:solidFill>
                  <a:srgbClr val="000000"/>
                </a:solidFill>
              </a:rPr>
              <a:t>l'aide</a:t>
            </a:r>
            <a:r>
              <a:rPr lang="en-GB" sz="4800">
                <a:solidFill>
                  <a:srgbClr val="000000"/>
                </a:solidFill>
              </a:rPr>
              <a:t> du </a:t>
            </a:r>
            <a:r>
              <a:rPr lang="en-GB" sz="4800" err="1">
                <a:solidFill>
                  <a:srgbClr val="000000"/>
                </a:solidFill>
              </a:rPr>
              <a:t>système</a:t>
            </a:r>
            <a:r>
              <a:rPr lang="en-GB" sz="4800">
                <a:solidFill>
                  <a:srgbClr val="000000"/>
                </a:solidFill>
              </a:rPr>
              <a:t> DNS</a:t>
            </a:r>
            <a:endParaRPr lang="en-US" sz="4800">
              <a:solidFill>
                <a:srgbClr val="000000"/>
              </a:solidFill>
            </a:endParaRPr>
          </a:p>
        </p:txBody>
      </p:sp>
      <p:sp>
        <p:nvSpPr>
          <p:cNvPr id="4" name="Rectangle 3"/>
          <p:cNvSpPr/>
          <p:nvPr/>
        </p:nvSpPr>
        <p:spPr>
          <a:xfrm>
            <a:off x="2528560" y="268905"/>
            <a:ext cx="4060916" cy="923330"/>
          </a:xfrm>
          <a:prstGeom prst="rect">
            <a:avLst/>
          </a:prstGeom>
        </p:spPr>
        <p:txBody>
          <a:bodyPr wrap="square">
            <a:spAutoFit/>
          </a:bodyPr>
          <a:lstStyle/>
          <a:p>
            <a:r>
              <a:rPr lang="en-GB" sz="5400" b="1">
                <a:solidFill>
                  <a:srgbClr val="000000"/>
                </a:solidFill>
              </a:rPr>
              <a:t>Module S43</a:t>
            </a:r>
            <a:endParaRPr lang="fr-FR" sz="5400" b="1"/>
          </a:p>
        </p:txBody>
      </p:sp>
      <p:sp>
        <p:nvSpPr>
          <p:cNvPr id="5" name="Espace réservé du numéro de diapositive 4"/>
          <p:cNvSpPr>
            <a:spLocks noGrp="1"/>
          </p:cNvSpPr>
          <p:nvPr>
            <p:ph type="sldNum" sz="quarter" idx="12"/>
          </p:nvPr>
        </p:nvSpPr>
        <p:spPr/>
        <p:txBody>
          <a:bodyPr/>
          <a:lstStyle/>
          <a:p>
            <a:fld id="{2C6B1FF6-39B9-40F5-8B67-33C6354A3D4F}" type="slidenum">
              <a:rPr kumimoji="0" lang="en-US" smtClean="0"/>
              <a:pPr/>
              <a:t>1</a:t>
            </a:fld>
            <a:endParaRPr kumimoji="0"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custDataLst>
              <p:tags r:id="rId1"/>
            </p:custDataLst>
          </p:nvPr>
        </p:nvSpPr>
        <p:spPr/>
        <p:txBody>
          <a:bodyPr/>
          <a:lstStyle/>
          <a:p>
            <a:r>
              <a:rPr lang="en-GB">
                <a:solidFill>
                  <a:srgbClr val="000000"/>
                </a:solidFill>
              </a:rPr>
              <a:t>Plan du </a:t>
            </a:r>
            <a:r>
              <a:rPr lang="en-GB" err="1">
                <a:solidFill>
                  <a:srgbClr val="000000"/>
                </a:solidFill>
              </a:rPr>
              <a:t>cours</a:t>
            </a:r>
            <a:endParaRPr lang="en-US"/>
          </a:p>
        </p:txBody>
      </p:sp>
      <p:sp>
        <p:nvSpPr>
          <p:cNvPr id="325635" name="Rectangle 3"/>
          <p:cNvSpPr>
            <a:spLocks noGrp="1" noChangeArrowheads="1"/>
          </p:cNvSpPr>
          <p:nvPr>
            <p:ph sz="quarter" idx="1"/>
            <p:custDataLst>
              <p:tags r:id="rId2"/>
            </p:custDataLst>
          </p:nvPr>
        </p:nvSpPr>
        <p:spPr/>
        <p:txBody>
          <a:bodyPr>
            <a:normAutofit/>
          </a:bodyPr>
          <a:lstStyle/>
          <a:p>
            <a:pPr marL="514350" indent="-514350">
              <a:lnSpc>
                <a:spcPct val="95000"/>
              </a:lnSpc>
              <a:spcBef>
                <a:spcPct val="45000"/>
              </a:spcBef>
              <a:buClr>
                <a:schemeClr val="tx1"/>
              </a:buClr>
              <a:buFont typeface="+mj-lt"/>
              <a:buAutoNum type="arabicPeriod"/>
            </a:pPr>
            <a:r>
              <a:rPr lang="en-GB">
                <a:solidFill>
                  <a:srgbClr val="000000"/>
                </a:solidFill>
              </a:rPr>
              <a:t>Installation du service </a:t>
            </a:r>
            <a:r>
              <a:rPr lang="en-GB" err="1">
                <a:solidFill>
                  <a:srgbClr val="000000"/>
                </a:solidFill>
              </a:rPr>
              <a:t>Serveur</a:t>
            </a:r>
            <a:r>
              <a:rPr lang="en-GB">
                <a:solidFill>
                  <a:srgbClr val="000000"/>
                </a:solidFill>
              </a:rPr>
              <a:t> DNS</a:t>
            </a:r>
            <a:endParaRPr lang="en-US"/>
          </a:p>
          <a:p>
            <a:pPr marL="514350" indent="-514350">
              <a:lnSpc>
                <a:spcPct val="95000"/>
              </a:lnSpc>
              <a:spcBef>
                <a:spcPct val="45000"/>
              </a:spcBef>
              <a:buClr>
                <a:schemeClr val="tx1"/>
              </a:buClr>
              <a:buFont typeface="+mj-lt"/>
              <a:buAutoNum type="arabicPeriod"/>
            </a:pPr>
            <a:r>
              <a:rPr lang="en-GB">
                <a:solidFill>
                  <a:srgbClr val="000000"/>
                </a:solidFill>
              </a:rPr>
              <a:t>Configuration des </a:t>
            </a:r>
            <a:r>
              <a:rPr lang="en-GB" err="1">
                <a:solidFill>
                  <a:srgbClr val="000000"/>
                </a:solidFill>
              </a:rPr>
              <a:t>propriétés</a:t>
            </a:r>
            <a:r>
              <a:rPr lang="en-GB">
                <a:solidFill>
                  <a:srgbClr val="000000"/>
                </a:solidFill>
              </a:rPr>
              <a:t> du service </a:t>
            </a:r>
            <a:r>
              <a:rPr lang="en-GB" err="1">
                <a:solidFill>
                  <a:srgbClr val="000000"/>
                </a:solidFill>
              </a:rPr>
              <a:t>Serveur</a:t>
            </a:r>
            <a:r>
              <a:rPr lang="en-GB">
                <a:solidFill>
                  <a:srgbClr val="000000"/>
                </a:solidFill>
              </a:rPr>
              <a:t> DNS</a:t>
            </a:r>
            <a:endParaRPr lang="en-US"/>
          </a:p>
          <a:p>
            <a:pPr marL="514350" indent="-514350">
              <a:lnSpc>
                <a:spcPct val="95000"/>
              </a:lnSpc>
              <a:spcBef>
                <a:spcPct val="45000"/>
              </a:spcBef>
              <a:buClr>
                <a:schemeClr val="tx1"/>
              </a:buClr>
              <a:buFont typeface="+mj-lt"/>
              <a:buAutoNum type="arabicPeriod"/>
            </a:pPr>
            <a:r>
              <a:rPr lang="en-GB">
                <a:solidFill>
                  <a:srgbClr val="000000"/>
                </a:solidFill>
              </a:rPr>
              <a:t>Configuration des zones DNS</a:t>
            </a:r>
            <a:endParaRPr lang="en-US"/>
          </a:p>
          <a:p>
            <a:pPr marL="514350" indent="-514350">
              <a:lnSpc>
                <a:spcPct val="95000"/>
              </a:lnSpc>
              <a:spcBef>
                <a:spcPct val="45000"/>
              </a:spcBef>
              <a:buClr>
                <a:schemeClr val="tx1"/>
              </a:buClr>
              <a:buFont typeface="+mj-lt"/>
              <a:buAutoNum type="arabicPeriod"/>
            </a:pPr>
            <a:r>
              <a:rPr lang="en-GB">
                <a:solidFill>
                  <a:srgbClr val="000000"/>
                </a:solidFill>
              </a:rPr>
              <a:t>Configuration des </a:t>
            </a:r>
            <a:r>
              <a:rPr lang="en-GB" err="1">
                <a:solidFill>
                  <a:srgbClr val="000000"/>
                </a:solidFill>
              </a:rPr>
              <a:t>transferts</a:t>
            </a:r>
            <a:r>
              <a:rPr lang="en-GB">
                <a:solidFill>
                  <a:srgbClr val="000000"/>
                </a:solidFill>
              </a:rPr>
              <a:t> de zone DNS</a:t>
            </a:r>
            <a:endParaRPr lang="en-US"/>
          </a:p>
          <a:p>
            <a:pPr marL="514350" indent="-514350">
              <a:lnSpc>
                <a:spcPct val="95000"/>
              </a:lnSpc>
              <a:spcBef>
                <a:spcPct val="45000"/>
              </a:spcBef>
              <a:buClr>
                <a:schemeClr val="tx1"/>
              </a:buClr>
              <a:buFont typeface="+mj-lt"/>
              <a:buAutoNum type="arabicPeriod"/>
            </a:pPr>
            <a:r>
              <a:rPr lang="en-GB">
                <a:solidFill>
                  <a:srgbClr val="000000"/>
                </a:solidFill>
              </a:rPr>
              <a:t>Configuration des </a:t>
            </a:r>
            <a:r>
              <a:rPr lang="en-GB" err="1">
                <a:solidFill>
                  <a:srgbClr val="000000"/>
                </a:solidFill>
              </a:rPr>
              <a:t>mises</a:t>
            </a:r>
            <a:r>
              <a:rPr lang="en-GB">
                <a:solidFill>
                  <a:srgbClr val="000000"/>
                </a:solidFill>
              </a:rPr>
              <a:t> à jour </a:t>
            </a:r>
            <a:r>
              <a:rPr lang="en-GB" err="1">
                <a:solidFill>
                  <a:srgbClr val="000000"/>
                </a:solidFill>
              </a:rPr>
              <a:t>dynamiques</a:t>
            </a:r>
            <a:r>
              <a:rPr lang="en-GB">
                <a:solidFill>
                  <a:srgbClr val="000000"/>
                </a:solidFill>
              </a:rPr>
              <a:t> DNS</a:t>
            </a:r>
            <a:endParaRPr lang="en-US"/>
          </a:p>
          <a:p>
            <a:pPr marL="514350" indent="-514350">
              <a:lnSpc>
                <a:spcPct val="95000"/>
              </a:lnSpc>
              <a:spcBef>
                <a:spcPct val="45000"/>
              </a:spcBef>
              <a:buClr>
                <a:schemeClr val="tx1"/>
              </a:buClr>
              <a:buFont typeface="+mj-lt"/>
              <a:buAutoNum type="arabicPeriod"/>
            </a:pPr>
            <a:r>
              <a:rPr lang="en-GB">
                <a:solidFill>
                  <a:srgbClr val="000000"/>
                </a:solidFill>
              </a:rPr>
              <a:t>Configuration d'un client DNS</a:t>
            </a:r>
            <a:endParaRPr lang="en-US"/>
          </a:p>
          <a:p>
            <a:pPr marL="514350" indent="-514350">
              <a:lnSpc>
                <a:spcPct val="95000"/>
              </a:lnSpc>
              <a:spcBef>
                <a:spcPct val="45000"/>
              </a:spcBef>
              <a:buClr>
                <a:schemeClr val="tx1"/>
              </a:buClr>
              <a:buFont typeface="+mj-lt"/>
              <a:buAutoNum type="arabicPeriod"/>
            </a:pPr>
            <a:r>
              <a:rPr lang="en-GB" err="1">
                <a:solidFill>
                  <a:srgbClr val="000000"/>
                </a:solidFill>
              </a:rPr>
              <a:t>Délégation</a:t>
            </a:r>
            <a:r>
              <a:rPr lang="en-GB">
                <a:solidFill>
                  <a:srgbClr val="000000"/>
                </a:solidFill>
              </a:rPr>
              <a:t> </a:t>
            </a:r>
            <a:r>
              <a:rPr lang="en-GB" err="1">
                <a:solidFill>
                  <a:srgbClr val="000000"/>
                </a:solidFill>
              </a:rPr>
              <a:t>d'autorité</a:t>
            </a:r>
            <a:r>
              <a:rPr lang="en-GB">
                <a:solidFill>
                  <a:srgbClr val="000000"/>
                </a:solidFill>
              </a:rPr>
              <a:t> pour les zones</a:t>
            </a:r>
            <a:endParaRPr lang="en-US">
              <a:solidFill>
                <a:srgbClr val="000000"/>
              </a:solidFill>
            </a:endParaRPr>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2</a:t>
            </a:fld>
            <a:endParaRPr kumimoji="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4" name="Rectangle 4"/>
          <p:cNvSpPr>
            <a:spLocks noGrp="1" noChangeArrowheads="1"/>
          </p:cNvSpPr>
          <p:nvPr>
            <p:ph type="title"/>
            <p:custDataLst>
              <p:tags r:id="rId1"/>
            </p:custDataLst>
          </p:nvPr>
        </p:nvSpPr>
        <p:spPr/>
        <p:txBody>
          <a:bodyPr/>
          <a:lstStyle/>
          <a:p>
            <a:r>
              <a:rPr lang="fr-FR" b="1">
                <a:solidFill>
                  <a:srgbClr val="000000"/>
                </a:solidFill>
              </a:rPr>
              <a:t>1. Installation du service Serveur DNS</a:t>
            </a:r>
            <a:endParaRPr lang="en-US" b="1">
              <a:solidFill>
                <a:srgbClr val="000000"/>
              </a:solidFill>
            </a:endParaRPr>
          </a:p>
        </p:txBody>
      </p:sp>
      <p:sp>
        <p:nvSpPr>
          <p:cNvPr id="332805" name="Rectangle 5"/>
          <p:cNvSpPr>
            <a:spLocks noGrp="1" noChangeArrowheads="1"/>
          </p:cNvSpPr>
          <p:nvPr>
            <p:ph sz="quarter" idx="1"/>
            <p:custDataLst>
              <p:tags r:id="rId2"/>
            </p:custDataLst>
          </p:nvPr>
        </p:nvSpPr>
        <p:spPr>
          <a:xfrm>
            <a:off x="316266" y="2412419"/>
            <a:ext cx="8503920" cy="2261181"/>
          </a:xfrm>
        </p:spPr>
        <p:txBody>
          <a:bodyPr/>
          <a:lstStyle/>
          <a:p>
            <a:pPr>
              <a:buClr>
                <a:schemeClr val="tx1"/>
              </a:buClr>
              <a:buFont typeface="Symbol" pitchFamily="18" charset="2"/>
              <a:buChar char="®"/>
            </a:pPr>
            <a:r>
              <a:rPr lang="en-GB" dirty="0" err="1">
                <a:solidFill>
                  <a:srgbClr val="000000"/>
                </a:solidFill>
              </a:rPr>
              <a:t>Vue</a:t>
            </a:r>
            <a:r>
              <a:rPr lang="en-GB" dirty="0">
                <a:solidFill>
                  <a:srgbClr val="000000"/>
                </a:solidFill>
              </a:rPr>
              <a:t> </a:t>
            </a:r>
            <a:r>
              <a:rPr lang="en-GB" dirty="0" err="1">
                <a:solidFill>
                  <a:srgbClr val="000000"/>
                </a:solidFill>
              </a:rPr>
              <a:t>d'ensemble</a:t>
            </a:r>
            <a:r>
              <a:rPr lang="en-GB" dirty="0">
                <a:solidFill>
                  <a:srgbClr val="000000"/>
                </a:solidFill>
              </a:rPr>
              <a:t> du </a:t>
            </a:r>
            <a:r>
              <a:rPr lang="en-GB" dirty="0" err="1">
                <a:solidFill>
                  <a:srgbClr val="000000"/>
                </a:solidFill>
              </a:rPr>
              <a:t>système</a:t>
            </a:r>
            <a:r>
              <a:rPr lang="en-GB" dirty="0">
                <a:solidFill>
                  <a:srgbClr val="000000"/>
                </a:solidFill>
              </a:rPr>
              <a:t> DNS</a:t>
            </a:r>
            <a:endParaRPr lang="en-US" dirty="0"/>
          </a:p>
          <a:p>
            <a:pPr>
              <a:buClr>
                <a:schemeClr val="tx1"/>
              </a:buClr>
              <a:buFont typeface="Symbol" pitchFamily="18" charset="2"/>
              <a:buChar char="®"/>
            </a:pPr>
            <a:r>
              <a:rPr lang="en-GB" dirty="0" err="1">
                <a:solidFill>
                  <a:srgbClr val="000000"/>
                </a:solidFill>
              </a:rPr>
              <a:t>Qu'est-ce</a:t>
            </a:r>
            <a:r>
              <a:rPr lang="en-GB" dirty="0">
                <a:solidFill>
                  <a:srgbClr val="000000"/>
                </a:solidFill>
              </a:rPr>
              <a:t> </a:t>
            </a:r>
            <a:r>
              <a:rPr lang="en-GB" dirty="0" err="1">
                <a:solidFill>
                  <a:srgbClr val="000000"/>
                </a:solidFill>
              </a:rPr>
              <a:t>qu'un</a:t>
            </a:r>
            <a:r>
              <a:rPr lang="en-GB" dirty="0">
                <a:solidFill>
                  <a:srgbClr val="000000"/>
                </a:solidFill>
              </a:rPr>
              <a:t> </a:t>
            </a:r>
            <a:r>
              <a:rPr lang="en-GB" dirty="0" err="1">
                <a:solidFill>
                  <a:srgbClr val="000000"/>
                </a:solidFill>
              </a:rPr>
              <a:t>espace</a:t>
            </a:r>
            <a:r>
              <a:rPr lang="en-GB" dirty="0">
                <a:solidFill>
                  <a:srgbClr val="000000"/>
                </a:solidFill>
              </a:rPr>
              <a:t> de </a:t>
            </a:r>
            <a:r>
              <a:rPr lang="en-GB" dirty="0" err="1">
                <a:solidFill>
                  <a:srgbClr val="000000"/>
                </a:solidFill>
              </a:rPr>
              <a:t>noms</a:t>
            </a:r>
            <a:r>
              <a:rPr lang="en-GB" dirty="0">
                <a:solidFill>
                  <a:srgbClr val="000000"/>
                </a:solidFill>
              </a:rPr>
              <a:t> de </a:t>
            </a:r>
            <a:r>
              <a:rPr lang="en-GB" dirty="0" err="1">
                <a:solidFill>
                  <a:srgbClr val="000000"/>
                </a:solidFill>
              </a:rPr>
              <a:t>domaines</a:t>
            </a:r>
            <a:r>
              <a:rPr lang="en-GB" dirty="0">
                <a:solidFill>
                  <a:srgbClr val="000000"/>
                </a:solidFill>
              </a:rPr>
              <a:t> ?</a:t>
            </a:r>
            <a:endParaRPr lang="en-US" dirty="0"/>
          </a:p>
          <a:p>
            <a:pPr>
              <a:buClr>
                <a:schemeClr val="tx1"/>
              </a:buClr>
              <a:buFont typeface="Symbol" pitchFamily="18" charset="2"/>
              <a:buChar char="®"/>
            </a:pPr>
            <a:r>
              <a:rPr lang="en-GB" dirty="0">
                <a:solidFill>
                  <a:srgbClr val="000000"/>
                </a:solidFill>
              </a:rPr>
              <a:t>Conventions </a:t>
            </a:r>
            <a:r>
              <a:rPr lang="en-GB" dirty="0" err="1">
                <a:solidFill>
                  <a:srgbClr val="000000"/>
                </a:solidFill>
              </a:rPr>
              <a:t>d'appellation</a:t>
            </a:r>
            <a:r>
              <a:rPr lang="en-GB" dirty="0">
                <a:solidFill>
                  <a:srgbClr val="000000"/>
                </a:solidFill>
              </a:rPr>
              <a:t> standard DNS</a:t>
            </a:r>
            <a:endParaRPr lang="en-US" dirty="0"/>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3</a:t>
            </a:fld>
            <a:endParaRPr kumimoji="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custDataLst>
              <p:tags r:id="rId1"/>
            </p:custDataLst>
          </p:nvPr>
        </p:nvSpPr>
        <p:spPr>
          <a:xfrm>
            <a:off x="301752" y="228600"/>
            <a:ext cx="8534400" cy="758952"/>
          </a:xfrm>
        </p:spPr>
        <p:txBody>
          <a:bodyPr/>
          <a:lstStyle/>
          <a:p>
            <a:pPr marL="460375" indent="-460375"/>
            <a:r>
              <a:rPr lang="en-GB" b="1" err="1">
                <a:solidFill>
                  <a:srgbClr val="C00000"/>
                </a:solidFill>
              </a:rPr>
              <a:t>Vue</a:t>
            </a:r>
            <a:r>
              <a:rPr lang="en-GB" b="1">
                <a:solidFill>
                  <a:srgbClr val="C00000"/>
                </a:solidFill>
              </a:rPr>
              <a:t> </a:t>
            </a:r>
            <a:r>
              <a:rPr lang="en-GB" b="1" err="1">
                <a:solidFill>
                  <a:srgbClr val="C00000"/>
                </a:solidFill>
              </a:rPr>
              <a:t>d'ensemble</a:t>
            </a:r>
            <a:r>
              <a:rPr lang="en-GB" b="1">
                <a:solidFill>
                  <a:srgbClr val="C00000"/>
                </a:solidFill>
              </a:rPr>
              <a:t> du </a:t>
            </a:r>
            <a:r>
              <a:rPr lang="en-GB" b="1" err="1">
                <a:solidFill>
                  <a:srgbClr val="C00000"/>
                </a:solidFill>
              </a:rPr>
              <a:t>système</a:t>
            </a:r>
            <a:r>
              <a:rPr lang="en-GB" b="1">
                <a:solidFill>
                  <a:srgbClr val="C00000"/>
                </a:solidFill>
              </a:rPr>
              <a:t> DNS</a:t>
            </a:r>
            <a:endParaRPr lang="en-US" b="1">
              <a:solidFill>
                <a:srgbClr val="C00000"/>
              </a:solidFill>
            </a:endParaRPr>
          </a:p>
        </p:txBody>
      </p:sp>
      <p:sp>
        <p:nvSpPr>
          <p:cNvPr id="685059" name="AutoShape 3" descr="RSE_PPTLogo2"/>
          <p:cNvSpPr>
            <a:spLocks noChangeAspect="1" noChangeArrowheads="1"/>
          </p:cNvSpPr>
          <p:nvPr/>
        </p:nvSpPr>
        <p:spPr bwMode="auto">
          <a:xfrm>
            <a:off x="730250" y="6262688"/>
            <a:ext cx="2470150" cy="547687"/>
          </a:xfrm>
          <a:prstGeom prst="rect">
            <a:avLst/>
          </a:prstGeom>
          <a:noFill/>
        </p:spPr>
        <p:txBody>
          <a:bodyPr/>
          <a:lstStyle/>
          <a:p>
            <a:endParaRPr lang="fr-FR"/>
          </a:p>
        </p:txBody>
      </p:sp>
      <p:sp>
        <p:nvSpPr>
          <p:cNvPr id="685061" name="AutoShape 5" descr="RSE_PPTLogo2"/>
          <p:cNvSpPr>
            <a:spLocks noChangeAspect="1" noChangeArrowheads="1"/>
          </p:cNvSpPr>
          <p:nvPr/>
        </p:nvSpPr>
        <p:spPr bwMode="auto">
          <a:xfrm>
            <a:off x="730250" y="6262688"/>
            <a:ext cx="2470150" cy="547687"/>
          </a:xfrm>
          <a:prstGeom prst="rect">
            <a:avLst/>
          </a:prstGeom>
          <a:noFill/>
        </p:spPr>
        <p:txBody>
          <a:bodyPr/>
          <a:lstStyle/>
          <a:p>
            <a:endParaRPr lang="fr-FR"/>
          </a:p>
        </p:txBody>
      </p:sp>
      <p:sp>
        <p:nvSpPr>
          <p:cNvPr id="685066" name="AutoShape 10"/>
          <p:cNvSpPr>
            <a:spLocks noChangeArrowheads="1"/>
          </p:cNvSpPr>
          <p:nvPr>
            <p:custDataLst>
              <p:tags r:id="rId2"/>
            </p:custDataLst>
          </p:nvPr>
        </p:nvSpPr>
        <p:spPr bwMode="auto">
          <a:xfrm>
            <a:off x="362858" y="2017487"/>
            <a:ext cx="8403772" cy="3062514"/>
          </a:xfrm>
          <a:prstGeom prst="roundRect">
            <a:avLst>
              <a:gd name="adj" fmla="val 16667"/>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150000"/>
              </a:lnSpc>
              <a:buFont typeface="Wingdings" pitchFamily="2" charset="2"/>
              <a:buChar char="Ø"/>
            </a:pPr>
            <a:r>
              <a:rPr lang="en-GB" sz="2800" b="1" i="1">
                <a:solidFill>
                  <a:srgbClr val="000000"/>
                </a:solidFill>
              </a:rPr>
              <a:t> </a:t>
            </a:r>
            <a:r>
              <a:rPr lang="en-GB" sz="2800" b="1" i="1" err="1">
                <a:solidFill>
                  <a:srgbClr val="000000"/>
                </a:solidFill>
              </a:rPr>
              <a:t>C’</a:t>
            </a:r>
            <a:r>
              <a:rPr lang="en-GB" sz="2800" b="1" err="1">
                <a:solidFill>
                  <a:srgbClr val="000000"/>
                </a:solidFill>
              </a:rPr>
              <a:t>est</a:t>
            </a:r>
            <a:r>
              <a:rPr lang="en-GB" sz="2800" b="1">
                <a:solidFill>
                  <a:srgbClr val="000000"/>
                </a:solidFill>
              </a:rPr>
              <a:t> </a:t>
            </a:r>
            <a:r>
              <a:rPr lang="en-GB" sz="2800" b="1" err="1">
                <a:solidFill>
                  <a:srgbClr val="000000"/>
                </a:solidFill>
              </a:rPr>
              <a:t>une</a:t>
            </a:r>
            <a:r>
              <a:rPr lang="en-GB" sz="2800" b="1">
                <a:solidFill>
                  <a:srgbClr val="000000"/>
                </a:solidFill>
              </a:rPr>
              <a:t> base de </a:t>
            </a:r>
            <a:r>
              <a:rPr lang="en-GB" sz="2800" b="1" err="1">
                <a:solidFill>
                  <a:srgbClr val="000000"/>
                </a:solidFill>
              </a:rPr>
              <a:t>données</a:t>
            </a:r>
            <a:r>
              <a:rPr lang="en-GB" sz="2800" b="1">
                <a:solidFill>
                  <a:srgbClr val="000000"/>
                </a:solidFill>
              </a:rPr>
              <a:t> </a:t>
            </a:r>
            <a:r>
              <a:rPr lang="en-GB" sz="2800" b="1" err="1">
                <a:solidFill>
                  <a:srgbClr val="000000"/>
                </a:solidFill>
              </a:rPr>
              <a:t>distribuée</a:t>
            </a:r>
            <a:r>
              <a:rPr lang="en-GB" sz="2800" b="1">
                <a:solidFill>
                  <a:srgbClr val="000000"/>
                </a:solidFill>
              </a:rPr>
              <a:t> </a:t>
            </a:r>
            <a:r>
              <a:rPr lang="en-GB" sz="2800" b="1" err="1">
                <a:solidFill>
                  <a:srgbClr val="000000"/>
                </a:solidFill>
              </a:rPr>
              <a:t>hiérarchisée</a:t>
            </a:r>
            <a:endParaRPr lang="en-GB" sz="2800" b="1">
              <a:solidFill>
                <a:srgbClr val="000000"/>
              </a:solidFill>
            </a:endParaRPr>
          </a:p>
          <a:p>
            <a:pPr algn="l" eaLnBrk="1" hangingPunct="1">
              <a:lnSpc>
                <a:spcPct val="150000"/>
              </a:lnSpc>
              <a:buFont typeface="Wingdings" pitchFamily="2" charset="2"/>
              <a:buChar char="Ø"/>
            </a:pPr>
            <a:r>
              <a:rPr lang="en-GB" sz="2800" b="1">
                <a:solidFill>
                  <a:srgbClr val="000000"/>
                </a:solidFill>
              </a:rPr>
              <a:t> </a:t>
            </a:r>
            <a:r>
              <a:rPr lang="en-GB" sz="2800" b="1" err="1">
                <a:solidFill>
                  <a:srgbClr val="000000"/>
                </a:solidFill>
              </a:rPr>
              <a:t>Contient</a:t>
            </a:r>
            <a:r>
              <a:rPr lang="en-GB" sz="2800" b="1">
                <a:solidFill>
                  <a:srgbClr val="000000"/>
                </a:solidFill>
              </a:rPr>
              <a:t> les </a:t>
            </a:r>
            <a:r>
              <a:rPr lang="en-GB" sz="2800" b="1" err="1">
                <a:solidFill>
                  <a:srgbClr val="000000"/>
                </a:solidFill>
              </a:rPr>
              <a:t>mappages</a:t>
            </a:r>
            <a:r>
              <a:rPr lang="en-GB" sz="2800" b="1">
                <a:solidFill>
                  <a:srgbClr val="000000"/>
                </a:solidFill>
              </a:rPr>
              <a:t> de </a:t>
            </a:r>
            <a:r>
              <a:rPr lang="en-GB" sz="2800" b="1" err="1">
                <a:solidFill>
                  <a:srgbClr val="000000"/>
                </a:solidFill>
              </a:rPr>
              <a:t>noms</a:t>
            </a:r>
            <a:r>
              <a:rPr lang="en-GB" sz="2800" b="1">
                <a:solidFill>
                  <a:srgbClr val="000000"/>
                </a:solidFill>
              </a:rPr>
              <a:t> de </a:t>
            </a:r>
            <a:r>
              <a:rPr lang="en-GB" sz="2800" b="1" err="1">
                <a:solidFill>
                  <a:srgbClr val="000000"/>
                </a:solidFill>
              </a:rPr>
              <a:t>domaine</a:t>
            </a:r>
            <a:r>
              <a:rPr lang="en-GB" sz="2800" b="1">
                <a:solidFill>
                  <a:srgbClr val="000000"/>
                </a:solidFill>
              </a:rPr>
              <a:t> DNS à divers types de </a:t>
            </a:r>
            <a:r>
              <a:rPr lang="en-GB" sz="2800" b="1" err="1">
                <a:solidFill>
                  <a:srgbClr val="000000"/>
                </a:solidFill>
              </a:rPr>
              <a:t>données</a:t>
            </a:r>
            <a:r>
              <a:rPr lang="en-GB" sz="2800" b="1">
                <a:solidFill>
                  <a:srgbClr val="000000"/>
                </a:solidFill>
              </a:rPr>
              <a:t>  ( </a:t>
            </a:r>
            <a:r>
              <a:rPr lang="en-GB" sz="2800" b="1" err="1">
                <a:solidFill>
                  <a:srgbClr val="000000"/>
                </a:solidFill>
              </a:rPr>
              <a:t>adresses</a:t>
            </a:r>
            <a:r>
              <a:rPr lang="en-GB" sz="2800" b="1">
                <a:solidFill>
                  <a:srgbClr val="000000"/>
                </a:solidFill>
              </a:rPr>
              <a:t> IP )</a:t>
            </a:r>
          </a:p>
          <a:p>
            <a:pPr algn="l" eaLnBrk="1" hangingPunct="1">
              <a:lnSpc>
                <a:spcPct val="150000"/>
              </a:lnSpc>
              <a:buFont typeface="Wingdings" pitchFamily="2" charset="2"/>
              <a:buChar char="Ø"/>
            </a:pPr>
            <a:endParaRPr lang="en-US" sz="2800" b="1"/>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4</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85066">
                                            <p:txEl>
                                              <p:pRg st="0" end="0"/>
                                            </p:txEl>
                                          </p:spTgt>
                                        </p:tgtEl>
                                        <p:attrNameLst>
                                          <p:attrName>style.visibility</p:attrName>
                                        </p:attrNameLst>
                                      </p:cBhvr>
                                      <p:to>
                                        <p:strVal val="visible"/>
                                      </p:to>
                                    </p:set>
                                    <p:animEffect transition="in" filter="checkerboard(across)">
                                      <p:cBhvr>
                                        <p:cTn id="7" dur="500"/>
                                        <p:tgtEl>
                                          <p:spTgt spid="6850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85066">
                                            <p:txEl>
                                              <p:pRg st="1" end="1"/>
                                            </p:txEl>
                                          </p:spTgt>
                                        </p:tgtEl>
                                        <p:attrNameLst>
                                          <p:attrName>style.visibility</p:attrName>
                                        </p:attrNameLst>
                                      </p:cBhvr>
                                      <p:to>
                                        <p:strVal val="visible"/>
                                      </p:to>
                                    </p:set>
                                    <p:animEffect transition="in" filter="checkerboard(across)">
                                      <p:cBhvr>
                                        <p:cTn id="12" dur="500"/>
                                        <p:tgtEl>
                                          <p:spTgt spid="68506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custDataLst>
              <p:tags r:id="rId1"/>
            </p:custDataLst>
          </p:nvPr>
        </p:nvSpPr>
        <p:spPr>
          <a:xfrm>
            <a:off x="301752" y="214088"/>
            <a:ext cx="8534400" cy="758952"/>
          </a:xfrm>
        </p:spPr>
        <p:txBody>
          <a:bodyPr/>
          <a:lstStyle/>
          <a:p>
            <a:pPr marL="460375" indent="-460375"/>
            <a:r>
              <a:rPr lang="en-GB" b="1" err="1">
                <a:solidFill>
                  <a:srgbClr val="C00000"/>
                </a:solidFill>
              </a:rPr>
              <a:t>Vue</a:t>
            </a:r>
            <a:r>
              <a:rPr lang="en-GB" b="1">
                <a:solidFill>
                  <a:srgbClr val="C00000"/>
                </a:solidFill>
              </a:rPr>
              <a:t> </a:t>
            </a:r>
            <a:r>
              <a:rPr lang="en-GB" b="1" err="1">
                <a:solidFill>
                  <a:srgbClr val="C00000"/>
                </a:solidFill>
              </a:rPr>
              <a:t>d'ensemble</a:t>
            </a:r>
            <a:r>
              <a:rPr lang="en-GB" b="1">
                <a:solidFill>
                  <a:srgbClr val="C00000"/>
                </a:solidFill>
              </a:rPr>
              <a:t> du </a:t>
            </a:r>
            <a:r>
              <a:rPr lang="en-GB" b="1" err="1">
                <a:solidFill>
                  <a:srgbClr val="C00000"/>
                </a:solidFill>
              </a:rPr>
              <a:t>système</a:t>
            </a:r>
            <a:r>
              <a:rPr lang="en-GB" b="1">
                <a:solidFill>
                  <a:srgbClr val="C00000"/>
                </a:solidFill>
              </a:rPr>
              <a:t> DNS</a:t>
            </a:r>
            <a:endParaRPr lang="en-US" b="1">
              <a:solidFill>
                <a:srgbClr val="C00000"/>
              </a:solidFill>
            </a:endParaRPr>
          </a:p>
        </p:txBody>
      </p:sp>
      <p:sp>
        <p:nvSpPr>
          <p:cNvPr id="685059" name="AutoShape 3" descr="RSE_PPTLogo2"/>
          <p:cNvSpPr>
            <a:spLocks noChangeAspect="1" noChangeArrowheads="1"/>
          </p:cNvSpPr>
          <p:nvPr/>
        </p:nvSpPr>
        <p:spPr bwMode="auto">
          <a:xfrm>
            <a:off x="730250" y="6262688"/>
            <a:ext cx="2470150" cy="547687"/>
          </a:xfrm>
          <a:prstGeom prst="rect">
            <a:avLst/>
          </a:prstGeom>
          <a:noFill/>
        </p:spPr>
        <p:txBody>
          <a:bodyPr/>
          <a:lstStyle/>
          <a:p>
            <a:endParaRPr lang="fr-FR"/>
          </a:p>
        </p:txBody>
      </p:sp>
      <p:sp>
        <p:nvSpPr>
          <p:cNvPr id="685061" name="AutoShape 5" descr="RSE_PPTLogo2"/>
          <p:cNvSpPr>
            <a:spLocks noChangeAspect="1" noChangeArrowheads="1"/>
          </p:cNvSpPr>
          <p:nvPr/>
        </p:nvSpPr>
        <p:spPr bwMode="auto">
          <a:xfrm>
            <a:off x="730250" y="6262688"/>
            <a:ext cx="2470150" cy="547687"/>
          </a:xfrm>
          <a:prstGeom prst="rect">
            <a:avLst/>
          </a:prstGeom>
          <a:noFill/>
        </p:spPr>
        <p:txBody>
          <a:bodyPr/>
          <a:lstStyle/>
          <a:p>
            <a:endParaRPr lang="fr-FR"/>
          </a:p>
        </p:txBody>
      </p:sp>
      <p:sp>
        <p:nvSpPr>
          <p:cNvPr id="685067" name="Rectangle 11"/>
          <p:cNvSpPr>
            <a:spLocks noChangeArrowheads="1"/>
          </p:cNvSpPr>
          <p:nvPr>
            <p:custDataLst>
              <p:tags r:id="rId2"/>
            </p:custDataLst>
          </p:nvPr>
        </p:nvSpPr>
        <p:spPr bwMode="auto">
          <a:xfrm>
            <a:off x="188682" y="1436914"/>
            <a:ext cx="8766629" cy="4493538"/>
          </a:xfrm>
          <a:prstGeom prst="rect">
            <a:avLst/>
          </a:prstGeom>
          <a:noFill/>
          <a:ln w="9525" algn="ctr">
            <a:noFill/>
            <a:miter lim="800000"/>
            <a:headEnd/>
            <a:tailEnd/>
          </a:ln>
          <a:effectLst/>
        </p:spPr>
        <p:txBody>
          <a:bodyPr wrap="square">
            <a:spAutoFit/>
          </a:bodyPr>
          <a:lstStyle/>
          <a:p>
            <a:pPr marL="231775" indent="-231775" algn="l">
              <a:spcBef>
                <a:spcPct val="40000"/>
              </a:spcBef>
              <a:buClr>
                <a:srgbClr val="8DACD0"/>
              </a:buClr>
              <a:buSzPct val="70000"/>
              <a:buFont typeface="Wingdings" pitchFamily="2" charset="2"/>
              <a:buBlip>
                <a:blip r:embed="rId5"/>
              </a:buBlip>
            </a:pPr>
            <a:r>
              <a:rPr lang="en-GB" sz="2600" b="1">
                <a:solidFill>
                  <a:srgbClr val="000000"/>
                </a:solidFill>
              </a:rPr>
              <a:t>DNS </a:t>
            </a:r>
            <a:r>
              <a:rPr lang="en-GB" sz="2600" b="1" err="1">
                <a:solidFill>
                  <a:srgbClr val="000000"/>
                </a:solidFill>
              </a:rPr>
              <a:t>est</a:t>
            </a:r>
            <a:r>
              <a:rPr lang="en-GB" sz="2600" b="1">
                <a:solidFill>
                  <a:srgbClr val="000000"/>
                </a:solidFill>
              </a:rPr>
              <a:t> à la base du </a:t>
            </a:r>
            <a:r>
              <a:rPr lang="en-GB" sz="2600" b="1" err="1">
                <a:solidFill>
                  <a:srgbClr val="000000"/>
                </a:solidFill>
              </a:rPr>
              <a:t>système</a:t>
            </a:r>
            <a:r>
              <a:rPr lang="en-GB" sz="2600" b="1">
                <a:solidFill>
                  <a:srgbClr val="000000"/>
                </a:solidFill>
              </a:rPr>
              <a:t> de </a:t>
            </a:r>
            <a:r>
              <a:rPr lang="en-GB" sz="2600" b="1" err="1">
                <a:solidFill>
                  <a:srgbClr val="000000"/>
                </a:solidFill>
              </a:rPr>
              <a:t>noms</a:t>
            </a:r>
            <a:r>
              <a:rPr lang="en-GB" sz="2600" b="1">
                <a:solidFill>
                  <a:srgbClr val="000000"/>
                </a:solidFill>
              </a:rPr>
              <a:t> Internet, </a:t>
            </a:r>
            <a:r>
              <a:rPr lang="en-GB" sz="2600" b="1" err="1">
                <a:solidFill>
                  <a:srgbClr val="000000"/>
                </a:solidFill>
              </a:rPr>
              <a:t>mais</a:t>
            </a:r>
            <a:r>
              <a:rPr lang="en-GB" sz="2600" b="1">
                <a:solidFill>
                  <a:srgbClr val="000000"/>
                </a:solidFill>
              </a:rPr>
              <a:t> </a:t>
            </a:r>
            <a:r>
              <a:rPr lang="en-GB" sz="2600" b="1" err="1">
                <a:solidFill>
                  <a:srgbClr val="000000"/>
                </a:solidFill>
              </a:rPr>
              <a:t>aussi</a:t>
            </a:r>
            <a:r>
              <a:rPr lang="en-GB" sz="2600" b="1">
                <a:solidFill>
                  <a:srgbClr val="000000"/>
                </a:solidFill>
              </a:rPr>
              <a:t> du </a:t>
            </a:r>
            <a:r>
              <a:rPr lang="en-GB" sz="2600" b="1" err="1">
                <a:solidFill>
                  <a:srgbClr val="000000"/>
                </a:solidFill>
              </a:rPr>
              <a:t>système</a:t>
            </a:r>
            <a:r>
              <a:rPr lang="en-GB" sz="2600" b="1">
                <a:solidFill>
                  <a:srgbClr val="000000"/>
                </a:solidFill>
              </a:rPr>
              <a:t> de </a:t>
            </a:r>
            <a:r>
              <a:rPr lang="en-GB" sz="2600" b="1" err="1">
                <a:solidFill>
                  <a:srgbClr val="000000"/>
                </a:solidFill>
              </a:rPr>
              <a:t>noms</a:t>
            </a:r>
            <a:r>
              <a:rPr lang="en-GB" sz="2600" b="1">
                <a:solidFill>
                  <a:srgbClr val="000000"/>
                </a:solidFill>
              </a:rPr>
              <a:t> </a:t>
            </a:r>
            <a:r>
              <a:rPr lang="en-GB" sz="2600" b="1" err="1">
                <a:solidFill>
                  <a:srgbClr val="000000"/>
                </a:solidFill>
              </a:rPr>
              <a:t>d'une</a:t>
            </a:r>
            <a:r>
              <a:rPr lang="en-GB" sz="2600" b="1">
                <a:solidFill>
                  <a:srgbClr val="000000"/>
                </a:solidFill>
              </a:rPr>
              <a:t> organisation</a:t>
            </a:r>
            <a:endParaRPr lang="en-US" sz="2600" b="1"/>
          </a:p>
          <a:p>
            <a:pPr marL="231775" indent="-231775" algn="l">
              <a:spcBef>
                <a:spcPct val="40000"/>
              </a:spcBef>
              <a:buClr>
                <a:srgbClr val="8DACD0"/>
              </a:buClr>
              <a:buSzPct val="70000"/>
              <a:buFont typeface="Wingdings" pitchFamily="2" charset="2"/>
              <a:buBlip>
                <a:blip r:embed="rId5"/>
              </a:buBlip>
            </a:pPr>
            <a:r>
              <a:rPr lang="en-GB" sz="2600" b="1">
                <a:solidFill>
                  <a:srgbClr val="000000"/>
                </a:solidFill>
              </a:rPr>
              <a:t>DNS </a:t>
            </a:r>
            <a:r>
              <a:rPr lang="en-GB" sz="2600" b="1" err="1">
                <a:solidFill>
                  <a:srgbClr val="000000"/>
                </a:solidFill>
              </a:rPr>
              <a:t>prend</a:t>
            </a:r>
            <a:r>
              <a:rPr lang="en-GB" sz="2600" b="1">
                <a:solidFill>
                  <a:srgbClr val="000000"/>
                </a:solidFill>
              </a:rPr>
              <a:t> en charge </a:t>
            </a:r>
            <a:r>
              <a:rPr lang="en-GB" sz="2600" b="1" err="1">
                <a:solidFill>
                  <a:srgbClr val="000000"/>
                </a:solidFill>
              </a:rPr>
              <a:t>l'accès</a:t>
            </a:r>
            <a:r>
              <a:rPr lang="en-GB" sz="2600" b="1">
                <a:solidFill>
                  <a:srgbClr val="000000"/>
                </a:solidFill>
              </a:rPr>
              <a:t> aux </a:t>
            </a:r>
            <a:r>
              <a:rPr lang="en-GB" sz="2600" b="1" err="1">
                <a:solidFill>
                  <a:srgbClr val="000000"/>
                </a:solidFill>
              </a:rPr>
              <a:t>ressources</a:t>
            </a:r>
            <a:r>
              <a:rPr lang="en-GB" sz="2600" b="1">
                <a:solidFill>
                  <a:srgbClr val="000000"/>
                </a:solidFill>
              </a:rPr>
              <a:t> à </a:t>
            </a:r>
            <a:r>
              <a:rPr lang="en-GB" sz="2600" b="1" err="1">
                <a:solidFill>
                  <a:srgbClr val="000000"/>
                </a:solidFill>
              </a:rPr>
              <a:t>l'aide</a:t>
            </a:r>
            <a:r>
              <a:rPr lang="en-GB" sz="2600" b="1">
                <a:solidFill>
                  <a:srgbClr val="000000"/>
                </a:solidFill>
              </a:rPr>
              <a:t> de </a:t>
            </a:r>
            <a:r>
              <a:rPr lang="en-GB" sz="2600" b="1" err="1">
                <a:solidFill>
                  <a:srgbClr val="000000"/>
                </a:solidFill>
              </a:rPr>
              <a:t>noms</a:t>
            </a:r>
            <a:r>
              <a:rPr lang="en-GB" sz="2600" b="1">
                <a:solidFill>
                  <a:srgbClr val="000000"/>
                </a:solidFill>
              </a:rPr>
              <a:t> </a:t>
            </a:r>
            <a:r>
              <a:rPr lang="en-GB" sz="2600" b="1" err="1">
                <a:solidFill>
                  <a:srgbClr val="000000"/>
                </a:solidFill>
              </a:rPr>
              <a:t>alphanumériques</a:t>
            </a:r>
            <a:endParaRPr lang="en-US" sz="2600" b="1"/>
          </a:p>
          <a:p>
            <a:pPr marL="231775" indent="-231775" algn="l">
              <a:spcBef>
                <a:spcPct val="40000"/>
              </a:spcBef>
              <a:buClr>
                <a:srgbClr val="8DACD0"/>
              </a:buClr>
              <a:buSzPct val="70000"/>
              <a:buFont typeface="Wingdings" pitchFamily="2" charset="2"/>
              <a:buBlip>
                <a:blip r:embed="rId5"/>
              </a:buBlip>
            </a:pPr>
            <a:r>
              <a:rPr lang="en-GB" sz="2600" b="1">
                <a:solidFill>
                  <a:srgbClr val="000000"/>
                </a:solidFill>
              </a:rPr>
              <a:t>Le </a:t>
            </a:r>
            <a:r>
              <a:rPr lang="en-GB" sz="2600" b="1" err="1">
                <a:solidFill>
                  <a:srgbClr val="000000"/>
                </a:solidFill>
              </a:rPr>
              <a:t>système</a:t>
            </a:r>
            <a:r>
              <a:rPr lang="en-GB" sz="2600" b="1">
                <a:solidFill>
                  <a:srgbClr val="000000"/>
                </a:solidFill>
              </a:rPr>
              <a:t> DNS a </a:t>
            </a:r>
            <a:r>
              <a:rPr lang="en-GB" sz="2600" b="1" err="1">
                <a:solidFill>
                  <a:srgbClr val="000000"/>
                </a:solidFill>
              </a:rPr>
              <a:t>été</a:t>
            </a:r>
            <a:r>
              <a:rPr lang="en-GB" sz="2600" b="1">
                <a:solidFill>
                  <a:srgbClr val="000000"/>
                </a:solidFill>
              </a:rPr>
              <a:t> </a:t>
            </a:r>
            <a:r>
              <a:rPr lang="en-GB" sz="2600" b="1" err="1">
                <a:solidFill>
                  <a:srgbClr val="000000"/>
                </a:solidFill>
              </a:rPr>
              <a:t>conçu</a:t>
            </a:r>
            <a:r>
              <a:rPr lang="en-GB" sz="2600" b="1">
                <a:solidFill>
                  <a:srgbClr val="000000"/>
                </a:solidFill>
              </a:rPr>
              <a:t> pour </a:t>
            </a:r>
            <a:r>
              <a:rPr lang="en-GB" sz="2600" b="1" err="1">
                <a:solidFill>
                  <a:srgbClr val="000000"/>
                </a:solidFill>
              </a:rPr>
              <a:t>résoudre</a:t>
            </a:r>
            <a:r>
              <a:rPr lang="en-GB" sz="2600" b="1">
                <a:solidFill>
                  <a:srgbClr val="000000"/>
                </a:solidFill>
              </a:rPr>
              <a:t> les </a:t>
            </a:r>
            <a:r>
              <a:rPr lang="en-GB" sz="2600" b="1" err="1">
                <a:solidFill>
                  <a:srgbClr val="000000"/>
                </a:solidFill>
              </a:rPr>
              <a:t>problèmes</a:t>
            </a:r>
            <a:r>
              <a:rPr lang="en-GB" sz="2600" b="1">
                <a:solidFill>
                  <a:srgbClr val="000000"/>
                </a:solidFill>
              </a:rPr>
              <a:t> </a:t>
            </a:r>
            <a:r>
              <a:rPr lang="en-GB" sz="2600" b="1" err="1">
                <a:solidFill>
                  <a:srgbClr val="000000"/>
                </a:solidFill>
              </a:rPr>
              <a:t>posés</a:t>
            </a:r>
            <a:r>
              <a:rPr lang="en-GB" sz="2600" b="1">
                <a:solidFill>
                  <a:srgbClr val="000000"/>
                </a:solidFill>
              </a:rPr>
              <a:t> par </a:t>
            </a:r>
            <a:r>
              <a:rPr lang="en-GB" sz="2600" b="1" err="1">
                <a:solidFill>
                  <a:srgbClr val="000000"/>
                </a:solidFill>
              </a:rPr>
              <a:t>une</a:t>
            </a:r>
            <a:r>
              <a:rPr lang="en-GB" sz="2600" b="1">
                <a:solidFill>
                  <a:srgbClr val="000000"/>
                </a:solidFill>
              </a:rPr>
              <a:t> augmentation de:</a:t>
            </a:r>
            <a:r>
              <a:rPr lang="en-US" sz="2600" b="1"/>
              <a:t> </a:t>
            </a:r>
          </a:p>
          <a:p>
            <a:pPr marL="682625" lvl="1" indent="-220663" algn="l">
              <a:spcBef>
                <a:spcPct val="40000"/>
              </a:spcBef>
              <a:buFont typeface="Wingdings" pitchFamily="2" charset="2"/>
              <a:buChar char="Ø"/>
            </a:pPr>
            <a:r>
              <a:rPr lang="en-GB" sz="2400">
                <a:solidFill>
                  <a:srgbClr val="000000"/>
                </a:solidFill>
              </a:rPr>
              <a:t> </a:t>
            </a:r>
            <a:r>
              <a:rPr lang="en-GB" sz="2600" err="1">
                <a:solidFill>
                  <a:srgbClr val="000000"/>
                </a:solidFill>
              </a:rPr>
              <a:t>nombre</a:t>
            </a:r>
            <a:r>
              <a:rPr lang="en-GB" sz="2600">
                <a:solidFill>
                  <a:srgbClr val="000000"/>
                </a:solidFill>
              </a:rPr>
              <a:t> </a:t>
            </a:r>
            <a:r>
              <a:rPr lang="en-GB" sz="2600" err="1">
                <a:solidFill>
                  <a:srgbClr val="000000"/>
                </a:solidFill>
              </a:rPr>
              <a:t>d'hôtes</a:t>
            </a:r>
            <a:r>
              <a:rPr lang="en-GB" sz="2600">
                <a:solidFill>
                  <a:srgbClr val="000000"/>
                </a:solidFill>
              </a:rPr>
              <a:t> </a:t>
            </a:r>
            <a:r>
              <a:rPr lang="en-GB" sz="2600" err="1">
                <a:solidFill>
                  <a:srgbClr val="000000"/>
                </a:solidFill>
              </a:rPr>
              <a:t>sur</a:t>
            </a:r>
            <a:r>
              <a:rPr lang="en-GB" sz="2600">
                <a:solidFill>
                  <a:srgbClr val="000000"/>
                </a:solidFill>
              </a:rPr>
              <a:t> Internet</a:t>
            </a:r>
            <a:endParaRPr lang="en-US" sz="2600"/>
          </a:p>
          <a:p>
            <a:pPr marL="682625" lvl="1" indent="-220663" algn="l">
              <a:spcBef>
                <a:spcPct val="40000"/>
              </a:spcBef>
              <a:buFont typeface="Wingdings" pitchFamily="2" charset="2"/>
              <a:buChar char="Ø"/>
            </a:pPr>
            <a:r>
              <a:rPr lang="en-GB" sz="2600">
                <a:solidFill>
                  <a:srgbClr val="000000"/>
                </a:solidFill>
              </a:rPr>
              <a:t> </a:t>
            </a:r>
            <a:r>
              <a:rPr lang="en-GB" sz="2600" err="1">
                <a:solidFill>
                  <a:srgbClr val="000000"/>
                </a:solidFill>
              </a:rPr>
              <a:t>trafic</a:t>
            </a:r>
            <a:r>
              <a:rPr lang="en-GB" sz="2600">
                <a:solidFill>
                  <a:srgbClr val="000000"/>
                </a:solidFill>
              </a:rPr>
              <a:t> </a:t>
            </a:r>
            <a:r>
              <a:rPr lang="en-GB" sz="2600" err="1">
                <a:solidFill>
                  <a:srgbClr val="000000"/>
                </a:solidFill>
              </a:rPr>
              <a:t>généré</a:t>
            </a:r>
            <a:r>
              <a:rPr lang="en-GB" sz="2600">
                <a:solidFill>
                  <a:srgbClr val="000000"/>
                </a:solidFill>
              </a:rPr>
              <a:t> par le </a:t>
            </a:r>
            <a:r>
              <a:rPr lang="en-GB" sz="2600" err="1">
                <a:solidFill>
                  <a:srgbClr val="000000"/>
                </a:solidFill>
              </a:rPr>
              <a:t>processus</a:t>
            </a:r>
            <a:r>
              <a:rPr lang="en-GB" sz="2600">
                <a:solidFill>
                  <a:srgbClr val="000000"/>
                </a:solidFill>
              </a:rPr>
              <a:t> de </a:t>
            </a:r>
            <a:r>
              <a:rPr lang="en-GB" sz="2600" err="1">
                <a:solidFill>
                  <a:srgbClr val="000000"/>
                </a:solidFill>
              </a:rPr>
              <a:t>mise</a:t>
            </a:r>
            <a:r>
              <a:rPr lang="en-GB" sz="2600">
                <a:solidFill>
                  <a:srgbClr val="000000"/>
                </a:solidFill>
              </a:rPr>
              <a:t> à jour</a:t>
            </a:r>
            <a:endParaRPr lang="en-US" sz="2600"/>
          </a:p>
          <a:p>
            <a:pPr marL="682625" lvl="1" indent="-220663" algn="l">
              <a:spcBef>
                <a:spcPct val="40000"/>
              </a:spcBef>
              <a:buFont typeface="Wingdings" pitchFamily="2" charset="2"/>
              <a:buChar char="Ø"/>
            </a:pPr>
            <a:r>
              <a:rPr lang="en-GB" sz="2600">
                <a:solidFill>
                  <a:srgbClr val="000000"/>
                </a:solidFill>
              </a:rPr>
              <a:t> la </a:t>
            </a:r>
            <a:r>
              <a:rPr lang="en-GB" sz="2600" err="1">
                <a:solidFill>
                  <a:srgbClr val="000000"/>
                </a:solidFill>
              </a:rPr>
              <a:t>taille</a:t>
            </a:r>
            <a:r>
              <a:rPr lang="en-GB" sz="2600">
                <a:solidFill>
                  <a:srgbClr val="000000"/>
                </a:solidFill>
              </a:rPr>
              <a:t> du </a:t>
            </a:r>
            <a:r>
              <a:rPr lang="en-GB" sz="2600" err="1">
                <a:solidFill>
                  <a:srgbClr val="000000"/>
                </a:solidFill>
              </a:rPr>
              <a:t>fichier</a:t>
            </a:r>
            <a:r>
              <a:rPr lang="en-GB" sz="2600">
                <a:solidFill>
                  <a:srgbClr val="000000"/>
                </a:solidFill>
              </a:rPr>
              <a:t> Hosts</a:t>
            </a:r>
            <a:endParaRPr lang="en-US" sz="2600">
              <a:solidFill>
                <a:srgbClr val="000000"/>
              </a:solidFill>
            </a:endParaRPr>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5</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85067">
                                            <p:txEl>
                                              <p:pRg st="0" end="0"/>
                                            </p:txEl>
                                          </p:spTgt>
                                        </p:tgtEl>
                                        <p:attrNameLst>
                                          <p:attrName>style.visibility</p:attrName>
                                        </p:attrNameLst>
                                      </p:cBhvr>
                                      <p:to>
                                        <p:strVal val="visible"/>
                                      </p:to>
                                    </p:set>
                                    <p:animEffect transition="in" filter="checkerboard(across)">
                                      <p:cBhvr>
                                        <p:cTn id="7" dur="500"/>
                                        <p:tgtEl>
                                          <p:spTgt spid="685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85067">
                                            <p:txEl>
                                              <p:pRg st="1" end="1"/>
                                            </p:txEl>
                                          </p:spTgt>
                                        </p:tgtEl>
                                        <p:attrNameLst>
                                          <p:attrName>style.visibility</p:attrName>
                                        </p:attrNameLst>
                                      </p:cBhvr>
                                      <p:to>
                                        <p:strVal val="visible"/>
                                      </p:to>
                                    </p:set>
                                    <p:animEffect transition="in" filter="checkerboard(across)">
                                      <p:cBhvr>
                                        <p:cTn id="12" dur="500"/>
                                        <p:tgtEl>
                                          <p:spTgt spid="6850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85067">
                                            <p:txEl>
                                              <p:pRg st="2" end="2"/>
                                            </p:txEl>
                                          </p:spTgt>
                                        </p:tgtEl>
                                        <p:attrNameLst>
                                          <p:attrName>style.visibility</p:attrName>
                                        </p:attrNameLst>
                                      </p:cBhvr>
                                      <p:to>
                                        <p:strVal val="visible"/>
                                      </p:to>
                                    </p:set>
                                    <p:animEffect transition="in" filter="checkerboard(across)">
                                      <p:cBhvr>
                                        <p:cTn id="17" dur="500"/>
                                        <p:tgtEl>
                                          <p:spTgt spid="6850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85067">
                                            <p:txEl>
                                              <p:pRg st="3" end="3"/>
                                            </p:txEl>
                                          </p:spTgt>
                                        </p:tgtEl>
                                        <p:attrNameLst>
                                          <p:attrName>style.visibility</p:attrName>
                                        </p:attrNameLst>
                                      </p:cBhvr>
                                      <p:to>
                                        <p:strVal val="visible"/>
                                      </p:to>
                                    </p:set>
                                    <p:animEffect transition="in" filter="checkerboard(across)">
                                      <p:cBhvr>
                                        <p:cTn id="22" dur="500"/>
                                        <p:tgtEl>
                                          <p:spTgt spid="6850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85067">
                                            <p:txEl>
                                              <p:pRg st="4" end="4"/>
                                            </p:txEl>
                                          </p:spTgt>
                                        </p:tgtEl>
                                        <p:attrNameLst>
                                          <p:attrName>style.visibility</p:attrName>
                                        </p:attrNameLst>
                                      </p:cBhvr>
                                      <p:to>
                                        <p:strVal val="visible"/>
                                      </p:to>
                                    </p:set>
                                    <p:animEffect transition="in" filter="checkerboard(across)">
                                      <p:cBhvr>
                                        <p:cTn id="27" dur="500"/>
                                        <p:tgtEl>
                                          <p:spTgt spid="6850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685067">
                                            <p:txEl>
                                              <p:pRg st="5" end="5"/>
                                            </p:txEl>
                                          </p:spTgt>
                                        </p:tgtEl>
                                        <p:attrNameLst>
                                          <p:attrName>style.visibility</p:attrName>
                                        </p:attrNameLst>
                                      </p:cBhvr>
                                      <p:to>
                                        <p:strVal val="visible"/>
                                      </p:to>
                                    </p:set>
                                    <p:animEffect transition="in" filter="checkerboard(across)">
                                      <p:cBhvr>
                                        <p:cTn id="32" dur="500"/>
                                        <p:tgtEl>
                                          <p:spTgt spid="6850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025" name="Rectangle 33"/>
          <p:cNvSpPr>
            <a:spLocks noChangeArrowheads="1"/>
          </p:cNvSpPr>
          <p:nvPr/>
        </p:nvSpPr>
        <p:spPr bwMode="auto">
          <a:xfrm>
            <a:off x="232229" y="3987341"/>
            <a:ext cx="7954509" cy="2486025"/>
          </a:xfrm>
          <a:prstGeom prst="rect">
            <a:avLst/>
          </a:prstGeom>
          <a:gradFill rotWithShape="1">
            <a:gsLst>
              <a:gs pos="0">
                <a:srgbClr val="ADE2A1">
                  <a:alpha val="70000"/>
                </a:srgbClr>
              </a:gs>
              <a:gs pos="100000">
                <a:srgbClr val="FFFFFF"/>
              </a:gs>
            </a:gsLst>
            <a:lin ang="5400000" scaled="1"/>
          </a:gradFill>
          <a:ln w="9525" algn="ctr">
            <a:noFill/>
            <a:miter lim="800000"/>
            <a:headEnd/>
            <a:tailEnd/>
          </a:ln>
          <a:effectLst/>
        </p:spPr>
        <p:txBody>
          <a:bodyPr wrap="none" anchor="ctr"/>
          <a:lstStyle/>
          <a:p>
            <a:endParaRPr lang="fr-FR" sz="2000"/>
          </a:p>
        </p:txBody>
      </p:sp>
      <p:sp>
        <p:nvSpPr>
          <p:cNvPr id="597024" name="Rectangle 32"/>
          <p:cNvSpPr>
            <a:spLocks noChangeArrowheads="1"/>
          </p:cNvSpPr>
          <p:nvPr/>
        </p:nvSpPr>
        <p:spPr bwMode="auto">
          <a:xfrm>
            <a:off x="275771" y="3020554"/>
            <a:ext cx="7903029" cy="923925"/>
          </a:xfrm>
          <a:prstGeom prst="rect">
            <a:avLst/>
          </a:prstGeom>
          <a:solidFill>
            <a:schemeClr val="accent2">
              <a:alpha val="70000"/>
            </a:schemeClr>
          </a:solidFill>
          <a:ln w="9525" algn="ctr">
            <a:noFill/>
            <a:miter lim="800000"/>
            <a:headEnd/>
            <a:tailEnd/>
          </a:ln>
          <a:effectLst/>
        </p:spPr>
        <p:txBody>
          <a:bodyPr wrap="none" anchor="ctr"/>
          <a:lstStyle/>
          <a:p>
            <a:endParaRPr lang="fr-FR"/>
          </a:p>
        </p:txBody>
      </p:sp>
      <p:sp>
        <p:nvSpPr>
          <p:cNvPr id="597023" name="Rectangle 31"/>
          <p:cNvSpPr>
            <a:spLocks noChangeArrowheads="1"/>
          </p:cNvSpPr>
          <p:nvPr/>
        </p:nvSpPr>
        <p:spPr bwMode="auto">
          <a:xfrm>
            <a:off x="275771" y="2064879"/>
            <a:ext cx="7904617" cy="914400"/>
          </a:xfrm>
          <a:prstGeom prst="rect">
            <a:avLst/>
          </a:prstGeom>
          <a:solidFill>
            <a:srgbClr val="ADE2A1">
              <a:alpha val="70000"/>
            </a:srgbClr>
          </a:solidFill>
          <a:ln w="9525" algn="ctr">
            <a:noFill/>
            <a:miter lim="800000"/>
            <a:headEnd/>
            <a:tailEnd/>
          </a:ln>
          <a:effectLst/>
        </p:spPr>
        <p:txBody>
          <a:bodyPr wrap="none" anchor="ctr"/>
          <a:lstStyle/>
          <a:p>
            <a:endParaRPr lang="fr-FR"/>
          </a:p>
        </p:txBody>
      </p:sp>
      <p:sp>
        <p:nvSpPr>
          <p:cNvPr id="597022" name="Rectangle 30"/>
          <p:cNvSpPr>
            <a:spLocks noChangeArrowheads="1"/>
          </p:cNvSpPr>
          <p:nvPr/>
        </p:nvSpPr>
        <p:spPr bwMode="auto">
          <a:xfrm>
            <a:off x="232229" y="1460041"/>
            <a:ext cx="7954509" cy="563563"/>
          </a:xfrm>
          <a:prstGeom prst="rect">
            <a:avLst/>
          </a:prstGeom>
          <a:solidFill>
            <a:schemeClr val="accent2">
              <a:alpha val="70000"/>
            </a:schemeClr>
          </a:solidFill>
          <a:ln w="9525" algn="ctr">
            <a:noFill/>
            <a:miter lim="800000"/>
            <a:headEnd/>
            <a:tailEnd/>
          </a:ln>
          <a:effectLst/>
        </p:spPr>
        <p:txBody>
          <a:bodyPr wrap="none" anchor="ctr"/>
          <a:lstStyle/>
          <a:p>
            <a:endParaRPr lang="fr-FR"/>
          </a:p>
        </p:txBody>
      </p:sp>
      <p:sp>
        <p:nvSpPr>
          <p:cNvPr id="596994" name="Rectangle 2"/>
          <p:cNvSpPr>
            <a:spLocks noGrp="1" noChangeArrowheads="1"/>
          </p:cNvSpPr>
          <p:nvPr>
            <p:ph type="title"/>
            <p:custDataLst>
              <p:tags r:id="rId1"/>
            </p:custDataLst>
          </p:nvPr>
        </p:nvSpPr>
        <p:spPr>
          <a:xfrm>
            <a:off x="287238" y="301176"/>
            <a:ext cx="8534400" cy="758952"/>
          </a:xfrm>
        </p:spPr>
        <p:txBody>
          <a:bodyPr vert="horz" anchor="b">
            <a:normAutofit fontScale="90000"/>
          </a:bodyPr>
          <a:lstStyle/>
          <a:p>
            <a:pPr marL="460375" indent="-460375"/>
            <a:r>
              <a:rPr lang="fr-FR" b="1">
                <a:solidFill>
                  <a:srgbClr val="C00000"/>
                </a:solidFill>
              </a:rPr>
              <a:t>Qu'est-ce qu'un espace de noms de domaines ?</a:t>
            </a:r>
            <a:endParaRPr lang="en-US" b="1">
              <a:solidFill>
                <a:srgbClr val="C00000"/>
              </a:solidFill>
            </a:endParaRPr>
          </a:p>
        </p:txBody>
      </p:sp>
      <p:sp>
        <p:nvSpPr>
          <p:cNvPr id="597014" name="AutoShape 22"/>
          <p:cNvSpPr>
            <a:spLocks noChangeArrowheads="1"/>
          </p:cNvSpPr>
          <p:nvPr>
            <p:custDataLst>
              <p:tags r:id="rId2"/>
            </p:custDataLst>
          </p:nvPr>
        </p:nvSpPr>
        <p:spPr bwMode="auto">
          <a:xfrm>
            <a:off x="290287" y="1579104"/>
            <a:ext cx="3303945" cy="501968"/>
          </a:xfrm>
          <a:prstGeom prst="roundRect">
            <a:avLst>
              <a:gd name="adj" fmla="val 4167"/>
            </a:avLst>
          </a:prstGeom>
          <a:noFill/>
          <a:ln w="9525">
            <a:noFill/>
            <a:round/>
            <a:headEnd/>
            <a:tailEnd/>
          </a:ln>
          <a:effectLst/>
        </p:spPr>
        <p:txBody>
          <a:bodyPr wrap="square" anchor="ctr">
            <a:spAutoFit/>
          </a:bodyPr>
          <a:lstStyle/>
          <a:p>
            <a:pPr algn="l"/>
            <a:r>
              <a:rPr lang="en-GB" sz="2600" b="1" err="1">
                <a:solidFill>
                  <a:srgbClr val="000000"/>
                </a:solidFill>
                <a:effectLst>
                  <a:outerShdw blurRad="38100" dist="38100" dir="2700000" algn="tl">
                    <a:srgbClr val="C0C0C0"/>
                  </a:outerShdw>
                </a:effectLst>
              </a:rPr>
              <a:t>Domaine</a:t>
            </a:r>
            <a:r>
              <a:rPr lang="en-GB" sz="2600" b="1">
                <a:solidFill>
                  <a:srgbClr val="000000"/>
                </a:solidFill>
                <a:effectLst>
                  <a:outerShdw blurRad="38100" dist="38100" dir="2700000" algn="tl">
                    <a:srgbClr val="C0C0C0"/>
                  </a:outerShdw>
                </a:effectLst>
              </a:rPr>
              <a:t> </a:t>
            </a:r>
            <a:r>
              <a:rPr lang="en-GB" sz="2600" b="1" err="1">
                <a:solidFill>
                  <a:srgbClr val="000000"/>
                </a:solidFill>
                <a:effectLst>
                  <a:outerShdw blurRad="38100" dist="38100" dir="2700000" algn="tl">
                    <a:srgbClr val="C0C0C0"/>
                  </a:outerShdw>
                </a:effectLst>
              </a:rPr>
              <a:t>racine</a:t>
            </a:r>
            <a:endParaRPr lang="en-US" sz="2600" b="1">
              <a:effectLst>
                <a:outerShdw blurRad="38100" dist="38100" dir="2700000" algn="tl">
                  <a:srgbClr val="C0C0C0"/>
                </a:outerShdw>
              </a:effectLst>
            </a:endParaRPr>
          </a:p>
        </p:txBody>
      </p:sp>
      <p:sp>
        <p:nvSpPr>
          <p:cNvPr id="597016" name="AutoShape 24"/>
          <p:cNvSpPr>
            <a:spLocks noChangeArrowheads="1"/>
          </p:cNvSpPr>
          <p:nvPr>
            <p:custDataLst>
              <p:tags r:id="rId3"/>
            </p:custDataLst>
          </p:nvPr>
        </p:nvSpPr>
        <p:spPr bwMode="auto">
          <a:xfrm>
            <a:off x="328944" y="4227054"/>
            <a:ext cx="3314143" cy="501968"/>
          </a:xfrm>
          <a:prstGeom prst="roundRect">
            <a:avLst>
              <a:gd name="adj" fmla="val 4167"/>
            </a:avLst>
          </a:prstGeom>
          <a:noFill/>
          <a:ln w="9525">
            <a:noFill/>
            <a:round/>
            <a:headEnd/>
            <a:tailEnd/>
          </a:ln>
          <a:effectLst/>
        </p:spPr>
        <p:txBody>
          <a:bodyPr wrap="square" anchor="ctr">
            <a:spAutoFit/>
          </a:bodyPr>
          <a:lstStyle/>
          <a:p>
            <a:pPr algn="l"/>
            <a:r>
              <a:rPr lang="en-GB" sz="2600" b="1" err="1">
                <a:solidFill>
                  <a:srgbClr val="000000"/>
                </a:solidFill>
                <a:effectLst>
                  <a:outerShdw blurRad="38100" dist="38100" dir="2700000" algn="tl">
                    <a:srgbClr val="C0C0C0"/>
                  </a:outerShdw>
                </a:effectLst>
              </a:rPr>
              <a:t>Sous-domaines</a:t>
            </a:r>
            <a:endParaRPr lang="en-US" sz="2600" b="1">
              <a:effectLst>
                <a:outerShdw blurRad="38100" dist="38100" dir="2700000" algn="tl">
                  <a:srgbClr val="C0C0C0"/>
                </a:outerShdw>
              </a:effectLst>
            </a:endParaRPr>
          </a:p>
        </p:txBody>
      </p:sp>
      <p:sp>
        <p:nvSpPr>
          <p:cNvPr id="597017" name="AutoShape 25"/>
          <p:cNvSpPr>
            <a:spLocks noChangeArrowheads="1"/>
          </p:cNvSpPr>
          <p:nvPr>
            <p:custDataLst>
              <p:tags r:id="rId4"/>
            </p:custDataLst>
          </p:nvPr>
        </p:nvSpPr>
        <p:spPr bwMode="auto">
          <a:xfrm>
            <a:off x="320711" y="3187241"/>
            <a:ext cx="3709291" cy="501968"/>
          </a:xfrm>
          <a:prstGeom prst="roundRect">
            <a:avLst>
              <a:gd name="adj" fmla="val 4167"/>
            </a:avLst>
          </a:prstGeom>
          <a:noFill/>
          <a:ln w="9525">
            <a:noFill/>
            <a:round/>
            <a:headEnd/>
            <a:tailEnd/>
          </a:ln>
          <a:effectLst/>
        </p:spPr>
        <p:txBody>
          <a:bodyPr wrap="square" anchor="ctr">
            <a:spAutoFit/>
          </a:bodyPr>
          <a:lstStyle/>
          <a:p>
            <a:pPr algn="l"/>
            <a:r>
              <a:rPr lang="en-GB" sz="2600" b="1" err="1">
                <a:solidFill>
                  <a:srgbClr val="000000"/>
                </a:solidFill>
                <a:effectLst>
                  <a:outerShdw blurRad="38100" dist="38100" dir="2700000" algn="tl">
                    <a:srgbClr val="C0C0C0"/>
                  </a:outerShdw>
                </a:effectLst>
              </a:rPr>
              <a:t>Domaine</a:t>
            </a:r>
            <a:r>
              <a:rPr lang="en-GB" sz="2600" b="1">
                <a:solidFill>
                  <a:srgbClr val="000000"/>
                </a:solidFill>
                <a:effectLst>
                  <a:outerShdw blurRad="38100" dist="38100" dir="2700000" algn="tl">
                    <a:srgbClr val="C0C0C0"/>
                  </a:outerShdw>
                </a:effectLst>
              </a:rPr>
              <a:t> de second </a:t>
            </a:r>
            <a:r>
              <a:rPr lang="en-GB" sz="2600" b="1" err="1">
                <a:solidFill>
                  <a:srgbClr val="000000"/>
                </a:solidFill>
                <a:effectLst>
                  <a:outerShdw blurRad="38100" dist="38100" dir="2700000" algn="tl">
                    <a:srgbClr val="C0C0C0"/>
                  </a:outerShdw>
                </a:effectLst>
              </a:rPr>
              <a:t>niveau</a:t>
            </a:r>
            <a:endParaRPr lang="en-US" sz="2600" b="1">
              <a:effectLst>
                <a:outerShdw blurRad="38100" dist="38100" dir="2700000" algn="tl">
                  <a:srgbClr val="C0C0C0"/>
                </a:outerShdw>
              </a:effectLst>
            </a:endParaRPr>
          </a:p>
        </p:txBody>
      </p:sp>
      <p:sp>
        <p:nvSpPr>
          <p:cNvPr id="597018" name="AutoShape 26"/>
          <p:cNvSpPr>
            <a:spLocks noChangeArrowheads="1"/>
          </p:cNvSpPr>
          <p:nvPr>
            <p:custDataLst>
              <p:tags r:id="rId5"/>
            </p:custDataLst>
          </p:nvPr>
        </p:nvSpPr>
        <p:spPr bwMode="auto">
          <a:xfrm>
            <a:off x="270888" y="2114093"/>
            <a:ext cx="3386712" cy="909816"/>
          </a:xfrm>
          <a:prstGeom prst="roundRect">
            <a:avLst>
              <a:gd name="adj" fmla="val 4167"/>
            </a:avLst>
          </a:prstGeom>
          <a:noFill/>
          <a:ln w="9525">
            <a:noFill/>
            <a:round/>
            <a:headEnd/>
            <a:tailEnd/>
          </a:ln>
          <a:effectLst/>
        </p:spPr>
        <p:txBody>
          <a:bodyPr wrap="square" anchor="ctr">
            <a:spAutoFit/>
          </a:bodyPr>
          <a:lstStyle/>
          <a:p>
            <a:pPr algn="l"/>
            <a:r>
              <a:rPr lang="en-GB" sz="2600" b="1" err="1">
                <a:solidFill>
                  <a:srgbClr val="000000"/>
                </a:solidFill>
                <a:effectLst>
                  <a:outerShdw blurRad="38100" dist="38100" dir="2700000" algn="tl">
                    <a:srgbClr val="C0C0C0"/>
                  </a:outerShdw>
                </a:effectLst>
              </a:rPr>
              <a:t>Domaine</a:t>
            </a:r>
            <a:r>
              <a:rPr lang="en-GB" sz="2600" b="1">
                <a:solidFill>
                  <a:srgbClr val="000000"/>
                </a:solidFill>
                <a:effectLst>
                  <a:outerShdw blurRad="38100" dist="38100" dir="2700000" algn="tl">
                    <a:srgbClr val="C0C0C0"/>
                  </a:outerShdw>
                </a:effectLst>
              </a:rPr>
              <a:t> de </a:t>
            </a:r>
            <a:r>
              <a:rPr lang="en-GB" sz="2600" b="1" err="1">
                <a:solidFill>
                  <a:srgbClr val="000000"/>
                </a:solidFill>
                <a:effectLst>
                  <a:outerShdw blurRad="38100" dist="38100" dir="2700000" algn="tl">
                    <a:srgbClr val="C0C0C0"/>
                  </a:outerShdw>
                </a:effectLst>
              </a:rPr>
              <a:t>niveau</a:t>
            </a:r>
            <a:r>
              <a:rPr lang="en-GB" sz="2600" b="1">
                <a:solidFill>
                  <a:srgbClr val="000000"/>
                </a:solidFill>
                <a:effectLst>
                  <a:outerShdw blurRad="38100" dist="38100" dir="2700000" algn="tl">
                    <a:srgbClr val="C0C0C0"/>
                  </a:outerShdw>
                </a:effectLst>
              </a:rPr>
              <a:t> </a:t>
            </a:r>
            <a:r>
              <a:rPr lang="en-GB" sz="2600" b="1" err="1">
                <a:solidFill>
                  <a:srgbClr val="000000"/>
                </a:solidFill>
                <a:effectLst>
                  <a:outerShdw blurRad="38100" dist="38100" dir="2700000" algn="tl">
                    <a:srgbClr val="C0C0C0"/>
                  </a:outerShdw>
                </a:effectLst>
              </a:rPr>
              <a:t>supérieur</a:t>
            </a:r>
            <a:endParaRPr lang="en-US" sz="2600" b="1">
              <a:effectLst>
                <a:outerShdw blurRad="38100" dist="38100" dir="2700000" algn="tl">
                  <a:srgbClr val="C0C0C0"/>
                </a:outerShdw>
              </a:effectLst>
            </a:endParaRPr>
          </a:p>
        </p:txBody>
      </p:sp>
      <p:sp>
        <p:nvSpPr>
          <p:cNvPr id="597019" name="AutoShape 27"/>
          <p:cNvSpPr>
            <a:spLocks noChangeArrowheads="1"/>
          </p:cNvSpPr>
          <p:nvPr>
            <p:custDataLst>
              <p:tags r:id="rId6"/>
            </p:custDataLst>
          </p:nvPr>
        </p:nvSpPr>
        <p:spPr bwMode="auto">
          <a:xfrm>
            <a:off x="159660" y="5498641"/>
            <a:ext cx="4775199" cy="909816"/>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square" anchor="ctr">
            <a:spAutoFit/>
          </a:bodyPr>
          <a:lstStyle/>
          <a:p>
            <a:r>
              <a:rPr lang="en-GB" sz="2600" b="1" dirty="0">
                <a:solidFill>
                  <a:srgbClr val="000000"/>
                </a:solidFill>
              </a:rPr>
              <a:t>FQDN :</a:t>
            </a:r>
            <a:endParaRPr lang="en-US" sz="2600" b="1" dirty="0"/>
          </a:p>
          <a:p>
            <a:r>
              <a:rPr lang="en-GB" sz="2600" b="1" dirty="0">
                <a:solidFill>
                  <a:srgbClr val="000000"/>
                </a:solidFill>
              </a:rPr>
              <a:t>server1.sales.SRI.BTS.net</a:t>
            </a:r>
            <a:endParaRPr lang="en-US" sz="2600" b="1" dirty="0">
              <a:solidFill>
                <a:srgbClr val="000000"/>
              </a:solidFill>
            </a:endParaRPr>
          </a:p>
        </p:txBody>
      </p:sp>
      <p:sp>
        <p:nvSpPr>
          <p:cNvPr id="597026" name="Oval 34"/>
          <p:cNvSpPr>
            <a:spLocks noChangeArrowheads="1"/>
          </p:cNvSpPr>
          <p:nvPr/>
        </p:nvSpPr>
        <p:spPr bwMode="auto">
          <a:xfrm>
            <a:off x="5707063" y="1647366"/>
            <a:ext cx="234950" cy="203200"/>
          </a:xfrm>
          <a:prstGeom prst="ellipse">
            <a:avLst/>
          </a:prstGeom>
          <a:solidFill>
            <a:schemeClr val="tx1"/>
          </a:solidFill>
          <a:ln w="9525" algn="ctr">
            <a:solidFill>
              <a:schemeClr val="tx1"/>
            </a:solidFill>
            <a:round/>
            <a:headEnd/>
            <a:tailEnd/>
          </a:ln>
          <a:effectLst/>
        </p:spPr>
        <p:txBody>
          <a:bodyPr wrap="none" anchor="ctr"/>
          <a:lstStyle/>
          <a:p>
            <a:endParaRPr lang="fr-FR"/>
          </a:p>
        </p:txBody>
      </p:sp>
      <p:sp>
        <p:nvSpPr>
          <p:cNvPr id="597027" name="Line 35"/>
          <p:cNvSpPr>
            <a:spLocks noChangeShapeType="1"/>
          </p:cNvSpPr>
          <p:nvPr/>
        </p:nvSpPr>
        <p:spPr bwMode="auto">
          <a:xfrm>
            <a:off x="5824538" y="1839454"/>
            <a:ext cx="0" cy="3295650"/>
          </a:xfrm>
          <a:prstGeom prst="line">
            <a:avLst/>
          </a:prstGeom>
          <a:noFill/>
          <a:ln w="38100">
            <a:solidFill>
              <a:schemeClr val="tx1"/>
            </a:solidFill>
            <a:round/>
            <a:headEnd/>
            <a:tailEnd/>
          </a:ln>
          <a:effectLst/>
        </p:spPr>
        <p:txBody>
          <a:bodyPr anchor="ctr"/>
          <a:lstStyle/>
          <a:p>
            <a:endParaRPr lang="fr-FR"/>
          </a:p>
        </p:txBody>
      </p:sp>
      <p:sp>
        <p:nvSpPr>
          <p:cNvPr id="597008" name="Oval 16"/>
          <p:cNvSpPr>
            <a:spLocks noChangeArrowheads="1"/>
          </p:cNvSpPr>
          <p:nvPr>
            <p:custDataLst>
              <p:tags r:id="rId7"/>
            </p:custDataLst>
          </p:nvPr>
        </p:nvSpPr>
        <p:spPr bwMode="auto">
          <a:xfrm>
            <a:off x="5186363" y="4054016"/>
            <a:ext cx="1217612"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dirty="0">
                <a:solidFill>
                  <a:srgbClr val="000000"/>
                </a:solidFill>
              </a:rPr>
              <a:t>SRI</a:t>
            </a:r>
            <a:endParaRPr lang="en-US" sz="2400" b="1" dirty="0"/>
          </a:p>
        </p:txBody>
      </p:sp>
      <p:sp>
        <p:nvSpPr>
          <p:cNvPr id="597010" name="Oval 18"/>
          <p:cNvSpPr>
            <a:spLocks noChangeArrowheads="1"/>
          </p:cNvSpPr>
          <p:nvPr>
            <p:custDataLst>
              <p:tags r:id="rId8"/>
            </p:custDataLst>
          </p:nvPr>
        </p:nvSpPr>
        <p:spPr bwMode="auto">
          <a:xfrm>
            <a:off x="5158469" y="3085641"/>
            <a:ext cx="1358446"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dirty="0">
                <a:solidFill>
                  <a:srgbClr val="000000"/>
                </a:solidFill>
              </a:rPr>
              <a:t>BTS</a:t>
            </a:r>
            <a:endParaRPr lang="en-US" sz="2400" b="1" dirty="0"/>
          </a:p>
        </p:txBody>
      </p:sp>
      <p:sp>
        <p:nvSpPr>
          <p:cNvPr id="597012" name="Oval 20"/>
          <p:cNvSpPr>
            <a:spLocks noChangeArrowheads="1"/>
          </p:cNvSpPr>
          <p:nvPr>
            <p:custDataLst>
              <p:tags r:id="rId9"/>
            </p:custDataLst>
          </p:nvPr>
        </p:nvSpPr>
        <p:spPr bwMode="auto">
          <a:xfrm>
            <a:off x="5216525" y="2102979"/>
            <a:ext cx="1217613"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dirty="0">
                <a:solidFill>
                  <a:srgbClr val="000000"/>
                </a:solidFill>
              </a:rPr>
              <a:t>net</a:t>
            </a:r>
            <a:endParaRPr lang="en-US" sz="2400" b="1" dirty="0"/>
          </a:p>
        </p:txBody>
      </p:sp>
      <p:grpSp>
        <p:nvGrpSpPr>
          <p:cNvPr id="29" name="Groupe 28"/>
          <p:cNvGrpSpPr/>
          <p:nvPr/>
        </p:nvGrpSpPr>
        <p:grpSpPr>
          <a:xfrm>
            <a:off x="4911725" y="5143041"/>
            <a:ext cx="1827213" cy="1184275"/>
            <a:chOff x="4911725" y="5143041"/>
            <a:chExt cx="1827213" cy="1184275"/>
          </a:xfrm>
        </p:grpSpPr>
        <p:sp>
          <p:nvSpPr>
            <p:cNvPr id="597006" name="Oval 14"/>
            <p:cNvSpPr>
              <a:spLocks noChangeArrowheads="1"/>
            </p:cNvSpPr>
            <p:nvPr>
              <p:custDataLst>
                <p:tags r:id="rId15"/>
              </p:custDataLst>
            </p:nvPr>
          </p:nvSpPr>
          <p:spPr bwMode="auto">
            <a:xfrm>
              <a:off x="4911725" y="5143041"/>
              <a:ext cx="1827213" cy="1184275"/>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pPr algn="l"/>
              <a:r>
                <a:rPr lang="en-GB" sz="2400" b="1">
                  <a:solidFill>
                    <a:srgbClr val="000000"/>
                  </a:solidFill>
                </a:rPr>
                <a:t>sales</a:t>
              </a:r>
              <a:endParaRPr lang="en-US" sz="2400" b="1"/>
            </a:p>
          </p:txBody>
        </p:sp>
        <p:pic>
          <p:nvPicPr>
            <p:cNvPr id="597020" name="Picture 28" descr="Computer_DesktopComputerSansKeyboard01"/>
            <p:cNvPicPr>
              <a:picLocks noChangeAspect="1" noChangeArrowheads="1"/>
            </p:cNvPicPr>
            <p:nvPr/>
          </p:nvPicPr>
          <p:blipFill>
            <a:blip r:embed="rId18" cstate="print"/>
            <a:srcRect/>
            <a:stretch>
              <a:fillRect/>
            </a:stretch>
          </p:blipFill>
          <p:spPr bwMode="auto">
            <a:xfrm>
              <a:off x="5907088" y="5360529"/>
              <a:ext cx="612775" cy="746125"/>
            </a:xfrm>
            <a:prstGeom prst="rect">
              <a:avLst/>
            </a:prstGeom>
            <a:noFill/>
          </p:spPr>
        </p:pic>
      </p:grpSp>
      <p:sp>
        <p:nvSpPr>
          <p:cNvPr id="597028" name="Line 36"/>
          <p:cNvSpPr>
            <a:spLocks noChangeShapeType="1"/>
          </p:cNvSpPr>
          <p:nvPr/>
        </p:nvSpPr>
        <p:spPr bwMode="auto">
          <a:xfrm flipH="1">
            <a:off x="4645025" y="1771191"/>
            <a:ext cx="1146175" cy="434975"/>
          </a:xfrm>
          <a:prstGeom prst="line">
            <a:avLst/>
          </a:prstGeom>
          <a:noFill/>
          <a:ln w="38100">
            <a:solidFill>
              <a:schemeClr val="tx1"/>
            </a:solidFill>
            <a:round/>
            <a:headEnd/>
            <a:tailEnd/>
          </a:ln>
          <a:effectLst/>
        </p:spPr>
        <p:txBody>
          <a:bodyPr anchor="ctr"/>
          <a:lstStyle/>
          <a:p>
            <a:endParaRPr lang="fr-FR"/>
          </a:p>
        </p:txBody>
      </p:sp>
      <p:sp>
        <p:nvSpPr>
          <p:cNvPr id="597029" name="Line 37"/>
          <p:cNvSpPr>
            <a:spLocks noChangeShapeType="1"/>
          </p:cNvSpPr>
          <p:nvPr/>
        </p:nvSpPr>
        <p:spPr bwMode="auto">
          <a:xfrm>
            <a:off x="5864225" y="1771191"/>
            <a:ext cx="1041400" cy="473075"/>
          </a:xfrm>
          <a:prstGeom prst="line">
            <a:avLst/>
          </a:prstGeom>
          <a:noFill/>
          <a:ln w="38100">
            <a:solidFill>
              <a:schemeClr val="tx1"/>
            </a:solidFill>
            <a:round/>
            <a:headEnd/>
            <a:tailEnd/>
          </a:ln>
          <a:effectLst/>
        </p:spPr>
        <p:txBody>
          <a:bodyPr anchor="ctr"/>
          <a:lstStyle/>
          <a:p>
            <a:endParaRPr lang="fr-FR"/>
          </a:p>
        </p:txBody>
      </p:sp>
      <p:sp>
        <p:nvSpPr>
          <p:cNvPr id="597030" name="Line 38"/>
          <p:cNvSpPr>
            <a:spLocks noChangeShapeType="1"/>
          </p:cNvSpPr>
          <p:nvPr/>
        </p:nvSpPr>
        <p:spPr bwMode="auto">
          <a:xfrm flipH="1">
            <a:off x="4702175" y="3800016"/>
            <a:ext cx="725488" cy="392113"/>
          </a:xfrm>
          <a:prstGeom prst="line">
            <a:avLst/>
          </a:prstGeom>
          <a:noFill/>
          <a:ln w="38100">
            <a:solidFill>
              <a:schemeClr val="tx1"/>
            </a:solidFill>
            <a:round/>
            <a:headEnd/>
            <a:tailEnd/>
          </a:ln>
          <a:effectLst/>
        </p:spPr>
        <p:txBody>
          <a:bodyPr anchor="ctr"/>
          <a:lstStyle/>
          <a:p>
            <a:endParaRPr lang="fr-FR"/>
          </a:p>
        </p:txBody>
      </p:sp>
      <p:sp>
        <p:nvSpPr>
          <p:cNvPr id="597031" name="Line 39"/>
          <p:cNvSpPr>
            <a:spLocks noChangeShapeType="1"/>
          </p:cNvSpPr>
          <p:nvPr/>
        </p:nvSpPr>
        <p:spPr bwMode="auto">
          <a:xfrm>
            <a:off x="6226175" y="3800016"/>
            <a:ext cx="654050" cy="392113"/>
          </a:xfrm>
          <a:prstGeom prst="line">
            <a:avLst/>
          </a:prstGeom>
          <a:noFill/>
          <a:ln w="38100">
            <a:solidFill>
              <a:schemeClr val="tx1"/>
            </a:solidFill>
            <a:round/>
            <a:headEnd/>
            <a:tailEnd/>
          </a:ln>
          <a:effectLst/>
        </p:spPr>
        <p:txBody>
          <a:bodyPr anchor="ctr"/>
          <a:lstStyle/>
          <a:p>
            <a:endParaRPr lang="fr-FR"/>
          </a:p>
        </p:txBody>
      </p:sp>
      <p:sp>
        <p:nvSpPr>
          <p:cNvPr id="597007" name="Oval 15"/>
          <p:cNvSpPr>
            <a:spLocks noChangeArrowheads="1"/>
          </p:cNvSpPr>
          <p:nvPr>
            <p:custDataLst>
              <p:tags r:id="rId10"/>
            </p:custDataLst>
          </p:nvPr>
        </p:nvSpPr>
        <p:spPr bwMode="auto">
          <a:xfrm>
            <a:off x="3692525" y="4054016"/>
            <a:ext cx="1217613"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dirty="0">
                <a:solidFill>
                  <a:srgbClr val="000000"/>
                </a:solidFill>
              </a:rPr>
              <a:t>CG</a:t>
            </a:r>
            <a:endParaRPr lang="en-US" sz="2400" b="1" dirty="0"/>
          </a:p>
        </p:txBody>
      </p:sp>
      <p:sp>
        <p:nvSpPr>
          <p:cNvPr id="597009" name="Oval 17"/>
          <p:cNvSpPr>
            <a:spLocks noChangeArrowheads="1"/>
          </p:cNvSpPr>
          <p:nvPr>
            <p:custDataLst>
              <p:tags r:id="rId11"/>
            </p:custDataLst>
          </p:nvPr>
        </p:nvSpPr>
        <p:spPr bwMode="auto">
          <a:xfrm>
            <a:off x="6681788" y="4054016"/>
            <a:ext cx="1217612"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dirty="0">
                <a:solidFill>
                  <a:srgbClr val="000000"/>
                </a:solidFill>
              </a:rPr>
              <a:t>ELT</a:t>
            </a:r>
            <a:endParaRPr lang="en-US" sz="2400" b="1" dirty="0"/>
          </a:p>
        </p:txBody>
      </p:sp>
      <p:sp>
        <p:nvSpPr>
          <p:cNvPr id="597011" name="Oval 19"/>
          <p:cNvSpPr>
            <a:spLocks noChangeArrowheads="1"/>
          </p:cNvSpPr>
          <p:nvPr>
            <p:custDataLst>
              <p:tags r:id="rId12"/>
            </p:custDataLst>
          </p:nvPr>
        </p:nvSpPr>
        <p:spPr bwMode="auto">
          <a:xfrm>
            <a:off x="6681788" y="2110916"/>
            <a:ext cx="1217612"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a:solidFill>
                  <a:srgbClr val="000000"/>
                </a:solidFill>
              </a:rPr>
              <a:t>org</a:t>
            </a:r>
            <a:endParaRPr lang="en-US" sz="2400" b="1"/>
          </a:p>
        </p:txBody>
      </p:sp>
      <p:sp>
        <p:nvSpPr>
          <p:cNvPr id="597013" name="Oval 21"/>
          <p:cNvSpPr>
            <a:spLocks noChangeArrowheads="1"/>
          </p:cNvSpPr>
          <p:nvPr>
            <p:custDataLst>
              <p:tags r:id="rId13"/>
            </p:custDataLst>
          </p:nvPr>
        </p:nvSpPr>
        <p:spPr bwMode="auto">
          <a:xfrm>
            <a:off x="3692525" y="2109329"/>
            <a:ext cx="1217613" cy="800100"/>
          </a:xfrm>
          <a:prstGeom prst="ellipse">
            <a:avLst/>
          </a:prstGeom>
          <a:gradFill rotWithShape="1">
            <a:gsLst>
              <a:gs pos="0">
                <a:srgbClr val="FFFFFF"/>
              </a:gs>
              <a:gs pos="100000">
                <a:srgbClr val="E4E4BF"/>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GB" sz="2400" b="1" dirty="0">
                <a:solidFill>
                  <a:srgbClr val="000000"/>
                </a:solidFill>
              </a:rPr>
              <a:t>com</a:t>
            </a:r>
            <a:endParaRPr lang="en-US" sz="2400" b="1" dirty="0"/>
          </a:p>
        </p:txBody>
      </p:sp>
      <p:sp>
        <p:nvSpPr>
          <p:cNvPr id="597021" name="AutoShape 29"/>
          <p:cNvSpPr>
            <a:spLocks noChangeArrowheads="1"/>
          </p:cNvSpPr>
          <p:nvPr>
            <p:custDataLst>
              <p:tags r:id="rId14"/>
            </p:custDataLst>
          </p:nvPr>
        </p:nvSpPr>
        <p:spPr bwMode="auto">
          <a:xfrm>
            <a:off x="6589712" y="5576429"/>
            <a:ext cx="2031773" cy="43248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r>
              <a:rPr lang="en-GB" sz="2600" b="1">
                <a:solidFill>
                  <a:srgbClr val="000000"/>
                </a:solidFill>
              </a:rPr>
              <a:t>Hôte :</a:t>
            </a:r>
            <a:r>
              <a:rPr lang="en-US" sz="2600" b="1"/>
              <a:t> </a:t>
            </a:r>
            <a:r>
              <a:rPr lang="en-GB" sz="2600" b="1">
                <a:solidFill>
                  <a:srgbClr val="000000"/>
                </a:solidFill>
              </a:rPr>
              <a:t>server1</a:t>
            </a:r>
            <a:endParaRPr lang="en-US" sz="2600" b="1">
              <a:solidFill>
                <a:srgbClr val="000000"/>
              </a:solidFill>
            </a:endParaRPr>
          </a:p>
        </p:txBody>
      </p:sp>
      <p:sp>
        <p:nvSpPr>
          <p:cNvPr id="30" name="Rectangle 29"/>
          <p:cNvSpPr/>
          <p:nvPr/>
        </p:nvSpPr>
        <p:spPr>
          <a:xfrm>
            <a:off x="163865" y="5007841"/>
            <a:ext cx="8657773" cy="1569660"/>
          </a:xfrm>
          <a:prstGeom prst="rect">
            <a:avLst/>
          </a:prstGeom>
          <a:solidFill>
            <a:srgbClr val="002060"/>
          </a:solidFill>
        </p:spPr>
        <p:style>
          <a:lnRef idx="1">
            <a:schemeClr val="accent3"/>
          </a:lnRef>
          <a:fillRef idx="3">
            <a:schemeClr val="accent3"/>
          </a:fillRef>
          <a:effectRef idx="2">
            <a:schemeClr val="accent3"/>
          </a:effectRef>
          <a:fontRef idx="minor">
            <a:schemeClr val="lt1"/>
          </a:fontRef>
        </p:style>
        <p:txBody>
          <a:bodyPr wrap="square">
            <a:spAutoFit/>
          </a:bodyPr>
          <a:lstStyle/>
          <a:p>
            <a:r>
              <a:rPr lang="fr-FR" sz="2400" b="1" dirty="0">
                <a:solidFill>
                  <a:srgbClr val="D5D69C"/>
                </a:solidFill>
              </a:rPr>
              <a:t>L’</a:t>
            </a:r>
            <a:r>
              <a:rPr lang="fr-FR" sz="2400" b="1" i="1" dirty="0">
                <a:solidFill>
                  <a:srgbClr val="D5D69C"/>
                </a:solidFill>
              </a:rPr>
              <a:t>espace de noms de domaine est une arborescence hiérarchisée de noms </a:t>
            </a:r>
            <a:r>
              <a:rPr lang="fr-FR" sz="2400" b="1" dirty="0">
                <a:solidFill>
                  <a:srgbClr val="D5D69C"/>
                </a:solidFill>
              </a:rPr>
              <a:t>utilisée par DNS pour identifier et trouver un hôte donné dans un domaine donné, par rapport à la racine de l’arborescence.</a:t>
            </a:r>
          </a:p>
        </p:txBody>
      </p:sp>
      <p:sp>
        <p:nvSpPr>
          <p:cNvPr id="31" name="Espace réservé du numéro de diapositive 30"/>
          <p:cNvSpPr>
            <a:spLocks noGrp="1"/>
          </p:cNvSpPr>
          <p:nvPr>
            <p:ph type="sldNum" sz="quarter" idx="12"/>
          </p:nvPr>
        </p:nvSpPr>
        <p:spPr/>
        <p:txBody>
          <a:bodyPr/>
          <a:lstStyle/>
          <a:p>
            <a:fld id="{2C6B1FF6-39B9-40F5-8B67-33C6354A3D4F}" type="slidenum">
              <a:rPr kumimoji="0" lang="en-US" smtClean="0"/>
              <a:pPr/>
              <a:t>6</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97022"/>
                                        </p:tgtEl>
                                        <p:attrNameLst>
                                          <p:attrName>style.visibility</p:attrName>
                                        </p:attrNameLst>
                                      </p:cBhvr>
                                      <p:to>
                                        <p:strVal val="visible"/>
                                      </p:to>
                                    </p:set>
                                    <p:animEffect transition="in" filter="checkerboard(across)">
                                      <p:cBhvr>
                                        <p:cTn id="7" dur="500"/>
                                        <p:tgtEl>
                                          <p:spTgt spid="59702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97014"/>
                                        </p:tgtEl>
                                        <p:attrNameLst>
                                          <p:attrName>style.visibility</p:attrName>
                                        </p:attrNameLst>
                                      </p:cBhvr>
                                      <p:to>
                                        <p:strVal val="visible"/>
                                      </p:to>
                                    </p:set>
                                    <p:animEffect transition="in" filter="checkerboard(across)">
                                      <p:cBhvr>
                                        <p:cTn id="10" dur="500"/>
                                        <p:tgtEl>
                                          <p:spTgt spid="59701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97026"/>
                                        </p:tgtEl>
                                        <p:attrNameLst>
                                          <p:attrName>style.visibility</p:attrName>
                                        </p:attrNameLst>
                                      </p:cBhvr>
                                      <p:to>
                                        <p:strVal val="visible"/>
                                      </p:to>
                                    </p:set>
                                    <p:animEffect transition="in" filter="checkerboard(across)">
                                      <p:cBhvr>
                                        <p:cTn id="13" dur="500"/>
                                        <p:tgtEl>
                                          <p:spTgt spid="59702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597023"/>
                                        </p:tgtEl>
                                        <p:attrNameLst>
                                          <p:attrName>style.visibility</p:attrName>
                                        </p:attrNameLst>
                                      </p:cBhvr>
                                      <p:to>
                                        <p:strVal val="visible"/>
                                      </p:to>
                                    </p:set>
                                    <p:animEffect transition="in" filter="checkerboard(across)">
                                      <p:cBhvr>
                                        <p:cTn id="18" dur="500"/>
                                        <p:tgtEl>
                                          <p:spTgt spid="597023"/>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597018"/>
                                        </p:tgtEl>
                                        <p:attrNameLst>
                                          <p:attrName>style.visibility</p:attrName>
                                        </p:attrNameLst>
                                      </p:cBhvr>
                                      <p:to>
                                        <p:strVal val="visible"/>
                                      </p:to>
                                    </p:set>
                                    <p:animEffect transition="in" filter="checkerboard(across)">
                                      <p:cBhvr>
                                        <p:cTn id="21" dur="500"/>
                                        <p:tgtEl>
                                          <p:spTgt spid="597018"/>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597011"/>
                                        </p:tgtEl>
                                        <p:attrNameLst>
                                          <p:attrName>style.visibility</p:attrName>
                                        </p:attrNameLst>
                                      </p:cBhvr>
                                      <p:to>
                                        <p:strVal val="visible"/>
                                      </p:to>
                                    </p:set>
                                    <p:animEffect transition="in" filter="checkerboard(across)">
                                      <p:cBhvr>
                                        <p:cTn id="24" dur="500"/>
                                        <p:tgtEl>
                                          <p:spTgt spid="597011"/>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597013"/>
                                        </p:tgtEl>
                                        <p:attrNameLst>
                                          <p:attrName>style.visibility</p:attrName>
                                        </p:attrNameLst>
                                      </p:cBhvr>
                                      <p:to>
                                        <p:strVal val="visible"/>
                                      </p:to>
                                    </p:set>
                                    <p:animEffect transition="in" filter="checkerboard(across)">
                                      <p:cBhvr>
                                        <p:cTn id="27" dur="500"/>
                                        <p:tgtEl>
                                          <p:spTgt spid="597013"/>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597028"/>
                                        </p:tgtEl>
                                        <p:attrNameLst>
                                          <p:attrName>style.visibility</p:attrName>
                                        </p:attrNameLst>
                                      </p:cBhvr>
                                      <p:to>
                                        <p:strVal val="visible"/>
                                      </p:to>
                                    </p:set>
                                    <p:animEffect transition="in" filter="checkerboard(across)">
                                      <p:cBhvr>
                                        <p:cTn id="30" dur="500"/>
                                        <p:tgtEl>
                                          <p:spTgt spid="597028"/>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597027"/>
                                        </p:tgtEl>
                                        <p:attrNameLst>
                                          <p:attrName>style.visibility</p:attrName>
                                        </p:attrNameLst>
                                      </p:cBhvr>
                                      <p:to>
                                        <p:strVal val="visible"/>
                                      </p:to>
                                    </p:set>
                                    <p:animEffect transition="in" filter="checkerboard(across)">
                                      <p:cBhvr>
                                        <p:cTn id="33" dur="500"/>
                                        <p:tgtEl>
                                          <p:spTgt spid="597027"/>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597012"/>
                                        </p:tgtEl>
                                        <p:attrNameLst>
                                          <p:attrName>style.visibility</p:attrName>
                                        </p:attrNameLst>
                                      </p:cBhvr>
                                      <p:to>
                                        <p:strVal val="visible"/>
                                      </p:to>
                                    </p:set>
                                    <p:animEffect transition="in" filter="checkerboard(across)">
                                      <p:cBhvr>
                                        <p:cTn id="36" dur="500"/>
                                        <p:tgtEl>
                                          <p:spTgt spid="597012"/>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597029"/>
                                        </p:tgtEl>
                                        <p:attrNameLst>
                                          <p:attrName>style.visibility</p:attrName>
                                        </p:attrNameLst>
                                      </p:cBhvr>
                                      <p:to>
                                        <p:strVal val="visible"/>
                                      </p:to>
                                    </p:set>
                                    <p:animEffect transition="in" filter="checkerboard(across)">
                                      <p:cBhvr>
                                        <p:cTn id="39" dur="500"/>
                                        <p:tgtEl>
                                          <p:spTgt spid="597029"/>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597017"/>
                                        </p:tgtEl>
                                        <p:attrNameLst>
                                          <p:attrName>style.visibility</p:attrName>
                                        </p:attrNameLst>
                                      </p:cBhvr>
                                      <p:to>
                                        <p:strVal val="visible"/>
                                      </p:to>
                                    </p:set>
                                    <p:animEffect transition="in" filter="checkerboard(across)">
                                      <p:cBhvr>
                                        <p:cTn id="44" dur="500"/>
                                        <p:tgtEl>
                                          <p:spTgt spid="597017"/>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597010"/>
                                        </p:tgtEl>
                                        <p:attrNameLst>
                                          <p:attrName>style.visibility</p:attrName>
                                        </p:attrNameLst>
                                      </p:cBhvr>
                                      <p:to>
                                        <p:strVal val="visible"/>
                                      </p:to>
                                    </p:set>
                                    <p:animEffect transition="in" filter="checkerboard(across)">
                                      <p:cBhvr>
                                        <p:cTn id="47" dur="500"/>
                                        <p:tgtEl>
                                          <p:spTgt spid="597010"/>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597024"/>
                                        </p:tgtEl>
                                        <p:attrNameLst>
                                          <p:attrName>style.visibility</p:attrName>
                                        </p:attrNameLst>
                                      </p:cBhvr>
                                      <p:to>
                                        <p:strVal val="visible"/>
                                      </p:to>
                                    </p:set>
                                    <p:animEffect transition="in" filter="checkerboard(across)">
                                      <p:cBhvr>
                                        <p:cTn id="50" dur="500"/>
                                        <p:tgtEl>
                                          <p:spTgt spid="597024"/>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597025"/>
                                        </p:tgtEl>
                                        <p:attrNameLst>
                                          <p:attrName>style.visibility</p:attrName>
                                        </p:attrNameLst>
                                      </p:cBhvr>
                                      <p:to>
                                        <p:strVal val="visible"/>
                                      </p:to>
                                    </p:set>
                                    <p:animEffect transition="in" filter="checkerboard(across)">
                                      <p:cBhvr>
                                        <p:cTn id="55" dur="500"/>
                                        <p:tgtEl>
                                          <p:spTgt spid="597025"/>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597016"/>
                                        </p:tgtEl>
                                        <p:attrNameLst>
                                          <p:attrName>style.visibility</p:attrName>
                                        </p:attrNameLst>
                                      </p:cBhvr>
                                      <p:to>
                                        <p:strVal val="visible"/>
                                      </p:to>
                                    </p:set>
                                    <p:animEffect transition="in" filter="checkerboard(across)">
                                      <p:cBhvr>
                                        <p:cTn id="58" dur="500"/>
                                        <p:tgtEl>
                                          <p:spTgt spid="597016"/>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597008"/>
                                        </p:tgtEl>
                                        <p:attrNameLst>
                                          <p:attrName>style.visibility</p:attrName>
                                        </p:attrNameLst>
                                      </p:cBhvr>
                                      <p:to>
                                        <p:strVal val="visible"/>
                                      </p:to>
                                    </p:set>
                                    <p:animEffect transition="in" filter="checkerboard(across)">
                                      <p:cBhvr>
                                        <p:cTn id="61" dur="500"/>
                                        <p:tgtEl>
                                          <p:spTgt spid="597008"/>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597030"/>
                                        </p:tgtEl>
                                        <p:attrNameLst>
                                          <p:attrName>style.visibility</p:attrName>
                                        </p:attrNameLst>
                                      </p:cBhvr>
                                      <p:to>
                                        <p:strVal val="visible"/>
                                      </p:to>
                                    </p:set>
                                    <p:animEffect transition="in" filter="checkerboard(across)">
                                      <p:cBhvr>
                                        <p:cTn id="64" dur="500"/>
                                        <p:tgtEl>
                                          <p:spTgt spid="597030"/>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597031"/>
                                        </p:tgtEl>
                                        <p:attrNameLst>
                                          <p:attrName>style.visibility</p:attrName>
                                        </p:attrNameLst>
                                      </p:cBhvr>
                                      <p:to>
                                        <p:strVal val="visible"/>
                                      </p:to>
                                    </p:set>
                                    <p:animEffect transition="in" filter="checkerboard(across)">
                                      <p:cBhvr>
                                        <p:cTn id="67" dur="500"/>
                                        <p:tgtEl>
                                          <p:spTgt spid="597031"/>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597007"/>
                                        </p:tgtEl>
                                        <p:attrNameLst>
                                          <p:attrName>style.visibility</p:attrName>
                                        </p:attrNameLst>
                                      </p:cBhvr>
                                      <p:to>
                                        <p:strVal val="visible"/>
                                      </p:to>
                                    </p:set>
                                    <p:animEffect transition="in" filter="checkerboard(across)">
                                      <p:cBhvr>
                                        <p:cTn id="70" dur="500"/>
                                        <p:tgtEl>
                                          <p:spTgt spid="597007"/>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597009"/>
                                        </p:tgtEl>
                                        <p:attrNameLst>
                                          <p:attrName>style.visibility</p:attrName>
                                        </p:attrNameLst>
                                      </p:cBhvr>
                                      <p:to>
                                        <p:strVal val="visible"/>
                                      </p:to>
                                    </p:set>
                                    <p:animEffect transition="in" filter="checkerboard(across)">
                                      <p:cBhvr>
                                        <p:cTn id="73" dur="500"/>
                                        <p:tgtEl>
                                          <p:spTgt spid="597009"/>
                                        </p:tgtEl>
                                      </p:cBhvr>
                                    </p:animEffect>
                                  </p:childTnLst>
                                </p:cTn>
                              </p:par>
                            </p:childTnLst>
                          </p:cTn>
                        </p:par>
                      </p:childTnLst>
                    </p:cTn>
                  </p:par>
                  <p:par>
                    <p:cTn id="74" fill="hold">
                      <p:stCondLst>
                        <p:cond delay="indefinite"/>
                      </p:stCondLst>
                      <p:childTnLst>
                        <p:par>
                          <p:cTn id="75" fill="hold">
                            <p:stCondLst>
                              <p:cond delay="0"/>
                            </p:stCondLst>
                            <p:childTnLst>
                              <p:par>
                                <p:cTn id="76" presetID="5" presetClass="entr" presetSubtype="10" fill="hold"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checkerboard(across)">
                                      <p:cBhvr>
                                        <p:cTn id="78" dur="500"/>
                                        <p:tgtEl>
                                          <p:spTgt spid="29"/>
                                        </p:tgtEl>
                                      </p:cBhvr>
                                    </p:animEffect>
                                  </p:childTnLst>
                                </p:cTn>
                              </p:par>
                              <p:par>
                                <p:cTn id="79" presetID="5" presetClass="entr" presetSubtype="10" fill="hold" grpId="0" nodeType="withEffect">
                                  <p:stCondLst>
                                    <p:cond delay="0"/>
                                  </p:stCondLst>
                                  <p:childTnLst>
                                    <p:set>
                                      <p:cBhvr>
                                        <p:cTn id="80" dur="1" fill="hold">
                                          <p:stCondLst>
                                            <p:cond delay="0"/>
                                          </p:stCondLst>
                                        </p:cTn>
                                        <p:tgtEl>
                                          <p:spTgt spid="597021"/>
                                        </p:tgtEl>
                                        <p:attrNameLst>
                                          <p:attrName>style.visibility</p:attrName>
                                        </p:attrNameLst>
                                      </p:cBhvr>
                                      <p:to>
                                        <p:strVal val="visible"/>
                                      </p:to>
                                    </p:set>
                                    <p:animEffect transition="in" filter="checkerboard(across)">
                                      <p:cBhvr>
                                        <p:cTn id="81" dur="500"/>
                                        <p:tgtEl>
                                          <p:spTgt spid="597021"/>
                                        </p:tgtEl>
                                      </p:cBhvr>
                                    </p:animEffect>
                                  </p:childTnLst>
                                </p:cTn>
                              </p:par>
                            </p:childTnLst>
                          </p:cTn>
                        </p:par>
                      </p:childTnLst>
                    </p:cTn>
                  </p:par>
                  <p:par>
                    <p:cTn id="82" fill="hold">
                      <p:stCondLst>
                        <p:cond delay="indefinite"/>
                      </p:stCondLst>
                      <p:childTnLst>
                        <p:par>
                          <p:cTn id="83" fill="hold">
                            <p:stCondLst>
                              <p:cond delay="0"/>
                            </p:stCondLst>
                            <p:childTnLst>
                              <p:par>
                                <p:cTn id="84" presetID="5" presetClass="entr" presetSubtype="10" fill="hold" grpId="0" nodeType="clickEffect">
                                  <p:stCondLst>
                                    <p:cond delay="0"/>
                                  </p:stCondLst>
                                  <p:childTnLst>
                                    <p:set>
                                      <p:cBhvr>
                                        <p:cTn id="85" dur="1" fill="hold">
                                          <p:stCondLst>
                                            <p:cond delay="0"/>
                                          </p:stCondLst>
                                        </p:cTn>
                                        <p:tgtEl>
                                          <p:spTgt spid="597019"/>
                                        </p:tgtEl>
                                        <p:attrNameLst>
                                          <p:attrName>style.visibility</p:attrName>
                                        </p:attrNameLst>
                                      </p:cBhvr>
                                      <p:to>
                                        <p:strVal val="visible"/>
                                      </p:to>
                                    </p:set>
                                    <p:animEffect transition="in" filter="checkerboard(across)">
                                      <p:cBhvr>
                                        <p:cTn id="86" dur="500"/>
                                        <p:tgtEl>
                                          <p:spTgt spid="597019"/>
                                        </p:tgtEl>
                                      </p:cBhvr>
                                    </p:animEffect>
                                  </p:childTnLst>
                                </p:cTn>
                              </p:par>
                            </p:childTnLst>
                          </p:cTn>
                        </p:par>
                      </p:childTnLst>
                    </p:cTn>
                  </p:par>
                  <p:par>
                    <p:cTn id="87" fill="hold">
                      <p:stCondLst>
                        <p:cond delay="indefinite"/>
                      </p:stCondLst>
                      <p:childTnLst>
                        <p:par>
                          <p:cTn id="88" fill="hold">
                            <p:stCondLst>
                              <p:cond delay="0"/>
                            </p:stCondLst>
                            <p:childTnLst>
                              <p:par>
                                <p:cTn id="89" presetID="5" presetClass="entr" presetSubtype="1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checkerboard(across)">
                                      <p:cBhvr>
                                        <p:cTn id="9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25" grpId="0" animBg="1"/>
      <p:bldP spid="597024" grpId="0" animBg="1"/>
      <p:bldP spid="597023" grpId="0" animBg="1"/>
      <p:bldP spid="597022" grpId="0" animBg="1"/>
      <p:bldP spid="597014" grpId="0"/>
      <p:bldP spid="597016" grpId="0"/>
      <p:bldP spid="597017" grpId="0"/>
      <p:bldP spid="597018" grpId="0"/>
      <p:bldP spid="597019" grpId="0" animBg="1"/>
      <p:bldP spid="597026" grpId="0" animBg="1"/>
      <p:bldP spid="597027" grpId="0" animBg="1"/>
      <p:bldP spid="597008" grpId="0" animBg="1"/>
      <p:bldP spid="597010" grpId="0" animBg="1"/>
      <p:bldP spid="597012" grpId="0" animBg="1"/>
      <p:bldP spid="597028" grpId="0" animBg="1"/>
      <p:bldP spid="597029" grpId="0" animBg="1"/>
      <p:bldP spid="597030" grpId="0" animBg="1"/>
      <p:bldP spid="597031" grpId="0" animBg="1"/>
      <p:bldP spid="597007" grpId="0" animBg="1"/>
      <p:bldP spid="597009" grpId="0" animBg="1"/>
      <p:bldP spid="597011" grpId="0" animBg="1"/>
      <p:bldP spid="597013" grpId="0" animBg="1"/>
      <p:bldP spid="597021"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custDataLst>
              <p:tags r:id="rId1"/>
            </p:custDataLst>
          </p:nvPr>
        </p:nvSpPr>
        <p:spPr>
          <a:xfrm>
            <a:off x="301752" y="170544"/>
            <a:ext cx="8534400" cy="758952"/>
          </a:xfrm>
        </p:spPr>
        <p:txBody>
          <a:bodyPr vert="horz" anchor="b">
            <a:normAutofit fontScale="90000"/>
          </a:bodyPr>
          <a:lstStyle/>
          <a:p>
            <a:pPr marL="460375" indent="-460375"/>
            <a:r>
              <a:rPr lang="en-GB" b="1">
                <a:solidFill>
                  <a:srgbClr val="C00000"/>
                </a:solidFill>
              </a:rPr>
              <a:t>Conventions </a:t>
            </a:r>
            <a:r>
              <a:rPr lang="en-GB" b="1" err="1">
                <a:solidFill>
                  <a:srgbClr val="C00000"/>
                </a:solidFill>
              </a:rPr>
              <a:t>d'appellation</a:t>
            </a:r>
            <a:r>
              <a:rPr lang="en-GB" b="1">
                <a:solidFill>
                  <a:srgbClr val="C00000"/>
                </a:solidFill>
              </a:rPr>
              <a:t> standard DNS</a:t>
            </a:r>
            <a:endParaRPr lang="en-US" b="1">
              <a:solidFill>
                <a:srgbClr val="C00000"/>
              </a:solidFill>
            </a:endParaRPr>
          </a:p>
        </p:txBody>
      </p:sp>
      <p:sp>
        <p:nvSpPr>
          <p:cNvPr id="605187" name="AutoShape 3" descr="RSE_PPTLogo2"/>
          <p:cNvSpPr>
            <a:spLocks noChangeAspect="1" noChangeArrowheads="1"/>
          </p:cNvSpPr>
          <p:nvPr/>
        </p:nvSpPr>
        <p:spPr bwMode="auto">
          <a:xfrm>
            <a:off x="730250" y="6262688"/>
            <a:ext cx="2470150" cy="547687"/>
          </a:xfrm>
          <a:prstGeom prst="rect">
            <a:avLst/>
          </a:prstGeom>
          <a:noFill/>
        </p:spPr>
        <p:txBody>
          <a:bodyPr/>
          <a:lstStyle/>
          <a:p>
            <a:endParaRPr lang="fr-FR"/>
          </a:p>
        </p:txBody>
      </p:sp>
      <p:sp>
        <p:nvSpPr>
          <p:cNvPr id="605189" name="AutoShape 5" descr="RSE_PPTLogo2"/>
          <p:cNvSpPr>
            <a:spLocks noChangeAspect="1" noChangeArrowheads="1"/>
          </p:cNvSpPr>
          <p:nvPr/>
        </p:nvSpPr>
        <p:spPr bwMode="auto">
          <a:xfrm>
            <a:off x="730250" y="6262688"/>
            <a:ext cx="2470150" cy="547687"/>
          </a:xfrm>
          <a:prstGeom prst="rect">
            <a:avLst/>
          </a:prstGeom>
          <a:noFill/>
        </p:spPr>
        <p:txBody>
          <a:bodyPr/>
          <a:lstStyle/>
          <a:p>
            <a:endParaRPr lang="fr-FR"/>
          </a:p>
        </p:txBody>
      </p:sp>
      <p:sp>
        <p:nvSpPr>
          <p:cNvPr id="605191" name="Rectangle 7"/>
          <p:cNvSpPr>
            <a:spLocks noChangeArrowheads="1"/>
          </p:cNvSpPr>
          <p:nvPr>
            <p:custDataLst>
              <p:tags r:id="rId2"/>
            </p:custDataLst>
          </p:nvPr>
        </p:nvSpPr>
        <p:spPr bwMode="auto">
          <a:xfrm>
            <a:off x="718231" y="1746023"/>
            <a:ext cx="8106455" cy="3693319"/>
          </a:xfrm>
          <a:prstGeom prst="rect">
            <a:avLst/>
          </a:prstGeom>
          <a:noFill/>
          <a:ln w="9525" algn="ctr">
            <a:noFill/>
            <a:miter lim="800000"/>
            <a:headEnd/>
            <a:tailEnd/>
          </a:ln>
          <a:effectLst/>
        </p:spPr>
        <p:txBody>
          <a:bodyPr wrap="square" anchor="ctr">
            <a:spAutoFit/>
          </a:bodyPr>
          <a:lstStyle/>
          <a:p>
            <a:pPr algn="l" eaLnBrk="1" hangingPunct="1">
              <a:spcBef>
                <a:spcPct val="10000"/>
              </a:spcBef>
              <a:tabLst>
                <a:tab pos="339725" algn="l"/>
              </a:tabLst>
            </a:pPr>
            <a:r>
              <a:rPr lang="en-GB" sz="2400" b="1">
                <a:solidFill>
                  <a:srgbClr val="000000"/>
                </a:solidFill>
                <a:latin typeface="Arial" pitchFamily="34" charset="0"/>
                <a:cs typeface="Arial" pitchFamily="34" charset="0"/>
              </a:rPr>
              <a:t>Les </a:t>
            </a:r>
            <a:r>
              <a:rPr lang="en-GB" sz="2400" b="1" err="1">
                <a:solidFill>
                  <a:srgbClr val="000000"/>
                </a:solidFill>
                <a:latin typeface="Arial" pitchFamily="34" charset="0"/>
                <a:cs typeface="Arial" pitchFamily="34" charset="0"/>
              </a:rPr>
              <a:t>caractères</a:t>
            </a:r>
            <a:r>
              <a:rPr lang="en-GB" sz="2400" b="1">
                <a:solidFill>
                  <a:srgbClr val="000000"/>
                </a:solidFill>
                <a:latin typeface="Arial" pitchFamily="34" charset="0"/>
                <a:cs typeface="Arial" pitchFamily="34" charset="0"/>
              </a:rPr>
              <a:t> </a:t>
            </a:r>
            <a:r>
              <a:rPr lang="en-GB" sz="2400" b="1" err="1">
                <a:solidFill>
                  <a:srgbClr val="000000"/>
                </a:solidFill>
                <a:latin typeface="Arial" pitchFamily="34" charset="0"/>
                <a:cs typeface="Arial" pitchFamily="34" charset="0"/>
              </a:rPr>
              <a:t>suivants</a:t>
            </a:r>
            <a:r>
              <a:rPr lang="en-GB" sz="2400" b="1">
                <a:solidFill>
                  <a:srgbClr val="000000"/>
                </a:solidFill>
                <a:latin typeface="Arial" pitchFamily="34" charset="0"/>
                <a:cs typeface="Arial" pitchFamily="34" charset="0"/>
              </a:rPr>
              <a:t> </a:t>
            </a:r>
            <a:r>
              <a:rPr lang="en-GB" sz="2400" b="1" err="1">
                <a:solidFill>
                  <a:srgbClr val="000000"/>
                </a:solidFill>
                <a:latin typeface="Arial" pitchFamily="34" charset="0"/>
                <a:cs typeface="Arial" pitchFamily="34" charset="0"/>
              </a:rPr>
              <a:t>sont</a:t>
            </a:r>
            <a:r>
              <a:rPr lang="en-GB" sz="2400" b="1">
                <a:solidFill>
                  <a:srgbClr val="000000"/>
                </a:solidFill>
                <a:latin typeface="Arial" pitchFamily="34" charset="0"/>
                <a:cs typeface="Arial" pitchFamily="34" charset="0"/>
              </a:rPr>
              <a:t> </a:t>
            </a:r>
            <a:r>
              <a:rPr lang="en-GB" sz="2400" b="1" err="1">
                <a:solidFill>
                  <a:srgbClr val="000000"/>
                </a:solidFill>
                <a:latin typeface="Arial" pitchFamily="34" charset="0"/>
                <a:cs typeface="Arial" pitchFamily="34" charset="0"/>
              </a:rPr>
              <a:t>valides</a:t>
            </a:r>
            <a:r>
              <a:rPr lang="en-GB" sz="2400" b="1">
                <a:solidFill>
                  <a:srgbClr val="000000"/>
                </a:solidFill>
                <a:latin typeface="Arial" pitchFamily="34" charset="0"/>
                <a:cs typeface="Arial" pitchFamily="34" charset="0"/>
              </a:rPr>
              <a:t> </a:t>
            </a:r>
            <a:r>
              <a:rPr lang="en-GB" sz="2400" b="1" err="1">
                <a:solidFill>
                  <a:srgbClr val="000000"/>
                </a:solidFill>
                <a:latin typeface="Arial" pitchFamily="34" charset="0"/>
                <a:cs typeface="Arial" pitchFamily="34" charset="0"/>
              </a:rPr>
              <a:t>dans</a:t>
            </a:r>
            <a:r>
              <a:rPr lang="en-GB" sz="2400" b="1">
                <a:solidFill>
                  <a:srgbClr val="000000"/>
                </a:solidFill>
                <a:latin typeface="Arial" pitchFamily="34" charset="0"/>
                <a:cs typeface="Arial" pitchFamily="34" charset="0"/>
              </a:rPr>
              <a:t> les </a:t>
            </a:r>
            <a:r>
              <a:rPr lang="en-GB" sz="2400" b="1" err="1">
                <a:solidFill>
                  <a:srgbClr val="000000"/>
                </a:solidFill>
                <a:latin typeface="Arial" pitchFamily="34" charset="0"/>
                <a:cs typeface="Arial" pitchFamily="34" charset="0"/>
              </a:rPr>
              <a:t>noms</a:t>
            </a:r>
            <a:r>
              <a:rPr lang="en-GB" sz="2400" b="1">
                <a:solidFill>
                  <a:srgbClr val="000000"/>
                </a:solidFill>
                <a:latin typeface="Arial" pitchFamily="34" charset="0"/>
                <a:cs typeface="Arial" pitchFamily="34" charset="0"/>
              </a:rPr>
              <a:t> DNS :</a:t>
            </a:r>
            <a:endParaRPr lang="en-US" sz="2400" b="1">
              <a:latin typeface="Arial" pitchFamily="34" charset="0"/>
              <a:cs typeface="Arial" pitchFamily="34" charset="0"/>
            </a:endParaRPr>
          </a:p>
          <a:p>
            <a:pPr marL="354013" lvl="1" indent="-352425" algn="l">
              <a:spcBef>
                <a:spcPct val="40000"/>
              </a:spcBef>
              <a:buClr>
                <a:srgbClr val="8DACD0"/>
              </a:buClr>
              <a:buSzPct val="70000"/>
              <a:buFont typeface="Wingdings" pitchFamily="2" charset="2"/>
              <a:buBlip>
                <a:blip r:embed="rId5"/>
              </a:buBlip>
              <a:tabLst>
                <a:tab pos="339725" algn="l"/>
              </a:tabLst>
            </a:pPr>
            <a:r>
              <a:rPr lang="en-GB" sz="2400" b="1">
                <a:solidFill>
                  <a:srgbClr val="000000"/>
                </a:solidFill>
                <a:latin typeface="Arial" pitchFamily="34" charset="0"/>
                <a:cs typeface="Arial" pitchFamily="34" charset="0"/>
              </a:rPr>
              <a:t>A-Z </a:t>
            </a:r>
            <a:endParaRPr lang="en-US" sz="2400" b="1">
              <a:latin typeface="Arial" pitchFamily="34" charset="0"/>
              <a:cs typeface="Arial" pitchFamily="34" charset="0"/>
            </a:endParaRPr>
          </a:p>
          <a:p>
            <a:pPr marL="354013" lvl="1" indent="-352425" algn="l">
              <a:spcBef>
                <a:spcPct val="40000"/>
              </a:spcBef>
              <a:buClr>
                <a:srgbClr val="8DACD0"/>
              </a:buClr>
              <a:buSzPct val="70000"/>
              <a:buFont typeface="Wingdings" pitchFamily="2" charset="2"/>
              <a:buBlip>
                <a:blip r:embed="rId5"/>
              </a:buBlip>
              <a:tabLst>
                <a:tab pos="339725" algn="l"/>
              </a:tabLst>
            </a:pPr>
            <a:r>
              <a:rPr lang="en-GB" sz="2400" b="1">
                <a:solidFill>
                  <a:srgbClr val="000000"/>
                </a:solidFill>
                <a:latin typeface="Arial" pitchFamily="34" charset="0"/>
                <a:cs typeface="Arial" pitchFamily="34" charset="0"/>
              </a:rPr>
              <a:t>a-z </a:t>
            </a:r>
            <a:endParaRPr lang="en-US" sz="2400" b="1">
              <a:latin typeface="Arial" pitchFamily="34" charset="0"/>
              <a:cs typeface="Arial" pitchFamily="34" charset="0"/>
            </a:endParaRPr>
          </a:p>
          <a:p>
            <a:pPr marL="354013" lvl="1" indent="-352425" algn="l">
              <a:spcBef>
                <a:spcPct val="40000"/>
              </a:spcBef>
              <a:buClr>
                <a:srgbClr val="8DACD0"/>
              </a:buClr>
              <a:buSzPct val="70000"/>
              <a:buFont typeface="Wingdings" pitchFamily="2" charset="2"/>
              <a:buBlip>
                <a:blip r:embed="rId5"/>
              </a:buBlip>
              <a:tabLst>
                <a:tab pos="339725" algn="l"/>
              </a:tabLst>
            </a:pPr>
            <a:r>
              <a:rPr lang="en-US" sz="2400" b="1">
                <a:latin typeface="Arial" pitchFamily="34" charset="0"/>
                <a:cs typeface="Arial" pitchFamily="34" charset="0"/>
              </a:rPr>
              <a:t>0-9 </a:t>
            </a:r>
          </a:p>
          <a:p>
            <a:pPr marL="354013" lvl="1" indent="-352425" algn="l">
              <a:spcBef>
                <a:spcPct val="40000"/>
              </a:spcBef>
              <a:buClr>
                <a:srgbClr val="8DACD0"/>
              </a:buClr>
              <a:buSzPct val="70000"/>
              <a:buFont typeface="Wingdings" pitchFamily="2" charset="2"/>
              <a:buBlip>
                <a:blip r:embed="rId5"/>
              </a:buBlip>
              <a:tabLst>
                <a:tab pos="339725" algn="l"/>
              </a:tabLst>
            </a:pPr>
            <a:r>
              <a:rPr lang="en-GB" sz="2400" b="1">
                <a:solidFill>
                  <a:srgbClr val="000000"/>
                </a:solidFill>
                <a:latin typeface="Arial" pitchFamily="34" charset="0"/>
                <a:cs typeface="Arial" pitchFamily="34" charset="0"/>
              </a:rPr>
              <a:t>Trait </a:t>
            </a:r>
            <a:r>
              <a:rPr lang="en-GB" sz="2400" b="1" err="1">
                <a:solidFill>
                  <a:srgbClr val="000000"/>
                </a:solidFill>
                <a:latin typeface="Arial" pitchFamily="34" charset="0"/>
                <a:cs typeface="Arial" pitchFamily="34" charset="0"/>
              </a:rPr>
              <a:t>d'union</a:t>
            </a:r>
            <a:r>
              <a:rPr lang="en-GB" sz="2400" b="1">
                <a:solidFill>
                  <a:srgbClr val="000000"/>
                </a:solidFill>
                <a:latin typeface="Arial" pitchFamily="34" charset="0"/>
                <a:cs typeface="Arial" pitchFamily="34" charset="0"/>
              </a:rPr>
              <a:t> (-) </a:t>
            </a:r>
            <a:endParaRPr lang="en-US" sz="2400" b="1">
              <a:latin typeface="Arial" pitchFamily="34" charset="0"/>
              <a:cs typeface="Arial" pitchFamily="34" charset="0"/>
            </a:endParaRPr>
          </a:p>
          <a:p>
            <a:pPr algn="l">
              <a:spcBef>
                <a:spcPct val="40000"/>
              </a:spcBef>
              <a:buClr>
                <a:srgbClr val="8DACD0"/>
              </a:buClr>
              <a:buSzPct val="70000"/>
              <a:buFont typeface="Wingdings" pitchFamily="2" charset="2"/>
              <a:buNone/>
              <a:tabLst>
                <a:tab pos="339725" algn="l"/>
              </a:tabLst>
            </a:pPr>
            <a:r>
              <a:rPr lang="en-GB" sz="2400" b="1">
                <a:solidFill>
                  <a:srgbClr val="000000"/>
                </a:solidFill>
                <a:latin typeface="Arial" pitchFamily="34" charset="0"/>
                <a:cs typeface="Arial" pitchFamily="34" charset="0"/>
              </a:rPr>
              <a:t>Le trait de </a:t>
            </a:r>
            <a:r>
              <a:rPr lang="en-GB" sz="2400" b="1" err="1">
                <a:solidFill>
                  <a:srgbClr val="000000"/>
                </a:solidFill>
                <a:latin typeface="Arial" pitchFamily="34" charset="0"/>
                <a:cs typeface="Arial" pitchFamily="34" charset="0"/>
              </a:rPr>
              <a:t>soulignement</a:t>
            </a:r>
            <a:r>
              <a:rPr lang="en-GB" sz="2400" b="1">
                <a:solidFill>
                  <a:srgbClr val="000000"/>
                </a:solidFill>
                <a:latin typeface="Arial" pitchFamily="34" charset="0"/>
                <a:cs typeface="Arial" pitchFamily="34" charset="0"/>
              </a:rPr>
              <a:t> (_) </a:t>
            </a:r>
            <a:r>
              <a:rPr lang="en-GB" sz="2400" b="1" err="1">
                <a:solidFill>
                  <a:srgbClr val="000000"/>
                </a:solidFill>
                <a:latin typeface="Arial" pitchFamily="34" charset="0"/>
                <a:cs typeface="Arial" pitchFamily="34" charset="0"/>
              </a:rPr>
              <a:t>est</a:t>
            </a:r>
            <a:r>
              <a:rPr lang="en-GB" sz="2400" b="1">
                <a:solidFill>
                  <a:srgbClr val="000000"/>
                </a:solidFill>
                <a:latin typeface="Arial" pitchFamily="34" charset="0"/>
                <a:cs typeface="Arial" pitchFamily="34" charset="0"/>
              </a:rPr>
              <a:t> un </a:t>
            </a:r>
            <a:r>
              <a:rPr lang="en-GB" sz="2400" b="1" err="1">
                <a:solidFill>
                  <a:srgbClr val="000000"/>
                </a:solidFill>
                <a:latin typeface="Arial" pitchFamily="34" charset="0"/>
                <a:cs typeface="Arial" pitchFamily="34" charset="0"/>
              </a:rPr>
              <a:t>caractère</a:t>
            </a:r>
            <a:r>
              <a:rPr lang="en-GB" sz="2400" b="1">
                <a:solidFill>
                  <a:srgbClr val="000000"/>
                </a:solidFill>
                <a:latin typeface="Arial" pitchFamily="34" charset="0"/>
                <a:cs typeface="Arial" pitchFamily="34" charset="0"/>
              </a:rPr>
              <a:t> </a:t>
            </a:r>
            <a:r>
              <a:rPr lang="en-GB" sz="2400" b="1" err="1">
                <a:solidFill>
                  <a:srgbClr val="000000"/>
                </a:solidFill>
                <a:latin typeface="Arial" pitchFamily="34" charset="0"/>
                <a:cs typeface="Arial" pitchFamily="34" charset="0"/>
              </a:rPr>
              <a:t>réservé</a:t>
            </a:r>
            <a:endParaRPr lang="en-US" sz="2400" b="1">
              <a:latin typeface="Arial" pitchFamily="34" charset="0"/>
              <a:cs typeface="Arial" pitchFamily="34" charset="0"/>
            </a:endParaRPr>
          </a:p>
          <a:p>
            <a:pPr marL="354013" lvl="1" indent="-352425" algn="l" eaLnBrk="1" hangingPunct="1">
              <a:tabLst>
                <a:tab pos="339725" algn="l"/>
              </a:tabLst>
            </a:pPr>
            <a:endParaRPr lang="en-US" b="1">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7</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05191">
                                            <p:txEl>
                                              <p:pRg st="0" end="0"/>
                                            </p:txEl>
                                          </p:spTgt>
                                        </p:tgtEl>
                                        <p:attrNameLst>
                                          <p:attrName>style.visibility</p:attrName>
                                        </p:attrNameLst>
                                      </p:cBhvr>
                                      <p:to>
                                        <p:strVal val="visible"/>
                                      </p:to>
                                    </p:set>
                                    <p:animEffect transition="in" filter="checkerboard(across)">
                                      <p:cBhvr>
                                        <p:cTn id="7" dur="500"/>
                                        <p:tgtEl>
                                          <p:spTgt spid="605191">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05191">
                                            <p:txEl>
                                              <p:pRg st="1" end="1"/>
                                            </p:txEl>
                                          </p:spTgt>
                                        </p:tgtEl>
                                        <p:attrNameLst>
                                          <p:attrName>style.visibility</p:attrName>
                                        </p:attrNameLst>
                                      </p:cBhvr>
                                      <p:to>
                                        <p:strVal val="visible"/>
                                      </p:to>
                                    </p:set>
                                    <p:animEffect transition="in" filter="checkerboard(across)">
                                      <p:cBhvr>
                                        <p:cTn id="10" dur="500"/>
                                        <p:tgtEl>
                                          <p:spTgt spid="605191">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605191">
                                            <p:txEl>
                                              <p:pRg st="2" end="2"/>
                                            </p:txEl>
                                          </p:spTgt>
                                        </p:tgtEl>
                                        <p:attrNameLst>
                                          <p:attrName>style.visibility</p:attrName>
                                        </p:attrNameLst>
                                      </p:cBhvr>
                                      <p:to>
                                        <p:strVal val="visible"/>
                                      </p:to>
                                    </p:set>
                                    <p:animEffect transition="in" filter="checkerboard(across)">
                                      <p:cBhvr>
                                        <p:cTn id="13" dur="500"/>
                                        <p:tgtEl>
                                          <p:spTgt spid="605191">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605191">
                                            <p:txEl>
                                              <p:pRg st="3" end="3"/>
                                            </p:txEl>
                                          </p:spTgt>
                                        </p:tgtEl>
                                        <p:attrNameLst>
                                          <p:attrName>style.visibility</p:attrName>
                                        </p:attrNameLst>
                                      </p:cBhvr>
                                      <p:to>
                                        <p:strVal val="visible"/>
                                      </p:to>
                                    </p:set>
                                    <p:animEffect transition="in" filter="checkerboard(across)">
                                      <p:cBhvr>
                                        <p:cTn id="16" dur="500"/>
                                        <p:tgtEl>
                                          <p:spTgt spid="605191">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605191">
                                            <p:txEl>
                                              <p:pRg st="4" end="4"/>
                                            </p:txEl>
                                          </p:spTgt>
                                        </p:tgtEl>
                                        <p:attrNameLst>
                                          <p:attrName>style.visibility</p:attrName>
                                        </p:attrNameLst>
                                      </p:cBhvr>
                                      <p:to>
                                        <p:strVal val="visible"/>
                                      </p:to>
                                    </p:set>
                                    <p:animEffect transition="in" filter="checkerboard(across)">
                                      <p:cBhvr>
                                        <p:cTn id="19" dur="500"/>
                                        <p:tgtEl>
                                          <p:spTgt spid="605191">
                                            <p:txEl>
                                              <p:pRg st="4" end="4"/>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605191">
                                            <p:txEl>
                                              <p:pRg st="5" end="5"/>
                                            </p:txEl>
                                          </p:spTgt>
                                        </p:tgtEl>
                                        <p:attrNameLst>
                                          <p:attrName>style.visibility</p:attrName>
                                        </p:attrNameLst>
                                      </p:cBhvr>
                                      <p:to>
                                        <p:strVal val="visible"/>
                                      </p:to>
                                    </p:set>
                                    <p:animEffect transition="in" filter="checkerboard(across)">
                                      <p:cBhvr>
                                        <p:cTn id="22" dur="500"/>
                                        <p:tgtEl>
                                          <p:spTgt spid="6051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2" name="Rectangle 4"/>
          <p:cNvSpPr>
            <a:spLocks noGrp="1" noChangeArrowheads="1"/>
          </p:cNvSpPr>
          <p:nvPr>
            <p:ph type="title"/>
            <p:custDataLst>
              <p:tags r:id="rId1"/>
            </p:custDataLst>
          </p:nvPr>
        </p:nvSpPr>
        <p:spPr>
          <a:xfrm>
            <a:off x="0" y="101598"/>
            <a:ext cx="9144000" cy="1132692"/>
          </a:xfrm>
        </p:spPr>
        <p:txBody>
          <a:bodyPr>
            <a:noAutofit/>
          </a:bodyPr>
          <a:lstStyle/>
          <a:p>
            <a:r>
              <a:rPr lang="fr-FR" sz="3200" b="1">
                <a:solidFill>
                  <a:srgbClr val="000000"/>
                </a:solidFill>
              </a:rPr>
              <a:t>2. Configuration des propriétés du service Serveur DNS</a:t>
            </a:r>
            <a:endParaRPr lang="en-US" sz="3200" b="1">
              <a:solidFill>
                <a:srgbClr val="000000"/>
              </a:solidFill>
            </a:endParaRPr>
          </a:p>
        </p:txBody>
      </p:sp>
      <p:sp>
        <p:nvSpPr>
          <p:cNvPr id="693253" name="Rectangle 5"/>
          <p:cNvSpPr>
            <a:spLocks noGrp="1" noChangeArrowheads="1"/>
          </p:cNvSpPr>
          <p:nvPr>
            <p:ph sz="quarter" idx="1"/>
            <p:custDataLst>
              <p:tags r:id="rId2"/>
            </p:custDataLst>
          </p:nvPr>
        </p:nvSpPr>
        <p:spPr/>
        <p:txBody>
          <a:bodyPr/>
          <a:lstStyle/>
          <a:p>
            <a:pPr>
              <a:buClrTx/>
              <a:buFont typeface="Symbol" pitchFamily="18" charset="2"/>
              <a:buChar char="®"/>
            </a:pPr>
            <a:r>
              <a:rPr lang="en-GB" dirty="0" err="1">
                <a:solidFill>
                  <a:srgbClr val="000000"/>
                </a:solidFill>
              </a:rPr>
              <a:t>Quels</a:t>
            </a:r>
            <a:r>
              <a:rPr lang="en-GB" dirty="0">
                <a:solidFill>
                  <a:srgbClr val="000000"/>
                </a:solidFill>
              </a:rPr>
              <a:t> </a:t>
            </a:r>
            <a:r>
              <a:rPr lang="en-GB" dirty="0" err="1">
                <a:solidFill>
                  <a:srgbClr val="000000"/>
                </a:solidFill>
              </a:rPr>
              <a:t>sont</a:t>
            </a:r>
            <a:r>
              <a:rPr lang="en-GB" dirty="0">
                <a:solidFill>
                  <a:srgbClr val="000000"/>
                </a:solidFill>
              </a:rPr>
              <a:t> les </a:t>
            </a:r>
            <a:r>
              <a:rPr lang="en-GB" dirty="0" err="1">
                <a:solidFill>
                  <a:srgbClr val="000000"/>
                </a:solidFill>
              </a:rPr>
              <a:t>composants</a:t>
            </a:r>
            <a:r>
              <a:rPr lang="en-GB" dirty="0">
                <a:solidFill>
                  <a:srgbClr val="000000"/>
                </a:solidFill>
              </a:rPr>
              <a:t> </a:t>
            </a:r>
            <a:r>
              <a:rPr lang="en-GB" dirty="0" err="1">
                <a:solidFill>
                  <a:srgbClr val="000000"/>
                </a:solidFill>
              </a:rPr>
              <a:t>d'une</a:t>
            </a:r>
            <a:r>
              <a:rPr lang="en-GB" dirty="0">
                <a:solidFill>
                  <a:srgbClr val="000000"/>
                </a:solidFill>
              </a:rPr>
              <a:t> solution DNS ?</a:t>
            </a:r>
            <a:endParaRPr lang="en-US" dirty="0"/>
          </a:p>
          <a:p>
            <a:pPr>
              <a:buClrTx/>
              <a:buFont typeface="Symbol" pitchFamily="18" charset="2"/>
              <a:buChar char="®"/>
            </a:pPr>
            <a:r>
              <a:rPr lang="en-GB" dirty="0" err="1">
                <a:solidFill>
                  <a:srgbClr val="000000"/>
                </a:solidFill>
              </a:rPr>
              <a:t>Qu'est-ce</a:t>
            </a:r>
            <a:r>
              <a:rPr lang="en-GB" dirty="0">
                <a:solidFill>
                  <a:srgbClr val="000000"/>
                </a:solidFill>
              </a:rPr>
              <a:t> </a:t>
            </a:r>
            <a:r>
              <a:rPr lang="en-GB" dirty="0" err="1">
                <a:solidFill>
                  <a:srgbClr val="000000"/>
                </a:solidFill>
              </a:rPr>
              <a:t>qu'une</a:t>
            </a:r>
            <a:r>
              <a:rPr lang="en-GB" dirty="0">
                <a:solidFill>
                  <a:srgbClr val="000000"/>
                </a:solidFill>
              </a:rPr>
              <a:t> </a:t>
            </a:r>
            <a:r>
              <a:rPr lang="en-GB" dirty="0" err="1">
                <a:solidFill>
                  <a:srgbClr val="000000"/>
                </a:solidFill>
              </a:rPr>
              <a:t>requête</a:t>
            </a:r>
            <a:r>
              <a:rPr lang="en-GB" dirty="0">
                <a:solidFill>
                  <a:srgbClr val="000000"/>
                </a:solidFill>
              </a:rPr>
              <a:t> DNS ?</a:t>
            </a:r>
            <a:endParaRPr lang="en-US" dirty="0"/>
          </a:p>
          <a:p>
            <a:pPr>
              <a:buClrTx/>
              <a:buFont typeface="Symbol" pitchFamily="18" charset="2"/>
              <a:buChar char="®"/>
            </a:pPr>
            <a:r>
              <a:rPr lang="en-GB" dirty="0" err="1">
                <a:solidFill>
                  <a:srgbClr val="000000"/>
                </a:solidFill>
              </a:rPr>
              <a:t>Fonctionnement</a:t>
            </a:r>
            <a:r>
              <a:rPr lang="en-GB" dirty="0">
                <a:solidFill>
                  <a:srgbClr val="000000"/>
                </a:solidFill>
              </a:rPr>
              <a:t> des </a:t>
            </a:r>
            <a:r>
              <a:rPr lang="en-GB" dirty="0" err="1">
                <a:solidFill>
                  <a:srgbClr val="000000"/>
                </a:solidFill>
              </a:rPr>
              <a:t>requêtes</a:t>
            </a:r>
            <a:r>
              <a:rPr lang="en-GB" dirty="0">
                <a:solidFill>
                  <a:srgbClr val="000000"/>
                </a:solidFill>
              </a:rPr>
              <a:t> </a:t>
            </a:r>
            <a:r>
              <a:rPr lang="en-GB" dirty="0" err="1">
                <a:solidFill>
                  <a:srgbClr val="000000"/>
                </a:solidFill>
              </a:rPr>
              <a:t>récursives</a:t>
            </a:r>
            <a:endParaRPr lang="en-US" dirty="0"/>
          </a:p>
          <a:p>
            <a:pPr>
              <a:buClrTx/>
              <a:buFont typeface="Symbol" pitchFamily="18" charset="2"/>
              <a:buChar char="®"/>
            </a:pPr>
            <a:r>
              <a:rPr lang="en-GB" dirty="0" err="1">
                <a:solidFill>
                  <a:srgbClr val="000000"/>
                </a:solidFill>
              </a:rPr>
              <a:t>Fonctionnement</a:t>
            </a:r>
            <a:r>
              <a:rPr lang="en-GB" dirty="0">
                <a:solidFill>
                  <a:srgbClr val="000000"/>
                </a:solidFill>
              </a:rPr>
              <a:t> des indications de </a:t>
            </a:r>
            <a:r>
              <a:rPr lang="en-GB" dirty="0" err="1">
                <a:solidFill>
                  <a:srgbClr val="000000"/>
                </a:solidFill>
              </a:rPr>
              <a:t>racine</a:t>
            </a:r>
            <a:endParaRPr lang="en-US" dirty="0"/>
          </a:p>
          <a:p>
            <a:pPr>
              <a:buClrTx/>
              <a:buFont typeface="Symbol" pitchFamily="18" charset="2"/>
              <a:buChar char="®"/>
            </a:pPr>
            <a:r>
              <a:rPr lang="en-GB" dirty="0" err="1">
                <a:solidFill>
                  <a:srgbClr val="000000"/>
                </a:solidFill>
              </a:rPr>
              <a:t>Fonctionnement</a:t>
            </a:r>
            <a:r>
              <a:rPr lang="en-GB" dirty="0">
                <a:solidFill>
                  <a:srgbClr val="000000"/>
                </a:solidFill>
              </a:rPr>
              <a:t> des </a:t>
            </a:r>
            <a:r>
              <a:rPr lang="en-GB" dirty="0" err="1">
                <a:solidFill>
                  <a:srgbClr val="000000"/>
                </a:solidFill>
              </a:rPr>
              <a:t>requêtes</a:t>
            </a:r>
            <a:r>
              <a:rPr lang="en-GB" dirty="0">
                <a:solidFill>
                  <a:srgbClr val="000000"/>
                </a:solidFill>
              </a:rPr>
              <a:t> </a:t>
            </a:r>
            <a:r>
              <a:rPr lang="en-GB" dirty="0" err="1">
                <a:solidFill>
                  <a:srgbClr val="000000"/>
                </a:solidFill>
              </a:rPr>
              <a:t>itératives</a:t>
            </a:r>
            <a:endParaRPr lang="en-US" dirty="0"/>
          </a:p>
          <a:p>
            <a:pPr>
              <a:buClrTx/>
              <a:buFont typeface="Symbol" pitchFamily="18" charset="2"/>
              <a:buChar char="®"/>
            </a:pPr>
            <a:r>
              <a:rPr lang="en-GB" dirty="0" err="1">
                <a:solidFill>
                  <a:srgbClr val="000000"/>
                </a:solidFill>
              </a:rPr>
              <a:t>Fonctionnement</a:t>
            </a:r>
            <a:r>
              <a:rPr lang="en-GB" dirty="0">
                <a:solidFill>
                  <a:srgbClr val="000000"/>
                </a:solidFill>
              </a:rPr>
              <a:t> des </a:t>
            </a:r>
            <a:r>
              <a:rPr lang="en-GB" dirty="0" err="1">
                <a:solidFill>
                  <a:srgbClr val="000000"/>
                </a:solidFill>
              </a:rPr>
              <a:t>redirecteurs</a:t>
            </a:r>
            <a:endParaRPr lang="en-US" dirty="0"/>
          </a:p>
          <a:p>
            <a:pPr>
              <a:buClrTx/>
              <a:buFont typeface="Symbol" pitchFamily="18" charset="2"/>
              <a:buChar char="®"/>
            </a:pPr>
            <a:r>
              <a:rPr lang="en-GB" dirty="0" err="1">
                <a:solidFill>
                  <a:srgbClr val="000000"/>
                </a:solidFill>
              </a:rPr>
              <a:t>Fonctionnement</a:t>
            </a:r>
            <a:r>
              <a:rPr lang="en-GB" dirty="0">
                <a:solidFill>
                  <a:srgbClr val="000000"/>
                </a:solidFill>
              </a:rPr>
              <a:t> de la </a:t>
            </a:r>
            <a:r>
              <a:rPr lang="en-GB" dirty="0" err="1">
                <a:solidFill>
                  <a:srgbClr val="000000"/>
                </a:solidFill>
              </a:rPr>
              <a:t>mise</a:t>
            </a:r>
            <a:r>
              <a:rPr lang="en-GB" dirty="0">
                <a:solidFill>
                  <a:srgbClr val="000000"/>
                </a:solidFill>
              </a:rPr>
              <a:t> en cache du </a:t>
            </a:r>
            <a:r>
              <a:rPr lang="en-GB" dirty="0" err="1">
                <a:solidFill>
                  <a:srgbClr val="000000"/>
                </a:solidFill>
              </a:rPr>
              <a:t>serveur</a:t>
            </a:r>
            <a:r>
              <a:rPr lang="en-GB" dirty="0">
                <a:solidFill>
                  <a:srgbClr val="000000"/>
                </a:solidFill>
              </a:rPr>
              <a:t> DNS</a:t>
            </a:r>
            <a:endParaRPr lang="en-US" dirty="0"/>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8</a:t>
            </a:fld>
            <a:endParaRPr kumimoji="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custDataLst>
              <p:tags r:id="rId1"/>
            </p:custDataLst>
          </p:nvPr>
        </p:nvSpPr>
        <p:spPr>
          <a:xfrm>
            <a:off x="301752" y="475338"/>
            <a:ext cx="8534400" cy="758952"/>
          </a:xfrm>
        </p:spPr>
        <p:txBody>
          <a:bodyPr>
            <a:normAutofit fontScale="90000"/>
          </a:bodyPr>
          <a:lstStyle/>
          <a:p>
            <a:r>
              <a:rPr lang="fr-FR" b="1">
                <a:solidFill>
                  <a:srgbClr val="C00000"/>
                </a:solidFill>
              </a:rPr>
              <a:t>Quels sont les composants d'une solution DNS ?</a:t>
            </a:r>
            <a:endParaRPr lang="en-US" b="1">
              <a:solidFill>
                <a:srgbClr val="C00000"/>
              </a:solidFill>
            </a:endParaRPr>
          </a:p>
        </p:txBody>
      </p:sp>
      <p:sp>
        <p:nvSpPr>
          <p:cNvPr id="719992" name="Rectangle 120"/>
          <p:cNvSpPr>
            <a:spLocks noChangeArrowheads="1"/>
          </p:cNvSpPr>
          <p:nvPr>
            <p:custDataLst>
              <p:tags r:id="rId2"/>
            </p:custDataLst>
          </p:nvPr>
        </p:nvSpPr>
        <p:spPr bwMode="auto">
          <a:xfrm>
            <a:off x="5027613" y="1220788"/>
            <a:ext cx="3564844" cy="4599441"/>
          </a:xfrm>
          <a:prstGeom prst="rect">
            <a:avLst/>
          </a:prstGeom>
          <a:solidFill>
            <a:schemeClr val="accent2">
              <a:alpha val="80000"/>
            </a:schemeClr>
          </a:solidFill>
          <a:ln w="9525" algn="ctr">
            <a:noFill/>
            <a:miter lim="800000"/>
            <a:headEnd/>
            <a:tailEnd/>
          </a:ln>
          <a:effectLst/>
        </p:spPr>
        <p:txBody>
          <a:bodyPr wrap="none" bIns="228600" anchor="b"/>
          <a:lstStyle/>
          <a:p>
            <a:r>
              <a:rPr lang="en-GB" sz="2400" b="1" err="1">
                <a:solidFill>
                  <a:srgbClr val="000000"/>
                </a:solidFill>
              </a:rPr>
              <a:t>Serveurs</a:t>
            </a:r>
            <a:r>
              <a:rPr lang="en-GB" sz="2400" b="1">
                <a:solidFill>
                  <a:srgbClr val="000000"/>
                </a:solidFill>
              </a:rPr>
              <a:t> DNS </a:t>
            </a:r>
            <a:r>
              <a:rPr lang="en-GB" sz="2400" b="1" err="1">
                <a:solidFill>
                  <a:srgbClr val="000000"/>
                </a:solidFill>
              </a:rPr>
              <a:t>sur</a:t>
            </a:r>
            <a:r>
              <a:rPr lang="en-GB" sz="2400" b="1">
                <a:solidFill>
                  <a:srgbClr val="000000"/>
                </a:solidFill>
              </a:rPr>
              <a:t> Internet</a:t>
            </a:r>
            <a:endParaRPr lang="en-US" sz="2400" b="1"/>
          </a:p>
        </p:txBody>
      </p:sp>
      <p:sp>
        <p:nvSpPr>
          <p:cNvPr id="719993" name="Rectangle 121"/>
          <p:cNvSpPr>
            <a:spLocks noChangeArrowheads="1"/>
          </p:cNvSpPr>
          <p:nvPr>
            <p:custDataLst>
              <p:tags r:id="rId3"/>
            </p:custDataLst>
          </p:nvPr>
        </p:nvSpPr>
        <p:spPr bwMode="auto">
          <a:xfrm>
            <a:off x="2876550" y="1220788"/>
            <a:ext cx="2098675" cy="4599441"/>
          </a:xfrm>
          <a:prstGeom prst="rect">
            <a:avLst/>
          </a:prstGeom>
          <a:solidFill>
            <a:srgbClr val="ADE2A1">
              <a:alpha val="80000"/>
            </a:srgbClr>
          </a:solidFill>
          <a:ln w="9525" algn="ctr">
            <a:noFill/>
            <a:miter lim="800000"/>
            <a:headEnd/>
            <a:tailEnd/>
          </a:ln>
          <a:effectLst/>
        </p:spPr>
        <p:txBody>
          <a:bodyPr wrap="none" bIns="228600" anchor="b"/>
          <a:lstStyle/>
          <a:p>
            <a:r>
              <a:rPr lang="en-GB" sz="2400" b="1" err="1">
                <a:solidFill>
                  <a:srgbClr val="000000"/>
                </a:solidFill>
              </a:rPr>
              <a:t>Serveurs</a:t>
            </a:r>
            <a:r>
              <a:rPr lang="en-GB" sz="2400" b="1">
                <a:solidFill>
                  <a:srgbClr val="000000"/>
                </a:solidFill>
              </a:rPr>
              <a:t> DNS</a:t>
            </a:r>
            <a:endParaRPr lang="en-US" sz="2400" b="1"/>
          </a:p>
        </p:txBody>
      </p:sp>
      <p:sp>
        <p:nvSpPr>
          <p:cNvPr id="719994" name="Rectangle 122"/>
          <p:cNvSpPr>
            <a:spLocks noChangeArrowheads="1"/>
          </p:cNvSpPr>
          <p:nvPr>
            <p:custDataLst>
              <p:tags r:id="rId4"/>
            </p:custDataLst>
          </p:nvPr>
        </p:nvSpPr>
        <p:spPr bwMode="auto">
          <a:xfrm>
            <a:off x="420914" y="1220788"/>
            <a:ext cx="2403249" cy="4584926"/>
          </a:xfrm>
          <a:prstGeom prst="rect">
            <a:avLst/>
          </a:prstGeom>
          <a:solidFill>
            <a:schemeClr val="accent2">
              <a:alpha val="80000"/>
            </a:schemeClr>
          </a:solidFill>
          <a:ln w="9525" algn="ctr">
            <a:noFill/>
            <a:miter lim="800000"/>
            <a:headEnd/>
            <a:tailEnd/>
          </a:ln>
          <a:effectLst/>
        </p:spPr>
        <p:txBody>
          <a:bodyPr wrap="none" bIns="228600" anchor="b"/>
          <a:lstStyle/>
          <a:p>
            <a:r>
              <a:rPr lang="en-GB" sz="2400" b="1">
                <a:solidFill>
                  <a:srgbClr val="000000"/>
                </a:solidFill>
              </a:rPr>
              <a:t>Clients DNS</a:t>
            </a:r>
            <a:endParaRPr lang="en-US" sz="2400" b="1"/>
          </a:p>
        </p:txBody>
      </p:sp>
      <p:sp>
        <p:nvSpPr>
          <p:cNvPr id="719995" name="Line 123"/>
          <p:cNvSpPr>
            <a:spLocks noChangeShapeType="1"/>
          </p:cNvSpPr>
          <p:nvPr>
            <p:custDataLst>
              <p:tags r:id="rId5"/>
            </p:custDataLst>
          </p:nvPr>
        </p:nvSpPr>
        <p:spPr bwMode="auto">
          <a:xfrm>
            <a:off x="3325813" y="2730051"/>
            <a:ext cx="1974850" cy="565150"/>
          </a:xfrm>
          <a:prstGeom prst="line">
            <a:avLst/>
          </a:prstGeom>
          <a:noFill/>
          <a:ln w="57150">
            <a:solidFill>
              <a:srgbClr val="333333"/>
            </a:solidFill>
            <a:prstDash val="sysDot"/>
            <a:round/>
            <a:headEnd/>
            <a:tailEnd/>
          </a:ln>
          <a:effectLst/>
        </p:spPr>
        <p:txBody>
          <a:bodyPr anchor="ctr"/>
          <a:lstStyle/>
          <a:p>
            <a:endParaRPr lang="fr-FR"/>
          </a:p>
        </p:txBody>
      </p:sp>
      <p:pic>
        <p:nvPicPr>
          <p:cNvPr id="719996" name="Picture 124" descr="Site01"/>
          <p:cNvPicPr>
            <a:picLocks noChangeAspect="1" noChangeArrowheads="1"/>
          </p:cNvPicPr>
          <p:nvPr>
            <p:custDataLst>
              <p:tags r:id="rId6"/>
            </p:custDataLst>
          </p:nvPr>
        </p:nvPicPr>
        <p:blipFill>
          <a:blip r:embed="rId33"/>
          <a:srcRect/>
          <a:stretch>
            <a:fillRect/>
          </a:stretch>
        </p:blipFill>
        <p:spPr bwMode="auto">
          <a:xfrm>
            <a:off x="1081088" y="1969639"/>
            <a:ext cx="2474912" cy="965200"/>
          </a:xfrm>
          <a:prstGeom prst="rect">
            <a:avLst/>
          </a:prstGeom>
          <a:noFill/>
        </p:spPr>
      </p:pic>
      <p:pic>
        <p:nvPicPr>
          <p:cNvPr id="719997" name="Picture 125" descr="Server01"/>
          <p:cNvPicPr>
            <a:picLocks noChangeAspect="1" noChangeArrowheads="1"/>
          </p:cNvPicPr>
          <p:nvPr>
            <p:custDataLst>
              <p:tags r:id="rId7"/>
            </p:custDataLst>
          </p:nvPr>
        </p:nvPicPr>
        <p:blipFill>
          <a:blip r:embed="rId34" cstate="print"/>
          <a:srcRect/>
          <a:stretch>
            <a:fillRect/>
          </a:stretch>
        </p:blipFill>
        <p:spPr bwMode="auto">
          <a:xfrm>
            <a:off x="3109913" y="1249968"/>
            <a:ext cx="1128258" cy="1326096"/>
          </a:xfrm>
          <a:prstGeom prst="rect">
            <a:avLst/>
          </a:prstGeom>
          <a:noFill/>
        </p:spPr>
      </p:pic>
      <p:pic>
        <p:nvPicPr>
          <p:cNvPr id="719998" name="Picture 126" descr="Computer_DesktopComputerSansKeyboard01"/>
          <p:cNvPicPr>
            <a:picLocks noChangeAspect="1" noChangeArrowheads="1"/>
          </p:cNvPicPr>
          <p:nvPr>
            <p:custDataLst>
              <p:tags r:id="rId8"/>
            </p:custDataLst>
          </p:nvPr>
        </p:nvPicPr>
        <p:blipFill>
          <a:blip r:embed="rId35" cstate="print"/>
          <a:srcRect/>
          <a:stretch>
            <a:fillRect/>
          </a:stretch>
        </p:blipFill>
        <p:spPr bwMode="auto">
          <a:xfrm>
            <a:off x="969185" y="2360164"/>
            <a:ext cx="875490" cy="1065212"/>
          </a:xfrm>
          <a:prstGeom prst="rect">
            <a:avLst/>
          </a:prstGeom>
          <a:noFill/>
        </p:spPr>
      </p:pic>
      <p:pic>
        <p:nvPicPr>
          <p:cNvPr id="719999" name="Picture 127" descr="Server01"/>
          <p:cNvPicPr>
            <a:picLocks noChangeAspect="1" noChangeArrowheads="1"/>
          </p:cNvPicPr>
          <p:nvPr>
            <p:custDataLst>
              <p:tags r:id="rId9"/>
            </p:custDataLst>
          </p:nvPr>
        </p:nvPicPr>
        <p:blipFill>
          <a:blip r:embed="rId36" cstate="print"/>
          <a:srcRect/>
          <a:stretch>
            <a:fillRect/>
          </a:stretch>
        </p:blipFill>
        <p:spPr bwMode="auto">
          <a:xfrm>
            <a:off x="1405172" y="1233719"/>
            <a:ext cx="1017353" cy="1196295"/>
          </a:xfrm>
          <a:prstGeom prst="rect">
            <a:avLst/>
          </a:prstGeom>
          <a:noFill/>
        </p:spPr>
      </p:pic>
      <p:pic>
        <p:nvPicPr>
          <p:cNvPr id="720001" name="Picture 129" descr="Site01"/>
          <p:cNvPicPr>
            <a:picLocks noChangeAspect="1" noChangeArrowheads="1"/>
          </p:cNvPicPr>
          <p:nvPr>
            <p:custDataLst>
              <p:tags r:id="rId10"/>
            </p:custDataLst>
          </p:nvPr>
        </p:nvPicPr>
        <p:blipFill>
          <a:blip r:embed="rId33"/>
          <a:srcRect/>
          <a:stretch>
            <a:fillRect/>
          </a:stretch>
        </p:blipFill>
        <p:spPr bwMode="auto">
          <a:xfrm>
            <a:off x="1081088" y="3888926"/>
            <a:ext cx="2474912" cy="965200"/>
          </a:xfrm>
          <a:prstGeom prst="rect">
            <a:avLst/>
          </a:prstGeom>
          <a:noFill/>
        </p:spPr>
      </p:pic>
      <p:pic>
        <p:nvPicPr>
          <p:cNvPr id="720002" name="Picture 130" descr="Server01"/>
          <p:cNvPicPr>
            <a:picLocks noChangeAspect="1" noChangeArrowheads="1"/>
          </p:cNvPicPr>
          <p:nvPr>
            <p:custDataLst>
              <p:tags r:id="rId11"/>
            </p:custDataLst>
          </p:nvPr>
        </p:nvPicPr>
        <p:blipFill>
          <a:blip r:embed="rId34" cstate="print"/>
          <a:srcRect/>
          <a:stretch>
            <a:fillRect/>
          </a:stretch>
        </p:blipFill>
        <p:spPr bwMode="auto">
          <a:xfrm>
            <a:off x="2977355" y="4020462"/>
            <a:ext cx="1046958" cy="1230539"/>
          </a:xfrm>
          <a:prstGeom prst="rect">
            <a:avLst/>
          </a:prstGeom>
          <a:noFill/>
        </p:spPr>
      </p:pic>
      <p:pic>
        <p:nvPicPr>
          <p:cNvPr id="720004" name="Picture 132" descr="Computer_DesktopComputerSansKeyboard01"/>
          <p:cNvPicPr>
            <a:picLocks noChangeAspect="1" noChangeArrowheads="1"/>
          </p:cNvPicPr>
          <p:nvPr>
            <p:custDataLst>
              <p:tags r:id="rId12"/>
            </p:custDataLst>
          </p:nvPr>
        </p:nvPicPr>
        <p:blipFill>
          <a:blip r:embed="rId35" cstate="print"/>
          <a:srcRect/>
          <a:stretch>
            <a:fillRect/>
          </a:stretch>
        </p:blipFill>
        <p:spPr bwMode="auto">
          <a:xfrm>
            <a:off x="999754" y="3468920"/>
            <a:ext cx="844921" cy="1028020"/>
          </a:xfrm>
          <a:prstGeom prst="rect">
            <a:avLst/>
          </a:prstGeom>
          <a:noFill/>
        </p:spPr>
      </p:pic>
      <p:pic>
        <p:nvPicPr>
          <p:cNvPr id="720005" name="Picture 133" descr="LaptopComputer01"/>
          <p:cNvPicPr>
            <a:picLocks noChangeAspect="1" noChangeArrowheads="1"/>
          </p:cNvPicPr>
          <p:nvPr>
            <p:custDataLst>
              <p:tags r:id="rId13"/>
            </p:custDataLst>
          </p:nvPr>
        </p:nvPicPr>
        <p:blipFill>
          <a:blip r:embed="rId37" cstate="print"/>
          <a:srcRect/>
          <a:stretch>
            <a:fillRect/>
          </a:stretch>
        </p:blipFill>
        <p:spPr bwMode="auto">
          <a:xfrm>
            <a:off x="1579577" y="4281039"/>
            <a:ext cx="923911" cy="1016680"/>
          </a:xfrm>
          <a:prstGeom prst="rect">
            <a:avLst/>
          </a:prstGeom>
          <a:noFill/>
        </p:spPr>
      </p:pic>
      <p:sp>
        <p:nvSpPr>
          <p:cNvPr id="720006" name="Line 134"/>
          <p:cNvSpPr>
            <a:spLocks noChangeShapeType="1"/>
          </p:cNvSpPr>
          <p:nvPr>
            <p:custDataLst>
              <p:tags r:id="rId14"/>
            </p:custDataLst>
          </p:nvPr>
        </p:nvSpPr>
        <p:spPr bwMode="auto">
          <a:xfrm flipH="1">
            <a:off x="3338513" y="3592064"/>
            <a:ext cx="1936750" cy="488950"/>
          </a:xfrm>
          <a:prstGeom prst="line">
            <a:avLst/>
          </a:prstGeom>
          <a:noFill/>
          <a:ln w="57150">
            <a:solidFill>
              <a:srgbClr val="333333"/>
            </a:solidFill>
            <a:prstDash val="sysDot"/>
            <a:round/>
            <a:headEnd/>
            <a:tailEnd/>
          </a:ln>
          <a:effectLst/>
        </p:spPr>
        <p:txBody>
          <a:bodyPr anchor="ctr"/>
          <a:lstStyle/>
          <a:p>
            <a:endParaRPr lang="fr-FR"/>
          </a:p>
        </p:txBody>
      </p:sp>
      <p:sp>
        <p:nvSpPr>
          <p:cNvPr id="720007" name="Line 135"/>
          <p:cNvSpPr>
            <a:spLocks noChangeShapeType="1"/>
          </p:cNvSpPr>
          <p:nvPr>
            <p:custDataLst>
              <p:tags r:id="rId15"/>
            </p:custDataLst>
          </p:nvPr>
        </p:nvSpPr>
        <p:spPr bwMode="auto">
          <a:xfrm>
            <a:off x="2292350" y="2936426"/>
            <a:ext cx="0" cy="954088"/>
          </a:xfrm>
          <a:prstGeom prst="line">
            <a:avLst/>
          </a:prstGeom>
          <a:noFill/>
          <a:ln w="57150">
            <a:solidFill>
              <a:srgbClr val="333333"/>
            </a:solidFill>
            <a:prstDash val="sysDot"/>
            <a:round/>
            <a:headEnd/>
            <a:tailEnd/>
          </a:ln>
          <a:effectLst/>
        </p:spPr>
        <p:txBody>
          <a:bodyPr anchor="ctr"/>
          <a:lstStyle/>
          <a:p>
            <a:endParaRPr lang="fr-FR"/>
          </a:p>
        </p:txBody>
      </p:sp>
      <p:pic>
        <p:nvPicPr>
          <p:cNvPr id="720008" name="Picture 136" descr="Internet01"/>
          <p:cNvPicPr>
            <a:picLocks noChangeAspect="1" noChangeArrowheads="1"/>
          </p:cNvPicPr>
          <p:nvPr>
            <p:custDataLst>
              <p:tags r:id="rId16"/>
            </p:custDataLst>
          </p:nvPr>
        </p:nvPicPr>
        <p:blipFill>
          <a:blip r:embed="rId38"/>
          <a:srcRect/>
          <a:stretch>
            <a:fillRect/>
          </a:stretch>
        </p:blipFill>
        <p:spPr bwMode="auto">
          <a:xfrm>
            <a:off x="5260975" y="2587176"/>
            <a:ext cx="1973263" cy="1968500"/>
          </a:xfrm>
          <a:prstGeom prst="rect">
            <a:avLst/>
          </a:prstGeom>
          <a:noFill/>
        </p:spPr>
      </p:pic>
      <p:pic>
        <p:nvPicPr>
          <p:cNvPr id="720009" name="Picture 137" descr="Server01"/>
          <p:cNvPicPr>
            <a:picLocks noChangeAspect="1" noChangeArrowheads="1"/>
          </p:cNvPicPr>
          <p:nvPr>
            <p:custDataLst>
              <p:tags r:id="rId17"/>
            </p:custDataLst>
          </p:nvPr>
        </p:nvPicPr>
        <p:blipFill>
          <a:blip r:embed="rId36" cstate="print"/>
          <a:srcRect/>
          <a:stretch>
            <a:fillRect/>
          </a:stretch>
        </p:blipFill>
        <p:spPr bwMode="auto">
          <a:xfrm>
            <a:off x="6011863" y="1699548"/>
            <a:ext cx="1027566" cy="1208303"/>
          </a:xfrm>
          <a:prstGeom prst="rect">
            <a:avLst/>
          </a:prstGeom>
          <a:noFill/>
        </p:spPr>
      </p:pic>
      <p:sp>
        <p:nvSpPr>
          <p:cNvPr id="720010" name="AutoShape 138"/>
          <p:cNvSpPr>
            <a:spLocks noChangeArrowheads="1"/>
          </p:cNvSpPr>
          <p:nvPr>
            <p:custDataLst>
              <p:tags r:id="rId18"/>
            </p:custDataLst>
          </p:nvPr>
        </p:nvSpPr>
        <p:spPr bwMode="auto">
          <a:xfrm>
            <a:off x="6720114" y="1713371"/>
            <a:ext cx="1414649" cy="333148"/>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400" b="1">
                <a:solidFill>
                  <a:srgbClr val="000000"/>
                </a:solidFill>
              </a:rPr>
              <a:t>Racine « . »</a:t>
            </a:r>
            <a:endParaRPr lang="en-US" sz="2400" b="1"/>
          </a:p>
        </p:txBody>
      </p:sp>
      <p:pic>
        <p:nvPicPr>
          <p:cNvPr id="720011" name="Picture 139" descr="Server01"/>
          <p:cNvPicPr>
            <a:picLocks noChangeAspect="1" noChangeArrowheads="1"/>
          </p:cNvPicPr>
          <p:nvPr>
            <p:custDataLst>
              <p:tags r:id="rId19"/>
            </p:custDataLst>
          </p:nvPr>
        </p:nvPicPr>
        <p:blipFill>
          <a:blip r:embed="rId36" cstate="print"/>
          <a:srcRect/>
          <a:stretch>
            <a:fillRect/>
          </a:stretch>
        </p:blipFill>
        <p:spPr bwMode="auto">
          <a:xfrm>
            <a:off x="6908800" y="2648192"/>
            <a:ext cx="957943" cy="1126434"/>
          </a:xfrm>
          <a:prstGeom prst="rect">
            <a:avLst/>
          </a:prstGeom>
          <a:noFill/>
        </p:spPr>
      </p:pic>
      <p:sp>
        <p:nvSpPr>
          <p:cNvPr id="720012" name="AutoShape 140"/>
          <p:cNvSpPr>
            <a:spLocks noChangeArrowheads="1"/>
          </p:cNvSpPr>
          <p:nvPr>
            <p:custDataLst>
              <p:tags r:id="rId20"/>
            </p:custDataLst>
          </p:nvPr>
        </p:nvSpPr>
        <p:spPr bwMode="auto">
          <a:xfrm>
            <a:off x="7414531" y="2484443"/>
            <a:ext cx="745107" cy="3619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400" b="1">
                <a:solidFill>
                  <a:srgbClr val="000000"/>
                </a:solidFill>
              </a:rPr>
              <a:t>.com</a:t>
            </a:r>
            <a:endParaRPr lang="en-US" sz="2400" b="1">
              <a:solidFill>
                <a:srgbClr val="000000"/>
              </a:solidFill>
            </a:endParaRPr>
          </a:p>
        </p:txBody>
      </p:sp>
      <p:pic>
        <p:nvPicPr>
          <p:cNvPr id="720013" name="Picture 141" descr="Server01"/>
          <p:cNvPicPr>
            <a:picLocks noChangeAspect="1" noChangeArrowheads="1"/>
          </p:cNvPicPr>
          <p:nvPr>
            <p:custDataLst>
              <p:tags r:id="rId21"/>
            </p:custDataLst>
          </p:nvPr>
        </p:nvPicPr>
        <p:blipFill>
          <a:blip r:embed="rId36" cstate="print"/>
          <a:srcRect/>
          <a:stretch>
            <a:fillRect/>
          </a:stretch>
        </p:blipFill>
        <p:spPr bwMode="auto">
          <a:xfrm>
            <a:off x="6202363" y="3798763"/>
            <a:ext cx="1083808" cy="1274438"/>
          </a:xfrm>
          <a:prstGeom prst="rect">
            <a:avLst/>
          </a:prstGeom>
          <a:noFill/>
        </p:spPr>
      </p:pic>
      <p:sp>
        <p:nvSpPr>
          <p:cNvPr id="720014" name="AutoShape 142"/>
          <p:cNvSpPr>
            <a:spLocks noChangeArrowheads="1"/>
          </p:cNvSpPr>
          <p:nvPr>
            <p:custDataLst>
              <p:tags r:id="rId22"/>
            </p:custDataLst>
          </p:nvPr>
        </p:nvSpPr>
        <p:spPr bwMode="auto">
          <a:xfrm>
            <a:off x="7300687" y="4246114"/>
            <a:ext cx="807092" cy="325891"/>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400" b="1">
                <a:solidFill>
                  <a:srgbClr val="000000"/>
                </a:solidFill>
              </a:rPr>
              <a:t>.edu</a:t>
            </a:r>
            <a:endParaRPr lang="en-US" sz="2400" b="1">
              <a:solidFill>
                <a:srgbClr val="000000"/>
              </a:solidFill>
            </a:endParaRPr>
          </a:p>
        </p:txBody>
      </p:sp>
      <p:sp>
        <p:nvSpPr>
          <p:cNvPr id="719962" name="Text Box 90"/>
          <p:cNvSpPr txBox="1">
            <a:spLocks noChangeArrowheads="1"/>
          </p:cNvSpPr>
          <p:nvPr>
            <p:custDataLst>
              <p:tags r:id="rId23"/>
            </p:custDataLst>
          </p:nvPr>
        </p:nvSpPr>
        <p:spPr bwMode="auto">
          <a:xfrm>
            <a:off x="2017713" y="945701"/>
            <a:ext cx="4706937" cy="396875"/>
          </a:xfrm>
          <a:prstGeom prst="rect">
            <a:avLst/>
          </a:prstGeom>
          <a:noFill/>
          <a:ln w="9525" algn="ctr">
            <a:noFill/>
            <a:miter lim="800000"/>
            <a:headEnd/>
            <a:tailEnd/>
          </a:ln>
          <a:effectLst/>
        </p:spPr>
        <p:txBody>
          <a:bodyPr>
            <a:spAutoFit/>
          </a:bodyPr>
          <a:lstStyle/>
          <a:p>
            <a:endParaRPr lang="en-GB" sz="2000" b="1"/>
          </a:p>
        </p:txBody>
      </p:sp>
      <p:pic>
        <p:nvPicPr>
          <p:cNvPr id="720020" name="Picture 148" descr="Database01"/>
          <p:cNvPicPr>
            <a:picLocks noChangeAspect="1" noChangeArrowheads="1"/>
          </p:cNvPicPr>
          <p:nvPr>
            <p:custDataLst>
              <p:tags r:id="rId24"/>
            </p:custDataLst>
          </p:nvPr>
        </p:nvPicPr>
        <p:blipFill>
          <a:blip r:embed="rId39" cstate="print"/>
          <a:srcRect/>
          <a:stretch>
            <a:fillRect/>
          </a:stretch>
        </p:blipFill>
        <p:spPr bwMode="auto">
          <a:xfrm>
            <a:off x="3671888" y="2190301"/>
            <a:ext cx="654050" cy="528638"/>
          </a:xfrm>
          <a:prstGeom prst="rect">
            <a:avLst/>
          </a:prstGeom>
          <a:noFill/>
        </p:spPr>
      </p:pic>
      <p:pic>
        <p:nvPicPr>
          <p:cNvPr id="720021" name="Picture 149" descr="Database01"/>
          <p:cNvPicPr>
            <a:picLocks noChangeAspect="1" noChangeArrowheads="1"/>
          </p:cNvPicPr>
          <p:nvPr>
            <p:custDataLst>
              <p:tags r:id="rId25"/>
            </p:custDataLst>
          </p:nvPr>
        </p:nvPicPr>
        <p:blipFill>
          <a:blip r:embed="rId39" cstate="print"/>
          <a:srcRect/>
          <a:stretch>
            <a:fillRect/>
          </a:stretch>
        </p:blipFill>
        <p:spPr bwMode="auto">
          <a:xfrm>
            <a:off x="3638550" y="4743001"/>
            <a:ext cx="654050" cy="528638"/>
          </a:xfrm>
          <a:prstGeom prst="rect">
            <a:avLst/>
          </a:prstGeom>
          <a:noFill/>
        </p:spPr>
      </p:pic>
      <p:pic>
        <p:nvPicPr>
          <p:cNvPr id="720022" name="Picture 150" descr="Database01"/>
          <p:cNvPicPr>
            <a:picLocks noChangeAspect="1" noChangeArrowheads="1"/>
          </p:cNvPicPr>
          <p:nvPr>
            <p:custDataLst>
              <p:tags r:id="rId26"/>
            </p:custDataLst>
          </p:nvPr>
        </p:nvPicPr>
        <p:blipFill>
          <a:blip r:embed="rId39" cstate="print"/>
          <a:srcRect/>
          <a:stretch>
            <a:fillRect/>
          </a:stretch>
        </p:blipFill>
        <p:spPr bwMode="auto">
          <a:xfrm>
            <a:off x="3671888" y="2218876"/>
            <a:ext cx="654050" cy="528638"/>
          </a:xfrm>
          <a:prstGeom prst="rect">
            <a:avLst/>
          </a:prstGeom>
          <a:noFill/>
        </p:spPr>
      </p:pic>
      <p:pic>
        <p:nvPicPr>
          <p:cNvPr id="720016" name="Picture 144" descr="Document_Writing01"/>
          <p:cNvPicPr>
            <a:picLocks noChangeAspect="1" noChangeArrowheads="1"/>
          </p:cNvPicPr>
          <p:nvPr>
            <p:custDataLst>
              <p:tags r:id="rId27"/>
            </p:custDataLst>
          </p:nvPr>
        </p:nvPicPr>
        <p:blipFill>
          <a:blip r:embed="rId40" cstate="print"/>
          <a:srcRect/>
          <a:stretch>
            <a:fillRect/>
          </a:stretch>
        </p:blipFill>
        <p:spPr bwMode="auto">
          <a:xfrm>
            <a:off x="3798888" y="3885692"/>
            <a:ext cx="671512" cy="1093847"/>
          </a:xfrm>
          <a:prstGeom prst="rect">
            <a:avLst/>
          </a:prstGeom>
          <a:noFill/>
        </p:spPr>
      </p:pic>
      <p:sp>
        <p:nvSpPr>
          <p:cNvPr id="720003" name="AutoShape 131"/>
          <p:cNvSpPr>
            <a:spLocks noChangeArrowheads="1"/>
          </p:cNvSpPr>
          <p:nvPr>
            <p:custDataLst>
              <p:tags r:id="rId28"/>
            </p:custDataLst>
          </p:nvPr>
        </p:nvSpPr>
        <p:spPr bwMode="auto">
          <a:xfrm>
            <a:off x="3744694" y="4332972"/>
            <a:ext cx="2235200" cy="70349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400" b="1" err="1">
                <a:solidFill>
                  <a:srgbClr val="000000"/>
                </a:solidFill>
              </a:rPr>
              <a:t>Enregistrements</a:t>
            </a:r>
            <a:endParaRPr lang="en-US" sz="2400" b="1"/>
          </a:p>
          <a:p>
            <a:r>
              <a:rPr lang="en-GB" sz="2400" b="1">
                <a:solidFill>
                  <a:srgbClr val="000000"/>
                </a:solidFill>
              </a:rPr>
              <a:t>de </a:t>
            </a:r>
            <a:r>
              <a:rPr lang="en-GB" sz="2400" b="1" err="1">
                <a:solidFill>
                  <a:srgbClr val="000000"/>
                </a:solidFill>
              </a:rPr>
              <a:t>ressources</a:t>
            </a:r>
            <a:endParaRPr lang="en-US" sz="2400" b="1">
              <a:solidFill>
                <a:srgbClr val="000000"/>
              </a:solidFill>
            </a:endParaRPr>
          </a:p>
        </p:txBody>
      </p:sp>
      <p:pic>
        <p:nvPicPr>
          <p:cNvPr id="720017" name="Picture 145" descr="Document_Writing01"/>
          <p:cNvPicPr>
            <a:picLocks noChangeAspect="1" noChangeArrowheads="1"/>
          </p:cNvPicPr>
          <p:nvPr>
            <p:custDataLst>
              <p:tags r:id="rId29"/>
            </p:custDataLst>
          </p:nvPr>
        </p:nvPicPr>
        <p:blipFill>
          <a:blip r:embed="rId40" cstate="print"/>
          <a:srcRect/>
          <a:stretch>
            <a:fillRect/>
          </a:stretch>
        </p:blipFill>
        <p:spPr bwMode="auto">
          <a:xfrm>
            <a:off x="4026353" y="1352678"/>
            <a:ext cx="618218" cy="1007034"/>
          </a:xfrm>
          <a:prstGeom prst="rect">
            <a:avLst/>
          </a:prstGeom>
          <a:noFill/>
        </p:spPr>
      </p:pic>
      <p:sp>
        <p:nvSpPr>
          <p:cNvPr id="33" name="AutoShape 131"/>
          <p:cNvSpPr>
            <a:spLocks noChangeArrowheads="1"/>
          </p:cNvSpPr>
          <p:nvPr>
            <p:custDataLst>
              <p:tags r:id="rId30"/>
            </p:custDataLst>
          </p:nvPr>
        </p:nvSpPr>
        <p:spPr bwMode="auto">
          <a:xfrm>
            <a:off x="3751951" y="1988915"/>
            <a:ext cx="2235200" cy="70349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400" b="1" err="1">
                <a:solidFill>
                  <a:srgbClr val="000000"/>
                </a:solidFill>
              </a:rPr>
              <a:t>Enregistrements</a:t>
            </a:r>
            <a:endParaRPr lang="en-US" sz="2400" b="1"/>
          </a:p>
          <a:p>
            <a:r>
              <a:rPr lang="en-GB" sz="2400" b="1">
                <a:solidFill>
                  <a:srgbClr val="000000"/>
                </a:solidFill>
              </a:rPr>
              <a:t>de </a:t>
            </a:r>
            <a:r>
              <a:rPr lang="en-GB" sz="2400" b="1" err="1">
                <a:solidFill>
                  <a:srgbClr val="000000"/>
                </a:solidFill>
              </a:rPr>
              <a:t>ressources</a:t>
            </a:r>
            <a:endParaRPr lang="en-US" sz="2400" b="1">
              <a:solidFill>
                <a:srgbClr val="000000"/>
              </a:solidFill>
            </a:endParaRPr>
          </a:p>
        </p:txBody>
      </p:sp>
      <p:sp>
        <p:nvSpPr>
          <p:cNvPr id="36" name="Rectangle 35"/>
          <p:cNvSpPr/>
          <p:nvPr/>
        </p:nvSpPr>
        <p:spPr>
          <a:xfrm>
            <a:off x="428168" y="5597370"/>
            <a:ext cx="8251372" cy="1107996"/>
          </a:xfrm>
          <a:prstGeom prst="rect">
            <a:avLst/>
          </a:prstGeom>
          <a:solidFill>
            <a:srgbClr val="002060"/>
          </a:solidFill>
        </p:spPr>
        <p:txBody>
          <a:bodyPr wrap="square">
            <a:spAutoFit/>
          </a:bodyPr>
          <a:lstStyle/>
          <a:p>
            <a:pPr algn="l"/>
            <a:r>
              <a:rPr lang="fr-FR" sz="2200" b="1" u="sng">
                <a:solidFill>
                  <a:srgbClr val="D5D69C"/>
                </a:solidFill>
                <a:latin typeface="+mn-lt"/>
              </a:rPr>
              <a:t>Enregistrement de ressource</a:t>
            </a:r>
          </a:p>
          <a:p>
            <a:pPr algn="l"/>
            <a:r>
              <a:rPr lang="fr-FR" sz="2200" b="1">
                <a:solidFill>
                  <a:schemeClr val="bg1"/>
                </a:solidFill>
              </a:rPr>
              <a:t>•</a:t>
            </a:r>
            <a:r>
              <a:rPr lang="fr-FR" sz="2200" b="1">
                <a:solidFill>
                  <a:schemeClr val="lt1"/>
                </a:solidFill>
                <a:latin typeface="+mn-lt"/>
              </a:rPr>
              <a:t>Entrées de la base de données DNS qui mappent les noms d’hôtes à des ressources</a:t>
            </a:r>
          </a:p>
        </p:txBody>
      </p:sp>
      <p:sp>
        <p:nvSpPr>
          <p:cNvPr id="35" name="Rectangle 34"/>
          <p:cNvSpPr/>
          <p:nvPr/>
        </p:nvSpPr>
        <p:spPr>
          <a:xfrm>
            <a:off x="406396" y="5807820"/>
            <a:ext cx="8251372" cy="769441"/>
          </a:xfrm>
          <a:prstGeom prst="rect">
            <a:avLst/>
          </a:prstGeom>
          <a:solidFill>
            <a:srgbClr val="002060"/>
          </a:solidFill>
        </p:spPr>
        <p:txBody>
          <a:bodyPr wrap="square">
            <a:spAutoFit/>
          </a:bodyPr>
          <a:lstStyle/>
          <a:p>
            <a:pPr algn="l"/>
            <a:r>
              <a:rPr lang="fr-FR" sz="2200" b="1" u="sng">
                <a:solidFill>
                  <a:srgbClr val="D5D69C"/>
                </a:solidFill>
                <a:latin typeface="+mn-lt"/>
              </a:rPr>
              <a:t>Client DNS</a:t>
            </a:r>
          </a:p>
          <a:p>
            <a:pPr algn="l"/>
            <a:r>
              <a:rPr lang="fr-FR" sz="2200" b="1">
                <a:solidFill>
                  <a:schemeClr val="bg1"/>
                </a:solidFill>
              </a:rPr>
              <a:t>• </a:t>
            </a:r>
            <a:r>
              <a:rPr lang="fr-FR" sz="2200" b="1">
                <a:solidFill>
                  <a:schemeClr val="lt1"/>
                </a:solidFill>
                <a:latin typeface="+mn-lt"/>
              </a:rPr>
              <a:t>Ordinateur exécutant le service Client DNS</a:t>
            </a:r>
          </a:p>
        </p:txBody>
      </p:sp>
      <p:sp>
        <p:nvSpPr>
          <p:cNvPr id="34" name="Rectangle 33"/>
          <p:cNvSpPr/>
          <p:nvPr/>
        </p:nvSpPr>
        <p:spPr>
          <a:xfrm>
            <a:off x="174174" y="5011341"/>
            <a:ext cx="8795658" cy="1846659"/>
          </a:xfrm>
          <a:prstGeom prst="rect">
            <a:avLst/>
          </a:prstGeom>
          <a:solidFill>
            <a:srgbClr val="002060"/>
          </a:solidFill>
        </p:spPr>
        <p:style>
          <a:lnRef idx="1">
            <a:schemeClr val="accent2"/>
          </a:lnRef>
          <a:fillRef idx="3">
            <a:schemeClr val="accent2"/>
          </a:fillRef>
          <a:effectRef idx="2">
            <a:schemeClr val="accent2"/>
          </a:effectRef>
          <a:fontRef idx="minor">
            <a:schemeClr val="lt1"/>
          </a:fontRef>
        </p:style>
        <p:txBody>
          <a:bodyPr wrap="square">
            <a:spAutoFit/>
          </a:bodyPr>
          <a:lstStyle/>
          <a:p>
            <a:pPr algn="l"/>
            <a:r>
              <a:rPr lang="fr-FR" sz="2200" b="1" u="sng">
                <a:solidFill>
                  <a:srgbClr val="D5D69C"/>
                </a:solidFill>
              </a:rPr>
              <a:t>Serveur DNS</a:t>
            </a:r>
          </a:p>
          <a:p>
            <a:pPr algn="l"/>
            <a:r>
              <a:rPr lang="fr-FR" sz="2400" b="1"/>
              <a:t>• </a:t>
            </a:r>
            <a:r>
              <a:rPr lang="fr-FR" sz="2200" b="1"/>
              <a:t>Ordinateur exécutant le service DNS</a:t>
            </a:r>
          </a:p>
          <a:p>
            <a:pPr algn="l"/>
            <a:r>
              <a:rPr lang="fr-FR" sz="2200" b="1"/>
              <a:t>• Héberge et fait autorité sur un espace de noms</a:t>
            </a:r>
          </a:p>
          <a:p>
            <a:pPr algn="l"/>
            <a:r>
              <a:rPr lang="fr-FR" sz="2200" b="1"/>
              <a:t>• Traite les demandes de résolution de noms soumises par les clients DNS</a:t>
            </a:r>
          </a:p>
        </p:txBody>
      </p:sp>
      <p:sp>
        <p:nvSpPr>
          <p:cNvPr id="37" name="Espace réservé du numéro de diapositive 36"/>
          <p:cNvSpPr>
            <a:spLocks noGrp="1"/>
          </p:cNvSpPr>
          <p:nvPr>
            <p:ph type="sldNum" sz="quarter" idx="12"/>
          </p:nvPr>
        </p:nvSpPr>
        <p:spPr/>
        <p:txBody>
          <a:bodyPr/>
          <a:lstStyle/>
          <a:p>
            <a:fld id="{2C6B1FF6-39B9-40F5-8B67-33C6354A3D4F}" type="slidenum">
              <a:rPr kumimoji="0" lang="en-US" smtClean="0"/>
              <a:pPr/>
              <a:t>9</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2000" fill="hold"/>
                                        <p:tgtEl>
                                          <p:spTgt spid="34"/>
                                        </p:tgtEl>
                                        <p:attrNameLst>
                                          <p:attrName>ppt_x</p:attrName>
                                        </p:attrNameLst>
                                      </p:cBhvr>
                                      <p:tavLst>
                                        <p:tav tm="0">
                                          <p:val>
                                            <p:strVal val="0-#ppt_w/2"/>
                                          </p:val>
                                        </p:tav>
                                        <p:tav tm="100000">
                                          <p:val>
                                            <p:strVal val="#ppt_x"/>
                                          </p:val>
                                        </p:tav>
                                      </p:tavLst>
                                    </p:anim>
                                    <p:anim calcmode="lin" valueType="num">
                                      <p:cBhvr additive="base">
                                        <p:cTn id="8" dur="20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2000"/>
                                        <p:tgtEl>
                                          <p:spTgt spid="34"/>
                                        </p:tgtEl>
                                        <p:attrNameLst>
                                          <p:attrName>ppt_x</p:attrName>
                                        </p:attrNameLst>
                                      </p:cBhvr>
                                      <p:tavLst>
                                        <p:tav tm="0">
                                          <p:val>
                                            <p:strVal val="ppt_x"/>
                                          </p:val>
                                        </p:tav>
                                        <p:tav tm="100000">
                                          <p:val>
                                            <p:strVal val="ppt_x"/>
                                          </p:val>
                                        </p:tav>
                                      </p:tavLst>
                                    </p:anim>
                                    <p:anim calcmode="lin" valueType="num">
                                      <p:cBhvr additive="base">
                                        <p:cTn id="13" dur="2000"/>
                                        <p:tgtEl>
                                          <p:spTgt spid="34"/>
                                        </p:tgtEl>
                                        <p:attrNameLst>
                                          <p:attrName>ppt_y</p:attrName>
                                        </p:attrNameLst>
                                      </p:cBhvr>
                                      <p:tavLst>
                                        <p:tav tm="0">
                                          <p:val>
                                            <p:strVal val="ppt_y"/>
                                          </p:val>
                                        </p:tav>
                                        <p:tav tm="100000">
                                          <p:val>
                                            <p:strVal val="1+ppt_h/2"/>
                                          </p:val>
                                        </p:tav>
                                      </p:tavLst>
                                    </p:anim>
                                    <p:set>
                                      <p:cBhvr>
                                        <p:cTn id="14" dur="1" fill="hold">
                                          <p:stCondLst>
                                            <p:cond delay="1999"/>
                                          </p:stCondLst>
                                        </p:cTn>
                                        <p:tgtEl>
                                          <p:spTgt spid="34"/>
                                        </p:tgtEl>
                                        <p:attrNameLst>
                                          <p:attrName>style.visibility</p:attrName>
                                        </p:attrNameLst>
                                      </p:cBhvr>
                                      <p:to>
                                        <p:strVal val="hidden"/>
                                      </p:to>
                                    </p:set>
                                  </p:childTnLst>
                                </p:cTn>
                              </p:par>
                            </p:childTnLst>
                          </p:cTn>
                        </p:par>
                        <p:par>
                          <p:cTn id="15" fill="hold">
                            <p:stCondLst>
                              <p:cond delay="2000"/>
                            </p:stCondLst>
                            <p:childTnLst>
                              <p:par>
                                <p:cTn id="16" presetID="2" presetClass="entr" presetSubtype="8" fill="hold" grpId="0" nodeType="after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2000" fill="hold"/>
                                        <p:tgtEl>
                                          <p:spTgt spid="35"/>
                                        </p:tgtEl>
                                        <p:attrNameLst>
                                          <p:attrName>ppt_x</p:attrName>
                                        </p:attrNameLst>
                                      </p:cBhvr>
                                      <p:tavLst>
                                        <p:tav tm="0">
                                          <p:val>
                                            <p:strVal val="0-#ppt_w/2"/>
                                          </p:val>
                                        </p:tav>
                                        <p:tav tm="100000">
                                          <p:val>
                                            <p:strVal val="#ppt_x"/>
                                          </p:val>
                                        </p:tav>
                                      </p:tavLst>
                                    </p:anim>
                                    <p:anim calcmode="lin" valueType="num">
                                      <p:cBhvr additive="base">
                                        <p:cTn id="19" dur="20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xit" presetSubtype="4" fill="hold" grpId="1" nodeType="clickEffect">
                                  <p:stCondLst>
                                    <p:cond delay="0"/>
                                  </p:stCondLst>
                                  <p:childTnLst>
                                    <p:anim calcmode="lin" valueType="num">
                                      <p:cBhvr additive="base">
                                        <p:cTn id="23" dur="2000"/>
                                        <p:tgtEl>
                                          <p:spTgt spid="35"/>
                                        </p:tgtEl>
                                        <p:attrNameLst>
                                          <p:attrName>ppt_x</p:attrName>
                                        </p:attrNameLst>
                                      </p:cBhvr>
                                      <p:tavLst>
                                        <p:tav tm="0">
                                          <p:val>
                                            <p:strVal val="ppt_x"/>
                                          </p:val>
                                        </p:tav>
                                        <p:tav tm="100000">
                                          <p:val>
                                            <p:strVal val="ppt_x"/>
                                          </p:val>
                                        </p:tav>
                                      </p:tavLst>
                                    </p:anim>
                                    <p:anim calcmode="lin" valueType="num">
                                      <p:cBhvr additive="base">
                                        <p:cTn id="24" dur="2000"/>
                                        <p:tgtEl>
                                          <p:spTgt spid="35"/>
                                        </p:tgtEl>
                                        <p:attrNameLst>
                                          <p:attrName>ppt_y</p:attrName>
                                        </p:attrNameLst>
                                      </p:cBhvr>
                                      <p:tavLst>
                                        <p:tav tm="0">
                                          <p:val>
                                            <p:strVal val="ppt_y"/>
                                          </p:val>
                                        </p:tav>
                                        <p:tav tm="100000">
                                          <p:val>
                                            <p:strVal val="1+ppt_h/2"/>
                                          </p:val>
                                        </p:tav>
                                      </p:tavLst>
                                    </p:anim>
                                    <p:set>
                                      <p:cBhvr>
                                        <p:cTn id="25" dur="1" fill="hold">
                                          <p:stCondLst>
                                            <p:cond delay="1999"/>
                                          </p:stCondLst>
                                        </p:cTn>
                                        <p:tgtEl>
                                          <p:spTgt spid="35"/>
                                        </p:tgtEl>
                                        <p:attrNameLst>
                                          <p:attrName>style.visibility</p:attrName>
                                        </p:attrNameLst>
                                      </p:cBhvr>
                                      <p:to>
                                        <p:strVal val="hidden"/>
                                      </p:to>
                                    </p:se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additive="base">
                                        <p:cTn id="29" dur="2000" fill="hold"/>
                                        <p:tgtEl>
                                          <p:spTgt spid="36"/>
                                        </p:tgtEl>
                                        <p:attrNameLst>
                                          <p:attrName>ppt_x</p:attrName>
                                        </p:attrNameLst>
                                      </p:cBhvr>
                                      <p:tavLst>
                                        <p:tav tm="0">
                                          <p:val>
                                            <p:strVal val="0-#ppt_w/2"/>
                                          </p:val>
                                        </p:tav>
                                        <p:tav tm="100000">
                                          <p:val>
                                            <p:strVal val="#ppt_x"/>
                                          </p:val>
                                        </p:tav>
                                      </p:tavLst>
                                    </p:anim>
                                    <p:anim calcmode="lin" valueType="num">
                                      <p:cBhvr additive="base">
                                        <p:cTn id="30" dur="20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xit" presetSubtype="4" fill="hold" grpId="1" nodeType="clickEffect">
                                  <p:stCondLst>
                                    <p:cond delay="0"/>
                                  </p:stCondLst>
                                  <p:childTnLst>
                                    <p:anim calcmode="lin" valueType="num">
                                      <p:cBhvr additive="base">
                                        <p:cTn id="34" dur="2000"/>
                                        <p:tgtEl>
                                          <p:spTgt spid="36"/>
                                        </p:tgtEl>
                                        <p:attrNameLst>
                                          <p:attrName>ppt_x</p:attrName>
                                        </p:attrNameLst>
                                      </p:cBhvr>
                                      <p:tavLst>
                                        <p:tav tm="0">
                                          <p:val>
                                            <p:strVal val="ppt_x"/>
                                          </p:val>
                                        </p:tav>
                                        <p:tav tm="100000">
                                          <p:val>
                                            <p:strVal val="ppt_x"/>
                                          </p:val>
                                        </p:tav>
                                      </p:tavLst>
                                    </p:anim>
                                    <p:anim calcmode="lin" valueType="num">
                                      <p:cBhvr additive="base">
                                        <p:cTn id="35" dur="2000"/>
                                        <p:tgtEl>
                                          <p:spTgt spid="36"/>
                                        </p:tgtEl>
                                        <p:attrNameLst>
                                          <p:attrName>ppt_y</p:attrName>
                                        </p:attrNameLst>
                                      </p:cBhvr>
                                      <p:tavLst>
                                        <p:tav tm="0">
                                          <p:val>
                                            <p:strVal val="ppt_y"/>
                                          </p:val>
                                        </p:tav>
                                        <p:tav tm="100000">
                                          <p:val>
                                            <p:strVal val="1+ppt_h/2"/>
                                          </p:val>
                                        </p:tav>
                                      </p:tavLst>
                                    </p:anim>
                                    <p:set>
                                      <p:cBhvr>
                                        <p:cTn id="36" dur="1" fill="hold">
                                          <p:stCondLst>
                                            <p:cond delay="19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5" grpId="0" animBg="1"/>
      <p:bldP spid="35" grpId="1" animBg="1"/>
      <p:bldP spid="34" grpId="0" animBg="1"/>
      <p:bldP spid="34"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custDataLst>
              <p:tags r:id="rId1"/>
            </p:custDataLst>
          </p:nvPr>
        </p:nvSpPr>
        <p:spPr/>
        <p:txBody>
          <a:bodyPr vert="horz" anchor="b">
            <a:normAutofit/>
          </a:bodyPr>
          <a:lstStyle/>
          <a:p>
            <a:pPr marL="460375" indent="-460375"/>
            <a:r>
              <a:rPr lang="en-GB" sz="3000" b="1">
                <a:solidFill>
                  <a:srgbClr val="C00000"/>
                </a:solidFill>
              </a:rPr>
              <a:t>Qu'est-ce qu'une requête DNS ?</a:t>
            </a:r>
            <a:endParaRPr lang="en-US" sz="3000" b="1">
              <a:solidFill>
                <a:srgbClr val="C00000"/>
              </a:solidFill>
            </a:endParaRPr>
          </a:p>
        </p:txBody>
      </p:sp>
      <p:sp>
        <p:nvSpPr>
          <p:cNvPr id="717833" name="Rectangle 9"/>
          <p:cNvSpPr>
            <a:spLocks noGrp="1" noChangeArrowheads="1"/>
          </p:cNvSpPr>
          <p:nvPr>
            <p:ph sz="quarter" idx="1"/>
            <p:custDataLst>
              <p:tags r:id="rId2"/>
            </p:custDataLst>
          </p:nvPr>
        </p:nvSpPr>
        <p:spPr>
          <a:xfrm>
            <a:off x="203203" y="2453136"/>
            <a:ext cx="8766629" cy="4165376"/>
          </a:xfrm>
          <a:noFill/>
          <a:ln/>
        </p:spPr>
        <p:txBody>
          <a:bodyPr>
            <a:noAutofit/>
          </a:bodyPr>
          <a:lstStyle/>
          <a:p>
            <a:pPr marL="342900" indent="-342900">
              <a:spcBef>
                <a:spcPct val="10000"/>
              </a:spcBef>
              <a:buClr>
                <a:schemeClr val="tx1"/>
              </a:buClr>
              <a:buFont typeface="Wingdings" pitchFamily="2" charset="2"/>
              <a:buChar char="Ø"/>
            </a:pPr>
            <a:r>
              <a:rPr lang="en-GB" sz="2400" b="1">
                <a:solidFill>
                  <a:srgbClr val="000000"/>
                </a:solidFill>
                <a:cs typeface="Arial" pitchFamily="34" charset="0"/>
              </a:rPr>
              <a:t>Un </a:t>
            </a:r>
            <a:r>
              <a:rPr lang="en-GB" sz="2400" b="1" err="1">
                <a:solidFill>
                  <a:srgbClr val="000000"/>
                </a:solidFill>
                <a:cs typeface="Arial" pitchFamily="34" charset="0"/>
              </a:rPr>
              <a:t>serveur</a:t>
            </a:r>
            <a:r>
              <a:rPr lang="en-GB" sz="2400" b="1">
                <a:solidFill>
                  <a:srgbClr val="000000"/>
                </a:solidFill>
                <a:cs typeface="Arial" pitchFamily="34" charset="0"/>
              </a:rPr>
              <a:t> DNS qui </a:t>
            </a:r>
            <a:r>
              <a:rPr lang="en-GB" sz="2400" b="1" u="sng">
                <a:solidFill>
                  <a:srgbClr val="000000"/>
                </a:solidFill>
                <a:cs typeface="Arial" pitchFamily="34" charset="0"/>
              </a:rPr>
              <a:t>fait </a:t>
            </a:r>
            <a:r>
              <a:rPr lang="en-GB" sz="2400" b="1" u="sng" err="1">
                <a:solidFill>
                  <a:srgbClr val="000000"/>
                </a:solidFill>
                <a:cs typeface="Arial" pitchFamily="34" charset="0"/>
              </a:rPr>
              <a:t>autorité</a:t>
            </a:r>
            <a:r>
              <a:rPr lang="en-GB" sz="2400" b="1">
                <a:solidFill>
                  <a:srgbClr val="000000"/>
                </a:solidFill>
                <a:cs typeface="Arial" pitchFamily="34" charset="0"/>
              </a:rPr>
              <a:t> pour </a:t>
            </a:r>
            <a:r>
              <a:rPr lang="en-GB" sz="2400" b="1" err="1">
                <a:solidFill>
                  <a:srgbClr val="000000"/>
                </a:solidFill>
                <a:cs typeface="Arial" pitchFamily="34" charset="0"/>
              </a:rPr>
              <a:t>l'espace</a:t>
            </a:r>
            <a:r>
              <a:rPr lang="en-GB" sz="2400" b="1">
                <a:solidFill>
                  <a:srgbClr val="000000"/>
                </a:solidFill>
                <a:cs typeface="Arial" pitchFamily="34" charset="0"/>
              </a:rPr>
              <a:t> de </a:t>
            </a:r>
            <a:r>
              <a:rPr lang="en-GB" sz="2400" b="1" err="1">
                <a:solidFill>
                  <a:srgbClr val="000000"/>
                </a:solidFill>
                <a:cs typeface="Arial" pitchFamily="34" charset="0"/>
              </a:rPr>
              <a:t>noms</a:t>
            </a:r>
            <a:r>
              <a:rPr lang="en-GB" sz="2400" b="1">
                <a:solidFill>
                  <a:srgbClr val="000000"/>
                </a:solidFill>
                <a:cs typeface="Arial" pitchFamily="34" charset="0"/>
              </a:rPr>
              <a:t> de la </a:t>
            </a:r>
            <a:r>
              <a:rPr lang="en-GB" sz="2400" b="1" err="1">
                <a:solidFill>
                  <a:srgbClr val="000000"/>
                </a:solidFill>
                <a:cs typeface="Arial" pitchFamily="34" charset="0"/>
              </a:rPr>
              <a:t>requête</a:t>
            </a:r>
            <a:r>
              <a:rPr lang="en-GB" sz="2400" b="1">
                <a:solidFill>
                  <a:srgbClr val="000000"/>
                </a:solidFill>
                <a:cs typeface="Arial" pitchFamily="34" charset="0"/>
              </a:rPr>
              <a:t> </a:t>
            </a:r>
            <a:r>
              <a:rPr lang="en-GB" sz="2400" b="1" err="1">
                <a:solidFill>
                  <a:srgbClr val="000000"/>
                </a:solidFill>
                <a:cs typeface="Arial" pitchFamily="34" charset="0"/>
              </a:rPr>
              <a:t>peut</a:t>
            </a:r>
            <a:r>
              <a:rPr lang="en-GB" sz="2400" b="1">
                <a:solidFill>
                  <a:srgbClr val="000000"/>
                </a:solidFill>
                <a:cs typeface="Arial" pitchFamily="34" charset="0"/>
              </a:rPr>
              <a:t> :</a:t>
            </a:r>
            <a:endParaRPr lang="en-US" sz="2400" b="1">
              <a:cs typeface="Arial" pitchFamily="34" charset="0"/>
            </a:endParaRPr>
          </a:p>
          <a:p>
            <a:pPr marL="285750" lvl="1" indent="-285750">
              <a:spcBef>
                <a:spcPct val="10000"/>
              </a:spcBef>
            </a:pPr>
            <a:r>
              <a:rPr lang="en-GB" sz="2400">
                <a:solidFill>
                  <a:srgbClr val="002060"/>
                </a:solidFill>
                <a:cs typeface="Arial" pitchFamily="34" charset="0"/>
              </a:rPr>
              <a:t>Consulter le cache et la zone, </a:t>
            </a:r>
            <a:r>
              <a:rPr lang="en-GB" sz="2400" err="1">
                <a:solidFill>
                  <a:srgbClr val="002060"/>
                </a:solidFill>
                <a:cs typeface="Arial" pitchFamily="34" charset="0"/>
              </a:rPr>
              <a:t>puis</a:t>
            </a:r>
            <a:r>
              <a:rPr lang="en-GB" sz="2400">
                <a:solidFill>
                  <a:srgbClr val="002060"/>
                </a:solidFill>
                <a:cs typeface="Arial" pitchFamily="34" charset="0"/>
              </a:rPr>
              <a:t> </a:t>
            </a:r>
            <a:r>
              <a:rPr lang="en-GB" sz="2400" err="1">
                <a:solidFill>
                  <a:srgbClr val="002060"/>
                </a:solidFill>
                <a:cs typeface="Arial" pitchFamily="34" charset="0"/>
              </a:rPr>
              <a:t>renvoyer</a:t>
            </a:r>
            <a:r>
              <a:rPr lang="en-GB" sz="2400">
                <a:solidFill>
                  <a:srgbClr val="002060"/>
                </a:solidFill>
                <a:cs typeface="Arial" pitchFamily="34" charset="0"/>
              </a:rPr>
              <a:t> l‘@ IP </a:t>
            </a:r>
            <a:r>
              <a:rPr lang="en-GB" sz="2400" err="1">
                <a:solidFill>
                  <a:srgbClr val="002060"/>
                </a:solidFill>
                <a:cs typeface="Arial" pitchFamily="34" charset="0"/>
              </a:rPr>
              <a:t>demandée</a:t>
            </a:r>
            <a:endParaRPr lang="en-US" sz="2400">
              <a:solidFill>
                <a:srgbClr val="002060"/>
              </a:solidFill>
              <a:cs typeface="Arial" pitchFamily="34" charset="0"/>
            </a:endParaRPr>
          </a:p>
          <a:p>
            <a:pPr marL="285750" lvl="1" indent="-285750">
              <a:spcBef>
                <a:spcPct val="10000"/>
              </a:spcBef>
            </a:pPr>
            <a:r>
              <a:rPr lang="en-GB" sz="2400" err="1">
                <a:solidFill>
                  <a:srgbClr val="002060"/>
                </a:solidFill>
                <a:cs typeface="Arial" pitchFamily="34" charset="0"/>
              </a:rPr>
              <a:t>Renvoyer</a:t>
            </a:r>
            <a:r>
              <a:rPr lang="en-GB" sz="2400">
                <a:solidFill>
                  <a:srgbClr val="002060"/>
                </a:solidFill>
                <a:cs typeface="Arial" pitchFamily="34" charset="0"/>
              </a:rPr>
              <a:t> </a:t>
            </a:r>
            <a:r>
              <a:rPr lang="en-GB" sz="2400" err="1">
                <a:solidFill>
                  <a:srgbClr val="002060"/>
                </a:solidFill>
                <a:cs typeface="Arial" pitchFamily="34" charset="0"/>
              </a:rPr>
              <a:t>une</a:t>
            </a:r>
            <a:r>
              <a:rPr lang="en-GB" sz="2400">
                <a:solidFill>
                  <a:srgbClr val="002060"/>
                </a:solidFill>
                <a:cs typeface="Arial" pitchFamily="34" charset="0"/>
              </a:rPr>
              <a:t> </a:t>
            </a:r>
            <a:r>
              <a:rPr lang="en-GB" sz="2400" err="1">
                <a:solidFill>
                  <a:srgbClr val="002060"/>
                </a:solidFill>
                <a:cs typeface="Arial" pitchFamily="34" charset="0"/>
              </a:rPr>
              <a:t>réponse</a:t>
            </a:r>
            <a:r>
              <a:rPr lang="en-GB" sz="2400">
                <a:solidFill>
                  <a:srgbClr val="002060"/>
                </a:solidFill>
                <a:cs typeface="Arial" pitchFamily="34" charset="0"/>
              </a:rPr>
              <a:t> </a:t>
            </a:r>
            <a:r>
              <a:rPr lang="en-GB" sz="2400" err="1">
                <a:solidFill>
                  <a:srgbClr val="002060"/>
                </a:solidFill>
                <a:cs typeface="Arial" pitchFamily="34" charset="0"/>
              </a:rPr>
              <a:t>négative</a:t>
            </a:r>
            <a:r>
              <a:rPr lang="en-GB" sz="2400">
                <a:solidFill>
                  <a:srgbClr val="002060"/>
                </a:solidFill>
                <a:cs typeface="Arial" pitchFamily="34" charset="0"/>
              </a:rPr>
              <a:t> qui fait </a:t>
            </a:r>
            <a:r>
              <a:rPr lang="en-GB" sz="2400" err="1">
                <a:solidFill>
                  <a:srgbClr val="002060"/>
                </a:solidFill>
                <a:cs typeface="Arial" pitchFamily="34" charset="0"/>
              </a:rPr>
              <a:t>autorité</a:t>
            </a:r>
            <a:endParaRPr lang="en-US" sz="2400">
              <a:solidFill>
                <a:srgbClr val="002060"/>
              </a:solidFill>
              <a:cs typeface="Arial" pitchFamily="34" charset="0"/>
            </a:endParaRPr>
          </a:p>
          <a:p>
            <a:pPr marL="342900" indent="-342900">
              <a:spcBef>
                <a:spcPct val="10000"/>
              </a:spcBef>
              <a:buClrTx/>
              <a:buFont typeface="Wingdings" pitchFamily="2" charset="2"/>
              <a:buChar char="Ø"/>
            </a:pPr>
            <a:r>
              <a:rPr lang="en-GB" sz="2400" b="1">
                <a:cs typeface="Arial" pitchFamily="34" charset="0"/>
              </a:rPr>
              <a:t>Un </a:t>
            </a:r>
            <a:r>
              <a:rPr lang="en-GB" sz="2400" b="1" err="1">
                <a:cs typeface="Arial" pitchFamily="34" charset="0"/>
              </a:rPr>
              <a:t>serveur</a:t>
            </a:r>
            <a:r>
              <a:rPr lang="en-GB" sz="2400" b="1">
                <a:cs typeface="Arial" pitchFamily="34" charset="0"/>
              </a:rPr>
              <a:t> DNS qui </a:t>
            </a:r>
            <a:r>
              <a:rPr lang="en-GB" sz="2400" b="1" u="sng">
                <a:cs typeface="Arial" pitchFamily="34" charset="0"/>
              </a:rPr>
              <a:t>ne fait pas </a:t>
            </a:r>
            <a:r>
              <a:rPr lang="en-GB" sz="2400" b="1" u="sng" err="1">
                <a:cs typeface="Arial" pitchFamily="34" charset="0"/>
              </a:rPr>
              <a:t>autorité</a:t>
            </a:r>
            <a:r>
              <a:rPr lang="en-GB" sz="2400" b="1" u="sng">
                <a:cs typeface="Arial" pitchFamily="34" charset="0"/>
              </a:rPr>
              <a:t> </a:t>
            </a:r>
            <a:r>
              <a:rPr lang="en-GB" sz="2400" b="1">
                <a:cs typeface="Arial" pitchFamily="34" charset="0"/>
              </a:rPr>
              <a:t>pour </a:t>
            </a:r>
            <a:r>
              <a:rPr lang="en-GB" sz="2400" b="1" err="1">
                <a:cs typeface="Arial" pitchFamily="34" charset="0"/>
              </a:rPr>
              <a:t>l'espace</a:t>
            </a:r>
            <a:r>
              <a:rPr lang="en-GB" sz="2400" b="1">
                <a:cs typeface="Arial" pitchFamily="34" charset="0"/>
              </a:rPr>
              <a:t> de </a:t>
            </a:r>
            <a:r>
              <a:rPr lang="en-GB" sz="2400" b="1" err="1">
                <a:cs typeface="Arial" pitchFamily="34" charset="0"/>
              </a:rPr>
              <a:t>noms</a:t>
            </a:r>
            <a:r>
              <a:rPr lang="en-GB" sz="2400" b="1">
                <a:cs typeface="Arial" pitchFamily="34" charset="0"/>
              </a:rPr>
              <a:t> de la </a:t>
            </a:r>
            <a:r>
              <a:rPr lang="en-GB" sz="2400" b="1" err="1">
                <a:cs typeface="Arial" pitchFamily="34" charset="0"/>
              </a:rPr>
              <a:t>requête</a:t>
            </a:r>
            <a:r>
              <a:rPr lang="en-GB" sz="2400" b="1">
                <a:cs typeface="Arial" pitchFamily="34" charset="0"/>
              </a:rPr>
              <a:t> </a:t>
            </a:r>
            <a:r>
              <a:rPr lang="en-GB" sz="2400" b="1" err="1">
                <a:cs typeface="Arial" pitchFamily="34" charset="0"/>
              </a:rPr>
              <a:t>peut</a:t>
            </a:r>
            <a:r>
              <a:rPr lang="en-GB" sz="2400" b="1">
                <a:cs typeface="Arial" pitchFamily="34" charset="0"/>
              </a:rPr>
              <a:t> :</a:t>
            </a:r>
            <a:endParaRPr lang="en-US" sz="2400" b="1">
              <a:cs typeface="Arial" pitchFamily="34" charset="0"/>
            </a:endParaRPr>
          </a:p>
          <a:p>
            <a:pPr marL="285750" lvl="1" indent="-285750">
              <a:spcBef>
                <a:spcPct val="10000"/>
              </a:spcBef>
            </a:pPr>
            <a:r>
              <a:rPr lang="en-GB" sz="2400" err="1">
                <a:solidFill>
                  <a:srgbClr val="002060"/>
                </a:solidFill>
                <a:cs typeface="Arial" pitchFamily="34" charset="0"/>
              </a:rPr>
              <a:t>Transmettre</a:t>
            </a:r>
            <a:r>
              <a:rPr lang="en-GB" sz="2400">
                <a:solidFill>
                  <a:srgbClr val="002060"/>
                </a:solidFill>
                <a:cs typeface="Arial" pitchFamily="34" charset="0"/>
              </a:rPr>
              <a:t> la </a:t>
            </a:r>
            <a:r>
              <a:rPr lang="en-GB" sz="2400" err="1">
                <a:solidFill>
                  <a:srgbClr val="002060"/>
                </a:solidFill>
                <a:cs typeface="Arial" pitchFamily="34" charset="0"/>
              </a:rPr>
              <a:t>requête</a:t>
            </a:r>
            <a:r>
              <a:rPr lang="en-GB" sz="2400">
                <a:solidFill>
                  <a:srgbClr val="002060"/>
                </a:solidFill>
                <a:cs typeface="Arial" pitchFamily="34" charset="0"/>
              </a:rPr>
              <a:t> </a:t>
            </a:r>
            <a:r>
              <a:rPr lang="en-GB" sz="2400" err="1">
                <a:solidFill>
                  <a:srgbClr val="002060"/>
                </a:solidFill>
                <a:cs typeface="Arial" pitchFamily="34" charset="0"/>
              </a:rPr>
              <a:t>qu'il</a:t>
            </a:r>
            <a:r>
              <a:rPr lang="en-GB" sz="2400">
                <a:solidFill>
                  <a:srgbClr val="002060"/>
                </a:solidFill>
                <a:cs typeface="Arial" pitchFamily="34" charset="0"/>
              </a:rPr>
              <a:t> ne </a:t>
            </a:r>
            <a:r>
              <a:rPr lang="en-GB" sz="2400" err="1">
                <a:solidFill>
                  <a:srgbClr val="002060"/>
                </a:solidFill>
                <a:cs typeface="Arial" pitchFamily="34" charset="0"/>
              </a:rPr>
              <a:t>sait</a:t>
            </a:r>
            <a:r>
              <a:rPr lang="en-GB" sz="2400">
                <a:solidFill>
                  <a:srgbClr val="002060"/>
                </a:solidFill>
                <a:cs typeface="Arial" pitchFamily="34" charset="0"/>
              </a:rPr>
              <a:t> pas </a:t>
            </a:r>
            <a:r>
              <a:rPr lang="en-GB" sz="2400" err="1">
                <a:solidFill>
                  <a:srgbClr val="002060"/>
                </a:solidFill>
                <a:cs typeface="Arial" pitchFamily="34" charset="0"/>
              </a:rPr>
              <a:t>résoudre</a:t>
            </a:r>
            <a:r>
              <a:rPr lang="en-GB" sz="2400">
                <a:solidFill>
                  <a:srgbClr val="002060"/>
                </a:solidFill>
                <a:cs typeface="Arial" pitchFamily="34" charset="0"/>
              </a:rPr>
              <a:t> à un </a:t>
            </a:r>
            <a:r>
              <a:rPr lang="en-GB" sz="2400" err="1">
                <a:solidFill>
                  <a:srgbClr val="002060"/>
                </a:solidFill>
                <a:cs typeface="Arial" pitchFamily="34" charset="0"/>
              </a:rPr>
              <a:t>serveur</a:t>
            </a:r>
            <a:r>
              <a:rPr lang="en-GB" sz="2400">
                <a:solidFill>
                  <a:srgbClr val="002060"/>
                </a:solidFill>
                <a:cs typeface="Arial" pitchFamily="34" charset="0"/>
              </a:rPr>
              <a:t> </a:t>
            </a:r>
            <a:r>
              <a:rPr lang="en-GB" sz="2400" err="1">
                <a:solidFill>
                  <a:srgbClr val="002060"/>
                </a:solidFill>
                <a:cs typeface="Arial" pitchFamily="34" charset="0"/>
              </a:rPr>
              <a:t>spécifique</a:t>
            </a:r>
            <a:r>
              <a:rPr lang="en-GB" sz="2400">
                <a:solidFill>
                  <a:srgbClr val="002060"/>
                </a:solidFill>
                <a:cs typeface="Arial" pitchFamily="34" charset="0"/>
              </a:rPr>
              <a:t> </a:t>
            </a:r>
            <a:r>
              <a:rPr lang="en-GB" sz="2400" err="1">
                <a:solidFill>
                  <a:srgbClr val="002060"/>
                </a:solidFill>
                <a:cs typeface="Arial" pitchFamily="34" charset="0"/>
              </a:rPr>
              <a:t>appelé</a:t>
            </a:r>
            <a:r>
              <a:rPr lang="en-GB" sz="2400">
                <a:solidFill>
                  <a:srgbClr val="002060"/>
                </a:solidFill>
                <a:cs typeface="Arial" pitchFamily="34" charset="0"/>
              </a:rPr>
              <a:t> </a:t>
            </a:r>
            <a:r>
              <a:rPr lang="en-GB" sz="2400" err="1">
                <a:solidFill>
                  <a:srgbClr val="002060"/>
                </a:solidFill>
                <a:cs typeface="Arial" pitchFamily="34" charset="0"/>
              </a:rPr>
              <a:t>redirecteur</a:t>
            </a:r>
            <a:endParaRPr lang="en-US" sz="2400">
              <a:solidFill>
                <a:srgbClr val="002060"/>
              </a:solidFill>
              <a:cs typeface="Arial" pitchFamily="34" charset="0"/>
            </a:endParaRPr>
          </a:p>
          <a:p>
            <a:pPr marL="285750" lvl="1" indent="-285750">
              <a:spcBef>
                <a:spcPct val="10000"/>
              </a:spcBef>
            </a:pPr>
            <a:r>
              <a:rPr lang="en-GB" sz="2400" err="1">
                <a:solidFill>
                  <a:srgbClr val="002060"/>
                </a:solidFill>
                <a:cs typeface="Arial" pitchFamily="34" charset="0"/>
              </a:rPr>
              <a:t>Utiliser</a:t>
            </a:r>
            <a:r>
              <a:rPr lang="en-GB" sz="2400">
                <a:solidFill>
                  <a:srgbClr val="002060"/>
                </a:solidFill>
                <a:cs typeface="Arial" pitchFamily="34" charset="0"/>
              </a:rPr>
              <a:t> les indications de </a:t>
            </a:r>
            <a:r>
              <a:rPr lang="en-GB" sz="2400" err="1">
                <a:solidFill>
                  <a:srgbClr val="002060"/>
                </a:solidFill>
                <a:cs typeface="Arial" pitchFamily="34" charset="0"/>
              </a:rPr>
              <a:t>racine</a:t>
            </a:r>
            <a:r>
              <a:rPr lang="en-GB" sz="2400">
                <a:solidFill>
                  <a:srgbClr val="002060"/>
                </a:solidFill>
                <a:cs typeface="Arial" pitchFamily="34" charset="0"/>
              </a:rPr>
              <a:t> pour </a:t>
            </a:r>
            <a:r>
              <a:rPr lang="en-GB" sz="2400" err="1">
                <a:solidFill>
                  <a:srgbClr val="002060"/>
                </a:solidFill>
                <a:cs typeface="Arial" pitchFamily="34" charset="0"/>
              </a:rPr>
              <a:t>trouver</a:t>
            </a:r>
            <a:r>
              <a:rPr lang="en-GB" sz="2400">
                <a:solidFill>
                  <a:srgbClr val="002060"/>
                </a:solidFill>
                <a:cs typeface="Arial" pitchFamily="34" charset="0"/>
              </a:rPr>
              <a:t> </a:t>
            </a:r>
            <a:r>
              <a:rPr lang="en-GB" sz="2400" err="1">
                <a:solidFill>
                  <a:srgbClr val="002060"/>
                </a:solidFill>
                <a:cs typeface="Arial" pitchFamily="34" charset="0"/>
              </a:rPr>
              <a:t>une</a:t>
            </a:r>
            <a:r>
              <a:rPr lang="en-GB" sz="2400">
                <a:solidFill>
                  <a:srgbClr val="002060"/>
                </a:solidFill>
                <a:cs typeface="Arial" pitchFamily="34" charset="0"/>
              </a:rPr>
              <a:t> </a:t>
            </a:r>
            <a:r>
              <a:rPr lang="en-GB" sz="2400" err="1">
                <a:solidFill>
                  <a:srgbClr val="002060"/>
                </a:solidFill>
                <a:cs typeface="Arial" pitchFamily="34" charset="0"/>
              </a:rPr>
              <a:t>réponse</a:t>
            </a:r>
            <a:r>
              <a:rPr lang="en-GB" sz="2400">
                <a:solidFill>
                  <a:srgbClr val="002060"/>
                </a:solidFill>
                <a:cs typeface="Arial" pitchFamily="34" charset="0"/>
              </a:rPr>
              <a:t> à la </a:t>
            </a:r>
            <a:r>
              <a:rPr lang="en-GB" sz="2400" err="1">
                <a:solidFill>
                  <a:srgbClr val="002060"/>
                </a:solidFill>
                <a:cs typeface="Arial" pitchFamily="34" charset="0"/>
              </a:rPr>
              <a:t>requête</a:t>
            </a:r>
            <a:endParaRPr lang="en-US" sz="2400">
              <a:solidFill>
                <a:srgbClr val="002060"/>
              </a:solidFill>
              <a:cs typeface="Arial" pitchFamily="34" charset="0"/>
            </a:endParaRPr>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10</a:t>
            </a:fld>
            <a:endParaRPr kumimoji="0" lang="en-US"/>
          </a:p>
        </p:txBody>
      </p:sp>
      <p:sp>
        <p:nvSpPr>
          <p:cNvPr id="5" name="Rectangle 4"/>
          <p:cNvSpPr/>
          <p:nvPr/>
        </p:nvSpPr>
        <p:spPr>
          <a:xfrm>
            <a:off x="224969" y="1428821"/>
            <a:ext cx="8686801" cy="769441"/>
          </a:xfrm>
          <a:prstGeom prst="rect">
            <a:avLst/>
          </a:prstGeom>
          <a:solidFill>
            <a:schemeClr val="accent3">
              <a:lumMod val="40000"/>
              <a:lumOff val="60000"/>
            </a:schemeClr>
          </a:solidFill>
        </p:spPr>
        <p:style>
          <a:lnRef idx="1">
            <a:schemeClr val="accent3"/>
          </a:lnRef>
          <a:fillRef idx="3">
            <a:schemeClr val="accent3"/>
          </a:fillRef>
          <a:effectRef idx="2">
            <a:schemeClr val="accent3"/>
          </a:effectRef>
          <a:fontRef idx="minor">
            <a:schemeClr val="lt1"/>
          </a:fontRef>
        </p:style>
        <p:txBody>
          <a:bodyPr wrap="square">
            <a:spAutoFit/>
          </a:bodyPr>
          <a:lstStyle/>
          <a:p>
            <a:pPr marL="342900" indent="-342900">
              <a:spcBef>
                <a:spcPct val="10000"/>
              </a:spcBef>
              <a:buClr>
                <a:schemeClr val="tx1"/>
              </a:buClr>
            </a:pPr>
            <a:r>
              <a:rPr lang="en-GB" sz="2200" b="1" err="1">
                <a:solidFill>
                  <a:srgbClr val="000000"/>
                </a:solidFill>
                <a:cs typeface="Arial" pitchFamily="34" charset="0"/>
              </a:rPr>
              <a:t>C’est</a:t>
            </a:r>
            <a:r>
              <a:rPr lang="en-GB" sz="2200" b="1">
                <a:solidFill>
                  <a:srgbClr val="000000"/>
                </a:solidFill>
                <a:cs typeface="Arial" pitchFamily="34" charset="0"/>
              </a:rPr>
              <a:t> </a:t>
            </a:r>
            <a:r>
              <a:rPr lang="en-GB" sz="2200" b="1" err="1">
                <a:solidFill>
                  <a:srgbClr val="000000"/>
                </a:solidFill>
                <a:cs typeface="Arial" pitchFamily="34" charset="0"/>
              </a:rPr>
              <a:t>une</a:t>
            </a:r>
            <a:r>
              <a:rPr lang="en-GB" sz="2200" b="1">
                <a:solidFill>
                  <a:srgbClr val="000000"/>
                </a:solidFill>
                <a:cs typeface="Arial" pitchFamily="34" charset="0"/>
              </a:rPr>
              <a:t> </a:t>
            </a:r>
            <a:r>
              <a:rPr lang="en-GB" sz="2200" b="1" err="1">
                <a:solidFill>
                  <a:srgbClr val="000000"/>
                </a:solidFill>
                <a:cs typeface="Arial" pitchFamily="34" charset="0"/>
              </a:rPr>
              <a:t>demande</a:t>
            </a:r>
            <a:r>
              <a:rPr lang="en-GB" sz="2200" b="1">
                <a:solidFill>
                  <a:srgbClr val="000000"/>
                </a:solidFill>
                <a:cs typeface="Arial" pitchFamily="34" charset="0"/>
              </a:rPr>
              <a:t> de </a:t>
            </a:r>
            <a:r>
              <a:rPr lang="en-GB" sz="2200" b="1" err="1">
                <a:solidFill>
                  <a:srgbClr val="000000"/>
                </a:solidFill>
                <a:cs typeface="Arial" pitchFamily="34" charset="0"/>
              </a:rPr>
              <a:t>résolution</a:t>
            </a:r>
            <a:r>
              <a:rPr lang="en-GB" sz="2200" b="1">
                <a:solidFill>
                  <a:srgbClr val="000000"/>
                </a:solidFill>
                <a:cs typeface="Arial" pitchFamily="34" charset="0"/>
              </a:rPr>
              <a:t> de </a:t>
            </a:r>
            <a:r>
              <a:rPr lang="en-GB" sz="2200" b="1" err="1">
                <a:solidFill>
                  <a:srgbClr val="000000"/>
                </a:solidFill>
                <a:cs typeface="Arial" pitchFamily="34" charset="0"/>
              </a:rPr>
              <a:t>noms</a:t>
            </a:r>
            <a:r>
              <a:rPr lang="en-GB" sz="2200" b="1">
                <a:solidFill>
                  <a:srgbClr val="000000"/>
                </a:solidFill>
                <a:cs typeface="Arial" pitchFamily="34" charset="0"/>
              </a:rPr>
              <a:t> </a:t>
            </a:r>
            <a:r>
              <a:rPr lang="en-GB" sz="2200" b="1" err="1">
                <a:solidFill>
                  <a:srgbClr val="000000"/>
                </a:solidFill>
                <a:cs typeface="Arial" pitchFamily="34" charset="0"/>
              </a:rPr>
              <a:t>envoyée</a:t>
            </a:r>
            <a:r>
              <a:rPr lang="en-GB" sz="2200" b="1">
                <a:solidFill>
                  <a:srgbClr val="000000"/>
                </a:solidFill>
                <a:cs typeface="Arial" pitchFamily="34" charset="0"/>
              </a:rPr>
              <a:t> à un </a:t>
            </a:r>
            <a:r>
              <a:rPr lang="en-GB" sz="2200" b="1" err="1">
                <a:solidFill>
                  <a:srgbClr val="000000"/>
                </a:solidFill>
                <a:cs typeface="Arial" pitchFamily="34" charset="0"/>
              </a:rPr>
              <a:t>serveur</a:t>
            </a:r>
            <a:r>
              <a:rPr lang="en-GB" sz="2200" b="1">
                <a:solidFill>
                  <a:srgbClr val="000000"/>
                </a:solidFill>
                <a:cs typeface="Arial" pitchFamily="34" charset="0"/>
              </a:rPr>
              <a:t> DNS</a:t>
            </a:r>
            <a:r>
              <a:rPr lang="en-US" sz="2200" b="1">
                <a:cs typeface="Arial" pitchFamily="34" charset="0"/>
              </a:rPr>
              <a:t> </a:t>
            </a:r>
            <a:r>
              <a:rPr lang="en-GB" sz="2200" b="1">
                <a:solidFill>
                  <a:srgbClr val="000000"/>
                </a:solidFill>
                <a:cs typeface="Arial" pitchFamily="34" charset="0"/>
              </a:rPr>
              <a:t>par les </a:t>
            </a:r>
            <a:r>
              <a:rPr lang="en-GB" sz="2200" b="1" u="sng">
                <a:solidFill>
                  <a:srgbClr val="000000"/>
                </a:solidFill>
                <a:cs typeface="Arial" pitchFamily="34" charset="0"/>
              </a:rPr>
              <a:t>clients DNS </a:t>
            </a:r>
            <a:r>
              <a:rPr lang="en-GB" sz="2200" b="1" err="1">
                <a:solidFill>
                  <a:srgbClr val="000000"/>
                </a:solidFill>
                <a:cs typeface="Arial" pitchFamily="34" charset="0"/>
              </a:rPr>
              <a:t>ou</a:t>
            </a:r>
            <a:r>
              <a:rPr lang="en-GB" sz="2200" b="1">
                <a:solidFill>
                  <a:srgbClr val="000000"/>
                </a:solidFill>
                <a:cs typeface="Arial" pitchFamily="34" charset="0"/>
              </a:rPr>
              <a:t> les </a:t>
            </a:r>
            <a:r>
              <a:rPr lang="en-GB" sz="2200" b="1" u="sng" err="1">
                <a:solidFill>
                  <a:srgbClr val="000000"/>
                </a:solidFill>
                <a:cs typeface="Arial" pitchFamily="34" charset="0"/>
              </a:rPr>
              <a:t>serveurs</a:t>
            </a:r>
            <a:r>
              <a:rPr lang="en-GB" sz="2200" b="1" u="sng">
                <a:solidFill>
                  <a:srgbClr val="000000"/>
                </a:solidFill>
                <a:cs typeface="Arial" pitchFamily="34" charset="0"/>
              </a:rPr>
              <a:t> DNS</a:t>
            </a:r>
            <a:endParaRPr lang="en-US" sz="2200" b="1" u="sng">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17833">
                                            <p:txEl>
                                              <p:pRg st="0" end="0"/>
                                            </p:txEl>
                                          </p:spTgt>
                                        </p:tgtEl>
                                        <p:attrNameLst>
                                          <p:attrName>style.visibility</p:attrName>
                                        </p:attrNameLst>
                                      </p:cBhvr>
                                      <p:to>
                                        <p:strVal val="visible"/>
                                      </p:to>
                                    </p:set>
                                    <p:anim calcmode="lin" valueType="num">
                                      <p:cBhvr additive="base">
                                        <p:cTn id="12" dur="2000" fill="hold"/>
                                        <p:tgtEl>
                                          <p:spTgt spid="717833">
                                            <p:txEl>
                                              <p:pRg st="0" end="0"/>
                                            </p:txEl>
                                          </p:spTgt>
                                        </p:tgtEl>
                                        <p:attrNameLst>
                                          <p:attrName>ppt_x</p:attrName>
                                        </p:attrNameLst>
                                      </p:cBhvr>
                                      <p:tavLst>
                                        <p:tav tm="0">
                                          <p:val>
                                            <p:strVal val="#ppt_x"/>
                                          </p:val>
                                        </p:tav>
                                        <p:tav tm="100000">
                                          <p:val>
                                            <p:strVal val="#ppt_x"/>
                                          </p:val>
                                        </p:tav>
                                      </p:tavLst>
                                    </p:anim>
                                    <p:anim calcmode="lin" valueType="num">
                                      <p:cBhvr additive="base">
                                        <p:cTn id="13" dur="2000" fill="hold"/>
                                        <p:tgtEl>
                                          <p:spTgt spid="7178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17833">
                                            <p:txEl>
                                              <p:pRg st="1" end="1"/>
                                            </p:txEl>
                                          </p:spTgt>
                                        </p:tgtEl>
                                        <p:attrNameLst>
                                          <p:attrName>style.visibility</p:attrName>
                                        </p:attrNameLst>
                                      </p:cBhvr>
                                      <p:to>
                                        <p:strVal val="visible"/>
                                      </p:to>
                                    </p:set>
                                    <p:anim calcmode="lin" valueType="num">
                                      <p:cBhvr additive="base">
                                        <p:cTn id="18" dur="2000" fill="hold"/>
                                        <p:tgtEl>
                                          <p:spTgt spid="717833">
                                            <p:txEl>
                                              <p:pRg st="1" end="1"/>
                                            </p:txEl>
                                          </p:spTgt>
                                        </p:tgtEl>
                                        <p:attrNameLst>
                                          <p:attrName>ppt_x</p:attrName>
                                        </p:attrNameLst>
                                      </p:cBhvr>
                                      <p:tavLst>
                                        <p:tav tm="0">
                                          <p:val>
                                            <p:strVal val="#ppt_x"/>
                                          </p:val>
                                        </p:tav>
                                        <p:tav tm="100000">
                                          <p:val>
                                            <p:strVal val="#ppt_x"/>
                                          </p:val>
                                        </p:tav>
                                      </p:tavLst>
                                    </p:anim>
                                    <p:anim calcmode="lin" valueType="num">
                                      <p:cBhvr additive="base">
                                        <p:cTn id="19" dur="2000" fill="hold"/>
                                        <p:tgtEl>
                                          <p:spTgt spid="71783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17833">
                                            <p:txEl>
                                              <p:pRg st="2" end="2"/>
                                            </p:txEl>
                                          </p:spTgt>
                                        </p:tgtEl>
                                        <p:attrNameLst>
                                          <p:attrName>style.visibility</p:attrName>
                                        </p:attrNameLst>
                                      </p:cBhvr>
                                      <p:to>
                                        <p:strVal val="visible"/>
                                      </p:to>
                                    </p:set>
                                    <p:anim calcmode="lin" valueType="num">
                                      <p:cBhvr additive="base">
                                        <p:cTn id="24" dur="2000" fill="hold"/>
                                        <p:tgtEl>
                                          <p:spTgt spid="717833">
                                            <p:txEl>
                                              <p:pRg st="2" end="2"/>
                                            </p:txEl>
                                          </p:spTgt>
                                        </p:tgtEl>
                                        <p:attrNameLst>
                                          <p:attrName>ppt_x</p:attrName>
                                        </p:attrNameLst>
                                      </p:cBhvr>
                                      <p:tavLst>
                                        <p:tav tm="0">
                                          <p:val>
                                            <p:strVal val="#ppt_x"/>
                                          </p:val>
                                        </p:tav>
                                        <p:tav tm="100000">
                                          <p:val>
                                            <p:strVal val="#ppt_x"/>
                                          </p:val>
                                        </p:tav>
                                      </p:tavLst>
                                    </p:anim>
                                    <p:anim calcmode="lin" valueType="num">
                                      <p:cBhvr additive="base">
                                        <p:cTn id="25" dur="2000" fill="hold"/>
                                        <p:tgtEl>
                                          <p:spTgt spid="7178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717833">
                                            <p:txEl>
                                              <p:pRg st="3" end="3"/>
                                            </p:txEl>
                                          </p:spTgt>
                                        </p:tgtEl>
                                        <p:attrNameLst>
                                          <p:attrName>style.visibility</p:attrName>
                                        </p:attrNameLst>
                                      </p:cBhvr>
                                      <p:to>
                                        <p:strVal val="visible"/>
                                      </p:to>
                                    </p:set>
                                    <p:anim calcmode="lin" valueType="num">
                                      <p:cBhvr additive="base">
                                        <p:cTn id="30" dur="2000" fill="hold"/>
                                        <p:tgtEl>
                                          <p:spTgt spid="717833">
                                            <p:txEl>
                                              <p:pRg st="3" end="3"/>
                                            </p:txEl>
                                          </p:spTgt>
                                        </p:tgtEl>
                                        <p:attrNameLst>
                                          <p:attrName>ppt_x</p:attrName>
                                        </p:attrNameLst>
                                      </p:cBhvr>
                                      <p:tavLst>
                                        <p:tav tm="0">
                                          <p:val>
                                            <p:strVal val="#ppt_x"/>
                                          </p:val>
                                        </p:tav>
                                        <p:tav tm="100000">
                                          <p:val>
                                            <p:strVal val="#ppt_x"/>
                                          </p:val>
                                        </p:tav>
                                      </p:tavLst>
                                    </p:anim>
                                    <p:anim calcmode="lin" valueType="num">
                                      <p:cBhvr additive="base">
                                        <p:cTn id="31" dur="2000" fill="hold"/>
                                        <p:tgtEl>
                                          <p:spTgt spid="7178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17833">
                                            <p:txEl>
                                              <p:pRg st="4" end="4"/>
                                            </p:txEl>
                                          </p:spTgt>
                                        </p:tgtEl>
                                        <p:attrNameLst>
                                          <p:attrName>style.visibility</p:attrName>
                                        </p:attrNameLst>
                                      </p:cBhvr>
                                      <p:to>
                                        <p:strVal val="visible"/>
                                      </p:to>
                                    </p:set>
                                    <p:anim calcmode="lin" valueType="num">
                                      <p:cBhvr additive="base">
                                        <p:cTn id="36" dur="2000" fill="hold"/>
                                        <p:tgtEl>
                                          <p:spTgt spid="717833">
                                            <p:txEl>
                                              <p:pRg st="4" end="4"/>
                                            </p:txEl>
                                          </p:spTgt>
                                        </p:tgtEl>
                                        <p:attrNameLst>
                                          <p:attrName>ppt_x</p:attrName>
                                        </p:attrNameLst>
                                      </p:cBhvr>
                                      <p:tavLst>
                                        <p:tav tm="0">
                                          <p:val>
                                            <p:strVal val="#ppt_x"/>
                                          </p:val>
                                        </p:tav>
                                        <p:tav tm="100000">
                                          <p:val>
                                            <p:strVal val="#ppt_x"/>
                                          </p:val>
                                        </p:tav>
                                      </p:tavLst>
                                    </p:anim>
                                    <p:anim calcmode="lin" valueType="num">
                                      <p:cBhvr additive="base">
                                        <p:cTn id="37" dur="2000" fill="hold"/>
                                        <p:tgtEl>
                                          <p:spTgt spid="71783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17833">
                                            <p:txEl>
                                              <p:pRg st="5" end="5"/>
                                            </p:txEl>
                                          </p:spTgt>
                                        </p:tgtEl>
                                        <p:attrNameLst>
                                          <p:attrName>style.visibility</p:attrName>
                                        </p:attrNameLst>
                                      </p:cBhvr>
                                      <p:to>
                                        <p:strVal val="visible"/>
                                      </p:to>
                                    </p:set>
                                    <p:anim calcmode="lin" valueType="num">
                                      <p:cBhvr additive="base">
                                        <p:cTn id="42" dur="2000" fill="hold"/>
                                        <p:tgtEl>
                                          <p:spTgt spid="717833">
                                            <p:txEl>
                                              <p:pRg st="5" end="5"/>
                                            </p:txEl>
                                          </p:spTgt>
                                        </p:tgtEl>
                                        <p:attrNameLst>
                                          <p:attrName>ppt_x</p:attrName>
                                        </p:attrNameLst>
                                      </p:cBhvr>
                                      <p:tavLst>
                                        <p:tav tm="0">
                                          <p:val>
                                            <p:strVal val="#ppt_x"/>
                                          </p:val>
                                        </p:tav>
                                        <p:tav tm="100000">
                                          <p:val>
                                            <p:strVal val="#ppt_x"/>
                                          </p:val>
                                        </p:tav>
                                      </p:tavLst>
                                    </p:anim>
                                    <p:anim calcmode="lin" valueType="num">
                                      <p:cBhvr additive="base">
                                        <p:cTn id="43" dur="2000" fill="hold"/>
                                        <p:tgtEl>
                                          <p:spTgt spid="71783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custDataLst>
              <p:tags r:id="rId1"/>
            </p:custDataLst>
          </p:nvPr>
        </p:nvSpPr>
        <p:spPr/>
        <p:txBody>
          <a:bodyPr vert="horz" anchor="b">
            <a:normAutofit/>
          </a:bodyPr>
          <a:lstStyle/>
          <a:p>
            <a:pPr marL="460375" indent="-460375"/>
            <a:r>
              <a:rPr lang="en-GB" sz="3000" b="1">
                <a:solidFill>
                  <a:srgbClr val="C00000"/>
                </a:solidFill>
              </a:rPr>
              <a:t>Qu'est-ce qu'une requête DNS ?</a:t>
            </a:r>
            <a:endParaRPr lang="en-US" sz="3000" b="1">
              <a:solidFill>
                <a:srgbClr val="C00000"/>
              </a:solidFill>
            </a:endParaRPr>
          </a:p>
        </p:txBody>
      </p:sp>
      <p:sp>
        <p:nvSpPr>
          <p:cNvPr id="717834" name="AutoShape 10"/>
          <p:cNvSpPr>
            <a:spLocks noChangeArrowheads="1"/>
          </p:cNvSpPr>
          <p:nvPr>
            <p:custDataLst>
              <p:tags r:id="rId2"/>
            </p:custDataLst>
          </p:nvPr>
        </p:nvSpPr>
        <p:spPr bwMode="auto">
          <a:xfrm>
            <a:off x="435429" y="1975303"/>
            <a:ext cx="8026400" cy="2683783"/>
          </a:xfrm>
          <a:prstGeom prst="roundRect">
            <a:avLst>
              <a:gd name="adj" fmla="val 16667"/>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150000"/>
              </a:lnSpc>
            </a:pPr>
            <a:r>
              <a:rPr lang="fr-FR" sz="2800" b="1">
                <a:solidFill>
                  <a:srgbClr val="000000"/>
                </a:solidFill>
              </a:rPr>
              <a:t>Deux types de requêtes:</a:t>
            </a:r>
            <a:endParaRPr lang="en-US" sz="2800" b="1"/>
          </a:p>
          <a:p>
            <a:pPr marL="711200" algn="l" eaLnBrk="1" hangingPunct="1">
              <a:lnSpc>
                <a:spcPct val="150000"/>
              </a:lnSpc>
              <a:buFont typeface="Wingdings" pitchFamily="2" charset="2"/>
              <a:buChar char="Ø"/>
            </a:pPr>
            <a:r>
              <a:rPr lang="en-GB" sz="2800" b="1">
                <a:solidFill>
                  <a:srgbClr val="000000"/>
                </a:solidFill>
              </a:rPr>
              <a:t> </a:t>
            </a:r>
            <a:r>
              <a:rPr lang="en-GB" sz="2800" b="1" err="1">
                <a:solidFill>
                  <a:srgbClr val="000000"/>
                </a:solidFill>
              </a:rPr>
              <a:t>requêtes</a:t>
            </a:r>
            <a:r>
              <a:rPr lang="en-GB" sz="2800" b="1">
                <a:solidFill>
                  <a:srgbClr val="000000"/>
                </a:solidFill>
              </a:rPr>
              <a:t> </a:t>
            </a:r>
            <a:r>
              <a:rPr lang="en-GB" sz="2800" b="1" err="1">
                <a:solidFill>
                  <a:srgbClr val="000000"/>
                </a:solidFill>
              </a:rPr>
              <a:t>récursives</a:t>
            </a:r>
            <a:r>
              <a:rPr lang="en-GB" sz="2800" b="1">
                <a:solidFill>
                  <a:srgbClr val="000000"/>
                </a:solidFill>
              </a:rPr>
              <a:t> </a:t>
            </a:r>
          </a:p>
          <a:p>
            <a:pPr marL="711200" algn="l" eaLnBrk="1" hangingPunct="1">
              <a:lnSpc>
                <a:spcPct val="150000"/>
              </a:lnSpc>
              <a:buFont typeface="Wingdings" pitchFamily="2" charset="2"/>
              <a:buChar char="Ø"/>
            </a:pPr>
            <a:r>
              <a:rPr lang="en-GB" sz="2800" b="1">
                <a:solidFill>
                  <a:srgbClr val="000000"/>
                </a:solidFill>
              </a:rPr>
              <a:t> </a:t>
            </a:r>
            <a:r>
              <a:rPr lang="en-GB" sz="2800" b="1" err="1">
                <a:solidFill>
                  <a:srgbClr val="000000"/>
                </a:solidFill>
              </a:rPr>
              <a:t>requêtes</a:t>
            </a:r>
            <a:r>
              <a:rPr lang="en-GB" sz="2800" b="1">
                <a:solidFill>
                  <a:srgbClr val="000000"/>
                </a:solidFill>
              </a:rPr>
              <a:t> </a:t>
            </a:r>
            <a:r>
              <a:rPr lang="en-GB" sz="2800" b="1" err="1">
                <a:solidFill>
                  <a:srgbClr val="000000"/>
                </a:solidFill>
              </a:rPr>
              <a:t>itératives</a:t>
            </a:r>
            <a:endParaRPr lang="en-US" sz="2800" b="1">
              <a:solidFill>
                <a:srgbClr val="000000"/>
              </a:solidFill>
            </a:endParaRPr>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11</a:t>
            </a:fld>
            <a:endParaRPr kumimoji="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custDataLst>
              <p:tags r:id="rId1"/>
            </p:custDataLst>
          </p:nvPr>
        </p:nvSpPr>
        <p:spPr/>
        <p:txBody>
          <a:bodyPr vert="horz" anchor="b">
            <a:normAutofit/>
          </a:bodyPr>
          <a:lstStyle/>
          <a:p>
            <a:pPr marL="460375" indent="-460375"/>
            <a:r>
              <a:rPr lang="en-GB" sz="3000" b="1">
                <a:solidFill>
                  <a:srgbClr val="C00000"/>
                </a:solidFill>
              </a:rPr>
              <a:t>Fonctionnement des requêtes récursives</a:t>
            </a:r>
            <a:endParaRPr lang="en-US" sz="3000" b="1">
              <a:solidFill>
                <a:srgbClr val="C00000"/>
              </a:solidFill>
            </a:endParaRPr>
          </a:p>
        </p:txBody>
      </p:sp>
      <p:sp>
        <p:nvSpPr>
          <p:cNvPr id="707659" name="Oval 75"/>
          <p:cNvSpPr>
            <a:spLocks noChangeArrowheads="1"/>
          </p:cNvSpPr>
          <p:nvPr/>
        </p:nvSpPr>
        <p:spPr bwMode="auto">
          <a:xfrm>
            <a:off x="5681663" y="4195763"/>
            <a:ext cx="2220912" cy="1239837"/>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grpSp>
        <p:nvGrpSpPr>
          <p:cNvPr id="707660" name="Group 76"/>
          <p:cNvGrpSpPr>
            <a:grpSpLocks/>
          </p:cNvGrpSpPr>
          <p:nvPr/>
        </p:nvGrpSpPr>
        <p:grpSpPr bwMode="auto">
          <a:xfrm>
            <a:off x="915988" y="3667125"/>
            <a:ext cx="2220912" cy="2281238"/>
            <a:chOff x="577" y="2448"/>
            <a:chExt cx="1399" cy="1437"/>
          </a:xfrm>
        </p:grpSpPr>
        <p:sp>
          <p:nvSpPr>
            <p:cNvPr id="707661" name="AutoShape 77"/>
            <p:cNvSpPr>
              <a:spLocks noChangeArrowheads="1"/>
            </p:cNvSpPr>
            <p:nvPr/>
          </p:nvSpPr>
          <p:spPr bwMode="auto">
            <a:xfrm>
              <a:off x="863" y="3645"/>
              <a:ext cx="883" cy="24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r>
                <a:rPr lang="en-US" sz="2200" b="1"/>
                <a:t>Computer1</a:t>
              </a:r>
            </a:p>
          </p:txBody>
        </p:sp>
        <p:sp>
          <p:nvSpPr>
            <p:cNvPr id="707662" name="Oval 78"/>
            <p:cNvSpPr>
              <a:spLocks noChangeArrowheads="1"/>
            </p:cNvSpPr>
            <p:nvPr/>
          </p:nvSpPr>
          <p:spPr bwMode="auto">
            <a:xfrm>
              <a:off x="577" y="2799"/>
              <a:ext cx="1399" cy="781"/>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pic>
          <p:nvPicPr>
            <p:cNvPr id="707663" name="Picture 79" descr="Computer_DesktopComputerSansKeyboard01"/>
            <p:cNvPicPr>
              <a:picLocks noChangeAspect="1" noChangeArrowheads="1"/>
            </p:cNvPicPr>
            <p:nvPr/>
          </p:nvPicPr>
          <p:blipFill>
            <a:blip r:embed="rId4"/>
            <a:srcRect/>
            <a:stretch>
              <a:fillRect/>
            </a:stretch>
          </p:blipFill>
          <p:spPr bwMode="auto">
            <a:xfrm>
              <a:off x="892" y="2448"/>
              <a:ext cx="849" cy="1034"/>
            </a:xfrm>
            <a:prstGeom prst="rect">
              <a:avLst/>
            </a:prstGeom>
            <a:noFill/>
          </p:spPr>
        </p:pic>
      </p:grpSp>
      <p:grpSp>
        <p:nvGrpSpPr>
          <p:cNvPr id="707664" name="Group 80"/>
          <p:cNvGrpSpPr>
            <a:grpSpLocks/>
          </p:cNvGrpSpPr>
          <p:nvPr/>
        </p:nvGrpSpPr>
        <p:grpSpPr bwMode="auto">
          <a:xfrm>
            <a:off x="2830513" y="3705225"/>
            <a:ext cx="3308349" cy="1082675"/>
            <a:chOff x="1783" y="2334"/>
            <a:chExt cx="2084" cy="682"/>
          </a:xfrm>
        </p:grpSpPr>
        <p:sp>
          <p:nvSpPr>
            <p:cNvPr id="707665" name="Rectangle 81"/>
            <p:cNvSpPr>
              <a:spLocks noChangeArrowheads="1"/>
            </p:cNvSpPr>
            <p:nvPr/>
          </p:nvSpPr>
          <p:spPr bwMode="auto">
            <a:xfrm>
              <a:off x="1856" y="2404"/>
              <a:ext cx="2011" cy="523"/>
            </a:xfrm>
            <a:prstGeom prst="rect">
              <a:avLst/>
            </a:prstGeom>
            <a:noFill/>
            <a:ln w="9525" algn="ctr">
              <a:noFill/>
              <a:miter lim="800000"/>
              <a:headEnd/>
              <a:tailEnd/>
            </a:ln>
            <a:effectLst/>
          </p:spPr>
          <p:txBody>
            <a:bodyPr wrap="square">
              <a:spAutoFit/>
            </a:bodyPr>
            <a:lstStyle/>
            <a:p>
              <a:r>
                <a:rPr lang="en-US" sz="2400" b="1" err="1"/>
                <a:t>Requête</a:t>
              </a:r>
              <a:r>
                <a:rPr lang="en-US" sz="2400" b="1"/>
                <a:t> </a:t>
              </a:r>
              <a:r>
                <a:rPr lang="en-US" sz="2400" b="1" err="1"/>
                <a:t>récursive</a:t>
              </a:r>
              <a:r>
                <a:rPr lang="en-US" sz="2400" b="1"/>
                <a:t> pour</a:t>
              </a:r>
            </a:p>
            <a:p>
              <a:r>
                <a:rPr lang="en-US" sz="2400" b="1"/>
                <a:t>mail1.nwtraders.com</a:t>
              </a:r>
            </a:p>
          </p:txBody>
        </p:sp>
        <p:sp>
          <p:nvSpPr>
            <p:cNvPr id="707666" name="Arc 82"/>
            <p:cNvSpPr>
              <a:spLocks/>
            </p:cNvSpPr>
            <p:nvPr/>
          </p:nvSpPr>
          <p:spPr bwMode="auto">
            <a:xfrm>
              <a:off x="1783" y="2334"/>
              <a:ext cx="2037" cy="682"/>
            </a:xfrm>
            <a:custGeom>
              <a:avLst/>
              <a:gdLst>
                <a:gd name="G0" fmla="+- 16830 0 0"/>
                <a:gd name="G1" fmla="+- 21600 0 0"/>
                <a:gd name="G2" fmla="+- 21600 0 0"/>
                <a:gd name="T0" fmla="*/ 0 w 33710"/>
                <a:gd name="T1" fmla="*/ 8061 h 21600"/>
                <a:gd name="T2" fmla="*/ 33710 w 33710"/>
                <a:gd name="T3" fmla="*/ 8123 h 21600"/>
                <a:gd name="T4" fmla="*/ 16830 w 33710"/>
                <a:gd name="T5" fmla="*/ 21600 h 21600"/>
              </a:gdLst>
              <a:ahLst/>
              <a:cxnLst>
                <a:cxn ang="0">
                  <a:pos x="T0" y="T1"/>
                </a:cxn>
                <a:cxn ang="0">
                  <a:pos x="T2" y="T3"/>
                </a:cxn>
                <a:cxn ang="0">
                  <a:pos x="T4" y="T5"/>
                </a:cxn>
              </a:cxnLst>
              <a:rect l="0" t="0" r="r" b="b"/>
              <a:pathLst>
                <a:path w="33710" h="21600" fill="none" extrusionOk="0">
                  <a:moveTo>
                    <a:pt x="-1" y="8060"/>
                  </a:moveTo>
                  <a:cubicBezTo>
                    <a:pt x="4099" y="2964"/>
                    <a:pt x="10288" y="-1"/>
                    <a:pt x="16830" y="0"/>
                  </a:cubicBezTo>
                  <a:cubicBezTo>
                    <a:pt x="23399" y="0"/>
                    <a:pt x="29611" y="2989"/>
                    <a:pt x="33709" y="8123"/>
                  </a:cubicBezTo>
                </a:path>
                <a:path w="33710" h="21600" stroke="0" extrusionOk="0">
                  <a:moveTo>
                    <a:pt x="-1" y="8060"/>
                  </a:moveTo>
                  <a:cubicBezTo>
                    <a:pt x="4099" y="2964"/>
                    <a:pt x="10288" y="-1"/>
                    <a:pt x="16830" y="0"/>
                  </a:cubicBezTo>
                  <a:cubicBezTo>
                    <a:pt x="23399" y="0"/>
                    <a:pt x="29611" y="2989"/>
                    <a:pt x="33709" y="8123"/>
                  </a:cubicBezTo>
                  <a:lnTo>
                    <a:pt x="16830" y="21600"/>
                  </a:lnTo>
                  <a:close/>
                </a:path>
              </a:pathLst>
            </a:custGeom>
            <a:noFill/>
            <a:ln w="57150">
              <a:solidFill>
                <a:srgbClr val="CC0000"/>
              </a:solidFill>
              <a:round/>
              <a:headEnd/>
              <a:tailEnd type="triangle" w="med" len="med"/>
            </a:ln>
            <a:effectLst/>
          </p:spPr>
          <p:txBody>
            <a:bodyPr/>
            <a:lstStyle/>
            <a:p>
              <a:endParaRPr lang="fr-FR" sz="2000"/>
            </a:p>
          </p:txBody>
        </p:sp>
      </p:grpSp>
      <p:grpSp>
        <p:nvGrpSpPr>
          <p:cNvPr id="707667" name="Group 83"/>
          <p:cNvGrpSpPr>
            <a:grpSpLocks/>
          </p:cNvGrpSpPr>
          <p:nvPr/>
        </p:nvGrpSpPr>
        <p:grpSpPr bwMode="auto">
          <a:xfrm>
            <a:off x="2806700" y="4335463"/>
            <a:ext cx="3279775" cy="1085850"/>
            <a:chOff x="1768" y="2731"/>
            <a:chExt cx="2066" cy="684"/>
          </a:xfrm>
        </p:grpSpPr>
        <p:sp>
          <p:nvSpPr>
            <p:cNvPr id="707668" name="Text Box 84"/>
            <p:cNvSpPr txBox="1">
              <a:spLocks noChangeArrowheads="1"/>
            </p:cNvSpPr>
            <p:nvPr/>
          </p:nvSpPr>
          <p:spPr bwMode="auto">
            <a:xfrm>
              <a:off x="2057" y="3124"/>
              <a:ext cx="1600" cy="291"/>
            </a:xfrm>
            <a:prstGeom prst="rect">
              <a:avLst/>
            </a:prstGeom>
            <a:noFill/>
            <a:ln w="9525" algn="ctr">
              <a:noFill/>
              <a:miter lim="800000"/>
              <a:headEnd/>
              <a:tailEnd/>
            </a:ln>
            <a:effectLst/>
          </p:spPr>
          <p:txBody>
            <a:bodyPr wrap="square">
              <a:spAutoFit/>
            </a:bodyPr>
            <a:lstStyle/>
            <a:p>
              <a:r>
                <a:rPr lang="en-US" sz="2400" b="1"/>
                <a:t>172.16.64.11</a:t>
              </a:r>
            </a:p>
          </p:txBody>
        </p:sp>
        <p:sp>
          <p:nvSpPr>
            <p:cNvPr id="707669" name="Arc 85"/>
            <p:cNvSpPr>
              <a:spLocks/>
            </p:cNvSpPr>
            <p:nvPr/>
          </p:nvSpPr>
          <p:spPr bwMode="auto">
            <a:xfrm flipH="1" flipV="1">
              <a:off x="1768" y="2731"/>
              <a:ext cx="2066" cy="682"/>
            </a:xfrm>
            <a:custGeom>
              <a:avLst/>
              <a:gdLst>
                <a:gd name="G0" fmla="+- 16830 0 0"/>
                <a:gd name="G1" fmla="+- 21600 0 0"/>
                <a:gd name="G2" fmla="+- 21600 0 0"/>
                <a:gd name="T0" fmla="*/ 0 w 34186"/>
                <a:gd name="T1" fmla="*/ 8061 h 21600"/>
                <a:gd name="T2" fmla="*/ 34186 w 34186"/>
                <a:gd name="T3" fmla="*/ 8742 h 21600"/>
                <a:gd name="T4" fmla="*/ 16830 w 34186"/>
                <a:gd name="T5" fmla="*/ 21600 h 21600"/>
              </a:gdLst>
              <a:ahLst/>
              <a:cxnLst>
                <a:cxn ang="0">
                  <a:pos x="T0" y="T1"/>
                </a:cxn>
                <a:cxn ang="0">
                  <a:pos x="T2" y="T3"/>
                </a:cxn>
                <a:cxn ang="0">
                  <a:pos x="T4" y="T5"/>
                </a:cxn>
              </a:cxnLst>
              <a:rect l="0" t="0" r="r" b="b"/>
              <a:pathLst>
                <a:path w="34186" h="21600" fill="none" extrusionOk="0">
                  <a:moveTo>
                    <a:pt x="-1" y="8060"/>
                  </a:moveTo>
                  <a:cubicBezTo>
                    <a:pt x="4099" y="2964"/>
                    <a:pt x="10288" y="-1"/>
                    <a:pt x="16830" y="0"/>
                  </a:cubicBezTo>
                  <a:cubicBezTo>
                    <a:pt x="23673" y="0"/>
                    <a:pt x="30112" y="3243"/>
                    <a:pt x="34186" y="8741"/>
                  </a:cubicBezTo>
                </a:path>
                <a:path w="34186" h="21600" stroke="0" extrusionOk="0">
                  <a:moveTo>
                    <a:pt x="-1" y="8060"/>
                  </a:moveTo>
                  <a:cubicBezTo>
                    <a:pt x="4099" y="2964"/>
                    <a:pt x="10288" y="-1"/>
                    <a:pt x="16830" y="0"/>
                  </a:cubicBezTo>
                  <a:cubicBezTo>
                    <a:pt x="23673" y="0"/>
                    <a:pt x="30112" y="3243"/>
                    <a:pt x="34186" y="8741"/>
                  </a:cubicBezTo>
                  <a:lnTo>
                    <a:pt x="16830" y="21600"/>
                  </a:lnTo>
                  <a:close/>
                </a:path>
              </a:pathLst>
            </a:custGeom>
            <a:noFill/>
            <a:ln w="57150" cap="rnd">
              <a:solidFill>
                <a:srgbClr val="CC0000"/>
              </a:solidFill>
              <a:prstDash val="sysDot"/>
              <a:round/>
              <a:headEnd/>
              <a:tailEnd type="triangle" w="med" len="med"/>
            </a:ln>
            <a:effectLst/>
          </p:spPr>
          <p:txBody>
            <a:bodyPr wrap="none" anchor="ctr"/>
            <a:lstStyle/>
            <a:p>
              <a:endParaRPr lang="fr-FR" sz="2000"/>
            </a:p>
          </p:txBody>
        </p:sp>
      </p:grpSp>
      <p:sp>
        <p:nvSpPr>
          <p:cNvPr id="707670" name="AutoShape 86"/>
          <p:cNvSpPr>
            <a:spLocks noChangeArrowheads="1"/>
          </p:cNvSpPr>
          <p:nvPr/>
        </p:nvSpPr>
        <p:spPr bwMode="auto">
          <a:xfrm>
            <a:off x="246743" y="1407205"/>
            <a:ext cx="8665028" cy="1161823"/>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anchor="ctr"/>
          <a:lstStyle/>
          <a:p>
            <a:pPr eaLnBrk="1" hangingPunct="1"/>
            <a:r>
              <a:rPr lang="fr-FR" sz="2400" b="1"/>
              <a:t>C’est une requête envoyée à un serveur DNS dans laquelle le client DNS demande au serveur de fournir une réponse complète</a:t>
            </a:r>
          </a:p>
        </p:txBody>
      </p:sp>
      <p:sp>
        <p:nvSpPr>
          <p:cNvPr id="707671" name="Oval 87"/>
          <p:cNvSpPr>
            <a:spLocks noChangeArrowheads="1"/>
          </p:cNvSpPr>
          <p:nvPr/>
        </p:nvSpPr>
        <p:spPr bwMode="auto">
          <a:xfrm>
            <a:off x="5748338" y="3409950"/>
            <a:ext cx="2319337" cy="2178050"/>
          </a:xfrm>
          <a:prstGeom prst="ellipse">
            <a:avLst/>
          </a:prstGeom>
          <a:solidFill>
            <a:srgbClr val="CC0000">
              <a:alpha val="25000"/>
            </a:srgbClr>
          </a:solidFill>
          <a:ln w="9525" algn="ctr">
            <a:noFill/>
            <a:round/>
            <a:headEnd/>
            <a:tailEnd/>
          </a:ln>
          <a:effectLst/>
        </p:spPr>
        <p:txBody>
          <a:bodyPr wrap="none" anchor="ctr"/>
          <a:lstStyle/>
          <a:p>
            <a:endParaRPr lang="fr-FR"/>
          </a:p>
        </p:txBody>
      </p:sp>
      <p:sp>
        <p:nvSpPr>
          <p:cNvPr id="707672" name="AutoShape 88"/>
          <p:cNvSpPr>
            <a:spLocks noChangeArrowheads="1"/>
          </p:cNvSpPr>
          <p:nvPr/>
        </p:nvSpPr>
        <p:spPr bwMode="auto">
          <a:xfrm>
            <a:off x="377371" y="2598058"/>
            <a:ext cx="8215086" cy="827768"/>
          </a:xfrm>
          <a:prstGeom prst="roundRect">
            <a:avLst>
              <a:gd name="adj" fmla="val 68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fr-FR" sz="2600" b="1"/>
              <a:t>Le serveur DNS essaie de trouver une réponse dans la zone de recherche directe et dans le cache</a:t>
            </a:r>
          </a:p>
        </p:txBody>
      </p:sp>
      <p:pic>
        <p:nvPicPr>
          <p:cNvPr id="707673" name="Picture 89" descr="Server01"/>
          <p:cNvPicPr>
            <a:picLocks noChangeAspect="1" noChangeArrowheads="1"/>
          </p:cNvPicPr>
          <p:nvPr/>
        </p:nvPicPr>
        <p:blipFill>
          <a:blip r:embed="rId5"/>
          <a:srcRect/>
          <a:stretch>
            <a:fillRect/>
          </a:stretch>
        </p:blipFill>
        <p:spPr bwMode="auto">
          <a:xfrm>
            <a:off x="6156325" y="3617913"/>
            <a:ext cx="1338263" cy="1695450"/>
          </a:xfrm>
          <a:prstGeom prst="rect">
            <a:avLst/>
          </a:prstGeom>
          <a:noFill/>
        </p:spPr>
      </p:pic>
      <p:grpSp>
        <p:nvGrpSpPr>
          <p:cNvPr id="707674" name="Group 90"/>
          <p:cNvGrpSpPr>
            <a:grpSpLocks/>
          </p:cNvGrpSpPr>
          <p:nvPr/>
        </p:nvGrpSpPr>
        <p:grpSpPr bwMode="auto">
          <a:xfrm>
            <a:off x="609600" y="6051550"/>
            <a:ext cx="914400" cy="425450"/>
            <a:chOff x="384" y="3024"/>
            <a:chExt cx="720" cy="336"/>
          </a:xfrm>
        </p:grpSpPr>
        <p:sp>
          <p:nvSpPr>
            <p:cNvPr id="707675" name="Oval 91"/>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07676" name="Group 92"/>
            <p:cNvGrpSpPr>
              <a:grpSpLocks/>
            </p:cNvGrpSpPr>
            <p:nvPr/>
          </p:nvGrpSpPr>
          <p:grpSpPr bwMode="auto">
            <a:xfrm>
              <a:off x="480" y="3096"/>
              <a:ext cx="240" cy="192"/>
              <a:chOff x="480" y="3096"/>
              <a:chExt cx="240" cy="192"/>
            </a:xfrm>
          </p:grpSpPr>
          <p:sp>
            <p:nvSpPr>
              <p:cNvPr id="707677" name="Oval 93"/>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07678" name="Freeform 94"/>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07679" name="Group 95"/>
          <p:cNvGrpSpPr>
            <a:grpSpLocks/>
          </p:cNvGrpSpPr>
          <p:nvPr/>
        </p:nvGrpSpPr>
        <p:grpSpPr bwMode="auto">
          <a:xfrm>
            <a:off x="1096963" y="6142038"/>
            <a:ext cx="304800" cy="244475"/>
            <a:chOff x="768" y="3096"/>
            <a:chExt cx="240" cy="192"/>
          </a:xfrm>
        </p:grpSpPr>
        <p:sp>
          <p:nvSpPr>
            <p:cNvPr id="707680" name="Oval 96"/>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07681" name="Rectangle 97"/>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pic>
        <p:nvPicPr>
          <p:cNvPr id="707682" name="Picture 98" descr="Database01"/>
          <p:cNvPicPr>
            <a:picLocks noChangeAspect="1" noChangeArrowheads="1"/>
          </p:cNvPicPr>
          <p:nvPr/>
        </p:nvPicPr>
        <p:blipFill>
          <a:blip r:embed="rId6" cstate="print"/>
          <a:srcRect/>
          <a:stretch>
            <a:fillRect/>
          </a:stretch>
        </p:blipFill>
        <p:spPr bwMode="auto">
          <a:xfrm>
            <a:off x="6869113" y="4545013"/>
            <a:ext cx="1014412" cy="820737"/>
          </a:xfrm>
          <a:prstGeom prst="rect">
            <a:avLst/>
          </a:prstGeom>
          <a:noFill/>
        </p:spPr>
      </p:pic>
      <p:sp>
        <p:nvSpPr>
          <p:cNvPr id="707683" name="Text Box 99"/>
          <p:cNvSpPr txBox="1">
            <a:spLocks noChangeArrowheads="1"/>
          </p:cNvSpPr>
          <p:nvPr/>
        </p:nvSpPr>
        <p:spPr bwMode="auto">
          <a:xfrm>
            <a:off x="6900863" y="4602163"/>
            <a:ext cx="1048685" cy="707886"/>
          </a:xfrm>
          <a:prstGeom prst="rect">
            <a:avLst/>
          </a:prstGeom>
          <a:noFill/>
          <a:ln w="9525" algn="ctr">
            <a:noFill/>
            <a:miter lim="800000"/>
            <a:headEnd/>
            <a:tailEnd/>
          </a:ln>
          <a:effectLst/>
        </p:spPr>
        <p:txBody>
          <a:bodyPr wrap="none">
            <a:spAutoFit/>
          </a:bodyPr>
          <a:lstStyle/>
          <a:p>
            <a:r>
              <a:rPr lang="en-US" sz="2000" b="1"/>
              <a:t>Base de</a:t>
            </a:r>
            <a:br>
              <a:rPr lang="en-US" sz="2000" b="1"/>
            </a:br>
            <a:r>
              <a:rPr lang="en-US" sz="2000" b="1" err="1"/>
              <a:t>données</a:t>
            </a:r>
            <a:endParaRPr lang="en-US" sz="2000" b="1"/>
          </a:p>
        </p:txBody>
      </p:sp>
      <p:sp>
        <p:nvSpPr>
          <p:cNvPr id="707684" name="AutoShape 100"/>
          <p:cNvSpPr>
            <a:spLocks noChangeArrowheads="1"/>
          </p:cNvSpPr>
          <p:nvPr/>
        </p:nvSpPr>
        <p:spPr bwMode="auto">
          <a:xfrm>
            <a:off x="5867400" y="5538788"/>
            <a:ext cx="2608943" cy="381000"/>
          </a:xfrm>
          <a:prstGeom prst="roundRect">
            <a:avLst>
              <a:gd name="adj" fmla="val 4167"/>
            </a:avLst>
          </a:prstGeom>
          <a:solidFill>
            <a:schemeClr val="accent1"/>
          </a:solidFill>
          <a:ln w="9525">
            <a:solidFill>
              <a:srgbClr val="4D4D4D"/>
            </a:solidFill>
            <a:round/>
            <a:headEnd/>
            <a:tailEnd/>
          </a:ln>
          <a:effectLst>
            <a:outerShdw dist="35921" dir="2700000" algn="ctr" rotWithShape="0">
              <a:srgbClr val="AFAFAF"/>
            </a:outerShdw>
          </a:effectLst>
        </p:spPr>
        <p:txBody>
          <a:bodyPr wrap="none" anchor="ctr"/>
          <a:lstStyle/>
          <a:p>
            <a:r>
              <a:rPr lang="en-US" sz="2200" b="1" err="1"/>
              <a:t>Serveur</a:t>
            </a:r>
            <a:r>
              <a:rPr lang="en-US" sz="2200" b="1"/>
              <a:t> DNS local</a:t>
            </a:r>
          </a:p>
        </p:txBody>
      </p:sp>
      <p:sp>
        <p:nvSpPr>
          <p:cNvPr id="31" name="Espace réservé du numéro de diapositive 30"/>
          <p:cNvSpPr>
            <a:spLocks noGrp="1"/>
          </p:cNvSpPr>
          <p:nvPr>
            <p:ph type="sldNum" sz="quarter" idx="12"/>
          </p:nvPr>
        </p:nvSpPr>
        <p:spPr/>
        <p:txBody>
          <a:bodyPr/>
          <a:lstStyle/>
          <a:p>
            <a:fld id="{2C6B1FF6-39B9-40F5-8B67-33C6354A3D4F}" type="slidenum">
              <a:rPr kumimoji="0" lang="en-US" smtClean="0"/>
              <a:pPr/>
              <a:t>12</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07664"/>
                                        </p:tgtEl>
                                        <p:attrNameLst>
                                          <p:attrName>style.visibility</p:attrName>
                                        </p:attrNameLst>
                                      </p:cBhvr>
                                      <p:to>
                                        <p:strVal val="visible"/>
                                      </p:to>
                                    </p:set>
                                    <p:animEffect transition="in" filter="wipe(left)">
                                      <p:cBhvr>
                                        <p:cTn id="7" dur="1000"/>
                                        <p:tgtEl>
                                          <p:spTgt spid="707664"/>
                                        </p:tgtEl>
                                      </p:cBhvr>
                                    </p:animEffect>
                                  </p:childTnLst>
                                </p:cTn>
                              </p:par>
                            </p:childTnLst>
                          </p:cTn>
                        </p:par>
                        <p:par>
                          <p:cTn id="8" fill="hold">
                            <p:stCondLst>
                              <p:cond delay="1000"/>
                            </p:stCondLst>
                            <p:childTnLst>
                              <p:par>
                                <p:cTn id="9" presetID="9" presetClass="entr" presetSubtype="0" fill="hold" grpId="0" nodeType="afterEffect">
                                  <p:stCondLst>
                                    <p:cond delay="1000"/>
                                  </p:stCondLst>
                                  <p:childTnLst>
                                    <p:set>
                                      <p:cBhvr>
                                        <p:cTn id="10" dur="1" fill="hold">
                                          <p:stCondLst>
                                            <p:cond delay="0"/>
                                          </p:stCondLst>
                                        </p:cTn>
                                        <p:tgtEl>
                                          <p:spTgt spid="707671"/>
                                        </p:tgtEl>
                                        <p:attrNameLst>
                                          <p:attrName>style.visibility</p:attrName>
                                        </p:attrNameLst>
                                      </p:cBhvr>
                                      <p:to>
                                        <p:strVal val="visible"/>
                                      </p:to>
                                    </p:set>
                                    <p:animEffect transition="in" filter="dissolve">
                                      <p:cBhvr>
                                        <p:cTn id="11" dur="1000"/>
                                        <p:tgtEl>
                                          <p:spTgt spid="707671"/>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707672"/>
                                        </p:tgtEl>
                                        <p:attrNameLst>
                                          <p:attrName>style.visibility</p:attrName>
                                        </p:attrNameLst>
                                      </p:cBhvr>
                                      <p:to>
                                        <p:strVal val="visible"/>
                                      </p:to>
                                    </p:set>
                                    <p:animEffect transition="in" filter="checkerboard(across)">
                                      <p:cBhvr>
                                        <p:cTn id="16" dur="500"/>
                                        <p:tgtEl>
                                          <p:spTgt spid="70767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707667"/>
                                        </p:tgtEl>
                                        <p:attrNameLst>
                                          <p:attrName>style.visibility</p:attrName>
                                        </p:attrNameLst>
                                      </p:cBhvr>
                                      <p:to>
                                        <p:strVal val="visible"/>
                                      </p:to>
                                    </p:set>
                                    <p:animEffect transition="in" filter="wipe(right)">
                                      <p:cBhvr>
                                        <p:cTn id="21" dur="1000"/>
                                        <p:tgtEl>
                                          <p:spTgt spid="707667"/>
                                        </p:tgtEl>
                                      </p:cBhvr>
                                    </p:animEffect>
                                  </p:childTnLst>
                                </p:cTn>
                              </p:par>
                            </p:childTnLst>
                          </p:cTn>
                        </p:par>
                        <p:par>
                          <p:cTn id="22" fill="hold">
                            <p:stCondLst>
                              <p:cond delay="1000"/>
                            </p:stCondLst>
                            <p:childTnLst>
                              <p:par>
                                <p:cTn id="23" presetID="1" presetClass="entr" presetSubtype="0" fill="hold" nodeType="afterEffect">
                                  <p:stCondLst>
                                    <p:cond delay="0"/>
                                  </p:stCondLst>
                                  <p:childTnLst>
                                    <p:set>
                                      <p:cBhvr>
                                        <p:cTn id="24" dur="1" fill="hold">
                                          <p:stCondLst>
                                            <p:cond delay="0"/>
                                          </p:stCondLst>
                                        </p:cTn>
                                        <p:tgtEl>
                                          <p:spTgt spid="707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671" grpId="0" animBg="1"/>
      <p:bldP spid="70767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6" name="Rectangle 4"/>
          <p:cNvSpPr>
            <a:spLocks noGrp="1" noChangeArrowheads="1"/>
          </p:cNvSpPr>
          <p:nvPr>
            <p:ph type="title"/>
            <p:custDataLst>
              <p:tags r:id="rId1"/>
            </p:custDataLst>
          </p:nvPr>
        </p:nvSpPr>
        <p:spPr>
          <a:xfrm>
            <a:off x="301752" y="170544"/>
            <a:ext cx="8534400" cy="758952"/>
          </a:xfrm>
        </p:spPr>
        <p:txBody>
          <a:bodyPr vert="horz" anchor="b">
            <a:normAutofit/>
          </a:bodyPr>
          <a:lstStyle/>
          <a:p>
            <a:pPr marL="460375" indent="-460375"/>
            <a:r>
              <a:rPr lang="en-GB" sz="3000" b="1" err="1">
                <a:solidFill>
                  <a:srgbClr val="C00000"/>
                </a:solidFill>
              </a:rPr>
              <a:t>Fonctionnement</a:t>
            </a:r>
            <a:r>
              <a:rPr lang="en-GB" sz="3000" b="1">
                <a:solidFill>
                  <a:srgbClr val="C00000"/>
                </a:solidFill>
              </a:rPr>
              <a:t> des indications de </a:t>
            </a:r>
            <a:r>
              <a:rPr lang="en-GB" sz="3000" b="1" err="1">
                <a:solidFill>
                  <a:srgbClr val="C00000"/>
                </a:solidFill>
              </a:rPr>
              <a:t>racine</a:t>
            </a:r>
            <a:endParaRPr lang="en-US" sz="3000" b="1">
              <a:solidFill>
                <a:srgbClr val="C00000"/>
              </a:solidFill>
            </a:endParaRPr>
          </a:p>
        </p:txBody>
      </p:sp>
      <p:sp>
        <p:nvSpPr>
          <p:cNvPr id="801850" name="AutoShape 58"/>
          <p:cNvSpPr>
            <a:spLocks noChangeArrowheads="1"/>
          </p:cNvSpPr>
          <p:nvPr>
            <p:custDataLst>
              <p:tags r:id="rId2"/>
            </p:custDataLst>
          </p:nvPr>
        </p:nvSpPr>
        <p:spPr bwMode="auto">
          <a:xfrm>
            <a:off x="246743" y="1331913"/>
            <a:ext cx="8694057" cy="1222601"/>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anchor="ctr"/>
          <a:lstStyle/>
          <a:p>
            <a:pPr eaLnBrk="1" hangingPunct="1">
              <a:lnSpc>
                <a:spcPct val="90000"/>
              </a:lnSpc>
              <a:buSzPct val="70000"/>
            </a:pPr>
            <a:r>
              <a:rPr lang="en-GB" sz="2400" b="1" err="1">
                <a:solidFill>
                  <a:srgbClr val="000000"/>
                </a:solidFill>
              </a:rPr>
              <a:t>Ce</a:t>
            </a:r>
            <a:r>
              <a:rPr lang="en-GB" sz="2400" b="1">
                <a:solidFill>
                  <a:srgbClr val="000000"/>
                </a:solidFill>
              </a:rPr>
              <a:t> </a:t>
            </a:r>
            <a:r>
              <a:rPr lang="en-GB" sz="2400" b="1" err="1">
                <a:solidFill>
                  <a:srgbClr val="000000"/>
                </a:solidFill>
              </a:rPr>
              <a:t>sont</a:t>
            </a:r>
            <a:r>
              <a:rPr lang="en-GB" sz="2400" b="1">
                <a:solidFill>
                  <a:srgbClr val="000000"/>
                </a:solidFill>
              </a:rPr>
              <a:t> des </a:t>
            </a:r>
            <a:r>
              <a:rPr lang="en-GB" sz="2400" b="1" err="1">
                <a:solidFill>
                  <a:srgbClr val="000000"/>
                </a:solidFill>
              </a:rPr>
              <a:t>enregistrements</a:t>
            </a:r>
            <a:r>
              <a:rPr lang="en-GB" sz="2400" b="1">
                <a:solidFill>
                  <a:srgbClr val="000000"/>
                </a:solidFill>
              </a:rPr>
              <a:t> de </a:t>
            </a:r>
            <a:r>
              <a:rPr lang="en-GB" sz="2400" b="1" err="1">
                <a:solidFill>
                  <a:srgbClr val="000000"/>
                </a:solidFill>
              </a:rPr>
              <a:t>ressources</a:t>
            </a:r>
            <a:r>
              <a:rPr lang="en-GB" sz="2400" b="1">
                <a:solidFill>
                  <a:srgbClr val="000000"/>
                </a:solidFill>
              </a:rPr>
              <a:t> DNS </a:t>
            </a:r>
            <a:r>
              <a:rPr lang="en-GB" sz="2400" b="1" err="1">
                <a:solidFill>
                  <a:srgbClr val="000000"/>
                </a:solidFill>
              </a:rPr>
              <a:t>stockés</a:t>
            </a:r>
            <a:r>
              <a:rPr lang="en-GB" sz="2400" b="1">
                <a:solidFill>
                  <a:srgbClr val="000000"/>
                </a:solidFill>
              </a:rPr>
              <a:t> </a:t>
            </a:r>
            <a:r>
              <a:rPr lang="en-GB" sz="2400" b="1" err="1">
                <a:solidFill>
                  <a:srgbClr val="000000"/>
                </a:solidFill>
              </a:rPr>
              <a:t>sur</a:t>
            </a:r>
            <a:r>
              <a:rPr lang="en-GB" sz="2400" b="1">
                <a:solidFill>
                  <a:srgbClr val="000000"/>
                </a:solidFill>
              </a:rPr>
              <a:t> un </a:t>
            </a:r>
            <a:r>
              <a:rPr lang="en-GB" sz="2400" b="1" err="1">
                <a:solidFill>
                  <a:srgbClr val="000000"/>
                </a:solidFill>
              </a:rPr>
              <a:t>serveur</a:t>
            </a:r>
            <a:r>
              <a:rPr lang="en-GB" sz="2400" b="1">
                <a:solidFill>
                  <a:srgbClr val="000000"/>
                </a:solidFill>
              </a:rPr>
              <a:t> DNS qui </a:t>
            </a:r>
            <a:r>
              <a:rPr lang="en-GB" sz="2400" b="1" err="1">
                <a:solidFill>
                  <a:srgbClr val="000000"/>
                </a:solidFill>
              </a:rPr>
              <a:t>répertorient</a:t>
            </a:r>
            <a:r>
              <a:rPr lang="en-GB" sz="2400" b="1">
                <a:solidFill>
                  <a:srgbClr val="000000"/>
                </a:solidFill>
              </a:rPr>
              <a:t> les </a:t>
            </a:r>
            <a:r>
              <a:rPr lang="en-GB" sz="2400" b="1" err="1">
                <a:solidFill>
                  <a:srgbClr val="000000"/>
                </a:solidFill>
              </a:rPr>
              <a:t>adresses</a:t>
            </a:r>
            <a:r>
              <a:rPr lang="en-GB" sz="2400" b="1">
                <a:solidFill>
                  <a:srgbClr val="000000"/>
                </a:solidFill>
              </a:rPr>
              <a:t> IP des </a:t>
            </a:r>
            <a:r>
              <a:rPr lang="en-GB" sz="2400" b="1" err="1">
                <a:solidFill>
                  <a:srgbClr val="000000"/>
                </a:solidFill>
              </a:rPr>
              <a:t>serveurs</a:t>
            </a:r>
            <a:r>
              <a:rPr lang="en-GB" sz="2400" b="1">
                <a:solidFill>
                  <a:srgbClr val="000000"/>
                </a:solidFill>
              </a:rPr>
              <a:t> </a:t>
            </a:r>
            <a:r>
              <a:rPr lang="en-GB" sz="2400" b="1" err="1">
                <a:solidFill>
                  <a:srgbClr val="000000"/>
                </a:solidFill>
              </a:rPr>
              <a:t>racines</a:t>
            </a:r>
            <a:r>
              <a:rPr lang="en-GB" sz="2400" b="1">
                <a:solidFill>
                  <a:srgbClr val="000000"/>
                </a:solidFill>
              </a:rPr>
              <a:t> du </a:t>
            </a:r>
            <a:r>
              <a:rPr lang="en-GB" sz="2400" b="1" err="1">
                <a:solidFill>
                  <a:srgbClr val="000000"/>
                </a:solidFill>
              </a:rPr>
              <a:t>système</a:t>
            </a:r>
            <a:r>
              <a:rPr lang="en-GB" sz="2400" b="1">
                <a:solidFill>
                  <a:srgbClr val="000000"/>
                </a:solidFill>
              </a:rPr>
              <a:t> DNS</a:t>
            </a:r>
            <a:endParaRPr lang="en-US" sz="2400" b="1"/>
          </a:p>
        </p:txBody>
      </p:sp>
      <p:sp>
        <p:nvSpPr>
          <p:cNvPr id="801852" name="AutoShape 60"/>
          <p:cNvSpPr>
            <a:spLocks noChangeArrowheads="1"/>
          </p:cNvSpPr>
          <p:nvPr>
            <p:custDataLst>
              <p:tags r:id="rId3"/>
            </p:custDataLst>
          </p:nvPr>
        </p:nvSpPr>
        <p:spPr bwMode="auto">
          <a:xfrm>
            <a:off x="6164494" y="5605689"/>
            <a:ext cx="1948617" cy="517525"/>
          </a:xfrm>
          <a:prstGeom prst="roundRect">
            <a:avLst>
              <a:gd name="adj" fmla="val 41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en-GB" sz="2200" b="1">
                <a:solidFill>
                  <a:srgbClr val="000000"/>
                </a:solidFill>
              </a:rPr>
              <a:t>microsoft</a:t>
            </a:r>
            <a:endParaRPr lang="en-US" sz="2200" b="1"/>
          </a:p>
        </p:txBody>
      </p:sp>
      <p:sp>
        <p:nvSpPr>
          <p:cNvPr id="801853" name="Line 61"/>
          <p:cNvSpPr>
            <a:spLocks noChangeShapeType="1"/>
          </p:cNvSpPr>
          <p:nvPr/>
        </p:nvSpPr>
        <p:spPr bwMode="auto">
          <a:xfrm>
            <a:off x="7146925" y="4959350"/>
            <a:ext cx="0" cy="630238"/>
          </a:xfrm>
          <a:prstGeom prst="line">
            <a:avLst/>
          </a:prstGeom>
          <a:noFill/>
          <a:ln w="57150">
            <a:solidFill>
              <a:srgbClr val="CC0000"/>
            </a:solidFill>
            <a:round/>
            <a:headEnd/>
            <a:tailEnd type="triangle" w="med" len="med"/>
          </a:ln>
          <a:effectLst/>
        </p:spPr>
        <p:txBody>
          <a:bodyPr/>
          <a:lstStyle/>
          <a:p>
            <a:endParaRPr lang="fr-FR"/>
          </a:p>
        </p:txBody>
      </p:sp>
      <p:sp>
        <p:nvSpPr>
          <p:cNvPr id="801854" name="Line 62"/>
          <p:cNvSpPr>
            <a:spLocks noChangeShapeType="1"/>
          </p:cNvSpPr>
          <p:nvPr/>
        </p:nvSpPr>
        <p:spPr bwMode="auto">
          <a:xfrm flipV="1">
            <a:off x="4186238" y="3711575"/>
            <a:ext cx="1079500" cy="425450"/>
          </a:xfrm>
          <a:prstGeom prst="line">
            <a:avLst/>
          </a:prstGeom>
          <a:noFill/>
          <a:ln w="57150">
            <a:solidFill>
              <a:srgbClr val="CC0000"/>
            </a:solidFill>
            <a:round/>
            <a:headEnd/>
            <a:tailEnd type="triangle" w="med" len="med"/>
          </a:ln>
          <a:effectLst/>
        </p:spPr>
        <p:txBody>
          <a:bodyPr/>
          <a:lstStyle/>
          <a:p>
            <a:endParaRPr lang="fr-FR"/>
          </a:p>
        </p:txBody>
      </p:sp>
      <p:sp>
        <p:nvSpPr>
          <p:cNvPr id="801855" name="Oval 63"/>
          <p:cNvSpPr>
            <a:spLocks noChangeArrowheads="1"/>
          </p:cNvSpPr>
          <p:nvPr/>
        </p:nvSpPr>
        <p:spPr bwMode="auto">
          <a:xfrm>
            <a:off x="927100" y="3973513"/>
            <a:ext cx="2784475" cy="1668462"/>
          </a:xfrm>
          <a:prstGeom prst="ellipse">
            <a:avLst/>
          </a:prstGeom>
          <a:gradFill rotWithShape="1">
            <a:gsLst>
              <a:gs pos="0">
                <a:srgbClr val="F0F1FF"/>
              </a:gs>
              <a:gs pos="100000">
                <a:srgbClr val="B3C8DF"/>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pic>
        <p:nvPicPr>
          <p:cNvPr id="801857" name="Picture 65" descr="Server01"/>
          <p:cNvPicPr>
            <a:picLocks noChangeAspect="1" noChangeArrowheads="1"/>
          </p:cNvPicPr>
          <p:nvPr>
            <p:custDataLst>
              <p:tags r:id="rId4"/>
            </p:custDataLst>
          </p:nvPr>
        </p:nvPicPr>
        <p:blipFill>
          <a:blip r:embed="rId18" cstate="print">
            <a:grayscl/>
          </a:blip>
          <a:srcRect/>
          <a:stretch>
            <a:fillRect/>
          </a:stretch>
        </p:blipFill>
        <p:spPr bwMode="auto">
          <a:xfrm>
            <a:off x="1511300" y="3189288"/>
            <a:ext cx="855663" cy="1006475"/>
          </a:xfrm>
          <a:prstGeom prst="rect">
            <a:avLst/>
          </a:prstGeom>
          <a:noFill/>
        </p:spPr>
      </p:pic>
      <p:pic>
        <p:nvPicPr>
          <p:cNvPr id="801858" name="Picture 66" descr="Server01"/>
          <p:cNvPicPr>
            <a:picLocks noChangeAspect="1" noChangeArrowheads="1"/>
          </p:cNvPicPr>
          <p:nvPr>
            <p:custDataLst>
              <p:tags r:id="rId5"/>
            </p:custDataLst>
          </p:nvPr>
        </p:nvPicPr>
        <p:blipFill>
          <a:blip r:embed="rId18" cstate="print">
            <a:grayscl/>
          </a:blip>
          <a:srcRect/>
          <a:stretch>
            <a:fillRect/>
          </a:stretch>
        </p:blipFill>
        <p:spPr bwMode="auto">
          <a:xfrm>
            <a:off x="1017588" y="3454400"/>
            <a:ext cx="855662" cy="1006475"/>
          </a:xfrm>
          <a:prstGeom prst="rect">
            <a:avLst/>
          </a:prstGeom>
          <a:noFill/>
        </p:spPr>
      </p:pic>
      <p:pic>
        <p:nvPicPr>
          <p:cNvPr id="801859" name="Picture 67" descr="Server01"/>
          <p:cNvPicPr>
            <a:picLocks noChangeAspect="1" noChangeArrowheads="1"/>
          </p:cNvPicPr>
          <p:nvPr>
            <p:custDataLst>
              <p:tags r:id="rId6"/>
            </p:custDataLst>
          </p:nvPr>
        </p:nvPicPr>
        <p:blipFill>
          <a:blip r:embed="rId18" cstate="print">
            <a:grayscl/>
          </a:blip>
          <a:srcRect/>
          <a:stretch>
            <a:fillRect/>
          </a:stretch>
        </p:blipFill>
        <p:spPr bwMode="auto">
          <a:xfrm>
            <a:off x="1547813" y="3586163"/>
            <a:ext cx="855662" cy="1006475"/>
          </a:xfrm>
          <a:prstGeom prst="rect">
            <a:avLst/>
          </a:prstGeom>
          <a:noFill/>
        </p:spPr>
      </p:pic>
      <p:sp>
        <p:nvSpPr>
          <p:cNvPr id="801860" name="AutoShape 68"/>
          <p:cNvSpPr>
            <a:spLocks noChangeArrowheads="1"/>
          </p:cNvSpPr>
          <p:nvPr>
            <p:custDataLst>
              <p:tags r:id="rId7"/>
            </p:custDataLst>
          </p:nvPr>
        </p:nvSpPr>
        <p:spPr bwMode="auto">
          <a:xfrm>
            <a:off x="1162050" y="2719388"/>
            <a:ext cx="1988840" cy="6032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a:solidFill>
                  <a:srgbClr val="000000"/>
                </a:solidFill>
              </a:rPr>
              <a:t>Cluster de</a:t>
            </a:r>
            <a:endParaRPr lang="en-US" sz="2200" b="1"/>
          </a:p>
          <a:p>
            <a:pPr>
              <a:lnSpc>
                <a:spcPct val="85000"/>
              </a:lnSpc>
            </a:pPr>
            <a:r>
              <a:rPr lang="en-GB" sz="2200" b="1">
                <a:solidFill>
                  <a:srgbClr val="000000"/>
                </a:solidFill>
              </a:rPr>
              <a:t>serveurs DNS</a:t>
            </a:r>
            <a:endParaRPr lang="en-US" sz="2200" b="1">
              <a:solidFill>
                <a:srgbClr val="000000"/>
              </a:solidFill>
            </a:endParaRPr>
          </a:p>
        </p:txBody>
      </p:sp>
      <p:sp>
        <p:nvSpPr>
          <p:cNvPr id="801862" name="Line 70"/>
          <p:cNvSpPr>
            <a:spLocks noChangeShapeType="1"/>
          </p:cNvSpPr>
          <p:nvPr/>
        </p:nvSpPr>
        <p:spPr bwMode="auto">
          <a:xfrm flipV="1">
            <a:off x="2471738" y="5153025"/>
            <a:ext cx="822325" cy="412750"/>
          </a:xfrm>
          <a:prstGeom prst="line">
            <a:avLst/>
          </a:prstGeom>
          <a:noFill/>
          <a:ln w="57150">
            <a:solidFill>
              <a:srgbClr val="CC0000"/>
            </a:solidFill>
            <a:round/>
            <a:headEnd/>
            <a:tailEnd type="triangle" w="med" len="med"/>
          </a:ln>
          <a:effectLst/>
        </p:spPr>
        <p:txBody>
          <a:bodyPr/>
          <a:lstStyle/>
          <a:p>
            <a:endParaRPr lang="fr-FR"/>
          </a:p>
        </p:txBody>
      </p:sp>
      <p:pic>
        <p:nvPicPr>
          <p:cNvPr id="801863" name="Picture 71" descr="Computer_DesktopComputerSansKeyboard01"/>
          <p:cNvPicPr>
            <a:picLocks noChangeAspect="1" noChangeArrowheads="1"/>
          </p:cNvPicPr>
          <p:nvPr/>
        </p:nvPicPr>
        <p:blipFill>
          <a:blip r:embed="rId19" cstate="print"/>
          <a:srcRect/>
          <a:stretch>
            <a:fillRect/>
          </a:stretch>
        </p:blipFill>
        <p:spPr bwMode="auto">
          <a:xfrm>
            <a:off x="1758950" y="5032375"/>
            <a:ext cx="963613" cy="1173163"/>
          </a:xfrm>
          <a:prstGeom prst="rect">
            <a:avLst/>
          </a:prstGeom>
          <a:noFill/>
        </p:spPr>
      </p:pic>
      <p:sp>
        <p:nvSpPr>
          <p:cNvPr id="801864" name="Line 72"/>
          <p:cNvSpPr>
            <a:spLocks noChangeShapeType="1"/>
          </p:cNvSpPr>
          <p:nvPr/>
        </p:nvSpPr>
        <p:spPr bwMode="auto">
          <a:xfrm flipH="1" flipV="1">
            <a:off x="2474913" y="3711575"/>
            <a:ext cx="1079500" cy="425450"/>
          </a:xfrm>
          <a:prstGeom prst="line">
            <a:avLst/>
          </a:prstGeom>
          <a:noFill/>
          <a:ln w="57150">
            <a:solidFill>
              <a:srgbClr val="CC0000"/>
            </a:solidFill>
            <a:round/>
            <a:headEnd/>
            <a:tailEnd type="triangle" w="med" len="med"/>
          </a:ln>
          <a:effectLst/>
        </p:spPr>
        <p:txBody>
          <a:bodyPr/>
          <a:lstStyle/>
          <a:p>
            <a:endParaRPr lang="fr-FR"/>
          </a:p>
        </p:txBody>
      </p:sp>
      <p:pic>
        <p:nvPicPr>
          <p:cNvPr id="801865" name="Picture 73" descr="Server01"/>
          <p:cNvPicPr>
            <a:picLocks noChangeAspect="1" noChangeArrowheads="1"/>
          </p:cNvPicPr>
          <p:nvPr/>
        </p:nvPicPr>
        <p:blipFill>
          <a:blip r:embed="rId20" cstate="print">
            <a:grayscl/>
          </a:blip>
          <a:srcRect/>
          <a:stretch>
            <a:fillRect/>
          </a:stretch>
        </p:blipFill>
        <p:spPr bwMode="auto">
          <a:xfrm>
            <a:off x="3233738" y="4040188"/>
            <a:ext cx="1165225" cy="1370012"/>
          </a:xfrm>
          <a:prstGeom prst="rect">
            <a:avLst/>
          </a:prstGeom>
          <a:noFill/>
        </p:spPr>
      </p:pic>
      <p:sp>
        <p:nvSpPr>
          <p:cNvPr id="801866" name="AutoShape 74"/>
          <p:cNvSpPr>
            <a:spLocks noChangeArrowheads="1"/>
          </p:cNvSpPr>
          <p:nvPr>
            <p:custDataLst>
              <p:tags r:id="rId8"/>
            </p:custDataLst>
          </p:nvPr>
        </p:nvSpPr>
        <p:spPr bwMode="auto">
          <a:xfrm>
            <a:off x="3990974" y="5002213"/>
            <a:ext cx="1671520" cy="3365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a:solidFill>
                  <a:srgbClr val="000000"/>
                </a:solidFill>
              </a:rPr>
              <a:t>local</a:t>
            </a:r>
            <a:endParaRPr lang="en-US" sz="2200" b="1"/>
          </a:p>
        </p:txBody>
      </p:sp>
      <p:pic>
        <p:nvPicPr>
          <p:cNvPr id="801867" name="Picture 75" descr="Internet01"/>
          <p:cNvPicPr>
            <a:picLocks noChangeAspect="1" noChangeArrowheads="1"/>
          </p:cNvPicPr>
          <p:nvPr/>
        </p:nvPicPr>
        <p:blipFill>
          <a:blip r:embed="rId21"/>
          <a:srcRect/>
          <a:stretch>
            <a:fillRect/>
          </a:stretch>
        </p:blipFill>
        <p:spPr bwMode="auto">
          <a:xfrm>
            <a:off x="6323013" y="2619375"/>
            <a:ext cx="1647825" cy="1647825"/>
          </a:xfrm>
          <a:prstGeom prst="rect">
            <a:avLst/>
          </a:prstGeom>
          <a:noFill/>
        </p:spPr>
      </p:pic>
      <p:grpSp>
        <p:nvGrpSpPr>
          <p:cNvPr id="801876" name="Group 76"/>
          <p:cNvGrpSpPr>
            <a:grpSpLocks/>
          </p:cNvGrpSpPr>
          <p:nvPr/>
        </p:nvGrpSpPr>
        <p:grpSpPr bwMode="auto">
          <a:xfrm>
            <a:off x="5332413" y="3189288"/>
            <a:ext cx="1385887" cy="1403350"/>
            <a:chOff x="3359" y="2009"/>
            <a:chExt cx="873" cy="884"/>
          </a:xfrm>
        </p:grpSpPr>
        <p:pic>
          <p:nvPicPr>
            <p:cNvPr id="801869" name="Picture 77" descr="Server01"/>
            <p:cNvPicPr>
              <a:picLocks noChangeAspect="1" noChangeArrowheads="1"/>
            </p:cNvPicPr>
            <p:nvPr>
              <p:custDataLst>
                <p:tags r:id="rId13"/>
              </p:custDataLst>
            </p:nvPr>
          </p:nvPicPr>
          <p:blipFill>
            <a:blip r:embed="rId18" cstate="print">
              <a:grayscl/>
            </a:blip>
            <a:srcRect/>
            <a:stretch>
              <a:fillRect/>
            </a:stretch>
          </p:blipFill>
          <p:spPr bwMode="auto">
            <a:xfrm>
              <a:off x="3670" y="2009"/>
              <a:ext cx="539" cy="634"/>
            </a:xfrm>
            <a:prstGeom prst="rect">
              <a:avLst/>
            </a:prstGeom>
            <a:noFill/>
          </p:spPr>
        </p:pic>
        <p:pic>
          <p:nvPicPr>
            <p:cNvPr id="801870" name="Picture 78" descr="Server01"/>
            <p:cNvPicPr>
              <a:picLocks noChangeAspect="1" noChangeArrowheads="1"/>
            </p:cNvPicPr>
            <p:nvPr>
              <p:custDataLst>
                <p:tags r:id="rId14"/>
              </p:custDataLst>
            </p:nvPr>
          </p:nvPicPr>
          <p:blipFill>
            <a:blip r:embed="rId18" cstate="print">
              <a:grayscl/>
            </a:blip>
            <a:srcRect/>
            <a:stretch>
              <a:fillRect/>
            </a:stretch>
          </p:blipFill>
          <p:spPr bwMode="auto">
            <a:xfrm>
              <a:off x="3359" y="2176"/>
              <a:ext cx="539" cy="634"/>
            </a:xfrm>
            <a:prstGeom prst="rect">
              <a:avLst/>
            </a:prstGeom>
            <a:noFill/>
          </p:spPr>
        </p:pic>
        <p:pic>
          <p:nvPicPr>
            <p:cNvPr id="801871" name="Picture 79" descr="Server01"/>
            <p:cNvPicPr>
              <a:picLocks noChangeAspect="1" noChangeArrowheads="1"/>
            </p:cNvPicPr>
            <p:nvPr>
              <p:custDataLst>
                <p:tags r:id="rId15"/>
              </p:custDataLst>
            </p:nvPr>
          </p:nvPicPr>
          <p:blipFill>
            <a:blip r:embed="rId18" cstate="print">
              <a:grayscl/>
            </a:blip>
            <a:srcRect/>
            <a:stretch>
              <a:fillRect/>
            </a:stretch>
          </p:blipFill>
          <p:spPr bwMode="auto">
            <a:xfrm>
              <a:off x="3693" y="2259"/>
              <a:ext cx="539" cy="634"/>
            </a:xfrm>
            <a:prstGeom prst="rect">
              <a:avLst/>
            </a:prstGeom>
            <a:noFill/>
          </p:spPr>
        </p:pic>
      </p:grpSp>
      <p:sp>
        <p:nvSpPr>
          <p:cNvPr id="801872" name="AutoShape 80"/>
          <p:cNvSpPr>
            <a:spLocks noChangeArrowheads="1"/>
          </p:cNvSpPr>
          <p:nvPr>
            <p:custDataLst>
              <p:tags r:id="rId9"/>
            </p:custDataLst>
          </p:nvPr>
        </p:nvSpPr>
        <p:spPr bwMode="auto">
          <a:xfrm>
            <a:off x="4443413" y="2633663"/>
            <a:ext cx="2668174" cy="6032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a:solidFill>
                  <a:srgbClr val="000000"/>
                </a:solidFill>
              </a:rPr>
              <a:t>Cluster de</a:t>
            </a:r>
            <a:endParaRPr lang="en-US" sz="2200" b="1"/>
          </a:p>
          <a:p>
            <a:pPr>
              <a:lnSpc>
                <a:spcPct val="85000"/>
              </a:lnSpc>
            </a:pPr>
            <a:r>
              <a:rPr lang="en-GB" sz="2200" b="1" err="1">
                <a:solidFill>
                  <a:srgbClr val="000000"/>
                </a:solidFill>
              </a:rPr>
              <a:t>serveurs</a:t>
            </a:r>
            <a:r>
              <a:rPr lang="en-GB" sz="2200" b="1">
                <a:solidFill>
                  <a:srgbClr val="000000"/>
                </a:solidFill>
              </a:rPr>
              <a:t> </a:t>
            </a:r>
            <a:r>
              <a:rPr lang="en-GB" sz="2200" b="1" err="1">
                <a:solidFill>
                  <a:srgbClr val="000000"/>
                </a:solidFill>
              </a:rPr>
              <a:t>racines</a:t>
            </a:r>
            <a:r>
              <a:rPr lang="en-GB" sz="2200" b="1">
                <a:solidFill>
                  <a:srgbClr val="000000"/>
                </a:solidFill>
              </a:rPr>
              <a:t> (.)</a:t>
            </a:r>
            <a:endParaRPr lang="en-US" sz="2200" b="1">
              <a:solidFill>
                <a:srgbClr val="000000"/>
              </a:solidFill>
            </a:endParaRPr>
          </a:p>
        </p:txBody>
      </p:sp>
      <p:sp>
        <p:nvSpPr>
          <p:cNvPr id="801873" name="AutoShape 81"/>
          <p:cNvSpPr>
            <a:spLocks noChangeArrowheads="1"/>
          </p:cNvSpPr>
          <p:nvPr>
            <p:custDataLst>
              <p:tags r:id="rId10"/>
            </p:custDataLst>
          </p:nvPr>
        </p:nvSpPr>
        <p:spPr bwMode="auto">
          <a:xfrm>
            <a:off x="6470200" y="4713288"/>
            <a:ext cx="1251405" cy="438150"/>
          </a:xfrm>
          <a:prstGeom prst="roundRect">
            <a:avLst>
              <a:gd name="adj" fmla="val 41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en-GB" sz="2200" b="1">
                <a:solidFill>
                  <a:srgbClr val="000000"/>
                </a:solidFill>
              </a:rPr>
              <a:t>com</a:t>
            </a:r>
            <a:endParaRPr lang="en-US" sz="2200" b="1"/>
          </a:p>
        </p:txBody>
      </p:sp>
      <p:sp>
        <p:nvSpPr>
          <p:cNvPr id="801874" name="Line 82"/>
          <p:cNvSpPr>
            <a:spLocks noChangeShapeType="1"/>
          </p:cNvSpPr>
          <p:nvPr/>
        </p:nvSpPr>
        <p:spPr bwMode="auto">
          <a:xfrm>
            <a:off x="7146925" y="4252913"/>
            <a:ext cx="0" cy="476250"/>
          </a:xfrm>
          <a:prstGeom prst="line">
            <a:avLst/>
          </a:prstGeom>
          <a:noFill/>
          <a:ln w="57150">
            <a:solidFill>
              <a:srgbClr val="CC0000"/>
            </a:solidFill>
            <a:round/>
            <a:headEnd/>
            <a:tailEnd type="triangle" w="med" len="med"/>
          </a:ln>
          <a:effectLst/>
        </p:spPr>
        <p:txBody>
          <a:bodyPr/>
          <a:lstStyle/>
          <a:p>
            <a:endParaRPr lang="fr-FR"/>
          </a:p>
        </p:txBody>
      </p:sp>
      <p:sp>
        <p:nvSpPr>
          <p:cNvPr id="801875" name="AutoShape 83"/>
          <p:cNvSpPr>
            <a:spLocks noChangeArrowheads="1"/>
          </p:cNvSpPr>
          <p:nvPr>
            <p:custDataLst>
              <p:tags r:id="rId11"/>
            </p:custDataLst>
          </p:nvPr>
        </p:nvSpPr>
        <p:spPr bwMode="auto">
          <a:xfrm>
            <a:off x="1311955" y="6196239"/>
            <a:ext cx="1796661"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a:solidFill>
                  <a:srgbClr val="000000"/>
                </a:solidFill>
              </a:rPr>
              <a:t>Computer1</a:t>
            </a:r>
            <a:endParaRPr lang="en-US" sz="2200" b="1"/>
          </a:p>
        </p:txBody>
      </p:sp>
      <p:sp>
        <p:nvSpPr>
          <p:cNvPr id="801861" name="AutoShape 69"/>
          <p:cNvSpPr>
            <a:spLocks noChangeArrowheads="1"/>
          </p:cNvSpPr>
          <p:nvPr>
            <p:custDataLst>
              <p:tags r:id="rId12"/>
            </p:custDataLst>
          </p:nvPr>
        </p:nvSpPr>
        <p:spPr bwMode="auto">
          <a:xfrm>
            <a:off x="2516413" y="4034971"/>
            <a:ext cx="2592615" cy="369888"/>
          </a:xfrm>
          <a:prstGeom prst="roundRect">
            <a:avLst>
              <a:gd name="adj" fmla="val 4167"/>
            </a:avLst>
          </a:prstGeom>
          <a:solidFill>
            <a:srgbClr val="ADE2A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a:solidFill>
                  <a:srgbClr val="000000"/>
                </a:solidFill>
              </a:rPr>
              <a:t>Indications de racine</a:t>
            </a:r>
            <a:endParaRPr lang="en-US" sz="2200" b="1"/>
          </a:p>
        </p:txBody>
      </p:sp>
      <p:sp>
        <p:nvSpPr>
          <p:cNvPr id="27" name="Espace réservé du numéro de diapositive 26"/>
          <p:cNvSpPr>
            <a:spLocks noGrp="1"/>
          </p:cNvSpPr>
          <p:nvPr>
            <p:ph type="sldNum" sz="quarter" idx="12"/>
          </p:nvPr>
        </p:nvSpPr>
        <p:spPr/>
        <p:txBody>
          <a:bodyPr/>
          <a:lstStyle/>
          <a:p>
            <a:fld id="{2C6B1FF6-39B9-40F5-8B67-33C6354A3D4F}" type="slidenum">
              <a:rPr kumimoji="0" lang="en-US" smtClean="0"/>
              <a:pPr/>
              <a:t>13</a:t>
            </a:fld>
            <a:endParaRPr kumimoji="0" lang="en-US"/>
          </a:p>
        </p:txBody>
      </p:sp>
      <p:sp>
        <p:nvSpPr>
          <p:cNvPr id="28" name="Rectangle 27"/>
          <p:cNvSpPr/>
          <p:nvPr/>
        </p:nvSpPr>
        <p:spPr>
          <a:xfrm>
            <a:off x="326568" y="2619830"/>
            <a:ext cx="8548915" cy="39043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6" name="Rectangle 4"/>
          <p:cNvSpPr>
            <a:spLocks noGrp="1" noChangeArrowheads="1"/>
          </p:cNvSpPr>
          <p:nvPr>
            <p:ph type="title"/>
            <p:custDataLst>
              <p:tags r:id="rId1"/>
            </p:custDataLst>
          </p:nvPr>
        </p:nvSpPr>
        <p:spPr/>
        <p:txBody>
          <a:bodyPr vert="horz" anchor="b">
            <a:normAutofit/>
          </a:bodyPr>
          <a:lstStyle/>
          <a:p>
            <a:pPr marL="460375" indent="-460375"/>
            <a:r>
              <a:rPr lang="en-GB" sz="3000" b="1">
                <a:solidFill>
                  <a:srgbClr val="C00000"/>
                </a:solidFill>
              </a:rPr>
              <a:t>Fonctionnement des requêtes itératives</a:t>
            </a:r>
            <a:endParaRPr lang="en-US" sz="3000" b="1">
              <a:solidFill>
                <a:srgbClr val="C00000"/>
              </a:solidFill>
            </a:endParaRPr>
          </a:p>
        </p:txBody>
      </p:sp>
      <p:sp>
        <p:nvSpPr>
          <p:cNvPr id="796820" name="Oval 148"/>
          <p:cNvSpPr>
            <a:spLocks noChangeArrowheads="1"/>
          </p:cNvSpPr>
          <p:nvPr/>
        </p:nvSpPr>
        <p:spPr bwMode="auto">
          <a:xfrm>
            <a:off x="841375" y="2717800"/>
            <a:ext cx="2736850" cy="3063875"/>
          </a:xfrm>
          <a:prstGeom prst="ellipse">
            <a:avLst/>
          </a:prstGeom>
          <a:gradFill rotWithShape="1">
            <a:gsLst>
              <a:gs pos="0">
                <a:srgbClr val="F0F1FF"/>
              </a:gs>
              <a:gs pos="100000">
                <a:srgbClr val="B3C8DF"/>
              </a:gs>
            </a:gsLst>
            <a:path path="shape">
              <a:fillToRect l="50000" t="50000" r="50000" b="50000"/>
            </a:path>
          </a:gradFill>
          <a:ln w="9525">
            <a:noFill/>
            <a:round/>
            <a:headEnd/>
            <a:tailEnd/>
          </a:ln>
          <a:effectLst/>
        </p:spPr>
        <p:txBody>
          <a:bodyPr wrap="none" anchor="ctr"/>
          <a:lstStyle/>
          <a:p>
            <a:endParaRPr lang="fr-FR"/>
          </a:p>
        </p:txBody>
      </p:sp>
      <p:pic>
        <p:nvPicPr>
          <p:cNvPr id="796821" name="Picture 149" descr="Computer_DesktopComputerSansKeyboard01"/>
          <p:cNvPicPr>
            <a:picLocks noChangeAspect="1" noChangeArrowheads="1"/>
          </p:cNvPicPr>
          <p:nvPr/>
        </p:nvPicPr>
        <p:blipFill>
          <a:blip r:embed="rId4" cstate="print"/>
          <a:srcRect/>
          <a:stretch>
            <a:fillRect/>
          </a:stretch>
        </p:blipFill>
        <p:spPr bwMode="auto">
          <a:xfrm>
            <a:off x="1177925" y="5167312"/>
            <a:ext cx="897618" cy="1092435"/>
          </a:xfrm>
          <a:prstGeom prst="rect">
            <a:avLst/>
          </a:prstGeom>
          <a:noFill/>
        </p:spPr>
      </p:pic>
      <p:pic>
        <p:nvPicPr>
          <p:cNvPr id="796822" name="Picture 150" descr="Server01"/>
          <p:cNvPicPr>
            <a:picLocks noChangeAspect="1" noChangeArrowheads="1"/>
          </p:cNvPicPr>
          <p:nvPr/>
        </p:nvPicPr>
        <p:blipFill>
          <a:blip r:embed="rId5" cstate="print">
            <a:grayscl/>
          </a:blip>
          <a:srcRect/>
          <a:stretch>
            <a:fillRect/>
          </a:stretch>
        </p:blipFill>
        <p:spPr bwMode="auto">
          <a:xfrm>
            <a:off x="2061029" y="2288317"/>
            <a:ext cx="1037771" cy="1220058"/>
          </a:xfrm>
          <a:prstGeom prst="rect">
            <a:avLst/>
          </a:prstGeom>
          <a:noFill/>
        </p:spPr>
      </p:pic>
      <p:sp>
        <p:nvSpPr>
          <p:cNvPr id="796823" name="AutoShape 151"/>
          <p:cNvSpPr>
            <a:spLocks noChangeArrowheads="1"/>
          </p:cNvSpPr>
          <p:nvPr/>
        </p:nvSpPr>
        <p:spPr bwMode="auto">
          <a:xfrm>
            <a:off x="1498826" y="5668963"/>
            <a:ext cx="1437821" cy="3429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US" sz="2000" b="1"/>
              <a:t>Computer1</a:t>
            </a:r>
          </a:p>
        </p:txBody>
      </p:sp>
      <p:sp>
        <p:nvSpPr>
          <p:cNvPr id="796824" name="AutoShape 152"/>
          <p:cNvSpPr>
            <a:spLocks noChangeArrowheads="1"/>
          </p:cNvSpPr>
          <p:nvPr/>
        </p:nvSpPr>
        <p:spPr bwMode="auto">
          <a:xfrm>
            <a:off x="980166" y="2423205"/>
            <a:ext cx="1348405" cy="58129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err="1"/>
              <a:t>Serveur</a:t>
            </a:r>
            <a:br>
              <a:rPr lang="en-US" sz="2000" b="1"/>
            </a:br>
            <a:r>
              <a:rPr lang="en-US" sz="2000" b="1"/>
              <a:t>DNS local</a:t>
            </a:r>
          </a:p>
        </p:txBody>
      </p:sp>
      <p:pic>
        <p:nvPicPr>
          <p:cNvPr id="796826" name="Picture 154" descr="Internet01"/>
          <p:cNvPicPr>
            <a:picLocks noChangeAspect="1" noChangeArrowheads="1"/>
          </p:cNvPicPr>
          <p:nvPr/>
        </p:nvPicPr>
        <p:blipFill>
          <a:blip r:embed="rId6"/>
          <a:srcRect/>
          <a:stretch>
            <a:fillRect/>
          </a:stretch>
        </p:blipFill>
        <p:spPr bwMode="auto">
          <a:xfrm>
            <a:off x="6102350" y="2844800"/>
            <a:ext cx="1909763" cy="1905000"/>
          </a:xfrm>
          <a:prstGeom prst="rect">
            <a:avLst/>
          </a:prstGeom>
          <a:noFill/>
        </p:spPr>
      </p:pic>
      <p:pic>
        <p:nvPicPr>
          <p:cNvPr id="796827" name="Picture 155" descr="Server01"/>
          <p:cNvPicPr>
            <a:picLocks noChangeAspect="1" noChangeArrowheads="1"/>
          </p:cNvPicPr>
          <p:nvPr/>
        </p:nvPicPr>
        <p:blipFill>
          <a:blip r:embed="rId7" cstate="print">
            <a:grayscl/>
          </a:blip>
          <a:srcRect/>
          <a:stretch>
            <a:fillRect/>
          </a:stretch>
        </p:blipFill>
        <p:spPr bwMode="auto">
          <a:xfrm>
            <a:off x="5695949" y="2222257"/>
            <a:ext cx="1053193" cy="1238493"/>
          </a:xfrm>
          <a:prstGeom prst="rect">
            <a:avLst/>
          </a:prstGeom>
          <a:noFill/>
        </p:spPr>
      </p:pic>
      <p:pic>
        <p:nvPicPr>
          <p:cNvPr id="796828" name="Picture 156" descr="Server01"/>
          <p:cNvPicPr>
            <a:picLocks noChangeAspect="1" noChangeArrowheads="1"/>
          </p:cNvPicPr>
          <p:nvPr/>
        </p:nvPicPr>
        <p:blipFill>
          <a:blip r:embed="rId7" cstate="print">
            <a:grayscl/>
          </a:blip>
          <a:srcRect/>
          <a:stretch>
            <a:fillRect/>
          </a:stretch>
        </p:blipFill>
        <p:spPr bwMode="auto">
          <a:xfrm>
            <a:off x="5951538" y="3307780"/>
            <a:ext cx="1116919" cy="1313434"/>
          </a:xfrm>
          <a:prstGeom prst="rect">
            <a:avLst/>
          </a:prstGeom>
          <a:noFill/>
        </p:spPr>
      </p:pic>
      <p:pic>
        <p:nvPicPr>
          <p:cNvPr id="796829" name="Picture 157" descr="Server01"/>
          <p:cNvPicPr>
            <a:picLocks noChangeAspect="1" noChangeArrowheads="1"/>
          </p:cNvPicPr>
          <p:nvPr/>
        </p:nvPicPr>
        <p:blipFill>
          <a:blip r:embed="rId7" cstate="print">
            <a:grayscl/>
          </a:blip>
          <a:srcRect/>
          <a:stretch>
            <a:fillRect/>
          </a:stretch>
        </p:blipFill>
        <p:spPr bwMode="auto">
          <a:xfrm>
            <a:off x="6970713" y="4320760"/>
            <a:ext cx="1157287" cy="1360904"/>
          </a:xfrm>
          <a:prstGeom prst="rect">
            <a:avLst/>
          </a:prstGeom>
          <a:noFill/>
        </p:spPr>
      </p:pic>
      <p:sp>
        <p:nvSpPr>
          <p:cNvPr id="796830" name="AutoShape 158"/>
          <p:cNvSpPr>
            <a:spLocks noChangeArrowheads="1"/>
          </p:cNvSpPr>
          <p:nvPr/>
        </p:nvSpPr>
        <p:spPr bwMode="auto">
          <a:xfrm>
            <a:off x="6235926" y="2443843"/>
            <a:ext cx="2516187" cy="3429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a:t>Indication de racine (.)</a:t>
            </a:r>
          </a:p>
        </p:txBody>
      </p:sp>
      <p:sp>
        <p:nvSpPr>
          <p:cNvPr id="796831" name="AutoShape 159"/>
          <p:cNvSpPr>
            <a:spLocks noChangeArrowheads="1"/>
          </p:cNvSpPr>
          <p:nvPr/>
        </p:nvSpPr>
        <p:spPr bwMode="auto">
          <a:xfrm>
            <a:off x="6667500" y="3595688"/>
            <a:ext cx="5524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a:t>.com</a:t>
            </a:r>
          </a:p>
        </p:txBody>
      </p:sp>
      <p:sp>
        <p:nvSpPr>
          <p:cNvPr id="796832" name="Line 160"/>
          <p:cNvSpPr>
            <a:spLocks noChangeShapeType="1"/>
          </p:cNvSpPr>
          <p:nvPr/>
        </p:nvSpPr>
        <p:spPr bwMode="auto">
          <a:xfrm flipV="1">
            <a:off x="1662113" y="3395663"/>
            <a:ext cx="719137" cy="1793875"/>
          </a:xfrm>
          <a:prstGeom prst="line">
            <a:avLst/>
          </a:prstGeom>
          <a:noFill/>
          <a:ln w="50800">
            <a:solidFill>
              <a:srgbClr val="CC0000"/>
            </a:solidFill>
            <a:round/>
            <a:headEnd/>
            <a:tailEnd type="triangle" w="med" len="med"/>
          </a:ln>
          <a:effectLst/>
        </p:spPr>
        <p:txBody>
          <a:bodyPr/>
          <a:lstStyle/>
          <a:p>
            <a:endParaRPr lang="fr-FR"/>
          </a:p>
        </p:txBody>
      </p:sp>
      <p:sp>
        <p:nvSpPr>
          <p:cNvPr id="796833" name="Line 161"/>
          <p:cNvSpPr>
            <a:spLocks noChangeShapeType="1"/>
          </p:cNvSpPr>
          <p:nvPr/>
        </p:nvSpPr>
        <p:spPr bwMode="auto">
          <a:xfrm flipH="1">
            <a:off x="1824038" y="3495675"/>
            <a:ext cx="692150" cy="1722438"/>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6834" name="Rectangle 162"/>
          <p:cNvSpPr>
            <a:spLocks noChangeArrowheads="1"/>
          </p:cNvSpPr>
          <p:nvPr/>
        </p:nvSpPr>
        <p:spPr bwMode="auto">
          <a:xfrm>
            <a:off x="1611313" y="4394200"/>
            <a:ext cx="914400" cy="914400"/>
          </a:xfrm>
          <a:prstGeom prst="rect">
            <a:avLst/>
          </a:prstGeom>
          <a:noFill/>
          <a:ln w="9525" algn="ctr">
            <a:noFill/>
            <a:miter lim="800000"/>
            <a:headEnd/>
            <a:tailEnd/>
          </a:ln>
          <a:effectLst/>
        </p:spPr>
        <p:txBody>
          <a:bodyPr wrap="none" anchor="ctr"/>
          <a:lstStyle/>
          <a:p>
            <a:endParaRPr lang="fr-FR"/>
          </a:p>
        </p:txBody>
      </p:sp>
      <p:sp>
        <p:nvSpPr>
          <p:cNvPr id="796835" name="Rectangle 163"/>
          <p:cNvSpPr>
            <a:spLocks noChangeArrowheads="1"/>
          </p:cNvSpPr>
          <p:nvPr/>
        </p:nvSpPr>
        <p:spPr bwMode="auto">
          <a:xfrm rot="17556324">
            <a:off x="615950" y="3822700"/>
            <a:ext cx="2109788" cy="769938"/>
          </a:xfrm>
          <a:prstGeom prst="rect">
            <a:avLst/>
          </a:prstGeom>
          <a:noFill/>
          <a:ln w="9525" algn="ctr">
            <a:noFill/>
            <a:miter lim="800000"/>
            <a:headEnd/>
            <a:tailEnd/>
          </a:ln>
          <a:effectLst/>
        </p:spPr>
        <p:txBody>
          <a:bodyPr wrap="none" anchor="ctr"/>
          <a:lstStyle/>
          <a:p>
            <a:pPr>
              <a:lnSpc>
                <a:spcPct val="85000"/>
              </a:lnSpc>
            </a:pPr>
            <a:r>
              <a:rPr lang="en-US" sz="2000" b="1" err="1"/>
              <a:t>Requête</a:t>
            </a:r>
            <a:r>
              <a:rPr lang="en-US" sz="2000" b="1"/>
              <a:t> </a:t>
            </a:r>
            <a:r>
              <a:rPr lang="en-US" sz="2000" b="1" err="1"/>
              <a:t>récursive</a:t>
            </a:r>
            <a:r>
              <a:rPr lang="en-US" sz="2000" b="1"/>
              <a:t> pour</a:t>
            </a:r>
          </a:p>
          <a:p>
            <a:pPr>
              <a:lnSpc>
                <a:spcPct val="85000"/>
              </a:lnSpc>
            </a:pPr>
            <a:r>
              <a:rPr lang="en-US" sz="2000" b="1"/>
              <a:t>mail1.nwtraders.com</a:t>
            </a:r>
          </a:p>
        </p:txBody>
      </p:sp>
      <p:sp>
        <p:nvSpPr>
          <p:cNvPr id="796836" name="Rectangle 164"/>
          <p:cNvSpPr>
            <a:spLocks noChangeArrowheads="1"/>
          </p:cNvSpPr>
          <p:nvPr/>
        </p:nvSpPr>
        <p:spPr bwMode="auto">
          <a:xfrm rot="-4000979">
            <a:off x="1489075" y="4398963"/>
            <a:ext cx="1654175" cy="508000"/>
          </a:xfrm>
          <a:prstGeom prst="rect">
            <a:avLst/>
          </a:prstGeom>
          <a:noFill/>
          <a:ln w="9525" algn="ctr">
            <a:noFill/>
            <a:miter lim="800000"/>
            <a:headEnd/>
            <a:tailEnd/>
          </a:ln>
          <a:effectLst/>
        </p:spPr>
        <p:txBody>
          <a:bodyPr wrap="none" anchor="ctr"/>
          <a:lstStyle/>
          <a:p>
            <a:r>
              <a:rPr lang="en-US" sz="2000" b="1"/>
              <a:t>172.16.64.11</a:t>
            </a:r>
          </a:p>
        </p:txBody>
      </p:sp>
      <p:sp>
        <p:nvSpPr>
          <p:cNvPr id="796837" name="Line 165"/>
          <p:cNvSpPr>
            <a:spLocks noChangeShapeType="1"/>
          </p:cNvSpPr>
          <p:nvPr/>
        </p:nvSpPr>
        <p:spPr bwMode="auto">
          <a:xfrm>
            <a:off x="3165475" y="2692400"/>
            <a:ext cx="2392363" cy="1588"/>
          </a:xfrm>
          <a:prstGeom prst="line">
            <a:avLst/>
          </a:prstGeom>
          <a:noFill/>
          <a:ln w="50800">
            <a:solidFill>
              <a:srgbClr val="CC0000"/>
            </a:solidFill>
            <a:round/>
            <a:headEnd/>
            <a:tailEnd type="triangle" w="med" len="med"/>
          </a:ln>
          <a:effectLst/>
        </p:spPr>
        <p:txBody>
          <a:bodyPr/>
          <a:lstStyle/>
          <a:p>
            <a:endParaRPr lang="fr-FR"/>
          </a:p>
        </p:txBody>
      </p:sp>
      <p:sp>
        <p:nvSpPr>
          <p:cNvPr id="796838" name="Line 166"/>
          <p:cNvSpPr>
            <a:spLocks noChangeShapeType="1"/>
          </p:cNvSpPr>
          <p:nvPr/>
        </p:nvSpPr>
        <p:spPr bwMode="auto">
          <a:xfrm>
            <a:off x="3386138" y="3309938"/>
            <a:ext cx="2379662" cy="501650"/>
          </a:xfrm>
          <a:prstGeom prst="line">
            <a:avLst/>
          </a:prstGeom>
          <a:noFill/>
          <a:ln w="50800">
            <a:solidFill>
              <a:srgbClr val="CC0000"/>
            </a:solidFill>
            <a:round/>
            <a:headEnd/>
            <a:tailEnd type="triangle" w="med" len="med"/>
          </a:ln>
          <a:effectLst/>
        </p:spPr>
        <p:txBody>
          <a:bodyPr/>
          <a:lstStyle/>
          <a:p>
            <a:endParaRPr lang="fr-FR"/>
          </a:p>
        </p:txBody>
      </p:sp>
      <p:sp>
        <p:nvSpPr>
          <p:cNvPr id="796839" name="Line 167"/>
          <p:cNvSpPr>
            <a:spLocks noChangeShapeType="1"/>
          </p:cNvSpPr>
          <p:nvPr/>
        </p:nvSpPr>
        <p:spPr bwMode="auto">
          <a:xfrm>
            <a:off x="2974975" y="4016375"/>
            <a:ext cx="3956050" cy="1409700"/>
          </a:xfrm>
          <a:prstGeom prst="line">
            <a:avLst/>
          </a:prstGeom>
          <a:noFill/>
          <a:ln w="50800">
            <a:solidFill>
              <a:srgbClr val="CC0000"/>
            </a:solidFill>
            <a:round/>
            <a:headEnd/>
            <a:tailEnd type="triangle" w="med" len="med"/>
          </a:ln>
          <a:effectLst/>
        </p:spPr>
        <p:txBody>
          <a:bodyPr/>
          <a:lstStyle/>
          <a:p>
            <a:endParaRPr lang="fr-FR"/>
          </a:p>
        </p:txBody>
      </p:sp>
      <p:sp>
        <p:nvSpPr>
          <p:cNvPr id="796840" name="Rectangle 168"/>
          <p:cNvSpPr>
            <a:spLocks noChangeArrowheads="1"/>
          </p:cNvSpPr>
          <p:nvPr/>
        </p:nvSpPr>
        <p:spPr bwMode="auto">
          <a:xfrm>
            <a:off x="3625850" y="2339975"/>
            <a:ext cx="1611313" cy="393700"/>
          </a:xfrm>
          <a:prstGeom prst="rect">
            <a:avLst/>
          </a:prstGeom>
          <a:noFill/>
          <a:ln w="9525" algn="ctr">
            <a:noFill/>
            <a:miter lim="800000"/>
            <a:headEnd/>
            <a:tailEnd/>
          </a:ln>
          <a:effectLst/>
        </p:spPr>
        <p:txBody>
          <a:bodyPr wrap="none" anchor="ctr"/>
          <a:lstStyle/>
          <a:p>
            <a:r>
              <a:rPr lang="en-US" sz="2000" b="1" err="1"/>
              <a:t>Requête</a:t>
            </a:r>
            <a:r>
              <a:rPr lang="en-US" sz="2000" b="1"/>
              <a:t> </a:t>
            </a:r>
            <a:r>
              <a:rPr lang="en-US" sz="2000" b="1" err="1"/>
              <a:t>itérative</a:t>
            </a:r>
            <a:endParaRPr lang="en-US" sz="2000" b="1"/>
          </a:p>
        </p:txBody>
      </p:sp>
      <p:sp>
        <p:nvSpPr>
          <p:cNvPr id="796841" name="Rectangle 169"/>
          <p:cNvSpPr>
            <a:spLocks noChangeArrowheads="1"/>
          </p:cNvSpPr>
          <p:nvPr/>
        </p:nvSpPr>
        <p:spPr bwMode="auto">
          <a:xfrm rot="1192288">
            <a:off x="4781550" y="4511675"/>
            <a:ext cx="1611313" cy="449263"/>
          </a:xfrm>
          <a:prstGeom prst="rect">
            <a:avLst/>
          </a:prstGeom>
          <a:noFill/>
          <a:ln w="9525" algn="ctr">
            <a:noFill/>
            <a:miter lim="800000"/>
            <a:headEnd/>
            <a:tailEnd/>
          </a:ln>
          <a:effectLst/>
        </p:spPr>
        <p:txBody>
          <a:bodyPr wrap="none" anchor="ctr"/>
          <a:lstStyle/>
          <a:p>
            <a:r>
              <a:rPr lang="en-US" sz="2000" b="1"/>
              <a:t>Requête itérative</a:t>
            </a:r>
          </a:p>
        </p:txBody>
      </p:sp>
      <p:sp>
        <p:nvSpPr>
          <p:cNvPr id="796842" name="Rectangle 170"/>
          <p:cNvSpPr>
            <a:spLocks noChangeArrowheads="1"/>
          </p:cNvSpPr>
          <p:nvPr/>
        </p:nvSpPr>
        <p:spPr bwMode="auto">
          <a:xfrm rot="690929">
            <a:off x="3883025" y="3198813"/>
            <a:ext cx="1443038" cy="417512"/>
          </a:xfrm>
          <a:prstGeom prst="rect">
            <a:avLst/>
          </a:prstGeom>
          <a:noFill/>
          <a:ln w="9525" algn="ctr">
            <a:noFill/>
            <a:miter lim="800000"/>
            <a:headEnd/>
            <a:tailEnd/>
          </a:ln>
          <a:effectLst/>
        </p:spPr>
        <p:txBody>
          <a:bodyPr wrap="none" anchor="ctr"/>
          <a:lstStyle/>
          <a:p>
            <a:r>
              <a:rPr lang="en-US" sz="2000" b="1"/>
              <a:t>Requête itérative</a:t>
            </a:r>
          </a:p>
        </p:txBody>
      </p:sp>
      <p:sp>
        <p:nvSpPr>
          <p:cNvPr id="796843" name="Text Box 171"/>
          <p:cNvSpPr txBox="1">
            <a:spLocks noChangeArrowheads="1"/>
          </p:cNvSpPr>
          <p:nvPr/>
        </p:nvSpPr>
        <p:spPr bwMode="auto">
          <a:xfrm>
            <a:off x="3367088" y="2792413"/>
            <a:ext cx="1755775" cy="400110"/>
          </a:xfrm>
          <a:prstGeom prst="rect">
            <a:avLst/>
          </a:prstGeom>
          <a:noFill/>
          <a:ln w="9525" algn="ctr">
            <a:noFill/>
            <a:miter lim="800000"/>
            <a:headEnd/>
            <a:tailEnd/>
          </a:ln>
          <a:effectLst/>
        </p:spPr>
        <p:txBody>
          <a:bodyPr>
            <a:spAutoFit/>
          </a:bodyPr>
          <a:lstStyle/>
          <a:p>
            <a:r>
              <a:rPr lang="en-US" sz="2000" b="1" err="1"/>
              <a:t>Interroger</a:t>
            </a:r>
            <a:r>
              <a:rPr lang="en-US" sz="2000" b="1"/>
              <a:t> .com</a:t>
            </a:r>
          </a:p>
        </p:txBody>
      </p:sp>
      <p:sp>
        <p:nvSpPr>
          <p:cNvPr id="796844" name="Line 172"/>
          <p:cNvSpPr>
            <a:spLocks noChangeShapeType="1"/>
          </p:cNvSpPr>
          <p:nvPr/>
        </p:nvSpPr>
        <p:spPr bwMode="auto">
          <a:xfrm flipH="1" flipV="1">
            <a:off x="3138488" y="2836863"/>
            <a:ext cx="2397125" cy="1587"/>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6845" name="Line 173"/>
          <p:cNvSpPr>
            <a:spLocks noChangeShapeType="1"/>
          </p:cNvSpPr>
          <p:nvPr/>
        </p:nvSpPr>
        <p:spPr bwMode="auto">
          <a:xfrm flipH="1" flipV="1">
            <a:off x="2906713" y="4103688"/>
            <a:ext cx="3933825" cy="1416050"/>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6846" name="Line 174"/>
          <p:cNvSpPr>
            <a:spLocks noChangeShapeType="1"/>
          </p:cNvSpPr>
          <p:nvPr/>
        </p:nvSpPr>
        <p:spPr bwMode="auto">
          <a:xfrm flipH="1" flipV="1">
            <a:off x="3314700" y="3422650"/>
            <a:ext cx="2406650" cy="528638"/>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6847" name="Text Box 175"/>
          <p:cNvSpPr txBox="1">
            <a:spLocks noChangeArrowheads="1"/>
          </p:cNvSpPr>
          <p:nvPr/>
        </p:nvSpPr>
        <p:spPr bwMode="auto">
          <a:xfrm rot="775546">
            <a:off x="3166870" y="3624224"/>
            <a:ext cx="2292693" cy="615553"/>
          </a:xfrm>
          <a:prstGeom prst="rect">
            <a:avLst/>
          </a:prstGeom>
          <a:noFill/>
          <a:ln w="9525" algn="ctr">
            <a:noFill/>
            <a:miter lim="800000"/>
            <a:headEnd/>
            <a:tailEnd/>
          </a:ln>
          <a:effectLst/>
        </p:spPr>
        <p:txBody>
          <a:bodyPr wrap="square">
            <a:spAutoFit/>
          </a:bodyPr>
          <a:lstStyle/>
          <a:p>
            <a:pPr>
              <a:lnSpc>
                <a:spcPct val="85000"/>
              </a:lnSpc>
            </a:pPr>
            <a:r>
              <a:rPr lang="en-US" sz="2000" b="1" err="1"/>
              <a:t>Interroger</a:t>
            </a:r>
            <a:r>
              <a:rPr lang="en-US" sz="2000" b="1"/>
              <a:t> nwtraders.com</a:t>
            </a:r>
          </a:p>
        </p:txBody>
      </p:sp>
      <p:sp>
        <p:nvSpPr>
          <p:cNvPr id="796848" name="Text Box 176"/>
          <p:cNvSpPr txBox="1">
            <a:spLocks noChangeArrowheads="1"/>
          </p:cNvSpPr>
          <p:nvPr/>
        </p:nvSpPr>
        <p:spPr bwMode="auto">
          <a:xfrm rot="1132119">
            <a:off x="2961697" y="4750950"/>
            <a:ext cx="3469884" cy="400110"/>
          </a:xfrm>
          <a:prstGeom prst="rect">
            <a:avLst/>
          </a:prstGeom>
          <a:noFill/>
          <a:ln w="9525" algn="ctr">
            <a:noFill/>
            <a:miter lim="800000"/>
            <a:headEnd/>
            <a:tailEnd/>
          </a:ln>
          <a:effectLst/>
        </p:spPr>
        <p:txBody>
          <a:bodyPr wrap="square">
            <a:spAutoFit/>
          </a:bodyPr>
          <a:lstStyle/>
          <a:p>
            <a:r>
              <a:rPr lang="en-US" sz="2000" b="1" err="1"/>
              <a:t>Réponse</a:t>
            </a:r>
            <a:r>
              <a:rPr lang="en-US" sz="2000" b="1"/>
              <a:t> </a:t>
            </a:r>
            <a:r>
              <a:rPr lang="en-US" sz="2000" b="1" err="1"/>
              <a:t>faisant</a:t>
            </a:r>
            <a:r>
              <a:rPr lang="en-US" sz="2000" b="1"/>
              <a:t> </a:t>
            </a:r>
            <a:r>
              <a:rPr lang="en-US" sz="2000" b="1" err="1"/>
              <a:t>autorité</a:t>
            </a:r>
            <a:endParaRPr lang="en-US" sz="2000" b="1"/>
          </a:p>
        </p:txBody>
      </p:sp>
      <p:sp>
        <p:nvSpPr>
          <p:cNvPr id="796849" name="Text Box 177"/>
          <p:cNvSpPr txBox="1">
            <a:spLocks noChangeArrowheads="1"/>
          </p:cNvSpPr>
          <p:nvPr/>
        </p:nvSpPr>
        <p:spPr bwMode="auto">
          <a:xfrm>
            <a:off x="6238875" y="5303838"/>
            <a:ext cx="298450" cy="376237"/>
          </a:xfrm>
          <a:prstGeom prst="rect">
            <a:avLst/>
          </a:prstGeom>
          <a:gradFill rotWithShape="1">
            <a:gsLst>
              <a:gs pos="0">
                <a:schemeClr val="folHlink"/>
              </a:gs>
              <a:gs pos="50000">
                <a:srgbClr val="F0F0F0"/>
              </a:gs>
              <a:gs pos="100000">
                <a:schemeClr val="folHlink"/>
              </a:gs>
            </a:gsLst>
            <a:lin ang="5400000" scaled="1"/>
          </a:gradFill>
          <a:ln w="9525" algn="ctr">
            <a:solidFill>
              <a:schemeClr val="tx1"/>
            </a:solidFill>
            <a:miter lim="800000"/>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796850" name="Text Box 178"/>
          <p:cNvSpPr txBox="1">
            <a:spLocks noChangeArrowheads="1"/>
          </p:cNvSpPr>
          <p:nvPr/>
        </p:nvSpPr>
        <p:spPr bwMode="auto">
          <a:xfrm>
            <a:off x="5443538" y="3887788"/>
            <a:ext cx="298450" cy="376237"/>
          </a:xfrm>
          <a:prstGeom prst="rect">
            <a:avLst/>
          </a:prstGeom>
          <a:gradFill rotWithShape="1">
            <a:gsLst>
              <a:gs pos="0">
                <a:schemeClr val="folHlink"/>
              </a:gs>
              <a:gs pos="50000">
                <a:srgbClr val="F0F0F0"/>
              </a:gs>
              <a:gs pos="100000">
                <a:schemeClr val="folHlink"/>
              </a:gs>
            </a:gsLst>
            <a:lin ang="5400000" scaled="1"/>
          </a:gradFill>
          <a:ln w="9525" algn="ctr">
            <a:solidFill>
              <a:schemeClr val="tx1"/>
            </a:solidFill>
            <a:miter lim="800000"/>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796851" name="Text Box 179"/>
          <p:cNvSpPr txBox="1">
            <a:spLocks noChangeArrowheads="1"/>
          </p:cNvSpPr>
          <p:nvPr/>
        </p:nvSpPr>
        <p:spPr bwMode="auto">
          <a:xfrm>
            <a:off x="5056188" y="2778125"/>
            <a:ext cx="298450" cy="376238"/>
          </a:xfrm>
          <a:prstGeom prst="rect">
            <a:avLst/>
          </a:prstGeom>
          <a:gradFill rotWithShape="1">
            <a:gsLst>
              <a:gs pos="0">
                <a:schemeClr val="folHlink"/>
              </a:gs>
              <a:gs pos="50000">
                <a:srgbClr val="F0F0F0"/>
              </a:gs>
              <a:gs pos="100000">
                <a:schemeClr val="folHlink"/>
              </a:gs>
            </a:gsLst>
            <a:lin ang="5400000" scaled="1"/>
          </a:gradFill>
          <a:ln w="9525" algn="ctr">
            <a:solidFill>
              <a:schemeClr val="tx1"/>
            </a:solidFill>
            <a:miter lim="800000"/>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grpSp>
        <p:nvGrpSpPr>
          <p:cNvPr id="796852" name="Group 180"/>
          <p:cNvGrpSpPr>
            <a:grpSpLocks/>
          </p:cNvGrpSpPr>
          <p:nvPr/>
        </p:nvGrpSpPr>
        <p:grpSpPr bwMode="auto">
          <a:xfrm>
            <a:off x="101610" y="6298288"/>
            <a:ext cx="914400" cy="425450"/>
            <a:chOff x="384" y="3024"/>
            <a:chExt cx="720" cy="336"/>
          </a:xfrm>
        </p:grpSpPr>
        <p:sp>
          <p:nvSpPr>
            <p:cNvPr id="796853" name="Oval 181"/>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96854" name="Group 182"/>
            <p:cNvGrpSpPr>
              <a:grpSpLocks/>
            </p:cNvGrpSpPr>
            <p:nvPr/>
          </p:nvGrpSpPr>
          <p:grpSpPr bwMode="auto">
            <a:xfrm>
              <a:off x="480" y="3096"/>
              <a:ext cx="240" cy="192"/>
              <a:chOff x="480" y="3096"/>
              <a:chExt cx="240" cy="192"/>
            </a:xfrm>
          </p:grpSpPr>
          <p:sp>
            <p:nvSpPr>
              <p:cNvPr id="796855" name="Oval 183"/>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96856" name="Freeform 184"/>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96857" name="Group 185"/>
          <p:cNvGrpSpPr>
            <a:grpSpLocks/>
          </p:cNvGrpSpPr>
          <p:nvPr/>
        </p:nvGrpSpPr>
        <p:grpSpPr bwMode="auto">
          <a:xfrm>
            <a:off x="588973" y="6388776"/>
            <a:ext cx="304800" cy="244475"/>
            <a:chOff x="768" y="3096"/>
            <a:chExt cx="240" cy="192"/>
          </a:xfrm>
        </p:grpSpPr>
        <p:sp>
          <p:nvSpPr>
            <p:cNvPr id="796858" name="Oval 186"/>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96859" name="Rectangle 187"/>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796825" name="AutoShape 153"/>
          <p:cNvSpPr>
            <a:spLocks noChangeArrowheads="1"/>
          </p:cNvSpPr>
          <p:nvPr/>
        </p:nvSpPr>
        <p:spPr bwMode="auto">
          <a:xfrm>
            <a:off x="7346270" y="4651602"/>
            <a:ext cx="1609502" cy="3429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a:t>nwtraders.com</a:t>
            </a:r>
          </a:p>
        </p:txBody>
      </p:sp>
      <p:sp>
        <p:nvSpPr>
          <p:cNvPr id="45" name="Rectangle 44"/>
          <p:cNvSpPr/>
          <p:nvPr/>
        </p:nvSpPr>
        <p:spPr>
          <a:xfrm>
            <a:off x="72570" y="2380343"/>
            <a:ext cx="9071430" cy="43760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6819" name="AutoShape 147"/>
          <p:cNvSpPr>
            <a:spLocks noChangeArrowheads="1"/>
          </p:cNvSpPr>
          <p:nvPr/>
        </p:nvSpPr>
        <p:spPr bwMode="auto">
          <a:xfrm>
            <a:off x="246743" y="1451427"/>
            <a:ext cx="8665027" cy="3106059"/>
          </a:xfrm>
          <a:prstGeom prst="roundRect">
            <a:avLst>
              <a:gd name="adj" fmla="val 16667"/>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150000"/>
              </a:lnSpc>
            </a:pPr>
            <a:r>
              <a:rPr lang="fr-FR" sz="2400" b="1"/>
              <a:t>C’est une requête envoyée à un serveur DNS dans laquelle le client DNS demande la meilleure réponse que peut fournir le serveur DNS sans faire appel à d'autres serveurs DNS. </a:t>
            </a:r>
          </a:p>
          <a:p>
            <a:pPr algn="l" eaLnBrk="1" hangingPunct="1">
              <a:lnSpc>
                <a:spcPct val="150000"/>
              </a:lnSpc>
            </a:pPr>
            <a:r>
              <a:rPr lang="fr-FR" sz="2400" b="1"/>
              <a:t>Le résultat d'une requête itérative est souvent une référence à un autre serveur DNS situé plus bas dans l'arborescence DNS</a:t>
            </a:r>
          </a:p>
        </p:txBody>
      </p:sp>
      <p:sp>
        <p:nvSpPr>
          <p:cNvPr id="46" name="Espace réservé du numéro de diapositive 45"/>
          <p:cNvSpPr>
            <a:spLocks noGrp="1"/>
          </p:cNvSpPr>
          <p:nvPr>
            <p:ph type="sldNum" sz="quarter" idx="12"/>
          </p:nvPr>
        </p:nvSpPr>
        <p:spPr/>
        <p:txBody>
          <a:bodyPr/>
          <a:lstStyle/>
          <a:p>
            <a:fld id="{2C6B1FF6-39B9-40F5-8B67-33C6354A3D4F}" type="slidenum">
              <a:rPr kumimoji="0" lang="en-US" smtClean="0"/>
              <a:pPr/>
              <a:t>14</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1" nodeType="clickEffect">
                                  <p:stCondLst>
                                    <p:cond delay="0"/>
                                  </p:stCondLst>
                                  <p:childTnLst>
                                    <p:animEffect transition="out" filter="box(in)">
                                      <p:cBhvr>
                                        <p:cTn id="6" dur="2000"/>
                                        <p:tgtEl>
                                          <p:spTgt spid="45"/>
                                        </p:tgtEl>
                                      </p:cBhvr>
                                    </p:animEffect>
                                    <p:set>
                                      <p:cBhvr>
                                        <p:cTn id="7" dur="1" fill="hold">
                                          <p:stCondLst>
                                            <p:cond delay="1999"/>
                                          </p:stCondLst>
                                        </p:cTn>
                                        <p:tgtEl>
                                          <p:spTgt spid="45"/>
                                        </p:tgtEl>
                                        <p:attrNameLst>
                                          <p:attrName>style.visibility</p:attrName>
                                        </p:attrNameLst>
                                      </p:cBhvr>
                                      <p:to>
                                        <p:strVal val="hidden"/>
                                      </p:to>
                                    </p:set>
                                  </p:childTnLst>
                                </p:cTn>
                              </p:par>
                              <p:par>
                                <p:cTn id="8" presetID="4" presetClass="exit" presetSubtype="16" fill="hold" grpId="0" nodeType="withEffect">
                                  <p:stCondLst>
                                    <p:cond delay="0"/>
                                  </p:stCondLst>
                                  <p:childTnLst>
                                    <p:animEffect transition="out" filter="box(in)">
                                      <p:cBhvr>
                                        <p:cTn id="9" dur="2000"/>
                                        <p:tgtEl>
                                          <p:spTgt spid="796819"/>
                                        </p:tgtEl>
                                      </p:cBhvr>
                                    </p:animEffect>
                                    <p:set>
                                      <p:cBhvr>
                                        <p:cTn id="10" dur="1" fill="hold">
                                          <p:stCondLst>
                                            <p:cond delay="1999"/>
                                          </p:stCondLst>
                                        </p:cTn>
                                        <p:tgtEl>
                                          <p:spTgt spid="7968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96832"/>
                                        </p:tgtEl>
                                        <p:attrNameLst>
                                          <p:attrName>style.visibility</p:attrName>
                                        </p:attrNameLst>
                                      </p:cBhvr>
                                      <p:to>
                                        <p:strVal val="visible"/>
                                      </p:to>
                                    </p:set>
                                    <p:animEffect transition="in" filter="wipe(down)">
                                      <p:cBhvr>
                                        <p:cTn id="15" dur="1000"/>
                                        <p:tgtEl>
                                          <p:spTgt spid="796832"/>
                                        </p:tgtEl>
                                      </p:cBhvr>
                                    </p:animEffect>
                                  </p:childTnLst>
                                </p:cTn>
                              </p:par>
                              <p:par>
                                <p:cTn id="16" presetID="1" presetClass="entr" presetSubtype="0" fill="hold" nodeType="withEffect">
                                  <p:stCondLst>
                                    <p:cond delay="0"/>
                                  </p:stCondLst>
                                  <p:childTnLst>
                                    <p:set>
                                      <p:cBhvr>
                                        <p:cTn id="17" dur="1" fill="hold">
                                          <p:stCondLst>
                                            <p:cond delay="0"/>
                                          </p:stCondLst>
                                        </p:cTn>
                                        <p:tgtEl>
                                          <p:spTgt spid="796835">
                                            <p:txEl>
                                              <p:pRg st="0" end="0"/>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96835">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96837"/>
                                        </p:tgtEl>
                                        <p:attrNameLst>
                                          <p:attrName>style.visibility</p:attrName>
                                        </p:attrNameLst>
                                      </p:cBhvr>
                                      <p:to>
                                        <p:strVal val="visible"/>
                                      </p:to>
                                    </p:set>
                                    <p:animEffect transition="in" filter="wipe(left)">
                                      <p:cBhvr>
                                        <p:cTn id="24" dur="1000"/>
                                        <p:tgtEl>
                                          <p:spTgt spid="796837"/>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796840"/>
                                        </p:tgtEl>
                                        <p:attrNameLst>
                                          <p:attrName>style.visibility</p:attrName>
                                        </p:attrNameLst>
                                      </p:cBhvr>
                                      <p:to>
                                        <p:strVal val="visible"/>
                                      </p:to>
                                    </p:set>
                                  </p:childTnLst>
                                </p:cTn>
                              </p:par>
                            </p:childTnLst>
                          </p:cTn>
                        </p:par>
                        <p:par>
                          <p:cTn id="27" fill="hold">
                            <p:stCondLst>
                              <p:cond delay="1000"/>
                            </p:stCondLst>
                            <p:childTnLst>
                              <p:par>
                                <p:cTn id="28" presetID="22" presetClass="entr" presetSubtype="2" fill="hold" grpId="0" nodeType="afterEffect">
                                  <p:stCondLst>
                                    <p:cond delay="0"/>
                                  </p:stCondLst>
                                  <p:childTnLst>
                                    <p:set>
                                      <p:cBhvr>
                                        <p:cTn id="29" dur="1" fill="hold">
                                          <p:stCondLst>
                                            <p:cond delay="0"/>
                                          </p:stCondLst>
                                        </p:cTn>
                                        <p:tgtEl>
                                          <p:spTgt spid="796844"/>
                                        </p:tgtEl>
                                        <p:attrNameLst>
                                          <p:attrName>style.visibility</p:attrName>
                                        </p:attrNameLst>
                                      </p:cBhvr>
                                      <p:to>
                                        <p:strVal val="visible"/>
                                      </p:to>
                                    </p:set>
                                    <p:animEffect transition="in" filter="wipe(right)">
                                      <p:cBhvr>
                                        <p:cTn id="30" dur="1000"/>
                                        <p:tgtEl>
                                          <p:spTgt spid="796844"/>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7968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96838"/>
                                        </p:tgtEl>
                                        <p:attrNameLst>
                                          <p:attrName>style.visibility</p:attrName>
                                        </p:attrNameLst>
                                      </p:cBhvr>
                                      <p:to>
                                        <p:strVal val="visible"/>
                                      </p:to>
                                    </p:set>
                                    <p:animEffect transition="in" filter="wipe(left)">
                                      <p:cBhvr>
                                        <p:cTn id="37" dur="1000"/>
                                        <p:tgtEl>
                                          <p:spTgt spid="796838"/>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796842"/>
                                        </p:tgtEl>
                                        <p:attrNameLst>
                                          <p:attrName>style.visibility</p:attrName>
                                        </p:attrNameLst>
                                      </p:cBhvr>
                                      <p:to>
                                        <p:strVal val="visible"/>
                                      </p:to>
                                    </p:set>
                                  </p:childTnLst>
                                </p:cTn>
                              </p:par>
                            </p:childTnLst>
                          </p:cTn>
                        </p:par>
                        <p:par>
                          <p:cTn id="40" fill="hold">
                            <p:stCondLst>
                              <p:cond delay="1000"/>
                            </p:stCondLst>
                            <p:childTnLst>
                              <p:par>
                                <p:cTn id="41" presetID="22" presetClass="entr" presetSubtype="2" fill="hold" grpId="0" nodeType="afterEffect">
                                  <p:stCondLst>
                                    <p:cond delay="0"/>
                                  </p:stCondLst>
                                  <p:childTnLst>
                                    <p:set>
                                      <p:cBhvr>
                                        <p:cTn id="42" dur="1" fill="hold">
                                          <p:stCondLst>
                                            <p:cond delay="0"/>
                                          </p:stCondLst>
                                        </p:cTn>
                                        <p:tgtEl>
                                          <p:spTgt spid="796846"/>
                                        </p:tgtEl>
                                        <p:attrNameLst>
                                          <p:attrName>style.visibility</p:attrName>
                                        </p:attrNameLst>
                                      </p:cBhvr>
                                      <p:to>
                                        <p:strVal val="visible"/>
                                      </p:to>
                                    </p:set>
                                    <p:animEffect transition="in" filter="wipe(right)">
                                      <p:cBhvr>
                                        <p:cTn id="43" dur="1000"/>
                                        <p:tgtEl>
                                          <p:spTgt spid="79684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79684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96839"/>
                                        </p:tgtEl>
                                        <p:attrNameLst>
                                          <p:attrName>style.visibility</p:attrName>
                                        </p:attrNameLst>
                                      </p:cBhvr>
                                      <p:to>
                                        <p:strVal val="visible"/>
                                      </p:to>
                                    </p:set>
                                    <p:animEffect transition="in" filter="wipe(left)">
                                      <p:cBhvr>
                                        <p:cTn id="50" dur="2000"/>
                                        <p:tgtEl>
                                          <p:spTgt spid="796839"/>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796841"/>
                                        </p:tgtEl>
                                        <p:attrNameLst>
                                          <p:attrName>style.visibility</p:attrName>
                                        </p:attrNameLst>
                                      </p:cBhvr>
                                      <p:to>
                                        <p:strVal val="visible"/>
                                      </p:to>
                                    </p:set>
                                  </p:childTnLst>
                                </p:cTn>
                              </p:par>
                            </p:childTnLst>
                          </p:cTn>
                        </p:par>
                        <p:par>
                          <p:cTn id="53" fill="hold">
                            <p:stCondLst>
                              <p:cond delay="2000"/>
                            </p:stCondLst>
                            <p:childTnLst>
                              <p:par>
                                <p:cTn id="54" presetID="22" presetClass="entr" presetSubtype="2" fill="hold" grpId="0" nodeType="afterEffect">
                                  <p:stCondLst>
                                    <p:cond delay="0"/>
                                  </p:stCondLst>
                                  <p:childTnLst>
                                    <p:set>
                                      <p:cBhvr>
                                        <p:cTn id="55" dur="1" fill="hold">
                                          <p:stCondLst>
                                            <p:cond delay="0"/>
                                          </p:stCondLst>
                                        </p:cTn>
                                        <p:tgtEl>
                                          <p:spTgt spid="796845"/>
                                        </p:tgtEl>
                                        <p:attrNameLst>
                                          <p:attrName>style.visibility</p:attrName>
                                        </p:attrNameLst>
                                      </p:cBhvr>
                                      <p:to>
                                        <p:strVal val="visible"/>
                                      </p:to>
                                    </p:set>
                                    <p:animEffect transition="in" filter="wipe(right)">
                                      <p:cBhvr>
                                        <p:cTn id="56" dur="2000"/>
                                        <p:tgtEl>
                                          <p:spTgt spid="796845"/>
                                        </p:tgtEl>
                                      </p:cBhvr>
                                    </p:animEffect>
                                  </p:childTnLst>
                                </p:cTn>
                              </p:par>
                              <p:par>
                                <p:cTn id="57" presetID="1" presetClass="entr" presetSubtype="0" fill="hold" nodeType="withEffect">
                                  <p:stCondLst>
                                    <p:cond delay="0"/>
                                  </p:stCondLst>
                                  <p:childTnLst>
                                    <p:set>
                                      <p:cBhvr>
                                        <p:cTn id="58" dur="1" fill="hold">
                                          <p:stCondLst>
                                            <p:cond delay="0"/>
                                          </p:stCondLst>
                                        </p:cTn>
                                        <p:tgtEl>
                                          <p:spTgt spid="796848">
                                            <p:txEl>
                                              <p:pRg st="0" end="0"/>
                                            </p:txEl>
                                          </p:spTgt>
                                        </p:tgtEl>
                                        <p:attrNameLst>
                                          <p:attrName>style.visibility</p:attrName>
                                        </p:attrNameLst>
                                      </p:cBhvr>
                                      <p:to>
                                        <p:strVal val="visible"/>
                                      </p:to>
                                    </p:set>
                                  </p:childTnLst>
                                </p:cTn>
                              </p:par>
                            </p:childTnLst>
                          </p:cTn>
                        </p:par>
                        <p:par>
                          <p:cTn id="59" fill="hold">
                            <p:stCondLst>
                              <p:cond delay="4000"/>
                            </p:stCondLst>
                            <p:childTnLst>
                              <p:par>
                                <p:cTn id="60" presetID="22" presetClass="entr" presetSubtype="1" fill="hold" grpId="0" nodeType="afterEffect">
                                  <p:stCondLst>
                                    <p:cond delay="0"/>
                                  </p:stCondLst>
                                  <p:childTnLst>
                                    <p:set>
                                      <p:cBhvr>
                                        <p:cTn id="61" dur="1" fill="hold">
                                          <p:stCondLst>
                                            <p:cond delay="0"/>
                                          </p:stCondLst>
                                        </p:cTn>
                                        <p:tgtEl>
                                          <p:spTgt spid="796833"/>
                                        </p:tgtEl>
                                        <p:attrNameLst>
                                          <p:attrName>style.visibility</p:attrName>
                                        </p:attrNameLst>
                                      </p:cBhvr>
                                      <p:to>
                                        <p:strVal val="visible"/>
                                      </p:to>
                                    </p:set>
                                    <p:animEffect transition="in" filter="wipe(up)">
                                      <p:cBhvr>
                                        <p:cTn id="62" dur="2000"/>
                                        <p:tgtEl>
                                          <p:spTgt spid="796833"/>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7968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968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968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96849"/>
                                        </p:tgtEl>
                                        <p:attrNameLst>
                                          <p:attrName>style.visibility</p:attrName>
                                        </p:attrNameLst>
                                      </p:cBhvr>
                                      <p:to>
                                        <p:strVal val="visible"/>
                                      </p:to>
                                    </p:set>
                                  </p:childTnLst>
                                </p:cTn>
                              </p:par>
                            </p:childTnLst>
                          </p:cTn>
                        </p:par>
                        <p:par>
                          <p:cTn id="71" fill="hold">
                            <p:stCondLst>
                              <p:cond delay="6000"/>
                            </p:stCondLst>
                            <p:childTnLst>
                              <p:par>
                                <p:cTn id="72" presetID="1" presetClass="entr" presetSubtype="0" fill="hold" nodeType="afterEffect">
                                  <p:stCondLst>
                                    <p:cond delay="0"/>
                                  </p:stCondLst>
                                  <p:childTnLst>
                                    <p:set>
                                      <p:cBhvr>
                                        <p:cTn id="73" dur="1" fill="hold">
                                          <p:stCondLst>
                                            <p:cond delay="0"/>
                                          </p:stCondLst>
                                        </p:cTn>
                                        <p:tgtEl>
                                          <p:spTgt spid="7968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832" grpId="0" animBg="1"/>
      <p:bldP spid="796833" grpId="0" animBg="1"/>
      <p:bldP spid="796836" grpId="0"/>
      <p:bldP spid="796837" grpId="0" animBg="1"/>
      <p:bldP spid="796838" grpId="0" animBg="1"/>
      <p:bldP spid="796839" grpId="0" animBg="1"/>
      <p:bldP spid="796840" grpId="0"/>
      <p:bldP spid="796841" grpId="0"/>
      <p:bldP spid="796842" grpId="0"/>
      <p:bldP spid="796843" grpId="0"/>
      <p:bldP spid="796844" grpId="0" animBg="1"/>
      <p:bldP spid="796845" grpId="0" animBg="1"/>
      <p:bldP spid="796846" grpId="0" animBg="1"/>
      <p:bldP spid="796847" grpId="0"/>
      <p:bldP spid="796849" grpId="0" animBg="1"/>
      <p:bldP spid="796850" grpId="0" animBg="1"/>
      <p:bldP spid="796851" grpId="0" animBg="1"/>
      <p:bldP spid="45" grpId="1" animBg="1"/>
      <p:bldP spid="7968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8" name="Rectangle 4"/>
          <p:cNvSpPr>
            <a:spLocks noGrp="1" noChangeArrowheads="1"/>
          </p:cNvSpPr>
          <p:nvPr>
            <p:ph type="title"/>
            <p:custDataLst>
              <p:tags r:id="rId1"/>
            </p:custDataLst>
          </p:nvPr>
        </p:nvSpPr>
        <p:spPr/>
        <p:txBody>
          <a:bodyPr vert="horz" anchor="b">
            <a:normAutofit/>
          </a:bodyPr>
          <a:lstStyle/>
          <a:p>
            <a:pPr marL="460375" indent="-460375"/>
            <a:r>
              <a:rPr lang="en-GB" sz="3000" b="1">
                <a:solidFill>
                  <a:srgbClr val="C00000"/>
                </a:solidFill>
              </a:rPr>
              <a:t>Fonctionnement des redirecteurs</a:t>
            </a:r>
            <a:endParaRPr lang="en-US" sz="3000" b="1">
              <a:solidFill>
                <a:srgbClr val="C00000"/>
              </a:solidFill>
            </a:endParaRPr>
          </a:p>
        </p:txBody>
      </p:sp>
      <p:sp>
        <p:nvSpPr>
          <p:cNvPr id="794777" name="Oval 153"/>
          <p:cNvSpPr>
            <a:spLocks noChangeArrowheads="1"/>
          </p:cNvSpPr>
          <p:nvPr/>
        </p:nvSpPr>
        <p:spPr bwMode="auto">
          <a:xfrm>
            <a:off x="1093788" y="2757488"/>
            <a:ext cx="3379787" cy="3292475"/>
          </a:xfrm>
          <a:prstGeom prst="ellipse">
            <a:avLst/>
          </a:prstGeom>
          <a:gradFill rotWithShape="1">
            <a:gsLst>
              <a:gs pos="0">
                <a:srgbClr val="F0F1FF"/>
              </a:gs>
              <a:gs pos="100000">
                <a:srgbClr val="B3C8DF"/>
              </a:gs>
            </a:gsLst>
            <a:path path="shape">
              <a:fillToRect l="50000" t="50000" r="50000" b="50000"/>
            </a:path>
          </a:gradFill>
          <a:ln w="9525">
            <a:noFill/>
            <a:round/>
            <a:headEnd/>
            <a:tailEnd/>
          </a:ln>
          <a:effectLst/>
        </p:spPr>
        <p:txBody>
          <a:bodyPr wrap="none" anchor="ctr"/>
          <a:lstStyle/>
          <a:p>
            <a:endParaRPr lang="fr-FR"/>
          </a:p>
        </p:txBody>
      </p:sp>
      <p:sp>
        <p:nvSpPr>
          <p:cNvPr id="794778" name="AutoShape 154"/>
          <p:cNvSpPr>
            <a:spLocks noChangeArrowheads="1"/>
          </p:cNvSpPr>
          <p:nvPr/>
        </p:nvSpPr>
        <p:spPr bwMode="auto">
          <a:xfrm>
            <a:off x="4768850" y="5511800"/>
            <a:ext cx="1518856" cy="46241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US" sz="2200" b="1"/>
              <a:t>Computer1</a:t>
            </a:r>
          </a:p>
        </p:txBody>
      </p:sp>
      <p:sp>
        <p:nvSpPr>
          <p:cNvPr id="794779" name="AutoShape 155"/>
          <p:cNvSpPr>
            <a:spLocks noChangeArrowheads="1"/>
          </p:cNvSpPr>
          <p:nvPr/>
        </p:nvSpPr>
        <p:spPr bwMode="auto">
          <a:xfrm>
            <a:off x="6630988" y="5154613"/>
            <a:ext cx="1700212" cy="46241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200" b="1"/>
              <a:t>nwtraders.com</a:t>
            </a:r>
          </a:p>
        </p:txBody>
      </p:sp>
      <p:pic>
        <p:nvPicPr>
          <p:cNvPr id="794780" name="Picture 156" descr="Internet01"/>
          <p:cNvPicPr>
            <a:picLocks noChangeAspect="1" noChangeArrowheads="1"/>
          </p:cNvPicPr>
          <p:nvPr/>
        </p:nvPicPr>
        <p:blipFill>
          <a:blip r:embed="rId4"/>
          <a:srcRect/>
          <a:stretch>
            <a:fillRect/>
          </a:stretch>
        </p:blipFill>
        <p:spPr bwMode="auto">
          <a:xfrm>
            <a:off x="6154738" y="2489200"/>
            <a:ext cx="1909762" cy="1905000"/>
          </a:xfrm>
          <a:prstGeom prst="rect">
            <a:avLst/>
          </a:prstGeom>
          <a:noFill/>
        </p:spPr>
      </p:pic>
      <p:pic>
        <p:nvPicPr>
          <p:cNvPr id="794781" name="Picture 157" descr="Server01"/>
          <p:cNvPicPr>
            <a:picLocks noChangeAspect="1" noChangeArrowheads="1"/>
          </p:cNvPicPr>
          <p:nvPr/>
        </p:nvPicPr>
        <p:blipFill>
          <a:blip r:embed="rId5" cstate="print">
            <a:grayscl/>
          </a:blip>
          <a:srcRect/>
          <a:stretch>
            <a:fillRect/>
          </a:stretch>
        </p:blipFill>
        <p:spPr bwMode="auto">
          <a:xfrm>
            <a:off x="5849938" y="2065338"/>
            <a:ext cx="884237" cy="1039812"/>
          </a:xfrm>
          <a:prstGeom prst="rect">
            <a:avLst/>
          </a:prstGeom>
          <a:noFill/>
        </p:spPr>
      </p:pic>
      <p:pic>
        <p:nvPicPr>
          <p:cNvPr id="794782" name="Picture 158" descr="Server01"/>
          <p:cNvPicPr>
            <a:picLocks noChangeAspect="1" noChangeArrowheads="1"/>
          </p:cNvPicPr>
          <p:nvPr/>
        </p:nvPicPr>
        <p:blipFill>
          <a:blip r:embed="rId5" cstate="print">
            <a:grayscl/>
          </a:blip>
          <a:srcRect/>
          <a:stretch>
            <a:fillRect/>
          </a:stretch>
        </p:blipFill>
        <p:spPr bwMode="auto">
          <a:xfrm>
            <a:off x="6003925" y="3225800"/>
            <a:ext cx="884238" cy="1039813"/>
          </a:xfrm>
          <a:prstGeom prst="rect">
            <a:avLst/>
          </a:prstGeom>
          <a:noFill/>
        </p:spPr>
      </p:pic>
      <p:pic>
        <p:nvPicPr>
          <p:cNvPr id="794783" name="Picture 159" descr="Server01"/>
          <p:cNvPicPr>
            <a:picLocks noChangeAspect="1" noChangeArrowheads="1"/>
          </p:cNvPicPr>
          <p:nvPr/>
        </p:nvPicPr>
        <p:blipFill>
          <a:blip r:embed="rId5" cstate="print">
            <a:grayscl/>
          </a:blip>
          <a:srcRect/>
          <a:stretch>
            <a:fillRect/>
          </a:stretch>
        </p:blipFill>
        <p:spPr bwMode="auto">
          <a:xfrm>
            <a:off x="7023100" y="4143375"/>
            <a:ext cx="884238" cy="1039813"/>
          </a:xfrm>
          <a:prstGeom prst="rect">
            <a:avLst/>
          </a:prstGeom>
          <a:noFill/>
        </p:spPr>
      </p:pic>
      <p:sp>
        <p:nvSpPr>
          <p:cNvPr id="794784" name="AutoShape 160"/>
          <p:cNvSpPr>
            <a:spLocks noChangeArrowheads="1"/>
          </p:cNvSpPr>
          <p:nvPr/>
        </p:nvSpPr>
        <p:spPr bwMode="auto">
          <a:xfrm>
            <a:off x="6521449" y="2349500"/>
            <a:ext cx="2487977" cy="46241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200" b="1"/>
              <a:t>Indication de </a:t>
            </a:r>
            <a:r>
              <a:rPr lang="en-US" sz="2200" b="1" err="1"/>
              <a:t>racine</a:t>
            </a:r>
            <a:r>
              <a:rPr lang="en-US" sz="2200" b="1"/>
              <a:t> (.)</a:t>
            </a:r>
          </a:p>
        </p:txBody>
      </p:sp>
      <p:sp>
        <p:nvSpPr>
          <p:cNvPr id="794785" name="AutoShape 161"/>
          <p:cNvSpPr>
            <a:spLocks noChangeArrowheads="1"/>
          </p:cNvSpPr>
          <p:nvPr/>
        </p:nvSpPr>
        <p:spPr bwMode="auto">
          <a:xfrm>
            <a:off x="6719888" y="3240088"/>
            <a:ext cx="5524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200" b="1"/>
              <a:t>.com</a:t>
            </a:r>
          </a:p>
        </p:txBody>
      </p:sp>
      <p:sp>
        <p:nvSpPr>
          <p:cNvPr id="794786" name="Line 162"/>
          <p:cNvSpPr>
            <a:spLocks noChangeShapeType="1"/>
          </p:cNvSpPr>
          <p:nvPr/>
        </p:nvSpPr>
        <p:spPr bwMode="auto">
          <a:xfrm>
            <a:off x="3403600" y="2336800"/>
            <a:ext cx="2206625" cy="1588"/>
          </a:xfrm>
          <a:prstGeom prst="line">
            <a:avLst/>
          </a:prstGeom>
          <a:noFill/>
          <a:ln w="50800">
            <a:solidFill>
              <a:srgbClr val="CC0000"/>
            </a:solidFill>
            <a:round/>
            <a:headEnd/>
            <a:tailEnd type="triangle" w="med" len="med"/>
          </a:ln>
          <a:effectLst/>
        </p:spPr>
        <p:txBody>
          <a:bodyPr/>
          <a:lstStyle/>
          <a:p>
            <a:endParaRPr lang="fr-FR"/>
          </a:p>
        </p:txBody>
      </p:sp>
      <p:sp>
        <p:nvSpPr>
          <p:cNvPr id="794787" name="Line 163"/>
          <p:cNvSpPr>
            <a:spLocks noChangeShapeType="1"/>
          </p:cNvSpPr>
          <p:nvPr/>
        </p:nvSpPr>
        <p:spPr bwMode="auto">
          <a:xfrm>
            <a:off x="3438525" y="2954338"/>
            <a:ext cx="2379663" cy="501650"/>
          </a:xfrm>
          <a:prstGeom prst="line">
            <a:avLst/>
          </a:prstGeom>
          <a:noFill/>
          <a:ln w="50800">
            <a:solidFill>
              <a:srgbClr val="CC0000"/>
            </a:solidFill>
            <a:round/>
            <a:headEnd/>
            <a:tailEnd type="triangle" w="med" len="med"/>
          </a:ln>
          <a:effectLst/>
        </p:spPr>
        <p:txBody>
          <a:bodyPr/>
          <a:lstStyle/>
          <a:p>
            <a:endParaRPr lang="fr-FR"/>
          </a:p>
        </p:txBody>
      </p:sp>
      <p:sp>
        <p:nvSpPr>
          <p:cNvPr id="794788" name="Line 164"/>
          <p:cNvSpPr>
            <a:spLocks noChangeShapeType="1"/>
          </p:cNvSpPr>
          <p:nvPr/>
        </p:nvSpPr>
        <p:spPr bwMode="auto">
          <a:xfrm>
            <a:off x="3027363" y="3475038"/>
            <a:ext cx="3956050" cy="1409700"/>
          </a:xfrm>
          <a:prstGeom prst="line">
            <a:avLst/>
          </a:prstGeom>
          <a:noFill/>
          <a:ln w="50800">
            <a:solidFill>
              <a:srgbClr val="CC0000"/>
            </a:solidFill>
            <a:round/>
            <a:headEnd/>
            <a:tailEnd type="triangle" w="med" len="med"/>
          </a:ln>
          <a:effectLst/>
        </p:spPr>
        <p:txBody>
          <a:bodyPr/>
          <a:lstStyle/>
          <a:p>
            <a:endParaRPr lang="fr-FR"/>
          </a:p>
        </p:txBody>
      </p:sp>
      <p:sp>
        <p:nvSpPr>
          <p:cNvPr id="794789" name="Rectangle 165"/>
          <p:cNvSpPr>
            <a:spLocks noChangeArrowheads="1"/>
          </p:cNvSpPr>
          <p:nvPr/>
        </p:nvSpPr>
        <p:spPr bwMode="auto">
          <a:xfrm>
            <a:off x="3635375" y="1984375"/>
            <a:ext cx="1611313" cy="393700"/>
          </a:xfrm>
          <a:prstGeom prst="rect">
            <a:avLst/>
          </a:prstGeom>
          <a:noFill/>
          <a:ln w="9525" algn="ctr">
            <a:noFill/>
            <a:miter lim="800000"/>
            <a:headEnd/>
            <a:tailEnd/>
          </a:ln>
          <a:effectLst/>
        </p:spPr>
        <p:txBody>
          <a:bodyPr wrap="none" anchor="ctr"/>
          <a:lstStyle/>
          <a:p>
            <a:r>
              <a:rPr lang="en-US" sz="2000" b="1"/>
              <a:t>Requête itérative</a:t>
            </a:r>
          </a:p>
        </p:txBody>
      </p:sp>
      <p:sp>
        <p:nvSpPr>
          <p:cNvPr id="794790" name="Rectangle 166"/>
          <p:cNvSpPr>
            <a:spLocks noChangeArrowheads="1"/>
          </p:cNvSpPr>
          <p:nvPr/>
        </p:nvSpPr>
        <p:spPr bwMode="auto">
          <a:xfrm rot="1192288">
            <a:off x="4662488" y="3941763"/>
            <a:ext cx="1611312" cy="449262"/>
          </a:xfrm>
          <a:prstGeom prst="rect">
            <a:avLst/>
          </a:prstGeom>
          <a:noFill/>
          <a:ln w="9525" algn="ctr">
            <a:noFill/>
            <a:miter lim="800000"/>
            <a:headEnd/>
            <a:tailEnd/>
          </a:ln>
          <a:effectLst/>
        </p:spPr>
        <p:txBody>
          <a:bodyPr wrap="none" anchor="ctr"/>
          <a:lstStyle/>
          <a:p>
            <a:r>
              <a:rPr lang="en-US" sz="2000" b="1"/>
              <a:t>Requête itérative</a:t>
            </a:r>
          </a:p>
        </p:txBody>
      </p:sp>
      <p:sp>
        <p:nvSpPr>
          <p:cNvPr id="794791" name="Rectangle 167"/>
          <p:cNvSpPr>
            <a:spLocks noChangeArrowheads="1"/>
          </p:cNvSpPr>
          <p:nvPr/>
        </p:nvSpPr>
        <p:spPr bwMode="auto">
          <a:xfrm rot="690929">
            <a:off x="3935413" y="2843213"/>
            <a:ext cx="1443037" cy="417512"/>
          </a:xfrm>
          <a:prstGeom prst="rect">
            <a:avLst/>
          </a:prstGeom>
          <a:noFill/>
          <a:ln w="9525" algn="ctr">
            <a:noFill/>
            <a:miter lim="800000"/>
            <a:headEnd/>
            <a:tailEnd/>
          </a:ln>
          <a:effectLst/>
        </p:spPr>
        <p:txBody>
          <a:bodyPr wrap="none" anchor="ctr"/>
          <a:lstStyle/>
          <a:p>
            <a:r>
              <a:rPr lang="en-US" sz="2000" b="1"/>
              <a:t>Requête itérative</a:t>
            </a:r>
          </a:p>
        </p:txBody>
      </p:sp>
      <p:sp>
        <p:nvSpPr>
          <p:cNvPr id="794792" name="Text Box 168"/>
          <p:cNvSpPr txBox="1">
            <a:spLocks noChangeArrowheads="1"/>
          </p:cNvSpPr>
          <p:nvPr/>
        </p:nvSpPr>
        <p:spPr bwMode="auto">
          <a:xfrm>
            <a:off x="3533775" y="2436813"/>
            <a:ext cx="2041525" cy="400110"/>
          </a:xfrm>
          <a:prstGeom prst="rect">
            <a:avLst/>
          </a:prstGeom>
          <a:noFill/>
          <a:ln w="9525" algn="ctr">
            <a:noFill/>
            <a:miter lim="800000"/>
            <a:headEnd/>
            <a:tailEnd/>
          </a:ln>
          <a:effectLst/>
        </p:spPr>
        <p:txBody>
          <a:bodyPr>
            <a:spAutoFit/>
          </a:bodyPr>
          <a:lstStyle/>
          <a:p>
            <a:r>
              <a:rPr lang="en-US" sz="2000" b="1"/>
              <a:t>Interroger .com</a:t>
            </a:r>
          </a:p>
        </p:txBody>
      </p:sp>
      <p:sp>
        <p:nvSpPr>
          <p:cNvPr id="794793" name="Line 169"/>
          <p:cNvSpPr>
            <a:spLocks noChangeShapeType="1"/>
          </p:cNvSpPr>
          <p:nvPr/>
        </p:nvSpPr>
        <p:spPr bwMode="auto">
          <a:xfrm flipH="1" flipV="1">
            <a:off x="3390900" y="2481263"/>
            <a:ext cx="2197100" cy="1587"/>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4794" name="Line 170"/>
          <p:cNvSpPr>
            <a:spLocks noChangeShapeType="1"/>
          </p:cNvSpPr>
          <p:nvPr/>
        </p:nvSpPr>
        <p:spPr bwMode="auto">
          <a:xfrm flipH="1" flipV="1">
            <a:off x="2959100" y="3562350"/>
            <a:ext cx="3933825" cy="1416050"/>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4795" name="Line 171"/>
          <p:cNvSpPr>
            <a:spLocks noChangeShapeType="1"/>
          </p:cNvSpPr>
          <p:nvPr/>
        </p:nvSpPr>
        <p:spPr bwMode="auto">
          <a:xfrm flipH="1" flipV="1">
            <a:off x="3367088" y="3067050"/>
            <a:ext cx="2406650" cy="528638"/>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4796" name="Text Box 172"/>
          <p:cNvSpPr txBox="1">
            <a:spLocks noChangeArrowheads="1"/>
          </p:cNvSpPr>
          <p:nvPr/>
        </p:nvSpPr>
        <p:spPr bwMode="auto">
          <a:xfrm rot="775546">
            <a:off x="3271176" y="3282127"/>
            <a:ext cx="2730236" cy="400110"/>
          </a:xfrm>
          <a:prstGeom prst="rect">
            <a:avLst/>
          </a:prstGeom>
          <a:noFill/>
          <a:ln w="9525" algn="ctr">
            <a:noFill/>
            <a:miter lim="800000"/>
            <a:headEnd/>
            <a:tailEnd/>
          </a:ln>
          <a:effectLst/>
        </p:spPr>
        <p:txBody>
          <a:bodyPr wrap="none">
            <a:spAutoFit/>
          </a:bodyPr>
          <a:lstStyle/>
          <a:p>
            <a:r>
              <a:rPr lang="en-US" sz="2000" b="1"/>
              <a:t>Interroger nwtraders.com</a:t>
            </a:r>
          </a:p>
        </p:txBody>
      </p:sp>
      <p:sp>
        <p:nvSpPr>
          <p:cNvPr id="794797" name="Text Box 173"/>
          <p:cNvSpPr txBox="1">
            <a:spLocks noChangeArrowheads="1"/>
          </p:cNvSpPr>
          <p:nvPr/>
        </p:nvSpPr>
        <p:spPr bwMode="auto">
          <a:xfrm rot="1132119">
            <a:off x="3974095" y="4364802"/>
            <a:ext cx="2637261" cy="400110"/>
          </a:xfrm>
          <a:prstGeom prst="rect">
            <a:avLst/>
          </a:prstGeom>
          <a:noFill/>
          <a:ln w="9525" algn="ctr">
            <a:noFill/>
            <a:miter lim="800000"/>
            <a:headEnd/>
            <a:tailEnd/>
          </a:ln>
          <a:effectLst/>
        </p:spPr>
        <p:txBody>
          <a:bodyPr wrap="none">
            <a:spAutoFit/>
          </a:bodyPr>
          <a:lstStyle/>
          <a:p>
            <a:r>
              <a:rPr lang="en-US" sz="2000" b="1"/>
              <a:t>Réponse faisant autorité</a:t>
            </a:r>
          </a:p>
        </p:txBody>
      </p:sp>
      <p:sp>
        <p:nvSpPr>
          <p:cNvPr id="794798" name="AutoShape 174"/>
          <p:cNvSpPr>
            <a:spLocks noChangeArrowheads="1"/>
          </p:cNvSpPr>
          <p:nvPr/>
        </p:nvSpPr>
        <p:spPr bwMode="auto">
          <a:xfrm>
            <a:off x="677863" y="5405437"/>
            <a:ext cx="1560417" cy="78390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200" b="1"/>
              <a:t>Serveur DNS </a:t>
            </a:r>
          </a:p>
          <a:p>
            <a:r>
              <a:rPr lang="en-US" sz="2200" b="1"/>
              <a:t>local</a:t>
            </a:r>
          </a:p>
        </p:txBody>
      </p:sp>
      <p:pic>
        <p:nvPicPr>
          <p:cNvPr id="794799" name="Picture 175" descr="Computer_DesktopComputerSansKeyboard01"/>
          <p:cNvPicPr>
            <a:picLocks noChangeAspect="1" noChangeArrowheads="1"/>
          </p:cNvPicPr>
          <p:nvPr/>
        </p:nvPicPr>
        <p:blipFill>
          <a:blip r:embed="rId6" cstate="print"/>
          <a:srcRect/>
          <a:stretch>
            <a:fillRect/>
          </a:stretch>
        </p:blipFill>
        <p:spPr bwMode="auto">
          <a:xfrm>
            <a:off x="3954463" y="4968875"/>
            <a:ext cx="782637" cy="952500"/>
          </a:xfrm>
          <a:prstGeom prst="rect">
            <a:avLst/>
          </a:prstGeom>
          <a:noFill/>
        </p:spPr>
      </p:pic>
      <p:pic>
        <p:nvPicPr>
          <p:cNvPr id="794800" name="Picture 176" descr="Server01"/>
          <p:cNvPicPr>
            <a:picLocks noChangeAspect="1" noChangeArrowheads="1"/>
          </p:cNvPicPr>
          <p:nvPr/>
        </p:nvPicPr>
        <p:blipFill>
          <a:blip r:embed="rId7" cstate="print">
            <a:grayscl/>
          </a:blip>
          <a:srcRect/>
          <a:stretch>
            <a:fillRect/>
          </a:stretch>
        </p:blipFill>
        <p:spPr bwMode="auto">
          <a:xfrm>
            <a:off x="2238375" y="2179638"/>
            <a:ext cx="912813" cy="1073150"/>
          </a:xfrm>
          <a:prstGeom prst="rect">
            <a:avLst/>
          </a:prstGeom>
          <a:noFill/>
        </p:spPr>
      </p:pic>
      <p:sp>
        <p:nvSpPr>
          <p:cNvPr id="794801" name="AutoShape 177"/>
          <p:cNvSpPr>
            <a:spLocks noChangeArrowheads="1"/>
          </p:cNvSpPr>
          <p:nvPr/>
        </p:nvSpPr>
        <p:spPr bwMode="auto">
          <a:xfrm>
            <a:off x="966788" y="2255838"/>
            <a:ext cx="1422510" cy="532879"/>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200" b="1"/>
              <a:t>Redirecteur</a:t>
            </a:r>
          </a:p>
        </p:txBody>
      </p:sp>
      <p:pic>
        <p:nvPicPr>
          <p:cNvPr id="794802" name="Picture 178" descr="Server01"/>
          <p:cNvPicPr>
            <a:picLocks noChangeAspect="1" noChangeArrowheads="1"/>
          </p:cNvPicPr>
          <p:nvPr/>
        </p:nvPicPr>
        <p:blipFill>
          <a:blip r:embed="rId8" cstate="print">
            <a:grayscl/>
          </a:blip>
          <a:srcRect/>
          <a:stretch>
            <a:fillRect/>
          </a:stretch>
        </p:blipFill>
        <p:spPr bwMode="auto">
          <a:xfrm>
            <a:off x="919163" y="4351338"/>
            <a:ext cx="958850" cy="1127125"/>
          </a:xfrm>
          <a:prstGeom prst="rect">
            <a:avLst/>
          </a:prstGeom>
          <a:noFill/>
        </p:spPr>
      </p:pic>
      <p:sp>
        <p:nvSpPr>
          <p:cNvPr id="794803" name="Line 179"/>
          <p:cNvSpPr>
            <a:spLocks noChangeShapeType="1"/>
          </p:cNvSpPr>
          <p:nvPr/>
        </p:nvSpPr>
        <p:spPr bwMode="auto">
          <a:xfrm flipH="1" flipV="1">
            <a:off x="1938338" y="4668838"/>
            <a:ext cx="1866900" cy="633412"/>
          </a:xfrm>
          <a:prstGeom prst="line">
            <a:avLst/>
          </a:prstGeom>
          <a:noFill/>
          <a:ln w="50800">
            <a:solidFill>
              <a:srgbClr val="CC0000"/>
            </a:solidFill>
            <a:round/>
            <a:headEnd/>
            <a:tailEnd type="triangle" w="med" len="med"/>
          </a:ln>
          <a:effectLst/>
        </p:spPr>
        <p:txBody>
          <a:bodyPr/>
          <a:lstStyle/>
          <a:p>
            <a:endParaRPr lang="fr-FR"/>
          </a:p>
        </p:txBody>
      </p:sp>
      <p:sp>
        <p:nvSpPr>
          <p:cNvPr id="794804" name="Line 180"/>
          <p:cNvSpPr>
            <a:spLocks noChangeShapeType="1"/>
          </p:cNvSpPr>
          <p:nvPr/>
        </p:nvSpPr>
        <p:spPr bwMode="auto">
          <a:xfrm>
            <a:off x="1966913" y="4519613"/>
            <a:ext cx="1908175" cy="668337"/>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4805" name="Rectangle 181"/>
          <p:cNvSpPr>
            <a:spLocks noChangeArrowheads="1"/>
          </p:cNvSpPr>
          <p:nvPr/>
        </p:nvSpPr>
        <p:spPr bwMode="auto">
          <a:xfrm>
            <a:off x="1376363" y="4206875"/>
            <a:ext cx="914400" cy="914400"/>
          </a:xfrm>
          <a:prstGeom prst="rect">
            <a:avLst/>
          </a:prstGeom>
          <a:noFill/>
          <a:ln w="9525" algn="ctr">
            <a:noFill/>
            <a:miter lim="800000"/>
            <a:headEnd/>
            <a:tailEnd/>
          </a:ln>
          <a:effectLst/>
        </p:spPr>
        <p:txBody>
          <a:bodyPr wrap="none" anchor="ctr"/>
          <a:lstStyle/>
          <a:p>
            <a:endParaRPr lang="fr-FR"/>
          </a:p>
        </p:txBody>
      </p:sp>
      <p:sp>
        <p:nvSpPr>
          <p:cNvPr id="794806" name="Rectangle 182"/>
          <p:cNvSpPr>
            <a:spLocks noChangeArrowheads="1"/>
          </p:cNvSpPr>
          <p:nvPr/>
        </p:nvSpPr>
        <p:spPr bwMode="auto">
          <a:xfrm rot="1024122">
            <a:off x="1771650" y="4937125"/>
            <a:ext cx="2109788" cy="757238"/>
          </a:xfrm>
          <a:prstGeom prst="rect">
            <a:avLst/>
          </a:prstGeom>
          <a:noFill/>
          <a:ln w="9525" algn="ctr">
            <a:noFill/>
            <a:miter lim="800000"/>
            <a:headEnd/>
            <a:tailEnd/>
          </a:ln>
          <a:effectLst/>
        </p:spPr>
        <p:txBody>
          <a:bodyPr wrap="none" anchor="ctr"/>
          <a:lstStyle/>
          <a:p>
            <a:r>
              <a:rPr lang="en-US" sz="2000" b="1"/>
              <a:t>Requête récursive pour</a:t>
            </a:r>
          </a:p>
          <a:p>
            <a:r>
              <a:rPr lang="en-US" sz="2000" b="1"/>
              <a:t>mail1.nwtraders.com</a:t>
            </a:r>
          </a:p>
        </p:txBody>
      </p:sp>
      <p:sp>
        <p:nvSpPr>
          <p:cNvPr id="794807" name="Rectangle 183"/>
          <p:cNvSpPr>
            <a:spLocks noChangeArrowheads="1"/>
          </p:cNvSpPr>
          <p:nvPr/>
        </p:nvSpPr>
        <p:spPr bwMode="auto">
          <a:xfrm rot="1033310">
            <a:off x="2230438" y="4437063"/>
            <a:ext cx="1654175" cy="508000"/>
          </a:xfrm>
          <a:prstGeom prst="rect">
            <a:avLst/>
          </a:prstGeom>
          <a:noFill/>
          <a:ln w="9525" algn="ctr">
            <a:noFill/>
            <a:miter lim="800000"/>
            <a:headEnd/>
            <a:tailEnd/>
          </a:ln>
          <a:effectLst/>
        </p:spPr>
        <p:txBody>
          <a:bodyPr wrap="none" anchor="ctr"/>
          <a:lstStyle/>
          <a:p>
            <a:r>
              <a:rPr lang="en-US" sz="2000" b="1"/>
              <a:t>172.16.64.11</a:t>
            </a:r>
          </a:p>
        </p:txBody>
      </p:sp>
      <p:sp>
        <p:nvSpPr>
          <p:cNvPr id="794808" name="Line 184"/>
          <p:cNvSpPr>
            <a:spLocks noChangeShapeType="1"/>
          </p:cNvSpPr>
          <p:nvPr/>
        </p:nvSpPr>
        <p:spPr bwMode="auto">
          <a:xfrm flipV="1">
            <a:off x="1390650" y="3052763"/>
            <a:ext cx="819150" cy="1239837"/>
          </a:xfrm>
          <a:prstGeom prst="line">
            <a:avLst/>
          </a:prstGeom>
          <a:noFill/>
          <a:ln w="50800">
            <a:solidFill>
              <a:srgbClr val="CC0000"/>
            </a:solidFill>
            <a:round/>
            <a:headEnd/>
            <a:tailEnd type="triangle" w="med" len="med"/>
          </a:ln>
          <a:effectLst/>
        </p:spPr>
        <p:txBody>
          <a:bodyPr/>
          <a:lstStyle/>
          <a:p>
            <a:endParaRPr lang="fr-FR"/>
          </a:p>
        </p:txBody>
      </p:sp>
      <p:sp>
        <p:nvSpPr>
          <p:cNvPr id="794809" name="Line 185"/>
          <p:cNvSpPr>
            <a:spLocks noChangeShapeType="1"/>
          </p:cNvSpPr>
          <p:nvPr/>
        </p:nvSpPr>
        <p:spPr bwMode="auto">
          <a:xfrm flipH="1">
            <a:off x="1595438" y="3216275"/>
            <a:ext cx="738187" cy="1106488"/>
          </a:xfrm>
          <a:prstGeom prst="line">
            <a:avLst/>
          </a:prstGeom>
          <a:noFill/>
          <a:ln w="50800" cap="rnd">
            <a:solidFill>
              <a:srgbClr val="CC0000"/>
            </a:solidFill>
            <a:prstDash val="sysDot"/>
            <a:round/>
            <a:headEnd/>
            <a:tailEnd type="triangle" w="med" len="med"/>
          </a:ln>
          <a:effectLst/>
        </p:spPr>
        <p:txBody>
          <a:bodyPr wrap="none" anchor="ctr"/>
          <a:lstStyle/>
          <a:p>
            <a:endParaRPr lang="fr-FR"/>
          </a:p>
        </p:txBody>
      </p:sp>
      <p:sp>
        <p:nvSpPr>
          <p:cNvPr id="794810" name="Text Box 186"/>
          <p:cNvSpPr txBox="1">
            <a:spLocks noChangeArrowheads="1"/>
          </p:cNvSpPr>
          <p:nvPr/>
        </p:nvSpPr>
        <p:spPr bwMode="auto">
          <a:xfrm rot="18034437">
            <a:off x="1498520" y="3655189"/>
            <a:ext cx="1395575" cy="400110"/>
          </a:xfrm>
          <a:prstGeom prst="rect">
            <a:avLst/>
          </a:prstGeom>
          <a:noFill/>
          <a:ln w="9525" algn="ctr">
            <a:noFill/>
            <a:miter lim="800000"/>
            <a:headEnd/>
            <a:tailEnd/>
          </a:ln>
          <a:effectLst/>
        </p:spPr>
        <p:txBody>
          <a:bodyPr wrap="none">
            <a:spAutoFit/>
          </a:bodyPr>
          <a:lstStyle/>
          <a:p>
            <a:r>
              <a:rPr lang="en-US" sz="2000" b="1"/>
              <a:t>172.16.64.11</a:t>
            </a:r>
          </a:p>
        </p:txBody>
      </p:sp>
      <p:sp>
        <p:nvSpPr>
          <p:cNvPr id="794811" name="Text Box 187"/>
          <p:cNvSpPr txBox="1">
            <a:spLocks noChangeArrowheads="1"/>
          </p:cNvSpPr>
          <p:nvPr/>
        </p:nvSpPr>
        <p:spPr bwMode="auto">
          <a:xfrm rot="-3323937">
            <a:off x="597354" y="3374995"/>
            <a:ext cx="2007281" cy="400110"/>
          </a:xfrm>
          <a:prstGeom prst="rect">
            <a:avLst/>
          </a:prstGeom>
          <a:noFill/>
          <a:ln w="9525" algn="ctr">
            <a:noFill/>
            <a:miter lim="800000"/>
            <a:headEnd/>
            <a:tailEnd/>
          </a:ln>
          <a:effectLst/>
        </p:spPr>
        <p:txBody>
          <a:bodyPr wrap="none">
            <a:spAutoFit/>
          </a:bodyPr>
          <a:lstStyle/>
          <a:p>
            <a:r>
              <a:rPr lang="en-US" sz="2000" b="1" err="1"/>
              <a:t>Requête</a:t>
            </a:r>
            <a:r>
              <a:rPr lang="en-US" sz="2000" b="1"/>
              <a:t> </a:t>
            </a:r>
            <a:r>
              <a:rPr lang="en-US" sz="2000" b="1" err="1"/>
              <a:t>récursive</a:t>
            </a:r>
            <a:endParaRPr lang="en-US" sz="2000" b="1"/>
          </a:p>
        </p:txBody>
      </p:sp>
      <p:grpSp>
        <p:nvGrpSpPr>
          <p:cNvPr id="794812" name="Group 188"/>
          <p:cNvGrpSpPr>
            <a:grpSpLocks/>
          </p:cNvGrpSpPr>
          <p:nvPr/>
        </p:nvGrpSpPr>
        <p:grpSpPr bwMode="auto">
          <a:xfrm>
            <a:off x="290292" y="6153148"/>
            <a:ext cx="914400" cy="425450"/>
            <a:chOff x="384" y="3024"/>
            <a:chExt cx="720" cy="336"/>
          </a:xfrm>
        </p:grpSpPr>
        <p:sp>
          <p:nvSpPr>
            <p:cNvPr id="794813" name="Oval 189"/>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94814" name="Group 190"/>
            <p:cNvGrpSpPr>
              <a:grpSpLocks/>
            </p:cNvGrpSpPr>
            <p:nvPr/>
          </p:nvGrpSpPr>
          <p:grpSpPr bwMode="auto">
            <a:xfrm>
              <a:off x="480" y="3096"/>
              <a:ext cx="240" cy="192"/>
              <a:chOff x="480" y="3096"/>
              <a:chExt cx="240" cy="192"/>
            </a:xfrm>
          </p:grpSpPr>
          <p:sp>
            <p:nvSpPr>
              <p:cNvPr id="794815" name="Oval 191"/>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94816" name="Freeform 192"/>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94817" name="Group 193"/>
          <p:cNvGrpSpPr>
            <a:grpSpLocks/>
          </p:cNvGrpSpPr>
          <p:nvPr/>
        </p:nvGrpSpPr>
        <p:grpSpPr bwMode="auto">
          <a:xfrm>
            <a:off x="777655" y="6243636"/>
            <a:ext cx="304800" cy="244475"/>
            <a:chOff x="768" y="3096"/>
            <a:chExt cx="240" cy="192"/>
          </a:xfrm>
        </p:grpSpPr>
        <p:sp>
          <p:nvSpPr>
            <p:cNvPr id="794818" name="Oval 194"/>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94819" name="Rectangle 195"/>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48" name="Rectangle 47"/>
          <p:cNvSpPr/>
          <p:nvPr/>
        </p:nvSpPr>
        <p:spPr>
          <a:xfrm>
            <a:off x="72570" y="2061028"/>
            <a:ext cx="9071430" cy="47969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4776" name="AutoShape 152"/>
          <p:cNvSpPr>
            <a:spLocks noChangeArrowheads="1"/>
          </p:cNvSpPr>
          <p:nvPr/>
        </p:nvSpPr>
        <p:spPr bwMode="auto">
          <a:xfrm>
            <a:off x="188687" y="1574573"/>
            <a:ext cx="8679542" cy="2039483"/>
          </a:xfrm>
          <a:prstGeom prst="roundRect">
            <a:avLst>
              <a:gd name="adj" fmla="val 16667"/>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150000"/>
              </a:lnSpc>
            </a:pPr>
            <a:r>
              <a:rPr lang="fr-FR" sz="2400" b="1"/>
              <a:t>C’est un serveur DNS que d'autres serveurs DNS internes désignent comme responsable du transfert des requêtes pour la résolution de noms de domaines DNS externes ou hors site</a:t>
            </a:r>
          </a:p>
        </p:txBody>
      </p:sp>
      <p:sp>
        <p:nvSpPr>
          <p:cNvPr id="49" name="Espace réservé du numéro de diapositive 48"/>
          <p:cNvSpPr>
            <a:spLocks noGrp="1"/>
          </p:cNvSpPr>
          <p:nvPr>
            <p:ph type="sldNum" sz="quarter" idx="12"/>
          </p:nvPr>
        </p:nvSpPr>
        <p:spPr/>
        <p:txBody>
          <a:bodyPr/>
          <a:lstStyle/>
          <a:p>
            <a:fld id="{2C6B1FF6-39B9-40F5-8B67-33C6354A3D4F}" type="slidenum">
              <a:rPr kumimoji="0" lang="en-US" smtClean="0"/>
              <a:pPr/>
              <a:t>15</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48"/>
                                        </p:tgtEl>
                                      </p:cBhvr>
                                    </p:animEffect>
                                    <p:set>
                                      <p:cBhvr>
                                        <p:cTn id="7" dur="1" fill="hold">
                                          <p:stCondLst>
                                            <p:cond delay="499"/>
                                          </p:stCondLst>
                                        </p:cTn>
                                        <p:tgtEl>
                                          <p:spTgt spid="48"/>
                                        </p:tgtEl>
                                        <p:attrNameLst>
                                          <p:attrName>style.visibility</p:attrName>
                                        </p:attrNameLst>
                                      </p:cBhvr>
                                      <p:to>
                                        <p:strVal val="hidden"/>
                                      </p:to>
                                    </p:set>
                                  </p:childTnLst>
                                </p:cTn>
                              </p:par>
                              <p:par>
                                <p:cTn id="8" presetID="4" presetClass="exit" presetSubtype="16" fill="hold" grpId="0" nodeType="withEffect">
                                  <p:stCondLst>
                                    <p:cond delay="0"/>
                                  </p:stCondLst>
                                  <p:childTnLst>
                                    <p:animEffect transition="out" filter="box(in)">
                                      <p:cBhvr>
                                        <p:cTn id="9" dur="2000"/>
                                        <p:tgtEl>
                                          <p:spTgt spid="794776"/>
                                        </p:tgtEl>
                                      </p:cBhvr>
                                    </p:animEffect>
                                    <p:set>
                                      <p:cBhvr>
                                        <p:cTn id="10" dur="1" fill="hold">
                                          <p:stCondLst>
                                            <p:cond delay="1999"/>
                                          </p:stCondLst>
                                        </p:cTn>
                                        <p:tgtEl>
                                          <p:spTgt spid="79477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794803"/>
                                        </p:tgtEl>
                                        <p:attrNameLst>
                                          <p:attrName>style.visibility</p:attrName>
                                        </p:attrNameLst>
                                      </p:cBhvr>
                                      <p:to>
                                        <p:strVal val="visible"/>
                                      </p:to>
                                    </p:set>
                                    <p:animEffect transition="in" filter="wipe(right)">
                                      <p:cBhvr>
                                        <p:cTn id="15" dur="1000"/>
                                        <p:tgtEl>
                                          <p:spTgt spid="794803"/>
                                        </p:tgtEl>
                                      </p:cBhvr>
                                    </p:animEffect>
                                  </p:childTnLst>
                                </p:cTn>
                              </p:par>
                              <p:par>
                                <p:cTn id="16" presetID="1" presetClass="entr" presetSubtype="0" fill="hold" nodeType="withEffect">
                                  <p:stCondLst>
                                    <p:cond delay="0"/>
                                  </p:stCondLst>
                                  <p:childTnLst>
                                    <p:set>
                                      <p:cBhvr>
                                        <p:cTn id="17" dur="1" fill="hold">
                                          <p:stCondLst>
                                            <p:cond delay="0"/>
                                          </p:stCondLst>
                                        </p:cTn>
                                        <p:tgtEl>
                                          <p:spTgt spid="794806">
                                            <p:txEl>
                                              <p:pRg st="0" end="0"/>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94806">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94808"/>
                                        </p:tgtEl>
                                        <p:attrNameLst>
                                          <p:attrName>style.visibility</p:attrName>
                                        </p:attrNameLst>
                                      </p:cBhvr>
                                      <p:to>
                                        <p:strVal val="visible"/>
                                      </p:to>
                                    </p:set>
                                    <p:animEffect transition="in" filter="wipe(down)">
                                      <p:cBhvr>
                                        <p:cTn id="24" dur="1000"/>
                                        <p:tgtEl>
                                          <p:spTgt spid="794808"/>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7948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94786"/>
                                        </p:tgtEl>
                                        <p:attrNameLst>
                                          <p:attrName>style.visibility</p:attrName>
                                        </p:attrNameLst>
                                      </p:cBhvr>
                                      <p:to>
                                        <p:strVal val="visible"/>
                                      </p:to>
                                    </p:set>
                                    <p:animEffect transition="in" filter="wipe(left)">
                                      <p:cBhvr>
                                        <p:cTn id="31" dur="1000"/>
                                        <p:tgtEl>
                                          <p:spTgt spid="794786"/>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794789"/>
                                        </p:tgtEl>
                                        <p:attrNameLst>
                                          <p:attrName>style.visibility</p:attrName>
                                        </p:attrNameLst>
                                      </p:cBhvr>
                                      <p:to>
                                        <p:strVal val="visible"/>
                                      </p:to>
                                    </p:set>
                                  </p:childTnLst>
                                </p:cTn>
                              </p:par>
                            </p:childTnLst>
                          </p:cTn>
                        </p:par>
                        <p:par>
                          <p:cTn id="34" fill="hold">
                            <p:stCondLst>
                              <p:cond delay="1000"/>
                            </p:stCondLst>
                            <p:childTnLst>
                              <p:par>
                                <p:cTn id="35" presetID="22" presetClass="entr" presetSubtype="2" fill="hold" grpId="0" nodeType="afterEffect">
                                  <p:stCondLst>
                                    <p:cond delay="0"/>
                                  </p:stCondLst>
                                  <p:childTnLst>
                                    <p:set>
                                      <p:cBhvr>
                                        <p:cTn id="36" dur="1" fill="hold">
                                          <p:stCondLst>
                                            <p:cond delay="0"/>
                                          </p:stCondLst>
                                        </p:cTn>
                                        <p:tgtEl>
                                          <p:spTgt spid="794793"/>
                                        </p:tgtEl>
                                        <p:attrNameLst>
                                          <p:attrName>style.visibility</p:attrName>
                                        </p:attrNameLst>
                                      </p:cBhvr>
                                      <p:to>
                                        <p:strVal val="visible"/>
                                      </p:to>
                                    </p:set>
                                    <p:animEffect transition="in" filter="wipe(right)">
                                      <p:cBhvr>
                                        <p:cTn id="37" dur="1000"/>
                                        <p:tgtEl>
                                          <p:spTgt spid="794793"/>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79479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94787"/>
                                        </p:tgtEl>
                                        <p:attrNameLst>
                                          <p:attrName>style.visibility</p:attrName>
                                        </p:attrNameLst>
                                      </p:cBhvr>
                                      <p:to>
                                        <p:strVal val="visible"/>
                                      </p:to>
                                    </p:set>
                                    <p:animEffect transition="in" filter="wipe(left)">
                                      <p:cBhvr>
                                        <p:cTn id="44" dur="1000"/>
                                        <p:tgtEl>
                                          <p:spTgt spid="794787"/>
                                        </p:tgtEl>
                                      </p:cBhvr>
                                    </p:animEffect>
                                  </p:childTnLst>
                                </p:cTn>
                              </p:par>
                              <p:par>
                                <p:cTn id="45" presetID="1" presetClass="entr" presetSubtype="0" fill="hold" grpId="0" nodeType="withEffect">
                                  <p:stCondLst>
                                    <p:cond delay="0"/>
                                  </p:stCondLst>
                                  <p:childTnLst>
                                    <p:set>
                                      <p:cBhvr>
                                        <p:cTn id="46" dur="1" fill="hold">
                                          <p:stCondLst>
                                            <p:cond delay="0"/>
                                          </p:stCondLst>
                                        </p:cTn>
                                        <p:tgtEl>
                                          <p:spTgt spid="794791"/>
                                        </p:tgtEl>
                                        <p:attrNameLst>
                                          <p:attrName>style.visibility</p:attrName>
                                        </p:attrNameLst>
                                      </p:cBhvr>
                                      <p:to>
                                        <p:strVal val="visible"/>
                                      </p:to>
                                    </p:set>
                                  </p:childTnLst>
                                </p:cTn>
                              </p:par>
                            </p:childTnLst>
                          </p:cTn>
                        </p:par>
                        <p:par>
                          <p:cTn id="47" fill="hold">
                            <p:stCondLst>
                              <p:cond delay="1000"/>
                            </p:stCondLst>
                            <p:childTnLst>
                              <p:par>
                                <p:cTn id="48" presetID="22" presetClass="entr" presetSubtype="2" fill="hold" grpId="0" nodeType="afterEffect">
                                  <p:stCondLst>
                                    <p:cond delay="0"/>
                                  </p:stCondLst>
                                  <p:childTnLst>
                                    <p:set>
                                      <p:cBhvr>
                                        <p:cTn id="49" dur="1" fill="hold">
                                          <p:stCondLst>
                                            <p:cond delay="0"/>
                                          </p:stCondLst>
                                        </p:cTn>
                                        <p:tgtEl>
                                          <p:spTgt spid="794795"/>
                                        </p:tgtEl>
                                        <p:attrNameLst>
                                          <p:attrName>style.visibility</p:attrName>
                                        </p:attrNameLst>
                                      </p:cBhvr>
                                      <p:to>
                                        <p:strVal val="visible"/>
                                      </p:to>
                                    </p:set>
                                    <p:animEffect transition="in" filter="wipe(right)">
                                      <p:cBhvr>
                                        <p:cTn id="50" dur="1000"/>
                                        <p:tgtEl>
                                          <p:spTgt spid="794795"/>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7947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94788"/>
                                        </p:tgtEl>
                                        <p:attrNameLst>
                                          <p:attrName>style.visibility</p:attrName>
                                        </p:attrNameLst>
                                      </p:cBhvr>
                                      <p:to>
                                        <p:strVal val="visible"/>
                                      </p:to>
                                    </p:set>
                                    <p:animEffect transition="in" filter="wipe(left)">
                                      <p:cBhvr>
                                        <p:cTn id="57" dur="1000"/>
                                        <p:tgtEl>
                                          <p:spTgt spid="794788"/>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794790"/>
                                        </p:tgtEl>
                                        <p:attrNameLst>
                                          <p:attrName>style.visibility</p:attrName>
                                        </p:attrNameLst>
                                      </p:cBhvr>
                                      <p:to>
                                        <p:strVal val="visible"/>
                                      </p:to>
                                    </p:set>
                                  </p:childTnLst>
                                </p:cTn>
                              </p:par>
                            </p:childTnLst>
                          </p:cTn>
                        </p:par>
                        <p:par>
                          <p:cTn id="60" fill="hold">
                            <p:stCondLst>
                              <p:cond delay="1000"/>
                            </p:stCondLst>
                            <p:childTnLst>
                              <p:par>
                                <p:cTn id="61" presetID="22" presetClass="entr" presetSubtype="2" fill="hold" grpId="0" nodeType="afterEffect">
                                  <p:stCondLst>
                                    <p:cond delay="0"/>
                                  </p:stCondLst>
                                  <p:childTnLst>
                                    <p:set>
                                      <p:cBhvr>
                                        <p:cTn id="62" dur="1" fill="hold">
                                          <p:stCondLst>
                                            <p:cond delay="0"/>
                                          </p:stCondLst>
                                        </p:cTn>
                                        <p:tgtEl>
                                          <p:spTgt spid="794794"/>
                                        </p:tgtEl>
                                        <p:attrNameLst>
                                          <p:attrName>style.visibility</p:attrName>
                                        </p:attrNameLst>
                                      </p:cBhvr>
                                      <p:to>
                                        <p:strVal val="visible"/>
                                      </p:to>
                                    </p:set>
                                    <p:animEffect transition="in" filter="wipe(right)">
                                      <p:cBhvr>
                                        <p:cTn id="63" dur="1000"/>
                                        <p:tgtEl>
                                          <p:spTgt spid="794794"/>
                                        </p:tgtEl>
                                      </p:cBhvr>
                                    </p:animEffect>
                                  </p:childTnLst>
                                </p:cTn>
                              </p:par>
                              <p:par>
                                <p:cTn id="64" presetID="1" presetClass="entr" presetSubtype="0" fill="hold" nodeType="withEffect">
                                  <p:stCondLst>
                                    <p:cond delay="0"/>
                                  </p:stCondLst>
                                  <p:childTnLst>
                                    <p:set>
                                      <p:cBhvr>
                                        <p:cTn id="65" dur="1" fill="hold">
                                          <p:stCondLst>
                                            <p:cond delay="0"/>
                                          </p:stCondLst>
                                        </p:cTn>
                                        <p:tgtEl>
                                          <p:spTgt spid="794797">
                                            <p:txEl>
                                              <p:pRg st="0" end="0"/>
                                            </p:txEl>
                                          </p:spTgt>
                                        </p:tgtEl>
                                        <p:attrNameLst>
                                          <p:attrName>style.visibility</p:attrName>
                                        </p:attrNameLst>
                                      </p:cBhvr>
                                      <p:to>
                                        <p:strVal val="visible"/>
                                      </p:to>
                                    </p:set>
                                  </p:childTnLst>
                                </p:cTn>
                              </p:par>
                            </p:childTnLst>
                          </p:cTn>
                        </p:par>
                        <p:par>
                          <p:cTn id="66" fill="hold">
                            <p:stCondLst>
                              <p:cond delay="2000"/>
                            </p:stCondLst>
                            <p:childTnLst>
                              <p:par>
                                <p:cTn id="67" presetID="22" presetClass="entr" presetSubtype="1" fill="hold" grpId="0" nodeType="afterEffect">
                                  <p:stCondLst>
                                    <p:cond delay="0"/>
                                  </p:stCondLst>
                                  <p:childTnLst>
                                    <p:set>
                                      <p:cBhvr>
                                        <p:cTn id="68" dur="1" fill="hold">
                                          <p:stCondLst>
                                            <p:cond delay="0"/>
                                          </p:stCondLst>
                                        </p:cTn>
                                        <p:tgtEl>
                                          <p:spTgt spid="794809"/>
                                        </p:tgtEl>
                                        <p:attrNameLst>
                                          <p:attrName>style.visibility</p:attrName>
                                        </p:attrNameLst>
                                      </p:cBhvr>
                                      <p:to>
                                        <p:strVal val="visible"/>
                                      </p:to>
                                    </p:set>
                                    <p:animEffect transition="in" filter="wipe(up)">
                                      <p:cBhvr>
                                        <p:cTn id="69" dur="1000"/>
                                        <p:tgtEl>
                                          <p:spTgt spid="794809"/>
                                        </p:tgtEl>
                                      </p:cBhvr>
                                    </p:animEffect>
                                  </p:childTnLst>
                                </p:cTn>
                              </p:par>
                              <p:par>
                                <p:cTn id="70" presetID="1" presetClass="entr" presetSubtype="0" fill="hold" grpId="0" nodeType="withEffect">
                                  <p:stCondLst>
                                    <p:cond delay="0"/>
                                  </p:stCondLst>
                                  <p:childTnLst>
                                    <p:set>
                                      <p:cBhvr>
                                        <p:cTn id="71" dur="1" fill="hold">
                                          <p:stCondLst>
                                            <p:cond delay="0"/>
                                          </p:stCondLst>
                                        </p:cTn>
                                        <p:tgtEl>
                                          <p:spTgt spid="794810"/>
                                        </p:tgtEl>
                                        <p:attrNameLst>
                                          <p:attrName>style.visibility</p:attrName>
                                        </p:attrNameLst>
                                      </p:cBhvr>
                                      <p:to>
                                        <p:strVal val="visible"/>
                                      </p:to>
                                    </p:set>
                                  </p:childTnLst>
                                </p:cTn>
                              </p:par>
                            </p:childTnLst>
                          </p:cTn>
                        </p:par>
                        <p:par>
                          <p:cTn id="72" fill="hold">
                            <p:stCondLst>
                              <p:cond delay="3000"/>
                            </p:stCondLst>
                            <p:childTnLst>
                              <p:par>
                                <p:cTn id="73" presetID="22" presetClass="entr" presetSubtype="8" fill="hold" grpId="0" nodeType="afterEffect">
                                  <p:stCondLst>
                                    <p:cond delay="0"/>
                                  </p:stCondLst>
                                  <p:childTnLst>
                                    <p:set>
                                      <p:cBhvr>
                                        <p:cTn id="74" dur="1" fill="hold">
                                          <p:stCondLst>
                                            <p:cond delay="0"/>
                                          </p:stCondLst>
                                        </p:cTn>
                                        <p:tgtEl>
                                          <p:spTgt spid="794804"/>
                                        </p:tgtEl>
                                        <p:attrNameLst>
                                          <p:attrName>style.visibility</p:attrName>
                                        </p:attrNameLst>
                                      </p:cBhvr>
                                      <p:to>
                                        <p:strVal val="visible"/>
                                      </p:to>
                                    </p:set>
                                    <p:animEffect transition="in" filter="wipe(left)">
                                      <p:cBhvr>
                                        <p:cTn id="75" dur="1000"/>
                                        <p:tgtEl>
                                          <p:spTgt spid="794804"/>
                                        </p:tgtEl>
                                      </p:cBhvr>
                                    </p:animEffect>
                                  </p:childTnLst>
                                </p:cTn>
                              </p:par>
                              <p:par>
                                <p:cTn id="76" presetID="1" presetClass="entr" presetSubtype="0" fill="hold" grpId="0" nodeType="withEffect">
                                  <p:stCondLst>
                                    <p:cond delay="0"/>
                                  </p:stCondLst>
                                  <p:childTnLst>
                                    <p:set>
                                      <p:cBhvr>
                                        <p:cTn id="77" dur="1" fill="hold">
                                          <p:stCondLst>
                                            <p:cond delay="0"/>
                                          </p:stCondLst>
                                        </p:cTn>
                                        <p:tgtEl>
                                          <p:spTgt spid="794807"/>
                                        </p:tgtEl>
                                        <p:attrNameLst>
                                          <p:attrName>style.visibility</p:attrName>
                                        </p:attrNameLst>
                                      </p:cBhvr>
                                      <p:to>
                                        <p:strVal val="visible"/>
                                      </p:to>
                                    </p:set>
                                  </p:childTnLst>
                                </p:cTn>
                              </p:par>
                            </p:childTnLst>
                          </p:cTn>
                        </p:par>
                        <p:par>
                          <p:cTn id="78" fill="hold">
                            <p:stCondLst>
                              <p:cond delay="4000"/>
                            </p:stCondLst>
                            <p:childTnLst>
                              <p:par>
                                <p:cTn id="79" presetID="1" presetClass="entr" presetSubtype="0" fill="hold" nodeType="afterEffect">
                                  <p:stCondLst>
                                    <p:cond delay="0"/>
                                  </p:stCondLst>
                                  <p:childTnLst>
                                    <p:set>
                                      <p:cBhvr>
                                        <p:cTn id="80" dur="1" fill="hold">
                                          <p:stCondLst>
                                            <p:cond delay="0"/>
                                          </p:stCondLst>
                                        </p:cTn>
                                        <p:tgtEl>
                                          <p:spTgt spid="7948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786" grpId="0" animBg="1"/>
      <p:bldP spid="794787" grpId="0" animBg="1"/>
      <p:bldP spid="794788" grpId="0" animBg="1"/>
      <p:bldP spid="794789" grpId="0"/>
      <p:bldP spid="794790" grpId="0"/>
      <p:bldP spid="794791" grpId="0"/>
      <p:bldP spid="794792" grpId="0"/>
      <p:bldP spid="794793" grpId="0" animBg="1"/>
      <p:bldP spid="794794" grpId="0" animBg="1"/>
      <p:bldP spid="794795" grpId="0" animBg="1"/>
      <p:bldP spid="794796" grpId="0"/>
      <p:bldP spid="794803" grpId="0" animBg="1"/>
      <p:bldP spid="794804" grpId="0" animBg="1"/>
      <p:bldP spid="794807" grpId="0"/>
      <p:bldP spid="794808" grpId="0" animBg="1"/>
      <p:bldP spid="794809" grpId="0" animBg="1"/>
      <p:bldP spid="794810" grpId="0"/>
      <p:bldP spid="794811" grpId="0"/>
      <p:bldP spid="48" grpId="0" animBg="1"/>
      <p:bldP spid="79477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custDataLst>
              <p:tags r:id="rId1"/>
            </p:custDataLst>
          </p:nvPr>
        </p:nvSpPr>
        <p:spPr>
          <a:xfrm>
            <a:off x="217714" y="228600"/>
            <a:ext cx="8723086" cy="758952"/>
          </a:xfrm>
        </p:spPr>
        <p:txBody>
          <a:bodyPr vert="horz" anchor="b">
            <a:normAutofit fontScale="90000"/>
          </a:bodyPr>
          <a:lstStyle/>
          <a:p>
            <a:r>
              <a:rPr lang="fr-FR" sz="3000" b="1" dirty="0">
                <a:solidFill>
                  <a:srgbClr val="C00000"/>
                </a:solidFill>
              </a:rPr>
              <a:t>Fonctionnement de la mise en cache du serveur DNS</a:t>
            </a:r>
            <a:endParaRPr lang="en-US" sz="3000" b="1" dirty="0">
              <a:solidFill>
                <a:srgbClr val="C00000"/>
              </a:solidFill>
            </a:endParaRPr>
          </a:p>
        </p:txBody>
      </p:sp>
      <p:sp>
        <p:nvSpPr>
          <p:cNvPr id="716017" name="Oval 241"/>
          <p:cNvSpPr>
            <a:spLocks noChangeArrowheads="1"/>
          </p:cNvSpPr>
          <p:nvPr/>
        </p:nvSpPr>
        <p:spPr bwMode="auto">
          <a:xfrm>
            <a:off x="2868368" y="3061604"/>
            <a:ext cx="2617788" cy="1587500"/>
          </a:xfrm>
          <a:prstGeom prst="ellipse">
            <a:avLst/>
          </a:prstGeom>
          <a:gradFill rotWithShape="1">
            <a:gsLst>
              <a:gs pos="0">
                <a:srgbClr val="F0F1FF"/>
              </a:gs>
              <a:gs pos="100000">
                <a:srgbClr val="B3C8DF"/>
              </a:gs>
            </a:gsLst>
            <a:path path="shape">
              <a:fillToRect l="50000" t="50000" r="50000" b="50000"/>
            </a:path>
          </a:gradFill>
          <a:ln w="9525" algn="ctr">
            <a:noFill/>
            <a:round/>
            <a:headEnd/>
            <a:tailEnd/>
          </a:ln>
          <a:effectLst>
            <a:outerShdw dist="35921" dir="2700000" algn="ctr" rotWithShape="0">
              <a:srgbClr val="ADADAD"/>
            </a:outerShdw>
          </a:effectLst>
        </p:spPr>
        <p:txBody>
          <a:bodyPr wrap="none" anchor="ctr"/>
          <a:lstStyle/>
          <a:p>
            <a:endParaRPr lang="pt-BR" sz="1600" b="1">
              <a:latin typeface="Arial" charset="0"/>
            </a:endParaRPr>
          </a:p>
        </p:txBody>
      </p:sp>
      <p:sp>
        <p:nvSpPr>
          <p:cNvPr id="716018" name="AutoShape 242"/>
          <p:cNvSpPr>
            <a:spLocks noChangeArrowheads="1"/>
          </p:cNvSpPr>
          <p:nvPr/>
        </p:nvSpPr>
        <p:spPr bwMode="auto">
          <a:xfrm>
            <a:off x="2622986" y="2715982"/>
            <a:ext cx="1562100" cy="635000"/>
          </a:xfrm>
          <a:prstGeom prst="roundRect">
            <a:avLst>
              <a:gd name="adj" fmla="val 63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fr-FR" sz="2000" b="1"/>
              <a:t>Où se trouve ClientA ?</a:t>
            </a:r>
          </a:p>
        </p:txBody>
      </p:sp>
      <p:sp>
        <p:nvSpPr>
          <p:cNvPr id="716019" name="Oval 243"/>
          <p:cNvSpPr>
            <a:spLocks noChangeArrowheads="1"/>
          </p:cNvSpPr>
          <p:nvPr/>
        </p:nvSpPr>
        <p:spPr bwMode="auto">
          <a:xfrm>
            <a:off x="6772031" y="4126817"/>
            <a:ext cx="2101850" cy="1149350"/>
          </a:xfrm>
          <a:prstGeom prst="ellipse">
            <a:avLst/>
          </a:prstGeom>
          <a:gradFill rotWithShape="1">
            <a:gsLst>
              <a:gs pos="0">
                <a:srgbClr val="F0F1FF"/>
              </a:gs>
              <a:gs pos="100000">
                <a:srgbClr val="B3C8DF"/>
              </a:gs>
            </a:gsLst>
            <a:path path="shape">
              <a:fillToRect l="50000" t="50000" r="50000" b="50000"/>
            </a:path>
          </a:gradFill>
          <a:ln w="9525" algn="ctr">
            <a:noFill/>
            <a:round/>
            <a:headEnd/>
            <a:tailEnd/>
          </a:ln>
          <a:effectLst>
            <a:outerShdw dist="35921" dir="2700000" algn="ctr" rotWithShape="0">
              <a:srgbClr val="ADADAD"/>
            </a:outerShdw>
          </a:effectLst>
        </p:spPr>
        <p:txBody>
          <a:bodyPr wrap="none" anchor="ctr"/>
          <a:lstStyle/>
          <a:p>
            <a:endParaRPr lang="pt-BR" sz="1600" b="1">
              <a:latin typeface="Arial" charset="0"/>
            </a:endParaRPr>
          </a:p>
        </p:txBody>
      </p:sp>
      <p:pic>
        <p:nvPicPr>
          <p:cNvPr id="716020" name="Picture 244" descr="Internet01"/>
          <p:cNvPicPr>
            <a:picLocks noChangeAspect="1" noChangeArrowheads="1"/>
          </p:cNvPicPr>
          <p:nvPr/>
        </p:nvPicPr>
        <p:blipFill>
          <a:blip r:embed="rId4" cstate="print"/>
          <a:srcRect/>
          <a:stretch>
            <a:fillRect/>
          </a:stretch>
        </p:blipFill>
        <p:spPr bwMode="auto">
          <a:xfrm>
            <a:off x="7308606" y="1266142"/>
            <a:ext cx="1531937" cy="1528762"/>
          </a:xfrm>
          <a:prstGeom prst="rect">
            <a:avLst/>
          </a:prstGeom>
          <a:noFill/>
        </p:spPr>
      </p:pic>
      <p:sp>
        <p:nvSpPr>
          <p:cNvPr id="716021" name="Arc 245"/>
          <p:cNvSpPr>
            <a:spLocks/>
          </p:cNvSpPr>
          <p:nvPr/>
        </p:nvSpPr>
        <p:spPr bwMode="auto">
          <a:xfrm>
            <a:off x="6738693" y="3687079"/>
            <a:ext cx="1284288" cy="947738"/>
          </a:xfrm>
          <a:custGeom>
            <a:avLst/>
            <a:gdLst>
              <a:gd name="G0" fmla="+- 0 0 0"/>
              <a:gd name="G1" fmla="+- 0 0 0"/>
              <a:gd name="G2" fmla="+- 21600 0 0"/>
              <a:gd name="T0" fmla="*/ 15563 w 15563"/>
              <a:gd name="T1" fmla="*/ 14979 h 19332"/>
              <a:gd name="T2" fmla="*/ 9634 w 15563"/>
              <a:gd name="T3" fmla="*/ 19332 h 19332"/>
              <a:gd name="T4" fmla="*/ 0 w 15563"/>
              <a:gd name="T5" fmla="*/ 0 h 19332"/>
            </a:gdLst>
            <a:ahLst/>
            <a:cxnLst>
              <a:cxn ang="0">
                <a:pos x="T0" y="T1"/>
              </a:cxn>
              <a:cxn ang="0">
                <a:pos x="T2" y="T3"/>
              </a:cxn>
              <a:cxn ang="0">
                <a:pos x="T4" y="T5"/>
              </a:cxn>
            </a:cxnLst>
            <a:rect l="0" t="0" r="r" b="b"/>
            <a:pathLst>
              <a:path w="15563" h="19332" fill="none" extrusionOk="0">
                <a:moveTo>
                  <a:pt x="15562" y="14978"/>
                </a:moveTo>
                <a:cubicBezTo>
                  <a:pt x="13849" y="16758"/>
                  <a:pt x="11844" y="18230"/>
                  <a:pt x="9634" y="19332"/>
                </a:cubicBezTo>
              </a:path>
              <a:path w="15563" h="19332" stroke="0" extrusionOk="0">
                <a:moveTo>
                  <a:pt x="15562" y="14978"/>
                </a:moveTo>
                <a:cubicBezTo>
                  <a:pt x="13849" y="16758"/>
                  <a:pt x="11844" y="18230"/>
                  <a:pt x="9634" y="19332"/>
                </a:cubicBezTo>
                <a:lnTo>
                  <a:pt x="0" y="0"/>
                </a:lnTo>
                <a:close/>
              </a:path>
            </a:pathLst>
          </a:custGeom>
          <a:noFill/>
          <a:ln w="50800">
            <a:solidFill>
              <a:srgbClr val="CC0000"/>
            </a:solidFill>
            <a:round/>
            <a:headEnd/>
            <a:tailEnd type="triangle" w="med" len="med"/>
          </a:ln>
          <a:effectLst/>
        </p:spPr>
        <p:txBody>
          <a:bodyPr anchor="ctr"/>
          <a:lstStyle/>
          <a:p>
            <a:endParaRPr lang="fr-FR"/>
          </a:p>
        </p:txBody>
      </p:sp>
      <p:pic>
        <p:nvPicPr>
          <p:cNvPr id="716022" name="Picture 246" descr="Server01"/>
          <p:cNvPicPr>
            <a:picLocks noChangeAspect="1" noChangeArrowheads="1"/>
          </p:cNvPicPr>
          <p:nvPr/>
        </p:nvPicPr>
        <p:blipFill>
          <a:blip r:embed="rId5" cstate="print">
            <a:grayscl/>
          </a:blip>
          <a:srcRect/>
          <a:stretch>
            <a:fillRect/>
          </a:stretch>
        </p:blipFill>
        <p:spPr bwMode="auto">
          <a:xfrm>
            <a:off x="6657731" y="1832879"/>
            <a:ext cx="884237" cy="1039813"/>
          </a:xfrm>
          <a:prstGeom prst="rect">
            <a:avLst/>
          </a:prstGeom>
          <a:noFill/>
        </p:spPr>
      </p:pic>
      <p:pic>
        <p:nvPicPr>
          <p:cNvPr id="716023" name="Picture 247" descr="Server01"/>
          <p:cNvPicPr>
            <a:picLocks noChangeAspect="1" noChangeArrowheads="1"/>
          </p:cNvPicPr>
          <p:nvPr/>
        </p:nvPicPr>
        <p:blipFill>
          <a:blip r:embed="rId5" cstate="print">
            <a:grayscl/>
          </a:blip>
          <a:srcRect/>
          <a:stretch>
            <a:fillRect/>
          </a:stretch>
        </p:blipFill>
        <p:spPr bwMode="auto">
          <a:xfrm>
            <a:off x="8102356" y="2552017"/>
            <a:ext cx="884237" cy="1039812"/>
          </a:xfrm>
          <a:prstGeom prst="rect">
            <a:avLst/>
          </a:prstGeom>
          <a:noFill/>
        </p:spPr>
      </p:pic>
      <p:pic>
        <p:nvPicPr>
          <p:cNvPr id="716024" name="Picture 248" descr="Server01"/>
          <p:cNvPicPr>
            <a:picLocks noChangeAspect="1" noChangeArrowheads="1"/>
          </p:cNvPicPr>
          <p:nvPr/>
        </p:nvPicPr>
        <p:blipFill>
          <a:blip r:embed="rId5" cstate="print">
            <a:grayscl/>
          </a:blip>
          <a:srcRect/>
          <a:stretch>
            <a:fillRect/>
          </a:stretch>
        </p:blipFill>
        <p:spPr bwMode="auto">
          <a:xfrm>
            <a:off x="8030918" y="4082367"/>
            <a:ext cx="884238" cy="1039812"/>
          </a:xfrm>
          <a:prstGeom prst="rect">
            <a:avLst/>
          </a:prstGeom>
          <a:noFill/>
        </p:spPr>
      </p:pic>
      <p:pic>
        <p:nvPicPr>
          <p:cNvPr id="716025" name="Picture 249" descr="Server01"/>
          <p:cNvPicPr>
            <a:picLocks noChangeAspect="1" noChangeArrowheads="1"/>
          </p:cNvPicPr>
          <p:nvPr/>
        </p:nvPicPr>
        <p:blipFill>
          <a:blip r:embed="rId5" cstate="print">
            <a:grayscl/>
          </a:blip>
          <a:srcRect/>
          <a:stretch>
            <a:fillRect/>
          </a:stretch>
        </p:blipFill>
        <p:spPr bwMode="auto">
          <a:xfrm>
            <a:off x="4654306" y="2548842"/>
            <a:ext cx="884237" cy="1039812"/>
          </a:xfrm>
          <a:prstGeom prst="rect">
            <a:avLst/>
          </a:prstGeom>
          <a:noFill/>
        </p:spPr>
      </p:pic>
      <p:pic>
        <p:nvPicPr>
          <p:cNvPr id="716026" name="Picture 250" descr="Computer_DesktopComputerSansKeyboard01"/>
          <p:cNvPicPr>
            <a:picLocks noChangeAspect="1" noChangeArrowheads="1"/>
          </p:cNvPicPr>
          <p:nvPr/>
        </p:nvPicPr>
        <p:blipFill>
          <a:blip r:embed="rId6" cstate="print"/>
          <a:srcRect/>
          <a:stretch>
            <a:fillRect/>
          </a:stretch>
        </p:blipFill>
        <p:spPr bwMode="auto">
          <a:xfrm>
            <a:off x="6756156" y="4334779"/>
            <a:ext cx="782637" cy="952500"/>
          </a:xfrm>
          <a:prstGeom prst="rect">
            <a:avLst/>
          </a:prstGeom>
          <a:noFill/>
        </p:spPr>
      </p:pic>
      <p:pic>
        <p:nvPicPr>
          <p:cNvPr id="716027" name="Picture 251" descr="Computer_DesktopComputerSansKeyboard01"/>
          <p:cNvPicPr>
            <a:picLocks noChangeAspect="1" noChangeArrowheads="1"/>
          </p:cNvPicPr>
          <p:nvPr/>
        </p:nvPicPr>
        <p:blipFill>
          <a:blip r:embed="rId7" cstate="print"/>
          <a:srcRect/>
          <a:stretch>
            <a:fillRect/>
          </a:stretch>
        </p:blipFill>
        <p:spPr bwMode="auto">
          <a:xfrm>
            <a:off x="3598618" y="4339542"/>
            <a:ext cx="760413" cy="925512"/>
          </a:xfrm>
          <a:prstGeom prst="rect">
            <a:avLst/>
          </a:prstGeom>
          <a:noFill/>
        </p:spPr>
      </p:pic>
      <p:pic>
        <p:nvPicPr>
          <p:cNvPr id="716028" name="Picture 252" descr="Computer_DesktopComputerSansKeyboard01"/>
          <p:cNvPicPr>
            <a:picLocks noChangeAspect="1" noChangeArrowheads="1"/>
          </p:cNvPicPr>
          <p:nvPr/>
        </p:nvPicPr>
        <p:blipFill>
          <a:blip r:embed="rId7" cstate="print"/>
          <a:srcRect/>
          <a:stretch>
            <a:fillRect/>
          </a:stretch>
        </p:blipFill>
        <p:spPr bwMode="auto">
          <a:xfrm>
            <a:off x="2747718" y="3533092"/>
            <a:ext cx="760413" cy="925512"/>
          </a:xfrm>
          <a:prstGeom prst="rect">
            <a:avLst/>
          </a:prstGeom>
          <a:noFill/>
        </p:spPr>
      </p:pic>
      <p:sp>
        <p:nvSpPr>
          <p:cNvPr id="716029" name="AutoShape 253"/>
          <p:cNvSpPr>
            <a:spLocks noChangeArrowheads="1"/>
          </p:cNvSpPr>
          <p:nvPr/>
        </p:nvSpPr>
        <p:spPr bwMode="auto">
          <a:xfrm>
            <a:off x="2203206" y="4420504"/>
            <a:ext cx="812800" cy="2825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a:t>Client1</a:t>
            </a:r>
          </a:p>
        </p:txBody>
      </p:sp>
      <p:sp>
        <p:nvSpPr>
          <p:cNvPr id="716030" name="AutoShape 254"/>
          <p:cNvSpPr>
            <a:spLocks noChangeArrowheads="1"/>
          </p:cNvSpPr>
          <p:nvPr/>
        </p:nvSpPr>
        <p:spPr bwMode="auto">
          <a:xfrm>
            <a:off x="2719143" y="4922154"/>
            <a:ext cx="812800" cy="2825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a:t>Client2</a:t>
            </a:r>
          </a:p>
        </p:txBody>
      </p:sp>
      <p:sp>
        <p:nvSpPr>
          <p:cNvPr id="716031" name="AutoShape 255"/>
          <p:cNvSpPr>
            <a:spLocks noChangeArrowheads="1"/>
          </p:cNvSpPr>
          <p:nvPr/>
        </p:nvSpPr>
        <p:spPr bwMode="auto">
          <a:xfrm>
            <a:off x="6376743" y="4001404"/>
            <a:ext cx="812800" cy="2825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US" sz="2000" b="1"/>
              <a:t>ClientA</a:t>
            </a:r>
          </a:p>
        </p:txBody>
      </p:sp>
      <p:sp>
        <p:nvSpPr>
          <p:cNvPr id="716032" name="Arc 256"/>
          <p:cNvSpPr>
            <a:spLocks/>
          </p:cNvSpPr>
          <p:nvPr/>
        </p:nvSpPr>
        <p:spPr bwMode="auto">
          <a:xfrm>
            <a:off x="5676656" y="2826654"/>
            <a:ext cx="1133475" cy="882650"/>
          </a:xfrm>
          <a:custGeom>
            <a:avLst/>
            <a:gdLst>
              <a:gd name="G0" fmla="+- 14889 0 0"/>
              <a:gd name="G1" fmla="+- 21600 0 0"/>
              <a:gd name="G2" fmla="+- 21600 0 0"/>
              <a:gd name="T0" fmla="*/ 0 w 15285"/>
              <a:gd name="T1" fmla="*/ 5952 h 21600"/>
              <a:gd name="T2" fmla="*/ 15285 w 15285"/>
              <a:gd name="T3" fmla="*/ 4 h 21600"/>
              <a:gd name="T4" fmla="*/ 14889 w 15285"/>
              <a:gd name="T5" fmla="*/ 21600 h 21600"/>
            </a:gdLst>
            <a:ahLst/>
            <a:cxnLst>
              <a:cxn ang="0">
                <a:pos x="T0" y="T1"/>
              </a:cxn>
              <a:cxn ang="0">
                <a:pos x="T2" y="T3"/>
              </a:cxn>
              <a:cxn ang="0">
                <a:pos x="T4" y="T5"/>
              </a:cxn>
            </a:cxnLst>
            <a:rect l="0" t="0" r="r" b="b"/>
            <a:pathLst>
              <a:path w="15285" h="21600" fill="none" extrusionOk="0">
                <a:moveTo>
                  <a:pt x="-1" y="5951"/>
                </a:moveTo>
                <a:cubicBezTo>
                  <a:pt x="4015" y="2130"/>
                  <a:pt x="9346" y="-1"/>
                  <a:pt x="14889" y="0"/>
                </a:cubicBezTo>
                <a:cubicBezTo>
                  <a:pt x="15021" y="0"/>
                  <a:pt x="15153" y="1"/>
                  <a:pt x="15285" y="3"/>
                </a:cubicBezTo>
              </a:path>
              <a:path w="15285" h="21600" stroke="0" extrusionOk="0">
                <a:moveTo>
                  <a:pt x="-1" y="5951"/>
                </a:moveTo>
                <a:cubicBezTo>
                  <a:pt x="4015" y="2130"/>
                  <a:pt x="9346" y="-1"/>
                  <a:pt x="14889" y="0"/>
                </a:cubicBezTo>
                <a:cubicBezTo>
                  <a:pt x="15021" y="0"/>
                  <a:pt x="15153" y="1"/>
                  <a:pt x="15285" y="3"/>
                </a:cubicBezTo>
                <a:lnTo>
                  <a:pt x="14889" y="21600"/>
                </a:lnTo>
                <a:close/>
              </a:path>
            </a:pathLst>
          </a:custGeom>
          <a:noFill/>
          <a:ln w="50800">
            <a:solidFill>
              <a:srgbClr val="CC0000"/>
            </a:solidFill>
            <a:round/>
            <a:headEnd type="triangle" w="med" len="med"/>
            <a:tailEnd/>
          </a:ln>
          <a:effectLst/>
        </p:spPr>
        <p:txBody>
          <a:bodyPr anchor="ctr"/>
          <a:lstStyle/>
          <a:p>
            <a:endParaRPr lang="fr-FR"/>
          </a:p>
        </p:txBody>
      </p:sp>
      <p:sp>
        <p:nvSpPr>
          <p:cNvPr id="716033" name="Arc 257"/>
          <p:cNvSpPr>
            <a:spLocks/>
          </p:cNvSpPr>
          <p:nvPr/>
        </p:nvSpPr>
        <p:spPr bwMode="auto">
          <a:xfrm>
            <a:off x="6764093" y="3614054"/>
            <a:ext cx="1782763" cy="479425"/>
          </a:xfrm>
          <a:custGeom>
            <a:avLst/>
            <a:gdLst>
              <a:gd name="G0" fmla="+- 0 0 0"/>
              <a:gd name="G1" fmla="+- 2151 0 0"/>
              <a:gd name="G2" fmla="+- 21600 0 0"/>
              <a:gd name="T0" fmla="*/ 21493 w 21600"/>
              <a:gd name="T1" fmla="*/ 0 h 9780"/>
              <a:gd name="T2" fmla="*/ 20208 w 21600"/>
              <a:gd name="T3" fmla="*/ 9780 h 9780"/>
              <a:gd name="T4" fmla="*/ 0 w 21600"/>
              <a:gd name="T5" fmla="*/ 2151 h 9780"/>
            </a:gdLst>
            <a:ahLst/>
            <a:cxnLst>
              <a:cxn ang="0">
                <a:pos x="T0" y="T1"/>
              </a:cxn>
              <a:cxn ang="0">
                <a:pos x="T2" y="T3"/>
              </a:cxn>
              <a:cxn ang="0">
                <a:pos x="T4" y="T5"/>
              </a:cxn>
            </a:cxnLst>
            <a:rect l="0" t="0" r="r" b="b"/>
            <a:pathLst>
              <a:path w="21600" h="9780" fill="none" extrusionOk="0">
                <a:moveTo>
                  <a:pt x="21492" y="0"/>
                </a:moveTo>
                <a:cubicBezTo>
                  <a:pt x="21564" y="714"/>
                  <a:pt x="21600" y="1432"/>
                  <a:pt x="21600" y="2151"/>
                </a:cubicBezTo>
                <a:cubicBezTo>
                  <a:pt x="21600" y="4757"/>
                  <a:pt x="21128" y="7341"/>
                  <a:pt x="20207" y="9779"/>
                </a:cubicBezTo>
              </a:path>
              <a:path w="21600" h="9780" stroke="0" extrusionOk="0">
                <a:moveTo>
                  <a:pt x="21492" y="0"/>
                </a:moveTo>
                <a:cubicBezTo>
                  <a:pt x="21564" y="714"/>
                  <a:pt x="21600" y="1432"/>
                  <a:pt x="21600" y="2151"/>
                </a:cubicBezTo>
                <a:cubicBezTo>
                  <a:pt x="21600" y="4757"/>
                  <a:pt x="21128" y="7341"/>
                  <a:pt x="20207" y="9779"/>
                </a:cubicBezTo>
                <a:lnTo>
                  <a:pt x="0" y="2151"/>
                </a:lnTo>
                <a:close/>
              </a:path>
            </a:pathLst>
          </a:custGeom>
          <a:noFill/>
          <a:ln w="50800">
            <a:solidFill>
              <a:srgbClr val="CC0000"/>
            </a:solidFill>
            <a:round/>
            <a:headEnd/>
            <a:tailEnd type="triangle" w="med" len="med"/>
          </a:ln>
          <a:effectLst/>
        </p:spPr>
        <p:txBody>
          <a:bodyPr anchor="ctr"/>
          <a:lstStyle/>
          <a:p>
            <a:endParaRPr lang="fr-FR"/>
          </a:p>
        </p:txBody>
      </p:sp>
      <p:sp>
        <p:nvSpPr>
          <p:cNvPr id="716034" name="Arc 258"/>
          <p:cNvSpPr>
            <a:spLocks/>
          </p:cNvSpPr>
          <p:nvPr/>
        </p:nvSpPr>
        <p:spPr bwMode="auto">
          <a:xfrm>
            <a:off x="6738693" y="2736167"/>
            <a:ext cx="1331913" cy="982662"/>
          </a:xfrm>
          <a:custGeom>
            <a:avLst/>
            <a:gdLst>
              <a:gd name="G0" fmla="+- 0 0 0"/>
              <a:gd name="G1" fmla="+- 20082 0 0"/>
              <a:gd name="G2" fmla="+- 21600 0 0"/>
              <a:gd name="T0" fmla="*/ 7954 w 16140"/>
              <a:gd name="T1" fmla="*/ 0 h 20082"/>
              <a:gd name="T2" fmla="*/ 16140 w 16140"/>
              <a:gd name="T3" fmla="*/ 5727 h 20082"/>
              <a:gd name="T4" fmla="*/ 0 w 16140"/>
              <a:gd name="T5" fmla="*/ 20082 h 20082"/>
            </a:gdLst>
            <a:ahLst/>
            <a:cxnLst>
              <a:cxn ang="0">
                <a:pos x="T0" y="T1"/>
              </a:cxn>
              <a:cxn ang="0">
                <a:pos x="T2" y="T3"/>
              </a:cxn>
              <a:cxn ang="0">
                <a:pos x="T4" y="T5"/>
              </a:cxn>
            </a:cxnLst>
            <a:rect l="0" t="0" r="r" b="b"/>
            <a:pathLst>
              <a:path w="16140" h="20082" fill="none" extrusionOk="0">
                <a:moveTo>
                  <a:pt x="7954" y="-1"/>
                </a:moveTo>
                <a:cubicBezTo>
                  <a:pt x="11092" y="1243"/>
                  <a:pt x="13896" y="3204"/>
                  <a:pt x="16139" y="5727"/>
                </a:cubicBezTo>
              </a:path>
              <a:path w="16140" h="20082" stroke="0" extrusionOk="0">
                <a:moveTo>
                  <a:pt x="7954" y="-1"/>
                </a:moveTo>
                <a:cubicBezTo>
                  <a:pt x="11092" y="1243"/>
                  <a:pt x="13896" y="3204"/>
                  <a:pt x="16139" y="5727"/>
                </a:cubicBezTo>
                <a:lnTo>
                  <a:pt x="0" y="20082"/>
                </a:lnTo>
                <a:close/>
              </a:path>
            </a:pathLst>
          </a:custGeom>
          <a:noFill/>
          <a:ln w="50800">
            <a:solidFill>
              <a:srgbClr val="CC0000"/>
            </a:solidFill>
            <a:round/>
            <a:headEnd/>
            <a:tailEnd type="triangle" w="med" len="med"/>
          </a:ln>
          <a:effectLst/>
        </p:spPr>
        <p:txBody>
          <a:bodyPr anchor="ctr"/>
          <a:lstStyle/>
          <a:p>
            <a:endParaRPr lang="fr-FR"/>
          </a:p>
        </p:txBody>
      </p:sp>
      <p:sp>
        <p:nvSpPr>
          <p:cNvPr id="716035" name="Arc 259"/>
          <p:cNvSpPr>
            <a:spLocks/>
          </p:cNvSpPr>
          <p:nvPr/>
        </p:nvSpPr>
        <p:spPr bwMode="auto">
          <a:xfrm>
            <a:off x="5617918" y="2663142"/>
            <a:ext cx="1122363" cy="1055687"/>
          </a:xfrm>
          <a:custGeom>
            <a:avLst/>
            <a:gdLst>
              <a:gd name="G0" fmla="+- 13606 0 0"/>
              <a:gd name="G1" fmla="+- 21543 0 0"/>
              <a:gd name="G2" fmla="+- 21600 0 0"/>
              <a:gd name="T0" fmla="*/ 0 w 13606"/>
              <a:gd name="T1" fmla="*/ 4767 h 21543"/>
              <a:gd name="T2" fmla="*/ 12035 w 13606"/>
              <a:gd name="T3" fmla="*/ 0 h 21543"/>
              <a:gd name="T4" fmla="*/ 13606 w 13606"/>
              <a:gd name="T5" fmla="*/ 21543 h 21543"/>
            </a:gdLst>
            <a:ahLst/>
            <a:cxnLst>
              <a:cxn ang="0">
                <a:pos x="T0" y="T1"/>
              </a:cxn>
              <a:cxn ang="0">
                <a:pos x="T2" y="T3"/>
              </a:cxn>
              <a:cxn ang="0">
                <a:pos x="T4" y="T5"/>
              </a:cxn>
            </a:cxnLst>
            <a:rect l="0" t="0" r="r" b="b"/>
            <a:pathLst>
              <a:path w="13606" h="21543" fill="none" extrusionOk="0">
                <a:moveTo>
                  <a:pt x="-1" y="4766"/>
                </a:moveTo>
                <a:cubicBezTo>
                  <a:pt x="3430" y="1985"/>
                  <a:pt x="7630" y="321"/>
                  <a:pt x="12035" y="0"/>
                </a:cubicBezTo>
              </a:path>
              <a:path w="13606" h="21543" stroke="0" extrusionOk="0">
                <a:moveTo>
                  <a:pt x="-1" y="4766"/>
                </a:moveTo>
                <a:cubicBezTo>
                  <a:pt x="3430" y="1985"/>
                  <a:pt x="7630" y="321"/>
                  <a:pt x="12035" y="0"/>
                </a:cubicBezTo>
                <a:lnTo>
                  <a:pt x="13606" y="21543"/>
                </a:lnTo>
                <a:close/>
              </a:path>
            </a:pathLst>
          </a:custGeom>
          <a:noFill/>
          <a:ln w="50800">
            <a:solidFill>
              <a:srgbClr val="CC0000"/>
            </a:solidFill>
            <a:round/>
            <a:headEnd/>
            <a:tailEnd type="triangle" w="med" len="med"/>
          </a:ln>
          <a:effectLst/>
        </p:spPr>
        <p:txBody>
          <a:bodyPr anchor="ctr"/>
          <a:lstStyle/>
          <a:p>
            <a:endParaRPr lang="fr-FR"/>
          </a:p>
        </p:txBody>
      </p:sp>
      <p:sp>
        <p:nvSpPr>
          <p:cNvPr id="716036" name="Arc 260"/>
          <p:cNvSpPr>
            <a:spLocks/>
          </p:cNvSpPr>
          <p:nvPr/>
        </p:nvSpPr>
        <p:spPr bwMode="auto">
          <a:xfrm>
            <a:off x="6779968" y="2871104"/>
            <a:ext cx="1247775" cy="838200"/>
          </a:xfrm>
          <a:custGeom>
            <a:avLst/>
            <a:gdLst>
              <a:gd name="G0" fmla="+- 0 0 0"/>
              <a:gd name="G1" fmla="+- 20529 0 0"/>
              <a:gd name="G2" fmla="+- 21600 0 0"/>
              <a:gd name="T0" fmla="*/ 6716 w 16830"/>
              <a:gd name="T1" fmla="*/ 0 h 20529"/>
              <a:gd name="T2" fmla="*/ 16830 w 16830"/>
              <a:gd name="T3" fmla="*/ 6990 h 20529"/>
              <a:gd name="T4" fmla="*/ 0 w 16830"/>
              <a:gd name="T5" fmla="*/ 20529 h 20529"/>
            </a:gdLst>
            <a:ahLst/>
            <a:cxnLst>
              <a:cxn ang="0">
                <a:pos x="T0" y="T1"/>
              </a:cxn>
              <a:cxn ang="0">
                <a:pos x="T2" y="T3"/>
              </a:cxn>
              <a:cxn ang="0">
                <a:pos x="T4" y="T5"/>
              </a:cxn>
            </a:cxnLst>
            <a:rect l="0" t="0" r="r" b="b"/>
            <a:pathLst>
              <a:path w="16830" h="20529" fill="none" extrusionOk="0">
                <a:moveTo>
                  <a:pt x="6716" y="-1"/>
                </a:moveTo>
                <a:cubicBezTo>
                  <a:pt x="10693" y="1300"/>
                  <a:pt x="14207" y="3729"/>
                  <a:pt x="16830" y="6989"/>
                </a:cubicBezTo>
              </a:path>
              <a:path w="16830" h="20529" stroke="0" extrusionOk="0">
                <a:moveTo>
                  <a:pt x="6716" y="-1"/>
                </a:moveTo>
                <a:cubicBezTo>
                  <a:pt x="10693" y="1300"/>
                  <a:pt x="14207" y="3729"/>
                  <a:pt x="16830" y="6989"/>
                </a:cubicBezTo>
                <a:lnTo>
                  <a:pt x="0" y="20529"/>
                </a:lnTo>
                <a:close/>
              </a:path>
            </a:pathLst>
          </a:custGeom>
          <a:noFill/>
          <a:ln w="50800">
            <a:solidFill>
              <a:srgbClr val="CC0000"/>
            </a:solidFill>
            <a:round/>
            <a:headEnd type="triangle" w="med" len="med"/>
            <a:tailEnd/>
          </a:ln>
          <a:effectLst/>
        </p:spPr>
        <p:txBody>
          <a:bodyPr anchor="ctr"/>
          <a:lstStyle/>
          <a:p>
            <a:endParaRPr lang="fr-FR"/>
          </a:p>
        </p:txBody>
      </p:sp>
      <p:sp>
        <p:nvSpPr>
          <p:cNvPr id="716037" name="Arc 261"/>
          <p:cNvSpPr>
            <a:spLocks/>
          </p:cNvSpPr>
          <p:nvPr/>
        </p:nvSpPr>
        <p:spPr bwMode="auto">
          <a:xfrm>
            <a:off x="6791081" y="3501342"/>
            <a:ext cx="1601787" cy="620712"/>
          </a:xfrm>
          <a:custGeom>
            <a:avLst/>
            <a:gdLst>
              <a:gd name="G0" fmla="+- 0 0 0"/>
              <a:gd name="G1" fmla="+- 4420 0 0"/>
              <a:gd name="G2" fmla="+- 21600 0 0"/>
              <a:gd name="T0" fmla="*/ 21143 w 21600"/>
              <a:gd name="T1" fmla="*/ 0 h 15183"/>
              <a:gd name="T2" fmla="*/ 18727 w 21600"/>
              <a:gd name="T3" fmla="*/ 15183 h 15183"/>
              <a:gd name="T4" fmla="*/ 0 w 21600"/>
              <a:gd name="T5" fmla="*/ 4420 h 15183"/>
            </a:gdLst>
            <a:ahLst/>
            <a:cxnLst>
              <a:cxn ang="0">
                <a:pos x="T0" y="T1"/>
              </a:cxn>
              <a:cxn ang="0">
                <a:pos x="T2" y="T3"/>
              </a:cxn>
              <a:cxn ang="0">
                <a:pos x="T4" y="T5"/>
              </a:cxn>
            </a:cxnLst>
            <a:rect l="0" t="0" r="r" b="b"/>
            <a:pathLst>
              <a:path w="21600" h="15183" fill="none" extrusionOk="0">
                <a:moveTo>
                  <a:pt x="21142" y="0"/>
                </a:moveTo>
                <a:cubicBezTo>
                  <a:pt x="21446" y="1453"/>
                  <a:pt x="21600" y="2934"/>
                  <a:pt x="21600" y="4420"/>
                </a:cubicBezTo>
                <a:cubicBezTo>
                  <a:pt x="21600" y="8197"/>
                  <a:pt x="20609" y="11908"/>
                  <a:pt x="18727" y="15183"/>
                </a:cubicBezTo>
              </a:path>
              <a:path w="21600" h="15183" stroke="0" extrusionOk="0">
                <a:moveTo>
                  <a:pt x="21142" y="0"/>
                </a:moveTo>
                <a:cubicBezTo>
                  <a:pt x="21446" y="1453"/>
                  <a:pt x="21600" y="2934"/>
                  <a:pt x="21600" y="4420"/>
                </a:cubicBezTo>
                <a:cubicBezTo>
                  <a:pt x="21600" y="8197"/>
                  <a:pt x="20609" y="11908"/>
                  <a:pt x="18727" y="15183"/>
                </a:cubicBezTo>
                <a:lnTo>
                  <a:pt x="0" y="4420"/>
                </a:lnTo>
                <a:close/>
              </a:path>
            </a:pathLst>
          </a:custGeom>
          <a:noFill/>
          <a:ln w="50800">
            <a:solidFill>
              <a:srgbClr val="CC0000"/>
            </a:solidFill>
            <a:round/>
            <a:headEnd type="triangle" w="med" len="med"/>
            <a:tailEnd/>
          </a:ln>
          <a:effectLst/>
        </p:spPr>
        <p:txBody>
          <a:bodyPr anchor="ctr"/>
          <a:lstStyle/>
          <a:p>
            <a:endParaRPr lang="fr-FR"/>
          </a:p>
        </p:txBody>
      </p:sp>
      <p:sp>
        <p:nvSpPr>
          <p:cNvPr id="716038" name="Arc 262"/>
          <p:cNvSpPr>
            <a:spLocks/>
          </p:cNvSpPr>
          <p:nvPr/>
        </p:nvSpPr>
        <p:spPr bwMode="auto">
          <a:xfrm>
            <a:off x="6791081" y="3668029"/>
            <a:ext cx="1189037" cy="773113"/>
          </a:xfrm>
          <a:custGeom>
            <a:avLst/>
            <a:gdLst>
              <a:gd name="G0" fmla="+- 0 0 0"/>
              <a:gd name="G1" fmla="+- 0 0 0"/>
              <a:gd name="G2" fmla="+- 21600 0 0"/>
              <a:gd name="T0" fmla="*/ 16040 w 16040"/>
              <a:gd name="T1" fmla="*/ 14466 h 18912"/>
              <a:gd name="T2" fmla="*/ 10435 w 16040"/>
              <a:gd name="T3" fmla="*/ 18912 h 18912"/>
              <a:gd name="T4" fmla="*/ 0 w 16040"/>
              <a:gd name="T5" fmla="*/ 0 h 18912"/>
            </a:gdLst>
            <a:ahLst/>
            <a:cxnLst>
              <a:cxn ang="0">
                <a:pos x="T0" y="T1"/>
              </a:cxn>
              <a:cxn ang="0">
                <a:pos x="T2" y="T3"/>
              </a:cxn>
              <a:cxn ang="0">
                <a:pos x="T4" y="T5"/>
              </a:cxn>
            </a:cxnLst>
            <a:rect l="0" t="0" r="r" b="b"/>
            <a:pathLst>
              <a:path w="16040" h="18912" fill="none" extrusionOk="0">
                <a:moveTo>
                  <a:pt x="16040" y="14466"/>
                </a:moveTo>
                <a:cubicBezTo>
                  <a:pt x="14431" y="16249"/>
                  <a:pt x="12537" y="17752"/>
                  <a:pt x="10435" y="18912"/>
                </a:cubicBezTo>
              </a:path>
              <a:path w="16040" h="18912" stroke="0" extrusionOk="0">
                <a:moveTo>
                  <a:pt x="16040" y="14466"/>
                </a:moveTo>
                <a:cubicBezTo>
                  <a:pt x="14431" y="16249"/>
                  <a:pt x="12537" y="17752"/>
                  <a:pt x="10435" y="18912"/>
                </a:cubicBezTo>
                <a:lnTo>
                  <a:pt x="0" y="0"/>
                </a:lnTo>
                <a:close/>
              </a:path>
            </a:pathLst>
          </a:custGeom>
          <a:noFill/>
          <a:ln w="50800">
            <a:solidFill>
              <a:srgbClr val="CC0000"/>
            </a:solidFill>
            <a:round/>
            <a:headEnd type="triangle" w="med" len="med"/>
            <a:tailEnd/>
          </a:ln>
          <a:effectLst/>
        </p:spPr>
        <p:txBody>
          <a:bodyPr anchor="ctr"/>
          <a:lstStyle/>
          <a:p>
            <a:endParaRPr lang="fr-FR"/>
          </a:p>
        </p:txBody>
      </p:sp>
      <p:sp>
        <p:nvSpPr>
          <p:cNvPr id="716039" name="AutoShape 263"/>
          <p:cNvSpPr>
            <a:spLocks noChangeArrowheads="1"/>
          </p:cNvSpPr>
          <p:nvPr/>
        </p:nvSpPr>
        <p:spPr bwMode="auto">
          <a:xfrm>
            <a:off x="1683656" y="2714396"/>
            <a:ext cx="2857500" cy="635000"/>
          </a:xfrm>
          <a:prstGeom prst="roundRect">
            <a:avLst>
              <a:gd name="adj" fmla="val 63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fr-FR" sz="2000" b="1" err="1"/>
              <a:t>ClientA</a:t>
            </a:r>
            <a:r>
              <a:rPr lang="fr-FR" sz="2000" b="1"/>
              <a:t> est à l'adresse 192.168.8.44</a:t>
            </a:r>
          </a:p>
        </p:txBody>
      </p:sp>
      <p:sp>
        <p:nvSpPr>
          <p:cNvPr id="716040" name="AutoShape 264"/>
          <p:cNvSpPr>
            <a:spLocks noChangeArrowheads="1"/>
          </p:cNvSpPr>
          <p:nvPr/>
        </p:nvSpPr>
        <p:spPr bwMode="auto">
          <a:xfrm>
            <a:off x="4665418" y="4593542"/>
            <a:ext cx="1562100" cy="635000"/>
          </a:xfrm>
          <a:prstGeom prst="roundRect">
            <a:avLst>
              <a:gd name="adj" fmla="val 63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fr-FR" sz="2000" b="1"/>
              <a:t>Où se trouve ClientA ?</a:t>
            </a:r>
          </a:p>
        </p:txBody>
      </p:sp>
      <p:sp>
        <p:nvSpPr>
          <p:cNvPr id="716041" name="AutoShape 265"/>
          <p:cNvSpPr>
            <a:spLocks noChangeArrowheads="1"/>
          </p:cNvSpPr>
          <p:nvPr/>
        </p:nvSpPr>
        <p:spPr bwMode="auto">
          <a:xfrm>
            <a:off x="4238154" y="4591955"/>
            <a:ext cx="2385559" cy="635000"/>
          </a:xfrm>
          <a:prstGeom prst="roundRect">
            <a:avLst>
              <a:gd name="adj" fmla="val 63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fr-FR" sz="2000" b="1" err="1"/>
              <a:t>ClientA</a:t>
            </a:r>
            <a:r>
              <a:rPr lang="fr-FR" sz="2000" b="1"/>
              <a:t> est à l'adresse 192.168.8.44</a:t>
            </a:r>
          </a:p>
        </p:txBody>
      </p:sp>
      <p:sp>
        <p:nvSpPr>
          <p:cNvPr id="716042" name="Line 266"/>
          <p:cNvSpPr>
            <a:spLocks noChangeShapeType="1"/>
          </p:cNvSpPr>
          <p:nvPr/>
        </p:nvSpPr>
        <p:spPr bwMode="auto">
          <a:xfrm flipV="1">
            <a:off x="3565281" y="3255279"/>
            <a:ext cx="971550" cy="477838"/>
          </a:xfrm>
          <a:prstGeom prst="line">
            <a:avLst/>
          </a:prstGeom>
          <a:noFill/>
          <a:ln w="50800">
            <a:solidFill>
              <a:srgbClr val="CC0000"/>
            </a:solidFill>
            <a:round/>
            <a:headEnd/>
            <a:tailEnd type="triangle" w="med" len="med"/>
          </a:ln>
          <a:effectLst/>
        </p:spPr>
        <p:txBody>
          <a:bodyPr anchor="ctr"/>
          <a:lstStyle/>
          <a:p>
            <a:endParaRPr lang="fr-FR"/>
          </a:p>
        </p:txBody>
      </p:sp>
      <p:sp>
        <p:nvSpPr>
          <p:cNvPr id="716043" name="Line 267"/>
          <p:cNvSpPr>
            <a:spLocks noChangeShapeType="1"/>
          </p:cNvSpPr>
          <p:nvPr/>
        </p:nvSpPr>
        <p:spPr bwMode="auto">
          <a:xfrm flipH="1">
            <a:off x="3576393" y="3418792"/>
            <a:ext cx="998538" cy="493712"/>
          </a:xfrm>
          <a:prstGeom prst="line">
            <a:avLst/>
          </a:prstGeom>
          <a:noFill/>
          <a:ln w="50800">
            <a:solidFill>
              <a:srgbClr val="CC0000"/>
            </a:solidFill>
            <a:round/>
            <a:headEnd/>
            <a:tailEnd type="triangle" w="med" len="med"/>
          </a:ln>
          <a:effectLst/>
        </p:spPr>
        <p:txBody>
          <a:bodyPr anchor="ctr"/>
          <a:lstStyle/>
          <a:p>
            <a:endParaRPr lang="fr-FR"/>
          </a:p>
        </p:txBody>
      </p:sp>
      <p:sp>
        <p:nvSpPr>
          <p:cNvPr id="716044" name="Line 268"/>
          <p:cNvSpPr>
            <a:spLocks noChangeShapeType="1"/>
          </p:cNvSpPr>
          <p:nvPr/>
        </p:nvSpPr>
        <p:spPr bwMode="auto">
          <a:xfrm flipH="1">
            <a:off x="4292356" y="3677554"/>
            <a:ext cx="619125" cy="695325"/>
          </a:xfrm>
          <a:prstGeom prst="line">
            <a:avLst/>
          </a:prstGeom>
          <a:noFill/>
          <a:ln w="50800">
            <a:solidFill>
              <a:srgbClr val="CC0000"/>
            </a:solidFill>
            <a:round/>
            <a:headEnd/>
            <a:tailEnd type="triangle" w="med" len="med"/>
          </a:ln>
          <a:effectLst/>
        </p:spPr>
        <p:txBody>
          <a:bodyPr anchor="ctr"/>
          <a:lstStyle/>
          <a:p>
            <a:endParaRPr lang="fr-FR"/>
          </a:p>
        </p:txBody>
      </p:sp>
      <p:sp>
        <p:nvSpPr>
          <p:cNvPr id="716045" name="Line 269"/>
          <p:cNvSpPr>
            <a:spLocks noChangeShapeType="1"/>
          </p:cNvSpPr>
          <p:nvPr/>
        </p:nvSpPr>
        <p:spPr bwMode="auto">
          <a:xfrm flipV="1">
            <a:off x="4120906" y="3545792"/>
            <a:ext cx="665162" cy="739775"/>
          </a:xfrm>
          <a:prstGeom prst="line">
            <a:avLst/>
          </a:prstGeom>
          <a:noFill/>
          <a:ln w="50800">
            <a:solidFill>
              <a:srgbClr val="CC0000"/>
            </a:solidFill>
            <a:round/>
            <a:headEnd/>
            <a:tailEnd type="triangle" w="med" len="med"/>
          </a:ln>
          <a:effectLst/>
        </p:spPr>
        <p:txBody>
          <a:bodyPr anchor="ctr"/>
          <a:lstStyle/>
          <a:p>
            <a:endParaRPr lang="fr-FR"/>
          </a:p>
        </p:txBody>
      </p:sp>
      <p:graphicFrame>
        <p:nvGraphicFramePr>
          <p:cNvPr id="716074" name="Group 298"/>
          <p:cNvGraphicFramePr>
            <a:graphicFrameLocks noGrp="1"/>
          </p:cNvGraphicFramePr>
          <p:nvPr/>
        </p:nvGraphicFramePr>
        <p:xfrm>
          <a:off x="203200" y="1229860"/>
          <a:ext cx="6052457" cy="1246632"/>
        </p:xfrm>
        <a:graphic>
          <a:graphicData uri="http://schemas.openxmlformats.org/drawingml/2006/table">
            <a:tbl>
              <a:tblPr/>
              <a:tblGrid>
                <a:gridCol w="2524422">
                  <a:extLst>
                    <a:ext uri="{9D8B030D-6E8A-4147-A177-3AD203B41FA5}">
                      <a16:colId xmlns:a16="http://schemas.microsoft.com/office/drawing/2014/main" val="20000"/>
                    </a:ext>
                  </a:extLst>
                </a:gridCol>
                <a:gridCol w="1773253">
                  <a:extLst>
                    <a:ext uri="{9D8B030D-6E8A-4147-A177-3AD203B41FA5}">
                      <a16:colId xmlns:a16="http://schemas.microsoft.com/office/drawing/2014/main" val="20001"/>
                    </a:ext>
                  </a:extLst>
                </a:gridCol>
                <a:gridCol w="1754782">
                  <a:extLst>
                    <a:ext uri="{9D8B030D-6E8A-4147-A177-3AD203B41FA5}">
                      <a16:colId xmlns:a16="http://schemas.microsoft.com/office/drawing/2014/main" val="20002"/>
                    </a:ext>
                  </a:extLst>
                </a:gridCol>
              </a:tblGrid>
              <a:tr h="352425">
                <a:tc gridSpan="3">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sz="2200" b="1" i="0" u="none" strike="noStrike" cap="none" normalizeH="0" baseline="0">
                          <a:ln>
                            <a:noFill/>
                          </a:ln>
                          <a:solidFill>
                            <a:schemeClr val="tx1"/>
                          </a:solidFill>
                          <a:effectLst/>
                          <a:latin typeface="Arial Narrow" pitchFamily="34" charset="0"/>
                        </a:rPr>
                        <a:t>Table de mise en cache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327025">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US" sz="2200" b="1" i="0" u="none" strike="noStrike" cap="none" normalizeH="0" baseline="0">
                          <a:ln>
                            <a:noFill/>
                          </a:ln>
                          <a:solidFill>
                            <a:schemeClr val="tx1"/>
                          </a:solidFill>
                          <a:effectLst/>
                          <a:latin typeface="Arial Narrow" pitchFamily="34" charset="0"/>
                        </a:rPr>
                        <a:t>Nom d'hôte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ctr"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US" sz="2200" b="1" i="0" u="none" strike="noStrike" cap="none" normalizeH="0" baseline="0" err="1">
                          <a:ln>
                            <a:noFill/>
                          </a:ln>
                          <a:solidFill>
                            <a:schemeClr val="tx1"/>
                          </a:solidFill>
                          <a:effectLst/>
                          <a:latin typeface="Arial Narrow" pitchFamily="34" charset="0"/>
                        </a:rPr>
                        <a:t>Adresse</a:t>
                      </a:r>
                      <a:r>
                        <a:rPr kumimoji="0" lang="en-US" sz="2200" b="1" i="0" u="none" strike="noStrike" cap="none" normalizeH="0" baseline="0">
                          <a:ln>
                            <a:noFill/>
                          </a:ln>
                          <a:solidFill>
                            <a:schemeClr val="tx1"/>
                          </a:solidFill>
                          <a:effectLst/>
                          <a:latin typeface="Arial Narrow" pitchFamily="34" charset="0"/>
                        </a:rPr>
                        <a:t> IP</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ctr"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US" sz="2200" b="1" i="0" u="none" strike="noStrike" cap="none" normalizeH="0" baseline="0" err="1">
                          <a:ln>
                            <a:noFill/>
                          </a:ln>
                          <a:solidFill>
                            <a:schemeClr val="tx1"/>
                          </a:solidFill>
                          <a:effectLst/>
                          <a:latin typeface="Arial Narrow" pitchFamily="34" charset="0"/>
                        </a:rPr>
                        <a:t>Durée</a:t>
                      </a:r>
                      <a:r>
                        <a:rPr kumimoji="0" lang="en-US" sz="2200" b="1" i="0" u="none" strike="noStrike" cap="none" normalizeH="0" baseline="0">
                          <a:ln>
                            <a:noFill/>
                          </a:ln>
                          <a:solidFill>
                            <a:schemeClr val="tx1"/>
                          </a:solidFill>
                          <a:effectLst/>
                          <a:latin typeface="Arial Narrow" pitchFamily="34" charset="0"/>
                        </a:rPr>
                        <a:t> de vie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extLst>
                  <a:ext uri="{0D108BD9-81ED-4DB2-BD59-A6C34878D82A}">
                    <a16:rowId xmlns:a16="http://schemas.microsoft.com/office/drawing/2014/main" val="10001"/>
                  </a:ext>
                </a:extLst>
              </a:tr>
              <a:tr h="3016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err="1">
                          <a:ln>
                            <a:noFill/>
                          </a:ln>
                          <a:solidFill>
                            <a:schemeClr val="tx1"/>
                          </a:solidFill>
                          <a:effectLst/>
                          <a:latin typeface="Arial Narrow" pitchFamily="34" charset="0"/>
                        </a:rPr>
                        <a:t>clientA.contoso.msft</a:t>
                      </a:r>
                      <a:r>
                        <a:rPr kumimoji="0" lang="en-US" sz="2200" b="1" i="0" u="none" strike="noStrike" cap="none" normalizeH="0" baseline="0">
                          <a:ln>
                            <a:noFill/>
                          </a:ln>
                          <a:solidFill>
                            <a:schemeClr val="tx1"/>
                          </a:solidFill>
                          <a:effectLst/>
                          <a:latin typeface="Arial Narrow" pitchFamily="34" charset="0"/>
                        </a:rPr>
                        <a:t>.</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c>
                  <a:txBody>
                    <a:bodyPr/>
                    <a:lstStyle/>
                    <a:p>
                      <a:pPr marL="177800" marR="0" lvl="0" indent="-177800" algn="ctr"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US" sz="2200" b="1" i="0" u="none" strike="noStrike" cap="none" normalizeH="0" baseline="0">
                          <a:ln>
                            <a:noFill/>
                          </a:ln>
                          <a:solidFill>
                            <a:schemeClr val="tx1"/>
                          </a:solidFill>
                          <a:effectLst/>
                          <a:latin typeface="Arial Narrow" pitchFamily="34" charset="0"/>
                        </a:rPr>
                        <a:t>192.168.8.44</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c>
                  <a:txBody>
                    <a:bodyPr/>
                    <a:lstStyle/>
                    <a:p>
                      <a:pPr marL="177800" marR="0" lvl="0" indent="-177800" algn="ctr"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US" sz="2200" b="1" i="0" u="none" strike="noStrike" cap="none" normalizeH="0" baseline="0" dirty="0">
                          <a:ln>
                            <a:noFill/>
                          </a:ln>
                          <a:solidFill>
                            <a:schemeClr val="tx1"/>
                          </a:solidFill>
                          <a:effectLst/>
                          <a:latin typeface="Arial Narrow" pitchFamily="34" charset="0"/>
                        </a:rPr>
                        <a:t>28 </a:t>
                      </a:r>
                      <a:r>
                        <a:rPr kumimoji="0" lang="en-US" sz="2200" b="1" i="0" u="none" strike="noStrike" cap="none" normalizeH="0" baseline="0" dirty="0" err="1">
                          <a:ln>
                            <a:noFill/>
                          </a:ln>
                          <a:solidFill>
                            <a:schemeClr val="tx1"/>
                          </a:solidFill>
                          <a:effectLst/>
                          <a:latin typeface="Arial Narrow" pitchFamily="34" charset="0"/>
                        </a:rPr>
                        <a:t>secondes</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bl>
          </a:graphicData>
        </a:graphic>
      </p:graphicFrame>
      <p:grpSp>
        <p:nvGrpSpPr>
          <p:cNvPr id="716065" name="Group 289"/>
          <p:cNvGrpSpPr>
            <a:grpSpLocks/>
          </p:cNvGrpSpPr>
          <p:nvPr/>
        </p:nvGrpSpPr>
        <p:grpSpPr bwMode="auto">
          <a:xfrm>
            <a:off x="609600" y="6239779"/>
            <a:ext cx="914400" cy="425450"/>
            <a:chOff x="384" y="3024"/>
            <a:chExt cx="720" cy="336"/>
          </a:xfrm>
        </p:grpSpPr>
        <p:sp>
          <p:nvSpPr>
            <p:cNvPr id="716066" name="Oval 29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16067" name="Group 291"/>
            <p:cNvGrpSpPr>
              <a:grpSpLocks/>
            </p:cNvGrpSpPr>
            <p:nvPr/>
          </p:nvGrpSpPr>
          <p:grpSpPr bwMode="auto">
            <a:xfrm>
              <a:off x="480" y="3096"/>
              <a:ext cx="240" cy="192"/>
              <a:chOff x="480" y="3096"/>
              <a:chExt cx="240" cy="192"/>
            </a:xfrm>
          </p:grpSpPr>
          <p:sp>
            <p:nvSpPr>
              <p:cNvPr id="716068" name="Oval 29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16069" name="Freeform 293"/>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16070" name="Group 294"/>
          <p:cNvGrpSpPr>
            <a:grpSpLocks/>
          </p:cNvGrpSpPr>
          <p:nvPr/>
        </p:nvGrpSpPr>
        <p:grpSpPr bwMode="auto">
          <a:xfrm>
            <a:off x="1096963" y="6330267"/>
            <a:ext cx="304800" cy="244475"/>
            <a:chOff x="768" y="3096"/>
            <a:chExt cx="240" cy="192"/>
          </a:xfrm>
        </p:grpSpPr>
        <p:sp>
          <p:nvSpPr>
            <p:cNvPr id="716071" name="Oval 29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16072" name="Rectangle 296"/>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716016" name="AutoShape 240"/>
          <p:cNvSpPr>
            <a:spLocks noChangeArrowheads="1"/>
          </p:cNvSpPr>
          <p:nvPr/>
        </p:nvSpPr>
        <p:spPr bwMode="auto">
          <a:xfrm>
            <a:off x="88202" y="1229860"/>
            <a:ext cx="8897258" cy="4869543"/>
          </a:xfrm>
          <a:prstGeom prst="roundRect">
            <a:avLst>
              <a:gd name="adj" fmla="val 4167"/>
            </a:avLst>
          </a:prstGeom>
          <a:solidFill>
            <a:schemeClr val="bg1"/>
          </a:solidFill>
          <a:ln>
            <a:headEnd/>
            <a:tailEnd/>
          </a:ln>
        </p:spPr>
        <p:style>
          <a:lnRef idx="1">
            <a:schemeClr val="accent2"/>
          </a:lnRef>
          <a:fillRef idx="3">
            <a:schemeClr val="accent2"/>
          </a:fillRef>
          <a:effectRef idx="2">
            <a:schemeClr val="accent2"/>
          </a:effectRef>
          <a:fontRef idx="minor">
            <a:schemeClr val="lt1"/>
          </a:fontRef>
        </p:style>
        <p:txBody>
          <a:bodyPr anchor="ctr"/>
          <a:lstStyle/>
          <a:p>
            <a:pPr algn="l" eaLnBrk="1" hangingPunct="1">
              <a:lnSpc>
                <a:spcPct val="150000"/>
              </a:lnSpc>
              <a:buFont typeface="Arial" pitchFamily="34" charset="0"/>
              <a:buChar char="•"/>
            </a:pPr>
            <a:r>
              <a:rPr lang="fr-FR" sz="2400" dirty="0">
                <a:solidFill>
                  <a:schemeClr val="tx1"/>
                </a:solidFill>
              </a:rPr>
              <a:t>La </a:t>
            </a:r>
            <a:r>
              <a:rPr lang="fr-FR" sz="2400" i="1" dirty="0">
                <a:solidFill>
                  <a:schemeClr val="tx1"/>
                </a:solidFill>
              </a:rPr>
              <a:t>mise en cache</a:t>
            </a:r>
            <a:r>
              <a:rPr lang="fr-FR" sz="2400" dirty="0">
                <a:solidFill>
                  <a:schemeClr val="tx1"/>
                </a:solidFill>
              </a:rPr>
              <a:t> est le processus qui consiste à stocker temporairement dans une mémoire spéciale des informations ayant fait l'objet d'un accès .</a:t>
            </a:r>
          </a:p>
          <a:p>
            <a:pPr algn="l" eaLnBrk="1" hangingPunct="1">
              <a:lnSpc>
                <a:spcPct val="150000"/>
              </a:lnSpc>
              <a:buFont typeface="Arial" pitchFamily="34" charset="0"/>
              <a:buChar char="•"/>
            </a:pPr>
            <a:r>
              <a:rPr lang="fr-FR" sz="2400" dirty="0">
                <a:solidFill>
                  <a:schemeClr val="tx1"/>
                </a:solidFill>
              </a:rPr>
              <a:t>Le  TTL des enregistrements DNS égale une heure.</a:t>
            </a:r>
          </a:p>
          <a:p>
            <a:pPr algn="l" eaLnBrk="1" hangingPunct="1">
              <a:lnSpc>
                <a:spcPct val="150000"/>
              </a:lnSpc>
              <a:buFont typeface="Arial" pitchFamily="34" charset="0"/>
              <a:buChar char="•"/>
            </a:pPr>
            <a:r>
              <a:rPr lang="fr-FR" sz="2400" dirty="0">
                <a:solidFill>
                  <a:schemeClr val="tx1"/>
                </a:solidFill>
              </a:rPr>
              <a:t>Un serveur de mise en cache  n'héberge aucun enregistrement de zone DNS. </a:t>
            </a:r>
          </a:p>
          <a:p>
            <a:pPr algn="l" eaLnBrk="1" hangingPunct="1">
              <a:lnSpc>
                <a:spcPct val="150000"/>
              </a:lnSpc>
              <a:buFont typeface="Arial" pitchFamily="34" charset="0"/>
              <a:buChar char="•"/>
            </a:pPr>
            <a:r>
              <a:rPr lang="fr-FR" sz="2400" dirty="0">
                <a:solidFill>
                  <a:schemeClr val="tx1"/>
                </a:solidFill>
              </a:rPr>
              <a:t>C'est le type idéal de serveur DNS à utiliser comme redirecteur. </a:t>
            </a:r>
          </a:p>
        </p:txBody>
      </p:sp>
      <p:sp>
        <p:nvSpPr>
          <p:cNvPr id="42" name="Espace réservé du numéro de diapositive 41"/>
          <p:cNvSpPr>
            <a:spLocks noGrp="1"/>
          </p:cNvSpPr>
          <p:nvPr>
            <p:ph type="sldNum" sz="quarter" idx="12"/>
          </p:nvPr>
        </p:nvSpPr>
        <p:spPr/>
        <p:txBody>
          <a:bodyPr/>
          <a:lstStyle/>
          <a:p>
            <a:fld id="{2C6B1FF6-39B9-40F5-8B67-33C6354A3D4F}" type="slidenum">
              <a:rPr kumimoji="0" lang="en-US" smtClean="0"/>
              <a:pPr/>
              <a:t>16</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018"/>
                                        </p:tgtEl>
                                        <p:attrNameLst>
                                          <p:attrName>style.visibility</p:attrName>
                                        </p:attrNameLst>
                                      </p:cBhvr>
                                      <p:to>
                                        <p:strVal val="visible"/>
                                      </p:to>
                                    </p:set>
                                    <p:animEffect transition="in" filter="dissolve">
                                      <p:cBhvr>
                                        <p:cTn id="7" dur="500"/>
                                        <p:tgtEl>
                                          <p:spTgt spid="7160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16042"/>
                                        </p:tgtEl>
                                        <p:attrNameLst>
                                          <p:attrName>style.visibility</p:attrName>
                                        </p:attrNameLst>
                                      </p:cBhvr>
                                      <p:to>
                                        <p:strVal val="visible"/>
                                      </p:to>
                                    </p:set>
                                    <p:animEffect transition="in" filter="wipe(left)">
                                      <p:cBhvr>
                                        <p:cTn id="11" dur="500"/>
                                        <p:tgtEl>
                                          <p:spTgt spid="71604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16035"/>
                                        </p:tgtEl>
                                        <p:attrNameLst>
                                          <p:attrName>style.visibility</p:attrName>
                                        </p:attrNameLst>
                                      </p:cBhvr>
                                      <p:to>
                                        <p:strVal val="visible"/>
                                      </p:to>
                                    </p:set>
                                    <p:animEffect transition="in" filter="wipe(left)">
                                      <p:cBhvr>
                                        <p:cTn id="15" dur="500"/>
                                        <p:tgtEl>
                                          <p:spTgt spid="71603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16034"/>
                                        </p:tgtEl>
                                        <p:attrNameLst>
                                          <p:attrName>style.visibility</p:attrName>
                                        </p:attrNameLst>
                                      </p:cBhvr>
                                      <p:to>
                                        <p:strVal val="visible"/>
                                      </p:to>
                                    </p:set>
                                    <p:animEffect transition="in" filter="wipe(left)">
                                      <p:cBhvr>
                                        <p:cTn id="19" dur="500"/>
                                        <p:tgtEl>
                                          <p:spTgt spid="716034"/>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16033"/>
                                        </p:tgtEl>
                                        <p:attrNameLst>
                                          <p:attrName>style.visibility</p:attrName>
                                        </p:attrNameLst>
                                      </p:cBhvr>
                                      <p:to>
                                        <p:strVal val="visible"/>
                                      </p:to>
                                    </p:set>
                                    <p:animEffect transition="in" filter="wipe(up)">
                                      <p:cBhvr>
                                        <p:cTn id="23" dur="500"/>
                                        <p:tgtEl>
                                          <p:spTgt spid="716033"/>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716021"/>
                                        </p:tgtEl>
                                        <p:attrNameLst>
                                          <p:attrName>style.visibility</p:attrName>
                                        </p:attrNameLst>
                                      </p:cBhvr>
                                      <p:to>
                                        <p:strVal val="visible"/>
                                      </p:to>
                                    </p:set>
                                    <p:animEffect transition="in" filter="wipe(right)">
                                      <p:cBhvr>
                                        <p:cTn id="27" dur="500"/>
                                        <p:tgtEl>
                                          <p:spTgt spid="716021"/>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716038"/>
                                        </p:tgtEl>
                                        <p:attrNameLst>
                                          <p:attrName>style.visibility</p:attrName>
                                        </p:attrNameLst>
                                      </p:cBhvr>
                                      <p:to>
                                        <p:strVal val="visible"/>
                                      </p:to>
                                    </p:set>
                                    <p:animEffect transition="in" filter="wipe(left)">
                                      <p:cBhvr>
                                        <p:cTn id="31" dur="500"/>
                                        <p:tgtEl>
                                          <p:spTgt spid="716038"/>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716037"/>
                                        </p:tgtEl>
                                        <p:attrNameLst>
                                          <p:attrName>style.visibility</p:attrName>
                                        </p:attrNameLst>
                                      </p:cBhvr>
                                      <p:to>
                                        <p:strVal val="visible"/>
                                      </p:to>
                                    </p:set>
                                    <p:animEffect transition="in" filter="wipe(down)">
                                      <p:cBhvr>
                                        <p:cTn id="35" dur="500"/>
                                        <p:tgtEl>
                                          <p:spTgt spid="716037"/>
                                        </p:tgtEl>
                                      </p:cBhvr>
                                    </p:animEffect>
                                  </p:childTnLst>
                                </p:cTn>
                              </p:par>
                            </p:childTnLst>
                          </p:cTn>
                        </p:par>
                        <p:par>
                          <p:cTn id="36" fill="hold">
                            <p:stCondLst>
                              <p:cond delay="4000"/>
                            </p:stCondLst>
                            <p:childTnLst>
                              <p:par>
                                <p:cTn id="37" presetID="22" presetClass="entr" presetSubtype="2" fill="hold" grpId="0" nodeType="afterEffect">
                                  <p:stCondLst>
                                    <p:cond delay="0"/>
                                  </p:stCondLst>
                                  <p:childTnLst>
                                    <p:set>
                                      <p:cBhvr>
                                        <p:cTn id="38" dur="1" fill="hold">
                                          <p:stCondLst>
                                            <p:cond delay="0"/>
                                          </p:stCondLst>
                                        </p:cTn>
                                        <p:tgtEl>
                                          <p:spTgt spid="716036"/>
                                        </p:tgtEl>
                                        <p:attrNameLst>
                                          <p:attrName>style.visibility</p:attrName>
                                        </p:attrNameLst>
                                      </p:cBhvr>
                                      <p:to>
                                        <p:strVal val="visible"/>
                                      </p:to>
                                    </p:set>
                                    <p:animEffect transition="in" filter="wipe(right)">
                                      <p:cBhvr>
                                        <p:cTn id="39" dur="500"/>
                                        <p:tgtEl>
                                          <p:spTgt spid="716036"/>
                                        </p:tgtEl>
                                      </p:cBhvr>
                                    </p:animEffect>
                                  </p:childTnLst>
                                </p:cTn>
                              </p:par>
                            </p:childTnLst>
                          </p:cTn>
                        </p:par>
                        <p:par>
                          <p:cTn id="40" fill="hold">
                            <p:stCondLst>
                              <p:cond delay="4500"/>
                            </p:stCondLst>
                            <p:childTnLst>
                              <p:par>
                                <p:cTn id="41" presetID="22" presetClass="entr" presetSubtype="2" fill="hold" grpId="0" nodeType="afterEffect">
                                  <p:stCondLst>
                                    <p:cond delay="0"/>
                                  </p:stCondLst>
                                  <p:childTnLst>
                                    <p:set>
                                      <p:cBhvr>
                                        <p:cTn id="42" dur="1" fill="hold">
                                          <p:stCondLst>
                                            <p:cond delay="0"/>
                                          </p:stCondLst>
                                        </p:cTn>
                                        <p:tgtEl>
                                          <p:spTgt spid="716032"/>
                                        </p:tgtEl>
                                        <p:attrNameLst>
                                          <p:attrName>style.visibility</p:attrName>
                                        </p:attrNameLst>
                                      </p:cBhvr>
                                      <p:to>
                                        <p:strVal val="visible"/>
                                      </p:to>
                                    </p:set>
                                    <p:animEffect transition="in" filter="wipe(right)">
                                      <p:cBhvr>
                                        <p:cTn id="43" dur="500"/>
                                        <p:tgtEl>
                                          <p:spTgt spid="716032"/>
                                        </p:tgtEl>
                                      </p:cBhvr>
                                    </p:animEffect>
                                  </p:childTnLst>
                                </p:cTn>
                              </p:par>
                            </p:childTnLst>
                          </p:cTn>
                        </p:par>
                        <p:par>
                          <p:cTn id="44" fill="hold">
                            <p:stCondLst>
                              <p:cond delay="5000"/>
                            </p:stCondLst>
                            <p:childTnLst>
                              <p:par>
                                <p:cTn id="45" presetID="9" presetClass="entr" presetSubtype="0" fill="hold" nodeType="afterEffect">
                                  <p:stCondLst>
                                    <p:cond delay="0"/>
                                  </p:stCondLst>
                                  <p:childTnLst>
                                    <p:set>
                                      <p:cBhvr>
                                        <p:cTn id="46" dur="1" fill="hold">
                                          <p:stCondLst>
                                            <p:cond delay="0"/>
                                          </p:stCondLst>
                                        </p:cTn>
                                        <p:tgtEl>
                                          <p:spTgt spid="716074"/>
                                        </p:tgtEl>
                                        <p:attrNameLst>
                                          <p:attrName>style.visibility</p:attrName>
                                        </p:attrNameLst>
                                      </p:cBhvr>
                                      <p:to>
                                        <p:strVal val="visible"/>
                                      </p:to>
                                    </p:set>
                                    <p:animEffect transition="in" filter="dissolve">
                                      <p:cBhvr>
                                        <p:cTn id="47" dur="500"/>
                                        <p:tgtEl>
                                          <p:spTgt spid="716074"/>
                                        </p:tgtEl>
                                      </p:cBhvr>
                                    </p:animEffect>
                                  </p:childTnLst>
                                </p:cTn>
                              </p:par>
                            </p:childTnLst>
                          </p:cTn>
                        </p:par>
                        <p:par>
                          <p:cTn id="48" fill="hold">
                            <p:stCondLst>
                              <p:cond delay="5500"/>
                            </p:stCondLst>
                            <p:childTnLst>
                              <p:par>
                                <p:cTn id="49" presetID="22" presetClass="entr" presetSubtype="2" fill="hold" grpId="0" nodeType="afterEffect">
                                  <p:stCondLst>
                                    <p:cond delay="0"/>
                                  </p:stCondLst>
                                  <p:childTnLst>
                                    <p:set>
                                      <p:cBhvr>
                                        <p:cTn id="50" dur="1" fill="hold">
                                          <p:stCondLst>
                                            <p:cond delay="0"/>
                                          </p:stCondLst>
                                        </p:cTn>
                                        <p:tgtEl>
                                          <p:spTgt spid="716043"/>
                                        </p:tgtEl>
                                        <p:attrNameLst>
                                          <p:attrName>style.visibility</p:attrName>
                                        </p:attrNameLst>
                                      </p:cBhvr>
                                      <p:to>
                                        <p:strVal val="visible"/>
                                      </p:to>
                                    </p:set>
                                    <p:animEffect transition="in" filter="wipe(right)">
                                      <p:cBhvr>
                                        <p:cTn id="51" dur="500"/>
                                        <p:tgtEl>
                                          <p:spTgt spid="716043"/>
                                        </p:tgtEl>
                                      </p:cBhvr>
                                    </p:animEffect>
                                  </p:childTnLst>
                                </p:cTn>
                              </p:par>
                            </p:childTnLst>
                          </p:cTn>
                        </p:par>
                        <p:par>
                          <p:cTn id="52" fill="hold">
                            <p:stCondLst>
                              <p:cond delay="6000"/>
                            </p:stCondLst>
                            <p:childTnLst>
                              <p:par>
                                <p:cTn id="53" presetID="1" presetClass="entr" presetSubtype="0" fill="hold" grpId="0" nodeType="afterEffect">
                                  <p:stCondLst>
                                    <p:cond delay="0"/>
                                  </p:stCondLst>
                                  <p:childTnLst>
                                    <p:set>
                                      <p:cBhvr>
                                        <p:cTn id="54" dur="1" fill="hold">
                                          <p:stCondLst>
                                            <p:cond delay="499"/>
                                          </p:stCondLst>
                                        </p:cTn>
                                        <p:tgtEl>
                                          <p:spTgt spid="7160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16040"/>
                                        </p:tgtEl>
                                        <p:attrNameLst>
                                          <p:attrName>style.visibility</p:attrName>
                                        </p:attrNameLst>
                                      </p:cBhvr>
                                      <p:to>
                                        <p:strVal val="visible"/>
                                      </p:to>
                                    </p:set>
                                  </p:childTnLst>
                                </p:cTn>
                              </p:par>
                            </p:childTnLst>
                          </p:cTn>
                        </p:par>
                        <p:par>
                          <p:cTn id="59" fill="hold">
                            <p:stCondLst>
                              <p:cond delay="500"/>
                            </p:stCondLst>
                            <p:childTnLst>
                              <p:par>
                                <p:cTn id="60" presetID="22" presetClass="entr" presetSubtype="4" fill="hold" grpId="0" nodeType="afterEffect">
                                  <p:stCondLst>
                                    <p:cond delay="0"/>
                                  </p:stCondLst>
                                  <p:childTnLst>
                                    <p:set>
                                      <p:cBhvr>
                                        <p:cTn id="61" dur="1" fill="hold">
                                          <p:stCondLst>
                                            <p:cond delay="0"/>
                                          </p:stCondLst>
                                        </p:cTn>
                                        <p:tgtEl>
                                          <p:spTgt spid="716045"/>
                                        </p:tgtEl>
                                        <p:attrNameLst>
                                          <p:attrName>style.visibility</p:attrName>
                                        </p:attrNameLst>
                                      </p:cBhvr>
                                      <p:to>
                                        <p:strVal val="visible"/>
                                      </p:to>
                                    </p:set>
                                    <p:animEffect transition="in" filter="wipe(down)">
                                      <p:cBhvr>
                                        <p:cTn id="62" dur="500"/>
                                        <p:tgtEl>
                                          <p:spTgt spid="716045"/>
                                        </p:tgtEl>
                                      </p:cBhvr>
                                    </p:animEffect>
                                  </p:childTnLst>
                                </p:cTn>
                              </p:par>
                            </p:childTnLst>
                          </p:cTn>
                        </p:par>
                        <p:par>
                          <p:cTn id="63" fill="hold">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716044"/>
                                        </p:tgtEl>
                                        <p:attrNameLst>
                                          <p:attrName>style.visibility</p:attrName>
                                        </p:attrNameLst>
                                      </p:cBhvr>
                                      <p:to>
                                        <p:strVal val="visible"/>
                                      </p:to>
                                    </p:set>
                                    <p:animEffect transition="in" filter="wipe(up)">
                                      <p:cBhvr>
                                        <p:cTn id="66" dur="500"/>
                                        <p:tgtEl>
                                          <p:spTgt spid="716044"/>
                                        </p:tgtEl>
                                      </p:cBhvr>
                                    </p:animEffect>
                                  </p:childTnLst>
                                </p:cTn>
                              </p:par>
                            </p:childTnLst>
                          </p:cTn>
                        </p:par>
                        <p:par>
                          <p:cTn id="67" fill="hold">
                            <p:stCondLst>
                              <p:cond delay="1500"/>
                            </p:stCondLst>
                            <p:childTnLst>
                              <p:par>
                                <p:cTn id="68" presetID="1" presetClass="entr" presetSubtype="0" fill="hold" grpId="0" nodeType="afterEffect">
                                  <p:stCondLst>
                                    <p:cond delay="0"/>
                                  </p:stCondLst>
                                  <p:childTnLst>
                                    <p:set>
                                      <p:cBhvr>
                                        <p:cTn id="69" dur="1" fill="hold">
                                          <p:stCondLst>
                                            <p:cond delay="499"/>
                                          </p:stCondLst>
                                        </p:cTn>
                                        <p:tgtEl>
                                          <p:spTgt spid="716041"/>
                                        </p:tgtEl>
                                        <p:attrNameLst>
                                          <p:attrName>style.visibility</p:attrName>
                                        </p:attrNameLst>
                                      </p:cBhvr>
                                      <p:to>
                                        <p:strVal val="visible"/>
                                      </p:to>
                                    </p:set>
                                  </p:childTnLst>
                                </p:cTn>
                              </p:par>
                            </p:childTnLst>
                          </p:cTn>
                        </p:par>
                        <p:par>
                          <p:cTn id="70" fill="hold">
                            <p:stCondLst>
                              <p:cond delay="2000"/>
                            </p:stCondLst>
                            <p:childTnLst>
                              <p:par>
                                <p:cTn id="71" presetID="1" presetClass="entr" presetSubtype="0" fill="hold" nodeType="afterEffect">
                                  <p:stCondLst>
                                    <p:cond delay="0"/>
                                  </p:stCondLst>
                                  <p:childTnLst>
                                    <p:set>
                                      <p:cBhvr>
                                        <p:cTn id="72" dur="1" fill="hold">
                                          <p:stCondLst>
                                            <p:cond delay="499"/>
                                          </p:stCondLst>
                                        </p:cTn>
                                        <p:tgtEl>
                                          <p:spTgt spid="71607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716016"/>
                                        </p:tgtEl>
                                        <p:attrNameLst>
                                          <p:attrName>style.visibility</p:attrName>
                                        </p:attrNameLst>
                                      </p:cBhvr>
                                      <p:to>
                                        <p:strVal val="visible"/>
                                      </p:to>
                                    </p:set>
                                    <p:anim calcmode="lin" valueType="num">
                                      <p:cBhvr additive="base">
                                        <p:cTn id="77" dur="2000" fill="hold"/>
                                        <p:tgtEl>
                                          <p:spTgt spid="716016"/>
                                        </p:tgtEl>
                                        <p:attrNameLst>
                                          <p:attrName>ppt_x</p:attrName>
                                        </p:attrNameLst>
                                      </p:cBhvr>
                                      <p:tavLst>
                                        <p:tav tm="0">
                                          <p:val>
                                            <p:strVal val="#ppt_x"/>
                                          </p:val>
                                        </p:tav>
                                        <p:tav tm="100000">
                                          <p:val>
                                            <p:strVal val="#ppt_x"/>
                                          </p:val>
                                        </p:tav>
                                      </p:tavLst>
                                    </p:anim>
                                    <p:anim calcmode="lin" valueType="num">
                                      <p:cBhvr additive="base">
                                        <p:cTn id="78" dur="2000" fill="hold"/>
                                        <p:tgtEl>
                                          <p:spTgt spid="7160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018" grpId="0" animBg="1" autoUpdateAnimBg="0"/>
      <p:bldP spid="716021" grpId="0" animBg="1"/>
      <p:bldP spid="716032" grpId="0" animBg="1"/>
      <p:bldP spid="716033" grpId="0" animBg="1"/>
      <p:bldP spid="716034" grpId="0" animBg="1"/>
      <p:bldP spid="716035" grpId="0" animBg="1"/>
      <p:bldP spid="716036" grpId="0" animBg="1"/>
      <p:bldP spid="716037" grpId="0" animBg="1"/>
      <p:bldP spid="716038" grpId="0" animBg="1"/>
      <p:bldP spid="716039" grpId="0" animBg="1" autoUpdateAnimBg="0"/>
      <p:bldP spid="716040" grpId="0" animBg="1" autoUpdateAnimBg="0"/>
      <p:bldP spid="716041" grpId="0" animBg="1" autoUpdateAnimBg="0"/>
      <p:bldP spid="716042" grpId="0" animBg="1"/>
      <p:bldP spid="716043" grpId="0" animBg="1"/>
      <p:bldP spid="716044" grpId="0" animBg="1"/>
      <p:bldP spid="716045" grpId="0" animBg="1"/>
      <p:bldP spid="7160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type="title"/>
            <p:custDataLst>
              <p:tags r:id="rId1"/>
            </p:custDataLst>
          </p:nvPr>
        </p:nvSpPr>
        <p:spPr/>
        <p:txBody>
          <a:bodyPr/>
          <a:lstStyle/>
          <a:p>
            <a:pPr marL="460375" indent="-460375"/>
            <a:r>
              <a:rPr lang="fr-FR" b="1">
                <a:solidFill>
                  <a:srgbClr val="000000"/>
                </a:solidFill>
              </a:rPr>
              <a:t>3. Configuration des zones DNS</a:t>
            </a:r>
            <a:endParaRPr lang="en-US" b="1">
              <a:solidFill>
                <a:srgbClr val="000000"/>
              </a:solidFill>
            </a:endParaRPr>
          </a:p>
        </p:txBody>
      </p:sp>
      <p:sp>
        <p:nvSpPr>
          <p:cNvPr id="695299" name="Rectangle 3"/>
          <p:cNvSpPr>
            <a:spLocks noGrp="1" noChangeArrowheads="1"/>
          </p:cNvSpPr>
          <p:nvPr>
            <p:ph sz="quarter" idx="1"/>
            <p:custDataLst>
              <p:tags r:id="rId2"/>
            </p:custDataLst>
          </p:nvPr>
        </p:nvSpPr>
        <p:spPr/>
        <p:txBody>
          <a:bodyPr/>
          <a:lstStyle/>
          <a:p>
            <a:pPr>
              <a:buClrTx/>
              <a:buFont typeface="Symbol" pitchFamily="18" charset="2"/>
              <a:buChar char="®"/>
            </a:pPr>
            <a:r>
              <a:rPr lang="en-GB" dirty="0" err="1">
                <a:solidFill>
                  <a:srgbClr val="000000"/>
                </a:solidFill>
              </a:rPr>
              <a:t>Que</a:t>
            </a:r>
            <a:r>
              <a:rPr lang="en-GB" dirty="0">
                <a:solidFill>
                  <a:srgbClr val="000000"/>
                </a:solidFill>
              </a:rPr>
              <a:t> </a:t>
            </a:r>
            <a:r>
              <a:rPr lang="en-GB" dirty="0" err="1">
                <a:solidFill>
                  <a:srgbClr val="000000"/>
                </a:solidFill>
              </a:rPr>
              <a:t>sont</a:t>
            </a:r>
            <a:r>
              <a:rPr lang="en-GB" dirty="0">
                <a:solidFill>
                  <a:srgbClr val="000000"/>
                </a:solidFill>
              </a:rPr>
              <a:t> les </a:t>
            </a:r>
            <a:r>
              <a:rPr lang="en-GB" dirty="0" err="1">
                <a:solidFill>
                  <a:srgbClr val="000000"/>
                </a:solidFill>
              </a:rPr>
              <a:t>enregistrements</a:t>
            </a:r>
            <a:r>
              <a:rPr lang="en-GB" dirty="0">
                <a:solidFill>
                  <a:srgbClr val="000000"/>
                </a:solidFill>
              </a:rPr>
              <a:t> de </a:t>
            </a:r>
            <a:r>
              <a:rPr lang="en-GB" dirty="0" err="1">
                <a:solidFill>
                  <a:srgbClr val="000000"/>
                </a:solidFill>
              </a:rPr>
              <a:t>ressources</a:t>
            </a:r>
            <a:r>
              <a:rPr lang="en-GB" dirty="0">
                <a:solidFill>
                  <a:srgbClr val="000000"/>
                </a:solidFill>
              </a:rPr>
              <a:t> et les </a:t>
            </a:r>
            <a:br>
              <a:rPr lang="en-GB" dirty="0">
                <a:solidFill>
                  <a:srgbClr val="000000"/>
                </a:solidFill>
              </a:rPr>
            </a:br>
            <a:r>
              <a:rPr lang="en-GB" dirty="0">
                <a:solidFill>
                  <a:srgbClr val="000000"/>
                </a:solidFill>
              </a:rPr>
              <a:t>types </a:t>
            </a:r>
            <a:r>
              <a:rPr lang="en-GB" dirty="0" err="1">
                <a:solidFill>
                  <a:srgbClr val="000000"/>
                </a:solidFill>
              </a:rPr>
              <a:t>d'enregistrements</a:t>
            </a:r>
            <a:r>
              <a:rPr lang="en-GB" dirty="0">
                <a:solidFill>
                  <a:srgbClr val="000000"/>
                </a:solidFill>
              </a:rPr>
              <a:t> ?</a:t>
            </a:r>
            <a:endParaRPr lang="en-US" dirty="0"/>
          </a:p>
          <a:p>
            <a:pPr>
              <a:buClrTx/>
              <a:buFont typeface="Symbol" pitchFamily="18" charset="2"/>
              <a:buChar char="®"/>
            </a:pPr>
            <a:r>
              <a:rPr lang="en-GB" dirty="0" err="1">
                <a:solidFill>
                  <a:srgbClr val="000000"/>
                </a:solidFill>
              </a:rPr>
              <a:t>Qu'est-ce</a:t>
            </a:r>
            <a:r>
              <a:rPr lang="en-GB" dirty="0">
                <a:solidFill>
                  <a:srgbClr val="000000"/>
                </a:solidFill>
              </a:rPr>
              <a:t> </a:t>
            </a:r>
            <a:r>
              <a:rPr lang="en-GB" dirty="0" err="1">
                <a:solidFill>
                  <a:srgbClr val="000000"/>
                </a:solidFill>
              </a:rPr>
              <a:t>qu'une</a:t>
            </a:r>
            <a:r>
              <a:rPr lang="en-GB" dirty="0">
                <a:solidFill>
                  <a:srgbClr val="000000"/>
                </a:solidFill>
              </a:rPr>
              <a:t> zone DNS ?</a:t>
            </a:r>
            <a:endParaRPr lang="en-US" dirty="0"/>
          </a:p>
          <a:p>
            <a:pPr>
              <a:buClrTx/>
              <a:buFont typeface="Symbol" pitchFamily="18" charset="2"/>
              <a:buChar char="®"/>
            </a:pPr>
            <a:r>
              <a:rPr lang="en-GB" dirty="0" err="1">
                <a:solidFill>
                  <a:srgbClr val="000000"/>
                </a:solidFill>
              </a:rPr>
              <a:t>Quels</a:t>
            </a:r>
            <a:r>
              <a:rPr lang="en-GB" dirty="0">
                <a:solidFill>
                  <a:srgbClr val="000000"/>
                </a:solidFill>
              </a:rPr>
              <a:t> </a:t>
            </a:r>
            <a:r>
              <a:rPr lang="en-GB" dirty="0" err="1">
                <a:solidFill>
                  <a:srgbClr val="000000"/>
                </a:solidFill>
              </a:rPr>
              <a:t>sont</a:t>
            </a:r>
            <a:r>
              <a:rPr lang="en-GB" dirty="0">
                <a:solidFill>
                  <a:srgbClr val="000000"/>
                </a:solidFill>
              </a:rPr>
              <a:t> les types de zones DNS ?</a:t>
            </a:r>
          </a:p>
          <a:p>
            <a:pPr>
              <a:buClrTx/>
              <a:buFont typeface="Symbol" pitchFamily="18" charset="2"/>
              <a:buChar char="®"/>
            </a:pPr>
            <a:r>
              <a:rPr lang="en-US" dirty="0" err="1">
                <a:solidFill>
                  <a:srgbClr val="000000"/>
                </a:solidFill>
              </a:rPr>
              <a:t>C’est</a:t>
            </a:r>
            <a:r>
              <a:rPr lang="en-US" dirty="0">
                <a:solidFill>
                  <a:srgbClr val="000000"/>
                </a:solidFill>
              </a:rPr>
              <a:t> quoi </a:t>
            </a:r>
            <a:r>
              <a:rPr lang="en-US" dirty="0" err="1">
                <a:solidFill>
                  <a:srgbClr val="000000"/>
                </a:solidFill>
              </a:rPr>
              <a:t>une</a:t>
            </a:r>
            <a:r>
              <a:rPr lang="en-US" dirty="0">
                <a:solidFill>
                  <a:srgbClr val="000000"/>
                </a:solidFill>
              </a:rPr>
              <a:t> zone stub?</a:t>
            </a:r>
          </a:p>
          <a:p>
            <a:pPr>
              <a:buClrTx/>
              <a:buFont typeface="Symbol" pitchFamily="18" charset="2"/>
              <a:buChar char="®"/>
            </a:pPr>
            <a:r>
              <a:rPr lang="fr-FR" dirty="0">
                <a:solidFill>
                  <a:srgbClr val="000000"/>
                </a:solidFill>
              </a:rPr>
              <a:t>Qu'est-ce qu'une zone DNS intégrée à </a:t>
            </a:r>
            <a:br>
              <a:rPr lang="fr-FR" dirty="0">
                <a:solidFill>
                  <a:srgbClr val="000000"/>
                </a:solidFill>
              </a:rPr>
            </a:br>
            <a:r>
              <a:rPr lang="fr-FR" dirty="0">
                <a:solidFill>
                  <a:srgbClr val="000000"/>
                </a:solidFill>
              </a:rPr>
              <a:t>Active Directory ?</a:t>
            </a:r>
            <a:endParaRPr lang="en-US" dirty="0">
              <a:solidFill>
                <a:srgbClr val="000000"/>
              </a:solidFill>
            </a:endParaRPr>
          </a:p>
          <a:p>
            <a:pPr>
              <a:buClrTx/>
              <a:buFont typeface="Symbol" pitchFamily="18" charset="2"/>
              <a:buChar char="®"/>
            </a:pPr>
            <a:r>
              <a:rPr lang="en-GB" dirty="0" err="1">
                <a:solidFill>
                  <a:srgbClr val="000000"/>
                </a:solidFill>
              </a:rPr>
              <a:t>Que</a:t>
            </a:r>
            <a:r>
              <a:rPr lang="en-GB" dirty="0">
                <a:solidFill>
                  <a:srgbClr val="000000"/>
                </a:solidFill>
              </a:rPr>
              <a:t> </a:t>
            </a:r>
            <a:r>
              <a:rPr lang="en-GB" dirty="0" err="1">
                <a:solidFill>
                  <a:srgbClr val="000000"/>
                </a:solidFill>
              </a:rPr>
              <a:t>sont</a:t>
            </a:r>
            <a:r>
              <a:rPr lang="en-GB" dirty="0">
                <a:solidFill>
                  <a:srgbClr val="000000"/>
                </a:solidFill>
              </a:rPr>
              <a:t> les zones de </a:t>
            </a:r>
            <a:r>
              <a:rPr lang="en-GB" dirty="0" err="1">
                <a:solidFill>
                  <a:srgbClr val="000000"/>
                </a:solidFill>
              </a:rPr>
              <a:t>recherche</a:t>
            </a:r>
            <a:r>
              <a:rPr lang="en-GB" dirty="0">
                <a:solidFill>
                  <a:srgbClr val="000000"/>
                </a:solidFill>
              </a:rPr>
              <a:t> </a:t>
            </a:r>
            <a:r>
              <a:rPr lang="en-GB" dirty="0" err="1">
                <a:solidFill>
                  <a:srgbClr val="000000"/>
                </a:solidFill>
              </a:rPr>
              <a:t>directe</a:t>
            </a:r>
            <a:r>
              <a:rPr lang="en-GB" dirty="0">
                <a:solidFill>
                  <a:srgbClr val="000000"/>
                </a:solidFill>
              </a:rPr>
              <a:t> et </a:t>
            </a:r>
            <a:r>
              <a:rPr lang="en-GB" dirty="0" err="1">
                <a:solidFill>
                  <a:srgbClr val="000000"/>
                </a:solidFill>
              </a:rPr>
              <a:t>inversée</a:t>
            </a:r>
            <a:r>
              <a:rPr lang="en-GB" dirty="0">
                <a:solidFill>
                  <a:srgbClr val="000000"/>
                </a:solidFill>
              </a:rPr>
              <a:t> ?</a:t>
            </a:r>
          </a:p>
          <a:p>
            <a:pPr>
              <a:buClrTx/>
              <a:buFont typeface="Symbol" pitchFamily="18" charset="2"/>
              <a:buChar char="®"/>
            </a:pPr>
            <a:r>
              <a:rPr lang="fr-FR" dirty="0">
                <a:solidFill>
                  <a:srgbClr val="000000"/>
                </a:solidFill>
              </a:rPr>
              <a:t>Délégation d'autorité pour les zones</a:t>
            </a:r>
            <a:endParaRPr lang="en-US" dirty="0">
              <a:solidFill>
                <a:srgbClr val="000000"/>
              </a:solidFill>
            </a:endParaRPr>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17</a:t>
            </a:fld>
            <a:endParaRPr kumimoji="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custDataLst>
              <p:tags r:id="rId1"/>
            </p:custDataLst>
          </p:nvPr>
        </p:nvSpPr>
        <p:spPr>
          <a:xfrm>
            <a:off x="301752" y="315684"/>
            <a:ext cx="8534400" cy="758952"/>
          </a:xfrm>
        </p:spPr>
        <p:txBody>
          <a:bodyPr vert="horz" anchor="b">
            <a:normAutofit fontScale="90000"/>
          </a:bodyPr>
          <a:lstStyle/>
          <a:p>
            <a:r>
              <a:rPr lang="en-GB" sz="3000" b="1" err="1">
                <a:solidFill>
                  <a:srgbClr val="C00000"/>
                </a:solidFill>
              </a:rPr>
              <a:t>Que</a:t>
            </a:r>
            <a:r>
              <a:rPr lang="en-GB" sz="3000" b="1">
                <a:solidFill>
                  <a:srgbClr val="C00000"/>
                </a:solidFill>
              </a:rPr>
              <a:t> </a:t>
            </a:r>
            <a:r>
              <a:rPr lang="en-GB" sz="3000" b="1" err="1">
                <a:solidFill>
                  <a:srgbClr val="C00000"/>
                </a:solidFill>
              </a:rPr>
              <a:t>sont</a:t>
            </a:r>
            <a:r>
              <a:rPr lang="en-GB" sz="3000" b="1">
                <a:solidFill>
                  <a:srgbClr val="C00000"/>
                </a:solidFill>
              </a:rPr>
              <a:t> les </a:t>
            </a:r>
            <a:r>
              <a:rPr lang="en-GB" sz="3000" b="1" err="1">
                <a:solidFill>
                  <a:srgbClr val="C00000"/>
                </a:solidFill>
              </a:rPr>
              <a:t>enregistrements</a:t>
            </a:r>
            <a:r>
              <a:rPr lang="en-GB" sz="3000" b="1">
                <a:solidFill>
                  <a:srgbClr val="C00000"/>
                </a:solidFill>
              </a:rPr>
              <a:t> de </a:t>
            </a:r>
            <a:r>
              <a:rPr lang="en-GB" sz="3000" b="1" err="1">
                <a:solidFill>
                  <a:srgbClr val="C00000"/>
                </a:solidFill>
              </a:rPr>
              <a:t>ressources</a:t>
            </a:r>
            <a:r>
              <a:rPr lang="en-GB" sz="3000" b="1">
                <a:solidFill>
                  <a:srgbClr val="C00000"/>
                </a:solidFill>
              </a:rPr>
              <a:t> et les types </a:t>
            </a:r>
            <a:r>
              <a:rPr lang="en-GB" sz="3000" b="1" err="1">
                <a:solidFill>
                  <a:srgbClr val="C00000"/>
                </a:solidFill>
              </a:rPr>
              <a:t>d'enregistrements</a:t>
            </a:r>
            <a:r>
              <a:rPr lang="en-GB" sz="3000" b="1">
                <a:solidFill>
                  <a:srgbClr val="C00000"/>
                </a:solidFill>
              </a:rPr>
              <a:t> ?</a:t>
            </a:r>
            <a:endParaRPr lang="en-US" sz="3000" b="1">
              <a:solidFill>
                <a:srgbClr val="C00000"/>
              </a:solidFill>
            </a:endParaRPr>
          </a:p>
        </p:txBody>
      </p:sp>
      <p:graphicFrame>
        <p:nvGraphicFramePr>
          <p:cNvPr id="823530" name="Group 234"/>
          <p:cNvGraphicFramePr>
            <a:graphicFrameLocks noGrp="1"/>
          </p:cNvGraphicFramePr>
          <p:nvPr/>
        </p:nvGraphicFramePr>
        <p:xfrm>
          <a:off x="391885" y="2917371"/>
          <a:ext cx="8752115" cy="3277475"/>
        </p:xfrm>
        <a:graphic>
          <a:graphicData uri="http://schemas.openxmlformats.org/drawingml/2006/table">
            <a:tbl>
              <a:tblPr/>
              <a:tblGrid>
                <a:gridCol w="2262712">
                  <a:extLst>
                    <a:ext uri="{9D8B030D-6E8A-4147-A177-3AD203B41FA5}">
                      <a16:colId xmlns:a16="http://schemas.microsoft.com/office/drawing/2014/main" val="20000"/>
                    </a:ext>
                  </a:extLst>
                </a:gridCol>
                <a:gridCol w="6489403">
                  <a:extLst>
                    <a:ext uri="{9D8B030D-6E8A-4147-A177-3AD203B41FA5}">
                      <a16:colId xmlns:a16="http://schemas.microsoft.com/office/drawing/2014/main" val="20001"/>
                    </a:ext>
                  </a:extLst>
                </a:gridCol>
              </a:tblGrid>
              <a:tr h="793355">
                <a:tc>
                  <a:txBody>
                    <a:bodyPr/>
                    <a:lstStyle/>
                    <a:p>
                      <a:pPr marL="0" marR="0" lvl="0" indent="0" algn="ctr" defTabSz="914400" rtl="0" eaLnBrk="0" fontAlgn="base" latinLnBrk="0" hangingPunct="0">
                        <a:lnSpc>
                          <a:spcPct val="100000"/>
                        </a:lnSpc>
                        <a:spcBef>
                          <a:spcPts val="0"/>
                        </a:spcBef>
                        <a:spcAft>
                          <a:spcPts val="0"/>
                        </a:spcAft>
                        <a:buClr>
                          <a:srgbClr val="8DACD0"/>
                        </a:buClr>
                        <a:buSzPct val="70000"/>
                        <a:buFont typeface="Wingdings" pitchFamily="2" charset="2"/>
                        <a:buNone/>
                        <a:tabLst>
                          <a:tab pos="1973263" algn="l"/>
                        </a:tabLst>
                      </a:pPr>
                      <a:r>
                        <a:rPr kumimoji="0" lang="en-GB" sz="2400" b="1" i="0" u="none" strike="noStrike" kern="1200" cap="none" normalizeH="0" baseline="0" dirty="0">
                          <a:ln>
                            <a:noFill/>
                          </a:ln>
                          <a:solidFill>
                            <a:srgbClr val="000000"/>
                          </a:solidFill>
                          <a:effectLst/>
                          <a:latin typeface="Arial Narrow" pitchFamily="34" charset="0"/>
                          <a:ea typeface="+mn-ea"/>
                          <a:cs typeface="+mn-cs"/>
                        </a:rPr>
                        <a:t>Type </a:t>
                      </a:r>
                      <a:r>
                        <a:rPr kumimoji="0" lang="en-GB" sz="2400" b="1" i="0" u="none" strike="noStrike" kern="1200" cap="none" normalizeH="0" baseline="0" dirty="0" err="1">
                          <a:ln>
                            <a:noFill/>
                          </a:ln>
                          <a:solidFill>
                            <a:srgbClr val="000000"/>
                          </a:solidFill>
                          <a:effectLst/>
                          <a:latin typeface="Arial Narrow" pitchFamily="34" charset="0"/>
                          <a:ea typeface="+mn-ea"/>
                          <a:cs typeface="+mn-cs"/>
                        </a:rPr>
                        <a:t>d'enregistrement</a:t>
                      </a:r>
                      <a:endParaRPr kumimoji="0" lang="en-US" sz="24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2400" b="1" i="0" u="none" strike="noStrike" kern="1200" cap="none" normalizeH="0" baseline="0" dirty="0">
                          <a:ln>
                            <a:noFill/>
                          </a:ln>
                          <a:solidFill>
                            <a:srgbClr val="000000"/>
                          </a:solidFill>
                          <a:effectLst/>
                          <a:latin typeface="Arial Narrow" pitchFamily="34" charset="0"/>
                          <a:ea typeface="+mn-ea"/>
                          <a:cs typeface="+mn-cs"/>
                        </a:rPr>
                        <a:t>Description</a:t>
                      </a:r>
                      <a:endParaRPr kumimoji="0" lang="en-US" sz="24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380149">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a:ln>
                            <a:noFill/>
                          </a:ln>
                          <a:solidFill>
                            <a:srgbClr val="000000"/>
                          </a:solidFill>
                          <a:effectLst/>
                          <a:latin typeface="Arial Narrow" pitchFamily="34" charset="0"/>
                          <a:ea typeface="+mn-ea"/>
                          <a:cs typeface="+mn-cs"/>
                        </a:rPr>
                        <a:t>A</a:t>
                      </a:r>
                      <a:endParaRPr kumimoji="0" lang="en-US" sz="2300" b="1" i="0" u="none" strike="noStrike" kern="1200" cap="none" normalizeH="0" baseline="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en-GB" sz="2300" b="1" i="0" u="none" strike="noStrike" kern="1200" cap="none" normalizeH="0" baseline="0" dirty="0" err="1">
                          <a:ln>
                            <a:noFill/>
                          </a:ln>
                          <a:solidFill>
                            <a:srgbClr val="000000"/>
                          </a:solidFill>
                          <a:effectLst/>
                          <a:latin typeface="Arial Narrow" pitchFamily="34" charset="0"/>
                          <a:ea typeface="+mn-ea"/>
                          <a:cs typeface="+mn-cs"/>
                        </a:rPr>
                        <a:t>Résout</a:t>
                      </a:r>
                      <a:r>
                        <a:rPr kumimoji="0" lang="en-GB" sz="2300" b="1" i="0" u="none" strike="noStrike" kern="1200" cap="none" normalizeH="0" baseline="0" dirty="0">
                          <a:ln>
                            <a:noFill/>
                          </a:ln>
                          <a:solidFill>
                            <a:srgbClr val="000000"/>
                          </a:solidFill>
                          <a:effectLst/>
                          <a:latin typeface="Arial Narrow" pitchFamily="34" charset="0"/>
                          <a:ea typeface="+mn-ea"/>
                          <a:cs typeface="+mn-cs"/>
                        </a:rPr>
                        <a:t> un nom d'hôte en </a:t>
                      </a:r>
                      <a:r>
                        <a:rPr kumimoji="0" lang="en-GB" sz="2300" b="1" i="0" u="none" strike="noStrike" kern="1200" cap="none" normalizeH="0" baseline="0" dirty="0" err="1">
                          <a:ln>
                            <a:noFill/>
                          </a:ln>
                          <a:solidFill>
                            <a:srgbClr val="000000"/>
                          </a:solidFill>
                          <a:effectLst/>
                          <a:latin typeface="Arial Narrow" pitchFamily="34" charset="0"/>
                          <a:ea typeface="+mn-ea"/>
                          <a:cs typeface="+mn-cs"/>
                        </a:rPr>
                        <a:t>adresse</a:t>
                      </a:r>
                      <a:r>
                        <a:rPr kumimoji="0" lang="en-GB" sz="2300" b="1" i="0" u="none" strike="noStrike" kern="1200" cap="none" normalizeH="0" baseline="0" dirty="0">
                          <a:ln>
                            <a:noFill/>
                          </a:ln>
                          <a:solidFill>
                            <a:srgbClr val="000000"/>
                          </a:solidFill>
                          <a:effectLst/>
                          <a:latin typeface="Arial Narrow" pitchFamily="34" charset="0"/>
                          <a:ea typeface="+mn-ea"/>
                          <a:cs typeface="+mn-cs"/>
                        </a:rPr>
                        <a:t> IP</a:t>
                      </a:r>
                    </a:p>
                    <a:p>
                      <a:pPr marL="177800" marR="0" lvl="0" indent="-3175" algn="l" defTabSz="914400" rtl="0" eaLnBrk="0" fontAlgn="base" latinLnBrk="0" hangingPunct="0">
                        <a:lnSpc>
                          <a:spcPct val="100000"/>
                        </a:lnSpc>
                        <a:spcBef>
                          <a:spcPts val="600"/>
                        </a:spcBef>
                        <a:spcAft>
                          <a:spcPts val="600"/>
                        </a:spcAft>
                        <a:buClr>
                          <a:schemeClr val="accent2"/>
                        </a:buClr>
                        <a:buSzPct val="70000"/>
                        <a:buFont typeface="Wingdings" pitchFamily="2" charset="2"/>
                        <a:buNone/>
                        <a:tabLst/>
                      </a:pPr>
                      <a:r>
                        <a:rPr kumimoji="0" lang="fr-FR" sz="2200" b="1" kern="1200" baseline="0" dirty="0">
                          <a:solidFill>
                            <a:srgbClr val="FF0000"/>
                          </a:solidFill>
                          <a:latin typeface="+mn-lt"/>
                          <a:ea typeface="+mn-ea"/>
                          <a:cs typeface="+mn-cs"/>
                        </a:rPr>
                        <a:t>server1    A     192.168.0.99</a:t>
                      </a:r>
                      <a:endParaRPr kumimoji="0" lang="en-US" sz="2200" b="1" i="0" u="none" strike="noStrike" kern="1200" cap="none" normalizeH="0" baseline="0" dirty="0">
                        <a:ln>
                          <a:noFill/>
                        </a:ln>
                        <a:solidFill>
                          <a:srgbClr val="FF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35131">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a:ln>
                            <a:noFill/>
                          </a:ln>
                          <a:solidFill>
                            <a:srgbClr val="000000"/>
                          </a:solidFill>
                          <a:effectLst/>
                          <a:latin typeface="Arial Narrow" pitchFamily="34" charset="0"/>
                          <a:ea typeface="+mn-ea"/>
                          <a:cs typeface="+mn-cs"/>
                        </a:rPr>
                        <a:t>PTR</a:t>
                      </a:r>
                      <a:endParaRPr kumimoji="0" lang="en-US" sz="2300" b="1" i="0" u="none" strike="noStrike" kern="1200" cap="none" normalizeH="0" baseline="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en-GB" sz="2300" b="1" i="0" u="none" strike="noStrike" kern="1200" cap="none" normalizeH="0" baseline="0" dirty="0" err="1">
                          <a:ln>
                            <a:noFill/>
                          </a:ln>
                          <a:solidFill>
                            <a:srgbClr val="000000"/>
                          </a:solidFill>
                          <a:effectLst/>
                          <a:latin typeface="Arial Narrow" pitchFamily="34" charset="0"/>
                          <a:ea typeface="+mn-ea"/>
                          <a:cs typeface="+mn-cs"/>
                        </a:rPr>
                        <a:t>Résout</a:t>
                      </a:r>
                      <a:r>
                        <a:rPr kumimoji="0" lang="en-GB" sz="2300" b="1" i="0" u="none" strike="noStrike" kern="1200" cap="none" normalizeH="0" baseline="0" dirty="0">
                          <a:ln>
                            <a:noFill/>
                          </a:ln>
                          <a:solidFill>
                            <a:srgbClr val="000000"/>
                          </a:solidFill>
                          <a:effectLst/>
                          <a:latin typeface="Arial Narrow" pitchFamily="34" charset="0"/>
                          <a:ea typeface="+mn-ea"/>
                          <a:cs typeface="+mn-cs"/>
                        </a:rPr>
                        <a:t> </a:t>
                      </a:r>
                      <a:r>
                        <a:rPr kumimoji="0" lang="en-GB" sz="2300" b="1" i="0" u="none" strike="noStrike" kern="1200" cap="none" normalizeH="0" baseline="0" dirty="0" err="1">
                          <a:ln>
                            <a:noFill/>
                          </a:ln>
                          <a:solidFill>
                            <a:srgbClr val="000000"/>
                          </a:solidFill>
                          <a:effectLst/>
                          <a:latin typeface="Arial Narrow" pitchFamily="34" charset="0"/>
                          <a:ea typeface="+mn-ea"/>
                          <a:cs typeface="+mn-cs"/>
                        </a:rPr>
                        <a:t>une</a:t>
                      </a:r>
                      <a:r>
                        <a:rPr kumimoji="0" lang="en-GB" sz="2300" b="1" i="0" u="none" strike="noStrike" kern="1200" cap="none" normalizeH="0" baseline="0" dirty="0">
                          <a:ln>
                            <a:noFill/>
                          </a:ln>
                          <a:solidFill>
                            <a:srgbClr val="000000"/>
                          </a:solidFill>
                          <a:effectLst/>
                          <a:latin typeface="Arial Narrow" pitchFamily="34" charset="0"/>
                          <a:ea typeface="+mn-ea"/>
                          <a:cs typeface="+mn-cs"/>
                        </a:rPr>
                        <a:t> </a:t>
                      </a:r>
                      <a:r>
                        <a:rPr kumimoji="0" lang="en-GB" sz="2300" b="1" i="0" u="none" strike="noStrike" kern="1200" cap="none" normalizeH="0" baseline="0" dirty="0" err="1">
                          <a:ln>
                            <a:noFill/>
                          </a:ln>
                          <a:solidFill>
                            <a:srgbClr val="000000"/>
                          </a:solidFill>
                          <a:effectLst/>
                          <a:latin typeface="Arial Narrow" pitchFamily="34" charset="0"/>
                          <a:ea typeface="+mn-ea"/>
                          <a:cs typeface="+mn-cs"/>
                        </a:rPr>
                        <a:t>adresse</a:t>
                      </a:r>
                      <a:r>
                        <a:rPr kumimoji="0" lang="en-GB" sz="2300" b="1" i="0" u="none" strike="noStrike" kern="1200" cap="none" normalizeH="0" baseline="0" dirty="0">
                          <a:ln>
                            <a:noFill/>
                          </a:ln>
                          <a:solidFill>
                            <a:srgbClr val="000000"/>
                          </a:solidFill>
                          <a:effectLst/>
                          <a:latin typeface="Arial Narrow" pitchFamily="34" charset="0"/>
                          <a:ea typeface="+mn-ea"/>
                          <a:cs typeface="+mn-cs"/>
                        </a:rPr>
                        <a:t> IP en nom d'hôte</a:t>
                      </a:r>
                    </a:p>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fr-FR" sz="2200" b="1" kern="1200" baseline="0" dirty="0">
                          <a:solidFill>
                            <a:srgbClr val="FF0000"/>
                          </a:solidFill>
                          <a:latin typeface="+mn-lt"/>
                          <a:ea typeface="+mn-ea"/>
                          <a:cs typeface="+mn-cs"/>
                        </a:rPr>
                        <a:t>99         PTR        server1.bts.com</a:t>
                      </a:r>
                      <a:endParaRPr kumimoji="0" lang="en-US" sz="22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35131">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dirty="0">
                          <a:ln>
                            <a:noFill/>
                          </a:ln>
                          <a:solidFill>
                            <a:srgbClr val="000000"/>
                          </a:solidFill>
                          <a:effectLst/>
                          <a:latin typeface="Arial Narrow" pitchFamily="34" charset="0"/>
                          <a:ea typeface="+mn-ea"/>
                          <a:cs typeface="+mn-cs"/>
                        </a:rPr>
                        <a:t>SRV</a:t>
                      </a:r>
                      <a:endParaRPr kumimoji="0" lang="en-US" sz="23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en-GB" sz="2300" b="1" i="0" u="none" strike="noStrike" kern="1200" cap="none" normalizeH="0" baseline="0" dirty="0" err="1">
                          <a:ln>
                            <a:noFill/>
                          </a:ln>
                          <a:solidFill>
                            <a:srgbClr val="000000"/>
                          </a:solidFill>
                          <a:effectLst/>
                          <a:latin typeface="Arial Narrow" pitchFamily="34" charset="0"/>
                          <a:ea typeface="+mn-ea"/>
                          <a:cs typeface="+mn-cs"/>
                        </a:rPr>
                        <a:t>Résout</a:t>
                      </a:r>
                      <a:r>
                        <a:rPr kumimoji="0" lang="en-GB" sz="2300" b="1" i="0" u="none" strike="noStrike" kern="1200" cap="none" normalizeH="0" baseline="0" dirty="0">
                          <a:ln>
                            <a:noFill/>
                          </a:ln>
                          <a:solidFill>
                            <a:srgbClr val="000000"/>
                          </a:solidFill>
                          <a:effectLst/>
                          <a:latin typeface="Arial Narrow" pitchFamily="34" charset="0"/>
                          <a:ea typeface="+mn-ea"/>
                          <a:cs typeface="+mn-cs"/>
                        </a:rPr>
                        <a:t> les </a:t>
                      </a:r>
                      <a:r>
                        <a:rPr kumimoji="0" lang="en-GB" sz="2300" b="1" i="0" u="none" strike="noStrike" kern="1200" cap="none" normalizeH="0" baseline="0" dirty="0" err="1">
                          <a:ln>
                            <a:noFill/>
                          </a:ln>
                          <a:solidFill>
                            <a:srgbClr val="000000"/>
                          </a:solidFill>
                          <a:effectLst/>
                          <a:latin typeface="Arial Narrow" pitchFamily="34" charset="0"/>
                          <a:ea typeface="+mn-ea"/>
                          <a:cs typeface="+mn-cs"/>
                        </a:rPr>
                        <a:t>noms</a:t>
                      </a:r>
                      <a:r>
                        <a:rPr kumimoji="0" lang="en-GB" sz="2300" b="1" i="0" u="none" strike="noStrike" kern="1200" cap="none" normalizeH="0" baseline="0" dirty="0">
                          <a:ln>
                            <a:noFill/>
                          </a:ln>
                          <a:solidFill>
                            <a:srgbClr val="000000"/>
                          </a:solidFill>
                          <a:effectLst/>
                          <a:latin typeface="Arial Narrow" pitchFamily="34" charset="0"/>
                          <a:ea typeface="+mn-ea"/>
                          <a:cs typeface="+mn-cs"/>
                        </a:rPr>
                        <a:t> des </a:t>
                      </a:r>
                      <a:r>
                        <a:rPr kumimoji="0" lang="en-GB" sz="2300" b="1" i="0" u="none" strike="noStrike" kern="1200" cap="none" normalizeH="0" baseline="0" dirty="0" err="1">
                          <a:ln>
                            <a:noFill/>
                          </a:ln>
                          <a:solidFill>
                            <a:srgbClr val="000000"/>
                          </a:solidFill>
                          <a:effectLst/>
                          <a:latin typeface="Arial Narrow" pitchFamily="34" charset="0"/>
                          <a:ea typeface="+mn-ea"/>
                          <a:cs typeface="+mn-cs"/>
                        </a:rPr>
                        <a:t>serveurs</a:t>
                      </a:r>
                      <a:r>
                        <a:rPr kumimoji="0" lang="en-GB" sz="2300" b="1" i="0" u="none" strike="noStrike" kern="1200" cap="none" normalizeH="0" baseline="0" dirty="0">
                          <a:ln>
                            <a:noFill/>
                          </a:ln>
                          <a:solidFill>
                            <a:srgbClr val="000000"/>
                          </a:solidFill>
                          <a:effectLst/>
                          <a:latin typeface="Arial Narrow" pitchFamily="34" charset="0"/>
                          <a:ea typeface="+mn-ea"/>
                          <a:cs typeface="+mn-cs"/>
                        </a:rPr>
                        <a:t> qui </a:t>
                      </a:r>
                      <a:r>
                        <a:rPr kumimoji="0" lang="en-GB" sz="2300" b="1" i="0" u="none" strike="noStrike" kern="1200" cap="none" normalizeH="0" baseline="0" dirty="0" err="1">
                          <a:ln>
                            <a:noFill/>
                          </a:ln>
                          <a:solidFill>
                            <a:srgbClr val="000000"/>
                          </a:solidFill>
                          <a:effectLst/>
                          <a:latin typeface="Arial Narrow" pitchFamily="34" charset="0"/>
                          <a:ea typeface="+mn-ea"/>
                          <a:cs typeface="+mn-cs"/>
                        </a:rPr>
                        <a:t>fournissent</a:t>
                      </a:r>
                      <a:r>
                        <a:rPr kumimoji="0" lang="en-GB" sz="2300" b="1" i="0" u="none" strike="noStrike" kern="1200" cap="none" normalizeH="0" baseline="0" dirty="0">
                          <a:ln>
                            <a:noFill/>
                          </a:ln>
                          <a:solidFill>
                            <a:srgbClr val="000000"/>
                          </a:solidFill>
                          <a:effectLst/>
                          <a:latin typeface="Arial Narrow" pitchFamily="34" charset="0"/>
                          <a:ea typeface="+mn-ea"/>
                          <a:cs typeface="+mn-cs"/>
                        </a:rPr>
                        <a:t> des services</a:t>
                      </a:r>
                    </a:p>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fr-FR" sz="2200" b="1" kern="1200" baseline="0" dirty="0" err="1">
                          <a:solidFill>
                            <a:srgbClr val="FF0000"/>
                          </a:solidFill>
                          <a:latin typeface="+mn-lt"/>
                          <a:ea typeface="+mn-ea"/>
                          <a:cs typeface="+mn-cs"/>
                        </a:rPr>
                        <a:t>_ldap</a:t>
                      </a:r>
                      <a:r>
                        <a:rPr kumimoji="0" lang="fr-FR" sz="2200" b="1" kern="1200" baseline="0" dirty="0">
                          <a:solidFill>
                            <a:srgbClr val="FF0000"/>
                          </a:solidFill>
                          <a:latin typeface="+mn-lt"/>
                          <a:ea typeface="+mn-ea"/>
                          <a:cs typeface="+mn-cs"/>
                        </a:rPr>
                        <a:t>.</a:t>
                      </a:r>
                      <a:r>
                        <a:rPr kumimoji="0" lang="fr-FR" sz="2200" b="1" kern="1200" baseline="0" dirty="0" err="1">
                          <a:solidFill>
                            <a:srgbClr val="FF0000"/>
                          </a:solidFill>
                          <a:latin typeface="+mn-lt"/>
                          <a:ea typeface="+mn-ea"/>
                          <a:cs typeface="+mn-cs"/>
                        </a:rPr>
                        <a:t>_tcp</a:t>
                      </a:r>
                      <a:r>
                        <a:rPr kumimoji="0" lang="fr-FR" sz="2200" b="1" kern="1200" baseline="0" dirty="0">
                          <a:solidFill>
                            <a:srgbClr val="FF0000"/>
                          </a:solidFill>
                          <a:latin typeface="+mn-lt"/>
                          <a:ea typeface="+mn-ea"/>
                          <a:cs typeface="+mn-cs"/>
                        </a:rPr>
                        <a:t> SRV dc1.bts.com</a:t>
                      </a:r>
                      <a:endParaRPr kumimoji="0" lang="en-US" sz="22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18</a:t>
            </a:fld>
            <a:endParaRPr kumimoji="0" lang="en-US"/>
          </a:p>
        </p:txBody>
      </p:sp>
      <p:sp>
        <p:nvSpPr>
          <p:cNvPr id="8" name="AutoShape 86"/>
          <p:cNvSpPr>
            <a:spLocks noChangeArrowheads="1"/>
          </p:cNvSpPr>
          <p:nvPr>
            <p:custDataLst>
              <p:tags r:id="rId2"/>
            </p:custDataLst>
          </p:nvPr>
        </p:nvSpPr>
        <p:spPr bwMode="auto">
          <a:xfrm>
            <a:off x="246744" y="1355522"/>
            <a:ext cx="8679478" cy="1387675"/>
          </a:xfrm>
          <a:prstGeom prst="roundRect">
            <a:avLst>
              <a:gd name="adj" fmla="val 25468"/>
            </a:avLst>
          </a:prstGeom>
          <a:solidFill>
            <a:srgbClr val="002060"/>
          </a:solidFill>
          <a:ln>
            <a:headEnd/>
            <a:tailEnd/>
          </a:ln>
        </p:spPr>
        <p:style>
          <a:lnRef idx="1">
            <a:schemeClr val="accent2"/>
          </a:lnRef>
          <a:fillRef idx="3">
            <a:schemeClr val="accent2"/>
          </a:fillRef>
          <a:effectRef idx="2">
            <a:schemeClr val="accent2"/>
          </a:effectRef>
          <a:fontRef idx="minor">
            <a:schemeClr val="lt1"/>
          </a:fontRef>
        </p:style>
        <p:txBody>
          <a:bodyPr anchor="ctr"/>
          <a:lstStyle/>
          <a:p>
            <a:pPr algn="l" eaLnBrk="1" hangingPunct="1"/>
            <a:r>
              <a:rPr lang="en-GB" sz="2400" b="1" dirty="0">
                <a:solidFill>
                  <a:srgbClr val="EEEFD7"/>
                </a:solidFill>
              </a:rPr>
              <a:t>Un </a:t>
            </a:r>
            <a:r>
              <a:rPr lang="en-GB" sz="2400" b="1" i="1" dirty="0" err="1">
                <a:solidFill>
                  <a:srgbClr val="EEEFD7"/>
                </a:solidFill>
              </a:rPr>
              <a:t>enregistrement</a:t>
            </a:r>
            <a:r>
              <a:rPr lang="en-GB" sz="2400" b="1" i="1" dirty="0">
                <a:solidFill>
                  <a:srgbClr val="EEEFD7"/>
                </a:solidFill>
              </a:rPr>
              <a:t> de </a:t>
            </a:r>
            <a:r>
              <a:rPr lang="en-GB" sz="2400" b="1" i="1" dirty="0" err="1">
                <a:solidFill>
                  <a:srgbClr val="EEEFD7"/>
                </a:solidFill>
              </a:rPr>
              <a:t>ressource</a:t>
            </a:r>
            <a:r>
              <a:rPr lang="en-GB" sz="2400" b="1" dirty="0">
                <a:solidFill>
                  <a:srgbClr val="EEEFD7"/>
                </a:solidFill>
              </a:rPr>
              <a:t> </a:t>
            </a:r>
            <a:r>
              <a:rPr lang="en-GB" sz="2400" b="1" dirty="0" err="1">
                <a:solidFill>
                  <a:srgbClr val="EEEFD7"/>
                </a:solidFill>
              </a:rPr>
              <a:t>est</a:t>
            </a:r>
            <a:r>
              <a:rPr lang="en-GB" sz="2400" b="1" dirty="0">
                <a:solidFill>
                  <a:srgbClr val="EEEFD7"/>
                </a:solidFill>
              </a:rPr>
              <a:t> </a:t>
            </a:r>
            <a:r>
              <a:rPr lang="en-GB" sz="2400" b="1" dirty="0" err="1">
                <a:solidFill>
                  <a:srgbClr val="EEEFD7"/>
                </a:solidFill>
              </a:rPr>
              <a:t>une</a:t>
            </a:r>
            <a:r>
              <a:rPr lang="en-GB" sz="2400" b="1" dirty="0">
                <a:solidFill>
                  <a:srgbClr val="EEEFD7"/>
                </a:solidFill>
              </a:rPr>
              <a:t> structure de base de </a:t>
            </a:r>
            <a:r>
              <a:rPr lang="en-GB" sz="2400" b="1" dirty="0" err="1">
                <a:solidFill>
                  <a:srgbClr val="EEEFD7"/>
                </a:solidFill>
              </a:rPr>
              <a:t>données</a:t>
            </a:r>
            <a:r>
              <a:rPr lang="en-GB" sz="2400" b="1" dirty="0">
                <a:solidFill>
                  <a:srgbClr val="EEEFD7"/>
                </a:solidFill>
              </a:rPr>
              <a:t> DNS standard qui </a:t>
            </a:r>
            <a:r>
              <a:rPr lang="en-GB" sz="2400" b="1" dirty="0" err="1">
                <a:solidFill>
                  <a:srgbClr val="EEEFD7"/>
                </a:solidFill>
              </a:rPr>
              <a:t>contient</a:t>
            </a:r>
            <a:r>
              <a:rPr lang="en-GB" sz="2400" b="1" dirty="0">
                <a:solidFill>
                  <a:srgbClr val="EEEFD7"/>
                </a:solidFill>
              </a:rPr>
              <a:t> des </a:t>
            </a:r>
            <a:r>
              <a:rPr lang="en-GB" sz="2400" b="1" dirty="0" err="1">
                <a:solidFill>
                  <a:srgbClr val="EEEFD7"/>
                </a:solidFill>
              </a:rPr>
              <a:t>informations</a:t>
            </a:r>
            <a:r>
              <a:rPr lang="en-GB" sz="2400" b="1" dirty="0">
                <a:solidFill>
                  <a:srgbClr val="EEEFD7"/>
                </a:solidFill>
              </a:rPr>
              <a:t> </a:t>
            </a:r>
            <a:r>
              <a:rPr lang="en-GB" sz="2400" b="1" dirty="0" err="1">
                <a:solidFill>
                  <a:srgbClr val="EEEFD7"/>
                </a:solidFill>
              </a:rPr>
              <a:t>utilisées</a:t>
            </a:r>
            <a:r>
              <a:rPr lang="en-GB" sz="2400" b="1" dirty="0">
                <a:solidFill>
                  <a:srgbClr val="EEEFD7"/>
                </a:solidFill>
              </a:rPr>
              <a:t> pour </a:t>
            </a:r>
            <a:r>
              <a:rPr lang="en-GB" sz="2400" b="1" dirty="0" err="1">
                <a:solidFill>
                  <a:srgbClr val="EEEFD7"/>
                </a:solidFill>
              </a:rPr>
              <a:t>traiter</a:t>
            </a:r>
            <a:r>
              <a:rPr lang="en-GB" sz="2400" b="1" dirty="0">
                <a:solidFill>
                  <a:srgbClr val="EEEFD7"/>
                </a:solidFill>
              </a:rPr>
              <a:t> les </a:t>
            </a:r>
            <a:r>
              <a:rPr lang="en-GB" sz="2400" b="1" dirty="0" err="1">
                <a:solidFill>
                  <a:srgbClr val="EEEFD7"/>
                </a:solidFill>
              </a:rPr>
              <a:t>requêtes</a:t>
            </a:r>
            <a:r>
              <a:rPr lang="en-GB" sz="2400" b="1" dirty="0">
                <a:solidFill>
                  <a:srgbClr val="EEEFD7"/>
                </a:solidFill>
              </a:rPr>
              <a:t> DNS</a:t>
            </a:r>
            <a:endParaRPr lang="en-US" sz="2400" b="1" dirty="0">
              <a:solidFill>
                <a:srgbClr val="EEEFD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000" fill="hold"/>
                                        <p:tgtEl>
                                          <p:spTgt spid="8"/>
                                        </p:tgtEl>
                                        <p:attrNameLst>
                                          <p:attrName>ppt_x</p:attrName>
                                        </p:attrNameLst>
                                      </p:cBhvr>
                                      <p:tavLst>
                                        <p:tav tm="0">
                                          <p:val>
                                            <p:strVal val="#ppt_x"/>
                                          </p:val>
                                        </p:tav>
                                        <p:tav tm="100000">
                                          <p:val>
                                            <p:strVal val="#ppt_x"/>
                                          </p:val>
                                        </p:tav>
                                      </p:tavLst>
                                    </p:anim>
                                    <p:anim calcmode="lin" valueType="num">
                                      <p:cBhvr additive="base">
                                        <p:cTn id="8" dur="20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823530"/>
                                        </p:tgtEl>
                                        <p:attrNameLst>
                                          <p:attrName>style.visibility</p:attrName>
                                        </p:attrNameLst>
                                      </p:cBhvr>
                                      <p:to>
                                        <p:strVal val="visible"/>
                                      </p:to>
                                    </p:set>
                                    <p:animEffect transition="in" filter="dissolve">
                                      <p:cBhvr>
                                        <p:cTn id="13" dur="500"/>
                                        <p:tgtEl>
                                          <p:spTgt spid="823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custDataLst>
              <p:tags r:id="rId1"/>
            </p:custDataLst>
          </p:nvPr>
        </p:nvSpPr>
        <p:spPr>
          <a:xfrm>
            <a:off x="301752" y="315684"/>
            <a:ext cx="8534400" cy="758952"/>
          </a:xfrm>
        </p:spPr>
        <p:txBody>
          <a:bodyPr vert="horz" anchor="b">
            <a:normAutofit fontScale="90000"/>
          </a:bodyPr>
          <a:lstStyle/>
          <a:p>
            <a:r>
              <a:rPr lang="en-GB" sz="3000" b="1" err="1">
                <a:solidFill>
                  <a:srgbClr val="C00000"/>
                </a:solidFill>
              </a:rPr>
              <a:t>Que</a:t>
            </a:r>
            <a:r>
              <a:rPr lang="en-GB" sz="3000" b="1">
                <a:solidFill>
                  <a:srgbClr val="C00000"/>
                </a:solidFill>
              </a:rPr>
              <a:t> </a:t>
            </a:r>
            <a:r>
              <a:rPr lang="en-GB" sz="3000" b="1" err="1">
                <a:solidFill>
                  <a:srgbClr val="C00000"/>
                </a:solidFill>
              </a:rPr>
              <a:t>sont</a:t>
            </a:r>
            <a:r>
              <a:rPr lang="en-GB" sz="3000" b="1">
                <a:solidFill>
                  <a:srgbClr val="C00000"/>
                </a:solidFill>
              </a:rPr>
              <a:t> les </a:t>
            </a:r>
            <a:r>
              <a:rPr lang="en-GB" sz="3000" b="1" err="1">
                <a:solidFill>
                  <a:srgbClr val="C00000"/>
                </a:solidFill>
              </a:rPr>
              <a:t>enregistrements</a:t>
            </a:r>
            <a:r>
              <a:rPr lang="en-GB" sz="3000" b="1">
                <a:solidFill>
                  <a:srgbClr val="C00000"/>
                </a:solidFill>
              </a:rPr>
              <a:t> de </a:t>
            </a:r>
            <a:r>
              <a:rPr lang="en-GB" sz="3000" b="1" err="1">
                <a:solidFill>
                  <a:srgbClr val="C00000"/>
                </a:solidFill>
              </a:rPr>
              <a:t>ressources</a:t>
            </a:r>
            <a:r>
              <a:rPr lang="en-GB" sz="3000" b="1">
                <a:solidFill>
                  <a:srgbClr val="C00000"/>
                </a:solidFill>
              </a:rPr>
              <a:t> et les types </a:t>
            </a:r>
            <a:r>
              <a:rPr lang="en-GB" sz="3000" b="1" err="1">
                <a:solidFill>
                  <a:srgbClr val="C00000"/>
                </a:solidFill>
              </a:rPr>
              <a:t>d'enregistrements</a:t>
            </a:r>
            <a:r>
              <a:rPr lang="en-GB" sz="3000" b="1">
                <a:solidFill>
                  <a:srgbClr val="C00000"/>
                </a:solidFill>
              </a:rPr>
              <a:t> ?</a:t>
            </a:r>
            <a:endParaRPr lang="en-US" sz="3000" b="1">
              <a:solidFill>
                <a:srgbClr val="C00000"/>
              </a:solidFill>
            </a:endParaRPr>
          </a:p>
        </p:txBody>
      </p:sp>
      <p:graphicFrame>
        <p:nvGraphicFramePr>
          <p:cNvPr id="823530" name="Group 234"/>
          <p:cNvGraphicFramePr>
            <a:graphicFrameLocks noGrp="1"/>
          </p:cNvGraphicFramePr>
          <p:nvPr/>
        </p:nvGraphicFramePr>
        <p:xfrm>
          <a:off x="188689" y="1286185"/>
          <a:ext cx="8752115" cy="5118969"/>
        </p:xfrm>
        <a:graphic>
          <a:graphicData uri="http://schemas.openxmlformats.org/drawingml/2006/table">
            <a:tbl>
              <a:tblPr/>
              <a:tblGrid>
                <a:gridCol w="2133597">
                  <a:extLst>
                    <a:ext uri="{9D8B030D-6E8A-4147-A177-3AD203B41FA5}">
                      <a16:colId xmlns:a16="http://schemas.microsoft.com/office/drawing/2014/main" val="20000"/>
                    </a:ext>
                  </a:extLst>
                </a:gridCol>
                <a:gridCol w="6618518">
                  <a:extLst>
                    <a:ext uri="{9D8B030D-6E8A-4147-A177-3AD203B41FA5}">
                      <a16:colId xmlns:a16="http://schemas.microsoft.com/office/drawing/2014/main" val="20001"/>
                    </a:ext>
                  </a:extLst>
                </a:gridCol>
              </a:tblGrid>
              <a:tr h="846630">
                <a:tc>
                  <a:txBody>
                    <a:bodyPr/>
                    <a:lstStyle/>
                    <a:p>
                      <a:pPr marL="0" marR="0" lvl="0" indent="0" algn="ctr" defTabSz="914400" rtl="0" eaLnBrk="0" fontAlgn="base" latinLnBrk="0" hangingPunct="0">
                        <a:lnSpc>
                          <a:spcPct val="100000"/>
                        </a:lnSpc>
                        <a:spcBef>
                          <a:spcPts val="0"/>
                        </a:spcBef>
                        <a:spcAft>
                          <a:spcPts val="0"/>
                        </a:spcAft>
                        <a:buClr>
                          <a:srgbClr val="8DACD0"/>
                        </a:buClr>
                        <a:buSzPct val="70000"/>
                        <a:buFont typeface="Wingdings" pitchFamily="2" charset="2"/>
                        <a:buNone/>
                        <a:tabLst>
                          <a:tab pos="1973263" algn="l"/>
                        </a:tabLst>
                      </a:pPr>
                      <a:r>
                        <a:rPr kumimoji="0" lang="en-GB" sz="2400" b="1" i="0" u="none" strike="noStrike" kern="1200" cap="none" normalizeH="0" baseline="0" dirty="0">
                          <a:ln>
                            <a:noFill/>
                          </a:ln>
                          <a:solidFill>
                            <a:srgbClr val="000000"/>
                          </a:solidFill>
                          <a:effectLst/>
                          <a:latin typeface="Arial Narrow" pitchFamily="34" charset="0"/>
                          <a:ea typeface="+mn-ea"/>
                          <a:cs typeface="+mn-cs"/>
                        </a:rPr>
                        <a:t>Type </a:t>
                      </a:r>
                      <a:r>
                        <a:rPr kumimoji="0" lang="en-GB" sz="2400" b="1" i="0" u="none" strike="noStrike" kern="1200" cap="none" normalizeH="0" baseline="0" dirty="0" err="1">
                          <a:ln>
                            <a:noFill/>
                          </a:ln>
                          <a:solidFill>
                            <a:srgbClr val="000000"/>
                          </a:solidFill>
                          <a:effectLst/>
                          <a:latin typeface="Arial Narrow" pitchFamily="34" charset="0"/>
                          <a:ea typeface="+mn-ea"/>
                          <a:cs typeface="+mn-cs"/>
                        </a:rPr>
                        <a:t>d'enregistrement</a:t>
                      </a:r>
                      <a:endParaRPr kumimoji="0" lang="en-US" sz="24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2400" b="1" i="0" u="none" strike="noStrike" kern="1200" cap="none" normalizeH="0" baseline="0">
                          <a:ln>
                            <a:noFill/>
                          </a:ln>
                          <a:solidFill>
                            <a:srgbClr val="000000"/>
                          </a:solidFill>
                          <a:effectLst/>
                          <a:latin typeface="Arial Narrow" pitchFamily="34" charset="0"/>
                          <a:ea typeface="+mn-ea"/>
                          <a:cs typeface="+mn-cs"/>
                        </a:rPr>
                        <a:t>Description</a:t>
                      </a:r>
                      <a:endParaRPr kumimoji="0" lang="en-US" sz="2400" b="1" i="0" u="none" strike="noStrike" kern="1200" cap="none" normalizeH="0" baseline="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464614">
                <a:tc>
                  <a:txBody>
                    <a:bodyPr/>
                    <a:lstStyle/>
                    <a:p>
                      <a:pPr marL="0" marR="0" lvl="0" indent="0" algn="l" defTabSz="914400" rtl="0" eaLnBrk="0" fontAlgn="base" latinLnBrk="0" hangingPunct="0">
                        <a:lnSpc>
                          <a:spcPct val="100000"/>
                        </a:lnSpc>
                        <a:spcBef>
                          <a:spcPts val="0"/>
                        </a:spcBef>
                        <a:spcAft>
                          <a:spcPts val="0"/>
                        </a:spcAft>
                        <a:buClr>
                          <a:srgbClr val="8DACD0"/>
                        </a:buClr>
                        <a:buSzPct val="70000"/>
                        <a:buFont typeface="Wingdings" pitchFamily="2" charset="2"/>
                        <a:buNone/>
                        <a:tabLst/>
                      </a:pPr>
                      <a:r>
                        <a:rPr kumimoji="0" lang="en-GB" sz="2300" b="1" i="0" u="none" strike="noStrike" kern="1200" cap="none" normalizeH="0" baseline="0" dirty="0">
                          <a:ln>
                            <a:noFill/>
                          </a:ln>
                          <a:solidFill>
                            <a:srgbClr val="000000"/>
                          </a:solidFill>
                          <a:effectLst/>
                          <a:latin typeface="Arial Narrow" pitchFamily="34" charset="0"/>
                          <a:ea typeface="+mn-ea"/>
                          <a:cs typeface="+mn-cs"/>
                        </a:rPr>
                        <a:t>SOA</a:t>
                      </a:r>
                      <a:endParaRPr kumimoji="0" lang="en-US" sz="23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4625" indent="0">
                        <a:lnSpc>
                          <a:spcPct val="100000"/>
                        </a:lnSpc>
                        <a:spcBef>
                          <a:spcPts val="0"/>
                        </a:spcBef>
                        <a:spcAft>
                          <a:spcPts val="0"/>
                        </a:spcAft>
                      </a:pPr>
                      <a:r>
                        <a:rPr kumimoji="0" lang="fr-FR" sz="2300" b="1" i="0" u="none" strike="noStrike" kern="1200" cap="none" normalizeH="0" baseline="0" dirty="0">
                          <a:ln>
                            <a:noFill/>
                          </a:ln>
                          <a:solidFill>
                            <a:srgbClr val="000000"/>
                          </a:solidFill>
                          <a:effectLst/>
                          <a:latin typeface="Arial Narrow" pitchFamily="34" charset="0"/>
                          <a:ea typeface="+mn-ea"/>
                          <a:cs typeface="+mn-cs"/>
                        </a:rPr>
                        <a:t>Spécifie les informations nécessaires à la réplication (numéro de série, intervalle d’actualisation, délai d’expiration associés à la zone).</a:t>
                      </a:r>
                    </a:p>
                    <a:p>
                      <a:r>
                        <a:rPr kumimoji="0" lang="fr-FR" sz="2000" b="1" kern="1200" baseline="0" dirty="0">
                          <a:solidFill>
                            <a:srgbClr val="FF0000"/>
                          </a:solidFill>
                          <a:latin typeface="+mn-lt"/>
                          <a:ea typeface="+mn-ea"/>
                          <a:cs typeface="+mn-cs"/>
                        </a:rPr>
                        <a:t>@ IN SOA </a:t>
                      </a:r>
                      <a:r>
                        <a:rPr kumimoji="0" lang="fr-FR" sz="1800" b="1" kern="1200" baseline="0" dirty="0">
                          <a:solidFill>
                            <a:srgbClr val="FF0000"/>
                          </a:solidFill>
                          <a:latin typeface="+mn-lt"/>
                          <a:ea typeface="+mn-ea"/>
                          <a:cs typeface="+mn-cs"/>
                        </a:rPr>
                        <a:t>computer1.bts.local. hostmaster.bts.local. (</a:t>
                      </a:r>
                    </a:p>
                    <a:p>
                      <a:r>
                        <a:rPr kumimoji="0" lang="fr-FR" sz="2000" b="1" kern="1200" baseline="0" dirty="0">
                          <a:solidFill>
                            <a:srgbClr val="FF0000"/>
                          </a:solidFill>
                          <a:latin typeface="+mn-lt"/>
                          <a:ea typeface="+mn-ea"/>
                          <a:cs typeface="+mn-cs"/>
                        </a:rPr>
                        <a:t>5099 ; serial </a:t>
                      </a:r>
                      <a:r>
                        <a:rPr kumimoji="0" lang="fr-FR" sz="2000" b="1" kern="1200" baseline="0" dirty="0" err="1">
                          <a:solidFill>
                            <a:srgbClr val="FF0000"/>
                          </a:solidFill>
                          <a:latin typeface="+mn-lt"/>
                          <a:ea typeface="+mn-ea"/>
                          <a:cs typeface="+mn-cs"/>
                        </a:rPr>
                        <a:t>number</a:t>
                      </a:r>
                      <a:endParaRPr kumimoji="0" lang="fr-FR" sz="2000" b="1" kern="1200" baseline="0" dirty="0">
                        <a:solidFill>
                          <a:srgbClr val="FF0000"/>
                        </a:solidFill>
                        <a:latin typeface="+mn-lt"/>
                        <a:ea typeface="+mn-ea"/>
                        <a:cs typeface="+mn-cs"/>
                      </a:endParaRPr>
                    </a:p>
                    <a:p>
                      <a:r>
                        <a:rPr kumimoji="0" lang="fr-FR" sz="2000" b="1" kern="1200" baseline="0" dirty="0">
                          <a:solidFill>
                            <a:srgbClr val="FF0000"/>
                          </a:solidFill>
                          <a:latin typeface="+mn-lt"/>
                          <a:ea typeface="+mn-ea"/>
                          <a:cs typeface="+mn-cs"/>
                        </a:rPr>
                        <a:t>3600 ; </a:t>
                      </a:r>
                      <a:r>
                        <a:rPr kumimoji="0" lang="fr-FR" sz="2000" b="1" kern="1200" baseline="0" dirty="0" err="1">
                          <a:solidFill>
                            <a:srgbClr val="FF0000"/>
                          </a:solidFill>
                          <a:latin typeface="+mn-lt"/>
                          <a:ea typeface="+mn-ea"/>
                          <a:cs typeface="+mn-cs"/>
                        </a:rPr>
                        <a:t>refresh</a:t>
                      </a:r>
                      <a:r>
                        <a:rPr kumimoji="0" lang="fr-FR" sz="2000" b="1" kern="1200" baseline="0" dirty="0">
                          <a:solidFill>
                            <a:srgbClr val="FF0000"/>
                          </a:solidFill>
                          <a:latin typeface="+mn-lt"/>
                          <a:ea typeface="+mn-ea"/>
                          <a:cs typeface="+mn-cs"/>
                        </a:rPr>
                        <a:t> (1 </a:t>
                      </a:r>
                      <a:r>
                        <a:rPr kumimoji="0" lang="fr-FR" sz="2000" b="1" kern="1200" baseline="0" dirty="0" err="1">
                          <a:solidFill>
                            <a:srgbClr val="FF0000"/>
                          </a:solidFill>
                          <a:latin typeface="+mn-lt"/>
                          <a:ea typeface="+mn-ea"/>
                          <a:cs typeface="+mn-cs"/>
                        </a:rPr>
                        <a:t>hour</a:t>
                      </a:r>
                      <a:r>
                        <a:rPr kumimoji="0" lang="fr-FR" sz="2000" b="1" kern="1200" baseline="0" dirty="0">
                          <a:solidFill>
                            <a:srgbClr val="FF0000"/>
                          </a:solidFill>
                          <a:latin typeface="+mn-lt"/>
                          <a:ea typeface="+mn-ea"/>
                          <a:cs typeface="+mn-cs"/>
                        </a:rPr>
                        <a:t>)</a:t>
                      </a:r>
                    </a:p>
                    <a:p>
                      <a:r>
                        <a:rPr kumimoji="0" lang="fr-FR" sz="2000" b="1" kern="1200" baseline="0" dirty="0">
                          <a:solidFill>
                            <a:srgbClr val="FF0000"/>
                          </a:solidFill>
                          <a:latin typeface="+mn-lt"/>
                          <a:ea typeface="+mn-ea"/>
                          <a:cs typeface="+mn-cs"/>
                        </a:rPr>
                        <a:t>600 ; </a:t>
                      </a:r>
                      <a:r>
                        <a:rPr kumimoji="0" lang="fr-FR" sz="2000" b="1" kern="1200" baseline="0" dirty="0" err="1">
                          <a:solidFill>
                            <a:srgbClr val="FF0000"/>
                          </a:solidFill>
                          <a:latin typeface="+mn-lt"/>
                          <a:ea typeface="+mn-ea"/>
                          <a:cs typeface="+mn-cs"/>
                        </a:rPr>
                        <a:t>retry</a:t>
                      </a:r>
                      <a:r>
                        <a:rPr kumimoji="0" lang="fr-FR" sz="2000" b="1" kern="1200" baseline="0" dirty="0">
                          <a:solidFill>
                            <a:srgbClr val="FF0000"/>
                          </a:solidFill>
                          <a:latin typeface="+mn-lt"/>
                          <a:ea typeface="+mn-ea"/>
                          <a:cs typeface="+mn-cs"/>
                        </a:rPr>
                        <a:t> (10 </a:t>
                      </a:r>
                      <a:r>
                        <a:rPr kumimoji="0" lang="fr-FR" sz="2000" b="1" kern="1200" baseline="0" dirty="0" err="1">
                          <a:solidFill>
                            <a:srgbClr val="FF0000"/>
                          </a:solidFill>
                          <a:latin typeface="+mn-lt"/>
                          <a:ea typeface="+mn-ea"/>
                          <a:cs typeface="+mn-cs"/>
                        </a:rPr>
                        <a:t>mins</a:t>
                      </a:r>
                      <a:r>
                        <a:rPr kumimoji="0" lang="fr-FR" sz="2000" b="1" kern="1200" baseline="0" dirty="0">
                          <a:solidFill>
                            <a:srgbClr val="FF0000"/>
                          </a:solidFill>
                          <a:latin typeface="+mn-lt"/>
                          <a:ea typeface="+mn-ea"/>
                          <a:cs typeface="+mn-cs"/>
                        </a:rPr>
                        <a:t>)</a:t>
                      </a:r>
                    </a:p>
                    <a:p>
                      <a:r>
                        <a:rPr kumimoji="0" lang="fr-FR" sz="2000" b="1" kern="1200" baseline="0" dirty="0">
                          <a:solidFill>
                            <a:srgbClr val="FF0000"/>
                          </a:solidFill>
                          <a:latin typeface="+mn-lt"/>
                          <a:ea typeface="+mn-ea"/>
                          <a:cs typeface="+mn-cs"/>
                        </a:rPr>
                        <a:t>86400 ; expire (1 </a:t>
                      </a:r>
                      <a:r>
                        <a:rPr kumimoji="0" lang="fr-FR" sz="2000" b="1" kern="1200" baseline="0" dirty="0" err="1">
                          <a:solidFill>
                            <a:srgbClr val="FF0000"/>
                          </a:solidFill>
                          <a:latin typeface="+mn-lt"/>
                          <a:ea typeface="+mn-ea"/>
                          <a:cs typeface="+mn-cs"/>
                        </a:rPr>
                        <a:t>day</a:t>
                      </a:r>
                      <a:r>
                        <a:rPr kumimoji="0" lang="fr-FR" sz="2000" b="1" kern="1200" baseline="0" dirty="0">
                          <a:solidFill>
                            <a:srgbClr val="FF0000"/>
                          </a:solidFill>
                          <a:latin typeface="+mn-lt"/>
                          <a:ea typeface="+mn-ea"/>
                          <a:cs typeface="+mn-cs"/>
                        </a:rPr>
                        <a:t>)</a:t>
                      </a:r>
                    </a:p>
                    <a:p>
                      <a:r>
                        <a:rPr kumimoji="0" lang="nn-NO" sz="2000" b="1" kern="1200" baseline="0" dirty="0">
                          <a:solidFill>
                            <a:srgbClr val="FF0000"/>
                          </a:solidFill>
                          <a:latin typeface="+mn-lt"/>
                          <a:ea typeface="+mn-ea"/>
                          <a:cs typeface="+mn-cs"/>
                        </a:rPr>
                        <a:t>60 ) ; minimum TTL (1 min)</a:t>
                      </a:r>
                      <a:endParaRPr kumimoji="0" lang="en-US" sz="20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64614">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dirty="0">
                          <a:ln>
                            <a:noFill/>
                          </a:ln>
                          <a:solidFill>
                            <a:srgbClr val="000000"/>
                          </a:solidFill>
                          <a:effectLst/>
                          <a:latin typeface="Arial Narrow" pitchFamily="34" charset="0"/>
                          <a:ea typeface="+mn-ea"/>
                          <a:cs typeface="+mn-cs"/>
                        </a:rPr>
                        <a:t>NS</a:t>
                      </a:r>
                      <a:endParaRPr kumimoji="0" lang="en-US" sz="23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en-GB" sz="2300" b="1" i="0" u="none" strike="noStrike" kern="1200" cap="none" normalizeH="0" baseline="0" dirty="0" err="1">
                          <a:ln>
                            <a:noFill/>
                          </a:ln>
                          <a:solidFill>
                            <a:srgbClr val="000000"/>
                          </a:solidFill>
                          <a:effectLst/>
                          <a:latin typeface="Arial Narrow" pitchFamily="34" charset="0"/>
                          <a:ea typeface="+mn-ea"/>
                          <a:cs typeface="+mn-cs"/>
                        </a:rPr>
                        <a:t>Identifie</a:t>
                      </a:r>
                      <a:r>
                        <a:rPr kumimoji="0" lang="en-GB" sz="2300" b="1" i="0" u="none" strike="noStrike" kern="1200" cap="none" normalizeH="0" baseline="0" dirty="0">
                          <a:ln>
                            <a:noFill/>
                          </a:ln>
                          <a:solidFill>
                            <a:srgbClr val="000000"/>
                          </a:solidFill>
                          <a:effectLst/>
                          <a:latin typeface="Arial Narrow" pitchFamily="34" charset="0"/>
                          <a:ea typeface="+mn-ea"/>
                          <a:cs typeface="+mn-cs"/>
                        </a:rPr>
                        <a:t> le </a:t>
                      </a:r>
                      <a:r>
                        <a:rPr kumimoji="0" lang="en-GB" sz="2300" b="1" i="0" u="none" strike="noStrike" kern="1200" cap="none" normalizeH="0" baseline="0" dirty="0" err="1">
                          <a:ln>
                            <a:noFill/>
                          </a:ln>
                          <a:solidFill>
                            <a:srgbClr val="000000"/>
                          </a:solidFill>
                          <a:effectLst/>
                          <a:latin typeface="Arial Narrow" pitchFamily="34" charset="0"/>
                          <a:ea typeface="+mn-ea"/>
                          <a:cs typeface="+mn-cs"/>
                        </a:rPr>
                        <a:t>serveur</a:t>
                      </a:r>
                      <a:r>
                        <a:rPr kumimoji="0" lang="en-GB" sz="2300" b="1" i="0" u="none" strike="noStrike" kern="1200" cap="none" normalizeH="0" baseline="0" dirty="0">
                          <a:ln>
                            <a:noFill/>
                          </a:ln>
                          <a:solidFill>
                            <a:srgbClr val="000000"/>
                          </a:solidFill>
                          <a:effectLst/>
                          <a:latin typeface="Arial Narrow" pitchFamily="34" charset="0"/>
                          <a:ea typeface="+mn-ea"/>
                          <a:cs typeface="+mn-cs"/>
                        </a:rPr>
                        <a:t> DNS </a:t>
                      </a:r>
                      <a:r>
                        <a:rPr kumimoji="0" lang="en-GB" sz="2300" b="1" i="0" u="none" strike="noStrike" kern="1200" cap="none" normalizeH="0" baseline="0" dirty="0" err="1">
                          <a:ln>
                            <a:noFill/>
                          </a:ln>
                          <a:solidFill>
                            <a:srgbClr val="000000"/>
                          </a:solidFill>
                          <a:effectLst/>
                          <a:latin typeface="Arial Narrow" pitchFamily="34" charset="0"/>
                          <a:ea typeface="+mn-ea"/>
                          <a:cs typeface="+mn-cs"/>
                        </a:rPr>
                        <a:t>associé</a:t>
                      </a:r>
                      <a:r>
                        <a:rPr kumimoji="0" lang="en-GB" sz="2300" b="1" i="0" u="none" strike="noStrike" kern="1200" cap="none" normalizeH="0" baseline="0" dirty="0">
                          <a:ln>
                            <a:noFill/>
                          </a:ln>
                          <a:solidFill>
                            <a:srgbClr val="000000"/>
                          </a:solidFill>
                          <a:effectLst/>
                          <a:latin typeface="Arial Narrow" pitchFamily="34" charset="0"/>
                          <a:ea typeface="+mn-ea"/>
                          <a:cs typeface="+mn-cs"/>
                        </a:rPr>
                        <a:t> à </a:t>
                      </a:r>
                      <a:r>
                        <a:rPr kumimoji="0" lang="en-GB" sz="2300" b="1" i="0" u="none" strike="noStrike" kern="1200" cap="none" normalizeH="0" baseline="0" dirty="0" err="1">
                          <a:ln>
                            <a:noFill/>
                          </a:ln>
                          <a:solidFill>
                            <a:srgbClr val="000000"/>
                          </a:solidFill>
                          <a:effectLst/>
                          <a:latin typeface="Arial Narrow" pitchFamily="34" charset="0"/>
                          <a:ea typeface="+mn-ea"/>
                          <a:cs typeface="+mn-cs"/>
                        </a:rPr>
                        <a:t>chaque</a:t>
                      </a:r>
                      <a:r>
                        <a:rPr kumimoji="0" lang="en-GB" sz="2300" b="1" i="0" u="none" strike="noStrike" kern="1200" cap="none" normalizeH="0" baseline="0" dirty="0">
                          <a:ln>
                            <a:noFill/>
                          </a:ln>
                          <a:solidFill>
                            <a:srgbClr val="000000"/>
                          </a:solidFill>
                          <a:effectLst/>
                          <a:latin typeface="Arial Narrow" pitchFamily="34" charset="0"/>
                          <a:ea typeface="+mn-ea"/>
                          <a:cs typeface="+mn-cs"/>
                        </a:rPr>
                        <a:t> zone</a:t>
                      </a:r>
                    </a:p>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fr-FR" sz="2200" b="1" kern="1200" baseline="0" dirty="0">
                          <a:solidFill>
                            <a:srgbClr val="FF0000"/>
                          </a:solidFill>
                          <a:latin typeface="+mn-lt"/>
                          <a:ea typeface="+mn-ea"/>
                          <a:cs typeface="+mn-cs"/>
                        </a:rPr>
                        <a:t>@ NS     dns1.bts.com</a:t>
                      </a:r>
                      <a:endParaRPr kumimoji="0" lang="en-US" sz="22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706179">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a:ln>
                            <a:noFill/>
                          </a:ln>
                          <a:solidFill>
                            <a:srgbClr val="000000"/>
                          </a:solidFill>
                          <a:effectLst/>
                          <a:latin typeface="Arial Narrow" pitchFamily="34" charset="0"/>
                          <a:ea typeface="+mn-ea"/>
                          <a:cs typeface="+mn-cs"/>
                        </a:rPr>
                        <a:t>MX</a:t>
                      </a:r>
                      <a:endParaRPr kumimoji="0" lang="en-US" sz="2300" b="1" i="0" u="none" strike="noStrike" kern="1200" cap="none" normalizeH="0" baseline="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dirty="0" err="1">
                          <a:ln>
                            <a:noFill/>
                          </a:ln>
                          <a:solidFill>
                            <a:srgbClr val="000000"/>
                          </a:solidFill>
                          <a:effectLst/>
                          <a:latin typeface="Arial Narrow" pitchFamily="34" charset="0"/>
                          <a:ea typeface="+mn-ea"/>
                          <a:cs typeface="+mn-cs"/>
                        </a:rPr>
                        <a:t>Serveur</a:t>
                      </a:r>
                      <a:r>
                        <a:rPr kumimoji="0" lang="en-GB" sz="2300" b="1" i="0" u="none" strike="noStrike" kern="1200" cap="none" normalizeH="0" baseline="0" dirty="0">
                          <a:ln>
                            <a:noFill/>
                          </a:ln>
                          <a:solidFill>
                            <a:srgbClr val="000000"/>
                          </a:solidFill>
                          <a:effectLst/>
                          <a:latin typeface="Arial Narrow" pitchFamily="34" charset="0"/>
                          <a:ea typeface="+mn-ea"/>
                          <a:cs typeface="+mn-cs"/>
                        </a:rPr>
                        <a:t> de </a:t>
                      </a:r>
                      <a:r>
                        <a:rPr kumimoji="0" lang="en-GB" sz="2300" b="1" i="0" u="none" strike="noStrike" kern="1200" cap="none" normalizeH="0" baseline="0" dirty="0" err="1">
                          <a:ln>
                            <a:noFill/>
                          </a:ln>
                          <a:solidFill>
                            <a:srgbClr val="000000"/>
                          </a:solidFill>
                          <a:effectLst/>
                          <a:latin typeface="Arial Narrow" pitchFamily="34" charset="0"/>
                          <a:ea typeface="+mn-ea"/>
                          <a:cs typeface="+mn-cs"/>
                        </a:rPr>
                        <a:t>messagerie</a:t>
                      </a:r>
                      <a:endParaRPr kumimoji="0" lang="en-GB" sz="2300" b="1" i="0" u="none" strike="noStrike" kern="1200" cap="none" normalizeH="0" baseline="0" dirty="0">
                        <a:ln>
                          <a:noFill/>
                        </a:ln>
                        <a:solidFill>
                          <a:srgbClr val="000000"/>
                        </a:solidFill>
                        <a:effectLst/>
                        <a:latin typeface="Arial Narrow" pitchFamily="34" charset="0"/>
                        <a:ea typeface="+mn-ea"/>
                        <a:cs typeface="+mn-cs"/>
                      </a:endParaRPr>
                    </a:p>
                    <a:p>
                      <a:pPr marL="177800" marR="0" lvl="0" indent="-3175" algn="l" defTabSz="914400" rtl="0" eaLnBrk="0" fontAlgn="base" latinLnBrk="0" hangingPunct="0">
                        <a:lnSpc>
                          <a:spcPct val="100000"/>
                        </a:lnSpc>
                        <a:spcBef>
                          <a:spcPts val="0"/>
                        </a:spcBef>
                        <a:spcAft>
                          <a:spcPts val="0"/>
                        </a:spcAft>
                        <a:buClrTx/>
                        <a:buSzTx/>
                        <a:buFontTx/>
                        <a:buNone/>
                        <a:tabLst/>
                      </a:pPr>
                      <a:r>
                        <a:rPr kumimoji="0" lang="fr-FR" sz="2200" b="1" kern="1200" baseline="0" dirty="0">
                          <a:solidFill>
                            <a:srgbClr val="FF0000"/>
                          </a:solidFill>
                          <a:latin typeface="+mn-lt"/>
                          <a:ea typeface="+mn-ea"/>
                          <a:cs typeface="+mn-cs"/>
                        </a:rPr>
                        <a:t>@ MX     10    mailserver1.bts.com</a:t>
                      </a:r>
                      <a:endParaRPr kumimoji="0" lang="en-US" sz="22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19</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23530"/>
                                        </p:tgtEl>
                                        <p:attrNameLst>
                                          <p:attrName>style.visibility</p:attrName>
                                        </p:attrNameLst>
                                      </p:cBhvr>
                                      <p:to>
                                        <p:strVal val="visible"/>
                                      </p:to>
                                    </p:set>
                                    <p:animEffect transition="in" filter="dissolve">
                                      <p:cBhvr>
                                        <p:cTn id="7" dur="500"/>
                                        <p:tgtEl>
                                          <p:spTgt spid="823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custDataLst>
              <p:tags r:id="rId1"/>
            </p:custDataLst>
          </p:nvPr>
        </p:nvSpPr>
        <p:spPr>
          <a:xfrm>
            <a:off x="301752" y="315684"/>
            <a:ext cx="8534400" cy="758952"/>
          </a:xfrm>
        </p:spPr>
        <p:txBody>
          <a:bodyPr vert="horz" anchor="b">
            <a:normAutofit fontScale="90000"/>
          </a:bodyPr>
          <a:lstStyle/>
          <a:p>
            <a:r>
              <a:rPr lang="en-GB" sz="3000" b="1" err="1">
                <a:solidFill>
                  <a:srgbClr val="C00000"/>
                </a:solidFill>
              </a:rPr>
              <a:t>Que</a:t>
            </a:r>
            <a:r>
              <a:rPr lang="en-GB" sz="3000" b="1">
                <a:solidFill>
                  <a:srgbClr val="C00000"/>
                </a:solidFill>
              </a:rPr>
              <a:t> </a:t>
            </a:r>
            <a:r>
              <a:rPr lang="en-GB" sz="3000" b="1" err="1">
                <a:solidFill>
                  <a:srgbClr val="C00000"/>
                </a:solidFill>
              </a:rPr>
              <a:t>sont</a:t>
            </a:r>
            <a:r>
              <a:rPr lang="en-GB" sz="3000" b="1">
                <a:solidFill>
                  <a:srgbClr val="C00000"/>
                </a:solidFill>
              </a:rPr>
              <a:t> les </a:t>
            </a:r>
            <a:r>
              <a:rPr lang="en-GB" sz="3000" b="1" err="1">
                <a:solidFill>
                  <a:srgbClr val="C00000"/>
                </a:solidFill>
              </a:rPr>
              <a:t>enregistrements</a:t>
            </a:r>
            <a:r>
              <a:rPr lang="en-GB" sz="3000" b="1">
                <a:solidFill>
                  <a:srgbClr val="C00000"/>
                </a:solidFill>
              </a:rPr>
              <a:t> de </a:t>
            </a:r>
            <a:r>
              <a:rPr lang="en-GB" sz="3000" b="1" err="1">
                <a:solidFill>
                  <a:srgbClr val="C00000"/>
                </a:solidFill>
              </a:rPr>
              <a:t>ressources</a:t>
            </a:r>
            <a:r>
              <a:rPr lang="en-GB" sz="3000" b="1">
                <a:solidFill>
                  <a:srgbClr val="C00000"/>
                </a:solidFill>
              </a:rPr>
              <a:t> et les types </a:t>
            </a:r>
            <a:r>
              <a:rPr lang="en-GB" sz="3000" b="1" err="1">
                <a:solidFill>
                  <a:srgbClr val="C00000"/>
                </a:solidFill>
              </a:rPr>
              <a:t>d'enregistrements</a:t>
            </a:r>
            <a:r>
              <a:rPr lang="en-GB" sz="3000" b="1">
                <a:solidFill>
                  <a:srgbClr val="C00000"/>
                </a:solidFill>
              </a:rPr>
              <a:t> ?</a:t>
            </a:r>
            <a:endParaRPr lang="en-US" sz="3000" b="1">
              <a:solidFill>
                <a:srgbClr val="C00000"/>
              </a:solidFill>
            </a:endParaRPr>
          </a:p>
        </p:txBody>
      </p:sp>
      <p:graphicFrame>
        <p:nvGraphicFramePr>
          <p:cNvPr id="823530" name="Group 234"/>
          <p:cNvGraphicFramePr>
            <a:graphicFrameLocks noGrp="1"/>
          </p:cNvGraphicFramePr>
          <p:nvPr>
            <p:extLst>
              <p:ext uri="{D42A27DB-BD31-4B8C-83A1-F6EECF244321}">
                <p14:modId xmlns:p14="http://schemas.microsoft.com/office/powerpoint/2010/main" val="1499153508"/>
              </p:ext>
            </p:extLst>
          </p:nvPr>
        </p:nvGraphicFramePr>
        <p:xfrm>
          <a:off x="214230" y="2434761"/>
          <a:ext cx="8752115" cy="2157270"/>
        </p:xfrm>
        <a:graphic>
          <a:graphicData uri="http://schemas.openxmlformats.org/drawingml/2006/table">
            <a:tbl>
              <a:tblPr/>
              <a:tblGrid>
                <a:gridCol w="2262712">
                  <a:extLst>
                    <a:ext uri="{9D8B030D-6E8A-4147-A177-3AD203B41FA5}">
                      <a16:colId xmlns:a16="http://schemas.microsoft.com/office/drawing/2014/main" val="20000"/>
                    </a:ext>
                  </a:extLst>
                </a:gridCol>
                <a:gridCol w="6489403">
                  <a:extLst>
                    <a:ext uri="{9D8B030D-6E8A-4147-A177-3AD203B41FA5}">
                      <a16:colId xmlns:a16="http://schemas.microsoft.com/office/drawing/2014/main" val="20001"/>
                    </a:ext>
                  </a:extLst>
                </a:gridCol>
              </a:tblGrid>
              <a:tr h="846630">
                <a:tc>
                  <a:txBody>
                    <a:bodyPr/>
                    <a:lstStyle/>
                    <a:p>
                      <a:pPr marL="0" marR="0" lvl="0" indent="0" algn="ctr" defTabSz="914400" rtl="0" eaLnBrk="0" fontAlgn="base" latinLnBrk="0" hangingPunct="0">
                        <a:lnSpc>
                          <a:spcPct val="100000"/>
                        </a:lnSpc>
                        <a:spcBef>
                          <a:spcPts val="0"/>
                        </a:spcBef>
                        <a:spcAft>
                          <a:spcPts val="0"/>
                        </a:spcAft>
                        <a:buClr>
                          <a:srgbClr val="8DACD0"/>
                        </a:buClr>
                        <a:buSzPct val="70000"/>
                        <a:buFont typeface="Wingdings" pitchFamily="2" charset="2"/>
                        <a:buNone/>
                        <a:tabLst>
                          <a:tab pos="1973263" algn="l"/>
                        </a:tabLst>
                      </a:pPr>
                      <a:r>
                        <a:rPr kumimoji="0" lang="en-GB" sz="2400" b="1" i="0" u="none" strike="noStrike" kern="1200" cap="none" normalizeH="0" baseline="0" dirty="0">
                          <a:ln>
                            <a:noFill/>
                          </a:ln>
                          <a:solidFill>
                            <a:srgbClr val="000000"/>
                          </a:solidFill>
                          <a:effectLst/>
                          <a:latin typeface="Arial Narrow" pitchFamily="34" charset="0"/>
                          <a:ea typeface="+mn-ea"/>
                          <a:cs typeface="+mn-cs"/>
                        </a:rPr>
                        <a:t>Type </a:t>
                      </a:r>
                      <a:r>
                        <a:rPr kumimoji="0" lang="en-GB" sz="2400" b="1" i="0" u="none" strike="noStrike" kern="1200" cap="none" normalizeH="0" baseline="0" dirty="0" err="1">
                          <a:ln>
                            <a:noFill/>
                          </a:ln>
                          <a:solidFill>
                            <a:srgbClr val="000000"/>
                          </a:solidFill>
                          <a:effectLst/>
                          <a:latin typeface="Arial Narrow" pitchFamily="34" charset="0"/>
                          <a:ea typeface="+mn-ea"/>
                          <a:cs typeface="+mn-cs"/>
                        </a:rPr>
                        <a:t>d'enregistrement</a:t>
                      </a:r>
                      <a:endParaRPr kumimoji="0" lang="en-US" sz="24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2400" b="1" i="0" u="none" strike="noStrike" kern="1200" cap="none" normalizeH="0" baseline="0">
                          <a:ln>
                            <a:noFill/>
                          </a:ln>
                          <a:solidFill>
                            <a:srgbClr val="000000"/>
                          </a:solidFill>
                          <a:effectLst/>
                          <a:latin typeface="Arial Narrow" pitchFamily="34" charset="0"/>
                          <a:ea typeface="+mn-ea"/>
                          <a:cs typeface="+mn-cs"/>
                        </a:rPr>
                        <a:t>Description</a:t>
                      </a:r>
                      <a:endParaRPr kumimoji="0" lang="en-US" sz="2400" b="1" i="0" u="none" strike="noStrike" kern="1200" cap="none" normalizeH="0" baseline="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464614">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2300" b="1" i="0" u="none" strike="noStrike" kern="1200" cap="none" normalizeH="0" baseline="0" dirty="0">
                          <a:ln>
                            <a:noFill/>
                          </a:ln>
                          <a:solidFill>
                            <a:srgbClr val="000000"/>
                          </a:solidFill>
                          <a:effectLst/>
                          <a:latin typeface="Arial Narrow" pitchFamily="34" charset="0"/>
                          <a:ea typeface="+mn-ea"/>
                          <a:cs typeface="+mn-cs"/>
                        </a:rPr>
                        <a:t>CNAME</a:t>
                      </a:r>
                      <a:endParaRPr kumimoji="0" lang="en-US" sz="2300" b="1" i="0" u="none" strike="noStrike" kern="1200" cap="none" normalizeH="0" baseline="0" dirty="0">
                        <a:ln>
                          <a:noFill/>
                        </a:ln>
                        <a:solidFill>
                          <a:srgbClr val="000000"/>
                        </a:solidFill>
                        <a:effectLst/>
                        <a:latin typeface="Arial Narrow" pitchFamily="34" charset="0"/>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en-GB" sz="2300" b="1" i="0" u="none" strike="noStrike" kern="1200" cap="none" normalizeH="0" baseline="0" dirty="0" err="1">
                          <a:ln>
                            <a:noFill/>
                          </a:ln>
                          <a:solidFill>
                            <a:srgbClr val="000000"/>
                          </a:solidFill>
                          <a:effectLst/>
                          <a:latin typeface="Arial Narrow" pitchFamily="34" charset="0"/>
                          <a:ea typeface="+mn-ea"/>
                          <a:cs typeface="+mn-cs"/>
                        </a:rPr>
                        <a:t>Résout</a:t>
                      </a:r>
                      <a:r>
                        <a:rPr kumimoji="0" lang="en-GB" sz="2300" b="1" i="0" u="none" strike="noStrike" kern="1200" cap="none" normalizeH="0" baseline="0" dirty="0">
                          <a:ln>
                            <a:noFill/>
                          </a:ln>
                          <a:solidFill>
                            <a:srgbClr val="000000"/>
                          </a:solidFill>
                          <a:effectLst/>
                          <a:latin typeface="Arial Narrow" pitchFamily="34" charset="0"/>
                          <a:ea typeface="+mn-ea"/>
                          <a:cs typeface="+mn-cs"/>
                        </a:rPr>
                        <a:t> un nom d'hôte en nom d'hôte</a:t>
                      </a:r>
                    </a:p>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fr-FR" sz="2000" b="1" kern="1200" baseline="0" dirty="0">
                          <a:solidFill>
                            <a:srgbClr val="FF0000"/>
                          </a:solidFill>
                          <a:latin typeface="+mn-lt"/>
                          <a:ea typeface="+mn-ea"/>
                          <a:cs typeface="+mn-cs"/>
                        </a:rPr>
                        <a:t>ftp       CNAME    fp1.bts.com.</a:t>
                      </a:r>
                      <a:endParaRPr kumimoji="0" lang="en-US" sz="20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64614">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US" sz="2300" b="1" i="0" u="none" strike="noStrike" kern="1200" cap="none" normalizeH="0" baseline="0" dirty="0">
                          <a:ln>
                            <a:noFill/>
                          </a:ln>
                          <a:solidFill>
                            <a:srgbClr val="000000"/>
                          </a:solidFill>
                          <a:effectLst/>
                          <a:latin typeface="Arial Narrow" pitchFamily="34" charset="0"/>
                          <a:ea typeface="+mn-ea"/>
                          <a:cs typeface="+mn-cs"/>
                        </a:rPr>
                        <a:t>AAAA</a:t>
                      </a: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en-US" sz="2300" b="1" i="0" u="none" strike="noStrike" kern="1200" cap="none" normalizeH="0" baseline="0" dirty="0">
                          <a:ln>
                            <a:noFill/>
                          </a:ln>
                          <a:solidFill>
                            <a:srgbClr val="000000"/>
                          </a:solidFill>
                          <a:effectLst/>
                          <a:latin typeface="Arial Narrow" pitchFamily="34" charset="0"/>
                          <a:ea typeface="+mn-ea"/>
                          <a:cs typeface="+mn-cs"/>
                        </a:rPr>
                        <a:t>Les </a:t>
                      </a:r>
                      <a:r>
                        <a:rPr kumimoji="0" lang="en-US" sz="2300" b="1" i="0" u="none" strike="noStrike" kern="1200" cap="none" normalizeH="0" baseline="0" dirty="0" err="1">
                          <a:ln>
                            <a:noFill/>
                          </a:ln>
                          <a:solidFill>
                            <a:srgbClr val="000000"/>
                          </a:solidFill>
                          <a:effectLst/>
                          <a:latin typeface="Arial Narrow" pitchFamily="34" charset="0"/>
                          <a:ea typeface="+mn-ea"/>
                          <a:cs typeface="+mn-cs"/>
                        </a:rPr>
                        <a:t>enregistrements</a:t>
                      </a:r>
                      <a:r>
                        <a:rPr kumimoji="0" lang="en-US" sz="2300" b="1" i="0" u="none" strike="noStrike" kern="1200" cap="none" normalizeH="0" baseline="0" dirty="0">
                          <a:ln>
                            <a:noFill/>
                          </a:ln>
                          <a:solidFill>
                            <a:srgbClr val="000000"/>
                          </a:solidFill>
                          <a:effectLst/>
                          <a:latin typeface="Arial Narrow" pitchFamily="34" charset="0"/>
                          <a:ea typeface="+mn-ea"/>
                          <a:cs typeface="+mn-cs"/>
                        </a:rPr>
                        <a:t> IPv6</a:t>
                      </a:r>
                    </a:p>
                    <a:p>
                      <a:pPr marL="177800" marR="0" lvl="0" indent="-3175" algn="l" defTabSz="914400" rtl="0" eaLnBrk="0" fontAlgn="base" latinLnBrk="0" hangingPunct="0">
                        <a:lnSpc>
                          <a:spcPct val="100000"/>
                        </a:lnSpc>
                        <a:spcBef>
                          <a:spcPts val="0"/>
                        </a:spcBef>
                        <a:spcAft>
                          <a:spcPts val="0"/>
                        </a:spcAft>
                        <a:buClr>
                          <a:schemeClr val="accent2"/>
                        </a:buClr>
                        <a:buSzPct val="70000"/>
                        <a:buFont typeface="Wingdings" pitchFamily="2" charset="2"/>
                        <a:buNone/>
                        <a:tabLst/>
                      </a:pPr>
                      <a:r>
                        <a:rPr kumimoji="0" lang="fr-FR" sz="2000" b="1" kern="1200" baseline="0" dirty="0">
                          <a:solidFill>
                            <a:srgbClr val="FF0000"/>
                          </a:solidFill>
                          <a:latin typeface="+mn-lt"/>
                          <a:ea typeface="+mn-ea"/>
                          <a:cs typeface="+mn-cs"/>
                        </a:rPr>
                        <a:t>Server 1           AAAA          fd00:0:0:5::8</a:t>
                      </a:r>
                      <a:endParaRPr kumimoji="0" lang="en-US" sz="2000" b="1" kern="1200" baseline="0" dirty="0">
                        <a:solidFill>
                          <a:srgbClr val="FF0000"/>
                        </a:solidFill>
                        <a:latin typeface="+mn-lt"/>
                        <a:ea typeface="+mn-ea"/>
                        <a:cs typeface="+mn-cs"/>
                      </a:endParaRPr>
                    </a:p>
                  </a:txBody>
                  <a:tcPr marL="36000" marR="0" marT="0" marB="0"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20</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23530"/>
                                        </p:tgtEl>
                                        <p:attrNameLst>
                                          <p:attrName>style.visibility</p:attrName>
                                        </p:attrNameLst>
                                      </p:cBhvr>
                                      <p:to>
                                        <p:strVal val="visible"/>
                                      </p:to>
                                    </p:set>
                                    <p:animEffect transition="in" filter="dissolve">
                                      <p:cBhvr>
                                        <p:cTn id="7" dur="500"/>
                                        <p:tgtEl>
                                          <p:spTgt spid="823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4" name="Rectangle 4"/>
          <p:cNvSpPr>
            <a:spLocks noGrp="1" noChangeArrowheads="1"/>
          </p:cNvSpPr>
          <p:nvPr>
            <p:ph type="title"/>
            <p:custDataLst>
              <p:tags r:id="rId1"/>
            </p:custDataLst>
          </p:nvPr>
        </p:nvSpPr>
        <p:spPr/>
        <p:txBody>
          <a:bodyPr vert="horz" anchor="b">
            <a:normAutofit/>
          </a:bodyPr>
          <a:lstStyle/>
          <a:p>
            <a:r>
              <a:rPr lang="en-GB" sz="3000" b="1" err="1">
                <a:solidFill>
                  <a:srgbClr val="C00000"/>
                </a:solidFill>
              </a:rPr>
              <a:t>Qu'est-ce</a:t>
            </a:r>
            <a:r>
              <a:rPr lang="en-GB" sz="3000" b="1">
                <a:solidFill>
                  <a:srgbClr val="C00000"/>
                </a:solidFill>
              </a:rPr>
              <a:t> </a:t>
            </a:r>
            <a:r>
              <a:rPr lang="en-GB" sz="3000" b="1" err="1">
                <a:solidFill>
                  <a:srgbClr val="C00000"/>
                </a:solidFill>
              </a:rPr>
              <a:t>qu'une</a:t>
            </a:r>
            <a:r>
              <a:rPr lang="en-GB" sz="3000" b="1">
                <a:solidFill>
                  <a:srgbClr val="C00000"/>
                </a:solidFill>
              </a:rPr>
              <a:t> zone DNS ?</a:t>
            </a:r>
            <a:endParaRPr lang="en-US" sz="3000" b="1">
              <a:solidFill>
                <a:srgbClr val="C00000"/>
              </a:solidFill>
            </a:endParaRPr>
          </a:p>
        </p:txBody>
      </p:sp>
      <p:sp>
        <p:nvSpPr>
          <p:cNvPr id="21" name="Espace réservé du numéro de diapositive 20"/>
          <p:cNvSpPr>
            <a:spLocks noGrp="1"/>
          </p:cNvSpPr>
          <p:nvPr>
            <p:ph type="sldNum" sz="quarter" idx="12"/>
          </p:nvPr>
        </p:nvSpPr>
        <p:spPr/>
        <p:txBody>
          <a:bodyPr/>
          <a:lstStyle/>
          <a:p>
            <a:fld id="{2C6B1FF6-39B9-40F5-8B67-33C6354A3D4F}" type="slidenum">
              <a:rPr kumimoji="0" lang="en-US" smtClean="0"/>
              <a:pPr/>
              <a:t>21</a:t>
            </a:fld>
            <a:endParaRPr kumimoji="0" lang="en-US"/>
          </a:p>
        </p:txBody>
      </p:sp>
      <p:sp>
        <p:nvSpPr>
          <p:cNvPr id="22" name="Oval 10"/>
          <p:cNvSpPr>
            <a:spLocks noChangeArrowheads="1"/>
          </p:cNvSpPr>
          <p:nvPr/>
        </p:nvSpPr>
        <p:spPr bwMode="auto">
          <a:xfrm rot="1068983">
            <a:off x="3080887" y="3343720"/>
            <a:ext cx="3419475" cy="1398588"/>
          </a:xfrm>
          <a:prstGeom prst="ellipse">
            <a:avLst/>
          </a:prstGeom>
          <a:gradFill rotWithShape="1">
            <a:gsLst>
              <a:gs pos="0">
                <a:srgbClr val="EEEFD7"/>
              </a:gs>
              <a:gs pos="100000">
                <a:srgbClr val="D5D69C"/>
              </a:gs>
            </a:gsLst>
            <a:path path="shape">
              <a:fillToRect l="50000" t="50000" r="50000" b="50000"/>
            </a:path>
          </a:gradFill>
          <a:ln w="9525">
            <a:solidFill>
              <a:srgbClr val="808080"/>
            </a:solidFill>
            <a:round/>
            <a:headEnd/>
            <a:tailEnd/>
          </a:ln>
          <a:effectLst>
            <a:outerShdw dist="35921" dir="2700000" algn="ctr" rotWithShape="0">
              <a:srgbClr val="808080"/>
            </a:outerShdw>
          </a:effectLst>
        </p:spPr>
        <p:txBody>
          <a:bodyPr wrap="none" lIns="45720" rIns="45720" anchor="ctr"/>
          <a:lstStyle/>
          <a:p>
            <a:endParaRPr lang="fr-FR" sz="2000" b="1">
              <a:latin typeface="Arial Narrow" pitchFamily="34" charset="0"/>
            </a:endParaRPr>
          </a:p>
        </p:txBody>
      </p:sp>
      <p:sp>
        <p:nvSpPr>
          <p:cNvPr id="23" name="Oval 11"/>
          <p:cNvSpPr>
            <a:spLocks noChangeArrowheads="1"/>
          </p:cNvSpPr>
          <p:nvPr/>
        </p:nvSpPr>
        <p:spPr bwMode="auto">
          <a:xfrm rot="1068983">
            <a:off x="2382387" y="4905820"/>
            <a:ext cx="3419475" cy="1398588"/>
          </a:xfrm>
          <a:prstGeom prst="ellipse">
            <a:avLst/>
          </a:prstGeom>
          <a:gradFill rotWithShape="1">
            <a:gsLst>
              <a:gs pos="0">
                <a:srgbClr val="EEEFD7"/>
              </a:gs>
              <a:gs pos="100000">
                <a:srgbClr val="D5D69C"/>
              </a:gs>
            </a:gsLst>
            <a:path path="shape">
              <a:fillToRect l="50000" t="50000" r="50000" b="50000"/>
            </a:path>
          </a:gradFill>
          <a:ln w="9525">
            <a:solidFill>
              <a:srgbClr val="808080"/>
            </a:solidFill>
            <a:round/>
            <a:headEnd/>
            <a:tailEnd/>
          </a:ln>
          <a:effectLst>
            <a:outerShdw dist="35921" dir="2700000" algn="ctr" rotWithShape="0">
              <a:srgbClr val="808080"/>
            </a:outerShdw>
          </a:effectLst>
        </p:spPr>
        <p:txBody>
          <a:bodyPr wrap="none" lIns="45720" rIns="45720" anchor="ctr"/>
          <a:lstStyle/>
          <a:p>
            <a:endParaRPr lang="fr-FR" sz="2000" b="1">
              <a:latin typeface="Arial Narrow" pitchFamily="34" charset="0"/>
            </a:endParaRPr>
          </a:p>
        </p:txBody>
      </p:sp>
      <p:pic>
        <p:nvPicPr>
          <p:cNvPr id="24" name="Picture 12" descr="Internet01"/>
          <p:cNvPicPr>
            <a:picLocks noChangeAspect="1" noChangeArrowheads="1"/>
          </p:cNvPicPr>
          <p:nvPr/>
        </p:nvPicPr>
        <p:blipFill>
          <a:blip r:embed="rId5"/>
          <a:srcRect/>
          <a:stretch>
            <a:fillRect/>
          </a:stretch>
        </p:blipFill>
        <p:spPr bwMode="auto">
          <a:xfrm>
            <a:off x="4903337" y="1283145"/>
            <a:ext cx="1689100" cy="1684338"/>
          </a:xfrm>
          <a:prstGeom prst="rect">
            <a:avLst/>
          </a:prstGeom>
          <a:noFill/>
        </p:spPr>
      </p:pic>
      <p:sp>
        <p:nvSpPr>
          <p:cNvPr id="25" name="Line 13"/>
          <p:cNvSpPr>
            <a:spLocks noChangeShapeType="1"/>
          </p:cNvSpPr>
          <p:nvPr/>
        </p:nvSpPr>
        <p:spPr bwMode="auto">
          <a:xfrm flipH="1">
            <a:off x="3474587" y="1941958"/>
            <a:ext cx="2527300" cy="1619250"/>
          </a:xfrm>
          <a:prstGeom prst="line">
            <a:avLst/>
          </a:prstGeom>
          <a:noFill/>
          <a:ln w="38100">
            <a:solidFill>
              <a:schemeClr val="tx1"/>
            </a:solidFill>
            <a:round/>
            <a:headEnd/>
            <a:tailEnd/>
          </a:ln>
          <a:effectLst/>
        </p:spPr>
        <p:txBody>
          <a:bodyPr wrap="none" lIns="45720" rIns="45720" anchor="ctr"/>
          <a:lstStyle/>
          <a:p>
            <a:endParaRPr lang="fr-FR" b="1"/>
          </a:p>
        </p:txBody>
      </p:sp>
      <p:sp>
        <p:nvSpPr>
          <p:cNvPr id="26" name="Oval 14"/>
          <p:cNvSpPr>
            <a:spLocks noChangeArrowheads="1"/>
          </p:cNvSpPr>
          <p:nvPr/>
        </p:nvSpPr>
        <p:spPr bwMode="auto">
          <a:xfrm>
            <a:off x="5571674" y="1570483"/>
            <a:ext cx="833438" cy="484187"/>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US" sz="2400" b="1">
                <a:effectLst>
                  <a:outerShdw blurRad="38100" dist="38100" dir="2700000" algn="tl">
                    <a:srgbClr val="FFFFFF"/>
                  </a:outerShdw>
                </a:effectLst>
                <a:latin typeface="Arial" charset="0"/>
              </a:rPr>
              <a:t>“.”</a:t>
            </a:r>
          </a:p>
        </p:txBody>
      </p:sp>
      <p:sp>
        <p:nvSpPr>
          <p:cNvPr id="27" name="Oval 15"/>
          <p:cNvSpPr>
            <a:spLocks noChangeArrowheads="1"/>
          </p:cNvSpPr>
          <p:nvPr/>
        </p:nvSpPr>
        <p:spPr bwMode="auto">
          <a:xfrm>
            <a:off x="5050974" y="2141983"/>
            <a:ext cx="833438" cy="484187"/>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r>
              <a:rPr lang="en-US" b="1">
                <a:effectLst>
                  <a:outerShdw blurRad="38100" dist="38100" dir="2700000" algn="tl">
                    <a:srgbClr val="FFFFFF"/>
                  </a:outerShdw>
                </a:effectLst>
                <a:latin typeface="Arial" charset="0"/>
              </a:rPr>
              <a:t>.com</a:t>
            </a:r>
          </a:p>
        </p:txBody>
      </p:sp>
      <p:sp>
        <p:nvSpPr>
          <p:cNvPr id="28" name="Text Box 22"/>
          <p:cNvSpPr txBox="1">
            <a:spLocks noChangeArrowheads="1"/>
          </p:cNvSpPr>
          <p:nvPr/>
        </p:nvSpPr>
        <p:spPr bwMode="auto">
          <a:xfrm flipH="1">
            <a:off x="1206049" y="3427858"/>
            <a:ext cx="1831975" cy="333375"/>
          </a:xfrm>
          <a:prstGeom prst="rect">
            <a:avLst/>
          </a:prstGeom>
          <a:noFill/>
          <a:ln w="12700" algn="ctr">
            <a:noFill/>
            <a:miter lim="800000"/>
            <a:headEnd/>
            <a:tailEnd/>
          </a:ln>
          <a:effectLst/>
        </p:spPr>
        <p:txBody>
          <a:bodyPr wrap="none" anchor="ctr"/>
          <a:lstStyle/>
          <a:p>
            <a:r>
              <a:rPr lang="en-US" sz="1400" b="1" dirty="0"/>
              <a:t>La zone microsoft.com </a:t>
            </a:r>
          </a:p>
        </p:txBody>
      </p:sp>
      <p:sp>
        <p:nvSpPr>
          <p:cNvPr id="29" name="AutoShape 12"/>
          <p:cNvSpPr>
            <a:spLocks noChangeArrowheads="1"/>
          </p:cNvSpPr>
          <p:nvPr/>
        </p:nvSpPr>
        <p:spPr bwMode="auto">
          <a:xfrm>
            <a:off x="290062" y="2392808"/>
            <a:ext cx="1941512" cy="573087"/>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600" b="1" dirty="0"/>
              <a:t>Le </a:t>
            </a:r>
            <a:r>
              <a:rPr lang="en-US" sz="1600" b="1" dirty="0" err="1"/>
              <a:t>domaine</a:t>
            </a:r>
            <a:r>
              <a:rPr lang="en-US" sz="1600" b="1" dirty="0"/>
              <a:t> microsoft.com</a:t>
            </a:r>
          </a:p>
        </p:txBody>
      </p:sp>
      <p:sp>
        <p:nvSpPr>
          <p:cNvPr id="30" name="AutoShape 12"/>
          <p:cNvSpPr>
            <a:spLocks noChangeArrowheads="1"/>
          </p:cNvSpPr>
          <p:nvPr/>
        </p:nvSpPr>
        <p:spPr bwMode="auto">
          <a:xfrm>
            <a:off x="3831774" y="1300608"/>
            <a:ext cx="1168400" cy="331787"/>
          </a:xfrm>
          <a:prstGeom prst="roundRect">
            <a:avLst>
              <a:gd name="adj" fmla="val 4167"/>
            </a:avLst>
          </a:prstGeom>
          <a:solidFill>
            <a:schemeClr val="bg1"/>
          </a:solidFill>
          <a:ln w="9525" algn="ctr">
            <a:solidFill>
              <a:srgbClr val="777777"/>
            </a:solidFill>
            <a:round/>
            <a:headEnd/>
            <a:tailEnd/>
          </a:ln>
        </p:spPr>
        <p:txBody>
          <a:bodyPr anchor="ctr"/>
          <a:lstStyle/>
          <a:p>
            <a:pPr>
              <a:lnSpc>
                <a:spcPct val="80000"/>
              </a:lnSpc>
            </a:pPr>
            <a:r>
              <a:rPr lang="en-US" sz="1600" b="1"/>
              <a:t>Internet</a:t>
            </a:r>
          </a:p>
        </p:txBody>
      </p:sp>
      <p:sp>
        <p:nvSpPr>
          <p:cNvPr id="31" name="Text Box 26"/>
          <p:cNvSpPr txBox="1">
            <a:spLocks noChangeArrowheads="1"/>
          </p:cNvSpPr>
          <p:nvPr/>
        </p:nvSpPr>
        <p:spPr bwMode="auto">
          <a:xfrm flipH="1">
            <a:off x="85274" y="4824858"/>
            <a:ext cx="2419350" cy="498475"/>
          </a:xfrm>
          <a:prstGeom prst="rect">
            <a:avLst/>
          </a:prstGeom>
          <a:noFill/>
          <a:ln w="12700" algn="ctr">
            <a:noFill/>
            <a:miter lim="800000"/>
            <a:headEnd/>
            <a:tailEnd/>
          </a:ln>
          <a:effectLst/>
        </p:spPr>
        <p:txBody>
          <a:bodyPr wrap="none" anchor="ctr"/>
          <a:lstStyle/>
          <a:p>
            <a:pPr algn="r"/>
            <a:r>
              <a:rPr lang="en-US" sz="1400" b="1" dirty="0"/>
              <a:t>La zone example.microsoft.com</a:t>
            </a:r>
          </a:p>
        </p:txBody>
      </p:sp>
      <p:sp>
        <p:nvSpPr>
          <p:cNvPr id="32" name="Text Box 27"/>
          <p:cNvSpPr txBox="1">
            <a:spLocks noChangeArrowheads="1"/>
          </p:cNvSpPr>
          <p:nvPr/>
        </p:nvSpPr>
        <p:spPr bwMode="auto">
          <a:xfrm>
            <a:off x="6555924" y="1721295"/>
            <a:ext cx="1898650" cy="233363"/>
          </a:xfrm>
          <a:prstGeom prst="rect">
            <a:avLst/>
          </a:prstGeom>
          <a:noFill/>
          <a:ln w="12700" algn="ctr">
            <a:noFill/>
            <a:miter lim="800000"/>
            <a:headEnd/>
            <a:tailEnd/>
          </a:ln>
          <a:effectLst/>
        </p:spPr>
        <p:txBody>
          <a:bodyPr wrap="none" anchor="ctr"/>
          <a:lstStyle/>
          <a:p>
            <a:r>
              <a:rPr lang="en-US" sz="1400" b="1" dirty="0"/>
              <a:t>Le </a:t>
            </a:r>
            <a:r>
              <a:rPr lang="en-US" sz="1400" b="1" dirty="0" err="1"/>
              <a:t>domaine</a:t>
            </a:r>
            <a:r>
              <a:rPr lang="en-US" sz="1400" b="1" dirty="0"/>
              <a:t> </a:t>
            </a:r>
            <a:r>
              <a:rPr lang="en-US" sz="1400" b="1" dirty="0" err="1"/>
              <a:t>racine</a:t>
            </a:r>
            <a:r>
              <a:rPr lang="en-US" sz="1400" b="1" dirty="0"/>
              <a:t> DNS</a:t>
            </a:r>
          </a:p>
        </p:txBody>
      </p:sp>
      <p:sp>
        <p:nvSpPr>
          <p:cNvPr id="33" name="Line 28"/>
          <p:cNvSpPr>
            <a:spLocks noChangeShapeType="1"/>
          </p:cNvSpPr>
          <p:nvPr/>
        </p:nvSpPr>
        <p:spPr bwMode="auto">
          <a:xfrm flipH="1">
            <a:off x="2915787" y="3643758"/>
            <a:ext cx="609600" cy="1390650"/>
          </a:xfrm>
          <a:prstGeom prst="line">
            <a:avLst/>
          </a:prstGeom>
          <a:noFill/>
          <a:ln w="38100">
            <a:solidFill>
              <a:schemeClr val="tx1"/>
            </a:solidFill>
            <a:round/>
            <a:headEnd/>
            <a:tailEnd/>
          </a:ln>
          <a:effectLst/>
        </p:spPr>
        <p:txBody>
          <a:bodyPr wrap="none" lIns="45720" rIns="45720" anchor="ctr"/>
          <a:lstStyle/>
          <a:p>
            <a:endParaRPr lang="fr-FR" b="1"/>
          </a:p>
        </p:txBody>
      </p:sp>
      <p:sp>
        <p:nvSpPr>
          <p:cNvPr id="36" name="Freeform 33"/>
          <p:cNvSpPr>
            <a:spLocks/>
          </p:cNvSpPr>
          <p:nvPr/>
        </p:nvSpPr>
        <p:spPr bwMode="auto">
          <a:xfrm>
            <a:off x="5071612" y="3040508"/>
            <a:ext cx="1652587" cy="1198562"/>
          </a:xfrm>
          <a:custGeom>
            <a:avLst/>
            <a:gdLst/>
            <a:ahLst/>
            <a:cxnLst>
              <a:cxn ang="0">
                <a:pos x="0" y="1076"/>
              </a:cxn>
              <a:cxn ang="0">
                <a:pos x="1025" y="0"/>
              </a:cxn>
              <a:cxn ang="0">
                <a:pos x="1084" y="1229"/>
              </a:cxn>
              <a:cxn ang="0">
                <a:pos x="0" y="1076"/>
              </a:cxn>
            </a:cxnLst>
            <a:rect l="0" t="0" r="r" b="b"/>
            <a:pathLst>
              <a:path w="1084" h="1229">
                <a:moveTo>
                  <a:pt x="0" y="1076"/>
                </a:moveTo>
                <a:lnTo>
                  <a:pt x="1025" y="0"/>
                </a:lnTo>
                <a:lnTo>
                  <a:pt x="1084" y="1229"/>
                </a:lnTo>
                <a:lnTo>
                  <a:pt x="0" y="1076"/>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fr-FR" b="1"/>
          </a:p>
        </p:txBody>
      </p:sp>
      <p:sp>
        <p:nvSpPr>
          <p:cNvPr id="37" name="Freeform 75"/>
          <p:cNvSpPr>
            <a:spLocks/>
          </p:cNvSpPr>
          <p:nvPr/>
        </p:nvSpPr>
        <p:spPr bwMode="auto">
          <a:xfrm rot="675623">
            <a:off x="4487412" y="5226495"/>
            <a:ext cx="1652587" cy="862013"/>
          </a:xfrm>
          <a:custGeom>
            <a:avLst/>
            <a:gdLst/>
            <a:ahLst/>
            <a:cxnLst>
              <a:cxn ang="0">
                <a:pos x="0" y="1076"/>
              </a:cxn>
              <a:cxn ang="0">
                <a:pos x="1025" y="0"/>
              </a:cxn>
              <a:cxn ang="0">
                <a:pos x="1084" y="1229"/>
              </a:cxn>
              <a:cxn ang="0">
                <a:pos x="0" y="1076"/>
              </a:cxn>
            </a:cxnLst>
            <a:rect l="0" t="0" r="r" b="b"/>
            <a:pathLst>
              <a:path w="1084" h="1229">
                <a:moveTo>
                  <a:pt x="0" y="1076"/>
                </a:moveTo>
                <a:lnTo>
                  <a:pt x="1025" y="0"/>
                </a:lnTo>
                <a:lnTo>
                  <a:pt x="1084" y="1229"/>
                </a:lnTo>
                <a:lnTo>
                  <a:pt x="0" y="1076"/>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fr-FR" b="1"/>
          </a:p>
        </p:txBody>
      </p:sp>
      <p:graphicFrame>
        <p:nvGraphicFramePr>
          <p:cNvPr id="38" name="Group 94"/>
          <p:cNvGraphicFramePr>
            <a:graphicFrameLocks noGrp="1"/>
          </p:cNvGraphicFramePr>
          <p:nvPr/>
        </p:nvGraphicFramePr>
        <p:xfrm>
          <a:off x="5889174" y="5388420"/>
          <a:ext cx="2897188" cy="914400"/>
        </p:xfrm>
        <a:graphic>
          <a:graphicData uri="http://schemas.openxmlformats.org/drawingml/2006/table">
            <a:tbl>
              <a:tblPr/>
              <a:tblGrid>
                <a:gridCol w="2897188">
                  <a:extLst>
                    <a:ext uri="{9D8B030D-6E8A-4147-A177-3AD203B41FA5}">
                      <a16:colId xmlns:a16="http://schemas.microsoft.com/office/drawing/2014/main" val="20000"/>
                    </a:ext>
                  </a:extLst>
                </a:gridCol>
              </a:tblGrid>
              <a:tr h="1238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example.microsoft.com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4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www.example.microsoft.com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1365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Verdana" pitchFamily="34" charset="0"/>
                        </a:rPr>
                        <a:t>ftp.example.microsoft.com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bl>
          </a:graphicData>
        </a:graphic>
      </p:graphicFrame>
      <p:sp>
        <p:nvSpPr>
          <p:cNvPr id="39" name="Line 21"/>
          <p:cNvSpPr>
            <a:spLocks noChangeShapeType="1"/>
          </p:cNvSpPr>
          <p:nvPr/>
        </p:nvSpPr>
        <p:spPr bwMode="auto">
          <a:xfrm rot="19420776" flipH="1">
            <a:off x="6855962" y="4556570"/>
            <a:ext cx="1358900" cy="454025"/>
          </a:xfrm>
          <a:prstGeom prst="line">
            <a:avLst/>
          </a:prstGeom>
          <a:noFill/>
          <a:ln w="50800">
            <a:solidFill>
              <a:srgbClr val="CC0000"/>
            </a:solidFill>
            <a:round/>
            <a:headEnd/>
            <a:tailEnd type="triangle" w="med" len="med"/>
          </a:ln>
        </p:spPr>
        <p:txBody>
          <a:bodyPr/>
          <a:lstStyle/>
          <a:p>
            <a:endParaRPr lang="fr-FR" b="1"/>
          </a:p>
        </p:txBody>
      </p:sp>
      <p:sp>
        <p:nvSpPr>
          <p:cNvPr id="40" name="Rectangle 24"/>
          <p:cNvSpPr>
            <a:spLocks noChangeArrowheads="1"/>
          </p:cNvSpPr>
          <p:nvPr/>
        </p:nvSpPr>
        <p:spPr bwMode="auto">
          <a:xfrm rot="18379224" flipH="1">
            <a:off x="6568624" y="4548633"/>
            <a:ext cx="1482725" cy="327025"/>
          </a:xfrm>
          <a:prstGeom prst="rect">
            <a:avLst/>
          </a:prstGeom>
          <a:noFill/>
          <a:ln w="9525" algn="ctr">
            <a:noFill/>
            <a:miter lim="800000"/>
            <a:headEnd/>
            <a:tailEnd/>
          </a:ln>
        </p:spPr>
        <p:txBody>
          <a:bodyPr wrap="none" anchor="ctr"/>
          <a:lstStyle/>
          <a:p>
            <a:r>
              <a:rPr lang="en-US" sz="1400" b="1" dirty="0" err="1"/>
              <a:t>déleguation</a:t>
            </a:r>
            <a:endParaRPr lang="en-US" sz="1400" b="1" dirty="0"/>
          </a:p>
        </p:txBody>
      </p:sp>
      <p:graphicFrame>
        <p:nvGraphicFramePr>
          <p:cNvPr id="41" name="Group 112"/>
          <p:cNvGraphicFramePr>
            <a:graphicFrameLocks noGrp="1"/>
          </p:cNvGraphicFramePr>
          <p:nvPr/>
        </p:nvGraphicFramePr>
        <p:xfrm>
          <a:off x="6511474" y="2962720"/>
          <a:ext cx="2274888" cy="1285875"/>
        </p:xfrm>
        <a:graphic>
          <a:graphicData uri="http://schemas.openxmlformats.org/drawingml/2006/table">
            <a:tbl>
              <a:tblPr/>
              <a:tblGrid>
                <a:gridCol w="2274888">
                  <a:extLst>
                    <a:ext uri="{9D8B030D-6E8A-4147-A177-3AD203B41FA5}">
                      <a16:colId xmlns:a16="http://schemas.microsoft.com/office/drawing/2014/main" val="20000"/>
                    </a:ext>
                  </a:extLst>
                </a:gridCol>
              </a:tblGrid>
              <a:tr h="149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4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www.microsoft.com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ftp.microsoft.com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271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Verdana" pitchFamily="34" charset="0"/>
                        </a:rPr>
                        <a:t>example.microsoft.com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42" name="Line 21"/>
          <p:cNvSpPr>
            <a:spLocks noChangeShapeType="1"/>
          </p:cNvSpPr>
          <p:nvPr/>
        </p:nvSpPr>
        <p:spPr bwMode="auto">
          <a:xfrm rot="2688164" flipH="1">
            <a:off x="3838124" y="3331020"/>
            <a:ext cx="1160463" cy="814388"/>
          </a:xfrm>
          <a:prstGeom prst="line">
            <a:avLst/>
          </a:prstGeom>
          <a:noFill/>
          <a:ln w="38100">
            <a:solidFill>
              <a:schemeClr val="tx1"/>
            </a:solidFill>
            <a:round/>
            <a:headEnd/>
            <a:tailEnd/>
          </a:ln>
          <a:effectLst/>
        </p:spPr>
        <p:txBody>
          <a:bodyPr wrap="none" lIns="45720" rIns="45720" anchor="ctr"/>
          <a:lstStyle/>
          <a:p>
            <a:endParaRPr lang="fr-FR" b="1"/>
          </a:p>
        </p:txBody>
      </p:sp>
      <p:sp>
        <p:nvSpPr>
          <p:cNvPr id="43" name="Rectangle 24"/>
          <p:cNvSpPr>
            <a:spLocks noChangeArrowheads="1"/>
          </p:cNvSpPr>
          <p:nvPr/>
        </p:nvSpPr>
        <p:spPr bwMode="auto">
          <a:xfrm rot="749953" flipH="1">
            <a:off x="3676199" y="3502470"/>
            <a:ext cx="1482725" cy="173038"/>
          </a:xfrm>
          <a:prstGeom prst="rect">
            <a:avLst/>
          </a:prstGeom>
          <a:noFill/>
          <a:ln w="9525" algn="ctr">
            <a:noFill/>
            <a:miter lim="800000"/>
            <a:headEnd/>
            <a:tailEnd/>
          </a:ln>
        </p:spPr>
        <p:txBody>
          <a:bodyPr wrap="none" anchor="ctr"/>
          <a:lstStyle/>
          <a:p>
            <a:r>
              <a:rPr lang="en-US" sz="1400" b="1"/>
              <a:t>WWW</a:t>
            </a:r>
          </a:p>
        </p:txBody>
      </p:sp>
      <p:sp>
        <p:nvSpPr>
          <p:cNvPr id="44" name="Line 21"/>
          <p:cNvSpPr>
            <a:spLocks noChangeShapeType="1"/>
          </p:cNvSpPr>
          <p:nvPr/>
        </p:nvSpPr>
        <p:spPr bwMode="auto">
          <a:xfrm rot="2688164" flipH="1">
            <a:off x="3739699" y="3705670"/>
            <a:ext cx="1216025" cy="452438"/>
          </a:xfrm>
          <a:prstGeom prst="line">
            <a:avLst/>
          </a:prstGeom>
          <a:noFill/>
          <a:ln w="38100">
            <a:solidFill>
              <a:schemeClr val="tx1"/>
            </a:solidFill>
            <a:round/>
            <a:headEnd/>
            <a:tailEnd/>
          </a:ln>
          <a:effectLst/>
        </p:spPr>
        <p:txBody>
          <a:bodyPr wrap="none" lIns="45720" rIns="45720" anchor="ctr"/>
          <a:lstStyle/>
          <a:p>
            <a:endParaRPr lang="fr-FR" b="1"/>
          </a:p>
        </p:txBody>
      </p:sp>
      <p:sp>
        <p:nvSpPr>
          <p:cNvPr id="45" name="Rectangle 24"/>
          <p:cNvSpPr>
            <a:spLocks noChangeArrowheads="1"/>
          </p:cNvSpPr>
          <p:nvPr/>
        </p:nvSpPr>
        <p:spPr bwMode="auto">
          <a:xfrm rot="1503280" flipH="1">
            <a:off x="3396799" y="3934270"/>
            <a:ext cx="1482725" cy="173038"/>
          </a:xfrm>
          <a:prstGeom prst="rect">
            <a:avLst/>
          </a:prstGeom>
          <a:noFill/>
          <a:ln w="9525" algn="ctr">
            <a:noFill/>
            <a:miter lim="800000"/>
            <a:headEnd/>
            <a:tailEnd/>
          </a:ln>
        </p:spPr>
        <p:txBody>
          <a:bodyPr wrap="none" anchor="ctr"/>
          <a:lstStyle/>
          <a:p>
            <a:r>
              <a:rPr lang="en-US" sz="1400" b="1"/>
              <a:t>FTP</a:t>
            </a:r>
          </a:p>
        </p:txBody>
      </p:sp>
      <p:sp>
        <p:nvSpPr>
          <p:cNvPr id="46" name="Oval 23"/>
          <p:cNvSpPr>
            <a:spLocks noChangeArrowheads="1"/>
          </p:cNvSpPr>
          <p:nvPr/>
        </p:nvSpPr>
        <p:spPr bwMode="auto">
          <a:xfrm flipH="1">
            <a:off x="3231699" y="3392933"/>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b="1"/>
          </a:p>
        </p:txBody>
      </p:sp>
      <p:sp>
        <p:nvSpPr>
          <p:cNvPr id="48" name="Line 21"/>
          <p:cNvSpPr>
            <a:spLocks noChangeShapeType="1"/>
          </p:cNvSpPr>
          <p:nvPr/>
        </p:nvSpPr>
        <p:spPr bwMode="auto">
          <a:xfrm rot="2688164" flipH="1">
            <a:off x="3036437" y="4889945"/>
            <a:ext cx="1401762" cy="849313"/>
          </a:xfrm>
          <a:prstGeom prst="line">
            <a:avLst/>
          </a:prstGeom>
          <a:noFill/>
          <a:ln w="38100">
            <a:solidFill>
              <a:schemeClr val="tx1"/>
            </a:solidFill>
            <a:round/>
            <a:headEnd/>
            <a:tailEnd/>
          </a:ln>
          <a:effectLst/>
        </p:spPr>
        <p:txBody>
          <a:bodyPr wrap="none" lIns="45720" rIns="45720" anchor="ctr"/>
          <a:lstStyle/>
          <a:p>
            <a:endParaRPr lang="fr-FR" b="1"/>
          </a:p>
        </p:txBody>
      </p:sp>
      <p:sp>
        <p:nvSpPr>
          <p:cNvPr id="49" name="Rectangle 24"/>
          <p:cNvSpPr>
            <a:spLocks noChangeArrowheads="1"/>
          </p:cNvSpPr>
          <p:nvPr/>
        </p:nvSpPr>
        <p:spPr bwMode="auto">
          <a:xfrm rot="749953" flipH="1">
            <a:off x="3206299" y="5115370"/>
            <a:ext cx="1482725" cy="173038"/>
          </a:xfrm>
          <a:prstGeom prst="rect">
            <a:avLst/>
          </a:prstGeom>
          <a:noFill/>
          <a:ln w="9525" algn="ctr">
            <a:noFill/>
            <a:miter lim="800000"/>
            <a:headEnd/>
            <a:tailEnd/>
          </a:ln>
        </p:spPr>
        <p:txBody>
          <a:bodyPr wrap="none" anchor="ctr"/>
          <a:lstStyle/>
          <a:p>
            <a:r>
              <a:rPr lang="en-US" sz="1400" b="1"/>
              <a:t>WWW.example</a:t>
            </a:r>
          </a:p>
        </p:txBody>
      </p:sp>
      <p:sp>
        <p:nvSpPr>
          <p:cNvPr id="50" name="Line 21"/>
          <p:cNvSpPr>
            <a:spLocks noChangeShapeType="1"/>
          </p:cNvSpPr>
          <p:nvPr/>
        </p:nvSpPr>
        <p:spPr bwMode="auto">
          <a:xfrm rot="2688164" flipH="1">
            <a:off x="3044374" y="5261420"/>
            <a:ext cx="1423988" cy="514350"/>
          </a:xfrm>
          <a:prstGeom prst="line">
            <a:avLst/>
          </a:prstGeom>
          <a:noFill/>
          <a:ln w="38100">
            <a:solidFill>
              <a:schemeClr val="tx1"/>
            </a:solidFill>
            <a:round/>
            <a:headEnd/>
            <a:tailEnd/>
          </a:ln>
          <a:effectLst/>
        </p:spPr>
        <p:txBody>
          <a:bodyPr wrap="none" lIns="45720" rIns="45720" anchor="ctr"/>
          <a:lstStyle/>
          <a:p>
            <a:endParaRPr lang="fr-FR" b="1"/>
          </a:p>
        </p:txBody>
      </p:sp>
      <p:sp>
        <p:nvSpPr>
          <p:cNvPr id="51" name="Rectangle 24"/>
          <p:cNvSpPr>
            <a:spLocks noChangeArrowheads="1"/>
          </p:cNvSpPr>
          <p:nvPr/>
        </p:nvSpPr>
        <p:spPr bwMode="auto">
          <a:xfrm rot="1503280" flipH="1">
            <a:off x="2901499" y="5572570"/>
            <a:ext cx="1482725" cy="173038"/>
          </a:xfrm>
          <a:prstGeom prst="rect">
            <a:avLst/>
          </a:prstGeom>
          <a:noFill/>
          <a:ln w="9525" algn="ctr">
            <a:noFill/>
            <a:miter lim="800000"/>
            <a:headEnd/>
            <a:tailEnd/>
          </a:ln>
        </p:spPr>
        <p:txBody>
          <a:bodyPr wrap="none" anchor="ctr"/>
          <a:lstStyle/>
          <a:p>
            <a:r>
              <a:rPr lang="en-US" sz="1400" b="1"/>
              <a:t>FTP.example</a:t>
            </a:r>
          </a:p>
        </p:txBody>
      </p:sp>
      <p:sp>
        <p:nvSpPr>
          <p:cNvPr id="52" name="Oval 19"/>
          <p:cNvSpPr>
            <a:spLocks noChangeArrowheads="1"/>
          </p:cNvSpPr>
          <p:nvPr/>
        </p:nvSpPr>
        <p:spPr bwMode="auto">
          <a:xfrm flipH="1">
            <a:off x="2495099" y="4942333"/>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b="1"/>
          </a:p>
        </p:txBody>
      </p:sp>
      <p:sp>
        <p:nvSpPr>
          <p:cNvPr id="54" name="Text Box 120"/>
          <p:cNvSpPr txBox="1">
            <a:spLocks noChangeArrowheads="1"/>
          </p:cNvSpPr>
          <p:nvPr/>
        </p:nvSpPr>
        <p:spPr bwMode="auto">
          <a:xfrm>
            <a:off x="6511474" y="3953320"/>
            <a:ext cx="2273300" cy="300038"/>
          </a:xfrm>
          <a:prstGeom prst="rect">
            <a:avLst/>
          </a:prstGeom>
          <a:noFill/>
          <a:ln w="38100" algn="ctr">
            <a:solidFill>
              <a:srgbClr val="FF0000"/>
            </a:solidFill>
            <a:miter lim="800000"/>
            <a:headEnd/>
            <a:tailEnd/>
          </a:ln>
          <a:effectLst/>
        </p:spPr>
        <p:txBody>
          <a:bodyPr/>
          <a:lstStyle/>
          <a:p>
            <a:pPr>
              <a:spcBef>
                <a:spcPct val="50000"/>
              </a:spcBef>
            </a:pPr>
            <a:endParaRPr lang="fr-FR" b="1"/>
          </a:p>
        </p:txBody>
      </p:sp>
      <p:sp>
        <p:nvSpPr>
          <p:cNvPr id="55" name="AutoShape 87"/>
          <p:cNvSpPr>
            <a:spLocks noChangeArrowheads="1"/>
          </p:cNvSpPr>
          <p:nvPr>
            <p:custDataLst>
              <p:tags r:id="rId2"/>
            </p:custDataLst>
          </p:nvPr>
        </p:nvSpPr>
        <p:spPr bwMode="auto">
          <a:xfrm>
            <a:off x="449943" y="1291771"/>
            <a:ext cx="8694057" cy="1734456"/>
          </a:xfrm>
          <a:prstGeom prst="roundRect">
            <a:avLst>
              <a:gd name="adj" fmla="val 25468"/>
            </a:avLst>
          </a:prstGeom>
          <a:solidFill>
            <a:schemeClr val="bg1"/>
          </a:solidFill>
          <a:ln>
            <a:headEnd/>
            <a:tailEnd/>
          </a:ln>
        </p:spPr>
        <p:style>
          <a:lnRef idx="1">
            <a:schemeClr val="accent2"/>
          </a:lnRef>
          <a:fillRef idx="3">
            <a:schemeClr val="accent2"/>
          </a:fillRef>
          <a:effectRef idx="2">
            <a:schemeClr val="accent2"/>
          </a:effectRef>
          <a:fontRef idx="minor">
            <a:schemeClr val="lt1"/>
          </a:fontRef>
        </p:style>
        <p:txBody>
          <a:bodyPr anchor="ctr"/>
          <a:lstStyle/>
          <a:p>
            <a:pPr algn="l" eaLnBrk="1" hangingPunct="1"/>
            <a:r>
              <a:rPr lang="en-GB" sz="2400" b="1" dirty="0" err="1">
                <a:solidFill>
                  <a:schemeClr val="tx1"/>
                </a:solidFill>
              </a:rPr>
              <a:t>Une</a:t>
            </a:r>
            <a:r>
              <a:rPr lang="en-GB" sz="2400" b="1" dirty="0">
                <a:solidFill>
                  <a:schemeClr val="tx1"/>
                </a:solidFill>
              </a:rPr>
              <a:t> </a:t>
            </a:r>
            <a:r>
              <a:rPr lang="en-GB" sz="2400" b="1" i="1" dirty="0">
                <a:solidFill>
                  <a:schemeClr val="tx1"/>
                </a:solidFill>
              </a:rPr>
              <a:t>zone</a:t>
            </a:r>
            <a:r>
              <a:rPr lang="en-GB" sz="2400" b="1" dirty="0">
                <a:solidFill>
                  <a:schemeClr val="tx1"/>
                </a:solidFill>
              </a:rPr>
              <a:t> </a:t>
            </a:r>
            <a:r>
              <a:rPr lang="en-GB" sz="2400" b="1" dirty="0" err="1">
                <a:solidFill>
                  <a:schemeClr val="tx1"/>
                </a:solidFill>
              </a:rPr>
              <a:t>est</a:t>
            </a:r>
            <a:r>
              <a:rPr lang="en-GB" sz="2400" b="1" dirty="0">
                <a:solidFill>
                  <a:schemeClr val="tx1"/>
                </a:solidFill>
              </a:rPr>
              <a:t> </a:t>
            </a:r>
            <a:r>
              <a:rPr lang="en-GB" sz="2400" b="1" dirty="0" err="1">
                <a:solidFill>
                  <a:schemeClr val="tx1"/>
                </a:solidFill>
              </a:rPr>
              <a:t>une</a:t>
            </a:r>
            <a:r>
              <a:rPr lang="en-GB" sz="2400" b="1" dirty="0">
                <a:solidFill>
                  <a:schemeClr val="tx1"/>
                </a:solidFill>
              </a:rPr>
              <a:t> portion de la base de </a:t>
            </a:r>
            <a:r>
              <a:rPr lang="en-GB" sz="2400" b="1" dirty="0" err="1">
                <a:solidFill>
                  <a:schemeClr val="tx1"/>
                </a:solidFill>
              </a:rPr>
              <a:t>données</a:t>
            </a:r>
            <a:r>
              <a:rPr lang="en-GB" sz="2400" b="1" dirty="0">
                <a:solidFill>
                  <a:schemeClr val="tx1"/>
                </a:solidFill>
              </a:rPr>
              <a:t> DNS qui </a:t>
            </a:r>
            <a:r>
              <a:rPr lang="en-GB" sz="2400" b="1" dirty="0" err="1">
                <a:solidFill>
                  <a:schemeClr val="tx1"/>
                </a:solidFill>
              </a:rPr>
              <a:t>contient</a:t>
            </a:r>
            <a:r>
              <a:rPr lang="en-GB" sz="2400" b="1" dirty="0">
                <a:solidFill>
                  <a:schemeClr val="tx1"/>
                </a:solidFill>
              </a:rPr>
              <a:t> les </a:t>
            </a:r>
            <a:r>
              <a:rPr lang="en-GB" sz="2400" b="1" dirty="0" err="1">
                <a:solidFill>
                  <a:schemeClr val="tx1"/>
                </a:solidFill>
              </a:rPr>
              <a:t>enregistrements</a:t>
            </a:r>
            <a:r>
              <a:rPr lang="en-GB" sz="2400" b="1" dirty="0">
                <a:solidFill>
                  <a:schemeClr val="tx1"/>
                </a:solidFill>
              </a:rPr>
              <a:t> de </a:t>
            </a:r>
            <a:r>
              <a:rPr lang="en-GB" sz="2400" b="1" dirty="0" err="1">
                <a:solidFill>
                  <a:schemeClr val="tx1"/>
                </a:solidFill>
              </a:rPr>
              <a:t>ressources</a:t>
            </a:r>
            <a:r>
              <a:rPr lang="en-GB" sz="2400" b="1" dirty="0">
                <a:solidFill>
                  <a:schemeClr val="tx1"/>
                </a:solidFill>
              </a:rPr>
              <a:t> </a:t>
            </a:r>
            <a:r>
              <a:rPr lang="en-GB" sz="2400" b="1" dirty="0" err="1">
                <a:solidFill>
                  <a:schemeClr val="tx1"/>
                </a:solidFill>
              </a:rPr>
              <a:t>dans</a:t>
            </a:r>
            <a:r>
              <a:rPr lang="en-GB" sz="2400" b="1" dirty="0">
                <a:solidFill>
                  <a:schemeClr val="tx1"/>
                </a:solidFill>
              </a:rPr>
              <a:t> </a:t>
            </a:r>
            <a:r>
              <a:rPr lang="en-GB" sz="2400" b="1" dirty="0" err="1">
                <a:solidFill>
                  <a:schemeClr val="tx1"/>
                </a:solidFill>
              </a:rPr>
              <a:t>lesquels</a:t>
            </a:r>
            <a:r>
              <a:rPr lang="en-GB" sz="2400" b="1" dirty="0">
                <a:solidFill>
                  <a:schemeClr val="tx1"/>
                </a:solidFill>
              </a:rPr>
              <a:t> le nom du </a:t>
            </a:r>
            <a:r>
              <a:rPr lang="en-GB" sz="2400" b="1" dirty="0" err="1">
                <a:solidFill>
                  <a:schemeClr val="tx1"/>
                </a:solidFill>
              </a:rPr>
              <a:t>propriétaire</a:t>
            </a:r>
            <a:r>
              <a:rPr lang="en-GB" sz="2400" b="1" dirty="0">
                <a:solidFill>
                  <a:schemeClr val="tx1"/>
                </a:solidFill>
              </a:rPr>
              <a:t> </a:t>
            </a:r>
            <a:r>
              <a:rPr lang="en-GB" sz="2400" b="1" dirty="0" err="1">
                <a:solidFill>
                  <a:schemeClr val="tx1"/>
                </a:solidFill>
              </a:rPr>
              <a:t>appartient</a:t>
            </a:r>
            <a:r>
              <a:rPr lang="en-GB" sz="2400" b="1" dirty="0">
                <a:solidFill>
                  <a:schemeClr val="tx1"/>
                </a:solidFill>
              </a:rPr>
              <a:t>  à la portion </a:t>
            </a:r>
            <a:r>
              <a:rPr lang="en-GB" sz="2400" b="1" dirty="0" err="1">
                <a:solidFill>
                  <a:schemeClr val="tx1"/>
                </a:solidFill>
              </a:rPr>
              <a:t>contiguë</a:t>
            </a:r>
            <a:r>
              <a:rPr lang="en-GB" sz="2400" b="1" dirty="0">
                <a:solidFill>
                  <a:schemeClr val="tx1"/>
                </a:solidFill>
              </a:rPr>
              <a:t> de </a:t>
            </a:r>
            <a:r>
              <a:rPr lang="en-GB" sz="2400" b="1" dirty="0" err="1">
                <a:solidFill>
                  <a:schemeClr val="tx1"/>
                </a:solidFill>
              </a:rPr>
              <a:t>l'espace</a:t>
            </a:r>
            <a:r>
              <a:rPr lang="en-GB" sz="2400" b="1" dirty="0">
                <a:solidFill>
                  <a:schemeClr val="tx1"/>
                </a:solidFill>
              </a:rPr>
              <a:t> de </a:t>
            </a:r>
            <a:r>
              <a:rPr lang="en-GB" sz="2400" b="1" dirty="0" err="1">
                <a:solidFill>
                  <a:schemeClr val="tx1"/>
                </a:solidFill>
              </a:rPr>
              <a:t>noms</a:t>
            </a:r>
            <a:r>
              <a:rPr lang="en-GB" sz="2400" b="1" dirty="0">
                <a:solidFill>
                  <a:schemeClr val="tx1"/>
                </a:solidFill>
              </a:rPr>
              <a:t> DNS</a:t>
            </a:r>
            <a:endParaRPr lang="en-US" sz="2400" b="1" dirty="0">
              <a:solidFill>
                <a:schemeClr val="tx1"/>
              </a:solidFill>
            </a:endParaRPr>
          </a:p>
        </p:txBody>
      </p:sp>
      <p:sp>
        <p:nvSpPr>
          <p:cNvPr id="56" name="Oval 23"/>
          <p:cNvSpPr>
            <a:spLocks noChangeArrowheads="1"/>
          </p:cNvSpPr>
          <p:nvPr/>
        </p:nvSpPr>
        <p:spPr bwMode="auto">
          <a:xfrm flipH="1">
            <a:off x="4356556" y="5707961"/>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b="1"/>
          </a:p>
        </p:txBody>
      </p:sp>
      <p:sp>
        <p:nvSpPr>
          <p:cNvPr id="57" name="Oval 23"/>
          <p:cNvSpPr>
            <a:spLocks noChangeArrowheads="1"/>
          </p:cNvSpPr>
          <p:nvPr/>
        </p:nvSpPr>
        <p:spPr bwMode="auto">
          <a:xfrm flipH="1">
            <a:off x="4479928" y="5308818"/>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b="1"/>
          </a:p>
        </p:txBody>
      </p:sp>
      <p:sp>
        <p:nvSpPr>
          <p:cNvPr id="58" name="Oval 23"/>
          <p:cNvSpPr>
            <a:spLocks noChangeArrowheads="1"/>
          </p:cNvSpPr>
          <p:nvPr/>
        </p:nvSpPr>
        <p:spPr bwMode="auto">
          <a:xfrm flipH="1">
            <a:off x="4864556" y="4009790"/>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b="1"/>
          </a:p>
        </p:txBody>
      </p:sp>
      <p:sp>
        <p:nvSpPr>
          <p:cNvPr id="59" name="Oval 23"/>
          <p:cNvSpPr>
            <a:spLocks noChangeArrowheads="1"/>
          </p:cNvSpPr>
          <p:nvPr/>
        </p:nvSpPr>
        <p:spPr bwMode="auto">
          <a:xfrm flipH="1">
            <a:off x="5016956" y="3654190"/>
            <a:ext cx="701675" cy="396875"/>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checkerboard(across)">
                                      <p:cBhvr>
                                        <p:cTn id="7" dur="1000"/>
                                        <p:tgtEl>
                                          <p:spTgt spid="2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checkerboard(across)">
                                      <p:cBhvr>
                                        <p:cTn id="10" dur="500"/>
                                        <p:tgtEl>
                                          <p:spTgt spid="3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checkerboard(across)">
                                      <p:cBhvr>
                                        <p:cTn id="13" dur="1000"/>
                                        <p:tgtEl>
                                          <p:spTgt spid="28"/>
                                        </p:tgtEl>
                                      </p:cBhvr>
                                    </p:animEffect>
                                  </p:childTnLst>
                                </p:cTn>
                              </p:par>
                              <p:par>
                                <p:cTn id="14" presetID="5" presetClass="entr" presetSubtype="10" fill="hold"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checkerboard(across)">
                                      <p:cBhvr>
                                        <p:cTn id="16" dur="10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checkerboard(across)">
                                      <p:cBhvr>
                                        <p:cTn id="21" dur="1000"/>
                                        <p:tgtEl>
                                          <p:spTgt spid="39"/>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checkerboard(across)">
                                      <p:cBhvr>
                                        <p:cTn id="24" dur="1000"/>
                                        <p:tgtEl>
                                          <p:spTgt spid="40"/>
                                        </p:tgtEl>
                                      </p:cBhvr>
                                    </p:animEffect>
                                  </p:childTnLst>
                                </p:cTn>
                              </p:par>
                              <p:par>
                                <p:cTn id="25" presetID="5" presetClass="entr" presetSubtype="1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checkerboard(across)">
                                      <p:cBhvr>
                                        <p:cTn id="27" dur="1000"/>
                                        <p:tgtEl>
                                          <p:spTgt spid="38"/>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checkerboard(across)">
                                      <p:cBhvr>
                                        <p:cTn id="30" dur="500"/>
                                        <p:tgtEl>
                                          <p:spTgt spid="5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checkerboard(across)">
                                      <p:cBhvr>
                                        <p:cTn id="33" dur="500"/>
                                        <p:tgtEl>
                                          <p:spTgt spid="37"/>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checkerboard(across)">
                                      <p:cBhvr>
                                        <p:cTn id="36" dur="1000"/>
                                        <p:tgtEl>
                                          <p:spTgt spid="23"/>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checkerboard(across)">
                                      <p:cBhvr>
                                        <p:cTn id="39" dur="10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55"/>
                                        </p:tgtEl>
                                        <p:attrNameLst>
                                          <p:attrName>style.visibility</p:attrName>
                                        </p:attrNameLst>
                                      </p:cBhvr>
                                      <p:to>
                                        <p:strVal val="visible"/>
                                      </p:to>
                                    </p:set>
                                    <p:anim calcmode="lin" valueType="num">
                                      <p:cBhvr additive="base">
                                        <p:cTn id="44" dur="2000" fill="hold"/>
                                        <p:tgtEl>
                                          <p:spTgt spid="55"/>
                                        </p:tgtEl>
                                        <p:attrNameLst>
                                          <p:attrName>ppt_x</p:attrName>
                                        </p:attrNameLst>
                                      </p:cBhvr>
                                      <p:tavLst>
                                        <p:tav tm="0">
                                          <p:val>
                                            <p:strVal val="#ppt_x"/>
                                          </p:val>
                                        </p:tav>
                                        <p:tav tm="100000">
                                          <p:val>
                                            <p:strVal val="#ppt_x"/>
                                          </p:val>
                                        </p:tav>
                                      </p:tavLst>
                                    </p:anim>
                                    <p:anim calcmode="lin" valueType="num">
                                      <p:cBhvr additive="base">
                                        <p:cTn id="45" dur="20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8" grpId="0"/>
      <p:bldP spid="31" grpId="0"/>
      <p:bldP spid="36" grpId="0" animBg="1"/>
      <p:bldP spid="37" grpId="0" animBg="1"/>
      <p:bldP spid="39" grpId="0" animBg="1"/>
      <p:bldP spid="40" grpId="0"/>
      <p:bldP spid="54" grpId="0" animBg="1"/>
      <p:bldP spid="5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custDataLst>
              <p:tags r:id="rId1"/>
            </p:custDataLst>
          </p:nvPr>
        </p:nvSpPr>
        <p:spPr/>
        <p:txBody>
          <a:bodyPr vert="horz" anchor="b">
            <a:normAutofit/>
          </a:bodyPr>
          <a:lstStyle/>
          <a:p>
            <a:r>
              <a:rPr lang="en-GB" sz="3000" b="1" dirty="0" err="1">
                <a:solidFill>
                  <a:srgbClr val="C00000"/>
                </a:solidFill>
              </a:rPr>
              <a:t>Quels</a:t>
            </a:r>
            <a:r>
              <a:rPr lang="en-GB" sz="3000" b="1" dirty="0">
                <a:solidFill>
                  <a:srgbClr val="C00000"/>
                </a:solidFill>
              </a:rPr>
              <a:t> </a:t>
            </a:r>
            <a:r>
              <a:rPr lang="en-GB" sz="3000" b="1" dirty="0" err="1">
                <a:solidFill>
                  <a:srgbClr val="C00000"/>
                </a:solidFill>
              </a:rPr>
              <a:t>sont</a:t>
            </a:r>
            <a:r>
              <a:rPr lang="en-GB" sz="3000" b="1" dirty="0">
                <a:solidFill>
                  <a:srgbClr val="C00000"/>
                </a:solidFill>
              </a:rPr>
              <a:t> les types de zones DNS ?</a:t>
            </a:r>
            <a:endParaRPr lang="en-US" sz="3000" b="1" dirty="0">
              <a:solidFill>
                <a:srgbClr val="C00000"/>
              </a:solidFill>
            </a:endParaRPr>
          </a:p>
        </p:txBody>
      </p:sp>
      <p:graphicFrame>
        <p:nvGraphicFramePr>
          <p:cNvPr id="730204" name="Group 92"/>
          <p:cNvGraphicFramePr>
            <a:graphicFrameLocks noGrp="1"/>
          </p:cNvGraphicFramePr>
          <p:nvPr/>
        </p:nvGraphicFramePr>
        <p:xfrm>
          <a:off x="275771" y="1341438"/>
          <a:ext cx="8635999" cy="5291591"/>
        </p:xfrm>
        <a:graphic>
          <a:graphicData uri="http://schemas.openxmlformats.org/drawingml/2006/table">
            <a:tbl>
              <a:tblPr/>
              <a:tblGrid>
                <a:gridCol w="3277781">
                  <a:extLst>
                    <a:ext uri="{9D8B030D-6E8A-4147-A177-3AD203B41FA5}">
                      <a16:colId xmlns:a16="http://schemas.microsoft.com/office/drawing/2014/main" val="20000"/>
                    </a:ext>
                  </a:extLst>
                </a:gridCol>
                <a:gridCol w="5358218">
                  <a:extLst>
                    <a:ext uri="{9D8B030D-6E8A-4147-A177-3AD203B41FA5}">
                      <a16:colId xmlns:a16="http://schemas.microsoft.com/office/drawing/2014/main" val="20001"/>
                    </a:ext>
                  </a:extLst>
                </a:gridCol>
              </a:tblGrid>
              <a:tr h="528638">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600" b="1" i="0" u="sng" strike="noStrike" cap="none" normalizeH="0" baseline="0" dirty="0">
                          <a:ln>
                            <a:noFill/>
                          </a:ln>
                          <a:solidFill>
                            <a:srgbClr val="000000"/>
                          </a:solidFill>
                          <a:effectLst/>
                          <a:latin typeface="Arial Narrow" pitchFamily="34" charset="0"/>
                        </a:rPr>
                        <a:t>Zones</a:t>
                      </a:r>
                      <a:endParaRPr kumimoji="0" lang="en-US" sz="26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GB" sz="2600" b="1" i="0" u="sng" strike="noStrike" cap="none" normalizeH="0" baseline="0">
                          <a:ln>
                            <a:noFill/>
                          </a:ln>
                          <a:solidFill>
                            <a:srgbClr val="000000"/>
                          </a:solidFill>
                          <a:effectLst/>
                          <a:latin typeface="Arial Narrow" pitchFamily="34" charset="0"/>
                        </a:rPr>
                        <a:t>Description</a:t>
                      </a:r>
                      <a:endParaRPr kumimoji="0" lang="en-US" sz="2600" b="1" i="0" u="sng"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1134381">
                <a:tc>
                  <a:txBody>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GB" sz="2400" b="1" i="0" u="sng" strike="noStrike" cap="none" normalizeH="0" baseline="0" dirty="0" err="1">
                          <a:ln>
                            <a:noFill/>
                          </a:ln>
                          <a:solidFill>
                            <a:srgbClr val="000000"/>
                          </a:solidFill>
                          <a:effectLst/>
                          <a:latin typeface="Arial Narrow" pitchFamily="34" charset="0"/>
                        </a:rPr>
                        <a:t>Principale</a:t>
                      </a:r>
                      <a:endParaRPr kumimoji="0" lang="en-US" sz="2400" b="0" i="0" u="sng" strike="noStrike" cap="none" normalizeH="0" baseline="0" dirty="0">
                        <a:ln>
                          <a:noFill/>
                        </a:ln>
                        <a:solidFill>
                          <a:schemeClr val="tx1"/>
                        </a:solidFill>
                        <a:effectLst/>
                        <a:latin typeface="Arial Narrow" pitchFamily="34" charset="0"/>
                      </a:endParaRP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600" b="1" i="0" u="none" strike="noStrike" cap="none" normalizeH="0" baseline="0" err="1">
                          <a:ln>
                            <a:noFill/>
                          </a:ln>
                          <a:solidFill>
                            <a:srgbClr val="000000"/>
                          </a:solidFill>
                          <a:effectLst/>
                          <a:latin typeface="Arial Narrow" pitchFamily="34" charset="0"/>
                        </a:rPr>
                        <a:t>Copie</a:t>
                      </a:r>
                      <a:r>
                        <a:rPr kumimoji="0" lang="en-GB" sz="2600" b="1" i="0" u="none" strike="noStrike" cap="none" normalizeH="0" baseline="0">
                          <a:ln>
                            <a:noFill/>
                          </a:ln>
                          <a:solidFill>
                            <a:srgbClr val="000000"/>
                          </a:solidFill>
                          <a:effectLst/>
                          <a:latin typeface="Arial Narrow" pitchFamily="34" charset="0"/>
                        </a:rPr>
                        <a:t> en lecture/</a:t>
                      </a:r>
                      <a:r>
                        <a:rPr kumimoji="0" lang="en-GB" sz="2600" b="1" i="0" u="none" strike="noStrike" cap="none" normalizeH="0" baseline="0" err="1">
                          <a:ln>
                            <a:noFill/>
                          </a:ln>
                          <a:solidFill>
                            <a:srgbClr val="000000"/>
                          </a:solidFill>
                          <a:effectLst/>
                          <a:latin typeface="Arial Narrow" pitchFamily="34" charset="0"/>
                        </a:rPr>
                        <a:t>écriture</a:t>
                      </a:r>
                      <a:r>
                        <a:rPr kumimoji="0" lang="en-GB" sz="2600" b="1" i="0" u="none" strike="noStrike" cap="none" normalizeH="0" baseline="0">
                          <a:ln>
                            <a:noFill/>
                          </a:ln>
                          <a:solidFill>
                            <a:srgbClr val="000000"/>
                          </a:solidFill>
                          <a:effectLst/>
                          <a:latin typeface="Arial Narrow" pitchFamily="34" charset="0"/>
                        </a:rPr>
                        <a:t> </a:t>
                      </a:r>
                      <a:r>
                        <a:rPr kumimoji="0" lang="en-GB" sz="2600" b="1" i="0" u="none" strike="noStrike" cap="none" normalizeH="0" baseline="0" err="1">
                          <a:ln>
                            <a:noFill/>
                          </a:ln>
                          <a:solidFill>
                            <a:srgbClr val="000000"/>
                          </a:solidFill>
                          <a:effectLst/>
                          <a:latin typeface="Arial Narrow" pitchFamily="34" charset="0"/>
                        </a:rPr>
                        <a:t>d'une</a:t>
                      </a:r>
                      <a:r>
                        <a:rPr kumimoji="0" lang="en-GB" sz="2600" b="1" i="0" u="none" strike="noStrike" cap="none" normalizeH="0" baseline="0">
                          <a:ln>
                            <a:noFill/>
                          </a:ln>
                          <a:solidFill>
                            <a:srgbClr val="000000"/>
                          </a:solidFill>
                          <a:effectLst/>
                          <a:latin typeface="Arial Narrow" pitchFamily="34" charset="0"/>
                        </a:rPr>
                        <a:t> base de </a:t>
                      </a:r>
                      <a:r>
                        <a:rPr kumimoji="0" lang="en-GB" sz="2600" b="1" i="0" u="none" strike="noStrike" cap="none" normalizeH="0" baseline="0" err="1">
                          <a:ln>
                            <a:noFill/>
                          </a:ln>
                          <a:solidFill>
                            <a:srgbClr val="000000"/>
                          </a:solidFill>
                          <a:effectLst/>
                          <a:latin typeface="Arial Narrow" pitchFamily="34" charset="0"/>
                        </a:rPr>
                        <a:t>données</a:t>
                      </a:r>
                      <a:r>
                        <a:rPr kumimoji="0" lang="en-GB" sz="2600" b="1" i="0" u="none" strike="noStrike" cap="none" normalizeH="0" baseline="0">
                          <a:ln>
                            <a:noFill/>
                          </a:ln>
                          <a:solidFill>
                            <a:srgbClr val="000000"/>
                          </a:solidFill>
                          <a:effectLst/>
                          <a:latin typeface="Arial Narrow" pitchFamily="34" charset="0"/>
                        </a:rPr>
                        <a:t> DNS</a:t>
                      </a:r>
                      <a:endParaRPr kumimoji="0" lang="en-US" sz="26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190172">
                <a:tc>
                  <a:txBody>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GB" sz="2400" b="1" i="0" u="sng" strike="noStrike" kern="1200" cap="none" normalizeH="0" baseline="0" dirty="0" err="1">
                          <a:ln>
                            <a:noFill/>
                          </a:ln>
                          <a:solidFill>
                            <a:srgbClr val="000000"/>
                          </a:solidFill>
                          <a:effectLst/>
                          <a:latin typeface="Arial Narrow" pitchFamily="34" charset="0"/>
                          <a:ea typeface="+mn-ea"/>
                          <a:cs typeface="+mn-cs"/>
                        </a:rPr>
                        <a:t>Secondaire</a:t>
                      </a:r>
                      <a:endParaRPr kumimoji="0" lang="en-US" sz="2400" b="1" i="0" u="sng" strike="noStrike" kern="1200" cap="none" normalizeH="0" baseline="0" dirty="0">
                        <a:ln>
                          <a:noFill/>
                        </a:ln>
                        <a:solidFill>
                          <a:srgbClr val="000000"/>
                        </a:solidFill>
                        <a:effectLst/>
                        <a:latin typeface="Arial Narrow" pitchFamily="34" charset="0"/>
                        <a:ea typeface="+mn-ea"/>
                        <a:cs typeface="+mn-cs"/>
                      </a:endParaRP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en-GB" sz="2600" b="1" i="0" u="none" strike="noStrike" cap="none" normalizeH="0" baseline="0" err="1">
                          <a:ln>
                            <a:noFill/>
                          </a:ln>
                          <a:solidFill>
                            <a:srgbClr val="000000"/>
                          </a:solidFill>
                          <a:effectLst/>
                          <a:latin typeface="Arial Narrow" pitchFamily="34" charset="0"/>
                        </a:rPr>
                        <a:t>Copie</a:t>
                      </a:r>
                      <a:r>
                        <a:rPr kumimoji="0" lang="en-GB" sz="2600" b="1" i="0" u="none" strike="noStrike" cap="none" normalizeH="0" baseline="0">
                          <a:ln>
                            <a:noFill/>
                          </a:ln>
                          <a:solidFill>
                            <a:srgbClr val="000000"/>
                          </a:solidFill>
                          <a:effectLst/>
                          <a:latin typeface="Arial Narrow" pitchFamily="34" charset="0"/>
                        </a:rPr>
                        <a:t> en lecture </a:t>
                      </a:r>
                      <a:r>
                        <a:rPr kumimoji="0" lang="en-GB" sz="2600" b="1" i="0" u="none" strike="noStrike" cap="none" normalizeH="0" baseline="0" err="1">
                          <a:ln>
                            <a:noFill/>
                          </a:ln>
                          <a:solidFill>
                            <a:srgbClr val="000000"/>
                          </a:solidFill>
                          <a:effectLst/>
                          <a:latin typeface="Arial Narrow" pitchFamily="34" charset="0"/>
                        </a:rPr>
                        <a:t>seule</a:t>
                      </a:r>
                      <a:r>
                        <a:rPr kumimoji="0" lang="en-GB" sz="2600" b="1" i="0" u="none" strike="noStrike" cap="none" normalizeH="0" baseline="0">
                          <a:ln>
                            <a:noFill/>
                          </a:ln>
                          <a:solidFill>
                            <a:srgbClr val="000000"/>
                          </a:solidFill>
                          <a:effectLst/>
                          <a:latin typeface="Arial Narrow" pitchFamily="34" charset="0"/>
                        </a:rPr>
                        <a:t> </a:t>
                      </a:r>
                      <a:r>
                        <a:rPr kumimoji="0" lang="en-GB" sz="2600" b="1" i="0" u="none" strike="noStrike" cap="none" normalizeH="0" baseline="0" err="1">
                          <a:ln>
                            <a:noFill/>
                          </a:ln>
                          <a:solidFill>
                            <a:srgbClr val="000000"/>
                          </a:solidFill>
                          <a:effectLst/>
                          <a:latin typeface="Arial Narrow" pitchFamily="34" charset="0"/>
                        </a:rPr>
                        <a:t>d'une</a:t>
                      </a:r>
                      <a:r>
                        <a:rPr kumimoji="0" lang="en-GB" sz="2600" b="1" i="0" u="none" strike="noStrike" cap="none" normalizeH="0" baseline="0">
                          <a:ln>
                            <a:noFill/>
                          </a:ln>
                          <a:solidFill>
                            <a:srgbClr val="000000"/>
                          </a:solidFill>
                          <a:effectLst/>
                          <a:latin typeface="Arial Narrow" pitchFamily="34" charset="0"/>
                        </a:rPr>
                        <a:t> base de </a:t>
                      </a:r>
                      <a:r>
                        <a:rPr kumimoji="0" lang="en-GB" sz="2600" b="1" i="0" u="none" strike="noStrike" cap="none" normalizeH="0" baseline="0" err="1">
                          <a:ln>
                            <a:noFill/>
                          </a:ln>
                          <a:solidFill>
                            <a:srgbClr val="000000"/>
                          </a:solidFill>
                          <a:effectLst/>
                          <a:latin typeface="Arial Narrow" pitchFamily="34" charset="0"/>
                        </a:rPr>
                        <a:t>données</a:t>
                      </a:r>
                      <a:r>
                        <a:rPr kumimoji="0" lang="en-GB" sz="2600" b="1" i="0" u="none" strike="noStrike" cap="none" normalizeH="0" baseline="0">
                          <a:ln>
                            <a:noFill/>
                          </a:ln>
                          <a:solidFill>
                            <a:srgbClr val="000000"/>
                          </a:solidFill>
                          <a:effectLst/>
                          <a:latin typeface="Arial Narrow" pitchFamily="34" charset="0"/>
                        </a:rPr>
                        <a:t> DNS</a:t>
                      </a:r>
                      <a:endParaRPr kumimoji="0" lang="en-US" sz="26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219200">
                <a:tc>
                  <a:txBody>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GB" sz="2400" b="1" i="0" u="sng" strike="noStrike" kern="1200" cap="none" normalizeH="0" baseline="0" dirty="0">
                          <a:ln>
                            <a:noFill/>
                          </a:ln>
                          <a:solidFill>
                            <a:srgbClr val="000000"/>
                          </a:solidFill>
                          <a:effectLst/>
                          <a:latin typeface="Arial Narrow" pitchFamily="34" charset="0"/>
                          <a:ea typeface="+mn-ea"/>
                          <a:cs typeface="+mn-cs"/>
                        </a:rPr>
                        <a:t>Stub</a:t>
                      </a:r>
                      <a:endParaRPr kumimoji="0" lang="en-US" sz="2400" b="1" i="0" u="sng" strike="noStrike" kern="1200" cap="none" normalizeH="0" baseline="0" dirty="0">
                        <a:ln>
                          <a:noFill/>
                        </a:ln>
                        <a:solidFill>
                          <a:srgbClr val="000000"/>
                        </a:solidFill>
                        <a:effectLst/>
                        <a:latin typeface="Arial Narrow" pitchFamily="34" charset="0"/>
                        <a:ea typeface="+mn-ea"/>
                        <a:cs typeface="+mn-cs"/>
                      </a:endParaRP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600" b="1" i="0" u="none" strike="noStrike" cap="none" normalizeH="0" baseline="0" dirty="0" err="1">
                          <a:ln>
                            <a:noFill/>
                          </a:ln>
                          <a:solidFill>
                            <a:srgbClr val="000000"/>
                          </a:solidFill>
                          <a:effectLst/>
                          <a:latin typeface="Arial Narrow" pitchFamily="34" charset="0"/>
                        </a:rPr>
                        <a:t>Copie</a:t>
                      </a:r>
                      <a:r>
                        <a:rPr kumimoji="0" lang="en-GB" sz="2600" b="1" i="0" u="none" strike="noStrike" cap="none" normalizeH="0" baseline="0" dirty="0">
                          <a:ln>
                            <a:noFill/>
                          </a:ln>
                          <a:solidFill>
                            <a:srgbClr val="000000"/>
                          </a:solidFill>
                          <a:effectLst/>
                          <a:latin typeface="Arial Narrow" pitchFamily="34" charset="0"/>
                        </a:rPr>
                        <a:t> </a:t>
                      </a:r>
                      <a:r>
                        <a:rPr kumimoji="0" lang="en-GB" sz="2600" b="1" i="0" u="none" strike="noStrike" cap="none" normalizeH="0" baseline="0" dirty="0" err="1">
                          <a:ln>
                            <a:noFill/>
                          </a:ln>
                          <a:solidFill>
                            <a:srgbClr val="000000"/>
                          </a:solidFill>
                          <a:effectLst/>
                          <a:latin typeface="Arial Narrow" pitchFamily="34" charset="0"/>
                        </a:rPr>
                        <a:t>d'une</a:t>
                      </a:r>
                      <a:r>
                        <a:rPr kumimoji="0" lang="en-GB" sz="2600" b="1" i="0" u="none" strike="noStrike" cap="none" normalizeH="0" baseline="0" dirty="0">
                          <a:ln>
                            <a:noFill/>
                          </a:ln>
                          <a:solidFill>
                            <a:srgbClr val="000000"/>
                          </a:solidFill>
                          <a:effectLst/>
                          <a:latin typeface="Arial Narrow" pitchFamily="34" charset="0"/>
                        </a:rPr>
                        <a:t> zone </a:t>
                      </a:r>
                      <a:r>
                        <a:rPr kumimoji="0" lang="en-GB" sz="2600" b="1" i="0" u="none" strike="noStrike" cap="none" normalizeH="0" baseline="0" dirty="0" err="1">
                          <a:ln>
                            <a:noFill/>
                          </a:ln>
                          <a:solidFill>
                            <a:srgbClr val="000000"/>
                          </a:solidFill>
                          <a:effectLst/>
                          <a:latin typeface="Arial Narrow" pitchFamily="34" charset="0"/>
                        </a:rPr>
                        <a:t>contenant</a:t>
                      </a:r>
                      <a:r>
                        <a:rPr kumimoji="0" lang="en-GB" sz="2600" b="1" i="0" u="none" strike="noStrike" cap="none" normalizeH="0" baseline="0" dirty="0">
                          <a:ln>
                            <a:noFill/>
                          </a:ln>
                          <a:solidFill>
                            <a:srgbClr val="000000"/>
                          </a:solidFill>
                          <a:effectLst/>
                          <a:latin typeface="Arial Narrow" pitchFamily="34" charset="0"/>
                        </a:rPr>
                        <a:t> </a:t>
                      </a:r>
                      <a:r>
                        <a:rPr kumimoji="0" lang="en-GB" sz="2600" b="1" i="0" u="none" strike="noStrike" cap="none" normalizeH="0" baseline="0" dirty="0" err="1">
                          <a:ln>
                            <a:noFill/>
                          </a:ln>
                          <a:solidFill>
                            <a:srgbClr val="000000"/>
                          </a:solidFill>
                          <a:effectLst/>
                          <a:latin typeface="Arial Narrow" pitchFamily="34" charset="0"/>
                        </a:rPr>
                        <a:t>certains</a:t>
                      </a:r>
                      <a:r>
                        <a:rPr kumimoji="0" lang="en-GB" sz="2600" b="1" i="0" u="none" strike="noStrike" cap="none" normalizeH="0" baseline="0" dirty="0">
                          <a:ln>
                            <a:noFill/>
                          </a:ln>
                          <a:solidFill>
                            <a:srgbClr val="000000"/>
                          </a:solidFill>
                          <a:effectLst/>
                          <a:latin typeface="Arial Narrow" pitchFamily="34" charset="0"/>
                        </a:rPr>
                        <a:t> </a:t>
                      </a:r>
                      <a:r>
                        <a:rPr kumimoji="0" lang="en-GB" sz="2600" b="1" i="0" u="none" strike="noStrike" cap="none" normalizeH="0" baseline="0" dirty="0" err="1">
                          <a:ln>
                            <a:noFill/>
                          </a:ln>
                          <a:solidFill>
                            <a:srgbClr val="000000"/>
                          </a:solidFill>
                          <a:effectLst/>
                          <a:latin typeface="Arial Narrow" pitchFamily="34" charset="0"/>
                        </a:rPr>
                        <a:t>enregistrements</a:t>
                      </a:r>
                      <a:r>
                        <a:rPr kumimoji="0" lang="en-GB" sz="2600" b="1" i="0" u="none" strike="noStrike" cap="none" normalizeH="0" baseline="0" dirty="0">
                          <a:ln>
                            <a:noFill/>
                          </a:ln>
                          <a:solidFill>
                            <a:srgbClr val="000000"/>
                          </a:solidFill>
                          <a:effectLst/>
                          <a:latin typeface="Arial Narrow" pitchFamily="34" charset="0"/>
                        </a:rPr>
                        <a:t> </a:t>
                      </a:r>
                      <a:r>
                        <a:rPr kumimoji="0" lang="en-GB" sz="2600" b="1" i="0" u="none" strike="noStrike" cap="none" normalizeH="0" baseline="0" dirty="0" err="1">
                          <a:ln>
                            <a:noFill/>
                          </a:ln>
                          <a:solidFill>
                            <a:srgbClr val="000000"/>
                          </a:solidFill>
                          <a:effectLst/>
                          <a:latin typeface="Arial Narrow" pitchFamily="34" charset="0"/>
                        </a:rPr>
                        <a:t>seulement</a:t>
                      </a:r>
                      <a:endParaRPr kumimoji="0" lang="en-US" sz="26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219200">
                <a:tc>
                  <a: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GB" sz="2400" b="1" i="0" u="sng" strike="noStrike" cap="none" normalizeH="0" baseline="0" dirty="0" err="1">
                          <a:ln>
                            <a:noFill/>
                          </a:ln>
                          <a:solidFill>
                            <a:srgbClr val="000000"/>
                          </a:solidFill>
                          <a:effectLst/>
                          <a:latin typeface="Arial Narrow" pitchFamily="34" charset="0"/>
                        </a:rPr>
                        <a:t>Intégrée</a:t>
                      </a:r>
                      <a:r>
                        <a:rPr kumimoji="0" lang="en-GB" sz="2400" b="1" i="0" u="sng" strike="noStrike" cap="none" normalizeH="0" baseline="0" dirty="0">
                          <a:ln>
                            <a:noFill/>
                          </a:ln>
                          <a:solidFill>
                            <a:srgbClr val="000000"/>
                          </a:solidFill>
                          <a:effectLst/>
                          <a:latin typeface="Arial Narrow" pitchFamily="34" charset="0"/>
                        </a:rPr>
                        <a:t> à AD</a:t>
                      </a:r>
                      <a:endParaRPr kumimoji="0" lang="en-US" sz="2400" b="1" i="0" u="sng" strike="noStrike" cap="none" normalizeH="0" baseline="0" dirty="0">
                        <a:ln>
                          <a:noFill/>
                        </a:ln>
                        <a:solidFill>
                          <a:schemeClr val="tx1"/>
                        </a:solidFill>
                        <a:effectLst/>
                        <a:latin typeface="Arial Narrow"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Arial Narrow" pitchFamily="34" charset="0"/>
                      </a:endParaRP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600" b="1" i="0" u="none" strike="noStrike" kern="1200" cap="none" normalizeH="0" baseline="0" dirty="0" err="1">
                          <a:ln>
                            <a:noFill/>
                          </a:ln>
                          <a:solidFill>
                            <a:srgbClr val="000000"/>
                          </a:solidFill>
                          <a:effectLst/>
                          <a:latin typeface="Arial Narrow" pitchFamily="34" charset="0"/>
                          <a:ea typeface="+mn-ea"/>
                          <a:cs typeface="+mn-cs"/>
                        </a:rPr>
                        <a:t>Une</a:t>
                      </a:r>
                      <a:r>
                        <a:rPr kumimoji="0" lang="en-GB" sz="2600" b="1" i="0" u="none" strike="noStrike" kern="1200" cap="none" normalizeH="0" baseline="0" dirty="0">
                          <a:ln>
                            <a:noFill/>
                          </a:ln>
                          <a:solidFill>
                            <a:srgbClr val="000000"/>
                          </a:solidFill>
                          <a:effectLst/>
                          <a:latin typeface="Arial Narrow" pitchFamily="34" charset="0"/>
                          <a:ea typeface="+mn-ea"/>
                          <a:cs typeface="+mn-cs"/>
                        </a:rPr>
                        <a:t> zone DNS </a:t>
                      </a:r>
                      <a:r>
                        <a:rPr kumimoji="0" lang="en-GB" sz="2600" b="1" i="0" u="none" strike="noStrike" kern="1200" cap="none" normalizeH="0" baseline="0" dirty="0" err="1">
                          <a:ln>
                            <a:noFill/>
                          </a:ln>
                          <a:solidFill>
                            <a:srgbClr val="000000"/>
                          </a:solidFill>
                          <a:effectLst/>
                          <a:latin typeface="Arial Narrow" pitchFamily="34" charset="0"/>
                          <a:ea typeface="+mn-ea"/>
                          <a:cs typeface="+mn-cs"/>
                        </a:rPr>
                        <a:t>stockée</a:t>
                      </a:r>
                      <a:r>
                        <a:rPr kumimoji="0" lang="en-GB" sz="2600" b="1" i="0" u="none" strike="noStrike" kern="1200" cap="none" normalizeH="0" baseline="0" dirty="0">
                          <a:ln>
                            <a:noFill/>
                          </a:ln>
                          <a:solidFill>
                            <a:srgbClr val="000000"/>
                          </a:solidFill>
                          <a:effectLst/>
                          <a:latin typeface="Arial Narrow" pitchFamily="34" charset="0"/>
                          <a:ea typeface="+mn-ea"/>
                          <a:cs typeface="+mn-cs"/>
                        </a:rPr>
                        <a:t> </a:t>
                      </a:r>
                      <a:r>
                        <a:rPr kumimoji="0" lang="en-GB" sz="2600" b="1" i="0" u="none" strike="noStrike" kern="1200" cap="none" normalizeH="0" baseline="0" dirty="0" err="1">
                          <a:ln>
                            <a:noFill/>
                          </a:ln>
                          <a:solidFill>
                            <a:srgbClr val="000000"/>
                          </a:solidFill>
                          <a:effectLst/>
                          <a:latin typeface="Arial Narrow" pitchFamily="34" charset="0"/>
                          <a:ea typeface="+mn-ea"/>
                          <a:cs typeface="+mn-cs"/>
                        </a:rPr>
                        <a:t>dans</a:t>
                      </a:r>
                      <a:r>
                        <a:rPr kumimoji="0" lang="en-GB" sz="2600" b="1" i="0" u="none" strike="noStrike" kern="1200" cap="none" normalizeH="0" baseline="0" dirty="0">
                          <a:ln>
                            <a:noFill/>
                          </a:ln>
                          <a:solidFill>
                            <a:srgbClr val="000000"/>
                          </a:solidFill>
                          <a:effectLst/>
                          <a:latin typeface="Arial Narrow" pitchFamily="34" charset="0"/>
                          <a:ea typeface="+mn-ea"/>
                          <a:cs typeface="+mn-cs"/>
                        </a:rPr>
                        <a:t> Active Directory</a:t>
                      </a:r>
                      <a:endParaRPr kumimoji="0" lang="en-US" sz="2600" b="1" i="0" u="none" strike="noStrike" kern="1200" cap="none" normalizeH="0" baseline="0" dirty="0">
                        <a:ln>
                          <a:noFill/>
                        </a:ln>
                        <a:solidFill>
                          <a:srgbClr val="000000"/>
                        </a:solidFill>
                        <a:effectLst/>
                        <a:latin typeface="Arial Narrow" pitchFamily="34" charset="0"/>
                        <a:ea typeface="+mn-ea"/>
                        <a:cs typeface="+mn-cs"/>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pic>
        <p:nvPicPr>
          <p:cNvPr id="730189" name="Picture 77" descr="Server01"/>
          <p:cNvPicPr>
            <a:picLocks noChangeAspect="1" noChangeArrowheads="1"/>
          </p:cNvPicPr>
          <p:nvPr>
            <p:custDataLst>
              <p:tags r:id="rId2"/>
            </p:custDataLst>
          </p:nvPr>
        </p:nvPicPr>
        <p:blipFill>
          <a:blip r:embed="rId12" cstate="print"/>
          <a:srcRect/>
          <a:stretch>
            <a:fillRect/>
          </a:stretch>
        </p:blipFill>
        <p:spPr bwMode="auto">
          <a:xfrm>
            <a:off x="382361" y="1931761"/>
            <a:ext cx="844550" cy="992188"/>
          </a:xfrm>
          <a:prstGeom prst="rect">
            <a:avLst/>
          </a:prstGeom>
          <a:noFill/>
        </p:spPr>
      </p:pic>
      <p:pic>
        <p:nvPicPr>
          <p:cNvPr id="730190" name="Picture 78" descr="Database01"/>
          <p:cNvPicPr>
            <a:picLocks noChangeAspect="1" noChangeArrowheads="1"/>
          </p:cNvPicPr>
          <p:nvPr>
            <p:custDataLst>
              <p:tags r:id="rId3"/>
            </p:custDataLst>
          </p:nvPr>
        </p:nvPicPr>
        <p:blipFill>
          <a:blip r:embed="rId13" cstate="print"/>
          <a:srcRect/>
          <a:stretch>
            <a:fillRect/>
          </a:stretch>
        </p:blipFill>
        <p:spPr bwMode="auto">
          <a:xfrm>
            <a:off x="981756" y="2464934"/>
            <a:ext cx="533400" cy="431800"/>
          </a:xfrm>
          <a:prstGeom prst="rect">
            <a:avLst/>
          </a:prstGeom>
          <a:noFill/>
        </p:spPr>
      </p:pic>
      <p:pic>
        <p:nvPicPr>
          <p:cNvPr id="730193" name="Picture 81" descr="Server01"/>
          <p:cNvPicPr>
            <a:picLocks noChangeAspect="1" noChangeArrowheads="1"/>
          </p:cNvPicPr>
          <p:nvPr>
            <p:custDataLst>
              <p:tags r:id="rId4"/>
            </p:custDataLst>
          </p:nvPr>
        </p:nvPicPr>
        <p:blipFill>
          <a:blip r:embed="rId12" cstate="print"/>
          <a:srcRect/>
          <a:stretch>
            <a:fillRect/>
          </a:stretch>
        </p:blipFill>
        <p:spPr bwMode="auto">
          <a:xfrm>
            <a:off x="367846" y="3143477"/>
            <a:ext cx="844550" cy="992187"/>
          </a:xfrm>
          <a:prstGeom prst="rect">
            <a:avLst/>
          </a:prstGeom>
          <a:noFill/>
        </p:spPr>
      </p:pic>
      <p:pic>
        <p:nvPicPr>
          <p:cNvPr id="730194" name="Picture 82" descr="Database01"/>
          <p:cNvPicPr>
            <a:picLocks noChangeAspect="1" noChangeArrowheads="1"/>
          </p:cNvPicPr>
          <p:nvPr>
            <p:custDataLst>
              <p:tags r:id="rId5"/>
            </p:custDataLst>
          </p:nvPr>
        </p:nvPicPr>
        <p:blipFill>
          <a:blip r:embed="rId13" cstate="print"/>
          <a:srcRect/>
          <a:stretch>
            <a:fillRect/>
          </a:stretch>
        </p:blipFill>
        <p:spPr bwMode="auto">
          <a:xfrm>
            <a:off x="1039813" y="3618593"/>
            <a:ext cx="533400" cy="431800"/>
          </a:xfrm>
          <a:prstGeom prst="rect">
            <a:avLst/>
          </a:prstGeom>
          <a:noFill/>
        </p:spPr>
      </p:pic>
      <p:grpSp>
        <p:nvGrpSpPr>
          <p:cNvPr id="730200" name="Group 84"/>
          <p:cNvGrpSpPr>
            <a:grpSpLocks/>
          </p:cNvGrpSpPr>
          <p:nvPr/>
        </p:nvGrpSpPr>
        <p:grpSpPr bwMode="auto">
          <a:xfrm>
            <a:off x="353332" y="4353832"/>
            <a:ext cx="1176338" cy="992188"/>
            <a:chOff x="762" y="2962"/>
            <a:chExt cx="741" cy="625"/>
          </a:xfrm>
        </p:grpSpPr>
        <p:pic>
          <p:nvPicPr>
            <p:cNvPr id="730197" name="Picture 85" descr="Server01"/>
            <p:cNvPicPr>
              <a:picLocks noChangeAspect="1" noChangeArrowheads="1"/>
            </p:cNvPicPr>
            <p:nvPr>
              <p:custDataLst>
                <p:tags r:id="rId8"/>
              </p:custDataLst>
            </p:nvPr>
          </p:nvPicPr>
          <p:blipFill>
            <a:blip r:embed="rId12" cstate="print"/>
            <a:srcRect/>
            <a:stretch>
              <a:fillRect/>
            </a:stretch>
          </p:blipFill>
          <p:spPr bwMode="auto">
            <a:xfrm>
              <a:off x="762" y="2962"/>
              <a:ext cx="532" cy="625"/>
            </a:xfrm>
            <a:prstGeom prst="rect">
              <a:avLst/>
            </a:prstGeom>
            <a:noFill/>
          </p:spPr>
        </p:pic>
        <p:pic>
          <p:nvPicPr>
            <p:cNvPr id="730198" name="Picture 86" descr="Database01"/>
            <p:cNvPicPr>
              <a:picLocks noChangeAspect="1" noChangeArrowheads="1"/>
            </p:cNvPicPr>
            <p:nvPr>
              <p:custDataLst>
                <p:tags r:id="rId9"/>
              </p:custDataLst>
            </p:nvPr>
          </p:nvPicPr>
          <p:blipFill>
            <a:blip r:embed="rId13" cstate="print"/>
            <a:srcRect/>
            <a:stretch>
              <a:fillRect/>
            </a:stretch>
          </p:blipFill>
          <p:spPr bwMode="auto">
            <a:xfrm>
              <a:off x="1167" y="3307"/>
              <a:ext cx="336" cy="272"/>
            </a:xfrm>
            <a:prstGeom prst="rect">
              <a:avLst/>
            </a:prstGeom>
            <a:noFill/>
          </p:spPr>
        </p:pic>
      </p:grpSp>
      <p:sp>
        <p:nvSpPr>
          <p:cNvPr id="15" name="Espace réservé du numéro de diapositive 14"/>
          <p:cNvSpPr>
            <a:spLocks noGrp="1"/>
          </p:cNvSpPr>
          <p:nvPr>
            <p:ph type="sldNum" sz="quarter" idx="12"/>
          </p:nvPr>
        </p:nvSpPr>
        <p:spPr/>
        <p:txBody>
          <a:bodyPr/>
          <a:lstStyle/>
          <a:p>
            <a:fld id="{2C6B1FF6-39B9-40F5-8B67-33C6354A3D4F}" type="slidenum">
              <a:rPr kumimoji="0" lang="en-US" smtClean="0"/>
              <a:pPr/>
              <a:t>22</a:t>
            </a:fld>
            <a:endParaRPr kumimoji="0" lang="en-US"/>
          </a:p>
        </p:txBody>
      </p:sp>
      <p:grpSp>
        <p:nvGrpSpPr>
          <p:cNvPr id="17" name="Group 84"/>
          <p:cNvGrpSpPr>
            <a:grpSpLocks/>
          </p:cNvGrpSpPr>
          <p:nvPr/>
        </p:nvGrpSpPr>
        <p:grpSpPr bwMode="auto">
          <a:xfrm>
            <a:off x="346075" y="5507718"/>
            <a:ext cx="1176338" cy="992188"/>
            <a:chOff x="762" y="2962"/>
            <a:chExt cx="741" cy="625"/>
          </a:xfrm>
        </p:grpSpPr>
        <p:pic>
          <p:nvPicPr>
            <p:cNvPr id="18" name="Picture 85" descr="Server01"/>
            <p:cNvPicPr>
              <a:picLocks noChangeAspect="1" noChangeArrowheads="1"/>
            </p:cNvPicPr>
            <p:nvPr>
              <p:custDataLst>
                <p:tags r:id="rId6"/>
              </p:custDataLst>
            </p:nvPr>
          </p:nvPicPr>
          <p:blipFill>
            <a:blip r:embed="rId12" cstate="print"/>
            <a:srcRect/>
            <a:stretch>
              <a:fillRect/>
            </a:stretch>
          </p:blipFill>
          <p:spPr bwMode="auto">
            <a:xfrm>
              <a:off x="762" y="2962"/>
              <a:ext cx="532" cy="625"/>
            </a:xfrm>
            <a:prstGeom prst="rect">
              <a:avLst/>
            </a:prstGeom>
            <a:noFill/>
          </p:spPr>
        </p:pic>
        <p:pic>
          <p:nvPicPr>
            <p:cNvPr id="19" name="Picture 86" descr="Database01"/>
            <p:cNvPicPr>
              <a:picLocks noChangeAspect="1" noChangeArrowheads="1"/>
            </p:cNvPicPr>
            <p:nvPr>
              <p:custDataLst>
                <p:tags r:id="rId7"/>
              </p:custDataLst>
            </p:nvPr>
          </p:nvPicPr>
          <p:blipFill>
            <a:blip r:embed="rId13" cstate="print"/>
            <a:srcRect/>
            <a:stretch>
              <a:fillRect/>
            </a:stretch>
          </p:blipFill>
          <p:spPr bwMode="auto">
            <a:xfrm>
              <a:off x="1167" y="3307"/>
              <a:ext cx="336" cy="272"/>
            </a:xfrm>
            <a:prstGeom prst="rect">
              <a:avLst/>
            </a:prstGeom>
            <a:noFill/>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vert="horz" anchor="b">
            <a:normAutofit/>
          </a:bodyPr>
          <a:lstStyle/>
          <a:p>
            <a:r>
              <a:rPr lang="en-US" sz="3000" b="1" dirty="0" err="1">
                <a:solidFill>
                  <a:srgbClr val="C00000"/>
                </a:solidFill>
              </a:rPr>
              <a:t>C’est</a:t>
            </a:r>
            <a:r>
              <a:rPr lang="en-US" sz="3000" b="1" dirty="0">
                <a:solidFill>
                  <a:srgbClr val="C00000"/>
                </a:solidFill>
              </a:rPr>
              <a:t> quoi </a:t>
            </a:r>
            <a:r>
              <a:rPr lang="en-US" sz="3000" b="1" dirty="0" err="1">
                <a:solidFill>
                  <a:srgbClr val="C00000"/>
                </a:solidFill>
              </a:rPr>
              <a:t>une</a:t>
            </a:r>
            <a:r>
              <a:rPr lang="en-US" sz="3000" b="1" dirty="0">
                <a:solidFill>
                  <a:srgbClr val="C00000"/>
                </a:solidFill>
              </a:rPr>
              <a:t> zone stub?</a:t>
            </a:r>
            <a:endParaRPr lang="fr-FR" sz="3000" b="1" dirty="0">
              <a:solidFill>
                <a:srgbClr val="C00000"/>
              </a:solidFill>
            </a:endParaRPr>
          </a:p>
        </p:txBody>
      </p:sp>
      <p:sp>
        <p:nvSpPr>
          <p:cNvPr id="3" name="Espace réservé du numéro de diapositive 2"/>
          <p:cNvSpPr>
            <a:spLocks noGrp="1"/>
          </p:cNvSpPr>
          <p:nvPr>
            <p:ph type="sldNum" sz="quarter" idx="12"/>
          </p:nvPr>
        </p:nvSpPr>
        <p:spPr>
          <a:xfrm>
            <a:off x="4361688" y="1302138"/>
            <a:ext cx="457200" cy="441325"/>
          </a:xfrm>
        </p:spPr>
        <p:txBody>
          <a:bodyPr/>
          <a:lstStyle/>
          <a:p>
            <a:fld id="{2C6B1FF6-39B9-40F5-8B67-33C6354A3D4F}" type="slidenum">
              <a:rPr kumimoji="0" lang="en-US" smtClean="0"/>
              <a:pPr/>
              <a:t>23</a:t>
            </a:fld>
            <a:endParaRPr kumimoji="0" lang="en-US"/>
          </a:p>
        </p:txBody>
      </p:sp>
      <p:grpSp>
        <p:nvGrpSpPr>
          <p:cNvPr id="5" name="Group 74"/>
          <p:cNvGrpSpPr>
            <a:grpSpLocks/>
          </p:cNvGrpSpPr>
          <p:nvPr/>
        </p:nvGrpSpPr>
        <p:grpSpPr bwMode="auto">
          <a:xfrm>
            <a:off x="38100" y="1025066"/>
            <a:ext cx="9029700" cy="5778500"/>
            <a:chOff x="24" y="472"/>
            <a:chExt cx="5688" cy="3640"/>
          </a:xfrm>
        </p:grpSpPr>
        <p:sp>
          <p:nvSpPr>
            <p:cNvPr id="6" name="Rectangle 73"/>
            <p:cNvSpPr>
              <a:spLocks noChangeArrowheads="1"/>
            </p:cNvSpPr>
            <p:nvPr/>
          </p:nvSpPr>
          <p:spPr bwMode="auto">
            <a:xfrm>
              <a:off x="48" y="472"/>
              <a:ext cx="5664" cy="3640"/>
            </a:xfrm>
            <a:prstGeom prst="rect">
              <a:avLst/>
            </a:prstGeom>
            <a:solidFill>
              <a:schemeClr val="accent1"/>
            </a:solidFill>
            <a:ln w="9525" algn="ctr">
              <a:noFill/>
              <a:miter lim="800000"/>
              <a:headEnd/>
              <a:tailEnd/>
            </a:ln>
            <a:effectLst/>
          </p:spPr>
          <p:txBody>
            <a:bodyPr wrap="none" anchor="ctr"/>
            <a:lstStyle/>
            <a:p>
              <a:endParaRPr lang="fr-FR"/>
            </a:p>
          </p:txBody>
        </p:sp>
        <p:grpSp>
          <p:nvGrpSpPr>
            <p:cNvPr id="7" name="Group 72"/>
            <p:cNvGrpSpPr>
              <a:grpSpLocks/>
            </p:cNvGrpSpPr>
            <p:nvPr/>
          </p:nvGrpSpPr>
          <p:grpSpPr bwMode="auto">
            <a:xfrm>
              <a:off x="24" y="530"/>
              <a:ext cx="5605" cy="3556"/>
              <a:chOff x="24" y="530"/>
              <a:chExt cx="5605" cy="3556"/>
            </a:xfrm>
          </p:grpSpPr>
          <p:sp>
            <p:nvSpPr>
              <p:cNvPr id="8" name="Line 60"/>
              <p:cNvSpPr>
                <a:spLocks noChangeShapeType="1"/>
              </p:cNvSpPr>
              <p:nvPr/>
            </p:nvSpPr>
            <p:spPr bwMode="auto">
              <a:xfrm>
                <a:off x="4360" y="1952"/>
                <a:ext cx="424" cy="792"/>
              </a:xfrm>
              <a:prstGeom prst="line">
                <a:avLst/>
              </a:prstGeom>
              <a:noFill/>
              <a:ln w="57150">
                <a:solidFill>
                  <a:srgbClr val="808080"/>
                </a:solidFill>
                <a:round/>
                <a:headEnd/>
                <a:tailEnd/>
              </a:ln>
              <a:effectLst/>
            </p:spPr>
            <p:txBody>
              <a:bodyPr wrap="none" anchor="ctr"/>
              <a:lstStyle/>
              <a:p>
                <a:endParaRPr lang="fr-FR"/>
              </a:p>
            </p:txBody>
          </p:sp>
          <p:sp>
            <p:nvSpPr>
              <p:cNvPr id="9" name="Line 59"/>
              <p:cNvSpPr>
                <a:spLocks noChangeShapeType="1"/>
              </p:cNvSpPr>
              <p:nvPr/>
            </p:nvSpPr>
            <p:spPr bwMode="auto">
              <a:xfrm>
                <a:off x="2088" y="1336"/>
                <a:ext cx="2088" cy="376"/>
              </a:xfrm>
              <a:prstGeom prst="line">
                <a:avLst/>
              </a:prstGeom>
              <a:noFill/>
              <a:ln w="57150">
                <a:solidFill>
                  <a:srgbClr val="808080"/>
                </a:solidFill>
                <a:round/>
                <a:headEnd/>
                <a:tailEnd/>
              </a:ln>
              <a:effectLst/>
            </p:spPr>
            <p:txBody>
              <a:bodyPr wrap="none" anchor="ctr"/>
              <a:lstStyle/>
              <a:p>
                <a:endParaRPr lang="fr-FR"/>
              </a:p>
            </p:txBody>
          </p:sp>
          <p:sp>
            <p:nvSpPr>
              <p:cNvPr id="10" name="Line 42"/>
              <p:cNvSpPr>
                <a:spLocks noChangeShapeType="1"/>
              </p:cNvSpPr>
              <p:nvPr/>
            </p:nvSpPr>
            <p:spPr bwMode="auto">
              <a:xfrm flipH="1">
                <a:off x="864" y="1912"/>
                <a:ext cx="888" cy="1456"/>
              </a:xfrm>
              <a:prstGeom prst="line">
                <a:avLst/>
              </a:prstGeom>
              <a:noFill/>
              <a:ln w="57150">
                <a:solidFill>
                  <a:srgbClr val="808080"/>
                </a:solidFill>
                <a:round/>
                <a:headEnd/>
                <a:tailEnd/>
              </a:ln>
              <a:effectLst/>
            </p:spPr>
            <p:txBody>
              <a:bodyPr wrap="none" anchor="ctr"/>
              <a:lstStyle/>
              <a:p>
                <a:endParaRPr lang="fr-FR"/>
              </a:p>
            </p:txBody>
          </p:sp>
          <p:sp>
            <p:nvSpPr>
              <p:cNvPr id="11" name="Line 43"/>
              <p:cNvSpPr>
                <a:spLocks noChangeShapeType="1"/>
              </p:cNvSpPr>
              <p:nvPr/>
            </p:nvSpPr>
            <p:spPr bwMode="auto">
              <a:xfrm>
                <a:off x="2336" y="1856"/>
                <a:ext cx="936" cy="1656"/>
              </a:xfrm>
              <a:prstGeom prst="line">
                <a:avLst/>
              </a:prstGeom>
              <a:noFill/>
              <a:ln w="57150">
                <a:solidFill>
                  <a:srgbClr val="808080"/>
                </a:solidFill>
                <a:round/>
                <a:headEnd/>
                <a:tailEnd/>
              </a:ln>
              <a:effectLst/>
            </p:spPr>
            <p:txBody>
              <a:bodyPr wrap="none" anchor="ctr"/>
              <a:lstStyle/>
              <a:p>
                <a:endParaRPr lang="fr-FR"/>
              </a:p>
            </p:txBody>
          </p:sp>
          <p:sp>
            <p:nvSpPr>
              <p:cNvPr id="12" name="AutoShape 10"/>
              <p:cNvSpPr>
                <a:spLocks noChangeArrowheads="1"/>
              </p:cNvSpPr>
              <p:nvPr/>
            </p:nvSpPr>
            <p:spPr bwMode="auto">
              <a:xfrm>
                <a:off x="155" y="530"/>
                <a:ext cx="5458" cy="601"/>
              </a:xfrm>
              <a:prstGeom prst="roundRect">
                <a:avLst>
                  <a:gd name="adj" fmla="val 16667"/>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wrap="square" tIns="91440" bIns="91440" anchor="ctr">
                <a:spAutoFit/>
              </a:bodyPr>
              <a:lstStyle/>
              <a:p>
                <a:pPr algn="l"/>
                <a:r>
                  <a:rPr lang="fr-FR" sz="2200" dirty="0"/>
                  <a:t>Avec une zone de stub définie, l’emplacement de la zone de na.fabrikam.com est connu sans interroger plusieurs serveurs DNS</a:t>
                </a:r>
                <a:endParaRPr lang="en-US" sz="2200" dirty="0"/>
              </a:p>
            </p:txBody>
          </p:sp>
          <p:pic>
            <p:nvPicPr>
              <p:cNvPr id="13" name="Picture 21" descr="2Domain01"/>
              <p:cNvPicPr>
                <a:picLocks noChangeAspect="1" noChangeArrowheads="1"/>
              </p:cNvPicPr>
              <p:nvPr/>
            </p:nvPicPr>
            <p:blipFill>
              <a:blip r:embed="rId2" cstate="print"/>
              <a:srcRect/>
              <a:stretch>
                <a:fillRect/>
              </a:stretch>
            </p:blipFill>
            <p:spPr bwMode="auto">
              <a:xfrm>
                <a:off x="1633" y="1281"/>
                <a:ext cx="846" cy="778"/>
              </a:xfrm>
              <a:prstGeom prst="rect">
                <a:avLst/>
              </a:prstGeom>
              <a:noFill/>
            </p:spPr>
          </p:pic>
          <p:pic>
            <p:nvPicPr>
              <p:cNvPr id="14" name="Picture 23" descr="Server01"/>
              <p:cNvPicPr>
                <a:picLocks noChangeAspect="1" noChangeArrowheads="1"/>
              </p:cNvPicPr>
              <p:nvPr/>
            </p:nvPicPr>
            <p:blipFill>
              <a:blip r:embed="rId3" cstate="print"/>
              <a:srcRect/>
              <a:stretch>
                <a:fillRect/>
              </a:stretch>
            </p:blipFill>
            <p:spPr bwMode="auto">
              <a:xfrm>
                <a:off x="1909" y="1262"/>
                <a:ext cx="303" cy="329"/>
              </a:xfrm>
              <a:prstGeom prst="rect">
                <a:avLst/>
              </a:prstGeom>
              <a:noFill/>
            </p:spPr>
          </p:pic>
          <p:pic>
            <p:nvPicPr>
              <p:cNvPr id="15" name="Picture 27" descr="2Domain01"/>
              <p:cNvPicPr>
                <a:picLocks noChangeAspect="1" noChangeArrowheads="1"/>
              </p:cNvPicPr>
              <p:nvPr/>
            </p:nvPicPr>
            <p:blipFill>
              <a:blip r:embed="rId2" cstate="print"/>
              <a:srcRect/>
              <a:stretch>
                <a:fillRect/>
              </a:stretch>
            </p:blipFill>
            <p:spPr bwMode="auto">
              <a:xfrm>
                <a:off x="1025" y="2179"/>
                <a:ext cx="846" cy="778"/>
              </a:xfrm>
              <a:prstGeom prst="rect">
                <a:avLst/>
              </a:prstGeom>
              <a:noFill/>
            </p:spPr>
          </p:pic>
          <p:pic>
            <p:nvPicPr>
              <p:cNvPr id="16" name="Picture 28" descr="Server01"/>
              <p:cNvPicPr>
                <a:picLocks noChangeAspect="1" noChangeArrowheads="1"/>
              </p:cNvPicPr>
              <p:nvPr/>
            </p:nvPicPr>
            <p:blipFill>
              <a:blip r:embed="rId3" cstate="print"/>
              <a:srcRect/>
              <a:stretch>
                <a:fillRect/>
              </a:stretch>
            </p:blipFill>
            <p:spPr bwMode="auto">
              <a:xfrm>
                <a:off x="1301" y="2160"/>
                <a:ext cx="303" cy="329"/>
              </a:xfrm>
              <a:prstGeom prst="rect">
                <a:avLst/>
              </a:prstGeom>
              <a:noFill/>
            </p:spPr>
          </p:pic>
          <p:pic>
            <p:nvPicPr>
              <p:cNvPr id="17" name="Picture 30" descr="2Domain01"/>
              <p:cNvPicPr>
                <a:picLocks noChangeAspect="1" noChangeArrowheads="1"/>
              </p:cNvPicPr>
              <p:nvPr/>
            </p:nvPicPr>
            <p:blipFill>
              <a:blip r:embed="rId2" cstate="print"/>
              <a:srcRect/>
              <a:stretch>
                <a:fillRect/>
              </a:stretch>
            </p:blipFill>
            <p:spPr bwMode="auto">
              <a:xfrm>
                <a:off x="544" y="3083"/>
                <a:ext cx="846" cy="778"/>
              </a:xfrm>
              <a:prstGeom prst="rect">
                <a:avLst/>
              </a:prstGeom>
              <a:noFill/>
            </p:spPr>
          </p:pic>
          <p:pic>
            <p:nvPicPr>
              <p:cNvPr id="18" name="Picture 33" descr="2Domain01"/>
              <p:cNvPicPr>
                <a:picLocks noChangeAspect="1" noChangeArrowheads="1"/>
              </p:cNvPicPr>
              <p:nvPr/>
            </p:nvPicPr>
            <p:blipFill>
              <a:blip r:embed="rId2" cstate="print"/>
              <a:srcRect/>
              <a:stretch>
                <a:fillRect/>
              </a:stretch>
            </p:blipFill>
            <p:spPr bwMode="auto">
              <a:xfrm>
                <a:off x="2177" y="2187"/>
                <a:ext cx="846" cy="778"/>
              </a:xfrm>
              <a:prstGeom prst="rect">
                <a:avLst/>
              </a:prstGeom>
              <a:noFill/>
            </p:spPr>
          </p:pic>
          <p:pic>
            <p:nvPicPr>
              <p:cNvPr id="19" name="Picture 34" descr="Server01"/>
              <p:cNvPicPr>
                <a:picLocks noChangeAspect="1" noChangeArrowheads="1"/>
              </p:cNvPicPr>
              <p:nvPr/>
            </p:nvPicPr>
            <p:blipFill>
              <a:blip r:embed="rId3" cstate="print"/>
              <a:srcRect/>
              <a:stretch>
                <a:fillRect/>
              </a:stretch>
            </p:blipFill>
            <p:spPr bwMode="auto">
              <a:xfrm>
                <a:off x="2453" y="2168"/>
                <a:ext cx="303" cy="329"/>
              </a:xfrm>
              <a:prstGeom prst="rect">
                <a:avLst/>
              </a:prstGeom>
              <a:noFill/>
            </p:spPr>
          </p:pic>
          <p:pic>
            <p:nvPicPr>
              <p:cNvPr id="20" name="Picture 36" descr="2Domain01"/>
              <p:cNvPicPr>
                <a:picLocks noChangeAspect="1" noChangeArrowheads="1"/>
              </p:cNvPicPr>
              <p:nvPr/>
            </p:nvPicPr>
            <p:blipFill>
              <a:blip r:embed="rId2" cstate="print"/>
              <a:srcRect/>
              <a:stretch>
                <a:fillRect/>
              </a:stretch>
            </p:blipFill>
            <p:spPr bwMode="auto">
              <a:xfrm>
                <a:off x="2672" y="3091"/>
                <a:ext cx="846" cy="778"/>
              </a:xfrm>
              <a:prstGeom prst="rect">
                <a:avLst/>
              </a:prstGeom>
              <a:noFill/>
            </p:spPr>
          </p:pic>
          <p:pic>
            <p:nvPicPr>
              <p:cNvPr id="21" name="Picture 37" descr="Server01"/>
              <p:cNvPicPr>
                <a:picLocks noChangeAspect="1" noChangeArrowheads="1"/>
              </p:cNvPicPr>
              <p:nvPr/>
            </p:nvPicPr>
            <p:blipFill>
              <a:blip r:embed="rId3" cstate="print"/>
              <a:srcRect/>
              <a:stretch>
                <a:fillRect/>
              </a:stretch>
            </p:blipFill>
            <p:spPr bwMode="auto">
              <a:xfrm>
                <a:off x="2948" y="3072"/>
                <a:ext cx="303" cy="329"/>
              </a:xfrm>
              <a:prstGeom prst="rect">
                <a:avLst/>
              </a:prstGeom>
              <a:noFill/>
            </p:spPr>
          </p:pic>
          <p:sp>
            <p:nvSpPr>
              <p:cNvPr id="22" name="AutoShape 12"/>
              <p:cNvSpPr>
                <a:spLocks noChangeArrowheads="1"/>
              </p:cNvSpPr>
              <p:nvPr/>
            </p:nvSpPr>
            <p:spPr bwMode="auto">
              <a:xfrm flipH="1">
                <a:off x="1678" y="1757"/>
                <a:ext cx="783" cy="294"/>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Contoso.com</a:t>
                </a:r>
              </a:p>
              <a:p>
                <a:r>
                  <a:rPr lang="en-US" sz="1200">
                    <a:latin typeface="Arial Narrow" pitchFamily="34" charset="0"/>
                  </a:rPr>
                  <a:t>(Root domain)</a:t>
                </a:r>
              </a:p>
            </p:txBody>
          </p:sp>
          <p:sp>
            <p:nvSpPr>
              <p:cNvPr id="23" name="AutoShape 38"/>
              <p:cNvSpPr>
                <a:spLocks noChangeArrowheads="1"/>
              </p:cNvSpPr>
              <p:nvPr/>
            </p:nvSpPr>
            <p:spPr bwMode="auto">
              <a:xfrm flipH="1">
                <a:off x="1082" y="2767"/>
                <a:ext cx="747"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na.contoso.com</a:t>
                </a:r>
              </a:p>
            </p:txBody>
          </p:sp>
          <p:sp>
            <p:nvSpPr>
              <p:cNvPr id="24" name="AutoShape 44"/>
              <p:cNvSpPr>
                <a:spLocks noChangeArrowheads="1"/>
              </p:cNvSpPr>
              <p:nvPr/>
            </p:nvSpPr>
            <p:spPr bwMode="auto">
              <a:xfrm flipH="1">
                <a:off x="2236" y="2775"/>
                <a:ext cx="747"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sa.contoso.com</a:t>
                </a:r>
              </a:p>
            </p:txBody>
          </p:sp>
          <p:sp>
            <p:nvSpPr>
              <p:cNvPr id="25" name="AutoShape 45"/>
              <p:cNvSpPr>
                <a:spLocks noChangeArrowheads="1"/>
              </p:cNvSpPr>
              <p:nvPr/>
            </p:nvSpPr>
            <p:spPr bwMode="auto">
              <a:xfrm flipH="1">
                <a:off x="539" y="3671"/>
                <a:ext cx="859"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ny.na.contoso.com</a:t>
                </a:r>
              </a:p>
            </p:txBody>
          </p:sp>
          <p:sp>
            <p:nvSpPr>
              <p:cNvPr id="26" name="AutoShape 46"/>
              <p:cNvSpPr>
                <a:spLocks noChangeArrowheads="1"/>
              </p:cNvSpPr>
              <p:nvPr/>
            </p:nvSpPr>
            <p:spPr bwMode="auto">
              <a:xfrm flipH="1">
                <a:off x="2675" y="3687"/>
                <a:ext cx="843"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rio.sa.contoso.com</a:t>
                </a:r>
              </a:p>
            </p:txBody>
          </p:sp>
          <p:sp>
            <p:nvSpPr>
              <p:cNvPr id="27" name="Text Box 47"/>
              <p:cNvSpPr txBox="1">
                <a:spLocks noChangeArrowheads="1"/>
              </p:cNvSpPr>
              <p:nvPr/>
            </p:nvSpPr>
            <p:spPr bwMode="auto">
              <a:xfrm>
                <a:off x="1121" y="1322"/>
                <a:ext cx="836" cy="155"/>
              </a:xfrm>
              <a:prstGeom prst="rect">
                <a:avLst/>
              </a:prstGeom>
              <a:noFill/>
              <a:ln w="12700" algn="ctr">
                <a:noFill/>
                <a:miter lim="800000"/>
                <a:headEnd/>
                <a:tailEnd/>
              </a:ln>
              <a:effectLst/>
            </p:spPr>
            <p:txBody>
              <a:bodyPr wrap="none" anchor="ctr"/>
              <a:lstStyle/>
              <a:p>
                <a:r>
                  <a:rPr lang="en-US" sz="1400"/>
                  <a:t>DNS server</a:t>
                </a:r>
              </a:p>
            </p:txBody>
          </p:sp>
          <p:sp>
            <p:nvSpPr>
              <p:cNvPr id="28" name="Text Box 48"/>
              <p:cNvSpPr txBox="1">
                <a:spLocks noChangeArrowheads="1"/>
              </p:cNvSpPr>
              <p:nvPr/>
            </p:nvSpPr>
            <p:spPr bwMode="auto">
              <a:xfrm>
                <a:off x="513" y="2234"/>
                <a:ext cx="836" cy="155"/>
              </a:xfrm>
              <a:prstGeom prst="rect">
                <a:avLst/>
              </a:prstGeom>
              <a:noFill/>
              <a:ln w="12700" algn="ctr">
                <a:noFill/>
                <a:miter lim="800000"/>
                <a:headEnd/>
                <a:tailEnd/>
              </a:ln>
              <a:effectLst/>
            </p:spPr>
            <p:txBody>
              <a:bodyPr wrap="none" anchor="ctr"/>
              <a:lstStyle/>
              <a:p>
                <a:r>
                  <a:rPr lang="en-US" sz="1400"/>
                  <a:t>DNS server</a:t>
                </a:r>
              </a:p>
            </p:txBody>
          </p:sp>
          <p:sp>
            <p:nvSpPr>
              <p:cNvPr id="29" name="Text Box 49"/>
              <p:cNvSpPr txBox="1">
                <a:spLocks noChangeArrowheads="1"/>
              </p:cNvSpPr>
              <p:nvPr/>
            </p:nvSpPr>
            <p:spPr bwMode="auto">
              <a:xfrm>
                <a:off x="24" y="3154"/>
                <a:ext cx="836" cy="155"/>
              </a:xfrm>
              <a:prstGeom prst="rect">
                <a:avLst/>
              </a:prstGeom>
              <a:noFill/>
              <a:ln w="12700" algn="ctr">
                <a:noFill/>
                <a:miter lim="800000"/>
                <a:headEnd/>
                <a:tailEnd/>
              </a:ln>
              <a:effectLst/>
            </p:spPr>
            <p:txBody>
              <a:bodyPr wrap="none" anchor="ctr"/>
              <a:lstStyle/>
              <a:p>
                <a:r>
                  <a:rPr lang="en-US" sz="1400"/>
                  <a:t>DNS server</a:t>
                </a:r>
              </a:p>
            </p:txBody>
          </p:sp>
          <p:sp>
            <p:nvSpPr>
              <p:cNvPr id="30" name="Text Box 50"/>
              <p:cNvSpPr txBox="1">
                <a:spLocks noChangeArrowheads="1"/>
              </p:cNvSpPr>
              <p:nvPr/>
            </p:nvSpPr>
            <p:spPr bwMode="auto">
              <a:xfrm>
                <a:off x="2729" y="2210"/>
                <a:ext cx="836" cy="155"/>
              </a:xfrm>
              <a:prstGeom prst="rect">
                <a:avLst/>
              </a:prstGeom>
              <a:noFill/>
              <a:ln w="12700" algn="ctr">
                <a:noFill/>
                <a:miter lim="800000"/>
                <a:headEnd/>
                <a:tailEnd/>
              </a:ln>
              <a:effectLst/>
            </p:spPr>
            <p:txBody>
              <a:bodyPr wrap="none" anchor="ctr"/>
              <a:lstStyle/>
              <a:p>
                <a:r>
                  <a:rPr lang="en-US" sz="1400"/>
                  <a:t>DNS server</a:t>
                </a:r>
              </a:p>
            </p:txBody>
          </p:sp>
          <p:sp>
            <p:nvSpPr>
              <p:cNvPr id="31" name="Text Box 51"/>
              <p:cNvSpPr txBox="1">
                <a:spLocks noChangeArrowheads="1"/>
              </p:cNvSpPr>
              <p:nvPr/>
            </p:nvSpPr>
            <p:spPr bwMode="auto">
              <a:xfrm>
                <a:off x="3217" y="3122"/>
                <a:ext cx="836" cy="155"/>
              </a:xfrm>
              <a:prstGeom prst="rect">
                <a:avLst/>
              </a:prstGeom>
              <a:noFill/>
              <a:ln w="12700" algn="ctr">
                <a:noFill/>
                <a:miter lim="800000"/>
                <a:headEnd/>
                <a:tailEnd/>
              </a:ln>
              <a:effectLst/>
            </p:spPr>
            <p:txBody>
              <a:bodyPr wrap="none" anchor="ctr"/>
              <a:lstStyle/>
              <a:p>
                <a:r>
                  <a:rPr lang="en-US" sz="1400"/>
                  <a:t>DNS server</a:t>
                </a:r>
              </a:p>
            </p:txBody>
          </p:sp>
          <p:pic>
            <p:nvPicPr>
              <p:cNvPr id="32" name="Picture 52" descr="2Domain01"/>
              <p:cNvPicPr>
                <a:picLocks noChangeAspect="1" noChangeArrowheads="1"/>
              </p:cNvPicPr>
              <p:nvPr/>
            </p:nvPicPr>
            <p:blipFill>
              <a:blip r:embed="rId2" cstate="print"/>
              <a:srcRect/>
              <a:stretch>
                <a:fillRect/>
              </a:stretch>
            </p:blipFill>
            <p:spPr bwMode="auto">
              <a:xfrm>
                <a:off x="3753" y="1555"/>
                <a:ext cx="846" cy="778"/>
              </a:xfrm>
              <a:prstGeom prst="rect">
                <a:avLst/>
              </a:prstGeom>
              <a:noFill/>
            </p:spPr>
          </p:pic>
          <p:pic>
            <p:nvPicPr>
              <p:cNvPr id="33" name="Picture 53" descr="Server01"/>
              <p:cNvPicPr>
                <a:picLocks noChangeAspect="1" noChangeArrowheads="1"/>
              </p:cNvPicPr>
              <p:nvPr/>
            </p:nvPicPr>
            <p:blipFill>
              <a:blip r:embed="rId3" cstate="print"/>
              <a:srcRect/>
              <a:stretch>
                <a:fillRect/>
              </a:stretch>
            </p:blipFill>
            <p:spPr bwMode="auto">
              <a:xfrm>
                <a:off x="4029" y="1536"/>
                <a:ext cx="303" cy="329"/>
              </a:xfrm>
              <a:prstGeom prst="rect">
                <a:avLst/>
              </a:prstGeom>
              <a:noFill/>
            </p:spPr>
          </p:pic>
          <p:pic>
            <p:nvPicPr>
              <p:cNvPr id="34" name="Picture 54" descr="2Domain01"/>
              <p:cNvPicPr>
                <a:picLocks noChangeAspect="1" noChangeArrowheads="1"/>
              </p:cNvPicPr>
              <p:nvPr/>
            </p:nvPicPr>
            <p:blipFill>
              <a:blip r:embed="rId2" cstate="print"/>
              <a:srcRect/>
              <a:stretch>
                <a:fillRect/>
              </a:stretch>
            </p:blipFill>
            <p:spPr bwMode="auto">
              <a:xfrm>
                <a:off x="4248" y="2459"/>
                <a:ext cx="846" cy="778"/>
              </a:xfrm>
              <a:prstGeom prst="rect">
                <a:avLst/>
              </a:prstGeom>
              <a:noFill/>
            </p:spPr>
          </p:pic>
          <p:pic>
            <p:nvPicPr>
              <p:cNvPr id="35" name="Picture 55" descr="Server01"/>
              <p:cNvPicPr>
                <a:picLocks noChangeAspect="1" noChangeArrowheads="1"/>
              </p:cNvPicPr>
              <p:nvPr/>
            </p:nvPicPr>
            <p:blipFill>
              <a:blip r:embed="rId3" cstate="print"/>
              <a:srcRect/>
              <a:stretch>
                <a:fillRect/>
              </a:stretch>
            </p:blipFill>
            <p:spPr bwMode="auto">
              <a:xfrm>
                <a:off x="4524" y="2440"/>
                <a:ext cx="303" cy="329"/>
              </a:xfrm>
              <a:prstGeom prst="rect">
                <a:avLst/>
              </a:prstGeom>
              <a:noFill/>
            </p:spPr>
          </p:pic>
          <p:sp>
            <p:nvSpPr>
              <p:cNvPr id="36" name="AutoShape 56"/>
              <p:cNvSpPr>
                <a:spLocks noChangeArrowheads="1"/>
              </p:cNvSpPr>
              <p:nvPr/>
            </p:nvSpPr>
            <p:spPr bwMode="auto">
              <a:xfrm flipH="1">
                <a:off x="3812" y="2143"/>
                <a:ext cx="747"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fabrikam.com</a:t>
                </a:r>
              </a:p>
            </p:txBody>
          </p:sp>
          <p:sp>
            <p:nvSpPr>
              <p:cNvPr id="37" name="Text Box 57"/>
              <p:cNvSpPr txBox="1">
                <a:spLocks noChangeArrowheads="1"/>
              </p:cNvSpPr>
              <p:nvPr/>
            </p:nvSpPr>
            <p:spPr bwMode="auto">
              <a:xfrm>
                <a:off x="4305" y="1578"/>
                <a:ext cx="836" cy="155"/>
              </a:xfrm>
              <a:prstGeom prst="rect">
                <a:avLst/>
              </a:prstGeom>
              <a:noFill/>
              <a:ln w="12700" algn="ctr">
                <a:noFill/>
                <a:miter lim="800000"/>
                <a:headEnd/>
                <a:tailEnd/>
              </a:ln>
              <a:effectLst/>
            </p:spPr>
            <p:txBody>
              <a:bodyPr wrap="none" anchor="ctr"/>
              <a:lstStyle/>
              <a:p>
                <a:r>
                  <a:rPr lang="en-US" sz="1400"/>
                  <a:t>DNS server</a:t>
                </a:r>
              </a:p>
            </p:txBody>
          </p:sp>
          <p:sp>
            <p:nvSpPr>
              <p:cNvPr id="38" name="Text Box 58"/>
              <p:cNvSpPr txBox="1">
                <a:spLocks noChangeArrowheads="1"/>
              </p:cNvSpPr>
              <p:nvPr/>
            </p:nvSpPr>
            <p:spPr bwMode="auto">
              <a:xfrm>
                <a:off x="4793" y="2490"/>
                <a:ext cx="836" cy="155"/>
              </a:xfrm>
              <a:prstGeom prst="rect">
                <a:avLst/>
              </a:prstGeom>
              <a:noFill/>
              <a:ln w="12700" algn="ctr">
                <a:noFill/>
                <a:miter lim="800000"/>
                <a:headEnd/>
                <a:tailEnd/>
              </a:ln>
              <a:effectLst/>
            </p:spPr>
            <p:txBody>
              <a:bodyPr wrap="none" anchor="ctr"/>
              <a:lstStyle/>
              <a:p>
                <a:r>
                  <a:rPr lang="en-US" sz="1400"/>
                  <a:t>DNS server</a:t>
                </a:r>
              </a:p>
            </p:txBody>
          </p:sp>
          <p:sp>
            <p:nvSpPr>
              <p:cNvPr id="39" name="AutoShape 61"/>
              <p:cNvSpPr>
                <a:spLocks noChangeArrowheads="1"/>
              </p:cNvSpPr>
              <p:nvPr/>
            </p:nvSpPr>
            <p:spPr bwMode="auto">
              <a:xfrm flipH="1">
                <a:off x="4251" y="3047"/>
                <a:ext cx="843"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na.fabrikam.com</a:t>
                </a:r>
              </a:p>
            </p:txBody>
          </p:sp>
          <p:sp>
            <p:nvSpPr>
              <p:cNvPr id="40" name="Freeform 64"/>
              <p:cNvSpPr>
                <a:spLocks/>
              </p:cNvSpPr>
              <p:nvPr/>
            </p:nvSpPr>
            <p:spPr bwMode="auto">
              <a:xfrm rot="2017575">
                <a:off x="967" y="2852"/>
                <a:ext cx="1055" cy="803"/>
              </a:xfrm>
              <a:custGeom>
                <a:avLst/>
                <a:gdLst/>
                <a:ahLst/>
                <a:cxnLst>
                  <a:cxn ang="0">
                    <a:pos x="0" y="1076"/>
                  </a:cxn>
                  <a:cxn ang="0">
                    <a:pos x="1025" y="0"/>
                  </a:cxn>
                  <a:cxn ang="0">
                    <a:pos x="1084" y="1229"/>
                  </a:cxn>
                  <a:cxn ang="0">
                    <a:pos x="0" y="1076"/>
                  </a:cxn>
                </a:cxnLst>
                <a:rect l="0" t="0" r="r" b="b"/>
                <a:pathLst>
                  <a:path w="1084" h="1229">
                    <a:moveTo>
                      <a:pt x="0" y="1076"/>
                    </a:moveTo>
                    <a:lnTo>
                      <a:pt x="1025" y="0"/>
                    </a:lnTo>
                    <a:lnTo>
                      <a:pt x="1084" y="1229"/>
                    </a:lnTo>
                    <a:lnTo>
                      <a:pt x="0" y="1076"/>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fr-FR"/>
              </a:p>
            </p:txBody>
          </p:sp>
          <p:pic>
            <p:nvPicPr>
              <p:cNvPr id="41" name="Picture 31" descr="Server01"/>
              <p:cNvPicPr>
                <a:picLocks noChangeAspect="1" noChangeArrowheads="1"/>
              </p:cNvPicPr>
              <p:nvPr/>
            </p:nvPicPr>
            <p:blipFill>
              <a:blip r:embed="rId3" cstate="print"/>
              <a:srcRect/>
              <a:stretch>
                <a:fillRect/>
              </a:stretch>
            </p:blipFill>
            <p:spPr bwMode="auto">
              <a:xfrm>
                <a:off x="820" y="3064"/>
                <a:ext cx="303" cy="329"/>
              </a:xfrm>
              <a:prstGeom prst="rect">
                <a:avLst/>
              </a:prstGeom>
              <a:noFill/>
            </p:spPr>
          </p:pic>
          <p:pic>
            <p:nvPicPr>
              <p:cNvPr id="42" name="Picture 62" descr="Document_Document"/>
              <p:cNvPicPr>
                <a:picLocks noChangeAspect="1" noChangeArrowheads="1"/>
              </p:cNvPicPr>
              <p:nvPr/>
            </p:nvPicPr>
            <p:blipFill>
              <a:blip r:embed="rId4"/>
              <a:srcRect/>
              <a:stretch>
                <a:fillRect/>
              </a:stretch>
            </p:blipFill>
            <p:spPr bwMode="auto">
              <a:xfrm>
                <a:off x="1538" y="3028"/>
                <a:ext cx="806" cy="1058"/>
              </a:xfrm>
              <a:prstGeom prst="rect">
                <a:avLst/>
              </a:prstGeom>
              <a:noFill/>
            </p:spPr>
          </p:pic>
          <p:sp>
            <p:nvSpPr>
              <p:cNvPr id="43" name="AutoShape 63"/>
              <p:cNvSpPr>
                <a:spLocks noChangeArrowheads="1"/>
              </p:cNvSpPr>
              <p:nvPr/>
            </p:nvSpPr>
            <p:spPr bwMode="auto">
              <a:xfrm rot="478910" flipH="1">
                <a:off x="1541" y="3325"/>
                <a:ext cx="885" cy="647"/>
              </a:xfrm>
              <a:prstGeom prst="roundRect">
                <a:avLst>
                  <a:gd name="adj" fmla="val 4167"/>
                </a:avLst>
              </a:prstGeom>
              <a:noFill/>
              <a:ln w="9525" algn="ctr">
                <a:noFill/>
                <a:round/>
                <a:headEnd/>
                <a:tailEnd/>
              </a:ln>
              <a:effectLst/>
            </p:spPr>
            <p:txBody>
              <a:bodyPr anchor="ctr">
                <a:spAutoFit/>
              </a:bodyPr>
              <a:lstStyle/>
              <a:p>
                <a:pPr algn="l"/>
                <a:r>
                  <a:rPr lang="en-US" sz="1200">
                    <a:latin typeface="Arial Narrow" pitchFamily="34" charset="0"/>
                  </a:rPr>
                  <a:t>Stub zone: na.fabrikam.com</a:t>
                </a:r>
              </a:p>
              <a:p>
                <a:pPr algn="l"/>
                <a:endParaRPr lang="en-US" sz="1200">
                  <a:latin typeface="Arial Narrow" pitchFamily="34" charset="0"/>
                </a:endParaRPr>
              </a:p>
              <a:p>
                <a:pPr algn="l"/>
                <a:r>
                  <a:rPr lang="en-US" sz="1200">
                    <a:latin typeface="Arial Narrow" pitchFamily="34" charset="0"/>
                  </a:rPr>
                  <a:t>Stub zone: rio.sa.contoso.com</a:t>
                </a:r>
              </a:p>
            </p:txBody>
          </p:sp>
          <p:sp>
            <p:nvSpPr>
              <p:cNvPr id="44" name="Arc 70"/>
              <p:cNvSpPr>
                <a:spLocks/>
              </p:cNvSpPr>
              <p:nvPr/>
            </p:nvSpPr>
            <p:spPr bwMode="auto">
              <a:xfrm rot="-1314000">
                <a:off x="2134" y="2861"/>
                <a:ext cx="2509" cy="455"/>
              </a:xfrm>
              <a:custGeom>
                <a:avLst/>
                <a:gdLst>
                  <a:gd name="G0" fmla="+- 18064 0 0"/>
                  <a:gd name="G1" fmla="+- 21600 0 0"/>
                  <a:gd name="G2" fmla="+- 21600 0 0"/>
                  <a:gd name="T0" fmla="*/ 0 w 34468"/>
                  <a:gd name="T1" fmla="*/ 9758 h 21600"/>
                  <a:gd name="T2" fmla="*/ 34468 w 34468"/>
                  <a:gd name="T3" fmla="*/ 7548 h 21600"/>
                  <a:gd name="T4" fmla="*/ 18064 w 34468"/>
                  <a:gd name="T5" fmla="*/ 21600 h 21600"/>
                </a:gdLst>
                <a:ahLst/>
                <a:cxnLst>
                  <a:cxn ang="0">
                    <a:pos x="T0" y="T1"/>
                  </a:cxn>
                  <a:cxn ang="0">
                    <a:pos x="T2" y="T3"/>
                  </a:cxn>
                  <a:cxn ang="0">
                    <a:pos x="T4" y="T5"/>
                  </a:cxn>
                </a:cxnLst>
                <a:rect l="0" t="0" r="r" b="b"/>
                <a:pathLst>
                  <a:path w="34468" h="21600" fill="none" extrusionOk="0">
                    <a:moveTo>
                      <a:pt x="-1" y="9757"/>
                    </a:moveTo>
                    <a:cubicBezTo>
                      <a:pt x="3991" y="3668"/>
                      <a:pt x="10782" y="-1"/>
                      <a:pt x="18064" y="0"/>
                    </a:cubicBezTo>
                    <a:cubicBezTo>
                      <a:pt x="24371" y="0"/>
                      <a:pt x="30364" y="2757"/>
                      <a:pt x="34468" y="7547"/>
                    </a:cubicBezTo>
                  </a:path>
                  <a:path w="34468" h="21600" stroke="0" extrusionOk="0">
                    <a:moveTo>
                      <a:pt x="-1" y="9757"/>
                    </a:moveTo>
                    <a:cubicBezTo>
                      <a:pt x="3991" y="3668"/>
                      <a:pt x="10782" y="-1"/>
                      <a:pt x="18064" y="0"/>
                    </a:cubicBezTo>
                    <a:cubicBezTo>
                      <a:pt x="24371" y="0"/>
                      <a:pt x="30364" y="2757"/>
                      <a:pt x="34468" y="7547"/>
                    </a:cubicBezTo>
                    <a:lnTo>
                      <a:pt x="18064" y="21600"/>
                    </a:lnTo>
                    <a:close/>
                  </a:path>
                </a:pathLst>
              </a:custGeom>
              <a:noFill/>
              <a:ln w="38100">
                <a:solidFill>
                  <a:srgbClr val="CC0000"/>
                </a:solidFill>
                <a:round/>
                <a:headEnd/>
                <a:tailEnd type="triangle" w="med" len="med"/>
              </a:ln>
              <a:effectLst/>
            </p:spPr>
            <p:txBody>
              <a:bodyPr/>
              <a:lstStyle/>
              <a:p>
                <a:endParaRPr lang="fr-FR"/>
              </a:p>
            </p:txBody>
          </p:sp>
          <p:sp>
            <p:nvSpPr>
              <p:cNvPr id="45" name="Arc 71"/>
              <p:cNvSpPr>
                <a:spLocks/>
              </p:cNvSpPr>
              <p:nvPr/>
            </p:nvSpPr>
            <p:spPr bwMode="auto">
              <a:xfrm rot="-2444770">
                <a:off x="2218" y="3455"/>
                <a:ext cx="912" cy="455"/>
              </a:xfrm>
              <a:custGeom>
                <a:avLst/>
                <a:gdLst>
                  <a:gd name="G0" fmla="+- 11544 0 0"/>
                  <a:gd name="G1" fmla="+- 21600 0 0"/>
                  <a:gd name="G2" fmla="+- 21600 0 0"/>
                  <a:gd name="T0" fmla="*/ 0 w 27948"/>
                  <a:gd name="T1" fmla="*/ 3344 h 21600"/>
                  <a:gd name="T2" fmla="*/ 27948 w 27948"/>
                  <a:gd name="T3" fmla="*/ 7548 h 21600"/>
                  <a:gd name="T4" fmla="*/ 11544 w 27948"/>
                  <a:gd name="T5" fmla="*/ 21600 h 21600"/>
                </a:gdLst>
                <a:ahLst/>
                <a:cxnLst>
                  <a:cxn ang="0">
                    <a:pos x="T0" y="T1"/>
                  </a:cxn>
                  <a:cxn ang="0">
                    <a:pos x="T2" y="T3"/>
                  </a:cxn>
                  <a:cxn ang="0">
                    <a:pos x="T4" y="T5"/>
                  </a:cxn>
                </a:cxnLst>
                <a:rect l="0" t="0" r="r" b="b"/>
                <a:pathLst>
                  <a:path w="27948" h="21600" fill="none" extrusionOk="0">
                    <a:moveTo>
                      <a:pt x="-1" y="3343"/>
                    </a:moveTo>
                    <a:cubicBezTo>
                      <a:pt x="3454" y="1159"/>
                      <a:pt x="7457" y="-1"/>
                      <a:pt x="11544" y="0"/>
                    </a:cubicBezTo>
                    <a:cubicBezTo>
                      <a:pt x="17851" y="0"/>
                      <a:pt x="23844" y="2757"/>
                      <a:pt x="27948" y="7547"/>
                    </a:cubicBezTo>
                  </a:path>
                  <a:path w="27948" h="21600" stroke="0" extrusionOk="0">
                    <a:moveTo>
                      <a:pt x="-1" y="3343"/>
                    </a:moveTo>
                    <a:cubicBezTo>
                      <a:pt x="3454" y="1159"/>
                      <a:pt x="7457" y="-1"/>
                      <a:pt x="11544" y="0"/>
                    </a:cubicBezTo>
                    <a:cubicBezTo>
                      <a:pt x="17851" y="0"/>
                      <a:pt x="23844" y="2757"/>
                      <a:pt x="27948" y="7547"/>
                    </a:cubicBezTo>
                    <a:lnTo>
                      <a:pt x="11544" y="21600"/>
                    </a:lnTo>
                    <a:close/>
                  </a:path>
                </a:pathLst>
              </a:custGeom>
              <a:noFill/>
              <a:ln w="38100">
                <a:solidFill>
                  <a:srgbClr val="CC0000"/>
                </a:solidFill>
                <a:round/>
                <a:headEnd/>
                <a:tailEnd type="triangle" w="med" len="med"/>
              </a:ln>
              <a:effectLst/>
            </p:spPr>
            <p:txBody>
              <a:bodyPr/>
              <a:lstStyle/>
              <a:p>
                <a:endParaRPr lang="fr-FR"/>
              </a:p>
            </p:txBody>
          </p:sp>
        </p:grpSp>
      </p:grpSp>
      <p:grpSp>
        <p:nvGrpSpPr>
          <p:cNvPr id="46" name="Group 75"/>
          <p:cNvGrpSpPr>
            <a:grpSpLocks/>
          </p:cNvGrpSpPr>
          <p:nvPr/>
        </p:nvGrpSpPr>
        <p:grpSpPr bwMode="auto">
          <a:xfrm>
            <a:off x="29028" y="1050472"/>
            <a:ext cx="9029700" cy="5778500"/>
            <a:chOff x="24" y="472"/>
            <a:chExt cx="5688" cy="3640"/>
          </a:xfrm>
        </p:grpSpPr>
        <p:sp>
          <p:nvSpPr>
            <p:cNvPr id="47" name="Rectangle 76"/>
            <p:cNvSpPr>
              <a:spLocks noChangeArrowheads="1"/>
            </p:cNvSpPr>
            <p:nvPr/>
          </p:nvSpPr>
          <p:spPr bwMode="auto">
            <a:xfrm>
              <a:off x="48" y="472"/>
              <a:ext cx="5664" cy="3640"/>
            </a:xfrm>
            <a:prstGeom prst="rect">
              <a:avLst/>
            </a:prstGeom>
            <a:solidFill>
              <a:schemeClr val="accent1"/>
            </a:solidFill>
            <a:ln w="9525" algn="ctr">
              <a:noFill/>
              <a:miter lim="800000"/>
              <a:headEnd/>
              <a:tailEnd/>
            </a:ln>
            <a:effectLst/>
          </p:spPr>
          <p:txBody>
            <a:bodyPr wrap="none" anchor="ctr"/>
            <a:lstStyle/>
            <a:p>
              <a:endParaRPr lang="fr-FR"/>
            </a:p>
          </p:txBody>
        </p:sp>
        <p:grpSp>
          <p:nvGrpSpPr>
            <p:cNvPr id="48" name="Group 77"/>
            <p:cNvGrpSpPr>
              <a:grpSpLocks/>
            </p:cNvGrpSpPr>
            <p:nvPr/>
          </p:nvGrpSpPr>
          <p:grpSpPr bwMode="auto">
            <a:xfrm>
              <a:off x="24" y="530"/>
              <a:ext cx="5609" cy="3339"/>
              <a:chOff x="24" y="530"/>
              <a:chExt cx="5609" cy="3339"/>
            </a:xfrm>
          </p:grpSpPr>
          <p:sp>
            <p:nvSpPr>
              <p:cNvPr id="49" name="AutoShape 10"/>
              <p:cNvSpPr>
                <a:spLocks noChangeArrowheads="1"/>
              </p:cNvSpPr>
              <p:nvPr/>
            </p:nvSpPr>
            <p:spPr bwMode="auto">
              <a:xfrm>
                <a:off x="129" y="530"/>
                <a:ext cx="5504" cy="601"/>
              </a:xfrm>
              <a:prstGeom prst="roundRect">
                <a:avLst>
                  <a:gd name="adj" fmla="val 16667"/>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wrap="square" tIns="91440" bIns="91440" anchor="ctr">
                <a:spAutoFit/>
              </a:bodyPr>
              <a:lstStyle/>
              <a:p>
                <a:pPr algn="l"/>
                <a:r>
                  <a:rPr lang="fr-FR" sz="2200" dirty="0"/>
                  <a:t>Sans zones de stub, le serveur de ny.na.contoso.com doit interroger plusieurs serveurs afin de trouver le serveur qui héberge la zone na.fabrikam.com</a:t>
                </a:r>
                <a:endParaRPr lang="en-US" sz="2200" dirty="0"/>
              </a:p>
            </p:txBody>
          </p:sp>
          <p:sp>
            <p:nvSpPr>
              <p:cNvPr id="50" name="Line 79"/>
              <p:cNvSpPr>
                <a:spLocks noChangeShapeType="1"/>
              </p:cNvSpPr>
              <p:nvPr/>
            </p:nvSpPr>
            <p:spPr bwMode="auto">
              <a:xfrm>
                <a:off x="4360" y="1952"/>
                <a:ext cx="424" cy="792"/>
              </a:xfrm>
              <a:prstGeom prst="line">
                <a:avLst/>
              </a:prstGeom>
              <a:noFill/>
              <a:ln w="57150">
                <a:solidFill>
                  <a:srgbClr val="808080"/>
                </a:solidFill>
                <a:round/>
                <a:headEnd/>
                <a:tailEnd/>
              </a:ln>
              <a:effectLst/>
            </p:spPr>
            <p:txBody>
              <a:bodyPr wrap="none" anchor="ctr"/>
              <a:lstStyle/>
              <a:p>
                <a:endParaRPr lang="fr-FR"/>
              </a:p>
            </p:txBody>
          </p:sp>
          <p:sp>
            <p:nvSpPr>
              <p:cNvPr id="51" name="Line 80"/>
              <p:cNvSpPr>
                <a:spLocks noChangeShapeType="1"/>
              </p:cNvSpPr>
              <p:nvPr/>
            </p:nvSpPr>
            <p:spPr bwMode="auto">
              <a:xfrm>
                <a:off x="2088" y="1336"/>
                <a:ext cx="2088" cy="376"/>
              </a:xfrm>
              <a:prstGeom prst="line">
                <a:avLst/>
              </a:prstGeom>
              <a:noFill/>
              <a:ln w="57150">
                <a:solidFill>
                  <a:srgbClr val="808080"/>
                </a:solidFill>
                <a:round/>
                <a:headEnd/>
                <a:tailEnd/>
              </a:ln>
              <a:effectLst/>
            </p:spPr>
            <p:txBody>
              <a:bodyPr wrap="none" anchor="ctr"/>
              <a:lstStyle/>
              <a:p>
                <a:endParaRPr lang="fr-FR"/>
              </a:p>
            </p:txBody>
          </p:sp>
          <p:sp>
            <p:nvSpPr>
              <p:cNvPr id="52" name="Line 81"/>
              <p:cNvSpPr>
                <a:spLocks noChangeShapeType="1"/>
              </p:cNvSpPr>
              <p:nvPr/>
            </p:nvSpPr>
            <p:spPr bwMode="auto">
              <a:xfrm flipH="1">
                <a:off x="864" y="1912"/>
                <a:ext cx="888" cy="1456"/>
              </a:xfrm>
              <a:prstGeom prst="line">
                <a:avLst/>
              </a:prstGeom>
              <a:noFill/>
              <a:ln w="57150">
                <a:solidFill>
                  <a:srgbClr val="808080"/>
                </a:solidFill>
                <a:round/>
                <a:headEnd/>
                <a:tailEnd/>
              </a:ln>
              <a:effectLst/>
            </p:spPr>
            <p:txBody>
              <a:bodyPr wrap="none" anchor="ctr"/>
              <a:lstStyle/>
              <a:p>
                <a:endParaRPr lang="fr-FR"/>
              </a:p>
            </p:txBody>
          </p:sp>
          <p:sp>
            <p:nvSpPr>
              <p:cNvPr id="53" name="Line 82"/>
              <p:cNvSpPr>
                <a:spLocks noChangeShapeType="1"/>
              </p:cNvSpPr>
              <p:nvPr/>
            </p:nvSpPr>
            <p:spPr bwMode="auto">
              <a:xfrm>
                <a:off x="2336" y="1856"/>
                <a:ext cx="936" cy="1656"/>
              </a:xfrm>
              <a:prstGeom prst="line">
                <a:avLst/>
              </a:prstGeom>
              <a:noFill/>
              <a:ln w="57150">
                <a:solidFill>
                  <a:srgbClr val="808080"/>
                </a:solidFill>
                <a:round/>
                <a:headEnd/>
                <a:tailEnd/>
              </a:ln>
              <a:effectLst/>
            </p:spPr>
            <p:txBody>
              <a:bodyPr wrap="none" anchor="ctr"/>
              <a:lstStyle/>
              <a:p>
                <a:endParaRPr lang="fr-FR"/>
              </a:p>
            </p:txBody>
          </p:sp>
          <p:pic>
            <p:nvPicPr>
              <p:cNvPr id="54" name="Picture 83" descr="2Domain01"/>
              <p:cNvPicPr>
                <a:picLocks noChangeAspect="1" noChangeArrowheads="1"/>
              </p:cNvPicPr>
              <p:nvPr/>
            </p:nvPicPr>
            <p:blipFill>
              <a:blip r:embed="rId2" cstate="print"/>
              <a:srcRect/>
              <a:stretch>
                <a:fillRect/>
              </a:stretch>
            </p:blipFill>
            <p:spPr bwMode="auto">
              <a:xfrm>
                <a:off x="1633" y="1281"/>
                <a:ext cx="846" cy="778"/>
              </a:xfrm>
              <a:prstGeom prst="rect">
                <a:avLst/>
              </a:prstGeom>
              <a:noFill/>
            </p:spPr>
          </p:pic>
          <p:pic>
            <p:nvPicPr>
              <p:cNvPr id="55" name="Picture 84" descr="Server01"/>
              <p:cNvPicPr>
                <a:picLocks noChangeAspect="1" noChangeArrowheads="1"/>
              </p:cNvPicPr>
              <p:nvPr/>
            </p:nvPicPr>
            <p:blipFill>
              <a:blip r:embed="rId3" cstate="print"/>
              <a:srcRect/>
              <a:stretch>
                <a:fillRect/>
              </a:stretch>
            </p:blipFill>
            <p:spPr bwMode="auto">
              <a:xfrm>
                <a:off x="1909" y="1262"/>
                <a:ext cx="303" cy="329"/>
              </a:xfrm>
              <a:prstGeom prst="rect">
                <a:avLst/>
              </a:prstGeom>
              <a:noFill/>
            </p:spPr>
          </p:pic>
          <p:pic>
            <p:nvPicPr>
              <p:cNvPr id="56" name="Picture 85" descr="2Domain01"/>
              <p:cNvPicPr>
                <a:picLocks noChangeAspect="1" noChangeArrowheads="1"/>
              </p:cNvPicPr>
              <p:nvPr/>
            </p:nvPicPr>
            <p:blipFill>
              <a:blip r:embed="rId2" cstate="print"/>
              <a:srcRect/>
              <a:stretch>
                <a:fillRect/>
              </a:stretch>
            </p:blipFill>
            <p:spPr bwMode="auto">
              <a:xfrm>
                <a:off x="1025" y="2179"/>
                <a:ext cx="846" cy="778"/>
              </a:xfrm>
              <a:prstGeom prst="rect">
                <a:avLst/>
              </a:prstGeom>
              <a:noFill/>
            </p:spPr>
          </p:pic>
          <p:pic>
            <p:nvPicPr>
              <p:cNvPr id="57" name="Picture 86" descr="Server01"/>
              <p:cNvPicPr>
                <a:picLocks noChangeAspect="1" noChangeArrowheads="1"/>
              </p:cNvPicPr>
              <p:nvPr/>
            </p:nvPicPr>
            <p:blipFill>
              <a:blip r:embed="rId3" cstate="print"/>
              <a:srcRect/>
              <a:stretch>
                <a:fillRect/>
              </a:stretch>
            </p:blipFill>
            <p:spPr bwMode="auto">
              <a:xfrm>
                <a:off x="1301" y="2160"/>
                <a:ext cx="303" cy="329"/>
              </a:xfrm>
              <a:prstGeom prst="rect">
                <a:avLst/>
              </a:prstGeom>
              <a:noFill/>
            </p:spPr>
          </p:pic>
          <p:pic>
            <p:nvPicPr>
              <p:cNvPr id="58" name="Picture 87" descr="2Domain01"/>
              <p:cNvPicPr>
                <a:picLocks noChangeAspect="1" noChangeArrowheads="1"/>
              </p:cNvPicPr>
              <p:nvPr/>
            </p:nvPicPr>
            <p:blipFill>
              <a:blip r:embed="rId2" cstate="print"/>
              <a:srcRect/>
              <a:stretch>
                <a:fillRect/>
              </a:stretch>
            </p:blipFill>
            <p:spPr bwMode="auto">
              <a:xfrm>
                <a:off x="544" y="3083"/>
                <a:ext cx="846" cy="778"/>
              </a:xfrm>
              <a:prstGeom prst="rect">
                <a:avLst/>
              </a:prstGeom>
              <a:noFill/>
            </p:spPr>
          </p:pic>
          <p:pic>
            <p:nvPicPr>
              <p:cNvPr id="59" name="Picture 88" descr="2Domain01"/>
              <p:cNvPicPr>
                <a:picLocks noChangeAspect="1" noChangeArrowheads="1"/>
              </p:cNvPicPr>
              <p:nvPr/>
            </p:nvPicPr>
            <p:blipFill>
              <a:blip r:embed="rId2" cstate="print"/>
              <a:srcRect/>
              <a:stretch>
                <a:fillRect/>
              </a:stretch>
            </p:blipFill>
            <p:spPr bwMode="auto">
              <a:xfrm>
                <a:off x="2177" y="2187"/>
                <a:ext cx="846" cy="778"/>
              </a:xfrm>
              <a:prstGeom prst="rect">
                <a:avLst/>
              </a:prstGeom>
              <a:noFill/>
            </p:spPr>
          </p:pic>
          <p:pic>
            <p:nvPicPr>
              <p:cNvPr id="60" name="Picture 89" descr="Server01"/>
              <p:cNvPicPr>
                <a:picLocks noChangeAspect="1" noChangeArrowheads="1"/>
              </p:cNvPicPr>
              <p:nvPr/>
            </p:nvPicPr>
            <p:blipFill>
              <a:blip r:embed="rId3" cstate="print"/>
              <a:srcRect/>
              <a:stretch>
                <a:fillRect/>
              </a:stretch>
            </p:blipFill>
            <p:spPr bwMode="auto">
              <a:xfrm>
                <a:off x="2453" y="2168"/>
                <a:ext cx="303" cy="329"/>
              </a:xfrm>
              <a:prstGeom prst="rect">
                <a:avLst/>
              </a:prstGeom>
              <a:noFill/>
            </p:spPr>
          </p:pic>
          <p:pic>
            <p:nvPicPr>
              <p:cNvPr id="61" name="Picture 90" descr="2Domain01"/>
              <p:cNvPicPr>
                <a:picLocks noChangeAspect="1" noChangeArrowheads="1"/>
              </p:cNvPicPr>
              <p:nvPr/>
            </p:nvPicPr>
            <p:blipFill>
              <a:blip r:embed="rId2" cstate="print"/>
              <a:srcRect/>
              <a:stretch>
                <a:fillRect/>
              </a:stretch>
            </p:blipFill>
            <p:spPr bwMode="auto">
              <a:xfrm>
                <a:off x="2672" y="3091"/>
                <a:ext cx="846" cy="778"/>
              </a:xfrm>
              <a:prstGeom prst="rect">
                <a:avLst/>
              </a:prstGeom>
              <a:noFill/>
            </p:spPr>
          </p:pic>
          <p:pic>
            <p:nvPicPr>
              <p:cNvPr id="62" name="Picture 91" descr="Server01"/>
              <p:cNvPicPr>
                <a:picLocks noChangeAspect="1" noChangeArrowheads="1"/>
              </p:cNvPicPr>
              <p:nvPr/>
            </p:nvPicPr>
            <p:blipFill>
              <a:blip r:embed="rId3" cstate="print"/>
              <a:srcRect/>
              <a:stretch>
                <a:fillRect/>
              </a:stretch>
            </p:blipFill>
            <p:spPr bwMode="auto">
              <a:xfrm>
                <a:off x="2948" y="3072"/>
                <a:ext cx="303" cy="329"/>
              </a:xfrm>
              <a:prstGeom prst="rect">
                <a:avLst/>
              </a:prstGeom>
              <a:noFill/>
            </p:spPr>
          </p:pic>
          <p:sp>
            <p:nvSpPr>
              <p:cNvPr id="63" name="AutoShape 92"/>
              <p:cNvSpPr>
                <a:spLocks noChangeArrowheads="1"/>
              </p:cNvSpPr>
              <p:nvPr/>
            </p:nvSpPr>
            <p:spPr bwMode="auto">
              <a:xfrm flipH="1">
                <a:off x="1678" y="1757"/>
                <a:ext cx="783" cy="294"/>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Contoso.com</a:t>
                </a:r>
              </a:p>
              <a:p>
                <a:r>
                  <a:rPr lang="en-US" sz="1200">
                    <a:latin typeface="Arial Narrow" pitchFamily="34" charset="0"/>
                  </a:rPr>
                  <a:t>(Root domain)</a:t>
                </a:r>
              </a:p>
            </p:txBody>
          </p:sp>
          <p:sp>
            <p:nvSpPr>
              <p:cNvPr id="64" name="AutoShape 93"/>
              <p:cNvSpPr>
                <a:spLocks noChangeArrowheads="1"/>
              </p:cNvSpPr>
              <p:nvPr/>
            </p:nvSpPr>
            <p:spPr bwMode="auto">
              <a:xfrm flipH="1">
                <a:off x="1082" y="2767"/>
                <a:ext cx="747"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na.contoso.com</a:t>
                </a:r>
              </a:p>
            </p:txBody>
          </p:sp>
          <p:sp>
            <p:nvSpPr>
              <p:cNvPr id="65" name="AutoShape 94"/>
              <p:cNvSpPr>
                <a:spLocks noChangeArrowheads="1"/>
              </p:cNvSpPr>
              <p:nvPr/>
            </p:nvSpPr>
            <p:spPr bwMode="auto">
              <a:xfrm flipH="1">
                <a:off x="2236" y="2775"/>
                <a:ext cx="747"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sa.contoso.com</a:t>
                </a:r>
              </a:p>
            </p:txBody>
          </p:sp>
          <p:sp>
            <p:nvSpPr>
              <p:cNvPr id="66" name="AutoShape 95"/>
              <p:cNvSpPr>
                <a:spLocks noChangeArrowheads="1"/>
              </p:cNvSpPr>
              <p:nvPr/>
            </p:nvSpPr>
            <p:spPr bwMode="auto">
              <a:xfrm flipH="1">
                <a:off x="539" y="3671"/>
                <a:ext cx="859"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ny.na.contoso.com</a:t>
                </a:r>
              </a:p>
            </p:txBody>
          </p:sp>
          <p:sp>
            <p:nvSpPr>
              <p:cNvPr id="67" name="AutoShape 96"/>
              <p:cNvSpPr>
                <a:spLocks noChangeArrowheads="1"/>
              </p:cNvSpPr>
              <p:nvPr/>
            </p:nvSpPr>
            <p:spPr bwMode="auto">
              <a:xfrm flipH="1">
                <a:off x="2675" y="3687"/>
                <a:ext cx="843"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rio.sa.contoso.com</a:t>
                </a:r>
              </a:p>
            </p:txBody>
          </p:sp>
          <p:sp>
            <p:nvSpPr>
              <p:cNvPr id="68" name="Text Box 97"/>
              <p:cNvSpPr txBox="1">
                <a:spLocks noChangeArrowheads="1"/>
              </p:cNvSpPr>
              <p:nvPr/>
            </p:nvSpPr>
            <p:spPr bwMode="auto">
              <a:xfrm>
                <a:off x="1121" y="1322"/>
                <a:ext cx="836" cy="155"/>
              </a:xfrm>
              <a:prstGeom prst="rect">
                <a:avLst/>
              </a:prstGeom>
              <a:noFill/>
              <a:ln w="12700" algn="ctr">
                <a:noFill/>
                <a:miter lim="800000"/>
                <a:headEnd/>
                <a:tailEnd/>
              </a:ln>
              <a:effectLst/>
            </p:spPr>
            <p:txBody>
              <a:bodyPr wrap="none" anchor="ctr"/>
              <a:lstStyle/>
              <a:p>
                <a:r>
                  <a:rPr lang="en-US" sz="1400"/>
                  <a:t>DNS server</a:t>
                </a:r>
              </a:p>
            </p:txBody>
          </p:sp>
          <p:sp>
            <p:nvSpPr>
              <p:cNvPr id="69" name="Text Box 98"/>
              <p:cNvSpPr txBox="1">
                <a:spLocks noChangeArrowheads="1"/>
              </p:cNvSpPr>
              <p:nvPr/>
            </p:nvSpPr>
            <p:spPr bwMode="auto">
              <a:xfrm>
                <a:off x="513" y="2234"/>
                <a:ext cx="836" cy="155"/>
              </a:xfrm>
              <a:prstGeom prst="rect">
                <a:avLst/>
              </a:prstGeom>
              <a:noFill/>
              <a:ln w="12700" algn="ctr">
                <a:noFill/>
                <a:miter lim="800000"/>
                <a:headEnd/>
                <a:tailEnd/>
              </a:ln>
              <a:effectLst/>
            </p:spPr>
            <p:txBody>
              <a:bodyPr wrap="none" anchor="ctr"/>
              <a:lstStyle/>
              <a:p>
                <a:r>
                  <a:rPr lang="en-US" sz="1400"/>
                  <a:t>DNS server</a:t>
                </a:r>
              </a:p>
            </p:txBody>
          </p:sp>
          <p:sp>
            <p:nvSpPr>
              <p:cNvPr id="70" name="Text Box 99"/>
              <p:cNvSpPr txBox="1">
                <a:spLocks noChangeArrowheads="1"/>
              </p:cNvSpPr>
              <p:nvPr/>
            </p:nvSpPr>
            <p:spPr bwMode="auto">
              <a:xfrm>
                <a:off x="24" y="3154"/>
                <a:ext cx="836" cy="155"/>
              </a:xfrm>
              <a:prstGeom prst="rect">
                <a:avLst/>
              </a:prstGeom>
              <a:noFill/>
              <a:ln w="12700" algn="ctr">
                <a:noFill/>
                <a:miter lim="800000"/>
                <a:headEnd/>
                <a:tailEnd/>
              </a:ln>
              <a:effectLst/>
            </p:spPr>
            <p:txBody>
              <a:bodyPr wrap="none" anchor="ctr"/>
              <a:lstStyle/>
              <a:p>
                <a:r>
                  <a:rPr lang="en-US" sz="1400"/>
                  <a:t>DNS server</a:t>
                </a:r>
              </a:p>
            </p:txBody>
          </p:sp>
          <p:sp>
            <p:nvSpPr>
              <p:cNvPr id="71" name="Text Box 100"/>
              <p:cNvSpPr txBox="1">
                <a:spLocks noChangeArrowheads="1"/>
              </p:cNvSpPr>
              <p:nvPr/>
            </p:nvSpPr>
            <p:spPr bwMode="auto">
              <a:xfrm>
                <a:off x="2729" y="2210"/>
                <a:ext cx="836" cy="155"/>
              </a:xfrm>
              <a:prstGeom prst="rect">
                <a:avLst/>
              </a:prstGeom>
              <a:noFill/>
              <a:ln w="12700" algn="ctr">
                <a:noFill/>
                <a:miter lim="800000"/>
                <a:headEnd/>
                <a:tailEnd/>
              </a:ln>
              <a:effectLst/>
            </p:spPr>
            <p:txBody>
              <a:bodyPr wrap="none" anchor="ctr"/>
              <a:lstStyle/>
              <a:p>
                <a:r>
                  <a:rPr lang="en-US" sz="1400"/>
                  <a:t>DNS server</a:t>
                </a:r>
              </a:p>
            </p:txBody>
          </p:sp>
          <p:sp>
            <p:nvSpPr>
              <p:cNvPr id="72" name="Text Box 101"/>
              <p:cNvSpPr txBox="1">
                <a:spLocks noChangeArrowheads="1"/>
              </p:cNvSpPr>
              <p:nvPr/>
            </p:nvSpPr>
            <p:spPr bwMode="auto">
              <a:xfrm>
                <a:off x="3217" y="3122"/>
                <a:ext cx="836" cy="155"/>
              </a:xfrm>
              <a:prstGeom prst="rect">
                <a:avLst/>
              </a:prstGeom>
              <a:noFill/>
              <a:ln w="12700" algn="ctr">
                <a:noFill/>
                <a:miter lim="800000"/>
                <a:headEnd/>
                <a:tailEnd/>
              </a:ln>
              <a:effectLst/>
            </p:spPr>
            <p:txBody>
              <a:bodyPr wrap="none" anchor="ctr"/>
              <a:lstStyle/>
              <a:p>
                <a:r>
                  <a:rPr lang="en-US" sz="1400"/>
                  <a:t>DNS server</a:t>
                </a:r>
              </a:p>
            </p:txBody>
          </p:sp>
          <p:pic>
            <p:nvPicPr>
              <p:cNvPr id="73" name="Picture 102" descr="2Domain01"/>
              <p:cNvPicPr>
                <a:picLocks noChangeAspect="1" noChangeArrowheads="1"/>
              </p:cNvPicPr>
              <p:nvPr/>
            </p:nvPicPr>
            <p:blipFill>
              <a:blip r:embed="rId2" cstate="print"/>
              <a:srcRect/>
              <a:stretch>
                <a:fillRect/>
              </a:stretch>
            </p:blipFill>
            <p:spPr bwMode="auto">
              <a:xfrm>
                <a:off x="3753" y="1555"/>
                <a:ext cx="846" cy="778"/>
              </a:xfrm>
              <a:prstGeom prst="rect">
                <a:avLst/>
              </a:prstGeom>
              <a:noFill/>
            </p:spPr>
          </p:pic>
          <p:pic>
            <p:nvPicPr>
              <p:cNvPr id="74" name="Picture 103" descr="Server01"/>
              <p:cNvPicPr>
                <a:picLocks noChangeAspect="1" noChangeArrowheads="1"/>
              </p:cNvPicPr>
              <p:nvPr/>
            </p:nvPicPr>
            <p:blipFill>
              <a:blip r:embed="rId3" cstate="print"/>
              <a:srcRect/>
              <a:stretch>
                <a:fillRect/>
              </a:stretch>
            </p:blipFill>
            <p:spPr bwMode="auto">
              <a:xfrm>
                <a:off x="4029" y="1536"/>
                <a:ext cx="303" cy="329"/>
              </a:xfrm>
              <a:prstGeom prst="rect">
                <a:avLst/>
              </a:prstGeom>
              <a:noFill/>
            </p:spPr>
          </p:pic>
          <p:pic>
            <p:nvPicPr>
              <p:cNvPr id="75" name="Picture 104" descr="2Domain01"/>
              <p:cNvPicPr>
                <a:picLocks noChangeAspect="1" noChangeArrowheads="1"/>
              </p:cNvPicPr>
              <p:nvPr/>
            </p:nvPicPr>
            <p:blipFill>
              <a:blip r:embed="rId2" cstate="print"/>
              <a:srcRect/>
              <a:stretch>
                <a:fillRect/>
              </a:stretch>
            </p:blipFill>
            <p:spPr bwMode="auto">
              <a:xfrm>
                <a:off x="4248" y="2459"/>
                <a:ext cx="846" cy="778"/>
              </a:xfrm>
              <a:prstGeom prst="rect">
                <a:avLst/>
              </a:prstGeom>
              <a:noFill/>
            </p:spPr>
          </p:pic>
          <p:pic>
            <p:nvPicPr>
              <p:cNvPr id="76" name="Picture 105" descr="Server01"/>
              <p:cNvPicPr>
                <a:picLocks noChangeAspect="1" noChangeArrowheads="1"/>
              </p:cNvPicPr>
              <p:nvPr/>
            </p:nvPicPr>
            <p:blipFill>
              <a:blip r:embed="rId3" cstate="print"/>
              <a:srcRect/>
              <a:stretch>
                <a:fillRect/>
              </a:stretch>
            </p:blipFill>
            <p:spPr bwMode="auto">
              <a:xfrm>
                <a:off x="4524" y="2440"/>
                <a:ext cx="303" cy="329"/>
              </a:xfrm>
              <a:prstGeom prst="rect">
                <a:avLst/>
              </a:prstGeom>
              <a:noFill/>
            </p:spPr>
          </p:pic>
          <p:sp>
            <p:nvSpPr>
              <p:cNvPr id="77" name="AutoShape 106"/>
              <p:cNvSpPr>
                <a:spLocks noChangeArrowheads="1"/>
              </p:cNvSpPr>
              <p:nvPr/>
            </p:nvSpPr>
            <p:spPr bwMode="auto">
              <a:xfrm flipH="1">
                <a:off x="3812" y="2143"/>
                <a:ext cx="747"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fabrikam.com</a:t>
                </a:r>
              </a:p>
            </p:txBody>
          </p:sp>
          <p:sp>
            <p:nvSpPr>
              <p:cNvPr id="78" name="Text Box 107"/>
              <p:cNvSpPr txBox="1">
                <a:spLocks noChangeArrowheads="1"/>
              </p:cNvSpPr>
              <p:nvPr/>
            </p:nvSpPr>
            <p:spPr bwMode="auto">
              <a:xfrm>
                <a:off x="4305" y="1578"/>
                <a:ext cx="836" cy="155"/>
              </a:xfrm>
              <a:prstGeom prst="rect">
                <a:avLst/>
              </a:prstGeom>
              <a:noFill/>
              <a:ln w="12700" algn="ctr">
                <a:noFill/>
                <a:miter lim="800000"/>
                <a:headEnd/>
                <a:tailEnd/>
              </a:ln>
              <a:effectLst/>
            </p:spPr>
            <p:txBody>
              <a:bodyPr wrap="none" anchor="ctr"/>
              <a:lstStyle/>
              <a:p>
                <a:r>
                  <a:rPr lang="en-US" sz="1400"/>
                  <a:t>DNS server</a:t>
                </a:r>
              </a:p>
            </p:txBody>
          </p:sp>
          <p:sp>
            <p:nvSpPr>
              <p:cNvPr id="79" name="Text Box 108"/>
              <p:cNvSpPr txBox="1">
                <a:spLocks noChangeArrowheads="1"/>
              </p:cNvSpPr>
              <p:nvPr/>
            </p:nvSpPr>
            <p:spPr bwMode="auto">
              <a:xfrm>
                <a:off x="4793" y="2490"/>
                <a:ext cx="836" cy="155"/>
              </a:xfrm>
              <a:prstGeom prst="rect">
                <a:avLst/>
              </a:prstGeom>
              <a:noFill/>
              <a:ln w="12700" algn="ctr">
                <a:noFill/>
                <a:miter lim="800000"/>
                <a:headEnd/>
                <a:tailEnd/>
              </a:ln>
              <a:effectLst/>
            </p:spPr>
            <p:txBody>
              <a:bodyPr wrap="none" anchor="ctr"/>
              <a:lstStyle/>
              <a:p>
                <a:r>
                  <a:rPr lang="en-US" sz="1400"/>
                  <a:t>DNS server</a:t>
                </a:r>
              </a:p>
            </p:txBody>
          </p:sp>
          <p:sp>
            <p:nvSpPr>
              <p:cNvPr id="80" name="AutoShape 109"/>
              <p:cNvSpPr>
                <a:spLocks noChangeArrowheads="1"/>
              </p:cNvSpPr>
              <p:nvPr/>
            </p:nvSpPr>
            <p:spPr bwMode="auto">
              <a:xfrm flipH="1">
                <a:off x="4251" y="3047"/>
                <a:ext cx="843" cy="176"/>
              </a:xfrm>
              <a:prstGeom prst="roundRect">
                <a:avLst>
                  <a:gd name="adj" fmla="val 4167"/>
                </a:avLst>
              </a:prstGeom>
              <a:noFill/>
              <a:ln w="9525" algn="ctr">
                <a:noFill/>
                <a:round/>
                <a:headEnd/>
                <a:tailEnd/>
              </a:ln>
              <a:effectLst/>
            </p:spPr>
            <p:txBody>
              <a:bodyPr anchor="ctr">
                <a:spAutoFit/>
              </a:bodyPr>
              <a:lstStyle/>
              <a:p>
                <a:r>
                  <a:rPr lang="en-US" sz="1200">
                    <a:latin typeface="Arial Narrow" pitchFamily="34" charset="0"/>
                  </a:rPr>
                  <a:t>na.fabrikam.com</a:t>
                </a:r>
              </a:p>
            </p:txBody>
          </p:sp>
          <p:sp>
            <p:nvSpPr>
              <p:cNvPr id="81" name="Arc 110"/>
              <p:cNvSpPr>
                <a:spLocks/>
              </p:cNvSpPr>
              <p:nvPr/>
            </p:nvSpPr>
            <p:spPr bwMode="auto">
              <a:xfrm rot="-336579">
                <a:off x="1005" y="2604"/>
                <a:ext cx="3524" cy="455"/>
              </a:xfrm>
              <a:custGeom>
                <a:avLst/>
                <a:gdLst>
                  <a:gd name="G0" fmla="+- 21596 0 0"/>
                  <a:gd name="G1" fmla="+- 21600 0 0"/>
                  <a:gd name="G2" fmla="+- 21600 0 0"/>
                  <a:gd name="T0" fmla="*/ 0 w 38000"/>
                  <a:gd name="T1" fmla="*/ 21202 h 21600"/>
                  <a:gd name="T2" fmla="*/ 38000 w 38000"/>
                  <a:gd name="T3" fmla="*/ 7548 h 21600"/>
                  <a:gd name="T4" fmla="*/ 21596 w 38000"/>
                  <a:gd name="T5" fmla="*/ 21600 h 21600"/>
                </a:gdLst>
                <a:ahLst/>
                <a:cxnLst>
                  <a:cxn ang="0">
                    <a:pos x="T0" y="T1"/>
                  </a:cxn>
                  <a:cxn ang="0">
                    <a:pos x="T2" y="T3"/>
                  </a:cxn>
                  <a:cxn ang="0">
                    <a:pos x="T4" y="T5"/>
                  </a:cxn>
                </a:cxnLst>
                <a:rect l="0" t="0" r="r" b="b"/>
                <a:pathLst>
                  <a:path w="38000" h="21600" fill="none" extrusionOk="0">
                    <a:moveTo>
                      <a:pt x="-1" y="21201"/>
                    </a:moveTo>
                    <a:cubicBezTo>
                      <a:pt x="216" y="9429"/>
                      <a:pt x="9821" y="-1"/>
                      <a:pt x="21596" y="0"/>
                    </a:cubicBezTo>
                    <a:cubicBezTo>
                      <a:pt x="27903" y="0"/>
                      <a:pt x="33896" y="2757"/>
                      <a:pt x="38000" y="7547"/>
                    </a:cubicBezTo>
                  </a:path>
                  <a:path w="38000" h="21600" stroke="0" extrusionOk="0">
                    <a:moveTo>
                      <a:pt x="-1" y="21201"/>
                    </a:moveTo>
                    <a:cubicBezTo>
                      <a:pt x="216" y="9429"/>
                      <a:pt x="9821" y="-1"/>
                      <a:pt x="21596" y="0"/>
                    </a:cubicBezTo>
                    <a:cubicBezTo>
                      <a:pt x="27903" y="0"/>
                      <a:pt x="33896" y="2757"/>
                      <a:pt x="38000" y="7547"/>
                    </a:cubicBezTo>
                    <a:lnTo>
                      <a:pt x="21596" y="21600"/>
                    </a:lnTo>
                    <a:close/>
                  </a:path>
                </a:pathLst>
              </a:custGeom>
              <a:noFill/>
              <a:ln w="38100">
                <a:solidFill>
                  <a:srgbClr val="CC0000"/>
                </a:solidFill>
                <a:round/>
                <a:headEnd/>
                <a:tailEnd type="triangle" w="med" len="med"/>
              </a:ln>
              <a:effectLst/>
            </p:spPr>
            <p:txBody>
              <a:bodyPr/>
              <a:lstStyle/>
              <a:p>
                <a:endParaRPr lang="fr-FR"/>
              </a:p>
            </p:txBody>
          </p:sp>
          <p:sp>
            <p:nvSpPr>
              <p:cNvPr id="82" name="Arc 111"/>
              <p:cNvSpPr>
                <a:spLocks/>
              </p:cNvSpPr>
              <p:nvPr/>
            </p:nvSpPr>
            <p:spPr bwMode="auto">
              <a:xfrm rot="-1284319">
                <a:off x="845" y="2179"/>
                <a:ext cx="3337" cy="455"/>
              </a:xfrm>
              <a:custGeom>
                <a:avLst/>
                <a:gdLst>
                  <a:gd name="G0" fmla="+- 21596 0 0"/>
                  <a:gd name="G1" fmla="+- 21600 0 0"/>
                  <a:gd name="G2" fmla="+- 21600 0 0"/>
                  <a:gd name="T0" fmla="*/ 0 w 38000"/>
                  <a:gd name="T1" fmla="*/ 21202 h 21600"/>
                  <a:gd name="T2" fmla="*/ 38000 w 38000"/>
                  <a:gd name="T3" fmla="*/ 7548 h 21600"/>
                  <a:gd name="T4" fmla="*/ 21596 w 38000"/>
                  <a:gd name="T5" fmla="*/ 21600 h 21600"/>
                </a:gdLst>
                <a:ahLst/>
                <a:cxnLst>
                  <a:cxn ang="0">
                    <a:pos x="T0" y="T1"/>
                  </a:cxn>
                  <a:cxn ang="0">
                    <a:pos x="T2" y="T3"/>
                  </a:cxn>
                  <a:cxn ang="0">
                    <a:pos x="T4" y="T5"/>
                  </a:cxn>
                </a:cxnLst>
                <a:rect l="0" t="0" r="r" b="b"/>
                <a:pathLst>
                  <a:path w="38000" h="21600" fill="none" extrusionOk="0">
                    <a:moveTo>
                      <a:pt x="-1" y="21201"/>
                    </a:moveTo>
                    <a:cubicBezTo>
                      <a:pt x="216" y="9429"/>
                      <a:pt x="9821" y="-1"/>
                      <a:pt x="21596" y="0"/>
                    </a:cubicBezTo>
                    <a:cubicBezTo>
                      <a:pt x="27903" y="0"/>
                      <a:pt x="33896" y="2757"/>
                      <a:pt x="38000" y="7547"/>
                    </a:cubicBezTo>
                  </a:path>
                  <a:path w="38000" h="21600" stroke="0" extrusionOk="0">
                    <a:moveTo>
                      <a:pt x="-1" y="21201"/>
                    </a:moveTo>
                    <a:cubicBezTo>
                      <a:pt x="216" y="9429"/>
                      <a:pt x="9821" y="-1"/>
                      <a:pt x="21596" y="0"/>
                    </a:cubicBezTo>
                    <a:cubicBezTo>
                      <a:pt x="27903" y="0"/>
                      <a:pt x="33896" y="2757"/>
                      <a:pt x="38000" y="7547"/>
                    </a:cubicBezTo>
                    <a:lnTo>
                      <a:pt x="21596" y="21600"/>
                    </a:lnTo>
                    <a:close/>
                  </a:path>
                </a:pathLst>
              </a:custGeom>
              <a:noFill/>
              <a:ln w="38100">
                <a:solidFill>
                  <a:srgbClr val="CC0000"/>
                </a:solidFill>
                <a:round/>
                <a:headEnd/>
                <a:tailEnd type="triangle" w="med" len="med"/>
              </a:ln>
              <a:effectLst/>
            </p:spPr>
            <p:txBody>
              <a:bodyPr/>
              <a:lstStyle/>
              <a:p>
                <a:endParaRPr lang="fr-FR"/>
              </a:p>
            </p:txBody>
          </p:sp>
          <p:sp>
            <p:nvSpPr>
              <p:cNvPr id="83" name="Arc 112"/>
              <p:cNvSpPr>
                <a:spLocks/>
              </p:cNvSpPr>
              <p:nvPr/>
            </p:nvSpPr>
            <p:spPr bwMode="auto">
              <a:xfrm rot="17695499">
                <a:off x="1006" y="1708"/>
                <a:ext cx="1904" cy="1697"/>
              </a:xfrm>
              <a:custGeom>
                <a:avLst/>
                <a:gdLst>
                  <a:gd name="G0" fmla="+- 10456 0 0"/>
                  <a:gd name="G1" fmla="+- 21600 0 0"/>
                  <a:gd name="G2" fmla="+- 21600 0 0"/>
                  <a:gd name="T0" fmla="*/ 0 w 24503"/>
                  <a:gd name="T1" fmla="*/ 2699 h 21600"/>
                  <a:gd name="T2" fmla="*/ 24503 w 24503"/>
                  <a:gd name="T3" fmla="*/ 5191 h 21600"/>
                  <a:gd name="T4" fmla="*/ 10456 w 24503"/>
                  <a:gd name="T5" fmla="*/ 21600 h 21600"/>
                </a:gdLst>
                <a:ahLst/>
                <a:cxnLst>
                  <a:cxn ang="0">
                    <a:pos x="T0" y="T1"/>
                  </a:cxn>
                  <a:cxn ang="0">
                    <a:pos x="T2" y="T3"/>
                  </a:cxn>
                  <a:cxn ang="0">
                    <a:pos x="T4" y="T5"/>
                  </a:cxn>
                </a:cxnLst>
                <a:rect l="0" t="0" r="r" b="b"/>
                <a:pathLst>
                  <a:path w="24503" h="21600" fill="none" extrusionOk="0">
                    <a:moveTo>
                      <a:pt x="0" y="2699"/>
                    </a:moveTo>
                    <a:cubicBezTo>
                      <a:pt x="3200" y="928"/>
                      <a:pt x="6798" y="-1"/>
                      <a:pt x="10456" y="0"/>
                    </a:cubicBezTo>
                    <a:cubicBezTo>
                      <a:pt x="15607" y="0"/>
                      <a:pt x="20589" y="1841"/>
                      <a:pt x="24502" y="5191"/>
                    </a:cubicBezTo>
                  </a:path>
                  <a:path w="24503" h="21600" stroke="0" extrusionOk="0">
                    <a:moveTo>
                      <a:pt x="0" y="2699"/>
                    </a:moveTo>
                    <a:cubicBezTo>
                      <a:pt x="3200" y="928"/>
                      <a:pt x="6798" y="-1"/>
                      <a:pt x="10456" y="0"/>
                    </a:cubicBezTo>
                    <a:cubicBezTo>
                      <a:pt x="15607" y="0"/>
                      <a:pt x="20589" y="1841"/>
                      <a:pt x="24502" y="5191"/>
                    </a:cubicBezTo>
                    <a:lnTo>
                      <a:pt x="10456" y="21600"/>
                    </a:lnTo>
                    <a:close/>
                  </a:path>
                </a:pathLst>
              </a:custGeom>
              <a:noFill/>
              <a:ln w="38100">
                <a:solidFill>
                  <a:srgbClr val="CC0000"/>
                </a:solidFill>
                <a:round/>
                <a:headEnd/>
                <a:tailEnd type="triangle" w="med" len="med"/>
              </a:ln>
              <a:effectLst/>
            </p:spPr>
            <p:txBody>
              <a:bodyPr/>
              <a:lstStyle/>
              <a:p>
                <a:endParaRPr lang="fr-FR"/>
              </a:p>
            </p:txBody>
          </p:sp>
          <p:pic>
            <p:nvPicPr>
              <p:cNvPr id="84" name="Picture 113" descr="Server01"/>
              <p:cNvPicPr>
                <a:picLocks noChangeAspect="1" noChangeArrowheads="1"/>
              </p:cNvPicPr>
              <p:nvPr/>
            </p:nvPicPr>
            <p:blipFill>
              <a:blip r:embed="rId3" cstate="print"/>
              <a:srcRect/>
              <a:stretch>
                <a:fillRect/>
              </a:stretch>
            </p:blipFill>
            <p:spPr bwMode="auto">
              <a:xfrm>
                <a:off x="820" y="3064"/>
                <a:ext cx="303" cy="329"/>
              </a:xfrm>
              <a:prstGeom prst="rect">
                <a:avLst/>
              </a:prstGeom>
              <a:noFill/>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9" name="Rectangle 19"/>
          <p:cNvSpPr>
            <a:spLocks noGrp="1" noChangeArrowheads="1"/>
          </p:cNvSpPr>
          <p:nvPr>
            <p:ph type="title"/>
            <p:custDataLst>
              <p:tags r:id="rId1"/>
            </p:custDataLst>
          </p:nvPr>
        </p:nvSpPr>
        <p:spPr>
          <a:xfrm>
            <a:off x="0" y="0"/>
            <a:ext cx="9144000" cy="1001486"/>
          </a:xfrm>
          <a:solidFill>
            <a:schemeClr val="bg1"/>
          </a:solidFill>
        </p:spPr>
        <p:txBody>
          <a:bodyPr vert="horz" anchor="b">
            <a:normAutofit fontScale="90000"/>
          </a:bodyPr>
          <a:lstStyle/>
          <a:p>
            <a:r>
              <a:rPr lang="fr-FR" sz="3000" b="1" dirty="0">
                <a:solidFill>
                  <a:srgbClr val="C00000"/>
                </a:solidFill>
              </a:rPr>
              <a:t>Qu'est-ce qu'une zone DNS intégrée à </a:t>
            </a:r>
            <a:br>
              <a:rPr lang="fr-FR" sz="3000" b="1" dirty="0">
                <a:solidFill>
                  <a:srgbClr val="C00000"/>
                </a:solidFill>
              </a:rPr>
            </a:br>
            <a:r>
              <a:rPr lang="fr-FR" sz="3000" b="1" dirty="0">
                <a:solidFill>
                  <a:srgbClr val="C00000"/>
                </a:solidFill>
              </a:rPr>
              <a:t>Active Directory ?</a:t>
            </a:r>
            <a:endParaRPr lang="en-US" sz="3000" b="1" dirty="0">
              <a:solidFill>
                <a:srgbClr val="C00000"/>
              </a:solidFill>
            </a:endParaRPr>
          </a:p>
        </p:txBody>
      </p:sp>
      <p:graphicFrame>
        <p:nvGraphicFramePr>
          <p:cNvPr id="798859" name="Group 139"/>
          <p:cNvGraphicFramePr>
            <a:graphicFrameLocks noGrp="1"/>
          </p:cNvGraphicFramePr>
          <p:nvPr/>
        </p:nvGraphicFramePr>
        <p:xfrm>
          <a:off x="87088" y="2323158"/>
          <a:ext cx="8955314" cy="4426095"/>
        </p:xfrm>
        <a:graphic>
          <a:graphicData uri="http://schemas.openxmlformats.org/drawingml/2006/table">
            <a:tbl>
              <a:tblPr/>
              <a:tblGrid>
                <a:gridCol w="2722844">
                  <a:extLst>
                    <a:ext uri="{9D8B030D-6E8A-4147-A177-3AD203B41FA5}">
                      <a16:colId xmlns:a16="http://schemas.microsoft.com/office/drawing/2014/main" val="20000"/>
                    </a:ext>
                  </a:extLst>
                </a:gridCol>
                <a:gridCol w="6232470">
                  <a:extLst>
                    <a:ext uri="{9D8B030D-6E8A-4147-A177-3AD203B41FA5}">
                      <a16:colId xmlns:a16="http://schemas.microsoft.com/office/drawing/2014/main" val="20001"/>
                    </a:ext>
                  </a:extLst>
                </a:gridCol>
              </a:tblGrid>
              <a:tr h="823359">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600" b="1" i="0" u="none" strike="noStrike" cap="none" normalizeH="0" baseline="0" dirty="0">
                          <a:ln>
                            <a:noFill/>
                          </a:ln>
                          <a:solidFill>
                            <a:srgbClr val="000000"/>
                          </a:solidFill>
                          <a:effectLst/>
                          <a:latin typeface="Arial Narrow" pitchFamily="34" charset="0"/>
                        </a:rPr>
                        <a:t>Type de </a:t>
                      </a:r>
                      <a:br>
                        <a:rPr kumimoji="0" lang="en-GB" sz="2600" b="1" i="0" u="none" strike="noStrike" cap="none" normalizeH="0" baseline="0" dirty="0">
                          <a:ln>
                            <a:noFill/>
                          </a:ln>
                          <a:solidFill>
                            <a:srgbClr val="000000"/>
                          </a:solidFill>
                          <a:effectLst/>
                          <a:latin typeface="Arial Narrow" pitchFamily="34" charset="0"/>
                        </a:rPr>
                      </a:br>
                      <a:r>
                        <a:rPr kumimoji="0" lang="en-GB" sz="2600" b="1" i="0" u="none" strike="noStrike" cap="none" normalizeH="0" baseline="0" dirty="0">
                          <a:ln>
                            <a:noFill/>
                          </a:ln>
                          <a:solidFill>
                            <a:srgbClr val="000000"/>
                          </a:solidFill>
                          <a:effectLst/>
                          <a:latin typeface="Arial Narrow" pitchFamily="34" charset="0"/>
                        </a:rPr>
                        <a:t>zone DNS</a:t>
                      </a:r>
                      <a:endParaRPr kumimoji="0" lang="en-US" sz="2600" b="1" i="0" u="none" strike="noStrike" cap="none" normalizeH="0" baseline="0" dirty="0">
                        <a:ln>
                          <a:noFill/>
                        </a:ln>
                        <a:solidFill>
                          <a:schemeClr val="tx1"/>
                        </a:solidFill>
                        <a:effectLst/>
                        <a:latin typeface="Arial Narrow" pitchFamily="34" charset="0"/>
                      </a:endParaRPr>
                    </a:p>
                  </a:txBody>
                  <a:tcPr anchor="ctr" anchorCtr="1"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600" b="1" i="0" u="none" strike="noStrike" cap="none" normalizeH="0" baseline="0" err="1">
                          <a:ln>
                            <a:noFill/>
                          </a:ln>
                          <a:solidFill>
                            <a:srgbClr val="000000"/>
                          </a:solidFill>
                          <a:effectLst/>
                          <a:latin typeface="Arial Narrow" pitchFamily="34" charset="0"/>
                        </a:rPr>
                        <a:t>Avantage</a:t>
                      </a:r>
                      <a:endParaRPr kumimoji="0" lang="en-US" sz="2600" b="1" i="0" u="none" strike="noStrike" cap="none" normalizeH="0" baseline="0">
                        <a:ln>
                          <a:noFill/>
                        </a:ln>
                        <a:solidFill>
                          <a:schemeClr val="tx1"/>
                        </a:solidFill>
                        <a:effectLst/>
                        <a:latin typeface="Arial Narrow" pitchFamily="34" charset="0"/>
                      </a:endParaRPr>
                    </a:p>
                  </a:txBody>
                  <a:tcPr anchor="ctr" anchorCtr="1"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78832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1" i="0" u="none" strike="noStrike" cap="none" normalizeH="0" baseline="0">
                          <a:ln>
                            <a:noFill/>
                          </a:ln>
                          <a:solidFill>
                            <a:srgbClr val="000000"/>
                          </a:solidFill>
                          <a:effectLst/>
                          <a:latin typeface="Arial Narrow" pitchFamily="34" charset="0"/>
                        </a:rPr>
                        <a:t>Zone non </a:t>
                      </a:r>
                      <a:r>
                        <a:rPr kumimoji="0" lang="en-GB" sz="2400" b="1" i="0" u="none" strike="noStrike" cap="none" normalizeH="0" baseline="0" err="1">
                          <a:ln>
                            <a:noFill/>
                          </a:ln>
                          <a:solidFill>
                            <a:srgbClr val="000000"/>
                          </a:solidFill>
                          <a:effectLst/>
                          <a:latin typeface="Arial Narrow" pitchFamily="34" charset="0"/>
                        </a:rPr>
                        <a:t>intégrée</a:t>
                      </a:r>
                      <a:r>
                        <a:rPr kumimoji="0" lang="en-GB" sz="2400" b="1" i="0" u="none" strike="noStrike" cap="none" normalizeH="0" baseline="0">
                          <a:ln>
                            <a:noFill/>
                          </a:ln>
                          <a:solidFill>
                            <a:srgbClr val="000000"/>
                          </a:solidFill>
                          <a:effectLst/>
                          <a:latin typeface="Arial Narrow" pitchFamily="34" charset="0"/>
                        </a:rPr>
                        <a:t> à Active Directory</a:t>
                      </a:r>
                      <a:endParaRPr kumimoji="0" lang="en-US" sz="2400" b="1" i="0" u="none" strike="noStrike" cap="none" normalizeH="0" baseline="0">
                        <a:ln>
                          <a:noFill/>
                        </a:ln>
                        <a:solidFill>
                          <a:schemeClr val="tx1"/>
                        </a:solidFill>
                        <a:effectLst/>
                        <a:latin typeface="Arial Narrow" pitchFamily="34" charset="0"/>
                      </a:endParaRPr>
                    </a:p>
                  </a:txBody>
                  <a:tcPr anchor="ctr" anchorCtr="1"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90000"/>
                        </a:lnSpc>
                        <a:spcBef>
                          <a:spcPct val="35000"/>
                        </a:spcBef>
                        <a:spcAft>
                          <a:spcPct val="0"/>
                        </a:spcAft>
                        <a:buClrTx/>
                        <a:buSzPct val="70000"/>
                        <a:buFontTx/>
                        <a:buBlip>
                          <a:blip r:embed="rId5"/>
                        </a:buBlip>
                        <a:tabLst/>
                      </a:pPr>
                      <a:r>
                        <a:rPr kumimoji="0" lang="en-GB" sz="2400" b="0" i="0" u="none" strike="noStrike" cap="none" normalizeH="0" baseline="0">
                          <a:ln>
                            <a:noFill/>
                          </a:ln>
                          <a:solidFill>
                            <a:srgbClr val="000000"/>
                          </a:solidFill>
                          <a:effectLst/>
                          <a:latin typeface="Arial Narrow" pitchFamily="34" charset="0"/>
                        </a:rPr>
                        <a:t>Ne nécessite pas Active Directory</a:t>
                      </a:r>
                      <a:endParaRPr kumimoji="0" lang="en-US" sz="2400" b="0"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66277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1" i="0" u="none" strike="noStrike" cap="none" normalizeH="0" baseline="0" dirty="0">
                          <a:ln>
                            <a:noFill/>
                          </a:ln>
                          <a:solidFill>
                            <a:srgbClr val="000000"/>
                          </a:solidFill>
                          <a:effectLst/>
                          <a:latin typeface="Arial Narrow" pitchFamily="34" charset="0"/>
                        </a:rPr>
                        <a:t>Zone </a:t>
                      </a:r>
                      <a:r>
                        <a:rPr kumimoji="0" lang="en-GB" sz="2400" b="1" i="0" u="none" strike="noStrike" cap="none" normalizeH="0" baseline="0" dirty="0" err="1">
                          <a:ln>
                            <a:noFill/>
                          </a:ln>
                          <a:solidFill>
                            <a:srgbClr val="000000"/>
                          </a:solidFill>
                          <a:effectLst/>
                          <a:latin typeface="Arial Narrow" pitchFamily="34" charset="0"/>
                        </a:rPr>
                        <a:t>intégrée</a:t>
                      </a:r>
                      <a:r>
                        <a:rPr kumimoji="0" lang="en-GB" sz="2400" b="1" i="0" u="none" strike="noStrike" cap="none" normalizeH="0" baseline="0" dirty="0">
                          <a:ln>
                            <a:noFill/>
                          </a:ln>
                          <a:solidFill>
                            <a:srgbClr val="000000"/>
                          </a:solidFill>
                          <a:effectLst/>
                          <a:latin typeface="Arial Narrow" pitchFamily="34" charset="0"/>
                        </a:rPr>
                        <a:t> à Active Directory</a:t>
                      </a:r>
                      <a:endParaRPr kumimoji="0" lang="en-US" sz="2400" b="1" i="0" u="none" strike="noStrike" cap="none" normalizeH="0" baseline="0" dirty="0">
                        <a:ln>
                          <a:noFill/>
                        </a:ln>
                        <a:solidFill>
                          <a:schemeClr val="tx1"/>
                        </a:solidFill>
                        <a:effectLst/>
                        <a:latin typeface="Arial Narrow" pitchFamily="34" charset="0"/>
                      </a:endParaRPr>
                    </a:p>
                  </a:txBody>
                  <a:tcPr anchor="ctr" anchorCtr="1"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90000"/>
                        </a:lnSpc>
                        <a:spcBef>
                          <a:spcPct val="35000"/>
                        </a:spcBef>
                        <a:spcAft>
                          <a:spcPct val="0"/>
                        </a:spcAft>
                        <a:buClrTx/>
                        <a:buSzPct val="70000"/>
                        <a:buFontTx/>
                        <a:buBlip>
                          <a:blip r:embed="rId5"/>
                        </a:buBlip>
                        <a:tabLst/>
                      </a:pPr>
                      <a:r>
                        <a:rPr kumimoji="0" lang="en-GB" sz="2400" b="0" i="0" u="none" strike="noStrike" cap="none" normalizeH="0" baseline="0" err="1">
                          <a:ln>
                            <a:noFill/>
                          </a:ln>
                          <a:solidFill>
                            <a:srgbClr val="000000"/>
                          </a:solidFill>
                          <a:effectLst/>
                          <a:latin typeface="Arial Narrow" pitchFamily="34" charset="0"/>
                        </a:rPr>
                        <a:t>Stocke</a:t>
                      </a:r>
                      <a:r>
                        <a:rPr kumimoji="0" lang="en-GB" sz="2400" b="0" i="0" u="none" strike="noStrike" cap="none" normalizeH="0" baseline="0">
                          <a:ln>
                            <a:noFill/>
                          </a:ln>
                          <a:solidFill>
                            <a:srgbClr val="000000"/>
                          </a:solidFill>
                          <a:effectLst/>
                          <a:latin typeface="Arial Narrow" pitchFamily="34" charset="0"/>
                        </a:rPr>
                        <a:t> les </a:t>
                      </a:r>
                      <a:r>
                        <a:rPr kumimoji="0" lang="en-GB" sz="2400" b="0" i="0" u="none" strike="noStrike" cap="none" normalizeH="0" baseline="0" err="1">
                          <a:ln>
                            <a:noFill/>
                          </a:ln>
                          <a:solidFill>
                            <a:srgbClr val="000000"/>
                          </a:solidFill>
                          <a:effectLst/>
                          <a:latin typeface="Arial Narrow" pitchFamily="34" charset="0"/>
                        </a:rPr>
                        <a:t>données</a:t>
                      </a:r>
                      <a:r>
                        <a:rPr kumimoji="0" lang="en-GB" sz="2400" b="0" i="0" u="none" strike="noStrike" cap="none" normalizeH="0" baseline="0">
                          <a:ln>
                            <a:noFill/>
                          </a:ln>
                          <a:solidFill>
                            <a:srgbClr val="000000"/>
                          </a:solidFill>
                          <a:effectLst/>
                          <a:latin typeface="Arial Narrow" pitchFamily="34" charset="0"/>
                        </a:rPr>
                        <a:t> de zone DNS </a:t>
                      </a:r>
                      <a:r>
                        <a:rPr kumimoji="0" lang="en-GB" sz="2400" b="0" i="0" u="none" strike="noStrike" cap="none" normalizeH="0" baseline="0" err="1">
                          <a:ln>
                            <a:noFill/>
                          </a:ln>
                          <a:solidFill>
                            <a:srgbClr val="000000"/>
                          </a:solidFill>
                          <a:effectLst/>
                          <a:latin typeface="Arial Narrow" pitchFamily="34" charset="0"/>
                        </a:rPr>
                        <a:t>dans</a:t>
                      </a:r>
                      <a:r>
                        <a:rPr kumimoji="0" lang="en-GB" sz="2400" b="0" i="0" u="none" strike="noStrike" cap="none" normalizeH="0" baseline="0">
                          <a:ln>
                            <a:noFill/>
                          </a:ln>
                          <a:solidFill>
                            <a:srgbClr val="000000"/>
                          </a:solidFill>
                          <a:effectLst/>
                          <a:latin typeface="Arial Narrow" pitchFamily="34" charset="0"/>
                        </a:rPr>
                        <a:t> Active Directory, </a:t>
                      </a:r>
                      <a:r>
                        <a:rPr kumimoji="0" lang="en-GB" sz="2400" b="0" i="0" u="none" strike="noStrike" cap="none" normalizeH="0" baseline="0" err="1">
                          <a:ln>
                            <a:noFill/>
                          </a:ln>
                          <a:solidFill>
                            <a:srgbClr val="000000"/>
                          </a:solidFill>
                          <a:effectLst/>
                          <a:latin typeface="Arial Narrow" pitchFamily="34" charset="0"/>
                        </a:rPr>
                        <a:t>ce</a:t>
                      </a:r>
                      <a:r>
                        <a:rPr kumimoji="0" lang="en-GB" sz="2400" b="0" i="0" u="none" strike="noStrike" cap="none" normalizeH="0" baseline="0">
                          <a:ln>
                            <a:noFill/>
                          </a:ln>
                          <a:solidFill>
                            <a:srgbClr val="000000"/>
                          </a:solidFill>
                          <a:effectLst/>
                          <a:latin typeface="Arial Narrow" pitchFamily="34" charset="0"/>
                        </a:rPr>
                        <a:t> qui la rend plus </a:t>
                      </a:r>
                      <a:r>
                        <a:rPr kumimoji="0" lang="en-GB" sz="2400" b="0" i="0" u="none" strike="noStrike" cap="none" normalizeH="0" baseline="0" err="1">
                          <a:ln>
                            <a:noFill/>
                          </a:ln>
                          <a:solidFill>
                            <a:srgbClr val="000000"/>
                          </a:solidFill>
                          <a:effectLst/>
                          <a:latin typeface="Arial Narrow" pitchFamily="34" charset="0"/>
                        </a:rPr>
                        <a:t>sûre</a:t>
                      </a:r>
                      <a:endParaRPr kumimoji="0" lang="en-US" sz="2400" b="0" i="0" u="none" strike="noStrike" cap="none" normalizeH="0" baseline="0">
                        <a:ln>
                          <a:noFill/>
                        </a:ln>
                        <a:solidFill>
                          <a:schemeClr val="tx1"/>
                        </a:solidFill>
                        <a:effectLst/>
                        <a:latin typeface="Arial Narrow" pitchFamily="34" charset="0"/>
                      </a:endParaRPr>
                    </a:p>
                    <a:p>
                      <a:pPr marL="225425" marR="0" lvl="0" indent="-225425" algn="l" defTabSz="914400" rtl="0" eaLnBrk="0" fontAlgn="base" latinLnBrk="0" hangingPunct="0">
                        <a:lnSpc>
                          <a:spcPct val="90000"/>
                        </a:lnSpc>
                        <a:spcBef>
                          <a:spcPct val="35000"/>
                        </a:spcBef>
                        <a:spcAft>
                          <a:spcPct val="0"/>
                        </a:spcAft>
                        <a:buClrTx/>
                        <a:buSzPct val="70000"/>
                        <a:buFontTx/>
                        <a:buBlip>
                          <a:blip r:embed="rId5"/>
                        </a:buBlip>
                        <a:tabLst/>
                      </a:pPr>
                      <a:r>
                        <a:rPr kumimoji="0" lang="en-GB" sz="2400" b="0" i="0" u="none" strike="noStrike" cap="none" normalizeH="0" baseline="0">
                          <a:ln>
                            <a:noFill/>
                          </a:ln>
                          <a:solidFill>
                            <a:srgbClr val="000000"/>
                          </a:solidFill>
                          <a:effectLst/>
                          <a:latin typeface="Arial Narrow" pitchFamily="34" charset="0"/>
                        </a:rPr>
                        <a:t>Utilise la </a:t>
                      </a:r>
                      <a:r>
                        <a:rPr kumimoji="0" lang="en-GB" sz="2400" b="0" i="0" u="none" strike="noStrike" cap="none" normalizeH="0" baseline="0" err="1">
                          <a:ln>
                            <a:noFill/>
                          </a:ln>
                          <a:solidFill>
                            <a:srgbClr val="000000"/>
                          </a:solidFill>
                          <a:effectLst/>
                          <a:latin typeface="Arial Narrow" pitchFamily="34" charset="0"/>
                        </a:rPr>
                        <a:t>réplication</a:t>
                      </a:r>
                      <a:r>
                        <a:rPr kumimoji="0" lang="en-GB" sz="2400" b="0" i="0" u="none" strike="noStrike" cap="none" normalizeH="0" baseline="0">
                          <a:ln>
                            <a:noFill/>
                          </a:ln>
                          <a:solidFill>
                            <a:srgbClr val="000000"/>
                          </a:solidFill>
                          <a:effectLst/>
                          <a:latin typeface="Arial Narrow" pitchFamily="34" charset="0"/>
                        </a:rPr>
                        <a:t> Active Directory à la place des </a:t>
                      </a:r>
                      <a:r>
                        <a:rPr kumimoji="0" lang="en-GB" sz="2400" b="0" i="0" u="none" strike="noStrike" cap="none" normalizeH="0" baseline="0" err="1">
                          <a:ln>
                            <a:noFill/>
                          </a:ln>
                          <a:solidFill>
                            <a:srgbClr val="000000"/>
                          </a:solidFill>
                          <a:effectLst/>
                          <a:latin typeface="Arial Narrow" pitchFamily="34" charset="0"/>
                        </a:rPr>
                        <a:t>transferts</a:t>
                      </a:r>
                      <a:r>
                        <a:rPr kumimoji="0" lang="en-GB" sz="2400" b="0" i="0" u="none" strike="noStrike" cap="none" normalizeH="0" baseline="0">
                          <a:ln>
                            <a:noFill/>
                          </a:ln>
                          <a:solidFill>
                            <a:srgbClr val="000000"/>
                          </a:solidFill>
                          <a:effectLst/>
                          <a:latin typeface="Arial Narrow" pitchFamily="34" charset="0"/>
                        </a:rPr>
                        <a:t> de zone</a:t>
                      </a:r>
                      <a:endParaRPr kumimoji="0" lang="en-US" sz="2400" b="0" i="0" u="none" strike="noStrike" cap="none" normalizeH="0" baseline="0">
                        <a:ln>
                          <a:noFill/>
                        </a:ln>
                        <a:solidFill>
                          <a:schemeClr val="tx1"/>
                        </a:solidFill>
                        <a:effectLst/>
                        <a:latin typeface="Arial Narrow" pitchFamily="34" charset="0"/>
                      </a:endParaRPr>
                    </a:p>
                    <a:p>
                      <a:pPr marL="225425" marR="0" lvl="0" indent="-225425" algn="l" defTabSz="914400" rtl="0" eaLnBrk="0" fontAlgn="base" latinLnBrk="0" hangingPunct="0">
                        <a:lnSpc>
                          <a:spcPct val="90000"/>
                        </a:lnSpc>
                        <a:spcBef>
                          <a:spcPct val="35000"/>
                        </a:spcBef>
                        <a:spcAft>
                          <a:spcPct val="0"/>
                        </a:spcAft>
                        <a:buClrTx/>
                        <a:buSzPct val="70000"/>
                        <a:buFontTx/>
                        <a:buBlip>
                          <a:blip r:embed="rId5"/>
                        </a:buBlip>
                        <a:tabLst/>
                      </a:pPr>
                      <a:r>
                        <a:rPr kumimoji="0" lang="en-GB" sz="2400" b="0" i="0" u="none" strike="noStrike" cap="none" normalizeH="0" baseline="0" err="1">
                          <a:ln>
                            <a:noFill/>
                          </a:ln>
                          <a:solidFill>
                            <a:srgbClr val="000000"/>
                          </a:solidFill>
                          <a:effectLst/>
                          <a:latin typeface="Arial Narrow" pitchFamily="34" charset="0"/>
                        </a:rPr>
                        <a:t>Autorise</a:t>
                      </a:r>
                      <a:r>
                        <a:rPr kumimoji="0" lang="en-GB" sz="2400" b="0" i="0" u="none" strike="noStrike" cap="none" normalizeH="0" baseline="0">
                          <a:ln>
                            <a:noFill/>
                          </a:ln>
                          <a:solidFill>
                            <a:srgbClr val="000000"/>
                          </a:solidFill>
                          <a:effectLst/>
                          <a:latin typeface="Arial Narrow" pitchFamily="34" charset="0"/>
                        </a:rPr>
                        <a:t> les </a:t>
                      </a:r>
                      <a:r>
                        <a:rPr kumimoji="0" lang="en-GB" sz="2400" b="0" i="0" u="none" strike="noStrike" cap="none" normalizeH="0" baseline="0" err="1">
                          <a:ln>
                            <a:noFill/>
                          </a:ln>
                          <a:solidFill>
                            <a:srgbClr val="000000"/>
                          </a:solidFill>
                          <a:effectLst/>
                          <a:latin typeface="Arial Narrow" pitchFamily="34" charset="0"/>
                        </a:rPr>
                        <a:t>mises</a:t>
                      </a:r>
                      <a:r>
                        <a:rPr kumimoji="0" lang="en-GB" sz="2400" b="0" i="0" u="none" strike="noStrike" cap="none" normalizeH="0" baseline="0">
                          <a:ln>
                            <a:noFill/>
                          </a:ln>
                          <a:solidFill>
                            <a:srgbClr val="000000"/>
                          </a:solidFill>
                          <a:effectLst/>
                          <a:latin typeface="Arial Narrow" pitchFamily="34" charset="0"/>
                        </a:rPr>
                        <a:t> à jour </a:t>
                      </a:r>
                      <a:r>
                        <a:rPr kumimoji="0" lang="en-GB" sz="2400" b="0" i="0" u="none" strike="noStrike" cap="none" normalizeH="0" baseline="0" err="1">
                          <a:ln>
                            <a:noFill/>
                          </a:ln>
                          <a:solidFill>
                            <a:srgbClr val="000000"/>
                          </a:solidFill>
                          <a:effectLst/>
                          <a:latin typeface="Arial Narrow" pitchFamily="34" charset="0"/>
                        </a:rPr>
                        <a:t>dynamiques</a:t>
                      </a:r>
                      <a:r>
                        <a:rPr kumimoji="0" lang="en-GB" sz="2400" b="0" i="0" u="none" strike="noStrike" cap="none" normalizeH="0" baseline="0">
                          <a:ln>
                            <a:noFill/>
                          </a:ln>
                          <a:solidFill>
                            <a:srgbClr val="000000"/>
                          </a:solidFill>
                          <a:effectLst/>
                          <a:latin typeface="Arial Narrow" pitchFamily="34" charset="0"/>
                        </a:rPr>
                        <a:t> </a:t>
                      </a:r>
                      <a:r>
                        <a:rPr kumimoji="0" lang="en-GB" sz="2400" b="0" i="0" u="none" strike="noStrike" cap="none" normalizeH="0" baseline="0" err="1">
                          <a:ln>
                            <a:noFill/>
                          </a:ln>
                          <a:solidFill>
                            <a:srgbClr val="000000"/>
                          </a:solidFill>
                          <a:effectLst/>
                          <a:latin typeface="Arial Narrow" pitchFamily="34" charset="0"/>
                        </a:rPr>
                        <a:t>sécurisées</a:t>
                      </a:r>
                      <a:r>
                        <a:rPr kumimoji="0" lang="en-GB" sz="2400" b="0" i="0" u="none" strike="noStrike" cap="none" normalizeH="0" baseline="0">
                          <a:ln>
                            <a:noFill/>
                          </a:ln>
                          <a:solidFill>
                            <a:srgbClr val="000000"/>
                          </a:solidFill>
                          <a:effectLst/>
                          <a:latin typeface="Arial Narrow" pitchFamily="34" charset="0"/>
                        </a:rPr>
                        <a:t> </a:t>
                      </a:r>
                      <a:r>
                        <a:rPr kumimoji="0" lang="en-GB" sz="2400" b="0" i="0" u="none" strike="noStrike" cap="none" normalizeH="0" baseline="0" err="1">
                          <a:ln>
                            <a:noFill/>
                          </a:ln>
                          <a:solidFill>
                            <a:srgbClr val="000000"/>
                          </a:solidFill>
                          <a:effectLst/>
                          <a:latin typeface="Arial Narrow" pitchFamily="34" charset="0"/>
                        </a:rPr>
                        <a:t>uniquement</a:t>
                      </a:r>
                      <a:endParaRPr kumimoji="0" lang="en-US" sz="2400" b="0" i="0" u="none" strike="noStrike" cap="none" normalizeH="0" baseline="0">
                        <a:ln>
                          <a:noFill/>
                        </a:ln>
                        <a:solidFill>
                          <a:schemeClr val="tx1"/>
                        </a:solidFill>
                        <a:effectLst/>
                        <a:latin typeface="Arial Narrow" pitchFamily="34" charset="0"/>
                      </a:endParaRPr>
                    </a:p>
                    <a:p>
                      <a:pPr marL="225425" marR="0" lvl="0" indent="-225425" algn="l" defTabSz="914400" rtl="0" eaLnBrk="0" fontAlgn="base" latinLnBrk="0" hangingPunct="0">
                        <a:lnSpc>
                          <a:spcPct val="90000"/>
                        </a:lnSpc>
                        <a:spcBef>
                          <a:spcPct val="35000"/>
                        </a:spcBef>
                        <a:spcAft>
                          <a:spcPct val="0"/>
                        </a:spcAft>
                        <a:buClrTx/>
                        <a:buSzPct val="70000"/>
                        <a:buFontTx/>
                        <a:buBlip>
                          <a:blip r:embed="rId5"/>
                        </a:buBlip>
                        <a:tabLst/>
                      </a:pPr>
                      <a:r>
                        <a:rPr kumimoji="0" lang="en-GB" sz="2400" b="0" i="0" u="none" strike="noStrike" cap="none" normalizeH="0" baseline="0">
                          <a:ln>
                            <a:noFill/>
                          </a:ln>
                          <a:solidFill>
                            <a:srgbClr val="000000"/>
                          </a:solidFill>
                          <a:effectLst/>
                          <a:latin typeface="Arial Narrow" pitchFamily="34" charset="0"/>
                        </a:rPr>
                        <a:t>Utilise </a:t>
                      </a:r>
                      <a:r>
                        <a:rPr kumimoji="0" lang="en-GB" sz="2400" b="0" i="0" u="none" strike="noStrike" cap="none" normalizeH="0" baseline="0" err="1">
                          <a:ln>
                            <a:noFill/>
                          </a:ln>
                          <a:solidFill>
                            <a:srgbClr val="000000"/>
                          </a:solidFill>
                          <a:effectLst/>
                          <a:latin typeface="Arial Narrow" pitchFamily="34" charset="0"/>
                        </a:rPr>
                        <a:t>une</a:t>
                      </a:r>
                      <a:r>
                        <a:rPr kumimoji="0" lang="en-GB" sz="2400" b="0" i="0" u="none" strike="noStrike" cap="none" normalizeH="0" baseline="0">
                          <a:ln>
                            <a:noFill/>
                          </a:ln>
                          <a:solidFill>
                            <a:srgbClr val="000000"/>
                          </a:solidFill>
                          <a:effectLst/>
                          <a:latin typeface="Arial Narrow" pitchFamily="34" charset="0"/>
                        </a:rPr>
                        <a:t> structure </a:t>
                      </a:r>
                      <a:r>
                        <a:rPr kumimoji="0" lang="en-GB" sz="2400" b="0" i="0" u="none" strike="noStrike" cap="none" normalizeH="0" baseline="0" err="1">
                          <a:ln>
                            <a:noFill/>
                          </a:ln>
                          <a:solidFill>
                            <a:srgbClr val="000000"/>
                          </a:solidFill>
                          <a:effectLst/>
                          <a:latin typeface="Arial Narrow" pitchFamily="34" charset="0"/>
                        </a:rPr>
                        <a:t>multimaître</a:t>
                      </a:r>
                      <a:endParaRPr kumimoji="0" lang="en-US" sz="2400" b="0" i="0" u="none" strike="noStrike" cap="none" normalizeH="0" baseline="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798757" name="AutoShape 37"/>
          <p:cNvSpPr>
            <a:spLocks noChangeArrowheads="1"/>
          </p:cNvSpPr>
          <p:nvPr>
            <p:custDataLst>
              <p:tags r:id="rId2"/>
            </p:custDataLst>
          </p:nvPr>
        </p:nvSpPr>
        <p:spPr bwMode="auto">
          <a:xfrm>
            <a:off x="145140" y="1274980"/>
            <a:ext cx="8839200" cy="844106"/>
          </a:xfrm>
          <a:prstGeom prst="roundRect">
            <a:avLst>
              <a:gd name="adj" fmla="val 22574"/>
            </a:avLst>
          </a:prstGeom>
          <a:solidFill>
            <a:srgbClr val="002060"/>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r>
              <a:rPr lang="en-GB" sz="2400" b="1" dirty="0" err="1">
                <a:solidFill>
                  <a:srgbClr val="EEEFD7"/>
                </a:solidFill>
              </a:rPr>
              <a:t>Une</a:t>
            </a:r>
            <a:r>
              <a:rPr lang="en-GB" sz="2400" b="1" dirty="0">
                <a:solidFill>
                  <a:srgbClr val="EEEFD7"/>
                </a:solidFill>
              </a:rPr>
              <a:t> </a:t>
            </a:r>
            <a:r>
              <a:rPr lang="en-GB" sz="2400" b="1" i="1" dirty="0">
                <a:solidFill>
                  <a:srgbClr val="EEEFD7"/>
                </a:solidFill>
              </a:rPr>
              <a:t>zone DNS </a:t>
            </a:r>
            <a:r>
              <a:rPr lang="en-GB" sz="2400" b="1" i="1" dirty="0" err="1">
                <a:solidFill>
                  <a:srgbClr val="EEEFD7"/>
                </a:solidFill>
              </a:rPr>
              <a:t>intégrée</a:t>
            </a:r>
            <a:r>
              <a:rPr lang="en-GB" sz="2400" b="1" i="1" dirty="0">
                <a:solidFill>
                  <a:srgbClr val="EEEFD7"/>
                </a:solidFill>
              </a:rPr>
              <a:t> à Active Directory </a:t>
            </a:r>
            <a:r>
              <a:rPr lang="en-GB" sz="2400" b="1" dirty="0" err="1">
                <a:solidFill>
                  <a:srgbClr val="EEEFD7"/>
                </a:solidFill>
              </a:rPr>
              <a:t>est</a:t>
            </a:r>
            <a:r>
              <a:rPr lang="en-GB" sz="2400" b="1" dirty="0">
                <a:solidFill>
                  <a:srgbClr val="EEEFD7"/>
                </a:solidFill>
              </a:rPr>
              <a:t> </a:t>
            </a:r>
            <a:r>
              <a:rPr lang="en-GB" sz="2400" b="1" dirty="0" err="1">
                <a:solidFill>
                  <a:srgbClr val="EEEFD7"/>
                </a:solidFill>
              </a:rPr>
              <a:t>une</a:t>
            </a:r>
            <a:r>
              <a:rPr lang="en-GB" sz="2400" b="1" dirty="0">
                <a:solidFill>
                  <a:srgbClr val="EEEFD7"/>
                </a:solidFill>
              </a:rPr>
              <a:t> zone DNS </a:t>
            </a:r>
            <a:r>
              <a:rPr lang="en-GB" sz="2400" b="1" dirty="0" err="1">
                <a:solidFill>
                  <a:srgbClr val="EEEFD7"/>
                </a:solidFill>
              </a:rPr>
              <a:t>stockée</a:t>
            </a:r>
            <a:r>
              <a:rPr lang="en-GB" sz="2400" b="1" dirty="0">
                <a:solidFill>
                  <a:srgbClr val="EEEFD7"/>
                </a:solidFill>
              </a:rPr>
              <a:t> </a:t>
            </a:r>
            <a:r>
              <a:rPr lang="en-GB" sz="2400" b="1" dirty="0" err="1">
                <a:solidFill>
                  <a:srgbClr val="EEEFD7"/>
                </a:solidFill>
              </a:rPr>
              <a:t>dans</a:t>
            </a:r>
            <a:r>
              <a:rPr lang="en-GB" sz="2400" b="1" dirty="0">
                <a:solidFill>
                  <a:srgbClr val="EEEFD7"/>
                </a:solidFill>
              </a:rPr>
              <a:t> Active Directory</a:t>
            </a:r>
            <a:endParaRPr lang="en-US" sz="2400" b="1" dirty="0">
              <a:solidFill>
                <a:srgbClr val="EEEFD7"/>
              </a:solidFill>
            </a:endParaRPr>
          </a:p>
        </p:txBody>
      </p:sp>
      <p:sp>
        <p:nvSpPr>
          <p:cNvPr id="5" name="Espace réservé du numéro de diapositive 4"/>
          <p:cNvSpPr>
            <a:spLocks noGrp="1"/>
          </p:cNvSpPr>
          <p:nvPr>
            <p:ph type="sldNum" sz="quarter" idx="12"/>
          </p:nvPr>
        </p:nvSpPr>
        <p:spPr/>
        <p:txBody>
          <a:bodyPr/>
          <a:lstStyle/>
          <a:p>
            <a:fld id="{2C6B1FF6-39B9-40F5-8B67-33C6354A3D4F}" type="slidenum">
              <a:rPr kumimoji="0" lang="en-US" smtClean="0"/>
              <a:pPr/>
              <a:t>24</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98859"/>
                                        </p:tgtEl>
                                        <p:attrNameLst>
                                          <p:attrName>style.visibility</p:attrName>
                                        </p:attrNameLst>
                                      </p:cBhvr>
                                      <p:to>
                                        <p:strVal val="visible"/>
                                      </p:to>
                                    </p:set>
                                    <p:anim calcmode="lin" valueType="num">
                                      <p:cBhvr additive="base">
                                        <p:cTn id="7" dur="2000" fill="hold"/>
                                        <p:tgtEl>
                                          <p:spTgt spid="798859"/>
                                        </p:tgtEl>
                                        <p:attrNameLst>
                                          <p:attrName>ppt_x</p:attrName>
                                        </p:attrNameLst>
                                      </p:cBhvr>
                                      <p:tavLst>
                                        <p:tav tm="0">
                                          <p:val>
                                            <p:strVal val="#ppt_x"/>
                                          </p:val>
                                        </p:tav>
                                        <p:tav tm="100000">
                                          <p:val>
                                            <p:strVal val="#ppt_x"/>
                                          </p:val>
                                        </p:tav>
                                      </p:tavLst>
                                    </p:anim>
                                    <p:anim calcmode="lin" valueType="num">
                                      <p:cBhvr additive="base">
                                        <p:cTn id="8" dur="2000" fill="hold"/>
                                        <p:tgtEl>
                                          <p:spTgt spid="7988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70" name="Rectangle 6"/>
          <p:cNvSpPr>
            <a:spLocks noGrp="1" noChangeArrowheads="1"/>
          </p:cNvSpPr>
          <p:nvPr>
            <p:ph type="title"/>
            <p:custDataLst>
              <p:tags r:id="rId1"/>
            </p:custDataLst>
          </p:nvPr>
        </p:nvSpPr>
        <p:spPr>
          <a:xfrm>
            <a:off x="0" y="315684"/>
            <a:ext cx="9144000" cy="758952"/>
          </a:xfrm>
        </p:spPr>
        <p:txBody>
          <a:bodyPr vert="horz" anchor="b">
            <a:normAutofit fontScale="90000"/>
          </a:bodyPr>
          <a:lstStyle/>
          <a:p>
            <a:r>
              <a:rPr lang="fr-FR" sz="3000" b="1" dirty="0">
                <a:solidFill>
                  <a:srgbClr val="C00000"/>
                </a:solidFill>
              </a:rPr>
              <a:t>Que sont les zones de recherche directe </a:t>
            </a:r>
            <a:br>
              <a:rPr lang="fr-FR" sz="3000" b="1" dirty="0">
                <a:solidFill>
                  <a:srgbClr val="C00000"/>
                </a:solidFill>
              </a:rPr>
            </a:br>
            <a:r>
              <a:rPr lang="fr-FR" sz="3000" b="1" dirty="0">
                <a:solidFill>
                  <a:srgbClr val="C00000"/>
                </a:solidFill>
              </a:rPr>
              <a:t>et inversée ?</a:t>
            </a:r>
            <a:endParaRPr lang="en-US" sz="3000" b="1" dirty="0">
              <a:solidFill>
                <a:srgbClr val="C00000"/>
              </a:solidFill>
            </a:endParaRPr>
          </a:p>
        </p:txBody>
      </p:sp>
      <p:sp>
        <p:nvSpPr>
          <p:cNvPr id="728077" name="Text Box 13"/>
          <p:cNvSpPr txBox="1">
            <a:spLocks noChangeArrowheads="1"/>
          </p:cNvSpPr>
          <p:nvPr>
            <p:custDataLst>
              <p:tags r:id="rId2"/>
            </p:custDataLst>
          </p:nvPr>
        </p:nvSpPr>
        <p:spPr bwMode="auto">
          <a:xfrm>
            <a:off x="1976438" y="1410149"/>
            <a:ext cx="5160962" cy="457200"/>
          </a:xfrm>
          <a:prstGeom prst="rect">
            <a:avLst/>
          </a:prstGeom>
          <a:noFill/>
          <a:ln w="9525" algn="ctr">
            <a:noFill/>
            <a:miter lim="800000"/>
            <a:headEnd/>
            <a:tailEnd/>
          </a:ln>
          <a:effectLst/>
        </p:spPr>
        <p:txBody>
          <a:bodyPr wrap="none">
            <a:spAutoFit/>
          </a:bodyPr>
          <a:lstStyle/>
          <a:p>
            <a:r>
              <a:rPr lang="en-GB" sz="2400" b="1">
                <a:solidFill>
                  <a:srgbClr val="000000"/>
                </a:solidFill>
              </a:rPr>
              <a:t>Espace de noms :</a:t>
            </a:r>
            <a:r>
              <a:rPr lang="en-US" sz="2400" b="1"/>
              <a:t> </a:t>
            </a:r>
            <a:r>
              <a:rPr lang="en-GB" sz="2400" b="1">
                <a:solidFill>
                  <a:srgbClr val="000000"/>
                </a:solidFill>
              </a:rPr>
              <a:t>training.nwtraders.msft</a:t>
            </a:r>
            <a:endParaRPr lang="en-US" sz="2400" b="1">
              <a:solidFill>
                <a:srgbClr val="000000"/>
              </a:solidFill>
            </a:endParaRPr>
          </a:p>
        </p:txBody>
      </p:sp>
      <p:sp>
        <p:nvSpPr>
          <p:cNvPr id="728208" name="Oval 144"/>
          <p:cNvSpPr>
            <a:spLocks noChangeArrowheads="1"/>
          </p:cNvSpPr>
          <p:nvPr/>
        </p:nvSpPr>
        <p:spPr bwMode="auto">
          <a:xfrm>
            <a:off x="1457325" y="3608837"/>
            <a:ext cx="4056063" cy="2325687"/>
          </a:xfrm>
          <a:prstGeom prst="ellipse">
            <a:avLst/>
          </a:prstGeom>
          <a:gradFill rotWithShape="1">
            <a:gsLst>
              <a:gs pos="0">
                <a:srgbClr val="FFFFFF"/>
              </a:gs>
              <a:gs pos="100000">
                <a:srgbClr val="EEEFD7"/>
              </a:gs>
            </a:gsLst>
            <a:path path="shape">
              <a:fillToRect l="50000" t="50000" r="50000" b="50000"/>
            </a:path>
          </a:gradFill>
          <a:ln w="9525" algn="ctr">
            <a:solidFill>
              <a:srgbClr val="333333"/>
            </a:solidFill>
            <a:round/>
            <a:headEnd/>
            <a:tailEnd/>
          </a:ln>
          <a:effectLst>
            <a:outerShdw dist="35921" dir="2700000" algn="ctr" rotWithShape="0">
              <a:srgbClr val="ADADAD"/>
            </a:outerShdw>
          </a:effectLst>
        </p:spPr>
        <p:txBody>
          <a:bodyPr wrap="none" anchor="ctr"/>
          <a:lstStyle/>
          <a:p>
            <a:endParaRPr lang="en-GB" sz="1600" b="1">
              <a:latin typeface="Arial" charset="0"/>
            </a:endParaRPr>
          </a:p>
        </p:txBody>
      </p:sp>
      <p:sp>
        <p:nvSpPr>
          <p:cNvPr id="728209" name="AutoShape 145"/>
          <p:cNvSpPr>
            <a:spLocks noChangeArrowheads="1"/>
          </p:cNvSpPr>
          <p:nvPr>
            <p:custDataLst>
              <p:tags r:id="rId3"/>
            </p:custDataLst>
          </p:nvPr>
        </p:nvSpPr>
        <p:spPr bwMode="auto">
          <a:xfrm>
            <a:off x="984250" y="6017074"/>
            <a:ext cx="1816676" cy="33973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r>
              <a:rPr lang="en-GB" sz="2400" b="1">
                <a:solidFill>
                  <a:srgbClr val="000000"/>
                </a:solidFill>
              </a:rPr>
              <a:t>Client1 DNS</a:t>
            </a:r>
            <a:endParaRPr lang="en-US" sz="2400" b="1"/>
          </a:p>
        </p:txBody>
      </p:sp>
      <p:pic>
        <p:nvPicPr>
          <p:cNvPr id="728210" name="Picture 146" descr="Computer_DesktopComputerSansKeyboard01"/>
          <p:cNvPicPr>
            <a:picLocks noChangeAspect="1" noChangeArrowheads="1"/>
          </p:cNvPicPr>
          <p:nvPr/>
        </p:nvPicPr>
        <p:blipFill>
          <a:blip r:embed="rId13" cstate="print"/>
          <a:srcRect/>
          <a:stretch>
            <a:fillRect/>
          </a:stretch>
        </p:blipFill>
        <p:spPr bwMode="auto">
          <a:xfrm>
            <a:off x="3997325" y="5131249"/>
            <a:ext cx="850900" cy="1038225"/>
          </a:xfrm>
          <a:prstGeom prst="rect">
            <a:avLst/>
          </a:prstGeom>
          <a:noFill/>
        </p:spPr>
      </p:pic>
      <p:sp>
        <p:nvSpPr>
          <p:cNvPr id="728211" name="AutoShape 147"/>
          <p:cNvSpPr>
            <a:spLocks noChangeArrowheads="1"/>
          </p:cNvSpPr>
          <p:nvPr>
            <p:custDataLst>
              <p:tags r:id="rId4"/>
            </p:custDataLst>
          </p:nvPr>
        </p:nvSpPr>
        <p:spPr bwMode="auto">
          <a:xfrm>
            <a:off x="4089400" y="6175824"/>
            <a:ext cx="1816676" cy="33973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r>
              <a:rPr lang="en-GB" sz="2400" b="1">
                <a:solidFill>
                  <a:srgbClr val="000000"/>
                </a:solidFill>
              </a:rPr>
              <a:t>Client2 DNS</a:t>
            </a:r>
            <a:endParaRPr lang="en-US" sz="2400" b="1"/>
          </a:p>
        </p:txBody>
      </p:sp>
      <p:pic>
        <p:nvPicPr>
          <p:cNvPr id="728212" name="Picture 148" descr="Computer_DesktopComputerSansKeyboard01"/>
          <p:cNvPicPr>
            <a:picLocks noChangeAspect="1" noChangeArrowheads="1"/>
          </p:cNvPicPr>
          <p:nvPr/>
        </p:nvPicPr>
        <p:blipFill>
          <a:blip r:embed="rId13" cstate="print"/>
          <a:srcRect/>
          <a:stretch>
            <a:fillRect/>
          </a:stretch>
        </p:blipFill>
        <p:spPr bwMode="auto">
          <a:xfrm>
            <a:off x="5194300" y="4488312"/>
            <a:ext cx="850900" cy="1038225"/>
          </a:xfrm>
          <a:prstGeom prst="rect">
            <a:avLst/>
          </a:prstGeom>
          <a:noFill/>
        </p:spPr>
      </p:pic>
      <p:sp>
        <p:nvSpPr>
          <p:cNvPr id="728213" name="AutoShape 149"/>
          <p:cNvSpPr>
            <a:spLocks noChangeArrowheads="1"/>
          </p:cNvSpPr>
          <p:nvPr>
            <p:custDataLst>
              <p:tags r:id="rId5"/>
            </p:custDataLst>
          </p:nvPr>
        </p:nvSpPr>
        <p:spPr bwMode="auto">
          <a:xfrm>
            <a:off x="5565775" y="5480499"/>
            <a:ext cx="1851025" cy="33973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r>
              <a:rPr lang="en-GB" sz="2400" b="1">
                <a:solidFill>
                  <a:srgbClr val="000000"/>
                </a:solidFill>
              </a:rPr>
              <a:t>Client3 DNS</a:t>
            </a:r>
            <a:endParaRPr lang="en-US" sz="2400" b="1"/>
          </a:p>
        </p:txBody>
      </p:sp>
      <p:sp>
        <p:nvSpPr>
          <p:cNvPr id="728214" name="AutoShape 150"/>
          <p:cNvSpPr>
            <a:spLocks noChangeArrowheads="1"/>
          </p:cNvSpPr>
          <p:nvPr>
            <p:custDataLst>
              <p:tags r:id="rId6"/>
            </p:custDataLst>
          </p:nvPr>
        </p:nvSpPr>
        <p:spPr bwMode="auto">
          <a:xfrm>
            <a:off x="18155" y="2245854"/>
            <a:ext cx="2641050" cy="64999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400" b="1" err="1">
                <a:solidFill>
                  <a:srgbClr val="000000"/>
                </a:solidFill>
              </a:rPr>
              <a:t>Serveur</a:t>
            </a:r>
            <a:r>
              <a:rPr lang="en-GB" sz="2400" b="1">
                <a:solidFill>
                  <a:srgbClr val="000000"/>
                </a:solidFill>
              </a:rPr>
              <a:t> DNS </a:t>
            </a:r>
            <a:r>
              <a:rPr lang="en-GB" sz="2400" b="1" err="1">
                <a:solidFill>
                  <a:srgbClr val="000000"/>
                </a:solidFill>
              </a:rPr>
              <a:t>autorisé</a:t>
            </a:r>
            <a:endParaRPr lang="en-US" sz="2400" b="1"/>
          </a:p>
          <a:p>
            <a:pPr>
              <a:lnSpc>
                <a:spcPct val="85000"/>
              </a:lnSpc>
            </a:pPr>
            <a:r>
              <a:rPr lang="en-GB" sz="2400" b="1">
                <a:solidFill>
                  <a:srgbClr val="000000"/>
                </a:solidFill>
              </a:rPr>
              <a:t>pour training</a:t>
            </a:r>
            <a:endParaRPr lang="en-US" sz="2400" b="1">
              <a:solidFill>
                <a:srgbClr val="000000"/>
              </a:solidFill>
            </a:endParaRPr>
          </a:p>
        </p:txBody>
      </p:sp>
      <p:grpSp>
        <p:nvGrpSpPr>
          <p:cNvPr id="728289" name="Group 184"/>
          <p:cNvGrpSpPr>
            <a:grpSpLocks/>
          </p:cNvGrpSpPr>
          <p:nvPr/>
        </p:nvGrpSpPr>
        <p:grpSpPr bwMode="auto">
          <a:xfrm>
            <a:off x="1885950" y="2843662"/>
            <a:ext cx="1477963" cy="1377950"/>
            <a:chOff x="1188" y="1645"/>
            <a:chExt cx="931" cy="868"/>
          </a:xfrm>
        </p:grpSpPr>
        <p:pic>
          <p:nvPicPr>
            <p:cNvPr id="728249" name="Picture 185" descr="Server01"/>
            <p:cNvPicPr>
              <a:picLocks noChangeAspect="1" noChangeArrowheads="1"/>
            </p:cNvPicPr>
            <p:nvPr>
              <p:custDataLst>
                <p:tags r:id="rId9"/>
              </p:custDataLst>
            </p:nvPr>
          </p:nvPicPr>
          <p:blipFill>
            <a:blip r:embed="rId14" cstate="print"/>
            <a:srcRect/>
            <a:stretch>
              <a:fillRect/>
            </a:stretch>
          </p:blipFill>
          <p:spPr bwMode="auto">
            <a:xfrm>
              <a:off x="1188" y="1645"/>
              <a:ext cx="697" cy="820"/>
            </a:xfrm>
            <a:prstGeom prst="rect">
              <a:avLst/>
            </a:prstGeom>
            <a:noFill/>
          </p:spPr>
        </p:pic>
        <p:pic>
          <p:nvPicPr>
            <p:cNvPr id="728250" name="Picture 186" descr="Database01"/>
            <p:cNvPicPr>
              <a:picLocks noChangeAspect="1" noChangeArrowheads="1"/>
            </p:cNvPicPr>
            <p:nvPr>
              <p:custDataLst>
                <p:tags r:id="rId10"/>
              </p:custDataLst>
            </p:nvPr>
          </p:nvPicPr>
          <p:blipFill>
            <a:blip r:embed="rId15" cstate="print"/>
            <a:srcRect/>
            <a:stretch>
              <a:fillRect/>
            </a:stretch>
          </p:blipFill>
          <p:spPr bwMode="auto">
            <a:xfrm>
              <a:off x="1630" y="2117"/>
              <a:ext cx="489" cy="396"/>
            </a:xfrm>
            <a:prstGeom prst="rect">
              <a:avLst/>
            </a:prstGeom>
            <a:noFill/>
          </p:spPr>
        </p:pic>
      </p:grpSp>
      <p:sp>
        <p:nvSpPr>
          <p:cNvPr id="728251" name="Arc 187"/>
          <p:cNvSpPr>
            <a:spLocks/>
          </p:cNvSpPr>
          <p:nvPr/>
        </p:nvSpPr>
        <p:spPr bwMode="auto">
          <a:xfrm>
            <a:off x="1147763" y="3548512"/>
            <a:ext cx="1752600" cy="1930400"/>
          </a:xfrm>
          <a:custGeom>
            <a:avLst/>
            <a:gdLst>
              <a:gd name="G0" fmla="+- 21600 0 0"/>
              <a:gd name="G1" fmla="+- 20210 0 0"/>
              <a:gd name="G2" fmla="+- 21600 0 0"/>
              <a:gd name="T0" fmla="*/ 42760 w 43200"/>
              <a:gd name="T1" fmla="*/ 15870 h 41810"/>
              <a:gd name="T2" fmla="*/ 13978 w 43200"/>
              <a:gd name="T3" fmla="*/ 0 h 41810"/>
              <a:gd name="T4" fmla="*/ 21600 w 43200"/>
              <a:gd name="T5" fmla="*/ 20210 h 41810"/>
            </a:gdLst>
            <a:ahLst/>
            <a:cxnLst>
              <a:cxn ang="0">
                <a:pos x="T0" y="T1"/>
              </a:cxn>
              <a:cxn ang="0">
                <a:pos x="T2" y="T3"/>
              </a:cxn>
              <a:cxn ang="0">
                <a:pos x="T4" y="T5"/>
              </a:cxn>
            </a:cxnLst>
            <a:rect l="0" t="0" r="r" b="b"/>
            <a:pathLst>
              <a:path w="43200" h="41810" fill="none" extrusionOk="0">
                <a:moveTo>
                  <a:pt x="42759" y="15870"/>
                </a:moveTo>
                <a:cubicBezTo>
                  <a:pt x="43052" y="17298"/>
                  <a:pt x="43200" y="18752"/>
                  <a:pt x="43200" y="20210"/>
                </a:cubicBezTo>
                <a:cubicBezTo>
                  <a:pt x="43200" y="32139"/>
                  <a:pt x="33529" y="41810"/>
                  <a:pt x="21600" y="41810"/>
                </a:cubicBezTo>
                <a:cubicBezTo>
                  <a:pt x="9670" y="41810"/>
                  <a:pt x="0" y="32139"/>
                  <a:pt x="0" y="20210"/>
                </a:cubicBezTo>
                <a:cubicBezTo>
                  <a:pt x="-1" y="11220"/>
                  <a:pt x="5567" y="3171"/>
                  <a:pt x="13977" y="-1"/>
                </a:cubicBezTo>
              </a:path>
              <a:path w="43200" h="41810" stroke="0" extrusionOk="0">
                <a:moveTo>
                  <a:pt x="42759" y="15870"/>
                </a:moveTo>
                <a:cubicBezTo>
                  <a:pt x="43052" y="17298"/>
                  <a:pt x="43200" y="18752"/>
                  <a:pt x="43200" y="20210"/>
                </a:cubicBezTo>
                <a:cubicBezTo>
                  <a:pt x="43200" y="32139"/>
                  <a:pt x="33529" y="41810"/>
                  <a:pt x="21600" y="41810"/>
                </a:cubicBezTo>
                <a:cubicBezTo>
                  <a:pt x="9670" y="41810"/>
                  <a:pt x="0" y="32139"/>
                  <a:pt x="0" y="20210"/>
                </a:cubicBezTo>
                <a:cubicBezTo>
                  <a:pt x="-1" y="11220"/>
                  <a:pt x="5567" y="3171"/>
                  <a:pt x="13977" y="-1"/>
                </a:cubicBezTo>
                <a:lnTo>
                  <a:pt x="21600" y="20210"/>
                </a:lnTo>
                <a:close/>
              </a:path>
            </a:pathLst>
          </a:custGeom>
          <a:noFill/>
          <a:ln w="50800">
            <a:solidFill>
              <a:srgbClr val="CC0000"/>
            </a:solidFill>
            <a:round/>
            <a:headEnd type="triangle" w="med" len="med"/>
            <a:tailEnd type="triangle" w="med" len="med"/>
          </a:ln>
          <a:effectLst/>
        </p:spPr>
        <p:txBody>
          <a:bodyPr/>
          <a:lstStyle/>
          <a:p>
            <a:endParaRPr lang="fr-FR"/>
          </a:p>
        </p:txBody>
      </p:sp>
      <p:sp>
        <p:nvSpPr>
          <p:cNvPr id="728252" name="AutoShape 188"/>
          <p:cNvSpPr>
            <a:spLocks noChangeArrowheads="1"/>
          </p:cNvSpPr>
          <p:nvPr>
            <p:custDataLst>
              <p:tags r:id="rId7"/>
            </p:custDataLst>
          </p:nvPr>
        </p:nvSpPr>
        <p:spPr bwMode="auto">
          <a:xfrm>
            <a:off x="306886" y="4239074"/>
            <a:ext cx="2117228" cy="376238"/>
          </a:xfrm>
          <a:prstGeom prst="roundRect">
            <a:avLst>
              <a:gd name="adj" fmla="val 166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b="1">
                <a:solidFill>
                  <a:srgbClr val="000000"/>
                </a:solidFill>
              </a:rPr>
              <a:t>Client2 DNS = ?</a:t>
            </a:r>
            <a:endParaRPr lang="en-US" sz="2200" b="1"/>
          </a:p>
        </p:txBody>
      </p:sp>
      <p:pic>
        <p:nvPicPr>
          <p:cNvPr id="728253" name="Picture 189" descr="Computer_DesktopComputerSansKeyboard01"/>
          <p:cNvPicPr>
            <a:picLocks noChangeAspect="1" noChangeArrowheads="1"/>
          </p:cNvPicPr>
          <p:nvPr/>
        </p:nvPicPr>
        <p:blipFill>
          <a:blip r:embed="rId13" cstate="print"/>
          <a:srcRect/>
          <a:stretch>
            <a:fillRect/>
          </a:stretch>
        </p:blipFill>
        <p:spPr bwMode="auto">
          <a:xfrm>
            <a:off x="1255713" y="4958212"/>
            <a:ext cx="850900" cy="1038225"/>
          </a:xfrm>
          <a:prstGeom prst="rect">
            <a:avLst/>
          </a:prstGeom>
          <a:noFill/>
        </p:spPr>
      </p:pic>
      <p:sp>
        <p:nvSpPr>
          <p:cNvPr id="728254" name="AutoShape 190"/>
          <p:cNvSpPr>
            <a:spLocks noChangeArrowheads="1"/>
          </p:cNvSpPr>
          <p:nvPr>
            <p:custDataLst>
              <p:tags r:id="rId8"/>
            </p:custDataLst>
          </p:nvPr>
        </p:nvSpPr>
        <p:spPr bwMode="auto">
          <a:xfrm>
            <a:off x="1857829" y="4859787"/>
            <a:ext cx="2061027" cy="376237"/>
          </a:xfrm>
          <a:prstGeom prst="roundRect">
            <a:avLst>
              <a:gd name="adj" fmla="val 166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en-US" sz="2200" b="1"/>
              <a:t>192.168.2.46 = ?</a:t>
            </a:r>
          </a:p>
        </p:txBody>
      </p:sp>
      <p:graphicFrame>
        <p:nvGraphicFramePr>
          <p:cNvPr id="728290" name="Group 226"/>
          <p:cNvGraphicFramePr>
            <a:graphicFrameLocks noGrp="1"/>
          </p:cNvGraphicFramePr>
          <p:nvPr>
            <p:extLst>
              <p:ext uri="{D42A27DB-BD31-4B8C-83A1-F6EECF244321}">
                <p14:modId xmlns:p14="http://schemas.microsoft.com/office/powerpoint/2010/main" val="3501429607"/>
              </p:ext>
            </p:extLst>
          </p:nvPr>
        </p:nvGraphicFramePr>
        <p:xfrm>
          <a:off x="2728687" y="1919060"/>
          <a:ext cx="6313715" cy="2679192"/>
        </p:xfrm>
        <a:graphic>
          <a:graphicData uri="http://schemas.openxmlformats.org/drawingml/2006/table">
            <a:tbl>
              <a:tblPr/>
              <a:tblGrid>
                <a:gridCol w="1288841">
                  <a:extLst>
                    <a:ext uri="{9D8B030D-6E8A-4147-A177-3AD203B41FA5}">
                      <a16:colId xmlns:a16="http://schemas.microsoft.com/office/drawing/2014/main" val="20000"/>
                    </a:ext>
                  </a:extLst>
                </a:gridCol>
                <a:gridCol w="1648191">
                  <a:extLst>
                    <a:ext uri="{9D8B030D-6E8A-4147-A177-3AD203B41FA5}">
                      <a16:colId xmlns:a16="http://schemas.microsoft.com/office/drawing/2014/main" val="20001"/>
                    </a:ext>
                  </a:extLst>
                </a:gridCol>
                <a:gridCol w="1696371">
                  <a:extLst>
                    <a:ext uri="{9D8B030D-6E8A-4147-A177-3AD203B41FA5}">
                      <a16:colId xmlns:a16="http://schemas.microsoft.com/office/drawing/2014/main" val="20002"/>
                    </a:ext>
                  </a:extLst>
                </a:gridCol>
                <a:gridCol w="1680312">
                  <a:extLst>
                    <a:ext uri="{9D8B030D-6E8A-4147-A177-3AD203B41FA5}">
                      <a16:colId xmlns:a16="http://schemas.microsoft.com/office/drawing/2014/main" val="20003"/>
                    </a:ext>
                  </a:extLst>
                </a:gridCol>
              </a:tblGrid>
              <a:tr h="303213">
                <a:tc rowSpan="3">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none" strike="noStrike" cap="none" normalizeH="0" baseline="0" dirty="0">
                          <a:ln>
                            <a:noFill/>
                          </a:ln>
                          <a:solidFill>
                            <a:srgbClr val="000000"/>
                          </a:solidFill>
                          <a:effectLst/>
                          <a:latin typeface="Arial Narrow" pitchFamily="34" charset="0"/>
                        </a:rPr>
                        <a:t>Zone </a:t>
                      </a:r>
                      <a:r>
                        <a:rPr kumimoji="0" lang="en-GB" sz="2200" b="1" i="0" u="none" strike="noStrike" cap="none" normalizeH="0" baseline="0" dirty="0" err="1">
                          <a:ln>
                            <a:noFill/>
                          </a:ln>
                          <a:solidFill>
                            <a:srgbClr val="000000"/>
                          </a:solidFill>
                          <a:effectLst/>
                          <a:latin typeface="Arial Narrow" pitchFamily="34" charset="0"/>
                        </a:rPr>
                        <a:t>directe</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tc rowSpan="3">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none" strike="noStrike" cap="none" normalizeH="0" baseline="0">
                          <a:ln>
                            <a:noFill/>
                          </a:ln>
                          <a:solidFill>
                            <a:srgbClr val="000000"/>
                          </a:solidFill>
                          <a:effectLst/>
                          <a:latin typeface="Arial Narrow" pitchFamily="34" charset="0"/>
                        </a:rPr>
                        <a:t>Training</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en-GB" sz="2200" b="1" i="0" u="none" strike="noStrike" cap="none" normalizeH="0" baseline="0">
                          <a:ln>
                            <a:noFill/>
                          </a:ln>
                          <a:solidFill>
                            <a:srgbClr val="000000"/>
                          </a:solidFill>
                          <a:effectLst/>
                          <a:latin typeface="Arial Narrow" pitchFamily="34" charset="0"/>
                        </a:rPr>
                        <a:t>Client1 DNS</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rial Narrow" pitchFamily="34" charset="0"/>
                        </a:rPr>
                        <a:t>192.168.2.45</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47663">
                <a:tc vMerge="1">
                  <a:txBody>
                    <a:bodyPr/>
                    <a:lstStyle/>
                    <a:p>
                      <a:endParaRPr lang="fr-FR"/>
                    </a:p>
                  </a:txBody>
                  <a:tcPr/>
                </a:tc>
                <a:tc vMerge="1">
                  <a:txBody>
                    <a:bodyPr/>
                    <a:lstStyle/>
                    <a:p>
                      <a:endParaRPr lang="fr-FR"/>
                    </a:p>
                  </a:txBody>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200" b="1" i="0" u="none" strike="noStrike" cap="none" normalizeH="0" baseline="0">
                          <a:ln>
                            <a:noFill/>
                          </a:ln>
                          <a:solidFill>
                            <a:srgbClr val="000000"/>
                          </a:solidFill>
                          <a:effectLst/>
                          <a:latin typeface="Arial Narrow" pitchFamily="34" charset="0"/>
                        </a:rPr>
                        <a:t>Client2 DNS</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tc>
                  <a:txBody>
                    <a:bodyPr/>
                    <a:lstStyle/>
                    <a:p>
                      <a:pPr marL="177800" marR="0" lvl="0" indent="-177800" algn="l" defTabSz="914400" rtl="0" eaLnBrk="0" fontAlgn="base" latinLnBrk="0" hangingPunct="0">
                        <a:lnSpc>
                          <a:spcPct val="9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rial Narrow" pitchFamily="34" charset="0"/>
                        </a:rPr>
                        <a:t>192.168.2.46</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388938">
                <a:tc vMerge="1">
                  <a:txBody>
                    <a:bodyPr/>
                    <a:lstStyle/>
                    <a:p>
                      <a:endParaRPr lang="fr-FR"/>
                    </a:p>
                  </a:txBody>
                  <a:tcPr/>
                </a:tc>
                <a:tc vMerge="1">
                  <a:txBody>
                    <a:bodyPr/>
                    <a:lstStyle/>
                    <a:p>
                      <a:endParaRPr lang="fr-FR"/>
                    </a:p>
                  </a:txBody>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200" b="1" i="0" u="none" strike="noStrike" cap="none" normalizeH="0" baseline="0">
                          <a:ln>
                            <a:noFill/>
                          </a:ln>
                          <a:solidFill>
                            <a:srgbClr val="000000"/>
                          </a:solidFill>
                          <a:effectLst/>
                          <a:latin typeface="Arial Narrow" pitchFamily="34" charset="0"/>
                        </a:rPr>
                        <a:t>Client3 DNS</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tc>
                  <a:txBody>
                    <a:bodyPr/>
                    <a:lstStyle/>
                    <a:p>
                      <a:pPr marL="177800" marR="0" lvl="0" indent="-177800" algn="l" defTabSz="914400" rtl="0" eaLnBrk="0" fontAlgn="base" latinLnBrk="0" hangingPunct="0">
                        <a:lnSpc>
                          <a:spcPct val="9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rial Narrow" pitchFamily="34" charset="0"/>
                        </a:rPr>
                        <a:t>192.168.2.47</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365125">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200" b="1" i="0" u="none" strike="noStrike" cap="none" normalizeH="0" baseline="0" dirty="0">
                        <a:ln>
                          <a:noFill/>
                        </a:ln>
                        <a:solidFill>
                          <a:schemeClr val="tx1"/>
                        </a:solidFill>
                        <a:effectLst/>
                        <a:latin typeface="Arial Narrow"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sz="2200" b="1" i="0" u="none" strike="noStrike" cap="none" normalizeH="0" baseline="0" dirty="0">
                          <a:ln>
                            <a:noFill/>
                          </a:ln>
                          <a:solidFill>
                            <a:srgbClr val="000000"/>
                          </a:solidFill>
                          <a:effectLst/>
                          <a:latin typeface="Arial Narrow" pitchFamily="34" charset="0"/>
                        </a:rPr>
                        <a:t>Zone </a:t>
                      </a:r>
                      <a:r>
                        <a:rPr kumimoji="0" lang="en-GB" sz="2200" b="1" i="0" u="none" strike="noStrike" cap="none" normalizeH="0" baseline="0" dirty="0" err="1">
                          <a:ln>
                            <a:noFill/>
                          </a:ln>
                          <a:solidFill>
                            <a:srgbClr val="000000"/>
                          </a:solidFill>
                          <a:effectLst/>
                          <a:latin typeface="Arial Narrow" pitchFamily="34" charset="0"/>
                        </a:rPr>
                        <a:t>inversée</a:t>
                      </a:r>
                      <a:endParaRPr kumimoji="0" lang="en-US" sz="2200" b="1" i="0" u="none" strike="noStrike" cap="none" normalizeH="0" baseline="0" dirty="0">
                        <a:ln>
                          <a:noFill/>
                        </a:ln>
                        <a:solidFill>
                          <a:schemeClr val="tx1"/>
                        </a:solidFill>
                        <a:effectLst/>
                        <a:latin typeface="Arial Narrow"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rial Narrow" pitchFamily="34" charset="0"/>
                        </a:rPr>
                        <a:t> </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200" b="1" i="0" u="none" strike="noStrike" cap="none" normalizeH="0" baseline="0" dirty="0">
                          <a:ln>
                            <a:noFill/>
                          </a:ln>
                          <a:solidFill>
                            <a:srgbClr val="000000"/>
                          </a:solidFill>
                          <a:effectLst/>
                          <a:latin typeface="Arial Narrow" pitchFamily="34" charset="0"/>
                        </a:rPr>
                        <a:t>2.168.192.in-addr.arpa</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tc>
                  <a:txBody>
                    <a:bodyPr/>
                    <a:lstStyle/>
                    <a:p>
                      <a:pPr marL="177800" marR="0" lvl="0" indent="-177800" algn="l" defTabSz="914400" rtl="0" eaLnBrk="0" fontAlgn="base" latinLnBrk="0" hangingPunct="0">
                        <a:lnSpc>
                          <a:spcPct val="9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rial Narrow" pitchFamily="34" charset="0"/>
                        </a:rPr>
                        <a:t>192.168.2.45</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200" b="1" i="0" u="none" strike="noStrike" cap="none" normalizeH="0" baseline="0">
                          <a:ln>
                            <a:noFill/>
                          </a:ln>
                          <a:solidFill>
                            <a:srgbClr val="000000"/>
                          </a:solidFill>
                          <a:effectLst/>
                          <a:latin typeface="Arial Narrow" pitchFamily="34" charset="0"/>
                        </a:rPr>
                        <a:t>Client1 DNS</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extLst>
                  <a:ext uri="{0D108BD9-81ED-4DB2-BD59-A6C34878D82A}">
                    <a16:rowId xmlns:a16="http://schemas.microsoft.com/office/drawing/2014/main" val="10003"/>
                  </a:ext>
                </a:extLst>
              </a:tr>
              <a:tr h="365125">
                <a:tc vMerge="1">
                  <a:txBody>
                    <a:bodyPr/>
                    <a:lstStyle/>
                    <a:p>
                      <a:endParaRPr lang="fr-FR"/>
                    </a:p>
                  </a:txBody>
                  <a:tcPr/>
                </a:tc>
                <a:tc vMerge="1">
                  <a:txBody>
                    <a:bodyPr/>
                    <a:lstStyle/>
                    <a:p>
                      <a:endParaRPr lang="fr-FR"/>
                    </a:p>
                  </a:txBody>
                  <a:tcPr/>
                </a:tc>
                <a:tc>
                  <a:txBody>
                    <a:bodyPr/>
                    <a:lstStyle/>
                    <a:p>
                      <a:pPr marL="177800" marR="0" lvl="0" indent="-177800" algn="l" defTabSz="914400" rtl="0" eaLnBrk="0" fontAlgn="base" latinLnBrk="0" hangingPunct="0">
                        <a:lnSpc>
                          <a:spcPct val="9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rial Narrow" pitchFamily="34" charset="0"/>
                        </a:rPr>
                        <a:t>192.168.2.46</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200" b="1" i="0" u="none" strike="noStrike" cap="none" normalizeH="0" baseline="0">
                          <a:ln>
                            <a:noFill/>
                          </a:ln>
                          <a:solidFill>
                            <a:srgbClr val="000000"/>
                          </a:solidFill>
                          <a:effectLst/>
                          <a:latin typeface="Arial Narrow" pitchFamily="34" charset="0"/>
                        </a:rPr>
                        <a:t>Client2 DNS</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extLst>
                  <a:ext uri="{0D108BD9-81ED-4DB2-BD59-A6C34878D82A}">
                    <a16:rowId xmlns:a16="http://schemas.microsoft.com/office/drawing/2014/main" val="10004"/>
                  </a:ext>
                </a:extLst>
              </a:tr>
              <a:tr h="330200">
                <a:tc vMerge="1">
                  <a:txBody>
                    <a:bodyPr/>
                    <a:lstStyle/>
                    <a:p>
                      <a:endParaRPr lang="fr-FR"/>
                    </a:p>
                  </a:txBody>
                  <a:tcPr/>
                </a:tc>
                <a:tc vMerge="1">
                  <a:txBody>
                    <a:bodyPr/>
                    <a:lstStyle/>
                    <a:p>
                      <a:endParaRPr lang="fr-FR"/>
                    </a:p>
                  </a:txBody>
                  <a:tcPr/>
                </a:tc>
                <a:tc>
                  <a:txBody>
                    <a:bodyPr/>
                    <a:lstStyle/>
                    <a:p>
                      <a:pPr marL="177800" marR="0" lvl="0" indent="-177800" algn="l" defTabSz="914400" rtl="0" eaLnBrk="0" fontAlgn="base" latinLnBrk="0" hangingPunct="0">
                        <a:lnSpc>
                          <a:spcPct val="9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rial Narrow" pitchFamily="34" charset="0"/>
                        </a:rPr>
                        <a:t>192.168.2.47</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None/>
                        <a:tabLst/>
                      </a:pPr>
                      <a:r>
                        <a:rPr kumimoji="0" lang="en-GB" sz="2200" b="1" i="0" u="none" strike="noStrike" cap="none" normalizeH="0" baseline="0" dirty="0">
                          <a:ln>
                            <a:noFill/>
                          </a:ln>
                          <a:solidFill>
                            <a:srgbClr val="000000"/>
                          </a:solidFill>
                          <a:effectLst/>
                          <a:latin typeface="Arial Narrow" pitchFamily="34" charset="0"/>
                        </a:rPr>
                        <a:t>Client3 DNS</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ADE2A1"/>
                    </a:solidFill>
                  </a:tcPr>
                </a:tc>
                <a:extLst>
                  <a:ext uri="{0D108BD9-81ED-4DB2-BD59-A6C34878D82A}">
                    <a16:rowId xmlns:a16="http://schemas.microsoft.com/office/drawing/2014/main" val="10005"/>
                  </a:ext>
                </a:extLst>
              </a:tr>
            </a:tbl>
          </a:graphicData>
        </a:graphic>
      </p:graphicFrame>
      <p:sp>
        <p:nvSpPr>
          <p:cNvPr id="20" name="Espace réservé du numéro de diapositive 19"/>
          <p:cNvSpPr>
            <a:spLocks noGrp="1"/>
          </p:cNvSpPr>
          <p:nvPr>
            <p:ph type="sldNum" sz="quarter" idx="12"/>
          </p:nvPr>
        </p:nvSpPr>
        <p:spPr/>
        <p:txBody>
          <a:bodyPr/>
          <a:lstStyle/>
          <a:p>
            <a:fld id="{2C6B1FF6-39B9-40F5-8B67-33C6354A3D4F}" type="slidenum">
              <a:rPr kumimoji="0" lang="en-US" smtClean="0"/>
              <a:pPr/>
              <a:t>25</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28290"/>
                                        </p:tgtEl>
                                        <p:attrNameLst>
                                          <p:attrName>style.visibility</p:attrName>
                                        </p:attrNameLst>
                                      </p:cBhvr>
                                      <p:to>
                                        <p:strVal val="visible"/>
                                      </p:to>
                                    </p:set>
                                    <p:animEffect transition="in" filter="dissolve">
                                      <p:cBhvr>
                                        <p:cTn id="7" dur="2000"/>
                                        <p:tgtEl>
                                          <p:spTgt spid="728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vert="horz" anchor="b">
            <a:normAutofit/>
          </a:bodyPr>
          <a:lstStyle/>
          <a:p>
            <a:r>
              <a:rPr lang="fr-FR" sz="2800" b="1" dirty="0">
                <a:solidFill>
                  <a:srgbClr val="C00000"/>
                </a:solidFill>
              </a:rPr>
              <a:t>Délégation d'autorité pour les zones</a:t>
            </a:r>
            <a:endParaRPr lang="en-US" sz="2700" b="1" dirty="0">
              <a:solidFill>
                <a:srgbClr val="C00000"/>
              </a:solidFill>
            </a:endParaRPr>
          </a:p>
        </p:txBody>
      </p:sp>
      <p:sp>
        <p:nvSpPr>
          <p:cNvPr id="813060" name="Oval 4"/>
          <p:cNvSpPr>
            <a:spLocks noChangeArrowheads="1"/>
          </p:cNvSpPr>
          <p:nvPr/>
        </p:nvSpPr>
        <p:spPr bwMode="auto">
          <a:xfrm>
            <a:off x="1679559" y="1443038"/>
            <a:ext cx="7305675" cy="4606925"/>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pPr>
              <a:defRPr/>
            </a:pPr>
            <a:endParaRPr lang="en-US"/>
          </a:p>
        </p:txBody>
      </p:sp>
      <p:sp>
        <p:nvSpPr>
          <p:cNvPr id="29700" name="Line 5"/>
          <p:cNvSpPr>
            <a:spLocks noChangeShapeType="1"/>
          </p:cNvSpPr>
          <p:nvPr/>
        </p:nvSpPr>
        <p:spPr bwMode="auto">
          <a:xfrm flipH="1">
            <a:off x="3959209" y="3419475"/>
            <a:ext cx="708025" cy="746125"/>
          </a:xfrm>
          <a:prstGeom prst="line">
            <a:avLst/>
          </a:prstGeom>
          <a:noFill/>
          <a:ln w="31750">
            <a:solidFill>
              <a:srgbClr val="4D4D4D"/>
            </a:solidFill>
            <a:round/>
            <a:headEnd/>
            <a:tailEnd/>
          </a:ln>
        </p:spPr>
        <p:txBody>
          <a:bodyPr wrap="none" lIns="45720" rIns="45720" anchor="ctr"/>
          <a:lstStyle/>
          <a:p>
            <a:endParaRPr lang="fr-FR"/>
          </a:p>
        </p:txBody>
      </p:sp>
      <p:sp>
        <p:nvSpPr>
          <p:cNvPr id="29701" name="Line 6"/>
          <p:cNvSpPr>
            <a:spLocks noChangeShapeType="1"/>
          </p:cNvSpPr>
          <p:nvPr/>
        </p:nvSpPr>
        <p:spPr bwMode="auto">
          <a:xfrm>
            <a:off x="6078522" y="3427413"/>
            <a:ext cx="790575" cy="681037"/>
          </a:xfrm>
          <a:prstGeom prst="line">
            <a:avLst/>
          </a:prstGeom>
          <a:noFill/>
          <a:ln w="31750">
            <a:solidFill>
              <a:srgbClr val="4D4D4D"/>
            </a:solidFill>
            <a:round/>
            <a:headEnd/>
            <a:tailEnd/>
          </a:ln>
        </p:spPr>
        <p:txBody>
          <a:bodyPr wrap="none" lIns="45720" rIns="45720" anchor="ctr"/>
          <a:lstStyle/>
          <a:p>
            <a:endParaRPr lang="fr-FR"/>
          </a:p>
        </p:txBody>
      </p:sp>
      <p:sp>
        <p:nvSpPr>
          <p:cNvPr id="29702" name="Oval 7"/>
          <p:cNvSpPr>
            <a:spLocks noChangeArrowheads="1"/>
          </p:cNvSpPr>
          <p:nvPr/>
        </p:nvSpPr>
        <p:spPr bwMode="auto">
          <a:xfrm>
            <a:off x="2438384" y="4168775"/>
            <a:ext cx="2590800" cy="1330325"/>
          </a:xfrm>
          <a:prstGeom prst="ellipse">
            <a:avLst/>
          </a:prstGeom>
          <a:solidFill>
            <a:schemeClr val="bg1">
              <a:alpha val="50195"/>
            </a:schemeClr>
          </a:solidFill>
          <a:ln w="28575">
            <a:solidFill>
              <a:srgbClr val="4D4D4D"/>
            </a:solidFill>
            <a:round/>
            <a:headEnd/>
            <a:tailEnd/>
          </a:ln>
        </p:spPr>
        <p:txBody>
          <a:bodyPr wrap="none" lIns="45720" rIns="45720" anchor="ctr"/>
          <a:lstStyle/>
          <a:p>
            <a:r>
              <a:rPr lang="en-US" b="1" dirty="0"/>
              <a:t>Training.</a:t>
            </a:r>
            <a:r>
              <a:rPr lang="en-GB" b="1" dirty="0">
                <a:solidFill>
                  <a:srgbClr val="000000"/>
                </a:solidFill>
              </a:rPr>
              <a:t> nwtraders.com</a:t>
            </a:r>
            <a:endParaRPr lang="en-US" b="1" dirty="0"/>
          </a:p>
        </p:txBody>
      </p:sp>
      <p:pic>
        <p:nvPicPr>
          <p:cNvPr id="29703" name="Picture 8" descr="Server01"/>
          <p:cNvPicPr>
            <a:picLocks noChangeAspect="1" noChangeArrowheads="1"/>
          </p:cNvPicPr>
          <p:nvPr/>
        </p:nvPicPr>
        <p:blipFill>
          <a:blip r:embed="rId5"/>
          <a:srcRect/>
          <a:stretch>
            <a:fillRect/>
          </a:stretch>
        </p:blipFill>
        <p:spPr bwMode="auto">
          <a:xfrm>
            <a:off x="2719372" y="3440113"/>
            <a:ext cx="1041400" cy="1223962"/>
          </a:xfrm>
          <a:prstGeom prst="rect">
            <a:avLst/>
          </a:prstGeom>
          <a:noFill/>
          <a:ln w="9525">
            <a:noFill/>
            <a:miter lim="800000"/>
            <a:headEnd/>
            <a:tailEnd/>
          </a:ln>
        </p:spPr>
      </p:pic>
      <p:sp>
        <p:nvSpPr>
          <p:cNvPr id="29704" name="Oval 9"/>
          <p:cNvSpPr>
            <a:spLocks noChangeArrowheads="1"/>
          </p:cNvSpPr>
          <p:nvPr/>
        </p:nvSpPr>
        <p:spPr bwMode="auto">
          <a:xfrm>
            <a:off x="5772134" y="4092575"/>
            <a:ext cx="2590800" cy="1330325"/>
          </a:xfrm>
          <a:prstGeom prst="ellipse">
            <a:avLst/>
          </a:prstGeom>
          <a:solidFill>
            <a:schemeClr val="bg1">
              <a:alpha val="50195"/>
            </a:schemeClr>
          </a:solidFill>
          <a:ln w="28575">
            <a:solidFill>
              <a:srgbClr val="4D4D4D"/>
            </a:solidFill>
            <a:round/>
            <a:headEnd/>
            <a:tailEnd/>
          </a:ln>
        </p:spPr>
        <p:txBody>
          <a:bodyPr wrap="none" lIns="45720" rIns="45720" anchor="ctr"/>
          <a:lstStyle/>
          <a:p>
            <a:r>
              <a:rPr lang="en-US" b="1" dirty="0"/>
              <a:t>Sales.</a:t>
            </a:r>
            <a:r>
              <a:rPr lang="en-GB" b="1" dirty="0">
                <a:solidFill>
                  <a:srgbClr val="000000"/>
                </a:solidFill>
              </a:rPr>
              <a:t> nwtraders.com</a:t>
            </a:r>
            <a:endParaRPr lang="en-US" b="1" dirty="0"/>
          </a:p>
        </p:txBody>
      </p:sp>
      <p:pic>
        <p:nvPicPr>
          <p:cNvPr id="29705" name="Picture 10" descr="Server01"/>
          <p:cNvPicPr>
            <a:picLocks noChangeAspect="1" noChangeArrowheads="1"/>
          </p:cNvPicPr>
          <p:nvPr/>
        </p:nvPicPr>
        <p:blipFill>
          <a:blip r:embed="rId5"/>
          <a:srcRect/>
          <a:stretch>
            <a:fillRect/>
          </a:stretch>
        </p:blipFill>
        <p:spPr bwMode="auto">
          <a:xfrm>
            <a:off x="6996097" y="3354388"/>
            <a:ext cx="1041400" cy="1223962"/>
          </a:xfrm>
          <a:prstGeom prst="rect">
            <a:avLst/>
          </a:prstGeom>
          <a:noFill/>
          <a:ln w="9525">
            <a:noFill/>
            <a:miter lim="800000"/>
            <a:headEnd/>
            <a:tailEnd/>
          </a:ln>
        </p:spPr>
      </p:pic>
      <p:sp>
        <p:nvSpPr>
          <p:cNvPr id="29706" name="Oval 11"/>
          <p:cNvSpPr>
            <a:spLocks noChangeArrowheads="1"/>
          </p:cNvSpPr>
          <p:nvPr/>
        </p:nvSpPr>
        <p:spPr bwMode="auto">
          <a:xfrm>
            <a:off x="4065572" y="2193925"/>
            <a:ext cx="2590800" cy="1330325"/>
          </a:xfrm>
          <a:prstGeom prst="ellipse">
            <a:avLst/>
          </a:prstGeom>
          <a:solidFill>
            <a:schemeClr val="bg1">
              <a:alpha val="50195"/>
            </a:schemeClr>
          </a:solidFill>
          <a:ln w="28575">
            <a:solidFill>
              <a:srgbClr val="4D4D4D"/>
            </a:solidFill>
            <a:round/>
            <a:headEnd/>
            <a:tailEnd/>
          </a:ln>
        </p:spPr>
        <p:txBody>
          <a:bodyPr wrap="none" lIns="45720" rIns="45720" anchor="ctr"/>
          <a:lstStyle/>
          <a:p>
            <a:r>
              <a:rPr lang="en-GB" b="1" dirty="0">
                <a:solidFill>
                  <a:srgbClr val="000000"/>
                </a:solidFill>
              </a:rPr>
              <a:t>nwtraders.com</a:t>
            </a:r>
            <a:endParaRPr lang="en-US" dirty="0"/>
          </a:p>
        </p:txBody>
      </p:sp>
      <p:pic>
        <p:nvPicPr>
          <p:cNvPr id="29707" name="Picture 12" descr="Server01"/>
          <p:cNvPicPr>
            <a:picLocks noChangeAspect="1" noChangeArrowheads="1"/>
          </p:cNvPicPr>
          <p:nvPr/>
        </p:nvPicPr>
        <p:blipFill>
          <a:blip r:embed="rId5"/>
          <a:srcRect/>
          <a:stretch>
            <a:fillRect/>
          </a:stretch>
        </p:blipFill>
        <p:spPr bwMode="auto">
          <a:xfrm>
            <a:off x="4806934" y="1327150"/>
            <a:ext cx="1041400" cy="1223963"/>
          </a:xfrm>
          <a:prstGeom prst="rect">
            <a:avLst/>
          </a:prstGeom>
          <a:noFill/>
          <a:ln w="9525">
            <a:noFill/>
            <a:miter lim="800000"/>
            <a:headEnd/>
            <a:tailEnd/>
          </a:ln>
        </p:spPr>
      </p:pic>
      <p:sp>
        <p:nvSpPr>
          <p:cNvPr id="12" name="AutoShape 4"/>
          <p:cNvSpPr>
            <a:spLocks noChangeArrowheads="1"/>
          </p:cNvSpPr>
          <p:nvPr>
            <p:custDataLst>
              <p:tags r:id="rId1"/>
            </p:custDataLst>
          </p:nvPr>
        </p:nvSpPr>
        <p:spPr bwMode="auto">
          <a:xfrm>
            <a:off x="188687" y="5625189"/>
            <a:ext cx="8723084" cy="1022353"/>
          </a:xfrm>
          <a:prstGeom prst="roundRect">
            <a:avLst>
              <a:gd name="adj" fmla="val 863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l">
              <a:lnSpc>
                <a:spcPct val="85000"/>
              </a:lnSpc>
            </a:pPr>
            <a:r>
              <a:rPr lang="en-GB" sz="2200" b="1" dirty="0" err="1">
                <a:solidFill>
                  <a:srgbClr val="000000"/>
                </a:solidFill>
              </a:rPr>
              <a:t>L'administrateur</a:t>
            </a:r>
            <a:r>
              <a:rPr lang="en-GB" sz="2200" b="1" dirty="0">
                <a:solidFill>
                  <a:srgbClr val="000000"/>
                </a:solidFill>
              </a:rPr>
              <a:t> du </a:t>
            </a:r>
            <a:r>
              <a:rPr lang="en-GB" sz="2200" b="1" dirty="0" err="1">
                <a:solidFill>
                  <a:srgbClr val="000000"/>
                </a:solidFill>
              </a:rPr>
              <a:t>niveau</a:t>
            </a:r>
            <a:r>
              <a:rPr lang="en-GB" sz="2200" b="1" dirty="0">
                <a:solidFill>
                  <a:srgbClr val="000000"/>
                </a:solidFill>
              </a:rPr>
              <a:t> nwtraders.com de </a:t>
            </a:r>
            <a:r>
              <a:rPr lang="en-GB" sz="2200" b="1" dirty="0" err="1">
                <a:solidFill>
                  <a:srgbClr val="000000"/>
                </a:solidFill>
              </a:rPr>
              <a:t>l'espace</a:t>
            </a:r>
            <a:r>
              <a:rPr lang="en-GB" sz="2200" b="1" dirty="0">
                <a:solidFill>
                  <a:srgbClr val="000000"/>
                </a:solidFill>
              </a:rPr>
              <a:t> de </a:t>
            </a:r>
            <a:r>
              <a:rPr lang="en-GB" sz="2200" b="1" dirty="0" err="1">
                <a:solidFill>
                  <a:srgbClr val="000000"/>
                </a:solidFill>
              </a:rPr>
              <a:t>noms</a:t>
            </a:r>
            <a:r>
              <a:rPr lang="en-GB" sz="2200" b="1" dirty="0">
                <a:solidFill>
                  <a:srgbClr val="000000"/>
                </a:solidFill>
              </a:rPr>
              <a:t> </a:t>
            </a:r>
            <a:r>
              <a:rPr lang="en-GB" sz="2200" b="1" dirty="0" err="1">
                <a:solidFill>
                  <a:srgbClr val="000000"/>
                </a:solidFill>
              </a:rPr>
              <a:t>délègue</a:t>
            </a:r>
            <a:r>
              <a:rPr lang="en-GB" sz="2200" b="1" dirty="0">
                <a:solidFill>
                  <a:srgbClr val="000000"/>
                </a:solidFill>
              </a:rPr>
              <a:t> </a:t>
            </a:r>
            <a:r>
              <a:rPr lang="en-GB" sz="2200" b="1" dirty="0" err="1">
                <a:solidFill>
                  <a:srgbClr val="000000"/>
                </a:solidFill>
              </a:rPr>
              <a:t>l'autorité</a:t>
            </a:r>
            <a:r>
              <a:rPr lang="en-GB" sz="2200" b="1" dirty="0">
                <a:solidFill>
                  <a:srgbClr val="000000"/>
                </a:solidFill>
              </a:rPr>
              <a:t> de Training.nwtraders.com</a:t>
            </a:r>
            <a:endParaRPr lang="en-US" sz="2200" b="1" dirty="0">
              <a:cs typeface="Arial" charset="0"/>
            </a:endParaRPr>
          </a:p>
        </p:txBody>
      </p:sp>
      <p:sp>
        <p:nvSpPr>
          <p:cNvPr id="13" name="AutoShape 22"/>
          <p:cNvSpPr>
            <a:spLocks noChangeArrowheads="1"/>
          </p:cNvSpPr>
          <p:nvPr>
            <p:custDataLst>
              <p:tags r:id="rId2"/>
            </p:custDataLst>
          </p:nvPr>
        </p:nvSpPr>
        <p:spPr bwMode="auto">
          <a:xfrm>
            <a:off x="174168" y="5612490"/>
            <a:ext cx="8694057" cy="1035053"/>
          </a:xfrm>
          <a:prstGeom prst="roundRect">
            <a:avLst>
              <a:gd name="adj" fmla="val 863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l">
              <a:lnSpc>
                <a:spcPct val="85000"/>
              </a:lnSpc>
            </a:pPr>
            <a:r>
              <a:rPr lang="en-GB" sz="2200" b="1" dirty="0">
                <a:solidFill>
                  <a:srgbClr val="000000"/>
                </a:solidFill>
              </a:rPr>
              <a:t>Training.nwtraders.com </a:t>
            </a:r>
            <a:r>
              <a:rPr lang="en-GB" sz="2200" b="1" dirty="0" err="1">
                <a:solidFill>
                  <a:srgbClr val="000000"/>
                </a:solidFill>
              </a:rPr>
              <a:t>possède</a:t>
            </a:r>
            <a:r>
              <a:rPr lang="en-GB" sz="2200" b="1" dirty="0">
                <a:solidFill>
                  <a:srgbClr val="000000"/>
                </a:solidFill>
              </a:rPr>
              <a:t> </a:t>
            </a:r>
            <a:r>
              <a:rPr lang="en-GB" sz="2200" b="1" dirty="0" err="1">
                <a:solidFill>
                  <a:srgbClr val="000000"/>
                </a:solidFill>
              </a:rPr>
              <a:t>donc</a:t>
            </a:r>
            <a:r>
              <a:rPr lang="en-GB" sz="2200" b="1" dirty="0">
                <a:solidFill>
                  <a:srgbClr val="000000"/>
                </a:solidFill>
              </a:rPr>
              <a:t> son </a:t>
            </a:r>
            <a:r>
              <a:rPr lang="en-GB" sz="2200" b="1" dirty="0" err="1">
                <a:solidFill>
                  <a:srgbClr val="000000"/>
                </a:solidFill>
              </a:rPr>
              <a:t>propre</a:t>
            </a:r>
            <a:r>
              <a:rPr lang="en-GB" sz="2200" b="1" dirty="0">
                <a:solidFill>
                  <a:srgbClr val="000000"/>
                </a:solidFill>
              </a:rPr>
              <a:t> </a:t>
            </a:r>
            <a:r>
              <a:rPr lang="en-GB" sz="2200" b="1" dirty="0" err="1">
                <a:solidFill>
                  <a:srgbClr val="000000"/>
                </a:solidFill>
              </a:rPr>
              <a:t>administrateur</a:t>
            </a:r>
            <a:r>
              <a:rPr lang="en-GB" sz="2200" b="1" dirty="0">
                <a:solidFill>
                  <a:srgbClr val="000000"/>
                </a:solidFill>
              </a:rPr>
              <a:t> </a:t>
            </a:r>
            <a:r>
              <a:rPr lang="en-GB" sz="2200" b="1" dirty="0" err="1">
                <a:solidFill>
                  <a:srgbClr val="000000"/>
                </a:solidFill>
              </a:rPr>
              <a:t>ainsi</a:t>
            </a:r>
            <a:r>
              <a:rPr lang="en-GB" sz="2200" b="1" dirty="0">
                <a:solidFill>
                  <a:srgbClr val="000000"/>
                </a:solidFill>
              </a:rPr>
              <a:t> </a:t>
            </a:r>
            <a:r>
              <a:rPr lang="en-GB" sz="2200" b="1" dirty="0" err="1">
                <a:solidFill>
                  <a:srgbClr val="000000"/>
                </a:solidFill>
              </a:rPr>
              <a:t>qu'un</a:t>
            </a:r>
            <a:r>
              <a:rPr lang="en-GB" sz="2200" b="1" dirty="0">
                <a:solidFill>
                  <a:srgbClr val="000000"/>
                </a:solidFill>
              </a:rPr>
              <a:t> </a:t>
            </a:r>
            <a:r>
              <a:rPr lang="en-GB" sz="2200" b="1" dirty="0" err="1">
                <a:solidFill>
                  <a:srgbClr val="000000"/>
                </a:solidFill>
              </a:rPr>
              <a:t>serveur</a:t>
            </a:r>
            <a:r>
              <a:rPr lang="en-GB" sz="2200" b="1" dirty="0">
                <a:solidFill>
                  <a:srgbClr val="000000"/>
                </a:solidFill>
              </a:rPr>
              <a:t> DNS pour </a:t>
            </a:r>
            <a:r>
              <a:rPr lang="en-GB" sz="2200" b="1" dirty="0" err="1">
                <a:solidFill>
                  <a:srgbClr val="000000"/>
                </a:solidFill>
              </a:rPr>
              <a:t>résoudre</a:t>
            </a:r>
            <a:r>
              <a:rPr lang="en-GB" sz="2200" b="1" dirty="0">
                <a:solidFill>
                  <a:srgbClr val="000000"/>
                </a:solidFill>
              </a:rPr>
              <a:t> les </a:t>
            </a:r>
            <a:r>
              <a:rPr lang="en-GB" sz="2200" b="1" dirty="0" err="1">
                <a:solidFill>
                  <a:srgbClr val="000000"/>
                </a:solidFill>
              </a:rPr>
              <a:t>requêtes</a:t>
            </a:r>
            <a:r>
              <a:rPr lang="en-GB" sz="2200" b="1" dirty="0">
                <a:solidFill>
                  <a:srgbClr val="000000"/>
                </a:solidFill>
              </a:rPr>
              <a:t> </a:t>
            </a:r>
            <a:r>
              <a:rPr lang="en-GB" sz="2200" b="1" dirty="0" err="1">
                <a:solidFill>
                  <a:srgbClr val="000000"/>
                </a:solidFill>
              </a:rPr>
              <a:t>dans</a:t>
            </a:r>
            <a:r>
              <a:rPr lang="en-GB" sz="2200" b="1" dirty="0">
                <a:solidFill>
                  <a:srgbClr val="000000"/>
                </a:solidFill>
              </a:rPr>
              <a:t> </a:t>
            </a:r>
            <a:r>
              <a:rPr lang="en-GB" sz="2200" b="1" dirty="0" err="1">
                <a:solidFill>
                  <a:srgbClr val="000000"/>
                </a:solidFill>
              </a:rPr>
              <a:t>cette</a:t>
            </a:r>
            <a:r>
              <a:rPr lang="en-GB" sz="2200" b="1" dirty="0">
                <a:solidFill>
                  <a:srgbClr val="000000"/>
                </a:solidFill>
              </a:rPr>
              <a:t> </a:t>
            </a:r>
            <a:r>
              <a:rPr lang="en-GB" sz="2200" b="1" dirty="0" err="1">
                <a:solidFill>
                  <a:srgbClr val="000000"/>
                </a:solidFill>
              </a:rPr>
              <a:t>partie</a:t>
            </a:r>
            <a:r>
              <a:rPr lang="en-GB" sz="2200" b="1" dirty="0">
                <a:solidFill>
                  <a:srgbClr val="000000"/>
                </a:solidFill>
              </a:rPr>
              <a:t> de </a:t>
            </a:r>
            <a:r>
              <a:rPr lang="en-GB" sz="2200" b="1" dirty="0" err="1">
                <a:solidFill>
                  <a:srgbClr val="000000"/>
                </a:solidFill>
              </a:rPr>
              <a:t>l'espace</a:t>
            </a:r>
            <a:r>
              <a:rPr lang="en-GB" sz="2200" b="1" dirty="0">
                <a:solidFill>
                  <a:srgbClr val="000000"/>
                </a:solidFill>
              </a:rPr>
              <a:t> de </a:t>
            </a:r>
            <a:r>
              <a:rPr lang="en-GB" sz="2200" b="1" dirty="0" err="1">
                <a:solidFill>
                  <a:srgbClr val="000000"/>
                </a:solidFill>
              </a:rPr>
              <a:t>noms</a:t>
            </a:r>
            <a:r>
              <a:rPr lang="en-GB" sz="2200" b="1" dirty="0">
                <a:solidFill>
                  <a:srgbClr val="000000"/>
                </a:solidFill>
              </a:rPr>
              <a:t>.</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2000" fill="hold"/>
                                        <p:tgtEl>
                                          <p:spTgt spid="13"/>
                                        </p:tgtEl>
                                        <p:attrNameLst>
                                          <p:attrName>ppt_x</p:attrName>
                                        </p:attrNameLst>
                                      </p:cBhvr>
                                      <p:tavLst>
                                        <p:tav tm="0">
                                          <p:val>
                                            <p:strVal val="0-#ppt_w/2"/>
                                          </p:val>
                                        </p:tav>
                                        <p:tav tm="100000">
                                          <p:val>
                                            <p:strVal val="#ppt_x"/>
                                          </p:val>
                                        </p:tav>
                                      </p:tavLst>
                                    </p:anim>
                                    <p:anim calcmode="lin" valueType="num">
                                      <p:cBhvr additive="base">
                                        <p:cTn id="14" dur="2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custDataLst>
              <p:tags r:id="rId1"/>
            </p:custDataLst>
          </p:nvPr>
        </p:nvSpPr>
        <p:spPr>
          <a:xfrm>
            <a:off x="174168" y="310017"/>
            <a:ext cx="8781143" cy="778554"/>
          </a:xfrm>
        </p:spPr>
        <p:txBody>
          <a:bodyPr>
            <a:normAutofit fontScale="90000"/>
          </a:bodyPr>
          <a:lstStyle/>
          <a:p>
            <a:pPr marL="460375" indent="-460375"/>
            <a:r>
              <a:rPr lang="fr-FR" b="1">
                <a:solidFill>
                  <a:srgbClr val="000000"/>
                </a:solidFill>
              </a:rPr>
              <a:t>4. </a:t>
            </a:r>
            <a:r>
              <a:rPr lang="en-GB" b="1">
                <a:solidFill>
                  <a:srgbClr val="000000"/>
                </a:solidFill>
              </a:rPr>
              <a:t>Configuration des </a:t>
            </a:r>
            <a:r>
              <a:rPr lang="en-GB" b="1" err="1">
                <a:solidFill>
                  <a:srgbClr val="000000"/>
                </a:solidFill>
              </a:rPr>
              <a:t>transferts</a:t>
            </a:r>
            <a:r>
              <a:rPr lang="en-GB" b="1">
                <a:solidFill>
                  <a:srgbClr val="000000"/>
                </a:solidFill>
              </a:rPr>
              <a:t> de zone DNS</a:t>
            </a:r>
            <a:endParaRPr lang="en-US" b="1">
              <a:solidFill>
                <a:srgbClr val="000000"/>
              </a:solidFill>
            </a:endParaRPr>
          </a:p>
        </p:txBody>
      </p:sp>
      <p:sp>
        <p:nvSpPr>
          <p:cNvPr id="701443" name="Rectangle 3"/>
          <p:cNvSpPr>
            <a:spLocks noGrp="1" noChangeArrowheads="1"/>
          </p:cNvSpPr>
          <p:nvPr>
            <p:ph sz="quarter" idx="1"/>
            <p:custDataLst>
              <p:tags r:id="rId2"/>
            </p:custDataLst>
          </p:nvPr>
        </p:nvSpPr>
        <p:spPr>
          <a:xfrm>
            <a:off x="214666" y="2397905"/>
            <a:ext cx="8503920" cy="1854781"/>
          </a:xfrm>
        </p:spPr>
        <p:txBody>
          <a:bodyPr>
            <a:normAutofit/>
          </a:bodyPr>
          <a:lstStyle/>
          <a:p>
            <a:pPr>
              <a:buClrTx/>
              <a:buFont typeface="Symbol" pitchFamily="18" charset="2"/>
              <a:buChar char=""/>
            </a:pPr>
            <a:r>
              <a:rPr lang="en-GB" sz="2800" dirty="0" err="1">
                <a:solidFill>
                  <a:srgbClr val="000000"/>
                </a:solidFill>
              </a:rPr>
              <a:t>Fonctionnement</a:t>
            </a:r>
            <a:r>
              <a:rPr lang="en-GB" sz="2800" dirty="0">
                <a:solidFill>
                  <a:srgbClr val="000000"/>
                </a:solidFill>
              </a:rPr>
              <a:t> des </a:t>
            </a:r>
            <a:r>
              <a:rPr lang="en-GB" sz="2800" dirty="0" err="1">
                <a:solidFill>
                  <a:srgbClr val="000000"/>
                </a:solidFill>
              </a:rPr>
              <a:t>transferts</a:t>
            </a:r>
            <a:r>
              <a:rPr lang="en-GB" sz="2800" dirty="0">
                <a:solidFill>
                  <a:srgbClr val="000000"/>
                </a:solidFill>
              </a:rPr>
              <a:t> de zone DNS</a:t>
            </a:r>
            <a:endParaRPr lang="en-US" sz="2800" dirty="0"/>
          </a:p>
          <a:p>
            <a:pPr>
              <a:buClrTx/>
              <a:buFont typeface="Symbol" pitchFamily="18" charset="2"/>
              <a:buChar char=""/>
            </a:pPr>
            <a:r>
              <a:rPr lang="en-GB" sz="2800" dirty="0" err="1">
                <a:solidFill>
                  <a:srgbClr val="000000"/>
                </a:solidFill>
              </a:rPr>
              <a:t>Fonctionnement</a:t>
            </a:r>
            <a:r>
              <a:rPr lang="en-GB" sz="2800" dirty="0">
                <a:solidFill>
                  <a:srgbClr val="000000"/>
                </a:solidFill>
              </a:rPr>
              <a:t> de DNS Notify</a:t>
            </a:r>
            <a:endParaRPr lang="en-US" sz="2800" dirty="0"/>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27</a:t>
            </a:fld>
            <a:endParaRPr kumimoji="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6" name="Rectangle 4"/>
          <p:cNvSpPr>
            <a:spLocks noGrp="1" noChangeArrowheads="1"/>
          </p:cNvSpPr>
          <p:nvPr>
            <p:ph type="title"/>
            <p:custDataLst>
              <p:tags r:id="rId1"/>
            </p:custDataLst>
          </p:nvPr>
        </p:nvSpPr>
        <p:spPr>
          <a:xfrm>
            <a:off x="301752" y="58056"/>
            <a:ext cx="8534400" cy="758952"/>
          </a:xfrm>
        </p:spPr>
        <p:txBody>
          <a:bodyPr vert="horz" anchor="b">
            <a:normAutofit fontScale="90000"/>
          </a:bodyPr>
          <a:lstStyle/>
          <a:p>
            <a:r>
              <a:rPr lang="fr-FR" sz="3000" b="1">
                <a:solidFill>
                  <a:srgbClr val="C00000"/>
                </a:solidFill>
              </a:rPr>
              <a:t>Fonctionnement des transferts de zone DNS</a:t>
            </a:r>
            <a:endParaRPr lang="en-US" sz="3000" b="1">
              <a:solidFill>
                <a:srgbClr val="C00000"/>
              </a:solidFill>
            </a:endParaRPr>
          </a:p>
        </p:txBody>
      </p:sp>
      <p:sp>
        <p:nvSpPr>
          <p:cNvPr id="750664" name="Oval 72"/>
          <p:cNvSpPr>
            <a:spLocks noChangeArrowheads="1"/>
          </p:cNvSpPr>
          <p:nvPr/>
        </p:nvSpPr>
        <p:spPr bwMode="auto">
          <a:xfrm>
            <a:off x="454025" y="4391025"/>
            <a:ext cx="207962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pic>
        <p:nvPicPr>
          <p:cNvPr id="750665" name="Picture 73" descr="Server01"/>
          <p:cNvPicPr>
            <a:picLocks noChangeAspect="1" noChangeArrowheads="1"/>
          </p:cNvPicPr>
          <p:nvPr/>
        </p:nvPicPr>
        <p:blipFill>
          <a:blip r:embed="rId4"/>
          <a:srcRect/>
          <a:stretch>
            <a:fillRect/>
          </a:stretch>
        </p:blipFill>
        <p:spPr bwMode="auto">
          <a:xfrm>
            <a:off x="418512" y="2917371"/>
            <a:ext cx="1864313" cy="2189617"/>
          </a:xfrm>
          <a:prstGeom prst="rect">
            <a:avLst/>
          </a:prstGeom>
          <a:noFill/>
        </p:spPr>
      </p:pic>
      <p:sp>
        <p:nvSpPr>
          <p:cNvPr id="750666" name="Text Box 74"/>
          <p:cNvSpPr txBox="1">
            <a:spLocks noChangeArrowheads="1"/>
          </p:cNvSpPr>
          <p:nvPr/>
        </p:nvSpPr>
        <p:spPr bwMode="auto">
          <a:xfrm>
            <a:off x="958850" y="5200650"/>
            <a:ext cx="1519968" cy="830997"/>
          </a:xfrm>
          <a:prstGeom prst="rect">
            <a:avLst/>
          </a:prstGeom>
          <a:noFill/>
          <a:ln w="9525" algn="ctr">
            <a:noFill/>
            <a:miter lim="800000"/>
            <a:headEnd/>
            <a:tailEnd/>
          </a:ln>
          <a:effectLst/>
        </p:spPr>
        <p:txBody>
          <a:bodyPr wrap="none">
            <a:spAutoFit/>
          </a:bodyPr>
          <a:lstStyle/>
          <a:p>
            <a:r>
              <a:rPr lang="en-US" sz="2400" b="1" err="1"/>
              <a:t>Serveur</a:t>
            </a:r>
            <a:br>
              <a:rPr lang="en-US" sz="2400" b="1"/>
            </a:br>
            <a:r>
              <a:rPr lang="en-US" sz="2400" b="1" err="1"/>
              <a:t>secondaire</a:t>
            </a:r>
            <a:endParaRPr lang="en-US" sz="2400" b="1"/>
          </a:p>
        </p:txBody>
      </p:sp>
      <p:sp>
        <p:nvSpPr>
          <p:cNvPr id="750667" name="Text Box 75"/>
          <p:cNvSpPr txBox="1">
            <a:spLocks noChangeArrowheads="1"/>
          </p:cNvSpPr>
          <p:nvPr/>
        </p:nvSpPr>
        <p:spPr bwMode="auto">
          <a:xfrm>
            <a:off x="7110413" y="5237163"/>
            <a:ext cx="1423987" cy="1200329"/>
          </a:xfrm>
          <a:prstGeom prst="rect">
            <a:avLst/>
          </a:prstGeom>
          <a:noFill/>
          <a:ln w="9525" algn="ctr">
            <a:noFill/>
            <a:miter lim="800000"/>
            <a:headEnd/>
            <a:tailEnd/>
          </a:ln>
          <a:effectLst/>
        </p:spPr>
        <p:txBody>
          <a:bodyPr wrap="square">
            <a:spAutoFit/>
          </a:bodyPr>
          <a:lstStyle/>
          <a:p>
            <a:r>
              <a:rPr lang="en-US" sz="2400" b="1" err="1"/>
              <a:t>Serveur</a:t>
            </a:r>
            <a:br>
              <a:rPr lang="en-US" sz="2400" b="1"/>
            </a:br>
            <a:r>
              <a:rPr lang="en-US" sz="2400" b="1"/>
              <a:t>principal</a:t>
            </a:r>
          </a:p>
          <a:p>
            <a:r>
              <a:rPr lang="en-US" sz="2400" b="1"/>
              <a:t>et maître</a:t>
            </a:r>
          </a:p>
        </p:txBody>
      </p:sp>
      <p:sp>
        <p:nvSpPr>
          <p:cNvPr id="750668" name="Text Box 76"/>
          <p:cNvSpPr txBox="1">
            <a:spLocks noChangeArrowheads="1"/>
          </p:cNvSpPr>
          <p:nvPr/>
        </p:nvSpPr>
        <p:spPr bwMode="auto">
          <a:xfrm>
            <a:off x="2888346" y="2989263"/>
            <a:ext cx="3014351" cy="400110"/>
          </a:xfrm>
          <a:prstGeom prst="rect">
            <a:avLst/>
          </a:prstGeom>
          <a:noFill/>
          <a:ln w="9525" algn="ctr">
            <a:noFill/>
            <a:miter lim="800000"/>
            <a:headEnd/>
            <a:tailEnd/>
          </a:ln>
          <a:effectLst/>
        </p:spPr>
        <p:txBody>
          <a:bodyPr wrap="none">
            <a:spAutoFit/>
          </a:bodyPr>
          <a:lstStyle/>
          <a:p>
            <a:pPr algn="l"/>
            <a:r>
              <a:rPr lang="fr-FR" sz="2000" b="1"/>
              <a:t>Requête SOA pour une zone</a:t>
            </a:r>
          </a:p>
        </p:txBody>
      </p:sp>
      <p:sp>
        <p:nvSpPr>
          <p:cNvPr id="750669" name="Text Box 77"/>
          <p:cNvSpPr txBox="1">
            <a:spLocks noChangeArrowheads="1"/>
          </p:cNvSpPr>
          <p:nvPr/>
        </p:nvSpPr>
        <p:spPr bwMode="auto">
          <a:xfrm>
            <a:off x="2872245" y="3559175"/>
            <a:ext cx="2862066" cy="400110"/>
          </a:xfrm>
          <a:prstGeom prst="rect">
            <a:avLst/>
          </a:prstGeom>
          <a:noFill/>
          <a:ln w="9525" algn="ctr">
            <a:noFill/>
            <a:miter lim="800000"/>
            <a:headEnd/>
            <a:tailEnd/>
          </a:ln>
          <a:effectLst/>
        </p:spPr>
        <p:txBody>
          <a:bodyPr wrap="none">
            <a:spAutoFit/>
          </a:bodyPr>
          <a:lstStyle/>
          <a:p>
            <a:pPr algn="l"/>
            <a:r>
              <a:rPr lang="fr-FR" sz="2000" b="1"/>
              <a:t>Réponse à la requête SOA </a:t>
            </a:r>
          </a:p>
        </p:txBody>
      </p:sp>
      <p:sp>
        <p:nvSpPr>
          <p:cNvPr id="750670" name="Text Box 78"/>
          <p:cNvSpPr txBox="1">
            <a:spLocks noChangeArrowheads="1"/>
          </p:cNvSpPr>
          <p:nvPr/>
        </p:nvSpPr>
        <p:spPr bwMode="auto">
          <a:xfrm>
            <a:off x="2835053" y="4125913"/>
            <a:ext cx="3982565" cy="400110"/>
          </a:xfrm>
          <a:prstGeom prst="rect">
            <a:avLst/>
          </a:prstGeom>
          <a:noFill/>
          <a:ln w="9525" algn="ctr">
            <a:noFill/>
            <a:miter lim="800000"/>
            <a:headEnd/>
            <a:tailEnd/>
          </a:ln>
          <a:effectLst/>
        </p:spPr>
        <p:txBody>
          <a:bodyPr wrap="none">
            <a:spAutoFit/>
          </a:bodyPr>
          <a:lstStyle/>
          <a:p>
            <a:pPr algn="l"/>
            <a:r>
              <a:rPr lang="fr-FR" sz="2000" b="1"/>
              <a:t>Requête IXFR ou AXFR pour une zone</a:t>
            </a:r>
          </a:p>
        </p:txBody>
      </p:sp>
      <p:sp>
        <p:nvSpPr>
          <p:cNvPr id="750671" name="Text Box 79"/>
          <p:cNvSpPr txBox="1">
            <a:spLocks noChangeArrowheads="1"/>
          </p:cNvSpPr>
          <p:nvPr/>
        </p:nvSpPr>
        <p:spPr bwMode="auto">
          <a:xfrm>
            <a:off x="2839589" y="4616450"/>
            <a:ext cx="3772571" cy="822276"/>
          </a:xfrm>
          <a:prstGeom prst="rect">
            <a:avLst/>
          </a:prstGeom>
          <a:noFill/>
          <a:ln w="9525" algn="ctr">
            <a:noFill/>
            <a:miter lim="800000"/>
            <a:headEnd/>
            <a:tailEnd/>
          </a:ln>
          <a:effectLst/>
        </p:spPr>
        <p:txBody>
          <a:bodyPr wrap="none">
            <a:spAutoFit/>
          </a:bodyPr>
          <a:lstStyle/>
          <a:p>
            <a:pPr>
              <a:lnSpc>
                <a:spcPct val="125000"/>
              </a:lnSpc>
            </a:pPr>
            <a:r>
              <a:rPr lang="fr-FR" sz="2000" b="1"/>
              <a:t>Réponse à la requête IXFR ou AXFR</a:t>
            </a:r>
          </a:p>
          <a:p>
            <a:pPr>
              <a:lnSpc>
                <a:spcPct val="125000"/>
              </a:lnSpc>
            </a:pPr>
            <a:r>
              <a:rPr lang="en-US" sz="2000" b="1"/>
              <a:t>(</a:t>
            </a:r>
            <a:r>
              <a:rPr lang="en-US" sz="2000" b="1" err="1"/>
              <a:t>transfert</a:t>
            </a:r>
            <a:r>
              <a:rPr lang="en-US" sz="2000" b="1"/>
              <a:t> de zone)</a:t>
            </a:r>
          </a:p>
        </p:txBody>
      </p:sp>
      <p:sp>
        <p:nvSpPr>
          <p:cNvPr id="750672" name="AutoShape 80"/>
          <p:cNvSpPr>
            <a:spLocks noChangeArrowheads="1"/>
          </p:cNvSpPr>
          <p:nvPr/>
        </p:nvSpPr>
        <p:spPr bwMode="auto">
          <a:xfrm>
            <a:off x="188686" y="1438733"/>
            <a:ext cx="8766628" cy="1304468"/>
          </a:xfrm>
          <a:prstGeom prst="roundRect">
            <a:avLst>
              <a:gd name="adj" fmla="val 25468"/>
            </a:avLst>
          </a:prstGeom>
          <a:solidFill>
            <a:srgbClr val="002060"/>
          </a:solidFill>
          <a:ln>
            <a:headEnd/>
            <a:tailEnd/>
          </a:ln>
        </p:spPr>
        <p:style>
          <a:lnRef idx="1">
            <a:schemeClr val="accent2"/>
          </a:lnRef>
          <a:fillRef idx="3">
            <a:schemeClr val="accent2"/>
          </a:fillRef>
          <a:effectRef idx="2">
            <a:schemeClr val="accent2"/>
          </a:effectRef>
          <a:fontRef idx="minor">
            <a:schemeClr val="lt1"/>
          </a:fontRef>
        </p:style>
        <p:txBody>
          <a:bodyPr anchor="ctr"/>
          <a:lstStyle/>
          <a:p>
            <a:pPr algn="l" eaLnBrk="1" hangingPunct="1">
              <a:lnSpc>
                <a:spcPct val="150000"/>
              </a:lnSpc>
            </a:pPr>
            <a:r>
              <a:rPr lang="fr-FR" sz="2200" b="1"/>
              <a:t>Un </a:t>
            </a:r>
            <a:r>
              <a:rPr lang="fr-FR" sz="2200" b="1" i="1"/>
              <a:t>transfert de zone DNS</a:t>
            </a:r>
            <a:r>
              <a:rPr lang="fr-FR" sz="2200" b="1"/>
              <a:t> est la synchronisation entre serveurs DNS des données de zone DNS faisant autorité</a:t>
            </a:r>
          </a:p>
        </p:txBody>
      </p:sp>
      <p:sp>
        <p:nvSpPr>
          <p:cNvPr id="750673" name="Oval 81"/>
          <p:cNvSpPr>
            <a:spLocks noChangeArrowheads="1"/>
          </p:cNvSpPr>
          <p:nvPr/>
        </p:nvSpPr>
        <p:spPr bwMode="auto">
          <a:xfrm>
            <a:off x="6483350" y="4391025"/>
            <a:ext cx="207962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pic>
        <p:nvPicPr>
          <p:cNvPr id="750674" name="Picture 82" descr="Server01"/>
          <p:cNvPicPr>
            <a:picLocks noChangeAspect="1" noChangeArrowheads="1"/>
          </p:cNvPicPr>
          <p:nvPr/>
        </p:nvPicPr>
        <p:blipFill>
          <a:blip r:embed="rId4"/>
          <a:srcRect/>
          <a:stretch>
            <a:fillRect/>
          </a:stretch>
        </p:blipFill>
        <p:spPr bwMode="auto">
          <a:xfrm>
            <a:off x="6738938" y="2810720"/>
            <a:ext cx="1955119" cy="2296268"/>
          </a:xfrm>
          <a:prstGeom prst="rect">
            <a:avLst/>
          </a:prstGeom>
          <a:noFill/>
        </p:spPr>
      </p:pic>
      <p:sp>
        <p:nvSpPr>
          <p:cNvPr id="750675" name="Line 83"/>
          <p:cNvSpPr>
            <a:spLocks noChangeShapeType="1"/>
          </p:cNvSpPr>
          <p:nvPr/>
        </p:nvSpPr>
        <p:spPr bwMode="auto">
          <a:xfrm>
            <a:off x="2358574" y="3355975"/>
            <a:ext cx="4124325" cy="0"/>
          </a:xfrm>
          <a:prstGeom prst="line">
            <a:avLst/>
          </a:prstGeom>
          <a:noFill/>
          <a:ln w="50800">
            <a:solidFill>
              <a:srgbClr val="CC0000"/>
            </a:solidFill>
            <a:round/>
            <a:headEnd/>
            <a:tailEnd type="triangle" w="med" len="med"/>
          </a:ln>
          <a:effectLst/>
        </p:spPr>
        <p:txBody>
          <a:bodyPr anchor="ctr"/>
          <a:lstStyle/>
          <a:p>
            <a:endParaRPr lang="fr-FR"/>
          </a:p>
        </p:txBody>
      </p:sp>
      <p:sp>
        <p:nvSpPr>
          <p:cNvPr id="750676" name="Line 84"/>
          <p:cNvSpPr>
            <a:spLocks noChangeShapeType="1"/>
          </p:cNvSpPr>
          <p:nvPr/>
        </p:nvSpPr>
        <p:spPr bwMode="auto">
          <a:xfrm flipH="1">
            <a:off x="2358574" y="3913188"/>
            <a:ext cx="4110038" cy="0"/>
          </a:xfrm>
          <a:prstGeom prst="line">
            <a:avLst/>
          </a:prstGeom>
          <a:noFill/>
          <a:ln w="50800">
            <a:solidFill>
              <a:srgbClr val="CC0000"/>
            </a:solidFill>
            <a:round/>
            <a:headEnd/>
            <a:tailEnd type="triangle" w="med" len="med"/>
          </a:ln>
          <a:effectLst/>
        </p:spPr>
        <p:txBody>
          <a:bodyPr anchor="ctr"/>
          <a:lstStyle/>
          <a:p>
            <a:endParaRPr lang="fr-FR"/>
          </a:p>
        </p:txBody>
      </p:sp>
      <p:sp>
        <p:nvSpPr>
          <p:cNvPr id="750677" name="Line 85"/>
          <p:cNvSpPr>
            <a:spLocks noChangeShapeType="1"/>
          </p:cNvSpPr>
          <p:nvPr/>
        </p:nvSpPr>
        <p:spPr bwMode="auto">
          <a:xfrm>
            <a:off x="2358574" y="4471988"/>
            <a:ext cx="4138613" cy="0"/>
          </a:xfrm>
          <a:prstGeom prst="line">
            <a:avLst/>
          </a:prstGeom>
          <a:noFill/>
          <a:ln w="50800">
            <a:solidFill>
              <a:srgbClr val="CC0000"/>
            </a:solidFill>
            <a:round/>
            <a:headEnd/>
            <a:tailEnd type="triangle" w="med" len="med"/>
          </a:ln>
          <a:effectLst/>
        </p:spPr>
        <p:txBody>
          <a:bodyPr anchor="ctr"/>
          <a:lstStyle/>
          <a:p>
            <a:endParaRPr lang="fr-FR"/>
          </a:p>
        </p:txBody>
      </p:sp>
      <p:sp>
        <p:nvSpPr>
          <p:cNvPr id="750678" name="Line 86"/>
          <p:cNvSpPr>
            <a:spLocks noChangeShapeType="1"/>
          </p:cNvSpPr>
          <p:nvPr/>
        </p:nvSpPr>
        <p:spPr bwMode="auto">
          <a:xfrm flipH="1">
            <a:off x="2358574" y="5030788"/>
            <a:ext cx="4110038" cy="0"/>
          </a:xfrm>
          <a:prstGeom prst="line">
            <a:avLst/>
          </a:prstGeom>
          <a:noFill/>
          <a:ln w="50800">
            <a:solidFill>
              <a:srgbClr val="CC0000"/>
            </a:solidFill>
            <a:round/>
            <a:headEnd/>
            <a:tailEnd type="triangle" w="med" len="med"/>
          </a:ln>
          <a:effectLst/>
        </p:spPr>
        <p:txBody>
          <a:bodyPr anchor="ctr"/>
          <a:lstStyle/>
          <a:p>
            <a:endParaRPr lang="fr-FR"/>
          </a:p>
        </p:txBody>
      </p:sp>
      <p:grpSp>
        <p:nvGrpSpPr>
          <p:cNvPr id="750679" name="Group 87"/>
          <p:cNvGrpSpPr>
            <a:grpSpLocks/>
          </p:cNvGrpSpPr>
          <p:nvPr/>
        </p:nvGrpSpPr>
        <p:grpSpPr bwMode="auto">
          <a:xfrm>
            <a:off x="609600" y="6051550"/>
            <a:ext cx="914400" cy="425450"/>
            <a:chOff x="384" y="3024"/>
            <a:chExt cx="720" cy="336"/>
          </a:xfrm>
        </p:grpSpPr>
        <p:sp>
          <p:nvSpPr>
            <p:cNvPr id="750680" name="Oval 88"/>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50681" name="Group 89"/>
            <p:cNvGrpSpPr>
              <a:grpSpLocks/>
            </p:cNvGrpSpPr>
            <p:nvPr/>
          </p:nvGrpSpPr>
          <p:grpSpPr bwMode="auto">
            <a:xfrm>
              <a:off x="480" y="3096"/>
              <a:ext cx="240" cy="192"/>
              <a:chOff x="480" y="3096"/>
              <a:chExt cx="240" cy="192"/>
            </a:xfrm>
          </p:grpSpPr>
          <p:sp>
            <p:nvSpPr>
              <p:cNvPr id="750682" name="Oval 90"/>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50683" name="Freeform 91"/>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50684" name="Group 92"/>
          <p:cNvGrpSpPr>
            <a:grpSpLocks/>
          </p:cNvGrpSpPr>
          <p:nvPr/>
        </p:nvGrpSpPr>
        <p:grpSpPr bwMode="auto">
          <a:xfrm>
            <a:off x="1096963" y="6142038"/>
            <a:ext cx="304800" cy="244475"/>
            <a:chOff x="768" y="3096"/>
            <a:chExt cx="240" cy="192"/>
          </a:xfrm>
        </p:grpSpPr>
        <p:sp>
          <p:nvSpPr>
            <p:cNvPr id="750685" name="Oval 93"/>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50686" name="Rectangle 94"/>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750687" name="AutoShape 95"/>
          <p:cNvSpPr>
            <a:spLocks noChangeArrowheads="1"/>
          </p:cNvSpPr>
          <p:nvPr/>
        </p:nvSpPr>
        <p:spPr bwMode="auto">
          <a:xfrm>
            <a:off x="2535468" y="303212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sp>
        <p:nvSpPr>
          <p:cNvPr id="750688" name="AutoShape 96"/>
          <p:cNvSpPr>
            <a:spLocks noChangeArrowheads="1"/>
          </p:cNvSpPr>
          <p:nvPr/>
        </p:nvSpPr>
        <p:spPr bwMode="auto">
          <a:xfrm>
            <a:off x="2549982" y="359727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750689" name="AutoShape 97"/>
          <p:cNvSpPr>
            <a:spLocks noChangeArrowheads="1"/>
          </p:cNvSpPr>
          <p:nvPr/>
        </p:nvSpPr>
        <p:spPr bwMode="auto">
          <a:xfrm>
            <a:off x="2520954" y="4164013"/>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750690" name="AutoShape 98"/>
          <p:cNvSpPr>
            <a:spLocks noChangeArrowheads="1"/>
          </p:cNvSpPr>
          <p:nvPr/>
        </p:nvSpPr>
        <p:spPr bwMode="auto">
          <a:xfrm>
            <a:off x="2535468" y="4730750"/>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4</a:t>
            </a:r>
          </a:p>
        </p:txBody>
      </p:sp>
      <p:sp>
        <p:nvSpPr>
          <p:cNvPr id="31" name="Espace réservé du numéro de diapositive 30"/>
          <p:cNvSpPr>
            <a:spLocks noGrp="1"/>
          </p:cNvSpPr>
          <p:nvPr>
            <p:ph type="sldNum" sz="quarter" idx="12"/>
          </p:nvPr>
        </p:nvSpPr>
        <p:spPr/>
        <p:txBody>
          <a:bodyPr/>
          <a:lstStyle/>
          <a:p>
            <a:fld id="{2C6B1FF6-39B9-40F5-8B67-33C6354A3D4F}" type="slidenum">
              <a:rPr kumimoji="0" lang="en-US" smtClean="0"/>
              <a:pPr/>
              <a:t>28</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0668"/>
                                        </p:tgtEl>
                                        <p:attrNameLst>
                                          <p:attrName>style.visibility</p:attrName>
                                        </p:attrNameLst>
                                      </p:cBhvr>
                                      <p:to>
                                        <p:strVal val="visible"/>
                                      </p:to>
                                    </p:set>
                                    <p:animEffect transition="in" filter="wipe(left)">
                                      <p:cBhvr>
                                        <p:cTn id="7" dur="500"/>
                                        <p:tgtEl>
                                          <p:spTgt spid="75066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50675"/>
                                        </p:tgtEl>
                                        <p:attrNameLst>
                                          <p:attrName>style.visibility</p:attrName>
                                        </p:attrNameLst>
                                      </p:cBhvr>
                                      <p:to>
                                        <p:strVal val="visible"/>
                                      </p:to>
                                    </p:set>
                                    <p:animEffect transition="in" filter="wipe(left)">
                                      <p:cBhvr>
                                        <p:cTn id="10" dur="500"/>
                                        <p:tgtEl>
                                          <p:spTgt spid="75067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50687"/>
                                        </p:tgtEl>
                                        <p:attrNameLst>
                                          <p:attrName>style.visibility</p:attrName>
                                        </p:attrNameLst>
                                      </p:cBhvr>
                                      <p:to>
                                        <p:strVal val="visible"/>
                                      </p:to>
                                    </p:set>
                                    <p:animEffect transition="in" filter="wipe(left)">
                                      <p:cBhvr>
                                        <p:cTn id="13" dur="500"/>
                                        <p:tgtEl>
                                          <p:spTgt spid="75068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750669"/>
                                        </p:tgtEl>
                                        <p:attrNameLst>
                                          <p:attrName>style.visibility</p:attrName>
                                        </p:attrNameLst>
                                      </p:cBhvr>
                                      <p:to>
                                        <p:strVal val="visible"/>
                                      </p:to>
                                    </p:set>
                                    <p:animEffect transition="in" filter="wipe(right)">
                                      <p:cBhvr>
                                        <p:cTn id="18" dur="500"/>
                                        <p:tgtEl>
                                          <p:spTgt spid="750669"/>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750676"/>
                                        </p:tgtEl>
                                        <p:attrNameLst>
                                          <p:attrName>style.visibility</p:attrName>
                                        </p:attrNameLst>
                                      </p:cBhvr>
                                      <p:to>
                                        <p:strVal val="visible"/>
                                      </p:to>
                                    </p:set>
                                    <p:animEffect transition="in" filter="wipe(right)">
                                      <p:cBhvr>
                                        <p:cTn id="21" dur="500"/>
                                        <p:tgtEl>
                                          <p:spTgt spid="750676"/>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750688"/>
                                        </p:tgtEl>
                                        <p:attrNameLst>
                                          <p:attrName>style.visibility</p:attrName>
                                        </p:attrNameLst>
                                      </p:cBhvr>
                                      <p:to>
                                        <p:strVal val="visible"/>
                                      </p:to>
                                    </p:set>
                                    <p:animEffect transition="in" filter="wipe(right)">
                                      <p:cBhvr>
                                        <p:cTn id="24" dur="500"/>
                                        <p:tgtEl>
                                          <p:spTgt spid="75068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50670"/>
                                        </p:tgtEl>
                                        <p:attrNameLst>
                                          <p:attrName>style.visibility</p:attrName>
                                        </p:attrNameLst>
                                      </p:cBhvr>
                                      <p:to>
                                        <p:strVal val="visible"/>
                                      </p:to>
                                    </p:set>
                                    <p:animEffect transition="in" filter="wipe(left)">
                                      <p:cBhvr>
                                        <p:cTn id="29" dur="500"/>
                                        <p:tgtEl>
                                          <p:spTgt spid="75067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750677"/>
                                        </p:tgtEl>
                                        <p:attrNameLst>
                                          <p:attrName>style.visibility</p:attrName>
                                        </p:attrNameLst>
                                      </p:cBhvr>
                                      <p:to>
                                        <p:strVal val="visible"/>
                                      </p:to>
                                    </p:set>
                                    <p:animEffect transition="in" filter="wipe(left)">
                                      <p:cBhvr>
                                        <p:cTn id="32" dur="500"/>
                                        <p:tgtEl>
                                          <p:spTgt spid="750677"/>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750689"/>
                                        </p:tgtEl>
                                        <p:attrNameLst>
                                          <p:attrName>style.visibility</p:attrName>
                                        </p:attrNameLst>
                                      </p:cBhvr>
                                      <p:to>
                                        <p:strVal val="visible"/>
                                      </p:to>
                                    </p:set>
                                    <p:animEffect transition="in" filter="wipe(left)">
                                      <p:cBhvr>
                                        <p:cTn id="35" dur="500"/>
                                        <p:tgtEl>
                                          <p:spTgt spid="75068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750671"/>
                                        </p:tgtEl>
                                        <p:attrNameLst>
                                          <p:attrName>style.visibility</p:attrName>
                                        </p:attrNameLst>
                                      </p:cBhvr>
                                      <p:to>
                                        <p:strVal val="visible"/>
                                      </p:to>
                                    </p:set>
                                    <p:animEffect transition="in" filter="wipe(right)">
                                      <p:cBhvr>
                                        <p:cTn id="40" dur="500"/>
                                        <p:tgtEl>
                                          <p:spTgt spid="750671"/>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750678"/>
                                        </p:tgtEl>
                                        <p:attrNameLst>
                                          <p:attrName>style.visibility</p:attrName>
                                        </p:attrNameLst>
                                      </p:cBhvr>
                                      <p:to>
                                        <p:strVal val="visible"/>
                                      </p:to>
                                    </p:set>
                                    <p:animEffect transition="in" filter="wipe(right)">
                                      <p:cBhvr>
                                        <p:cTn id="43" dur="500"/>
                                        <p:tgtEl>
                                          <p:spTgt spid="750678"/>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750690"/>
                                        </p:tgtEl>
                                        <p:attrNameLst>
                                          <p:attrName>style.visibility</p:attrName>
                                        </p:attrNameLst>
                                      </p:cBhvr>
                                      <p:to>
                                        <p:strVal val="visible"/>
                                      </p:to>
                                    </p:set>
                                    <p:animEffect transition="in" filter="wipe(right)">
                                      <p:cBhvr>
                                        <p:cTn id="46" dur="500"/>
                                        <p:tgtEl>
                                          <p:spTgt spid="750690"/>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0"/>
                                          </p:stCondLst>
                                        </p:cTn>
                                        <p:tgtEl>
                                          <p:spTgt spid="750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668" grpId="0"/>
      <p:bldP spid="750669" grpId="0"/>
      <p:bldP spid="750670" grpId="0"/>
      <p:bldP spid="750671" grpId="0"/>
      <p:bldP spid="750675" grpId="0" animBg="1"/>
      <p:bldP spid="750676" grpId="0" animBg="1"/>
      <p:bldP spid="750677" grpId="0" animBg="1"/>
      <p:bldP spid="750678" grpId="0" animBg="1"/>
      <p:bldP spid="750687" grpId="0" animBg="1"/>
      <p:bldP spid="750688" grpId="0" animBg="1"/>
      <p:bldP spid="750689" grpId="0" animBg="1"/>
      <p:bldP spid="75069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Grp="1" noChangeArrowheads="1"/>
          </p:cNvSpPr>
          <p:nvPr>
            <p:ph type="title"/>
            <p:custDataLst>
              <p:tags r:id="rId1"/>
            </p:custDataLst>
          </p:nvPr>
        </p:nvSpPr>
        <p:spPr/>
        <p:txBody>
          <a:bodyPr vert="horz" anchor="b">
            <a:normAutofit/>
          </a:bodyPr>
          <a:lstStyle/>
          <a:p>
            <a:r>
              <a:rPr lang="en-GB" sz="3000" b="1">
                <a:solidFill>
                  <a:srgbClr val="C00000"/>
                </a:solidFill>
              </a:rPr>
              <a:t>Fonctionnement de DNS Notify</a:t>
            </a:r>
            <a:endParaRPr lang="en-US" sz="3000" b="1">
              <a:solidFill>
                <a:srgbClr val="C00000"/>
              </a:solidFill>
            </a:endParaRPr>
          </a:p>
        </p:txBody>
      </p:sp>
      <p:sp>
        <p:nvSpPr>
          <p:cNvPr id="756791" name="Text Box 55"/>
          <p:cNvSpPr txBox="1">
            <a:spLocks noChangeArrowheads="1"/>
          </p:cNvSpPr>
          <p:nvPr/>
        </p:nvSpPr>
        <p:spPr bwMode="auto">
          <a:xfrm>
            <a:off x="3849687" y="4328207"/>
            <a:ext cx="1781855" cy="430887"/>
          </a:xfrm>
          <a:prstGeom prst="rect">
            <a:avLst/>
          </a:prstGeom>
          <a:noFill/>
          <a:ln w="9525" algn="ctr">
            <a:noFill/>
            <a:miter lim="800000"/>
            <a:headEnd/>
            <a:tailEnd/>
          </a:ln>
          <a:effectLst/>
        </p:spPr>
        <p:txBody>
          <a:bodyPr wrap="square">
            <a:spAutoFit/>
          </a:bodyPr>
          <a:lstStyle/>
          <a:p>
            <a:pPr algn="l"/>
            <a:r>
              <a:rPr lang="en-US" sz="2200" b="1"/>
              <a:t>DNS Notify</a:t>
            </a:r>
          </a:p>
        </p:txBody>
      </p:sp>
      <p:sp>
        <p:nvSpPr>
          <p:cNvPr id="756792" name="Text Box 56"/>
          <p:cNvSpPr txBox="1">
            <a:spLocks noChangeArrowheads="1"/>
          </p:cNvSpPr>
          <p:nvPr/>
        </p:nvSpPr>
        <p:spPr bwMode="auto">
          <a:xfrm>
            <a:off x="3849688" y="4818744"/>
            <a:ext cx="2095574" cy="472052"/>
          </a:xfrm>
          <a:prstGeom prst="rect">
            <a:avLst/>
          </a:prstGeom>
          <a:noFill/>
          <a:ln w="9525" algn="ctr">
            <a:noFill/>
            <a:miter lim="800000"/>
            <a:headEnd/>
            <a:tailEnd/>
          </a:ln>
          <a:effectLst/>
        </p:spPr>
        <p:txBody>
          <a:bodyPr wrap="none">
            <a:spAutoFit/>
          </a:bodyPr>
          <a:lstStyle/>
          <a:p>
            <a:pPr algn="l">
              <a:lnSpc>
                <a:spcPct val="125000"/>
              </a:lnSpc>
            </a:pPr>
            <a:r>
              <a:rPr lang="en-US" sz="2200" b="1" err="1"/>
              <a:t>Transfert</a:t>
            </a:r>
            <a:r>
              <a:rPr lang="en-US" sz="2200" b="1"/>
              <a:t> de zone</a:t>
            </a:r>
          </a:p>
        </p:txBody>
      </p:sp>
      <p:sp>
        <p:nvSpPr>
          <p:cNvPr id="756793" name="Line 57"/>
          <p:cNvSpPr>
            <a:spLocks noChangeShapeType="1"/>
          </p:cNvSpPr>
          <p:nvPr/>
        </p:nvSpPr>
        <p:spPr bwMode="auto">
          <a:xfrm flipH="1">
            <a:off x="2832100" y="4732338"/>
            <a:ext cx="3409950" cy="0"/>
          </a:xfrm>
          <a:prstGeom prst="line">
            <a:avLst/>
          </a:prstGeom>
          <a:noFill/>
          <a:ln w="50800">
            <a:solidFill>
              <a:srgbClr val="CC0000"/>
            </a:solidFill>
            <a:round/>
            <a:headEnd/>
            <a:tailEnd type="triangle" w="med" len="med"/>
          </a:ln>
          <a:effectLst/>
        </p:spPr>
        <p:txBody>
          <a:bodyPr anchor="ctr"/>
          <a:lstStyle/>
          <a:p>
            <a:endParaRPr lang="fr-FR"/>
          </a:p>
        </p:txBody>
      </p:sp>
      <p:sp>
        <p:nvSpPr>
          <p:cNvPr id="756794" name="Line 58"/>
          <p:cNvSpPr>
            <a:spLocks noChangeShapeType="1"/>
          </p:cNvSpPr>
          <p:nvPr/>
        </p:nvSpPr>
        <p:spPr bwMode="auto">
          <a:xfrm>
            <a:off x="2832100" y="5291138"/>
            <a:ext cx="3409950" cy="0"/>
          </a:xfrm>
          <a:prstGeom prst="line">
            <a:avLst/>
          </a:prstGeom>
          <a:noFill/>
          <a:ln w="50800">
            <a:solidFill>
              <a:srgbClr val="CC0000"/>
            </a:solidFill>
            <a:round/>
            <a:headEnd/>
            <a:tailEnd type="triangle" w="med" len="med"/>
          </a:ln>
          <a:effectLst/>
        </p:spPr>
        <p:txBody>
          <a:bodyPr anchor="ctr"/>
          <a:lstStyle/>
          <a:p>
            <a:endParaRPr lang="fr-FR"/>
          </a:p>
        </p:txBody>
      </p:sp>
      <p:sp>
        <p:nvSpPr>
          <p:cNvPr id="756795" name="AutoShape 59"/>
          <p:cNvSpPr>
            <a:spLocks noChangeArrowheads="1"/>
          </p:cNvSpPr>
          <p:nvPr/>
        </p:nvSpPr>
        <p:spPr bwMode="auto">
          <a:xfrm>
            <a:off x="3059143" y="2717800"/>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sp>
        <p:nvSpPr>
          <p:cNvPr id="756796" name="AutoShape 60"/>
          <p:cNvSpPr>
            <a:spLocks noChangeArrowheads="1"/>
          </p:cNvSpPr>
          <p:nvPr/>
        </p:nvSpPr>
        <p:spPr bwMode="auto">
          <a:xfrm>
            <a:off x="3059143" y="3654425"/>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756797" name="AutoShape 61"/>
          <p:cNvSpPr>
            <a:spLocks noChangeArrowheads="1"/>
          </p:cNvSpPr>
          <p:nvPr/>
        </p:nvSpPr>
        <p:spPr bwMode="auto">
          <a:xfrm>
            <a:off x="3035990" y="4424363"/>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756798" name="AutoShape 62"/>
          <p:cNvSpPr>
            <a:spLocks noChangeArrowheads="1"/>
          </p:cNvSpPr>
          <p:nvPr/>
        </p:nvSpPr>
        <p:spPr bwMode="auto">
          <a:xfrm>
            <a:off x="3035990" y="4991100"/>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4</a:t>
            </a:r>
          </a:p>
        </p:txBody>
      </p:sp>
      <p:sp>
        <p:nvSpPr>
          <p:cNvPr id="756799" name="Text Box 63"/>
          <p:cNvSpPr txBox="1">
            <a:spLocks noChangeArrowheads="1"/>
          </p:cNvSpPr>
          <p:nvPr/>
        </p:nvSpPr>
        <p:spPr bwMode="auto">
          <a:xfrm>
            <a:off x="3512457" y="2649538"/>
            <a:ext cx="3831772" cy="769441"/>
          </a:xfrm>
          <a:prstGeom prst="rect">
            <a:avLst/>
          </a:prstGeom>
          <a:noFill/>
          <a:ln w="9525" algn="ctr">
            <a:noFill/>
            <a:miter lim="800000"/>
            <a:headEnd/>
            <a:tailEnd/>
          </a:ln>
          <a:effectLst/>
        </p:spPr>
        <p:txBody>
          <a:bodyPr wrap="square">
            <a:spAutoFit/>
          </a:bodyPr>
          <a:lstStyle/>
          <a:p>
            <a:pPr algn="l"/>
            <a:r>
              <a:rPr lang="fr-FR" sz="2200" b="1"/>
              <a:t>Mise à jour de  l'enregistrement </a:t>
            </a:r>
            <a:br>
              <a:rPr lang="fr-FR" sz="2200" b="1"/>
            </a:br>
            <a:r>
              <a:rPr lang="fr-FR" sz="2200" b="1"/>
              <a:t>de ressource</a:t>
            </a:r>
          </a:p>
        </p:txBody>
      </p:sp>
      <p:sp>
        <p:nvSpPr>
          <p:cNvPr id="756800" name="Text Box 64"/>
          <p:cNvSpPr txBox="1">
            <a:spLocks noChangeArrowheads="1"/>
          </p:cNvSpPr>
          <p:nvPr/>
        </p:nvSpPr>
        <p:spPr bwMode="auto">
          <a:xfrm>
            <a:off x="3483427" y="3517220"/>
            <a:ext cx="3193143" cy="769441"/>
          </a:xfrm>
          <a:prstGeom prst="rect">
            <a:avLst/>
          </a:prstGeom>
          <a:noFill/>
          <a:ln w="9525" algn="ctr">
            <a:noFill/>
            <a:miter lim="800000"/>
            <a:headEnd/>
            <a:tailEnd/>
          </a:ln>
          <a:effectLst/>
        </p:spPr>
        <p:txBody>
          <a:bodyPr wrap="square">
            <a:spAutoFit/>
          </a:bodyPr>
          <a:lstStyle/>
          <a:p>
            <a:pPr algn="l"/>
            <a:r>
              <a:rPr lang="fr-FR" sz="2200" b="1"/>
              <a:t>Mise à jour du numéro de  série SOA</a:t>
            </a:r>
          </a:p>
        </p:txBody>
      </p:sp>
      <p:grpSp>
        <p:nvGrpSpPr>
          <p:cNvPr id="756801" name="Group 65"/>
          <p:cNvGrpSpPr>
            <a:grpSpLocks/>
          </p:cNvGrpSpPr>
          <p:nvPr/>
        </p:nvGrpSpPr>
        <p:grpSpPr bwMode="auto">
          <a:xfrm>
            <a:off x="609600" y="6051550"/>
            <a:ext cx="914400" cy="425450"/>
            <a:chOff x="384" y="3024"/>
            <a:chExt cx="720" cy="336"/>
          </a:xfrm>
        </p:grpSpPr>
        <p:sp>
          <p:nvSpPr>
            <p:cNvPr id="756802" name="Oval 6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56803" name="Group 67"/>
            <p:cNvGrpSpPr>
              <a:grpSpLocks/>
            </p:cNvGrpSpPr>
            <p:nvPr/>
          </p:nvGrpSpPr>
          <p:grpSpPr bwMode="auto">
            <a:xfrm>
              <a:off x="480" y="3096"/>
              <a:ext cx="240" cy="192"/>
              <a:chOff x="480" y="3096"/>
              <a:chExt cx="240" cy="192"/>
            </a:xfrm>
          </p:grpSpPr>
          <p:sp>
            <p:nvSpPr>
              <p:cNvPr id="756804" name="Oval 6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56805" name="Freeform 69"/>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56806" name="Group 70"/>
          <p:cNvGrpSpPr>
            <a:grpSpLocks/>
          </p:cNvGrpSpPr>
          <p:nvPr/>
        </p:nvGrpSpPr>
        <p:grpSpPr bwMode="auto">
          <a:xfrm>
            <a:off x="1096963" y="6142038"/>
            <a:ext cx="304800" cy="244475"/>
            <a:chOff x="768" y="3096"/>
            <a:chExt cx="240" cy="192"/>
          </a:xfrm>
        </p:grpSpPr>
        <p:sp>
          <p:nvSpPr>
            <p:cNvPr id="756807" name="Oval 7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56808" name="Rectangle 72"/>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756809" name="Oval 73"/>
          <p:cNvSpPr>
            <a:spLocks noChangeArrowheads="1"/>
          </p:cNvSpPr>
          <p:nvPr/>
        </p:nvSpPr>
        <p:spPr bwMode="auto">
          <a:xfrm>
            <a:off x="696913" y="4622800"/>
            <a:ext cx="207962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pic>
        <p:nvPicPr>
          <p:cNvPr id="756810" name="Picture 74" descr="Server01"/>
          <p:cNvPicPr>
            <a:picLocks noChangeAspect="1" noChangeArrowheads="1"/>
          </p:cNvPicPr>
          <p:nvPr/>
        </p:nvPicPr>
        <p:blipFill>
          <a:blip r:embed="rId9"/>
          <a:srcRect/>
          <a:stretch>
            <a:fillRect/>
          </a:stretch>
        </p:blipFill>
        <p:spPr bwMode="auto">
          <a:xfrm>
            <a:off x="927100" y="3511550"/>
            <a:ext cx="1555750" cy="1827213"/>
          </a:xfrm>
          <a:prstGeom prst="rect">
            <a:avLst/>
          </a:prstGeom>
          <a:noFill/>
        </p:spPr>
      </p:pic>
      <p:sp>
        <p:nvSpPr>
          <p:cNvPr id="756811" name="Text Box 75"/>
          <p:cNvSpPr txBox="1">
            <a:spLocks noChangeArrowheads="1"/>
          </p:cNvSpPr>
          <p:nvPr>
            <p:custDataLst>
              <p:tags r:id="rId2"/>
            </p:custDataLst>
          </p:nvPr>
        </p:nvSpPr>
        <p:spPr bwMode="auto">
          <a:xfrm>
            <a:off x="839788" y="5432425"/>
            <a:ext cx="2531463" cy="461665"/>
          </a:xfrm>
          <a:prstGeom prst="rect">
            <a:avLst/>
          </a:prstGeom>
          <a:noFill/>
          <a:ln w="9525" algn="ctr">
            <a:noFill/>
            <a:miter lim="800000"/>
            <a:headEnd/>
            <a:tailEnd/>
          </a:ln>
          <a:effectLst/>
        </p:spPr>
        <p:txBody>
          <a:bodyPr wrap="none">
            <a:spAutoFit/>
          </a:bodyPr>
          <a:lstStyle/>
          <a:p>
            <a:r>
              <a:rPr lang="en-GB" sz="2400" b="1" err="1">
                <a:solidFill>
                  <a:srgbClr val="000000"/>
                </a:solidFill>
              </a:rPr>
              <a:t>Serveur</a:t>
            </a:r>
            <a:r>
              <a:rPr lang="en-GB" sz="2400" b="1">
                <a:solidFill>
                  <a:srgbClr val="000000"/>
                </a:solidFill>
              </a:rPr>
              <a:t> </a:t>
            </a:r>
            <a:r>
              <a:rPr lang="en-GB" sz="2400" b="1" err="1">
                <a:solidFill>
                  <a:srgbClr val="000000"/>
                </a:solidFill>
              </a:rPr>
              <a:t>secondaire</a:t>
            </a:r>
            <a:endParaRPr lang="en-US" sz="2400" b="1"/>
          </a:p>
        </p:txBody>
      </p:sp>
      <p:sp>
        <p:nvSpPr>
          <p:cNvPr id="756812" name="Text Box 76"/>
          <p:cNvSpPr txBox="1">
            <a:spLocks noChangeArrowheads="1"/>
          </p:cNvSpPr>
          <p:nvPr>
            <p:custDataLst>
              <p:tags r:id="rId3"/>
            </p:custDataLst>
          </p:nvPr>
        </p:nvSpPr>
        <p:spPr bwMode="auto">
          <a:xfrm>
            <a:off x="6465888" y="5468938"/>
            <a:ext cx="2249335" cy="830997"/>
          </a:xfrm>
          <a:prstGeom prst="rect">
            <a:avLst/>
          </a:prstGeom>
          <a:noFill/>
          <a:ln w="9525" algn="ctr">
            <a:noFill/>
            <a:miter lim="800000"/>
            <a:headEnd/>
            <a:tailEnd/>
          </a:ln>
          <a:effectLst/>
        </p:spPr>
        <p:txBody>
          <a:bodyPr wrap="none">
            <a:spAutoFit/>
          </a:bodyPr>
          <a:lstStyle/>
          <a:p>
            <a:r>
              <a:rPr lang="en-GB" sz="2400" b="1">
                <a:solidFill>
                  <a:srgbClr val="000000"/>
                </a:solidFill>
              </a:rPr>
              <a:t>Serveur principal</a:t>
            </a:r>
            <a:endParaRPr lang="en-US" sz="2400" b="1"/>
          </a:p>
          <a:p>
            <a:r>
              <a:rPr lang="en-GB" sz="2400" b="1">
                <a:solidFill>
                  <a:srgbClr val="000000"/>
                </a:solidFill>
              </a:rPr>
              <a:t>et maître</a:t>
            </a:r>
            <a:endParaRPr lang="en-US" sz="2400" b="1">
              <a:solidFill>
                <a:srgbClr val="000000"/>
              </a:solidFill>
            </a:endParaRPr>
          </a:p>
        </p:txBody>
      </p:sp>
      <p:sp>
        <p:nvSpPr>
          <p:cNvPr id="756813" name="AutoShape 77"/>
          <p:cNvSpPr>
            <a:spLocks noChangeArrowheads="1"/>
          </p:cNvSpPr>
          <p:nvPr>
            <p:custDataLst>
              <p:tags r:id="rId4"/>
            </p:custDataLst>
          </p:nvPr>
        </p:nvSpPr>
        <p:spPr bwMode="auto">
          <a:xfrm>
            <a:off x="203200" y="1439862"/>
            <a:ext cx="8766629" cy="1129167"/>
          </a:xfrm>
          <a:prstGeom prst="roundRect">
            <a:avLst>
              <a:gd name="adj" fmla="val 25468"/>
            </a:avLst>
          </a:prstGeom>
          <a:solidFill>
            <a:srgbClr val="002060"/>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r>
              <a:rPr lang="en-GB" sz="2200" b="1" i="1">
                <a:solidFill>
                  <a:srgbClr val="EEEFD7"/>
                </a:solidFill>
              </a:rPr>
              <a:t>DNS Notify</a:t>
            </a:r>
            <a:r>
              <a:rPr lang="en-GB" sz="2200" b="1">
                <a:solidFill>
                  <a:srgbClr val="EEEFD7"/>
                </a:solidFill>
              </a:rPr>
              <a:t> </a:t>
            </a:r>
            <a:r>
              <a:rPr lang="en-GB" sz="2200" b="1" err="1">
                <a:solidFill>
                  <a:srgbClr val="EEEFD7"/>
                </a:solidFill>
              </a:rPr>
              <a:t>est</a:t>
            </a:r>
            <a:r>
              <a:rPr lang="en-GB" sz="2200" b="1">
                <a:solidFill>
                  <a:srgbClr val="EEEFD7"/>
                </a:solidFill>
              </a:rPr>
              <a:t> </a:t>
            </a:r>
            <a:r>
              <a:rPr lang="en-GB" sz="2200" b="1" err="1">
                <a:solidFill>
                  <a:srgbClr val="EEEFD7"/>
                </a:solidFill>
              </a:rPr>
              <a:t>une</a:t>
            </a:r>
            <a:r>
              <a:rPr lang="en-GB" sz="2200" b="1">
                <a:solidFill>
                  <a:srgbClr val="EEEFD7"/>
                </a:solidFill>
              </a:rPr>
              <a:t> </a:t>
            </a:r>
            <a:r>
              <a:rPr lang="en-GB" sz="2200" b="1" err="1">
                <a:solidFill>
                  <a:srgbClr val="EEEFD7"/>
                </a:solidFill>
              </a:rPr>
              <a:t>mise</a:t>
            </a:r>
            <a:r>
              <a:rPr lang="en-GB" sz="2200" b="1">
                <a:solidFill>
                  <a:srgbClr val="EEEFD7"/>
                </a:solidFill>
              </a:rPr>
              <a:t> à jour de la </a:t>
            </a:r>
            <a:r>
              <a:rPr lang="en-GB" sz="2200" b="1" err="1">
                <a:solidFill>
                  <a:srgbClr val="EEEFD7"/>
                </a:solidFill>
              </a:rPr>
              <a:t>spécification</a:t>
            </a:r>
            <a:r>
              <a:rPr lang="en-GB" sz="2200" b="1">
                <a:solidFill>
                  <a:srgbClr val="EEEFD7"/>
                </a:solidFill>
              </a:rPr>
              <a:t> </a:t>
            </a:r>
            <a:r>
              <a:rPr lang="en-GB" sz="2200" b="1" err="1">
                <a:solidFill>
                  <a:srgbClr val="EEEFD7"/>
                </a:solidFill>
              </a:rPr>
              <a:t>d'origine</a:t>
            </a:r>
            <a:r>
              <a:rPr lang="en-GB" sz="2200" b="1">
                <a:solidFill>
                  <a:srgbClr val="EEEFD7"/>
                </a:solidFill>
              </a:rPr>
              <a:t> du </a:t>
            </a:r>
            <a:r>
              <a:rPr lang="en-GB" sz="2200" b="1" err="1">
                <a:solidFill>
                  <a:srgbClr val="EEEFD7"/>
                </a:solidFill>
              </a:rPr>
              <a:t>protocole</a:t>
            </a:r>
            <a:r>
              <a:rPr lang="en-GB" sz="2200" b="1">
                <a:solidFill>
                  <a:srgbClr val="EEEFD7"/>
                </a:solidFill>
              </a:rPr>
              <a:t> DNS qui </a:t>
            </a:r>
            <a:r>
              <a:rPr lang="en-GB" sz="2200" b="1" err="1">
                <a:solidFill>
                  <a:srgbClr val="EEEFD7"/>
                </a:solidFill>
              </a:rPr>
              <a:t>permet</a:t>
            </a:r>
            <a:r>
              <a:rPr lang="en-GB" sz="2200" b="1">
                <a:solidFill>
                  <a:srgbClr val="EEEFD7"/>
                </a:solidFill>
              </a:rPr>
              <a:t> </a:t>
            </a:r>
            <a:r>
              <a:rPr lang="en-GB" sz="2200" b="1" err="1">
                <a:solidFill>
                  <a:srgbClr val="EEEFD7"/>
                </a:solidFill>
              </a:rPr>
              <a:t>d'informer</a:t>
            </a:r>
            <a:r>
              <a:rPr lang="en-GB" sz="2200" b="1">
                <a:solidFill>
                  <a:srgbClr val="EEEFD7"/>
                </a:solidFill>
              </a:rPr>
              <a:t> les </a:t>
            </a:r>
            <a:r>
              <a:rPr lang="en-GB" sz="2200" b="1" err="1">
                <a:solidFill>
                  <a:srgbClr val="EEEFD7"/>
                </a:solidFill>
              </a:rPr>
              <a:t>serveurs</a:t>
            </a:r>
            <a:r>
              <a:rPr lang="en-GB" sz="2200" b="1">
                <a:solidFill>
                  <a:srgbClr val="EEEFD7"/>
                </a:solidFill>
              </a:rPr>
              <a:t> </a:t>
            </a:r>
            <a:r>
              <a:rPr lang="en-GB" sz="2200" b="1" err="1">
                <a:solidFill>
                  <a:srgbClr val="EEEFD7"/>
                </a:solidFill>
              </a:rPr>
              <a:t>secondaires</a:t>
            </a:r>
            <a:r>
              <a:rPr lang="en-GB" sz="2200" b="1">
                <a:solidFill>
                  <a:srgbClr val="EEEFD7"/>
                </a:solidFill>
              </a:rPr>
              <a:t>  des modifications de zones</a:t>
            </a:r>
            <a:endParaRPr lang="en-US" sz="2200" b="1">
              <a:solidFill>
                <a:srgbClr val="EEEFD7"/>
              </a:solidFill>
            </a:endParaRPr>
          </a:p>
        </p:txBody>
      </p:sp>
      <p:sp>
        <p:nvSpPr>
          <p:cNvPr id="756814" name="Oval 78"/>
          <p:cNvSpPr>
            <a:spLocks noChangeArrowheads="1"/>
          </p:cNvSpPr>
          <p:nvPr/>
        </p:nvSpPr>
        <p:spPr bwMode="auto">
          <a:xfrm>
            <a:off x="6226175" y="4622800"/>
            <a:ext cx="207962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pic>
        <p:nvPicPr>
          <p:cNvPr id="756815" name="Picture 79" descr="Server01"/>
          <p:cNvPicPr>
            <a:picLocks noChangeAspect="1" noChangeArrowheads="1"/>
          </p:cNvPicPr>
          <p:nvPr/>
        </p:nvPicPr>
        <p:blipFill>
          <a:blip r:embed="rId9"/>
          <a:srcRect/>
          <a:stretch>
            <a:fillRect/>
          </a:stretch>
        </p:blipFill>
        <p:spPr bwMode="auto">
          <a:xfrm>
            <a:off x="6481763" y="3511550"/>
            <a:ext cx="1555750" cy="1827213"/>
          </a:xfrm>
          <a:prstGeom prst="rect">
            <a:avLst/>
          </a:prstGeom>
          <a:noFill/>
        </p:spPr>
      </p:pic>
      <p:sp>
        <p:nvSpPr>
          <p:cNvPr id="756816" name="AutoShape 80"/>
          <p:cNvSpPr>
            <a:spLocks noChangeArrowheads="1"/>
          </p:cNvSpPr>
          <p:nvPr>
            <p:custDataLst>
              <p:tags r:id="rId5"/>
            </p:custDataLst>
          </p:nvPr>
        </p:nvSpPr>
        <p:spPr bwMode="auto">
          <a:xfrm>
            <a:off x="6865257" y="3090185"/>
            <a:ext cx="1973943" cy="357188"/>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400" b="1" err="1">
                <a:solidFill>
                  <a:srgbClr val="000000"/>
                </a:solidFill>
              </a:rPr>
              <a:t>Serveur</a:t>
            </a:r>
            <a:r>
              <a:rPr lang="en-GB" sz="2400" b="1">
                <a:solidFill>
                  <a:srgbClr val="000000"/>
                </a:solidFill>
              </a:rPr>
              <a:t> source</a:t>
            </a:r>
            <a:endParaRPr lang="en-US" sz="2400" b="1"/>
          </a:p>
        </p:txBody>
      </p:sp>
      <p:sp>
        <p:nvSpPr>
          <p:cNvPr id="756817" name="AutoShape 81"/>
          <p:cNvSpPr>
            <a:spLocks noChangeArrowheads="1"/>
          </p:cNvSpPr>
          <p:nvPr>
            <p:custDataLst>
              <p:tags r:id="rId6"/>
            </p:custDataLst>
          </p:nvPr>
        </p:nvSpPr>
        <p:spPr bwMode="auto">
          <a:xfrm>
            <a:off x="15504" y="3090412"/>
            <a:ext cx="2901867" cy="3841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400" b="1" err="1">
                <a:solidFill>
                  <a:srgbClr val="000000"/>
                </a:solidFill>
              </a:rPr>
              <a:t>Serveur</a:t>
            </a:r>
            <a:r>
              <a:rPr lang="en-GB" sz="2400" b="1">
                <a:solidFill>
                  <a:srgbClr val="000000"/>
                </a:solidFill>
              </a:rPr>
              <a:t> de destination</a:t>
            </a:r>
            <a:endParaRPr lang="en-US" sz="2400" b="1"/>
          </a:p>
        </p:txBody>
      </p:sp>
      <p:sp>
        <p:nvSpPr>
          <p:cNvPr id="32" name="Espace réservé du numéro de diapositive 31"/>
          <p:cNvSpPr>
            <a:spLocks noGrp="1"/>
          </p:cNvSpPr>
          <p:nvPr>
            <p:ph type="sldNum" sz="quarter" idx="12"/>
          </p:nvPr>
        </p:nvSpPr>
        <p:spPr/>
        <p:txBody>
          <a:bodyPr/>
          <a:lstStyle/>
          <a:p>
            <a:fld id="{2C6B1FF6-39B9-40F5-8B67-33C6354A3D4F}" type="slidenum">
              <a:rPr kumimoji="0" lang="en-US" smtClean="0"/>
              <a:pPr/>
              <a:t>29</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6795"/>
                                        </p:tgtEl>
                                        <p:attrNameLst>
                                          <p:attrName>style.visibility</p:attrName>
                                        </p:attrNameLst>
                                      </p:cBhvr>
                                      <p:to>
                                        <p:strVal val="visible"/>
                                      </p:to>
                                    </p:set>
                                    <p:animEffect transition="in" filter="wipe(left)">
                                      <p:cBhvr>
                                        <p:cTn id="7" dur="500"/>
                                        <p:tgtEl>
                                          <p:spTgt spid="75679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56799"/>
                                        </p:tgtEl>
                                        <p:attrNameLst>
                                          <p:attrName>style.visibility</p:attrName>
                                        </p:attrNameLst>
                                      </p:cBhvr>
                                      <p:to>
                                        <p:strVal val="visible"/>
                                      </p:to>
                                    </p:set>
                                    <p:animEffect transition="in" filter="wipe(left)">
                                      <p:cBhvr>
                                        <p:cTn id="10" dur="500"/>
                                        <p:tgtEl>
                                          <p:spTgt spid="75679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56796"/>
                                        </p:tgtEl>
                                        <p:attrNameLst>
                                          <p:attrName>style.visibility</p:attrName>
                                        </p:attrNameLst>
                                      </p:cBhvr>
                                      <p:to>
                                        <p:strVal val="visible"/>
                                      </p:to>
                                    </p:set>
                                    <p:animEffect transition="in" filter="wipe(left)">
                                      <p:cBhvr>
                                        <p:cTn id="15" dur="500"/>
                                        <p:tgtEl>
                                          <p:spTgt spid="75679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56800"/>
                                        </p:tgtEl>
                                        <p:attrNameLst>
                                          <p:attrName>style.visibility</p:attrName>
                                        </p:attrNameLst>
                                      </p:cBhvr>
                                      <p:to>
                                        <p:strVal val="visible"/>
                                      </p:to>
                                    </p:set>
                                    <p:animEffect transition="in" filter="wipe(left)">
                                      <p:cBhvr>
                                        <p:cTn id="18" dur="500"/>
                                        <p:tgtEl>
                                          <p:spTgt spid="75680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756791"/>
                                        </p:tgtEl>
                                        <p:attrNameLst>
                                          <p:attrName>style.visibility</p:attrName>
                                        </p:attrNameLst>
                                      </p:cBhvr>
                                      <p:to>
                                        <p:strVal val="visible"/>
                                      </p:to>
                                    </p:set>
                                    <p:animEffect transition="in" filter="wipe(right)">
                                      <p:cBhvr>
                                        <p:cTn id="23" dur="500"/>
                                        <p:tgtEl>
                                          <p:spTgt spid="756791"/>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756793"/>
                                        </p:tgtEl>
                                        <p:attrNameLst>
                                          <p:attrName>style.visibility</p:attrName>
                                        </p:attrNameLst>
                                      </p:cBhvr>
                                      <p:to>
                                        <p:strVal val="visible"/>
                                      </p:to>
                                    </p:set>
                                    <p:animEffect transition="in" filter="wipe(right)">
                                      <p:cBhvr>
                                        <p:cTn id="26" dur="500"/>
                                        <p:tgtEl>
                                          <p:spTgt spid="756793"/>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756797"/>
                                        </p:tgtEl>
                                        <p:attrNameLst>
                                          <p:attrName>style.visibility</p:attrName>
                                        </p:attrNameLst>
                                      </p:cBhvr>
                                      <p:to>
                                        <p:strVal val="visible"/>
                                      </p:to>
                                    </p:set>
                                    <p:animEffect transition="in" filter="wipe(right)">
                                      <p:cBhvr>
                                        <p:cTn id="29" dur="500"/>
                                        <p:tgtEl>
                                          <p:spTgt spid="75679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56794"/>
                                        </p:tgtEl>
                                        <p:attrNameLst>
                                          <p:attrName>style.visibility</p:attrName>
                                        </p:attrNameLst>
                                      </p:cBhvr>
                                      <p:to>
                                        <p:strVal val="visible"/>
                                      </p:to>
                                    </p:set>
                                    <p:animEffect transition="in" filter="wipe(left)">
                                      <p:cBhvr>
                                        <p:cTn id="34" dur="500"/>
                                        <p:tgtEl>
                                          <p:spTgt spid="75679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756798"/>
                                        </p:tgtEl>
                                        <p:attrNameLst>
                                          <p:attrName>style.visibility</p:attrName>
                                        </p:attrNameLst>
                                      </p:cBhvr>
                                      <p:to>
                                        <p:strVal val="visible"/>
                                      </p:to>
                                    </p:set>
                                    <p:animEffect transition="in" filter="wipe(left)">
                                      <p:cBhvr>
                                        <p:cTn id="37" dur="500"/>
                                        <p:tgtEl>
                                          <p:spTgt spid="75679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756792"/>
                                        </p:tgtEl>
                                        <p:attrNameLst>
                                          <p:attrName>style.visibility</p:attrName>
                                        </p:attrNameLst>
                                      </p:cBhvr>
                                      <p:to>
                                        <p:strVal val="visible"/>
                                      </p:to>
                                    </p:set>
                                    <p:animEffect transition="in" filter="wipe(left)">
                                      <p:cBhvr>
                                        <p:cTn id="40" dur="500"/>
                                        <p:tgtEl>
                                          <p:spTgt spid="756792"/>
                                        </p:tgtEl>
                                      </p:cBhvr>
                                    </p:animEffec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756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91" grpId="0"/>
      <p:bldP spid="756792" grpId="0"/>
      <p:bldP spid="756793" grpId="0" animBg="1"/>
      <p:bldP spid="756794" grpId="0" animBg="1"/>
      <p:bldP spid="756795" grpId="0" animBg="1"/>
      <p:bldP spid="756796" grpId="0" animBg="1"/>
      <p:bldP spid="756797" grpId="0" animBg="1"/>
      <p:bldP spid="756798" grpId="0" animBg="1"/>
      <p:bldP spid="756799" grpId="0"/>
      <p:bldP spid="75680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custDataLst>
              <p:tags r:id="rId1"/>
            </p:custDataLst>
          </p:nvPr>
        </p:nvSpPr>
        <p:spPr>
          <a:xfrm>
            <a:off x="0" y="72570"/>
            <a:ext cx="9144000" cy="1118180"/>
          </a:xfrm>
        </p:spPr>
        <p:txBody>
          <a:bodyPr>
            <a:noAutofit/>
          </a:bodyPr>
          <a:lstStyle/>
          <a:p>
            <a:r>
              <a:rPr lang="en-GB" sz="3200" b="1">
                <a:solidFill>
                  <a:srgbClr val="000000"/>
                </a:solidFill>
              </a:rPr>
              <a:t>5. Configuration des </a:t>
            </a:r>
            <a:r>
              <a:rPr lang="en-GB" sz="3200" b="1" err="1">
                <a:solidFill>
                  <a:srgbClr val="000000"/>
                </a:solidFill>
              </a:rPr>
              <a:t>mises</a:t>
            </a:r>
            <a:r>
              <a:rPr lang="en-GB" sz="3200" b="1">
                <a:solidFill>
                  <a:srgbClr val="000000"/>
                </a:solidFill>
              </a:rPr>
              <a:t> à jour </a:t>
            </a:r>
            <a:r>
              <a:rPr lang="en-GB" sz="3200" b="1" err="1">
                <a:solidFill>
                  <a:srgbClr val="000000"/>
                </a:solidFill>
              </a:rPr>
              <a:t>dynamiques</a:t>
            </a:r>
            <a:r>
              <a:rPr lang="en-GB" sz="3200" b="1">
                <a:solidFill>
                  <a:srgbClr val="000000"/>
                </a:solidFill>
              </a:rPr>
              <a:t> DNS</a:t>
            </a:r>
            <a:endParaRPr lang="en-US" sz="3200" b="1">
              <a:solidFill>
                <a:srgbClr val="000000"/>
              </a:solidFill>
            </a:endParaRPr>
          </a:p>
        </p:txBody>
      </p:sp>
      <p:sp>
        <p:nvSpPr>
          <p:cNvPr id="699395" name="Rectangle 3"/>
          <p:cNvSpPr>
            <a:spLocks noGrp="1" noChangeArrowheads="1"/>
          </p:cNvSpPr>
          <p:nvPr>
            <p:ph sz="quarter" idx="1"/>
            <p:custDataLst>
              <p:tags r:id="rId2"/>
            </p:custDataLst>
          </p:nvPr>
        </p:nvSpPr>
        <p:spPr>
          <a:xfrm>
            <a:off x="377371" y="1625600"/>
            <a:ext cx="8577943" cy="4673600"/>
          </a:xfrm>
        </p:spPr>
        <p:txBody>
          <a:bodyPr>
            <a:normAutofit/>
          </a:bodyPr>
          <a:lstStyle/>
          <a:p>
            <a:pPr>
              <a:lnSpc>
                <a:spcPct val="85000"/>
              </a:lnSpc>
              <a:spcBef>
                <a:spcPct val="20000"/>
              </a:spcBef>
              <a:buClrTx/>
              <a:buFont typeface="Symbol" pitchFamily="18" charset="2"/>
              <a:buChar char="®"/>
            </a:pPr>
            <a:r>
              <a:rPr lang="en-GB" sz="2500" dirty="0" err="1">
                <a:solidFill>
                  <a:srgbClr val="000000"/>
                </a:solidFill>
              </a:rPr>
              <a:t>Que</a:t>
            </a:r>
            <a:r>
              <a:rPr lang="en-GB" sz="2500" dirty="0">
                <a:solidFill>
                  <a:srgbClr val="000000"/>
                </a:solidFill>
              </a:rPr>
              <a:t> </a:t>
            </a:r>
            <a:r>
              <a:rPr lang="en-GB" sz="2500" dirty="0" err="1">
                <a:solidFill>
                  <a:srgbClr val="000000"/>
                </a:solidFill>
              </a:rPr>
              <a:t>sont</a:t>
            </a:r>
            <a:r>
              <a:rPr lang="en-GB" sz="2500" dirty="0">
                <a:solidFill>
                  <a:srgbClr val="000000"/>
                </a:solidFill>
              </a:rPr>
              <a:t> les </a:t>
            </a:r>
            <a:r>
              <a:rPr lang="en-GB" sz="2500" dirty="0" err="1">
                <a:solidFill>
                  <a:srgbClr val="000000"/>
                </a:solidFill>
              </a:rPr>
              <a:t>mises</a:t>
            </a:r>
            <a:r>
              <a:rPr lang="en-GB" sz="2500" dirty="0">
                <a:solidFill>
                  <a:srgbClr val="000000"/>
                </a:solidFill>
              </a:rPr>
              <a:t> à jour </a:t>
            </a:r>
            <a:r>
              <a:rPr lang="en-GB" sz="2500" dirty="0" err="1">
                <a:solidFill>
                  <a:srgbClr val="000000"/>
                </a:solidFill>
              </a:rPr>
              <a:t>dynamiques</a:t>
            </a:r>
            <a:r>
              <a:rPr lang="en-GB" sz="2500" dirty="0">
                <a:solidFill>
                  <a:srgbClr val="000000"/>
                </a:solidFill>
              </a:rPr>
              <a:t> ?</a:t>
            </a:r>
            <a:endParaRPr lang="en-US" sz="2500" dirty="0"/>
          </a:p>
          <a:p>
            <a:pPr>
              <a:lnSpc>
                <a:spcPct val="85000"/>
              </a:lnSpc>
              <a:spcBef>
                <a:spcPct val="20000"/>
              </a:spcBef>
              <a:buClrTx/>
              <a:buFont typeface="Symbol" pitchFamily="18" charset="2"/>
              <a:buChar char="®"/>
            </a:pPr>
            <a:r>
              <a:rPr lang="en-GB" sz="2500" dirty="0">
                <a:solidFill>
                  <a:srgbClr val="000000"/>
                </a:solidFill>
              </a:rPr>
              <a:t>Comment les clients DNS </a:t>
            </a:r>
            <a:r>
              <a:rPr lang="en-GB" sz="2500" dirty="0" err="1">
                <a:solidFill>
                  <a:srgbClr val="000000"/>
                </a:solidFill>
              </a:rPr>
              <a:t>inscrivent</a:t>
            </a:r>
            <a:r>
              <a:rPr lang="en-GB" sz="2500" dirty="0">
                <a:solidFill>
                  <a:srgbClr val="000000"/>
                </a:solidFill>
              </a:rPr>
              <a:t> et </a:t>
            </a:r>
            <a:r>
              <a:rPr lang="en-GB" sz="2500" dirty="0" err="1">
                <a:solidFill>
                  <a:srgbClr val="000000"/>
                </a:solidFill>
              </a:rPr>
              <a:t>mettent</a:t>
            </a:r>
            <a:r>
              <a:rPr lang="en-GB" sz="2500" dirty="0">
                <a:solidFill>
                  <a:srgbClr val="000000"/>
                </a:solidFill>
              </a:rPr>
              <a:t> à jour </a:t>
            </a:r>
            <a:r>
              <a:rPr lang="en-GB" sz="2500" dirty="0" err="1">
                <a:solidFill>
                  <a:srgbClr val="000000"/>
                </a:solidFill>
              </a:rPr>
              <a:t>dynamiquement</a:t>
            </a:r>
            <a:r>
              <a:rPr lang="en-GB" sz="2500" dirty="0">
                <a:solidFill>
                  <a:srgbClr val="000000"/>
                </a:solidFill>
              </a:rPr>
              <a:t> </a:t>
            </a:r>
            <a:r>
              <a:rPr lang="en-GB" sz="2500" dirty="0" err="1">
                <a:solidFill>
                  <a:srgbClr val="000000"/>
                </a:solidFill>
              </a:rPr>
              <a:t>leurs</a:t>
            </a:r>
            <a:r>
              <a:rPr lang="en-GB" sz="2500" dirty="0">
                <a:solidFill>
                  <a:srgbClr val="000000"/>
                </a:solidFill>
              </a:rPr>
              <a:t> </a:t>
            </a:r>
            <a:r>
              <a:rPr lang="en-GB" sz="2500" dirty="0" err="1">
                <a:solidFill>
                  <a:srgbClr val="000000"/>
                </a:solidFill>
              </a:rPr>
              <a:t>enregistrements</a:t>
            </a:r>
            <a:r>
              <a:rPr lang="en-GB" sz="2500" dirty="0">
                <a:solidFill>
                  <a:srgbClr val="000000"/>
                </a:solidFill>
              </a:rPr>
              <a:t> de </a:t>
            </a:r>
            <a:r>
              <a:rPr lang="en-GB" sz="2500" dirty="0" err="1">
                <a:solidFill>
                  <a:srgbClr val="000000"/>
                </a:solidFill>
              </a:rPr>
              <a:t>ressources</a:t>
            </a:r>
            <a:endParaRPr lang="en-US" sz="2500" dirty="0"/>
          </a:p>
          <a:p>
            <a:pPr>
              <a:lnSpc>
                <a:spcPct val="85000"/>
              </a:lnSpc>
              <a:spcBef>
                <a:spcPct val="20000"/>
              </a:spcBef>
              <a:buClrTx/>
              <a:buFont typeface="Symbol" pitchFamily="18" charset="2"/>
              <a:buChar char="®"/>
            </a:pPr>
            <a:r>
              <a:rPr lang="en-GB" sz="2500" dirty="0">
                <a:solidFill>
                  <a:srgbClr val="000000"/>
                </a:solidFill>
              </a:rPr>
              <a:t>Comment un </a:t>
            </a:r>
            <a:r>
              <a:rPr lang="en-GB" sz="2500" dirty="0" err="1">
                <a:solidFill>
                  <a:srgbClr val="000000"/>
                </a:solidFill>
              </a:rPr>
              <a:t>serveur</a:t>
            </a:r>
            <a:r>
              <a:rPr lang="en-GB" sz="2500" dirty="0">
                <a:solidFill>
                  <a:srgbClr val="000000"/>
                </a:solidFill>
              </a:rPr>
              <a:t> DHCP </a:t>
            </a:r>
            <a:r>
              <a:rPr lang="en-GB" sz="2500" dirty="0" err="1">
                <a:solidFill>
                  <a:srgbClr val="000000"/>
                </a:solidFill>
              </a:rPr>
              <a:t>inscrit</a:t>
            </a:r>
            <a:r>
              <a:rPr lang="en-GB" sz="2500" dirty="0">
                <a:solidFill>
                  <a:srgbClr val="000000"/>
                </a:solidFill>
              </a:rPr>
              <a:t> et met à jour </a:t>
            </a:r>
            <a:r>
              <a:rPr lang="en-GB" sz="2500" dirty="0" err="1">
                <a:solidFill>
                  <a:srgbClr val="000000"/>
                </a:solidFill>
              </a:rPr>
              <a:t>dynamiquement</a:t>
            </a:r>
            <a:r>
              <a:rPr lang="en-GB" sz="2500" dirty="0">
                <a:solidFill>
                  <a:srgbClr val="000000"/>
                </a:solidFill>
              </a:rPr>
              <a:t> les </a:t>
            </a:r>
            <a:r>
              <a:rPr lang="en-GB" sz="2500" dirty="0" err="1">
                <a:solidFill>
                  <a:srgbClr val="000000"/>
                </a:solidFill>
              </a:rPr>
              <a:t>enregistrements</a:t>
            </a:r>
            <a:r>
              <a:rPr lang="en-GB" sz="2500" dirty="0">
                <a:solidFill>
                  <a:srgbClr val="000000"/>
                </a:solidFill>
              </a:rPr>
              <a:t> de </a:t>
            </a:r>
            <a:r>
              <a:rPr lang="en-GB" sz="2500" dirty="0" err="1">
                <a:solidFill>
                  <a:srgbClr val="000000"/>
                </a:solidFill>
              </a:rPr>
              <a:t>ressources</a:t>
            </a:r>
            <a:endParaRPr lang="en-US" sz="2500" dirty="0"/>
          </a:p>
          <a:p>
            <a:pPr>
              <a:lnSpc>
                <a:spcPct val="85000"/>
              </a:lnSpc>
              <a:spcBef>
                <a:spcPct val="20000"/>
              </a:spcBef>
              <a:buClrTx/>
              <a:buFont typeface="Symbol" pitchFamily="18" charset="2"/>
              <a:buChar char="®"/>
            </a:pPr>
            <a:r>
              <a:rPr lang="en-GB" sz="2500" dirty="0">
                <a:solidFill>
                  <a:srgbClr val="000000"/>
                </a:solidFill>
              </a:rPr>
              <a:t>Comment </a:t>
            </a:r>
            <a:r>
              <a:rPr lang="en-GB" sz="2500" dirty="0" err="1">
                <a:solidFill>
                  <a:srgbClr val="000000"/>
                </a:solidFill>
              </a:rPr>
              <a:t>configurer</a:t>
            </a:r>
            <a:r>
              <a:rPr lang="en-GB" sz="2500" dirty="0">
                <a:solidFill>
                  <a:srgbClr val="000000"/>
                </a:solidFill>
              </a:rPr>
              <a:t> des </a:t>
            </a:r>
            <a:r>
              <a:rPr lang="en-GB" sz="2500" dirty="0" err="1">
                <a:solidFill>
                  <a:srgbClr val="000000"/>
                </a:solidFill>
              </a:rPr>
              <a:t>mises</a:t>
            </a:r>
            <a:r>
              <a:rPr lang="en-GB" sz="2500" dirty="0">
                <a:solidFill>
                  <a:srgbClr val="000000"/>
                </a:solidFill>
              </a:rPr>
              <a:t> à jour DNS </a:t>
            </a:r>
            <a:r>
              <a:rPr lang="en-GB" sz="2500" dirty="0" err="1">
                <a:solidFill>
                  <a:srgbClr val="000000"/>
                </a:solidFill>
              </a:rPr>
              <a:t>manuelles</a:t>
            </a:r>
            <a:r>
              <a:rPr lang="en-GB" sz="2500" dirty="0">
                <a:solidFill>
                  <a:srgbClr val="000000"/>
                </a:solidFill>
              </a:rPr>
              <a:t> et </a:t>
            </a:r>
            <a:r>
              <a:rPr lang="en-GB" sz="2500" dirty="0" err="1">
                <a:solidFill>
                  <a:srgbClr val="000000"/>
                </a:solidFill>
              </a:rPr>
              <a:t>dynamiques</a:t>
            </a:r>
            <a:endParaRPr lang="en-US" sz="2500" dirty="0"/>
          </a:p>
          <a:p>
            <a:pPr>
              <a:lnSpc>
                <a:spcPct val="85000"/>
              </a:lnSpc>
              <a:spcBef>
                <a:spcPct val="20000"/>
              </a:spcBef>
              <a:buClrTx/>
              <a:buFont typeface="Symbol" pitchFamily="18" charset="2"/>
              <a:buChar char="®"/>
            </a:pPr>
            <a:r>
              <a:rPr lang="en-GB" sz="2500" dirty="0">
                <a:solidFill>
                  <a:srgbClr val="000000"/>
                </a:solidFill>
              </a:rPr>
              <a:t>Utilisation des </a:t>
            </a:r>
            <a:r>
              <a:rPr lang="en-GB" sz="2500" dirty="0" err="1">
                <a:solidFill>
                  <a:srgbClr val="000000"/>
                </a:solidFill>
              </a:rPr>
              <a:t>mises</a:t>
            </a:r>
            <a:r>
              <a:rPr lang="en-GB" sz="2500" dirty="0">
                <a:solidFill>
                  <a:srgbClr val="000000"/>
                </a:solidFill>
              </a:rPr>
              <a:t> à jour </a:t>
            </a:r>
            <a:r>
              <a:rPr lang="en-GB" sz="2500" dirty="0" err="1">
                <a:solidFill>
                  <a:srgbClr val="000000"/>
                </a:solidFill>
              </a:rPr>
              <a:t>dynamiques</a:t>
            </a:r>
            <a:r>
              <a:rPr lang="en-GB" sz="2500" dirty="0">
                <a:solidFill>
                  <a:srgbClr val="000000"/>
                </a:solidFill>
              </a:rPr>
              <a:t> </a:t>
            </a:r>
            <a:r>
              <a:rPr lang="en-GB" sz="2500" dirty="0" err="1">
                <a:solidFill>
                  <a:srgbClr val="000000"/>
                </a:solidFill>
              </a:rPr>
              <a:t>sécurisées</a:t>
            </a:r>
            <a:r>
              <a:rPr lang="en-GB" sz="2500" dirty="0">
                <a:solidFill>
                  <a:srgbClr val="000000"/>
                </a:solidFill>
              </a:rPr>
              <a:t> par </a:t>
            </a:r>
            <a:br>
              <a:rPr lang="en-GB" sz="2500" dirty="0">
                <a:solidFill>
                  <a:srgbClr val="000000"/>
                </a:solidFill>
              </a:rPr>
            </a:br>
            <a:r>
              <a:rPr lang="en-GB" sz="2500" dirty="0">
                <a:solidFill>
                  <a:srgbClr val="000000"/>
                </a:solidFill>
              </a:rPr>
              <a:t>les zones DNS </a:t>
            </a:r>
            <a:r>
              <a:rPr lang="en-GB" sz="2500" dirty="0" err="1">
                <a:solidFill>
                  <a:srgbClr val="000000"/>
                </a:solidFill>
              </a:rPr>
              <a:t>intégrées</a:t>
            </a:r>
            <a:r>
              <a:rPr lang="en-GB" sz="2500" dirty="0">
                <a:solidFill>
                  <a:srgbClr val="000000"/>
                </a:solidFill>
              </a:rPr>
              <a:t> à Active Directory</a:t>
            </a:r>
            <a:endParaRPr lang="en-US" sz="2500" dirty="0"/>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30</a:t>
            </a:fld>
            <a:endParaRPr kumimoji="0"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7014" name="Rectangle 38"/>
          <p:cNvSpPr>
            <a:spLocks noGrp="1" noChangeArrowheads="1"/>
          </p:cNvSpPr>
          <p:nvPr>
            <p:ph type="title"/>
            <p:custDataLst>
              <p:tags r:id="rId1"/>
            </p:custDataLst>
          </p:nvPr>
        </p:nvSpPr>
        <p:spPr/>
        <p:txBody>
          <a:bodyPr vert="horz" anchor="b">
            <a:normAutofit/>
          </a:bodyPr>
          <a:lstStyle/>
          <a:p>
            <a:r>
              <a:rPr lang="en-GB" sz="3000" b="1" err="1">
                <a:solidFill>
                  <a:srgbClr val="C00000"/>
                </a:solidFill>
              </a:rPr>
              <a:t>Que</a:t>
            </a:r>
            <a:r>
              <a:rPr lang="en-GB" sz="3000" b="1">
                <a:solidFill>
                  <a:srgbClr val="C00000"/>
                </a:solidFill>
              </a:rPr>
              <a:t> </a:t>
            </a:r>
            <a:r>
              <a:rPr lang="en-GB" sz="3000" b="1" err="1">
                <a:solidFill>
                  <a:srgbClr val="C00000"/>
                </a:solidFill>
              </a:rPr>
              <a:t>sont</a:t>
            </a:r>
            <a:r>
              <a:rPr lang="en-GB" sz="3000" b="1">
                <a:solidFill>
                  <a:srgbClr val="C00000"/>
                </a:solidFill>
              </a:rPr>
              <a:t> les </a:t>
            </a:r>
            <a:r>
              <a:rPr lang="en-GB" sz="3000" b="1" err="1">
                <a:solidFill>
                  <a:srgbClr val="C00000"/>
                </a:solidFill>
              </a:rPr>
              <a:t>mises</a:t>
            </a:r>
            <a:r>
              <a:rPr lang="en-GB" sz="3000" b="1">
                <a:solidFill>
                  <a:srgbClr val="C00000"/>
                </a:solidFill>
              </a:rPr>
              <a:t> à jour </a:t>
            </a:r>
            <a:r>
              <a:rPr lang="en-GB" sz="3000" b="1" err="1">
                <a:solidFill>
                  <a:srgbClr val="C00000"/>
                </a:solidFill>
              </a:rPr>
              <a:t>dynamiques</a:t>
            </a:r>
            <a:r>
              <a:rPr lang="en-GB" sz="3000" b="1">
                <a:solidFill>
                  <a:srgbClr val="C00000"/>
                </a:solidFill>
              </a:rPr>
              <a:t> ?</a:t>
            </a:r>
            <a:endParaRPr lang="en-US" sz="3000" b="1">
              <a:solidFill>
                <a:srgbClr val="C00000"/>
              </a:solidFill>
            </a:endParaRPr>
          </a:p>
        </p:txBody>
      </p:sp>
      <p:sp>
        <p:nvSpPr>
          <p:cNvPr id="767166" name="AutoShape 190"/>
          <p:cNvSpPr>
            <a:spLocks noChangeArrowheads="1"/>
          </p:cNvSpPr>
          <p:nvPr>
            <p:custDataLst>
              <p:tags r:id="rId2"/>
            </p:custDataLst>
          </p:nvPr>
        </p:nvSpPr>
        <p:spPr bwMode="auto">
          <a:xfrm>
            <a:off x="260802" y="1683651"/>
            <a:ext cx="8650969" cy="2148115"/>
          </a:xfrm>
          <a:prstGeom prst="roundRect">
            <a:avLst>
              <a:gd name="adj" fmla="val 22222"/>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150000"/>
              </a:lnSpc>
            </a:pPr>
            <a:r>
              <a:rPr lang="fr-FR" sz="2600" b="1" u="sng">
                <a:solidFill>
                  <a:srgbClr val="000000"/>
                </a:solidFill>
              </a:rPr>
              <a:t>Une </a:t>
            </a:r>
            <a:r>
              <a:rPr lang="fr-FR" sz="2600" b="1" i="1" u="sng">
                <a:solidFill>
                  <a:srgbClr val="000000"/>
                </a:solidFill>
              </a:rPr>
              <a:t>mise à jour dynamique</a:t>
            </a:r>
            <a:r>
              <a:rPr lang="fr-FR" sz="2600" b="1" u="sng">
                <a:solidFill>
                  <a:srgbClr val="000000"/>
                </a:solidFill>
              </a:rPr>
              <a:t>  </a:t>
            </a:r>
            <a:r>
              <a:rPr lang="fr-FR" sz="2600" b="1">
                <a:solidFill>
                  <a:srgbClr val="000000"/>
                </a:solidFill>
              </a:rPr>
              <a:t>est le processus par lequel un client DNS crée, inscrit ou met à jour de façon dynamique ses enregistrements dans des zones</a:t>
            </a:r>
            <a:endParaRPr lang="fr-FR" sz="2600" b="1"/>
          </a:p>
        </p:txBody>
      </p:sp>
      <p:sp>
        <p:nvSpPr>
          <p:cNvPr id="767167" name="AutoShape 191"/>
          <p:cNvSpPr>
            <a:spLocks noChangeArrowheads="1"/>
          </p:cNvSpPr>
          <p:nvPr>
            <p:custDataLst>
              <p:tags r:id="rId3"/>
            </p:custDataLst>
          </p:nvPr>
        </p:nvSpPr>
        <p:spPr bwMode="auto">
          <a:xfrm>
            <a:off x="260801" y="4194403"/>
            <a:ext cx="8636455" cy="1858054"/>
          </a:xfrm>
          <a:prstGeom prst="roundRect">
            <a:avLst>
              <a:gd name="adj" fmla="val 14815"/>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lnSpc>
                <a:spcPct val="150000"/>
              </a:lnSpc>
            </a:pPr>
            <a:r>
              <a:rPr lang="fr-FR" sz="2600" b="1" u="sng">
                <a:solidFill>
                  <a:srgbClr val="000000"/>
                </a:solidFill>
              </a:rPr>
              <a:t>Une </a:t>
            </a:r>
            <a:r>
              <a:rPr lang="fr-FR" sz="2600" b="1" i="1" u="sng">
                <a:solidFill>
                  <a:srgbClr val="000000"/>
                </a:solidFill>
              </a:rPr>
              <a:t>mise à jour manuelle</a:t>
            </a:r>
            <a:r>
              <a:rPr lang="fr-FR" sz="2600" b="1" u="sng">
                <a:solidFill>
                  <a:srgbClr val="000000"/>
                </a:solidFill>
              </a:rPr>
              <a:t> </a:t>
            </a:r>
            <a:r>
              <a:rPr lang="fr-FR" sz="2600" b="1">
                <a:solidFill>
                  <a:srgbClr val="000000"/>
                </a:solidFill>
              </a:rPr>
              <a:t>est le processus par lequel un administrateur crée,  inscrit ou met à jour manuellement un enregistrement de ressource</a:t>
            </a:r>
            <a:endParaRPr lang="fr-FR" sz="2600" b="1"/>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31</a:t>
            </a:fld>
            <a:endParaRPr kumimoji="0"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7014" name="Rectangle 38"/>
          <p:cNvSpPr>
            <a:spLocks noGrp="1" noChangeArrowheads="1"/>
          </p:cNvSpPr>
          <p:nvPr>
            <p:ph type="title"/>
            <p:custDataLst>
              <p:tags r:id="rId1"/>
            </p:custDataLst>
          </p:nvPr>
        </p:nvSpPr>
        <p:spPr/>
        <p:txBody>
          <a:bodyPr vert="horz" anchor="b">
            <a:normAutofit/>
          </a:bodyPr>
          <a:lstStyle/>
          <a:p>
            <a:r>
              <a:rPr lang="en-GB" sz="3000" b="1">
                <a:solidFill>
                  <a:srgbClr val="C00000"/>
                </a:solidFill>
              </a:rPr>
              <a:t>Que sont les mises à jour dynamiques ?</a:t>
            </a:r>
            <a:endParaRPr lang="en-US" sz="3000" b="1">
              <a:solidFill>
                <a:srgbClr val="C00000"/>
              </a:solidFill>
            </a:endParaRPr>
          </a:p>
        </p:txBody>
      </p:sp>
      <p:sp>
        <p:nvSpPr>
          <p:cNvPr id="767169" name="Rectangle 193"/>
          <p:cNvSpPr>
            <a:spLocks noGrp="1" noChangeArrowheads="1"/>
          </p:cNvSpPr>
          <p:nvPr>
            <p:ph sz="quarter" idx="1"/>
            <p:custDataLst>
              <p:tags r:id="rId2"/>
            </p:custDataLst>
          </p:nvPr>
        </p:nvSpPr>
        <p:spPr>
          <a:xfrm>
            <a:off x="174170" y="1407886"/>
            <a:ext cx="8766630" cy="4992914"/>
          </a:xfrm>
          <a:noFill/>
          <a:ln/>
        </p:spPr>
        <p:txBody>
          <a:bodyPr>
            <a:normAutofit/>
          </a:bodyPr>
          <a:lstStyle/>
          <a:p>
            <a:pPr marL="177800" indent="-177800">
              <a:spcBef>
                <a:spcPct val="15000"/>
              </a:spcBef>
              <a:buClrTx/>
              <a:buFont typeface="Symbol" pitchFamily="18" charset="2"/>
              <a:buChar char=""/>
            </a:pPr>
            <a:r>
              <a:rPr lang="en-GB" sz="2600" b="1">
                <a:solidFill>
                  <a:srgbClr val="000000"/>
                </a:solidFill>
                <a:latin typeface="Arial Narrow" pitchFamily="34" charset="0"/>
              </a:rPr>
              <a:t>La </a:t>
            </a:r>
            <a:r>
              <a:rPr lang="en-GB" sz="2600" b="1" err="1">
                <a:solidFill>
                  <a:srgbClr val="000000"/>
                </a:solidFill>
                <a:latin typeface="Arial Narrow" pitchFamily="34" charset="0"/>
              </a:rPr>
              <a:t>mise</a:t>
            </a:r>
            <a:r>
              <a:rPr lang="en-GB" sz="2600" b="1">
                <a:solidFill>
                  <a:srgbClr val="000000"/>
                </a:solidFill>
                <a:latin typeface="Arial Narrow" pitchFamily="34" charset="0"/>
              </a:rPr>
              <a:t> à jour </a:t>
            </a:r>
            <a:r>
              <a:rPr lang="en-GB" sz="2600" b="1" err="1">
                <a:solidFill>
                  <a:srgbClr val="000000"/>
                </a:solidFill>
                <a:latin typeface="Arial Narrow" pitchFamily="34" charset="0"/>
              </a:rPr>
              <a:t>dynamique</a:t>
            </a:r>
            <a:r>
              <a:rPr lang="en-GB" sz="2600" b="1">
                <a:solidFill>
                  <a:srgbClr val="000000"/>
                </a:solidFill>
                <a:latin typeface="Arial Narrow" pitchFamily="34" charset="0"/>
              </a:rPr>
              <a:t> </a:t>
            </a:r>
            <a:r>
              <a:rPr lang="en-GB" sz="2600" b="1" err="1">
                <a:solidFill>
                  <a:srgbClr val="000000"/>
                </a:solidFill>
                <a:latin typeface="Arial Narrow" pitchFamily="34" charset="0"/>
              </a:rPr>
              <a:t>peut</a:t>
            </a:r>
            <a:r>
              <a:rPr lang="en-GB" sz="2600" b="1">
                <a:solidFill>
                  <a:srgbClr val="000000"/>
                </a:solidFill>
                <a:latin typeface="Arial Narrow" pitchFamily="34" charset="0"/>
              </a:rPr>
              <a:t> </a:t>
            </a:r>
            <a:r>
              <a:rPr lang="en-GB" sz="2600" b="1" err="1">
                <a:solidFill>
                  <a:srgbClr val="000000"/>
                </a:solidFill>
                <a:latin typeface="Arial Narrow" pitchFamily="34" charset="0"/>
              </a:rPr>
              <a:t>être</a:t>
            </a:r>
            <a:r>
              <a:rPr lang="en-GB" sz="2600" b="1">
                <a:solidFill>
                  <a:srgbClr val="000000"/>
                </a:solidFill>
                <a:latin typeface="Arial Narrow" pitchFamily="34" charset="0"/>
              </a:rPr>
              <a:t> </a:t>
            </a:r>
            <a:r>
              <a:rPr lang="en-GB" sz="2600" b="1" err="1">
                <a:solidFill>
                  <a:srgbClr val="000000"/>
                </a:solidFill>
                <a:latin typeface="Arial Narrow" pitchFamily="34" charset="0"/>
              </a:rPr>
              <a:t>bénéfique</a:t>
            </a:r>
            <a:r>
              <a:rPr lang="en-GB" sz="2600" b="1">
                <a:solidFill>
                  <a:srgbClr val="000000"/>
                </a:solidFill>
                <a:latin typeface="Arial Narrow" pitchFamily="34" charset="0"/>
              </a:rPr>
              <a:t> </a:t>
            </a:r>
            <a:r>
              <a:rPr lang="en-GB" sz="2600" b="1" err="1">
                <a:solidFill>
                  <a:srgbClr val="000000"/>
                </a:solidFill>
                <a:latin typeface="Arial Narrow" pitchFamily="34" charset="0"/>
              </a:rPr>
              <a:t>dans</a:t>
            </a:r>
            <a:r>
              <a:rPr lang="en-GB" sz="2600" b="1">
                <a:solidFill>
                  <a:srgbClr val="000000"/>
                </a:solidFill>
                <a:latin typeface="Arial Narrow" pitchFamily="34" charset="0"/>
              </a:rPr>
              <a:t> les organisations qui :</a:t>
            </a:r>
            <a:endParaRPr lang="en-US" sz="2600" b="1">
              <a:latin typeface="Arial Narrow" pitchFamily="34" charset="0"/>
            </a:endParaRPr>
          </a:p>
          <a:p>
            <a:pPr marL="463550" lvl="1" indent="-171450">
              <a:spcBef>
                <a:spcPct val="15000"/>
              </a:spcBef>
            </a:pPr>
            <a:r>
              <a:rPr lang="en-GB" sz="2600" b="1">
                <a:solidFill>
                  <a:srgbClr val="000000"/>
                </a:solidFill>
                <a:latin typeface="Arial Narrow" pitchFamily="34" charset="0"/>
              </a:rPr>
              <a:t> </a:t>
            </a:r>
            <a:r>
              <a:rPr lang="en-GB" sz="2600" b="1" err="1">
                <a:solidFill>
                  <a:srgbClr val="000000"/>
                </a:solidFill>
                <a:latin typeface="Arial Narrow" pitchFamily="34" charset="0"/>
              </a:rPr>
              <a:t>Connaissent</a:t>
            </a:r>
            <a:r>
              <a:rPr lang="en-GB" sz="2600" b="1">
                <a:solidFill>
                  <a:srgbClr val="000000"/>
                </a:solidFill>
                <a:latin typeface="Arial Narrow" pitchFamily="34" charset="0"/>
              </a:rPr>
              <a:t> des modifications </a:t>
            </a:r>
            <a:r>
              <a:rPr lang="en-GB" sz="2600" b="1" err="1">
                <a:solidFill>
                  <a:srgbClr val="000000"/>
                </a:solidFill>
                <a:latin typeface="Arial Narrow" pitchFamily="34" charset="0"/>
              </a:rPr>
              <a:t>dynamiques</a:t>
            </a:r>
            <a:endParaRPr lang="en-US" sz="2600" b="1">
              <a:latin typeface="Arial Narrow" pitchFamily="34" charset="0"/>
            </a:endParaRPr>
          </a:p>
          <a:p>
            <a:pPr marL="177800" indent="-177800">
              <a:spcBef>
                <a:spcPct val="15000"/>
              </a:spcBef>
              <a:buClrTx/>
              <a:buFont typeface="Symbol" pitchFamily="18" charset="2"/>
              <a:buChar char=""/>
            </a:pPr>
            <a:r>
              <a:rPr lang="en-GB" sz="2600" b="1">
                <a:solidFill>
                  <a:srgbClr val="000000"/>
                </a:solidFill>
                <a:latin typeface="Arial Narrow" pitchFamily="34" charset="0"/>
              </a:rPr>
              <a:t>La </a:t>
            </a:r>
            <a:r>
              <a:rPr lang="en-GB" sz="2600" b="1" err="1">
                <a:solidFill>
                  <a:srgbClr val="000000"/>
                </a:solidFill>
                <a:latin typeface="Arial Narrow" pitchFamily="34" charset="0"/>
              </a:rPr>
              <a:t>mise</a:t>
            </a:r>
            <a:r>
              <a:rPr lang="en-GB" sz="2600" b="1">
                <a:solidFill>
                  <a:srgbClr val="000000"/>
                </a:solidFill>
                <a:latin typeface="Arial Narrow" pitchFamily="34" charset="0"/>
              </a:rPr>
              <a:t> à jour </a:t>
            </a:r>
            <a:r>
              <a:rPr lang="en-GB" sz="2600" b="1" err="1">
                <a:solidFill>
                  <a:srgbClr val="000000"/>
                </a:solidFill>
                <a:latin typeface="Arial Narrow" pitchFamily="34" charset="0"/>
              </a:rPr>
              <a:t>manuelle</a:t>
            </a:r>
            <a:r>
              <a:rPr lang="en-GB" sz="2600" b="1">
                <a:solidFill>
                  <a:srgbClr val="000000"/>
                </a:solidFill>
                <a:latin typeface="Arial Narrow" pitchFamily="34" charset="0"/>
              </a:rPr>
              <a:t> </a:t>
            </a:r>
            <a:r>
              <a:rPr lang="en-GB" sz="2600" b="1" err="1">
                <a:solidFill>
                  <a:srgbClr val="000000"/>
                </a:solidFill>
                <a:latin typeface="Arial Narrow" pitchFamily="34" charset="0"/>
              </a:rPr>
              <a:t>peut</a:t>
            </a:r>
            <a:r>
              <a:rPr lang="en-GB" sz="2600" b="1">
                <a:solidFill>
                  <a:srgbClr val="000000"/>
                </a:solidFill>
                <a:latin typeface="Arial Narrow" pitchFamily="34" charset="0"/>
              </a:rPr>
              <a:t> </a:t>
            </a:r>
            <a:r>
              <a:rPr lang="en-GB" sz="2600" b="1" err="1">
                <a:solidFill>
                  <a:srgbClr val="000000"/>
                </a:solidFill>
                <a:latin typeface="Arial Narrow" pitchFamily="34" charset="0"/>
              </a:rPr>
              <a:t>être</a:t>
            </a:r>
            <a:r>
              <a:rPr lang="en-GB" sz="2600" b="1">
                <a:solidFill>
                  <a:srgbClr val="000000"/>
                </a:solidFill>
                <a:latin typeface="Arial Narrow" pitchFamily="34" charset="0"/>
              </a:rPr>
              <a:t> </a:t>
            </a:r>
            <a:r>
              <a:rPr lang="en-GB" sz="2600" b="1" err="1">
                <a:solidFill>
                  <a:srgbClr val="000000"/>
                </a:solidFill>
                <a:latin typeface="Arial Narrow" pitchFamily="34" charset="0"/>
              </a:rPr>
              <a:t>bénéfique</a:t>
            </a:r>
            <a:r>
              <a:rPr lang="en-GB" sz="2600" b="1">
                <a:solidFill>
                  <a:srgbClr val="000000"/>
                </a:solidFill>
                <a:latin typeface="Arial Narrow" pitchFamily="34" charset="0"/>
              </a:rPr>
              <a:t> </a:t>
            </a:r>
            <a:r>
              <a:rPr lang="en-GB" sz="2600" b="1" err="1">
                <a:solidFill>
                  <a:srgbClr val="000000"/>
                </a:solidFill>
                <a:latin typeface="Arial Narrow" pitchFamily="34" charset="0"/>
              </a:rPr>
              <a:t>dans</a:t>
            </a:r>
            <a:r>
              <a:rPr lang="en-GB" sz="2600" b="1">
                <a:solidFill>
                  <a:srgbClr val="000000"/>
                </a:solidFill>
                <a:latin typeface="Arial Narrow" pitchFamily="34" charset="0"/>
              </a:rPr>
              <a:t> les organisations qui :</a:t>
            </a:r>
            <a:endParaRPr lang="en-US" sz="2600" b="1">
              <a:solidFill>
                <a:srgbClr val="000000"/>
              </a:solidFill>
              <a:latin typeface="Arial Narrow" pitchFamily="34" charset="0"/>
            </a:endParaRPr>
          </a:p>
          <a:p>
            <a:pPr marL="463550" lvl="1" indent="-171450">
              <a:spcBef>
                <a:spcPct val="15000"/>
              </a:spcBef>
            </a:pPr>
            <a:r>
              <a:rPr lang="en-GB" sz="2600" b="1">
                <a:solidFill>
                  <a:srgbClr val="000000"/>
                </a:solidFill>
                <a:latin typeface="Arial Narrow" pitchFamily="34" charset="0"/>
              </a:rPr>
              <a:t> </a:t>
            </a:r>
            <a:r>
              <a:rPr lang="en-GB" sz="2600" b="1" err="1">
                <a:solidFill>
                  <a:srgbClr val="000000"/>
                </a:solidFill>
                <a:latin typeface="Arial Narrow" pitchFamily="34" charset="0"/>
              </a:rPr>
              <a:t>Ont</a:t>
            </a:r>
            <a:r>
              <a:rPr lang="en-GB" sz="2600" b="1">
                <a:solidFill>
                  <a:srgbClr val="000000"/>
                </a:solidFill>
                <a:latin typeface="Arial Narrow" pitchFamily="34" charset="0"/>
              </a:rPr>
              <a:t> un </a:t>
            </a:r>
            <a:r>
              <a:rPr lang="en-GB" sz="2600" b="1" err="1">
                <a:solidFill>
                  <a:srgbClr val="000000"/>
                </a:solidFill>
                <a:latin typeface="Arial Narrow" pitchFamily="34" charset="0"/>
              </a:rPr>
              <a:t>environnement</a:t>
            </a:r>
            <a:r>
              <a:rPr lang="en-GB" sz="2600" b="1">
                <a:solidFill>
                  <a:srgbClr val="000000"/>
                </a:solidFill>
                <a:latin typeface="Arial Narrow" pitchFamily="34" charset="0"/>
              </a:rPr>
              <a:t> de </a:t>
            </a:r>
            <a:r>
              <a:rPr lang="en-GB" sz="2600" b="1" err="1">
                <a:solidFill>
                  <a:srgbClr val="000000"/>
                </a:solidFill>
                <a:latin typeface="Arial Narrow" pitchFamily="34" charset="0"/>
              </a:rPr>
              <a:t>taille</a:t>
            </a:r>
            <a:r>
              <a:rPr lang="en-GB" sz="2600" b="1">
                <a:solidFill>
                  <a:srgbClr val="000000"/>
                </a:solidFill>
                <a:latin typeface="Arial Narrow" pitchFamily="34" charset="0"/>
              </a:rPr>
              <a:t> </a:t>
            </a:r>
            <a:r>
              <a:rPr lang="en-GB" sz="2600" b="1" err="1">
                <a:solidFill>
                  <a:srgbClr val="000000"/>
                </a:solidFill>
                <a:latin typeface="Arial Narrow" pitchFamily="34" charset="0"/>
              </a:rPr>
              <a:t>réduite</a:t>
            </a:r>
            <a:r>
              <a:rPr lang="en-GB" sz="2600" b="1">
                <a:solidFill>
                  <a:srgbClr val="000000"/>
                </a:solidFill>
                <a:latin typeface="Arial Narrow" pitchFamily="34" charset="0"/>
              </a:rPr>
              <a:t> avec un </a:t>
            </a:r>
            <a:r>
              <a:rPr lang="en-GB" sz="2600" b="1" err="1">
                <a:solidFill>
                  <a:srgbClr val="000000"/>
                </a:solidFill>
                <a:latin typeface="Arial Narrow" pitchFamily="34" charset="0"/>
              </a:rPr>
              <a:t>faible</a:t>
            </a:r>
            <a:r>
              <a:rPr lang="en-GB" sz="2600" b="1">
                <a:solidFill>
                  <a:srgbClr val="000000"/>
                </a:solidFill>
                <a:latin typeface="Arial Narrow" pitchFamily="34" charset="0"/>
              </a:rPr>
              <a:t> </a:t>
            </a:r>
            <a:r>
              <a:rPr lang="en-GB" sz="2600" b="1" err="1">
                <a:solidFill>
                  <a:srgbClr val="000000"/>
                </a:solidFill>
                <a:latin typeface="Arial Narrow" pitchFamily="34" charset="0"/>
              </a:rPr>
              <a:t>taux</a:t>
            </a:r>
            <a:r>
              <a:rPr lang="en-GB" sz="2600" b="1">
                <a:solidFill>
                  <a:srgbClr val="000000"/>
                </a:solidFill>
                <a:latin typeface="Arial Narrow" pitchFamily="34" charset="0"/>
              </a:rPr>
              <a:t> de modification des </a:t>
            </a:r>
            <a:r>
              <a:rPr lang="en-GB" sz="2600" b="1" err="1">
                <a:solidFill>
                  <a:srgbClr val="000000"/>
                </a:solidFill>
                <a:latin typeface="Arial Narrow" pitchFamily="34" charset="0"/>
              </a:rPr>
              <a:t>enregistrements</a:t>
            </a:r>
            <a:r>
              <a:rPr lang="en-GB" sz="2600" b="1">
                <a:solidFill>
                  <a:srgbClr val="000000"/>
                </a:solidFill>
                <a:latin typeface="Arial Narrow" pitchFamily="34" charset="0"/>
              </a:rPr>
              <a:t> de </a:t>
            </a:r>
            <a:r>
              <a:rPr lang="en-GB" sz="2600" b="1" err="1">
                <a:solidFill>
                  <a:srgbClr val="000000"/>
                </a:solidFill>
                <a:latin typeface="Arial Narrow" pitchFamily="34" charset="0"/>
              </a:rPr>
              <a:t>ressources</a:t>
            </a:r>
            <a:endParaRPr lang="en-US" sz="2600" b="1">
              <a:latin typeface="Arial Narrow" pitchFamily="34" charset="0"/>
            </a:endParaRPr>
          </a:p>
          <a:p>
            <a:pPr marL="463550" lvl="1" indent="-171450">
              <a:spcBef>
                <a:spcPct val="15000"/>
              </a:spcBef>
            </a:pPr>
            <a:r>
              <a:rPr lang="fr-FR" sz="2600" b="1">
                <a:solidFill>
                  <a:srgbClr val="000000"/>
                </a:solidFill>
                <a:latin typeface="Arial Narrow" pitchFamily="34" charset="0"/>
              </a:rPr>
              <a:t> Gèrent</a:t>
            </a:r>
            <a:r>
              <a:rPr lang="en-GB" sz="2600" b="1">
                <a:solidFill>
                  <a:srgbClr val="000000"/>
                </a:solidFill>
                <a:latin typeface="Arial Narrow" pitchFamily="34" charset="0"/>
              </a:rPr>
              <a:t> des </a:t>
            </a:r>
            <a:r>
              <a:rPr lang="en-GB" sz="2600" b="1" err="1">
                <a:solidFill>
                  <a:srgbClr val="000000"/>
                </a:solidFill>
                <a:latin typeface="Arial Narrow" pitchFamily="34" charset="0"/>
              </a:rPr>
              <a:t>cas</a:t>
            </a:r>
            <a:r>
              <a:rPr lang="en-GB" sz="2600" b="1">
                <a:solidFill>
                  <a:srgbClr val="000000"/>
                </a:solidFill>
                <a:latin typeface="Arial Narrow" pitchFamily="34" charset="0"/>
              </a:rPr>
              <a:t> </a:t>
            </a:r>
            <a:r>
              <a:rPr lang="en-GB" sz="2600" b="1" err="1">
                <a:solidFill>
                  <a:srgbClr val="000000"/>
                </a:solidFill>
                <a:latin typeface="Arial Narrow" pitchFamily="34" charset="0"/>
              </a:rPr>
              <a:t>isolés</a:t>
            </a:r>
            <a:r>
              <a:rPr lang="en-GB" sz="2600" b="1">
                <a:solidFill>
                  <a:srgbClr val="000000"/>
                </a:solidFill>
                <a:latin typeface="Arial Narrow" pitchFamily="34" charset="0"/>
              </a:rPr>
              <a:t>, par </a:t>
            </a:r>
            <a:r>
              <a:rPr lang="en-GB" sz="2600" b="1" err="1">
                <a:solidFill>
                  <a:srgbClr val="000000"/>
                </a:solidFill>
                <a:latin typeface="Arial Narrow" pitchFamily="34" charset="0"/>
              </a:rPr>
              <a:t>exemple</a:t>
            </a:r>
            <a:r>
              <a:rPr lang="en-GB" sz="2600" b="1">
                <a:solidFill>
                  <a:srgbClr val="000000"/>
                </a:solidFill>
                <a:latin typeface="Arial Narrow" pitchFamily="34" charset="0"/>
              </a:rPr>
              <a:t> </a:t>
            </a:r>
            <a:r>
              <a:rPr lang="en-GB" sz="2600" b="1" err="1">
                <a:solidFill>
                  <a:srgbClr val="000000"/>
                </a:solidFill>
                <a:latin typeface="Arial Narrow" pitchFamily="34" charset="0"/>
              </a:rPr>
              <a:t>quand</a:t>
            </a:r>
            <a:r>
              <a:rPr lang="en-GB" sz="2600" b="1">
                <a:solidFill>
                  <a:srgbClr val="000000"/>
                </a:solidFill>
                <a:latin typeface="Arial Narrow" pitchFamily="34" charset="0"/>
              </a:rPr>
              <a:t> </a:t>
            </a:r>
            <a:r>
              <a:rPr lang="en-GB" sz="2600" b="1" err="1">
                <a:solidFill>
                  <a:srgbClr val="000000"/>
                </a:solidFill>
                <a:latin typeface="Arial Narrow" pitchFamily="34" charset="0"/>
              </a:rPr>
              <a:t>une</a:t>
            </a:r>
            <a:r>
              <a:rPr lang="en-GB" sz="2600" b="1">
                <a:solidFill>
                  <a:srgbClr val="000000"/>
                </a:solidFill>
                <a:latin typeface="Arial Narrow" pitchFamily="34" charset="0"/>
              </a:rPr>
              <a:t> organisation </a:t>
            </a:r>
            <a:r>
              <a:rPr lang="en-GB" sz="2600" b="1" err="1">
                <a:solidFill>
                  <a:srgbClr val="000000"/>
                </a:solidFill>
                <a:latin typeface="Arial Narrow" pitchFamily="34" charset="0"/>
              </a:rPr>
              <a:t>relativement</a:t>
            </a:r>
            <a:r>
              <a:rPr lang="en-GB" sz="2600" b="1">
                <a:solidFill>
                  <a:srgbClr val="000000"/>
                </a:solidFill>
                <a:latin typeface="Arial Narrow" pitchFamily="34" charset="0"/>
              </a:rPr>
              <a:t> </a:t>
            </a:r>
            <a:r>
              <a:rPr lang="en-GB" sz="2600" b="1" err="1">
                <a:solidFill>
                  <a:srgbClr val="000000"/>
                </a:solidFill>
                <a:latin typeface="Arial Narrow" pitchFamily="34" charset="0"/>
              </a:rPr>
              <a:t>importante</a:t>
            </a:r>
            <a:r>
              <a:rPr lang="en-GB" sz="2600" b="1">
                <a:solidFill>
                  <a:srgbClr val="000000"/>
                </a:solidFill>
                <a:latin typeface="Arial Narrow" pitchFamily="34" charset="0"/>
              </a:rPr>
              <a:t> </a:t>
            </a:r>
            <a:r>
              <a:rPr lang="en-GB" sz="2600" b="1" err="1">
                <a:solidFill>
                  <a:srgbClr val="000000"/>
                </a:solidFill>
                <a:latin typeface="Arial Narrow" pitchFamily="34" charset="0"/>
              </a:rPr>
              <a:t>choisit</a:t>
            </a:r>
            <a:r>
              <a:rPr lang="en-GB" sz="2600" b="1">
                <a:solidFill>
                  <a:srgbClr val="000000"/>
                </a:solidFill>
                <a:latin typeface="Arial Narrow" pitchFamily="34" charset="0"/>
              </a:rPr>
              <a:t> de </a:t>
            </a:r>
            <a:r>
              <a:rPr lang="en-GB" sz="2600" b="1" err="1">
                <a:solidFill>
                  <a:srgbClr val="000000"/>
                </a:solidFill>
                <a:latin typeface="Arial Narrow" pitchFamily="34" charset="0"/>
              </a:rPr>
              <a:t>contrôler</a:t>
            </a:r>
            <a:r>
              <a:rPr lang="en-GB" sz="2600" b="1">
                <a:solidFill>
                  <a:srgbClr val="000000"/>
                </a:solidFill>
                <a:latin typeface="Arial Narrow" pitchFamily="34" charset="0"/>
              </a:rPr>
              <a:t> </a:t>
            </a:r>
            <a:r>
              <a:rPr lang="en-GB" sz="2600" b="1" err="1">
                <a:solidFill>
                  <a:srgbClr val="000000"/>
                </a:solidFill>
                <a:latin typeface="Arial Narrow" pitchFamily="34" charset="0"/>
              </a:rPr>
              <a:t>chaque</a:t>
            </a:r>
            <a:r>
              <a:rPr lang="en-GB" sz="2600" b="1">
                <a:solidFill>
                  <a:srgbClr val="000000"/>
                </a:solidFill>
                <a:latin typeface="Arial Narrow" pitchFamily="34" charset="0"/>
              </a:rPr>
              <a:t> </a:t>
            </a:r>
            <a:r>
              <a:rPr lang="en-GB" sz="2600" b="1" err="1">
                <a:solidFill>
                  <a:srgbClr val="000000"/>
                </a:solidFill>
                <a:latin typeface="Arial Narrow" pitchFamily="34" charset="0"/>
              </a:rPr>
              <a:t>adresse</a:t>
            </a:r>
            <a:r>
              <a:rPr lang="en-GB" sz="2600" b="1">
                <a:solidFill>
                  <a:srgbClr val="000000"/>
                </a:solidFill>
                <a:latin typeface="Arial Narrow" pitchFamily="34" charset="0"/>
              </a:rPr>
              <a:t> </a:t>
            </a:r>
            <a:r>
              <a:rPr lang="en-GB" sz="2600" b="1" err="1">
                <a:solidFill>
                  <a:srgbClr val="000000"/>
                </a:solidFill>
                <a:latin typeface="Arial Narrow" pitchFamily="34" charset="0"/>
              </a:rPr>
              <a:t>sur</a:t>
            </a:r>
            <a:r>
              <a:rPr lang="en-GB" sz="2600" b="1">
                <a:solidFill>
                  <a:srgbClr val="000000"/>
                </a:solidFill>
                <a:latin typeface="Arial Narrow" pitchFamily="34" charset="0"/>
              </a:rPr>
              <a:t> </a:t>
            </a:r>
            <a:r>
              <a:rPr lang="en-GB" sz="2600" b="1" err="1">
                <a:solidFill>
                  <a:srgbClr val="000000"/>
                </a:solidFill>
                <a:latin typeface="Arial Narrow" pitchFamily="34" charset="0"/>
              </a:rPr>
              <a:t>chaque</a:t>
            </a:r>
            <a:r>
              <a:rPr lang="en-GB" sz="2600" b="1">
                <a:solidFill>
                  <a:srgbClr val="000000"/>
                </a:solidFill>
                <a:latin typeface="Arial Narrow" pitchFamily="34" charset="0"/>
              </a:rPr>
              <a:t> </a:t>
            </a:r>
            <a:r>
              <a:rPr lang="en-GB" sz="2600" b="1" err="1">
                <a:solidFill>
                  <a:srgbClr val="000000"/>
                </a:solidFill>
                <a:latin typeface="Arial Narrow" pitchFamily="34" charset="0"/>
              </a:rPr>
              <a:t>hôte</a:t>
            </a:r>
            <a:endParaRPr lang="en-US" sz="2600" b="1">
              <a:solidFill>
                <a:srgbClr val="000000"/>
              </a:solidFill>
              <a:latin typeface="Arial Narrow" pitchFamily="34" charset="0"/>
            </a:endParaRPr>
          </a:p>
        </p:txBody>
      </p:sp>
      <p:sp>
        <p:nvSpPr>
          <p:cNvPr id="5" name="Espace réservé du numéro de diapositive 4"/>
          <p:cNvSpPr>
            <a:spLocks noGrp="1"/>
          </p:cNvSpPr>
          <p:nvPr>
            <p:ph type="sldNum" sz="quarter" idx="12"/>
          </p:nvPr>
        </p:nvSpPr>
        <p:spPr/>
        <p:txBody>
          <a:bodyPr/>
          <a:lstStyle/>
          <a:p>
            <a:fld id="{2C6B1FF6-39B9-40F5-8B67-33C6354A3D4F}" type="slidenum">
              <a:rPr kumimoji="0" lang="en-US" smtClean="0"/>
              <a:pPr/>
              <a:t>32</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67169">
                                            <p:txEl>
                                              <p:pRg st="0" end="0"/>
                                            </p:txEl>
                                          </p:spTgt>
                                        </p:tgtEl>
                                        <p:attrNameLst>
                                          <p:attrName>style.visibility</p:attrName>
                                        </p:attrNameLst>
                                      </p:cBhvr>
                                      <p:to>
                                        <p:strVal val="visible"/>
                                      </p:to>
                                    </p:set>
                                    <p:animEffect transition="in" filter="checkerboard(across)">
                                      <p:cBhvr>
                                        <p:cTn id="7" dur="1000"/>
                                        <p:tgtEl>
                                          <p:spTgt spid="767169">
                                            <p:txEl>
                                              <p:pRg st="0" end="0"/>
                                            </p:txEl>
                                          </p:spTgt>
                                        </p:tgtEl>
                                      </p:cBhvr>
                                    </p:animEffect>
                                  </p:childTnLst>
                                </p:cTn>
                              </p:par>
                            </p:childTnLst>
                          </p:cTn>
                        </p:par>
                        <p:par>
                          <p:cTn id="8" fill="hold">
                            <p:stCondLst>
                              <p:cond delay="1000"/>
                            </p:stCondLst>
                            <p:childTnLst>
                              <p:par>
                                <p:cTn id="9" presetID="5" presetClass="entr" presetSubtype="10" fill="hold" nodeType="afterEffect">
                                  <p:stCondLst>
                                    <p:cond delay="0"/>
                                  </p:stCondLst>
                                  <p:childTnLst>
                                    <p:set>
                                      <p:cBhvr>
                                        <p:cTn id="10" dur="1" fill="hold">
                                          <p:stCondLst>
                                            <p:cond delay="0"/>
                                          </p:stCondLst>
                                        </p:cTn>
                                        <p:tgtEl>
                                          <p:spTgt spid="767169">
                                            <p:txEl>
                                              <p:pRg st="1" end="1"/>
                                            </p:txEl>
                                          </p:spTgt>
                                        </p:tgtEl>
                                        <p:attrNameLst>
                                          <p:attrName>style.visibility</p:attrName>
                                        </p:attrNameLst>
                                      </p:cBhvr>
                                      <p:to>
                                        <p:strVal val="visible"/>
                                      </p:to>
                                    </p:set>
                                    <p:animEffect transition="in" filter="checkerboard(across)">
                                      <p:cBhvr>
                                        <p:cTn id="11" dur="1000"/>
                                        <p:tgtEl>
                                          <p:spTgt spid="76716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767169">
                                            <p:txEl>
                                              <p:pRg st="2" end="2"/>
                                            </p:txEl>
                                          </p:spTgt>
                                        </p:tgtEl>
                                        <p:attrNameLst>
                                          <p:attrName>style.visibility</p:attrName>
                                        </p:attrNameLst>
                                      </p:cBhvr>
                                      <p:to>
                                        <p:strVal val="visible"/>
                                      </p:to>
                                    </p:set>
                                    <p:animEffect transition="in" filter="checkerboard(across)">
                                      <p:cBhvr>
                                        <p:cTn id="16" dur="1000"/>
                                        <p:tgtEl>
                                          <p:spTgt spid="767169">
                                            <p:txEl>
                                              <p:pRg st="2" end="2"/>
                                            </p:txEl>
                                          </p:spTgt>
                                        </p:tgtEl>
                                      </p:cBhvr>
                                    </p:animEffect>
                                  </p:childTnLst>
                                </p:cTn>
                              </p:par>
                            </p:childTnLst>
                          </p:cTn>
                        </p:par>
                        <p:par>
                          <p:cTn id="17" fill="hold">
                            <p:stCondLst>
                              <p:cond delay="1000"/>
                            </p:stCondLst>
                            <p:childTnLst>
                              <p:par>
                                <p:cTn id="18" presetID="5" presetClass="entr" presetSubtype="10" fill="hold" nodeType="afterEffect">
                                  <p:stCondLst>
                                    <p:cond delay="0"/>
                                  </p:stCondLst>
                                  <p:childTnLst>
                                    <p:set>
                                      <p:cBhvr>
                                        <p:cTn id="19" dur="1" fill="hold">
                                          <p:stCondLst>
                                            <p:cond delay="0"/>
                                          </p:stCondLst>
                                        </p:cTn>
                                        <p:tgtEl>
                                          <p:spTgt spid="767169">
                                            <p:txEl>
                                              <p:pRg st="3" end="3"/>
                                            </p:txEl>
                                          </p:spTgt>
                                        </p:tgtEl>
                                        <p:attrNameLst>
                                          <p:attrName>style.visibility</p:attrName>
                                        </p:attrNameLst>
                                      </p:cBhvr>
                                      <p:to>
                                        <p:strVal val="visible"/>
                                      </p:to>
                                    </p:set>
                                    <p:animEffect transition="in" filter="checkerboard(across)">
                                      <p:cBhvr>
                                        <p:cTn id="20" dur="1000"/>
                                        <p:tgtEl>
                                          <p:spTgt spid="76716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767169">
                                            <p:txEl>
                                              <p:pRg st="4" end="4"/>
                                            </p:txEl>
                                          </p:spTgt>
                                        </p:tgtEl>
                                        <p:attrNameLst>
                                          <p:attrName>style.visibility</p:attrName>
                                        </p:attrNameLst>
                                      </p:cBhvr>
                                      <p:to>
                                        <p:strVal val="visible"/>
                                      </p:to>
                                    </p:set>
                                    <p:animEffect transition="in" filter="checkerboard(across)">
                                      <p:cBhvr>
                                        <p:cTn id="25" dur="1000"/>
                                        <p:tgtEl>
                                          <p:spTgt spid="76716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custDataLst>
              <p:tags r:id="rId1"/>
            </p:custDataLst>
          </p:nvPr>
        </p:nvSpPr>
        <p:spPr>
          <a:xfrm>
            <a:off x="10888" y="87089"/>
            <a:ext cx="9133111" cy="928909"/>
          </a:xfrm>
          <a:solidFill>
            <a:schemeClr val="bg1"/>
          </a:solidFill>
        </p:spPr>
        <p:txBody>
          <a:bodyPr vert="horz" anchor="b">
            <a:noAutofit/>
          </a:bodyPr>
          <a:lstStyle/>
          <a:p>
            <a:r>
              <a:rPr lang="fr-FR" sz="2400" b="1">
                <a:solidFill>
                  <a:srgbClr val="C00000"/>
                </a:solidFill>
              </a:rPr>
              <a:t>Comment les clients DNS inscrivent et mettent à jour de manière dynamique leurs enregistrements de ressources</a:t>
            </a:r>
            <a:endParaRPr lang="en-US" sz="2400" b="1">
              <a:solidFill>
                <a:srgbClr val="C00000"/>
              </a:solidFill>
            </a:endParaRPr>
          </a:p>
        </p:txBody>
      </p:sp>
      <p:sp>
        <p:nvSpPr>
          <p:cNvPr id="738355" name="Freeform 51"/>
          <p:cNvSpPr>
            <a:spLocks/>
          </p:cNvSpPr>
          <p:nvPr/>
        </p:nvSpPr>
        <p:spPr bwMode="auto">
          <a:xfrm>
            <a:off x="2630488" y="1558925"/>
            <a:ext cx="811212" cy="914400"/>
          </a:xfrm>
          <a:custGeom>
            <a:avLst/>
            <a:gdLst/>
            <a:ahLst/>
            <a:cxnLst>
              <a:cxn ang="0">
                <a:pos x="0" y="503"/>
              </a:cxn>
              <a:cxn ang="0">
                <a:pos x="422" y="0"/>
              </a:cxn>
              <a:cxn ang="0">
                <a:pos x="511" y="576"/>
              </a:cxn>
              <a:cxn ang="0">
                <a:pos x="0" y="503"/>
              </a:cxn>
            </a:cxnLst>
            <a:rect l="0" t="0" r="r" b="b"/>
            <a:pathLst>
              <a:path w="511" h="576">
                <a:moveTo>
                  <a:pt x="0" y="503"/>
                </a:moveTo>
                <a:lnTo>
                  <a:pt x="422" y="0"/>
                </a:lnTo>
                <a:lnTo>
                  <a:pt x="511" y="576"/>
                </a:lnTo>
                <a:lnTo>
                  <a:pt x="0" y="503"/>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fr-FR"/>
          </a:p>
        </p:txBody>
      </p:sp>
      <p:sp>
        <p:nvSpPr>
          <p:cNvPr id="738358" name="AutoShape 54"/>
          <p:cNvSpPr>
            <a:spLocks noChangeArrowheads="1"/>
          </p:cNvSpPr>
          <p:nvPr>
            <p:custDataLst>
              <p:tags r:id="rId2"/>
            </p:custDataLst>
          </p:nvPr>
        </p:nvSpPr>
        <p:spPr bwMode="auto">
          <a:xfrm>
            <a:off x="5322888" y="1858965"/>
            <a:ext cx="3821112" cy="66288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client </a:t>
            </a:r>
            <a:r>
              <a:rPr lang="en-GB" sz="2200" b="1" err="1">
                <a:solidFill>
                  <a:srgbClr val="000000"/>
                </a:solidFill>
              </a:rPr>
              <a:t>envoie</a:t>
            </a:r>
            <a:r>
              <a:rPr lang="en-GB" sz="2200" b="1">
                <a:solidFill>
                  <a:srgbClr val="000000"/>
                </a:solidFill>
              </a:rPr>
              <a:t> </a:t>
            </a:r>
            <a:r>
              <a:rPr lang="en-GB" sz="2200" b="1" err="1">
                <a:solidFill>
                  <a:srgbClr val="000000"/>
                </a:solidFill>
              </a:rPr>
              <a:t>une</a:t>
            </a:r>
            <a:r>
              <a:rPr lang="en-GB" sz="2200" b="1">
                <a:solidFill>
                  <a:srgbClr val="000000"/>
                </a:solidFill>
              </a:rPr>
              <a:t> </a:t>
            </a:r>
            <a:r>
              <a:rPr lang="en-GB" sz="2200" b="1" err="1">
                <a:solidFill>
                  <a:srgbClr val="000000"/>
                </a:solidFill>
              </a:rPr>
              <a:t>requête</a:t>
            </a:r>
            <a:r>
              <a:rPr lang="en-GB" sz="2200" b="1">
                <a:solidFill>
                  <a:srgbClr val="000000"/>
                </a:solidFill>
              </a:rPr>
              <a:t> SOA</a:t>
            </a:r>
            <a:endParaRPr lang="en-US" sz="2200" b="1"/>
          </a:p>
        </p:txBody>
      </p:sp>
      <p:sp>
        <p:nvSpPr>
          <p:cNvPr id="738359" name="AutoShape 55"/>
          <p:cNvSpPr>
            <a:spLocks noChangeArrowheads="1"/>
          </p:cNvSpPr>
          <p:nvPr>
            <p:custDataLst>
              <p:tags r:id="rId3"/>
            </p:custDataLst>
          </p:nvPr>
        </p:nvSpPr>
        <p:spPr bwMode="auto">
          <a:xfrm>
            <a:off x="5008112" y="2039938"/>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sp>
        <p:nvSpPr>
          <p:cNvPr id="738360" name="AutoShape 56"/>
          <p:cNvSpPr>
            <a:spLocks noChangeArrowheads="1"/>
          </p:cNvSpPr>
          <p:nvPr>
            <p:custDataLst>
              <p:tags r:id="rId4"/>
            </p:custDataLst>
          </p:nvPr>
        </p:nvSpPr>
        <p:spPr bwMode="auto">
          <a:xfrm>
            <a:off x="5322888" y="2609624"/>
            <a:ext cx="3821112" cy="1001091"/>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serveur DNS envoie le nom de la zone et l'adresse IP du serveur</a:t>
            </a:r>
            <a:endParaRPr lang="en-US" sz="2200" b="1"/>
          </a:p>
        </p:txBody>
      </p:sp>
      <p:sp>
        <p:nvSpPr>
          <p:cNvPr id="738361" name="AutoShape 57"/>
          <p:cNvSpPr>
            <a:spLocks noChangeArrowheads="1"/>
          </p:cNvSpPr>
          <p:nvPr>
            <p:custDataLst>
              <p:tags r:id="rId5"/>
            </p:custDataLst>
          </p:nvPr>
        </p:nvSpPr>
        <p:spPr bwMode="auto">
          <a:xfrm>
            <a:off x="5009699" y="2856592"/>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738362" name="AutoShape 58"/>
          <p:cNvSpPr>
            <a:spLocks noChangeArrowheads="1"/>
          </p:cNvSpPr>
          <p:nvPr>
            <p:custDataLst>
              <p:tags r:id="rId6"/>
            </p:custDataLst>
          </p:nvPr>
        </p:nvSpPr>
        <p:spPr bwMode="auto">
          <a:xfrm>
            <a:off x="5324474" y="3677556"/>
            <a:ext cx="3819047" cy="66288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client vérifie l'inscription existante</a:t>
            </a:r>
            <a:endParaRPr lang="en-US" sz="2200" b="1"/>
          </a:p>
        </p:txBody>
      </p:sp>
      <p:sp>
        <p:nvSpPr>
          <p:cNvPr id="738363" name="AutoShape 59"/>
          <p:cNvSpPr>
            <a:spLocks noChangeArrowheads="1"/>
          </p:cNvSpPr>
          <p:nvPr>
            <p:custDataLst>
              <p:tags r:id="rId7"/>
            </p:custDataLst>
          </p:nvPr>
        </p:nvSpPr>
        <p:spPr bwMode="auto">
          <a:xfrm>
            <a:off x="5009699" y="3797751"/>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738364" name="AutoShape 60"/>
          <p:cNvSpPr>
            <a:spLocks noChangeArrowheads="1"/>
          </p:cNvSpPr>
          <p:nvPr>
            <p:custDataLst>
              <p:tags r:id="rId8"/>
            </p:custDataLst>
          </p:nvPr>
        </p:nvSpPr>
        <p:spPr bwMode="auto">
          <a:xfrm>
            <a:off x="5326062" y="4399186"/>
            <a:ext cx="3816979" cy="92958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a:t>
            </a:r>
            <a:r>
              <a:rPr lang="en-GB" sz="2200" b="1" err="1">
                <a:solidFill>
                  <a:srgbClr val="000000"/>
                </a:solidFill>
              </a:rPr>
              <a:t>serveur</a:t>
            </a:r>
            <a:r>
              <a:rPr lang="en-GB" sz="2200" b="1">
                <a:solidFill>
                  <a:srgbClr val="000000"/>
                </a:solidFill>
              </a:rPr>
              <a:t> DNS </a:t>
            </a:r>
            <a:r>
              <a:rPr lang="en-GB" sz="2200" b="1" err="1">
                <a:solidFill>
                  <a:srgbClr val="000000"/>
                </a:solidFill>
              </a:rPr>
              <a:t>répond</a:t>
            </a:r>
            <a:r>
              <a:rPr lang="en-GB" sz="2200" b="1">
                <a:solidFill>
                  <a:srgbClr val="000000"/>
                </a:solidFill>
              </a:rPr>
              <a:t> en </a:t>
            </a:r>
            <a:r>
              <a:rPr lang="en-GB" sz="2200" b="1" err="1">
                <a:solidFill>
                  <a:srgbClr val="000000"/>
                </a:solidFill>
              </a:rPr>
              <a:t>indiquant</a:t>
            </a:r>
            <a:r>
              <a:rPr lang="en-GB" sz="2200" b="1">
                <a:solidFill>
                  <a:srgbClr val="000000"/>
                </a:solidFill>
              </a:rPr>
              <a:t> </a:t>
            </a:r>
            <a:r>
              <a:rPr lang="en-GB" sz="2200" b="1" err="1">
                <a:solidFill>
                  <a:srgbClr val="000000"/>
                </a:solidFill>
              </a:rPr>
              <a:t>que</a:t>
            </a:r>
            <a:r>
              <a:rPr lang="en-GB" sz="2200" b="1">
                <a:solidFill>
                  <a:srgbClr val="000000"/>
                </a:solidFill>
              </a:rPr>
              <a:t> </a:t>
            </a:r>
            <a:r>
              <a:rPr lang="en-GB" sz="2200" b="1" err="1">
                <a:solidFill>
                  <a:srgbClr val="000000"/>
                </a:solidFill>
              </a:rPr>
              <a:t>l'inscription</a:t>
            </a:r>
            <a:r>
              <a:rPr lang="en-GB" sz="2200" b="1">
                <a:solidFill>
                  <a:srgbClr val="000000"/>
                </a:solidFill>
              </a:rPr>
              <a:t> </a:t>
            </a:r>
            <a:r>
              <a:rPr lang="en-GB" sz="2200" b="1" err="1">
                <a:solidFill>
                  <a:srgbClr val="000000"/>
                </a:solidFill>
              </a:rPr>
              <a:t>n'existe</a:t>
            </a:r>
            <a:r>
              <a:rPr lang="en-GB" sz="2200" b="1">
                <a:solidFill>
                  <a:srgbClr val="000000"/>
                </a:solidFill>
              </a:rPr>
              <a:t> pas</a:t>
            </a:r>
            <a:endParaRPr lang="en-US" sz="2200" b="1"/>
          </a:p>
        </p:txBody>
      </p:sp>
      <p:sp>
        <p:nvSpPr>
          <p:cNvPr id="738366" name="AutoShape 62"/>
          <p:cNvSpPr>
            <a:spLocks noChangeArrowheads="1"/>
          </p:cNvSpPr>
          <p:nvPr>
            <p:custDataLst>
              <p:tags r:id="rId9"/>
            </p:custDataLst>
          </p:nvPr>
        </p:nvSpPr>
        <p:spPr bwMode="auto">
          <a:xfrm>
            <a:off x="5324474" y="5381168"/>
            <a:ext cx="3819047" cy="8890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client </a:t>
            </a:r>
            <a:r>
              <a:rPr lang="en-GB" sz="2200" b="1" err="1">
                <a:solidFill>
                  <a:srgbClr val="000000"/>
                </a:solidFill>
              </a:rPr>
              <a:t>envoie</a:t>
            </a:r>
            <a:r>
              <a:rPr lang="en-GB" sz="2200" b="1">
                <a:solidFill>
                  <a:srgbClr val="000000"/>
                </a:solidFill>
              </a:rPr>
              <a:t> </a:t>
            </a:r>
            <a:r>
              <a:rPr lang="en-GB" sz="2200" b="1" err="1">
                <a:solidFill>
                  <a:srgbClr val="000000"/>
                </a:solidFill>
              </a:rPr>
              <a:t>une</a:t>
            </a:r>
            <a:r>
              <a:rPr lang="en-GB" sz="2200" b="1">
                <a:solidFill>
                  <a:srgbClr val="000000"/>
                </a:solidFill>
              </a:rPr>
              <a:t> </a:t>
            </a:r>
            <a:r>
              <a:rPr lang="en-GB" sz="2200" b="1" err="1">
                <a:solidFill>
                  <a:srgbClr val="000000"/>
                </a:solidFill>
              </a:rPr>
              <a:t>mise</a:t>
            </a:r>
            <a:r>
              <a:rPr lang="en-GB" sz="2200" b="1">
                <a:solidFill>
                  <a:srgbClr val="000000"/>
                </a:solidFill>
              </a:rPr>
              <a:t> </a:t>
            </a:r>
            <a:br>
              <a:rPr lang="en-GB" sz="2200" b="1">
                <a:solidFill>
                  <a:srgbClr val="000000"/>
                </a:solidFill>
              </a:rPr>
            </a:br>
            <a:r>
              <a:rPr lang="en-GB" sz="2200" b="1">
                <a:solidFill>
                  <a:srgbClr val="000000"/>
                </a:solidFill>
              </a:rPr>
              <a:t>à jour </a:t>
            </a:r>
            <a:r>
              <a:rPr lang="en-GB" sz="2200" b="1" err="1">
                <a:solidFill>
                  <a:srgbClr val="000000"/>
                </a:solidFill>
              </a:rPr>
              <a:t>dynamique</a:t>
            </a:r>
            <a:r>
              <a:rPr lang="en-GB" sz="2200" b="1">
                <a:solidFill>
                  <a:srgbClr val="000000"/>
                </a:solidFill>
              </a:rPr>
              <a:t> au </a:t>
            </a:r>
            <a:r>
              <a:rPr lang="en-GB" sz="2200" b="1" err="1">
                <a:solidFill>
                  <a:srgbClr val="000000"/>
                </a:solidFill>
              </a:rPr>
              <a:t>serveur</a:t>
            </a:r>
            <a:r>
              <a:rPr lang="en-GB" sz="2200" b="1">
                <a:solidFill>
                  <a:srgbClr val="000000"/>
                </a:solidFill>
              </a:rPr>
              <a:t> DNS</a:t>
            </a:r>
            <a:endParaRPr lang="en-US" sz="2200" b="1"/>
          </a:p>
        </p:txBody>
      </p:sp>
      <p:sp>
        <p:nvSpPr>
          <p:cNvPr id="738367" name="AutoShape 63"/>
          <p:cNvSpPr>
            <a:spLocks noChangeArrowheads="1"/>
          </p:cNvSpPr>
          <p:nvPr>
            <p:custDataLst>
              <p:tags r:id="rId10"/>
            </p:custDataLst>
          </p:nvPr>
        </p:nvSpPr>
        <p:spPr bwMode="auto">
          <a:xfrm>
            <a:off x="4996999" y="5634711"/>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5</a:t>
            </a:r>
          </a:p>
        </p:txBody>
      </p:sp>
      <p:pic>
        <p:nvPicPr>
          <p:cNvPr id="738369" name="Picture 65" descr="Server01"/>
          <p:cNvPicPr>
            <a:picLocks noChangeAspect="1" noChangeArrowheads="1"/>
          </p:cNvPicPr>
          <p:nvPr>
            <p:custDataLst>
              <p:tags r:id="rId11"/>
            </p:custDataLst>
          </p:nvPr>
        </p:nvPicPr>
        <p:blipFill>
          <a:blip r:embed="rId34" cstate="print"/>
          <a:srcRect/>
          <a:stretch>
            <a:fillRect/>
          </a:stretch>
        </p:blipFill>
        <p:spPr bwMode="auto">
          <a:xfrm>
            <a:off x="1438275" y="1322388"/>
            <a:ext cx="1225550" cy="1441450"/>
          </a:xfrm>
          <a:prstGeom prst="rect">
            <a:avLst/>
          </a:prstGeom>
          <a:noFill/>
        </p:spPr>
      </p:pic>
      <p:pic>
        <p:nvPicPr>
          <p:cNvPr id="738370" name="Picture 66" descr="Database01"/>
          <p:cNvPicPr>
            <a:picLocks noChangeAspect="1" noChangeArrowheads="1"/>
          </p:cNvPicPr>
          <p:nvPr>
            <p:custDataLst>
              <p:tags r:id="rId12"/>
            </p:custDataLst>
          </p:nvPr>
        </p:nvPicPr>
        <p:blipFill>
          <a:blip r:embed="rId35" cstate="print"/>
          <a:srcRect/>
          <a:stretch>
            <a:fillRect/>
          </a:stretch>
        </p:blipFill>
        <p:spPr bwMode="auto">
          <a:xfrm>
            <a:off x="2185988" y="2151063"/>
            <a:ext cx="860425" cy="696912"/>
          </a:xfrm>
          <a:prstGeom prst="rect">
            <a:avLst/>
          </a:prstGeom>
          <a:noFill/>
        </p:spPr>
      </p:pic>
      <p:pic>
        <p:nvPicPr>
          <p:cNvPr id="738371" name="Picture 67" descr="Computer_DesktopComputerSansKeyboard01"/>
          <p:cNvPicPr>
            <a:picLocks noChangeAspect="1" noChangeArrowheads="1"/>
          </p:cNvPicPr>
          <p:nvPr/>
        </p:nvPicPr>
        <p:blipFill>
          <a:blip r:embed="rId36" cstate="print"/>
          <a:srcRect/>
          <a:stretch>
            <a:fillRect/>
          </a:stretch>
        </p:blipFill>
        <p:spPr bwMode="auto">
          <a:xfrm>
            <a:off x="3692525" y="4499429"/>
            <a:ext cx="890976" cy="1088571"/>
          </a:xfrm>
          <a:prstGeom prst="rect">
            <a:avLst/>
          </a:prstGeom>
          <a:noFill/>
        </p:spPr>
      </p:pic>
      <p:pic>
        <p:nvPicPr>
          <p:cNvPr id="738372" name="Picture 68" descr="Computer_DesktopComputerSansKeyboard01"/>
          <p:cNvPicPr>
            <a:picLocks noChangeAspect="1" noChangeArrowheads="1"/>
          </p:cNvPicPr>
          <p:nvPr/>
        </p:nvPicPr>
        <p:blipFill>
          <a:blip r:embed="rId36" cstate="print"/>
          <a:srcRect/>
          <a:stretch>
            <a:fillRect/>
          </a:stretch>
        </p:blipFill>
        <p:spPr bwMode="auto">
          <a:xfrm>
            <a:off x="2416174" y="4470401"/>
            <a:ext cx="914735" cy="1117600"/>
          </a:xfrm>
          <a:prstGeom prst="rect">
            <a:avLst/>
          </a:prstGeom>
          <a:noFill/>
        </p:spPr>
      </p:pic>
      <p:pic>
        <p:nvPicPr>
          <p:cNvPr id="738373" name="Picture 69" descr="Server01"/>
          <p:cNvPicPr>
            <a:picLocks noChangeAspect="1" noChangeArrowheads="1"/>
          </p:cNvPicPr>
          <p:nvPr/>
        </p:nvPicPr>
        <p:blipFill>
          <a:blip r:embed="rId37" cstate="print"/>
          <a:srcRect/>
          <a:stretch>
            <a:fillRect/>
          </a:stretch>
        </p:blipFill>
        <p:spPr bwMode="auto">
          <a:xfrm>
            <a:off x="993775" y="4383315"/>
            <a:ext cx="1013712" cy="1191986"/>
          </a:xfrm>
          <a:prstGeom prst="rect">
            <a:avLst/>
          </a:prstGeom>
          <a:noFill/>
        </p:spPr>
      </p:pic>
      <p:sp>
        <p:nvSpPr>
          <p:cNvPr id="738374" name="AutoShape 70"/>
          <p:cNvSpPr>
            <a:spLocks noChangeArrowheads="1"/>
          </p:cNvSpPr>
          <p:nvPr>
            <p:custDataLst>
              <p:tags r:id="rId13"/>
            </p:custDataLst>
          </p:nvPr>
        </p:nvSpPr>
        <p:spPr bwMode="auto">
          <a:xfrm>
            <a:off x="653143" y="5656263"/>
            <a:ext cx="1431245" cy="64293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dirty="0">
                <a:solidFill>
                  <a:srgbClr val="000000"/>
                </a:solidFill>
              </a:rPr>
              <a:t>Windows </a:t>
            </a:r>
            <a:endParaRPr lang="en-US" sz="2000" b="1" dirty="0"/>
          </a:p>
          <a:p>
            <a:pPr>
              <a:lnSpc>
                <a:spcPct val="85000"/>
              </a:lnSpc>
            </a:pPr>
            <a:r>
              <a:rPr lang="en-GB" sz="2000" b="1" dirty="0">
                <a:solidFill>
                  <a:srgbClr val="000000"/>
                </a:solidFill>
              </a:rPr>
              <a:t>Server 2008</a:t>
            </a:r>
            <a:endParaRPr lang="en-US" sz="2000" b="1" dirty="0">
              <a:solidFill>
                <a:srgbClr val="000000"/>
              </a:solidFill>
            </a:endParaRPr>
          </a:p>
        </p:txBody>
      </p:sp>
      <p:sp>
        <p:nvSpPr>
          <p:cNvPr id="738375" name="AutoShape 71"/>
          <p:cNvSpPr>
            <a:spLocks noChangeArrowheads="1"/>
          </p:cNvSpPr>
          <p:nvPr>
            <p:custDataLst>
              <p:tags r:id="rId14"/>
            </p:custDataLst>
          </p:nvPr>
        </p:nvSpPr>
        <p:spPr bwMode="auto">
          <a:xfrm>
            <a:off x="2131106" y="5643563"/>
            <a:ext cx="1207180" cy="670151"/>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dirty="0">
                <a:solidFill>
                  <a:srgbClr val="000000"/>
                </a:solidFill>
              </a:rPr>
              <a:t>Windows </a:t>
            </a:r>
            <a:endParaRPr lang="en-US" sz="2000" b="1" dirty="0"/>
          </a:p>
          <a:p>
            <a:pPr>
              <a:lnSpc>
                <a:spcPct val="85000"/>
              </a:lnSpc>
            </a:pPr>
            <a:r>
              <a:rPr lang="en-GB" sz="2000" b="1" dirty="0">
                <a:solidFill>
                  <a:srgbClr val="000000"/>
                </a:solidFill>
              </a:rPr>
              <a:t>7</a:t>
            </a:r>
            <a:endParaRPr lang="en-US" sz="2000" b="1" dirty="0">
              <a:solidFill>
                <a:srgbClr val="000000"/>
              </a:solidFill>
            </a:endParaRPr>
          </a:p>
        </p:txBody>
      </p:sp>
      <p:sp>
        <p:nvSpPr>
          <p:cNvPr id="738376" name="AutoShape 72"/>
          <p:cNvSpPr>
            <a:spLocks noChangeArrowheads="1"/>
          </p:cNvSpPr>
          <p:nvPr>
            <p:custDataLst>
              <p:tags r:id="rId15"/>
            </p:custDataLst>
          </p:nvPr>
        </p:nvSpPr>
        <p:spPr bwMode="auto">
          <a:xfrm>
            <a:off x="3454399" y="5630863"/>
            <a:ext cx="1248229" cy="66833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a:solidFill>
                  <a:srgbClr val="000000"/>
                </a:solidFill>
              </a:rPr>
              <a:t>Windows </a:t>
            </a:r>
            <a:endParaRPr lang="en-US" sz="2000" b="1"/>
          </a:p>
          <a:p>
            <a:pPr>
              <a:lnSpc>
                <a:spcPct val="85000"/>
              </a:lnSpc>
            </a:pPr>
            <a:r>
              <a:rPr lang="en-US" sz="2000" b="1"/>
              <a:t>2000</a:t>
            </a:r>
          </a:p>
        </p:txBody>
      </p:sp>
      <p:sp>
        <p:nvSpPr>
          <p:cNvPr id="738377" name="AutoShape 73"/>
          <p:cNvSpPr>
            <a:spLocks noChangeArrowheads="1"/>
          </p:cNvSpPr>
          <p:nvPr>
            <p:custDataLst>
              <p:tags r:id="rId16"/>
            </p:custDataLst>
          </p:nvPr>
        </p:nvSpPr>
        <p:spPr bwMode="auto">
          <a:xfrm>
            <a:off x="941388" y="1814513"/>
            <a:ext cx="644525" cy="3492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a:solidFill>
                  <a:srgbClr val="000000"/>
                </a:solidFill>
              </a:rPr>
              <a:t>local</a:t>
            </a:r>
            <a:endParaRPr lang="en-US" sz="2000" b="1"/>
          </a:p>
        </p:txBody>
      </p:sp>
      <p:pic>
        <p:nvPicPr>
          <p:cNvPr id="738380" name="Picture 76" descr="Document_Document01"/>
          <p:cNvPicPr>
            <a:picLocks noChangeAspect="1" noChangeArrowheads="1"/>
          </p:cNvPicPr>
          <p:nvPr>
            <p:custDataLst>
              <p:tags r:id="rId17"/>
            </p:custDataLst>
          </p:nvPr>
        </p:nvPicPr>
        <p:blipFill>
          <a:blip r:embed="rId38"/>
          <a:srcRect/>
          <a:stretch>
            <a:fillRect/>
          </a:stretch>
        </p:blipFill>
        <p:spPr bwMode="auto">
          <a:xfrm>
            <a:off x="3544888" y="1322388"/>
            <a:ext cx="1438275" cy="1203325"/>
          </a:xfrm>
          <a:prstGeom prst="rect">
            <a:avLst/>
          </a:prstGeom>
          <a:noFill/>
        </p:spPr>
      </p:pic>
      <p:pic>
        <p:nvPicPr>
          <p:cNvPr id="738381" name="Picture 77" descr="Document_Document01"/>
          <p:cNvPicPr>
            <a:picLocks noChangeAspect="1" noChangeArrowheads="1"/>
          </p:cNvPicPr>
          <p:nvPr>
            <p:custDataLst>
              <p:tags r:id="rId18"/>
            </p:custDataLst>
          </p:nvPr>
        </p:nvPicPr>
        <p:blipFill>
          <a:blip r:embed="rId38"/>
          <a:srcRect/>
          <a:stretch>
            <a:fillRect/>
          </a:stretch>
        </p:blipFill>
        <p:spPr bwMode="auto">
          <a:xfrm>
            <a:off x="3397250" y="1403350"/>
            <a:ext cx="1497013" cy="1203325"/>
          </a:xfrm>
          <a:prstGeom prst="rect">
            <a:avLst/>
          </a:prstGeom>
          <a:noFill/>
        </p:spPr>
      </p:pic>
      <p:pic>
        <p:nvPicPr>
          <p:cNvPr id="738382" name="Picture 78" descr="Document_Document01"/>
          <p:cNvPicPr>
            <a:picLocks noChangeAspect="1" noChangeArrowheads="1"/>
          </p:cNvPicPr>
          <p:nvPr>
            <p:custDataLst>
              <p:tags r:id="rId19"/>
            </p:custDataLst>
          </p:nvPr>
        </p:nvPicPr>
        <p:blipFill>
          <a:blip r:embed="rId38"/>
          <a:srcRect/>
          <a:stretch>
            <a:fillRect/>
          </a:stretch>
        </p:blipFill>
        <p:spPr bwMode="auto">
          <a:xfrm>
            <a:off x="2975430" y="1484313"/>
            <a:ext cx="1828346" cy="1203325"/>
          </a:xfrm>
          <a:prstGeom prst="rect">
            <a:avLst/>
          </a:prstGeom>
          <a:noFill/>
        </p:spPr>
      </p:pic>
      <p:sp>
        <p:nvSpPr>
          <p:cNvPr id="738383" name="Text Box 79"/>
          <p:cNvSpPr txBox="1">
            <a:spLocks noChangeArrowheads="1"/>
          </p:cNvSpPr>
          <p:nvPr>
            <p:custDataLst>
              <p:tags r:id="rId20"/>
            </p:custDataLst>
          </p:nvPr>
        </p:nvSpPr>
        <p:spPr bwMode="auto">
          <a:xfrm>
            <a:off x="3205163" y="1611086"/>
            <a:ext cx="1493837" cy="865414"/>
          </a:xfrm>
          <a:prstGeom prst="rect">
            <a:avLst/>
          </a:prstGeom>
          <a:solidFill>
            <a:schemeClr val="accent1">
              <a:alpha val="50000"/>
            </a:schemeClr>
          </a:solidFill>
          <a:ln w="9525" algn="ctr">
            <a:noFill/>
            <a:miter lim="800000"/>
            <a:headEnd/>
            <a:tailEnd/>
          </a:ln>
          <a:effectLst/>
        </p:spPr>
        <p:txBody>
          <a:bodyPr wrap="none"/>
          <a:lstStyle/>
          <a:p>
            <a:r>
              <a:rPr lang="en-GB" sz="2000" b="1" err="1">
                <a:solidFill>
                  <a:srgbClr val="000000"/>
                </a:solidFill>
              </a:rPr>
              <a:t>Enregistrements</a:t>
            </a:r>
            <a:endParaRPr lang="en-US" sz="2000" b="1"/>
          </a:p>
          <a:p>
            <a:r>
              <a:rPr lang="en-GB" sz="2000" b="1">
                <a:solidFill>
                  <a:srgbClr val="000000"/>
                </a:solidFill>
              </a:rPr>
              <a:t>de </a:t>
            </a:r>
            <a:r>
              <a:rPr lang="en-GB" sz="2000" b="1" err="1">
                <a:solidFill>
                  <a:srgbClr val="000000"/>
                </a:solidFill>
              </a:rPr>
              <a:t>ressources</a:t>
            </a:r>
            <a:endParaRPr lang="en-US" sz="2000" b="1">
              <a:solidFill>
                <a:srgbClr val="000000"/>
              </a:solidFill>
            </a:endParaRPr>
          </a:p>
        </p:txBody>
      </p:sp>
      <p:sp>
        <p:nvSpPr>
          <p:cNvPr id="738384" name="AutoShape 80"/>
          <p:cNvSpPr>
            <a:spLocks/>
          </p:cNvSpPr>
          <p:nvPr/>
        </p:nvSpPr>
        <p:spPr bwMode="auto">
          <a:xfrm rot="16200000">
            <a:off x="2414588" y="3087688"/>
            <a:ext cx="384175" cy="2320925"/>
          </a:xfrm>
          <a:prstGeom prst="leftBrace">
            <a:avLst>
              <a:gd name="adj1" fmla="val 50344"/>
              <a:gd name="adj2" fmla="val 50843"/>
            </a:avLst>
          </a:prstGeom>
          <a:noFill/>
          <a:ln w="38100">
            <a:solidFill>
              <a:srgbClr val="000000"/>
            </a:solidFill>
            <a:round/>
            <a:headEnd/>
            <a:tailEnd/>
          </a:ln>
          <a:effectLst/>
        </p:spPr>
        <p:txBody>
          <a:bodyPr wrap="none" anchor="ctr"/>
          <a:lstStyle/>
          <a:p>
            <a:endParaRPr lang="fr-FR"/>
          </a:p>
        </p:txBody>
      </p:sp>
      <p:sp>
        <p:nvSpPr>
          <p:cNvPr id="738385" name="AutoShape 81"/>
          <p:cNvSpPr>
            <a:spLocks/>
          </p:cNvSpPr>
          <p:nvPr/>
        </p:nvSpPr>
        <p:spPr bwMode="auto">
          <a:xfrm rot="5400000">
            <a:off x="2543969" y="1924844"/>
            <a:ext cx="369887" cy="2320925"/>
          </a:xfrm>
          <a:prstGeom prst="leftBrace">
            <a:avLst>
              <a:gd name="adj1" fmla="val 52289"/>
              <a:gd name="adj2" fmla="val 50843"/>
            </a:avLst>
          </a:prstGeom>
          <a:noFill/>
          <a:ln w="38100">
            <a:solidFill>
              <a:srgbClr val="000000"/>
            </a:solidFill>
            <a:round/>
            <a:headEnd/>
            <a:tailEnd/>
          </a:ln>
          <a:effectLst/>
        </p:spPr>
        <p:txBody>
          <a:bodyPr wrap="none" anchor="ctr"/>
          <a:lstStyle/>
          <a:p>
            <a:endParaRPr lang="fr-FR"/>
          </a:p>
        </p:txBody>
      </p:sp>
      <p:sp>
        <p:nvSpPr>
          <p:cNvPr id="738388" name="Line 84"/>
          <p:cNvSpPr>
            <a:spLocks noChangeShapeType="1"/>
          </p:cNvSpPr>
          <p:nvPr>
            <p:custDataLst>
              <p:tags r:id="rId21"/>
            </p:custDataLst>
          </p:nvPr>
        </p:nvSpPr>
        <p:spPr bwMode="auto">
          <a:xfrm flipV="1">
            <a:off x="1617663" y="3198813"/>
            <a:ext cx="0" cy="909638"/>
          </a:xfrm>
          <a:prstGeom prst="line">
            <a:avLst/>
          </a:prstGeom>
          <a:noFill/>
          <a:ln w="50800">
            <a:solidFill>
              <a:srgbClr val="CC0000"/>
            </a:solidFill>
            <a:round/>
            <a:headEnd/>
            <a:tailEnd type="triangle" w="med" len="med"/>
          </a:ln>
          <a:effectLst/>
        </p:spPr>
        <p:txBody>
          <a:bodyPr anchor="ctr"/>
          <a:lstStyle/>
          <a:p>
            <a:endParaRPr lang="fr-FR"/>
          </a:p>
        </p:txBody>
      </p:sp>
      <p:sp>
        <p:nvSpPr>
          <p:cNvPr id="738389" name="Line 85"/>
          <p:cNvSpPr>
            <a:spLocks noChangeShapeType="1"/>
          </p:cNvSpPr>
          <p:nvPr>
            <p:custDataLst>
              <p:tags r:id="rId22"/>
            </p:custDataLst>
          </p:nvPr>
        </p:nvSpPr>
        <p:spPr bwMode="auto">
          <a:xfrm flipV="1">
            <a:off x="2603500" y="3206751"/>
            <a:ext cx="0" cy="909638"/>
          </a:xfrm>
          <a:prstGeom prst="line">
            <a:avLst/>
          </a:prstGeom>
          <a:noFill/>
          <a:ln w="50800">
            <a:solidFill>
              <a:srgbClr val="CC0000"/>
            </a:solidFill>
            <a:round/>
            <a:headEnd/>
            <a:tailEnd type="triangle" w="med" len="med"/>
          </a:ln>
          <a:effectLst/>
        </p:spPr>
        <p:txBody>
          <a:bodyPr anchor="ctr"/>
          <a:lstStyle/>
          <a:p>
            <a:endParaRPr lang="fr-FR"/>
          </a:p>
        </p:txBody>
      </p:sp>
      <p:sp>
        <p:nvSpPr>
          <p:cNvPr id="738390" name="Line 86"/>
          <p:cNvSpPr>
            <a:spLocks noChangeShapeType="1"/>
          </p:cNvSpPr>
          <p:nvPr>
            <p:custDataLst>
              <p:tags r:id="rId23"/>
            </p:custDataLst>
          </p:nvPr>
        </p:nvSpPr>
        <p:spPr bwMode="auto">
          <a:xfrm flipV="1">
            <a:off x="3590925" y="3198813"/>
            <a:ext cx="0" cy="909638"/>
          </a:xfrm>
          <a:prstGeom prst="line">
            <a:avLst/>
          </a:prstGeom>
          <a:noFill/>
          <a:ln w="50800">
            <a:solidFill>
              <a:srgbClr val="CC0000"/>
            </a:solidFill>
            <a:round/>
            <a:headEnd/>
            <a:tailEnd type="triangle" w="med" len="med"/>
          </a:ln>
          <a:effectLst/>
        </p:spPr>
        <p:txBody>
          <a:bodyPr anchor="ctr"/>
          <a:lstStyle/>
          <a:p>
            <a:endParaRPr lang="fr-FR"/>
          </a:p>
        </p:txBody>
      </p:sp>
      <p:sp>
        <p:nvSpPr>
          <p:cNvPr id="738391" name="Line 87"/>
          <p:cNvSpPr>
            <a:spLocks noChangeShapeType="1"/>
          </p:cNvSpPr>
          <p:nvPr>
            <p:custDataLst>
              <p:tags r:id="rId24"/>
            </p:custDataLst>
          </p:nvPr>
        </p:nvSpPr>
        <p:spPr bwMode="auto">
          <a:xfrm>
            <a:off x="2109788" y="3206751"/>
            <a:ext cx="0" cy="908050"/>
          </a:xfrm>
          <a:prstGeom prst="line">
            <a:avLst/>
          </a:prstGeom>
          <a:noFill/>
          <a:ln w="50800">
            <a:solidFill>
              <a:srgbClr val="CC0000"/>
            </a:solidFill>
            <a:round/>
            <a:headEnd/>
            <a:tailEnd type="triangle" w="med" len="med"/>
          </a:ln>
          <a:effectLst/>
        </p:spPr>
        <p:txBody>
          <a:bodyPr anchor="ctr"/>
          <a:lstStyle/>
          <a:p>
            <a:endParaRPr lang="fr-FR"/>
          </a:p>
        </p:txBody>
      </p:sp>
      <p:sp>
        <p:nvSpPr>
          <p:cNvPr id="738392" name="Line 88"/>
          <p:cNvSpPr>
            <a:spLocks noChangeShapeType="1"/>
          </p:cNvSpPr>
          <p:nvPr>
            <p:custDataLst>
              <p:tags r:id="rId25"/>
            </p:custDataLst>
          </p:nvPr>
        </p:nvSpPr>
        <p:spPr bwMode="auto">
          <a:xfrm>
            <a:off x="3097213" y="3233738"/>
            <a:ext cx="0" cy="908050"/>
          </a:xfrm>
          <a:prstGeom prst="line">
            <a:avLst/>
          </a:prstGeom>
          <a:noFill/>
          <a:ln w="50800">
            <a:solidFill>
              <a:srgbClr val="CC0000"/>
            </a:solidFill>
            <a:round/>
            <a:headEnd/>
            <a:tailEnd type="triangle" w="med" len="med"/>
          </a:ln>
          <a:effectLst/>
        </p:spPr>
        <p:txBody>
          <a:bodyPr anchor="ctr"/>
          <a:lstStyle/>
          <a:p>
            <a:endParaRPr lang="fr-FR"/>
          </a:p>
        </p:txBody>
      </p:sp>
      <p:sp>
        <p:nvSpPr>
          <p:cNvPr id="738393" name="AutoShape 89"/>
          <p:cNvSpPr>
            <a:spLocks noChangeArrowheads="1"/>
          </p:cNvSpPr>
          <p:nvPr>
            <p:custDataLst>
              <p:tags r:id="rId26"/>
            </p:custDataLst>
          </p:nvPr>
        </p:nvSpPr>
        <p:spPr bwMode="auto">
          <a:xfrm>
            <a:off x="1457325" y="345757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sp>
        <p:nvSpPr>
          <p:cNvPr id="738394" name="AutoShape 90"/>
          <p:cNvSpPr>
            <a:spLocks noChangeArrowheads="1"/>
          </p:cNvSpPr>
          <p:nvPr>
            <p:custDataLst>
              <p:tags r:id="rId27"/>
            </p:custDataLst>
          </p:nvPr>
        </p:nvSpPr>
        <p:spPr bwMode="auto">
          <a:xfrm>
            <a:off x="1949450" y="345757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738395" name="AutoShape 91"/>
          <p:cNvSpPr>
            <a:spLocks noChangeArrowheads="1"/>
          </p:cNvSpPr>
          <p:nvPr>
            <p:custDataLst>
              <p:tags r:id="rId28"/>
            </p:custDataLst>
          </p:nvPr>
        </p:nvSpPr>
        <p:spPr bwMode="auto">
          <a:xfrm>
            <a:off x="2443163" y="3457575"/>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738396" name="AutoShape 92"/>
          <p:cNvSpPr>
            <a:spLocks noChangeArrowheads="1"/>
          </p:cNvSpPr>
          <p:nvPr>
            <p:custDataLst>
              <p:tags r:id="rId29"/>
            </p:custDataLst>
          </p:nvPr>
        </p:nvSpPr>
        <p:spPr bwMode="auto">
          <a:xfrm>
            <a:off x="2935288" y="3457575"/>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4</a:t>
            </a:r>
          </a:p>
        </p:txBody>
      </p:sp>
      <p:sp>
        <p:nvSpPr>
          <p:cNvPr id="738397" name="AutoShape 93"/>
          <p:cNvSpPr>
            <a:spLocks noChangeArrowheads="1"/>
          </p:cNvSpPr>
          <p:nvPr>
            <p:custDataLst>
              <p:tags r:id="rId30"/>
            </p:custDataLst>
          </p:nvPr>
        </p:nvSpPr>
        <p:spPr bwMode="auto">
          <a:xfrm>
            <a:off x="3429000" y="345757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5</a:t>
            </a:r>
          </a:p>
        </p:txBody>
      </p:sp>
      <p:sp>
        <p:nvSpPr>
          <p:cNvPr id="738398" name="AutoShape 94"/>
          <p:cNvSpPr>
            <a:spLocks noChangeArrowheads="1"/>
          </p:cNvSpPr>
          <p:nvPr>
            <p:custDataLst>
              <p:tags r:id="rId31"/>
            </p:custDataLst>
          </p:nvPr>
        </p:nvSpPr>
        <p:spPr bwMode="auto">
          <a:xfrm>
            <a:off x="5006524" y="4665432"/>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4</a:t>
            </a:r>
          </a:p>
        </p:txBody>
      </p:sp>
      <p:sp>
        <p:nvSpPr>
          <p:cNvPr id="44" name="Espace réservé du numéro de diapositive 43"/>
          <p:cNvSpPr>
            <a:spLocks noGrp="1"/>
          </p:cNvSpPr>
          <p:nvPr>
            <p:ph type="sldNum" sz="quarter" idx="12"/>
          </p:nvPr>
        </p:nvSpPr>
        <p:spPr/>
        <p:txBody>
          <a:bodyPr/>
          <a:lstStyle/>
          <a:p>
            <a:fld id="{2C6B1FF6-39B9-40F5-8B67-33C6354A3D4F}" type="slidenum">
              <a:rPr kumimoji="0" lang="en-US" smtClean="0"/>
              <a:pPr/>
              <a:t>33</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38393"/>
                                        </p:tgtEl>
                                        <p:attrNameLst>
                                          <p:attrName>style.visibility</p:attrName>
                                        </p:attrNameLst>
                                      </p:cBhvr>
                                      <p:to>
                                        <p:strVal val="visible"/>
                                      </p:to>
                                    </p:set>
                                    <p:animEffect transition="in" filter="checkerboard(across)">
                                      <p:cBhvr>
                                        <p:cTn id="7" dur="1000"/>
                                        <p:tgtEl>
                                          <p:spTgt spid="73839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38388"/>
                                        </p:tgtEl>
                                        <p:attrNameLst>
                                          <p:attrName>style.visibility</p:attrName>
                                        </p:attrNameLst>
                                      </p:cBhvr>
                                      <p:to>
                                        <p:strVal val="visible"/>
                                      </p:to>
                                    </p:set>
                                    <p:animEffect transition="in" filter="checkerboard(across)">
                                      <p:cBhvr>
                                        <p:cTn id="10" dur="1000"/>
                                        <p:tgtEl>
                                          <p:spTgt spid="738388"/>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38359"/>
                                        </p:tgtEl>
                                        <p:attrNameLst>
                                          <p:attrName>style.visibility</p:attrName>
                                        </p:attrNameLst>
                                      </p:cBhvr>
                                      <p:to>
                                        <p:strVal val="visible"/>
                                      </p:to>
                                    </p:set>
                                    <p:animEffect transition="in" filter="checkerboard(across)">
                                      <p:cBhvr>
                                        <p:cTn id="13" dur="1000"/>
                                        <p:tgtEl>
                                          <p:spTgt spid="738359"/>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738358"/>
                                        </p:tgtEl>
                                        <p:attrNameLst>
                                          <p:attrName>style.visibility</p:attrName>
                                        </p:attrNameLst>
                                      </p:cBhvr>
                                      <p:to>
                                        <p:strVal val="visible"/>
                                      </p:to>
                                    </p:set>
                                    <p:animEffect transition="in" filter="checkerboard(across)">
                                      <p:cBhvr>
                                        <p:cTn id="16" dur="1000"/>
                                        <p:tgtEl>
                                          <p:spTgt spid="738358"/>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738394"/>
                                        </p:tgtEl>
                                        <p:attrNameLst>
                                          <p:attrName>style.visibility</p:attrName>
                                        </p:attrNameLst>
                                      </p:cBhvr>
                                      <p:to>
                                        <p:strVal val="visible"/>
                                      </p:to>
                                    </p:set>
                                    <p:animEffect transition="in" filter="checkerboard(across)">
                                      <p:cBhvr>
                                        <p:cTn id="21" dur="1000"/>
                                        <p:tgtEl>
                                          <p:spTgt spid="73839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738391"/>
                                        </p:tgtEl>
                                        <p:attrNameLst>
                                          <p:attrName>style.visibility</p:attrName>
                                        </p:attrNameLst>
                                      </p:cBhvr>
                                      <p:to>
                                        <p:strVal val="visible"/>
                                      </p:to>
                                    </p:set>
                                    <p:animEffect transition="in" filter="checkerboard(across)">
                                      <p:cBhvr>
                                        <p:cTn id="24" dur="1000"/>
                                        <p:tgtEl>
                                          <p:spTgt spid="738391"/>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738361"/>
                                        </p:tgtEl>
                                        <p:attrNameLst>
                                          <p:attrName>style.visibility</p:attrName>
                                        </p:attrNameLst>
                                      </p:cBhvr>
                                      <p:to>
                                        <p:strVal val="visible"/>
                                      </p:to>
                                    </p:set>
                                    <p:animEffect transition="in" filter="checkerboard(across)">
                                      <p:cBhvr>
                                        <p:cTn id="27" dur="1000"/>
                                        <p:tgtEl>
                                          <p:spTgt spid="738361"/>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738360"/>
                                        </p:tgtEl>
                                        <p:attrNameLst>
                                          <p:attrName>style.visibility</p:attrName>
                                        </p:attrNameLst>
                                      </p:cBhvr>
                                      <p:to>
                                        <p:strVal val="visible"/>
                                      </p:to>
                                    </p:set>
                                    <p:animEffect transition="in" filter="checkerboard(across)">
                                      <p:cBhvr>
                                        <p:cTn id="30" dur="1000"/>
                                        <p:tgtEl>
                                          <p:spTgt spid="738360"/>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738395"/>
                                        </p:tgtEl>
                                        <p:attrNameLst>
                                          <p:attrName>style.visibility</p:attrName>
                                        </p:attrNameLst>
                                      </p:cBhvr>
                                      <p:to>
                                        <p:strVal val="visible"/>
                                      </p:to>
                                    </p:set>
                                    <p:animEffect transition="in" filter="checkerboard(across)">
                                      <p:cBhvr>
                                        <p:cTn id="35" dur="500"/>
                                        <p:tgtEl>
                                          <p:spTgt spid="738395"/>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738389"/>
                                        </p:tgtEl>
                                        <p:attrNameLst>
                                          <p:attrName>style.visibility</p:attrName>
                                        </p:attrNameLst>
                                      </p:cBhvr>
                                      <p:to>
                                        <p:strVal val="visible"/>
                                      </p:to>
                                    </p:set>
                                    <p:animEffect transition="in" filter="checkerboard(across)">
                                      <p:cBhvr>
                                        <p:cTn id="38" dur="500"/>
                                        <p:tgtEl>
                                          <p:spTgt spid="738389"/>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738363"/>
                                        </p:tgtEl>
                                        <p:attrNameLst>
                                          <p:attrName>style.visibility</p:attrName>
                                        </p:attrNameLst>
                                      </p:cBhvr>
                                      <p:to>
                                        <p:strVal val="visible"/>
                                      </p:to>
                                    </p:set>
                                    <p:animEffect transition="in" filter="checkerboard(across)">
                                      <p:cBhvr>
                                        <p:cTn id="41" dur="500"/>
                                        <p:tgtEl>
                                          <p:spTgt spid="738363"/>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738362"/>
                                        </p:tgtEl>
                                        <p:attrNameLst>
                                          <p:attrName>style.visibility</p:attrName>
                                        </p:attrNameLst>
                                      </p:cBhvr>
                                      <p:to>
                                        <p:strVal val="visible"/>
                                      </p:to>
                                    </p:set>
                                    <p:animEffect transition="in" filter="checkerboard(across)">
                                      <p:cBhvr>
                                        <p:cTn id="44" dur="500"/>
                                        <p:tgtEl>
                                          <p:spTgt spid="738362"/>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738396"/>
                                        </p:tgtEl>
                                        <p:attrNameLst>
                                          <p:attrName>style.visibility</p:attrName>
                                        </p:attrNameLst>
                                      </p:cBhvr>
                                      <p:to>
                                        <p:strVal val="visible"/>
                                      </p:to>
                                    </p:set>
                                    <p:animEffect transition="in" filter="checkerboard(across)">
                                      <p:cBhvr>
                                        <p:cTn id="49" dur="500"/>
                                        <p:tgtEl>
                                          <p:spTgt spid="738396"/>
                                        </p:tgtEl>
                                      </p:cBhvr>
                                    </p:animEffect>
                                  </p:childTnLst>
                                </p:cTn>
                              </p:par>
                              <p:par>
                                <p:cTn id="50" presetID="5" presetClass="entr" presetSubtype="10" fill="hold" nodeType="withEffect">
                                  <p:stCondLst>
                                    <p:cond delay="0"/>
                                  </p:stCondLst>
                                  <p:childTnLst>
                                    <p:set>
                                      <p:cBhvr>
                                        <p:cTn id="51" dur="1" fill="hold">
                                          <p:stCondLst>
                                            <p:cond delay="0"/>
                                          </p:stCondLst>
                                        </p:cTn>
                                        <p:tgtEl>
                                          <p:spTgt spid="738392"/>
                                        </p:tgtEl>
                                        <p:attrNameLst>
                                          <p:attrName>style.visibility</p:attrName>
                                        </p:attrNameLst>
                                      </p:cBhvr>
                                      <p:to>
                                        <p:strVal val="visible"/>
                                      </p:to>
                                    </p:set>
                                    <p:animEffect transition="in" filter="checkerboard(across)">
                                      <p:cBhvr>
                                        <p:cTn id="52" dur="500"/>
                                        <p:tgtEl>
                                          <p:spTgt spid="738392"/>
                                        </p:tgtEl>
                                      </p:cBhvr>
                                    </p:animEffect>
                                  </p:childTnLst>
                                </p:cTn>
                              </p:par>
                              <p:par>
                                <p:cTn id="53" presetID="5" presetClass="entr" presetSubtype="10" fill="hold" nodeType="withEffect">
                                  <p:stCondLst>
                                    <p:cond delay="0"/>
                                  </p:stCondLst>
                                  <p:childTnLst>
                                    <p:set>
                                      <p:cBhvr>
                                        <p:cTn id="54" dur="1" fill="hold">
                                          <p:stCondLst>
                                            <p:cond delay="0"/>
                                          </p:stCondLst>
                                        </p:cTn>
                                        <p:tgtEl>
                                          <p:spTgt spid="738398"/>
                                        </p:tgtEl>
                                        <p:attrNameLst>
                                          <p:attrName>style.visibility</p:attrName>
                                        </p:attrNameLst>
                                      </p:cBhvr>
                                      <p:to>
                                        <p:strVal val="visible"/>
                                      </p:to>
                                    </p:set>
                                    <p:animEffect transition="in" filter="checkerboard(across)">
                                      <p:cBhvr>
                                        <p:cTn id="55" dur="500"/>
                                        <p:tgtEl>
                                          <p:spTgt spid="738398"/>
                                        </p:tgtEl>
                                      </p:cBhvr>
                                    </p:animEffect>
                                  </p:childTnLst>
                                </p:cTn>
                              </p:par>
                              <p:par>
                                <p:cTn id="56" presetID="5" presetClass="entr" presetSubtype="10" fill="hold" nodeType="withEffect">
                                  <p:stCondLst>
                                    <p:cond delay="0"/>
                                  </p:stCondLst>
                                  <p:childTnLst>
                                    <p:set>
                                      <p:cBhvr>
                                        <p:cTn id="57" dur="1" fill="hold">
                                          <p:stCondLst>
                                            <p:cond delay="0"/>
                                          </p:stCondLst>
                                        </p:cTn>
                                        <p:tgtEl>
                                          <p:spTgt spid="738364"/>
                                        </p:tgtEl>
                                        <p:attrNameLst>
                                          <p:attrName>style.visibility</p:attrName>
                                        </p:attrNameLst>
                                      </p:cBhvr>
                                      <p:to>
                                        <p:strVal val="visible"/>
                                      </p:to>
                                    </p:set>
                                    <p:animEffect transition="in" filter="checkerboard(across)">
                                      <p:cBhvr>
                                        <p:cTn id="58" dur="500"/>
                                        <p:tgtEl>
                                          <p:spTgt spid="738364"/>
                                        </p:tgtEl>
                                      </p:cBhvr>
                                    </p:animEffect>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grpId="0" nodeType="clickEffect">
                                  <p:stCondLst>
                                    <p:cond delay="0"/>
                                  </p:stCondLst>
                                  <p:childTnLst>
                                    <p:set>
                                      <p:cBhvr>
                                        <p:cTn id="62" dur="1" fill="hold">
                                          <p:stCondLst>
                                            <p:cond delay="0"/>
                                          </p:stCondLst>
                                        </p:cTn>
                                        <p:tgtEl>
                                          <p:spTgt spid="738397"/>
                                        </p:tgtEl>
                                        <p:attrNameLst>
                                          <p:attrName>style.visibility</p:attrName>
                                        </p:attrNameLst>
                                      </p:cBhvr>
                                      <p:to>
                                        <p:strVal val="visible"/>
                                      </p:to>
                                    </p:set>
                                    <p:animEffect transition="in" filter="checkerboard(across)">
                                      <p:cBhvr>
                                        <p:cTn id="63" dur="1000"/>
                                        <p:tgtEl>
                                          <p:spTgt spid="738397"/>
                                        </p:tgtEl>
                                      </p:cBhvr>
                                    </p:animEffect>
                                  </p:childTnLst>
                                </p:cTn>
                              </p:par>
                              <p:par>
                                <p:cTn id="64" presetID="5" presetClass="entr" presetSubtype="10" fill="hold" grpId="0" nodeType="withEffect">
                                  <p:stCondLst>
                                    <p:cond delay="0"/>
                                  </p:stCondLst>
                                  <p:childTnLst>
                                    <p:set>
                                      <p:cBhvr>
                                        <p:cTn id="65" dur="1" fill="hold">
                                          <p:stCondLst>
                                            <p:cond delay="0"/>
                                          </p:stCondLst>
                                        </p:cTn>
                                        <p:tgtEl>
                                          <p:spTgt spid="738390"/>
                                        </p:tgtEl>
                                        <p:attrNameLst>
                                          <p:attrName>style.visibility</p:attrName>
                                        </p:attrNameLst>
                                      </p:cBhvr>
                                      <p:to>
                                        <p:strVal val="visible"/>
                                      </p:to>
                                    </p:set>
                                    <p:animEffect transition="in" filter="checkerboard(across)">
                                      <p:cBhvr>
                                        <p:cTn id="66" dur="1000"/>
                                        <p:tgtEl>
                                          <p:spTgt spid="738390"/>
                                        </p:tgtEl>
                                      </p:cBhvr>
                                    </p:animEffect>
                                  </p:childTnLst>
                                </p:cTn>
                              </p:par>
                              <p:par>
                                <p:cTn id="67" presetID="5" presetClass="entr" presetSubtype="10" fill="hold" grpId="0" nodeType="withEffect">
                                  <p:stCondLst>
                                    <p:cond delay="0"/>
                                  </p:stCondLst>
                                  <p:childTnLst>
                                    <p:set>
                                      <p:cBhvr>
                                        <p:cTn id="68" dur="1" fill="hold">
                                          <p:stCondLst>
                                            <p:cond delay="0"/>
                                          </p:stCondLst>
                                        </p:cTn>
                                        <p:tgtEl>
                                          <p:spTgt spid="738367"/>
                                        </p:tgtEl>
                                        <p:attrNameLst>
                                          <p:attrName>style.visibility</p:attrName>
                                        </p:attrNameLst>
                                      </p:cBhvr>
                                      <p:to>
                                        <p:strVal val="visible"/>
                                      </p:to>
                                    </p:set>
                                    <p:animEffect transition="in" filter="checkerboard(across)">
                                      <p:cBhvr>
                                        <p:cTn id="69" dur="1000"/>
                                        <p:tgtEl>
                                          <p:spTgt spid="738367"/>
                                        </p:tgtEl>
                                      </p:cBhvr>
                                    </p:animEffect>
                                  </p:childTnLst>
                                </p:cTn>
                              </p:par>
                              <p:par>
                                <p:cTn id="70" presetID="5" presetClass="entr" presetSubtype="10" fill="hold" grpId="0" nodeType="withEffect">
                                  <p:stCondLst>
                                    <p:cond delay="0"/>
                                  </p:stCondLst>
                                  <p:childTnLst>
                                    <p:set>
                                      <p:cBhvr>
                                        <p:cTn id="71" dur="1" fill="hold">
                                          <p:stCondLst>
                                            <p:cond delay="0"/>
                                          </p:stCondLst>
                                        </p:cTn>
                                        <p:tgtEl>
                                          <p:spTgt spid="738366"/>
                                        </p:tgtEl>
                                        <p:attrNameLst>
                                          <p:attrName>style.visibility</p:attrName>
                                        </p:attrNameLst>
                                      </p:cBhvr>
                                      <p:to>
                                        <p:strVal val="visible"/>
                                      </p:to>
                                    </p:set>
                                    <p:animEffect transition="in" filter="checkerboard(across)">
                                      <p:cBhvr>
                                        <p:cTn id="72" dur="1000"/>
                                        <p:tgtEl>
                                          <p:spTgt spid="738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58" grpId="0" animBg="1"/>
      <p:bldP spid="738359" grpId="0" animBg="1"/>
      <p:bldP spid="738360" grpId="0" animBg="1"/>
      <p:bldP spid="738361" grpId="0" animBg="1"/>
      <p:bldP spid="738362" grpId="0" animBg="1"/>
      <p:bldP spid="738363" grpId="0" animBg="1"/>
      <p:bldP spid="738366" grpId="0" animBg="1"/>
      <p:bldP spid="738367" grpId="0" animBg="1"/>
      <p:bldP spid="738388" grpId="0" animBg="1"/>
      <p:bldP spid="738389" grpId="0" animBg="1"/>
      <p:bldP spid="738390" grpId="0" animBg="1"/>
      <p:bldP spid="738391" grpId="0" animBg="1"/>
      <p:bldP spid="738393" grpId="0" animBg="1"/>
      <p:bldP spid="738394" grpId="0" animBg="1"/>
      <p:bldP spid="738395" grpId="0" animBg="1"/>
      <p:bldP spid="738396" grpId="0" animBg="1"/>
      <p:bldP spid="73839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958" name="Rectangle 94"/>
          <p:cNvSpPr>
            <a:spLocks noGrp="1" noChangeArrowheads="1"/>
          </p:cNvSpPr>
          <p:nvPr>
            <p:ph type="title"/>
            <p:custDataLst>
              <p:tags r:id="rId1"/>
            </p:custDataLst>
          </p:nvPr>
        </p:nvSpPr>
        <p:spPr>
          <a:xfrm>
            <a:off x="0" y="0"/>
            <a:ext cx="9144000" cy="1001486"/>
          </a:xfrm>
          <a:solidFill>
            <a:schemeClr val="bg1"/>
          </a:solidFill>
        </p:spPr>
        <p:txBody>
          <a:bodyPr vert="horz" anchor="b">
            <a:noAutofit/>
          </a:bodyPr>
          <a:lstStyle/>
          <a:p>
            <a:r>
              <a:rPr lang="fr-FR" sz="2400" b="1">
                <a:solidFill>
                  <a:srgbClr val="C00000"/>
                </a:solidFill>
              </a:rPr>
              <a:t>Comment un serveur DHCP inscrit et met à jour de manière dynamique les enregistrements de ressources</a:t>
            </a:r>
            <a:endParaRPr lang="en-US" sz="2400" b="1">
              <a:solidFill>
                <a:srgbClr val="C00000"/>
              </a:solidFill>
            </a:endParaRPr>
          </a:p>
        </p:txBody>
      </p:sp>
      <p:sp>
        <p:nvSpPr>
          <p:cNvPr id="804920" name="Freeform 56"/>
          <p:cNvSpPr>
            <a:spLocks/>
          </p:cNvSpPr>
          <p:nvPr/>
        </p:nvSpPr>
        <p:spPr bwMode="auto">
          <a:xfrm>
            <a:off x="1740139" y="1983235"/>
            <a:ext cx="811212" cy="914400"/>
          </a:xfrm>
          <a:custGeom>
            <a:avLst/>
            <a:gdLst/>
            <a:ahLst/>
            <a:cxnLst>
              <a:cxn ang="0">
                <a:pos x="0" y="503"/>
              </a:cxn>
              <a:cxn ang="0">
                <a:pos x="422" y="0"/>
              </a:cxn>
              <a:cxn ang="0">
                <a:pos x="511" y="576"/>
              </a:cxn>
              <a:cxn ang="0">
                <a:pos x="0" y="503"/>
              </a:cxn>
            </a:cxnLst>
            <a:rect l="0" t="0" r="r" b="b"/>
            <a:pathLst>
              <a:path w="511" h="576">
                <a:moveTo>
                  <a:pt x="0" y="503"/>
                </a:moveTo>
                <a:lnTo>
                  <a:pt x="422" y="0"/>
                </a:lnTo>
                <a:lnTo>
                  <a:pt x="511" y="576"/>
                </a:lnTo>
                <a:lnTo>
                  <a:pt x="0" y="503"/>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fr-FR"/>
          </a:p>
        </p:txBody>
      </p:sp>
      <p:pic>
        <p:nvPicPr>
          <p:cNvPr id="804922" name="Picture 58" descr="Server01"/>
          <p:cNvPicPr>
            <a:picLocks noChangeAspect="1" noChangeArrowheads="1"/>
          </p:cNvPicPr>
          <p:nvPr>
            <p:custDataLst>
              <p:tags r:id="rId2"/>
            </p:custDataLst>
          </p:nvPr>
        </p:nvPicPr>
        <p:blipFill>
          <a:blip r:embed="rId30" cstate="print"/>
          <a:srcRect/>
          <a:stretch>
            <a:fillRect/>
          </a:stretch>
        </p:blipFill>
        <p:spPr bwMode="auto">
          <a:xfrm>
            <a:off x="547926" y="1746697"/>
            <a:ext cx="1225550" cy="1441450"/>
          </a:xfrm>
          <a:prstGeom prst="rect">
            <a:avLst/>
          </a:prstGeom>
          <a:noFill/>
        </p:spPr>
      </p:pic>
      <p:pic>
        <p:nvPicPr>
          <p:cNvPr id="804923" name="Picture 59" descr="Database01"/>
          <p:cNvPicPr>
            <a:picLocks noChangeAspect="1" noChangeArrowheads="1"/>
          </p:cNvPicPr>
          <p:nvPr>
            <p:custDataLst>
              <p:tags r:id="rId3"/>
            </p:custDataLst>
          </p:nvPr>
        </p:nvPicPr>
        <p:blipFill>
          <a:blip r:embed="rId31" cstate="print"/>
          <a:srcRect/>
          <a:stretch>
            <a:fillRect/>
          </a:stretch>
        </p:blipFill>
        <p:spPr bwMode="auto">
          <a:xfrm>
            <a:off x="1324214" y="2575372"/>
            <a:ext cx="860425" cy="696913"/>
          </a:xfrm>
          <a:prstGeom prst="rect">
            <a:avLst/>
          </a:prstGeom>
          <a:noFill/>
        </p:spPr>
      </p:pic>
      <p:pic>
        <p:nvPicPr>
          <p:cNvPr id="804924" name="Picture 60" descr="Computer_DesktopComputerSansKeyboard01"/>
          <p:cNvPicPr>
            <a:picLocks noChangeAspect="1" noChangeArrowheads="1"/>
          </p:cNvPicPr>
          <p:nvPr/>
        </p:nvPicPr>
        <p:blipFill>
          <a:blip r:embed="rId32" cstate="print"/>
          <a:srcRect/>
          <a:stretch>
            <a:fillRect/>
          </a:stretch>
        </p:blipFill>
        <p:spPr bwMode="auto">
          <a:xfrm>
            <a:off x="4556364" y="5062985"/>
            <a:ext cx="787400" cy="962025"/>
          </a:xfrm>
          <a:prstGeom prst="rect">
            <a:avLst/>
          </a:prstGeom>
          <a:noFill/>
        </p:spPr>
      </p:pic>
      <p:pic>
        <p:nvPicPr>
          <p:cNvPr id="804925" name="Picture 61" descr="Server01"/>
          <p:cNvPicPr>
            <a:picLocks noChangeAspect="1" noChangeArrowheads="1"/>
          </p:cNvPicPr>
          <p:nvPr/>
        </p:nvPicPr>
        <p:blipFill>
          <a:blip r:embed="rId33" cstate="print"/>
          <a:srcRect/>
          <a:stretch>
            <a:fillRect/>
          </a:stretch>
        </p:blipFill>
        <p:spPr bwMode="auto">
          <a:xfrm>
            <a:off x="1330564" y="4929635"/>
            <a:ext cx="920750" cy="1082675"/>
          </a:xfrm>
          <a:prstGeom prst="rect">
            <a:avLst/>
          </a:prstGeom>
          <a:noFill/>
        </p:spPr>
      </p:pic>
      <p:sp>
        <p:nvSpPr>
          <p:cNvPr id="804926" name="AutoShape 62"/>
          <p:cNvSpPr>
            <a:spLocks noChangeArrowheads="1"/>
          </p:cNvSpPr>
          <p:nvPr>
            <p:custDataLst>
              <p:tags r:id="rId4"/>
            </p:custDataLst>
          </p:nvPr>
        </p:nvSpPr>
        <p:spPr bwMode="auto">
          <a:xfrm>
            <a:off x="-29017" y="6028185"/>
            <a:ext cx="2299381" cy="63386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dirty="0">
                <a:solidFill>
                  <a:srgbClr val="000000"/>
                </a:solidFill>
              </a:rPr>
              <a:t>Window Server 2008</a:t>
            </a:r>
            <a:endParaRPr lang="en-US" sz="2000" b="1" dirty="0"/>
          </a:p>
          <a:p>
            <a:pPr>
              <a:lnSpc>
                <a:spcPct val="85000"/>
              </a:lnSpc>
            </a:pPr>
            <a:r>
              <a:rPr lang="en-GB" sz="2000" b="1" dirty="0" err="1">
                <a:solidFill>
                  <a:srgbClr val="000000"/>
                </a:solidFill>
              </a:rPr>
              <a:t>exécutant</a:t>
            </a:r>
            <a:r>
              <a:rPr lang="en-GB" sz="2000" b="1" dirty="0">
                <a:solidFill>
                  <a:srgbClr val="000000"/>
                </a:solidFill>
              </a:rPr>
              <a:t> DHCP</a:t>
            </a:r>
            <a:endParaRPr lang="en-US" sz="2000" b="1" dirty="0">
              <a:solidFill>
                <a:srgbClr val="000000"/>
              </a:solidFill>
            </a:endParaRPr>
          </a:p>
        </p:txBody>
      </p:sp>
      <p:sp>
        <p:nvSpPr>
          <p:cNvPr id="804927" name="AutoShape 63"/>
          <p:cNvSpPr>
            <a:spLocks noChangeArrowheads="1"/>
          </p:cNvSpPr>
          <p:nvPr>
            <p:custDataLst>
              <p:tags r:id="rId5"/>
            </p:custDataLst>
          </p:nvPr>
        </p:nvSpPr>
        <p:spPr bwMode="auto">
          <a:xfrm>
            <a:off x="4527789" y="6028185"/>
            <a:ext cx="1443037" cy="66289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a:solidFill>
                  <a:srgbClr val="000000"/>
                </a:solidFill>
              </a:rPr>
              <a:t>Client DHCP</a:t>
            </a:r>
            <a:endParaRPr lang="en-US" sz="2000" b="1"/>
          </a:p>
          <a:p>
            <a:pPr>
              <a:lnSpc>
                <a:spcPct val="85000"/>
              </a:lnSpc>
            </a:pPr>
            <a:r>
              <a:rPr lang="en-GB" sz="2000" b="1">
                <a:solidFill>
                  <a:srgbClr val="000000"/>
                </a:solidFill>
              </a:rPr>
              <a:t>de bas </a:t>
            </a:r>
            <a:r>
              <a:rPr lang="en-GB" sz="2000" b="1" err="1">
                <a:solidFill>
                  <a:srgbClr val="000000"/>
                </a:solidFill>
              </a:rPr>
              <a:t>niveau</a:t>
            </a:r>
            <a:endParaRPr lang="en-US" sz="2000" b="1">
              <a:solidFill>
                <a:srgbClr val="000000"/>
              </a:solidFill>
            </a:endParaRPr>
          </a:p>
        </p:txBody>
      </p:sp>
      <p:sp>
        <p:nvSpPr>
          <p:cNvPr id="804928" name="AutoShape 64"/>
          <p:cNvSpPr>
            <a:spLocks noChangeArrowheads="1"/>
          </p:cNvSpPr>
          <p:nvPr>
            <p:custDataLst>
              <p:tags r:id="rId6"/>
            </p:custDataLst>
          </p:nvPr>
        </p:nvSpPr>
        <p:spPr bwMode="auto">
          <a:xfrm>
            <a:off x="320914" y="1659385"/>
            <a:ext cx="844550" cy="3492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a:solidFill>
                  <a:srgbClr val="000000"/>
                </a:solidFill>
              </a:rPr>
              <a:t>local</a:t>
            </a:r>
            <a:endParaRPr lang="en-US" sz="2000" b="1"/>
          </a:p>
        </p:txBody>
      </p:sp>
      <p:pic>
        <p:nvPicPr>
          <p:cNvPr id="804931" name="Picture 67" descr="Document_Document01"/>
          <p:cNvPicPr>
            <a:picLocks noChangeAspect="1" noChangeArrowheads="1"/>
          </p:cNvPicPr>
          <p:nvPr>
            <p:custDataLst>
              <p:tags r:id="rId7"/>
            </p:custDataLst>
          </p:nvPr>
        </p:nvPicPr>
        <p:blipFill>
          <a:blip r:embed="rId34"/>
          <a:srcRect/>
          <a:stretch>
            <a:fillRect/>
          </a:stretch>
        </p:blipFill>
        <p:spPr bwMode="auto">
          <a:xfrm>
            <a:off x="2762489" y="1536445"/>
            <a:ext cx="1562768" cy="1413578"/>
          </a:xfrm>
          <a:prstGeom prst="rect">
            <a:avLst/>
          </a:prstGeom>
          <a:noFill/>
        </p:spPr>
      </p:pic>
      <p:pic>
        <p:nvPicPr>
          <p:cNvPr id="804932" name="Picture 68" descr="Document_Document01"/>
          <p:cNvPicPr>
            <a:picLocks noChangeAspect="1" noChangeArrowheads="1"/>
          </p:cNvPicPr>
          <p:nvPr>
            <p:custDataLst>
              <p:tags r:id="rId8"/>
            </p:custDataLst>
          </p:nvPr>
        </p:nvPicPr>
        <p:blipFill>
          <a:blip r:embed="rId34"/>
          <a:srcRect/>
          <a:stretch>
            <a:fillRect/>
          </a:stretch>
        </p:blipFill>
        <p:spPr bwMode="auto">
          <a:xfrm>
            <a:off x="2513251" y="1617408"/>
            <a:ext cx="1734337" cy="1413578"/>
          </a:xfrm>
          <a:prstGeom prst="rect">
            <a:avLst/>
          </a:prstGeom>
          <a:noFill/>
        </p:spPr>
      </p:pic>
      <p:pic>
        <p:nvPicPr>
          <p:cNvPr id="804933" name="Picture 69" descr="Document_Document01"/>
          <p:cNvPicPr>
            <a:picLocks noChangeAspect="1" noChangeArrowheads="1"/>
          </p:cNvPicPr>
          <p:nvPr>
            <p:custDataLst>
              <p:tags r:id="rId9"/>
            </p:custDataLst>
          </p:nvPr>
        </p:nvPicPr>
        <p:blipFill>
          <a:blip r:embed="rId34"/>
          <a:srcRect/>
          <a:stretch>
            <a:fillRect/>
          </a:stretch>
        </p:blipFill>
        <p:spPr bwMode="auto">
          <a:xfrm>
            <a:off x="2238614" y="1698370"/>
            <a:ext cx="1932014" cy="1413578"/>
          </a:xfrm>
          <a:prstGeom prst="rect">
            <a:avLst/>
          </a:prstGeom>
          <a:noFill/>
        </p:spPr>
      </p:pic>
      <p:sp>
        <p:nvSpPr>
          <p:cNvPr id="804934" name="Text Box 70"/>
          <p:cNvSpPr txBox="1">
            <a:spLocks noChangeArrowheads="1"/>
          </p:cNvSpPr>
          <p:nvPr>
            <p:custDataLst>
              <p:tags r:id="rId10"/>
            </p:custDataLst>
          </p:nvPr>
        </p:nvSpPr>
        <p:spPr bwMode="auto">
          <a:xfrm>
            <a:off x="2329101" y="2161332"/>
            <a:ext cx="1691445" cy="696615"/>
          </a:xfrm>
          <a:prstGeom prst="rect">
            <a:avLst/>
          </a:prstGeom>
          <a:solidFill>
            <a:schemeClr val="accent1">
              <a:alpha val="50000"/>
            </a:schemeClr>
          </a:solidFill>
          <a:ln w="9525" algn="ctr">
            <a:noFill/>
            <a:miter lim="800000"/>
            <a:headEnd/>
            <a:tailEnd/>
          </a:ln>
          <a:effectLst/>
        </p:spPr>
        <p:txBody>
          <a:bodyPr wrap="none"/>
          <a:lstStyle/>
          <a:p>
            <a:r>
              <a:rPr lang="en-GB" sz="2200" b="1" err="1">
                <a:solidFill>
                  <a:srgbClr val="000000"/>
                </a:solidFill>
              </a:rPr>
              <a:t>Enregistrements</a:t>
            </a:r>
            <a:endParaRPr lang="en-US" sz="2200" b="1"/>
          </a:p>
          <a:p>
            <a:r>
              <a:rPr lang="en-GB" sz="2200" b="1">
                <a:solidFill>
                  <a:srgbClr val="000000"/>
                </a:solidFill>
              </a:rPr>
              <a:t>de </a:t>
            </a:r>
            <a:r>
              <a:rPr lang="en-GB" sz="2200" b="1" err="1">
                <a:solidFill>
                  <a:srgbClr val="000000"/>
                </a:solidFill>
              </a:rPr>
              <a:t>ressources</a:t>
            </a:r>
            <a:endParaRPr lang="en-US" sz="2200" b="1">
              <a:solidFill>
                <a:srgbClr val="000000"/>
              </a:solidFill>
            </a:endParaRPr>
          </a:p>
        </p:txBody>
      </p:sp>
      <p:sp>
        <p:nvSpPr>
          <p:cNvPr id="804936" name="AutoShape 72"/>
          <p:cNvSpPr>
            <a:spLocks/>
          </p:cNvSpPr>
          <p:nvPr>
            <p:custDataLst>
              <p:tags r:id="rId11"/>
            </p:custDataLst>
          </p:nvPr>
        </p:nvSpPr>
        <p:spPr bwMode="auto">
          <a:xfrm rot="16200000">
            <a:off x="1522651" y="4064447"/>
            <a:ext cx="384175" cy="1216025"/>
          </a:xfrm>
          <a:prstGeom prst="leftBrace">
            <a:avLst>
              <a:gd name="adj1" fmla="val 26377"/>
              <a:gd name="adj2" fmla="val 50843"/>
            </a:avLst>
          </a:prstGeom>
          <a:noFill/>
          <a:ln w="38100">
            <a:solidFill>
              <a:srgbClr val="000000"/>
            </a:solidFill>
            <a:round/>
            <a:headEnd/>
            <a:tailEnd/>
          </a:ln>
          <a:effectLst/>
        </p:spPr>
        <p:txBody>
          <a:bodyPr wrap="none" anchor="ctr"/>
          <a:lstStyle/>
          <a:p>
            <a:endParaRPr lang="fr-FR"/>
          </a:p>
        </p:txBody>
      </p:sp>
      <p:sp>
        <p:nvSpPr>
          <p:cNvPr id="804937" name="AutoShape 73"/>
          <p:cNvSpPr>
            <a:spLocks/>
          </p:cNvSpPr>
          <p:nvPr>
            <p:custDataLst>
              <p:tags r:id="rId12"/>
            </p:custDataLst>
          </p:nvPr>
        </p:nvSpPr>
        <p:spPr bwMode="auto">
          <a:xfrm rot="5400000">
            <a:off x="1526620" y="2901603"/>
            <a:ext cx="369888" cy="1216025"/>
          </a:xfrm>
          <a:prstGeom prst="leftBrace">
            <a:avLst>
              <a:gd name="adj1" fmla="val 27396"/>
              <a:gd name="adj2" fmla="val 50843"/>
            </a:avLst>
          </a:prstGeom>
          <a:noFill/>
          <a:ln w="38100">
            <a:solidFill>
              <a:srgbClr val="000000"/>
            </a:solidFill>
            <a:round/>
            <a:headEnd/>
            <a:tailEnd/>
          </a:ln>
          <a:effectLst/>
        </p:spPr>
        <p:txBody>
          <a:bodyPr wrap="none" anchor="ctr"/>
          <a:lstStyle/>
          <a:p>
            <a:endParaRPr lang="fr-FR"/>
          </a:p>
        </p:txBody>
      </p:sp>
      <p:sp>
        <p:nvSpPr>
          <p:cNvPr id="804938" name="Line 74"/>
          <p:cNvSpPr>
            <a:spLocks noChangeShapeType="1"/>
          </p:cNvSpPr>
          <p:nvPr/>
        </p:nvSpPr>
        <p:spPr bwMode="auto">
          <a:xfrm flipV="1">
            <a:off x="1416289" y="3631060"/>
            <a:ext cx="0" cy="909637"/>
          </a:xfrm>
          <a:prstGeom prst="line">
            <a:avLst/>
          </a:prstGeom>
          <a:noFill/>
          <a:ln w="50800">
            <a:solidFill>
              <a:srgbClr val="CC0000"/>
            </a:solidFill>
            <a:round/>
            <a:headEnd/>
            <a:tailEnd type="triangle" w="med" len="med"/>
          </a:ln>
          <a:effectLst/>
        </p:spPr>
        <p:txBody>
          <a:bodyPr anchor="ctr"/>
          <a:lstStyle/>
          <a:p>
            <a:endParaRPr lang="fr-FR"/>
          </a:p>
        </p:txBody>
      </p:sp>
      <p:sp>
        <p:nvSpPr>
          <p:cNvPr id="804939" name="Line 75"/>
          <p:cNvSpPr>
            <a:spLocks noChangeShapeType="1"/>
          </p:cNvSpPr>
          <p:nvPr/>
        </p:nvSpPr>
        <p:spPr bwMode="auto">
          <a:xfrm>
            <a:off x="1910001" y="3658047"/>
            <a:ext cx="0" cy="908050"/>
          </a:xfrm>
          <a:prstGeom prst="line">
            <a:avLst/>
          </a:prstGeom>
          <a:noFill/>
          <a:ln w="50800">
            <a:solidFill>
              <a:srgbClr val="CC0000"/>
            </a:solidFill>
            <a:round/>
            <a:headEnd/>
            <a:tailEnd type="triangle" w="med" len="med"/>
          </a:ln>
          <a:effectLst/>
        </p:spPr>
        <p:txBody>
          <a:bodyPr anchor="ctr"/>
          <a:lstStyle/>
          <a:p>
            <a:endParaRPr lang="fr-FR"/>
          </a:p>
        </p:txBody>
      </p:sp>
      <p:sp>
        <p:nvSpPr>
          <p:cNvPr id="804940" name="AutoShape 76"/>
          <p:cNvSpPr>
            <a:spLocks noChangeArrowheads="1"/>
          </p:cNvSpPr>
          <p:nvPr>
            <p:custDataLst>
              <p:tags r:id="rId13"/>
            </p:custDataLst>
          </p:nvPr>
        </p:nvSpPr>
        <p:spPr bwMode="auto">
          <a:xfrm>
            <a:off x="1255951" y="388188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804941" name="AutoShape 77"/>
          <p:cNvSpPr>
            <a:spLocks noChangeArrowheads="1"/>
          </p:cNvSpPr>
          <p:nvPr>
            <p:custDataLst>
              <p:tags r:id="rId14"/>
            </p:custDataLst>
          </p:nvPr>
        </p:nvSpPr>
        <p:spPr bwMode="auto">
          <a:xfrm>
            <a:off x="1748076" y="388188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4</a:t>
            </a:r>
          </a:p>
        </p:txBody>
      </p:sp>
      <p:sp>
        <p:nvSpPr>
          <p:cNvPr id="804944" name="AutoShape 80"/>
          <p:cNvSpPr>
            <a:spLocks noChangeArrowheads="1"/>
          </p:cNvSpPr>
          <p:nvPr>
            <p:custDataLst>
              <p:tags r:id="rId15"/>
            </p:custDataLst>
          </p:nvPr>
        </p:nvSpPr>
        <p:spPr bwMode="auto">
          <a:xfrm>
            <a:off x="5022850" y="1417635"/>
            <a:ext cx="3946979" cy="64992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client DHCP effectue une demande de bail IP</a:t>
            </a:r>
            <a:endParaRPr lang="en-US" sz="2200" b="1"/>
          </a:p>
        </p:txBody>
      </p:sp>
      <p:sp>
        <p:nvSpPr>
          <p:cNvPr id="804945" name="AutoShape 81"/>
          <p:cNvSpPr>
            <a:spLocks noChangeArrowheads="1"/>
          </p:cNvSpPr>
          <p:nvPr>
            <p:custDataLst>
              <p:tags r:id="rId16"/>
            </p:custDataLst>
          </p:nvPr>
        </p:nvSpPr>
        <p:spPr bwMode="auto">
          <a:xfrm>
            <a:off x="5022850" y="2125432"/>
            <a:ext cx="3946979" cy="64992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serveur DHCP accorde un bail IP</a:t>
            </a:r>
            <a:endParaRPr lang="en-US" sz="2200" b="1"/>
          </a:p>
        </p:txBody>
      </p:sp>
      <p:sp>
        <p:nvSpPr>
          <p:cNvPr id="804946" name="AutoShape 82"/>
          <p:cNvSpPr>
            <a:spLocks noChangeArrowheads="1"/>
          </p:cNvSpPr>
          <p:nvPr>
            <p:custDataLst>
              <p:tags r:id="rId17"/>
            </p:custDataLst>
          </p:nvPr>
        </p:nvSpPr>
        <p:spPr bwMode="auto">
          <a:xfrm>
            <a:off x="5022850" y="2847743"/>
            <a:ext cx="3946979" cy="1330436"/>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serveur DHCP génère automatiquement le nom de domaine pleinement qualifié du client</a:t>
            </a:r>
            <a:endParaRPr lang="en-US" sz="2200" b="1"/>
          </a:p>
        </p:txBody>
      </p:sp>
      <p:sp>
        <p:nvSpPr>
          <p:cNvPr id="804947" name="AutoShape 83"/>
          <p:cNvSpPr>
            <a:spLocks noChangeArrowheads="1"/>
          </p:cNvSpPr>
          <p:nvPr>
            <p:custDataLst>
              <p:tags r:id="rId18"/>
            </p:custDataLst>
          </p:nvPr>
        </p:nvSpPr>
        <p:spPr bwMode="auto">
          <a:xfrm>
            <a:off x="5022850" y="4245642"/>
            <a:ext cx="3946979" cy="1342349"/>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algn="l">
              <a:lnSpc>
                <a:spcPct val="85000"/>
              </a:lnSpc>
            </a:pPr>
            <a:r>
              <a:rPr lang="en-GB" sz="2200" b="1">
                <a:solidFill>
                  <a:srgbClr val="000000"/>
                </a:solidFill>
              </a:rPr>
              <a:t>Le </a:t>
            </a:r>
            <a:r>
              <a:rPr lang="en-GB" sz="2200" b="1" err="1">
                <a:solidFill>
                  <a:srgbClr val="000000"/>
                </a:solidFill>
              </a:rPr>
              <a:t>serveur</a:t>
            </a:r>
            <a:r>
              <a:rPr lang="en-GB" sz="2200" b="1">
                <a:solidFill>
                  <a:srgbClr val="000000"/>
                </a:solidFill>
              </a:rPr>
              <a:t> DHCP met à </a:t>
            </a:r>
            <a:br>
              <a:rPr lang="en-GB" sz="2200" b="1">
                <a:solidFill>
                  <a:srgbClr val="000000"/>
                </a:solidFill>
              </a:rPr>
            </a:br>
            <a:r>
              <a:rPr lang="en-GB" sz="2200" b="1">
                <a:solidFill>
                  <a:srgbClr val="000000"/>
                </a:solidFill>
              </a:rPr>
              <a:t>jour </a:t>
            </a:r>
            <a:r>
              <a:rPr lang="en-GB" sz="2200" b="1" err="1">
                <a:solidFill>
                  <a:srgbClr val="000000"/>
                </a:solidFill>
              </a:rPr>
              <a:t>dynamiquement</a:t>
            </a:r>
            <a:r>
              <a:rPr lang="en-GB" sz="2200" b="1">
                <a:solidFill>
                  <a:srgbClr val="000000"/>
                </a:solidFill>
              </a:rPr>
              <a:t> les </a:t>
            </a:r>
            <a:r>
              <a:rPr lang="en-GB" sz="2200" b="1" err="1">
                <a:solidFill>
                  <a:srgbClr val="000000"/>
                </a:solidFill>
              </a:rPr>
              <a:t>enregistrements</a:t>
            </a:r>
            <a:r>
              <a:rPr lang="en-GB" sz="2200" b="1">
                <a:solidFill>
                  <a:srgbClr val="000000"/>
                </a:solidFill>
              </a:rPr>
              <a:t> de </a:t>
            </a:r>
            <a:r>
              <a:rPr lang="en-GB" sz="2200" b="1" err="1">
                <a:solidFill>
                  <a:srgbClr val="000000"/>
                </a:solidFill>
              </a:rPr>
              <a:t>recherche</a:t>
            </a:r>
            <a:r>
              <a:rPr lang="en-GB" sz="2200" b="1">
                <a:solidFill>
                  <a:srgbClr val="000000"/>
                </a:solidFill>
              </a:rPr>
              <a:t> </a:t>
            </a:r>
            <a:r>
              <a:rPr lang="en-GB" sz="2200" b="1" err="1">
                <a:solidFill>
                  <a:srgbClr val="000000"/>
                </a:solidFill>
              </a:rPr>
              <a:t>directe</a:t>
            </a:r>
            <a:r>
              <a:rPr lang="en-GB" sz="2200" b="1">
                <a:solidFill>
                  <a:srgbClr val="000000"/>
                </a:solidFill>
              </a:rPr>
              <a:t> et </a:t>
            </a:r>
            <a:r>
              <a:rPr lang="en-GB" sz="2200" b="1" err="1">
                <a:solidFill>
                  <a:srgbClr val="000000"/>
                </a:solidFill>
              </a:rPr>
              <a:t>inversée</a:t>
            </a:r>
            <a:r>
              <a:rPr lang="en-GB" sz="2200" b="1">
                <a:solidFill>
                  <a:srgbClr val="000000"/>
                </a:solidFill>
              </a:rPr>
              <a:t> du client</a:t>
            </a:r>
            <a:endParaRPr lang="en-US" sz="2200" b="1"/>
          </a:p>
        </p:txBody>
      </p:sp>
      <p:sp>
        <p:nvSpPr>
          <p:cNvPr id="804948" name="AutoShape 84"/>
          <p:cNvSpPr>
            <a:spLocks noChangeArrowheads="1"/>
          </p:cNvSpPr>
          <p:nvPr>
            <p:custDataLst>
              <p:tags r:id="rId19"/>
            </p:custDataLst>
          </p:nvPr>
        </p:nvSpPr>
        <p:spPr bwMode="auto">
          <a:xfrm>
            <a:off x="4838700" y="1555067"/>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sp>
        <p:nvSpPr>
          <p:cNvPr id="804949" name="AutoShape 85"/>
          <p:cNvSpPr>
            <a:spLocks noChangeArrowheads="1"/>
          </p:cNvSpPr>
          <p:nvPr>
            <p:custDataLst>
              <p:tags r:id="rId20"/>
            </p:custDataLst>
          </p:nvPr>
        </p:nvSpPr>
        <p:spPr bwMode="auto">
          <a:xfrm>
            <a:off x="4838700" y="2244948"/>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804950" name="AutoShape 86"/>
          <p:cNvSpPr>
            <a:spLocks noChangeArrowheads="1"/>
          </p:cNvSpPr>
          <p:nvPr>
            <p:custDataLst>
              <p:tags r:id="rId21"/>
            </p:custDataLst>
          </p:nvPr>
        </p:nvSpPr>
        <p:spPr bwMode="auto">
          <a:xfrm>
            <a:off x="4838700" y="3341221"/>
            <a:ext cx="338138" cy="450952"/>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3</a:t>
            </a:r>
          </a:p>
        </p:txBody>
      </p:sp>
      <p:sp>
        <p:nvSpPr>
          <p:cNvPr id="804951" name="AutoShape 87"/>
          <p:cNvSpPr>
            <a:spLocks noChangeArrowheads="1"/>
          </p:cNvSpPr>
          <p:nvPr>
            <p:custDataLst>
              <p:tags r:id="rId22"/>
            </p:custDataLst>
          </p:nvPr>
        </p:nvSpPr>
        <p:spPr bwMode="auto">
          <a:xfrm>
            <a:off x="4838700" y="4751821"/>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4</a:t>
            </a:r>
          </a:p>
        </p:txBody>
      </p:sp>
      <p:sp>
        <p:nvSpPr>
          <p:cNvPr id="804952" name="AutoShape 88"/>
          <p:cNvSpPr>
            <a:spLocks noChangeArrowheads="1"/>
          </p:cNvSpPr>
          <p:nvPr>
            <p:custDataLst>
              <p:tags r:id="rId23"/>
            </p:custDataLst>
          </p:nvPr>
        </p:nvSpPr>
        <p:spPr bwMode="auto">
          <a:xfrm>
            <a:off x="2471976" y="6028185"/>
            <a:ext cx="1781175" cy="50323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000" b="1">
                <a:solidFill>
                  <a:srgbClr val="000000"/>
                </a:solidFill>
              </a:rPr>
              <a:t>Bail </a:t>
            </a:r>
            <a:r>
              <a:rPr lang="en-GB" sz="2000" b="1" err="1">
                <a:solidFill>
                  <a:srgbClr val="000000"/>
                </a:solidFill>
              </a:rPr>
              <a:t>d'adresse</a:t>
            </a:r>
            <a:r>
              <a:rPr lang="en-GB" sz="2000" b="1">
                <a:solidFill>
                  <a:srgbClr val="000000"/>
                </a:solidFill>
              </a:rPr>
              <a:t> IP</a:t>
            </a:r>
            <a:endParaRPr lang="en-US" sz="2000" b="1"/>
          </a:p>
        </p:txBody>
      </p:sp>
      <p:sp>
        <p:nvSpPr>
          <p:cNvPr id="804954" name="Line 90"/>
          <p:cNvSpPr>
            <a:spLocks noChangeShapeType="1"/>
          </p:cNvSpPr>
          <p:nvPr>
            <p:custDataLst>
              <p:tags r:id="rId24"/>
            </p:custDataLst>
          </p:nvPr>
        </p:nvSpPr>
        <p:spPr bwMode="auto">
          <a:xfrm rot="5400000" flipV="1">
            <a:off x="3400664" y="4250638"/>
            <a:ext cx="0" cy="2159000"/>
          </a:xfrm>
          <a:prstGeom prst="line">
            <a:avLst/>
          </a:prstGeom>
          <a:noFill/>
          <a:ln w="50800">
            <a:solidFill>
              <a:srgbClr val="CC0000"/>
            </a:solidFill>
            <a:round/>
            <a:headEnd type="triangle" w="med" len="med"/>
            <a:tailEnd/>
          </a:ln>
          <a:effectLst/>
        </p:spPr>
        <p:txBody>
          <a:bodyPr anchor="ctr"/>
          <a:lstStyle/>
          <a:p>
            <a:endParaRPr lang="fr-FR"/>
          </a:p>
        </p:txBody>
      </p:sp>
      <p:sp>
        <p:nvSpPr>
          <p:cNvPr id="804955" name="Line 91"/>
          <p:cNvSpPr>
            <a:spLocks noChangeShapeType="1"/>
          </p:cNvSpPr>
          <p:nvPr>
            <p:custDataLst>
              <p:tags r:id="rId25"/>
            </p:custDataLst>
          </p:nvPr>
        </p:nvSpPr>
        <p:spPr bwMode="auto">
          <a:xfrm rot="-5400000" flipH="1" flipV="1">
            <a:off x="3400664" y="4676088"/>
            <a:ext cx="0" cy="2159000"/>
          </a:xfrm>
          <a:prstGeom prst="line">
            <a:avLst/>
          </a:prstGeom>
          <a:noFill/>
          <a:ln w="50800">
            <a:solidFill>
              <a:srgbClr val="CC0000"/>
            </a:solidFill>
            <a:round/>
            <a:headEnd type="triangle" w="med" len="med"/>
            <a:tailEnd/>
          </a:ln>
          <a:effectLst/>
        </p:spPr>
        <p:txBody>
          <a:bodyPr anchor="ctr"/>
          <a:lstStyle/>
          <a:p>
            <a:endParaRPr lang="fr-FR"/>
          </a:p>
        </p:txBody>
      </p:sp>
      <p:sp>
        <p:nvSpPr>
          <p:cNvPr id="804956" name="AutoShape 92"/>
          <p:cNvSpPr>
            <a:spLocks noChangeArrowheads="1"/>
          </p:cNvSpPr>
          <p:nvPr>
            <p:custDataLst>
              <p:tags r:id="rId26"/>
            </p:custDataLst>
          </p:nvPr>
        </p:nvSpPr>
        <p:spPr bwMode="auto">
          <a:xfrm>
            <a:off x="3192701" y="5066160"/>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1</a:t>
            </a:r>
          </a:p>
        </p:txBody>
      </p:sp>
      <p:sp>
        <p:nvSpPr>
          <p:cNvPr id="804957" name="AutoShape 93"/>
          <p:cNvSpPr>
            <a:spLocks noChangeArrowheads="1"/>
          </p:cNvSpPr>
          <p:nvPr>
            <p:custDataLst>
              <p:tags r:id="rId27"/>
            </p:custDataLst>
          </p:nvPr>
        </p:nvSpPr>
        <p:spPr bwMode="auto">
          <a:xfrm>
            <a:off x="3192701" y="5555110"/>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400" b="1">
                <a:solidFill>
                  <a:srgbClr val="990033"/>
                </a:solidFill>
              </a:rPr>
              <a:t>2</a:t>
            </a:r>
          </a:p>
        </p:txBody>
      </p:sp>
      <p:sp>
        <p:nvSpPr>
          <p:cNvPr id="34" name="Espace réservé du numéro de diapositive 33"/>
          <p:cNvSpPr>
            <a:spLocks noGrp="1"/>
          </p:cNvSpPr>
          <p:nvPr>
            <p:ph type="sldNum" sz="quarter" idx="12"/>
          </p:nvPr>
        </p:nvSpPr>
        <p:spPr/>
        <p:txBody>
          <a:bodyPr/>
          <a:lstStyle/>
          <a:p>
            <a:fld id="{2C6B1FF6-39B9-40F5-8B67-33C6354A3D4F}" type="slidenum">
              <a:rPr kumimoji="0" lang="en-US" smtClean="0"/>
              <a:pPr/>
              <a:t>34</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04954"/>
                                        </p:tgtEl>
                                        <p:attrNameLst>
                                          <p:attrName>style.visibility</p:attrName>
                                        </p:attrNameLst>
                                      </p:cBhvr>
                                      <p:to>
                                        <p:strVal val="visible"/>
                                      </p:to>
                                    </p:set>
                                    <p:animEffect transition="in" filter="checkerboard(across)">
                                      <p:cBhvr>
                                        <p:cTn id="7" dur="500"/>
                                        <p:tgtEl>
                                          <p:spTgt spid="80495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04956"/>
                                        </p:tgtEl>
                                        <p:attrNameLst>
                                          <p:attrName>style.visibility</p:attrName>
                                        </p:attrNameLst>
                                      </p:cBhvr>
                                      <p:to>
                                        <p:strVal val="visible"/>
                                      </p:to>
                                    </p:set>
                                    <p:animEffect transition="in" filter="checkerboard(across)">
                                      <p:cBhvr>
                                        <p:cTn id="10" dur="500"/>
                                        <p:tgtEl>
                                          <p:spTgt spid="80495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804948"/>
                                        </p:tgtEl>
                                        <p:attrNameLst>
                                          <p:attrName>style.visibility</p:attrName>
                                        </p:attrNameLst>
                                      </p:cBhvr>
                                      <p:to>
                                        <p:strVal val="visible"/>
                                      </p:to>
                                    </p:set>
                                    <p:animEffect transition="in" filter="checkerboard(across)">
                                      <p:cBhvr>
                                        <p:cTn id="13" dur="500"/>
                                        <p:tgtEl>
                                          <p:spTgt spid="804948"/>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804944"/>
                                        </p:tgtEl>
                                        <p:attrNameLst>
                                          <p:attrName>style.visibility</p:attrName>
                                        </p:attrNameLst>
                                      </p:cBhvr>
                                      <p:to>
                                        <p:strVal val="visible"/>
                                      </p:to>
                                    </p:set>
                                    <p:animEffect transition="in" filter="checkerboard(across)">
                                      <p:cBhvr>
                                        <p:cTn id="16" dur="500"/>
                                        <p:tgtEl>
                                          <p:spTgt spid="804944"/>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804957"/>
                                        </p:tgtEl>
                                        <p:attrNameLst>
                                          <p:attrName>style.visibility</p:attrName>
                                        </p:attrNameLst>
                                      </p:cBhvr>
                                      <p:to>
                                        <p:strVal val="visible"/>
                                      </p:to>
                                    </p:set>
                                    <p:animEffect transition="in" filter="checkerboard(across)">
                                      <p:cBhvr>
                                        <p:cTn id="21" dur="500"/>
                                        <p:tgtEl>
                                          <p:spTgt spid="804957"/>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804955"/>
                                        </p:tgtEl>
                                        <p:attrNameLst>
                                          <p:attrName>style.visibility</p:attrName>
                                        </p:attrNameLst>
                                      </p:cBhvr>
                                      <p:to>
                                        <p:strVal val="visible"/>
                                      </p:to>
                                    </p:set>
                                    <p:animEffect transition="in" filter="checkerboard(across)">
                                      <p:cBhvr>
                                        <p:cTn id="24" dur="500"/>
                                        <p:tgtEl>
                                          <p:spTgt spid="804955"/>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804949"/>
                                        </p:tgtEl>
                                        <p:attrNameLst>
                                          <p:attrName>style.visibility</p:attrName>
                                        </p:attrNameLst>
                                      </p:cBhvr>
                                      <p:to>
                                        <p:strVal val="visible"/>
                                      </p:to>
                                    </p:set>
                                    <p:animEffect transition="in" filter="checkerboard(across)">
                                      <p:cBhvr>
                                        <p:cTn id="27" dur="500"/>
                                        <p:tgtEl>
                                          <p:spTgt spid="804949"/>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804945"/>
                                        </p:tgtEl>
                                        <p:attrNameLst>
                                          <p:attrName>style.visibility</p:attrName>
                                        </p:attrNameLst>
                                      </p:cBhvr>
                                      <p:to>
                                        <p:strVal val="visible"/>
                                      </p:to>
                                    </p:set>
                                    <p:animEffect transition="in" filter="checkerboard(across)">
                                      <p:cBhvr>
                                        <p:cTn id="30" dur="500"/>
                                        <p:tgtEl>
                                          <p:spTgt spid="804945"/>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804940"/>
                                        </p:tgtEl>
                                        <p:attrNameLst>
                                          <p:attrName>style.visibility</p:attrName>
                                        </p:attrNameLst>
                                      </p:cBhvr>
                                      <p:to>
                                        <p:strVal val="visible"/>
                                      </p:to>
                                    </p:set>
                                    <p:animEffect transition="in" filter="checkerboard(across)">
                                      <p:cBhvr>
                                        <p:cTn id="35" dur="500"/>
                                        <p:tgtEl>
                                          <p:spTgt spid="804940"/>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804938"/>
                                        </p:tgtEl>
                                        <p:attrNameLst>
                                          <p:attrName>style.visibility</p:attrName>
                                        </p:attrNameLst>
                                      </p:cBhvr>
                                      <p:to>
                                        <p:strVal val="visible"/>
                                      </p:to>
                                    </p:set>
                                    <p:animEffect transition="in" filter="checkerboard(across)">
                                      <p:cBhvr>
                                        <p:cTn id="38" dur="500"/>
                                        <p:tgtEl>
                                          <p:spTgt spid="804938"/>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804950"/>
                                        </p:tgtEl>
                                        <p:attrNameLst>
                                          <p:attrName>style.visibility</p:attrName>
                                        </p:attrNameLst>
                                      </p:cBhvr>
                                      <p:to>
                                        <p:strVal val="visible"/>
                                      </p:to>
                                    </p:set>
                                    <p:animEffect transition="in" filter="checkerboard(across)">
                                      <p:cBhvr>
                                        <p:cTn id="41" dur="500"/>
                                        <p:tgtEl>
                                          <p:spTgt spid="804950"/>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804946"/>
                                        </p:tgtEl>
                                        <p:attrNameLst>
                                          <p:attrName>style.visibility</p:attrName>
                                        </p:attrNameLst>
                                      </p:cBhvr>
                                      <p:to>
                                        <p:strVal val="visible"/>
                                      </p:to>
                                    </p:set>
                                    <p:animEffect transition="in" filter="checkerboard(across)">
                                      <p:cBhvr>
                                        <p:cTn id="44" dur="500"/>
                                        <p:tgtEl>
                                          <p:spTgt spid="804946"/>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804941"/>
                                        </p:tgtEl>
                                        <p:attrNameLst>
                                          <p:attrName>style.visibility</p:attrName>
                                        </p:attrNameLst>
                                      </p:cBhvr>
                                      <p:to>
                                        <p:strVal val="visible"/>
                                      </p:to>
                                    </p:set>
                                    <p:animEffect transition="in" filter="checkerboard(across)">
                                      <p:cBhvr>
                                        <p:cTn id="49" dur="500"/>
                                        <p:tgtEl>
                                          <p:spTgt spid="804941"/>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804939"/>
                                        </p:tgtEl>
                                        <p:attrNameLst>
                                          <p:attrName>style.visibility</p:attrName>
                                        </p:attrNameLst>
                                      </p:cBhvr>
                                      <p:to>
                                        <p:strVal val="visible"/>
                                      </p:to>
                                    </p:set>
                                    <p:animEffect transition="in" filter="checkerboard(across)">
                                      <p:cBhvr>
                                        <p:cTn id="52" dur="500"/>
                                        <p:tgtEl>
                                          <p:spTgt spid="804939"/>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804951"/>
                                        </p:tgtEl>
                                        <p:attrNameLst>
                                          <p:attrName>style.visibility</p:attrName>
                                        </p:attrNameLst>
                                      </p:cBhvr>
                                      <p:to>
                                        <p:strVal val="visible"/>
                                      </p:to>
                                    </p:set>
                                    <p:animEffect transition="in" filter="checkerboard(across)">
                                      <p:cBhvr>
                                        <p:cTn id="55" dur="500"/>
                                        <p:tgtEl>
                                          <p:spTgt spid="804951"/>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804947"/>
                                        </p:tgtEl>
                                        <p:attrNameLst>
                                          <p:attrName>style.visibility</p:attrName>
                                        </p:attrNameLst>
                                      </p:cBhvr>
                                      <p:to>
                                        <p:strVal val="visible"/>
                                      </p:to>
                                    </p:set>
                                    <p:animEffect transition="in" filter="checkerboard(across)">
                                      <p:cBhvr>
                                        <p:cTn id="58" dur="500"/>
                                        <p:tgtEl>
                                          <p:spTgt spid="804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938" grpId="0" animBg="1"/>
      <p:bldP spid="804939" grpId="0" animBg="1"/>
      <p:bldP spid="804940" grpId="0" animBg="1"/>
      <p:bldP spid="804941" grpId="0" animBg="1"/>
      <p:bldP spid="804944" grpId="0" animBg="1"/>
      <p:bldP spid="804945" grpId="0" animBg="1"/>
      <p:bldP spid="804946" grpId="0" animBg="1"/>
      <p:bldP spid="804947" grpId="0" animBg="1"/>
      <p:bldP spid="804948" grpId="0" animBg="1"/>
      <p:bldP spid="804949" grpId="0" animBg="1"/>
      <p:bldP spid="804950" grpId="0" animBg="1"/>
      <p:bldP spid="804951" grpId="0" animBg="1"/>
      <p:bldP spid="804954" grpId="0" animBg="1"/>
      <p:bldP spid="804955" grpId="0" animBg="1"/>
      <p:bldP spid="804956" grpId="0" animBg="1"/>
      <p:bldP spid="80495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9" name="Oval 59"/>
          <p:cNvSpPr>
            <a:spLocks noChangeArrowheads="1"/>
          </p:cNvSpPr>
          <p:nvPr/>
        </p:nvSpPr>
        <p:spPr bwMode="auto">
          <a:xfrm>
            <a:off x="5938838" y="3345991"/>
            <a:ext cx="170497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pic>
        <p:nvPicPr>
          <p:cNvPr id="747580" name="Picture 60" descr="Server01"/>
          <p:cNvPicPr>
            <a:picLocks noChangeAspect="1" noChangeArrowheads="1"/>
          </p:cNvPicPr>
          <p:nvPr/>
        </p:nvPicPr>
        <p:blipFill>
          <a:blip r:embed="rId16" cstate="print"/>
          <a:srcRect/>
          <a:stretch>
            <a:fillRect/>
          </a:stretch>
        </p:blipFill>
        <p:spPr bwMode="auto">
          <a:xfrm>
            <a:off x="6173788" y="2634791"/>
            <a:ext cx="1212850" cy="1425575"/>
          </a:xfrm>
          <a:prstGeom prst="rect">
            <a:avLst/>
          </a:prstGeom>
          <a:noFill/>
        </p:spPr>
      </p:pic>
      <p:sp>
        <p:nvSpPr>
          <p:cNvPr id="747578" name="Oval 58"/>
          <p:cNvSpPr>
            <a:spLocks noChangeArrowheads="1"/>
          </p:cNvSpPr>
          <p:nvPr/>
        </p:nvSpPr>
        <p:spPr bwMode="auto">
          <a:xfrm>
            <a:off x="5938838" y="5149391"/>
            <a:ext cx="170497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sp>
        <p:nvSpPr>
          <p:cNvPr id="747577" name="Oval 57"/>
          <p:cNvSpPr>
            <a:spLocks noChangeArrowheads="1"/>
          </p:cNvSpPr>
          <p:nvPr/>
        </p:nvSpPr>
        <p:spPr bwMode="auto">
          <a:xfrm>
            <a:off x="850900" y="4184191"/>
            <a:ext cx="170497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fr-FR"/>
          </a:p>
        </p:txBody>
      </p:sp>
      <p:sp>
        <p:nvSpPr>
          <p:cNvPr id="747522" name="Rectangle 2"/>
          <p:cNvSpPr>
            <a:spLocks noGrp="1" noChangeArrowheads="1"/>
          </p:cNvSpPr>
          <p:nvPr>
            <p:ph type="title"/>
            <p:custDataLst>
              <p:tags r:id="rId1"/>
            </p:custDataLst>
          </p:nvPr>
        </p:nvSpPr>
        <p:spPr>
          <a:xfrm>
            <a:off x="11472" y="14513"/>
            <a:ext cx="9132528" cy="1074057"/>
          </a:xfrm>
          <a:solidFill>
            <a:schemeClr val="bg1"/>
          </a:solidFill>
        </p:spPr>
        <p:txBody>
          <a:bodyPr vert="horz" anchor="b">
            <a:noAutofit/>
          </a:bodyPr>
          <a:lstStyle/>
          <a:p>
            <a:r>
              <a:rPr lang="fr-FR" sz="2500" b="1">
                <a:solidFill>
                  <a:srgbClr val="C00000"/>
                </a:solidFill>
              </a:rPr>
              <a:t>Utilisation des mises à jour dynamiques sécurisées par les zones DNS intégrées à Active Directory</a:t>
            </a:r>
            <a:endParaRPr lang="en-US" sz="2500" b="1">
              <a:solidFill>
                <a:srgbClr val="C00000"/>
              </a:solidFill>
            </a:endParaRPr>
          </a:p>
        </p:txBody>
      </p:sp>
      <p:pic>
        <p:nvPicPr>
          <p:cNvPr id="747527" name="Picture 7" descr="Computer_DesktopComputerSansKeyboard01"/>
          <p:cNvPicPr>
            <a:picLocks noChangeAspect="1" noChangeArrowheads="1"/>
          </p:cNvPicPr>
          <p:nvPr/>
        </p:nvPicPr>
        <p:blipFill>
          <a:blip r:embed="rId17" cstate="print"/>
          <a:srcRect/>
          <a:stretch>
            <a:fillRect/>
          </a:stretch>
        </p:blipFill>
        <p:spPr bwMode="auto">
          <a:xfrm>
            <a:off x="1200150" y="3582529"/>
            <a:ext cx="1093788" cy="1333500"/>
          </a:xfrm>
          <a:prstGeom prst="rect">
            <a:avLst/>
          </a:prstGeom>
          <a:noFill/>
        </p:spPr>
      </p:pic>
      <p:sp>
        <p:nvSpPr>
          <p:cNvPr id="747528" name="AutoShape 8"/>
          <p:cNvSpPr>
            <a:spLocks noChangeArrowheads="1"/>
          </p:cNvSpPr>
          <p:nvPr>
            <p:custDataLst>
              <p:tags r:id="rId2"/>
            </p:custDataLst>
          </p:nvPr>
        </p:nvSpPr>
        <p:spPr bwMode="auto">
          <a:xfrm>
            <a:off x="808296" y="2731725"/>
            <a:ext cx="1753545" cy="70038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dirty="0">
                <a:solidFill>
                  <a:srgbClr val="000000"/>
                </a:solidFill>
              </a:rPr>
              <a:t>Client DNS</a:t>
            </a:r>
            <a:endParaRPr lang="en-US" sz="2200" b="1" dirty="0"/>
          </a:p>
          <a:p>
            <a:pPr>
              <a:lnSpc>
                <a:spcPct val="85000"/>
              </a:lnSpc>
            </a:pPr>
            <a:endParaRPr lang="en-US" sz="2200" b="1" dirty="0">
              <a:solidFill>
                <a:srgbClr val="000000"/>
              </a:solidFill>
            </a:endParaRPr>
          </a:p>
        </p:txBody>
      </p:sp>
      <p:sp>
        <p:nvSpPr>
          <p:cNvPr id="747529" name="AutoShape 9"/>
          <p:cNvSpPr>
            <a:spLocks noChangeArrowheads="1"/>
          </p:cNvSpPr>
          <p:nvPr>
            <p:custDataLst>
              <p:tags r:id="rId3"/>
            </p:custDataLst>
          </p:nvPr>
        </p:nvSpPr>
        <p:spPr bwMode="auto">
          <a:xfrm>
            <a:off x="7059613" y="2917371"/>
            <a:ext cx="1619930" cy="65404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err="1">
                <a:solidFill>
                  <a:srgbClr val="000000"/>
                </a:solidFill>
              </a:rPr>
              <a:t>Serveur</a:t>
            </a:r>
            <a:r>
              <a:rPr lang="en-GB" sz="2200" b="1">
                <a:solidFill>
                  <a:srgbClr val="000000"/>
                </a:solidFill>
              </a:rPr>
              <a:t> DNS </a:t>
            </a:r>
            <a:endParaRPr lang="en-US" sz="2200" b="1"/>
          </a:p>
          <a:p>
            <a:pPr>
              <a:lnSpc>
                <a:spcPct val="85000"/>
              </a:lnSpc>
            </a:pPr>
            <a:r>
              <a:rPr lang="en-GB" sz="2200" b="1">
                <a:solidFill>
                  <a:srgbClr val="000000"/>
                </a:solidFill>
              </a:rPr>
              <a:t>local</a:t>
            </a:r>
            <a:endParaRPr lang="en-US" sz="2200" b="1">
              <a:solidFill>
                <a:srgbClr val="000000"/>
              </a:solidFill>
            </a:endParaRPr>
          </a:p>
        </p:txBody>
      </p:sp>
      <p:pic>
        <p:nvPicPr>
          <p:cNvPr id="747530" name="Picture 10" descr="Server01"/>
          <p:cNvPicPr>
            <a:picLocks noChangeAspect="1" noChangeArrowheads="1"/>
          </p:cNvPicPr>
          <p:nvPr/>
        </p:nvPicPr>
        <p:blipFill>
          <a:blip r:embed="rId16" cstate="print"/>
          <a:srcRect/>
          <a:stretch>
            <a:fillRect/>
          </a:stretch>
        </p:blipFill>
        <p:spPr bwMode="auto">
          <a:xfrm>
            <a:off x="6173788" y="4436604"/>
            <a:ext cx="1212850" cy="1425575"/>
          </a:xfrm>
          <a:prstGeom prst="rect">
            <a:avLst/>
          </a:prstGeom>
          <a:noFill/>
        </p:spPr>
      </p:pic>
      <p:sp>
        <p:nvSpPr>
          <p:cNvPr id="747531" name="AutoShape 11"/>
          <p:cNvSpPr>
            <a:spLocks noChangeArrowheads="1"/>
          </p:cNvSpPr>
          <p:nvPr>
            <p:custDataLst>
              <p:tags r:id="rId4"/>
            </p:custDataLst>
          </p:nvPr>
        </p:nvSpPr>
        <p:spPr bwMode="auto">
          <a:xfrm>
            <a:off x="6125706" y="5878286"/>
            <a:ext cx="2989262" cy="876068"/>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a:solidFill>
                  <a:srgbClr val="000000"/>
                </a:solidFill>
              </a:rPr>
              <a:t>Contrôleur de domaine</a:t>
            </a:r>
            <a:endParaRPr lang="en-US" sz="2200" b="1"/>
          </a:p>
          <a:p>
            <a:pPr>
              <a:lnSpc>
                <a:spcPct val="85000"/>
              </a:lnSpc>
            </a:pPr>
            <a:r>
              <a:rPr lang="en-GB" sz="2200" b="1">
                <a:solidFill>
                  <a:srgbClr val="000000"/>
                </a:solidFill>
              </a:rPr>
              <a:t>avec zone DNS intégrée</a:t>
            </a:r>
            <a:endParaRPr lang="en-US" sz="2200" b="1"/>
          </a:p>
          <a:p>
            <a:pPr>
              <a:lnSpc>
                <a:spcPct val="85000"/>
              </a:lnSpc>
            </a:pPr>
            <a:r>
              <a:rPr lang="en-GB" sz="2200" b="1">
                <a:solidFill>
                  <a:srgbClr val="000000"/>
                </a:solidFill>
              </a:rPr>
              <a:t>à Active Directory</a:t>
            </a:r>
            <a:endParaRPr lang="en-US" sz="2200" b="1"/>
          </a:p>
        </p:txBody>
      </p:sp>
      <p:sp>
        <p:nvSpPr>
          <p:cNvPr id="747532" name="Line 12"/>
          <p:cNvSpPr>
            <a:spLocks noChangeShapeType="1"/>
          </p:cNvSpPr>
          <p:nvPr/>
        </p:nvSpPr>
        <p:spPr bwMode="auto">
          <a:xfrm flipV="1">
            <a:off x="2557463" y="2953879"/>
            <a:ext cx="3284537" cy="1587"/>
          </a:xfrm>
          <a:prstGeom prst="line">
            <a:avLst/>
          </a:prstGeom>
          <a:noFill/>
          <a:ln w="50800">
            <a:solidFill>
              <a:srgbClr val="CC0000"/>
            </a:solidFill>
            <a:round/>
            <a:headEnd/>
            <a:tailEnd type="triangle" w="med" len="med"/>
          </a:ln>
          <a:effectLst/>
        </p:spPr>
        <p:txBody>
          <a:bodyPr anchor="ctr"/>
          <a:lstStyle/>
          <a:p>
            <a:endParaRPr lang="fr-FR"/>
          </a:p>
        </p:txBody>
      </p:sp>
      <p:sp>
        <p:nvSpPr>
          <p:cNvPr id="747533" name="Line 13"/>
          <p:cNvSpPr>
            <a:spLocks noChangeShapeType="1"/>
          </p:cNvSpPr>
          <p:nvPr/>
        </p:nvSpPr>
        <p:spPr bwMode="auto">
          <a:xfrm>
            <a:off x="2657475" y="3611104"/>
            <a:ext cx="3670754" cy="641582"/>
          </a:xfrm>
          <a:prstGeom prst="line">
            <a:avLst/>
          </a:prstGeom>
          <a:noFill/>
          <a:ln w="50800">
            <a:solidFill>
              <a:srgbClr val="CC0000"/>
            </a:solidFill>
            <a:round/>
            <a:headEnd/>
            <a:tailEnd type="triangle" w="med" len="med"/>
          </a:ln>
          <a:effectLst/>
        </p:spPr>
        <p:txBody>
          <a:bodyPr anchor="ctr"/>
          <a:lstStyle/>
          <a:p>
            <a:endParaRPr lang="fr-FR"/>
          </a:p>
        </p:txBody>
      </p:sp>
      <p:sp>
        <p:nvSpPr>
          <p:cNvPr id="747534" name="Line 14"/>
          <p:cNvSpPr>
            <a:spLocks noChangeShapeType="1"/>
          </p:cNvSpPr>
          <p:nvPr/>
        </p:nvSpPr>
        <p:spPr bwMode="auto">
          <a:xfrm>
            <a:off x="2571750" y="4596258"/>
            <a:ext cx="3419475" cy="519112"/>
          </a:xfrm>
          <a:prstGeom prst="line">
            <a:avLst/>
          </a:prstGeom>
          <a:noFill/>
          <a:ln w="50800">
            <a:solidFill>
              <a:srgbClr val="CC0000"/>
            </a:solidFill>
            <a:round/>
            <a:headEnd/>
            <a:tailEnd type="triangle" w="med" len="med"/>
          </a:ln>
          <a:effectLst/>
        </p:spPr>
        <p:txBody>
          <a:bodyPr anchor="ctr"/>
          <a:lstStyle/>
          <a:p>
            <a:endParaRPr lang="fr-FR"/>
          </a:p>
        </p:txBody>
      </p:sp>
      <p:sp>
        <p:nvSpPr>
          <p:cNvPr id="747535" name="Line 15"/>
          <p:cNvSpPr>
            <a:spLocks noChangeShapeType="1"/>
          </p:cNvSpPr>
          <p:nvPr/>
        </p:nvSpPr>
        <p:spPr bwMode="auto">
          <a:xfrm flipH="1">
            <a:off x="2543175" y="3128504"/>
            <a:ext cx="3313113" cy="1587"/>
          </a:xfrm>
          <a:prstGeom prst="line">
            <a:avLst/>
          </a:prstGeom>
          <a:noFill/>
          <a:ln w="50800" cap="rnd">
            <a:solidFill>
              <a:srgbClr val="CC0000"/>
            </a:solidFill>
            <a:prstDash val="sysDot"/>
            <a:round/>
            <a:headEnd/>
            <a:tailEnd type="triangle" w="med" len="med"/>
          </a:ln>
          <a:effectLst/>
        </p:spPr>
        <p:txBody>
          <a:bodyPr anchor="ctr"/>
          <a:lstStyle/>
          <a:p>
            <a:endParaRPr lang="fr-FR"/>
          </a:p>
        </p:txBody>
      </p:sp>
      <p:sp>
        <p:nvSpPr>
          <p:cNvPr id="747536" name="Line 16"/>
          <p:cNvSpPr>
            <a:spLocks noChangeShapeType="1"/>
          </p:cNvSpPr>
          <p:nvPr/>
        </p:nvSpPr>
        <p:spPr bwMode="auto">
          <a:xfrm flipH="1" flipV="1">
            <a:off x="2636610" y="3787317"/>
            <a:ext cx="3430360" cy="639541"/>
          </a:xfrm>
          <a:prstGeom prst="line">
            <a:avLst/>
          </a:prstGeom>
          <a:noFill/>
          <a:ln w="50800" cap="rnd">
            <a:solidFill>
              <a:srgbClr val="CC0000"/>
            </a:solidFill>
            <a:prstDash val="sysDot"/>
            <a:round/>
            <a:headEnd/>
            <a:tailEnd type="triangle" w="med" len="med"/>
          </a:ln>
          <a:effectLst/>
        </p:spPr>
        <p:txBody>
          <a:bodyPr anchor="ctr"/>
          <a:lstStyle/>
          <a:p>
            <a:endParaRPr lang="fr-FR"/>
          </a:p>
        </p:txBody>
      </p:sp>
      <p:sp>
        <p:nvSpPr>
          <p:cNvPr id="747537" name="Text Box 17"/>
          <p:cNvSpPr txBox="1">
            <a:spLocks noChangeArrowheads="1"/>
          </p:cNvSpPr>
          <p:nvPr>
            <p:custDataLst>
              <p:tags r:id="rId5"/>
            </p:custDataLst>
          </p:nvPr>
        </p:nvSpPr>
        <p:spPr bwMode="auto">
          <a:xfrm>
            <a:off x="2619375" y="2557459"/>
            <a:ext cx="3903762" cy="430887"/>
          </a:xfrm>
          <a:prstGeom prst="rect">
            <a:avLst/>
          </a:prstGeom>
          <a:noFill/>
          <a:ln w="9525" algn="ctr">
            <a:noFill/>
            <a:miter lim="800000"/>
            <a:headEnd/>
            <a:tailEnd/>
          </a:ln>
          <a:effectLst/>
        </p:spPr>
        <p:txBody>
          <a:bodyPr wrap="none">
            <a:spAutoFit/>
          </a:bodyPr>
          <a:lstStyle/>
          <a:p>
            <a:r>
              <a:rPr lang="en-GB" sz="2200" b="1" err="1">
                <a:solidFill>
                  <a:srgbClr val="000000"/>
                </a:solidFill>
              </a:rPr>
              <a:t>Trouver</a:t>
            </a:r>
            <a:r>
              <a:rPr lang="en-GB" sz="2200" b="1">
                <a:solidFill>
                  <a:srgbClr val="000000"/>
                </a:solidFill>
              </a:rPr>
              <a:t> le </a:t>
            </a:r>
            <a:r>
              <a:rPr lang="en-GB" sz="2200" b="1" err="1">
                <a:solidFill>
                  <a:srgbClr val="000000"/>
                </a:solidFill>
              </a:rPr>
              <a:t>serveur</a:t>
            </a:r>
            <a:r>
              <a:rPr lang="en-GB" sz="2200" b="1">
                <a:solidFill>
                  <a:srgbClr val="000000"/>
                </a:solidFill>
              </a:rPr>
              <a:t> </a:t>
            </a:r>
            <a:r>
              <a:rPr lang="en-GB" sz="2200" b="1" err="1">
                <a:solidFill>
                  <a:srgbClr val="000000"/>
                </a:solidFill>
              </a:rPr>
              <a:t>faisant</a:t>
            </a:r>
            <a:r>
              <a:rPr lang="en-GB" sz="2200" b="1">
                <a:solidFill>
                  <a:srgbClr val="000000"/>
                </a:solidFill>
              </a:rPr>
              <a:t> </a:t>
            </a:r>
            <a:r>
              <a:rPr lang="en-GB" sz="2200" b="1" err="1">
                <a:solidFill>
                  <a:srgbClr val="000000"/>
                </a:solidFill>
              </a:rPr>
              <a:t>autorité</a:t>
            </a:r>
            <a:endParaRPr lang="en-US" sz="2200" b="1"/>
          </a:p>
        </p:txBody>
      </p:sp>
      <p:sp>
        <p:nvSpPr>
          <p:cNvPr id="747538" name="Text Box 18"/>
          <p:cNvSpPr txBox="1">
            <a:spLocks noChangeArrowheads="1"/>
          </p:cNvSpPr>
          <p:nvPr>
            <p:custDataLst>
              <p:tags r:id="rId6"/>
            </p:custDataLst>
          </p:nvPr>
        </p:nvSpPr>
        <p:spPr bwMode="auto">
          <a:xfrm>
            <a:off x="4431378" y="3048449"/>
            <a:ext cx="1095173" cy="430887"/>
          </a:xfrm>
          <a:prstGeom prst="rect">
            <a:avLst/>
          </a:prstGeom>
          <a:noFill/>
          <a:ln w="9525" algn="ctr">
            <a:noFill/>
            <a:miter lim="800000"/>
            <a:headEnd/>
            <a:tailEnd/>
          </a:ln>
          <a:effectLst/>
        </p:spPr>
        <p:txBody>
          <a:bodyPr wrap="none">
            <a:spAutoFit/>
          </a:bodyPr>
          <a:lstStyle/>
          <a:p>
            <a:r>
              <a:rPr lang="en-GB" sz="2200" b="1" err="1">
                <a:solidFill>
                  <a:srgbClr val="000000"/>
                </a:solidFill>
              </a:rPr>
              <a:t>Résultat</a:t>
            </a:r>
            <a:endParaRPr lang="en-US" sz="2200" b="1"/>
          </a:p>
        </p:txBody>
      </p:sp>
      <p:sp>
        <p:nvSpPr>
          <p:cNvPr id="747539" name="Text Box 19"/>
          <p:cNvSpPr txBox="1">
            <a:spLocks noChangeArrowheads="1"/>
          </p:cNvSpPr>
          <p:nvPr>
            <p:custDataLst>
              <p:tags r:id="rId7"/>
            </p:custDataLst>
          </p:nvPr>
        </p:nvSpPr>
        <p:spPr bwMode="auto">
          <a:xfrm rot="478249">
            <a:off x="2238277" y="3416937"/>
            <a:ext cx="4204489" cy="430887"/>
          </a:xfrm>
          <a:prstGeom prst="rect">
            <a:avLst/>
          </a:prstGeom>
          <a:noFill/>
          <a:ln w="9525" algn="ctr">
            <a:noFill/>
            <a:miter lim="800000"/>
            <a:headEnd/>
            <a:tailEnd/>
          </a:ln>
          <a:effectLst/>
        </p:spPr>
        <p:txBody>
          <a:bodyPr wrap="square">
            <a:spAutoFit/>
          </a:bodyPr>
          <a:lstStyle/>
          <a:p>
            <a:r>
              <a:rPr lang="en-GB" sz="2200" b="1" err="1">
                <a:solidFill>
                  <a:srgbClr val="000000"/>
                </a:solidFill>
              </a:rPr>
              <a:t>Trouver</a:t>
            </a:r>
            <a:r>
              <a:rPr lang="en-GB" sz="2200" b="1">
                <a:solidFill>
                  <a:srgbClr val="000000"/>
                </a:solidFill>
              </a:rPr>
              <a:t> le </a:t>
            </a:r>
            <a:r>
              <a:rPr lang="en-GB" sz="2200" b="1" err="1">
                <a:solidFill>
                  <a:srgbClr val="000000"/>
                </a:solidFill>
              </a:rPr>
              <a:t>serveur</a:t>
            </a:r>
            <a:r>
              <a:rPr lang="en-GB" sz="2200" b="1">
                <a:solidFill>
                  <a:srgbClr val="000000"/>
                </a:solidFill>
              </a:rPr>
              <a:t> </a:t>
            </a:r>
            <a:r>
              <a:rPr lang="en-GB" sz="2200" b="1" err="1">
                <a:solidFill>
                  <a:srgbClr val="000000"/>
                </a:solidFill>
              </a:rPr>
              <a:t>faisant</a:t>
            </a:r>
            <a:r>
              <a:rPr lang="en-GB" sz="2200" b="1">
                <a:solidFill>
                  <a:srgbClr val="000000"/>
                </a:solidFill>
              </a:rPr>
              <a:t> </a:t>
            </a:r>
            <a:r>
              <a:rPr lang="en-GB" sz="2200" b="1" err="1">
                <a:solidFill>
                  <a:srgbClr val="000000"/>
                </a:solidFill>
              </a:rPr>
              <a:t>autorité</a:t>
            </a:r>
            <a:endParaRPr lang="en-US" sz="2200" b="1"/>
          </a:p>
        </p:txBody>
      </p:sp>
      <p:sp>
        <p:nvSpPr>
          <p:cNvPr id="747540" name="Text Box 20"/>
          <p:cNvSpPr txBox="1">
            <a:spLocks noChangeArrowheads="1"/>
          </p:cNvSpPr>
          <p:nvPr>
            <p:custDataLst>
              <p:tags r:id="rId8"/>
            </p:custDataLst>
          </p:nvPr>
        </p:nvSpPr>
        <p:spPr bwMode="auto">
          <a:xfrm rot="592778">
            <a:off x="3698977" y="3972715"/>
            <a:ext cx="1095173" cy="430887"/>
          </a:xfrm>
          <a:prstGeom prst="rect">
            <a:avLst/>
          </a:prstGeom>
          <a:noFill/>
          <a:ln w="9525" algn="ctr">
            <a:noFill/>
            <a:miter lim="800000"/>
            <a:headEnd/>
            <a:tailEnd/>
          </a:ln>
          <a:effectLst/>
        </p:spPr>
        <p:txBody>
          <a:bodyPr wrap="none">
            <a:spAutoFit/>
          </a:bodyPr>
          <a:lstStyle/>
          <a:p>
            <a:r>
              <a:rPr lang="en-GB" sz="2200" b="1" err="1">
                <a:solidFill>
                  <a:srgbClr val="000000"/>
                </a:solidFill>
              </a:rPr>
              <a:t>Résultat</a:t>
            </a:r>
            <a:endParaRPr lang="en-US" sz="2200" b="1"/>
          </a:p>
        </p:txBody>
      </p:sp>
      <p:sp>
        <p:nvSpPr>
          <p:cNvPr id="747542" name="Text Box 22"/>
          <p:cNvSpPr txBox="1">
            <a:spLocks noChangeArrowheads="1"/>
          </p:cNvSpPr>
          <p:nvPr>
            <p:custDataLst>
              <p:tags r:id="rId9"/>
            </p:custDataLst>
          </p:nvPr>
        </p:nvSpPr>
        <p:spPr bwMode="auto">
          <a:xfrm rot="533145">
            <a:off x="2106439" y="4388637"/>
            <a:ext cx="4245778" cy="430887"/>
          </a:xfrm>
          <a:prstGeom prst="rect">
            <a:avLst/>
          </a:prstGeom>
          <a:noFill/>
          <a:ln w="9525" algn="ctr">
            <a:noFill/>
            <a:miter lim="800000"/>
            <a:headEnd/>
            <a:tailEnd/>
          </a:ln>
          <a:effectLst/>
        </p:spPr>
        <p:txBody>
          <a:bodyPr wrap="none">
            <a:spAutoFit/>
          </a:bodyPr>
          <a:lstStyle/>
          <a:p>
            <a:r>
              <a:rPr lang="en-GB" sz="2200" b="1" err="1">
                <a:solidFill>
                  <a:srgbClr val="000000"/>
                </a:solidFill>
              </a:rPr>
              <a:t>Tenter</a:t>
            </a:r>
            <a:r>
              <a:rPr lang="en-GB" sz="2200" b="1">
                <a:solidFill>
                  <a:srgbClr val="000000"/>
                </a:solidFill>
              </a:rPr>
              <a:t> </a:t>
            </a:r>
            <a:r>
              <a:rPr lang="en-GB" sz="2200" b="1" err="1">
                <a:solidFill>
                  <a:srgbClr val="000000"/>
                </a:solidFill>
              </a:rPr>
              <a:t>une</a:t>
            </a:r>
            <a:r>
              <a:rPr lang="en-GB" sz="2200" b="1">
                <a:solidFill>
                  <a:srgbClr val="000000"/>
                </a:solidFill>
              </a:rPr>
              <a:t> </a:t>
            </a:r>
            <a:r>
              <a:rPr lang="en-GB" sz="2200" b="1" err="1">
                <a:solidFill>
                  <a:srgbClr val="000000"/>
                </a:solidFill>
              </a:rPr>
              <a:t>mise</a:t>
            </a:r>
            <a:r>
              <a:rPr lang="en-GB" sz="2200" b="1">
                <a:solidFill>
                  <a:srgbClr val="000000"/>
                </a:solidFill>
              </a:rPr>
              <a:t> à jour non </a:t>
            </a:r>
            <a:r>
              <a:rPr lang="en-GB" sz="2200" b="1" err="1">
                <a:solidFill>
                  <a:srgbClr val="000000"/>
                </a:solidFill>
              </a:rPr>
              <a:t>sécurisée</a:t>
            </a:r>
            <a:endParaRPr lang="en-US" sz="2200" b="1"/>
          </a:p>
        </p:txBody>
      </p:sp>
      <p:sp>
        <p:nvSpPr>
          <p:cNvPr id="747543" name="Line 23"/>
          <p:cNvSpPr>
            <a:spLocks noChangeShapeType="1"/>
          </p:cNvSpPr>
          <p:nvPr/>
        </p:nvSpPr>
        <p:spPr bwMode="auto">
          <a:xfrm flipH="1" flipV="1">
            <a:off x="2549525" y="4820778"/>
            <a:ext cx="3488418" cy="534992"/>
          </a:xfrm>
          <a:prstGeom prst="line">
            <a:avLst/>
          </a:prstGeom>
          <a:noFill/>
          <a:ln w="50800" cap="rnd">
            <a:solidFill>
              <a:srgbClr val="CC0000"/>
            </a:solidFill>
            <a:prstDash val="sysDot"/>
            <a:round/>
            <a:headEnd/>
            <a:tailEnd type="triangle" w="med" len="med"/>
          </a:ln>
          <a:effectLst/>
        </p:spPr>
        <p:txBody>
          <a:bodyPr anchor="ctr"/>
          <a:lstStyle/>
          <a:p>
            <a:endParaRPr lang="fr-FR"/>
          </a:p>
        </p:txBody>
      </p:sp>
      <p:sp>
        <p:nvSpPr>
          <p:cNvPr id="747544" name="Text Box 24"/>
          <p:cNvSpPr txBox="1">
            <a:spLocks noChangeArrowheads="1"/>
          </p:cNvSpPr>
          <p:nvPr>
            <p:custDataLst>
              <p:tags r:id="rId10"/>
            </p:custDataLst>
          </p:nvPr>
        </p:nvSpPr>
        <p:spPr bwMode="auto">
          <a:xfrm rot="503131">
            <a:off x="3831450" y="5003489"/>
            <a:ext cx="1251262" cy="430887"/>
          </a:xfrm>
          <a:prstGeom prst="rect">
            <a:avLst/>
          </a:prstGeom>
          <a:noFill/>
          <a:ln w="9525" algn="ctr">
            <a:noFill/>
            <a:miter lim="800000"/>
            <a:headEnd/>
            <a:tailEnd/>
          </a:ln>
          <a:effectLst/>
        </p:spPr>
        <p:txBody>
          <a:bodyPr wrap="square">
            <a:spAutoFit/>
          </a:bodyPr>
          <a:lstStyle/>
          <a:p>
            <a:r>
              <a:rPr lang="en-GB" sz="2200" b="1" err="1">
                <a:solidFill>
                  <a:srgbClr val="000000"/>
                </a:solidFill>
              </a:rPr>
              <a:t>Refusé</a:t>
            </a:r>
            <a:endParaRPr lang="en-US" sz="2200" b="1"/>
          </a:p>
        </p:txBody>
      </p:sp>
      <p:sp>
        <p:nvSpPr>
          <p:cNvPr id="747548" name="Line 28"/>
          <p:cNvSpPr>
            <a:spLocks noChangeShapeType="1"/>
          </p:cNvSpPr>
          <p:nvPr/>
        </p:nvSpPr>
        <p:spPr bwMode="auto">
          <a:xfrm>
            <a:off x="2565400" y="5421984"/>
            <a:ext cx="3370943" cy="557902"/>
          </a:xfrm>
          <a:prstGeom prst="line">
            <a:avLst/>
          </a:prstGeom>
          <a:noFill/>
          <a:ln w="50800">
            <a:solidFill>
              <a:srgbClr val="CC0000"/>
            </a:solidFill>
            <a:round/>
            <a:headEnd/>
            <a:tailEnd type="triangle" w="med" len="med"/>
          </a:ln>
          <a:effectLst/>
        </p:spPr>
        <p:txBody>
          <a:bodyPr anchor="ctr"/>
          <a:lstStyle/>
          <a:p>
            <a:endParaRPr lang="fr-FR"/>
          </a:p>
        </p:txBody>
      </p:sp>
      <p:sp>
        <p:nvSpPr>
          <p:cNvPr id="747549" name="Text Box 29"/>
          <p:cNvSpPr txBox="1">
            <a:spLocks noChangeArrowheads="1"/>
          </p:cNvSpPr>
          <p:nvPr>
            <p:custDataLst>
              <p:tags r:id="rId11"/>
            </p:custDataLst>
          </p:nvPr>
        </p:nvSpPr>
        <p:spPr bwMode="auto">
          <a:xfrm rot="591949">
            <a:off x="2090100" y="5217539"/>
            <a:ext cx="4249881" cy="430887"/>
          </a:xfrm>
          <a:prstGeom prst="rect">
            <a:avLst/>
          </a:prstGeom>
          <a:noFill/>
          <a:ln w="9525" algn="ctr">
            <a:noFill/>
            <a:miter lim="800000"/>
            <a:headEnd/>
            <a:tailEnd/>
          </a:ln>
          <a:effectLst/>
        </p:spPr>
        <p:txBody>
          <a:bodyPr wrap="none">
            <a:spAutoFit/>
          </a:bodyPr>
          <a:lstStyle/>
          <a:p>
            <a:r>
              <a:rPr lang="en-GB" sz="2200" b="1" err="1">
                <a:solidFill>
                  <a:srgbClr val="000000"/>
                </a:solidFill>
              </a:rPr>
              <a:t>Négociation</a:t>
            </a:r>
            <a:r>
              <a:rPr lang="en-GB" sz="2200" b="1">
                <a:solidFill>
                  <a:srgbClr val="000000"/>
                </a:solidFill>
              </a:rPr>
              <a:t> de </a:t>
            </a:r>
            <a:r>
              <a:rPr lang="en-GB" sz="2200" b="1" err="1">
                <a:solidFill>
                  <a:srgbClr val="000000"/>
                </a:solidFill>
              </a:rPr>
              <a:t>mise</a:t>
            </a:r>
            <a:r>
              <a:rPr lang="en-GB" sz="2200" b="1">
                <a:solidFill>
                  <a:srgbClr val="000000"/>
                </a:solidFill>
              </a:rPr>
              <a:t> à jour </a:t>
            </a:r>
            <a:r>
              <a:rPr lang="en-GB" sz="2200" b="1" err="1">
                <a:solidFill>
                  <a:srgbClr val="000000"/>
                </a:solidFill>
              </a:rPr>
              <a:t>sécurisée</a:t>
            </a:r>
            <a:endParaRPr lang="en-US" sz="2200" b="1"/>
          </a:p>
        </p:txBody>
      </p:sp>
      <p:sp>
        <p:nvSpPr>
          <p:cNvPr id="747550" name="Line 30"/>
          <p:cNvSpPr>
            <a:spLocks noChangeShapeType="1"/>
          </p:cNvSpPr>
          <p:nvPr/>
        </p:nvSpPr>
        <p:spPr bwMode="auto">
          <a:xfrm flipH="1" flipV="1">
            <a:off x="2555875" y="5606591"/>
            <a:ext cx="3307896" cy="547466"/>
          </a:xfrm>
          <a:prstGeom prst="line">
            <a:avLst/>
          </a:prstGeom>
          <a:noFill/>
          <a:ln w="50800" cap="rnd">
            <a:solidFill>
              <a:srgbClr val="CC0000"/>
            </a:solidFill>
            <a:prstDash val="sysDot"/>
            <a:round/>
            <a:headEnd/>
            <a:tailEnd type="triangle" w="med" len="med"/>
          </a:ln>
          <a:effectLst/>
        </p:spPr>
        <p:txBody>
          <a:bodyPr anchor="ctr"/>
          <a:lstStyle/>
          <a:p>
            <a:endParaRPr lang="fr-FR"/>
          </a:p>
        </p:txBody>
      </p:sp>
      <p:sp>
        <p:nvSpPr>
          <p:cNvPr id="747551" name="Text Box 31"/>
          <p:cNvSpPr txBox="1">
            <a:spLocks noChangeArrowheads="1"/>
          </p:cNvSpPr>
          <p:nvPr>
            <p:custDataLst>
              <p:tags r:id="rId12"/>
            </p:custDataLst>
          </p:nvPr>
        </p:nvSpPr>
        <p:spPr bwMode="auto">
          <a:xfrm rot="507545">
            <a:off x="3602201" y="5745722"/>
            <a:ext cx="1082349" cy="430887"/>
          </a:xfrm>
          <a:prstGeom prst="rect">
            <a:avLst/>
          </a:prstGeom>
          <a:noFill/>
          <a:ln w="9525" algn="ctr">
            <a:noFill/>
            <a:miter lim="800000"/>
            <a:headEnd/>
            <a:tailEnd/>
          </a:ln>
          <a:effectLst/>
        </p:spPr>
        <p:txBody>
          <a:bodyPr wrap="none">
            <a:spAutoFit/>
          </a:bodyPr>
          <a:lstStyle/>
          <a:p>
            <a:r>
              <a:rPr lang="en-GB" sz="2200" b="1" err="1">
                <a:solidFill>
                  <a:srgbClr val="000000"/>
                </a:solidFill>
              </a:rPr>
              <a:t>Accepté</a:t>
            </a:r>
            <a:endParaRPr lang="en-US" sz="2200" b="1"/>
          </a:p>
        </p:txBody>
      </p:sp>
      <p:pic>
        <p:nvPicPr>
          <p:cNvPr id="747582" name="Picture 62" descr="ActiveDirectory01"/>
          <p:cNvPicPr>
            <a:picLocks noChangeAspect="1" noChangeArrowheads="1"/>
          </p:cNvPicPr>
          <p:nvPr/>
        </p:nvPicPr>
        <p:blipFill>
          <a:blip r:embed="rId18" cstate="print"/>
          <a:srcRect/>
          <a:stretch>
            <a:fillRect/>
          </a:stretch>
        </p:blipFill>
        <p:spPr bwMode="auto">
          <a:xfrm>
            <a:off x="6899275" y="5160504"/>
            <a:ext cx="1027113" cy="674687"/>
          </a:xfrm>
          <a:prstGeom prst="rect">
            <a:avLst/>
          </a:prstGeom>
          <a:noFill/>
        </p:spPr>
      </p:pic>
      <p:grpSp>
        <p:nvGrpSpPr>
          <p:cNvPr id="747592" name="Group 72"/>
          <p:cNvGrpSpPr>
            <a:grpSpLocks/>
          </p:cNvGrpSpPr>
          <p:nvPr/>
        </p:nvGrpSpPr>
        <p:grpSpPr bwMode="auto">
          <a:xfrm>
            <a:off x="609600" y="6327316"/>
            <a:ext cx="914400" cy="425450"/>
            <a:chOff x="384" y="3024"/>
            <a:chExt cx="720" cy="336"/>
          </a:xfrm>
        </p:grpSpPr>
        <p:sp>
          <p:nvSpPr>
            <p:cNvPr id="747593" name="Oval 73"/>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747594" name="Group 74"/>
            <p:cNvGrpSpPr>
              <a:grpSpLocks/>
            </p:cNvGrpSpPr>
            <p:nvPr/>
          </p:nvGrpSpPr>
          <p:grpSpPr bwMode="auto">
            <a:xfrm>
              <a:off x="480" y="3096"/>
              <a:ext cx="240" cy="192"/>
              <a:chOff x="480" y="3096"/>
              <a:chExt cx="240" cy="192"/>
            </a:xfrm>
          </p:grpSpPr>
          <p:sp>
            <p:nvSpPr>
              <p:cNvPr id="747595" name="Oval 75"/>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47596" name="Freeform 76"/>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747597" name="Group 77"/>
          <p:cNvGrpSpPr>
            <a:grpSpLocks/>
          </p:cNvGrpSpPr>
          <p:nvPr/>
        </p:nvGrpSpPr>
        <p:grpSpPr bwMode="auto">
          <a:xfrm>
            <a:off x="1096963" y="6417804"/>
            <a:ext cx="304800" cy="244475"/>
            <a:chOff x="768" y="3096"/>
            <a:chExt cx="240" cy="192"/>
          </a:xfrm>
        </p:grpSpPr>
        <p:sp>
          <p:nvSpPr>
            <p:cNvPr id="747598" name="Oval 78"/>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747599" name="Rectangle 79"/>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38" name="Rectangle 37"/>
          <p:cNvSpPr/>
          <p:nvPr/>
        </p:nvSpPr>
        <p:spPr>
          <a:xfrm>
            <a:off x="72570" y="2028372"/>
            <a:ext cx="9071430" cy="47969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7581" name="AutoShape 61"/>
          <p:cNvSpPr>
            <a:spLocks noChangeArrowheads="1"/>
          </p:cNvSpPr>
          <p:nvPr>
            <p:custDataLst>
              <p:tags r:id="rId13"/>
            </p:custDataLst>
          </p:nvPr>
        </p:nvSpPr>
        <p:spPr bwMode="auto">
          <a:xfrm>
            <a:off x="194422" y="1311481"/>
            <a:ext cx="8766628" cy="3045279"/>
          </a:xfrm>
          <a:prstGeom prst="roundRect">
            <a:avLst>
              <a:gd name="adj" fmla="val 16736"/>
            </a:avLst>
          </a:prstGeom>
          <a:solidFill>
            <a:schemeClr val="bg1"/>
          </a:solidFill>
          <a:ln w="9525" algn="ctr">
            <a:solidFill>
              <a:srgbClr val="808080"/>
            </a:solidFill>
            <a:round/>
            <a:headEnd/>
            <a:tailEnd/>
          </a:ln>
          <a:effectLst>
            <a:outerShdw dist="35921" dir="2700000" algn="ctr" rotWithShape="0">
              <a:srgbClr val="C0C0C0"/>
            </a:outerShdw>
          </a:effectLst>
        </p:spPr>
        <p:txBody>
          <a:bodyPr anchor="ctr"/>
          <a:lstStyle/>
          <a:p>
            <a:pPr algn="l" eaLnBrk="1" hangingPunct="1"/>
            <a:r>
              <a:rPr lang="en-GB" sz="2600" b="1" dirty="0">
                <a:solidFill>
                  <a:srgbClr val="000000"/>
                </a:solidFill>
              </a:rPr>
              <a:t>Dans un </a:t>
            </a:r>
            <a:r>
              <a:rPr lang="en-GB" sz="2600" b="1" dirty="0" err="1">
                <a:solidFill>
                  <a:srgbClr val="000000"/>
                </a:solidFill>
              </a:rPr>
              <a:t>processus</a:t>
            </a:r>
            <a:r>
              <a:rPr lang="en-GB" sz="2600" b="1" dirty="0">
                <a:solidFill>
                  <a:srgbClr val="000000"/>
                </a:solidFill>
              </a:rPr>
              <a:t> de </a:t>
            </a:r>
            <a:r>
              <a:rPr lang="en-GB" sz="2600" b="1" i="1" dirty="0">
                <a:solidFill>
                  <a:srgbClr val="000000"/>
                </a:solidFill>
              </a:rPr>
              <a:t>mise à jour </a:t>
            </a:r>
            <a:r>
              <a:rPr lang="en-GB" sz="2600" b="1" i="1" dirty="0" err="1">
                <a:solidFill>
                  <a:srgbClr val="000000"/>
                </a:solidFill>
              </a:rPr>
              <a:t>dynamique</a:t>
            </a:r>
            <a:r>
              <a:rPr lang="en-GB" sz="2600" b="1" i="1" dirty="0">
                <a:solidFill>
                  <a:srgbClr val="000000"/>
                </a:solidFill>
              </a:rPr>
              <a:t> </a:t>
            </a:r>
            <a:r>
              <a:rPr lang="en-GB" sz="2600" b="1" i="1" dirty="0" err="1">
                <a:solidFill>
                  <a:srgbClr val="000000"/>
                </a:solidFill>
              </a:rPr>
              <a:t>sécurisée</a:t>
            </a:r>
            <a:r>
              <a:rPr lang="en-GB" sz="2600" b="1" i="1" dirty="0">
                <a:solidFill>
                  <a:srgbClr val="000000"/>
                </a:solidFill>
              </a:rPr>
              <a:t>:</a:t>
            </a:r>
          </a:p>
          <a:p>
            <a:pPr algn="l" eaLnBrk="1" hangingPunct="1">
              <a:buFont typeface="Wingdings" pitchFamily="2" charset="2"/>
              <a:buChar char="§"/>
            </a:pPr>
            <a:r>
              <a:rPr lang="en-GB" sz="2600" b="1" dirty="0">
                <a:solidFill>
                  <a:srgbClr val="000000"/>
                </a:solidFill>
              </a:rPr>
              <a:t>Un client </a:t>
            </a:r>
            <a:r>
              <a:rPr lang="en-GB" sz="2600" b="1" dirty="0" err="1">
                <a:solidFill>
                  <a:srgbClr val="000000"/>
                </a:solidFill>
              </a:rPr>
              <a:t>soumet</a:t>
            </a:r>
            <a:r>
              <a:rPr lang="en-GB" sz="2600" b="1" dirty="0">
                <a:solidFill>
                  <a:srgbClr val="000000"/>
                </a:solidFill>
              </a:rPr>
              <a:t> </a:t>
            </a:r>
            <a:r>
              <a:rPr lang="en-GB" sz="2600" b="1" dirty="0" err="1">
                <a:solidFill>
                  <a:srgbClr val="000000"/>
                </a:solidFill>
              </a:rPr>
              <a:t>une</a:t>
            </a:r>
            <a:r>
              <a:rPr lang="en-GB" sz="2600" b="1" dirty="0">
                <a:solidFill>
                  <a:srgbClr val="000000"/>
                </a:solidFill>
              </a:rPr>
              <a:t> </a:t>
            </a:r>
            <a:r>
              <a:rPr lang="en-GB" sz="2600" b="1" dirty="0" err="1">
                <a:solidFill>
                  <a:srgbClr val="000000"/>
                </a:solidFill>
              </a:rPr>
              <a:t>demande</a:t>
            </a:r>
            <a:r>
              <a:rPr lang="en-GB" sz="2600" b="1" dirty="0">
                <a:solidFill>
                  <a:srgbClr val="000000"/>
                </a:solidFill>
              </a:rPr>
              <a:t> de mise à jour </a:t>
            </a:r>
            <a:r>
              <a:rPr lang="en-GB" sz="2600" b="1" dirty="0" err="1">
                <a:solidFill>
                  <a:srgbClr val="000000"/>
                </a:solidFill>
              </a:rPr>
              <a:t>dynamique</a:t>
            </a:r>
            <a:r>
              <a:rPr lang="en-GB" sz="2600" b="1" dirty="0">
                <a:solidFill>
                  <a:srgbClr val="000000"/>
                </a:solidFill>
              </a:rPr>
              <a:t> à un </a:t>
            </a:r>
            <a:r>
              <a:rPr lang="en-GB" sz="2600" b="1" dirty="0" err="1">
                <a:solidFill>
                  <a:srgbClr val="000000"/>
                </a:solidFill>
              </a:rPr>
              <a:t>serveur</a:t>
            </a:r>
            <a:r>
              <a:rPr lang="en-GB" sz="2600" b="1" dirty="0">
                <a:solidFill>
                  <a:srgbClr val="000000"/>
                </a:solidFill>
              </a:rPr>
              <a:t> DNS </a:t>
            </a:r>
          </a:p>
          <a:p>
            <a:pPr algn="l" eaLnBrk="1" hangingPunct="1">
              <a:buFont typeface="Wingdings" pitchFamily="2" charset="2"/>
              <a:buChar char="§"/>
            </a:pPr>
            <a:r>
              <a:rPr lang="en-GB" sz="2600" b="1" dirty="0">
                <a:solidFill>
                  <a:srgbClr val="000000"/>
                </a:solidFill>
              </a:rPr>
              <a:t>Le </a:t>
            </a:r>
            <a:r>
              <a:rPr lang="en-GB" sz="2600" b="1" dirty="0" err="1">
                <a:solidFill>
                  <a:srgbClr val="000000"/>
                </a:solidFill>
              </a:rPr>
              <a:t>serveur</a:t>
            </a:r>
            <a:r>
              <a:rPr lang="en-GB" sz="2600" b="1" dirty="0">
                <a:solidFill>
                  <a:srgbClr val="000000"/>
                </a:solidFill>
              </a:rPr>
              <a:t> DNS </a:t>
            </a:r>
            <a:r>
              <a:rPr lang="en-GB" sz="2600" b="1" dirty="0" err="1">
                <a:solidFill>
                  <a:srgbClr val="000000"/>
                </a:solidFill>
              </a:rPr>
              <a:t>essaie</a:t>
            </a:r>
            <a:r>
              <a:rPr lang="en-GB" sz="2600" b="1" dirty="0">
                <a:solidFill>
                  <a:srgbClr val="000000"/>
                </a:solidFill>
              </a:rPr>
              <a:t> </a:t>
            </a:r>
            <a:r>
              <a:rPr lang="en-GB" sz="2600" b="1" dirty="0" err="1">
                <a:solidFill>
                  <a:srgbClr val="000000"/>
                </a:solidFill>
              </a:rPr>
              <a:t>d'effectuer</a:t>
            </a:r>
            <a:r>
              <a:rPr lang="en-GB" sz="2600" b="1" dirty="0">
                <a:solidFill>
                  <a:srgbClr val="000000"/>
                </a:solidFill>
              </a:rPr>
              <a:t> la mise à jour </a:t>
            </a:r>
            <a:r>
              <a:rPr lang="en-GB" sz="2600" b="1" dirty="0" err="1">
                <a:solidFill>
                  <a:srgbClr val="000000"/>
                </a:solidFill>
              </a:rPr>
              <a:t>uniquement</a:t>
            </a:r>
            <a:r>
              <a:rPr lang="en-GB" sz="2600" b="1" dirty="0">
                <a:solidFill>
                  <a:srgbClr val="000000"/>
                </a:solidFill>
              </a:rPr>
              <a:t> </a:t>
            </a:r>
            <a:r>
              <a:rPr lang="en-GB" sz="2600" b="1" dirty="0" err="1">
                <a:solidFill>
                  <a:srgbClr val="000000"/>
                </a:solidFill>
              </a:rPr>
              <a:t>si</a:t>
            </a:r>
            <a:r>
              <a:rPr lang="en-GB" sz="2600" b="1" dirty="0">
                <a:solidFill>
                  <a:srgbClr val="000000"/>
                </a:solidFill>
              </a:rPr>
              <a:t> le client </a:t>
            </a:r>
            <a:r>
              <a:rPr lang="en-GB" sz="2600" b="1" dirty="0" err="1">
                <a:solidFill>
                  <a:srgbClr val="000000"/>
                </a:solidFill>
              </a:rPr>
              <a:t>peut</a:t>
            </a:r>
            <a:r>
              <a:rPr lang="en-GB" sz="2600" b="1" dirty="0">
                <a:solidFill>
                  <a:srgbClr val="000000"/>
                </a:solidFill>
              </a:rPr>
              <a:t> </a:t>
            </a:r>
            <a:r>
              <a:rPr lang="en-GB" sz="2600" b="1" dirty="0" err="1">
                <a:solidFill>
                  <a:srgbClr val="000000"/>
                </a:solidFill>
              </a:rPr>
              <a:t>prouver</a:t>
            </a:r>
            <a:r>
              <a:rPr lang="en-GB" sz="2600" b="1" dirty="0">
                <a:solidFill>
                  <a:srgbClr val="000000"/>
                </a:solidFill>
              </a:rPr>
              <a:t> son </a:t>
            </a:r>
            <a:r>
              <a:rPr lang="en-GB" sz="2600" b="1" dirty="0" err="1">
                <a:solidFill>
                  <a:srgbClr val="000000"/>
                </a:solidFill>
              </a:rPr>
              <a:t>identité</a:t>
            </a:r>
            <a:r>
              <a:rPr lang="en-GB" sz="2600" b="1" dirty="0">
                <a:solidFill>
                  <a:srgbClr val="000000"/>
                </a:solidFill>
              </a:rPr>
              <a:t>  et </a:t>
            </a:r>
            <a:r>
              <a:rPr lang="en-GB" sz="2600" b="1" dirty="0" err="1">
                <a:solidFill>
                  <a:srgbClr val="000000"/>
                </a:solidFill>
              </a:rPr>
              <a:t>produit</a:t>
            </a:r>
            <a:r>
              <a:rPr lang="en-GB" sz="2600" b="1" dirty="0">
                <a:solidFill>
                  <a:srgbClr val="000000"/>
                </a:solidFill>
              </a:rPr>
              <a:t> des </a:t>
            </a:r>
            <a:r>
              <a:rPr lang="en-GB" sz="2600" b="1" dirty="0" err="1">
                <a:solidFill>
                  <a:srgbClr val="000000"/>
                </a:solidFill>
              </a:rPr>
              <a:t>informations</a:t>
            </a:r>
            <a:r>
              <a:rPr lang="en-GB" sz="2600" b="1" dirty="0">
                <a:solidFill>
                  <a:srgbClr val="000000"/>
                </a:solidFill>
              </a:rPr>
              <a:t> </a:t>
            </a:r>
            <a:r>
              <a:rPr lang="en-GB" sz="2600" b="1" dirty="0" err="1">
                <a:solidFill>
                  <a:srgbClr val="000000"/>
                </a:solidFill>
              </a:rPr>
              <a:t>d'identification</a:t>
            </a:r>
            <a:r>
              <a:rPr lang="en-GB" sz="2600" b="1" dirty="0">
                <a:solidFill>
                  <a:srgbClr val="000000"/>
                </a:solidFill>
              </a:rPr>
              <a:t> </a:t>
            </a:r>
            <a:r>
              <a:rPr lang="en-GB" sz="2600" b="1" dirty="0" err="1">
                <a:solidFill>
                  <a:srgbClr val="000000"/>
                </a:solidFill>
              </a:rPr>
              <a:t>autorisant</a:t>
            </a:r>
            <a:r>
              <a:rPr lang="en-GB" sz="2600" b="1" dirty="0">
                <a:solidFill>
                  <a:srgbClr val="000000"/>
                </a:solidFill>
              </a:rPr>
              <a:t> </a:t>
            </a:r>
            <a:r>
              <a:rPr lang="en-GB" sz="2600" b="1" dirty="0" err="1">
                <a:solidFill>
                  <a:srgbClr val="000000"/>
                </a:solidFill>
              </a:rPr>
              <a:t>cette</a:t>
            </a:r>
            <a:r>
              <a:rPr lang="en-GB" sz="2600" b="1" dirty="0">
                <a:solidFill>
                  <a:srgbClr val="000000"/>
                </a:solidFill>
              </a:rPr>
              <a:t> mise à jour</a:t>
            </a:r>
            <a:endParaRPr lang="en-US" sz="2600" b="1" dirty="0"/>
          </a:p>
        </p:txBody>
      </p:sp>
      <p:sp>
        <p:nvSpPr>
          <p:cNvPr id="39" name="Espace réservé du numéro de diapositive 38"/>
          <p:cNvSpPr>
            <a:spLocks noGrp="1"/>
          </p:cNvSpPr>
          <p:nvPr>
            <p:ph type="sldNum" sz="quarter" idx="12"/>
          </p:nvPr>
        </p:nvSpPr>
        <p:spPr/>
        <p:txBody>
          <a:bodyPr/>
          <a:lstStyle/>
          <a:p>
            <a:fld id="{2C6B1FF6-39B9-40F5-8B67-33C6354A3D4F}" type="slidenum">
              <a:rPr kumimoji="0" lang="en-US" smtClean="0"/>
              <a:pPr/>
              <a:t>35</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47581">
                                            <p:txEl>
                                              <p:pRg st="1" end="1"/>
                                            </p:txEl>
                                          </p:spTgt>
                                        </p:tgtEl>
                                        <p:attrNameLst>
                                          <p:attrName>style.visibility</p:attrName>
                                        </p:attrNameLst>
                                      </p:cBhvr>
                                      <p:to>
                                        <p:strVal val="visible"/>
                                      </p:to>
                                    </p:set>
                                    <p:animEffect transition="in" filter="checkerboard(across)">
                                      <p:cBhvr>
                                        <p:cTn id="7" dur="1000"/>
                                        <p:tgtEl>
                                          <p:spTgt spid="74758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47581">
                                            <p:txEl>
                                              <p:pRg st="2" end="2"/>
                                            </p:txEl>
                                          </p:spTgt>
                                        </p:tgtEl>
                                        <p:attrNameLst>
                                          <p:attrName>style.visibility</p:attrName>
                                        </p:attrNameLst>
                                      </p:cBhvr>
                                      <p:to>
                                        <p:strVal val="visible"/>
                                      </p:to>
                                    </p:set>
                                    <p:animEffect transition="in" filter="checkerboard(across)">
                                      <p:cBhvr>
                                        <p:cTn id="12" dur="1000"/>
                                        <p:tgtEl>
                                          <p:spTgt spid="74758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xit" presetSubtype="16" fill="hold" grpId="0" nodeType="clickEffect">
                                  <p:stCondLst>
                                    <p:cond delay="0"/>
                                  </p:stCondLst>
                                  <p:childTnLst>
                                    <p:animEffect transition="out" filter="box(in)">
                                      <p:cBhvr>
                                        <p:cTn id="16" dur="500"/>
                                        <p:tgtEl>
                                          <p:spTgt spid="38"/>
                                        </p:tgtEl>
                                      </p:cBhvr>
                                    </p:animEffect>
                                    <p:set>
                                      <p:cBhvr>
                                        <p:cTn id="17" dur="1" fill="hold">
                                          <p:stCondLst>
                                            <p:cond delay="499"/>
                                          </p:stCondLst>
                                        </p:cTn>
                                        <p:tgtEl>
                                          <p:spTgt spid="38"/>
                                        </p:tgtEl>
                                        <p:attrNameLst>
                                          <p:attrName>style.visibility</p:attrName>
                                        </p:attrNameLst>
                                      </p:cBhvr>
                                      <p:to>
                                        <p:strVal val="hidden"/>
                                      </p:to>
                                    </p:set>
                                  </p:childTnLst>
                                </p:cTn>
                              </p:par>
                              <p:par>
                                <p:cTn id="18" presetID="4" presetClass="exit" presetSubtype="16" fill="hold" grpId="0" nodeType="withEffect">
                                  <p:stCondLst>
                                    <p:cond delay="0"/>
                                  </p:stCondLst>
                                  <p:childTnLst>
                                    <p:animEffect transition="out" filter="box(in)">
                                      <p:cBhvr>
                                        <p:cTn id="19" dur="1000"/>
                                        <p:tgtEl>
                                          <p:spTgt spid="747581">
                                            <p:txEl>
                                              <p:pRg st="0" end="0"/>
                                            </p:txEl>
                                          </p:spTgt>
                                        </p:tgtEl>
                                      </p:cBhvr>
                                    </p:animEffect>
                                    <p:set>
                                      <p:cBhvr>
                                        <p:cTn id="20" dur="1" fill="hold">
                                          <p:stCondLst>
                                            <p:cond delay="999"/>
                                          </p:stCondLst>
                                        </p:cTn>
                                        <p:tgtEl>
                                          <p:spTgt spid="747581">
                                            <p:txEl>
                                              <p:pRg st="0" end="0"/>
                                            </p:txEl>
                                          </p:spTgt>
                                        </p:tgtEl>
                                        <p:attrNameLst>
                                          <p:attrName>style.visibility</p:attrName>
                                        </p:attrNameLst>
                                      </p:cBhvr>
                                      <p:to>
                                        <p:strVal val="hidden"/>
                                      </p:to>
                                    </p:set>
                                  </p:childTnLst>
                                </p:cTn>
                              </p:par>
                              <p:par>
                                <p:cTn id="21" presetID="4" presetClass="exit" presetSubtype="16" fill="hold" grpId="0" nodeType="withEffect">
                                  <p:stCondLst>
                                    <p:cond delay="0"/>
                                  </p:stCondLst>
                                  <p:childTnLst>
                                    <p:animEffect transition="out" filter="box(in)">
                                      <p:cBhvr>
                                        <p:cTn id="22" dur="1000"/>
                                        <p:tgtEl>
                                          <p:spTgt spid="747581">
                                            <p:txEl>
                                              <p:pRg st="1" end="1"/>
                                            </p:txEl>
                                          </p:spTgt>
                                        </p:tgtEl>
                                      </p:cBhvr>
                                    </p:animEffect>
                                    <p:set>
                                      <p:cBhvr>
                                        <p:cTn id="23" dur="1" fill="hold">
                                          <p:stCondLst>
                                            <p:cond delay="999"/>
                                          </p:stCondLst>
                                        </p:cTn>
                                        <p:tgtEl>
                                          <p:spTgt spid="747581">
                                            <p:txEl>
                                              <p:pRg st="1" end="1"/>
                                            </p:txEl>
                                          </p:spTgt>
                                        </p:tgtEl>
                                        <p:attrNameLst>
                                          <p:attrName>style.visibility</p:attrName>
                                        </p:attrNameLst>
                                      </p:cBhvr>
                                      <p:to>
                                        <p:strVal val="hidden"/>
                                      </p:to>
                                    </p:set>
                                  </p:childTnLst>
                                </p:cTn>
                              </p:par>
                              <p:par>
                                <p:cTn id="24" presetID="4" presetClass="exit" presetSubtype="16" fill="hold" grpId="0" nodeType="withEffect">
                                  <p:stCondLst>
                                    <p:cond delay="0"/>
                                  </p:stCondLst>
                                  <p:childTnLst>
                                    <p:animEffect transition="out" filter="box(in)">
                                      <p:cBhvr>
                                        <p:cTn id="25" dur="1000"/>
                                        <p:tgtEl>
                                          <p:spTgt spid="747581">
                                            <p:txEl>
                                              <p:pRg st="2" end="2"/>
                                            </p:txEl>
                                          </p:spTgt>
                                        </p:tgtEl>
                                      </p:cBhvr>
                                    </p:animEffect>
                                    <p:set>
                                      <p:cBhvr>
                                        <p:cTn id="26" dur="1" fill="hold">
                                          <p:stCondLst>
                                            <p:cond delay="999"/>
                                          </p:stCondLst>
                                        </p:cTn>
                                        <p:tgtEl>
                                          <p:spTgt spid="747581">
                                            <p:txEl>
                                              <p:pRg st="2" end="2"/>
                                            </p:txEl>
                                          </p:spTgt>
                                        </p:tgtEl>
                                        <p:attrNameLst>
                                          <p:attrName>style.visibility</p:attrName>
                                        </p:attrNameLst>
                                      </p:cBhvr>
                                      <p:to>
                                        <p:strVal val="hidden"/>
                                      </p:to>
                                    </p:set>
                                  </p:childTnLst>
                                </p:cTn>
                              </p:par>
                              <p:par>
                                <p:cTn id="27" presetID="4" presetClass="exit" presetSubtype="16" fill="hold" grpId="0" nodeType="withEffect">
                                  <p:stCondLst>
                                    <p:cond delay="0"/>
                                  </p:stCondLst>
                                  <p:childTnLst>
                                    <p:animEffect transition="out" filter="box(in)">
                                      <p:cBhvr>
                                        <p:cTn id="28" dur="1000"/>
                                        <p:tgtEl>
                                          <p:spTgt spid="747581">
                                            <p:bg/>
                                          </p:spTgt>
                                        </p:tgtEl>
                                      </p:cBhvr>
                                    </p:animEffect>
                                    <p:set>
                                      <p:cBhvr>
                                        <p:cTn id="29" dur="1" fill="hold">
                                          <p:stCondLst>
                                            <p:cond delay="999"/>
                                          </p:stCondLst>
                                        </p:cTn>
                                        <p:tgtEl>
                                          <p:spTgt spid="747581">
                                            <p:bg/>
                                          </p:spTgt>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47532"/>
                                        </p:tgtEl>
                                        <p:attrNameLst>
                                          <p:attrName>style.visibility</p:attrName>
                                        </p:attrNameLst>
                                      </p:cBhvr>
                                      <p:to>
                                        <p:strVal val="visible"/>
                                      </p:to>
                                    </p:set>
                                    <p:animEffect transition="in" filter="wipe(left)">
                                      <p:cBhvr>
                                        <p:cTn id="34" dur="500"/>
                                        <p:tgtEl>
                                          <p:spTgt spid="747532"/>
                                        </p:tgtEl>
                                      </p:cBhvr>
                                    </p:animEffect>
                                  </p:childTnLst>
                                </p:cTn>
                              </p:par>
                              <p:par>
                                <p:cTn id="35" presetID="1" presetClass="entr" presetSubtype="0" fill="hold" grpId="0" nodeType="withEffect">
                                  <p:stCondLst>
                                    <p:cond delay="0"/>
                                  </p:stCondLst>
                                  <p:childTnLst>
                                    <p:set>
                                      <p:cBhvr>
                                        <p:cTn id="36" dur="1" fill="hold">
                                          <p:stCondLst>
                                            <p:cond delay="499"/>
                                          </p:stCondLst>
                                        </p:cTn>
                                        <p:tgtEl>
                                          <p:spTgt spid="7475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747535"/>
                                        </p:tgtEl>
                                        <p:attrNameLst>
                                          <p:attrName>style.visibility</p:attrName>
                                        </p:attrNameLst>
                                      </p:cBhvr>
                                      <p:to>
                                        <p:strVal val="visible"/>
                                      </p:to>
                                    </p:set>
                                    <p:animEffect transition="in" filter="wipe(right)">
                                      <p:cBhvr>
                                        <p:cTn id="41" dur="500"/>
                                        <p:tgtEl>
                                          <p:spTgt spid="747535"/>
                                        </p:tgtEl>
                                      </p:cBhvr>
                                    </p:animEffect>
                                  </p:childTnLst>
                                </p:cTn>
                              </p:par>
                              <p:par>
                                <p:cTn id="42" presetID="1" presetClass="entr" presetSubtype="0" fill="hold" grpId="0" nodeType="withEffect">
                                  <p:stCondLst>
                                    <p:cond delay="0"/>
                                  </p:stCondLst>
                                  <p:childTnLst>
                                    <p:set>
                                      <p:cBhvr>
                                        <p:cTn id="43" dur="1" fill="hold">
                                          <p:stCondLst>
                                            <p:cond delay="499"/>
                                          </p:stCondLst>
                                        </p:cTn>
                                        <p:tgtEl>
                                          <p:spTgt spid="74753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47533"/>
                                        </p:tgtEl>
                                        <p:attrNameLst>
                                          <p:attrName>style.visibility</p:attrName>
                                        </p:attrNameLst>
                                      </p:cBhvr>
                                      <p:to>
                                        <p:strVal val="visible"/>
                                      </p:to>
                                    </p:set>
                                    <p:animEffect transition="in" filter="wipe(left)">
                                      <p:cBhvr>
                                        <p:cTn id="48" dur="500"/>
                                        <p:tgtEl>
                                          <p:spTgt spid="747533"/>
                                        </p:tgtEl>
                                      </p:cBhvr>
                                    </p:animEffect>
                                  </p:childTnLst>
                                </p:cTn>
                              </p:par>
                              <p:par>
                                <p:cTn id="49" presetID="1" presetClass="entr" presetSubtype="0" fill="hold" grpId="0" nodeType="withEffect">
                                  <p:stCondLst>
                                    <p:cond delay="0"/>
                                  </p:stCondLst>
                                  <p:childTnLst>
                                    <p:set>
                                      <p:cBhvr>
                                        <p:cTn id="50" dur="1" fill="hold">
                                          <p:stCondLst>
                                            <p:cond delay="499"/>
                                          </p:stCondLst>
                                        </p:cTn>
                                        <p:tgtEl>
                                          <p:spTgt spid="7475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747536"/>
                                        </p:tgtEl>
                                        <p:attrNameLst>
                                          <p:attrName>style.visibility</p:attrName>
                                        </p:attrNameLst>
                                      </p:cBhvr>
                                      <p:to>
                                        <p:strVal val="visible"/>
                                      </p:to>
                                    </p:set>
                                    <p:animEffect transition="in" filter="wipe(right)">
                                      <p:cBhvr>
                                        <p:cTn id="55" dur="500"/>
                                        <p:tgtEl>
                                          <p:spTgt spid="747536"/>
                                        </p:tgtEl>
                                      </p:cBhvr>
                                    </p:animEffect>
                                  </p:childTnLst>
                                </p:cTn>
                              </p:par>
                              <p:par>
                                <p:cTn id="56" presetID="1" presetClass="entr" presetSubtype="0" fill="hold" grpId="0" nodeType="withEffect">
                                  <p:stCondLst>
                                    <p:cond delay="0"/>
                                  </p:stCondLst>
                                  <p:childTnLst>
                                    <p:set>
                                      <p:cBhvr>
                                        <p:cTn id="57" dur="1" fill="hold">
                                          <p:stCondLst>
                                            <p:cond delay="499"/>
                                          </p:stCondLst>
                                        </p:cTn>
                                        <p:tgtEl>
                                          <p:spTgt spid="74754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47534"/>
                                        </p:tgtEl>
                                        <p:attrNameLst>
                                          <p:attrName>style.visibility</p:attrName>
                                        </p:attrNameLst>
                                      </p:cBhvr>
                                      <p:to>
                                        <p:strVal val="visible"/>
                                      </p:to>
                                    </p:set>
                                    <p:animEffect transition="in" filter="wipe(left)">
                                      <p:cBhvr>
                                        <p:cTn id="62" dur="2000"/>
                                        <p:tgtEl>
                                          <p:spTgt spid="747534"/>
                                        </p:tgtEl>
                                      </p:cBhvr>
                                    </p:animEffect>
                                  </p:childTnLst>
                                </p:cTn>
                              </p:par>
                              <p:par>
                                <p:cTn id="63" presetID="1" presetClass="entr" presetSubtype="0" fill="hold" grpId="0" nodeType="withEffect">
                                  <p:stCondLst>
                                    <p:cond delay="0"/>
                                  </p:stCondLst>
                                  <p:childTnLst>
                                    <p:set>
                                      <p:cBhvr>
                                        <p:cTn id="64" dur="1" fill="hold">
                                          <p:stCondLst>
                                            <p:cond delay="499"/>
                                          </p:stCondLst>
                                        </p:cTn>
                                        <p:tgtEl>
                                          <p:spTgt spid="7475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747543"/>
                                        </p:tgtEl>
                                        <p:attrNameLst>
                                          <p:attrName>style.visibility</p:attrName>
                                        </p:attrNameLst>
                                      </p:cBhvr>
                                      <p:to>
                                        <p:strVal val="visible"/>
                                      </p:to>
                                    </p:set>
                                    <p:animEffect transition="in" filter="wipe(right)">
                                      <p:cBhvr>
                                        <p:cTn id="69" dur="500"/>
                                        <p:tgtEl>
                                          <p:spTgt spid="747543"/>
                                        </p:tgtEl>
                                      </p:cBhvr>
                                    </p:animEffect>
                                  </p:childTnLst>
                                </p:cTn>
                              </p:par>
                              <p:par>
                                <p:cTn id="70" presetID="1" presetClass="entr" presetSubtype="0" fill="hold" grpId="0" nodeType="withEffect">
                                  <p:stCondLst>
                                    <p:cond delay="0"/>
                                  </p:stCondLst>
                                  <p:childTnLst>
                                    <p:set>
                                      <p:cBhvr>
                                        <p:cTn id="71" dur="1" fill="hold">
                                          <p:stCondLst>
                                            <p:cond delay="499"/>
                                          </p:stCondLst>
                                        </p:cTn>
                                        <p:tgtEl>
                                          <p:spTgt spid="74754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747548"/>
                                        </p:tgtEl>
                                        <p:attrNameLst>
                                          <p:attrName>style.visibility</p:attrName>
                                        </p:attrNameLst>
                                      </p:cBhvr>
                                      <p:to>
                                        <p:strVal val="visible"/>
                                      </p:to>
                                    </p:set>
                                    <p:animEffect transition="in" filter="wipe(left)">
                                      <p:cBhvr>
                                        <p:cTn id="76" dur="500"/>
                                        <p:tgtEl>
                                          <p:spTgt spid="747548"/>
                                        </p:tgtEl>
                                      </p:cBhvr>
                                    </p:animEffect>
                                  </p:childTnLst>
                                </p:cTn>
                              </p:par>
                            </p:childTnLst>
                          </p:cTn>
                        </p:par>
                        <p:par>
                          <p:cTn id="77" fill="hold">
                            <p:stCondLst>
                              <p:cond delay="500"/>
                            </p:stCondLst>
                            <p:childTnLst>
                              <p:par>
                                <p:cTn id="78" presetID="22" presetClass="entr" presetSubtype="2" fill="hold" grpId="0" nodeType="afterEffect">
                                  <p:stCondLst>
                                    <p:cond delay="0"/>
                                  </p:stCondLst>
                                  <p:childTnLst>
                                    <p:set>
                                      <p:cBhvr>
                                        <p:cTn id="79" dur="1" fill="hold">
                                          <p:stCondLst>
                                            <p:cond delay="0"/>
                                          </p:stCondLst>
                                        </p:cTn>
                                        <p:tgtEl>
                                          <p:spTgt spid="747550"/>
                                        </p:tgtEl>
                                        <p:attrNameLst>
                                          <p:attrName>style.visibility</p:attrName>
                                        </p:attrNameLst>
                                      </p:cBhvr>
                                      <p:to>
                                        <p:strVal val="visible"/>
                                      </p:to>
                                    </p:set>
                                    <p:animEffect transition="in" filter="wipe(right)">
                                      <p:cBhvr>
                                        <p:cTn id="80" dur="500"/>
                                        <p:tgtEl>
                                          <p:spTgt spid="747550"/>
                                        </p:tgtEl>
                                      </p:cBhvr>
                                    </p:animEffect>
                                  </p:childTnLst>
                                </p:cTn>
                              </p:par>
                              <p:par>
                                <p:cTn id="81" presetID="1" presetClass="entr" presetSubtype="0" fill="hold" grpId="0" nodeType="withEffect">
                                  <p:stCondLst>
                                    <p:cond delay="0"/>
                                  </p:stCondLst>
                                  <p:childTnLst>
                                    <p:set>
                                      <p:cBhvr>
                                        <p:cTn id="82" dur="1" fill="hold">
                                          <p:stCondLst>
                                            <p:cond delay="499"/>
                                          </p:stCondLst>
                                        </p:cTn>
                                        <p:tgtEl>
                                          <p:spTgt spid="7475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499"/>
                                          </p:stCondLst>
                                        </p:cTn>
                                        <p:tgtEl>
                                          <p:spTgt spid="747551"/>
                                        </p:tgtEl>
                                        <p:attrNameLst>
                                          <p:attrName>style.visibility</p:attrName>
                                        </p:attrNameLst>
                                      </p:cBhvr>
                                      <p:to>
                                        <p:strVal val="visible"/>
                                      </p:to>
                                    </p:set>
                                  </p:childTnLst>
                                </p:cTn>
                              </p:par>
                            </p:childTnLst>
                          </p:cTn>
                        </p:par>
                        <p:par>
                          <p:cTn id="85" fill="hold">
                            <p:stCondLst>
                              <p:cond delay="1000"/>
                            </p:stCondLst>
                            <p:childTnLst>
                              <p:par>
                                <p:cTn id="86" presetID="1" presetClass="entr" presetSubtype="0" fill="hold" nodeType="afterEffect">
                                  <p:stCondLst>
                                    <p:cond delay="0"/>
                                  </p:stCondLst>
                                  <p:childTnLst>
                                    <p:set>
                                      <p:cBhvr>
                                        <p:cTn id="87" dur="1" fill="hold">
                                          <p:stCondLst>
                                            <p:cond delay="0"/>
                                          </p:stCondLst>
                                        </p:cTn>
                                        <p:tgtEl>
                                          <p:spTgt spid="747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32" grpId="0" animBg="1"/>
      <p:bldP spid="747533" grpId="0" animBg="1"/>
      <p:bldP spid="747534" grpId="0" animBg="1"/>
      <p:bldP spid="747535" grpId="0" animBg="1"/>
      <p:bldP spid="747536" grpId="0" animBg="1"/>
      <p:bldP spid="747537" grpId="0" autoUpdateAnimBg="0"/>
      <p:bldP spid="747538" grpId="0" autoUpdateAnimBg="0"/>
      <p:bldP spid="747539" grpId="0" autoUpdateAnimBg="0"/>
      <p:bldP spid="747540" grpId="0" autoUpdateAnimBg="0"/>
      <p:bldP spid="747542" grpId="0" autoUpdateAnimBg="0"/>
      <p:bldP spid="747543" grpId="0" animBg="1"/>
      <p:bldP spid="747544" grpId="0" autoUpdateAnimBg="0"/>
      <p:bldP spid="747548" grpId="0" animBg="1"/>
      <p:bldP spid="747549" grpId="0" autoUpdateAnimBg="0"/>
      <p:bldP spid="747550" grpId="0" animBg="1"/>
      <p:bldP spid="747551" grpId="0" autoUpdateAnimBg="0"/>
      <p:bldP spid="38" grpId="0" animBg="1"/>
      <p:bldP spid="747581" grpId="0" uiExpand="1" build="allAtOnce"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custDataLst>
              <p:tags r:id="rId1"/>
            </p:custDataLst>
          </p:nvPr>
        </p:nvSpPr>
        <p:spPr/>
        <p:txBody>
          <a:bodyPr/>
          <a:lstStyle/>
          <a:p>
            <a:pPr marL="460375" indent="-460375"/>
            <a:r>
              <a:rPr lang="fr-FR" b="1">
                <a:solidFill>
                  <a:srgbClr val="000000"/>
                </a:solidFill>
              </a:rPr>
              <a:t>6. Configuration d'un client DNS</a:t>
            </a:r>
            <a:endParaRPr lang="en-US" b="1">
              <a:solidFill>
                <a:srgbClr val="000000"/>
              </a:solidFill>
            </a:endParaRPr>
          </a:p>
        </p:txBody>
      </p:sp>
      <p:sp>
        <p:nvSpPr>
          <p:cNvPr id="697347" name="Rectangle 3"/>
          <p:cNvSpPr>
            <a:spLocks noGrp="1" noChangeArrowheads="1"/>
          </p:cNvSpPr>
          <p:nvPr>
            <p:ph sz="quarter" idx="1"/>
            <p:custDataLst>
              <p:tags r:id="rId2"/>
            </p:custDataLst>
          </p:nvPr>
        </p:nvSpPr>
        <p:spPr>
          <a:xfrm>
            <a:off x="301752" y="2441448"/>
            <a:ext cx="8503920" cy="1970895"/>
          </a:xfrm>
        </p:spPr>
        <p:txBody>
          <a:bodyPr>
            <a:normAutofit/>
          </a:bodyPr>
          <a:lstStyle/>
          <a:p>
            <a:pPr>
              <a:buClrTx/>
              <a:buFont typeface="Symbol" pitchFamily="18" charset="2"/>
              <a:buChar char="®"/>
            </a:pPr>
            <a:r>
              <a:rPr lang="en-GB" sz="2800" b="1" err="1">
                <a:solidFill>
                  <a:srgbClr val="000000"/>
                </a:solidFill>
              </a:rPr>
              <a:t>Fonctionnement</a:t>
            </a:r>
            <a:r>
              <a:rPr lang="en-GB" sz="2800" b="1">
                <a:solidFill>
                  <a:srgbClr val="000000"/>
                </a:solidFill>
              </a:rPr>
              <a:t> des </a:t>
            </a:r>
            <a:r>
              <a:rPr lang="en-GB" sz="2800" b="1" err="1">
                <a:solidFill>
                  <a:srgbClr val="000000"/>
                </a:solidFill>
              </a:rPr>
              <a:t>serveurs</a:t>
            </a:r>
            <a:r>
              <a:rPr lang="en-GB" sz="2800" b="1">
                <a:solidFill>
                  <a:srgbClr val="000000"/>
                </a:solidFill>
              </a:rPr>
              <a:t> DNS </a:t>
            </a:r>
            <a:r>
              <a:rPr lang="en-GB" sz="2800" b="1" err="1">
                <a:solidFill>
                  <a:srgbClr val="000000"/>
                </a:solidFill>
              </a:rPr>
              <a:t>préférés</a:t>
            </a:r>
            <a:r>
              <a:rPr lang="en-GB" sz="2800" b="1">
                <a:solidFill>
                  <a:srgbClr val="000000"/>
                </a:solidFill>
              </a:rPr>
              <a:t> et </a:t>
            </a:r>
            <a:r>
              <a:rPr lang="en-GB" sz="2800" b="1" err="1">
                <a:solidFill>
                  <a:srgbClr val="000000"/>
                </a:solidFill>
              </a:rPr>
              <a:t>auxiliaires</a:t>
            </a:r>
            <a:endParaRPr lang="en-US" sz="2800" b="1"/>
          </a:p>
          <a:p>
            <a:pPr>
              <a:buClrTx/>
              <a:buFont typeface="Symbol" pitchFamily="18" charset="2"/>
              <a:buChar char="®"/>
            </a:pPr>
            <a:r>
              <a:rPr lang="en-GB" sz="2800" b="1">
                <a:solidFill>
                  <a:srgbClr val="000000"/>
                </a:solidFill>
              </a:rPr>
              <a:t>Application des suffixes</a:t>
            </a:r>
            <a:endParaRPr lang="en-US" sz="2800" b="1"/>
          </a:p>
        </p:txBody>
      </p:sp>
      <p:sp>
        <p:nvSpPr>
          <p:cNvPr id="4" name="Espace réservé du numéro de diapositive 3"/>
          <p:cNvSpPr>
            <a:spLocks noGrp="1"/>
          </p:cNvSpPr>
          <p:nvPr>
            <p:ph type="sldNum" sz="quarter" idx="12"/>
          </p:nvPr>
        </p:nvSpPr>
        <p:spPr/>
        <p:txBody>
          <a:bodyPr/>
          <a:lstStyle/>
          <a:p>
            <a:fld id="{2C6B1FF6-39B9-40F5-8B67-33C6354A3D4F}" type="slidenum">
              <a:rPr kumimoji="0" lang="en-US" smtClean="0"/>
              <a:pPr/>
              <a:t>36</a:t>
            </a:fld>
            <a:endParaRPr kumimoji="0"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custDataLst>
              <p:tags r:id="rId1"/>
            </p:custDataLst>
          </p:nvPr>
        </p:nvSpPr>
        <p:spPr>
          <a:xfrm>
            <a:off x="0" y="272139"/>
            <a:ext cx="9144000" cy="758952"/>
          </a:xfrm>
        </p:spPr>
        <p:txBody>
          <a:bodyPr vert="horz" anchor="b">
            <a:noAutofit/>
          </a:bodyPr>
          <a:lstStyle/>
          <a:p>
            <a:r>
              <a:rPr lang="en-GB" sz="2500" b="1" err="1">
                <a:solidFill>
                  <a:srgbClr val="C00000"/>
                </a:solidFill>
              </a:rPr>
              <a:t>Fonctionnement</a:t>
            </a:r>
            <a:r>
              <a:rPr lang="en-GB" sz="2500" b="1">
                <a:solidFill>
                  <a:srgbClr val="C00000"/>
                </a:solidFill>
              </a:rPr>
              <a:t> des </a:t>
            </a:r>
            <a:r>
              <a:rPr lang="en-GB" sz="2500" b="1" err="1">
                <a:solidFill>
                  <a:srgbClr val="C00000"/>
                </a:solidFill>
              </a:rPr>
              <a:t>serveurs</a:t>
            </a:r>
            <a:r>
              <a:rPr lang="en-GB" sz="2500" b="1">
                <a:solidFill>
                  <a:srgbClr val="C00000"/>
                </a:solidFill>
              </a:rPr>
              <a:t> DNS </a:t>
            </a:r>
            <a:r>
              <a:rPr lang="en-GB" sz="2500" b="1" err="1">
                <a:solidFill>
                  <a:srgbClr val="C00000"/>
                </a:solidFill>
              </a:rPr>
              <a:t>préférés</a:t>
            </a:r>
            <a:r>
              <a:rPr lang="en-GB" sz="2500" b="1">
                <a:solidFill>
                  <a:srgbClr val="C00000"/>
                </a:solidFill>
              </a:rPr>
              <a:t> </a:t>
            </a:r>
            <a:br>
              <a:rPr lang="en-GB" sz="2500" b="1">
                <a:solidFill>
                  <a:srgbClr val="C00000"/>
                </a:solidFill>
              </a:rPr>
            </a:br>
            <a:r>
              <a:rPr lang="en-GB" sz="2500" b="1">
                <a:solidFill>
                  <a:srgbClr val="C00000"/>
                </a:solidFill>
              </a:rPr>
              <a:t>et </a:t>
            </a:r>
            <a:r>
              <a:rPr lang="en-GB" sz="2500" b="1" err="1">
                <a:solidFill>
                  <a:srgbClr val="C00000"/>
                </a:solidFill>
              </a:rPr>
              <a:t>auxiliaires</a:t>
            </a:r>
            <a:endParaRPr lang="en-US" sz="2500" b="1">
              <a:solidFill>
                <a:srgbClr val="C00000"/>
              </a:solidFill>
            </a:endParaRPr>
          </a:p>
        </p:txBody>
      </p:sp>
      <p:pic>
        <p:nvPicPr>
          <p:cNvPr id="676982" name="Picture 118"/>
          <p:cNvPicPr>
            <a:picLocks noChangeAspect="1" noChangeArrowheads="1"/>
          </p:cNvPicPr>
          <p:nvPr/>
        </p:nvPicPr>
        <p:blipFill>
          <a:blip r:embed="rId4"/>
          <a:srcRect/>
          <a:stretch>
            <a:fillRect/>
          </a:stretch>
        </p:blipFill>
        <p:spPr bwMode="auto">
          <a:xfrm>
            <a:off x="275771" y="1585454"/>
            <a:ext cx="4212092" cy="4319587"/>
          </a:xfrm>
          <a:prstGeom prst="rect">
            <a:avLst/>
          </a:prstGeom>
          <a:noFill/>
        </p:spPr>
      </p:pic>
      <p:pic>
        <p:nvPicPr>
          <p:cNvPr id="676984" name="Picture 120"/>
          <p:cNvPicPr>
            <a:picLocks noChangeAspect="1" noChangeArrowheads="1"/>
          </p:cNvPicPr>
          <p:nvPr/>
        </p:nvPicPr>
        <p:blipFill>
          <a:blip r:embed="rId5"/>
          <a:srcRect/>
          <a:stretch>
            <a:fillRect/>
          </a:stretch>
        </p:blipFill>
        <p:spPr bwMode="auto">
          <a:xfrm>
            <a:off x="4640262" y="2102979"/>
            <a:ext cx="4198937" cy="4378325"/>
          </a:xfrm>
          <a:prstGeom prst="rect">
            <a:avLst/>
          </a:prstGeom>
          <a:noFill/>
        </p:spPr>
      </p:pic>
      <p:sp>
        <p:nvSpPr>
          <p:cNvPr id="676986" name="Rectangle 122"/>
          <p:cNvSpPr>
            <a:spLocks noChangeArrowheads="1"/>
          </p:cNvSpPr>
          <p:nvPr/>
        </p:nvSpPr>
        <p:spPr bwMode="auto">
          <a:xfrm>
            <a:off x="489095" y="4471529"/>
            <a:ext cx="3681331" cy="265113"/>
          </a:xfrm>
          <a:prstGeom prst="rect">
            <a:avLst/>
          </a:prstGeom>
          <a:noFill/>
          <a:ln w="38100" algn="ctr">
            <a:solidFill>
              <a:srgbClr val="CC0000"/>
            </a:solidFill>
            <a:miter lim="800000"/>
            <a:headEnd/>
            <a:tailEnd/>
          </a:ln>
          <a:effectLst/>
        </p:spPr>
        <p:txBody>
          <a:bodyPr wrap="none" anchor="ctr"/>
          <a:lstStyle/>
          <a:p>
            <a:endParaRPr lang="fr-FR" sz="2200"/>
          </a:p>
        </p:txBody>
      </p:sp>
      <p:sp>
        <p:nvSpPr>
          <p:cNvPr id="676987" name="Line 123"/>
          <p:cNvSpPr>
            <a:spLocks noChangeShapeType="1"/>
          </p:cNvSpPr>
          <p:nvPr/>
        </p:nvSpPr>
        <p:spPr bwMode="auto">
          <a:xfrm flipV="1">
            <a:off x="781382" y="3920666"/>
            <a:ext cx="0" cy="538163"/>
          </a:xfrm>
          <a:prstGeom prst="line">
            <a:avLst/>
          </a:prstGeom>
          <a:noFill/>
          <a:ln w="38100">
            <a:solidFill>
              <a:srgbClr val="CC0000"/>
            </a:solidFill>
            <a:round/>
            <a:headEnd/>
            <a:tailEnd/>
          </a:ln>
          <a:effectLst/>
        </p:spPr>
        <p:txBody>
          <a:bodyPr wrap="none" anchor="ctr"/>
          <a:lstStyle/>
          <a:p>
            <a:endParaRPr lang="fr-FR" sz="2200"/>
          </a:p>
        </p:txBody>
      </p:sp>
      <p:sp>
        <p:nvSpPr>
          <p:cNvPr id="676988" name="AutoShape 124"/>
          <p:cNvSpPr>
            <a:spLocks noChangeArrowheads="1"/>
          </p:cNvSpPr>
          <p:nvPr/>
        </p:nvSpPr>
        <p:spPr bwMode="auto">
          <a:xfrm>
            <a:off x="317052" y="2933241"/>
            <a:ext cx="3514725" cy="1079500"/>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pPr>
            <a:r>
              <a:rPr lang="fr-FR" sz="2200" b="1"/>
              <a:t>1. Le serveur DNS préféré est celui que le client contacte en premier</a:t>
            </a:r>
          </a:p>
        </p:txBody>
      </p:sp>
      <p:grpSp>
        <p:nvGrpSpPr>
          <p:cNvPr id="30" name="Groupe 29"/>
          <p:cNvGrpSpPr/>
          <p:nvPr/>
        </p:nvGrpSpPr>
        <p:grpSpPr>
          <a:xfrm>
            <a:off x="317053" y="4741404"/>
            <a:ext cx="3853373" cy="1499739"/>
            <a:chOff x="650875" y="4741404"/>
            <a:chExt cx="3853373" cy="1499739"/>
          </a:xfrm>
        </p:grpSpPr>
        <p:sp>
          <p:nvSpPr>
            <p:cNvPr id="676990" name="Rectangle 126"/>
            <p:cNvSpPr>
              <a:spLocks noChangeArrowheads="1"/>
            </p:cNvSpPr>
            <p:nvPr/>
          </p:nvSpPr>
          <p:spPr bwMode="auto">
            <a:xfrm>
              <a:off x="822917" y="4741404"/>
              <a:ext cx="3681331" cy="265112"/>
            </a:xfrm>
            <a:prstGeom prst="rect">
              <a:avLst/>
            </a:prstGeom>
            <a:noFill/>
            <a:ln w="38100" algn="ctr">
              <a:solidFill>
                <a:srgbClr val="CC0000"/>
              </a:solidFill>
              <a:miter lim="800000"/>
              <a:headEnd/>
              <a:tailEnd/>
            </a:ln>
            <a:effectLst/>
          </p:spPr>
          <p:txBody>
            <a:bodyPr wrap="none" anchor="ctr"/>
            <a:lstStyle/>
            <a:p>
              <a:endParaRPr lang="fr-FR" sz="2200"/>
            </a:p>
          </p:txBody>
        </p:sp>
        <p:sp>
          <p:nvSpPr>
            <p:cNvPr id="676991" name="Line 127"/>
            <p:cNvSpPr>
              <a:spLocks noChangeShapeType="1"/>
            </p:cNvSpPr>
            <p:nvPr/>
          </p:nvSpPr>
          <p:spPr bwMode="auto">
            <a:xfrm flipV="1">
              <a:off x="1115204" y="4996991"/>
              <a:ext cx="0" cy="538162"/>
            </a:xfrm>
            <a:prstGeom prst="line">
              <a:avLst/>
            </a:prstGeom>
            <a:noFill/>
            <a:ln w="38100">
              <a:solidFill>
                <a:srgbClr val="CC0000"/>
              </a:solidFill>
              <a:round/>
              <a:headEnd/>
              <a:tailEnd/>
            </a:ln>
            <a:effectLst/>
          </p:spPr>
          <p:txBody>
            <a:bodyPr wrap="none" anchor="ctr"/>
            <a:lstStyle/>
            <a:p>
              <a:endParaRPr lang="fr-FR" sz="2200"/>
            </a:p>
          </p:txBody>
        </p:sp>
        <p:sp>
          <p:nvSpPr>
            <p:cNvPr id="676992" name="AutoShape 128"/>
            <p:cNvSpPr>
              <a:spLocks noChangeArrowheads="1"/>
            </p:cNvSpPr>
            <p:nvPr/>
          </p:nvSpPr>
          <p:spPr bwMode="auto">
            <a:xfrm>
              <a:off x="650875" y="5295441"/>
              <a:ext cx="3558268" cy="945702"/>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pPr>
              <a:r>
                <a:rPr lang="fr-FR" sz="2200" b="1"/>
                <a:t>2. Si le serveur préféré échoue, le client essaie le serveur DNS auxiliaire</a:t>
              </a:r>
            </a:p>
          </p:txBody>
        </p:sp>
      </p:grpSp>
      <p:sp>
        <p:nvSpPr>
          <p:cNvPr id="676993" name="Rectangle 129"/>
          <p:cNvSpPr>
            <a:spLocks noChangeArrowheads="1"/>
          </p:cNvSpPr>
          <p:nvPr/>
        </p:nvSpPr>
        <p:spPr bwMode="auto">
          <a:xfrm>
            <a:off x="4757738" y="2622091"/>
            <a:ext cx="3260725" cy="742950"/>
          </a:xfrm>
          <a:prstGeom prst="rect">
            <a:avLst/>
          </a:prstGeom>
          <a:noFill/>
          <a:ln w="38100" algn="ctr">
            <a:solidFill>
              <a:srgbClr val="CC0000"/>
            </a:solidFill>
            <a:miter lim="800000"/>
            <a:headEnd/>
            <a:tailEnd/>
          </a:ln>
          <a:effectLst/>
        </p:spPr>
        <p:txBody>
          <a:bodyPr wrap="none" anchor="ctr"/>
          <a:lstStyle/>
          <a:p>
            <a:endParaRPr lang="fr-FR"/>
          </a:p>
        </p:txBody>
      </p:sp>
      <p:grpSp>
        <p:nvGrpSpPr>
          <p:cNvPr id="31" name="Groupe 30"/>
          <p:cNvGrpSpPr/>
          <p:nvPr/>
        </p:nvGrpSpPr>
        <p:grpSpPr>
          <a:xfrm>
            <a:off x="4474258" y="1233715"/>
            <a:ext cx="4510088" cy="1389964"/>
            <a:chOff x="4474258" y="1233715"/>
            <a:chExt cx="4510088" cy="1389964"/>
          </a:xfrm>
        </p:grpSpPr>
        <p:sp>
          <p:nvSpPr>
            <p:cNvPr id="676995" name="Line 131"/>
            <p:cNvSpPr>
              <a:spLocks noChangeShapeType="1"/>
            </p:cNvSpPr>
            <p:nvPr/>
          </p:nvSpPr>
          <p:spPr bwMode="auto">
            <a:xfrm flipV="1">
              <a:off x="5157438" y="1763254"/>
              <a:ext cx="0" cy="860425"/>
            </a:xfrm>
            <a:prstGeom prst="line">
              <a:avLst/>
            </a:prstGeom>
            <a:noFill/>
            <a:ln w="38100">
              <a:solidFill>
                <a:srgbClr val="CC0000"/>
              </a:solidFill>
              <a:round/>
              <a:headEnd/>
              <a:tailEnd/>
            </a:ln>
            <a:effectLst/>
          </p:spPr>
          <p:txBody>
            <a:bodyPr wrap="none" anchor="ctr"/>
            <a:lstStyle/>
            <a:p>
              <a:endParaRPr lang="fr-FR" sz="2200"/>
            </a:p>
          </p:txBody>
        </p:sp>
        <p:sp>
          <p:nvSpPr>
            <p:cNvPr id="676996" name="AutoShape 132"/>
            <p:cNvSpPr>
              <a:spLocks noChangeArrowheads="1"/>
            </p:cNvSpPr>
            <p:nvPr/>
          </p:nvSpPr>
          <p:spPr bwMode="auto">
            <a:xfrm>
              <a:off x="4474258" y="1233715"/>
              <a:ext cx="4510088" cy="798286"/>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pPr>
              <a:r>
                <a:rPr lang="fr-FR" sz="2200" b="1"/>
                <a:t>3. Il est possible de spécifier toute une liste de serveurs DNS auxiliaires</a:t>
              </a:r>
            </a:p>
          </p:txBody>
        </p:sp>
      </p:grpSp>
      <p:grpSp>
        <p:nvGrpSpPr>
          <p:cNvPr id="32" name="Groupe 31"/>
          <p:cNvGrpSpPr/>
          <p:nvPr/>
        </p:nvGrpSpPr>
        <p:grpSpPr>
          <a:xfrm>
            <a:off x="4847771" y="3371391"/>
            <a:ext cx="3967995" cy="2579466"/>
            <a:chOff x="4847771" y="3371391"/>
            <a:chExt cx="3967995" cy="2579466"/>
          </a:xfrm>
        </p:grpSpPr>
        <p:sp>
          <p:nvSpPr>
            <p:cNvPr id="676998" name="Line 134"/>
            <p:cNvSpPr>
              <a:spLocks noChangeShapeType="1"/>
            </p:cNvSpPr>
            <p:nvPr/>
          </p:nvSpPr>
          <p:spPr bwMode="auto">
            <a:xfrm flipV="1">
              <a:off x="5617263" y="3371391"/>
              <a:ext cx="0" cy="973301"/>
            </a:xfrm>
            <a:prstGeom prst="line">
              <a:avLst/>
            </a:prstGeom>
            <a:noFill/>
            <a:ln w="38100">
              <a:solidFill>
                <a:srgbClr val="CC0000"/>
              </a:solidFill>
              <a:round/>
              <a:headEnd/>
              <a:tailEnd/>
            </a:ln>
            <a:effectLst/>
          </p:spPr>
          <p:txBody>
            <a:bodyPr wrap="none" anchor="ctr"/>
            <a:lstStyle/>
            <a:p>
              <a:endParaRPr lang="fr-FR" sz="2200"/>
            </a:p>
          </p:txBody>
        </p:sp>
        <p:sp>
          <p:nvSpPr>
            <p:cNvPr id="676999" name="AutoShape 135"/>
            <p:cNvSpPr>
              <a:spLocks noChangeArrowheads="1"/>
            </p:cNvSpPr>
            <p:nvPr/>
          </p:nvSpPr>
          <p:spPr bwMode="auto">
            <a:xfrm>
              <a:off x="4847771" y="3920893"/>
              <a:ext cx="3967995" cy="2029964"/>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pPr>
              <a:r>
                <a:rPr lang="fr-FR" sz="2200" b="1"/>
                <a:t>4. Les serveurs préférés et auxiliaires spécifiés dans la page Propriétés sont automatiquement placés en tête de liste et sont interrogés dans l'ordre de la liste</a:t>
              </a:r>
            </a:p>
          </p:txBody>
        </p:sp>
      </p:grpSp>
      <p:grpSp>
        <p:nvGrpSpPr>
          <p:cNvPr id="677000" name="Group 136"/>
          <p:cNvGrpSpPr>
            <a:grpSpLocks/>
          </p:cNvGrpSpPr>
          <p:nvPr/>
        </p:nvGrpSpPr>
        <p:grpSpPr bwMode="auto">
          <a:xfrm>
            <a:off x="609600" y="6327316"/>
            <a:ext cx="914400" cy="425450"/>
            <a:chOff x="384" y="3024"/>
            <a:chExt cx="720" cy="336"/>
          </a:xfrm>
        </p:grpSpPr>
        <p:sp>
          <p:nvSpPr>
            <p:cNvPr id="677001" name="Oval 137"/>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677002" name="Group 138"/>
            <p:cNvGrpSpPr>
              <a:grpSpLocks/>
            </p:cNvGrpSpPr>
            <p:nvPr/>
          </p:nvGrpSpPr>
          <p:grpSpPr bwMode="auto">
            <a:xfrm>
              <a:off x="480" y="3096"/>
              <a:ext cx="240" cy="192"/>
              <a:chOff x="480" y="3096"/>
              <a:chExt cx="240" cy="192"/>
            </a:xfrm>
          </p:grpSpPr>
          <p:sp>
            <p:nvSpPr>
              <p:cNvPr id="677003" name="Oval 139"/>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677004" name="Freeform 140"/>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677005" name="Group 141"/>
          <p:cNvGrpSpPr>
            <a:grpSpLocks/>
          </p:cNvGrpSpPr>
          <p:nvPr/>
        </p:nvGrpSpPr>
        <p:grpSpPr bwMode="auto">
          <a:xfrm>
            <a:off x="1096963" y="6417804"/>
            <a:ext cx="304800" cy="244475"/>
            <a:chOff x="768" y="3096"/>
            <a:chExt cx="240" cy="192"/>
          </a:xfrm>
        </p:grpSpPr>
        <p:sp>
          <p:nvSpPr>
            <p:cNvPr id="677006" name="Oval 142"/>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677007" name="Rectangle 143"/>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33" name="Flèche gauche 32"/>
          <p:cNvSpPr/>
          <p:nvPr/>
        </p:nvSpPr>
        <p:spPr>
          <a:xfrm>
            <a:off x="4223657" y="5225143"/>
            <a:ext cx="609600" cy="275771"/>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numéro de diapositive 33"/>
          <p:cNvSpPr>
            <a:spLocks noGrp="1"/>
          </p:cNvSpPr>
          <p:nvPr>
            <p:ph type="sldNum" sz="quarter" idx="12"/>
          </p:nvPr>
        </p:nvSpPr>
        <p:spPr/>
        <p:txBody>
          <a:bodyPr/>
          <a:lstStyle/>
          <a:p>
            <a:fld id="{2C6B1FF6-39B9-40F5-8B67-33C6354A3D4F}" type="slidenum">
              <a:rPr kumimoji="0" lang="en-US" smtClean="0"/>
              <a:pPr/>
              <a:t>37</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6988"/>
                                        </p:tgtEl>
                                        <p:attrNameLst>
                                          <p:attrName>style.visibility</p:attrName>
                                        </p:attrNameLst>
                                      </p:cBhvr>
                                      <p:to>
                                        <p:strVal val="visible"/>
                                      </p:to>
                                    </p:set>
                                    <p:animEffect transition="in" filter="checkerboard(across)">
                                      <p:cBhvr>
                                        <p:cTn id="7" dur="500"/>
                                        <p:tgtEl>
                                          <p:spTgt spid="67698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76987"/>
                                        </p:tgtEl>
                                        <p:attrNameLst>
                                          <p:attrName>style.visibility</p:attrName>
                                        </p:attrNameLst>
                                      </p:cBhvr>
                                      <p:to>
                                        <p:strVal val="visible"/>
                                      </p:to>
                                    </p:set>
                                    <p:animEffect transition="in" filter="checkerboard(across)">
                                      <p:cBhvr>
                                        <p:cTn id="10" dur="500"/>
                                        <p:tgtEl>
                                          <p:spTgt spid="676987"/>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76986"/>
                                        </p:tgtEl>
                                        <p:attrNameLst>
                                          <p:attrName>style.visibility</p:attrName>
                                        </p:attrNameLst>
                                      </p:cBhvr>
                                      <p:to>
                                        <p:strVal val="visible"/>
                                      </p:to>
                                    </p:set>
                                    <p:animEffect transition="in" filter="checkerboard(across)">
                                      <p:cBhvr>
                                        <p:cTn id="13" dur="500"/>
                                        <p:tgtEl>
                                          <p:spTgt spid="67698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checkerboard(across)">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1+#ppt_w/2"/>
                                          </p:val>
                                        </p:tav>
                                        <p:tav tm="100000">
                                          <p:val>
                                            <p:strVal val="#ppt_x"/>
                                          </p:val>
                                        </p:tav>
                                      </p:tavLst>
                                    </p:anim>
                                    <p:anim calcmode="lin" valueType="num">
                                      <p:cBhvr additive="base">
                                        <p:cTn id="24" dur="500" fill="hold"/>
                                        <p:tgtEl>
                                          <p:spTgt spid="33"/>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2000"/>
                                  </p:stCondLst>
                                  <p:childTnLst>
                                    <p:set>
                                      <p:cBhvr>
                                        <p:cTn id="27" dur="1" fill="hold">
                                          <p:stCondLst>
                                            <p:cond delay="0"/>
                                          </p:stCondLst>
                                        </p:cTn>
                                        <p:tgtEl>
                                          <p:spTgt spid="676984"/>
                                        </p:tgtEl>
                                        <p:attrNameLst>
                                          <p:attrName>style.visibility</p:attrName>
                                        </p:attrNameLst>
                                      </p:cBhvr>
                                      <p:to>
                                        <p:strVal val="visible"/>
                                      </p:to>
                                    </p:set>
                                    <p:anim calcmode="lin" valueType="num">
                                      <p:cBhvr additive="base">
                                        <p:cTn id="28" dur="2000" fill="hold"/>
                                        <p:tgtEl>
                                          <p:spTgt spid="676984"/>
                                        </p:tgtEl>
                                        <p:attrNameLst>
                                          <p:attrName>ppt_x</p:attrName>
                                        </p:attrNameLst>
                                      </p:cBhvr>
                                      <p:tavLst>
                                        <p:tav tm="0">
                                          <p:val>
                                            <p:strVal val="#ppt_x"/>
                                          </p:val>
                                        </p:tav>
                                        <p:tav tm="100000">
                                          <p:val>
                                            <p:strVal val="#ppt_x"/>
                                          </p:val>
                                        </p:tav>
                                      </p:tavLst>
                                    </p:anim>
                                    <p:anim calcmode="lin" valueType="num">
                                      <p:cBhvr additive="base">
                                        <p:cTn id="29" dur="2000" fill="hold"/>
                                        <p:tgtEl>
                                          <p:spTgt spid="67698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76993"/>
                                        </p:tgtEl>
                                        <p:attrNameLst>
                                          <p:attrName>style.visibility</p:attrName>
                                        </p:attrNameLst>
                                      </p:cBhvr>
                                      <p:to>
                                        <p:strVal val="visible"/>
                                      </p:to>
                                    </p:set>
                                    <p:anim calcmode="lin" valueType="num">
                                      <p:cBhvr additive="base">
                                        <p:cTn id="34" dur="2000" fill="hold"/>
                                        <p:tgtEl>
                                          <p:spTgt spid="676993"/>
                                        </p:tgtEl>
                                        <p:attrNameLst>
                                          <p:attrName>ppt_x</p:attrName>
                                        </p:attrNameLst>
                                      </p:cBhvr>
                                      <p:tavLst>
                                        <p:tav tm="0">
                                          <p:val>
                                            <p:strVal val="#ppt_x"/>
                                          </p:val>
                                        </p:tav>
                                        <p:tav tm="100000">
                                          <p:val>
                                            <p:strVal val="#ppt_x"/>
                                          </p:val>
                                        </p:tav>
                                      </p:tavLst>
                                    </p:anim>
                                    <p:anim calcmode="lin" valueType="num">
                                      <p:cBhvr additive="base">
                                        <p:cTn id="35" dur="2000" fill="hold"/>
                                        <p:tgtEl>
                                          <p:spTgt spid="676993"/>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2000" fill="hold"/>
                                        <p:tgtEl>
                                          <p:spTgt spid="31"/>
                                        </p:tgtEl>
                                        <p:attrNameLst>
                                          <p:attrName>ppt_x</p:attrName>
                                        </p:attrNameLst>
                                      </p:cBhvr>
                                      <p:tavLst>
                                        <p:tav tm="0">
                                          <p:val>
                                            <p:strVal val="#ppt_x"/>
                                          </p:val>
                                        </p:tav>
                                        <p:tav tm="100000">
                                          <p:val>
                                            <p:strVal val="#ppt_x"/>
                                          </p:val>
                                        </p:tav>
                                      </p:tavLst>
                                    </p:anim>
                                    <p:anim calcmode="lin" valueType="num">
                                      <p:cBhvr additive="base">
                                        <p:cTn id="39" dur="20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2000" fill="hold"/>
                                        <p:tgtEl>
                                          <p:spTgt spid="32"/>
                                        </p:tgtEl>
                                        <p:attrNameLst>
                                          <p:attrName>ppt_x</p:attrName>
                                        </p:attrNameLst>
                                      </p:cBhvr>
                                      <p:tavLst>
                                        <p:tav tm="0">
                                          <p:val>
                                            <p:strVal val="#ppt_x"/>
                                          </p:val>
                                        </p:tav>
                                        <p:tav tm="100000">
                                          <p:val>
                                            <p:strVal val="#ppt_x"/>
                                          </p:val>
                                        </p:tav>
                                      </p:tavLst>
                                    </p:anim>
                                    <p:anim calcmode="lin" valueType="num">
                                      <p:cBhvr additive="base">
                                        <p:cTn id="45" dur="20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986" grpId="0" animBg="1"/>
      <p:bldP spid="676987" grpId="0" animBg="1"/>
      <p:bldP spid="676988" grpId="0" animBg="1"/>
      <p:bldP spid="676993" grpId="0" animBg="1"/>
      <p:bldP spid="3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a:solidFill>
                  <a:schemeClr val="tx1"/>
                </a:solidFill>
              </a:rPr>
              <a:t>Exercices</a:t>
            </a:r>
          </a:p>
        </p:txBody>
      </p:sp>
      <p:sp>
        <p:nvSpPr>
          <p:cNvPr id="3" name="Espace réservé du numéro de diapositive 2"/>
          <p:cNvSpPr>
            <a:spLocks noGrp="1"/>
          </p:cNvSpPr>
          <p:nvPr>
            <p:ph type="sldNum" sz="quarter" idx="12"/>
          </p:nvPr>
        </p:nvSpPr>
        <p:spPr/>
        <p:txBody>
          <a:bodyPr/>
          <a:lstStyle/>
          <a:p>
            <a:fld id="{2C6B1FF6-39B9-40F5-8B67-33C6354A3D4F}" type="slidenum">
              <a:rPr kumimoji="0" lang="en-US" smtClean="0"/>
              <a:pPr/>
              <a:t>38</a:t>
            </a:fld>
            <a:endParaRPr kumimoji="0" lang="en-US"/>
          </a:p>
        </p:txBody>
      </p:sp>
      <p:sp>
        <p:nvSpPr>
          <p:cNvPr id="4" name="Espace réservé du contenu 3"/>
          <p:cNvSpPr>
            <a:spLocks noGrp="1"/>
          </p:cNvSpPr>
          <p:nvPr>
            <p:ph sz="quarter" idx="1"/>
          </p:nvPr>
        </p:nvSpPr>
        <p:spPr>
          <a:xfrm>
            <a:off x="301752" y="1527048"/>
            <a:ext cx="8503920" cy="4859238"/>
          </a:xfrm>
        </p:spPr>
        <p:txBody>
          <a:bodyPr>
            <a:noAutofit/>
          </a:bodyPr>
          <a:lstStyle/>
          <a:p>
            <a:pPr marL="514350" indent="-514350">
              <a:buClr>
                <a:schemeClr val="tx1"/>
              </a:buClr>
              <a:buFont typeface="+mj-lt"/>
              <a:buAutoNum type="arabicPeriod"/>
            </a:pPr>
            <a:r>
              <a:rPr lang="fr-FR" sz="2600" dirty="0">
                <a:solidFill>
                  <a:srgbClr val="000000"/>
                </a:solidFill>
              </a:rPr>
              <a:t>C’est quoi DNS?</a:t>
            </a:r>
            <a:endParaRPr lang="fr-FR" sz="2600" dirty="0"/>
          </a:p>
          <a:p>
            <a:pPr marL="514350" indent="-514350">
              <a:buClr>
                <a:schemeClr val="tx1"/>
              </a:buClr>
              <a:buFont typeface="+mj-lt"/>
              <a:buAutoNum type="arabicPeriod"/>
            </a:pPr>
            <a:r>
              <a:rPr lang="fr-FR" sz="2600" dirty="0">
                <a:solidFill>
                  <a:srgbClr val="000000"/>
                </a:solidFill>
              </a:rPr>
              <a:t>Qu'est-ce qu'un espace de noms de domaines ?</a:t>
            </a:r>
          </a:p>
          <a:p>
            <a:pPr marL="514350" indent="-514350">
              <a:buClrTx/>
              <a:buFont typeface="+mj-lt"/>
              <a:buAutoNum type="arabicPeriod"/>
            </a:pPr>
            <a:r>
              <a:rPr lang="fr-FR" sz="2600" dirty="0">
                <a:solidFill>
                  <a:srgbClr val="000000"/>
                </a:solidFill>
              </a:rPr>
              <a:t>Quels sont les composants d'une solution DNS ?</a:t>
            </a:r>
            <a:endParaRPr lang="fr-FR" sz="2600" dirty="0"/>
          </a:p>
          <a:p>
            <a:pPr marL="514350" indent="-514350">
              <a:buClrTx/>
              <a:buFont typeface="+mj-lt"/>
              <a:buAutoNum type="arabicPeriod"/>
            </a:pPr>
            <a:r>
              <a:rPr lang="fr-FR" sz="2600" dirty="0">
                <a:solidFill>
                  <a:srgbClr val="000000"/>
                </a:solidFill>
              </a:rPr>
              <a:t>Qu'est-ce qu'une requête DNS ?</a:t>
            </a:r>
            <a:endParaRPr lang="fr-FR" sz="2600" dirty="0"/>
          </a:p>
          <a:p>
            <a:pPr marL="514350" indent="-514350">
              <a:buClrTx/>
              <a:buFont typeface="+mj-lt"/>
              <a:buAutoNum type="arabicPeriod"/>
            </a:pPr>
            <a:r>
              <a:rPr lang="fr-FR" sz="2600" dirty="0">
                <a:solidFill>
                  <a:srgbClr val="000000"/>
                </a:solidFill>
              </a:rPr>
              <a:t> Quels sont les types de requête DNS?</a:t>
            </a:r>
          </a:p>
          <a:p>
            <a:pPr marL="514350" indent="-514350">
              <a:buClrTx/>
              <a:buFont typeface="+mj-lt"/>
              <a:buAutoNum type="arabicPeriod"/>
            </a:pPr>
            <a:r>
              <a:rPr lang="fr-FR" sz="2600" dirty="0">
                <a:solidFill>
                  <a:srgbClr val="000000"/>
                </a:solidFill>
              </a:rPr>
              <a:t>C’est quoi une requête récursive</a:t>
            </a:r>
          </a:p>
          <a:p>
            <a:pPr marL="514350" indent="-514350">
              <a:buClrTx/>
              <a:buFont typeface="+mj-lt"/>
              <a:buAutoNum type="arabicPeriod"/>
            </a:pPr>
            <a:r>
              <a:rPr lang="fr-FR" sz="2600" dirty="0">
                <a:solidFill>
                  <a:srgbClr val="000000"/>
                </a:solidFill>
              </a:rPr>
              <a:t> C’est quoi une requête itérative?</a:t>
            </a:r>
            <a:endParaRPr lang="fr-FR" sz="2600" dirty="0"/>
          </a:p>
          <a:p>
            <a:pPr marL="514350" indent="-514350">
              <a:buClrTx/>
              <a:buFont typeface="+mj-lt"/>
              <a:buAutoNum type="arabicPeriod"/>
            </a:pPr>
            <a:r>
              <a:rPr lang="fr-FR" sz="2600" dirty="0">
                <a:solidFill>
                  <a:srgbClr val="000000"/>
                </a:solidFill>
              </a:rPr>
              <a:t>Ce sont quoi des indications de racine?</a:t>
            </a:r>
            <a:endParaRPr lang="fr-FR" sz="2600" dirty="0"/>
          </a:p>
          <a:p>
            <a:pPr marL="514350" indent="-514350">
              <a:buClrTx/>
              <a:buFont typeface="+mj-lt"/>
              <a:buAutoNum type="arabicPeriod"/>
            </a:pPr>
            <a:r>
              <a:rPr lang="fr-FR" sz="2600" dirty="0">
                <a:solidFill>
                  <a:srgbClr val="000000"/>
                </a:solidFill>
              </a:rPr>
              <a:t>Ce sont quoi des redirecteurs?</a:t>
            </a:r>
            <a:endParaRPr lang="fr-FR" sz="2600" dirty="0"/>
          </a:p>
          <a:p>
            <a:pPr marL="514350" indent="-514350">
              <a:buClrTx/>
              <a:buFont typeface="+mj-lt"/>
              <a:buAutoNum type="arabicPeriod"/>
            </a:pPr>
            <a:r>
              <a:rPr lang="fr-FR" sz="2600" dirty="0">
                <a:solidFill>
                  <a:srgbClr val="000000"/>
                </a:solidFill>
              </a:rPr>
              <a:t>A quoi sert la mise en cache du serveur DNS?</a:t>
            </a:r>
            <a:endParaRPr lang="fr-FR" sz="2600" dirty="0"/>
          </a:p>
          <a:p>
            <a:pPr marL="514350" indent="-514350">
              <a:buFont typeface="+mj-lt"/>
              <a:buAutoNum type="arabicPeriod"/>
            </a:pPr>
            <a:endParaRPr lang="fr-FR" sz="2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a:solidFill>
                  <a:schemeClr val="tx1"/>
                </a:solidFill>
              </a:rPr>
              <a:t>Exercices</a:t>
            </a:r>
            <a:endParaRPr lang="fr-FR"/>
          </a:p>
        </p:txBody>
      </p:sp>
      <p:sp>
        <p:nvSpPr>
          <p:cNvPr id="3" name="Espace réservé du numéro de diapositive 2"/>
          <p:cNvSpPr>
            <a:spLocks noGrp="1"/>
          </p:cNvSpPr>
          <p:nvPr>
            <p:ph type="sldNum" sz="quarter" idx="12"/>
          </p:nvPr>
        </p:nvSpPr>
        <p:spPr/>
        <p:txBody>
          <a:bodyPr/>
          <a:lstStyle/>
          <a:p>
            <a:fld id="{2C6B1FF6-39B9-40F5-8B67-33C6354A3D4F}" type="slidenum">
              <a:rPr kumimoji="0" lang="en-US" smtClean="0"/>
              <a:pPr/>
              <a:t>39</a:t>
            </a:fld>
            <a:endParaRPr kumimoji="0" lang="en-US"/>
          </a:p>
        </p:txBody>
      </p:sp>
      <p:sp>
        <p:nvSpPr>
          <p:cNvPr id="4" name="Espace réservé du contenu 3"/>
          <p:cNvSpPr>
            <a:spLocks noGrp="1"/>
          </p:cNvSpPr>
          <p:nvPr>
            <p:ph sz="quarter" idx="1"/>
          </p:nvPr>
        </p:nvSpPr>
        <p:spPr/>
        <p:txBody>
          <a:bodyPr>
            <a:noAutofit/>
          </a:bodyPr>
          <a:lstStyle/>
          <a:p>
            <a:pPr marL="514350" indent="-514350">
              <a:buClrTx/>
              <a:buFont typeface="+mj-lt"/>
              <a:buAutoNum type="arabicPeriod" startAt="11"/>
            </a:pPr>
            <a:r>
              <a:rPr lang="fr-FR" sz="2600" dirty="0">
                <a:solidFill>
                  <a:srgbClr val="000000"/>
                </a:solidFill>
              </a:rPr>
              <a:t>Que sont les enregistrements de ressources ?</a:t>
            </a:r>
          </a:p>
          <a:p>
            <a:pPr marL="514350" indent="-514350">
              <a:buClrTx/>
              <a:buFont typeface="+mj-lt"/>
              <a:buAutoNum type="arabicPeriod" startAt="11"/>
            </a:pPr>
            <a:r>
              <a:rPr lang="fr-FR" sz="2600" dirty="0">
                <a:solidFill>
                  <a:srgbClr val="000000"/>
                </a:solidFill>
              </a:rPr>
              <a:t>Que sont les types d'enregistrements ?</a:t>
            </a:r>
            <a:endParaRPr lang="fr-FR" sz="2600" dirty="0"/>
          </a:p>
          <a:p>
            <a:pPr marL="514350" indent="-514350">
              <a:buClrTx/>
              <a:buFont typeface="+mj-lt"/>
              <a:buAutoNum type="arabicPeriod" startAt="11"/>
            </a:pPr>
            <a:r>
              <a:rPr lang="fr-FR" sz="2600" dirty="0">
                <a:solidFill>
                  <a:srgbClr val="000000"/>
                </a:solidFill>
              </a:rPr>
              <a:t>Qu'est-ce qu'une zone DNS ?</a:t>
            </a:r>
            <a:endParaRPr lang="fr-FR" sz="2600" dirty="0"/>
          </a:p>
          <a:p>
            <a:pPr marL="514350" indent="-514350">
              <a:buClrTx/>
              <a:buFont typeface="+mj-lt"/>
              <a:buAutoNum type="arabicPeriod" startAt="11"/>
            </a:pPr>
            <a:r>
              <a:rPr lang="fr-FR" sz="2600" dirty="0">
                <a:solidFill>
                  <a:srgbClr val="000000"/>
                </a:solidFill>
              </a:rPr>
              <a:t>Quels sont les types de zones DNS ?</a:t>
            </a:r>
            <a:endParaRPr lang="fr-FR" sz="2600" dirty="0"/>
          </a:p>
          <a:p>
            <a:pPr marL="514350" indent="-514350">
              <a:buClrTx/>
              <a:buFont typeface="+mj-lt"/>
              <a:buAutoNum type="arabicPeriod" startAt="11"/>
            </a:pPr>
            <a:r>
              <a:rPr lang="fr-FR" sz="2600" dirty="0">
                <a:solidFill>
                  <a:srgbClr val="000000"/>
                </a:solidFill>
              </a:rPr>
              <a:t>Quelle est la différence entre les zones de recherche directe et inversée ?</a:t>
            </a:r>
          </a:p>
          <a:p>
            <a:pPr marL="514350" indent="-514350">
              <a:buClrTx/>
              <a:buFont typeface="+mj-lt"/>
              <a:buAutoNum type="arabicPeriod" startAt="11"/>
            </a:pPr>
            <a:r>
              <a:rPr lang="fr-FR" sz="2600" dirty="0">
                <a:solidFill>
                  <a:srgbClr val="000000"/>
                </a:solidFill>
              </a:rPr>
              <a:t>C’est quoi un transfert de zone DNS?</a:t>
            </a:r>
          </a:p>
          <a:p>
            <a:pPr marL="514350" indent="-514350">
              <a:buClrTx/>
              <a:buFont typeface="+mj-lt"/>
              <a:buAutoNum type="arabicPeriod" startAt="11"/>
            </a:pPr>
            <a:r>
              <a:rPr lang="fr-FR" sz="2600" dirty="0">
                <a:solidFill>
                  <a:srgbClr val="000000"/>
                </a:solidFill>
              </a:rPr>
              <a:t> Quels sont les types de transfert de zone DNS?</a:t>
            </a:r>
          </a:p>
          <a:p>
            <a:pPr marL="514350" indent="-514350">
              <a:buClrTx/>
              <a:buFont typeface="+mj-lt"/>
              <a:buAutoNum type="arabicPeriod" startAt="11"/>
            </a:pPr>
            <a:r>
              <a:rPr lang="fr-FR" sz="2600" dirty="0">
                <a:solidFill>
                  <a:srgbClr val="000000"/>
                </a:solidFill>
              </a:rPr>
              <a:t>Comment fonctionnent le transfert de zone DNS?</a:t>
            </a:r>
            <a:endParaRPr lang="fr-FR" sz="2600" dirty="0"/>
          </a:p>
          <a:p>
            <a:pPr marL="514350" indent="-514350">
              <a:buClrTx/>
              <a:buFont typeface="+mj-lt"/>
              <a:buAutoNum type="arabicPeriod" startAt="11"/>
            </a:pPr>
            <a:r>
              <a:rPr lang="fr-FR" sz="2600" dirty="0">
                <a:solidFill>
                  <a:srgbClr val="000000"/>
                </a:solidFill>
              </a:rPr>
              <a:t>Comment fonctionne DNS </a:t>
            </a:r>
            <a:r>
              <a:rPr lang="fr-FR" sz="2600" dirty="0" err="1">
                <a:solidFill>
                  <a:srgbClr val="000000"/>
                </a:solidFill>
              </a:rPr>
              <a:t>Notify</a:t>
            </a:r>
            <a:r>
              <a:rPr lang="fr-FR" sz="2600" dirty="0">
                <a:solidFill>
                  <a:srgbClr val="000000"/>
                </a:solidFill>
              </a:rPr>
              <a:t>?</a:t>
            </a:r>
            <a:endParaRPr lang="fr-FR" sz="2600" dirty="0"/>
          </a:p>
          <a:p>
            <a:pPr marL="514350" indent="-514350">
              <a:buClrTx/>
              <a:buFont typeface="+mj-lt"/>
              <a:buAutoNum type="arabicPeriod" startAt="11"/>
            </a:pPr>
            <a:endParaRPr lang="en-US" sz="2600" dirty="0"/>
          </a:p>
          <a:p>
            <a:pPr marL="514350" indent="-514350">
              <a:buFont typeface="+mj-lt"/>
              <a:buAutoNum type="arabicPeriod" startAt="11"/>
            </a:pPr>
            <a:endParaRPr lang="fr-FR" sz="2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endParaRPr lang="fr-FR" dirty="0"/>
          </a:p>
        </p:txBody>
      </p:sp>
      <p:sp>
        <p:nvSpPr>
          <p:cNvPr id="3" name="Espace réservé du numéro de diapositive 2"/>
          <p:cNvSpPr>
            <a:spLocks noGrp="1"/>
          </p:cNvSpPr>
          <p:nvPr>
            <p:ph type="sldNum" sz="quarter" idx="12"/>
          </p:nvPr>
        </p:nvSpPr>
        <p:spPr/>
        <p:txBody>
          <a:bodyPr/>
          <a:lstStyle/>
          <a:p>
            <a:fld id="{2C6B1FF6-39B9-40F5-8B67-33C6354A3D4F}" type="slidenum">
              <a:rPr kumimoji="0" lang="en-US" smtClean="0"/>
              <a:pPr/>
              <a:t>40</a:t>
            </a:fld>
            <a:endParaRPr kumimoji="0" lang="en-US" dirty="0"/>
          </a:p>
        </p:txBody>
      </p:sp>
      <p:sp>
        <p:nvSpPr>
          <p:cNvPr id="4" name="Espace réservé du contenu 3"/>
          <p:cNvSpPr>
            <a:spLocks noGrp="1"/>
          </p:cNvSpPr>
          <p:nvPr>
            <p:ph sz="quarter" idx="1"/>
          </p:nvPr>
        </p:nvSpPr>
        <p:spPr>
          <a:xfrm>
            <a:off x="301752" y="1527047"/>
            <a:ext cx="8503920" cy="4902781"/>
          </a:xfrm>
        </p:spPr>
        <p:txBody>
          <a:bodyPr>
            <a:normAutofit fontScale="92500" lnSpcReduction="10000"/>
          </a:bodyPr>
          <a:lstStyle/>
          <a:p>
            <a:pPr marL="514350" indent="-514350">
              <a:buClrTx/>
              <a:buFont typeface="+mj-lt"/>
              <a:buAutoNum type="arabicPeriod" startAt="20"/>
            </a:pPr>
            <a:r>
              <a:rPr lang="fr-FR" sz="2800" dirty="0">
                <a:solidFill>
                  <a:srgbClr val="000000"/>
                </a:solidFill>
              </a:rPr>
              <a:t>Quelle différence entre les mises à jour dynamiques  et les mises à jour manuelles?</a:t>
            </a:r>
            <a:endParaRPr lang="fr-FR" sz="2800" dirty="0"/>
          </a:p>
          <a:p>
            <a:pPr marL="514350" indent="-514350">
              <a:buClrTx/>
              <a:buFont typeface="+mj-lt"/>
              <a:buAutoNum type="arabicPeriod" startAt="20"/>
            </a:pPr>
            <a:r>
              <a:rPr lang="fr-FR" sz="2800" dirty="0">
                <a:solidFill>
                  <a:srgbClr val="000000"/>
                </a:solidFill>
              </a:rPr>
              <a:t>Comment les clients DNS inscrivent et mettent à jour dynamiquement leurs enregistrements de ressources</a:t>
            </a:r>
            <a:endParaRPr lang="fr-FR" sz="2800" dirty="0"/>
          </a:p>
          <a:p>
            <a:pPr marL="514350" indent="-514350">
              <a:buClrTx/>
              <a:buFont typeface="+mj-lt"/>
              <a:buAutoNum type="arabicPeriod" startAt="20"/>
            </a:pPr>
            <a:r>
              <a:rPr lang="fr-FR" sz="2800" dirty="0">
                <a:solidFill>
                  <a:srgbClr val="000000"/>
                </a:solidFill>
              </a:rPr>
              <a:t>Comment un serveur DHCP inscrit et met à jour dynamiquement les enregistrements de ressources?</a:t>
            </a:r>
          </a:p>
          <a:p>
            <a:pPr marL="514350" indent="-514350">
              <a:buClrTx/>
              <a:buFont typeface="+mj-lt"/>
              <a:buAutoNum type="arabicPeriod" startAt="20"/>
            </a:pPr>
            <a:r>
              <a:rPr lang="fr-FR" sz="2800" dirty="0">
                <a:solidFill>
                  <a:srgbClr val="000000"/>
                </a:solidFill>
              </a:rPr>
              <a:t>Qu'est-ce qu'une zone DNS intégrée à AD?</a:t>
            </a:r>
            <a:endParaRPr lang="fr-FR" sz="2800" dirty="0"/>
          </a:p>
          <a:p>
            <a:pPr marL="514350" indent="-514350">
              <a:buClrTx/>
              <a:buFont typeface="+mj-lt"/>
              <a:buAutoNum type="arabicPeriod" startAt="20"/>
            </a:pPr>
            <a:r>
              <a:rPr lang="fr-FR" sz="2800" dirty="0">
                <a:solidFill>
                  <a:srgbClr val="000000"/>
                </a:solidFill>
              </a:rPr>
              <a:t> Quels sont les avantages des zone intégrées à AD?</a:t>
            </a:r>
          </a:p>
          <a:p>
            <a:pPr marL="514350" indent="-514350">
              <a:buClrTx/>
              <a:buFont typeface="+mj-lt"/>
              <a:buAutoNum type="arabicPeriod" startAt="20"/>
            </a:pPr>
            <a:r>
              <a:rPr lang="fr-FR" sz="2800" dirty="0">
                <a:solidFill>
                  <a:srgbClr val="000000"/>
                </a:solidFill>
              </a:rPr>
              <a:t>Comment configuré un client DNS?</a:t>
            </a:r>
          </a:p>
          <a:p>
            <a:pPr marL="514350" indent="-514350">
              <a:buClrTx/>
              <a:buFont typeface="+mj-lt"/>
              <a:buAutoNum type="arabicPeriod" startAt="20"/>
            </a:pPr>
            <a:r>
              <a:rPr lang="fr-FR" sz="2800" dirty="0">
                <a:solidFill>
                  <a:srgbClr val="000000"/>
                </a:solidFill>
              </a:rPr>
              <a:t>A quoi sert l’ajout des suffixes?</a:t>
            </a:r>
          </a:p>
          <a:p>
            <a:pPr marL="514350" indent="-514350">
              <a:buClrTx/>
              <a:buFont typeface="+mj-lt"/>
              <a:buAutoNum type="arabicPeriod" startAt="20"/>
            </a:pPr>
            <a:r>
              <a:rPr lang="fr-FR" sz="2800" dirty="0">
                <a:solidFill>
                  <a:srgbClr val="000000"/>
                </a:solidFill>
              </a:rPr>
              <a:t>A quoi sert la délégation  d’autorité pour les zones?</a:t>
            </a:r>
            <a:endParaRPr lang="fr-FR" sz="2800" dirty="0"/>
          </a:p>
          <a:p>
            <a:pPr marL="514350" indent="-514350">
              <a:buFont typeface="+mj-lt"/>
              <a:buAutoNum type="arabicPeriod" startAt="20"/>
            </a:pPr>
            <a:endParaRPr lang="fr-F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100\b\cf0 Module 5:\par}}"/>
  <p:tag name="PPWINSEGMENT1TARGETRTF" val="{\rtf1\ansi\deff1{\fonttbl{\f1\fcharset0 Arial;}{\f2\fcharset0 Arial Narrow;}}{\colortbl\red0\green0\blue0;}{\f2\fs100\b\cf0 Module 5 :\par}}"/>
  <p:tag name="PPWINSEGMENT2START" val="12"/>
  <p:tag name="PPWINSEGMENT2LENGTH" val="50"/>
  <p:tag name="PPWINSEGMENT2SOURCERTF" val="{\rtf1\ansi\deff0{\fonttbl{\f0\fcharset0 Arial Narrow;}}{\colortbl\red0\green0\blue0;}{\f0\fs100\b\cf0 Resolving Host Names by Using Domain Name System (DNS) \par}}"/>
  <p:tag name="PPWINSEGMENT2TARGETRTF" val="{\rtf1\ansi\deff1{\fonttbl{\f1\fcharset0 Arial;}{\f2\fcharset0 Arial Narrow;}}{\colortbl\red0\green0\blue0;}{\f2\fs100\b\cf0 R\'E9solution de noms d'h\'F4tes \'E0 l'aide du syst\'E8me DNS\par}}"/>
  <p:tag name="PPWINLASTSAVEDTRANSLATION" val="Module 5 : Résolution de noms d'hôtes à l'aide du système DNS"/>
  <p:tag name="PPWINALREADYSEGMENTED" val="True"/>
  <p:tag name="PPWINTOTALSEGMENTS" val="2"/>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60\b\cf0 Overview\par}}"/>
  <p:tag name="PPWINSEGMENT1TARGETRTF" val="{\rtf1\ansi\deff1{\fonttbl{\f1\fcharset0 Arial;}{\f2\fcharset0 Arial Narrow;}}{\colortbl\red0\green0\blue0;}{\f2\fs60\b\cf0 Vue d'ensemble\par}}"/>
  <p:tag name="PPWINLASTSAVEDTRANSLATION" val="Vue d'ensemble"/>
  <p:tag name="PPWINALREADYSEGMENTED" val="True"/>
  <p:tag name="PPWINTOTALSEGMENTS" val="1"/>
</p:tagLst>
</file>

<file path=ppt/tags/tag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48\b\cf0 Multimedia:\par}}"/>
  <p:tag name="PPWINSEGMENT1TARGETRTF" val="{\rtf1\ansi\deff1{\fonttbl{\f1\fcharset0 Arial;}{\f2\fcharset0 Arial Narrow;}}{\colortbl\red0\green0\blue0;}{\f2\fs48\b\cf0 Pr\'E9sentation multim\'E9dia :\par}}"/>
  <p:tag name="PPWINSEGMENT2START" val="27"/>
  <p:tag name="PPWINSEGMENT2LENGTH" val="40"/>
  <p:tag name="PPWINSEGMENT2SOURCERTF" val="{\rtf1\ansi\deff0{\fonttbl{\f0\fcharset0 Arial Narrow;}}{\colortbl\red0\green0\blue0;}{\f0\fs48\b\cf0 The Role of DNS in the Network Infrastructure\par}}"/>
  <p:tag name="PPWINSEGMENT2TARGETRTF" val="{\rtf1\ansi\deff1{\fonttbl{\f1\fcharset0 Arial;}{\f2\fcharset0 Arial Narrow;}}{\colortbl\red0\green0\blue0;}{\f2\fs48\b\cf0 R\'F4le de DNS dans l'infrastructure r\'E9seau\par}}"/>
  <p:tag name="PPWINSEGMENT3START" val="68"/>
  <p:tag name="PPWINSEGMENT3LENGTH" val="35"/>
  <p:tag name="PPWINSEGMENT3SOURCERTF" val="{\rtf1\ansi\deff0{\fonttbl{\f0\fcharset0 Arial Narrow;}}{\colortbl\red0\green0\blue0;}{\f0\fs48\b\cf0 Installing the DNS Server Service\par}}"/>
  <p:tag name="PPWINSEGMENT3TARGETRTF" val="{\rtf1\ansi\deff1{\fonttbl{\f1\fcharset0 Arial;}{\f2\fcharset0 Arial Narrow;}}{\colortbl\red0\green0\blue0;}{\f2\fs48\b\cf0 Installation du service Serveur DNS\par}}"/>
  <p:tag name="PPWINSEGMENT4START" val="104"/>
  <p:tag name="PPWINSEGMENT4LENGTH" val="51"/>
  <p:tag name="PPWINSEGMENT4SOURCERTF" val="{\rtf1\ansi\deff0{\fonttbl{\f0\fcharset0 Arial Narrow;}}{\colortbl\red0\green0\blue0;}{\f0\fs48\b\cf0 Configuring the Properties for the DNS Server Service\par}}"/>
  <p:tag name="PPWINSEGMENT4TARGETRTF" val="{\rtf1\ansi\deff1{\fonttbl{\f1\fcharset0 Arial;}{\f2\fcharset0 Arial Narrow;}}{\colortbl\red0\green0\blue0;}{\f2\fs48\b\cf0 Configuration des propri\'E9t\'E9s du service Serveur DNS\par}}"/>
  <p:tag name="PPWINSEGMENT5START" val="156"/>
  <p:tag name="PPWINSEGMENT5LENGTH" val="27"/>
  <p:tag name="PPWINSEGMENT5SOURCERTF" val="{\rtf1\ansi\deff0{\fonttbl{\f0\fcharset0 Arial Narrow;}}{\colortbl\red0\green0\blue0;}{\f0\fs48\b\cf0 Configuring DNS Zones\par}}"/>
  <p:tag name="PPWINSEGMENT5TARGETRTF" val="{\rtf1\ansi\deff1{\fonttbl{\f1\fcharset0 Arial;}{\f2\fcharset0 Arial Narrow;}}{\colortbl\red0\green0\blue0;}{\f2\fs48\b\cf0 Configuration des zones DNS\par}}"/>
  <p:tag name="PPWINSEGMENT6START" val="184"/>
  <p:tag name="PPWINSEGMENT6LENGTH" val="40"/>
  <p:tag name="PPWINSEGMENT6SOURCERTF" val="{\rtf1\ansi\deff0{\fonttbl{\f0\fcharset0 Arial Narrow;}}{\colortbl\red0\green0\blue0;}{\f0\fs48\b\cf0 Configuring DNS Zone Transfers\par}}"/>
  <p:tag name="PPWINSEGMENT6TARGETRTF" val="{\rtf1\ansi\deff1{\fonttbl{\f1\fcharset0 Arial;}{\f2\fcharset0 Arial Narrow;}}{\colortbl\red0\green0\blue0;}{\f2\fs48\b\cf0 Configuration des transferts de zone DNS\par}}"/>
  <p:tag name="PPWINSEGMENT7START" val="225"/>
  <p:tag name="PPWINSEGMENT7LENGTH" val="45"/>
  <p:tag name="PPWINSEGMENT7SOURCERTF" val="{\rtf1\ansi\deff0{\fonttbl{\f0\fcharset0 Arial Narrow;}}{\colortbl\red0\green0\blue0;}{\f0\fs48\b\cf0 Configuring DNS Dynamic Updates\par}}"/>
  <p:tag name="PPWINSEGMENT7TARGETRTF" val="{\rtf1\ansi\deff1{\fonttbl{\f1\fcharset0 Arial;}{\f2\fcharset0 Arial Narrow;}}{\colortbl\red0\green0\blue0;}{\f2\fs48\b\cf0 Configuration des mises \'E0 jour dynamiques DNS\par}}"/>
  <p:tag name="PPWINSEGMENT8START" val="271"/>
  <p:tag name="PPWINSEGMENT8LENGTH" val="29"/>
  <p:tag name="PPWINSEGMENT8SOURCERTF" val="{\rtf1\ansi\deff0{\fonttbl{\f0\fcharset0 Arial Narrow;}}{\colortbl\red0\green0\blue0;}{\f0\fs48\b\cf0 Configuring a DNS Client\par}}"/>
  <p:tag name="PPWINSEGMENT8TARGETRTF" val="{\rtf1\ansi\deff1{\fonttbl{\f1\fcharset0 Arial;}{\f2\fcharset0 Arial Narrow;}}{\colortbl\red0\green0\blue0;}{\f2\fs48\b\cf0 Configuration d'un client DNS\par}}"/>
  <p:tag name="PPWINSEGMENT9START" val="301"/>
  <p:tag name="PPWINSEGMENT9LENGTH" val="36"/>
  <p:tag name="PPWINSEGMENT9SOURCERTF" val="{\rtf1\ansi\deff0{\fonttbl{\f0\fcharset0 Arial Narrow;}}{\colortbl\red0\green0\blue0;}{\f0\fs48\b\cf0 Delegating Authority for Zones\par}}"/>
  <p:tag name="PPWINSEGMENT9TARGETRTF" val="{\rtf1\ansi\deff1{\fonttbl{\f1\fcharset0 Arial;}{\f2\fcharset0 Arial Narrow;}}{\colortbl\red0\green0\blue0;}{\f2\fs48\b\cf0 D\'E9l\'E9gation d'autorit\'E9 pour les zones\par}}"/>
  <p:tag name="PPWINLASTSAVEDTRANSLATION" val="Présentation multimédia : Rôle de DNS dans l'infrastructure réseau&#10;Installation du service Serveur DNS&#10;Configuration des propriétés du service Serveur DNS&#10;Configuration des zones DNS&#10;Configuration des transferts de zone DNS&#10;Configuration des mises à jour dynamiques DNS&#10;Configuration d'un client DNS&#10;Délégation d'autorité pour les zones"/>
  <p:tag name="PPWINALREADYSEGMENTED" val="True"/>
  <p:tag name="PPWINTOTALSEGMENTS" val="9"/>
</p:tagLst>
</file>

<file path=ppt/tags/tag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35"/>
  <p:tag name="PPWINSEGMENT2SOURCERTF" val="{\rtf1\ansi\deff0{\fonttbl{\f0\fcharset0 Arial Narrow;}}{\colortbl\red0\green0\blue0;}{\f0\fs60\b\cf0 Installing the DNS Server Service\par}}"/>
  <p:tag name="PPWINSEGMENT2TARGETRTF" val="{\rtf1\ansi\deff1{\fonttbl{\f1\fcharset0 Arial;}{\f2\fcharset0 Arial Narrow;}}{\colortbl\red0\green0\blue0;}{\f2\fs60\b\cf0 Installation du service Serveur DNS\par}}"/>
  <p:tag name="PPWINLASTSAVEDTRANSLATION" val="Leçon : Installation du service Serveur DNS"/>
  <p:tag name="PPWINALREADYSEGMENTED" val="True"/>
  <p:tag name="PPWINTOTALSEGMENTS" val="2"/>
</p:tagLst>
</file>

<file path=ppt/tags/tag1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9"/>
  <p:tag name="PPWINSEGMENT1SOURCERTF" val="{\rtf1\ansi\deff0{\fonttbl{\f0\fcharset0 Arial Narrow;}}{\colortbl\red0\green0\blue0;}{\f0\fs48\b\cf0 Overview of Domain Name System\par}}"/>
  <p:tag name="PPWINSEGMENT1TARGETRTF" val="{\rtf1\ansi\deff1{\fonttbl{\f1\fcharset0 Arial;}{\f2\fcharset0 Arial Narrow;}}{\colortbl\red0\green0\blue0;}{\f2\fs48\b\cf0 Vue d'ensemble du syst\'E8me DNS\par}}"/>
  <p:tag name="PPWINSEGMENT2START" val="31"/>
  <p:tag name="PPWINSEGMENT2LENGTH" val="43"/>
  <p:tag name="PPWINSEGMENT2SOURCERTF" val="{\rtf1\ansi\deff0{\fonttbl{\f0\fcharset0 Arial Narrow;}}{\colortbl\red0\green0\blue0;}{\f0\fs48\b\cf0 What Is a Domain Namespace?\par}}"/>
  <p:tag name="PPWINSEGMENT2TARGETRTF" val="{\rtf1\ansi\deff1{\fonttbl{\f1\fcharset0 Arial;}{\f2\fcharset0 Arial Narrow;}}{\colortbl\red0\green0\blue0;}{\f2\fs48\b\cf0 Qu'est-ce qu'un espace de noms de domaine ?\par}}"/>
  <p:tag name="PPWINSEGMENT3START" val="75"/>
  <p:tag name="PPWINSEGMENT3LENGTH" val="38"/>
  <p:tag name="PPWINSEGMENT3SOURCERTF" val="{\rtf1\ansi\deff0{\fonttbl{\f0\fcharset0 Arial Narrow;}}{\colortbl\red0\green0\blue0;}{\f0\fs48\b\cf0 Standards for DNS Naming\par}}"/>
  <p:tag name="PPWINSEGMENT3TARGETRTF" val="{\rtf1\ansi\deff1{\fonttbl{\f1\fcharset0 Arial;}{\f2\fcharset0 Arial Narrow;}}{\colortbl\red0\green0\blue0;}{\f2\fs48\b\cf0 Conventions d'appellation standard DNS\par}}"/>
  <p:tag name="PPWINSEGMENT4START" val="114"/>
  <p:tag name="PPWINSEGMENT4LENGTH" val="40"/>
  <p:tag name="PPWINSEGMENT4SOURCERTF" val="{\rtf1\ansi\deff0{\fonttbl{\f0\fcharset0 Arial Narrow;}}{\colortbl\red0\green0\blue0;}{\f0\fs48\b\cf0 How to Install the DNS Server Service\par}}"/>
  <p:tag name="PPWINSEGMENT4TARGETRTF" val="{\rtf1\ansi\deff1{\fonttbl{\f1\fcharset0 Arial;}{\f2\fcharset0 Arial Narrow;}}{\colortbl\red0\green0\blue0;}{\f2\fs48\b\cf0 Comment installer le service Serveur DNS\par}}"/>
  <p:tag name="PPWINLASTSAVEDTRANSLATION" val="Vue d'ensemble du système DNS&#10;Qu'est-ce qu'un espace de noms de domaine ?&#10;Conventions d'appellation standard DNS&#10;Comment installer le service Serveur DNS"/>
  <p:tag name="PPWINALREADYSEGMENTED" val="True"/>
  <p:tag name="PPWINTOTALSEGMENTS" val="4"/>
</p:tagLst>
</file>

<file path=ppt/tags/tag1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9"/>
  <p:tag name="PPWINSEGMENT1SOURCERTF" val="{\rtf1\ansi\deff0{\fonttbl{\f0\fcharset0 Arial Narrow;}}{\colortbl\red0\green0\blue0;}{\f0\fs52\b\cf0 Overview of Domain Name System\par}}"/>
  <p:tag name="PPWINSEGMENT1TARGETRTF" val="{\rtf1\ansi\deff1{\fonttbl{\f1\fcharset0 Arial;}{\f2\fcharset0 Arial Narrow;}}{\colortbl\red0\green0\blue0;}{\f2\fs52\b\cf0 Vue d'ensemble du syst\'E8me DNS\par}}"/>
  <p:tag name="PPWINLASTSAVEDTRANSLATION" val="Vue d'ensemble du système DNS"/>
  <p:tag name="PPWINALREADYSEGMENTED" val="True"/>
  <p:tag name="PPWINTOTALSEGMENTS" val="1"/>
</p:tagLst>
</file>

<file path=ppt/tags/tag19.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4"/>
  <p:tag name="PPWINSEGMENT1SOURCERTF" val="{\rtf1\ansi\deff0{\fonttbl{\f0\fcharset0 Arial Narrow;}}{\colortbl\red0\green0\blue0;}{\f0\fs44\b\i\cf0 Domain Name System (DNS)}{\f0\fs44\b\cf0  is a hierarchical, distributed database that contains mappings of DNS domain names to various types of data, such as IP addresses\par}}"/>
  <p:tag name="PPWINSEGMENT1TARGETRTF" val="{\rtf1\ansi\deff1{\fonttbl{\f1\fcharset0 Arial;}{\f2\fcharset0 Arial Narrow;}}{\colortbl\red0\green0\blue0;}{\f2\fs44\b\cf0 DNS est une base de donn\'E9es distribu\'E9e hi\'E9rarchis\'E9e qui contient les mappages de noms de domaine DNS \'E0 divers types de donn\'E9es, notamment des adresses IP.\par}}"/>
  <p:tag name="PPWINLASTSAVEDTRANSLATION" val="DNS est une base de données distribuée hiérarchisée qui contient les mappages de noms de domaine DNS à divers types de données, notamment des adresses IP."/>
  <p:tag name="PPWINALREADYSEGMENTED" val="True"/>
  <p:tag name="PPWINTOTALSEGMENTS" val="1"/>
</p:tagLst>
</file>

<file path=ppt/tags/tag2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9"/>
  <p:tag name="PPWINSEGMENT1SOURCERTF" val="{\rtf1\ansi\deff0{\fonttbl{\f0\fcharset0 Arial Narrow;}}{\colortbl\red0\green0\blue0;}{\f0\fs52\b\cf0 Overview of Domain Name System\par}}"/>
  <p:tag name="PPWINSEGMENT1TARGETRTF" val="{\rtf1\ansi\deff1{\fonttbl{\f1\fcharset0 Arial;}{\f2\fcharset0 Arial Narrow;}}{\colortbl\red0\green0\blue0;}{\f2\fs52\b\cf0 Vue d'ensemble du syst\'E8me DNS\par}}"/>
  <p:tag name="PPWINLASTSAVEDTRANSLATION" val="Vue d'ensemble du système DNS"/>
  <p:tag name="PPWINALREADYSEGMENTED" val="True"/>
  <p:tag name="PPWINTOTALSEGMENTS" val="1"/>
</p:tagLst>
</file>

<file path=ppt/tags/tag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95"/>
  <p:tag name="PPWINSEGMENT1SOURCERTF" val="{\rtf1\ansi\deff0{\fonttbl{\f0\fcharset0 Arial Narrow;}}{\colortbl\red0\green0\blue0;}{\f0\fs40\b\cf0 DNS is the foundation of the Internet naming scheme and the foundation of an organization\'92s naming scheme \par}}"/>
  <p:tag name="PPWINSEGMENT1TARGETRTF" val="{\rtf1\ansi\deff1{\fonttbl{\f1\fcharset0 Arial;}{\f2\fcharset0 Arial Narrow;}}{\colortbl\red0\green0\blue0;}{\f2\fs40\b\cf0 DNS est \'E0 la base du syst\'E8me de noms Internet, mais aussi du syst\'E8me de noms d'une organisation\par}}"/>
  <p:tag name="PPWINSEGMENT2START" val="97"/>
  <p:tag name="PPWINSEGMENT2LENGTH" val="75"/>
  <p:tag name="PPWINSEGMENT2SOURCERTF" val="{\rtf1\ansi\deff0{\fonttbl{\f0\fcharset0 Arial Narrow;}}{\colortbl\red0\green0\blue0;}{\f0\fs40\b\cf0 DNS supports accessing resources by using alphanumeric names \par}}"/>
  <p:tag name="PPWINSEGMENT2TARGETRTF" val="{\rtf1\ansi\deff1{\fonttbl{\f1\fcharset0 Arial;}{\f2\fcharset0 Arial Narrow;}}{\colortbl\red0\green0\blue0;}{\f2\fs40\b\cf0 DNS prend en charge l'acc\'E8s aux ressources \'E0 l'aide de noms alphanum\'E9riques\par}}"/>
  <p:tag name="PPWINSEGMENT3START" val="173"/>
  <p:tag name="PPWINSEGMENT3LENGTH" val="150"/>
  <p:tag name="PPWINSEGMENT3SOURCERTF" val="{\rtf1\ansi\deff0{\fonttbl{\f0\fcharset0 Arial Narrow;}}{\colortbl\red0\green0\blue0;}{\f0\fs40\b\cf0 InterNIC is responsible for delegating administrative responsibility for portions of the domain namespace and for registering domain names}{\f0\fs36\b\cf0  \par}}"/>
  <p:tag name="PPWINSEGMENT3TARGETRTF" val="{\rtf1\ansi\deff1{\fonttbl{\f1\fcharset0 Arial;}{\f2\fcharset0 Arial Narrow;}}{\colortbl\red0\green0\blue0;}{\f2\fs24\b\cf0 InterNIC est charg\'E9 de d\'E9l\'E9guer la responsabilit\'E9 administrative de portions de l'espace de noms de domaine, mais aussi d'inscrire les noms de domaine\par}}"/>
  <p:tag name="PPWINSEGMENT4START" val="324"/>
  <p:tag name="PPWINSEGMENT4LENGTH" val="83"/>
  <p:tag name="PPWINSEGMENT4SOURCERTF" val="{\rtf1\ansi\deff0{\fonttbl{\f0\fcharset0 Arial Narrow;}}{\colortbl\red0\green0\blue0;}{\f0\fs40\b\cf0 DNS was designed to solve issues that arose when there was an increase in the:\par}}"/>
  <p:tag name="PPWINSEGMENT4TARGETRTF" val="{\rtf1\ansi\deff1{\fonttbl{\f1\fcharset0 Arial;}{\f2\fcharset0 Arial Narrow;}}{\colortbl\red0\green0\blue0;}{\f2\fs40\b\cf0 Le syst\'E8me DNS a \'E9t\'E9 con\'E7u pour r\'E9soudre les probl\'E8mes pos\'E9s par une augmentation :\par}}"/>
  <p:tag name="PPWINSEGMENT5START" val="409"/>
  <p:tag name="PPWINSEGMENT5LENGTH" val="30"/>
  <p:tag name="PPWINSEGMENT5SOURCERTF" val="{\rtf1\ansi\deff0{\fonttbl{\f0\fcharset0 Arial Narrow;}}{\colortbl\red0\green0\blue0;}{\f0\fs40\cf0 Number of hosts on the Internet\par}}"/>
  <p:tag name="PPWINSEGMENT5TARGETRTF" val="{\rtf1\ansi\deff1{\fonttbl{\f1\fcharset0 Arial;}{\f2\fcharset0 Arial Narrow;}}{\colortbl\red0\green0\blue0;}{\f2\fs40\cf0 du nombre d'h\'F4tes sur Internet\par}}"/>
  <p:tag name="PPWINSEGMENT6START" val="440"/>
  <p:tag name="PPWINSEGMENT6LENGTH" val="48"/>
  <p:tag name="PPWINSEGMENT6SOURCERTF" val="{\rtf1\ansi\deff0{\fonttbl{\f0\fcharset0 Arial Narrow;}}{\colortbl\red0\green0\blue0;}{\f0\fs40\cf0 Traffic generated by the update process\par}}"/>
  <p:tag name="PPWINSEGMENT6TARGETRTF" val="{\rtf1\ansi\deff1{\fonttbl{\f1\fcharset0 Arial;}{\f2\fcharset0 Arial Narrow;}}{\colortbl\red0\green0\blue0;}{\f2\fs40\cf0 du trafic g\'E9n\'E9r\'E9 par le processus de mise \'E0 jour\par}}"/>
  <p:tag name="PPWINSEGMENT7START" val="489"/>
  <p:tag name="PPWINSEGMENT7LENGTH" val="29"/>
  <p:tag name="PPWINSEGMENT7SOURCERTF" val="{\rtf1\ansi\deff0{\fonttbl{\f0\fcharset0 Arial Narrow;}}{\colortbl\red0\green0\blue0;}{\f0\fs40\cf0 Size of the Hosts file\par}}"/>
  <p:tag name="PPWINSEGMENT7TARGETRTF" val="{\rtf1\ansi\deff1{\fonttbl{\f1\fcharset0 Arial;}{\f2\fcharset0 Arial Narrow;}}{\colortbl\red0\green0\blue0;}{\f2\fs40\cf0 de la taille du fichier Hosts\par}}"/>
  <p:tag name="PPWINLASTSAVEDTRANSLATION" val="DNS est à la base du système de noms Internet, mais aussi du système de noms d'une organisation&#10;DNS prend en charge l'accès aux ressources à l'aide de noms alphanumériques&#10;InterNIC est chargé de déléguer la responsabilité administrative de portions de l'espace de noms de domaine, mais aussi d'inscrire les noms de domaine&#10;Le système DNS a été conçu pour résoudre les problèmes posés par une augmentation : &#10;du nombre d'hôtes sur Internet&#10;du trafic généré par le processus de mise à jour&#10;de la taille du fichier Hosts"/>
  <p:tag name="PPWINALREADYSEGMENTED" val="True"/>
  <p:tag name="PPWINTOTALSEGMENTS" val="7"/>
</p:tagLst>
</file>

<file path=ppt/tags/tag23.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3"/>
  <p:tag name="PPWINSEGMENT1SOURCERTF" val="{\rtf1\ansi\deff0{\fonttbl{\f0\fcharset0 Arial Narrow;}}{\colortbl\red0\green0\blue0;}{\f0\fs52\b\cf0 What Is a Domain Namespace?\par}}"/>
  <p:tag name="PPWINLASTSAVEDTRANSLATION" val="Qu'est-ce qu'un espace de noms de domaine ?"/>
  <p:tag name="PPWINALREADYSEGMENTED" val="True"/>
  <p:tag name="PPWINTOTALSEGMENTS" val="1"/>
  <p:tag name="PPWINSEGMENT1TARGETRTF" val="{\rtf1\ansi\deff0{\fonttbl{\f0\fcharset0 Arial Narrow;}}{\colortbl\red0\green0\blue0;}{\f0\fs52\b\cf0 Qu'est-ce qu'un espace de noms de domaine ?\par}}"/>
</p:tagLst>
</file>

<file path=ppt/tags/tag2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36\b\shad\cf0 Root Domain\par}}"/>
  <p:tag name="PPWINLASTSAVEDTRANSLATION" val="Domaine racine"/>
  <p:tag name="PPWINALREADYSEGMENTED" val="True"/>
  <p:tag name="PPWINTOTALSEGMENTS" val="1"/>
  <p:tag name="PPWINSEGMENT1TARGETRTF" val="{\rtf1\ansi\deff0{\fonttbl{\f0\fcharset0 Arial Narrow;}}{\colortbl\red0\green0\blue0;}{\f0\fs36\b\shad\cf0 Domaine racine\par}}"/>
</p:tagLst>
</file>

<file path=ppt/tags/tag2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3"/>
  <p:tag name="PPWINSEGMENT1SOURCERTF" val="{\rtf1\ansi\deff0{\fonttbl{\f0\fcharset0 Arial Narrow;}}{\colortbl\red0\green0\blue0;}{\f0\fs36\b\shad\cf0 Subdomains\par}}"/>
  <p:tag name="PPWINLASTSAVEDTRANSLATION" val="Sous-domaines"/>
  <p:tag name="PPWINALREADYSEGMENTED" val="True"/>
  <p:tag name="PPWINTOTALSEGMENTS" val="1"/>
  <p:tag name="PPWINSEGMENT1TARGETRTF" val="{\rtf1\ansi\deff0{\fonttbl{\f0\fcharset0 Arial Narrow;}}{\colortbl\red0\green0\blue0;}{\f0\fs36\b\shad\cf0 Sous-domaines\par}}"/>
</p:tagLst>
</file>

<file path=ppt/tags/tag2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4"/>
  <p:tag name="PPWINSEGMENT1SOURCERTF" val="{\rtf1\ansi\deff0{\fonttbl{\f0\fcharset0 Arial Narrow;}}{\colortbl\red0\green0\blue0;}{\f0\fs36\b\shad\cf0 Second-Level Domain\par}}"/>
  <p:tag name="PPWINLASTSAVEDTRANSLATION" val="Domaine de second niveau"/>
  <p:tag name="PPWINALREADYSEGMENTED" val="True"/>
  <p:tag name="PPWINTOTALSEGMENTS" val="1"/>
  <p:tag name="PPWINSEGMENT1TARGETRTF" val="{\rtf1\ansi\deff0{\fonttbl{\f0\fcharset0 Arial Narrow;}}{\colortbl\red0\green0\blue0;}{\f0\fs36\b\shad\cf0 Domaine de second niveau\par}}"/>
</p:tagLst>
</file>

<file path=ppt/tags/tag2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36\b\shad\cf0 Top-Level Domain\par}}"/>
  <p:tag name="PPWINLASTSAVEDTRANSLATION" val="Domaine de niveau supérieur"/>
  <p:tag name="PPWINALREADYSEGMENTED" val="True"/>
  <p:tag name="PPWINTOTALSEGMENTS" val="1"/>
  <p:tag name="PPWINSEGMENT1TARGETRTF" val="{\rtf1\ansi\deff0{\fonttbl{\f0\fcharset0 Arial Narrow;}}{\colortbl\red0\green0\blue0;}{\f0\fs36\b\shad\cf0 Domaine de niveau sup\'E9rieur\par}}"/>
</p:tagLst>
</file>

<file path=ppt/tags/tag29.xml><?xml version="1.0" encoding="utf-8"?>
<p:tagLst xmlns:a="http://schemas.openxmlformats.org/drawingml/2006/main" xmlns:r="http://schemas.openxmlformats.org/officeDocument/2006/relationships" xmlns:p="http://schemas.openxmlformats.org/presentationml/2006/main">
  <p:tag name="PPWINSEGMENT1START" val="1"/>
  <p:tag name="PPWINSEGMENT1LENGTH" val="6"/>
  <p:tag name="PPWINSEGMENT1SOURCERTF" val="{\rtf1\ansi\deff0{\fonttbl{\f0\fcharset0 Arial Narrow;}}{\colortbl\red0\green0\blue0;}{\f0\fs36\b\cf0 FQDN:\par}}"/>
  <p:tag name="PPWINSEGMENT1TARGETRTF" val="{\rtf1\ansi\deff1{\fonttbl{\f1\fcharset0 Arial;}{\f2\fcharset0 Arial Narrow;}}{\colortbl\red0\green0\blue0;}{\f2\fs36\b\cf0 FQDN :\par}}"/>
  <p:tag name="PPWINSEGMENT2START" val="8"/>
  <p:tag name="PPWINSEGMENT2LENGTH" val="33"/>
  <p:tag name="PPWINSEGMENT2SOURCERTF" val="{\rtf1\ansi\deff0{\fonttbl{\f0\fcharset0 Arial Narrow;}}{\colortbl\red0\green0\blue0;}{\f0\fs36\b\cf0 server1.sales.south.nwtraders.com\par}}"/>
  <p:tag name="PPWINSEGMENT2TARGETRTF" val="{\rtf1\ansi\deff0{\fonttbl{\f0\fcharset0 Arial Narrow;}}{\colortbl\red0\green0\blue0;}{\f0\fs36\b\cf0 server1.sales.south.nwtraders.com\par}}"/>
  <p:tag name="PPWINLASTSAVEDTRANSLATION" val="FQDN :&#10;server1.sales.south.nwtraders.com"/>
  <p:tag name="PPWINALREADYSEGMENTED" val="True"/>
  <p:tag name="PPWINTOTALSEGMENTS" val="2"/>
</p:tagLst>
</file>

<file path=ppt/tags/tag30.xml><?xml version="1.0" encoding="utf-8"?>
<p:tagLst xmlns:a="http://schemas.openxmlformats.org/drawingml/2006/main" xmlns:r="http://schemas.openxmlformats.org/officeDocument/2006/relationships" xmlns:p="http://schemas.openxmlformats.org/presentationml/2006/main">
  <p:tag name="PPWINSEGMENT1START" val="1"/>
  <p:tag name="PPWINSEGMENT1LENGTH" val="5"/>
  <p:tag name="PPWINSEGMENT1SOURCERTF" val="{\rtf1\ansi\deff0{\fonttbl{\f0\fcharset0 Arial Narrow;}}{\colortbl\red0\green0\blue0;}{\f0\fs36\b\cf0 south\par}}"/>
  <p:tag name="PPWINLASTSAVEDTRANSLATION" val="south"/>
  <p:tag name="PPWINALREADYSEGMENTED" val="True"/>
  <p:tag name="PPWINTOTALSEGMENTS" val="1"/>
  <p:tag name="PPWINSEGMENT1TARGETRTF" val="{\rtf1\ansi\deff0{\fonttbl{\f0\fcharset0 Arial Narrow;}}{\colortbl\red0\green0\blue0;}{\f0\fs36\b\cf0 south\par}}"/>
</p:tagLst>
</file>

<file path=ppt/tags/tag31.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6\b\cf0 nwtraders\par}}"/>
  <p:tag name="PPWINLASTSAVEDTRANSLATION" val="nwtraders"/>
  <p:tag name="PPWINALREADYSEGMENTED" val="True"/>
  <p:tag name="PPWINTOTALSEGMENTS" val="1"/>
  <p:tag name="PPWINSEGMENT1TARGETRTF" val="{\rtf1\ansi\deff0{\fonttbl{\f0\fcharset0 Arial Narrow;}}{\colortbl\red0\green0\blue0;}{\f0\fs36\b\cf0 nwtraders\par}}"/>
</p:tagLst>
</file>

<file path=ppt/tags/tag32.xml><?xml version="1.0" encoding="utf-8"?>
<p:tagLst xmlns:a="http://schemas.openxmlformats.org/drawingml/2006/main" xmlns:r="http://schemas.openxmlformats.org/officeDocument/2006/relationships" xmlns:p="http://schemas.openxmlformats.org/presentationml/2006/main">
  <p:tag name="PPWINSEGMENT1START" val="1"/>
  <p:tag name="PPWINSEGMENT1LENGTH" val="3"/>
  <p:tag name="PPWINSEGMENT1SOURCERTF" val="{\rtf1\ansi\deff0{\fonttbl{\f0\fcharset0 Arial Narrow;}}{\colortbl\red0\green0\blue0;}{\f0\fs36\b\cf0 com\par}}"/>
  <p:tag name="PPWINLASTSAVEDTRANSLATION" val="com"/>
  <p:tag name="PPWINALREADYSEGMENTED" val="True"/>
  <p:tag name="PPWINTOTALSEGMENTS" val="1"/>
  <p:tag name="PPWINSEGMENT1TARGETRTF" val="{\rtf1\ansi\deff0{\fonttbl{\f0\fcharset0 Arial Narrow;}}{\colortbl\red0\green0\blue0;}{\f0\fs36\b\cf0 com\par}}"/>
</p:tagLst>
</file>

<file path=ppt/tags/tag3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
  <p:tag name="PPWINSEGMENT1SOURCERTF" val="{\rtf1\ansi\deff0{\fonttbl{\f0\fcharset0 Arial Narrow;}}{\colortbl\red0\green0\blue0;}{\f0\fs36\b\cf0 west\par}}"/>
  <p:tag name="PPWINLASTSAVEDTRANSLATION" val="west"/>
  <p:tag name="PPWINALREADYSEGMENTED" val="True"/>
  <p:tag name="PPWINTOTALSEGMENTS" val="1"/>
  <p:tag name="PPWINSEGMENT1TARGETRTF" val="{\rtf1\ansi\deff0{\fonttbl{\f0\fcharset0 Arial Narrow;}}{\colortbl\red0\green0\blue0;}{\f0\fs36\b\cf0 west\par}}"/>
</p:tagLst>
</file>

<file path=ppt/tags/tag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
  <p:tag name="PPWINSEGMENT1SOURCERTF" val="{\rtf1\ansi\deff0{\fonttbl{\f0\fcharset0 Arial Narrow;}}{\colortbl\red0\green0\blue0;}{\f0\fs36\b\cf0 east\par}}"/>
  <p:tag name="PPWINLASTSAVEDTRANSLATION" val="east"/>
  <p:tag name="PPWINALREADYSEGMENTED" val="True"/>
  <p:tag name="PPWINTOTALSEGMENTS" val="1"/>
  <p:tag name="PPWINSEGMENT1TARGETRTF" val="{\rtf1\ansi\deff0{\fonttbl{\f0\fcharset0 Arial Narrow;}}{\colortbl\red0\green0\blue0;}{\f0\fs36\b\cf0 east\par}}"/>
</p:tagLst>
</file>

<file path=ppt/tags/tag35.xml><?xml version="1.0" encoding="utf-8"?>
<p:tagLst xmlns:a="http://schemas.openxmlformats.org/drawingml/2006/main" xmlns:r="http://schemas.openxmlformats.org/officeDocument/2006/relationships" xmlns:p="http://schemas.openxmlformats.org/presentationml/2006/main">
  <p:tag name="PPWINSEGMENT1START" val="1"/>
  <p:tag name="PPWINSEGMENT1LENGTH" val="3"/>
  <p:tag name="PPWINSEGMENT1SOURCERTF" val="{\rtf1\ansi\deff0{\fonttbl{\f0\fcharset0 Arial Narrow;}}{\colortbl\red0\green0\blue0;}{\f0\fs36\b\cf0 org\par}}"/>
  <p:tag name="PPWINLASTSAVEDTRANSLATION" val="org"/>
  <p:tag name="PPWINALREADYSEGMENTED" val="True"/>
  <p:tag name="PPWINTOTALSEGMENTS" val="1"/>
  <p:tag name="PPWINSEGMENT1TARGETRTF" val="{\rtf1\ansi\deff0{\fonttbl{\f0\fcharset0 Arial Narrow;}}{\colortbl\red0\green0\blue0;}{\f0\fs36\b\cf0 org\par}}"/>
</p:tagLst>
</file>

<file path=ppt/tags/tag36.xml><?xml version="1.0" encoding="utf-8"?>
<p:tagLst xmlns:a="http://schemas.openxmlformats.org/drawingml/2006/main" xmlns:r="http://schemas.openxmlformats.org/officeDocument/2006/relationships" xmlns:p="http://schemas.openxmlformats.org/presentationml/2006/main">
  <p:tag name="PPWINSEGMENT1START" val="1"/>
  <p:tag name="PPWINSEGMENT1LENGTH" val="3"/>
  <p:tag name="PPWINSEGMENT1SOURCERTF" val="{\rtf1\ansi\deff0{\fonttbl{\f0\fcharset0 Arial Narrow;}}{\colortbl\red0\green0\blue0;}{\f0\fs36\b\cf0 net\par}}"/>
  <p:tag name="PPWINLASTSAVEDTRANSLATION" val="net"/>
  <p:tag name="PPWINALREADYSEGMENTED" val="True"/>
  <p:tag name="PPWINTOTALSEGMENTS" val="1"/>
  <p:tag name="PPWINSEGMENT1TARGETRTF" val="{\rtf1\ansi\deff0{\fonttbl{\f0\fcharset0 Arial Narrow;}}{\colortbl\red0\green0\blue0;}{\f0\fs36\b\cf0 net\par}}"/>
</p:tagLst>
</file>

<file path=ppt/tags/tag37.xml><?xml version="1.0" encoding="utf-8"?>
<p:tagLst xmlns:a="http://schemas.openxmlformats.org/drawingml/2006/main" xmlns:r="http://schemas.openxmlformats.org/officeDocument/2006/relationships" xmlns:p="http://schemas.openxmlformats.org/presentationml/2006/main">
  <p:tag name="PPWINSEGMENT1START" val="1"/>
  <p:tag name="PPWINSEGMENT1LENGTH" val="6"/>
  <p:tag name="PPWINSEGMENT1SOURCERTF" val="{\rtf1\ansi\deff0{\fonttbl{\f0\fcharset0 Arial Narrow;}}{\colortbl\red0\green0\blue0;}{\f0\fs36\b\cf0 Host:\par}}"/>
  <p:tag name="PPWINSEGMENT2START" val="8"/>
  <p:tag name="PPWINSEGMENT2LENGTH" val="7"/>
  <p:tag name="PPWINSEGMENT2SOURCERTF" val="{\rtf1\ansi\deff0{\fonttbl{\f0\fcharset0 Arial Narrow;}}{\colortbl\red0\green0\blue0;}{\f0\fs36\b\cf0 server1\par}}"/>
  <p:tag name="PPWINLASTSAVEDTRANSLATION" val="Hôte : server1"/>
  <p:tag name="PPWINALREADYSEGMENTED" val="True"/>
  <p:tag name="PPWINTOTALSEGMENTS" val="2"/>
  <p:tag name="PPWINSEGMENT1TARGETRTF" val="{\rtf1\ansi\deff0{\fonttbl{\f0\fcharset0 Arial Narrow;}}{\colortbl\red0\green0\blue0;}{\f0\fs36\b\cf0 H\'F4te :\par}}"/>
  <p:tag name="PPWINSEGMENT2TARGETRTF" val="{\rtf1\ansi\deff0{\fonttbl{\f0\fcharset0 Arial Narrow;}}{\colortbl\red0\green0\blue0;}{\f0\fs36\b\cf0 server1\par}}"/>
</p:tagLst>
</file>

<file path=ppt/tags/tag38.xml><?xml version="1.0" encoding="utf-8"?>
<p:tagLst xmlns:a="http://schemas.openxmlformats.org/drawingml/2006/main" xmlns:r="http://schemas.openxmlformats.org/officeDocument/2006/relationships" xmlns:p="http://schemas.openxmlformats.org/presentationml/2006/main">
  <p:tag name="PPWINSEGMENT1START" val="1"/>
  <p:tag name="PPWINSEGMENT1LENGTH" val="5"/>
  <p:tag name="PPWINSEGMENT1SOURCERTF" val="{\rtf1\ansi\deff0{\fonttbl{\f0\fcharset0 Arial Narrow;}}{\colortbl\red0\green0\blue0;}{\f0\fs36\b\cf0 sales\par}}"/>
  <p:tag name="PPWINLASTSAVEDTRANSLATION" val="sales"/>
  <p:tag name="PPWINALREADYSEGMENTED" val="True"/>
  <p:tag name="PPWINTOTALSEGMENTS" val="1"/>
  <p:tag name="PPWINSEGMENT1TARGETRTF" val="{\rtf1\ansi\deff0{\fonttbl{\f0\fcharset0 Arial Narrow;}}{\colortbl\red0\green0\blue0;}{\f0\fs36\b\cf0 sales\par}}"/>
</p:tagLst>
</file>

<file path=ppt/tags/tag39.xml><?xml version="1.0" encoding="utf-8"?>
<p:tagLst xmlns:a="http://schemas.openxmlformats.org/drawingml/2006/main" xmlns:r="http://schemas.openxmlformats.org/officeDocument/2006/relationships" xmlns:p="http://schemas.openxmlformats.org/presentationml/2006/main">
  <p:tag name="PPWINTOTALSEGMENTS" val="0"/>
</p:tagLst>
</file>

<file path=ppt/tags/tag40.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52\b\cf0 Standards for DNS Naming\par}}"/>
  <p:tag name="PPWINSEGMENT1TARGETRTF" val="{\rtf1\ansi\deff1{\fonttbl{\f1\fcharset0 Arial;}{\f2\fcharset0 Arial Narrow;}}{\colortbl\red0\green0\blue0;}{\f2\fs52\b\cf0 Conventions d'appellation standard DNS\par}}"/>
  <p:tag name="PPWINLASTSAVEDTRANSLATION" val="Conventions d'appellation standard DNS"/>
  <p:tag name="PPWINALREADYSEGMENTED" val="True"/>
  <p:tag name="PPWINTOTALSEGMENTS" val="1"/>
</p:tagLst>
</file>

<file path=ppt/tags/tag41.xml><?xml version="1.0" encoding="utf-8"?>
<p:tagLst xmlns:a="http://schemas.openxmlformats.org/drawingml/2006/main" xmlns:r="http://schemas.openxmlformats.org/officeDocument/2006/relationships" xmlns:p="http://schemas.openxmlformats.org/presentationml/2006/main">
  <p:tag name="PPWINSEGMENT1START" val="1"/>
  <p:tag name="PPWINSEGMENT1LENGTH" val="56"/>
  <p:tag name="PPWINSEGMENT1SOURCERTF" val="{\rtf1\ansi\deff0{\fonttbl{\f0\fcharset0 Arial Narrow;}}{\colortbl\red0\green0\blue0;}{\f0\fs48\b\cf0 The following characters are valid for DNS names:\par}}"/>
  <p:tag name="PPWINSEGMENT1TARGETRTF" val="{\rtf1\ansi\deff1{\fonttbl{\f1\fcharset0 Arial;}{\f2\fcharset0 Arial Narrow;}}{\colortbl\red0\green0\blue0;}{\f2\fs48\b\cf0 Les caract\'E8res suivants sont valides dans les noms DNS :\par}}"/>
  <p:tag name="PPWINSEGMENT2START" val="59"/>
  <p:tag name="PPWINSEGMENT2LENGTH" val="4"/>
  <p:tag name="PPWINSEGMENT2SOURCERTF" val="{\rtf1\ansi\deff0{\fonttbl{\f0\fcharset0 Arial Narrow;}}{\colortbl\red0\green0\blue0;}{\f0\fs48\cf0 A-Z\par}}"/>
  <p:tag name="PPWINSEGMENT2TARGETRTF" val="{\rtf1\ansi\deff1{\fonttbl{\f1\fcharset0 Arial;}{\f2\fcharset0 Arial Narrow;}}{\colortbl\red0\green0\blue0;}{\f2\fs48\cf0 A-Z \par}}"/>
  <p:tag name="PPWINSEGMENT3START" val="64"/>
  <p:tag name="PPWINSEGMENT3LENGTH" val="4"/>
  <p:tag name="PPWINSEGMENT3SOURCERTF" val="{\rtf1\ansi\deff0{\fonttbl{\f0\fcharset0 Arial Narrow;}}{\colortbl\red0\green0\blue0;}{\f0\fs48\cf0 a-z \par}}"/>
  <p:tag name="PPWINSEGMENT3TARGETRTF" val="{\rtf1\ansi\deff1{\fonttbl{\f1\fcharset0 Arial;}{\f2\fcharset0 Arial Narrow;}}{\colortbl\red0\green0\blue0;}{\f2\fs48\cf0 a-z \par}}"/>
  <p:tag name="PPWINSEGMENT4START" val="74"/>
  <p:tag name="PPWINSEGMENT4LENGTH" val="18"/>
  <p:tag name="PPWINSEGMENT4SOURCERTF" val="{\rtf1\ansi\deff0{\fonttbl{\f0\fcharset0 Arial Narrow;}}{\colortbl\red0\green0\blue0;}{\f0\fs48\cf0 Hyphen (-) \par}}"/>
  <p:tag name="PPWINSEGMENT4TARGETRTF" val="{\rtf1\ansi\deff1{\fonttbl{\f1\fcharset0 Arial;}{\f2\fcharset0 Arial Narrow;}}{\colortbl\red0\green0\blue0;}{\f2\fs48\cf0 Trait d'union (-) \par}}"/>
  <p:tag name="PPWINSEGMENT5START" val="94"/>
  <p:tag name="PPWINSEGMENT5LENGTH" val="53"/>
  <p:tag name="PPWINSEGMENT5SOURCERTF" val="{\rtf1\ansi\deff0{\fonttbl{\f0\fcharset0 Arial Narrow;}}{\colortbl\red0\green0\blue0;}{\f0\fs48\cf0 The underscore (_) is a reserved character\par}}"/>
  <p:tag name="PPWINSEGMENT5TARGETRTF" val="{\rtf1\ansi\deff1{\fonttbl{\f1\fcharset0 Arial;}{\f2\fcharset0 Arial Narrow;}}{\colortbl\red0\green0\blue0;}{\f2\fs48\cf0 Le trait de soulignement (_) est un caract\'E8re r\'E9serv\'E9\par}}"/>
  <p:tag name="PPWINLASTSAVEDTRANSLATION" val="Les caractères suivants sont valides dans les noms DNS :&#10;&#10;A-Z &#10;a-z &#10;0-9 &#10;Trait d'union (-) &#10;&#10;Le trait de soulignement (_) est un caractère réservé&#10;&#10;"/>
  <p:tag name="PPWINALREADYSEGMENTED" val="True"/>
  <p:tag name="PPWINTOTALSEGMENTS" val="5"/>
</p:tagLst>
</file>

<file path=ppt/tags/tag42.xml><?xml version="1.0" encoding="utf-8"?>
<p:tagLst xmlns:a="http://schemas.openxmlformats.org/drawingml/2006/main" xmlns:r="http://schemas.openxmlformats.org/officeDocument/2006/relationships" xmlns:p="http://schemas.openxmlformats.org/presentationml/2006/main">
  <p:tag name="PPWINTOTALSEGMENTS" val="0"/>
</p:tagLst>
</file>

<file path=ppt/tags/tag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51"/>
  <p:tag name="PPWINSEGMENT2SOURCERTF" val="{\rtf1\ansi\deff0{\fonttbl{\f0\fcharset0 Arial Narrow;}}{\colortbl\red0\green0\blue0;}{\f0\fs52\b\cf0 Configuring the Properties for the DNS Server Service\par}}"/>
  <p:tag name="PPWINSEGMENT2TARGETRTF" val="{\rtf1\ansi\deff1{\fonttbl{\f1\fcharset0 Arial;}{\f2\fcharset0 Arial Narrow;}}{\colortbl\red0\green0\blue0;}{\f2\fs52\b\cf0 Configuration des propri\'E9t\'E9s du service Serveur DNS\par}}"/>
  <p:tag name="PPWINLASTSAVEDTRANSLATION" val="Leçon : Configuration des propriétés du service Serveur DNS"/>
  <p:tag name="PPWINALREADYSEGMENTED" val="True"/>
  <p:tag name="PPWINTOTALSEGMENTS" val="2"/>
</p:tagLst>
</file>

<file path=ppt/tags/tag4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48\b\cf0 What Are the Components of a DNS Solution?\par}}"/>
  <p:tag name="PPWINSEGMENT1TARGETRTF" val="{\rtf1\ansi\deff1{\fonttbl{\f1\fcharset0 Arial;}{\f2\fcharset0 Arial Narrow;}}{\colortbl\red0\green0\blue0;}{\f2\fs48\b\cf0 Quels sont les composants d'une solution DNS ?\par}}"/>
  <p:tag name="PPWINSEGMENT2START" val="48"/>
  <p:tag name="PPWINSEGMENT2LENGTH" val="30"/>
  <p:tag name="PPWINSEGMENT2SOURCERTF" val="{\rtf1\ansi\deff0{\fonttbl{\f0\fcharset0 Arial Narrow;}}{\colortbl\red0\green0\blue0;}{\f0\fs48\b\cf0 What Is a DNS Query?\par}}"/>
  <p:tag name="PPWINSEGMENT2TARGETRTF" val="{\rtf1\ansi\deff1{\fonttbl{\f1\fcharset0 Arial;}{\f2\fcharset0 Arial Narrow;}}{\colortbl\red0\green0\blue0;}{\f2\fs48\b\cf0 Qu'est-ce qu'une requ\'EAte DNS ?\par}}"/>
  <p:tag name="PPWINSEGMENT3START" val="79"/>
  <p:tag name="PPWINSEGMENT3LENGTH" val="38"/>
  <p:tag name="PPWINSEGMENT3SOURCERTF" val="{\rtf1\ansi\deff0{\fonttbl{\f0\fcharset0 Arial Narrow;}}{\colortbl\red0\green0\blue0;}{\f0\fs48\b\cf0 How Recursive Queries Work\par}}"/>
  <p:tag name="PPWINSEGMENT3TARGETRTF" val="{\rtf1\ansi\deff1{\fonttbl{\f1\fcharset0 Arial;}{\f2\fcharset0 Arial Narrow;}}{\colortbl\red0\green0\blue0;}{\f2\fs48\b\cf0 Fonctionnement des requ\'EAtes r\'E9cursives\par}}"/>
  <p:tag name="PPWINSEGMENT4START" val="118"/>
  <p:tag name="PPWINSEGMENT4LENGTH" val="40"/>
  <p:tag name="PPWINSEGMENT4SOURCERTF" val="{\rtf1\ansi\deff0{\fonttbl{\f0\fcharset0 Arial Narrow;}}{\colortbl\red0\green0\blue0;}{\f0\fs48\b\cf0 How a Root Hint Works\par}}"/>
  <p:tag name="PPWINSEGMENT4TARGETRTF" val="{\rtf1\ansi\deff1{\fonttbl{\f1\fcharset0 Arial;}{\f2\fcharset0 Arial Narrow;}}{\colortbl\red0\green0\blue0;}{\f2\fs48\b\cf0 Fonctionnement des indications de racine\par}}"/>
  <p:tag name="PPWINSEGMENT5START" val="159"/>
  <p:tag name="PPWINSEGMENT5LENGTH" val="38"/>
  <p:tag name="PPWINSEGMENT5SOURCERTF" val="{\rtf1\ansi\deff0{\fonttbl{\f0\fcharset0 Arial Narrow;}}{\colortbl\red0\green0\blue0;}{\f0\fs48\b\cf0 How Iterative Queries Work\par}}"/>
  <p:tag name="PPWINSEGMENT5TARGETRTF" val="{\rtf1\ansi\deff1{\fonttbl{\f1\fcharset0 Arial;}{\f2\fcharset0 Arial Narrow;}}{\colortbl\red0\green0\blue0;}{\f2\fs48\b\cf0 Fonctionnement des requ\'EAtes it\'E9ratives\par}}"/>
  <p:tag name="PPWINSEGMENT6START" val="198"/>
  <p:tag name="PPWINSEGMENT6LENGTH" val="31"/>
  <p:tag name="PPWINSEGMENT6SOURCERTF" val="{\rtf1\ansi\deff0{\fonttbl{\f0\fcharset0 Arial Narrow;}}{\colortbl\red0\green0\blue0;}{\f0\fs48\b\cf0 How Forwarders Work\par}}"/>
  <p:tag name="PPWINSEGMENT6TARGETRTF" val="{\rtf1\ansi\deff1{\fonttbl{\f1\fcharset0 Arial;}{\f2\fcharset0 Arial Narrow;}}{\colortbl\red0\green0\blue0;}{\f2\fs48\b\cf0 Fonctionnement des redirecteurs\par}}"/>
  <p:tag name="PPWINSEGMENT7START" val="230"/>
  <p:tag name="PPWINSEGMENT7LENGTH" val="49"/>
  <p:tag name="PPWINSEGMENT7SOURCERTF" val="{\rtf1\ansi\deff0{\fonttbl{\f0\fcharset0 Arial Narrow;}}{\colortbl\red0\green0\blue0;}{\f0\fs48\b\cf0 How DNS Server Caching Works\par}}"/>
  <p:tag name="PPWINSEGMENT7TARGETRTF" val="{\rtf1\ansi\deff1{\fonttbl{\f1\fcharset0 Arial;}{\f2\fcharset0 Arial Narrow;}}{\colortbl\red0\green0\blue0;}{\f2\fs48\b\cf0 Fonctionnement de la mise en cache du serveur DNS\par}}"/>
  <p:tag name="PPWINSEGMENT8START" val="280"/>
  <p:tag name="PPWINSEGMENT8LENGTH" val="56"/>
  <p:tag name="PPWINSEGMENT8SOURCERTF" val="{\rtf1\ansi\deff0{\fonttbl{\f0\fcharset0 Arial Narrow;}}{\colortbl\red0\green0\blue0;}{\f0\fs48\b\cf0 How to Configure the Properties for the DNS Server Service\par}}"/>
  <p:tag name="PPWINSEGMENT8TARGETRTF" val="{\rtf1\ansi\deff1{\fonttbl{\f1\fcharset0 Arial;}{\f2\fcharset0 Arial Narrow;}}{\colortbl\red0\green0\blue0;}{\f2\fs48\b\cf0 Comment configurer les propri\'E9t\'E9s du service Serveur DNS\par}}"/>
  <p:tag name="PPWINLASTSAVEDTRANSLATION" val="Quels sont les composants d'une solution DNS ?&#10;Qu'est-ce qu'une requête DNS ?&#10;Fonctionnement des requêtes récursives&#10;Fonctionnement des indications de racine&#10;Fonctionnement des requêtes itératives&#10;Fonctionnement des redirecteurs&#10;Fonctionnement de la mise en cache du serveur DNS&#10;Comment configurer les propriétés du service Serveur DNS"/>
  <p:tag name="PPWINALREADYSEGMENTED" val="True"/>
  <p:tag name="PPWINTOTALSEGMENTS" val="8"/>
</p:tagLst>
</file>

<file path=ppt/tags/tag45.xml><?xml version="1.0" encoding="utf-8"?>
<p:tagLst xmlns:a="http://schemas.openxmlformats.org/drawingml/2006/main" xmlns:r="http://schemas.openxmlformats.org/officeDocument/2006/relationships" xmlns:p="http://schemas.openxmlformats.org/presentationml/2006/main">
  <p:tag name="PPWINTOTALSEGMENTS" val="0"/>
</p:tagLst>
</file>

<file path=ppt/tags/tag46.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60\b\cf0 What Are the Components of a DNS Solution?\par}}"/>
  <p:tag name="PPWINLASTSAVEDTRANSLATION" val="Quels sont les composants d'une solution DNS ?"/>
  <p:tag name="PPWINALREADYSEGMENTED" val="True"/>
  <p:tag name="PPWINTOTALSEGMENTS" val="1"/>
  <p:tag name="PPWINSEGMENT1TARGETRTF" val="{\rtf1\ansi\deff0{\fonttbl{\f0\fcharset0 Arial Narrow;}}{\colortbl\red0\green0\blue0;}{\f0\fs60\b\cf0 Quels sont les composants d'une solution DNS ?\par}}"/>
</p:tagLst>
</file>

<file path=ppt/tags/tag4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36\b\cf0 DNS Servers on the Internet\par}}"/>
  <p:tag name="PPWINLASTSAVEDTRANSLATION" val="Serveurs DNS sur Internet"/>
  <p:tag name="PPWINALREADYSEGMENTED" val="True"/>
  <p:tag name="PPWINTOTALSEGMENTS" val="1"/>
  <p:tag name="PPTAGGERGROUP" val="1"/>
  <p:tag name="PPWINSEGMENT1TARGETRTF" val="{\rtf1\ansi\deff0{\fonttbl{\f0\fcharset0 Arial Narrow;}}{\colortbl\red0\green0\blue0;}{\f0\fs36\b\cf0 Serveurs DNS sur Internet\par}}"/>
</p:tagLst>
</file>

<file path=ppt/tags/tag4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
  <p:tag name="PPWINSEGMENT1SOURCERTF" val="{\rtf1\ansi\deff0{\fonttbl{\f0\fcharset0 Arial Narrow;}}{\colortbl\red0\green0\blue0;}{\f0\fs36\b\cf0 DNS Servers\par}}"/>
  <p:tag name="PPWINLASTSAVEDTRANSLATION" val="serveurs DNS"/>
  <p:tag name="PPWINALREADYSEGMENTED" val="True"/>
  <p:tag name="PPWINTOTALSEGMENTS" val="1"/>
  <p:tag name="PPTAGGERGROUP" val="1"/>
  <p:tag name="PPWINSEGMENT1TARGETRTF" val="{\rtf1\ansi\deff0{\fonttbl{\f0\fcharset0 Arial Narrow;}}{\colortbl\red0\green0\blue0;}{\f0\fs36\b\cf0 serveurs DNS\par}}"/>
</p:tagLst>
</file>

<file path=ppt/tags/tag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DNS Clients\par}}"/>
  <p:tag name="PPWINLASTSAVEDTRANSLATION" val="Clients DNS"/>
  <p:tag name="PPWINALREADYSEGMENTED" val="True"/>
  <p:tag name="PPWINTOTALSEGMENTS" val="1"/>
  <p:tag name="PPTAGGERGROUP" val="1"/>
  <p:tag name="PPWINSEGMENT1TARGETRTF" val="{\rtf1\ansi\deff0{\fonttbl{\f0\fcharset0 Arial Narrow;}}{\colortbl\red0\green0\blue0;}{\f0\fs36\b\cf0 Clients DNS\par}}"/>
</p:tagLst>
</file>

<file path=ppt/tags/tag50.xml><?xml version="1.0" encoding="utf-8"?>
<p:tagLst xmlns:a="http://schemas.openxmlformats.org/drawingml/2006/main" xmlns:r="http://schemas.openxmlformats.org/officeDocument/2006/relationships" xmlns:p="http://schemas.openxmlformats.org/presentationml/2006/main">
  <p:tag name="PPTAGGERGROUP" val="1"/>
</p:tagLst>
</file>

<file path=ppt/tags/tag51.xml><?xml version="1.0" encoding="utf-8"?>
<p:tagLst xmlns:a="http://schemas.openxmlformats.org/drawingml/2006/main" xmlns:r="http://schemas.openxmlformats.org/officeDocument/2006/relationships" xmlns:p="http://schemas.openxmlformats.org/presentationml/2006/main">
  <p:tag name="PPTAGGERGROUP" val="1"/>
</p:tagLst>
</file>

<file path=ppt/tags/tag52.xml><?xml version="1.0" encoding="utf-8"?>
<p:tagLst xmlns:a="http://schemas.openxmlformats.org/drawingml/2006/main" xmlns:r="http://schemas.openxmlformats.org/officeDocument/2006/relationships" xmlns:p="http://schemas.openxmlformats.org/presentationml/2006/main">
  <p:tag name="PPTAGGERGROUP" val="1"/>
</p:tagLst>
</file>

<file path=ppt/tags/tag53.xml><?xml version="1.0" encoding="utf-8"?>
<p:tagLst xmlns:a="http://schemas.openxmlformats.org/drawingml/2006/main" xmlns:r="http://schemas.openxmlformats.org/officeDocument/2006/relationships" xmlns:p="http://schemas.openxmlformats.org/presentationml/2006/main">
  <p:tag name="PPTAGGERGROUP" val="1"/>
</p:tagLst>
</file>

<file path=ppt/tags/tag54.xml><?xml version="1.0" encoding="utf-8"?>
<p:tagLst xmlns:a="http://schemas.openxmlformats.org/drawingml/2006/main" xmlns:r="http://schemas.openxmlformats.org/officeDocument/2006/relationships" xmlns:p="http://schemas.openxmlformats.org/presentationml/2006/main">
  <p:tag name="PPTAGGERGROUP" val="1"/>
</p:tagLst>
</file>

<file path=ppt/tags/tag55.xml><?xml version="1.0" encoding="utf-8"?>
<p:tagLst xmlns:a="http://schemas.openxmlformats.org/drawingml/2006/main" xmlns:r="http://schemas.openxmlformats.org/officeDocument/2006/relationships" xmlns:p="http://schemas.openxmlformats.org/presentationml/2006/main">
  <p:tag name="PPTAGGERGROUP" val="1"/>
</p:tagLst>
</file>

<file path=ppt/tags/tag56.xml><?xml version="1.0" encoding="utf-8"?>
<p:tagLst xmlns:a="http://schemas.openxmlformats.org/drawingml/2006/main" xmlns:r="http://schemas.openxmlformats.org/officeDocument/2006/relationships" xmlns:p="http://schemas.openxmlformats.org/presentationml/2006/main">
  <p:tag name="PPTAGGERGROUP" val="1"/>
</p:tagLst>
</file>

<file path=ppt/tags/tag57.xml><?xml version="1.0" encoding="utf-8"?>
<p:tagLst xmlns:a="http://schemas.openxmlformats.org/drawingml/2006/main" xmlns:r="http://schemas.openxmlformats.org/officeDocument/2006/relationships" xmlns:p="http://schemas.openxmlformats.org/presentationml/2006/main">
  <p:tag name="PPTAGGERGROUP" val="1"/>
</p:tagLst>
</file>

<file path=ppt/tags/tag58.xml><?xml version="1.0" encoding="utf-8"?>
<p:tagLst xmlns:a="http://schemas.openxmlformats.org/drawingml/2006/main" xmlns:r="http://schemas.openxmlformats.org/officeDocument/2006/relationships" xmlns:p="http://schemas.openxmlformats.org/presentationml/2006/main">
  <p:tag name="PPTAGGERGROUP" val="1"/>
</p:tagLst>
</file>

<file path=ppt/tags/tag59.xml><?xml version="1.0" encoding="utf-8"?>
<p:tagLst xmlns:a="http://schemas.openxmlformats.org/drawingml/2006/main" xmlns:r="http://schemas.openxmlformats.org/officeDocument/2006/relationships" xmlns:p="http://schemas.openxmlformats.org/presentationml/2006/main">
  <p:tag name="PPTAGGERGROUP" val="1"/>
</p:tagLst>
</file>

<file path=ppt/tags/tag60.xml><?xml version="1.0" encoding="utf-8"?>
<p:tagLst xmlns:a="http://schemas.openxmlformats.org/drawingml/2006/main" xmlns:r="http://schemas.openxmlformats.org/officeDocument/2006/relationships" xmlns:p="http://schemas.openxmlformats.org/presentationml/2006/main">
  <p:tag name="PPTAGGERGROUP" val="1"/>
</p:tagLst>
</file>

<file path=ppt/tags/tag61.xml><?xml version="1.0" encoding="utf-8"?>
<p:tagLst xmlns:a="http://schemas.openxmlformats.org/drawingml/2006/main" xmlns:r="http://schemas.openxmlformats.org/officeDocument/2006/relationships" xmlns:p="http://schemas.openxmlformats.org/presentationml/2006/main">
  <p:tag name="PPTAGGERGROUP" val="1"/>
</p:tagLst>
</file>

<file path=ppt/tags/tag62.xml><?xml version="1.0" encoding="utf-8"?>
<p:tagLst xmlns:a="http://schemas.openxmlformats.org/drawingml/2006/main" xmlns:r="http://schemas.openxmlformats.org/officeDocument/2006/relationships" xmlns:p="http://schemas.openxmlformats.org/presentationml/2006/main">
  <p:tag name="PPTAGGERGROUP" val="1"/>
</p:tagLst>
</file>

<file path=ppt/tags/tag6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Root \'93.\'94\par}}"/>
  <p:tag name="PPWINLASTSAVEDTRANSLATION" val="Racine «.»"/>
  <p:tag name="PPWINALREADYSEGMENTED" val="True"/>
  <p:tag name="PPWINTOTALSEGMENTS" val="1"/>
  <p:tag name="PPTAGGERGROUP" val="1"/>
  <p:tag name="PPWINSEGMENT1TARGETRTF" val="{\rtf1\ansi\deff0{\fonttbl{\f0\fcharset0 Arial Narrow;}}{\colortbl\red0\green0\blue0;}{\f0\fs36\b\cf0 Racine \'AB.\'BB\par}}"/>
</p:tagLst>
</file>

<file path=ppt/tags/tag64.xml><?xml version="1.0" encoding="utf-8"?>
<p:tagLst xmlns:a="http://schemas.openxmlformats.org/drawingml/2006/main" xmlns:r="http://schemas.openxmlformats.org/officeDocument/2006/relationships" xmlns:p="http://schemas.openxmlformats.org/presentationml/2006/main">
  <p:tag name="PPTAGGERGROUP" val="1"/>
</p:tagLst>
</file>

<file path=ppt/tags/tag65.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4"/>
  <p:tag name="PPWINSEGMENT1SOURCERTF" val="{\rtf1\ansi\deff0{\fonttbl{\f0\fcharset0 Arial Narrow;}}{\colortbl\red0\green0\blue0;}{\f0\fs36\b\cf0 .com\par}}"/>
  <p:tag name="PPWINSEGMENT1TARGETRTF" val="{\rtf1\ansi\deff1{\fonttbl{\f1\fcharset0 Arial;}{\f2\fcharset0 Arial Narrow;}}{\colortbl\red0\green0\blue0;}{\f2\fs36\b\cf0 .com\par}}"/>
  <p:tag name="PPWINLASTSAVEDTRANSLATION" val=".com"/>
  <p:tag name="PPWINALREADYSEGMENTED" val="True"/>
  <p:tag name="PPWINTOTALSEGMENTS" val="1"/>
</p:tagLst>
</file>

<file path=ppt/tags/tag66.xml><?xml version="1.0" encoding="utf-8"?>
<p:tagLst xmlns:a="http://schemas.openxmlformats.org/drawingml/2006/main" xmlns:r="http://schemas.openxmlformats.org/officeDocument/2006/relationships" xmlns:p="http://schemas.openxmlformats.org/presentationml/2006/main">
  <p:tag name="PPTAGGERGROUP" val="1"/>
</p:tagLst>
</file>

<file path=ppt/tags/tag67.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4"/>
  <p:tag name="PPWINSEGMENT1SOURCERTF" val="{\rtf1\ansi\deff0{\fonttbl{\f0\fcharset0 Arial Narrow;}}{\colortbl\red0\green0\blue0;}{\f0\fs36\b\cf0 .edu\par}}"/>
  <p:tag name="PPWINSEGMENT1TARGETRTF" val="{\rtf1\ansi\deff1{\fonttbl{\f1\fcharset0 Arial;}{\f2\fcharset0 Arial Narrow;}}{\colortbl\red0\green0\blue0;}{\f2\fs36\b\cf0 .edu\par}}"/>
  <p:tag name="PPWINLASTSAVEDTRANSLATION" val=".edu"/>
  <p:tag name="PPWINALREADYSEGMENTED" val="True"/>
  <p:tag name="PPWINTOTALSEGMENTS" val="1"/>
</p:tagLst>
</file>

<file path=ppt/tags/tag68.xml><?xml version="1.0" encoding="utf-8"?>
<p:tagLst xmlns:a="http://schemas.openxmlformats.org/drawingml/2006/main" xmlns:r="http://schemas.openxmlformats.org/officeDocument/2006/relationships" xmlns:p="http://schemas.openxmlformats.org/presentationml/2006/main">
  <p:tag name="PPTAGGERGROUP" val="1"/>
</p:tagLst>
</file>

<file path=ppt/tags/tag69.xml><?xml version="1.0" encoding="utf-8"?>
<p:tagLst xmlns:a="http://schemas.openxmlformats.org/drawingml/2006/main" xmlns:r="http://schemas.openxmlformats.org/officeDocument/2006/relationships" xmlns:p="http://schemas.openxmlformats.org/presentationml/2006/main">
  <p:tag name="PPTAGGERGROUP" val="1"/>
</p:tagLst>
</file>

<file path=ppt/tags/tag70.xml><?xml version="1.0" encoding="utf-8"?>
<p:tagLst xmlns:a="http://schemas.openxmlformats.org/drawingml/2006/main" xmlns:r="http://schemas.openxmlformats.org/officeDocument/2006/relationships" xmlns:p="http://schemas.openxmlformats.org/presentationml/2006/main">
  <p:tag name="PPTAGGERGROUP" val="1"/>
</p:tagLst>
</file>

<file path=ppt/tags/tag71.xml><?xml version="1.0" encoding="utf-8"?>
<p:tagLst xmlns:a="http://schemas.openxmlformats.org/drawingml/2006/main" xmlns:r="http://schemas.openxmlformats.org/officeDocument/2006/relationships" xmlns:p="http://schemas.openxmlformats.org/presentationml/2006/main">
  <p:tag name="PPTAGGERGROUP" val="1"/>
</p:tagLst>
</file>

<file path=ppt/tags/tag72.xml><?xml version="1.0" encoding="utf-8"?>
<p:tagLst xmlns:a="http://schemas.openxmlformats.org/drawingml/2006/main" xmlns:r="http://schemas.openxmlformats.org/officeDocument/2006/relationships" xmlns:p="http://schemas.openxmlformats.org/presentationml/2006/main">
  <p:tag name="PPTAGGERGROUP" val="1"/>
</p:tagLst>
</file>

<file path=ppt/tags/tag73.xml><?xml version="1.0" encoding="utf-8"?>
<p:tagLst xmlns:a="http://schemas.openxmlformats.org/drawingml/2006/main" xmlns:r="http://schemas.openxmlformats.org/officeDocument/2006/relationships" xmlns:p="http://schemas.openxmlformats.org/presentationml/2006/main">
  <p:tag name="PPTAGGERGROUP" val="1"/>
  <p:tag name="PPWINDOWLASTEDITMARKER" val="17"/>
  <p:tag name="PPWINSEGMENT1START" val="1"/>
  <p:tag name="PPWINSEGMENT1LENGTH" val="15"/>
  <p:tag name="PPWINSEGMENT1SOURCERTF" val="{\rtf1\ansi\deff0{\fonttbl{\f0\fcharset0 Arial Narrow;}}{\colortbl\red0\green0\blue0;}{\f0\fs36\b\cf0 Resource\par}}"/>
  <p:tag name="PPWINSEGMENT1TARGETRTF" val="{\rtf1\ansi\deff1{\fonttbl{\f1\fcharset0 Arial;}{\f2\fcharset0 Arial Narrow;}}{\colortbl\red0\green0\blue0;}{\f2\fs36\b\cf0 Enregistrements\par}}"/>
  <p:tag name="PPWINSEGMENT2START" val="17"/>
  <p:tag name="PPWINSEGMENT2LENGTH" val="13"/>
  <p:tag name="PPWINSEGMENT2SOURCERTF" val="{\rtf1\ansi\deff0{\fonttbl{\f0\fcharset0 Arial Narrow;}}{\colortbl\red0\green0\blue0;}{\f0\fs36\b\cf0 Record\par}}"/>
  <p:tag name="PPWINSEGMENT2TARGETRTF" val="{\rtf1\ansi\deff1{\fonttbl{\f1\fcharset0 Arial;}{\f2\fcharset0 Arial Narrow;}}{\colortbl\red0\green0\blue0;}{\f2\fs36\b\cf0 de ressources\par}}"/>
  <p:tag name="PPWINLASTSAVEDTRANSLATION" val="Enregistrements&#10;de ressources"/>
  <p:tag name="PPWINALREADYSEGMENTED" val="True"/>
  <p:tag name="PPWINTOTALSEGMENTS" val="2"/>
</p:tagLst>
</file>

<file path=ppt/tags/tag74.xml><?xml version="1.0" encoding="utf-8"?>
<p:tagLst xmlns:a="http://schemas.openxmlformats.org/drawingml/2006/main" xmlns:r="http://schemas.openxmlformats.org/officeDocument/2006/relationships" xmlns:p="http://schemas.openxmlformats.org/presentationml/2006/main">
  <p:tag name="PPTAGGERGROUP" val="1"/>
</p:tagLst>
</file>

<file path=ppt/tags/tag75.xml><?xml version="1.0" encoding="utf-8"?>
<p:tagLst xmlns:a="http://schemas.openxmlformats.org/drawingml/2006/main" xmlns:r="http://schemas.openxmlformats.org/officeDocument/2006/relationships" xmlns:p="http://schemas.openxmlformats.org/presentationml/2006/main">
  <p:tag name="PPTAGGERGROUP" val="1"/>
  <p:tag name="PPWINDOWLASTEDITMARKER" val="17"/>
  <p:tag name="PPWINSEGMENT1START" val="1"/>
  <p:tag name="PPWINSEGMENT1LENGTH" val="15"/>
  <p:tag name="PPWINSEGMENT1SOURCERTF" val="{\rtf1\ansi\deff0{\fonttbl{\f0\fcharset0 Arial Narrow;}}{\colortbl\red0\green0\blue0;}{\f0\fs36\b\cf0 Resource\par}}"/>
  <p:tag name="PPWINSEGMENT1TARGETRTF" val="{\rtf1\ansi\deff1{\fonttbl{\f1\fcharset0 Arial;}{\f2\fcharset0 Arial Narrow;}}{\colortbl\red0\green0\blue0;}{\f2\fs36\b\cf0 Enregistrements\par}}"/>
  <p:tag name="PPWINSEGMENT2START" val="17"/>
  <p:tag name="PPWINSEGMENT2LENGTH" val="13"/>
  <p:tag name="PPWINSEGMENT2SOURCERTF" val="{\rtf1\ansi\deff0{\fonttbl{\f0\fcharset0 Arial Narrow;}}{\colortbl\red0\green0\blue0;}{\f0\fs36\b\cf0 Record\par}}"/>
  <p:tag name="PPWINSEGMENT2TARGETRTF" val="{\rtf1\ansi\deff1{\fonttbl{\f1\fcharset0 Arial;}{\f2\fcharset0 Arial Narrow;}}{\colortbl\red0\green0\blue0;}{\f2\fs36\b\cf0 de ressources\par}}"/>
  <p:tag name="PPWINLASTSAVEDTRANSLATION" val="Enregistrements&#10;de ressources"/>
  <p:tag name="PPWINALREADYSEGMENTED" val="True"/>
  <p:tag name="PPWINTOTALSEGMENTS" val="2"/>
</p:tagLst>
</file>

<file path=ppt/tags/tag76.xml><?xml version="1.0" encoding="utf-8"?>
<p:tagLst xmlns:a="http://schemas.openxmlformats.org/drawingml/2006/main" xmlns:r="http://schemas.openxmlformats.org/officeDocument/2006/relationships" xmlns:p="http://schemas.openxmlformats.org/presentationml/2006/main">
  <p:tag name="PPWINTOTALSEGMENTS" val="0"/>
</p:tagLst>
</file>

<file path=ppt/tags/tag77.xml><?xml version="1.0" encoding="utf-8"?>
<p:tagLst xmlns:a="http://schemas.openxmlformats.org/drawingml/2006/main" xmlns:r="http://schemas.openxmlformats.org/officeDocument/2006/relationships" xmlns:p="http://schemas.openxmlformats.org/presentationml/2006/main">
  <p:tag name="PPWINSEGMENT1START" val="1"/>
  <p:tag name="PPWINSEGMENT1LENGTH" val="30"/>
  <p:tag name="PPWINSEGMENT1SOURCERTF" val="{\rtf1\ansi\deff0{\fonttbl{\f0\fcharset0 Arial Narrow;}}{\colortbl\red0\green0\blue0;}{\f0\fs60\b\cf0 What Is a DNS Query?\par}}"/>
  <p:tag name="PPWINLASTSAVEDTRANSLATION" val="Qu'est-ce qu'une requête DNS ?"/>
  <p:tag name="PPWINALREADYSEGMENTED" val="True"/>
  <p:tag name="PPWINTOTALSEGMENTS" val="1"/>
  <p:tag name="PPWINSEGMENT1TARGETRTF" val="{\rtf1\ansi\deff0{\fonttbl{\f0\fcharset0 Arial Narrow;}}{\colortbl\red0\green0\blue0;}{\f0\fs60\b\cf0 Qu'est-ce qu'une requ\'EAte DNS ?\par}}"/>
</p:tagLst>
</file>

<file path=ppt/tags/tag78.xml><?xml version="1.0" encoding="utf-8"?>
<p:tagLst xmlns:a="http://schemas.openxmlformats.org/drawingml/2006/main" xmlns:r="http://schemas.openxmlformats.org/officeDocument/2006/relationships" xmlns:p="http://schemas.openxmlformats.org/presentationml/2006/main">
  <p:tag name="PPWINSEGMENT1START" val="1"/>
  <p:tag name="PPWINSEGMENT1LENGTH" val="88"/>
  <p:tag name="PPWINSEGMENT1SOURCERTF" val="{\rtf1\ansi\deff0{\fonttbl{\f0\fcharset0 Arial Narrow;}}{\colortbl\red0\green0\blue0;}{\f0\fs44\b\cf0 DNS clients and DNS servers both initiate queries for name resolution\par}}"/>
  <p:tag name="PPWINSEGMENT1TARGETRTF" val="{\rtf1\ansi\deff0{\fonttbl{\f0\fcharset0 Arial Narrow;}}{\colortbl\red0\green0\blue0;}{\f0\fs44\b\cf0 Les clients DNS comme les serveurs DNS peuvent lancer des requ\'EAtes de r\'E9solution de noms\par}}"/>
  <p:tag name="PPWINSEGMENT2START" val="90"/>
  <p:tag name="PPWINSEGMENT2LENGTH" val="75"/>
  <p:tag name="PPWINSEGMENT2SOURCERTF" val="{\rtf1\ansi\deff0{\fonttbl{\f0\fcharset0 Arial Narrow;}}{\colortbl\red0\green0\blue0;}{\f0\fs44\b\cf0 An authoritative DNS server for the namespace of the query will either:\par}}"/>
  <p:tag name="PPWINSEGMENT2TARGETRTF" val="{\rtf1\ansi\deff1{\fonttbl{\f1\fcharset0 Arial;}{\f2\fcharset0 Arial Narrow;}}{\colortbl\red0\green0\blue0;}{\f2\fs44\b\cf0 Un serveur DNS qui fait autorit\'E9 pour l'espace de noms de la requ\'EAte peut :\par}}"/>
  <p:tag name="PPWINSEGMENT3START" val="166"/>
  <p:tag name="PPWINSEGMENT3LENGTH" val="66"/>
  <p:tag name="PPWINSEGMENT3SOURCERTF" val="{\rtf1\ansi\deff0{\fonttbl{\f0\fcharset0 Arial Narrow;}}{\colortbl\red0\green0\blue0;}{\f0\fs44\cf0 Check the cache, check the zone, and return the requested IP address\par}}"/>
  <p:tag name="PPWINSEGMENT3TARGETRTF" val="{\rtf1\ansi\deff0{\fonttbl{\f0\fcharset0 Arial Narrow;}}{\colortbl\red0\green0\blue0;}{\f0\fs44\cf0 Consulter le cache et la zone, puis renvoyer l'adresse IP demand\'E9e\par}}"/>
  <p:tag name="PPWINSEGMENT4START" val="233"/>
  <p:tag name="PPWINSEGMENT4LENGTH" val="47"/>
  <p:tag name="PPWINSEGMENT4SOURCERTF" val="{\rtf1\ansi\deff0{\fonttbl{\f0\fcharset0 Arial Narrow;}}{\colortbl\red0\green0\blue0;}{\f0\fs44\cf0 Return an authoritative, \'93No\'94\par}}"/>
  <p:tag name="PPWINSEGMENT4TARGETRTF" val="{\rtf1\ansi\deff0{\fonttbl{\f0\fcharset0 Arial Narrow;}}{\colortbl\red0\green0\blue0;}{\f0\fs44\cf0 Renvoyer une r\'E9ponse n\'E9gative qui fait autorit\'E9\par}}"/>
  <p:tag name="PPWINSEGMENT5START" val="281"/>
  <p:tag name="PPWINSEGMENT5LENGTH" val="82"/>
  <p:tag name="PPWINSEGMENT5SOURCERTF" val="{\rtf1\ansi\deff0{\fonttbl{\f0\fcharset0 Arial Narrow;}}{\colortbl\red0\green0\blue0;}{\f0\fs44\b\cf0 A non-authoritative DNS server for the namespace of the query will either:\par}}"/>
  <p:tag name="PPWINSEGMENT5TARGETRTF" val="{\rtf1\ansi\deff0{\fonttbl{\f0\fcharset0 Arial Narrow;}}{\colortbl\red0\green0\blue0;}{\f0\fs44\b\cf0 Un serveur DNS qui ne fait pas autorit\'E9 pour l'espace de noms de la requ\'EAte peut :\par}}"/>
  <p:tag name="PPWINSEGMENT6START" val="364"/>
  <p:tag name="PPWINSEGMENT6LENGTH" val="92"/>
  <p:tag name="PPWINSEGMENT6SOURCERTF" val="{\rtf1\ansi\deff0{\fonttbl{\f0\fcharset0 Arial Narrow;}}{\colortbl\red0\green0\blue0;}{\f0\fs44\cf0 Forward the unresolvable query to a specific query server called a Forwarder\par}}"/>
  <p:tag name="PPWINSEGMENT6TARGETRTF" val="{\rtf1\ansi\deff0{\fonttbl{\f0\fcharset0 Arial Narrow;}}{\colortbl\red0\green0\blue0;}{\f0\fs44\cf0 Transmettre la requ\'EAte qu'il ne sait pas r\'E9soudre \'E0 un serveur sp\'E9cifique appel\'E9 redirecteur\par}}"/>
  <p:tag name="PPWINSEGMENT7START" val="457"/>
  <p:tag name="PPWINSEGMENT7LENGTH" val="72"/>
  <p:tag name="PPWINSEGMENT7SOURCERTF" val="{\rtf1\ansi\deff0{\fonttbl{\f0\fcharset0 Arial Narrow;}}{\colortbl\red0\green0\blue0;}{\f0\fs44\cf0 Use root hints to locate an answer for the query\par}}"/>
  <p:tag name="PPWINSEGMENT7TARGETRTF" val="{\rtf1\ansi\deff0{\fonttbl{\f0\fcharset0 Arial Narrow;}}{\colortbl\red0\green0\blue0;}{\f0\fs44\cf0 Utiliser les indications de racine pour trouver une r\'E9ponse \'E0 la requ\'EAte\par}}"/>
  <p:tag name="PPWINLASTSAVEDTRANSLATION" val="Les clients DNS comme les serveurs DNS peuvent lancer des requêtes de résolution de noms&#10;Un serveur DNS qui fait autorité pour l'espace de noms de la requête peut :&#10;Consulter le cache et la zone, puis renvoyer l'adresse IP demandée&#10;Renvoyer une réponse négative qui fait autorité&#10;Un serveur DNS qui ne fait pas autorité pour l'espace de noms de la requête peut :&#10;Transmettre la requête qu'il ne sait pas résoudre à un serveur spécifique appelé redirecteur&#10;Utiliser les indications de racine pour trouver une réponse à la requête"/>
  <p:tag name="PPWINALREADYSEGMENTED" val="True"/>
  <p:tag name="PPWINTOTALSEGMENTS" val="7"/>
</p:tagLst>
</file>

<file path=ppt/tags/tag79.xml><?xml version="1.0" encoding="utf-8"?>
<p:tagLst xmlns:a="http://schemas.openxmlformats.org/drawingml/2006/main" xmlns:r="http://schemas.openxmlformats.org/officeDocument/2006/relationships" xmlns:p="http://schemas.openxmlformats.org/presentationml/2006/main">
  <p:tag name="PPWINTOTALSEGMENTS" val="0"/>
</p:tagLst>
</file>

<file path=ppt/tags/tag80.xml><?xml version="1.0" encoding="utf-8"?>
<p:tagLst xmlns:a="http://schemas.openxmlformats.org/drawingml/2006/main" xmlns:r="http://schemas.openxmlformats.org/officeDocument/2006/relationships" xmlns:p="http://schemas.openxmlformats.org/presentationml/2006/main">
  <p:tag name="PPWINSEGMENT1START" val="1"/>
  <p:tag name="PPWINSEGMENT1LENGTH" val="30"/>
  <p:tag name="PPWINSEGMENT1SOURCERTF" val="{\rtf1\ansi\deff0{\fonttbl{\f0\fcharset0 Arial Narrow;}}{\colortbl\red0\green0\blue0;}{\f0\fs60\b\cf0 What Is a DNS Query?\par}}"/>
  <p:tag name="PPWINLASTSAVEDTRANSLATION" val="Qu'est-ce qu'une requête DNS ?"/>
  <p:tag name="PPWINALREADYSEGMENTED" val="True"/>
  <p:tag name="PPWINTOTALSEGMENTS" val="1"/>
  <p:tag name="PPWINSEGMENT1TARGETRTF" val="{\rtf1\ansi\deff0{\fonttbl{\f0\fcharset0 Arial Narrow;}}{\colortbl\red0\green0\blue0;}{\f0\fs60\b\cf0 Qu'est-ce qu'une requ\'EAte DNS ?\par}}"/>
</p:tagLst>
</file>

<file path=ppt/tags/tag81.xml><?xml version="1.0" encoding="utf-8"?>
<p:tagLst xmlns:a="http://schemas.openxmlformats.org/drawingml/2006/main" xmlns:r="http://schemas.openxmlformats.org/officeDocument/2006/relationships" xmlns:p="http://schemas.openxmlformats.org/presentationml/2006/main">
  <p:tag name="PPWINSEGMENT1START" val="1"/>
  <p:tag name="PPWINSEGMENT1LENGTH" val="75"/>
  <p:tag name="PPWINSEGMENT1SOURCERTF" val="{\rtf1\ansi\deff0{\fonttbl{\f0\fcharset0 Arial Narrow;}}{\colortbl\red0\green0\blue0;}{\f0\fs44\b\cf0 A }{\f0\fs44\b\i\cf0 query}{\f0\fs44\b\cf0  is a request for name resolution to a DNS server.\par}}"/>
  <p:tag name="PPWINSEGMENT2START" val="77"/>
  <p:tag name="PPWINSEGMENT2LENGTH" val="34"/>
  <p:tag name="PPWINSEGMENT2SOURCERTF" val="{\rtf1\ansi\deff0{\fonttbl{\f0\fcharset0 Arial Narrow;}}{\colortbl\red0\green0\blue0;}{\f0\fs44\b\cf0 There are two types of queries:\par}}"/>
  <p:tag name="PPWINSEGMENT3START" val="112"/>
  <p:tag name="PPWINSEGMENT3LENGTH" val="43"/>
  <p:tag name="PPWINSEGMENT3SOURCERTF" val="{\rtf1\ansi\deff0{\fonttbl{\f0\fcharset0 Arial Narrow;}}{\colortbl\red0\green0\blue0;}{\f0\fs44\b\cf0 recursive and iterative\par}}"/>
  <p:tag name="PPWINLASTSAVEDTRANSLATION" val="Une requête est une demande de résolution de noms envoyée à un serveur DNS. Il existe deux types de requêtes : requêtes récursives et requêtes itératives."/>
  <p:tag name="PPWINALREADYSEGMENTED" val="True"/>
  <p:tag name="PPWINTOTALSEGMENTS" val="3"/>
  <p:tag name="PPWINSEGMENT1TARGETRTF" val="{\rtf1\ansi\deff0{\fonttbl{\f0\fcharset0 Arial Narrow;}}{\colortbl\red0\green0\blue0;}{\f0\fs44\b\cf0 Une }{\f0\fs44\b\i\cf0 requ\'EAte}{\f0\fs44\b\cf0  est une demande de r\'E9solution de noms envoy\'E9e \'E0 un serveur DNS.\par}}"/>
  <p:tag name="PPWINSEGMENT2TARGETRTF" val="{\rtf1\ansi\deff0{\fonttbl{\f0\fcharset0 Arial Narrow;}}{\colortbl\red0\green0\blue0;}{\f0\fs44\b\cf0 Il existe deux types de requ\'EAtes :\par}}"/>
  <p:tag name="PPWINSEGMENT3TARGETRTF" val="{\rtf1\ansi\deff0{\fonttbl{\f0\fcharset0 Arial Narrow;}}{\colortbl\red0\green0\blue0;}{\f0\fs44\b\cf0 requ\'EAtes r\'E9cursives et requ\'EAtes it\'E9ratives.\par}}"/>
</p:tagLst>
</file>

<file path=ppt/tags/tag82.xml><?xml version="1.0" encoding="utf-8"?>
<p:tagLst xmlns:a="http://schemas.openxmlformats.org/drawingml/2006/main" xmlns:r="http://schemas.openxmlformats.org/officeDocument/2006/relationships" xmlns:p="http://schemas.openxmlformats.org/presentationml/2006/main">
  <p:tag name="PPWINTOTALSEGMENTS" val="0"/>
</p:tagLst>
</file>

<file path=ppt/tags/tag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60\b\cf0 How Recursive Queries Work\par}}"/>
  <p:tag name="PPWINSEGMENT1TARGETRTF" val="{\rtf1\ansi\deff1{\fonttbl{\f1\fcharset0 Arial;}{\f2\fcharset0 Arial Narrow;}}{\colortbl\red0\green0\blue0;}{\f2\fs60\b\cf0 Fonctionnement des requ\'EAtes r\'E9cursives\par}}"/>
  <p:tag name="PPWINLASTSAVEDTRANSLATION" val="Fonctionnement des requêtes récursives"/>
  <p:tag name="PPWINALREADYSEGMENTED" val="True"/>
  <p:tag name="PPWINTOTALSEGMENTS" val="1"/>
</p:tagLst>
</file>

<file path=ppt/tags/tag84.xml><?xml version="1.0" encoding="utf-8"?>
<p:tagLst xmlns:a="http://schemas.openxmlformats.org/drawingml/2006/main" xmlns:r="http://schemas.openxmlformats.org/officeDocument/2006/relationships" xmlns:p="http://schemas.openxmlformats.org/presentationml/2006/main">
  <p:tag name="PPWINTOTALSEGMENTS" val="0"/>
</p:tagLst>
</file>

<file path=ppt/tags/tag85.xml><?xml version="1.0" encoding="utf-8"?>
<p:tagLst xmlns:a="http://schemas.openxmlformats.org/drawingml/2006/main" xmlns:r="http://schemas.openxmlformats.org/officeDocument/2006/relationships" xmlns:p="http://schemas.openxmlformats.org/presentationml/2006/main">
  <p:tag name="PPWINSEGMENT1START" val="1"/>
  <p:tag name="PPWINSEGMENT1LENGTH" val="40"/>
  <p:tag name="PPWINSEGMENT1SOURCERTF" val="{\rtf1\ansi\deff0{\fonttbl{\f0\fcharset0 Arial Narrow;}}{\colortbl\red0\green0\blue0;}{\f0\fs60\b\cf0 How Root Hint Works\par}}"/>
  <p:tag name="PPWINSEGMENT1TARGETRTF" val="{\rtf1\ansi\deff1{\fonttbl{\f1\fcharset0 Arial;}{\f2\fcharset0 Arial Narrow;}}{\colortbl\red0\green0\blue0;}{\f2\fs60\b\cf0 Fonctionnement des indications de racine\par}}"/>
  <p:tag name="PPWINLASTSAVEDTRANSLATION" val="Fonctionnement des indications de racine"/>
  <p:tag name="PPWINALREADYSEGMENTED" val="True"/>
  <p:tag name="PPWINTOTALSEGMENTS" val="1"/>
</p:tagLst>
</file>

<file path=ppt/tags/tag8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65"/>
  <p:tag name="PPWINSEGMENT1SOURCERTF" val="{\rtf1\ansi\deff0{\fonttbl{\f0\fcharset0 Arial Narrow;}}{\colortbl\red0\green0\blue0;}{\f0\fs44\b\i\cf0 Root hints}{\f0\fs44\b\cf0  are DNS resource records stored on a DNS server that list the IP addresses for the DNS root servers\par}}"/>
  <p:tag name="PPWINSEGMENT1TARGETRTF" val="{\rtf1\ansi\deff1{\fonttbl{\f1\fcharset0 Arial;}{\f2\fcharset0 Arial Narrow;}}{\colortbl\red0\green0\blue0;}{\f2\fs44\b\cf0 Les }{\f2\fs44\b\i\cf0 indications de racine}{\f2\fs44\b\cf0  sont des enregistrements de ressources DNS stock\'E9s sur un serveur DNS qui r\'E9pertorient les adresses IP des serveurs racines du syst\'E8me DNS.\par}}"/>
  <p:tag name="PPWINLASTSAVEDTRANSLATION" val="Les indications de racine sont des enregistrements de ressources DNS stockés sur un serveur DNS qui répertorient les adresses IP des serveurs racines du système DNS."/>
  <p:tag name="PPWINALREADYSEGMENTED" val="True"/>
  <p:tag name="PPWINTOTALSEGMENTS" val="1"/>
</p:tagLst>
</file>

<file path=ppt/tags/tag87.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44\b\cf0 microsoft\par}}"/>
  <p:tag name="PPWINSEGMENT1TARGETRTF" val="{\rtf1\ansi\deff1{\fonttbl{\f1\fcharset0 Arial;}{\f2\fcharset0 Arial Narrow;}}{\colortbl\red0\green0\blue0;}{\f2\fs44\b\cf0 microsoft\par}}"/>
  <p:tag name="PPWINLASTSAVEDTRANSLATION" val="microsoft"/>
  <p:tag name="PPWINALREADYSEGMENTED" val="True"/>
  <p:tag name="PPWINTOTALSEGMENTS" val="1"/>
</p:tagLst>
</file>

<file path=ppt/tags/tag88.xml><?xml version="1.0" encoding="utf-8"?>
<p:tagLst xmlns:a="http://schemas.openxmlformats.org/drawingml/2006/main" xmlns:r="http://schemas.openxmlformats.org/officeDocument/2006/relationships" xmlns:p="http://schemas.openxmlformats.org/presentationml/2006/main">
  <p:tag name="PPTAGGERGROUP" val="1"/>
</p:tagLst>
</file>

<file path=ppt/tags/tag89.xml><?xml version="1.0" encoding="utf-8"?>
<p:tagLst xmlns:a="http://schemas.openxmlformats.org/drawingml/2006/main" xmlns:r="http://schemas.openxmlformats.org/officeDocument/2006/relationships" xmlns:p="http://schemas.openxmlformats.org/presentationml/2006/main">
  <p:tag name="PPTAGGERGROUP" val="1"/>
</p:tagLst>
</file>

<file path=ppt/tags/tag90.xml><?xml version="1.0" encoding="utf-8"?>
<p:tagLst xmlns:a="http://schemas.openxmlformats.org/drawingml/2006/main" xmlns:r="http://schemas.openxmlformats.org/officeDocument/2006/relationships" xmlns:p="http://schemas.openxmlformats.org/presentationml/2006/main">
  <p:tag name="PPTAGGERGROUP" val="1"/>
</p:tagLst>
</file>

<file path=ppt/tags/tag9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Cluster of\par}}"/>
  <p:tag name="PPWINSEGMENT1TARGETRTF" val="{\rtf1\ansi\deff1{\fonttbl{\f1\fcharset0 Arial;}{\f2\fcharset0 Arial Narrow;}}{\colortbl\red0\green0\blue0;}{\f2\fs36\b\cf0 Cluster de\par}}"/>
  <p:tag name="PPWINSEGMENT2START" val="12"/>
  <p:tag name="PPWINSEGMENT2LENGTH" val="12"/>
  <p:tag name="PPWINSEGMENT2SOURCERTF" val="{\rtf1\ansi\deff0{\fonttbl{\f0\fcharset0 Arial Narrow;}}{\colortbl\red0\green0\blue0;}{\f0\fs36\b\cf0 DNS Servers\par}}"/>
  <p:tag name="PPWINSEGMENT2TARGETRTF" val="{\rtf1\ansi\deff1{\fonttbl{\f1\fcharset0 Arial;}{\f2\fcharset0 Arial Narrow;}}{\colortbl\red0\green0\blue0;}{\f2\fs36\b\cf0 serveurs DNS\par}}"/>
  <p:tag name="PPWINLASTSAVEDTRANSLATION" val="Cluster de&#10;serveurs DNS"/>
  <p:tag name="PPWINALREADYSEGMENTED" val="True"/>
  <p:tag name="PPWINTOTALSEGMENTS" val="2"/>
</p:tagLst>
</file>

<file path=ppt/tags/tag92.xml><?xml version="1.0" encoding="utf-8"?>
<p:tagLst xmlns:a="http://schemas.openxmlformats.org/drawingml/2006/main" xmlns:r="http://schemas.openxmlformats.org/officeDocument/2006/relationships" xmlns:p="http://schemas.openxmlformats.org/presentationml/2006/main">
  <p:tag name="PPWINSEGMENT1START" val="1"/>
  <p:tag name="PPWINSEGMENT1LENGTH" val="5"/>
  <p:tag name="PPWINSEGMENT1SOURCERTF" val="{\rtf1\ansi\deff0{\fonttbl{\f0\fcharset0 Arial Narrow;}}{\colortbl\red0\green0\blue0;}{\f0\fs36\b\cf0 DNS Server\par}}"/>
  <p:tag name="PPWINSEGMENT1TARGETRTF" val="{\rtf1\ansi\deff1{\fonttbl{\f1\fcharset0 Arial;}{\f2\fcharset0 Arial Narrow;}}{\colortbl\red0\green0\blue0;}{\f2\fs36\b\cf0 local\par}}"/>
  <p:tag name="PPWINLASTSAVEDTRANSLATION" val="local"/>
  <p:tag name="PPWINALREADYSEGMENTED" val="True"/>
  <p:tag name="PPWINTOTALSEGMENTS" val="1"/>
</p:tagLst>
</file>

<file path=ppt/tags/tag9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Cluster of \par}}"/>
  <p:tag name="PPWINSEGMENT1TARGETRTF" val="{\rtf1\ansi\deff1{\fonttbl{\f1\fcharset0 Arial;}{\f2\fcharset0 Arial Narrow;}}{\colortbl\red0\green0\blue0;}{\f2\fs36\b\cf0 Cluster de\par}}"/>
  <p:tag name="PPWINSEGMENT2START" val="12"/>
  <p:tag name="PPWINSEGMENT2LENGTH" val="20"/>
  <p:tag name="PPWINSEGMENT2SOURCERTF" val="{\rtf1\ansi\deff0{\fonttbl{\f0\fcharset0 Arial Narrow;}}{\colortbl\red0\green0\blue0;}{\f0\fs36\b\cf0 Root (.) Servers\par}}"/>
  <p:tag name="PPWINSEGMENT2TARGETRTF" val="{\rtf1\ansi\deff1{\fonttbl{\f1\fcharset0 Arial;}{\f2\fcharset0 Arial Narrow;}}{\colortbl\red0\green0\blue0;}{\f2\fs36\b\cf0 serveurs racines (.)\par}}"/>
  <p:tag name="PPWINLASTSAVEDTRANSLATION" val="Cluster de&#10;serveurs racines (.)"/>
  <p:tag name="PPWINALREADYSEGMENTED" val="True"/>
  <p:tag name="PPWINTOTALSEGMENTS" val="2"/>
</p:tagLst>
</file>

<file path=ppt/tags/tag94.xml><?xml version="1.0" encoding="utf-8"?>
<p:tagLst xmlns:a="http://schemas.openxmlformats.org/drawingml/2006/main" xmlns:r="http://schemas.openxmlformats.org/officeDocument/2006/relationships" xmlns:p="http://schemas.openxmlformats.org/presentationml/2006/main">
  <p:tag name="PPWINSEGMENT1START" val="1"/>
  <p:tag name="PPWINSEGMENT1LENGTH" val="3"/>
  <p:tag name="PPWINSEGMENT1SOURCERTF" val="{\rtf1\ansi\deff0{\fonttbl{\f0\fcharset0 Arial Narrow;}}{\colortbl\red0\green0\blue0;}{\f0\fs44\b\cf0 com\par}}"/>
  <p:tag name="PPWINSEGMENT1TARGETRTF" val="{\rtf1\ansi\deff1{\fonttbl{\f1\fcharset0 Arial;}{\f2\fcharset0 Arial Narrow;}}{\colortbl\red0\green0\blue0;}{\f2\fs44\b\cf0 com\par}}"/>
  <p:tag name="PPWINLASTSAVEDTRANSLATION" val="com"/>
  <p:tag name="PPWINALREADYSEGMENTED" val="True"/>
  <p:tag name="PPWINTOTALSEGMENTS" val="1"/>
</p:tagLst>
</file>

<file path=ppt/tags/tag95.xml><?xml version="1.0" encoding="utf-8"?>
<p:tagLst xmlns:a="http://schemas.openxmlformats.org/drawingml/2006/main" xmlns:r="http://schemas.openxmlformats.org/officeDocument/2006/relationships" xmlns:p="http://schemas.openxmlformats.org/presentationml/2006/main">
  <p:tag name="PPWINSEGMENT1START" val="1"/>
  <p:tag name="PPWINSEGMENT1LENGTH" val="9"/>
  <p:tag name="PPWINSEGMENT1SOURCERTF" val="{\rtf1\ansi\deff0{\fonttbl{\f0\fcharset0 Arial Narrow;}}{\colortbl\red0\green0\blue0;}{\f0\fs36\b\cf0 Computer1\par}}"/>
  <p:tag name="PPWINSEGMENT1TARGETRTF" val="{\rtf1\ansi\deff1{\fonttbl{\f1\fcharset0 Arial;}{\f2\fcharset0 Arial Narrow;}}{\colortbl\red0\green0\blue0;}{\f2\fs36\b\cf0 Computer1\par}}"/>
  <p:tag name="PPWINLASTSAVEDTRANSLATION" val="Computer1"/>
  <p:tag name="PPWINALREADYSEGMENTED" val="True"/>
  <p:tag name="PPWINTOTALSEGMENTS" val="1"/>
</p:tagLst>
</file>

<file path=ppt/tags/tag9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36\b\cf0 Root Hints\par}}"/>
  <p:tag name="PPWINSEGMENT1TARGETRTF" val="{\rtf1\ansi\deff1{\fonttbl{\f1\fcharset0 Arial;}{\f2\fcharset0 Arial Narrow;}}{\colortbl\red0\green0\blue0;}{\f2\fs36\b\cf0 Indications de racine\par}}"/>
  <p:tag name="PPWINLASTSAVEDTRANSLATION" val="Indications de racine"/>
  <p:tag name="PPWINALREADYSEGMENTED" val="True"/>
  <p:tag name="PPWINTOTALSEGMENTS" val="1"/>
</p:tagLst>
</file>

<file path=ppt/tags/tag97.xml><?xml version="1.0" encoding="utf-8"?>
<p:tagLst xmlns:a="http://schemas.openxmlformats.org/drawingml/2006/main" xmlns:r="http://schemas.openxmlformats.org/officeDocument/2006/relationships" xmlns:p="http://schemas.openxmlformats.org/presentationml/2006/main">
  <p:tag name="PPTAGGERGROUP" val="2"/>
</p:tagLst>
</file>

<file path=ppt/tags/tag98.xml><?xml version="1.0" encoding="utf-8"?>
<p:tagLst xmlns:a="http://schemas.openxmlformats.org/drawingml/2006/main" xmlns:r="http://schemas.openxmlformats.org/officeDocument/2006/relationships" xmlns:p="http://schemas.openxmlformats.org/presentationml/2006/main">
  <p:tag name="PPTAGGERGROUP" val="2"/>
</p:tagLst>
</file>

<file path=ppt/tags/tag99.xml><?xml version="1.0" encoding="utf-8"?>
<p:tagLst xmlns:a="http://schemas.openxmlformats.org/drawingml/2006/main" xmlns:r="http://schemas.openxmlformats.org/officeDocument/2006/relationships" xmlns:p="http://schemas.openxmlformats.org/presentationml/2006/main">
  <p:tag name="PPTAGGERGROUP" val="2"/>
</p:tagLst>
</file>

<file path=ppt/tags/tag10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1.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60\b\cf0 How Iterative Queries Work\par}}"/>
  <p:tag name="PPWINSEGMENT1TARGETRTF" val="{\rtf1\ansi\deff1{\fonttbl{\f1\fcharset0 Arial;}{\f2\fcharset0 Arial Narrow;}}{\colortbl\red0\green0\blue0;}{\f2\fs60\b\cf0 Fonctionnement des requ\'EAtes it\'E9ratives\par}}"/>
  <p:tag name="PPWINLASTSAVEDTRANSLATION" val="Fonctionnement des requêtes itératives"/>
  <p:tag name="PPWINALREADYSEGMENTED" val="True"/>
  <p:tag name="PPWINTOTALSEGMENTS" val="1"/>
</p:tagLst>
</file>

<file path=ppt/tags/tag10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3.xml><?xml version="1.0" encoding="utf-8"?>
<p:tagLst xmlns:a="http://schemas.openxmlformats.org/drawingml/2006/main" xmlns:r="http://schemas.openxmlformats.org/officeDocument/2006/relationships" xmlns:p="http://schemas.openxmlformats.org/presentationml/2006/main">
  <p:tag name="PPWINSEGMENT1START" val="1"/>
  <p:tag name="PPWINSEGMENT1LENGTH" val="31"/>
  <p:tag name="PPWINSEGMENT1SOURCERTF" val="{\rtf1\ansi\deff0{\fonttbl{\f0\fcharset0 Arial Narrow;}}{\colortbl\red0\green0\blue0;}{\f0\fs60\b\cf0 How Forwarders Work\par}}"/>
  <p:tag name="PPWINSEGMENT1TARGETRTF" val="{\rtf1\ansi\deff1{\fonttbl{\f1\fcharset0 Arial;}{\f2\fcharset0 Arial Narrow;}}{\colortbl\red0\green0\blue0;}{\f2\fs60\b\cf0 Fonctionnement des redirecteurs\par}}"/>
  <p:tag name="PPWINLASTSAVEDTRANSLATION" val="Fonctionnement des redirecteurs"/>
  <p:tag name="PPWINALREADYSEGMENTED" val="True"/>
  <p:tag name="PPWINTOTALSEGMENTS" val="1"/>
</p:tagLst>
</file>

<file path=ppt/tags/tag10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5.xml><?xml version="1.0" encoding="utf-8"?>
<p:tagLst xmlns:a="http://schemas.openxmlformats.org/drawingml/2006/main" xmlns:r="http://schemas.openxmlformats.org/officeDocument/2006/relationships" xmlns:p="http://schemas.openxmlformats.org/presentationml/2006/main">
  <p:tag name="PPWINSEGMENT1START" val="1"/>
  <p:tag name="PPWINSEGMENT1LENGTH" val="49"/>
  <p:tag name="PPWINSEGMENT1SOURCERTF" val="{\rtf1\ansi\deff0{\fonttbl{\f0\fcharset0 Arial Narrow;}}{\colortbl\red0\green0\blue0;}{\f0\fs60\b\cf0 How DNS Server Caching Works\par}}"/>
  <p:tag name="PPWINSEGMENT1TARGETRTF" val="{\rtf1\ansi\deff1{\fonttbl{\f1\fcharset0 Arial;}{\f2\fcharset0 Arial Narrow;}}{\colortbl\red0\green0\blue0;}{\f2\fs60\b\cf0 Fonctionnement de la mise en cache du serveur DNS\par}}"/>
  <p:tag name="PPWINLASTSAVEDTRANSLATION" val="Fonctionnement de la mise en cache du serveur DNS"/>
  <p:tag name="PPWINALREADYSEGMENTED" val="True"/>
  <p:tag name="PPWINTOTALSEGMENTS" val="1"/>
</p:tagLst>
</file>

<file path=ppt/tags/tag106.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27"/>
  <p:tag name="PPWINSEGMENT2SOURCERTF" val="{\rtf1\ansi\deff0{\fonttbl{\f0\fcharset0 Arial Narrow;}}{\colortbl\red0\green0\blue0;}{\f0\fs52\b\cf0 Configuring DNS Zones\par}}"/>
  <p:tag name="PPWINSEGMENT2TARGETRTF" val="{\rtf1\ansi\deff1{\fonttbl{\f1\fcharset0 Arial;}{\f2\fcharset0 Arial Narrow;}}{\colortbl\red0\green0\blue0;}{\f2\fs52\b\cf0 Configuration des zones DNS\par}}"/>
  <p:tag name="PPWINLASTSAVEDTRANSLATION" val="Leçon : Configuration des zones DNS"/>
  <p:tag name="PPWINALREADYSEGMENTED" val="True"/>
  <p:tag name="PPWINTOTALSEGMENTS" val="2"/>
</p:tagLst>
</file>

<file path=ppt/tags/tag108.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48\b\cf0 How DNS Data Is Stored and Maintained\par}}"/>
  <p:tag name="PPWINSEGMENT1TARGETRTF" val="{\rtf1\ansi\deff1{\fonttbl{\f1\fcharset0 Arial;}{\f2\fcharset0 Arial Narrow;}}{\colortbl\red0\green0\blue0;}{\f2\fs48\b\cf0 Stockage et maintenance des donn\'E9es DNS\par}}"/>
  <p:tag name="PPWINSEGMENT2START" val="41"/>
  <p:tag name="PPWINSEGMENT2LENGTH" val="75"/>
  <p:tag name="PPWINSEGMENT2SOURCERTF" val="{\rtf1\ansi\deff0{\fonttbl{\f0\fcharset0 Arial Narrow;}}{\colortbl\red0\green0\blue0;}{\f0\fs48\b\cf0 What Are Resource Records and Record Types?\par}}"/>
  <p:tag name="PPWINSEGMENT2TARGETRTF" val="{\rtf1\ansi\deff1{\fonttbl{\f1\fcharset0 Arial;}{\f2\fcharset0 Arial Narrow;}}{\colortbl\red0\green0\blue0;}{\f2\fs48\b\cf0 Que sont les enregistrements de ressources et les types d'enregistrements ?\par}}"/>
  <p:tag name="PPWINSEGMENT3START" val="117"/>
  <p:tag name="PPWINSEGMENT3LENGTH" val="27"/>
  <p:tag name="PPWINSEGMENT3SOURCERTF" val="{\rtf1\ansi\deff0{\fonttbl{\f0\fcharset0 Arial Narrow;}}{\colortbl\red0\green0\blue0;}{\f0\fs48\b\cf0 What Is a DNS Zone?\par}}"/>
  <p:tag name="PPWINSEGMENT3TARGETRTF" val="{\rtf1\ansi\deff1{\fonttbl{\f1\fcharset0 Arial;}{\f2\fcharset0 Arial Narrow;}}{\colortbl\red0\green0\blue0;}{\f2\fs48\b\cf0 Qu'est-ce qu'une zone DNS ?\par}}"/>
  <p:tag name="PPWINSEGMENT4START" val="145"/>
  <p:tag name="PPWINSEGMENT4LENGTH" val="35"/>
  <p:tag name="PPWINSEGMENT4SOURCERTF" val="{\rtf1\ansi\deff0{\fonttbl{\f0\fcharset0 Arial Narrow;}}{\colortbl\red0\green0\blue0;}{\f0\fs48\b\cf0 What Are DNS Zone Types?\par}}"/>
  <p:tag name="PPWINSEGMENT4TARGETRTF" val="{\rtf1\ansi\deff1{\fonttbl{\f1\fcharset0 Arial;}{\f2\fcharset0 Arial Narrow;}}{\colortbl\red0\green0\blue0;}{\f2\fs48\b\cf0 Quels sont les types de zones DNS ?\par}}"/>
  <p:tag name="PPWINSEGMENT5START" val="181"/>
  <p:tag name="PPWINSEGMENT5LENGTH" val="36"/>
  <p:tag name="PPWINSEGMENT5SOURCERTF" val="{\rtf1\ansi\deff0{\fonttbl{\f0\fcharset0 Arial Narrow;}}{\colortbl\red0\green0\blue0;}{\f0\fs48\b\cf0 How to Change a DNS Zone Type\par}}"/>
  <p:tag name="PPWINSEGMENT5TARGETRTF" val="{\rtf1\ansi\deff1{\fonttbl{\f1\fcharset0 Arial;}{\f2\fcharset0 Arial Narrow;}}{\colortbl\red0\green0\blue0;}{\f2\fs48\b\cf0 Comment modifier un type de zone DNS\par}}"/>
  <p:tag name="PPWINSEGMENT6START" val="218"/>
  <p:tag name="PPWINSEGMENT6LENGTH" val="53"/>
  <p:tag name="PPWINSEGMENT6SOURCERTF" val="{\rtf1\ansi\deff0{\fonttbl{\f0\fcharset0 Arial Narrow;}}{\colortbl\red0\green0\blue0;}{\f0\fs48\b\cf0 What Are Forward and Reverse Lookup Zones?\par}}"/>
  <p:tag name="PPWINSEGMENT6TARGETRTF" val="{\rtf1\ansi\deff1{\fonttbl{\f1\fcharset0 Arial;}{\f2\fcharset0 Arial Narrow;}}{\colortbl\red0\green0\blue0;}{\f2\fs48\b\cf0 Que sont les zones de recherche directe et invers\'E9e ?\par}}"/>
  <p:tag name="PPWINSEGMENT7START" val="272"/>
  <p:tag name="PPWINSEGMENT7LENGTH" val="61"/>
  <p:tag name="PPWINSEGMENT7SOURCERTF" val="{\rtf1\ansi\deff0{\fonttbl{\f0\fcharset0 Arial Narrow;}}{\colortbl\red0\green0\blue0;}{\f0\fs48\b\cf0 How to Configure Forward and Reverse Lookup Zones\par}}"/>
  <p:tag name="PPWINSEGMENT7TARGETRTF" val="{\rtf1\ansi\deff1{\fonttbl{\f1\fcharset0 Arial;}{\f2\fcharset0 Arial Narrow;}}{\colortbl\red0\green0\blue0;}{\f2\fs48\b\cf0 Comment configurer des zones de recherche directe et invers\'E9e\par}}"/>
  <p:tag name="PPWINLASTSAVEDTRANSLATION" val="Stockage et maintenance des données DNS&#10;Que sont les enregistrements de ressources et les types d'enregistrements ?&#10;Qu'est-ce qu'une zone DNS ?&#10;Quels sont les types de zones DNS ?&#10;Comment modifier un type de zone DNS&#10;Que sont les zones de recherche directe et inversée ?&#10;Comment configurer des zones de recherche directe et inversée&#10;"/>
  <p:tag name="PPWINALREADYSEGMENTED" val="True"/>
  <p:tag name="PPWINTOTALSEGMENTS" val="7"/>
</p:tagLst>
</file>

<file path=ppt/tags/tag10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75"/>
  <p:tag name="PPWINSEGMENT1SOURCERTF" val="{\rtf1\ansi\deff0{\fonttbl{\f0\fcharset0 Arial Narrow;}}{\colortbl\red0\green0\blue0;}{\f0\fs60\b\cf0 What Are Resource Records and Record Types?\par}}"/>
  <p:tag name="PPWINSEGMENT1TARGETRTF" val="{\rtf1\ansi\deff1{\fonttbl{\f1\fcharset0 Arial;}{\f2\fcharset0 Arial Narrow;}}{\colortbl\red0\green0\blue0;}{\f2\fs60\b\cf0 Que sont les enregistrements de ressources et les types d'enregistrements ?\par}}"/>
  <p:tag name="PPWINLASTSAVEDTRANSLATION" val="Que sont les enregistrements de ressources et les types d'enregistrements ?"/>
  <p:tag name="PPWINALREADYSEGMENTED" val="True"/>
  <p:tag name="PPWINTOTALSEGMENTS" val="1"/>
</p:tagLst>
</file>

<file path=ppt/tags/tag11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1"/>
  <p:tag name="PPWINSEGMENT1SOURCERTF" val="{\rtf1\ansi\deff0{\fonttbl{\f0\fcharset0 Arial Narrow;}}{\colortbl\red0\green0\blue0;}{\f0\fs36\b\cf0 A }{\f0\fs36\b\i\cf0 resource record (RR)}{\f0\fs36\b\cf0  is a standard DNS database structure containing information used to process DNS queries}{\f0\fs36\cf0  \par}}"/>
  <p:tag name="PPWINSEGMENT1TARGETRTF" val="{\rtf1\ansi\deff1{\fonttbl{\f1\fcharset0 Arial;}{\f2\fcharset0 Arial Narrow;}}{\colortbl\red0\green0\blue0;}{\f2\fs36\cf0 Un }{\f2\fs36\i\cf0 enregistrement de ressource}{\f2\fs36\cf0  est une structure de base de donn\'E9es DNS standard qui contient des informations utilis\'E9es pour traiter les requ\'EAtes DNS.\par}}"/>
  <p:tag name="PPWINLASTSAVEDTRANSLATION" val="Un enregistrement de ressource est une structure de base de données DNS standard qui contient des informations utilisées pour traiter les requêtes DNS."/>
  <p:tag name="PPWINALREADYSEGMENTED" val="True"/>
  <p:tag name="PPWINTOTALSEGMENTS" val="1"/>
</p:tagLst>
</file>

<file path=ppt/tags/tag11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75"/>
  <p:tag name="PPWINSEGMENT1SOURCERTF" val="{\rtf1\ansi\deff0{\fonttbl{\f0\fcharset0 Arial Narrow;}}{\colortbl\red0\green0\blue0;}{\f0\fs60\b\cf0 What Are Resource Records and Record Types?\par}}"/>
  <p:tag name="PPWINSEGMENT1TARGETRTF" val="{\rtf1\ansi\deff1{\fonttbl{\f1\fcharset0 Arial;}{\f2\fcharset0 Arial Narrow;}}{\colortbl\red0\green0\blue0;}{\f2\fs60\b\cf0 Que sont les enregistrements de ressources et les types d'enregistrements ?\par}}"/>
  <p:tag name="PPWINLASTSAVEDTRANSLATION" val="Que sont les enregistrements de ressources et les types d'enregistrements ?"/>
  <p:tag name="PPWINALREADYSEGMENTED" val="True"/>
  <p:tag name="PPWINTOTALSEGMENTS" val="1"/>
</p:tagLst>
</file>

<file path=ppt/tags/tag1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5"/>
  <p:tag name="PPWINSEGMENT1SOURCERTF" val="{\rtf1\ansi\deff0{\fonttbl{\f0\fcharset0 Arial Narrow;}}{\colortbl\red0\green0\blue0;}{\f0\fs60\b\cf0 What Are Resource Records and Record Types?\par}}"/>
  <p:tag name="PPWINSEGMENT1TARGETRTF" val="{\rtf1\ansi\deff1{\fonttbl{\f1\fcharset0 Arial;}{\f2\fcharset0 Arial Narrow;}}{\colortbl\red0\green0\blue0;}{\f2\fs60\b\cf0 Que sont les enregistrements de ressources et les types d'enregistrements ?\par}}"/>
  <p:tag name="PPWINLASTSAVEDTRANSLATION" val="Que sont les enregistrements de ressources et les types d'enregistrements ?"/>
  <p:tag name="PPWINALREADYSEGMENTED" val="True"/>
  <p:tag name="PPWINTOTALSEGMENTS" val="1"/>
</p:tagLst>
</file>

<file path=ppt/tags/tag116.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60\b\cf0 What Is a DNS Zone?\par}}"/>
  <p:tag name="PPWINSEGMENT1TARGETRTF" val="{\rtf1\ansi\deff1{\fonttbl{\f1\fcharset0 Arial;}{\f2\fcharset0 Arial Narrow;}}{\colortbl\red0\green0\blue0;}{\f2\fs60\b\cf0 Qu'est-ce qu'une zone DNS ?\par}}"/>
  <p:tag name="PPWINLASTSAVEDTRANSLATION" val="Qu'est-ce qu'une zone DNS ?"/>
  <p:tag name="PPWINALREADYSEGMENTED" val="True"/>
  <p:tag name="PPWINTOTALSEGMENTS" val="1"/>
</p:tagLst>
</file>

<file path=ppt/tags/tag11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92"/>
  <p:tag name="PPWINSEGMENT1SOURCERTF" val="{\rtf1\ansi\deff0{\fonttbl{\f0\fcharset0 Arial Narrow;}}{\colortbl\red0\green0\blue0;}{\f0\fs36\b\cf0 A }{\f0\fs36\b\i\cf0 zone}{\f0\fs36\b\cf0  is a portion of the DNS database that contains the resource records with the owner names that belong to the contiguous portion of the DNS namespace\par}}"/>
  <p:tag name="PPWINSEGMENT1TARGETRTF" val="{\rtf1\ansi\deff1{\fonttbl{\f1\fcharset0 Arial;}{\f2\fcharset0 Arial Narrow;}}{\colortbl\red0\green0\blue0;}{\f2\fs36\b\cf0 Une }{\f2\fs36\b\i\cf0 zone}{\f2\fs36\b\cf0  est une portion de la base de donn\'E9es DNS qui contient les enregistrements de ressources dans lesquels le nom du propri\'E9taire appartient \'E0 la portion contigu\'EB de l'espace de noms DNS.\par}}"/>
  <p:tag name="PPWINLASTSAVEDTRANSLATION" val="Une zone est une portion de la base de données DNS qui contient les enregistrements de ressources dans lesquels le nom du propriétaire appartient à la portion contiguë de l'espace de noms DNS."/>
  <p:tag name="PPWINALREADYSEGMENTED" val="True"/>
  <p:tag name="PPWINTOTALSEGMENTS" val="1"/>
</p:tagLst>
</file>

<file path=ppt/tags/tag11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0.xml><?xml version="1.0" encoding="utf-8"?>
<p:tagLst xmlns:a="http://schemas.openxmlformats.org/drawingml/2006/main" xmlns:r="http://schemas.openxmlformats.org/officeDocument/2006/relationships" xmlns:p="http://schemas.openxmlformats.org/presentationml/2006/main">
  <p:tag name="PPWINSEGMENT1START" val="1"/>
  <p:tag name="PPWINSEGMENT1LENGTH" val="35"/>
  <p:tag name="PPWINSEGMENT1SOURCERTF" val="{\rtf1\ansi\deff0{\fonttbl{\f0\fcharset0 Arial Narrow;}}{\colortbl\red0\green0\blue0;}{\f0\fs60\b\cf0 What Are DNS Zone Types?\par}}"/>
  <p:tag name="PPWINSEGMENT1TARGETRTF" val="{\rtf1\ansi\deff1{\fonttbl{\f1\fcharset0 Arial;}{\f2\fcharset0 Arial Narrow;}}{\colortbl\red0\green0\blue0;}{\f2\fs60\b\cf0 Quels sont les types de zones DNS ?\par}}"/>
  <p:tag name="PPWINLASTSAVEDTRANSLATION" val="Quels sont les types de zones DNS ?"/>
  <p:tag name="PPWINALREADYSEGMENTED" val="True"/>
  <p:tag name="PPWINTOTALSEGMENTS" val="1"/>
</p:tagLst>
</file>

<file path=ppt/tags/tag121.xml><?xml version="1.0" encoding="utf-8"?>
<p:tagLst xmlns:a="http://schemas.openxmlformats.org/drawingml/2006/main" xmlns:r="http://schemas.openxmlformats.org/officeDocument/2006/relationships" xmlns:p="http://schemas.openxmlformats.org/presentationml/2006/main">
  <p:tag name="PPTAGGERGROUP" val="1"/>
</p:tagLst>
</file>

<file path=ppt/tags/tag122.xml><?xml version="1.0" encoding="utf-8"?>
<p:tagLst xmlns:a="http://schemas.openxmlformats.org/drawingml/2006/main" xmlns:r="http://schemas.openxmlformats.org/officeDocument/2006/relationships" xmlns:p="http://schemas.openxmlformats.org/presentationml/2006/main">
  <p:tag name="PPTAGGERGROUP" val="1"/>
</p:tagLst>
</file>

<file path=ppt/tags/tag123.xml><?xml version="1.0" encoding="utf-8"?>
<p:tagLst xmlns:a="http://schemas.openxmlformats.org/drawingml/2006/main" xmlns:r="http://schemas.openxmlformats.org/officeDocument/2006/relationships" xmlns:p="http://schemas.openxmlformats.org/presentationml/2006/main">
  <p:tag name="PPTAGGERGROUP" val="2"/>
</p:tagLst>
</file>

<file path=ppt/tags/tag124.xml><?xml version="1.0" encoding="utf-8"?>
<p:tagLst xmlns:a="http://schemas.openxmlformats.org/drawingml/2006/main" xmlns:r="http://schemas.openxmlformats.org/officeDocument/2006/relationships" xmlns:p="http://schemas.openxmlformats.org/presentationml/2006/main">
  <p:tag name="PPTAGGERGROUP" val="2"/>
</p:tagLst>
</file>

<file path=ppt/tags/tag125.xml><?xml version="1.0" encoding="utf-8"?>
<p:tagLst xmlns:a="http://schemas.openxmlformats.org/drawingml/2006/main" xmlns:r="http://schemas.openxmlformats.org/officeDocument/2006/relationships" xmlns:p="http://schemas.openxmlformats.org/presentationml/2006/main">
  <p:tag name="PPTAGGERGROUP" val="3"/>
</p:tagLst>
</file>

<file path=ppt/tags/tag126.xml><?xml version="1.0" encoding="utf-8"?>
<p:tagLst xmlns:a="http://schemas.openxmlformats.org/drawingml/2006/main" xmlns:r="http://schemas.openxmlformats.org/officeDocument/2006/relationships" xmlns:p="http://schemas.openxmlformats.org/presentationml/2006/main">
  <p:tag name="PPTAGGERGROUP" val="3"/>
</p:tagLst>
</file>

<file path=ppt/tags/tag127.xml><?xml version="1.0" encoding="utf-8"?>
<p:tagLst xmlns:a="http://schemas.openxmlformats.org/drawingml/2006/main" xmlns:r="http://schemas.openxmlformats.org/officeDocument/2006/relationships" xmlns:p="http://schemas.openxmlformats.org/presentationml/2006/main">
  <p:tag name="PPTAGGERGROUP" val="3"/>
</p:tagLst>
</file>

<file path=ppt/tags/tag128.xml><?xml version="1.0" encoding="utf-8"?>
<p:tagLst xmlns:a="http://schemas.openxmlformats.org/drawingml/2006/main" xmlns:r="http://schemas.openxmlformats.org/officeDocument/2006/relationships" xmlns:p="http://schemas.openxmlformats.org/presentationml/2006/main">
  <p:tag name="PPTAGGERGROUP" val="3"/>
</p:tagLst>
</file>

<file path=ppt/tags/tag12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30.xml><?xml version="1.0" encoding="utf-8"?>
<p:tagLst xmlns:a="http://schemas.openxmlformats.org/drawingml/2006/main" xmlns:r="http://schemas.openxmlformats.org/officeDocument/2006/relationships" xmlns:p="http://schemas.openxmlformats.org/presentationml/2006/main">
  <p:tag name="PPWINSEGMENT1START" val="2"/>
  <p:tag name="PPWINSEGMENT1LENGTH" val="55"/>
  <p:tag name="PPWINSEGMENT1SOURCERTF" val="{\rtf1\ansi\deff0{\fonttbl{\f0\fcharset0 Arial Narrow;}}{\colortbl\red0\green0\blue0;}{\f0\fs52\b\cf0 What Is an Active Directory-Integrated DNS Zone?\par}}"/>
  <p:tag name="PPWINLASTSAVEDTRANSLATION" val=" Qu'est-ce qu'une zone DNS intégrée à Active Directory ?"/>
  <p:tag name="PPWINALREADYSEGMENTED" val="True"/>
  <p:tag name="PPWINTOTALSEGMENTS" val="1"/>
  <p:tag name="PPWINSEGMENT1TARGETRTF" val="{\rtf1\ansi\deff0{\fonttbl{\f0\fcharset0 Arial Narrow;}}{\colortbl\red0\green0\blue0;}{\f0\fs52\b\cf0 Qu'est-ce qu'une zone DNS int\'E9gr\'E9e \'E0 Active Directory ?\par}}"/>
</p:tagLst>
</file>

<file path=ppt/tags/tag131.xml><?xml version="1.0" encoding="utf-8"?>
<p:tagLst xmlns:a="http://schemas.openxmlformats.org/drawingml/2006/main" xmlns:r="http://schemas.openxmlformats.org/officeDocument/2006/relationships" xmlns:p="http://schemas.openxmlformats.org/presentationml/2006/main">
  <p:tag name="PPWINDOWLASTEDITMARKER" val="1"/>
  <p:tag name="PPWINSEGMENT1START" val="1"/>
  <p:tag name="PPWINSEGMENT1LENGTH" val="88"/>
  <p:tag name="PPWINSEGMENT1SOURCERTF" val="{\rtf1\ansi\deff0{\fonttbl{\f0\fcharset0 Arial Narrow;}}{\colortbl\red0\green0\blue0;}{\f0\fs44\b\cf0 An }{\f0\fs44\b\i\cf0 Active Directory-integrated DNS zone}{\f0\fs44\b\cf0  is a DNS zone stored in Active Directory \par}}"/>
  <p:tag name="PPWINSEGMENT1TARGETRTF" val="{\rtf1\ansi\deff1{\fonttbl{\f1\fcharset0 Arial;}{\f2\fcharset0 Arial Narrow;}}{\colortbl\red0\green0\blue0;}{\f2\fs44\b\cf0 Une }{\f2\fs44\b\i\cf0 zone DNS int\'E9gr\'E9e \'E0 Active Directory }{\f2\fs44\b\cf0 est une zone DNS stock\'E9e dans Active Directory.\par}}"/>
  <p:tag name="PPWINLASTSAVEDTRANSLATION" val="Une zone DNS intégrée à Active Directory est une zone DNS stockée dans Active Directory."/>
  <p:tag name="PPWINALREADYSEGMENTED" val="True"/>
  <p:tag name="PPWINTOTALSEGMENTS" val="1"/>
</p:tagLst>
</file>

<file path=ppt/tags/tag13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33.xml><?xml version="1.0" encoding="utf-8"?>
<p:tagLst xmlns:a="http://schemas.openxmlformats.org/drawingml/2006/main" xmlns:r="http://schemas.openxmlformats.org/officeDocument/2006/relationships" xmlns:p="http://schemas.openxmlformats.org/presentationml/2006/main">
  <p:tag name="PPWINSEGMENT1START" val="1"/>
  <p:tag name="PPWINSEGMENT1LENGTH" val="53"/>
  <p:tag name="PPWINSEGMENT1SOURCERTF" val="{\rtf1\ansi\deff0{\fonttbl{\f0\fcharset0 Arial Narrow;}}{\colortbl\red0\green0\blue0;}{\f0\fs60\b\cf0 What Are Forward and Reverse Lookup Zones?\par}}"/>
  <p:tag name="PPWINSEGMENT1TARGETRTF" val="{\rtf1\ansi\deff1{\fonttbl{\f1\fcharset0 Arial;}{\f2\fcharset0 Arial Narrow;}}{\colortbl\red0\green0\blue0;}{\f2\fs60\b\cf0 Que sont les zones de recherche directe et invers\'E9e ?\par}}"/>
  <p:tag name="PPWINLASTSAVEDTRANSLATION" val="Que sont les zones de recherche directe et inversée ?"/>
  <p:tag name="PPWINALREADYSEGMENTED" val="True"/>
  <p:tag name="PPWINTOTALSEGMENTS" val="1"/>
</p:tagLst>
</file>

<file path=ppt/tags/tag1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6"/>
  <p:tag name="PPWINSEGMENT1SOURCERTF" val="{\rtf1\ansi\deff0{\fonttbl{\f0\fcharset0 Arial Narrow;}}{\colortbl\red0\green0\blue0;}{\f0\fs48\b\cf0 Namespace:\par}}"/>
  <p:tag name="PPWINSEGMENT1TARGETRTF" val="{\rtf1\ansi\deff1{\fonttbl{\f1\fcharset0 Arial;}{\f2\fcharset0 Arial Narrow;}}{\colortbl\red0\green0\blue0;}{\f2\fs48\b\cf0 Espace de noms :\par}}"/>
  <p:tag name="PPWINSEGMENT2START" val="18"/>
  <p:tag name="PPWINSEGMENT2LENGTH" val="24"/>
  <p:tag name="PPWINSEGMENT2SOURCERTF" val="{\rtf1\ansi\deff0{\fonttbl{\f0\fcharset0 Arial Narrow;}}{\colortbl\red0\green0\blue0;}{\f0\fs48\b\cf0 training.nwtraders.msft.\par}}"/>
  <p:tag name="PPWINSEGMENT2TARGETRTF" val="{\rtf1\ansi\deff1{\fonttbl{\f1\fcharset0 Arial;}{\f2\fcharset0 Arial Narrow;}}{\colortbl\red0\green0\blue0;}{\f2\fs48\b\cf0 training.nwtraders.msft.\par}}"/>
  <p:tag name="PPWINLASTSAVEDTRANSLATION" val="Espace de noms : training.nwtraders.msft."/>
  <p:tag name="PPWINALREADYSEGMENTED" val="True"/>
  <p:tag name="PPWINTOTALSEGMENTS" val="2"/>
</p:tagLst>
</file>

<file path=ppt/tags/tag13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DNS Client1\par}}"/>
  <p:tag name="PPWINSEGMENT1TARGETRTF" val="{\rtf1\ansi\deff1{\fonttbl{\f1\fcharset0 Arial;}{\f2\fcharset0 Arial Narrow;}}{\colortbl\red0\green0\blue0;}{\f2\fs36\b\cf0 Client1 DNS\par}}"/>
  <p:tag name="PPWINLASTSAVEDTRANSLATION" val="Client1 DNS"/>
  <p:tag name="PPWINALREADYSEGMENTED" val="True"/>
  <p:tag name="PPWINTOTALSEGMENTS" val="1"/>
</p:tagLst>
</file>

<file path=ppt/tags/tag13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DNS Client2\par}}"/>
  <p:tag name="PPWINSEGMENT1TARGETRTF" val="{\rtf1\ansi\deff1{\fonttbl{\f1\fcharset0 Arial;}{\f2\fcharset0 Arial Narrow;}}{\colortbl\red0\green0\blue0;}{\f2\fs36\b\cf0 Client2 DNS\par}}"/>
  <p:tag name="PPWINLASTSAVEDTRANSLATION" val="Client2 DNS"/>
  <p:tag name="PPWINALREADYSEGMENTED" val="True"/>
  <p:tag name="PPWINTOTALSEGMENTS" val="1"/>
</p:tagLst>
</file>

<file path=ppt/tags/tag13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DNS Client3\par}}"/>
  <p:tag name="PPWINSEGMENT1TARGETRTF" val="{\rtf1\ansi\deff1{\fonttbl{\f1\fcharset0 Arial;}{\f2\fcharset0 Arial Narrow;}}{\colortbl\red0\green0\blue0;}{\f2\fs36\b\cf0 Client3 DNS\par}}"/>
  <p:tag name="PPWINLASTSAVEDTRANSLATION" val="Client3 DNS"/>
  <p:tag name="PPWINALREADYSEGMENTED" val="True"/>
  <p:tag name="PPWINTOTALSEGMENTS" val="1"/>
</p:tagLst>
</file>

<file path=ppt/tags/tag13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0"/>
  <p:tag name="PPWINSEGMENT1SOURCERTF" val="{\rtf1\ansi\deff0{\fonttbl{\f0\fcharset0 Arial Narrow;}}{\colortbl\red0\green0\blue0;}{\f0\fs36\cf0 DNS Server Authorized\par}}"/>
  <p:tag name="PPWINSEGMENT1TARGETRTF" val="{\rtf1\ansi\deff1{\fonttbl{\f1\fcharset0 Arial;}{\f2\fcharset0 Arial Narrow;}}{\colortbl\red0\green0\blue0;}{\f2\fs36\cf0 Serveur DNS autoris\'E9\par}}"/>
  <p:tag name="PPWINSEGMENT2START" val="22"/>
  <p:tag name="PPWINSEGMENT2LENGTH" val="13"/>
  <p:tag name="PPWINSEGMENT2SOURCERTF" val="{\rtf1\ansi\deff0{\fonttbl{\f0\fcharset0 Arial Narrow;}}{\colortbl\red0\green0\blue0;}{\f0\fs36\cf0 for }{\f0\fs36\b\cf0 training\par}}"/>
  <p:tag name="PPWINSEGMENT2TARGETRTF" val="{\rtf1\ansi\deff1{\fonttbl{\f1\fcharset0 Arial;}{\f2\fcharset0 Arial Narrow;}}{\colortbl\red0\green0\blue0;}{\f2\fs36\cf0 pour }{\f2\fs36\b\cf0 training\par}}"/>
  <p:tag name="PPWINLASTSAVEDTRANSLATION" val="Serveur DNS autorisé&#10;pour training"/>
  <p:tag name="PPWINALREADYSEGMENTED" val="True"/>
  <p:tag name="PPWINTOTALSEGMENTS" val="2"/>
</p:tagLst>
</file>

<file path=ppt/tags/tag139.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6\b\cf0 DNS Client2 = ?\par}}"/>
  <p:tag name="PPWINSEGMENT1TARGETRTF" val="{\rtf1\ansi\deff1{\fonttbl{\f1\fcharset0 Arial;}{\f2\fcharset0 Arial Narrow;}}{\colortbl\red0\green0\blue0;}{\f2\fs36\b\cf0 Client2 DNS = ?\par}}"/>
  <p:tag name="PPWINLASTSAVEDTRANSLATION" val="Client2 DNS = ?"/>
  <p:tag name="PPWINALREADYSEGMENTED" val="True"/>
  <p:tag name="PPWINTOTALSEGMENTS" val="1"/>
</p:tagLst>
</file>

<file path=ppt/tags/tag14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41.xml><?xml version="1.0" encoding="utf-8"?>
<p:tagLst xmlns:a="http://schemas.openxmlformats.org/drawingml/2006/main" xmlns:r="http://schemas.openxmlformats.org/officeDocument/2006/relationships" xmlns:p="http://schemas.openxmlformats.org/presentationml/2006/main">
  <p:tag name="PPTAGGERGROUP" val="1"/>
</p:tagLst>
</file>

<file path=ppt/tags/tag142.xml><?xml version="1.0" encoding="utf-8"?>
<p:tagLst xmlns:a="http://schemas.openxmlformats.org/drawingml/2006/main" xmlns:r="http://schemas.openxmlformats.org/officeDocument/2006/relationships" xmlns:p="http://schemas.openxmlformats.org/presentationml/2006/main">
  <p:tag name="PPTAGGERGROUP" val="1"/>
</p:tagLst>
</file>

<file path=ppt/tags/tag143.xml><?xml version="1.0" encoding="utf-8"?>
<p:tagLst xmlns:a="http://schemas.openxmlformats.org/drawingml/2006/main" xmlns:r="http://schemas.openxmlformats.org/officeDocument/2006/relationships" xmlns:p="http://schemas.openxmlformats.org/presentationml/2006/main">
  <p:tag name="PPWINTOTALSEGMENTS" val="0"/>
</p:tagLst>
</file>

<file path=ppt/tags/tag14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85"/>
  <p:tag name="PPWINSEGMENT1SOURCERTF" val="{\rtf1\ansi\deff0{\fonttbl{\f0\fcharset0 Arial Narrow;}}{\colortbl\red0\green0\blue0;}{\f0\fs36\b\cf0 The administrator, at the nwtraders.com level of the namespace, delegates authority for training.nwtraders.com and offloads administration of DNS for that part of the namespace\par}}"/>
  <p:tag name="PPWINSEGMENT1TARGETRTF" val="{\rtf1\ansi\deff1{\fonttbl{\f1\fcharset0 Arial;}{\f2\fcharset0 Arial Narrow;}}{\colortbl\red0\green0\blue0;}{\f2\fs36\b\cf0 L'administrateur du niveau nwtraders.com de l'espace de noms d\'E9l\'E8gue l'autorit\'E9 de training.nwtraders.com et se d\'E9charge de l'administration de DNS pour cette partie de l'espace de noms\par}}"/>
  <p:tag name="PPWINLASTSAVEDTRANSLATION" val="L'administrateur du niveau nwtraders.com de l'espace de noms délègue l'autorité de training.nwtraders.com et se décharge de l'administration de DNS pour cette partie de l'espace de noms"/>
  <p:tag name="PPWINALREADYSEGMENTED" val="True"/>
  <p:tag name="PPWINTOTALSEGMENTS" val="1"/>
</p:tagLst>
</file>

<file path=ppt/tags/tag1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70"/>
  <p:tag name="PPWINSEGMENT1SOURCERTF" val="{\rtf1\ansi\deff0{\fonttbl{\f0\fcharset0 Arial Narrow;}}{\colortbl\red0\green0\blue0;}{\f0\fs36\b\cf0 Training.nwtraders.com now has its own administrator and DNS server to resolve queries in that part of the namespace/organization\par}}"/>
  <p:tag name="PPWINSEGMENT1TARGETRTF" val="{\rtf1\ansi\deff1{\fonttbl{\f1\fcharset0 Arial;}{\f2\fcharset0 Arial Narrow;}}{\colortbl\red0\green0\blue0;}{\f2\fs36\b\cf0 Training.nwtraders.com poss\'E8de d\'E9sormais son propre administrateur ainsi qu'un serveur DNS pour r\'E9soudre les requ\'EAtes dans cette partie de l'espace de noms/l'organisation\par}}"/>
  <p:tag name="PPWINLASTSAVEDTRANSLATION" val="Training.nwtraders.com possède désormais son propre administrateur ainsi qu'un serveur DNS pour résoudre les requêtes dans cette partie de l'espace de noms/l'organisation"/>
  <p:tag name="PPWINALREADYSEGMENTED" val="True"/>
  <p:tag name="PPWINTOTALSEGMENTS" val="1"/>
</p:tagLst>
</file>

<file path=ppt/tags/tag146.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40"/>
  <p:tag name="PPWINSEGMENT2SOURCERTF" val="{\rtf1\ansi\deff0{\fonttbl{\f0\fcharset0 Arial Narrow;}}{\colortbl\red0\green0\blue0;}{\f0\fs52\b\cf0 Configuring DNS Zone Transfers\par}}"/>
  <p:tag name="PPWINSEGMENT2TARGETRTF" val="{\rtf1\ansi\deff1{\fonttbl{\f1\fcharset0 Arial;}{\f2\fcharset0 Arial Narrow;}}{\colortbl\red0\green0\blue0;}{\f2\fs52\b\cf0 Configuration des transferts de zone DNS\par}}"/>
  <p:tag name="PPWINLASTSAVEDTRANSLATION" val="Leçon : Configuration des transferts de zone DNS"/>
  <p:tag name="PPWINALREADYSEGMENTED" val="True"/>
  <p:tag name="PPWINTOTALSEGMENTS" val="2"/>
</p:tagLst>
</file>

<file path=ppt/tags/tag147.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48\b\cf0 How DNS Zone Transfers Work\par}}"/>
  <p:tag name="PPWINSEGMENT1TARGETRTF" val="{\rtf1\ansi\deff1{\fonttbl{\f1\fcharset0 Arial;}{\f2\fcharset0 Arial Narrow;}}{\colortbl\red0\green0\blue0;}{\f2\fs48\b\cf0 Fonctionnement des transferts de zone DNS\par}}"/>
  <p:tag name="PPWINSEGMENT2START" val="43"/>
  <p:tag name="PPWINSEGMENT2LENGTH" val="28"/>
  <p:tag name="PPWINSEGMENT2SOURCERTF" val="{\rtf1\ansi\deff0{\fonttbl{\f0\fcharset0 Arial Narrow;}}{\colortbl\red0\green0\blue0;}{\f0\fs48\b\cf0 How DNS Notify Works\par}}"/>
  <p:tag name="PPWINSEGMENT2TARGETRTF" val="{\rtf1\ansi\deff1{\fonttbl{\f1\fcharset0 Arial;}{\f2\fcharset0 Arial Narrow;}}{\colortbl\red0\green0\blue0;}{\f2\fs48\b\cf0 Fonctionnement de DNS Notify\par}}"/>
  <p:tag name="PPWINSEGMENT3START" val="72"/>
  <p:tag name="PPWINSEGMENT3LENGTH" val="45"/>
  <p:tag name="PPWINSEGMENT3SOURCERTF" val="{\rtf1\ansi\deff0{\fonttbl{\f0\fcharset0 Arial Narrow;}}{\colortbl\red0\green0\blue0;}{\f0\fs48\b\cf0 How to Configure DNS Zone Transfers\par}}"/>
  <p:tag name="PPWINSEGMENT3TARGETRTF" val="{\rtf1\ansi\deff1{\fonttbl{\f1\fcharset0 Arial;}{\f2\fcharset0 Arial Narrow;}}{\colortbl\red0\green0\blue0;}{\f2\fs48\b\cf0 Comment configurer des transferts de zone DNS\par}}"/>
  <p:tag name="PPWINLASTSAVEDTRANSLATION" val="Fonctionnement des transferts de zone DNS&#10;Fonctionnement de DNS Notify&#10;Comment configurer des transferts de zone DNS"/>
  <p:tag name="PPWINALREADYSEGMENTED" val="True"/>
  <p:tag name="PPWINTOTALSEGMENTS" val="3"/>
</p:tagLst>
</file>

<file path=ppt/tags/tag148.xml><?xml version="1.0" encoding="utf-8"?>
<p:tagLst xmlns:a="http://schemas.openxmlformats.org/drawingml/2006/main" xmlns:r="http://schemas.openxmlformats.org/officeDocument/2006/relationships" xmlns:p="http://schemas.openxmlformats.org/presentationml/2006/main">
  <p:tag name="PPWINTOTALSEGMENTS" val="0"/>
</p:tagLst>
</file>

<file path=ppt/tags/tag1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60\b\cf0 How DNS Zone Transfers Work\par}}"/>
  <p:tag name="PPWINSEGMENT1TARGETRTF" val="{\rtf1\ansi\deff1{\fonttbl{\f1\fcharset0 Arial;}{\f2\fcharset0 Arial Narrow;}}{\colortbl\red0\green0\blue0;}{\f2\fs60\b\cf0 Fonctionnement des transferts de zone DNS\par}}"/>
  <p:tag name="PPWINLASTSAVEDTRANSLATION" val="Fonctionnement des transferts de zone DNS"/>
  <p:tag name="PPWINALREADYSEGMENTED" val="True"/>
  <p:tag name="PPWINTOTALSEGMENTS" val="1"/>
</p:tagLst>
</file>

<file path=ppt/tags/tag15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8"/>
  <p:tag name="PPWINSEGMENT1SOURCERTF" val="{\rtf1\ansi\deff0{\fonttbl{\f0\fcharset0 Arial Narrow;}}{\colortbl\red0\green0\blue0;}{\f0\fs60\b\cf0 How DNS Notify Works\par}}"/>
  <p:tag name="PPWINSEGMENT1TARGETRTF" val="{\rtf1\ansi\deff1{\fonttbl{\f1\fcharset0 Arial;}{\f2\fcharset0 Arial Narrow;}}{\colortbl\red0\green0\blue0;}{\f2\fs60\b\cf0 Fonctionnement de DNS Notify\par}}"/>
  <p:tag name="PPWINLASTSAVEDTRANSLATION" val="Fonctionnement de DNS Notify"/>
  <p:tag name="PPWINALREADYSEGMENTED" val="True"/>
  <p:tag name="PPWINTOTALSEGMENTS" val="1"/>
</p:tagLst>
</file>

<file path=ppt/tags/tag15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8"/>
  <p:tag name="PPWINSEGMENT1SOURCERTF" val="{\rtf1\ansi\deff0{\fonttbl{\f0\fcharset0 Arial Narrow;}}{\colortbl\red0\green0\blue0;}{\f0\fs36\b\cf0 Secondary Server\par}}"/>
  <p:tag name="PPWINSEGMENT1TARGETRTF" val="{\rtf1\ansi\deff1{\fonttbl{\f1\fcharset0 Arial;}{\f2\fcharset0 Arial Narrow;}}{\colortbl\red0\green0\blue0;}{\f2\fs36\b\cf0 Serveur secondaire\par}}"/>
  <p:tag name="PPWINLASTSAVEDTRANSLATION" val="Serveur secondaire"/>
  <p:tag name="PPWINALREADYSEGMENTED" val="True"/>
  <p:tag name="PPWINTOTALSEGMENTS" val="1"/>
</p:tagLst>
</file>

<file path=ppt/tags/tag15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7"/>
  <p:tag name="PPWINSEGMENT1SOURCERTF" val="{\rtf1\ansi\deff0{\fonttbl{\f0\fcharset0 Arial Narrow;}}{\colortbl\red0\green0\blue0;}{\f0\fs36\b\cf0 Primary and\par}}"/>
  <p:tag name="PPWINSEGMENT1TARGETRTF" val="{\rtf1\ansi\deff1{\fonttbl{\f1\fcharset0 Arial;}{\f2\fcharset0 Arial Narrow;}}{\colortbl\red0\green0\blue0;}{\f2\fs36\b\cf0 Serveur principal\par}}"/>
  <p:tag name="PPWINSEGMENT2START" val="19"/>
  <p:tag name="PPWINSEGMENT2LENGTH" val="9"/>
  <p:tag name="PPWINSEGMENT2SOURCERTF" val="{\rtf1\ansi\deff0{\fonttbl{\f0\fcharset0 Arial Narrow;}}{\colortbl\red0\green0\blue0;}{\f0\fs36\b\cf0 Master Server\par}}"/>
  <p:tag name="PPWINSEGMENT2TARGETRTF" val="{\rtf1\ansi\deff1{\fonttbl{\f1\fcharset0 Arial;}{\f2\fcharset0 Arial Narrow;}}{\colortbl\red0\green0\blue0;}{\f2\fs36\b\cf0 et ma\'EEtre\par}}"/>
  <p:tag name="PPWINLASTSAVEDTRANSLATION" val="Serveur principal&#10;et maître"/>
  <p:tag name="PPWINALREADYSEGMENTED" val="True"/>
  <p:tag name="PPWINTOTALSEGMENTS" val="2"/>
</p:tagLst>
</file>

<file path=ppt/tags/tag15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2"/>
  <p:tag name="PPWINSEGMENT1SOURCERTF" val="{\rtf1\ansi\deff0{\fonttbl{\f0\fcharset0 Arial Narrow;}}{\colortbl\red0\green0\blue0;}{\f0\fs44\b\cf0 A }{\f0\fs44\b\i\cf0 DNS notify}{\f0\fs44\b\cf0  is an update to the original DNS protocol specification that permits notification to secondary servers when zone changes occur\par}}"/>
  <p:tag name="PPWINSEGMENT1TARGETRTF" val="{\rtf1\ansi\deff1{\fonttbl{\f1\fcharset0 Arial;}{\f2\fcharset0 Arial Narrow;}}{\colortbl\red0\green0\blue0;}{\f2\fs44\b\i\cf0 DNS Notify}{\f2\fs44\b\cf0  est une mise \'E0 jour de la sp\'E9cification d'origine du protocole DNS qui permet d'informer les serveurs secondaires des modifications de zones.\par}}"/>
  <p:tag name="PPWINLASTSAVEDTRANSLATION" val="DNS Notify est une mise à jour de la spécification d'origine du protocole DNS qui permet d'informer les serveurs secondaires des modifications de zones."/>
  <p:tag name="PPWINALREADYSEGMENTED" val="True"/>
  <p:tag name="PPWINTOTALSEGMENTS" val="1"/>
</p:tagLst>
</file>

<file path=ppt/tags/tag15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36\b\cf0 Source Server\par}}"/>
  <p:tag name="PPWINSEGMENT1TARGETRTF" val="{\rtf1\ansi\deff1{\fonttbl{\f1\fcharset0 Arial;}{\f2\fcharset0 Arial Narrow;}}{\colortbl\red0\green0\blue0;}{\f2\fs36\b\cf0 Serveur source\par}}"/>
  <p:tag name="PPWINLASTSAVEDTRANSLATION" val="Serveur source"/>
  <p:tag name="PPWINALREADYSEGMENTED" val="True"/>
  <p:tag name="PPWINTOTALSEGMENTS" val="1"/>
</p:tagLst>
</file>

<file path=ppt/tags/tag15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36\b\cf0 Destination Server\par}}"/>
  <p:tag name="PPWINSEGMENT1TARGETRTF" val="{\rtf1\ansi\deff1{\fonttbl{\f1\fcharset0 Arial;}{\f2\fcharset0 Arial Narrow;}}{\colortbl\red0\green0\blue0;}{\f2\fs36\b\cf0 Serveur de destination\par}}"/>
  <p:tag name="PPWINLASTSAVEDTRANSLATION" val="Serveur de destination"/>
  <p:tag name="PPWINALREADYSEGMENTED" val="True"/>
  <p:tag name="PPWINTOTALSEGMENTS" val="1"/>
</p:tagLst>
</file>

<file path=ppt/tags/tag15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8.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45"/>
  <p:tag name="PPWINSEGMENT2SOURCERTF" val="{\rtf1\ansi\deff0{\fonttbl{\f0\fcharset0 Arial Narrow;}}{\colortbl\red0\green0\blue0;}{\f0\fs52\b\cf0 Configuring DNS Dynamic Updates\par}}"/>
  <p:tag name="PPWINSEGMENT2TARGETRTF" val="{\rtf1\ansi\deff1{\fonttbl{\f1\fcharset0 Arial;}{\f2\fcharset0 Arial Narrow;}}{\colortbl\red0\green0\blue0;}{\f2\fs52\b\cf0 Configuration des mises \'E0 jour dynamiques DNS\par}}"/>
  <p:tag name="PPWINLASTSAVEDTRANSLATION" val="Leçon : Configuration des mises à jour dynamiques DNS"/>
  <p:tag name="PPWINALREADYSEGMENTED" val="True"/>
  <p:tag name="PPWINTOTALSEGMENTS" val="2"/>
</p:tagLst>
</file>

<file path=ppt/tags/tag159.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48\b\cf0 Multimedia:\par}}"/>
  <p:tag name="PPWINSEGMENT1TARGETRTF" val="{\rtf1\ansi\deff1{\fonttbl{\f1\fcharset0 Arial;}{\f2\fcharset0 Arial Narrow;}}{\colortbl\red0\green0\blue0;}{\f2\fs48\b\cf0 Pr\'E9sentation multim\'E9dia :\par}}"/>
  <p:tag name="PPWINSEGMENT2START" val="27"/>
  <p:tag name="PPWINSEGMENT2LENGTH" val="46"/>
  <p:tag name="PPWINSEGMENT2SOURCERTF" val="{\rtf1\ansi\deff0{\fonttbl{\f0\fcharset0 Arial Narrow;}}{\colortbl\red0\green0\blue0;}{\f0\fs48\b\cf0 Overview of DNS Dynamic Updates\par}}"/>
  <p:tag name="PPWINSEGMENT2TARGETRTF" val="{\rtf1\ansi\deff1{\fonttbl{\f1\fcharset0 Arial;}{\f2\fcharset0 Arial Narrow;}}{\colortbl\red0\green0\blue0;}{\f2\fs48\b\cf0 Vue d'ensemble des mises \'E0 jour dynamiques DNS\par}}"/>
  <p:tag name="PPWINSEGMENT3START" val="74"/>
  <p:tag name="PPWINSEGMENT3LENGTH" val="38"/>
  <p:tag name="PPWINSEGMENT3SOURCERTF" val="{\rtf1\ansi\deff0{\fonttbl{\f0\fcharset0 Arial Narrow;}}{\colortbl\red0\green0\blue0;}{\f0\fs48\b\cf0 What Are Dynamic Updates?\par}}"/>
  <p:tag name="PPWINSEGMENT3TARGETRTF" val="{\rtf1\ansi\deff1{\fonttbl{\f1\fcharset0 Arial;}{\f2\fcharset0 Arial Narrow;}}{\colortbl\red0\green0\blue0;}{\f2\fs48\b\cf0 Que sont les mises \'E0 jour dynamiques ?\par}}"/>
  <p:tag name="PPWINSEGMENT4START" val="113"/>
  <p:tag name="PPWINSEGMENT4LENGTH" val="102"/>
  <p:tag name="PPWINSEGMENT4SOURCERTF" val="{\rtf1\ansi\deff0{\fonttbl{\f0\fcharset0 Arial Narrow;}}{\colortbl\red0\green0\blue0;}{\f0\fs48\b\cf0 How DNS Clients Register and Update Their Own Resource Records by Using Dynamic Updates\par}}"/>
  <p:tag name="PPWINSEGMENT4TARGETRTF" val="{\rtf1\ansi\deff1{\fonttbl{\f1\fcharset0 Arial;}{\f2\fcharset0 Arial Narrow;}}{\colortbl\red0\green0\blue0;}{\f2\fs48\b\cf0 Comment les clients DNS inscrivent et mettent \'E0 jour dynamiquement leurs enregistrements de ressources\par}}"/>
  <p:tag name="PPWINSEGMENT5START" val="216"/>
  <p:tag name="PPWINSEGMENT5LENGTH" val="93"/>
  <p:tag name="PPWINSEGMENT5SOURCERTF" val="{\rtf1\ansi\deff0{\fonttbl{\f0\fcharset0 Arial Narrow;}}{\colortbl\red0\green0\blue0;}{\f0\fs48\b\cf0 How a DHCP Server Registers and Updates Resource Records by Using Dynamic Updates\par}}"/>
  <p:tag name="PPWINSEGMENT5TARGETRTF" val="{\rtf1\ansi\deff1{\fonttbl{\f1\fcharset0 Arial;}{\f2\fcharset0 Arial Narrow;}}{\colortbl\red0\green0\blue0;}{\f2\fs48\b\cf0 Comment un serveur DHCP inscrit et met \'E0 jour dynamiquement les enregistrements de ressources\par}}"/>
  <p:tag name="PPWINSEGMENT6START" val="310"/>
  <p:tag name="PPWINSEGMENT6LENGTH" val="63"/>
  <p:tag name="PPWINSEGMENT6SOURCERTF" val="{\rtf1\ansi\deff0{\fonttbl{\f0\fcharset0 Arial Narrow;}}{\colortbl\red0\green0\blue0;}{\f0\fs48\b\cf0 How to Configure DNS Manual and Dynamic Updates\par}}"/>
  <p:tag name="PPWINSEGMENT6TARGETRTF" val="{\rtf1\ansi\deff1{\fonttbl{\f1\fcharset0 Arial;}{\f2\fcharset0 Arial Narrow;}}{\colortbl\red0\green0\blue0;}{\f2\fs48\b\cf0 Comment configurer des mises \'E0 jour DNS manuelles et dynamiques\par}}"/>
  <p:tag name="PPWINSEGMENT7START" val="374"/>
  <p:tag name="PPWINSEGMENT7LENGTH" val="55"/>
  <p:tag name="PPWINSEGMENT7SOURCERTF" val="{\rtf1\ansi\deff0{\fonttbl{\f0\fcharset0 Arial Narrow;}}{\colortbl\red0\green0\blue0;}{\f0\fs48\b\cf0 What Is an Active Directory-Integrated DNS Zone?\par}}"/>
  <p:tag name="PPWINSEGMENT7TARGETRTF" val="{\rtf1\ansi\deff1{\fonttbl{\f1\fcharset0 Arial;}{\f2\fcharset0 Arial Narrow;}}{\colortbl\red0\green0\blue0;}{\f2\fs48\b\cf0 Qu'est-ce qu'une zone DNS int\'E9gr\'E9e \'E0 Active Directory ?\par}}"/>
  <p:tag name="PPWINSEGMENT8START" val="430"/>
  <p:tag name="PPWINSEGMENT8LENGTH" val="97"/>
  <p:tag name="PPWINSEGMENT8SOURCERTF" val="{\rtf1\ansi\deff0{\fonttbl{\f0\fcharset0 Arial Narrow;}}{\colortbl\red0\green0\blue0;}{\f0\fs48\b\cf0 How Active Directory-Integrated DNS Zones Use Secure Dynamic Updates\par}}"/>
  <p:tag name="PPWINSEGMENT8TARGETRTF" val="{\rtf1\ansi\deff1{\fonttbl{\f1\fcharset0 Arial;}{\f2\fcharset0 Arial Narrow;}}{\colortbl\red0\green0\blue0;}{\f2\fs48\b\cf0 Utilisation des mises \'E0 jour dynamiques s\'E9curis\'E9es par les zones DNS int\'E9gr\'E9es \'E0 Active Directory\par}}"/>
  <p:tag name="PPWINSEGMENT9START" val="528"/>
  <p:tag name="PPWINSEGMENT9LENGTH" val="115"/>
  <p:tag name="PPWINSEGMENT9SOURCERTF" val="{\rtf1\ansi\deff0{\fonttbl{\f0\fcharset0 Arial Narrow;}}{\colortbl\red0\green0\blue0;}{\f0\fs48\b\cf0 How to Configure Active Directory-Integrated DNS Zones to Allow Secure Dynamic Updates\par}}"/>
  <p:tag name="PPWINSEGMENT9TARGETRTF" val="{\rtf1\ansi\deff1{\fonttbl{\f1\fcharset0 Arial;}{\f2\fcharset0 Arial Narrow;}}{\colortbl\red0\green0\blue0;}{\f2\fs48\b\cf0 Comment configurer des zones DNS int\'E9gr\'E9es \'E0 Active Directory pour permettre les mises \'E0 jour dynamiques s\'E9curis\'E9es\par}}"/>
  <p:tag name="PPWINLASTSAVEDTRANSLATION" val="Présentation multimédia : Vue d'ensemble des mises à jour dynamiques DNS&#10;Que sont les mises à jour dynamiques ?&#10;Comment les clients DNS inscrivent et mettent à jour dynamiquement leurs enregistrements de ressources&#10;Comment un serveur DHCP inscrit et met à jour dynamiquement les enregistrements de ressources&#10;Comment configurer des mises à jour DNS manuelles et dynamiques&#10;Qu'est-ce qu'une zone DNS intégrée à Active Directory ?&#10;Utilisation des mises à jour dynamiques sécurisées par les zones DNS intégrées à Active Directory&#10;Comment configurer des zones DNS intégrées à Active Directory pour permettre les mises à jour dynamiques sécurisées"/>
  <p:tag name="PPWINALREADYSEGMENTED" val="True"/>
  <p:tag name="PPWINTOTALSEGMENTS" val="9"/>
</p:tagLst>
</file>

<file path=ppt/tags/tag16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1.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52\b\cf0 What Are Dynamic Updates?\par}}"/>
  <p:tag name="PPWINSEGMENT1TARGETRTF" val="{\rtf1\ansi\deff1{\fonttbl{\f1\fcharset0 Arial;}{\f2\fcharset0 Arial Narrow;}}{\colortbl\red0\green0\blue0;}{\f2\fs52\b\cf0 Que sont les mises \'E0 jour dynamiques ?\par}}"/>
  <p:tag name="PPWINLASTSAVEDTRANSLATION" val="Que sont les mises à jour dynamiques ?"/>
  <p:tag name="PPWINALREADYSEGMENTED" val="True"/>
  <p:tag name="PPWINTOTALSEGMENTS" val="1"/>
</p:tagLst>
</file>

<file path=ppt/tags/tag162.xml><?xml version="1.0" encoding="utf-8"?>
<p:tagLst xmlns:a="http://schemas.openxmlformats.org/drawingml/2006/main" xmlns:r="http://schemas.openxmlformats.org/officeDocument/2006/relationships" xmlns:p="http://schemas.openxmlformats.org/presentationml/2006/main">
  <p:tag name="PPWINSEGMENT1START" val="1"/>
  <p:tag name="PPWINSEGMENT1LENGTH" val="260"/>
  <p:tag name="PPWINSEGMENT1SOURCERTF" val="{\rtf1\ansi\deff0{\fonttbl{\f0\fcharset0 Arial Narrow;}}{\colortbl\red0\green0\blue0;}{\f0\fs36\b\cf0 A }{\f0\fs36\b\i\cf0 dynamic update}{\f0\fs36\b\cf0  is the process of a DNS client dynamically creating, registering, or updating its records in zones that are maintained by DNS servers that can accept and process messages for dynamic updates\par}}"/>
  <p:tag name="PPWINSEGMENT1TARGETRTF" val="{\rtf1\ansi\deff1{\fonttbl{\f1\fcharset0 Arial;}{\f2\fcharset0 Arial Narrow;}}{\colortbl\red0\green0\blue0;}{\f2\fs36\b\cf0 Une }{\f2\fs36\b\i\cf0 mise \'E0 jour dynamique}{\f2\fs36\b\cf0  est le processus par lequel un client DNS cr\'E9e, inscrit ou met \'E0 jour de fa\'E7on dynamique ses enregistrements dans des zones maintenues par des serveurs DNS qui peuvent accepter et traiter des messages pour des mises \'E0 jour dynamiques.\par}}"/>
  <p:tag name="PPWINLASTSAVEDTRANSLATION" val="Une mise à jour dynamique est le processus par lequel un client DNS crée, inscrit ou met à jour de façon dynamique ses enregistrements dans des zones maintenues par des serveurs DNS qui peuvent accepter et traiter des messages pour des mises à jour dynamiques."/>
  <p:tag name="PPWINALREADYSEGMENTED" val="True"/>
  <p:tag name="PPWINTOTALSEGMENTS" val="1"/>
</p:tagLst>
</file>

<file path=ppt/tags/tag16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3"/>
  <p:tag name="PPWINSEGMENT1SOURCERTF" val="{\rtf1\ansi\deff0{\fonttbl{\f0\fcharset0 Arial Narrow;}}{\colortbl\red0\green0\blue0;}{\f0\fs36\b\cf0 A }{\f0\fs36\b\i\cf0 manual update}{\f0\fs36\b\cf0  is the process of an administrator manually creating, registering, or updating the resource record\par}}"/>
  <p:tag name="PPWINSEGMENT1TARGETRTF" val="{\rtf1\ansi\deff1{\fonttbl{\f1\fcharset0 Arial;}{\f2\fcharset0 Arial Narrow;}}{\colortbl\red0\green0\blue0;}{\f2\fs36\b\cf0 Une }{\f2\fs36\b\i\cf0 mise \'E0 jour manuelle}{\f2\fs36\b\cf0  est le processus par lequel un administrateur cr\'E9e, inscrit ou met \'E0 jour manuellement un enregistrement de ressource.\par}}"/>
  <p:tag name="PPWINLASTSAVEDTRANSLATION" val="Une mise à jour manuelle est le processus par lequel un administrateur crée, inscrit ou met à jour manuellement un enregistrement de ressource."/>
  <p:tag name="PPWINALREADYSEGMENTED" val="True"/>
  <p:tag name="PPWINTOTALSEGMENTS" val="1"/>
</p:tagLst>
</file>

<file path=ppt/tags/tag16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5.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52\b\cf0 What Are Dynamic Updates?\par}}"/>
  <p:tag name="PPWINSEGMENT1TARGETRTF" val="{\rtf1\ansi\deff1{\fonttbl{\f1\fcharset0 Arial;}{\f2\fcharset0 Arial Narrow;}}{\colortbl\red0\green0\blue0;}{\f2\fs52\b\cf0 Que sont les mises \'E0 jour dynamiques ?\par}}"/>
  <p:tag name="PPWINLASTSAVEDTRANSLATION" val="Que sont les mises à jour dynamiques ?"/>
  <p:tag name="PPWINALREADYSEGMENTED" val="True"/>
  <p:tag name="PPWINTOTALSEGMENTS" val="1"/>
</p:tagLst>
</file>

<file path=ppt/tags/tag16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87"/>
  <p:tag name="PPWINSEGMENT1SOURCERTF" val="{\rtf1\ansi\deff0{\fonttbl{\f0\fcharset0 Arial Narrow;}}{\colortbl\red0\green0\blue0;}{\f0\fs40\b\cf0 Dynamic update enables DNS client computers to interact automatically with the DNS server to register and update their own resource records\par}}"/>
  <p:tag name="PPWINSEGMENT1TARGETRTF" val="{\rtf1\ansi\deff1{\fonttbl{\f1\fcharset0 Arial;}{\f2\fcharset0 Arial Narrow;}}{\colortbl\red0\green0\blue0;}{\f2\fs40\b\cf0 La mise \'E0 jour dynamique permet \'E0 des ordinateurs clients DNS de communiquer automatiquement avec le serveur DNS pour inscrire et mettre \'E0 jour leurs propres enregistrements de ressources\par}}"/>
  <p:tag name="PPWINSEGMENT2START" val="189"/>
  <p:tag name="PPWINSEGMENT2LENGTH" val="161"/>
  <p:tag name="PPWINSEGMENT2SOURCERTF" val="{\rtf1\ansi\deff0{\fonttbl{\f0\fcharset0 Arial Narrow;}}{\colortbl\red0\green0\blue0;}{\f0\fs40\cf0 Organizations that have dynamic changes can benefit from the dynamic method of updating DNS resource records\par}}"/>
  <p:tag name="PPWINSEGMENT2TARGETRTF" val="{\rtf1\ansi\deff1{\fonttbl{\f1\fcharset0 Arial;}{\f2\fcharset0 Arial Narrow;}}{\colortbl\red0\green0\blue0;}{\f2\fs40\cf0 Les organisations qui connaissent des modifications dynamiques ont int\'E9r\'EAt \'E0 recourir \'E0 la m\'E9thode dynamique de mise \'E0 jour des enregistrements de ressources DNS\par}}"/>
  <p:tag name="PPWINSEGMENT3START" val="351"/>
  <p:tag name="PPWINSEGMENT3LENGTH" val="72"/>
  <p:tag name="PPWINSEGMENT3SOURCERTF" val="{\rtf1\ansi\deff0{\fonttbl{\f0\fcharset0 Arial Narrow;}}{\colortbl\red0\green0\blue0;}{\f0\fs40\b\cf0 Organizations may benefit from manual update if they:\par}}"/>
  <p:tag name="PPWINSEGMENT3TARGETRTF" val="{\rtf1\ansi\deff1{\fonttbl{\f1\fcharset0 Arial;}{\f2\fcharset0 Arial Narrow;}}{\colortbl\red0\green0\blue0;}{\f2\fs40\b\cf0 La mise \'E0 jour manuelle peut \'EAtre b\'E9n\'E9fique dans les organisations qui :\par}}"/>
  <p:tag name="PPWINSEGMENT4START" val="424"/>
  <p:tag name="PPWINSEGMENT4LENGTH" val="108"/>
  <p:tag name="PPWINSEGMENT4SOURCERTF" val="{\rtf1\ansi\deff0{\fonttbl{\f0\fcharset0 Arial Narrow;}}{\colortbl\red0\green0\blue0;}{\f0\fs40\cf0 Are in a smaller environment that has few changes to their resource records\par}}"/>
  <p:tag name="PPWINSEGMENT4TARGETRTF" val="{\rtf1\ansi\deff1{\fonttbl{\f1\fcharset0 Arial;}{\f2\fcharset0 Arial Narrow;}}{\colortbl\red0\green0\blue0;}{\f2\fs40\cf0 ont un environnement de taille r\'E9duite avec un faible taux de modification des enregistrements de ressources\par}}"/>
  <p:tag name="PPWINSEGMENT5START" val="533"/>
  <p:tag name="PPWINSEGMENT5LENGTH" val="133"/>
  <p:tag name="PPWINSEGMENT5SOURCERTF" val="{\rtf1\ansi\deff0{\fonttbl{\f0\fcharset0 Arial Narrow;}}{\colortbl\red0\green0\blue0;}{\f0\fs40\cf0 Have isolated instances, such as when a larger organization chooses to control every address on every host.\par}}"/>
  <p:tag name="PPWINSEGMENT5TARGETRTF" val="{\rtf1\ansi\deff1{\fonttbl{\f1\fcharset0 Arial;}{\f2\fcharset0 Arial Narrow;}}{\colortbl\red0\green0\blue0;}{\f2\fs40\cf0 g\'E8rent des cas isol\'E9s, par exemple quand une organisation relativement importante choisit de contr\'F4ler chaque adresse sur chaque h\'F4te\par}}"/>
  <p:tag name="PPWINLASTSAVEDTRANSLATION" val="La mise à jour dynamique permet à des ordinateurs clients DNS de communiquer automatiquement avec le serveur DNS pour inscrire et mettre à jour leurs propres enregistrements de ressources&#10;Les organisations qui connaissent des modifications dynamiques ont intérêt à recourir à la méthode dynamique de mise à jour des enregistrements de ressources DNS&#10;La mise à jour manuelle peut être bénéfique dans les organisations qui :&#10;ont un environnement de taille réduite avec un faible taux de modification des enregistrements de ressources&#10;gèrent des cas isolés, par exemple quand une organisation relativement importante choisit de contrôler chaque adresse sur chaque hôte"/>
  <p:tag name="PPWINALREADYSEGMENTED" val="True"/>
  <p:tag name="PPWINTOTALSEGMENTS" val="5"/>
</p:tagLst>
</file>

<file path=ppt/tags/tag16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2"/>
  <p:tag name="PPWINSEGMENT1SOURCERTF" val="{\rtf1\ansi\deff0{\fonttbl{\f0\fcharset0 Arial Narrow;}}{\colortbl\red0\green0\blue0;}{\f0\fs52\b\cf0 How DNS Clients Register and Update Their Own Resource Records by Using Dynamic Updates \par}}"/>
  <p:tag name="PPWINSEGMENT1TARGETRTF" val="{\rtf1\ansi\deff1{\fonttbl{\f1\fcharset0 Arial;}{\f2\fcharset0 Arial Narrow;}}{\colortbl\red0\green0\blue0;}{\f2\fs52\b\cf0 Comment les clients DNS inscrivent et mettent \'E0 jour dynamiquement leurs enregistrements de ressources\par}}"/>
  <p:tag name="PPWINLASTSAVEDTRANSLATION" val="Comment les clients DNS inscrivent et mettent à jour dynamiquement leurs enregistrements de ressources"/>
  <p:tag name="PPWINALREADYSEGMENTED" val="True"/>
  <p:tag name="PPWINTOTALSEGMENTS" val="1"/>
</p:tagLst>
</file>

<file path=ppt/tags/tag169.xml><?xml version="1.0" encoding="utf-8"?>
<p:tagLst xmlns:a="http://schemas.openxmlformats.org/drawingml/2006/main" xmlns:r="http://schemas.openxmlformats.org/officeDocument/2006/relationships" xmlns:p="http://schemas.openxmlformats.org/presentationml/2006/main">
  <p:tag name="PPWINSEGMENT1START" val="1"/>
  <p:tag name="PPWINSEGMENT1LENGTH" val="32"/>
  <p:tag name="PPWINSEGMENT1SOURCERTF" val="{\rtf1\ansi\deff0{\fonttbl{\f0\fcharset0 Arial Narrow;}}{\colortbl\red0\green0\blue0;}{\f0\fs36\b\cf0 Client sends SOA query \par}}"/>
  <p:tag name="PPWINSEGMENT1TARGETRTF" val="{\rtf1\ansi\deff1{\fonttbl{\f1\fcharset0 Arial;}{\f2\fcharset0 Arial Narrow;}}{\colortbl\red0\green0\blue0;}{\f2\fs36\b\cf0 Le client envoie une requ\'EAte SOA\par}}"/>
  <p:tag name="PPWINLASTSAVEDTRANSLATION" val="Le client envoie une requête SOA"/>
  <p:tag name="PPWINALREADYSEGMENTED" val="True"/>
  <p:tag name="PPWINTOTALSEGMENTS" val="1"/>
</p:tagLst>
</file>

<file path=ppt/tags/tag17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1.xml><?xml version="1.0" encoding="utf-8"?>
<p:tagLst xmlns:a="http://schemas.openxmlformats.org/drawingml/2006/main" xmlns:r="http://schemas.openxmlformats.org/officeDocument/2006/relationships" xmlns:p="http://schemas.openxmlformats.org/presentationml/2006/main">
  <p:tag name="PPWINSEGMENT1START" val="1"/>
  <p:tag name="PPWINSEGMENT1LENGTH" val="66"/>
  <p:tag name="PPWINSEGMENT1SOURCERTF" val="{\rtf1\ansi\deff0{\fonttbl{\f0\fcharset0 Arial Narrow;}}{\colortbl\red0\green0\blue0;}{\f0\fs36\b\cf0 DNS server sends zone name and server IP address\par}}"/>
  <p:tag name="PPWINSEGMENT1TARGETRTF" val="{\rtf1\ansi\deff1{\fonttbl{\f1\fcharset0 Arial;}{\f2\fcharset0 Arial Narrow;}}{\colortbl\red0\green0\blue0;}{\f2\fs36\b\cf0 Le serveur DNS envoie le nom de la zone et l'adresse IP du serveur\par}}"/>
  <p:tag name="PPWINLASTSAVEDTRANSLATION" val="Le serveur DNS envoie le nom de la zone et l'adresse IP du serveur"/>
  <p:tag name="PPWINALREADYSEGMENTED" val="True"/>
  <p:tag name="PPWINTOTALSEGMENTS" val="1"/>
</p:tagLst>
</file>

<file path=ppt/tags/tag17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36\b\cf0 Client verifies existing registration\par}}"/>
  <p:tag name="PPWINSEGMENT1TARGETRTF" val="{\rtf1\ansi\deff1{\fonttbl{\f1\fcharset0 Arial;}{\f2\fcharset0 Arial Narrow;}}{\colortbl\red0\green0\blue0;}{\f2\fs36\b\cf0 Le client v\'E9rifie l'inscription existante\par}}"/>
  <p:tag name="PPWINLASTSAVEDTRANSLATION" val="Le client vérifie l'inscription existante"/>
  <p:tag name="PPWINALREADYSEGMENTED" val="True"/>
  <p:tag name="PPWINTOTALSEGMENTS" val="1"/>
</p:tagLst>
</file>

<file path=ppt/tags/tag17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5.xml><?xml version="1.0" encoding="utf-8"?>
<p:tagLst xmlns:a="http://schemas.openxmlformats.org/drawingml/2006/main" xmlns:r="http://schemas.openxmlformats.org/officeDocument/2006/relationships" xmlns:p="http://schemas.openxmlformats.org/presentationml/2006/main">
  <p:tag name="PPWINSEGMENT1START" val="1"/>
  <p:tag name="PPWINSEGMENT1LENGTH" val="65"/>
  <p:tag name="PPWINSEGMENT1SOURCERTF" val="{\rtf1\ansi\deff0{\fonttbl{\f0\fcharset0 Arial Narrow;}}{\colortbl\red0\green0\blue0;}{\f0\fs36\b\cf0 DNS server responds by stating that registration does not exist\par}}"/>
  <p:tag name="PPWINSEGMENT1TARGETRTF" val="{\rtf1\ansi\deff1{\fonttbl{\f1\fcharset0 Arial;}{\f2\fcharset0 Arial Narrow;}}{\colortbl\red0\green0\blue0;}{\f2\fs36\b\cf0 Le serveur DNS r\'E9pond en indiquant que l'inscription n'existe pas\par}}"/>
  <p:tag name="PPWINLASTSAVEDTRANSLATION" val="Le serveur DNS répond en indiquant que l'inscription n'existe pas"/>
  <p:tag name="PPWINALREADYSEGMENTED" val="True"/>
  <p:tag name="PPWINTOTALSEGMENTS" val="1"/>
</p:tagLst>
</file>

<file path=ppt/tags/tag176.xml><?xml version="1.0" encoding="utf-8"?>
<p:tagLst xmlns:a="http://schemas.openxmlformats.org/drawingml/2006/main" xmlns:r="http://schemas.openxmlformats.org/officeDocument/2006/relationships" xmlns:p="http://schemas.openxmlformats.org/presentationml/2006/main">
  <p:tag name="PPWINSEGMENT1START" val="1"/>
  <p:tag name="PPWINSEGMENT1LENGTH" val="57"/>
  <p:tag name="PPWINSEGMENT1SOURCERTF" val="{\rtf1\ansi\deff0{\fonttbl{\f0\fcharset0 Arial Narrow;}}{\colortbl\red0\green0\blue0;}{\f0\fs36\b\cf0 Client sends dynamic update to DNS server\par}}"/>
  <p:tag name="PPWINSEGMENT1TARGETRTF" val="{\rtf1\ansi\deff1{\fonttbl{\f1\fcharset0 Arial;}{\f2\fcharset0 Arial Narrow;}}{\colortbl\red0\green0\blue0;}{\f2\fs36\b\cf0 Le client envoie une mise \'E0 jour dynamique au serveur DNS\par}}"/>
  <p:tag name="PPWINLASTSAVEDTRANSLATION" val="Le client envoie une mise à jour dynamique au serveur DNS"/>
  <p:tag name="PPWINALREADYSEGMENTED" val="True"/>
  <p:tag name="PPWINTOTALSEGMENTS" val="1"/>
</p:tagLst>
</file>

<file path=ppt/tags/tag17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8.xml><?xml version="1.0" encoding="utf-8"?>
<p:tagLst xmlns:a="http://schemas.openxmlformats.org/drawingml/2006/main" xmlns:r="http://schemas.openxmlformats.org/officeDocument/2006/relationships" xmlns:p="http://schemas.openxmlformats.org/presentationml/2006/main">
  <p:tag name="PPTAGGERGROUP" val="1"/>
</p:tagLst>
</file>

<file path=ppt/tags/tag179.xml><?xml version="1.0" encoding="utf-8"?>
<p:tagLst xmlns:a="http://schemas.openxmlformats.org/drawingml/2006/main" xmlns:r="http://schemas.openxmlformats.org/officeDocument/2006/relationships" xmlns:p="http://schemas.openxmlformats.org/presentationml/2006/main">
  <p:tag name="PPTAGGERGROUP" val="1"/>
</p:tagLst>
</file>

<file path=ppt/tags/tag180.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36\b\cf0 Windows \par}}"/>
  <p:tag name="PPWINSEGMENT1TARGETRTF" val="{\rtf1\ansi\deff1{\fonttbl{\f1\fcharset0 Arial;}{\f2\fcharset0 Arial Narrow;}}{\colortbl\red0\green0\blue0;}{\f2\fs36\b\cf0 Windows \par}}"/>
  <p:tag name="PPWINSEGMENT2START" val="10"/>
  <p:tag name="PPWINSEGMENT2LENGTH" val="11"/>
  <p:tag name="PPWINSEGMENT2SOURCERTF" val="{\rtf1\ansi\deff0{\fonttbl{\f0\fcharset0 Arial Narrow;}}{\colortbl\red0\green0\blue0;}{\f0\fs36\b\cf0 Server 2003\par}}"/>
  <p:tag name="PPWINSEGMENT2TARGETRTF" val="{\rtf1\ansi\deff1{\fonttbl{\f1\fcharset0 Arial;}{\f2\fcharset0 Arial Narrow;}}{\colortbl\red0\green0\blue0;}{\f2\fs36\b\cf0 Server 2003\par}}"/>
  <p:tag name="PPWINLASTSAVEDTRANSLATION" val="Windows &#10;Server 2003"/>
  <p:tag name="PPWINALREADYSEGMENTED" val="True"/>
  <p:tag name="PPWINTOTALSEGMENTS" val="2"/>
</p:tagLst>
</file>

<file path=ppt/tags/tag181.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36\b\cf0 Windows \par}}"/>
  <p:tag name="PPWINSEGMENT1TARGETRTF" val="{\rtf1\ansi\deff1{\fonttbl{\f1\fcharset0 Arial;}{\f2\fcharset0 Arial Narrow;}}{\colortbl\red0\green0\blue0;}{\f2\fs36\b\cf0 Windows \par}}"/>
  <p:tag name="PPWINSEGMENT2START" val="10"/>
  <p:tag name="PPWINSEGMENT2LENGTH" val="2"/>
  <p:tag name="PPWINSEGMENT2SOURCERTF" val="{\rtf1\ansi\deff0{\fonttbl{\f0\fcharset0 Arial Narrow;}}{\colortbl\red0\green0\blue0;}{\f0\fs36\b\cf0 XP\par}}"/>
  <p:tag name="PPWINSEGMENT2TARGETRTF" val="{\rtf1\ansi\deff1{\fonttbl{\f1\fcharset0 Arial;}{\f2\fcharset0 Arial Narrow;}}{\colortbl\red0\green0\blue0;}{\f2\fs36\b\cf0 XP\par}}"/>
  <p:tag name="PPWINLASTSAVEDTRANSLATION" val="Windows &#10;XP"/>
  <p:tag name="PPWINALREADYSEGMENTED" val="True"/>
  <p:tag name="PPWINTOTALSEGMENTS" val="2"/>
</p:tagLst>
</file>

<file path=ppt/tags/tag182.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36\b\cf0 Windows \par}}"/>
  <p:tag name="PPWINSEGMENT1TARGETRTF" val="{\rtf1\ansi\deff1{\fonttbl{\f1\fcharset0 Arial;}{\f2\fcharset0 Arial Narrow;}}{\colortbl\red0\green0\blue0;}{\f2\fs36\b\cf0 Windows \par}}"/>
  <p:tag name="PPWINLASTSAVEDTRANSLATION" val="Windows &#10;2000"/>
  <p:tag name="PPWINALREADYSEGMENTED" val="True"/>
  <p:tag name="PPWINTOTALSEGMENTS" val="1"/>
</p:tagLst>
</file>

<file path=ppt/tags/tag1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5"/>
  <p:tag name="PPWINSEGMENT1SOURCERTF" val="{\rtf1\ansi\deff0{\fonttbl{\f0\fcharset0 Arial Narrow;}}{\colortbl\red0\green0\blue0;}{\f0\fs36\b\cf0 DNS Server\par}}"/>
  <p:tag name="PPWINSEGMENT1TARGETRTF" val="{\rtf1\ansi\deff1{\fonttbl{\f1\fcharset0 Arial;}{\f2\fcharset0 Arial Narrow;}}{\colortbl\red0\green0\blue0;}{\f2\fs36\b\cf0 local\par}}"/>
  <p:tag name="PPWINLASTSAVEDTRANSLATION" val="local"/>
  <p:tag name="PPWINALREADYSEGMENTED" val="True"/>
  <p:tag name="PPWINTOTALSEGMENTS" val="1"/>
</p:tagLst>
</file>

<file path=ppt/tags/tag184.xml><?xml version="1.0" encoding="utf-8"?>
<p:tagLst xmlns:a="http://schemas.openxmlformats.org/drawingml/2006/main" xmlns:r="http://schemas.openxmlformats.org/officeDocument/2006/relationships" xmlns:p="http://schemas.openxmlformats.org/presentationml/2006/main">
  <p:tag name="PPTAGGERGROUP" val="2,4"/>
</p:tagLst>
</file>

<file path=ppt/tags/tag185.xml><?xml version="1.0" encoding="utf-8"?>
<p:tagLst xmlns:a="http://schemas.openxmlformats.org/drawingml/2006/main" xmlns:r="http://schemas.openxmlformats.org/officeDocument/2006/relationships" xmlns:p="http://schemas.openxmlformats.org/presentationml/2006/main">
  <p:tag name="PPTAGGERGROUP" val="2,4"/>
</p:tagLst>
</file>

<file path=ppt/tags/tag186.xml><?xml version="1.0" encoding="utf-8"?>
<p:tagLst xmlns:a="http://schemas.openxmlformats.org/drawingml/2006/main" xmlns:r="http://schemas.openxmlformats.org/officeDocument/2006/relationships" xmlns:p="http://schemas.openxmlformats.org/presentationml/2006/main">
  <p:tag name="PPTAGGERGROUP" val="2,4"/>
</p:tagLst>
</file>

<file path=ppt/tags/tag187.xml><?xml version="1.0" encoding="utf-8"?>
<p:tagLst xmlns:a="http://schemas.openxmlformats.org/drawingml/2006/main" xmlns:r="http://schemas.openxmlformats.org/officeDocument/2006/relationships" xmlns:p="http://schemas.openxmlformats.org/presentationml/2006/main">
  <p:tag name="PPTAGGERGROUP" val="2"/>
  <p:tag name="PPWINSEGMENT1START" val="1"/>
  <p:tag name="PPWINSEGMENT1LENGTH" val="15"/>
  <p:tag name="PPWINSEGMENT1SOURCERTF" val="{\rtf1\ansi\deff0{\fonttbl{\f0\fcharset0 Arial Narrow;}}{\colortbl\red0\green0\blue0;}{\f0\fs36\b\cf0 Resource\par}}"/>
  <p:tag name="PPWINSEGMENT1TARGETRTF" val="{\rtf1\ansi\deff1{\fonttbl{\f1\fcharset0 Arial;}{\f2\fcharset0 Arial Narrow;}}{\colortbl\red0\green0\blue0;}{\f2\fs36\b\cf0 Enregistrements\par}}"/>
  <p:tag name="PPWINSEGMENT2START" val="17"/>
  <p:tag name="PPWINSEGMENT2LENGTH" val="13"/>
  <p:tag name="PPWINSEGMENT2SOURCERTF" val="{\rtf1\ansi\deff0{\fonttbl{\f0\fcharset0 Arial Narrow;}}{\colortbl\red0\green0\blue0;}{\f0\fs36\b\cf0 Records\par}}"/>
  <p:tag name="PPWINSEGMENT2TARGETRTF" val="{\rtf1\ansi\deff1{\fonttbl{\f1\fcharset0 Arial;}{\f2\fcharset0 Arial Narrow;}}{\colortbl\red0\green0\blue0;}{\f2\fs36\b\cf0 de ressources\par}}"/>
  <p:tag name="PPWINLASTSAVEDTRANSLATION" val="Enregistrements&#10;de ressources"/>
  <p:tag name="PPWINALREADYSEGMENTED" val="True"/>
  <p:tag name="PPWINTOTALSEGMENTS" val="2"/>
</p:tagLst>
</file>

<file path=ppt/tags/tag188.xml><?xml version="1.0" encoding="utf-8"?>
<p:tagLst xmlns:a="http://schemas.openxmlformats.org/drawingml/2006/main" xmlns:r="http://schemas.openxmlformats.org/officeDocument/2006/relationships" xmlns:p="http://schemas.openxmlformats.org/presentationml/2006/main">
  <p:tag name="PPTAGGERGROUP" val="3,5"/>
</p:tagLst>
</file>

<file path=ppt/tags/tag189.xml><?xml version="1.0" encoding="utf-8"?>
<p:tagLst xmlns:a="http://schemas.openxmlformats.org/drawingml/2006/main" xmlns:r="http://schemas.openxmlformats.org/officeDocument/2006/relationships" xmlns:p="http://schemas.openxmlformats.org/presentationml/2006/main">
  <p:tag name="PPTAGGERGROUP" val="3,5"/>
</p:tagLst>
</file>

<file path=ppt/tags/tag190.xml><?xml version="1.0" encoding="utf-8"?>
<p:tagLst xmlns:a="http://schemas.openxmlformats.org/drawingml/2006/main" xmlns:r="http://schemas.openxmlformats.org/officeDocument/2006/relationships" xmlns:p="http://schemas.openxmlformats.org/presentationml/2006/main">
  <p:tag name="PPTAGGERGROUP" val="3,5"/>
</p:tagLst>
</file>

<file path=ppt/tags/tag191.xml><?xml version="1.0" encoding="utf-8"?>
<p:tagLst xmlns:a="http://schemas.openxmlformats.org/drawingml/2006/main" xmlns:r="http://schemas.openxmlformats.org/officeDocument/2006/relationships" xmlns:p="http://schemas.openxmlformats.org/presentationml/2006/main">
  <p:tag name="PPTAGGERGROUP" val="3,5"/>
</p:tagLst>
</file>

<file path=ppt/tags/tag192.xml><?xml version="1.0" encoding="utf-8"?>
<p:tagLst xmlns:a="http://schemas.openxmlformats.org/drawingml/2006/main" xmlns:r="http://schemas.openxmlformats.org/officeDocument/2006/relationships" xmlns:p="http://schemas.openxmlformats.org/presentationml/2006/main">
  <p:tag name="PPTAGGERGROUP" val="3,5"/>
</p:tagLst>
</file>

<file path=ppt/tags/tag193.xml><?xml version="1.0" encoding="utf-8"?>
<p:tagLst xmlns:a="http://schemas.openxmlformats.org/drawingml/2006/main" xmlns:r="http://schemas.openxmlformats.org/officeDocument/2006/relationships" xmlns:p="http://schemas.openxmlformats.org/presentationml/2006/main">
  <p:tag name="PPTAGGERGROUP" val="3"/>
  <p:tag name="PPWINTOTALSEGMENTS" val="0"/>
</p:tagLst>
</file>

<file path=ppt/tags/tag194.xml><?xml version="1.0" encoding="utf-8"?>
<p:tagLst xmlns:a="http://schemas.openxmlformats.org/drawingml/2006/main" xmlns:r="http://schemas.openxmlformats.org/officeDocument/2006/relationships" xmlns:p="http://schemas.openxmlformats.org/presentationml/2006/main">
  <p:tag name="PPTAGGERGROUP" val="3"/>
  <p:tag name="PPWINTOTALSEGMENTS" val="0"/>
</p:tagLst>
</file>

<file path=ppt/tags/tag195.xml><?xml version="1.0" encoding="utf-8"?>
<p:tagLst xmlns:a="http://schemas.openxmlformats.org/drawingml/2006/main" xmlns:r="http://schemas.openxmlformats.org/officeDocument/2006/relationships" xmlns:p="http://schemas.openxmlformats.org/presentationml/2006/main">
  <p:tag name="PPTAGGERGROUP" val="3"/>
  <p:tag name="PPWINTOTALSEGMENTS" val="0"/>
</p:tagLst>
</file>

<file path=ppt/tags/tag196.xml><?xml version="1.0" encoding="utf-8"?>
<p:tagLst xmlns:a="http://schemas.openxmlformats.org/drawingml/2006/main" xmlns:r="http://schemas.openxmlformats.org/officeDocument/2006/relationships" xmlns:p="http://schemas.openxmlformats.org/presentationml/2006/main">
  <p:tag name="PPTAGGERGROUP" val="3"/>
  <p:tag name="PPWINTOTALSEGMENTS" val="0"/>
</p:tagLst>
</file>

<file path=ppt/tags/tag197.xml><?xml version="1.0" encoding="utf-8"?>
<p:tagLst xmlns:a="http://schemas.openxmlformats.org/drawingml/2006/main" xmlns:r="http://schemas.openxmlformats.org/officeDocument/2006/relationships" xmlns:p="http://schemas.openxmlformats.org/presentationml/2006/main">
  <p:tag name="PPTAGGERGROUP" val="3"/>
  <p:tag name="PPWINTOTALSEGMENTS" val="0"/>
</p:tagLst>
</file>

<file path=ppt/tags/tag198.xml><?xml version="1.0" encoding="utf-8"?>
<p:tagLst xmlns:a="http://schemas.openxmlformats.org/drawingml/2006/main" xmlns:r="http://schemas.openxmlformats.org/officeDocument/2006/relationships" xmlns:p="http://schemas.openxmlformats.org/presentationml/2006/main">
  <p:tag name="PPWINTOTALSEGMENTS" val="0"/>
</p:tagLst>
</file>

<file path=ppt/tags/tag199.xml><?xml version="1.0" encoding="utf-8"?>
<p:tagLst xmlns:a="http://schemas.openxmlformats.org/drawingml/2006/main" xmlns:r="http://schemas.openxmlformats.org/officeDocument/2006/relationships" xmlns:p="http://schemas.openxmlformats.org/presentationml/2006/main">
  <p:tag name="PPWINTOTALSEGMENTS" val="0"/>
</p:tagLst>
</file>

<file path=ppt/tags/tag200.xml><?xml version="1.0" encoding="utf-8"?>
<p:tagLst xmlns:a="http://schemas.openxmlformats.org/drawingml/2006/main" xmlns:r="http://schemas.openxmlformats.org/officeDocument/2006/relationships" xmlns:p="http://schemas.openxmlformats.org/presentationml/2006/main">
  <p:tag name="PPWINSEGMENT1START" val="1"/>
  <p:tag name="PPWINSEGMENT1LENGTH" val="93"/>
  <p:tag name="PPWINSEGMENT1SOURCERTF" val="{\rtf1\ansi\deff0{\fonttbl{\f0\fcharset0 Arial Narrow;}}{\colortbl\red0\green0\blue0;}{\f0\fs60\b\cf0 How a DHCP Server Registers and Updates Resource Records by Using Dynamic Updates \par}}"/>
  <p:tag name="PPWINSEGMENT1TARGETRTF" val="{\rtf1\ansi\deff1{\fonttbl{\f1\fcharset0 Arial;}{\f2\fcharset0 Arial Narrow;}}{\colortbl\red0\green0\blue0;}{\f2\fs60\b\cf0 Comment un serveur DHCP inscrit et met \'E0 jour dynamiquement les enregistrements de ressources\par}}"/>
  <p:tag name="PPWINLASTSAVEDTRANSLATION" val="Comment un serveur DHCP inscrit et met à jour dynamiquement les enregistrements de ressources"/>
  <p:tag name="PPWINALREADYSEGMENTED" val="True"/>
  <p:tag name="PPWINTOTALSEGMENTS" val="1"/>
</p:tagLst>
</file>

<file path=ppt/tags/tag201.xml><?xml version="1.0" encoding="utf-8"?>
<p:tagLst xmlns:a="http://schemas.openxmlformats.org/drawingml/2006/main" xmlns:r="http://schemas.openxmlformats.org/officeDocument/2006/relationships" xmlns:p="http://schemas.openxmlformats.org/presentationml/2006/main">
  <p:tag name="PPTAGGERGROUP" val="1"/>
</p:tagLst>
</file>

<file path=ppt/tags/tag202.xml><?xml version="1.0" encoding="utf-8"?>
<p:tagLst xmlns:a="http://schemas.openxmlformats.org/drawingml/2006/main" xmlns:r="http://schemas.openxmlformats.org/officeDocument/2006/relationships" xmlns:p="http://schemas.openxmlformats.org/presentationml/2006/main">
  <p:tag name="PPTAGGERGROUP" val="1"/>
</p:tagLst>
</file>

<file path=ppt/tags/tag20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8"/>
  <p:tag name="PPWINSEGMENT1SOURCERTF" val="{\rtf1\ansi\deff0{\fonttbl{\f0\fcharset0 Arial Narrow;}}{\colortbl\red0\green0\blue0;}{\f0\fs36\b\cf0 Window Server 2003\par}}"/>
  <p:tag name="PPWINSEGMENT1TARGETRTF" val="{\rtf1\ansi\deff1{\fonttbl{\f1\fcharset0 Arial;}{\f2\fcharset0 Arial Narrow;}}{\colortbl\red0\green0\blue0;}{\f2\fs36\b\cf0 Window Server 2003\par}}"/>
  <p:tag name="PPWINSEGMENT2START" val="20"/>
  <p:tag name="PPWINSEGMENT2LENGTH" val="14"/>
  <p:tag name="PPWINSEGMENT2SOURCERTF" val="{\rtf1\ansi\deff0{\fonttbl{\f0\fcharset0 Arial Narrow;}}{\colortbl\red0\green0\blue0;}{\f0\fs36\b\cf0 Running DHCP\par}}"/>
  <p:tag name="PPWINSEGMENT2TARGETRTF" val="{\rtf1\ansi\deff1{\fonttbl{\f1\fcharset0 Arial;}{\f2\fcharset0 Arial Narrow;}}{\colortbl\red0\green0\blue0;}{\f2\fs36\b\cf0 ex\'E9cutant DHCP\par}}"/>
  <p:tag name="PPWINLASTSAVEDTRANSLATION" val="Window Server 2003&#10;exécutant DHCP"/>
  <p:tag name="PPWINALREADYSEGMENTED" val="True"/>
  <p:tag name="PPWINTOTALSEGMENTS" val="2"/>
</p:tagLst>
</file>

<file path=ppt/tags/tag20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DHCP Down-\par}}"/>
  <p:tag name="PPWINSEGMENT1TARGETRTF" val="{\rtf1\ansi\deff1{\fonttbl{\f1\fcharset0 Arial;}{\f2\fcharset0 Arial Narrow;}}{\colortbl\red0\green0\blue0;}{\f2\fs36\b\cf0 Client DHCP\par}}"/>
  <p:tag name="PPWINSEGMENT2START" val="13"/>
  <p:tag name="PPWINSEGMENT2LENGTH" val="13"/>
  <p:tag name="PPWINSEGMENT2SOURCERTF" val="{\rtf1\ansi\deff0{\fonttbl{\f0\fcharset0 Arial Narrow;}}{\colortbl\red0\green0\blue0;}{\f0\fs36\b\cf0 level Client\par}}"/>
  <p:tag name="PPWINSEGMENT2TARGETRTF" val="{\rtf1\ansi\deff1{\fonttbl{\f1\fcharset0 Arial;}{\f2\fcharset0 Arial Narrow;}}{\colortbl\red0\green0\blue0;}{\f2\fs36\b\cf0 de bas niveau\par}}"/>
  <p:tag name="PPWINLASTSAVEDTRANSLATION" val="Client DHCP&#10;de bas niveau"/>
  <p:tag name="PPWINALREADYSEGMENTED" val="True"/>
  <p:tag name="PPWINTOTALSEGMENTS" val="2"/>
</p:tagLst>
</file>

<file path=ppt/tags/tag205.xml><?xml version="1.0" encoding="utf-8"?>
<p:tagLst xmlns:a="http://schemas.openxmlformats.org/drawingml/2006/main" xmlns:r="http://schemas.openxmlformats.org/officeDocument/2006/relationships" xmlns:p="http://schemas.openxmlformats.org/presentationml/2006/main">
  <p:tag name="PPWINSEGMENT1START" val="1"/>
  <p:tag name="PPWINSEGMENT1LENGTH" val="5"/>
  <p:tag name="PPWINSEGMENT1SOURCERTF" val="{\rtf1\ansi\deff0{\fonttbl{\f0\fcharset0 Arial Narrow;}}{\colortbl\red0\green0\blue0;}{\f0\fs36\b\cf0 DNS Server\par}}"/>
  <p:tag name="PPWINSEGMENT1TARGETRTF" val="{\rtf1\ansi\deff1{\fonttbl{\f1\fcharset0 Arial;}{\f2\fcharset0 Arial Narrow;}}{\colortbl\red0\green0\blue0;}{\f2\fs36\b\cf0 local\par}}"/>
  <p:tag name="PPWINLASTSAVEDTRANSLATION" val="local"/>
  <p:tag name="PPWINALREADYSEGMENTED" val="True"/>
  <p:tag name="PPWINTOTALSEGMENTS" val="1"/>
</p:tagLst>
</file>

<file path=ppt/tags/tag206.xml><?xml version="1.0" encoding="utf-8"?>
<p:tagLst xmlns:a="http://schemas.openxmlformats.org/drawingml/2006/main" xmlns:r="http://schemas.openxmlformats.org/officeDocument/2006/relationships" xmlns:p="http://schemas.openxmlformats.org/presentationml/2006/main">
  <p:tag name="PPTAGGERGROUP" val="2,6"/>
</p:tagLst>
</file>

<file path=ppt/tags/tag207.xml><?xml version="1.0" encoding="utf-8"?>
<p:tagLst xmlns:a="http://schemas.openxmlformats.org/drawingml/2006/main" xmlns:r="http://schemas.openxmlformats.org/officeDocument/2006/relationships" xmlns:p="http://schemas.openxmlformats.org/presentationml/2006/main">
  <p:tag name="PPTAGGERGROUP" val="2,6"/>
</p:tagLst>
</file>

<file path=ppt/tags/tag208.xml><?xml version="1.0" encoding="utf-8"?>
<p:tagLst xmlns:a="http://schemas.openxmlformats.org/drawingml/2006/main" xmlns:r="http://schemas.openxmlformats.org/officeDocument/2006/relationships" xmlns:p="http://schemas.openxmlformats.org/presentationml/2006/main">
  <p:tag name="PPTAGGERGROUP" val="2,6"/>
</p:tagLst>
</file>

<file path=ppt/tags/tag209.xml><?xml version="1.0" encoding="utf-8"?>
<p:tagLst xmlns:a="http://schemas.openxmlformats.org/drawingml/2006/main" xmlns:r="http://schemas.openxmlformats.org/officeDocument/2006/relationships" xmlns:p="http://schemas.openxmlformats.org/presentationml/2006/main">
  <p:tag name="PPTAGGERGROUP" val="2"/>
  <p:tag name="PPWINSEGMENT1START" val="1"/>
  <p:tag name="PPWINSEGMENT1LENGTH" val="15"/>
  <p:tag name="PPWINSEGMENT1SOURCERTF" val="{\rtf1\ansi\deff0{\fonttbl{\f0\fcharset0 Arial Narrow;}}{\colortbl\red0\green0\blue0;}{\f0\fs36\b\cf0 Resource\par}}"/>
  <p:tag name="PPWINSEGMENT1TARGETRTF" val="{\rtf1\ansi\deff1{\fonttbl{\f1\fcharset0 Arial;}{\f2\fcharset0 Arial Narrow;}}{\colortbl\red0\green0\blue0;}{\f2\fs36\b\cf0 Enregistrements\par}}"/>
  <p:tag name="PPWINSEGMENT2START" val="17"/>
  <p:tag name="PPWINSEGMENT2LENGTH" val="13"/>
  <p:tag name="PPWINSEGMENT2SOURCERTF" val="{\rtf1\ansi\deff0{\fonttbl{\f0\fcharset0 Arial Narrow;}}{\colortbl\red0\green0\blue0;}{\f0\fs36\b\cf0 Records\par}}"/>
  <p:tag name="PPWINSEGMENT2TARGETRTF" val="{\rtf1\ansi\deff1{\fonttbl{\f1\fcharset0 Arial;}{\f2\fcharset0 Arial Narrow;}}{\colortbl\red0\green0\blue0;}{\f2\fs36\b\cf0 de ressources\par}}"/>
  <p:tag name="PPWINLASTSAVEDTRANSLATION" val="Enregistrements&#10;de ressources"/>
  <p:tag name="PPWINALREADYSEGMENTED" val="True"/>
  <p:tag name="PPWINTOTALSEGMENTS" val="2"/>
</p:tagLst>
</file>

<file path=ppt/tags/tag210.xml><?xml version="1.0" encoding="utf-8"?>
<p:tagLst xmlns:a="http://schemas.openxmlformats.org/drawingml/2006/main" xmlns:r="http://schemas.openxmlformats.org/officeDocument/2006/relationships" xmlns:p="http://schemas.openxmlformats.org/presentationml/2006/main">
  <p:tag name="PPTAGGERGROUP" val="3"/>
</p:tagLst>
</file>

<file path=ppt/tags/tag211.xml><?xml version="1.0" encoding="utf-8"?>
<p:tagLst xmlns:a="http://schemas.openxmlformats.org/drawingml/2006/main" xmlns:r="http://schemas.openxmlformats.org/officeDocument/2006/relationships" xmlns:p="http://schemas.openxmlformats.org/presentationml/2006/main">
  <p:tag name="PPTAGGERGROUP" val="3"/>
</p:tagLst>
</file>

<file path=ppt/tags/tag212.xml><?xml version="1.0" encoding="utf-8"?>
<p:tagLst xmlns:a="http://schemas.openxmlformats.org/drawingml/2006/main" xmlns:r="http://schemas.openxmlformats.org/officeDocument/2006/relationships" xmlns:p="http://schemas.openxmlformats.org/presentationml/2006/main">
  <p:tag name="PPWINTOTALSEGMENTS" val="0"/>
</p:tagLst>
</file>

<file path=ppt/tags/tag213.xml><?xml version="1.0" encoding="utf-8"?>
<p:tagLst xmlns:a="http://schemas.openxmlformats.org/drawingml/2006/main" xmlns:r="http://schemas.openxmlformats.org/officeDocument/2006/relationships" xmlns:p="http://schemas.openxmlformats.org/presentationml/2006/main">
  <p:tag name="PPWINTOTALSEGMENTS" val="0"/>
</p:tagLst>
</file>

<file path=ppt/tags/tag214.xml><?xml version="1.0" encoding="utf-8"?>
<p:tagLst xmlns:a="http://schemas.openxmlformats.org/drawingml/2006/main" xmlns:r="http://schemas.openxmlformats.org/officeDocument/2006/relationships" xmlns:p="http://schemas.openxmlformats.org/presentationml/2006/main">
  <p:tag name="PPTAGGERGROUP" val="4"/>
  <p:tag name="PPWINSEGMENT1START" val="1"/>
  <p:tag name="PPWINSEGMENT1LENGTH" val="46"/>
  <p:tag name="PPWINSEGMENT1SOURCERTF" val="{\rtf1\ansi\deff0{\fonttbl{\f0\fcharset0 Arial Narrow;}}{\colortbl\red0\green0\blue0;}{\f0\fs36\b\cf0 DHCP client makes an IP lease request \par}}"/>
  <p:tag name="PPWINSEGMENT1TARGETRTF" val="{\rtf1\ansi\deff1{\fonttbl{\f1\fcharset0 Arial;}{\f2\fcharset0 Arial Narrow;}}{\colortbl\red0\green0\blue0;}{\f2\fs36\b\cf0 Le client DHCP effectue une demande de bail IP\par}}"/>
  <p:tag name="PPWINLASTSAVEDTRANSLATION" val="Le client DHCP effectue une demande de bail IP"/>
  <p:tag name="PPWINALREADYSEGMENTED" val="True"/>
  <p:tag name="PPWINTOTALSEGMENTS" val="1"/>
</p:tagLst>
</file>

<file path=ppt/tags/tag215.xml><?xml version="1.0" encoding="utf-8"?>
<p:tagLst xmlns:a="http://schemas.openxmlformats.org/drawingml/2006/main" xmlns:r="http://schemas.openxmlformats.org/officeDocument/2006/relationships" xmlns:p="http://schemas.openxmlformats.org/presentationml/2006/main">
  <p:tag name="PPTAGGERGROUP" val="4"/>
  <p:tag name="PPWINSEGMENT1START" val="1"/>
  <p:tag name="PPWINSEGMENT1LENGTH" val="34"/>
  <p:tag name="PPWINSEGMENT1SOURCERTF" val="{\rtf1\ansi\deff0{\fonttbl{\f0\fcharset0 Arial Narrow;}}{\colortbl\red0\green0\blue0;}{\f0\fs36\b\cf0 DHCP server grants IP lease\par}}"/>
  <p:tag name="PPWINSEGMENT1TARGETRTF" val="{\rtf1\ansi\deff1{\fonttbl{\f1\fcharset0 Arial;}{\f2\fcharset0 Arial Narrow;}}{\colortbl\red0\green0\blue0;}{\f2\fs36\b\cf0 Le serveur DHCP accorde un bail IP\par}}"/>
  <p:tag name="PPWINLASTSAVEDTRANSLATION" val="Le serveur DHCP accorde un bail IP"/>
  <p:tag name="PPWINALREADYSEGMENTED" val="True"/>
  <p:tag name="PPWINTOTALSEGMENTS" val="1"/>
</p:tagLst>
</file>

<file path=ppt/tags/tag216.xml><?xml version="1.0" encoding="utf-8"?>
<p:tagLst xmlns:a="http://schemas.openxmlformats.org/drawingml/2006/main" xmlns:r="http://schemas.openxmlformats.org/officeDocument/2006/relationships" xmlns:p="http://schemas.openxmlformats.org/presentationml/2006/main">
  <p:tag name="PPTAGGERGROUP" val="4"/>
  <p:tag name="PPWINSEGMENT1START" val="1"/>
  <p:tag name="PPWINSEGMENT1LENGTH" val="86"/>
  <p:tag name="PPWINSEGMENT1SOURCERTF" val="{\rtf1\ansi\deff0{\fonttbl{\f0\fcharset0 Arial Narrow;}}{\colortbl\red0\green0\blue0;}{\f0\fs36\b\cf0 DHCP server automatically generates client\'92s FQDN\par}}"/>
  <p:tag name="PPWINSEGMENT1TARGETRTF" val="{\rtf1\ansi\deff1{\fonttbl{\f1\fcharset0 Arial;}{\f2\fcharset0 Arial Narrow;}}{\colortbl\red0\green0\blue0;}{\f2\fs36\b\cf0 Le serveur DHCP g\'E9n\'E8re automatiquement le nom de domaine pleinement qualifi\'E9 du client\par}}"/>
  <p:tag name="PPWINLASTSAVEDTRANSLATION" val="Le serveur DHCP génère automatiquement le nom de domaine pleinement qualifié du client"/>
  <p:tag name="PPWINALREADYSEGMENTED" val="True"/>
  <p:tag name="PPWINTOTALSEGMENTS" val="1"/>
</p:tagLst>
</file>

<file path=ppt/tags/tag217.xml><?xml version="1.0" encoding="utf-8"?>
<p:tagLst xmlns:a="http://schemas.openxmlformats.org/drawingml/2006/main" xmlns:r="http://schemas.openxmlformats.org/officeDocument/2006/relationships" xmlns:p="http://schemas.openxmlformats.org/presentationml/2006/main">
  <p:tag name="PPTAGGERGROUP" val="4"/>
  <p:tag name="PPWINSEGMENT1START" val="1"/>
  <p:tag name="PPWINSEGMENT1LENGTH" val="103"/>
  <p:tag name="PPWINSEGMENT1SOURCERTF" val="{\rtf1\ansi\deff0{\fonttbl{\f0\fcharset0 Arial Narrow;}}{\colortbl\red0\green0\blue0;}{\f0\fs36\b\cf0 Using dynamic update, the DHCP server updates the DNS forward and reverse records for the client\par}}"/>
  <p:tag name="PPWINSEGMENT1TARGETRTF" val="{\rtf1\ansi\deff1{\fonttbl{\f1\fcharset0 Arial;}{\f2\fcharset0 Arial Narrow;}}{\colortbl\red0\green0\blue0;}{\f2\fs36\b\cf0 Le serveur DHCP met \'E0 jour dynamiquement les enregistrements de recherche directe et invers\'E9e du client\par}}"/>
  <p:tag name="PPWINLASTSAVEDTRANSLATION" val="Le serveur DHCP met à jour dynamiquement les enregistrements de recherche directe et inversée du client"/>
  <p:tag name="PPWINALREADYSEGMENTED" val="True"/>
  <p:tag name="PPWINTOTALSEGMENTS" val="1"/>
</p:tagLst>
</file>

<file path=ppt/tags/tag218.xml><?xml version="1.0" encoding="utf-8"?>
<p:tagLst xmlns:a="http://schemas.openxmlformats.org/drawingml/2006/main" xmlns:r="http://schemas.openxmlformats.org/officeDocument/2006/relationships" xmlns:p="http://schemas.openxmlformats.org/presentationml/2006/main">
  <p:tag name="PPTAGGERGROUP" val="4"/>
  <p:tag name="PPWINTOTALSEGMENTS" val="0"/>
</p:tagLst>
</file>

<file path=ppt/tags/tag219.xml><?xml version="1.0" encoding="utf-8"?>
<p:tagLst xmlns:a="http://schemas.openxmlformats.org/drawingml/2006/main" xmlns:r="http://schemas.openxmlformats.org/officeDocument/2006/relationships" xmlns:p="http://schemas.openxmlformats.org/presentationml/2006/main">
  <p:tag name="PPTAGGERGROUP" val="4"/>
  <p:tag name="PPWINTOTALSEGMENTS" val="0"/>
</p:tagLst>
</file>

<file path=ppt/tags/tag220.xml><?xml version="1.0" encoding="utf-8"?>
<p:tagLst xmlns:a="http://schemas.openxmlformats.org/drawingml/2006/main" xmlns:r="http://schemas.openxmlformats.org/officeDocument/2006/relationships" xmlns:p="http://schemas.openxmlformats.org/presentationml/2006/main">
  <p:tag name="PPTAGGERGROUP" val="4"/>
  <p:tag name="PPWINTOTALSEGMENTS" val="0"/>
</p:tagLst>
</file>

<file path=ppt/tags/tag221.xml><?xml version="1.0" encoding="utf-8"?>
<p:tagLst xmlns:a="http://schemas.openxmlformats.org/drawingml/2006/main" xmlns:r="http://schemas.openxmlformats.org/officeDocument/2006/relationships" xmlns:p="http://schemas.openxmlformats.org/presentationml/2006/main">
  <p:tag name="PPTAGGERGROUP" val="4"/>
  <p:tag name="PPWINTOTALSEGMENTS" val="0"/>
</p:tagLst>
</file>

<file path=ppt/tags/tag2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7"/>
  <p:tag name="PPWINSEGMENT1SOURCERTF" val="{\rtf1\ansi\deff0{\fonttbl{\f0\fcharset0 Arial Narrow;}}{\colortbl\red0\green0\blue0;}{\f0\fs36\b\cf0 IP Address Lease\par}}"/>
  <p:tag name="PPWINSEGMENT1TARGETRTF" val="{\rtf1\ansi\deff1{\fonttbl{\f1\fcharset0 Arial;}{\f2\fcharset0 Arial Narrow;}}{\colortbl\red0\green0\blue0;}{\f2\fs36\b\cf0 Bail d'adresse IP\par}}"/>
  <p:tag name="PPWINLASTSAVEDTRANSLATION" val="Bail d'adresse IP"/>
  <p:tag name="PPWINALREADYSEGMENTED" val="True"/>
  <p:tag name="PPWINTOTALSEGMENTS" val="1"/>
</p:tagLst>
</file>

<file path=ppt/tags/tag223.xml><?xml version="1.0" encoding="utf-8"?>
<p:tagLst xmlns:a="http://schemas.openxmlformats.org/drawingml/2006/main" xmlns:r="http://schemas.openxmlformats.org/officeDocument/2006/relationships" xmlns:p="http://schemas.openxmlformats.org/presentationml/2006/main">
  <p:tag name="PPTAGGERGROUP" val="5"/>
</p:tagLst>
</file>

<file path=ppt/tags/tag224.xml><?xml version="1.0" encoding="utf-8"?>
<p:tagLst xmlns:a="http://schemas.openxmlformats.org/drawingml/2006/main" xmlns:r="http://schemas.openxmlformats.org/officeDocument/2006/relationships" xmlns:p="http://schemas.openxmlformats.org/presentationml/2006/main">
  <p:tag name="PPTAGGERGROUP" val="5"/>
</p:tagLst>
</file>

<file path=ppt/tags/tag225.xml><?xml version="1.0" encoding="utf-8"?>
<p:tagLst xmlns:a="http://schemas.openxmlformats.org/drawingml/2006/main" xmlns:r="http://schemas.openxmlformats.org/officeDocument/2006/relationships" xmlns:p="http://schemas.openxmlformats.org/presentationml/2006/main">
  <p:tag name="PPWINTOTALSEGMENTS" val="0"/>
</p:tagLst>
</file>

<file path=ppt/tags/tag226.xml><?xml version="1.0" encoding="utf-8"?>
<p:tagLst xmlns:a="http://schemas.openxmlformats.org/drawingml/2006/main" xmlns:r="http://schemas.openxmlformats.org/officeDocument/2006/relationships" xmlns:p="http://schemas.openxmlformats.org/presentationml/2006/main">
  <p:tag name="PPWINTOTALSEGMENTS" val="0"/>
</p:tagLst>
</file>

<file path=ppt/tags/tag227.xml><?xml version="1.0" encoding="utf-8"?>
<p:tagLst xmlns:a="http://schemas.openxmlformats.org/drawingml/2006/main" xmlns:r="http://schemas.openxmlformats.org/officeDocument/2006/relationships" xmlns:p="http://schemas.openxmlformats.org/presentationml/2006/main">
  <p:tag name="PPWINTOTALSEGMENTS" val="0"/>
</p:tagLst>
</file>

<file path=ppt/tags/tag228.xml><?xml version="1.0" encoding="utf-8"?>
<p:tagLst xmlns:a="http://schemas.openxmlformats.org/drawingml/2006/main" xmlns:r="http://schemas.openxmlformats.org/officeDocument/2006/relationships" xmlns:p="http://schemas.openxmlformats.org/presentationml/2006/main">
  <p:tag name="PPWINSEGMENT1START" val="1"/>
  <p:tag name="PPWINSEGMENT1LENGTH" val="97"/>
  <p:tag name="PPWINSEGMENT1SOURCERTF" val="{\rtf1\ansi\deff0{\fonttbl{\f0\fcharset0 Arial Narrow;}}{\colortbl\red0\green0\blue0;}{\f0\fs60\b\cf0 How Active Directory-Integrated DNS Zones Use Secure Dynamic Updates\par}}"/>
  <p:tag name="PPWINSEGMENT1TARGETRTF" val="{\rtf1\ansi\deff1{\fonttbl{\f1\fcharset0 Arial;}{\f2\fcharset0 Arial Narrow;}}{\colortbl\red0\green0\blue0;}{\f2\fs60\b\cf0 Utilisation des mises \'E0 jour dynamiques s\'E9curis\'E9es par les zones DNS int\'E9gr\'E9es \'E0 Active Directory\par}}"/>
  <p:tag name="PPWINLASTSAVEDTRANSLATION" val="Utilisation des mises à jour dynamiques sécurisées par les zones DNS intégrées à Active Directory"/>
  <p:tag name="PPWINALREADYSEGMENTED" val="True"/>
  <p:tag name="PPWINTOTALSEGMENTS" val="1"/>
</p:tagLst>
</file>

<file path=ppt/tags/tag229.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DNS Client\par}}"/>
  <p:tag name="PPWINSEGMENT1TARGETRTF" val="{\rtf1\ansi\deff1{\fonttbl{\f1\fcharset0 Arial;}{\f2\fcharset0 Arial Narrow;}}{\colortbl\red0\green0\blue0;}{\f2\fs36\b\cf0 Client DNS\par}}"/>
  <p:tag name="PPWINSEGMENT2START" val="12"/>
  <p:tag name="PPWINSEGMENT2LENGTH" val="9"/>
  <p:tag name="PPWINSEGMENT2SOURCERTF" val="{\rtf1\ansi\deff0{\fonttbl{\f0\fcharset0 Arial Narrow;}}{\colortbl\red0\green0\blue0;}{\f0\fs36\b\cf0 running\par}}"/>
  <p:tag name="PPWINSEGMENT2TARGETRTF" val="{\rtf1\ansi\deff1{\fonttbl{\f1\fcharset0 Arial;}{\f2\fcharset0 Arial Narrow;}}{\colortbl\red0\green0\blue0;}{\f2\fs36\b\cf0 ex\'E9cutant\par}}"/>
  <p:tag name="PPWINSEGMENT3START" val="22"/>
  <p:tag name="PPWINSEGMENT3LENGTH" val="10"/>
  <p:tag name="PPWINSEGMENT3SOURCERTF" val="{\rtf1\ansi\deff0{\fonttbl{\f0\fcharset0 Arial Narrow;}}{\colortbl\red0\green0\blue0;}{\f0\fs36\b\cf0 Windows XP\par}}"/>
  <p:tag name="PPWINSEGMENT3TARGETRTF" val="{\rtf1\ansi\deff1{\fonttbl{\f1\fcharset0 Arial;}{\f2\fcharset0 Arial Narrow;}}{\colortbl\red0\green0\blue0;}{\f2\fs36\b\cf0 Windows XP\par}}"/>
  <p:tag name="PPWINLASTSAVEDTRANSLATION" val="Client DNS&#10;exécutant&#10;Windows XP"/>
  <p:tag name="PPWINALREADYSEGMENTED" val="True"/>
  <p:tag name="PPWINTOTALSEGMENTS" val="3"/>
</p:tagLst>
</file>

<file path=ppt/tags/tag23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
  <p:tag name="PPWINSEGMENT1SOURCERTF" val="{\rtf1\ansi\deff0{\fonttbl{\f0\fcharset0 Arial Narrow;}}{\colortbl\red0\green0\blue0;}{\f0\fs36\b\cf0 Local \par}}"/>
  <p:tag name="PPWINSEGMENT1TARGETRTF" val="{\rtf1\ansi\deff1{\fonttbl{\f1\fcharset0 Arial;}{\f2\fcharset0 Arial Narrow;}}{\colortbl\red0\green0\blue0;}{\f2\fs36\b\cf0 Serveur DNS \par}}"/>
  <p:tag name="PPWINSEGMENT2START" val="14"/>
  <p:tag name="PPWINSEGMENT2LENGTH" val="5"/>
  <p:tag name="PPWINSEGMENT2SOURCERTF" val="{\rtf1\ansi\deff0{\fonttbl{\f0\fcharset0 Arial Narrow;}}{\colortbl\red0\green0\blue0;}{\f0\fs36\b\cf0 DNS Server\par}}"/>
  <p:tag name="PPWINSEGMENT2TARGETRTF" val="{\rtf1\ansi\deff1{\fonttbl{\f1\fcharset0 Arial;}{\f2\fcharset0 Arial Narrow;}}{\colortbl\red0\green0\blue0;}{\f2\fs36\b\cf0 local\par}}"/>
  <p:tag name="PPWINLASTSAVEDTRANSLATION" val="Serveur DNS &#10;local"/>
  <p:tag name="PPWINALREADYSEGMENTED" val="True"/>
  <p:tag name="PPWINTOTALSEGMENTS" val="2"/>
</p:tagLst>
</file>

<file path=ppt/tags/tag231.xml><?xml version="1.0" encoding="utf-8"?>
<p:tagLst xmlns:a="http://schemas.openxmlformats.org/drawingml/2006/main" xmlns:r="http://schemas.openxmlformats.org/officeDocument/2006/relationships" xmlns:p="http://schemas.openxmlformats.org/presentationml/2006/main">
  <p:tag name="PPWINSEGMENT1START" val="2"/>
  <p:tag name="PPWINSEGMENT1LENGTH" val="21"/>
  <p:tag name="PPWINSEGMENT1SOURCERTF" val="{\rtf1\ansi\deff0{\fonttbl{\f0\fcharset0 Arial Narrow;}}{\colortbl\red0\green0\blue0;}{\f0\fs36\b\cf0 Domain Controller with \par}}"/>
  <p:tag name="PPWINSEGMENT1TARGETRTF" val="{\rtf1\ansi\deff1{\fonttbl{\f1\fcharset0 Arial;}{\f2\fcharset0 Arial Narrow;}}{\colortbl\red0\green0\blue0;}{\f2\fs36\b\cf0 Contr\'F4leur de domaine\par}}"/>
  <p:tag name="PPWINSEGMENT2START" val="24"/>
  <p:tag name="PPWINSEGMENT2LENGTH" val="22"/>
  <p:tag name="PPWINSEGMENT2SOURCERTF" val="{\rtf1\ansi\deff0{\fonttbl{\f0\fcharset0 Arial Narrow;}}{\colortbl\red0\green0\blue0;}{\f0\fs36\b\cf0 Active Directory-\par}}"/>
  <p:tag name="PPWINSEGMENT2TARGETRTF" val="{\rtf1\ansi\deff1{\fonttbl{\f1\fcharset0 Arial;}{\f2\fcharset0 Arial Narrow;}}{\colortbl\red0\green0\blue0;}{\f2\fs36\b\cf0 avec zone DNS int\'E9gr\'E9e\par}}"/>
  <p:tag name="PPWINSEGMENT3START" val="47"/>
  <p:tag name="PPWINSEGMENT3LENGTH" val="18"/>
  <p:tag name="PPWINSEGMENT3SOURCERTF" val="{\rtf1\ansi\deff0{\fonttbl{\f0\fcharset0 Arial Narrow;}}{\colortbl\red0\green0\blue0;}{\f0\fs36\b\cf0 Integrated DNS Zone\par}}"/>
  <p:tag name="PPWINSEGMENT3TARGETRTF" val="{\rtf1\ansi\deff1{\fonttbl{\f1\fcharset0 Arial;}{\f2\fcharset0 Arial Narrow;}}{\colortbl\red0\green0\blue0;}{\f2\fs36\b\cf0 \'E0 Active Directory\par}}"/>
  <p:tag name="PPWINLASTSAVEDTRANSLATION" val="&#10;Contrôleur de domaine&#10;avec zone DNS intégrée&#10;à Active Directory&#10;"/>
  <p:tag name="PPWINALREADYSEGMENTED" val="True"/>
  <p:tag name="PPWINTOTALSEGMENTS" val="3"/>
</p:tagLst>
</file>

<file path=ppt/tags/tag232.xml><?xml version="1.0" encoding="utf-8"?>
<p:tagLst xmlns:a="http://schemas.openxmlformats.org/drawingml/2006/main" xmlns:r="http://schemas.openxmlformats.org/officeDocument/2006/relationships" xmlns:p="http://schemas.openxmlformats.org/presentationml/2006/main">
  <p:tag name="PPWINSEGMENT1START" val="1"/>
  <p:tag name="PPWINSEGMENT1LENGTH" val="35"/>
  <p:tag name="PPWINSEGMENT1SOURCERTF" val="{\rtf1\ansi\deff0{\fonttbl{\f0\fcharset0 Arial Narrow;}}{\colortbl\red0\green0\blue0;}{\f0\fs36\cf0 Find authoritative server\par}}"/>
  <p:tag name="PPWINSEGMENT1TARGETRTF" val="{\rtf1\ansi\deff1{\fonttbl{\f1\fcharset0 Arial;}{\f2\fcharset0 Arial Narrow;}}{\colortbl\red0\green0\blue0;}{\f2\fs36\cf0 Trouver le serveur faisant autorit\'E9\par}}"/>
  <p:tag name="PPWINLASTSAVEDTRANSLATION" val="Trouver le serveur faisant autorité"/>
  <p:tag name="PPWINALREADYSEGMENTED" val="True"/>
  <p:tag name="PPWINTOTALSEGMENTS" val="1"/>
</p:tagLst>
</file>

<file path=ppt/tags/tag233.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36\cf0 Result\par}}"/>
  <p:tag name="PPWINSEGMENT1TARGETRTF" val="{\rtf1\ansi\deff1{\fonttbl{\f1\fcharset0 Arial;}{\f2\fcharset0 Arial Narrow;}}{\colortbl\red0\green0\blue0;}{\f2\fs36\cf0 R\'E9sultat\par}}"/>
  <p:tag name="PPWINLASTSAVEDTRANSLATION" val="Résultat"/>
  <p:tag name="PPWINALREADYSEGMENTED" val="True"/>
  <p:tag name="PPWINTOTALSEGMENTS" val="1"/>
</p:tagLst>
</file>

<file path=ppt/tags/tag2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35"/>
  <p:tag name="PPWINSEGMENT1SOURCERTF" val="{\rtf1\ansi\deff0{\fonttbl{\f0\fcharset0 Arial Narrow;}}{\colortbl\red0\green0\blue0;}{\f0\fs36\cf0 Find authoritative server\par}}"/>
  <p:tag name="PPWINSEGMENT1TARGETRTF" val="{\rtf1\ansi\deff1{\fonttbl{\f1\fcharset0 Arial;}{\f2\fcharset0 Arial Narrow;}}{\colortbl\red0\green0\blue0;}{\f2\fs36\cf0 Trouver le serveur faisant autorit\'E9\par}}"/>
  <p:tag name="PPWINLASTSAVEDTRANSLATION" val="Trouver le serveur faisant autorité"/>
  <p:tag name="PPWINALREADYSEGMENTED" val="True"/>
  <p:tag name="PPWINTOTALSEGMENTS" val="1"/>
</p:tagLst>
</file>

<file path=ppt/tags/tag235.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36\cf0 Result\par}}"/>
  <p:tag name="PPWINSEGMENT1TARGETRTF" val="{\rtf1\ansi\deff1{\fonttbl{\f1\fcharset0 Arial;}{\f2\fcharset0 Arial Narrow;}}{\colortbl\red0\green0\blue0;}{\f2\fs36\cf0 R\'E9sultat\par}}"/>
  <p:tag name="PPWINLASTSAVEDTRANSLATION" val="Résultat"/>
  <p:tag name="PPWINALREADYSEGMENTED" val="True"/>
  <p:tag name="PPWINTOTALSEGMENTS" val="1"/>
</p:tagLst>
</file>

<file path=ppt/tags/tag236.xml><?xml version="1.0" encoding="utf-8"?>
<p:tagLst xmlns:a="http://schemas.openxmlformats.org/drawingml/2006/main" xmlns:r="http://schemas.openxmlformats.org/officeDocument/2006/relationships" xmlns:p="http://schemas.openxmlformats.org/presentationml/2006/main">
  <p:tag name="PPWINSEGMENT1START" val="1"/>
  <p:tag name="PPWINSEGMENT1LENGTH" val="36"/>
  <p:tag name="PPWINSEGMENT1SOURCERTF" val="{\rtf1\ansi\deff0{\fonttbl{\f0\fcharset0 Arial Narrow;}}{\colortbl\red0\green0\blue0;}{\f0\fs36\cf0 Attempt non-secure update\par}}"/>
  <p:tag name="PPWINSEGMENT1TARGETRTF" val="{\rtf1\ansi\deff1{\fonttbl{\f1\fcharset0 Arial;}{\f2\fcharset0 Arial Narrow;}}{\colortbl\red0\green0\blue0;}{\f2\fs36\cf0 Tenter une mise \'E0 jour non s\'E9curis\'E9e\par}}"/>
  <p:tag name="PPWINLASTSAVEDTRANSLATION" val="Tenter une mise à jour non sécurisée"/>
  <p:tag name="PPWINALREADYSEGMENTED" val="True"/>
  <p:tag name="PPWINTOTALSEGMENTS" val="1"/>
</p:tagLst>
</file>

<file path=ppt/tags/tag237.xml><?xml version="1.0" encoding="utf-8"?>
<p:tagLst xmlns:a="http://schemas.openxmlformats.org/drawingml/2006/main" xmlns:r="http://schemas.openxmlformats.org/officeDocument/2006/relationships" xmlns:p="http://schemas.openxmlformats.org/presentationml/2006/main">
  <p:tag name="PPWINSEGMENT1START" val="1"/>
  <p:tag name="PPWINSEGMENT1LENGTH" val="6"/>
  <p:tag name="PPWINSEGMENT1SOURCERTF" val="{\rtf1\ansi\deff0{\fonttbl{\f0\fcharset0 Arial Narrow;}}{\colortbl\red0\green0\blue0;}{\f0\fs36\cf0 Refused\par}}"/>
  <p:tag name="PPWINSEGMENT1TARGETRTF" val="{\rtf1\ansi\deff1{\fonttbl{\f1\fcharset0 Arial;}{\f2\fcharset0 Arial Narrow;}}{\colortbl\red0\green0\blue0;}{\f2\fs36\cf0 Refus\'E9\par}}"/>
  <p:tag name="PPWINLASTSAVEDTRANSLATION" val="Refusé"/>
  <p:tag name="PPWINALREADYSEGMENTED" val="True"/>
  <p:tag name="PPWINTOTALSEGMENTS" val="1"/>
</p:tagLst>
</file>

<file path=ppt/tags/tag238.xml><?xml version="1.0" encoding="utf-8"?>
<p:tagLst xmlns:a="http://schemas.openxmlformats.org/drawingml/2006/main" xmlns:r="http://schemas.openxmlformats.org/officeDocument/2006/relationships" xmlns:p="http://schemas.openxmlformats.org/presentationml/2006/main">
  <p:tag name="PPWINSEGMENT1START" val="1"/>
  <p:tag name="PPWINSEGMENT1LENGTH" val="36"/>
  <p:tag name="PPWINSEGMENT1SOURCERTF" val="{\rtf1\ansi\deff0{\fonttbl{\f0\fcharset0 Arial Narrow;}}{\colortbl\red0\green0\blue0;}{\f0\fs36\cf0 Secure update negotiation\par}}"/>
  <p:tag name="PPWINSEGMENT1TARGETRTF" val="{\rtf1\ansi\deff1{\fonttbl{\f1\fcharset0 Arial;}{\f2\fcharset0 Arial Narrow;}}{\colortbl\red0\green0\blue0;}{\f2\fs36\cf0 N\'E9gociation de mise \'E0 jour s\'E9curis\'E9e\par}}"/>
  <p:tag name="PPWINLASTSAVEDTRANSLATION" val="Négociation de mise à jour sécurisée"/>
  <p:tag name="PPWINALREADYSEGMENTED" val="True"/>
  <p:tag name="PPWINTOTALSEGMENTS" val="1"/>
</p:tagLst>
</file>

<file path=ppt/tags/tag239.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36\cf0 Accepted\par}}"/>
  <p:tag name="PPWINSEGMENT1TARGETRTF" val="{\rtf1\ansi\deff1{\fonttbl{\f1\fcharset0 Arial;}{\f2\fcharset0 Arial Narrow;}}{\colortbl\red0\green0\blue0;}{\f2\fs36\cf0 Accept\'E9\par}}"/>
  <p:tag name="PPWINLASTSAVEDTRANSLATION" val="Accepté"/>
  <p:tag name="PPWINALREADYSEGMENTED" val="True"/>
  <p:tag name="PPWINTOTALSEGMENTS" val="1"/>
</p:tagLst>
</file>

<file path=ppt/tags/tag240.xml><?xml version="1.0" encoding="utf-8"?>
<p:tagLst xmlns:a="http://schemas.openxmlformats.org/drawingml/2006/main" xmlns:r="http://schemas.openxmlformats.org/officeDocument/2006/relationships" xmlns:p="http://schemas.openxmlformats.org/presentationml/2006/main">
  <p:tag name="PPWINSEGMENT1START" val="1"/>
  <p:tag name="PPWINSEGMENT1LENGTH" val="297"/>
  <p:tag name="PPWINSEGMENT1SOURCERTF" val="{\rtf1\ansi\deff0{\fonttbl{\f0\fcharset0 Arial Narrow;}}{\colortbl\red0\green0\blue0;}{\f0\fs36\b\cf0 A }{\f0\fs36\b\i\cf0 secure dynamic update}{\f0\fs36\b\cf0  is a process in which a client submits a dynamic update request to a DNS server, and the server attempts the update only if the client can prove its identity and has the proper credentials to make the update}{\f0\fs36\cf0  \par}}"/>
  <p:tag name="PPWINSEGMENT1TARGETRTF" val="{\rtf1\ansi\deff1{\fonttbl{\f1\fcharset0 Arial;}{\f2\fcharset0 Arial Narrow;}}{\colortbl\red0\green0\blue0;}{\f2\fs36\cf0 Dans un processus de }{\f2\fs36\i\cf0 mise \'E0 jour dynamique s\'E9curis\'E9e}{\f2\fs36\cf0 , un client soumet une demande de mise \'E0 jour dynamique \'E0 un serveur DNS et ce dernier essaie d'effectuer la mise \'E0 jour uniquement si le client peut prouver son identit\'E9 et produit des informations d'identification autorisant cette mise \'E0 jour.\par}}"/>
  <p:tag name="PPWINLASTSAVEDTRANSLATION" val="Dans un processus de mise à jour dynamique sécurisée, un client soumet une demande de mise à jour dynamique à un serveur DNS et ce dernier essaie d'effectuer la mise à jour uniquement si le client peut prouver son identité et produit des informations d'identification autorisant cette mise à jour."/>
  <p:tag name="PPWINALREADYSEGMENTED" val="True"/>
  <p:tag name="PPWINTOTALSEGMENTS" val="1"/>
</p:tagLst>
</file>

<file path=ppt/tags/tag241.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29"/>
  <p:tag name="PPWINSEGMENT2SOURCERTF" val="{\rtf1\ansi\deff0{\fonttbl{\f0\fcharset0 Arial Narrow;}}{\colortbl\red0\green0\blue0;}{\f0\fs52\b\cf0 Configuring a DNS Client\par}}"/>
  <p:tag name="PPWINSEGMENT2TARGETRTF" val="{\rtf1\ansi\deff1{\fonttbl{\f1\fcharset0 Arial;}{\f2\fcharset0 Arial Narrow;}}{\colortbl\red0\green0\blue0;}{\f2\fs52\b\cf0 Configuration d'un client DNS\par}}"/>
  <p:tag name="PPWINLASTSAVEDTRANSLATION" val="Leçon : Configuration d'un client DNS"/>
  <p:tag name="PPWINALREADYSEGMENTED" val="True"/>
  <p:tag name="PPWINTOTALSEGMENTS" val="2"/>
</p:tagLst>
</file>

<file path=ppt/tags/tag2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55"/>
  <p:tag name="PPWINSEGMENT1SOURCERTF" val="{\rtf1\ansi\deff0{\fonttbl{\f0\fcharset0 Arial Narrow;}}{\colortbl\red0\green0\blue0;}{\f0\fs48\b\cf0 How Preferred and Alternate DNS Servers Work\par}}"/>
  <p:tag name="PPWINSEGMENT1TARGETRTF" val="{\rtf1\ansi\deff1{\fonttbl{\f1\fcharset0 Arial;}{\f2\fcharset0 Arial Narrow;}}{\colortbl\red0\green0\blue0;}{\f2\fs48\b\cf0 Fonctionnement des serveurs DNS pr\'E9f\'E9r\'E9s et auxiliaires\par}}"/>
  <p:tag name="PPWINSEGMENT2START" val="57"/>
  <p:tag name="PPWINSEGMENT2LENGTH" val="24"/>
  <p:tag name="PPWINSEGMENT2SOURCERTF" val="{\rtf1\ansi\deff0{\fonttbl{\f0\fcharset0 Arial Narrow;}}{\colortbl\red0\green0\blue0;}{\f0\fs48\b\cf0 How Suffixes Are Applied\par}}"/>
  <p:tag name="PPWINSEGMENT2TARGETRTF" val="{\rtf1\ansi\deff1{\fonttbl{\f1\fcharset0 Arial;}{\f2\fcharset0 Arial Narrow;}}{\colortbl\red0\green0\blue0;}{\f2\fs48\b\cf0 Application des suffixes\par}}"/>
  <p:tag name="PPWINSEGMENT3START" val="82"/>
  <p:tag name="PPWINSEGMENT3LENGTH" val="32"/>
  <p:tag name="PPWINSEGMENT3SOURCERTF" val="{\rtf1\ansi\deff0{\fonttbl{\f0\fcharset0 Arial Narrow;}}{\colortbl\red0\green0\blue0;}{\f0\fs48\b\cf0 How to Configure a DNS Client\par}}"/>
  <p:tag name="PPWINSEGMENT3TARGETRTF" val="{\rtf1\ansi\deff1{\fonttbl{\f1\fcharset0 Arial;}{\f2\fcharset0 Arial Narrow;}}{\colortbl\red0\green0\blue0;}{\f2\fs48\b\cf0 Comment configurer un client DNS\par}}"/>
  <p:tag name="PPWINLASTSAVEDTRANSLATION" val="Fonctionnement des serveurs DNS préférés et auxiliaires&#10;Application des suffixes&#10;Comment configurer un client DNS&#10;"/>
  <p:tag name="PPWINALREADYSEGMENTED" val="True"/>
  <p:tag name="PPWINTOTALSEGMENTS" val="3"/>
</p:tagLst>
</file>

<file path=ppt/tags/tag244.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55"/>
  <p:tag name="PPWINSEGMENT1SOURCERTF" val="{\rtf1\ansi\deff0{\fonttbl{\f0\fcharset0 Arial Narrow;}}{\colortbl\red0\green0\blue0;}{\f0\fs52\b\cf0 How Preferred and Alternate DNS Servers Work\par}}"/>
  <p:tag name="PPWINSEGMENT1TARGETRTF" val="{\rtf1\ansi\deff1{\fonttbl{\f1\fcharset0 Arial;}{\f2\fcharset0 Arial Narrow;}}{\colortbl\red0\green0\blue0;}{\f2\fs52\b\cf0 Fonctionnement des serveurs DNS pr\'E9f\'E9r\'E9s et auxiliaires\par}}"/>
  <p:tag name="PPWINLASTSAVEDTRANSLATION" val="Fonctionnement des serveurs DNS préférés et auxiliaires"/>
  <p:tag name="PPWINALREADYSEGMENTED" val="True"/>
  <p:tag name="PPWINTOTALSEGMENTS" val="1"/>
</p:tagLst>
</file>

<file path=ppt/tags/tag246.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19276</TotalTime>
  <Words>3028</Words>
  <Application>Microsoft Office PowerPoint</Application>
  <PresentationFormat>Affichage à l'écran (4:3)</PresentationFormat>
  <Paragraphs>566</Paragraphs>
  <Slides>40</Slides>
  <Notes>36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40</vt:i4>
      </vt:variant>
    </vt:vector>
  </HeadingPairs>
  <TitlesOfParts>
    <vt:vector size="48" baseType="lpstr">
      <vt:lpstr>Wingdings 2</vt:lpstr>
      <vt:lpstr>Arial Narrow</vt:lpstr>
      <vt:lpstr>Symbol</vt:lpstr>
      <vt:lpstr>Georgia</vt:lpstr>
      <vt:lpstr>Verdana</vt:lpstr>
      <vt:lpstr>Arial</vt:lpstr>
      <vt:lpstr>Wingdings</vt:lpstr>
      <vt:lpstr>Civil</vt:lpstr>
      <vt:lpstr>Chapitre 5  Résolution de noms d'hôtes à l'aide du système DNS</vt:lpstr>
      <vt:lpstr>Plan du cours</vt:lpstr>
      <vt:lpstr>1. Installation du service Serveur DNS</vt:lpstr>
      <vt:lpstr>Vue d'ensemble du système DNS</vt:lpstr>
      <vt:lpstr>Vue d'ensemble du système DNS</vt:lpstr>
      <vt:lpstr>Qu'est-ce qu'un espace de noms de domaines ?</vt:lpstr>
      <vt:lpstr>Conventions d'appellation standard DNS</vt:lpstr>
      <vt:lpstr>2. Configuration des propriétés du service Serveur DNS</vt:lpstr>
      <vt:lpstr>Quels sont les composants d'une solution DNS ?</vt:lpstr>
      <vt:lpstr>Qu'est-ce qu'une requête DNS ?</vt:lpstr>
      <vt:lpstr>Qu'est-ce qu'une requête DNS ?</vt:lpstr>
      <vt:lpstr>Fonctionnement des requêtes récursives</vt:lpstr>
      <vt:lpstr>Fonctionnement des indications de racine</vt:lpstr>
      <vt:lpstr>Fonctionnement des requêtes itératives</vt:lpstr>
      <vt:lpstr>Fonctionnement des redirecteurs</vt:lpstr>
      <vt:lpstr>Fonctionnement de la mise en cache du serveur DNS</vt:lpstr>
      <vt:lpstr>3. Configuration des zones DNS</vt:lpstr>
      <vt:lpstr>Que sont les enregistrements de ressources et les types d'enregistrements ?</vt:lpstr>
      <vt:lpstr>Que sont les enregistrements de ressources et les types d'enregistrements ?</vt:lpstr>
      <vt:lpstr>Que sont les enregistrements de ressources et les types d'enregistrements ?</vt:lpstr>
      <vt:lpstr>Qu'est-ce qu'une zone DNS ?</vt:lpstr>
      <vt:lpstr>Quels sont les types de zones DNS ?</vt:lpstr>
      <vt:lpstr>C’est quoi une zone stub?</vt:lpstr>
      <vt:lpstr>Qu'est-ce qu'une zone DNS intégrée à  Active Directory ?</vt:lpstr>
      <vt:lpstr>Que sont les zones de recherche directe  et inversée ?</vt:lpstr>
      <vt:lpstr>Délégation d'autorité pour les zones</vt:lpstr>
      <vt:lpstr>4. Configuration des transferts de zone DNS</vt:lpstr>
      <vt:lpstr>Fonctionnement des transferts de zone DNS</vt:lpstr>
      <vt:lpstr>Fonctionnement de DNS Notify</vt:lpstr>
      <vt:lpstr>5. Configuration des mises à jour dynamiques DNS</vt:lpstr>
      <vt:lpstr>Que sont les mises à jour dynamiques ?</vt:lpstr>
      <vt:lpstr>Que sont les mises à jour dynamiques ?</vt:lpstr>
      <vt:lpstr>Comment les clients DNS inscrivent et mettent à jour de manière dynamique leurs enregistrements de ressources</vt:lpstr>
      <vt:lpstr>Comment un serveur DHCP inscrit et met à jour de manière dynamique les enregistrements de ressources</vt:lpstr>
      <vt:lpstr>Utilisation des mises à jour dynamiques sécurisées par les zones DNS intégrées à Active Directory</vt:lpstr>
      <vt:lpstr>6. Configuration d'un client DNS</vt:lpstr>
      <vt:lpstr>Fonctionnement des serveurs DNS préférés  et auxiliaires</vt:lpstr>
      <vt:lpstr>Exercices</vt:lpstr>
      <vt:lpstr>Exercices</vt:lpstr>
      <vt:lpstr>Exercices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HALIMA.HOUSNY</cp:lastModifiedBy>
  <cp:revision>825</cp:revision>
  <dcterms:created xsi:type="dcterms:W3CDTF">2002-08-07T17:51:12Z</dcterms:created>
  <dcterms:modified xsi:type="dcterms:W3CDTF">2021-12-07T20:51:40Z</dcterms:modified>
</cp:coreProperties>
</file>