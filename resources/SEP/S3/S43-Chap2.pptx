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8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9.xml" ContentType="application/vnd.openxmlformats-officedocument.presentationml.notesSlide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ppt/tags/tag37.xml" ContentType="application/vnd.openxmlformats-officedocument.presentationml.tags+xml"/>
  <Override PartName="/ppt/notesSlides/notesSlide1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2.xml" ContentType="application/vnd.openxmlformats-officedocument.presentationml.notesSlide+xml"/>
  <Override PartName="/ppt/tags/tag44.xml" ContentType="application/vnd.openxmlformats-officedocument.presentationml.tags+xml"/>
  <Override PartName="/ppt/notesSlides/notesSlide1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4.xml" ContentType="application/vnd.openxmlformats-officedocument.presentationml.notesSlide+xml"/>
  <Override PartName="/ppt/tags/tag52.xml" ContentType="application/vnd.openxmlformats-officedocument.presentationml.tags+xml"/>
  <Override PartName="/ppt/notesSlides/notesSlide15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7.xml" ContentType="application/vnd.openxmlformats-officedocument.presentationml.notesSlide+xml"/>
  <Override PartName="/ppt/tags/tag79.xml" ContentType="application/vnd.openxmlformats-officedocument.presentationml.tags+xml"/>
  <Override PartName="/ppt/notesSlides/notesSlide18.xml" ContentType="application/vnd.openxmlformats-officedocument.presentationml.notesSlide+xml"/>
  <Override PartName="/ppt/tags/tag80.xml" ContentType="application/vnd.openxmlformats-officedocument.presentationml.tags+xml"/>
  <Override PartName="/ppt/notesSlides/notesSlide19.xml" ContentType="application/vnd.openxmlformats-officedocument.presentationml.notesSlide+xml"/>
  <Override PartName="/ppt/tags/tag81.xml" ContentType="application/vnd.openxmlformats-officedocument.presentationml.tags+xml"/>
  <Override PartName="/ppt/notesSlides/notesSlide20.xml" ContentType="application/vnd.openxmlformats-officedocument.presentationml.notesSlide+xml"/>
  <Override PartName="/ppt/tags/tag82.xml" ContentType="application/vnd.openxmlformats-officedocument.presentationml.tags+xml"/>
  <Override PartName="/ppt/notesSlides/notesSlide21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2.xml" ContentType="application/vnd.openxmlformats-officedocument.presentationml.notesSlide+xml"/>
  <Override PartName="/ppt/tags/tag88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29"/>
  </p:notesMasterIdLst>
  <p:handoutMasterIdLst>
    <p:handoutMasterId r:id="rId30"/>
  </p:handoutMasterIdLst>
  <p:sldIdLst>
    <p:sldId id="501" r:id="rId2"/>
    <p:sldId id="447" r:id="rId3"/>
    <p:sldId id="598" r:id="rId4"/>
    <p:sldId id="564" r:id="rId5"/>
    <p:sldId id="583" r:id="rId6"/>
    <p:sldId id="584" r:id="rId7"/>
    <p:sldId id="563" r:id="rId8"/>
    <p:sldId id="589" r:id="rId9"/>
    <p:sldId id="590" r:id="rId10"/>
    <p:sldId id="544" r:id="rId11"/>
    <p:sldId id="538" r:id="rId12"/>
    <p:sldId id="599" r:id="rId13"/>
    <p:sldId id="597" r:id="rId14"/>
    <p:sldId id="594" r:id="rId15"/>
    <p:sldId id="557" r:id="rId16"/>
    <p:sldId id="569" r:id="rId17"/>
    <p:sldId id="607" r:id="rId18"/>
    <p:sldId id="507" r:id="rId19"/>
    <p:sldId id="593" r:id="rId20"/>
    <p:sldId id="571" r:id="rId21"/>
    <p:sldId id="595" r:id="rId22"/>
    <p:sldId id="536" r:id="rId23"/>
    <p:sldId id="549" r:id="rId24"/>
    <p:sldId id="596" r:id="rId25"/>
    <p:sldId id="603" r:id="rId26"/>
    <p:sldId id="605" r:id="rId27"/>
    <p:sldId id="606" r:id="rId28"/>
  </p:sldIdLst>
  <p:sldSz cx="9144000" cy="6858000" type="screen4x3"/>
  <p:notesSz cx="6934200" cy="9220200"/>
  <p:embeddedFontLst>
    <p:embeddedFont>
      <p:font typeface="Arial Narrow" panose="020B0606020202030204" pitchFamily="34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Georgia" panose="02040502050405020303" pitchFamily="18" charset="0"/>
      <p:regular r:id="rId39"/>
      <p:bold r:id="rId40"/>
      <p:italic r:id="rId41"/>
      <p:boldItalic r:id="rId42"/>
    </p:embeddedFont>
    <p:embeddedFont>
      <p:font typeface="Wingdings 2" panose="05020102010507070707" pitchFamily="18" charset="2"/>
      <p:regular r:id="rId43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676">
          <p15:clr>
            <a:srgbClr val="A4A3A4"/>
          </p15:clr>
        </p15:guide>
        <p15:guide id="3" pos="809">
          <p15:clr>
            <a:srgbClr val="A4A3A4"/>
          </p15:clr>
        </p15:guide>
        <p15:guide id="4" pos="47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jimcla" initials="" lastIdx="1" clrIdx="1"/>
  <p:cmAuthor id="2" name="Kelley Umphrey" initials="" lastIdx="40" clrIdx="2"/>
  <p:cmAuthor id="3" name="eliree" initials="" lastIdx="27" clrIdx="3"/>
  <p:cmAuthor id="4" name="Elisem" initials="" lastIdx="1" clrIdx="4"/>
  <p:cmAuthor id="5" name="ESM" initials="" lastIdx="1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EEEFD7"/>
    <a:srgbClr val="BBCDE3"/>
    <a:srgbClr val="B395D8"/>
    <a:srgbClr val="DEE7F1"/>
    <a:srgbClr val="808080"/>
    <a:srgbClr val="CC000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9462" autoAdjust="0"/>
  </p:normalViewPr>
  <p:slideViewPr>
    <p:cSldViewPr snapToGrid="0">
      <p:cViewPr varScale="1">
        <p:scale>
          <a:sx n="49" d="100"/>
          <a:sy n="49" d="100"/>
        </p:scale>
        <p:origin x="1248" y="41"/>
      </p:cViewPr>
      <p:guideLst>
        <p:guide orient="horz" pos="2160"/>
        <p:guide pos="676"/>
        <p:guide pos="809"/>
        <p:guide pos="47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840" y="84"/>
      </p:cViewPr>
      <p:guideLst>
        <p:guide orient="horz" pos="2905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>
            <a:lvl1pPr algn="l" defTabSz="919163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>
            <a:lvl1pPr algn="r" defTabSz="919163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b" anchorCtr="0" compatLnSpc="1">
            <a:prstTxWarp prst="textNoShape">
              <a:avLst/>
            </a:prstTxWarp>
          </a:bodyPr>
          <a:lstStyle>
            <a:lvl1pPr algn="l" defTabSz="919163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b" anchorCtr="0" compatLnSpc="1">
            <a:prstTxWarp prst="textNoShape">
              <a:avLst/>
            </a:prstTxWarp>
          </a:bodyPr>
          <a:lstStyle>
            <a:lvl1pPr algn="r" defTabSz="919163" eaLnBrk="1" hangingPunct="1">
              <a:defRPr sz="1200" b="0">
                <a:latin typeface="Arial" charset="0"/>
              </a:defRPr>
            </a:lvl1pPr>
          </a:lstStyle>
          <a:p>
            <a:fld id="{E0E1A07A-585A-4278-86EC-65FF1BE03BBC}" type="slidenum">
              <a:rPr lang="en-US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>
            <a:lvl1pPr algn="l" defTabSz="919163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>
            <a:lvl1pPr algn="r" defTabSz="919163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3638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b" anchorCtr="0" compatLnSpc="1">
            <a:prstTxWarp prst="textNoShape">
              <a:avLst/>
            </a:prstTxWarp>
          </a:bodyPr>
          <a:lstStyle>
            <a:lvl1pPr algn="l" defTabSz="919163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9" tIns="45990" rIns="91979" bIns="45990" numCol="1" anchor="b" anchorCtr="0" compatLnSpc="1">
            <a:prstTxWarp prst="textNoShape">
              <a:avLst/>
            </a:prstTxWarp>
          </a:bodyPr>
          <a:lstStyle>
            <a:lvl1pPr algn="r" defTabSz="919163" eaLnBrk="1" hangingPunct="1">
              <a:defRPr sz="1200" b="0">
                <a:latin typeface="Arial" charset="0"/>
              </a:defRPr>
            </a:lvl1pPr>
          </a:lstStyle>
          <a:p>
            <a:fld id="{9B7F7AE8-8B55-4831-8C1E-F967FDEAAEB8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28F67-B643-464F-805F-EF61AEAE68CA}" type="slidenum">
              <a:rPr lang="en-US"/>
              <a:pPr/>
              <a:t>1</a:t>
            </a:fld>
            <a:endParaRPr lang="en-US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88FF0D-7FD1-43D6-8FD6-686D7A634D05}" type="slidenum">
              <a:rPr lang="en-US"/>
              <a:pPr/>
              <a:t>2</a:t>
            </a:fld>
            <a:endParaRPr lang="en-US"/>
          </a:p>
        </p:txBody>
      </p:sp>
      <p:sp>
        <p:nvSpPr>
          <p:cNvPr id="471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FD356D-65A7-4B01-9978-BAAA241238F7}" type="slidenum">
              <a:rPr lang="en-US"/>
              <a:pPr/>
              <a:t>3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en-GB"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3DD7A7-299B-4622-B31B-42D67C7A4526}" type="slidenum">
              <a:rPr lang="en-US"/>
              <a:pPr/>
              <a:t>4</a:t>
            </a:fld>
            <a:endParaRPr lang="en-US"/>
          </a:p>
        </p:txBody>
      </p:sp>
      <p:sp>
        <p:nvSpPr>
          <p:cNvPr id="54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3DD7A7-299B-4622-B31B-42D67C7A4526}" type="slidenum">
              <a:rPr lang="en-US"/>
              <a:pPr/>
              <a:t>5</a:t>
            </a:fld>
            <a:endParaRPr lang="en-US"/>
          </a:p>
        </p:txBody>
      </p:sp>
      <p:sp>
        <p:nvSpPr>
          <p:cNvPr id="54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3DD7A7-299B-4622-B31B-42D67C7A4526}" type="slidenum">
              <a:rPr lang="en-US"/>
              <a:pPr/>
              <a:t>6</a:t>
            </a:fld>
            <a:endParaRPr lang="en-US"/>
          </a:p>
        </p:txBody>
      </p:sp>
      <p:sp>
        <p:nvSpPr>
          <p:cNvPr id="540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0538DD-615F-4FF7-BE8A-9B642DC85683}" type="slidenum">
              <a:rPr lang="en-US"/>
              <a:pPr/>
              <a:t>7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72C010-9894-4B18-9482-1058975CE631}" type="slidenum">
              <a:rPr lang="en-US"/>
              <a:pPr/>
              <a:t>8</a:t>
            </a:fld>
            <a:endParaRPr lang="en-US"/>
          </a:p>
        </p:txBody>
      </p:sp>
      <p:sp>
        <p:nvSpPr>
          <p:cNvPr id="56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2179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pPr marL="228600" indent="-228600">
              <a:lnSpc>
                <a:spcPct val="80000"/>
              </a:lnSpc>
            </a:pPr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4416B-515F-42C9-A382-35353B83A24B}" type="slidenum">
              <a:rPr lang="en-US"/>
              <a:pPr/>
              <a:t>9</a:t>
            </a:fld>
            <a:endParaRPr lang="en-US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80000"/>
              </a:lnSpc>
            </a:pPr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6BFDB5-0F10-4770-BF75-3DEE487655A3}" type="slidenum">
              <a:rPr lang="en-US"/>
              <a:pPr/>
              <a:t>10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pt-BR" sz="8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7E54E2-667F-4ED4-942C-E4959B6BA1F6}" type="slidenum">
              <a:rPr lang="en-US"/>
              <a:pPr/>
              <a:t>11</a:t>
            </a:fld>
            <a:endParaRPr lang="en-US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800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7E54E2-667F-4ED4-942C-E4959B6BA1F6}" type="slidenum">
              <a:rPr lang="en-US"/>
              <a:pPr/>
              <a:t>12</a:t>
            </a:fld>
            <a:endParaRPr lang="en-US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7E54E2-667F-4ED4-942C-E4959B6BA1F6}" type="slidenum">
              <a:rPr lang="en-US"/>
              <a:pPr/>
              <a:t>13</a:t>
            </a:fld>
            <a:endParaRPr lang="en-US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C34414-B053-4FB1-8DD8-264A7454D38F}" type="slidenum">
              <a:rPr lang="en-US"/>
              <a:pPr/>
              <a:t>14</a:t>
            </a:fld>
            <a:endParaRPr lang="en-US"/>
          </a:p>
        </p:txBody>
      </p:sp>
      <p:sp>
        <p:nvSpPr>
          <p:cNvPr id="46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229965-199F-4F2F-8E42-E71258A27C18}" type="slidenum">
              <a:rPr lang="en-US"/>
              <a:pPr/>
              <a:t>15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BB7E88-543A-4A41-9591-A7AE15D9C509}" type="slidenum">
              <a:rPr lang="en-US"/>
              <a:pPr/>
              <a:t>16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GB" sz="8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0969F6-50BC-41CF-812F-737F6767707F}" type="slidenum">
              <a:rPr lang="en-US"/>
              <a:pPr/>
              <a:t>18</a:t>
            </a:fld>
            <a:endParaRPr lang="en-US"/>
          </a:p>
        </p:txBody>
      </p:sp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2B2942-7A95-4EA0-A10C-8DB8B6CDED94}" type="slidenum">
              <a:rPr lang="en-US"/>
              <a:pPr/>
              <a:t>19</a:t>
            </a:fld>
            <a:endParaRPr lang="en-US"/>
          </a:p>
        </p:txBody>
      </p:sp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384E33-FA5E-4E2C-8E0C-97D4765BEF72}" type="slidenum">
              <a:rPr lang="en-US"/>
              <a:pPr/>
              <a:t>20</a:t>
            </a:fld>
            <a:endParaRPr lang="en-US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384E33-FA5E-4E2C-8E0C-97D4765BEF72}" type="slidenum">
              <a:rPr lang="en-US"/>
              <a:pPr/>
              <a:t>21</a:t>
            </a:fld>
            <a:endParaRPr lang="en-US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1F30E9-D20F-4B66-AD36-32819DDC6A26}" type="slidenum">
              <a:rPr lang="en-US"/>
              <a:pPr/>
              <a:t>22</a:t>
            </a:fld>
            <a:endParaRPr lang="en-US"/>
          </a:p>
        </p:txBody>
      </p:sp>
      <p:sp>
        <p:nvSpPr>
          <p:cNvPr id="481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A1E092-FDD3-4F75-A93F-14ED2B72B4B9}" type="slidenum">
              <a:rPr lang="en-US"/>
              <a:pPr/>
              <a:t>23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163CB-D7D3-4D89-B723-CB33DCBCFC7B}" type="slidenum">
              <a:rPr lang="en-US"/>
              <a:pPr/>
              <a:t>24</a:t>
            </a:fld>
            <a:endParaRPr lang="en-US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10/23/2023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171451" y="6400804"/>
            <a:ext cx="2071687" cy="28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Professeur: Halima HOUSNY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5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image" Target="../media/image4.png"/><Relationship Id="rId2" Type="http://schemas.openxmlformats.org/officeDocument/2006/relationships/tags" Target="../tags/tag12.xml"/><Relationship Id="rId16" Type="http://schemas.openxmlformats.org/officeDocument/2006/relationships/notesSlide" Target="../notesSlides/notesSlide7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20.xml"/><Relationship Id="rId19" Type="http://schemas.openxmlformats.org/officeDocument/2006/relationships/image" Target="../media/image6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image" Target="../media/image8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7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2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10" Type="http://schemas.openxmlformats.org/officeDocument/2006/relationships/image" Target="../media/image22.png"/><Relationship Id="rId4" Type="http://schemas.openxmlformats.org/officeDocument/2006/relationships/tags" Target="../tags/tag41.xml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image" Target="../media/image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24.png"/><Relationship Id="rId5" Type="http://schemas.openxmlformats.org/officeDocument/2006/relationships/tags" Target="../tags/tag49.xml"/><Relationship Id="rId10" Type="http://schemas.openxmlformats.org/officeDocument/2006/relationships/image" Target="../media/image23.png"/><Relationship Id="rId4" Type="http://schemas.openxmlformats.org/officeDocument/2006/relationships/tags" Target="../tags/tag48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notesSlide" Target="../notesSlides/notesSlide16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30.png"/><Relationship Id="rId2" Type="http://schemas.openxmlformats.org/officeDocument/2006/relationships/tags" Target="../tags/tag54.xml"/><Relationship Id="rId16" Type="http://schemas.openxmlformats.org/officeDocument/2006/relationships/image" Target="../media/image25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image" Target="../media/image26.png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image" Target="../media/image25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notesSlide" Target="../notesSlides/notesSlide17.xml"/><Relationship Id="rId2" Type="http://schemas.openxmlformats.org/officeDocument/2006/relationships/tags" Target="../tags/tag65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32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10" Type="http://schemas.openxmlformats.org/officeDocument/2006/relationships/tags" Target="../tags/tag73.xml"/><Relationship Id="rId19" Type="http://schemas.openxmlformats.org/officeDocument/2006/relationships/image" Target="../media/image26.pn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6" Type="http://schemas.openxmlformats.org/officeDocument/2006/relationships/image" Target="../media/image34.png"/><Relationship Id="rId5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85.xml"/><Relationship Id="rId7" Type="http://schemas.openxmlformats.org/officeDocument/2006/relationships/notesSlide" Target="../notesSlides/notesSlide2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7.xml"/><Relationship Id="rId10" Type="http://schemas.openxmlformats.org/officeDocument/2006/relationships/image" Target="../media/image36.png"/><Relationship Id="rId4" Type="http://schemas.openxmlformats.org/officeDocument/2006/relationships/tags" Target="../tags/tag86.xml"/><Relationship Id="rId9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Relationship Id="rId6" Type="http://schemas.openxmlformats.org/officeDocument/2006/relationships/image" Target="../media/image36.png"/><Relationship Id="rId5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995362" y="1872344"/>
            <a:ext cx="7234237" cy="3496809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pPr algn="ctr">
              <a:lnSpc>
                <a:spcPct val="95000"/>
              </a:lnSpc>
            </a:pPr>
            <a:r>
              <a:rPr lang="en-GB" sz="4500" dirty="0" err="1">
                <a:solidFill>
                  <a:srgbClr val="000000"/>
                </a:solidFill>
              </a:rPr>
              <a:t>Chapitre</a:t>
            </a:r>
            <a:r>
              <a:rPr lang="en-GB" sz="4500" dirty="0">
                <a:solidFill>
                  <a:srgbClr val="000000"/>
                </a:solidFill>
              </a:rPr>
              <a:t> 2</a:t>
            </a:r>
            <a:br>
              <a:rPr lang="en-GB" sz="4500" dirty="0">
                <a:solidFill>
                  <a:srgbClr val="000000"/>
                </a:solidFill>
              </a:rPr>
            </a:br>
            <a:r>
              <a:rPr lang="en-GB" sz="4500" dirty="0">
                <a:solidFill>
                  <a:srgbClr val="000000"/>
                </a:solidFill>
              </a:rPr>
              <a:t>Attribution </a:t>
            </a:r>
            <a:r>
              <a:rPr lang="en-GB" sz="4500" dirty="0" err="1">
                <a:solidFill>
                  <a:srgbClr val="000000"/>
                </a:solidFill>
              </a:rPr>
              <a:t>automatique</a:t>
            </a:r>
            <a:r>
              <a:rPr lang="en-GB" sz="4500" dirty="0">
                <a:solidFill>
                  <a:srgbClr val="000000"/>
                </a:solidFill>
              </a:rPr>
              <a:t> </a:t>
            </a:r>
            <a:r>
              <a:rPr lang="en-GB" sz="4500" dirty="0" err="1">
                <a:solidFill>
                  <a:srgbClr val="000000"/>
                </a:solidFill>
              </a:rPr>
              <a:t>d'adressages</a:t>
            </a:r>
            <a:r>
              <a:rPr lang="en-GB" sz="4500" dirty="0">
                <a:solidFill>
                  <a:srgbClr val="000000"/>
                </a:solidFill>
              </a:rPr>
              <a:t> IP à </a:t>
            </a:r>
            <a:r>
              <a:rPr lang="en-GB" sz="4500" dirty="0" err="1">
                <a:solidFill>
                  <a:srgbClr val="000000"/>
                </a:solidFill>
              </a:rPr>
              <a:t>l'aide</a:t>
            </a:r>
            <a:r>
              <a:rPr lang="en-GB" sz="4500" dirty="0">
                <a:solidFill>
                  <a:srgbClr val="000000"/>
                </a:solidFill>
              </a:rPr>
              <a:t> du </a:t>
            </a:r>
            <a:r>
              <a:rPr lang="en-GB" sz="4500" dirty="0" err="1">
                <a:solidFill>
                  <a:srgbClr val="000000"/>
                </a:solidFill>
              </a:rPr>
              <a:t>protocole</a:t>
            </a:r>
            <a:r>
              <a:rPr lang="en-GB" sz="4500" dirty="0">
                <a:solidFill>
                  <a:srgbClr val="000000"/>
                </a:solidFill>
              </a:rPr>
              <a:t> DHCP</a:t>
            </a:r>
            <a:endParaRPr lang="en-US" sz="45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97840" y="283424"/>
            <a:ext cx="312938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800" dirty="0">
                <a:solidFill>
                  <a:srgbClr val="000000"/>
                </a:solidFill>
              </a:rPr>
              <a:t>Module S43 </a:t>
            </a:r>
            <a:endParaRPr lang="fr-BE" sz="48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905328" y="304800"/>
            <a:ext cx="7391400" cy="684213"/>
          </a:xfrm>
        </p:spPr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Plan du </a:t>
            </a:r>
            <a:r>
              <a:rPr lang="en-GB" dirty="0" err="1">
                <a:solidFill>
                  <a:srgbClr val="000000"/>
                </a:solidFill>
              </a:rPr>
              <a:t>cours</a:t>
            </a:r>
            <a:endParaRPr lang="en-US" dirty="0"/>
          </a:p>
        </p:txBody>
      </p:sp>
      <p:sp>
        <p:nvSpPr>
          <p:cNvPr id="325635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13070" y="1527048"/>
            <a:ext cx="9030930" cy="4572000"/>
          </a:xfrm>
        </p:spPr>
        <p:txBody>
          <a:bodyPr/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/>
              <a:t>Vue d’ensemble du rôle serveur DHCP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BE" dirty="0"/>
              <a:t>Configuration des étendues DHCP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BE" dirty="0"/>
              <a:t>Configuration d’une réservation DHCP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BE" dirty="0"/>
              <a:t>Configuration des options DHCP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/>
              <a:t>Configuration d’un agent de relais DHCP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1752" y="333832"/>
            <a:ext cx="8534400" cy="595664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fr-FR" dirty="0"/>
              <a:t>1- Vue d’ensemble du rôle serveur DHCP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142" y="1542481"/>
            <a:ext cx="83239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Avantages de l’utilisation du service DHCP 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Les nouveautés de DHCP dans Windows Server 2008 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Comment DHCP alloue IP adresses 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en-GB" sz="2400" dirty="0"/>
              <a:t>Comment </a:t>
            </a:r>
            <a:r>
              <a:rPr lang="en-GB" sz="2400" dirty="0" err="1"/>
              <a:t>fonctionne</a:t>
            </a:r>
            <a:r>
              <a:rPr lang="en-GB" sz="2400" dirty="0"/>
              <a:t> le </a:t>
            </a:r>
            <a:r>
              <a:rPr lang="en-GB" sz="2400" dirty="0" err="1"/>
              <a:t>processus</a:t>
            </a:r>
            <a:r>
              <a:rPr lang="en-GB" sz="2400" dirty="0"/>
              <a:t> de </a:t>
            </a:r>
            <a:r>
              <a:rPr lang="en-GB" sz="2400" dirty="0" err="1"/>
              <a:t>création</a:t>
            </a:r>
            <a:r>
              <a:rPr lang="en-GB" sz="2400" dirty="0"/>
              <a:t> d'un bail DHCP?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en-GB" sz="2400" dirty="0"/>
              <a:t> Comment </a:t>
            </a:r>
            <a:r>
              <a:rPr lang="en-GB" sz="2400" dirty="0" err="1"/>
              <a:t>fonctionne</a:t>
            </a:r>
            <a:r>
              <a:rPr lang="en-GB" sz="2400" dirty="0"/>
              <a:t> le </a:t>
            </a:r>
            <a:r>
              <a:rPr lang="en-GB" sz="2400" dirty="0" err="1"/>
              <a:t>processus</a:t>
            </a:r>
            <a:r>
              <a:rPr lang="en-GB" sz="2400" dirty="0"/>
              <a:t> de </a:t>
            </a:r>
            <a:r>
              <a:rPr lang="en-GB" sz="2400" dirty="0" err="1"/>
              <a:t>renouvellement</a:t>
            </a:r>
            <a:r>
              <a:rPr lang="en-GB" sz="2400" dirty="0"/>
              <a:t> d'un bail DHCP</a:t>
            </a:r>
            <a:r>
              <a:rPr lang="fr-FR" sz="2400" dirty="0"/>
              <a:t> 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en-GB" sz="2400" dirty="0"/>
              <a:t>Comment </a:t>
            </a:r>
            <a:r>
              <a:rPr lang="en-GB" sz="2400" dirty="0" err="1"/>
              <a:t>ajouter</a:t>
            </a:r>
            <a:r>
              <a:rPr lang="en-GB" sz="2400" dirty="0"/>
              <a:t> un service </a:t>
            </a:r>
            <a:r>
              <a:rPr lang="en-GB" sz="2400" dirty="0" err="1"/>
              <a:t>Serveur</a:t>
            </a:r>
            <a:r>
              <a:rPr lang="en-GB" sz="2400" dirty="0"/>
              <a:t> DHCP?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</a:t>
            </a:r>
            <a:r>
              <a:rPr lang="en-GB" sz="2400" dirty="0"/>
              <a:t>Comment un service </a:t>
            </a:r>
            <a:r>
              <a:rPr lang="en-GB" sz="2400" dirty="0" err="1"/>
              <a:t>Serveur</a:t>
            </a:r>
            <a:r>
              <a:rPr lang="en-GB" sz="2400" dirty="0"/>
              <a:t> DHCP </a:t>
            </a:r>
            <a:r>
              <a:rPr lang="en-GB" sz="2400" dirty="0" err="1"/>
              <a:t>est</a:t>
            </a:r>
            <a:r>
              <a:rPr lang="en-GB" sz="2400" dirty="0"/>
              <a:t> </a:t>
            </a:r>
            <a:r>
              <a:rPr lang="en-GB" sz="2400" dirty="0" err="1"/>
              <a:t>autorisé</a:t>
            </a:r>
            <a:r>
              <a:rPr lang="en-GB" sz="2400" dirty="0"/>
              <a:t>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71126" y="228600"/>
            <a:ext cx="8842248" cy="758952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en-GB" dirty="0" err="1">
                <a:solidFill>
                  <a:srgbClr val="C00000"/>
                </a:solidFill>
              </a:rPr>
              <a:t>Avantage</a:t>
            </a:r>
            <a:r>
              <a:rPr lang="en-GB" dirty="0">
                <a:solidFill>
                  <a:srgbClr val="C00000"/>
                </a:solidFill>
              </a:rPr>
              <a:t> de </a:t>
            </a:r>
            <a:r>
              <a:rPr lang="en-GB" dirty="0" err="1">
                <a:solidFill>
                  <a:srgbClr val="C00000"/>
                </a:solidFill>
              </a:rPr>
              <a:t>l’utilisation</a:t>
            </a:r>
            <a:r>
              <a:rPr lang="en-GB" dirty="0">
                <a:solidFill>
                  <a:srgbClr val="C00000"/>
                </a:solidFill>
              </a:rPr>
              <a:t> du service DHCP?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06904" name="AutoShape 2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20915" y="2347685"/>
            <a:ext cx="7981950" cy="238397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l"/>
            <a:r>
              <a:rPr lang="en-GB" sz="3200" dirty="0">
                <a:effectLst/>
              </a:rPr>
              <a:t>Le </a:t>
            </a:r>
            <a:r>
              <a:rPr lang="en-GB" sz="3200" dirty="0" err="1">
                <a:effectLst/>
              </a:rPr>
              <a:t>protocole</a:t>
            </a:r>
            <a:r>
              <a:rPr lang="en-GB" sz="3200" dirty="0">
                <a:effectLst/>
              </a:rPr>
              <a:t> DHCP </a:t>
            </a:r>
            <a:r>
              <a:rPr lang="en-GB" sz="3200" dirty="0" err="1">
                <a:effectLst/>
              </a:rPr>
              <a:t>simplifie</a:t>
            </a:r>
            <a:r>
              <a:rPr lang="en-GB" sz="3200" dirty="0">
                <a:effectLst/>
              </a:rPr>
              <a:t> et </a:t>
            </a:r>
            <a:r>
              <a:rPr lang="en-GB" sz="3200" dirty="0" err="1">
                <a:effectLst/>
              </a:rPr>
              <a:t>réduit</a:t>
            </a:r>
            <a:r>
              <a:rPr lang="en-GB" sz="3200" dirty="0">
                <a:effectLst/>
              </a:rPr>
              <a:t> le travail </a:t>
            </a:r>
            <a:r>
              <a:rPr lang="en-GB" sz="3200" dirty="0" err="1">
                <a:effectLst/>
              </a:rPr>
              <a:t>administratif</a:t>
            </a:r>
            <a:r>
              <a:rPr lang="en-GB" sz="3200" dirty="0">
                <a:effectLst/>
              </a:rPr>
              <a:t> </a:t>
            </a:r>
            <a:r>
              <a:rPr lang="en-GB" sz="3200" dirty="0" err="1">
                <a:effectLst/>
              </a:rPr>
              <a:t>grâce</a:t>
            </a:r>
            <a:r>
              <a:rPr lang="en-GB" sz="3200" dirty="0">
                <a:effectLst/>
              </a:rPr>
              <a:t> à </a:t>
            </a:r>
            <a:r>
              <a:rPr lang="en-GB" sz="3200" dirty="0" err="1">
                <a:effectLst/>
              </a:rPr>
              <a:t>l'usage</a:t>
            </a:r>
            <a:r>
              <a:rPr lang="en-GB" sz="3200" dirty="0">
                <a:effectLst/>
              </a:rPr>
              <a:t> de la configuration </a:t>
            </a:r>
            <a:r>
              <a:rPr lang="en-GB" sz="3200" dirty="0" err="1">
                <a:effectLst/>
              </a:rPr>
              <a:t>automatique</a:t>
            </a:r>
            <a:r>
              <a:rPr lang="en-GB" sz="3200" dirty="0">
                <a:effectLst/>
              </a:rPr>
              <a:t> du </a:t>
            </a:r>
            <a:r>
              <a:rPr lang="en-GB" sz="3200" dirty="0" err="1">
                <a:effectLst/>
              </a:rPr>
              <a:t>protocole</a:t>
            </a:r>
            <a:r>
              <a:rPr lang="en-GB" sz="3200" dirty="0">
                <a:effectLst/>
              </a:rPr>
              <a:t> TCP/IP</a:t>
            </a:r>
            <a:endParaRPr lang="en-US" sz="3200" dirty="0"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06" name="AutoShape 2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9493" y="2395765"/>
            <a:ext cx="8034564" cy="330835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Les </a:t>
            </a:r>
            <a:r>
              <a:rPr lang="en-GB" sz="2400" dirty="0" err="1">
                <a:solidFill>
                  <a:srgbClr val="000000"/>
                </a:solidFill>
              </a:rPr>
              <a:t>adresses</a:t>
            </a:r>
            <a:r>
              <a:rPr lang="en-GB" sz="2400" dirty="0">
                <a:solidFill>
                  <a:srgbClr val="000000"/>
                </a:solidFill>
              </a:rPr>
              <a:t> IP </a:t>
            </a:r>
            <a:r>
              <a:rPr lang="en-GB" sz="2400" dirty="0" err="1">
                <a:solidFill>
                  <a:srgbClr val="000000"/>
                </a:solidFill>
              </a:rPr>
              <a:t>sont</a:t>
            </a:r>
            <a:r>
              <a:rPr lang="en-GB" sz="2400" dirty="0">
                <a:solidFill>
                  <a:srgbClr val="000000"/>
                </a:solidFill>
              </a:rPr>
              <a:t> entrées </a:t>
            </a:r>
            <a:r>
              <a:rPr lang="en-GB" sz="2400" dirty="0" err="1">
                <a:solidFill>
                  <a:srgbClr val="000000"/>
                </a:solidFill>
              </a:rPr>
              <a:t>manuellement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sur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chaque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ordinateur</a:t>
            </a:r>
            <a:r>
              <a:rPr lang="en-GB" sz="2400" dirty="0">
                <a:solidFill>
                  <a:srgbClr val="000000"/>
                </a:solidFill>
              </a:rPr>
              <a:t> client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 err="1">
                <a:solidFill>
                  <a:srgbClr val="000000"/>
                </a:solidFill>
              </a:rPr>
              <a:t>Risque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d'entrer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adresse</a:t>
            </a:r>
            <a:r>
              <a:rPr lang="en-GB" sz="2400" dirty="0">
                <a:solidFill>
                  <a:srgbClr val="000000"/>
                </a:solidFill>
              </a:rPr>
              <a:t>  IP </a:t>
            </a:r>
            <a:r>
              <a:rPr lang="en-GB" sz="2400" dirty="0" err="1">
                <a:solidFill>
                  <a:srgbClr val="000000"/>
                </a:solidFill>
              </a:rPr>
              <a:t>incorrecte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ou</a:t>
            </a:r>
            <a:r>
              <a:rPr lang="en-GB" sz="2400" dirty="0">
                <a:solidFill>
                  <a:srgbClr val="000000"/>
                </a:solidFill>
              </a:rPr>
              <a:t> non </a:t>
            </a:r>
            <a:r>
              <a:rPr lang="en-GB" sz="2400" dirty="0" err="1">
                <a:solidFill>
                  <a:srgbClr val="000000"/>
                </a:solidFill>
              </a:rPr>
              <a:t>valide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configuration </a:t>
            </a:r>
            <a:r>
              <a:rPr lang="en-GB" sz="2400" dirty="0" err="1">
                <a:solidFill>
                  <a:srgbClr val="000000"/>
                </a:solidFill>
              </a:rPr>
              <a:t>incorrecte</a:t>
            </a:r>
            <a:r>
              <a:rPr lang="en-GB" sz="2400" dirty="0">
                <a:solidFill>
                  <a:srgbClr val="000000"/>
                </a:solidFill>
              </a:rPr>
              <a:t>  </a:t>
            </a:r>
            <a:r>
              <a:rPr lang="en-GB" sz="2400" dirty="0" err="1">
                <a:solidFill>
                  <a:srgbClr val="000000"/>
                </a:solidFill>
              </a:rPr>
              <a:t>peut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entraîner</a:t>
            </a:r>
            <a:r>
              <a:rPr lang="en-GB" sz="2400" dirty="0">
                <a:solidFill>
                  <a:srgbClr val="000000"/>
                </a:solidFill>
              </a:rPr>
              <a:t> des </a:t>
            </a:r>
            <a:r>
              <a:rPr lang="en-GB" sz="2400" dirty="0" err="1">
                <a:solidFill>
                  <a:srgbClr val="000000"/>
                </a:solidFill>
              </a:rPr>
              <a:t>problèmes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br>
              <a:rPr lang="en-GB" sz="2400" dirty="0">
                <a:solidFill>
                  <a:srgbClr val="000000"/>
                </a:solidFill>
              </a:rPr>
            </a:br>
            <a:r>
              <a:rPr lang="en-GB" sz="2400" dirty="0">
                <a:solidFill>
                  <a:srgbClr val="000000"/>
                </a:solidFill>
              </a:rPr>
              <a:t>de communication et de </a:t>
            </a:r>
            <a:r>
              <a:rPr lang="en-GB" sz="2400" dirty="0" err="1">
                <a:solidFill>
                  <a:srgbClr val="000000"/>
                </a:solidFill>
              </a:rPr>
              <a:t>réseau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Surcharge administrative </a:t>
            </a:r>
            <a:r>
              <a:rPr lang="en-GB" sz="2400" dirty="0" err="1">
                <a:solidFill>
                  <a:srgbClr val="000000"/>
                </a:solidFill>
              </a:rPr>
              <a:t>sur</a:t>
            </a:r>
            <a:r>
              <a:rPr lang="en-GB" sz="2400" dirty="0">
                <a:solidFill>
                  <a:srgbClr val="000000"/>
                </a:solidFill>
              </a:rPr>
              <a:t> les </a:t>
            </a:r>
            <a:r>
              <a:rPr lang="en-GB" sz="2400" dirty="0" err="1">
                <a:solidFill>
                  <a:srgbClr val="000000"/>
                </a:solidFill>
              </a:rPr>
              <a:t>réseaux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dont</a:t>
            </a:r>
            <a:r>
              <a:rPr lang="en-GB" sz="2400" dirty="0">
                <a:solidFill>
                  <a:srgbClr val="000000"/>
                </a:solidFill>
              </a:rPr>
              <a:t> les </a:t>
            </a:r>
            <a:r>
              <a:rPr lang="en-GB" sz="2400" dirty="0" err="1">
                <a:solidFill>
                  <a:srgbClr val="000000"/>
                </a:solidFill>
              </a:rPr>
              <a:t>ordinateurs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br>
              <a:rPr lang="en-GB" sz="2400" dirty="0">
                <a:solidFill>
                  <a:srgbClr val="000000"/>
                </a:solidFill>
              </a:rPr>
            </a:br>
            <a:r>
              <a:rPr lang="en-GB" sz="2400" dirty="0" err="1">
                <a:solidFill>
                  <a:srgbClr val="000000"/>
                </a:solidFill>
              </a:rPr>
              <a:t>sont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souvent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déplacés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1084" y="1595966"/>
            <a:ext cx="6361037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lang="en-GB" sz="2800" dirty="0"/>
              <a:t>Configuration </a:t>
            </a:r>
            <a:r>
              <a:rPr lang="en-GB" sz="2800" dirty="0" err="1"/>
              <a:t>manuelle</a:t>
            </a:r>
            <a:r>
              <a:rPr lang="en-GB" sz="2800" dirty="0"/>
              <a:t> du </a:t>
            </a:r>
            <a:r>
              <a:rPr lang="en-GB" sz="2800" dirty="0" err="1"/>
              <a:t>protocole</a:t>
            </a:r>
            <a:r>
              <a:rPr lang="en-GB" sz="2800" dirty="0"/>
              <a:t> TCP/IP</a:t>
            </a:r>
            <a:endParaRPr lang="en-US" sz="28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71126" y="228600"/>
            <a:ext cx="8842248" cy="758952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en-GB" dirty="0" err="1">
                <a:solidFill>
                  <a:srgbClr val="C00000"/>
                </a:solidFill>
              </a:rPr>
              <a:t>Avantage</a:t>
            </a:r>
            <a:r>
              <a:rPr lang="en-GB" dirty="0">
                <a:solidFill>
                  <a:srgbClr val="C00000"/>
                </a:solidFill>
              </a:rPr>
              <a:t> de </a:t>
            </a:r>
            <a:r>
              <a:rPr lang="en-GB" dirty="0" err="1">
                <a:solidFill>
                  <a:srgbClr val="C00000"/>
                </a:solidFill>
              </a:rPr>
              <a:t>l’utilisation</a:t>
            </a:r>
            <a:r>
              <a:rPr lang="en-GB" dirty="0">
                <a:solidFill>
                  <a:srgbClr val="C00000"/>
                </a:solidFill>
              </a:rPr>
              <a:t> du service DHCP?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08" name="AutoShape 2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5262" y="2497364"/>
            <a:ext cx="7881710" cy="329406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/>
          <a:lstStyle/>
          <a:p>
            <a:pPr marL="225425" indent="-225425" algn="l">
              <a:lnSpc>
                <a:spcPct val="85000"/>
              </a:lnSpc>
              <a:spcBef>
                <a:spcPct val="35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Les </a:t>
            </a:r>
            <a:r>
              <a:rPr lang="en-GB" sz="2400" dirty="0" err="1">
                <a:solidFill>
                  <a:srgbClr val="000000"/>
                </a:solidFill>
              </a:rPr>
              <a:t>adresses</a:t>
            </a:r>
            <a:r>
              <a:rPr lang="en-GB" sz="2400" dirty="0">
                <a:solidFill>
                  <a:srgbClr val="000000"/>
                </a:solidFill>
              </a:rPr>
              <a:t> IP </a:t>
            </a:r>
            <a:r>
              <a:rPr lang="en-GB" sz="2400" dirty="0" err="1">
                <a:solidFill>
                  <a:srgbClr val="000000"/>
                </a:solidFill>
              </a:rPr>
              <a:t>sont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automatiquement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fournies</a:t>
            </a:r>
            <a:r>
              <a:rPr lang="en-GB" sz="2400" dirty="0">
                <a:solidFill>
                  <a:srgbClr val="000000"/>
                </a:solidFill>
              </a:rPr>
              <a:t> aux  </a:t>
            </a:r>
            <a:r>
              <a:rPr lang="en-GB" sz="2400" dirty="0" err="1">
                <a:solidFill>
                  <a:srgbClr val="000000"/>
                </a:solidFill>
              </a:rPr>
              <a:t>ordinateurs</a:t>
            </a:r>
            <a:r>
              <a:rPr lang="en-GB" sz="2400" dirty="0">
                <a:solidFill>
                  <a:srgbClr val="000000"/>
                </a:solidFill>
              </a:rPr>
              <a:t> clients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35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Les clients </a:t>
            </a:r>
            <a:r>
              <a:rPr lang="en-GB" sz="2400" dirty="0" err="1">
                <a:solidFill>
                  <a:srgbClr val="000000"/>
                </a:solidFill>
              </a:rPr>
              <a:t>utilisent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toujours</a:t>
            </a:r>
            <a:r>
              <a:rPr lang="en-GB" sz="2400" dirty="0">
                <a:solidFill>
                  <a:srgbClr val="000000"/>
                </a:solidFill>
              </a:rPr>
              <a:t>  les </a:t>
            </a:r>
            <a:r>
              <a:rPr lang="en-GB" sz="2400" dirty="0" err="1">
                <a:solidFill>
                  <a:srgbClr val="000000"/>
                </a:solidFill>
              </a:rPr>
              <a:t>informations</a:t>
            </a:r>
            <a:r>
              <a:rPr lang="en-GB" sz="2400" dirty="0">
                <a:solidFill>
                  <a:srgbClr val="000000"/>
                </a:solidFill>
              </a:rPr>
              <a:t> de configuration </a:t>
            </a:r>
            <a:r>
              <a:rPr lang="en-GB" sz="2400" dirty="0" err="1">
                <a:solidFill>
                  <a:srgbClr val="000000"/>
                </a:solidFill>
              </a:rPr>
              <a:t>correctes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35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>
                <a:solidFill>
                  <a:srgbClr val="000000"/>
                </a:solidFill>
              </a:rPr>
              <a:t>La configuration du client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automatiquement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mise</a:t>
            </a:r>
            <a:r>
              <a:rPr lang="en-GB" sz="2400" dirty="0">
                <a:solidFill>
                  <a:srgbClr val="000000"/>
                </a:solidFill>
              </a:rPr>
              <a:t> à jour  pour </a:t>
            </a:r>
            <a:r>
              <a:rPr lang="en-GB" sz="2400" dirty="0" err="1">
                <a:solidFill>
                  <a:srgbClr val="000000"/>
                </a:solidFill>
              </a:rPr>
              <a:t>refléter</a:t>
            </a:r>
            <a:r>
              <a:rPr lang="en-GB" sz="2400" dirty="0">
                <a:solidFill>
                  <a:srgbClr val="000000"/>
                </a:solidFill>
              </a:rPr>
              <a:t> les modifications  </a:t>
            </a:r>
            <a:r>
              <a:rPr lang="en-GB" sz="2400" dirty="0" err="1">
                <a:solidFill>
                  <a:srgbClr val="000000"/>
                </a:solidFill>
              </a:rPr>
              <a:t>dans</a:t>
            </a:r>
            <a:r>
              <a:rPr lang="en-GB" sz="2400" dirty="0">
                <a:solidFill>
                  <a:srgbClr val="000000"/>
                </a:solidFill>
              </a:rPr>
              <a:t> la structure du </a:t>
            </a:r>
            <a:r>
              <a:rPr lang="en-GB" sz="2400" dirty="0" err="1">
                <a:solidFill>
                  <a:srgbClr val="000000"/>
                </a:solidFill>
              </a:rPr>
              <a:t>réseau</a:t>
            </a:r>
            <a:endParaRPr lang="en-US" sz="2400" dirty="0"/>
          </a:p>
          <a:p>
            <a:pPr marL="225425" indent="-225425" algn="l">
              <a:lnSpc>
                <a:spcPct val="85000"/>
              </a:lnSpc>
              <a:spcBef>
                <a:spcPct val="35000"/>
              </a:spcBef>
              <a:buSzPct val="80000"/>
              <a:buFontTx/>
              <a:buBlip>
                <a:blip r:embed="rId5"/>
              </a:buBlip>
            </a:pP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source </a:t>
            </a:r>
            <a:r>
              <a:rPr lang="en-GB" sz="2400" dirty="0" err="1">
                <a:solidFill>
                  <a:srgbClr val="000000"/>
                </a:solidFill>
              </a:rPr>
              <a:t>fréquente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problèmes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réseau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éliminée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4972" y="1608867"/>
            <a:ext cx="6785428" cy="458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GB" sz="2800" dirty="0">
                <a:solidFill>
                  <a:srgbClr val="000000"/>
                </a:solidFill>
              </a:rPr>
              <a:t>Configuration </a:t>
            </a:r>
            <a:r>
              <a:rPr lang="en-GB" sz="2800" dirty="0" err="1">
                <a:solidFill>
                  <a:srgbClr val="000000"/>
                </a:solidFill>
              </a:rPr>
              <a:t>automatique</a:t>
            </a:r>
            <a:r>
              <a:rPr lang="en-GB" sz="2800" dirty="0">
                <a:solidFill>
                  <a:srgbClr val="000000"/>
                </a:solidFill>
              </a:rPr>
              <a:t> du </a:t>
            </a:r>
            <a:r>
              <a:rPr lang="en-GB" sz="2800" dirty="0" err="1">
                <a:solidFill>
                  <a:srgbClr val="000000"/>
                </a:solidFill>
              </a:rPr>
              <a:t>protocole</a:t>
            </a:r>
            <a:r>
              <a:rPr lang="en-GB" sz="2800" dirty="0">
                <a:solidFill>
                  <a:srgbClr val="000000"/>
                </a:solidFill>
              </a:rPr>
              <a:t> TCP/IP</a:t>
            </a:r>
            <a:endParaRPr lang="en-US" sz="28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71126" y="228600"/>
            <a:ext cx="8842248" cy="758952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en-GB" dirty="0" err="1">
                <a:solidFill>
                  <a:srgbClr val="C00000"/>
                </a:solidFill>
              </a:rPr>
              <a:t>Avantage</a:t>
            </a:r>
            <a:r>
              <a:rPr lang="en-GB" dirty="0">
                <a:solidFill>
                  <a:srgbClr val="C00000"/>
                </a:solidFill>
              </a:rPr>
              <a:t> de </a:t>
            </a:r>
            <a:r>
              <a:rPr lang="en-GB" dirty="0" err="1">
                <a:solidFill>
                  <a:srgbClr val="C00000"/>
                </a:solidFill>
              </a:rPr>
              <a:t>l’utilisation</a:t>
            </a:r>
            <a:r>
              <a:rPr lang="en-GB" dirty="0">
                <a:solidFill>
                  <a:srgbClr val="C00000"/>
                </a:solidFill>
              </a:rPr>
              <a:t> du service DHCP?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1752" y="72570"/>
            <a:ext cx="8534400" cy="1060122"/>
          </a:xfrm>
        </p:spPr>
        <p:txBody>
          <a:bodyPr vert="horz" anchor="b">
            <a:normAutofit/>
          </a:bodyPr>
          <a:lstStyle/>
          <a:p>
            <a:pPr marL="514350" indent="-514350"/>
            <a:r>
              <a:rPr lang="en-GB" sz="2900" dirty="0">
                <a:solidFill>
                  <a:srgbClr val="C00000"/>
                </a:solidFill>
              </a:rPr>
              <a:t>Comment le </a:t>
            </a:r>
            <a:r>
              <a:rPr lang="en-GB" sz="2900" dirty="0" err="1">
                <a:solidFill>
                  <a:srgbClr val="C00000"/>
                </a:solidFill>
              </a:rPr>
              <a:t>protocole</a:t>
            </a:r>
            <a:r>
              <a:rPr lang="en-GB" sz="2900" dirty="0">
                <a:solidFill>
                  <a:srgbClr val="C00000"/>
                </a:solidFill>
              </a:rPr>
              <a:t> DHCP </a:t>
            </a:r>
            <a:r>
              <a:rPr lang="en-GB" sz="2900" dirty="0" err="1">
                <a:solidFill>
                  <a:srgbClr val="C00000"/>
                </a:solidFill>
              </a:rPr>
              <a:t>alloue</a:t>
            </a:r>
            <a:r>
              <a:rPr lang="en-GB" sz="2900" dirty="0">
                <a:solidFill>
                  <a:srgbClr val="C00000"/>
                </a:solidFill>
              </a:rPr>
              <a:t> des </a:t>
            </a:r>
            <a:r>
              <a:rPr lang="en-GB" sz="2900" dirty="0" err="1">
                <a:solidFill>
                  <a:srgbClr val="C00000"/>
                </a:solidFill>
              </a:rPr>
              <a:t>adresses</a:t>
            </a:r>
            <a:r>
              <a:rPr lang="en-GB" sz="2900" dirty="0">
                <a:solidFill>
                  <a:srgbClr val="C00000"/>
                </a:solidFill>
              </a:rPr>
              <a:t> IP?</a:t>
            </a:r>
            <a:endParaRPr lang="en-US" sz="2900" dirty="0">
              <a:solidFill>
                <a:srgbClr val="C00000"/>
              </a:solidFill>
            </a:endParaRPr>
          </a:p>
        </p:txBody>
      </p:sp>
      <p:pic>
        <p:nvPicPr>
          <p:cNvPr id="506008" name="Picture 152" descr="Computer_DesktopComputerSansKeyboard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906713" y="1574800"/>
            <a:ext cx="1036637" cy="1293813"/>
          </a:xfrm>
          <a:prstGeom prst="rect">
            <a:avLst/>
          </a:prstGeom>
          <a:noFill/>
        </p:spPr>
      </p:pic>
      <p:pic>
        <p:nvPicPr>
          <p:cNvPr id="506009" name="Picture 153" descr="Server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5105400" y="3516313"/>
            <a:ext cx="1228725" cy="1477962"/>
          </a:xfrm>
          <a:prstGeom prst="rect">
            <a:avLst/>
          </a:prstGeom>
          <a:noFill/>
        </p:spPr>
      </p:pic>
      <p:sp>
        <p:nvSpPr>
          <p:cNvPr id="506010" name="AutoShape 15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21399" y="3753760"/>
            <a:ext cx="1963057" cy="426354"/>
          </a:xfrm>
          <a:prstGeom prst="roundRect">
            <a:avLst>
              <a:gd name="adj" fmla="val 11060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DHCP</a:t>
            </a:r>
            <a:endParaRPr lang="en-US" sz="2400" dirty="0"/>
          </a:p>
        </p:txBody>
      </p:sp>
      <p:pic>
        <p:nvPicPr>
          <p:cNvPr id="506011" name="Picture 155" descr="Computer_DesktopComputerSansKeyboard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119688" y="1316038"/>
            <a:ext cx="1036637" cy="1293812"/>
          </a:xfrm>
          <a:prstGeom prst="rect">
            <a:avLst/>
          </a:prstGeom>
          <a:noFill/>
        </p:spPr>
      </p:pic>
      <p:pic>
        <p:nvPicPr>
          <p:cNvPr id="506012" name="Picture 156" descr="Computer_DesktopComputerSansKeyboard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014538" y="3209925"/>
            <a:ext cx="1036637" cy="1293813"/>
          </a:xfrm>
          <a:prstGeom prst="rect">
            <a:avLst/>
          </a:prstGeom>
          <a:noFill/>
        </p:spPr>
      </p:pic>
      <p:sp>
        <p:nvSpPr>
          <p:cNvPr id="506016" name="AutoShape 16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05288" y="5283199"/>
            <a:ext cx="4735512" cy="1088571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400" b="0" dirty="0">
                <a:solidFill>
                  <a:srgbClr val="5F5F5F"/>
                </a:solidFill>
              </a:rPr>
              <a:t>Adresse1 IP :</a:t>
            </a:r>
            <a:r>
              <a:rPr lang="en-US" sz="2400" b="0" dirty="0">
                <a:solidFill>
                  <a:srgbClr val="5F5F5F"/>
                </a:solidFill>
              </a:rPr>
              <a:t> </a:t>
            </a:r>
            <a:r>
              <a:rPr lang="en-GB" sz="2400" b="0" dirty="0" err="1">
                <a:solidFill>
                  <a:srgbClr val="5F5F5F"/>
                </a:solidFill>
              </a:rPr>
              <a:t>Louée</a:t>
            </a:r>
            <a:r>
              <a:rPr lang="en-GB" sz="2400" b="0" dirty="0">
                <a:solidFill>
                  <a:srgbClr val="5F5F5F"/>
                </a:solidFill>
              </a:rPr>
              <a:t> au Client1 DHCP</a:t>
            </a:r>
            <a:endParaRPr lang="en-US" sz="2400" b="0" dirty="0">
              <a:solidFill>
                <a:srgbClr val="5F5F5F"/>
              </a:solidFill>
            </a:endParaRPr>
          </a:p>
          <a:p>
            <a:r>
              <a:rPr lang="en-GB" sz="2400" b="0" dirty="0">
                <a:solidFill>
                  <a:srgbClr val="5F5F5F"/>
                </a:solidFill>
              </a:rPr>
              <a:t>Adresse2 IP :</a:t>
            </a:r>
            <a:r>
              <a:rPr lang="en-US" sz="2400" b="0" dirty="0">
                <a:solidFill>
                  <a:srgbClr val="5F5F5F"/>
                </a:solidFill>
              </a:rPr>
              <a:t> </a:t>
            </a:r>
            <a:r>
              <a:rPr lang="en-GB" sz="2400" b="0" dirty="0" err="1">
                <a:solidFill>
                  <a:srgbClr val="5F5F5F"/>
                </a:solidFill>
              </a:rPr>
              <a:t>Louée</a:t>
            </a:r>
            <a:r>
              <a:rPr lang="en-GB" sz="2400" b="0" dirty="0">
                <a:solidFill>
                  <a:srgbClr val="5F5F5F"/>
                </a:solidFill>
              </a:rPr>
              <a:t> au Client2 DHCP</a:t>
            </a:r>
            <a:endParaRPr lang="en-US" sz="2400" b="0" dirty="0">
              <a:solidFill>
                <a:srgbClr val="5F5F5F"/>
              </a:solidFill>
            </a:endParaRPr>
          </a:p>
          <a:p>
            <a:r>
              <a:rPr lang="en-GB" sz="2400" dirty="0">
                <a:solidFill>
                  <a:srgbClr val="000000"/>
                </a:solidFill>
              </a:rPr>
              <a:t>Adresse3 IP :</a:t>
            </a:r>
            <a:r>
              <a:rPr lang="en-US" sz="2400" dirty="0"/>
              <a:t> </a:t>
            </a:r>
            <a:r>
              <a:rPr lang="en-GB" sz="2400" dirty="0" err="1">
                <a:solidFill>
                  <a:srgbClr val="000000"/>
                </a:solidFill>
              </a:rPr>
              <a:t>Disponible</a:t>
            </a:r>
            <a:r>
              <a:rPr lang="en-GB" sz="2400" dirty="0">
                <a:solidFill>
                  <a:srgbClr val="000000"/>
                </a:solidFill>
              </a:rPr>
              <a:t> pour un bail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506017" name="AutoShape 16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254572" y="1257981"/>
            <a:ext cx="2686228" cy="1545998"/>
          </a:xfrm>
          <a:prstGeom prst="roundRect">
            <a:avLst>
              <a:gd name="adj" fmla="val 3755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 dirty="0">
                <a:solidFill>
                  <a:srgbClr val="000000"/>
                </a:solidFill>
              </a:rPr>
              <a:t>Client2 DHCP :</a:t>
            </a:r>
            <a:br>
              <a:rPr lang="en-US" sz="2400" dirty="0"/>
            </a:br>
            <a:r>
              <a:rPr lang="en-GB" sz="2400" b="0" dirty="0">
                <a:solidFill>
                  <a:srgbClr val="000000"/>
                </a:solidFill>
              </a:rPr>
              <a:t>Configuration IP</a:t>
            </a:r>
            <a:br>
              <a:rPr lang="en-GB" sz="2400" b="0" dirty="0">
                <a:solidFill>
                  <a:srgbClr val="000000"/>
                </a:solidFill>
              </a:rPr>
            </a:br>
            <a:r>
              <a:rPr lang="en-GB" sz="2400" b="0" dirty="0">
                <a:solidFill>
                  <a:srgbClr val="000000"/>
                </a:solidFill>
              </a:rPr>
              <a:t>du </a:t>
            </a:r>
            <a:r>
              <a:rPr lang="en-GB" sz="2400" b="0" dirty="0" err="1">
                <a:solidFill>
                  <a:srgbClr val="000000"/>
                </a:solidFill>
              </a:rPr>
              <a:t>serveur</a:t>
            </a:r>
            <a:r>
              <a:rPr lang="en-GB" sz="2400" b="0" dirty="0">
                <a:solidFill>
                  <a:srgbClr val="000000"/>
                </a:solidFill>
              </a:rPr>
              <a:t> DHCP 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506018" name="AutoShape 16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79438" y="1688185"/>
            <a:ext cx="2053418" cy="846138"/>
          </a:xfrm>
          <a:prstGeom prst="roundRect">
            <a:avLst>
              <a:gd name="adj" fmla="val 3755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 b="0" dirty="0">
                <a:solidFill>
                  <a:srgbClr val="000000"/>
                </a:solidFill>
              </a:rPr>
              <a:t>Configuration</a:t>
            </a:r>
            <a:br>
              <a:rPr lang="en-GB" sz="2400" b="0" dirty="0">
                <a:solidFill>
                  <a:srgbClr val="000000"/>
                </a:solidFill>
              </a:rPr>
            </a:br>
            <a:r>
              <a:rPr lang="en-GB" sz="2400" b="0" dirty="0">
                <a:solidFill>
                  <a:srgbClr val="000000"/>
                </a:solidFill>
              </a:rPr>
              <a:t>IP </a:t>
            </a:r>
            <a:r>
              <a:rPr lang="en-GB" sz="2400" b="0" dirty="0" err="1">
                <a:solidFill>
                  <a:srgbClr val="000000"/>
                </a:solidFill>
              </a:rPr>
              <a:t>statique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506019" name="AutoShape 16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88571" y="4535487"/>
            <a:ext cx="2163761" cy="965559"/>
          </a:xfrm>
          <a:prstGeom prst="roundRect">
            <a:avLst>
              <a:gd name="adj" fmla="val 3755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 b="0" dirty="0">
                <a:solidFill>
                  <a:srgbClr val="000000"/>
                </a:solidFill>
              </a:rPr>
              <a:t>Configuration IP</a:t>
            </a:r>
            <a:br>
              <a:rPr lang="en-GB" sz="2400" b="0" dirty="0">
                <a:solidFill>
                  <a:srgbClr val="000000"/>
                </a:solidFill>
              </a:rPr>
            </a:br>
            <a:r>
              <a:rPr lang="en-GB" sz="2400" b="0" dirty="0" err="1">
                <a:solidFill>
                  <a:srgbClr val="000000"/>
                </a:solidFill>
              </a:rPr>
              <a:t>automatique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506020" name="AutoShape 16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79750" y="3735388"/>
            <a:ext cx="1955800" cy="360362"/>
          </a:xfrm>
          <a:prstGeom prst="leftRightArrow">
            <a:avLst>
              <a:gd name="adj1" fmla="val 49778"/>
              <a:gd name="adj2" fmla="val 86787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506021" name="AutoShape 16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 rot="-5400000">
            <a:off x="4858544" y="2896394"/>
            <a:ext cx="1054100" cy="334962"/>
          </a:xfrm>
          <a:prstGeom prst="leftRightArrow">
            <a:avLst>
              <a:gd name="adj1" fmla="val 50000"/>
              <a:gd name="adj2" fmla="val 62938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506022" name="AutoShape 166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46725" y="2809875"/>
            <a:ext cx="1812018" cy="775154"/>
          </a:xfrm>
          <a:prstGeom prst="roundRect">
            <a:avLst>
              <a:gd name="adj" fmla="val 11060"/>
            </a:avLst>
          </a:prstGeom>
          <a:noFill/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GB" sz="2400" dirty="0" err="1">
                <a:solidFill>
                  <a:srgbClr val="000000"/>
                </a:solidFill>
              </a:rPr>
              <a:t>Renouvellement</a:t>
            </a:r>
            <a:br>
              <a:rPr lang="en-GB" sz="2400" dirty="0">
                <a:solidFill>
                  <a:srgbClr val="000000"/>
                </a:solidFill>
              </a:rPr>
            </a:br>
            <a:r>
              <a:rPr lang="en-GB" sz="2400" dirty="0">
                <a:solidFill>
                  <a:srgbClr val="000000"/>
                </a:solidFill>
              </a:rPr>
              <a:t>d'un bail</a:t>
            </a:r>
            <a:endParaRPr lang="en-US" sz="2400" dirty="0"/>
          </a:p>
        </p:txBody>
      </p:sp>
      <p:sp>
        <p:nvSpPr>
          <p:cNvPr id="506023" name="AutoShape 167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108325" y="3389313"/>
            <a:ext cx="2044246" cy="413430"/>
          </a:xfrm>
          <a:prstGeom prst="roundRect">
            <a:avLst>
              <a:gd name="adj" fmla="val 11060"/>
            </a:avLst>
          </a:prstGeom>
          <a:noFill/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GB" sz="2400" dirty="0" err="1">
                <a:solidFill>
                  <a:srgbClr val="000000"/>
                </a:solidFill>
              </a:rPr>
              <a:t>Création</a:t>
            </a:r>
            <a:r>
              <a:rPr lang="en-GB" sz="2400" dirty="0">
                <a:solidFill>
                  <a:srgbClr val="000000"/>
                </a:solidFill>
              </a:rPr>
              <a:t> d'un bail </a:t>
            </a:r>
            <a:endParaRPr lang="en-US" sz="2400" dirty="0"/>
          </a:p>
        </p:txBody>
      </p:sp>
      <p:grpSp>
        <p:nvGrpSpPr>
          <p:cNvPr id="20" name="Groupe 19"/>
          <p:cNvGrpSpPr/>
          <p:nvPr/>
        </p:nvGrpSpPr>
        <p:grpSpPr>
          <a:xfrm>
            <a:off x="5964240" y="4180114"/>
            <a:ext cx="2277041" cy="955449"/>
            <a:chOff x="5964238" y="4446588"/>
            <a:chExt cx="1857718" cy="688975"/>
          </a:xfrm>
        </p:grpSpPr>
        <p:pic>
          <p:nvPicPr>
            <p:cNvPr id="506046" name="Picture 190" descr="Database01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5964238" y="4446588"/>
              <a:ext cx="1765300" cy="688975"/>
            </a:xfrm>
            <a:prstGeom prst="rect">
              <a:avLst/>
            </a:prstGeom>
            <a:noFill/>
          </p:spPr>
        </p:pic>
        <p:sp>
          <p:nvSpPr>
            <p:cNvPr id="506047" name="Text Box 191"/>
            <p:cNvSpPr txBox="1">
              <a:spLocks noChangeArrowheads="1"/>
            </p:cNvSpPr>
            <p:nvPr/>
          </p:nvSpPr>
          <p:spPr bwMode="auto">
            <a:xfrm>
              <a:off x="5973763" y="4502151"/>
              <a:ext cx="1848193" cy="599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DHCP </a:t>
              </a:r>
            </a:p>
            <a:p>
              <a:r>
                <a:rPr lang="en-GB" sz="2400" dirty="0">
                  <a:solidFill>
                    <a:srgbClr val="000000"/>
                  </a:solidFill>
                </a:rPr>
                <a:t>Base de </a:t>
              </a:r>
              <a:r>
                <a:rPr lang="en-GB" sz="2400" dirty="0" err="1">
                  <a:solidFill>
                    <a:srgbClr val="000000"/>
                  </a:solidFill>
                </a:rPr>
                <a:t>données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821C414A-98AE-9F28-2AB5-234ED6406D7F}"/>
              </a:ext>
            </a:extLst>
          </p:cNvPr>
          <p:cNvSpPr txBox="1"/>
          <p:nvPr/>
        </p:nvSpPr>
        <p:spPr>
          <a:xfrm>
            <a:off x="692247" y="2598095"/>
            <a:ext cx="1840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</a:rPr>
              <a:t>Client non-DHCP</a:t>
            </a:r>
            <a:br>
              <a:rPr lang="en-US" sz="1800" dirty="0"/>
            </a:b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E9E0C1-55E5-8700-271D-70F886228299}"/>
              </a:ext>
            </a:extLst>
          </p:cNvPr>
          <p:cNvSpPr txBox="1"/>
          <p:nvPr/>
        </p:nvSpPr>
        <p:spPr>
          <a:xfrm>
            <a:off x="1327267" y="5542834"/>
            <a:ext cx="1723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</a:rPr>
              <a:t>Client1 DHCP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017" grpId="0" animBg="1"/>
      <p:bldP spid="506018" grpId="0" animBg="1"/>
      <p:bldP spid="506019" grpId="0" animBg="1"/>
      <p:bldP spid="506020" grpId="0" animBg="1"/>
      <p:bldP spid="506021" grpId="0" animBg="1"/>
      <p:bldP spid="506022" grpId="0"/>
      <p:bldP spid="506023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AutoShape 2"/>
          <p:cNvSpPr>
            <a:spLocks noChangeArrowheads="1"/>
          </p:cNvSpPr>
          <p:nvPr/>
        </p:nvSpPr>
        <p:spPr bwMode="auto">
          <a:xfrm>
            <a:off x="812827" y="1331232"/>
            <a:ext cx="7223125" cy="4951413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1752" y="232229"/>
            <a:ext cx="8534400" cy="944005"/>
          </a:xfrm>
        </p:spPr>
        <p:txBody>
          <a:bodyPr vert="horz" anchor="b">
            <a:normAutofit fontScale="90000"/>
          </a:bodyPr>
          <a:lstStyle/>
          <a:p>
            <a:pPr marL="514350" indent="-514350"/>
            <a:r>
              <a:rPr lang="en-GB" sz="2900" dirty="0">
                <a:solidFill>
                  <a:srgbClr val="C00000"/>
                </a:solidFill>
              </a:rPr>
              <a:t>Comment </a:t>
            </a:r>
            <a:r>
              <a:rPr lang="en-GB" sz="2900" dirty="0" err="1">
                <a:solidFill>
                  <a:srgbClr val="C00000"/>
                </a:solidFill>
              </a:rPr>
              <a:t>fonctionne</a:t>
            </a:r>
            <a:r>
              <a:rPr lang="en-GB" sz="2900" dirty="0">
                <a:solidFill>
                  <a:srgbClr val="C00000"/>
                </a:solidFill>
              </a:rPr>
              <a:t> le </a:t>
            </a:r>
            <a:r>
              <a:rPr lang="en-GB" sz="2900" dirty="0" err="1">
                <a:solidFill>
                  <a:srgbClr val="C00000"/>
                </a:solidFill>
              </a:rPr>
              <a:t>processus</a:t>
            </a:r>
            <a:r>
              <a:rPr lang="en-GB" sz="2900" dirty="0">
                <a:solidFill>
                  <a:srgbClr val="C00000"/>
                </a:solidFill>
              </a:rPr>
              <a:t> de </a:t>
            </a:r>
            <a:r>
              <a:rPr lang="en-GB" sz="2900" dirty="0" err="1">
                <a:solidFill>
                  <a:srgbClr val="C00000"/>
                </a:solidFill>
              </a:rPr>
              <a:t>création</a:t>
            </a:r>
            <a:r>
              <a:rPr lang="en-GB" sz="2900" dirty="0">
                <a:solidFill>
                  <a:srgbClr val="C00000"/>
                </a:solidFill>
              </a:rPr>
              <a:t> d'un bail DHCP</a:t>
            </a:r>
            <a:endParaRPr lang="en-US" sz="2900" dirty="0">
              <a:solidFill>
                <a:srgbClr val="C00000"/>
              </a:solidFill>
            </a:endParaRPr>
          </a:p>
        </p:txBody>
      </p:sp>
      <p:grpSp>
        <p:nvGrpSpPr>
          <p:cNvPr id="2" name="Group 156"/>
          <p:cNvGrpSpPr>
            <a:grpSpLocks/>
          </p:cNvGrpSpPr>
          <p:nvPr/>
        </p:nvGrpSpPr>
        <p:grpSpPr bwMode="auto">
          <a:xfrm>
            <a:off x="1738340" y="4580845"/>
            <a:ext cx="5653087" cy="428625"/>
            <a:chOff x="1159" y="2849"/>
            <a:chExt cx="3551" cy="270"/>
          </a:xfrm>
        </p:grpSpPr>
        <p:sp>
          <p:nvSpPr>
            <p:cNvPr id="561168" name="AutoShape 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65" y="2849"/>
              <a:ext cx="3445" cy="27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Le client DHCP diffuse un paquet DHCPDISCOVER</a:t>
              </a:r>
              <a:endParaRPr lang="en-US"/>
            </a:p>
          </p:txBody>
        </p:sp>
        <p:sp>
          <p:nvSpPr>
            <p:cNvPr id="561169" name="AutoShape 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59" y="2880"/>
              <a:ext cx="179" cy="20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3" name="Group 157"/>
          <p:cNvGrpSpPr>
            <a:grpSpLocks/>
          </p:cNvGrpSpPr>
          <p:nvPr/>
        </p:nvGrpSpPr>
        <p:grpSpPr bwMode="auto">
          <a:xfrm>
            <a:off x="1738340" y="5087257"/>
            <a:ext cx="5653087" cy="428625"/>
            <a:chOff x="1159" y="3168"/>
            <a:chExt cx="3543" cy="270"/>
          </a:xfrm>
        </p:grpSpPr>
        <p:sp>
          <p:nvSpPr>
            <p:cNvPr id="561171" name="AutoShape 1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265" y="3168"/>
              <a:ext cx="3437" cy="27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 dirty="0">
                  <a:solidFill>
                    <a:srgbClr val="000000"/>
                  </a:solidFill>
                </a:rPr>
                <a:t>Le </a:t>
              </a:r>
              <a:r>
                <a:rPr lang="en-GB" dirty="0" err="1">
                  <a:solidFill>
                    <a:srgbClr val="000000"/>
                  </a:solidFill>
                </a:rPr>
                <a:t>serveur</a:t>
              </a:r>
              <a:r>
                <a:rPr lang="en-GB" dirty="0">
                  <a:solidFill>
                    <a:srgbClr val="000000"/>
                  </a:solidFill>
                </a:rPr>
                <a:t> DHCP diffuse un </a:t>
              </a:r>
              <a:r>
                <a:rPr lang="en-GB" dirty="0" err="1">
                  <a:solidFill>
                    <a:srgbClr val="000000"/>
                  </a:solidFill>
                </a:rPr>
                <a:t>paquet</a:t>
              </a:r>
              <a:r>
                <a:rPr lang="en-GB" dirty="0">
                  <a:solidFill>
                    <a:srgbClr val="000000"/>
                  </a:solidFill>
                </a:rPr>
                <a:t> DHCPOFFER</a:t>
              </a:r>
              <a:endParaRPr lang="en-US" dirty="0"/>
            </a:p>
          </p:txBody>
        </p:sp>
        <p:sp>
          <p:nvSpPr>
            <p:cNvPr id="561172" name="AutoShape 2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59" y="3199"/>
              <a:ext cx="179" cy="20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4" name="Group 158"/>
          <p:cNvGrpSpPr>
            <a:grpSpLocks/>
          </p:cNvGrpSpPr>
          <p:nvPr/>
        </p:nvGrpSpPr>
        <p:grpSpPr bwMode="auto">
          <a:xfrm>
            <a:off x="1738340" y="5593670"/>
            <a:ext cx="5653087" cy="428625"/>
            <a:chOff x="1159" y="3487"/>
            <a:chExt cx="3534" cy="270"/>
          </a:xfrm>
        </p:grpSpPr>
        <p:sp>
          <p:nvSpPr>
            <p:cNvPr id="561174" name="AutoShape 2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265" y="3487"/>
              <a:ext cx="3428" cy="27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Le client DHCP diffuse un paquet DHCPREQUEST</a:t>
              </a:r>
              <a:endParaRPr lang="en-US"/>
            </a:p>
          </p:txBody>
        </p:sp>
        <p:sp>
          <p:nvSpPr>
            <p:cNvPr id="561175" name="AutoShape 2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59" y="3518"/>
              <a:ext cx="179" cy="20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3</a:t>
              </a:r>
            </a:p>
          </p:txBody>
        </p:sp>
      </p:grpSp>
      <p:grpSp>
        <p:nvGrpSpPr>
          <p:cNvPr id="5" name="Group 159"/>
          <p:cNvGrpSpPr>
            <a:grpSpLocks/>
          </p:cNvGrpSpPr>
          <p:nvPr/>
        </p:nvGrpSpPr>
        <p:grpSpPr bwMode="auto">
          <a:xfrm>
            <a:off x="1738340" y="6100082"/>
            <a:ext cx="5653087" cy="428625"/>
            <a:chOff x="1159" y="3806"/>
            <a:chExt cx="3542" cy="270"/>
          </a:xfrm>
        </p:grpSpPr>
        <p:sp>
          <p:nvSpPr>
            <p:cNvPr id="561177" name="AutoShape 2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65" y="3806"/>
              <a:ext cx="3436" cy="27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Le serveur DHCP Server1 diffuse un paquet DHCPACK</a:t>
              </a:r>
              <a:endParaRPr lang="en-US"/>
            </a:p>
          </p:txBody>
        </p:sp>
        <p:sp>
          <p:nvSpPr>
            <p:cNvPr id="561178" name="AutoShape 2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59" y="3837"/>
              <a:ext cx="179" cy="20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4</a:t>
              </a:r>
            </a:p>
          </p:txBody>
        </p:sp>
      </p:grpSp>
      <p:sp>
        <p:nvSpPr>
          <p:cNvPr id="561267" name="Oval 115"/>
          <p:cNvSpPr>
            <a:spLocks noGrp="1" noChangeArrowheads="1"/>
          </p:cNvSpPr>
          <p:nvPr>
            <p:ph type="body" idx="1"/>
          </p:nvPr>
        </p:nvSpPr>
        <p:spPr>
          <a:xfrm>
            <a:off x="1343052" y="1586820"/>
            <a:ext cx="6073775" cy="279876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FE1C2"/>
              </a:gs>
            </a:gsLst>
            <a:lin ang="18900000" scaled="1"/>
          </a:gradFill>
          <a:ln/>
          <a:effectLst>
            <a:outerShdw dist="53882" dir="2700000" algn="ctr" rotWithShape="0">
              <a:schemeClr val="bg2"/>
            </a:outerShdw>
          </a:effectLst>
        </p:spPr>
        <p:txBody>
          <a:bodyPr/>
          <a:lstStyle/>
          <a:p>
            <a:pPr marL="342900" indent="-342900">
              <a:buFont typeface="Wingdings" pitchFamily="2" charset="2"/>
              <a:buNone/>
            </a:pPr>
            <a:r>
              <a:rPr lang="en-US"/>
              <a:t>                                                          </a:t>
            </a:r>
          </a:p>
        </p:txBody>
      </p:sp>
      <p:pic>
        <p:nvPicPr>
          <p:cNvPr id="561268" name="Picture 116" descr="Server0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563715" y="2969532"/>
            <a:ext cx="996950" cy="1198563"/>
          </a:xfrm>
          <a:prstGeom prst="rect">
            <a:avLst/>
          </a:prstGeom>
          <a:noFill/>
        </p:spPr>
      </p:pic>
      <p:pic>
        <p:nvPicPr>
          <p:cNvPr id="561269" name="Picture 117" descr="Computer_DesktopComputerSansKeyboard0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22902" y="1424895"/>
            <a:ext cx="842963" cy="1052512"/>
          </a:xfrm>
          <a:prstGeom prst="rect">
            <a:avLst/>
          </a:prstGeom>
          <a:noFill/>
        </p:spPr>
      </p:pic>
      <p:pic>
        <p:nvPicPr>
          <p:cNvPr id="561270" name="Picture 118" descr="Computer_DesktopComputerSansKeyboard0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133877" y="3506107"/>
            <a:ext cx="844550" cy="1052513"/>
          </a:xfrm>
          <a:prstGeom prst="rect">
            <a:avLst/>
          </a:prstGeom>
          <a:noFill/>
        </p:spPr>
      </p:pic>
      <p:pic>
        <p:nvPicPr>
          <p:cNvPr id="561271" name="Picture 119" descr="Computer_DesktopComputerSansKeyboard0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303990" y="3020332"/>
            <a:ext cx="844550" cy="1052513"/>
          </a:xfrm>
          <a:prstGeom prst="rect">
            <a:avLst/>
          </a:prstGeom>
          <a:noFill/>
        </p:spPr>
      </p:pic>
      <p:pic>
        <p:nvPicPr>
          <p:cNvPr id="561272" name="Picture 120" descr="Server01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530502" y="1321707"/>
            <a:ext cx="996950" cy="1198563"/>
          </a:xfrm>
          <a:prstGeom prst="rect">
            <a:avLst/>
          </a:prstGeom>
          <a:noFill/>
        </p:spPr>
      </p:pic>
      <p:pic>
        <p:nvPicPr>
          <p:cNvPr id="561273" name="Picture 121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62452" y="2820307"/>
            <a:ext cx="844550" cy="153988"/>
          </a:xfrm>
          <a:prstGeom prst="rect">
            <a:avLst/>
          </a:prstGeom>
          <a:noFill/>
        </p:spPr>
      </p:pic>
      <p:pic>
        <p:nvPicPr>
          <p:cNvPr id="561274" name="Picture 122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898677" y="3355295"/>
            <a:ext cx="844550" cy="153987"/>
          </a:xfrm>
          <a:prstGeom prst="rect">
            <a:avLst/>
          </a:prstGeom>
          <a:noFill/>
        </p:spPr>
      </p:pic>
      <p:pic>
        <p:nvPicPr>
          <p:cNvPr id="561275" name="Picture 123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48165" y="2326595"/>
            <a:ext cx="844550" cy="153987"/>
          </a:xfrm>
          <a:prstGeom prst="rect">
            <a:avLst/>
          </a:prstGeom>
          <a:noFill/>
        </p:spPr>
      </p:pic>
      <p:pic>
        <p:nvPicPr>
          <p:cNvPr id="561276" name="Picture 124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03715" y="3210832"/>
            <a:ext cx="844550" cy="153988"/>
          </a:xfrm>
          <a:prstGeom prst="rect">
            <a:avLst/>
          </a:prstGeom>
          <a:noFill/>
        </p:spPr>
      </p:pic>
      <p:pic>
        <p:nvPicPr>
          <p:cNvPr id="561277" name="Picture 125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76740" y="2834595"/>
            <a:ext cx="844550" cy="153987"/>
          </a:xfrm>
          <a:prstGeom prst="rect">
            <a:avLst/>
          </a:prstGeom>
          <a:noFill/>
        </p:spPr>
      </p:pic>
      <p:pic>
        <p:nvPicPr>
          <p:cNvPr id="561278" name="Picture 126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861077" y="3344182"/>
            <a:ext cx="844550" cy="153988"/>
          </a:xfrm>
          <a:prstGeom prst="rect">
            <a:avLst/>
          </a:prstGeom>
          <a:noFill/>
        </p:spPr>
      </p:pic>
      <p:pic>
        <p:nvPicPr>
          <p:cNvPr id="561279" name="Picture 127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03715" y="3196545"/>
            <a:ext cx="844550" cy="153987"/>
          </a:xfrm>
          <a:prstGeom prst="rect">
            <a:avLst/>
          </a:prstGeom>
          <a:noFill/>
        </p:spPr>
      </p:pic>
      <p:pic>
        <p:nvPicPr>
          <p:cNvPr id="561280" name="Picture 128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03715" y="3212420"/>
            <a:ext cx="844550" cy="153987"/>
          </a:xfrm>
          <a:prstGeom prst="rect">
            <a:avLst/>
          </a:prstGeom>
          <a:noFill/>
        </p:spPr>
      </p:pic>
      <p:pic>
        <p:nvPicPr>
          <p:cNvPr id="561281" name="Picture 129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868515" y="3582307"/>
            <a:ext cx="844550" cy="153988"/>
          </a:xfrm>
          <a:prstGeom prst="rect">
            <a:avLst/>
          </a:prstGeom>
          <a:noFill/>
        </p:spPr>
      </p:pic>
      <p:pic>
        <p:nvPicPr>
          <p:cNvPr id="561282" name="Picture 130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49752" y="2828245"/>
            <a:ext cx="844550" cy="153987"/>
          </a:xfrm>
          <a:prstGeom prst="rect">
            <a:avLst/>
          </a:prstGeom>
          <a:noFill/>
        </p:spPr>
      </p:pic>
      <p:pic>
        <p:nvPicPr>
          <p:cNvPr id="561283" name="Picture 131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19590" y="3212420"/>
            <a:ext cx="844550" cy="153987"/>
          </a:xfrm>
          <a:prstGeom prst="rect">
            <a:avLst/>
          </a:prstGeom>
          <a:noFill/>
        </p:spPr>
      </p:pic>
      <p:pic>
        <p:nvPicPr>
          <p:cNvPr id="561284" name="Picture 132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64040" y="2818720"/>
            <a:ext cx="844550" cy="153987"/>
          </a:xfrm>
          <a:prstGeom prst="rect">
            <a:avLst/>
          </a:prstGeom>
          <a:noFill/>
        </p:spPr>
      </p:pic>
      <p:pic>
        <p:nvPicPr>
          <p:cNvPr id="561285" name="Picture 133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35465" y="2298020"/>
            <a:ext cx="844550" cy="153987"/>
          </a:xfrm>
          <a:prstGeom prst="rect">
            <a:avLst/>
          </a:prstGeom>
          <a:noFill/>
        </p:spPr>
      </p:pic>
      <p:pic>
        <p:nvPicPr>
          <p:cNvPr id="561286" name="Picture 134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725765" y="1920195"/>
            <a:ext cx="844550" cy="153987"/>
          </a:xfrm>
          <a:prstGeom prst="rect">
            <a:avLst/>
          </a:prstGeom>
          <a:noFill/>
        </p:spPr>
      </p:pic>
      <p:pic>
        <p:nvPicPr>
          <p:cNvPr id="561287" name="Picture 135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33877" y="2291670"/>
            <a:ext cx="844550" cy="153987"/>
          </a:xfrm>
          <a:prstGeom prst="rect">
            <a:avLst/>
          </a:prstGeom>
          <a:noFill/>
        </p:spPr>
      </p:pic>
      <p:pic>
        <p:nvPicPr>
          <p:cNvPr id="561288" name="Picture 136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35465" y="2305957"/>
            <a:ext cx="844550" cy="153988"/>
          </a:xfrm>
          <a:prstGeom prst="rect">
            <a:avLst/>
          </a:prstGeom>
          <a:noFill/>
        </p:spPr>
      </p:pic>
      <p:pic>
        <p:nvPicPr>
          <p:cNvPr id="561289" name="Picture 137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69027" y="3568020"/>
            <a:ext cx="844550" cy="153987"/>
          </a:xfrm>
          <a:prstGeom prst="rect">
            <a:avLst/>
          </a:prstGeom>
          <a:noFill/>
        </p:spPr>
      </p:pic>
      <p:pic>
        <p:nvPicPr>
          <p:cNvPr id="561290" name="Picture 138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314852" y="2972707"/>
            <a:ext cx="844550" cy="153988"/>
          </a:xfrm>
          <a:prstGeom prst="rect">
            <a:avLst/>
          </a:prstGeom>
          <a:noFill/>
        </p:spPr>
      </p:pic>
      <p:pic>
        <p:nvPicPr>
          <p:cNvPr id="561291" name="Picture 139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329140" y="2986995"/>
            <a:ext cx="844550" cy="153987"/>
          </a:xfrm>
          <a:prstGeom prst="rect">
            <a:avLst/>
          </a:prstGeom>
          <a:noFill/>
        </p:spPr>
      </p:pic>
      <p:pic>
        <p:nvPicPr>
          <p:cNvPr id="561292" name="Picture 140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302152" y="2980645"/>
            <a:ext cx="844550" cy="153987"/>
          </a:xfrm>
          <a:prstGeom prst="rect">
            <a:avLst/>
          </a:prstGeom>
          <a:noFill/>
        </p:spPr>
      </p:pic>
      <p:pic>
        <p:nvPicPr>
          <p:cNvPr id="561293" name="Picture 141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316440" y="2971120"/>
            <a:ext cx="844550" cy="153987"/>
          </a:xfrm>
          <a:prstGeom prst="rect">
            <a:avLst/>
          </a:prstGeom>
          <a:noFill/>
        </p:spPr>
      </p:pic>
      <p:pic>
        <p:nvPicPr>
          <p:cNvPr id="561294" name="Picture 142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41815" y="2577420"/>
            <a:ext cx="844550" cy="153987"/>
          </a:xfrm>
          <a:prstGeom prst="rect">
            <a:avLst/>
          </a:prstGeom>
          <a:noFill/>
        </p:spPr>
      </p:pic>
      <p:pic>
        <p:nvPicPr>
          <p:cNvPr id="561295" name="Picture 143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41815" y="2563132"/>
            <a:ext cx="844550" cy="153988"/>
          </a:xfrm>
          <a:prstGeom prst="rect">
            <a:avLst/>
          </a:prstGeom>
          <a:noFill/>
        </p:spPr>
      </p:pic>
      <p:pic>
        <p:nvPicPr>
          <p:cNvPr id="561296" name="Picture 144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41815" y="2579007"/>
            <a:ext cx="844550" cy="153988"/>
          </a:xfrm>
          <a:prstGeom prst="rect">
            <a:avLst/>
          </a:prstGeom>
          <a:noFill/>
        </p:spPr>
      </p:pic>
      <p:pic>
        <p:nvPicPr>
          <p:cNvPr id="561297" name="Picture 145" descr="2Packet_Cut3Parts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57690" y="2579007"/>
            <a:ext cx="844550" cy="153988"/>
          </a:xfrm>
          <a:prstGeom prst="rect">
            <a:avLst/>
          </a:prstGeom>
          <a:noFill/>
        </p:spPr>
      </p:pic>
      <p:grpSp>
        <p:nvGrpSpPr>
          <p:cNvPr id="6" name="Group 146"/>
          <p:cNvGrpSpPr>
            <a:grpSpLocks/>
          </p:cNvGrpSpPr>
          <p:nvPr/>
        </p:nvGrpSpPr>
        <p:grpSpPr bwMode="auto">
          <a:xfrm>
            <a:off x="1346227" y="1315357"/>
            <a:ext cx="6073775" cy="3236913"/>
            <a:chOff x="960" y="864"/>
            <a:chExt cx="3826" cy="2039"/>
          </a:xfrm>
        </p:grpSpPr>
        <p:sp>
          <p:nvSpPr>
            <p:cNvPr id="561299" name="Oval 147"/>
            <p:cNvSpPr>
              <a:spLocks noChangeArrowheads="1"/>
            </p:cNvSpPr>
            <p:nvPr/>
          </p:nvSpPr>
          <p:spPr bwMode="auto">
            <a:xfrm>
              <a:off x="960" y="1031"/>
              <a:ext cx="3826" cy="176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FE1C2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marL="342900" indent="-342900"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r>
                <a:rPr lang="en-US" sz="2400"/>
                <a:t>                                                          </a:t>
              </a:r>
            </a:p>
          </p:txBody>
        </p:sp>
        <p:pic>
          <p:nvPicPr>
            <p:cNvPr id="561300" name="Picture 148" descr="Server01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1099" y="1902"/>
              <a:ext cx="628" cy="755"/>
            </a:xfrm>
            <a:prstGeom prst="rect">
              <a:avLst/>
            </a:prstGeom>
            <a:noFill/>
          </p:spPr>
        </p:pic>
        <p:pic>
          <p:nvPicPr>
            <p:cNvPr id="561301" name="Picture 149" descr="Computer_DesktopComputerSansKeyboard01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404" y="929"/>
              <a:ext cx="531" cy="663"/>
            </a:xfrm>
            <a:prstGeom prst="rect">
              <a:avLst/>
            </a:prstGeom>
            <a:noFill/>
          </p:spPr>
        </p:pic>
        <p:pic>
          <p:nvPicPr>
            <p:cNvPr id="561302" name="Picture 150" descr="Computer_DesktopComputerSansKeyboard01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2718" y="2240"/>
              <a:ext cx="532" cy="663"/>
            </a:xfrm>
            <a:prstGeom prst="rect">
              <a:avLst/>
            </a:prstGeom>
            <a:noFill/>
          </p:spPr>
        </p:pic>
        <p:pic>
          <p:nvPicPr>
            <p:cNvPr id="561303" name="Picture 151" descr="Computer_DesktopComputerSansKeyboard01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4085" y="1934"/>
              <a:ext cx="532" cy="663"/>
            </a:xfrm>
            <a:prstGeom prst="rect">
              <a:avLst/>
            </a:prstGeom>
            <a:noFill/>
          </p:spPr>
        </p:pic>
        <p:pic>
          <p:nvPicPr>
            <p:cNvPr id="561304" name="Picture 152" descr="Server01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1708" y="864"/>
              <a:ext cx="628" cy="755"/>
            </a:xfrm>
            <a:prstGeom prst="rect">
              <a:avLst/>
            </a:prstGeom>
            <a:noFill/>
          </p:spPr>
        </p:pic>
      </p:grpSp>
      <p:sp>
        <p:nvSpPr>
          <p:cNvPr id="561305" name="AutoShape 153"/>
          <p:cNvSpPr>
            <a:spLocks noChangeArrowheads="1"/>
          </p:cNvSpPr>
          <p:nvPr/>
        </p:nvSpPr>
        <p:spPr bwMode="auto">
          <a:xfrm>
            <a:off x="7199340" y="3269570"/>
            <a:ext cx="823912" cy="57626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Client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DHCP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61306" name="AutoShape 154"/>
          <p:cNvSpPr>
            <a:spLocks noChangeArrowheads="1"/>
          </p:cNvSpPr>
          <p:nvPr/>
        </p:nvSpPr>
        <p:spPr bwMode="auto">
          <a:xfrm>
            <a:off x="623915" y="3079070"/>
            <a:ext cx="882650" cy="8096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Serveur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DHCP 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Server1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61307" name="AutoShape 155"/>
          <p:cNvSpPr>
            <a:spLocks noChangeArrowheads="1"/>
          </p:cNvSpPr>
          <p:nvPr/>
        </p:nvSpPr>
        <p:spPr bwMode="auto">
          <a:xfrm>
            <a:off x="1524027" y="1531257"/>
            <a:ext cx="922338" cy="8223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Serveur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DHCP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Server2</a:t>
            </a: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7" name="Group 161"/>
          <p:cNvGrpSpPr>
            <a:grpSpLocks/>
          </p:cNvGrpSpPr>
          <p:nvPr/>
        </p:nvGrpSpPr>
        <p:grpSpPr bwMode="auto">
          <a:xfrm>
            <a:off x="508027" y="6109607"/>
            <a:ext cx="914400" cy="425450"/>
            <a:chOff x="384" y="3024"/>
            <a:chExt cx="720" cy="336"/>
          </a:xfrm>
        </p:grpSpPr>
        <p:sp>
          <p:nvSpPr>
            <p:cNvPr id="561314" name="Oval 162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8" name="Group 163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561316" name="Oval 164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561317" name="Freeform 165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9" name="Group 166"/>
          <p:cNvGrpSpPr>
            <a:grpSpLocks/>
          </p:cNvGrpSpPr>
          <p:nvPr/>
        </p:nvGrpSpPr>
        <p:grpSpPr bwMode="auto">
          <a:xfrm>
            <a:off x="995390" y="6200095"/>
            <a:ext cx="304800" cy="244475"/>
            <a:chOff x="768" y="3096"/>
            <a:chExt cx="240" cy="192"/>
          </a:xfrm>
        </p:grpSpPr>
        <p:sp>
          <p:nvSpPr>
            <p:cNvPr id="561319" name="Oval 167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561320" name="Rectangle 168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5E-6 -2.71676E-6 L -0.19513 -0.07815 " pathEditMode="relative" ptsTypes="AA">
                                      <p:cBhvr>
                                        <p:cTn id="10" dur="2000" fill="hold"/>
                                        <p:tgtEl>
                                          <p:spTgt spid="561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55 -0.00162 L 0.09202 -0.1389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612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11111E-6 -6.93642E-6 L -0.00781 0.14589 " pathEditMode="relative" ptsTypes="AA">
                                      <p:cBhvr>
                                        <p:cTn id="26" dur="2000" fill="hold"/>
                                        <p:tgtEl>
                                          <p:spTgt spid="561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E-6 -6.93642E-7 L -0.25556 0.1056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61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" y="5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93064E-6 L -0.16493 -0.12693 " pathEditMode="relative" ptsTypes="AA">
                                      <p:cBhvr>
                                        <p:cTn id="30" dur="2000" fill="hold"/>
                                        <p:tgtEl>
                                          <p:spTgt spid="561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561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561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561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61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561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38889E-6 -2.08092E-6 L 0.14601 0.09503 " pathEditMode="relative" ptsTypes="AA">
                                      <p:cBhvr>
                                        <p:cTn id="58" dur="2000" fill="hold"/>
                                        <p:tgtEl>
                                          <p:spTgt spid="561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56647E-6 L 0.24757 -0.05688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612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" y="-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1.04046E-6 L -0.16649 -0.1100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5612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" y="-55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22222E-6 5.14451E-6 L -0.16667 -0.15445 " pathEditMode="relative" ptsTypes="AA">
                                      <p:cBhvr>
                                        <p:cTn id="86" dur="2000" fill="hold"/>
                                        <p:tgtEl>
                                          <p:spTgt spid="561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98 0.04093 L 0.1 -0.0582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61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" y="-5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069 L 0.1 -0.22289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561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" y="-111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08092E-6 L 0.22222 0.10775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561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0.00301 L 0.22535 0.03075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561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17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83333E-6 3.93064E-6 L -0.03647 0.08878 " pathEditMode="relative" ptsTypes="AA">
                                      <p:cBhvr>
                                        <p:cTn id="96" dur="2000" fill="hold"/>
                                        <p:tgtEl>
                                          <p:spTgt spid="5612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E-6 5.14451E-6 L -0.00469 0.27284 " pathEditMode="relative" ptsTypes="AA">
                                      <p:cBhvr>
                                        <p:cTn id="98" dur="2000" fill="hold"/>
                                        <p:tgtEl>
                                          <p:spTgt spid="5612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5E-6 -2.71676E-6 L -0.19513 -0.07815 " pathEditMode="relative" ptsTypes="AA">
                                      <p:cBhvr>
                                        <p:cTn id="126" dur="2000" fill="hold"/>
                                        <p:tgtEl>
                                          <p:spTgt spid="5612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000"/>
                            </p:stCondLst>
                            <p:childTnLst>
                              <p:par>
                                <p:cTn id="1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561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500"/>
                            </p:stCondLst>
                            <p:childTnLst>
                              <p:par>
                                <p:cTn id="1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55 -0.00162 L 0.09202 -0.13896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561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11111E-6 -6.93642E-6 L -0.00781 0.14589 " pathEditMode="relative" ptsTypes="AA">
                                      <p:cBhvr>
                                        <p:cTn id="145" dur="2000" fill="hold"/>
                                        <p:tgtEl>
                                          <p:spTgt spid="5612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93 -0.00393 L -0.26649 0.10173 " pathEditMode="relative" ptsTypes="AA">
                                      <p:cBhvr>
                                        <p:cTn id="147" dur="2000" fill="hold"/>
                                        <p:tgtEl>
                                          <p:spTgt spid="5612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93064E-6 L -0.16493 -0.12693 " pathEditMode="relative" ptsTypes="AA">
                                      <p:cBhvr>
                                        <p:cTn id="149" dur="2000" fill="hold"/>
                                        <p:tgtEl>
                                          <p:spTgt spid="5612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561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561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9" dur="500"/>
                                        <p:tgtEl>
                                          <p:spTgt spid="561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2" dur="500"/>
                                        <p:tgtEl>
                                          <p:spTgt spid="561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50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00"/>
                            </p:stCondLst>
                            <p:childTnLst>
                              <p:par>
                                <p:cTn id="17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2948E-6 L 0.24132 -0.11422 " pathEditMode="relative" ptsTypes="AA">
                                      <p:cBhvr>
                                        <p:cTn id="173" dur="2000" fill="hold"/>
                                        <p:tgtEl>
                                          <p:spTgt spid="5612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3500"/>
                            </p:stCondLst>
                            <p:childTnLst>
                              <p:par>
                                <p:cTn id="17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500"/>
                            </p:stCondLst>
                            <p:childTnLst>
                              <p:par>
                                <p:cTn id="1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12 0.0333 L -0.17396 -0.07468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561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" y="-54"/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15607E-7 L 0.11111 -0.12277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5612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-62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85 0.0333 L 0.22466 0.13041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561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49"/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12 0.03352 L -0.0276 0.21526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561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40" name="Rectangle 4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1752" y="0"/>
            <a:ext cx="8534400" cy="1016580"/>
          </a:xfrm>
        </p:spPr>
        <p:txBody>
          <a:bodyPr vert="horz" anchor="b">
            <a:noAutofit/>
          </a:bodyPr>
          <a:lstStyle/>
          <a:p>
            <a:pPr marL="514350" indent="-514350" fontAlgn="base"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Comment fonctionne le processus de renouvellement d'un bail DHCP</a:t>
            </a:r>
            <a:endParaRPr lang="en-US" sz="2400" dirty="0">
              <a:solidFill>
                <a:srgbClr val="C00000"/>
              </a:solidFill>
            </a:endParaRPr>
          </a:p>
        </p:txBody>
      </p:sp>
      <p:grpSp>
        <p:nvGrpSpPr>
          <p:cNvPr id="2" name="Group 246"/>
          <p:cNvGrpSpPr>
            <a:grpSpLocks/>
          </p:cNvGrpSpPr>
          <p:nvPr/>
        </p:nvGrpSpPr>
        <p:grpSpPr bwMode="auto">
          <a:xfrm>
            <a:off x="1258888" y="5386388"/>
            <a:ext cx="5845175" cy="428625"/>
            <a:chOff x="1080" y="3134"/>
            <a:chExt cx="3388" cy="270"/>
          </a:xfrm>
        </p:grpSpPr>
        <p:sp>
          <p:nvSpPr>
            <p:cNvPr id="526583" name="AutoShape 247"/>
            <p:cNvSpPr>
              <a:spLocks noChangeArrowheads="1"/>
            </p:cNvSpPr>
            <p:nvPr/>
          </p:nvSpPr>
          <p:spPr bwMode="auto">
            <a:xfrm>
              <a:off x="1186" y="3134"/>
              <a:ext cx="3282" cy="27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fr-FR"/>
                <a:t>Le serveur DHCP Server1 envoie un paquet DHCPACK</a:t>
              </a:r>
            </a:p>
          </p:txBody>
        </p:sp>
        <p:sp>
          <p:nvSpPr>
            <p:cNvPr id="526584" name="AutoShape 248"/>
            <p:cNvSpPr>
              <a:spLocks noChangeArrowheads="1"/>
            </p:cNvSpPr>
            <p:nvPr/>
          </p:nvSpPr>
          <p:spPr bwMode="auto">
            <a:xfrm>
              <a:off x="1080" y="3165"/>
              <a:ext cx="179" cy="20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3" name="Group 249"/>
          <p:cNvGrpSpPr>
            <a:grpSpLocks/>
          </p:cNvGrpSpPr>
          <p:nvPr/>
        </p:nvGrpSpPr>
        <p:grpSpPr bwMode="auto">
          <a:xfrm>
            <a:off x="1258888" y="4810125"/>
            <a:ext cx="5845175" cy="428625"/>
            <a:chOff x="1080" y="2834"/>
            <a:chExt cx="3388" cy="270"/>
          </a:xfrm>
        </p:grpSpPr>
        <p:sp>
          <p:nvSpPr>
            <p:cNvPr id="526586" name="AutoShape 250"/>
            <p:cNvSpPr>
              <a:spLocks noChangeArrowheads="1"/>
            </p:cNvSpPr>
            <p:nvPr/>
          </p:nvSpPr>
          <p:spPr bwMode="auto">
            <a:xfrm>
              <a:off x="1186" y="2834"/>
              <a:ext cx="3282" cy="27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lIns="274320" anchor="ctr"/>
            <a:lstStyle/>
            <a:p>
              <a:pPr algn="l">
                <a:lnSpc>
                  <a:spcPct val="85000"/>
                </a:lnSpc>
              </a:pPr>
              <a:r>
                <a:rPr lang="fr-FR"/>
                <a:t>Le client DHCP envoie un paquet DHCPREQUEST</a:t>
              </a:r>
            </a:p>
          </p:txBody>
        </p:sp>
        <p:sp>
          <p:nvSpPr>
            <p:cNvPr id="526587" name="AutoShape 251"/>
            <p:cNvSpPr>
              <a:spLocks noChangeArrowheads="1"/>
            </p:cNvSpPr>
            <p:nvPr/>
          </p:nvSpPr>
          <p:spPr bwMode="auto">
            <a:xfrm>
              <a:off x="1080" y="2865"/>
              <a:ext cx="179" cy="20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4" name="Group 252"/>
          <p:cNvGrpSpPr>
            <a:grpSpLocks/>
          </p:cNvGrpSpPr>
          <p:nvPr/>
        </p:nvGrpSpPr>
        <p:grpSpPr bwMode="auto">
          <a:xfrm>
            <a:off x="1173163" y="993775"/>
            <a:ext cx="6770687" cy="2728913"/>
            <a:chOff x="747" y="845"/>
            <a:chExt cx="4265" cy="1719"/>
          </a:xfrm>
        </p:grpSpPr>
        <p:sp>
          <p:nvSpPr>
            <p:cNvPr id="526589" name="Oval 253"/>
            <p:cNvSpPr>
              <a:spLocks noChangeArrowheads="1"/>
            </p:cNvSpPr>
            <p:nvPr/>
          </p:nvSpPr>
          <p:spPr bwMode="auto">
            <a:xfrm>
              <a:off x="1094" y="963"/>
              <a:ext cx="3454" cy="16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FE1C2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>
              <a:outerShdw dist="53882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marL="342900" indent="-342900"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r>
                <a:rPr lang="en-US" sz="2400"/>
                <a:t>                                                          </a:t>
              </a:r>
            </a:p>
          </p:txBody>
        </p:sp>
        <p:pic>
          <p:nvPicPr>
            <p:cNvPr id="526590" name="Picture 254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39" y="1761"/>
              <a:ext cx="628" cy="755"/>
            </a:xfrm>
            <a:prstGeom prst="rect">
              <a:avLst/>
            </a:prstGeom>
            <a:noFill/>
          </p:spPr>
        </p:pic>
        <p:pic>
          <p:nvPicPr>
            <p:cNvPr id="526591" name="Picture 255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69" y="910"/>
              <a:ext cx="531" cy="663"/>
            </a:xfrm>
            <a:prstGeom prst="rect">
              <a:avLst/>
            </a:prstGeom>
            <a:noFill/>
          </p:spPr>
        </p:pic>
        <p:pic>
          <p:nvPicPr>
            <p:cNvPr id="526592" name="Picture 256" descr="Computer_DesktopComputerSansKeyboard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78" y="1793"/>
              <a:ext cx="558" cy="696"/>
            </a:xfrm>
            <a:prstGeom prst="rect">
              <a:avLst/>
            </a:prstGeom>
            <a:noFill/>
          </p:spPr>
        </p:pic>
        <p:pic>
          <p:nvPicPr>
            <p:cNvPr id="526593" name="Picture 257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818" y="845"/>
              <a:ext cx="628" cy="755"/>
            </a:xfrm>
            <a:prstGeom prst="rect">
              <a:avLst/>
            </a:prstGeom>
            <a:noFill/>
          </p:spPr>
        </p:pic>
        <p:sp>
          <p:nvSpPr>
            <p:cNvPr id="526594" name="AutoShape 258"/>
            <p:cNvSpPr>
              <a:spLocks noChangeArrowheads="1"/>
            </p:cNvSpPr>
            <p:nvPr/>
          </p:nvSpPr>
          <p:spPr bwMode="auto">
            <a:xfrm>
              <a:off x="4224" y="1804"/>
              <a:ext cx="788" cy="24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US"/>
                <a:t>Client DHCP </a:t>
              </a:r>
            </a:p>
          </p:txBody>
        </p:sp>
        <p:sp>
          <p:nvSpPr>
            <p:cNvPr id="526595" name="AutoShape 259"/>
            <p:cNvSpPr>
              <a:spLocks noChangeArrowheads="1"/>
            </p:cNvSpPr>
            <p:nvPr/>
          </p:nvSpPr>
          <p:spPr bwMode="auto">
            <a:xfrm>
              <a:off x="747" y="1911"/>
              <a:ext cx="556" cy="56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US"/>
                <a:t>Serveur</a:t>
              </a:r>
              <a:br>
                <a:rPr lang="en-US"/>
              </a:br>
              <a:r>
                <a:rPr lang="en-US"/>
                <a:t>DHCP </a:t>
              </a:r>
              <a:br>
                <a:rPr lang="en-US"/>
              </a:br>
              <a:r>
                <a:rPr lang="en-US"/>
                <a:t>Server1</a:t>
              </a:r>
            </a:p>
          </p:txBody>
        </p:sp>
        <p:sp>
          <p:nvSpPr>
            <p:cNvPr id="526596" name="AutoShape 260"/>
            <p:cNvSpPr>
              <a:spLocks noChangeArrowheads="1"/>
            </p:cNvSpPr>
            <p:nvPr/>
          </p:nvSpPr>
          <p:spPr bwMode="auto">
            <a:xfrm>
              <a:off x="1209" y="977"/>
              <a:ext cx="556" cy="56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US"/>
                <a:t>Serveur</a:t>
              </a:r>
              <a:br>
                <a:rPr lang="en-US"/>
              </a:br>
              <a:r>
                <a:rPr lang="en-US"/>
                <a:t>DHCP </a:t>
              </a:r>
              <a:br>
                <a:rPr lang="en-US"/>
              </a:br>
              <a:r>
                <a:rPr lang="en-US"/>
                <a:t>Server2</a:t>
              </a:r>
            </a:p>
          </p:txBody>
        </p:sp>
      </p:grpSp>
      <p:sp>
        <p:nvSpPr>
          <p:cNvPr id="526597" name="AutoShape 261"/>
          <p:cNvSpPr>
            <a:spLocks noChangeArrowheads="1"/>
          </p:cNvSpPr>
          <p:nvPr/>
        </p:nvSpPr>
        <p:spPr bwMode="auto">
          <a:xfrm>
            <a:off x="6467475" y="3538538"/>
            <a:ext cx="1550988" cy="9366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D5D69C"/>
              </a:gs>
              <a:gs pos="100000">
                <a:srgbClr val="EEEFD7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fr-FR"/>
              <a:t>50% de la durée du bail s'est écoulée</a:t>
            </a:r>
            <a:endParaRPr lang="en-US"/>
          </a:p>
        </p:txBody>
      </p:sp>
      <p:pic>
        <p:nvPicPr>
          <p:cNvPr id="526598" name="Picture 262" descr="2Packet_Cut3Parts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07000" y="2941638"/>
            <a:ext cx="1141413" cy="207962"/>
          </a:xfrm>
          <a:prstGeom prst="rect">
            <a:avLst/>
          </a:prstGeom>
          <a:noFill/>
        </p:spPr>
      </p:pic>
      <p:pic>
        <p:nvPicPr>
          <p:cNvPr id="526599" name="Picture 263" descr="2Packet_Cut3Parts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97113" y="2941638"/>
            <a:ext cx="1141412" cy="207962"/>
          </a:xfrm>
          <a:prstGeom prst="rect">
            <a:avLst/>
          </a:prstGeom>
          <a:noFill/>
        </p:spPr>
      </p:pic>
      <p:sp>
        <p:nvSpPr>
          <p:cNvPr id="526600" name="AutoShape 264"/>
          <p:cNvSpPr>
            <a:spLocks noChangeArrowheads="1"/>
          </p:cNvSpPr>
          <p:nvPr/>
        </p:nvSpPr>
        <p:spPr bwMode="auto">
          <a:xfrm>
            <a:off x="6465888" y="3536950"/>
            <a:ext cx="1550987" cy="9366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fr-FR"/>
              <a:t>87.5% de la durée du bail s'est écoulée</a:t>
            </a:r>
          </a:p>
        </p:txBody>
      </p:sp>
      <p:sp>
        <p:nvSpPr>
          <p:cNvPr id="526601" name="AutoShape 265"/>
          <p:cNvSpPr>
            <a:spLocks noChangeArrowheads="1"/>
          </p:cNvSpPr>
          <p:nvPr/>
        </p:nvSpPr>
        <p:spPr bwMode="auto">
          <a:xfrm>
            <a:off x="6465888" y="3536950"/>
            <a:ext cx="1550987" cy="9366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>
              <a:lnSpc>
                <a:spcPct val="85000"/>
              </a:lnSpc>
            </a:pPr>
            <a:r>
              <a:rPr lang="fr-FR"/>
              <a:t>100% de la durée du bail s'est écoulée</a:t>
            </a:r>
          </a:p>
        </p:txBody>
      </p:sp>
      <p:sp>
        <p:nvSpPr>
          <p:cNvPr id="526602" name="AutoShape 266"/>
          <p:cNvSpPr>
            <a:spLocks noChangeArrowheads="1"/>
          </p:cNvSpPr>
          <p:nvPr/>
        </p:nvSpPr>
        <p:spPr bwMode="auto">
          <a:xfrm>
            <a:off x="1258888" y="4745038"/>
            <a:ext cx="5903912" cy="114458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/>
            <a:r>
              <a:rPr lang="fr-FR"/>
              <a:t>Si le client n'est pas parvenu à renouveler son bail lorsque </a:t>
            </a:r>
            <a:br>
              <a:rPr lang="fr-FR"/>
            </a:br>
            <a:r>
              <a:rPr lang="fr-FR"/>
              <a:t>50% de la durée du bail s'est écoulée, la procédure de renouvellement du bail DHCP commence lorsque 87,5% </a:t>
            </a:r>
            <a:br>
              <a:rPr lang="fr-FR"/>
            </a:br>
            <a:r>
              <a:rPr lang="fr-FR"/>
              <a:t>de la durée du bail s'est écoulée</a:t>
            </a:r>
          </a:p>
        </p:txBody>
      </p:sp>
      <p:sp>
        <p:nvSpPr>
          <p:cNvPr id="526603" name="AutoShape 267"/>
          <p:cNvSpPr>
            <a:spLocks noChangeArrowheads="1"/>
          </p:cNvSpPr>
          <p:nvPr/>
        </p:nvSpPr>
        <p:spPr bwMode="auto">
          <a:xfrm>
            <a:off x="1258888" y="4737100"/>
            <a:ext cx="5903912" cy="11525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fr-FR"/>
              <a:t>Si le client n'est pas parvenu à renouveler son bail lorsque 87,5% de la durée du bail s'est écoulée, la procédure de création de bail DHCP recommence avec un client DHCP diffusant un DHCPDISCOVER</a:t>
            </a:r>
          </a:p>
        </p:txBody>
      </p:sp>
      <p:pic>
        <p:nvPicPr>
          <p:cNvPr id="526604" name="Picture 268" descr="2Packet_Cut3Parts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07000" y="2941638"/>
            <a:ext cx="1141413" cy="207962"/>
          </a:xfrm>
          <a:prstGeom prst="rect">
            <a:avLst/>
          </a:prstGeom>
          <a:noFill/>
        </p:spPr>
      </p:pic>
      <p:pic>
        <p:nvPicPr>
          <p:cNvPr id="526605" name="Picture 269" descr="2Packet_Cut3Parts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97113" y="2941638"/>
            <a:ext cx="1141412" cy="207962"/>
          </a:xfrm>
          <a:prstGeom prst="rect">
            <a:avLst/>
          </a:prstGeom>
          <a:noFill/>
        </p:spPr>
      </p:pic>
      <p:pic>
        <p:nvPicPr>
          <p:cNvPr id="526606" name="Picture 270" descr="Clock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56413" y="2989263"/>
            <a:ext cx="657225" cy="706437"/>
          </a:xfrm>
          <a:prstGeom prst="rect">
            <a:avLst/>
          </a:prstGeom>
          <a:noFill/>
        </p:spPr>
      </p:pic>
      <p:grpSp>
        <p:nvGrpSpPr>
          <p:cNvPr id="5" name="Group 271"/>
          <p:cNvGrpSpPr>
            <a:grpSpLocks/>
          </p:cNvGrpSpPr>
          <p:nvPr/>
        </p:nvGrpSpPr>
        <p:grpSpPr bwMode="auto">
          <a:xfrm>
            <a:off x="960438" y="993775"/>
            <a:ext cx="7223125" cy="5156200"/>
            <a:chOff x="605" y="572"/>
            <a:chExt cx="4550" cy="3248"/>
          </a:xfrm>
        </p:grpSpPr>
        <p:sp>
          <p:nvSpPr>
            <p:cNvPr id="526608" name="AutoShape 272"/>
            <p:cNvSpPr>
              <a:spLocks noChangeArrowheads="1"/>
            </p:cNvSpPr>
            <p:nvPr/>
          </p:nvSpPr>
          <p:spPr bwMode="auto">
            <a:xfrm>
              <a:off x="605" y="701"/>
              <a:ext cx="4550" cy="311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grpSp>
          <p:nvGrpSpPr>
            <p:cNvPr id="6" name="Group 273"/>
            <p:cNvGrpSpPr>
              <a:grpSpLocks/>
            </p:cNvGrpSpPr>
            <p:nvPr/>
          </p:nvGrpSpPr>
          <p:grpSpPr bwMode="auto">
            <a:xfrm>
              <a:off x="738" y="572"/>
              <a:ext cx="4266" cy="1719"/>
              <a:chOff x="738" y="572"/>
              <a:chExt cx="4266" cy="1719"/>
            </a:xfrm>
          </p:grpSpPr>
          <p:sp>
            <p:nvSpPr>
              <p:cNvPr id="526610" name="Oval 274"/>
              <p:cNvSpPr>
                <a:spLocks noChangeArrowheads="1"/>
              </p:cNvSpPr>
              <p:nvPr/>
            </p:nvSpPr>
            <p:spPr bwMode="auto">
              <a:xfrm>
                <a:off x="1085" y="690"/>
                <a:ext cx="3454" cy="16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FE1C2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 lIns="0" tIns="0" rIns="0" bIns="0"/>
              <a:lstStyle/>
              <a:p>
                <a:pPr marL="342900" indent="-342900"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r>
                  <a:rPr lang="en-US" sz="2400"/>
                  <a:t>                                                          </a:t>
                </a:r>
              </a:p>
            </p:txBody>
          </p:sp>
          <p:pic>
            <p:nvPicPr>
              <p:cNvPr id="526611" name="Picture 275" descr="Serv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330" y="1488"/>
                <a:ext cx="628" cy="755"/>
              </a:xfrm>
              <a:prstGeom prst="rect">
                <a:avLst/>
              </a:prstGeom>
              <a:noFill/>
            </p:spPr>
          </p:pic>
          <p:pic>
            <p:nvPicPr>
              <p:cNvPr id="526612" name="Picture 276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361" y="637"/>
                <a:ext cx="531" cy="663"/>
              </a:xfrm>
              <a:prstGeom prst="rect">
                <a:avLst/>
              </a:prstGeom>
              <a:noFill/>
            </p:spPr>
          </p:pic>
          <p:pic>
            <p:nvPicPr>
              <p:cNvPr id="526613" name="Picture 277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670" y="1520"/>
                <a:ext cx="558" cy="696"/>
              </a:xfrm>
              <a:prstGeom prst="rect">
                <a:avLst/>
              </a:prstGeom>
              <a:noFill/>
            </p:spPr>
          </p:pic>
          <p:pic>
            <p:nvPicPr>
              <p:cNvPr id="526614" name="Picture 278" descr="Serv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809" y="572"/>
                <a:ext cx="628" cy="755"/>
              </a:xfrm>
              <a:prstGeom prst="rect">
                <a:avLst/>
              </a:prstGeom>
              <a:noFill/>
            </p:spPr>
          </p:pic>
          <p:sp>
            <p:nvSpPr>
              <p:cNvPr id="526615" name="AutoShape 279"/>
              <p:cNvSpPr>
                <a:spLocks noChangeArrowheads="1"/>
              </p:cNvSpPr>
              <p:nvPr/>
            </p:nvSpPr>
            <p:spPr bwMode="auto">
              <a:xfrm>
                <a:off x="4216" y="1531"/>
                <a:ext cx="788" cy="24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 algn="ctr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r>
                  <a:rPr lang="en-US"/>
                  <a:t>Client DHCP </a:t>
                </a:r>
              </a:p>
            </p:txBody>
          </p:sp>
          <p:sp>
            <p:nvSpPr>
              <p:cNvPr id="526616" name="AutoShape 280"/>
              <p:cNvSpPr>
                <a:spLocks noChangeArrowheads="1"/>
              </p:cNvSpPr>
              <p:nvPr/>
            </p:nvSpPr>
            <p:spPr bwMode="auto">
              <a:xfrm>
                <a:off x="738" y="1638"/>
                <a:ext cx="556" cy="567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r>
                  <a:rPr lang="en-US"/>
                  <a:t>Serveur</a:t>
                </a:r>
                <a:br>
                  <a:rPr lang="en-US"/>
                </a:br>
                <a:r>
                  <a:rPr lang="en-US"/>
                  <a:t>DHCP </a:t>
                </a:r>
                <a:br>
                  <a:rPr lang="en-US"/>
                </a:br>
                <a:r>
                  <a:rPr lang="en-US"/>
                  <a:t>Server1</a:t>
                </a:r>
              </a:p>
            </p:txBody>
          </p:sp>
          <p:sp>
            <p:nvSpPr>
              <p:cNvPr id="526617" name="AutoShape 281"/>
              <p:cNvSpPr>
                <a:spLocks noChangeArrowheads="1"/>
              </p:cNvSpPr>
              <p:nvPr/>
            </p:nvSpPr>
            <p:spPr bwMode="auto">
              <a:xfrm>
                <a:off x="1201" y="704"/>
                <a:ext cx="556" cy="567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r>
                  <a:rPr lang="en-US"/>
                  <a:t>Serveur</a:t>
                </a:r>
                <a:br>
                  <a:rPr lang="en-US"/>
                </a:br>
                <a:r>
                  <a:rPr lang="en-US"/>
                  <a:t>DHCP </a:t>
                </a:r>
                <a:br>
                  <a:rPr lang="en-US"/>
                </a:br>
                <a:r>
                  <a:rPr lang="en-US"/>
                  <a:t>Server2</a:t>
                </a:r>
              </a:p>
            </p:txBody>
          </p:sp>
        </p:grpSp>
        <p:sp>
          <p:nvSpPr>
            <p:cNvPr id="526618" name="AutoShape 282"/>
            <p:cNvSpPr>
              <a:spLocks noChangeArrowheads="1"/>
            </p:cNvSpPr>
            <p:nvPr/>
          </p:nvSpPr>
          <p:spPr bwMode="auto">
            <a:xfrm>
              <a:off x="4073" y="2174"/>
              <a:ext cx="977" cy="59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D5D69C"/>
                </a:gs>
                <a:gs pos="100000">
                  <a:srgbClr val="EEEFD7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b"/>
            <a:lstStyle/>
            <a:p>
              <a:pPr>
                <a:lnSpc>
                  <a:spcPct val="85000"/>
                </a:lnSpc>
              </a:pPr>
              <a:r>
                <a:rPr lang="fr-FR"/>
                <a:t>50% de la durée du bail s'est écoulée</a:t>
              </a:r>
            </a:p>
          </p:txBody>
        </p:sp>
        <p:pic>
          <p:nvPicPr>
            <p:cNvPr id="526619" name="Picture 283" descr="Clock0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318" y="1829"/>
              <a:ext cx="414" cy="445"/>
            </a:xfrm>
            <a:prstGeom prst="rect">
              <a:avLst/>
            </a:prstGeom>
            <a:noFill/>
          </p:spPr>
        </p:pic>
        <p:grpSp>
          <p:nvGrpSpPr>
            <p:cNvPr id="7" name="Group 284"/>
            <p:cNvGrpSpPr>
              <a:grpSpLocks/>
            </p:cNvGrpSpPr>
            <p:nvPr/>
          </p:nvGrpSpPr>
          <p:grpSpPr bwMode="auto">
            <a:xfrm>
              <a:off x="798" y="2976"/>
              <a:ext cx="3682" cy="270"/>
              <a:chOff x="1080" y="2834"/>
              <a:chExt cx="3388" cy="270"/>
            </a:xfrm>
          </p:grpSpPr>
          <p:sp>
            <p:nvSpPr>
              <p:cNvPr id="526621" name="AutoShape 285"/>
              <p:cNvSpPr>
                <a:spLocks noChangeArrowheads="1"/>
              </p:cNvSpPr>
              <p:nvPr/>
            </p:nvSpPr>
            <p:spPr bwMode="auto">
              <a:xfrm>
                <a:off x="1186" y="2834"/>
                <a:ext cx="3282" cy="270"/>
              </a:xfrm>
              <a:prstGeom prst="roundRect">
                <a:avLst>
                  <a:gd name="adj" fmla="val 4167"/>
                </a:avLst>
              </a:prstGeom>
              <a:gradFill rotWithShape="1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2700000" scaled="1"/>
              </a:gradFill>
              <a:ln w="9525" algn="ctr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lIns="274320" anchor="ctr"/>
              <a:lstStyle/>
              <a:p>
                <a:pPr algn="l">
                  <a:lnSpc>
                    <a:spcPct val="85000"/>
                  </a:lnSpc>
                </a:pPr>
                <a:r>
                  <a:rPr lang="fr-FR"/>
                  <a:t>Le client DHCP envoie un paquet DHCPREQUEST</a:t>
                </a:r>
              </a:p>
            </p:txBody>
          </p:sp>
          <p:sp>
            <p:nvSpPr>
              <p:cNvPr id="526622" name="AutoShape 286"/>
              <p:cNvSpPr>
                <a:spLocks noChangeArrowheads="1"/>
              </p:cNvSpPr>
              <p:nvPr/>
            </p:nvSpPr>
            <p:spPr bwMode="auto">
              <a:xfrm>
                <a:off x="1080" y="2865"/>
                <a:ext cx="179" cy="208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chemeClr val="folHlink"/>
                  </a:gs>
                  <a:gs pos="50000">
                    <a:srgbClr val="F0F0F0"/>
                  </a:gs>
                  <a:gs pos="100000">
                    <a:schemeClr val="folHlink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tx1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r>
                  <a:rPr lang="en-US" sz="2400">
                    <a:solidFill>
                      <a:srgbClr val="990033"/>
                    </a:solidFill>
                  </a:rPr>
                  <a:t>1</a:t>
                </a:r>
              </a:p>
            </p:txBody>
          </p:sp>
        </p:grpSp>
        <p:grpSp>
          <p:nvGrpSpPr>
            <p:cNvPr id="8" name="Group 287"/>
            <p:cNvGrpSpPr>
              <a:grpSpLocks/>
            </p:cNvGrpSpPr>
            <p:nvPr/>
          </p:nvGrpSpPr>
          <p:grpSpPr bwMode="auto">
            <a:xfrm>
              <a:off x="798" y="3339"/>
              <a:ext cx="3682" cy="270"/>
              <a:chOff x="1080" y="3134"/>
              <a:chExt cx="3388" cy="270"/>
            </a:xfrm>
          </p:grpSpPr>
          <p:sp>
            <p:nvSpPr>
              <p:cNvPr id="526624" name="AutoShape 288"/>
              <p:cNvSpPr>
                <a:spLocks noChangeArrowheads="1"/>
              </p:cNvSpPr>
              <p:nvPr/>
            </p:nvSpPr>
            <p:spPr bwMode="auto">
              <a:xfrm>
                <a:off x="1186" y="3134"/>
                <a:ext cx="3282" cy="270"/>
              </a:xfrm>
              <a:prstGeom prst="roundRect">
                <a:avLst>
                  <a:gd name="adj" fmla="val 4167"/>
                </a:avLst>
              </a:prstGeom>
              <a:gradFill rotWithShape="1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2700000" scaled="1"/>
              </a:gradFill>
              <a:ln w="9525" algn="ctr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lIns="274320" anchor="ctr"/>
              <a:lstStyle/>
              <a:p>
                <a:pPr algn="l">
                  <a:lnSpc>
                    <a:spcPct val="85000"/>
                  </a:lnSpc>
                </a:pPr>
                <a:r>
                  <a:rPr lang="fr-FR"/>
                  <a:t>Le serveur DHCP Server1 envoie un paquet DHCPACK</a:t>
                </a:r>
              </a:p>
            </p:txBody>
          </p:sp>
          <p:sp>
            <p:nvSpPr>
              <p:cNvPr id="526625" name="AutoShape 289"/>
              <p:cNvSpPr>
                <a:spLocks noChangeArrowheads="1"/>
              </p:cNvSpPr>
              <p:nvPr/>
            </p:nvSpPr>
            <p:spPr bwMode="auto">
              <a:xfrm>
                <a:off x="1080" y="3165"/>
                <a:ext cx="179" cy="208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chemeClr val="folHlink"/>
                  </a:gs>
                  <a:gs pos="50000">
                    <a:srgbClr val="F0F0F0"/>
                  </a:gs>
                  <a:gs pos="100000">
                    <a:schemeClr val="folHlink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tx1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r>
                  <a:rPr lang="en-US" sz="2400">
                    <a:solidFill>
                      <a:srgbClr val="990033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9" name="Group 290"/>
          <p:cNvGrpSpPr>
            <a:grpSpLocks/>
          </p:cNvGrpSpPr>
          <p:nvPr/>
        </p:nvGrpSpPr>
        <p:grpSpPr bwMode="auto">
          <a:xfrm>
            <a:off x="609600" y="6021388"/>
            <a:ext cx="914400" cy="425450"/>
            <a:chOff x="384" y="3024"/>
            <a:chExt cx="720" cy="336"/>
          </a:xfrm>
        </p:grpSpPr>
        <p:sp>
          <p:nvSpPr>
            <p:cNvPr id="526627" name="Oval 291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10" name="Group 292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526629" name="Oval 293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526630" name="Freeform 294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11" name="Group 295"/>
          <p:cNvGrpSpPr>
            <a:grpSpLocks/>
          </p:cNvGrpSpPr>
          <p:nvPr/>
        </p:nvGrpSpPr>
        <p:grpSpPr bwMode="auto">
          <a:xfrm>
            <a:off x="1096963" y="6111875"/>
            <a:ext cx="304800" cy="244475"/>
            <a:chOff x="768" y="3096"/>
            <a:chExt cx="240" cy="192"/>
          </a:xfrm>
        </p:grpSpPr>
        <p:sp>
          <p:nvSpPr>
            <p:cNvPr id="526632" name="Oval 296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526633" name="Rectangle 297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52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6.39481E-7 L -0.31892 -6.39481E-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5265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26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52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-6.39481E-7 L 0.30851 -6.39481E-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265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6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52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6.39481E-7 L -0.31892 -6.39481E-7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526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526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1000"/>
                                        <p:tgtEl>
                                          <p:spTgt spid="52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-6.39481E-7 L 0.30851 -6.39481E-7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266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526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2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2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600" grpId="0" animBg="1"/>
      <p:bldP spid="526601" grpId="0" animBg="1"/>
      <p:bldP spid="526602" grpId="0" animBg="1"/>
      <p:bldP spid="52660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5640" y="145140"/>
            <a:ext cx="8842248" cy="638631"/>
          </a:xfrm>
        </p:spPr>
        <p:txBody>
          <a:bodyPr vert="horz" anchor="b">
            <a:noAutofit/>
          </a:bodyPr>
          <a:lstStyle/>
          <a:p>
            <a:pPr marL="514350" indent="-514350" fontAlgn="base">
              <a:lnSpc>
                <a:spcPct val="150000"/>
              </a:lnSpc>
              <a:spcAft>
                <a:spcPct val="0"/>
              </a:spcAft>
            </a:pPr>
            <a:r>
              <a:rPr lang="en-GB" sz="2400" dirty="0">
                <a:solidFill>
                  <a:srgbClr val="C00000"/>
                </a:solidFill>
              </a:rPr>
              <a:t>Comment un service </a:t>
            </a:r>
            <a:r>
              <a:rPr lang="en-GB" sz="2400" dirty="0" err="1">
                <a:solidFill>
                  <a:srgbClr val="C00000"/>
                </a:solidFill>
              </a:rPr>
              <a:t>Serveur</a:t>
            </a:r>
            <a:r>
              <a:rPr lang="en-GB" sz="2400" dirty="0">
                <a:solidFill>
                  <a:srgbClr val="C00000"/>
                </a:solidFill>
              </a:rPr>
              <a:t> DHCP </a:t>
            </a:r>
            <a:r>
              <a:rPr lang="en-GB" sz="2400" dirty="0" err="1">
                <a:solidFill>
                  <a:srgbClr val="C00000"/>
                </a:solidFill>
              </a:rPr>
              <a:t>est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  <a:r>
              <a:rPr lang="en-GB" sz="2400" dirty="0" err="1">
                <a:solidFill>
                  <a:srgbClr val="C00000"/>
                </a:solidFill>
              </a:rPr>
              <a:t>autorisé</a:t>
            </a:r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43579" name="Oval 187"/>
          <p:cNvSpPr>
            <a:spLocks noChangeArrowheads="1"/>
          </p:cNvSpPr>
          <p:nvPr/>
        </p:nvSpPr>
        <p:spPr bwMode="auto">
          <a:xfrm>
            <a:off x="1692275" y="2262188"/>
            <a:ext cx="4448175" cy="213201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FE1C2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lIns="0" tIns="0" rIns="0" bIns="0"/>
          <a:lstStyle/>
          <a:p>
            <a:pPr marL="342900" indent="-342900"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US" sz="2400"/>
              <a:t>                                                          </a:t>
            </a:r>
          </a:p>
        </p:txBody>
      </p:sp>
      <p:pic>
        <p:nvPicPr>
          <p:cNvPr id="443580" name="Picture 188" descr="Serv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9975" y="1924050"/>
            <a:ext cx="1035050" cy="1246188"/>
          </a:xfrm>
          <a:prstGeom prst="rect">
            <a:avLst/>
          </a:prstGeom>
          <a:noFill/>
        </p:spPr>
      </p:pic>
      <p:pic>
        <p:nvPicPr>
          <p:cNvPr id="443581" name="Picture 189" descr="Computer_DesktopComputerSansKeyboard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66925" y="3335338"/>
            <a:ext cx="892175" cy="1114425"/>
          </a:xfrm>
          <a:prstGeom prst="rect">
            <a:avLst/>
          </a:prstGeom>
          <a:noFill/>
        </p:spPr>
      </p:pic>
      <p:pic>
        <p:nvPicPr>
          <p:cNvPr id="443582" name="Picture 190" descr="Serv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00263" y="1820863"/>
            <a:ext cx="1036637" cy="1246187"/>
          </a:xfrm>
          <a:prstGeom prst="rect">
            <a:avLst/>
          </a:prstGeom>
          <a:noFill/>
        </p:spPr>
      </p:pic>
      <p:pic>
        <p:nvPicPr>
          <p:cNvPr id="443583" name="Picture 191" descr="Serv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9975" y="3357563"/>
            <a:ext cx="1036638" cy="1246187"/>
          </a:xfrm>
          <a:prstGeom prst="rect">
            <a:avLst/>
          </a:prstGeom>
          <a:noFill/>
        </p:spPr>
      </p:pic>
      <p:sp>
        <p:nvSpPr>
          <p:cNvPr id="443584" name="AutoShape 192"/>
          <p:cNvSpPr>
            <a:spLocks noChangeArrowheads="1"/>
          </p:cNvSpPr>
          <p:nvPr/>
        </p:nvSpPr>
        <p:spPr bwMode="auto">
          <a:xfrm>
            <a:off x="855663" y="1824038"/>
            <a:ext cx="1335087" cy="50006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sz="1600"/>
              <a:t>Contrôleur de</a:t>
            </a:r>
          </a:p>
          <a:p>
            <a:pPr>
              <a:lnSpc>
                <a:spcPct val="85000"/>
              </a:lnSpc>
            </a:pPr>
            <a:r>
              <a:rPr lang="en-US" sz="1600"/>
              <a:t>domaine</a:t>
            </a:r>
          </a:p>
        </p:txBody>
      </p:sp>
      <p:sp>
        <p:nvSpPr>
          <p:cNvPr id="443585" name="AutoShape 193"/>
          <p:cNvSpPr>
            <a:spLocks noChangeArrowheads="1"/>
          </p:cNvSpPr>
          <p:nvPr/>
        </p:nvSpPr>
        <p:spPr bwMode="auto">
          <a:xfrm>
            <a:off x="679450" y="2687638"/>
            <a:ext cx="993775" cy="52387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en-US" sz="1600"/>
              <a:t>Active </a:t>
            </a:r>
          </a:p>
          <a:p>
            <a:pPr algn="l">
              <a:lnSpc>
                <a:spcPct val="85000"/>
              </a:lnSpc>
            </a:pPr>
            <a:r>
              <a:rPr lang="en-US" sz="1600"/>
              <a:t>Directory</a:t>
            </a:r>
          </a:p>
        </p:txBody>
      </p:sp>
      <p:pic>
        <p:nvPicPr>
          <p:cNvPr id="443586" name="Picture 194" descr="ActiveDirectory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98588" y="2524125"/>
            <a:ext cx="947737" cy="620713"/>
          </a:xfrm>
          <a:prstGeom prst="rect">
            <a:avLst/>
          </a:prstGeom>
          <a:noFill/>
        </p:spPr>
      </p:pic>
      <p:sp>
        <p:nvSpPr>
          <p:cNvPr id="443587" name="AutoShape 195"/>
          <p:cNvSpPr>
            <a:spLocks noChangeArrowheads="1"/>
          </p:cNvSpPr>
          <p:nvPr/>
        </p:nvSpPr>
        <p:spPr bwMode="auto">
          <a:xfrm>
            <a:off x="884238" y="3843338"/>
            <a:ext cx="1120775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US" sz="1600"/>
              <a:t>Client DHCP </a:t>
            </a:r>
          </a:p>
        </p:txBody>
      </p:sp>
      <p:sp>
        <p:nvSpPr>
          <p:cNvPr id="443588" name="AutoShape 196"/>
          <p:cNvSpPr>
            <a:spLocks noChangeArrowheads="1"/>
          </p:cNvSpPr>
          <p:nvPr/>
        </p:nvSpPr>
        <p:spPr bwMode="auto">
          <a:xfrm>
            <a:off x="2374900" y="1284288"/>
            <a:ext cx="3436938" cy="7651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700"/>
              <a:t>Le serveur DHCP Server1 utilise le contrôleur de domaine pour obtenir la liste des serveurs DHCP autorisés</a:t>
            </a:r>
          </a:p>
        </p:txBody>
      </p:sp>
      <p:sp>
        <p:nvSpPr>
          <p:cNvPr id="443589" name="Line 197"/>
          <p:cNvSpPr>
            <a:spLocks noChangeShapeType="1"/>
          </p:cNvSpPr>
          <p:nvPr/>
        </p:nvSpPr>
        <p:spPr bwMode="auto">
          <a:xfrm flipH="1">
            <a:off x="3194050" y="2446338"/>
            <a:ext cx="15208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sp>
        <p:nvSpPr>
          <p:cNvPr id="443590" name="Line 198"/>
          <p:cNvSpPr>
            <a:spLocks noChangeShapeType="1"/>
          </p:cNvSpPr>
          <p:nvPr/>
        </p:nvSpPr>
        <p:spPr bwMode="auto">
          <a:xfrm>
            <a:off x="3194050" y="2614613"/>
            <a:ext cx="15208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sp>
        <p:nvSpPr>
          <p:cNvPr id="443591" name="Line 199"/>
          <p:cNvSpPr>
            <a:spLocks noChangeShapeType="1"/>
          </p:cNvSpPr>
          <p:nvPr/>
        </p:nvSpPr>
        <p:spPr bwMode="auto">
          <a:xfrm rot="1250189" flipH="1">
            <a:off x="2997200" y="3240088"/>
            <a:ext cx="1903413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sp>
        <p:nvSpPr>
          <p:cNvPr id="443592" name="Line 200"/>
          <p:cNvSpPr>
            <a:spLocks noChangeShapeType="1"/>
          </p:cNvSpPr>
          <p:nvPr/>
        </p:nvSpPr>
        <p:spPr bwMode="auto">
          <a:xfrm rot="1250189">
            <a:off x="2932113" y="3414713"/>
            <a:ext cx="19034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sp>
        <p:nvSpPr>
          <p:cNvPr id="443593" name="Line 201"/>
          <p:cNvSpPr>
            <a:spLocks noChangeShapeType="1"/>
          </p:cNvSpPr>
          <p:nvPr/>
        </p:nvSpPr>
        <p:spPr bwMode="auto">
          <a:xfrm rot="-1250189">
            <a:off x="2932113" y="3240088"/>
            <a:ext cx="1903412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sp>
        <p:nvSpPr>
          <p:cNvPr id="443594" name="Line 202"/>
          <p:cNvSpPr>
            <a:spLocks noChangeShapeType="1"/>
          </p:cNvSpPr>
          <p:nvPr/>
        </p:nvSpPr>
        <p:spPr bwMode="auto">
          <a:xfrm rot="20349811" flipH="1">
            <a:off x="2997200" y="3414713"/>
            <a:ext cx="1903413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pic>
        <p:nvPicPr>
          <p:cNvPr id="443595" name="Picture 203" descr="Validate_CheckMark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70038" y="2365375"/>
            <a:ext cx="655637" cy="620713"/>
          </a:xfrm>
          <a:prstGeom prst="rect">
            <a:avLst/>
          </a:prstGeom>
          <a:noFill/>
        </p:spPr>
      </p:pic>
      <p:grpSp>
        <p:nvGrpSpPr>
          <p:cNvPr id="443596" name="Group 204"/>
          <p:cNvGrpSpPr>
            <a:grpSpLocks/>
          </p:cNvGrpSpPr>
          <p:nvPr/>
        </p:nvGrpSpPr>
        <p:grpSpPr bwMode="auto">
          <a:xfrm>
            <a:off x="6007100" y="3695700"/>
            <a:ext cx="2335213" cy="1331913"/>
            <a:chOff x="3833" y="2328"/>
            <a:chExt cx="1402" cy="839"/>
          </a:xfrm>
        </p:grpSpPr>
        <p:sp>
          <p:nvSpPr>
            <p:cNvPr id="443597" name="AutoShape 205"/>
            <p:cNvSpPr>
              <a:spLocks noChangeArrowheads="1"/>
            </p:cNvSpPr>
            <p:nvPr/>
          </p:nvSpPr>
          <p:spPr bwMode="auto">
            <a:xfrm>
              <a:off x="3833" y="2328"/>
              <a:ext cx="1265" cy="83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43598" name="Text Box 206"/>
            <p:cNvSpPr txBox="1">
              <a:spLocks noChangeArrowheads="1"/>
            </p:cNvSpPr>
            <p:nvPr/>
          </p:nvSpPr>
          <p:spPr bwMode="auto">
            <a:xfrm>
              <a:off x="4106" y="2492"/>
              <a:ext cx="75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b="0"/>
                <a:t>Non autorisé</a:t>
              </a:r>
            </a:p>
          </p:txBody>
        </p:sp>
        <p:sp>
          <p:nvSpPr>
            <p:cNvPr id="443599" name="Text Box 207"/>
            <p:cNvSpPr txBox="1">
              <a:spLocks noChangeArrowheads="1"/>
            </p:cNvSpPr>
            <p:nvPr/>
          </p:nvSpPr>
          <p:spPr bwMode="auto">
            <a:xfrm>
              <a:off x="4106" y="2744"/>
              <a:ext cx="1129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b="0"/>
                <a:t>N'autorise pas les requêtes DHCP</a:t>
              </a:r>
            </a:p>
          </p:txBody>
        </p:sp>
        <p:pic>
          <p:nvPicPr>
            <p:cNvPr id="443600" name="Picture 208" descr="Validate_Invalid0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889" y="2501"/>
              <a:ext cx="196" cy="235"/>
            </a:xfrm>
            <a:prstGeom prst="rect">
              <a:avLst/>
            </a:prstGeom>
            <a:noFill/>
          </p:spPr>
        </p:pic>
        <p:pic>
          <p:nvPicPr>
            <p:cNvPr id="443601" name="Picture 209" descr="Validate_Invalid0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889" y="2826"/>
              <a:ext cx="196" cy="235"/>
            </a:xfrm>
            <a:prstGeom prst="rect">
              <a:avLst/>
            </a:prstGeom>
            <a:noFill/>
          </p:spPr>
        </p:pic>
      </p:grpSp>
      <p:grpSp>
        <p:nvGrpSpPr>
          <p:cNvPr id="443602" name="Group 210"/>
          <p:cNvGrpSpPr>
            <a:grpSpLocks/>
          </p:cNvGrpSpPr>
          <p:nvPr/>
        </p:nvGrpSpPr>
        <p:grpSpPr bwMode="auto">
          <a:xfrm>
            <a:off x="6007100" y="2046288"/>
            <a:ext cx="2101850" cy="1331912"/>
            <a:chOff x="3833" y="1289"/>
            <a:chExt cx="1273" cy="839"/>
          </a:xfrm>
        </p:grpSpPr>
        <p:sp>
          <p:nvSpPr>
            <p:cNvPr id="443603" name="AutoShape 211"/>
            <p:cNvSpPr>
              <a:spLocks noChangeArrowheads="1"/>
            </p:cNvSpPr>
            <p:nvPr/>
          </p:nvSpPr>
          <p:spPr bwMode="auto">
            <a:xfrm>
              <a:off x="3833" y="1289"/>
              <a:ext cx="1265" cy="83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43604" name="Text Box 212"/>
            <p:cNvSpPr txBox="1">
              <a:spLocks noChangeArrowheads="1"/>
            </p:cNvSpPr>
            <p:nvPr/>
          </p:nvSpPr>
          <p:spPr bwMode="auto">
            <a:xfrm>
              <a:off x="4106" y="1469"/>
              <a:ext cx="769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b="0"/>
                <a:t>Autorisé</a:t>
              </a:r>
            </a:p>
          </p:txBody>
        </p:sp>
        <p:sp>
          <p:nvSpPr>
            <p:cNvPr id="443605" name="Text Box 213"/>
            <p:cNvSpPr txBox="1">
              <a:spLocks noChangeArrowheads="1"/>
            </p:cNvSpPr>
            <p:nvPr/>
          </p:nvSpPr>
          <p:spPr bwMode="auto">
            <a:xfrm>
              <a:off x="4106" y="1697"/>
              <a:ext cx="1000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b="0"/>
                <a:t>Autorise les requêtes DHCP</a:t>
              </a:r>
            </a:p>
          </p:txBody>
        </p:sp>
        <p:pic>
          <p:nvPicPr>
            <p:cNvPr id="443606" name="Picture 214" descr="Validated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889" y="1471"/>
              <a:ext cx="256" cy="265"/>
            </a:xfrm>
            <a:prstGeom prst="rect">
              <a:avLst/>
            </a:prstGeom>
            <a:noFill/>
          </p:spPr>
        </p:pic>
        <p:pic>
          <p:nvPicPr>
            <p:cNvPr id="443607" name="Picture 215" descr="Validated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889" y="1771"/>
              <a:ext cx="256" cy="265"/>
            </a:xfrm>
            <a:prstGeom prst="rect">
              <a:avLst/>
            </a:prstGeom>
            <a:noFill/>
          </p:spPr>
        </p:pic>
      </p:grpSp>
      <p:sp>
        <p:nvSpPr>
          <p:cNvPr id="443608" name="AutoShape 216"/>
          <p:cNvSpPr>
            <a:spLocks noChangeArrowheads="1"/>
          </p:cNvSpPr>
          <p:nvPr/>
        </p:nvSpPr>
        <p:spPr bwMode="auto">
          <a:xfrm>
            <a:off x="5994400" y="1860550"/>
            <a:ext cx="2292350" cy="3524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/>
              <a:t>Serveur DHCP Server1</a:t>
            </a:r>
          </a:p>
        </p:txBody>
      </p:sp>
      <p:sp>
        <p:nvSpPr>
          <p:cNvPr id="443609" name="AutoShape 217"/>
          <p:cNvSpPr>
            <a:spLocks noChangeArrowheads="1"/>
          </p:cNvSpPr>
          <p:nvPr/>
        </p:nvSpPr>
        <p:spPr bwMode="auto">
          <a:xfrm>
            <a:off x="5994400" y="3522663"/>
            <a:ext cx="2292350" cy="3524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/>
              <a:t>Serveur DHCP Server2</a:t>
            </a:r>
          </a:p>
        </p:txBody>
      </p:sp>
      <p:sp>
        <p:nvSpPr>
          <p:cNvPr id="443610" name="AutoShape 218"/>
          <p:cNvSpPr>
            <a:spLocks noChangeArrowheads="1"/>
          </p:cNvSpPr>
          <p:nvPr/>
        </p:nvSpPr>
        <p:spPr bwMode="auto">
          <a:xfrm>
            <a:off x="2374900" y="1284288"/>
            <a:ext cx="3436938" cy="7651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700"/>
              <a:t>S'il trouve sa propre adresse IP dans la liste, le service démarre et prend en charge les clients DHCP</a:t>
            </a:r>
          </a:p>
        </p:txBody>
      </p:sp>
      <p:sp>
        <p:nvSpPr>
          <p:cNvPr id="443611" name="AutoShape 219"/>
          <p:cNvSpPr>
            <a:spLocks noChangeArrowheads="1"/>
          </p:cNvSpPr>
          <p:nvPr/>
        </p:nvSpPr>
        <p:spPr bwMode="auto">
          <a:xfrm>
            <a:off x="1030514" y="4583113"/>
            <a:ext cx="4900613" cy="80486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2000"/>
              <a:t>Le serveur DHCP Server2 vérifie auprès du </a:t>
            </a:r>
          </a:p>
          <a:p>
            <a:pPr>
              <a:lnSpc>
                <a:spcPct val="85000"/>
              </a:lnSpc>
            </a:pPr>
            <a:r>
              <a:rPr lang="fr-FR" sz="2000"/>
              <a:t>contrôleur de domaine afin d'obtenir une liste de serveurs DHCP autorisés</a:t>
            </a:r>
          </a:p>
        </p:txBody>
      </p:sp>
      <p:sp>
        <p:nvSpPr>
          <p:cNvPr id="443612" name="AutoShape 220"/>
          <p:cNvSpPr>
            <a:spLocks noChangeArrowheads="1"/>
          </p:cNvSpPr>
          <p:nvPr/>
        </p:nvSpPr>
        <p:spPr bwMode="auto">
          <a:xfrm>
            <a:off x="1030514" y="4579938"/>
            <a:ext cx="4900613" cy="80486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2000" dirty="0"/>
              <a:t>S'il ne trouve pas sa propre adresse IP dans la liste, le serveur DHCP Server2 ne démarre pas et ne prend pas en charge les clients DHCP</a:t>
            </a:r>
          </a:p>
        </p:txBody>
      </p:sp>
      <p:pic>
        <p:nvPicPr>
          <p:cNvPr id="443613" name="Picture 221" descr="Validate_XMark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470025" y="2363788"/>
            <a:ext cx="600075" cy="730250"/>
          </a:xfrm>
          <a:prstGeom prst="rect">
            <a:avLst/>
          </a:prstGeom>
          <a:noFill/>
        </p:spPr>
      </p:pic>
      <p:sp>
        <p:nvSpPr>
          <p:cNvPr id="443614" name="AutoShape 222"/>
          <p:cNvSpPr>
            <a:spLocks noChangeArrowheads="1"/>
          </p:cNvSpPr>
          <p:nvPr/>
        </p:nvSpPr>
        <p:spPr bwMode="auto">
          <a:xfrm>
            <a:off x="2374900" y="1284288"/>
            <a:ext cx="3438525" cy="7651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700"/>
              <a:t>Le client DHCP reçoit l'adresse IP </a:t>
            </a:r>
          </a:p>
          <a:p>
            <a:pPr>
              <a:lnSpc>
                <a:spcPct val="85000"/>
              </a:lnSpc>
            </a:pPr>
            <a:r>
              <a:rPr lang="fr-FR" sz="1700"/>
              <a:t>du serveur DHCP Server1 autorisé</a:t>
            </a:r>
          </a:p>
        </p:txBody>
      </p:sp>
      <p:sp>
        <p:nvSpPr>
          <p:cNvPr id="443615" name="Line 223"/>
          <p:cNvSpPr>
            <a:spLocks noChangeShapeType="1"/>
          </p:cNvSpPr>
          <p:nvPr/>
        </p:nvSpPr>
        <p:spPr bwMode="auto">
          <a:xfrm>
            <a:off x="3194050" y="4121150"/>
            <a:ext cx="15208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grpSp>
        <p:nvGrpSpPr>
          <p:cNvPr id="443616" name="Group 224"/>
          <p:cNvGrpSpPr>
            <a:grpSpLocks/>
          </p:cNvGrpSpPr>
          <p:nvPr/>
        </p:nvGrpSpPr>
        <p:grpSpPr bwMode="auto">
          <a:xfrm>
            <a:off x="114305" y="1258888"/>
            <a:ext cx="8847154" cy="4951412"/>
            <a:chOff x="72" y="793"/>
            <a:chExt cx="5573" cy="3119"/>
          </a:xfrm>
        </p:grpSpPr>
        <p:sp>
          <p:nvSpPr>
            <p:cNvPr id="443617" name="AutoShape 225"/>
            <p:cNvSpPr>
              <a:spLocks noChangeArrowheads="1"/>
            </p:cNvSpPr>
            <p:nvPr/>
          </p:nvSpPr>
          <p:spPr bwMode="auto">
            <a:xfrm>
              <a:off x="574" y="793"/>
              <a:ext cx="4550" cy="311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sp>
          <p:nvSpPr>
            <p:cNvPr id="443618" name="AutoShape 226"/>
            <p:cNvSpPr>
              <a:spLocks noChangeArrowheads="1"/>
            </p:cNvSpPr>
            <p:nvPr/>
          </p:nvSpPr>
          <p:spPr bwMode="auto">
            <a:xfrm>
              <a:off x="631" y="2886"/>
              <a:ext cx="3096" cy="469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 sz="2000"/>
                <a:t>Le client DHCP reçoit l'adresse IP </a:t>
              </a:r>
            </a:p>
            <a:p>
              <a:pPr>
                <a:lnSpc>
                  <a:spcPct val="85000"/>
                </a:lnSpc>
              </a:pPr>
              <a:r>
                <a:rPr lang="fr-FR" sz="2000"/>
                <a:t>du serveur DHCP Server1 autorisé</a:t>
              </a:r>
            </a:p>
          </p:txBody>
        </p:sp>
        <p:sp>
          <p:nvSpPr>
            <p:cNvPr id="443619" name="Oval 227"/>
            <p:cNvSpPr>
              <a:spLocks noChangeArrowheads="1"/>
            </p:cNvSpPr>
            <p:nvPr/>
          </p:nvSpPr>
          <p:spPr bwMode="auto">
            <a:xfrm>
              <a:off x="1065" y="1425"/>
              <a:ext cx="2802" cy="134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CFE1C2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>
              <a:outerShdw dist="45791" dir="3378596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marL="342900" indent="-342900"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r>
                <a:rPr lang="en-US" sz="2400"/>
                <a:t>                                                          </a:t>
              </a:r>
            </a:p>
          </p:txBody>
        </p:sp>
        <p:pic>
          <p:nvPicPr>
            <p:cNvPr id="443620" name="Picture 228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74" y="1212"/>
              <a:ext cx="652" cy="785"/>
            </a:xfrm>
            <a:prstGeom prst="rect">
              <a:avLst/>
            </a:prstGeom>
            <a:noFill/>
          </p:spPr>
        </p:pic>
        <p:pic>
          <p:nvPicPr>
            <p:cNvPr id="443621" name="Picture 229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301" y="2101"/>
              <a:ext cx="562" cy="702"/>
            </a:xfrm>
            <a:prstGeom prst="rect">
              <a:avLst/>
            </a:prstGeom>
            <a:noFill/>
          </p:spPr>
        </p:pic>
        <p:pic>
          <p:nvPicPr>
            <p:cNvPr id="443622" name="Picture 230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23" y="1147"/>
              <a:ext cx="653" cy="785"/>
            </a:xfrm>
            <a:prstGeom prst="rect">
              <a:avLst/>
            </a:prstGeom>
            <a:noFill/>
          </p:spPr>
        </p:pic>
        <p:pic>
          <p:nvPicPr>
            <p:cNvPr id="443623" name="Picture 231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074" y="2115"/>
              <a:ext cx="653" cy="785"/>
            </a:xfrm>
            <a:prstGeom prst="rect">
              <a:avLst/>
            </a:prstGeom>
            <a:noFill/>
          </p:spPr>
        </p:pic>
        <p:sp>
          <p:nvSpPr>
            <p:cNvPr id="443624" name="AutoShape 232"/>
            <p:cNvSpPr>
              <a:spLocks noChangeArrowheads="1"/>
            </p:cNvSpPr>
            <p:nvPr/>
          </p:nvSpPr>
          <p:spPr bwMode="auto">
            <a:xfrm>
              <a:off x="72" y="1693"/>
              <a:ext cx="810" cy="329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algn="l">
                <a:lnSpc>
                  <a:spcPct val="85000"/>
                </a:lnSpc>
              </a:pPr>
              <a:r>
                <a:rPr lang="en-US" sz="2000"/>
                <a:t>Active </a:t>
              </a:r>
            </a:p>
            <a:p>
              <a:pPr algn="l">
                <a:lnSpc>
                  <a:spcPct val="85000"/>
                </a:lnSpc>
              </a:pPr>
              <a:r>
                <a:rPr lang="en-US" sz="2000"/>
                <a:t>Directory</a:t>
              </a:r>
            </a:p>
          </p:txBody>
        </p:sp>
        <p:pic>
          <p:nvPicPr>
            <p:cNvPr id="443625" name="Picture 233" descr="ActiveDirectory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81" y="1589"/>
              <a:ext cx="597" cy="391"/>
            </a:xfrm>
            <a:prstGeom prst="rect">
              <a:avLst/>
            </a:prstGeom>
            <a:noFill/>
          </p:spPr>
        </p:pic>
        <p:sp>
          <p:nvSpPr>
            <p:cNvPr id="443626" name="AutoShape 234"/>
            <p:cNvSpPr>
              <a:spLocks noChangeArrowheads="1"/>
            </p:cNvSpPr>
            <p:nvPr/>
          </p:nvSpPr>
          <p:spPr bwMode="auto">
            <a:xfrm>
              <a:off x="200" y="2421"/>
              <a:ext cx="914" cy="239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US" sz="2000"/>
                <a:t>Client DHCP </a:t>
              </a:r>
            </a:p>
          </p:txBody>
        </p:sp>
        <p:sp>
          <p:nvSpPr>
            <p:cNvPr id="443627" name="Line 235"/>
            <p:cNvSpPr>
              <a:spLocks noChangeShapeType="1"/>
            </p:cNvSpPr>
            <p:nvPr/>
          </p:nvSpPr>
          <p:spPr bwMode="auto">
            <a:xfrm rot="-1250189">
              <a:off x="1845" y="2032"/>
              <a:ext cx="1199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fr-BE"/>
            </a:p>
          </p:txBody>
        </p:sp>
        <p:sp>
          <p:nvSpPr>
            <p:cNvPr id="443628" name="Line 236"/>
            <p:cNvSpPr>
              <a:spLocks noChangeShapeType="1"/>
            </p:cNvSpPr>
            <p:nvPr/>
          </p:nvSpPr>
          <p:spPr bwMode="auto">
            <a:xfrm rot="20349811" flipH="1">
              <a:off x="1886" y="2142"/>
              <a:ext cx="1199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fr-BE"/>
            </a:p>
          </p:txBody>
        </p:sp>
        <p:sp>
          <p:nvSpPr>
            <p:cNvPr id="443629" name="Line 237"/>
            <p:cNvSpPr>
              <a:spLocks noChangeShapeType="1"/>
            </p:cNvSpPr>
            <p:nvPr/>
          </p:nvSpPr>
          <p:spPr bwMode="auto">
            <a:xfrm>
              <a:off x="2010" y="2587"/>
              <a:ext cx="95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</p:spPr>
          <p:txBody>
            <a:bodyPr anchor="ctr"/>
            <a:lstStyle/>
            <a:p>
              <a:endParaRPr lang="fr-BE"/>
            </a:p>
          </p:txBody>
        </p:sp>
        <p:sp>
          <p:nvSpPr>
            <p:cNvPr id="443630" name="AutoShape 238"/>
            <p:cNvSpPr>
              <a:spLocks noChangeArrowheads="1"/>
            </p:cNvSpPr>
            <p:nvPr/>
          </p:nvSpPr>
          <p:spPr bwMode="auto">
            <a:xfrm>
              <a:off x="3784" y="2328"/>
              <a:ext cx="1327" cy="83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43631" name="Text Box 239"/>
            <p:cNvSpPr txBox="1">
              <a:spLocks noChangeArrowheads="1"/>
            </p:cNvSpPr>
            <p:nvPr/>
          </p:nvSpPr>
          <p:spPr bwMode="auto">
            <a:xfrm>
              <a:off x="4070" y="2492"/>
              <a:ext cx="845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Non autorisé</a:t>
              </a:r>
            </a:p>
          </p:txBody>
        </p:sp>
        <p:sp>
          <p:nvSpPr>
            <p:cNvPr id="443632" name="Text Box 240"/>
            <p:cNvSpPr txBox="1">
              <a:spLocks noChangeArrowheads="1"/>
            </p:cNvSpPr>
            <p:nvPr/>
          </p:nvSpPr>
          <p:spPr bwMode="auto">
            <a:xfrm>
              <a:off x="4070" y="2744"/>
              <a:ext cx="1185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/>
                <a:t>N'autorise pas les requêtes DHCP</a:t>
              </a:r>
            </a:p>
          </p:txBody>
        </p:sp>
        <p:pic>
          <p:nvPicPr>
            <p:cNvPr id="443633" name="Picture 241" descr="Validate_Invalid01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843" y="2501"/>
              <a:ext cx="205" cy="235"/>
            </a:xfrm>
            <a:prstGeom prst="rect">
              <a:avLst/>
            </a:prstGeom>
            <a:noFill/>
          </p:spPr>
        </p:pic>
        <p:pic>
          <p:nvPicPr>
            <p:cNvPr id="443634" name="Picture 242" descr="Validate_Invalid01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843" y="2826"/>
              <a:ext cx="205" cy="235"/>
            </a:xfrm>
            <a:prstGeom prst="rect">
              <a:avLst/>
            </a:prstGeom>
            <a:noFill/>
          </p:spPr>
        </p:pic>
        <p:sp>
          <p:nvSpPr>
            <p:cNvPr id="443635" name="AutoShape 243"/>
            <p:cNvSpPr>
              <a:spLocks noChangeArrowheads="1"/>
            </p:cNvSpPr>
            <p:nvPr/>
          </p:nvSpPr>
          <p:spPr bwMode="auto">
            <a:xfrm>
              <a:off x="3784" y="1289"/>
              <a:ext cx="1316" cy="83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43636" name="Text Box 244"/>
            <p:cNvSpPr txBox="1">
              <a:spLocks noChangeArrowheads="1"/>
            </p:cNvSpPr>
            <p:nvPr/>
          </p:nvSpPr>
          <p:spPr bwMode="auto">
            <a:xfrm>
              <a:off x="4068" y="1469"/>
              <a:ext cx="80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dirty="0" err="1"/>
                <a:t>Autorisé</a:t>
              </a:r>
              <a:endParaRPr lang="en-US" dirty="0"/>
            </a:p>
          </p:txBody>
        </p:sp>
        <p:sp>
          <p:nvSpPr>
            <p:cNvPr id="443637" name="Text Box 245"/>
            <p:cNvSpPr txBox="1">
              <a:spLocks noChangeArrowheads="1"/>
            </p:cNvSpPr>
            <p:nvPr/>
          </p:nvSpPr>
          <p:spPr bwMode="auto">
            <a:xfrm>
              <a:off x="4068" y="1697"/>
              <a:ext cx="1040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/>
                <a:t>Autorise les requêtes DHCP</a:t>
              </a:r>
            </a:p>
          </p:txBody>
        </p:sp>
        <p:pic>
          <p:nvPicPr>
            <p:cNvPr id="443638" name="Picture 246" descr="Validated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842" y="1471"/>
              <a:ext cx="266" cy="265"/>
            </a:xfrm>
            <a:prstGeom prst="rect">
              <a:avLst/>
            </a:prstGeom>
            <a:noFill/>
          </p:spPr>
        </p:pic>
        <p:pic>
          <p:nvPicPr>
            <p:cNvPr id="443639" name="Picture 247" descr="Validated0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842" y="1771"/>
              <a:ext cx="266" cy="265"/>
            </a:xfrm>
            <a:prstGeom prst="rect">
              <a:avLst/>
            </a:prstGeom>
            <a:noFill/>
          </p:spPr>
        </p:pic>
        <p:sp>
          <p:nvSpPr>
            <p:cNvPr id="443640" name="AutoShape 248"/>
            <p:cNvSpPr>
              <a:spLocks noChangeArrowheads="1"/>
            </p:cNvSpPr>
            <p:nvPr/>
          </p:nvSpPr>
          <p:spPr bwMode="auto">
            <a:xfrm>
              <a:off x="3776" y="2220"/>
              <a:ext cx="1869" cy="22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2000"/>
                <a:t>Serveur DHCP Server2</a:t>
              </a:r>
            </a:p>
          </p:txBody>
        </p:sp>
        <p:sp>
          <p:nvSpPr>
            <p:cNvPr id="443641" name="AutoShape 249"/>
            <p:cNvSpPr>
              <a:spLocks noChangeArrowheads="1"/>
            </p:cNvSpPr>
            <p:nvPr/>
          </p:nvSpPr>
          <p:spPr bwMode="auto">
            <a:xfrm>
              <a:off x="3776" y="1172"/>
              <a:ext cx="1869" cy="22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2000"/>
                <a:t>Serveur DHCP Server1</a:t>
              </a:r>
            </a:p>
          </p:txBody>
        </p:sp>
        <p:sp>
          <p:nvSpPr>
            <p:cNvPr id="443642" name="AutoShape 250"/>
            <p:cNvSpPr>
              <a:spLocks noChangeArrowheads="1"/>
            </p:cNvSpPr>
            <p:nvPr/>
          </p:nvSpPr>
          <p:spPr bwMode="auto">
            <a:xfrm>
              <a:off x="182" y="1149"/>
              <a:ext cx="1088" cy="314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en-US" sz="2000" dirty="0" err="1"/>
                <a:t>Contrôleur</a:t>
              </a:r>
              <a:r>
                <a:rPr lang="en-US" sz="2000" dirty="0"/>
                <a:t> de</a:t>
              </a:r>
            </a:p>
            <a:p>
              <a:pPr>
                <a:lnSpc>
                  <a:spcPct val="85000"/>
                </a:lnSpc>
              </a:pPr>
              <a:r>
                <a:rPr lang="en-US" sz="2000" dirty="0" err="1"/>
                <a:t>domaine</a:t>
              </a:r>
              <a:endParaRPr lang="en-US" sz="2000" dirty="0"/>
            </a:p>
          </p:txBody>
        </p:sp>
      </p:grpSp>
      <p:sp>
        <p:nvSpPr>
          <p:cNvPr id="443643" name="AutoShape 251"/>
          <p:cNvSpPr>
            <a:spLocks noChangeArrowheads="1"/>
          </p:cNvSpPr>
          <p:nvPr/>
        </p:nvSpPr>
        <p:spPr bwMode="auto">
          <a:xfrm>
            <a:off x="174171" y="5399314"/>
            <a:ext cx="8781143" cy="100148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eaLnBrk="1" hangingPunct="1"/>
            <a:r>
              <a:rPr lang="fr-FR" sz="2400" dirty="0"/>
              <a:t>L'</a:t>
            </a:r>
            <a:r>
              <a:rPr lang="fr-FR" sz="2400" i="1" dirty="0"/>
              <a:t>autorisation DHCP </a:t>
            </a:r>
            <a:r>
              <a:rPr lang="fr-FR" sz="2400" dirty="0"/>
              <a:t>est le processus d'enregistrement du service Serveur DHCP dans le domaine Active Directory, afin de prendre en charge les clients DHCP</a:t>
            </a:r>
          </a:p>
        </p:txBody>
      </p:sp>
      <p:grpSp>
        <p:nvGrpSpPr>
          <p:cNvPr id="443644" name="Group 252"/>
          <p:cNvGrpSpPr>
            <a:grpSpLocks/>
          </p:cNvGrpSpPr>
          <p:nvPr/>
        </p:nvGrpSpPr>
        <p:grpSpPr bwMode="auto">
          <a:xfrm>
            <a:off x="8062905" y="6269485"/>
            <a:ext cx="914400" cy="425450"/>
            <a:chOff x="384" y="3024"/>
            <a:chExt cx="720" cy="336"/>
          </a:xfrm>
        </p:grpSpPr>
        <p:sp>
          <p:nvSpPr>
            <p:cNvPr id="443645" name="Oval 253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443646" name="Group 254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443647" name="Oval 255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443648" name="Freeform 256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443649" name="Group 257"/>
          <p:cNvGrpSpPr>
            <a:grpSpLocks/>
          </p:cNvGrpSpPr>
          <p:nvPr/>
        </p:nvGrpSpPr>
        <p:grpSpPr bwMode="auto">
          <a:xfrm>
            <a:off x="8550267" y="6359972"/>
            <a:ext cx="304800" cy="244475"/>
            <a:chOff x="768" y="3096"/>
            <a:chExt cx="240" cy="192"/>
          </a:xfrm>
        </p:grpSpPr>
        <p:sp>
          <p:nvSpPr>
            <p:cNvPr id="443650" name="Oval 258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43651" name="Rectangle 259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4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4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443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4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435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443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443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443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4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44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4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443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4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44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44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4436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443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443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4436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443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4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1000"/>
                                        <p:tgtEl>
                                          <p:spTgt spid="44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44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1000"/>
                                        <p:tgtEl>
                                          <p:spTgt spid="44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4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000" fill="hold"/>
                                        <p:tgtEl>
                                          <p:spTgt spid="443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000" fill="hold"/>
                                        <p:tgtEl>
                                          <p:spTgt spid="443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588" grpId="0" animBg="1"/>
      <p:bldP spid="443588" grpId="1" animBg="1"/>
      <p:bldP spid="443589" grpId="0" animBg="1"/>
      <p:bldP spid="443589" grpId="1" animBg="1"/>
      <p:bldP spid="443590" grpId="0" animBg="1"/>
      <p:bldP spid="443590" grpId="1" animBg="1"/>
      <p:bldP spid="443591" grpId="0" animBg="1"/>
      <p:bldP spid="443591" grpId="1" animBg="1"/>
      <p:bldP spid="443591" grpId="2" animBg="1"/>
      <p:bldP spid="443592" grpId="0" animBg="1"/>
      <p:bldP spid="443592" grpId="1" animBg="1"/>
      <p:bldP spid="443593" grpId="0" animBg="1"/>
      <p:bldP spid="443594" grpId="0" animBg="1"/>
      <p:bldP spid="443610" grpId="0" animBg="1"/>
      <p:bldP spid="443610" grpId="1" animBg="1"/>
      <p:bldP spid="443611" grpId="0" animBg="1"/>
      <p:bldP spid="443611" grpId="1" animBg="1"/>
      <p:bldP spid="443612" grpId="0" animBg="1"/>
      <p:bldP spid="443612" grpId="1" animBg="1"/>
      <p:bldP spid="443614" grpId="0" animBg="1"/>
      <p:bldP spid="443615" grpId="0" animBg="1"/>
      <p:bldP spid="4436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460375" marR="0" lvl="0" indent="-460375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2. </a:t>
            </a:r>
            <a:r>
              <a:rPr lang="fr-FR" sz="3200" dirty="0">
                <a:latin typeface="+mj-lt"/>
                <a:ea typeface="+mj-ea"/>
                <a:cs typeface="+mj-cs"/>
              </a:rPr>
              <a:t>Configuration</a:t>
            </a: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 des étendues DHCP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1884" y="1277263"/>
            <a:ext cx="8461827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 Présentation des étendues DHCP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 Quels sont les étendues DHCP 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 Comment configurer une étendue DHCP?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Que sont les options DHCP 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Comment sont appliquées les options au niveau du serveur DHCP, de l'étendue et du client réservé?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Comment sont appliquées les options au niveau de la classe DHCP?</a:t>
            </a:r>
          </a:p>
          <a:p>
            <a:pPr lvl="0"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en-GB" sz="2200" dirty="0"/>
              <a:t>Comment </a:t>
            </a:r>
            <a:r>
              <a:rPr lang="en-GB" sz="2200" dirty="0" err="1"/>
              <a:t>configurer</a:t>
            </a:r>
            <a:r>
              <a:rPr lang="en-GB" sz="2200" dirty="0"/>
              <a:t> des options DHCP?</a:t>
            </a:r>
            <a:endParaRPr lang="en-US" sz="2200" dirty="0"/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 Qu'est-ce qu'une réservation DHCP ?</a:t>
            </a:r>
          </a:p>
          <a:p>
            <a:pPr algn="l" eaLnBrk="1" hangingPunct="1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200" dirty="0"/>
              <a:t>Comment configurer une réservation DHCP?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34" name="AutoShape 158"/>
          <p:cNvSpPr>
            <a:spLocks noChangeArrowheads="1"/>
          </p:cNvSpPr>
          <p:nvPr/>
        </p:nvSpPr>
        <p:spPr bwMode="auto">
          <a:xfrm>
            <a:off x="188686" y="1480457"/>
            <a:ext cx="8737600" cy="4920343"/>
          </a:xfrm>
          <a:prstGeom prst="roundRect">
            <a:avLst>
              <a:gd name="adj" fmla="val 12056"/>
            </a:avLst>
          </a:prstGeom>
          <a:gradFill rotWithShape="1">
            <a:gsLst>
              <a:gs pos="0">
                <a:schemeClr val="bg1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endParaRPr lang="en-GB" sz="2000" b="0"/>
          </a:p>
        </p:txBody>
      </p:sp>
      <p:pic>
        <p:nvPicPr>
          <p:cNvPr id="434335" name="Picture 159" descr="Lan0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2656" y="2929150"/>
            <a:ext cx="3891982" cy="3299254"/>
          </a:xfrm>
          <a:prstGeom prst="rect">
            <a:avLst/>
          </a:prstGeom>
          <a:noFill/>
        </p:spPr>
      </p:pic>
      <p:sp>
        <p:nvSpPr>
          <p:cNvPr id="434336" name="Text Box 1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09039" y="4902412"/>
            <a:ext cx="1109427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0000"/>
                </a:solidFill>
              </a:rPr>
              <a:t>Réseau</a:t>
            </a:r>
            <a:br>
              <a:rPr lang="en-GB" sz="2000" dirty="0">
                <a:solidFill>
                  <a:srgbClr val="000000"/>
                </a:solidFill>
              </a:rPr>
            </a:br>
            <a:r>
              <a:rPr lang="en-GB" sz="2000" dirty="0">
                <a:solidFill>
                  <a:srgbClr val="000000"/>
                </a:solidFill>
              </a:rPr>
              <a:t>local A</a:t>
            </a:r>
            <a:endParaRPr lang="en-US" sz="2000" dirty="0"/>
          </a:p>
        </p:txBody>
      </p:sp>
      <p:pic>
        <p:nvPicPr>
          <p:cNvPr id="434337" name="Picture 161" descr="Lan01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059601" y="3016234"/>
            <a:ext cx="3891982" cy="3299254"/>
          </a:xfrm>
          <a:prstGeom prst="rect">
            <a:avLst/>
          </a:prstGeom>
          <a:noFill/>
        </p:spPr>
      </p:pic>
      <p:sp>
        <p:nvSpPr>
          <p:cNvPr id="434338" name="Text Box 16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50027" y="4799894"/>
            <a:ext cx="112207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rgbClr val="000000"/>
                </a:solidFill>
              </a:rPr>
              <a:t>Réseau</a:t>
            </a:r>
            <a:br>
              <a:rPr lang="en-GB" sz="2000" dirty="0">
                <a:solidFill>
                  <a:srgbClr val="000000"/>
                </a:solidFill>
              </a:rPr>
            </a:br>
            <a:r>
              <a:rPr lang="en-GB" sz="2000" dirty="0">
                <a:solidFill>
                  <a:srgbClr val="000000"/>
                </a:solidFill>
              </a:rPr>
              <a:t>local B</a:t>
            </a:r>
            <a:endParaRPr lang="en-US" sz="2000" dirty="0"/>
          </a:p>
        </p:txBody>
      </p:sp>
      <p:sp>
        <p:nvSpPr>
          <p:cNvPr id="434339" name="AutoShape 16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36749" y="1480459"/>
            <a:ext cx="1861101" cy="41323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000" dirty="0" err="1">
                <a:solidFill>
                  <a:srgbClr val="000000"/>
                </a:solidFill>
              </a:rPr>
              <a:t>Serveur</a:t>
            </a:r>
            <a:r>
              <a:rPr lang="en-GB" sz="2000" dirty="0">
                <a:solidFill>
                  <a:srgbClr val="000000"/>
                </a:solidFill>
              </a:rPr>
              <a:t> DHCP</a:t>
            </a:r>
            <a:endParaRPr lang="en-US" sz="2000" dirty="0"/>
          </a:p>
        </p:txBody>
      </p:sp>
      <p:sp>
        <p:nvSpPr>
          <p:cNvPr id="434340" name="Line 164"/>
          <p:cNvSpPr>
            <a:spLocks noChangeShapeType="1"/>
          </p:cNvSpPr>
          <p:nvPr/>
        </p:nvSpPr>
        <p:spPr bwMode="auto">
          <a:xfrm flipV="1">
            <a:off x="2859314" y="2946400"/>
            <a:ext cx="812800" cy="1175657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pic>
        <p:nvPicPr>
          <p:cNvPr id="434341" name="Picture 165" descr="Server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650584" y="1898197"/>
            <a:ext cx="1740294" cy="2203111"/>
          </a:xfrm>
          <a:prstGeom prst="rect">
            <a:avLst/>
          </a:prstGeom>
          <a:noFill/>
        </p:spPr>
      </p:pic>
      <p:sp>
        <p:nvSpPr>
          <p:cNvPr id="434342" name="AutoShape 16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31660" y="4037678"/>
            <a:ext cx="1511068" cy="360151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endParaRPr lang="en-US" sz="2400" dirty="0"/>
          </a:p>
          <a:p>
            <a:r>
              <a:rPr lang="en-GB" sz="2400" dirty="0" err="1">
                <a:solidFill>
                  <a:srgbClr val="000000"/>
                </a:solidFill>
              </a:rPr>
              <a:t>Étendue</a:t>
            </a:r>
            <a:r>
              <a:rPr lang="en-GB" sz="2400" dirty="0">
                <a:solidFill>
                  <a:srgbClr val="000000"/>
                </a:solidFill>
              </a:rPr>
              <a:t> B</a:t>
            </a:r>
            <a:endParaRPr lang="en-US" sz="2400" b="0" dirty="0"/>
          </a:p>
          <a:p>
            <a:endParaRPr lang="en-US" sz="2400" b="0" dirty="0"/>
          </a:p>
        </p:txBody>
      </p:sp>
      <p:sp>
        <p:nvSpPr>
          <p:cNvPr id="434343" name="AutoShape 16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45481" y="3991185"/>
            <a:ext cx="1565262" cy="37761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endParaRPr lang="en-US" sz="2400" dirty="0"/>
          </a:p>
          <a:p>
            <a:r>
              <a:rPr lang="en-GB" sz="2400" dirty="0" err="1">
                <a:solidFill>
                  <a:srgbClr val="000000"/>
                </a:solidFill>
              </a:rPr>
              <a:t>Étendue</a:t>
            </a:r>
            <a:r>
              <a:rPr lang="en-GB" sz="2400" dirty="0">
                <a:solidFill>
                  <a:srgbClr val="000000"/>
                </a:solidFill>
              </a:rPr>
              <a:t> A</a:t>
            </a:r>
            <a:endParaRPr lang="en-US" sz="2400" b="0" dirty="0"/>
          </a:p>
          <a:p>
            <a:endParaRPr lang="en-US" sz="2400" b="0" dirty="0"/>
          </a:p>
        </p:txBody>
      </p:sp>
      <p:sp>
        <p:nvSpPr>
          <p:cNvPr id="38" name="Rectangle 2"/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sz="24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Présentation des étendues DHCP</a:t>
            </a:r>
          </a:p>
        </p:txBody>
      </p:sp>
      <p:sp>
        <p:nvSpPr>
          <p:cNvPr id="13" name="Line 164"/>
          <p:cNvSpPr>
            <a:spLocks noChangeShapeType="1"/>
          </p:cNvSpPr>
          <p:nvPr/>
        </p:nvSpPr>
        <p:spPr bwMode="auto">
          <a:xfrm>
            <a:off x="5370286" y="2714171"/>
            <a:ext cx="943427" cy="1480457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342" grpId="0" animBg="1"/>
      <p:bldP spid="4343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77368" y="464456"/>
            <a:ext cx="8534400" cy="508581"/>
          </a:xfrm>
        </p:spPr>
        <p:txBody>
          <a:bodyPr vert="horz" anchor="b">
            <a:normAutofit fontScale="90000"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GB" sz="2400" dirty="0" err="1">
                <a:solidFill>
                  <a:srgbClr val="C00000"/>
                </a:solidFill>
              </a:rPr>
              <a:t>Que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  <a:r>
              <a:rPr lang="en-GB" sz="2400" dirty="0" err="1">
                <a:solidFill>
                  <a:srgbClr val="C00000"/>
                </a:solidFill>
              </a:rPr>
              <a:t>sont</a:t>
            </a:r>
            <a:r>
              <a:rPr lang="en-GB" sz="2400" dirty="0">
                <a:solidFill>
                  <a:srgbClr val="C00000"/>
                </a:solidFill>
              </a:rPr>
              <a:t> les </a:t>
            </a:r>
            <a:r>
              <a:rPr lang="en-GB" sz="2400" dirty="0" err="1">
                <a:solidFill>
                  <a:srgbClr val="C00000"/>
                </a:solidFill>
              </a:rPr>
              <a:t>étendues</a:t>
            </a:r>
            <a:r>
              <a:rPr lang="en-GB" sz="2400" dirty="0">
                <a:solidFill>
                  <a:srgbClr val="C00000"/>
                </a:solidFill>
              </a:rPr>
              <a:t> DHCP 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28172" y="1465721"/>
            <a:ext cx="82078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i="1" dirty="0" err="1">
                <a:solidFill>
                  <a:srgbClr val="000000"/>
                </a:solidFill>
              </a:rPr>
              <a:t>étendue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plage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d'adresses</a:t>
            </a:r>
            <a:r>
              <a:rPr lang="en-GB" sz="2400" dirty="0">
                <a:solidFill>
                  <a:srgbClr val="000000"/>
                </a:solidFill>
              </a:rPr>
              <a:t> IP </a:t>
            </a:r>
            <a:r>
              <a:rPr lang="en-GB" sz="2400" dirty="0" err="1">
                <a:solidFill>
                  <a:srgbClr val="000000"/>
                </a:solidFill>
              </a:rPr>
              <a:t>disponibles</a:t>
            </a:r>
            <a:r>
              <a:rPr lang="en-GB" sz="2400" dirty="0">
                <a:solidFill>
                  <a:srgbClr val="000000"/>
                </a:solidFill>
              </a:rPr>
              <a:t> pour les </a:t>
            </a:r>
            <a:r>
              <a:rPr lang="en-GB" sz="2400" dirty="0" err="1">
                <a:solidFill>
                  <a:srgbClr val="000000"/>
                </a:solidFill>
              </a:rPr>
              <a:t>baux</a:t>
            </a:r>
            <a:endParaRPr lang="en-US" sz="2400" dirty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05384"/>
              </p:ext>
            </p:extLst>
          </p:nvPr>
        </p:nvGraphicFramePr>
        <p:xfrm>
          <a:off x="253816" y="2012131"/>
          <a:ext cx="8672469" cy="4446726"/>
        </p:xfrm>
        <a:graphic>
          <a:graphicData uri="http://schemas.openxmlformats.org/drawingml/2006/table">
            <a:tbl>
              <a:tblPr/>
              <a:tblGrid>
                <a:gridCol w="2709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5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Times New Roman"/>
                        </a:rPr>
                        <a:t>Propriété d’étendue</a:t>
                      </a:r>
                      <a:endParaRPr lang="fr-FR" sz="20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Times New Roman"/>
                        </a:rPr>
                        <a:t> Description</a:t>
                      </a:r>
                      <a:endParaRPr lang="fr-FR" sz="2000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Identificateur de réseau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la plage d’adresses IP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Masque de sous-réseau 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l’identificateur de réseau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Calibri"/>
                          <a:ea typeface="Calibri"/>
                          <a:cs typeface="Times New Roman"/>
                        </a:rPr>
                        <a:t>Plage d’adresses IP de réseau </a:t>
                      </a:r>
                      <a:endParaRPr lang="fr-FR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Plage d’adresses IP disponibles pour les clients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5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Calibri"/>
                          <a:ea typeface="Calibri"/>
                          <a:cs typeface="Times New Roman"/>
                        </a:rPr>
                        <a:t>Durée du bail </a:t>
                      </a:r>
                      <a:endParaRPr lang="fr-FR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Durée pendant laquelle le serveur DHCP détient une adresse IP louée pour un client avant de supprimer le bail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0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Calibri"/>
                          <a:ea typeface="Calibri"/>
                          <a:cs typeface="Times New Roman"/>
                        </a:rPr>
                        <a:t>Routeur </a:t>
                      </a:r>
                      <a:endParaRPr lang="fr-FR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Option DHCP permettant aux clients DHCP d’accéder à des réseaux distants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0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latin typeface="Calibri"/>
                          <a:ea typeface="Calibri"/>
                          <a:cs typeface="Times New Roman"/>
                        </a:rPr>
                        <a:t>Nom d’étendue </a:t>
                      </a:r>
                      <a:endParaRPr lang="fr-FR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Identificateur alphanumérique pour les besoins administratifs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0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Plage d’exclusion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latin typeface="Calibri"/>
                          <a:ea typeface="Calibri"/>
                          <a:cs typeface="Times New Roman"/>
                        </a:rPr>
                        <a:t>Plage d’adresses IP de l’étendue qui ne peuvent pas être louées </a:t>
                      </a:r>
                      <a:endParaRPr lang="fr-FR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43695" y="449943"/>
            <a:ext cx="8534400" cy="566638"/>
          </a:xfrm>
        </p:spPr>
        <p:txBody>
          <a:bodyPr vert="horz" anchor="b"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800" dirty="0">
                <a:solidFill>
                  <a:srgbClr val="C00000"/>
                </a:solidFill>
              </a:rPr>
              <a:t>Que sont les options DHCP ?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8516" y="1403779"/>
            <a:ext cx="85706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 dirty="0">
                <a:solidFill>
                  <a:srgbClr val="000000"/>
                </a:solidFill>
              </a:rPr>
              <a:t>Les</a:t>
            </a:r>
            <a:r>
              <a:rPr lang="en-GB" sz="2800" i="1" dirty="0">
                <a:solidFill>
                  <a:srgbClr val="000000"/>
                </a:solidFill>
              </a:rPr>
              <a:t> options DHCP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sont</a:t>
            </a:r>
            <a:r>
              <a:rPr lang="en-GB" sz="2800" dirty="0">
                <a:solidFill>
                  <a:srgbClr val="000000"/>
                </a:solidFill>
              </a:rPr>
              <a:t> des </a:t>
            </a:r>
            <a:r>
              <a:rPr lang="en-GB" sz="2800" dirty="0" err="1">
                <a:solidFill>
                  <a:srgbClr val="000000"/>
                </a:solidFill>
              </a:rPr>
              <a:t>paramètres</a:t>
            </a:r>
            <a:r>
              <a:rPr lang="en-GB" sz="2800" dirty="0">
                <a:solidFill>
                  <a:srgbClr val="000000"/>
                </a:solidFill>
              </a:rPr>
              <a:t> de configuration </a:t>
            </a:r>
            <a:r>
              <a:rPr lang="en-GB" sz="2800" dirty="0" err="1">
                <a:solidFill>
                  <a:srgbClr val="000000"/>
                </a:solidFill>
              </a:rPr>
              <a:t>qu'un</a:t>
            </a:r>
            <a:r>
              <a:rPr lang="en-GB" sz="2800" dirty="0">
                <a:solidFill>
                  <a:srgbClr val="000000"/>
                </a:solidFill>
              </a:rPr>
              <a:t> service DHCP </a:t>
            </a:r>
            <a:r>
              <a:rPr lang="en-GB" sz="2800" dirty="0" err="1">
                <a:solidFill>
                  <a:srgbClr val="000000"/>
                </a:solidFill>
              </a:rPr>
              <a:t>attribue</a:t>
            </a:r>
            <a:r>
              <a:rPr lang="en-GB" sz="2800" dirty="0">
                <a:solidFill>
                  <a:srgbClr val="000000"/>
                </a:solidFill>
              </a:rPr>
              <a:t> aux clients avec </a:t>
            </a:r>
            <a:r>
              <a:rPr lang="en-GB" sz="2800" dirty="0" err="1">
                <a:solidFill>
                  <a:srgbClr val="000000"/>
                </a:solidFill>
              </a:rPr>
              <a:t>l'adresse</a:t>
            </a:r>
            <a:r>
              <a:rPr lang="en-GB" sz="2800" dirty="0">
                <a:solidFill>
                  <a:srgbClr val="000000"/>
                </a:solidFill>
              </a:rPr>
              <a:t> IP </a:t>
            </a:r>
            <a:br>
              <a:rPr lang="en-GB" sz="2800" dirty="0">
                <a:solidFill>
                  <a:srgbClr val="000000"/>
                </a:solidFill>
              </a:rPr>
            </a:br>
            <a:r>
              <a:rPr lang="en-GB" sz="2800" dirty="0">
                <a:solidFill>
                  <a:srgbClr val="000000"/>
                </a:solidFill>
              </a:rPr>
              <a:t>et la </a:t>
            </a:r>
            <a:r>
              <a:rPr lang="en-GB" sz="2800" dirty="0" err="1">
                <a:solidFill>
                  <a:srgbClr val="000000"/>
                </a:solidFill>
              </a:rPr>
              <a:t>passerelle</a:t>
            </a:r>
            <a:r>
              <a:rPr lang="en-GB" sz="2800" dirty="0">
                <a:solidFill>
                  <a:srgbClr val="000000"/>
                </a:solidFill>
              </a:rPr>
              <a:t> par </a:t>
            </a:r>
            <a:r>
              <a:rPr lang="en-GB" sz="2800" dirty="0" err="1">
                <a:solidFill>
                  <a:srgbClr val="000000"/>
                </a:solidFill>
              </a:rPr>
              <a:t>défaut</a:t>
            </a:r>
            <a:endParaRPr lang="en-US" sz="2800" dirty="0"/>
          </a:p>
        </p:txBody>
      </p:sp>
      <p:sp>
        <p:nvSpPr>
          <p:cNvPr id="5" name="Oval 13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19561" y="4289872"/>
            <a:ext cx="2554288" cy="1574800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pic>
        <p:nvPicPr>
          <p:cNvPr id="6" name="Picture 138" descr="Computer_DesktopComputerSansKeyboard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2053099" y="3837435"/>
            <a:ext cx="1111250" cy="1354137"/>
          </a:xfrm>
          <a:prstGeom prst="rect">
            <a:avLst/>
          </a:prstGeom>
          <a:noFill/>
        </p:spPr>
      </p:pic>
      <p:pic>
        <p:nvPicPr>
          <p:cNvPr id="7" name="Picture 139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71911" y="4545460"/>
            <a:ext cx="1109663" cy="1404937"/>
          </a:xfrm>
          <a:prstGeom prst="rect">
            <a:avLst/>
          </a:prstGeom>
          <a:noFill/>
        </p:spPr>
      </p:pic>
      <p:sp>
        <p:nvSpPr>
          <p:cNvPr id="8" name="AutoShape 14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11811" y="3399285"/>
            <a:ext cx="1446213" cy="3429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>
                <a:solidFill>
                  <a:srgbClr val="000000"/>
                </a:solidFill>
              </a:rPr>
              <a:t>Client DHCP </a:t>
            </a:r>
            <a:endParaRPr lang="en-US"/>
          </a:p>
        </p:txBody>
      </p:sp>
      <p:sp>
        <p:nvSpPr>
          <p:cNvPr id="9" name="AutoShape 14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9899" y="6034535"/>
            <a:ext cx="1636712" cy="3429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>
                <a:solidFill>
                  <a:srgbClr val="000000"/>
                </a:solidFill>
              </a:rPr>
              <a:t>Serveur DHCP</a:t>
            </a:r>
            <a:endParaRPr lang="en-US"/>
          </a:p>
        </p:txBody>
      </p:sp>
      <p:sp>
        <p:nvSpPr>
          <p:cNvPr id="10" name="AutoShape 14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65356" y="3418344"/>
            <a:ext cx="4788353" cy="285182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/>
          <a:lstStyle/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12"/>
              </a:buBlip>
            </a:pPr>
            <a:r>
              <a:rPr lang="en-GB" sz="2400" dirty="0" err="1">
                <a:solidFill>
                  <a:srgbClr val="000000"/>
                </a:solidFill>
              </a:rPr>
              <a:t>Adresse</a:t>
            </a:r>
            <a:r>
              <a:rPr lang="en-GB" sz="2400" dirty="0">
                <a:solidFill>
                  <a:srgbClr val="000000"/>
                </a:solidFill>
              </a:rPr>
              <a:t> IP du client</a:t>
            </a:r>
            <a:endParaRPr lang="en-US" sz="2400" dirty="0"/>
          </a:p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12"/>
              </a:buBlip>
            </a:pPr>
            <a:r>
              <a:rPr lang="en-GB" sz="2400" dirty="0">
                <a:solidFill>
                  <a:srgbClr val="000000"/>
                </a:solidFill>
              </a:rPr>
              <a:t>Masque de </a:t>
            </a:r>
            <a:r>
              <a:rPr lang="en-GB" sz="2400" dirty="0" err="1">
                <a:solidFill>
                  <a:srgbClr val="000000"/>
                </a:solidFill>
              </a:rPr>
              <a:t>sous-réseau</a:t>
            </a:r>
            <a:r>
              <a:rPr lang="en-GB" sz="2400" dirty="0">
                <a:solidFill>
                  <a:srgbClr val="000000"/>
                </a:solidFill>
              </a:rPr>
              <a:t> du client</a:t>
            </a:r>
            <a:endParaRPr lang="en-US" sz="2400" dirty="0"/>
          </a:p>
          <a:p>
            <a:pPr marL="225425" indent="-225425" algn="l">
              <a:spcBef>
                <a:spcPts val="0"/>
              </a:spcBef>
              <a:buSzPct val="80000"/>
              <a:buFontTx/>
              <a:buBlip>
                <a:blip r:embed="rId12"/>
              </a:buBlip>
            </a:pPr>
            <a:r>
              <a:rPr lang="en-GB" sz="2400" dirty="0">
                <a:solidFill>
                  <a:srgbClr val="000000"/>
                </a:solidFill>
              </a:rPr>
              <a:t>Options DHCP </a:t>
            </a:r>
            <a:r>
              <a:rPr lang="en-GB" sz="2400" dirty="0" err="1">
                <a:solidFill>
                  <a:srgbClr val="000000"/>
                </a:solidFill>
              </a:rPr>
              <a:t>telles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que</a:t>
            </a:r>
            <a:r>
              <a:rPr lang="en-GB" sz="2400" dirty="0">
                <a:solidFill>
                  <a:srgbClr val="000000"/>
                </a:solidFill>
              </a:rPr>
              <a:t> :</a:t>
            </a:r>
            <a:endParaRPr lang="en-US" sz="2400" dirty="0"/>
          </a:p>
          <a:p>
            <a:pPr marL="519113" lvl="1" indent="-179388" algn="l"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"/>
            </a:pPr>
            <a:r>
              <a:rPr lang="en-GB" sz="2400" dirty="0" err="1">
                <a:solidFill>
                  <a:srgbClr val="000000"/>
                </a:solidFill>
              </a:rPr>
              <a:t>Adresse</a:t>
            </a:r>
            <a:r>
              <a:rPr lang="en-GB" sz="2400" dirty="0">
                <a:solidFill>
                  <a:srgbClr val="000000"/>
                </a:solidFill>
              </a:rPr>
              <a:t> IP du </a:t>
            </a:r>
            <a:r>
              <a:rPr lang="en-GB" sz="2400" dirty="0" err="1">
                <a:solidFill>
                  <a:srgbClr val="000000"/>
                </a:solidFill>
              </a:rPr>
              <a:t>routeur</a:t>
            </a:r>
            <a:endParaRPr lang="en-US" sz="2400" dirty="0"/>
          </a:p>
          <a:p>
            <a:pPr marL="519113" lvl="1" indent="-179388" algn="l"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"/>
            </a:pPr>
            <a:r>
              <a:rPr lang="en-GB" sz="2400" dirty="0" err="1">
                <a:solidFill>
                  <a:srgbClr val="000000"/>
                </a:solidFill>
              </a:rPr>
              <a:t>Adresse</a:t>
            </a:r>
            <a:r>
              <a:rPr lang="en-GB" sz="2400" dirty="0">
                <a:solidFill>
                  <a:srgbClr val="000000"/>
                </a:solidFill>
              </a:rPr>
              <a:t> IP du </a:t>
            </a:r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DNS</a:t>
            </a:r>
            <a:endParaRPr lang="en-US" sz="2400" dirty="0"/>
          </a:p>
          <a:p>
            <a:pPr marL="519113" lvl="1" indent="-179388" algn="l"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"/>
            </a:pPr>
            <a:r>
              <a:rPr lang="en-GB" sz="2400" dirty="0" err="1">
                <a:solidFill>
                  <a:srgbClr val="000000"/>
                </a:solidFill>
              </a:rPr>
              <a:t>Adresse</a:t>
            </a:r>
            <a:r>
              <a:rPr lang="en-GB" sz="2400" dirty="0">
                <a:solidFill>
                  <a:srgbClr val="000000"/>
                </a:solidFill>
              </a:rPr>
              <a:t> IP du </a:t>
            </a:r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WINS</a:t>
            </a:r>
            <a:endParaRPr lang="en-US" sz="2400" dirty="0"/>
          </a:p>
          <a:p>
            <a:pPr marL="519113" lvl="1" indent="-179388" algn="l">
              <a:spcBef>
                <a:spcPts val="0"/>
              </a:spcBef>
              <a:buClr>
                <a:schemeClr val="accent2"/>
              </a:buClr>
              <a:buFont typeface="Wingdings" pitchFamily="2" charset="2"/>
              <a:buChar char=""/>
            </a:pPr>
            <a:r>
              <a:rPr lang="en-GB" sz="2400" dirty="0">
                <a:solidFill>
                  <a:srgbClr val="000000"/>
                </a:solidFill>
              </a:rPr>
              <a:t>Nom de </a:t>
            </a:r>
            <a:r>
              <a:rPr lang="en-GB" sz="2400" dirty="0" err="1">
                <a:solidFill>
                  <a:srgbClr val="000000"/>
                </a:solidFill>
              </a:rPr>
              <a:t>domaine</a:t>
            </a:r>
            <a:r>
              <a:rPr lang="en-GB" sz="2400" dirty="0">
                <a:solidFill>
                  <a:srgbClr val="000000"/>
                </a:solidFill>
              </a:rPr>
              <a:t> DNS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27085" y="2902861"/>
            <a:ext cx="61830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2000" i="1" u="sng" dirty="0" err="1">
                <a:latin typeface="+mj-lt"/>
                <a:ea typeface="+mj-ea"/>
                <a:cs typeface="+mj-cs"/>
              </a:rPr>
              <a:t>Données</a:t>
            </a:r>
            <a:r>
              <a:rPr lang="en-GB" sz="2000" i="1" u="sng" dirty="0"/>
              <a:t> </a:t>
            </a:r>
            <a:r>
              <a:rPr lang="en-GB" sz="2000" i="1" u="sng" dirty="0">
                <a:latin typeface="+mj-lt"/>
                <a:ea typeface="+mj-ea"/>
                <a:cs typeface="+mj-cs"/>
              </a:rPr>
              <a:t>de configuration IP du client DHCP</a:t>
            </a:r>
            <a:endParaRPr lang="en-US" sz="2000" i="1" u="sng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9181" y="188686"/>
            <a:ext cx="8740648" cy="1002065"/>
          </a:xfrm>
        </p:spPr>
        <p:txBody>
          <a:bodyPr vert="horz" anchor="b"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Comment sont appliquées les options au niveau du serveur DHCP, de l'étendue et du client réservé?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64102" name="AutoShape 230"/>
          <p:cNvSpPr>
            <a:spLocks noChangeArrowheads="1"/>
          </p:cNvSpPr>
          <p:nvPr/>
        </p:nvSpPr>
        <p:spPr bwMode="auto">
          <a:xfrm>
            <a:off x="902381" y="1110343"/>
            <a:ext cx="7223125" cy="4604875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464103" name="AutoShape 231"/>
          <p:cNvSpPr>
            <a:spLocks noChangeArrowheads="1"/>
          </p:cNvSpPr>
          <p:nvPr/>
        </p:nvSpPr>
        <p:spPr bwMode="auto">
          <a:xfrm>
            <a:off x="2813732" y="5718629"/>
            <a:ext cx="3311525" cy="88537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 dirty="0"/>
              <a:t>Option DHCP appliquée au niveau du serveur DHCP</a:t>
            </a:r>
          </a:p>
          <a:p>
            <a:endParaRPr lang="en-US" sz="2200" i="1" dirty="0"/>
          </a:p>
        </p:txBody>
      </p:sp>
      <p:sp>
        <p:nvSpPr>
          <p:cNvPr id="464104" name="AutoShape 232"/>
          <p:cNvSpPr>
            <a:spLocks noChangeArrowheads="1"/>
          </p:cNvSpPr>
          <p:nvPr/>
        </p:nvSpPr>
        <p:spPr bwMode="auto">
          <a:xfrm>
            <a:off x="2784684" y="5740845"/>
            <a:ext cx="3311525" cy="8191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 dirty="0"/>
              <a:t>Option DHCP appliquée au</a:t>
            </a:r>
          </a:p>
          <a:p>
            <a:r>
              <a:rPr lang="fr-FR" sz="2200" i="1" dirty="0"/>
              <a:t>niveau de l’</a:t>
            </a:r>
            <a:r>
              <a:rPr lang="fr-FR" sz="2200" dirty="0"/>
              <a:t>é</a:t>
            </a:r>
            <a:r>
              <a:rPr lang="fr-FR" sz="2200" i="1" dirty="0"/>
              <a:t>tendue</a:t>
            </a:r>
          </a:p>
        </p:txBody>
      </p:sp>
      <p:sp>
        <p:nvSpPr>
          <p:cNvPr id="464105" name="AutoShape 233"/>
          <p:cNvSpPr>
            <a:spLocks noChangeArrowheads="1"/>
          </p:cNvSpPr>
          <p:nvPr/>
        </p:nvSpPr>
        <p:spPr bwMode="auto">
          <a:xfrm>
            <a:off x="2743180" y="5726331"/>
            <a:ext cx="3311525" cy="8191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 dirty="0"/>
              <a:t>Option DHCP appliquée au</a:t>
            </a:r>
          </a:p>
          <a:p>
            <a:r>
              <a:rPr lang="fr-FR" sz="2200" i="1" dirty="0"/>
              <a:t>niveau du client r</a:t>
            </a:r>
            <a:r>
              <a:rPr lang="fr-FR" sz="2200" dirty="0"/>
              <a:t>éservé</a:t>
            </a:r>
            <a:endParaRPr lang="fr-FR" sz="2200" i="1" dirty="0"/>
          </a:p>
        </p:txBody>
      </p:sp>
      <p:sp>
        <p:nvSpPr>
          <p:cNvPr id="464106" name="AutoShape 234"/>
          <p:cNvSpPr>
            <a:spLocks noChangeArrowheads="1"/>
          </p:cNvSpPr>
          <p:nvPr/>
        </p:nvSpPr>
        <p:spPr bwMode="auto">
          <a:xfrm>
            <a:off x="950913" y="1807379"/>
            <a:ext cx="7709208" cy="3870868"/>
          </a:xfrm>
          <a:prstGeom prst="roundRect">
            <a:avLst>
              <a:gd name="adj" fmla="val 5134"/>
            </a:avLst>
          </a:prstGeom>
          <a:solidFill>
            <a:srgbClr val="B395D8">
              <a:alpha val="50000"/>
            </a:srgbClr>
          </a:solidFill>
          <a:ln w="28575" algn="ctr">
            <a:solidFill>
              <a:srgbClr val="333333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64107" name="AutoShape 235"/>
          <p:cNvSpPr>
            <a:spLocks noChangeArrowheads="1"/>
          </p:cNvSpPr>
          <p:nvPr/>
        </p:nvSpPr>
        <p:spPr bwMode="auto">
          <a:xfrm>
            <a:off x="5486400" y="1807379"/>
            <a:ext cx="2774141" cy="3870868"/>
          </a:xfrm>
          <a:prstGeom prst="roundRect">
            <a:avLst>
              <a:gd name="adj" fmla="val 5134"/>
            </a:avLst>
          </a:prstGeom>
          <a:solidFill>
            <a:srgbClr val="B395D8">
              <a:alpha val="50000"/>
            </a:srgbClr>
          </a:solidFill>
          <a:ln w="28575" algn="ctr">
            <a:solidFill>
              <a:srgbClr val="333333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grpSp>
        <p:nvGrpSpPr>
          <p:cNvPr id="464108" name="Group 236"/>
          <p:cNvGrpSpPr>
            <a:grpSpLocks/>
          </p:cNvGrpSpPr>
          <p:nvPr/>
        </p:nvGrpSpPr>
        <p:grpSpPr bwMode="auto">
          <a:xfrm>
            <a:off x="1006475" y="1967408"/>
            <a:ext cx="7322281" cy="3567964"/>
            <a:chOff x="634" y="1128"/>
            <a:chExt cx="4239" cy="1920"/>
          </a:xfrm>
        </p:grpSpPr>
        <p:sp>
          <p:nvSpPr>
            <p:cNvPr id="464109" name="Line 237"/>
            <p:cNvSpPr>
              <a:spLocks noChangeShapeType="1"/>
            </p:cNvSpPr>
            <p:nvPr/>
          </p:nvSpPr>
          <p:spPr bwMode="auto">
            <a:xfrm>
              <a:off x="2068" y="2087"/>
              <a:ext cx="1566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sp>
          <p:nvSpPr>
            <p:cNvPr id="464110" name="Oval 238"/>
            <p:cNvSpPr>
              <a:spLocks noChangeArrowheads="1"/>
            </p:cNvSpPr>
            <p:nvPr/>
          </p:nvSpPr>
          <p:spPr bwMode="auto">
            <a:xfrm>
              <a:off x="834" y="1662"/>
              <a:ext cx="1248" cy="842"/>
            </a:xfrm>
            <a:prstGeom prst="ellipse">
              <a:avLst/>
            </a:prstGeom>
            <a:gradFill rotWithShape="1">
              <a:gsLst>
                <a:gs pos="0">
                  <a:srgbClr val="EAABA0"/>
                </a:gs>
                <a:gs pos="100000">
                  <a:srgbClr val="F6D9D4"/>
                </a:gs>
              </a:gsLst>
              <a:lin ang="2700000" scaled="1"/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en-GB">
                  <a:solidFill>
                    <a:srgbClr val="000000"/>
                  </a:solidFill>
                </a:rPr>
                <a:t>Étendue A</a:t>
              </a:r>
              <a:endParaRPr lang="en-US">
                <a:solidFill>
                  <a:srgbClr val="000000"/>
                </a:solidFill>
              </a:endParaRPr>
            </a:p>
          </p:txBody>
        </p:sp>
        <p:pic>
          <p:nvPicPr>
            <p:cNvPr id="464111" name="Picture 239" descr="Computer_DesktopComputerSansKeyboard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727" y="1520"/>
              <a:ext cx="437" cy="532"/>
            </a:xfrm>
            <a:prstGeom prst="rect">
              <a:avLst/>
            </a:prstGeom>
            <a:noFill/>
          </p:spPr>
        </p:pic>
        <p:pic>
          <p:nvPicPr>
            <p:cNvPr id="464112" name="Picture 240" descr="Server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67" y="1392"/>
              <a:ext cx="436" cy="552"/>
            </a:xfrm>
            <a:prstGeom prst="rect">
              <a:avLst/>
            </a:prstGeom>
            <a:noFill/>
          </p:spPr>
        </p:pic>
        <p:pic>
          <p:nvPicPr>
            <p:cNvPr id="464113" name="Picture 241" descr="Rackmount_Rout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561" y="1889"/>
              <a:ext cx="619" cy="396"/>
            </a:xfrm>
            <a:prstGeom prst="rect">
              <a:avLst/>
            </a:prstGeom>
            <a:noFill/>
          </p:spPr>
        </p:pic>
        <p:sp>
          <p:nvSpPr>
            <p:cNvPr id="464114" name="Oval 242"/>
            <p:cNvSpPr>
              <a:spLocks noChangeArrowheads="1"/>
            </p:cNvSpPr>
            <p:nvPr/>
          </p:nvSpPr>
          <p:spPr bwMode="auto">
            <a:xfrm>
              <a:off x="3625" y="1662"/>
              <a:ext cx="1248" cy="842"/>
            </a:xfrm>
            <a:prstGeom prst="ellipse">
              <a:avLst/>
            </a:prstGeom>
            <a:gradFill rotWithShape="1">
              <a:gsLst>
                <a:gs pos="0">
                  <a:srgbClr val="EAABA0"/>
                </a:gs>
                <a:gs pos="100000">
                  <a:srgbClr val="F6D9D4"/>
                </a:gs>
              </a:gsLst>
              <a:lin ang="2700000" scaled="1"/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anchor="ctr"/>
            <a:lstStyle/>
            <a:p>
              <a:r>
                <a:rPr lang="en-GB">
                  <a:solidFill>
                    <a:srgbClr val="000000"/>
                  </a:solidFill>
                </a:rPr>
                <a:t>Étendue B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64115" name="AutoShape 243"/>
            <p:cNvSpPr>
              <a:spLocks noChangeArrowheads="1"/>
            </p:cNvSpPr>
            <p:nvPr/>
          </p:nvSpPr>
          <p:spPr bwMode="auto">
            <a:xfrm>
              <a:off x="988" y="2832"/>
              <a:ext cx="911" cy="21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dirty="0"/>
                <a:t>Windows 7</a:t>
              </a:r>
            </a:p>
          </p:txBody>
        </p:sp>
        <p:sp>
          <p:nvSpPr>
            <p:cNvPr id="464116" name="AutoShape 244"/>
            <p:cNvSpPr>
              <a:spLocks noChangeArrowheads="1"/>
            </p:cNvSpPr>
            <p:nvPr/>
          </p:nvSpPr>
          <p:spPr bwMode="auto">
            <a:xfrm>
              <a:off x="634" y="1128"/>
              <a:ext cx="950" cy="21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>
                  <a:solidFill>
                    <a:srgbClr val="000000"/>
                  </a:solidFill>
                </a:rPr>
                <a:t>Serveur DHCP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64117" name="AutoShape 245"/>
            <p:cNvSpPr>
              <a:spLocks noChangeArrowheads="1"/>
            </p:cNvSpPr>
            <p:nvPr/>
          </p:nvSpPr>
          <p:spPr bwMode="auto">
            <a:xfrm>
              <a:off x="1627" y="1257"/>
              <a:ext cx="840" cy="21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dirty="0"/>
                <a:t>Windows 10</a:t>
              </a:r>
            </a:p>
          </p:txBody>
        </p:sp>
        <p:pic>
          <p:nvPicPr>
            <p:cNvPr id="464118" name="Picture 246" descr="Computer_DesktopComputerSansKeyboard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25" y="2282"/>
              <a:ext cx="437" cy="532"/>
            </a:xfrm>
            <a:prstGeom prst="rect">
              <a:avLst/>
            </a:prstGeom>
            <a:noFill/>
          </p:spPr>
        </p:pic>
        <p:sp>
          <p:nvSpPr>
            <p:cNvPr id="464119" name="AutoShape 247"/>
            <p:cNvSpPr>
              <a:spLocks noChangeArrowheads="1"/>
            </p:cNvSpPr>
            <p:nvPr/>
          </p:nvSpPr>
          <p:spPr bwMode="auto">
            <a:xfrm>
              <a:off x="3803" y="2832"/>
              <a:ext cx="911" cy="21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dirty="0"/>
                <a:t>Windows 7</a:t>
              </a:r>
            </a:p>
          </p:txBody>
        </p:sp>
        <p:pic>
          <p:nvPicPr>
            <p:cNvPr id="464120" name="Picture 248" descr="Computer_DesktopComputerSansKeyboard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040" y="2282"/>
              <a:ext cx="437" cy="532"/>
            </a:xfrm>
            <a:prstGeom prst="rect">
              <a:avLst/>
            </a:prstGeom>
            <a:noFill/>
          </p:spPr>
        </p:pic>
        <p:sp>
          <p:nvSpPr>
            <p:cNvPr id="464121" name="AutoShape 249"/>
            <p:cNvSpPr>
              <a:spLocks noChangeArrowheads="1"/>
            </p:cNvSpPr>
            <p:nvPr/>
          </p:nvSpPr>
          <p:spPr bwMode="auto">
            <a:xfrm>
              <a:off x="2530" y="2345"/>
              <a:ext cx="691" cy="21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>
                  <a:solidFill>
                    <a:srgbClr val="000000"/>
                  </a:solidFill>
                </a:rPr>
                <a:t>Routeur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464122" name="AutoShape 250"/>
          <p:cNvSpPr>
            <a:spLocks noChangeArrowheads="1"/>
          </p:cNvSpPr>
          <p:nvPr/>
        </p:nvSpPr>
        <p:spPr bwMode="auto">
          <a:xfrm>
            <a:off x="6002338" y="2119086"/>
            <a:ext cx="2212748" cy="1731949"/>
          </a:xfrm>
          <a:prstGeom prst="roundRect">
            <a:avLst>
              <a:gd name="adj" fmla="val 5134"/>
            </a:avLst>
          </a:prstGeom>
          <a:solidFill>
            <a:srgbClr val="B395D8">
              <a:alpha val="50000"/>
            </a:srgbClr>
          </a:solidFill>
          <a:ln w="28575" algn="ctr">
            <a:solidFill>
              <a:srgbClr val="333333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grpSp>
        <p:nvGrpSpPr>
          <p:cNvPr id="464123" name="Group 251"/>
          <p:cNvGrpSpPr>
            <a:grpSpLocks/>
          </p:cNvGrpSpPr>
          <p:nvPr/>
        </p:nvGrpSpPr>
        <p:grpSpPr bwMode="auto">
          <a:xfrm>
            <a:off x="6359525" y="2212543"/>
            <a:ext cx="1511441" cy="1635317"/>
            <a:chOff x="4006" y="1105"/>
            <a:chExt cx="875" cy="880"/>
          </a:xfrm>
        </p:grpSpPr>
        <p:pic>
          <p:nvPicPr>
            <p:cNvPr id="464124" name="Picture 252" descr="Server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216" y="1433"/>
              <a:ext cx="436" cy="552"/>
            </a:xfrm>
            <a:prstGeom prst="rect">
              <a:avLst/>
            </a:prstGeom>
            <a:noFill/>
          </p:spPr>
        </p:pic>
        <p:sp>
          <p:nvSpPr>
            <p:cNvPr id="464125" name="AutoShape 253"/>
            <p:cNvSpPr>
              <a:spLocks noChangeArrowheads="1"/>
            </p:cNvSpPr>
            <p:nvPr/>
          </p:nvSpPr>
          <p:spPr bwMode="auto">
            <a:xfrm>
              <a:off x="4006" y="1105"/>
              <a:ext cx="875" cy="49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/>
                <a:t>Serveur de fichiers et d'impression</a:t>
              </a:r>
            </a:p>
          </p:txBody>
        </p:sp>
      </p:grpSp>
      <p:grpSp>
        <p:nvGrpSpPr>
          <p:cNvPr id="464126" name="Group 254"/>
          <p:cNvGrpSpPr>
            <a:grpSpLocks/>
          </p:cNvGrpSpPr>
          <p:nvPr/>
        </p:nvGrpSpPr>
        <p:grpSpPr bwMode="auto">
          <a:xfrm>
            <a:off x="254000" y="1458671"/>
            <a:ext cx="8519886" cy="4238170"/>
            <a:chOff x="544" y="803"/>
            <a:chExt cx="4584" cy="2244"/>
          </a:xfrm>
        </p:grpSpPr>
        <p:sp>
          <p:nvSpPr>
            <p:cNvPr id="464127" name="AutoShape 255"/>
            <p:cNvSpPr>
              <a:spLocks noChangeArrowheads="1"/>
            </p:cNvSpPr>
            <p:nvPr/>
          </p:nvSpPr>
          <p:spPr bwMode="auto">
            <a:xfrm>
              <a:off x="578" y="803"/>
              <a:ext cx="4550" cy="2244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grpSp>
          <p:nvGrpSpPr>
            <p:cNvPr id="464128" name="Group 256"/>
            <p:cNvGrpSpPr>
              <a:grpSpLocks/>
            </p:cNvGrpSpPr>
            <p:nvPr/>
          </p:nvGrpSpPr>
          <p:grpSpPr bwMode="auto">
            <a:xfrm>
              <a:off x="544" y="1114"/>
              <a:ext cx="4328" cy="1933"/>
              <a:chOff x="544" y="1114"/>
              <a:chExt cx="4328" cy="1933"/>
            </a:xfrm>
          </p:grpSpPr>
          <p:sp>
            <p:nvSpPr>
              <p:cNvPr id="464129" name="Line 257"/>
              <p:cNvSpPr>
                <a:spLocks noChangeShapeType="1"/>
              </p:cNvSpPr>
              <p:nvPr/>
            </p:nvSpPr>
            <p:spPr bwMode="auto">
              <a:xfrm>
                <a:off x="2067" y="2088"/>
                <a:ext cx="1566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BE"/>
              </a:p>
            </p:txBody>
          </p:sp>
          <p:sp>
            <p:nvSpPr>
              <p:cNvPr id="464130" name="Oval 258"/>
              <p:cNvSpPr>
                <a:spLocks noChangeArrowheads="1"/>
              </p:cNvSpPr>
              <p:nvPr/>
            </p:nvSpPr>
            <p:spPr bwMode="auto">
              <a:xfrm>
                <a:off x="834" y="1661"/>
                <a:ext cx="1248" cy="842"/>
              </a:xfrm>
              <a:prstGeom prst="ellipse">
                <a:avLst/>
              </a:prstGeom>
              <a:gradFill rotWithShape="1">
                <a:gsLst>
                  <a:gs pos="0">
                    <a:srgbClr val="EAABA0"/>
                  </a:gs>
                  <a:gs pos="100000">
                    <a:srgbClr val="F6D9D4"/>
                  </a:gs>
                </a:gsLst>
                <a:lin ang="2700000" scaled="1"/>
              </a:gra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en-GB">
                    <a:solidFill>
                      <a:srgbClr val="000000"/>
                    </a:solidFill>
                  </a:rPr>
                  <a:t>Étendue A</a:t>
                </a:r>
                <a:endParaRPr lang="en-US">
                  <a:solidFill>
                    <a:srgbClr val="000000"/>
                  </a:solidFill>
                </a:endParaRPr>
              </a:p>
            </p:txBody>
          </p:sp>
          <p:pic>
            <p:nvPicPr>
              <p:cNvPr id="464131" name="Picture 259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727" y="1518"/>
                <a:ext cx="437" cy="532"/>
              </a:xfrm>
              <a:prstGeom prst="rect">
                <a:avLst/>
              </a:prstGeom>
              <a:noFill/>
            </p:spPr>
          </p:pic>
          <p:pic>
            <p:nvPicPr>
              <p:cNvPr id="464132" name="Picture 260" descr="Server0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865" y="1393"/>
                <a:ext cx="436" cy="552"/>
              </a:xfrm>
              <a:prstGeom prst="rect">
                <a:avLst/>
              </a:prstGeom>
              <a:noFill/>
            </p:spPr>
          </p:pic>
          <p:pic>
            <p:nvPicPr>
              <p:cNvPr id="464133" name="Picture 261" descr="Rackmount_Rout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2561" y="1888"/>
                <a:ext cx="619" cy="396"/>
              </a:xfrm>
              <a:prstGeom prst="rect">
                <a:avLst/>
              </a:prstGeom>
              <a:noFill/>
            </p:spPr>
          </p:pic>
          <p:sp>
            <p:nvSpPr>
              <p:cNvPr id="464134" name="Oval 262"/>
              <p:cNvSpPr>
                <a:spLocks noChangeArrowheads="1"/>
              </p:cNvSpPr>
              <p:nvPr/>
            </p:nvSpPr>
            <p:spPr bwMode="auto">
              <a:xfrm>
                <a:off x="3624" y="1661"/>
                <a:ext cx="1248" cy="842"/>
              </a:xfrm>
              <a:prstGeom prst="ellipse">
                <a:avLst/>
              </a:prstGeom>
              <a:gradFill rotWithShape="1">
                <a:gsLst>
                  <a:gs pos="0">
                    <a:srgbClr val="EAABA0"/>
                  </a:gs>
                  <a:gs pos="100000">
                    <a:srgbClr val="F6D9D4"/>
                  </a:gs>
                </a:gsLst>
                <a:lin ang="2700000" scaled="1"/>
              </a:gra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C0C0C0"/>
                </a:outerShdw>
              </a:effectLst>
            </p:spPr>
            <p:txBody>
              <a:bodyPr anchor="ctr"/>
              <a:lstStyle/>
              <a:p>
                <a:r>
                  <a:rPr lang="en-GB">
                    <a:solidFill>
                      <a:srgbClr val="000000"/>
                    </a:solidFill>
                  </a:rPr>
                  <a:t>Étendue B</a:t>
                </a: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64135" name="AutoShape 263"/>
              <p:cNvSpPr>
                <a:spLocks noChangeArrowheads="1"/>
              </p:cNvSpPr>
              <p:nvPr/>
            </p:nvSpPr>
            <p:spPr bwMode="auto">
              <a:xfrm>
                <a:off x="854" y="2781"/>
                <a:ext cx="1064" cy="26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2200" dirty="0"/>
                  <a:t>Windows 7</a:t>
                </a:r>
              </a:p>
            </p:txBody>
          </p:sp>
          <p:sp>
            <p:nvSpPr>
              <p:cNvPr id="464136" name="AutoShape 264"/>
              <p:cNvSpPr>
                <a:spLocks noChangeArrowheads="1"/>
              </p:cNvSpPr>
              <p:nvPr/>
            </p:nvSpPr>
            <p:spPr bwMode="auto">
              <a:xfrm>
                <a:off x="544" y="1114"/>
                <a:ext cx="1109" cy="26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GB" sz="2200" dirty="0" err="1">
                    <a:solidFill>
                      <a:srgbClr val="000000"/>
                    </a:solidFill>
                  </a:rPr>
                  <a:t>Serveur</a:t>
                </a:r>
                <a:r>
                  <a:rPr lang="en-GB" sz="2200" dirty="0">
                    <a:solidFill>
                      <a:srgbClr val="000000"/>
                    </a:solidFill>
                  </a:rPr>
                  <a:t> DHCP</a:t>
                </a:r>
                <a:endParaRPr lang="en-US" sz="22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4137" name="AutoShape 265"/>
              <p:cNvSpPr>
                <a:spLocks noChangeArrowheads="1"/>
              </p:cNvSpPr>
              <p:nvPr/>
            </p:nvSpPr>
            <p:spPr bwMode="auto">
              <a:xfrm>
                <a:off x="1627" y="1266"/>
                <a:ext cx="981" cy="26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2200" dirty="0"/>
                  <a:t>Windows 10</a:t>
                </a:r>
              </a:p>
            </p:txBody>
          </p:sp>
          <p:pic>
            <p:nvPicPr>
              <p:cNvPr id="464138" name="Picture 266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224" y="2283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464139" name="AutoShape 267"/>
              <p:cNvSpPr>
                <a:spLocks noChangeArrowheads="1"/>
              </p:cNvSpPr>
              <p:nvPr/>
            </p:nvSpPr>
            <p:spPr bwMode="auto">
              <a:xfrm>
                <a:off x="3805" y="2781"/>
                <a:ext cx="1064" cy="26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2200" dirty="0"/>
                  <a:t>Windows 7</a:t>
                </a:r>
              </a:p>
            </p:txBody>
          </p:sp>
          <p:pic>
            <p:nvPicPr>
              <p:cNvPr id="464140" name="Picture 268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039" y="2283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464141" name="AutoShape 269"/>
              <p:cNvSpPr>
                <a:spLocks noChangeArrowheads="1"/>
              </p:cNvSpPr>
              <p:nvPr/>
            </p:nvSpPr>
            <p:spPr bwMode="auto">
              <a:xfrm>
                <a:off x="2529" y="2294"/>
                <a:ext cx="808" cy="26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GB" sz="2200">
                    <a:solidFill>
                      <a:srgbClr val="000000"/>
                    </a:solidFill>
                  </a:rPr>
                  <a:t>Routeur</a:t>
                </a:r>
                <a:endParaRPr lang="en-US" sz="220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464142" name="Picture 270" descr="Server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772" y="1345"/>
              <a:ext cx="436" cy="552"/>
            </a:xfrm>
            <a:prstGeom prst="rect">
              <a:avLst/>
            </a:prstGeom>
            <a:noFill/>
          </p:spPr>
        </p:pic>
        <p:sp>
          <p:nvSpPr>
            <p:cNvPr id="464143" name="AutoShape 271"/>
            <p:cNvSpPr>
              <a:spLocks noChangeArrowheads="1"/>
            </p:cNvSpPr>
            <p:nvPr/>
          </p:nvSpPr>
          <p:spPr bwMode="auto">
            <a:xfrm>
              <a:off x="3982" y="838"/>
              <a:ext cx="1021" cy="605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 sz="2200"/>
                <a:t>Serveur de fichiers et d'impression</a:t>
              </a:r>
            </a:p>
          </p:txBody>
        </p:sp>
      </p:grpSp>
      <p:grpSp>
        <p:nvGrpSpPr>
          <p:cNvPr id="464144" name="Group 272"/>
          <p:cNvGrpSpPr>
            <a:grpSpLocks/>
          </p:cNvGrpSpPr>
          <p:nvPr/>
        </p:nvGrpSpPr>
        <p:grpSpPr bwMode="auto">
          <a:xfrm>
            <a:off x="0" y="6196693"/>
            <a:ext cx="914400" cy="425450"/>
            <a:chOff x="384" y="3024"/>
            <a:chExt cx="720" cy="336"/>
          </a:xfrm>
        </p:grpSpPr>
        <p:sp>
          <p:nvSpPr>
            <p:cNvPr id="464145" name="Oval 273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464146" name="Group 274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464147" name="Oval 275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464148" name="Freeform 276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464149" name="Group 277"/>
          <p:cNvGrpSpPr>
            <a:grpSpLocks/>
          </p:cNvGrpSpPr>
          <p:nvPr/>
        </p:nvGrpSpPr>
        <p:grpSpPr bwMode="auto">
          <a:xfrm>
            <a:off x="487363" y="6287181"/>
            <a:ext cx="304800" cy="244475"/>
            <a:chOff x="768" y="3096"/>
            <a:chExt cx="240" cy="192"/>
          </a:xfrm>
        </p:grpSpPr>
        <p:sp>
          <p:nvSpPr>
            <p:cNvPr id="464150" name="Oval 278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64151" name="Rectangle 279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64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464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6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6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464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464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6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6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6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103" grpId="0" animBg="1"/>
      <p:bldP spid="464103" grpId="1" animBg="1"/>
      <p:bldP spid="464104" grpId="0" animBg="1"/>
      <p:bldP spid="464104" grpId="1" animBg="1"/>
      <p:bldP spid="464105" grpId="0" animBg="1"/>
      <p:bldP spid="464106" grpId="0" animBg="1"/>
      <p:bldP spid="464106" grpId="1" animBg="1"/>
      <p:bldP spid="464107" grpId="0" animBg="1"/>
      <p:bldP spid="464107" grpId="1" animBg="1"/>
      <p:bldP spid="4641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72725" y="344715"/>
            <a:ext cx="8534400" cy="758952"/>
          </a:xfrm>
        </p:spPr>
        <p:txBody>
          <a:bodyPr vert="horz" anchor="b">
            <a:noAutofit/>
          </a:bodyPr>
          <a:lstStyle/>
          <a:p>
            <a:pPr fontAlgn="base"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Comment sont appliquées les options au niveau de la classe DHCP? 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516217" name="AutoShape 121"/>
          <p:cNvSpPr>
            <a:spLocks noChangeArrowheads="1"/>
          </p:cNvSpPr>
          <p:nvPr/>
        </p:nvSpPr>
        <p:spPr bwMode="auto">
          <a:xfrm>
            <a:off x="333829" y="1524000"/>
            <a:ext cx="8389257" cy="5199507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516218" name="AutoShape 12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70200" y="5471358"/>
            <a:ext cx="3893457" cy="108704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800" dirty="0">
                <a:solidFill>
                  <a:srgbClr val="000000"/>
                </a:solidFill>
              </a:rPr>
              <a:t>Option DHCP </a:t>
            </a:r>
            <a:r>
              <a:rPr lang="en-GB" sz="2800" dirty="0" err="1">
                <a:solidFill>
                  <a:srgbClr val="000000"/>
                </a:solidFill>
              </a:rPr>
              <a:t>appliquée</a:t>
            </a:r>
            <a:r>
              <a:rPr lang="en-GB" sz="2800" dirty="0">
                <a:solidFill>
                  <a:srgbClr val="000000"/>
                </a:solidFill>
              </a:rPr>
              <a:t> au </a:t>
            </a:r>
            <a:r>
              <a:rPr lang="en-GB" sz="2800" i="1" dirty="0" err="1">
                <a:solidFill>
                  <a:srgbClr val="000000"/>
                </a:solidFill>
              </a:rPr>
              <a:t>niveau</a:t>
            </a:r>
            <a:r>
              <a:rPr lang="en-GB" sz="2800" i="1" dirty="0">
                <a:solidFill>
                  <a:srgbClr val="000000"/>
                </a:solidFill>
              </a:rPr>
              <a:t> de la </a:t>
            </a:r>
            <a:r>
              <a:rPr lang="en-GB" sz="2800" i="1" dirty="0" err="1">
                <a:solidFill>
                  <a:srgbClr val="000000"/>
                </a:solidFill>
              </a:rPr>
              <a:t>classe</a:t>
            </a:r>
            <a:endParaRPr lang="en-US" sz="2800" i="1" dirty="0">
              <a:solidFill>
                <a:srgbClr val="000000"/>
              </a:solidFill>
            </a:endParaRPr>
          </a:p>
        </p:txBody>
      </p:sp>
      <p:sp>
        <p:nvSpPr>
          <p:cNvPr id="516219" name="Line 123"/>
          <p:cNvSpPr>
            <a:spLocks noChangeShapeType="1"/>
          </p:cNvSpPr>
          <p:nvPr/>
        </p:nvSpPr>
        <p:spPr bwMode="auto">
          <a:xfrm flipV="1">
            <a:off x="3225800" y="3750117"/>
            <a:ext cx="2824068" cy="45719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516220" name="Oval 12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23975" y="2738293"/>
            <a:ext cx="2250598" cy="1773826"/>
          </a:xfrm>
          <a:prstGeom prst="ellipse">
            <a:avLst/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r>
              <a:rPr lang="en-GB">
                <a:solidFill>
                  <a:srgbClr val="000000"/>
                </a:solidFill>
              </a:rPr>
              <a:t>Étendue A</a:t>
            </a:r>
            <a:endParaRPr lang="en-US"/>
          </a:p>
        </p:txBody>
      </p:sp>
      <p:pic>
        <p:nvPicPr>
          <p:cNvPr id="516221" name="Picture 125" descr="Computer_DesktopComputerSansKeyboard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684463" y="2682619"/>
            <a:ext cx="796326" cy="969074"/>
          </a:xfrm>
          <a:prstGeom prst="rect">
            <a:avLst/>
          </a:prstGeom>
          <a:noFill/>
        </p:spPr>
      </p:pic>
      <p:pic>
        <p:nvPicPr>
          <p:cNvPr id="516222" name="Picture 126" descr="Server01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376362" y="2460230"/>
            <a:ext cx="918513" cy="1162888"/>
          </a:xfrm>
          <a:prstGeom prst="rect">
            <a:avLst/>
          </a:prstGeom>
          <a:noFill/>
        </p:spPr>
      </p:pic>
      <p:sp>
        <p:nvSpPr>
          <p:cNvPr id="516224" name="Oval 12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36978" y="2738293"/>
            <a:ext cx="2250598" cy="1773826"/>
          </a:xfrm>
          <a:prstGeom prst="ellipse">
            <a:avLst/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r>
              <a:rPr lang="en-GB" dirty="0" err="1">
                <a:solidFill>
                  <a:srgbClr val="000000"/>
                </a:solidFill>
              </a:rPr>
              <a:t>Étendue</a:t>
            </a:r>
            <a:r>
              <a:rPr lang="en-GB" dirty="0">
                <a:solidFill>
                  <a:srgbClr val="000000"/>
                </a:solidFill>
              </a:rPr>
              <a:t> B</a:t>
            </a:r>
            <a:endParaRPr lang="en-US" dirty="0"/>
          </a:p>
        </p:txBody>
      </p:sp>
      <p:sp>
        <p:nvSpPr>
          <p:cNvPr id="516225" name="AutoShape 12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43429" y="2215576"/>
            <a:ext cx="1779417" cy="353454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>
                <a:solidFill>
                  <a:srgbClr val="000000"/>
                </a:solidFill>
              </a:rPr>
              <a:t>Serveur DHCP</a:t>
            </a:r>
            <a:endParaRPr lang="en-US" sz="2200"/>
          </a:p>
        </p:txBody>
      </p:sp>
      <p:sp>
        <p:nvSpPr>
          <p:cNvPr id="516226" name="AutoShape 13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82863" y="2492936"/>
            <a:ext cx="1514826" cy="279294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 dirty="0">
                <a:solidFill>
                  <a:srgbClr val="000000"/>
                </a:solidFill>
              </a:rPr>
              <a:t>Windows 10</a:t>
            </a:r>
            <a:endParaRPr lang="en-US" sz="2200" dirty="0"/>
          </a:p>
        </p:txBody>
      </p:sp>
      <p:sp>
        <p:nvSpPr>
          <p:cNvPr id="516231" name="AutoShape 135"/>
          <p:cNvSpPr>
            <a:spLocks noChangeArrowheads="1"/>
          </p:cNvSpPr>
          <p:nvPr/>
        </p:nvSpPr>
        <p:spPr bwMode="auto">
          <a:xfrm>
            <a:off x="1377950" y="3744768"/>
            <a:ext cx="7152141" cy="1773826"/>
          </a:xfrm>
          <a:prstGeom prst="roundRect">
            <a:avLst>
              <a:gd name="adj" fmla="val 5134"/>
            </a:avLst>
          </a:prstGeom>
          <a:solidFill>
            <a:srgbClr val="B395D8">
              <a:alpha val="50000"/>
            </a:srgbClr>
          </a:solidFill>
          <a:ln w="28575" algn="ctr">
            <a:solidFill>
              <a:srgbClr val="333333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516232" name="AutoShape 13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68450" y="4920676"/>
            <a:ext cx="1642865" cy="30446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 dirty="0">
                <a:solidFill>
                  <a:srgbClr val="000000"/>
                </a:solidFill>
              </a:rPr>
              <a:t>Windows 7</a:t>
            </a:r>
            <a:endParaRPr lang="en-US" sz="2200" dirty="0"/>
          </a:p>
        </p:txBody>
      </p:sp>
      <p:pic>
        <p:nvPicPr>
          <p:cNvPr id="516233" name="Picture 137" descr="Computer_DesktopComputerSansKeyboard01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944688" y="3883488"/>
            <a:ext cx="920620" cy="1120755"/>
          </a:xfrm>
          <a:prstGeom prst="rect">
            <a:avLst/>
          </a:prstGeom>
          <a:noFill/>
        </p:spPr>
      </p:pic>
      <p:sp>
        <p:nvSpPr>
          <p:cNvPr id="516234" name="AutoShape 13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37263" y="4920676"/>
            <a:ext cx="1642864" cy="30446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 dirty="0">
                <a:solidFill>
                  <a:srgbClr val="000000"/>
                </a:solidFill>
              </a:rPr>
              <a:t>Windows 7</a:t>
            </a:r>
            <a:endParaRPr lang="en-US" sz="2200" dirty="0"/>
          </a:p>
        </p:txBody>
      </p:sp>
      <p:pic>
        <p:nvPicPr>
          <p:cNvPr id="516235" name="Picture 139" descr="Computer_DesktopComputerSansKeyboard01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413499" y="3883488"/>
            <a:ext cx="920621" cy="1120755"/>
          </a:xfrm>
          <a:prstGeom prst="rect">
            <a:avLst/>
          </a:prstGeom>
          <a:noFill/>
        </p:spPr>
      </p:pic>
      <p:pic>
        <p:nvPicPr>
          <p:cNvPr id="516236" name="Picture 140" descr="Rackmount_Router01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951162" y="3559839"/>
            <a:ext cx="943793" cy="604618"/>
          </a:xfrm>
          <a:prstGeom prst="rect">
            <a:avLst/>
          </a:prstGeom>
          <a:noFill/>
        </p:spPr>
      </p:pic>
      <p:sp>
        <p:nvSpPr>
          <p:cNvPr id="516237" name="AutoShape 14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430588" y="3233163"/>
            <a:ext cx="1172186" cy="322837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>
                <a:solidFill>
                  <a:srgbClr val="000000"/>
                </a:solidFill>
              </a:rPr>
              <a:t>Routeur</a:t>
            </a:r>
            <a:endParaRPr lang="en-US" sz="2200"/>
          </a:p>
        </p:txBody>
      </p:sp>
      <p:pic>
        <p:nvPicPr>
          <p:cNvPr id="516238" name="Picture 142" descr="Rackmount_Router01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346699" y="3540789"/>
            <a:ext cx="943793" cy="604618"/>
          </a:xfrm>
          <a:prstGeom prst="rect">
            <a:avLst/>
          </a:prstGeom>
          <a:noFill/>
        </p:spPr>
      </p:pic>
      <p:sp>
        <p:nvSpPr>
          <p:cNvPr id="516239" name="AutoShape 14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687888" y="3228401"/>
            <a:ext cx="1155956" cy="31308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2200">
                <a:solidFill>
                  <a:srgbClr val="000000"/>
                </a:solidFill>
              </a:rPr>
              <a:t>Routeur</a:t>
            </a:r>
            <a:endParaRPr lang="en-US" sz="2200"/>
          </a:p>
        </p:txBody>
      </p:sp>
      <p:pic>
        <p:nvPicPr>
          <p:cNvPr id="516298" name="Picture 202" descr="Server01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968665" y="2438234"/>
            <a:ext cx="918513" cy="1162888"/>
          </a:xfrm>
          <a:prstGeom prst="rect">
            <a:avLst/>
          </a:prstGeom>
          <a:noFill/>
        </p:spPr>
      </p:pic>
      <p:sp>
        <p:nvSpPr>
          <p:cNvPr id="516299" name="AutoShape 20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69511" y="1451438"/>
            <a:ext cx="1760083" cy="943429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200">
                <a:solidFill>
                  <a:srgbClr val="000000"/>
                </a:solidFill>
              </a:rPr>
              <a:t>Serveur de fichiers et d'impression</a:t>
            </a:r>
            <a:endParaRPr lang="en-US" sz="2200"/>
          </a:p>
        </p:txBody>
      </p:sp>
      <p:grpSp>
        <p:nvGrpSpPr>
          <p:cNvPr id="516301" name="Group 205"/>
          <p:cNvGrpSpPr>
            <a:grpSpLocks/>
          </p:cNvGrpSpPr>
          <p:nvPr/>
        </p:nvGrpSpPr>
        <p:grpSpPr bwMode="auto">
          <a:xfrm>
            <a:off x="0" y="6225722"/>
            <a:ext cx="914400" cy="425450"/>
            <a:chOff x="384" y="3024"/>
            <a:chExt cx="720" cy="336"/>
          </a:xfrm>
        </p:grpSpPr>
        <p:sp>
          <p:nvSpPr>
            <p:cNvPr id="516302" name="Oval 206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516303" name="Group 207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516304" name="Oval 208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516305" name="Freeform 209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516306" name="Group 210"/>
          <p:cNvGrpSpPr>
            <a:grpSpLocks/>
          </p:cNvGrpSpPr>
          <p:nvPr/>
        </p:nvGrpSpPr>
        <p:grpSpPr bwMode="auto">
          <a:xfrm>
            <a:off x="487363" y="6316210"/>
            <a:ext cx="304800" cy="244475"/>
            <a:chOff x="768" y="3096"/>
            <a:chExt cx="240" cy="192"/>
          </a:xfrm>
        </p:grpSpPr>
        <p:sp>
          <p:nvSpPr>
            <p:cNvPr id="516307" name="Oval 211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516308" name="Rectangle 212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218" grpId="1" animBg="1"/>
      <p:bldP spid="5162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548359-89D5-0B29-0D76-7736F4E7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 anchor="b">
            <a:normAutofit/>
          </a:bodyPr>
          <a:lstStyle/>
          <a:p>
            <a:r>
              <a:rPr lang="fr-FR" dirty="0"/>
              <a:t>Exercice</a:t>
            </a:r>
          </a:p>
        </p:txBody>
      </p:sp>
      <p:pic>
        <p:nvPicPr>
          <p:cNvPr id="5" name="Image 4" descr="Une image contenant capture d’écran, texte, diagramme, conception&#10;&#10;Description générée automatiquement">
            <a:extLst>
              <a:ext uri="{FF2B5EF4-FFF2-40B4-BE49-F238E27FC236}">
                <a16:creationId xmlns:a16="http://schemas.microsoft.com/office/drawing/2014/main" id="{9D945B99-797C-3E2D-9E02-6C554997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1288"/>
            <a:ext cx="9116762" cy="38974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158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56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279321" y="2679247"/>
            <a:ext cx="2486025" cy="0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26" name="Oval 5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20346" y="2133147"/>
            <a:ext cx="1981200" cy="13366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Sous-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réseau A</a:t>
            </a:r>
            <a:endParaRPr lang="en-US"/>
          </a:p>
        </p:txBody>
      </p:sp>
      <p:pic>
        <p:nvPicPr>
          <p:cNvPr id="27" name="Picture 59" descr="Computer_DesktopComputerSansKeyboard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285421" y="1934710"/>
            <a:ext cx="693738" cy="844550"/>
          </a:xfrm>
          <a:prstGeom prst="rect">
            <a:avLst/>
          </a:prstGeom>
          <a:noFill/>
        </p:spPr>
      </p:pic>
      <p:pic>
        <p:nvPicPr>
          <p:cNvPr id="28" name="Picture 60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2768146" y="2795135"/>
            <a:ext cx="692150" cy="876300"/>
          </a:xfrm>
          <a:prstGeom prst="rect">
            <a:avLst/>
          </a:prstGeom>
          <a:noFill/>
        </p:spPr>
      </p:pic>
      <p:pic>
        <p:nvPicPr>
          <p:cNvPr id="29" name="Picture 61" descr="Rackmount_Router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106284" y="2317297"/>
            <a:ext cx="722312" cy="461963"/>
          </a:xfrm>
          <a:prstGeom prst="rect">
            <a:avLst/>
          </a:prstGeom>
          <a:noFill/>
        </p:spPr>
      </p:pic>
      <p:sp>
        <p:nvSpPr>
          <p:cNvPr id="30" name="Oval 6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51059" y="2133147"/>
            <a:ext cx="1981200" cy="13366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r>
              <a:rPr lang="en-GB">
                <a:solidFill>
                  <a:srgbClr val="000000"/>
                </a:solidFill>
              </a:rPr>
              <a:t>Sous-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réseau B</a:t>
            </a:r>
            <a:endParaRPr lang="en-US"/>
          </a:p>
        </p:txBody>
      </p:sp>
      <p:pic>
        <p:nvPicPr>
          <p:cNvPr id="31" name="Picture 63" descr="Computer_DesktopComputerSansKeyboard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5628821" y="2939597"/>
            <a:ext cx="693738" cy="844550"/>
          </a:xfrm>
          <a:prstGeom prst="rect">
            <a:avLst/>
          </a:prstGeom>
          <a:noFill/>
        </p:spPr>
      </p:pic>
      <p:pic>
        <p:nvPicPr>
          <p:cNvPr id="32" name="Picture 64" descr="Server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155996" y="1834697"/>
            <a:ext cx="692150" cy="876300"/>
          </a:xfrm>
          <a:prstGeom prst="rect">
            <a:avLst/>
          </a:prstGeom>
          <a:noFill/>
        </p:spPr>
      </p:pic>
      <p:sp>
        <p:nvSpPr>
          <p:cNvPr id="33" name="AutoShape 6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975984" y="1696585"/>
            <a:ext cx="1852611" cy="41116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dirty="0">
                <a:solidFill>
                  <a:srgbClr val="000000"/>
                </a:solidFill>
              </a:rPr>
              <a:t>Machine </a:t>
            </a:r>
            <a:r>
              <a:rPr lang="fr-FR" dirty="0">
                <a:solidFill>
                  <a:srgbClr val="000000"/>
                </a:solidFill>
              </a:rPr>
              <a:t>Cliente</a:t>
            </a:r>
            <a:r>
              <a:rPr lang="en-GB" dirty="0">
                <a:solidFill>
                  <a:srgbClr val="000000"/>
                </a:solidFill>
              </a:rPr>
              <a:t> 1</a:t>
            </a:r>
            <a:endParaRPr lang="en-US" dirty="0"/>
          </a:p>
        </p:txBody>
      </p:sp>
      <p:sp>
        <p:nvSpPr>
          <p:cNvPr id="34" name="AutoShape 6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98084" y="3576185"/>
            <a:ext cx="1746250" cy="3429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>
                <a:solidFill>
                  <a:srgbClr val="000000"/>
                </a:solidFill>
              </a:rPr>
              <a:t>Serveur DHCP</a:t>
            </a:r>
            <a:endParaRPr lang="en-US"/>
          </a:p>
        </p:txBody>
      </p:sp>
      <p:sp>
        <p:nvSpPr>
          <p:cNvPr id="35" name="AutoShape 6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263822" y="3719060"/>
            <a:ext cx="1882094" cy="377824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dirty="0">
                <a:solidFill>
                  <a:srgbClr val="000000"/>
                </a:solidFill>
              </a:rPr>
              <a:t>Machine </a:t>
            </a:r>
            <a:r>
              <a:rPr lang="fr-FR" dirty="0">
                <a:solidFill>
                  <a:srgbClr val="000000"/>
                </a:solidFill>
              </a:rPr>
              <a:t>Cliente</a:t>
            </a:r>
            <a:r>
              <a:rPr lang="en-GB" dirty="0">
                <a:solidFill>
                  <a:srgbClr val="000000"/>
                </a:solidFill>
              </a:rPr>
              <a:t> 2</a:t>
            </a:r>
            <a:endParaRPr lang="en-US" dirty="0"/>
          </a:p>
        </p:txBody>
      </p:sp>
      <p:sp>
        <p:nvSpPr>
          <p:cNvPr id="36" name="AutoShape 6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419271" y="1531485"/>
            <a:ext cx="1660525" cy="78105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>
                <a:solidFill>
                  <a:srgbClr val="000000"/>
                </a:solidFill>
              </a:rPr>
              <a:t>Serveur de fichiers et d'impression</a:t>
            </a:r>
            <a:endParaRPr lang="en-US"/>
          </a:p>
        </p:txBody>
      </p:sp>
      <p:sp>
        <p:nvSpPr>
          <p:cNvPr id="37" name="AutoShape 6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64456" y="4330475"/>
            <a:ext cx="8316686" cy="1707469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/>
            <a:r>
              <a:rPr lang="en-GB" sz="2400" dirty="0">
                <a:solidFill>
                  <a:srgbClr val="000000"/>
                </a:solidFill>
              </a:rPr>
              <a:t>Adresse1 IP :</a:t>
            </a:r>
            <a:r>
              <a:rPr lang="en-US" sz="2400" dirty="0"/>
              <a:t> </a:t>
            </a:r>
            <a:r>
              <a:rPr lang="en-GB" sz="2400" dirty="0" err="1">
                <a:solidFill>
                  <a:srgbClr val="000000"/>
                </a:solidFill>
              </a:rPr>
              <a:t>Louée</a:t>
            </a:r>
            <a:r>
              <a:rPr lang="en-GB" sz="2400" dirty="0">
                <a:solidFill>
                  <a:srgbClr val="000000"/>
                </a:solidFill>
              </a:rPr>
              <a:t> à la machine </a:t>
            </a:r>
            <a:r>
              <a:rPr lang="fr-FR" sz="2400" dirty="0">
                <a:solidFill>
                  <a:srgbClr val="000000"/>
                </a:solidFill>
              </a:rPr>
              <a:t>cliente</a:t>
            </a:r>
            <a:r>
              <a:rPr lang="en-GB" sz="2400" dirty="0">
                <a:solidFill>
                  <a:srgbClr val="000000"/>
                </a:solidFill>
              </a:rPr>
              <a:t> 1</a:t>
            </a:r>
            <a:endParaRPr lang="en-US" sz="2400" dirty="0"/>
          </a:p>
          <a:p>
            <a:pPr algn="l"/>
            <a:r>
              <a:rPr lang="en-GB" sz="2400" dirty="0">
                <a:solidFill>
                  <a:srgbClr val="000000"/>
                </a:solidFill>
              </a:rPr>
              <a:t>Adresse2 IP :</a:t>
            </a:r>
            <a:r>
              <a:rPr lang="en-US" sz="2400" dirty="0"/>
              <a:t> </a:t>
            </a:r>
            <a:r>
              <a:rPr lang="en-GB" sz="2400" dirty="0" err="1">
                <a:solidFill>
                  <a:srgbClr val="000000"/>
                </a:solidFill>
              </a:rPr>
              <a:t>Louée</a:t>
            </a:r>
            <a:r>
              <a:rPr lang="en-GB" sz="2400" dirty="0">
                <a:solidFill>
                  <a:srgbClr val="000000"/>
                </a:solidFill>
              </a:rPr>
              <a:t> à la machine </a:t>
            </a:r>
            <a:r>
              <a:rPr lang="fr-FR" sz="2400" dirty="0">
                <a:solidFill>
                  <a:srgbClr val="000000"/>
                </a:solidFill>
              </a:rPr>
              <a:t>cliente</a:t>
            </a:r>
            <a:r>
              <a:rPr lang="en-GB" sz="2400" dirty="0">
                <a:solidFill>
                  <a:srgbClr val="000000"/>
                </a:solidFill>
              </a:rPr>
              <a:t> 2</a:t>
            </a:r>
            <a:endParaRPr lang="en-US" sz="2400" dirty="0"/>
          </a:p>
          <a:p>
            <a:pPr algn="l"/>
            <a:r>
              <a:rPr lang="en-GB" sz="2400" dirty="0">
                <a:solidFill>
                  <a:srgbClr val="000000"/>
                </a:solidFill>
              </a:rPr>
              <a:t>Adresse3 IP :</a:t>
            </a:r>
            <a:r>
              <a:rPr lang="en-US" sz="2400" dirty="0"/>
              <a:t> </a:t>
            </a:r>
            <a:r>
              <a:rPr lang="en-GB" sz="2400" dirty="0" err="1">
                <a:solidFill>
                  <a:srgbClr val="000000"/>
                </a:solidFill>
              </a:rPr>
              <a:t>Réservée</a:t>
            </a:r>
            <a:r>
              <a:rPr lang="en-GB" sz="2400" dirty="0">
                <a:solidFill>
                  <a:srgbClr val="000000"/>
                </a:solidFill>
              </a:rPr>
              <a:t> au </a:t>
            </a:r>
            <a:r>
              <a:rPr lang="en-GB" sz="2400" dirty="0" err="1">
                <a:solidFill>
                  <a:srgbClr val="000000"/>
                </a:solidFill>
              </a:rPr>
              <a:t>serveur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fichiers</a:t>
            </a:r>
            <a:r>
              <a:rPr lang="en-GB" sz="2400" dirty="0">
                <a:solidFill>
                  <a:srgbClr val="000000"/>
                </a:solidFill>
              </a:rPr>
              <a:t> et </a:t>
            </a:r>
            <a:r>
              <a:rPr lang="en-GB" sz="2400" dirty="0" err="1">
                <a:solidFill>
                  <a:srgbClr val="000000"/>
                </a:solidFill>
              </a:rPr>
              <a:t>d'impression</a:t>
            </a: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38" name="Picture 75" descr="Rackmount_Router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5330371" y="2426835"/>
            <a:ext cx="722313" cy="461962"/>
          </a:xfrm>
          <a:prstGeom prst="rect">
            <a:avLst/>
          </a:prstGeom>
          <a:noFill/>
        </p:spPr>
      </p:pic>
      <p:sp>
        <p:nvSpPr>
          <p:cNvPr id="17" name="Rectangle 2"/>
          <p:cNvSpPr>
            <a:spLocks noGrp="1" noChangeArrowheads="1"/>
          </p:cNvSpPr>
          <p:nvPr>
            <p:ph type="title"/>
            <p:custDataLst>
              <p:tags r:id="rId15"/>
            </p:custDataLst>
          </p:nvPr>
        </p:nvSpPr>
        <p:spPr>
          <a:xfrm>
            <a:off x="301752" y="228600"/>
            <a:ext cx="8534400" cy="758952"/>
          </a:xfrm>
        </p:spPr>
        <p:txBody>
          <a:bodyPr vert="horz" anchor="b">
            <a:norm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Qu'est-ce qu'une réservation DHCP ?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Qu'est-ce qu'une réservation DHCP 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29772" y="2376236"/>
            <a:ext cx="8193314" cy="1949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i="1" dirty="0" err="1">
                <a:solidFill>
                  <a:srgbClr val="000000"/>
                </a:solidFill>
              </a:rPr>
              <a:t>réservation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est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adresse</a:t>
            </a:r>
            <a:r>
              <a:rPr lang="en-GB" sz="2800" dirty="0">
                <a:solidFill>
                  <a:srgbClr val="000000"/>
                </a:solidFill>
              </a:rPr>
              <a:t> IP </a:t>
            </a:r>
            <a:r>
              <a:rPr lang="en-GB" sz="2800" dirty="0" err="1">
                <a:solidFill>
                  <a:srgbClr val="000000"/>
                </a:solidFill>
              </a:rPr>
              <a:t>spécifique</a:t>
            </a:r>
            <a:r>
              <a:rPr lang="en-GB" sz="2800" dirty="0">
                <a:solidFill>
                  <a:srgbClr val="000000"/>
                </a:solidFill>
              </a:rPr>
              <a:t> au </a:t>
            </a:r>
            <a:r>
              <a:rPr lang="en-GB" sz="2800" dirty="0" err="1">
                <a:solidFill>
                  <a:srgbClr val="000000"/>
                </a:solidFill>
              </a:rPr>
              <a:t>sein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d'une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étendue</a:t>
            </a:r>
            <a:r>
              <a:rPr lang="en-GB" sz="2800" dirty="0">
                <a:solidFill>
                  <a:srgbClr val="000000"/>
                </a:solidFill>
              </a:rPr>
              <a:t>, qui </a:t>
            </a:r>
            <a:r>
              <a:rPr lang="en-GB" sz="2800" dirty="0" err="1">
                <a:solidFill>
                  <a:srgbClr val="000000"/>
                </a:solidFill>
              </a:rPr>
              <a:t>est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réservée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manière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permanente</a:t>
            </a:r>
            <a:r>
              <a:rPr lang="en-GB" sz="2800" dirty="0">
                <a:solidFill>
                  <a:srgbClr val="000000"/>
                </a:solidFill>
              </a:rPr>
              <a:t> à des fins de bail à un client DHCP </a:t>
            </a:r>
            <a:r>
              <a:rPr lang="en-GB" sz="2800" dirty="0" err="1">
                <a:solidFill>
                  <a:srgbClr val="000000"/>
                </a:solidFill>
              </a:rPr>
              <a:t>spécifique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03200" y="188686"/>
            <a:ext cx="8752114" cy="973037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marL="460375" marR="0" lvl="0" indent="-460375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200" dirty="0">
                <a:latin typeface="+mj-lt"/>
                <a:ea typeface="+mj-ea"/>
                <a:cs typeface="+mj-cs"/>
              </a:rPr>
              <a:t>3. Configuration d'un agent de relais DHCP</a:t>
            </a: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362857" y="1712686"/>
            <a:ext cx="84908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Qu'est-ce qu'un agent de relais DHCP ?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</a:t>
            </a:r>
            <a:r>
              <a:rPr lang="en-GB" sz="2400" dirty="0"/>
              <a:t>Comment </a:t>
            </a:r>
            <a:r>
              <a:rPr lang="en-GB" sz="2400" dirty="0" err="1"/>
              <a:t>fonctionne</a:t>
            </a:r>
            <a:r>
              <a:rPr lang="en-GB" sz="2400" dirty="0"/>
              <a:t> un agent de </a:t>
            </a:r>
            <a:r>
              <a:rPr lang="en-GB" sz="2400" dirty="0" err="1"/>
              <a:t>relais</a:t>
            </a:r>
            <a:r>
              <a:rPr lang="en-GB" sz="2400" dirty="0"/>
              <a:t> DHCP</a:t>
            </a:r>
            <a:endParaRPr lang="fr-FR" sz="2400" dirty="0"/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Comment un agent de relais DHCP utilise le nombre </a:t>
            </a:r>
            <a:r>
              <a:rPr lang="fr-FR" sz="2400"/>
              <a:t>de tronçons?</a:t>
            </a:r>
            <a:endParaRPr lang="fr-FR" sz="2400" dirty="0"/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Comment un agent de relais DHCP utilise le seuil de démarrage?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/>
              <a:t> Comment configurer un agent de relais DHCP?</a:t>
            </a:r>
          </a:p>
          <a:p>
            <a:pPr algn="l">
              <a:lnSpc>
                <a:spcPct val="150000"/>
              </a:lnSpc>
            </a:pPr>
            <a:br>
              <a:rPr lang="fr-FR" sz="2400" dirty="0"/>
            </a:br>
            <a:endParaRPr lang="fr-BE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75767" y="333831"/>
            <a:ext cx="8534400" cy="595086"/>
          </a:xfrm>
        </p:spPr>
        <p:txBody>
          <a:bodyPr vert="horz" anchor="b"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Qu'est-ce qu'un agent de relais DHCP 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519306" name="Line 138"/>
          <p:cNvSpPr>
            <a:spLocks noChangeShapeType="1"/>
          </p:cNvSpPr>
          <p:nvPr/>
        </p:nvSpPr>
        <p:spPr bwMode="auto">
          <a:xfrm>
            <a:off x="3246438" y="4637759"/>
            <a:ext cx="2486025" cy="0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519307" name="Oval 139"/>
          <p:cNvSpPr>
            <a:spLocks noChangeArrowheads="1"/>
          </p:cNvSpPr>
          <p:nvPr/>
        </p:nvSpPr>
        <p:spPr bwMode="auto">
          <a:xfrm>
            <a:off x="1016000" y="3807497"/>
            <a:ext cx="2343150" cy="164782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l"/>
            <a:endParaRPr lang="pt-BR"/>
          </a:p>
        </p:txBody>
      </p:sp>
      <p:pic>
        <p:nvPicPr>
          <p:cNvPr id="519308" name="Picture 140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8063" y="5040984"/>
            <a:ext cx="693737" cy="844550"/>
          </a:xfrm>
          <a:prstGeom prst="rect">
            <a:avLst/>
          </a:prstGeom>
          <a:noFill/>
        </p:spPr>
      </p:pic>
      <p:pic>
        <p:nvPicPr>
          <p:cNvPr id="519309" name="Picture 141" descr="Rackmount_Rout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92463" y="4480597"/>
            <a:ext cx="714375" cy="457200"/>
          </a:xfrm>
          <a:prstGeom prst="rect">
            <a:avLst/>
          </a:prstGeom>
          <a:noFill/>
        </p:spPr>
      </p:pic>
      <p:sp>
        <p:nvSpPr>
          <p:cNvPr id="519310" name="Oval 142"/>
          <p:cNvSpPr>
            <a:spLocks noChangeArrowheads="1"/>
          </p:cNvSpPr>
          <p:nvPr/>
        </p:nvSpPr>
        <p:spPr bwMode="auto">
          <a:xfrm>
            <a:off x="5703888" y="3807497"/>
            <a:ext cx="2343150" cy="164782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pt-BR"/>
          </a:p>
        </p:txBody>
      </p:sp>
      <p:pic>
        <p:nvPicPr>
          <p:cNvPr id="519311" name="Picture 143" descr="Server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51113" y="3366172"/>
            <a:ext cx="731837" cy="927100"/>
          </a:xfrm>
          <a:prstGeom prst="rect">
            <a:avLst/>
          </a:prstGeom>
          <a:noFill/>
        </p:spPr>
      </p:pic>
      <p:sp>
        <p:nvSpPr>
          <p:cNvPr id="519312" name="AutoShape 144"/>
          <p:cNvSpPr>
            <a:spLocks noChangeArrowheads="1"/>
          </p:cNvSpPr>
          <p:nvPr/>
        </p:nvSpPr>
        <p:spPr bwMode="auto">
          <a:xfrm>
            <a:off x="5360988" y="2956597"/>
            <a:ext cx="1524000" cy="30321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Serveur DHCP</a:t>
            </a:r>
          </a:p>
        </p:txBody>
      </p:sp>
      <p:sp>
        <p:nvSpPr>
          <p:cNvPr id="519313" name="AutoShape 145"/>
          <p:cNvSpPr>
            <a:spLocks noChangeArrowheads="1"/>
          </p:cNvSpPr>
          <p:nvPr/>
        </p:nvSpPr>
        <p:spPr bwMode="auto">
          <a:xfrm>
            <a:off x="962025" y="5934747"/>
            <a:ext cx="711200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</a:t>
            </a:r>
          </a:p>
        </p:txBody>
      </p:sp>
      <p:pic>
        <p:nvPicPr>
          <p:cNvPr id="519314" name="Picture 146" descr="Server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21350" y="3366172"/>
            <a:ext cx="731838" cy="927100"/>
          </a:xfrm>
          <a:prstGeom prst="rect">
            <a:avLst/>
          </a:prstGeom>
          <a:noFill/>
        </p:spPr>
      </p:pic>
      <p:sp>
        <p:nvSpPr>
          <p:cNvPr id="519315" name="AutoShape 147"/>
          <p:cNvSpPr>
            <a:spLocks noChangeArrowheads="1"/>
          </p:cNvSpPr>
          <p:nvPr/>
        </p:nvSpPr>
        <p:spPr bwMode="auto">
          <a:xfrm>
            <a:off x="1827213" y="2956597"/>
            <a:ext cx="2098675" cy="30321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Agent de relais DHCP</a:t>
            </a:r>
          </a:p>
        </p:txBody>
      </p:sp>
      <p:pic>
        <p:nvPicPr>
          <p:cNvPr id="519316" name="Picture 148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06675" y="5040984"/>
            <a:ext cx="693738" cy="844550"/>
          </a:xfrm>
          <a:prstGeom prst="rect">
            <a:avLst/>
          </a:prstGeom>
          <a:noFill/>
        </p:spPr>
      </p:pic>
      <p:sp>
        <p:nvSpPr>
          <p:cNvPr id="519317" name="AutoShape 149"/>
          <p:cNvSpPr>
            <a:spLocks noChangeArrowheads="1"/>
          </p:cNvSpPr>
          <p:nvPr/>
        </p:nvSpPr>
        <p:spPr bwMode="auto">
          <a:xfrm>
            <a:off x="2560638" y="5934747"/>
            <a:ext cx="711200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</a:t>
            </a:r>
          </a:p>
        </p:txBody>
      </p:sp>
      <p:pic>
        <p:nvPicPr>
          <p:cNvPr id="519318" name="Picture 150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1350" y="5040984"/>
            <a:ext cx="693738" cy="844550"/>
          </a:xfrm>
          <a:prstGeom prst="rect">
            <a:avLst/>
          </a:prstGeom>
          <a:noFill/>
        </p:spPr>
      </p:pic>
      <p:sp>
        <p:nvSpPr>
          <p:cNvPr id="519319" name="AutoShape 151"/>
          <p:cNvSpPr>
            <a:spLocks noChangeArrowheads="1"/>
          </p:cNvSpPr>
          <p:nvPr/>
        </p:nvSpPr>
        <p:spPr bwMode="auto">
          <a:xfrm>
            <a:off x="5675313" y="5934747"/>
            <a:ext cx="711200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</a:t>
            </a:r>
          </a:p>
        </p:txBody>
      </p:sp>
      <p:pic>
        <p:nvPicPr>
          <p:cNvPr id="519320" name="Picture 152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9963" y="5040984"/>
            <a:ext cx="693737" cy="844550"/>
          </a:xfrm>
          <a:prstGeom prst="rect">
            <a:avLst/>
          </a:prstGeom>
          <a:noFill/>
        </p:spPr>
      </p:pic>
      <p:sp>
        <p:nvSpPr>
          <p:cNvPr id="519321" name="AutoShape 153"/>
          <p:cNvSpPr>
            <a:spLocks noChangeArrowheads="1"/>
          </p:cNvSpPr>
          <p:nvPr/>
        </p:nvSpPr>
        <p:spPr bwMode="auto">
          <a:xfrm>
            <a:off x="7273925" y="5934747"/>
            <a:ext cx="711200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</a:t>
            </a:r>
          </a:p>
        </p:txBody>
      </p:sp>
      <p:sp>
        <p:nvSpPr>
          <p:cNvPr id="519322" name="AutoShape 154"/>
          <p:cNvSpPr>
            <a:spLocks noChangeArrowheads="1"/>
          </p:cNvSpPr>
          <p:nvPr/>
        </p:nvSpPr>
        <p:spPr bwMode="auto">
          <a:xfrm>
            <a:off x="3657600" y="4944147"/>
            <a:ext cx="1708150" cy="69056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600"/>
              <a:t>Routeurs</a:t>
            </a:r>
          </a:p>
          <a:p>
            <a:pPr>
              <a:lnSpc>
                <a:spcPct val="85000"/>
              </a:lnSpc>
            </a:pPr>
            <a:r>
              <a:rPr lang="fr-FR" sz="1600"/>
              <a:t>non conformes RFC 1542</a:t>
            </a:r>
          </a:p>
        </p:txBody>
      </p:sp>
      <p:sp>
        <p:nvSpPr>
          <p:cNvPr id="519323" name="AutoShape 155"/>
          <p:cNvSpPr>
            <a:spLocks noChangeArrowheads="1"/>
          </p:cNvSpPr>
          <p:nvPr/>
        </p:nvSpPr>
        <p:spPr bwMode="auto">
          <a:xfrm>
            <a:off x="3336925" y="3488409"/>
            <a:ext cx="2357438" cy="385763"/>
          </a:xfrm>
          <a:prstGeom prst="leftRightArrow">
            <a:avLst>
              <a:gd name="adj1" fmla="val 66519"/>
              <a:gd name="adj2" fmla="val 60489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Monodiffusion</a:t>
            </a:r>
          </a:p>
        </p:txBody>
      </p:sp>
      <p:sp>
        <p:nvSpPr>
          <p:cNvPr id="519324" name="Text Box 156"/>
          <p:cNvSpPr txBox="1">
            <a:spLocks noChangeArrowheads="1"/>
          </p:cNvSpPr>
          <p:nvPr/>
        </p:nvSpPr>
        <p:spPr bwMode="auto">
          <a:xfrm>
            <a:off x="1585913" y="4086897"/>
            <a:ext cx="9953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CC0000"/>
                </a:solidFill>
              </a:rPr>
              <a:t>Diffusion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519325" name="Text Box 157"/>
          <p:cNvSpPr txBox="1">
            <a:spLocks noChangeArrowheads="1"/>
          </p:cNvSpPr>
          <p:nvPr/>
        </p:nvSpPr>
        <p:spPr bwMode="auto">
          <a:xfrm>
            <a:off x="1214438" y="4420272"/>
            <a:ext cx="9779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</a:rPr>
              <a:t>Sous-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réseau 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19326" name="Text Box 158"/>
          <p:cNvSpPr txBox="1">
            <a:spLocks noChangeArrowheads="1"/>
          </p:cNvSpPr>
          <p:nvPr/>
        </p:nvSpPr>
        <p:spPr bwMode="auto">
          <a:xfrm>
            <a:off x="7043738" y="4405984"/>
            <a:ext cx="9779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</a:rPr>
              <a:t>Sous-</a:t>
            </a:r>
            <a:br>
              <a:rPr lang="en-GB">
                <a:solidFill>
                  <a:srgbClr val="000000"/>
                </a:solidFill>
              </a:rPr>
            </a:br>
            <a:r>
              <a:rPr lang="en-GB">
                <a:solidFill>
                  <a:srgbClr val="000000"/>
                </a:solidFill>
              </a:rPr>
              <a:t>réseau B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19327" name="Text Box 159"/>
          <p:cNvSpPr txBox="1">
            <a:spLocks noChangeArrowheads="1"/>
          </p:cNvSpPr>
          <p:nvPr/>
        </p:nvSpPr>
        <p:spPr bwMode="auto">
          <a:xfrm>
            <a:off x="6361113" y="4086897"/>
            <a:ext cx="9953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CC0000"/>
                </a:solidFill>
              </a:rPr>
              <a:t>Diffusion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519328" name="Oval 160"/>
          <p:cNvSpPr>
            <a:spLocks noChangeArrowheads="1"/>
          </p:cNvSpPr>
          <p:nvPr/>
        </p:nvSpPr>
        <p:spPr bwMode="auto">
          <a:xfrm>
            <a:off x="2698750" y="4117059"/>
            <a:ext cx="488950" cy="48895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519329" name="Oval 161"/>
          <p:cNvSpPr>
            <a:spLocks noChangeArrowheads="1"/>
          </p:cNvSpPr>
          <p:nvPr/>
        </p:nvSpPr>
        <p:spPr bwMode="auto">
          <a:xfrm>
            <a:off x="2781300" y="4199609"/>
            <a:ext cx="322263" cy="322263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519330" name="Oval 162"/>
          <p:cNvSpPr>
            <a:spLocks noChangeArrowheads="1"/>
          </p:cNvSpPr>
          <p:nvPr/>
        </p:nvSpPr>
        <p:spPr bwMode="auto">
          <a:xfrm>
            <a:off x="2859088" y="4277397"/>
            <a:ext cx="168275" cy="168275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519331" name="Oval 163"/>
          <p:cNvSpPr>
            <a:spLocks noChangeArrowheads="1"/>
          </p:cNvSpPr>
          <p:nvPr/>
        </p:nvSpPr>
        <p:spPr bwMode="auto">
          <a:xfrm>
            <a:off x="5776913" y="4117059"/>
            <a:ext cx="488950" cy="48895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519332" name="Oval 164"/>
          <p:cNvSpPr>
            <a:spLocks noChangeArrowheads="1"/>
          </p:cNvSpPr>
          <p:nvPr/>
        </p:nvSpPr>
        <p:spPr bwMode="auto">
          <a:xfrm>
            <a:off x="5859463" y="4199609"/>
            <a:ext cx="322262" cy="322263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519333" name="Oval 165"/>
          <p:cNvSpPr>
            <a:spLocks noChangeArrowheads="1"/>
          </p:cNvSpPr>
          <p:nvPr/>
        </p:nvSpPr>
        <p:spPr bwMode="auto">
          <a:xfrm>
            <a:off x="5937250" y="4277397"/>
            <a:ext cx="168275" cy="168275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pic>
        <p:nvPicPr>
          <p:cNvPr id="519334" name="Picture 166" descr="Rackmount_Rout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16513" y="4490122"/>
            <a:ext cx="714375" cy="457200"/>
          </a:xfrm>
          <a:prstGeom prst="rect">
            <a:avLst/>
          </a:prstGeom>
          <a:noFill/>
        </p:spPr>
      </p:pic>
      <p:grpSp>
        <p:nvGrpSpPr>
          <p:cNvPr id="2" name="Group 167"/>
          <p:cNvGrpSpPr>
            <a:grpSpLocks/>
          </p:cNvGrpSpPr>
          <p:nvPr/>
        </p:nvGrpSpPr>
        <p:grpSpPr bwMode="auto">
          <a:xfrm>
            <a:off x="0" y="6432550"/>
            <a:ext cx="914400" cy="425450"/>
            <a:chOff x="384" y="3024"/>
            <a:chExt cx="720" cy="336"/>
          </a:xfrm>
        </p:grpSpPr>
        <p:sp>
          <p:nvSpPr>
            <p:cNvPr id="519336" name="Oval 168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3" name="Group 169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519338" name="Oval 170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519339" name="Freeform 171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4" name="Group 172"/>
          <p:cNvGrpSpPr>
            <a:grpSpLocks/>
          </p:cNvGrpSpPr>
          <p:nvPr/>
        </p:nvGrpSpPr>
        <p:grpSpPr bwMode="auto">
          <a:xfrm>
            <a:off x="487363" y="6523038"/>
            <a:ext cx="304800" cy="244475"/>
            <a:chOff x="768" y="3096"/>
            <a:chExt cx="240" cy="192"/>
          </a:xfrm>
        </p:grpSpPr>
        <p:sp>
          <p:nvSpPr>
            <p:cNvPr id="519341" name="Oval 173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519342" name="Rectangle 174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  <p:sp>
        <p:nvSpPr>
          <p:cNvPr id="42" name="Rectangle 41"/>
          <p:cNvSpPr/>
          <p:nvPr/>
        </p:nvSpPr>
        <p:spPr>
          <a:xfrm>
            <a:off x="253999" y="1525874"/>
            <a:ext cx="8715829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fr-FR" sz="2400" dirty="0"/>
              <a:t>Un </a:t>
            </a:r>
            <a:r>
              <a:rPr lang="fr-FR" sz="2400" i="1" dirty="0"/>
              <a:t>agent de relais</a:t>
            </a:r>
            <a:r>
              <a:rPr lang="fr-FR" sz="2400" dirty="0"/>
              <a:t> DHCP est un ordinateur ou un routeur configuré pour écouter les messages DHCP/BOOTP des clients DHCP et les transmettre aux serveurs DHCP sur différents sous-réseaux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2685143"/>
            <a:ext cx="9144000" cy="4172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5193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5193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5193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519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519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519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500" fill="hold"/>
                                        <p:tgtEl>
                                          <p:spTgt spid="51933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500" fill="hold"/>
                                        <p:tgtEl>
                                          <p:spTgt spid="5193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500" fill="hold"/>
                                        <p:tgtEl>
                                          <p:spTgt spid="5193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19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519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519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500" fill="hold"/>
                                        <p:tgtEl>
                                          <p:spTgt spid="5193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500" fill="hold"/>
                                        <p:tgtEl>
                                          <p:spTgt spid="5193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4" dur="500" fill="hold"/>
                                        <p:tgtEl>
                                          <p:spTgt spid="5193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519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519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519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9" dur="500" fill="hold"/>
                                        <p:tgtEl>
                                          <p:spTgt spid="51933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500"/>
                            </p:stCondLst>
                            <p:childTnLst>
                              <p:par>
                                <p:cTn id="9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4" dur="500" fill="hold"/>
                                        <p:tgtEl>
                                          <p:spTgt spid="5193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000"/>
                            </p:stCondLst>
                            <p:childTnLst>
                              <p:par>
                                <p:cTn id="9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9" dur="500" fill="hold"/>
                                        <p:tgtEl>
                                          <p:spTgt spid="5193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500"/>
                            </p:stCondLst>
                            <p:childTnLst>
                              <p:par>
                                <p:cTn id="101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519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5" dur="500"/>
                                        <p:tgtEl>
                                          <p:spTgt spid="519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519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0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328" grpId="0" animBg="1"/>
      <p:bldP spid="519328" grpId="1" animBg="1"/>
      <p:bldP spid="519328" grpId="2" animBg="1"/>
      <p:bldP spid="519328" grpId="3" animBg="1"/>
      <p:bldP spid="519328" grpId="4" animBg="1"/>
      <p:bldP spid="519328" grpId="5" animBg="1"/>
      <p:bldP spid="519329" grpId="0" animBg="1"/>
      <p:bldP spid="519329" grpId="1" animBg="1"/>
      <p:bldP spid="519329" grpId="2" animBg="1"/>
      <p:bldP spid="519329" grpId="3" animBg="1"/>
      <p:bldP spid="519329" grpId="4" animBg="1"/>
      <p:bldP spid="519329" grpId="5" animBg="1"/>
      <p:bldP spid="519330" grpId="0" animBg="1"/>
      <p:bldP spid="519330" grpId="1" animBg="1"/>
      <p:bldP spid="519330" grpId="2" animBg="1"/>
      <p:bldP spid="519330" grpId="3" animBg="1"/>
      <p:bldP spid="519330" grpId="4" animBg="1"/>
      <p:bldP spid="519330" grpId="5" animBg="1"/>
      <p:bldP spid="519331" grpId="0" animBg="1"/>
      <p:bldP spid="519331" grpId="1" animBg="1"/>
      <p:bldP spid="519331" grpId="2" animBg="1"/>
      <p:bldP spid="519331" grpId="3" animBg="1"/>
      <p:bldP spid="519331" grpId="4" animBg="1"/>
      <p:bldP spid="519331" grpId="5" animBg="1"/>
      <p:bldP spid="519332" grpId="0" animBg="1"/>
      <p:bldP spid="519332" grpId="1" animBg="1"/>
      <p:bldP spid="519332" grpId="2" animBg="1"/>
      <p:bldP spid="519332" grpId="3" animBg="1"/>
      <p:bldP spid="519332" grpId="4" animBg="1"/>
      <p:bldP spid="519332" grpId="5" animBg="1"/>
      <p:bldP spid="519333" grpId="0" animBg="1"/>
      <p:bldP spid="519333" grpId="1" animBg="1"/>
      <p:bldP spid="519333" grpId="2" animBg="1"/>
      <p:bldP spid="519333" grpId="3" animBg="1"/>
      <p:bldP spid="519333" grpId="4" animBg="1"/>
      <p:bldP spid="519333" grpId="5" animBg="1"/>
      <p:bldP spid="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590" name="AutoShape 486"/>
          <p:cNvSpPr>
            <a:spLocks noChangeArrowheads="1"/>
          </p:cNvSpPr>
          <p:nvPr/>
        </p:nvSpPr>
        <p:spPr bwMode="auto">
          <a:xfrm>
            <a:off x="785813" y="1603369"/>
            <a:ext cx="1830387" cy="30321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US" sz="1600"/>
              <a:t>Agent de relais DHCP</a:t>
            </a:r>
          </a:p>
        </p:txBody>
      </p:sp>
      <p:sp>
        <p:nvSpPr>
          <p:cNvPr id="431587" name="Oval 483"/>
          <p:cNvSpPr>
            <a:spLocks noChangeArrowheads="1"/>
          </p:cNvSpPr>
          <p:nvPr/>
        </p:nvSpPr>
        <p:spPr bwMode="auto">
          <a:xfrm>
            <a:off x="1168400" y="1889119"/>
            <a:ext cx="2343150" cy="1557338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l"/>
            <a:endParaRPr lang="pt-BR"/>
          </a:p>
        </p:txBody>
      </p:sp>
      <p:grpSp>
        <p:nvGrpSpPr>
          <p:cNvPr id="431551" name="Group 447"/>
          <p:cNvGrpSpPr>
            <a:grpSpLocks/>
          </p:cNvGrpSpPr>
          <p:nvPr/>
        </p:nvGrpSpPr>
        <p:grpSpPr bwMode="auto">
          <a:xfrm>
            <a:off x="779463" y="1543044"/>
            <a:ext cx="7351712" cy="4979988"/>
            <a:chOff x="491" y="780"/>
            <a:chExt cx="4631" cy="3137"/>
          </a:xfrm>
        </p:grpSpPr>
        <p:sp>
          <p:nvSpPr>
            <p:cNvPr id="431552" name="Line 448"/>
            <p:cNvSpPr>
              <a:spLocks noChangeShapeType="1"/>
            </p:cNvSpPr>
            <p:nvPr/>
          </p:nvSpPr>
          <p:spPr bwMode="auto">
            <a:xfrm>
              <a:off x="2114" y="1468"/>
              <a:ext cx="1566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sp>
          <p:nvSpPr>
            <p:cNvPr id="431553" name="AutoShape 449"/>
            <p:cNvSpPr>
              <a:spLocks noChangeArrowheads="1"/>
            </p:cNvSpPr>
            <p:nvPr/>
          </p:nvSpPr>
          <p:spPr bwMode="auto">
            <a:xfrm>
              <a:off x="572" y="798"/>
              <a:ext cx="4550" cy="311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sp>
          <p:nvSpPr>
            <p:cNvPr id="431554" name="AutoShape 450"/>
            <p:cNvSpPr>
              <a:spLocks noChangeArrowheads="1"/>
            </p:cNvSpPr>
            <p:nvPr/>
          </p:nvSpPr>
          <p:spPr bwMode="auto">
            <a:xfrm>
              <a:off x="2331" y="1707"/>
              <a:ext cx="1194" cy="338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>
                <a:lnSpc>
                  <a:spcPct val="95000"/>
                </a:lnSpc>
              </a:pPr>
              <a:r>
                <a:rPr lang="en-US" sz="1600"/>
                <a:t>Router</a:t>
              </a:r>
            </a:p>
            <a:p>
              <a:pPr>
                <a:lnSpc>
                  <a:spcPct val="95000"/>
                </a:lnSpc>
              </a:pPr>
              <a:r>
                <a:rPr lang="en-US" sz="1400"/>
                <a:t>Non-RFC 1542 Compliant</a:t>
              </a:r>
            </a:p>
          </p:txBody>
        </p:sp>
        <p:pic>
          <p:nvPicPr>
            <p:cNvPr id="431555" name="Picture 451" descr="Rackmount_Rout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42" y="1377"/>
              <a:ext cx="578" cy="370"/>
            </a:xfrm>
            <a:prstGeom prst="rect">
              <a:avLst/>
            </a:prstGeom>
            <a:noFill/>
          </p:spPr>
        </p:pic>
        <p:sp>
          <p:nvSpPr>
            <p:cNvPr id="431556" name="AutoShape 452"/>
            <p:cNvSpPr>
              <a:spLocks noChangeArrowheads="1"/>
            </p:cNvSpPr>
            <p:nvPr/>
          </p:nvSpPr>
          <p:spPr bwMode="auto">
            <a:xfrm>
              <a:off x="2288" y="1707"/>
              <a:ext cx="1280" cy="338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>
                <a:lnSpc>
                  <a:spcPct val="95000"/>
                </a:lnSpc>
              </a:pPr>
              <a:r>
                <a:rPr lang="fr-FR" sz="1600"/>
                <a:t>Routeur</a:t>
              </a:r>
            </a:p>
            <a:p>
              <a:pPr>
                <a:lnSpc>
                  <a:spcPct val="95000"/>
                </a:lnSpc>
              </a:pPr>
              <a:r>
                <a:rPr lang="fr-FR" sz="1600"/>
                <a:t>non conforme RFC 1542</a:t>
              </a:r>
              <a:endParaRPr lang="en-US" sz="1600"/>
            </a:p>
          </p:txBody>
        </p:sp>
        <p:sp>
          <p:nvSpPr>
            <p:cNvPr id="431557" name="Line 453"/>
            <p:cNvSpPr>
              <a:spLocks noChangeShapeType="1"/>
            </p:cNvSpPr>
            <p:nvPr/>
          </p:nvSpPr>
          <p:spPr bwMode="auto">
            <a:xfrm>
              <a:off x="2114" y="1468"/>
              <a:ext cx="1566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pic>
          <p:nvPicPr>
            <p:cNvPr id="431558" name="Picture 454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63" y="1504"/>
              <a:ext cx="437" cy="532"/>
            </a:xfrm>
            <a:prstGeom prst="rect">
              <a:avLst/>
            </a:prstGeom>
            <a:noFill/>
          </p:spPr>
        </p:pic>
        <p:pic>
          <p:nvPicPr>
            <p:cNvPr id="431559" name="Picture 455" descr="Serv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35" y="780"/>
              <a:ext cx="461" cy="584"/>
            </a:xfrm>
            <a:prstGeom prst="rect">
              <a:avLst/>
            </a:prstGeom>
            <a:noFill/>
          </p:spPr>
        </p:pic>
        <p:sp>
          <p:nvSpPr>
            <p:cNvPr id="431560" name="AutoShape 456"/>
            <p:cNvSpPr>
              <a:spLocks noChangeArrowheads="1"/>
            </p:cNvSpPr>
            <p:nvPr/>
          </p:nvSpPr>
          <p:spPr bwMode="auto">
            <a:xfrm>
              <a:off x="861" y="1799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Client1</a:t>
              </a:r>
            </a:p>
          </p:txBody>
        </p:sp>
        <p:pic>
          <p:nvPicPr>
            <p:cNvPr id="431561" name="Picture 457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51" y="1504"/>
              <a:ext cx="437" cy="532"/>
            </a:xfrm>
            <a:prstGeom prst="rect">
              <a:avLst/>
            </a:prstGeom>
            <a:noFill/>
          </p:spPr>
        </p:pic>
        <p:sp>
          <p:nvSpPr>
            <p:cNvPr id="431562" name="AutoShape 458"/>
            <p:cNvSpPr>
              <a:spLocks noChangeArrowheads="1"/>
            </p:cNvSpPr>
            <p:nvPr/>
          </p:nvSpPr>
          <p:spPr bwMode="auto">
            <a:xfrm>
              <a:off x="1455" y="1686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Client2</a:t>
              </a:r>
            </a:p>
          </p:txBody>
        </p:sp>
        <p:pic>
          <p:nvPicPr>
            <p:cNvPr id="431563" name="Picture 459" descr="Rackmount_Rout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42" y="1377"/>
              <a:ext cx="578" cy="370"/>
            </a:xfrm>
            <a:prstGeom prst="rect">
              <a:avLst/>
            </a:prstGeom>
            <a:noFill/>
          </p:spPr>
        </p:pic>
        <p:sp>
          <p:nvSpPr>
            <p:cNvPr id="431564" name="Oval 460"/>
            <p:cNvSpPr>
              <a:spLocks noChangeArrowheads="1"/>
            </p:cNvSpPr>
            <p:nvPr/>
          </p:nvSpPr>
          <p:spPr bwMode="auto">
            <a:xfrm>
              <a:off x="732" y="994"/>
              <a:ext cx="1476" cy="981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l"/>
              <a:endParaRPr lang="pt-BR"/>
            </a:p>
          </p:txBody>
        </p:sp>
        <p:sp>
          <p:nvSpPr>
            <p:cNvPr id="431565" name="AutoShape 461"/>
            <p:cNvSpPr>
              <a:spLocks noChangeArrowheads="1"/>
            </p:cNvSpPr>
            <p:nvPr/>
          </p:nvSpPr>
          <p:spPr bwMode="auto">
            <a:xfrm>
              <a:off x="491" y="814"/>
              <a:ext cx="1153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US" sz="1600" dirty="0"/>
                <a:t>Agent de </a:t>
              </a:r>
              <a:r>
                <a:rPr lang="en-US" sz="1600" dirty="0" err="1"/>
                <a:t>relais</a:t>
              </a:r>
              <a:r>
                <a:rPr lang="en-US" sz="1600" dirty="0"/>
                <a:t> DHCP</a:t>
              </a:r>
            </a:p>
          </p:txBody>
        </p:sp>
        <p:pic>
          <p:nvPicPr>
            <p:cNvPr id="431566" name="Picture 462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63" y="1504"/>
              <a:ext cx="437" cy="532"/>
            </a:xfrm>
            <a:prstGeom prst="rect">
              <a:avLst/>
            </a:prstGeom>
            <a:noFill/>
          </p:spPr>
        </p:pic>
        <p:pic>
          <p:nvPicPr>
            <p:cNvPr id="431567" name="Picture 463" descr="Serv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35" y="780"/>
              <a:ext cx="461" cy="584"/>
            </a:xfrm>
            <a:prstGeom prst="rect">
              <a:avLst/>
            </a:prstGeom>
            <a:noFill/>
          </p:spPr>
        </p:pic>
        <p:sp>
          <p:nvSpPr>
            <p:cNvPr id="431568" name="AutoShape 464"/>
            <p:cNvSpPr>
              <a:spLocks noChangeArrowheads="1"/>
            </p:cNvSpPr>
            <p:nvPr/>
          </p:nvSpPr>
          <p:spPr bwMode="auto">
            <a:xfrm>
              <a:off x="861" y="1799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Client1</a:t>
              </a:r>
            </a:p>
          </p:txBody>
        </p:sp>
        <p:pic>
          <p:nvPicPr>
            <p:cNvPr id="431569" name="Picture 465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51" y="1504"/>
              <a:ext cx="437" cy="532"/>
            </a:xfrm>
            <a:prstGeom prst="rect">
              <a:avLst/>
            </a:prstGeom>
            <a:noFill/>
          </p:spPr>
        </p:pic>
        <p:sp>
          <p:nvSpPr>
            <p:cNvPr id="431570" name="AutoShape 466"/>
            <p:cNvSpPr>
              <a:spLocks noChangeArrowheads="1"/>
            </p:cNvSpPr>
            <p:nvPr/>
          </p:nvSpPr>
          <p:spPr bwMode="auto">
            <a:xfrm>
              <a:off x="1455" y="1686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Client2</a:t>
              </a:r>
            </a:p>
          </p:txBody>
        </p:sp>
        <p:sp>
          <p:nvSpPr>
            <p:cNvPr id="431571" name="Oval 467"/>
            <p:cNvSpPr>
              <a:spLocks noChangeArrowheads="1"/>
            </p:cNvSpPr>
            <p:nvPr/>
          </p:nvSpPr>
          <p:spPr bwMode="auto">
            <a:xfrm>
              <a:off x="3600" y="994"/>
              <a:ext cx="1476" cy="981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r"/>
              <a:endParaRPr lang="pt-BR"/>
            </a:p>
          </p:txBody>
        </p:sp>
        <p:sp>
          <p:nvSpPr>
            <p:cNvPr id="431572" name="AutoShape 468"/>
            <p:cNvSpPr>
              <a:spLocks noChangeArrowheads="1"/>
            </p:cNvSpPr>
            <p:nvPr/>
          </p:nvSpPr>
          <p:spPr bwMode="auto">
            <a:xfrm>
              <a:off x="4176" y="814"/>
              <a:ext cx="789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DHCP Server</a:t>
              </a:r>
            </a:p>
          </p:txBody>
        </p:sp>
        <p:pic>
          <p:nvPicPr>
            <p:cNvPr id="431573" name="Picture 469" descr="Serv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84" y="780"/>
              <a:ext cx="461" cy="584"/>
            </a:xfrm>
            <a:prstGeom prst="rect">
              <a:avLst/>
            </a:prstGeom>
            <a:noFill/>
          </p:spPr>
        </p:pic>
        <p:pic>
          <p:nvPicPr>
            <p:cNvPr id="431574" name="Picture 470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618" y="1504"/>
              <a:ext cx="437" cy="532"/>
            </a:xfrm>
            <a:prstGeom prst="rect">
              <a:avLst/>
            </a:prstGeom>
            <a:noFill/>
          </p:spPr>
        </p:pic>
        <p:sp>
          <p:nvSpPr>
            <p:cNvPr id="431575" name="AutoShape 471"/>
            <p:cNvSpPr>
              <a:spLocks noChangeArrowheads="1"/>
            </p:cNvSpPr>
            <p:nvPr/>
          </p:nvSpPr>
          <p:spPr bwMode="auto">
            <a:xfrm>
              <a:off x="4069" y="1726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Client3</a:t>
              </a:r>
            </a:p>
          </p:txBody>
        </p:sp>
        <p:sp>
          <p:nvSpPr>
            <p:cNvPr id="431576" name="Oval 472"/>
            <p:cNvSpPr>
              <a:spLocks noChangeArrowheads="1"/>
            </p:cNvSpPr>
            <p:nvPr/>
          </p:nvSpPr>
          <p:spPr bwMode="auto">
            <a:xfrm>
              <a:off x="3600" y="994"/>
              <a:ext cx="1476" cy="981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r"/>
              <a:endParaRPr lang="pt-BR"/>
            </a:p>
          </p:txBody>
        </p:sp>
        <p:sp>
          <p:nvSpPr>
            <p:cNvPr id="431577" name="AutoShape 473"/>
            <p:cNvSpPr>
              <a:spLocks noChangeArrowheads="1"/>
            </p:cNvSpPr>
            <p:nvPr/>
          </p:nvSpPr>
          <p:spPr bwMode="auto">
            <a:xfrm>
              <a:off x="4176" y="814"/>
              <a:ext cx="858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Serveur DHCP</a:t>
              </a:r>
            </a:p>
          </p:txBody>
        </p:sp>
        <p:pic>
          <p:nvPicPr>
            <p:cNvPr id="431578" name="Picture 474" descr="Serv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84" y="780"/>
              <a:ext cx="461" cy="584"/>
            </a:xfrm>
            <a:prstGeom prst="rect">
              <a:avLst/>
            </a:prstGeom>
            <a:noFill/>
          </p:spPr>
        </p:pic>
        <p:pic>
          <p:nvPicPr>
            <p:cNvPr id="431579" name="Picture 475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618" y="1504"/>
              <a:ext cx="437" cy="532"/>
            </a:xfrm>
            <a:prstGeom prst="rect">
              <a:avLst/>
            </a:prstGeom>
            <a:noFill/>
          </p:spPr>
        </p:pic>
        <p:sp>
          <p:nvSpPr>
            <p:cNvPr id="431580" name="AutoShape 476"/>
            <p:cNvSpPr>
              <a:spLocks noChangeArrowheads="1"/>
            </p:cNvSpPr>
            <p:nvPr/>
          </p:nvSpPr>
          <p:spPr bwMode="auto">
            <a:xfrm>
              <a:off x="4069" y="1726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Client3</a:t>
              </a:r>
            </a:p>
          </p:txBody>
        </p:sp>
      </p:grpSp>
      <p:sp>
        <p:nvSpPr>
          <p:cNvPr id="4311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30779" y="319315"/>
            <a:ext cx="8534400" cy="610180"/>
          </a:xfrm>
        </p:spPr>
        <p:txBody>
          <a:bodyPr vert="horz" anchor="b"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GB" sz="2400" dirty="0">
                <a:solidFill>
                  <a:srgbClr val="C00000"/>
                </a:solidFill>
              </a:rPr>
              <a:t>Comment </a:t>
            </a:r>
            <a:r>
              <a:rPr lang="en-GB" sz="2400" dirty="0" err="1">
                <a:solidFill>
                  <a:srgbClr val="C00000"/>
                </a:solidFill>
              </a:rPr>
              <a:t>fonctionne</a:t>
            </a:r>
            <a:r>
              <a:rPr lang="en-GB" sz="2400" dirty="0">
                <a:solidFill>
                  <a:srgbClr val="C00000"/>
                </a:solidFill>
              </a:rPr>
              <a:t> un agent de </a:t>
            </a:r>
            <a:r>
              <a:rPr lang="en-GB" sz="2400" dirty="0" err="1">
                <a:solidFill>
                  <a:srgbClr val="C00000"/>
                </a:solidFill>
              </a:rPr>
              <a:t>relais</a:t>
            </a:r>
            <a:r>
              <a:rPr lang="en-GB" sz="2400" dirty="0">
                <a:solidFill>
                  <a:srgbClr val="C00000"/>
                </a:solidFill>
              </a:rPr>
              <a:t> DHCP?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31436" name="Line 332"/>
          <p:cNvSpPr>
            <a:spLocks noChangeShapeType="1"/>
          </p:cNvSpPr>
          <p:nvPr/>
        </p:nvSpPr>
        <p:spPr bwMode="auto">
          <a:xfrm>
            <a:off x="3484563" y="1804982"/>
            <a:ext cx="223678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sp>
        <p:nvSpPr>
          <p:cNvPr id="431437" name="Line 333"/>
          <p:cNvSpPr>
            <a:spLocks noChangeShapeType="1"/>
          </p:cNvSpPr>
          <p:nvPr/>
        </p:nvSpPr>
        <p:spPr bwMode="auto">
          <a:xfrm flipH="1">
            <a:off x="3394075" y="2011357"/>
            <a:ext cx="2236788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pic>
        <p:nvPicPr>
          <p:cNvPr id="431439" name="Picture 335" descr="Computer_DesktopComputerSansKeyboard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86063" y="2698744"/>
            <a:ext cx="693737" cy="844550"/>
          </a:xfrm>
          <a:prstGeom prst="rect">
            <a:avLst/>
          </a:prstGeom>
          <a:noFill/>
        </p:spPr>
      </p:pic>
      <p:sp>
        <p:nvSpPr>
          <p:cNvPr id="431440" name="Oval 336"/>
          <p:cNvSpPr>
            <a:spLocks noChangeArrowheads="1"/>
          </p:cNvSpPr>
          <p:nvPr/>
        </p:nvSpPr>
        <p:spPr bwMode="auto">
          <a:xfrm>
            <a:off x="5721350" y="1889119"/>
            <a:ext cx="2343150" cy="1557338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pt-BR"/>
          </a:p>
        </p:txBody>
      </p:sp>
      <p:pic>
        <p:nvPicPr>
          <p:cNvPr id="431442" name="Picture 338" descr="Server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54700" y="1549394"/>
            <a:ext cx="731838" cy="927100"/>
          </a:xfrm>
          <a:prstGeom prst="rect">
            <a:avLst/>
          </a:prstGeom>
          <a:noFill/>
        </p:spPr>
      </p:pic>
      <p:pic>
        <p:nvPicPr>
          <p:cNvPr id="431443" name="Picture 339" descr="Computer_DesktopComputerSansKeyboard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37425" y="2698744"/>
            <a:ext cx="693738" cy="844550"/>
          </a:xfrm>
          <a:prstGeom prst="rect">
            <a:avLst/>
          </a:prstGeom>
          <a:noFill/>
        </p:spPr>
      </p:pic>
      <p:sp>
        <p:nvSpPr>
          <p:cNvPr id="431444" name="AutoShape 340"/>
          <p:cNvSpPr>
            <a:spLocks noChangeArrowheads="1"/>
          </p:cNvSpPr>
          <p:nvPr/>
        </p:nvSpPr>
        <p:spPr bwMode="auto">
          <a:xfrm>
            <a:off x="6465888" y="3051169"/>
            <a:ext cx="815975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Client3</a:t>
            </a:r>
          </a:p>
        </p:txBody>
      </p:sp>
      <p:pic>
        <p:nvPicPr>
          <p:cNvPr id="431452" name="Picture 348" descr="Computer_DesktopComputerSansKeyboard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58863" y="2698744"/>
            <a:ext cx="693737" cy="844550"/>
          </a:xfrm>
          <a:prstGeom prst="rect">
            <a:avLst/>
          </a:prstGeom>
          <a:noFill/>
        </p:spPr>
      </p:pic>
      <p:pic>
        <p:nvPicPr>
          <p:cNvPr id="431455" name="Picture 351" descr="Server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01913" y="1549394"/>
            <a:ext cx="731837" cy="927100"/>
          </a:xfrm>
          <a:prstGeom prst="rect">
            <a:avLst/>
          </a:prstGeom>
          <a:noFill/>
        </p:spPr>
      </p:pic>
      <p:sp>
        <p:nvSpPr>
          <p:cNvPr id="431456" name="AutoShape 352"/>
          <p:cNvSpPr>
            <a:spLocks noChangeArrowheads="1"/>
          </p:cNvSpPr>
          <p:nvPr/>
        </p:nvSpPr>
        <p:spPr bwMode="auto">
          <a:xfrm>
            <a:off x="2316163" y="2987669"/>
            <a:ext cx="815975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Client2</a:t>
            </a:r>
          </a:p>
        </p:txBody>
      </p:sp>
      <p:sp>
        <p:nvSpPr>
          <p:cNvPr id="431457" name="Oval 353"/>
          <p:cNvSpPr>
            <a:spLocks noChangeArrowheads="1"/>
          </p:cNvSpPr>
          <p:nvPr/>
        </p:nvSpPr>
        <p:spPr bwMode="auto">
          <a:xfrm>
            <a:off x="1384300" y="2465382"/>
            <a:ext cx="488950" cy="48895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31458" name="Oval 354"/>
          <p:cNvSpPr>
            <a:spLocks noChangeArrowheads="1"/>
          </p:cNvSpPr>
          <p:nvPr/>
        </p:nvSpPr>
        <p:spPr bwMode="auto">
          <a:xfrm>
            <a:off x="1466850" y="2547932"/>
            <a:ext cx="322263" cy="322262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31459" name="Oval 355"/>
          <p:cNvSpPr>
            <a:spLocks noChangeArrowheads="1"/>
          </p:cNvSpPr>
          <p:nvPr/>
        </p:nvSpPr>
        <p:spPr bwMode="auto">
          <a:xfrm>
            <a:off x="1544638" y="2625719"/>
            <a:ext cx="168275" cy="168275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31465" name="AutoShape 361"/>
          <p:cNvSpPr>
            <a:spLocks noChangeArrowheads="1"/>
          </p:cNvSpPr>
          <p:nvPr/>
        </p:nvSpPr>
        <p:spPr bwMode="auto">
          <a:xfrm>
            <a:off x="1373188" y="3167057"/>
            <a:ext cx="815975" cy="279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US" sz="1600"/>
              <a:t>Client1</a:t>
            </a:r>
          </a:p>
        </p:txBody>
      </p:sp>
      <p:sp>
        <p:nvSpPr>
          <p:cNvPr id="431460" name="Oval 356"/>
          <p:cNvSpPr>
            <a:spLocks noChangeArrowheads="1"/>
          </p:cNvSpPr>
          <p:nvPr/>
        </p:nvSpPr>
        <p:spPr bwMode="auto">
          <a:xfrm>
            <a:off x="2347913" y="2093907"/>
            <a:ext cx="488950" cy="488950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31461" name="Oval 357"/>
          <p:cNvSpPr>
            <a:spLocks noChangeArrowheads="1"/>
          </p:cNvSpPr>
          <p:nvPr/>
        </p:nvSpPr>
        <p:spPr bwMode="auto">
          <a:xfrm>
            <a:off x="2430463" y="2176457"/>
            <a:ext cx="322262" cy="322262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31462" name="Oval 358"/>
          <p:cNvSpPr>
            <a:spLocks noChangeArrowheads="1"/>
          </p:cNvSpPr>
          <p:nvPr/>
        </p:nvSpPr>
        <p:spPr bwMode="auto">
          <a:xfrm>
            <a:off x="2508250" y="2254244"/>
            <a:ext cx="168275" cy="168275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grpSp>
        <p:nvGrpSpPr>
          <p:cNvPr id="431549" name="Group 445"/>
          <p:cNvGrpSpPr>
            <a:grpSpLocks/>
          </p:cNvGrpSpPr>
          <p:nvPr/>
        </p:nvGrpSpPr>
        <p:grpSpPr bwMode="auto">
          <a:xfrm>
            <a:off x="779463" y="1528530"/>
            <a:ext cx="7351712" cy="4979989"/>
            <a:chOff x="491" y="780"/>
            <a:chExt cx="4631" cy="3137"/>
          </a:xfrm>
        </p:grpSpPr>
        <p:grpSp>
          <p:nvGrpSpPr>
            <p:cNvPr id="431467" name="Group 363"/>
            <p:cNvGrpSpPr>
              <a:grpSpLocks/>
            </p:cNvGrpSpPr>
            <p:nvPr/>
          </p:nvGrpSpPr>
          <p:grpSpPr bwMode="auto">
            <a:xfrm>
              <a:off x="491" y="780"/>
              <a:ext cx="4631" cy="3137"/>
              <a:chOff x="491" y="780"/>
              <a:chExt cx="4631" cy="3137"/>
            </a:xfrm>
          </p:grpSpPr>
          <p:sp>
            <p:nvSpPr>
              <p:cNvPr id="431468" name="Line 364"/>
              <p:cNvSpPr>
                <a:spLocks noChangeShapeType="1"/>
              </p:cNvSpPr>
              <p:nvPr/>
            </p:nvSpPr>
            <p:spPr bwMode="auto">
              <a:xfrm>
                <a:off x="2114" y="1468"/>
                <a:ext cx="1566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BE"/>
              </a:p>
            </p:txBody>
          </p:sp>
          <p:sp>
            <p:nvSpPr>
              <p:cNvPr id="431469" name="AutoShape 365"/>
              <p:cNvSpPr>
                <a:spLocks noChangeArrowheads="1"/>
              </p:cNvSpPr>
              <p:nvPr/>
            </p:nvSpPr>
            <p:spPr bwMode="auto">
              <a:xfrm>
                <a:off x="572" y="798"/>
                <a:ext cx="4550" cy="3119"/>
              </a:xfrm>
              <a:prstGeom prst="roundRect">
                <a:avLst>
                  <a:gd name="adj" fmla="val 2931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EFD7"/>
                  </a:gs>
                </a:gsLst>
                <a:lin ang="5400000" scaled="1"/>
              </a:gra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BE"/>
              </a:p>
            </p:txBody>
          </p:sp>
          <p:sp>
            <p:nvSpPr>
              <p:cNvPr id="431470" name="AutoShape 366"/>
              <p:cNvSpPr>
                <a:spLocks noChangeArrowheads="1"/>
              </p:cNvSpPr>
              <p:nvPr/>
            </p:nvSpPr>
            <p:spPr bwMode="auto">
              <a:xfrm>
                <a:off x="2331" y="1707"/>
                <a:ext cx="1194" cy="338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pPr>
                  <a:lnSpc>
                    <a:spcPct val="95000"/>
                  </a:lnSpc>
                </a:pPr>
                <a:r>
                  <a:rPr lang="en-US" sz="1600"/>
                  <a:t>Router</a:t>
                </a:r>
              </a:p>
              <a:p>
                <a:pPr>
                  <a:lnSpc>
                    <a:spcPct val="95000"/>
                  </a:lnSpc>
                </a:pPr>
                <a:r>
                  <a:rPr lang="en-US" sz="1400"/>
                  <a:t>Non-RFC 1542 Compliant</a:t>
                </a:r>
              </a:p>
            </p:txBody>
          </p:sp>
          <p:pic>
            <p:nvPicPr>
              <p:cNvPr id="431471" name="Picture 367" descr="Rackmount_Rout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642" y="1377"/>
                <a:ext cx="578" cy="370"/>
              </a:xfrm>
              <a:prstGeom prst="rect">
                <a:avLst/>
              </a:prstGeom>
              <a:noFill/>
            </p:spPr>
          </p:pic>
          <p:sp>
            <p:nvSpPr>
              <p:cNvPr id="431472" name="AutoShape 368"/>
              <p:cNvSpPr>
                <a:spLocks noChangeArrowheads="1"/>
              </p:cNvSpPr>
              <p:nvPr/>
            </p:nvSpPr>
            <p:spPr bwMode="auto">
              <a:xfrm>
                <a:off x="2288" y="1707"/>
                <a:ext cx="1280" cy="338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pPr>
                  <a:lnSpc>
                    <a:spcPct val="95000"/>
                  </a:lnSpc>
                </a:pPr>
                <a:r>
                  <a:rPr lang="fr-FR" sz="1600"/>
                  <a:t>Routeur</a:t>
                </a:r>
              </a:p>
              <a:p>
                <a:pPr>
                  <a:lnSpc>
                    <a:spcPct val="95000"/>
                  </a:lnSpc>
                </a:pPr>
                <a:r>
                  <a:rPr lang="fr-FR" sz="1600"/>
                  <a:t>non conforme RFC 1542</a:t>
                </a:r>
                <a:endParaRPr lang="en-US" sz="1600"/>
              </a:p>
            </p:txBody>
          </p:sp>
          <p:sp>
            <p:nvSpPr>
              <p:cNvPr id="431473" name="Line 369"/>
              <p:cNvSpPr>
                <a:spLocks noChangeShapeType="1"/>
              </p:cNvSpPr>
              <p:nvPr/>
            </p:nvSpPr>
            <p:spPr bwMode="auto">
              <a:xfrm>
                <a:off x="2114" y="1468"/>
                <a:ext cx="1566" cy="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BE"/>
              </a:p>
            </p:txBody>
          </p:sp>
          <p:pic>
            <p:nvPicPr>
              <p:cNvPr id="431474" name="Picture 370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63" y="1504"/>
                <a:ext cx="437" cy="532"/>
              </a:xfrm>
              <a:prstGeom prst="rect">
                <a:avLst/>
              </a:prstGeom>
              <a:noFill/>
            </p:spPr>
          </p:pic>
          <p:pic>
            <p:nvPicPr>
              <p:cNvPr id="431475" name="Picture 371" descr="Serv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635" y="780"/>
                <a:ext cx="461" cy="584"/>
              </a:xfrm>
              <a:prstGeom prst="rect">
                <a:avLst/>
              </a:prstGeom>
              <a:noFill/>
            </p:spPr>
          </p:pic>
          <p:sp>
            <p:nvSpPr>
              <p:cNvPr id="431476" name="AutoShape 372"/>
              <p:cNvSpPr>
                <a:spLocks noChangeArrowheads="1"/>
              </p:cNvSpPr>
              <p:nvPr/>
            </p:nvSpPr>
            <p:spPr bwMode="auto">
              <a:xfrm>
                <a:off x="861" y="1799"/>
                <a:ext cx="514" cy="17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Client1</a:t>
                </a:r>
              </a:p>
            </p:txBody>
          </p:sp>
          <p:pic>
            <p:nvPicPr>
              <p:cNvPr id="431477" name="Picture 373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751" y="1504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431478" name="AutoShape 374"/>
              <p:cNvSpPr>
                <a:spLocks noChangeArrowheads="1"/>
              </p:cNvSpPr>
              <p:nvPr/>
            </p:nvSpPr>
            <p:spPr bwMode="auto">
              <a:xfrm>
                <a:off x="1455" y="1686"/>
                <a:ext cx="514" cy="17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Client2</a:t>
                </a:r>
              </a:p>
            </p:txBody>
          </p:sp>
          <p:pic>
            <p:nvPicPr>
              <p:cNvPr id="431479" name="Picture 375" descr="Rackmount_Rout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642" y="1377"/>
                <a:ext cx="578" cy="370"/>
              </a:xfrm>
              <a:prstGeom prst="rect">
                <a:avLst/>
              </a:prstGeom>
              <a:noFill/>
            </p:spPr>
          </p:pic>
          <p:sp>
            <p:nvSpPr>
              <p:cNvPr id="431480" name="Oval 376"/>
              <p:cNvSpPr>
                <a:spLocks noChangeArrowheads="1"/>
              </p:cNvSpPr>
              <p:nvPr/>
            </p:nvSpPr>
            <p:spPr bwMode="auto">
              <a:xfrm>
                <a:off x="732" y="994"/>
                <a:ext cx="1476" cy="981"/>
              </a:xfrm>
              <a:prstGeom prst="ellipse">
                <a:avLst/>
              </a:prstGeom>
              <a:gradFill rotWithShape="1">
                <a:gsLst>
                  <a:gs pos="0">
                    <a:srgbClr val="F0F1FF"/>
                  </a:gs>
                  <a:gs pos="100000">
                    <a:srgbClr val="B3C8D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DADAD"/>
                </a:outerShdw>
              </a:effectLst>
            </p:spPr>
            <p:txBody>
              <a:bodyPr wrap="none" anchor="ctr"/>
              <a:lstStyle/>
              <a:p>
                <a:pPr algn="l"/>
                <a:endParaRPr lang="pt-BR"/>
              </a:p>
            </p:txBody>
          </p:sp>
          <p:sp>
            <p:nvSpPr>
              <p:cNvPr id="431481" name="AutoShape 377"/>
              <p:cNvSpPr>
                <a:spLocks noChangeArrowheads="1"/>
              </p:cNvSpPr>
              <p:nvPr/>
            </p:nvSpPr>
            <p:spPr bwMode="auto">
              <a:xfrm>
                <a:off x="491" y="814"/>
                <a:ext cx="1153" cy="19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 algn="ctr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r>
                  <a:rPr lang="en-US" sz="1600"/>
                  <a:t>Agent de relais DHCP</a:t>
                </a:r>
              </a:p>
            </p:txBody>
          </p:sp>
          <p:pic>
            <p:nvPicPr>
              <p:cNvPr id="431482" name="Picture 378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63" y="1504"/>
                <a:ext cx="437" cy="532"/>
              </a:xfrm>
              <a:prstGeom prst="rect">
                <a:avLst/>
              </a:prstGeom>
              <a:noFill/>
            </p:spPr>
          </p:pic>
          <p:pic>
            <p:nvPicPr>
              <p:cNvPr id="431483" name="Picture 379" descr="Serv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635" y="780"/>
                <a:ext cx="461" cy="584"/>
              </a:xfrm>
              <a:prstGeom prst="rect">
                <a:avLst/>
              </a:prstGeom>
              <a:noFill/>
            </p:spPr>
          </p:pic>
          <p:sp>
            <p:nvSpPr>
              <p:cNvPr id="431484" name="AutoShape 380"/>
              <p:cNvSpPr>
                <a:spLocks noChangeArrowheads="1"/>
              </p:cNvSpPr>
              <p:nvPr/>
            </p:nvSpPr>
            <p:spPr bwMode="auto">
              <a:xfrm>
                <a:off x="861" y="1799"/>
                <a:ext cx="514" cy="17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Client1</a:t>
                </a:r>
              </a:p>
            </p:txBody>
          </p:sp>
          <p:pic>
            <p:nvPicPr>
              <p:cNvPr id="431485" name="Picture 381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751" y="1504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431486" name="AutoShape 382"/>
              <p:cNvSpPr>
                <a:spLocks noChangeArrowheads="1"/>
              </p:cNvSpPr>
              <p:nvPr/>
            </p:nvSpPr>
            <p:spPr bwMode="auto">
              <a:xfrm>
                <a:off x="1455" y="1686"/>
                <a:ext cx="514" cy="17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Client2</a:t>
                </a:r>
              </a:p>
            </p:txBody>
          </p:sp>
          <p:sp>
            <p:nvSpPr>
              <p:cNvPr id="431487" name="Oval 383"/>
              <p:cNvSpPr>
                <a:spLocks noChangeArrowheads="1"/>
              </p:cNvSpPr>
              <p:nvPr/>
            </p:nvSpPr>
            <p:spPr bwMode="auto">
              <a:xfrm>
                <a:off x="3600" y="994"/>
                <a:ext cx="1476" cy="981"/>
              </a:xfrm>
              <a:prstGeom prst="ellipse">
                <a:avLst/>
              </a:prstGeom>
              <a:gradFill rotWithShape="1">
                <a:gsLst>
                  <a:gs pos="0">
                    <a:srgbClr val="F0F1FF"/>
                  </a:gs>
                  <a:gs pos="100000">
                    <a:srgbClr val="B3C8D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DADAD"/>
                </a:outerShdw>
              </a:effectLst>
            </p:spPr>
            <p:txBody>
              <a:bodyPr wrap="none" anchor="ctr"/>
              <a:lstStyle/>
              <a:p>
                <a:pPr algn="r"/>
                <a:endParaRPr lang="pt-BR"/>
              </a:p>
            </p:txBody>
          </p:sp>
          <p:sp>
            <p:nvSpPr>
              <p:cNvPr id="431488" name="AutoShape 384"/>
              <p:cNvSpPr>
                <a:spLocks noChangeArrowheads="1"/>
              </p:cNvSpPr>
              <p:nvPr/>
            </p:nvSpPr>
            <p:spPr bwMode="auto">
              <a:xfrm>
                <a:off x="4176" y="814"/>
                <a:ext cx="789" cy="19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DHCP Server</a:t>
                </a:r>
              </a:p>
            </p:txBody>
          </p:sp>
          <p:pic>
            <p:nvPicPr>
              <p:cNvPr id="431489" name="Picture 385" descr="Serv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684" y="780"/>
                <a:ext cx="461" cy="584"/>
              </a:xfrm>
              <a:prstGeom prst="rect">
                <a:avLst/>
              </a:prstGeom>
              <a:noFill/>
            </p:spPr>
          </p:pic>
          <p:pic>
            <p:nvPicPr>
              <p:cNvPr id="431490" name="Picture 386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618" y="1504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431491" name="AutoShape 387"/>
              <p:cNvSpPr>
                <a:spLocks noChangeArrowheads="1"/>
              </p:cNvSpPr>
              <p:nvPr/>
            </p:nvSpPr>
            <p:spPr bwMode="auto">
              <a:xfrm>
                <a:off x="4069" y="1726"/>
                <a:ext cx="514" cy="17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Client3</a:t>
                </a:r>
              </a:p>
            </p:txBody>
          </p:sp>
          <p:sp>
            <p:nvSpPr>
              <p:cNvPr id="431492" name="Oval 388"/>
              <p:cNvSpPr>
                <a:spLocks noChangeArrowheads="1"/>
              </p:cNvSpPr>
              <p:nvPr/>
            </p:nvSpPr>
            <p:spPr bwMode="auto">
              <a:xfrm>
                <a:off x="3600" y="994"/>
                <a:ext cx="1476" cy="981"/>
              </a:xfrm>
              <a:prstGeom prst="ellipse">
                <a:avLst/>
              </a:prstGeom>
              <a:gradFill rotWithShape="1">
                <a:gsLst>
                  <a:gs pos="0">
                    <a:srgbClr val="F0F1FF"/>
                  </a:gs>
                  <a:gs pos="100000">
                    <a:srgbClr val="B3C8D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DADAD"/>
                </a:outerShdw>
              </a:effectLst>
            </p:spPr>
            <p:txBody>
              <a:bodyPr wrap="none" anchor="ctr"/>
              <a:lstStyle/>
              <a:p>
                <a:pPr algn="r"/>
                <a:endParaRPr lang="pt-BR"/>
              </a:p>
            </p:txBody>
          </p:sp>
          <p:sp>
            <p:nvSpPr>
              <p:cNvPr id="431493" name="AutoShape 389"/>
              <p:cNvSpPr>
                <a:spLocks noChangeArrowheads="1"/>
              </p:cNvSpPr>
              <p:nvPr/>
            </p:nvSpPr>
            <p:spPr bwMode="auto">
              <a:xfrm>
                <a:off x="4176" y="814"/>
                <a:ext cx="858" cy="19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Serveur DHCP</a:t>
                </a:r>
              </a:p>
            </p:txBody>
          </p:sp>
          <p:pic>
            <p:nvPicPr>
              <p:cNvPr id="431494" name="Picture 390" descr="Serv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684" y="780"/>
                <a:ext cx="461" cy="584"/>
              </a:xfrm>
              <a:prstGeom prst="rect">
                <a:avLst/>
              </a:prstGeom>
              <a:noFill/>
            </p:spPr>
          </p:pic>
          <p:pic>
            <p:nvPicPr>
              <p:cNvPr id="431495" name="Picture 391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618" y="1504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431496" name="AutoShape 392"/>
              <p:cNvSpPr>
                <a:spLocks noChangeArrowheads="1"/>
              </p:cNvSpPr>
              <p:nvPr/>
            </p:nvSpPr>
            <p:spPr bwMode="auto">
              <a:xfrm>
                <a:off x="4069" y="1726"/>
                <a:ext cx="514" cy="176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600"/>
                  <a:t>Client3</a:t>
                </a:r>
              </a:p>
            </p:txBody>
          </p:sp>
        </p:grpSp>
        <p:sp>
          <p:nvSpPr>
            <p:cNvPr id="431438" name="Line 334"/>
            <p:cNvSpPr>
              <a:spLocks noChangeShapeType="1"/>
            </p:cNvSpPr>
            <p:nvPr/>
          </p:nvSpPr>
          <p:spPr bwMode="auto">
            <a:xfrm>
              <a:off x="2118" y="1472"/>
              <a:ext cx="1566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BE"/>
            </a:p>
          </p:txBody>
        </p:sp>
        <p:sp>
          <p:nvSpPr>
            <p:cNvPr id="431445" name="Oval 341"/>
            <p:cNvSpPr>
              <a:spLocks noChangeArrowheads="1"/>
            </p:cNvSpPr>
            <p:nvPr/>
          </p:nvSpPr>
          <p:spPr bwMode="auto">
            <a:xfrm>
              <a:off x="3604" y="998"/>
              <a:ext cx="1476" cy="981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r"/>
              <a:endParaRPr lang="pt-BR"/>
            </a:p>
          </p:txBody>
        </p:sp>
        <p:sp>
          <p:nvSpPr>
            <p:cNvPr id="431446" name="AutoShape 342"/>
            <p:cNvSpPr>
              <a:spLocks noChangeArrowheads="1"/>
            </p:cNvSpPr>
            <p:nvPr/>
          </p:nvSpPr>
          <p:spPr bwMode="auto">
            <a:xfrm>
              <a:off x="4180" y="818"/>
              <a:ext cx="858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Serveur DHCP</a:t>
              </a:r>
            </a:p>
          </p:txBody>
        </p:sp>
        <p:pic>
          <p:nvPicPr>
            <p:cNvPr id="431447" name="Picture 343" descr="Serv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88" y="784"/>
              <a:ext cx="461" cy="584"/>
            </a:xfrm>
            <a:prstGeom prst="rect">
              <a:avLst/>
            </a:prstGeom>
            <a:noFill/>
          </p:spPr>
        </p:pic>
        <p:pic>
          <p:nvPicPr>
            <p:cNvPr id="431448" name="Picture 344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622" y="1508"/>
              <a:ext cx="437" cy="532"/>
            </a:xfrm>
            <a:prstGeom prst="rect">
              <a:avLst/>
            </a:prstGeom>
            <a:noFill/>
          </p:spPr>
        </p:pic>
        <p:sp>
          <p:nvSpPr>
            <p:cNvPr id="431449" name="AutoShape 345"/>
            <p:cNvSpPr>
              <a:spLocks noChangeArrowheads="1"/>
            </p:cNvSpPr>
            <p:nvPr/>
          </p:nvSpPr>
          <p:spPr bwMode="auto">
            <a:xfrm>
              <a:off x="4073" y="1730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Client3</a:t>
              </a:r>
            </a:p>
          </p:txBody>
        </p:sp>
        <p:sp>
          <p:nvSpPr>
            <p:cNvPr id="431450" name="Oval 346"/>
            <p:cNvSpPr>
              <a:spLocks noChangeArrowheads="1"/>
            </p:cNvSpPr>
            <p:nvPr/>
          </p:nvSpPr>
          <p:spPr bwMode="auto">
            <a:xfrm>
              <a:off x="736" y="998"/>
              <a:ext cx="1476" cy="981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l"/>
              <a:endParaRPr lang="pt-BR"/>
            </a:p>
          </p:txBody>
        </p:sp>
        <p:pic>
          <p:nvPicPr>
            <p:cNvPr id="431451" name="Picture 347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755" y="1508"/>
              <a:ext cx="437" cy="532"/>
            </a:xfrm>
            <a:prstGeom prst="rect">
              <a:avLst/>
            </a:prstGeom>
            <a:noFill/>
          </p:spPr>
        </p:pic>
        <p:pic>
          <p:nvPicPr>
            <p:cNvPr id="431453" name="Picture 349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67" y="1508"/>
              <a:ext cx="437" cy="532"/>
            </a:xfrm>
            <a:prstGeom prst="rect">
              <a:avLst/>
            </a:prstGeom>
            <a:noFill/>
          </p:spPr>
        </p:pic>
        <p:sp>
          <p:nvSpPr>
            <p:cNvPr id="431454" name="AutoShape 350"/>
            <p:cNvSpPr>
              <a:spLocks noChangeArrowheads="1"/>
            </p:cNvSpPr>
            <p:nvPr/>
          </p:nvSpPr>
          <p:spPr bwMode="auto">
            <a:xfrm>
              <a:off x="495" y="818"/>
              <a:ext cx="1153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US" sz="1600" dirty="0"/>
                <a:t>Agent de </a:t>
              </a:r>
              <a:r>
                <a:rPr lang="en-US" sz="1600" dirty="0" err="1"/>
                <a:t>relais</a:t>
              </a:r>
              <a:r>
                <a:rPr lang="en-US" sz="1600" dirty="0"/>
                <a:t> DHCP</a:t>
              </a:r>
            </a:p>
          </p:txBody>
        </p:sp>
        <p:sp>
          <p:nvSpPr>
            <p:cNvPr id="431463" name="AutoShape 359"/>
            <p:cNvSpPr>
              <a:spLocks noChangeArrowheads="1"/>
            </p:cNvSpPr>
            <p:nvPr/>
          </p:nvSpPr>
          <p:spPr bwMode="auto">
            <a:xfrm>
              <a:off x="1459" y="1690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Client2</a:t>
              </a:r>
            </a:p>
          </p:txBody>
        </p:sp>
        <p:pic>
          <p:nvPicPr>
            <p:cNvPr id="431464" name="Picture 360" descr="Serv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39" y="784"/>
              <a:ext cx="461" cy="584"/>
            </a:xfrm>
            <a:prstGeom prst="rect">
              <a:avLst/>
            </a:prstGeom>
            <a:noFill/>
          </p:spPr>
        </p:pic>
        <p:sp>
          <p:nvSpPr>
            <p:cNvPr id="431466" name="AutoShape 362"/>
            <p:cNvSpPr>
              <a:spLocks noChangeArrowheads="1"/>
            </p:cNvSpPr>
            <p:nvPr/>
          </p:nvSpPr>
          <p:spPr bwMode="auto">
            <a:xfrm>
              <a:off x="865" y="1803"/>
              <a:ext cx="514" cy="176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600"/>
                <a:t>Client1</a:t>
              </a:r>
            </a:p>
          </p:txBody>
        </p:sp>
        <p:sp>
          <p:nvSpPr>
            <p:cNvPr id="431434" name="AutoShape 330"/>
            <p:cNvSpPr>
              <a:spLocks noChangeArrowheads="1"/>
            </p:cNvSpPr>
            <p:nvPr/>
          </p:nvSpPr>
          <p:spPr bwMode="auto">
            <a:xfrm>
              <a:off x="2292" y="1711"/>
              <a:ext cx="1280" cy="338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>
                <a:lnSpc>
                  <a:spcPct val="95000"/>
                </a:lnSpc>
              </a:pPr>
              <a:r>
                <a:rPr lang="fr-FR" sz="1600" dirty="0"/>
                <a:t>Routeur</a:t>
              </a:r>
            </a:p>
            <a:p>
              <a:pPr>
                <a:lnSpc>
                  <a:spcPct val="95000"/>
                </a:lnSpc>
              </a:pPr>
              <a:r>
                <a:rPr lang="fr-FR" sz="1600" dirty="0"/>
                <a:t>non conforme RFC 1542</a:t>
              </a:r>
              <a:endParaRPr lang="en-US" sz="1600" dirty="0"/>
            </a:p>
          </p:txBody>
        </p:sp>
        <p:pic>
          <p:nvPicPr>
            <p:cNvPr id="431435" name="Picture 331" descr="Rackmount_Rout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46" y="1381"/>
              <a:ext cx="578" cy="370"/>
            </a:xfrm>
            <a:prstGeom prst="rect">
              <a:avLst/>
            </a:prstGeom>
            <a:noFill/>
          </p:spPr>
        </p:pic>
      </p:grpSp>
      <p:grpSp>
        <p:nvGrpSpPr>
          <p:cNvPr id="431497" name="Group 393"/>
          <p:cNvGrpSpPr>
            <a:grpSpLocks/>
          </p:cNvGrpSpPr>
          <p:nvPr/>
        </p:nvGrpSpPr>
        <p:grpSpPr bwMode="auto">
          <a:xfrm>
            <a:off x="0" y="6316438"/>
            <a:ext cx="914400" cy="425450"/>
            <a:chOff x="384" y="3024"/>
            <a:chExt cx="720" cy="336"/>
          </a:xfrm>
        </p:grpSpPr>
        <p:sp>
          <p:nvSpPr>
            <p:cNvPr id="431498" name="Oval 394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  <p:grpSp>
          <p:nvGrpSpPr>
            <p:cNvPr id="431499" name="Group 395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431500" name="Oval 396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BE"/>
              </a:p>
            </p:txBody>
          </p:sp>
          <p:sp>
            <p:nvSpPr>
              <p:cNvPr id="431501" name="Freeform 397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BE"/>
              </a:p>
            </p:txBody>
          </p:sp>
        </p:grpSp>
      </p:grpSp>
      <p:grpSp>
        <p:nvGrpSpPr>
          <p:cNvPr id="431502" name="Group 398"/>
          <p:cNvGrpSpPr>
            <a:grpSpLocks/>
          </p:cNvGrpSpPr>
          <p:nvPr/>
        </p:nvGrpSpPr>
        <p:grpSpPr bwMode="auto">
          <a:xfrm>
            <a:off x="934580" y="3591376"/>
            <a:ext cx="7886927" cy="367846"/>
            <a:chOff x="914" y="2208"/>
            <a:chExt cx="3854" cy="206"/>
          </a:xfrm>
        </p:grpSpPr>
        <p:sp>
          <p:nvSpPr>
            <p:cNvPr id="431503" name="AutoShape 399"/>
            <p:cNvSpPr>
              <a:spLocks noChangeArrowheads="1"/>
            </p:cNvSpPr>
            <p:nvPr/>
          </p:nvSpPr>
          <p:spPr bwMode="auto">
            <a:xfrm>
              <a:off x="998" y="2208"/>
              <a:ext cx="3770" cy="20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EAABA0"/>
                </a:gs>
                <a:gs pos="100000">
                  <a:srgbClr val="F6D9D4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fr-FR" sz="2000"/>
                <a:t>Client1 diffuse un paquet DHCPDISCOVER</a:t>
              </a:r>
            </a:p>
          </p:txBody>
        </p:sp>
        <p:sp>
          <p:nvSpPr>
            <p:cNvPr id="431504" name="AutoShape 400"/>
            <p:cNvSpPr>
              <a:spLocks noChangeArrowheads="1"/>
            </p:cNvSpPr>
            <p:nvPr/>
          </p:nvSpPr>
          <p:spPr bwMode="auto">
            <a:xfrm>
              <a:off x="914" y="2223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1</a:t>
              </a:r>
            </a:p>
          </p:txBody>
        </p:sp>
      </p:grpSp>
      <p:grpSp>
        <p:nvGrpSpPr>
          <p:cNvPr id="431505" name="Group 401"/>
          <p:cNvGrpSpPr>
            <a:grpSpLocks/>
          </p:cNvGrpSpPr>
          <p:nvPr/>
        </p:nvGrpSpPr>
        <p:grpSpPr bwMode="auto">
          <a:xfrm>
            <a:off x="934580" y="3969003"/>
            <a:ext cx="7888893" cy="369632"/>
            <a:chOff x="914" y="2429"/>
            <a:chExt cx="3854" cy="207"/>
          </a:xfrm>
        </p:grpSpPr>
        <p:sp>
          <p:nvSpPr>
            <p:cNvPr id="431506" name="AutoShape 402"/>
            <p:cNvSpPr>
              <a:spLocks noChangeArrowheads="1"/>
            </p:cNvSpPr>
            <p:nvPr/>
          </p:nvSpPr>
          <p:spPr bwMode="auto">
            <a:xfrm>
              <a:off x="998" y="2429"/>
              <a:ext cx="3770" cy="20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EAABA0"/>
                </a:gs>
                <a:gs pos="100000">
                  <a:srgbClr val="F6D9D4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fr-FR" sz="2000"/>
                <a:t>L'agent de relais transmet le message DHCPDISCOVER au serveur DHCP</a:t>
              </a:r>
            </a:p>
          </p:txBody>
        </p:sp>
        <p:sp>
          <p:nvSpPr>
            <p:cNvPr id="431507" name="AutoShape 403"/>
            <p:cNvSpPr>
              <a:spLocks noChangeArrowheads="1"/>
            </p:cNvSpPr>
            <p:nvPr/>
          </p:nvSpPr>
          <p:spPr bwMode="auto">
            <a:xfrm>
              <a:off x="914" y="2439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2</a:t>
              </a:r>
            </a:p>
          </p:txBody>
        </p:sp>
      </p:grpSp>
      <p:grpSp>
        <p:nvGrpSpPr>
          <p:cNvPr id="431508" name="Group 404"/>
          <p:cNvGrpSpPr>
            <a:grpSpLocks/>
          </p:cNvGrpSpPr>
          <p:nvPr/>
        </p:nvGrpSpPr>
        <p:grpSpPr bwMode="auto">
          <a:xfrm>
            <a:off x="934580" y="4350201"/>
            <a:ext cx="7904616" cy="367846"/>
            <a:chOff x="914" y="2692"/>
            <a:chExt cx="3854" cy="206"/>
          </a:xfrm>
        </p:grpSpPr>
        <p:sp>
          <p:nvSpPr>
            <p:cNvPr id="431509" name="AutoShape 405"/>
            <p:cNvSpPr>
              <a:spLocks noChangeArrowheads="1"/>
            </p:cNvSpPr>
            <p:nvPr/>
          </p:nvSpPr>
          <p:spPr bwMode="auto">
            <a:xfrm>
              <a:off x="998" y="2692"/>
              <a:ext cx="3770" cy="20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97DFC1"/>
                </a:gs>
                <a:gs pos="100000">
                  <a:srgbClr val="DAF4E9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fr-FR" sz="2000"/>
                <a:t>Le serveur envoie un message DHCPOFFER à l'agent de relais DHCP</a:t>
              </a:r>
            </a:p>
          </p:txBody>
        </p:sp>
        <p:sp>
          <p:nvSpPr>
            <p:cNvPr id="431510" name="AutoShape 406"/>
            <p:cNvSpPr>
              <a:spLocks noChangeArrowheads="1"/>
            </p:cNvSpPr>
            <p:nvPr/>
          </p:nvSpPr>
          <p:spPr bwMode="auto">
            <a:xfrm>
              <a:off x="914" y="2707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3</a:t>
              </a:r>
            </a:p>
          </p:txBody>
        </p:sp>
      </p:grpSp>
      <p:grpSp>
        <p:nvGrpSpPr>
          <p:cNvPr id="431511" name="Group 407"/>
          <p:cNvGrpSpPr>
            <a:grpSpLocks/>
          </p:cNvGrpSpPr>
          <p:nvPr/>
        </p:nvGrpSpPr>
        <p:grpSpPr bwMode="auto">
          <a:xfrm>
            <a:off x="934580" y="4727828"/>
            <a:ext cx="7920339" cy="369632"/>
            <a:chOff x="914" y="2913"/>
            <a:chExt cx="3854" cy="207"/>
          </a:xfrm>
        </p:grpSpPr>
        <p:sp>
          <p:nvSpPr>
            <p:cNvPr id="431512" name="AutoShape 408"/>
            <p:cNvSpPr>
              <a:spLocks noChangeArrowheads="1"/>
            </p:cNvSpPr>
            <p:nvPr/>
          </p:nvSpPr>
          <p:spPr bwMode="auto">
            <a:xfrm>
              <a:off x="998" y="2913"/>
              <a:ext cx="3770" cy="20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97DFC1"/>
                </a:gs>
                <a:gs pos="100000">
                  <a:srgbClr val="DAF4E9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fr-FR" sz="2000"/>
                <a:t>L'agent de relais diffuse le paquet DHCPOFFER</a:t>
              </a:r>
            </a:p>
          </p:txBody>
        </p:sp>
        <p:sp>
          <p:nvSpPr>
            <p:cNvPr id="431513" name="AutoShape 409"/>
            <p:cNvSpPr>
              <a:spLocks noChangeArrowheads="1"/>
            </p:cNvSpPr>
            <p:nvPr/>
          </p:nvSpPr>
          <p:spPr bwMode="auto">
            <a:xfrm>
              <a:off x="914" y="2923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4</a:t>
              </a:r>
            </a:p>
          </p:txBody>
        </p:sp>
      </p:grpSp>
      <p:grpSp>
        <p:nvGrpSpPr>
          <p:cNvPr id="431514" name="Group 410"/>
          <p:cNvGrpSpPr>
            <a:grpSpLocks/>
          </p:cNvGrpSpPr>
          <p:nvPr/>
        </p:nvGrpSpPr>
        <p:grpSpPr bwMode="auto">
          <a:xfrm>
            <a:off x="934580" y="5109026"/>
            <a:ext cx="7904616" cy="367846"/>
            <a:chOff x="914" y="3176"/>
            <a:chExt cx="3854" cy="206"/>
          </a:xfrm>
        </p:grpSpPr>
        <p:sp>
          <p:nvSpPr>
            <p:cNvPr id="431515" name="AutoShape 411"/>
            <p:cNvSpPr>
              <a:spLocks noChangeArrowheads="1"/>
            </p:cNvSpPr>
            <p:nvPr/>
          </p:nvSpPr>
          <p:spPr bwMode="auto">
            <a:xfrm>
              <a:off x="998" y="3176"/>
              <a:ext cx="3770" cy="20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DACD0"/>
                </a:gs>
                <a:gs pos="100000">
                  <a:srgbClr val="DEE7F1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 sz="2000">
                  <a:solidFill>
                    <a:srgbClr val="000000"/>
                  </a:solidFill>
                </a:rPr>
                <a:t>Client1 diffuse un paquet DHCPREQUEST</a:t>
              </a: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431516" name="AutoShape 412"/>
            <p:cNvSpPr>
              <a:spLocks noChangeArrowheads="1"/>
            </p:cNvSpPr>
            <p:nvPr/>
          </p:nvSpPr>
          <p:spPr bwMode="auto">
            <a:xfrm>
              <a:off x="914" y="3191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5</a:t>
              </a:r>
            </a:p>
          </p:txBody>
        </p:sp>
      </p:grpSp>
      <p:grpSp>
        <p:nvGrpSpPr>
          <p:cNvPr id="431517" name="Group 413"/>
          <p:cNvGrpSpPr>
            <a:grpSpLocks/>
          </p:cNvGrpSpPr>
          <p:nvPr/>
        </p:nvGrpSpPr>
        <p:grpSpPr bwMode="auto">
          <a:xfrm>
            <a:off x="934580" y="5486653"/>
            <a:ext cx="7904616" cy="369632"/>
            <a:chOff x="914" y="3397"/>
            <a:chExt cx="3854" cy="207"/>
          </a:xfrm>
        </p:grpSpPr>
        <p:sp>
          <p:nvSpPr>
            <p:cNvPr id="431518" name="AutoShape 414"/>
            <p:cNvSpPr>
              <a:spLocks noChangeArrowheads="1"/>
            </p:cNvSpPr>
            <p:nvPr/>
          </p:nvSpPr>
          <p:spPr bwMode="auto">
            <a:xfrm>
              <a:off x="998" y="3397"/>
              <a:ext cx="3770" cy="20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DACD0"/>
                </a:gs>
                <a:gs pos="100000">
                  <a:srgbClr val="DEE7F1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 sz="2000">
                  <a:solidFill>
                    <a:srgbClr val="000000"/>
                  </a:solidFill>
                </a:rPr>
                <a:t>L'agent de relais transmet le message DHCPREQUEST au serveur DHCP</a:t>
              </a: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431519" name="AutoShape 415"/>
            <p:cNvSpPr>
              <a:spLocks noChangeArrowheads="1"/>
            </p:cNvSpPr>
            <p:nvPr/>
          </p:nvSpPr>
          <p:spPr bwMode="auto">
            <a:xfrm>
              <a:off x="914" y="3407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6</a:t>
              </a:r>
            </a:p>
          </p:txBody>
        </p:sp>
      </p:grpSp>
      <p:grpSp>
        <p:nvGrpSpPr>
          <p:cNvPr id="431520" name="Group 416"/>
          <p:cNvGrpSpPr>
            <a:grpSpLocks/>
          </p:cNvGrpSpPr>
          <p:nvPr/>
        </p:nvGrpSpPr>
        <p:grpSpPr bwMode="auto">
          <a:xfrm>
            <a:off x="934579" y="5867851"/>
            <a:ext cx="7922303" cy="367846"/>
            <a:chOff x="914" y="3660"/>
            <a:chExt cx="3854" cy="206"/>
          </a:xfrm>
        </p:grpSpPr>
        <p:sp>
          <p:nvSpPr>
            <p:cNvPr id="431521" name="AutoShape 417"/>
            <p:cNvSpPr>
              <a:spLocks noChangeArrowheads="1"/>
            </p:cNvSpPr>
            <p:nvPr/>
          </p:nvSpPr>
          <p:spPr bwMode="auto">
            <a:xfrm>
              <a:off x="998" y="3660"/>
              <a:ext cx="3770" cy="20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FF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 sz="2000">
                  <a:solidFill>
                    <a:srgbClr val="000000"/>
                  </a:solidFill>
                </a:rPr>
                <a:t>Le serveur envoie un message DHCPACK à l'agent de relais DHCP</a:t>
              </a: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431522" name="AutoShape 418"/>
            <p:cNvSpPr>
              <a:spLocks noChangeArrowheads="1"/>
            </p:cNvSpPr>
            <p:nvPr/>
          </p:nvSpPr>
          <p:spPr bwMode="auto">
            <a:xfrm>
              <a:off x="914" y="3675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7</a:t>
              </a:r>
            </a:p>
          </p:txBody>
        </p:sp>
      </p:grpSp>
      <p:grpSp>
        <p:nvGrpSpPr>
          <p:cNvPr id="431523" name="Group 419"/>
          <p:cNvGrpSpPr>
            <a:grpSpLocks/>
          </p:cNvGrpSpPr>
          <p:nvPr/>
        </p:nvGrpSpPr>
        <p:grpSpPr bwMode="auto">
          <a:xfrm>
            <a:off x="934580" y="6247065"/>
            <a:ext cx="7920339" cy="369631"/>
            <a:chOff x="914" y="3881"/>
            <a:chExt cx="3854" cy="207"/>
          </a:xfrm>
        </p:grpSpPr>
        <p:sp>
          <p:nvSpPr>
            <p:cNvPr id="431524" name="AutoShape 420"/>
            <p:cNvSpPr>
              <a:spLocks noChangeArrowheads="1"/>
            </p:cNvSpPr>
            <p:nvPr/>
          </p:nvSpPr>
          <p:spPr bwMode="auto">
            <a:xfrm>
              <a:off x="998" y="3881"/>
              <a:ext cx="3770" cy="20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395D8"/>
                </a:gs>
                <a:gs pos="100000">
                  <a:srgbClr val="DFD2FF"/>
                </a:gs>
              </a:gsLst>
              <a:lin ang="2700000" scaled="1"/>
            </a:gradFill>
            <a:ln w="9525" algn="ctr">
              <a:solidFill>
                <a:srgbClr val="333333"/>
              </a:solidFill>
              <a:round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182880" anchor="ctr"/>
            <a:lstStyle/>
            <a:p>
              <a:pPr algn="l"/>
              <a:r>
                <a:rPr lang="en-GB" sz="2000">
                  <a:solidFill>
                    <a:srgbClr val="000000"/>
                  </a:solidFill>
                </a:rPr>
                <a:t>L'agent de relais diffuse le paquet DHCPACK</a:t>
              </a: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431525" name="AutoShape 421"/>
            <p:cNvSpPr>
              <a:spLocks noChangeArrowheads="1"/>
            </p:cNvSpPr>
            <p:nvPr/>
          </p:nvSpPr>
          <p:spPr bwMode="auto">
            <a:xfrm>
              <a:off x="914" y="3891"/>
              <a:ext cx="151" cy="176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r>
                <a:rPr lang="en-US" sz="2000">
                  <a:solidFill>
                    <a:srgbClr val="990033"/>
                  </a:solidFill>
                </a:rPr>
                <a:t>8</a:t>
              </a:r>
            </a:p>
          </p:txBody>
        </p:sp>
      </p:grpSp>
      <p:grpSp>
        <p:nvGrpSpPr>
          <p:cNvPr id="431526" name="Group 422"/>
          <p:cNvGrpSpPr>
            <a:grpSpLocks/>
          </p:cNvGrpSpPr>
          <p:nvPr/>
        </p:nvGrpSpPr>
        <p:grpSpPr bwMode="auto">
          <a:xfrm>
            <a:off x="487363" y="6406926"/>
            <a:ext cx="304800" cy="244475"/>
            <a:chOff x="768" y="3096"/>
            <a:chExt cx="240" cy="192"/>
          </a:xfrm>
        </p:grpSpPr>
        <p:sp>
          <p:nvSpPr>
            <p:cNvPr id="431527" name="Oval 423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BE"/>
            </a:p>
          </p:txBody>
        </p:sp>
        <p:sp>
          <p:nvSpPr>
            <p:cNvPr id="431528" name="Rectangle 424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BE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500" fill="hold"/>
                                        <p:tgtEl>
                                          <p:spTgt spid="43145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/>
                                        <p:tgtEl>
                                          <p:spTgt spid="43145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43145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31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431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431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3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3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31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3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43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31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43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" dur="500" fill="hold"/>
                                        <p:tgtEl>
                                          <p:spTgt spid="43146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0" dur="500" fill="hold"/>
                                        <p:tgtEl>
                                          <p:spTgt spid="43146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500" fill="hold"/>
                                        <p:tgtEl>
                                          <p:spTgt spid="4314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431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431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431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4" dur="500" fill="hold"/>
                                        <p:tgtEl>
                                          <p:spTgt spid="43145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9" dur="500" fill="hold"/>
                                        <p:tgtEl>
                                          <p:spTgt spid="43145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4" dur="500" fill="hold"/>
                                        <p:tgtEl>
                                          <p:spTgt spid="43145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431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431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431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43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000"/>
                                        <p:tgtEl>
                                          <p:spTgt spid="43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1000"/>
                                        <p:tgtEl>
                                          <p:spTgt spid="431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43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2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43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431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43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9" dur="500" fill="hold"/>
                                        <p:tgtEl>
                                          <p:spTgt spid="43146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4" dur="500" fill="hold"/>
                                        <p:tgtEl>
                                          <p:spTgt spid="43146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9" dur="500" fill="hold"/>
                                        <p:tgtEl>
                                          <p:spTgt spid="43146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3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436" grpId="0" animBg="1"/>
      <p:bldP spid="431436" grpId="1" animBg="1"/>
      <p:bldP spid="431436" grpId="2" animBg="1"/>
      <p:bldP spid="431436" grpId="3" animBg="1"/>
      <p:bldP spid="431437" grpId="0" animBg="1"/>
      <p:bldP spid="431437" grpId="1" animBg="1"/>
      <p:bldP spid="431437" grpId="2" animBg="1"/>
      <p:bldP spid="431437" grpId="3" animBg="1"/>
      <p:bldP spid="431457" grpId="0" animBg="1"/>
      <p:bldP spid="431457" grpId="1" animBg="1"/>
      <p:bldP spid="431457" grpId="2" animBg="1"/>
      <p:bldP spid="431457" grpId="3" animBg="1"/>
      <p:bldP spid="431457" grpId="4" animBg="1"/>
      <p:bldP spid="431457" grpId="5" animBg="1"/>
      <p:bldP spid="431458" grpId="0" animBg="1"/>
      <p:bldP spid="431458" grpId="1" animBg="1"/>
      <p:bldP spid="431458" grpId="2" animBg="1"/>
      <p:bldP spid="431458" grpId="3" animBg="1"/>
      <p:bldP spid="431458" grpId="4" animBg="1"/>
      <p:bldP spid="431458" grpId="5" animBg="1"/>
      <p:bldP spid="431459" grpId="0" animBg="1"/>
      <p:bldP spid="431459" grpId="1" animBg="1"/>
      <p:bldP spid="431459" grpId="2" animBg="1"/>
      <p:bldP spid="431459" grpId="3" animBg="1"/>
      <p:bldP spid="431459" grpId="4" animBg="1"/>
      <p:bldP spid="431459" grpId="5" animBg="1"/>
      <p:bldP spid="431460" grpId="0" animBg="1"/>
      <p:bldP spid="431460" grpId="1" animBg="1"/>
      <p:bldP spid="431460" grpId="2" animBg="1"/>
      <p:bldP spid="431460" grpId="3" animBg="1"/>
      <p:bldP spid="431460" grpId="4" animBg="1"/>
      <p:bldP spid="431461" grpId="0" animBg="1"/>
      <p:bldP spid="431461" grpId="1" animBg="1"/>
      <p:bldP spid="431461" grpId="2" animBg="1"/>
      <p:bldP spid="431461" grpId="3" animBg="1"/>
      <p:bldP spid="431461" grpId="4" animBg="1"/>
      <p:bldP spid="431462" grpId="0" animBg="1"/>
      <p:bldP spid="431462" grpId="1" animBg="1"/>
      <p:bldP spid="431462" grpId="2" animBg="1"/>
      <p:bldP spid="431462" grpId="3" animBg="1"/>
      <p:bldP spid="431462" grpId="4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58210" y="333827"/>
            <a:ext cx="8682590" cy="871437"/>
          </a:xfrm>
        </p:spPr>
        <p:txBody>
          <a:bodyPr vert="horz" anchor="b"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Comment un agent de relais DHCP utilise le nombre de tronçons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49596" name="AutoShape 60"/>
          <p:cNvSpPr>
            <a:spLocks noChangeArrowheads="1"/>
          </p:cNvSpPr>
          <p:nvPr/>
        </p:nvSpPr>
        <p:spPr bwMode="auto">
          <a:xfrm>
            <a:off x="261258" y="2423893"/>
            <a:ext cx="8621486" cy="3902293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449599" name="Line 63"/>
          <p:cNvSpPr>
            <a:spLocks noChangeShapeType="1"/>
          </p:cNvSpPr>
          <p:nvPr/>
        </p:nvSpPr>
        <p:spPr bwMode="auto">
          <a:xfrm flipH="1">
            <a:off x="6408058" y="4169679"/>
            <a:ext cx="79375" cy="1008063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449600" name="Line 64"/>
          <p:cNvSpPr>
            <a:spLocks noChangeShapeType="1"/>
          </p:cNvSpPr>
          <p:nvPr/>
        </p:nvSpPr>
        <p:spPr bwMode="auto">
          <a:xfrm flipV="1">
            <a:off x="2867933" y="3782329"/>
            <a:ext cx="2705100" cy="684213"/>
          </a:xfrm>
          <a:prstGeom prst="line">
            <a:avLst/>
          </a:prstGeom>
          <a:noFill/>
          <a:ln w="57150">
            <a:solidFill>
              <a:srgbClr val="80808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BE"/>
          </a:p>
        </p:txBody>
      </p:sp>
      <p:sp>
        <p:nvSpPr>
          <p:cNvPr id="449601" name="Oval 65"/>
          <p:cNvSpPr>
            <a:spLocks noChangeArrowheads="1"/>
          </p:cNvSpPr>
          <p:nvPr/>
        </p:nvSpPr>
        <p:spPr bwMode="auto">
          <a:xfrm>
            <a:off x="5380946" y="2928254"/>
            <a:ext cx="2098675" cy="12350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n-GB"/>
          </a:p>
        </p:txBody>
      </p:sp>
      <p:pic>
        <p:nvPicPr>
          <p:cNvPr id="449602" name="Picture 66" descr="Server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541283" y="2523442"/>
            <a:ext cx="731838" cy="927100"/>
          </a:xfrm>
          <a:prstGeom prst="rect">
            <a:avLst/>
          </a:prstGeom>
          <a:noFill/>
        </p:spPr>
      </p:pic>
      <p:pic>
        <p:nvPicPr>
          <p:cNvPr id="449603" name="Picture 67" descr="Computer_DesktopComputerSansKeyboard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004958" y="3341004"/>
            <a:ext cx="693738" cy="844550"/>
          </a:xfrm>
          <a:prstGeom prst="rect">
            <a:avLst/>
          </a:prstGeom>
          <a:noFill/>
        </p:spPr>
      </p:pic>
      <p:sp>
        <p:nvSpPr>
          <p:cNvPr id="449604" name="Oval 68"/>
          <p:cNvSpPr>
            <a:spLocks noChangeArrowheads="1"/>
          </p:cNvSpPr>
          <p:nvPr/>
        </p:nvSpPr>
        <p:spPr bwMode="auto">
          <a:xfrm>
            <a:off x="4620533" y="5065029"/>
            <a:ext cx="2098675" cy="12350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n-GB"/>
          </a:p>
        </p:txBody>
      </p:sp>
      <p:pic>
        <p:nvPicPr>
          <p:cNvPr id="449605" name="Picture 69" descr="Server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715783" y="4776104"/>
            <a:ext cx="731838" cy="927100"/>
          </a:xfrm>
          <a:prstGeom prst="rect">
            <a:avLst/>
          </a:prstGeom>
          <a:noFill/>
        </p:spPr>
      </p:pic>
      <p:pic>
        <p:nvPicPr>
          <p:cNvPr id="449606" name="Picture 70" descr="Computer_DesktopComputerSansKeyboard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08021" y="5487304"/>
            <a:ext cx="693737" cy="844550"/>
          </a:xfrm>
          <a:prstGeom prst="rect">
            <a:avLst/>
          </a:prstGeom>
          <a:noFill/>
        </p:spPr>
      </p:pic>
      <p:sp>
        <p:nvSpPr>
          <p:cNvPr id="449607" name="Oval 71"/>
          <p:cNvSpPr>
            <a:spLocks noChangeArrowheads="1"/>
          </p:cNvSpPr>
          <p:nvPr/>
        </p:nvSpPr>
        <p:spPr bwMode="auto">
          <a:xfrm>
            <a:off x="1247096" y="4036329"/>
            <a:ext cx="2098675" cy="1235075"/>
          </a:xfrm>
          <a:prstGeom prst="ellipse">
            <a:avLst/>
          </a:prstGeom>
          <a:gradFill rotWithShape="1">
            <a:gsLst>
              <a:gs pos="0">
                <a:srgbClr val="F0F1FF"/>
              </a:gs>
              <a:gs pos="100000">
                <a:srgbClr val="B3C8D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pPr algn="r"/>
            <a:endParaRPr lang="en-GB"/>
          </a:p>
        </p:txBody>
      </p:sp>
      <p:pic>
        <p:nvPicPr>
          <p:cNvPr id="449608" name="Picture 72" descr="Server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21833" y="3671204"/>
            <a:ext cx="731838" cy="927100"/>
          </a:xfrm>
          <a:prstGeom prst="rect">
            <a:avLst/>
          </a:prstGeom>
          <a:noFill/>
        </p:spPr>
      </p:pic>
      <p:pic>
        <p:nvPicPr>
          <p:cNvPr id="449609" name="Picture 73" descr="Computer_DesktopComputerSansKeyboard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43933" y="4549092"/>
            <a:ext cx="693738" cy="844550"/>
          </a:xfrm>
          <a:prstGeom prst="rect">
            <a:avLst/>
          </a:prstGeom>
          <a:noFill/>
        </p:spPr>
      </p:pic>
      <p:sp>
        <p:nvSpPr>
          <p:cNvPr id="449610" name="AutoShape 7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33446" y="2807604"/>
            <a:ext cx="2111375" cy="33178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1600">
                <a:solidFill>
                  <a:srgbClr val="000000"/>
                </a:solidFill>
              </a:rPr>
              <a:t>Agent de relais DHCP 2</a:t>
            </a:r>
            <a:endParaRPr lang="en-US" sz="1600"/>
          </a:p>
        </p:txBody>
      </p:sp>
      <p:sp>
        <p:nvSpPr>
          <p:cNvPr id="449611" name="AutoShape 7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287158" y="5758767"/>
            <a:ext cx="1457325" cy="30321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en-GB" sz="1600">
                <a:solidFill>
                  <a:srgbClr val="000000"/>
                </a:solidFill>
              </a:rPr>
              <a:t>Serveur DHCP</a:t>
            </a:r>
            <a:endParaRPr lang="en-US" sz="1600"/>
          </a:p>
        </p:txBody>
      </p:sp>
      <p:pic>
        <p:nvPicPr>
          <p:cNvPr id="449612" name="Picture 76" descr="Rackmount_Router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44546" y="3990292"/>
            <a:ext cx="635000" cy="406400"/>
          </a:xfrm>
          <a:prstGeom prst="rect">
            <a:avLst/>
          </a:prstGeom>
          <a:noFill/>
        </p:spPr>
      </p:pic>
      <p:pic>
        <p:nvPicPr>
          <p:cNvPr id="449613" name="Picture 77" descr="Rackmount_Router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123771" y="3661679"/>
            <a:ext cx="635000" cy="406400"/>
          </a:xfrm>
          <a:prstGeom prst="rect">
            <a:avLst/>
          </a:prstGeom>
          <a:noFill/>
        </p:spPr>
      </p:pic>
      <p:sp>
        <p:nvSpPr>
          <p:cNvPr id="449614" name="Text Box 7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7046" y="3074304"/>
            <a:ext cx="2070100" cy="346075"/>
          </a:xfrm>
          <a:prstGeom prst="rect">
            <a:avLst/>
          </a:prstGeom>
          <a:solidFill>
            <a:srgbClr val="8DACD0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>
                <a:solidFill>
                  <a:srgbClr val="000000"/>
                </a:solidFill>
              </a:rPr>
              <a:t>Nombre de tronçons= 2</a:t>
            </a:r>
            <a:endParaRPr lang="en-US" sz="1600"/>
          </a:p>
        </p:txBody>
      </p:sp>
      <p:sp>
        <p:nvSpPr>
          <p:cNvPr id="449615" name="AutoShape 7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50221" y="3479117"/>
            <a:ext cx="2041525" cy="303212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1600">
                <a:solidFill>
                  <a:srgbClr val="000000"/>
                </a:solidFill>
              </a:rPr>
              <a:t>Agent de relais DHCP 1</a:t>
            </a:r>
            <a:endParaRPr lang="en-US" sz="1600"/>
          </a:p>
        </p:txBody>
      </p:sp>
      <p:sp>
        <p:nvSpPr>
          <p:cNvPr id="449616" name="Arc 80"/>
          <p:cNvSpPr>
            <a:spLocks/>
          </p:cNvSpPr>
          <p:nvPr/>
        </p:nvSpPr>
        <p:spPr bwMode="auto">
          <a:xfrm rot="2661809">
            <a:off x="2883808" y="3366404"/>
            <a:ext cx="2341563" cy="1525588"/>
          </a:xfrm>
          <a:custGeom>
            <a:avLst/>
            <a:gdLst>
              <a:gd name="G0" fmla="+- 21043 0 0"/>
              <a:gd name="G1" fmla="+- 21600 0 0"/>
              <a:gd name="G2" fmla="+- 21600 0 0"/>
              <a:gd name="T0" fmla="*/ 0 w 36344"/>
              <a:gd name="T1" fmla="*/ 16728 h 21600"/>
              <a:gd name="T2" fmla="*/ 36344 w 36344"/>
              <a:gd name="T3" fmla="*/ 6354 h 21600"/>
              <a:gd name="T4" fmla="*/ 21043 w 3634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344" h="21600" fill="none" extrusionOk="0">
                <a:moveTo>
                  <a:pt x="-1" y="16727"/>
                </a:moveTo>
                <a:cubicBezTo>
                  <a:pt x="2267" y="6934"/>
                  <a:pt x="10990" y="-1"/>
                  <a:pt x="21043" y="0"/>
                </a:cubicBezTo>
                <a:cubicBezTo>
                  <a:pt x="26785" y="0"/>
                  <a:pt x="32290" y="2286"/>
                  <a:pt x="36343" y="6354"/>
                </a:cubicBezTo>
              </a:path>
              <a:path w="36344" h="21600" stroke="0" extrusionOk="0">
                <a:moveTo>
                  <a:pt x="-1" y="16727"/>
                </a:moveTo>
                <a:cubicBezTo>
                  <a:pt x="2267" y="6934"/>
                  <a:pt x="10990" y="-1"/>
                  <a:pt x="21043" y="0"/>
                </a:cubicBezTo>
                <a:cubicBezTo>
                  <a:pt x="26785" y="0"/>
                  <a:pt x="32290" y="2286"/>
                  <a:pt x="36343" y="6354"/>
                </a:cubicBezTo>
                <a:lnTo>
                  <a:pt x="21043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49617" name="Arc 81"/>
          <p:cNvSpPr>
            <a:spLocks/>
          </p:cNvSpPr>
          <p:nvPr/>
        </p:nvSpPr>
        <p:spPr bwMode="auto">
          <a:xfrm rot="7965326" flipH="1">
            <a:off x="4845164" y="3564048"/>
            <a:ext cx="1595438" cy="1187450"/>
          </a:xfrm>
          <a:custGeom>
            <a:avLst/>
            <a:gdLst>
              <a:gd name="G0" fmla="+- 5786 0 0"/>
              <a:gd name="G1" fmla="+- 21600 0 0"/>
              <a:gd name="G2" fmla="+- 21600 0 0"/>
              <a:gd name="T0" fmla="*/ 0 w 26125"/>
              <a:gd name="T1" fmla="*/ 789 h 21600"/>
              <a:gd name="T2" fmla="*/ 26125 w 26125"/>
              <a:gd name="T3" fmla="*/ 14326 h 21600"/>
              <a:gd name="T4" fmla="*/ 5786 w 2612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125" h="21600" fill="none" extrusionOk="0">
                <a:moveTo>
                  <a:pt x="0" y="789"/>
                </a:moveTo>
                <a:cubicBezTo>
                  <a:pt x="1884" y="265"/>
                  <a:pt x="3830" y="-1"/>
                  <a:pt x="5786" y="0"/>
                </a:cubicBezTo>
                <a:cubicBezTo>
                  <a:pt x="14910" y="0"/>
                  <a:pt x="23051" y="5734"/>
                  <a:pt x="26124" y="14326"/>
                </a:cubicBezTo>
              </a:path>
              <a:path w="26125" h="21600" stroke="0" extrusionOk="0">
                <a:moveTo>
                  <a:pt x="0" y="789"/>
                </a:moveTo>
                <a:cubicBezTo>
                  <a:pt x="1884" y="265"/>
                  <a:pt x="3830" y="-1"/>
                  <a:pt x="5786" y="0"/>
                </a:cubicBezTo>
                <a:cubicBezTo>
                  <a:pt x="14910" y="0"/>
                  <a:pt x="23051" y="5734"/>
                  <a:pt x="26124" y="14326"/>
                </a:cubicBezTo>
                <a:lnTo>
                  <a:pt x="5786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fr-BE"/>
          </a:p>
        </p:txBody>
      </p:sp>
      <p:sp>
        <p:nvSpPr>
          <p:cNvPr id="449618" name="Line 82"/>
          <p:cNvSpPr>
            <a:spLocks noChangeShapeType="1"/>
          </p:cNvSpPr>
          <p:nvPr/>
        </p:nvSpPr>
        <p:spPr bwMode="auto">
          <a:xfrm flipV="1">
            <a:off x="2029733" y="4512579"/>
            <a:ext cx="425450" cy="43815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 anchor="ctr"/>
          <a:lstStyle/>
          <a:p>
            <a:endParaRPr lang="fr-BE"/>
          </a:p>
        </p:txBody>
      </p:sp>
      <p:pic>
        <p:nvPicPr>
          <p:cNvPr id="449620" name="Picture 84" descr="Rackmount_Router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90183" y="4171267"/>
            <a:ext cx="635000" cy="406400"/>
          </a:xfrm>
          <a:prstGeom prst="rect">
            <a:avLst/>
          </a:prstGeom>
          <a:noFill/>
        </p:spPr>
      </p:pic>
      <p:pic>
        <p:nvPicPr>
          <p:cNvPr id="449621" name="Picture 85" descr="Rackmount_Router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57221" y="4938029"/>
            <a:ext cx="635000" cy="406400"/>
          </a:xfrm>
          <a:prstGeom prst="rect">
            <a:avLst/>
          </a:prstGeom>
          <a:noFill/>
        </p:spPr>
      </p:pic>
      <p:sp>
        <p:nvSpPr>
          <p:cNvPr id="27" name="Rectangle 26"/>
          <p:cNvSpPr/>
          <p:nvPr/>
        </p:nvSpPr>
        <p:spPr>
          <a:xfrm>
            <a:off x="224971" y="1513914"/>
            <a:ext cx="8672286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en-GB" sz="2400" dirty="0">
                <a:solidFill>
                  <a:srgbClr val="000000"/>
                </a:solidFill>
              </a:rPr>
              <a:t>Le </a:t>
            </a:r>
            <a:r>
              <a:rPr lang="en-GB" sz="2400" i="1" dirty="0" err="1">
                <a:solidFill>
                  <a:srgbClr val="000000"/>
                </a:solidFill>
              </a:rPr>
              <a:t>seuil</a:t>
            </a:r>
            <a:r>
              <a:rPr lang="en-GB" sz="2400" i="1" dirty="0">
                <a:solidFill>
                  <a:srgbClr val="000000"/>
                </a:solidFill>
              </a:rPr>
              <a:t> du </a:t>
            </a:r>
            <a:r>
              <a:rPr lang="en-GB" sz="2400" i="1" dirty="0" err="1">
                <a:solidFill>
                  <a:srgbClr val="000000"/>
                </a:solidFill>
              </a:rPr>
              <a:t>nombre</a:t>
            </a:r>
            <a:r>
              <a:rPr lang="en-GB" sz="2400" i="1" dirty="0">
                <a:solidFill>
                  <a:srgbClr val="000000"/>
                </a:solidFill>
              </a:rPr>
              <a:t> de </a:t>
            </a:r>
            <a:r>
              <a:rPr lang="en-GB" sz="2400" i="1" dirty="0" err="1">
                <a:solidFill>
                  <a:srgbClr val="000000"/>
                </a:solidFill>
              </a:rPr>
              <a:t>tronçons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représente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nombre</a:t>
            </a:r>
            <a:r>
              <a:rPr lang="en-GB" sz="2400" dirty="0">
                <a:solidFill>
                  <a:srgbClr val="000000"/>
                </a:solidFill>
              </a:rPr>
              <a:t> de </a:t>
            </a:r>
            <a:r>
              <a:rPr lang="en-GB" sz="2400" dirty="0" err="1">
                <a:solidFill>
                  <a:srgbClr val="000000"/>
                </a:solidFill>
              </a:rPr>
              <a:t>routeurs</a:t>
            </a:r>
            <a:r>
              <a:rPr lang="en-GB" sz="2400" dirty="0">
                <a:solidFill>
                  <a:srgbClr val="000000"/>
                </a:solidFill>
              </a:rPr>
              <a:t> à </a:t>
            </a:r>
            <a:r>
              <a:rPr lang="en-GB" sz="2400" dirty="0" err="1">
                <a:solidFill>
                  <a:srgbClr val="000000"/>
                </a:solidFill>
              </a:rPr>
              <a:t>travers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lesquels</a:t>
            </a:r>
            <a:r>
              <a:rPr lang="en-GB" sz="2400" dirty="0">
                <a:solidFill>
                  <a:srgbClr val="000000"/>
                </a:solidFill>
              </a:rPr>
              <a:t> le </a:t>
            </a:r>
            <a:r>
              <a:rPr lang="en-GB" sz="2400" dirty="0" err="1">
                <a:solidFill>
                  <a:srgbClr val="000000"/>
                </a:solidFill>
              </a:rPr>
              <a:t>paquet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peut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être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transmis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avant</a:t>
            </a:r>
            <a:r>
              <a:rPr lang="en-GB" sz="2400" dirty="0">
                <a:solidFill>
                  <a:srgbClr val="000000"/>
                </a:solidFill>
              </a:rPr>
              <a:t> d'être </a:t>
            </a:r>
            <a:r>
              <a:rPr lang="en-GB" sz="2400" dirty="0" err="1">
                <a:solidFill>
                  <a:srgbClr val="000000"/>
                </a:solidFill>
              </a:rPr>
              <a:t>rejeté</a:t>
            </a:r>
            <a:endParaRPr lang="en-US" sz="2400" dirty="0"/>
          </a:p>
        </p:txBody>
      </p:sp>
      <p:sp>
        <p:nvSpPr>
          <p:cNvPr id="29" name="Rectangle 28"/>
          <p:cNvSpPr/>
          <p:nvPr/>
        </p:nvSpPr>
        <p:spPr>
          <a:xfrm>
            <a:off x="0" y="2351315"/>
            <a:ext cx="9144000" cy="44921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8"/>
          <p:cNvGrpSpPr>
            <a:grpSpLocks/>
          </p:cNvGrpSpPr>
          <p:nvPr/>
        </p:nvGrpSpPr>
        <p:grpSpPr bwMode="auto">
          <a:xfrm>
            <a:off x="895350" y="1257300"/>
            <a:ext cx="7223125" cy="4951413"/>
            <a:chOff x="691" y="-2375"/>
            <a:chExt cx="4550" cy="3119"/>
          </a:xfrm>
        </p:grpSpPr>
        <p:sp>
          <p:nvSpPr>
            <p:cNvPr id="530621" name="AutoShape 189"/>
            <p:cNvSpPr>
              <a:spLocks noChangeArrowheads="1"/>
            </p:cNvSpPr>
            <p:nvPr/>
          </p:nvSpPr>
          <p:spPr bwMode="auto">
            <a:xfrm>
              <a:off x="691" y="-2375"/>
              <a:ext cx="4550" cy="3119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30622" name="Line 190"/>
            <p:cNvSpPr>
              <a:spLocks noChangeShapeType="1"/>
            </p:cNvSpPr>
            <p:nvPr/>
          </p:nvSpPr>
          <p:spPr bwMode="auto">
            <a:xfrm flipH="1">
              <a:off x="3879" y="-759"/>
              <a:ext cx="365" cy="86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30623" name="Line 191"/>
            <p:cNvSpPr>
              <a:spLocks noChangeShapeType="1"/>
            </p:cNvSpPr>
            <p:nvPr/>
          </p:nvSpPr>
          <p:spPr bwMode="auto">
            <a:xfrm flipV="1">
              <a:off x="2063" y="-895"/>
              <a:ext cx="1704" cy="431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530624" name="Oval 192"/>
            <p:cNvSpPr>
              <a:spLocks noChangeArrowheads="1"/>
            </p:cNvSpPr>
            <p:nvPr/>
          </p:nvSpPr>
          <p:spPr bwMode="auto">
            <a:xfrm>
              <a:off x="3646" y="-1433"/>
              <a:ext cx="1322" cy="778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r"/>
              <a:endParaRPr lang="pt-BR"/>
            </a:p>
          </p:txBody>
        </p:sp>
        <p:pic>
          <p:nvPicPr>
            <p:cNvPr id="530625" name="Picture 193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47" y="-1688"/>
              <a:ext cx="461" cy="584"/>
            </a:xfrm>
            <a:prstGeom prst="rect">
              <a:avLst/>
            </a:prstGeom>
            <a:noFill/>
          </p:spPr>
        </p:pic>
        <p:pic>
          <p:nvPicPr>
            <p:cNvPr id="530626" name="Picture 194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534" y="-1101"/>
              <a:ext cx="437" cy="532"/>
            </a:xfrm>
            <a:prstGeom prst="rect">
              <a:avLst/>
            </a:prstGeom>
            <a:noFill/>
          </p:spPr>
        </p:pic>
        <p:sp>
          <p:nvSpPr>
            <p:cNvPr id="530627" name="Oval 195"/>
            <p:cNvSpPr>
              <a:spLocks noChangeArrowheads="1"/>
            </p:cNvSpPr>
            <p:nvPr/>
          </p:nvSpPr>
          <p:spPr bwMode="auto">
            <a:xfrm>
              <a:off x="3167" y="-87"/>
              <a:ext cx="1322" cy="778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r"/>
              <a:endParaRPr lang="pt-BR"/>
            </a:p>
          </p:txBody>
        </p:sp>
        <p:pic>
          <p:nvPicPr>
            <p:cNvPr id="530628" name="Picture 196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227" y="-269"/>
              <a:ext cx="461" cy="584"/>
            </a:xfrm>
            <a:prstGeom prst="rect">
              <a:avLst/>
            </a:prstGeom>
            <a:noFill/>
          </p:spPr>
        </p:pic>
        <p:pic>
          <p:nvPicPr>
            <p:cNvPr id="530629" name="Picture 197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104" y="179"/>
              <a:ext cx="437" cy="532"/>
            </a:xfrm>
            <a:prstGeom prst="rect">
              <a:avLst/>
            </a:prstGeom>
            <a:noFill/>
          </p:spPr>
        </p:pic>
        <p:sp>
          <p:nvSpPr>
            <p:cNvPr id="530630" name="Oval 198"/>
            <p:cNvSpPr>
              <a:spLocks noChangeArrowheads="1"/>
            </p:cNvSpPr>
            <p:nvPr/>
          </p:nvSpPr>
          <p:spPr bwMode="auto">
            <a:xfrm>
              <a:off x="1042" y="-621"/>
              <a:ext cx="1322" cy="778"/>
            </a:xfrm>
            <a:prstGeom prst="ellipse">
              <a:avLst/>
            </a:prstGeom>
            <a:gradFill rotWithShape="1">
              <a:gsLst>
                <a:gs pos="0">
                  <a:srgbClr val="F0F1FF"/>
                </a:gs>
                <a:gs pos="100000">
                  <a:srgbClr val="B3C8D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DADAD"/>
              </a:outerShdw>
            </a:effectLst>
          </p:spPr>
          <p:txBody>
            <a:bodyPr wrap="none" anchor="ctr"/>
            <a:lstStyle/>
            <a:p>
              <a:pPr algn="r"/>
              <a:endParaRPr lang="pt-BR"/>
            </a:p>
          </p:txBody>
        </p:sp>
        <p:pic>
          <p:nvPicPr>
            <p:cNvPr id="530631" name="Picture 199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719" y="-892"/>
              <a:ext cx="461" cy="584"/>
            </a:xfrm>
            <a:prstGeom prst="rect">
              <a:avLst/>
            </a:prstGeom>
            <a:noFill/>
          </p:spPr>
        </p:pic>
        <p:sp>
          <p:nvSpPr>
            <p:cNvPr id="530632" name="AutoShape 200"/>
            <p:cNvSpPr>
              <a:spLocks noChangeArrowheads="1"/>
            </p:cNvSpPr>
            <p:nvPr/>
          </p:nvSpPr>
          <p:spPr bwMode="auto">
            <a:xfrm>
              <a:off x="4246" y="-1509"/>
              <a:ext cx="918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500"/>
                <a:t>Serveur DHCP 2</a:t>
              </a:r>
            </a:p>
          </p:txBody>
        </p:sp>
        <p:sp>
          <p:nvSpPr>
            <p:cNvPr id="530633" name="AutoShape 201"/>
            <p:cNvSpPr>
              <a:spLocks noChangeArrowheads="1"/>
            </p:cNvSpPr>
            <p:nvPr/>
          </p:nvSpPr>
          <p:spPr bwMode="auto">
            <a:xfrm>
              <a:off x="2957" y="350"/>
              <a:ext cx="918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US" sz="1500"/>
                <a:t>Serveur DHCP 3</a:t>
              </a:r>
            </a:p>
          </p:txBody>
        </p:sp>
        <p:pic>
          <p:nvPicPr>
            <p:cNvPr id="530634" name="Picture 202" descr="Computer_DesktopComputerSansKeyboard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808" y="-31"/>
              <a:ext cx="437" cy="532"/>
            </a:xfrm>
            <a:prstGeom prst="rect">
              <a:avLst/>
            </a:prstGeom>
            <a:noFill/>
          </p:spPr>
        </p:pic>
        <p:pic>
          <p:nvPicPr>
            <p:cNvPr id="530635" name="Picture 203" descr="Server0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83" y="-536"/>
              <a:ext cx="461" cy="584"/>
            </a:xfrm>
            <a:prstGeom prst="rect">
              <a:avLst/>
            </a:prstGeom>
            <a:noFill/>
          </p:spPr>
        </p:pic>
        <p:sp>
          <p:nvSpPr>
            <p:cNvPr id="530636" name="AutoShape 204"/>
            <p:cNvSpPr>
              <a:spLocks noChangeArrowheads="1"/>
            </p:cNvSpPr>
            <p:nvPr/>
          </p:nvSpPr>
          <p:spPr bwMode="auto">
            <a:xfrm>
              <a:off x="727" y="91"/>
              <a:ext cx="716" cy="28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>
                <a:lnSpc>
                  <a:spcPct val="85000"/>
                </a:lnSpc>
              </a:pPr>
              <a:r>
                <a:rPr lang="en-US" sz="1500"/>
                <a:t>Serveur</a:t>
              </a:r>
              <a:br>
                <a:rPr lang="en-US" sz="1500"/>
              </a:br>
              <a:r>
                <a:rPr lang="en-US" sz="1500"/>
                <a:t>DHCP Local</a:t>
              </a:r>
            </a:p>
          </p:txBody>
        </p:sp>
        <p:pic>
          <p:nvPicPr>
            <p:cNvPr id="530637" name="Picture 205" descr="Rackmount_Rout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06" y="-223"/>
              <a:ext cx="400" cy="256"/>
            </a:xfrm>
            <a:prstGeom prst="rect">
              <a:avLst/>
            </a:prstGeom>
            <a:noFill/>
          </p:spPr>
        </p:pic>
        <p:pic>
          <p:nvPicPr>
            <p:cNvPr id="530638" name="Picture 206" descr="Rackmount_Rout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184" y="-637"/>
              <a:ext cx="400" cy="256"/>
            </a:xfrm>
            <a:prstGeom prst="rect">
              <a:avLst/>
            </a:prstGeom>
            <a:noFill/>
          </p:spPr>
        </p:pic>
        <p:pic>
          <p:nvPicPr>
            <p:cNvPr id="530639" name="Picture 207" descr="Rackmount_Rout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473" y="-994"/>
              <a:ext cx="400" cy="256"/>
            </a:xfrm>
            <a:prstGeom prst="rect">
              <a:avLst/>
            </a:prstGeom>
            <a:noFill/>
          </p:spPr>
        </p:pic>
        <p:pic>
          <p:nvPicPr>
            <p:cNvPr id="530640" name="Picture 208" descr="Rackmount_Router01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993" y="-783"/>
              <a:ext cx="400" cy="256"/>
            </a:xfrm>
            <a:prstGeom prst="rect">
              <a:avLst/>
            </a:prstGeom>
            <a:noFill/>
          </p:spPr>
        </p:pic>
        <p:sp>
          <p:nvSpPr>
            <p:cNvPr id="530641" name="AutoShape 209"/>
            <p:cNvSpPr>
              <a:spLocks noChangeArrowheads="1"/>
            </p:cNvSpPr>
            <p:nvPr/>
          </p:nvSpPr>
          <p:spPr bwMode="auto">
            <a:xfrm>
              <a:off x="739" y="-1081"/>
              <a:ext cx="1298" cy="191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>
                  <a:solidFill>
                    <a:srgbClr val="000000"/>
                  </a:solidFill>
                </a:rPr>
                <a:t>Agent de relais DHCP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30642" name="Text Box 210"/>
            <p:cNvSpPr txBox="1">
              <a:spLocks noChangeArrowheads="1"/>
            </p:cNvSpPr>
            <p:nvPr/>
          </p:nvSpPr>
          <p:spPr bwMode="auto">
            <a:xfrm>
              <a:off x="763" y="-1486"/>
              <a:ext cx="1256" cy="372"/>
            </a:xfrm>
            <a:prstGeom prst="rect">
              <a:avLst/>
            </a:prstGeom>
            <a:solidFill>
              <a:srgbClr val="8DACD0"/>
            </a:solidFill>
            <a:ln w="9525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fr-FR" sz="1600"/>
                <a:t>Seuil de démarrage </a:t>
              </a:r>
            </a:p>
            <a:p>
              <a:r>
                <a:rPr lang="fr-FR" sz="1600"/>
                <a:t>= 10 secondes</a:t>
              </a:r>
              <a:endParaRPr lang="en-US" sz="1600"/>
            </a:p>
          </p:txBody>
        </p:sp>
      </p:grpSp>
      <p:sp>
        <p:nvSpPr>
          <p:cNvPr id="530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1752" y="217714"/>
            <a:ext cx="8534400" cy="987548"/>
          </a:xfrm>
        </p:spPr>
        <p:txBody>
          <a:bodyPr vert="horz" anchor="b">
            <a:no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fr-FR" sz="2400" dirty="0">
                <a:solidFill>
                  <a:srgbClr val="C00000"/>
                </a:solidFill>
              </a:rPr>
              <a:t>Comment un agent de relais DHCP utilise le seuil de démarrage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530643" name="Arc 211"/>
          <p:cNvSpPr>
            <a:spLocks/>
          </p:cNvSpPr>
          <p:nvPr/>
        </p:nvSpPr>
        <p:spPr bwMode="auto">
          <a:xfrm>
            <a:off x="3065463" y="2560638"/>
            <a:ext cx="2608262" cy="1403350"/>
          </a:xfrm>
          <a:custGeom>
            <a:avLst/>
            <a:gdLst>
              <a:gd name="G0" fmla="+- 20773 0 0"/>
              <a:gd name="G1" fmla="+- 21600 0 0"/>
              <a:gd name="G2" fmla="+- 21600 0 0"/>
              <a:gd name="T0" fmla="*/ 0 w 29119"/>
              <a:gd name="T1" fmla="*/ 15681 h 21600"/>
              <a:gd name="T2" fmla="*/ 29119 w 29119"/>
              <a:gd name="T3" fmla="*/ 1678 h 21600"/>
              <a:gd name="T4" fmla="*/ 20773 w 2911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119" h="21600" fill="none" extrusionOk="0">
                <a:moveTo>
                  <a:pt x="-1" y="15680"/>
                </a:moveTo>
                <a:cubicBezTo>
                  <a:pt x="2644" y="6400"/>
                  <a:pt x="11123" y="-1"/>
                  <a:pt x="20773" y="0"/>
                </a:cubicBezTo>
                <a:cubicBezTo>
                  <a:pt x="23638" y="0"/>
                  <a:pt x="26475" y="570"/>
                  <a:pt x="29119" y="1677"/>
                </a:cubicBezTo>
              </a:path>
              <a:path w="29119" h="21600" stroke="0" extrusionOk="0">
                <a:moveTo>
                  <a:pt x="-1" y="15680"/>
                </a:moveTo>
                <a:cubicBezTo>
                  <a:pt x="2644" y="6400"/>
                  <a:pt x="11123" y="-1"/>
                  <a:pt x="20773" y="0"/>
                </a:cubicBezTo>
                <a:cubicBezTo>
                  <a:pt x="23638" y="0"/>
                  <a:pt x="26475" y="570"/>
                  <a:pt x="29119" y="1677"/>
                </a:cubicBezTo>
                <a:lnTo>
                  <a:pt x="20773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30644" name="Arc 212"/>
          <p:cNvSpPr>
            <a:spLocks/>
          </p:cNvSpPr>
          <p:nvPr/>
        </p:nvSpPr>
        <p:spPr bwMode="auto">
          <a:xfrm rot="1263366">
            <a:off x="3081338" y="3375025"/>
            <a:ext cx="2395537" cy="1296988"/>
          </a:xfrm>
          <a:custGeom>
            <a:avLst/>
            <a:gdLst>
              <a:gd name="G0" fmla="+- 18866 0 0"/>
              <a:gd name="G1" fmla="+- 21600 0 0"/>
              <a:gd name="G2" fmla="+- 21600 0 0"/>
              <a:gd name="T0" fmla="*/ 0 w 38631"/>
              <a:gd name="T1" fmla="*/ 11081 h 21600"/>
              <a:gd name="T2" fmla="*/ 38631 w 38631"/>
              <a:gd name="T3" fmla="*/ 12888 h 21600"/>
              <a:gd name="T4" fmla="*/ 18866 w 3863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631" h="21600" fill="none" extrusionOk="0">
                <a:moveTo>
                  <a:pt x="0" y="11081"/>
                </a:moveTo>
                <a:cubicBezTo>
                  <a:pt x="3814" y="4240"/>
                  <a:pt x="11033" y="-1"/>
                  <a:pt x="18866" y="0"/>
                </a:cubicBezTo>
                <a:cubicBezTo>
                  <a:pt x="27426" y="0"/>
                  <a:pt x="35178" y="5055"/>
                  <a:pt x="38631" y="12887"/>
                </a:cubicBezTo>
              </a:path>
              <a:path w="38631" h="21600" stroke="0" extrusionOk="0">
                <a:moveTo>
                  <a:pt x="0" y="11081"/>
                </a:moveTo>
                <a:cubicBezTo>
                  <a:pt x="3814" y="4240"/>
                  <a:pt x="11033" y="-1"/>
                  <a:pt x="18866" y="0"/>
                </a:cubicBezTo>
                <a:cubicBezTo>
                  <a:pt x="27426" y="0"/>
                  <a:pt x="35178" y="5055"/>
                  <a:pt x="38631" y="12887"/>
                </a:cubicBezTo>
                <a:lnTo>
                  <a:pt x="18866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" name="Group 213"/>
          <p:cNvGrpSpPr>
            <a:grpSpLocks/>
          </p:cNvGrpSpPr>
          <p:nvPr/>
        </p:nvGrpSpPr>
        <p:grpSpPr bwMode="auto">
          <a:xfrm>
            <a:off x="1971675" y="4510088"/>
            <a:ext cx="1104900" cy="566737"/>
            <a:chOff x="1242" y="2839"/>
            <a:chExt cx="696" cy="357"/>
          </a:xfrm>
        </p:grpSpPr>
        <p:sp>
          <p:nvSpPr>
            <p:cNvPr id="530646" name="Line 214"/>
            <p:cNvSpPr>
              <a:spLocks noChangeShapeType="1"/>
            </p:cNvSpPr>
            <p:nvPr/>
          </p:nvSpPr>
          <p:spPr bwMode="auto">
            <a:xfrm>
              <a:off x="1242" y="3002"/>
              <a:ext cx="406" cy="194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530647" name="Line 215"/>
            <p:cNvSpPr>
              <a:spLocks noChangeShapeType="1"/>
            </p:cNvSpPr>
            <p:nvPr/>
          </p:nvSpPr>
          <p:spPr bwMode="auto">
            <a:xfrm>
              <a:off x="1938" y="2839"/>
              <a:ext cx="0" cy="30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  <p:pic>
        <p:nvPicPr>
          <p:cNvPr id="530649" name="Picture 217" descr="Validate_XMark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27125" y="4314825"/>
            <a:ext cx="665163" cy="809625"/>
          </a:xfrm>
          <a:prstGeom prst="rect">
            <a:avLst/>
          </a:prstGeom>
          <a:noFill/>
        </p:spPr>
      </p:pic>
      <p:pic>
        <p:nvPicPr>
          <p:cNvPr id="530679" name="Picture 247" descr="Clock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65150" y="8501063"/>
            <a:ext cx="508000" cy="546100"/>
          </a:xfrm>
          <a:prstGeom prst="rect">
            <a:avLst/>
          </a:prstGeom>
          <a:noFill/>
        </p:spPr>
      </p:pic>
      <p:pic>
        <p:nvPicPr>
          <p:cNvPr id="530648" name="Picture 216" descr="Clock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49488" y="3719513"/>
            <a:ext cx="508000" cy="546100"/>
          </a:xfrm>
          <a:prstGeom prst="rect">
            <a:avLst/>
          </a:prstGeom>
          <a:noFill/>
        </p:spPr>
      </p:pic>
      <p:grpSp>
        <p:nvGrpSpPr>
          <p:cNvPr id="4" name="Group 258"/>
          <p:cNvGrpSpPr>
            <a:grpSpLocks/>
          </p:cNvGrpSpPr>
          <p:nvPr/>
        </p:nvGrpSpPr>
        <p:grpSpPr bwMode="auto">
          <a:xfrm>
            <a:off x="885825" y="1245961"/>
            <a:ext cx="7223125" cy="4951413"/>
            <a:chOff x="1339" y="4027"/>
            <a:chExt cx="4550" cy="3119"/>
          </a:xfrm>
        </p:grpSpPr>
        <p:grpSp>
          <p:nvGrpSpPr>
            <p:cNvPr id="5" name="Group 219"/>
            <p:cNvGrpSpPr>
              <a:grpSpLocks/>
            </p:cNvGrpSpPr>
            <p:nvPr/>
          </p:nvGrpSpPr>
          <p:grpSpPr bwMode="auto">
            <a:xfrm>
              <a:off x="1339" y="4027"/>
              <a:ext cx="4550" cy="3119"/>
              <a:chOff x="691" y="-2375"/>
              <a:chExt cx="4550" cy="3119"/>
            </a:xfrm>
          </p:grpSpPr>
          <p:sp>
            <p:nvSpPr>
              <p:cNvPr id="530652" name="AutoShape 220"/>
              <p:cNvSpPr>
                <a:spLocks noChangeArrowheads="1"/>
              </p:cNvSpPr>
              <p:nvPr/>
            </p:nvSpPr>
            <p:spPr bwMode="auto">
              <a:xfrm>
                <a:off x="691" y="-2375"/>
                <a:ext cx="4550" cy="3119"/>
              </a:xfrm>
              <a:prstGeom prst="roundRect">
                <a:avLst>
                  <a:gd name="adj" fmla="val 2931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EFD7"/>
                  </a:gs>
                </a:gsLst>
                <a:lin ang="5400000" scaled="1"/>
              </a:gradFill>
              <a:ln w="6350" algn="ctr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0653" name="Line 221"/>
              <p:cNvSpPr>
                <a:spLocks noChangeShapeType="1"/>
              </p:cNvSpPr>
              <p:nvPr/>
            </p:nvSpPr>
            <p:spPr bwMode="auto">
              <a:xfrm flipH="1">
                <a:off x="3879" y="-759"/>
                <a:ext cx="365" cy="860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0654" name="Line 222"/>
              <p:cNvSpPr>
                <a:spLocks noChangeShapeType="1"/>
              </p:cNvSpPr>
              <p:nvPr/>
            </p:nvSpPr>
            <p:spPr bwMode="auto">
              <a:xfrm flipV="1">
                <a:off x="2063" y="-895"/>
                <a:ext cx="1704" cy="431"/>
              </a:xfrm>
              <a:prstGeom prst="line">
                <a:avLst/>
              </a:prstGeom>
              <a:noFill/>
              <a:ln w="57150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0655" name="Oval 223"/>
              <p:cNvSpPr>
                <a:spLocks noChangeArrowheads="1"/>
              </p:cNvSpPr>
              <p:nvPr/>
            </p:nvSpPr>
            <p:spPr bwMode="auto">
              <a:xfrm>
                <a:off x="3646" y="-1433"/>
                <a:ext cx="1322" cy="778"/>
              </a:xfrm>
              <a:prstGeom prst="ellipse">
                <a:avLst/>
              </a:prstGeom>
              <a:gradFill rotWithShape="1">
                <a:gsLst>
                  <a:gs pos="0">
                    <a:srgbClr val="F0F1FF"/>
                  </a:gs>
                  <a:gs pos="100000">
                    <a:srgbClr val="B3C8D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DADAD"/>
                </a:outerShdw>
              </a:effectLst>
            </p:spPr>
            <p:txBody>
              <a:bodyPr wrap="none" anchor="ctr"/>
              <a:lstStyle/>
              <a:p>
                <a:pPr algn="r"/>
                <a:endParaRPr lang="pt-BR"/>
              </a:p>
            </p:txBody>
          </p:sp>
          <p:pic>
            <p:nvPicPr>
              <p:cNvPr id="530656" name="Picture 224" descr="Serv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747" y="-1688"/>
                <a:ext cx="461" cy="584"/>
              </a:xfrm>
              <a:prstGeom prst="rect">
                <a:avLst/>
              </a:prstGeom>
              <a:noFill/>
            </p:spPr>
          </p:pic>
          <p:pic>
            <p:nvPicPr>
              <p:cNvPr id="530657" name="Picture 225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534" y="-1101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530658" name="Oval 226"/>
              <p:cNvSpPr>
                <a:spLocks noChangeArrowheads="1"/>
              </p:cNvSpPr>
              <p:nvPr/>
            </p:nvSpPr>
            <p:spPr bwMode="auto">
              <a:xfrm>
                <a:off x="3167" y="-87"/>
                <a:ext cx="1322" cy="778"/>
              </a:xfrm>
              <a:prstGeom prst="ellipse">
                <a:avLst/>
              </a:prstGeom>
              <a:gradFill rotWithShape="1">
                <a:gsLst>
                  <a:gs pos="0">
                    <a:srgbClr val="F0F1FF"/>
                  </a:gs>
                  <a:gs pos="100000">
                    <a:srgbClr val="B3C8D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DADAD"/>
                </a:outerShdw>
              </a:effectLst>
            </p:spPr>
            <p:txBody>
              <a:bodyPr wrap="none" anchor="ctr"/>
              <a:lstStyle/>
              <a:p>
                <a:pPr algn="r"/>
                <a:endParaRPr lang="pt-BR"/>
              </a:p>
            </p:txBody>
          </p:sp>
          <p:pic>
            <p:nvPicPr>
              <p:cNvPr id="530659" name="Picture 227" descr="Serv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227" y="-269"/>
                <a:ext cx="461" cy="584"/>
              </a:xfrm>
              <a:prstGeom prst="rect">
                <a:avLst/>
              </a:prstGeom>
              <a:noFill/>
            </p:spPr>
          </p:pic>
          <p:pic>
            <p:nvPicPr>
              <p:cNvPr id="530660" name="Picture 228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104" y="179"/>
                <a:ext cx="437" cy="532"/>
              </a:xfrm>
              <a:prstGeom prst="rect">
                <a:avLst/>
              </a:prstGeom>
              <a:noFill/>
            </p:spPr>
          </p:pic>
          <p:sp>
            <p:nvSpPr>
              <p:cNvPr id="530661" name="Oval 229"/>
              <p:cNvSpPr>
                <a:spLocks noChangeArrowheads="1"/>
              </p:cNvSpPr>
              <p:nvPr/>
            </p:nvSpPr>
            <p:spPr bwMode="auto">
              <a:xfrm>
                <a:off x="1042" y="-621"/>
                <a:ext cx="1322" cy="778"/>
              </a:xfrm>
              <a:prstGeom prst="ellipse">
                <a:avLst/>
              </a:prstGeom>
              <a:gradFill rotWithShape="1">
                <a:gsLst>
                  <a:gs pos="0">
                    <a:srgbClr val="F0F1FF"/>
                  </a:gs>
                  <a:gs pos="100000">
                    <a:srgbClr val="B3C8D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DADAD"/>
                </a:outerShdw>
              </a:effectLst>
            </p:spPr>
            <p:txBody>
              <a:bodyPr wrap="none" anchor="ctr"/>
              <a:lstStyle/>
              <a:p>
                <a:pPr algn="r"/>
                <a:endParaRPr lang="pt-BR"/>
              </a:p>
            </p:txBody>
          </p:sp>
          <p:pic>
            <p:nvPicPr>
              <p:cNvPr id="530662" name="Picture 230" descr="Serv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719" y="-892"/>
                <a:ext cx="461" cy="584"/>
              </a:xfrm>
              <a:prstGeom prst="rect">
                <a:avLst/>
              </a:prstGeom>
              <a:noFill/>
            </p:spPr>
          </p:pic>
          <p:sp>
            <p:nvSpPr>
              <p:cNvPr id="530663" name="AutoShape 231"/>
              <p:cNvSpPr>
                <a:spLocks noChangeArrowheads="1"/>
              </p:cNvSpPr>
              <p:nvPr/>
            </p:nvSpPr>
            <p:spPr bwMode="auto">
              <a:xfrm>
                <a:off x="4246" y="-1509"/>
                <a:ext cx="918" cy="19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500"/>
                  <a:t>Serveur DHCP 2</a:t>
                </a:r>
              </a:p>
            </p:txBody>
          </p:sp>
          <p:sp>
            <p:nvSpPr>
              <p:cNvPr id="530664" name="AutoShape 232"/>
              <p:cNvSpPr>
                <a:spLocks noChangeArrowheads="1"/>
              </p:cNvSpPr>
              <p:nvPr/>
            </p:nvSpPr>
            <p:spPr bwMode="auto">
              <a:xfrm>
                <a:off x="2957" y="350"/>
                <a:ext cx="918" cy="19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r>
                  <a:rPr lang="en-US" sz="1500"/>
                  <a:t>Serveur DHCP 3</a:t>
                </a:r>
              </a:p>
            </p:txBody>
          </p:sp>
          <p:pic>
            <p:nvPicPr>
              <p:cNvPr id="530665" name="Picture 233" descr="Computer_DesktopComputerSansKeyboard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808" y="-31"/>
                <a:ext cx="437" cy="532"/>
              </a:xfrm>
              <a:prstGeom prst="rect">
                <a:avLst/>
              </a:prstGeom>
              <a:noFill/>
            </p:spPr>
          </p:pic>
          <p:pic>
            <p:nvPicPr>
              <p:cNvPr id="530666" name="Picture 234" descr="Server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83" y="-536"/>
                <a:ext cx="461" cy="584"/>
              </a:xfrm>
              <a:prstGeom prst="rect">
                <a:avLst/>
              </a:prstGeom>
              <a:noFill/>
            </p:spPr>
          </p:pic>
          <p:sp>
            <p:nvSpPr>
              <p:cNvPr id="530667" name="AutoShape 235"/>
              <p:cNvSpPr>
                <a:spLocks noChangeArrowheads="1"/>
              </p:cNvSpPr>
              <p:nvPr/>
            </p:nvSpPr>
            <p:spPr bwMode="auto">
              <a:xfrm>
                <a:off x="727" y="91"/>
                <a:ext cx="716" cy="280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pPr>
                  <a:lnSpc>
                    <a:spcPct val="85000"/>
                  </a:lnSpc>
                </a:pPr>
                <a:r>
                  <a:rPr lang="en-US" sz="1500"/>
                  <a:t>Serveur</a:t>
                </a:r>
                <a:br>
                  <a:rPr lang="en-US" sz="1500"/>
                </a:br>
                <a:r>
                  <a:rPr lang="en-US" sz="1500"/>
                  <a:t>DHCP Local</a:t>
                </a:r>
              </a:p>
            </p:txBody>
          </p:sp>
          <p:pic>
            <p:nvPicPr>
              <p:cNvPr id="530668" name="Picture 236" descr="Rackmount_Rout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806" y="-223"/>
                <a:ext cx="400" cy="256"/>
              </a:xfrm>
              <a:prstGeom prst="rect">
                <a:avLst/>
              </a:prstGeom>
              <a:noFill/>
            </p:spPr>
          </p:pic>
          <p:pic>
            <p:nvPicPr>
              <p:cNvPr id="530669" name="Picture 237" descr="Rackmount_Rout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2184" y="-637"/>
                <a:ext cx="400" cy="256"/>
              </a:xfrm>
              <a:prstGeom prst="rect">
                <a:avLst/>
              </a:prstGeom>
              <a:noFill/>
            </p:spPr>
          </p:pic>
          <p:pic>
            <p:nvPicPr>
              <p:cNvPr id="530670" name="Picture 238" descr="Rackmount_Rout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473" y="-994"/>
                <a:ext cx="400" cy="256"/>
              </a:xfrm>
              <a:prstGeom prst="rect">
                <a:avLst/>
              </a:prstGeom>
              <a:noFill/>
            </p:spPr>
          </p:pic>
          <p:pic>
            <p:nvPicPr>
              <p:cNvPr id="530671" name="Picture 239" descr="Rackmount_Rout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993" y="-783"/>
                <a:ext cx="400" cy="256"/>
              </a:xfrm>
              <a:prstGeom prst="rect">
                <a:avLst/>
              </a:prstGeom>
              <a:noFill/>
            </p:spPr>
          </p:pic>
          <p:sp>
            <p:nvSpPr>
              <p:cNvPr id="530672" name="AutoShape 240"/>
              <p:cNvSpPr>
                <a:spLocks noChangeArrowheads="1"/>
              </p:cNvSpPr>
              <p:nvPr/>
            </p:nvSpPr>
            <p:spPr bwMode="auto">
              <a:xfrm>
                <a:off x="739" y="-1081"/>
                <a:ext cx="1298" cy="191"/>
              </a:xfrm>
              <a:prstGeom prst="roundRect">
                <a:avLst>
                  <a:gd name="adj" fmla="val 4167"/>
                </a:avLst>
              </a:prstGeom>
              <a:solidFill>
                <a:schemeClr val="bg1"/>
              </a:solidFill>
              <a:ln w="9525" algn="ctr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r>
                  <a:rPr lang="en-GB">
                    <a:solidFill>
                      <a:srgbClr val="000000"/>
                    </a:solidFill>
                  </a:rPr>
                  <a:t>Agent de relais DHCP</a:t>
                </a: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30673" name="Text Box 241"/>
              <p:cNvSpPr txBox="1">
                <a:spLocks noChangeArrowheads="1"/>
              </p:cNvSpPr>
              <p:nvPr/>
            </p:nvSpPr>
            <p:spPr bwMode="auto">
              <a:xfrm>
                <a:off x="763" y="-1486"/>
                <a:ext cx="1256" cy="372"/>
              </a:xfrm>
              <a:prstGeom prst="rect">
                <a:avLst/>
              </a:prstGeom>
              <a:solidFill>
                <a:srgbClr val="8DACD0"/>
              </a:solidFill>
              <a:ln w="9525" algn="ctr">
                <a:solidFill>
                  <a:schemeClr val="bg2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fr-FR" sz="1600"/>
                  <a:t>Seuil de démarrage </a:t>
                </a:r>
              </a:p>
              <a:p>
                <a:r>
                  <a:rPr lang="fr-FR" sz="1600"/>
                  <a:t>= 10 secondes</a:t>
                </a:r>
                <a:endParaRPr lang="en-US" sz="1600"/>
              </a:p>
            </p:txBody>
          </p:sp>
        </p:grpSp>
        <p:sp>
          <p:nvSpPr>
            <p:cNvPr id="530674" name="Arc 242"/>
            <p:cNvSpPr>
              <a:spLocks/>
            </p:cNvSpPr>
            <p:nvPr/>
          </p:nvSpPr>
          <p:spPr bwMode="auto">
            <a:xfrm>
              <a:off x="2706" y="4848"/>
              <a:ext cx="1643" cy="884"/>
            </a:xfrm>
            <a:custGeom>
              <a:avLst/>
              <a:gdLst>
                <a:gd name="G0" fmla="+- 20773 0 0"/>
                <a:gd name="G1" fmla="+- 21600 0 0"/>
                <a:gd name="G2" fmla="+- 21600 0 0"/>
                <a:gd name="T0" fmla="*/ 0 w 29119"/>
                <a:gd name="T1" fmla="*/ 15681 h 21600"/>
                <a:gd name="T2" fmla="*/ 29119 w 29119"/>
                <a:gd name="T3" fmla="*/ 1678 h 21600"/>
                <a:gd name="T4" fmla="*/ 20773 w 2911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119" h="21600" fill="none" extrusionOk="0">
                  <a:moveTo>
                    <a:pt x="-1" y="15680"/>
                  </a:moveTo>
                  <a:cubicBezTo>
                    <a:pt x="2644" y="6400"/>
                    <a:pt x="11123" y="-1"/>
                    <a:pt x="20773" y="0"/>
                  </a:cubicBezTo>
                  <a:cubicBezTo>
                    <a:pt x="23638" y="0"/>
                    <a:pt x="26475" y="570"/>
                    <a:pt x="29119" y="1677"/>
                  </a:cubicBezTo>
                </a:path>
                <a:path w="29119" h="21600" stroke="0" extrusionOk="0">
                  <a:moveTo>
                    <a:pt x="-1" y="15680"/>
                  </a:moveTo>
                  <a:cubicBezTo>
                    <a:pt x="2644" y="6400"/>
                    <a:pt x="11123" y="-1"/>
                    <a:pt x="20773" y="0"/>
                  </a:cubicBezTo>
                  <a:cubicBezTo>
                    <a:pt x="23638" y="0"/>
                    <a:pt x="26475" y="570"/>
                    <a:pt x="29119" y="1677"/>
                  </a:cubicBezTo>
                  <a:lnTo>
                    <a:pt x="20773" y="21600"/>
                  </a:lnTo>
                  <a:close/>
                </a:path>
              </a:pathLst>
            </a:custGeom>
            <a:noFill/>
            <a:ln w="7620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0675" name="Arc 243"/>
            <p:cNvSpPr>
              <a:spLocks/>
            </p:cNvSpPr>
            <p:nvPr/>
          </p:nvSpPr>
          <p:spPr bwMode="auto">
            <a:xfrm rot="1263366">
              <a:off x="2716" y="5361"/>
              <a:ext cx="1509" cy="817"/>
            </a:xfrm>
            <a:custGeom>
              <a:avLst/>
              <a:gdLst>
                <a:gd name="G0" fmla="+- 18866 0 0"/>
                <a:gd name="G1" fmla="+- 21600 0 0"/>
                <a:gd name="G2" fmla="+- 21600 0 0"/>
                <a:gd name="T0" fmla="*/ 0 w 38631"/>
                <a:gd name="T1" fmla="*/ 11081 h 21600"/>
                <a:gd name="T2" fmla="*/ 38631 w 38631"/>
                <a:gd name="T3" fmla="*/ 12888 h 21600"/>
                <a:gd name="T4" fmla="*/ 18866 w 3863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631" h="21600" fill="none" extrusionOk="0">
                  <a:moveTo>
                    <a:pt x="0" y="11081"/>
                  </a:moveTo>
                  <a:cubicBezTo>
                    <a:pt x="3814" y="4240"/>
                    <a:pt x="11033" y="-1"/>
                    <a:pt x="18866" y="0"/>
                  </a:cubicBezTo>
                  <a:cubicBezTo>
                    <a:pt x="27426" y="0"/>
                    <a:pt x="35178" y="5055"/>
                    <a:pt x="38631" y="12887"/>
                  </a:cubicBezTo>
                </a:path>
                <a:path w="38631" h="21600" stroke="0" extrusionOk="0">
                  <a:moveTo>
                    <a:pt x="0" y="11081"/>
                  </a:moveTo>
                  <a:cubicBezTo>
                    <a:pt x="3814" y="4240"/>
                    <a:pt x="11033" y="-1"/>
                    <a:pt x="18866" y="0"/>
                  </a:cubicBezTo>
                  <a:cubicBezTo>
                    <a:pt x="27426" y="0"/>
                    <a:pt x="35178" y="5055"/>
                    <a:pt x="38631" y="12887"/>
                  </a:cubicBezTo>
                  <a:lnTo>
                    <a:pt x="18866" y="21600"/>
                  </a:lnTo>
                  <a:close/>
                </a:path>
              </a:pathLst>
            </a:custGeom>
            <a:noFill/>
            <a:ln w="76200" cap="rnd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6" name="Group 244"/>
            <p:cNvGrpSpPr>
              <a:grpSpLocks/>
            </p:cNvGrpSpPr>
            <p:nvPr/>
          </p:nvGrpSpPr>
          <p:grpSpPr bwMode="auto">
            <a:xfrm>
              <a:off x="2017" y="6076"/>
              <a:ext cx="696" cy="357"/>
              <a:chOff x="1242" y="2839"/>
              <a:chExt cx="696" cy="357"/>
            </a:xfrm>
          </p:grpSpPr>
          <p:sp>
            <p:nvSpPr>
              <p:cNvPr id="530677" name="Line 245"/>
              <p:cNvSpPr>
                <a:spLocks noChangeShapeType="1"/>
              </p:cNvSpPr>
              <p:nvPr/>
            </p:nvSpPr>
            <p:spPr bwMode="auto">
              <a:xfrm>
                <a:off x="1242" y="3002"/>
                <a:ext cx="406" cy="194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530678" name="Line 246"/>
              <p:cNvSpPr>
                <a:spLocks noChangeShapeType="1"/>
              </p:cNvSpPr>
              <p:nvPr/>
            </p:nvSpPr>
            <p:spPr bwMode="auto">
              <a:xfrm>
                <a:off x="1938" y="2839"/>
                <a:ext cx="0" cy="30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</p:grpSp>
        <p:pic>
          <p:nvPicPr>
            <p:cNvPr id="530680" name="Picture 248" descr="Validate_XMark0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485" y="5953"/>
              <a:ext cx="419" cy="510"/>
            </a:xfrm>
            <a:prstGeom prst="rect">
              <a:avLst/>
            </a:prstGeom>
            <a:noFill/>
          </p:spPr>
        </p:pic>
      </p:grpSp>
      <p:grpSp>
        <p:nvGrpSpPr>
          <p:cNvPr id="7" name="Group 250"/>
          <p:cNvGrpSpPr>
            <a:grpSpLocks/>
          </p:cNvGrpSpPr>
          <p:nvPr/>
        </p:nvGrpSpPr>
        <p:grpSpPr bwMode="auto">
          <a:xfrm>
            <a:off x="595313" y="6054725"/>
            <a:ext cx="914400" cy="425450"/>
            <a:chOff x="384" y="3024"/>
            <a:chExt cx="720" cy="336"/>
          </a:xfrm>
        </p:grpSpPr>
        <p:sp>
          <p:nvSpPr>
            <p:cNvPr id="530683" name="Oval 251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8" name="Group 252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530685" name="Oval 253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30686" name="Freeform 254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9" name="Group 255"/>
          <p:cNvGrpSpPr>
            <a:grpSpLocks/>
          </p:cNvGrpSpPr>
          <p:nvPr/>
        </p:nvGrpSpPr>
        <p:grpSpPr bwMode="auto">
          <a:xfrm>
            <a:off x="1082675" y="6130925"/>
            <a:ext cx="304800" cy="244475"/>
            <a:chOff x="768" y="3096"/>
            <a:chExt cx="240" cy="192"/>
          </a:xfrm>
        </p:grpSpPr>
        <p:sp>
          <p:nvSpPr>
            <p:cNvPr id="530688" name="Oval 256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30689" name="Rectangle 257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30681" name="AutoShape 249"/>
          <p:cNvSpPr>
            <a:spLocks noChangeArrowheads="1"/>
          </p:cNvSpPr>
          <p:nvPr/>
        </p:nvSpPr>
        <p:spPr bwMode="auto">
          <a:xfrm>
            <a:off x="232229" y="1329417"/>
            <a:ext cx="8665028" cy="974725"/>
          </a:xfrm>
          <a:prstGeom prst="roundRect">
            <a:avLst>
              <a:gd name="adj" fmla="val 24236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itchFamily="2" charset="2"/>
              <a:buNone/>
            </a:pPr>
            <a:r>
              <a:rPr lang="fr-FR" sz="2200" dirty="0"/>
              <a:t>Le </a:t>
            </a:r>
            <a:r>
              <a:rPr lang="fr-FR" sz="2200" i="1" dirty="0"/>
              <a:t>seuil de démarrage</a:t>
            </a:r>
            <a:r>
              <a:rPr lang="fr-FR" sz="2200" dirty="0"/>
              <a:t> est la durée en secondes pendant laquelle l'agent de relais DHCP attend qu'un serveur DHCP local répond aux requêtes des clients avant de transmettre la requête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2336801"/>
            <a:ext cx="9144000" cy="4521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3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3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530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3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643" grpId="0" animBg="1"/>
      <p:bldP spid="530644" grpId="0" animBg="1"/>
      <p:bldP spid="7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 lnSpcReduction="10000"/>
          </a:bodyPr>
          <a:lstStyle/>
          <a:p>
            <a:pPr marL="261938" indent="-261938">
              <a:buClr>
                <a:schemeClr val="tx2"/>
              </a:buClr>
              <a:buFont typeface="+mj-lt"/>
              <a:buAutoNum type="arabicPeriod"/>
            </a:pPr>
            <a:r>
              <a:rPr lang="fr-FR" sz="2400" dirty="0"/>
              <a:t>Quel est le rôle principal du service DHCP ?</a:t>
            </a:r>
          </a:p>
          <a:p>
            <a:pPr marL="514350" indent="-514350">
              <a:buClr>
                <a:schemeClr val="tx2"/>
              </a:buClr>
              <a:buNone/>
            </a:pPr>
            <a:r>
              <a:rPr lang="fr-FR" sz="2400" dirty="0"/>
              <a:t>2. Quels sont les quatre messages DHCP qui sont utilisées lors de la création d’un nouveau bail?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3. À quel moment un client DHCP tente habituellement de renouveler son bail automatiquement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4. Pourquoi utilise-t-on une étendue?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5. vous configurez les options d’étendue DHCP ? Quel type de compte est nécessaire pour autoriser un serveur DHCP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6.Pourquoi est-il important de définir une plage d’exclusion lors de la configuration de l’étendue DHCP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7.Quelle est la conséquence de ne pas fournir une passerelle par défaut lorsque </a:t>
            </a:r>
          </a:p>
          <a:p>
            <a:pPr marL="261938" indent="-261938">
              <a:buClr>
                <a:schemeClr val="tx2"/>
              </a:buClr>
              <a:buNone/>
            </a:pPr>
            <a:endParaRPr lang="fr-FR" sz="2200" dirty="0"/>
          </a:p>
          <a:p>
            <a:pPr marL="261938" indent="-261938">
              <a:buClr>
                <a:schemeClr val="tx2"/>
              </a:buCl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/>
          </a:bodyPr>
          <a:lstStyle/>
          <a:p>
            <a:pPr marL="261938" indent="-261938">
              <a:buClr>
                <a:schemeClr val="tx2"/>
              </a:buClr>
              <a:buFont typeface="+mj-lt"/>
              <a:buAutoNum type="arabicPeriod"/>
            </a:pPr>
            <a:r>
              <a:rPr lang="fr-FR" sz="2400" dirty="0"/>
              <a:t>Quel est le rôle principal du service DHCP ?</a:t>
            </a:r>
          </a:p>
          <a:p>
            <a:pPr marL="261938" indent="0">
              <a:buClr>
                <a:schemeClr val="tx2"/>
              </a:buClr>
              <a:buNone/>
            </a:pPr>
            <a:r>
              <a:rPr lang="fr-FR" sz="2100" b="1" dirty="0"/>
              <a:t>Le principal avantage est la configuration automatique des adresses IP pour les ordinateurs clients</a:t>
            </a:r>
          </a:p>
          <a:p>
            <a:pPr marL="514350" indent="-514350">
              <a:buClr>
                <a:schemeClr val="tx2"/>
              </a:buClr>
              <a:buNone/>
            </a:pPr>
            <a:r>
              <a:rPr lang="fr-FR" sz="2400" dirty="0"/>
              <a:t>2.</a:t>
            </a:r>
            <a:r>
              <a:rPr lang="fr-FR" dirty="0"/>
              <a:t> </a:t>
            </a:r>
            <a:r>
              <a:rPr lang="fr-FR" sz="2400" dirty="0"/>
              <a:t>Quels sont les quatre messages DHCP qui sont utilisées lors de la création d’un nouveau bail?</a:t>
            </a:r>
          </a:p>
          <a:p>
            <a:pPr marL="228600" lvl="1">
              <a:buNone/>
            </a:pPr>
            <a:r>
              <a:rPr lang="en-US" sz="2000" b="1" i="1" dirty="0"/>
              <a:t>DHCPDISCOVER, DHCPOFFER, DHCPREQUEST et DHCPACK</a:t>
            </a:r>
            <a:endParaRPr lang="en-US" sz="2000" b="1" dirty="0"/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200" dirty="0"/>
              <a:t>3.</a:t>
            </a:r>
            <a:r>
              <a:rPr lang="fr-FR" sz="2000" dirty="0"/>
              <a:t> </a:t>
            </a:r>
            <a:r>
              <a:rPr lang="fr-FR" sz="2400" dirty="0"/>
              <a:t>À quel moment un client DHCP tente habituellement de renouveler son bail automatiquement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000" b="1" dirty="0"/>
              <a:t>Lorsque 50 % de la durée du bail a expiré.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200" dirty="0"/>
              <a:t>4. </a:t>
            </a:r>
            <a:r>
              <a:rPr lang="fr-FR" sz="2400" dirty="0"/>
              <a:t>Pourquoi utilise-t-on une étendue?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000" b="1" dirty="0"/>
              <a:t>Pour définir les @ </a:t>
            </a:r>
            <a:r>
              <a:rPr lang="fr-FR" sz="2000" b="1" dirty="0" err="1"/>
              <a:t>Ip</a:t>
            </a:r>
            <a:r>
              <a:rPr lang="fr-FR" sz="2000" b="1" dirty="0"/>
              <a:t> à </a:t>
            </a:r>
            <a:r>
              <a:rPr lang="fr-FR" sz="2000" b="1" dirty="0" err="1"/>
              <a:t>uiliser</a:t>
            </a:r>
            <a:r>
              <a:rPr lang="fr-FR" sz="2000" b="1" dirty="0"/>
              <a:t> par DHCP</a:t>
            </a:r>
          </a:p>
          <a:p>
            <a:pPr marL="261938" indent="-261938">
              <a:buClr>
                <a:schemeClr val="tx2"/>
              </a:buClr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342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/>
          </a:bodyPr>
          <a:lstStyle/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5.Quel type de compte est nécessaire pour autoriser un serveur DHCP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200" b="1" dirty="0"/>
              <a:t>Administrateur d’entreprise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6.Pourquoi est-il important de définir une plage d’exclusion lors de la configuration de l’étendue DHCP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200" b="1" dirty="0"/>
              <a:t>Pour ne pas avoir des redondances des @ IP et exclure les @ IP statique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400" dirty="0"/>
              <a:t>7.Quelle est la conséquence de ne pas fournir une passerelle par défaut lorsque vous configurez les options d’étendue DHCP ?</a:t>
            </a:r>
          </a:p>
          <a:p>
            <a:pPr marL="261938" indent="-261938">
              <a:buClr>
                <a:schemeClr val="tx2"/>
              </a:buClr>
              <a:buNone/>
            </a:pPr>
            <a:r>
              <a:rPr lang="fr-FR" sz="2200" b="1" dirty="0"/>
              <a:t>Les ordinateurs ne peuvent pas communiquer avec ceux des autres </a:t>
            </a:r>
            <a:r>
              <a:rPr lang="fr-FR" sz="2200" b="1" dirty="0" err="1"/>
              <a:t>s.réseaux</a:t>
            </a:r>
            <a:endParaRPr lang="fr-FR" sz="2200" b="1" dirty="0"/>
          </a:p>
        </p:txBody>
      </p:sp>
    </p:spTree>
    <p:extLst>
      <p:ext uri="{BB962C8B-B14F-4D97-AF65-F5344CB8AC3E}">
        <p14:creationId xmlns:p14="http://schemas.microsoft.com/office/powerpoint/2010/main" val="106007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"/>
  <p:tag name="PPWINSEGMENT1SOURCERTF" val="{\rtf1\ansi\deff0{\fonttbl{\f0\fcharset0 Arial Narrow;}}{\colortbl\red0\green0\blue0;}{\f0\fs90\b\cf0 Module 2:\par}}"/>
  <p:tag name="PPWINSEGMENT1TARGETRTF" val="{\rtf1\ansi\deff1{\fonttbl{\f1\fcharset0 Arial;}{\f2\fcharset0 Arial Narrow;}}{\colortbl\red0\green0\blue0;}{\f2\fs90\b\cf0 Module 2 :\par}}"/>
  <p:tag name="PPWINSEGMENT2START" val="12"/>
  <p:tag name="PPWINSEGMENT2LENGTH" val="55"/>
  <p:tag name="PPWINSEGMENT2SOURCERTF" val="{\rtf1\ansi\deff0{\fonttbl{\f0\fcharset0 Arial Narrow;}}{\colortbl\red0\green0\blue0;}{\f0\fs90\b\cf0 Allocating IP Addressing by Using Dynamic Host Configuration Protocol (DHCP)\par}}"/>
  <p:tag name="PPWINSEGMENT2TARGETRTF" val="{\rtf1\ansi\deff0{\fonttbl{\f0\fcharset0 Arial Narrow;}}{\colortbl\red0\green0\blue0;}{\f0\fs90\b\cf0 Allocation de l'adressage IP \'E0 l'aide du protocole DHCP\par}}"/>
  <p:tag name="PPWINLASTSAVEDTRANSLATION" val="Module 2 : Allocation de l'adressage IP à l'aide du protocole DHCP"/>
  <p:tag name="PPWINALREADYSEGMENTED" val="True"/>
  <p:tag name="PPWINTOTALSEGMENT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60\b\cf0 Overview\par}}"/>
  <p:tag name="PPWINSEGMENT1TARGETRTF" val="{\rtf1\ansi\deff1{\fonttbl{\f1\fcharset0 Arial;}{\f2\fcharset0 Arial Narrow;}}{\colortbl\red0\green0\blue0;}{\f2\fs60\b\cf0 Vue d'ensemble\par}}"/>
  <p:tag name="PPWINLASTSAVEDTRANSLATION" val="Vue d'ensemble"/>
  <p:tag name="PPWINALREADYSEGMENTED" val="True"/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48\b\cf0 Multimedia:\par}}"/>
  <p:tag name="PPWINSEGMENT1TARGETRTF" val="{\rtf1\ansi\deff1{\fonttbl{\f1\fcharset0 Arial;}{\f2\fcharset0 Arial Narrow;}}{\colortbl\red0\green0\blue0;}{\f2\fs48\b\cf0 Pr\'E9sentation multim\'E9dia :\par}}"/>
  <p:tag name="PPWINSEGMENT2START" val="27"/>
  <p:tag name="PPWINSEGMENT2LENGTH" val="51"/>
  <p:tag name="PPWINSEGMENT2SOURCERTF" val="{\rtf1\ansi\deff0{\fonttbl{\f0\fcharset0 Arial Narrow;}}{\colortbl\red0\green0\blue0;}{\f0\fs48\b\cf0 The Role of DHCP in the Network Infrastructure\par}}"/>
  <p:tag name="PPWINSEGMENT2TARGETRTF" val="{\rtf1\ansi\deff1{\fonttbl{\f1\fcharset0 Arial;}{\f2\fcharset0 Arial Narrow;}}{\colortbl\red0\green0\blue0;}{\f2\fs48\b\cf0 R\'F4le du protocole DHCP dans l'infrastructure r\'E9seau\par}}"/>
  <p:tag name="PPWINSEGMENT3START" val="79"/>
  <p:tag name="PPWINSEGMENT3LENGTH" val="47"/>
  <p:tag name="PPWINSEGMENT3SOURCERTF" val="{\rtf1\ansi\deff0{\fonttbl{\f0\fcharset0 Arial Narrow;}}{\colortbl\red0\green0\blue0;}{\f0\fs48\b\cf0 Adding and Authorizing a DHCP Server Service\par}}"/>
  <p:tag name="PPWINSEGMENT3TARGETRTF" val="{\rtf1\ansi\deff1{\fonttbl{\f1\fcharset0 Arial;}{\f2\fcharset0 Arial Narrow;}}{\colortbl\red0\green0\blue0;}{\f2\fs48\b\cf0 Ajout et autorisation d'un service Serveur DHCP\par}}"/>
  <p:tag name="PPWINSEGMENT4START" val="127"/>
  <p:tag name="PPWINSEGMENT4LENGTH" val="32"/>
  <p:tag name="PPWINSEGMENT4SOURCERTF" val="{\rtf1\ansi\deff0{\fonttbl{\f0\fcharset0 Arial Narrow;}}{\colortbl\red0\green0\blue0;}{\f0\fs48\b\cf0 Configuring a DHCP Scope\par}}"/>
  <p:tag name="PPWINSEGMENT4TARGETRTF" val="{\rtf1\ansi\deff1{\fonttbl{\f1\fcharset0 Arial;}{\f2\fcharset0 Arial Narrow;}}{\colortbl\red0\green0\blue0;}{\f2\fs48\b\cf0 Configuration d'une \'E9tendue DHCP\par}}"/>
  <p:tag name="PPWINSEGMENT5START" val="160"/>
  <p:tag name="PPWINSEGMENT5LENGTH" val="36"/>
  <p:tag name="PPWINSEGMENT5SOURCERTF" val="{\rtf1\ansi\deff0{\fonttbl{\f0\fcharset0 Arial Narrow;}}{\colortbl\red0\green0\blue0;}{\f0\fs48\b\cf0 Configuring a DHCP Reservation\par}}"/>
  <p:tag name="PPWINSEGMENT5TARGETRTF" val="{\rtf1\ansi\deff1{\fonttbl{\f1\fcharset0 Arial;}{\f2\fcharset0 Arial Narrow;}}{\colortbl\red0\green0\blue0;}{\f2\fs48\b\cf0 Configuration d'une r\'E9servation DHCP\par}}"/>
  <p:tag name="PPWINSEGMENT6START" val="197"/>
  <p:tag name="PPWINSEGMENT6LENGTH" val="30"/>
  <p:tag name="PPWINSEGMENT6SOURCERTF" val="{\rtf1\ansi\deff0{\fonttbl{\f0\fcharset0 Arial Narrow;}}{\colortbl\red0\green0\blue0;}{\f0\fs48\b\cf0 Configuring DHCP Options\par}}"/>
  <p:tag name="PPWINSEGMENT6TARGETRTF" val="{\rtf1\ansi\deff1{\fonttbl{\f1\fcharset0 Arial;}{\f2\fcharset0 Arial Narrow;}}{\colortbl\red0\green0\blue0;}{\f2\fs48\b\cf0 Configuration des options DHCP\par}}"/>
  <p:tag name="PPWINSEGMENT7START" val="228"/>
  <p:tag name="PPWINSEGMENT7LENGTH" val="39"/>
  <p:tag name="PPWINSEGMENT7SOURCERTF" val="{\rtf1\ansi\deff0{\fonttbl{\f0\fcharset0 Arial Narrow;}}{\colortbl\red0\green0\blue0;}{\f0\fs48\b\cf0 Configuring a DHCP Relay Agent\par}}"/>
  <p:tag name="PPWINSEGMENT7TARGETRTF" val="{\rtf1\ansi\deff1{\fonttbl{\f1\fcharset0 Arial;}{\f2\fcharset0 Arial Narrow;}}{\colortbl\red0\green0\blue0;}{\f2\fs48\b\cf0 Configuration d'un agent de relais DHCP\par}}"/>
  <p:tag name="PPWINLASTSAVEDTRANSLATION" val="Présentation multimédia : Rôle du protocole DHCP dans l'infrastructure réseau&#10;Ajout et autorisation d'un service Serveur DHCP&#10;Configuration d'une étendue DHCP&#10;Configuration d'une réservation DHCP&#10;Configuration des options DHCP&#10;Configuration d'un agent de relais DHCP"/>
  <p:tag name="PPWINALREADYSEGMENTED" val="True"/>
  <p:tag name="PPWINTOTALSEGMENTS" val="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52\b\cf0 Multimedia:\par}}"/>
  <p:tag name="PPWINSEGMENT1TARGETRTF" val="{\rtf1\ansi\deff1{\fonttbl{\f1\fcharset0 Arial;}{\f2\fcharset0 Arial Narrow;}}{\colortbl\red0\green0\blue0;}{\f2\fs52\b\cf0 Pr\'E9sentation multim\'E9dia :\par}}"/>
  <p:tag name="PPWINSEGMENT2START" val="27"/>
  <p:tag name="PPWINSEGMENT2LENGTH" val="51"/>
  <p:tag name="PPWINSEGMENT2SOURCERTF" val="{\rtf1\ansi\deff0{\fonttbl{\f0\fcharset0 Arial Narrow;}}{\colortbl\red0\green0\blue0;}{\f0\fs52\b\cf0 The Role of DHCP in the Network Infrastructure\par}}"/>
  <p:tag name="PPWINSEGMENT2TARGETRTF" val="{\rtf1\ansi\deff1{\fonttbl{\f1\fcharset0 Arial;}{\f2\fcharset0 Arial Narrow;}}{\colortbl\red0\green0\blue0;}{\f2\fs52\b\cf0 R\'F4le du protocole DHCP dans l'infrastructure r\'E9seau\par}}"/>
  <p:tag name="PPWINLASTSAVEDTRANSLATION" val="Présentation multimédia : Rôle du protocole DHCP dans l'infrastructure réseau"/>
  <p:tag name="PPWINALREADYSEGMENTED" val="True"/>
  <p:tag name="PPWINTOTALSEGMENTS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7"/>
  <p:tag name="PPWINSEGMENT1SOURCERTF" val="{\rtf1\ansi\deff0{\fonttbl{\f0\fcharset0 Arial Narrow;}}{\colortbl\red0\green0\blue0;}{\f0\fs60\b\cf0 Why Use DHCP?\par}}"/>
  <p:tag name="PPWINSEGMENT1TARGETRTF" val="{\rtf1\ansi\deff1{\fonttbl{\f1\fcharset0 Arial;}{\f2\fcharset0 Arial Narrow;}}{\colortbl\red0\green0\blue0;}{\f2\fs60\b\cf0 Pourquoi utiliser le protocole DHCP ?\par}}"/>
  <p:tag name="PPWINLASTSAVEDTRANSLATION" val="Pourquoi utiliser le protocole DHCP ?"/>
  <p:tag name="PPWINALREADYSEGMENTED" val="True"/>
  <p:tag name="PPWINTOTALSEGMENTS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31"/>
  <p:tag name="PPWINSEGMENT1SOURCERTF" val="{\rtf1\ansi\deff0{\fonttbl{\f0\fcharset0 Arial Narrow;}}{\colortbl\red0\green0\blue0;}{\f0\fs44\b\cf0 DHCP reduces the complexity and amount of administrative work by using automatic TCP/IP configuration\par}}"/>
  <p:tag name="PPWINSEGMENT1TARGETRTF" val="{\rtf1\ansi\deff1{\fonttbl{\f1\fcharset0 Arial;}{\f2\fcharset0 Arial Narrow;}}{\colortbl\red0\green0\blue0;}{\f2\fs44\b\cf0 Le protocole DHCP simplifie et r\'E9duit le travail administratif gr\'E2ce \'E0 l'usage de la configuration automatique du protocole TCP/IP.\par}}"/>
  <p:tag name="PPWINLASTSAVEDTRANSLATION" val="Le protocole DHCP simplifie et réduit le travail administratif grâce à l'usage de la configuration automatique du protocole TCP/IP."/>
  <p:tag name="PPWINALREADYSEGMENTED" val="True"/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70"/>
  <p:tag name="PPWINSEGMENT1SOURCERTF" val="{\rtf1\ansi\deff0{\fonttbl{\f0\fcharset0 Arial Narrow;}}{\colortbl\red0\green0\blue0;}{\f0\fs38\b\cf0 IP addresses are entered manually on each client computer\par}}"/>
  <p:tag name="PPWINSEGMENT1TARGETRTF" val="{\rtf1\ansi\deff1{\fonttbl{\f1\fcharset0 Arial;}{\f2\fcharset0 Arial Narrow;}}{\colortbl\red0\green0\blue0;}{\f2\fs38\b\cf0 Les adresses IP sont entr\'E9es manuellement sur chaque ordinateur client\par}}"/>
  <p:tag name="PPWINSEGMENT2START" val="72"/>
  <p:tag name="PPWINSEGMENT2LENGTH" val="55"/>
  <p:tag name="PPWINSEGMENT2SOURCERTF" val="{\rtf1\ansi\deff0{\fonttbl{\f0\fcharset0 Arial Narrow;}}{\colortbl\red0\green0\blue0;}{\f0\fs38\b\cf0 Possibility of entering incorrect or invalid IP address\par}}"/>
  <p:tag name="PPWINSEGMENT2TARGETRTF" val="{\rtf1\ansi\deff1{\fonttbl{\f1\fcharset0 Arial;}{\f2\fcharset0 Arial Narrow;}}{\colortbl\red0\green0\blue0;}{\f2\fs38\b\cf0 Risque d'entrer une adresse IP incorrecte ou non valide\par}}"/>
  <p:tag name="PPWINSEGMENT3START" val="128"/>
  <p:tag name="PPWINSEGMENT3LENGTH" val="87"/>
  <p:tag name="PPWINSEGMENT3SOURCERTF" val="{\rtf1\ansi\deff0{\fonttbl{\f0\fcharset0 Arial Narrow;}}{\colortbl\red0\green0\blue0;}{\f0\fs38\b\cf0 Incorrect configuration can lead to communication and network issues\par}}"/>
  <p:tag name="PPWINSEGMENT3TARGETRTF" val="{\rtf1\ansi\deff1{\fonttbl{\f1\fcharset0 Arial;}{\f2\fcharset0 Arial Narrow;}}{\colortbl\red0\green0\blue0;}{\f2\fs38\b\cf0 Une configuration incorrecte peut entra\'EEner des probl\'E8mes de communication et de r\'E9seau\par}}"/>
  <p:tag name="PPWINSEGMENT4START" val="216"/>
  <p:tag name="PPWINSEGMENT4LENGTH" val="83"/>
  <p:tag name="PPWINSEGMENT4SOURCERTF" val="{\rtf1\ansi\deff0{\fonttbl{\f0\fcharset0 Arial Narrow;}}{\colortbl\red0\green0\blue0;}{\f0\fs38\b\cf0 Administrative overload on networks where computers are frequently moved\par}}"/>
  <p:tag name="PPWINSEGMENT4TARGETRTF" val="{\rtf1\ansi\deff1{\fonttbl{\f1\fcharset0 Arial;}{\f2\fcharset0 Arial Narrow;}}{\colortbl\red0\green0\blue0;}{\f2\fs38\b\cf0 Surcharge administrative sur les r\'E9seaux dont les ordinateurs sont souvent d\'E9plac\'E9s\par}}"/>
  <p:tag name="PPWINLASTSAVEDTRANSLATION" val="Les adresses IP sont entrées manuellement sur chaque ordinateur client&#10;Risque d'entrer une adresse IP incorrecte ou non valide&#10;Une configuration incorrecte peut entraîner des problèmes de communication et de réseau&#10;Surcharge administrative sur les réseaux dont les ordinateurs sont souvent déplacés"/>
  <p:tag name="PPWINALREADYSEGMENTED" val="True"/>
  <p:tag name="PPWINTOTALSEGMENTS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7"/>
  <p:tag name="PPWINSEGMENT1SOURCERTF" val="{\rtf1\ansi\deff0{\fonttbl{\f0\fcharset0 Arial Narrow;}}{\colortbl\red0\green0\blue0;}{\f0\fs60\b\cf0 Why Use DHCP?\par}}"/>
  <p:tag name="PPWINSEGMENT1TARGETRTF" val="{\rtf1\ansi\deff1{\fonttbl{\f1\fcharset0 Arial;}{\f2\fcharset0 Arial Narrow;}}{\colortbl\red0\green0\blue0;}{\f2\fs60\b\cf0 Pourquoi utiliser le protocole DHCP ?\par}}"/>
  <p:tag name="PPWINLASTSAVEDTRANSLATION" val="Pourquoi utiliser le protocole DHCP ?"/>
  <p:tag name="PPWINALREADYSEGMENTED" val="True"/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  <p:tag name="PPWINSEGMENT1START" val="1"/>
  <p:tag name="PPWINSEGMENT1LENGTH" val="69"/>
  <p:tag name="PPWINSEGMENT1SOURCERTF" val="{\rtf1\ansi\deff0{\fonttbl{\f0\fcharset0 Arial Narrow;}}{\colortbl\red0\green0\blue0;}{\f0\fs38\b\cf0 IP addresses are supplied automatically to client computers\par}}"/>
  <p:tag name="PPWINSEGMENT1TARGETRTF" val="{\rtf1\ansi\deff1{\fonttbl{\f1\fcharset0 Arial;}{\f2\fcharset0 Arial Narrow;}}{\colortbl\red0\green0\blue0;}{\f2\fs38\b\cf0 Les adresses IP sont automatiquement fournies aux ordinateurs clients\par}}"/>
  <p:tag name="PPWINSEGMENT2START" val="71"/>
  <p:tag name="PPWINSEGMENT2LENGTH" val="74"/>
  <p:tag name="PPWINSEGMENT2SOURCERTF" val="{\rtf1\ansi\deff0{\fonttbl{\f0\fcharset0 Arial Narrow;}}{\colortbl\red0\green0\blue0;}{\f0\fs38\b\cf0 Ensures that clients always use correct configuration information\par}}"/>
  <p:tag name="PPWINSEGMENT2TARGETRTF" val="{\rtf1\ansi\deff1{\fonttbl{\f1\fcharset0 Arial;}{\f2\fcharset0 Arial Narrow;}}{\colortbl\red0\green0\blue0;}{\f2\fs38\b\cf0 Les clients utilisent toujours des informations de configuration correctes\par}}"/>
  <p:tag name="PPWINSEGMENT3START" val="146"/>
  <p:tag name="PPWINSEGMENT3LENGTH" val="118"/>
  <p:tag name="PPWINSEGMENT3SOURCERTF" val="{\rtf1\ansi\deff0{\fonttbl{\f0\fcharset0 Arial Narrow;}}{\colortbl\red0\green0\blue0;}{\f0\fs38\b\cf0 Client configuration is updated automatically to reflect changes in network structure\par}}"/>
  <p:tag name="PPWINSEGMENT3TARGETRTF" val="{\rtf1\ansi\deff1{\fonttbl{\f1\fcharset0 Arial;}{\f2\fcharset0 Arial Narrow;}}{\colortbl\red0\green0\blue0;}{\f2\fs38\b\cf0 La configuration du client est automatiquement mise \'E0 jour pour refl\'E9ter les modifications dans la structure du r\'E9seau\par}}"/>
  <p:tag name="PPWINSEGMENT4START" val="265"/>
  <p:tag name="PPWINSEGMENT4LENGTH" val="53"/>
  <p:tag name="PPWINSEGMENT4SOURCERTF" val="{\rtf1\ansi\deff0{\fonttbl{\f0\fcharset0 Arial Narrow;}}{\colortbl\red0\green0\blue0;}{\f0\fs38\b\cf0 Eliminates a common source of network problems\par}}"/>
  <p:tag name="PPWINSEGMENT4TARGETRTF" val="{\rtf1\ansi\deff1{\fonttbl{\f1\fcharset0 Arial;}{\f2\fcharset0 Arial Narrow;}}{\colortbl\red0\green0\blue0;}{\f2\fs38\b\cf0 Une source fr\'E9quente de probl\'E8mes r\'E9seau est \'E9limin\'E9e\par}}"/>
  <p:tag name="PPWINLASTSAVEDTRANSLATION" val="Les adresses IP sont automatiquement fournies aux ordinateurs clients&#10;Les clients utilisent toujours des informations de configuration correctes&#10;La configuration du client est automatiquement mise à jour pour refléter les modifications dans la structure du réseau&#10;Une source fréquente de problèmes réseau est éliminée"/>
  <p:tag name="PPWINALREADYSEGMENTED" val="True"/>
  <p:tag name="PPWINTOTALSEGMENTS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7"/>
  <p:tag name="PPWINSEGMENT1SOURCERTF" val="{\rtf1\ansi\deff0{\fonttbl{\f0\fcharset0 Arial Narrow;}}{\colortbl\red0\green0\blue0;}{\f0\fs60\b\cf0 Why Use DHCP?\par}}"/>
  <p:tag name="PPWINSEGMENT1TARGETRTF" val="{\rtf1\ansi\deff1{\fonttbl{\f1\fcharset0 Arial;}{\f2\fcharset0 Arial Narrow;}}{\colortbl\red0\green0\blue0;}{\f2\fs60\b\cf0 Pourquoi utiliser le protocole DHCP ?\par}}"/>
  <p:tag name="PPWINLASTSAVEDTRANSLATION" val="Pourquoi utiliser le protocole DHCP ?"/>
  <p:tag name="PPWINALREADYSEGMENTED" val="True"/>
  <p:tag name="PPWINTOTALSEGMENTS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8"/>
  <p:tag name="PPWINSEGMENT1SOURCERTF" val="{\rtf1\ansi\deff0{\fonttbl{\f0\fcharset0 Arial Narrow;}}{\colortbl\red0\green0\blue0;}{\f0\fs60\b\cf0 How DHCP Allocates IP Addresses\par}}"/>
  <p:tag name="PPWINSEGMENT1TARGETRTF" val="{\rtf1\ansi\deff1{\fonttbl{\f1\fcharset0 Arial;}{\f2\fcharset0 Arial Narrow;}}{\colortbl\red0\green0\blue0;}{\f2\fs60\b\cf0 Comment le protocole DHCP alloue des adresses IP\par}}"/>
  <p:tag name="PPWINLASTSAVEDTRANSLATION" val="Comment le protocole DHCP alloue des adresses IP"/>
  <p:tag name="PPWINALREADYSEGMENTED" val="True"/>
  <p:tag name="PPWINTOTALSEGMENTS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2"/>
  <p:tag name="PPWINSEGMENT1SOURCERTF" val="{\rtf1\ansi\deff0{\fonttbl{\f0\fcharset0 Arial Narrow;}}{\colortbl\red0\green0\blue0;}{\f0\fs36\b\cf0 DHCP Server \par}}"/>
  <p:tag name="PPWINSEGMENT1TARGETRTF" val="{\rtf1\ansi\deff1{\fonttbl{\f1\fcharset0 Arial;}{\f2\fcharset0 Arial Narrow;}}{\colortbl\red0\green0\blue0;}{\f2\fs36\b\cf0 Serveur DHCP\par}}"/>
  <p:tag name="PPWINLASTSAVEDTRANSLATION" val="Serveur DHCP"/>
  <p:tag name="PPWINALREADYSEGMENTED" val="True"/>
  <p:tag name="PPWINTOTALSEGMENTS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3"/>
  <p:tag name="PPWINSEGMENT1SOURCERTF" val="{\rtf1\ansi\deff0{\fonttbl{\f0\fcharset0 Arial Narrow;}}{\colortbl\red95\green95\blue95;}{\f0\fs36\cf0 IP Address1:\par}}"/>
  <p:tag name="PPWINSEGMENT1TARGETRTF" val="{\rtf1\ansi\deff1{\fonttbl{\f1\fcharset0 Arial;}{\f2\fcharset0 Arial Narrow;}}{\colortbl\red0\green0\blue0;\red95\green95\blue95;}{\f2\fs36\cf1 Adresse1 IP :\par}}"/>
  <p:tag name="PPWINSEGMENT2START" val="15"/>
  <p:tag name="PPWINSEGMENT2LENGTH" val="21"/>
  <p:tag name="PPWINSEGMENT2SOURCERTF" val="{\rtf1\ansi\deff0{\fonttbl{\f0\fcharset0 Arial Narrow;}}{\colortbl\red95\green95\blue95;}{\f0\fs36\cf0 Leased to DHCP Client1\par}}"/>
  <p:tag name="PPWINSEGMENT2TARGETRTF" val="{\rtf1\ansi\deff1{\fonttbl{\f1\fcharset0 Arial;}{\f2\fcharset0 Arial Narrow;}}{\colortbl\red0\green0\blue0;\red95\green95\blue95;}{\f2\fs36\cf1 Lou\'E9e au Client1 DHCP\par}}"/>
  <p:tag name="PPWINSEGMENT3START" val="37"/>
  <p:tag name="PPWINSEGMENT3LENGTH" val="13"/>
  <p:tag name="PPWINSEGMENT3SOURCERTF" val="{\rtf1\ansi\deff0{\fonttbl{\f0\fcharset0 Arial Narrow;}}{\colortbl\red95\green95\blue95;}{\f0\fs36\cf0 IP Address2:\par}}"/>
  <p:tag name="PPWINSEGMENT3TARGETRTF" val="{\rtf1\ansi\deff1{\fonttbl{\f1\fcharset0 Arial;}{\f2\fcharset0 Arial Narrow;}}{\colortbl\red0\green0\blue0;\red95\green95\blue95;}{\f2\fs36\cf1 Adresse2 IP :\par}}"/>
  <p:tag name="PPWINSEGMENT4START" val="51"/>
  <p:tag name="PPWINSEGMENT4LENGTH" val="21"/>
  <p:tag name="PPWINSEGMENT4SOURCERTF" val="{\rtf1\ansi\deff0{\fonttbl{\f0\fcharset0 Arial Narrow;}}{\colortbl\red95\green95\blue95;}{\f0\fs36\cf0 Leased to DHCP Client2\par}}"/>
  <p:tag name="PPWINSEGMENT4TARGETRTF" val="{\rtf1\ansi\deff1{\fonttbl{\f1\fcharset0 Arial;}{\f2\fcharset0 Arial Narrow;}}{\colortbl\red0\green0\blue0;\red95\green95\blue95;}{\f2\fs36\cf1 Lou\'E9e au Client2 DHCP\par}}"/>
  <p:tag name="PPWINSEGMENT5START" val="73"/>
  <p:tag name="PPWINSEGMENT5LENGTH" val="13"/>
  <p:tag name="PPWINSEGMENT5SOURCERTF" val="{\rtf1\ansi\deff0{\fonttbl{\f0\fcharset0 Arial Narrow;}}{\colortbl\red0\green0\blue0;}{\f0\fs36\b\cf0 IP Address3:\par}}"/>
  <p:tag name="PPWINSEGMENT5TARGETRTF" val="{\rtf1\ansi\deff1{\fonttbl{\f1\fcharset0 Arial;}{\f2\fcharset0 Arial Narrow;}}{\colortbl\red0\green0\blue0;}{\f2\fs36\b\cf0 Adresse3 IP :\par}}"/>
  <p:tag name="PPWINSEGMENT6START" val="87"/>
  <p:tag name="PPWINSEGMENT6LENGTH" val="23"/>
  <p:tag name="PPWINSEGMENT6SOURCERTF" val="{\rtf1\ansi\deff0{\fonttbl{\f0\fcharset0 Arial Narrow;}}{\colortbl\red0\green0\blue0;}{\f0\fs36\b\cf0 Available to be leased \par}}"/>
  <p:tag name="PPWINSEGMENT6TARGETRTF" val="{\rtf1\ansi\deff1{\fonttbl{\f1\fcharset0 Arial;}{\f2\fcharset0 Arial Narrow;}}{\colortbl\red0\green0\blue0;}{\f2\fs36\b\cf0 Disponible pour un bail\par}}"/>
  <p:tag name="PPWINLASTSAVEDTRANSLATION" val="Adresse1 IP : Louée au Client1 DHCP&#10;Adresse2 IP : Louée au Client2 DHCP&#10;Adresse3 IP : Disponible pour un bail"/>
  <p:tag name="PPWINALREADYSEGMENTED" val="True"/>
  <p:tag name="PPWINTOTALSEGMENTS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4"/>
  <p:tag name="PPWINSEGMENT1SOURCERTF" val="{\rtf1\ansi\deff0{\fonttbl{\f0\fcharset0 Arial Narrow;}}{\colortbl\red0\green0\blue0;}{\f0\fs36\b\cf0 DHCP Client2:\par}}"/>
  <p:tag name="PPWINSEGMENT1TARGETRTF" val="{\rtf1\ansi\deff1{\fonttbl{\f1\fcharset0 Arial;}{\f2\fcharset0 Arial Narrow;}}{\colortbl\red0\green0\blue0;}{\f2\fs36\b\cf0 Client2 DHCP :\par}}"/>
  <p:tag name="PPWINSEGMENT2START" val="16"/>
  <p:tag name="PPWINSEGMENT2LENGTH" val="32"/>
  <p:tag name="PPWINSEGMENT2SOURCERTF" val="{\rtf1\ansi\deff0{\fonttbl{\f0\fcharset0 Arial Narrow;}}{\colortbl\red0\green0\blue0;}{\f0\fs36\cf0 IP configuration \line}{\f0\fs36\cf0 from DHCP server\par}}"/>
  <p:tag name="PPWINSEGMENT2TARGETRTF" val="{\rtf1\ansi\deff1{\fonttbl{\f1\fcharset0 Arial;}{\f2\fcharset0 Arial Narrow;}}{\colortbl\red0\green0\blue0;}{\f2\fs36\cf0 Configuration IP\line}{\f2\fs36\cf0 du serveur DHCP\par}}"/>
  <p:tag name="PPWINLASTSAVEDTRANSLATION" val="Client2 DHCP :Configuration IPdu serveur DHCP"/>
  <p:tag name="PPWINALREADYSEGMENTED" val="True"/>
  <p:tag name="PPWINTOTALSEGMENTS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7"/>
  <p:tag name="PPWINSEGMENT1SOURCERTF" val="{\rtf1\ansi\deff0{\fonttbl{\f0\fcharset0 Arial Narrow;}}{\colortbl\red0\green0\blue0;}{\f0\fs36\b\cf0 Non-DHCP Client:\par}}"/>
  <p:tag name="PPWINSEGMENT1TARGETRTF" val="{\rtf1\ansi\deff1{\fonttbl{\f1\fcharset0 Arial;}{\f2\fcharset0 Arial Narrow;}}{\colortbl\red0\green0\blue0;}{\f2\fs36\b\cf0 Client non-DHCP :\par}}"/>
  <p:tag name="PPWINSEGMENT2START" val="19"/>
  <p:tag name="PPWINSEGMENT2LENGTH" val="25"/>
  <p:tag name="PPWINSEGMENT2SOURCERTF" val="{\rtf1\ansi\deff0{\fonttbl{\f0\fcharset0 Arial Narrow;}}{\colortbl\red0\green0\blue0;}{\f0\fs36\cf0 Static IP \line}{\f0\fs36\cf0 configuration\par}}"/>
  <p:tag name="PPWINSEGMENT2TARGETRTF" val="{\rtf1\ansi\deff1{\fonttbl{\f1\fcharset0 Arial;}{\f2\fcharset0 Arial Narrow;}}{\colortbl\red0\green0\blue0;}{\f2\fs36\cf0 Configuration\line}{\f2\fs36\cf0 IP statique\par}}"/>
  <p:tag name="PPWINLASTSAVEDTRANSLATION" val="Client non-DHCP :ConfigurationIP statique"/>
  <p:tag name="PPWINALREADYSEGMENTED" val="True"/>
  <p:tag name="PPWINTOTALSEGMENTS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4"/>
  <p:tag name="PPWINSEGMENT1SOURCERTF" val="{\rtf1\ansi\deff0{\fonttbl{\f0\fcharset0 Arial Narrow;}}{\colortbl\red0\green0\blue0;}{\f0\fs36\b\cf0 DHCP Client1:\par}}"/>
  <p:tag name="PPWINSEGMENT1TARGETRTF" val="{\rtf1\ansi\deff1{\fonttbl{\f1\fcharset0 Arial;}{\f2\fcharset0 Arial Narrow;}}{\colortbl\red0\green0\blue0;}{\f2\fs36\b\cf0 Client1 DHCP :\par}}"/>
  <p:tag name="PPWINSEGMENT2START" val="16"/>
  <p:tag name="PPWINSEGMENT2LENGTH" val="32"/>
  <p:tag name="PPWINSEGMENT2SOURCERTF" val="{\rtf1\ansi\deff0{\fonttbl{\f0\fcharset0 Arial Narrow;}}{\colortbl\red0\green0\blue0;}{\f0\fs36\cf0 IP configuration \line}{\f0\fs36\cf0 from DHCP server\par}}"/>
  <p:tag name="PPWINSEGMENT2TARGETRTF" val="{\rtf1\ansi\deff1{\fonttbl{\f1\fcharset0 Arial;}{\f2\fcharset0 Arial Narrow;}}{\colortbl\red0\green0\blue0;}{\f2\fs36\cf0 Configuration IP\line}{\f2\fs36\cf0 du serveur DHCP\par}}"/>
  <p:tag name="PPWINLASTSAVEDTRANSLATION" val="Client1 DHCP :Configuration IPdu serveur DHCP"/>
  <p:tag name="PPWINALREADYSEGMENTED" val="True"/>
  <p:tag name="PPWINTOTALSEGMENTS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24"/>
  <p:tag name="PPWINSEGMENT1SOURCERTF" val="{\rtf1\ansi\deff0{\fonttbl{\f0\fcharset0 Arial Narrow;}}{\colortbl\red0\green0\blue0;}{\f0\fs36\b\cf0 Lease Renewal \par}}"/>
  <p:tag name="PPWINSEGMENT1TARGETRTF" val="{\rtf1\ansi\deff1{\fonttbl{\f1\fcharset0 Arial;}{\f2\fcharset0 Arial Narrow;}}{\colortbl\red0\green0\blue0;}{\f2\fs36\b\cf0 Renouvellement d'un bail\par}}"/>
  <p:tag name="PPWINLASTSAVEDTRANSLATION" val="Renouvellement d'un bail"/>
  <p:tag name="PPWINALREADYSEGMENTED" val="True"/>
  <p:tag name="PPWINTOTALSEGMENTS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9"/>
  <p:tag name="PPWINSEGMENT1SOURCERTF" val="{\rtf1\ansi\deff0{\fonttbl{\f0\fcharset0 Arial Narrow;}}{\colortbl\red0\green0\blue0;}{\f0\fs36\b\cf0 Lease Generation \par}}"/>
  <p:tag name="PPWINSEGMENT1TARGETRTF" val="{\rtf1\ansi\deff1{\fonttbl{\f1\fcharset0 Arial;}{\f2\fcharset0 Arial Narrow;}}{\colortbl\red0\green0\blue0;}{\f2\fs36\b\cf0 Cr\'E9ation d'un bail \par}}"/>
  <p:tag name="PPWINLASTSAVEDTRANSLATION" val="Création d'un bail "/>
  <p:tag name="PPWINALREADYSEGMENTED" val="True"/>
  <p:tag name="PPWINTOTALSEGMENTS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8"/>
  <p:tag name="PPWINSEGMENT1SOURCERTF" val="{\rtf1\ansi\deff0{\fonttbl{\f0\fcharset0 Arial Narrow;}}{\colortbl\red0\green0\blue0;}{\f0\fs60\b\cf0 How the DHCP Lease Generation Process Works\par}}"/>
  <p:tag name="PPWINSEGMENT1TARGETRTF" val="{\rtf1\ansi\deff1{\fonttbl{\f1\fcharset0 Arial;}{\f2\fcharset0 Arial Narrow;}}{\colortbl\red0\green0\blue0;}{\f2\fs60\b\cf0 Comment fonctionne le processus de cr\'E9ation d'un bail DHCP\par}}"/>
  <p:tag name="PPWINLASTSAVEDTRANSLATION" val="Comment fonctionne le processus de création d'un bail DHCP"/>
  <p:tag name="PPWINALREADYSEGMENTED" val="True"/>
  <p:tag name="PPWINTOTALSEGMENTS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  <p:tag name="PPWINSEGMENT1START" val="1"/>
  <p:tag name="PPWINSEGMENT1LENGTH" val="49"/>
  <p:tag name="PPWINSEGMENT1SOURCERTF" val="{\rtf1\ansi\deff0{\fonttbl{\f0\fcharset0 Arial Narrow;}}{\colortbl\red0\green0\blue0;}{\f0\fs36\b\cf0 DHCP Server1 broadcasts a DHCPACK packet\par}}"/>
  <p:tag name="PPWINSEGMENT1TARGETRTF" val="{\rtf1\ansi\deff1{\fonttbl{\f1\fcharset0 Arial;}{\f2\fcharset0 Arial Narrow;}}{\colortbl\red0\green0\blue0;}{\f2\fs36\b\cf0 Le serveur DHCP Server1 diffuse un paquet DHCPACK\par}}"/>
  <p:tag name="PPWINLASTSAVEDTRANSLATION" val="Le serveur DHCP Server1 diffuse un paquet DHCPACK"/>
  <p:tag name="PPWINALREADYSEGMENTED" val="True"/>
  <p:tag name="PPWINTOTALSEGMENTS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  <p:tag name="PPWINTOTALSEGMENTS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44"/>
  <p:tag name="PPWINSEGMENT1SOURCERTF" val="{\rtf1\ansi\deff0{\fonttbl{\f0\fcharset0 Arial Narrow;}}{\colortbl\red0\green0\blue0;}{\f0\fs36\b\cf0 DHCP client broadcasts a DHCPREQUEST packet\par}}"/>
  <p:tag name="PPWINSEGMENT1TARGETRTF" val="{\rtf1\ansi\deff1{\fonttbl{\f1\fcharset0 Arial;}{\f2\fcharset0 Arial Narrow;}}{\colortbl\red0\green0\blue0;}{\f2\fs36\b\cf0 Le client DHCP diffuse un paquet DHCPREQUEST\par}}"/>
  <p:tag name="PPWINLASTSAVEDTRANSLATION" val="Le client DHCP diffuse un paquet DHCPREQUEST"/>
  <p:tag name="PPWINALREADYSEGMENTED" val="True"/>
  <p:tag name="PPWINTOTALSEGMENTS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TOTALSEGMENTS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  <p:tag name="PPWINSEGMENT1START" val="1"/>
  <p:tag name="PPWINSEGMENT1LENGTH" val="42"/>
  <p:tag name="PPWINSEGMENT1SOURCERTF" val="{\rtf1\ansi\deff0{\fonttbl{\f0\fcharset0 Arial Narrow;}}{\colortbl\red0\green0\blue0;}{\f0\fs36\b\cf0 DHCP servers broadcast a DHCPOFFER packet\par}}"/>
  <p:tag name="PPWINSEGMENT1TARGETRTF" val="{\rtf1\ansi\deff1{\fonttbl{\f1\fcharset0 Arial;}{\f2\fcharset0 Arial Narrow;}}{\colortbl\red0\green0\blue0;}{\f2\fs36\b\cf0 Le client DHCP diffuse un paquet DHCPOFFER\par}}"/>
  <p:tag name="PPWINLASTSAVEDTRANSLATION" val="Le client DHCP diffuse un paquet DHCPOFFER"/>
  <p:tag name="PPWINALREADYSEGMENTED" val="True"/>
  <p:tag name="PPWINTOTALSEGMENTS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  <p:tag name="PPWINTOTALSEGMENTS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45"/>
  <p:tag name="PPWINSEGMENT1SOURCERTF" val="{\rtf1\ansi\deff0{\fonttbl{\f0\fcharset0 Arial Narrow;}}{\colortbl\red0\green0\blue0;}{\f0\fs36\b\cf0 DHCP client broadcasts a DHCPDISCOVER packet\par}}"/>
  <p:tag name="PPWINSEGMENT1TARGETRTF" val="{\rtf1\ansi\deff1{\fonttbl{\f1\fcharset0 Arial;}{\f2\fcharset0 Arial Narrow;}}{\colortbl\red0\green0\blue0;}{\f2\fs36\b\cf0 Le client DHCP diffuse un paquet DHCPDISCOVER\par}}"/>
  <p:tag name="PPWINLASTSAVEDTRANSLATION" val="Le client DHCP diffuse un paquet DHCPDISCOVER"/>
  <p:tag name="PPWINALREADYSEGMENTED" val="True"/>
  <p:tag name="PPWINTOTALSEGMENTS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TOTALSEGMENTS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5"/>
  <p:tag name="PPWINSEGMENT2START" val="17"/>
  <p:tag name="PPWINSEGMENT2LENGTH" val="103"/>
  <p:tag name="PPWINSEGMENT3START" val="121"/>
  <p:tag name="PPWINSEGMENT3LENGTH" val="39"/>
  <p:tag name="PPWINSEGMENT4START" val="161"/>
  <p:tag name="PPWINSEGMENT4LENGTH" val="63"/>
  <p:tag name="PPWINSEGMENT5START" val="226"/>
  <p:tag name="PPWINSEGMENT5LENGTH" val="93"/>
  <p:tag name="PPWINSEGMENT6START" val="320"/>
  <p:tag name="PPWINSEGMENT6LENGTH" val="89"/>
  <p:tag name="PPWINSEGMENT7START" val="410"/>
  <p:tag name="PPWINSEGMENT7LENGTH" val="62"/>
  <p:tag name="PPWINSEGMENT8START" val="474"/>
  <p:tag name="PPWINSEGMENT8LENGTH" val="112"/>
  <p:tag name="PPWINTOTALSEGMENTS" val="8"/>
  <p:tag name="PPWINSEGMENT1SOURCERTF" val="{\rtf1\ansi\deff0{\fonttbl{\f0\fcharset0 Arial;}}{\colortbl\red0\green0\blue0;}{\f0\fs24\b\cf0 Graphic Artist:\par}}"/>
  <p:tag name="PPWINSEGMENT2SOURCERTF" val="{\rtf1\ansi\deff0{\fonttbl{\f0\fcharset0 Arial;}}{\colortbl\red0\green0\blue0;}{\f0\fs24\cf0 After the third and fourth click, there seems to be a shadow returning of the objects that have exited.\par}}"/>
  <p:tag name="PPWINSEGMENT3SOURCERTF" val="{\rtf1\ansi\deff0{\fonttbl{\f0\fcharset0 Arial;}}{\colortbl\red0\green0\blue0;}{\f0\fs24\cf0 It may cause confusion for the learner.\par}}"/>
  <p:tag name="PPWINSEGMENT4SOURCERTF" val="{\rtf1\ansi\deff0{\fonttbl{\f0\fcharset0 Arial;}}{\colortbl\red0\green0\blue0;}{\f0\fs24\cf0 You can straighten up with start and end points of the packets.\par}}"/>
  <p:tag name="PPWINSEGMENT5SOURCERTF" val="{\rtf1\ansi\deff0{\fonttbl{\f0\fcharset0 Arial;}}{\colortbl\red0\green0\blue0;}{\f0\fs24\cf0 Or, you can try using the pulsing circles (instead of the packets) that represent broadcasts.\par}}"/>
  <p:tag name="PPWINSEGMENT6SOURCERTF" val="{\rtf1\ansi\deff0{\fonttbl{\f0\fcharset0 Arial;}}{\colortbl\red0\green0\blue0;}{\f0\fs24\cf0 You can find the pulsing circles graphic in Elise\'92s media piece titled, The Role of DHCP.\par}}"/>
  <p:tag name="PPWINSEGMENT7SOURCERTF" val="{\rtf1\ansi\deff0{\fonttbl{\f0\fcharset0 Arial;}}{\colortbl\red0\green0\blue0;}{\f0\fs24\cf0 The link to this media piece will be sent in an e-mail to you.\par}}"/>
  <p:tag name="PPWINSEGMENT8SOURCERTF" val="{\rtf1\ansi\deff0{\fonttbl{\f0\fcharset0 Arial;}}{\colortbl\red0\green0\blue0;}{\f0\fs24\cf0 Also, for printing purposes, could you please set the slide build to print the last frame with all four bullets?\par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4"/>
  <p:tag name="PPWINSEGMENT1SOURCERTF" val="{\rtf1\ansi\deff0{\fonttbl{\f0\fcharset0 Arial Narrow;}}{\colortbl\red0\green0\blue0;}{\f0\fs60\b\cf0 How the DHCP Lease Renewal Process Works\par}}"/>
  <p:tag name="PPWINSEGMENT1TARGETRTF" val="{\rtf1\ansi\deff1{\fonttbl{\f1\fcharset0 Arial;}{\f2\fcharset0 Arial Narrow;}}{\colortbl\red0\green0\blue0;}{\f2\fs60\b\cf0 Comment fonctionne le processus de renouvellement d'un bail DHCP\par}}"/>
  <p:tag name="PPWINLASTSAVEDTRANSLATION" val="Comment fonctionne le processus de renouvellement d'un bail DHCP"/>
  <p:tag name="PPWINALREADYSEGMENTED" val="True"/>
  <p:tag name="PPWINTOTALSEGMENTS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4"/>
  <p:tag name="PPWINSEGMENT1SOURCERTF" val="{\rtf1\ansi\deff0{\fonttbl{\f0\fcharset0 Arial Narrow;}}{\colortbl\red0\green0\blue0;}{\f0\fs52\b\cf0 How a DHCP Server Service Is Authorized\par}}"/>
  <p:tag name="PPWINLASTSAVEDTRANSLATION" val="Comment un service Serveur DHCP est autorisé"/>
  <p:tag name="PPWINALREADYSEGMENTED" val="True"/>
  <p:tag name="PPWINTOTALSEGMENTS" val="1"/>
  <p:tag name="PPWINSEGMENT1TARGETRTF" val="{\rtf1\ansi\deff0{\fonttbl{\f0\fcharset0 Arial Narrow;}}{\colortbl\red0\green0\blue0;}{\f0\fs52\b\cf0 Comment un service Serveur DHCP est autoris\'E9\par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2START" val="9"/>
  <p:tag name="PPWINSEGMENT2LENGTH" val="32"/>
  <p:tag name="PPWINSEGMENT2SOURCERTF" val="{\rtf1\ansi\deff0{\fonttbl{\f0\fcharset0 Arial Narrow;}}{\colortbl\red0\green0\blue0;}{\f0\fs60\b\cf0 Configuring a DHCP Scope\par}}"/>
  <p:tag name="PPWINLASTSAVEDTRANSLATION" val="Leçon : Configuration d'une étendue DHCP"/>
  <p:tag name="PPWINALREADYSEGMENTED" val="True"/>
  <p:tag name="PPWINTOTALSEGMENTS" val="2"/>
  <p:tag name="PPWINSEGMENT1TARGETRTF" val="{\rtf1\ansi\deff0{\fonttbl{\f0\fcharset0 Arial Narrow;}}{\colortbl\red0\green0\blue0;}{\f0\fs60\b\cf0 Le\'E7on :\par}}"/>
  <p:tag name="PPWINSEGMENT2TARGETRTF" val="{\rtf1\ansi\deff0{\fonttbl{\f0\fcharset0 Arial Narrow;}}{\colortbl\red0\green0\blue0;}{\f0\fs60\b\cf0 Configuration d'une \'E9tendue DHCP\par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36\b\cf0 LAN A\par}}"/>
  <p:tag name="PPWINLASTSAVEDTRANSLATION" val="Réseau local A"/>
  <p:tag name="PPWINALREADYSEGMENTED" val="True"/>
  <p:tag name="PPWINTOTALSEGMENTS" val="1"/>
  <p:tag name="PPWINSEGMENT1TARGETRTF" val="{\rtf1\ansi\deff0{\fonttbl{\f0\fcharset0 Arial Narrow;}}{\colortbl\red0\green0\blue0;}{\f0\fs36\b\cf0 R\'E9seau local A\par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36\b\cf0 LAN B\par}}"/>
  <p:tag name="PPWINLASTSAVEDTRANSLATION" val="Réseau local B"/>
  <p:tag name="PPWINALREADYSEGMENTED" val="True"/>
  <p:tag name="PPWINTOTALSEGMENTS" val="1"/>
  <p:tag name="PPWINSEGMENT1TARGETRTF" val="{\rtf1\ansi\deff0{\fonttbl{\f0\fcharset0 Arial Narrow;}}{\colortbl\red0\green0\blue0;}{\f0\fs36\b\cf0 R\'E9seau local B\par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"/>
  <p:tag name="PPWINSEGMENT1SOURCERTF" val="{\rtf1\ansi\deff0{\fonttbl{\f0\fcharset0 Arial Narrow;}}{\colortbl\red0\green0\blue0;}{\f0\fs36\b\cf0 DHCP Server\par}}"/>
  <p:tag name="PPWINLASTSAVEDTRANSLATION" val="Serveur DHCP"/>
  <p:tag name="PPWINALREADYSEGMENTED" val="True"/>
  <p:tag name="PPWINTOTALSEGMENTS" val="1"/>
  <p:tag name="PPWINSEGMENT1TARGETRTF" val="{\rtf1\ansi\deff0{\fonttbl{\f0\fcharset0 Arial Narrow;}}{\colortbl\red0\green0\blue0;}{\f0\fs36\b\cf0 Serveur DHCP\par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2"/>
  <p:tag name="PPWINSEGMENT1LENGTH" val="9"/>
  <p:tag name="PPWINSEGMENT1SOURCERTF" val="{\rtf1\ansi\deff0{\fonttbl{\f0\fcharset0 Arial Narrow;}}{\colortbl\red0\green0\blue0;}{\f0\fs40\b\cf0 Scope B\par}}"/>
  <p:tag name="PPWINLASTSAVEDTRANSLATION" val="&#10;Étendue B&#10;"/>
  <p:tag name="PPWINALREADYSEGMENTED" val="True"/>
  <p:tag name="PPWINTOTALSEGMENTS" val="1"/>
  <p:tag name="PPWINSEGMENT1TARGETRTF" val="{\rtf1\ansi\deff0{\fonttbl{\f0\fcharset0 Arial Narrow;}}{\colortbl\red0\green0\blue0;}{\f0\fs40\b\cf0 \'C9tendue B\par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2"/>
  <p:tag name="PPWINSEGMENT1LENGTH" val="9"/>
  <p:tag name="PPWINSEGMENT1SOURCERTF" val="{\rtf1\ansi\deff0{\fonttbl{\f0\fcharset0 Arial Narrow;}}{\colortbl\red0\green0\blue0;}{\f0\fs40\b\cf0 Scope A\par}}"/>
  <p:tag name="PPWINLASTSAVEDTRANSLATION" val="&#10;Étendue A&#10;"/>
  <p:tag name="PPWINALREADYSEGMENTED" val="True"/>
  <p:tag name="PPWINTOTALSEGMENTS" val="1"/>
  <p:tag name="PPWINSEGMENT1TARGETRTF" val="{\rtf1\ansi\deff0{\fonttbl{\f0\fcharset0 Arial Narrow;}}{\colortbl\red0\green0\blue0;}{\f0\fs40\b\cf0 \'C9tendue A\par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2START" val="9"/>
  <p:tag name="PPWINSEGMENT2LENGTH" val="32"/>
  <p:tag name="PPWINSEGMENT2SOURCERTF" val="{\rtf1\ansi\deff0{\fonttbl{\f0\fcharset0 Arial Narrow;}}{\colortbl\red0\green0\blue0;}{\f0\fs60\b\cf0 Configuring a DHCP Scope\par}}"/>
  <p:tag name="PPWINLASTSAVEDTRANSLATION" val="Leçon : Configuration d'une étendue DHCP"/>
  <p:tag name="PPWINALREADYSEGMENTED" val="True"/>
  <p:tag name="PPWINTOTALSEGMENTS" val="2"/>
  <p:tag name="PPWINSEGMENT1TARGETRTF" val="{\rtf1\ansi\deff0{\fonttbl{\f0\fcharset0 Arial Narrow;}}{\colortbl\red0\green0\blue0;}{\f0\fs60\b\cf0 Le\'E7on :\par}}"/>
  <p:tag name="PPWINSEGMENT2TARGETRTF" val="{\rtf1\ansi\deff0{\fonttbl{\f0\fcharset0 Arial Narrow;}}{\colortbl\red0\green0\blue0;}{\f0\fs60\b\cf0 Configuration d'une \'E9tendue DHCP\par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8"/>
  <p:tag name="PPWINSEGMENT1SOURCERTF" val="{\rtf1\ansi\deff0{\fonttbl{\f0\fcharset0 Arial Narrow;}}{\colortbl\red0\green0\blue0;}{\f0\fs60\b\cf0 What Are DHCP Scopes?\par}}"/>
  <p:tag name="PPWINSEGMENT1TARGETRTF" val="{\rtf1\ansi\deff1{\fonttbl{\f1\fcharset0 Arial;}{\f2\fcharset0 Arial Narrow;}}{\colortbl\red0\green0\blue0;}{\f2\fs60\b\cf0 Que sont les \'E9tendues DHCP ?\par}}"/>
  <p:tag name="PPWINLASTSAVEDTRANSLATION" val="Que sont les étendues DHCP ?"/>
  <p:tag name="PPWINALREADYSEGMENTED" val="True"/>
  <p:tag name="PPWINTOTALSEGMENTS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7"/>
  <p:tag name="PPWINSEGMENT1SOURCERTF" val="{\rtf1\ansi\deff0{\fonttbl{\f0\fcharset0 Arial Narrow;}}{\colortbl\red0\green0\blue0;}{\f0\fs60\b\cf0 What Are DHCP Options?\par}}"/>
  <p:tag name="PPWINSEGMENT1TARGETRTF" val="{\rtf1\ansi\deff1{\fonttbl{\f1\fcharset0 Arial;}{\f2\fcharset0 Arial Narrow;}}{\colortbl\red0\green0\blue0;}{\f2\fs60\b\cf0 Que sont les options DHCP ?\par}}"/>
  <p:tag name="PPWINLASTSAVEDTRANSLATION" val="Que sont les options DHCP ?"/>
  <p:tag name="PPWINALREADYSEGMENTED" val="True"/>
  <p:tag name="PPWINTOTALSEGMENTS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2"/>
  <p:tag name="PPWINSEGMENT1SOURCERTF" val="{\rtf1\ansi\deff0{\fonttbl{\f0\fcharset0 Arial Narrow;}}{\colortbl\red0\green0\blue0;}{\f0\fs36\b\cf0 DHCP Client\par}}"/>
  <p:tag name="PPWINLASTSAVEDTRANSLATION" val="Client DHCP "/>
  <p:tag name="PPWINALREADYSEGMENTED" val="True"/>
  <p:tag name="PPWINTOTALSEGMENTS" val="1"/>
  <p:tag name="PPWINSEGMENT1TARGETRTF" val="{\rtf1\ansi\deff0{\fonttbl{\f0\fcharset0 Arial Narrow;}}{\colortbl\red0\green0\blue0;}{\f0\fs36\b\cf0 Client DHCP \par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2"/>
  <p:tag name="PPWINSEGMENT1SOURCERTF" val="{\rtf1\ansi\deff0{\fonttbl{\f0\fcharset0 Arial Narrow;}}{\colortbl\red0\green0\blue0;}{\f0\fs36\b\cf0 DHCP Server\par}}"/>
  <p:tag name="PPWINLASTSAVEDTRANSLATION" val="Serveur DHCP"/>
  <p:tag name="PPWINALREADYSEGMENTED" val="True"/>
  <p:tag name="PPWINTOTALSEGMENTS" val="1"/>
  <p:tag name="PPWINSEGMENT1TARGETRTF" val="{\rtf1\ansi\deff0{\fonttbl{\f0\fcharset0 Arial Narrow;}}{\colortbl\red0\green0\blue0;}{\f0\fs36\b\cf0 Serveur DHCP\par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20"/>
  <p:tag name="PPWINSEGMENT1SOURCERTF" val="{\rtf1\ansi\deff0{\fonttbl{\f0\fcharset0 Arial Narrow;}}{\colortbl\red0\green0\blue0;}{\f0\fs40\b\cf0 Client\'92s IP address\par}}"/>
  <p:tag name="PPWINSEGMENT2START" val="22"/>
  <p:tag name="PPWINSEGMENT2LENGTH" val="31"/>
  <p:tag name="PPWINSEGMENT2SOURCERTF" val="{\rtf1\ansi\deff0{\fonttbl{\f0\fcharset0 Arial Narrow;}}{\colortbl\red0\green0\blue0;}{\f0\fs40\b\cf0 Client\'92s subnet mask\par}}"/>
  <p:tag name="PPWINSEGMENT3START" val="54"/>
  <p:tag name="PPWINSEGMENT3LENGTH" val="25"/>
  <p:tag name="PPWINSEGMENT3SOURCERTF" val="{\rtf1\ansi\deff0{\fonttbl{\f0\fcharset0 Arial Narrow;}}{\colortbl\red0\green0\blue0;}{\f0\fs40\b\cf0 DHCP options such as:\par}}"/>
  <p:tag name="PPWINSEGMENT4START" val="80"/>
  <p:tag name="PPWINSEGMENT4LENGTH" val="21"/>
  <p:tag name="PPWINSEGMENT4SOURCERTF" val="{\rtf1\ansi\deff0{\fonttbl{\f0\fcharset0 Arial Narrow;}}{\colortbl\red0\green0\blue0;}{\f0\fs40\b\cf0 Router\'92s IP address\par}}"/>
  <p:tag name="PPWINSEGMENT5START" val="102"/>
  <p:tag name="PPWINSEGMENT5LENGTH" val="25"/>
  <p:tag name="PPWINSEGMENT5SOURCERTF" val="{\rtf1\ansi\deff0{\fonttbl{\f0\fcharset0 Arial Narrow;}}{\colortbl\red0\green0\blue0;}{\f0\fs40\b\cf0 DNS server\'92s IP address\par}}"/>
  <p:tag name="PPWINSEGMENT6START" val="128"/>
  <p:tag name="PPWINSEGMENT6LENGTH" val="26"/>
  <p:tag name="PPWINSEGMENT6SOURCERTF" val="{\rtf1\ansi\deff0{\fonttbl{\f0\fcharset0 Arial Narrow;}}{\colortbl\red0\green0\blue0;}{\f0\fs40\b\cf0 WINS server\'92s IP address\par}}"/>
  <p:tag name="PPWINSEGMENT7START" val="155"/>
  <p:tag name="PPWINSEGMENT7LENGTH" val="18"/>
  <p:tag name="PPWINSEGMENT7SOURCERTF" val="{\rtf1\ansi\deff0{\fonttbl{\f0\fcharset0 Arial Narrow;}}{\colortbl\red0\green0\blue0;}{\f0\fs40\b\cf0 DNS domain name\par}}"/>
  <p:tag name="PPWINLASTSAVEDTRANSLATION" val="Adresse IP du client&#10;Masque de sous-réseau du client&#10;Options DHCP telles que :&#10;Adresse IP du routeur&#10;Adresse IP du serveur DNS&#10;Adresse IP du serveur WINS&#10;Nom de domaine DNS"/>
  <p:tag name="PPWINALREADYSEGMENTED" val="True"/>
  <p:tag name="PPWINTOTALSEGMENTS" val="7"/>
  <p:tag name="PPWINSEGMENT1TARGETRTF" val="{\rtf1\ansi\deff0{\fonttbl{\f0\fcharset0 Arial Narrow;}}{\colortbl\red0\green0\blue0;}{\f0\fs40\b\cf0 Adresse IP du client\par}}"/>
  <p:tag name="PPWINSEGMENT2TARGETRTF" val="{\rtf1\ansi\deff0{\fonttbl{\f0\fcharset0 Arial Narrow;}}{\colortbl\red0\green0\blue0;}{\f0\fs40\b\cf0 Masque de sous-r\'E9seau du client\par}}"/>
  <p:tag name="PPWINSEGMENT3TARGETRTF" val="{\rtf1\ansi\deff0{\fonttbl{\f0\fcharset0 Arial Narrow;}}{\colortbl\red0\green0\blue0;}{\f0\fs40\b\cf0 Options DHCP telles que :\par}}"/>
  <p:tag name="PPWINSEGMENT4TARGETRTF" val="{\rtf1\ansi\deff0{\fonttbl{\f0\fcharset0 Arial Narrow;}}{\colortbl\red0\green0\blue0;}{\f0\fs40\b\cf0 Adresse IP du routeur\par}}"/>
  <p:tag name="PPWINSEGMENT5TARGETRTF" val="{\rtf1\ansi\deff0{\fonttbl{\f0\fcharset0 Arial Narrow;}}{\colortbl\red0\green0\blue0;}{\f0\fs40\b\cf0 Adresse IP du serveur DNS\par}}"/>
  <p:tag name="PPWINSEGMENT6TARGETRTF" val="{\rtf1\ansi\deff0{\fonttbl{\f0\fcharset0 Arial Narrow;}}{\colortbl\red0\green0\blue0;}{\f0\fs40\b\cf0 Adresse IP du serveur WINS\par}}"/>
  <p:tag name="PPWINSEGMENT7TARGETRTF" val="{\rtf1\ansi\deff0{\fonttbl{\f0\fcharset0 Arial Narrow;}}{\colortbl\red0\green0\blue0;}{\f0\fs40\b\cf0 Nom de domaine DNS\par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6"/>
  <p:tag name="PPWINSEGMENT1SOURCERTF" val="{\rtf1\ansi\deff0{\fonttbl{\f0\fcharset0 Arial Narrow;}}{\colortbl\red0\green0\blue0;}{\f0\fs52\b\cf0 How DHCP Server, Scope, and Reserved Client Options Are Applied\par}}"/>
  <p:tag name="PPWINSEGMENT1TARGETRTF" val="{\rtf1\ansi\deff1{\fonttbl{\f1\fcharset0 Arial;}{\f2\fcharset0 Arial Narrow;}}{\colortbl\red0\green0\blue0;}{\f2\fs52\b\cf0 Comment sont appliqu\'E9es les options au niveau du serveur DHCP, de l'\'E9tendue et du client r\'E9serv\'E9\par}}"/>
  <p:tag name="PPWINLASTSAVEDTRANSLATION" val="Comment sont appliquées les options au niveau du serveur DHCP, de l'étendue et du client réservé"/>
  <p:tag name="PPWINALREADYSEGMENTED" val="True"/>
  <p:tag name="PPWINTOTALSEGMENTS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4"/>
  <p:tag name="PPWINSEGMENT1SOURCERTF" val="{\rtf1\ansi\deff0{\fonttbl{\f0\fcharset0 Arial Narrow;}}{\colortbl\red0\green0\blue0;}{\f0\fs52\b\cf0 How DHCP Class-level Options Are Applied\par}}"/>
  <p:tag name="PPWINSEGMENT1TARGETRTF" val="{\rtf1\ansi\deff1{\fonttbl{\f1\fcharset0 Arial;}{\f2\fcharset0 Arial Narrow;}}{\colortbl\red0\green0\blue0;}{\f2\fs52\b\cf0 Comment sont appliqu\'E9es les options au niveau de la classe DHCP \par}}"/>
  <p:tag name="PPWINLASTSAVEDTRANSLATION" val="Comment sont appliquées les options au niveau de la classe DHCP "/>
  <p:tag name="PPWINALREADYSEGMENTED" val="True"/>
  <p:tag name="PPWINTOTALSEGMENTS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4"/>
  <p:tag name="PPWINSEGMENT1SOURCERTF" val="{\rtf1\ansi\deff0{\fonttbl{\f0\fcharset0 Arial Narrow;}}{\colortbl\red0\green0\blue0;}{\f0\fs44\b\cf0 DHCP option applied at the\par}}"/>
  <p:tag name="PPWINSEGMENT1TARGETRTF" val="{\rtf1\ansi\deff1{\fonttbl{\f1\fcharset0 Arial;}{\f2\fcharset0 Arial Narrow;}}{\colortbl\red0\green0\blue0;}{\f2\fs44\b\cf0 Option DHCP appliqu\'E9e au\par}}"/>
  <p:tag name="PPWINSEGMENT2START" val="26"/>
  <p:tag name="PPWINSEGMENT2LENGTH" val="19"/>
  <p:tag name="PPWINSEGMENT2SOURCERTF" val="{\rtf1\ansi\deff0{\fonttbl{\f0\fcharset0 Arial Narrow;}}{\colortbl\red0\green0\blue0;}{\f0\fs44\b\i\cf0 class level\par}}"/>
  <p:tag name="PPWINSEGMENT2TARGETRTF" val="{\rtf1\ansi\deff1{\fonttbl{\f1\fcharset0 Arial;}{\f2\fcharset0 Arial Narrow;}}{\colortbl\red0\green0\blue0;}{\f2\fs44\b\i\cf0 niveau de la classe\par}}"/>
  <p:tag name="PPWINLASTSAVEDTRANSLATION" val="Option DHCP appliquée au&#10;niveau de la classe"/>
  <p:tag name="PPWINALREADYSEGMENTED" val="True"/>
  <p:tag name="PPWINTOTALSEGMENTS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"/>
  <p:tag name="PPWINSEGMENT1SOURCERTF" val="{\rtf1\ansi\deff0{\fonttbl{\f0\fcharset0 Arial Narrow;}}{\colortbl\red0\green0\blue0;}{\f0\fs36\b\cf0 Scope A\par}}"/>
  <p:tag name="PPWINSEGMENT1TARGETRTF" val="{\rtf1\ansi\deff1{\fonttbl{\f1\fcharset0 Arial;}{\f2\fcharset0 Arial Narrow;}}{\colortbl\red0\green0\blue0;}{\f2\fs36\b\cf0 \'C9tendue A\par}}"/>
  <p:tag name="PPWINLASTSAVEDTRANSLATION" val="Étendue A"/>
  <p:tag name="PPWINALREADYSEGMENTED" val="True"/>
  <p:tag name="PPWINTOTALSEGMENTS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"/>
  <p:tag name="PPWINSEGMENT1SOURCERTF" val="{\rtf1\ansi\deff0{\fonttbl{\f0\fcharset0 Arial Narrow;}}{\colortbl\red0\green0\blue0;}{\f0\fs36\b\cf0 Scope B\par}}"/>
  <p:tag name="PPWINSEGMENT1TARGETRTF" val="{\rtf1\ansi\deff1{\fonttbl{\f1\fcharset0 Arial;}{\f2\fcharset0 Arial Narrow;}}{\colortbl\red0\green0\blue0;}{\f2\fs36\b\cf0 \'C9tendue B\par}}"/>
  <p:tag name="PPWINLASTSAVEDTRANSLATION" val="Étendue B"/>
  <p:tag name="PPWINALREADYSEGMENTED" val="True"/>
  <p:tag name="PPWINTOTALSEGMENTS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"/>
  <p:tag name="PPWINSEGMENT1SOURCERTF" val="{\rtf1\ansi\deff0{\fonttbl{\f0\fcharset0 Arial Narrow;}}{\colortbl\red0\green0\blue0;}{\f0\fs36\b\cf0 DHCP Server\par}}"/>
  <p:tag name="PPWINSEGMENT1TARGETRTF" val="{\rtf1\ansi\deff1{\fonttbl{\f1\fcharset0 Arial;}{\f2\fcharset0 Arial Narrow;}}{\colortbl\red0\green0\blue0;}{\f2\fs36\b\cf0 Serveur DHCP\par}}"/>
  <p:tag name="PPWINLASTSAVEDTRANSLATION" val="Serveur DHCP"/>
  <p:tag name="PPWINALREADYSEGMENTED" val="True"/>
  <p:tag name="PPWINTOTALSEGMENTS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"/>
  <p:tag name="PPWINSEGMENT1SOURCERTF" val="{\rtf1\ansi\deff0{\fonttbl{\f0\fcharset0 Arial Narrow;}}{\colortbl\red0\green0\blue0;}{\f0\fs36\b\cf0 Windows 98\par}}"/>
  <p:tag name="PPWINSEGMENT1TARGETRTF" val="{\rtf1\ansi\deff1{\fonttbl{\f1\fcharset0 Arial;}{\f2\fcharset0 Arial Narrow;}}{\colortbl\red0\green0\blue0;}{\f2\fs36\b\cf0 Windows 98\par}}"/>
  <p:tag name="PPWINLASTSAVEDTRANSLATION" val="Windows 98"/>
  <p:tag name="PPWINALREADYSEGMENTED" val="True"/>
  <p:tag name="PPWINTOTALSEGMENTS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"/>
  <p:tag name="PPWINSEGMENT1SOURCERTF" val="{\rtf1\ansi\deff0{\fonttbl{\f0\fcharset0 Arial Narrow;}}{\colortbl\red0\green0\blue0;}{\f0\fs36\b\cf0 Windows XP\par}}"/>
  <p:tag name="PPWINSEGMENT1TARGETRTF" val="{\rtf1\ansi\deff1{\fonttbl{\f1\fcharset0 Arial;}{\f2\fcharset0 Arial Narrow;}}{\colortbl\red0\green0\blue0;}{\f2\fs36\b\cf0 Windows XP\par}}"/>
  <p:tag name="PPWINLASTSAVEDTRANSLATION" val="Windows XP"/>
  <p:tag name="PPWINALREADYSEGMENTED" val="True"/>
  <p:tag name="PPWINTOTALSEGMENTS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0"/>
  <p:tag name="PPWINSEGMENT1SOURCERTF" val="{\rtf1\ansi\deff0{\fonttbl{\f0\fcharset0 Arial Narrow;}}{\colortbl\red0\green0\blue0;}{\f0\fs36\b\cf0 Windows XP\par}}"/>
  <p:tag name="PPWINSEGMENT1TARGETRTF" val="{\rtf1\ansi\deff1{\fonttbl{\f1\fcharset0 Arial;}{\f2\fcharset0 Arial Narrow;}}{\colortbl\red0\green0\blue0;}{\f2\fs36\b\cf0 Windows XP\par}}"/>
  <p:tag name="PPWINLASTSAVEDTRANSLATION" val="Windows XP"/>
  <p:tag name="PPWINALREADYSEGMENTED" val="True"/>
  <p:tag name="PPWINTOTALSEGMENTS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36\b\cf0 Router\par}}"/>
  <p:tag name="PPWINSEGMENT1TARGETRTF" val="{\rtf1\ansi\deff1{\fonttbl{\f1\fcharset0 Arial;}{\f2\fcharset0 Arial Narrow;}}{\colortbl\red0\green0\blue0;}{\f2\fs36\b\cf0 Routeur\par}}"/>
  <p:tag name="PPWINLASTSAVEDTRANSLATION" val="Routeur"/>
  <p:tag name="PPWINALREADYSEGMENTED" val="True"/>
  <p:tag name="PPWINTOTALSEGMENTS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36\b\cf0 Router\par}}"/>
  <p:tag name="PPWINSEGMENT1TARGETRTF" val="{\rtf1\ansi\deff1{\fonttbl{\f1\fcharset0 Arial;}{\f2\fcharset0 Arial Narrow;}}{\colortbl\red0\green0\blue0;}{\f2\fs36\b\cf0 Routeur\par}}"/>
  <p:tag name="PPWINLASTSAVEDTRANSLATION" val="Routeur"/>
  <p:tag name="PPWINALREADYSEGMENTED" val="True"/>
  <p:tag name="PPWINTOTALSEGMENTS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5"/>
  <p:tag name="PPWINSEGMENT1SOURCERTF" val="{\rtf1\ansi\deff0{\fonttbl{\f0\fcharset0 Arial Narrow;}}{\colortbl\red0\green0\blue0;}{\f0\fs36\b\cf0 File and Print Server\par}}"/>
  <p:tag name="PPWINSEGMENT1TARGETRTF" val="{\rtf1\ansi\deff1{\fonttbl{\f1\fcharset0 Arial;}{\f2\fcharset0 Arial Narrow;}}{\colortbl\red0\green0\blue0;}{\f2\fs36\b\cf0 Serveur de fichiers et d'impression\par}}"/>
  <p:tag name="PPWINLASTSAVEDTRANSLATION" val="Serveur de fichiers et d'impression"/>
  <p:tag name="PPWINALREADYSEGMENTED" val="True"/>
  <p:tag name="PPWINTOTALSEGMENTS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3"/>
  <p:tag name="PPWINSEGMENT1SOURCERTF" val="{\rtf1\ansi\deff0{\fonttbl{\f0\fcharset0 Arial Narrow;}}{\colortbl\red0\green0\blue0;}{\f0\fs36\b\cf0 Subnet A\par}}"/>
  <p:tag name="PPWINLASTSAVEDTRANSLATION" val="Sous-réseau A"/>
  <p:tag name="PPWINALREADYSEGMENTED" val="True"/>
  <p:tag name="PPWINTOTALSEGMENTS" val="1"/>
  <p:tag name="PPTAGGERGROUP" val="1"/>
  <p:tag name="PPWINSEGMENT1TARGETRTF" val="{\rtf1\ansi\deff0{\fonttbl{\f0\fcharset0 Arial Narrow;}}{\colortbl\red0\green0\blue0;}{\f0\fs36\b\cf0 Sous-r\'E9seau A\par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3"/>
  <p:tag name="PPWINSEGMENT1SOURCERTF" val="{\rtf1\ansi\deff0{\fonttbl{\f0\fcharset0 Arial Narrow;}}{\colortbl\red0\green0\blue0;}{\f0\fs36\b\cf0 Subnet B\par}}"/>
  <p:tag name="PPWINLASTSAVEDTRANSLATION" val="Sous-réseau B"/>
  <p:tag name="PPWINALREADYSEGMENTED" val="True"/>
  <p:tag name="PPWINTOTALSEGMENTS" val="1"/>
  <p:tag name="PPTAGGERGROUP" val="1"/>
  <p:tag name="PPWINSEGMENT1TARGETRTF" val="{\rtf1\ansi\deff0{\fonttbl{\f0\fcharset0 Arial Narrow;}}{\colortbl\red0\green0\blue0;}{\f0\fs36\b\cf0 Sous-r\'E9seau B\par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0"/>
  <p:tag name="PPWINSEGMENT1SOURCERTF" val="{\rtf1\ansi\deff0{\fonttbl{\f0\fcharset0 Arial Narrow;}}{\colortbl\red0\green0\blue0;}{\f0\fs36\b\cf0 Workstation 1\par}}"/>
  <p:tag name="PPWINLASTSAVEDTRANSLATION" val="Station de travail 1"/>
  <p:tag name="PPWINALREADYSEGMENTED" val="True"/>
  <p:tag name="PPWINTOTALSEGMENTS" val="1"/>
  <p:tag name="PPTAGGERGROUP" val="1"/>
  <p:tag name="PPWINSEGMENT1TARGETRTF" val="{\rtf1\ansi\deff0{\fonttbl{\f0\fcharset0 Arial Narrow;}}{\colortbl\red0\green0\blue0;}{\f0\fs36\b\cf0 Station de travail 1\par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"/>
  <p:tag name="PPWINSEGMENT1SOURCERTF" val="{\rtf1\ansi\deff0{\fonttbl{\f0\fcharset0 Arial Narrow;}}{\colortbl\red0\green0\blue0;}{\f0\fs36\b\cf0 DHCP Server\par}}"/>
  <p:tag name="PPWINLASTSAVEDTRANSLATION" val="Serveur DHCP"/>
  <p:tag name="PPWINALREADYSEGMENTED" val="True"/>
  <p:tag name="PPWINTOTALSEGMENTS" val="1"/>
  <p:tag name="PPTAGGERGROUP" val="1"/>
  <p:tag name="PPWINSEGMENT1TARGETRTF" val="{\rtf1\ansi\deff0{\fonttbl{\f0\fcharset0 Arial Narrow;}}{\colortbl\red0\green0\blue0;}{\f0\fs36\b\cf0 Serveur DHCP\par}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0"/>
  <p:tag name="PPWINSEGMENT1SOURCERTF" val="{\rtf1\ansi\deff0{\fonttbl{\f0\fcharset0 Arial Narrow;}}{\colortbl\red0\green0\blue0;}{\f0\fs36\b\cf0 Workstation 2\par}}"/>
  <p:tag name="PPWINLASTSAVEDTRANSLATION" val="Station de travail 2"/>
  <p:tag name="PPWINALREADYSEGMENTED" val="True"/>
  <p:tag name="PPWINTOTALSEGMENTS" val="1"/>
  <p:tag name="PPTAGGERGROUP" val="1"/>
  <p:tag name="PPWINSEGMENT1TARGETRTF" val="{\rtf1\ansi\deff0{\fonttbl{\f0\fcharset0 Arial Narrow;}}{\colortbl\red0\green0\blue0;}{\f0\fs36\b\cf0 Station de travail 2\par}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5"/>
  <p:tag name="PPWINSEGMENT1SOURCERTF" val="{\rtf1\ansi\deff0{\fonttbl{\f0\fcharset0 Arial Narrow;}}{\colortbl\red0\green0\blue0;}{\f0\fs36\b\cf0 File and Print Server\par}}"/>
  <p:tag name="PPWINLASTSAVEDTRANSLATION" val="Serveur de fichiers et d'impression"/>
  <p:tag name="PPWINALREADYSEGMENTED" val="True"/>
  <p:tag name="PPWINTOTALSEGMENTS" val="1"/>
  <p:tag name="PPTAGGERGROUP" val="1"/>
  <p:tag name="PPWINSEGMENT1TARGETRTF" val="{\rtf1\ansi\deff0{\fonttbl{\f0\fcharset0 Arial Narrow;}}{\colortbl\red0\green0\blue0;}{\f0\fs36\b\cf0 Serveur de fichiers et d'impression\par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3"/>
  <p:tag name="PPWINSEGMENT1SOURCERTF" val="{\rtf1\ansi\deff0{\fonttbl{\f0\fcharset0 Arial Narrow;}}{\colortbl\red0\green0\blue0;}{\f0\fs36\b\cf0 IP Address1:\par}}"/>
  <p:tag name="PPWINSEGMENT2START" val="15"/>
  <p:tag name="PPWINSEGMENT2LENGTH" val="31"/>
  <p:tag name="PPWINSEGMENT2SOURCERTF" val="{\rtf1\ansi\deff0{\fonttbl{\f0\fcharset0 Arial Narrow;}}{\colortbl\red0\green0\blue0;}{\f0\fs36\b\cf0 Leased to Workstation 1\par}}"/>
  <p:tag name="PPWINSEGMENT3START" val="47"/>
  <p:tag name="PPWINSEGMENT3LENGTH" val="13"/>
  <p:tag name="PPWINSEGMENT3SOURCERTF" val="{\rtf1\ansi\deff0{\fonttbl{\f0\fcharset0 Arial Narrow;}}{\colortbl\red0\green0\blue0;}{\f0\fs36\b\cf0 IP Address2:\par}}"/>
  <p:tag name="PPWINSEGMENT4START" val="61"/>
  <p:tag name="PPWINSEGMENT4LENGTH" val="31"/>
  <p:tag name="PPWINSEGMENT4SOURCERTF" val="{\rtf1\ansi\deff0{\fonttbl{\f0\fcharset0 Arial Narrow;}}{\colortbl\red0\green0\blue0;}{\f0\fs36\b\cf0 Leased to Workstation 2 \par}}"/>
  <p:tag name="PPWINSEGMENT5START" val="93"/>
  <p:tag name="PPWINSEGMENT5LENGTH" val="13"/>
  <p:tag name="PPWINSEGMENT5SOURCERTF" val="{\rtf1\ansi\deff0{\fonttbl{\f0\fcharset0 Arial Narrow;}}{\colortbl\red0\green0\blue0;}{\f0\fs36\b\cf0 IP Address3:\par}}"/>
  <p:tag name="PPWINSEGMENT6START" val="107"/>
  <p:tag name="PPWINSEGMENT6LENGTH" val="47"/>
  <p:tag name="PPWINSEGMENT6SOURCERTF" val="{\rtf1\ansi\deff0{\fonttbl{\f0\fcharset0 Arial Narrow;}}{\colortbl\red0\green0\blue0;}{\f0\fs36\b\cf0 Reserved for File and Print Server\par}}"/>
  <p:tag name="PPWINLASTSAVEDTRANSLATION" val="Adresse1 IP : Louée à la station de travail 1&#10;Adresse2 IP : Louée à la station de travail 2&#10;Adresse3 IP : Réservée au serveur de fichiers et d'impression"/>
  <p:tag name="PPWINALREADYSEGMENTED" val="True"/>
  <p:tag name="PPWINTOTALSEGMENTS" val="6"/>
  <p:tag name="PPTAGGERGROUP" val="1"/>
  <p:tag name="PPWINSEGMENT1TARGETRTF" val="{\rtf1\ansi\deff0{\fonttbl{\f0\fcharset0 Arial Narrow;}}{\colortbl\red0\green0\blue0;}{\f0\fs36\b\cf0 Adresse1 IP :\par}}"/>
  <p:tag name="PPWINSEGMENT2TARGETRTF" val="{\rtf1\ansi\deff0{\fonttbl{\f0\fcharset0 Arial Narrow;}}{\colortbl\red0\green0\blue0;}{\f0\fs36\b\cf0 Lou\'E9e \'E0 la station de travail 1\par}}"/>
  <p:tag name="PPWINSEGMENT3TARGETRTF" val="{\rtf1\ansi\deff0{\fonttbl{\f0\fcharset0 Arial Narrow;}}{\colortbl\red0\green0\blue0;}{\f0\fs36\b\cf0 Adresse2 IP :\par}}"/>
  <p:tag name="PPWINSEGMENT4TARGETRTF" val="{\rtf1\ansi\deff0{\fonttbl{\f0\fcharset0 Arial Narrow;}}{\colortbl\red0\green0\blue0;}{\f0\fs36\b\cf0 Lou\'E9e \'E0 la station de travail 2\par}}"/>
  <p:tag name="PPWINSEGMENT5TARGETRTF" val="{\rtf1\ansi\deff0{\fonttbl{\f0\fcharset0 Arial Narrow;}}{\colortbl\red0\green0\blue0;}{\f0\fs36\b\cf0 Adresse3 IP :\par}}"/>
  <p:tag name="PPWINSEGMENT6TARGETRTF" val="{\rtf1\ansi\deff0{\fonttbl{\f0\fcharset0 Arial Narrow;}}{\colortbl\red0\green0\blue0;}{\f0\fs36\b\cf0 R\'E9serv\'E9e au serveur de fichiers et d'impression\par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5"/>
  <p:tag name="PPWINSEGMENT1SOURCERTF" val="{\rtf1\ansi\deff0{\fonttbl{\f0\fcharset0 Arial Narrow;}}{\colortbl\red0\green0\blue0;}{\f0\fs60\b\cf0 What Is a DHCP Reservation?\par}}"/>
  <p:tag name="PPWINSEGMENT1TARGETRTF" val="{\rtf1\ansi\deff1{\fonttbl{\f1\fcharset0 Arial;}{\f2\fcharset0 Arial Narrow;}}{\colortbl\red0\green0\blue0;}{\f2\fs60\b\cf0 Qu'est-ce qu'une r\'E9servation DHCP ?\par}}"/>
  <p:tag name="PPWINLASTSAVEDTRANSLATION" val="Qu'est-ce qu'une réservation DHCP ?"/>
  <p:tag name="PPWINALREADYSEGMENTED" val="True"/>
  <p:tag name="PPWINTOTALSEGMENTS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5"/>
  <p:tag name="PPWINSEGMENT1SOURCERTF" val="{\rtf1\ansi\deff0{\fonttbl{\f0\fcharset0 Arial Narrow;}}{\colortbl\red0\green0\blue0;}{\f0\fs60\b\cf0 What Is a DHCP Reservation?\par}}"/>
  <p:tag name="PPWINSEGMENT1TARGETRTF" val="{\rtf1\ansi\deff1{\fonttbl{\f1\fcharset0 Arial;}{\f2\fcharset0 Arial Narrow;}}{\colortbl\red0\green0\blue0;}{\f2\fs60\b\cf0 Qu'est-ce qu'une r\'E9servation DHCP ?\par}}"/>
  <p:tag name="PPWINLASTSAVEDTRANSLATION" val="Qu'est-ce qu'une réservation DHCP ?"/>
  <p:tag name="PPWINALREADYSEGMENTED" val="True"/>
  <p:tag name="PPWINTOTALSEGMENTS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2START" val="9"/>
  <p:tag name="PPWINSEGMENT2LENGTH" val="39"/>
  <p:tag name="PPWINSEGMENT2SOURCERTF" val="{\rtf1\ansi\deff0{\fonttbl{\f0\fcharset0 Arial Narrow;}}{\colortbl\red0\green0\blue0;}{\f0\fs60\b\cf0 Configuring a DHCP Relay Agent\par}}"/>
  <p:tag name="PPWINLASTSAVEDTRANSLATION" val="Leçon : Configuration d'un agent de relais DHCP"/>
  <p:tag name="PPWINALREADYSEGMENTED" val="True"/>
  <p:tag name="PPWINTOTALSEGMENTS" val="2"/>
  <p:tag name="PPWINSEGMENT1TARGETRTF" val="{\rtf1\ansi\deff0{\fonttbl{\f0\fcharset0 Arial Narrow;}}{\colortbl\red0\green0\blue0;}{\f0\fs60\b\cf0 Le\'E7on :\par}}"/>
  <p:tag name="PPWINSEGMENT2TARGETRTF" val="{\rtf1\ansi\deff0{\fonttbl{\f0\fcharset0 Arial Narrow;}}{\colortbl\red0\green0\blue0;}{\f0\fs60\b\cf0 Configuration d'un agent de relais DHCP\par}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8"/>
  <p:tag name="PPWINSEGMENT1SOURCERTF" val="{\rtf1\ansi\deff0{\fonttbl{\f0\fcharset0 Arial Narrow;}}{\colortbl\red0\green0\blue0;}{\f0\fs60\b\cf0 What Is a DHCP Relay Agent?\par}}"/>
  <p:tag name="PPWINLASTSAVEDTRANSLATION" val="Qu'est-ce qu'un agent de relais DHCP ?"/>
  <p:tag name="PPWINALREADYSEGMENTED" val="True"/>
  <p:tag name="PPWINTOTALSEGMENTS" val="1"/>
  <p:tag name="PPWINSEGMENT1TARGETRTF" val="{\rtf1\ansi\deff0{\fonttbl{\f0\fcharset0 Arial Narrow;}}{\colortbl\red0\green0\blue0;}{\f0\fs60\b\cf0 Qu'est-ce qu'un agent de relais DHCP ?\par}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2"/>
  <p:tag name="PPWINSEGMENT1SOURCERTF" val="{\rtf1\ansi\deff0{\fonttbl{\f0\fcharset0 Arial Narrow;}}{\colortbl\red0\green0\blue0;}{\f0\fs60\b\cf0 How a DHCP Relay Agent Works\par}}"/>
  <p:tag name="PPWINSEGMENT1TARGETRTF" val="{\rtf1\ansi\deff1{\fonttbl{\f1\fcharset0 Arial;}{\f2\fcharset0 Arial Narrow;}}{\colortbl\red0\green0\blue0;}{\f2\fs60\b\cf0 Comment fonctionne un agent de relais DHCP\par}}"/>
  <p:tag name="PPWINLASTSAVEDTRANSLATION" val="Comment fonctionne un agent de relais DHCP"/>
  <p:tag name="PPWINALREADYSEGMENTED" val="True"/>
  <p:tag name="PPWINTOTALSEGMENTS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1"/>
  <p:tag name="PPWINSEGMENT1SOURCERTF" val="{\rtf1\ansi\deff0{\fonttbl{\f0\fcharset0 Arial Narrow;}}{\colortbl\red0\green0\blue0;}{\f0\fs60\b\cf0 How a DHCP Relay Agent Uses Hop Count\par}}"/>
  <p:tag name="PPWINSEGMENT1TARGETRTF" val="{\rtf1\ansi\deff1{\fonttbl{\f1\fcharset0 Arial;}{\f2\fcharset0 Arial Narrow;}}{\colortbl\red0\green0\blue0;}{\f2\fs60\b\cf0 Comment un agent de relais DHCP utilise le nombre de tron\'E7ons\par}}"/>
  <p:tag name="PPWINLASTSAVEDTRANSLATION" val="Comment un agent de relais DHCP utilise le nombre de tronçons"/>
  <p:tag name="PPWINALREADYSEGMENTED" val="True"/>
  <p:tag name="PPWINTOTALSEGMENTS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2"/>
  <p:tag name="PPWINSEGMENT1SOURCERTF" val="{\rtf1\ansi\deff0{\fonttbl{\f0\fcharset0 Arial Narrow;}}{\colortbl\red0\green0\blue0;}{\f0\fs32\b\cf0 DHCP Relay Agent 2\par}}"/>
  <p:tag name="PPWINSEGMENT1TARGETRTF" val="{\rtf1\ansi\deff1{\fonttbl{\f1\fcharset0 Arial;}{\f2\fcharset0 Arial Narrow;}}{\colortbl\red0\green0\blue0;}{\f2\fs32\b\cf0 Agent de relais DHCP 2\par}}"/>
  <p:tag name="PPWINLASTSAVEDTRANSLATION" val="Agent de relais DHCP 2"/>
  <p:tag name="PPWINALREADYSEGMENTED" val="True"/>
  <p:tag name="PPWINTOTALSEGMENTS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2"/>
  <p:tag name="PPWINSEGMENT1SOURCERTF" val="{\rtf1\ansi\deff0{\fonttbl{\f0\fcharset0 Arial Narrow;}}{\colortbl\red0\green0\blue0;}{\f0\fs32\b\cf0 DHCP Server\par}}"/>
  <p:tag name="PPWINSEGMENT1TARGETRTF" val="{\rtf1\ansi\deff1{\fonttbl{\f1\fcharset0 Arial;}{\f2\fcharset0 Arial Narrow;}}{\colortbl\red0\green0\blue0;}{\f2\fs32\b\cf0 Serveur DHCP\par}}"/>
  <p:tag name="PPWINLASTSAVEDTRANSLATION" val="Serveur DHCP"/>
  <p:tag name="PPWINALREADYSEGMENTED" val="True"/>
  <p:tag name="PPWINTOTALSEGMENTS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1"/>
  <p:tag name="PPWINSEGMENT1SOURCERTF" val="{\rtf1\ansi\deff0{\fonttbl{\f0\fcharset0 Arial Narrow;}}{\colortbl\red0\green0\blue0;}{\f0\fs32\b\cf0 Hop Count = 2\par}}"/>
  <p:tag name="PPWINSEGMENT1TARGETRTF" val="{\rtf1\ansi\deff1{\fonttbl{\f1\fcharset0 Arial;}{\f2\fcharset0 Arial Narrow;}}{\colortbl\red0\green0\blue0;}{\f2\fs32\b\cf0 Nombre de tron\'E7ons= 2\par}}"/>
  <p:tag name="PPWINLASTSAVEDTRANSLATION" val="Nombre de tronçons= 2"/>
  <p:tag name="PPWINALREADYSEGMENTED" val="True"/>
  <p:tag name="PPWINTOTALSEGMENTS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2"/>
  <p:tag name="PPWINSEGMENT1SOURCERTF" val="{\rtf1\ansi\deff0{\fonttbl{\f0\fcharset0 Arial Narrow;}}{\colortbl\red0\green0\blue0;}{\f0\fs32\b\cf0 DHCP Relay Agent 1\par}}"/>
  <p:tag name="PPWINSEGMENT1TARGETRTF" val="{\rtf1\ansi\deff1{\fonttbl{\f1\fcharset0 Arial;}{\f2\fcharset0 Arial Narrow;}}{\colortbl\red0\green0\blue0;}{\f2\fs32\b\cf0 Agent de relais DHCP 1\par}}"/>
  <p:tag name="PPWINLASTSAVEDTRANSLATION" val="Agent de relais DHCP 1"/>
  <p:tag name="PPWINALREADYSEGMENTED" val="True"/>
  <p:tag name="PPWINTOTALSEGMENTS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1"/>
  <p:tag name="PPWINSEGMENT1SOURCERTF" val="{\rtf1\ansi\deff0{\fonttbl{\f0\fcharset0 Arial Narrow;}}{\colortbl\red0\green0\blue0;}{\f0\fs60\b\cf0 How a DHCP Relay Agent Uses Boot Threshold\par}}"/>
  <p:tag name="PPWINSEGMENT1TARGETRTF" val="{\rtf1\ansi\deff1{\fonttbl{\f1\fcharset0 Arial;}{\f2\fcharset0 Arial Narrow;}}{\colortbl\red0\green0\blue0;}{\f2\fs60\b\cf0 Comment un agent de relais DHCP utilise le seuil de d\'E9marrage\par}}"/>
  <p:tag name="PPWINLASTSAVEDTRANSLATION" val="Comment un agent de relais DHCP utilise le seuil de démarrage"/>
  <p:tag name="PPWINALREADYSEGMENTED" val="True"/>
  <p:tag name="PPWINTOTALSEGMENTS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11658</TotalTime>
  <Words>1929</Words>
  <Application>Microsoft Office PowerPoint</Application>
  <PresentationFormat>Affichage à l'écran (4:3)</PresentationFormat>
  <Paragraphs>353</Paragraphs>
  <Slides>27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4" baseType="lpstr">
      <vt:lpstr>Arial Narrow</vt:lpstr>
      <vt:lpstr>Wingdings 2</vt:lpstr>
      <vt:lpstr>Wingdings</vt:lpstr>
      <vt:lpstr>Arial</vt:lpstr>
      <vt:lpstr>Calibri</vt:lpstr>
      <vt:lpstr>Georgia</vt:lpstr>
      <vt:lpstr>Civil</vt:lpstr>
      <vt:lpstr>Chapitre 2 Attribution automatique d'adressages IP à l'aide du protocole DHCP</vt:lpstr>
      <vt:lpstr>Plan du cours</vt:lpstr>
      <vt:lpstr>1- Vue d’ensemble du rôle serveur DHCP</vt:lpstr>
      <vt:lpstr>Avantage de l’utilisation du service DHCP?</vt:lpstr>
      <vt:lpstr>Avantage de l’utilisation du service DHCP?</vt:lpstr>
      <vt:lpstr>Avantage de l’utilisation du service DHCP?</vt:lpstr>
      <vt:lpstr>Comment le protocole DHCP alloue des adresses IP?</vt:lpstr>
      <vt:lpstr>Comment fonctionne le processus de création d'un bail DHCP</vt:lpstr>
      <vt:lpstr>Comment fonctionne le processus de renouvellement d'un bail DHCP</vt:lpstr>
      <vt:lpstr>Comment un service Serveur DHCP est autorisé?</vt:lpstr>
      <vt:lpstr>Présentation PowerPoint</vt:lpstr>
      <vt:lpstr>Présentation PowerPoint</vt:lpstr>
      <vt:lpstr>Que sont les étendues DHCP ?</vt:lpstr>
      <vt:lpstr>Que sont les options DHCP ?</vt:lpstr>
      <vt:lpstr>Comment sont appliquées les options au niveau du serveur DHCP, de l'étendue et du client réservé?</vt:lpstr>
      <vt:lpstr>Comment sont appliquées les options au niveau de la classe DHCP? </vt:lpstr>
      <vt:lpstr>Exercice</vt:lpstr>
      <vt:lpstr>Qu'est-ce qu'une réservation DHCP ?</vt:lpstr>
      <vt:lpstr>Qu'est-ce qu'une réservation DHCP ?</vt:lpstr>
      <vt:lpstr>Présentation PowerPoint</vt:lpstr>
      <vt:lpstr>Qu'est-ce qu'un agent de relais DHCP ?</vt:lpstr>
      <vt:lpstr>Comment fonctionne un agent de relais DHCP?</vt:lpstr>
      <vt:lpstr>Comment un agent de relais DHCP utilise le nombre de tronçons</vt:lpstr>
      <vt:lpstr>Comment un agent de relais DHCP utilise le seuil de démarrage</vt:lpstr>
      <vt:lpstr>Exercices</vt:lpstr>
      <vt:lpstr>Exercices</vt:lpstr>
      <vt:lpstr>Exercices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HALIMA.HOUSNY</cp:lastModifiedBy>
  <cp:revision>794</cp:revision>
  <dcterms:created xsi:type="dcterms:W3CDTF">2002-08-07T17:51:12Z</dcterms:created>
  <dcterms:modified xsi:type="dcterms:W3CDTF">2023-10-22T23:16:55Z</dcterms:modified>
  <cp:contentStatus/>
</cp:coreProperties>
</file>