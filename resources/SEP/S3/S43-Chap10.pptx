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tags/tag29.xml" ContentType="application/vnd.openxmlformats-officedocument.presentationml.tags+xml"/>
  <Override PartName="/ppt/tags/tag38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ppt/tags/tag36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41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6" r:id="rId9"/>
    <p:sldId id="288" r:id="rId10"/>
    <p:sldId id="270" r:id="rId11"/>
    <p:sldId id="272" r:id="rId12"/>
    <p:sldId id="273" r:id="rId13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enna Calnan" initials="" lastIdx="1" clrIdx="0"/>
  <p:cmAuthor id="1" name="Kelley Umphrey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15620" autoAdjust="0"/>
    <p:restoredTop sz="94660" autoAdjust="0"/>
  </p:normalViewPr>
  <p:slideViewPr>
    <p:cSldViewPr snapToGrid="0">
      <p:cViewPr>
        <p:scale>
          <a:sx n="70" d="100"/>
          <a:sy n="70" d="100"/>
        </p:scale>
        <p:origin x="-154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5" d="100"/>
          <a:sy n="35" d="100"/>
        </p:scale>
        <p:origin x="-2268" y="-5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5F0F8419-C352-4761-9F16-D182C6A5A8A3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E485F1EC-0050-4535-8987-717A66718660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A896F5C-F27D-4F5C-98BD-0C7A6E50D333}" type="slidenum">
              <a:rPr lang="en-US"/>
              <a:pPr/>
              <a:t>1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B394816-1A09-4428-8C1C-221F4EE113F5}" type="slidenum">
              <a:rPr lang="en-US"/>
              <a:pPr/>
              <a:t>2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6B06F26-14B7-48D4-8A66-41805FA111C8}" type="slidenum">
              <a:rPr lang="en-US"/>
              <a:pPr/>
              <a:t>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1017917-C444-4072-A5DE-7797740858D2}" type="slidenum">
              <a:rPr lang="en-US"/>
              <a:pPr/>
              <a:t>4</a:t>
            </a:fld>
            <a:endParaRPr lang="en-US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85DECEC-1651-4651-97CB-2F58165BDEB1}" type="slidenum">
              <a:rPr lang="en-US"/>
              <a:pPr/>
              <a:t>5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3613B87-9C43-4384-A115-F9B98F3173DF}" type="slidenum">
              <a:rPr lang="en-US"/>
              <a:pPr/>
              <a:t>6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06C8AC6-F962-4DA6-B90A-E5C099B36F2B}" type="slidenum">
              <a:rPr lang="en-US"/>
              <a:pPr/>
              <a:t>7</a:t>
            </a:fld>
            <a:endParaRPr lang="en-US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66C73FD-4E30-4BFE-828E-BC8B68A97BF7}" type="slidenum">
              <a:rPr lang="en-US"/>
              <a:pPr/>
              <a:t>8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6EE3B28-FA2E-46EF-855E-32E608997B7D}" type="slidenum">
              <a:rPr lang="en-US"/>
              <a:pPr/>
              <a:t>9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9970A95-2E49-414F-9B4A-407834D82F8D}" type="slidenum">
              <a:rPr lang="en-US"/>
              <a:pPr/>
              <a:t>10</a:t>
            </a:fld>
            <a:endParaRPr 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4A9AD1C-7AF4-4252-8F92-F72E958841B0}" type="slidenum">
              <a:rPr lang="en-US"/>
              <a:pPr/>
              <a:t>11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A4BFB7A-9B82-4A44-8C76-B988FB8E726E}" type="slidenum">
              <a:rPr lang="en-US"/>
              <a:pPr/>
              <a:t>12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1/19/2016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1/19/2016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tx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tx1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tx1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tx1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tx1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7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013340" y="1696792"/>
            <a:ext cx="6962775" cy="3048000"/>
          </a:xfrm>
          <a:noFill/>
          <a:ln/>
        </p:spPr>
        <p:txBody>
          <a:bodyPr lIns="90488" tIns="44450" rIns="90488" bIns="44450"/>
          <a:lstStyle/>
          <a:p>
            <a:pPr algn="ctr">
              <a:lnSpc>
                <a:spcPct val="95000"/>
              </a:lnSpc>
            </a:pPr>
            <a:r>
              <a:rPr lang="en-GB" sz="5000" b="1" dirty="0" err="1" smtClean="0">
                <a:solidFill>
                  <a:srgbClr val="000000"/>
                </a:solidFill>
              </a:rPr>
              <a:t>Chapitre</a:t>
            </a:r>
            <a:r>
              <a:rPr lang="en-GB" sz="5000" b="1" dirty="0" smtClean="0">
                <a:solidFill>
                  <a:srgbClr val="000000"/>
                </a:solidFill>
              </a:rPr>
              <a:t> 10 </a:t>
            </a:r>
            <a:br>
              <a:rPr lang="en-GB" sz="5000" b="1" dirty="0" smtClean="0">
                <a:solidFill>
                  <a:srgbClr val="000000"/>
                </a:solidFill>
              </a:rPr>
            </a:br>
            <a:r>
              <a:rPr lang="en-US" sz="5000" b="1" dirty="0" smtClean="0"/>
              <a:t> </a:t>
            </a:r>
            <a:r>
              <a:rPr lang="en-GB" sz="5000" b="1" dirty="0" err="1">
                <a:solidFill>
                  <a:srgbClr val="000000"/>
                </a:solidFill>
              </a:rPr>
              <a:t>Gestion</a:t>
            </a:r>
            <a:r>
              <a:rPr lang="en-GB" sz="5000" b="1" dirty="0">
                <a:solidFill>
                  <a:srgbClr val="000000"/>
                </a:solidFill>
              </a:rPr>
              <a:t> et analyse de </a:t>
            </a:r>
            <a:r>
              <a:rPr lang="en-GB" sz="5000" b="1" dirty="0" err="1">
                <a:solidFill>
                  <a:srgbClr val="000000"/>
                </a:solidFill>
              </a:rPr>
              <a:t>l'accès</a:t>
            </a:r>
            <a:r>
              <a:rPr lang="en-GB" sz="5000" b="1" dirty="0">
                <a:solidFill>
                  <a:srgbClr val="000000"/>
                </a:solidFill>
              </a:rPr>
              <a:t> </a:t>
            </a:r>
            <a:r>
              <a:rPr lang="en-GB" sz="5000" b="1" dirty="0" err="1">
                <a:solidFill>
                  <a:srgbClr val="000000"/>
                </a:solidFill>
              </a:rPr>
              <a:t>réseau</a:t>
            </a:r>
            <a:endParaRPr lang="en-US" sz="5000" b="1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4848" y="204919"/>
            <a:ext cx="36688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dirty="0" smtClean="0">
                <a:solidFill>
                  <a:srgbClr val="000000"/>
                </a:solidFill>
              </a:rPr>
              <a:t>Module S43</a:t>
            </a:r>
            <a:endParaRPr lang="fr-FR" sz="4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0000"/>
                </a:solidFill>
              </a:rPr>
              <a:t>Plan du </a:t>
            </a:r>
            <a:r>
              <a:rPr lang="en-GB" b="1" dirty="0" err="1" smtClean="0">
                <a:solidFill>
                  <a:srgbClr val="000000"/>
                </a:solidFill>
              </a:rPr>
              <a:t>cours</a:t>
            </a:r>
            <a:endParaRPr lang="en-US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75994" y="2003567"/>
            <a:ext cx="8503920" cy="2375251"/>
          </a:xfrm>
        </p:spPr>
        <p:txBody>
          <a:bodyPr/>
          <a:lstStyle/>
          <a:p>
            <a:pPr marL="514350" indent="-514350">
              <a:buClrTx/>
              <a:buFont typeface="+mj-lt"/>
              <a:buAutoNum type="arabicPeriod"/>
            </a:pPr>
            <a:r>
              <a:rPr lang="en-GB" dirty="0" err="1">
                <a:solidFill>
                  <a:srgbClr val="000000"/>
                </a:solidFill>
              </a:rPr>
              <a:t>Gestion</a:t>
            </a:r>
            <a:r>
              <a:rPr lang="en-GB" dirty="0">
                <a:solidFill>
                  <a:srgbClr val="000000"/>
                </a:solidFill>
              </a:rPr>
              <a:t> des services </a:t>
            </a:r>
            <a:r>
              <a:rPr lang="en-GB" dirty="0" err="1">
                <a:solidFill>
                  <a:srgbClr val="000000"/>
                </a:solidFill>
              </a:rPr>
              <a:t>d'accès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réseau</a:t>
            </a:r>
            <a:endParaRPr lang="en-US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Configuration de </a:t>
            </a:r>
            <a:r>
              <a:rPr lang="en-GB" dirty="0" err="1">
                <a:solidFill>
                  <a:srgbClr val="000000"/>
                </a:solidFill>
              </a:rPr>
              <a:t>l'enregistrement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sur</a:t>
            </a:r>
            <a:r>
              <a:rPr lang="en-GB" dirty="0">
                <a:solidFill>
                  <a:srgbClr val="000000"/>
                </a:solidFill>
              </a:rPr>
              <a:t> un </a:t>
            </a:r>
            <a:r>
              <a:rPr lang="en-GB" dirty="0" err="1">
                <a:solidFill>
                  <a:srgbClr val="000000"/>
                </a:solidFill>
              </a:rPr>
              <a:t>serveur</a:t>
            </a:r>
            <a:r>
              <a:rPr lang="en-GB" dirty="0">
                <a:solidFill>
                  <a:srgbClr val="000000"/>
                </a:solidFill>
              </a:rPr>
              <a:t/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d'accès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réseau</a:t>
            </a:r>
            <a:endParaRPr lang="en-US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en-GB" dirty="0" err="1">
                <a:solidFill>
                  <a:srgbClr val="000000"/>
                </a:solidFill>
              </a:rPr>
              <a:t>Collecte</a:t>
            </a:r>
            <a:r>
              <a:rPr lang="en-GB" dirty="0">
                <a:solidFill>
                  <a:srgbClr val="000000"/>
                </a:solidFill>
              </a:rPr>
              <a:t> et analyse des </a:t>
            </a:r>
            <a:r>
              <a:rPr lang="en-GB" dirty="0" err="1">
                <a:solidFill>
                  <a:srgbClr val="000000"/>
                </a:solidFill>
              </a:rPr>
              <a:t>données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d'accès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réseau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460375" indent="-460375"/>
            <a:r>
              <a:rPr lang="fr-FR" dirty="0" smtClean="0">
                <a:solidFill>
                  <a:srgbClr val="000000"/>
                </a:solidFill>
              </a:rPr>
              <a:t>1. Gestion </a:t>
            </a:r>
            <a:r>
              <a:rPr lang="fr-FR" dirty="0">
                <a:solidFill>
                  <a:srgbClr val="000000"/>
                </a:solidFill>
              </a:rPr>
              <a:t>des services d'accès réseau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88873" y="2132355"/>
            <a:ext cx="8503920" cy="1795701"/>
          </a:xfrm>
        </p:spPr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Instructions relatives à la </a:t>
            </a:r>
            <a:r>
              <a:rPr lang="en-GB" dirty="0" err="1">
                <a:solidFill>
                  <a:srgbClr val="000000"/>
                </a:solidFill>
              </a:rPr>
              <a:t>gestion</a:t>
            </a:r>
            <a:r>
              <a:rPr lang="en-GB" dirty="0">
                <a:solidFill>
                  <a:srgbClr val="000000"/>
                </a:solidFill>
              </a:rPr>
              <a:t> des services 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 err="1">
                <a:solidFill>
                  <a:srgbClr val="000000"/>
                </a:solidFill>
              </a:rPr>
              <a:t>d'accès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réseau</a:t>
            </a:r>
            <a:endParaRPr lang="en-US" dirty="0"/>
          </a:p>
          <a:p>
            <a:r>
              <a:rPr lang="en-GB" dirty="0">
                <a:solidFill>
                  <a:srgbClr val="000000"/>
                </a:solidFill>
              </a:rPr>
              <a:t>Comment </a:t>
            </a:r>
            <a:r>
              <a:rPr lang="en-GB" dirty="0" err="1">
                <a:solidFill>
                  <a:srgbClr val="000000"/>
                </a:solidFill>
              </a:rPr>
              <a:t>gérer</a:t>
            </a:r>
            <a:r>
              <a:rPr lang="en-GB" dirty="0">
                <a:solidFill>
                  <a:srgbClr val="000000"/>
                </a:solidFill>
              </a:rPr>
              <a:t> les clients </a:t>
            </a:r>
            <a:r>
              <a:rPr lang="en-GB" dirty="0" err="1">
                <a:solidFill>
                  <a:srgbClr val="000000"/>
                </a:solidFill>
              </a:rPr>
              <a:t>d'accès</a:t>
            </a:r>
            <a:r>
              <a:rPr lang="en-GB" dirty="0">
                <a:solidFill>
                  <a:srgbClr val="000000"/>
                </a:solidFill>
              </a:rPr>
              <a:t> distant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Instructions relatives à la gestion des services d'accès réseau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8353" name="Oval 161"/>
          <p:cNvSpPr>
            <a:spLocks noChangeArrowheads="1"/>
          </p:cNvSpPr>
          <p:nvPr/>
        </p:nvSpPr>
        <p:spPr bwMode="auto">
          <a:xfrm>
            <a:off x="1385888" y="1381125"/>
            <a:ext cx="3613150" cy="1979613"/>
          </a:xfrm>
          <a:prstGeom prst="ellipse">
            <a:avLst/>
          </a:prstGeom>
          <a:solidFill>
            <a:srgbClr val="E8F6E4"/>
          </a:solidFill>
          <a:ln w="9525" algn="ctr">
            <a:noFill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354" name="AutoShape 162"/>
          <p:cNvSpPr>
            <a:spLocks noChangeArrowheads="1"/>
          </p:cNvSpPr>
          <p:nvPr/>
        </p:nvSpPr>
        <p:spPr bwMode="auto">
          <a:xfrm>
            <a:off x="167425" y="3786388"/>
            <a:ext cx="8809150" cy="3071611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endParaRPr lang="fr-FR"/>
          </a:p>
        </p:txBody>
      </p:sp>
      <p:sp>
        <p:nvSpPr>
          <p:cNvPr id="8355" name="AutoShape 163"/>
          <p:cNvSpPr>
            <a:spLocks noChangeArrowheads="1"/>
          </p:cNvSpPr>
          <p:nvPr/>
        </p:nvSpPr>
        <p:spPr bwMode="auto">
          <a:xfrm>
            <a:off x="353669" y="3966692"/>
            <a:ext cx="8455480" cy="266592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5000"/>
              </a:lnSpc>
            </a:pPr>
            <a:endParaRPr lang="fr-FR"/>
          </a:p>
        </p:txBody>
      </p:sp>
      <p:grpSp>
        <p:nvGrpSpPr>
          <p:cNvPr id="8356" name="Group 164"/>
          <p:cNvGrpSpPr>
            <a:grpSpLocks/>
          </p:cNvGrpSpPr>
          <p:nvPr/>
        </p:nvGrpSpPr>
        <p:grpSpPr bwMode="auto">
          <a:xfrm>
            <a:off x="209207" y="4125091"/>
            <a:ext cx="8483599" cy="668338"/>
            <a:chOff x="651" y="2420"/>
            <a:chExt cx="5344" cy="421"/>
          </a:xfrm>
        </p:grpSpPr>
        <p:sp>
          <p:nvSpPr>
            <p:cNvPr id="8357" name="AutoShape 165"/>
            <p:cNvSpPr>
              <a:spLocks noChangeArrowheads="1"/>
            </p:cNvSpPr>
            <p:nvPr/>
          </p:nvSpPr>
          <p:spPr bwMode="auto">
            <a:xfrm>
              <a:off x="651" y="2426"/>
              <a:ext cx="196" cy="227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  <p:sp>
          <p:nvSpPr>
            <p:cNvPr id="8358" name="Text Box 166"/>
            <p:cNvSpPr txBox="1">
              <a:spLocks noChangeArrowheads="1"/>
            </p:cNvSpPr>
            <p:nvPr/>
          </p:nvSpPr>
          <p:spPr bwMode="auto">
            <a:xfrm>
              <a:off x="858" y="2420"/>
              <a:ext cx="5137" cy="4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  <a:spcBef>
                  <a:spcPct val="50000"/>
                </a:spcBef>
              </a:pPr>
              <a:r>
                <a:rPr lang="en-GB" sz="2200" dirty="0" err="1">
                  <a:solidFill>
                    <a:srgbClr val="000000"/>
                  </a:solidFill>
                </a:rPr>
                <a:t>Configurer</a:t>
              </a:r>
              <a:r>
                <a:rPr lang="en-GB" sz="2200" dirty="0">
                  <a:solidFill>
                    <a:srgbClr val="000000"/>
                  </a:solidFill>
                </a:rPr>
                <a:t> un </a:t>
              </a:r>
              <a:r>
                <a:rPr lang="en-GB" sz="2200" dirty="0" err="1">
                  <a:solidFill>
                    <a:srgbClr val="000000"/>
                  </a:solidFill>
                </a:rPr>
                <a:t>autre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serveur</a:t>
              </a:r>
              <a:r>
                <a:rPr lang="en-GB" sz="2200" dirty="0">
                  <a:solidFill>
                    <a:srgbClr val="000000"/>
                  </a:solidFill>
                </a:rPr>
                <a:t> pour </a:t>
              </a:r>
              <a:r>
                <a:rPr lang="en-GB" sz="2200" dirty="0" err="1">
                  <a:solidFill>
                    <a:srgbClr val="000000"/>
                  </a:solidFill>
                </a:rPr>
                <a:t>prendre</a:t>
              </a:r>
              <a:r>
                <a:rPr lang="en-GB" sz="2200" dirty="0">
                  <a:solidFill>
                    <a:srgbClr val="000000"/>
                  </a:solidFill>
                </a:rPr>
                <a:t> en charge les clients </a:t>
              </a:r>
              <a:r>
                <a:rPr lang="en-GB" sz="2200" dirty="0" err="1">
                  <a:solidFill>
                    <a:srgbClr val="000000"/>
                  </a:solidFill>
                </a:rPr>
                <a:t>d'accès</a:t>
              </a:r>
              <a:r>
                <a:rPr lang="en-GB" sz="2200" dirty="0">
                  <a:solidFill>
                    <a:srgbClr val="000000"/>
                  </a:solidFill>
                </a:rPr>
                <a:t> distant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359" name="Group 167"/>
          <p:cNvGrpSpPr>
            <a:grpSpLocks/>
          </p:cNvGrpSpPr>
          <p:nvPr/>
        </p:nvGrpSpPr>
        <p:grpSpPr bwMode="auto">
          <a:xfrm>
            <a:off x="209207" y="4723581"/>
            <a:ext cx="8509000" cy="430213"/>
            <a:chOff x="651" y="2717"/>
            <a:chExt cx="5360" cy="271"/>
          </a:xfrm>
        </p:grpSpPr>
        <p:sp>
          <p:nvSpPr>
            <p:cNvPr id="8360" name="AutoShape 168"/>
            <p:cNvSpPr>
              <a:spLocks noChangeArrowheads="1"/>
            </p:cNvSpPr>
            <p:nvPr/>
          </p:nvSpPr>
          <p:spPr bwMode="auto">
            <a:xfrm>
              <a:off x="651" y="2720"/>
              <a:ext cx="196" cy="22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 dirty="0">
                  <a:solidFill>
                    <a:srgbClr val="990033"/>
                  </a:solidFill>
                </a:rPr>
                <a:t>2</a:t>
              </a:r>
            </a:p>
          </p:txBody>
        </p:sp>
        <p:sp>
          <p:nvSpPr>
            <p:cNvPr id="8361" name="Text Box 169"/>
            <p:cNvSpPr txBox="1">
              <a:spLocks noChangeArrowheads="1"/>
            </p:cNvSpPr>
            <p:nvPr/>
          </p:nvSpPr>
          <p:spPr bwMode="auto">
            <a:xfrm>
              <a:off x="858" y="2717"/>
              <a:ext cx="5153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2200" dirty="0" err="1">
                  <a:solidFill>
                    <a:srgbClr val="000000"/>
                  </a:solidFill>
                </a:rPr>
                <a:t>Planifier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l'interruption</a:t>
              </a:r>
              <a:r>
                <a:rPr lang="en-GB" sz="2200" dirty="0">
                  <a:solidFill>
                    <a:srgbClr val="000000"/>
                  </a:solidFill>
                </a:rPr>
                <a:t> du </a:t>
              </a:r>
              <a:r>
                <a:rPr lang="en-GB" sz="2200" dirty="0" err="1">
                  <a:solidFill>
                    <a:srgbClr val="000000"/>
                  </a:solidFill>
                </a:rPr>
                <a:t>serveur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d'accès</a:t>
              </a:r>
              <a:r>
                <a:rPr lang="en-GB" sz="2200" dirty="0">
                  <a:solidFill>
                    <a:srgbClr val="000000"/>
                  </a:solidFill>
                </a:rPr>
                <a:t> distant aux </a:t>
              </a:r>
              <a:r>
                <a:rPr lang="en-GB" sz="2200" dirty="0" err="1">
                  <a:solidFill>
                    <a:srgbClr val="000000"/>
                  </a:solidFill>
                </a:rPr>
                <a:t>heures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creuses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425" name="Group 233"/>
          <p:cNvGrpSpPr>
            <a:grpSpLocks/>
          </p:cNvGrpSpPr>
          <p:nvPr/>
        </p:nvGrpSpPr>
        <p:grpSpPr bwMode="auto">
          <a:xfrm>
            <a:off x="209207" y="5209706"/>
            <a:ext cx="8523287" cy="430710"/>
            <a:chOff x="651" y="3087"/>
            <a:chExt cx="5369" cy="267"/>
          </a:xfrm>
        </p:grpSpPr>
        <p:sp>
          <p:nvSpPr>
            <p:cNvPr id="8363" name="AutoShape 171"/>
            <p:cNvSpPr>
              <a:spLocks noChangeArrowheads="1"/>
            </p:cNvSpPr>
            <p:nvPr/>
          </p:nvSpPr>
          <p:spPr bwMode="auto">
            <a:xfrm>
              <a:off x="651" y="3087"/>
              <a:ext cx="196" cy="227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3</a:t>
              </a:r>
            </a:p>
          </p:txBody>
        </p:sp>
        <p:sp>
          <p:nvSpPr>
            <p:cNvPr id="8364" name="Rectangle 172"/>
            <p:cNvSpPr>
              <a:spLocks noChangeArrowheads="1"/>
            </p:cNvSpPr>
            <p:nvPr/>
          </p:nvSpPr>
          <p:spPr bwMode="auto">
            <a:xfrm>
              <a:off x="858" y="3087"/>
              <a:ext cx="5162" cy="2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lang="en-GB" sz="2200" dirty="0" err="1">
                  <a:solidFill>
                    <a:srgbClr val="000000"/>
                  </a:solidFill>
                </a:rPr>
                <a:t>Envoyer</a:t>
              </a:r>
              <a:r>
                <a:rPr lang="en-GB" sz="2200" dirty="0">
                  <a:solidFill>
                    <a:srgbClr val="000000"/>
                  </a:solidFill>
                </a:rPr>
                <a:t> un message de </a:t>
              </a:r>
              <a:r>
                <a:rPr lang="en-GB" sz="2200" dirty="0" err="1">
                  <a:solidFill>
                    <a:srgbClr val="000000"/>
                  </a:solidFill>
                </a:rPr>
                <a:t>déconnexion</a:t>
              </a:r>
              <a:r>
                <a:rPr lang="en-GB" sz="2200" dirty="0">
                  <a:solidFill>
                    <a:srgbClr val="000000"/>
                  </a:solidFill>
                </a:rPr>
                <a:t> aux clients </a:t>
              </a:r>
              <a:r>
                <a:rPr lang="en-GB" sz="2200" dirty="0" err="1">
                  <a:solidFill>
                    <a:srgbClr val="000000"/>
                  </a:solidFill>
                </a:rPr>
                <a:t>d'accès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smtClean="0">
                  <a:solidFill>
                    <a:srgbClr val="000000"/>
                  </a:solidFill>
                </a:rPr>
                <a:t>distant</a:t>
              </a:r>
              <a:endParaRPr lang="en-US" sz="2200" dirty="0"/>
            </a:p>
          </p:txBody>
        </p:sp>
      </p:grpSp>
      <p:grpSp>
        <p:nvGrpSpPr>
          <p:cNvPr id="8424" name="Group 232"/>
          <p:cNvGrpSpPr>
            <a:grpSpLocks/>
          </p:cNvGrpSpPr>
          <p:nvPr/>
        </p:nvGrpSpPr>
        <p:grpSpPr bwMode="auto">
          <a:xfrm>
            <a:off x="209207" y="6159220"/>
            <a:ext cx="8548686" cy="439738"/>
            <a:chOff x="651" y="3677"/>
            <a:chExt cx="5385" cy="277"/>
          </a:xfrm>
        </p:grpSpPr>
        <p:sp>
          <p:nvSpPr>
            <p:cNvPr id="8366" name="AutoShape 174"/>
            <p:cNvSpPr>
              <a:spLocks noChangeArrowheads="1"/>
            </p:cNvSpPr>
            <p:nvPr/>
          </p:nvSpPr>
          <p:spPr bwMode="auto">
            <a:xfrm>
              <a:off x="651" y="3677"/>
              <a:ext cx="196" cy="227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5</a:t>
              </a:r>
            </a:p>
          </p:txBody>
        </p:sp>
        <p:sp>
          <p:nvSpPr>
            <p:cNvPr id="8367" name="Rectangle 175"/>
            <p:cNvSpPr>
              <a:spLocks noChangeArrowheads="1"/>
            </p:cNvSpPr>
            <p:nvPr/>
          </p:nvSpPr>
          <p:spPr bwMode="auto">
            <a:xfrm>
              <a:off x="858" y="3683"/>
              <a:ext cx="5178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lang="en-GB" sz="2200" dirty="0" err="1">
                  <a:solidFill>
                    <a:srgbClr val="000000"/>
                  </a:solidFill>
                </a:rPr>
                <a:t>Arrêter</a:t>
              </a:r>
              <a:r>
                <a:rPr lang="en-GB" sz="2200" dirty="0">
                  <a:solidFill>
                    <a:srgbClr val="000000"/>
                  </a:solidFill>
                </a:rPr>
                <a:t> le service </a:t>
              </a:r>
              <a:r>
                <a:rPr lang="en-GB" sz="2200" dirty="0" err="1">
                  <a:solidFill>
                    <a:srgbClr val="000000"/>
                  </a:solidFill>
                </a:rPr>
                <a:t>d'accès</a:t>
              </a:r>
              <a:r>
                <a:rPr lang="en-GB" sz="2200" dirty="0">
                  <a:solidFill>
                    <a:srgbClr val="000000"/>
                  </a:solidFill>
                </a:rPr>
                <a:t> distant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368" name="Group 176"/>
          <p:cNvGrpSpPr>
            <a:grpSpLocks/>
          </p:cNvGrpSpPr>
          <p:nvPr/>
        </p:nvGrpSpPr>
        <p:grpSpPr bwMode="auto">
          <a:xfrm>
            <a:off x="209207" y="5689319"/>
            <a:ext cx="8509000" cy="436563"/>
            <a:chOff x="651" y="3309"/>
            <a:chExt cx="5360" cy="275"/>
          </a:xfrm>
        </p:grpSpPr>
        <p:sp>
          <p:nvSpPr>
            <p:cNvPr id="8369" name="AutoShape 177"/>
            <p:cNvSpPr>
              <a:spLocks noChangeArrowheads="1"/>
            </p:cNvSpPr>
            <p:nvPr/>
          </p:nvSpPr>
          <p:spPr bwMode="auto">
            <a:xfrm>
              <a:off x="651" y="3309"/>
              <a:ext cx="196" cy="22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4</a:t>
              </a:r>
            </a:p>
          </p:txBody>
        </p:sp>
        <p:sp>
          <p:nvSpPr>
            <p:cNvPr id="8370" name="Rectangle 178"/>
            <p:cNvSpPr>
              <a:spLocks noChangeArrowheads="1"/>
            </p:cNvSpPr>
            <p:nvPr/>
          </p:nvSpPr>
          <p:spPr bwMode="auto">
            <a:xfrm>
              <a:off x="858" y="3313"/>
              <a:ext cx="5153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lang="en-GB" sz="2200" dirty="0" err="1">
                  <a:solidFill>
                    <a:srgbClr val="000000"/>
                  </a:solidFill>
                </a:rPr>
                <a:t>Déconnecter</a:t>
              </a:r>
              <a:r>
                <a:rPr lang="en-GB" sz="2200" dirty="0">
                  <a:solidFill>
                    <a:srgbClr val="000000"/>
                  </a:solidFill>
                </a:rPr>
                <a:t> les clients </a:t>
              </a:r>
              <a:r>
                <a:rPr lang="en-GB" sz="2200" dirty="0" err="1">
                  <a:solidFill>
                    <a:srgbClr val="000000"/>
                  </a:solidFill>
                </a:rPr>
                <a:t>d'accès</a:t>
              </a:r>
              <a:r>
                <a:rPr lang="en-GB" sz="2200" dirty="0">
                  <a:solidFill>
                    <a:srgbClr val="000000"/>
                  </a:solidFill>
                </a:rPr>
                <a:t> distant encore </a:t>
              </a:r>
              <a:r>
                <a:rPr lang="en-GB" sz="2200" dirty="0" err="1">
                  <a:solidFill>
                    <a:srgbClr val="000000"/>
                  </a:solidFill>
                </a:rPr>
                <a:t>actifs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8371" name="AutoShape 179"/>
          <p:cNvSpPr>
            <a:spLocks noChangeArrowheads="1"/>
          </p:cNvSpPr>
          <p:nvPr/>
        </p:nvSpPr>
        <p:spPr bwMode="auto">
          <a:xfrm>
            <a:off x="3614738" y="1827213"/>
            <a:ext cx="311150" cy="3619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3</a:t>
            </a:r>
          </a:p>
        </p:txBody>
      </p:sp>
      <p:sp>
        <p:nvSpPr>
          <p:cNvPr id="8372" name="AutoShape 180"/>
          <p:cNvSpPr>
            <a:spLocks noChangeArrowheads="1"/>
          </p:cNvSpPr>
          <p:nvPr/>
        </p:nvSpPr>
        <p:spPr bwMode="auto">
          <a:xfrm>
            <a:off x="2339975" y="1316038"/>
            <a:ext cx="311150" cy="3619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5</a:t>
            </a:r>
          </a:p>
        </p:txBody>
      </p:sp>
      <p:sp>
        <p:nvSpPr>
          <p:cNvPr id="8373" name="Freeform 181"/>
          <p:cNvSpPr>
            <a:spLocks/>
          </p:cNvSpPr>
          <p:nvPr/>
        </p:nvSpPr>
        <p:spPr bwMode="auto">
          <a:xfrm>
            <a:off x="2192338" y="1639888"/>
            <a:ext cx="1922462" cy="511175"/>
          </a:xfrm>
          <a:custGeom>
            <a:avLst/>
            <a:gdLst/>
            <a:ahLst/>
            <a:cxnLst>
              <a:cxn ang="0">
                <a:pos x="0" y="322"/>
              </a:cxn>
              <a:cxn ang="0">
                <a:pos x="813" y="187"/>
              </a:cxn>
              <a:cxn ang="0">
                <a:pos x="508" y="127"/>
              </a:cxn>
              <a:cxn ang="0">
                <a:pos x="1211" y="0"/>
              </a:cxn>
            </a:cxnLst>
            <a:rect l="0" t="0" r="r" b="b"/>
            <a:pathLst>
              <a:path w="1211" h="322">
                <a:moveTo>
                  <a:pt x="0" y="322"/>
                </a:moveTo>
                <a:lnTo>
                  <a:pt x="813" y="187"/>
                </a:lnTo>
                <a:lnTo>
                  <a:pt x="508" y="127"/>
                </a:lnTo>
                <a:lnTo>
                  <a:pt x="1211" y="0"/>
                </a:lnTo>
              </a:path>
            </a:pathLst>
          </a:custGeom>
          <a:noFill/>
          <a:ln w="38100" cap="flat" cmpd="sng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8374" name="Freeform 182"/>
          <p:cNvSpPr>
            <a:spLocks/>
          </p:cNvSpPr>
          <p:nvPr/>
        </p:nvSpPr>
        <p:spPr bwMode="auto">
          <a:xfrm rot="1080360">
            <a:off x="2232025" y="2043113"/>
            <a:ext cx="1922463" cy="511175"/>
          </a:xfrm>
          <a:custGeom>
            <a:avLst/>
            <a:gdLst/>
            <a:ahLst/>
            <a:cxnLst>
              <a:cxn ang="0">
                <a:pos x="0" y="322"/>
              </a:cxn>
              <a:cxn ang="0">
                <a:pos x="813" y="187"/>
              </a:cxn>
              <a:cxn ang="0">
                <a:pos x="508" y="127"/>
              </a:cxn>
              <a:cxn ang="0">
                <a:pos x="1211" y="0"/>
              </a:cxn>
            </a:cxnLst>
            <a:rect l="0" t="0" r="r" b="b"/>
            <a:pathLst>
              <a:path w="1211" h="322">
                <a:moveTo>
                  <a:pt x="0" y="322"/>
                </a:moveTo>
                <a:lnTo>
                  <a:pt x="813" y="187"/>
                </a:lnTo>
                <a:lnTo>
                  <a:pt x="508" y="127"/>
                </a:lnTo>
                <a:lnTo>
                  <a:pt x="1211" y="0"/>
                </a:lnTo>
              </a:path>
            </a:pathLst>
          </a:custGeom>
          <a:noFill/>
          <a:ln w="38100" cap="flat" cmpd="sng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8375" name="Freeform 183"/>
          <p:cNvSpPr>
            <a:spLocks/>
          </p:cNvSpPr>
          <p:nvPr/>
        </p:nvSpPr>
        <p:spPr bwMode="auto">
          <a:xfrm rot="2052574">
            <a:off x="2232025" y="2460625"/>
            <a:ext cx="1922463" cy="511175"/>
          </a:xfrm>
          <a:custGeom>
            <a:avLst/>
            <a:gdLst/>
            <a:ahLst/>
            <a:cxnLst>
              <a:cxn ang="0">
                <a:pos x="0" y="322"/>
              </a:cxn>
              <a:cxn ang="0">
                <a:pos x="813" y="187"/>
              </a:cxn>
              <a:cxn ang="0">
                <a:pos x="508" y="127"/>
              </a:cxn>
              <a:cxn ang="0">
                <a:pos x="1211" y="0"/>
              </a:cxn>
            </a:cxnLst>
            <a:rect l="0" t="0" r="r" b="b"/>
            <a:pathLst>
              <a:path w="1211" h="322">
                <a:moveTo>
                  <a:pt x="0" y="322"/>
                </a:moveTo>
                <a:lnTo>
                  <a:pt x="813" y="187"/>
                </a:lnTo>
                <a:lnTo>
                  <a:pt x="508" y="127"/>
                </a:lnTo>
                <a:lnTo>
                  <a:pt x="1211" y="0"/>
                </a:lnTo>
              </a:path>
            </a:pathLst>
          </a:custGeom>
          <a:noFill/>
          <a:ln w="38100" cap="flat" cmpd="sng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8376" name="Freeform 184"/>
          <p:cNvSpPr>
            <a:spLocks/>
          </p:cNvSpPr>
          <p:nvPr/>
        </p:nvSpPr>
        <p:spPr bwMode="auto">
          <a:xfrm flipH="1">
            <a:off x="4902200" y="1639888"/>
            <a:ext cx="1922463" cy="511175"/>
          </a:xfrm>
          <a:custGeom>
            <a:avLst/>
            <a:gdLst/>
            <a:ahLst/>
            <a:cxnLst>
              <a:cxn ang="0">
                <a:pos x="0" y="322"/>
              </a:cxn>
              <a:cxn ang="0">
                <a:pos x="813" y="187"/>
              </a:cxn>
              <a:cxn ang="0">
                <a:pos x="508" y="127"/>
              </a:cxn>
              <a:cxn ang="0">
                <a:pos x="1211" y="0"/>
              </a:cxn>
            </a:cxnLst>
            <a:rect l="0" t="0" r="r" b="b"/>
            <a:pathLst>
              <a:path w="1211" h="322">
                <a:moveTo>
                  <a:pt x="0" y="322"/>
                </a:moveTo>
                <a:lnTo>
                  <a:pt x="813" y="187"/>
                </a:lnTo>
                <a:lnTo>
                  <a:pt x="508" y="127"/>
                </a:lnTo>
                <a:lnTo>
                  <a:pt x="1211" y="0"/>
                </a:lnTo>
              </a:path>
            </a:pathLst>
          </a:custGeom>
          <a:noFill/>
          <a:ln w="38100" cap="flat" cmpd="sng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8377" name="Freeform 185"/>
          <p:cNvSpPr>
            <a:spLocks/>
          </p:cNvSpPr>
          <p:nvPr/>
        </p:nvSpPr>
        <p:spPr bwMode="auto">
          <a:xfrm rot="20519640" flipH="1">
            <a:off x="4862513" y="2043113"/>
            <a:ext cx="1922462" cy="511175"/>
          </a:xfrm>
          <a:custGeom>
            <a:avLst/>
            <a:gdLst/>
            <a:ahLst/>
            <a:cxnLst>
              <a:cxn ang="0">
                <a:pos x="0" y="322"/>
              </a:cxn>
              <a:cxn ang="0">
                <a:pos x="813" y="187"/>
              </a:cxn>
              <a:cxn ang="0">
                <a:pos x="508" y="127"/>
              </a:cxn>
              <a:cxn ang="0">
                <a:pos x="1211" y="0"/>
              </a:cxn>
            </a:cxnLst>
            <a:rect l="0" t="0" r="r" b="b"/>
            <a:pathLst>
              <a:path w="1211" h="322">
                <a:moveTo>
                  <a:pt x="0" y="322"/>
                </a:moveTo>
                <a:lnTo>
                  <a:pt x="813" y="187"/>
                </a:lnTo>
                <a:lnTo>
                  <a:pt x="508" y="127"/>
                </a:lnTo>
                <a:lnTo>
                  <a:pt x="1211" y="0"/>
                </a:lnTo>
              </a:path>
            </a:pathLst>
          </a:custGeom>
          <a:noFill/>
          <a:ln w="38100" cap="flat" cmpd="sng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8378" name="Freeform 186"/>
          <p:cNvSpPr>
            <a:spLocks/>
          </p:cNvSpPr>
          <p:nvPr/>
        </p:nvSpPr>
        <p:spPr bwMode="auto">
          <a:xfrm rot="19547426" flipH="1">
            <a:off x="4862513" y="2460625"/>
            <a:ext cx="1922462" cy="511175"/>
          </a:xfrm>
          <a:custGeom>
            <a:avLst/>
            <a:gdLst/>
            <a:ahLst/>
            <a:cxnLst>
              <a:cxn ang="0">
                <a:pos x="0" y="322"/>
              </a:cxn>
              <a:cxn ang="0">
                <a:pos x="813" y="187"/>
              </a:cxn>
              <a:cxn ang="0">
                <a:pos x="508" y="127"/>
              </a:cxn>
              <a:cxn ang="0">
                <a:pos x="1211" y="0"/>
              </a:cxn>
            </a:cxnLst>
            <a:rect l="0" t="0" r="r" b="b"/>
            <a:pathLst>
              <a:path w="1211" h="322">
                <a:moveTo>
                  <a:pt x="0" y="322"/>
                </a:moveTo>
                <a:lnTo>
                  <a:pt x="813" y="187"/>
                </a:lnTo>
                <a:lnTo>
                  <a:pt x="508" y="127"/>
                </a:lnTo>
                <a:lnTo>
                  <a:pt x="1211" y="0"/>
                </a:lnTo>
              </a:path>
            </a:pathLst>
          </a:custGeom>
          <a:noFill/>
          <a:ln w="38100" cap="flat" cmpd="sng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8379" name="Group 187"/>
          <p:cNvGrpSpPr>
            <a:grpSpLocks/>
          </p:cNvGrpSpPr>
          <p:nvPr/>
        </p:nvGrpSpPr>
        <p:grpSpPr bwMode="auto">
          <a:xfrm>
            <a:off x="6402388" y="1414463"/>
            <a:ext cx="1665287" cy="2128837"/>
            <a:chOff x="4033" y="891"/>
            <a:chExt cx="1049" cy="1341"/>
          </a:xfrm>
        </p:grpSpPr>
        <p:sp>
          <p:nvSpPr>
            <p:cNvPr id="8380" name="Oval 188"/>
            <p:cNvSpPr>
              <a:spLocks noChangeArrowheads="1"/>
            </p:cNvSpPr>
            <p:nvPr/>
          </p:nvSpPr>
          <p:spPr bwMode="auto">
            <a:xfrm>
              <a:off x="4033" y="1041"/>
              <a:ext cx="1007" cy="960"/>
            </a:xfrm>
            <a:prstGeom prst="ellipse">
              <a:avLst/>
            </a:prstGeom>
            <a:solidFill>
              <a:srgbClr val="CC0000">
                <a:alpha val="25000"/>
              </a:srgbClr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381" name="AutoShape 189"/>
            <p:cNvSpPr>
              <a:spLocks noChangeArrowheads="1"/>
            </p:cNvSpPr>
            <p:nvPr/>
          </p:nvSpPr>
          <p:spPr bwMode="auto">
            <a:xfrm>
              <a:off x="4064" y="1890"/>
              <a:ext cx="1018" cy="34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Accès distant</a:t>
              </a:r>
              <a:endParaRPr lang="en-US"/>
            </a:p>
            <a:p>
              <a:pPr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Serveur2</a:t>
              </a:r>
              <a:endParaRPr lang="en-US">
                <a:solidFill>
                  <a:srgbClr val="000000"/>
                </a:solidFill>
              </a:endParaRPr>
            </a:p>
          </p:txBody>
        </p:sp>
        <p:pic>
          <p:nvPicPr>
            <p:cNvPr id="8382" name="Picture 190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18" y="1155"/>
              <a:ext cx="662" cy="779"/>
            </a:xfrm>
            <a:prstGeom prst="rect">
              <a:avLst/>
            </a:prstGeom>
            <a:noFill/>
          </p:spPr>
        </p:pic>
        <p:sp>
          <p:nvSpPr>
            <p:cNvPr id="8383" name="AutoShape 191"/>
            <p:cNvSpPr>
              <a:spLocks noChangeArrowheads="1"/>
            </p:cNvSpPr>
            <p:nvPr/>
          </p:nvSpPr>
          <p:spPr bwMode="auto">
            <a:xfrm>
              <a:off x="4463" y="891"/>
              <a:ext cx="196" cy="227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8384" name="Group 192"/>
          <p:cNvGrpSpPr>
            <a:grpSpLocks/>
          </p:cNvGrpSpPr>
          <p:nvPr/>
        </p:nvGrpSpPr>
        <p:grpSpPr bwMode="auto">
          <a:xfrm>
            <a:off x="2192338" y="1639888"/>
            <a:ext cx="1962150" cy="1331912"/>
            <a:chOff x="1381" y="1033"/>
            <a:chExt cx="1236" cy="839"/>
          </a:xfrm>
        </p:grpSpPr>
        <p:sp>
          <p:nvSpPr>
            <p:cNvPr id="8385" name="Freeform 193"/>
            <p:cNvSpPr>
              <a:spLocks/>
            </p:cNvSpPr>
            <p:nvPr/>
          </p:nvSpPr>
          <p:spPr bwMode="auto">
            <a:xfrm>
              <a:off x="1381" y="1033"/>
              <a:ext cx="1211" cy="322"/>
            </a:xfrm>
            <a:custGeom>
              <a:avLst/>
              <a:gdLst/>
              <a:ahLst/>
              <a:cxnLst>
                <a:cxn ang="0">
                  <a:pos x="0" y="322"/>
                </a:cxn>
                <a:cxn ang="0">
                  <a:pos x="813" y="187"/>
                </a:cxn>
                <a:cxn ang="0">
                  <a:pos x="508" y="127"/>
                </a:cxn>
                <a:cxn ang="0">
                  <a:pos x="1211" y="0"/>
                </a:cxn>
              </a:cxnLst>
              <a:rect l="0" t="0" r="r" b="b"/>
              <a:pathLst>
                <a:path w="1211" h="322">
                  <a:moveTo>
                    <a:pt x="0" y="322"/>
                  </a:moveTo>
                  <a:lnTo>
                    <a:pt x="813" y="187"/>
                  </a:lnTo>
                  <a:lnTo>
                    <a:pt x="508" y="127"/>
                  </a:lnTo>
                  <a:lnTo>
                    <a:pt x="1211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8386" name="Freeform 194"/>
            <p:cNvSpPr>
              <a:spLocks/>
            </p:cNvSpPr>
            <p:nvPr/>
          </p:nvSpPr>
          <p:spPr bwMode="auto">
            <a:xfrm rot="1080360">
              <a:off x="1406" y="1287"/>
              <a:ext cx="1211" cy="322"/>
            </a:xfrm>
            <a:custGeom>
              <a:avLst/>
              <a:gdLst/>
              <a:ahLst/>
              <a:cxnLst>
                <a:cxn ang="0">
                  <a:pos x="0" y="322"/>
                </a:cxn>
                <a:cxn ang="0">
                  <a:pos x="813" y="187"/>
                </a:cxn>
                <a:cxn ang="0">
                  <a:pos x="508" y="127"/>
                </a:cxn>
                <a:cxn ang="0">
                  <a:pos x="1211" y="0"/>
                </a:cxn>
              </a:cxnLst>
              <a:rect l="0" t="0" r="r" b="b"/>
              <a:pathLst>
                <a:path w="1211" h="322">
                  <a:moveTo>
                    <a:pt x="0" y="322"/>
                  </a:moveTo>
                  <a:lnTo>
                    <a:pt x="813" y="187"/>
                  </a:lnTo>
                  <a:lnTo>
                    <a:pt x="508" y="127"/>
                  </a:lnTo>
                  <a:lnTo>
                    <a:pt x="1211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8387" name="Freeform 195"/>
            <p:cNvSpPr>
              <a:spLocks/>
            </p:cNvSpPr>
            <p:nvPr/>
          </p:nvSpPr>
          <p:spPr bwMode="auto">
            <a:xfrm rot="2052574">
              <a:off x="1406" y="1550"/>
              <a:ext cx="1211" cy="322"/>
            </a:xfrm>
            <a:custGeom>
              <a:avLst/>
              <a:gdLst/>
              <a:ahLst/>
              <a:cxnLst>
                <a:cxn ang="0">
                  <a:pos x="0" y="322"/>
                </a:cxn>
                <a:cxn ang="0">
                  <a:pos x="813" y="187"/>
                </a:cxn>
                <a:cxn ang="0">
                  <a:pos x="508" y="127"/>
                </a:cxn>
                <a:cxn ang="0">
                  <a:pos x="1211" y="0"/>
                </a:cxn>
              </a:cxnLst>
              <a:rect l="0" t="0" r="r" b="b"/>
              <a:pathLst>
                <a:path w="1211" h="322">
                  <a:moveTo>
                    <a:pt x="0" y="322"/>
                  </a:moveTo>
                  <a:lnTo>
                    <a:pt x="813" y="187"/>
                  </a:lnTo>
                  <a:lnTo>
                    <a:pt x="508" y="127"/>
                  </a:lnTo>
                  <a:lnTo>
                    <a:pt x="1211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  <p:grpSp>
        <p:nvGrpSpPr>
          <p:cNvPr id="8388" name="Group 196"/>
          <p:cNvGrpSpPr>
            <a:grpSpLocks/>
          </p:cNvGrpSpPr>
          <p:nvPr/>
        </p:nvGrpSpPr>
        <p:grpSpPr bwMode="auto">
          <a:xfrm>
            <a:off x="4002088" y="1209675"/>
            <a:ext cx="1063625" cy="727075"/>
            <a:chOff x="1826" y="1152"/>
            <a:chExt cx="670" cy="458"/>
          </a:xfrm>
        </p:grpSpPr>
        <p:sp>
          <p:nvSpPr>
            <p:cNvPr id="8389" name="Oval 197"/>
            <p:cNvSpPr>
              <a:spLocks noChangeArrowheads="1"/>
            </p:cNvSpPr>
            <p:nvPr/>
          </p:nvSpPr>
          <p:spPr bwMode="auto">
            <a:xfrm>
              <a:off x="1826" y="1152"/>
              <a:ext cx="670" cy="4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8390" name="Group 198"/>
            <p:cNvGrpSpPr>
              <a:grpSpLocks/>
            </p:cNvGrpSpPr>
            <p:nvPr/>
          </p:nvGrpSpPr>
          <p:grpSpPr bwMode="auto">
            <a:xfrm>
              <a:off x="1968" y="1184"/>
              <a:ext cx="431" cy="379"/>
              <a:chOff x="2999" y="1125"/>
              <a:chExt cx="654" cy="576"/>
            </a:xfrm>
          </p:grpSpPr>
          <p:pic>
            <p:nvPicPr>
              <p:cNvPr id="8391" name="Picture 199" descr="Laptop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flipH="1">
                <a:off x="2999" y="1131"/>
                <a:ext cx="458" cy="493"/>
              </a:xfrm>
              <a:prstGeom prst="rect">
                <a:avLst/>
              </a:prstGeom>
              <a:noFill/>
            </p:spPr>
          </p:pic>
          <p:pic>
            <p:nvPicPr>
              <p:cNvPr id="8392" name="Picture 200" descr="UserInteract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 flipH="1">
                <a:off x="3298" y="1125"/>
                <a:ext cx="355" cy="576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8393" name="Group 201"/>
          <p:cNvGrpSpPr>
            <a:grpSpLocks/>
          </p:cNvGrpSpPr>
          <p:nvPr/>
        </p:nvGrpSpPr>
        <p:grpSpPr bwMode="auto">
          <a:xfrm>
            <a:off x="4002088" y="2009775"/>
            <a:ext cx="1063625" cy="727075"/>
            <a:chOff x="1826" y="1152"/>
            <a:chExt cx="670" cy="458"/>
          </a:xfrm>
        </p:grpSpPr>
        <p:sp>
          <p:nvSpPr>
            <p:cNvPr id="8394" name="Oval 202"/>
            <p:cNvSpPr>
              <a:spLocks noChangeArrowheads="1"/>
            </p:cNvSpPr>
            <p:nvPr/>
          </p:nvSpPr>
          <p:spPr bwMode="auto">
            <a:xfrm>
              <a:off x="1826" y="1152"/>
              <a:ext cx="670" cy="4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8395" name="Group 203"/>
            <p:cNvGrpSpPr>
              <a:grpSpLocks/>
            </p:cNvGrpSpPr>
            <p:nvPr/>
          </p:nvGrpSpPr>
          <p:grpSpPr bwMode="auto">
            <a:xfrm>
              <a:off x="1968" y="1184"/>
              <a:ext cx="431" cy="379"/>
              <a:chOff x="2999" y="1125"/>
              <a:chExt cx="654" cy="576"/>
            </a:xfrm>
          </p:grpSpPr>
          <p:pic>
            <p:nvPicPr>
              <p:cNvPr id="8396" name="Picture 204" descr="Laptop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flipH="1">
                <a:off x="2999" y="1131"/>
                <a:ext cx="458" cy="493"/>
              </a:xfrm>
              <a:prstGeom prst="rect">
                <a:avLst/>
              </a:prstGeom>
              <a:noFill/>
            </p:spPr>
          </p:pic>
          <p:pic>
            <p:nvPicPr>
              <p:cNvPr id="8397" name="Picture 205" descr="UserInteract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 flipH="1">
                <a:off x="3298" y="1125"/>
                <a:ext cx="355" cy="576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8398" name="Group 206"/>
          <p:cNvGrpSpPr>
            <a:grpSpLocks/>
          </p:cNvGrpSpPr>
          <p:nvPr/>
        </p:nvGrpSpPr>
        <p:grpSpPr bwMode="auto">
          <a:xfrm>
            <a:off x="4002088" y="2809875"/>
            <a:ext cx="1063625" cy="727075"/>
            <a:chOff x="1826" y="1152"/>
            <a:chExt cx="670" cy="458"/>
          </a:xfrm>
        </p:grpSpPr>
        <p:sp>
          <p:nvSpPr>
            <p:cNvPr id="8399" name="Oval 207"/>
            <p:cNvSpPr>
              <a:spLocks noChangeArrowheads="1"/>
            </p:cNvSpPr>
            <p:nvPr/>
          </p:nvSpPr>
          <p:spPr bwMode="auto">
            <a:xfrm>
              <a:off x="1826" y="1152"/>
              <a:ext cx="670" cy="4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8400" name="Group 208"/>
            <p:cNvGrpSpPr>
              <a:grpSpLocks/>
            </p:cNvGrpSpPr>
            <p:nvPr/>
          </p:nvGrpSpPr>
          <p:grpSpPr bwMode="auto">
            <a:xfrm>
              <a:off x="1968" y="1184"/>
              <a:ext cx="431" cy="379"/>
              <a:chOff x="2999" y="1125"/>
              <a:chExt cx="654" cy="576"/>
            </a:xfrm>
          </p:grpSpPr>
          <p:pic>
            <p:nvPicPr>
              <p:cNvPr id="8401" name="Picture 209" descr="Laptop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flipH="1">
                <a:off x="2999" y="1131"/>
                <a:ext cx="458" cy="493"/>
              </a:xfrm>
              <a:prstGeom prst="rect">
                <a:avLst/>
              </a:prstGeom>
              <a:noFill/>
            </p:spPr>
          </p:pic>
          <p:pic>
            <p:nvPicPr>
              <p:cNvPr id="8402" name="Picture 210" descr="UserInteract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 flipH="1">
                <a:off x="3298" y="1125"/>
                <a:ext cx="355" cy="576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8403" name="AutoShape 211"/>
          <p:cNvSpPr>
            <a:spLocks noChangeArrowheads="1"/>
          </p:cNvSpPr>
          <p:nvPr/>
        </p:nvSpPr>
        <p:spPr bwMode="auto">
          <a:xfrm>
            <a:off x="1065213" y="3038475"/>
            <a:ext cx="1616075" cy="5048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Accès distant</a:t>
            </a:r>
            <a:endParaRPr lang="en-US"/>
          </a:p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Serveur1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8404" name="Picture 212" descr="Serv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8263" y="1833563"/>
            <a:ext cx="1050925" cy="1236662"/>
          </a:xfrm>
          <a:prstGeom prst="rect">
            <a:avLst/>
          </a:prstGeom>
          <a:noFill/>
        </p:spPr>
      </p:pic>
      <p:grpSp>
        <p:nvGrpSpPr>
          <p:cNvPr id="8405" name="Group 213"/>
          <p:cNvGrpSpPr>
            <a:grpSpLocks/>
          </p:cNvGrpSpPr>
          <p:nvPr/>
        </p:nvGrpSpPr>
        <p:grpSpPr bwMode="auto">
          <a:xfrm>
            <a:off x="533400" y="1704975"/>
            <a:ext cx="1066800" cy="1225550"/>
            <a:chOff x="353" y="998"/>
            <a:chExt cx="672" cy="772"/>
          </a:xfrm>
        </p:grpSpPr>
        <p:sp>
          <p:nvSpPr>
            <p:cNvPr id="8406" name="Oval 214"/>
            <p:cNvSpPr>
              <a:spLocks noChangeArrowheads="1"/>
            </p:cNvSpPr>
            <p:nvPr/>
          </p:nvSpPr>
          <p:spPr bwMode="auto">
            <a:xfrm>
              <a:off x="353" y="1098"/>
              <a:ext cx="672" cy="672"/>
            </a:xfrm>
            <a:prstGeom prst="ellipse">
              <a:avLst/>
            </a:prstGeom>
            <a:solidFill>
              <a:srgbClr val="CC0000">
                <a:alpha val="25000"/>
              </a:srgbClr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8407" name="Picture 215" descr="Calendar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67" y="1240"/>
              <a:ext cx="444" cy="488"/>
            </a:xfrm>
            <a:prstGeom prst="rect">
              <a:avLst/>
            </a:prstGeom>
            <a:noFill/>
          </p:spPr>
        </p:pic>
        <p:sp>
          <p:nvSpPr>
            <p:cNvPr id="8408" name="AutoShape 216"/>
            <p:cNvSpPr>
              <a:spLocks noChangeArrowheads="1"/>
            </p:cNvSpPr>
            <p:nvPr/>
          </p:nvSpPr>
          <p:spPr bwMode="auto">
            <a:xfrm>
              <a:off x="591" y="998"/>
              <a:ext cx="196" cy="22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2</a:t>
              </a:r>
            </a:p>
          </p:txBody>
        </p:sp>
      </p:grpSp>
      <p:sp>
        <p:nvSpPr>
          <p:cNvPr id="8409" name="AutoShape 217"/>
          <p:cNvSpPr>
            <a:spLocks noChangeArrowheads="1"/>
          </p:cNvSpPr>
          <p:nvPr/>
        </p:nvSpPr>
        <p:spPr bwMode="auto">
          <a:xfrm>
            <a:off x="2205038" y="2068513"/>
            <a:ext cx="311150" cy="3619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4</a:t>
            </a:r>
          </a:p>
        </p:txBody>
      </p:sp>
      <p:grpSp>
        <p:nvGrpSpPr>
          <p:cNvPr id="8410" name="Group 218"/>
          <p:cNvGrpSpPr>
            <a:grpSpLocks/>
          </p:cNvGrpSpPr>
          <p:nvPr/>
        </p:nvGrpSpPr>
        <p:grpSpPr bwMode="auto">
          <a:xfrm>
            <a:off x="1585913" y="1250950"/>
            <a:ext cx="641350" cy="641350"/>
            <a:chOff x="2248" y="178"/>
            <a:chExt cx="480" cy="480"/>
          </a:xfrm>
        </p:grpSpPr>
        <p:sp>
          <p:nvSpPr>
            <p:cNvPr id="8411" name="Oval 219"/>
            <p:cNvSpPr>
              <a:spLocks noChangeArrowheads="1"/>
            </p:cNvSpPr>
            <p:nvPr/>
          </p:nvSpPr>
          <p:spPr bwMode="auto">
            <a:xfrm>
              <a:off x="2248" y="178"/>
              <a:ext cx="480" cy="480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412" name="AutoShape 220"/>
            <p:cNvSpPr>
              <a:spLocks noChangeArrowheads="1"/>
            </p:cNvSpPr>
            <p:nvPr/>
          </p:nvSpPr>
          <p:spPr bwMode="auto">
            <a:xfrm>
              <a:off x="2380" y="226"/>
              <a:ext cx="216" cy="384"/>
            </a:xfrm>
            <a:prstGeom prst="upArrow">
              <a:avLst>
                <a:gd name="adj1" fmla="val 50000"/>
                <a:gd name="adj2" fmla="val 75465"/>
              </a:avLst>
            </a:prstGeom>
            <a:solidFill>
              <a:srgbClr val="009900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8413" name="Group 221"/>
          <p:cNvGrpSpPr>
            <a:grpSpLocks/>
          </p:cNvGrpSpPr>
          <p:nvPr/>
        </p:nvGrpSpPr>
        <p:grpSpPr bwMode="auto">
          <a:xfrm>
            <a:off x="1584325" y="1250950"/>
            <a:ext cx="641350" cy="641350"/>
            <a:chOff x="3002" y="168"/>
            <a:chExt cx="480" cy="480"/>
          </a:xfrm>
        </p:grpSpPr>
        <p:sp>
          <p:nvSpPr>
            <p:cNvPr id="8414" name="Oval 222"/>
            <p:cNvSpPr>
              <a:spLocks noChangeArrowheads="1"/>
            </p:cNvSpPr>
            <p:nvPr/>
          </p:nvSpPr>
          <p:spPr bwMode="auto">
            <a:xfrm>
              <a:off x="3002" y="168"/>
              <a:ext cx="480" cy="480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415" name="AutoShape 223"/>
            <p:cNvSpPr>
              <a:spLocks noChangeArrowheads="1"/>
            </p:cNvSpPr>
            <p:nvPr/>
          </p:nvSpPr>
          <p:spPr bwMode="auto">
            <a:xfrm rot="10800000">
              <a:off x="3134" y="216"/>
              <a:ext cx="216" cy="384"/>
            </a:xfrm>
            <a:prstGeom prst="upArrow">
              <a:avLst>
                <a:gd name="adj1" fmla="val 50000"/>
                <a:gd name="adj2" fmla="val 75465"/>
              </a:avLst>
            </a:prstGeom>
            <a:solidFill>
              <a:srgbClr val="FF0000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1000"/>
                                        <p:tgtEl>
                                          <p:spTgt spid="8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2000"/>
                                        <p:tgtEl>
                                          <p:spTgt spid="8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2000"/>
                                        <p:tgtEl>
                                          <p:spTgt spid="8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2000"/>
                                        <p:tgtEl>
                                          <p:spTgt spid="8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1" grpId="0" animBg="1"/>
      <p:bldP spid="8372" grpId="0" animBg="1"/>
      <p:bldP spid="8373" grpId="0" animBg="1"/>
      <p:bldP spid="8374" grpId="0" animBg="1"/>
      <p:bldP spid="8375" grpId="0" animBg="1"/>
      <p:bldP spid="8376" grpId="0" animBg="1"/>
      <p:bldP spid="8377" grpId="0" animBg="1"/>
      <p:bldP spid="8378" grpId="0" animBg="1"/>
      <p:bldP spid="84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solidFill>
                  <a:srgbClr val="C00000"/>
                </a:solidFill>
              </a:rPr>
              <a:t>Comment gérer les clients d'accès distant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246" name="AutoShap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11708" y="1837898"/>
            <a:ext cx="7954370" cy="408523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10247" name="AutoShap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9671" y="2371299"/>
            <a:ext cx="7446156" cy="307415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6"/>
              </a:buBlip>
            </a:pPr>
            <a:r>
              <a:rPr lang="en-GB" sz="2600">
                <a:solidFill>
                  <a:srgbClr val="000000"/>
                </a:solidFill>
              </a:rPr>
              <a:t>Envoyer un message à un client d'accès distant unique</a:t>
            </a:r>
            <a:endParaRPr lang="en-US" sz="260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6"/>
              </a:buBlip>
            </a:pPr>
            <a:r>
              <a:rPr lang="en-GB" sz="2600">
                <a:solidFill>
                  <a:srgbClr val="000000"/>
                </a:solidFill>
              </a:rPr>
              <a:t>Envoyer un message à tous les clients d'accès distant</a:t>
            </a:r>
            <a:endParaRPr lang="en-US" sz="260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6"/>
              </a:buBlip>
            </a:pPr>
            <a:r>
              <a:rPr lang="en-GB" sz="2600">
                <a:solidFill>
                  <a:srgbClr val="000000"/>
                </a:solidFill>
              </a:rPr>
              <a:t>Déconnecter un client d'accès distant</a:t>
            </a:r>
            <a:endParaRPr lang="en-US" sz="260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6"/>
              </a:buBlip>
            </a:pPr>
            <a:r>
              <a:rPr lang="en-GB" sz="2600">
                <a:solidFill>
                  <a:srgbClr val="000000"/>
                </a:solidFill>
              </a:rPr>
              <a:t>Démarrer et arrêter le service Routage et accès distant</a:t>
            </a:r>
            <a:endParaRPr lang="en-US" sz="26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9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FR" sz="2600" dirty="0" smtClean="0">
                <a:solidFill>
                  <a:schemeClr val="tx1"/>
                </a:solidFill>
              </a:rPr>
              <a:t>2. Configuration </a:t>
            </a:r>
            <a:r>
              <a:rPr lang="fr-FR" sz="2600" dirty="0">
                <a:solidFill>
                  <a:schemeClr val="tx1"/>
                </a:solidFill>
              </a:rPr>
              <a:t>de l'enregistrement sur un serveur d'accès réseau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13318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7546" y="1934358"/>
            <a:ext cx="8366078" cy="3824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Types </a:t>
            </a:r>
            <a:r>
              <a:rPr lang="en-GB" sz="2400" dirty="0" err="1">
                <a:solidFill>
                  <a:srgbClr val="000000"/>
                </a:solidFill>
              </a:rPr>
              <a:t>d'enregistrements</a:t>
            </a:r>
            <a:r>
              <a:rPr lang="en-GB" sz="2400" dirty="0">
                <a:solidFill>
                  <a:srgbClr val="000000"/>
                </a:solidFill>
              </a:rPr>
              <a:t> du service </a:t>
            </a:r>
            <a:r>
              <a:rPr lang="en-GB" sz="2400" dirty="0" err="1">
                <a:solidFill>
                  <a:srgbClr val="000000"/>
                </a:solidFill>
              </a:rPr>
              <a:t>Routage</a:t>
            </a:r>
            <a:r>
              <a:rPr lang="en-GB" sz="2400" dirty="0">
                <a:solidFill>
                  <a:srgbClr val="000000"/>
                </a:solidFill>
              </a:rPr>
              <a:t> et </a:t>
            </a:r>
            <a:r>
              <a:rPr lang="en-GB" sz="2400" dirty="0" err="1" smtClean="0">
                <a:solidFill>
                  <a:srgbClr val="000000"/>
                </a:solidFill>
              </a:rPr>
              <a:t>accès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>
                <a:solidFill>
                  <a:srgbClr val="000000"/>
                </a:solidFill>
              </a:rPr>
              <a:t>distant</a:t>
            </a:r>
            <a:endParaRPr lang="en-US" sz="24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5"/>
              </a:buBlip>
            </a:pPr>
            <a:r>
              <a:rPr lang="en-GB" sz="2400" dirty="0" err="1">
                <a:solidFill>
                  <a:srgbClr val="000000"/>
                </a:solidFill>
              </a:rPr>
              <a:t>Enregistrement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l'authentification</a:t>
            </a:r>
            <a:r>
              <a:rPr lang="en-GB" sz="2400" dirty="0">
                <a:solidFill>
                  <a:srgbClr val="000000"/>
                </a:solidFill>
              </a:rPr>
              <a:t> et de la </a:t>
            </a:r>
            <a:r>
              <a:rPr lang="en-GB" sz="2400" dirty="0" err="1">
                <a:solidFill>
                  <a:srgbClr val="000000"/>
                </a:solidFill>
              </a:rPr>
              <a:t>gestion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des </a:t>
            </a:r>
            <a:r>
              <a:rPr lang="en-GB" sz="2400" dirty="0" err="1">
                <a:solidFill>
                  <a:srgbClr val="000000"/>
                </a:solidFill>
              </a:rPr>
              <a:t>comptes</a:t>
            </a:r>
            <a:endParaRPr lang="en-US" sz="24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5"/>
              </a:buBlip>
            </a:pPr>
            <a:r>
              <a:rPr lang="en-GB" sz="2400" dirty="0" err="1" smtClean="0">
                <a:solidFill>
                  <a:srgbClr val="000000"/>
                </a:solidFill>
              </a:rPr>
              <a:t>Fichiers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journaux</a:t>
            </a:r>
            <a:r>
              <a:rPr lang="en-GB" sz="2400" dirty="0">
                <a:solidFill>
                  <a:srgbClr val="000000"/>
                </a:solidFill>
              </a:rPr>
              <a:t> pour des connexions </a:t>
            </a:r>
            <a:r>
              <a:rPr lang="en-GB" sz="2400" dirty="0" err="1">
                <a:solidFill>
                  <a:srgbClr val="000000"/>
                </a:solidFill>
              </a:rPr>
              <a:t>spécifiques</a:t>
            </a:r>
            <a:endParaRPr lang="en-US" sz="24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Comment </a:t>
            </a:r>
            <a:r>
              <a:rPr lang="en-GB" sz="2400" dirty="0" err="1">
                <a:solidFill>
                  <a:srgbClr val="000000"/>
                </a:solidFill>
              </a:rPr>
              <a:t>configurer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l'enregistrement</a:t>
            </a:r>
            <a:r>
              <a:rPr lang="en-GB" sz="2400" dirty="0">
                <a:solidFill>
                  <a:srgbClr val="000000"/>
                </a:solidFill>
              </a:rPr>
              <a:t> pour des types </a:t>
            </a:r>
            <a:r>
              <a:rPr lang="en-GB" sz="2400" dirty="0" smtClean="0">
                <a:solidFill>
                  <a:srgbClr val="000000"/>
                </a:solidFill>
              </a:rPr>
              <a:t>de </a:t>
            </a:r>
            <a:r>
              <a:rPr lang="en-GB" sz="2400" dirty="0">
                <a:solidFill>
                  <a:srgbClr val="000000"/>
                </a:solidFill>
              </a:rPr>
              <a:t>connexions </a:t>
            </a:r>
            <a:r>
              <a:rPr lang="en-GB" sz="2400" dirty="0" err="1">
                <a:solidFill>
                  <a:srgbClr val="000000"/>
                </a:solidFill>
              </a:rPr>
              <a:t>spécifiques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Types d'enregistrements du service Routage et accès distant</a:t>
            </a:r>
            <a:endParaRPr lang="en-US" sz="2600" dirty="0">
              <a:solidFill>
                <a:srgbClr val="C00000"/>
              </a:solidFill>
            </a:endParaRPr>
          </a:p>
        </p:txBody>
      </p:sp>
      <p:graphicFrame>
        <p:nvGraphicFramePr>
          <p:cNvPr id="14398" name="Group 62"/>
          <p:cNvGraphicFramePr>
            <a:graphicFrameLocks noGrp="1"/>
          </p:cNvGraphicFramePr>
          <p:nvPr/>
        </p:nvGraphicFramePr>
        <p:xfrm>
          <a:off x="186188" y="1479644"/>
          <a:ext cx="8780391" cy="4924800"/>
        </p:xfrm>
        <a:graphic>
          <a:graphicData uri="http://schemas.openxmlformats.org/drawingml/2006/table">
            <a:tbl>
              <a:tblPr/>
              <a:tblGrid>
                <a:gridCol w="3824859"/>
                <a:gridCol w="4955532"/>
              </a:tblGrid>
              <a:tr h="546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Type </a:t>
                      </a: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d'enregistrement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5765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événements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erreurs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avertissements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Autres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informations</a:t>
                      </a:r>
                      <a:endParaRPr kumimoji="0" lang="en-GB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         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  <a:t>Journal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  <a:t>d'événements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itchFamily="34" charset="0"/>
                        </a:rPr>
                        <a:t>système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203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l'authentification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locale et de la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gestion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comptes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Fait le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suivi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l'usage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tentatives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d'authentification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d'accès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distant local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2033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l'authentification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de la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gestion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comptes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RADIUS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Fait le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suivi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l'usage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l'accès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distant et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tentatives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d'authentification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Connecteur droit avec flèche 20"/>
          <p:cNvCxnSpPr/>
          <p:nvPr/>
        </p:nvCxnSpPr>
        <p:spPr>
          <a:xfrm>
            <a:off x="4230810" y="3589356"/>
            <a:ext cx="49131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Enregistrement de l'authentification et de la gestion des comptes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15364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1069" y="2045985"/>
            <a:ext cx="8789158" cy="925513"/>
          </a:xfrm>
          <a:prstGeom prst="roundRect">
            <a:avLst>
              <a:gd name="adj" fmla="val 31181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en-GB" sz="2400" dirty="0" err="1" smtClean="0">
                <a:solidFill>
                  <a:srgbClr val="000000"/>
                </a:solidFill>
              </a:rPr>
              <a:t>C’est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>
                <a:solidFill>
                  <a:srgbClr val="000000"/>
                </a:solidFill>
              </a:rPr>
              <a:t>un </a:t>
            </a:r>
            <a:r>
              <a:rPr lang="en-GB" sz="2400" dirty="0" err="1">
                <a:solidFill>
                  <a:srgbClr val="000000"/>
                </a:solidFill>
              </a:rPr>
              <a:t>processus</a:t>
            </a:r>
            <a:r>
              <a:rPr lang="en-GB" sz="2400" dirty="0">
                <a:solidFill>
                  <a:srgbClr val="000000"/>
                </a:solidFill>
              </a:rPr>
              <a:t> qui </a:t>
            </a:r>
            <a:r>
              <a:rPr lang="en-GB" sz="2400" dirty="0" err="1">
                <a:solidFill>
                  <a:srgbClr val="000000"/>
                </a:solidFill>
              </a:rPr>
              <a:t>enregistre</a:t>
            </a:r>
            <a:r>
              <a:rPr lang="en-GB" sz="2400" dirty="0">
                <a:solidFill>
                  <a:srgbClr val="000000"/>
                </a:solidFill>
              </a:rPr>
              <a:t> des </a:t>
            </a:r>
            <a:r>
              <a:rPr lang="en-GB" sz="2400" dirty="0" err="1">
                <a:solidFill>
                  <a:srgbClr val="000000"/>
                </a:solidFill>
              </a:rPr>
              <a:t>informations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détaillées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sur</a:t>
            </a:r>
            <a:r>
              <a:rPr lang="en-GB" sz="2400" dirty="0">
                <a:solidFill>
                  <a:srgbClr val="000000"/>
                </a:solidFill>
              </a:rPr>
              <a:t> les </a:t>
            </a:r>
            <a:r>
              <a:rPr lang="en-GB" sz="2400" dirty="0" err="1">
                <a:solidFill>
                  <a:srgbClr val="000000"/>
                </a:solidFill>
              </a:rPr>
              <a:t>requêtes</a:t>
            </a:r>
            <a:r>
              <a:rPr lang="en-GB" sz="2400" dirty="0">
                <a:solidFill>
                  <a:srgbClr val="000000"/>
                </a:solidFill>
              </a:rPr>
              <a:t> de connexion </a:t>
            </a:r>
            <a:r>
              <a:rPr lang="en-GB" sz="2400" dirty="0" err="1">
                <a:solidFill>
                  <a:srgbClr val="000000"/>
                </a:solidFill>
              </a:rPr>
              <a:t>d'accès</a:t>
            </a:r>
            <a:r>
              <a:rPr lang="en-GB" sz="2400" dirty="0">
                <a:solidFill>
                  <a:srgbClr val="000000"/>
                </a:solidFill>
              </a:rPr>
              <a:t> distant</a:t>
            </a:r>
            <a:endParaRPr lang="en-US" sz="2400" dirty="0"/>
          </a:p>
        </p:txBody>
      </p:sp>
      <p:sp>
        <p:nvSpPr>
          <p:cNvPr id="15366" name="AutoShap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1069" y="3521126"/>
            <a:ext cx="8775510" cy="1965278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85000"/>
              </a:lnSpc>
            </a:pPr>
            <a:r>
              <a:rPr lang="en-GB" sz="2300" b="0" dirty="0" err="1">
                <a:solidFill>
                  <a:srgbClr val="000000"/>
                </a:solidFill>
              </a:rPr>
              <a:t>Utilisez</a:t>
            </a:r>
            <a:r>
              <a:rPr lang="en-GB" sz="2300" b="0" dirty="0">
                <a:solidFill>
                  <a:srgbClr val="000000"/>
                </a:solidFill>
              </a:rPr>
              <a:t> les </a:t>
            </a:r>
            <a:r>
              <a:rPr lang="en-GB" sz="2300" b="0" dirty="0" err="1">
                <a:solidFill>
                  <a:srgbClr val="000000"/>
                </a:solidFill>
              </a:rPr>
              <a:t>informations</a:t>
            </a:r>
            <a:r>
              <a:rPr lang="en-GB" sz="2300" b="0" dirty="0">
                <a:solidFill>
                  <a:srgbClr val="000000"/>
                </a:solidFill>
              </a:rPr>
              <a:t> </a:t>
            </a:r>
            <a:r>
              <a:rPr lang="en-GB" sz="2300" b="0" dirty="0" err="1">
                <a:solidFill>
                  <a:srgbClr val="000000"/>
                </a:solidFill>
              </a:rPr>
              <a:t>d'authentification</a:t>
            </a:r>
            <a:r>
              <a:rPr lang="en-GB" sz="2300" b="0" dirty="0">
                <a:solidFill>
                  <a:srgbClr val="000000"/>
                </a:solidFill>
              </a:rPr>
              <a:t> et de </a:t>
            </a:r>
            <a:r>
              <a:rPr lang="en-GB" sz="2300" b="0" dirty="0" err="1">
                <a:solidFill>
                  <a:srgbClr val="000000"/>
                </a:solidFill>
              </a:rPr>
              <a:t>gestion</a:t>
            </a:r>
            <a:r>
              <a:rPr lang="en-GB" sz="2300" b="0" dirty="0">
                <a:solidFill>
                  <a:srgbClr val="000000"/>
                </a:solidFill>
              </a:rPr>
              <a:t> des </a:t>
            </a:r>
            <a:r>
              <a:rPr lang="en-GB" sz="2300" b="0" dirty="0" err="1">
                <a:solidFill>
                  <a:srgbClr val="000000"/>
                </a:solidFill>
              </a:rPr>
              <a:t>comptes</a:t>
            </a:r>
            <a:r>
              <a:rPr lang="en-GB" sz="2300" b="0" dirty="0">
                <a:solidFill>
                  <a:srgbClr val="000000"/>
                </a:solidFill>
              </a:rPr>
              <a:t> pour :</a:t>
            </a:r>
            <a:endParaRPr lang="en-US" sz="2300" b="0" dirty="0"/>
          </a:p>
        </p:txBody>
      </p:sp>
      <p:sp>
        <p:nvSpPr>
          <p:cNvPr id="15367" name="AutoShap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1070" y="4039742"/>
            <a:ext cx="8761862" cy="1364776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95250" indent="-95250" algn="l">
              <a:lnSpc>
                <a:spcPct val="85000"/>
              </a:lnSpc>
              <a:spcBef>
                <a:spcPct val="15000"/>
              </a:spcBef>
              <a:buSzPct val="80000"/>
              <a:buFontTx/>
              <a:buBlip>
                <a:blip r:embed="rId7"/>
              </a:buBlip>
            </a:pPr>
            <a:r>
              <a:rPr lang="en-GB" sz="2200" dirty="0">
                <a:solidFill>
                  <a:srgbClr val="000000"/>
                </a:solidFill>
              </a:rPr>
              <a:t>Faire le </a:t>
            </a:r>
            <a:r>
              <a:rPr lang="en-GB" sz="2200" dirty="0" err="1">
                <a:solidFill>
                  <a:srgbClr val="000000"/>
                </a:solidFill>
              </a:rPr>
              <a:t>suivi</a:t>
            </a:r>
            <a:r>
              <a:rPr lang="en-GB" sz="2200" dirty="0">
                <a:solidFill>
                  <a:srgbClr val="000000"/>
                </a:solidFill>
              </a:rPr>
              <a:t> de </a:t>
            </a:r>
            <a:r>
              <a:rPr lang="en-GB" sz="2200" dirty="0" err="1">
                <a:solidFill>
                  <a:srgbClr val="000000"/>
                </a:solidFill>
              </a:rPr>
              <a:t>l'usage</a:t>
            </a:r>
            <a:r>
              <a:rPr lang="en-GB" sz="2200" dirty="0">
                <a:solidFill>
                  <a:srgbClr val="000000"/>
                </a:solidFill>
              </a:rPr>
              <a:t> de </a:t>
            </a:r>
            <a:r>
              <a:rPr lang="en-GB" sz="2200" dirty="0" err="1">
                <a:solidFill>
                  <a:srgbClr val="000000"/>
                </a:solidFill>
              </a:rPr>
              <a:t>l'accès</a:t>
            </a:r>
            <a:r>
              <a:rPr lang="en-GB" sz="2200" dirty="0">
                <a:solidFill>
                  <a:srgbClr val="000000"/>
                </a:solidFill>
              </a:rPr>
              <a:t> distant et des </a:t>
            </a:r>
            <a:r>
              <a:rPr lang="en-GB" sz="2200" dirty="0" err="1" smtClean="0">
                <a:solidFill>
                  <a:srgbClr val="000000"/>
                </a:solidFill>
              </a:rPr>
              <a:t>tentatives</a:t>
            </a:r>
            <a:r>
              <a:rPr lang="en-GB" sz="2200" dirty="0" smtClean="0">
                <a:solidFill>
                  <a:srgbClr val="000000"/>
                </a:solidFill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</a:rPr>
              <a:t>d'authentification</a:t>
            </a:r>
            <a:endParaRPr lang="en-US" sz="2200" dirty="0"/>
          </a:p>
          <a:p>
            <a:pPr marL="95250" indent="-95250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7"/>
              </a:buBlip>
            </a:pPr>
            <a:r>
              <a:rPr lang="en-GB" sz="2200" dirty="0">
                <a:solidFill>
                  <a:srgbClr val="000000"/>
                </a:solidFill>
              </a:rPr>
              <a:t>Conserver des </a:t>
            </a:r>
            <a:r>
              <a:rPr lang="en-GB" sz="2200" dirty="0" err="1">
                <a:solidFill>
                  <a:srgbClr val="000000"/>
                </a:solidFill>
              </a:rPr>
              <a:t>enregistrements</a:t>
            </a:r>
            <a:r>
              <a:rPr lang="en-GB" sz="2200" dirty="0">
                <a:solidFill>
                  <a:srgbClr val="000000"/>
                </a:solidFill>
              </a:rPr>
              <a:t> à des fins de </a:t>
            </a:r>
            <a:r>
              <a:rPr lang="en-GB" sz="2200" dirty="0" err="1">
                <a:solidFill>
                  <a:srgbClr val="000000"/>
                </a:solidFill>
              </a:rPr>
              <a:t>facturation</a:t>
            </a:r>
            <a:endParaRPr lang="en-US" sz="2200" dirty="0"/>
          </a:p>
          <a:p>
            <a:pPr marL="95250" indent="-95250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7"/>
              </a:buBlip>
            </a:pPr>
            <a:r>
              <a:rPr lang="en-GB" sz="2200" dirty="0" err="1">
                <a:solidFill>
                  <a:srgbClr val="000000"/>
                </a:solidFill>
              </a:rPr>
              <a:t>Isoler</a:t>
            </a:r>
            <a:r>
              <a:rPr lang="en-GB" sz="2200" dirty="0">
                <a:solidFill>
                  <a:srgbClr val="000000"/>
                </a:solidFill>
              </a:rPr>
              <a:t> des </a:t>
            </a:r>
            <a:r>
              <a:rPr lang="en-GB" sz="2200" dirty="0" err="1">
                <a:solidFill>
                  <a:srgbClr val="000000"/>
                </a:solidFill>
              </a:rPr>
              <a:t>problèmes</a:t>
            </a:r>
            <a:r>
              <a:rPr lang="en-GB" sz="2200" dirty="0">
                <a:solidFill>
                  <a:srgbClr val="000000"/>
                </a:solidFill>
              </a:rPr>
              <a:t> de </a:t>
            </a:r>
            <a:r>
              <a:rPr lang="en-GB" sz="2200" dirty="0" err="1">
                <a:solidFill>
                  <a:srgbClr val="000000"/>
                </a:solidFill>
              </a:rPr>
              <a:t>stratégie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d'accès</a:t>
            </a:r>
            <a:r>
              <a:rPr lang="en-GB" sz="2200" dirty="0">
                <a:solidFill>
                  <a:srgbClr val="000000"/>
                </a:solidFill>
              </a:rPr>
              <a:t> distant</a:t>
            </a:r>
            <a:endParaRPr lang="en-US"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1536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15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nimBg="1"/>
      <p:bldP spid="15367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6755" y="173321"/>
            <a:ext cx="8756176" cy="1014033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C00000"/>
                </a:solidFill>
              </a:rPr>
              <a:t>Fichiers journaux pour des connexions spécifiques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43125" name="Group 117"/>
          <p:cNvGraphicFramePr>
            <a:graphicFrameLocks noGrp="1"/>
          </p:cNvGraphicFramePr>
          <p:nvPr/>
        </p:nvGraphicFramePr>
        <p:xfrm>
          <a:off x="232818" y="1506941"/>
          <a:ext cx="8665522" cy="4825620"/>
        </p:xfrm>
        <a:graphic>
          <a:graphicData uri="http://schemas.openxmlformats.org/drawingml/2006/table">
            <a:tbl>
              <a:tblPr/>
              <a:tblGrid>
                <a:gridCol w="1999736"/>
                <a:gridCol w="2087808"/>
                <a:gridCol w="4577978"/>
              </a:tblGrid>
              <a:tr h="9768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Type de connexion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 du </a:t>
                      </a:r>
                      <a:b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fichier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journal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 du </a:t>
                      </a: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fichier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journal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4010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PPP 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Journal PPP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série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fonctions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programmation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les messages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contrôle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PPP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lors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d'une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connexion PPP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466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L2TP/IPSec 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Journal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d'audit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informations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événements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relatifs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à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sécurité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IPSec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010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L2TP/IPSec 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Journal Oakley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informations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toutes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négociations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mode principal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mode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rapide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IKE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FR" sz="2600" dirty="0" smtClean="0">
                <a:solidFill>
                  <a:srgbClr val="000000"/>
                </a:solidFill>
              </a:rPr>
              <a:t>3. Collecte </a:t>
            </a:r>
            <a:r>
              <a:rPr lang="fr-FR" sz="2600" dirty="0">
                <a:solidFill>
                  <a:srgbClr val="000000"/>
                </a:solidFill>
              </a:rPr>
              <a:t>et analyse des données d'accès réseau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15400" y="1922833"/>
            <a:ext cx="8503920" cy="1912188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rgbClr val="000000"/>
                </a:solidFill>
              </a:rPr>
              <a:t>Pourquoi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collecter</a:t>
            </a:r>
            <a:r>
              <a:rPr lang="en-GB" sz="2800" dirty="0">
                <a:solidFill>
                  <a:srgbClr val="000000"/>
                </a:solidFill>
              </a:rPr>
              <a:t> des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de performance ?</a:t>
            </a:r>
            <a:r>
              <a:rPr lang="en-US" sz="2800" dirty="0"/>
              <a:t> </a:t>
            </a:r>
          </a:p>
          <a:p>
            <a:r>
              <a:rPr lang="en-GB" sz="2800" dirty="0" err="1">
                <a:solidFill>
                  <a:srgbClr val="000000"/>
                </a:solidFill>
              </a:rPr>
              <a:t>Outils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collecte</a:t>
            </a:r>
            <a:r>
              <a:rPr lang="en-GB" sz="2800" dirty="0">
                <a:solidFill>
                  <a:srgbClr val="000000"/>
                </a:solidFill>
              </a:rPr>
              <a:t> des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d'accès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endParaRPr lang="en-US" sz="2800" dirty="0"/>
          </a:p>
          <a:p>
            <a:r>
              <a:rPr lang="en-GB" sz="2800" dirty="0">
                <a:solidFill>
                  <a:srgbClr val="000000"/>
                </a:solidFill>
              </a:rPr>
              <a:t>Comment analyser </a:t>
            </a:r>
            <a:r>
              <a:rPr lang="en-GB" sz="2800" dirty="0" err="1">
                <a:solidFill>
                  <a:srgbClr val="000000"/>
                </a:solidFill>
              </a:rPr>
              <a:t>l'activité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r>
              <a:rPr lang="en-GB" sz="2800" dirty="0">
                <a:solidFill>
                  <a:srgbClr val="000000"/>
                </a:solidFill>
              </a:rPr>
              <a:t> sans </a:t>
            </a:r>
            <a:r>
              <a:rPr lang="en-GB" sz="2800" dirty="0" err="1">
                <a:solidFill>
                  <a:srgbClr val="000000"/>
                </a:solidFill>
              </a:rPr>
              <a:t>fil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6755" y="350744"/>
            <a:ext cx="8742529" cy="684212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C00000"/>
                </a:solidFill>
              </a:rPr>
              <a:t>Pourquoi collecter des données de performance 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509" name="AutoShap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716" y="1470025"/>
            <a:ext cx="8720919" cy="491712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en-GB" sz="2400">
                <a:solidFill>
                  <a:srgbClr val="000000"/>
                </a:solidFill>
              </a:rPr>
              <a:t>Collectez des données de performance pour :</a:t>
            </a:r>
            <a:endParaRPr lang="en-US" sz="2400"/>
          </a:p>
        </p:txBody>
      </p:sp>
      <p:sp>
        <p:nvSpPr>
          <p:cNvPr id="21510" name="AutoShap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4842" y="2082800"/>
            <a:ext cx="8407021" cy="411328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 err="1">
                <a:solidFill>
                  <a:srgbClr val="000000"/>
                </a:solidFill>
              </a:rPr>
              <a:t>Évaluer</a:t>
            </a:r>
            <a:r>
              <a:rPr lang="en-GB" sz="2600" dirty="0">
                <a:solidFill>
                  <a:srgbClr val="000000"/>
                </a:solidFill>
              </a:rPr>
              <a:t> la charge de travail </a:t>
            </a:r>
            <a:r>
              <a:rPr lang="en-GB" sz="2600" dirty="0" err="1">
                <a:solidFill>
                  <a:srgbClr val="000000"/>
                </a:solidFill>
              </a:rPr>
              <a:t>sur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votre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serveur</a:t>
            </a:r>
            <a:r>
              <a:rPr lang="en-GB" sz="2600" dirty="0">
                <a:solidFill>
                  <a:srgbClr val="000000"/>
                </a:solidFill>
              </a:rPr>
              <a:t> et </a:t>
            </a:r>
            <a:r>
              <a:rPr lang="en-GB" sz="2600" dirty="0" err="1">
                <a:solidFill>
                  <a:srgbClr val="000000"/>
                </a:solidFill>
              </a:rPr>
              <a:t>l'impact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sur</a:t>
            </a:r>
            <a:r>
              <a:rPr lang="en-GB" sz="2600" dirty="0">
                <a:solidFill>
                  <a:srgbClr val="000000"/>
                </a:solidFill>
              </a:rPr>
              <a:t> les </a:t>
            </a:r>
            <a:r>
              <a:rPr lang="en-GB" sz="2600" dirty="0" err="1">
                <a:solidFill>
                  <a:srgbClr val="000000"/>
                </a:solidFill>
              </a:rPr>
              <a:t>ressources</a:t>
            </a:r>
            <a:endParaRPr lang="en-US" sz="2600" dirty="0"/>
          </a:p>
          <a:p>
            <a:pPr marL="231775" indent="-231775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>
                <a:solidFill>
                  <a:srgbClr val="000000"/>
                </a:solidFill>
              </a:rPr>
              <a:t>Observer les </a:t>
            </a:r>
            <a:r>
              <a:rPr lang="en-GB" sz="2600" dirty="0" err="1">
                <a:solidFill>
                  <a:srgbClr val="000000"/>
                </a:solidFill>
              </a:rPr>
              <a:t>changements</a:t>
            </a:r>
            <a:r>
              <a:rPr lang="en-GB" sz="2600" dirty="0">
                <a:solidFill>
                  <a:srgbClr val="000000"/>
                </a:solidFill>
              </a:rPr>
              <a:t> et les </a:t>
            </a:r>
            <a:r>
              <a:rPr lang="en-GB" sz="2600" dirty="0" err="1">
                <a:solidFill>
                  <a:srgbClr val="000000"/>
                </a:solidFill>
              </a:rPr>
              <a:t>tendances</a:t>
            </a:r>
            <a:r>
              <a:rPr lang="en-GB" sz="2600" dirty="0">
                <a:solidFill>
                  <a:srgbClr val="000000"/>
                </a:solidFill>
              </a:rPr>
              <a:t> de la charge de travail</a:t>
            </a:r>
            <a:endParaRPr lang="en-US" sz="2600" dirty="0"/>
          </a:p>
          <a:p>
            <a:pPr marL="231775" indent="-231775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>
                <a:solidFill>
                  <a:srgbClr val="000000"/>
                </a:solidFill>
              </a:rPr>
              <a:t>Faire le </a:t>
            </a:r>
            <a:r>
              <a:rPr lang="en-GB" sz="2600" dirty="0" err="1">
                <a:solidFill>
                  <a:srgbClr val="000000"/>
                </a:solidFill>
              </a:rPr>
              <a:t>suivi</a:t>
            </a:r>
            <a:r>
              <a:rPr lang="en-GB" sz="2600" dirty="0">
                <a:solidFill>
                  <a:srgbClr val="000000"/>
                </a:solidFill>
              </a:rPr>
              <a:t> de </a:t>
            </a:r>
            <a:r>
              <a:rPr lang="en-GB" sz="2600" dirty="0" err="1">
                <a:solidFill>
                  <a:srgbClr val="000000"/>
                </a:solidFill>
              </a:rPr>
              <a:t>l'usage</a:t>
            </a:r>
            <a:r>
              <a:rPr lang="en-GB" sz="2600" dirty="0">
                <a:solidFill>
                  <a:srgbClr val="000000"/>
                </a:solidFill>
              </a:rPr>
              <a:t> des </a:t>
            </a:r>
            <a:r>
              <a:rPr lang="en-GB" sz="2600" dirty="0" err="1">
                <a:solidFill>
                  <a:srgbClr val="000000"/>
                </a:solidFill>
              </a:rPr>
              <a:t>ressources</a:t>
            </a:r>
            <a:endParaRPr lang="en-US" sz="2600" dirty="0"/>
          </a:p>
          <a:p>
            <a:pPr marL="231775" indent="-231775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>
                <a:solidFill>
                  <a:srgbClr val="000000"/>
                </a:solidFill>
              </a:rPr>
              <a:t>Tester des modifications de configuration </a:t>
            </a:r>
            <a:r>
              <a:rPr lang="en-GB" sz="2600" dirty="0" err="1">
                <a:solidFill>
                  <a:srgbClr val="000000"/>
                </a:solidFill>
              </a:rPr>
              <a:t>ou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d'autres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réglages</a:t>
            </a:r>
            <a:endParaRPr lang="en-US" sz="2600" dirty="0"/>
          </a:p>
          <a:p>
            <a:pPr marL="231775" indent="-231775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 err="1">
                <a:solidFill>
                  <a:srgbClr val="000000"/>
                </a:solidFill>
              </a:rPr>
              <a:t>Isoler</a:t>
            </a:r>
            <a:r>
              <a:rPr lang="en-GB" sz="2600" dirty="0">
                <a:solidFill>
                  <a:srgbClr val="000000"/>
                </a:solidFill>
              </a:rPr>
              <a:t> des </a:t>
            </a:r>
            <a:r>
              <a:rPr lang="en-GB" sz="2600" dirty="0" err="1">
                <a:solidFill>
                  <a:srgbClr val="000000"/>
                </a:solidFill>
              </a:rPr>
              <a:t>problèmes</a:t>
            </a:r>
            <a:endParaRPr lang="en-US" sz="2600" dirty="0"/>
          </a:p>
          <a:p>
            <a:pPr marL="231775" indent="-231775" algn="l">
              <a:lnSpc>
                <a:spcPct val="90000"/>
              </a:lnSpc>
              <a:spcBef>
                <a:spcPct val="15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 err="1">
                <a:solidFill>
                  <a:srgbClr val="000000"/>
                </a:solidFill>
              </a:rPr>
              <a:t>Cibler</a:t>
            </a:r>
            <a:r>
              <a:rPr lang="en-GB" sz="2600" dirty="0">
                <a:solidFill>
                  <a:srgbClr val="000000"/>
                </a:solidFill>
              </a:rPr>
              <a:t> des </a:t>
            </a:r>
            <a:r>
              <a:rPr lang="en-GB" sz="2600" dirty="0" err="1">
                <a:solidFill>
                  <a:srgbClr val="000000"/>
                </a:solidFill>
              </a:rPr>
              <a:t>composants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ou</a:t>
            </a:r>
            <a:r>
              <a:rPr lang="en-GB" sz="2600" dirty="0">
                <a:solidFill>
                  <a:srgbClr val="000000"/>
                </a:solidFill>
              </a:rPr>
              <a:t> des </a:t>
            </a:r>
            <a:r>
              <a:rPr lang="en-GB" sz="2600" dirty="0" err="1">
                <a:solidFill>
                  <a:srgbClr val="000000"/>
                </a:solidFill>
              </a:rPr>
              <a:t>processus</a:t>
            </a:r>
            <a:endParaRPr lang="en-US" sz="2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06217" y="337783"/>
            <a:ext cx="8760362" cy="758952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C00000"/>
                </a:solidFill>
              </a:rPr>
              <a:t>Outils de collecte des données d'accès réseau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22593" name="Group 65"/>
          <p:cNvGraphicFramePr>
            <a:graphicFrameLocks noGrp="1"/>
          </p:cNvGraphicFramePr>
          <p:nvPr/>
        </p:nvGraphicFramePr>
        <p:xfrm>
          <a:off x="227462" y="1550158"/>
          <a:ext cx="8684525" cy="4741461"/>
        </p:xfrm>
        <a:graphic>
          <a:graphicData uri="http://schemas.openxmlformats.org/drawingml/2006/table">
            <a:tbl>
              <a:tblPr/>
              <a:tblGrid>
                <a:gridCol w="2689081"/>
                <a:gridCol w="5995444"/>
              </a:tblGrid>
              <a:tr h="7555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Outil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2483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Moniteur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système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Permet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d'afficher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données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performance en temps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réel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pour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composants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des services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spécifiques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87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Journaux et alertes de performance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Permet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capturer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données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performance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spécifiques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pour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composants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des services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687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Moniteur sans fil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Fournit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détails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points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d'accès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les clients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réseau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sans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fil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"/>
  <p:tag name="PPWINSEGMENT1SOURCERTF" val="{\rtf1\ansi\deff0{\fonttbl{\f0\fcharset0 Arial Narrow;}}{\colortbl\red0\green0\blue0;}{\f0\fs100\b\cf0 Module 10:\par}}"/>
  <p:tag name="PPWINSEGMENT1TARGETRTF" val="{\rtf1\ansi\deff1{\fonttbl{\f1\fcharset0 Arial;}{\f2\fcharset0 Arial Narrow;}}{\colortbl\red0\green0\blue0;}{\f2\fs100\b\cf0 Module 10 :\par}}"/>
  <p:tag name="PPWINSEGMENT2START" val="13"/>
  <p:tag name="PPWINSEGMENT2LENGTH" val="36"/>
  <p:tag name="PPWINSEGMENT2SOURCERTF" val="{\rtf1\ansi\deff0{\fonttbl{\f0\fcharset0 Arial Narrow;}}{\colortbl\red0\green0\blue0;}{\f0\fs100\b\cf0 Managing and Monitoring Network Access\par}}"/>
  <p:tag name="PPWINSEGMENT2TARGETRTF" val="{\rtf1\ansi\deff1{\fonttbl{\f1\fcharset0 Arial;}{\f2\fcharset0 Arial Narrow;}}{\colortbl\red0\green0\blue0;}{\f2\fs100\b\cf0 Gestion et analyse de l'acc\'E8s r\'E9seau\par}}"/>
  <p:tag name="PPWINLASTSAVEDTRANSLATION" val="Module 10 : Gestion et analyse de l'accès réseau"/>
  <p:tag name="PPWINALREADYSEGMENTED" val="True"/>
  <p:tag name="PPWINTOTALSEGMENTS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60\b\cf0 Overview\par}}"/>
  <p:tag name="PPWINSEGMENT1TARGETRTF" val="{\rtf1\ansi\deff1{\fonttbl{\f1\fcharset0 Arial;}{\f2\fcharset0 Arial Narrow;}}{\colortbl\red0\green0\blue0;}{\f2\fs60\b\cf0 Vue d'ensemble\par}}"/>
  <p:tag name="PPWINLASTSAVEDTRANSLATION" val="Vue d'ensemble"/>
  <p:tag name="PPWINALREADYSEGMENTED" val="True"/>
  <p:tag name="PPWINTOTALSEGMENT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5"/>
  <p:tag name="PPWINSEGMENT1SOURCERTF" val="{\rtf1\ansi\deff0{\fonttbl{\f0\fcharset0 Arial Narrow;}}{\colortbl\red0\green0\blue0;}{\f0\fs48\b\cf0 Managing the Network Access Services\par}}"/>
  <p:tag name="PPWINSEGMENT1TARGETRTF" val="{\rtf1\ansi\deff1{\fonttbl{\f1\fcharset0 Arial;}{\f2\fcharset0 Arial Narrow;}}{\colortbl\red0\green0\blue0;}{\f2\fs48\b\cf0 Gestion des services d'acc\'E8s r\'E9seau\par}}"/>
  <p:tag name="PPWINSEGMENT2START" val="37"/>
  <p:tag name="PPWINSEGMENT2LENGTH" val="63"/>
  <p:tag name="PPWINSEGMENT2SOURCERTF" val="{\rtf1\ansi\deff0{\fonttbl{\f0\fcharset0 Arial Narrow;}}{\colortbl\red0\green0\blue0;}{\f0\fs48\b\cf0 Configuring Logging on a Network Access Server\par}}"/>
  <p:tag name="PPWINSEGMENT2TARGETRTF" val="{\rtf1\ansi\deff1{\fonttbl{\f1\fcharset0 Arial;}{\f2\fcharset0 Arial Narrow;}}{\colortbl\red0\green0\blue0;}{\f2\fs48\b\cf0 Configuration de l'enregistrement sur un serveur d'acc\'E8s r\'E9seau\par}}"/>
  <p:tag name="PPWINSEGMENT3START" val="101"/>
  <p:tag name="PPWINSEGMENT3LENGTH" val="46"/>
  <p:tag name="PPWINSEGMENT3SOURCERTF" val="{\rtf1\ansi\deff0{\fonttbl{\f0\fcharset0 Arial Narrow;}}{\colortbl\red0\green0\blue0;}{\f0\fs48\b\cf0 Collecting and Monitoring Network Access Data\par}}"/>
  <p:tag name="PPWINSEGMENT3TARGETRTF" val="{\rtf1\ansi\deff1{\fonttbl{\f1\fcharset0 Arial;}{\f2\fcharset0 Arial Narrow;}}{\colortbl\red0\green0\blue0;}{\f2\fs48\b\cf0 Collecte et analyse des donn\'E9es d'acc\'E8s r\'E9seau\par}}"/>
  <p:tag name="PPWINLASTSAVEDTRANSLATION" val="Gestion des services d'accès réseau&#10;Configuration de l'enregistrement sur un serveur d'accès réseau&#10;Collecte et analyse des données d'accès réseau"/>
  <p:tag name="PPWINALREADYSEGMENTED" val="True"/>
  <p:tag name="PPWINTOTALSEGMENTS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35"/>
  <p:tag name="PPWINSEGMENT2SOURCERTF" val="{\rtf1\ansi\deff0{\fonttbl{\f0\fcharset0 Arial Narrow;}}{\colortbl\red0\green0\blue0;}{\f0\fs60\b\cf0 Managing the Network Access Services\par}}"/>
  <p:tag name="PPWINSEGMENT2TARGETRTF" val="{\rtf1\ansi\deff1{\fonttbl{\f1\fcharset0 Arial;}{\f2\fcharset0 Arial Narrow;}}{\colortbl\red0\green0\blue0;}{\f2\fs60\b\cf0 Gestion des services d'acc\'E8s r\'E9seau\par}}"/>
  <p:tag name="PPWINLASTSAVEDTRANSLATION" val="Leçon : Gestion des services d'accès réseau"/>
  <p:tag name="PPWINALREADYSEGMENTED" val="True"/>
  <p:tag name="PPWINTOTALSEGMENTS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3"/>
  <p:tag name="PPWINSEGMENT1SOURCERTF" val="{\rtf1\ansi\deff0{\fonttbl{\f0\fcharset0 Arial Narrow;}}{\colortbl\red0\green0\blue0;}{\f0\fs48\b\cf0 Guidelines for Managing Network Access Services\par}}"/>
  <p:tag name="PPWINSEGMENT1TARGETRTF" val="{\rtf1\ansi\deff1{\fonttbl{\f1\fcharset0 Arial;}{\f2\fcharset0 Arial Narrow;}}{\colortbl\red0\green0\blue0;}{\f2\fs48\b\cf0 Instructions relatives \'E0 la gestion des services d'acc\'E8s r\'E9seau\par}}"/>
  <p:tag name="PPWINSEGMENT2START" val="65"/>
  <p:tag name="PPWINSEGMENT2LENGTH" val="41"/>
  <p:tag name="PPWINSEGMENT2SOURCERTF" val="{\rtf1\ansi\deff0{\fonttbl{\f0\fcharset0 Arial Narrow;}}{\colortbl\red0\green0\blue0;}{\f0\fs48\b\cf0 How to Manage Remote Access Clients \par}}"/>
  <p:tag name="PPWINSEGMENT2TARGETRTF" val="{\rtf1\ansi\deff1{\fonttbl{\f1\fcharset0 Arial;}{\f2\fcharset0 Arial Narrow;}}{\colortbl\red0\green0\blue0;}{\f2\fs48\b\cf0 Comment g\'E9rer les clients d'acc\'E8s distant\par}}"/>
  <p:tag name="PPWINLASTSAVEDTRANSLATION" val="Instructions relatives à la gestion des services d'accès réseau&#10;Comment gérer les clients d'accès distant"/>
  <p:tag name="PPWINALREADYSEGMENTED" val="True"/>
  <p:tag name="PPWINTOTALSEGMENTS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3"/>
  <p:tag name="PPWINSEGMENT1SOURCERTF" val="{\rtf1\ansi\deff0{\fonttbl{\f0\fcharset0 Arial Narrow;}}{\colortbl\red0\green0\blue0;}{\f0\fs60\b\cf0 Guidelines for Managing Network Access Services\par}}"/>
  <p:tag name="PPWINSEGMENT1TARGETRTF" val="{\rtf1\ansi\deff1{\fonttbl{\f1\fcharset0 Arial;}{\f2\fcharset0 Arial Narrow;}}{\colortbl\red0\green0\blue0;}{\f2\fs60\b\cf0 Instructions relatives \'E0 la gestion des services d'acc\'E8s r\'E9seau\par}}"/>
  <p:tag name="PPWINLASTSAVEDTRANSLATION" val="Instructions relatives à la gestion des services d'accès réseau"/>
  <p:tag name="PPWINALREADYSEGMENTED" val="True"/>
  <p:tag name="PPWINTOTALSEGMENTS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1"/>
  <p:tag name="PPWINSEGMENT1SOURCERTF" val="{\rtf1\ansi\deff0{\fonttbl{\f0\fcharset0 Arial Narrow;}}{\colortbl\red0\green0\blue0;}{\f0\fs60\b\cf0 How to Manage Remote Access Clients\par}}"/>
  <p:tag name="PPWINSEGMENT1TARGETRTF" val="{\rtf1\ansi\deff1{\fonttbl{\f1\fcharset0 Arial;}{\f2\fcharset0 Arial Narrow;}}{\colortbl\red0\green0\blue0;}{\f2\fs60\b\cf0 Comment g\'E9rer les clients d'acc\'E8s distant\par}}"/>
  <p:tag name="PPWINLASTSAVEDTRANSLATION" val="Comment gérer les clients d'accès distant"/>
  <p:tag name="PPWINALREADYSEGMENTED" val="True"/>
  <p:tag name="PPWINTOTALSEGMENTS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48\b\cf0 Your instructor will demonstrate how to:\par}}"/>
  <p:tag name="PPWINSEGMENT1TARGETRTF" val="{\rtf1\ansi\deff1{\fonttbl{\f1\fcharset0 Arial;}{\f2\fcharset0 Arial Narrow;}}{\colortbl\red0\green0\blue0;}{\f2\fs48\b\cf0 L'instructeur va vous montrer comment :\par}}"/>
  <p:tag name="PPWINLASTSAVEDTRANSLATION" val="L'instructeur va vous montrer comment :"/>
  <p:tag name="PPWINALREADYSEGMENTED" val="True"/>
  <p:tag name="PPWINTOTALSEGMENTS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3"/>
  <p:tag name="PPWINSEGMENT1SOURCERTF" val="{\rtf1\ansi\deff0{\fonttbl{\f0\fcharset0 Arial Narrow;}}{\colortbl\red0\green0\blue0;}{\f0\fs44\b\cf0 Send a message to a single remote access client\par}}"/>
  <p:tag name="PPWINSEGMENT1TARGETRTF" val="{\rtf1\ansi\deff1{\fonttbl{\f1\fcharset0 Arial;}{\f2\fcharset0 Arial Narrow;}}{\colortbl\red0\green0\blue0;}{\f2\fs44\b\cf0 Envoyer un message \'E0 un client d'acc\'E8s distant unique\par}}"/>
  <p:tag name="PPWINSEGMENT2START" val="55"/>
  <p:tag name="PPWINSEGMENT2LENGTH" val="53"/>
  <p:tag name="PPWINSEGMENT2SOURCERTF" val="{\rtf1\ansi\deff0{\fonttbl{\f0\fcharset0 Arial Narrow;}}{\colortbl\red0\green0\blue0;}{\f0\fs44\b\cf0 Send a message to all remote access clients\par}}"/>
  <p:tag name="PPWINSEGMENT2TARGETRTF" val="{\rtf1\ansi\deff1{\fonttbl{\f1\fcharset0 Arial;}{\f2\fcharset0 Arial Narrow;}}{\colortbl\red0\green0\blue0;}{\f2\fs44\b\cf0 Envoyer un message \'E0 tous les clients d'acc\'E8s distant\par}}"/>
  <p:tag name="PPWINSEGMENT3START" val="109"/>
  <p:tag name="PPWINSEGMENT3LENGTH" val="37"/>
  <p:tag name="PPWINSEGMENT3SOURCERTF" val="{\rtf1\ansi\deff0{\fonttbl{\f0\fcharset0 Arial Narrow;}}{\colortbl\red0\green0\blue0;}{\f0\fs44\b\cf0 Disconnect a remote access client\par}}"/>
  <p:tag name="PPWINSEGMENT3TARGETRTF" val="{\rtf1\ansi\deff1{\fonttbl{\f1\fcharset0 Arial;}{\f2\fcharset0 Arial Narrow;}}{\colortbl\red0\green0\blue0;}{\f2\fs44\b\cf0 D\'E9connecter un client d'acc\'E8s distant\par}}"/>
  <p:tag name="PPWINSEGMENT4START" val="147"/>
  <p:tag name="PPWINSEGMENT4LENGTH" val="55"/>
  <p:tag name="PPWINSEGMENT4SOURCERTF" val="{\rtf1\ansi\deff0{\fonttbl{\f0\fcharset0 Arial Narrow;}}{\colortbl\red0\green0\blue0;}{\f0\fs44\b\cf0 Start and stop the Routing and Remote Access service\par}}"/>
  <p:tag name="PPWINSEGMENT4TARGETRTF" val="{\rtf1\ansi\deff1{\fonttbl{\f1\fcharset0 Arial;}{\f2\fcharset0 Arial Narrow;}}{\colortbl\red0\green0\blue0;}{\f2\fs44\b\cf0 D\'E9marrer et arr\'EAter le service Routage et acc\'E8s distant\par}}"/>
  <p:tag name="PPWINLASTSAVEDTRANSLATION" val="Envoyer un message à un client d'accès distant unique&#10;Envoyer un message à tous les clients d'accès distant&#10;Déconnecter un client d'accès distant&#10;Démarrer et arrêter le service Routage et accès distant"/>
  <p:tag name="PPWINALREADYSEGMENTED" val="True"/>
  <p:tag name="PPWINTOTALSEGMENTS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63"/>
  <p:tag name="PPWINSEGMENT2SOURCERTF" val="{\rtf1\ansi\deff0{\fonttbl{\f0\fcharset0 Arial Narrow;}}{\colortbl\red0\green0\blue0;}{\f0\fs60\b\cf0 Configuring Logging on a Network Access Server\par}}"/>
  <p:tag name="PPWINSEGMENT2TARGETRTF" val="{\rtf1\ansi\deff1{\fonttbl{\f1\fcharset0 Arial;}{\f2\fcharset0 Arial Narrow;}}{\colortbl\red0\green0\blue0;}{\f2\fs60\b\cf0 Configuration de l'enregistrement sur un serveur d'acc\'E8s r\'E9seau\par}}"/>
  <p:tag name="PPWINLASTSAVEDTRANSLATION" val="Leçon : Configuration de l'enregistrement sur un serveur d'accès réseau"/>
  <p:tag name="PPWINALREADYSEGMENTED" val="True"/>
  <p:tag name="PPWINTOTALSEGMENTS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9"/>
  <p:tag name="PPWINSEGMENT1SOURCERTF" val="{\rtf1\ansi\deff0{\fonttbl{\f0\fcharset0 Arial Narrow;}}{\colortbl\red0\green0\blue0;}{\f0\fs48\b\cf0 Routing and Remote Access Logging\par}}"/>
  <p:tag name="PPWINSEGMENT1TARGETRTF" val="{\rtf1\ansi\deff1{\fonttbl{\f1\fcharset0 Arial;}{\f2\fcharset0 Arial Narrow;}}{\colortbl\red0\green0\blue0;}{\f2\fs48\b\cf0 Types d'enregistrements du service Routage et acc\'E8s distant\par}}"/>
  <p:tag name="PPWINSEGMENT2START" val="61"/>
  <p:tag name="PPWINSEGMENT2LENGTH" val="65"/>
  <p:tag name="PPWINSEGMENT2SOURCERTF" val="{\rtf1\ansi\deff0{\fonttbl{\f0\fcharset0 Arial Narrow;}}{\colortbl\red0\green0\blue0;}{\f0\fs48\b\cf0 Authentication and Accounting Logging\par}}"/>
  <p:tag name="PPWINSEGMENT2TARGETRTF" val="{\rtf1\ansi\deff1{\fonttbl{\f1\fcharset0 Arial;}{\f2\fcharset0 Arial Narrow;}}{\colortbl\red0\green0\blue0;}{\f2\fs48\b\cf0 Enregistrement de l'authentification et de la gestion des comptes\par}}"/>
  <p:tag name="PPWINSEGMENT3START" val="127"/>
  <p:tag name="PPWINSEGMENT3LENGTH" val="86"/>
  <p:tag name="PPWINSEGMENT3SOURCERTF" val="{\rtf1\ansi\deff0{\fonttbl{\f0\fcharset0 Arial Narrow;}}{\colortbl\red0\green0\blue0;}{\f0\fs48\b\cf0 How to Configure Authentication and Accounting Logging \par}}"/>
  <p:tag name="PPWINSEGMENT3TARGETRTF" val="{\rtf1\ansi\deff1{\fonttbl{\f1\fcharset0 Arial;}{\f2\fcharset0 Arial Narrow;}}{\colortbl\red0\green0\blue0;}{\f2\fs48\b\cf0 Comment configurer l'enregistrement de l'authentification et de la gestion des comptes\par}}"/>
  <p:tag name="PPWINSEGMENT4START" val="214"/>
  <p:tag name="PPWINSEGMENT4LENGTH" val="49"/>
  <p:tag name="PPWINSEGMENT4SOURCERTF" val="{\rtf1\ansi\deff0{\fonttbl{\f0\fcharset0 Arial Narrow;}}{\colortbl\red0\green0\blue0;}{\f0\fs48\b\cf0 Log Files for Specific Connections \par}}"/>
  <p:tag name="PPWINSEGMENT4TARGETRTF" val="{\rtf1\ansi\deff1{\fonttbl{\f1\fcharset0 Arial;}{\f2\fcharset0 Arial Narrow;}}{\colortbl\red0\green0\blue0;}{\f2\fs48\b\cf0 Fichiers journaux pour des connexions sp\'E9cifiques\par}}"/>
  <p:tag name="PPWINSEGMENT5START" val="264"/>
  <p:tag name="PPWINSEGMENT5LENGTH" val="76"/>
  <p:tag name="PPWINSEGMENT5SOURCERTF" val="{\rtf1\ansi\deff0{\fonttbl{\f0\fcharset0 Arial Narrow;}}{\colortbl\red0\green0\blue0;}{\f0\fs48\b\cf0 How to Configure Logging for Specific Connection Types \par}}"/>
  <p:tag name="PPWINSEGMENT5TARGETRTF" val="{\rtf1\ansi\deff1{\fonttbl{\f1\fcharset0 Arial;}{\f2\fcharset0 Arial Narrow;}}{\colortbl\red0\green0\blue0;}{\f2\fs48\b\cf0 Comment configurer l'enregistrement pour des types de connexions sp\'E9cifiques\par}}"/>
  <p:tag name="PPWINLASTSAVEDTRANSLATION" val="Types d'enregistrements du service Routage et accès distant&#10;Enregistrement de l'authentification et de la gestion des comptes&#10;Comment configurer l'enregistrement de l'authentification et de la gestion des comptes&#10;Fichiers journaux pour des connexions spécifiques&#10;Comment configurer l'enregistrement pour des types de connexions spécifiques"/>
  <p:tag name="PPWINALREADYSEGMENTED" val="True"/>
  <p:tag name="PPWINTOTALSEGMENTS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9"/>
  <p:tag name="PPWINSEGMENT1SOURCERTF" val="{\rtf1\ansi\deff0{\fonttbl{\f0\fcharset0 Arial Narrow;}}{\colortbl\red0\green0\blue0;}{\f0\fs60\b\cf0 Routing and Remote Access Logging\par}}"/>
  <p:tag name="PPWINSEGMENT1TARGETRTF" val="{\rtf1\ansi\deff1{\fonttbl{\f1\fcharset0 Arial;}{\f2\fcharset0 Arial Narrow;}}{\colortbl\red0\green0\blue0;}{\f2\fs60\b\cf0 Types d'enregistrements du service Routage et acc\'E8s distant\par}}"/>
  <p:tag name="PPWINLASTSAVEDTRANSLATION" val="Types d'enregistrements du service Routage et accès distant"/>
  <p:tag name="PPWINALREADYSEGMENTED" val="True"/>
  <p:tag name="PPWINTOTALSEGMENTS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5"/>
  <p:tag name="PPWINSEGMENT1SOURCERTF" val="{\rtf1\ansi\deff0{\fonttbl{\f0\fcharset0 Arial Narrow;}}{\colortbl\red0\green0\blue0;}{\f0\fs60\b\cf0 Authentication and Accounting Logging\par}}"/>
  <p:tag name="PPWINSEGMENT1TARGETRTF" val="{\rtf1\ansi\deff1{\fonttbl{\f1\fcharset0 Arial;}{\f2\fcharset0 Arial Narrow;}}{\colortbl\red0\green0\blue0;}{\f2\fs60\b\cf0 Enregistrement de l'authentification et de la gestion des comptes\par}}"/>
  <p:tag name="PPWINLASTSAVEDTRANSLATION" val="Enregistrement de l'authentification et de la gestion des comptes"/>
  <p:tag name="PPWINALREADYSEGMENTED" val="True"/>
  <p:tag name="PPWINTOTALSEGMENTS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74"/>
  <p:tag name="PPWINSEGMENT1SOURCERTF" val="{\rtf1\ansi\deff0{\fonttbl{\f0\fcharset0 Arial Narrow;}}{\colortbl\red0\green0\blue0;}{\f0\fs40\b\i\cf0 Authentication and accounting logging}{\f0\fs40\b\cf0  is a process that records detailed information about remote access connection requests\par}}"/>
  <p:tag name="PPWINSEGMENT1TARGETRTF" val="{\rtf1\ansi\deff1{\fonttbl{\f1\fcharset0 Arial;}{\f2\fcharset0 Arial Narrow;}}{\colortbl\red0\green0\blue0;}{\f2\fs40\b\cf0 L'}{\f2\fs40\b\i\cf0 enregistrement de l'authentification et de la gestion des comptes }{\f2\fs40\b\cf0 est un processus qui enregistre des informations d\'E9taill\'E9es sur les requ\'EAtes de connexion d'acc\'E8s distant.\par}}"/>
  <p:tag name="PPWINLASTSAVEDTRANSLATION" val="L'enregistrement de l'authentification et de la gestion des comptes est un processus qui enregistre des informations détaillées sur les requêtes de connexion d'accès distant."/>
  <p:tag name="PPWINALREADYSEGMENTED" val="True"/>
  <p:tag name="PPWINTOTALSEGMENTS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7"/>
  <p:tag name="PPWINSEGMENT1SOURCERTF" val="{\rtf1\ansi\deff0{\fonttbl{\f0\fcharset0 Arial Narrow;}}{\colortbl\red0\green0\blue0;}{\f0\fs48\b\cf0 Use authentication and accounting information to:\par}}"/>
  <p:tag name="PPWINSEGMENT1TARGETRTF" val="{\rtf1\ansi\deff1{\fonttbl{\f1\fcharset0 Arial;}{\f2\fcharset0 Arial Narrow;}}{\colortbl\red0\green0\blue0;}{\f2\fs48\b\cf0 Utilisez les informations d'authentification et de gestion des comptes pour :\par}}"/>
  <p:tag name="PPWINLASTSAVEDTRANSLATION" val="Utilisez les informations d'authentification et de gestion des comptes pour :"/>
  <p:tag name="PPWINALREADYSEGMENTED" val="True"/>
  <p:tag name="PPWINTOTALSEGMENTS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81"/>
  <p:tag name="PPWINSEGMENT1SOURCERTF" val="{\rtf1\ansi\deff0{\fonttbl{\f0\fcharset0 Arial Narrow;}}{\colortbl\red0\green0\blue0;}{\f0\fs44\b\cf0 Track remote access usage and authentication attempts \par}}"/>
  <p:tag name="PPWINSEGMENT1TARGETRTF" val="{\rtf1\ansi\deff1{\fonttbl{\f1\fcharset0 Arial;}{\f2\fcharset0 Arial Narrow;}}{\colortbl\red0\green0\blue0;}{\f2\fs44\b\cf0 Faire le suivi de l'usage de l'acc\'E8s distant et des tentatives d'authentification\par}}"/>
  <p:tag name="PPWINSEGMENT2START" val="83"/>
  <p:tag name="PPWINSEGMENT2LENGTH" val="55"/>
  <p:tag name="PPWINSEGMENT2SOURCERTF" val="{\rtf1\ansi\deff0{\fonttbl{\f0\fcharset0 Arial Narrow;}}{\colortbl\red0\green0\blue0;}{\f0\fs44\b\cf0 Maintain records for billing purposes \par}}"/>
  <p:tag name="PPWINSEGMENT2TARGETRTF" val="{\rtf1\ansi\deff1{\fonttbl{\f1\fcharset0 Arial;}{\f2\fcharset0 Arial Narrow;}}{\colortbl\red0\green0\blue0;}{\f2\fs44\b\cf0 Conserver des enregistrements \'E0 des fins de facturation\par}}"/>
  <p:tag name="PPWINSEGMENT3START" val="139"/>
  <p:tag name="PPWINSEGMENT3LENGTH" val="49"/>
  <p:tag name="PPWINSEGMENT3SOURCERTF" val="{\rtf1\ansi\deff0{\fonttbl{\f0\fcharset0 Arial Narrow;}}{\colortbl\red0\green0\blue0;}{\f0\fs44\b\cf0 Isolate remote access policy issues\par}}"/>
  <p:tag name="PPWINSEGMENT3TARGETRTF" val="{\rtf1\ansi\deff1{\fonttbl{\f1\fcharset0 Arial;}{\f2\fcharset0 Arial Narrow;}}{\colortbl\red0\green0\blue0;}{\f2\fs44\b\cf0 Isoler des probl\'E8mes de strat\'E9gie d'acc\'E8s distant\par}}"/>
  <p:tag name="PPWINLASTSAVEDTRANSLATION" val="Faire le suivi de l'usage de l'accès distant et des tentatives d'authentification&#10;Conserver des enregistrements à des fins de facturation&#10;Isoler des problèmes de stratégie d'accès distant"/>
  <p:tag name="PPWINALREADYSEGMENTED" val="True"/>
  <p:tag name="PPWINTOTALSEGMENTS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9"/>
  <p:tag name="PPWINSEGMENT1SOURCERTF" val="{\rtf1\ansi\deff0{\fonttbl{\f0\fcharset0 Arial Narrow;}}{\colortbl\red0\green0\blue0;}{\f0\fs60\b\cf0 Log Files for Specific Connections\par}}"/>
  <p:tag name="PPWINSEGMENT1TARGETRTF" val="{\rtf1\ansi\deff1{\fonttbl{\f1\fcharset0 Arial;}{\f2\fcharset0 Arial Narrow;}}{\colortbl\red0\green0\blue0;}{\f2\fs60\b\cf0 Fichiers journaux pour des connexions sp\'E9cifiques\par}}"/>
  <p:tag name="PPWINLASTSAVEDTRANSLATION" val="Fichiers journaux pour des connexions spécifiques"/>
  <p:tag name="PPWINALREADYSEGMENTED" val="True"/>
  <p:tag name="PPWINTOTALSEGMENTS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46"/>
  <p:tag name="PPWINSEGMENT2SOURCERTF" val="{\rtf1\ansi\deff0{\fonttbl{\f0\fcharset0 Arial Narrow;}}{\colortbl\red0\green0\blue0;}{\f0\fs60\b\cf0 Collecting and Monitoring Network Access Data\par}}"/>
  <p:tag name="PPWINSEGMENT2TARGETRTF" val="{\rtf1\ansi\deff1{\fonttbl{\f1\fcharset0 Arial;}{\f2\fcharset0 Arial Narrow;}}{\colortbl\red0\green0\blue0;}{\f2\fs60\b\cf0 Collecte et analyse des donn\'E9es d'acc\'E8s r\'E9seau\par}}"/>
  <p:tag name="PPWINLASTSAVEDTRANSLATION" val="Leçon : Collecte et analyse des données d'accès réseau"/>
  <p:tag name="PPWINALREADYSEGMENTED" val="True"/>
  <p:tag name="PPWINTOTALSEGMENTS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7"/>
  <p:tag name="PPWINSEGMENT1SOURCERTF" val="{\rtf1\ansi\deff0{\fonttbl{\f0\fcharset0 Arial Narrow;}}{\colortbl\red0\green0\blue0;}{\f0\fs48\b\cf0 Why Collect Performance Data?\par}}"/>
  <p:tag name="PPWINSEGMENT1TARGETRTF" val="{\rtf1\ansi\deff1{\fonttbl{\f1\fcharset0 Arial;}{\f2\fcharset0 Arial Narrow;}}{\colortbl\red0\green0\blue0;}{\f2\fs48\b\cf0 Pourquoi collecter des donn\'E9es de performance ?\par}}"/>
  <p:tag name="PPWINSEGMENT2START" val="50"/>
  <p:tag name="PPWINSEGMENT2LENGTH" val="45"/>
  <p:tag name="PPWINSEGMENT2SOURCERTF" val="{\rtf1\ansi\deff0{\fonttbl{\f0\fcharset0 Arial Narrow;}}{\colortbl\red0\green0\blue0;}{\f0\fs48\b\cf0 Tools for Collecting Network Access Data \par}}"/>
  <p:tag name="PPWINSEGMENT2TARGETRTF" val="{\rtf1\ansi\deff1{\fonttbl{\f1\fcharset0 Arial;}{\f2\fcharset0 Arial Narrow;}}{\colortbl\red0\green0\blue0;}{\f2\fs48\b\cf0 Outils de collecte des donn\'E9es d'acc\'E8s r\'E9seau\par}}"/>
  <p:tag name="PPWINSEGMENT3START" val="96"/>
  <p:tag name="PPWINSEGMENT3LENGTH" val="43"/>
  <p:tag name="PPWINSEGMENT3SOURCERTF" val="{\rtf1\ansi\deff0{\fonttbl{\f0\fcharset0 Arial Narrow;}}{\colortbl\red0\green0\blue0;}{\f0\fs48\b\cf0 How to Monitor Wireless Network Activity \par}}"/>
  <p:tag name="PPWINSEGMENT3TARGETRTF" val="{\rtf1\ansi\deff1{\fonttbl{\f1\fcharset0 Arial;}{\f2\fcharset0 Arial Narrow;}}{\colortbl\red0\green0\blue0;}{\f2\fs48\b\cf0 Comment analyser l'activit\'E9 r\'E9seau sans fil\par}}"/>
  <p:tag name="PPWINLASTSAVEDTRANSLATION" val="Pourquoi collecter des données de performance ? &#10;Outils de collecte des données d'accès réseau&#10;Comment analyser l'activité réseau sans fil"/>
  <p:tag name="PPWINALREADYSEGMENTED" val="True"/>
  <p:tag name="PPWINTOTALSEGMENTS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7"/>
  <p:tag name="PPWINSEGMENT1SOURCERTF" val="{\rtf1\ansi\deff0{\fonttbl{\f0\fcharset0 Arial Narrow;}}{\colortbl\red0\green0\blue0;}{\f0\fs60\b\cf0 Why Collect Performance Data?\par}}"/>
  <p:tag name="PPWINSEGMENT1TARGETRTF" val="{\rtf1\ansi\deff1{\fonttbl{\f1\fcharset0 Arial;}{\f2\fcharset0 Arial Narrow;}}{\colortbl\red0\green0\blue0;}{\f2\fs60\b\cf0 Pourquoi collecter des donn\'E9es de performance ?\par}}"/>
  <p:tag name="PPWINLASTSAVEDTRANSLATION" val="Pourquoi collecter des données de performance ?"/>
  <p:tag name="PPWINALREADYSEGMENTED" val="True"/>
  <p:tag name="PPWINTOTALSEGMENTS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3"/>
  <p:tag name="PPWINSEGMENT1SOURCERTF" val="{\rtf1\ansi\deff0{\fonttbl{\f0\fcharset0 Arial Narrow;}}{\colortbl\red0\green0\blue0;}{\f0\fs48\b\cf0 Collect performance data to:\par}}"/>
  <p:tag name="PPWINSEGMENT1TARGETRTF" val="{\rtf1\ansi\deff1{\fonttbl{\f1\fcharset0 Arial;}{\f2\fcharset0 Arial Narrow;}}{\colortbl\red0\green0\blue0;}{\f2\fs48\b\cf0 Collectez des donn\'E9es de performance pour :\par}}"/>
  <p:tag name="PPWINLASTSAVEDTRANSLATION" val="Collectez des données de performance pour :"/>
  <p:tag name="PPWINALREADYSEGMENTED" val="True"/>
  <p:tag name="PPWINTOTALSEGMENTS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7"/>
  <p:tag name="PPWINSEGMENT1SOURCERTF" val="{\rtf1\ansi\deff0{\fonttbl{\f0\fcharset0 Arial Narrow;}}{\colortbl\red0\green0\blue0;}{\f0\fs48\b\cf0 Evaluate the workload of your server and the effect on resources\par}}"/>
  <p:tag name="PPWINSEGMENT1TARGETRTF" val="{\rtf1\ansi\deff1{\fonttbl{\f1\fcharset0 Arial;}{\f2\fcharset0 Arial Narrow;}}{\colortbl\red0\green0\blue0;}{\f2\fs48\b\cf0 \'C9valuer la charge de travail sur votre serveur et l'impact sur les ressources\par}}"/>
  <p:tag name="PPWINSEGMENT2START" val="79"/>
  <p:tag name="PPWINSEGMENT2LENGTH" val="65"/>
  <p:tag name="PPWINSEGMENT2SOURCERTF" val="{\rtf1\ansi\deff0{\fonttbl{\f0\fcharset0 Arial Narrow;}}{\colortbl\red0\green0\blue0;}{\f0\fs48\b\cf0 Observe changes and trends in workloads\par}}"/>
  <p:tag name="PPWINSEGMENT2TARGETRTF" val="{\rtf1\ansi\deff1{\fonttbl{\f1\fcharset0 Arial;}{\f2\fcharset0 Arial Narrow;}}{\colortbl\red0\green0\blue0;}{\f2\fs48\b\cf0 Observer les changements et les tendances de la charge de travail\par}}"/>
  <p:tag name="PPWINSEGMENT3START" val="145"/>
  <p:tag name="PPWINSEGMENT3LENGTH" val="40"/>
  <p:tag name="PPWINSEGMENT3SOURCERTF" val="{\rtf1\ansi\deff0{\fonttbl{\f0\fcharset0 Arial Narrow;}}{\colortbl\red0\green0\blue0;}{\f0\fs48\b\cf0 Track resource usage \par}}"/>
  <p:tag name="PPWINSEGMENT3TARGETRTF" val="{\rtf1\ansi\deff1{\fonttbl{\f1\fcharset0 Arial;}{\f2\fcharset0 Arial Narrow;}}{\colortbl\red0\green0\blue0;}{\f2\fs48\b\cf0 Faire le suivi de l'usage des ressources\par}}"/>
  <p:tag name="PPWINSEGMENT4START" val="186"/>
  <p:tag name="PPWINSEGMENT4LENGTH" val="62"/>
  <p:tag name="PPWINSEGMENT4SOURCERTF" val="{\rtf1\ansi\deff0{\fonttbl{\f0\fcharset0 Arial Narrow;}}{\colortbl\red0\green0\blue0;}{\f0\fs48\b\cf0 Test configuration changes or other tuning efforts\par}}"/>
  <p:tag name="PPWINSEGMENT4TARGETRTF" val="{\rtf1\ansi\deff1{\fonttbl{\f1\fcharset0 Arial;}{\f2\fcharset0 Arial Narrow;}}{\colortbl\red0\green0\blue0;}{\f2\fs48\b\cf0 Tester des modifications de configuration ou d'autres r\'E9glages\par}}"/>
  <p:tag name="PPWINSEGMENT5START" val="249"/>
  <p:tag name="PPWINSEGMENT5LENGTH" val="20"/>
  <p:tag name="PPWINSEGMENT5SOURCERTF" val="{\rtf1\ansi\deff0{\fonttbl{\f0\fcharset0 Arial Narrow;}}{\colortbl\red0\green0\blue0;}{\f0\fs48\b\cf0 Isolate problems \par}}"/>
  <p:tag name="PPWINSEGMENT5TARGETRTF" val="{\rtf1\ansi\deff1{\fonttbl{\f1\fcharset0 Arial;}{\f2\fcharset0 Arial Narrow;}}{\colortbl\red0\green0\blue0;}{\f2\fs48\b\cf0 Isoler des probl\'E8mes\par}}"/>
  <p:tag name="PPWINSEGMENT6START" val="270"/>
  <p:tag name="PPWINSEGMENT6LENGTH" val="38"/>
  <p:tag name="PPWINSEGMENT6SOURCERTF" val="{\rtf1\ansi\deff0{\fonttbl{\f0\fcharset0 Arial Narrow;}}{\colortbl\red0\green0\blue0;}{\f0\fs48\b\cf0 Target components or processes\par}}"/>
  <p:tag name="PPWINSEGMENT6TARGETRTF" val="{\rtf1\ansi\deff1{\fonttbl{\f1\fcharset0 Arial;}{\f2\fcharset0 Arial Narrow;}}{\colortbl\red0\green0\blue0;}{\f2\fs48\b\cf0 Cibler des composants ou des processus\par}}"/>
  <p:tag name="PPWINLASTSAVEDTRANSLATION" val="Évaluer la charge de travail sur votre serveur et l'impact sur les ressources&#10;Observer les changements et les tendances de la charge de travail&#10;Faire le suivi de l'usage des ressources&#10;Tester des modifications de configuration ou d'autres réglages&#10;Isoler des problèmes&#10;Cibler des composants ou des processus"/>
  <p:tag name="PPWINALREADYSEGMENTED" val="True"/>
  <p:tag name="PPWINTOTALSEGMENTS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5"/>
  <p:tag name="PPWINSEGMENT1SOURCERTF" val="{\rtf1\ansi\deff0{\fonttbl{\f0\fcharset0 Arial Narrow;}}{\colortbl\red0\green0\blue0;}{\f0\fs60\b\cf0 Tools for Collecting Network Access Data\par}}"/>
  <p:tag name="PPWINSEGMENT1TARGETRTF" val="{\rtf1\ansi\deff1{\fonttbl{\f1\fcharset0 Arial;}{\f2\fcharset0 Arial Narrow;}}{\colortbl\red0\green0\blue0;}{\f2\fs60\b\cf0 Outils de collecte des donn\'E9es d'acc\'E8s r\'E9seau\par}}"/>
  <p:tag name="PPWINLASTSAVEDTRANSLATION" val="Outils de collecte des données d'accès réseau"/>
  <p:tag name="PPWINALREADYSEGMENTED" val="True"/>
  <p:tag name="PPWINTOTALSEGMENTS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2815</TotalTime>
  <Words>545</Words>
  <Application>Microsoft PowerPoint</Application>
  <PresentationFormat>Affichage à l'écran (4:3)</PresentationFormat>
  <Paragraphs>104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Civil</vt:lpstr>
      <vt:lpstr>Chapitre 10   Gestion et analyse de l'accès réseau</vt:lpstr>
      <vt:lpstr>Plan du cours</vt:lpstr>
      <vt:lpstr>1. Gestion des services d'accès réseau</vt:lpstr>
      <vt:lpstr>Instructions relatives à la gestion des services d'accès réseau</vt:lpstr>
      <vt:lpstr>Comment gérer les clients d'accès distant</vt:lpstr>
      <vt:lpstr>2. Configuration de l'enregistrement sur un serveur d'accès réseau</vt:lpstr>
      <vt:lpstr>Types d'enregistrements du service Routage et accès distant</vt:lpstr>
      <vt:lpstr>Enregistrement de l'authentification et de la gestion des comptes</vt:lpstr>
      <vt:lpstr>Fichiers journaux pour des connexions spécifiques</vt:lpstr>
      <vt:lpstr>3. Collecte et analyse des données d'accès réseau</vt:lpstr>
      <vt:lpstr>Pourquoi collecter des données de performance ?</vt:lpstr>
      <vt:lpstr>Outils de collecte des données d'accès réseau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Managing and Monitoring Network Access</dc:title>
  <dc:creator>Brenna Calnan</dc:creator>
  <cp:lastModifiedBy>Halima</cp:lastModifiedBy>
  <cp:revision>192</cp:revision>
  <dcterms:created xsi:type="dcterms:W3CDTF">2003-01-21T17:55:24Z</dcterms:created>
  <dcterms:modified xsi:type="dcterms:W3CDTF">2016-01-19T21:17:09Z</dcterms:modified>
</cp:coreProperties>
</file>