
<file path=[Content_Types].xml><?xml version="1.0" encoding="utf-8"?>
<Types xmlns="http://schemas.openxmlformats.org/package/2006/content-types"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104.xml" ContentType="application/vnd.openxmlformats-officedocument.presentationml.tags+xml"/>
  <Override PartName="/ppt/tags/tag140.xml" ContentType="application/vnd.openxmlformats-officedocument.presentationml.tags+xml"/>
  <Override PartName="/ppt/tags/tag151.xml" ContentType="application/vnd.openxmlformats-officedocument.presentationml.tags+xml"/>
  <Override PartName="/ppt/slideLayouts/slideLayout2.xml" ContentType="application/vnd.openxmlformats-officedocument.presentationml.slideLayout+xml"/>
  <Override PartName="/ppt/tags/tag49.xml" ContentType="application/vnd.openxmlformats-officedocument.presentationml.tags+xml"/>
  <Override PartName="/ppt/tags/tag96.xml" ContentType="application/vnd.openxmlformats-officedocument.presentationml.tags+xml"/>
  <Override PartName="/ppt/tags/tag205.xml" ContentType="application/vnd.openxmlformats-officedocument.presentationml.tags+xml"/>
  <Override PartName="/ppt/tags/tag216.xml" ContentType="application/vnd.openxmlformats-officedocument.presentationml.tag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38.xml" ContentType="application/vnd.openxmlformats-officedocument.presentationml.tags+xml"/>
  <Override PartName="/ppt/tags/tag85.xml" ContentType="application/vnd.openxmlformats-officedocument.presentationml.tags+xml"/>
  <Override PartName="/ppt/notesSlides/notesSlide16.xml" ContentType="application/vnd.openxmlformats-officedocument.presentationml.notesSlide+xml"/>
  <Override PartName="/ppt/tags/tag189.xml" ContentType="application/vnd.openxmlformats-officedocument.presentationml.tags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tags/tag63.xml" ContentType="application/vnd.openxmlformats-officedocument.presentationml.tags+xml"/>
  <Override PartName="/ppt/tags/tag74.xml" ContentType="application/vnd.openxmlformats-officedocument.presentationml.tags+xml"/>
  <Override PartName="/ppt/tags/tag178.xml" ContentType="application/vnd.openxmlformats-officedocument.presentationml.tags+xml"/>
  <Override PartName="/ppt/tags/tag52.xml" ContentType="application/vnd.openxmlformats-officedocument.presentationml.tags+xml"/>
  <Override PartName="/ppt/tags/tag109.xml" ContentType="application/vnd.openxmlformats-officedocument.presentationml.tags+xml"/>
  <Override PartName="/ppt/tags/tag156.xml" ContentType="application/vnd.openxmlformats-officedocument.presentationml.tags+xml"/>
  <Override PartName="/ppt/tags/tag167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tags/tag145.xml" ContentType="application/vnd.openxmlformats-officedocument.presentationml.tags+xml"/>
  <Override PartName="/ppt/tags/tag192.xml" ContentType="application/vnd.openxmlformats-officedocument.presentationml.tags+xml"/>
  <Override PartName="/ppt/tags/tag30.xml" ContentType="application/vnd.openxmlformats-officedocument.presentationml.tags+xml"/>
  <Override PartName="/ppt/tags/tag134.xml" ContentType="application/vnd.openxmlformats-officedocument.presentationml.tags+xml"/>
  <Override PartName="/ppt/tags/tag181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ags/tag112.xml" ContentType="application/vnd.openxmlformats-officedocument.presentationml.tags+xml"/>
  <Override PartName="/ppt/tags/tag123.xml" ContentType="application/vnd.openxmlformats-officedocument.presentationml.tags+xml"/>
  <Override PartName="/ppt/tags/tag170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79.xml" ContentType="application/vnd.openxmlformats-officedocument.presentationml.tags+xml"/>
  <Override PartName="/ppt/tags/tag101.xml" ContentType="application/vnd.openxmlformats-officedocument.presentationml.tags+xml"/>
  <Default Extension="emf" ContentType="image/x-emf"/>
  <Override PartName="/ppt/tags/tag68.xml" ContentType="application/vnd.openxmlformats-officedocument.presentationml.tags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tags/tag57.xml" ContentType="application/vnd.openxmlformats-officedocument.presentationml.tags+xml"/>
  <Override PartName="/ppt/tags/tag213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tags/tag35.xml" ContentType="application/vnd.openxmlformats-officedocument.presentationml.tags+xml"/>
  <Override PartName="/ppt/tags/tag46.xml" ContentType="application/vnd.openxmlformats-officedocument.presentationml.tags+xml"/>
  <Override PartName="/ppt/notesSlides/notesSlide13.xml" ContentType="application/vnd.openxmlformats-officedocument.presentationml.notesSlide+xml"/>
  <Override PartName="/ppt/tags/tag82.xml" ContentType="application/vnd.openxmlformats-officedocument.presentationml.tags+xml"/>
  <Override PartName="/ppt/tags/tag93.xml" ContentType="application/vnd.openxmlformats-officedocument.presentationml.tags+xml"/>
  <Override PartName="/ppt/tags/tag139.xml" ContentType="application/vnd.openxmlformats-officedocument.presentationml.tags+xml"/>
  <Override PartName="/ppt/tags/tag186.xml" ContentType="application/vnd.openxmlformats-officedocument.presentationml.tags+xml"/>
  <Override PartName="/ppt/tags/tag197.xml" ContentType="application/vnd.openxmlformats-officedocument.presentationml.tags+xml"/>
  <Override PartName="/ppt/tags/tag202.xml" ContentType="application/vnd.openxmlformats-officedocument.presentationml.tags+xml"/>
  <Override PartName="/ppt/slideLayouts/slideLayout10.xml" ContentType="application/vnd.openxmlformats-officedocument.presentationml.slideLayout+xml"/>
  <Override PartName="/ppt/tags/tag24.xml" ContentType="application/vnd.openxmlformats-officedocument.presentationml.tags+xml"/>
  <Override PartName="/ppt/tags/tag71.xml" ContentType="application/vnd.openxmlformats-officedocument.presentationml.tags+xml"/>
  <Override PartName="/ppt/tags/tag128.xml" ContentType="application/vnd.openxmlformats-officedocument.presentationml.tags+xml"/>
  <Override PartName="/ppt/tags/tag175.xml" ContentType="application/vnd.openxmlformats-officedocument.presentationml.tags+xml"/>
  <Override PartName="/ppt/tags/tag13.xml" ContentType="application/vnd.openxmlformats-officedocument.presentationml.tags+xml"/>
  <Override PartName="/ppt/tags/tag60.xml" ContentType="application/vnd.openxmlformats-officedocument.presentationml.tags+xml"/>
  <Override PartName="/ppt/tags/tag117.xml" ContentType="application/vnd.openxmlformats-officedocument.presentationml.tags+xml"/>
  <Override PartName="/ppt/tags/tag164.xml" ContentType="application/vnd.openxmlformats-officedocument.presentationml.tags+xml"/>
  <Override PartName="/ppt/notesSlides/notesSlide4.xml" ContentType="application/vnd.openxmlformats-officedocument.presentationml.notesSlide+xml"/>
  <Override PartName="/ppt/tags/tag106.xml" ContentType="application/vnd.openxmlformats-officedocument.presentationml.tags+xml"/>
  <Override PartName="/ppt/tags/tag142.xml" ContentType="application/vnd.openxmlformats-officedocument.presentationml.tags+xml"/>
  <Override PartName="/ppt/tags/tag153.xml" ContentType="application/vnd.openxmlformats-officedocument.presentationml.tags+xml"/>
  <Override PartName="/ppt/tags/tag131.xml" ContentType="application/vnd.openxmlformats-officedocument.presentationml.tags+xml"/>
  <Override PartName="/ppt/slideLayouts/slideLayout4.xml" ContentType="application/vnd.openxmlformats-officedocument.presentationml.slideLayout+xml"/>
  <Override PartName="/ppt/tags/tag98.xml" ContentType="application/vnd.openxmlformats-officedocument.presentationml.tags+xml"/>
  <Override PartName="/ppt/tags/tag120.xml" ContentType="application/vnd.openxmlformats-officedocument.presentationml.tags+xml"/>
  <Override PartName="/ppt/tags/tag207.xml" ContentType="application/vnd.openxmlformats-officedocument.presentationml.tags+xml"/>
  <Override PartName="/ppt/tags/tag218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ags/tag2.xml" ContentType="application/vnd.openxmlformats-officedocument.presentationml.tags+xml"/>
  <Override PartName="/ppt/tags/tag58.xml" ContentType="application/vnd.openxmlformats-officedocument.presentationml.tags+xml"/>
  <Override PartName="/ppt/tags/tag69.xml" ContentType="application/vnd.openxmlformats-officedocument.presentationml.tags+xml"/>
  <Override PartName="/ppt/tags/tag87.xml" ContentType="application/vnd.openxmlformats-officedocument.presentationml.tags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tags/tag29.xml" ContentType="application/vnd.openxmlformats-officedocument.presentationml.tags+xml"/>
  <Override PartName="/ppt/tags/tag47.xml" ContentType="application/vnd.openxmlformats-officedocument.presentationml.tags+xml"/>
  <Override PartName="/ppt/tags/tag76.xml" ContentType="application/vnd.openxmlformats-officedocument.presentationml.tags+xml"/>
  <Override PartName="/ppt/tags/tag94.xml" ContentType="application/vnd.openxmlformats-officedocument.presentationml.tags+xml"/>
  <Override PartName="/ppt/tags/tag198.xml" ContentType="application/vnd.openxmlformats-officedocument.presentationml.tags+xml"/>
  <Override PartName="/ppt/tags/tag203.xml" ContentType="application/vnd.openxmlformats-officedocument.presentationml.tags+xml"/>
  <Override PartName="/ppt/tags/tag214.xml" ContentType="application/vnd.openxmlformats-officedocument.presentationml.tags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tags/tag18.xml" ContentType="application/vnd.openxmlformats-officedocument.presentationml.tags+xml"/>
  <Override PartName="/ppt/tags/tag36.xml" ContentType="application/vnd.openxmlformats-officedocument.presentationml.tags+xml"/>
  <Override PartName="/ppt/tags/tag54.xml" ContentType="application/vnd.openxmlformats-officedocument.presentationml.tags+xml"/>
  <Override PartName="/ppt/tags/tag65.xml" ContentType="application/vnd.openxmlformats-officedocument.presentationml.tags+xml"/>
  <Override PartName="/ppt/notesSlides/notesSlide14.xml" ContentType="application/vnd.openxmlformats-officedocument.presentationml.notesSlide+xml"/>
  <Override PartName="/ppt/tags/tag83.xml" ContentType="application/vnd.openxmlformats-officedocument.presentationml.tags+xml"/>
  <Override PartName="/ppt/tags/tag158.xml" ContentType="application/vnd.openxmlformats-officedocument.presentationml.tags+xml"/>
  <Override PartName="/ppt/tags/tag169.xml" ContentType="application/vnd.openxmlformats-officedocument.presentationml.tags+xml"/>
  <Override PartName="/ppt/tags/tag187.xml" ContentType="application/vnd.openxmlformats-officedocument.presentationml.tags+xml"/>
  <Override PartName="/ppt/tags/tag210.xml" ContentType="application/vnd.openxmlformats-officedocument.presentationml.tags+xml"/>
  <Override PartName="/ppt/commentAuthors.xml" ContentType="application/vnd.openxmlformats-officedocument.presentationml.commentAuthor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notesSlides/notesSlide9.xml" ContentType="application/vnd.openxmlformats-officedocument.presentationml.notesSlide+xml"/>
  <Override PartName="/ppt/tags/tag43.xml" ContentType="application/vnd.openxmlformats-officedocument.presentationml.tags+xml"/>
  <Override PartName="/ppt/tags/tag61.xml" ContentType="application/vnd.openxmlformats-officedocument.presentationml.tags+xml"/>
  <Override PartName="/ppt/tags/tag72.xml" ContentType="application/vnd.openxmlformats-officedocument.presentationml.tags+xml"/>
  <Override PartName="/ppt/tags/tag90.xml" ContentType="application/vnd.openxmlformats-officedocument.presentationml.tags+xml"/>
  <Override PartName="/ppt/tags/tag118.xml" ContentType="application/vnd.openxmlformats-officedocument.presentationml.tags+xml"/>
  <Override PartName="/ppt/tags/tag129.xml" ContentType="application/vnd.openxmlformats-officedocument.presentationml.tags+xml"/>
  <Override PartName="/ppt/tags/tag147.xml" ContentType="application/vnd.openxmlformats-officedocument.presentationml.tags+xml"/>
  <Override PartName="/ppt/tags/tag165.xml" ContentType="application/vnd.openxmlformats-officedocument.presentationml.tags+xml"/>
  <Override PartName="/ppt/tags/tag176.xml" ContentType="application/vnd.openxmlformats-officedocument.presentationml.tags+xml"/>
  <Override PartName="/ppt/tags/tag194.xml" ContentType="application/vnd.openxmlformats-officedocument.presentationml.tags+xml"/>
  <Override PartName="/ppt/notesSlides/notesSlide21.xml" ContentType="application/vnd.openxmlformats-officedocument.presentationml.notesSlide+xml"/>
  <Override PartName="/ppt/tags/tag32.xml" ContentType="application/vnd.openxmlformats-officedocument.presentationml.tags+xml"/>
  <Override PartName="/ppt/notesSlides/notesSlide10.xml" ContentType="application/vnd.openxmlformats-officedocument.presentationml.notesSlide+xml"/>
  <Override PartName="/ppt/tags/tag50.xml" ContentType="application/vnd.openxmlformats-officedocument.presentationml.tags+xml"/>
  <Override PartName="/ppt/tags/tag107.xml" ContentType="application/vnd.openxmlformats-officedocument.presentationml.tags+xml"/>
  <Override PartName="/ppt/tags/tag136.xml" ContentType="application/vnd.openxmlformats-officedocument.presentationml.tags+xml"/>
  <Override PartName="/ppt/tags/tag154.xml" ContentType="application/vnd.openxmlformats-officedocument.presentationml.tags+xml"/>
  <Override PartName="/ppt/tags/tag183.xml" ContentType="application/vnd.openxmlformats-officedocument.presentationml.tag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tags/tag114.xml" ContentType="application/vnd.openxmlformats-officedocument.presentationml.tags+xml"/>
  <Override PartName="/ppt/tags/tag125.xml" ContentType="application/vnd.openxmlformats-officedocument.presentationml.tags+xml"/>
  <Override PartName="/ppt/tags/tag143.xml" ContentType="application/vnd.openxmlformats-officedocument.presentationml.tags+xml"/>
  <Override PartName="/ppt/tags/tag161.xml" ContentType="application/vnd.openxmlformats-officedocument.presentationml.tags+xml"/>
  <Override PartName="/ppt/tags/tag172.xml" ContentType="application/vnd.openxmlformats-officedocument.presentationml.tags+xml"/>
  <Override PartName="/ppt/tags/tag190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103.xml" ContentType="application/vnd.openxmlformats-officedocument.presentationml.tags+xml"/>
  <Override PartName="/ppt/tags/tag132.xml" ContentType="application/vnd.openxmlformats-officedocument.presentationml.tags+xml"/>
  <Override PartName="/ppt/tags/tag150.xml" ContentType="application/vnd.openxmlformats-officedocument.presentationml.tags+xml"/>
  <Override PartName="/ppt/tags/tag219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tags/tag99.xml" ContentType="application/vnd.openxmlformats-officedocument.presentationml.tags+xml"/>
  <Override PartName="/ppt/notesSlides/notesSlide19.xml" ContentType="application/vnd.openxmlformats-officedocument.presentationml.notesSlide+xml"/>
  <Override PartName="/ppt/tags/tag110.xml" ContentType="application/vnd.openxmlformats-officedocument.presentationml.tags+xml"/>
  <Override PartName="/ppt/tags/tag121.xml" ContentType="application/vnd.openxmlformats-officedocument.presentationml.tags+xml"/>
  <Override PartName="/ppt/tags/tag208.xml" ContentType="application/vnd.openxmlformats-officedocument.presentationml.tags+xml"/>
  <Override PartName="/ppt/slides/slide24.xml" ContentType="application/vnd.openxmlformats-officedocument.presentationml.slide+xml"/>
  <Default Extension="jpeg" ContentType="image/jpeg"/>
  <Override PartName="/ppt/tags/tag3.xml" ContentType="application/vnd.openxmlformats-officedocument.presentationml.tags+xml"/>
  <Override PartName="/ppt/tags/tag59.xml" ContentType="application/vnd.openxmlformats-officedocument.presentationml.tags+xml"/>
  <Override PartName="/ppt/tags/tag77.xml" ContentType="application/vnd.openxmlformats-officedocument.presentationml.tags+xml"/>
  <Override PartName="/ppt/tags/tag88.xml" ContentType="application/vnd.openxmlformats-officedocument.presentationml.tags+xml"/>
  <Override PartName="/ppt/tags/tag215.xml" ContentType="application/vnd.openxmlformats-officedocument.presentationml.tags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9.xml" ContentType="application/vnd.openxmlformats-officedocument.presentationml.tags+xml"/>
  <Override PartName="/ppt/tags/tag37.xml" ContentType="application/vnd.openxmlformats-officedocument.presentationml.tags+xml"/>
  <Override PartName="/ppt/tags/tag48.xml" ContentType="application/vnd.openxmlformats-officedocument.presentationml.tags+xml"/>
  <Override PartName="/ppt/tags/tag66.xml" ContentType="application/vnd.openxmlformats-officedocument.presentationml.tags+xml"/>
  <Override PartName="/ppt/tags/tag84.xml" ContentType="application/vnd.openxmlformats-officedocument.presentationml.tags+xml"/>
  <Override PartName="/ppt/tags/tag95.xml" ContentType="application/vnd.openxmlformats-officedocument.presentationml.tags+xml"/>
  <Override PartName="/ppt/notesSlides/notesSlide15.xml" ContentType="application/vnd.openxmlformats-officedocument.presentationml.notesSlide+xml"/>
  <Override PartName="/ppt/tags/tag188.xml" ContentType="application/vnd.openxmlformats-officedocument.presentationml.tags+xml"/>
  <Override PartName="/ppt/tags/tag199.xml" ContentType="application/vnd.openxmlformats-officedocument.presentationml.tags+xml"/>
  <Override PartName="/ppt/tags/tag204.xml" ContentType="application/vnd.openxmlformats-officedocument.presentationml.tags+xml"/>
  <Override PartName="/ppt/slides/slide20.xml" ContentType="application/vnd.openxmlformats-officedocument.presentationml.slide+xml"/>
  <Override PartName="/ppt/tags/tag26.xml" ContentType="application/vnd.openxmlformats-officedocument.presentationml.tags+xml"/>
  <Override PartName="/ppt/tags/tag55.xml" ContentType="application/vnd.openxmlformats-officedocument.presentationml.tags+xml"/>
  <Override PartName="/ppt/tags/tag73.xml" ContentType="application/vnd.openxmlformats-officedocument.presentationml.tags+xml"/>
  <Override PartName="/ppt/tags/tag159.xml" ContentType="application/vnd.openxmlformats-officedocument.presentationml.tags+xml"/>
  <Override PartName="/ppt/tags/tag177.xml" ContentType="application/vnd.openxmlformats-officedocument.presentationml.tags+xml"/>
  <Override PartName="/ppt/tags/tag211.xml" ContentType="application/vnd.openxmlformats-officedocument.presentationml.tags+xml"/>
  <Override PartName="/ppt/notesSlides/notesSlide22.xml" ContentType="application/vnd.openxmlformats-officedocument.presentationml.notesSlide+xml"/>
  <Override PartName="/ppt/tags/tag15.xml" ContentType="application/vnd.openxmlformats-officedocument.presentationml.tags+xml"/>
  <Override PartName="/ppt/tags/tag33.xml" ContentType="application/vnd.openxmlformats-officedocument.presentationml.tags+xml"/>
  <Override PartName="/ppt/notesSlides/notesSlide11.xml" ContentType="application/vnd.openxmlformats-officedocument.presentationml.notesSlide+xml"/>
  <Override PartName="/ppt/tags/tag44.xml" ContentType="application/vnd.openxmlformats-officedocument.presentationml.tags+xml"/>
  <Override PartName="/ppt/tags/tag62.xml" ContentType="application/vnd.openxmlformats-officedocument.presentationml.tags+xml"/>
  <Override PartName="/ppt/tags/tag80.xml" ContentType="application/vnd.openxmlformats-officedocument.presentationml.tags+xml"/>
  <Override PartName="/ppt/tags/tag91.xml" ContentType="application/vnd.openxmlformats-officedocument.presentationml.tags+xml"/>
  <Override PartName="/ppt/tags/tag119.xml" ContentType="application/vnd.openxmlformats-officedocument.presentationml.tags+xml"/>
  <Override PartName="/ppt/tags/tag137.xml" ContentType="application/vnd.openxmlformats-officedocument.presentationml.tags+xml"/>
  <Override PartName="/ppt/tags/tag148.xml" ContentType="application/vnd.openxmlformats-officedocument.presentationml.tags+xml"/>
  <Override PartName="/ppt/tags/tag166.xml" ContentType="application/vnd.openxmlformats-officedocument.presentationml.tags+xml"/>
  <Override PartName="/ppt/tags/tag184.xml" ContentType="application/vnd.openxmlformats-officedocument.presentationml.tags+xml"/>
  <Override PartName="/ppt/tags/tag195.xml" ContentType="application/vnd.openxmlformats-officedocument.presentationml.tags+xml"/>
  <Override PartName="/ppt/tags/tag200.xml" ContentType="application/vnd.openxmlformats-officedocument.presentationml.tags+xml"/>
  <Override PartName="/ppt/tags/tag22.xml" ContentType="application/vnd.openxmlformats-officedocument.presentationml.tags+xml"/>
  <Override PartName="/ppt/notesSlides/notesSlide6.xml" ContentType="application/vnd.openxmlformats-officedocument.presentationml.notesSlide+xml"/>
  <Override PartName="/ppt/tags/tag40.xml" ContentType="application/vnd.openxmlformats-officedocument.presentationml.tags+xml"/>
  <Override PartName="/ppt/tags/tag51.xml" ContentType="application/vnd.openxmlformats-officedocument.presentationml.tags+xml"/>
  <Override PartName="/ppt/tags/tag108.xml" ContentType="application/vnd.openxmlformats-officedocument.presentationml.tags+xml"/>
  <Override PartName="/ppt/tags/tag126.xml" ContentType="application/vnd.openxmlformats-officedocument.presentationml.tags+xml"/>
  <Override PartName="/ppt/tags/tag155.xml" ContentType="application/vnd.openxmlformats-officedocument.presentationml.tags+xml"/>
  <Override PartName="/ppt/tags/tag173.xml" ContentType="application/vnd.openxmlformats-officedocument.presentationml.tags+xml"/>
  <Override PartName="/ppt/slides/slide8.xml" ContentType="application/vnd.openxmlformats-officedocument.presentationml.slide+xml"/>
  <Override PartName="/ppt/tags/tag11.xml" ContentType="application/vnd.openxmlformats-officedocument.presentationml.tags+xml"/>
  <Override PartName="/ppt/tags/tag115.xml" ContentType="application/vnd.openxmlformats-officedocument.presentationml.tags+xml"/>
  <Override PartName="/ppt/tags/tag133.xml" ContentType="application/vnd.openxmlformats-officedocument.presentationml.tags+xml"/>
  <Override PartName="/ppt/tags/tag144.xml" ContentType="application/vnd.openxmlformats-officedocument.presentationml.tags+xml"/>
  <Override PartName="/ppt/tags/tag162.xml" ContentType="application/vnd.openxmlformats-officedocument.presentationml.tags+xml"/>
  <Override PartName="/ppt/tags/tag180.xml" ContentType="application/vnd.openxmlformats-officedocument.presentationml.tags+xml"/>
  <Override PartName="/ppt/tags/tag191.xml" ContentType="application/vnd.openxmlformats-officedocument.presentationml.tags+xml"/>
  <Override PartName="/ppt/tags/tag122.xml" ContentType="application/vnd.openxmlformats-officedocument.presentationml.tags+xml"/>
  <Override PartName="/ppt/tags/tag209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tags/tag89.xml" ContentType="application/vnd.openxmlformats-officedocument.presentationml.tags+xml"/>
  <Override PartName="/ppt/tags/tag111.xml" ContentType="application/vnd.openxmlformats-officedocument.presentationml.tags+xml"/>
  <Override PartName="/ppt/theme/theme1.xml" ContentType="application/vnd.openxmlformats-officedocument.theme+xml"/>
  <Override PartName="/ppt/tags/tag78.xml" ContentType="application/vnd.openxmlformats-officedocument.presentationml.tags+xml"/>
  <Override PartName="/ppt/tags/tag100.xml" ContentType="application/vnd.openxmlformats-officedocument.presentationml.tags+xml"/>
  <Default Extension="fntdata" ContentType="application/x-fontdata"/>
  <Override PartName="/ppt/tags/tag56.xml" ContentType="application/vnd.openxmlformats-officedocument.presentationml.tags+xml"/>
  <Override PartName="/ppt/tags/tag67.xml" ContentType="application/vnd.openxmlformats-officedocument.presentationml.tags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gs/tag45.xml" ContentType="application/vnd.openxmlformats-officedocument.presentationml.tags+xml"/>
  <Override PartName="/ppt/tags/tag92.xml" ContentType="application/vnd.openxmlformats-officedocument.presentationml.tags+xml"/>
  <Override PartName="/ppt/tags/tag149.xml" ContentType="application/vnd.openxmlformats-officedocument.presentationml.tags+xml"/>
  <Override PartName="/ppt/tags/tag196.xml" ContentType="application/vnd.openxmlformats-officedocument.presentationml.tags+xml"/>
  <Override PartName="/ppt/tags/tag201.xml" ContentType="application/vnd.openxmlformats-officedocument.presentationml.tags+xml"/>
  <Override PartName="/ppt/tags/tag212.xml" ContentType="application/vnd.openxmlformats-officedocument.presentationml.tags+xml"/>
  <Override PartName="/ppt/notesSlides/notesSlide23.xml" ContentType="application/vnd.openxmlformats-officedocument.presentationml.notesSlide+xml"/>
  <Override PartName="/ppt/tags/tag34.xml" ContentType="application/vnd.openxmlformats-officedocument.presentationml.tags+xml"/>
  <Override PartName="/ppt/notesSlides/notesSlide12.xml" ContentType="application/vnd.openxmlformats-officedocument.presentationml.notesSlide+xml"/>
  <Override PartName="/ppt/tags/tag81.xml" ContentType="application/vnd.openxmlformats-officedocument.presentationml.tags+xml"/>
  <Override PartName="/ppt/tags/tag138.xml" ContentType="application/vnd.openxmlformats-officedocument.presentationml.tags+xml"/>
  <Override PartName="/ppt/tags/tag185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70.xml" ContentType="application/vnd.openxmlformats-officedocument.presentationml.tags+xml"/>
  <Override PartName="/ppt/tags/tag116.xml" ContentType="application/vnd.openxmlformats-officedocument.presentationml.tags+xml"/>
  <Override PartName="/ppt/tags/tag127.xml" ContentType="application/vnd.openxmlformats-officedocument.presentationml.tags+xml"/>
  <Override PartName="/ppt/tags/tag163.xml" ContentType="application/vnd.openxmlformats-officedocument.presentationml.tags+xml"/>
  <Override PartName="/ppt/tags/tag174.xml" ContentType="application/vnd.openxmlformats-officedocument.presentationml.tags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tags/tag105.xml" ContentType="application/vnd.openxmlformats-officedocument.presentationml.tags+xml"/>
  <Override PartName="/ppt/tags/tag152.xml" ContentType="application/vnd.openxmlformats-officedocument.presentationml.tags+xml"/>
  <Override PartName="/ppt/notesSlides/notesSlide3.xml" ContentType="application/vnd.openxmlformats-officedocument.presentationml.notesSlide+xml"/>
  <Override PartName="/ppt/tags/tag141.xml" ContentType="application/vnd.openxmlformats-officedocument.presentationml.tags+xml"/>
  <Override PartName="/ppt/presProps.xml" ContentType="application/vnd.openxmlformats-officedocument.presentationml.presProps+xml"/>
  <Override PartName="/ppt/tags/tag130.xml" ContentType="application/vnd.openxmlformats-officedocument.presentationml.tags+xml"/>
  <Override PartName="/ppt/tags/tag217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tags/tag39.xml" ContentType="application/vnd.openxmlformats-officedocument.presentationml.tags+xml"/>
  <Override PartName="/ppt/tags/tag86.xml" ContentType="application/vnd.openxmlformats-officedocument.presentationml.tags+xml"/>
  <Override PartName="/ppt/tags/tag97.xml" ContentType="application/vnd.openxmlformats-officedocument.presentationml.tags+xml"/>
  <Override PartName="/ppt/notesSlides/notesSlide17.xml" ContentType="application/vnd.openxmlformats-officedocument.presentationml.notesSlide+xml"/>
  <Override PartName="/ppt/tags/tag206.xml" ContentType="application/vnd.openxmlformats-officedocument.presentationml.tags+xml"/>
  <Override PartName="/ppt/tags/tag1.xml" ContentType="application/vnd.openxmlformats-officedocument.presentationml.tags+xml"/>
  <Override PartName="/ppt/tags/tag28.xml" ContentType="application/vnd.openxmlformats-officedocument.presentationml.tags+xml"/>
  <Override PartName="/ppt/tags/tag75.xml" ContentType="application/vnd.openxmlformats-officedocument.presentationml.tags+xml"/>
  <Override PartName="/ppt/tags/tag179.xml" ContentType="application/vnd.openxmlformats-officedocument.presentationml.tags+xml"/>
  <Override PartName="/ppt/tags/tag17.xml" ContentType="application/vnd.openxmlformats-officedocument.presentationml.tags+xml"/>
  <Override PartName="/ppt/tags/tag64.xml" ContentType="application/vnd.openxmlformats-officedocument.presentationml.tags+xml"/>
  <Override PartName="/ppt/tags/tag168.xml" ContentType="application/vnd.openxmlformats-officedocument.presentationml.tags+xml"/>
  <Override PartName="/ppt/notesSlides/notesSlide8.xml" ContentType="application/vnd.openxmlformats-officedocument.presentationml.notesSlide+xml"/>
  <Override PartName="/ppt/tags/tag53.xml" ContentType="application/vnd.openxmlformats-officedocument.presentationml.tags+xml"/>
  <Override PartName="/ppt/notesSlides/notesSlide20.xml" ContentType="application/vnd.openxmlformats-officedocument.presentationml.notesSlide+xml"/>
  <Override PartName="/ppt/tags/tag157.xml" ContentType="application/vnd.openxmlformats-officedocument.presentationml.tags+xml"/>
  <Override PartName="/ppt/tags/tag31.xml" ContentType="application/vnd.openxmlformats-officedocument.presentationml.tags+xml"/>
  <Override PartName="/ppt/tags/tag42.xml" ContentType="application/vnd.openxmlformats-officedocument.presentationml.tags+xml"/>
  <Override PartName="/ppt/tags/tag135.xml" ContentType="application/vnd.openxmlformats-officedocument.presentationml.tags+xml"/>
  <Override PartName="/ppt/tags/tag146.xml" ContentType="application/vnd.openxmlformats-officedocument.presentationml.tags+xml"/>
  <Override PartName="/ppt/tags/tag182.xml" ContentType="application/vnd.openxmlformats-officedocument.presentationml.tags+xml"/>
  <Override PartName="/ppt/tags/tag193.xml" ContentType="application/vnd.openxmlformats-officedocument.presentationml.tags+xml"/>
  <Override PartName="/ppt/handoutMasters/handoutMaster1.xml" ContentType="application/vnd.openxmlformats-officedocument.presentationml.handoutMaster+xml"/>
  <Override PartName="/ppt/tags/tag20.xml" ContentType="application/vnd.openxmlformats-officedocument.presentationml.tags+xml"/>
  <Override PartName="/ppt/tags/tag124.xml" ContentType="application/vnd.openxmlformats-officedocument.presentationml.tags+xml"/>
  <Override PartName="/ppt/tags/tag171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tags/tag113.xml" ContentType="application/vnd.openxmlformats-officedocument.presentationml.tags+xml"/>
  <Override PartName="/ppt/tags/tag160.xml" ContentType="application/vnd.openxmlformats-officedocument.presentationml.tags+xml"/>
  <Override PartName="/ppt/slideMasters/slideMaster1.xml" ContentType="application/vnd.openxmlformats-officedocument.presentationml.slideMaster+xml"/>
  <Override PartName="/ppt/theme/theme3.xml" ContentType="application/vnd.openxmlformats-officedocument.theme+xml"/>
  <Override PartName="/ppt/tags/tag102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7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342" r:id="rId4"/>
    <p:sldId id="258" r:id="rId5"/>
    <p:sldId id="340" r:id="rId6"/>
    <p:sldId id="345" r:id="rId7"/>
    <p:sldId id="346" r:id="rId8"/>
    <p:sldId id="336" r:id="rId9"/>
    <p:sldId id="337" r:id="rId10"/>
    <p:sldId id="348" r:id="rId11"/>
    <p:sldId id="349" r:id="rId12"/>
    <p:sldId id="338" r:id="rId13"/>
    <p:sldId id="334" r:id="rId14"/>
    <p:sldId id="351" r:id="rId15"/>
    <p:sldId id="352" r:id="rId16"/>
    <p:sldId id="355" r:id="rId17"/>
    <p:sldId id="356" r:id="rId18"/>
    <p:sldId id="357" r:id="rId19"/>
    <p:sldId id="263" r:id="rId20"/>
    <p:sldId id="303" r:id="rId21"/>
    <p:sldId id="353" r:id="rId22"/>
    <p:sldId id="339" r:id="rId23"/>
    <p:sldId id="302" r:id="rId24"/>
    <p:sldId id="358" r:id="rId25"/>
  </p:sldIdLst>
  <p:sldSz cx="9144000" cy="6858000" type="screen4x3"/>
  <p:notesSz cx="6997700" cy="9283700"/>
  <p:embeddedFontLst>
    <p:embeddedFont>
      <p:font typeface="Arial Narrow" pitchFamily="34" charset="0"/>
      <p:regular r:id="rId28"/>
      <p:bold r:id="rId29"/>
      <p:italic r:id="rId30"/>
      <p:boldItalic r:id="rId31"/>
    </p:embeddedFont>
    <p:embeddedFont>
      <p:font typeface="Georgia" pitchFamily="18" charset="0"/>
      <p:regular r:id="rId32"/>
      <p:bold r:id="rId33"/>
      <p:italic r:id="rId34"/>
      <p:boldItalic r:id="rId35"/>
    </p:embeddedFont>
    <p:embeddedFont>
      <p:font typeface="Wingdings 2" pitchFamily="18" charset="2"/>
      <p:regular r:id="rId36"/>
    </p:embeddedFont>
  </p:embeddedFont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renna Calnan" initials="" lastIdx="13" clrIdx="0"/>
  <p:cmAuthor id="1" name="eliree" initials="" lastIdx="13" clrIdx="1"/>
  <p:cmAuthor id="2" name="Elisem" initials="" lastIdx="2" clrIdx="2"/>
  <p:cmAuthor id="3" name="ESM" initials="" lastIdx="5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  <p:clrMru>
    <a:srgbClr val="CC0000"/>
    <a:srgbClr val="FFFFFF"/>
    <a:srgbClr val="F00000"/>
    <a:srgbClr val="BBCDE3"/>
    <a:srgbClr val="FF0000"/>
    <a:srgbClr val="ADE2A1"/>
    <a:srgbClr val="66FF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 horzBarState="maximized">
    <p:restoredLeft sz="15620" autoAdjust="0"/>
    <p:restoredTop sz="94660" autoAdjust="0"/>
  </p:normalViewPr>
  <p:slideViewPr>
    <p:cSldViewPr snapToGrid="0">
      <p:cViewPr>
        <p:scale>
          <a:sx n="66" d="100"/>
          <a:sy n="66" d="100"/>
        </p:scale>
        <p:origin x="-1620" y="-18"/>
      </p:cViewPr>
      <p:guideLst>
        <p:guide orient="horz" pos="2568"/>
        <p:guide orient="horz" pos="2580"/>
        <p:guide orient="horz" pos="172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-1380" y="528"/>
      </p:cViewPr>
      <p:guideLst>
        <p:guide orient="horz" pos="2924"/>
        <p:guide pos="220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heme" Target="../theme/theme3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0" y="0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91" tIns="46345" rIns="92691" bIns="46345" numCol="1" anchor="t" anchorCtr="0" compatLnSpc="1">
            <a:prstTxWarp prst="textNoShape">
              <a:avLst/>
            </a:prstTxWarp>
          </a:bodyPr>
          <a:lstStyle>
            <a:lvl1pPr algn="l" defTabSz="927100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  <p:custDataLst>
              <p:tags r:id="rId3"/>
            </p:custDataLst>
          </p:nvPr>
        </p:nvSpPr>
        <p:spPr bwMode="auto">
          <a:xfrm>
            <a:off x="3963988" y="0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91" tIns="46345" rIns="92691" bIns="46345" numCol="1" anchor="t" anchorCtr="0" compatLnSpc="1">
            <a:prstTxWarp prst="textNoShape">
              <a:avLst/>
            </a:prstTxWarp>
          </a:bodyPr>
          <a:lstStyle>
            <a:lvl1pPr algn="r" defTabSz="927100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  <p:custDataLst>
              <p:tags r:id="rId4"/>
            </p:custDataLst>
          </p:nvPr>
        </p:nvSpPr>
        <p:spPr bwMode="auto">
          <a:xfrm>
            <a:off x="0" y="8816975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91" tIns="46345" rIns="92691" bIns="46345" numCol="1" anchor="b" anchorCtr="0" compatLnSpc="1">
            <a:prstTxWarp prst="textNoShape">
              <a:avLst/>
            </a:prstTxWarp>
          </a:bodyPr>
          <a:lstStyle>
            <a:lvl1pPr algn="l" defTabSz="927100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  <p:custDataLst>
              <p:tags r:id="rId5"/>
            </p:custDataLst>
          </p:nvPr>
        </p:nvSpPr>
        <p:spPr bwMode="auto">
          <a:xfrm>
            <a:off x="3963988" y="8816975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91" tIns="46345" rIns="92691" bIns="46345" numCol="1" anchor="b" anchorCtr="0" compatLnSpc="1">
            <a:prstTxWarp prst="textNoShape">
              <a:avLst/>
            </a:prstTxWarp>
          </a:bodyPr>
          <a:lstStyle>
            <a:lvl1pPr algn="r" defTabSz="927100" eaLnBrk="1" hangingPunct="1">
              <a:defRPr sz="1200" b="0">
                <a:latin typeface="Arial" charset="0"/>
              </a:defRPr>
            </a:lvl1pPr>
          </a:lstStyle>
          <a:p>
            <a:fld id="{2962E0A4-2C8C-4666-B5F6-9EE6DFFD10AA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theme" Target="../theme/theme2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0" y="0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91" tIns="46345" rIns="92691" bIns="46345" numCol="1" anchor="t" anchorCtr="0" compatLnSpc="1">
            <a:prstTxWarp prst="textNoShape">
              <a:avLst/>
            </a:prstTxWarp>
          </a:bodyPr>
          <a:lstStyle>
            <a:lvl1pPr algn="l" defTabSz="927100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  <p:custDataLst>
              <p:tags r:id="rId3"/>
            </p:custDataLst>
          </p:nvPr>
        </p:nvSpPr>
        <p:spPr bwMode="auto">
          <a:xfrm>
            <a:off x="3963988" y="0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91" tIns="46345" rIns="92691" bIns="46345" numCol="1" anchor="t" anchorCtr="0" compatLnSpc="1">
            <a:prstTxWarp prst="textNoShape">
              <a:avLst/>
            </a:prstTxWarp>
          </a:bodyPr>
          <a:lstStyle>
            <a:lvl1pPr algn="r" defTabSz="927100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9513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  <p:custDataLst>
              <p:tags r:id="rId4"/>
            </p:custDataLst>
          </p:nvPr>
        </p:nvSpPr>
        <p:spPr bwMode="auto">
          <a:xfrm>
            <a:off x="700088" y="4410075"/>
            <a:ext cx="559752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91" tIns="46345" rIns="92691" bIns="463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  <p:custDataLst>
              <p:tags r:id="rId5"/>
            </p:custDataLst>
          </p:nvPr>
        </p:nvSpPr>
        <p:spPr bwMode="auto">
          <a:xfrm>
            <a:off x="0" y="8816975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91" tIns="46345" rIns="92691" bIns="46345" numCol="1" anchor="b" anchorCtr="0" compatLnSpc="1">
            <a:prstTxWarp prst="textNoShape">
              <a:avLst/>
            </a:prstTxWarp>
          </a:bodyPr>
          <a:lstStyle>
            <a:lvl1pPr algn="l" defTabSz="927100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  <p:custDataLst>
              <p:tags r:id="rId6"/>
            </p:custDataLst>
          </p:nvPr>
        </p:nvSpPr>
        <p:spPr bwMode="auto">
          <a:xfrm>
            <a:off x="3963988" y="8816975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91" tIns="46345" rIns="92691" bIns="46345" numCol="1" anchor="b" anchorCtr="0" compatLnSpc="1">
            <a:prstTxWarp prst="textNoShape">
              <a:avLst/>
            </a:prstTxWarp>
          </a:bodyPr>
          <a:lstStyle>
            <a:lvl1pPr algn="r" defTabSz="927100" eaLnBrk="1" hangingPunct="1">
              <a:defRPr sz="1200" b="0">
                <a:latin typeface="Arial" charset="0"/>
              </a:defRPr>
            </a:lvl1pPr>
          </a:lstStyle>
          <a:p>
            <a:fld id="{0BA83529-D8ED-4465-9E2D-CD437ADD4144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7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0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2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4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7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9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5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9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7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3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8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7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9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3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6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55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05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17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5FB1020A-2E8D-445B-938B-3B54B624609D}" type="slidenum">
              <a:rPr lang="en-US"/>
              <a:pPr/>
              <a:t>1</a:t>
            </a:fld>
            <a:endParaRPr lang="en-US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1986B745-6610-4358-B4EB-5B47A04E9105}" type="slidenum">
              <a:rPr lang="en-US"/>
              <a:pPr/>
              <a:t>2</a:t>
            </a:fld>
            <a:endParaRPr lang="en-US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72891F35-0268-4A10-9536-0769B72BF9D6}" type="slidenum">
              <a:rPr lang="en-US"/>
              <a:pPr/>
              <a:t>3</a:t>
            </a:fld>
            <a:endParaRPr lang="en-US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5EC24B7A-AECB-4496-8CF2-44FAF2440B84}" type="slidenum">
              <a:rPr lang="en-US"/>
              <a:pPr/>
              <a:t>4</a:t>
            </a:fld>
            <a:endParaRPr lang="en-US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8F77BAC0-4E13-408D-A008-2E57B656B125}" type="slidenum">
              <a:rPr lang="en-US"/>
              <a:pPr/>
              <a:t>5</a:t>
            </a:fld>
            <a:endParaRPr lang="en-US"/>
          </a:p>
        </p:txBody>
      </p:sp>
      <p:sp>
        <p:nvSpPr>
          <p:cNvPr id="193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8F77BAC0-4E13-408D-A008-2E57B656B125}" type="slidenum">
              <a:rPr lang="en-US"/>
              <a:pPr/>
              <a:t>6</a:t>
            </a:fld>
            <a:endParaRPr lang="en-US"/>
          </a:p>
        </p:txBody>
      </p:sp>
      <p:sp>
        <p:nvSpPr>
          <p:cNvPr id="193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8F77BAC0-4E13-408D-A008-2E57B656B125}" type="slidenum">
              <a:rPr lang="en-US"/>
              <a:pPr/>
              <a:t>7</a:t>
            </a:fld>
            <a:endParaRPr lang="en-US"/>
          </a:p>
        </p:txBody>
      </p:sp>
      <p:sp>
        <p:nvSpPr>
          <p:cNvPr id="193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F315C95F-F6E3-4AF3-A4DE-779502EAEBF7}" type="slidenum">
              <a:rPr lang="en-US"/>
              <a:pPr/>
              <a:t>8</a:t>
            </a:fld>
            <a:endParaRPr lang="en-US"/>
          </a:p>
        </p:txBody>
      </p:sp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0FA81E6E-6983-4428-BDA6-478252650387}" type="slidenum">
              <a:rPr lang="en-US"/>
              <a:pPr/>
              <a:t>9</a:t>
            </a:fld>
            <a:endParaRPr lang="en-US"/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0FA81E6E-6983-4428-BDA6-478252650387}" type="slidenum">
              <a:rPr lang="en-US"/>
              <a:pPr/>
              <a:t>10</a:t>
            </a:fld>
            <a:endParaRPr lang="en-US"/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0FA81E6E-6983-4428-BDA6-478252650387}" type="slidenum">
              <a:rPr lang="en-US"/>
              <a:pPr/>
              <a:t>11</a:t>
            </a:fld>
            <a:endParaRPr lang="en-US"/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4BB019B2-D4FC-4E5F-9A62-41EA5EC5A9BC}" type="slidenum">
              <a:rPr lang="en-US"/>
              <a:pPr/>
              <a:t>12</a:t>
            </a:fld>
            <a:endParaRPr lang="en-US"/>
          </a:p>
        </p:txBody>
      </p:sp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34E963D9-9A1B-42DF-ABB9-ABF1A80FDC62}" type="slidenum">
              <a:rPr lang="en-US"/>
              <a:pPr/>
              <a:t>13</a:t>
            </a:fld>
            <a:endParaRPr lang="en-US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34E963D9-9A1B-42DF-ABB9-ABF1A80FDC62}" type="slidenum">
              <a:rPr lang="en-US"/>
              <a:pPr/>
              <a:t>14</a:t>
            </a:fld>
            <a:endParaRPr lang="en-US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34E963D9-9A1B-42DF-ABB9-ABF1A80FDC62}" type="slidenum">
              <a:rPr lang="en-US"/>
              <a:pPr/>
              <a:t>15</a:t>
            </a:fld>
            <a:endParaRPr lang="en-US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D5603135-7E1C-4F3C-B207-F9A8B3F9B501}" type="slidenum">
              <a:rPr lang="en-US"/>
              <a:pPr/>
              <a:t>16</a:t>
            </a:fld>
            <a:endParaRPr lang="en-US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BA083DA3-2E02-4AC7-9170-860D32383607}" type="slidenum">
              <a:rPr lang="en-US"/>
              <a:pPr/>
              <a:t>17</a:t>
            </a:fld>
            <a:endParaRPr lang="en-US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C1251034-ED41-4D97-9088-52CBDAB1FF72}" type="slidenum">
              <a:rPr lang="en-US"/>
              <a:pPr/>
              <a:t>18</a:t>
            </a:fld>
            <a:endParaRPr lang="en-US"/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5F583BCF-E620-4DCC-8F53-B6F64734722F}" type="slidenum">
              <a:rPr lang="en-US"/>
              <a:pPr/>
              <a:t>19</a:t>
            </a:fld>
            <a:endParaRPr lang="en-US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endParaRPr 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AF1FDBC4-C8AE-44AD-80AC-EF4F6A65524B}" type="slidenum">
              <a:rPr lang="en-US"/>
              <a:pPr/>
              <a:t>20</a:t>
            </a:fld>
            <a:endParaRPr lang="en-US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AF1FDBC4-C8AE-44AD-80AC-EF4F6A65524B}" type="slidenum">
              <a:rPr lang="en-US"/>
              <a:pPr/>
              <a:t>21</a:t>
            </a:fld>
            <a:endParaRPr lang="en-US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3720EF4E-BB64-4124-B01D-557255D11380}" type="slidenum">
              <a:rPr lang="en-US"/>
              <a:pPr/>
              <a:t>22</a:t>
            </a:fld>
            <a:endParaRPr lang="en-US"/>
          </a:p>
        </p:txBody>
      </p:sp>
      <p:sp>
        <p:nvSpPr>
          <p:cNvPr id="19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D5439D01-94CC-4D66-961A-FC5887C76CC9}" type="slidenum">
              <a:rPr lang="en-US"/>
              <a:pPr/>
              <a:t>23</a:t>
            </a:fld>
            <a:endParaRPr lang="en-US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F1A4-6C69-4CFF-9646-7968E64C1187}" type="datetimeFigureOut">
              <a:rPr lang="fr-FR" smtClean="0"/>
              <a:pPr/>
              <a:t>29/10/2015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E86FAF6-D586-4133-BBD6-7AAD167DA16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3E36-00DE-4CA3-AA5B-AD1D82D53A79}" type="datetime1">
              <a:rPr lang="fr-FR" smtClean="0"/>
              <a:pPr/>
              <a:t>29/10/2015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80FD537D-F78B-44BF-AF15-CB7EA76B7EF1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F1A4-6C69-4CFF-9646-7968E64C1187}" type="datetimeFigureOut">
              <a:rPr lang="fr-FR" smtClean="0"/>
              <a:pPr/>
              <a:t>29/10/2015</a:t>
            </a:fld>
            <a:endParaRPr lang="fr-FR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E86FAF6-D586-4133-BBD6-7AAD167DA16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A080F1A4-6C69-4CFF-9646-7968E64C1187}" type="datetimeFigureOut">
              <a:rPr lang="fr-FR" smtClean="0"/>
              <a:pPr/>
              <a:t>29/10/2015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FAF6-D586-4133-BBD6-7AAD167DA16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F1A4-6C69-4CFF-9646-7968E64C1187}" type="datetimeFigureOut">
              <a:rPr lang="fr-FR" smtClean="0"/>
              <a:pPr/>
              <a:t>29/10/2015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fr-FR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7E86FAF6-D586-4133-BBD6-7AAD167DA16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F1A4-6C69-4CFF-9646-7968E64C1187}" type="datetimeFigureOut">
              <a:rPr lang="fr-FR" smtClean="0"/>
              <a:pPr/>
              <a:t>29/10/2015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7E86FAF6-D586-4133-BBD6-7AAD167DA16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F1A4-6C69-4CFF-9646-7968E64C1187}" type="datetimeFigureOut">
              <a:rPr lang="fr-FR" smtClean="0"/>
              <a:pPr/>
              <a:t>29/10/2015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E86FAF6-D586-4133-BBD6-7AAD167DA16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E86FAF6-D586-4133-BBD6-7AAD167DA16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F1A4-6C69-4CFF-9646-7968E64C1187}" type="datetimeFigureOut">
              <a:rPr lang="fr-FR" smtClean="0"/>
              <a:pPr/>
              <a:t>29/10/2015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7E86FAF6-D586-4133-BBD6-7AAD167DA16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A080F1A4-6C69-4CFF-9646-7968E64C1187}" type="datetimeFigureOut">
              <a:rPr lang="fr-FR" smtClean="0"/>
              <a:pPr/>
              <a:t>29/10/2015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F1A4-6C69-4CFF-9646-7968E64C1187}" type="datetimeFigureOut">
              <a:rPr lang="fr-FR" smtClean="0"/>
              <a:pPr/>
              <a:t>29/10/2015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6FAF6-D586-4133-BBD6-7AAD167DA16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7E86FAF6-D586-4133-BBD6-7AAD167DA16C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F1A4-6C69-4CFF-9646-7968E64C1187}" type="datetimeFigureOut">
              <a:rPr lang="fr-FR" smtClean="0"/>
              <a:pPr/>
              <a:t>29/10/2015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51091FA3-1757-469E-989A-EA9D655DB7D1}" type="datetime1">
              <a:rPr lang="fr-FR" smtClean="0"/>
              <a:pPr/>
              <a:t>29/10/2015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194C60E-EA33-4A5A-B447-7194DFFE23FA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3.emf"/><Relationship Id="rId5" Type="http://schemas.openxmlformats.org/officeDocument/2006/relationships/hyperlink" Target="../animations%2043/2182A_2277A_01_A_ROLEOFROUTING.SWF" TargetMode="Externa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slideLayout" Target="../slideLayouts/slideLayout2.xml"/><Relationship Id="rId7" Type="http://schemas.openxmlformats.org/officeDocument/2006/relationships/slide" Target="slide9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slide" Target="slide8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slide" Target="slide7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10" Type="http://schemas.openxmlformats.org/officeDocument/2006/relationships/image" Target="../media/image9.png"/><Relationship Id="rId4" Type="http://schemas.openxmlformats.org/officeDocument/2006/relationships/tags" Target="../tags/tag43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18" Type="http://schemas.openxmlformats.org/officeDocument/2006/relationships/image" Target="../media/image10.png"/><Relationship Id="rId3" Type="http://schemas.openxmlformats.org/officeDocument/2006/relationships/tags" Target="../tags/tag50.xml"/><Relationship Id="rId21" Type="http://schemas.openxmlformats.org/officeDocument/2006/relationships/image" Target="../media/image13.png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17" Type="http://schemas.openxmlformats.org/officeDocument/2006/relationships/notesSlide" Target="../notesSlides/notesSlide13.xml"/><Relationship Id="rId2" Type="http://schemas.openxmlformats.org/officeDocument/2006/relationships/tags" Target="../tags/tag49.xml"/><Relationship Id="rId16" Type="http://schemas.openxmlformats.org/officeDocument/2006/relationships/slideLayout" Target="../slideLayouts/slideLayout2.xml"/><Relationship Id="rId20" Type="http://schemas.openxmlformats.org/officeDocument/2006/relationships/image" Target="../media/image12.png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5" Type="http://schemas.openxmlformats.org/officeDocument/2006/relationships/tags" Target="../tags/tag62.xml"/><Relationship Id="rId10" Type="http://schemas.openxmlformats.org/officeDocument/2006/relationships/tags" Target="../tags/tag57.xml"/><Relationship Id="rId19" Type="http://schemas.openxmlformats.org/officeDocument/2006/relationships/image" Target="../media/image11.png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18" Type="http://schemas.openxmlformats.org/officeDocument/2006/relationships/image" Target="../media/image10.png"/><Relationship Id="rId3" Type="http://schemas.openxmlformats.org/officeDocument/2006/relationships/tags" Target="../tags/tag66.xml"/><Relationship Id="rId21" Type="http://schemas.openxmlformats.org/officeDocument/2006/relationships/image" Target="../media/image17.png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17" Type="http://schemas.openxmlformats.org/officeDocument/2006/relationships/image" Target="../media/image14.png"/><Relationship Id="rId2" Type="http://schemas.openxmlformats.org/officeDocument/2006/relationships/tags" Target="../tags/tag65.xml"/><Relationship Id="rId16" Type="http://schemas.openxmlformats.org/officeDocument/2006/relationships/notesSlide" Target="../notesSlides/notesSlide14.xml"/><Relationship Id="rId20" Type="http://schemas.openxmlformats.org/officeDocument/2006/relationships/image" Target="../media/image16.png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5" Type="http://schemas.openxmlformats.org/officeDocument/2006/relationships/tags" Target="../tags/tag68.xml"/><Relationship Id="rId15" Type="http://schemas.openxmlformats.org/officeDocument/2006/relationships/slideLayout" Target="../slideLayouts/slideLayout2.xml"/><Relationship Id="rId23" Type="http://schemas.openxmlformats.org/officeDocument/2006/relationships/image" Target="../media/image11.png"/><Relationship Id="rId10" Type="http://schemas.openxmlformats.org/officeDocument/2006/relationships/tags" Target="../tags/tag73.xml"/><Relationship Id="rId19" Type="http://schemas.openxmlformats.org/officeDocument/2006/relationships/image" Target="../media/image15.png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Relationship Id="rId22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13" Type="http://schemas.openxmlformats.org/officeDocument/2006/relationships/tags" Target="../tags/tag91.xml"/><Relationship Id="rId18" Type="http://schemas.openxmlformats.org/officeDocument/2006/relationships/tags" Target="../tags/tag96.xml"/><Relationship Id="rId26" Type="http://schemas.openxmlformats.org/officeDocument/2006/relationships/image" Target="../media/image17.png"/><Relationship Id="rId3" Type="http://schemas.openxmlformats.org/officeDocument/2006/relationships/tags" Target="../tags/tag81.xml"/><Relationship Id="rId21" Type="http://schemas.openxmlformats.org/officeDocument/2006/relationships/image" Target="../media/image14.png"/><Relationship Id="rId7" Type="http://schemas.openxmlformats.org/officeDocument/2006/relationships/tags" Target="../tags/tag85.xml"/><Relationship Id="rId12" Type="http://schemas.openxmlformats.org/officeDocument/2006/relationships/tags" Target="../tags/tag90.xml"/><Relationship Id="rId17" Type="http://schemas.openxmlformats.org/officeDocument/2006/relationships/tags" Target="../tags/tag95.xml"/><Relationship Id="rId25" Type="http://schemas.openxmlformats.org/officeDocument/2006/relationships/image" Target="../media/image16.png"/><Relationship Id="rId2" Type="http://schemas.openxmlformats.org/officeDocument/2006/relationships/tags" Target="../tags/tag80.xml"/><Relationship Id="rId16" Type="http://schemas.openxmlformats.org/officeDocument/2006/relationships/tags" Target="../tags/tag94.xml"/><Relationship Id="rId20" Type="http://schemas.openxmlformats.org/officeDocument/2006/relationships/notesSlide" Target="../notesSlides/notesSlide15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tags" Target="../tags/tag89.xml"/><Relationship Id="rId24" Type="http://schemas.openxmlformats.org/officeDocument/2006/relationships/image" Target="../media/image15.png"/><Relationship Id="rId5" Type="http://schemas.openxmlformats.org/officeDocument/2006/relationships/tags" Target="../tags/tag83.xml"/><Relationship Id="rId15" Type="http://schemas.openxmlformats.org/officeDocument/2006/relationships/tags" Target="../tags/tag93.xml"/><Relationship Id="rId23" Type="http://schemas.openxmlformats.org/officeDocument/2006/relationships/image" Target="../media/image10.png"/><Relationship Id="rId28" Type="http://schemas.openxmlformats.org/officeDocument/2006/relationships/image" Target="../media/image21.png"/><Relationship Id="rId10" Type="http://schemas.openxmlformats.org/officeDocument/2006/relationships/tags" Target="../tags/tag88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82.xml"/><Relationship Id="rId9" Type="http://schemas.openxmlformats.org/officeDocument/2006/relationships/tags" Target="../tags/tag87.xml"/><Relationship Id="rId14" Type="http://schemas.openxmlformats.org/officeDocument/2006/relationships/tags" Target="../tags/tag92.xml"/><Relationship Id="rId22" Type="http://schemas.openxmlformats.org/officeDocument/2006/relationships/image" Target="../media/image19.png"/><Relationship Id="rId27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8.xml"/><Relationship Id="rId5" Type="http://schemas.openxmlformats.org/officeDocument/2006/relationships/image" Target="../media/image3.emf"/><Relationship Id="rId4" Type="http://schemas.openxmlformats.org/officeDocument/2006/relationships/hyperlink" Target="Activer%20et%20configurer%20le%20service%20Routage%20et%20acc&#232;s%20distant.wmv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0.xml"/><Relationship Id="rId5" Type="http://schemas.openxmlformats.org/officeDocument/2006/relationships/image" Target="../media/image3.emf"/><Relationship Id="rId4" Type="http://schemas.openxmlformats.org/officeDocument/2006/relationships/hyperlink" Target="Comment%20ajouter%20un%20protocole%20de%20routage.wmv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2.xml"/><Relationship Id="rId5" Type="http://schemas.openxmlformats.org/officeDocument/2006/relationships/image" Target="../media/image3.emf"/><Relationship Id="rId4" Type="http://schemas.openxmlformats.org/officeDocument/2006/relationships/hyperlink" Target="Comment%20ajouter%20une%20interface%20de%20routage%20&#224;%20un%20protocole.wmv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tags" Target="../tags/tag119.xml"/><Relationship Id="rId18" Type="http://schemas.openxmlformats.org/officeDocument/2006/relationships/tags" Target="../tags/tag124.xml"/><Relationship Id="rId26" Type="http://schemas.openxmlformats.org/officeDocument/2006/relationships/tags" Target="../tags/tag132.xml"/><Relationship Id="rId39" Type="http://schemas.openxmlformats.org/officeDocument/2006/relationships/tags" Target="../tags/tag145.xml"/><Relationship Id="rId3" Type="http://schemas.openxmlformats.org/officeDocument/2006/relationships/tags" Target="../tags/tag109.xml"/><Relationship Id="rId21" Type="http://schemas.openxmlformats.org/officeDocument/2006/relationships/tags" Target="../tags/tag127.xml"/><Relationship Id="rId34" Type="http://schemas.openxmlformats.org/officeDocument/2006/relationships/tags" Target="../tags/tag140.xml"/><Relationship Id="rId42" Type="http://schemas.openxmlformats.org/officeDocument/2006/relationships/tags" Target="../tags/tag148.xml"/><Relationship Id="rId47" Type="http://schemas.openxmlformats.org/officeDocument/2006/relationships/tags" Target="../tags/tag153.xml"/><Relationship Id="rId50" Type="http://schemas.openxmlformats.org/officeDocument/2006/relationships/notesSlide" Target="../notesSlides/notesSlide20.xml"/><Relationship Id="rId7" Type="http://schemas.openxmlformats.org/officeDocument/2006/relationships/tags" Target="../tags/tag113.xml"/><Relationship Id="rId12" Type="http://schemas.openxmlformats.org/officeDocument/2006/relationships/tags" Target="../tags/tag118.xml"/><Relationship Id="rId17" Type="http://schemas.openxmlformats.org/officeDocument/2006/relationships/tags" Target="../tags/tag123.xml"/><Relationship Id="rId25" Type="http://schemas.openxmlformats.org/officeDocument/2006/relationships/tags" Target="../tags/tag131.xml"/><Relationship Id="rId33" Type="http://schemas.openxmlformats.org/officeDocument/2006/relationships/tags" Target="../tags/tag139.xml"/><Relationship Id="rId38" Type="http://schemas.openxmlformats.org/officeDocument/2006/relationships/tags" Target="../tags/tag144.xml"/><Relationship Id="rId46" Type="http://schemas.openxmlformats.org/officeDocument/2006/relationships/tags" Target="../tags/tag152.xml"/><Relationship Id="rId2" Type="http://schemas.openxmlformats.org/officeDocument/2006/relationships/tags" Target="../tags/tag108.xml"/><Relationship Id="rId16" Type="http://schemas.openxmlformats.org/officeDocument/2006/relationships/tags" Target="../tags/tag122.xml"/><Relationship Id="rId20" Type="http://schemas.openxmlformats.org/officeDocument/2006/relationships/tags" Target="../tags/tag126.xml"/><Relationship Id="rId29" Type="http://schemas.openxmlformats.org/officeDocument/2006/relationships/tags" Target="../tags/tag135.xml"/><Relationship Id="rId41" Type="http://schemas.openxmlformats.org/officeDocument/2006/relationships/tags" Target="../tags/tag147.xml"/><Relationship Id="rId1" Type="http://schemas.openxmlformats.org/officeDocument/2006/relationships/tags" Target="../tags/tag107.xml"/><Relationship Id="rId6" Type="http://schemas.openxmlformats.org/officeDocument/2006/relationships/tags" Target="../tags/tag112.xml"/><Relationship Id="rId11" Type="http://schemas.openxmlformats.org/officeDocument/2006/relationships/tags" Target="../tags/tag117.xml"/><Relationship Id="rId24" Type="http://schemas.openxmlformats.org/officeDocument/2006/relationships/tags" Target="../tags/tag130.xml"/><Relationship Id="rId32" Type="http://schemas.openxmlformats.org/officeDocument/2006/relationships/tags" Target="../tags/tag138.xml"/><Relationship Id="rId37" Type="http://schemas.openxmlformats.org/officeDocument/2006/relationships/tags" Target="../tags/tag143.xml"/><Relationship Id="rId40" Type="http://schemas.openxmlformats.org/officeDocument/2006/relationships/tags" Target="../tags/tag146.xml"/><Relationship Id="rId45" Type="http://schemas.openxmlformats.org/officeDocument/2006/relationships/tags" Target="../tags/tag151.xml"/><Relationship Id="rId5" Type="http://schemas.openxmlformats.org/officeDocument/2006/relationships/tags" Target="../tags/tag111.xml"/><Relationship Id="rId15" Type="http://schemas.openxmlformats.org/officeDocument/2006/relationships/tags" Target="../tags/tag121.xml"/><Relationship Id="rId23" Type="http://schemas.openxmlformats.org/officeDocument/2006/relationships/tags" Target="../tags/tag129.xml"/><Relationship Id="rId28" Type="http://schemas.openxmlformats.org/officeDocument/2006/relationships/tags" Target="../tags/tag134.xml"/><Relationship Id="rId36" Type="http://schemas.openxmlformats.org/officeDocument/2006/relationships/tags" Target="../tags/tag142.xml"/><Relationship Id="rId49" Type="http://schemas.openxmlformats.org/officeDocument/2006/relationships/slideLayout" Target="../slideLayouts/slideLayout2.xml"/><Relationship Id="rId10" Type="http://schemas.openxmlformats.org/officeDocument/2006/relationships/tags" Target="../tags/tag116.xml"/><Relationship Id="rId19" Type="http://schemas.openxmlformats.org/officeDocument/2006/relationships/tags" Target="../tags/tag125.xml"/><Relationship Id="rId31" Type="http://schemas.openxmlformats.org/officeDocument/2006/relationships/tags" Target="../tags/tag137.xml"/><Relationship Id="rId44" Type="http://schemas.openxmlformats.org/officeDocument/2006/relationships/tags" Target="../tags/tag150.xml"/><Relationship Id="rId52" Type="http://schemas.openxmlformats.org/officeDocument/2006/relationships/image" Target="../media/image4.png"/><Relationship Id="rId4" Type="http://schemas.openxmlformats.org/officeDocument/2006/relationships/tags" Target="../tags/tag110.xml"/><Relationship Id="rId9" Type="http://schemas.openxmlformats.org/officeDocument/2006/relationships/tags" Target="../tags/tag115.xml"/><Relationship Id="rId14" Type="http://schemas.openxmlformats.org/officeDocument/2006/relationships/tags" Target="../tags/tag120.xml"/><Relationship Id="rId22" Type="http://schemas.openxmlformats.org/officeDocument/2006/relationships/tags" Target="../tags/tag128.xml"/><Relationship Id="rId27" Type="http://schemas.openxmlformats.org/officeDocument/2006/relationships/tags" Target="../tags/tag133.xml"/><Relationship Id="rId30" Type="http://schemas.openxmlformats.org/officeDocument/2006/relationships/tags" Target="../tags/tag136.xml"/><Relationship Id="rId35" Type="http://schemas.openxmlformats.org/officeDocument/2006/relationships/tags" Target="../tags/tag141.xml"/><Relationship Id="rId43" Type="http://schemas.openxmlformats.org/officeDocument/2006/relationships/tags" Target="../tags/tag149.xml"/><Relationship Id="rId48" Type="http://schemas.openxmlformats.org/officeDocument/2006/relationships/tags" Target="../tags/tag154.xml"/><Relationship Id="rId8" Type="http://schemas.openxmlformats.org/officeDocument/2006/relationships/tags" Target="../tags/tag114.xml"/><Relationship Id="rId5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tags" Target="../tags/tag168.xml"/><Relationship Id="rId18" Type="http://schemas.openxmlformats.org/officeDocument/2006/relationships/tags" Target="../tags/tag173.xml"/><Relationship Id="rId26" Type="http://schemas.openxmlformats.org/officeDocument/2006/relationships/tags" Target="../tags/tag181.xml"/><Relationship Id="rId39" Type="http://schemas.openxmlformats.org/officeDocument/2006/relationships/tags" Target="../tags/tag194.xml"/><Relationship Id="rId3" Type="http://schemas.openxmlformats.org/officeDocument/2006/relationships/tags" Target="../tags/tag158.xml"/><Relationship Id="rId21" Type="http://schemas.openxmlformats.org/officeDocument/2006/relationships/tags" Target="../tags/tag176.xml"/><Relationship Id="rId34" Type="http://schemas.openxmlformats.org/officeDocument/2006/relationships/tags" Target="../tags/tag189.xml"/><Relationship Id="rId42" Type="http://schemas.openxmlformats.org/officeDocument/2006/relationships/tags" Target="../tags/tag197.xml"/><Relationship Id="rId47" Type="http://schemas.openxmlformats.org/officeDocument/2006/relationships/tags" Target="../tags/tag202.xml"/><Relationship Id="rId50" Type="http://schemas.openxmlformats.org/officeDocument/2006/relationships/slideLayout" Target="../slideLayouts/slideLayout2.xml"/><Relationship Id="rId7" Type="http://schemas.openxmlformats.org/officeDocument/2006/relationships/tags" Target="../tags/tag162.xml"/><Relationship Id="rId12" Type="http://schemas.openxmlformats.org/officeDocument/2006/relationships/tags" Target="../tags/tag167.xml"/><Relationship Id="rId17" Type="http://schemas.openxmlformats.org/officeDocument/2006/relationships/tags" Target="../tags/tag172.xml"/><Relationship Id="rId25" Type="http://schemas.openxmlformats.org/officeDocument/2006/relationships/tags" Target="../tags/tag180.xml"/><Relationship Id="rId33" Type="http://schemas.openxmlformats.org/officeDocument/2006/relationships/tags" Target="../tags/tag188.xml"/><Relationship Id="rId38" Type="http://schemas.openxmlformats.org/officeDocument/2006/relationships/tags" Target="../tags/tag193.xml"/><Relationship Id="rId46" Type="http://schemas.openxmlformats.org/officeDocument/2006/relationships/tags" Target="../tags/tag201.xml"/><Relationship Id="rId2" Type="http://schemas.openxmlformats.org/officeDocument/2006/relationships/tags" Target="../tags/tag157.xml"/><Relationship Id="rId16" Type="http://schemas.openxmlformats.org/officeDocument/2006/relationships/tags" Target="../tags/tag171.xml"/><Relationship Id="rId20" Type="http://schemas.openxmlformats.org/officeDocument/2006/relationships/tags" Target="../tags/tag175.xml"/><Relationship Id="rId29" Type="http://schemas.openxmlformats.org/officeDocument/2006/relationships/tags" Target="../tags/tag184.xml"/><Relationship Id="rId41" Type="http://schemas.openxmlformats.org/officeDocument/2006/relationships/tags" Target="../tags/tag196.xml"/><Relationship Id="rId1" Type="http://schemas.openxmlformats.org/officeDocument/2006/relationships/tags" Target="../tags/tag156.xml"/><Relationship Id="rId6" Type="http://schemas.openxmlformats.org/officeDocument/2006/relationships/tags" Target="../tags/tag161.xml"/><Relationship Id="rId11" Type="http://schemas.openxmlformats.org/officeDocument/2006/relationships/tags" Target="../tags/tag166.xml"/><Relationship Id="rId24" Type="http://schemas.openxmlformats.org/officeDocument/2006/relationships/tags" Target="../tags/tag179.xml"/><Relationship Id="rId32" Type="http://schemas.openxmlformats.org/officeDocument/2006/relationships/tags" Target="../tags/tag187.xml"/><Relationship Id="rId37" Type="http://schemas.openxmlformats.org/officeDocument/2006/relationships/tags" Target="../tags/tag192.xml"/><Relationship Id="rId40" Type="http://schemas.openxmlformats.org/officeDocument/2006/relationships/tags" Target="../tags/tag195.xml"/><Relationship Id="rId45" Type="http://schemas.openxmlformats.org/officeDocument/2006/relationships/tags" Target="../tags/tag200.xml"/><Relationship Id="rId53" Type="http://schemas.openxmlformats.org/officeDocument/2006/relationships/image" Target="../media/image5.png"/><Relationship Id="rId5" Type="http://schemas.openxmlformats.org/officeDocument/2006/relationships/tags" Target="../tags/tag160.xml"/><Relationship Id="rId15" Type="http://schemas.openxmlformats.org/officeDocument/2006/relationships/tags" Target="../tags/tag170.xml"/><Relationship Id="rId23" Type="http://schemas.openxmlformats.org/officeDocument/2006/relationships/tags" Target="../tags/tag178.xml"/><Relationship Id="rId28" Type="http://schemas.openxmlformats.org/officeDocument/2006/relationships/tags" Target="../tags/tag183.xml"/><Relationship Id="rId36" Type="http://schemas.openxmlformats.org/officeDocument/2006/relationships/tags" Target="../tags/tag191.xml"/><Relationship Id="rId49" Type="http://schemas.openxmlformats.org/officeDocument/2006/relationships/tags" Target="../tags/tag204.xml"/><Relationship Id="rId10" Type="http://schemas.openxmlformats.org/officeDocument/2006/relationships/tags" Target="../tags/tag165.xml"/><Relationship Id="rId19" Type="http://schemas.openxmlformats.org/officeDocument/2006/relationships/tags" Target="../tags/tag174.xml"/><Relationship Id="rId31" Type="http://schemas.openxmlformats.org/officeDocument/2006/relationships/tags" Target="../tags/tag186.xml"/><Relationship Id="rId44" Type="http://schemas.openxmlformats.org/officeDocument/2006/relationships/tags" Target="../tags/tag199.xml"/><Relationship Id="rId52" Type="http://schemas.openxmlformats.org/officeDocument/2006/relationships/image" Target="../media/image4.png"/><Relationship Id="rId4" Type="http://schemas.openxmlformats.org/officeDocument/2006/relationships/tags" Target="../tags/tag159.xml"/><Relationship Id="rId9" Type="http://schemas.openxmlformats.org/officeDocument/2006/relationships/tags" Target="../tags/tag164.xml"/><Relationship Id="rId14" Type="http://schemas.openxmlformats.org/officeDocument/2006/relationships/tags" Target="../tags/tag169.xml"/><Relationship Id="rId22" Type="http://schemas.openxmlformats.org/officeDocument/2006/relationships/tags" Target="../tags/tag177.xml"/><Relationship Id="rId27" Type="http://schemas.openxmlformats.org/officeDocument/2006/relationships/tags" Target="../tags/tag182.xml"/><Relationship Id="rId30" Type="http://schemas.openxmlformats.org/officeDocument/2006/relationships/tags" Target="../tags/tag185.xml"/><Relationship Id="rId35" Type="http://schemas.openxmlformats.org/officeDocument/2006/relationships/tags" Target="../tags/tag190.xml"/><Relationship Id="rId43" Type="http://schemas.openxmlformats.org/officeDocument/2006/relationships/tags" Target="../tags/tag198.xml"/><Relationship Id="rId48" Type="http://schemas.openxmlformats.org/officeDocument/2006/relationships/tags" Target="../tags/tag203.xml"/><Relationship Id="rId8" Type="http://schemas.openxmlformats.org/officeDocument/2006/relationships/tags" Target="../tags/tag163.xml"/><Relationship Id="rId51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13.xml"/><Relationship Id="rId13" Type="http://schemas.openxmlformats.org/officeDocument/2006/relationships/notesSlide" Target="../notesSlides/notesSlide22.xml"/><Relationship Id="rId3" Type="http://schemas.openxmlformats.org/officeDocument/2006/relationships/tags" Target="../tags/tag208.xml"/><Relationship Id="rId7" Type="http://schemas.openxmlformats.org/officeDocument/2006/relationships/tags" Target="../tags/tag212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207.xml"/><Relationship Id="rId1" Type="http://schemas.openxmlformats.org/officeDocument/2006/relationships/tags" Target="../tags/tag206.xml"/><Relationship Id="rId6" Type="http://schemas.openxmlformats.org/officeDocument/2006/relationships/tags" Target="../tags/tag211.xml"/><Relationship Id="rId11" Type="http://schemas.openxmlformats.org/officeDocument/2006/relationships/tags" Target="../tags/tag216.xml"/><Relationship Id="rId5" Type="http://schemas.openxmlformats.org/officeDocument/2006/relationships/tags" Target="../tags/tag210.xml"/><Relationship Id="rId10" Type="http://schemas.openxmlformats.org/officeDocument/2006/relationships/tags" Target="../tags/tag215.xml"/><Relationship Id="rId4" Type="http://schemas.openxmlformats.org/officeDocument/2006/relationships/tags" Target="../tags/tag209.xml"/><Relationship Id="rId9" Type="http://schemas.openxmlformats.org/officeDocument/2006/relationships/tags" Target="../tags/tag214.xml"/><Relationship Id="rId1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18.xml"/><Relationship Id="rId5" Type="http://schemas.openxmlformats.org/officeDocument/2006/relationships/image" Target="../media/image3.emf"/><Relationship Id="rId4" Type="http://schemas.openxmlformats.org/officeDocument/2006/relationships/hyperlink" Target="Comment%20configurer%20les%20filtres%20de%20paquets%20sous%20Windows%202003%20Server.wmv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26407" y="2611211"/>
            <a:ext cx="7189788" cy="29797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>
              <a:lnSpc>
                <a:spcPct val="95000"/>
              </a:lnSpc>
              <a:buClr>
                <a:srgbClr val="DC0081"/>
              </a:buClr>
              <a:buFont typeface="Wingdings" pitchFamily="2" charset="2"/>
              <a:buNone/>
            </a:pPr>
            <a:r>
              <a:rPr lang="en-GB" sz="5000" dirty="0" err="1" smtClean="0">
                <a:solidFill>
                  <a:srgbClr val="000000"/>
                </a:solidFill>
              </a:rPr>
              <a:t>Chapitre</a:t>
            </a:r>
            <a:r>
              <a:rPr lang="en-GB" sz="5000" dirty="0" smtClean="0">
                <a:solidFill>
                  <a:srgbClr val="000000"/>
                </a:solidFill>
              </a:rPr>
              <a:t> 1</a:t>
            </a:r>
          </a:p>
          <a:p>
            <a:pPr>
              <a:lnSpc>
                <a:spcPct val="95000"/>
              </a:lnSpc>
              <a:buClr>
                <a:srgbClr val="DC0081"/>
              </a:buClr>
              <a:buFont typeface="Wingdings" pitchFamily="2" charset="2"/>
              <a:buNone/>
            </a:pPr>
            <a:r>
              <a:rPr lang="en-GB" sz="5000" dirty="0" smtClean="0">
                <a:solidFill>
                  <a:srgbClr val="000000"/>
                </a:solidFill>
              </a:rPr>
              <a:t>Configuration </a:t>
            </a:r>
            <a:r>
              <a:rPr lang="en-GB" sz="5000" dirty="0">
                <a:solidFill>
                  <a:srgbClr val="000000"/>
                </a:solidFill>
              </a:rPr>
              <a:t>du </a:t>
            </a:r>
            <a:r>
              <a:rPr lang="en-GB" sz="5000" dirty="0" err="1">
                <a:solidFill>
                  <a:srgbClr val="000000"/>
                </a:solidFill>
              </a:rPr>
              <a:t>routage</a:t>
            </a:r>
            <a:r>
              <a:rPr lang="en-GB" sz="5000" dirty="0">
                <a:solidFill>
                  <a:srgbClr val="000000"/>
                </a:solidFill>
              </a:rPr>
              <a:t> à </a:t>
            </a:r>
            <a:r>
              <a:rPr lang="en-GB" sz="5000" dirty="0" err="1">
                <a:solidFill>
                  <a:srgbClr val="000000"/>
                </a:solidFill>
              </a:rPr>
              <a:t>l'aide</a:t>
            </a:r>
            <a:r>
              <a:rPr lang="en-GB" sz="5000" dirty="0">
                <a:solidFill>
                  <a:srgbClr val="000000"/>
                </a:solidFill>
              </a:rPr>
              <a:t> du service </a:t>
            </a:r>
            <a:r>
              <a:rPr lang="en-GB" sz="5000" dirty="0" err="1">
                <a:solidFill>
                  <a:srgbClr val="000000"/>
                </a:solidFill>
              </a:rPr>
              <a:t>Routage</a:t>
            </a:r>
            <a:r>
              <a:rPr lang="en-GB" sz="5000" dirty="0">
                <a:solidFill>
                  <a:srgbClr val="000000"/>
                </a:solidFill>
              </a:rPr>
              <a:t> et </a:t>
            </a:r>
            <a:r>
              <a:rPr lang="en-GB" sz="5000" dirty="0" err="1">
                <a:solidFill>
                  <a:srgbClr val="000000"/>
                </a:solidFill>
              </a:rPr>
              <a:t>accès</a:t>
            </a:r>
            <a:r>
              <a:rPr lang="en-GB" sz="5000" dirty="0">
                <a:solidFill>
                  <a:srgbClr val="000000"/>
                </a:solidFill>
              </a:rPr>
              <a:t> distant</a:t>
            </a:r>
            <a:endParaRPr lang="en-US" sz="5000" dirty="0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42341" y="254393"/>
            <a:ext cx="3248005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5000" dirty="0" smtClean="0">
                <a:solidFill>
                  <a:srgbClr val="000000"/>
                </a:solidFill>
              </a:rPr>
              <a:t>Module S43</a:t>
            </a:r>
            <a:r>
              <a:rPr lang="en-US" sz="5000" dirty="0" smtClean="0">
                <a:solidFill>
                  <a:schemeClr val="tx2"/>
                </a:solidFill>
              </a:rPr>
              <a:t> </a:t>
            </a:r>
            <a:endParaRPr lang="fr-BE" sz="5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sz="3600" dirty="0" smtClean="0">
                <a:solidFill>
                  <a:srgbClr val="000000"/>
                </a:solidFill>
              </a:rPr>
              <a:t>Plan du cours</a:t>
            </a:r>
            <a:endParaRPr lang="fr-FR" sz="36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1050925" y="2318657"/>
            <a:ext cx="7860846" cy="2732314"/>
          </a:xfrm>
        </p:spPr>
        <p:txBody>
          <a:bodyPr>
            <a:normAutofit/>
          </a:bodyPr>
          <a:lstStyle/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fr-FR" sz="3200" dirty="0" smtClean="0">
                <a:solidFill>
                  <a:srgbClr val="000000"/>
                </a:solidFill>
              </a:rPr>
              <a:t>Rôle du routage dans l'infrastructure réseau</a:t>
            </a:r>
            <a:endParaRPr lang="fr-FR" sz="3200" dirty="0" smtClean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fr-FR" sz="3200" dirty="0" smtClean="0">
                <a:solidFill>
                  <a:srgbClr val="000000"/>
                </a:solidFill>
              </a:rPr>
              <a:t>Activation et configuration du service Routage et accès distant</a:t>
            </a:r>
            <a:endParaRPr lang="fr-FR" sz="3200" dirty="0" smtClean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fr-FR" sz="3200" dirty="0" smtClean="0">
                <a:solidFill>
                  <a:srgbClr val="000000"/>
                </a:solidFill>
              </a:rPr>
              <a:t>Configuration des filtres de paquets</a:t>
            </a:r>
            <a:endParaRPr lang="fr-FR" sz="3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74171" y="624118"/>
            <a:ext cx="8969829" cy="640660"/>
          </a:xfrm>
        </p:spPr>
        <p:txBody>
          <a:bodyPr>
            <a:normAutofit fontScale="9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fr-FR" sz="3600" b="1" dirty="0" smtClean="0">
                <a:solidFill>
                  <a:srgbClr val="000000"/>
                </a:solidFill>
              </a:rPr>
              <a:t>Rôle </a:t>
            </a:r>
            <a:r>
              <a:rPr lang="fr-FR" sz="3600" b="1" dirty="0">
                <a:solidFill>
                  <a:srgbClr val="000000"/>
                </a:solidFill>
              </a:rPr>
              <a:t>du routage dans l'infrastructure réseau</a:t>
            </a:r>
            <a:endParaRPr lang="en-US" sz="3600" b="1" dirty="0">
              <a:solidFill>
                <a:srgbClr val="000000"/>
              </a:solidFill>
            </a:endParaRPr>
          </a:p>
        </p:txBody>
      </p:sp>
      <p:sp>
        <p:nvSpPr>
          <p:cNvPr id="199684" name="Rectangle 4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188687" y="2202544"/>
            <a:ext cx="8781142" cy="468085"/>
          </a:xfrm>
          <a:noFill/>
          <a:ln/>
        </p:spPr>
        <p:txBody>
          <a:bodyPr>
            <a:normAutofit/>
          </a:bodyPr>
          <a:lstStyle/>
          <a:p>
            <a:pPr algn="ctr">
              <a:lnSpc>
                <a:spcPct val="80000"/>
              </a:lnSpc>
              <a:buNone/>
            </a:pPr>
            <a:r>
              <a:rPr lang="fr-FR" dirty="0" smtClean="0"/>
              <a:t>Présentation multimédia</a:t>
            </a:r>
            <a:endParaRPr lang="fr-FR" dirty="0"/>
          </a:p>
        </p:txBody>
      </p:sp>
      <p:pic>
        <p:nvPicPr>
          <p:cNvPr id="199686" name="Picture 6" descr="media icon">
            <a:hlinkClick r:id="rId5" action="ppaction://hlinkfile"/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846841" y="2982684"/>
            <a:ext cx="3556235" cy="170542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59659" y="188685"/>
            <a:ext cx="8897257" cy="1081994"/>
          </a:xfrm>
        </p:spPr>
        <p:txBody>
          <a:bodyPr>
            <a:normAutofit fontScale="90000"/>
          </a:bodyPr>
          <a:lstStyle/>
          <a:p>
            <a:pPr marL="514350" indent="-514350" algn="ctr">
              <a:buFont typeface="+mj-lt"/>
              <a:buAutoNum type="arabicPeriod" startAt="2"/>
            </a:pPr>
            <a:r>
              <a:rPr lang="fr-FR" b="1" dirty="0" smtClean="0">
                <a:solidFill>
                  <a:srgbClr val="000000"/>
                </a:solidFill>
              </a:rPr>
              <a:t>Activation et configuration du service Routage et accès distant</a:t>
            </a:r>
            <a:endParaRPr lang="fr-FR" b="1" dirty="0">
              <a:solidFill>
                <a:srgbClr val="000000"/>
              </a:solidFill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528411" y="2129971"/>
            <a:ext cx="8354332" cy="3153229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fr-FR" dirty="0" smtClean="0">
                <a:solidFill>
                  <a:srgbClr val="000000"/>
                </a:solidFill>
              </a:rPr>
              <a:t>Que sont les routeurs ?</a:t>
            </a:r>
            <a:endParaRPr lang="fr-FR" dirty="0" smtClean="0"/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fr-FR" dirty="0" smtClean="0">
                <a:solidFill>
                  <a:srgbClr val="000000"/>
                </a:solidFill>
              </a:rPr>
              <a:t>Que sont les interfaces de routage ?</a:t>
            </a:r>
            <a:r>
              <a:rPr lang="fr-FR" dirty="0" smtClean="0"/>
              <a:t> 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fr-FR" dirty="0" smtClean="0">
                <a:solidFill>
                  <a:srgbClr val="000000"/>
                </a:solidFill>
              </a:rPr>
              <a:t>Que sont les protocoles de routage ?</a:t>
            </a:r>
            <a:endParaRPr lang="fr-FR" dirty="0" smtClean="0"/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fr-FR" dirty="0" smtClean="0">
                <a:solidFill>
                  <a:srgbClr val="000000"/>
                </a:solidFill>
              </a:rPr>
              <a:t>Que sont les tables de routage ?</a:t>
            </a:r>
            <a:endParaRPr lang="fr-FR" dirty="0" smtClean="0"/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fr-FR" dirty="0" smtClean="0">
                <a:solidFill>
                  <a:srgbClr val="000000"/>
                </a:solidFill>
              </a:rPr>
              <a:t>Pourquoi utiliser le service Routage et accès distant de Windows Server 2003 ?</a:t>
            </a:r>
            <a:endParaRPr lang="fr-FR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r>
              <a:rPr lang="en-GB" b="1" dirty="0" err="1" smtClean="0">
                <a:solidFill>
                  <a:srgbClr val="C00000"/>
                </a:solidFill>
              </a:rPr>
              <a:t>Que</a:t>
            </a:r>
            <a:r>
              <a:rPr lang="en-GB" b="1" dirty="0" smtClean="0">
                <a:solidFill>
                  <a:srgbClr val="C00000"/>
                </a:solidFill>
              </a:rPr>
              <a:t> </a:t>
            </a:r>
            <a:r>
              <a:rPr lang="en-GB" b="1" dirty="0" err="1">
                <a:solidFill>
                  <a:srgbClr val="C00000"/>
                </a:solidFill>
              </a:rPr>
              <a:t>sont</a:t>
            </a:r>
            <a:r>
              <a:rPr lang="en-GB" b="1" dirty="0">
                <a:solidFill>
                  <a:srgbClr val="C00000"/>
                </a:solidFill>
              </a:rPr>
              <a:t> les </a:t>
            </a:r>
            <a:r>
              <a:rPr lang="en-GB" b="1" dirty="0" err="1">
                <a:solidFill>
                  <a:srgbClr val="C00000"/>
                </a:solidFill>
              </a:rPr>
              <a:t>routeurs</a:t>
            </a:r>
            <a:r>
              <a:rPr lang="en-GB" b="1" dirty="0">
                <a:solidFill>
                  <a:srgbClr val="C00000"/>
                </a:solidFill>
              </a:rPr>
              <a:t> 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98276" y="1997535"/>
            <a:ext cx="7416800" cy="2595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2800" dirty="0">
                <a:solidFill>
                  <a:srgbClr val="000000"/>
                </a:solidFill>
              </a:rPr>
              <a:t>Les </a:t>
            </a:r>
            <a:r>
              <a:rPr lang="en-GB" sz="2800" i="1" dirty="0" err="1">
                <a:solidFill>
                  <a:srgbClr val="000000"/>
                </a:solidFill>
              </a:rPr>
              <a:t>routeurs</a:t>
            </a:r>
            <a:r>
              <a:rPr lang="en-GB" sz="2800" dirty="0">
                <a:solidFill>
                  <a:srgbClr val="000000"/>
                </a:solidFill>
              </a:rPr>
              <a:t> constituent un </a:t>
            </a:r>
            <a:r>
              <a:rPr lang="en-GB" sz="2800" dirty="0" err="1">
                <a:solidFill>
                  <a:srgbClr val="000000"/>
                </a:solidFill>
              </a:rPr>
              <a:t>système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intermédiaire</a:t>
            </a:r>
            <a:r>
              <a:rPr lang="en-GB" sz="2800" dirty="0">
                <a:solidFill>
                  <a:srgbClr val="000000"/>
                </a:solidFill>
              </a:rPr>
              <a:t> au </a:t>
            </a:r>
            <a:r>
              <a:rPr lang="en-GB" sz="2800" dirty="0" err="1">
                <a:solidFill>
                  <a:srgbClr val="000000"/>
                </a:solidFill>
              </a:rPr>
              <a:t>niveau</a:t>
            </a:r>
            <a:r>
              <a:rPr lang="en-GB" sz="2800" dirty="0">
                <a:solidFill>
                  <a:srgbClr val="000000"/>
                </a:solidFill>
              </a:rPr>
              <a:t> de la </a:t>
            </a:r>
            <a:r>
              <a:rPr lang="en-GB" sz="2800" dirty="0" err="1">
                <a:solidFill>
                  <a:srgbClr val="000000"/>
                </a:solidFill>
              </a:rPr>
              <a:t>couche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réseau</a:t>
            </a:r>
            <a:r>
              <a:rPr lang="en-GB" sz="2800" dirty="0">
                <a:solidFill>
                  <a:srgbClr val="000000"/>
                </a:solidFill>
              </a:rPr>
              <a:t> qui </a:t>
            </a:r>
            <a:r>
              <a:rPr lang="en-GB" sz="2800" dirty="0" err="1">
                <a:solidFill>
                  <a:srgbClr val="000000"/>
                </a:solidFill>
              </a:rPr>
              <a:t>permet</a:t>
            </a:r>
            <a:r>
              <a:rPr lang="en-GB" sz="2800" dirty="0">
                <a:solidFill>
                  <a:srgbClr val="000000"/>
                </a:solidFill>
              </a:rPr>
              <a:t> de connecter des </a:t>
            </a:r>
            <a:r>
              <a:rPr lang="en-GB" sz="2800" dirty="0" err="1">
                <a:solidFill>
                  <a:srgbClr val="000000"/>
                </a:solidFill>
              </a:rPr>
              <a:t>réseaux</a:t>
            </a:r>
            <a:r>
              <a:rPr lang="en-GB" sz="2800" dirty="0">
                <a:solidFill>
                  <a:srgbClr val="000000"/>
                </a:solidFill>
              </a:rPr>
              <a:t> entre </a:t>
            </a:r>
            <a:r>
              <a:rPr lang="en-GB" sz="2800" dirty="0" err="1">
                <a:solidFill>
                  <a:srgbClr val="000000"/>
                </a:solidFill>
              </a:rPr>
              <a:t>eux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grâce</a:t>
            </a:r>
            <a:r>
              <a:rPr lang="en-GB" sz="2800" dirty="0">
                <a:solidFill>
                  <a:srgbClr val="000000"/>
                </a:solidFill>
              </a:rPr>
              <a:t> à un </a:t>
            </a:r>
            <a:r>
              <a:rPr lang="en-GB" sz="2800" dirty="0" err="1">
                <a:solidFill>
                  <a:srgbClr val="000000"/>
                </a:solidFill>
              </a:rPr>
              <a:t>protocole</a:t>
            </a:r>
            <a:r>
              <a:rPr lang="en-GB" sz="2800" dirty="0">
                <a:solidFill>
                  <a:srgbClr val="000000"/>
                </a:solidFill>
              </a:rPr>
              <a:t> de </a:t>
            </a:r>
            <a:r>
              <a:rPr lang="en-GB" sz="2800" dirty="0" err="1">
                <a:solidFill>
                  <a:srgbClr val="000000"/>
                </a:solidFill>
              </a:rPr>
              <a:t>couche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réseau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commun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anchor="b">
            <a:normAutofit/>
          </a:bodyPr>
          <a:lstStyle/>
          <a:p>
            <a:r>
              <a:rPr lang="en-GB" b="1" dirty="0" err="1" smtClean="0">
                <a:solidFill>
                  <a:srgbClr val="C00000"/>
                </a:solidFill>
              </a:rPr>
              <a:t>Que</a:t>
            </a:r>
            <a:r>
              <a:rPr lang="en-GB" b="1" dirty="0" smtClean="0">
                <a:solidFill>
                  <a:srgbClr val="C00000"/>
                </a:solidFill>
              </a:rPr>
              <a:t> </a:t>
            </a:r>
            <a:r>
              <a:rPr lang="en-GB" b="1" dirty="0" err="1">
                <a:solidFill>
                  <a:srgbClr val="C00000"/>
                </a:solidFill>
              </a:rPr>
              <a:t>sont</a:t>
            </a:r>
            <a:r>
              <a:rPr lang="en-GB" b="1" dirty="0">
                <a:solidFill>
                  <a:srgbClr val="C00000"/>
                </a:solidFill>
              </a:rPr>
              <a:t> les </a:t>
            </a:r>
            <a:r>
              <a:rPr lang="en-GB" b="1" dirty="0" err="1">
                <a:solidFill>
                  <a:srgbClr val="C00000"/>
                </a:solidFill>
              </a:rPr>
              <a:t>routeurs</a:t>
            </a:r>
            <a:r>
              <a:rPr lang="en-GB" b="1" dirty="0">
                <a:solidFill>
                  <a:srgbClr val="C00000"/>
                </a:solidFill>
              </a:rPr>
              <a:t> ?</a:t>
            </a:r>
            <a:endParaRPr 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192614" name="Group 102"/>
          <p:cNvGraphicFramePr>
            <a:graphicFrameLocks noGrp="1"/>
          </p:cNvGraphicFramePr>
          <p:nvPr/>
        </p:nvGraphicFramePr>
        <p:xfrm>
          <a:off x="290287" y="1952168"/>
          <a:ext cx="8548913" cy="3664860"/>
        </p:xfrm>
        <a:graphic>
          <a:graphicData uri="http://schemas.openxmlformats.org/drawingml/2006/table">
            <a:tbl>
              <a:tblPr/>
              <a:tblGrid>
                <a:gridCol w="2312192"/>
                <a:gridCol w="6236721"/>
              </a:tblGrid>
              <a:tr h="9265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Types de </a:t>
                      </a:r>
                      <a:r>
                        <a:rPr kumimoji="0" lang="en-GB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routeurs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Exemple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</a:tr>
              <a:tr h="11504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matériel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Périphérique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exclusivement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dédié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au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routage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58789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logiciel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Routeur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 qui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remplit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cette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fonction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parmi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les multiples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processus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exécutés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sur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l'ordinateur</a:t>
                      </a:r>
                      <a:r>
                        <a:rPr kumimoji="0" lang="en-GB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GB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routeur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anchor="b">
            <a:normAutofit/>
          </a:bodyPr>
          <a:lstStyle/>
          <a:p>
            <a:r>
              <a:rPr lang="en-GB" b="1" dirty="0" err="1" smtClean="0">
                <a:solidFill>
                  <a:srgbClr val="C00000"/>
                </a:solidFill>
              </a:rPr>
              <a:t>Que</a:t>
            </a:r>
            <a:r>
              <a:rPr lang="en-GB" b="1" dirty="0" smtClean="0">
                <a:solidFill>
                  <a:srgbClr val="C00000"/>
                </a:solidFill>
              </a:rPr>
              <a:t> </a:t>
            </a:r>
            <a:r>
              <a:rPr lang="en-GB" b="1" dirty="0" err="1">
                <a:solidFill>
                  <a:srgbClr val="C00000"/>
                </a:solidFill>
              </a:rPr>
              <a:t>sont</a:t>
            </a:r>
            <a:r>
              <a:rPr lang="en-GB" b="1" dirty="0">
                <a:solidFill>
                  <a:srgbClr val="C00000"/>
                </a:solidFill>
              </a:rPr>
              <a:t> les </a:t>
            </a:r>
            <a:r>
              <a:rPr lang="en-GB" b="1" dirty="0" err="1">
                <a:solidFill>
                  <a:srgbClr val="C00000"/>
                </a:solidFill>
              </a:rPr>
              <a:t>routeurs</a:t>
            </a:r>
            <a:r>
              <a:rPr lang="en-GB" b="1" dirty="0">
                <a:solidFill>
                  <a:srgbClr val="C00000"/>
                </a:solidFill>
              </a:rPr>
              <a:t> 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92602" name="AutoShape 9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96572" y="2849562"/>
            <a:ext cx="5486400" cy="2840038"/>
          </a:xfrm>
          <a:prstGeom prst="roundRect">
            <a:avLst>
              <a:gd name="adj" fmla="val 8319"/>
            </a:avLst>
          </a:prstGeom>
          <a:solidFill>
            <a:schemeClr val="bg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45720" anchor="ctr"/>
          <a:lstStyle/>
          <a:p>
            <a:pPr marL="231775" indent="-231775" algn="l">
              <a:lnSpc>
                <a:spcPct val="200000"/>
              </a:lnSpc>
              <a:buSzPct val="80000"/>
              <a:buFontTx/>
              <a:buBlip>
                <a:blip r:embed="rId5"/>
              </a:buBlip>
            </a:pPr>
            <a:r>
              <a:rPr lang="en-GB" sz="2800" dirty="0">
                <a:solidFill>
                  <a:srgbClr val="000000"/>
                </a:solidFill>
                <a:hlinkClick r:id="rId6" action="ppaction://hlinksldjump"/>
              </a:rPr>
              <a:t>Interface de </a:t>
            </a:r>
            <a:r>
              <a:rPr lang="en-GB" sz="2800" dirty="0" err="1">
                <a:solidFill>
                  <a:srgbClr val="000000"/>
                </a:solidFill>
                <a:hlinkClick r:id="rId6" action="ppaction://hlinksldjump"/>
              </a:rPr>
              <a:t>routage</a:t>
            </a:r>
            <a:endParaRPr lang="en-US" sz="2800" dirty="0"/>
          </a:p>
          <a:p>
            <a:pPr marL="231775" indent="-231775" algn="l">
              <a:lnSpc>
                <a:spcPct val="200000"/>
              </a:lnSpc>
              <a:buSzPct val="80000"/>
              <a:buFontTx/>
              <a:buBlip>
                <a:blip r:embed="rId5"/>
              </a:buBlip>
            </a:pPr>
            <a:r>
              <a:rPr lang="en-GB" sz="2800" dirty="0">
                <a:solidFill>
                  <a:srgbClr val="000000"/>
                </a:solidFill>
                <a:hlinkClick r:id="rId7" action="ppaction://hlinksldjump"/>
              </a:rPr>
              <a:t>Protocole de </a:t>
            </a:r>
            <a:r>
              <a:rPr lang="en-GB" sz="2800" dirty="0" err="1">
                <a:solidFill>
                  <a:srgbClr val="000000"/>
                </a:solidFill>
                <a:hlinkClick r:id="rId7" action="ppaction://hlinksldjump"/>
              </a:rPr>
              <a:t>routage</a:t>
            </a:r>
            <a:endParaRPr lang="en-US" sz="2800" dirty="0"/>
          </a:p>
          <a:p>
            <a:pPr marL="231775" indent="-231775" algn="l">
              <a:lnSpc>
                <a:spcPct val="200000"/>
              </a:lnSpc>
              <a:buSzPct val="80000"/>
              <a:buFontTx/>
              <a:buBlip>
                <a:blip r:embed="rId5"/>
              </a:buBlip>
            </a:pPr>
            <a:r>
              <a:rPr lang="en-GB" sz="2800" dirty="0">
                <a:solidFill>
                  <a:srgbClr val="000000"/>
                </a:solidFill>
                <a:hlinkClick r:id="rId8" action="ppaction://hlinksldjump"/>
              </a:rPr>
              <a:t>Table de </a:t>
            </a:r>
            <a:r>
              <a:rPr lang="en-GB" sz="2800" dirty="0" err="1">
                <a:solidFill>
                  <a:srgbClr val="000000"/>
                </a:solidFill>
                <a:hlinkClick r:id="rId8" action="ppaction://hlinksldjump"/>
              </a:rPr>
              <a:t>routage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8816" y="2025134"/>
            <a:ext cx="58512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GB" sz="2800" i="1" dirty="0" smtClean="0">
                <a:solidFill>
                  <a:srgbClr val="000000"/>
                </a:solidFill>
              </a:rPr>
              <a:t>Les </a:t>
            </a:r>
            <a:r>
              <a:rPr lang="en-GB" sz="2800" i="1" dirty="0" err="1" smtClean="0">
                <a:solidFill>
                  <a:srgbClr val="000000"/>
                </a:solidFill>
              </a:rPr>
              <a:t>principaux</a:t>
            </a:r>
            <a:r>
              <a:rPr lang="en-GB" sz="2800" i="1" dirty="0" smtClean="0">
                <a:solidFill>
                  <a:srgbClr val="000000"/>
                </a:solidFill>
              </a:rPr>
              <a:t> </a:t>
            </a:r>
            <a:r>
              <a:rPr lang="en-GB" sz="2800" i="1" dirty="0" err="1" smtClean="0">
                <a:solidFill>
                  <a:srgbClr val="000000"/>
                </a:solidFill>
              </a:rPr>
              <a:t>composants</a:t>
            </a:r>
            <a:r>
              <a:rPr lang="en-GB" sz="2800" i="1" dirty="0" smtClean="0">
                <a:solidFill>
                  <a:srgbClr val="000000"/>
                </a:solidFill>
              </a:rPr>
              <a:t> du </a:t>
            </a:r>
            <a:r>
              <a:rPr lang="en-GB" sz="2800" i="1" dirty="0" err="1" smtClean="0">
                <a:solidFill>
                  <a:srgbClr val="000000"/>
                </a:solidFill>
              </a:rPr>
              <a:t>routage</a:t>
            </a:r>
            <a:r>
              <a:rPr lang="en-GB" sz="2800" i="1" dirty="0" smtClean="0">
                <a:solidFill>
                  <a:srgbClr val="000000"/>
                </a:solidFill>
              </a:rPr>
              <a:t> :</a:t>
            </a:r>
            <a:endParaRPr lang="en-US" sz="28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41" name="Rectangle 17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anchor="b">
            <a:normAutofit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Que </a:t>
            </a:r>
            <a:r>
              <a:rPr lang="fr-FR" b="1" dirty="0">
                <a:solidFill>
                  <a:srgbClr val="C00000"/>
                </a:solidFill>
              </a:rPr>
              <a:t>sont les interfaces de routage 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80350" name="Oval 126"/>
          <p:cNvSpPr>
            <a:spLocks noChangeArrowheads="1"/>
          </p:cNvSpPr>
          <p:nvPr/>
        </p:nvSpPr>
        <p:spPr bwMode="auto">
          <a:xfrm>
            <a:off x="4038600" y="2347693"/>
            <a:ext cx="2281238" cy="1219200"/>
          </a:xfrm>
          <a:prstGeom prst="ellipse">
            <a:avLst/>
          </a:prstGeom>
          <a:solidFill>
            <a:srgbClr val="FFFFFF">
              <a:alpha val="75000"/>
            </a:srgb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22" name="Groupe 21"/>
          <p:cNvGrpSpPr/>
          <p:nvPr/>
        </p:nvGrpSpPr>
        <p:grpSpPr>
          <a:xfrm>
            <a:off x="196848" y="1843322"/>
            <a:ext cx="6349106" cy="3565739"/>
            <a:chOff x="1111248" y="2438400"/>
            <a:chExt cx="5579505" cy="2941638"/>
          </a:xfrm>
        </p:grpSpPr>
        <p:sp>
          <p:nvSpPr>
            <p:cNvPr id="180351" name="Line 127"/>
            <p:cNvSpPr>
              <a:spLocks noChangeShapeType="1"/>
            </p:cNvSpPr>
            <p:nvPr/>
          </p:nvSpPr>
          <p:spPr bwMode="auto">
            <a:xfrm>
              <a:off x="4988959" y="3505200"/>
              <a:ext cx="838198" cy="457200"/>
            </a:xfrm>
            <a:prstGeom prst="line">
              <a:avLst/>
            </a:prstGeom>
            <a:noFill/>
            <a:ln w="50800">
              <a:solidFill>
                <a:srgbClr val="6666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grpSp>
          <p:nvGrpSpPr>
            <p:cNvPr id="21" name="Groupe 20"/>
            <p:cNvGrpSpPr/>
            <p:nvPr/>
          </p:nvGrpSpPr>
          <p:grpSpPr>
            <a:xfrm>
              <a:off x="1111248" y="2438400"/>
              <a:ext cx="5579505" cy="2941638"/>
              <a:chOff x="1009650" y="2438400"/>
              <a:chExt cx="5579505" cy="2941638"/>
            </a:xfrm>
          </p:grpSpPr>
          <p:sp>
            <p:nvSpPr>
              <p:cNvPr id="180352" name="Line 128"/>
              <p:cNvSpPr>
                <a:spLocks noChangeShapeType="1"/>
              </p:cNvSpPr>
              <p:nvPr/>
            </p:nvSpPr>
            <p:spPr bwMode="auto">
              <a:xfrm flipV="1">
                <a:off x="4912758" y="3276600"/>
                <a:ext cx="533399" cy="304800"/>
              </a:xfrm>
              <a:prstGeom prst="line">
                <a:avLst/>
              </a:prstGeom>
              <a:noFill/>
              <a:ln w="50800">
                <a:solidFill>
                  <a:srgbClr val="666699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0364" name="Freeform 140"/>
              <p:cNvSpPr>
                <a:spLocks/>
              </p:cNvSpPr>
              <p:nvPr/>
            </p:nvSpPr>
            <p:spPr bwMode="auto">
              <a:xfrm>
                <a:off x="2452688" y="2700338"/>
                <a:ext cx="2743200" cy="1722437"/>
              </a:xfrm>
              <a:custGeom>
                <a:avLst/>
                <a:gdLst/>
                <a:ahLst/>
                <a:cxnLst>
                  <a:cxn ang="0">
                    <a:pos x="337" y="1085"/>
                  </a:cxn>
                  <a:cxn ang="0">
                    <a:pos x="0" y="0"/>
                  </a:cxn>
                  <a:cxn ang="0">
                    <a:pos x="1719" y="420"/>
                  </a:cxn>
                  <a:cxn ang="0">
                    <a:pos x="1728" y="722"/>
                  </a:cxn>
                  <a:cxn ang="0">
                    <a:pos x="337" y="1085"/>
                  </a:cxn>
                </a:cxnLst>
                <a:rect l="0" t="0" r="r" b="b"/>
                <a:pathLst>
                  <a:path w="1728" h="1085">
                    <a:moveTo>
                      <a:pt x="337" y="1085"/>
                    </a:moveTo>
                    <a:lnTo>
                      <a:pt x="0" y="0"/>
                    </a:lnTo>
                    <a:lnTo>
                      <a:pt x="1719" y="420"/>
                    </a:lnTo>
                    <a:lnTo>
                      <a:pt x="1728" y="722"/>
                    </a:lnTo>
                    <a:lnTo>
                      <a:pt x="337" y="1085"/>
                    </a:lnTo>
                    <a:close/>
                  </a:path>
                </a:pathLst>
              </a:custGeom>
              <a:solidFill>
                <a:srgbClr val="BBCDE3">
                  <a:alpha val="75000"/>
                </a:srgbClr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pic>
            <p:nvPicPr>
              <p:cNvPr id="180366" name="Picture 142" descr="Server_ServerBack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1009650" y="2438400"/>
                <a:ext cx="2133600" cy="2590800"/>
              </a:xfrm>
              <a:prstGeom prst="rect">
                <a:avLst/>
              </a:prstGeom>
              <a:noFill/>
            </p:spPr>
          </p:pic>
          <p:pic>
            <p:nvPicPr>
              <p:cNvPr id="180374" name="Picture 150" descr="Lan01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5293758" y="2590800"/>
                <a:ext cx="1219198" cy="1033463"/>
              </a:xfrm>
              <a:prstGeom prst="rect">
                <a:avLst/>
              </a:prstGeom>
              <a:noFill/>
            </p:spPr>
          </p:pic>
          <p:pic>
            <p:nvPicPr>
              <p:cNvPr id="180375" name="Picture 151" descr="Server01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4288872" y="3092450"/>
                <a:ext cx="877885" cy="1033463"/>
              </a:xfrm>
              <a:prstGeom prst="rect">
                <a:avLst/>
              </a:prstGeom>
              <a:noFill/>
            </p:spPr>
          </p:pic>
          <p:pic>
            <p:nvPicPr>
              <p:cNvPr id="180376" name="Picture 152" descr="Lan01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5369957" y="3581400"/>
                <a:ext cx="1219198" cy="1033463"/>
              </a:xfrm>
              <a:prstGeom prst="rect">
                <a:avLst/>
              </a:prstGeom>
              <a:noFill/>
            </p:spPr>
          </p:pic>
          <p:sp>
            <p:nvSpPr>
              <p:cNvPr id="180378" name="Line 154"/>
              <p:cNvSpPr>
                <a:spLocks noChangeShapeType="1"/>
              </p:cNvSpPr>
              <p:nvPr/>
            </p:nvSpPr>
            <p:spPr bwMode="auto">
              <a:xfrm>
                <a:off x="2686050" y="4495800"/>
                <a:ext cx="592138" cy="530225"/>
              </a:xfrm>
              <a:prstGeom prst="line">
                <a:avLst/>
              </a:prstGeom>
              <a:noFill/>
              <a:ln w="57150">
                <a:solidFill>
                  <a:srgbClr val="CC0000"/>
                </a:solidFill>
                <a:prstDash val="sysDot"/>
                <a:round/>
                <a:headEnd type="triangle" w="med" len="med"/>
                <a:tailEnd/>
              </a:ln>
              <a:effectLst>
                <a:outerShdw dist="17961" dir="2700000" algn="ctr" rotWithShape="0">
                  <a:schemeClr val="bg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  <p:pic>
            <p:nvPicPr>
              <p:cNvPr id="180379" name="Picture 155" descr="Cards_NetworkCard01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3052763" y="4865688"/>
                <a:ext cx="1066800" cy="514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0377" name="Line 153"/>
              <p:cNvSpPr>
                <a:spLocks noChangeShapeType="1"/>
              </p:cNvSpPr>
              <p:nvPr/>
            </p:nvSpPr>
            <p:spPr bwMode="auto">
              <a:xfrm>
                <a:off x="2762250" y="4191000"/>
                <a:ext cx="533400" cy="457200"/>
              </a:xfrm>
              <a:prstGeom prst="line">
                <a:avLst/>
              </a:prstGeom>
              <a:noFill/>
              <a:ln w="57150">
                <a:solidFill>
                  <a:srgbClr val="CC0000"/>
                </a:solidFill>
                <a:prstDash val="sysDot"/>
                <a:round/>
                <a:headEnd type="triangle" w="med" len="med"/>
                <a:tailEnd/>
              </a:ln>
              <a:effectLst>
                <a:outerShdw dist="17961" dir="2700000" algn="ctr" rotWithShape="0">
                  <a:schemeClr val="bg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  <p:pic>
            <p:nvPicPr>
              <p:cNvPr id="180369" name="Picture 145" descr="Cards_NetworkCard01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3052763" y="4484688"/>
                <a:ext cx="1066800" cy="514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19" name="Rectangle 18"/>
          <p:cNvSpPr/>
          <p:nvPr/>
        </p:nvSpPr>
        <p:spPr>
          <a:xfrm>
            <a:off x="188686" y="1435362"/>
            <a:ext cx="8781143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 dirty="0" err="1">
                <a:solidFill>
                  <a:srgbClr val="000000"/>
                </a:solidFill>
              </a:rPr>
              <a:t>Une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i="1" dirty="0">
                <a:solidFill>
                  <a:srgbClr val="000000"/>
                </a:solidFill>
              </a:rPr>
              <a:t>interface de </a:t>
            </a:r>
            <a:r>
              <a:rPr lang="en-GB" sz="2400" i="1" dirty="0" err="1">
                <a:solidFill>
                  <a:srgbClr val="000000"/>
                </a:solidFill>
              </a:rPr>
              <a:t>routage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est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une</a:t>
            </a:r>
            <a:r>
              <a:rPr lang="en-GB" sz="2400" dirty="0">
                <a:solidFill>
                  <a:srgbClr val="000000"/>
                </a:solidFill>
              </a:rPr>
              <a:t> interface </a:t>
            </a:r>
            <a:r>
              <a:rPr lang="en-GB" sz="2400" dirty="0" err="1">
                <a:solidFill>
                  <a:srgbClr val="000000"/>
                </a:solidFill>
              </a:rPr>
              <a:t>permettant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d'acheminer</a:t>
            </a:r>
            <a:r>
              <a:rPr lang="en-GB" sz="2400" dirty="0">
                <a:solidFill>
                  <a:srgbClr val="000000"/>
                </a:solidFill>
              </a:rPr>
              <a:t> des </a:t>
            </a:r>
            <a:r>
              <a:rPr lang="en-GB" sz="2400" dirty="0" err="1">
                <a:solidFill>
                  <a:srgbClr val="000000"/>
                </a:solidFill>
              </a:rPr>
              <a:t>paquets</a:t>
            </a:r>
            <a:r>
              <a:rPr lang="en-GB" sz="2400" dirty="0">
                <a:solidFill>
                  <a:srgbClr val="000000"/>
                </a:solidFill>
              </a:rPr>
              <a:t> IP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232229" y="5452982"/>
            <a:ext cx="8911771" cy="886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1775" indent="-231775" algn="l">
              <a:spcBef>
                <a:spcPct val="15000"/>
              </a:spcBef>
              <a:buSzPct val="80000"/>
              <a:buFontTx/>
              <a:buBlip>
                <a:blip r:embed="rId8"/>
              </a:buBlip>
            </a:pPr>
            <a:r>
              <a:rPr lang="en-GB" sz="2400" i="1" u="sng" dirty="0" err="1" smtClean="0">
                <a:solidFill>
                  <a:srgbClr val="000000"/>
                </a:solidFill>
              </a:rPr>
              <a:t>Réseau</a:t>
            </a:r>
            <a:r>
              <a:rPr lang="en-GB" sz="2400" i="1" u="sng" dirty="0" smtClean="0">
                <a:solidFill>
                  <a:srgbClr val="000000"/>
                </a:solidFill>
              </a:rPr>
              <a:t> LAN</a:t>
            </a:r>
            <a:r>
              <a:rPr lang="en-GB" sz="2400" dirty="0" smtClean="0">
                <a:solidFill>
                  <a:srgbClr val="000000"/>
                </a:solidFill>
              </a:rPr>
              <a:t>: carte </a:t>
            </a:r>
            <a:r>
              <a:rPr lang="en-GB" sz="2400" dirty="0" err="1" smtClean="0">
                <a:solidFill>
                  <a:srgbClr val="000000"/>
                </a:solidFill>
              </a:rPr>
              <a:t>réseau</a:t>
            </a:r>
            <a:endParaRPr lang="en-US" sz="2400" dirty="0" smtClean="0"/>
          </a:p>
          <a:p>
            <a:pPr marL="231775" indent="-231775" algn="l">
              <a:spcBef>
                <a:spcPct val="15000"/>
              </a:spcBef>
              <a:buSzPct val="80000"/>
              <a:buFontTx/>
              <a:buBlip>
                <a:blip r:embed="rId8"/>
              </a:buBlip>
            </a:pPr>
            <a:r>
              <a:rPr lang="en-GB" sz="2400" i="1" u="sng" dirty="0" err="1" smtClean="0">
                <a:solidFill>
                  <a:srgbClr val="000000"/>
                </a:solidFill>
              </a:rPr>
              <a:t>Numérotation</a:t>
            </a:r>
            <a:r>
              <a:rPr lang="en-GB" sz="2400" i="1" u="sng" dirty="0" smtClean="0">
                <a:solidFill>
                  <a:srgbClr val="000000"/>
                </a:solidFill>
              </a:rPr>
              <a:t> à la </a:t>
            </a:r>
            <a:r>
              <a:rPr lang="en-GB" sz="2400" i="1" u="sng" dirty="0" err="1" smtClean="0">
                <a:solidFill>
                  <a:srgbClr val="000000"/>
                </a:solidFill>
              </a:rPr>
              <a:t>demande</a:t>
            </a:r>
            <a:r>
              <a:rPr lang="en-GB" sz="2400" dirty="0" smtClean="0">
                <a:solidFill>
                  <a:srgbClr val="000000"/>
                </a:solidFill>
              </a:rPr>
              <a:t>: liaison point a point (modem)</a:t>
            </a:r>
            <a:endParaRPr lang="en-US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90" name="Rectangle 18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anchor="b">
            <a:normAutofit/>
          </a:bodyPr>
          <a:lstStyle/>
          <a:p>
            <a:r>
              <a:rPr lang="en-GB" b="1" dirty="0" err="1" smtClean="0">
                <a:solidFill>
                  <a:srgbClr val="C00000"/>
                </a:solidFill>
              </a:rPr>
              <a:t>Que</a:t>
            </a:r>
            <a:r>
              <a:rPr lang="en-GB" b="1" dirty="0" smtClean="0">
                <a:solidFill>
                  <a:srgbClr val="C00000"/>
                </a:solidFill>
              </a:rPr>
              <a:t> </a:t>
            </a:r>
            <a:r>
              <a:rPr lang="en-GB" b="1" dirty="0" err="1">
                <a:solidFill>
                  <a:srgbClr val="C00000"/>
                </a:solidFill>
              </a:rPr>
              <a:t>sont</a:t>
            </a:r>
            <a:r>
              <a:rPr lang="en-GB" b="1" dirty="0">
                <a:solidFill>
                  <a:srgbClr val="C00000"/>
                </a:solidFill>
              </a:rPr>
              <a:t> les </a:t>
            </a:r>
            <a:r>
              <a:rPr lang="en-GB" b="1" dirty="0" err="1">
                <a:solidFill>
                  <a:srgbClr val="C00000"/>
                </a:solidFill>
              </a:rPr>
              <a:t>protocoles</a:t>
            </a:r>
            <a:r>
              <a:rPr lang="en-GB" b="1" dirty="0">
                <a:solidFill>
                  <a:srgbClr val="C00000"/>
                </a:solidFill>
              </a:rPr>
              <a:t> de </a:t>
            </a:r>
            <a:r>
              <a:rPr lang="en-GB" b="1" dirty="0" err="1">
                <a:solidFill>
                  <a:srgbClr val="C00000"/>
                </a:solidFill>
              </a:rPr>
              <a:t>routage</a:t>
            </a:r>
            <a:r>
              <a:rPr lang="en-GB" b="1" dirty="0">
                <a:solidFill>
                  <a:srgbClr val="C00000"/>
                </a:solidFill>
              </a:rPr>
              <a:t> 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8686" y="1678222"/>
            <a:ext cx="8636000" cy="1949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2800" dirty="0">
                <a:solidFill>
                  <a:srgbClr val="000000"/>
                </a:solidFill>
              </a:rPr>
              <a:t>Un </a:t>
            </a:r>
            <a:r>
              <a:rPr lang="en-GB" sz="2800" i="1" dirty="0" err="1">
                <a:solidFill>
                  <a:srgbClr val="000000"/>
                </a:solidFill>
              </a:rPr>
              <a:t>protocole</a:t>
            </a:r>
            <a:r>
              <a:rPr lang="en-GB" sz="2800" i="1" dirty="0">
                <a:solidFill>
                  <a:srgbClr val="000000"/>
                </a:solidFill>
              </a:rPr>
              <a:t> de </a:t>
            </a:r>
            <a:r>
              <a:rPr lang="en-GB" sz="2800" i="1" dirty="0" err="1">
                <a:solidFill>
                  <a:srgbClr val="000000"/>
                </a:solidFill>
              </a:rPr>
              <a:t>routage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est</a:t>
            </a:r>
            <a:r>
              <a:rPr lang="en-GB" sz="2800" dirty="0">
                <a:solidFill>
                  <a:srgbClr val="000000"/>
                </a:solidFill>
              </a:rPr>
              <a:t> un ensemble de messages </a:t>
            </a:r>
            <a:r>
              <a:rPr lang="en-GB" sz="2800" dirty="0" err="1">
                <a:solidFill>
                  <a:srgbClr val="000000"/>
                </a:solidFill>
              </a:rPr>
              <a:t>utilisés</a:t>
            </a:r>
            <a:r>
              <a:rPr lang="en-GB" sz="2800" dirty="0">
                <a:solidFill>
                  <a:srgbClr val="000000"/>
                </a:solidFill>
              </a:rPr>
              <a:t> par les </a:t>
            </a:r>
            <a:r>
              <a:rPr lang="en-GB" sz="2800" dirty="0" err="1">
                <a:solidFill>
                  <a:srgbClr val="000000"/>
                </a:solidFill>
              </a:rPr>
              <a:t>routeurs</a:t>
            </a:r>
            <a:r>
              <a:rPr lang="en-GB" sz="2800" dirty="0">
                <a:solidFill>
                  <a:srgbClr val="000000"/>
                </a:solidFill>
              </a:rPr>
              <a:t> pour </a:t>
            </a:r>
            <a:r>
              <a:rPr lang="en-GB" sz="2800" dirty="0" err="1">
                <a:solidFill>
                  <a:srgbClr val="000000"/>
                </a:solidFill>
              </a:rPr>
              <a:t>déterminer</a:t>
            </a:r>
            <a:r>
              <a:rPr lang="en-GB" sz="2800" dirty="0">
                <a:solidFill>
                  <a:srgbClr val="000000"/>
                </a:solidFill>
              </a:rPr>
              <a:t> le </a:t>
            </a:r>
            <a:r>
              <a:rPr lang="en-GB" sz="2800" dirty="0" err="1">
                <a:solidFill>
                  <a:srgbClr val="000000"/>
                </a:solidFill>
              </a:rPr>
              <a:t>chemin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approprié</a:t>
            </a:r>
            <a:r>
              <a:rPr lang="en-GB" sz="2800" dirty="0">
                <a:solidFill>
                  <a:srgbClr val="000000"/>
                </a:solidFill>
              </a:rPr>
              <a:t> pour </a:t>
            </a:r>
            <a:r>
              <a:rPr lang="en-GB" sz="2800" dirty="0" err="1">
                <a:solidFill>
                  <a:srgbClr val="000000"/>
                </a:solidFill>
              </a:rPr>
              <a:t>transmettre</a:t>
            </a:r>
            <a:r>
              <a:rPr lang="en-GB" sz="2800" dirty="0">
                <a:solidFill>
                  <a:srgbClr val="000000"/>
                </a:solidFill>
              </a:rPr>
              <a:t> des </a:t>
            </a:r>
            <a:r>
              <a:rPr lang="en-GB" sz="2800" dirty="0" err="1" smtClean="0">
                <a:solidFill>
                  <a:srgbClr val="000000"/>
                </a:solidFill>
              </a:rPr>
              <a:t>données</a:t>
            </a:r>
            <a:endParaRPr lang="en-US" sz="2800" dirty="0"/>
          </a:p>
        </p:txBody>
      </p:sp>
      <p:sp>
        <p:nvSpPr>
          <p:cNvPr id="11" name="Rectangle 10"/>
          <p:cNvSpPr/>
          <p:nvPr/>
        </p:nvSpPr>
        <p:spPr>
          <a:xfrm>
            <a:off x="1463645" y="3926508"/>
            <a:ext cx="516938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>
                <a:solidFill>
                  <a:srgbClr val="000000"/>
                </a:solidFill>
              </a:rPr>
              <a:t>Protocole </a:t>
            </a:r>
            <a:r>
              <a:rPr lang="en-GB" sz="2800" dirty="0" smtClean="0">
                <a:solidFill>
                  <a:srgbClr val="000000"/>
                </a:solidFill>
              </a:rPr>
              <a:t>RIP</a:t>
            </a:r>
          </a:p>
          <a:p>
            <a:pPr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>
                <a:solidFill>
                  <a:srgbClr val="000000"/>
                </a:solidFill>
              </a:rPr>
              <a:t>Protocole OSPF 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19" name="AutoShape 4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35429" y="1596571"/>
            <a:ext cx="8287657" cy="4542967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r>
              <a:rPr lang="en-GB" sz="2800" dirty="0">
                <a:solidFill>
                  <a:srgbClr val="000000"/>
                </a:solidFill>
              </a:rPr>
              <a:t>Protocole </a:t>
            </a:r>
            <a:r>
              <a:rPr lang="en-GB" sz="2800" dirty="0" smtClean="0">
                <a:solidFill>
                  <a:srgbClr val="000000"/>
                </a:solidFill>
              </a:rPr>
              <a:t>RIP (</a:t>
            </a:r>
            <a:r>
              <a:rPr lang="en-GB" sz="2800" i="1" dirty="0" smtClean="0">
                <a:solidFill>
                  <a:srgbClr val="000000"/>
                </a:solidFill>
              </a:rPr>
              <a:t>Routing Information Protocole</a:t>
            </a:r>
            <a:r>
              <a:rPr lang="en-GB" sz="2800" dirty="0" smtClean="0">
                <a:solidFill>
                  <a:srgbClr val="000000"/>
                </a:solidFill>
              </a:rPr>
              <a:t>)</a:t>
            </a:r>
            <a:endParaRPr lang="en-US" sz="2800" dirty="0"/>
          </a:p>
          <a:p>
            <a:pPr algn="l"/>
            <a:endParaRPr lang="en-US" sz="2400" b="0" dirty="0">
              <a:latin typeface="Arial" charset="0"/>
            </a:endParaRPr>
          </a:p>
        </p:txBody>
      </p:sp>
      <p:sp>
        <p:nvSpPr>
          <p:cNvPr id="182290" name="Rectangle 18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anchor="b">
            <a:normAutofit/>
          </a:bodyPr>
          <a:lstStyle/>
          <a:p>
            <a:r>
              <a:rPr lang="en-GB" b="1" dirty="0" err="1" smtClean="0">
                <a:solidFill>
                  <a:srgbClr val="C00000"/>
                </a:solidFill>
              </a:rPr>
              <a:t>Que</a:t>
            </a:r>
            <a:r>
              <a:rPr lang="en-GB" b="1" dirty="0" smtClean="0">
                <a:solidFill>
                  <a:srgbClr val="C00000"/>
                </a:solidFill>
              </a:rPr>
              <a:t> </a:t>
            </a:r>
            <a:r>
              <a:rPr lang="en-GB" b="1" dirty="0" err="1">
                <a:solidFill>
                  <a:srgbClr val="C00000"/>
                </a:solidFill>
              </a:rPr>
              <a:t>sont</a:t>
            </a:r>
            <a:r>
              <a:rPr lang="en-GB" b="1" dirty="0">
                <a:solidFill>
                  <a:srgbClr val="C00000"/>
                </a:solidFill>
              </a:rPr>
              <a:t> les </a:t>
            </a:r>
            <a:r>
              <a:rPr lang="en-GB" b="1" dirty="0" err="1">
                <a:solidFill>
                  <a:srgbClr val="C00000"/>
                </a:solidFill>
              </a:rPr>
              <a:t>protocoles</a:t>
            </a:r>
            <a:r>
              <a:rPr lang="en-GB" b="1" dirty="0">
                <a:solidFill>
                  <a:srgbClr val="C00000"/>
                </a:solidFill>
              </a:rPr>
              <a:t> de </a:t>
            </a:r>
            <a:r>
              <a:rPr lang="en-GB" b="1" dirty="0" err="1">
                <a:solidFill>
                  <a:srgbClr val="C00000"/>
                </a:solidFill>
              </a:rPr>
              <a:t>routage</a:t>
            </a:r>
            <a:r>
              <a:rPr lang="en-GB" b="1" dirty="0">
                <a:solidFill>
                  <a:srgbClr val="C00000"/>
                </a:solidFill>
              </a:rPr>
              <a:t> 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82338" name="AutoShape 6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38629" y="2467426"/>
            <a:ext cx="7837713" cy="3012534"/>
          </a:xfrm>
          <a:prstGeom prst="roundRect">
            <a:avLst>
              <a:gd name="adj" fmla="val 8319"/>
            </a:avLst>
          </a:prstGeom>
          <a:gradFill rotWithShape="1">
            <a:gsLst>
              <a:gs pos="0">
                <a:srgbClr val="F0F1E1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45720" anchor="ctr"/>
          <a:lstStyle/>
          <a:p>
            <a:pPr marL="231775" indent="-231775" algn="l">
              <a:buSzPct val="80000"/>
              <a:buFontTx/>
              <a:buBlip>
                <a:blip r:embed="rId6"/>
              </a:buBlip>
            </a:pPr>
            <a:r>
              <a:rPr lang="en-GB" sz="2800" dirty="0" err="1">
                <a:solidFill>
                  <a:srgbClr val="000000"/>
                </a:solidFill>
              </a:rPr>
              <a:t>Conçu</a:t>
            </a:r>
            <a:r>
              <a:rPr lang="en-GB" sz="2800" dirty="0">
                <a:solidFill>
                  <a:srgbClr val="000000"/>
                </a:solidFill>
              </a:rPr>
              <a:t> pour les </a:t>
            </a:r>
            <a:r>
              <a:rPr lang="en-GB" sz="2800" dirty="0" err="1">
                <a:solidFill>
                  <a:srgbClr val="000000"/>
                </a:solidFill>
              </a:rPr>
              <a:t>réseaux</a:t>
            </a:r>
            <a:r>
              <a:rPr lang="en-GB" sz="2800" dirty="0">
                <a:solidFill>
                  <a:srgbClr val="000000"/>
                </a:solidFill>
              </a:rPr>
              <a:t> de petite à </a:t>
            </a:r>
            <a:r>
              <a:rPr lang="en-GB" sz="2800" dirty="0" err="1">
                <a:solidFill>
                  <a:srgbClr val="000000"/>
                </a:solidFill>
              </a:rPr>
              <a:t>moyenne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 smtClean="0">
                <a:solidFill>
                  <a:srgbClr val="000000"/>
                </a:solidFill>
              </a:rPr>
              <a:t>infrastrucure</a:t>
            </a:r>
            <a:endParaRPr lang="en-US" sz="2800" dirty="0"/>
          </a:p>
          <a:p>
            <a:pPr marL="231775" indent="-231775" algn="l">
              <a:buSzPct val="80000"/>
              <a:buFontTx/>
              <a:buBlip>
                <a:blip r:embed="rId6"/>
              </a:buBlip>
            </a:pPr>
            <a:r>
              <a:rPr lang="en-GB" sz="2800" dirty="0">
                <a:solidFill>
                  <a:srgbClr val="000000"/>
                </a:solidFill>
              </a:rPr>
              <a:t>Utilise </a:t>
            </a:r>
            <a:r>
              <a:rPr lang="en-GB" sz="2800" dirty="0" err="1">
                <a:solidFill>
                  <a:srgbClr val="000000"/>
                </a:solidFill>
              </a:rPr>
              <a:t>une</a:t>
            </a:r>
            <a:r>
              <a:rPr lang="en-GB" sz="2800" dirty="0">
                <a:solidFill>
                  <a:srgbClr val="000000"/>
                </a:solidFill>
              </a:rPr>
              <a:t> table de </a:t>
            </a:r>
            <a:r>
              <a:rPr lang="en-GB" sz="2800" dirty="0" err="1">
                <a:solidFill>
                  <a:srgbClr val="000000"/>
                </a:solidFill>
              </a:rPr>
              <a:t>routage</a:t>
            </a:r>
            <a:endParaRPr lang="en-US" sz="2800" dirty="0"/>
          </a:p>
          <a:p>
            <a:pPr marL="231775" indent="-231775" algn="l">
              <a:buSzPct val="80000"/>
              <a:buFontTx/>
              <a:buBlip>
                <a:blip r:embed="rId6"/>
              </a:buBlip>
            </a:pPr>
            <a:r>
              <a:rPr lang="en-GB" sz="2800" dirty="0">
                <a:solidFill>
                  <a:srgbClr val="000000"/>
                </a:solidFill>
              </a:rPr>
              <a:t>Plus facile à </a:t>
            </a:r>
            <a:r>
              <a:rPr lang="en-GB" sz="2800" dirty="0" err="1">
                <a:solidFill>
                  <a:srgbClr val="000000"/>
                </a:solidFill>
              </a:rPr>
              <a:t>configurer</a:t>
            </a:r>
            <a:r>
              <a:rPr lang="en-GB" sz="2800" dirty="0">
                <a:solidFill>
                  <a:srgbClr val="000000"/>
                </a:solidFill>
              </a:rPr>
              <a:t> et à </a:t>
            </a:r>
            <a:r>
              <a:rPr lang="en-GB" sz="2800" dirty="0" err="1">
                <a:solidFill>
                  <a:srgbClr val="000000"/>
                </a:solidFill>
              </a:rPr>
              <a:t>gérer</a:t>
            </a:r>
            <a:endParaRPr lang="en-US" sz="2800" dirty="0"/>
          </a:p>
          <a:p>
            <a:pPr marL="231775" indent="-231775" algn="l">
              <a:buSzPct val="80000"/>
              <a:buFontTx/>
              <a:buBlip>
                <a:blip r:embed="rId6"/>
              </a:buBlip>
            </a:pPr>
            <a:r>
              <a:rPr lang="en-GB" sz="2800" dirty="0" err="1">
                <a:solidFill>
                  <a:srgbClr val="000000"/>
                </a:solidFill>
              </a:rPr>
              <a:t>Peu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évolutif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90" name="Rectangle 18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anchor="b">
            <a:normAutofit/>
          </a:bodyPr>
          <a:lstStyle/>
          <a:p>
            <a:r>
              <a:rPr lang="en-GB" b="1" dirty="0" err="1" smtClean="0">
                <a:solidFill>
                  <a:srgbClr val="C00000"/>
                </a:solidFill>
              </a:rPr>
              <a:t>Que</a:t>
            </a:r>
            <a:r>
              <a:rPr lang="en-GB" b="1" dirty="0" smtClean="0">
                <a:solidFill>
                  <a:srgbClr val="C00000"/>
                </a:solidFill>
              </a:rPr>
              <a:t> </a:t>
            </a:r>
            <a:r>
              <a:rPr lang="en-GB" b="1" dirty="0" err="1">
                <a:solidFill>
                  <a:srgbClr val="C00000"/>
                </a:solidFill>
              </a:rPr>
              <a:t>sont</a:t>
            </a:r>
            <a:r>
              <a:rPr lang="en-GB" b="1" dirty="0">
                <a:solidFill>
                  <a:srgbClr val="C00000"/>
                </a:solidFill>
              </a:rPr>
              <a:t> les </a:t>
            </a:r>
            <a:r>
              <a:rPr lang="en-GB" b="1" dirty="0" err="1">
                <a:solidFill>
                  <a:srgbClr val="C00000"/>
                </a:solidFill>
              </a:rPr>
              <a:t>protocoles</a:t>
            </a:r>
            <a:r>
              <a:rPr lang="en-GB" b="1" dirty="0">
                <a:solidFill>
                  <a:srgbClr val="C00000"/>
                </a:solidFill>
              </a:rPr>
              <a:t> de </a:t>
            </a:r>
            <a:r>
              <a:rPr lang="en-GB" b="1" dirty="0" err="1">
                <a:solidFill>
                  <a:srgbClr val="C00000"/>
                </a:solidFill>
              </a:rPr>
              <a:t>routage</a:t>
            </a:r>
            <a:r>
              <a:rPr lang="en-GB" b="1" dirty="0">
                <a:solidFill>
                  <a:srgbClr val="C00000"/>
                </a:solidFill>
              </a:rPr>
              <a:t> 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82354" name="AutoShape 8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33830" y="1551437"/>
            <a:ext cx="8403770" cy="4428444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r>
              <a:rPr lang="en-GB" sz="2800" dirty="0">
                <a:solidFill>
                  <a:srgbClr val="000000"/>
                </a:solidFill>
              </a:rPr>
              <a:t>Protocole </a:t>
            </a:r>
            <a:r>
              <a:rPr lang="en-GB" sz="2800" dirty="0" smtClean="0">
                <a:solidFill>
                  <a:srgbClr val="000000"/>
                </a:solidFill>
              </a:rPr>
              <a:t>OSPF (Open Shortest Path First)</a:t>
            </a:r>
            <a:endParaRPr lang="en-US" sz="2800" dirty="0"/>
          </a:p>
          <a:p>
            <a:pPr algn="l"/>
            <a:endParaRPr lang="en-US" sz="2800" dirty="0"/>
          </a:p>
          <a:p>
            <a:pPr algn="l"/>
            <a:endParaRPr lang="en-US" sz="2800" b="0" dirty="0">
              <a:latin typeface="Arial" charset="0"/>
            </a:endParaRPr>
          </a:p>
        </p:txBody>
      </p:sp>
      <p:sp>
        <p:nvSpPr>
          <p:cNvPr id="182355" name="AutoShape 8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95086" y="2233152"/>
            <a:ext cx="7852228" cy="3593094"/>
          </a:xfrm>
          <a:prstGeom prst="roundRect">
            <a:avLst>
              <a:gd name="adj" fmla="val 8319"/>
            </a:avLst>
          </a:prstGeom>
          <a:gradFill rotWithShape="1">
            <a:gsLst>
              <a:gs pos="0">
                <a:srgbClr val="F0F1E1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45720" anchor="ctr"/>
          <a:lstStyle/>
          <a:p>
            <a:pPr marL="231775" indent="-231775" algn="l">
              <a:buSzPct val="80000"/>
              <a:buFontTx/>
              <a:buBlip>
                <a:blip r:embed="rId6"/>
              </a:buBlip>
            </a:pPr>
            <a:r>
              <a:rPr lang="en-GB" sz="2800" dirty="0" err="1">
                <a:solidFill>
                  <a:srgbClr val="000000"/>
                </a:solidFill>
              </a:rPr>
              <a:t>Conçu</a:t>
            </a:r>
            <a:r>
              <a:rPr lang="en-GB" sz="2800" dirty="0">
                <a:solidFill>
                  <a:srgbClr val="000000"/>
                </a:solidFill>
              </a:rPr>
              <a:t> pour les </a:t>
            </a:r>
            <a:r>
              <a:rPr lang="en-GB" sz="2800" dirty="0" err="1">
                <a:solidFill>
                  <a:srgbClr val="000000"/>
                </a:solidFill>
              </a:rPr>
              <a:t>réseaux</a:t>
            </a:r>
            <a:r>
              <a:rPr lang="en-GB" sz="2800" dirty="0">
                <a:solidFill>
                  <a:srgbClr val="000000"/>
                </a:solidFill>
              </a:rPr>
              <a:t> de </a:t>
            </a:r>
            <a:r>
              <a:rPr lang="en-GB" sz="2800" dirty="0" err="1">
                <a:solidFill>
                  <a:srgbClr val="000000"/>
                </a:solidFill>
              </a:rPr>
              <a:t>grande</a:t>
            </a:r>
            <a:r>
              <a:rPr lang="en-GB" sz="2800" dirty="0">
                <a:solidFill>
                  <a:srgbClr val="000000"/>
                </a:solidFill>
              </a:rPr>
              <a:t> à </a:t>
            </a:r>
            <a:r>
              <a:rPr lang="en-GB" sz="2800" dirty="0" err="1">
                <a:solidFill>
                  <a:srgbClr val="000000"/>
                </a:solidFill>
              </a:rPr>
              <a:t>très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grande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 smtClean="0">
                <a:solidFill>
                  <a:srgbClr val="000000"/>
                </a:solidFill>
              </a:rPr>
              <a:t>infrastrucure</a:t>
            </a:r>
            <a:endParaRPr lang="en-US" sz="2800" dirty="0"/>
          </a:p>
          <a:p>
            <a:pPr marL="231775" indent="-231775" algn="l">
              <a:buSzPct val="80000"/>
              <a:buFontTx/>
              <a:buBlip>
                <a:blip r:embed="rId6"/>
              </a:buBlip>
            </a:pPr>
            <a:r>
              <a:rPr lang="en-GB" sz="2800" dirty="0">
                <a:solidFill>
                  <a:srgbClr val="000000"/>
                </a:solidFill>
              </a:rPr>
              <a:t>Utilise </a:t>
            </a:r>
            <a:r>
              <a:rPr lang="en-GB" sz="2800" dirty="0" err="1">
                <a:solidFill>
                  <a:srgbClr val="000000"/>
                </a:solidFill>
              </a:rPr>
              <a:t>une</a:t>
            </a:r>
            <a:r>
              <a:rPr lang="en-GB" sz="2800" dirty="0">
                <a:solidFill>
                  <a:srgbClr val="000000"/>
                </a:solidFill>
              </a:rPr>
              <a:t> base de </a:t>
            </a:r>
            <a:r>
              <a:rPr lang="en-GB" sz="2800" dirty="0" err="1">
                <a:solidFill>
                  <a:srgbClr val="000000"/>
                </a:solidFill>
              </a:rPr>
              <a:t>données</a:t>
            </a:r>
            <a:r>
              <a:rPr lang="en-GB" sz="2800" dirty="0">
                <a:solidFill>
                  <a:srgbClr val="000000"/>
                </a:solidFill>
              </a:rPr>
              <a:t> d'état des liaisons</a:t>
            </a:r>
            <a:endParaRPr lang="en-US" sz="2800" dirty="0"/>
          </a:p>
          <a:p>
            <a:pPr marL="231775" indent="-231775" algn="l">
              <a:buSzPct val="80000"/>
              <a:buFontTx/>
              <a:buBlip>
                <a:blip r:embed="rId6"/>
              </a:buBlip>
            </a:pPr>
            <a:r>
              <a:rPr lang="en-GB" sz="2800" dirty="0" err="1">
                <a:solidFill>
                  <a:srgbClr val="000000"/>
                </a:solidFill>
              </a:rPr>
              <a:t>Complexe</a:t>
            </a:r>
            <a:r>
              <a:rPr lang="en-GB" sz="2800" dirty="0">
                <a:solidFill>
                  <a:srgbClr val="000000"/>
                </a:solidFill>
              </a:rPr>
              <a:t> à </a:t>
            </a:r>
            <a:r>
              <a:rPr lang="en-GB" sz="2800" dirty="0" err="1">
                <a:solidFill>
                  <a:srgbClr val="000000"/>
                </a:solidFill>
              </a:rPr>
              <a:t>configurer</a:t>
            </a:r>
            <a:r>
              <a:rPr lang="en-GB" sz="2800" dirty="0">
                <a:solidFill>
                  <a:srgbClr val="000000"/>
                </a:solidFill>
              </a:rPr>
              <a:t> et à </a:t>
            </a:r>
            <a:r>
              <a:rPr lang="en-GB" sz="2800" dirty="0" err="1">
                <a:solidFill>
                  <a:srgbClr val="000000"/>
                </a:solidFill>
              </a:rPr>
              <a:t>gérer</a:t>
            </a:r>
            <a:endParaRPr lang="en-US" sz="2800" dirty="0"/>
          </a:p>
          <a:p>
            <a:pPr marL="231775" indent="-231775" algn="l">
              <a:buSzPct val="80000"/>
              <a:buFontTx/>
              <a:buBlip>
                <a:blip r:embed="rId6"/>
              </a:buBlip>
            </a:pPr>
            <a:r>
              <a:rPr lang="en-GB" sz="2800" dirty="0" err="1">
                <a:solidFill>
                  <a:srgbClr val="000000"/>
                </a:solidFill>
              </a:rPr>
              <a:t>Efficace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sur</a:t>
            </a:r>
            <a:r>
              <a:rPr lang="en-GB" sz="2800" dirty="0">
                <a:solidFill>
                  <a:srgbClr val="000000"/>
                </a:solidFill>
              </a:rPr>
              <a:t> les </a:t>
            </a:r>
            <a:r>
              <a:rPr lang="en-GB" sz="2800" dirty="0" err="1">
                <a:solidFill>
                  <a:srgbClr val="000000"/>
                </a:solidFill>
              </a:rPr>
              <a:t>réseaux</a:t>
            </a:r>
            <a:r>
              <a:rPr lang="en-GB" sz="2800" dirty="0">
                <a:solidFill>
                  <a:srgbClr val="000000"/>
                </a:solidFill>
              </a:rPr>
              <a:t> de </a:t>
            </a:r>
            <a:r>
              <a:rPr lang="en-GB" sz="2800" dirty="0" err="1">
                <a:solidFill>
                  <a:srgbClr val="000000"/>
                </a:solidFill>
              </a:rPr>
              <a:t>grande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envergure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7" name="Bouton d'action : Retour 6">
            <a:hlinkClick r:id="rId7" action="ppaction://hlinksldjump" highlightClick="1"/>
          </p:cNvPr>
          <p:cNvSpPr/>
          <p:nvPr/>
        </p:nvSpPr>
        <p:spPr bwMode="auto">
          <a:xfrm>
            <a:off x="8302173" y="6125030"/>
            <a:ext cx="769257" cy="645886"/>
          </a:xfrm>
          <a:prstGeom prst="actionButtonReturn">
            <a:avLst/>
          </a:prstGeom>
          <a:solidFill>
            <a:schemeClr val="bg1"/>
          </a:solidFill>
          <a:ln w="9525" cap="flat" cmpd="sng" algn="ctr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BE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8287657" y="5776686"/>
            <a:ext cx="856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dirty="0" smtClean="0">
                <a:solidFill>
                  <a:schemeClr val="accent3">
                    <a:lumMod val="50000"/>
                  </a:schemeClr>
                </a:solidFill>
              </a:rPr>
              <a:t>Retour</a:t>
            </a:r>
            <a:endParaRPr lang="fr-BE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8" name="Rectangle 18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anchor="b">
            <a:normAutofit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Que </a:t>
            </a:r>
            <a:r>
              <a:rPr lang="fr-FR" b="1" dirty="0">
                <a:solidFill>
                  <a:srgbClr val="C00000"/>
                </a:solidFill>
              </a:rPr>
              <a:t>sont les tables de routage ?</a:t>
            </a:r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13" name="Groupe 12"/>
          <p:cNvGrpSpPr/>
          <p:nvPr/>
        </p:nvGrpSpPr>
        <p:grpSpPr>
          <a:xfrm>
            <a:off x="862466" y="2844795"/>
            <a:ext cx="7265533" cy="3698875"/>
            <a:chOff x="833438" y="2055813"/>
            <a:chExt cx="7129462" cy="3370262"/>
          </a:xfrm>
        </p:grpSpPr>
        <p:sp>
          <p:nvSpPr>
            <p:cNvPr id="184603" name="AutoShape 28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47725" y="2055813"/>
              <a:ext cx="1982788" cy="290512"/>
            </a:xfrm>
            <a:prstGeom prst="roundRect">
              <a:avLst>
                <a:gd name="adj" fmla="val 16667"/>
              </a:avLst>
            </a:prstGeom>
            <a:noFill/>
            <a:ln w="38100" algn="ctr">
              <a:solidFill>
                <a:srgbClr val="F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pic>
          <p:nvPicPr>
            <p:cNvPr id="184621" name="Picture 301" descr="Mod_1_1"/>
            <p:cNvPicPr>
              <a:picLocks noGrp="1" noChangeAspect="1" noChangeArrowheads="1"/>
            </p:cNvPicPr>
            <p:nvPr>
              <p:ph sz="quarter" idx="1"/>
            </p:nvPr>
          </p:nvPicPr>
          <p:blipFill>
            <a:blip r:embed="rId10"/>
            <a:srcRect t="11499" r="3593" b="26283"/>
            <a:stretch>
              <a:fillRect/>
            </a:stretch>
          </p:blipFill>
          <p:spPr>
            <a:xfrm>
              <a:off x="833438" y="2071688"/>
              <a:ext cx="7129462" cy="3354387"/>
            </a:xfrm>
            <a:noFill/>
            <a:ln/>
          </p:spPr>
        </p:pic>
        <p:sp>
          <p:nvSpPr>
            <p:cNvPr id="184605" name="AutoShape 285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862013" y="3290888"/>
              <a:ext cx="1797050" cy="190500"/>
            </a:xfrm>
            <a:prstGeom prst="roundRect">
              <a:avLst>
                <a:gd name="adj" fmla="val 16667"/>
              </a:avLst>
            </a:prstGeom>
            <a:noFill/>
            <a:ln w="38100" algn="ctr">
              <a:solidFill>
                <a:srgbClr val="F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607" name="AutoShape 287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794000" y="3290888"/>
              <a:ext cx="1241425" cy="193675"/>
            </a:xfrm>
            <a:prstGeom prst="roundRect">
              <a:avLst>
                <a:gd name="adj" fmla="val 16667"/>
              </a:avLst>
            </a:prstGeom>
            <a:noFill/>
            <a:ln w="38100" algn="ctr">
              <a:solidFill>
                <a:srgbClr val="F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608" name="AutoShape 288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129088" y="3305175"/>
              <a:ext cx="1400175" cy="179388"/>
            </a:xfrm>
            <a:prstGeom prst="roundRect">
              <a:avLst>
                <a:gd name="adj" fmla="val 16667"/>
              </a:avLst>
            </a:prstGeom>
            <a:noFill/>
            <a:ln w="38100" algn="ctr">
              <a:solidFill>
                <a:srgbClr val="F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611" name="AutoShape 29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705475" y="3290888"/>
              <a:ext cx="1309688" cy="193675"/>
            </a:xfrm>
            <a:prstGeom prst="roundRect">
              <a:avLst>
                <a:gd name="adj" fmla="val 16667"/>
              </a:avLst>
            </a:prstGeom>
            <a:noFill/>
            <a:ln w="38100" algn="ctr">
              <a:solidFill>
                <a:srgbClr val="F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612" name="AutoShape 292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069138" y="3290888"/>
              <a:ext cx="814387" cy="193675"/>
            </a:xfrm>
            <a:prstGeom prst="roundRect">
              <a:avLst>
                <a:gd name="adj" fmla="val 16667"/>
              </a:avLst>
            </a:prstGeom>
            <a:noFill/>
            <a:ln w="38100" algn="ctr">
              <a:solidFill>
                <a:srgbClr val="F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" name="Rectangle 13"/>
          <p:cNvSpPr/>
          <p:nvPr/>
        </p:nvSpPr>
        <p:spPr>
          <a:xfrm>
            <a:off x="362857" y="1391920"/>
            <a:ext cx="849085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Font typeface="Wingdings" pitchFamily="2" charset="2"/>
              <a:buChar char="Ø"/>
            </a:pPr>
            <a:r>
              <a:rPr lang="en-GB" sz="2800" dirty="0" err="1" smtClean="0">
                <a:solidFill>
                  <a:srgbClr val="000000"/>
                </a:solidFill>
              </a:rPr>
              <a:t>C</a:t>
            </a:r>
            <a:r>
              <a:rPr lang="en-GB" sz="2800" dirty="0" err="1">
                <a:solidFill>
                  <a:srgbClr val="000000"/>
                </a:solidFill>
              </a:rPr>
              <a:t>'</a:t>
            </a:r>
            <a:r>
              <a:rPr lang="en-GB" sz="2800" dirty="0" err="1" smtClean="0">
                <a:solidFill>
                  <a:srgbClr val="000000"/>
                </a:solidFill>
              </a:rPr>
              <a:t>est</a:t>
            </a:r>
            <a:r>
              <a:rPr lang="en-GB" sz="2800" dirty="0" smtClean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une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série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 smtClean="0">
                <a:solidFill>
                  <a:srgbClr val="000000"/>
                </a:solidFill>
              </a:rPr>
              <a:t>d'entrées</a:t>
            </a:r>
            <a:r>
              <a:rPr lang="en-GB" sz="2800" dirty="0" smtClean="0">
                <a:solidFill>
                  <a:srgbClr val="000000"/>
                </a:solidFill>
              </a:rPr>
              <a:t> (</a:t>
            </a:r>
            <a:r>
              <a:rPr lang="en-GB" sz="2800" dirty="0" err="1" smtClean="0">
                <a:solidFill>
                  <a:srgbClr val="000000"/>
                </a:solidFill>
              </a:rPr>
              <a:t>itinéraires</a:t>
            </a:r>
            <a:r>
              <a:rPr lang="en-GB" sz="2800" dirty="0" smtClean="0">
                <a:solidFill>
                  <a:srgbClr val="000000"/>
                </a:solidFill>
              </a:rPr>
              <a:t>) </a:t>
            </a:r>
          </a:p>
          <a:p>
            <a:pPr algn="l">
              <a:buFont typeface="Wingdings" pitchFamily="2" charset="2"/>
              <a:buChar char="Ø"/>
            </a:pPr>
            <a:r>
              <a:rPr lang="en-GB" sz="2800" dirty="0" err="1" smtClean="0">
                <a:solidFill>
                  <a:srgbClr val="000000"/>
                </a:solidFill>
              </a:rPr>
              <a:t>Contient</a:t>
            </a:r>
            <a:r>
              <a:rPr lang="en-GB" sz="2800" dirty="0" smtClean="0">
                <a:solidFill>
                  <a:srgbClr val="000000"/>
                </a:solidFill>
              </a:rPr>
              <a:t> </a:t>
            </a:r>
            <a:r>
              <a:rPr lang="en-GB" sz="2800" dirty="0">
                <a:solidFill>
                  <a:srgbClr val="000000"/>
                </a:solidFill>
              </a:rPr>
              <a:t>des </a:t>
            </a:r>
            <a:r>
              <a:rPr lang="en-GB" sz="2800" dirty="0" err="1">
                <a:solidFill>
                  <a:srgbClr val="000000"/>
                </a:solidFill>
              </a:rPr>
              <a:t>informations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sur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l'emplacement</a:t>
            </a:r>
            <a:r>
              <a:rPr lang="en-GB" sz="2800" dirty="0">
                <a:solidFill>
                  <a:srgbClr val="000000"/>
                </a:solidFill>
              </a:rPr>
              <a:t> des ID </a:t>
            </a:r>
            <a:r>
              <a:rPr lang="en-GB" sz="2800" dirty="0" err="1">
                <a:solidFill>
                  <a:srgbClr val="000000"/>
                </a:solidFill>
              </a:rPr>
              <a:t>réseau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dans</a:t>
            </a:r>
            <a:r>
              <a:rPr lang="en-GB" sz="2800" dirty="0">
                <a:solidFill>
                  <a:srgbClr val="000000"/>
                </a:solidFill>
              </a:rPr>
              <a:t> le </a:t>
            </a:r>
            <a:r>
              <a:rPr lang="en-GB" sz="2800" dirty="0" err="1">
                <a:solidFill>
                  <a:srgbClr val="000000"/>
                </a:solidFill>
              </a:rPr>
              <a:t>réseau</a:t>
            </a:r>
            <a:r>
              <a:rPr lang="en-GB" sz="2800" dirty="0">
                <a:solidFill>
                  <a:srgbClr val="000000"/>
                </a:solidFill>
              </a:rPr>
              <a:t> </a:t>
            </a:r>
            <a:r>
              <a:rPr lang="en-GB" sz="2800" dirty="0" err="1">
                <a:solidFill>
                  <a:srgbClr val="000000"/>
                </a:solidFill>
              </a:rPr>
              <a:t>d'interconnexion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e 49"/>
          <p:cNvGrpSpPr/>
          <p:nvPr/>
        </p:nvGrpSpPr>
        <p:grpSpPr>
          <a:xfrm>
            <a:off x="798283" y="1541243"/>
            <a:ext cx="7590962" cy="3858073"/>
            <a:chOff x="511175" y="1962150"/>
            <a:chExt cx="3505200" cy="2339975"/>
          </a:xfrm>
        </p:grpSpPr>
        <p:sp>
          <p:nvSpPr>
            <p:cNvPr id="166067" name="AutoShape 179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11175" y="2119313"/>
              <a:ext cx="3505200" cy="2001837"/>
            </a:xfrm>
            <a:prstGeom prst="roundRect">
              <a:avLst>
                <a:gd name="adj" fmla="val 4167"/>
              </a:avLst>
            </a:prstGeom>
            <a:solidFill>
              <a:srgbClr val="F0F1E1"/>
            </a:solidFill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/>
            <a:lstStyle/>
            <a:p>
              <a:pPr marL="177800" indent="-177800" algn="l">
                <a:buSzPct val="85000"/>
              </a:pPr>
              <a:endParaRPr lang="en-US" sz="2000"/>
            </a:p>
            <a:p>
              <a:pPr marL="177800" indent="-177800" algn="l">
                <a:buSzPct val="85000"/>
              </a:pPr>
              <a:endParaRPr lang="en-US" sz="2000" b="0"/>
            </a:p>
          </p:txBody>
        </p:sp>
        <p:sp>
          <p:nvSpPr>
            <p:cNvPr id="166068" name="AutoShape 18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362075" y="1962150"/>
              <a:ext cx="2238375" cy="328613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8DACD0"/>
                </a:gs>
                <a:gs pos="100000">
                  <a:srgbClr val="DEE7F1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GB" sz="2400" dirty="0" err="1">
                  <a:solidFill>
                    <a:srgbClr val="000000"/>
                  </a:solidFill>
                </a:rPr>
                <a:t>Sous-réseaux</a:t>
              </a:r>
              <a:r>
                <a:rPr lang="en-GB" sz="2400" dirty="0">
                  <a:solidFill>
                    <a:srgbClr val="000000"/>
                  </a:solidFill>
                </a:rPr>
                <a:t> </a:t>
              </a:r>
              <a:r>
                <a:rPr lang="en-GB" sz="2400" dirty="0" err="1">
                  <a:solidFill>
                    <a:srgbClr val="000000"/>
                  </a:solidFill>
                </a:rPr>
                <a:t>internes</a:t>
              </a:r>
              <a:endParaRPr lang="en-US" sz="2400" dirty="0"/>
            </a:p>
          </p:txBody>
        </p:sp>
        <p:sp>
          <p:nvSpPr>
            <p:cNvPr id="166070" name="Oval 182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04838" y="2728913"/>
              <a:ext cx="3316287" cy="1317625"/>
            </a:xfrm>
            <a:prstGeom prst="ellipse">
              <a:avLst/>
            </a:prstGeom>
            <a:gradFill rotWithShape="1">
              <a:gsLst>
                <a:gs pos="0">
                  <a:srgbClr val="E8F6E4"/>
                </a:gs>
                <a:gs pos="100000">
                  <a:srgbClr val="ADE2A1"/>
                </a:gs>
              </a:gsLst>
              <a:lin ang="2700000" scaled="1"/>
            </a:gra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B2B2B2"/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166071" name="Line 183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 flipH="1" flipV="1">
              <a:off x="2355850" y="2762250"/>
              <a:ext cx="495300" cy="349250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66072" name="Line 184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 flipV="1">
              <a:off x="1817688" y="2762250"/>
              <a:ext cx="495300" cy="349250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pic>
          <p:nvPicPr>
            <p:cNvPr id="166073" name="Picture 185" descr="Server01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2019300" y="2330450"/>
              <a:ext cx="611188" cy="719138"/>
            </a:xfrm>
            <a:prstGeom prst="rect">
              <a:avLst/>
            </a:prstGeom>
            <a:noFill/>
          </p:spPr>
        </p:pic>
        <p:pic>
          <p:nvPicPr>
            <p:cNvPr id="166074" name="Picture 186" descr="Lan01"/>
            <p:cNvPicPr>
              <a:picLocks noChangeAspect="1" noChangeArrowheads="1"/>
            </p:cNvPicPr>
            <p:nvPr>
              <p:custDataLst>
                <p:tags r:id="rId8"/>
              </p:custDataLst>
            </p:nvPr>
          </p:nvPicPr>
          <p:blipFill>
            <a:blip r:embed="rId19" cstate="print"/>
            <a:srcRect/>
            <a:stretch>
              <a:fillRect/>
            </a:stretch>
          </p:blipFill>
          <p:spPr bwMode="auto">
            <a:xfrm>
              <a:off x="2493963" y="2709863"/>
              <a:ext cx="1263650" cy="1069975"/>
            </a:xfrm>
            <a:prstGeom prst="rect">
              <a:avLst/>
            </a:prstGeom>
            <a:noFill/>
          </p:spPr>
        </p:pic>
        <p:pic>
          <p:nvPicPr>
            <p:cNvPr id="166076" name="Picture 188" descr="Site01"/>
            <p:cNvPicPr>
              <a:picLocks noChangeAspect="1" noChangeArrowheads="1"/>
            </p:cNvPicPr>
            <p:nvPr>
              <p:custDataLst>
                <p:tags r:id="rId9"/>
              </p:custDataLst>
            </p:nvPr>
          </p:nvPicPr>
          <p:blipFill>
            <a:blip r:embed="rId20" cstate="print"/>
            <a:srcRect/>
            <a:stretch>
              <a:fillRect/>
            </a:stretch>
          </p:blipFill>
          <p:spPr bwMode="auto">
            <a:xfrm>
              <a:off x="795338" y="3025775"/>
              <a:ext cx="1204912" cy="592138"/>
            </a:xfrm>
            <a:prstGeom prst="rect">
              <a:avLst/>
            </a:prstGeom>
            <a:noFill/>
          </p:spPr>
        </p:pic>
        <p:pic>
          <p:nvPicPr>
            <p:cNvPr id="166077" name="Picture 189" descr="Server01"/>
            <p:cNvPicPr>
              <a:picLocks noChangeAspect="1" noChangeArrowheads="1"/>
            </p:cNvPicPr>
            <p:nvPr>
              <p:custDataLst>
                <p:tags r:id="rId10"/>
              </p:custDataLst>
            </p:nvPr>
          </p:nvPicPr>
          <p:blipFill>
            <a:blip r:embed="rId21" cstate="print"/>
            <a:srcRect/>
            <a:stretch>
              <a:fillRect/>
            </a:stretch>
          </p:blipFill>
          <p:spPr bwMode="auto">
            <a:xfrm>
              <a:off x="654050" y="3163888"/>
              <a:ext cx="441325" cy="519112"/>
            </a:xfrm>
            <a:prstGeom prst="rect">
              <a:avLst/>
            </a:prstGeom>
            <a:noFill/>
          </p:spPr>
        </p:pic>
        <p:pic>
          <p:nvPicPr>
            <p:cNvPr id="166078" name="Picture 190" descr="Server01"/>
            <p:cNvPicPr>
              <a:picLocks noChangeAspect="1" noChangeArrowheads="1"/>
            </p:cNvPicPr>
            <p:nvPr>
              <p:custDataLst>
                <p:tags r:id="rId11"/>
              </p:custDataLst>
            </p:nvPr>
          </p:nvPicPr>
          <p:blipFill>
            <a:blip r:embed="rId21" cstate="print"/>
            <a:srcRect/>
            <a:stretch>
              <a:fillRect/>
            </a:stretch>
          </p:blipFill>
          <p:spPr bwMode="auto">
            <a:xfrm>
              <a:off x="1177925" y="2668588"/>
              <a:ext cx="441325" cy="519112"/>
            </a:xfrm>
            <a:prstGeom prst="rect">
              <a:avLst/>
            </a:prstGeom>
            <a:noFill/>
          </p:spPr>
        </p:pic>
        <p:pic>
          <p:nvPicPr>
            <p:cNvPr id="166079" name="Picture 191" descr="Server01"/>
            <p:cNvPicPr>
              <a:picLocks noChangeAspect="1" noChangeArrowheads="1"/>
            </p:cNvPicPr>
            <p:nvPr>
              <p:custDataLst>
                <p:tags r:id="rId12"/>
              </p:custDataLst>
            </p:nvPr>
          </p:nvPicPr>
          <p:blipFill>
            <a:blip r:embed="rId21" cstate="print"/>
            <a:srcRect/>
            <a:stretch>
              <a:fillRect/>
            </a:stretch>
          </p:blipFill>
          <p:spPr bwMode="auto">
            <a:xfrm>
              <a:off x="1685925" y="3163888"/>
              <a:ext cx="441325" cy="519112"/>
            </a:xfrm>
            <a:prstGeom prst="rect">
              <a:avLst/>
            </a:prstGeom>
            <a:noFill/>
          </p:spPr>
        </p:pic>
        <p:sp>
          <p:nvSpPr>
            <p:cNvPr id="166080" name="Text Box 192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215658" y="3169805"/>
              <a:ext cx="382093" cy="35467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600" dirty="0" err="1">
                  <a:solidFill>
                    <a:srgbClr val="000000"/>
                  </a:solidFill>
                </a:rPr>
                <a:t>Réseau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br>
                <a:rPr lang="en-GB" sz="1600" dirty="0">
                  <a:solidFill>
                    <a:srgbClr val="000000"/>
                  </a:solidFill>
                </a:rPr>
              </a:br>
              <a:r>
                <a:rPr lang="en-GB" sz="1600" dirty="0">
                  <a:solidFill>
                    <a:srgbClr val="000000"/>
                  </a:solidFill>
                </a:rPr>
                <a:t>LAN</a:t>
              </a:r>
              <a:endParaRPr lang="en-US" sz="1600" dirty="0"/>
            </a:p>
          </p:txBody>
        </p:sp>
        <p:sp>
          <p:nvSpPr>
            <p:cNvPr id="166081" name="Text Box 193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925224" y="3209347"/>
              <a:ext cx="382093" cy="35467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600" dirty="0" err="1">
                  <a:solidFill>
                    <a:srgbClr val="000000"/>
                  </a:solidFill>
                </a:rPr>
                <a:t>Réseau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br>
                <a:rPr lang="en-GB" sz="1600" dirty="0">
                  <a:solidFill>
                    <a:srgbClr val="000000"/>
                  </a:solidFill>
                </a:rPr>
              </a:br>
              <a:r>
                <a:rPr lang="en-GB" sz="1600" dirty="0">
                  <a:solidFill>
                    <a:srgbClr val="000000"/>
                  </a:solidFill>
                </a:rPr>
                <a:t>LAN</a:t>
              </a:r>
              <a:endParaRPr lang="en-US" sz="1600" dirty="0"/>
            </a:p>
          </p:txBody>
        </p:sp>
        <p:sp>
          <p:nvSpPr>
            <p:cNvPr id="166082" name="AutoShape 194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12888" y="3748088"/>
              <a:ext cx="1152525" cy="554037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GB" sz="2400" dirty="0" err="1">
                  <a:solidFill>
                    <a:srgbClr val="000000"/>
                  </a:solidFill>
                </a:rPr>
                <a:t>Réseau</a:t>
              </a:r>
              <a:r>
                <a:rPr lang="en-GB" sz="2400" dirty="0">
                  <a:solidFill>
                    <a:srgbClr val="000000"/>
                  </a:solidFill>
                </a:rPr>
                <a:t> </a:t>
              </a:r>
              <a:r>
                <a:rPr lang="en-GB" sz="2400" dirty="0" err="1">
                  <a:solidFill>
                    <a:srgbClr val="000000"/>
                  </a:solidFill>
                </a:rPr>
                <a:t>d'entreprise</a:t>
              </a:r>
              <a:endParaRPr lang="en-US" sz="2400" dirty="0"/>
            </a:p>
          </p:txBody>
        </p:sp>
      </p:grpSp>
      <p:sp>
        <p:nvSpPr>
          <p:cNvPr id="5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30632" y="58056"/>
            <a:ext cx="8795658" cy="1125537"/>
          </a:xfrm>
        </p:spPr>
        <p:txBody>
          <a:bodyPr vert="horz" anchor="b">
            <a:normAutofit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Pourquoi </a:t>
            </a:r>
            <a:r>
              <a:rPr lang="fr-FR" b="1" dirty="0">
                <a:solidFill>
                  <a:srgbClr val="C00000"/>
                </a:solidFill>
              </a:rPr>
              <a:t>utiliser le service Routage et accès distant de Windows Server 2003 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71715" y="5515206"/>
            <a:ext cx="81207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/>
              <a:t>Connecter des segments LAN (sous-réseaux) dans un réseau d’entreprise </a:t>
            </a:r>
            <a:endParaRPr lang="fr-BE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/>
          <p:cNvGrpSpPr/>
          <p:nvPr/>
        </p:nvGrpSpPr>
        <p:grpSpPr>
          <a:xfrm>
            <a:off x="653150" y="1506197"/>
            <a:ext cx="7939307" cy="3631870"/>
            <a:chOff x="653150" y="2028701"/>
            <a:chExt cx="7939307" cy="3631870"/>
          </a:xfrm>
        </p:grpSpPr>
        <p:sp>
          <p:nvSpPr>
            <p:cNvPr id="166022" name="AutoShape 13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653150" y="2028701"/>
              <a:ext cx="7939307" cy="3594898"/>
            </a:xfrm>
            <a:prstGeom prst="roundRect">
              <a:avLst>
                <a:gd name="adj" fmla="val 4167"/>
              </a:avLst>
            </a:prstGeom>
            <a:solidFill>
              <a:srgbClr val="F0F1E1"/>
            </a:solidFill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/>
            <a:lstStyle/>
            <a:p>
              <a:pPr marL="177800" indent="-177800" algn="l">
                <a:buSzPct val="85000"/>
              </a:pPr>
              <a:endParaRPr lang="en-US" sz="2000"/>
            </a:p>
            <a:p>
              <a:pPr marL="177800" indent="-177800" algn="l">
                <a:buSzPct val="85000"/>
              </a:pPr>
              <a:endParaRPr lang="en-US" sz="2000" b="0"/>
            </a:p>
          </p:txBody>
        </p:sp>
        <p:sp>
          <p:nvSpPr>
            <p:cNvPr id="166023" name="AutoShape 135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229667" y="4847168"/>
              <a:ext cx="2265915" cy="813403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GB" sz="2400" dirty="0" err="1">
                  <a:solidFill>
                    <a:srgbClr val="000000"/>
                  </a:solidFill>
                </a:rPr>
                <a:t>Réseau</a:t>
              </a:r>
              <a:r>
                <a:rPr lang="en-GB" sz="2400" dirty="0">
                  <a:solidFill>
                    <a:srgbClr val="000000"/>
                  </a:solidFill>
                </a:rPr>
                <a:t> </a:t>
              </a:r>
              <a:r>
                <a:rPr lang="en-GB" sz="2400" dirty="0" err="1">
                  <a:solidFill>
                    <a:srgbClr val="000000"/>
                  </a:solidFill>
                </a:rPr>
                <a:t>d'entreprise</a:t>
              </a:r>
              <a:endParaRPr lang="en-US" sz="2400" dirty="0"/>
            </a:p>
          </p:txBody>
        </p:sp>
        <p:sp>
          <p:nvSpPr>
            <p:cNvPr id="166025" name="Line 137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 flipH="1">
              <a:off x="4657222" y="3888719"/>
              <a:ext cx="909233" cy="784962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pic>
          <p:nvPicPr>
            <p:cNvPr id="166026" name="Picture 138" descr="OfficeBuilding01"/>
            <p:cNvPicPr>
              <a:picLocks noChangeAspect="1" noChangeArrowheads="1"/>
            </p:cNvPicPr>
            <p:nvPr>
              <p:custDataLst>
                <p:tags r:id="rId5"/>
              </p:custDataLst>
            </p:nvPr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2460145" y="2714120"/>
              <a:ext cx="1313657" cy="12201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6027" name="Line 139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3088291" y="4392118"/>
              <a:ext cx="975204" cy="324223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pic>
          <p:nvPicPr>
            <p:cNvPr id="166028" name="Picture 140" descr="Server01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3819694" y="4264136"/>
              <a:ext cx="1104274" cy="1288361"/>
            </a:xfrm>
            <a:prstGeom prst="rect">
              <a:avLst/>
            </a:prstGeom>
            <a:noFill/>
          </p:spPr>
        </p:pic>
        <p:pic>
          <p:nvPicPr>
            <p:cNvPr id="166030" name="Picture 142" descr="Site01"/>
            <p:cNvPicPr>
              <a:picLocks noChangeAspect="1" noChangeArrowheads="1"/>
            </p:cNvPicPr>
            <p:nvPr>
              <p:custDataLst>
                <p:tags r:id="rId8"/>
              </p:custDataLst>
            </p:nvPr>
          </p:nvPicPr>
          <p:blipFill>
            <a:blip r:embed="rId19" cstate="print"/>
            <a:srcRect/>
            <a:stretch>
              <a:fillRect/>
            </a:stretch>
          </p:blipFill>
          <p:spPr bwMode="auto">
            <a:xfrm>
              <a:off x="1106333" y="3612844"/>
              <a:ext cx="2036455" cy="992580"/>
            </a:xfrm>
            <a:prstGeom prst="rect">
              <a:avLst/>
            </a:prstGeom>
            <a:noFill/>
          </p:spPr>
        </p:pic>
        <p:pic>
          <p:nvPicPr>
            <p:cNvPr id="166031" name="Picture 143" descr="Server01"/>
            <p:cNvPicPr>
              <a:picLocks noChangeAspect="1" noChangeArrowheads="1"/>
            </p:cNvPicPr>
            <p:nvPr>
              <p:custDataLst>
                <p:tags r:id="rId9"/>
              </p:custDataLst>
            </p:nvPr>
          </p:nvPicPr>
          <p:blipFill>
            <a:blip r:embed="rId20" cstate="print"/>
            <a:srcRect/>
            <a:stretch>
              <a:fillRect/>
            </a:stretch>
          </p:blipFill>
          <p:spPr bwMode="auto">
            <a:xfrm>
              <a:off x="868268" y="3846058"/>
              <a:ext cx="745744" cy="867441"/>
            </a:xfrm>
            <a:prstGeom prst="rect">
              <a:avLst/>
            </a:prstGeom>
            <a:noFill/>
          </p:spPr>
        </p:pic>
        <p:pic>
          <p:nvPicPr>
            <p:cNvPr id="166032" name="Picture 144" descr="Server01"/>
            <p:cNvPicPr>
              <a:picLocks noChangeAspect="1" noChangeArrowheads="1"/>
            </p:cNvPicPr>
            <p:nvPr>
              <p:custDataLst>
                <p:tags r:id="rId10"/>
              </p:custDataLst>
            </p:nvPr>
          </p:nvPicPr>
          <p:blipFill>
            <a:blip r:embed="rId21" cstate="print"/>
            <a:srcRect/>
            <a:stretch>
              <a:fillRect/>
            </a:stretch>
          </p:blipFill>
          <p:spPr bwMode="auto">
            <a:xfrm>
              <a:off x="1702928" y="3109446"/>
              <a:ext cx="748611" cy="867439"/>
            </a:xfrm>
            <a:prstGeom prst="rect">
              <a:avLst/>
            </a:prstGeom>
            <a:noFill/>
          </p:spPr>
        </p:pic>
        <p:pic>
          <p:nvPicPr>
            <p:cNvPr id="166033" name="Picture 145" descr="Server01"/>
            <p:cNvPicPr>
              <a:picLocks noChangeAspect="1" noChangeArrowheads="1"/>
            </p:cNvPicPr>
            <p:nvPr>
              <p:custDataLst>
                <p:tags r:id="rId11"/>
              </p:custDataLst>
            </p:nvPr>
          </p:nvPicPr>
          <p:blipFill>
            <a:blip r:embed="rId20" cstate="print"/>
            <a:srcRect/>
            <a:stretch>
              <a:fillRect/>
            </a:stretch>
          </p:blipFill>
          <p:spPr bwMode="auto">
            <a:xfrm>
              <a:off x="2491695" y="3846058"/>
              <a:ext cx="745744" cy="867441"/>
            </a:xfrm>
            <a:prstGeom prst="rect">
              <a:avLst/>
            </a:prstGeom>
            <a:noFill/>
          </p:spPr>
        </p:pic>
        <p:pic>
          <p:nvPicPr>
            <p:cNvPr id="166034" name="Picture 146" descr="Warehouse01"/>
            <p:cNvPicPr>
              <a:picLocks noChangeAspect="1" noChangeArrowheads="1"/>
            </p:cNvPicPr>
            <p:nvPr>
              <p:custDataLst>
                <p:tags r:id="rId12"/>
              </p:custDataLst>
            </p:nvPr>
          </p:nvPicPr>
          <p:blipFill>
            <a:blip r:embed="rId22" cstate="print"/>
            <a:srcRect/>
            <a:stretch>
              <a:fillRect/>
            </a:stretch>
          </p:blipFill>
          <p:spPr bwMode="auto">
            <a:xfrm>
              <a:off x="6794065" y="2708431"/>
              <a:ext cx="1500094" cy="989735"/>
            </a:xfrm>
            <a:prstGeom prst="rect">
              <a:avLst/>
            </a:prstGeom>
            <a:noFill/>
          </p:spPr>
        </p:pic>
        <p:sp>
          <p:nvSpPr>
            <p:cNvPr id="166035" name="Text Box 147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550265" y="4485973"/>
              <a:ext cx="873957" cy="70788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000" dirty="0">
                  <a:solidFill>
                    <a:srgbClr val="000000"/>
                  </a:solidFill>
                </a:rPr>
                <a:t>Site</a:t>
              </a:r>
              <a:endParaRPr lang="en-US" sz="2000" dirty="0"/>
            </a:p>
            <a:p>
              <a:r>
                <a:rPr lang="en-GB" sz="2000" dirty="0">
                  <a:solidFill>
                    <a:srgbClr val="000000"/>
                  </a:solidFill>
                </a:rPr>
                <a:t>distant</a:t>
              </a:r>
              <a:endParaRPr lang="en-US" sz="2000" dirty="0">
                <a:solidFill>
                  <a:srgbClr val="000000"/>
                </a:solidFill>
              </a:endParaRPr>
            </a:p>
          </p:txBody>
        </p:sp>
        <p:pic>
          <p:nvPicPr>
            <p:cNvPr id="166036" name="Picture 148" descr="Lan01"/>
            <p:cNvPicPr>
              <a:picLocks noChangeAspect="1" noChangeArrowheads="1"/>
            </p:cNvPicPr>
            <p:nvPr>
              <p:custDataLst>
                <p:tags r:id="rId14"/>
              </p:custDataLst>
            </p:nvPr>
          </p:nvPicPr>
          <p:blipFill>
            <a:blip r:embed="rId23" cstate="print"/>
            <a:srcRect/>
            <a:stretch>
              <a:fillRect/>
            </a:stretch>
          </p:blipFill>
          <p:spPr bwMode="auto">
            <a:xfrm>
              <a:off x="5184980" y="2685679"/>
              <a:ext cx="2283124" cy="1916900"/>
            </a:xfrm>
            <a:prstGeom prst="rect">
              <a:avLst/>
            </a:prstGeom>
            <a:noFill/>
          </p:spPr>
        </p:pic>
      </p:grpSp>
      <p:sp>
        <p:nvSpPr>
          <p:cNvPr id="53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30632" y="58056"/>
            <a:ext cx="8795658" cy="1125537"/>
          </a:xfrm>
        </p:spPr>
        <p:txBody>
          <a:bodyPr vert="horz" anchor="b">
            <a:normAutofit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Pourquoi </a:t>
            </a:r>
            <a:r>
              <a:rPr lang="fr-FR" b="1" dirty="0">
                <a:solidFill>
                  <a:srgbClr val="C00000"/>
                </a:solidFill>
              </a:rPr>
              <a:t>utiliser le service Routage et accès distant de Windows Server 2003 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97542" y="5201311"/>
            <a:ext cx="88464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/>
              <a:t>connecter des succursales à des intranets d’entreprise et à des ressources partagées, comme si tous les ordinateurs étaient connectés au même réseau </a:t>
            </a:r>
            <a:r>
              <a:rPr lang="fr-BE" sz="2400" dirty="0" smtClean="0"/>
              <a:t>LAN</a:t>
            </a:r>
            <a:endParaRPr lang="fr-BE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30632" y="58056"/>
            <a:ext cx="8795658" cy="1125537"/>
          </a:xfrm>
        </p:spPr>
        <p:txBody>
          <a:bodyPr vert="horz" anchor="b">
            <a:normAutofit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Pourquoi </a:t>
            </a:r>
            <a:r>
              <a:rPr lang="fr-FR" b="1" dirty="0">
                <a:solidFill>
                  <a:srgbClr val="C00000"/>
                </a:solidFill>
              </a:rPr>
              <a:t>utiliser le service Routage et accès distant de Windows Server 2003 ?</a:t>
            </a:r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51" name="Groupe 50"/>
          <p:cNvGrpSpPr/>
          <p:nvPr/>
        </p:nvGrpSpPr>
        <p:grpSpPr>
          <a:xfrm>
            <a:off x="1027566" y="1489753"/>
            <a:ext cx="7056891" cy="3895044"/>
            <a:chOff x="2522538" y="4189413"/>
            <a:chExt cx="4097337" cy="2330450"/>
          </a:xfrm>
        </p:grpSpPr>
        <p:sp>
          <p:nvSpPr>
            <p:cNvPr id="166045" name="AutoShape 157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522538" y="4318000"/>
              <a:ext cx="4097337" cy="2201863"/>
            </a:xfrm>
            <a:prstGeom prst="roundRect">
              <a:avLst>
                <a:gd name="adj" fmla="val 4167"/>
              </a:avLst>
            </a:prstGeom>
            <a:solidFill>
              <a:srgbClr val="F0F1E1"/>
            </a:solidFill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/>
            <a:lstStyle/>
            <a:p>
              <a:pPr marL="177800" indent="-177800" algn="l">
                <a:buSzPct val="85000"/>
              </a:pPr>
              <a:endParaRPr lang="en-US" sz="2000"/>
            </a:p>
            <a:p>
              <a:pPr marL="177800" indent="-177800" algn="l">
                <a:buSzPct val="85000"/>
              </a:pPr>
              <a:endParaRPr lang="en-US" sz="2000" b="0"/>
            </a:p>
          </p:txBody>
        </p:sp>
        <p:sp>
          <p:nvSpPr>
            <p:cNvPr id="166046" name="AutoShape 158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817813" y="6042025"/>
              <a:ext cx="1166812" cy="466725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GB" sz="2000" dirty="0" err="1">
                  <a:solidFill>
                    <a:srgbClr val="000000"/>
                  </a:solidFill>
                </a:rPr>
                <a:t>Réseau</a:t>
              </a:r>
              <a:r>
                <a:rPr lang="en-GB" sz="2000" dirty="0">
                  <a:solidFill>
                    <a:srgbClr val="000000"/>
                  </a:solidFill>
                </a:rPr>
                <a:t> </a:t>
              </a:r>
              <a:r>
                <a:rPr lang="en-GB" sz="2000" dirty="0" err="1">
                  <a:solidFill>
                    <a:srgbClr val="000000"/>
                  </a:solidFill>
                </a:rPr>
                <a:t>d'entreprise</a:t>
              </a:r>
              <a:endParaRPr lang="en-US" sz="2000" dirty="0"/>
            </a:p>
          </p:txBody>
        </p:sp>
        <p:sp>
          <p:nvSpPr>
            <p:cNvPr id="166047" name="AutoShape 159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844800" y="4189413"/>
              <a:ext cx="3611563" cy="328612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8DACD0"/>
                </a:gs>
                <a:gs pos="100000">
                  <a:srgbClr val="DEE7F1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en-GB" sz="2400" dirty="0" err="1">
                  <a:solidFill>
                    <a:srgbClr val="000000"/>
                  </a:solidFill>
                </a:rPr>
                <a:t>Accès</a:t>
              </a:r>
              <a:r>
                <a:rPr lang="en-GB" sz="2400" dirty="0">
                  <a:solidFill>
                    <a:srgbClr val="000000"/>
                  </a:solidFill>
                </a:rPr>
                <a:t> distant </a:t>
              </a:r>
              <a:r>
                <a:rPr lang="en-GB" sz="2400" dirty="0" err="1">
                  <a:solidFill>
                    <a:srgbClr val="000000"/>
                  </a:solidFill>
                </a:rPr>
                <a:t>utilisant</a:t>
              </a:r>
              <a:r>
                <a:rPr lang="en-GB" sz="2400" dirty="0">
                  <a:solidFill>
                    <a:srgbClr val="000000"/>
                  </a:solidFill>
                </a:rPr>
                <a:t> un tunnel VPN</a:t>
              </a:r>
              <a:endParaRPr lang="en-US" sz="2400" dirty="0"/>
            </a:p>
          </p:txBody>
        </p:sp>
        <p:sp>
          <p:nvSpPr>
            <p:cNvPr id="166048" name="Line 160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 flipH="1">
              <a:off x="4738688" y="5211763"/>
              <a:ext cx="503237" cy="438150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66049" name="Freeform 161"/>
            <p:cNvSpPr>
              <a:spLocks/>
            </p:cNvSpPr>
            <p:nvPr>
              <p:custDataLst>
                <p:tags r:id="rId6"/>
              </p:custDataLst>
            </p:nvPr>
          </p:nvSpPr>
          <p:spPr bwMode="auto">
            <a:xfrm>
              <a:off x="5589588" y="5138738"/>
              <a:ext cx="381000" cy="457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30" y="162"/>
                </a:cxn>
                <a:cxn ang="0">
                  <a:pos x="203" y="170"/>
                </a:cxn>
                <a:cxn ang="0">
                  <a:pos x="576" y="349"/>
                </a:cxn>
              </a:cxnLst>
              <a:rect l="0" t="0" r="r" b="b"/>
              <a:pathLst>
                <a:path w="576" h="349">
                  <a:moveTo>
                    <a:pt x="0" y="0"/>
                  </a:moveTo>
                  <a:lnTo>
                    <a:pt x="430" y="162"/>
                  </a:lnTo>
                  <a:lnTo>
                    <a:pt x="203" y="170"/>
                  </a:lnTo>
                  <a:lnTo>
                    <a:pt x="576" y="349"/>
                  </a:lnTo>
                </a:path>
              </a:pathLst>
            </a:custGeom>
            <a:noFill/>
            <a:ln w="38100" cap="flat" cmpd="sng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pic>
          <p:nvPicPr>
            <p:cNvPr id="166050" name="Picture 162" descr="OfficeBuilding01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21" cstate="print"/>
            <a:srcRect/>
            <a:stretch>
              <a:fillRect/>
            </a:stretch>
          </p:blipFill>
          <p:spPr bwMode="auto">
            <a:xfrm>
              <a:off x="3484563" y="4903788"/>
              <a:ext cx="727075" cy="6810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6051" name="Line 163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3832225" y="5840413"/>
              <a:ext cx="539750" cy="180975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pic>
          <p:nvPicPr>
            <p:cNvPr id="166052" name="Picture 164" descr="Internet_Tunnel01"/>
            <p:cNvPicPr>
              <a:picLocks noChangeAspect="1" noChangeArrowheads="1"/>
            </p:cNvPicPr>
            <p:nvPr>
              <p:custDataLst>
                <p:tags r:id="rId9"/>
              </p:custDataLst>
            </p:nvPr>
          </p:nvPicPr>
          <p:blipFill>
            <a:blip r:embed="rId22" cstate="print"/>
            <a:srcRect/>
            <a:stretch>
              <a:fillRect/>
            </a:stretch>
          </p:blipFill>
          <p:spPr bwMode="auto">
            <a:xfrm>
              <a:off x="5084763" y="4611688"/>
              <a:ext cx="754062" cy="668337"/>
            </a:xfrm>
            <a:prstGeom prst="rect">
              <a:avLst/>
            </a:prstGeom>
            <a:noFill/>
          </p:spPr>
        </p:pic>
        <p:pic>
          <p:nvPicPr>
            <p:cNvPr id="166053" name="Picture 165" descr="Server01"/>
            <p:cNvPicPr>
              <a:picLocks noChangeAspect="1" noChangeArrowheads="1"/>
            </p:cNvPicPr>
            <p:nvPr>
              <p:custDataLst>
                <p:tags r:id="rId10"/>
              </p:custDataLst>
            </p:nvPr>
          </p:nvPicPr>
          <p:blipFill>
            <a:blip r:embed="rId23" cstate="print"/>
            <a:srcRect/>
            <a:stretch>
              <a:fillRect/>
            </a:stretch>
          </p:blipFill>
          <p:spPr bwMode="auto">
            <a:xfrm>
              <a:off x="4211638" y="5589588"/>
              <a:ext cx="611187" cy="719137"/>
            </a:xfrm>
            <a:prstGeom prst="rect">
              <a:avLst/>
            </a:prstGeom>
            <a:noFill/>
          </p:spPr>
        </p:pic>
        <p:pic>
          <p:nvPicPr>
            <p:cNvPr id="166055" name="Picture 167" descr="Site01"/>
            <p:cNvPicPr>
              <a:picLocks noChangeAspect="1" noChangeArrowheads="1"/>
            </p:cNvPicPr>
            <p:nvPr>
              <p:custDataLst>
                <p:tags r:id="rId11"/>
              </p:custDataLst>
            </p:nvPr>
          </p:nvPicPr>
          <p:blipFill>
            <a:blip r:embed="rId24" cstate="print"/>
            <a:srcRect/>
            <a:stretch>
              <a:fillRect/>
            </a:stretch>
          </p:blipFill>
          <p:spPr bwMode="auto">
            <a:xfrm>
              <a:off x="2735263" y="5405438"/>
              <a:ext cx="1127125" cy="554037"/>
            </a:xfrm>
            <a:prstGeom prst="rect">
              <a:avLst/>
            </a:prstGeom>
            <a:noFill/>
          </p:spPr>
        </p:pic>
        <p:pic>
          <p:nvPicPr>
            <p:cNvPr id="166056" name="Picture 168" descr="Server01"/>
            <p:cNvPicPr>
              <a:picLocks noChangeAspect="1" noChangeArrowheads="1"/>
            </p:cNvPicPr>
            <p:nvPr>
              <p:custDataLst>
                <p:tags r:id="rId12"/>
              </p:custDataLst>
            </p:nvPr>
          </p:nvPicPr>
          <p:blipFill>
            <a:blip r:embed="rId25" cstate="print"/>
            <a:srcRect/>
            <a:stretch>
              <a:fillRect/>
            </a:stretch>
          </p:blipFill>
          <p:spPr bwMode="auto">
            <a:xfrm>
              <a:off x="2603500" y="5535613"/>
              <a:ext cx="412750" cy="484187"/>
            </a:xfrm>
            <a:prstGeom prst="rect">
              <a:avLst/>
            </a:prstGeom>
            <a:noFill/>
          </p:spPr>
        </p:pic>
        <p:pic>
          <p:nvPicPr>
            <p:cNvPr id="166057" name="Picture 169" descr="Server01"/>
            <p:cNvPicPr>
              <a:picLocks noChangeAspect="1" noChangeArrowheads="1"/>
            </p:cNvPicPr>
            <p:nvPr>
              <p:custDataLst>
                <p:tags r:id="rId13"/>
              </p:custDataLst>
            </p:nvPr>
          </p:nvPicPr>
          <p:blipFill>
            <a:blip r:embed="rId26" cstate="print"/>
            <a:srcRect/>
            <a:stretch>
              <a:fillRect/>
            </a:stretch>
          </p:blipFill>
          <p:spPr bwMode="auto">
            <a:xfrm>
              <a:off x="3065463" y="5124450"/>
              <a:ext cx="414337" cy="484188"/>
            </a:xfrm>
            <a:prstGeom prst="rect">
              <a:avLst/>
            </a:prstGeom>
            <a:noFill/>
          </p:spPr>
        </p:pic>
        <p:pic>
          <p:nvPicPr>
            <p:cNvPr id="166058" name="Picture 170" descr="Server01"/>
            <p:cNvPicPr>
              <a:picLocks noChangeAspect="1" noChangeArrowheads="1"/>
            </p:cNvPicPr>
            <p:nvPr>
              <p:custDataLst>
                <p:tags r:id="rId14"/>
              </p:custDataLst>
            </p:nvPr>
          </p:nvPicPr>
          <p:blipFill>
            <a:blip r:embed="rId25" cstate="print"/>
            <a:srcRect/>
            <a:stretch>
              <a:fillRect/>
            </a:stretch>
          </p:blipFill>
          <p:spPr bwMode="auto">
            <a:xfrm>
              <a:off x="3502025" y="5535613"/>
              <a:ext cx="412750" cy="484187"/>
            </a:xfrm>
            <a:prstGeom prst="rect">
              <a:avLst/>
            </a:prstGeom>
            <a:noFill/>
          </p:spPr>
        </p:pic>
        <p:sp>
          <p:nvSpPr>
            <p:cNvPr id="166060" name="AutoShape 172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368925" y="5521325"/>
              <a:ext cx="1054100" cy="903288"/>
            </a:xfrm>
            <a:prstGeom prst="roundRect">
              <a:avLst>
                <a:gd name="adj" fmla="val 4167"/>
              </a:avLst>
            </a:prstGeom>
            <a:solidFill>
              <a:srgbClr val="F0F1E1"/>
            </a:solidFill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 marL="177800" indent="-177800" algn="l">
                <a:buSzPct val="85000"/>
              </a:pPr>
              <a:endParaRPr lang="en-GB" b="0"/>
            </a:p>
          </p:txBody>
        </p:sp>
        <p:grpSp>
          <p:nvGrpSpPr>
            <p:cNvPr id="2" name="Group 173"/>
            <p:cNvGrpSpPr>
              <a:grpSpLocks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5446713" y="5580063"/>
              <a:ext cx="928687" cy="804862"/>
              <a:chOff x="3431" y="3515"/>
              <a:chExt cx="585" cy="507"/>
            </a:xfrm>
          </p:grpSpPr>
          <p:pic>
            <p:nvPicPr>
              <p:cNvPr id="166062" name="Picture 174" descr="Laptop"/>
              <p:cNvPicPr>
                <a:picLocks noChangeAspect="1" noChangeArrowheads="1"/>
              </p:cNvPicPr>
              <p:nvPr>
                <p:custDataLst>
                  <p:tags r:id="rId17"/>
                </p:custDataLst>
              </p:nvPr>
            </p:nvPicPr>
            <p:blipFill>
              <a:blip r:embed="rId27" cstate="print"/>
              <a:srcRect/>
              <a:stretch>
                <a:fillRect/>
              </a:stretch>
            </p:blipFill>
            <p:spPr bwMode="auto">
              <a:xfrm flipH="1">
                <a:off x="3431" y="3520"/>
                <a:ext cx="410" cy="434"/>
              </a:xfrm>
              <a:prstGeom prst="rect">
                <a:avLst/>
              </a:prstGeom>
              <a:noFill/>
            </p:spPr>
          </p:pic>
          <p:pic>
            <p:nvPicPr>
              <p:cNvPr id="166063" name="Picture 175" descr="UserInteract"/>
              <p:cNvPicPr>
                <a:picLocks noChangeAspect="1" noChangeArrowheads="1"/>
              </p:cNvPicPr>
              <p:nvPr>
                <p:custDataLst>
                  <p:tags r:id="rId18"/>
                </p:custDataLst>
              </p:nvPr>
            </p:nvPicPr>
            <p:blipFill>
              <a:blip r:embed="rId28" cstate="print"/>
              <a:srcRect/>
              <a:stretch>
                <a:fillRect/>
              </a:stretch>
            </p:blipFill>
            <p:spPr bwMode="auto">
              <a:xfrm flipH="1">
                <a:off x="3698" y="3515"/>
                <a:ext cx="318" cy="507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2" name="Rectangle 21"/>
          <p:cNvSpPr/>
          <p:nvPr/>
        </p:nvSpPr>
        <p:spPr>
          <a:xfrm>
            <a:off x="391882" y="5529727"/>
            <a:ext cx="83674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/>
              <a:t>Permettre aux ordinateurs distants d’accéder aux ressources du réseau d’entreprise</a:t>
            </a:r>
            <a:endParaRPr lang="fr-BE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46743" y="116112"/>
            <a:ext cx="8621486" cy="965884"/>
          </a:xfrm>
        </p:spPr>
        <p:txBody>
          <a:bodyPr vert="horz" anchor="b">
            <a:normAutofit fontScale="90000"/>
          </a:bodyPr>
          <a:lstStyle/>
          <a:p>
            <a:r>
              <a:rPr lang="en-GB" b="1" dirty="0" smtClean="0">
                <a:solidFill>
                  <a:srgbClr val="C00000"/>
                </a:solidFill>
              </a:rPr>
              <a:t>Comment </a:t>
            </a:r>
            <a:r>
              <a:rPr lang="en-GB" b="1" dirty="0" err="1">
                <a:solidFill>
                  <a:srgbClr val="C00000"/>
                </a:solidFill>
              </a:rPr>
              <a:t>activer</a:t>
            </a:r>
            <a:r>
              <a:rPr lang="en-GB" b="1" dirty="0">
                <a:solidFill>
                  <a:srgbClr val="C00000"/>
                </a:solidFill>
              </a:rPr>
              <a:t> et </a:t>
            </a:r>
            <a:r>
              <a:rPr lang="en-GB" b="1" dirty="0" err="1">
                <a:solidFill>
                  <a:srgbClr val="C00000"/>
                </a:solidFill>
              </a:rPr>
              <a:t>configurer</a:t>
            </a:r>
            <a:r>
              <a:rPr lang="en-GB" b="1" dirty="0">
                <a:solidFill>
                  <a:srgbClr val="C00000"/>
                </a:solidFill>
              </a:rPr>
              <a:t> le service </a:t>
            </a:r>
            <a:r>
              <a:rPr lang="en-GB" b="1" dirty="0" err="1">
                <a:solidFill>
                  <a:srgbClr val="C00000"/>
                </a:solidFill>
              </a:rPr>
              <a:t>Routage</a:t>
            </a:r>
            <a:r>
              <a:rPr lang="en-GB" b="1" dirty="0">
                <a:solidFill>
                  <a:srgbClr val="C00000"/>
                </a:solidFill>
              </a:rPr>
              <a:t> et </a:t>
            </a:r>
            <a:r>
              <a:rPr lang="en-GB" b="1" dirty="0" err="1">
                <a:solidFill>
                  <a:srgbClr val="C00000"/>
                </a:solidFill>
              </a:rPr>
              <a:t>accès</a:t>
            </a:r>
            <a:r>
              <a:rPr lang="en-GB" b="1" dirty="0">
                <a:solidFill>
                  <a:srgbClr val="C00000"/>
                </a:solidFill>
              </a:rPr>
              <a:t> distant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" name="Picture 6" descr="media icon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151641" y="2677885"/>
            <a:ext cx="2829855" cy="135708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anchor="b">
            <a:normAutofit fontScale="90000"/>
          </a:bodyPr>
          <a:lstStyle/>
          <a:p>
            <a:r>
              <a:rPr lang="en-GB" b="1" dirty="0" smtClean="0">
                <a:solidFill>
                  <a:srgbClr val="C00000"/>
                </a:solidFill>
              </a:rPr>
              <a:t>Comment </a:t>
            </a:r>
            <a:r>
              <a:rPr lang="en-GB" b="1" dirty="0" err="1">
                <a:solidFill>
                  <a:srgbClr val="C00000"/>
                </a:solidFill>
              </a:rPr>
              <a:t>ajouter</a:t>
            </a:r>
            <a:r>
              <a:rPr lang="en-GB" b="1" dirty="0">
                <a:solidFill>
                  <a:srgbClr val="C00000"/>
                </a:solidFill>
              </a:rPr>
              <a:t> un </a:t>
            </a:r>
            <a:r>
              <a:rPr lang="en-GB" b="1" dirty="0" err="1">
                <a:solidFill>
                  <a:srgbClr val="C00000"/>
                </a:solidFill>
              </a:rPr>
              <a:t>protocole</a:t>
            </a:r>
            <a:r>
              <a:rPr lang="en-GB" b="1" dirty="0">
                <a:solidFill>
                  <a:srgbClr val="C00000"/>
                </a:solidFill>
              </a:rPr>
              <a:t> de </a:t>
            </a:r>
            <a:r>
              <a:rPr lang="en-GB" b="1" dirty="0" err="1">
                <a:solidFill>
                  <a:srgbClr val="C00000"/>
                </a:solidFill>
              </a:rPr>
              <a:t>routage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" name="Picture 6" descr="media icon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82271" y="2910113"/>
            <a:ext cx="2886300" cy="138415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32229" y="43542"/>
            <a:ext cx="8665028" cy="1081993"/>
          </a:xfrm>
        </p:spPr>
        <p:txBody>
          <a:bodyPr vert="horz" anchor="b">
            <a:normAutofit fontScale="90000"/>
          </a:bodyPr>
          <a:lstStyle/>
          <a:p>
            <a:r>
              <a:rPr lang="en-GB" b="1" dirty="0" smtClean="0">
                <a:solidFill>
                  <a:srgbClr val="C00000"/>
                </a:solidFill>
              </a:rPr>
              <a:t>Comment </a:t>
            </a:r>
            <a:r>
              <a:rPr lang="en-GB" b="1" dirty="0" err="1">
                <a:solidFill>
                  <a:srgbClr val="C00000"/>
                </a:solidFill>
              </a:rPr>
              <a:t>ajouter</a:t>
            </a:r>
            <a:r>
              <a:rPr lang="en-GB" b="1" dirty="0">
                <a:solidFill>
                  <a:srgbClr val="C00000"/>
                </a:solidFill>
              </a:rPr>
              <a:t> </a:t>
            </a:r>
            <a:r>
              <a:rPr lang="en-GB" b="1" dirty="0" err="1">
                <a:solidFill>
                  <a:srgbClr val="C00000"/>
                </a:solidFill>
              </a:rPr>
              <a:t>une</a:t>
            </a:r>
            <a:r>
              <a:rPr lang="en-GB" b="1" dirty="0">
                <a:solidFill>
                  <a:srgbClr val="C00000"/>
                </a:solidFill>
              </a:rPr>
              <a:t> interface de </a:t>
            </a:r>
            <a:r>
              <a:rPr lang="en-GB" b="1" dirty="0" err="1">
                <a:solidFill>
                  <a:srgbClr val="C00000"/>
                </a:solidFill>
              </a:rPr>
              <a:t>routage</a:t>
            </a:r>
            <a:r>
              <a:rPr lang="en-GB" b="1" dirty="0">
                <a:solidFill>
                  <a:srgbClr val="C00000"/>
                </a:solidFill>
              </a:rPr>
              <a:t> à un </a:t>
            </a:r>
            <a:r>
              <a:rPr lang="en-GB" b="1" dirty="0" err="1">
                <a:solidFill>
                  <a:srgbClr val="C00000"/>
                </a:solidFill>
              </a:rPr>
              <a:t>protocole</a:t>
            </a:r>
            <a:r>
              <a:rPr lang="en-GB" b="1" dirty="0">
                <a:solidFill>
                  <a:srgbClr val="C00000"/>
                </a:solidFill>
              </a:rPr>
              <a:t> de </a:t>
            </a:r>
            <a:r>
              <a:rPr lang="en-GB" b="1" dirty="0" err="1">
                <a:solidFill>
                  <a:srgbClr val="C00000"/>
                </a:solidFill>
              </a:rPr>
              <a:t>routage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" name="Picture 6" descr="media icon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079071" y="2706913"/>
            <a:ext cx="2639558" cy="126582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anchor="b">
            <a:normAutofit/>
          </a:bodyPr>
          <a:lstStyle/>
          <a:p>
            <a:pPr marL="514350" indent="-514350"/>
            <a:r>
              <a:rPr lang="fr-FR" b="1" dirty="0" smtClean="0">
                <a:solidFill>
                  <a:srgbClr val="C00000"/>
                </a:solidFill>
              </a:rPr>
              <a:t>Configuration </a:t>
            </a:r>
            <a:r>
              <a:rPr lang="fr-FR" b="1" dirty="0">
                <a:solidFill>
                  <a:srgbClr val="C00000"/>
                </a:solidFill>
              </a:rPr>
              <a:t>des filtres de paquets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725714" y="2264229"/>
            <a:ext cx="7692571" cy="31495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GB" dirty="0" err="1" smtClean="0">
                <a:solidFill>
                  <a:srgbClr val="000000"/>
                </a:solidFill>
              </a:rPr>
              <a:t>Qu'est-ce</a:t>
            </a:r>
            <a:r>
              <a:rPr lang="en-GB" dirty="0" smtClean="0">
                <a:solidFill>
                  <a:srgbClr val="000000"/>
                </a:solidFill>
              </a:rPr>
              <a:t> </a:t>
            </a:r>
            <a:r>
              <a:rPr lang="en-GB" dirty="0" err="1">
                <a:solidFill>
                  <a:srgbClr val="000000"/>
                </a:solidFill>
              </a:rPr>
              <a:t>que</a:t>
            </a:r>
            <a:r>
              <a:rPr lang="en-GB" dirty="0">
                <a:solidFill>
                  <a:srgbClr val="000000"/>
                </a:solidFill>
              </a:rPr>
              <a:t> le </a:t>
            </a:r>
            <a:r>
              <a:rPr lang="en-GB" dirty="0" err="1">
                <a:solidFill>
                  <a:srgbClr val="000000"/>
                </a:solidFill>
              </a:rPr>
              <a:t>filtrage</a:t>
            </a:r>
            <a:r>
              <a:rPr lang="en-GB" dirty="0">
                <a:solidFill>
                  <a:srgbClr val="000000"/>
                </a:solidFill>
              </a:rPr>
              <a:t> des </a:t>
            </a:r>
            <a:r>
              <a:rPr lang="en-GB" dirty="0" err="1">
                <a:solidFill>
                  <a:srgbClr val="000000"/>
                </a:solidFill>
              </a:rPr>
              <a:t>paquets</a:t>
            </a:r>
            <a:r>
              <a:rPr lang="en-GB" dirty="0">
                <a:solidFill>
                  <a:srgbClr val="000000"/>
                </a:solidFill>
              </a:rPr>
              <a:t> ?</a:t>
            </a:r>
            <a:endParaRPr lang="en-US" dirty="0"/>
          </a:p>
          <a:p>
            <a:pPr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GB" dirty="0" smtClean="0">
                <a:solidFill>
                  <a:srgbClr val="000000"/>
                </a:solidFill>
              </a:rPr>
              <a:t>Comment </a:t>
            </a:r>
            <a:r>
              <a:rPr lang="en-GB" dirty="0">
                <a:solidFill>
                  <a:srgbClr val="000000"/>
                </a:solidFill>
              </a:rPr>
              <a:t>les </a:t>
            </a:r>
            <a:r>
              <a:rPr lang="en-GB" dirty="0" err="1">
                <a:solidFill>
                  <a:srgbClr val="000000"/>
                </a:solidFill>
              </a:rPr>
              <a:t>filtres</a:t>
            </a:r>
            <a:r>
              <a:rPr lang="en-GB" dirty="0">
                <a:solidFill>
                  <a:srgbClr val="000000"/>
                </a:solidFill>
              </a:rPr>
              <a:t> de </a:t>
            </a:r>
            <a:r>
              <a:rPr lang="en-GB" dirty="0" err="1">
                <a:solidFill>
                  <a:srgbClr val="000000"/>
                </a:solidFill>
              </a:rPr>
              <a:t>paquets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 err="1">
                <a:solidFill>
                  <a:srgbClr val="000000"/>
                </a:solidFill>
              </a:rPr>
              <a:t>sont-ils</a:t>
            </a:r>
            <a:r>
              <a:rPr lang="en-GB" dirty="0">
                <a:solidFill>
                  <a:srgbClr val="000000"/>
                </a:solidFill>
              </a:rPr>
              <a:t> appliqués ?</a:t>
            </a:r>
            <a:endParaRPr lang="en-US" dirty="0"/>
          </a:p>
          <a:p>
            <a:pPr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GB" dirty="0" smtClean="0">
                <a:solidFill>
                  <a:srgbClr val="000000"/>
                </a:solidFill>
              </a:rPr>
              <a:t>Comment </a:t>
            </a:r>
            <a:r>
              <a:rPr lang="en-GB" dirty="0" err="1">
                <a:solidFill>
                  <a:srgbClr val="000000"/>
                </a:solidFill>
              </a:rPr>
              <a:t>configurer</a:t>
            </a:r>
            <a:r>
              <a:rPr lang="en-GB" dirty="0">
                <a:solidFill>
                  <a:srgbClr val="000000"/>
                </a:solidFill>
              </a:rPr>
              <a:t> les </a:t>
            </a:r>
            <a:r>
              <a:rPr lang="en-GB" dirty="0" err="1">
                <a:solidFill>
                  <a:srgbClr val="000000"/>
                </a:solidFill>
              </a:rPr>
              <a:t>filtres</a:t>
            </a:r>
            <a:r>
              <a:rPr lang="en-GB" dirty="0">
                <a:solidFill>
                  <a:srgbClr val="000000"/>
                </a:solidFill>
              </a:rPr>
              <a:t> de </a:t>
            </a:r>
            <a:r>
              <a:rPr lang="en-GB" dirty="0" err="1">
                <a:solidFill>
                  <a:srgbClr val="000000"/>
                </a:solidFill>
              </a:rPr>
              <a:t>paquets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08642" y="275999"/>
            <a:ext cx="8732157" cy="684212"/>
          </a:xfrm>
        </p:spPr>
        <p:txBody>
          <a:bodyPr vert="horz" anchor="b">
            <a:normAutofit/>
          </a:bodyPr>
          <a:lstStyle/>
          <a:p>
            <a:r>
              <a:rPr lang="en-GB" b="1" dirty="0" err="1" smtClean="0">
                <a:solidFill>
                  <a:srgbClr val="C00000"/>
                </a:solidFill>
              </a:rPr>
              <a:t>Qu'est-ce</a:t>
            </a:r>
            <a:r>
              <a:rPr lang="en-GB" b="1" dirty="0" smtClean="0">
                <a:solidFill>
                  <a:srgbClr val="C00000"/>
                </a:solidFill>
              </a:rPr>
              <a:t> </a:t>
            </a:r>
            <a:r>
              <a:rPr lang="en-GB" b="1" dirty="0" err="1">
                <a:solidFill>
                  <a:srgbClr val="C00000"/>
                </a:solidFill>
              </a:rPr>
              <a:t>que</a:t>
            </a:r>
            <a:r>
              <a:rPr lang="en-GB" b="1" dirty="0">
                <a:solidFill>
                  <a:srgbClr val="C00000"/>
                </a:solidFill>
              </a:rPr>
              <a:t> le </a:t>
            </a:r>
            <a:r>
              <a:rPr lang="en-GB" b="1" dirty="0" err="1">
                <a:solidFill>
                  <a:srgbClr val="C00000"/>
                </a:solidFill>
              </a:rPr>
              <a:t>filtrage</a:t>
            </a:r>
            <a:r>
              <a:rPr lang="en-GB" b="1" dirty="0">
                <a:solidFill>
                  <a:srgbClr val="C00000"/>
                </a:solidFill>
              </a:rPr>
              <a:t> des </a:t>
            </a:r>
            <a:r>
              <a:rPr lang="en-GB" b="1" dirty="0" err="1">
                <a:solidFill>
                  <a:srgbClr val="C00000"/>
                </a:solidFill>
              </a:rPr>
              <a:t>paquets</a:t>
            </a:r>
            <a:r>
              <a:rPr lang="en-GB" b="1" dirty="0">
                <a:solidFill>
                  <a:srgbClr val="C00000"/>
                </a:solidFill>
              </a:rPr>
              <a:t> ?</a:t>
            </a:r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58" name="Groupe 57"/>
          <p:cNvGrpSpPr/>
          <p:nvPr/>
        </p:nvGrpSpPr>
        <p:grpSpPr>
          <a:xfrm>
            <a:off x="479652" y="3178629"/>
            <a:ext cx="8359548" cy="3278411"/>
            <a:chOff x="1785938" y="2611438"/>
            <a:chExt cx="4583112" cy="2074862"/>
          </a:xfrm>
        </p:grpSpPr>
        <p:sp>
          <p:nvSpPr>
            <p:cNvPr id="177962" name="Rectangle 183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427538" y="3211513"/>
              <a:ext cx="217487" cy="1270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endParaRPr lang="en-GB" sz="1400" b="0"/>
            </a:p>
          </p:txBody>
        </p:sp>
        <p:sp>
          <p:nvSpPr>
            <p:cNvPr id="177963" name="Rectangle 1835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192588" y="3211513"/>
              <a:ext cx="234950" cy="127000"/>
            </a:xfrm>
            <a:prstGeom prst="rect">
              <a:avLst/>
            </a:prstGeom>
            <a:gradFill rotWithShape="0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endParaRPr lang="en-GB" b="0"/>
            </a:p>
          </p:txBody>
        </p:sp>
        <p:sp>
          <p:nvSpPr>
            <p:cNvPr id="177964" name="Rectangle 1836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427538" y="3338513"/>
              <a:ext cx="217487" cy="889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endParaRPr lang="en-GB" sz="1400" b="0"/>
            </a:p>
          </p:txBody>
        </p:sp>
        <p:sp>
          <p:nvSpPr>
            <p:cNvPr id="177965" name="Rectangle 1837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192588" y="3338513"/>
              <a:ext cx="234950" cy="88900"/>
            </a:xfrm>
            <a:prstGeom prst="rect">
              <a:avLst/>
            </a:prstGeom>
            <a:gradFill rotWithShape="0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endParaRPr lang="en-GB" b="0"/>
            </a:p>
          </p:txBody>
        </p:sp>
        <p:sp>
          <p:nvSpPr>
            <p:cNvPr id="177966" name="Rectangle 1838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427538" y="3427413"/>
              <a:ext cx="217487" cy="10001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endParaRPr lang="en-GB" sz="1400" b="0"/>
            </a:p>
          </p:txBody>
        </p:sp>
        <p:sp>
          <p:nvSpPr>
            <p:cNvPr id="177967" name="Rectangle 1839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192588" y="3427413"/>
              <a:ext cx="234950" cy="100012"/>
            </a:xfrm>
            <a:prstGeom prst="rect">
              <a:avLst/>
            </a:prstGeom>
            <a:gradFill rotWithShape="0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endParaRPr lang="en-GB"/>
            </a:p>
          </p:txBody>
        </p:sp>
        <p:sp>
          <p:nvSpPr>
            <p:cNvPr id="177968" name="Rectangle 1840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427538" y="3122613"/>
              <a:ext cx="217487" cy="889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endParaRPr lang="en-GB" sz="1400" b="0"/>
            </a:p>
          </p:txBody>
        </p:sp>
        <p:sp>
          <p:nvSpPr>
            <p:cNvPr id="177969" name="Rectangle 1841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192588" y="3122613"/>
              <a:ext cx="234950" cy="88900"/>
            </a:xfrm>
            <a:prstGeom prst="rect">
              <a:avLst/>
            </a:prstGeom>
            <a:gradFill rotWithShape="0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endParaRPr lang="en-GB" b="0"/>
            </a:p>
          </p:txBody>
        </p:sp>
        <p:sp>
          <p:nvSpPr>
            <p:cNvPr id="177970" name="Rectangle 1842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427538" y="3527425"/>
              <a:ext cx="217487" cy="889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endParaRPr lang="en-GB" sz="1400" b="0"/>
            </a:p>
          </p:txBody>
        </p:sp>
        <p:sp>
          <p:nvSpPr>
            <p:cNvPr id="177971" name="Rectangle 1843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192588" y="3527425"/>
              <a:ext cx="234950" cy="88900"/>
            </a:xfrm>
            <a:prstGeom prst="rect">
              <a:avLst/>
            </a:prstGeom>
            <a:gradFill rotWithShape="0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endParaRPr lang="en-GB" b="0"/>
            </a:p>
          </p:txBody>
        </p:sp>
        <p:sp>
          <p:nvSpPr>
            <p:cNvPr id="177972" name="Rectangle 184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427538" y="3049588"/>
              <a:ext cx="217487" cy="73025"/>
            </a:xfrm>
            <a:prstGeom prst="rect">
              <a:avLst/>
            </a:prstGeom>
            <a:solidFill>
              <a:srgbClr val="BBCDE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>
                <a:lnSpc>
                  <a:spcPct val="90000"/>
                </a:lnSpc>
              </a:pPr>
              <a:endParaRPr lang="en-GB"/>
            </a:p>
          </p:txBody>
        </p:sp>
        <p:sp>
          <p:nvSpPr>
            <p:cNvPr id="177973" name="Rectangle 1845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192588" y="3049588"/>
              <a:ext cx="234950" cy="73025"/>
            </a:xfrm>
            <a:prstGeom prst="rect">
              <a:avLst/>
            </a:prstGeom>
            <a:solidFill>
              <a:srgbClr val="BBCDE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endParaRPr lang="en-GB"/>
            </a:p>
          </p:txBody>
        </p:sp>
        <p:sp>
          <p:nvSpPr>
            <p:cNvPr id="177974" name="Line 1846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4192588" y="3049588"/>
              <a:ext cx="452437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77975" name="Line 1847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4192588" y="3616325"/>
              <a:ext cx="452437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77976" name="Line 1848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4427538" y="3049588"/>
              <a:ext cx="0" cy="566737"/>
            </a:xfrm>
            <a:prstGeom prst="line">
              <a:avLst/>
            </a:prstGeom>
            <a:noFill/>
            <a:ln w="19050" cap="rnd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77977" name="Line 1849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4192588" y="3049588"/>
              <a:ext cx="0" cy="566737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77978" name="Line 1850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4645025" y="3049588"/>
              <a:ext cx="0" cy="566737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77979" name="Line 1851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4192588" y="3122613"/>
              <a:ext cx="452437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7980" name="Line 1852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4192588" y="3211513"/>
              <a:ext cx="452437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77981" name="Line 1853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4192588" y="3527425"/>
              <a:ext cx="452437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77982" name="Line 1854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4192588" y="3427413"/>
              <a:ext cx="452437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177983" name="Line 1855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4192588" y="3338513"/>
              <a:ext cx="452437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pic>
          <p:nvPicPr>
            <p:cNvPr id="177984" name="Picture 1856" descr="Server_ServerBack"/>
            <p:cNvPicPr>
              <a:picLocks noChangeAspect="1" noChangeArrowheads="1"/>
            </p:cNvPicPr>
            <p:nvPr/>
          </p:nvPicPr>
          <p:blipFill>
            <a:blip r:embed="rId51"/>
            <a:srcRect/>
            <a:stretch>
              <a:fillRect/>
            </a:stretch>
          </p:blipFill>
          <p:spPr bwMode="auto">
            <a:xfrm>
              <a:off x="2527300" y="2611438"/>
              <a:ext cx="1370013" cy="1663700"/>
            </a:xfrm>
            <a:prstGeom prst="rect">
              <a:avLst/>
            </a:prstGeom>
            <a:noFill/>
          </p:spPr>
        </p:pic>
        <p:sp>
          <p:nvSpPr>
            <p:cNvPr id="177985" name="Freeform 1857"/>
            <p:cNvSpPr>
              <a:spLocks/>
            </p:cNvSpPr>
            <p:nvPr/>
          </p:nvSpPr>
          <p:spPr bwMode="auto">
            <a:xfrm>
              <a:off x="4786313" y="3925888"/>
              <a:ext cx="887412" cy="328612"/>
            </a:xfrm>
            <a:custGeom>
              <a:avLst/>
              <a:gdLst/>
              <a:ahLst/>
              <a:cxnLst>
                <a:cxn ang="0">
                  <a:pos x="571" y="59"/>
                </a:cxn>
                <a:cxn ang="0">
                  <a:pos x="566" y="30"/>
                </a:cxn>
                <a:cxn ang="0">
                  <a:pos x="561" y="0"/>
                </a:cxn>
                <a:cxn ang="0">
                  <a:pos x="703" y="53"/>
                </a:cxn>
                <a:cxn ang="0">
                  <a:pos x="800" y="91"/>
                </a:cxn>
                <a:cxn ang="0">
                  <a:pos x="843" y="108"/>
                </a:cxn>
                <a:cxn ang="0">
                  <a:pos x="832" y="113"/>
                </a:cxn>
                <a:cxn ang="0">
                  <a:pos x="800" y="124"/>
                </a:cxn>
                <a:cxn ang="0">
                  <a:pos x="703" y="158"/>
                </a:cxn>
                <a:cxn ang="0">
                  <a:pos x="561" y="207"/>
                </a:cxn>
                <a:cxn ang="0">
                  <a:pos x="571" y="149"/>
                </a:cxn>
                <a:cxn ang="0">
                  <a:pos x="0" y="108"/>
                </a:cxn>
                <a:cxn ang="0">
                  <a:pos x="571" y="59"/>
                </a:cxn>
              </a:cxnLst>
              <a:rect l="0" t="0" r="r" b="b"/>
              <a:pathLst>
                <a:path w="843" h="207">
                  <a:moveTo>
                    <a:pt x="571" y="59"/>
                  </a:moveTo>
                  <a:lnTo>
                    <a:pt x="566" y="30"/>
                  </a:lnTo>
                  <a:lnTo>
                    <a:pt x="561" y="0"/>
                  </a:lnTo>
                  <a:lnTo>
                    <a:pt x="703" y="53"/>
                  </a:lnTo>
                  <a:lnTo>
                    <a:pt x="800" y="91"/>
                  </a:lnTo>
                  <a:lnTo>
                    <a:pt x="843" y="108"/>
                  </a:lnTo>
                  <a:lnTo>
                    <a:pt x="832" y="113"/>
                  </a:lnTo>
                  <a:lnTo>
                    <a:pt x="800" y="124"/>
                  </a:lnTo>
                  <a:lnTo>
                    <a:pt x="703" y="158"/>
                  </a:lnTo>
                  <a:lnTo>
                    <a:pt x="561" y="207"/>
                  </a:lnTo>
                  <a:lnTo>
                    <a:pt x="571" y="149"/>
                  </a:lnTo>
                  <a:lnTo>
                    <a:pt x="0" y="108"/>
                  </a:lnTo>
                  <a:lnTo>
                    <a:pt x="571" y="59"/>
                  </a:lnTo>
                  <a:close/>
                </a:path>
              </a:pathLst>
            </a:custGeom>
            <a:solidFill>
              <a:srgbClr val="FF0000">
                <a:alpha val="75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178015" name="Group 1858"/>
            <p:cNvGrpSpPr>
              <a:grpSpLocks/>
            </p:cNvGrpSpPr>
            <p:nvPr/>
          </p:nvGrpSpPr>
          <p:grpSpPr bwMode="auto">
            <a:xfrm>
              <a:off x="4192588" y="3879850"/>
              <a:ext cx="452437" cy="566738"/>
              <a:chOff x="2641" y="2444"/>
              <a:chExt cx="285" cy="357"/>
            </a:xfrm>
          </p:grpSpPr>
          <p:sp>
            <p:nvSpPr>
              <p:cNvPr id="177987" name="Rectangle 1859"/>
              <p:cNvSpPr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2789" y="2546"/>
                <a:ext cx="137" cy="80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l"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endParaRPr lang="en-GB" sz="1400" b="0"/>
              </a:p>
            </p:txBody>
          </p:sp>
          <p:sp>
            <p:nvSpPr>
              <p:cNvPr id="177988" name="Rectangle 1860"/>
              <p:cNvSpPr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2641" y="2546"/>
                <a:ext cx="148" cy="80"/>
              </a:xfrm>
              <a:prstGeom prst="rect">
                <a:avLst/>
              </a:prstGeom>
              <a:gradFill rotWithShape="0">
                <a:gsLst>
                  <a:gs pos="0">
                    <a:srgbClr val="EEEFD7"/>
                  </a:gs>
                  <a:gs pos="100000">
                    <a:srgbClr val="D5D69C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l"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endParaRPr lang="en-GB" b="0"/>
              </a:p>
            </p:txBody>
          </p:sp>
          <p:sp>
            <p:nvSpPr>
              <p:cNvPr id="177989" name="Rectangle 1861"/>
              <p:cNvSpPr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2789" y="2626"/>
                <a:ext cx="137" cy="56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l"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endParaRPr lang="en-GB" sz="1400" b="0"/>
              </a:p>
            </p:txBody>
          </p:sp>
          <p:sp>
            <p:nvSpPr>
              <p:cNvPr id="177990" name="Rectangle 1862"/>
              <p:cNvSpPr>
                <a:spLocks noChangeArrowhead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2641" y="2626"/>
                <a:ext cx="148" cy="56"/>
              </a:xfrm>
              <a:prstGeom prst="rect">
                <a:avLst/>
              </a:prstGeom>
              <a:gradFill rotWithShape="0">
                <a:gsLst>
                  <a:gs pos="0">
                    <a:srgbClr val="EEEFD7"/>
                  </a:gs>
                  <a:gs pos="100000">
                    <a:srgbClr val="D5D69C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l"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endParaRPr lang="en-GB" b="0"/>
              </a:p>
            </p:txBody>
          </p:sp>
          <p:sp>
            <p:nvSpPr>
              <p:cNvPr id="177991" name="Rectangle 1863"/>
              <p:cNvSpPr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2789" y="2682"/>
                <a:ext cx="137" cy="63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l"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endParaRPr lang="en-GB" sz="1400" b="0"/>
              </a:p>
            </p:txBody>
          </p:sp>
          <p:sp>
            <p:nvSpPr>
              <p:cNvPr id="177992" name="Rectangle 1864"/>
              <p:cNvSpPr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2641" y="2682"/>
                <a:ext cx="148" cy="63"/>
              </a:xfrm>
              <a:prstGeom prst="rect">
                <a:avLst/>
              </a:prstGeom>
              <a:gradFill rotWithShape="0">
                <a:gsLst>
                  <a:gs pos="0">
                    <a:srgbClr val="EEEFD7"/>
                  </a:gs>
                  <a:gs pos="100000">
                    <a:srgbClr val="D5D69C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l"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endParaRPr lang="en-GB"/>
              </a:p>
            </p:txBody>
          </p:sp>
          <p:sp>
            <p:nvSpPr>
              <p:cNvPr id="177993" name="Rectangle 1865"/>
              <p:cNvSpPr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2789" y="2490"/>
                <a:ext cx="137" cy="56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endParaRPr lang="en-GB" sz="1400" b="0"/>
              </a:p>
            </p:txBody>
          </p:sp>
          <p:sp>
            <p:nvSpPr>
              <p:cNvPr id="177994" name="Rectangle 1866"/>
              <p:cNvSpPr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2641" y="2490"/>
                <a:ext cx="148" cy="56"/>
              </a:xfrm>
              <a:prstGeom prst="rect">
                <a:avLst/>
              </a:prstGeom>
              <a:gradFill rotWithShape="0">
                <a:gsLst>
                  <a:gs pos="0">
                    <a:srgbClr val="EEEFD7"/>
                  </a:gs>
                  <a:gs pos="100000">
                    <a:srgbClr val="D5D69C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l"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endParaRPr lang="en-GB" b="0"/>
              </a:p>
            </p:txBody>
          </p:sp>
          <p:sp>
            <p:nvSpPr>
              <p:cNvPr id="177995" name="Rectangle 1867"/>
              <p:cNvSpPr>
                <a:spLocks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2789" y="2745"/>
                <a:ext cx="137" cy="56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l"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endParaRPr lang="en-GB" sz="1400" b="0"/>
              </a:p>
            </p:txBody>
          </p:sp>
          <p:sp>
            <p:nvSpPr>
              <p:cNvPr id="177996" name="Rectangle 1868"/>
              <p:cNvSpPr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2641" y="2745"/>
                <a:ext cx="148" cy="56"/>
              </a:xfrm>
              <a:prstGeom prst="rect">
                <a:avLst/>
              </a:prstGeom>
              <a:gradFill rotWithShape="0">
                <a:gsLst>
                  <a:gs pos="0">
                    <a:srgbClr val="EEEFD7"/>
                  </a:gs>
                  <a:gs pos="100000">
                    <a:srgbClr val="D5D69C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l"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endParaRPr lang="en-GB" b="0"/>
              </a:p>
            </p:txBody>
          </p:sp>
          <p:sp>
            <p:nvSpPr>
              <p:cNvPr id="177997" name="Rectangle 1869"/>
              <p:cNvSpPr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2789" y="2444"/>
                <a:ext cx="137" cy="46"/>
              </a:xfrm>
              <a:prstGeom prst="rect">
                <a:avLst/>
              </a:prstGeom>
              <a:solidFill>
                <a:srgbClr val="BBCDE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>
                  <a:lnSpc>
                    <a:spcPct val="90000"/>
                  </a:lnSpc>
                </a:pPr>
                <a:endParaRPr lang="en-GB"/>
              </a:p>
            </p:txBody>
          </p:sp>
          <p:sp>
            <p:nvSpPr>
              <p:cNvPr id="177998" name="Rectangle 1870"/>
              <p:cNvSpPr>
                <a:spLocks noChangeArrowheads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2641" y="2444"/>
                <a:ext cx="148" cy="46"/>
              </a:xfrm>
              <a:prstGeom prst="rect">
                <a:avLst/>
              </a:prstGeom>
              <a:solidFill>
                <a:srgbClr val="BBCDE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endParaRPr lang="en-GB"/>
              </a:p>
            </p:txBody>
          </p:sp>
          <p:sp>
            <p:nvSpPr>
              <p:cNvPr id="177999" name="Line 1871"/>
              <p:cNvSpPr>
                <a:spLocks noChangeShapeType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2641" y="2444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8000" name="Line 1872"/>
              <p:cNvSpPr>
                <a:spLocks noChangeShapeType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2641" y="2801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8001" name="Line 1873"/>
              <p:cNvSpPr>
                <a:spLocks noChangeShapeType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2789" y="2444"/>
                <a:ext cx="0" cy="357"/>
              </a:xfrm>
              <a:prstGeom prst="line">
                <a:avLst/>
              </a:prstGeom>
              <a:noFill/>
              <a:ln w="19050" cap="rnd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8002" name="Line 1874"/>
              <p:cNvSpPr>
                <a:spLocks noChangeShapeType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2641" y="2444"/>
                <a:ext cx="0" cy="357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8003" name="Line 1875"/>
              <p:cNvSpPr>
                <a:spLocks noChangeShapeType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2926" y="2444"/>
                <a:ext cx="0" cy="357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8004" name="Line 1876"/>
              <p:cNvSpPr>
                <a:spLocks noChangeShapeType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2641" y="2490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78005" name="Line 1877"/>
              <p:cNvSpPr>
                <a:spLocks noChangeShapeType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2641" y="2546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fr-FR"/>
              </a:p>
            </p:txBody>
          </p:sp>
          <p:sp>
            <p:nvSpPr>
              <p:cNvPr id="178006" name="Line 1878"/>
              <p:cNvSpPr>
                <a:spLocks noChangeShapeType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2641" y="2745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fr-FR"/>
              </a:p>
            </p:txBody>
          </p:sp>
          <p:sp>
            <p:nvSpPr>
              <p:cNvPr id="178007" name="Line 1879"/>
              <p:cNvSpPr>
                <a:spLocks noChangeShapeType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2641" y="2682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fr-FR"/>
              </a:p>
            </p:txBody>
          </p:sp>
          <p:sp>
            <p:nvSpPr>
              <p:cNvPr id="178008" name="Line 1880"/>
              <p:cNvSpPr>
                <a:spLocks noChangeShapeType="1"/>
              </p:cNvSpPr>
              <p:nvPr>
                <p:custDataLst>
                  <p:tags r:id="rId48"/>
                </p:custDataLst>
              </p:nvPr>
            </p:nvSpPr>
            <p:spPr bwMode="auto">
              <a:xfrm>
                <a:off x="2641" y="2626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fr-FR"/>
              </a:p>
            </p:txBody>
          </p:sp>
        </p:grpSp>
        <p:sp>
          <p:nvSpPr>
            <p:cNvPr id="178009" name="Freeform 1881"/>
            <p:cNvSpPr>
              <a:spLocks/>
            </p:cNvSpPr>
            <p:nvPr/>
          </p:nvSpPr>
          <p:spPr bwMode="auto">
            <a:xfrm rot="10800000">
              <a:off x="4856163" y="3230563"/>
              <a:ext cx="887412" cy="328612"/>
            </a:xfrm>
            <a:custGeom>
              <a:avLst/>
              <a:gdLst/>
              <a:ahLst/>
              <a:cxnLst>
                <a:cxn ang="0">
                  <a:pos x="571" y="59"/>
                </a:cxn>
                <a:cxn ang="0">
                  <a:pos x="566" y="30"/>
                </a:cxn>
                <a:cxn ang="0">
                  <a:pos x="561" y="0"/>
                </a:cxn>
                <a:cxn ang="0">
                  <a:pos x="703" y="53"/>
                </a:cxn>
                <a:cxn ang="0">
                  <a:pos x="800" y="91"/>
                </a:cxn>
                <a:cxn ang="0">
                  <a:pos x="843" y="108"/>
                </a:cxn>
                <a:cxn ang="0">
                  <a:pos x="832" y="113"/>
                </a:cxn>
                <a:cxn ang="0">
                  <a:pos x="800" y="124"/>
                </a:cxn>
                <a:cxn ang="0">
                  <a:pos x="703" y="158"/>
                </a:cxn>
                <a:cxn ang="0">
                  <a:pos x="561" y="207"/>
                </a:cxn>
                <a:cxn ang="0">
                  <a:pos x="571" y="149"/>
                </a:cxn>
                <a:cxn ang="0">
                  <a:pos x="0" y="108"/>
                </a:cxn>
                <a:cxn ang="0">
                  <a:pos x="571" y="59"/>
                </a:cxn>
              </a:cxnLst>
              <a:rect l="0" t="0" r="r" b="b"/>
              <a:pathLst>
                <a:path w="843" h="207">
                  <a:moveTo>
                    <a:pt x="571" y="59"/>
                  </a:moveTo>
                  <a:lnTo>
                    <a:pt x="566" y="30"/>
                  </a:lnTo>
                  <a:lnTo>
                    <a:pt x="561" y="0"/>
                  </a:lnTo>
                  <a:lnTo>
                    <a:pt x="703" y="53"/>
                  </a:lnTo>
                  <a:lnTo>
                    <a:pt x="800" y="91"/>
                  </a:lnTo>
                  <a:lnTo>
                    <a:pt x="843" y="108"/>
                  </a:lnTo>
                  <a:lnTo>
                    <a:pt x="832" y="113"/>
                  </a:lnTo>
                  <a:lnTo>
                    <a:pt x="800" y="124"/>
                  </a:lnTo>
                  <a:lnTo>
                    <a:pt x="703" y="158"/>
                  </a:lnTo>
                  <a:lnTo>
                    <a:pt x="561" y="207"/>
                  </a:lnTo>
                  <a:lnTo>
                    <a:pt x="571" y="149"/>
                  </a:lnTo>
                  <a:lnTo>
                    <a:pt x="0" y="108"/>
                  </a:lnTo>
                  <a:lnTo>
                    <a:pt x="571" y="59"/>
                  </a:lnTo>
                  <a:close/>
                </a:path>
              </a:pathLst>
            </a:custGeom>
            <a:solidFill>
              <a:srgbClr val="FF0000">
                <a:alpha val="75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8010" name="AutoShape 1882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738688" y="4335463"/>
              <a:ext cx="1630362" cy="350837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r>
                <a:rPr lang="en-GB" sz="2000">
                  <a:solidFill>
                    <a:srgbClr val="000000"/>
                  </a:solidFill>
                </a:rPr>
                <a:t>Filtre de sortie</a:t>
              </a:r>
              <a:endParaRPr lang="en-US" sz="2000"/>
            </a:p>
          </p:txBody>
        </p:sp>
        <p:sp>
          <p:nvSpPr>
            <p:cNvPr id="178011" name="AutoShape 1883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4738688" y="2781300"/>
              <a:ext cx="1630362" cy="350838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r>
                <a:rPr lang="en-GB" sz="2000">
                  <a:solidFill>
                    <a:srgbClr val="000000"/>
                  </a:solidFill>
                </a:rPr>
                <a:t>Filtre d'entrée</a:t>
              </a:r>
              <a:endParaRPr lang="en-US" sz="2000"/>
            </a:p>
          </p:txBody>
        </p:sp>
        <p:sp>
          <p:nvSpPr>
            <p:cNvPr id="178012" name="Line 1884"/>
            <p:cNvSpPr>
              <a:spLocks noChangeShapeType="1"/>
            </p:cNvSpPr>
            <p:nvPr/>
          </p:nvSpPr>
          <p:spPr bwMode="auto">
            <a:xfrm>
              <a:off x="3705225" y="3738563"/>
              <a:ext cx="2060575" cy="0"/>
            </a:xfrm>
            <a:prstGeom prst="line">
              <a:avLst/>
            </a:prstGeom>
            <a:noFill/>
            <a:ln w="44450">
              <a:solidFill>
                <a:srgbClr val="4D4D4D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178013" name="AutoShape 1885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785938" y="3128963"/>
              <a:ext cx="958850" cy="319087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>
                <a:lnSpc>
                  <a:spcPct val="85000"/>
                </a:lnSpc>
              </a:pPr>
              <a:r>
                <a:rPr lang="en-GB">
                  <a:solidFill>
                    <a:srgbClr val="000000"/>
                  </a:solidFill>
                </a:rPr>
                <a:t>Routeur</a:t>
              </a:r>
              <a:endParaRPr lang="en-US"/>
            </a:p>
          </p:txBody>
        </p:sp>
      </p:grpSp>
      <p:sp>
        <p:nvSpPr>
          <p:cNvPr id="59" name="Rectangle 58"/>
          <p:cNvSpPr/>
          <p:nvPr/>
        </p:nvSpPr>
        <p:spPr>
          <a:xfrm>
            <a:off x="224971" y="1506808"/>
            <a:ext cx="857068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algn="l">
              <a:buSzPct val="80000"/>
              <a:buFontTx/>
              <a:buBlip>
                <a:blip r:embed="rId52"/>
              </a:buBlip>
            </a:pPr>
            <a:r>
              <a:rPr lang="en-GB" sz="2400" dirty="0" err="1" smtClean="0">
                <a:solidFill>
                  <a:srgbClr val="000000"/>
                </a:solidFill>
              </a:rPr>
              <a:t>Spécifie</a:t>
            </a:r>
            <a:r>
              <a:rPr lang="en-GB" sz="2400" dirty="0" smtClean="0">
                <a:solidFill>
                  <a:srgbClr val="000000"/>
                </a:solidFill>
              </a:rPr>
              <a:t> le type de </a:t>
            </a:r>
            <a:r>
              <a:rPr lang="en-GB" sz="2400" dirty="0" err="1" smtClean="0">
                <a:solidFill>
                  <a:srgbClr val="000000"/>
                </a:solidFill>
              </a:rPr>
              <a:t>trafic</a:t>
            </a:r>
            <a:r>
              <a:rPr lang="en-GB" sz="2400" dirty="0" smtClean="0">
                <a:solidFill>
                  <a:srgbClr val="000000"/>
                </a:solidFill>
              </a:rPr>
              <a:t> qui </a:t>
            </a:r>
            <a:r>
              <a:rPr lang="en-GB" sz="2400" dirty="0" err="1" smtClean="0">
                <a:solidFill>
                  <a:srgbClr val="000000"/>
                </a:solidFill>
              </a:rPr>
              <a:t>est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autorisé</a:t>
            </a:r>
            <a:r>
              <a:rPr lang="en-GB" sz="2400" dirty="0" smtClean="0">
                <a:solidFill>
                  <a:srgbClr val="000000"/>
                </a:solidFill>
              </a:rPr>
              <a:t> à </a:t>
            </a:r>
            <a:r>
              <a:rPr lang="en-GB" sz="2400" dirty="0" err="1" smtClean="0">
                <a:solidFill>
                  <a:srgbClr val="000000"/>
                </a:solidFill>
              </a:rPr>
              <a:t>entrer</a:t>
            </a:r>
            <a:r>
              <a:rPr lang="en-GB" sz="2400" dirty="0" smtClean="0">
                <a:solidFill>
                  <a:srgbClr val="000000"/>
                </a:solidFill>
              </a:rPr>
              <a:t> et à </a:t>
            </a:r>
            <a:r>
              <a:rPr lang="en-GB" sz="2400" dirty="0" err="1" smtClean="0">
                <a:solidFill>
                  <a:srgbClr val="000000"/>
                </a:solidFill>
              </a:rPr>
              <a:t>sortir</a:t>
            </a:r>
            <a:r>
              <a:rPr lang="en-GB" sz="2400" dirty="0" smtClean="0">
                <a:solidFill>
                  <a:srgbClr val="000000"/>
                </a:solidFill>
              </a:rPr>
              <a:t> d'un </a:t>
            </a:r>
            <a:r>
              <a:rPr lang="en-GB" sz="2400" dirty="0" err="1" smtClean="0">
                <a:solidFill>
                  <a:srgbClr val="000000"/>
                </a:solidFill>
              </a:rPr>
              <a:t>routeur</a:t>
            </a:r>
            <a:endParaRPr lang="en-US" sz="2400" dirty="0" smtClean="0"/>
          </a:p>
          <a:p>
            <a:pPr marL="228600" indent="-228600" algn="l">
              <a:buSzPct val="80000"/>
              <a:buFontTx/>
              <a:buBlip>
                <a:blip r:embed="rId52"/>
              </a:buBlip>
            </a:pPr>
            <a:r>
              <a:rPr lang="en-GB" sz="2400" dirty="0" err="1" smtClean="0">
                <a:solidFill>
                  <a:srgbClr val="000000"/>
                </a:solidFill>
              </a:rPr>
              <a:t>C’est</a:t>
            </a:r>
            <a:r>
              <a:rPr lang="en-GB" sz="2400" dirty="0" smtClean="0">
                <a:solidFill>
                  <a:srgbClr val="000000"/>
                </a:solidFill>
              </a:rPr>
              <a:t> un </a:t>
            </a:r>
            <a:r>
              <a:rPr lang="en-GB" sz="2400" dirty="0" err="1" smtClean="0">
                <a:solidFill>
                  <a:srgbClr val="000000"/>
                </a:solidFill>
              </a:rPr>
              <a:t>paramètre</a:t>
            </a:r>
            <a:r>
              <a:rPr lang="en-GB" sz="2400" dirty="0" smtClean="0">
                <a:solidFill>
                  <a:srgbClr val="000000"/>
                </a:solidFill>
              </a:rPr>
              <a:t> de configuration TCP/IP </a:t>
            </a:r>
            <a:r>
              <a:rPr lang="en-GB" sz="2400" dirty="0" err="1" smtClean="0">
                <a:solidFill>
                  <a:srgbClr val="000000"/>
                </a:solidFill>
              </a:rPr>
              <a:t>conçu</a:t>
            </a:r>
            <a:r>
              <a:rPr lang="en-GB" sz="2400" dirty="0" smtClean="0">
                <a:solidFill>
                  <a:srgbClr val="000000"/>
                </a:solidFill>
              </a:rPr>
              <a:t> pour </a:t>
            </a:r>
            <a:r>
              <a:rPr lang="en-GB" sz="2400" dirty="0" err="1" smtClean="0">
                <a:solidFill>
                  <a:srgbClr val="000000"/>
                </a:solidFill>
              </a:rPr>
              <a:t>autoriser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ou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refuser</a:t>
            </a:r>
            <a:r>
              <a:rPr lang="en-GB" sz="2400" dirty="0" smtClean="0">
                <a:solidFill>
                  <a:srgbClr val="000000"/>
                </a:solidFill>
              </a:rPr>
              <a:t> des </a:t>
            </a:r>
            <a:r>
              <a:rPr lang="en-GB" sz="2400" dirty="0" err="1" smtClean="0">
                <a:solidFill>
                  <a:srgbClr val="000000"/>
                </a:solidFill>
              </a:rPr>
              <a:t>paquets</a:t>
            </a:r>
            <a:r>
              <a:rPr lang="en-GB" sz="2400" dirty="0" smtClean="0">
                <a:solidFill>
                  <a:srgbClr val="000000"/>
                </a:solidFill>
              </a:rPr>
              <a:t> entrants </a:t>
            </a:r>
            <a:r>
              <a:rPr lang="en-GB" sz="2400" dirty="0" err="1" smtClean="0">
                <a:solidFill>
                  <a:srgbClr val="000000"/>
                </a:solidFill>
              </a:rPr>
              <a:t>ou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sortants</a:t>
            </a:r>
            <a:endParaRPr lang="en-US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4129" y="363084"/>
            <a:ext cx="8775700" cy="684212"/>
          </a:xfrm>
        </p:spPr>
        <p:txBody>
          <a:bodyPr vert="horz" anchor="b">
            <a:normAutofit/>
          </a:bodyPr>
          <a:lstStyle/>
          <a:p>
            <a:r>
              <a:rPr lang="en-GB" b="1" dirty="0" err="1" smtClean="0">
                <a:solidFill>
                  <a:srgbClr val="C00000"/>
                </a:solidFill>
              </a:rPr>
              <a:t>Qu'est-ce</a:t>
            </a:r>
            <a:r>
              <a:rPr lang="en-GB" b="1" dirty="0" smtClean="0">
                <a:solidFill>
                  <a:srgbClr val="C00000"/>
                </a:solidFill>
              </a:rPr>
              <a:t> </a:t>
            </a:r>
            <a:r>
              <a:rPr lang="en-GB" b="1" dirty="0" err="1">
                <a:solidFill>
                  <a:srgbClr val="C00000"/>
                </a:solidFill>
              </a:rPr>
              <a:t>que</a:t>
            </a:r>
            <a:r>
              <a:rPr lang="en-GB" b="1" dirty="0">
                <a:solidFill>
                  <a:srgbClr val="C00000"/>
                </a:solidFill>
              </a:rPr>
              <a:t> le </a:t>
            </a:r>
            <a:r>
              <a:rPr lang="en-GB" b="1" dirty="0" err="1">
                <a:solidFill>
                  <a:srgbClr val="C00000"/>
                </a:solidFill>
              </a:rPr>
              <a:t>filtrage</a:t>
            </a:r>
            <a:r>
              <a:rPr lang="en-GB" b="1" dirty="0">
                <a:solidFill>
                  <a:srgbClr val="C00000"/>
                </a:solidFill>
              </a:rPr>
              <a:t> des </a:t>
            </a:r>
            <a:r>
              <a:rPr lang="en-GB" b="1" dirty="0" err="1">
                <a:solidFill>
                  <a:srgbClr val="C00000"/>
                </a:solidFill>
              </a:rPr>
              <a:t>paquets</a:t>
            </a:r>
            <a:r>
              <a:rPr lang="en-GB" b="1" dirty="0">
                <a:solidFill>
                  <a:srgbClr val="C00000"/>
                </a:solidFill>
              </a:rPr>
              <a:t> 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77960" name="AutoShape 183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30667" y="4564287"/>
            <a:ext cx="8308391" cy="1617371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buSzPct val="80000"/>
              <a:buFontTx/>
              <a:buBlip>
                <a:blip r:embed="rId52"/>
              </a:buBlip>
            </a:pPr>
            <a:r>
              <a:rPr lang="en-GB" sz="2400" dirty="0" err="1">
                <a:solidFill>
                  <a:srgbClr val="000000"/>
                </a:solidFill>
              </a:rPr>
              <a:t>Interdire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l'accès</a:t>
            </a:r>
            <a:r>
              <a:rPr lang="en-GB" sz="2400" dirty="0">
                <a:solidFill>
                  <a:srgbClr val="000000"/>
                </a:solidFill>
              </a:rPr>
              <a:t> aux </a:t>
            </a:r>
            <a:r>
              <a:rPr lang="en-GB" sz="2400" dirty="0" err="1">
                <a:solidFill>
                  <a:srgbClr val="000000"/>
                </a:solidFill>
              </a:rPr>
              <a:t>utilisateurs</a:t>
            </a:r>
            <a:r>
              <a:rPr lang="en-GB" sz="2400" dirty="0">
                <a:solidFill>
                  <a:srgbClr val="000000"/>
                </a:solidFill>
              </a:rPr>
              <a:t> non </a:t>
            </a:r>
            <a:r>
              <a:rPr lang="en-GB" sz="2400" dirty="0" err="1">
                <a:solidFill>
                  <a:srgbClr val="000000"/>
                </a:solidFill>
              </a:rPr>
              <a:t>autorisés</a:t>
            </a:r>
            <a:endParaRPr lang="en-US" sz="2400" dirty="0"/>
          </a:p>
          <a:p>
            <a:pPr marL="231775" indent="-231775" algn="l">
              <a:buSzPct val="80000"/>
              <a:buFontTx/>
              <a:buBlip>
                <a:blip r:embed="rId52"/>
              </a:buBlip>
            </a:pPr>
            <a:r>
              <a:rPr lang="en-GB" sz="2400" dirty="0" err="1">
                <a:solidFill>
                  <a:srgbClr val="000000"/>
                </a:solidFill>
              </a:rPr>
              <a:t>Interdire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l'accès</a:t>
            </a:r>
            <a:r>
              <a:rPr lang="en-GB" sz="2400" dirty="0">
                <a:solidFill>
                  <a:srgbClr val="000000"/>
                </a:solidFill>
              </a:rPr>
              <a:t> aux </a:t>
            </a:r>
            <a:r>
              <a:rPr lang="en-GB" sz="2400" dirty="0" err="1">
                <a:solidFill>
                  <a:srgbClr val="000000"/>
                </a:solidFill>
              </a:rPr>
              <a:t>ressources</a:t>
            </a:r>
            <a:endParaRPr lang="en-US" sz="2400" dirty="0"/>
          </a:p>
          <a:p>
            <a:pPr marL="231775" indent="-231775" algn="l">
              <a:buSzPct val="80000"/>
              <a:buFontTx/>
              <a:buBlip>
                <a:blip r:embed="rId52"/>
              </a:buBlip>
            </a:pPr>
            <a:r>
              <a:rPr lang="en-GB" sz="2400" dirty="0" err="1">
                <a:solidFill>
                  <a:srgbClr val="000000"/>
                </a:solidFill>
              </a:rPr>
              <a:t>Améliorer</a:t>
            </a:r>
            <a:r>
              <a:rPr lang="en-GB" sz="2400" dirty="0">
                <a:solidFill>
                  <a:srgbClr val="000000"/>
                </a:solidFill>
              </a:rPr>
              <a:t> les performances en </a:t>
            </a:r>
            <a:r>
              <a:rPr lang="en-GB" sz="2400" dirty="0" err="1">
                <a:solidFill>
                  <a:srgbClr val="000000"/>
                </a:solidFill>
              </a:rPr>
              <a:t>empêchant</a:t>
            </a:r>
            <a:r>
              <a:rPr lang="en-GB" sz="2400" dirty="0">
                <a:solidFill>
                  <a:srgbClr val="000000"/>
                </a:solidFill>
              </a:rPr>
              <a:t> la transmission de </a:t>
            </a:r>
            <a:r>
              <a:rPr lang="en-GB" sz="2400" dirty="0" err="1">
                <a:solidFill>
                  <a:srgbClr val="000000"/>
                </a:solidFill>
              </a:rPr>
              <a:t>paquets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inutiles</a:t>
            </a:r>
            <a:r>
              <a:rPr lang="en-GB" sz="2400" dirty="0">
                <a:solidFill>
                  <a:srgbClr val="000000"/>
                </a:solidFill>
              </a:rPr>
              <a:t> via </a:t>
            </a:r>
            <a:r>
              <a:rPr lang="en-GB" sz="2400" dirty="0" err="1">
                <a:solidFill>
                  <a:srgbClr val="000000"/>
                </a:solidFill>
              </a:rPr>
              <a:t>une</a:t>
            </a:r>
            <a:r>
              <a:rPr lang="en-GB" sz="2400" dirty="0">
                <a:solidFill>
                  <a:srgbClr val="000000"/>
                </a:solidFill>
              </a:rPr>
              <a:t> connexion </a:t>
            </a:r>
            <a:r>
              <a:rPr lang="en-GB" sz="2400" dirty="0" err="1">
                <a:solidFill>
                  <a:srgbClr val="000000"/>
                </a:solidFill>
              </a:rPr>
              <a:t>lente</a:t>
            </a:r>
            <a:endParaRPr lang="en-US" sz="2400" dirty="0">
              <a:solidFill>
                <a:srgbClr val="000000"/>
              </a:solidFill>
            </a:endParaRPr>
          </a:p>
        </p:txBody>
      </p:sp>
      <p:grpSp>
        <p:nvGrpSpPr>
          <p:cNvPr id="58" name="Groupe 57"/>
          <p:cNvGrpSpPr/>
          <p:nvPr/>
        </p:nvGrpSpPr>
        <p:grpSpPr>
          <a:xfrm>
            <a:off x="1814290" y="1349828"/>
            <a:ext cx="5544457" cy="2583543"/>
            <a:chOff x="1785938" y="2611438"/>
            <a:chExt cx="4583112" cy="2074862"/>
          </a:xfrm>
        </p:grpSpPr>
        <p:sp>
          <p:nvSpPr>
            <p:cNvPr id="59" name="Rectangle 183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427538" y="3211513"/>
              <a:ext cx="217487" cy="1270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endParaRPr lang="en-GB" sz="1400" b="0"/>
            </a:p>
          </p:txBody>
        </p:sp>
        <p:sp>
          <p:nvSpPr>
            <p:cNvPr id="60" name="Rectangle 183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192588" y="3211513"/>
              <a:ext cx="234950" cy="127000"/>
            </a:xfrm>
            <a:prstGeom prst="rect">
              <a:avLst/>
            </a:prstGeom>
            <a:gradFill rotWithShape="0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endParaRPr lang="en-GB" b="0"/>
            </a:p>
          </p:txBody>
        </p:sp>
        <p:sp>
          <p:nvSpPr>
            <p:cNvPr id="61" name="Rectangle 1836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427538" y="3338513"/>
              <a:ext cx="217487" cy="889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endParaRPr lang="en-GB" sz="1400" b="0"/>
            </a:p>
          </p:txBody>
        </p:sp>
        <p:sp>
          <p:nvSpPr>
            <p:cNvPr id="62" name="Rectangle 1837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192588" y="3338513"/>
              <a:ext cx="234950" cy="88900"/>
            </a:xfrm>
            <a:prstGeom prst="rect">
              <a:avLst/>
            </a:prstGeom>
            <a:gradFill rotWithShape="0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endParaRPr lang="en-GB" b="0"/>
            </a:p>
          </p:txBody>
        </p:sp>
        <p:sp>
          <p:nvSpPr>
            <p:cNvPr id="63" name="Rectangle 1838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427538" y="3427413"/>
              <a:ext cx="217487" cy="10001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endParaRPr lang="en-GB" sz="1400" b="0"/>
            </a:p>
          </p:txBody>
        </p:sp>
        <p:sp>
          <p:nvSpPr>
            <p:cNvPr id="64" name="Rectangle 1839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192588" y="3427413"/>
              <a:ext cx="234950" cy="100012"/>
            </a:xfrm>
            <a:prstGeom prst="rect">
              <a:avLst/>
            </a:prstGeom>
            <a:gradFill rotWithShape="0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endParaRPr lang="en-GB"/>
            </a:p>
          </p:txBody>
        </p:sp>
        <p:sp>
          <p:nvSpPr>
            <p:cNvPr id="65" name="Rectangle 1840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427538" y="3122613"/>
              <a:ext cx="217487" cy="889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endParaRPr lang="en-GB" sz="1400" b="0"/>
            </a:p>
          </p:txBody>
        </p:sp>
        <p:sp>
          <p:nvSpPr>
            <p:cNvPr id="66" name="Rectangle 1841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192588" y="3122613"/>
              <a:ext cx="234950" cy="88900"/>
            </a:xfrm>
            <a:prstGeom prst="rect">
              <a:avLst/>
            </a:prstGeom>
            <a:gradFill rotWithShape="0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endParaRPr lang="en-GB" b="0"/>
            </a:p>
          </p:txBody>
        </p:sp>
        <p:sp>
          <p:nvSpPr>
            <p:cNvPr id="67" name="Rectangle 1842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427538" y="3527425"/>
              <a:ext cx="217487" cy="8890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endParaRPr lang="en-GB" sz="1400" b="0"/>
            </a:p>
          </p:txBody>
        </p:sp>
        <p:sp>
          <p:nvSpPr>
            <p:cNvPr id="68" name="Rectangle 184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192588" y="3527425"/>
              <a:ext cx="234950" cy="88900"/>
            </a:xfrm>
            <a:prstGeom prst="rect">
              <a:avLst/>
            </a:prstGeom>
            <a:gradFill rotWithShape="0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l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endParaRPr lang="en-GB" b="0"/>
            </a:p>
          </p:txBody>
        </p:sp>
        <p:sp>
          <p:nvSpPr>
            <p:cNvPr id="69" name="Rectangle 184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427538" y="3049588"/>
              <a:ext cx="217487" cy="73025"/>
            </a:xfrm>
            <a:prstGeom prst="rect">
              <a:avLst/>
            </a:prstGeom>
            <a:solidFill>
              <a:srgbClr val="BBCDE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>
                <a:lnSpc>
                  <a:spcPct val="90000"/>
                </a:lnSpc>
              </a:pPr>
              <a:endParaRPr lang="en-GB"/>
            </a:p>
          </p:txBody>
        </p:sp>
        <p:sp>
          <p:nvSpPr>
            <p:cNvPr id="70" name="Rectangle 1845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192588" y="3049588"/>
              <a:ext cx="234950" cy="73025"/>
            </a:xfrm>
            <a:prstGeom prst="rect">
              <a:avLst/>
            </a:prstGeom>
            <a:solidFill>
              <a:srgbClr val="BBCDE3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  <a:buFont typeface="Wingdings" pitchFamily="2" charset="2"/>
                <a:buNone/>
              </a:pPr>
              <a:endParaRPr lang="en-GB"/>
            </a:p>
          </p:txBody>
        </p:sp>
        <p:sp>
          <p:nvSpPr>
            <p:cNvPr id="71" name="Line 1846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4192588" y="3049588"/>
              <a:ext cx="452437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72" name="Line 1847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4192588" y="3616325"/>
              <a:ext cx="452437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73" name="Line 1848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4427538" y="3049588"/>
              <a:ext cx="0" cy="566737"/>
            </a:xfrm>
            <a:prstGeom prst="line">
              <a:avLst/>
            </a:prstGeom>
            <a:noFill/>
            <a:ln w="19050" cap="rnd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74" name="Line 1849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4192588" y="3049588"/>
              <a:ext cx="0" cy="566737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75" name="Line 1850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4645025" y="3049588"/>
              <a:ext cx="0" cy="566737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76" name="Line 1851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4192588" y="3122613"/>
              <a:ext cx="452437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7" name="Line 1852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4192588" y="3211513"/>
              <a:ext cx="452437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78" name="Line 1853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4192588" y="3527425"/>
              <a:ext cx="452437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79" name="Line 1854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4192588" y="3427413"/>
              <a:ext cx="452437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80" name="Line 1855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>
              <a:off x="4192588" y="3338513"/>
              <a:ext cx="452437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pic>
          <p:nvPicPr>
            <p:cNvPr id="81" name="Picture 1856" descr="Server_ServerBack"/>
            <p:cNvPicPr>
              <a:picLocks noChangeAspect="1" noChangeArrowheads="1"/>
            </p:cNvPicPr>
            <p:nvPr/>
          </p:nvPicPr>
          <p:blipFill>
            <a:blip r:embed="rId53"/>
            <a:srcRect/>
            <a:stretch>
              <a:fillRect/>
            </a:stretch>
          </p:blipFill>
          <p:spPr bwMode="auto">
            <a:xfrm>
              <a:off x="2527300" y="2611438"/>
              <a:ext cx="1370013" cy="1663700"/>
            </a:xfrm>
            <a:prstGeom prst="rect">
              <a:avLst/>
            </a:prstGeom>
            <a:noFill/>
          </p:spPr>
        </p:pic>
        <p:sp>
          <p:nvSpPr>
            <p:cNvPr id="82" name="Freeform 1857"/>
            <p:cNvSpPr>
              <a:spLocks/>
            </p:cNvSpPr>
            <p:nvPr/>
          </p:nvSpPr>
          <p:spPr bwMode="auto">
            <a:xfrm>
              <a:off x="4786313" y="3925888"/>
              <a:ext cx="887412" cy="328612"/>
            </a:xfrm>
            <a:custGeom>
              <a:avLst/>
              <a:gdLst/>
              <a:ahLst/>
              <a:cxnLst>
                <a:cxn ang="0">
                  <a:pos x="571" y="59"/>
                </a:cxn>
                <a:cxn ang="0">
                  <a:pos x="566" y="30"/>
                </a:cxn>
                <a:cxn ang="0">
                  <a:pos x="561" y="0"/>
                </a:cxn>
                <a:cxn ang="0">
                  <a:pos x="703" y="53"/>
                </a:cxn>
                <a:cxn ang="0">
                  <a:pos x="800" y="91"/>
                </a:cxn>
                <a:cxn ang="0">
                  <a:pos x="843" y="108"/>
                </a:cxn>
                <a:cxn ang="0">
                  <a:pos x="832" y="113"/>
                </a:cxn>
                <a:cxn ang="0">
                  <a:pos x="800" y="124"/>
                </a:cxn>
                <a:cxn ang="0">
                  <a:pos x="703" y="158"/>
                </a:cxn>
                <a:cxn ang="0">
                  <a:pos x="561" y="207"/>
                </a:cxn>
                <a:cxn ang="0">
                  <a:pos x="571" y="149"/>
                </a:cxn>
                <a:cxn ang="0">
                  <a:pos x="0" y="108"/>
                </a:cxn>
                <a:cxn ang="0">
                  <a:pos x="571" y="59"/>
                </a:cxn>
              </a:cxnLst>
              <a:rect l="0" t="0" r="r" b="b"/>
              <a:pathLst>
                <a:path w="843" h="207">
                  <a:moveTo>
                    <a:pt x="571" y="59"/>
                  </a:moveTo>
                  <a:lnTo>
                    <a:pt x="566" y="30"/>
                  </a:lnTo>
                  <a:lnTo>
                    <a:pt x="561" y="0"/>
                  </a:lnTo>
                  <a:lnTo>
                    <a:pt x="703" y="53"/>
                  </a:lnTo>
                  <a:lnTo>
                    <a:pt x="800" y="91"/>
                  </a:lnTo>
                  <a:lnTo>
                    <a:pt x="843" y="108"/>
                  </a:lnTo>
                  <a:lnTo>
                    <a:pt x="832" y="113"/>
                  </a:lnTo>
                  <a:lnTo>
                    <a:pt x="800" y="124"/>
                  </a:lnTo>
                  <a:lnTo>
                    <a:pt x="703" y="158"/>
                  </a:lnTo>
                  <a:lnTo>
                    <a:pt x="561" y="207"/>
                  </a:lnTo>
                  <a:lnTo>
                    <a:pt x="571" y="149"/>
                  </a:lnTo>
                  <a:lnTo>
                    <a:pt x="0" y="108"/>
                  </a:lnTo>
                  <a:lnTo>
                    <a:pt x="571" y="59"/>
                  </a:lnTo>
                  <a:close/>
                </a:path>
              </a:pathLst>
            </a:custGeom>
            <a:solidFill>
              <a:srgbClr val="FF0000">
                <a:alpha val="75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83" name="Group 1858"/>
            <p:cNvGrpSpPr>
              <a:grpSpLocks/>
            </p:cNvGrpSpPr>
            <p:nvPr/>
          </p:nvGrpSpPr>
          <p:grpSpPr bwMode="auto">
            <a:xfrm>
              <a:off x="4192578" y="3879848"/>
              <a:ext cx="452436" cy="566738"/>
              <a:chOff x="2641" y="2444"/>
              <a:chExt cx="285" cy="357"/>
            </a:xfrm>
          </p:grpSpPr>
          <p:sp>
            <p:nvSpPr>
              <p:cNvPr id="89" name="Rectangle 1859"/>
              <p:cNvSpPr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2789" y="2546"/>
                <a:ext cx="137" cy="80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l"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endParaRPr lang="en-GB" sz="1400" b="0"/>
              </a:p>
            </p:txBody>
          </p:sp>
          <p:sp>
            <p:nvSpPr>
              <p:cNvPr id="90" name="Rectangle 1860"/>
              <p:cNvSpPr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2641" y="2546"/>
                <a:ext cx="148" cy="80"/>
              </a:xfrm>
              <a:prstGeom prst="rect">
                <a:avLst/>
              </a:prstGeom>
              <a:gradFill rotWithShape="0">
                <a:gsLst>
                  <a:gs pos="0">
                    <a:srgbClr val="EEEFD7"/>
                  </a:gs>
                  <a:gs pos="100000">
                    <a:srgbClr val="D5D69C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l"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endParaRPr lang="en-GB" b="0"/>
              </a:p>
            </p:txBody>
          </p:sp>
          <p:sp>
            <p:nvSpPr>
              <p:cNvPr id="91" name="Rectangle 1861"/>
              <p:cNvSpPr>
                <a:spLocks noChangeArrowhead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2789" y="2626"/>
                <a:ext cx="137" cy="56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l"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endParaRPr lang="en-GB" sz="1400" b="0"/>
              </a:p>
            </p:txBody>
          </p:sp>
          <p:sp>
            <p:nvSpPr>
              <p:cNvPr id="92" name="Rectangle 1862"/>
              <p:cNvSpPr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2641" y="2626"/>
                <a:ext cx="148" cy="56"/>
              </a:xfrm>
              <a:prstGeom prst="rect">
                <a:avLst/>
              </a:prstGeom>
              <a:gradFill rotWithShape="0">
                <a:gsLst>
                  <a:gs pos="0">
                    <a:srgbClr val="EEEFD7"/>
                  </a:gs>
                  <a:gs pos="100000">
                    <a:srgbClr val="D5D69C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l"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endParaRPr lang="en-GB" b="0"/>
              </a:p>
            </p:txBody>
          </p:sp>
          <p:sp>
            <p:nvSpPr>
              <p:cNvPr id="93" name="Rectangle 1863"/>
              <p:cNvSpPr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2789" y="2682"/>
                <a:ext cx="137" cy="63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l"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endParaRPr lang="en-GB" sz="1400" b="0"/>
              </a:p>
            </p:txBody>
          </p:sp>
          <p:sp>
            <p:nvSpPr>
              <p:cNvPr id="94" name="Rectangle 1864"/>
              <p:cNvSpPr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2641" y="2682"/>
                <a:ext cx="148" cy="63"/>
              </a:xfrm>
              <a:prstGeom prst="rect">
                <a:avLst/>
              </a:prstGeom>
              <a:gradFill rotWithShape="0">
                <a:gsLst>
                  <a:gs pos="0">
                    <a:srgbClr val="EEEFD7"/>
                  </a:gs>
                  <a:gs pos="100000">
                    <a:srgbClr val="D5D69C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l"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endParaRPr lang="en-GB"/>
              </a:p>
            </p:txBody>
          </p:sp>
          <p:sp>
            <p:nvSpPr>
              <p:cNvPr id="95" name="Rectangle 1865"/>
              <p:cNvSpPr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2789" y="2490"/>
                <a:ext cx="137" cy="56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l"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endParaRPr lang="en-GB" sz="1400" b="0"/>
              </a:p>
            </p:txBody>
          </p:sp>
          <p:sp>
            <p:nvSpPr>
              <p:cNvPr id="96" name="Rectangle 1866"/>
              <p:cNvSpPr>
                <a:spLocks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2641" y="2490"/>
                <a:ext cx="148" cy="56"/>
              </a:xfrm>
              <a:prstGeom prst="rect">
                <a:avLst/>
              </a:prstGeom>
              <a:gradFill rotWithShape="0">
                <a:gsLst>
                  <a:gs pos="0">
                    <a:srgbClr val="EEEFD7"/>
                  </a:gs>
                  <a:gs pos="100000">
                    <a:srgbClr val="D5D69C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l"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endParaRPr lang="en-GB" b="0"/>
              </a:p>
            </p:txBody>
          </p:sp>
          <p:sp>
            <p:nvSpPr>
              <p:cNvPr id="97" name="Rectangle 1867"/>
              <p:cNvSpPr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2789" y="2745"/>
                <a:ext cx="137" cy="56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l"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endParaRPr lang="en-GB" sz="1400" b="0"/>
              </a:p>
            </p:txBody>
          </p:sp>
          <p:sp>
            <p:nvSpPr>
              <p:cNvPr id="98" name="Rectangle 1868"/>
              <p:cNvSpPr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2641" y="2745"/>
                <a:ext cx="148" cy="56"/>
              </a:xfrm>
              <a:prstGeom prst="rect">
                <a:avLst/>
              </a:prstGeom>
              <a:gradFill rotWithShape="0">
                <a:gsLst>
                  <a:gs pos="0">
                    <a:srgbClr val="EEEFD7"/>
                  </a:gs>
                  <a:gs pos="100000">
                    <a:srgbClr val="D5D69C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l"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endParaRPr lang="en-GB" b="0"/>
              </a:p>
            </p:txBody>
          </p:sp>
          <p:sp>
            <p:nvSpPr>
              <p:cNvPr id="99" name="Rectangle 1869"/>
              <p:cNvSpPr>
                <a:spLocks noChangeArrowheads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2789" y="2444"/>
                <a:ext cx="137" cy="46"/>
              </a:xfrm>
              <a:prstGeom prst="rect">
                <a:avLst/>
              </a:prstGeom>
              <a:solidFill>
                <a:srgbClr val="BBCDE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>
                  <a:lnSpc>
                    <a:spcPct val="90000"/>
                  </a:lnSpc>
                </a:pPr>
                <a:endParaRPr lang="en-GB"/>
              </a:p>
            </p:txBody>
          </p:sp>
          <p:sp>
            <p:nvSpPr>
              <p:cNvPr id="100" name="Rectangle 1870"/>
              <p:cNvSpPr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2641" y="2444"/>
                <a:ext cx="148" cy="46"/>
              </a:xfrm>
              <a:prstGeom prst="rect">
                <a:avLst/>
              </a:prstGeom>
              <a:solidFill>
                <a:srgbClr val="BBCDE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>
                  <a:lnSpc>
                    <a:spcPct val="90000"/>
                  </a:lnSpc>
                  <a:spcBef>
                    <a:spcPct val="40000"/>
                  </a:spcBef>
                  <a:buClr>
                    <a:srgbClr val="8DACD0"/>
                  </a:buClr>
                  <a:buSzPct val="70000"/>
                  <a:buFont typeface="Wingdings" pitchFamily="2" charset="2"/>
                  <a:buNone/>
                </a:pPr>
                <a:endParaRPr lang="en-GB"/>
              </a:p>
            </p:txBody>
          </p:sp>
          <p:sp>
            <p:nvSpPr>
              <p:cNvPr id="101" name="Line 1871"/>
              <p:cNvSpPr>
                <a:spLocks noChangeShapeType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2641" y="2444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" name="Line 1872"/>
              <p:cNvSpPr>
                <a:spLocks noChangeShapeType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2641" y="2801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3" name="Line 1873"/>
              <p:cNvSpPr>
                <a:spLocks noChangeShapeType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2789" y="2444"/>
                <a:ext cx="0" cy="357"/>
              </a:xfrm>
              <a:prstGeom prst="line">
                <a:avLst/>
              </a:prstGeom>
              <a:noFill/>
              <a:ln w="19050" cap="rnd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" name="Line 1874"/>
              <p:cNvSpPr>
                <a:spLocks noChangeShapeType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2641" y="2444"/>
                <a:ext cx="0" cy="357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" name="Line 1875"/>
              <p:cNvSpPr>
                <a:spLocks noChangeShapeType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2926" y="2444"/>
                <a:ext cx="0" cy="357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6" name="Line 1876"/>
              <p:cNvSpPr>
                <a:spLocks noChangeShapeType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2641" y="2490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7" name="Line 1877"/>
              <p:cNvSpPr>
                <a:spLocks noChangeShapeType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2641" y="2546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fr-FR"/>
              </a:p>
            </p:txBody>
          </p:sp>
          <p:sp>
            <p:nvSpPr>
              <p:cNvPr id="108" name="Line 1878"/>
              <p:cNvSpPr>
                <a:spLocks noChangeShapeType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2641" y="2745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fr-FR"/>
              </a:p>
            </p:txBody>
          </p:sp>
          <p:sp>
            <p:nvSpPr>
              <p:cNvPr id="109" name="Line 1879"/>
              <p:cNvSpPr>
                <a:spLocks noChangeShapeType="1"/>
              </p:cNvSpPr>
              <p:nvPr>
                <p:custDataLst>
                  <p:tags r:id="rId48"/>
                </p:custDataLst>
              </p:nvPr>
            </p:nvSpPr>
            <p:spPr bwMode="auto">
              <a:xfrm>
                <a:off x="2641" y="2682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fr-FR"/>
              </a:p>
            </p:txBody>
          </p:sp>
          <p:sp>
            <p:nvSpPr>
              <p:cNvPr id="110" name="Line 1880"/>
              <p:cNvSpPr>
                <a:spLocks noChangeShapeType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2641" y="2626"/>
                <a:ext cx="285" cy="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fr-FR"/>
              </a:p>
            </p:txBody>
          </p:sp>
        </p:grpSp>
        <p:sp>
          <p:nvSpPr>
            <p:cNvPr id="84" name="Freeform 1881"/>
            <p:cNvSpPr>
              <a:spLocks/>
            </p:cNvSpPr>
            <p:nvPr/>
          </p:nvSpPr>
          <p:spPr bwMode="auto">
            <a:xfrm rot="10800000">
              <a:off x="4856163" y="3230563"/>
              <a:ext cx="887412" cy="328612"/>
            </a:xfrm>
            <a:custGeom>
              <a:avLst/>
              <a:gdLst/>
              <a:ahLst/>
              <a:cxnLst>
                <a:cxn ang="0">
                  <a:pos x="571" y="59"/>
                </a:cxn>
                <a:cxn ang="0">
                  <a:pos x="566" y="30"/>
                </a:cxn>
                <a:cxn ang="0">
                  <a:pos x="561" y="0"/>
                </a:cxn>
                <a:cxn ang="0">
                  <a:pos x="703" y="53"/>
                </a:cxn>
                <a:cxn ang="0">
                  <a:pos x="800" y="91"/>
                </a:cxn>
                <a:cxn ang="0">
                  <a:pos x="843" y="108"/>
                </a:cxn>
                <a:cxn ang="0">
                  <a:pos x="832" y="113"/>
                </a:cxn>
                <a:cxn ang="0">
                  <a:pos x="800" y="124"/>
                </a:cxn>
                <a:cxn ang="0">
                  <a:pos x="703" y="158"/>
                </a:cxn>
                <a:cxn ang="0">
                  <a:pos x="561" y="207"/>
                </a:cxn>
                <a:cxn ang="0">
                  <a:pos x="571" y="149"/>
                </a:cxn>
                <a:cxn ang="0">
                  <a:pos x="0" y="108"/>
                </a:cxn>
                <a:cxn ang="0">
                  <a:pos x="571" y="59"/>
                </a:cxn>
              </a:cxnLst>
              <a:rect l="0" t="0" r="r" b="b"/>
              <a:pathLst>
                <a:path w="843" h="207">
                  <a:moveTo>
                    <a:pt x="571" y="59"/>
                  </a:moveTo>
                  <a:lnTo>
                    <a:pt x="566" y="30"/>
                  </a:lnTo>
                  <a:lnTo>
                    <a:pt x="561" y="0"/>
                  </a:lnTo>
                  <a:lnTo>
                    <a:pt x="703" y="53"/>
                  </a:lnTo>
                  <a:lnTo>
                    <a:pt x="800" y="91"/>
                  </a:lnTo>
                  <a:lnTo>
                    <a:pt x="843" y="108"/>
                  </a:lnTo>
                  <a:lnTo>
                    <a:pt x="832" y="113"/>
                  </a:lnTo>
                  <a:lnTo>
                    <a:pt x="800" y="124"/>
                  </a:lnTo>
                  <a:lnTo>
                    <a:pt x="703" y="158"/>
                  </a:lnTo>
                  <a:lnTo>
                    <a:pt x="561" y="207"/>
                  </a:lnTo>
                  <a:lnTo>
                    <a:pt x="571" y="149"/>
                  </a:lnTo>
                  <a:lnTo>
                    <a:pt x="0" y="108"/>
                  </a:lnTo>
                  <a:lnTo>
                    <a:pt x="571" y="59"/>
                  </a:lnTo>
                  <a:close/>
                </a:path>
              </a:pathLst>
            </a:custGeom>
            <a:solidFill>
              <a:srgbClr val="FF0000">
                <a:alpha val="75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5" name="AutoShape 1882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4738688" y="4335463"/>
              <a:ext cx="1630362" cy="350837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r>
                <a:rPr lang="en-GB" sz="2000">
                  <a:solidFill>
                    <a:srgbClr val="000000"/>
                  </a:solidFill>
                </a:rPr>
                <a:t>Filtre de sortie</a:t>
              </a:r>
              <a:endParaRPr lang="en-US" sz="2000"/>
            </a:p>
          </p:txBody>
        </p:sp>
        <p:sp>
          <p:nvSpPr>
            <p:cNvPr id="86" name="AutoShape 1883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738688" y="2781300"/>
              <a:ext cx="1630362" cy="350838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r>
                <a:rPr lang="en-GB" sz="2000">
                  <a:solidFill>
                    <a:srgbClr val="000000"/>
                  </a:solidFill>
                </a:rPr>
                <a:t>Filtre d'entrée</a:t>
              </a:r>
              <a:endParaRPr lang="en-US" sz="2000"/>
            </a:p>
          </p:txBody>
        </p:sp>
        <p:sp>
          <p:nvSpPr>
            <p:cNvPr id="87" name="Line 1884"/>
            <p:cNvSpPr>
              <a:spLocks noChangeShapeType="1"/>
            </p:cNvSpPr>
            <p:nvPr/>
          </p:nvSpPr>
          <p:spPr bwMode="auto">
            <a:xfrm>
              <a:off x="3705225" y="3738563"/>
              <a:ext cx="2060575" cy="0"/>
            </a:xfrm>
            <a:prstGeom prst="line">
              <a:avLst/>
            </a:prstGeom>
            <a:noFill/>
            <a:ln w="44450">
              <a:solidFill>
                <a:srgbClr val="4D4D4D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88" name="AutoShape 1885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785938" y="3128963"/>
              <a:ext cx="958850" cy="319087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>
                <a:lnSpc>
                  <a:spcPct val="85000"/>
                </a:lnSpc>
              </a:pPr>
              <a:r>
                <a:rPr lang="en-GB">
                  <a:solidFill>
                    <a:srgbClr val="000000"/>
                  </a:solidFill>
                </a:rPr>
                <a:t>Routeur</a:t>
              </a:r>
              <a:endParaRPr lang="en-US"/>
            </a:p>
          </p:txBody>
        </p:sp>
      </p:grpSp>
      <p:sp>
        <p:nvSpPr>
          <p:cNvPr id="111" name="Rectangle 110"/>
          <p:cNvSpPr/>
          <p:nvPr/>
        </p:nvSpPr>
        <p:spPr>
          <a:xfrm>
            <a:off x="283028" y="3947664"/>
            <a:ext cx="62338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GB" sz="2400" b="0" i="1" dirty="0" err="1" smtClean="0">
                <a:solidFill>
                  <a:srgbClr val="000000"/>
                </a:solidFill>
              </a:rPr>
              <a:t>Vous</a:t>
            </a:r>
            <a:r>
              <a:rPr lang="en-GB" sz="2400" b="0" i="1" dirty="0" smtClean="0">
                <a:solidFill>
                  <a:srgbClr val="000000"/>
                </a:solidFill>
              </a:rPr>
              <a:t> </a:t>
            </a:r>
            <a:r>
              <a:rPr lang="en-GB" sz="2400" b="0" i="1" dirty="0" err="1" smtClean="0">
                <a:solidFill>
                  <a:srgbClr val="000000"/>
                </a:solidFill>
              </a:rPr>
              <a:t>pouvez</a:t>
            </a:r>
            <a:r>
              <a:rPr lang="en-GB" sz="2400" b="0" i="1" dirty="0" smtClean="0">
                <a:solidFill>
                  <a:srgbClr val="000000"/>
                </a:solidFill>
              </a:rPr>
              <a:t> </a:t>
            </a:r>
            <a:r>
              <a:rPr lang="en-GB" sz="2400" b="0" i="1" dirty="0" err="1" smtClean="0">
                <a:solidFill>
                  <a:srgbClr val="000000"/>
                </a:solidFill>
              </a:rPr>
              <a:t>utiliser</a:t>
            </a:r>
            <a:r>
              <a:rPr lang="en-GB" sz="2400" b="0" i="1" dirty="0" smtClean="0">
                <a:solidFill>
                  <a:srgbClr val="000000"/>
                </a:solidFill>
              </a:rPr>
              <a:t> le </a:t>
            </a:r>
            <a:r>
              <a:rPr lang="en-GB" sz="2400" b="0" i="1" dirty="0" err="1" smtClean="0">
                <a:solidFill>
                  <a:srgbClr val="000000"/>
                </a:solidFill>
              </a:rPr>
              <a:t>filtrage</a:t>
            </a:r>
            <a:r>
              <a:rPr lang="en-GB" sz="2400" b="0" i="1" dirty="0" smtClean="0">
                <a:solidFill>
                  <a:srgbClr val="000000"/>
                </a:solidFill>
              </a:rPr>
              <a:t> des </a:t>
            </a:r>
            <a:r>
              <a:rPr lang="en-GB" sz="2400" b="0" i="1" dirty="0" err="1" smtClean="0">
                <a:solidFill>
                  <a:srgbClr val="000000"/>
                </a:solidFill>
              </a:rPr>
              <a:t>paquets</a:t>
            </a:r>
            <a:r>
              <a:rPr lang="en-GB" sz="2400" b="0" i="1" dirty="0" smtClean="0">
                <a:solidFill>
                  <a:srgbClr val="000000"/>
                </a:solidFill>
              </a:rPr>
              <a:t> pour :</a:t>
            </a:r>
            <a:endParaRPr lang="en-US" sz="2400" b="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68" name="Oval 304"/>
          <p:cNvSpPr>
            <a:spLocks noChangeArrowheads="1"/>
          </p:cNvSpPr>
          <p:nvPr/>
        </p:nvSpPr>
        <p:spPr bwMode="auto">
          <a:xfrm>
            <a:off x="3576419" y="1588629"/>
            <a:ext cx="2741613" cy="1497012"/>
          </a:xfrm>
          <a:prstGeom prst="ellipse">
            <a:avLst/>
          </a:prstGeom>
          <a:gradFill rotWithShape="1">
            <a:gsLst>
              <a:gs pos="0">
                <a:srgbClr val="E8F6E4"/>
              </a:gs>
              <a:gs pos="100000">
                <a:srgbClr val="ADE2A1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B2B2B2"/>
            </a:outerShdw>
          </a:effectLst>
        </p:spPr>
        <p:txBody>
          <a:bodyPr/>
          <a:lstStyle/>
          <a:p>
            <a:endParaRPr lang="en-GB" sz="2400">
              <a:latin typeface="Arial" charset="0"/>
            </a:endParaRPr>
          </a:p>
        </p:txBody>
      </p:sp>
      <p:sp>
        <p:nvSpPr>
          <p:cNvPr id="190850" name="AutoShape 38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263682" y="1704516"/>
            <a:ext cx="887412" cy="3048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en-GB" sz="2000">
                <a:solidFill>
                  <a:srgbClr val="000000"/>
                </a:solidFill>
              </a:rPr>
              <a:t>Paquet</a:t>
            </a:r>
            <a:endParaRPr lang="en-US" sz="2000"/>
          </a:p>
        </p:txBody>
      </p:sp>
      <p:sp>
        <p:nvSpPr>
          <p:cNvPr id="190472" name="Rectangle 8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194128" y="174171"/>
            <a:ext cx="8732157" cy="943428"/>
          </a:xfrm>
        </p:spPr>
        <p:txBody>
          <a:bodyPr vert="horz" anchor="b">
            <a:normAutofit fontScale="90000"/>
          </a:bodyPr>
          <a:lstStyle/>
          <a:p>
            <a:r>
              <a:rPr lang="en-GB" b="1" dirty="0" smtClean="0">
                <a:solidFill>
                  <a:srgbClr val="C00000"/>
                </a:solidFill>
              </a:rPr>
              <a:t>Comment </a:t>
            </a:r>
            <a:r>
              <a:rPr lang="en-GB" b="1" dirty="0">
                <a:solidFill>
                  <a:srgbClr val="C00000"/>
                </a:solidFill>
              </a:rPr>
              <a:t>les </a:t>
            </a:r>
            <a:r>
              <a:rPr lang="en-GB" b="1" dirty="0" err="1">
                <a:solidFill>
                  <a:srgbClr val="C00000"/>
                </a:solidFill>
              </a:rPr>
              <a:t>filtres</a:t>
            </a:r>
            <a:r>
              <a:rPr lang="en-GB" b="1" dirty="0">
                <a:solidFill>
                  <a:srgbClr val="C00000"/>
                </a:solidFill>
              </a:rPr>
              <a:t> de </a:t>
            </a:r>
            <a:r>
              <a:rPr lang="en-GB" b="1" dirty="0" err="1">
                <a:solidFill>
                  <a:srgbClr val="C00000"/>
                </a:solidFill>
              </a:rPr>
              <a:t>paquets</a:t>
            </a:r>
            <a:r>
              <a:rPr lang="en-GB" b="1" dirty="0">
                <a:solidFill>
                  <a:srgbClr val="C00000"/>
                </a:solidFill>
              </a:rPr>
              <a:t> </a:t>
            </a:r>
            <a:r>
              <a:rPr lang="en-GB" b="1" dirty="0" err="1">
                <a:solidFill>
                  <a:srgbClr val="C00000"/>
                </a:solidFill>
              </a:rPr>
              <a:t>sont-ils</a:t>
            </a:r>
            <a:r>
              <a:rPr lang="en-GB" b="1" dirty="0">
                <a:solidFill>
                  <a:srgbClr val="C00000"/>
                </a:solidFill>
              </a:rPr>
              <a:t> appliqués 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90770" name="AutoShape 30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551269" y="1752141"/>
            <a:ext cx="989013" cy="3048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en-GB" sz="2000">
                <a:solidFill>
                  <a:srgbClr val="000000"/>
                </a:solidFill>
              </a:rPr>
              <a:t>Routeur</a:t>
            </a:r>
            <a:endParaRPr lang="en-US" sz="2000"/>
          </a:p>
        </p:txBody>
      </p:sp>
      <p:sp>
        <p:nvSpPr>
          <p:cNvPr id="190771" name="Freeform 307"/>
          <p:cNvSpPr>
            <a:spLocks/>
          </p:cNvSpPr>
          <p:nvPr/>
        </p:nvSpPr>
        <p:spPr bwMode="auto">
          <a:xfrm>
            <a:off x="906244" y="2155366"/>
            <a:ext cx="3425825" cy="1119188"/>
          </a:xfrm>
          <a:custGeom>
            <a:avLst/>
            <a:gdLst/>
            <a:ahLst/>
            <a:cxnLst>
              <a:cxn ang="0">
                <a:pos x="1857" y="0"/>
              </a:cxn>
              <a:cxn ang="0">
                <a:pos x="0" y="640"/>
              </a:cxn>
              <a:cxn ang="0">
                <a:pos x="1736" y="705"/>
              </a:cxn>
              <a:cxn ang="0">
                <a:pos x="2158" y="40"/>
              </a:cxn>
              <a:cxn ang="0">
                <a:pos x="1857" y="0"/>
              </a:cxn>
            </a:cxnLst>
            <a:rect l="0" t="0" r="r" b="b"/>
            <a:pathLst>
              <a:path w="2158" h="705">
                <a:moveTo>
                  <a:pt x="1857" y="0"/>
                </a:moveTo>
                <a:lnTo>
                  <a:pt x="0" y="640"/>
                </a:lnTo>
                <a:lnTo>
                  <a:pt x="1736" y="705"/>
                </a:lnTo>
                <a:lnTo>
                  <a:pt x="2158" y="40"/>
                </a:lnTo>
                <a:lnTo>
                  <a:pt x="1857" y="0"/>
                </a:lnTo>
                <a:close/>
              </a:path>
            </a:pathLst>
          </a:custGeom>
          <a:solidFill>
            <a:srgbClr val="BBCDE3">
              <a:alpha val="49001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90772" name="Line 308"/>
          <p:cNvSpPr>
            <a:spLocks noChangeShapeType="1"/>
          </p:cNvSpPr>
          <p:nvPr/>
        </p:nvSpPr>
        <p:spPr bwMode="auto">
          <a:xfrm flipH="1" flipV="1">
            <a:off x="3624044" y="2349041"/>
            <a:ext cx="267335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190773" name="AutoShape 309"/>
          <p:cNvSpPr>
            <a:spLocks noChangeArrowheads="1"/>
          </p:cNvSpPr>
          <p:nvPr/>
        </p:nvSpPr>
        <p:spPr bwMode="auto">
          <a:xfrm rot="21549372" flipH="1">
            <a:off x="3863757" y="2075991"/>
            <a:ext cx="577850" cy="214313"/>
          </a:xfrm>
          <a:prstGeom prst="cube">
            <a:avLst>
              <a:gd name="adj" fmla="val 25000"/>
            </a:avLst>
          </a:prstGeom>
          <a:solidFill>
            <a:srgbClr val="BBCDE3"/>
          </a:solidFill>
          <a:ln w="6350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900"/>
          </a:p>
        </p:txBody>
      </p:sp>
      <p:sp>
        <p:nvSpPr>
          <p:cNvPr id="190774" name="Freeform 310"/>
          <p:cNvSpPr>
            <a:spLocks/>
          </p:cNvSpPr>
          <p:nvPr/>
        </p:nvSpPr>
        <p:spPr bwMode="auto">
          <a:xfrm rot="5400000">
            <a:off x="4064575" y="1748173"/>
            <a:ext cx="161925" cy="442912"/>
          </a:xfrm>
          <a:custGeom>
            <a:avLst/>
            <a:gdLst/>
            <a:ahLst/>
            <a:cxnLst>
              <a:cxn ang="0">
                <a:pos x="57" y="239"/>
              </a:cxn>
              <a:cxn ang="0">
                <a:pos x="0" y="250"/>
              </a:cxn>
              <a:cxn ang="0">
                <a:pos x="106" y="0"/>
              </a:cxn>
              <a:cxn ang="0">
                <a:pos x="205" y="252"/>
              </a:cxn>
              <a:cxn ang="0">
                <a:pos x="147" y="237"/>
              </a:cxn>
              <a:cxn ang="0">
                <a:pos x="126" y="558"/>
              </a:cxn>
              <a:cxn ang="0">
                <a:pos x="76" y="558"/>
              </a:cxn>
              <a:cxn ang="0">
                <a:pos x="57" y="239"/>
              </a:cxn>
            </a:cxnLst>
            <a:rect l="0" t="0" r="r" b="b"/>
            <a:pathLst>
              <a:path w="205" h="558">
                <a:moveTo>
                  <a:pt x="57" y="239"/>
                </a:moveTo>
                <a:lnTo>
                  <a:pt x="0" y="250"/>
                </a:lnTo>
                <a:lnTo>
                  <a:pt x="106" y="0"/>
                </a:lnTo>
                <a:lnTo>
                  <a:pt x="205" y="252"/>
                </a:lnTo>
                <a:lnTo>
                  <a:pt x="147" y="237"/>
                </a:lnTo>
                <a:lnTo>
                  <a:pt x="126" y="558"/>
                </a:lnTo>
                <a:lnTo>
                  <a:pt x="76" y="558"/>
                </a:lnTo>
                <a:lnTo>
                  <a:pt x="57" y="23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190912" name="Group 448"/>
          <p:cNvGraphicFramePr>
            <a:graphicFrameLocks noGrp="1"/>
          </p:cNvGraphicFramePr>
          <p:nvPr/>
        </p:nvGraphicFramePr>
        <p:xfrm>
          <a:off x="787182" y="2876091"/>
          <a:ext cx="3043237" cy="2066608"/>
        </p:xfrm>
        <a:graphic>
          <a:graphicData uri="http://schemas.openxmlformats.org/drawingml/2006/table">
            <a:tbl>
              <a:tblPr/>
              <a:tblGrid>
                <a:gridCol w="1639887"/>
                <a:gridCol w="1403350"/>
              </a:tblGrid>
              <a:tr h="147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Composant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Exemple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Réseau source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Réseau de destination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Protocole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GB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90795" name="AutoShape 331"/>
          <p:cNvSpPr>
            <a:spLocks noChangeArrowheads="1"/>
          </p:cNvSpPr>
          <p:nvPr/>
        </p:nvSpPr>
        <p:spPr bwMode="auto">
          <a:xfrm>
            <a:off x="3885982" y="1953754"/>
            <a:ext cx="538162" cy="525462"/>
          </a:xfrm>
          <a:custGeom>
            <a:avLst/>
            <a:gdLst>
              <a:gd name="G0" fmla="+- 2676 0 0"/>
              <a:gd name="G1" fmla="*/ G0 2 1"/>
              <a:gd name="G2" fmla="+- 21600 0 G1"/>
              <a:gd name="G3" fmla="*/ G2 G2 1"/>
              <a:gd name="G4" fmla="*/ G0 G0 1"/>
              <a:gd name="G5" fmla="+- G3 0 G4"/>
              <a:gd name="G6" fmla="*/ G5 1 8"/>
              <a:gd name="G7" fmla="sqrt G6"/>
              <a:gd name="G8" fmla="*/ G4 1 8"/>
              <a:gd name="G9" fmla="sqrt G8"/>
              <a:gd name="G10" fmla="+- G7 G9 0"/>
              <a:gd name="G11" fmla="+- G7 0 G9"/>
              <a:gd name="G12" fmla="+- G10 10800 0"/>
              <a:gd name="G13" fmla="+- 10800 0 G10"/>
              <a:gd name="G14" fmla="+- G11 10800 0"/>
              <a:gd name="G15" fmla="+- 10800 0 G11"/>
              <a:gd name="G16" fmla="+- 21600 0 G0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12" y="15520"/>
                </a:moveTo>
                <a:cubicBezTo>
                  <a:pt x="18395" y="14142"/>
                  <a:pt x="18924" y="12492"/>
                  <a:pt x="18924" y="10800"/>
                </a:cubicBezTo>
                <a:cubicBezTo>
                  <a:pt x="18924" y="6313"/>
                  <a:pt x="15286" y="2676"/>
                  <a:pt x="10800" y="2676"/>
                </a:cubicBezTo>
                <a:cubicBezTo>
                  <a:pt x="9107" y="2675"/>
                  <a:pt x="7457" y="3204"/>
                  <a:pt x="6079" y="4187"/>
                </a:cubicBezTo>
                <a:close/>
                <a:moveTo>
                  <a:pt x="4187" y="6079"/>
                </a:moveTo>
                <a:cubicBezTo>
                  <a:pt x="3204" y="7457"/>
                  <a:pt x="2676" y="9107"/>
                  <a:pt x="2676" y="10799"/>
                </a:cubicBezTo>
                <a:cubicBezTo>
                  <a:pt x="2676" y="15286"/>
                  <a:pt x="6313" y="18924"/>
                  <a:pt x="10800" y="18924"/>
                </a:cubicBezTo>
                <a:cubicBezTo>
                  <a:pt x="12492" y="18924"/>
                  <a:pt x="14142" y="18395"/>
                  <a:pt x="15520" y="17412"/>
                </a:cubicBezTo>
                <a:close/>
              </a:path>
            </a:pathLst>
          </a:custGeom>
          <a:solidFill>
            <a:srgbClr val="F00000">
              <a:alpha val="75000"/>
            </a:srgbClr>
          </a:solidFill>
          <a:ln w="3175">
            <a:noFill/>
            <a:miter lim="800000"/>
            <a:headEnd/>
            <a:tailEnd/>
          </a:ln>
          <a:effectLst/>
        </p:spPr>
        <p:txBody>
          <a:bodyPr tIns="27432" bIns="27432" anchor="ctr">
            <a:spAutoFit/>
          </a:bodyPr>
          <a:lstStyle/>
          <a:p>
            <a:endParaRPr lang="fr-FR"/>
          </a:p>
        </p:txBody>
      </p:sp>
      <p:sp>
        <p:nvSpPr>
          <p:cNvPr id="190796" name="Freeform 332"/>
          <p:cNvSpPr>
            <a:spLocks/>
          </p:cNvSpPr>
          <p:nvPr/>
        </p:nvSpPr>
        <p:spPr bwMode="auto">
          <a:xfrm>
            <a:off x="4433669" y="2811004"/>
            <a:ext cx="3001963" cy="1146175"/>
          </a:xfrm>
          <a:custGeom>
            <a:avLst/>
            <a:gdLst/>
            <a:ahLst/>
            <a:cxnLst>
              <a:cxn ang="0">
                <a:pos x="820" y="8"/>
              </a:cxn>
              <a:cxn ang="0">
                <a:pos x="1891" y="722"/>
              </a:cxn>
              <a:cxn ang="0">
                <a:pos x="0" y="698"/>
              </a:cxn>
              <a:cxn ang="0">
                <a:pos x="503" y="0"/>
              </a:cxn>
              <a:cxn ang="0">
                <a:pos x="820" y="8"/>
              </a:cxn>
            </a:cxnLst>
            <a:rect l="0" t="0" r="r" b="b"/>
            <a:pathLst>
              <a:path w="1891" h="722">
                <a:moveTo>
                  <a:pt x="820" y="8"/>
                </a:moveTo>
                <a:lnTo>
                  <a:pt x="1891" y="722"/>
                </a:lnTo>
                <a:lnTo>
                  <a:pt x="0" y="698"/>
                </a:lnTo>
                <a:lnTo>
                  <a:pt x="503" y="0"/>
                </a:lnTo>
                <a:lnTo>
                  <a:pt x="820" y="8"/>
                </a:lnTo>
                <a:close/>
              </a:path>
            </a:pathLst>
          </a:custGeom>
          <a:solidFill>
            <a:srgbClr val="BBCDE3">
              <a:alpha val="49001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graphicFrame>
        <p:nvGraphicFramePr>
          <p:cNvPr id="190915" name="Group 451"/>
          <p:cNvGraphicFramePr>
            <a:graphicFrameLocks noGrp="1"/>
          </p:cNvGraphicFramePr>
          <p:nvPr/>
        </p:nvGraphicFramePr>
        <p:xfrm>
          <a:off x="4238172" y="3819066"/>
          <a:ext cx="3427648" cy="1839278"/>
        </p:xfrm>
        <a:graphic>
          <a:graphicData uri="http://schemas.openxmlformats.org/drawingml/2006/table">
            <a:tbl>
              <a:tblPr/>
              <a:tblGrid>
                <a:gridCol w="1682986"/>
                <a:gridCol w="1744662"/>
              </a:tblGrid>
              <a:tr h="141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Composant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Exemple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Réseau</a:t>
                      </a:r>
                      <a:r>
                        <a:rPr kumimoji="0" lang="en-GB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source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Réseau</a:t>
                      </a:r>
                      <a:r>
                        <a:rPr kumimoji="0" lang="en-GB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destination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Protocole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GB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90831" name="AutoShape 36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252686" y="3251200"/>
            <a:ext cx="3425371" cy="464457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F0F1E1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45720"/>
          <a:lstStyle/>
          <a:p>
            <a:pPr marL="177800" indent="-177800">
              <a:buSzPct val="80000"/>
            </a:pPr>
            <a:r>
              <a:rPr lang="en-GB" sz="2400" dirty="0" err="1">
                <a:solidFill>
                  <a:srgbClr val="000000"/>
                </a:solidFill>
              </a:rPr>
              <a:t>Filtre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d'exclusion</a:t>
            </a: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err="1">
                <a:solidFill>
                  <a:srgbClr val="000000"/>
                </a:solidFill>
              </a:rPr>
              <a:t>d'entrée</a:t>
            </a:r>
            <a:endParaRPr lang="en-US" sz="2400" dirty="0"/>
          </a:p>
        </p:txBody>
      </p:sp>
      <p:sp>
        <p:nvSpPr>
          <p:cNvPr id="190832" name="Rectangle 36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463582" y="3341909"/>
            <a:ext cx="1410964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/>
              <a:t>192.168.0.48</a:t>
            </a:r>
          </a:p>
        </p:txBody>
      </p:sp>
      <p:sp>
        <p:nvSpPr>
          <p:cNvPr id="190833" name="Rectangle 369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63582" y="3982352"/>
            <a:ext cx="1410964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/>
              <a:t>192.168.0.32</a:t>
            </a:r>
          </a:p>
        </p:txBody>
      </p:sp>
      <p:sp>
        <p:nvSpPr>
          <p:cNvPr id="190834" name="Rectangle 370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585593" y="4526637"/>
            <a:ext cx="630302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000000"/>
                </a:solidFill>
              </a:rPr>
              <a:t>UDP</a:t>
            </a:r>
            <a:endParaRPr lang="en-US" sz="2000" dirty="0"/>
          </a:p>
        </p:txBody>
      </p:sp>
      <p:sp>
        <p:nvSpPr>
          <p:cNvPr id="190835" name="Freeform 371"/>
          <p:cNvSpPr>
            <a:spLocks/>
          </p:cNvSpPr>
          <p:nvPr/>
        </p:nvSpPr>
        <p:spPr bwMode="auto">
          <a:xfrm>
            <a:off x="7713434" y="4739816"/>
            <a:ext cx="427038" cy="428625"/>
          </a:xfrm>
          <a:custGeom>
            <a:avLst/>
            <a:gdLst/>
            <a:ahLst/>
            <a:cxnLst>
              <a:cxn ang="0">
                <a:pos x="0" y="229"/>
              </a:cxn>
              <a:cxn ang="0">
                <a:pos x="123" y="396"/>
              </a:cxn>
              <a:cxn ang="0">
                <a:pos x="157" y="395"/>
              </a:cxn>
              <a:cxn ang="0">
                <a:pos x="219" y="309"/>
              </a:cxn>
              <a:cxn ang="0">
                <a:pos x="237" y="283"/>
              </a:cxn>
              <a:cxn ang="0">
                <a:pos x="290" y="219"/>
              </a:cxn>
              <a:cxn ang="0">
                <a:pos x="474" y="0"/>
              </a:cxn>
              <a:cxn ang="0">
                <a:pos x="341" y="121"/>
              </a:cxn>
              <a:cxn ang="0">
                <a:pos x="266" y="190"/>
              </a:cxn>
              <a:cxn ang="0">
                <a:pos x="210" y="249"/>
              </a:cxn>
              <a:cxn ang="0">
                <a:pos x="137" y="330"/>
              </a:cxn>
              <a:cxn ang="0">
                <a:pos x="0" y="229"/>
              </a:cxn>
            </a:cxnLst>
            <a:rect l="0" t="0" r="r" b="b"/>
            <a:pathLst>
              <a:path w="474" h="396">
                <a:moveTo>
                  <a:pt x="0" y="229"/>
                </a:moveTo>
                <a:lnTo>
                  <a:pt x="123" y="396"/>
                </a:lnTo>
                <a:lnTo>
                  <a:pt x="157" y="395"/>
                </a:lnTo>
                <a:lnTo>
                  <a:pt x="219" y="309"/>
                </a:lnTo>
                <a:lnTo>
                  <a:pt x="237" y="283"/>
                </a:lnTo>
                <a:lnTo>
                  <a:pt x="290" y="219"/>
                </a:lnTo>
                <a:lnTo>
                  <a:pt x="474" y="0"/>
                </a:lnTo>
                <a:lnTo>
                  <a:pt x="341" y="121"/>
                </a:lnTo>
                <a:lnTo>
                  <a:pt x="266" y="190"/>
                </a:lnTo>
                <a:lnTo>
                  <a:pt x="210" y="249"/>
                </a:lnTo>
                <a:lnTo>
                  <a:pt x="137" y="330"/>
                </a:lnTo>
                <a:lnTo>
                  <a:pt x="0" y="229"/>
                </a:lnTo>
                <a:close/>
              </a:path>
            </a:pathLst>
          </a:custGeom>
          <a:solidFill>
            <a:srgbClr val="CC0000"/>
          </a:solidFill>
          <a:ln w="63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tIns="393192" bIns="27432" anchor="b"/>
          <a:lstStyle/>
          <a:p>
            <a:endParaRPr lang="fr-FR"/>
          </a:p>
        </p:txBody>
      </p:sp>
      <p:sp>
        <p:nvSpPr>
          <p:cNvPr id="190836" name="Rectangle 372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911632" y="4284204"/>
            <a:ext cx="1821332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 dirty="0" err="1">
                <a:solidFill>
                  <a:srgbClr val="000000"/>
                </a:solidFill>
              </a:rPr>
              <a:t>N'importe</a:t>
            </a:r>
            <a:r>
              <a:rPr lang="en-GB" sz="2000" dirty="0">
                <a:solidFill>
                  <a:srgbClr val="000000"/>
                </a:solidFill>
              </a:rPr>
              <a:t> </a:t>
            </a:r>
            <a:r>
              <a:rPr lang="en-GB" sz="2000" dirty="0" err="1">
                <a:solidFill>
                  <a:srgbClr val="000000"/>
                </a:solidFill>
              </a:rPr>
              <a:t>lequel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90837" name="Rectangle 373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921157" y="4857291"/>
            <a:ext cx="1410964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/>
              <a:t>192.168.0.32</a:t>
            </a:r>
          </a:p>
        </p:txBody>
      </p:sp>
      <p:sp>
        <p:nvSpPr>
          <p:cNvPr id="190838" name="Rectangle 37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956082" y="5346241"/>
            <a:ext cx="630302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000000"/>
                </a:solidFill>
              </a:rPr>
              <a:t>UDP</a:t>
            </a:r>
            <a:endParaRPr lang="en-US" sz="2000" dirty="0"/>
          </a:p>
        </p:txBody>
      </p:sp>
      <p:sp>
        <p:nvSpPr>
          <p:cNvPr id="190839" name="Freeform 375"/>
          <p:cNvSpPr>
            <a:spLocks/>
          </p:cNvSpPr>
          <p:nvPr/>
        </p:nvSpPr>
        <p:spPr bwMode="auto">
          <a:xfrm>
            <a:off x="7713434" y="4147679"/>
            <a:ext cx="427038" cy="428625"/>
          </a:xfrm>
          <a:custGeom>
            <a:avLst/>
            <a:gdLst/>
            <a:ahLst/>
            <a:cxnLst>
              <a:cxn ang="0">
                <a:pos x="0" y="229"/>
              </a:cxn>
              <a:cxn ang="0">
                <a:pos x="123" y="396"/>
              </a:cxn>
              <a:cxn ang="0">
                <a:pos x="157" y="395"/>
              </a:cxn>
              <a:cxn ang="0">
                <a:pos x="219" y="309"/>
              </a:cxn>
              <a:cxn ang="0">
                <a:pos x="237" y="283"/>
              </a:cxn>
              <a:cxn ang="0">
                <a:pos x="290" y="219"/>
              </a:cxn>
              <a:cxn ang="0">
                <a:pos x="474" y="0"/>
              </a:cxn>
              <a:cxn ang="0">
                <a:pos x="341" y="121"/>
              </a:cxn>
              <a:cxn ang="0">
                <a:pos x="266" y="190"/>
              </a:cxn>
              <a:cxn ang="0">
                <a:pos x="210" y="249"/>
              </a:cxn>
              <a:cxn ang="0">
                <a:pos x="137" y="330"/>
              </a:cxn>
              <a:cxn ang="0">
                <a:pos x="0" y="229"/>
              </a:cxn>
            </a:cxnLst>
            <a:rect l="0" t="0" r="r" b="b"/>
            <a:pathLst>
              <a:path w="474" h="396">
                <a:moveTo>
                  <a:pt x="0" y="229"/>
                </a:moveTo>
                <a:lnTo>
                  <a:pt x="123" y="396"/>
                </a:lnTo>
                <a:lnTo>
                  <a:pt x="157" y="395"/>
                </a:lnTo>
                <a:lnTo>
                  <a:pt x="219" y="309"/>
                </a:lnTo>
                <a:lnTo>
                  <a:pt x="237" y="283"/>
                </a:lnTo>
                <a:lnTo>
                  <a:pt x="290" y="219"/>
                </a:lnTo>
                <a:lnTo>
                  <a:pt x="474" y="0"/>
                </a:lnTo>
                <a:lnTo>
                  <a:pt x="341" y="121"/>
                </a:lnTo>
                <a:lnTo>
                  <a:pt x="266" y="190"/>
                </a:lnTo>
                <a:lnTo>
                  <a:pt x="210" y="249"/>
                </a:lnTo>
                <a:lnTo>
                  <a:pt x="137" y="330"/>
                </a:lnTo>
                <a:lnTo>
                  <a:pt x="0" y="229"/>
                </a:lnTo>
                <a:close/>
              </a:path>
            </a:pathLst>
          </a:custGeom>
          <a:solidFill>
            <a:srgbClr val="CC0000"/>
          </a:solidFill>
          <a:ln w="63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tIns="393192" bIns="27432" anchor="b"/>
          <a:lstStyle/>
          <a:p>
            <a:endParaRPr lang="fr-FR"/>
          </a:p>
        </p:txBody>
      </p:sp>
      <p:sp>
        <p:nvSpPr>
          <p:cNvPr id="190840" name="Freeform 376"/>
          <p:cNvSpPr>
            <a:spLocks/>
          </p:cNvSpPr>
          <p:nvPr/>
        </p:nvSpPr>
        <p:spPr bwMode="auto">
          <a:xfrm>
            <a:off x="7713434" y="5255754"/>
            <a:ext cx="427038" cy="428625"/>
          </a:xfrm>
          <a:custGeom>
            <a:avLst/>
            <a:gdLst/>
            <a:ahLst/>
            <a:cxnLst>
              <a:cxn ang="0">
                <a:pos x="0" y="229"/>
              </a:cxn>
              <a:cxn ang="0">
                <a:pos x="123" y="396"/>
              </a:cxn>
              <a:cxn ang="0">
                <a:pos x="157" y="395"/>
              </a:cxn>
              <a:cxn ang="0">
                <a:pos x="219" y="309"/>
              </a:cxn>
              <a:cxn ang="0">
                <a:pos x="237" y="283"/>
              </a:cxn>
              <a:cxn ang="0">
                <a:pos x="290" y="219"/>
              </a:cxn>
              <a:cxn ang="0">
                <a:pos x="474" y="0"/>
              </a:cxn>
              <a:cxn ang="0">
                <a:pos x="341" y="121"/>
              </a:cxn>
              <a:cxn ang="0">
                <a:pos x="266" y="190"/>
              </a:cxn>
              <a:cxn ang="0">
                <a:pos x="210" y="249"/>
              </a:cxn>
              <a:cxn ang="0">
                <a:pos x="137" y="330"/>
              </a:cxn>
              <a:cxn ang="0">
                <a:pos x="0" y="229"/>
              </a:cxn>
            </a:cxnLst>
            <a:rect l="0" t="0" r="r" b="b"/>
            <a:pathLst>
              <a:path w="474" h="396">
                <a:moveTo>
                  <a:pt x="0" y="229"/>
                </a:moveTo>
                <a:lnTo>
                  <a:pt x="123" y="396"/>
                </a:lnTo>
                <a:lnTo>
                  <a:pt x="157" y="395"/>
                </a:lnTo>
                <a:lnTo>
                  <a:pt x="219" y="309"/>
                </a:lnTo>
                <a:lnTo>
                  <a:pt x="237" y="283"/>
                </a:lnTo>
                <a:lnTo>
                  <a:pt x="290" y="219"/>
                </a:lnTo>
                <a:lnTo>
                  <a:pt x="474" y="0"/>
                </a:lnTo>
                <a:lnTo>
                  <a:pt x="341" y="121"/>
                </a:lnTo>
                <a:lnTo>
                  <a:pt x="266" y="190"/>
                </a:lnTo>
                <a:lnTo>
                  <a:pt x="210" y="249"/>
                </a:lnTo>
                <a:lnTo>
                  <a:pt x="137" y="330"/>
                </a:lnTo>
                <a:lnTo>
                  <a:pt x="0" y="229"/>
                </a:lnTo>
                <a:close/>
              </a:path>
            </a:pathLst>
          </a:custGeom>
          <a:solidFill>
            <a:srgbClr val="CC0000"/>
          </a:solidFill>
          <a:ln w="63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tIns="393192" bIns="27432" anchor="b"/>
          <a:lstStyle/>
          <a:p>
            <a:endParaRPr lang="fr-FR"/>
          </a:p>
        </p:txBody>
      </p:sp>
      <p:sp>
        <p:nvSpPr>
          <p:cNvPr id="190841" name="AutoShape 377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132168" y="5908216"/>
            <a:ext cx="2183031" cy="41592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r>
              <a:rPr lang="en-GB" sz="2400" dirty="0">
                <a:solidFill>
                  <a:srgbClr val="000000"/>
                </a:solidFill>
              </a:rPr>
              <a:t>Action :</a:t>
            </a:r>
            <a:r>
              <a:rPr lang="en-US" sz="2400" dirty="0"/>
              <a:t> </a:t>
            </a:r>
            <a:r>
              <a:rPr lang="en-GB" sz="2400" dirty="0" err="1">
                <a:solidFill>
                  <a:srgbClr val="F00000"/>
                </a:solidFill>
              </a:rPr>
              <a:t>Rejeter</a:t>
            </a:r>
            <a:endParaRPr lang="en-US" sz="2400" dirty="0">
              <a:solidFill>
                <a:srgbClr val="F00000"/>
              </a:solidFill>
            </a:endParaRPr>
          </a:p>
        </p:txBody>
      </p:sp>
      <p:pic>
        <p:nvPicPr>
          <p:cNvPr id="190769" name="Picture 305" descr="Server0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617819" y="1734679"/>
            <a:ext cx="817563" cy="106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90851" name="Group 387"/>
          <p:cNvGraphicFramePr>
            <a:graphicFrameLocks noGrp="1"/>
          </p:cNvGraphicFramePr>
          <p:nvPr/>
        </p:nvGraphicFramePr>
        <p:xfrm>
          <a:off x="5189319" y="2415716"/>
          <a:ext cx="623888" cy="568326"/>
        </p:xfrm>
        <a:graphic>
          <a:graphicData uri="http://schemas.openxmlformats.org/drawingml/2006/table">
            <a:tbl>
              <a:tblPr/>
              <a:tblGrid>
                <a:gridCol w="334963"/>
                <a:gridCol w="288925"/>
              </a:tblGrid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GB" sz="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CDE3"/>
                    </a:solidFill>
                  </a:tcPr>
                </a:tc>
              </a:tr>
              <a:tr h="144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GB" sz="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144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GB" sz="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GB" sz="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GB" sz="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pSp>
        <p:nvGrpSpPr>
          <p:cNvPr id="190919" name="Group 455"/>
          <p:cNvGrpSpPr>
            <a:grpSpLocks/>
          </p:cNvGrpSpPr>
          <p:nvPr/>
        </p:nvGrpSpPr>
        <p:grpSpPr bwMode="auto">
          <a:xfrm>
            <a:off x="684213" y="6097588"/>
            <a:ext cx="914400" cy="425450"/>
            <a:chOff x="384" y="3024"/>
            <a:chExt cx="720" cy="336"/>
          </a:xfrm>
        </p:grpSpPr>
        <p:sp>
          <p:nvSpPr>
            <p:cNvPr id="190920" name="Oval 456"/>
            <p:cNvSpPr>
              <a:spLocks noChangeArrowheads="1"/>
            </p:cNvSpPr>
            <p:nvPr/>
          </p:nvSpPr>
          <p:spPr bwMode="auto">
            <a:xfrm>
              <a:off x="384" y="3024"/>
              <a:ext cx="720" cy="336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190921" name="Group 457"/>
            <p:cNvGrpSpPr>
              <a:grpSpLocks/>
            </p:cNvGrpSpPr>
            <p:nvPr/>
          </p:nvGrpSpPr>
          <p:grpSpPr bwMode="auto">
            <a:xfrm>
              <a:off x="480" y="3096"/>
              <a:ext cx="240" cy="192"/>
              <a:chOff x="480" y="3096"/>
              <a:chExt cx="240" cy="192"/>
            </a:xfrm>
          </p:grpSpPr>
          <p:sp>
            <p:nvSpPr>
              <p:cNvPr id="190922" name="Oval 458"/>
              <p:cNvSpPr>
                <a:spLocks noChangeArrowheads="1"/>
              </p:cNvSpPr>
              <p:nvPr/>
            </p:nvSpPr>
            <p:spPr bwMode="auto">
              <a:xfrm>
                <a:off x="480" y="3096"/>
                <a:ext cx="240" cy="192"/>
              </a:xfrm>
              <a:prstGeom prst="ellipse">
                <a:avLst/>
              </a:prstGeom>
              <a:gradFill rotWithShape="0">
                <a:gsLst>
                  <a:gs pos="0">
                    <a:srgbClr val="666699"/>
                  </a:gs>
                  <a:gs pos="100000">
                    <a:srgbClr val="99CCFF"/>
                  </a:gs>
                </a:gsLst>
                <a:lin ang="189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90923" name="Freeform 459"/>
              <p:cNvSpPr>
                <a:spLocks/>
              </p:cNvSpPr>
              <p:nvPr/>
            </p:nvSpPr>
            <p:spPr bwMode="auto">
              <a:xfrm>
                <a:off x="539" y="3123"/>
                <a:ext cx="138" cy="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76"/>
                  </a:cxn>
                  <a:cxn ang="0">
                    <a:pos x="432" y="288"/>
                  </a:cxn>
                  <a:cxn ang="0">
                    <a:pos x="0" y="0"/>
                  </a:cxn>
                </a:cxnLst>
                <a:rect l="0" t="0" r="r" b="b"/>
                <a:pathLst>
                  <a:path w="432" h="576">
                    <a:moveTo>
                      <a:pt x="0" y="0"/>
                    </a:moveTo>
                    <a:cubicBezTo>
                      <a:pt x="0" y="0"/>
                      <a:pt x="91" y="226"/>
                      <a:pt x="0" y="576"/>
                    </a:cubicBezTo>
                    <a:cubicBezTo>
                      <a:pt x="216" y="432"/>
                      <a:pt x="432" y="288"/>
                      <a:pt x="432" y="288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CC"/>
                  </a:gs>
                  <a:gs pos="100000">
                    <a:srgbClr val="FFCC66"/>
                  </a:gs>
                </a:gsLst>
                <a:lin ang="18900000" scaled="1"/>
              </a:gradFill>
              <a:ln w="9525" cap="flat" cmpd="sng">
                <a:solidFill>
                  <a:srgbClr val="66669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81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190924" name="Group 460"/>
          <p:cNvGrpSpPr>
            <a:grpSpLocks/>
          </p:cNvGrpSpPr>
          <p:nvPr/>
        </p:nvGrpSpPr>
        <p:grpSpPr bwMode="auto">
          <a:xfrm>
            <a:off x="1155700" y="6188075"/>
            <a:ext cx="304800" cy="244475"/>
            <a:chOff x="768" y="3096"/>
            <a:chExt cx="240" cy="192"/>
          </a:xfrm>
        </p:grpSpPr>
        <p:sp>
          <p:nvSpPr>
            <p:cNvPr id="190925" name="Oval 461"/>
            <p:cNvSpPr>
              <a:spLocks noChangeArrowheads="1"/>
            </p:cNvSpPr>
            <p:nvPr/>
          </p:nvSpPr>
          <p:spPr bwMode="auto">
            <a:xfrm>
              <a:off x="768" y="3096"/>
              <a:ext cx="240" cy="192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0926" name="Rectangle 462"/>
            <p:cNvSpPr>
              <a:spLocks noChangeArrowheads="1"/>
            </p:cNvSpPr>
            <p:nvPr/>
          </p:nvSpPr>
          <p:spPr bwMode="auto">
            <a:xfrm>
              <a:off x="840" y="3144"/>
              <a:ext cx="96" cy="96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CC66"/>
                </a:gs>
              </a:gsLst>
              <a:lin ang="18900000" scaled="1"/>
            </a:gradFill>
            <a:ln w="9525" algn="ctr">
              <a:solidFill>
                <a:srgbClr val="666699"/>
              </a:solidFill>
              <a:miter lim="800000"/>
              <a:headEnd/>
              <a:tailEnd/>
            </a:ln>
            <a:effectLst>
              <a:outerShdw dist="17961" dir="81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795" grpId="0" animBg="1"/>
      <p:bldP spid="190832" grpId="0" autoUpdateAnimBg="0"/>
      <p:bldP spid="190833" grpId="0" autoUpdateAnimBg="0"/>
      <p:bldP spid="190834" grpId="0" autoUpdateAnimBg="0"/>
      <p:bldP spid="190835" grpId="0" animBg="1"/>
      <p:bldP spid="190839" grpId="0" animBg="1"/>
      <p:bldP spid="190840" grpId="0" animBg="1"/>
      <p:bldP spid="190841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33829" y="251733"/>
            <a:ext cx="8447314" cy="684213"/>
          </a:xfrm>
        </p:spPr>
        <p:txBody>
          <a:bodyPr vert="horz" anchor="b">
            <a:normAutofit fontScale="90000"/>
          </a:bodyPr>
          <a:lstStyle/>
          <a:p>
            <a:r>
              <a:rPr lang="en-GB" b="1" dirty="0" smtClean="0">
                <a:solidFill>
                  <a:srgbClr val="C00000"/>
                </a:solidFill>
              </a:rPr>
              <a:t>Comment </a:t>
            </a:r>
            <a:r>
              <a:rPr lang="en-GB" b="1" dirty="0" err="1">
                <a:solidFill>
                  <a:srgbClr val="C00000"/>
                </a:solidFill>
              </a:rPr>
              <a:t>configurer</a:t>
            </a:r>
            <a:r>
              <a:rPr lang="en-GB" b="1" dirty="0">
                <a:solidFill>
                  <a:srgbClr val="C00000"/>
                </a:solidFill>
              </a:rPr>
              <a:t> les </a:t>
            </a:r>
            <a:r>
              <a:rPr lang="en-GB" b="1" dirty="0" err="1">
                <a:solidFill>
                  <a:srgbClr val="C00000"/>
                </a:solidFill>
              </a:rPr>
              <a:t>filtres</a:t>
            </a:r>
            <a:r>
              <a:rPr lang="en-GB" b="1" dirty="0">
                <a:solidFill>
                  <a:srgbClr val="C00000"/>
                </a:solidFill>
              </a:rPr>
              <a:t> de </a:t>
            </a:r>
            <a:r>
              <a:rPr lang="en-GB" b="1" dirty="0" err="1">
                <a:solidFill>
                  <a:srgbClr val="C00000"/>
                </a:solidFill>
              </a:rPr>
              <a:t>paquets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" name="Picture 6" descr="media icon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427414" y="2677885"/>
            <a:ext cx="2950918" cy="141514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Exercices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1" y="1527048"/>
            <a:ext cx="8668077" cy="4572000"/>
          </a:xfrm>
        </p:spPr>
        <p:txBody>
          <a:bodyPr>
            <a:normAutofit/>
          </a:bodyPr>
          <a:lstStyle/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 smtClean="0"/>
              <a:t>C'est quoi un routeur?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 smtClean="0"/>
              <a:t>Quels sont les types de routeurs?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 smtClean="0"/>
              <a:t>Quels sont les composants du routage?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 smtClean="0"/>
              <a:t>C'est quoi un  interface  de routage?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 smtClean="0"/>
              <a:t>C'est quoi un protocole de routage?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 smtClean="0"/>
              <a:t>C'est quoi une table de routage?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 smtClean="0"/>
              <a:t>Pourquoi utiliser le service routage et accès distant?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 smtClean="0"/>
              <a:t>Qu'est ce que le filtrage de paquet?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dirty="0" smtClean="0"/>
              <a:t>Pourquoi utilise-t-on le filtrage de paquet? 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9"/>
  <p:tag name="PPWINSEGMENT1SOURCERTF" val="{\rtf1\ansi\deff0{\fonttbl{\f0\fcharset0 Arial Narrow;}}{\colortbl\red0\green0\blue0;}{\f0\fs100\b\cf0 Module 1:\par}}"/>
  <p:tag name="PPWINSEGMENT2START" val="11"/>
  <p:tag name="PPWINSEGMENT2LENGTH" val="69"/>
  <p:tag name="PPWINSEGMENT2SOURCERTF" val="{\rtf1\ansi\deff0{\fonttbl{\f0\fcharset0 Arial Narrow;}}{\colortbl\red0\green0\blue0;}{\f0\fs100\b\cf0 Configuring Routing by Using Routing and Remote Access\par}}"/>
  <p:tag name="PPWINSEGMENT2TARGETRTF" val="{\rtf1\ansi\deff1{\fonttbl{\f1\fcharset0 Arial;}{\f2\fcharset0 Arial Narrow;}}{\colortbl\red0\green0\blue0;}{\f2\fs100\b\cf0 Configuration du routage \'E0 l'aide du service Routage et acc\'E8s distant\par}}"/>
  <p:tag name="PPWINLASTSAVEDTRANSLATION" val="Module 1: Configuration du routage à l'aide du service Routage et accès distant"/>
  <p:tag name="PPWINALREADYSEGMENTED" val="True"/>
  <p:tag name="PPWINTOTALSEGMENTS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4"/>
  <p:tag name="PPWINSEGMENT1SOURCERTF" val="{\rtf1\ansi\deff0{\fonttbl{\f0\fcharset0 Arial Narrow;}}{\colortbl\red0\green0\blue0;}{\f0\fs60\b\cf0 Overview\par}}"/>
  <p:tag name="PPWINSEGMENT1TARGETRTF" val="{\rtf1\ansi\deff1{\fonttbl{\f1\fcharset0 Arial;}{\f2\fcharset0 Arial Narrow;}}{\colortbl\red0\green0\blue0;}{\f2\fs60\b\cf0 Vue d'ensemble\par}}"/>
  <p:tag name="PPWINLASTSAVEDTRANSLATION" val="Vue d'ensemble"/>
  <p:tag name="PPWINALREADYSEGMENTED" val="True"/>
  <p:tag name="PPWINTOTALSEGMENTS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5"/>
  <p:tag name="PPWINSEGMENT1SOURCERTF" val="{\rtf1\ansi\deff0{\fonttbl{\f0\fcharset0 Arial Narrow;}}{\colortbl\red0\green0\blue0;}{\f0\fs48\b\cf0 Multimedia:\par}}"/>
  <p:tag name="PPWINSEGMENT1TARGETRTF" val="{\rtf1\ansi\deff1{\fonttbl{\f1\fcharset0 Arial;}{\f2\fcharset0 Arial Narrow;}}{\colortbl\red0\green0\blue0;}{\f2\fs48\b\cf0 Pr\'E9sentation multim\'E9dia :\par}}"/>
  <p:tag name="PPWINSEGMENT2START" val="27"/>
  <p:tag name="PPWINSEGMENT2LENGTH" val="44"/>
  <p:tag name="PPWINSEGMENT2SOURCERTF" val="{\rtf1\ansi\deff0{\fonttbl{\f0\fcharset0 Arial Narrow;}}{\colortbl\red0\green0\blue0;}{\f0\fs48\b\cf0 The Role of Routing in the Network Infrastructure\par}}"/>
  <p:tag name="PPWINSEGMENT2TARGETRTF" val="{\rtf1\ansi\deff1{\fonttbl{\f1\fcharset0 Arial;}{\f2\fcharset0 Arial Narrow;}}{\colortbl\red0\green0\blue0;}{\f2\fs48\b\cf0 R\'F4le du routage dans l'infrastructure r\'E9seau\par}}"/>
  <p:tag name="PPWINSEGMENT3START" val="72"/>
  <p:tag name="PPWINSEGMENT3LENGTH" val="63"/>
  <p:tag name="PPWINSEGMENT3SOURCERTF" val="{\rtf1\ansi\deff0{\fonttbl{\f0\fcharset0 Arial Narrow;}}{\colortbl\red0\green0\blue0;}{\f0\fs48\b\cf0 Enabling and Configuring the Routing and Remote Access Service\par}}"/>
  <p:tag name="PPWINSEGMENT3TARGETRTF" val="{\rtf1\ansi\deff1{\fonttbl{\f1\fcharset0 Arial;}{\f2\fcharset0 Arial Narrow;}}{\colortbl\red0\green0\blue0;}{\f2\fs48\b\cf0 Activation et configuration du service Routage et acc\'E8s distant\par}}"/>
  <p:tag name="PPWINSEGMENT4START" val="136"/>
  <p:tag name="PPWINSEGMENT4LENGTH" val="36"/>
  <p:tag name="PPWINSEGMENT4SOURCERTF" val="{\rtf1\ansi\deff0{\fonttbl{\f0\fcharset0 Arial Narrow;}}{\colortbl\red0\green0\blue0;}{\f0\fs48\b\cf0 Configuring Packet Filters \par}}"/>
  <p:tag name="PPWINSEGMENT4TARGETRTF" val="{\rtf1\ansi\deff1{\fonttbl{\f1\fcharset0 Arial;}{\f2\fcharset0 Arial Narrow;}}{\colortbl\red0\green0\blue0;}{\f2\fs48\b\cf0 Configuration des filtres de paquets\par}}"/>
  <p:tag name="PPWINLASTSAVEDTRANSLATION" val="Présentation multimédia : Rôle du routage dans l'infrastructure réseau&#10;Activation et configuration du service Routage et accès distant&#10;Configuration des filtres de paquets"/>
  <p:tag name="PPWINALREADYSEGMENTED" val="True"/>
  <p:tag name="PPWINTOTALSEGMENTS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5"/>
  <p:tag name="PPWINSEGMENT1SOURCERTF" val="{\rtf1\ansi\deff0{\fonttbl{\f0\fcharset0 Arial Narrow;}}{\colortbl\red0\green0\blue0;}{\f0\fs52\b\cf0 Multimedia:\par}}"/>
  <p:tag name="PPWINSEGMENT1TARGETRTF" val="{\rtf1\ansi\deff1{\fonttbl{\f1\fcharset0 Arial;}{\f2\fcharset0 Arial Narrow;}}{\colortbl\red0\green0\blue0;}{\f2\fs52\b\cf0 Pr\'E9sentation multim\'E9dia :\par}}"/>
  <p:tag name="PPWINSEGMENT2START" val="27"/>
  <p:tag name="PPWINSEGMENT2LENGTH" val="44"/>
  <p:tag name="PPWINSEGMENT2SOURCERTF" val="{\rtf1\ansi\deff0{\fonttbl{\f0\fcharset0 Arial Narrow;}}{\colortbl\red0\green0\blue0;}{\f0\fs52\b\cf0 The Role of Routing in the Network Infrastructure\par}}"/>
  <p:tag name="PPWINSEGMENT2TARGETRTF" val="{\rtf1\ansi\deff1{\fonttbl{\f1\fcharset0 Arial;}{\f2\fcharset0 Arial Narrow;}}{\colortbl\red0\green0\blue0;}{\f2\fs52\b\cf0 R\'F4le du routage dans l'infrastructure r\'E9seau\par}}"/>
  <p:tag name="PPWINLASTSAVEDTRANSLATION" val="Présentation multimédia : Rôle du routage dans l'infrastructure réseau"/>
  <p:tag name="PPWINALREADYSEGMENTED" val="True"/>
  <p:tag name="PPWINTOTALSEGMENTS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12"/>
  <p:tag name="PPWINSEGMENT1SOURCERTF" val="{\rtf1\ansi\deff0{\fonttbl{\f0\fcharset0 Arial Narrow;}}{\colortbl\red0\green0\blue0;}{\f0\fs48\b\cf0 The objective of this presentation is to provide a high-level overview of routing in the network infrastructure\par}}"/>
  <p:tag name="PPWINSEGMENT1TARGETRTF" val="{\rtf1\ansi\deff1{\fonttbl{\f1\fcharset0 Arial;}{\f2\fcharset0 Arial Narrow;}}{\colortbl\red0\green0\blue0;}{\f2\fs48\b\cf0 Cette pr\'E9sentation a pour but de fournir une vue d'ensemble approfondie du routage dans l'infrastructure r\'E9seau.\par}}"/>
  <p:tag name="PPWINSEGMENT2START" val="114"/>
  <p:tag name="PPWINSEGMENT2LENGTH" val="84"/>
  <p:tag name="PPWINSEGMENT2SOURCERTF" val="{\rtf1\ansi\deff0{\fonttbl{\f0\fcharset0 Arial Narrow;}}{\colortbl\red0\green0\blue0;}{\f0\fs48\b\cf0 After this presentation, you will be able to:\par}}"/>
  <p:tag name="PPWINSEGMENT2TARGETRTF" val="{\rtf1\ansi\deff1{\fonttbl{\f1\fcharset0 Arial;}{\f2\fcharset0 Arial Narrow;}}{\colortbl\red0\green0\blue0;}{\f2\fs48\b\cf0 \'C0 la fin de cette pr\'E9sentation, vous serez \'E0 m\'EAme d'effectuer les t\'E2ches suivantes :\par}}"/>
  <p:tag name="PPWINSEGMENT3START" val="200"/>
  <p:tag name="PPWINSEGMENT3LENGTH" val="55"/>
  <p:tag name="PPWINSEGMENT3SOURCERTF" val="{\rtf1\ansi\deff0{\fonttbl{\f0\fcharset0 Arial Narrow;}}{\colortbl\red0\green0\blue0;}{\f0\fs48\cf0 Describe how routing fits into the network infrastructure\par}}"/>
  <p:tag name="PPWINSEGMENT3TARGETRTF" val="{\rtf1\ansi\deff1{\fonttbl{\f1\fcharset0 Arial;}{\f2\fcharset0 Arial Narrow;}}{\colortbl\red0\green0\blue0;}{\f2\fs48\cf0 D\'E9crire le r\'F4le du routage dans l'infrastructure r\'E9seau\par}}"/>
  <p:tag name="PPWINSEGMENT4START" val="256"/>
  <p:tag name="PPWINSEGMENT4LENGTH" val="68"/>
  <p:tag name="PPWINSEGMENT4SOURCERTF" val="{\rtf1\ansi\deff0{\fonttbl{\f0\fcharset0 Arial Narrow;}}{\colortbl\red0\green0\blue0;}{\f0\fs48\cf0 Explain the difference between local and remote routing\par}}"/>
  <p:tag name="PPWINSEGMENT4TARGETRTF" val="{\rtf1\ansi\deff1{\fonttbl{\f1\fcharset0 Arial;}{\f2\fcharset0 Arial Narrow;}}{\colortbl\red0\green0\blue0;}{\f2\fs48\cf0 Expliquer la diff\'E9rence entre le routage local et le routage distant\par}}"/>
  <p:tag name="PPWINSEGMENT5START" val="325"/>
  <p:tag name="PPWINSEGMENT5LENGTH" val="80"/>
  <p:tag name="PPWINSEGMENT5SOURCERTF" val="{\rtf1\ansi\deff0{\fonttbl{\f0\fcharset0 Arial Narrow;}}{\colortbl\red0\green0\blue0;}{\f0\fs48\cf0 Describe how the Microsoft routing solution fits into the network infrastructure\par}}"/>
  <p:tag name="PPWINSEGMENT5TARGETRTF" val="{\rtf1\ansi\deff1{\fonttbl{\f1\fcharset0 Arial;}{\f2\fcharset0 Arial Narrow;}}{\colortbl\red0\green0\blue0;}{\f2\fs48\cf0 D\'E9crire le r\'F4le de la solution de routage Microsoft dans l'infrastructure r\'E9seau\par}}"/>
  <p:tag name="PPWINLASTSAVEDTRANSLATION" val="Cette présentation a pour but de fournir une vue d'ensemble approfondie du routage dans l'infrastructure réseau.&#10;À la fin de cette présentation, vous serez à même d'effectuer les tâches suivantes : &#10;Décrire le rôle du routage dans l'infrastructure réseau&#10;Expliquer la différence entre le routage local et le routage distant&#10;Décrire le rôle de la solution de routage Microsoft dans l'infrastructure réseau&#10;"/>
  <p:tag name="PPWINALREADYSEGMENTED" val="True"/>
  <p:tag name="PPWINTOTALSEGMENTS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"/>
  <p:tag name="PPWINSEGMENT1SOURCERTF" val="{\rtf1\ansi\deff0{\fonttbl{\f0\fcharset0 Arial Narrow;}}{\colortbl\red0\green0\blue0;}{\f0\fs52\b\cf0 Lesson:\par}}"/>
  <p:tag name="PPWINSEGMENT1TARGETRTF" val="{\rtf1\ansi\deff1{\fonttbl{\f1\fcharset0 Arial;}{\f2\fcharset0 Arial Narrow;}}{\colortbl\red0\green0\blue0;}{\f2\fs52\b\cf0 Le\'E7on :\par}}"/>
  <p:tag name="PPWINSEGMENT2START" val="9"/>
  <p:tag name="PPWINSEGMENT2LENGTH" val="63"/>
  <p:tag name="PPWINSEGMENT2SOURCERTF" val="{\rtf1\ansi\deff0{\fonttbl{\f0\fcharset0 Arial Narrow;}}{\colortbl\red0\green0\blue0;}{\f0\fs52\b\cf0 Enabling and Configuring the Routing and Remote Access Service\par}}"/>
  <p:tag name="PPWINSEGMENT2TARGETRTF" val="{\rtf1\ansi\deff1{\fonttbl{\f1\fcharset0 Arial;}{\f2\fcharset0 Arial Narrow;}}{\colortbl\red0\green0\blue0;}{\f2\fs52\b\cf0 Activation et configuration du service Routage et acc\'E8s distant\par}}"/>
  <p:tag name="PPWINLASTSAVEDTRANSLATION" val="Leçon : Activation et configuration du service Routage et accès distant"/>
  <p:tag name="PPWINALREADYSEGMENTED" val="True"/>
  <p:tag name="PPWINTOTALSEGMENTS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3"/>
  <p:tag name="PPWINSEGMENT1SOURCERTF" val="{\rtf1\ansi\deff0{\fonttbl{\f0\fcharset0 Arial Narrow;}}{\colortbl\red0\green0\blue0;}{\f0\fs48\b\cf0 What Are Routers?\par}}"/>
  <p:tag name="PPWINSEGMENT1TARGETRTF" val="{\rtf1\ansi\deff1{\fonttbl{\f1\fcharset0 Arial;}{\f2\fcharset0 Arial Narrow;}}{\colortbl\red0\green0\blue0;}{\f2\fs48\b\cf0 Que sont les routeurs ?\par}}"/>
  <p:tag name="PPWINSEGMENT2START" val="25"/>
  <p:tag name="PPWINSEGMENT2LENGTH" val="36"/>
  <p:tag name="PPWINSEGMENT2SOURCERTF" val="{\rtf1\ansi\deff0{\fonttbl{\f0\fcharset0 Arial Narrow;}}{\colortbl\red0\green0\blue0;}{\f0\fs48\b\cf0 What Are Routing Interfaces?\par}}"/>
  <p:tag name="PPWINSEGMENT2TARGETRTF" val="{\rtf1\ansi\deff1{\fonttbl{\f1\fcharset0 Arial;}{\f2\fcharset0 Arial Narrow;}}{\colortbl\red0\green0\blue0;}{\f2\fs48\b\cf0 Que sont les interfaces de routage ?\par}}"/>
  <p:tag name="PPWINSEGMENT3START" val="63"/>
  <p:tag name="PPWINSEGMENT3LENGTH" val="36"/>
  <p:tag name="PPWINSEGMENT3SOURCERTF" val="{\rtf1\ansi\deff0{\fonttbl{\f0\fcharset0 Arial Narrow;}}{\colortbl\red0\green0\blue0;}{\f0\fs48\b\cf0 What Are Routing Protocols?\par}}"/>
  <p:tag name="PPWINSEGMENT3TARGETRTF" val="{\rtf1\ansi\deff1{\fonttbl{\f1\fcharset0 Arial;}{\f2\fcharset0 Arial Narrow;}}{\colortbl\red0\green0\blue0;}{\f2\fs48\b\cf0 Que sont les protocoles de routage ?\par}}"/>
  <p:tag name="PPWINSEGMENT4START" val="100"/>
  <p:tag name="PPWINSEGMENT4LENGTH" val="32"/>
  <p:tag name="PPWINSEGMENT4SOURCERTF" val="{\rtf1\ansi\deff0{\fonttbl{\f0\fcharset0 Arial Narrow;}}{\colortbl\red0\green0\blue0;}{\f0\fs48\b\cf0 What Are Routing Tables?\par}}"/>
  <p:tag name="PPWINSEGMENT4TARGETRTF" val="{\rtf1\ansi\deff1{\fonttbl{\f1\fcharset0 Arial;}{\f2\fcharset0 Arial Narrow;}}{\colortbl\red0\green0\blue0;}{\f2\fs48\b\cf0 Que sont les tables de routage ?\par}}"/>
  <p:tag name="PPWINSEGMENT5START" val="133"/>
  <p:tag name="PPWINSEGMENT5LENGTH" val="78"/>
  <p:tag name="PPWINSEGMENT5SOURCERTF" val="{\rtf1\ansi\deff0{\fonttbl{\f0\fcharset0 Arial Narrow;}}{\colortbl\red0\green0\blue0;}{\f0\fs48\b\cf0 Why Use the Windows Server 2003 Routing and Remote Access Service?\par}}"/>
  <p:tag name="PPWINSEGMENT5TARGETRTF" val="{\rtf1\ansi\deff1{\fonttbl{\f1\fcharset0 Arial;}{\f2\fcharset0 Arial Narrow;}}{\colortbl\red0\green0\blue0;}{\f2\fs48\b\cf0 Pourquoi utiliser le service Routage et acc\'E8s distant de Windows Server 2003 ?\par}}"/>
  <p:tag name="PPWINSEGMENT6START" val="212"/>
  <p:tag name="PPWINSEGMENT6LENGTH" val="65"/>
  <p:tag name="PPWINSEGMENT6SOURCERTF" val="{\rtf1\ansi\deff0{\fonttbl{\f0\fcharset0 Arial Narrow;}}{\colortbl\red0\green0\blue0;}{\f0\fs48\b\cf0 How to Enable and Configure the Routing and Remote Access Service\par}}"/>
  <p:tag name="PPWINSEGMENT6TARGETRTF" val="{\rtf1\ansi\deff1{\fonttbl{\f1\fcharset0 Arial;}{\f2\fcharset0 Arial Narrow;}}{\colortbl\red0\green0\blue0;}{\f2\fs48\b\cf0 Comment activer et configurer le service Routage et acc\'E8s distant\par}}"/>
  <p:tag name="PPWINSEGMENT7START" val="278"/>
  <p:tag name="PPWINSEGMENT7LENGTH" val="39"/>
  <p:tag name="PPWINSEGMENT7SOURCERTF" val="{\rtf1\ansi\deff0{\fonttbl{\f0\fcharset0 Arial Narrow;}}{\colortbl\red0\green0\blue0;}{\f0\fs48\b\cf0 How to Add a Routing Protocol\par}}"/>
  <p:tag name="PPWINSEGMENT7TARGETRTF" val="{\rtf1\ansi\deff1{\fonttbl{\f1\fcharset0 Arial;}{\f2\fcharset0 Arial Narrow;}}{\colortbl\red0\green0\blue0;}{\f2\fs48\b\cf0 Comment ajouter un protocole de routage\par}}"/>
  <p:tag name="PPWINSEGMENT8START" val="318"/>
  <p:tag name="PPWINSEGMENT8LENGTH" val="66"/>
  <p:tag name="PPWINSEGMENT8SOURCERTF" val="{\rtf1\ansi\deff0{\fonttbl{\f0\fcharset0 Arial Narrow;}}{\colortbl\red0\green0\blue0;}{\f0\fs48\b\cf0 How to Add Routing Interface to a Routing Protocol\par}}"/>
  <p:tag name="PPWINSEGMENT8TARGETRTF" val="{\rtf1\ansi\deff1{\fonttbl{\f1\fcharset0 Arial;}{\f2\fcharset0 Arial Narrow;}}{\colortbl\red0\green0\blue0;}{\f2\fs48\b\cf0 Comment ajouter une interface de routage \'E0 un protocole de routage\par}}"/>
  <p:tag name="PPWINLASTSAVEDTRANSLATION" val="Que sont les routeurs ?&#10;Que sont les interfaces de routage ? &#10;Que sont les protocoles de routage ?&#10;Que sont les tables de routage ?&#10;Pourquoi utiliser le service Routage et accès distant de Windows Server 2003 ?&#10;Comment activer et configurer le service Routage et accès distant&#10;Comment ajouter un protocole de routage&#10;Comment ajouter une interface de routage à un protocole de routage"/>
  <p:tag name="PPWINALREADYSEGMENTED" val="True"/>
  <p:tag name="PPWINTOTALSEGMENTS" val="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3"/>
  <p:tag name="PPWINSEGMENT1SOURCERTF" val="{\rtf1\ansi\deff0{\fonttbl{\f0\fcharset0 Arial Narrow;}}{\colortbl\red0\green0\blue0;}{\f0\fs60\b\cf0 What Are Routers?\par}}"/>
  <p:tag name="PPWINSEGMENT1TARGETRTF" val="{\rtf1\ansi\deff1{\fonttbl{\f1\fcharset0 Arial;}{\f2\fcharset0 Arial Narrow;}}{\colortbl\red0\green0\blue0;}{\f2\fs60\b\cf0 Que sont les routeurs ?\par}}"/>
  <p:tag name="PPWINLASTSAVEDTRANSLATION" val="Que sont les routeurs ?"/>
  <p:tag name="PPWINALREADYSEGMENTED" val="True"/>
  <p:tag name="PPWINTOTALSEGMENTS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3"/>
  <p:tag name="PPWINSEGMENT1SOURCERTF" val="{\rtf1\ansi\deff0{\fonttbl{\f0\fcharset0 Arial Narrow;}}{\colortbl\red0\green0\blue0;}{\f0\fs60\b\cf0 What Are Routers?\par}}"/>
  <p:tag name="PPWINSEGMENT1TARGETRTF" val="{\rtf1\ansi\deff1{\fonttbl{\f1\fcharset0 Arial;}{\f2\fcharset0 Arial Narrow;}}{\colortbl\red0\green0\blue0;}{\f2\fs60\b\cf0 Que sont les routeurs ?\par}}"/>
  <p:tag name="PPWINLASTSAVEDTRANSLATION" val="Que sont les routeurs ?"/>
  <p:tag name="PPWINALREADYSEGMENTED" val="True"/>
  <p:tag name="PPWINTOTALSEGMENTS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3"/>
  <p:tag name="PPWINSEGMENT1SOURCERTF" val="{\rtf1\ansi\deff0{\fonttbl{\f0\fcharset0 Arial Narrow;}}{\colortbl\red0\green0\blue0;}{\f0\fs60\b\cf0 What Are Routers?\par}}"/>
  <p:tag name="PPWINSEGMENT1TARGETRTF" val="{\rtf1\ansi\deff1{\fonttbl{\f1\fcharset0 Arial;}{\f2\fcharset0 Arial Narrow;}}{\colortbl\red0\green0\blue0;}{\f2\fs60\b\cf0 Que sont les routeurs ?\par}}"/>
  <p:tag name="PPWINLASTSAVEDTRANSLATION" val="Que sont les routeurs ?"/>
  <p:tag name="PPWINALREADYSEGMENTED" val="True"/>
  <p:tag name="PPWINTOTALSEGMENTS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0"/>
  <p:tag name="PPWINSEGMENT1SOURCERTF" val="{\rtf1\ansi\deff0{\fonttbl{\f0\fcharset0 Arial Narrow;}}{\colortbl\red0\green0\blue0;}{\f0\fs44\b\cf0 Routing interface\par}}"/>
  <p:tag name="PPWINSEGMENT1TARGETRTF" val="{\rtf1\ansi\deff1{\fonttbl{\f1\fcharset0 Arial;}{\f2\fcharset0 Arial Narrow;}}{\colortbl\red0\green0\blue0;}{\f2\fs44\b\cf0 Interface de routage\par}}"/>
  <p:tag name="PPWINSEGMENT2START" val="22"/>
  <p:tag name="PPWINSEGMENT2LENGTH" val="20"/>
  <p:tag name="PPWINSEGMENT2SOURCERTF" val="{\rtf1\ansi\deff0{\fonttbl{\f0\fcharset0 Arial Narrow;}}{\colortbl\red0\green0\blue0;}{\f0\fs44\b\cf0 Routing protocol\par}}"/>
  <p:tag name="PPWINSEGMENT2TARGETRTF" val="{\rtf1\ansi\deff1{\fonttbl{\f1\fcharset0 Arial;}{\f2\fcharset0 Arial Narrow;}}{\colortbl\red0\green0\blue0;}{\f2\fs44\b\cf0 Protocole de routage\par}}"/>
  <p:tag name="PPWINSEGMENT3START" val="43"/>
  <p:tag name="PPWINSEGMENT3LENGTH" val="16"/>
  <p:tag name="PPWINSEGMENT3SOURCERTF" val="{\rtf1\ansi\deff0{\fonttbl{\f0\fcharset0 Arial Narrow;}}{\colortbl\red0\green0\blue0;}{\f0\fs44\b\cf0 Routing table\par}}"/>
  <p:tag name="PPWINSEGMENT3TARGETRTF" val="{\rtf1\ansi\deff1{\fonttbl{\f1\fcharset0 Arial;}{\f2\fcharset0 Arial Narrow;}}{\colortbl\red0\green0\blue0;}{\f2\fs44\b\cf0 Table de routage\par}}"/>
  <p:tag name="PPWINLASTSAVEDTRANSLATION" val="Interface de routage&#10;Protocole de routage&#10;Table de routage"/>
  <p:tag name="PPWINALREADYSEGMENTED" val="True"/>
  <p:tag name="PPWINTOTALSEGMENTS" val="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6"/>
  <p:tag name="PPWINSEGMENT1SOURCERTF" val="{\rtf1\ansi\deff0{\fonttbl{\f0\fcharset0 Arial Narrow;}}{\colortbl\red0\green0\blue0;}{\f0\fs60\b\cf0 What Are Routing Interfaces?\par}}"/>
  <p:tag name="PPWINSEGMENT1TARGETRTF" val="{\rtf1\ansi\deff1{\fonttbl{\f1\fcharset0 Arial;}{\f2\fcharset0 Arial Narrow;}}{\colortbl\red0\green0\blue0;}{\f2\fs60\b\cf0 Que sont les interfaces de routage ?\par}}"/>
  <p:tag name="PPWINLASTSAVEDTRANSLATION" val="Que sont les interfaces de routage ?"/>
  <p:tag name="PPWINALREADYSEGMENTED" val="True"/>
  <p:tag name="PPWINTOTALSEGMENTS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6"/>
  <p:tag name="PPWINSEGMENT1SOURCERTF" val="{\rtf1\ansi\deff0{\fonttbl{\f0\fcharset0 Arial Narrow;}}{\colortbl\red0\green0\blue0;}{\f0\fs60\b\cf0 What Are Routing Protocols?\par}}"/>
  <p:tag name="PPWINSEGMENT1TARGETRTF" val="{\rtf1\ansi\deff1{\fonttbl{\f1\fcharset0 Arial;}{\f2\fcharset0 Arial Narrow;}}{\colortbl\red0\green0\blue0;}{\f2\fs60\b\cf0 Que sont les protocoles de routage ?\par}}"/>
  <p:tag name="PPWINLASTSAVEDTRANSLATION" val="Que sont les protocoles de routage ?"/>
  <p:tag name="PPWINALREADYSEGMENTED" val="True"/>
  <p:tag name="PPWINTOTALSEGMENTS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3"/>
  <p:tag name="PPWINSEGMENT1SOURCERTF" val="{\rtf1\ansi\deff0{\fonttbl{\f0\fcharset0 Arial Narrow;}}{\colortbl\red0\green0\blue0;}{\f0\fs48\b\cf0 RIP\par}}"/>
  <p:tag name="PPWINSEGMENT1TARGETRTF" val="{\rtf1\ansi\deff1{\fonttbl{\f1\fcharset0 Arial;}{\f2\fcharset0 Arial Narrow;}}{\colortbl\red0\green0\blue0;}{\f2\fs48\b\cf0 Protocole RIP\par}}"/>
  <p:tag name="PPWINLASTSAVEDTRANSLATION" val="Protocole RIP&#10;"/>
  <p:tag name="PPWINALREADYSEGMENTED" val="True"/>
  <p:tag name="PPWINTOTALSEGMENTS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6"/>
  <p:tag name="PPWINSEGMENT1SOURCERTF" val="{\rtf1\ansi\deff0{\fonttbl{\f0\fcharset0 Arial Narrow;}}{\colortbl\red0\green0\blue0;}{\f0\fs60\b\cf0 What Are Routing Protocols?\par}}"/>
  <p:tag name="PPWINSEGMENT1TARGETRTF" val="{\rtf1\ansi\deff1{\fonttbl{\f1\fcharset0 Arial;}{\f2\fcharset0 Arial Narrow;}}{\colortbl\red0\green0\blue0;}{\f2\fs60\b\cf0 Que sont les protocoles de routage ?\par}}"/>
  <p:tag name="PPWINLASTSAVEDTRANSLATION" val="Que sont les protocoles de routage ?"/>
  <p:tag name="PPWINALREADYSEGMENTED" val="True"/>
  <p:tag name="PPWINTOTALSEGMENTS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52"/>
  <p:tag name="PPWINSEGMENT1SOURCERTF" val="{\rtf1\ansi\deff0{\fonttbl{\f0\fcharset0 Arial Narrow;}}{\colortbl\red0\green0\blue0;}{\f0\fs44\b\cf0 Designed for small to medium-size networks\par}}"/>
  <p:tag name="PPWINSEGMENT1TARGETRTF" val="{\rtf1\ansi\deff1{\fonttbl{\f1\fcharset0 Arial;}{\f2\fcharset0 Arial Narrow;}}{\colortbl\red0\green0\blue0;}{\f2\fs44\b\cf0 Con\'E7u pour les r\'E9seaux de petite \'E0 moyenne envergure\par}}"/>
  <p:tag name="PPWINSEGMENT2START" val="54"/>
  <p:tag name="PPWINSEGMENT2LENGTH" val="28"/>
  <p:tag name="PPWINSEGMENT2SOURCERTF" val="{\rtf1\ansi\deff0{\fonttbl{\f0\fcharset0 Arial Narrow;}}{\colortbl\red0\green0\blue0;}{\f0\fs44\b\cf0 Uses a routing table\par}}"/>
  <p:tag name="PPWINSEGMENT2TARGETRTF" val="{\rtf1\ansi\deff1{\fonttbl{\f1\fcharset0 Arial;}{\f2\fcharset0 Arial Narrow;}}{\colortbl\red0\green0\blue0;}{\f2\fs44\b\cf0 Utilise une table de routage\par}}"/>
  <p:tag name="PPWINSEGMENT3START" val="83"/>
  <p:tag name="PPWINSEGMENT3LENGTH" val="35"/>
  <p:tag name="PPWINSEGMENT3SOURCERTF" val="{\rtf1\ansi\deff0{\fonttbl{\f0\fcharset0 Arial Narrow;}}{\colortbl\red0\green0\blue0;}{\f0\fs44\b\cf0 Easier to configure and manage\par}}"/>
  <p:tag name="PPWINSEGMENT3TARGETRTF" val="{\rtf1\ansi\deff1{\fonttbl{\f1\fcharset0 Arial;}{\f2\fcharset0 Arial Narrow;}}{\colortbl\red0\green0\blue0;}{\f2\fs44\b\cf0 Plus facile \'E0 configurer et \'E0 g\'E9rer\par}}"/>
  <p:tag name="PPWINSEGMENT4START" val="119"/>
  <p:tag name="PPWINSEGMENT4LENGTH" val="12"/>
  <p:tag name="PPWINSEGMENT4SOURCERTF" val="{\rtf1\ansi\deff0{\fonttbl{\f0\fcharset0 Arial Narrow;}}{\colortbl\red0\green0\blue0;}{\f0\fs44\b\cf0 Does not scale well\par}}"/>
  <p:tag name="PPWINSEGMENT4TARGETRTF" val="{\rtf1\ansi\deff1{\fonttbl{\f1\fcharset0 Arial;}{\f2\fcharset0 Arial Narrow;}}{\colortbl\red0\green0\blue0;}{\f2\fs44\b\cf0 Peu \'E9volutif\par}}"/>
  <p:tag name="PPWINLASTSAVEDTRANSLATION" val="Conçu pour les réseaux de petite à moyenne envergure&#10;Utilise une table de routage&#10;Plus facile à configurer et à gérer&#10;Peu évolutif"/>
  <p:tag name="PPWINALREADYSEGMENTED" val="True"/>
  <p:tag name="PPWINTOTALSEGMENTS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6"/>
  <p:tag name="PPWINSEGMENT1SOURCERTF" val="{\rtf1\ansi\deff0{\fonttbl{\f0\fcharset0 Arial Narrow;}}{\colortbl\red0\green0\blue0;}{\f0\fs60\b\cf0 What Are Routing Protocols?\par}}"/>
  <p:tag name="PPWINSEGMENT1TARGETRTF" val="{\rtf1\ansi\deff1{\fonttbl{\f1\fcharset0 Arial;}{\f2\fcharset0 Arial Narrow;}}{\colortbl\red0\green0\blue0;}{\f2\fs60\b\cf0 Que sont les protocoles de routage ?\par}}"/>
  <p:tag name="PPWINLASTSAVEDTRANSLATION" val="Que sont les protocoles de routage ?"/>
  <p:tag name="PPWINALREADYSEGMENTED" val="True"/>
  <p:tag name="PPWINTOTALSEGMENTS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4"/>
  <p:tag name="PPWINSEGMENT1SOURCERTF" val="{\rtf1\ansi\deff0{\fonttbl{\f0\fcharset0 Arial Narrow;}}{\colortbl\red0\green0\blue0;}{\f0\fs48\b\cf0 OSPF \par}}"/>
  <p:tag name="PPWINSEGMENT1TARGETRTF" val="{\rtf1\ansi\deff1{\fonttbl{\f1\fcharset0 Arial;}{\f2\fcharset0 Arial Narrow;}}{\colortbl\red0\green0\blue0;}{\f2\fs48\b\cf0 Protocole OSPF\par}}"/>
  <p:tag name="PPWINLASTSAVEDTRANSLATION" val="Protocole OSPF&#10;&#10;"/>
  <p:tag name="PPWINALREADYSEGMENTED" val="True"/>
  <p:tag name="PPWINTOTALSEGMENTS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56"/>
  <p:tag name="PPWINSEGMENT1SOURCERTF" val="{\rtf1\ansi\deff0{\fonttbl{\f0\fcharset0 Arial Narrow;}}{\colortbl\red0\green0\blue0;}{\f0\fs44\b\cf0 Designed for large to very large networks\par}}"/>
  <p:tag name="PPWINSEGMENT1TARGETRTF" val="{\rtf1\ansi\deff1{\fonttbl{\f1\fcharset0 Arial;}{\f2\fcharset0 Arial Narrow;}}{\colortbl\red0\green0\blue0;}{\f2\fs44\b\cf0 Con\'E7u pour les r\'E9seaux de grande \'E0 tr\'E8s grande envergure\par}}"/>
  <p:tag name="PPWINSEGMENT2START" val="58"/>
  <p:tag name="PPWINSEGMENT2LENGTH" val="47"/>
  <p:tag name="PPWINSEGMENT2SOURCERTF" val="{\rtf1\ansi\deff0{\fonttbl{\f0\fcharset0 Arial Narrow;}}{\colortbl\red0\green0\blue0;}{\f0\fs44\b\cf0 Uses a link-state database\par}}"/>
  <p:tag name="PPWINSEGMENT2TARGETRTF" val="{\rtf1\ansi\deff1{\fonttbl{\f1\fcharset0 Arial;}{\f2\fcharset0 Arial Narrow;}}{\colortbl\red0\green0\blue0;}{\f2\fs44\b\cf0 Utilise une base de donn\'E9es d'\'E9tat des liaisons\par}}"/>
  <p:tag name="PPWINSEGMENT3START" val="106"/>
  <p:tag name="PPWINSEGMENT3LENGTH" val="32"/>
  <p:tag name="PPWINSEGMENT3SOURCERTF" val="{\rtf1\ansi\deff0{\fonttbl{\f0\fcharset0 Arial Narrow;}}{\colortbl\red0\green0\blue0;}{\f0\fs44\b\cf0 Complex to configure and manage\par}}"/>
  <p:tag name="PPWINSEGMENT3TARGETRTF" val="{\rtf1\ansi\deff1{\fonttbl{\f1\fcharset0 Arial;}{\f2\fcharset0 Arial Narrow;}}{\colortbl\red0\green0\blue0;}{\f2\fs44\b\cf0 Complexe \'E0 configurer et \'E0 g\'E9rer\par}}"/>
  <p:tag name="PPWINSEGMENT4START" val="139"/>
  <p:tag name="PPWINSEGMENT4LENGTH" val="44"/>
  <p:tag name="PPWINSEGMENT4SOURCERTF" val="{\rtf1\ansi\deff0{\fonttbl{\f0\fcharset0 Arial Narrow;}}{\colortbl\red0\green0\blue0;}{\f0\fs44\b\cf0 Operates efficiently in large networks\par}}"/>
  <p:tag name="PPWINSEGMENT4TARGETRTF" val="{\rtf1\ansi\deff1{\fonttbl{\f1\fcharset0 Arial;}{\f2\fcharset0 Arial Narrow;}}{\colortbl\red0\green0\blue0;}{\f2\fs44\b\cf0 Efficace sur les r\'E9seaux de grande envergure\par}}"/>
  <p:tag name="PPWINLASTSAVEDTRANSLATION" val="Conçu pour les réseaux de grande à très grande envergure&#10;Utilise une base de données d'état des liaisons&#10;Complexe à configurer et à gérer&#10;Efficace sur les réseaux de grande envergure"/>
  <p:tag name="PPWINALREADYSEGMENTED" val="True"/>
  <p:tag name="PPWINTOTALSEGMENTS" val="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2"/>
  <p:tag name="PPWINSEGMENT1SOURCERTF" val="{\rtf1\ansi\deff0{\fonttbl{\f0\fcharset0 Arial Narrow;}}{\colortbl\red0\green0\blue0;}{\f0\fs60\b\cf0 What Are Routing Tables?\par}}"/>
  <p:tag name="PPWINSEGMENT1TARGETRTF" val="{\rtf1\ansi\deff1{\fonttbl{\f1\fcharset0 Arial;}{\f2\fcharset0 Arial Narrow;}}{\colortbl\red0\green0\blue0;}{\f2\fs60\b\cf0 Que sont les tables de routage ?\par}}"/>
  <p:tag name="PPWINLASTSAVEDTRANSLATION" val="Que sont les tables de routage ?"/>
  <p:tag name="PPWINALREADYSEGMENTED" val="True"/>
  <p:tag name="PPWINTOTALSEGMENTS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8"/>
  <p:tag name="PPWINSEGMENT1SOURCERTF" val="{\rtf1\ansi\deff0{\fonttbl{\f0\fcharset0 Arial Narrow;}}{\colortbl\red0\green0\blue0;}{\f0\fs52\b\cf0 Why Use the Windows Server 2003 Routing and Remote Access Service?\par}}"/>
  <p:tag name="PPWINSEGMENT1TARGETRTF" val="{\rtf1\ansi\deff1{\fonttbl{\f1\fcharset0 Arial;}{\f2\fcharset0 Arial Narrow;}}{\colortbl\red0\green0\blue0;}{\f2\fs52\b\cf0 Pourquoi utiliser le service Routage et acc\'E8s distant de Windows Server 2003 ?\par}}"/>
  <p:tag name="PPWINLASTSAVEDTRANSLATION" val="Pourquoi utiliser le service Routage et accès distant de Windows Server 2003 ?"/>
  <p:tag name="PPWINALREADYSEGMENTED" val="True"/>
  <p:tag name="PPWINTOTALSEGMENTS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  <p:tag name="PPWINTOTALSEGMENTS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  <p:tag name="PPWINSEGMENT1START" val="1"/>
  <p:tag name="PPWINSEGMENT1LENGTH" val="21"/>
  <p:tag name="PPWINSEGMENT1SOURCERTF" val="{\rtf1\ansi\deff0{\fonttbl{\f0\fcharset0 Arial Narrow;}}{\colortbl\red0\green0\blue0;}{\f0\fs36\b\cf0 Internal Subnets\par}}"/>
  <p:tag name="PPWINSEGMENT1TARGETRTF" val="{\rtf1\ansi\deff1{\fonttbl{\f1\fcharset0 Arial;}{\f2\fcharset0 Arial Narrow;}}{\colortbl\red0\green0\blue0;}{\f2\fs36\b\cf0 Sous-r\'E9seaux internes\par}}"/>
  <p:tag name="PPWINLASTSAVEDTRANSLATION" val="Sous-réseaux internes"/>
  <p:tag name="PPWINALREADYSEGMENTED" val="True"/>
  <p:tag name="PPWINTOTALSEGMENTS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7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7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7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  <p:tag name="PPWINSEGMENT1START" val="1"/>
  <p:tag name="PPWINSEGMENT1LENGTH" val="10"/>
  <p:tag name="PPWINSEGMENT1SOURCERTF" val="{\rtf1\ansi\deff0{\fonttbl{\f0\fcharset0 Arial Narrow;}}{\colortbl\red0\green0\blue0;}{\f0\fs32\b\cf0 LAN\par}}"/>
  <p:tag name="PPWINSEGMENT1TARGETRTF" val="{\rtf1\ansi\deff1{\fonttbl{\f1\fcharset0 Arial;}{\f2\fcharset0 Arial Narrow;}}{\colortbl\red0\green0\blue0;}{\f2\fs32\b\cf0 R\'E9seau LAN\par}}"/>
  <p:tag name="PPWINLASTSAVEDTRANSLATION" val="Réseau LAN"/>
  <p:tag name="PPWINALREADYSEGMENTED" val="True"/>
  <p:tag name="PPWINTOTALSEGMENTS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  <p:tag name="PPWINSEGMENT1START" val="1"/>
  <p:tag name="PPWINSEGMENT1LENGTH" val="10"/>
  <p:tag name="PPWINSEGMENT1SOURCERTF" val="{\rtf1\ansi\deff0{\fonttbl{\f0\fcharset0 Arial Narrow;}}{\colortbl\red0\green0\blue0;}{\f0\fs32\b\cf0 LAN\par}}"/>
  <p:tag name="PPWINSEGMENT1TARGETRTF" val="{\rtf1\ansi\deff1{\fonttbl{\f1\fcharset0 Arial;}{\f2\fcharset0 Arial Narrow;}}{\colortbl\red0\green0\blue0;}{\f2\fs32\b\cf0 R\'E9seau LAN\par}}"/>
  <p:tag name="PPWINLASTSAVEDTRANSLATION" val="Réseau LAN"/>
  <p:tag name="PPWINALREADYSEGMENTED" val="True"/>
  <p:tag name="PPWINTOTALSEGMENTS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  <p:tag name="PPWINSEGMENT1START" val="1"/>
  <p:tag name="PPWINSEGMENT1LENGTH" val="19"/>
  <p:tag name="PPWINSEGMENT1SOURCERTF" val="{\rtf1\ansi\deff0{\fonttbl{\f0\fcharset0 Arial Narrow;}}{\colortbl\red0\green0\blue0;}{\f0\fs32\b\cf0 Corp Net\par}}"/>
  <p:tag name="PPWINSEGMENT1TARGETRTF" val="{\rtf1\ansi\deff1{\fonttbl{\f1\fcharset0 Arial;}{\f2\fcharset0 Arial Narrow;}}{\colortbl\red0\green0\blue0;}{\f2\fs32\b\cf0 R\'E9seau d'entreprise\par}}"/>
  <p:tag name="PPWINLASTSAVEDTRANSLATION" val="Réseau d'entreprise"/>
  <p:tag name="PPWINALREADYSEGMENTED" val="True"/>
  <p:tag name="PPWINTOTALSEGMENTS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8"/>
  <p:tag name="PPWINSEGMENT1SOURCERTF" val="{\rtf1\ansi\deff0{\fonttbl{\f0\fcharset0 Arial Narrow;}}{\colortbl\red0\green0\blue0;}{\f0\fs52\b\cf0 Why Use the Windows Server 2003 Routing and Remote Access Service?\par}}"/>
  <p:tag name="PPWINSEGMENT1TARGETRTF" val="{\rtf1\ansi\deff1{\fonttbl{\f1\fcharset0 Arial;}{\f2\fcharset0 Arial Narrow;}}{\colortbl\red0\green0\blue0;}{\f2\fs52\b\cf0 Pourquoi utiliser le service Routage et acc\'E8s distant de Windows Server 2003 ?\par}}"/>
  <p:tag name="PPWINLASTSAVEDTRANSLATION" val="Pourquoi utiliser le service Routage et accès distant de Windows Server 2003 ?"/>
  <p:tag name="PPWINALREADYSEGMENTED" val="True"/>
  <p:tag name="PPWINTOTALSEGMENTS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TOTALSEGMENTS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19"/>
  <p:tag name="PPWINSEGMENT1SOURCERTF" val="{\rtf1\ansi\deff0{\fonttbl{\f0\fcharset0 Arial Narrow;}}{\colortbl\red0\green0\blue0;}{\f0\fs32\b\cf0 Corp Net\par}}"/>
  <p:tag name="PPWINSEGMENT1TARGETRTF" val="{\rtf1\ansi\deff1{\fonttbl{\f1\fcharset0 Arial;}{\f2\fcharset0 Arial Narrow;}}{\colortbl\red0\green0\blue0;}{\f2\fs32\b\cf0 R\'E9seau d'entreprise\par}}"/>
  <p:tag name="PPWINLASTSAVEDTRANSLATION" val="Réseau d'entreprise"/>
  <p:tag name="PPWINALREADYSEGMENTED" val="True"/>
  <p:tag name="PPWINTOTALSEGMENTS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4"/>
  <p:tag name="PPWINSEGMENT1SOURCERTF" val="{\rtf1\ansi\deff0{\fonttbl{\f0\fcharset0 Arial Narrow;}}{\colortbl\red0\green0\blue0;}{\f0\fs32\b\cf0 Remote\par}}"/>
  <p:tag name="PPWINSEGMENT1TARGETRTF" val="{\rtf1\ansi\deff1{\fonttbl{\f1\fcharset0 Arial;}{\f2\fcharset0 Arial Narrow;}}{\colortbl\red0\green0\blue0;}{\f2\fs32\b\cf0 Site\par}}"/>
  <p:tag name="PPWINSEGMENT2START" val="6"/>
  <p:tag name="PPWINSEGMENT2LENGTH" val="7"/>
  <p:tag name="PPWINSEGMENT2SOURCERTF" val="{\rtf1\ansi\deff0{\fonttbl{\f0\fcharset0 Arial Narrow;}}{\colortbl\red0\green0\blue0;}{\f0\fs32\b\cf0 Site\par}}"/>
  <p:tag name="PPWINSEGMENT2TARGETRTF" val="{\rtf1\ansi\deff1{\fonttbl{\f1\fcharset0 Arial;}{\f2\fcharset0 Arial Narrow;}}{\colortbl\red0\green0\blue0;}{\f2\fs32\b\cf0 distant\par}}"/>
  <p:tag name="PPWINLASTSAVEDTRANSLATION" val="Site&#10;distant"/>
  <p:tag name="PPWINALREADYSEGMENTED" val="True"/>
  <p:tag name="PPWINTOTALSEGMENTS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8"/>
  <p:tag name="PPWINSEGMENT1SOURCERTF" val="{\rtf1\ansi\deff0{\fonttbl{\f0\fcharset0 Arial Narrow;}}{\colortbl\red0\green0\blue0;}{\f0\fs52\b\cf0 Why Use the Windows Server 2003 Routing and Remote Access Service?\par}}"/>
  <p:tag name="PPWINSEGMENT1TARGETRTF" val="{\rtf1\ansi\deff1{\fonttbl{\f1\fcharset0 Arial;}{\f2\fcharset0 Arial Narrow;}}{\colortbl\red0\green0\blue0;}{\f2\fs52\b\cf0 Pourquoi utiliser le service Routage et acc\'E8s distant de Windows Server 2003 ?\par}}"/>
  <p:tag name="PPWINLASTSAVEDTRANSLATION" val="Pourquoi utiliser le service Routage et accès distant de Windows Server 2003 ?"/>
  <p:tag name="PPWINALREADYSEGMENTED" val="True"/>
  <p:tag name="PPWINTOTALSEGMENTS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  <p:tag name="PPWINTOTALSEGMENTS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  <p:tag name="PPWINSEGMENT1START" val="1"/>
  <p:tag name="PPWINSEGMENT1LENGTH" val="19"/>
  <p:tag name="PPWINSEGMENT1SOURCERTF" val="{\rtf1\ansi\deff0{\fonttbl{\f0\fcharset0 Arial Narrow;}}{\colortbl\red0\green0\blue0;}{\f0\fs32\b\cf0 Corp Net\par}}"/>
  <p:tag name="PPWINSEGMENT1TARGETRTF" val="{\rtf1\ansi\deff1{\fonttbl{\f1\fcharset0 Arial;}{\f2\fcharset0 Arial Narrow;}}{\colortbl\red0\green0\blue0;}{\f2\fs32\b\cf0 R\'E9seau d'entreprise\par}}"/>
  <p:tag name="PPWINLASTSAVEDTRANSLATION" val="Réseau d'entreprise"/>
  <p:tag name="PPWINALREADYSEGMENTED" val="True"/>
  <p:tag name="PPWINTOTALSEGMENTS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  <p:tag name="PPWINSEGMENT1START" val="1"/>
  <p:tag name="PPWINSEGMENT1LENGTH" val="37"/>
  <p:tag name="PPWINSEGMENT1SOURCERTF" val="{\rtf1\ansi\deff0{\fonttbl{\f0\fcharset0 Arial Narrow;}}{\colortbl\red0\green0\blue0;}{\f0\fs36\b\cf0 Remote Access Using VPN Tunnel\par}}"/>
  <p:tag name="PPWINSEGMENT1TARGETRTF" val="{\rtf1\ansi\deff1{\fonttbl{\f1\fcharset0 Arial;}{\f2\fcharset0 Arial Narrow;}}{\colortbl\red0\green0\blue0;}{\f2\fs36\b\cf0 Acc\'E8s distant utilisant un tunnel VPN\par}}"/>
  <p:tag name="PPWINLASTSAVEDTRANSLATION" val="Accès distant utilisant un tunnel VPN"/>
  <p:tag name="PPWINALREADYSEGMENTED" val="True"/>
  <p:tag name="PPWINTOTALSEGMENTS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,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,4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,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,4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,5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,5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,5,8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,5,8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65"/>
  <p:tag name="PPWINSEGMENT1SOURCERTF" val="{\rtf1\ansi\deff0{\fonttbl{\f0\fcharset0 Arial Narrow;}}{\colortbl\red0\green0\blue0;}{\f0\fs52\b\cf0 How to Enable and Configure the Routing and Remote Access Service\par}}"/>
  <p:tag name="PPWINSEGMENT1TARGETRTF" val="{\rtf1\ansi\deff1{\fonttbl{\f1\fcharset0 Arial;}{\f2\fcharset0 Arial Narrow;}}{\colortbl\red0\green0\blue0;}{\f2\fs52\b\cf0 Comment activer et configurer le service Routage et acc\'E8s distant\par}}"/>
  <p:tag name="PPWINLASTSAVEDTRANSLATION" val="Comment activer et configurer le service Routage et accès distant"/>
  <p:tag name="PPWINALREADYSEGMENTED" val="True"/>
  <p:tag name="PPWINTOTALSEGMENTS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9"/>
  <p:tag name="PPWINSEGMENT1SOURCERTF" val="{\rtf1\ansi\deff0{\fonttbl{\f0\fcharset0 Arial Narrow;}}{\colortbl\red0\green0\blue0;}{\f0\fs52\b\cf0 How to Add a Routing Protocol\par}}"/>
  <p:tag name="PPWINSEGMENT1TARGETRTF" val="{\rtf1\ansi\deff1{\fonttbl{\f1\fcharset0 Arial;}{\f2\fcharset0 Arial Narrow;}}{\colortbl\red0\green0\blue0;}{\f2\fs52\b\cf0 Comment ajouter un protocole de routage\par}}"/>
  <p:tag name="PPWINLASTSAVEDTRANSLATION" val="Comment ajouter un protocole de routage"/>
  <p:tag name="PPWINALREADYSEGMENTED" val="True"/>
  <p:tag name="PPWINTOTALSEGMENTS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66"/>
  <p:tag name="PPWINSEGMENT1SOURCERTF" val="{\rtf1\ansi\deff0{\fonttbl{\f0\fcharset0 Arial Narrow;}}{\colortbl\red0\green0\blue0;}{\f0\fs52\b\cf0 How to Add a Routing Interface to a Routing Protocol\par}}"/>
  <p:tag name="PPWINSEGMENT1TARGETRTF" val="{\rtf1\ansi\deff1{\fonttbl{\f1\fcharset0 Arial;}{\f2\fcharset0 Arial Narrow;}}{\colortbl\red0\green0\blue0;}{\f2\fs52\b\cf0 Comment ajouter une interface de routage \'E0 un protocole de routage\par}}"/>
  <p:tag name="PPWINLASTSAVEDTRANSLATION" val="Comment ajouter une interface de routage à un protocole de routage"/>
  <p:tag name="PPWINALREADYSEGMENTED" val="True"/>
  <p:tag name="PPWINTOTALSEGMENTS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"/>
  <p:tag name="PPWINSEGMENT1SOURCERTF" val="{\rtf1\ansi\deff0{\fonttbl{\f0\fcharset0 Arial Narrow;}}{\colortbl\red0\green0\blue0;}{\f0\fs60\b\cf0 Lesson:\par}}"/>
  <p:tag name="PPWINSEGMENT1TARGETRTF" val="{\rtf1\ansi\deff1{\fonttbl{\f1\fcharset0 Arial;}{\f2\fcharset0 Arial Narrow;}}{\colortbl\red0\green0\blue0;}{\f2\fs60\b\cf0 Le\'E7on :\par}}"/>
  <p:tag name="PPWINSEGMENT2START" val="9"/>
  <p:tag name="PPWINSEGMENT2LENGTH" val="36"/>
  <p:tag name="PPWINSEGMENT2SOURCERTF" val="{\rtf1\ansi\deff0{\fonttbl{\f0\fcharset0 Arial Narrow;}}{\colortbl\red0\green0\blue0;}{\f0\fs60\b\cf0 Configuring Packet Filters\par}}"/>
  <p:tag name="PPWINSEGMENT2TARGETRTF" val="{\rtf1\ansi\deff1{\fonttbl{\f1\fcharset0 Arial;}{\f2\fcharset0 Arial Narrow;}}{\colortbl\red0\green0\blue0;}{\f2\fs60\b\cf0 Configuration des filtres de paquets\par}}"/>
  <p:tag name="PPWINLASTSAVEDTRANSLATION" val="Leçon : Configuration des filtres de paquets"/>
  <p:tag name="PPWINALREADYSEGMENTED" val="True"/>
  <p:tag name="PPWINTOTALSEGMENTS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9"/>
  <p:tag name="PPWINSEGMENT1SOURCERTF" val="{\rtf1\ansi\deff0{\fonttbl{\f0\fcharset0 Arial Narrow;}}{\colortbl\red0\green0\blue0;}{\f0\fs48\b\cf0 What Is Packet Filtering?\par}}"/>
  <p:tag name="PPWINSEGMENT1TARGETRTF" val="{\rtf1\ansi\deff1{\fonttbl{\f1\fcharset0 Arial;}{\f2\fcharset0 Arial Narrow;}}{\colortbl\red0\green0\blue0;}{\f2\fs48\b\cf0 Qu'est-ce que le filtrage des paquets ?\par}}"/>
  <p:tag name="PPWINSEGMENT2START" val="41"/>
  <p:tag name="PPWINSEGMENT2LENGTH" val="51"/>
  <p:tag name="PPWINSEGMENT2SOURCERTF" val="{\rtf1\ansi\deff0{\fonttbl{\f0\fcharset0 Arial Narrow;}}{\colortbl\red0\green0\blue0;}{\f0\fs48\b\cf0 How Packet Filters Are Applied\par}}"/>
  <p:tag name="PPWINSEGMENT2TARGETRTF" val="{\rtf1\ansi\deff1{\fonttbl{\f1\fcharset0 Arial;}{\f2\fcharset0 Arial Narrow;}}{\colortbl\red0\green0\blue0;}{\f2\fs48\b\cf0 Comment les filtres de paquets sont-ils appliqu\'E9s ?\par}}"/>
  <p:tag name="PPWINSEGMENT3START" val="93"/>
  <p:tag name="PPWINSEGMENT3LENGTH" val="41"/>
  <p:tag name="PPWINSEGMENT3SOURCERTF" val="{\rtf1\ansi\deff0{\fonttbl{\f0\fcharset0 Arial Narrow;}}{\colortbl\red0\green0\blue0;}{\f0\fs48\b\cf0 How to Configure Packet Filters \par}}"/>
  <p:tag name="PPWINSEGMENT3TARGETRTF" val="{\rtf1\ansi\deff1{\fonttbl{\f1\fcharset0 Arial;}{\f2\fcharset0 Arial Narrow;}}{\colortbl\red0\green0\blue0;}{\f2\fs48\b\cf0 Comment configurer les filtres de paquets\par}}"/>
  <p:tag name="PPWINLASTSAVEDTRANSLATION" val="Qu'est-ce que le filtrage des paquets ?&#10;Comment les filtres de paquets sont-ils appliqués ?&#10;Comment configurer les filtres de paquets"/>
  <p:tag name="PPWINALREADYSEGMENTED" val="True"/>
  <p:tag name="PPWINTOTALSEGMENTS" val="3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9"/>
  <p:tag name="PPWINSEGMENT1SOURCERTF" val="{\rtf1\ansi\deff0{\fonttbl{\f0\fcharset0 Arial Narrow;}}{\colortbl\red0\green0\blue0;}{\f0\fs60\b\cf0 What Is Packet Filtering?\par}}"/>
  <p:tag name="PPWINSEGMENT1TARGETRTF" val="{\rtf1\ansi\deff1{\fonttbl{\f1\fcharset0 Arial;}{\f2\fcharset0 Arial Narrow;}}{\colortbl\red0\green0\blue0;}{\f2\fs60\b\cf0 Qu'est-ce que le filtrage des paquets ?\par}}"/>
  <p:tag name="PPWINLASTSAVEDTRANSLATION" val="Qu'est-ce que le filtrage des paquets ?"/>
  <p:tag name="PPWINALREADYSEGMENTED" val="True"/>
  <p:tag name="PPWINTOTALSEGMENTS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6"/>
  <p:tag name="PPWINSEGMENT1SOURCERTF" val="{\rtf1\ansi\deff0{\fonttbl{\f0\fcharset0 Arial Narrow;}}{\colortbl\red0\green0\blue0;}{\f0\fs40\b\cf0 Outbound Filter\par}}"/>
  <p:tag name="PPWINSEGMENT1TARGETRTF" val="{\rtf1\ansi\deff1{\fonttbl{\f1\fcharset0 Arial;}{\f2\fcharset0 Arial Narrow;}}{\colortbl\red0\green0\blue0;}{\f2\fs40\b\cf0 Filtre de sortie\par}}"/>
  <p:tag name="PPWINLASTSAVEDTRANSLATION" val="Filtre de sortie"/>
  <p:tag name="PPWINALREADYSEGMENTED" val="True"/>
  <p:tag name="PPWINTOTALSEGMENTS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5"/>
  <p:tag name="PPWINSEGMENT1SOURCERTF" val="{\rtf1\ansi\deff0{\fonttbl{\f0\fcharset0 Arial Narrow;}}{\colortbl\red0\green0\blue0;}{\f0\fs40\b\cf0 Inbound Filter\par}}"/>
  <p:tag name="PPWINSEGMENT1TARGETRTF" val="{\rtf1\ansi\deff1{\fonttbl{\f1\fcharset0 Arial;}{\f2\fcharset0 Arial Narrow;}}{\colortbl\red0\green0\blue0;}{\f2\fs40\b\cf0 Filtre d'entr\'E9e\par}}"/>
  <p:tag name="PPWINLASTSAVEDTRANSLATION" val="Filtre d'entrée"/>
  <p:tag name="PPWINALREADYSEGMENTED" val="True"/>
  <p:tag name="PPWINTOTALSEGMENTS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"/>
  <p:tag name="PPWINSEGMENT1SOURCERTF" val="{\rtf1\ansi\deff0{\fonttbl{\f0\fcharset0 Arial Narrow;}}{\colortbl\red0\green0\blue0;}{\f0\fs36\b\cf0 Router\par}}"/>
  <p:tag name="PPWINSEGMENT1TARGETRTF" val="{\rtf1\ansi\deff1{\fonttbl{\f1\fcharset0 Arial;}{\f2\fcharset0 Arial Narrow;}}{\colortbl\red0\green0\blue0;}{\f2\fs36\b\cf0 Routeur\par}}"/>
  <p:tag name="PPWINLASTSAVEDTRANSLATION" val="Routeur"/>
  <p:tag name="PPWINALREADYSEGMENTED" val="True"/>
  <p:tag name="PPWINTOTALSEGMENTS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9"/>
  <p:tag name="PPWINSEGMENT1SOURCERTF" val="{\rtf1\ansi\deff0{\fonttbl{\f0\fcharset0 Arial Narrow;}}{\colortbl\red0\green0\blue0;}{\f0\fs60\b\cf0 What Is Packet Filtering?\par}}"/>
  <p:tag name="PPWINSEGMENT1TARGETRTF" val="{\rtf1\ansi\deff1{\fonttbl{\f1\fcharset0 Arial;}{\f2\fcharset0 Arial Narrow;}}{\colortbl\red0\green0\blue0;}{\f2\fs60\b\cf0 Qu'est-ce que le filtrage des paquets ?\par}}"/>
  <p:tag name="PPWINLASTSAVEDTRANSLATION" val="Qu'est-ce que le filtrage des paquets ?"/>
  <p:tag name="PPWINALREADYSEGMENTED" val="True"/>
  <p:tag name="PPWINTOTALSEGMENTS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8"/>
  <p:tag name="PPWINSEGMENT1SOURCERTF" val="{\rtf1\ansi\deff0{\fonttbl{\f0\fcharset0 Arial Narrow;}}{\colortbl\red0\green0\blue0;}{\f0\fs40\b\cf0 Prevent access by unauthorized users\par}}"/>
  <p:tag name="PPWINSEGMENT1TARGETRTF" val="{\rtf1\ansi\deff1{\fonttbl{\f1\fcharset0 Arial;}{\f2\fcharset0 Arial Narrow;}}{\colortbl\red0\green0\blue0;}{\f2\fs40\b\cf0 Interdire l'acc\'E8s aux utilisateurs non autoris\'E9s\par}}"/>
  <p:tag name="PPWINSEGMENT2START" val="50"/>
  <p:tag name="PPWINSEGMENT2LENGTH" val="32"/>
  <p:tag name="PPWINSEGMENT2SOURCERTF" val="{\rtf1\ansi\deff0{\fonttbl{\f0\fcharset0 Arial Narrow;}}{\colortbl\red0\green0\blue0;}{\f0\fs40\b\cf0 Prevent access to resources\par}}"/>
  <p:tag name="PPWINSEGMENT2TARGETRTF" val="{\rtf1\ansi\deff1{\fonttbl{\f1\fcharset0 Arial;}{\f2\fcharset0 Arial Narrow;}}{\colortbl\red0\green0\blue0;}{\f2\fs40\b\cf0 Interdire l'acc\'E8s aux ressources\par}}"/>
  <p:tag name="PPWINSEGMENT3START" val="83"/>
  <p:tag name="PPWINSEGMENT3LENGTH" val="99"/>
  <p:tag name="PPWINSEGMENT3SOURCERTF" val="{\rtf1\ansi\deff0{\fonttbl{\f0\fcharset0 Arial Narrow;}}{\colortbl\red0\green0\blue0;}{\f0\fs40\b\cf0 Improve performance by preventing unnecessary packets from traveling over a slow connection\par}}"/>
  <p:tag name="PPWINSEGMENT3TARGETRTF" val="{\rtf1\ansi\deff1{\fonttbl{\f1\fcharset0 Arial;}{\f2\fcharset0 Arial Narrow;}}{\colortbl\red0\green0\blue0;}{\f2\fs40\b\cf0 Am\'E9liorer les performances en emp\'EAchant la transmission de paquets inutiles via une connexion lente\par}}"/>
  <p:tag name="PPWINLASTSAVEDTRANSLATION" val="Interdire l'accès aux utilisateurs non autorisés&#10;Interdire l'accès aux ressources&#10;Améliorer les performances en empêchant la transmission de paquets inutiles via une connexion lente"/>
  <p:tag name="PPWINALREADYSEGMENTED" val="True"/>
  <p:tag name="PPWINTOTALSEGMENTS" val="3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6"/>
  <p:tag name="PPWINSEGMENT1SOURCERTF" val="{\rtf1\ansi\deff0{\fonttbl{\f0\fcharset0 Arial Narrow;}}{\colortbl\red0\green0\blue0;}{\f0\fs40\b\cf0 Outbound Filter\par}}"/>
  <p:tag name="PPWINSEGMENT1TARGETRTF" val="{\rtf1\ansi\deff1{\fonttbl{\f1\fcharset0 Arial;}{\f2\fcharset0 Arial Narrow;}}{\colortbl\red0\green0\blue0;}{\f2\fs40\b\cf0 Filtre de sortie\par}}"/>
  <p:tag name="PPWINLASTSAVEDTRANSLATION" val="Filtre de sortie"/>
  <p:tag name="PPWINALREADYSEGMENTED" val="True"/>
  <p:tag name="PPWINTOTALSEGMENTS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15"/>
  <p:tag name="PPWINSEGMENT1SOURCERTF" val="{\rtf1\ansi\deff0{\fonttbl{\f0\fcharset0 Arial Narrow;}}{\colortbl\red0\green0\blue0;}{\f0\fs40\b\cf0 Inbound Filter\par}}"/>
  <p:tag name="PPWINSEGMENT1TARGETRTF" val="{\rtf1\ansi\deff1{\fonttbl{\f1\fcharset0 Arial;}{\f2\fcharset0 Arial Narrow;}}{\colortbl\red0\green0\blue0;}{\f2\fs40\b\cf0 Filtre d'entr\'E9e\par}}"/>
  <p:tag name="PPWINLASTSAVEDTRANSLATION" val="Filtre d'entrée"/>
  <p:tag name="PPWINALREADYSEGMENTED" val="True"/>
  <p:tag name="PPWINTOTALSEGMENTS" val="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"/>
  <p:tag name="PPWINSEGMENT1SOURCERTF" val="{\rtf1\ansi\deff0{\fonttbl{\f0\fcharset0 Arial Narrow;}}{\colortbl\red0\green0\blue0;}{\f0\fs36\b\cf0 Router\par}}"/>
  <p:tag name="PPWINSEGMENT1TARGETRTF" val="{\rtf1\ansi\deff1{\fonttbl{\f1\fcharset0 Arial;}{\f2\fcharset0 Arial Narrow;}}{\colortbl\red0\green0\blue0;}{\f2\fs36\b\cf0 Routeur\par}}"/>
  <p:tag name="PPWINLASTSAVEDTRANSLATION" val="Routeur"/>
  <p:tag name="PPWINALREADYSEGMENTED" val="True"/>
  <p:tag name="PPWINTOTALSEGMENTS" val="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6"/>
  <p:tag name="PPWINSEGMENT1SOURCERTF" val="{\rtf1\ansi\deff0{\fonttbl{\f0\fcharset0 Arial Narrow;}}{\colortbl\red0\green0\blue0;}{\f0\fs36\b\cf0 Packet\par}}"/>
  <p:tag name="PPWINLASTSAVEDTRANSLATION" val="Paquet"/>
  <p:tag name="PPWINALREADYSEGMENTED" val="True"/>
  <p:tag name="PPWINTOTALSEGMENTS" val="1"/>
  <p:tag name="PPWINSEGMENT1TARGETRTF" val="{\rtf1\ansi\deff0{\fonttbl{\f0\fcharset0 Arial Narrow;}}{\colortbl\red0\green0\blue0;}{\f0\fs36\b\cf0 Paquet\par}}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51"/>
  <p:tag name="PPWINSEGMENT1SOURCERTF" val="{\rtf1\ansi\deff0{\fonttbl{\f0\fcharset0 Arial Narrow;}}{\colortbl\red0\green0\blue0;}{\f0\fs60\b\cf0 How Packet Filters Are Applied\par}}"/>
  <p:tag name="PPWINLASTSAVEDTRANSLATION" val="Comment les filtres de paquets sont-ils appliqués ?"/>
  <p:tag name="PPWINALREADYSEGMENTED" val="True"/>
  <p:tag name="PPWINTOTALSEGMENTS" val="1"/>
  <p:tag name="PPWINSEGMENT1TARGETRTF" val="{\rtf1\ansi\deff0{\fonttbl{\f0\fcharset0 Arial Narrow;}}{\colortbl\red0\green0\blue0;}{\f0\fs60\b\cf0 Comment les filtres de paquets sont-ils appliqu\'E9s ?\par}}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7"/>
  <p:tag name="PPWINSEGMENT1SOURCERTF" val="{\rtf1\ansi\deff0{\fonttbl{\f0\fcharset0 Arial Narrow;}}{\colortbl\red0\green0\blue0;}{\f0\fs36\b\cf0 Router\par}}"/>
  <p:tag name="PPWINLASTSAVEDTRANSLATION" val="Routeur"/>
  <p:tag name="PPWINALREADYSEGMENTED" val="True"/>
  <p:tag name="PPWINTOTALSEGMENTS" val="1"/>
  <p:tag name="PPWINSEGMENT1TARGETRTF" val="{\rtf1\ansi\deff0{\fonttbl{\f0\fcharset0 Arial Narrow;}}{\colortbl\red0\green0\blue0;}{\f0\fs36\b\cf0 Routeur\par}}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27"/>
  <p:tag name="PPWINSEGMENT1SOURCERTF" val="{\rtf1\ansi\deff0{\fonttbl{\f0\fcharset0 Arial Narrow;}}{\colortbl\red0\green0\blue0;}{\f0\fs36\b\cf0 Inbound Exclusion Filter\par}}"/>
  <p:tag name="PPWINLASTSAVEDTRANSLATION" val="Filtre d'exclusion d'entrée"/>
  <p:tag name="PPWINALREADYSEGMENTED" val="True"/>
  <p:tag name="PPWINTOTALSEGMENTS" val="1"/>
  <p:tag name="PPWINSEGMENT1TARGETRTF" val="{\rtf1\ansi\deff0{\fonttbl{\f0\fcharset0 Arial Narrow;}}{\colortbl\red0\green0\blue0;}{\f0\fs36\b\cf0 Filtre d'exclusion d'entr\'E9e\par}}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"/>
  <p:tag name="PPWINSEGMENT1SOURCERTF" val="{\rtf1\ansi\deff0{\fonttbl{\f0\fcharset0 Arial Narrow;}}{\colortbl\red0\green0\blue0;}{\f0\fs32\cf0 UDP\par}}"/>
  <p:tag name="PPWINLASTSAVEDTRANSLATION" val="UDP"/>
  <p:tag name="PPWINALREADYSEGMENTED" val="True"/>
  <p:tag name="PPWINTOTALSEGMENTS" val="1"/>
  <p:tag name="PPWINSEGMENT1TARGETRTF" val="{\rtf1\ansi\deff0{\fonttbl{\f0\fcharset0 Arial Narrow;}}{\colortbl\red0\green0\blue0;}{\f0\fs32\cf0 UDP\par}}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DOWLASTEDITMARKER" val="1"/>
  <p:tag name="PPWINSEGMENT1START" val="1"/>
  <p:tag name="PPWINSEGMENT1LENGTH" val="16"/>
  <p:tag name="PPWINSEGMENT1SOURCERTF" val="{\rtf1\ansi\deff0{\fonttbl{\f0\fcharset0 Arial Narrow;}}{\colortbl\red0\green0\blue0;}{\f0\fs32\cf0 Any\par}}"/>
  <p:tag name="PPWINSEGMENT1TARGETRTF" val="{\rtf1\ansi\deff1{\fonttbl{\f1\fcharset0 Arial;}{\f2\fcharset0 Arial Narrow;}}{\colortbl\red0\green0\blue0;}{\f2\fs32\cf0 N'importe lequel\par}}"/>
  <p:tag name="PPWINLASTSAVEDTRANSLATION" val="N'importe lequel"/>
  <p:tag name="PPWINALREADYSEGMENTED" val="True"/>
  <p:tag name="PPWINTOTALSEGMENTS" val="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3"/>
  <p:tag name="PPWINSEGMENT1SOURCERTF" val="{\rtf1\ansi\deff0{\fonttbl{\f0\fcharset0 Arial Narrow;}}{\colortbl\red0\green0\blue0;}{\f0\fs32\cf0 UDP\par}}"/>
  <p:tag name="PPWINLASTSAVEDTRANSLATION" val="UDP"/>
  <p:tag name="PPWINALREADYSEGMENTED" val="True"/>
  <p:tag name="PPWINTOTALSEGMENTS" val="1"/>
  <p:tag name="PPWINSEGMENT1TARGETRTF" val="{\rtf1\ansi\deff0{\fonttbl{\f0\fcharset0 Arial Narrow;}}{\colortbl\red0\green0\blue0;}{\f0\fs32\cf0 UDP\par}}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8"/>
  <p:tag name="PPWINSEGMENT1SOURCERTF" val="{\rtf1\ansi\deff0{\fonttbl{\f0\fcharset0 Arial Narrow;}}{\colortbl\red0\green0\blue0;}{\f0\fs44\b\cf0 Action:\par}}"/>
  <p:tag name="PPWINSEGMENT2START" val="10"/>
  <p:tag name="PPWINSEGMENT2LENGTH" val="7"/>
  <p:tag name="PPWINSEGMENT2SOURCERTF" val="{\rtf1\ansi\deff0{\fonttbl{\f0\fcharset0 Arial Narrow;}}{\colortbl\red240\green0\blue0;}{\f0\fs44\b\cf0 Drop\par}}"/>
  <p:tag name="PPWINLASTSAVEDTRANSLATION" val="Action : Rejeter"/>
  <p:tag name="PPWINALREADYSEGMENTED" val="True"/>
  <p:tag name="PPWINTOTALSEGMENTS" val="2"/>
  <p:tag name="PPWINSEGMENT1TARGETRTF" val="{\rtf1\ansi\deff0{\fonttbl{\f0\fcharset0 Arial Narrow;}}{\colortbl\red0\green0\blue0;}{\f0\fs44\b\cf0 Action :\par}}"/>
  <p:tag name="PPWINSEGMENT2TARGETRTF" val="{\rtf1\ansi\deff0{\fonttbl{\f0\fcharset0 Arial Narrow;}}{\colortbl\red240\green0\blue0;}{\f0\fs44\b\cf0 Rejeter\par}}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SEGMENT1START" val="1"/>
  <p:tag name="PPWINSEGMENT1LENGTH" val="41"/>
  <p:tag name="PPWINSEGMENT1SOURCERTF" val="{\rtf1\ansi\deff0{\fonttbl{\f0\fcharset0 Arial Narrow;}}{\colortbl\red0\green0\blue0;}{\f0\fs60\b\cf0 How to Configure Packet Filters\par}}"/>
  <p:tag name="PPWINSEGMENT1TARGETRTF" val="{\rtf1\ansi\deff1{\fonttbl{\f1\fcharset0 Arial;}{\f2\fcharset0 Arial Narrow;}}{\colortbl\red0\green0\blue0;}{\f2\fs60\b\cf0 Comment configurer les filtres de paquets\par}}"/>
  <p:tag name="PPWINLASTSAVEDTRANSLATION" val="Comment configurer les filtres de paquets"/>
  <p:tag name="PPWINALREADYSEGMENTED" val="True"/>
  <p:tag name="PPWINTOTALSEGMENTS" val="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11186</TotalTime>
  <Words>701</Words>
  <Application>Microsoft PowerPoint</Application>
  <PresentationFormat>Affichage à l'écran (4:3)</PresentationFormat>
  <Paragraphs>144</Paragraphs>
  <Slides>24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0" baseType="lpstr">
      <vt:lpstr>Arial</vt:lpstr>
      <vt:lpstr>Arial Narrow</vt:lpstr>
      <vt:lpstr>Wingdings</vt:lpstr>
      <vt:lpstr>Georgia</vt:lpstr>
      <vt:lpstr>Wingdings 2</vt:lpstr>
      <vt:lpstr>Civil</vt:lpstr>
      <vt:lpstr>Diapositive 1</vt:lpstr>
      <vt:lpstr>Plan du cours</vt:lpstr>
      <vt:lpstr>Rôle du routage dans l'infrastructure réseau</vt:lpstr>
      <vt:lpstr>Activation et configuration du service Routage et accès distant</vt:lpstr>
      <vt:lpstr>Que sont les routeurs ?</vt:lpstr>
      <vt:lpstr>Que sont les routeurs ?</vt:lpstr>
      <vt:lpstr>Que sont les routeurs ?</vt:lpstr>
      <vt:lpstr>Que sont les interfaces de routage ?</vt:lpstr>
      <vt:lpstr>Que sont les protocoles de routage ?</vt:lpstr>
      <vt:lpstr>Que sont les protocoles de routage ?</vt:lpstr>
      <vt:lpstr>Que sont les protocoles de routage ?</vt:lpstr>
      <vt:lpstr>Que sont les tables de routage ?</vt:lpstr>
      <vt:lpstr>Pourquoi utiliser le service Routage et accès distant de Windows Server 2003 ?</vt:lpstr>
      <vt:lpstr>Pourquoi utiliser le service Routage et accès distant de Windows Server 2003 ?</vt:lpstr>
      <vt:lpstr>Pourquoi utiliser le service Routage et accès distant de Windows Server 2003 ?</vt:lpstr>
      <vt:lpstr>Comment activer et configurer le service Routage et accès distant</vt:lpstr>
      <vt:lpstr>Comment ajouter un protocole de routage</vt:lpstr>
      <vt:lpstr>Comment ajouter une interface de routage à un protocole de routage</vt:lpstr>
      <vt:lpstr>Configuration des filtres de paquets</vt:lpstr>
      <vt:lpstr>Qu'est-ce que le filtrage des paquets ?</vt:lpstr>
      <vt:lpstr>Qu'est-ce que le filtrage des paquets ?</vt:lpstr>
      <vt:lpstr>Comment les filtres de paquets sont-ils appliqués ?</vt:lpstr>
      <vt:lpstr>Comment configurer les filtres de paquets</vt:lpstr>
      <vt:lpstr>Exercices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Configuring Routing by Using Routing and Remote Access</dc:title>
  <dc:creator>Brenna Calnan</dc:creator>
  <cp:lastModifiedBy>Halima</cp:lastModifiedBy>
  <cp:revision>336</cp:revision>
  <dcterms:created xsi:type="dcterms:W3CDTF">2002-08-14T18:05:55Z</dcterms:created>
  <dcterms:modified xsi:type="dcterms:W3CDTF">2015-10-29T18:26:13Z</dcterms:modified>
</cp:coreProperties>
</file>