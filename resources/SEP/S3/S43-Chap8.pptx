
<file path=[Content_Types].xml><?xml version="1.0" encoding="utf-8"?>
<Types xmlns="http://schemas.openxmlformats.org/package/2006/content-types">
  <Override PartName="/ppt/tags/tag8.xml" ContentType="application/vnd.openxmlformats-officedocument.presentationml.tags+xml"/>
  <Override PartName="/ppt/notesSlides/notesSlide2.xml" ContentType="application/vnd.openxmlformats-officedocument.presentationml.notesSlide+xml"/>
  <Override PartName="/ppt/slides/slide4.xml" ContentType="application/vnd.openxmlformats-officedocument.presentationml.slide+xml"/>
  <Override PartName="/ppt/slideLayouts/slideLayout6.xml" ContentType="application/vnd.openxmlformats-officedocument.presentationml.slideLayout+xml"/>
  <Override PartName="/ppt/tags/tag4.xml" ContentType="application/vnd.openxmlformats-officedocument.presentationml.tags+xml"/>
  <Override PartName="/ppt/theme/theme1.xml" ContentType="application/vnd.openxmlformats-officedocument.theme+xml"/>
  <Override PartName="/ppt/slideLayouts/slideLayout2.xml" ContentType="application/vnd.openxmlformats-officedocument.presentationml.slideLayout+xml"/>
  <Override PartName="/ppt/tags/tag49.xml" ContentType="application/vnd.openxmlformats-officedocument.presentationml.tags+xml"/>
  <Override PartName="/ppt/tags/tag78.xml" ContentType="application/vnd.openxmlformats-officedocument.presentationml.tags+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Default Extension="fntdata" ContentType="application/x-fontdata"/>
  <Override PartName="/ppt/tags/tag38.xml" ContentType="application/vnd.openxmlformats-officedocument.presentationml.tags+xml"/>
  <Override PartName="/ppt/tags/tag56.xml" ContentType="application/vnd.openxmlformats-officedocument.presentationml.tags+xml"/>
  <Override PartName="/ppt/tags/tag67.xml" ContentType="application/vnd.openxmlformats-officedocument.presentationml.tags+xml"/>
  <Override PartName="/ppt/notesSlides/notesSlide16.xml" ContentType="application/vnd.openxmlformats-officedocument.presentationml.notesSlide+xml"/>
  <Override PartName="/ppt/tags/tag85.xml" ContentType="application/vnd.openxmlformats-officedocument.presentationml.tags+xml"/>
  <Override PartName="/ppt/slides/slide10.xml" ContentType="application/vnd.openxmlformats-officedocument.presentationml.slide+xml"/>
  <Override PartName="/ppt/tableStyles.xml" ContentType="application/vnd.openxmlformats-officedocument.presentationml.tableStyles+xml"/>
  <Override PartName="/ppt/tags/tag16.xml" ContentType="application/vnd.openxmlformats-officedocument.presentationml.tags+xml"/>
  <Override PartName="/ppt/tags/tag27.xml" ContentType="application/vnd.openxmlformats-officedocument.presentationml.tags+xml"/>
  <Override PartName="/ppt/tags/tag45.xml" ContentType="application/vnd.openxmlformats-officedocument.presentationml.tags+xml"/>
  <Override PartName="/ppt/tags/tag63.xml" ContentType="application/vnd.openxmlformats-officedocument.presentationml.tags+xml"/>
  <Override PartName="/ppt/tags/tag74.xml" ContentType="application/vnd.openxmlformats-officedocument.presentationml.tags+xml"/>
  <Override PartName="/ppt/tags/tag34.xml" ContentType="application/vnd.openxmlformats-officedocument.presentationml.tags+xml"/>
  <Override PartName="/ppt/notesSlides/notesSlide12.xml" ContentType="application/vnd.openxmlformats-officedocument.presentationml.notesSlide+xml"/>
  <Override PartName="/ppt/tags/tag52.xml" ContentType="application/vnd.openxmlformats-officedocument.presentationml.tags+xml"/>
  <Override PartName="/ppt/tags/tag81.xml" ContentType="application/vnd.openxmlformats-officedocument.presentationml.tags+xml"/>
  <Override PartName="/ppt/tags/tag12.xml" ContentType="application/vnd.openxmlformats-officedocument.presentationml.tags+xml"/>
  <Override PartName="/ppt/tags/tag23.xml" ContentType="application/vnd.openxmlformats-officedocument.presentationml.tags+xml"/>
  <Override PartName="/ppt/notesSlides/notesSlide7.xml" ContentType="application/vnd.openxmlformats-officedocument.presentationml.notesSlide+xml"/>
  <Override PartName="/ppt/tags/tag41.xml" ContentType="application/vnd.openxmlformats-officedocument.presentationml.tags+xml"/>
  <Override PartName="/ppt/tags/tag70.xml" ContentType="application/vnd.openxmlformats-officedocument.presentationml.tags+xml"/>
  <Override PartName="/ppt/slides/slide9.xml" ContentType="application/vnd.openxmlformats-officedocument.presentationml.slide+xml"/>
  <Override PartName="/ppt/viewProps.xml" ContentType="application/vnd.openxmlformats-officedocument.presentationml.viewProps+xml"/>
  <Override PartName="/ppt/tags/tag9.xml" ContentType="application/vnd.openxmlformats-officedocument.presentationml.tags+xml"/>
  <Override PartName="/ppt/tags/tag30.xml" ContentType="application/vnd.openxmlformats-officedocument.presentationml.tags+xml"/>
  <Override PartName="/ppt/slides/slide5.xml" ContentType="application/vnd.openxmlformats-officedocument.presentationml.slide+xml"/>
  <Override PartName="/ppt/slideLayouts/slideLayout7.xml" ContentType="application/vnd.openxmlformats-officedocument.presentationml.slideLayout+xml"/>
  <Override PartName="/ppt/notesSlides/notesSlide3.xml" ContentType="application/vnd.openxmlformats-officedocument.presentationml.notesSlide+xml"/>
  <Default Extension="png" ContentType="image/png"/>
  <Override PartName="/ppt/presProps.xml" ContentType="application/vnd.openxmlformats-officedocument.presentationml.presProps+xml"/>
  <Override PartName="/ppt/theme/theme2.xml" ContentType="application/vnd.openxmlformats-officedocument.theme+xml"/>
  <Override PartName="/ppt/tags/tag5.xml" ContentType="application/vnd.openxmlformats-officedocument.presentationml.tags+xml"/>
  <Override PartName="/ppt/tags/tag79.xml" ContentType="application/vnd.openxmlformats-officedocument.presentationml.tags+xml"/>
  <Override PartName="/ppt/slides/slide1.xml" ContentType="application/vnd.openxmlformats-officedocument.presentationml.slide+xml"/>
  <Override PartName="/ppt/slides/slide15.xml" ContentType="application/vnd.openxmlformats-officedocument.presentationml.slide+xml"/>
  <Default Extension="jpeg" ContentType="image/jpeg"/>
  <Override PartName="/ppt/slideLayouts/slideLayout3.xml" ContentType="application/vnd.openxmlformats-officedocument.presentationml.slideLayout+xml"/>
  <Override PartName="/ppt/tags/tag3.xml" ContentType="application/vnd.openxmlformats-officedocument.presentationml.tags+xml"/>
  <Default Extension="emf" ContentType="image/x-emf"/>
  <Override PartName="/ppt/tags/tag39.xml" ContentType="application/vnd.openxmlformats-officedocument.presentationml.tags+xml"/>
  <Override PartName="/ppt/tags/tag59.xml" ContentType="application/vnd.openxmlformats-officedocument.presentationml.tags+xml"/>
  <Override PartName="/ppt/tags/tag68.xml" ContentType="application/vnd.openxmlformats-officedocument.presentationml.tags+xml"/>
  <Override PartName="/ppt/tags/tag77.xml" ContentType="application/vnd.openxmlformats-officedocument.presentationml.tags+xml"/>
  <Override PartName="/ppt/tags/tag86.xml" ContentType="application/vnd.openxmlformats-officedocument.presentationml.tags+xml"/>
  <Override PartName="/ppt/notesSlides/notesSlide17.xml" ContentType="application/vnd.openxmlformats-officedocument.presentationml.notesSlide+xml"/>
  <Override PartName="/ppt/tags/tag88.xml" ContentType="application/vnd.openxmlformats-officedocument.presentationml.tags+xml"/>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ppt/tags/tag1.xml" ContentType="application/vnd.openxmlformats-officedocument.presentationml.tags+xml"/>
  <Override PartName="/ppt/tags/tag19.xml" ContentType="application/vnd.openxmlformats-officedocument.presentationml.tags+xml"/>
  <Override PartName="/ppt/tags/tag28.xml" ContentType="application/vnd.openxmlformats-officedocument.presentationml.tags+xml"/>
  <Override PartName="/ppt/tags/tag37.xml" ContentType="application/vnd.openxmlformats-officedocument.presentationml.tags+xml"/>
  <Override PartName="/ppt/tags/tag48.xml" ContentType="application/vnd.openxmlformats-officedocument.presentationml.tags+xml"/>
  <Override PartName="/ppt/tags/tag57.xml" ContentType="application/vnd.openxmlformats-officedocument.presentationml.tags+xml"/>
  <Override PartName="/ppt/tags/tag66.xml" ContentType="application/vnd.openxmlformats-officedocument.presentationml.tags+xml"/>
  <Override PartName="/ppt/tags/tag75.xml" ContentType="application/vnd.openxmlformats-officedocument.presentationml.tags+xml"/>
  <Override PartName="/ppt/notesSlides/notesSlide15.xml" ContentType="application/vnd.openxmlformats-officedocument.presentationml.notesSlide+xml"/>
  <Override PartName="/ppt/tags/tag84.xml" ContentType="application/vnd.openxmlformats-officedocument.presentationml.tags+xml"/>
  <Override PartName="/docProps/app.xml" ContentType="application/vnd.openxmlformats-officedocument.extended-properties+xml"/>
  <Override PartName="/ppt/slides/slide11.xml" ContentType="application/vnd.openxmlformats-officedocument.presentationml.slide+xml"/>
  <Override PartName="/ppt/slideLayouts/slideLayout12.xml" ContentType="application/vnd.openxmlformats-officedocument.presentationml.slideLayout+xml"/>
  <Override PartName="/ppt/tags/tag17.xml" ContentType="application/vnd.openxmlformats-officedocument.presentationml.tags+xml"/>
  <Override PartName="/ppt/tags/tag26.xml" ContentType="application/vnd.openxmlformats-officedocument.presentationml.tags+xml"/>
  <Override PartName="/ppt/tags/tag35.xml" ContentType="application/vnd.openxmlformats-officedocument.presentationml.tags+xml"/>
  <Override PartName="/ppt/tags/tag46.xml" ContentType="application/vnd.openxmlformats-officedocument.presentationml.tags+xml"/>
  <Override PartName="/ppt/tags/tag55.xml" ContentType="application/vnd.openxmlformats-officedocument.presentationml.tags+xml"/>
  <Override PartName="/ppt/tags/tag64.xml" ContentType="application/vnd.openxmlformats-officedocument.presentationml.tags+xml"/>
  <Override PartName="/ppt/notesSlides/notesSlide13.xml" ContentType="application/vnd.openxmlformats-officedocument.presentationml.notesSlide+xml"/>
  <Override PartName="/ppt/tags/tag73.xml" ContentType="application/vnd.openxmlformats-officedocument.presentationml.tags+xml"/>
  <Override PartName="/ppt/tags/tag82.xml" ContentType="application/vnd.openxmlformats-officedocument.presentationml.tags+xml"/>
  <Override PartName="/ppt/slideLayouts/slideLayout10.xml" ContentType="application/vnd.openxmlformats-officedocument.presentationml.slideLayout+xml"/>
  <Override PartName="/ppt/tags/tag15.xml" ContentType="application/vnd.openxmlformats-officedocument.presentationml.tags+xml"/>
  <Override PartName="/ppt/tags/tag24.xml" ContentType="application/vnd.openxmlformats-officedocument.presentationml.tags+xml"/>
  <Override PartName="/ppt/tags/tag33.xml" ContentType="application/vnd.openxmlformats-officedocument.presentationml.tags+xml"/>
  <Override PartName="/ppt/notesSlides/notesSlide8.xml" ContentType="application/vnd.openxmlformats-officedocument.presentationml.notesSlide+xml"/>
  <Override PartName="/ppt/notesSlides/notesSlide11.xml" ContentType="application/vnd.openxmlformats-officedocument.presentationml.notesSlide+xml"/>
  <Override PartName="/ppt/tags/tag44.xml" ContentType="application/vnd.openxmlformats-officedocument.presentationml.tags+xml"/>
  <Override PartName="/ppt/tags/tag53.xml" ContentType="application/vnd.openxmlformats-officedocument.presentationml.tags+xml"/>
  <Override PartName="/ppt/tags/tag62.xml" ContentType="application/vnd.openxmlformats-officedocument.presentationml.tags+xml"/>
  <Override PartName="/ppt/tags/tag71.xml" ContentType="application/vnd.openxmlformats-officedocument.presentationml.tags+xml"/>
  <Override PartName="/ppt/tags/tag80.xml" ContentType="application/vnd.openxmlformats-officedocument.presentationml.tags+xml"/>
  <Override PartName="/ppt/tags/tag13.xml" ContentType="application/vnd.openxmlformats-officedocument.presentationml.tags+xml"/>
  <Override PartName="/ppt/tags/tag22.xml" ContentType="application/vnd.openxmlformats-officedocument.presentationml.tags+xml"/>
  <Override PartName="/ppt/notesSlides/notesSlide6.xml" ContentType="application/vnd.openxmlformats-officedocument.presentationml.notesSlide+xml"/>
  <Override PartName="/ppt/tags/tag31.xml" ContentType="application/vnd.openxmlformats-officedocument.presentationml.tags+xml"/>
  <Override PartName="/ppt/tags/tag40.xml" ContentType="application/vnd.openxmlformats-officedocument.presentationml.tags+xml"/>
  <Override PartName="/ppt/tags/tag42.xml" ContentType="application/vnd.openxmlformats-officedocument.presentationml.tags+xml"/>
  <Override PartName="/ppt/tags/tag51.xml" ContentType="application/vnd.openxmlformats-officedocument.presentationml.tags+xml"/>
  <Override PartName="/ppt/tags/tag60.xml" ContentType="application/vnd.openxmlformats-officedocument.presentationml.tags+xml"/>
  <Override PartName="/ppt/slides/slide8.xml" ContentType="application/vnd.openxmlformats-officedocument.presentationml.slide+xml"/>
  <Override PartName="/ppt/handoutMasters/handoutMaster1.xml" ContentType="application/vnd.openxmlformats-officedocument.presentationml.handoutMaster+xml"/>
  <Override PartName="/ppt/tags/tag11.xml" ContentType="application/vnd.openxmlformats-officedocument.presentationml.tags+xml"/>
  <Override PartName="/ppt/notesSlides/notesSlide4.xml" ContentType="application/vnd.openxmlformats-officedocument.presentationml.notesSlide+xml"/>
  <Override PartName="/ppt/tags/tag20.xml" ContentType="application/vnd.openxmlformats-officedocument.presentationml.tags+xml"/>
  <Override PartName="/docProps/core.xml" ContentType="application/vnd.openxmlformats-package.core-properties+xml"/>
  <Override PartName="/ppt/slides/slide6.xml" ContentType="application/vnd.openxmlformats-officedocument.presentationml.slide+xml"/>
  <Override PartName="/ppt/slideLayouts/slideLayout8.xml" ContentType="application/vnd.openxmlformats-officedocument.presentationml.slideLayout+xml"/>
  <Override PartName="/ppt/tags/tag6.xml" ContentType="application/vnd.openxmlformats-officedocument.presentationml.tags+xml"/>
  <Override PartName="/ppt/slideMasters/slideMaster1.xml" ContentType="application/vnd.openxmlformats-officedocument.presentationml.slideMaster+xml"/>
  <Override PartName="/ppt/slideLayouts/slideLayout4.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tags/tag2.xml" ContentType="application/vnd.openxmlformats-officedocument.presentationml.tags+xml"/>
  <Override PartName="/ppt/tags/tag58.xml" ContentType="application/vnd.openxmlformats-officedocument.presentationml.tags+xml"/>
  <Override PartName="/ppt/tags/tag69.xml" ContentType="application/vnd.openxmlformats-officedocument.presentationml.tags+xml"/>
  <Override PartName="/ppt/tags/tag87.xml" ContentType="application/vnd.openxmlformats-officedocument.presentationml.tags+xml"/>
  <Default Extension="rels" ContentType="application/vnd.openxmlformats-package.relationships+xml"/>
  <Override PartName="/ppt/tags/tag29.xml" ContentType="application/vnd.openxmlformats-officedocument.presentationml.tags+xml"/>
  <Override PartName="/ppt/tags/tag47.xml" ContentType="application/vnd.openxmlformats-officedocument.presentationml.tags+xml"/>
  <Override PartName="/ppt/tags/tag76.xml" ContentType="application/vnd.openxmlformats-officedocument.presentationml.tags+xml"/>
  <Override PartName="/ppt/slides/slide12.xml" ContentType="application/vnd.openxmlformats-officedocument.presentationml.slide+xml"/>
  <Override PartName="/ppt/slideLayouts/slideLayout11.xml" ContentType="application/vnd.openxmlformats-officedocument.presentationml.slideLayout+xml"/>
  <Override PartName="/ppt/tags/tag18.xml" ContentType="application/vnd.openxmlformats-officedocument.presentationml.tags+xml"/>
  <Override PartName="/ppt/tags/tag36.xml" ContentType="application/vnd.openxmlformats-officedocument.presentationml.tags+xml"/>
  <Override PartName="/ppt/tags/tag54.xml" ContentType="application/vnd.openxmlformats-officedocument.presentationml.tags+xml"/>
  <Override PartName="/ppt/tags/tag65.xml" ContentType="application/vnd.openxmlformats-officedocument.presentationml.tags+xml"/>
  <Override PartName="/ppt/notesSlides/notesSlide14.xml" ContentType="application/vnd.openxmlformats-officedocument.presentationml.notesSlide+xml"/>
  <Override PartName="/ppt/tags/tag83.xml" ContentType="application/vnd.openxmlformats-officedocument.presentationml.tags+xml"/>
  <Override PartName="/ppt/commentAuthors.xml" ContentType="application/vnd.openxmlformats-officedocument.presentationml.commentAuthors+xml"/>
  <Override PartName="/ppt/tags/tag14.xml" ContentType="application/vnd.openxmlformats-officedocument.presentationml.tags+xml"/>
  <Override PartName="/ppt/tags/tag25.xml" ContentType="application/vnd.openxmlformats-officedocument.presentationml.tags+xml"/>
  <Override PartName="/ppt/notesSlides/notesSlide9.xml" ContentType="application/vnd.openxmlformats-officedocument.presentationml.notesSlide+xml"/>
  <Override PartName="/ppt/tags/tag43.xml" ContentType="application/vnd.openxmlformats-officedocument.presentationml.tags+xml"/>
  <Override PartName="/ppt/tags/tag61.xml" ContentType="application/vnd.openxmlformats-officedocument.presentationml.tags+xml"/>
  <Override PartName="/ppt/tags/tag72.xml" ContentType="application/vnd.openxmlformats-officedocument.presentationml.tags+xml"/>
  <Override PartName="/ppt/tags/tag32.xml" ContentType="application/vnd.openxmlformats-officedocument.presentationml.tags+xml"/>
  <Override PartName="/ppt/notesSlides/notesSlide10.xml" ContentType="application/vnd.openxmlformats-officedocument.presentationml.notesSlide+xml"/>
  <Override PartName="/ppt/tags/tag50.xml" ContentType="application/vnd.openxmlformats-officedocument.presentationml.tags+xml"/>
  <Override PartName="/ppt/slides/slide7.xml" ContentType="application/vnd.openxmlformats-officedocument.presentationml.slide+xml"/>
  <Override PartName="/ppt/slideLayouts/slideLayout9.xml" ContentType="application/vnd.openxmlformats-officedocument.presentationml.slideLayout+xml"/>
  <Override PartName="/ppt/tags/tag10.xml" ContentType="application/vnd.openxmlformats-officedocument.presentationml.tags+xml"/>
  <Override PartName="/ppt/tags/tag21.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Layouts/slideLayout5.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75" r:id="rId1"/>
  </p:sldMasterIdLst>
  <p:notesMasterIdLst>
    <p:notesMasterId r:id="rId19"/>
  </p:notesMasterIdLst>
  <p:handoutMasterIdLst>
    <p:handoutMasterId r:id="rId20"/>
  </p:handoutMasterIdLst>
  <p:sldIdLst>
    <p:sldId id="256" r:id="rId2"/>
    <p:sldId id="302" r:id="rId3"/>
    <p:sldId id="361" r:id="rId4"/>
    <p:sldId id="393" r:id="rId5"/>
    <p:sldId id="384" r:id="rId6"/>
    <p:sldId id="407" r:id="rId7"/>
    <p:sldId id="381" r:id="rId8"/>
    <p:sldId id="385" r:id="rId9"/>
    <p:sldId id="404" r:id="rId10"/>
    <p:sldId id="405" r:id="rId11"/>
    <p:sldId id="399" r:id="rId12"/>
    <p:sldId id="394" r:id="rId13"/>
    <p:sldId id="398" r:id="rId14"/>
    <p:sldId id="383" r:id="rId15"/>
    <p:sldId id="366" r:id="rId16"/>
    <p:sldId id="403" r:id="rId17"/>
    <p:sldId id="367" r:id="rId18"/>
  </p:sldIdLst>
  <p:sldSz cx="9144000" cy="6858000" type="screen4x3"/>
  <p:notesSz cx="6997700" cy="9283700"/>
  <p:embeddedFontLst>
    <p:embeddedFont>
      <p:font typeface="Georgia" pitchFamily="18" charset="0"/>
      <p:regular r:id="rId21"/>
      <p:bold r:id="rId22"/>
      <p:italic r:id="rId23"/>
      <p:boldItalic r:id="rId24"/>
    </p:embeddedFont>
    <p:embeddedFont>
      <p:font typeface="Arial Narrow" pitchFamily="34" charset="0"/>
      <p:regular r:id="rId25"/>
      <p:bold r:id="rId26"/>
      <p:italic r:id="rId27"/>
      <p:boldItalic r:id="rId28"/>
    </p:embeddedFont>
    <p:embeddedFont>
      <p:font typeface="Wingdings 2" pitchFamily="18" charset="2"/>
      <p:regular r:id="rId29"/>
    </p:embeddedFont>
  </p:embeddedFontLst>
  <p:defaultTextStyle>
    <a:defPPr>
      <a:defRPr lang="en-US"/>
    </a:defPPr>
    <a:lvl1pPr algn="ctr" rtl="0" eaLnBrk="0" fontAlgn="base" hangingPunct="0">
      <a:spcBef>
        <a:spcPct val="0"/>
      </a:spcBef>
      <a:spcAft>
        <a:spcPct val="0"/>
      </a:spcAft>
      <a:defRPr b="1" kern="1200">
        <a:solidFill>
          <a:schemeClr val="tx1"/>
        </a:solidFill>
        <a:latin typeface="Arial Narrow" pitchFamily="34" charset="0"/>
        <a:ea typeface="+mn-ea"/>
        <a:cs typeface="+mn-cs"/>
      </a:defRPr>
    </a:lvl1pPr>
    <a:lvl2pPr marL="457200" algn="ctr" rtl="0" eaLnBrk="0" fontAlgn="base" hangingPunct="0">
      <a:spcBef>
        <a:spcPct val="0"/>
      </a:spcBef>
      <a:spcAft>
        <a:spcPct val="0"/>
      </a:spcAft>
      <a:defRPr b="1" kern="1200">
        <a:solidFill>
          <a:schemeClr val="tx1"/>
        </a:solidFill>
        <a:latin typeface="Arial Narrow" pitchFamily="34" charset="0"/>
        <a:ea typeface="+mn-ea"/>
        <a:cs typeface="+mn-cs"/>
      </a:defRPr>
    </a:lvl2pPr>
    <a:lvl3pPr marL="914400" algn="ctr" rtl="0" eaLnBrk="0" fontAlgn="base" hangingPunct="0">
      <a:spcBef>
        <a:spcPct val="0"/>
      </a:spcBef>
      <a:spcAft>
        <a:spcPct val="0"/>
      </a:spcAft>
      <a:defRPr b="1" kern="1200">
        <a:solidFill>
          <a:schemeClr val="tx1"/>
        </a:solidFill>
        <a:latin typeface="Arial Narrow" pitchFamily="34" charset="0"/>
        <a:ea typeface="+mn-ea"/>
        <a:cs typeface="+mn-cs"/>
      </a:defRPr>
    </a:lvl3pPr>
    <a:lvl4pPr marL="1371600" algn="ctr" rtl="0" eaLnBrk="0" fontAlgn="base" hangingPunct="0">
      <a:spcBef>
        <a:spcPct val="0"/>
      </a:spcBef>
      <a:spcAft>
        <a:spcPct val="0"/>
      </a:spcAft>
      <a:defRPr b="1" kern="1200">
        <a:solidFill>
          <a:schemeClr val="tx1"/>
        </a:solidFill>
        <a:latin typeface="Arial Narrow" pitchFamily="34" charset="0"/>
        <a:ea typeface="+mn-ea"/>
        <a:cs typeface="+mn-cs"/>
      </a:defRPr>
    </a:lvl4pPr>
    <a:lvl5pPr marL="1828800" algn="ctr" rtl="0" eaLnBrk="0" fontAlgn="base" hangingPunct="0">
      <a:spcBef>
        <a:spcPct val="0"/>
      </a:spcBef>
      <a:spcAft>
        <a:spcPct val="0"/>
      </a:spcAft>
      <a:defRPr b="1" kern="1200">
        <a:solidFill>
          <a:schemeClr val="tx1"/>
        </a:solidFill>
        <a:latin typeface="Arial Narrow" pitchFamily="34" charset="0"/>
        <a:ea typeface="+mn-ea"/>
        <a:cs typeface="+mn-cs"/>
      </a:defRPr>
    </a:lvl5pPr>
    <a:lvl6pPr marL="2286000" algn="l" defTabSz="914400" rtl="0" eaLnBrk="1" latinLnBrk="0" hangingPunct="1">
      <a:defRPr b="1" kern="1200">
        <a:solidFill>
          <a:schemeClr val="tx1"/>
        </a:solidFill>
        <a:latin typeface="Arial Narrow" pitchFamily="34" charset="0"/>
        <a:ea typeface="+mn-ea"/>
        <a:cs typeface="+mn-cs"/>
      </a:defRPr>
    </a:lvl6pPr>
    <a:lvl7pPr marL="2743200" algn="l" defTabSz="914400" rtl="0" eaLnBrk="1" latinLnBrk="0" hangingPunct="1">
      <a:defRPr b="1" kern="1200">
        <a:solidFill>
          <a:schemeClr val="tx1"/>
        </a:solidFill>
        <a:latin typeface="Arial Narrow" pitchFamily="34" charset="0"/>
        <a:ea typeface="+mn-ea"/>
        <a:cs typeface="+mn-cs"/>
      </a:defRPr>
    </a:lvl7pPr>
    <a:lvl8pPr marL="3200400" algn="l" defTabSz="914400" rtl="0" eaLnBrk="1" latinLnBrk="0" hangingPunct="1">
      <a:defRPr b="1" kern="1200">
        <a:solidFill>
          <a:schemeClr val="tx1"/>
        </a:solidFill>
        <a:latin typeface="Arial Narrow" pitchFamily="34" charset="0"/>
        <a:ea typeface="+mn-ea"/>
        <a:cs typeface="+mn-cs"/>
      </a:defRPr>
    </a:lvl8pPr>
    <a:lvl9pPr marL="3657600" algn="l" defTabSz="914400" rtl="0" eaLnBrk="1" latinLnBrk="0" hangingPunct="1">
      <a:defRPr b="1" kern="1200">
        <a:solidFill>
          <a:schemeClr val="tx1"/>
        </a:solidFill>
        <a:latin typeface="Arial Narrow" pitchFamily="34" charset="0"/>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renna Calnan" initials="" lastIdx="18" clrIdx="0"/>
  <p:cmAuthor id="1" name="Joern Wettern" initials="" lastIdx="4" clrIdx="1"/>
  <p:cmAuthor id="2" name="Sharon Salavaria" initials="" lastIdx="1" clrIdx="2"/>
  <p:cmAuthor id="3" name="Julie Devine" initials="" lastIdx="2" clrIdx="3"/>
  <p:cmAuthor id="4" name="Kelley Umphrey" initials="" lastIdx="2" clrIdx="4"/>
  <p:cmAuthor id="5" name="eliree" initials="" lastIdx="5" clrIdx="5"/>
  <p:cmAuthor id="6" name="ESM" initials="" lastIdx="11" clrIdx="6"/>
</p:cmAuthorLst>
</file>

<file path=ppt/presProps.xml><?xml version="1.0" encoding="utf-8"?>
<p:presentationPr xmlns:a="http://schemas.openxmlformats.org/drawingml/2006/main" xmlns:r="http://schemas.openxmlformats.org/officeDocument/2006/relationships" xmlns:p="http://schemas.openxmlformats.org/presentationml/2006/main">
  <p:webPr encoding="windows-1252"/>
  <p:clrMru>
    <a:srgbClr val="DAF4E9"/>
    <a:srgbClr val="F6D9D4"/>
    <a:srgbClr val="EEEFD7"/>
    <a:srgbClr val="D5D69C"/>
    <a:srgbClr val="FF00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vertBarState="minimized" horzBarState="maximized">
    <p:restoredLeft sz="15620" autoAdjust="0"/>
    <p:restoredTop sz="94660" autoAdjust="0"/>
  </p:normalViewPr>
  <p:slideViewPr>
    <p:cSldViewPr snapToGrid="0">
      <p:cViewPr>
        <p:scale>
          <a:sx n="66" d="100"/>
          <a:sy n="66" d="100"/>
        </p:scale>
        <p:origin x="-1002" y="-30"/>
      </p:cViewPr>
      <p:guideLst>
        <p:guide orient="horz" pos="848"/>
        <p:guide pos="1682"/>
        <p:guide pos="451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p:cViewPr varScale="1">
        <p:scale>
          <a:sx n="34" d="100"/>
          <a:sy n="34" d="100"/>
        </p:scale>
        <p:origin x="-2322" y="-78"/>
      </p:cViewPr>
      <p:guideLst>
        <p:guide orient="horz" pos="2924"/>
        <p:guide pos="2204"/>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theme" Target="../theme/theme3.xml"/><Relationship Id="rId5" Type="http://schemas.openxmlformats.org/officeDocument/2006/relationships/tags" Target="../tags/tag9.xml"/><Relationship Id="rId4" Type="http://schemas.openxmlformats.org/officeDocument/2006/relationships/tags" Target="../tags/tag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9554" name="Rectangle 2"/>
          <p:cNvSpPr>
            <a:spLocks noGrp="1" noChangeArrowheads="1"/>
          </p:cNvSpPr>
          <p:nvPr>
            <p:ph type="hdr" sz="quarter"/>
            <p:custDataLst>
              <p:tags r:id="rId2"/>
            </p:custDataLst>
          </p:nvPr>
        </p:nvSpPr>
        <p:spPr bwMode="auto">
          <a:xfrm>
            <a:off x="0" y="0"/>
            <a:ext cx="3032125" cy="4635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b="0">
                <a:latin typeface="Arial" charset="0"/>
              </a:defRPr>
            </a:lvl1pPr>
          </a:lstStyle>
          <a:p>
            <a:endParaRPr lang="en-US"/>
          </a:p>
        </p:txBody>
      </p:sp>
      <p:sp>
        <p:nvSpPr>
          <p:cNvPr id="279555" name="Rectangle 3"/>
          <p:cNvSpPr>
            <a:spLocks noGrp="1" noChangeArrowheads="1"/>
          </p:cNvSpPr>
          <p:nvPr>
            <p:ph type="dt" sz="quarter" idx="1"/>
            <p:custDataLst>
              <p:tags r:id="rId3"/>
            </p:custDataLst>
          </p:nvPr>
        </p:nvSpPr>
        <p:spPr bwMode="auto">
          <a:xfrm>
            <a:off x="3963988" y="0"/>
            <a:ext cx="3032125" cy="4635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b="0">
                <a:latin typeface="Arial" charset="0"/>
              </a:defRPr>
            </a:lvl1pPr>
          </a:lstStyle>
          <a:p>
            <a:endParaRPr lang="en-US"/>
          </a:p>
        </p:txBody>
      </p:sp>
      <p:sp>
        <p:nvSpPr>
          <p:cNvPr id="279556" name="Rectangle 4"/>
          <p:cNvSpPr>
            <a:spLocks noGrp="1" noChangeArrowheads="1"/>
          </p:cNvSpPr>
          <p:nvPr>
            <p:ph type="ftr" sz="quarter" idx="2"/>
            <p:custDataLst>
              <p:tags r:id="rId4"/>
            </p:custDataLst>
          </p:nvPr>
        </p:nvSpPr>
        <p:spPr bwMode="auto">
          <a:xfrm>
            <a:off x="0" y="8818563"/>
            <a:ext cx="3032125" cy="4635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b="0">
                <a:latin typeface="Arial" charset="0"/>
              </a:defRPr>
            </a:lvl1pPr>
          </a:lstStyle>
          <a:p>
            <a:endParaRPr lang="en-US"/>
          </a:p>
        </p:txBody>
      </p:sp>
      <p:sp>
        <p:nvSpPr>
          <p:cNvPr id="279557" name="Rectangle 5"/>
          <p:cNvSpPr>
            <a:spLocks noGrp="1" noChangeArrowheads="1"/>
          </p:cNvSpPr>
          <p:nvPr>
            <p:ph type="sldNum" sz="quarter" idx="3"/>
            <p:custDataLst>
              <p:tags r:id="rId5"/>
            </p:custDataLst>
          </p:nvPr>
        </p:nvSpPr>
        <p:spPr bwMode="auto">
          <a:xfrm>
            <a:off x="3963988" y="8818563"/>
            <a:ext cx="3032125" cy="4635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b="0">
                <a:latin typeface="Arial" charset="0"/>
              </a:defRPr>
            </a:lvl1pPr>
          </a:lstStyle>
          <a:p>
            <a:fld id="{28A5487F-1D68-4B69-BB77-D8B8EF0BB9E8}" type="slidenum">
              <a:rPr lang="en-US"/>
              <a:pPr/>
              <a:t>‹N°›</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theme" Target="../theme/theme2.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482" name="Rectangle 2"/>
          <p:cNvSpPr>
            <a:spLocks noGrp="1" noChangeArrowheads="1"/>
          </p:cNvSpPr>
          <p:nvPr>
            <p:ph type="hdr" sz="quarter"/>
            <p:custDataLst>
              <p:tags r:id="rId2"/>
            </p:custDataLst>
          </p:nvPr>
        </p:nvSpPr>
        <p:spPr bwMode="auto">
          <a:xfrm>
            <a:off x="0" y="0"/>
            <a:ext cx="3032125" cy="463550"/>
          </a:xfrm>
          <a:prstGeom prst="rect">
            <a:avLst/>
          </a:prstGeom>
          <a:noFill/>
          <a:ln w="9525">
            <a:noFill/>
            <a:miter lim="800000"/>
            <a:headEnd/>
            <a:tailEnd/>
          </a:ln>
          <a:effectLst/>
        </p:spPr>
        <p:txBody>
          <a:bodyPr vert="horz" wrap="square" lIns="92711" tIns="46356" rIns="92711" bIns="46356" numCol="1" anchor="t" anchorCtr="0" compatLnSpc="1">
            <a:prstTxWarp prst="textNoShape">
              <a:avLst/>
            </a:prstTxWarp>
          </a:bodyPr>
          <a:lstStyle>
            <a:lvl1pPr algn="l" defTabSz="927100" eaLnBrk="1" hangingPunct="1">
              <a:defRPr sz="1200" b="0">
                <a:latin typeface="Arial" charset="0"/>
              </a:defRPr>
            </a:lvl1pPr>
          </a:lstStyle>
          <a:p>
            <a:endParaRPr lang="en-US"/>
          </a:p>
        </p:txBody>
      </p:sp>
      <p:sp>
        <p:nvSpPr>
          <p:cNvPr id="20483" name="Rectangle 3"/>
          <p:cNvSpPr>
            <a:spLocks noGrp="1" noChangeArrowheads="1"/>
          </p:cNvSpPr>
          <p:nvPr>
            <p:ph type="dt" idx="1"/>
            <p:custDataLst>
              <p:tags r:id="rId3"/>
            </p:custDataLst>
          </p:nvPr>
        </p:nvSpPr>
        <p:spPr bwMode="auto">
          <a:xfrm>
            <a:off x="3963988" y="0"/>
            <a:ext cx="3032125" cy="463550"/>
          </a:xfrm>
          <a:prstGeom prst="rect">
            <a:avLst/>
          </a:prstGeom>
          <a:noFill/>
          <a:ln w="9525">
            <a:noFill/>
            <a:miter lim="800000"/>
            <a:headEnd/>
            <a:tailEnd/>
          </a:ln>
          <a:effectLst/>
        </p:spPr>
        <p:txBody>
          <a:bodyPr vert="horz" wrap="square" lIns="92711" tIns="46356" rIns="92711" bIns="46356" numCol="1" anchor="t" anchorCtr="0" compatLnSpc="1">
            <a:prstTxWarp prst="textNoShape">
              <a:avLst/>
            </a:prstTxWarp>
          </a:bodyPr>
          <a:lstStyle>
            <a:lvl1pPr algn="r" defTabSz="927100" eaLnBrk="1" hangingPunct="1">
              <a:defRPr sz="1200" b="0">
                <a:latin typeface="Arial" charset="0"/>
              </a:defRPr>
            </a:lvl1pPr>
          </a:lstStyle>
          <a:p>
            <a:endParaRPr lang="en-US"/>
          </a:p>
        </p:txBody>
      </p:sp>
      <p:sp>
        <p:nvSpPr>
          <p:cNvPr id="20484" name="Rectangle 4"/>
          <p:cNvSpPr>
            <a:spLocks noGrp="1" noRot="1" noChangeAspect="1" noChangeArrowheads="1" noTextEdit="1"/>
          </p:cNvSpPr>
          <p:nvPr>
            <p:ph type="sldImg" idx="2"/>
          </p:nvPr>
        </p:nvSpPr>
        <p:spPr bwMode="auto">
          <a:xfrm>
            <a:off x="1177925" y="696913"/>
            <a:ext cx="4641850" cy="3481387"/>
          </a:xfrm>
          <a:prstGeom prst="rect">
            <a:avLst/>
          </a:prstGeom>
          <a:noFill/>
          <a:ln w="9525">
            <a:solidFill>
              <a:srgbClr val="000000"/>
            </a:solidFill>
            <a:miter lim="800000"/>
            <a:headEnd/>
            <a:tailEnd/>
          </a:ln>
          <a:effectLst/>
        </p:spPr>
      </p:sp>
      <p:sp>
        <p:nvSpPr>
          <p:cNvPr id="20485" name="Rectangle 5"/>
          <p:cNvSpPr>
            <a:spLocks noGrp="1" noChangeArrowheads="1"/>
          </p:cNvSpPr>
          <p:nvPr>
            <p:ph type="body" sz="quarter" idx="3"/>
            <p:custDataLst>
              <p:tags r:id="rId4"/>
            </p:custDataLst>
          </p:nvPr>
        </p:nvSpPr>
        <p:spPr bwMode="auto">
          <a:xfrm>
            <a:off x="700088" y="4410075"/>
            <a:ext cx="5597525" cy="4176713"/>
          </a:xfrm>
          <a:prstGeom prst="rect">
            <a:avLst/>
          </a:prstGeom>
          <a:noFill/>
          <a:ln w="9525">
            <a:noFill/>
            <a:miter lim="800000"/>
            <a:headEnd/>
            <a:tailEnd/>
          </a:ln>
          <a:effectLst/>
        </p:spPr>
        <p:txBody>
          <a:bodyPr vert="horz" wrap="square" lIns="92711" tIns="46356" rIns="92711" bIns="46356"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20486" name="Rectangle 6"/>
          <p:cNvSpPr>
            <a:spLocks noGrp="1" noChangeArrowheads="1"/>
          </p:cNvSpPr>
          <p:nvPr>
            <p:ph type="ftr" sz="quarter" idx="4"/>
            <p:custDataLst>
              <p:tags r:id="rId5"/>
            </p:custDataLst>
          </p:nvPr>
        </p:nvSpPr>
        <p:spPr bwMode="auto">
          <a:xfrm>
            <a:off x="0" y="8818563"/>
            <a:ext cx="3032125" cy="463550"/>
          </a:xfrm>
          <a:prstGeom prst="rect">
            <a:avLst/>
          </a:prstGeom>
          <a:noFill/>
          <a:ln w="9525">
            <a:noFill/>
            <a:miter lim="800000"/>
            <a:headEnd/>
            <a:tailEnd/>
          </a:ln>
          <a:effectLst/>
        </p:spPr>
        <p:txBody>
          <a:bodyPr vert="horz" wrap="square" lIns="92711" tIns="46356" rIns="92711" bIns="46356" numCol="1" anchor="b" anchorCtr="0" compatLnSpc="1">
            <a:prstTxWarp prst="textNoShape">
              <a:avLst/>
            </a:prstTxWarp>
          </a:bodyPr>
          <a:lstStyle>
            <a:lvl1pPr algn="l" defTabSz="927100" eaLnBrk="1" hangingPunct="1">
              <a:defRPr sz="1200" b="0">
                <a:latin typeface="Arial" charset="0"/>
              </a:defRPr>
            </a:lvl1pPr>
          </a:lstStyle>
          <a:p>
            <a:endParaRPr lang="en-US"/>
          </a:p>
        </p:txBody>
      </p:sp>
      <p:sp>
        <p:nvSpPr>
          <p:cNvPr id="20487" name="Rectangle 7"/>
          <p:cNvSpPr>
            <a:spLocks noGrp="1" noChangeArrowheads="1"/>
          </p:cNvSpPr>
          <p:nvPr>
            <p:ph type="sldNum" sz="quarter" idx="5"/>
            <p:custDataLst>
              <p:tags r:id="rId6"/>
            </p:custDataLst>
          </p:nvPr>
        </p:nvSpPr>
        <p:spPr bwMode="auto">
          <a:xfrm>
            <a:off x="3963988" y="8818563"/>
            <a:ext cx="3032125" cy="463550"/>
          </a:xfrm>
          <a:prstGeom prst="rect">
            <a:avLst/>
          </a:prstGeom>
          <a:noFill/>
          <a:ln w="9525">
            <a:noFill/>
            <a:miter lim="800000"/>
            <a:headEnd/>
            <a:tailEnd/>
          </a:ln>
          <a:effectLst/>
        </p:spPr>
        <p:txBody>
          <a:bodyPr vert="horz" wrap="square" lIns="92711" tIns="46356" rIns="92711" bIns="46356" numCol="1" anchor="b" anchorCtr="0" compatLnSpc="1">
            <a:prstTxWarp prst="textNoShape">
              <a:avLst/>
            </a:prstTxWarp>
          </a:bodyPr>
          <a:lstStyle>
            <a:lvl1pPr algn="r" defTabSz="927100" eaLnBrk="1" hangingPunct="1">
              <a:defRPr sz="1200" b="0">
                <a:latin typeface="Arial" charset="0"/>
              </a:defRPr>
            </a:lvl1pPr>
          </a:lstStyle>
          <a:p>
            <a:fld id="{58DC0642-C821-4273-B53F-0C7A5087F886}" type="slidenum">
              <a:rPr lang="en-US"/>
              <a:pPr/>
              <a:t>‹N°›</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slide" Target="../slides/slide1.xml"/><Relationship Id="rId2" Type="http://schemas.openxmlformats.org/officeDocument/2006/relationships/notesMaster" Target="../notesMasters/notesMaster1.xml"/><Relationship Id="rId1" Type="http://schemas.openxmlformats.org/officeDocument/2006/relationships/tags" Target="../tags/tag11.xml"/></Relationships>
</file>

<file path=ppt/notesSlides/_rels/notesSlide2.xml.rels><?xml version="1.0" encoding="UTF-8" standalone="yes"?>
<Relationships xmlns="http://schemas.openxmlformats.org/package/2006/relationships"><Relationship Id="rId3" Type="http://schemas.openxmlformats.org/officeDocument/2006/relationships/slide" Target="../slides/slide2.xml"/><Relationship Id="rId2" Type="http://schemas.openxmlformats.org/officeDocument/2006/relationships/notesMaster" Target="../notesMasters/notesMaster1.xml"/><Relationship Id="rId1" Type="http://schemas.openxmlformats.org/officeDocument/2006/relationships/tags" Target="../tags/tag14.xml"/></Relationships>
</file>

<file path=ppt/notesSlides/_rels/notesSlide3.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notesMaster" Target="../notesMasters/notesMaster1.xml"/><Relationship Id="rId1" Type="http://schemas.openxmlformats.org/officeDocument/2006/relationships/tags" Target="../tags/tag17.xml"/></Relationships>
</file>

<file path=ppt/notesSlides/_rels/notesSlide4.xml.rels><?xml version="1.0" encoding="UTF-8" standalone="yes"?>
<Relationships xmlns="http://schemas.openxmlformats.org/package/2006/relationships"><Relationship Id="rId3" Type="http://schemas.openxmlformats.org/officeDocument/2006/relationships/slide" Target="../slides/slide4.xml"/><Relationship Id="rId2" Type="http://schemas.openxmlformats.org/officeDocument/2006/relationships/notesMaster" Target="../notesMasters/notesMaster1.xml"/><Relationship Id="rId1" Type="http://schemas.openxmlformats.org/officeDocument/2006/relationships/tags" Target="../tags/tag19.xml"/></Relationships>
</file>

<file path=ppt/notesSlides/_rels/notesSlide5.xml.rels><?xml version="1.0" encoding="UTF-8" standalone="yes"?>
<Relationships xmlns="http://schemas.openxmlformats.org/package/2006/relationships"><Relationship Id="rId3" Type="http://schemas.openxmlformats.org/officeDocument/2006/relationships/slide" Target="../slides/slide5.xml"/><Relationship Id="rId2" Type="http://schemas.openxmlformats.org/officeDocument/2006/relationships/notesMaster" Target="../notesMasters/notesMaster1.xml"/><Relationship Id="rId1" Type="http://schemas.openxmlformats.org/officeDocument/2006/relationships/tags" Target="../tags/tag24.xml"/></Relationships>
</file>

<file path=ppt/notesSlides/_rels/notesSlide6.xml.rels><?xml version="1.0" encoding="UTF-8" standalone="yes"?>
<Relationships xmlns="http://schemas.openxmlformats.org/package/2006/relationships"><Relationship Id="rId3" Type="http://schemas.openxmlformats.org/officeDocument/2006/relationships/slide" Target="../slides/slide6.xml"/><Relationship Id="rId2" Type="http://schemas.openxmlformats.org/officeDocument/2006/relationships/notesMaster" Target="../notesMasters/notesMaster1.xml"/><Relationship Id="rId1" Type="http://schemas.openxmlformats.org/officeDocument/2006/relationships/tags" Target="../tags/tag30.xml"/></Relationships>
</file>

<file path=ppt/notesSlides/_rels/notesSlide7.xml.rels><?xml version="1.0" encoding="UTF-8" standalone="yes"?>
<Relationships xmlns="http://schemas.openxmlformats.org/package/2006/relationships"><Relationship Id="rId3" Type="http://schemas.openxmlformats.org/officeDocument/2006/relationships/slide" Target="../slides/slide7.xml"/><Relationship Id="rId2" Type="http://schemas.openxmlformats.org/officeDocument/2006/relationships/notesMaster" Target="../notesMasters/notesMaster1.xml"/><Relationship Id="rId1" Type="http://schemas.openxmlformats.org/officeDocument/2006/relationships/tags" Target="../tags/tag33.xml"/></Relationships>
</file>

<file path=ppt/notesSlides/_rels/notesSlide8.xml.rels><?xml version="1.0" encoding="UTF-8" standalone="yes"?>
<Relationships xmlns="http://schemas.openxmlformats.org/package/2006/relationships"><Relationship Id="rId3" Type="http://schemas.openxmlformats.org/officeDocument/2006/relationships/slide" Target="../slides/slide8.xml"/><Relationship Id="rId2" Type="http://schemas.openxmlformats.org/officeDocument/2006/relationships/notesMaster" Target="../notesMasters/notesMaster1.xml"/><Relationship Id="rId1" Type="http://schemas.openxmlformats.org/officeDocument/2006/relationships/tags" Target="../tags/tag35.xml"/></Relationships>
</file>

<file path=ppt/notesSlides/_rels/notesSlide9.xml.rels><?xml version="1.0" encoding="UTF-8" standalone="yes"?>
<Relationships xmlns="http://schemas.openxmlformats.org/package/2006/relationships"><Relationship Id="rId3" Type="http://schemas.openxmlformats.org/officeDocument/2006/relationships/slide" Target="../slides/slide9.xml"/><Relationship Id="rId2" Type="http://schemas.openxmlformats.org/officeDocument/2006/relationships/notesMaster" Target="../notesMasters/notesMaster1.xml"/><Relationship Id="rId1" Type="http://schemas.openxmlformats.org/officeDocument/2006/relationships/tags" Target="../tags/tag38.xml"/></Relationships>
</file>

<file path=ppt/notesSlides/_rels/notesSlide10.xml.rels><?xml version="1.0" encoding="UTF-8" standalone="yes"?>
<Relationships xmlns="http://schemas.openxmlformats.org/package/2006/relationships"><Relationship Id="rId3" Type="http://schemas.openxmlformats.org/officeDocument/2006/relationships/slide" Target="../slides/slide10.xml"/><Relationship Id="rId2" Type="http://schemas.openxmlformats.org/officeDocument/2006/relationships/notesMaster" Target="../notesMasters/notesMaster1.xml"/><Relationship Id="rId1" Type="http://schemas.openxmlformats.org/officeDocument/2006/relationships/tags" Target="../tags/tag41.xml"/></Relationships>
</file>

<file path=ppt/notesSlides/_rels/notesSlide11.xml.rels><?xml version="1.0" encoding="UTF-8" standalone="yes"?>
<Relationships xmlns="http://schemas.openxmlformats.org/package/2006/relationships"><Relationship Id="rId3" Type="http://schemas.openxmlformats.org/officeDocument/2006/relationships/slide" Target="../slides/slide11.xml"/><Relationship Id="rId2" Type="http://schemas.openxmlformats.org/officeDocument/2006/relationships/notesMaster" Target="../notesMasters/notesMaster1.xml"/><Relationship Id="rId1" Type="http://schemas.openxmlformats.org/officeDocument/2006/relationships/tags" Target="../tags/tag44.xml"/></Relationships>
</file>

<file path=ppt/notesSlides/_rels/notesSlide12.xml.rels><?xml version="1.0" encoding="UTF-8" standalone="yes"?>
<Relationships xmlns="http://schemas.openxmlformats.org/package/2006/relationships"><Relationship Id="rId3" Type="http://schemas.openxmlformats.org/officeDocument/2006/relationships/slide" Target="../slides/slide12.xml"/><Relationship Id="rId2" Type="http://schemas.openxmlformats.org/officeDocument/2006/relationships/notesMaster" Target="../notesMasters/notesMaster1.xml"/><Relationship Id="rId1" Type="http://schemas.openxmlformats.org/officeDocument/2006/relationships/tags" Target="../tags/tag48.xml"/></Relationships>
</file>

<file path=ppt/notesSlides/_rels/notesSlide13.xml.rels><?xml version="1.0" encoding="UTF-8" standalone="yes"?>
<Relationships xmlns="http://schemas.openxmlformats.org/package/2006/relationships"><Relationship Id="rId3" Type="http://schemas.openxmlformats.org/officeDocument/2006/relationships/slide" Target="../slides/slide13.xml"/><Relationship Id="rId2" Type="http://schemas.openxmlformats.org/officeDocument/2006/relationships/notesMaster" Target="../notesMasters/notesMaster1.xml"/><Relationship Id="rId1" Type="http://schemas.openxmlformats.org/officeDocument/2006/relationships/tags" Target="../tags/tag72.xml"/></Relationships>
</file>

<file path=ppt/notesSlides/_rels/notesSlide14.xml.rels><?xml version="1.0" encoding="UTF-8" standalone="yes"?>
<Relationships xmlns="http://schemas.openxmlformats.org/package/2006/relationships"><Relationship Id="rId3" Type="http://schemas.openxmlformats.org/officeDocument/2006/relationships/slide" Target="../slides/slide14.xml"/><Relationship Id="rId2" Type="http://schemas.openxmlformats.org/officeDocument/2006/relationships/notesMaster" Target="../notesMasters/notesMaster1.xml"/><Relationship Id="rId1" Type="http://schemas.openxmlformats.org/officeDocument/2006/relationships/tags" Target="../tags/tag79.xml"/></Relationships>
</file>

<file path=ppt/notesSlides/_rels/notesSlide15.xml.rels><?xml version="1.0" encoding="UTF-8" standalone="yes"?>
<Relationships xmlns="http://schemas.openxmlformats.org/package/2006/relationships"><Relationship Id="rId3" Type="http://schemas.openxmlformats.org/officeDocument/2006/relationships/slide" Target="../slides/slide15.xml"/><Relationship Id="rId2" Type="http://schemas.openxmlformats.org/officeDocument/2006/relationships/notesMaster" Target="../notesMasters/notesMaster1.xml"/><Relationship Id="rId1" Type="http://schemas.openxmlformats.org/officeDocument/2006/relationships/tags" Target="../tags/tag82.xml"/></Relationships>
</file>

<file path=ppt/notesSlides/_rels/notesSlide16.xml.rels><?xml version="1.0" encoding="UTF-8" standalone="yes"?>
<Relationships xmlns="http://schemas.openxmlformats.org/package/2006/relationships"><Relationship Id="rId3" Type="http://schemas.openxmlformats.org/officeDocument/2006/relationships/slide" Target="../slides/slide16.xml"/><Relationship Id="rId2" Type="http://schemas.openxmlformats.org/officeDocument/2006/relationships/notesMaster" Target="../notesMasters/notesMaster1.xml"/><Relationship Id="rId1" Type="http://schemas.openxmlformats.org/officeDocument/2006/relationships/tags" Target="../tags/tag85.xml"/></Relationships>
</file>

<file path=ppt/notesSlides/_rels/notesSlide17.xml.rels><?xml version="1.0" encoding="UTF-8" standalone="yes"?>
<Relationships xmlns="http://schemas.openxmlformats.org/package/2006/relationships"><Relationship Id="rId3" Type="http://schemas.openxmlformats.org/officeDocument/2006/relationships/slide" Target="../slides/slide17.xml"/><Relationship Id="rId2" Type="http://schemas.openxmlformats.org/officeDocument/2006/relationships/notesMaster" Target="../notesMasters/notesMaster1.xml"/><Relationship Id="rId1" Type="http://schemas.openxmlformats.org/officeDocument/2006/relationships/tags" Target="../tags/tag8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B20011D4-3F44-48B2-A5D8-0994DED6AC49}" type="slidenum">
              <a:rPr lang="en-US"/>
              <a:pPr/>
              <a:t>1</a:t>
            </a:fld>
            <a:endParaRPr lang="en-US"/>
          </a:p>
        </p:txBody>
      </p:sp>
      <p:sp>
        <p:nvSpPr>
          <p:cNvPr id="268290" name="Rectangle 2"/>
          <p:cNvSpPr>
            <a:spLocks noGrp="1" noRot="1" noChangeAspect="1" noChangeArrowheads="1" noTextEdit="1"/>
          </p:cNvSpPr>
          <p:nvPr>
            <p:ph type="sldImg"/>
          </p:nvPr>
        </p:nvSpPr>
        <p:spPr>
          <a:ln/>
        </p:spPr>
      </p:sp>
      <p:sp>
        <p:nvSpPr>
          <p:cNvPr id="268291" name="Rectangle 3"/>
          <p:cNvSpPr>
            <a:spLocks noGrp="1" noChangeArrowheads="1"/>
          </p:cNvSpPr>
          <p:nvPr>
            <p:ph type="body" idx="1"/>
          </p:nvPr>
        </p:nvSpPr>
        <p:spPr/>
        <p:txBody>
          <a:bodyPr/>
          <a:lstStyle/>
          <a:p>
            <a:endParaRPr 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AD5D5712-0AA9-4C37-9E05-A5DE20E8A0A8}" type="slidenum">
              <a:rPr lang="en-US"/>
              <a:pPr/>
              <a:t>2</a:t>
            </a:fld>
            <a:endParaRPr lang="en-US"/>
          </a:p>
        </p:txBody>
      </p:sp>
      <p:sp>
        <p:nvSpPr>
          <p:cNvPr id="157698" name="Rectangle 2"/>
          <p:cNvSpPr>
            <a:spLocks noGrp="1" noRot="1" noChangeAspect="1" noChangeArrowheads="1" noTextEdit="1"/>
          </p:cNvSpPr>
          <p:nvPr>
            <p:ph type="sldImg"/>
          </p:nvPr>
        </p:nvSpPr>
        <p:spPr>
          <a:ln/>
        </p:spPr>
      </p:sp>
      <p:sp>
        <p:nvSpPr>
          <p:cNvPr id="157699" name="Rectangle 3"/>
          <p:cNvSpPr>
            <a:spLocks noGrp="1" noChangeArrowheads="1"/>
          </p:cNvSpPr>
          <p:nvPr>
            <p:ph type="body" idx="1"/>
          </p:nvPr>
        </p:nvSpPr>
        <p:spPr/>
        <p:txBody>
          <a:bodyPr/>
          <a:lstStyle/>
          <a:p>
            <a:endParaRPr 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28532679-BE5E-4E96-BDA7-24BF12C05518}" type="slidenum">
              <a:rPr lang="en-US"/>
              <a:pPr/>
              <a:t>3</a:t>
            </a:fld>
            <a:endParaRPr lang="en-US"/>
          </a:p>
        </p:txBody>
      </p:sp>
      <p:sp>
        <p:nvSpPr>
          <p:cNvPr id="176130" name="Rectangle 2"/>
          <p:cNvSpPr>
            <a:spLocks noGrp="1" noRot="1" noChangeAspect="1" noChangeArrowheads="1" noTextEdit="1"/>
          </p:cNvSpPr>
          <p:nvPr>
            <p:ph type="sldImg"/>
          </p:nvPr>
        </p:nvSpPr>
        <p:spPr>
          <a:ln/>
        </p:spPr>
      </p:sp>
      <p:sp>
        <p:nvSpPr>
          <p:cNvPr id="176131" name="Rectangle 3"/>
          <p:cNvSpPr>
            <a:spLocks noGrp="1" noChangeArrowheads="1"/>
          </p:cNvSpPr>
          <p:nvPr>
            <p:ph type="body" idx="1"/>
          </p:nvPr>
        </p:nvSpPr>
        <p:spPr/>
        <p:txBody>
          <a:bodyPr/>
          <a:lstStyle/>
          <a:p>
            <a:endParaRPr lang="en-GB"/>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8B57FAC7-124C-4D11-A5BA-C40A6818EDBD}" type="slidenum">
              <a:rPr lang="en-US"/>
              <a:pPr/>
              <a:t>4</a:t>
            </a:fld>
            <a:endParaRPr lang="en-US"/>
          </a:p>
        </p:txBody>
      </p:sp>
      <p:sp>
        <p:nvSpPr>
          <p:cNvPr id="269314" name="Rectangle 2"/>
          <p:cNvSpPr>
            <a:spLocks noGrp="1" noRot="1" noChangeAspect="1" noChangeArrowheads="1" noTextEdit="1"/>
          </p:cNvSpPr>
          <p:nvPr>
            <p:ph type="sldImg"/>
          </p:nvPr>
        </p:nvSpPr>
        <p:spPr>
          <a:ln/>
        </p:spPr>
      </p:sp>
      <p:sp>
        <p:nvSpPr>
          <p:cNvPr id="269315" name="Rectangle 3"/>
          <p:cNvSpPr>
            <a:spLocks noGrp="1" noChangeArrowheads="1"/>
          </p:cNvSpPr>
          <p:nvPr>
            <p:ph type="body" idx="1"/>
          </p:nvPr>
        </p:nvSpPr>
        <p:spPr/>
        <p:txBody>
          <a:bodyPr/>
          <a:lstStyle/>
          <a:p>
            <a:endParaRPr lang="en-GB"/>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11215D0C-83AA-4FB7-B376-CA06441570D3}" type="slidenum">
              <a:rPr lang="en-US"/>
              <a:pPr/>
              <a:t>5</a:t>
            </a:fld>
            <a:endParaRPr lang="en-US"/>
          </a:p>
        </p:txBody>
      </p:sp>
      <p:sp>
        <p:nvSpPr>
          <p:cNvPr id="222210" name="Rectangle 2"/>
          <p:cNvSpPr>
            <a:spLocks noGrp="1" noRot="1" noChangeAspect="1" noChangeArrowheads="1" noTextEdit="1"/>
          </p:cNvSpPr>
          <p:nvPr>
            <p:ph type="sldImg"/>
          </p:nvPr>
        </p:nvSpPr>
        <p:spPr>
          <a:ln/>
        </p:spPr>
      </p:sp>
      <p:sp>
        <p:nvSpPr>
          <p:cNvPr id="222211" name="Rectangle 3"/>
          <p:cNvSpPr>
            <a:spLocks noGrp="1" noChangeArrowheads="1"/>
          </p:cNvSpPr>
          <p:nvPr>
            <p:ph type="body" idx="1"/>
          </p:nvPr>
        </p:nvSpPr>
        <p:spPr/>
        <p:txBody>
          <a:bodyPr/>
          <a:lstStyle/>
          <a:p>
            <a:endParaRPr lang="en-GB"/>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A2AC18D7-E080-42CD-AD52-29386A72F4E6}" type="slidenum">
              <a:rPr lang="en-US"/>
              <a:pPr/>
              <a:t>6</a:t>
            </a:fld>
            <a:endParaRPr lang="en-US"/>
          </a:p>
        </p:txBody>
      </p:sp>
      <p:sp>
        <p:nvSpPr>
          <p:cNvPr id="267266" name="Rectangle 2"/>
          <p:cNvSpPr>
            <a:spLocks noGrp="1" noRot="1" noChangeAspect="1" noChangeArrowheads="1" noTextEdit="1"/>
          </p:cNvSpPr>
          <p:nvPr>
            <p:ph type="sldImg"/>
          </p:nvPr>
        </p:nvSpPr>
        <p:spPr>
          <a:ln/>
        </p:spPr>
      </p:sp>
      <p:sp>
        <p:nvSpPr>
          <p:cNvPr id="267267" name="Rectangle 3"/>
          <p:cNvSpPr>
            <a:spLocks noGrp="1" noChangeArrowheads="1"/>
          </p:cNvSpPr>
          <p:nvPr>
            <p:ph type="body" idx="1"/>
          </p:nvPr>
        </p:nvSpPr>
        <p:spPr/>
        <p:txBody>
          <a:bodyPr/>
          <a:lstStyle/>
          <a:p>
            <a:pPr marL="152400" indent="-152400">
              <a:lnSpc>
                <a:spcPct val="80000"/>
              </a:lnSpc>
            </a:pPr>
            <a:endParaRPr lang="en-GB" sz="8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39050321-274E-4FC8-AE3D-036CE0B0E7DA}" type="slidenum">
              <a:rPr lang="en-US"/>
              <a:pPr/>
              <a:t>7</a:t>
            </a:fld>
            <a:endParaRPr lang="en-US"/>
          </a:p>
        </p:txBody>
      </p:sp>
      <p:sp>
        <p:nvSpPr>
          <p:cNvPr id="216066" name="Rectangle 2"/>
          <p:cNvSpPr>
            <a:spLocks noGrp="1" noRot="1" noChangeAspect="1" noChangeArrowheads="1" noTextEdit="1"/>
          </p:cNvSpPr>
          <p:nvPr>
            <p:ph type="sldImg"/>
          </p:nvPr>
        </p:nvSpPr>
        <p:spPr>
          <a:ln/>
        </p:spPr>
      </p:sp>
      <p:sp>
        <p:nvSpPr>
          <p:cNvPr id="216067" name="Rectangle 3"/>
          <p:cNvSpPr>
            <a:spLocks noGrp="1" noChangeArrowheads="1"/>
          </p:cNvSpPr>
          <p:nvPr>
            <p:ph type="body" idx="1"/>
          </p:nvPr>
        </p:nvSpPr>
        <p:spPr/>
        <p:txBody>
          <a:bodyPr/>
          <a:lstStyle/>
          <a:p>
            <a:endParaRPr lang="en-GB"/>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E90C640B-21EE-4FAF-893A-62C1729276E6}" type="slidenum">
              <a:rPr lang="en-US"/>
              <a:pPr/>
              <a:t>8</a:t>
            </a:fld>
            <a:endParaRPr lang="en-US"/>
          </a:p>
        </p:txBody>
      </p:sp>
      <p:sp>
        <p:nvSpPr>
          <p:cNvPr id="226306" name="Rectangle 2"/>
          <p:cNvSpPr>
            <a:spLocks noGrp="1" noRot="1" noChangeAspect="1" noChangeArrowheads="1" noTextEdit="1"/>
          </p:cNvSpPr>
          <p:nvPr>
            <p:ph type="sldImg"/>
          </p:nvPr>
        </p:nvSpPr>
        <p:spPr>
          <a:ln/>
        </p:spPr>
      </p:sp>
      <p:sp>
        <p:nvSpPr>
          <p:cNvPr id="226307" name="Rectangle 3"/>
          <p:cNvSpPr>
            <a:spLocks noGrp="1" noChangeArrowheads="1"/>
          </p:cNvSpPr>
          <p:nvPr>
            <p:ph type="body" idx="1"/>
          </p:nvPr>
        </p:nvSpPr>
        <p:spPr/>
        <p:txBody>
          <a:bodyPr/>
          <a:lstStyle/>
          <a:p>
            <a:pPr>
              <a:lnSpc>
                <a:spcPct val="80000"/>
              </a:lnSpc>
            </a:pPr>
            <a:endParaRPr lang="en-GB" sz="8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7C9DF35D-7C27-4C22-BC82-1CF7358A88B2}" type="slidenum">
              <a:rPr lang="en-US"/>
              <a:pPr/>
              <a:t>9</a:t>
            </a:fld>
            <a:endParaRPr lang="en-US"/>
          </a:p>
        </p:txBody>
      </p:sp>
      <p:sp>
        <p:nvSpPr>
          <p:cNvPr id="263170" name="Rectangle 2"/>
          <p:cNvSpPr>
            <a:spLocks noGrp="1" noRot="1" noChangeAspect="1" noChangeArrowheads="1" noTextEdit="1"/>
          </p:cNvSpPr>
          <p:nvPr>
            <p:ph type="sldImg"/>
          </p:nvPr>
        </p:nvSpPr>
        <p:spPr>
          <a:ln/>
        </p:spPr>
      </p:sp>
      <p:sp>
        <p:nvSpPr>
          <p:cNvPr id="263171" name="Rectangle 3"/>
          <p:cNvSpPr>
            <a:spLocks noGrp="1" noChangeArrowheads="1"/>
          </p:cNvSpPr>
          <p:nvPr>
            <p:ph type="body" idx="1"/>
          </p:nvPr>
        </p:nvSpPr>
        <p:spPr/>
        <p:txBody>
          <a:bodyPr/>
          <a:lstStyle/>
          <a:p>
            <a:endParaRPr lang="en-GB"/>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358C4047-AC0A-47B6-9CAB-8FDCEB58F71D}" type="slidenum">
              <a:rPr lang="en-US"/>
              <a:pPr/>
              <a:t>10</a:t>
            </a:fld>
            <a:endParaRPr lang="en-US"/>
          </a:p>
        </p:txBody>
      </p:sp>
      <p:sp>
        <p:nvSpPr>
          <p:cNvPr id="265218" name="Rectangle 2"/>
          <p:cNvSpPr>
            <a:spLocks noGrp="1" noRot="1" noChangeAspect="1" noChangeArrowheads="1" noTextEdit="1"/>
          </p:cNvSpPr>
          <p:nvPr>
            <p:ph type="sldImg"/>
          </p:nvPr>
        </p:nvSpPr>
        <p:spPr>
          <a:ln/>
        </p:spPr>
      </p:sp>
      <p:sp>
        <p:nvSpPr>
          <p:cNvPr id="265219" name="Rectangle 3"/>
          <p:cNvSpPr>
            <a:spLocks noGrp="1" noChangeArrowheads="1"/>
          </p:cNvSpPr>
          <p:nvPr>
            <p:ph type="body" idx="1"/>
          </p:nvPr>
        </p:nvSpPr>
        <p:spPr/>
        <p:txBody>
          <a:bodyPr/>
          <a:lstStyle/>
          <a:p>
            <a:pPr marL="228600" indent="-228600"/>
            <a:endParaRPr lang="en-GB"/>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F0F160FC-6678-461A-A48C-D684EAFF4771}" type="slidenum">
              <a:rPr lang="en-US"/>
              <a:pPr/>
              <a:t>11</a:t>
            </a:fld>
            <a:endParaRPr lang="en-US"/>
          </a:p>
        </p:txBody>
      </p:sp>
      <p:sp>
        <p:nvSpPr>
          <p:cNvPr id="251906" name="Rectangle 2"/>
          <p:cNvSpPr>
            <a:spLocks noGrp="1" noRot="1" noChangeAspect="1" noChangeArrowheads="1" noTextEdit="1"/>
          </p:cNvSpPr>
          <p:nvPr>
            <p:ph type="sldImg"/>
          </p:nvPr>
        </p:nvSpPr>
        <p:spPr>
          <a:ln/>
        </p:spPr>
      </p:sp>
      <p:sp>
        <p:nvSpPr>
          <p:cNvPr id="251907" name="Rectangle 3"/>
          <p:cNvSpPr>
            <a:spLocks noGrp="1" noChangeArrowheads="1"/>
          </p:cNvSpPr>
          <p:nvPr>
            <p:ph type="body" idx="1"/>
          </p:nvPr>
        </p:nvSpPr>
        <p:spPr/>
        <p:txBody>
          <a:bodyPr/>
          <a:lstStyle/>
          <a:p>
            <a:endParaRPr lang="en-GB"/>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B1799973-7262-4D6B-875C-EF7F636CAC02}" type="slidenum">
              <a:rPr lang="en-US"/>
              <a:pPr/>
              <a:t>12</a:t>
            </a:fld>
            <a:endParaRPr lang="en-US"/>
          </a:p>
        </p:txBody>
      </p:sp>
      <p:sp>
        <p:nvSpPr>
          <p:cNvPr id="239618" name="Rectangle 2"/>
          <p:cNvSpPr>
            <a:spLocks noGrp="1" noRot="1" noChangeAspect="1" noChangeArrowheads="1" noTextEdit="1"/>
          </p:cNvSpPr>
          <p:nvPr>
            <p:ph type="sldImg"/>
          </p:nvPr>
        </p:nvSpPr>
        <p:spPr>
          <a:ln/>
        </p:spPr>
      </p:sp>
      <p:sp>
        <p:nvSpPr>
          <p:cNvPr id="239619" name="Rectangle 3"/>
          <p:cNvSpPr>
            <a:spLocks noGrp="1" noChangeArrowheads="1"/>
          </p:cNvSpPr>
          <p:nvPr>
            <p:ph type="body" idx="1"/>
          </p:nvPr>
        </p:nvSpPr>
        <p:spPr/>
        <p:txBody>
          <a:bodyPr/>
          <a:lstStyle/>
          <a:p>
            <a:endParaRPr lang="en-GB"/>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F2C5E533-4991-4576-A751-C6A97035F00C}" type="slidenum">
              <a:rPr lang="en-US"/>
              <a:pPr/>
              <a:t>13</a:t>
            </a:fld>
            <a:endParaRPr lang="en-US"/>
          </a:p>
        </p:txBody>
      </p:sp>
      <p:sp>
        <p:nvSpPr>
          <p:cNvPr id="249858" name="Rectangle 2"/>
          <p:cNvSpPr>
            <a:spLocks noGrp="1" noRot="1" noChangeAspect="1" noChangeArrowheads="1" noTextEdit="1"/>
          </p:cNvSpPr>
          <p:nvPr>
            <p:ph type="sldImg"/>
          </p:nvPr>
        </p:nvSpPr>
        <p:spPr>
          <a:ln/>
        </p:spPr>
      </p:sp>
      <p:sp>
        <p:nvSpPr>
          <p:cNvPr id="249859" name="Rectangle 3"/>
          <p:cNvSpPr>
            <a:spLocks noGrp="1" noChangeArrowheads="1"/>
          </p:cNvSpPr>
          <p:nvPr>
            <p:ph type="body" idx="1"/>
          </p:nvPr>
        </p:nvSpPr>
        <p:spPr/>
        <p:txBody>
          <a:bodyPr/>
          <a:lstStyle/>
          <a:p>
            <a:endParaRPr lang="en-GB"/>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2F31E73D-C7A3-4463-AD61-CFF24B0C2239}" type="slidenum">
              <a:rPr lang="en-US"/>
              <a:pPr/>
              <a:t>14</a:t>
            </a:fld>
            <a:endParaRPr lang="en-US"/>
          </a:p>
        </p:txBody>
      </p:sp>
      <p:sp>
        <p:nvSpPr>
          <p:cNvPr id="220162" name="Rectangle 2"/>
          <p:cNvSpPr>
            <a:spLocks noGrp="1" noRot="1" noChangeAspect="1" noChangeArrowheads="1" noTextEdit="1"/>
          </p:cNvSpPr>
          <p:nvPr>
            <p:ph type="sldImg"/>
          </p:nvPr>
        </p:nvSpPr>
        <p:spPr>
          <a:ln/>
        </p:spPr>
      </p:sp>
      <p:sp>
        <p:nvSpPr>
          <p:cNvPr id="220163" name="Rectangle 3"/>
          <p:cNvSpPr>
            <a:spLocks noGrp="1" noChangeArrowheads="1"/>
          </p:cNvSpPr>
          <p:nvPr>
            <p:ph type="body" idx="1"/>
          </p:nvPr>
        </p:nvSpPr>
        <p:spPr/>
        <p:txBody>
          <a:bodyPr/>
          <a:lstStyle/>
          <a:p>
            <a:endParaRPr lang="en-GB"/>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8AF8BC74-2860-4845-B9EE-0455783A6F5B}" type="slidenum">
              <a:rPr lang="en-US"/>
              <a:pPr/>
              <a:t>15</a:t>
            </a:fld>
            <a:endParaRPr lang="en-US"/>
          </a:p>
        </p:txBody>
      </p:sp>
      <p:sp>
        <p:nvSpPr>
          <p:cNvPr id="186370" name="Rectangle 2"/>
          <p:cNvSpPr>
            <a:spLocks noGrp="1" noRot="1" noChangeAspect="1" noChangeArrowheads="1" noTextEdit="1"/>
          </p:cNvSpPr>
          <p:nvPr>
            <p:ph type="sldImg"/>
          </p:nvPr>
        </p:nvSpPr>
        <p:spPr>
          <a:ln/>
        </p:spPr>
      </p:sp>
      <p:sp>
        <p:nvSpPr>
          <p:cNvPr id="186371" name="Rectangle 3"/>
          <p:cNvSpPr>
            <a:spLocks noGrp="1" noChangeArrowheads="1"/>
          </p:cNvSpPr>
          <p:nvPr>
            <p:ph type="body" idx="1"/>
          </p:nvPr>
        </p:nvSpPr>
        <p:spPr/>
        <p:txBody>
          <a:bodyPr/>
          <a:lstStyle/>
          <a:p>
            <a:endParaRPr lang="en-GB"/>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EB2F5959-AF7F-48F5-8CDE-69ADF4C87EDA}" type="slidenum">
              <a:rPr lang="en-US"/>
              <a:pPr/>
              <a:t>16</a:t>
            </a:fld>
            <a:endParaRPr lang="en-US"/>
          </a:p>
        </p:txBody>
      </p:sp>
      <p:sp>
        <p:nvSpPr>
          <p:cNvPr id="259074" name="Rectangle 2"/>
          <p:cNvSpPr>
            <a:spLocks noGrp="1" noRot="1" noChangeAspect="1" noChangeArrowheads="1" noTextEdit="1"/>
          </p:cNvSpPr>
          <p:nvPr>
            <p:ph type="sldImg"/>
          </p:nvPr>
        </p:nvSpPr>
        <p:spPr>
          <a:ln/>
        </p:spPr>
      </p:sp>
      <p:sp>
        <p:nvSpPr>
          <p:cNvPr id="259075" name="Rectangle 3"/>
          <p:cNvSpPr>
            <a:spLocks noGrp="1" noChangeArrowheads="1"/>
          </p:cNvSpPr>
          <p:nvPr>
            <p:ph type="body" idx="1"/>
          </p:nvPr>
        </p:nvSpPr>
        <p:spPr/>
        <p:txBody>
          <a:bodyPr/>
          <a:lstStyle/>
          <a:p>
            <a:endParaRPr lang="en-GB"/>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7B6433FC-C344-45A4-AE32-7D4A5427D94A}" type="slidenum">
              <a:rPr lang="en-US"/>
              <a:pPr/>
              <a:t>17</a:t>
            </a:fld>
            <a:endParaRPr lang="en-US"/>
          </a:p>
        </p:txBody>
      </p:sp>
      <p:sp>
        <p:nvSpPr>
          <p:cNvPr id="188418" name="Rectangle 2"/>
          <p:cNvSpPr>
            <a:spLocks noGrp="1" noRot="1" noChangeAspect="1" noChangeArrowheads="1" noTextEdit="1"/>
          </p:cNvSpPr>
          <p:nvPr>
            <p:ph type="sldImg"/>
          </p:nvPr>
        </p:nvSpPr>
        <p:spPr>
          <a:ln/>
        </p:spPr>
      </p:sp>
      <p:sp>
        <p:nvSpPr>
          <p:cNvPr id="188419" name="Rectangle 3"/>
          <p:cNvSpPr>
            <a:spLocks noGrp="1" noChangeArrowheads="1"/>
          </p:cNvSpPr>
          <p:nvPr>
            <p:ph type="body" idx="1"/>
          </p:nvPr>
        </p:nvSpPr>
        <p:spPr/>
        <p:txBody>
          <a:bodyPr/>
          <a:lstStyle/>
          <a:p>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ous-titre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fr-FR" smtClean="0"/>
              <a:t>Cliquez pour modifier le style des sous-titres du masque</a:t>
            </a:r>
            <a:endParaRPr kumimoji="0" lang="en-US"/>
          </a:p>
        </p:txBody>
      </p:sp>
      <p:sp>
        <p:nvSpPr>
          <p:cNvPr id="28" name="Espace réservé de la date 27"/>
          <p:cNvSpPr>
            <a:spLocks noGrp="1"/>
          </p:cNvSpPr>
          <p:nvPr>
            <p:ph type="dt" sz="half" idx="10"/>
          </p:nvPr>
        </p:nvSpPr>
        <p:spPr/>
        <p:txBody>
          <a:bodyPr/>
          <a:lstStyle/>
          <a:p>
            <a:fld id="{C699CB88-5E1A-4FAC-892A-60949ACB1F6F}" type="datetimeFigureOut">
              <a:rPr lang="en-US" smtClean="0"/>
              <a:pPr/>
              <a:t>1/12/2016</a:t>
            </a:fld>
            <a:endParaRPr lang="en-US"/>
          </a:p>
        </p:txBody>
      </p:sp>
      <p:sp>
        <p:nvSpPr>
          <p:cNvPr id="17" name="Espace réservé du pied de page 16"/>
          <p:cNvSpPr>
            <a:spLocks noGrp="1"/>
          </p:cNvSpPr>
          <p:nvPr>
            <p:ph type="ftr" sz="quarter" idx="11"/>
          </p:nvPr>
        </p:nvSpPr>
        <p:spPr/>
        <p:txBody>
          <a:bodyPr/>
          <a:lstStyle/>
          <a:p>
            <a:endParaRPr kumimoji="0" lang="en-US"/>
          </a:p>
        </p:txBody>
      </p:sp>
      <p:sp>
        <p:nvSpPr>
          <p:cNvPr id="7" name="Connecteur droit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Ellipse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Ellipse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Espace réservé du numéro de diapositive 28"/>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91974DF9-AD47-4691-BA21-BBFCE3637A9A}" type="slidenum">
              <a:rPr kumimoji="0" lang="en-US" smtClean="0"/>
              <a:pPr/>
              <a:t>‹N°›</a:t>
            </a:fld>
            <a:endParaRPr kumimoji="0" lang="en-US"/>
          </a:p>
        </p:txBody>
      </p:sp>
      <p:sp>
        <p:nvSpPr>
          <p:cNvPr id="8" name="Titre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fr-FR" smtClean="0"/>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solidFill>
                  <a:schemeClr val="accent3">
                    <a:shade val="75000"/>
                  </a:schemeClr>
                </a:solidFill>
              </a:defRPr>
            </a:lvl1pPr>
          </a:lstStyle>
          <a:p>
            <a:r>
              <a:rPr kumimoji="0" lang="fr-FR" smtClean="0"/>
              <a:t>Cliquez pour modifier le style du titre</a:t>
            </a:r>
            <a:endParaRPr kumimoji="0" lang="en-US"/>
          </a:p>
        </p:txBody>
      </p:sp>
      <p:sp>
        <p:nvSpPr>
          <p:cNvPr id="4" name="Espace réservé de la date 3"/>
          <p:cNvSpPr>
            <a:spLocks noGrp="1"/>
          </p:cNvSpPr>
          <p:nvPr>
            <p:ph type="dt" sz="half" idx="10"/>
          </p:nvPr>
        </p:nvSpPr>
        <p:spPr/>
        <p:txBody>
          <a:bodyPr/>
          <a:lstStyle/>
          <a:p>
            <a:fld id="{C699CB88-5E1A-4FAC-892A-60949ACB1F6F}" type="datetimeFigureOut">
              <a:rPr lang="en-US" smtClean="0"/>
              <a:pPr/>
              <a:t>1/12/2016</a:t>
            </a:fld>
            <a:endParaRPr lang="en-US"/>
          </a:p>
        </p:txBody>
      </p:sp>
      <p:sp>
        <p:nvSpPr>
          <p:cNvPr id="5" name="Espace réservé du pied de page 4"/>
          <p:cNvSpPr>
            <a:spLocks noGrp="1"/>
          </p:cNvSpPr>
          <p:nvPr>
            <p:ph type="ftr" sz="quarter" idx="11"/>
          </p:nvPr>
        </p:nvSpPr>
        <p:spPr/>
        <p:txBody>
          <a:bodyPr/>
          <a:lstStyle/>
          <a:p>
            <a:endParaRPr kumimoji="0" lang="en-US"/>
          </a:p>
        </p:txBody>
      </p:sp>
      <p:sp>
        <p:nvSpPr>
          <p:cNvPr id="6" name="Espace réservé du numéro de diapositive 5"/>
          <p:cNvSpPr>
            <a:spLocks noGrp="1"/>
          </p:cNvSpPr>
          <p:nvPr>
            <p:ph type="sldNum" sz="quarter" idx="12"/>
          </p:nvPr>
        </p:nvSpPr>
        <p:spPr>
          <a:xfrm>
            <a:off x="4361688" y="1026372"/>
            <a:ext cx="457200" cy="441325"/>
          </a:xfrm>
        </p:spPr>
        <p:txBody>
          <a:bodyPr/>
          <a:lstStyle/>
          <a:p>
            <a:fld id="{91974DF9-AD47-4691-BA21-BBFCE3637A9A}" type="slidenum">
              <a:rPr kumimoji="0" lang="en-US" smtClean="0"/>
              <a:pPr/>
              <a:t>‹N°›</a:t>
            </a:fld>
            <a:endParaRPr kumimoji="0" lang="en-US"/>
          </a:p>
        </p:txBody>
      </p:sp>
      <p:sp>
        <p:nvSpPr>
          <p:cNvPr id="8" name="Espace réservé du contenu 7"/>
          <p:cNvSpPr>
            <a:spLocks noGrp="1"/>
          </p:cNvSpPr>
          <p:nvPr>
            <p:ph sz="quarter" idx="1"/>
          </p:nvPr>
        </p:nvSpPr>
        <p:spPr>
          <a:xfrm>
            <a:off x="301752" y="1527048"/>
            <a:ext cx="8503920" cy="4572000"/>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Espace réservé du texte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fr-FR" smtClean="0"/>
              <a:t>Cliquez pour modifier les styles du texte du masque</a:t>
            </a:r>
          </a:p>
        </p:txBody>
      </p:sp>
      <p:sp>
        <p:nvSpPr>
          <p:cNvPr id="13" name="Rectangle 12"/>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Espace réservé du pied de page 4"/>
          <p:cNvSpPr>
            <a:spLocks noGrp="1"/>
          </p:cNvSpPr>
          <p:nvPr>
            <p:ph type="ftr" sz="quarter" idx="11"/>
          </p:nvPr>
        </p:nvSpPr>
        <p:spPr/>
        <p:txBody>
          <a:bodyPr/>
          <a:lstStyle/>
          <a:p>
            <a:endParaRPr kumimoji="0" lang="en-US"/>
          </a:p>
        </p:txBody>
      </p:sp>
      <p:sp>
        <p:nvSpPr>
          <p:cNvPr id="4" name="Espace réservé de la date 3"/>
          <p:cNvSpPr>
            <a:spLocks noGrp="1"/>
          </p:cNvSpPr>
          <p:nvPr>
            <p:ph type="dt" sz="half" idx="10"/>
          </p:nvPr>
        </p:nvSpPr>
        <p:spPr/>
        <p:txBody>
          <a:bodyPr/>
          <a:lstStyle/>
          <a:p>
            <a:fld id="{C699CB88-5E1A-4FAC-892A-60949ACB1F6F}" type="datetimeFigureOut">
              <a:rPr lang="en-US" smtClean="0"/>
              <a:pPr/>
              <a:t>1/12/2016</a:t>
            </a:fld>
            <a:endParaRPr lang="en-US"/>
          </a:p>
        </p:txBody>
      </p:sp>
      <p:sp>
        <p:nvSpPr>
          <p:cNvPr id="8" name="Connecteur droit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Ellipse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Ellipse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Espace réservé du numéro de diapositive 5"/>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91974DF9-AD47-4691-BA21-BBFCE3637A9A}" type="slidenum">
              <a:rPr kumimoji="0" lang="en-US" smtClean="0"/>
              <a:pPr/>
              <a:t>‹N°›</a:t>
            </a:fld>
            <a:endParaRPr kumimoji="0" lang="en-US"/>
          </a:p>
        </p:txBody>
      </p:sp>
      <p:sp>
        <p:nvSpPr>
          <p:cNvPr id="2" name="Titre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fr-FR" smtClean="0"/>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a:xfrm>
            <a:off x="301752" y="228600"/>
            <a:ext cx="8534400" cy="758952"/>
          </a:xfrm>
        </p:spPr>
        <p:txBody>
          <a:bodyPr/>
          <a:lstStyle/>
          <a:p>
            <a:r>
              <a:rPr kumimoji="0" lang="fr-FR" smtClean="0"/>
              <a:t>Cliquez pour modifier le style du titre</a:t>
            </a:r>
            <a:endParaRPr kumimoji="0" lang="en-US"/>
          </a:p>
        </p:txBody>
      </p:sp>
      <p:sp>
        <p:nvSpPr>
          <p:cNvPr id="5" name="Espace réservé de la date 4"/>
          <p:cNvSpPr>
            <a:spLocks noGrp="1"/>
          </p:cNvSpPr>
          <p:nvPr>
            <p:ph type="dt" sz="half" idx="10"/>
          </p:nvPr>
        </p:nvSpPr>
        <p:spPr>
          <a:xfrm>
            <a:off x="5791200" y="6409944"/>
            <a:ext cx="3044952" cy="365760"/>
          </a:xfrm>
        </p:spPr>
        <p:txBody>
          <a:bodyPr/>
          <a:lstStyle/>
          <a:p>
            <a:fld id="{C699CB88-5E1A-4FAC-892A-60949ACB1F6F}" type="datetimeFigureOut">
              <a:rPr lang="en-US" smtClean="0"/>
              <a:pPr/>
              <a:t>1/12/2016</a:t>
            </a:fld>
            <a:endParaRPr lang="en-US"/>
          </a:p>
        </p:txBody>
      </p:sp>
      <p:sp>
        <p:nvSpPr>
          <p:cNvPr id="6" name="Espace réservé du pied de page 5"/>
          <p:cNvSpPr>
            <a:spLocks noGrp="1"/>
          </p:cNvSpPr>
          <p:nvPr>
            <p:ph type="ftr" sz="quarter" idx="11"/>
          </p:nvPr>
        </p:nvSpPr>
        <p:spPr/>
        <p:txBody>
          <a:bodyPr/>
          <a:lstStyle/>
          <a:p>
            <a:endParaRPr kumimoji="0" lang="en-US"/>
          </a:p>
        </p:txBody>
      </p:sp>
      <p:sp>
        <p:nvSpPr>
          <p:cNvPr id="7" name="Espace réservé du numéro de diapositive 6"/>
          <p:cNvSpPr>
            <a:spLocks noGrp="1"/>
          </p:cNvSpPr>
          <p:nvPr>
            <p:ph type="sldNum" sz="quarter" idx="12"/>
          </p:nvPr>
        </p:nvSpPr>
        <p:spPr/>
        <p:txBody>
          <a:bodyPr/>
          <a:lstStyle/>
          <a:p>
            <a:fld id="{91974DF9-AD47-4691-BA21-BBFCE3637A9A}" type="slidenum">
              <a:rPr kumimoji="0" lang="en-US" smtClean="0"/>
              <a:pPr/>
              <a:t>‹N°›</a:t>
            </a:fld>
            <a:endParaRPr kumimoji="0" lang="en-US"/>
          </a:p>
        </p:txBody>
      </p:sp>
      <p:sp>
        <p:nvSpPr>
          <p:cNvPr id="8" name="Connecteur droit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Espace réservé du contenu 9"/>
          <p:cNvSpPr>
            <a:spLocks noGrp="1"/>
          </p:cNvSpPr>
          <p:nvPr>
            <p:ph sz="half" idx="1"/>
          </p:nvPr>
        </p:nvSpPr>
        <p:spPr>
          <a:xfrm>
            <a:off x="301752" y="1371600"/>
            <a:ext cx="4038600" cy="4681728"/>
          </a:xfrm>
        </p:spPr>
        <p:txBody>
          <a:bodyPr/>
          <a:lstStyle>
            <a:lvl1pPr>
              <a:defRPr sz="2500"/>
            </a:lvl1p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12" name="Espace réservé du contenu 11"/>
          <p:cNvSpPr>
            <a:spLocks noGrp="1"/>
          </p:cNvSpPr>
          <p:nvPr>
            <p:ph sz="half" idx="2"/>
          </p:nvPr>
        </p:nvSpPr>
        <p:spPr>
          <a:xfrm>
            <a:off x="4800600" y="1371600"/>
            <a:ext cx="4038600" cy="4681728"/>
          </a:xfrm>
        </p:spPr>
        <p:txBody>
          <a:bodyPr/>
          <a:lstStyle>
            <a:lvl1pPr>
              <a:defRPr sz="2500"/>
            </a:lvl1p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ison">
    <p:bg>
      <p:bgRef idx="1001">
        <a:schemeClr val="bg2"/>
      </p:bgRef>
    </p:bg>
    <p:spTree>
      <p:nvGrpSpPr>
        <p:cNvPr id="1" name=""/>
        <p:cNvGrpSpPr/>
        <p:nvPr/>
      </p:nvGrpSpPr>
      <p:grpSpPr>
        <a:xfrm>
          <a:off x="0" y="0"/>
          <a:ext cx="0" cy="0"/>
          <a:chOff x="0" y="0"/>
          <a:chExt cx="0" cy="0"/>
        </a:xfrm>
      </p:grpSpPr>
      <p:sp>
        <p:nvSpPr>
          <p:cNvPr id="10" name="Connecteur droit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Espace réservé du texte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fr-FR" smtClean="0"/>
              <a:t>Cliquez pour modifier les styles du texte du masque</a:t>
            </a:r>
          </a:p>
        </p:txBody>
      </p:sp>
      <p:sp>
        <p:nvSpPr>
          <p:cNvPr id="4" name="Espace réservé du texte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fr-FR" smtClean="0"/>
              <a:t>Cliquez pour modifier les styles du texte du masque</a:t>
            </a:r>
          </a:p>
        </p:txBody>
      </p:sp>
      <p:sp>
        <p:nvSpPr>
          <p:cNvPr id="7" name="Espace réservé de la date 6"/>
          <p:cNvSpPr>
            <a:spLocks noGrp="1"/>
          </p:cNvSpPr>
          <p:nvPr>
            <p:ph type="dt" sz="half" idx="10"/>
          </p:nvPr>
        </p:nvSpPr>
        <p:spPr/>
        <p:txBody>
          <a:bodyPr/>
          <a:lstStyle/>
          <a:p>
            <a:fld id="{C699CB88-5E1A-4FAC-892A-60949ACB1F6F}" type="datetimeFigureOut">
              <a:rPr lang="en-US" smtClean="0"/>
              <a:pPr/>
              <a:t>1/12/2016</a:t>
            </a:fld>
            <a:endParaRPr lang="en-US"/>
          </a:p>
        </p:txBody>
      </p:sp>
      <p:sp>
        <p:nvSpPr>
          <p:cNvPr id="8" name="Espace réservé du pied de page 7"/>
          <p:cNvSpPr>
            <a:spLocks noGrp="1"/>
          </p:cNvSpPr>
          <p:nvPr>
            <p:ph type="ftr" sz="quarter" idx="11"/>
          </p:nvPr>
        </p:nvSpPr>
        <p:spPr>
          <a:xfrm>
            <a:off x="304800" y="6409944"/>
            <a:ext cx="3581400" cy="365760"/>
          </a:xfrm>
        </p:spPr>
        <p:txBody>
          <a:bodyPr/>
          <a:lstStyle/>
          <a:p>
            <a:endParaRPr kumimoji="0" lang="en-US"/>
          </a:p>
        </p:txBody>
      </p:sp>
      <p:sp>
        <p:nvSpPr>
          <p:cNvPr id="15" name="Connecteur droit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Espace réservé du contenu 23"/>
          <p:cNvSpPr>
            <a:spLocks noGrp="1"/>
          </p:cNvSpPr>
          <p:nvPr>
            <p:ph sz="quarter" idx="2"/>
          </p:nvPr>
        </p:nvSpPr>
        <p:spPr>
          <a:xfrm>
            <a:off x="301752" y="2471383"/>
            <a:ext cx="4041648" cy="3818404"/>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26" name="Espace réservé du contenu 25"/>
          <p:cNvSpPr>
            <a:spLocks noGrp="1"/>
          </p:cNvSpPr>
          <p:nvPr>
            <p:ph sz="quarter" idx="4"/>
          </p:nvPr>
        </p:nvSpPr>
        <p:spPr>
          <a:xfrm>
            <a:off x="4800600" y="2471383"/>
            <a:ext cx="4038600" cy="3822192"/>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25" name="Ellipse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Ellipse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Espace réservé du numéro de diapositive 8"/>
          <p:cNvSpPr>
            <a:spLocks noGrp="1"/>
          </p:cNvSpPr>
          <p:nvPr>
            <p:ph type="sldNum" sz="quarter" idx="12"/>
          </p:nvPr>
        </p:nvSpPr>
        <p:spPr>
          <a:xfrm>
            <a:off x="4343400" y="1042416"/>
            <a:ext cx="457200" cy="441325"/>
          </a:xfrm>
        </p:spPr>
        <p:txBody>
          <a:bodyPr/>
          <a:lstStyle>
            <a:lvl1pPr algn="ctr">
              <a:defRPr/>
            </a:lvl1pPr>
          </a:lstStyle>
          <a:p>
            <a:fld id="{91974DF9-AD47-4691-BA21-BBFCE3637A9A}" type="slidenum">
              <a:rPr kumimoji="0" lang="en-US" smtClean="0"/>
              <a:pPr/>
              <a:t>‹N°›</a:t>
            </a:fld>
            <a:endParaRPr kumimoji="0" lang="en-US"/>
          </a:p>
        </p:txBody>
      </p:sp>
      <p:sp>
        <p:nvSpPr>
          <p:cNvPr id="23" name="Titre 22"/>
          <p:cNvSpPr>
            <a:spLocks noGrp="1"/>
          </p:cNvSpPr>
          <p:nvPr>
            <p:ph type="title"/>
          </p:nvPr>
        </p:nvSpPr>
        <p:spPr/>
        <p:txBody>
          <a:bodyPr rtlCol="0" anchor="b" anchorCtr="0"/>
          <a:lstStyle/>
          <a:p>
            <a:r>
              <a:rPr kumimoji="0" lang="fr-FR" smtClean="0"/>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3" name="Espace réservé de la date 2"/>
          <p:cNvSpPr>
            <a:spLocks noGrp="1"/>
          </p:cNvSpPr>
          <p:nvPr>
            <p:ph type="dt" sz="half" idx="10"/>
          </p:nvPr>
        </p:nvSpPr>
        <p:spPr/>
        <p:txBody>
          <a:bodyPr/>
          <a:lstStyle/>
          <a:p>
            <a:fld id="{C699CB88-5E1A-4FAC-892A-60949ACB1F6F}" type="datetimeFigureOut">
              <a:rPr lang="en-US" smtClean="0"/>
              <a:pPr/>
              <a:t>1/12/2016</a:t>
            </a:fld>
            <a:endParaRPr lang="en-US"/>
          </a:p>
        </p:txBody>
      </p:sp>
      <p:sp>
        <p:nvSpPr>
          <p:cNvPr id="4" name="Espace réservé du pied de page 3"/>
          <p:cNvSpPr>
            <a:spLocks noGrp="1"/>
          </p:cNvSpPr>
          <p:nvPr>
            <p:ph type="ftr" sz="quarter" idx="11"/>
          </p:nvPr>
        </p:nvSpPr>
        <p:spPr/>
        <p:txBody>
          <a:bodyPr/>
          <a:lstStyle/>
          <a:p>
            <a:endParaRPr kumimoji="0" lang="en-US"/>
          </a:p>
        </p:txBody>
      </p:sp>
      <p:sp>
        <p:nvSpPr>
          <p:cNvPr id="5" name="Espace réservé du numéro de diapositive 4"/>
          <p:cNvSpPr>
            <a:spLocks noGrp="1"/>
          </p:cNvSpPr>
          <p:nvPr>
            <p:ph type="sldNum" sz="quarter" idx="12"/>
          </p:nvPr>
        </p:nvSpPr>
        <p:spPr>
          <a:xfrm>
            <a:off x="4343400" y="1036020"/>
            <a:ext cx="457200" cy="441325"/>
          </a:xfrm>
        </p:spPr>
        <p:txBody>
          <a:bodyPr/>
          <a:lstStyle/>
          <a:p>
            <a:fld id="{91974DF9-AD47-4691-BA21-BBFCE3637A9A}" type="slidenum">
              <a:rPr kumimoji="0" lang="en-US" smtClean="0"/>
              <a:pPr/>
              <a:t>‹N°›</a:t>
            </a:fld>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Espace réservé de la date 1"/>
          <p:cNvSpPr>
            <a:spLocks noGrp="1"/>
          </p:cNvSpPr>
          <p:nvPr>
            <p:ph type="dt" sz="half" idx="10"/>
          </p:nvPr>
        </p:nvSpPr>
        <p:spPr/>
        <p:txBody>
          <a:bodyPr/>
          <a:lstStyle/>
          <a:p>
            <a:fld id="{C699CB88-5E1A-4FAC-892A-60949ACB1F6F}" type="datetimeFigureOut">
              <a:rPr lang="en-US" smtClean="0"/>
              <a:pPr/>
              <a:t>1/12/2016</a:t>
            </a:fld>
            <a:endParaRPr lang="en-US"/>
          </a:p>
        </p:txBody>
      </p:sp>
      <p:sp>
        <p:nvSpPr>
          <p:cNvPr id="3" name="Espace réservé du pied de page 2"/>
          <p:cNvSpPr>
            <a:spLocks noGrp="1"/>
          </p:cNvSpPr>
          <p:nvPr>
            <p:ph type="ftr" sz="quarter" idx="11"/>
          </p:nvPr>
        </p:nvSpPr>
        <p:spPr/>
        <p:txBody>
          <a:bodyPr/>
          <a:lstStyle/>
          <a:p>
            <a:endParaRPr kumimoji="0" lang="en-US"/>
          </a:p>
        </p:txBody>
      </p:sp>
      <p:sp>
        <p:nvSpPr>
          <p:cNvPr id="4" name="Espace réservé du numéro de diapositive 3"/>
          <p:cNvSpPr>
            <a:spLocks noGrp="1"/>
          </p:cNvSpPr>
          <p:nvPr>
            <p:ph type="sldNum" sz="quarter" idx="12"/>
          </p:nvPr>
        </p:nvSpPr>
        <p:spPr>
          <a:xfrm>
            <a:off x="4267200" y="6324600"/>
            <a:ext cx="609600" cy="441324"/>
          </a:xfrm>
        </p:spPr>
        <p:txBody>
          <a:bodyPr/>
          <a:lstStyle>
            <a:lvl1pPr>
              <a:defRPr>
                <a:solidFill>
                  <a:srgbClr val="FFFFFF"/>
                </a:solidFill>
              </a:defRPr>
            </a:lvl1pPr>
          </a:lstStyle>
          <a:p>
            <a:fld id="{91974DF9-AD47-4691-BA21-BBFCE3637A9A}" type="slidenum">
              <a:rPr kumimoji="0" lang="en-US" smtClean="0"/>
              <a:pPr/>
              <a:t>‹N°›</a:t>
            </a:fld>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re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fr-FR" smtClean="0"/>
              <a:t>Cliquez pour modifier le style du titre</a:t>
            </a:r>
            <a:endParaRPr kumimoji="0" lang="en-US"/>
          </a:p>
        </p:txBody>
      </p:sp>
      <p:sp>
        <p:nvSpPr>
          <p:cNvPr id="3" name="Espace réservé du texte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fr-FR" smtClean="0"/>
              <a:t>Cliquez pour modifier les styles du texte du masque</a:t>
            </a:r>
          </a:p>
        </p:txBody>
      </p:sp>
      <p:sp>
        <p:nvSpPr>
          <p:cNvPr id="8" name="Rectangle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Connecteur droit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Espace réservé du contenu 19"/>
          <p:cNvSpPr>
            <a:spLocks noGrp="1"/>
          </p:cNvSpPr>
          <p:nvPr>
            <p:ph sz="quarter" idx="1"/>
          </p:nvPr>
        </p:nvSpPr>
        <p:spPr>
          <a:xfrm>
            <a:off x="3124200" y="685800"/>
            <a:ext cx="5638800" cy="5410200"/>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10" name="Ellipse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Ellipse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Espace réservé du numéro de diapositive 6"/>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fld id="{91974DF9-AD47-4691-BA21-BBFCE3637A9A}" type="slidenum">
              <a:rPr kumimoji="0" lang="en-US" smtClean="0"/>
              <a:pPr/>
              <a:t>‹N°›</a:t>
            </a:fld>
            <a:endParaRPr kumimoji="0" lang="en-US"/>
          </a:p>
        </p:txBody>
      </p:sp>
      <p:sp>
        <p:nvSpPr>
          <p:cNvPr id="21" name="Rectangle 20"/>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Espace réservé de la date 4"/>
          <p:cNvSpPr>
            <a:spLocks noGrp="1"/>
          </p:cNvSpPr>
          <p:nvPr>
            <p:ph type="dt" sz="half" idx="10"/>
          </p:nvPr>
        </p:nvSpPr>
        <p:spPr/>
        <p:txBody>
          <a:bodyPr/>
          <a:lstStyle/>
          <a:p>
            <a:fld id="{C699CB88-5E1A-4FAC-892A-60949ACB1F6F}" type="datetimeFigureOut">
              <a:rPr lang="en-US" smtClean="0"/>
              <a:pPr/>
              <a:t>1/12/2016</a:t>
            </a:fld>
            <a:endParaRPr lang="en-US"/>
          </a:p>
        </p:txBody>
      </p:sp>
      <p:sp>
        <p:nvSpPr>
          <p:cNvPr id="6" name="Espace réservé du pied de page 5"/>
          <p:cNvSpPr>
            <a:spLocks noGrp="1"/>
          </p:cNvSpPr>
          <p:nvPr>
            <p:ph type="ftr" sz="quarter" idx="11"/>
          </p:nvPr>
        </p:nvSpPr>
        <p:spPr>
          <a:xfrm>
            <a:off x="301752" y="6410848"/>
            <a:ext cx="3383280" cy="365760"/>
          </a:xfrm>
        </p:spPr>
        <p:txBody>
          <a:bodyPr/>
          <a:lstStyle/>
          <a:p>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21" name="Connecteur droit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Ellipse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Ellipse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Espace réservé du numéro de diapositive 6"/>
          <p:cNvSpPr>
            <a:spLocks noGrp="1"/>
          </p:cNvSpPr>
          <p:nvPr>
            <p:ph type="sldNum" sz="quarter" idx="12"/>
          </p:nvPr>
        </p:nvSpPr>
        <p:spPr>
          <a:xfrm>
            <a:off x="1371600" y="312738"/>
            <a:ext cx="457200" cy="441325"/>
          </a:xfrm>
        </p:spPr>
        <p:txBody>
          <a:bodyPr/>
          <a:lstStyle/>
          <a:p>
            <a:fld id="{91974DF9-AD47-4691-BA21-BBFCE3637A9A}" type="slidenum">
              <a:rPr kumimoji="0" lang="en-US" smtClean="0"/>
              <a:pPr/>
              <a:t>‹N°›</a:t>
            </a:fld>
            <a:endParaRPr kumimoji="0" lang="en-US"/>
          </a:p>
        </p:txBody>
      </p:sp>
      <p:sp>
        <p:nvSpPr>
          <p:cNvPr id="2" name="Titre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fr-FR" smtClean="0"/>
              <a:t>Cliquez pour modifier le style du titre</a:t>
            </a:r>
            <a:endParaRPr kumimoji="0" lang="en-US"/>
          </a:p>
        </p:txBody>
      </p:sp>
      <p:sp>
        <p:nvSpPr>
          <p:cNvPr id="3" name="Espace réservé pour une image  2"/>
          <p:cNvSpPr>
            <a:spLocks noGrp="1"/>
          </p:cNvSpPr>
          <p:nvPr>
            <p:ph type="pic" idx="1"/>
          </p:nvPr>
        </p:nvSpPr>
        <p:spPr>
          <a:xfrm>
            <a:off x="3000375" y="609600"/>
            <a:ext cx="5867400" cy="4267200"/>
          </a:xfrm>
        </p:spPr>
        <p:txBody>
          <a:bodyPr/>
          <a:lstStyle>
            <a:lvl1pPr marL="0" indent="0">
              <a:buNone/>
              <a:defRPr sz="3200"/>
            </a:lvl1pPr>
          </a:lstStyle>
          <a:p>
            <a:r>
              <a:rPr kumimoji="0" lang="fr-FR" smtClean="0"/>
              <a:t>Cliquez sur l'icône pour ajouter une image</a:t>
            </a:r>
            <a:endParaRPr kumimoji="0" lang="en-US" dirty="0"/>
          </a:p>
        </p:txBody>
      </p:sp>
      <p:sp>
        <p:nvSpPr>
          <p:cNvPr id="4" name="Espace réservé du texte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fr-FR" smtClean="0"/>
              <a:t>Cliquez pour modifier les styles du texte du masque</a:t>
            </a:r>
          </a:p>
        </p:txBody>
      </p:sp>
      <p:sp>
        <p:nvSpPr>
          <p:cNvPr id="22" name="Rectangle 21"/>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Espace réservé de la date 4"/>
          <p:cNvSpPr>
            <a:spLocks noGrp="1"/>
          </p:cNvSpPr>
          <p:nvPr>
            <p:ph type="dt" sz="half" idx="10"/>
          </p:nvPr>
        </p:nvSpPr>
        <p:spPr>
          <a:xfrm>
            <a:off x="5788152" y="6404984"/>
            <a:ext cx="3044952" cy="365760"/>
          </a:xfrm>
        </p:spPr>
        <p:txBody>
          <a:bodyPr/>
          <a:lstStyle/>
          <a:p>
            <a:fld id="{C699CB88-5E1A-4FAC-892A-60949ACB1F6F}" type="datetimeFigureOut">
              <a:rPr lang="en-US" smtClean="0"/>
              <a:pPr/>
              <a:t>1/12/2016</a:t>
            </a:fld>
            <a:endParaRPr lang="en-US"/>
          </a:p>
        </p:txBody>
      </p:sp>
      <p:sp>
        <p:nvSpPr>
          <p:cNvPr id="6" name="Espace réservé du pied de page 5"/>
          <p:cNvSpPr>
            <a:spLocks noGrp="1"/>
          </p:cNvSpPr>
          <p:nvPr>
            <p:ph type="ftr" sz="quarter" idx="11"/>
          </p:nvPr>
        </p:nvSpPr>
        <p:spPr>
          <a:xfrm>
            <a:off x="301752" y="6410848"/>
            <a:ext cx="3584448" cy="365760"/>
          </a:xfrm>
        </p:spPr>
        <p:txBody>
          <a:bodyPr/>
          <a:lstStyle/>
          <a:p>
            <a:endParaRPr kumimoji="0"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3" name="Espace réservé du texte vertical 2"/>
          <p:cNvSpPr>
            <a:spLocks noGrp="1"/>
          </p:cNvSpPr>
          <p:nvPr>
            <p:ph type="body" orient="vert" idx="1"/>
          </p:nvPr>
        </p:nvSpPr>
        <p:spPr/>
        <p:txBody>
          <a:bodyPr vert="eaVer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C699CB88-5E1A-4FAC-892A-60949ACB1F6F}" type="datetimeFigureOut">
              <a:rPr lang="en-US" smtClean="0"/>
              <a:pPr/>
              <a:t>1/12/2016</a:t>
            </a:fld>
            <a:endParaRPr lang="en-US"/>
          </a:p>
        </p:txBody>
      </p:sp>
      <p:sp>
        <p:nvSpPr>
          <p:cNvPr id="5" name="Espace réservé du pied de page 4"/>
          <p:cNvSpPr>
            <a:spLocks noGrp="1"/>
          </p:cNvSpPr>
          <p:nvPr>
            <p:ph type="ftr" sz="quarter" idx="11"/>
          </p:nvPr>
        </p:nvSpPr>
        <p:spPr/>
        <p:txBody>
          <a:bodyPr/>
          <a:lstStyle/>
          <a:p>
            <a:endParaRPr kumimoji="0" lang="en-US"/>
          </a:p>
        </p:txBody>
      </p:sp>
      <p:sp>
        <p:nvSpPr>
          <p:cNvPr id="6" name="Espace réservé du numéro de diapositive 5"/>
          <p:cNvSpPr>
            <a:spLocks noGrp="1"/>
          </p:cNvSpPr>
          <p:nvPr>
            <p:ph type="sldNum" sz="quarter" idx="12"/>
          </p:nvPr>
        </p:nvSpPr>
        <p:spPr/>
        <p:txBody>
          <a:bodyPr/>
          <a:lstStyle/>
          <a:p>
            <a:fld id="{91974DF9-AD47-4691-BA21-BBFCE3637A9A}" type="slidenum">
              <a:rPr kumimoji="0" lang="en-US" smtClean="0"/>
              <a:pPr/>
              <a:t>‹N°›</a:t>
            </a:fld>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Connecteur droit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Ellipse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Ellipse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Espace réservé du numéro de diapositive 5"/>
          <p:cNvSpPr>
            <a:spLocks noGrp="1"/>
          </p:cNvSpPr>
          <p:nvPr>
            <p:ph type="sldNum" sz="quarter" idx="12"/>
          </p:nvPr>
        </p:nvSpPr>
        <p:spPr>
          <a:xfrm>
            <a:off x="6915912" y="3009901"/>
            <a:ext cx="457200" cy="441325"/>
          </a:xfrm>
        </p:spPr>
        <p:txBody>
          <a:bodyPr/>
          <a:lstStyle/>
          <a:p>
            <a:fld id="{91974DF9-AD47-4691-BA21-BBFCE3637A9A}" type="slidenum">
              <a:rPr kumimoji="0" lang="en-US" smtClean="0"/>
              <a:pPr/>
              <a:t>‹N°›</a:t>
            </a:fld>
            <a:endParaRPr kumimoji="0" lang="en-US"/>
          </a:p>
        </p:txBody>
      </p:sp>
      <p:sp>
        <p:nvSpPr>
          <p:cNvPr id="3" name="Espace réservé du texte vertical 2"/>
          <p:cNvSpPr>
            <a:spLocks noGrp="1"/>
          </p:cNvSpPr>
          <p:nvPr>
            <p:ph type="body" orient="vert" idx="1"/>
          </p:nvPr>
        </p:nvSpPr>
        <p:spPr>
          <a:xfrm>
            <a:off x="304800" y="304800"/>
            <a:ext cx="6553200" cy="5821366"/>
          </a:xfrm>
        </p:spPr>
        <p:txBody>
          <a:bodyPr vert="eaVer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C699CB88-5E1A-4FAC-892A-60949ACB1F6F}" type="datetimeFigureOut">
              <a:rPr lang="en-US" smtClean="0"/>
              <a:pPr/>
              <a:t>1/12/2016</a:t>
            </a:fld>
            <a:endParaRPr lang="en-US"/>
          </a:p>
        </p:txBody>
      </p:sp>
      <p:sp>
        <p:nvSpPr>
          <p:cNvPr id="5" name="Espace réservé du pied de page 4"/>
          <p:cNvSpPr>
            <a:spLocks noGrp="1"/>
          </p:cNvSpPr>
          <p:nvPr>
            <p:ph type="ftr" sz="quarter" idx="11"/>
          </p:nvPr>
        </p:nvSpPr>
        <p:spPr/>
        <p:txBody>
          <a:bodyPr/>
          <a:lstStyle/>
          <a:p>
            <a:endParaRPr kumimoji="0" lang="en-US"/>
          </a:p>
        </p:txBody>
      </p:sp>
      <p:sp>
        <p:nvSpPr>
          <p:cNvPr id="2" name="Titre vertical 1"/>
          <p:cNvSpPr>
            <a:spLocks noGrp="1"/>
          </p:cNvSpPr>
          <p:nvPr>
            <p:ph type="title" orient="vert"/>
          </p:nvPr>
        </p:nvSpPr>
        <p:spPr>
          <a:xfrm>
            <a:off x="7391400" y="304801"/>
            <a:ext cx="1447800" cy="5851525"/>
          </a:xfrm>
        </p:spPr>
        <p:txBody>
          <a:bodyPr vert="eaVert"/>
          <a:lstStyle/>
          <a:p>
            <a:r>
              <a:rPr kumimoji="0" lang="fr-FR" smtClean="0"/>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cSld name="Titre et 4 contenus">
    <p:spTree>
      <p:nvGrpSpPr>
        <p:cNvPr id="1" name=""/>
        <p:cNvGrpSpPr/>
        <p:nvPr/>
      </p:nvGrpSpPr>
      <p:grpSpPr>
        <a:xfrm>
          <a:off x="0" y="0"/>
          <a:ext cx="0" cy="0"/>
          <a:chOff x="0" y="0"/>
          <a:chExt cx="0" cy="0"/>
        </a:xfrm>
      </p:grpSpPr>
      <p:sp>
        <p:nvSpPr>
          <p:cNvPr id="2" name="Titre 1"/>
          <p:cNvSpPr>
            <a:spLocks noGrp="1"/>
          </p:cNvSpPr>
          <p:nvPr>
            <p:ph type="title" sz="quarter"/>
          </p:nvPr>
        </p:nvSpPr>
        <p:spPr>
          <a:xfrm>
            <a:off x="838200" y="77788"/>
            <a:ext cx="7391400" cy="684212"/>
          </a:xfrm>
        </p:spPr>
        <p:txBody>
          <a:bodyPr/>
          <a:lstStyle/>
          <a:p>
            <a:r>
              <a:rPr lang="fr-FR" smtClean="0"/>
              <a:t>Cliquez pour modifier le style du titre</a:t>
            </a:r>
            <a:endParaRPr lang="fr-FR"/>
          </a:p>
        </p:txBody>
      </p:sp>
      <p:sp>
        <p:nvSpPr>
          <p:cNvPr id="3" name="Espace réservé du contenu 2"/>
          <p:cNvSpPr>
            <a:spLocks noGrp="1"/>
          </p:cNvSpPr>
          <p:nvPr>
            <p:ph sz="quarter" idx="1"/>
          </p:nvPr>
        </p:nvSpPr>
        <p:spPr>
          <a:xfrm>
            <a:off x="1050925" y="1447800"/>
            <a:ext cx="3436938" cy="2270125"/>
          </a:xfrm>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quarter" idx="2"/>
          </p:nvPr>
        </p:nvSpPr>
        <p:spPr>
          <a:xfrm>
            <a:off x="4640263" y="1447800"/>
            <a:ext cx="3436937" cy="2270125"/>
          </a:xfrm>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contenu 4"/>
          <p:cNvSpPr>
            <a:spLocks noGrp="1"/>
          </p:cNvSpPr>
          <p:nvPr>
            <p:ph sz="quarter" idx="3"/>
          </p:nvPr>
        </p:nvSpPr>
        <p:spPr>
          <a:xfrm>
            <a:off x="1050925" y="3870325"/>
            <a:ext cx="3436938" cy="2271713"/>
          </a:xfrm>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contenu 5"/>
          <p:cNvSpPr>
            <a:spLocks noGrp="1"/>
          </p:cNvSpPr>
          <p:nvPr>
            <p:ph sz="quarter" idx="4"/>
          </p:nvPr>
        </p:nvSpPr>
        <p:spPr>
          <a:xfrm>
            <a:off x="4640263" y="3870325"/>
            <a:ext cx="3436937" cy="2271713"/>
          </a:xfrm>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Espace réservé de la date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fld id="{C699CB88-5E1A-4FAC-892A-60949ACB1F6F}" type="datetimeFigureOut">
              <a:rPr lang="en-US" smtClean="0"/>
              <a:pPr/>
              <a:t>1/12/2016</a:t>
            </a:fld>
            <a:endParaRPr lang="en-US"/>
          </a:p>
        </p:txBody>
      </p:sp>
      <p:sp>
        <p:nvSpPr>
          <p:cNvPr id="3" name="Espace réservé du pied de page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endParaRPr kumimoji="0" lang="en-US"/>
          </a:p>
        </p:txBody>
      </p:sp>
      <p:sp>
        <p:nvSpPr>
          <p:cNvPr id="8" name="Rectangle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Connecteur droit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Ellipse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Ellipse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Espace réservé du numéro de diapositive 22"/>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91974DF9-AD47-4691-BA21-BBFCE3637A9A}" type="slidenum">
              <a:rPr kumimoji="0" lang="en-US" smtClean="0"/>
              <a:pPr/>
              <a:t>‹N°›</a:t>
            </a:fld>
            <a:endParaRPr kumimoji="0" lang="en-US"/>
          </a:p>
        </p:txBody>
      </p:sp>
      <p:sp>
        <p:nvSpPr>
          <p:cNvPr id="22" name="Espace réservé du titre 21"/>
          <p:cNvSpPr>
            <a:spLocks noGrp="1"/>
          </p:cNvSpPr>
          <p:nvPr>
            <p:ph type="title"/>
          </p:nvPr>
        </p:nvSpPr>
        <p:spPr>
          <a:xfrm>
            <a:off x="301752" y="228600"/>
            <a:ext cx="8534400" cy="758952"/>
          </a:xfrm>
          <a:prstGeom prst="rect">
            <a:avLst/>
          </a:prstGeom>
        </p:spPr>
        <p:txBody>
          <a:bodyPr vert="horz" anchor="b">
            <a:normAutofit/>
          </a:bodyPr>
          <a:lstStyle/>
          <a:p>
            <a:r>
              <a:rPr kumimoji="0" lang="fr-FR" smtClean="0"/>
              <a:t>Cliquez pour modifier le style du titre</a:t>
            </a:r>
            <a:endParaRPr kumimoji="0" lang="en-US"/>
          </a:p>
        </p:txBody>
      </p:sp>
      <p:sp>
        <p:nvSpPr>
          <p:cNvPr id="13" name="Espace réservé du texte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fr-FR" smtClean="0"/>
              <a:t>Cliquez pour modifier les styles du texte du masque</a:t>
            </a:r>
          </a:p>
          <a:p>
            <a:pPr lvl="1" eaLnBrk="1" latinLnBrk="0" hangingPunct="1"/>
            <a:r>
              <a:rPr kumimoji="0" lang="fr-FR" smtClean="0"/>
              <a:t>Deuxième niveau</a:t>
            </a:r>
          </a:p>
          <a:p>
            <a:pPr lvl="2" eaLnBrk="1" latinLnBrk="0" hangingPunct="1"/>
            <a:r>
              <a:rPr kumimoji="0" lang="fr-FR" smtClean="0"/>
              <a:t>Troisième niveau</a:t>
            </a:r>
          </a:p>
          <a:p>
            <a:pPr lvl="3" eaLnBrk="1" latinLnBrk="0" hangingPunct="1"/>
            <a:r>
              <a:rPr kumimoji="0" lang="fr-FR" smtClean="0"/>
              <a:t>Quatrième niveau</a:t>
            </a:r>
          </a:p>
          <a:p>
            <a:pPr lvl="4" eaLnBrk="1" latinLnBrk="0" hangingPunct="1"/>
            <a:r>
              <a:rPr kumimoji="0" lang="fr-FR" smtClean="0"/>
              <a:t>Cinquième niveau</a:t>
            </a:r>
            <a:endParaRPr kumimoji="0" lang="en-US"/>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xml"/><Relationship Id="rId1" Type="http://schemas.openxmlformats.org/officeDocument/2006/relationships/tags" Target="../tags/tag1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6.xml"/><Relationship Id="rId1" Type="http://schemas.openxmlformats.org/officeDocument/2006/relationships/tags" Target="../tags/tag15.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18.xml"/><Relationship Id="rId5" Type="http://schemas.openxmlformats.org/officeDocument/2006/relationships/image" Target="../media/image3.emf"/><Relationship Id="rId4" Type="http://schemas.openxmlformats.org/officeDocument/2006/relationships/hyperlink" Target="../../animations%2043/2182A_2277A_08_A_IPSEC.EXE" TargetMode="External"/></Relationships>
</file>

<file path=ppt/slides/_rels/slide5.xml.rels><?xml version="1.0" encoding="UTF-8" standalone="yes"?>
<Relationships xmlns="http://schemas.openxmlformats.org/package/2006/relationships"><Relationship Id="rId3" Type="http://schemas.openxmlformats.org/officeDocument/2006/relationships/tags" Target="../tags/tag22.xml"/><Relationship Id="rId7" Type="http://schemas.openxmlformats.org/officeDocument/2006/relationships/image" Target="../media/image4.png"/><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notesSlide" Target="../notesSlides/notesSlide5.xml"/><Relationship Id="rId5" Type="http://schemas.openxmlformats.org/officeDocument/2006/relationships/slideLayout" Target="../slideLayouts/slideLayout2.xml"/><Relationship Id="rId4" Type="http://schemas.openxmlformats.org/officeDocument/2006/relationships/tags" Target="../tags/tag23.xml"/></Relationships>
</file>

<file path=ppt/slides/_rels/slide6.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0.png"/><Relationship Id="rId3" Type="http://schemas.openxmlformats.org/officeDocument/2006/relationships/tags" Target="../tags/tag27.xml"/><Relationship Id="rId7" Type="http://schemas.openxmlformats.org/officeDocument/2006/relationships/notesSlide" Target="../notesSlides/notesSlide6.xml"/><Relationship Id="rId12" Type="http://schemas.openxmlformats.org/officeDocument/2006/relationships/image" Target="../media/image9.png"/><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slideLayout" Target="../slideLayouts/slideLayout12.xml"/><Relationship Id="rId11" Type="http://schemas.openxmlformats.org/officeDocument/2006/relationships/image" Target="../media/image8.png"/><Relationship Id="rId5" Type="http://schemas.openxmlformats.org/officeDocument/2006/relationships/tags" Target="../tags/tag29.xml"/><Relationship Id="rId10" Type="http://schemas.openxmlformats.org/officeDocument/2006/relationships/image" Target="../media/image7.png"/><Relationship Id="rId4" Type="http://schemas.openxmlformats.org/officeDocument/2006/relationships/tags" Target="../tags/tag28.xml"/><Relationship Id="rId9" Type="http://schemas.openxmlformats.org/officeDocument/2006/relationships/image" Target="../media/image6.png"/><Relationship Id="rId1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2.xml"/><Relationship Id="rId1" Type="http://schemas.openxmlformats.org/officeDocument/2006/relationships/tags" Target="../tags/tag31.xml"/><Relationship Id="rId5" Type="http://schemas.openxmlformats.org/officeDocument/2006/relationships/image" Target="../media/image4.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34.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7.xml"/><Relationship Id="rId1" Type="http://schemas.openxmlformats.org/officeDocument/2006/relationships/tags" Target="../tags/tag36.xml"/><Relationship Id="rId5" Type="http://schemas.openxmlformats.org/officeDocument/2006/relationships/image" Target="../media/image4.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0.xml"/><Relationship Id="rId1" Type="http://schemas.openxmlformats.org/officeDocument/2006/relationships/tags" Target="../tags/tag39.xml"/><Relationship Id="rId5" Type="http://schemas.openxmlformats.org/officeDocument/2006/relationships/image" Target="../media/image4.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3.xml"/><Relationship Id="rId1" Type="http://schemas.openxmlformats.org/officeDocument/2006/relationships/tags" Target="../tags/tag4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tags" Target="../tags/tag47.xml"/><Relationship Id="rId7" Type="http://schemas.openxmlformats.org/officeDocument/2006/relationships/image" Target="../media/image11.png"/><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image" Target="../media/image4.png"/><Relationship Id="rId5" Type="http://schemas.openxmlformats.org/officeDocument/2006/relationships/notesSlide" Target="../notesSlides/notesSlide12.xml"/><Relationship Id="rId4"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8" Type="http://schemas.openxmlformats.org/officeDocument/2006/relationships/tags" Target="../tags/tag56.xml"/><Relationship Id="rId13" Type="http://schemas.openxmlformats.org/officeDocument/2006/relationships/tags" Target="../tags/tag61.xml"/><Relationship Id="rId18" Type="http://schemas.openxmlformats.org/officeDocument/2006/relationships/tags" Target="../tags/tag66.xml"/><Relationship Id="rId26" Type="http://schemas.openxmlformats.org/officeDocument/2006/relationships/image" Target="../media/image12.png"/><Relationship Id="rId3" Type="http://schemas.openxmlformats.org/officeDocument/2006/relationships/tags" Target="../tags/tag51.xml"/><Relationship Id="rId21" Type="http://schemas.openxmlformats.org/officeDocument/2006/relationships/tags" Target="../tags/tag69.xml"/><Relationship Id="rId34" Type="http://schemas.openxmlformats.org/officeDocument/2006/relationships/image" Target="../media/image20.png"/><Relationship Id="rId7" Type="http://schemas.openxmlformats.org/officeDocument/2006/relationships/tags" Target="../tags/tag55.xml"/><Relationship Id="rId12" Type="http://schemas.openxmlformats.org/officeDocument/2006/relationships/tags" Target="../tags/tag60.xml"/><Relationship Id="rId17" Type="http://schemas.openxmlformats.org/officeDocument/2006/relationships/tags" Target="../tags/tag65.xml"/><Relationship Id="rId25" Type="http://schemas.openxmlformats.org/officeDocument/2006/relationships/notesSlide" Target="../notesSlides/notesSlide13.xml"/><Relationship Id="rId33" Type="http://schemas.openxmlformats.org/officeDocument/2006/relationships/image" Target="../media/image19.png"/><Relationship Id="rId2" Type="http://schemas.openxmlformats.org/officeDocument/2006/relationships/tags" Target="../tags/tag50.xml"/><Relationship Id="rId16" Type="http://schemas.openxmlformats.org/officeDocument/2006/relationships/tags" Target="../tags/tag64.xml"/><Relationship Id="rId20" Type="http://schemas.openxmlformats.org/officeDocument/2006/relationships/tags" Target="../tags/tag68.xml"/><Relationship Id="rId29" Type="http://schemas.openxmlformats.org/officeDocument/2006/relationships/image" Target="../media/image15.png"/><Relationship Id="rId1" Type="http://schemas.openxmlformats.org/officeDocument/2006/relationships/tags" Target="../tags/tag49.xml"/><Relationship Id="rId6" Type="http://schemas.openxmlformats.org/officeDocument/2006/relationships/tags" Target="../tags/tag54.xml"/><Relationship Id="rId11" Type="http://schemas.openxmlformats.org/officeDocument/2006/relationships/tags" Target="../tags/tag59.xml"/><Relationship Id="rId24" Type="http://schemas.openxmlformats.org/officeDocument/2006/relationships/slideLayout" Target="../slideLayouts/slideLayout2.xml"/><Relationship Id="rId32" Type="http://schemas.openxmlformats.org/officeDocument/2006/relationships/image" Target="../media/image18.png"/><Relationship Id="rId5" Type="http://schemas.openxmlformats.org/officeDocument/2006/relationships/tags" Target="../tags/tag53.xml"/><Relationship Id="rId15" Type="http://schemas.openxmlformats.org/officeDocument/2006/relationships/tags" Target="../tags/tag63.xml"/><Relationship Id="rId23" Type="http://schemas.openxmlformats.org/officeDocument/2006/relationships/tags" Target="../tags/tag71.xml"/><Relationship Id="rId28" Type="http://schemas.openxmlformats.org/officeDocument/2006/relationships/image" Target="../media/image14.png"/><Relationship Id="rId36" Type="http://schemas.openxmlformats.org/officeDocument/2006/relationships/image" Target="../media/image22.png"/><Relationship Id="rId10" Type="http://schemas.openxmlformats.org/officeDocument/2006/relationships/tags" Target="../tags/tag58.xml"/><Relationship Id="rId19" Type="http://schemas.openxmlformats.org/officeDocument/2006/relationships/tags" Target="../tags/tag67.xml"/><Relationship Id="rId31" Type="http://schemas.openxmlformats.org/officeDocument/2006/relationships/image" Target="../media/image17.png"/><Relationship Id="rId4" Type="http://schemas.openxmlformats.org/officeDocument/2006/relationships/tags" Target="../tags/tag52.xml"/><Relationship Id="rId9" Type="http://schemas.openxmlformats.org/officeDocument/2006/relationships/tags" Target="../tags/tag57.xml"/><Relationship Id="rId14" Type="http://schemas.openxmlformats.org/officeDocument/2006/relationships/tags" Target="../tags/tag62.xml"/><Relationship Id="rId22" Type="http://schemas.openxmlformats.org/officeDocument/2006/relationships/tags" Target="../tags/tag70.xml"/><Relationship Id="rId27" Type="http://schemas.openxmlformats.org/officeDocument/2006/relationships/image" Target="../media/image13.png"/><Relationship Id="rId30" Type="http://schemas.openxmlformats.org/officeDocument/2006/relationships/image" Target="../media/image16.png"/><Relationship Id="rId35" Type="http://schemas.openxmlformats.org/officeDocument/2006/relationships/image" Target="../media/image21.png"/></Relationships>
</file>

<file path=ppt/slides/_rels/slide14.xml.rels><?xml version="1.0" encoding="UTF-8" standalone="yes"?>
<Relationships xmlns="http://schemas.openxmlformats.org/package/2006/relationships"><Relationship Id="rId8" Type="http://schemas.openxmlformats.org/officeDocument/2006/relationships/notesSlide" Target="../notesSlides/notesSlide14.xml"/><Relationship Id="rId3" Type="http://schemas.openxmlformats.org/officeDocument/2006/relationships/tags" Target="../tags/tag75.xml"/><Relationship Id="rId7" Type="http://schemas.openxmlformats.org/officeDocument/2006/relationships/slideLayout" Target="../slideLayouts/slideLayout6.xml"/><Relationship Id="rId12" Type="http://schemas.openxmlformats.org/officeDocument/2006/relationships/image" Target="../media/image23.png"/><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tags" Target="../tags/tag78.xml"/><Relationship Id="rId11" Type="http://schemas.openxmlformats.org/officeDocument/2006/relationships/image" Target="../media/image21.png"/><Relationship Id="rId5" Type="http://schemas.openxmlformats.org/officeDocument/2006/relationships/tags" Target="../tags/tag77.xml"/><Relationship Id="rId10" Type="http://schemas.openxmlformats.org/officeDocument/2006/relationships/image" Target="../media/image11.png"/><Relationship Id="rId4" Type="http://schemas.openxmlformats.org/officeDocument/2006/relationships/tags" Target="../tags/tag76.xml"/><Relationship Id="rId9"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1.xml"/><Relationship Id="rId1" Type="http://schemas.openxmlformats.org/officeDocument/2006/relationships/tags" Target="../tags/tag80.xml"/><Relationship Id="rId5" Type="http://schemas.openxmlformats.org/officeDocument/2006/relationships/hyperlink" Target="_anchor_1','_com_1" TargetMode="Externa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4.xml"/><Relationship Id="rId1" Type="http://schemas.openxmlformats.org/officeDocument/2006/relationships/tags" Target="../tags/tag83.xml"/><Relationship Id="rId5" Type="http://schemas.openxmlformats.org/officeDocument/2006/relationships/image" Target="../media/image4.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7.xml"/><Relationship Id="rId1" Type="http://schemas.openxmlformats.org/officeDocument/2006/relationships/tags" Target="../tags/tag86.xml"/><Relationship Id="rId5" Type="http://schemas.openxmlformats.org/officeDocument/2006/relationships/image" Target="../media/image4.png"/><Relationship Id="rId4"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custDataLst>
              <p:tags r:id="rId1"/>
            </p:custDataLst>
          </p:nvPr>
        </p:nvSpPr>
        <p:spPr>
          <a:xfrm>
            <a:off x="568782" y="2206189"/>
            <a:ext cx="8372018" cy="3018972"/>
          </a:xfrm>
          <a:noFill/>
          <a:ln/>
        </p:spPr>
        <p:txBody>
          <a:bodyPr lIns="90488" tIns="44450" rIns="90488" bIns="44450">
            <a:normAutofit fontScale="90000"/>
          </a:bodyPr>
          <a:lstStyle/>
          <a:p>
            <a:pPr algn="ctr">
              <a:lnSpc>
                <a:spcPct val="95000"/>
              </a:lnSpc>
            </a:pPr>
            <a:r>
              <a:rPr lang="en-GB" sz="4900" b="1" dirty="0" err="1" smtClean="0">
                <a:solidFill>
                  <a:srgbClr val="000000"/>
                </a:solidFill>
              </a:rPr>
              <a:t>Chapitre</a:t>
            </a:r>
            <a:r>
              <a:rPr lang="en-GB" sz="4900" b="1" dirty="0" smtClean="0">
                <a:solidFill>
                  <a:srgbClr val="000000"/>
                </a:solidFill>
              </a:rPr>
              <a:t> 8 </a:t>
            </a:r>
            <a:br>
              <a:rPr lang="en-GB" sz="4900" b="1" dirty="0" smtClean="0">
                <a:solidFill>
                  <a:srgbClr val="000000"/>
                </a:solidFill>
              </a:rPr>
            </a:br>
            <a:r>
              <a:rPr lang="en-US" sz="4900" b="1" dirty="0" smtClean="0"/>
              <a:t> </a:t>
            </a:r>
            <a:r>
              <a:rPr lang="en-GB" sz="4900" b="1" dirty="0">
                <a:solidFill>
                  <a:srgbClr val="000000"/>
                </a:solidFill>
              </a:rPr>
              <a:t>Protection du </a:t>
            </a:r>
            <a:r>
              <a:rPr lang="en-GB" sz="4900" b="1" dirty="0" err="1">
                <a:solidFill>
                  <a:srgbClr val="000000"/>
                </a:solidFill>
              </a:rPr>
              <a:t>trafic</a:t>
            </a:r>
            <a:r>
              <a:rPr lang="en-GB" sz="4900" b="1" dirty="0">
                <a:solidFill>
                  <a:srgbClr val="000000"/>
                </a:solidFill>
              </a:rPr>
              <a:t> </a:t>
            </a:r>
            <a:r>
              <a:rPr lang="en-GB" sz="4900" b="1" dirty="0" err="1">
                <a:solidFill>
                  <a:srgbClr val="000000"/>
                </a:solidFill>
              </a:rPr>
              <a:t>réseau</a:t>
            </a:r>
            <a:r>
              <a:rPr lang="en-GB" sz="4900" b="1" dirty="0">
                <a:solidFill>
                  <a:srgbClr val="000000"/>
                </a:solidFill>
              </a:rPr>
              <a:t> à </a:t>
            </a:r>
            <a:r>
              <a:rPr lang="en-GB" sz="4900" b="1" dirty="0" err="1">
                <a:solidFill>
                  <a:srgbClr val="000000"/>
                </a:solidFill>
              </a:rPr>
              <a:t>l'aide</a:t>
            </a:r>
            <a:r>
              <a:rPr lang="en-GB" sz="4900" b="1" dirty="0">
                <a:solidFill>
                  <a:srgbClr val="000000"/>
                </a:solidFill>
              </a:rPr>
              <a:t> de la </a:t>
            </a:r>
            <a:r>
              <a:rPr lang="en-GB" sz="4900" b="1" dirty="0" err="1">
                <a:solidFill>
                  <a:srgbClr val="000000"/>
                </a:solidFill>
              </a:rPr>
              <a:t>sécurité</a:t>
            </a:r>
            <a:r>
              <a:rPr lang="en-GB" sz="4900" b="1" dirty="0">
                <a:solidFill>
                  <a:srgbClr val="000000"/>
                </a:solidFill>
              </a:rPr>
              <a:t> IPSec et de </a:t>
            </a:r>
            <a:r>
              <a:rPr lang="en-GB" sz="4900" b="1" dirty="0" err="1">
                <a:solidFill>
                  <a:srgbClr val="000000"/>
                </a:solidFill>
              </a:rPr>
              <a:t>certificats</a:t>
            </a:r>
            <a:endParaRPr lang="en-US" sz="4900" b="1" dirty="0">
              <a:solidFill>
                <a:srgbClr val="000000"/>
              </a:solidFill>
            </a:endParaRPr>
          </a:p>
        </p:txBody>
      </p:sp>
      <p:sp>
        <p:nvSpPr>
          <p:cNvPr id="4" name="Rectangle 3"/>
          <p:cNvSpPr/>
          <p:nvPr/>
        </p:nvSpPr>
        <p:spPr>
          <a:xfrm>
            <a:off x="2380497" y="268907"/>
            <a:ext cx="4383174" cy="769441"/>
          </a:xfrm>
          <a:prstGeom prst="rect">
            <a:avLst/>
          </a:prstGeom>
        </p:spPr>
        <p:txBody>
          <a:bodyPr wrap="square">
            <a:spAutoFit/>
          </a:bodyPr>
          <a:lstStyle/>
          <a:p>
            <a:r>
              <a:rPr lang="en-GB" sz="4400" dirty="0" smtClean="0">
                <a:solidFill>
                  <a:srgbClr val="000000"/>
                </a:solidFill>
                <a:latin typeface="Arial" pitchFamily="34" charset="0"/>
                <a:cs typeface="Arial" pitchFamily="34" charset="0"/>
              </a:rPr>
              <a:t>Module S43 </a:t>
            </a:r>
            <a:endParaRPr lang="fr-FR" sz="4400" dirty="0">
              <a:latin typeface="Arial" pitchFamily="34" charset="0"/>
              <a:cs typeface="Arial" pitchFamily="34" charset="0"/>
            </a:endParaRP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custDataLst>
              <p:tags r:id="rId1"/>
            </p:custDataLst>
          </p:nvPr>
        </p:nvSpPr>
        <p:spPr>
          <a:xfrm>
            <a:off x="199572" y="310017"/>
            <a:ext cx="8741228" cy="684212"/>
          </a:xfrm>
          <a:noFill/>
          <a:ln/>
        </p:spPr>
        <p:txBody>
          <a:bodyPr/>
          <a:lstStyle/>
          <a:p>
            <a:r>
              <a:rPr lang="en-GB" b="1" dirty="0" smtClean="0">
                <a:solidFill>
                  <a:srgbClr val="000000"/>
                </a:solidFill>
              </a:rPr>
              <a:t>Plan du </a:t>
            </a:r>
            <a:r>
              <a:rPr lang="en-GB" b="1" dirty="0" err="1" smtClean="0">
                <a:solidFill>
                  <a:srgbClr val="000000"/>
                </a:solidFill>
              </a:rPr>
              <a:t>cours</a:t>
            </a:r>
            <a:endParaRPr lang="en-US" b="1" dirty="0"/>
          </a:p>
        </p:txBody>
      </p:sp>
      <p:sp>
        <p:nvSpPr>
          <p:cNvPr id="81927" name="Rectangle 7"/>
          <p:cNvSpPr>
            <a:spLocks noGrp="1" noChangeArrowheads="1"/>
          </p:cNvSpPr>
          <p:nvPr>
            <p:ph sz="quarter" idx="1"/>
            <p:custDataLst>
              <p:tags r:id="rId2"/>
            </p:custDataLst>
          </p:nvPr>
        </p:nvSpPr>
        <p:spPr>
          <a:xfrm>
            <a:off x="287237" y="2122134"/>
            <a:ext cx="8503920" cy="2304723"/>
          </a:xfrm>
        </p:spPr>
        <p:txBody>
          <a:bodyPr>
            <a:normAutofit/>
          </a:bodyPr>
          <a:lstStyle/>
          <a:p>
            <a:pPr marL="514350" indent="-514350">
              <a:buClrTx/>
              <a:buFont typeface="+mj-lt"/>
              <a:buAutoNum type="arabicPeriod"/>
            </a:pPr>
            <a:r>
              <a:rPr lang="en-GB" sz="2800" b="1" dirty="0" err="1">
                <a:solidFill>
                  <a:srgbClr val="000000"/>
                </a:solidFill>
              </a:rPr>
              <a:t>Implémentation</a:t>
            </a:r>
            <a:r>
              <a:rPr lang="en-GB" sz="2800" b="1" dirty="0">
                <a:solidFill>
                  <a:srgbClr val="000000"/>
                </a:solidFill>
              </a:rPr>
              <a:t> de la </a:t>
            </a:r>
            <a:r>
              <a:rPr lang="en-GB" sz="2800" b="1" dirty="0" err="1">
                <a:solidFill>
                  <a:srgbClr val="000000"/>
                </a:solidFill>
              </a:rPr>
              <a:t>sécurité</a:t>
            </a:r>
            <a:r>
              <a:rPr lang="en-GB" sz="2800" b="1" dirty="0">
                <a:solidFill>
                  <a:srgbClr val="000000"/>
                </a:solidFill>
              </a:rPr>
              <a:t> IPSec</a:t>
            </a:r>
            <a:endParaRPr lang="en-US" sz="2800" b="1" dirty="0"/>
          </a:p>
          <a:p>
            <a:pPr marL="514350" indent="-514350">
              <a:buClrTx/>
              <a:buFont typeface="+mj-lt"/>
              <a:buAutoNum type="arabicPeriod"/>
            </a:pPr>
            <a:r>
              <a:rPr lang="en-GB" sz="2800" b="1" dirty="0" err="1">
                <a:solidFill>
                  <a:srgbClr val="000000"/>
                </a:solidFill>
              </a:rPr>
              <a:t>Implémentation</a:t>
            </a:r>
            <a:r>
              <a:rPr lang="en-GB" sz="2800" b="1" dirty="0">
                <a:solidFill>
                  <a:srgbClr val="000000"/>
                </a:solidFill>
              </a:rPr>
              <a:t> de la </a:t>
            </a:r>
            <a:r>
              <a:rPr lang="en-GB" sz="2800" b="1" dirty="0" err="1">
                <a:solidFill>
                  <a:srgbClr val="000000"/>
                </a:solidFill>
              </a:rPr>
              <a:t>sécurité</a:t>
            </a:r>
            <a:r>
              <a:rPr lang="en-GB" sz="2800" b="1" dirty="0">
                <a:solidFill>
                  <a:srgbClr val="000000"/>
                </a:solidFill>
              </a:rPr>
              <a:t> IPSec avec des </a:t>
            </a:r>
            <a:r>
              <a:rPr lang="en-GB" sz="2800" b="1" dirty="0" err="1">
                <a:solidFill>
                  <a:srgbClr val="000000"/>
                </a:solidFill>
              </a:rPr>
              <a:t>certificats</a:t>
            </a:r>
            <a:endParaRPr lang="en-US" sz="2800" b="1" dirty="0"/>
          </a:p>
          <a:p>
            <a:pPr marL="514350" indent="-514350">
              <a:buClrTx/>
              <a:buFont typeface="+mj-lt"/>
              <a:buAutoNum type="arabicPeriod"/>
            </a:pPr>
            <a:r>
              <a:rPr lang="en-GB" sz="2800" b="1" dirty="0">
                <a:solidFill>
                  <a:srgbClr val="000000"/>
                </a:solidFill>
              </a:rPr>
              <a:t>Analyse de la </a:t>
            </a:r>
            <a:r>
              <a:rPr lang="en-GB" sz="2800" b="1" dirty="0" err="1">
                <a:solidFill>
                  <a:srgbClr val="000000"/>
                </a:solidFill>
              </a:rPr>
              <a:t>sécurité</a:t>
            </a:r>
            <a:r>
              <a:rPr lang="en-GB" sz="2800" b="1" dirty="0">
                <a:solidFill>
                  <a:srgbClr val="000000"/>
                </a:solidFill>
              </a:rPr>
              <a:t> IPSec</a:t>
            </a:r>
            <a:endParaRPr lang="en-US" sz="2800" b="1" dirty="0">
              <a:solidFill>
                <a:srgbClr val="000000"/>
              </a:solidFill>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p:cNvSpPr>
            <a:spLocks noGrp="1" noChangeArrowheads="1"/>
          </p:cNvSpPr>
          <p:nvPr>
            <p:ph type="title"/>
            <p:custDataLst>
              <p:tags r:id="rId1"/>
            </p:custDataLst>
          </p:nvPr>
        </p:nvSpPr>
        <p:spPr>
          <a:xfrm>
            <a:off x="188686" y="228600"/>
            <a:ext cx="8766628" cy="758952"/>
          </a:xfrm>
        </p:spPr>
        <p:txBody>
          <a:bodyPr>
            <a:normAutofit/>
          </a:bodyPr>
          <a:lstStyle/>
          <a:p>
            <a:pPr marL="460375" indent="-460375"/>
            <a:r>
              <a:rPr lang="fr-FR" b="1" dirty="0" smtClean="0">
                <a:solidFill>
                  <a:srgbClr val="000000"/>
                </a:solidFill>
              </a:rPr>
              <a:t>1. </a:t>
            </a:r>
            <a:r>
              <a:rPr lang="en-GB" b="1" dirty="0" err="1" smtClean="0">
                <a:solidFill>
                  <a:srgbClr val="000000"/>
                </a:solidFill>
              </a:rPr>
              <a:t>Implémentation</a:t>
            </a:r>
            <a:r>
              <a:rPr lang="en-GB" b="1" dirty="0" smtClean="0">
                <a:solidFill>
                  <a:srgbClr val="000000"/>
                </a:solidFill>
              </a:rPr>
              <a:t> </a:t>
            </a:r>
            <a:r>
              <a:rPr lang="en-GB" b="1" dirty="0">
                <a:solidFill>
                  <a:srgbClr val="000000"/>
                </a:solidFill>
              </a:rPr>
              <a:t>de la </a:t>
            </a:r>
            <a:r>
              <a:rPr lang="en-GB" b="1" dirty="0" err="1">
                <a:solidFill>
                  <a:srgbClr val="000000"/>
                </a:solidFill>
              </a:rPr>
              <a:t>sécurité</a:t>
            </a:r>
            <a:r>
              <a:rPr lang="en-GB" b="1" dirty="0">
                <a:solidFill>
                  <a:srgbClr val="000000"/>
                </a:solidFill>
              </a:rPr>
              <a:t> IPSec</a:t>
            </a:r>
            <a:endParaRPr lang="en-US" b="1" dirty="0">
              <a:solidFill>
                <a:srgbClr val="000000"/>
              </a:solidFill>
            </a:endParaRPr>
          </a:p>
        </p:txBody>
      </p:sp>
      <p:sp>
        <p:nvSpPr>
          <p:cNvPr id="175112" name="Rectangle 8"/>
          <p:cNvSpPr>
            <a:spLocks noGrp="1" noChangeArrowheads="1"/>
          </p:cNvSpPr>
          <p:nvPr>
            <p:ph sz="quarter" idx="1"/>
            <p:custDataLst>
              <p:tags r:id="rId2"/>
            </p:custDataLst>
          </p:nvPr>
        </p:nvSpPr>
        <p:spPr/>
        <p:txBody>
          <a:bodyPr>
            <a:normAutofit/>
          </a:bodyPr>
          <a:lstStyle/>
          <a:p>
            <a:pPr>
              <a:buClrTx/>
              <a:buFont typeface="Wingdings" pitchFamily="2" charset="2"/>
              <a:buChar char="Ø"/>
            </a:pPr>
            <a:r>
              <a:rPr lang="en-GB" dirty="0" err="1" smtClean="0">
                <a:solidFill>
                  <a:srgbClr val="000000"/>
                </a:solidFill>
              </a:rPr>
              <a:t>Qu'est-ce</a:t>
            </a:r>
            <a:r>
              <a:rPr lang="en-GB" dirty="0" smtClean="0">
                <a:solidFill>
                  <a:srgbClr val="000000"/>
                </a:solidFill>
              </a:rPr>
              <a:t> </a:t>
            </a:r>
            <a:r>
              <a:rPr lang="en-GB" dirty="0" err="1">
                <a:solidFill>
                  <a:srgbClr val="000000"/>
                </a:solidFill>
              </a:rPr>
              <a:t>que</a:t>
            </a:r>
            <a:r>
              <a:rPr lang="en-GB" dirty="0">
                <a:solidFill>
                  <a:srgbClr val="000000"/>
                </a:solidFill>
              </a:rPr>
              <a:t> la </a:t>
            </a:r>
            <a:r>
              <a:rPr lang="en-GB" dirty="0" err="1">
                <a:solidFill>
                  <a:srgbClr val="000000"/>
                </a:solidFill>
              </a:rPr>
              <a:t>sécurité</a:t>
            </a:r>
            <a:r>
              <a:rPr lang="en-GB" dirty="0">
                <a:solidFill>
                  <a:srgbClr val="000000"/>
                </a:solidFill>
              </a:rPr>
              <a:t> IPSec ?</a:t>
            </a:r>
            <a:endParaRPr lang="en-US" dirty="0"/>
          </a:p>
          <a:p>
            <a:pPr>
              <a:buClrTx/>
              <a:buFont typeface="Wingdings" pitchFamily="2" charset="2"/>
              <a:buChar char="Ø"/>
            </a:pPr>
            <a:r>
              <a:rPr lang="en-GB" dirty="0">
                <a:solidFill>
                  <a:srgbClr val="000000"/>
                </a:solidFill>
              </a:rPr>
              <a:t>De </a:t>
            </a:r>
            <a:r>
              <a:rPr lang="en-GB" dirty="0" err="1">
                <a:solidFill>
                  <a:srgbClr val="000000"/>
                </a:solidFill>
              </a:rPr>
              <a:t>quelle</a:t>
            </a:r>
            <a:r>
              <a:rPr lang="en-GB" dirty="0">
                <a:solidFill>
                  <a:srgbClr val="000000"/>
                </a:solidFill>
              </a:rPr>
              <a:t> </a:t>
            </a:r>
            <a:r>
              <a:rPr lang="en-GB" dirty="0" err="1">
                <a:solidFill>
                  <a:srgbClr val="000000"/>
                </a:solidFill>
              </a:rPr>
              <a:t>manière</a:t>
            </a:r>
            <a:r>
              <a:rPr lang="en-GB" dirty="0">
                <a:solidFill>
                  <a:srgbClr val="000000"/>
                </a:solidFill>
              </a:rPr>
              <a:t> la </a:t>
            </a:r>
            <a:r>
              <a:rPr lang="en-GB" dirty="0" err="1">
                <a:solidFill>
                  <a:srgbClr val="000000"/>
                </a:solidFill>
              </a:rPr>
              <a:t>sécurité</a:t>
            </a:r>
            <a:r>
              <a:rPr lang="en-GB" dirty="0">
                <a:solidFill>
                  <a:srgbClr val="000000"/>
                </a:solidFill>
              </a:rPr>
              <a:t> IPSec </a:t>
            </a:r>
            <a:r>
              <a:rPr lang="en-GB" dirty="0" err="1">
                <a:solidFill>
                  <a:srgbClr val="000000"/>
                </a:solidFill>
              </a:rPr>
              <a:t>protège</a:t>
            </a:r>
            <a:r>
              <a:rPr lang="en-GB" dirty="0">
                <a:solidFill>
                  <a:srgbClr val="000000"/>
                </a:solidFill>
              </a:rPr>
              <a:t>-t-</a:t>
            </a:r>
            <a:r>
              <a:rPr lang="en-GB" dirty="0" err="1">
                <a:solidFill>
                  <a:srgbClr val="000000"/>
                </a:solidFill>
              </a:rPr>
              <a:t>elle</a:t>
            </a:r>
            <a:r>
              <a:rPr lang="en-GB" dirty="0">
                <a:solidFill>
                  <a:srgbClr val="000000"/>
                </a:solidFill>
              </a:rPr>
              <a:t> </a:t>
            </a:r>
            <a:br>
              <a:rPr lang="en-GB" dirty="0">
                <a:solidFill>
                  <a:srgbClr val="000000"/>
                </a:solidFill>
              </a:rPr>
            </a:br>
            <a:r>
              <a:rPr lang="en-GB" dirty="0">
                <a:solidFill>
                  <a:srgbClr val="000000"/>
                </a:solidFill>
              </a:rPr>
              <a:t>le </a:t>
            </a:r>
            <a:r>
              <a:rPr lang="en-GB" dirty="0" err="1">
                <a:solidFill>
                  <a:srgbClr val="000000"/>
                </a:solidFill>
              </a:rPr>
              <a:t>trafic</a:t>
            </a:r>
            <a:r>
              <a:rPr lang="en-GB" dirty="0">
                <a:solidFill>
                  <a:srgbClr val="000000"/>
                </a:solidFill>
              </a:rPr>
              <a:t> ?</a:t>
            </a:r>
            <a:endParaRPr lang="en-US" dirty="0"/>
          </a:p>
          <a:p>
            <a:pPr>
              <a:buClrTx/>
              <a:buFont typeface="Wingdings" pitchFamily="2" charset="2"/>
              <a:buChar char="Ø"/>
            </a:pPr>
            <a:r>
              <a:rPr lang="en-GB" dirty="0" err="1">
                <a:solidFill>
                  <a:srgbClr val="000000"/>
                </a:solidFill>
              </a:rPr>
              <a:t>Qu'est-ce</a:t>
            </a:r>
            <a:r>
              <a:rPr lang="en-GB" dirty="0">
                <a:solidFill>
                  <a:srgbClr val="000000"/>
                </a:solidFill>
              </a:rPr>
              <a:t> </a:t>
            </a:r>
            <a:r>
              <a:rPr lang="en-GB" dirty="0" err="1">
                <a:solidFill>
                  <a:srgbClr val="000000"/>
                </a:solidFill>
              </a:rPr>
              <a:t>qu'une</a:t>
            </a:r>
            <a:r>
              <a:rPr lang="en-GB" dirty="0">
                <a:solidFill>
                  <a:srgbClr val="000000"/>
                </a:solidFill>
              </a:rPr>
              <a:t> </a:t>
            </a:r>
            <a:r>
              <a:rPr lang="en-GB" dirty="0" err="1">
                <a:solidFill>
                  <a:srgbClr val="000000"/>
                </a:solidFill>
              </a:rPr>
              <a:t>stratégie</a:t>
            </a:r>
            <a:r>
              <a:rPr lang="en-GB" dirty="0">
                <a:solidFill>
                  <a:srgbClr val="000000"/>
                </a:solidFill>
              </a:rPr>
              <a:t> de </a:t>
            </a:r>
            <a:r>
              <a:rPr lang="en-GB" dirty="0" err="1">
                <a:solidFill>
                  <a:srgbClr val="000000"/>
                </a:solidFill>
              </a:rPr>
              <a:t>sécurité</a:t>
            </a:r>
            <a:r>
              <a:rPr lang="en-GB" dirty="0">
                <a:solidFill>
                  <a:srgbClr val="000000"/>
                </a:solidFill>
              </a:rPr>
              <a:t> IPSec ?</a:t>
            </a:r>
            <a:endParaRPr lang="en-US" dirty="0"/>
          </a:p>
          <a:p>
            <a:pPr>
              <a:buClrTx/>
              <a:buFont typeface="Wingdings" pitchFamily="2" charset="2"/>
              <a:buChar char="Ø"/>
            </a:pPr>
            <a:r>
              <a:rPr lang="en-GB" dirty="0" err="1">
                <a:solidFill>
                  <a:srgbClr val="000000"/>
                </a:solidFill>
              </a:rPr>
              <a:t>Fonctionnement</a:t>
            </a:r>
            <a:r>
              <a:rPr lang="en-GB" dirty="0">
                <a:solidFill>
                  <a:srgbClr val="000000"/>
                </a:solidFill>
              </a:rPr>
              <a:t> conjoint des </a:t>
            </a:r>
            <a:r>
              <a:rPr lang="en-GB" dirty="0" err="1">
                <a:solidFill>
                  <a:srgbClr val="000000"/>
                </a:solidFill>
              </a:rPr>
              <a:t>stratégies</a:t>
            </a:r>
            <a:r>
              <a:rPr lang="en-GB" dirty="0">
                <a:solidFill>
                  <a:srgbClr val="000000"/>
                </a:solidFill>
              </a:rPr>
              <a:t> IPSec</a:t>
            </a:r>
            <a:endParaRPr lang="en-US" dirty="0"/>
          </a:p>
          <a:p>
            <a:pPr>
              <a:buClrTx/>
              <a:buFont typeface="Wingdings" pitchFamily="2" charset="2"/>
              <a:buChar char="Ø"/>
            </a:pPr>
            <a:r>
              <a:rPr lang="en-GB" dirty="0">
                <a:solidFill>
                  <a:srgbClr val="000000"/>
                </a:solidFill>
              </a:rPr>
              <a:t>Instructions pour </a:t>
            </a:r>
            <a:r>
              <a:rPr lang="en-GB" dirty="0" err="1">
                <a:solidFill>
                  <a:srgbClr val="000000"/>
                </a:solidFill>
              </a:rPr>
              <a:t>équilibrer</a:t>
            </a:r>
            <a:r>
              <a:rPr lang="en-GB" dirty="0">
                <a:solidFill>
                  <a:srgbClr val="000000"/>
                </a:solidFill>
              </a:rPr>
              <a:t> la </a:t>
            </a:r>
            <a:r>
              <a:rPr lang="en-GB" dirty="0" err="1">
                <a:solidFill>
                  <a:srgbClr val="000000"/>
                </a:solidFill>
              </a:rPr>
              <a:t>sécurité</a:t>
            </a:r>
            <a:r>
              <a:rPr lang="en-GB" dirty="0">
                <a:solidFill>
                  <a:srgbClr val="000000"/>
                </a:solidFill>
              </a:rPr>
              <a:t> et les performances</a:t>
            </a:r>
            <a:endParaRPr lang="en-US" dirty="0"/>
          </a:p>
          <a:p>
            <a:pPr>
              <a:buClrTx/>
              <a:buFont typeface="Wingdings" pitchFamily="2" charset="2"/>
              <a:buChar char="Ø"/>
            </a:pPr>
            <a:r>
              <a:rPr lang="en-GB" dirty="0">
                <a:solidFill>
                  <a:srgbClr val="000000"/>
                </a:solidFill>
              </a:rPr>
              <a:t>Comment </a:t>
            </a:r>
            <a:r>
              <a:rPr lang="en-GB" dirty="0" err="1">
                <a:solidFill>
                  <a:srgbClr val="000000"/>
                </a:solidFill>
              </a:rPr>
              <a:t>attribuer</a:t>
            </a:r>
            <a:r>
              <a:rPr lang="en-GB" dirty="0">
                <a:solidFill>
                  <a:srgbClr val="000000"/>
                </a:solidFill>
              </a:rPr>
              <a:t> </a:t>
            </a:r>
            <a:r>
              <a:rPr lang="en-GB" dirty="0" err="1">
                <a:solidFill>
                  <a:srgbClr val="000000"/>
                </a:solidFill>
              </a:rPr>
              <a:t>ou</a:t>
            </a:r>
            <a:r>
              <a:rPr lang="en-GB" dirty="0">
                <a:solidFill>
                  <a:srgbClr val="000000"/>
                </a:solidFill>
              </a:rPr>
              <a:t> </a:t>
            </a:r>
            <a:r>
              <a:rPr lang="en-GB" dirty="0" err="1">
                <a:solidFill>
                  <a:srgbClr val="000000"/>
                </a:solidFill>
              </a:rPr>
              <a:t>supprimer</a:t>
            </a:r>
            <a:r>
              <a:rPr lang="en-GB" dirty="0">
                <a:solidFill>
                  <a:srgbClr val="000000"/>
                </a:solidFill>
              </a:rPr>
              <a:t> </a:t>
            </a:r>
            <a:r>
              <a:rPr lang="en-GB" dirty="0" err="1">
                <a:solidFill>
                  <a:srgbClr val="000000"/>
                </a:solidFill>
              </a:rPr>
              <a:t>l'attribution</a:t>
            </a:r>
            <a:r>
              <a:rPr lang="en-GB" dirty="0">
                <a:solidFill>
                  <a:srgbClr val="000000"/>
                </a:solidFill>
              </a:rPr>
              <a:t> </a:t>
            </a:r>
            <a:r>
              <a:rPr lang="en-GB" dirty="0" err="1">
                <a:solidFill>
                  <a:srgbClr val="000000"/>
                </a:solidFill>
              </a:rPr>
              <a:t>d'une</a:t>
            </a:r>
            <a:r>
              <a:rPr lang="en-GB" dirty="0">
                <a:solidFill>
                  <a:srgbClr val="000000"/>
                </a:solidFill>
              </a:rPr>
              <a:t> </a:t>
            </a:r>
            <a:r>
              <a:rPr lang="en-GB" dirty="0" err="1">
                <a:solidFill>
                  <a:srgbClr val="000000"/>
                </a:solidFill>
              </a:rPr>
              <a:t>stratégie</a:t>
            </a:r>
            <a:r>
              <a:rPr lang="en-GB" dirty="0">
                <a:solidFill>
                  <a:srgbClr val="000000"/>
                </a:solidFill>
              </a:rPr>
              <a:t> IPSec </a:t>
            </a:r>
            <a:r>
              <a:rPr lang="en-GB" dirty="0" err="1">
                <a:solidFill>
                  <a:srgbClr val="000000"/>
                </a:solidFill>
              </a:rPr>
              <a:t>sur</a:t>
            </a:r>
            <a:r>
              <a:rPr lang="en-GB" dirty="0">
                <a:solidFill>
                  <a:srgbClr val="000000"/>
                </a:solidFill>
              </a:rPr>
              <a:t> un </a:t>
            </a:r>
            <a:r>
              <a:rPr lang="en-GB" dirty="0" err="1">
                <a:solidFill>
                  <a:srgbClr val="000000"/>
                </a:solidFill>
              </a:rPr>
              <a:t>ordinateur</a:t>
            </a:r>
            <a:endParaRPr lang="en-US" dirty="0">
              <a:solidFill>
                <a:srgbClr val="000000"/>
              </a:solidFill>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2"/>
          <p:cNvSpPr>
            <a:spLocks noGrp="1" noChangeArrowheads="1"/>
          </p:cNvSpPr>
          <p:nvPr>
            <p:ph type="title"/>
            <p:custDataLst>
              <p:tags r:id="rId1"/>
            </p:custDataLst>
          </p:nvPr>
        </p:nvSpPr>
        <p:spPr>
          <a:xfrm>
            <a:off x="203200" y="344712"/>
            <a:ext cx="8940800" cy="758952"/>
          </a:xfrm>
        </p:spPr>
        <p:txBody>
          <a:bodyPr>
            <a:noAutofit/>
          </a:bodyPr>
          <a:lstStyle/>
          <a:p>
            <a:r>
              <a:rPr lang="fr-FR" sz="2800" b="1" dirty="0" smtClean="0">
                <a:solidFill>
                  <a:srgbClr val="000000"/>
                </a:solidFill>
              </a:rPr>
              <a:t>Rôle </a:t>
            </a:r>
            <a:r>
              <a:rPr lang="fr-FR" sz="2800" b="1" dirty="0">
                <a:solidFill>
                  <a:srgbClr val="000000"/>
                </a:solidFill>
              </a:rPr>
              <a:t>de la sécurité </a:t>
            </a:r>
            <a:r>
              <a:rPr lang="fr-FR" sz="2800" b="1" dirty="0" err="1">
                <a:solidFill>
                  <a:srgbClr val="000000"/>
                </a:solidFill>
              </a:rPr>
              <a:t>IPSec</a:t>
            </a:r>
            <a:r>
              <a:rPr lang="fr-FR" sz="2800" b="1" dirty="0">
                <a:solidFill>
                  <a:srgbClr val="000000"/>
                </a:solidFill>
              </a:rPr>
              <a:t> dans </a:t>
            </a:r>
            <a:r>
              <a:rPr lang="fr-FR" sz="2800" b="1" dirty="0" smtClean="0">
                <a:solidFill>
                  <a:srgbClr val="000000"/>
                </a:solidFill>
              </a:rPr>
              <a:t>une infrastructure </a:t>
            </a:r>
            <a:r>
              <a:rPr lang="fr-FR" sz="2800" b="1" dirty="0">
                <a:solidFill>
                  <a:srgbClr val="000000"/>
                </a:solidFill>
              </a:rPr>
              <a:t>réseau</a:t>
            </a:r>
            <a:endParaRPr lang="en-US" sz="2800" b="1" dirty="0">
              <a:solidFill>
                <a:srgbClr val="000000"/>
              </a:solidFill>
            </a:endParaRPr>
          </a:p>
        </p:txBody>
      </p:sp>
      <p:pic>
        <p:nvPicPr>
          <p:cNvPr id="237574" name="Picture 6" descr="media icon">
            <a:hlinkClick r:id="rId4" action="ppaction://hlinkfile"/>
          </p:cNvPr>
          <p:cNvPicPr>
            <a:picLocks noChangeAspect="1" noChangeArrowheads="1"/>
          </p:cNvPicPr>
          <p:nvPr/>
        </p:nvPicPr>
        <p:blipFill>
          <a:blip r:embed="rId5"/>
          <a:srcRect/>
          <a:stretch>
            <a:fillRect/>
          </a:stretch>
        </p:blipFill>
        <p:spPr bwMode="auto">
          <a:xfrm>
            <a:off x="3278179" y="2801257"/>
            <a:ext cx="2174884" cy="1042988"/>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2"/>
          <p:cNvSpPr>
            <a:spLocks noGrp="1" noChangeArrowheads="1"/>
          </p:cNvSpPr>
          <p:nvPr>
            <p:ph type="title"/>
            <p:custDataLst>
              <p:tags r:id="rId1"/>
            </p:custDataLst>
          </p:nvPr>
        </p:nvSpPr>
        <p:spPr>
          <a:xfrm>
            <a:off x="174171" y="348344"/>
            <a:ext cx="8795658" cy="552123"/>
          </a:xfrm>
        </p:spPr>
        <p:txBody>
          <a:bodyPr>
            <a:normAutofit/>
          </a:bodyPr>
          <a:lstStyle/>
          <a:p>
            <a:r>
              <a:rPr lang="fr-FR" sz="2800" b="1" dirty="0">
                <a:solidFill>
                  <a:srgbClr val="000000"/>
                </a:solidFill>
              </a:rPr>
              <a:t>Qu'est-ce que la sécurité </a:t>
            </a:r>
            <a:r>
              <a:rPr lang="fr-FR" sz="2800" b="1" dirty="0" err="1">
                <a:solidFill>
                  <a:srgbClr val="000000"/>
                </a:solidFill>
              </a:rPr>
              <a:t>IPSec</a:t>
            </a:r>
            <a:r>
              <a:rPr lang="fr-FR" sz="2800" b="1" dirty="0">
                <a:solidFill>
                  <a:srgbClr val="000000"/>
                </a:solidFill>
              </a:rPr>
              <a:t> ?</a:t>
            </a:r>
            <a:endParaRPr lang="en-US" sz="2800" b="1" dirty="0"/>
          </a:p>
        </p:txBody>
      </p:sp>
      <p:sp>
        <p:nvSpPr>
          <p:cNvPr id="221189" name="AutoShape 5"/>
          <p:cNvSpPr>
            <a:spLocks noChangeArrowheads="1"/>
          </p:cNvSpPr>
          <p:nvPr>
            <p:custDataLst>
              <p:tags r:id="rId2"/>
            </p:custDataLst>
          </p:nvPr>
        </p:nvSpPr>
        <p:spPr bwMode="auto">
          <a:xfrm>
            <a:off x="950913" y="2827338"/>
            <a:ext cx="7164387" cy="3251200"/>
          </a:xfrm>
          <a:prstGeom prst="roundRect">
            <a:avLst>
              <a:gd name="adj" fmla="val 4167"/>
            </a:avLst>
          </a:prstGeom>
          <a:noFill/>
          <a:ln w="9525">
            <a:noFill/>
            <a:round/>
            <a:headEnd/>
            <a:tailEnd/>
          </a:ln>
          <a:effectLst>
            <a:outerShdw dist="35921" dir="2700000" algn="ctr" rotWithShape="0">
              <a:srgbClr val="AFAFAF"/>
            </a:outerShdw>
          </a:effectLst>
        </p:spPr>
        <p:txBody>
          <a:bodyPr/>
          <a:lstStyle/>
          <a:p>
            <a:pPr algn="l"/>
            <a:endParaRPr lang="en-US" sz="2100"/>
          </a:p>
          <a:p>
            <a:pPr algn="l"/>
            <a:endParaRPr lang="en-US" sz="2100" b="0"/>
          </a:p>
        </p:txBody>
      </p:sp>
      <p:sp>
        <p:nvSpPr>
          <p:cNvPr id="221190" name="AutoShape 6"/>
          <p:cNvSpPr>
            <a:spLocks noChangeArrowheads="1"/>
          </p:cNvSpPr>
          <p:nvPr>
            <p:custDataLst>
              <p:tags r:id="rId3"/>
            </p:custDataLst>
          </p:nvPr>
        </p:nvSpPr>
        <p:spPr bwMode="auto">
          <a:xfrm>
            <a:off x="203200" y="1480228"/>
            <a:ext cx="8737600" cy="2293486"/>
          </a:xfrm>
          <a:prstGeom prst="roundRect">
            <a:avLst>
              <a:gd name="adj" fmla="val 15000"/>
            </a:avLst>
          </a:prstGeom>
          <a:solidFill>
            <a:schemeClr val="bg1"/>
          </a:solidFill>
          <a:ln w="9525" algn="ctr">
            <a:solidFill>
              <a:srgbClr val="808080"/>
            </a:solidFill>
            <a:round/>
            <a:headEnd/>
            <a:tailEnd/>
          </a:ln>
          <a:effectLst>
            <a:outerShdw dist="35921" dir="2700000" algn="ctr" rotWithShape="0">
              <a:srgbClr val="C0C0C0"/>
            </a:outerShdw>
          </a:effectLst>
        </p:spPr>
        <p:txBody>
          <a:bodyPr anchor="ctr"/>
          <a:lstStyle/>
          <a:p>
            <a:pPr algn="l">
              <a:buFont typeface="Wingdings" pitchFamily="2" charset="2"/>
              <a:buChar char="q"/>
            </a:pPr>
            <a:r>
              <a:rPr lang="en-GB" sz="2600" dirty="0" smtClean="0">
                <a:solidFill>
                  <a:srgbClr val="000000"/>
                </a:solidFill>
              </a:rPr>
              <a:t>Elle correspond </a:t>
            </a:r>
            <a:r>
              <a:rPr lang="en-GB" sz="2600" dirty="0">
                <a:solidFill>
                  <a:srgbClr val="000000"/>
                </a:solidFill>
              </a:rPr>
              <a:t>à un ensemble de </a:t>
            </a:r>
            <a:r>
              <a:rPr lang="en-GB" sz="2600" dirty="0" err="1">
                <a:solidFill>
                  <a:srgbClr val="000000"/>
                </a:solidFill>
              </a:rPr>
              <a:t>normes</a:t>
            </a:r>
            <a:r>
              <a:rPr lang="en-GB" sz="2600" dirty="0">
                <a:solidFill>
                  <a:srgbClr val="000000"/>
                </a:solidFill>
              </a:rPr>
              <a:t> </a:t>
            </a:r>
            <a:r>
              <a:rPr lang="en-GB" sz="2600" dirty="0" err="1">
                <a:solidFill>
                  <a:srgbClr val="000000"/>
                </a:solidFill>
              </a:rPr>
              <a:t>industrielles</a:t>
            </a:r>
            <a:r>
              <a:rPr lang="en-GB" sz="2600" dirty="0">
                <a:solidFill>
                  <a:srgbClr val="000000"/>
                </a:solidFill>
              </a:rPr>
              <a:t> qui </a:t>
            </a:r>
            <a:r>
              <a:rPr lang="en-GB" sz="2600" dirty="0" err="1">
                <a:solidFill>
                  <a:srgbClr val="000000"/>
                </a:solidFill>
              </a:rPr>
              <a:t>vérifient</a:t>
            </a:r>
            <a:r>
              <a:rPr lang="en-GB" sz="2600" dirty="0">
                <a:solidFill>
                  <a:srgbClr val="000000"/>
                </a:solidFill>
              </a:rPr>
              <a:t>, </a:t>
            </a:r>
            <a:r>
              <a:rPr lang="en-GB" sz="2600" dirty="0" err="1">
                <a:solidFill>
                  <a:srgbClr val="000000"/>
                </a:solidFill>
              </a:rPr>
              <a:t>authentifient</a:t>
            </a:r>
            <a:r>
              <a:rPr lang="en-GB" sz="2600" dirty="0">
                <a:solidFill>
                  <a:srgbClr val="000000"/>
                </a:solidFill>
              </a:rPr>
              <a:t> et </a:t>
            </a:r>
            <a:r>
              <a:rPr lang="en-GB" sz="2600" dirty="0" err="1">
                <a:solidFill>
                  <a:srgbClr val="000000"/>
                </a:solidFill>
              </a:rPr>
              <a:t>cryptent</a:t>
            </a:r>
            <a:r>
              <a:rPr lang="en-GB" sz="2600" dirty="0">
                <a:solidFill>
                  <a:srgbClr val="000000"/>
                </a:solidFill>
              </a:rPr>
              <a:t> les </a:t>
            </a:r>
            <a:r>
              <a:rPr lang="en-GB" sz="2600" dirty="0" err="1" smtClean="0">
                <a:solidFill>
                  <a:srgbClr val="000000"/>
                </a:solidFill>
              </a:rPr>
              <a:t>données</a:t>
            </a:r>
            <a:r>
              <a:rPr lang="en-GB" sz="2600" dirty="0" smtClean="0">
                <a:solidFill>
                  <a:srgbClr val="000000"/>
                </a:solidFill>
              </a:rPr>
              <a:t> </a:t>
            </a:r>
            <a:r>
              <a:rPr lang="en-GB" sz="2600" dirty="0">
                <a:solidFill>
                  <a:srgbClr val="000000"/>
                </a:solidFill>
              </a:rPr>
              <a:t>au </a:t>
            </a:r>
            <a:r>
              <a:rPr lang="en-GB" sz="2600" dirty="0" err="1">
                <a:solidFill>
                  <a:srgbClr val="000000"/>
                </a:solidFill>
              </a:rPr>
              <a:t>niveau</a:t>
            </a:r>
            <a:r>
              <a:rPr lang="en-GB" sz="2600" dirty="0">
                <a:solidFill>
                  <a:srgbClr val="000000"/>
                </a:solidFill>
              </a:rPr>
              <a:t> des </a:t>
            </a:r>
            <a:r>
              <a:rPr lang="en-GB" sz="2600" dirty="0" err="1">
                <a:solidFill>
                  <a:srgbClr val="000000"/>
                </a:solidFill>
              </a:rPr>
              <a:t>paquets</a:t>
            </a:r>
            <a:r>
              <a:rPr lang="en-GB" sz="2600" dirty="0">
                <a:solidFill>
                  <a:srgbClr val="000000"/>
                </a:solidFill>
              </a:rPr>
              <a:t> IP.</a:t>
            </a:r>
            <a:r>
              <a:rPr lang="en-US" sz="2600" dirty="0"/>
              <a:t> </a:t>
            </a:r>
            <a:endParaRPr lang="en-US" sz="2600" dirty="0" smtClean="0"/>
          </a:p>
          <a:p>
            <a:pPr algn="l">
              <a:buFont typeface="Wingdings" pitchFamily="2" charset="2"/>
              <a:buChar char="q"/>
            </a:pPr>
            <a:r>
              <a:rPr lang="en-GB" sz="2600" dirty="0" smtClean="0">
                <a:solidFill>
                  <a:srgbClr val="000000"/>
                </a:solidFill>
              </a:rPr>
              <a:t>Elle </a:t>
            </a:r>
            <a:r>
              <a:rPr lang="en-GB" sz="2600" dirty="0" err="1" smtClean="0">
                <a:solidFill>
                  <a:srgbClr val="000000"/>
                </a:solidFill>
              </a:rPr>
              <a:t>permet</a:t>
            </a:r>
            <a:r>
              <a:rPr lang="en-GB" sz="2600" dirty="0" smtClean="0">
                <a:solidFill>
                  <a:srgbClr val="000000"/>
                </a:solidFill>
              </a:rPr>
              <a:t> </a:t>
            </a:r>
            <a:r>
              <a:rPr lang="en-GB" sz="2600" dirty="0">
                <a:solidFill>
                  <a:srgbClr val="000000"/>
                </a:solidFill>
              </a:rPr>
              <a:t>de </a:t>
            </a:r>
            <a:r>
              <a:rPr lang="en-GB" sz="2600" dirty="0" err="1">
                <a:solidFill>
                  <a:srgbClr val="000000"/>
                </a:solidFill>
              </a:rPr>
              <a:t>protéger</a:t>
            </a:r>
            <a:r>
              <a:rPr lang="en-GB" sz="2600" dirty="0">
                <a:solidFill>
                  <a:srgbClr val="000000"/>
                </a:solidFill>
              </a:rPr>
              <a:t> les </a:t>
            </a:r>
            <a:r>
              <a:rPr lang="en-GB" sz="2600" dirty="0" err="1">
                <a:solidFill>
                  <a:srgbClr val="000000"/>
                </a:solidFill>
              </a:rPr>
              <a:t>données</a:t>
            </a:r>
            <a:r>
              <a:rPr lang="en-GB" sz="2600" dirty="0">
                <a:solidFill>
                  <a:srgbClr val="000000"/>
                </a:solidFill>
              </a:rPr>
              <a:t> </a:t>
            </a:r>
            <a:r>
              <a:rPr lang="en-GB" sz="2600" dirty="0" err="1">
                <a:solidFill>
                  <a:srgbClr val="000000"/>
                </a:solidFill>
              </a:rPr>
              <a:t>lors</a:t>
            </a:r>
            <a:r>
              <a:rPr lang="en-GB" sz="2600" dirty="0">
                <a:solidFill>
                  <a:srgbClr val="000000"/>
                </a:solidFill>
              </a:rPr>
              <a:t> de transmissions </a:t>
            </a:r>
            <a:r>
              <a:rPr lang="en-GB" sz="2600" dirty="0" err="1">
                <a:solidFill>
                  <a:srgbClr val="000000"/>
                </a:solidFill>
              </a:rPr>
              <a:t>réseau</a:t>
            </a:r>
            <a:endParaRPr lang="en-US" sz="2600" dirty="0">
              <a:solidFill>
                <a:srgbClr val="000000"/>
              </a:solidFill>
            </a:endParaRPr>
          </a:p>
        </p:txBody>
      </p:sp>
      <p:sp>
        <p:nvSpPr>
          <p:cNvPr id="221191" name="AutoShape 7"/>
          <p:cNvSpPr>
            <a:spLocks noChangeArrowheads="1"/>
          </p:cNvSpPr>
          <p:nvPr>
            <p:custDataLst>
              <p:tags r:id="rId4"/>
            </p:custDataLst>
          </p:nvPr>
        </p:nvSpPr>
        <p:spPr bwMode="auto">
          <a:xfrm>
            <a:off x="159660" y="4263118"/>
            <a:ext cx="8795658" cy="2124075"/>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marL="231775" indent="-231775" algn="l">
              <a:lnSpc>
                <a:spcPct val="90000"/>
              </a:lnSpc>
              <a:spcBef>
                <a:spcPct val="40000"/>
              </a:spcBef>
              <a:buSzPct val="80000"/>
              <a:buFontTx/>
              <a:buBlip>
                <a:blip r:embed="rId7"/>
              </a:buBlip>
            </a:pPr>
            <a:r>
              <a:rPr lang="en-GB" sz="2600" i="1" u="sng" dirty="0" err="1">
                <a:solidFill>
                  <a:srgbClr val="000000"/>
                </a:solidFill>
              </a:rPr>
              <a:t>Authentification</a:t>
            </a:r>
            <a:r>
              <a:rPr lang="en-GB" sz="2600" dirty="0">
                <a:solidFill>
                  <a:srgbClr val="000000"/>
                </a:solidFill>
              </a:rPr>
              <a:t> </a:t>
            </a:r>
            <a:r>
              <a:rPr lang="en-GB" sz="2600" dirty="0" err="1">
                <a:solidFill>
                  <a:srgbClr val="000000"/>
                </a:solidFill>
              </a:rPr>
              <a:t>mutuelle</a:t>
            </a:r>
            <a:r>
              <a:rPr lang="en-GB" sz="2600" dirty="0">
                <a:solidFill>
                  <a:srgbClr val="000000"/>
                </a:solidFill>
              </a:rPr>
              <a:t> </a:t>
            </a:r>
            <a:r>
              <a:rPr lang="en-GB" sz="2600" dirty="0" err="1">
                <a:solidFill>
                  <a:srgbClr val="000000"/>
                </a:solidFill>
              </a:rPr>
              <a:t>avant</a:t>
            </a:r>
            <a:r>
              <a:rPr lang="en-GB" sz="2600" dirty="0">
                <a:solidFill>
                  <a:srgbClr val="000000"/>
                </a:solidFill>
              </a:rPr>
              <a:t> et pendant les communications</a:t>
            </a:r>
            <a:endParaRPr lang="en-US" sz="2600" dirty="0"/>
          </a:p>
          <a:p>
            <a:pPr marL="231775" indent="-231775" algn="l">
              <a:lnSpc>
                <a:spcPct val="90000"/>
              </a:lnSpc>
              <a:spcBef>
                <a:spcPct val="40000"/>
              </a:spcBef>
              <a:buSzPct val="80000"/>
              <a:buFontTx/>
              <a:buBlip>
                <a:blip r:embed="rId7"/>
              </a:buBlip>
            </a:pPr>
            <a:r>
              <a:rPr lang="en-GB" sz="2600" i="1" u="sng" dirty="0" err="1">
                <a:solidFill>
                  <a:srgbClr val="000000"/>
                </a:solidFill>
              </a:rPr>
              <a:t>Confidentialité</a:t>
            </a:r>
            <a:r>
              <a:rPr lang="en-GB" sz="2600" dirty="0">
                <a:solidFill>
                  <a:srgbClr val="000000"/>
                </a:solidFill>
              </a:rPr>
              <a:t> </a:t>
            </a:r>
            <a:r>
              <a:rPr lang="en-GB" sz="2600" dirty="0" err="1">
                <a:solidFill>
                  <a:srgbClr val="000000"/>
                </a:solidFill>
              </a:rPr>
              <a:t>grâce</a:t>
            </a:r>
            <a:r>
              <a:rPr lang="en-GB" sz="2600" dirty="0">
                <a:solidFill>
                  <a:srgbClr val="000000"/>
                </a:solidFill>
              </a:rPr>
              <a:t> au </a:t>
            </a:r>
            <a:r>
              <a:rPr lang="en-GB" sz="2600" dirty="0" err="1">
                <a:solidFill>
                  <a:srgbClr val="000000"/>
                </a:solidFill>
              </a:rPr>
              <a:t>cryptage</a:t>
            </a:r>
            <a:r>
              <a:rPr lang="en-GB" sz="2600" dirty="0">
                <a:solidFill>
                  <a:srgbClr val="000000"/>
                </a:solidFill>
              </a:rPr>
              <a:t> du </a:t>
            </a:r>
            <a:r>
              <a:rPr lang="en-GB" sz="2600" dirty="0" err="1">
                <a:solidFill>
                  <a:srgbClr val="000000"/>
                </a:solidFill>
              </a:rPr>
              <a:t>trafic</a:t>
            </a:r>
            <a:r>
              <a:rPr lang="en-GB" sz="2600" dirty="0">
                <a:solidFill>
                  <a:srgbClr val="000000"/>
                </a:solidFill>
              </a:rPr>
              <a:t> IP</a:t>
            </a:r>
            <a:endParaRPr lang="en-US" sz="2600" dirty="0"/>
          </a:p>
          <a:p>
            <a:pPr marL="231775" indent="-231775" algn="l">
              <a:lnSpc>
                <a:spcPct val="90000"/>
              </a:lnSpc>
              <a:spcBef>
                <a:spcPct val="40000"/>
              </a:spcBef>
              <a:buSzPct val="80000"/>
              <a:buFontTx/>
              <a:buBlip>
                <a:blip r:embed="rId7"/>
              </a:buBlip>
            </a:pPr>
            <a:r>
              <a:rPr lang="en-GB" sz="2600" i="1" u="sng" dirty="0" err="1">
                <a:solidFill>
                  <a:srgbClr val="000000"/>
                </a:solidFill>
              </a:rPr>
              <a:t>Intégrité</a:t>
            </a:r>
            <a:r>
              <a:rPr lang="en-GB" sz="2600" dirty="0">
                <a:solidFill>
                  <a:srgbClr val="000000"/>
                </a:solidFill>
              </a:rPr>
              <a:t> du </a:t>
            </a:r>
            <a:r>
              <a:rPr lang="en-GB" sz="2600" dirty="0" err="1">
                <a:solidFill>
                  <a:srgbClr val="000000"/>
                </a:solidFill>
              </a:rPr>
              <a:t>trafic</a:t>
            </a:r>
            <a:r>
              <a:rPr lang="en-GB" sz="2600" dirty="0">
                <a:solidFill>
                  <a:srgbClr val="000000"/>
                </a:solidFill>
              </a:rPr>
              <a:t> IP en </a:t>
            </a:r>
            <a:r>
              <a:rPr lang="en-GB" sz="2600" dirty="0" err="1">
                <a:solidFill>
                  <a:srgbClr val="000000"/>
                </a:solidFill>
              </a:rPr>
              <a:t>rejetant</a:t>
            </a:r>
            <a:r>
              <a:rPr lang="en-GB" sz="2600" dirty="0">
                <a:solidFill>
                  <a:srgbClr val="000000"/>
                </a:solidFill>
              </a:rPr>
              <a:t> tout </a:t>
            </a:r>
            <a:r>
              <a:rPr lang="en-GB" sz="2600" dirty="0" err="1">
                <a:solidFill>
                  <a:srgbClr val="000000"/>
                </a:solidFill>
              </a:rPr>
              <a:t>trafic</a:t>
            </a:r>
            <a:r>
              <a:rPr lang="en-GB" sz="2600" dirty="0">
                <a:solidFill>
                  <a:srgbClr val="000000"/>
                </a:solidFill>
              </a:rPr>
              <a:t> </a:t>
            </a:r>
            <a:r>
              <a:rPr lang="en-GB" sz="2600" dirty="0" err="1">
                <a:solidFill>
                  <a:srgbClr val="000000"/>
                </a:solidFill>
              </a:rPr>
              <a:t>modifié</a:t>
            </a:r>
            <a:endParaRPr lang="en-US" sz="2600" dirty="0"/>
          </a:p>
          <a:p>
            <a:pPr marL="231775" indent="-231775" algn="l">
              <a:lnSpc>
                <a:spcPct val="90000"/>
              </a:lnSpc>
              <a:spcBef>
                <a:spcPct val="40000"/>
              </a:spcBef>
              <a:buSzPct val="80000"/>
              <a:buFontTx/>
              <a:buBlip>
                <a:blip r:embed="rId7"/>
              </a:buBlip>
            </a:pPr>
            <a:r>
              <a:rPr lang="en-GB" sz="2600" i="1" u="sng" dirty="0" err="1">
                <a:solidFill>
                  <a:srgbClr val="000000"/>
                </a:solidFill>
              </a:rPr>
              <a:t>Protection</a:t>
            </a:r>
            <a:r>
              <a:rPr lang="en-GB" sz="2600" i="1" u="sng" dirty="0">
                <a:solidFill>
                  <a:srgbClr val="000000"/>
                </a:solidFill>
              </a:rPr>
              <a:t> </a:t>
            </a:r>
            <a:r>
              <a:rPr lang="en-GB" sz="2600" i="1" u="sng" dirty="0" err="1">
                <a:solidFill>
                  <a:srgbClr val="000000"/>
                </a:solidFill>
              </a:rPr>
              <a:t>contre</a:t>
            </a:r>
            <a:r>
              <a:rPr lang="en-GB" sz="2600" i="1" u="sng" dirty="0">
                <a:solidFill>
                  <a:srgbClr val="000000"/>
                </a:solidFill>
              </a:rPr>
              <a:t> les </a:t>
            </a:r>
            <a:r>
              <a:rPr lang="en-GB" sz="2600" i="1" u="sng" dirty="0" err="1">
                <a:solidFill>
                  <a:srgbClr val="000000"/>
                </a:solidFill>
              </a:rPr>
              <a:t>attaques</a:t>
            </a:r>
            <a:r>
              <a:rPr lang="en-GB" sz="2600" i="1" u="sng" dirty="0">
                <a:solidFill>
                  <a:srgbClr val="000000"/>
                </a:solidFill>
              </a:rPr>
              <a:t> de </a:t>
            </a:r>
            <a:r>
              <a:rPr lang="en-GB" sz="2600" i="1" u="sng" dirty="0" err="1">
                <a:solidFill>
                  <a:srgbClr val="000000"/>
                </a:solidFill>
              </a:rPr>
              <a:t>relecture</a:t>
            </a:r>
            <a:endParaRPr lang="en-US" sz="2600" i="1" u="sng" dirty="0">
              <a:solidFill>
                <a:srgbClr val="000000"/>
              </a:solidFill>
            </a:endParaRPr>
          </a:p>
        </p:txBody>
      </p:sp>
      <p:sp>
        <p:nvSpPr>
          <p:cNvPr id="7" name="Rectangle 6"/>
          <p:cNvSpPr/>
          <p:nvPr/>
        </p:nvSpPr>
        <p:spPr>
          <a:xfrm>
            <a:off x="185350" y="3766849"/>
            <a:ext cx="4126899" cy="461665"/>
          </a:xfrm>
          <a:prstGeom prst="rect">
            <a:avLst/>
          </a:prstGeom>
        </p:spPr>
        <p:txBody>
          <a:bodyPr wrap="none">
            <a:spAutoFit/>
          </a:bodyPr>
          <a:lstStyle/>
          <a:p>
            <a:pPr algn="l"/>
            <a:r>
              <a:rPr lang="en-GB" sz="2400" dirty="0" err="1" smtClean="0">
                <a:solidFill>
                  <a:srgbClr val="000000"/>
                </a:solidFill>
              </a:rPr>
              <a:t>Avantages</a:t>
            </a:r>
            <a:r>
              <a:rPr lang="en-GB" sz="2400" dirty="0" smtClean="0">
                <a:solidFill>
                  <a:srgbClr val="000000"/>
                </a:solidFill>
              </a:rPr>
              <a:t> de la </a:t>
            </a:r>
            <a:r>
              <a:rPr lang="en-GB" sz="2400" dirty="0" err="1" smtClean="0">
                <a:solidFill>
                  <a:srgbClr val="000000"/>
                </a:solidFill>
              </a:rPr>
              <a:t>sécurité</a:t>
            </a:r>
            <a:r>
              <a:rPr lang="en-GB" sz="2400" dirty="0" smtClean="0">
                <a:solidFill>
                  <a:srgbClr val="000000"/>
                </a:solidFill>
              </a:rPr>
              <a:t> IPSec :</a:t>
            </a:r>
            <a:r>
              <a:rPr lang="en-US" sz="2400" dirty="0" smtClean="0"/>
              <a:t> </a:t>
            </a: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21190">
                                            <p:txEl>
                                              <p:pRg st="0" end="0"/>
                                            </p:txEl>
                                          </p:spTgt>
                                        </p:tgtEl>
                                        <p:attrNameLst>
                                          <p:attrName>style.visibility</p:attrName>
                                        </p:attrNameLst>
                                      </p:cBhvr>
                                      <p:to>
                                        <p:strVal val="visible"/>
                                      </p:to>
                                    </p:set>
                                    <p:animEffect transition="in" filter="checkerboard(across)">
                                      <p:cBhvr>
                                        <p:cTn id="7" dur="1000"/>
                                        <p:tgtEl>
                                          <p:spTgt spid="22119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21190">
                                            <p:txEl>
                                              <p:pRg st="1" end="1"/>
                                            </p:txEl>
                                          </p:spTgt>
                                        </p:tgtEl>
                                        <p:attrNameLst>
                                          <p:attrName>style.visibility</p:attrName>
                                        </p:attrNameLst>
                                      </p:cBhvr>
                                      <p:to>
                                        <p:strVal val="visible"/>
                                      </p:to>
                                    </p:set>
                                    <p:animEffect transition="in" filter="checkerboard(across)">
                                      <p:cBhvr>
                                        <p:cTn id="12" dur="1000"/>
                                        <p:tgtEl>
                                          <p:spTgt spid="22119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checkerboard(across)">
                                      <p:cBhvr>
                                        <p:cTn id="17" dur="10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221191">
                                            <p:txEl>
                                              <p:pRg st="0" end="0"/>
                                            </p:txEl>
                                          </p:spTgt>
                                        </p:tgtEl>
                                        <p:attrNameLst>
                                          <p:attrName>style.visibility</p:attrName>
                                        </p:attrNameLst>
                                      </p:cBhvr>
                                      <p:to>
                                        <p:strVal val="visible"/>
                                      </p:to>
                                    </p:set>
                                    <p:animEffect transition="in" filter="checkerboard(across)">
                                      <p:cBhvr>
                                        <p:cTn id="22" dur="1000"/>
                                        <p:tgtEl>
                                          <p:spTgt spid="221191">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221191">
                                            <p:txEl>
                                              <p:pRg st="1" end="1"/>
                                            </p:txEl>
                                          </p:spTgt>
                                        </p:tgtEl>
                                        <p:attrNameLst>
                                          <p:attrName>style.visibility</p:attrName>
                                        </p:attrNameLst>
                                      </p:cBhvr>
                                      <p:to>
                                        <p:strVal val="visible"/>
                                      </p:to>
                                    </p:set>
                                    <p:animEffect transition="in" filter="checkerboard(across)">
                                      <p:cBhvr>
                                        <p:cTn id="27" dur="1000"/>
                                        <p:tgtEl>
                                          <p:spTgt spid="221191">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221191">
                                            <p:txEl>
                                              <p:pRg st="2" end="2"/>
                                            </p:txEl>
                                          </p:spTgt>
                                        </p:tgtEl>
                                        <p:attrNameLst>
                                          <p:attrName>style.visibility</p:attrName>
                                        </p:attrNameLst>
                                      </p:cBhvr>
                                      <p:to>
                                        <p:strVal val="visible"/>
                                      </p:to>
                                    </p:set>
                                    <p:animEffect transition="in" filter="checkerboard(across)">
                                      <p:cBhvr>
                                        <p:cTn id="32" dur="1000"/>
                                        <p:tgtEl>
                                          <p:spTgt spid="221191">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nodeType="clickEffect">
                                  <p:stCondLst>
                                    <p:cond delay="0"/>
                                  </p:stCondLst>
                                  <p:childTnLst>
                                    <p:set>
                                      <p:cBhvr>
                                        <p:cTn id="36" dur="1" fill="hold">
                                          <p:stCondLst>
                                            <p:cond delay="0"/>
                                          </p:stCondLst>
                                        </p:cTn>
                                        <p:tgtEl>
                                          <p:spTgt spid="221191">
                                            <p:txEl>
                                              <p:pRg st="3" end="3"/>
                                            </p:txEl>
                                          </p:spTgt>
                                        </p:tgtEl>
                                        <p:attrNameLst>
                                          <p:attrName>style.visibility</p:attrName>
                                        </p:attrNameLst>
                                      </p:cBhvr>
                                      <p:to>
                                        <p:strVal val="visible"/>
                                      </p:to>
                                    </p:set>
                                    <p:animEffect transition="in" filter="checkerboard(across)">
                                      <p:cBhvr>
                                        <p:cTn id="37" dur="1000"/>
                                        <p:tgtEl>
                                          <p:spTgt spid="22119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2"/>
          <p:cNvSpPr>
            <a:spLocks noGrp="1" noChangeArrowheads="1"/>
          </p:cNvSpPr>
          <p:nvPr>
            <p:ph type="title" sz="quarter"/>
            <p:custDataLst>
              <p:tags r:id="rId1"/>
            </p:custDataLst>
          </p:nvPr>
        </p:nvSpPr>
        <p:spPr>
          <a:xfrm>
            <a:off x="185284" y="87089"/>
            <a:ext cx="8770029" cy="754743"/>
          </a:xfrm>
        </p:spPr>
        <p:txBody>
          <a:bodyPr>
            <a:noAutofit/>
          </a:bodyPr>
          <a:lstStyle/>
          <a:p>
            <a:r>
              <a:rPr lang="fr-FR" sz="2800" b="1" dirty="0" smtClean="0">
                <a:solidFill>
                  <a:srgbClr val="000000"/>
                </a:solidFill>
              </a:rPr>
              <a:t>Fonctionnement de </a:t>
            </a:r>
            <a:r>
              <a:rPr lang="fr-FR" sz="2800" b="1" dirty="0" smtClean="0">
                <a:solidFill>
                  <a:srgbClr val="000000"/>
                </a:solidFill>
              </a:rPr>
              <a:t>la sécurité </a:t>
            </a:r>
            <a:r>
              <a:rPr lang="fr-FR" sz="2800" b="1" dirty="0" err="1" smtClean="0">
                <a:solidFill>
                  <a:srgbClr val="000000"/>
                </a:solidFill>
              </a:rPr>
              <a:t>IPSec</a:t>
            </a:r>
            <a:endParaRPr lang="en-US" sz="2800" b="1" dirty="0">
              <a:solidFill>
                <a:srgbClr val="000000"/>
              </a:solidFill>
            </a:endParaRPr>
          </a:p>
        </p:txBody>
      </p:sp>
      <p:grpSp>
        <p:nvGrpSpPr>
          <p:cNvPr id="2" name="Group 301"/>
          <p:cNvGrpSpPr>
            <a:grpSpLocks/>
          </p:cNvGrpSpPr>
          <p:nvPr/>
        </p:nvGrpSpPr>
        <p:grpSpPr bwMode="auto">
          <a:xfrm>
            <a:off x="862692" y="2073516"/>
            <a:ext cx="7394575" cy="2981325"/>
            <a:chOff x="516" y="1745"/>
            <a:chExt cx="4658" cy="1878"/>
          </a:xfrm>
        </p:grpSpPr>
        <p:sp>
          <p:nvSpPr>
            <p:cNvPr id="266542" name="Rectangle 302"/>
            <p:cNvSpPr>
              <a:spLocks noChangeArrowheads="1"/>
            </p:cNvSpPr>
            <p:nvPr/>
          </p:nvSpPr>
          <p:spPr bwMode="auto">
            <a:xfrm rot="-10800000">
              <a:off x="516" y="3540"/>
              <a:ext cx="4658" cy="83"/>
            </a:xfrm>
            <a:prstGeom prst="rect">
              <a:avLst/>
            </a:prstGeom>
            <a:gradFill rotWithShape="0">
              <a:gsLst>
                <a:gs pos="0">
                  <a:srgbClr val="969696"/>
                </a:gs>
                <a:gs pos="50000">
                  <a:srgbClr val="969696">
                    <a:gamma/>
                    <a:tint val="21176"/>
                    <a:invGamma/>
                  </a:srgbClr>
                </a:gs>
                <a:gs pos="100000">
                  <a:srgbClr val="969696"/>
                </a:gs>
              </a:gsLst>
              <a:lin ang="5400000" scaled="1"/>
            </a:gradFill>
            <a:ln w="9525">
              <a:noFill/>
              <a:miter lim="800000"/>
              <a:headEnd/>
              <a:tailEnd/>
            </a:ln>
            <a:effectLst/>
          </p:spPr>
          <p:txBody>
            <a:bodyPr rot="10800000" wrap="none" anchor="ctr"/>
            <a:lstStyle/>
            <a:p>
              <a:endParaRPr lang="fr-FR"/>
            </a:p>
          </p:txBody>
        </p:sp>
        <p:sp>
          <p:nvSpPr>
            <p:cNvPr id="266543" name="AutoShape 303"/>
            <p:cNvSpPr>
              <a:spLocks noChangeArrowheads="1"/>
            </p:cNvSpPr>
            <p:nvPr/>
          </p:nvSpPr>
          <p:spPr bwMode="auto">
            <a:xfrm rot="5400000">
              <a:off x="813" y="2895"/>
              <a:ext cx="1320" cy="86"/>
            </a:xfrm>
            <a:prstGeom prst="homePlate">
              <a:avLst>
                <a:gd name="adj" fmla="val 61680"/>
              </a:avLst>
            </a:prstGeom>
            <a:gradFill rotWithShape="0">
              <a:gsLst>
                <a:gs pos="0">
                  <a:srgbClr val="969696"/>
                </a:gs>
                <a:gs pos="50000">
                  <a:srgbClr val="969696">
                    <a:gamma/>
                    <a:tint val="21176"/>
                    <a:invGamma/>
                  </a:srgbClr>
                </a:gs>
                <a:gs pos="100000">
                  <a:srgbClr val="969696"/>
                </a:gs>
              </a:gsLst>
              <a:lin ang="0" scaled="1"/>
            </a:gradFill>
            <a:ln w="9525">
              <a:noFill/>
              <a:miter lim="800000"/>
              <a:headEnd/>
              <a:tailEnd/>
            </a:ln>
            <a:effectLst/>
          </p:spPr>
          <p:txBody>
            <a:bodyPr rot="10800000" wrap="none" anchor="ctr"/>
            <a:lstStyle/>
            <a:p>
              <a:r>
                <a:rPr lang="en-US" sz="2800" b="0">
                  <a:solidFill>
                    <a:srgbClr val="000000"/>
                  </a:solidFill>
                  <a:latin typeface="Times New Roman" pitchFamily="18" charset="0"/>
                </a:rPr>
                <a:t> </a:t>
              </a:r>
            </a:p>
          </p:txBody>
        </p:sp>
        <p:sp>
          <p:nvSpPr>
            <p:cNvPr id="266544" name="AutoShape 304"/>
            <p:cNvSpPr>
              <a:spLocks noChangeArrowheads="1"/>
            </p:cNvSpPr>
            <p:nvPr/>
          </p:nvSpPr>
          <p:spPr bwMode="auto">
            <a:xfrm rot="5400000">
              <a:off x="3585" y="2895"/>
              <a:ext cx="1320" cy="86"/>
            </a:xfrm>
            <a:prstGeom prst="homePlate">
              <a:avLst>
                <a:gd name="adj" fmla="val 61680"/>
              </a:avLst>
            </a:prstGeom>
            <a:gradFill rotWithShape="0">
              <a:gsLst>
                <a:gs pos="0">
                  <a:srgbClr val="969696"/>
                </a:gs>
                <a:gs pos="50000">
                  <a:srgbClr val="969696">
                    <a:gamma/>
                    <a:tint val="21176"/>
                    <a:invGamma/>
                  </a:srgbClr>
                </a:gs>
                <a:gs pos="100000">
                  <a:srgbClr val="969696"/>
                </a:gs>
              </a:gsLst>
              <a:lin ang="0" scaled="1"/>
            </a:gradFill>
            <a:ln w="9525">
              <a:noFill/>
              <a:miter lim="800000"/>
              <a:headEnd/>
              <a:tailEnd/>
            </a:ln>
            <a:effectLst/>
          </p:spPr>
          <p:txBody>
            <a:bodyPr rot="10800000" wrap="none" anchor="ctr"/>
            <a:lstStyle/>
            <a:p>
              <a:r>
                <a:rPr lang="en-US" sz="2800" b="0">
                  <a:solidFill>
                    <a:srgbClr val="000000"/>
                  </a:solidFill>
                  <a:latin typeface="Times New Roman" pitchFamily="18" charset="0"/>
                </a:rPr>
                <a:t> </a:t>
              </a:r>
            </a:p>
          </p:txBody>
        </p:sp>
        <p:pic>
          <p:nvPicPr>
            <p:cNvPr id="266545" name="Picture 305" descr="Computer_DesktopComputerSansKeyboard01"/>
            <p:cNvPicPr>
              <a:picLocks noChangeAspect="1" noChangeArrowheads="1"/>
            </p:cNvPicPr>
            <p:nvPr/>
          </p:nvPicPr>
          <p:blipFill>
            <a:blip r:embed="rId8"/>
            <a:srcRect/>
            <a:stretch>
              <a:fillRect/>
            </a:stretch>
          </p:blipFill>
          <p:spPr bwMode="auto">
            <a:xfrm>
              <a:off x="1148" y="1745"/>
              <a:ext cx="650" cy="792"/>
            </a:xfrm>
            <a:prstGeom prst="rect">
              <a:avLst/>
            </a:prstGeom>
            <a:noFill/>
          </p:spPr>
        </p:pic>
        <p:pic>
          <p:nvPicPr>
            <p:cNvPr id="266546" name="Picture 306" descr="Computer_DesktopComputerSansKeyboard01"/>
            <p:cNvPicPr>
              <a:picLocks noChangeAspect="1" noChangeArrowheads="1"/>
            </p:cNvPicPr>
            <p:nvPr/>
          </p:nvPicPr>
          <p:blipFill>
            <a:blip r:embed="rId8"/>
            <a:srcRect/>
            <a:stretch>
              <a:fillRect/>
            </a:stretch>
          </p:blipFill>
          <p:spPr bwMode="auto">
            <a:xfrm>
              <a:off x="3951" y="1745"/>
              <a:ext cx="650" cy="792"/>
            </a:xfrm>
            <a:prstGeom prst="rect">
              <a:avLst/>
            </a:prstGeom>
            <a:noFill/>
          </p:spPr>
        </p:pic>
      </p:grpSp>
      <p:grpSp>
        <p:nvGrpSpPr>
          <p:cNvPr id="3" name="Group 361"/>
          <p:cNvGrpSpPr>
            <a:grpSpLocks/>
          </p:cNvGrpSpPr>
          <p:nvPr/>
        </p:nvGrpSpPr>
        <p:grpSpPr bwMode="auto">
          <a:xfrm>
            <a:off x="1003300" y="1900470"/>
            <a:ext cx="6956425" cy="2832100"/>
            <a:chOff x="632" y="1380"/>
            <a:chExt cx="4382" cy="1784"/>
          </a:xfrm>
        </p:grpSpPr>
        <p:sp>
          <p:nvSpPr>
            <p:cNvPr id="266548" name="Line 308"/>
            <p:cNvSpPr>
              <a:spLocks noChangeShapeType="1"/>
            </p:cNvSpPr>
            <p:nvPr/>
          </p:nvSpPr>
          <p:spPr bwMode="auto">
            <a:xfrm flipH="1">
              <a:off x="1738" y="2037"/>
              <a:ext cx="405" cy="0"/>
            </a:xfrm>
            <a:prstGeom prst="line">
              <a:avLst/>
            </a:prstGeom>
            <a:noFill/>
            <a:ln w="57150">
              <a:solidFill>
                <a:srgbClr val="CC0000"/>
              </a:solidFill>
              <a:round/>
              <a:headEnd/>
              <a:tailEnd type="triangle" w="med" len="med"/>
            </a:ln>
            <a:effectLst/>
          </p:spPr>
          <p:txBody>
            <a:bodyPr wrap="none" anchor="ctr"/>
            <a:lstStyle/>
            <a:p>
              <a:endParaRPr lang="fr-FR"/>
            </a:p>
          </p:txBody>
        </p:sp>
        <p:sp>
          <p:nvSpPr>
            <p:cNvPr id="266549" name="Line 309"/>
            <p:cNvSpPr>
              <a:spLocks noChangeShapeType="1"/>
            </p:cNvSpPr>
            <p:nvPr/>
          </p:nvSpPr>
          <p:spPr bwMode="auto">
            <a:xfrm>
              <a:off x="3531" y="2037"/>
              <a:ext cx="405" cy="0"/>
            </a:xfrm>
            <a:prstGeom prst="line">
              <a:avLst/>
            </a:prstGeom>
            <a:noFill/>
            <a:ln w="57150">
              <a:solidFill>
                <a:srgbClr val="CC0000"/>
              </a:solidFill>
              <a:round/>
              <a:headEnd/>
              <a:tailEnd type="triangle" w="med" len="med"/>
            </a:ln>
            <a:effectLst/>
          </p:spPr>
          <p:txBody>
            <a:bodyPr wrap="none" anchor="ctr"/>
            <a:lstStyle/>
            <a:p>
              <a:endParaRPr lang="fr-FR"/>
            </a:p>
          </p:txBody>
        </p:sp>
        <p:sp>
          <p:nvSpPr>
            <p:cNvPr id="266550" name="Freeform 310"/>
            <p:cNvSpPr>
              <a:spLocks/>
            </p:cNvSpPr>
            <p:nvPr/>
          </p:nvSpPr>
          <p:spPr bwMode="auto">
            <a:xfrm>
              <a:off x="632" y="1380"/>
              <a:ext cx="796" cy="1644"/>
            </a:xfrm>
            <a:custGeom>
              <a:avLst/>
              <a:gdLst/>
              <a:ahLst/>
              <a:cxnLst>
                <a:cxn ang="0">
                  <a:pos x="576" y="0"/>
                </a:cxn>
                <a:cxn ang="0">
                  <a:pos x="0" y="0"/>
                </a:cxn>
                <a:cxn ang="0">
                  <a:pos x="0" y="1720"/>
                </a:cxn>
                <a:cxn ang="0">
                  <a:pos x="219" y="1720"/>
                </a:cxn>
              </a:cxnLst>
              <a:rect l="0" t="0" r="r" b="b"/>
              <a:pathLst>
                <a:path w="576" h="1720">
                  <a:moveTo>
                    <a:pt x="576" y="0"/>
                  </a:moveTo>
                  <a:lnTo>
                    <a:pt x="0" y="0"/>
                  </a:lnTo>
                  <a:lnTo>
                    <a:pt x="0" y="1720"/>
                  </a:lnTo>
                  <a:lnTo>
                    <a:pt x="219" y="1720"/>
                  </a:lnTo>
                </a:path>
              </a:pathLst>
            </a:custGeom>
            <a:noFill/>
            <a:ln w="57150" cap="flat" cmpd="sng">
              <a:solidFill>
                <a:srgbClr val="CC0000"/>
              </a:solidFill>
              <a:prstDash val="solid"/>
              <a:round/>
              <a:headEnd type="none" w="med" len="med"/>
              <a:tailEnd type="triangle" w="med" len="med"/>
            </a:ln>
            <a:effectLst/>
          </p:spPr>
          <p:txBody>
            <a:bodyPr wrap="none" anchor="ctr"/>
            <a:lstStyle/>
            <a:p>
              <a:endParaRPr lang="fr-FR"/>
            </a:p>
          </p:txBody>
        </p:sp>
        <p:sp>
          <p:nvSpPr>
            <p:cNvPr id="266551" name="Freeform 311"/>
            <p:cNvSpPr>
              <a:spLocks/>
            </p:cNvSpPr>
            <p:nvPr/>
          </p:nvSpPr>
          <p:spPr bwMode="auto">
            <a:xfrm flipH="1">
              <a:off x="4260" y="1380"/>
              <a:ext cx="754" cy="1644"/>
            </a:xfrm>
            <a:custGeom>
              <a:avLst/>
              <a:gdLst/>
              <a:ahLst/>
              <a:cxnLst>
                <a:cxn ang="0">
                  <a:pos x="576" y="0"/>
                </a:cxn>
                <a:cxn ang="0">
                  <a:pos x="0" y="0"/>
                </a:cxn>
                <a:cxn ang="0">
                  <a:pos x="0" y="1720"/>
                </a:cxn>
                <a:cxn ang="0">
                  <a:pos x="219" y="1720"/>
                </a:cxn>
              </a:cxnLst>
              <a:rect l="0" t="0" r="r" b="b"/>
              <a:pathLst>
                <a:path w="576" h="1720">
                  <a:moveTo>
                    <a:pt x="576" y="0"/>
                  </a:moveTo>
                  <a:lnTo>
                    <a:pt x="0" y="0"/>
                  </a:lnTo>
                  <a:lnTo>
                    <a:pt x="0" y="1720"/>
                  </a:lnTo>
                  <a:lnTo>
                    <a:pt x="219" y="1720"/>
                  </a:lnTo>
                </a:path>
              </a:pathLst>
            </a:custGeom>
            <a:noFill/>
            <a:ln w="57150" cap="flat" cmpd="sng">
              <a:solidFill>
                <a:srgbClr val="CC0000"/>
              </a:solidFill>
              <a:prstDash val="solid"/>
              <a:round/>
              <a:headEnd type="none" w="med" len="med"/>
              <a:tailEnd type="triangle" w="med" len="med"/>
            </a:ln>
            <a:effectLst/>
          </p:spPr>
          <p:txBody>
            <a:bodyPr wrap="none" anchor="ctr"/>
            <a:lstStyle/>
            <a:p>
              <a:endParaRPr lang="fr-FR"/>
            </a:p>
          </p:txBody>
        </p:sp>
        <p:sp>
          <p:nvSpPr>
            <p:cNvPr id="266552" name="AutoShape 312"/>
            <p:cNvSpPr>
              <a:spLocks noChangeArrowheads="1"/>
            </p:cNvSpPr>
            <p:nvPr/>
          </p:nvSpPr>
          <p:spPr bwMode="auto">
            <a:xfrm>
              <a:off x="3853" y="2640"/>
              <a:ext cx="830" cy="240"/>
            </a:xfrm>
            <a:prstGeom prst="roundRect">
              <a:avLst>
                <a:gd name="adj" fmla="val 4167"/>
              </a:avLst>
            </a:prstGeom>
            <a:solidFill>
              <a:srgbClr val="FFFFFF"/>
            </a:solidFill>
            <a:ln w="9525" algn="ctr">
              <a:solidFill>
                <a:srgbClr val="4D4D4D"/>
              </a:solidFill>
              <a:round/>
              <a:headEnd/>
              <a:tailEnd/>
            </a:ln>
            <a:effectLst>
              <a:outerShdw dist="35921" dir="2700000" algn="ctr" rotWithShape="0">
                <a:srgbClr val="AFAFAF"/>
              </a:outerShdw>
            </a:effectLst>
          </p:spPr>
          <p:txBody>
            <a:bodyPr anchor="ctr"/>
            <a:lstStyle/>
            <a:p>
              <a:r>
                <a:rPr lang="en-GB">
                  <a:solidFill>
                    <a:srgbClr val="000000"/>
                  </a:solidFill>
                </a:rPr>
                <a:t>Couche TCP</a:t>
              </a:r>
              <a:endParaRPr lang="en-US">
                <a:solidFill>
                  <a:srgbClr val="000000"/>
                </a:solidFill>
              </a:endParaRPr>
            </a:p>
          </p:txBody>
        </p:sp>
        <p:sp>
          <p:nvSpPr>
            <p:cNvPr id="266553" name="AutoShape 313"/>
            <p:cNvSpPr>
              <a:spLocks noChangeArrowheads="1"/>
            </p:cNvSpPr>
            <p:nvPr/>
          </p:nvSpPr>
          <p:spPr bwMode="auto">
            <a:xfrm>
              <a:off x="3853" y="2924"/>
              <a:ext cx="830" cy="240"/>
            </a:xfrm>
            <a:prstGeom prst="roundRect">
              <a:avLst>
                <a:gd name="adj" fmla="val 4167"/>
              </a:avLst>
            </a:prstGeom>
            <a:solidFill>
              <a:srgbClr val="FFFFFF"/>
            </a:solidFill>
            <a:ln w="9525" algn="ctr">
              <a:solidFill>
                <a:srgbClr val="4D4D4D"/>
              </a:solidFill>
              <a:round/>
              <a:headEnd/>
              <a:tailEnd/>
            </a:ln>
            <a:effectLst>
              <a:outerShdw dist="35921" dir="2700000" algn="ctr" rotWithShape="0">
                <a:srgbClr val="AFAFAF"/>
              </a:outerShdw>
            </a:effectLst>
          </p:spPr>
          <p:txBody>
            <a:bodyPr anchor="ctr"/>
            <a:lstStyle/>
            <a:p>
              <a:r>
                <a:rPr lang="en-GB">
                  <a:solidFill>
                    <a:srgbClr val="000000"/>
                  </a:solidFill>
                </a:rPr>
                <a:t>Pilote IPSec</a:t>
              </a:r>
              <a:endParaRPr lang="en-US">
                <a:solidFill>
                  <a:srgbClr val="000000"/>
                </a:solidFill>
              </a:endParaRPr>
            </a:p>
          </p:txBody>
        </p:sp>
        <p:sp>
          <p:nvSpPr>
            <p:cNvPr id="266554" name="AutoShape 314"/>
            <p:cNvSpPr>
              <a:spLocks noChangeArrowheads="1"/>
            </p:cNvSpPr>
            <p:nvPr/>
          </p:nvSpPr>
          <p:spPr bwMode="auto">
            <a:xfrm>
              <a:off x="959" y="2640"/>
              <a:ext cx="830" cy="240"/>
            </a:xfrm>
            <a:prstGeom prst="roundRect">
              <a:avLst>
                <a:gd name="adj" fmla="val 4167"/>
              </a:avLst>
            </a:prstGeom>
            <a:solidFill>
              <a:srgbClr val="FFFFFF"/>
            </a:solidFill>
            <a:ln w="9525" algn="ctr">
              <a:solidFill>
                <a:srgbClr val="4D4D4D"/>
              </a:solidFill>
              <a:round/>
              <a:headEnd/>
              <a:tailEnd/>
            </a:ln>
            <a:effectLst>
              <a:outerShdw dist="35921" dir="2700000" algn="ctr" rotWithShape="0">
                <a:srgbClr val="AFAFAF"/>
              </a:outerShdw>
            </a:effectLst>
          </p:spPr>
          <p:txBody>
            <a:bodyPr anchor="ctr"/>
            <a:lstStyle/>
            <a:p>
              <a:r>
                <a:rPr lang="en-GB">
                  <a:solidFill>
                    <a:srgbClr val="000000"/>
                  </a:solidFill>
                </a:rPr>
                <a:t>Couche TCP</a:t>
              </a:r>
              <a:endParaRPr lang="en-US">
                <a:solidFill>
                  <a:srgbClr val="000000"/>
                </a:solidFill>
              </a:endParaRPr>
            </a:p>
          </p:txBody>
        </p:sp>
        <p:sp>
          <p:nvSpPr>
            <p:cNvPr id="266555" name="AutoShape 315"/>
            <p:cNvSpPr>
              <a:spLocks noChangeArrowheads="1"/>
            </p:cNvSpPr>
            <p:nvPr/>
          </p:nvSpPr>
          <p:spPr bwMode="auto">
            <a:xfrm>
              <a:off x="959" y="2924"/>
              <a:ext cx="830" cy="240"/>
            </a:xfrm>
            <a:prstGeom prst="roundRect">
              <a:avLst>
                <a:gd name="adj" fmla="val 4167"/>
              </a:avLst>
            </a:prstGeom>
            <a:solidFill>
              <a:srgbClr val="FFFFFF"/>
            </a:solidFill>
            <a:ln w="9525" algn="ctr">
              <a:solidFill>
                <a:srgbClr val="4D4D4D"/>
              </a:solidFill>
              <a:round/>
              <a:headEnd/>
              <a:tailEnd/>
            </a:ln>
            <a:effectLst>
              <a:outerShdw dist="35921" dir="2700000" algn="ctr" rotWithShape="0">
                <a:srgbClr val="AFAFAF"/>
              </a:outerShdw>
            </a:effectLst>
          </p:spPr>
          <p:txBody>
            <a:bodyPr anchor="ctr"/>
            <a:lstStyle/>
            <a:p>
              <a:r>
                <a:rPr lang="en-GB" dirty="0" err="1">
                  <a:solidFill>
                    <a:srgbClr val="000000"/>
                  </a:solidFill>
                </a:rPr>
                <a:t>Pilote</a:t>
              </a:r>
              <a:r>
                <a:rPr lang="en-GB" dirty="0">
                  <a:solidFill>
                    <a:srgbClr val="000000"/>
                  </a:solidFill>
                </a:rPr>
                <a:t> IPSec</a:t>
              </a:r>
              <a:endParaRPr lang="en-US" dirty="0">
                <a:solidFill>
                  <a:srgbClr val="000000"/>
                </a:solidFill>
              </a:endParaRPr>
            </a:p>
          </p:txBody>
        </p:sp>
      </p:grpSp>
      <p:grpSp>
        <p:nvGrpSpPr>
          <p:cNvPr id="4" name="Group 316"/>
          <p:cNvGrpSpPr>
            <a:grpSpLocks/>
          </p:cNvGrpSpPr>
          <p:nvPr/>
        </p:nvGrpSpPr>
        <p:grpSpPr bwMode="auto">
          <a:xfrm>
            <a:off x="2556555" y="3875340"/>
            <a:ext cx="4019550" cy="1444629"/>
            <a:chOff x="1583" y="2880"/>
            <a:chExt cx="2532" cy="910"/>
          </a:xfrm>
        </p:grpSpPr>
        <p:sp>
          <p:nvSpPr>
            <p:cNvPr id="266557" name="Freeform 317"/>
            <p:cNvSpPr>
              <a:spLocks/>
            </p:cNvSpPr>
            <p:nvPr/>
          </p:nvSpPr>
          <p:spPr bwMode="auto">
            <a:xfrm>
              <a:off x="1583" y="3444"/>
              <a:ext cx="794" cy="277"/>
            </a:xfrm>
            <a:custGeom>
              <a:avLst/>
              <a:gdLst/>
              <a:ahLst/>
              <a:cxnLst>
                <a:cxn ang="0">
                  <a:pos x="0" y="0"/>
                </a:cxn>
                <a:cxn ang="0">
                  <a:pos x="0" y="414"/>
                </a:cxn>
                <a:cxn ang="0">
                  <a:pos x="746" y="414"/>
                </a:cxn>
              </a:cxnLst>
              <a:rect l="0" t="0" r="r" b="b"/>
              <a:pathLst>
                <a:path w="746" h="414">
                  <a:moveTo>
                    <a:pt x="0" y="0"/>
                  </a:moveTo>
                  <a:lnTo>
                    <a:pt x="0" y="414"/>
                  </a:lnTo>
                  <a:lnTo>
                    <a:pt x="746" y="414"/>
                  </a:lnTo>
                </a:path>
              </a:pathLst>
            </a:custGeom>
            <a:noFill/>
            <a:ln w="57150" cap="flat" cmpd="sng">
              <a:solidFill>
                <a:srgbClr val="CC0000"/>
              </a:solidFill>
              <a:prstDash val="solid"/>
              <a:round/>
              <a:headEnd type="triangle" w="med" len="med"/>
              <a:tailEnd type="triangle" w="med" len="med"/>
            </a:ln>
            <a:effectLst/>
          </p:spPr>
          <p:txBody>
            <a:bodyPr wrap="none" anchor="ctr"/>
            <a:lstStyle/>
            <a:p>
              <a:endParaRPr lang="fr-FR"/>
            </a:p>
          </p:txBody>
        </p:sp>
        <p:sp>
          <p:nvSpPr>
            <p:cNvPr id="266558" name="AutoShape 318"/>
            <p:cNvSpPr>
              <a:spLocks noChangeArrowheads="1"/>
            </p:cNvSpPr>
            <p:nvPr/>
          </p:nvSpPr>
          <p:spPr bwMode="auto">
            <a:xfrm>
              <a:off x="1953" y="2880"/>
              <a:ext cx="1869" cy="240"/>
            </a:xfrm>
            <a:prstGeom prst="roundRect">
              <a:avLst>
                <a:gd name="adj" fmla="val 4167"/>
              </a:avLst>
            </a:prstGeom>
            <a:solidFill>
              <a:srgbClr val="FFFFFF"/>
            </a:solidFill>
            <a:ln w="9525">
              <a:solidFill>
                <a:srgbClr val="4D4D4D"/>
              </a:solidFill>
              <a:round/>
              <a:headEnd/>
              <a:tailEnd/>
            </a:ln>
            <a:effectLst>
              <a:outerShdw dist="35921" dir="2700000" algn="ctr" rotWithShape="0">
                <a:srgbClr val="AFAFAF"/>
              </a:outerShdw>
            </a:effectLst>
          </p:spPr>
          <p:txBody>
            <a:bodyPr anchor="ctr"/>
            <a:lstStyle/>
            <a:p>
              <a:r>
                <a:rPr lang="en-GB" dirty="0" err="1">
                  <a:solidFill>
                    <a:srgbClr val="000000"/>
                  </a:solidFill>
                </a:rPr>
                <a:t>Paquets</a:t>
              </a:r>
              <a:r>
                <a:rPr lang="en-GB" dirty="0">
                  <a:solidFill>
                    <a:srgbClr val="000000"/>
                  </a:solidFill>
                </a:rPr>
                <a:t> IP </a:t>
              </a:r>
              <a:r>
                <a:rPr lang="en-GB" dirty="0" err="1" smtClean="0">
                  <a:solidFill>
                    <a:srgbClr val="000000"/>
                  </a:solidFill>
                </a:rPr>
                <a:t>cryptés</a:t>
              </a:r>
              <a:r>
                <a:rPr lang="en-GB" dirty="0" smtClean="0">
                  <a:solidFill>
                    <a:srgbClr val="000000"/>
                  </a:solidFill>
                </a:rPr>
                <a:t> </a:t>
              </a:r>
              <a:r>
                <a:rPr lang="en-GB" dirty="0" err="1" smtClean="0">
                  <a:solidFill>
                    <a:srgbClr val="000000"/>
                  </a:solidFill>
                </a:rPr>
                <a:t>ou</a:t>
              </a:r>
              <a:r>
                <a:rPr lang="en-GB" dirty="0" smtClean="0">
                  <a:solidFill>
                    <a:srgbClr val="000000"/>
                  </a:solidFill>
                </a:rPr>
                <a:t>/et </a:t>
              </a:r>
              <a:r>
                <a:rPr lang="en-GB" dirty="0" err="1" smtClean="0">
                  <a:solidFill>
                    <a:srgbClr val="000000"/>
                  </a:solidFill>
                </a:rPr>
                <a:t>signé</a:t>
              </a:r>
              <a:endParaRPr lang="en-US" dirty="0">
                <a:solidFill>
                  <a:srgbClr val="000000"/>
                </a:solidFill>
              </a:endParaRPr>
            </a:p>
          </p:txBody>
        </p:sp>
        <p:grpSp>
          <p:nvGrpSpPr>
            <p:cNvPr id="5" name="Group 319"/>
            <p:cNvGrpSpPr>
              <a:grpSpLocks/>
            </p:cNvGrpSpPr>
            <p:nvPr/>
          </p:nvGrpSpPr>
          <p:grpSpPr bwMode="auto">
            <a:xfrm>
              <a:off x="2355" y="3158"/>
              <a:ext cx="460" cy="632"/>
              <a:chOff x="2435" y="3231"/>
              <a:chExt cx="460" cy="632"/>
            </a:xfrm>
          </p:grpSpPr>
          <p:pic>
            <p:nvPicPr>
              <p:cNvPr id="266560" name="Picture 320" descr="ArbitraryElement01"/>
              <p:cNvPicPr>
                <a:picLocks noChangeAspect="1" noChangeArrowheads="1"/>
              </p:cNvPicPr>
              <p:nvPr/>
            </p:nvPicPr>
            <p:blipFill>
              <a:blip r:embed="rId9" cstate="print"/>
              <a:srcRect/>
              <a:stretch>
                <a:fillRect/>
              </a:stretch>
            </p:blipFill>
            <p:spPr bwMode="auto">
              <a:xfrm>
                <a:off x="2435" y="3570"/>
                <a:ext cx="460" cy="293"/>
              </a:xfrm>
              <a:prstGeom prst="rect">
                <a:avLst/>
              </a:prstGeom>
              <a:noFill/>
            </p:spPr>
          </p:pic>
          <p:pic>
            <p:nvPicPr>
              <p:cNvPr id="266561" name="Picture 321" descr="Security_Secured01"/>
              <p:cNvPicPr>
                <a:picLocks noChangeAspect="1" noChangeArrowheads="1"/>
              </p:cNvPicPr>
              <p:nvPr/>
            </p:nvPicPr>
            <p:blipFill>
              <a:blip r:embed="rId10" cstate="print"/>
              <a:srcRect/>
              <a:stretch>
                <a:fillRect/>
              </a:stretch>
            </p:blipFill>
            <p:spPr bwMode="auto">
              <a:xfrm>
                <a:off x="2516" y="3231"/>
                <a:ext cx="283" cy="455"/>
              </a:xfrm>
              <a:prstGeom prst="rect">
                <a:avLst/>
              </a:prstGeom>
              <a:noFill/>
            </p:spPr>
          </p:pic>
        </p:grpSp>
        <p:grpSp>
          <p:nvGrpSpPr>
            <p:cNvPr id="6" name="Group 322"/>
            <p:cNvGrpSpPr>
              <a:grpSpLocks/>
            </p:cNvGrpSpPr>
            <p:nvPr/>
          </p:nvGrpSpPr>
          <p:grpSpPr bwMode="auto">
            <a:xfrm>
              <a:off x="2867" y="3158"/>
              <a:ext cx="460" cy="632"/>
              <a:chOff x="2947" y="3231"/>
              <a:chExt cx="460" cy="632"/>
            </a:xfrm>
          </p:grpSpPr>
          <p:pic>
            <p:nvPicPr>
              <p:cNvPr id="266563" name="Picture 323" descr="ArbitraryElement01"/>
              <p:cNvPicPr>
                <a:picLocks noChangeAspect="1" noChangeArrowheads="1"/>
              </p:cNvPicPr>
              <p:nvPr/>
            </p:nvPicPr>
            <p:blipFill>
              <a:blip r:embed="rId9" cstate="print"/>
              <a:srcRect/>
              <a:stretch>
                <a:fillRect/>
              </a:stretch>
            </p:blipFill>
            <p:spPr bwMode="auto">
              <a:xfrm>
                <a:off x="2947" y="3570"/>
                <a:ext cx="460" cy="293"/>
              </a:xfrm>
              <a:prstGeom prst="rect">
                <a:avLst/>
              </a:prstGeom>
              <a:noFill/>
            </p:spPr>
          </p:pic>
          <p:pic>
            <p:nvPicPr>
              <p:cNvPr id="266564" name="Picture 324" descr="Security_Secured01"/>
              <p:cNvPicPr>
                <a:picLocks noChangeAspect="1" noChangeArrowheads="1"/>
              </p:cNvPicPr>
              <p:nvPr/>
            </p:nvPicPr>
            <p:blipFill>
              <a:blip r:embed="rId10" cstate="print"/>
              <a:srcRect/>
              <a:stretch>
                <a:fillRect/>
              </a:stretch>
            </p:blipFill>
            <p:spPr bwMode="auto">
              <a:xfrm>
                <a:off x="3028" y="3231"/>
                <a:ext cx="283" cy="455"/>
              </a:xfrm>
              <a:prstGeom prst="rect">
                <a:avLst/>
              </a:prstGeom>
              <a:noFill/>
            </p:spPr>
          </p:pic>
        </p:grpSp>
        <p:sp>
          <p:nvSpPr>
            <p:cNvPr id="266565" name="Freeform 325"/>
            <p:cNvSpPr>
              <a:spLocks/>
            </p:cNvSpPr>
            <p:nvPr/>
          </p:nvSpPr>
          <p:spPr bwMode="auto">
            <a:xfrm flipH="1">
              <a:off x="3321" y="3453"/>
              <a:ext cx="794" cy="277"/>
            </a:xfrm>
            <a:custGeom>
              <a:avLst/>
              <a:gdLst/>
              <a:ahLst/>
              <a:cxnLst>
                <a:cxn ang="0">
                  <a:pos x="0" y="0"/>
                </a:cxn>
                <a:cxn ang="0">
                  <a:pos x="0" y="414"/>
                </a:cxn>
                <a:cxn ang="0">
                  <a:pos x="746" y="414"/>
                </a:cxn>
              </a:cxnLst>
              <a:rect l="0" t="0" r="r" b="b"/>
              <a:pathLst>
                <a:path w="746" h="414">
                  <a:moveTo>
                    <a:pt x="0" y="0"/>
                  </a:moveTo>
                  <a:lnTo>
                    <a:pt x="0" y="414"/>
                  </a:lnTo>
                  <a:lnTo>
                    <a:pt x="746" y="414"/>
                  </a:lnTo>
                </a:path>
              </a:pathLst>
            </a:custGeom>
            <a:noFill/>
            <a:ln w="57150" cap="flat" cmpd="sng">
              <a:solidFill>
                <a:srgbClr val="CC0000"/>
              </a:solidFill>
              <a:prstDash val="solid"/>
              <a:round/>
              <a:headEnd type="triangle" w="med" len="med"/>
              <a:tailEnd type="triangle" w="med" len="med"/>
            </a:ln>
            <a:effectLst/>
          </p:spPr>
          <p:txBody>
            <a:bodyPr wrap="none" anchor="ctr"/>
            <a:lstStyle/>
            <a:p>
              <a:endParaRPr lang="fr-FR"/>
            </a:p>
          </p:txBody>
        </p:sp>
      </p:grpSp>
      <p:sp>
        <p:nvSpPr>
          <p:cNvPr id="266566" name="AutoShape 326"/>
          <p:cNvSpPr>
            <a:spLocks noChangeArrowheads="1"/>
          </p:cNvSpPr>
          <p:nvPr/>
        </p:nvSpPr>
        <p:spPr bwMode="auto">
          <a:xfrm>
            <a:off x="3259137" y="4302591"/>
            <a:ext cx="338137" cy="393700"/>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r>
              <a:rPr lang="en-US" sz="2400" dirty="0">
                <a:solidFill>
                  <a:srgbClr val="990033"/>
                </a:solidFill>
              </a:rPr>
              <a:t>3</a:t>
            </a:r>
          </a:p>
        </p:txBody>
      </p:sp>
      <p:grpSp>
        <p:nvGrpSpPr>
          <p:cNvPr id="7" name="Group 358"/>
          <p:cNvGrpSpPr>
            <a:grpSpLocks/>
          </p:cNvGrpSpPr>
          <p:nvPr/>
        </p:nvGrpSpPr>
        <p:grpSpPr bwMode="auto">
          <a:xfrm>
            <a:off x="3141663" y="1874845"/>
            <a:ext cx="2555875" cy="1566863"/>
            <a:chOff x="1979" y="1373"/>
            <a:chExt cx="1610" cy="987"/>
          </a:xfrm>
        </p:grpSpPr>
        <p:sp>
          <p:nvSpPr>
            <p:cNvPr id="266568" name="Freeform 328"/>
            <p:cNvSpPr>
              <a:spLocks/>
            </p:cNvSpPr>
            <p:nvPr/>
          </p:nvSpPr>
          <p:spPr bwMode="auto">
            <a:xfrm>
              <a:off x="2093" y="1373"/>
              <a:ext cx="308" cy="453"/>
            </a:xfrm>
            <a:custGeom>
              <a:avLst/>
              <a:gdLst/>
              <a:ahLst/>
              <a:cxnLst>
                <a:cxn ang="0">
                  <a:pos x="0" y="0"/>
                </a:cxn>
                <a:cxn ang="0">
                  <a:pos x="308" y="0"/>
                </a:cxn>
                <a:cxn ang="0">
                  <a:pos x="308" y="316"/>
                </a:cxn>
              </a:cxnLst>
              <a:rect l="0" t="0" r="r" b="b"/>
              <a:pathLst>
                <a:path w="308" h="316">
                  <a:moveTo>
                    <a:pt x="0" y="0"/>
                  </a:moveTo>
                  <a:lnTo>
                    <a:pt x="308" y="0"/>
                  </a:lnTo>
                  <a:lnTo>
                    <a:pt x="308" y="316"/>
                  </a:lnTo>
                </a:path>
              </a:pathLst>
            </a:custGeom>
            <a:noFill/>
            <a:ln w="57150" cap="flat" cmpd="sng">
              <a:solidFill>
                <a:srgbClr val="CC0000"/>
              </a:solidFill>
              <a:prstDash val="solid"/>
              <a:round/>
              <a:headEnd type="none" w="med" len="med"/>
              <a:tailEnd type="triangle" w="med" len="med"/>
            </a:ln>
            <a:effectLst/>
          </p:spPr>
          <p:txBody>
            <a:bodyPr wrap="none" anchor="ctr"/>
            <a:lstStyle/>
            <a:p>
              <a:endParaRPr lang="fr-FR"/>
            </a:p>
          </p:txBody>
        </p:sp>
        <p:sp>
          <p:nvSpPr>
            <p:cNvPr id="266569" name="Freeform 329"/>
            <p:cNvSpPr>
              <a:spLocks/>
            </p:cNvSpPr>
            <p:nvPr/>
          </p:nvSpPr>
          <p:spPr bwMode="auto">
            <a:xfrm flipH="1">
              <a:off x="3279" y="1373"/>
              <a:ext cx="308" cy="453"/>
            </a:xfrm>
            <a:custGeom>
              <a:avLst/>
              <a:gdLst/>
              <a:ahLst/>
              <a:cxnLst>
                <a:cxn ang="0">
                  <a:pos x="0" y="0"/>
                </a:cxn>
                <a:cxn ang="0">
                  <a:pos x="308" y="0"/>
                </a:cxn>
                <a:cxn ang="0">
                  <a:pos x="308" y="316"/>
                </a:cxn>
              </a:cxnLst>
              <a:rect l="0" t="0" r="r" b="b"/>
              <a:pathLst>
                <a:path w="308" h="316">
                  <a:moveTo>
                    <a:pt x="0" y="0"/>
                  </a:moveTo>
                  <a:lnTo>
                    <a:pt x="308" y="0"/>
                  </a:lnTo>
                  <a:lnTo>
                    <a:pt x="308" y="316"/>
                  </a:lnTo>
                </a:path>
              </a:pathLst>
            </a:custGeom>
            <a:noFill/>
            <a:ln w="57150" cap="flat" cmpd="sng">
              <a:solidFill>
                <a:srgbClr val="CC0000"/>
              </a:solidFill>
              <a:prstDash val="solid"/>
              <a:round/>
              <a:headEnd type="none" w="med" len="med"/>
              <a:tailEnd type="triangle" w="med" len="med"/>
            </a:ln>
            <a:effectLst/>
          </p:spPr>
          <p:txBody>
            <a:bodyPr wrap="none" anchor="ctr"/>
            <a:lstStyle/>
            <a:p>
              <a:endParaRPr lang="fr-FR"/>
            </a:p>
          </p:txBody>
        </p:sp>
        <p:grpSp>
          <p:nvGrpSpPr>
            <p:cNvPr id="8" name="Group 356"/>
            <p:cNvGrpSpPr>
              <a:grpSpLocks/>
            </p:cNvGrpSpPr>
            <p:nvPr/>
          </p:nvGrpSpPr>
          <p:grpSpPr bwMode="auto">
            <a:xfrm>
              <a:off x="2119" y="1827"/>
              <a:ext cx="1470" cy="533"/>
              <a:chOff x="2119" y="1827"/>
              <a:chExt cx="1470" cy="533"/>
            </a:xfrm>
          </p:grpSpPr>
          <p:sp>
            <p:nvSpPr>
              <p:cNvPr id="266572" name="AutoShape 332"/>
              <p:cNvSpPr>
                <a:spLocks noChangeArrowheads="1"/>
              </p:cNvSpPr>
              <p:nvPr/>
            </p:nvSpPr>
            <p:spPr bwMode="auto">
              <a:xfrm>
                <a:off x="2119" y="1827"/>
                <a:ext cx="1470" cy="533"/>
              </a:xfrm>
              <a:prstGeom prst="roundRect">
                <a:avLst>
                  <a:gd name="adj" fmla="val 4167"/>
                </a:avLst>
              </a:prstGeom>
              <a:solidFill>
                <a:srgbClr val="FFFFFF"/>
              </a:solidFill>
              <a:ln w="9525">
                <a:solidFill>
                  <a:srgbClr val="4D4D4D"/>
                </a:solidFill>
                <a:round/>
                <a:headEnd/>
                <a:tailEnd/>
              </a:ln>
              <a:effectLst>
                <a:outerShdw dist="35921" dir="2700000" algn="ctr" rotWithShape="0">
                  <a:srgbClr val="AFAFAF"/>
                </a:outerShdw>
              </a:effectLst>
            </p:spPr>
            <p:txBody>
              <a:bodyPr anchor="ctr"/>
              <a:lstStyle/>
              <a:p>
                <a:r>
                  <a:rPr lang="en-GB">
                    <a:solidFill>
                      <a:srgbClr val="000000"/>
                    </a:solidFill>
                  </a:rPr>
                  <a:t>Négociation de l'association de sécurité (ISAKMP)</a:t>
                </a:r>
                <a:endParaRPr lang="en-US">
                  <a:solidFill>
                    <a:srgbClr val="000000"/>
                  </a:solidFill>
                </a:endParaRPr>
              </a:p>
            </p:txBody>
          </p:sp>
          <p:pic>
            <p:nvPicPr>
              <p:cNvPr id="266571" name="Picture 331" descr="Security_Permissions01"/>
              <p:cNvPicPr>
                <a:picLocks noChangeAspect="1" noChangeArrowheads="1"/>
              </p:cNvPicPr>
              <p:nvPr/>
            </p:nvPicPr>
            <p:blipFill>
              <a:blip r:embed="rId11" cstate="print"/>
              <a:srcRect/>
              <a:stretch>
                <a:fillRect/>
              </a:stretch>
            </p:blipFill>
            <p:spPr bwMode="auto">
              <a:xfrm>
                <a:off x="3343" y="1930"/>
                <a:ext cx="245" cy="346"/>
              </a:xfrm>
              <a:prstGeom prst="rect">
                <a:avLst/>
              </a:prstGeom>
              <a:noFill/>
            </p:spPr>
          </p:pic>
        </p:grpSp>
        <p:sp>
          <p:nvSpPr>
            <p:cNvPr id="266573" name="AutoShape 333"/>
            <p:cNvSpPr>
              <a:spLocks noChangeArrowheads="1"/>
            </p:cNvSpPr>
            <p:nvPr/>
          </p:nvSpPr>
          <p:spPr bwMode="auto">
            <a:xfrm>
              <a:off x="1979" y="1954"/>
              <a:ext cx="213" cy="248"/>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r>
                <a:rPr lang="en-US" sz="2400" dirty="0">
                  <a:solidFill>
                    <a:srgbClr val="990033"/>
                  </a:solidFill>
                </a:rPr>
                <a:t>2</a:t>
              </a:r>
            </a:p>
          </p:txBody>
        </p:sp>
      </p:grpSp>
      <p:grpSp>
        <p:nvGrpSpPr>
          <p:cNvPr id="9" name="Group 360"/>
          <p:cNvGrpSpPr>
            <a:grpSpLocks/>
          </p:cNvGrpSpPr>
          <p:nvPr/>
        </p:nvGrpSpPr>
        <p:grpSpPr bwMode="auto">
          <a:xfrm>
            <a:off x="1289050" y="1005120"/>
            <a:ext cx="6434138" cy="1352550"/>
            <a:chOff x="812" y="816"/>
            <a:chExt cx="4053" cy="852"/>
          </a:xfrm>
        </p:grpSpPr>
        <p:grpSp>
          <p:nvGrpSpPr>
            <p:cNvPr id="10" name="Group 359"/>
            <p:cNvGrpSpPr>
              <a:grpSpLocks/>
            </p:cNvGrpSpPr>
            <p:nvPr/>
          </p:nvGrpSpPr>
          <p:grpSpPr bwMode="auto">
            <a:xfrm>
              <a:off x="812" y="1056"/>
              <a:ext cx="4053" cy="612"/>
              <a:chOff x="812" y="1056"/>
              <a:chExt cx="4053" cy="612"/>
            </a:xfrm>
          </p:grpSpPr>
          <p:pic>
            <p:nvPicPr>
              <p:cNvPr id="266576" name="Picture 336" descr="Policy_Writing01"/>
              <p:cNvPicPr>
                <a:picLocks noChangeAspect="1" noChangeArrowheads="1"/>
              </p:cNvPicPr>
              <p:nvPr/>
            </p:nvPicPr>
            <p:blipFill>
              <a:blip r:embed="rId12" cstate="print"/>
              <a:srcRect/>
              <a:stretch>
                <a:fillRect/>
              </a:stretch>
            </p:blipFill>
            <p:spPr bwMode="auto">
              <a:xfrm>
                <a:off x="1710" y="1056"/>
                <a:ext cx="444" cy="595"/>
              </a:xfrm>
              <a:prstGeom prst="rect">
                <a:avLst/>
              </a:prstGeom>
              <a:noFill/>
              <a:ln w="9525">
                <a:noFill/>
                <a:miter lim="800000"/>
                <a:headEnd/>
                <a:tailEnd/>
              </a:ln>
              <a:effectLst/>
            </p:spPr>
          </p:pic>
          <p:pic>
            <p:nvPicPr>
              <p:cNvPr id="266577" name="Picture 337" descr="Policy_Writing01"/>
              <p:cNvPicPr>
                <a:picLocks noChangeAspect="1" noChangeArrowheads="1"/>
              </p:cNvPicPr>
              <p:nvPr/>
            </p:nvPicPr>
            <p:blipFill>
              <a:blip r:embed="rId12" cstate="print"/>
              <a:srcRect/>
              <a:stretch>
                <a:fillRect/>
              </a:stretch>
            </p:blipFill>
            <p:spPr bwMode="auto">
              <a:xfrm>
                <a:off x="3551" y="1073"/>
                <a:ext cx="444" cy="595"/>
              </a:xfrm>
              <a:prstGeom prst="rect">
                <a:avLst/>
              </a:prstGeom>
              <a:noFill/>
              <a:ln w="9525">
                <a:noFill/>
                <a:miter lim="800000"/>
                <a:headEnd/>
                <a:tailEnd/>
              </a:ln>
            </p:spPr>
          </p:pic>
          <p:sp>
            <p:nvSpPr>
              <p:cNvPr id="266578" name="AutoShape 338"/>
              <p:cNvSpPr>
                <a:spLocks noChangeArrowheads="1"/>
              </p:cNvSpPr>
              <p:nvPr/>
            </p:nvSpPr>
            <p:spPr bwMode="auto">
              <a:xfrm>
                <a:off x="3856" y="1271"/>
                <a:ext cx="1009" cy="240"/>
              </a:xfrm>
              <a:prstGeom prst="roundRect">
                <a:avLst>
                  <a:gd name="adj" fmla="val 4167"/>
                </a:avLst>
              </a:prstGeom>
              <a:solidFill>
                <a:srgbClr val="FFFFFF"/>
              </a:solidFill>
              <a:ln w="9525">
                <a:solidFill>
                  <a:srgbClr val="4D4D4D"/>
                </a:solidFill>
                <a:round/>
                <a:headEnd/>
                <a:tailEnd/>
              </a:ln>
              <a:effectLst>
                <a:outerShdw dist="35921" dir="2700000" algn="ctr" rotWithShape="0">
                  <a:srgbClr val="AFAFAF"/>
                </a:outerShdw>
              </a:effectLst>
            </p:spPr>
            <p:txBody>
              <a:bodyPr anchor="ctr"/>
              <a:lstStyle/>
              <a:p>
                <a:r>
                  <a:rPr lang="en-GB">
                    <a:solidFill>
                      <a:srgbClr val="000000"/>
                    </a:solidFill>
                  </a:rPr>
                  <a:t>Stratégie IPSec</a:t>
                </a:r>
                <a:endParaRPr lang="en-US">
                  <a:solidFill>
                    <a:srgbClr val="000000"/>
                  </a:solidFill>
                </a:endParaRPr>
              </a:p>
            </p:txBody>
          </p:sp>
          <p:sp>
            <p:nvSpPr>
              <p:cNvPr id="266579" name="AutoShape 339"/>
              <p:cNvSpPr>
                <a:spLocks noChangeArrowheads="1"/>
              </p:cNvSpPr>
              <p:nvPr/>
            </p:nvSpPr>
            <p:spPr bwMode="auto">
              <a:xfrm>
                <a:off x="812" y="1271"/>
                <a:ext cx="991" cy="240"/>
              </a:xfrm>
              <a:prstGeom prst="roundRect">
                <a:avLst>
                  <a:gd name="adj" fmla="val 4167"/>
                </a:avLst>
              </a:prstGeom>
              <a:solidFill>
                <a:srgbClr val="FFFFFF"/>
              </a:solidFill>
              <a:ln w="9525">
                <a:solidFill>
                  <a:srgbClr val="4D4D4D"/>
                </a:solidFill>
                <a:round/>
                <a:headEnd/>
                <a:tailEnd/>
              </a:ln>
              <a:effectLst>
                <a:outerShdw dist="35921" dir="2700000" algn="ctr" rotWithShape="0">
                  <a:srgbClr val="AFAFAF"/>
                </a:outerShdw>
              </a:effectLst>
            </p:spPr>
            <p:txBody>
              <a:bodyPr anchor="ctr"/>
              <a:lstStyle/>
              <a:p>
                <a:r>
                  <a:rPr lang="en-GB" dirty="0" err="1">
                    <a:solidFill>
                      <a:srgbClr val="000000"/>
                    </a:solidFill>
                  </a:rPr>
                  <a:t>Stratégie</a:t>
                </a:r>
                <a:r>
                  <a:rPr lang="en-GB" dirty="0">
                    <a:solidFill>
                      <a:srgbClr val="000000"/>
                    </a:solidFill>
                  </a:rPr>
                  <a:t> IPSec</a:t>
                </a:r>
                <a:endParaRPr lang="en-US" dirty="0">
                  <a:solidFill>
                    <a:srgbClr val="000000"/>
                  </a:solidFill>
                </a:endParaRPr>
              </a:p>
            </p:txBody>
          </p:sp>
        </p:grpSp>
        <p:grpSp>
          <p:nvGrpSpPr>
            <p:cNvPr id="11" name="Group 340"/>
            <p:cNvGrpSpPr>
              <a:grpSpLocks/>
            </p:cNvGrpSpPr>
            <p:nvPr/>
          </p:nvGrpSpPr>
          <p:grpSpPr bwMode="auto">
            <a:xfrm>
              <a:off x="1109" y="816"/>
              <a:ext cx="3163" cy="647"/>
              <a:chOff x="1109" y="816"/>
              <a:chExt cx="3163" cy="647"/>
            </a:xfrm>
          </p:grpSpPr>
          <p:sp>
            <p:nvSpPr>
              <p:cNvPr id="266581" name="AutoShape 341"/>
              <p:cNvSpPr>
                <a:spLocks noChangeArrowheads="1"/>
              </p:cNvSpPr>
              <p:nvPr/>
            </p:nvSpPr>
            <p:spPr bwMode="auto">
              <a:xfrm>
                <a:off x="1109" y="893"/>
                <a:ext cx="213" cy="248"/>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r>
                  <a:rPr lang="en-US" sz="2400">
                    <a:solidFill>
                      <a:srgbClr val="990033"/>
                    </a:solidFill>
                  </a:rPr>
                  <a:t>1</a:t>
                </a:r>
              </a:p>
            </p:txBody>
          </p:sp>
          <p:grpSp>
            <p:nvGrpSpPr>
              <p:cNvPr id="12" name="Group 342"/>
              <p:cNvGrpSpPr>
                <a:grpSpLocks/>
              </p:cNvGrpSpPr>
              <p:nvPr/>
            </p:nvGrpSpPr>
            <p:grpSpPr bwMode="auto">
              <a:xfrm>
                <a:off x="1440" y="816"/>
                <a:ext cx="2832" cy="647"/>
                <a:chOff x="1440" y="816"/>
                <a:chExt cx="2832" cy="647"/>
              </a:xfrm>
            </p:grpSpPr>
            <p:sp>
              <p:nvSpPr>
                <p:cNvPr id="266583" name="Freeform 343"/>
                <p:cNvSpPr>
                  <a:spLocks/>
                </p:cNvSpPr>
                <p:nvPr/>
              </p:nvSpPr>
              <p:spPr bwMode="auto">
                <a:xfrm>
                  <a:off x="1440" y="913"/>
                  <a:ext cx="2832" cy="334"/>
                </a:xfrm>
                <a:custGeom>
                  <a:avLst/>
                  <a:gdLst/>
                  <a:ahLst/>
                  <a:cxnLst>
                    <a:cxn ang="0">
                      <a:pos x="0" y="432"/>
                    </a:cxn>
                    <a:cxn ang="0">
                      <a:pos x="0" y="0"/>
                    </a:cxn>
                    <a:cxn ang="0">
                      <a:pos x="2832" y="0"/>
                    </a:cxn>
                    <a:cxn ang="0">
                      <a:pos x="2832" y="432"/>
                    </a:cxn>
                  </a:cxnLst>
                  <a:rect l="0" t="0" r="r" b="b"/>
                  <a:pathLst>
                    <a:path w="2832" h="432">
                      <a:moveTo>
                        <a:pt x="0" y="432"/>
                      </a:moveTo>
                      <a:lnTo>
                        <a:pt x="0" y="0"/>
                      </a:lnTo>
                      <a:lnTo>
                        <a:pt x="2832" y="0"/>
                      </a:lnTo>
                      <a:lnTo>
                        <a:pt x="2832" y="432"/>
                      </a:lnTo>
                    </a:path>
                  </a:pathLst>
                </a:custGeom>
                <a:noFill/>
                <a:ln w="57150" cap="flat" cmpd="sng">
                  <a:solidFill>
                    <a:srgbClr val="CC0000"/>
                  </a:solidFill>
                  <a:prstDash val="solid"/>
                  <a:round/>
                  <a:headEnd type="triangle" w="med" len="med"/>
                  <a:tailEnd type="triangle" w="med" len="med"/>
                </a:ln>
                <a:effectLst/>
              </p:spPr>
              <p:txBody>
                <a:bodyPr wrap="none" anchor="ctr"/>
                <a:lstStyle/>
                <a:p>
                  <a:endParaRPr lang="fr-FR"/>
                </a:p>
              </p:txBody>
            </p:sp>
            <p:sp>
              <p:nvSpPr>
                <p:cNvPr id="266584" name="AutoShape 344"/>
                <p:cNvSpPr>
                  <a:spLocks noChangeArrowheads="1"/>
                </p:cNvSpPr>
                <p:nvPr/>
              </p:nvSpPr>
              <p:spPr bwMode="auto">
                <a:xfrm>
                  <a:off x="2330" y="816"/>
                  <a:ext cx="1078" cy="240"/>
                </a:xfrm>
                <a:prstGeom prst="roundRect">
                  <a:avLst>
                    <a:gd name="adj" fmla="val 4167"/>
                  </a:avLst>
                </a:prstGeom>
                <a:solidFill>
                  <a:srgbClr val="FFFFFF"/>
                </a:solidFill>
                <a:ln w="9525">
                  <a:solidFill>
                    <a:srgbClr val="4D4D4D"/>
                  </a:solidFill>
                  <a:round/>
                  <a:headEnd/>
                  <a:tailEnd/>
                </a:ln>
                <a:effectLst>
                  <a:outerShdw dist="35921" dir="2700000" algn="ctr" rotWithShape="0">
                    <a:srgbClr val="AFAFAF"/>
                  </a:outerShdw>
                </a:effectLst>
              </p:spPr>
              <p:txBody>
                <a:bodyPr anchor="ctr"/>
                <a:lstStyle/>
                <a:p>
                  <a:r>
                    <a:rPr lang="en-GB">
                      <a:solidFill>
                        <a:srgbClr val="000000"/>
                      </a:solidFill>
                    </a:rPr>
                    <a:t>Active Directory</a:t>
                  </a:r>
                  <a:endParaRPr lang="en-US">
                    <a:solidFill>
                      <a:srgbClr val="000000"/>
                    </a:solidFill>
                  </a:endParaRPr>
                </a:p>
              </p:txBody>
            </p:sp>
            <p:pic>
              <p:nvPicPr>
                <p:cNvPr id="266585" name="Picture 345" descr="ActiveDirectory01"/>
                <p:cNvPicPr>
                  <a:picLocks noChangeAspect="1" noChangeArrowheads="1"/>
                </p:cNvPicPr>
                <p:nvPr/>
              </p:nvPicPr>
              <p:blipFill>
                <a:blip r:embed="rId13" cstate="print"/>
                <a:srcRect/>
                <a:stretch>
                  <a:fillRect/>
                </a:stretch>
              </p:blipFill>
              <p:spPr bwMode="auto">
                <a:xfrm>
                  <a:off x="2515" y="1035"/>
                  <a:ext cx="653" cy="428"/>
                </a:xfrm>
                <a:prstGeom prst="rect">
                  <a:avLst/>
                </a:prstGeom>
                <a:noFill/>
                <a:ln w="9525">
                  <a:noFill/>
                  <a:miter lim="800000"/>
                  <a:headEnd/>
                  <a:tailEnd/>
                </a:ln>
              </p:spPr>
            </p:pic>
          </p:grpSp>
        </p:grpSp>
      </p:grpSp>
      <p:sp>
        <p:nvSpPr>
          <p:cNvPr id="51" name="AutoShape 5"/>
          <p:cNvSpPr>
            <a:spLocks noChangeArrowheads="1"/>
          </p:cNvSpPr>
          <p:nvPr>
            <p:custDataLst>
              <p:tags r:id="rId2"/>
            </p:custDataLst>
          </p:nvPr>
        </p:nvSpPr>
        <p:spPr bwMode="auto">
          <a:xfrm>
            <a:off x="174171" y="5631542"/>
            <a:ext cx="8795661" cy="1030509"/>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tIns="91440"/>
          <a:lstStyle/>
          <a:p>
            <a:pPr algn="l"/>
            <a:r>
              <a:rPr lang="fr-FR" sz="2400" dirty="0" smtClean="0"/>
              <a:t>La configuration </a:t>
            </a:r>
            <a:r>
              <a:rPr lang="fr-FR" sz="2400" dirty="0" err="1" smtClean="0"/>
              <a:t>IPSec</a:t>
            </a:r>
            <a:r>
              <a:rPr lang="fr-FR" sz="2400" dirty="0" smtClean="0"/>
              <a:t> est définie via une stratégie locale ou une stratégie </a:t>
            </a:r>
            <a:r>
              <a:rPr lang="fr-FR" sz="2400" dirty="0" smtClean="0"/>
              <a:t>de groupe </a:t>
            </a:r>
            <a:r>
              <a:rPr lang="fr-FR" sz="2400" dirty="0" smtClean="0"/>
              <a:t>dans le service d’annuaire Active </a:t>
            </a:r>
            <a:r>
              <a:rPr lang="fr-FR" sz="2400" dirty="0" smtClean="0"/>
              <a:t>Directory</a:t>
            </a:r>
            <a:endParaRPr lang="en-US" sz="2400" dirty="0">
              <a:solidFill>
                <a:srgbClr val="000000"/>
              </a:solidFill>
            </a:endParaRPr>
          </a:p>
        </p:txBody>
      </p:sp>
      <p:sp>
        <p:nvSpPr>
          <p:cNvPr id="56" name="AutoShape 5"/>
          <p:cNvSpPr>
            <a:spLocks noChangeArrowheads="1"/>
          </p:cNvSpPr>
          <p:nvPr>
            <p:custDataLst>
              <p:tags r:id="rId3"/>
            </p:custDataLst>
          </p:nvPr>
        </p:nvSpPr>
        <p:spPr bwMode="auto">
          <a:xfrm>
            <a:off x="188685" y="5304978"/>
            <a:ext cx="8795661" cy="1306284"/>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tIns="91440"/>
          <a:lstStyle/>
          <a:p>
            <a:pPr marL="225425" indent="-225425" algn="l">
              <a:lnSpc>
                <a:spcPct val="90000"/>
              </a:lnSpc>
              <a:spcBef>
                <a:spcPts val="0"/>
              </a:spcBef>
              <a:buSzPct val="80000"/>
              <a:buFontTx/>
              <a:buBlip>
                <a:blip r:embed="rId14"/>
              </a:buBlip>
            </a:pPr>
            <a:r>
              <a:rPr lang="en-US" sz="2000" dirty="0" smtClean="0">
                <a:solidFill>
                  <a:srgbClr val="000000"/>
                </a:solidFill>
              </a:rPr>
              <a:t>Les </a:t>
            </a:r>
            <a:r>
              <a:rPr lang="en-US" sz="2000" dirty="0" err="1" smtClean="0">
                <a:solidFill>
                  <a:srgbClr val="000000"/>
                </a:solidFill>
              </a:rPr>
              <a:t>stratégies</a:t>
            </a:r>
            <a:r>
              <a:rPr lang="en-US" sz="2000" dirty="0" smtClean="0">
                <a:solidFill>
                  <a:srgbClr val="000000"/>
                </a:solidFill>
              </a:rPr>
              <a:t> IPSec </a:t>
            </a:r>
            <a:r>
              <a:rPr lang="en-US" sz="2000" dirty="0" err="1" smtClean="0">
                <a:solidFill>
                  <a:srgbClr val="000000"/>
                </a:solidFill>
              </a:rPr>
              <a:t>sont</a:t>
            </a:r>
            <a:r>
              <a:rPr lang="en-US" sz="2000" dirty="0" smtClean="0">
                <a:solidFill>
                  <a:srgbClr val="000000"/>
                </a:solidFill>
              </a:rPr>
              <a:t> remises à </a:t>
            </a:r>
            <a:r>
              <a:rPr lang="en-US" sz="2000" dirty="0" err="1" smtClean="0">
                <a:solidFill>
                  <a:srgbClr val="000000"/>
                </a:solidFill>
              </a:rPr>
              <a:t>tous</a:t>
            </a:r>
            <a:r>
              <a:rPr lang="en-US" sz="2000" dirty="0" smtClean="0">
                <a:solidFill>
                  <a:srgbClr val="000000"/>
                </a:solidFill>
              </a:rPr>
              <a:t> les </a:t>
            </a:r>
            <a:r>
              <a:rPr lang="en-US" sz="2000" dirty="0" err="1" smtClean="0">
                <a:solidFill>
                  <a:srgbClr val="000000"/>
                </a:solidFill>
              </a:rPr>
              <a:t>ordinateurs</a:t>
            </a:r>
            <a:r>
              <a:rPr lang="en-US" sz="2000" dirty="0" smtClean="0">
                <a:solidFill>
                  <a:srgbClr val="000000"/>
                </a:solidFill>
              </a:rPr>
              <a:t> </a:t>
            </a:r>
            <a:r>
              <a:rPr lang="en-US" sz="2000" dirty="0" err="1" smtClean="0">
                <a:solidFill>
                  <a:srgbClr val="000000"/>
                </a:solidFill>
              </a:rPr>
              <a:t>ciblés</a:t>
            </a:r>
            <a:endParaRPr lang="en-US" sz="2000" dirty="0" smtClean="0">
              <a:solidFill>
                <a:srgbClr val="000000"/>
              </a:solidFill>
            </a:endParaRPr>
          </a:p>
          <a:p>
            <a:pPr marL="225425" indent="-225425" algn="l">
              <a:lnSpc>
                <a:spcPct val="90000"/>
              </a:lnSpc>
              <a:spcBef>
                <a:spcPts val="0"/>
              </a:spcBef>
              <a:buSzPct val="80000"/>
              <a:buFontTx/>
              <a:buBlip>
                <a:blip r:embed="rId14"/>
              </a:buBlip>
            </a:pPr>
            <a:r>
              <a:rPr lang="en-US" sz="2000" dirty="0" smtClean="0">
                <a:solidFill>
                  <a:srgbClr val="000000"/>
                </a:solidFill>
              </a:rPr>
              <a:t>Les </a:t>
            </a:r>
            <a:r>
              <a:rPr lang="en-US" sz="2000" dirty="0" err="1" smtClean="0">
                <a:solidFill>
                  <a:srgbClr val="000000"/>
                </a:solidFill>
              </a:rPr>
              <a:t>stratégies</a:t>
            </a:r>
            <a:r>
              <a:rPr lang="en-US" sz="2000" dirty="0" smtClean="0">
                <a:solidFill>
                  <a:srgbClr val="000000"/>
                </a:solidFill>
              </a:rPr>
              <a:t> IPSec </a:t>
            </a:r>
            <a:r>
              <a:rPr lang="en-US" sz="2000" dirty="0" err="1" smtClean="0">
                <a:solidFill>
                  <a:srgbClr val="000000"/>
                </a:solidFill>
              </a:rPr>
              <a:t>indique</a:t>
            </a:r>
            <a:r>
              <a:rPr lang="en-US" sz="2000" dirty="0" smtClean="0">
                <a:solidFill>
                  <a:srgbClr val="000000"/>
                </a:solidFill>
              </a:rPr>
              <a:t> au </a:t>
            </a:r>
            <a:r>
              <a:rPr lang="en-US" sz="2000" dirty="0" err="1" smtClean="0">
                <a:solidFill>
                  <a:srgbClr val="000000"/>
                </a:solidFill>
              </a:rPr>
              <a:t>pilote</a:t>
            </a:r>
            <a:r>
              <a:rPr lang="en-US" sz="2000" dirty="0" smtClean="0">
                <a:solidFill>
                  <a:srgbClr val="000000"/>
                </a:solidFill>
              </a:rPr>
              <a:t> IPSec comment se </a:t>
            </a:r>
            <a:r>
              <a:rPr lang="en-US" sz="2000" dirty="0" err="1" smtClean="0">
                <a:solidFill>
                  <a:srgbClr val="000000"/>
                </a:solidFill>
              </a:rPr>
              <a:t>comporter</a:t>
            </a:r>
            <a:endParaRPr lang="en-US" sz="2000" dirty="0" smtClean="0">
              <a:solidFill>
                <a:srgbClr val="000000"/>
              </a:solidFill>
            </a:endParaRPr>
          </a:p>
          <a:p>
            <a:pPr marL="225425" indent="-225425" algn="l">
              <a:lnSpc>
                <a:spcPct val="90000"/>
              </a:lnSpc>
              <a:spcBef>
                <a:spcPts val="0"/>
              </a:spcBef>
              <a:buSzPct val="80000"/>
              <a:buFontTx/>
              <a:buBlip>
                <a:blip r:embed="rId14"/>
              </a:buBlip>
            </a:pPr>
            <a:r>
              <a:rPr lang="en-US" sz="2000" dirty="0" smtClean="0">
                <a:solidFill>
                  <a:srgbClr val="000000"/>
                </a:solidFill>
              </a:rPr>
              <a:t>Les </a:t>
            </a:r>
            <a:r>
              <a:rPr lang="en-US" sz="2000" dirty="0" err="1" smtClean="0">
                <a:solidFill>
                  <a:srgbClr val="000000"/>
                </a:solidFill>
              </a:rPr>
              <a:t>stratégies</a:t>
            </a:r>
            <a:r>
              <a:rPr lang="en-US" sz="2000" dirty="0" smtClean="0">
                <a:solidFill>
                  <a:srgbClr val="000000"/>
                </a:solidFill>
              </a:rPr>
              <a:t> IPSec </a:t>
            </a:r>
            <a:r>
              <a:rPr lang="en-US" sz="2000" dirty="0" err="1" smtClean="0">
                <a:solidFill>
                  <a:srgbClr val="000000"/>
                </a:solidFill>
              </a:rPr>
              <a:t>définit</a:t>
            </a:r>
            <a:r>
              <a:rPr lang="en-US" sz="2000" dirty="0" smtClean="0">
                <a:solidFill>
                  <a:srgbClr val="000000"/>
                </a:solidFill>
              </a:rPr>
              <a:t> les associations de </a:t>
            </a:r>
            <a:r>
              <a:rPr lang="en-US" sz="2000" dirty="0" err="1" smtClean="0">
                <a:solidFill>
                  <a:srgbClr val="000000"/>
                </a:solidFill>
              </a:rPr>
              <a:t>sécurité</a:t>
            </a:r>
            <a:r>
              <a:rPr lang="en-US" sz="2000" dirty="0" smtClean="0">
                <a:solidFill>
                  <a:srgbClr val="000000"/>
                </a:solidFill>
              </a:rPr>
              <a:t> qui </a:t>
            </a:r>
            <a:r>
              <a:rPr lang="en-US" sz="2000" dirty="0" err="1" smtClean="0">
                <a:solidFill>
                  <a:srgbClr val="000000"/>
                </a:solidFill>
              </a:rPr>
              <a:t>peuvent</a:t>
            </a:r>
            <a:r>
              <a:rPr lang="en-US" sz="2000" dirty="0" smtClean="0">
                <a:solidFill>
                  <a:srgbClr val="000000"/>
                </a:solidFill>
              </a:rPr>
              <a:t> </a:t>
            </a:r>
            <a:r>
              <a:rPr lang="en-US" sz="2000" dirty="0" err="1" smtClean="0">
                <a:solidFill>
                  <a:srgbClr val="000000"/>
                </a:solidFill>
              </a:rPr>
              <a:t>être</a:t>
            </a:r>
            <a:r>
              <a:rPr lang="en-US" sz="2000" dirty="0" smtClean="0">
                <a:solidFill>
                  <a:srgbClr val="000000"/>
                </a:solidFill>
              </a:rPr>
              <a:t> </a:t>
            </a:r>
            <a:r>
              <a:rPr lang="en-US" sz="2000" dirty="0" err="1" smtClean="0">
                <a:solidFill>
                  <a:srgbClr val="000000"/>
                </a:solidFill>
              </a:rPr>
              <a:t>établies</a:t>
            </a:r>
            <a:r>
              <a:rPr lang="en-US" sz="2000" dirty="0" smtClean="0">
                <a:solidFill>
                  <a:srgbClr val="000000"/>
                </a:solidFill>
              </a:rPr>
              <a:t> (</a:t>
            </a:r>
            <a:r>
              <a:rPr lang="fr-FR" sz="2000" dirty="0" smtClean="0"/>
              <a:t>les protocoles de </a:t>
            </a:r>
            <a:r>
              <a:rPr lang="fr-FR" sz="2000" dirty="0" smtClean="0"/>
              <a:t>cryptage et </a:t>
            </a:r>
            <a:r>
              <a:rPr lang="fr-FR" sz="2000" dirty="0" smtClean="0"/>
              <a:t>les méthodes </a:t>
            </a:r>
            <a:r>
              <a:rPr lang="fr-FR" sz="2000" dirty="0" smtClean="0"/>
              <a:t>d’authentification)</a:t>
            </a:r>
            <a:endParaRPr lang="en-US" sz="2000" dirty="0" smtClean="0">
              <a:solidFill>
                <a:srgbClr val="000000"/>
              </a:solidFill>
            </a:endParaRPr>
          </a:p>
          <a:p>
            <a:pPr marL="225425" indent="-225425" algn="l">
              <a:lnSpc>
                <a:spcPct val="90000"/>
              </a:lnSpc>
              <a:spcBef>
                <a:spcPct val="55000"/>
              </a:spcBef>
              <a:buSzPct val="80000"/>
              <a:buFontTx/>
              <a:buBlip>
                <a:blip r:embed="rId14"/>
              </a:buBlip>
            </a:pPr>
            <a:endParaRPr lang="en-US" sz="2400" dirty="0">
              <a:solidFill>
                <a:srgbClr val="000000"/>
              </a:solidFill>
            </a:endParaRPr>
          </a:p>
        </p:txBody>
      </p:sp>
      <p:sp>
        <p:nvSpPr>
          <p:cNvPr id="58" name="AutoShape 5"/>
          <p:cNvSpPr>
            <a:spLocks noChangeArrowheads="1"/>
          </p:cNvSpPr>
          <p:nvPr>
            <p:custDataLst>
              <p:tags r:id="rId4"/>
            </p:custDataLst>
          </p:nvPr>
        </p:nvSpPr>
        <p:spPr bwMode="auto">
          <a:xfrm>
            <a:off x="116112" y="5334006"/>
            <a:ext cx="8962573" cy="1306284"/>
          </a:xfrm>
          <a:prstGeom prst="roundRect">
            <a:avLst>
              <a:gd name="adj" fmla="val 4167"/>
            </a:avLst>
          </a:prstGeom>
          <a:solidFill>
            <a:schemeClr val="bg1">
              <a:lumMod val="85000"/>
            </a:schemeClr>
          </a:solidFill>
          <a:ln w="9525" algn="ctr">
            <a:solidFill>
              <a:srgbClr val="4D4D4D"/>
            </a:solidFill>
            <a:round/>
            <a:headEnd/>
            <a:tailEnd/>
          </a:ln>
          <a:effectLst>
            <a:outerShdw dist="35921" dir="2700000" algn="ctr" rotWithShape="0">
              <a:srgbClr val="AFAFAF"/>
            </a:outerShdw>
          </a:effectLst>
        </p:spPr>
        <p:txBody>
          <a:bodyPr tIns="91440"/>
          <a:lstStyle/>
          <a:p>
            <a:pPr marL="225425" indent="-225425" algn="l">
              <a:spcBef>
                <a:spcPts val="0"/>
              </a:spcBef>
              <a:buSzPct val="80000"/>
              <a:buFontTx/>
              <a:buBlip>
                <a:blip r:embed="rId14"/>
              </a:buBlip>
            </a:pPr>
            <a:r>
              <a:rPr lang="en-US" sz="2000" dirty="0" smtClean="0">
                <a:solidFill>
                  <a:srgbClr val="000000"/>
                </a:solidFill>
              </a:rPr>
              <a:t>Le module IKE </a:t>
            </a:r>
            <a:r>
              <a:rPr lang="en-US" sz="2000" dirty="0" err="1" smtClean="0">
                <a:solidFill>
                  <a:srgbClr val="000000"/>
                </a:solidFill>
              </a:rPr>
              <a:t>négocie</a:t>
            </a:r>
            <a:r>
              <a:rPr lang="en-US" sz="2000" dirty="0" smtClean="0">
                <a:solidFill>
                  <a:srgbClr val="000000"/>
                </a:solidFill>
              </a:rPr>
              <a:t> </a:t>
            </a:r>
            <a:r>
              <a:rPr lang="en-US" sz="2000" dirty="0" err="1" smtClean="0">
                <a:solidFill>
                  <a:srgbClr val="000000"/>
                </a:solidFill>
              </a:rPr>
              <a:t>l’association</a:t>
            </a:r>
            <a:r>
              <a:rPr lang="en-US" sz="2000" dirty="0" smtClean="0">
                <a:solidFill>
                  <a:srgbClr val="000000"/>
                </a:solidFill>
              </a:rPr>
              <a:t> de </a:t>
            </a:r>
            <a:r>
              <a:rPr lang="en-US" sz="2000" dirty="0" err="1" smtClean="0">
                <a:solidFill>
                  <a:srgbClr val="000000"/>
                </a:solidFill>
              </a:rPr>
              <a:t>sécurité</a:t>
            </a:r>
            <a:r>
              <a:rPr lang="en-US" sz="2000" dirty="0" smtClean="0">
                <a:solidFill>
                  <a:srgbClr val="000000"/>
                </a:solidFill>
              </a:rPr>
              <a:t>. </a:t>
            </a:r>
          </a:p>
          <a:p>
            <a:pPr marL="225425" indent="-225425" algn="l">
              <a:spcBef>
                <a:spcPts val="0"/>
              </a:spcBef>
              <a:buSzPct val="80000"/>
              <a:buFontTx/>
              <a:buBlip>
                <a:blip r:embed="rId14"/>
              </a:buBlip>
            </a:pPr>
            <a:r>
              <a:rPr lang="en-US" sz="2000" dirty="0" smtClean="0">
                <a:solidFill>
                  <a:srgbClr val="000000"/>
                </a:solidFill>
              </a:rPr>
              <a:t>IKE </a:t>
            </a:r>
            <a:r>
              <a:rPr lang="en-US" sz="2000" dirty="0" smtClean="0">
                <a:solidFill>
                  <a:srgbClr val="000000"/>
                </a:solidFill>
              </a:rPr>
              <a:t>combine 2 </a:t>
            </a:r>
            <a:r>
              <a:rPr lang="en-US" sz="2000" dirty="0" err="1" smtClean="0">
                <a:solidFill>
                  <a:srgbClr val="000000"/>
                </a:solidFill>
              </a:rPr>
              <a:t>protocles</a:t>
            </a:r>
            <a:r>
              <a:rPr lang="en-US" sz="2000" dirty="0" smtClean="0">
                <a:solidFill>
                  <a:srgbClr val="000000"/>
                </a:solidFill>
              </a:rPr>
              <a:t>: ISAKMP    OAKLEY Key Determination </a:t>
            </a:r>
            <a:r>
              <a:rPr lang="en-US" sz="2000" dirty="0" err="1" smtClean="0">
                <a:solidFill>
                  <a:srgbClr val="000000"/>
                </a:solidFill>
              </a:rPr>
              <a:t>Protocole</a:t>
            </a:r>
            <a:endParaRPr lang="en-US" sz="2000" dirty="0" smtClean="0">
              <a:solidFill>
                <a:srgbClr val="000000"/>
              </a:solidFill>
            </a:endParaRPr>
          </a:p>
          <a:p>
            <a:pPr marL="225425" indent="-225425" algn="l">
              <a:spcBef>
                <a:spcPts val="0"/>
              </a:spcBef>
              <a:buSzPct val="80000"/>
              <a:buFontTx/>
              <a:buBlip>
                <a:blip r:embed="rId14"/>
              </a:buBlip>
            </a:pPr>
            <a:r>
              <a:rPr lang="en-US" sz="2000" dirty="0" smtClean="0">
                <a:solidFill>
                  <a:srgbClr val="000000"/>
                </a:solidFill>
              </a:rPr>
              <a:t>Les associations de </a:t>
            </a:r>
            <a:r>
              <a:rPr lang="en-US" sz="2000" dirty="0" err="1" smtClean="0">
                <a:solidFill>
                  <a:srgbClr val="000000"/>
                </a:solidFill>
              </a:rPr>
              <a:t>sécurité</a:t>
            </a:r>
            <a:r>
              <a:rPr lang="en-US" sz="2000" dirty="0" smtClean="0">
                <a:solidFill>
                  <a:srgbClr val="000000"/>
                </a:solidFill>
              </a:rPr>
              <a:t> </a:t>
            </a:r>
            <a:r>
              <a:rPr lang="en-US" sz="2000" dirty="0" err="1" smtClean="0">
                <a:solidFill>
                  <a:srgbClr val="000000"/>
                </a:solidFill>
              </a:rPr>
              <a:t>définissent</a:t>
            </a:r>
            <a:r>
              <a:rPr lang="en-US" sz="2000" dirty="0" smtClean="0">
                <a:solidFill>
                  <a:srgbClr val="000000"/>
                </a:solidFill>
              </a:rPr>
              <a:t>: Les </a:t>
            </a:r>
            <a:r>
              <a:rPr lang="en-US" sz="2000" dirty="0" err="1" smtClean="0">
                <a:solidFill>
                  <a:srgbClr val="000000"/>
                </a:solidFill>
              </a:rPr>
              <a:t>protocoles</a:t>
            </a:r>
            <a:r>
              <a:rPr lang="en-US" sz="2000" dirty="0" smtClean="0">
                <a:solidFill>
                  <a:srgbClr val="000000"/>
                </a:solidFill>
              </a:rPr>
              <a:t> de </a:t>
            </a:r>
            <a:r>
              <a:rPr lang="en-US" sz="2000" dirty="0" err="1" smtClean="0">
                <a:solidFill>
                  <a:srgbClr val="000000"/>
                </a:solidFill>
              </a:rPr>
              <a:t>cryptage</a:t>
            </a:r>
            <a:r>
              <a:rPr lang="en-US" sz="2000" dirty="0" smtClean="0">
                <a:solidFill>
                  <a:srgbClr val="000000"/>
                </a:solidFill>
              </a:rPr>
              <a:t> et les </a:t>
            </a:r>
            <a:r>
              <a:rPr lang="en-US" sz="2000" dirty="0" err="1" smtClean="0">
                <a:solidFill>
                  <a:srgbClr val="000000"/>
                </a:solidFill>
              </a:rPr>
              <a:t>méthodes</a:t>
            </a:r>
            <a:r>
              <a:rPr lang="en-US" sz="2000" dirty="0" smtClean="0">
                <a:solidFill>
                  <a:srgbClr val="000000"/>
                </a:solidFill>
              </a:rPr>
              <a:t> </a:t>
            </a:r>
            <a:r>
              <a:rPr lang="en-US" sz="2000" dirty="0" err="1" smtClean="0">
                <a:solidFill>
                  <a:srgbClr val="000000"/>
                </a:solidFill>
              </a:rPr>
              <a:t>d’authentification</a:t>
            </a:r>
          </a:p>
          <a:p>
            <a:pPr marL="225425" indent="-225425" algn="l">
              <a:lnSpc>
                <a:spcPct val="90000"/>
              </a:lnSpc>
              <a:spcBef>
                <a:spcPct val="55000"/>
              </a:spcBef>
              <a:buSzPct val="80000"/>
              <a:buFontTx/>
              <a:buBlip>
                <a:blip r:embed="rId14"/>
              </a:buBlip>
            </a:pPr>
            <a:endParaRPr lang="en-US" sz="2400" dirty="0">
              <a:solidFill>
                <a:srgbClr val="000000"/>
              </a:solidFill>
            </a:endParaRPr>
          </a:p>
        </p:txBody>
      </p:sp>
      <p:sp>
        <p:nvSpPr>
          <p:cNvPr id="59" name="AutoShape 5"/>
          <p:cNvSpPr>
            <a:spLocks noChangeArrowheads="1"/>
          </p:cNvSpPr>
          <p:nvPr>
            <p:custDataLst>
              <p:tags r:id="rId5"/>
            </p:custDataLst>
          </p:nvPr>
        </p:nvSpPr>
        <p:spPr bwMode="auto">
          <a:xfrm>
            <a:off x="50801" y="5355778"/>
            <a:ext cx="8962573" cy="1306284"/>
          </a:xfrm>
          <a:prstGeom prst="roundRect">
            <a:avLst>
              <a:gd name="adj" fmla="val 4167"/>
            </a:avLst>
          </a:prstGeom>
          <a:solidFill>
            <a:schemeClr val="bg1">
              <a:lumMod val="85000"/>
            </a:schemeClr>
          </a:solidFill>
          <a:ln w="9525" algn="ctr">
            <a:solidFill>
              <a:srgbClr val="4D4D4D"/>
            </a:solidFill>
            <a:round/>
            <a:headEnd/>
            <a:tailEnd/>
          </a:ln>
          <a:effectLst>
            <a:outerShdw dist="35921" dir="2700000" algn="ctr" rotWithShape="0">
              <a:srgbClr val="AFAFAF"/>
            </a:outerShdw>
          </a:effectLst>
        </p:spPr>
        <p:txBody>
          <a:bodyPr tIns="91440"/>
          <a:lstStyle/>
          <a:p>
            <a:pPr marL="225425" indent="-225425" algn="l">
              <a:spcBef>
                <a:spcPts val="0"/>
              </a:spcBef>
              <a:buSzPct val="80000"/>
              <a:buFontTx/>
              <a:buBlip>
                <a:blip r:embed="rId14"/>
              </a:buBlip>
            </a:pPr>
            <a:r>
              <a:rPr lang="en-US" sz="2000" dirty="0" smtClean="0">
                <a:solidFill>
                  <a:srgbClr val="000000"/>
                </a:solidFill>
              </a:rPr>
              <a:t>Le </a:t>
            </a:r>
            <a:r>
              <a:rPr lang="en-US" sz="2000" dirty="0" err="1" smtClean="0">
                <a:solidFill>
                  <a:srgbClr val="000000"/>
                </a:solidFill>
              </a:rPr>
              <a:t>pilote</a:t>
            </a:r>
            <a:r>
              <a:rPr lang="en-US" sz="2000" dirty="0" smtClean="0">
                <a:solidFill>
                  <a:srgbClr val="000000"/>
                </a:solidFill>
              </a:rPr>
              <a:t> IPSec </a:t>
            </a:r>
            <a:r>
              <a:rPr lang="en-US" sz="2000" dirty="0" err="1" smtClean="0">
                <a:solidFill>
                  <a:srgbClr val="000000"/>
                </a:solidFill>
              </a:rPr>
              <a:t>analyse</a:t>
            </a:r>
            <a:r>
              <a:rPr lang="en-US" sz="2000" dirty="0" smtClean="0">
                <a:solidFill>
                  <a:srgbClr val="000000"/>
                </a:solidFill>
              </a:rPr>
              <a:t> tout le </a:t>
            </a:r>
            <a:r>
              <a:rPr lang="en-US" sz="2000" dirty="0" err="1" smtClean="0">
                <a:solidFill>
                  <a:srgbClr val="000000"/>
                </a:solidFill>
              </a:rPr>
              <a:t>trafic</a:t>
            </a:r>
            <a:r>
              <a:rPr lang="en-US" sz="2000" dirty="0" smtClean="0">
                <a:solidFill>
                  <a:srgbClr val="000000"/>
                </a:solidFill>
              </a:rPr>
              <a:t> IP</a:t>
            </a:r>
          </a:p>
          <a:p>
            <a:pPr marL="225425" indent="-225425" algn="l">
              <a:spcBef>
                <a:spcPts val="0"/>
              </a:spcBef>
              <a:buSzPct val="80000"/>
              <a:buFontTx/>
              <a:buBlip>
                <a:blip r:embed="rId14"/>
              </a:buBlip>
            </a:pPr>
            <a:r>
              <a:rPr lang="en-US" sz="2000" dirty="0" smtClean="0">
                <a:solidFill>
                  <a:srgbClr val="000000"/>
                </a:solidFill>
              </a:rPr>
              <a:t>Le </a:t>
            </a:r>
            <a:r>
              <a:rPr lang="en-US" sz="2000" dirty="0" err="1" smtClean="0">
                <a:solidFill>
                  <a:srgbClr val="000000"/>
                </a:solidFill>
              </a:rPr>
              <a:t>pilote</a:t>
            </a:r>
            <a:r>
              <a:rPr lang="en-US" sz="2000" dirty="0" smtClean="0">
                <a:solidFill>
                  <a:srgbClr val="000000"/>
                </a:solidFill>
              </a:rPr>
              <a:t> compare le </a:t>
            </a:r>
            <a:r>
              <a:rPr lang="en-US" sz="2000" dirty="0" err="1" smtClean="0">
                <a:solidFill>
                  <a:srgbClr val="000000"/>
                </a:solidFill>
              </a:rPr>
              <a:t>trafic</a:t>
            </a:r>
            <a:r>
              <a:rPr lang="en-US" sz="2000" dirty="0" smtClean="0">
                <a:solidFill>
                  <a:srgbClr val="000000"/>
                </a:solidFill>
              </a:rPr>
              <a:t> aux </a:t>
            </a:r>
            <a:r>
              <a:rPr lang="en-US" sz="2000" dirty="0" err="1" smtClean="0">
                <a:solidFill>
                  <a:srgbClr val="000000"/>
                </a:solidFill>
              </a:rPr>
              <a:t>filtres</a:t>
            </a:r>
            <a:r>
              <a:rPr lang="en-US" sz="2000" dirty="0" smtClean="0">
                <a:solidFill>
                  <a:srgbClr val="000000"/>
                </a:solidFill>
              </a:rPr>
              <a:t> </a:t>
            </a:r>
            <a:r>
              <a:rPr lang="en-US" sz="2000" dirty="0" err="1" smtClean="0">
                <a:solidFill>
                  <a:srgbClr val="000000"/>
                </a:solidFill>
              </a:rPr>
              <a:t>définis</a:t>
            </a:r>
            <a:endParaRPr lang="en-US" sz="2000" dirty="0" smtClean="0">
              <a:solidFill>
                <a:srgbClr val="000000"/>
              </a:solidFill>
            </a:endParaRPr>
          </a:p>
          <a:p>
            <a:pPr marL="225425" indent="-225425" algn="l">
              <a:spcBef>
                <a:spcPts val="0"/>
              </a:spcBef>
              <a:buSzPct val="80000"/>
              <a:buFontTx/>
              <a:buBlip>
                <a:blip r:embed="rId14"/>
              </a:buBlip>
            </a:pPr>
            <a:r>
              <a:rPr lang="en-US" sz="2000" dirty="0" smtClean="0">
                <a:solidFill>
                  <a:srgbClr val="000000"/>
                </a:solidFill>
              </a:rPr>
              <a:t>Le </a:t>
            </a:r>
            <a:r>
              <a:rPr lang="en-US" sz="2000" dirty="0" err="1" smtClean="0">
                <a:solidFill>
                  <a:srgbClr val="000000"/>
                </a:solidFill>
              </a:rPr>
              <a:t>pilote</a:t>
            </a:r>
            <a:r>
              <a:rPr lang="en-US" sz="2000" dirty="0" smtClean="0">
                <a:solidFill>
                  <a:srgbClr val="000000"/>
                </a:solidFill>
              </a:rPr>
              <a:t> </a:t>
            </a:r>
            <a:r>
              <a:rPr lang="en-US" sz="2000" dirty="0" err="1" smtClean="0">
                <a:solidFill>
                  <a:srgbClr val="000000"/>
                </a:solidFill>
              </a:rPr>
              <a:t>crypte</a:t>
            </a:r>
            <a:r>
              <a:rPr lang="en-US" sz="2000" dirty="0" smtClean="0">
                <a:solidFill>
                  <a:srgbClr val="000000"/>
                </a:solidFill>
              </a:rPr>
              <a:t> </a:t>
            </a:r>
            <a:r>
              <a:rPr lang="en-US" sz="2000" dirty="0" err="1" smtClean="0">
                <a:solidFill>
                  <a:srgbClr val="000000"/>
                </a:solidFill>
              </a:rPr>
              <a:t>ou</a:t>
            </a:r>
            <a:r>
              <a:rPr lang="en-US" sz="2000" dirty="0" smtClean="0">
                <a:solidFill>
                  <a:srgbClr val="000000"/>
                </a:solidFill>
              </a:rPr>
              <a:t>/et  </a:t>
            </a:r>
            <a:r>
              <a:rPr lang="en-US" sz="2000" dirty="0" err="1" smtClean="0">
                <a:solidFill>
                  <a:srgbClr val="000000"/>
                </a:solidFill>
              </a:rPr>
              <a:t>signe</a:t>
            </a:r>
            <a:r>
              <a:rPr lang="en-US" sz="2000" dirty="0" smtClean="0">
                <a:solidFill>
                  <a:srgbClr val="000000"/>
                </a:solidFill>
              </a:rPr>
              <a:t> le </a:t>
            </a:r>
            <a:r>
              <a:rPr lang="en-US" sz="2000" dirty="0" err="1" smtClean="0">
                <a:solidFill>
                  <a:srgbClr val="000000"/>
                </a:solidFill>
              </a:rPr>
              <a:t>trafic</a:t>
            </a:r>
            <a:endParaRPr lang="en-US" sz="2000" dirty="0" smtClean="0">
              <a:solidFill>
                <a:srgbClr val="000000"/>
              </a:solidFill>
            </a:endParaRPr>
          </a:p>
          <a:p>
            <a:pPr marL="225425" indent="-225425" algn="l">
              <a:lnSpc>
                <a:spcPct val="90000"/>
              </a:lnSpc>
              <a:spcBef>
                <a:spcPct val="55000"/>
              </a:spcBef>
              <a:buSzPct val="80000"/>
              <a:buFontTx/>
              <a:buBlip>
                <a:blip r:embed="rId14"/>
              </a:buBlip>
            </a:pPr>
            <a:endParaRPr lang="en-US" sz="2400" dirty="0">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checkerboard(across)">
                                      <p:cBhvr>
                                        <p:cTn id="7" dur="500"/>
                                        <p:tgtEl>
                                          <p:spTgt spid="51"/>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ox(out)">
                                      <p:cBhvr>
                                        <p:cTn id="12" dur="500"/>
                                        <p:tgtEl>
                                          <p:spTgt spid="9"/>
                                        </p:tgtEl>
                                      </p:cBhvr>
                                    </p:animEffect>
                                  </p:childTnLst>
                                </p:cTn>
                              </p:par>
                            </p:childTnLst>
                          </p:cTn>
                        </p:par>
                        <p:par>
                          <p:cTn id="13" fill="hold">
                            <p:stCondLst>
                              <p:cond delay="500"/>
                            </p:stCondLst>
                            <p:childTnLst>
                              <p:par>
                                <p:cTn id="14" presetID="5" presetClass="entr" presetSubtype="10" fill="hold" grpId="0" nodeType="afterEffect">
                                  <p:stCondLst>
                                    <p:cond delay="0"/>
                                  </p:stCondLst>
                                  <p:childTnLst>
                                    <p:set>
                                      <p:cBhvr>
                                        <p:cTn id="15" dur="1" fill="hold">
                                          <p:stCondLst>
                                            <p:cond delay="0"/>
                                          </p:stCondLst>
                                        </p:cTn>
                                        <p:tgtEl>
                                          <p:spTgt spid="56"/>
                                        </p:tgtEl>
                                        <p:attrNameLst>
                                          <p:attrName>style.visibility</p:attrName>
                                        </p:attrNameLst>
                                      </p:cBhvr>
                                      <p:to>
                                        <p:strVal val="visible"/>
                                      </p:to>
                                    </p:set>
                                    <p:animEffect transition="in" filter="checkerboard(across)">
                                      <p:cBhvr>
                                        <p:cTn id="16" dur="500"/>
                                        <p:tgtEl>
                                          <p:spTgt spid="5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up)">
                                      <p:cBhvr>
                                        <p:cTn id="21" dur="500"/>
                                        <p:tgtEl>
                                          <p:spTgt spid="7"/>
                                        </p:tgtEl>
                                      </p:cBhvr>
                                    </p:animEffect>
                                  </p:childTnLst>
                                </p:cTn>
                              </p:par>
                            </p:childTnLst>
                          </p:cTn>
                        </p:par>
                        <p:par>
                          <p:cTn id="22" fill="hold">
                            <p:stCondLst>
                              <p:cond delay="500"/>
                            </p:stCondLst>
                            <p:childTnLst>
                              <p:par>
                                <p:cTn id="23" presetID="5" presetClass="entr" presetSubtype="10" fill="hold" grpId="0" nodeType="afterEffect">
                                  <p:stCondLst>
                                    <p:cond delay="0"/>
                                  </p:stCondLst>
                                  <p:childTnLst>
                                    <p:set>
                                      <p:cBhvr>
                                        <p:cTn id="24" dur="1" fill="hold">
                                          <p:stCondLst>
                                            <p:cond delay="0"/>
                                          </p:stCondLst>
                                        </p:cTn>
                                        <p:tgtEl>
                                          <p:spTgt spid="58"/>
                                        </p:tgtEl>
                                        <p:attrNameLst>
                                          <p:attrName>style.visibility</p:attrName>
                                        </p:attrNameLst>
                                      </p:cBhvr>
                                      <p:to>
                                        <p:strVal val="visible"/>
                                      </p:to>
                                    </p:set>
                                    <p:animEffect transition="in" filter="checkerboard(across)">
                                      <p:cBhvr>
                                        <p:cTn id="25" dur="500"/>
                                        <p:tgtEl>
                                          <p:spTgt spid="58"/>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wipe(up)">
                                      <p:cBhvr>
                                        <p:cTn id="30" dur="500"/>
                                        <p:tgtEl>
                                          <p:spTgt spid="3"/>
                                        </p:tgtEl>
                                      </p:cBhvr>
                                    </p:animEffect>
                                  </p:childTnLst>
                                </p:cTn>
                              </p:par>
                            </p:childTnLst>
                          </p:cTn>
                        </p:par>
                        <p:par>
                          <p:cTn id="31" fill="hold">
                            <p:stCondLst>
                              <p:cond delay="500"/>
                            </p:stCondLst>
                            <p:childTnLst>
                              <p:par>
                                <p:cTn id="32" presetID="5" presetClass="entr" presetSubtype="10" fill="hold" grpId="0" nodeType="afterEffect">
                                  <p:stCondLst>
                                    <p:cond delay="0"/>
                                  </p:stCondLst>
                                  <p:childTnLst>
                                    <p:set>
                                      <p:cBhvr>
                                        <p:cTn id="33" dur="1" fill="hold">
                                          <p:stCondLst>
                                            <p:cond delay="0"/>
                                          </p:stCondLst>
                                        </p:cTn>
                                        <p:tgtEl>
                                          <p:spTgt spid="59"/>
                                        </p:tgtEl>
                                        <p:attrNameLst>
                                          <p:attrName>style.visibility</p:attrName>
                                        </p:attrNameLst>
                                      </p:cBhvr>
                                      <p:to>
                                        <p:strVal val="visible"/>
                                      </p:to>
                                    </p:set>
                                    <p:animEffect transition="in" filter="checkerboard(across)">
                                      <p:cBhvr>
                                        <p:cTn id="34" dur="500"/>
                                        <p:tgtEl>
                                          <p:spTgt spid="59"/>
                                        </p:tgtEl>
                                      </p:cBhvr>
                                    </p:animEffect>
                                  </p:childTnLst>
                                </p:cTn>
                              </p:par>
                              <p:par>
                                <p:cTn id="35" presetID="1" presetClass="entr" presetSubtype="0" fill="hold" grpId="0" nodeType="withEffect">
                                  <p:stCondLst>
                                    <p:cond delay="0"/>
                                  </p:stCondLst>
                                  <p:childTnLst>
                                    <p:set>
                                      <p:cBhvr>
                                        <p:cTn id="36" dur="1" fill="hold">
                                          <p:stCondLst>
                                            <p:cond delay="0"/>
                                          </p:stCondLst>
                                        </p:cTn>
                                        <p:tgtEl>
                                          <p:spTgt spid="266566"/>
                                        </p:tgtEl>
                                        <p:attrNameLst>
                                          <p:attrName>style.visibility</p:attrName>
                                        </p:attrNameLst>
                                      </p:cBhvr>
                                      <p:to>
                                        <p:strVal val="visible"/>
                                      </p:to>
                                    </p:set>
                                  </p:childTnLst>
                                </p:cTn>
                              </p:par>
                            </p:childTnLst>
                          </p:cTn>
                        </p:par>
                        <p:par>
                          <p:cTn id="37" fill="hold">
                            <p:stCondLst>
                              <p:cond delay="1000"/>
                            </p:stCondLst>
                            <p:childTnLst>
                              <p:par>
                                <p:cTn id="38" presetID="4" presetClass="entr" presetSubtype="16" fill="hold" nodeType="afterEffect">
                                  <p:stCondLst>
                                    <p:cond delay="0"/>
                                  </p:stCondLst>
                                  <p:childTnLst>
                                    <p:set>
                                      <p:cBhvr>
                                        <p:cTn id="39" dur="1" fill="hold">
                                          <p:stCondLst>
                                            <p:cond delay="0"/>
                                          </p:stCondLst>
                                        </p:cTn>
                                        <p:tgtEl>
                                          <p:spTgt spid="4"/>
                                        </p:tgtEl>
                                        <p:attrNameLst>
                                          <p:attrName>style.visibility</p:attrName>
                                        </p:attrNameLst>
                                      </p:cBhvr>
                                      <p:to>
                                        <p:strVal val="visible"/>
                                      </p:to>
                                    </p:set>
                                    <p:animEffect transition="in" filter="box(in)">
                                      <p:cBhvr>
                                        <p:cTn id="4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566" grpId="0" animBg="1"/>
      <p:bldP spid="51" grpId="0" animBg="1"/>
      <p:bldP spid="56" grpId="0" animBg="1"/>
      <p:bldP spid="58" grpId="0" animBg="1"/>
      <p:bldP spid="5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p:cNvSpPr>
            <a:spLocks noGrp="1" noChangeArrowheads="1"/>
          </p:cNvSpPr>
          <p:nvPr>
            <p:ph type="title"/>
            <p:custDataLst>
              <p:tags r:id="rId1"/>
            </p:custDataLst>
          </p:nvPr>
        </p:nvSpPr>
        <p:spPr>
          <a:xfrm>
            <a:off x="301752" y="319316"/>
            <a:ext cx="8534400" cy="552123"/>
          </a:xfrm>
        </p:spPr>
        <p:txBody>
          <a:bodyPr>
            <a:normAutofit/>
          </a:bodyPr>
          <a:lstStyle/>
          <a:p>
            <a:r>
              <a:rPr lang="fr-FR" sz="2800" b="1" dirty="0">
                <a:solidFill>
                  <a:srgbClr val="000000"/>
                </a:solidFill>
              </a:rPr>
              <a:t>Qu'est-ce qu'une stratégie de sécurité </a:t>
            </a:r>
            <a:r>
              <a:rPr lang="fr-FR" sz="2800" b="1" dirty="0" err="1">
                <a:solidFill>
                  <a:srgbClr val="000000"/>
                </a:solidFill>
              </a:rPr>
              <a:t>IPSec</a:t>
            </a:r>
            <a:r>
              <a:rPr lang="fr-FR" sz="2800" b="1" dirty="0">
                <a:solidFill>
                  <a:srgbClr val="000000"/>
                </a:solidFill>
              </a:rPr>
              <a:t> ?</a:t>
            </a:r>
            <a:endParaRPr lang="en-US" sz="2800" b="1" dirty="0"/>
          </a:p>
        </p:txBody>
      </p:sp>
      <p:sp>
        <p:nvSpPr>
          <p:cNvPr id="215085" name="AutoShape 45"/>
          <p:cNvSpPr>
            <a:spLocks noChangeArrowheads="1"/>
          </p:cNvSpPr>
          <p:nvPr>
            <p:custDataLst>
              <p:tags r:id="rId2"/>
            </p:custDataLst>
          </p:nvPr>
        </p:nvSpPr>
        <p:spPr bwMode="auto">
          <a:xfrm>
            <a:off x="217035" y="1422400"/>
            <a:ext cx="8651194" cy="4992914"/>
          </a:xfrm>
          <a:prstGeom prst="roundRect">
            <a:avLst>
              <a:gd name="adj" fmla="val 2398"/>
            </a:avLst>
          </a:prstGeom>
          <a:solidFill>
            <a:schemeClr val="bg1"/>
          </a:solidFill>
          <a:ln w="9525" algn="ctr">
            <a:solidFill>
              <a:srgbClr val="808080"/>
            </a:solidFill>
            <a:round/>
            <a:headEnd/>
            <a:tailEnd/>
          </a:ln>
          <a:effectLst>
            <a:outerShdw dist="35921" dir="2700000" algn="ctr" rotWithShape="0">
              <a:srgbClr val="AFAFAF"/>
            </a:outerShdw>
          </a:effectLst>
        </p:spPr>
        <p:txBody>
          <a:bodyPr anchor="ctr"/>
          <a:lstStyle/>
          <a:p>
            <a:pPr marL="236538" indent="-236538" algn="l">
              <a:lnSpc>
                <a:spcPct val="90000"/>
              </a:lnSpc>
              <a:spcBef>
                <a:spcPct val="40000"/>
              </a:spcBef>
              <a:buSzPct val="80000"/>
              <a:buFontTx/>
              <a:buBlip>
                <a:blip r:embed="rId5"/>
              </a:buBlip>
            </a:pPr>
            <a:r>
              <a:rPr lang="en-GB" sz="2400" dirty="0">
                <a:solidFill>
                  <a:srgbClr val="000000"/>
                </a:solidFill>
              </a:rPr>
              <a:t>La </a:t>
            </a:r>
            <a:r>
              <a:rPr lang="en-GB" sz="2400" dirty="0" err="1">
                <a:solidFill>
                  <a:srgbClr val="000000"/>
                </a:solidFill>
              </a:rPr>
              <a:t>sécurité</a:t>
            </a:r>
            <a:r>
              <a:rPr lang="en-GB" sz="2400" dirty="0">
                <a:solidFill>
                  <a:srgbClr val="000000"/>
                </a:solidFill>
              </a:rPr>
              <a:t> IPSec utilise des </a:t>
            </a:r>
            <a:r>
              <a:rPr lang="en-GB" sz="2400" dirty="0" err="1">
                <a:solidFill>
                  <a:srgbClr val="000000"/>
                </a:solidFill>
              </a:rPr>
              <a:t>règles</a:t>
            </a:r>
            <a:r>
              <a:rPr lang="en-GB" sz="2400" dirty="0">
                <a:solidFill>
                  <a:srgbClr val="000000"/>
                </a:solidFill>
              </a:rPr>
              <a:t> et des </a:t>
            </a:r>
            <a:r>
              <a:rPr lang="en-GB" sz="2400" dirty="0" err="1">
                <a:solidFill>
                  <a:srgbClr val="000000"/>
                </a:solidFill>
              </a:rPr>
              <a:t>stratégies</a:t>
            </a:r>
            <a:r>
              <a:rPr lang="en-GB" sz="2400" dirty="0">
                <a:solidFill>
                  <a:srgbClr val="000000"/>
                </a:solidFill>
              </a:rPr>
              <a:t> pour </a:t>
            </a:r>
            <a:r>
              <a:rPr lang="en-GB" sz="2400" dirty="0" err="1">
                <a:solidFill>
                  <a:srgbClr val="000000"/>
                </a:solidFill>
              </a:rPr>
              <a:t>protéger</a:t>
            </a:r>
            <a:r>
              <a:rPr lang="en-GB" sz="2400" dirty="0">
                <a:solidFill>
                  <a:srgbClr val="000000"/>
                </a:solidFill>
              </a:rPr>
              <a:t> le </a:t>
            </a:r>
            <a:r>
              <a:rPr lang="en-GB" sz="2400" dirty="0" err="1">
                <a:solidFill>
                  <a:srgbClr val="000000"/>
                </a:solidFill>
              </a:rPr>
              <a:t>trafic</a:t>
            </a:r>
            <a:r>
              <a:rPr lang="en-GB" sz="2400" dirty="0">
                <a:solidFill>
                  <a:srgbClr val="000000"/>
                </a:solidFill>
              </a:rPr>
              <a:t> </a:t>
            </a:r>
            <a:r>
              <a:rPr lang="en-GB" sz="2400" dirty="0" err="1">
                <a:solidFill>
                  <a:srgbClr val="000000"/>
                </a:solidFill>
              </a:rPr>
              <a:t>réseau</a:t>
            </a:r>
            <a:endParaRPr lang="en-US" sz="2400" dirty="0"/>
          </a:p>
          <a:p>
            <a:pPr marL="236538" indent="-236538" algn="l">
              <a:lnSpc>
                <a:spcPct val="90000"/>
              </a:lnSpc>
              <a:spcBef>
                <a:spcPct val="40000"/>
              </a:spcBef>
              <a:buSzPct val="80000"/>
              <a:buFontTx/>
              <a:buBlip>
                <a:blip r:embed="rId5"/>
              </a:buBlip>
            </a:pPr>
            <a:r>
              <a:rPr lang="en-GB" sz="2400" dirty="0">
                <a:solidFill>
                  <a:srgbClr val="000000"/>
                </a:solidFill>
              </a:rPr>
              <a:t>Les </a:t>
            </a:r>
            <a:r>
              <a:rPr lang="en-GB" sz="2400" dirty="0" err="1">
                <a:solidFill>
                  <a:srgbClr val="000000"/>
                </a:solidFill>
              </a:rPr>
              <a:t>règles</a:t>
            </a:r>
            <a:r>
              <a:rPr lang="en-GB" sz="2400" dirty="0">
                <a:solidFill>
                  <a:srgbClr val="000000"/>
                </a:solidFill>
              </a:rPr>
              <a:t> </a:t>
            </a:r>
            <a:r>
              <a:rPr lang="en-GB" sz="2400" dirty="0" err="1">
                <a:solidFill>
                  <a:srgbClr val="000000"/>
                </a:solidFill>
              </a:rPr>
              <a:t>comprennent</a:t>
            </a:r>
            <a:r>
              <a:rPr lang="en-GB" sz="2400" dirty="0">
                <a:solidFill>
                  <a:srgbClr val="000000"/>
                </a:solidFill>
              </a:rPr>
              <a:t> les </a:t>
            </a:r>
            <a:r>
              <a:rPr lang="en-GB" sz="2400" dirty="0" err="1">
                <a:solidFill>
                  <a:srgbClr val="000000"/>
                </a:solidFill>
              </a:rPr>
              <a:t>éléments</a:t>
            </a:r>
            <a:r>
              <a:rPr lang="en-GB" sz="2400" dirty="0">
                <a:solidFill>
                  <a:srgbClr val="000000"/>
                </a:solidFill>
              </a:rPr>
              <a:t> </a:t>
            </a:r>
            <a:r>
              <a:rPr lang="en-GB" sz="2400" dirty="0" err="1">
                <a:solidFill>
                  <a:srgbClr val="000000"/>
                </a:solidFill>
              </a:rPr>
              <a:t>suivants</a:t>
            </a:r>
            <a:r>
              <a:rPr lang="en-GB" sz="2400" dirty="0">
                <a:solidFill>
                  <a:srgbClr val="000000"/>
                </a:solidFill>
              </a:rPr>
              <a:t> :</a:t>
            </a:r>
            <a:endParaRPr lang="en-US" sz="2400" dirty="0"/>
          </a:p>
          <a:p>
            <a:pPr marL="685800" lvl="1" indent="-228600" algn="l">
              <a:lnSpc>
                <a:spcPct val="90000"/>
              </a:lnSpc>
              <a:spcBef>
                <a:spcPct val="40000"/>
              </a:spcBef>
              <a:buFont typeface="Wingdings" pitchFamily="2" charset="2"/>
              <a:buChar char="q"/>
            </a:pPr>
            <a:r>
              <a:rPr lang="en-GB" sz="2400" b="0" u="sng" dirty="0">
                <a:solidFill>
                  <a:srgbClr val="000000"/>
                </a:solidFill>
              </a:rPr>
              <a:t>Un </a:t>
            </a:r>
            <a:r>
              <a:rPr lang="en-GB" sz="2400" b="0" u="sng" dirty="0" err="1" smtClean="0">
                <a:solidFill>
                  <a:srgbClr val="000000"/>
                </a:solidFill>
              </a:rPr>
              <a:t>filtre</a:t>
            </a:r>
            <a:r>
              <a:rPr lang="en-GB" sz="2400" b="0" dirty="0" smtClean="0">
                <a:solidFill>
                  <a:srgbClr val="000000"/>
                </a:solidFill>
              </a:rPr>
              <a:t>: type de </a:t>
            </a:r>
            <a:r>
              <a:rPr lang="en-GB" sz="2400" b="0" dirty="0" err="1" smtClean="0">
                <a:solidFill>
                  <a:srgbClr val="000000"/>
                </a:solidFill>
              </a:rPr>
              <a:t>trafic</a:t>
            </a:r>
            <a:r>
              <a:rPr lang="en-GB" sz="2400" b="0" dirty="0" smtClean="0">
                <a:solidFill>
                  <a:srgbClr val="000000"/>
                </a:solidFill>
              </a:rPr>
              <a:t> (http, ftp,...)</a:t>
            </a:r>
            <a:endParaRPr lang="en-US" sz="2400" b="0" dirty="0"/>
          </a:p>
          <a:p>
            <a:pPr marL="685800" lvl="1" indent="-228600" algn="l">
              <a:lnSpc>
                <a:spcPct val="90000"/>
              </a:lnSpc>
              <a:spcBef>
                <a:spcPct val="40000"/>
              </a:spcBef>
              <a:buFont typeface="Wingdings" pitchFamily="2" charset="2"/>
              <a:buChar char="q"/>
            </a:pPr>
            <a:r>
              <a:rPr lang="en-GB" sz="2400" b="0" u="sng" dirty="0" err="1">
                <a:solidFill>
                  <a:srgbClr val="000000"/>
                </a:solidFill>
              </a:rPr>
              <a:t>Une</a:t>
            </a:r>
            <a:r>
              <a:rPr lang="en-GB" sz="2400" b="0" u="sng" dirty="0">
                <a:solidFill>
                  <a:srgbClr val="000000"/>
                </a:solidFill>
              </a:rPr>
              <a:t> action de </a:t>
            </a:r>
            <a:r>
              <a:rPr lang="en-GB" sz="2400" b="0" u="sng" dirty="0" err="1" smtClean="0">
                <a:solidFill>
                  <a:srgbClr val="000000"/>
                </a:solidFill>
              </a:rPr>
              <a:t>filtrage</a:t>
            </a:r>
            <a:r>
              <a:rPr lang="en-GB" sz="2400" b="0" dirty="0" smtClean="0">
                <a:solidFill>
                  <a:srgbClr val="000000"/>
                </a:solidFill>
              </a:rPr>
              <a:t>: action à </a:t>
            </a:r>
            <a:r>
              <a:rPr lang="en-GB" sz="2400" b="0" dirty="0" err="1" smtClean="0">
                <a:solidFill>
                  <a:srgbClr val="000000"/>
                </a:solidFill>
              </a:rPr>
              <a:t>exécuter</a:t>
            </a:r>
            <a:endParaRPr lang="en-US" sz="2400" b="0" dirty="0"/>
          </a:p>
          <a:p>
            <a:pPr marL="685800" lvl="1" indent="-228600" algn="l">
              <a:lnSpc>
                <a:spcPct val="90000"/>
              </a:lnSpc>
              <a:spcBef>
                <a:spcPct val="40000"/>
              </a:spcBef>
              <a:buFont typeface="Wingdings" pitchFamily="2" charset="2"/>
              <a:buChar char="q"/>
            </a:pPr>
            <a:r>
              <a:rPr lang="en-GB" sz="2400" b="0" u="sng" dirty="0" err="1">
                <a:solidFill>
                  <a:srgbClr val="000000"/>
                </a:solidFill>
              </a:rPr>
              <a:t>Une</a:t>
            </a:r>
            <a:r>
              <a:rPr lang="en-GB" sz="2400" b="0" u="sng" dirty="0">
                <a:solidFill>
                  <a:srgbClr val="000000"/>
                </a:solidFill>
              </a:rPr>
              <a:t> </a:t>
            </a:r>
            <a:r>
              <a:rPr lang="en-GB" sz="2400" b="0" u="sng" dirty="0" err="1">
                <a:solidFill>
                  <a:srgbClr val="000000"/>
                </a:solidFill>
              </a:rPr>
              <a:t>méthode</a:t>
            </a:r>
            <a:r>
              <a:rPr lang="en-GB" sz="2400" b="0" u="sng" dirty="0">
                <a:solidFill>
                  <a:srgbClr val="000000"/>
                </a:solidFill>
              </a:rPr>
              <a:t> </a:t>
            </a:r>
            <a:r>
              <a:rPr lang="en-GB" sz="2400" b="0" u="sng" dirty="0" err="1" smtClean="0">
                <a:solidFill>
                  <a:srgbClr val="000000"/>
                </a:solidFill>
              </a:rPr>
              <a:t>d'authentification</a:t>
            </a:r>
            <a:r>
              <a:rPr lang="en-GB" sz="2400" b="0" dirty="0" smtClean="0">
                <a:solidFill>
                  <a:srgbClr val="000000"/>
                </a:solidFill>
              </a:rPr>
              <a:t>: </a:t>
            </a:r>
            <a:r>
              <a:rPr lang="en-GB" sz="2400" b="0" dirty="0" err="1" smtClean="0">
                <a:solidFill>
                  <a:srgbClr val="000000"/>
                </a:solidFill>
              </a:rPr>
              <a:t>certificats</a:t>
            </a:r>
            <a:r>
              <a:rPr lang="en-GB" sz="2400" b="0" dirty="0" smtClean="0">
                <a:solidFill>
                  <a:srgbClr val="000000"/>
                </a:solidFill>
              </a:rPr>
              <a:t>, Kerberos, </a:t>
            </a:r>
            <a:r>
              <a:rPr lang="en-GB" sz="2400" b="0" dirty="0" err="1" smtClean="0">
                <a:solidFill>
                  <a:srgbClr val="000000"/>
                </a:solidFill>
              </a:rPr>
              <a:t>clé</a:t>
            </a:r>
            <a:r>
              <a:rPr lang="en-GB" sz="2400" b="0" dirty="0" smtClean="0">
                <a:solidFill>
                  <a:srgbClr val="000000"/>
                </a:solidFill>
              </a:rPr>
              <a:t> </a:t>
            </a:r>
            <a:r>
              <a:rPr lang="en-GB" sz="2400" b="0" dirty="0" err="1" smtClean="0">
                <a:solidFill>
                  <a:srgbClr val="000000"/>
                </a:solidFill>
              </a:rPr>
              <a:t>pré-partagée</a:t>
            </a:r>
            <a:endParaRPr lang="en-US" sz="2400" b="0" dirty="0"/>
          </a:p>
          <a:p>
            <a:pPr marL="236538" indent="-236538" algn="l">
              <a:lnSpc>
                <a:spcPct val="90000"/>
              </a:lnSpc>
              <a:spcBef>
                <a:spcPct val="40000"/>
              </a:spcBef>
              <a:buSzPct val="80000"/>
              <a:buFontTx/>
              <a:buBlip>
                <a:blip r:embed="rId5"/>
              </a:buBlip>
            </a:pPr>
            <a:r>
              <a:rPr lang="en-GB" sz="2400" dirty="0">
                <a:solidFill>
                  <a:srgbClr val="000000"/>
                </a:solidFill>
              </a:rPr>
              <a:t>Les </a:t>
            </a:r>
            <a:r>
              <a:rPr lang="en-GB" sz="2400" dirty="0" err="1">
                <a:solidFill>
                  <a:srgbClr val="000000"/>
                </a:solidFill>
              </a:rPr>
              <a:t>stratégies</a:t>
            </a:r>
            <a:r>
              <a:rPr lang="en-GB" sz="2400" dirty="0">
                <a:solidFill>
                  <a:srgbClr val="000000"/>
                </a:solidFill>
              </a:rPr>
              <a:t> par </a:t>
            </a:r>
            <a:r>
              <a:rPr lang="en-GB" sz="2400" dirty="0" err="1">
                <a:solidFill>
                  <a:srgbClr val="000000"/>
                </a:solidFill>
              </a:rPr>
              <a:t>défaut</a:t>
            </a:r>
            <a:r>
              <a:rPr lang="en-GB" sz="2400" dirty="0">
                <a:solidFill>
                  <a:srgbClr val="000000"/>
                </a:solidFill>
              </a:rPr>
              <a:t> </a:t>
            </a:r>
            <a:r>
              <a:rPr lang="en-GB" sz="2400" dirty="0" err="1">
                <a:solidFill>
                  <a:srgbClr val="000000"/>
                </a:solidFill>
              </a:rPr>
              <a:t>sont</a:t>
            </a:r>
            <a:r>
              <a:rPr lang="en-GB" sz="2400" dirty="0">
                <a:solidFill>
                  <a:srgbClr val="000000"/>
                </a:solidFill>
              </a:rPr>
              <a:t> les </a:t>
            </a:r>
            <a:r>
              <a:rPr lang="en-GB" sz="2400" dirty="0" err="1">
                <a:solidFill>
                  <a:srgbClr val="000000"/>
                </a:solidFill>
              </a:rPr>
              <a:t>suivantes</a:t>
            </a:r>
            <a:r>
              <a:rPr lang="en-GB" sz="2400" dirty="0">
                <a:solidFill>
                  <a:srgbClr val="000000"/>
                </a:solidFill>
              </a:rPr>
              <a:t> :</a:t>
            </a:r>
            <a:endParaRPr lang="en-US" sz="2400" dirty="0"/>
          </a:p>
          <a:p>
            <a:pPr marL="685800" lvl="1" indent="-228600" algn="l">
              <a:lnSpc>
                <a:spcPct val="90000"/>
              </a:lnSpc>
              <a:spcBef>
                <a:spcPct val="40000"/>
              </a:spcBef>
              <a:buFont typeface="Wingdings" pitchFamily="2" charset="2"/>
              <a:buChar char="q"/>
            </a:pPr>
            <a:r>
              <a:rPr lang="en-GB" sz="2400" b="0" dirty="0">
                <a:solidFill>
                  <a:srgbClr val="000000"/>
                </a:solidFill>
              </a:rPr>
              <a:t>Client (en </a:t>
            </a:r>
            <a:r>
              <a:rPr lang="en-GB" sz="2400" b="0" dirty="0" err="1">
                <a:solidFill>
                  <a:srgbClr val="000000"/>
                </a:solidFill>
              </a:rPr>
              <a:t>réponse</a:t>
            </a:r>
            <a:r>
              <a:rPr lang="en-GB" sz="2400" b="0" dirty="0">
                <a:solidFill>
                  <a:srgbClr val="000000"/>
                </a:solidFill>
              </a:rPr>
              <a:t> </a:t>
            </a:r>
            <a:r>
              <a:rPr lang="en-GB" sz="2400" b="0" dirty="0" err="1">
                <a:solidFill>
                  <a:srgbClr val="000000"/>
                </a:solidFill>
              </a:rPr>
              <a:t>seule</a:t>
            </a:r>
            <a:r>
              <a:rPr lang="en-GB" sz="2400" b="0" dirty="0">
                <a:solidFill>
                  <a:srgbClr val="000000"/>
                </a:solidFill>
              </a:rPr>
              <a:t>)</a:t>
            </a:r>
            <a:endParaRPr lang="en-US" sz="2400" b="0" dirty="0"/>
          </a:p>
          <a:p>
            <a:pPr marL="685800" lvl="1" indent="-228600" algn="l">
              <a:lnSpc>
                <a:spcPct val="90000"/>
              </a:lnSpc>
              <a:spcBef>
                <a:spcPct val="40000"/>
              </a:spcBef>
              <a:buFont typeface="Wingdings" pitchFamily="2" charset="2"/>
              <a:buChar char="q"/>
            </a:pPr>
            <a:r>
              <a:rPr lang="en-GB" sz="2400" b="0" dirty="0" err="1">
                <a:solidFill>
                  <a:srgbClr val="000000"/>
                </a:solidFill>
              </a:rPr>
              <a:t>Serveur</a:t>
            </a:r>
            <a:r>
              <a:rPr lang="en-GB" sz="2400" b="0" dirty="0">
                <a:solidFill>
                  <a:srgbClr val="000000"/>
                </a:solidFill>
              </a:rPr>
              <a:t> (</a:t>
            </a:r>
            <a:r>
              <a:rPr lang="en-GB" sz="2400" b="0" dirty="0" err="1">
                <a:solidFill>
                  <a:srgbClr val="000000"/>
                </a:solidFill>
              </a:rPr>
              <a:t>demandez</a:t>
            </a:r>
            <a:r>
              <a:rPr lang="en-GB" sz="2400" b="0" dirty="0">
                <a:solidFill>
                  <a:srgbClr val="000000"/>
                </a:solidFill>
              </a:rPr>
              <a:t> la </a:t>
            </a:r>
            <a:r>
              <a:rPr lang="en-GB" sz="2400" b="0" dirty="0" err="1">
                <a:solidFill>
                  <a:srgbClr val="000000"/>
                </a:solidFill>
              </a:rPr>
              <a:t>sécurité</a:t>
            </a:r>
            <a:r>
              <a:rPr lang="en-GB" sz="2400" b="0" dirty="0">
                <a:solidFill>
                  <a:srgbClr val="000000"/>
                </a:solidFill>
              </a:rPr>
              <a:t>)</a:t>
            </a:r>
            <a:endParaRPr lang="en-US" sz="2400" b="0" dirty="0"/>
          </a:p>
          <a:p>
            <a:pPr marL="685800" lvl="1" indent="-228600" algn="l">
              <a:lnSpc>
                <a:spcPct val="90000"/>
              </a:lnSpc>
              <a:spcBef>
                <a:spcPct val="40000"/>
              </a:spcBef>
              <a:buFont typeface="Wingdings" pitchFamily="2" charset="2"/>
              <a:buChar char="q"/>
            </a:pPr>
            <a:r>
              <a:rPr lang="en-GB" sz="2400" b="0" dirty="0" err="1">
                <a:solidFill>
                  <a:srgbClr val="000000"/>
                </a:solidFill>
              </a:rPr>
              <a:t>Sécuriser</a:t>
            </a:r>
            <a:r>
              <a:rPr lang="en-GB" sz="2400" b="0" dirty="0">
                <a:solidFill>
                  <a:srgbClr val="000000"/>
                </a:solidFill>
              </a:rPr>
              <a:t> le </a:t>
            </a:r>
            <a:r>
              <a:rPr lang="en-GB" sz="2400" b="0" dirty="0" err="1">
                <a:solidFill>
                  <a:srgbClr val="000000"/>
                </a:solidFill>
              </a:rPr>
              <a:t>serveur</a:t>
            </a:r>
            <a:r>
              <a:rPr lang="en-GB" sz="2400" b="0" dirty="0">
                <a:solidFill>
                  <a:srgbClr val="000000"/>
                </a:solidFill>
              </a:rPr>
              <a:t> (</a:t>
            </a:r>
            <a:r>
              <a:rPr lang="en-GB" sz="2400" b="0" dirty="0" err="1">
                <a:solidFill>
                  <a:srgbClr val="000000"/>
                </a:solidFill>
              </a:rPr>
              <a:t>nécessite</a:t>
            </a:r>
            <a:r>
              <a:rPr lang="en-GB" sz="2400" b="0" dirty="0">
                <a:solidFill>
                  <a:srgbClr val="000000"/>
                </a:solidFill>
              </a:rPr>
              <a:t> la </a:t>
            </a:r>
            <a:r>
              <a:rPr lang="en-GB" sz="2400" b="0" dirty="0" err="1">
                <a:solidFill>
                  <a:srgbClr val="000000"/>
                </a:solidFill>
              </a:rPr>
              <a:t>sécurité</a:t>
            </a:r>
            <a:r>
              <a:rPr lang="en-GB" sz="2400" b="0" dirty="0">
                <a:solidFill>
                  <a:srgbClr val="000000"/>
                </a:solidFill>
              </a:rPr>
              <a:t>)</a:t>
            </a:r>
            <a:endParaRPr lang="en-US" sz="2400" b="0" dirty="0">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15085">
                                            <p:txEl>
                                              <p:pRg st="0" end="0"/>
                                            </p:txEl>
                                          </p:spTgt>
                                        </p:tgtEl>
                                        <p:attrNameLst>
                                          <p:attrName>style.visibility</p:attrName>
                                        </p:attrNameLst>
                                      </p:cBhvr>
                                      <p:to>
                                        <p:strVal val="visible"/>
                                      </p:to>
                                    </p:set>
                                    <p:animEffect transition="in" filter="checkerboard(across)">
                                      <p:cBhvr>
                                        <p:cTn id="7" dur="500"/>
                                        <p:tgtEl>
                                          <p:spTgt spid="21508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15085">
                                            <p:txEl>
                                              <p:pRg st="1" end="1"/>
                                            </p:txEl>
                                          </p:spTgt>
                                        </p:tgtEl>
                                        <p:attrNameLst>
                                          <p:attrName>style.visibility</p:attrName>
                                        </p:attrNameLst>
                                      </p:cBhvr>
                                      <p:to>
                                        <p:strVal val="visible"/>
                                      </p:to>
                                    </p:set>
                                    <p:animEffect transition="in" filter="checkerboard(across)">
                                      <p:cBhvr>
                                        <p:cTn id="12" dur="500"/>
                                        <p:tgtEl>
                                          <p:spTgt spid="215085">
                                            <p:txEl>
                                              <p:pRg st="1" end="1"/>
                                            </p:txEl>
                                          </p:spTgt>
                                        </p:tgtEl>
                                      </p:cBhvr>
                                    </p:animEffect>
                                  </p:childTnLst>
                                </p:cTn>
                              </p:par>
                              <p:par>
                                <p:cTn id="13" presetID="5" presetClass="entr" presetSubtype="10" fill="hold" nodeType="withEffect">
                                  <p:stCondLst>
                                    <p:cond delay="0"/>
                                  </p:stCondLst>
                                  <p:childTnLst>
                                    <p:set>
                                      <p:cBhvr>
                                        <p:cTn id="14" dur="1" fill="hold">
                                          <p:stCondLst>
                                            <p:cond delay="0"/>
                                          </p:stCondLst>
                                        </p:cTn>
                                        <p:tgtEl>
                                          <p:spTgt spid="215085">
                                            <p:txEl>
                                              <p:pRg st="2" end="2"/>
                                            </p:txEl>
                                          </p:spTgt>
                                        </p:tgtEl>
                                        <p:attrNameLst>
                                          <p:attrName>style.visibility</p:attrName>
                                        </p:attrNameLst>
                                      </p:cBhvr>
                                      <p:to>
                                        <p:strVal val="visible"/>
                                      </p:to>
                                    </p:set>
                                    <p:animEffect transition="in" filter="checkerboard(across)">
                                      <p:cBhvr>
                                        <p:cTn id="15" dur="500"/>
                                        <p:tgtEl>
                                          <p:spTgt spid="215085">
                                            <p:txEl>
                                              <p:pRg st="2" end="2"/>
                                            </p:txEl>
                                          </p:spTgt>
                                        </p:tgtEl>
                                      </p:cBhvr>
                                    </p:animEffect>
                                  </p:childTnLst>
                                </p:cTn>
                              </p:par>
                              <p:par>
                                <p:cTn id="16" presetID="5" presetClass="entr" presetSubtype="10" fill="hold" nodeType="withEffect">
                                  <p:stCondLst>
                                    <p:cond delay="0"/>
                                  </p:stCondLst>
                                  <p:childTnLst>
                                    <p:set>
                                      <p:cBhvr>
                                        <p:cTn id="17" dur="1" fill="hold">
                                          <p:stCondLst>
                                            <p:cond delay="0"/>
                                          </p:stCondLst>
                                        </p:cTn>
                                        <p:tgtEl>
                                          <p:spTgt spid="215085">
                                            <p:txEl>
                                              <p:pRg st="3" end="3"/>
                                            </p:txEl>
                                          </p:spTgt>
                                        </p:tgtEl>
                                        <p:attrNameLst>
                                          <p:attrName>style.visibility</p:attrName>
                                        </p:attrNameLst>
                                      </p:cBhvr>
                                      <p:to>
                                        <p:strVal val="visible"/>
                                      </p:to>
                                    </p:set>
                                    <p:animEffect transition="in" filter="checkerboard(across)">
                                      <p:cBhvr>
                                        <p:cTn id="18" dur="500"/>
                                        <p:tgtEl>
                                          <p:spTgt spid="215085">
                                            <p:txEl>
                                              <p:pRg st="3" end="3"/>
                                            </p:txEl>
                                          </p:spTgt>
                                        </p:tgtEl>
                                      </p:cBhvr>
                                    </p:animEffect>
                                  </p:childTnLst>
                                </p:cTn>
                              </p:par>
                              <p:par>
                                <p:cTn id="19" presetID="5" presetClass="entr" presetSubtype="10" fill="hold" nodeType="withEffect">
                                  <p:stCondLst>
                                    <p:cond delay="0"/>
                                  </p:stCondLst>
                                  <p:childTnLst>
                                    <p:set>
                                      <p:cBhvr>
                                        <p:cTn id="20" dur="1" fill="hold">
                                          <p:stCondLst>
                                            <p:cond delay="0"/>
                                          </p:stCondLst>
                                        </p:cTn>
                                        <p:tgtEl>
                                          <p:spTgt spid="215085">
                                            <p:txEl>
                                              <p:pRg st="4" end="4"/>
                                            </p:txEl>
                                          </p:spTgt>
                                        </p:tgtEl>
                                        <p:attrNameLst>
                                          <p:attrName>style.visibility</p:attrName>
                                        </p:attrNameLst>
                                      </p:cBhvr>
                                      <p:to>
                                        <p:strVal val="visible"/>
                                      </p:to>
                                    </p:set>
                                    <p:animEffect transition="in" filter="checkerboard(across)">
                                      <p:cBhvr>
                                        <p:cTn id="21" dur="500"/>
                                        <p:tgtEl>
                                          <p:spTgt spid="215085">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5" presetClass="entr" presetSubtype="10" fill="hold" nodeType="clickEffect">
                                  <p:stCondLst>
                                    <p:cond delay="0"/>
                                  </p:stCondLst>
                                  <p:childTnLst>
                                    <p:set>
                                      <p:cBhvr>
                                        <p:cTn id="25" dur="1" fill="hold">
                                          <p:stCondLst>
                                            <p:cond delay="0"/>
                                          </p:stCondLst>
                                        </p:cTn>
                                        <p:tgtEl>
                                          <p:spTgt spid="215085">
                                            <p:txEl>
                                              <p:pRg st="5" end="5"/>
                                            </p:txEl>
                                          </p:spTgt>
                                        </p:tgtEl>
                                        <p:attrNameLst>
                                          <p:attrName>style.visibility</p:attrName>
                                        </p:attrNameLst>
                                      </p:cBhvr>
                                      <p:to>
                                        <p:strVal val="visible"/>
                                      </p:to>
                                    </p:set>
                                    <p:animEffect transition="in" filter="checkerboard(across)">
                                      <p:cBhvr>
                                        <p:cTn id="26" dur="500"/>
                                        <p:tgtEl>
                                          <p:spTgt spid="215085">
                                            <p:txEl>
                                              <p:pRg st="5" end="5"/>
                                            </p:txEl>
                                          </p:spTgt>
                                        </p:tgtEl>
                                      </p:cBhvr>
                                    </p:animEffect>
                                  </p:childTnLst>
                                </p:cTn>
                              </p:par>
                              <p:par>
                                <p:cTn id="27" presetID="5" presetClass="entr" presetSubtype="10" fill="hold" nodeType="withEffect">
                                  <p:stCondLst>
                                    <p:cond delay="0"/>
                                  </p:stCondLst>
                                  <p:childTnLst>
                                    <p:set>
                                      <p:cBhvr>
                                        <p:cTn id="28" dur="1" fill="hold">
                                          <p:stCondLst>
                                            <p:cond delay="0"/>
                                          </p:stCondLst>
                                        </p:cTn>
                                        <p:tgtEl>
                                          <p:spTgt spid="215085">
                                            <p:txEl>
                                              <p:pRg st="6" end="6"/>
                                            </p:txEl>
                                          </p:spTgt>
                                        </p:tgtEl>
                                        <p:attrNameLst>
                                          <p:attrName>style.visibility</p:attrName>
                                        </p:attrNameLst>
                                      </p:cBhvr>
                                      <p:to>
                                        <p:strVal val="visible"/>
                                      </p:to>
                                    </p:set>
                                    <p:animEffect transition="in" filter="checkerboard(across)">
                                      <p:cBhvr>
                                        <p:cTn id="29" dur="500"/>
                                        <p:tgtEl>
                                          <p:spTgt spid="215085">
                                            <p:txEl>
                                              <p:pRg st="6" end="6"/>
                                            </p:txEl>
                                          </p:spTgt>
                                        </p:tgtEl>
                                      </p:cBhvr>
                                    </p:animEffect>
                                  </p:childTnLst>
                                </p:cTn>
                              </p:par>
                              <p:par>
                                <p:cTn id="30" presetID="5" presetClass="entr" presetSubtype="10" fill="hold" nodeType="withEffect">
                                  <p:stCondLst>
                                    <p:cond delay="0"/>
                                  </p:stCondLst>
                                  <p:childTnLst>
                                    <p:set>
                                      <p:cBhvr>
                                        <p:cTn id="31" dur="1" fill="hold">
                                          <p:stCondLst>
                                            <p:cond delay="0"/>
                                          </p:stCondLst>
                                        </p:cTn>
                                        <p:tgtEl>
                                          <p:spTgt spid="215085">
                                            <p:txEl>
                                              <p:pRg st="7" end="7"/>
                                            </p:txEl>
                                          </p:spTgt>
                                        </p:tgtEl>
                                        <p:attrNameLst>
                                          <p:attrName>style.visibility</p:attrName>
                                        </p:attrNameLst>
                                      </p:cBhvr>
                                      <p:to>
                                        <p:strVal val="visible"/>
                                      </p:to>
                                    </p:set>
                                    <p:animEffect transition="in" filter="checkerboard(across)">
                                      <p:cBhvr>
                                        <p:cTn id="32" dur="500"/>
                                        <p:tgtEl>
                                          <p:spTgt spid="215085">
                                            <p:txEl>
                                              <p:pRg st="7" end="7"/>
                                            </p:txEl>
                                          </p:spTgt>
                                        </p:tgtEl>
                                      </p:cBhvr>
                                    </p:animEffect>
                                  </p:childTnLst>
                                </p:cTn>
                              </p:par>
                              <p:par>
                                <p:cTn id="33" presetID="5" presetClass="entr" presetSubtype="10" fill="hold" nodeType="withEffect">
                                  <p:stCondLst>
                                    <p:cond delay="0"/>
                                  </p:stCondLst>
                                  <p:childTnLst>
                                    <p:set>
                                      <p:cBhvr>
                                        <p:cTn id="34" dur="1" fill="hold">
                                          <p:stCondLst>
                                            <p:cond delay="0"/>
                                          </p:stCondLst>
                                        </p:cTn>
                                        <p:tgtEl>
                                          <p:spTgt spid="215085">
                                            <p:txEl>
                                              <p:pRg st="8" end="8"/>
                                            </p:txEl>
                                          </p:spTgt>
                                        </p:tgtEl>
                                        <p:attrNameLst>
                                          <p:attrName>style.visibility</p:attrName>
                                        </p:attrNameLst>
                                      </p:cBhvr>
                                      <p:to>
                                        <p:strVal val="visible"/>
                                      </p:to>
                                    </p:set>
                                    <p:animEffect transition="in" filter="checkerboard(across)">
                                      <p:cBhvr>
                                        <p:cTn id="35" dur="500"/>
                                        <p:tgtEl>
                                          <p:spTgt spid="21508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2"/>
          <p:cNvSpPr>
            <a:spLocks noGrp="1" noChangeArrowheads="1"/>
          </p:cNvSpPr>
          <p:nvPr>
            <p:ph type="title"/>
            <p:custDataLst>
              <p:tags r:id="rId1"/>
            </p:custDataLst>
          </p:nvPr>
        </p:nvSpPr>
        <p:spPr>
          <a:xfrm>
            <a:off x="174171" y="228600"/>
            <a:ext cx="8781143" cy="758952"/>
          </a:xfrm>
        </p:spPr>
        <p:txBody>
          <a:bodyPr>
            <a:normAutofit/>
          </a:bodyPr>
          <a:lstStyle/>
          <a:p>
            <a:r>
              <a:rPr lang="fr-FR" sz="2800" b="1" dirty="0">
                <a:solidFill>
                  <a:srgbClr val="000000"/>
                </a:solidFill>
              </a:rPr>
              <a:t>Fonctionnement conjoint des stratégies </a:t>
            </a:r>
            <a:r>
              <a:rPr lang="fr-FR" sz="2800" b="1" dirty="0" err="1">
                <a:solidFill>
                  <a:srgbClr val="000000"/>
                </a:solidFill>
              </a:rPr>
              <a:t>IPSec</a:t>
            </a:r>
            <a:endParaRPr lang="en-US" sz="2800" b="1" dirty="0"/>
          </a:p>
        </p:txBody>
      </p:sp>
      <p:graphicFrame>
        <p:nvGraphicFramePr>
          <p:cNvPr id="225469" name="Group 189"/>
          <p:cNvGraphicFramePr>
            <a:graphicFrameLocks noGrp="1"/>
          </p:cNvGraphicFramePr>
          <p:nvPr/>
        </p:nvGraphicFramePr>
        <p:xfrm>
          <a:off x="174171" y="1227144"/>
          <a:ext cx="8795657" cy="4825318"/>
        </p:xfrm>
        <a:graphic>
          <a:graphicData uri="http://schemas.openxmlformats.org/drawingml/2006/table">
            <a:tbl>
              <a:tblPr/>
              <a:tblGrid>
                <a:gridCol w="2365829"/>
                <a:gridCol w="1799771"/>
                <a:gridCol w="1301565"/>
                <a:gridCol w="1551288"/>
                <a:gridCol w="1777204"/>
              </a:tblGrid>
              <a:tr h="1237958">
                <a:tc>
                  <a:txBody>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GB" sz="1700" b="0" i="0" u="none" strike="noStrike" cap="none" normalizeH="0" baseline="0" dirty="0" smtClean="0">
                        <a:ln>
                          <a:noFill/>
                        </a:ln>
                        <a:solidFill>
                          <a:schemeClr val="tx1"/>
                        </a:solidFill>
                        <a:effectLst/>
                        <a:latin typeface="Arial"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B3C8D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1800" b="1" i="0" u="none" strike="noStrike" cap="none" normalizeH="0" baseline="0" dirty="0" err="1" smtClean="0">
                          <a:ln>
                            <a:noFill/>
                          </a:ln>
                          <a:solidFill>
                            <a:srgbClr val="000000"/>
                          </a:solidFill>
                          <a:effectLst/>
                          <a:latin typeface="Arial" charset="0"/>
                        </a:rPr>
                        <a:t>Aucune</a:t>
                      </a:r>
                      <a:r>
                        <a:rPr kumimoji="0" lang="en-GB" sz="1800" b="1" i="0" u="none" strike="noStrike" cap="none" normalizeH="0" baseline="0" dirty="0" smtClean="0">
                          <a:ln>
                            <a:noFill/>
                          </a:ln>
                          <a:solidFill>
                            <a:srgbClr val="000000"/>
                          </a:solidFill>
                          <a:effectLst/>
                          <a:latin typeface="Arial" charset="0"/>
                        </a:rPr>
                        <a:t> </a:t>
                      </a:r>
                      <a:r>
                        <a:rPr kumimoji="0" lang="en-GB" sz="1800" b="1" i="0" u="none" strike="noStrike" cap="none" normalizeH="0" baseline="0" dirty="0" err="1" smtClean="0">
                          <a:ln>
                            <a:noFill/>
                          </a:ln>
                          <a:solidFill>
                            <a:srgbClr val="000000"/>
                          </a:solidFill>
                          <a:effectLst/>
                          <a:latin typeface="Arial" charset="0"/>
                        </a:rPr>
                        <a:t>stratégie</a:t>
                      </a:r>
                      <a:r>
                        <a:rPr kumimoji="0" lang="en-GB" sz="1800" b="1" i="0" u="none" strike="noStrike" cap="none" normalizeH="0" baseline="0" dirty="0" smtClean="0">
                          <a:ln>
                            <a:noFill/>
                          </a:ln>
                          <a:solidFill>
                            <a:srgbClr val="000000"/>
                          </a:solidFill>
                          <a:effectLst/>
                          <a:latin typeface="Arial" charset="0"/>
                        </a:rPr>
                        <a:t> </a:t>
                      </a:r>
                      <a:r>
                        <a:rPr kumimoji="0" lang="en-GB" sz="1800" b="1" i="0" u="none" strike="noStrike" cap="none" normalizeH="0" baseline="0" dirty="0" err="1" smtClean="0">
                          <a:ln>
                            <a:noFill/>
                          </a:ln>
                          <a:solidFill>
                            <a:srgbClr val="000000"/>
                          </a:solidFill>
                          <a:effectLst/>
                          <a:latin typeface="Arial" charset="0"/>
                        </a:rPr>
                        <a:t>attribuée</a:t>
                      </a:r>
                      <a:endParaRPr kumimoji="0" lang="en-US" sz="1800" b="1" i="0" u="none" strike="noStrike" cap="none" normalizeH="0" baseline="0" dirty="0" smtClean="0">
                        <a:ln>
                          <a:noFill/>
                        </a:ln>
                        <a:solidFill>
                          <a:schemeClr val="tx1"/>
                        </a:solidFill>
                        <a:effectLst/>
                        <a:latin typeface="Arial" charset="0"/>
                        <a:cs typeface="Times New Roman" pitchFamily="18"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B3C8D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1800" b="1" i="0" u="none" strike="noStrike" cap="none" normalizeH="0" baseline="0" dirty="0" smtClean="0">
                          <a:ln>
                            <a:noFill/>
                          </a:ln>
                          <a:solidFill>
                            <a:srgbClr val="000000"/>
                          </a:solidFill>
                          <a:effectLst/>
                          <a:latin typeface="Arial" charset="0"/>
                        </a:rPr>
                        <a:t>Client </a:t>
                      </a:r>
                      <a:br>
                        <a:rPr kumimoji="0" lang="en-GB" sz="1800" b="1" i="0" u="none" strike="noStrike" cap="none" normalizeH="0" baseline="0" dirty="0" smtClean="0">
                          <a:ln>
                            <a:noFill/>
                          </a:ln>
                          <a:solidFill>
                            <a:srgbClr val="000000"/>
                          </a:solidFill>
                          <a:effectLst/>
                          <a:latin typeface="Arial" charset="0"/>
                        </a:rPr>
                      </a:br>
                      <a:r>
                        <a:rPr kumimoji="0" lang="en-GB" sz="1800" b="1" i="0" u="none" strike="noStrike" cap="none" normalizeH="0" baseline="0" dirty="0" smtClean="0">
                          <a:ln>
                            <a:noFill/>
                          </a:ln>
                          <a:solidFill>
                            <a:srgbClr val="000000"/>
                          </a:solidFill>
                          <a:effectLst/>
                          <a:latin typeface="Arial" charset="0"/>
                        </a:rPr>
                        <a:t>(en </a:t>
                      </a:r>
                      <a:r>
                        <a:rPr kumimoji="0" lang="en-GB" sz="1800" b="1" i="0" u="none" strike="noStrike" cap="none" normalizeH="0" baseline="0" dirty="0" err="1" smtClean="0">
                          <a:ln>
                            <a:noFill/>
                          </a:ln>
                          <a:solidFill>
                            <a:srgbClr val="000000"/>
                          </a:solidFill>
                          <a:effectLst/>
                          <a:latin typeface="Arial" charset="0"/>
                        </a:rPr>
                        <a:t>réponse</a:t>
                      </a:r>
                      <a:r>
                        <a:rPr kumimoji="0" lang="en-GB" sz="1800" b="1" i="0" u="none" strike="noStrike" cap="none" normalizeH="0" baseline="0" dirty="0" smtClean="0">
                          <a:ln>
                            <a:noFill/>
                          </a:ln>
                          <a:solidFill>
                            <a:srgbClr val="000000"/>
                          </a:solidFill>
                          <a:effectLst/>
                          <a:latin typeface="Arial" charset="0"/>
                        </a:rPr>
                        <a:t> </a:t>
                      </a:r>
                      <a:r>
                        <a:rPr kumimoji="0" lang="en-GB" sz="1800" b="1" i="0" u="none" strike="noStrike" cap="none" normalizeH="0" baseline="0" dirty="0" err="1" smtClean="0">
                          <a:ln>
                            <a:noFill/>
                          </a:ln>
                          <a:solidFill>
                            <a:srgbClr val="000000"/>
                          </a:solidFill>
                          <a:effectLst/>
                          <a:latin typeface="Arial" charset="0"/>
                        </a:rPr>
                        <a:t>seule</a:t>
                      </a:r>
                      <a:r>
                        <a:rPr kumimoji="0" lang="en-GB" sz="1800" b="1" i="0" u="none" strike="noStrike" cap="none" normalizeH="0" baseline="0" dirty="0" smtClean="0">
                          <a:ln>
                            <a:noFill/>
                          </a:ln>
                          <a:solidFill>
                            <a:srgbClr val="000000"/>
                          </a:solidFill>
                          <a:effectLst/>
                          <a:latin typeface="Arial" charset="0"/>
                        </a:rPr>
                        <a:t>)</a:t>
                      </a:r>
                      <a:endParaRPr kumimoji="0" lang="en-US" sz="1800" b="1" i="0" u="none" strike="noStrike" cap="none" normalizeH="0" baseline="0" dirty="0" smtClean="0">
                        <a:ln>
                          <a:noFill/>
                        </a:ln>
                        <a:solidFill>
                          <a:schemeClr val="tx1"/>
                        </a:solidFill>
                        <a:effectLst/>
                        <a:latin typeface="Arial" charset="0"/>
                        <a:cs typeface="Times New Roman" pitchFamily="18"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B3C8D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1800" b="1" i="0" u="none" strike="noStrike" cap="none" normalizeH="0" baseline="0" dirty="0" err="1" smtClean="0">
                          <a:ln>
                            <a:noFill/>
                          </a:ln>
                          <a:solidFill>
                            <a:srgbClr val="000000"/>
                          </a:solidFill>
                          <a:effectLst/>
                          <a:latin typeface="Arial" charset="0"/>
                        </a:rPr>
                        <a:t>Serveur</a:t>
                      </a:r>
                      <a:r>
                        <a:rPr kumimoji="0" lang="en-GB" sz="1800" b="1" i="0" u="none" strike="noStrike" cap="none" normalizeH="0" baseline="0" dirty="0" smtClean="0">
                          <a:ln>
                            <a:noFill/>
                          </a:ln>
                          <a:solidFill>
                            <a:srgbClr val="000000"/>
                          </a:solidFill>
                          <a:effectLst/>
                          <a:latin typeface="Arial" charset="0"/>
                        </a:rPr>
                        <a:t> (</a:t>
                      </a:r>
                      <a:r>
                        <a:rPr kumimoji="0" lang="en-GB" sz="1800" b="1" i="0" u="none" strike="noStrike" cap="none" normalizeH="0" baseline="0" dirty="0" err="1" smtClean="0">
                          <a:ln>
                            <a:noFill/>
                          </a:ln>
                          <a:solidFill>
                            <a:srgbClr val="000000"/>
                          </a:solidFill>
                          <a:effectLst/>
                          <a:latin typeface="Arial" charset="0"/>
                        </a:rPr>
                        <a:t>demandez</a:t>
                      </a:r>
                      <a:r>
                        <a:rPr kumimoji="0" lang="en-GB" sz="1800" b="1" i="0" u="none" strike="noStrike" cap="none" normalizeH="0" baseline="0" dirty="0" smtClean="0">
                          <a:ln>
                            <a:noFill/>
                          </a:ln>
                          <a:solidFill>
                            <a:srgbClr val="000000"/>
                          </a:solidFill>
                          <a:effectLst/>
                          <a:latin typeface="Arial" charset="0"/>
                        </a:rPr>
                        <a:t> la </a:t>
                      </a:r>
                      <a:r>
                        <a:rPr kumimoji="0" lang="en-GB" sz="1800" b="1" i="0" u="none" strike="noStrike" cap="none" normalizeH="0" baseline="0" dirty="0" err="1" smtClean="0">
                          <a:ln>
                            <a:noFill/>
                          </a:ln>
                          <a:solidFill>
                            <a:srgbClr val="000000"/>
                          </a:solidFill>
                          <a:effectLst/>
                          <a:latin typeface="Arial" charset="0"/>
                        </a:rPr>
                        <a:t>sécurité</a:t>
                      </a:r>
                      <a:r>
                        <a:rPr kumimoji="0" lang="en-GB" sz="1800" b="1" i="0" u="none" strike="noStrike" cap="none" normalizeH="0" baseline="0" dirty="0" smtClean="0">
                          <a:ln>
                            <a:noFill/>
                          </a:ln>
                          <a:solidFill>
                            <a:srgbClr val="000000"/>
                          </a:solidFill>
                          <a:effectLst/>
                          <a:latin typeface="Arial" charset="0"/>
                        </a:rPr>
                        <a:t>)</a:t>
                      </a:r>
                      <a:endParaRPr kumimoji="0" lang="en-US" sz="1800" b="1" i="0" u="none" strike="noStrike" cap="none" normalizeH="0" baseline="0" dirty="0" smtClean="0">
                        <a:ln>
                          <a:noFill/>
                        </a:ln>
                        <a:solidFill>
                          <a:schemeClr val="tx1"/>
                        </a:solidFill>
                        <a:effectLst/>
                        <a:latin typeface="Arial" charset="0"/>
                        <a:cs typeface="Times New Roman" pitchFamily="18"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B3C8D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1800" b="1" i="0" u="none" strike="noStrike" cap="none" normalizeH="0" baseline="0" dirty="0" err="1" smtClean="0">
                          <a:ln>
                            <a:noFill/>
                          </a:ln>
                          <a:solidFill>
                            <a:srgbClr val="000000"/>
                          </a:solidFill>
                          <a:effectLst/>
                          <a:latin typeface="Arial" charset="0"/>
                        </a:rPr>
                        <a:t>Sécuriser</a:t>
                      </a:r>
                      <a:r>
                        <a:rPr kumimoji="0" lang="en-GB" sz="1800" b="1" i="0" u="none" strike="noStrike" cap="none" normalizeH="0" baseline="0" dirty="0" smtClean="0">
                          <a:ln>
                            <a:noFill/>
                          </a:ln>
                          <a:solidFill>
                            <a:srgbClr val="000000"/>
                          </a:solidFill>
                          <a:effectLst/>
                          <a:latin typeface="Arial" charset="0"/>
                        </a:rPr>
                        <a:t> </a:t>
                      </a:r>
                      <a:br>
                        <a:rPr kumimoji="0" lang="en-GB" sz="1800" b="1" i="0" u="none" strike="noStrike" cap="none" normalizeH="0" baseline="0" dirty="0" smtClean="0">
                          <a:ln>
                            <a:noFill/>
                          </a:ln>
                          <a:solidFill>
                            <a:srgbClr val="000000"/>
                          </a:solidFill>
                          <a:effectLst/>
                          <a:latin typeface="Arial" charset="0"/>
                        </a:rPr>
                      </a:br>
                      <a:r>
                        <a:rPr kumimoji="0" lang="en-GB" sz="1800" b="1" i="0" u="none" strike="noStrike" cap="none" normalizeH="0" baseline="0" dirty="0" smtClean="0">
                          <a:ln>
                            <a:noFill/>
                          </a:ln>
                          <a:solidFill>
                            <a:srgbClr val="000000"/>
                          </a:solidFill>
                          <a:effectLst/>
                          <a:latin typeface="Arial" charset="0"/>
                        </a:rPr>
                        <a:t>le </a:t>
                      </a:r>
                      <a:r>
                        <a:rPr kumimoji="0" lang="en-GB" sz="1800" b="1" i="0" u="none" strike="noStrike" cap="none" normalizeH="0" baseline="0" dirty="0" err="1" smtClean="0">
                          <a:ln>
                            <a:noFill/>
                          </a:ln>
                          <a:solidFill>
                            <a:srgbClr val="000000"/>
                          </a:solidFill>
                          <a:effectLst/>
                          <a:latin typeface="Arial" charset="0"/>
                        </a:rPr>
                        <a:t>serveur</a:t>
                      </a:r>
                      <a:r>
                        <a:rPr kumimoji="0" lang="en-GB" sz="1800" b="1" i="0" u="none" strike="noStrike" cap="none" normalizeH="0" baseline="0" dirty="0" smtClean="0">
                          <a:ln>
                            <a:noFill/>
                          </a:ln>
                          <a:solidFill>
                            <a:srgbClr val="000000"/>
                          </a:solidFill>
                          <a:effectLst/>
                          <a:latin typeface="Arial" charset="0"/>
                        </a:rPr>
                        <a:t> (</a:t>
                      </a:r>
                      <a:r>
                        <a:rPr kumimoji="0" lang="en-GB" sz="1800" b="1" i="0" u="none" strike="noStrike" cap="none" normalizeH="0" baseline="0" dirty="0" err="1" smtClean="0">
                          <a:ln>
                            <a:noFill/>
                          </a:ln>
                          <a:solidFill>
                            <a:srgbClr val="000000"/>
                          </a:solidFill>
                          <a:effectLst/>
                          <a:latin typeface="Arial" charset="0"/>
                        </a:rPr>
                        <a:t>nécessite</a:t>
                      </a:r>
                      <a:r>
                        <a:rPr kumimoji="0" lang="en-GB" sz="1800" b="1" i="0" u="none" strike="noStrike" cap="none" normalizeH="0" baseline="0" dirty="0" smtClean="0">
                          <a:ln>
                            <a:noFill/>
                          </a:ln>
                          <a:solidFill>
                            <a:srgbClr val="000000"/>
                          </a:solidFill>
                          <a:effectLst/>
                          <a:latin typeface="Arial" charset="0"/>
                        </a:rPr>
                        <a:t> </a:t>
                      </a:r>
                      <a:br>
                        <a:rPr kumimoji="0" lang="en-GB" sz="1800" b="1" i="0" u="none" strike="noStrike" cap="none" normalizeH="0" baseline="0" dirty="0" smtClean="0">
                          <a:ln>
                            <a:noFill/>
                          </a:ln>
                          <a:solidFill>
                            <a:srgbClr val="000000"/>
                          </a:solidFill>
                          <a:effectLst/>
                          <a:latin typeface="Arial" charset="0"/>
                        </a:rPr>
                      </a:br>
                      <a:r>
                        <a:rPr kumimoji="0" lang="en-GB" sz="1800" b="1" i="0" u="none" strike="noStrike" cap="none" normalizeH="0" baseline="0" dirty="0" smtClean="0">
                          <a:ln>
                            <a:noFill/>
                          </a:ln>
                          <a:solidFill>
                            <a:srgbClr val="000000"/>
                          </a:solidFill>
                          <a:effectLst/>
                          <a:latin typeface="Arial" charset="0"/>
                        </a:rPr>
                        <a:t>la </a:t>
                      </a:r>
                      <a:r>
                        <a:rPr kumimoji="0" lang="en-GB" sz="1800" b="1" i="0" u="none" strike="noStrike" cap="none" normalizeH="0" baseline="0" dirty="0" err="1" smtClean="0">
                          <a:ln>
                            <a:noFill/>
                          </a:ln>
                          <a:solidFill>
                            <a:srgbClr val="000000"/>
                          </a:solidFill>
                          <a:effectLst/>
                          <a:latin typeface="Arial" charset="0"/>
                        </a:rPr>
                        <a:t>sécurité</a:t>
                      </a:r>
                      <a:r>
                        <a:rPr kumimoji="0" lang="en-GB" sz="1800" b="1" i="0" u="none" strike="noStrike" cap="none" normalizeH="0" baseline="0" dirty="0" smtClean="0">
                          <a:ln>
                            <a:noFill/>
                          </a:ln>
                          <a:solidFill>
                            <a:srgbClr val="000000"/>
                          </a:solidFill>
                          <a:effectLst/>
                          <a:latin typeface="Arial" charset="0"/>
                        </a:rPr>
                        <a:t>)</a:t>
                      </a:r>
                      <a:endParaRPr kumimoji="0" lang="en-US" sz="1800" b="1" i="0" u="none" strike="noStrike" cap="none" normalizeH="0" baseline="0" dirty="0" smtClean="0">
                        <a:ln>
                          <a:noFill/>
                        </a:ln>
                        <a:solidFill>
                          <a:schemeClr val="tx1"/>
                        </a:solidFill>
                        <a:effectLst/>
                        <a:latin typeface="Arial" charset="0"/>
                        <a:cs typeface="Times New Roman" pitchFamily="18"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B3C8DF"/>
                    </a:solidFill>
                  </a:tcPr>
                </a:tc>
              </a:tr>
              <a:tr h="953562">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1800" b="1" i="0" u="none" strike="noStrike" cap="none" normalizeH="0" baseline="0" dirty="0" err="1" smtClean="0">
                          <a:ln>
                            <a:noFill/>
                          </a:ln>
                          <a:solidFill>
                            <a:srgbClr val="000000"/>
                          </a:solidFill>
                          <a:effectLst/>
                          <a:latin typeface="Arial" charset="0"/>
                        </a:rPr>
                        <a:t>Aucune</a:t>
                      </a:r>
                      <a:r>
                        <a:rPr kumimoji="0" lang="en-GB" sz="1800" b="1" i="0" u="none" strike="noStrike" cap="none" normalizeH="0" baseline="0" dirty="0" smtClean="0">
                          <a:ln>
                            <a:noFill/>
                          </a:ln>
                          <a:solidFill>
                            <a:srgbClr val="000000"/>
                          </a:solidFill>
                          <a:effectLst/>
                          <a:latin typeface="Arial" charset="0"/>
                        </a:rPr>
                        <a:t> </a:t>
                      </a:r>
                      <a:r>
                        <a:rPr kumimoji="0" lang="en-GB" sz="1800" b="1" i="0" u="none" strike="noStrike" cap="none" normalizeH="0" baseline="0" dirty="0" err="1" smtClean="0">
                          <a:ln>
                            <a:noFill/>
                          </a:ln>
                          <a:solidFill>
                            <a:srgbClr val="000000"/>
                          </a:solidFill>
                          <a:effectLst/>
                          <a:latin typeface="Arial" charset="0"/>
                        </a:rPr>
                        <a:t>stratégie</a:t>
                      </a:r>
                      <a:r>
                        <a:rPr kumimoji="0" lang="en-GB" sz="1800" b="1" i="0" u="none" strike="noStrike" cap="none" normalizeH="0" baseline="0" dirty="0" smtClean="0">
                          <a:ln>
                            <a:noFill/>
                          </a:ln>
                          <a:solidFill>
                            <a:srgbClr val="000000"/>
                          </a:solidFill>
                          <a:effectLst/>
                          <a:latin typeface="Arial" charset="0"/>
                        </a:rPr>
                        <a:t> </a:t>
                      </a:r>
                      <a:r>
                        <a:rPr kumimoji="0" lang="en-GB" sz="1800" b="1" i="0" u="none" strike="noStrike" cap="none" normalizeH="0" baseline="0" dirty="0" err="1" smtClean="0">
                          <a:ln>
                            <a:noFill/>
                          </a:ln>
                          <a:solidFill>
                            <a:srgbClr val="000000"/>
                          </a:solidFill>
                          <a:effectLst/>
                          <a:latin typeface="Arial" charset="0"/>
                        </a:rPr>
                        <a:t>attribuée</a:t>
                      </a:r>
                      <a:endParaRPr kumimoji="0" lang="en-US" sz="1800" b="1" i="0" u="none" strike="noStrike" cap="none" normalizeH="0" baseline="0" dirty="0" smtClean="0">
                        <a:ln>
                          <a:noFill/>
                        </a:ln>
                        <a:solidFill>
                          <a:schemeClr val="tx1"/>
                        </a:solidFill>
                        <a:effectLst/>
                        <a:latin typeface="Arial"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1800" b="0" i="0" u="none" strike="noStrike" cap="none" normalizeH="0" baseline="0" dirty="0" err="1" smtClean="0">
                          <a:ln>
                            <a:noFill/>
                          </a:ln>
                          <a:solidFill>
                            <a:srgbClr val="000000"/>
                          </a:solidFill>
                          <a:effectLst/>
                          <a:latin typeface="Arial" charset="0"/>
                        </a:rPr>
                        <a:t>Sécurité</a:t>
                      </a:r>
                      <a:r>
                        <a:rPr kumimoji="0" lang="en-GB" sz="1800" b="0" i="0" u="none" strike="noStrike" cap="none" normalizeH="0" baseline="0" dirty="0" smtClean="0">
                          <a:ln>
                            <a:noFill/>
                          </a:ln>
                          <a:solidFill>
                            <a:srgbClr val="000000"/>
                          </a:solidFill>
                          <a:effectLst/>
                          <a:latin typeface="Arial" charset="0"/>
                        </a:rPr>
                        <a:t> IPSec </a:t>
                      </a:r>
                      <a:r>
                        <a:rPr kumimoji="0" lang="en-GB" sz="1800" b="0" i="0" u="none" strike="noStrike" cap="none" normalizeH="0" baseline="0" dirty="0" err="1" smtClean="0">
                          <a:ln>
                            <a:noFill/>
                          </a:ln>
                          <a:solidFill>
                            <a:srgbClr val="000000"/>
                          </a:solidFill>
                          <a:effectLst/>
                          <a:latin typeface="Arial" charset="0"/>
                        </a:rPr>
                        <a:t>inexistante</a:t>
                      </a:r>
                      <a:endParaRPr kumimoji="0" lang="en-US" sz="1800" b="0" i="0" u="none" strike="noStrike" cap="none" normalizeH="0" baseline="0" dirty="0" smtClean="0">
                        <a:ln>
                          <a:noFill/>
                        </a:ln>
                        <a:solidFill>
                          <a:schemeClr val="tx1"/>
                        </a:solidFill>
                        <a:effectLst/>
                        <a:latin typeface="Arial"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F6D9D4"/>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1800" b="0" i="0" u="none" strike="noStrike" cap="none" normalizeH="0" baseline="0" smtClean="0">
                          <a:ln>
                            <a:noFill/>
                          </a:ln>
                          <a:solidFill>
                            <a:srgbClr val="000000"/>
                          </a:solidFill>
                          <a:effectLst/>
                          <a:latin typeface="Arial" charset="0"/>
                        </a:rPr>
                        <a:t>Sécurité IPSec inexistante</a:t>
                      </a:r>
                      <a:endParaRPr kumimoji="0" lang="en-US" sz="1800" b="0" i="0" u="none" strike="noStrike" cap="none" normalizeH="0" baseline="0" smtClean="0">
                        <a:ln>
                          <a:noFill/>
                        </a:ln>
                        <a:solidFill>
                          <a:schemeClr val="tx1"/>
                        </a:solidFill>
                        <a:effectLst/>
                        <a:latin typeface="Arial"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F6D9D4"/>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1800" b="0" i="0" u="none" strike="noStrike" cap="none" normalizeH="0" baseline="0" smtClean="0">
                          <a:ln>
                            <a:noFill/>
                          </a:ln>
                          <a:solidFill>
                            <a:srgbClr val="000000"/>
                          </a:solidFill>
                          <a:effectLst/>
                          <a:latin typeface="Arial" charset="0"/>
                        </a:rPr>
                        <a:t>Sécurité IPSec inexistante</a:t>
                      </a:r>
                      <a:endParaRPr kumimoji="0" lang="en-US" sz="1800" b="0" i="0" u="none" strike="noStrike" cap="none" normalizeH="0" baseline="0" smtClean="0">
                        <a:ln>
                          <a:noFill/>
                        </a:ln>
                        <a:solidFill>
                          <a:schemeClr val="tx1"/>
                        </a:solidFill>
                        <a:effectLst/>
                        <a:latin typeface="Arial"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F6D9D4"/>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1800" b="0" i="0" u="none" strike="noStrike" cap="none" normalizeH="0" baseline="0" dirty="0" smtClean="0">
                          <a:ln>
                            <a:noFill/>
                          </a:ln>
                          <a:solidFill>
                            <a:srgbClr val="000000"/>
                          </a:solidFill>
                          <a:effectLst/>
                          <a:latin typeface="Arial" charset="0"/>
                        </a:rPr>
                        <a:t>Communication </a:t>
                      </a:r>
                      <a:r>
                        <a:rPr kumimoji="0" lang="en-GB" sz="1800" b="0" i="0" u="none" strike="noStrike" cap="none" normalizeH="0" baseline="0" dirty="0" err="1" smtClean="0">
                          <a:ln>
                            <a:noFill/>
                          </a:ln>
                          <a:solidFill>
                            <a:srgbClr val="000000"/>
                          </a:solidFill>
                          <a:effectLst/>
                          <a:latin typeface="Arial" charset="0"/>
                        </a:rPr>
                        <a:t>inexistante</a:t>
                      </a:r>
                      <a:endParaRPr kumimoji="0" lang="en-US" sz="1800" b="0" i="0" u="none" strike="noStrike" cap="none" normalizeH="0" baseline="0" dirty="0" smtClean="0">
                        <a:ln>
                          <a:noFill/>
                        </a:ln>
                        <a:solidFill>
                          <a:schemeClr val="tx1"/>
                        </a:solidFill>
                        <a:effectLst/>
                        <a:latin typeface="Arial"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bg1"/>
                    </a:solidFill>
                  </a:tcPr>
                </a:tc>
              </a:tr>
              <a:tr h="953562">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1800" b="1" i="0" u="none" strike="noStrike" cap="none" normalizeH="0" baseline="0" dirty="0" smtClean="0">
                          <a:ln>
                            <a:noFill/>
                          </a:ln>
                          <a:solidFill>
                            <a:srgbClr val="000000"/>
                          </a:solidFill>
                          <a:effectLst/>
                          <a:latin typeface="Arial" charset="0"/>
                        </a:rPr>
                        <a:t>Client (en </a:t>
                      </a:r>
                      <a:r>
                        <a:rPr kumimoji="0" lang="en-GB" sz="1800" b="1" i="0" u="none" strike="noStrike" cap="none" normalizeH="0" baseline="0" dirty="0" err="1" smtClean="0">
                          <a:ln>
                            <a:noFill/>
                          </a:ln>
                          <a:solidFill>
                            <a:srgbClr val="000000"/>
                          </a:solidFill>
                          <a:effectLst/>
                          <a:latin typeface="Arial" charset="0"/>
                        </a:rPr>
                        <a:t>réponse</a:t>
                      </a:r>
                      <a:r>
                        <a:rPr kumimoji="0" lang="en-GB" sz="1800" b="1" i="0" u="none" strike="noStrike" cap="none" normalizeH="0" baseline="0" dirty="0" smtClean="0">
                          <a:ln>
                            <a:noFill/>
                          </a:ln>
                          <a:solidFill>
                            <a:srgbClr val="000000"/>
                          </a:solidFill>
                          <a:effectLst/>
                          <a:latin typeface="Arial" charset="0"/>
                        </a:rPr>
                        <a:t> </a:t>
                      </a:r>
                      <a:r>
                        <a:rPr kumimoji="0" lang="en-GB" sz="1800" b="1" i="0" u="none" strike="noStrike" cap="none" normalizeH="0" baseline="0" dirty="0" err="1" smtClean="0">
                          <a:ln>
                            <a:noFill/>
                          </a:ln>
                          <a:solidFill>
                            <a:srgbClr val="000000"/>
                          </a:solidFill>
                          <a:effectLst/>
                          <a:latin typeface="Arial" charset="0"/>
                        </a:rPr>
                        <a:t>seule</a:t>
                      </a:r>
                      <a:r>
                        <a:rPr kumimoji="0" lang="en-GB" sz="1800" b="1" i="0" u="none" strike="noStrike" cap="none" normalizeH="0" baseline="0" dirty="0" smtClean="0">
                          <a:ln>
                            <a:noFill/>
                          </a:ln>
                          <a:solidFill>
                            <a:srgbClr val="000000"/>
                          </a:solidFill>
                          <a:effectLst/>
                          <a:latin typeface="Arial" charset="0"/>
                        </a:rPr>
                        <a:t>)</a:t>
                      </a:r>
                      <a:endParaRPr kumimoji="0" lang="en-US" sz="1800" b="1" i="0" u="none" strike="noStrike" cap="none" normalizeH="0" baseline="0" dirty="0" smtClean="0">
                        <a:ln>
                          <a:noFill/>
                        </a:ln>
                        <a:solidFill>
                          <a:schemeClr val="tx1"/>
                        </a:solidFill>
                        <a:effectLst/>
                        <a:latin typeface="Arial"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1800" b="0" i="0" u="none" strike="noStrike" cap="none" normalizeH="0" baseline="0" dirty="0" err="1" smtClean="0">
                          <a:ln>
                            <a:noFill/>
                          </a:ln>
                          <a:solidFill>
                            <a:srgbClr val="000000"/>
                          </a:solidFill>
                          <a:effectLst/>
                          <a:latin typeface="Arial" charset="0"/>
                        </a:rPr>
                        <a:t>Sécurité</a:t>
                      </a:r>
                      <a:r>
                        <a:rPr kumimoji="0" lang="en-GB" sz="1800" b="0" i="0" u="none" strike="noStrike" cap="none" normalizeH="0" baseline="0" dirty="0" smtClean="0">
                          <a:ln>
                            <a:noFill/>
                          </a:ln>
                          <a:solidFill>
                            <a:srgbClr val="000000"/>
                          </a:solidFill>
                          <a:effectLst/>
                          <a:latin typeface="Arial" charset="0"/>
                        </a:rPr>
                        <a:t> IPSec </a:t>
                      </a:r>
                      <a:r>
                        <a:rPr kumimoji="0" lang="en-GB" sz="1800" b="0" i="0" u="none" strike="noStrike" cap="none" normalizeH="0" baseline="0" dirty="0" err="1" smtClean="0">
                          <a:ln>
                            <a:noFill/>
                          </a:ln>
                          <a:solidFill>
                            <a:srgbClr val="000000"/>
                          </a:solidFill>
                          <a:effectLst/>
                          <a:latin typeface="Arial" charset="0"/>
                        </a:rPr>
                        <a:t>inexistante</a:t>
                      </a:r>
                      <a:endParaRPr kumimoji="0" lang="en-US" sz="1800" b="0" i="0" u="none" strike="noStrike" cap="none" normalizeH="0" baseline="0" dirty="0" smtClean="0">
                        <a:ln>
                          <a:noFill/>
                        </a:ln>
                        <a:solidFill>
                          <a:schemeClr val="tx1"/>
                        </a:solidFill>
                        <a:effectLst/>
                        <a:latin typeface="Arial"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F6D9D4"/>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1800" b="0" i="0" u="none" strike="noStrike" cap="none" normalizeH="0" baseline="0" dirty="0" err="1" smtClean="0">
                          <a:ln>
                            <a:noFill/>
                          </a:ln>
                          <a:solidFill>
                            <a:srgbClr val="000000"/>
                          </a:solidFill>
                          <a:effectLst/>
                          <a:latin typeface="Arial" charset="0"/>
                        </a:rPr>
                        <a:t>Sécurité</a:t>
                      </a:r>
                      <a:r>
                        <a:rPr kumimoji="0" lang="en-GB" sz="1800" b="0" i="0" u="none" strike="noStrike" cap="none" normalizeH="0" baseline="0" dirty="0" smtClean="0">
                          <a:ln>
                            <a:noFill/>
                          </a:ln>
                          <a:solidFill>
                            <a:srgbClr val="000000"/>
                          </a:solidFill>
                          <a:effectLst/>
                          <a:latin typeface="Arial" charset="0"/>
                        </a:rPr>
                        <a:t> IPSec </a:t>
                      </a:r>
                      <a:r>
                        <a:rPr kumimoji="0" lang="en-GB" sz="1800" b="0" i="0" u="none" strike="noStrike" cap="none" normalizeH="0" baseline="0" dirty="0" err="1" smtClean="0">
                          <a:ln>
                            <a:noFill/>
                          </a:ln>
                          <a:solidFill>
                            <a:srgbClr val="000000"/>
                          </a:solidFill>
                          <a:effectLst/>
                          <a:latin typeface="Arial" charset="0"/>
                        </a:rPr>
                        <a:t>inexistante</a:t>
                      </a:r>
                      <a:endParaRPr kumimoji="0" lang="en-US" sz="1800" b="0" i="0" u="none" strike="noStrike" cap="none" normalizeH="0" baseline="0" dirty="0" smtClean="0">
                        <a:ln>
                          <a:noFill/>
                        </a:ln>
                        <a:solidFill>
                          <a:schemeClr val="tx1"/>
                        </a:solidFill>
                        <a:effectLst/>
                        <a:latin typeface="Arial"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F6D9D4"/>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1800" b="0" i="0" u="none" strike="noStrike" cap="none" normalizeH="0" baseline="0" dirty="0" err="1" smtClean="0">
                          <a:ln>
                            <a:noFill/>
                          </a:ln>
                          <a:solidFill>
                            <a:srgbClr val="000000"/>
                          </a:solidFill>
                          <a:effectLst/>
                          <a:latin typeface="Arial" charset="0"/>
                        </a:rPr>
                        <a:t>Sécurité</a:t>
                      </a:r>
                      <a:r>
                        <a:rPr kumimoji="0" lang="en-GB" sz="1800" b="0" i="0" u="none" strike="noStrike" cap="none" normalizeH="0" baseline="0" dirty="0" smtClean="0">
                          <a:ln>
                            <a:noFill/>
                          </a:ln>
                          <a:solidFill>
                            <a:srgbClr val="000000"/>
                          </a:solidFill>
                          <a:effectLst/>
                          <a:latin typeface="Arial" charset="0"/>
                        </a:rPr>
                        <a:t> IPSec</a:t>
                      </a:r>
                      <a:endParaRPr kumimoji="0" lang="en-US" sz="1800" b="0" i="0" u="none" strike="noStrike" cap="none" normalizeH="0" baseline="0" dirty="0" smtClean="0">
                        <a:ln>
                          <a:noFill/>
                        </a:ln>
                        <a:solidFill>
                          <a:schemeClr val="tx1"/>
                        </a:solidFill>
                        <a:effectLst/>
                        <a:latin typeface="Arial"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DAF4E9"/>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1800" b="0" i="0" u="none" strike="noStrike" cap="none" normalizeH="0" baseline="0" dirty="0" err="1" smtClean="0">
                          <a:ln>
                            <a:noFill/>
                          </a:ln>
                          <a:solidFill>
                            <a:srgbClr val="000000"/>
                          </a:solidFill>
                          <a:effectLst/>
                          <a:latin typeface="Arial" charset="0"/>
                        </a:rPr>
                        <a:t>Sécurité</a:t>
                      </a:r>
                      <a:r>
                        <a:rPr kumimoji="0" lang="en-GB" sz="1800" b="0" i="0" u="none" strike="noStrike" cap="none" normalizeH="0" baseline="0" dirty="0" smtClean="0">
                          <a:ln>
                            <a:noFill/>
                          </a:ln>
                          <a:solidFill>
                            <a:srgbClr val="000000"/>
                          </a:solidFill>
                          <a:effectLst/>
                          <a:latin typeface="Arial" charset="0"/>
                        </a:rPr>
                        <a:t> IPSec</a:t>
                      </a:r>
                      <a:endParaRPr kumimoji="0" lang="en-US" sz="1800" b="0" i="0" u="none" strike="noStrike" cap="none" normalizeH="0" baseline="0" dirty="0" smtClean="0">
                        <a:ln>
                          <a:noFill/>
                        </a:ln>
                        <a:solidFill>
                          <a:schemeClr val="tx1"/>
                        </a:solidFill>
                        <a:effectLst/>
                        <a:latin typeface="Arial"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DAF4E9"/>
                    </a:solidFill>
                  </a:tcPr>
                </a:tc>
              </a:tr>
              <a:tr h="726674">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1800" b="1" i="0" u="none" strike="noStrike" cap="none" normalizeH="0" baseline="0" dirty="0" err="1" smtClean="0">
                          <a:ln>
                            <a:noFill/>
                          </a:ln>
                          <a:solidFill>
                            <a:srgbClr val="000000"/>
                          </a:solidFill>
                          <a:effectLst/>
                          <a:latin typeface="Arial" charset="0"/>
                        </a:rPr>
                        <a:t>Serveur</a:t>
                      </a:r>
                      <a:r>
                        <a:rPr kumimoji="0" lang="en-GB" sz="1800" b="1" i="0" u="none" strike="noStrike" cap="none" normalizeH="0" baseline="0" dirty="0" smtClean="0">
                          <a:ln>
                            <a:noFill/>
                          </a:ln>
                          <a:solidFill>
                            <a:srgbClr val="000000"/>
                          </a:solidFill>
                          <a:effectLst/>
                          <a:latin typeface="Arial" charset="0"/>
                        </a:rPr>
                        <a:t> (</a:t>
                      </a:r>
                      <a:r>
                        <a:rPr kumimoji="0" lang="en-GB" sz="1800" b="1" i="0" u="none" strike="noStrike" cap="none" normalizeH="0" baseline="0" dirty="0" err="1" smtClean="0">
                          <a:ln>
                            <a:noFill/>
                          </a:ln>
                          <a:solidFill>
                            <a:srgbClr val="000000"/>
                          </a:solidFill>
                          <a:effectLst/>
                          <a:latin typeface="Arial" charset="0"/>
                        </a:rPr>
                        <a:t>demandez</a:t>
                      </a:r>
                      <a:r>
                        <a:rPr kumimoji="0" lang="en-GB" sz="1800" b="1" i="0" u="none" strike="noStrike" cap="none" normalizeH="0" baseline="0" dirty="0" smtClean="0">
                          <a:ln>
                            <a:noFill/>
                          </a:ln>
                          <a:solidFill>
                            <a:srgbClr val="000000"/>
                          </a:solidFill>
                          <a:effectLst/>
                          <a:latin typeface="Arial" charset="0"/>
                        </a:rPr>
                        <a:t> la </a:t>
                      </a:r>
                      <a:r>
                        <a:rPr kumimoji="0" lang="en-GB" sz="1800" b="1" i="0" u="none" strike="noStrike" cap="none" normalizeH="0" baseline="0" dirty="0" err="1" smtClean="0">
                          <a:ln>
                            <a:noFill/>
                          </a:ln>
                          <a:solidFill>
                            <a:srgbClr val="000000"/>
                          </a:solidFill>
                          <a:effectLst/>
                          <a:latin typeface="Arial" charset="0"/>
                        </a:rPr>
                        <a:t>sécurité</a:t>
                      </a:r>
                      <a:r>
                        <a:rPr kumimoji="0" lang="en-GB" sz="1800" b="1" i="0" u="none" strike="noStrike" cap="none" normalizeH="0" baseline="0" dirty="0" smtClean="0">
                          <a:ln>
                            <a:noFill/>
                          </a:ln>
                          <a:solidFill>
                            <a:srgbClr val="000000"/>
                          </a:solidFill>
                          <a:effectLst/>
                          <a:latin typeface="Arial" charset="0"/>
                        </a:rPr>
                        <a:t>)</a:t>
                      </a:r>
                      <a:endParaRPr kumimoji="0" lang="en-US" sz="1800" b="1" i="0" u="none" strike="noStrike" cap="none" normalizeH="0" baseline="0" dirty="0" smtClean="0">
                        <a:ln>
                          <a:noFill/>
                        </a:ln>
                        <a:solidFill>
                          <a:schemeClr val="tx1"/>
                        </a:solidFill>
                        <a:effectLst/>
                        <a:latin typeface="Arial"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1800" b="0" i="0" u="none" strike="noStrike" cap="none" normalizeH="0" baseline="0" smtClean="0">
                          <a:ln>
                            <a:noFill/>
                          </a:ln>
                          <a:solidFill>
                            <a:srgbClr val="000000"/>
                          </a:solidFill>
                          <a:effectLst/>
                          <a:latin typeface="Arial" charset="0"/>
                        </a:rPr>
                        <a:t>Sécurité IPSec inexistante</a:t>
                      </a:r>
                      <a:endParaRPr kumimoji="0" lang="en-US" sz="1800" b="0" i="0" u="none" strike="noStrike" cap="none" normalizeH="0" baseline="0" smtClean="0">
                        <a:ln>
                          <a:noFill/>
                        </a:ln>
                        <a:solidFill>
                          <a:schemeClr val="tx1"/>
                        </a:solidFill>
                        <a:effectLst/>
                        <a:latin typeface="Arial"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F6D9D4"/>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1800" b="0" i="0" u="none" strike="noStrike" cap="none" normalizeH="0" baseline="0" dirty="0" err="1" smtClean="0">
                          <a:ln>
                            <a:noFill/>
                          </a:ln>
                          <a:solidFill>
                            <a:srgbClr val="000000"/>
                          </a:solidFill>
                          <a:effectLst/>
                          <a:latin typeface="Arial" charset="0"/>
                        </a:rPr>
                        <a:t>Sécurité</a:t>
                      </a:r>
                      <a:r>
                        <a:rPr kumimoji="0" lang="en-GB" sz="1800" b="0" i="0" u="none" strike="noStrike" cap="none" normalizeH="0" baseline="0" dirty="0" smtClean="0">
                          <a:ln>
                            <a:noFill/>
                          </a:ln>
                          <a:solidFill>
                            <a:srgbClr val="000000"/>
                          </a:solidFill>
                          <a:effectLst/>
                          <a:latin typeface="Arial" charset="0"/>
                        </a:rPr>
                        <a:t> IPSec</a:t>
                      </a:r>
                      <a:endParaRPr kumimoji="0" lang="en-US" sz="1800" b="0" i="0" u="none" strike="noStrike" cap="none" normalizeH="0" baseline="0" dirty="0" smtClean="0">
                        <a:ln>
                          <a:noFill/>
                        </a:ln>
                        <a:solidFill>
                          <a:schemeClr val="tx1"/>
                        </a:solidFill>
                        <a:effectLst/>
                        <a:latin typeface="Arial"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DAF4E9"/>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1800" b="0" i="0" u="none" strike="noStrike" cap="none" normalizeH="0" baseline="0" smtClean="0">
                          <a:ln>
                            <a:noFill/>
                          </a:ln>
                          <a:solidFill>
                            <a:srgbClr val="000000"/>
                          </a:solidFill>
                          <a:effectLst/>
                          <a:latin typeface="Arial" charset="0"/>
                        </a:rPr>
                        <a:t>Sécurité IPSec</a:t>
                      </a:r>
                      <a:endParaRPr kumimoji="0" lang="en-US" sz="1800" b="0" i="0" u="none" strike="noStrike" cap="none" normalizeH="0" baseline="0" smtClean="0">
                        <a:ln>
                          <a:noFill/>
                        </a:ln>
                        <a:solidFill>
                          <a:schemeClr val="tx1"/>
                        </a:solidFill>
                        <a:effectLst/>
                        <a:latin typeface="Arial"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DAF4E9"/>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1800" b="0" i="0" u="none" strike="noStrike" cap="none" normalizeH="0" baseline="0" smtClean="0">
                          <a:ln>
                            <a:noFill/>
                          </a:ln>
                          <a:solidFill>
                            <a:srgbClr val="000000"/>
                          </a:solidFill>
                          <a:effectLst/>
                          <a:latin typeface="Arial" charset="0"/>
                        </a:rPr>
                        <a:t>Sécurité IPSec</a:t>
                      </a:r>
                      <a:endParaRPr kumimoji="0" lang="en-US" sz="1800" b="0" i="0" u="none" strike="noStrike" cap="none" normalizeH="0" baseline="0" smtClean="0">
                        <a:ln>
                          <a:noFill/>
                        </a:ln>
                        <a:solidFill>
                          <a:schemeClr val="tx1"/>
                        </a:solidFill>
                        <a:effectLst/>
                        <a:latin typeface="Arial"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DAF4E9"/>
                    </a:solidFill>
                  </a:tcPr>
                </a:tc>
              </a:tr>
              <a:tr h="953562">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1800" b="1" i="0" u="none" strike="noStrike" cap="none" normalizeH="0" baseline="0" dirty="0" err="1" smtClean="0">
                          <a:ln>
                            <a:noFill/>
                          </a:ln>
                          <a:solidFill>
                            <a:srgbClr val="000000"/>
                          </a:solidFill>
                          <a:effectLst/>
                          <a:latin typeface="Arial" charset="0"/>
                        </a:rPr>
                        <a:t>Sécuriser</a:t>
                      </a:r>
                      <a:r>
                        <a:rPr kumimoji="0" lang="en-GB" sz="1800" b="1" i="0" u="none" strike="noStrike" cap="none" normalizeH="0" baseline="0" dirty="0" smtClean="0">
                          <a:ln>
                            <a:noFill/>
                          </a:ln>
                          <a:solidFill>
                            <a:srgbClr val="000000"/>
                          </a:solidFill>
                          <a:effectLst/>
                          <a:latin typeface="Arial" charset="0"/>
                        </a:rPr>
                        <a:t> le </a:t>
                      </a:r>
                      <a:r>
                        <a:rPr kumimoji="0" lang="en-GB" sz="1800" b="1" i="0" u="none" strike="noStrike" cap="none" normalizeH="0" baseline="0" dirty="0" err="1" smtClean="0">
                          <a:ln>
                            <a:noFill/>
                          </a:ln>
                          <a:solidFill>
                            <a:srgbClr val="000000"/>
                          </a:solidFill>
                          <a:effectLst/>
                          <a:latin typeface="Arial" charset="0"/>
                        </a:rPr>
                        <a:t>serveur</a:t>
                      </a:r>
                      <a:r>
                        <a:rPr kumimoji="0" lang="en-GB" sz="1800" b="1" i="0" u="none" strike="noStrike" cap="none" normalizeH="0" baseline="0" dirty="0" smtClean="0">
                          <a:ln>
                            <a:noFill/>
                          </a:ln>
                          <a:solidFill>
                            <a:srgbClr val="000000"/>
                          </a:solidFill>
                          <a:effectLst/>
                          <a:latin typeface="Arial" charset="0"/>
                        </a:rPr>
                        <a:t>  (</a:t>
                      </a:r>
                      <a:r>
                        <a:rPr kumimoji="0" lang="en-GB" sz="1800" b="1" i="0" u="none" strike="noStrike" cap="none" normalizeH="0" baseline="0" dirty="0" err="1" smtClean="0">
                          <a:ln>
                            <a:noFill/>
                          </a:ln>
                          <a:solidFill>
                            <a:srgbClr val="000000"/>
                          </a:solidFill>
                          <a:effectLst/>
                          <a:latin typeface="Arial" charset="0"/>
                        </a:rPr>
                        <a:t>nécessite</a:t>
                      </a:r>
                      <a:r>
                        <a:rPr kumimoji="0" lang="en-GB" sz="1800" b="1" i="0" u="none" strike="noStrike" cap="none" normalizeH="0" baseline="0" dirty="0" smtClean="0">
                          <a:ln>
                            <a:noFill/>
                          </a:ln>
                          <a:solidFill>
                            <a:srgbClr val="000000"/>
                          </a:solidFill>
                          <a:effectLst/>
                          <a:latin typeface="Arial" charset="0"/>
                        </a:rPr>
                        <a:t> la </a:t>
                      </a:r>
                      <a:r>
                        <a:rPr kumimoji="0" lang="en-GB" sz="1800" b="1" i="0" u="none" strike="noStrike" cap="none" normalizeH="0" baseline="0" dirty="0" err="1" smtClean="0">
                          <a:ln>
                            <a:noFill/>
                          </a:ln>
                          <a:solidFill>
                            <a:srgbClr val="000000"/>
                          </a:solidFill>
                          <a:effectLst/>
                          <a:latin typeface="Arial" charset="0"/>
                        </a:rPr>
                        <a:t>sécurité</a:t>
                      </a:r>
                      <a:r>
                        <a:rPr kumimoji="0" lang="en-GB" sz="1800" b="1" i="0" u="none" strike="noStrike" cap="none" normalizeH="0" baseline="0" dirty="0" smtClean="0">
                          <a:ln>
                            <a:noFill/>
                          </a:ln>
                          <a:solidFill>
                            <a:srgbClr val="000000"/>
                          </a:solidFill>
                          <a:effectLst/>
                          <a:latin typeface="Arial" charset="0"/>
                        </a:rPr>
                        <a:t>)</a:t>
                      </a:r>
                      <a:endParaRPr kumimoji="0" lang="en-US" sz="1800" b="1" i="0" u="none" strike="noStrike" cap="none" normalizeH="0" baseline="0" dirty="0" smtClean="0">
                        <a:ln>
                          <a:noFill/>
                        </a:ln>
                        <a:solidFill>
                          <a:schemeClr val="tx1"/>
                        </a:solidFill>
                        <a:effectLst/>
                        <a:latin typeface="Arial"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1800" b="0" i="0" u="none" strike="noStrike" cap="none" normalizeH="0" baseline="0" dirty="0" smtClean="0">
                          <a:ln>
                            <a:noFill/>
                          </a:ln>
                          <a:solidFill>
                            <a:srgbClr val="000000"/>
                          </a:solidFill>
                          <a:effectLst/>
                          <a:latin typeface="Arial" charset="0"/>
                        </a:rPr>
                        <a:t>Communication </a:t>
                      </a:r>
                      <a:r>
                        <a:rPr kumimoji="0" lang="en-GB" sz="1800" b="0" i="0" u="none" strike="noStrike" cap="none" normalizeH="0" baseline="0" dirty="0" err="1" smtClean="0">
                          <a:ln>
                            <a:noFill/>
                          </a:ln>
                          <a:solidFill>
                            <a:srgbClr val="000000"/>
                          </a:solidFill>
                          <a:effectLst/>
                          <a:latin typeface="Arial" charset="0"/>
                        </a:rPr>
                        <a:t>inexistante</a:t>
                      </a:r>
                      <a:endParaRPr kumimoji="0" lang="en-US" sz="1800" b="0" i="0" u="none" strike="noStrike" cap="none" normalizeH="0" baseline="0" dirty="0" smtClean="0">
                        <a:ln>
                          <a:noFill/>
                        </a:ln>
                        <a:solidFill>
                          <a:schemeClr val="tx1"/>
                        </a:solidFill>
                        <a:effectLst/>
                        <a:latin typeface="Arial"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1800" b="0" i="0" u="none" strike="noStrike" cap="none" normalizeH="0" baseline="0" dirty="0" err="1" smtClean="0">
                          <a:ln>
                            <a:noFill/>
                          </a:ln>
                          <a:solidFill>
                            <a:srgbClr val="000000"/>
                          </a:solidFill>
                          <a:effectLst/>
                          <a:latin typeface="Arial" charset="0"/>
                        </a:rPr>
                        <a:t>Sécurité</a:t>
                      </a:r>
                      <a:r>
                        <a:rPr kumimoji="0" lang="en-GB" sz="1800" b="0" i="0" u="none" strike="noStrike" cap="none" normalizeH="0" baseline="0" dirty="0" smtClean="0">
                          <a:ln>
                            <a:noFill/>
                          </a:ln>
                          <a:solidFill>
                            <a:srgbClr val="000000"/>
                          </a:solidFill>
                          <a:effectLst/>
                          <a:latin typeface="Arial" charset="0"/>
                        </a:rPr>
                        <a:t> IPSec</a:t>
                      </a:r>
                      <a:endParaRPr kumimoji="0" lang="en-US" sz="1800" b="0" i="0" u="none" strike="noStrike" cap="none" normalizeH="0" baseline="0" dirty="0" smtClean="0">
                        <a:ln>
                          <a:noFill/>
                        </a:ln>
                        <a:solidFill>
                          <a:schemeClr val="tx1"/>
                        </a:solidFill>
                        <a:effectLst/>
                        <a:latin typeface="Arial"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DAF4E9"/>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1800" b="0" i="0" u="none" strike="noStrike" cap="none" normalizeH="0" baseline="0" dirty="0" err="1" smtClean="0">
                          <a:ln>
                            <a:noFill/>
                          </a:ln>
                          <a:solidFill>
                            <a:srgbClr val="000000"/>
                          </a:solidFill>
                          <a:effectLst/>
                          <a:latin typeface="Arial" charset="0"/>
                        </a:rPr>
                        <a:t>Sécurité</a:t>
                      </a:r>
                      <a:r>
                        <a:rPr kumimoji="0" lang="en-GB" sz="1800" b="0" i="0" u="none" strike="noStrike" cap="none" normalizeH="0" baseline="0" dirty="0" smtClean="0">
                          <a:ln>
                            <a:noFill/>
                          </a:ln>
                          <a:solidFill>
                            <a:srgbClr val="000000"/>
                          </a:solidFill>
                          <a:effectLst/>
                          <a:latin typeface="Arial" charset="0"/>
                        </a:rPr>
                        <a:t> IPSec</a:t>
                      </a:r>
                      <a:endParaRPr kumimoji="0" lang="en-US" sz="1800" b="0" i="0" u="none" strike="noStrike" cap="none" normalizeH="0" baseline="0" dirty="0" smtClean="0">
                        <a:ln>
                          <a:noFill/>
                        </a:ln>
                        <a:solidFill>
                          <a:schemeClr val="tx1"/>
                        </a:solidFill>
                        <a:effectLst/>
                        <a:latin typeface="Arial"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DAF4E9"/>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1800" b="0" i="0" u="none" strike="noStrike" cap="none" normalizeH="0" baseline="0" dirty="0" err="1" smtClean="0">
                          <a:ln>
                            <a:noFill/>
                          </a:ln>
                          <a:solidFill>
                            <a:srgbClr val="000000"/>
                          </a:solidFill>
                          <a:effectLst/>
                          <a:latin typeface="Arial" charset="0"/>
                        </a:rPr>
                        <a:t>Sécurité</a:t>
                      </a:r>
                      <a:r>
                        <a:rPr kumimoji="0" lang="en-GB" sz="1800" b="0" i="0" u="none" strike="noStrike" cap="none" normalizeH="0" baseline="0" dirty="0" smtClean="0">
                          <a:ln>
                            <a:noFill/>
                          </a:ln>
                          <a:solidFill>
                            <a:srgbClr val="000000"/>
                          </a:solidFill>
                          <a:effectLst/>
                          <a:latin typeface="Arial" charset="0"/>
                        </a:rPr>
                        <a:t> IPSec</a:t>
                      </a:r>
                      <a:endParaRPr kumimoji="0" lang="en-US" sz="1800" b="0" i="0" u="none" strike="noStrike" cap="none" normalizeH="0" baseline="0" dirty="0" smtClean="0">
                        <a:ln>
                          <a:noFill/>
                        </a:ln>
                        <a:solidFill>
                          <a:schemeClr val="tx1"/>
                        </a:solidFill>
                        <a:effectLst/>
                        <a:latin typeface="Arial"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DAF4E9"/>
                    </a:solidFill>
                  </a:tcPr>
                </a:tc>
              </a:tr>
            </a:tbl>
          </a:graphicData>
        </a:graphic>
      </p:graphicFrame>
      <p:sp>
        <p:nvSpPr>
          <p:cNvPr id="4" name="Rectangle 3"/>
          <p:cNvSpPr/>
          <p:nvPr/>
        </p:nvSpPr>
        <p:spPr>
          <a:xfrm>
            <a:off x="2554514" y="2452914"/>
            <a:ext cx="1785257" cy="95794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2561771" y="3425371"/>
            <a:ext cx="1785257" cy="9216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p:cNvSpPr/>
          <p:nvPr/>
        </p:nvSpPr>
        <p:spPr>
          <a:xfrm>
            <a:off x="2539999" y="4368800"/>
            <a:ext cx="1785257" cy="75474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2547257" y="5101771"/>
            <a:ext cx="1785257" cy="95794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p:cNvSpPr/>
          <p:nvPr/>
        </p:nvSpPr>
        <p:spPr>
          <a:xfrm>
            <a:off x="4361542" y="2445657"/>
            <a:ext cx="1299029" cy="95794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nvSpPr>
        <p:spPr>
          <a:xfrm>
            <a:off x="4354286" y="3410857"/>
            <a:ext cx="1306285" cy="95794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Rectangle 9"/>
          <p:cNvSpPr/>
          <p:nvPr/>
        </p:nvSpPr>
        <p:spPr>
          <a:xfrm>
            <a:off x="4347028" y="4368800"/>
            <a:ext cx="1299029" cy="7184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10"/>
          <p:cNvSpPr/>
          <p:nvPr/>
        </p:nvSpPr>
        <p:spPr>
          <a:xfrm>
            <a:off x="4339771" y="5094514"/>
            <a:ext cx="1335315" cy="95794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11"/>
          <p:cNvSpPr/>
          <p:nvPr/>
        </p:nvSpPr>
        <p:spPr>
          <a:xfrm>
            <a:off x="5675085" y="2467429"/>
            <a:ext cx="1509486" cy="95794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Rectangle 12"/>
          <p:cNvSpPr/>
          <p:nvPr/>
        </p:nvSpPr>
        <p:spPr>
          <a:xfrm>
            <a:off x="5682342" y="3418114"/>
            <a:ext cx="1502229" cy="95794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p:cNvSpPr/>
          <p:nvPr/>
        </p:nvSpPr>
        <p:spPr>
          <a:xfrm>
            <a:off x="5646056" y="4368800"/>
            <a:ext cx="1553030" cy="711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p:cNvSpPr/>
          <p:nvPr/>
        </p:nvSpPr>
        <p:spPr>
          <a:xfrm>
            <a:off x="5696856" y="5087257"/>
            <a:ext cx="1487715" cy="95794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15"/>
          <p:cNvSpPr/>
          <p:nvPr/>
        </p:nvSpPr>
        <p:spPr>
          <a:xfrm>
            <a:off x="7184571" y="2452914"/>
            <a:ext cx="1785258" cy="95794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Rectangle 16"/>
          <p:cNvSpPr/>
          <p:nvPr/>
        </p:nvSpPr>
        <p:spPr>
          <a:xfrm>
            <a:off x="7206342" y="3425371"/>
            <a:ext cx="1763487" cy="9216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Rectangle 17"/>
          <p:cNvSpPr/>
          <p:nvPr/>
        </p:nvSpPr>
        <p:spPr>
          <a:xfrm>
            <a:off x="7213599" y="4354286"/>
            <a:ext cx="1756230" cy="7257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Rectangle 18"/>
          <p:cNvSpPr/>
          <p:nvPr/>
        </p:nvSpPr>
        <p:spPr>
          <a:xfrm>
            <a:off x="7220856" y="5087257"/>
            <a:ext cx="1734458" cy="95794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xit" presetSubtype="10" fill="hold" grpId="0" nodeType="clickEffect">
                                  <p:stCondLst>
                                    <p:cond delay="0"/>
                                  </p:stCondLst>
                                  <p:childTnLst>
                                    <p:animEffect transition="out" filter="checkerboard(across)">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5" presetClass="exit" presetSubtype="10" fill="hold" grpId="0" nodeType="clickEffect">
                                  <p:stCondLst>
                                    <p:cond delay="0"/>
                                  </p:stCondLst>
                                  <p:childTnLst>
                                    <p:animEffect transition="out" filter="checkerboard(across)">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5" presetClass="exit" presetSubtype="10" fill="hold" grpId="0" nodeType="clickEffect">
                                  <p:stCondLst>
                                    <p:cond delay="0"/>
                                  </p:stCondLst>
                                  <p:childTnLst>
                                    <p:animEffect transition="out" filter="checkerboard(across)">
                                      <p:cBhvr>
                                        <p:cTn id="16" dur="500"/>
                                        <p:tgtEl>
                                          <p:spTgt spid="6"/>
                                        </p:tgtEl>
                                      </p:cBhvr>
                                    </p:animEffect>
                                    <p:set>
                                      <p:cBhvr>
                                        <p:cTn id="17" dur="1" fill="hold">
                                          <p:stCondLst>
                                            <p:cond delay="499"/>
                                          </p:stCondLst>
                                        </p:cTn>
                                        <p:tgtEl>
                                          <p:spTgt spid="6"/>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5" presetClass="exit" presetSubtype="10" fill="hold" grpId="0" nodeType="clickEffect">
                                  <p:stCondLst>
                                    <p:cond delay="0"/>
                                  </p:stCondLst>
                                  <p:childTnLst>
                                    <p:animEffect transition="out" filter="checkerboard(across)">
                                      <p:cBhvr>
                                        <p:cTn id="21" dur="500"/>
                                        <p:tgtEl>
                                          <p:spTgt spid="7"/>
                                        </p:tgtEl>
                                      </p:cBhvr>
                                    </p:animEffect>
                                    <p:set>
                                      <p:cBhvr>
                                        <p:cTn id="22" dur="1" fill="hold">
                                          <p:stCondLst>
                                            <p:cond delay="499"/>
                                          </p:stCondLst>
                                        </p:cTn>
                                        <p:tgtEl>
                                          <p:spTgt spid="7"/>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5" presetClass="exit" presetSubtype="10" fill="hold" grpId="0" nodeType="clickEffect">
                                  <p:stCondLst>
                                    <p:cond delay="0"/>
                                  </p:stCondLst>
                                  <p:childTnLst>
                                    <p:animEffect transition="out" filter="checkerboard(across)">
                                      <p:cBhvr>
                                        <p:cTn id="26" dur="500"/>
                                        <p:tgtEl>
                                          <p:spTgt spid="8"/>
                                        </p:tgtEl>
                                      </p:cBhvr>
                                    </p:animEffect>
                                    <p:set>
                                      <p:cBhvr>
                                        <p:cTn id="27" dur="1" fill="hold">
                                          <p:stCondLst>
                                            <p:cond delay="499"/>
                                          </p:stCondLst>
                                        </p:cTn>
                                        <p:tgtEl>
                                          <p:spTgt spid="8"/>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5" presetClass="exit" presetSubtype="10" fill="hold" grpId="0" nodeType="clickEffect">
                                  <p:stCondLst>
                                    <p:cond delay="0"/>
                                  </p:stCondLst>
                                  <p:childTnLst>
                                    <p:animEffect transition="out" filter="checkerboard(across)">
                                      <p:cBhvr>
                                        <p:cTn id="31" dur="500"/>
                                        <p:tgtEl>
                                          <p:spTgt spid="9"/>
                                        </p:tgtEl>
                                      </p:cBhvr>
                                    </p:animEffect>
                                    <p:set>
                                      <p:cBhvr>
                                        <p:cTn id="32" dur="1" fill="hold">
                                          <p:stCondLst>
                                            <p:cond delay="499"/>
                                          </p:stCondLst>
                                        </p:cTn>
                                        <p:tgtEl>
                                          <p:spTgt spid="9"/>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5" presetClass="exit" presetSubtype="10" fill="hold" grpId="0" nodeType="clickEffect">
                                  <p:stCondLst>
                                    <p:cond delay="0"/>
                                  </p:stCondLst>
                                  <p:childTnLst>
                                    <p:animEffect transition="out" filter="checkerboard(across)">
                                      <p:cBhvr>
                                        <p:cTn id="36" dur="500"/>
                                        <p:tgtEl>
                                          <p:spTgt spid="10"/>
                                        </p:tgtEl>
                                      </p:cBhvr>
                                    </p:animEffect>
                                    <p:set>
                                      <p:cBhvr>
                                        <p:cTn id="37" dur="1" fill="hold">
                                          <p:stCondLst>
                                            <p:cond delay="499"/>
                                          </p:stCondLst>
                                        </p:cTn>
                                        <p:tgtEl>
                                          <p:spTgt spid="10"/>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5" presetClass="exit" presetSubtype="10" fill="hold" grpId="0" nodeType="clickEffect">
                                  <p:stCondLst>
                                    <p:cond delay="0"/>
                                  </p:stCondLst>
                                  <p:childTnLst>
                                    <p:animEffect transition="out" filter="checkerboard(across)">
                                      <p:cBhvr>
                                        <p:cTn id="41" dur="500"/>
                                        <p:tgtEl>
                                          <p:spTgt spid="11"/>
                                        </p:tgtEl>
                                      </p:cBhvr>
                                    </p:animEffect>
                                    <p:set>
                                      <p:cBhvr>
                                        <p:cTn id="42" dur="1" fill="hold">
                                          <p:stCondLst>
                                            <p:cond delay="499"/>
                                          </p:stCondLst>
                                        </p:cTn>
                                        <p:tgtEl>
                                          <p:spTgt spid="11"/>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5" presetClass="exit" presetSubtype="10" fill="hold" grpId="0" nodeType="clickEffect">
                                  <p:stCondLst>
                                    <p:cond delay="0"/>
                                  </p:stCondLst>
                                  <p:childTnLst>
                                    <p:animEffect transition="out" filter="checkerboard(across)">
                                      <p:cBhvr>
                                        <p:cTn id="46" dur="500"/>
                                        <p:tgtEl>
                                          <p:spTgt spid="12"/>
                                        </p:tgtEl>
                                      </p:cBhvr>
                                    </p:animEffect>
                                    <p:set>
                                      <p:cBhvr>
                                        <p:cTn id="47" dur="1" fill="hold">
                                          <p:stCondLst>
                                            <p:cond delay="499"/>
                                          </p:stCondLst>
                                        </p:cTn>
                                        <p:tgtEl>
                                          <p:spTgt spid="12"/>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5" presetClass="exit" presetSubtype="10" fill="hold" grpId="0" nodeType="clickEffect">
                                  <p:stCondLst>
                                    <p:cond delay="0"/>
                                  </p:stCondLst>
                                  <p:childTnLst>
                                    <p:animEffect transition="out" filter="checkerboard(across)">
                                      <p:cBhvr>
                                        <p:cTn id="51" dur="500"/>
                                        <p:tgtEl>
                                          <p:spTgt spid="13"/>
                                        </p:tgtEl>
                                      </p:cBhvr>
                                    </p:animEffect>
                                    <p:set>
                                      <p:cBhvr>
                                        <p:cTn id="52" dur="1" fill="hold">
                                          <p:stCondLst>
                                            <p:cond delay="499"/>
                                          </p:stCondLst>
                                        </p:cTn>
                                        <p:tgtEl>
                                          <p:spTgt spid="13"/>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5" presetClass="exit" presetSubtype="10" fill="hold" grpId="0" nodeType="clickEffect">
                                  <p:stCondLst>
                                    <p:cond delay="0"/>
                                  </p:stCondLst>
                                  <p:childTnLst>
                                    <p:animEffect transition="out" filter="checkerboard(across)">
                                      <p:cBhvr>
                                        <p:cTn id="56" dur="500"/>
                                        <p:tgtEl>
                                          <p:spTgt spid="14"/>
                                        </p:tgtEl>
                                      </p:cBhvr>
                                    </p:animEffect>
                                    <p:set>
                                      <p:cBhvr>
                                        <p:cTn id="57" dur="1" fill="hold">
                                          <p:stCondLst>
                                            <p:cond delay="499"/>
                                          </p:stCondLst>
                                        </p:cTn>
                                        <p:tgtEl>
                                          <p:spTgt spid="14"/>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5" presetClass="exit" presetSubtype="10" fill="hold" grpId="0" nodeType="clickEffect">
                                  <p:stCondLst>
                                    <p:cond delay="0"/>
                                  </p:stCondLst>
                                  <p:childTnLst>
                                    <p:animEffect transition="out" filter="checkerboard(across)">
                                      <p:cBhvr>
                                        <p:cTn id="61" dur="500"/>
                                        <p:tgtEl>
                                          <p:spTgt spid="15"/>
                                        </p:tgtEl>
                                      </p:cBhvr>
                                    </p:animEffect>
                                    <p:set>
                                      <p:cBhvr>
                                        <p:cTn id="62" dur="1" fill="hold">
                                          <p:stCondLst>
                                            <p:cond delay="499"/>
                                          </p:stCondLst>
                                        </p:cTn>
                                        <p:tgtEl>
                                          <p:spTgt spid="15"/>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5" presetClass="exit" presetSubtype="10" fill="hold" grpId="0" nodeType="clickEffect">
                                  <p:stCondLst>
                                    <p:cond delay="0"/>
                                  </p:stCondLst>
                                  <p:childTnLst>
                                    <p:animEffect transition="out" filter="checkerboard(across)">
                                      <p:cBhvr>
                                        <p:cTn id="66" dur="500"/>
                                        <p:tgtEl>
                                          <p:spTgt spid="16"/>
                                        </p:tgtEl>
                                      </p:cBhvr>
                                    </p:animEffect>
                                    <p:set>
                                      <p:cBhvr>
                                        <p:cTn id="67" dur="1" fill="hold">
                                          <p:stCondLst>
                                            <p:cond delay="499"/>
                                          </p:stCondLst>
                                        </p:cTn>
                                        <p:tgtEl>
                                          <p:spTgt spid="16"/>
                                        </p:tgtEl>
                                        <p:attrNameLst>
                                          <p:attrName>style.visibility</p:attrName>
                                        </p:attrNameLst>
                                      </p:cBhvr>
                                      <p:to>
                                        <p:strVal val="hidden"/>
                                      </p:to>
                                    </p:set>
                                  </p:childTnLst>
                                </p:cTn>
                              </p:par>
                            </p:childTnLst>
                          </p:cTn>
                        </p:par>
                      </p:childTnLst>
                    </p:cTn>
                  </p:par>
                  <p:par>
                    <p:cTn id="68" fill="hold">
                      <p:stCondLst>
                        <p:cond delay="indefinite"/>
                      </p:stCondLst>
                      <p:childTnLst>
                        <p:par>
                          <p:cTn id="69" fill="hold">
                            <p:stCondLst>
                              <p:cond delay="0"/>
                            </p:stCondLst>
                            <p:childTnLst>
                              <p:par>
                                <p:cTn id="70" presetID="5" presetClass="exit" presetSubtype="10" fill="hold" grpId="0" nodeType="clickEffect">
                                  <p:stCondLst>
                                    <p:cond delay="0"/>
                                  </p:stCondLst>
                                  <p:childTnLst>
                                    <p:animEffect transition="out" filter="checkerboard(across)">
                                      <p:cBhvr>
                                        <p:cTn id="71" dur="500"/>
                                        <p:tgtEl>
                                          <p:spTgt spid="17"/>
                                        </p:tgtEl>
                                      </p:cBhvr>
                                    </p:animEffect>
                                    <p:set>
                                      <p:cBhvr>
                                        <p:cTn id="72" dur="1" fill="hold">
                                          <p:stCondLst>
                                            <p:cond delay="499"/>
                                          </p:stCondLst>
                                        </p:cTn>
                                        <p:tgtEl>
                                          <p:spTgt spid="17"/>
                                        </p:tgtEl>
                                        <p:attrNameLst>
                                          <p:attrName>style.visibility</p:attrName>
                                        </p:attrNameLst>
                                      </p:cBhvr>
                                      <p:to>
                                        <p:strVal val="hidden"/>
                                      </p:to>
                                    </p:set>
                                  </p:childTnLst>
                                </p:cTn>
                              </p:par>
                            </p:childTnLst>
                          </p:cTn>
                        </p:par>
                      </p:childTnLst>
                    </p:cTn>
                  </p:par>
                  <p:par>
                    <p:cTn id="73" fill="hold">
                      <p:stCondLst>
                        <p:cond delay="indefinite"/>
                      </p:stCondLst>
                      <p:childTnLst>
                        <p:par>
                          <p:cTn id="74" fill="hold">
                            <p:stCondLst>
                              <p:cond delay="0"/>
                            </p:stCondLst>
                            <p:childTnLst>
                              <p:par>
                                <p:cTn id="75" presetID="5" presetClass="exit" presetSubtype="10" fill="hold" grpId="0" nodeType="clickEffect">
                                  <p:stCondLst>
                                    <p:cond delay="0"/>
                                  </p:stCondLst>
                                  <p:childTnLst>
                                    <p:animEffect transition="out" filter="checkerboard(across)">
                                      <p:cBhvr>
                                        <p:cTn id="76" dur="500"/>
                                        <p:tgtEl>
                                          <p:spTgt spid="18"/>
                                        </p:tgtEl>
                                      </p:cBhvr>
                                    </p:animEffect>
                                    <p:set>
                                      <p:cBhvr>
                                        <p:cTn id="77" dur="1" fill="hold">
                                          <p:stCondLst>
                                            <p:cond delay="499"/>
                                          </p:stCondLst>
                                        </p:cTn>
                                        <p:tgtEl>
                                          <p:spTgt spid="18"/>
                                        </p:tgtEl>
                                        <p:attrNameLst>
                                          <p:attrName>style.visibility</p:attrName>
                                        </p:attrNameLst>
                                      </p:cBhvr>
                                      <p:to>
                                        <p:strVal val="hidden"/>
                                      </p:to>
                                    </p:set>
                                  </p:childTnLst>
                                </p:cTn>
                              </p:par>
                            </p:childTnLst>
                          </p:cTn>
                        </p:par>
                      </p:childTnLst>
                    </p:cTn>
                  </p:par>
                  <p:par>
                    <p:cTn id="78" fill="hold">
                      <p:stCondLst>
                        <p:cond delay="indefinite"/>
                      </p:stCondLst>
                      <p:childTnLst>
                        <p:par>
                          <p:cTn id="79" fill="hold">
                            <p:stCondLst>
                              <p:cond delay="0"/>
                            </p:stCondLst>
                            <p:childTnLst>
                              <p:par>
                                <p:cTn id="80" presetID="5" presetClass="exit" presetSubtype="10" fill="hold" grpId="0" nodeType="clickEffect">
                                  <p:stCondLst>
                                    <p:cond delay="0"/>
                                  </p:stCondLst>
                                  <p:childTnLst>
                                    <p:animEffect transition="out" filter="checkerboard(across)">
                                      <p:cBhvr>
                                        <p:cTn id="81" dur="500"/>
                                        <p:tgtEl>
                                          <p:spTgt spid="19"/>
                                        </p:tgtEl>
                                      </p:cBhvr>
                                    </p:animEffect>
                                    <p:set>
                                      <p:cBhvr>
                                        <p:cTn id="82" dur="1" fill="hold">
                                          <p:stCondLst>
                                            <p:cond delay="499"/>
                                          </p:stCondLst>
                                        </p:cTn>
                                        <p:tgtEl>
                                          <p:spTgt spid="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Rectangle 2"/>
          <p:cNvSpPr>
            <a:spLocks noGrp="1" noChangeArrowheads="1"/>
          </p:cNvSpPr>
          <p:nvPr>
            <p:ph type="title"/>
            <p:custDataLst>
              <p:tags r:id="rId1"/>
            </p:custDataLst>
          </p:nvPr>
        </p:nvSpPr>
        <p:spPr>
          <a:xfrm>
            <a:off x="200024" y="222931"/>
            <a:ext cx="8740775" cy="923698"/>
          </a:xfrm>
        </p:spPr>
        <p:txBody>
          <a:bodyPr>
            <a:noAutofit/>
          </a:bodyPr>
          <a:lstStyle/>
          <a:p>
            <a:pPr marL="460375" indent="-460375"/>
            <a:r>
              <a:rPr lang="en-GB" sz="2800" b="1" dirty="0">
                <a:solidFill>
                  <a:srgbClr val="000000"/>
                </a:solidFill>
              </a:rPr>
              <a:t>Instructions pour </a:t>
            </a:r>
            <a:r>
              <a:rPr lang="en-GB" sz="2800" b="1" dirty="0" err="1">
                <a:solidFill>
                  <a:srgbClr val="000000"/>
                </a:solidFill>
              </a:rPr>
              <a:t>équilibrer</a:t>
            </a:r>
            <a:r>
              <a:rPr lang="en-GB" sz="2800" b="1" dirty="0">
                <a:solidFill>
                  <a:srgbClr val="000000"/>
                </a:solidFill>
              </a:rPr>
              <a:t> la </a:t>
            </a:r>
            <a:r>
              <a:rPr lang="en-GB" sz="2800" b="1" dirty="0" err="1">
                <a:solidFill>
                  <a:srgbClr val="000000"/>
                </a:solidFill>
              </a:rPr>
              <a:t>sécurité</a:t>
            </a:r>
            <a:r>
              <a:rPr lang="en-GB" sz="2800" b="1" dirty="0">
                <a:solidFill>
                  <a:srgbClr val="000000"/>
                </a:solidFill>
              </a:rPr>
              <a:t> et les performances</a:t>
            </a:r>
            <a:endParaRPr lang="en-US" sz="2800" b="1" dirty="0"/>
          </a:p>
        </p:txBody>
      </p:sp>
      <p:sp>
        <p:nvSpPr>
          <p:cNvPr id="262149" name="AutoShape 5"/>
          <p:cNvSpPr>
            <a:spLocks noChangeArrowheads="1"/>
          </p:cNvSpPr>
          <p:nvPr>
            <p:custDataLst>
              <p:tags r:id="rId2"/>
            </p:custDataLst>
          </p:nvPr>
        </p:nvSpPr>
        <p:spPr bwMode="auto">
          <a:xfrm>
            <a:off x="383720" y="2659743"/>
            <a:ext cx="8440965" cy="3048000"/>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tIns="91440"/>
          <a:lstStyle/>
          <a:p>
            <a:pPr marL="225425" indent="-225425" algn="l">
              <a:lnSpc>
                <a:spcPct val="90000"/>
              </a:lnSpc>
              <a:spcBef>
                <a:spcPct val="55000"/>
              </a:spcBef>
              <a:buSzPct val="80000"/>
              <a:buFontTx/>
              <a:buBlip>
                <a:blip r:embed="rId5"/>
              </a:buBlip>
            </a:pPr>
            <a:r>
              <a:rPr lang="en-GB" sz="2400">
                <a:solidFill>
                  <a:srgbClr val="000000"/>
                </a:solidFill>
              </a:rPr>
              <a:t>Évaluer le risque et déterminer le niveau de sécurité approprié</a:t>
            </a:r>
            <a:endParaRPr lang="en-US" sz="2400"/>
          </a:p>
          <a:p>
            <a:pPr marL="225425" indent="-225425" algn="l">
              <a:lnSpc>
                <a:spcPct val="90000"/>
              </a:lnSpc>
              <a:spcBef>
                <a:spcPct val="55000"/>
              </a:spcBef>
              <a:buSzPct val="80000"/>
              <a:buFontTx/>
              <a:buBlip>
                <a:blip r:embed="rId5"/>
              </a:buBlip>
            </a:pPr>
            <a:r>
              <a:rPr lang="en-GB" sz="2400">
                <a:solidFill>
                  <a:srgbClr val="000000"/>
                </a:solidFill>
              </a:rPr>
              <a:t>Identifier les informations importantes</a:t>
            </a:r>
            <a:endParaRPr lang="en-US" sz="2400"/>
          </a:p>
          <a:p>
            <a:pPr marL="225425" indent="-225425" algn="l">
              <a:lnSpc>
                <a:spcPct val="90000"/>
              </a:lnSpc>
              <a:spcBef>
                <a:spcPct val="55000"/>
              </a:spcBef>
              <a:buSzPct val="80000"/>
              <a:buFontTx/>
              <a:buBlip>
                <a:blip r:embed="rId5"/>
              </a:buBlip>
            </a:pPr>
            <a:r>
              <a:rPr lang="en-GB" sz="2400">
                <a:solidFill>
                  <a:srgbClr val="000000"/>
                </a:solidFill>
              </a:rPr>
              <a:t>Déterminer l'implémentation optimale des stratégies</a:t>
            </a:r>
            <a:endParaRPr lang="en-US" sz="2400"/>
          </a:p>
          <a:p>
            <a:pPr marL="225425" indent="-225425" algn="l">
              <a:lnSpc>
                <a:spcPct val="90000"/>
              </a:lnSpc>
              <a:spcBef>
                <a:spcPct val="55000"/>
              </a:spcBef>
              <a:buSzPct val="80000"/>
              <a:buFontTx/>
              <a:buBlip>
                <a:blip r:embed="rId5"/>
              </a:buBlip>
            </a:pPr>
            <a:r>
              <a:rPr lang="en-GB" sz="2400">
                <a:solidFill>
                  <a:srgbClr val="000000"/>
                </a:solidFill>
              </a:rPr>
              <a:t>Vérifier que les exigences en termes de gestion et de technologies sont satisfaites</a:t>
            </a:r>
            <a:endParaRPr lang="en-US" sz="2400"/>
          </a:p>
          <a:p>
            <a:pPr marL="225425" indent="-225425" algn="l">
              <a:lnSpc>
                <a:spcPct val="90000"/>
              </a:lnSpc>
              <a:spcBef>
                <a:spcPct val="55000"/>
              </a:spcBef>
              <a:buSzPct val="80000"/>
              <a:buFontTx/>
              <a:buBlip>
                <a:blip r:embed="rId5"/>
              </a:buBlip>
            </a:pPr>
            <a:r>
              <a:rPr lang="en-GB" sz="2400">
                <a:solidFill>
                  <a:srgbClr val="000000"/>
                </a:solidFill>
              </a:rPr>
              <a:t>Fournir aux utilisateurs un accès à la fois sécurisé et efficace</a:t>
            </a:r>
            <a:endParaRPr lang="en-US" sz="2400">
              <a:solidFill>
                <a:srgbClr val="000000"/>
              </a:solidFill>
            </a:endParaRPr>
          </a:p>
        </p:txBody>
      </p:sp>
      <p:sp>
        <p:nvSpPr>
          <p:cNvPr id="5" name="Rectangle 4"/>
          <p:cNvSpPr/>
          <p:nvPr/>
        </p:nvSpPr>
        <p:spPr>
          <a:xfrm>
            <a:off x="239486" y="1501392"/>
            <a:ext cx="8686800" cy="892552"/>
          </a:xfrm>
          <a:prstGeom prst="rect">
            <a:avLst/>
          </a:prstGeom>
        </p:spPr>
        <p:txBody>
          <a:bodyPr wrap="square">
            <a:spAutoFit/>
          </a:bodyPr>
          <a:lstStyle/>
          <a:p>
            <a:pPr algn="l"/>
            <a:r>
              <a:rPr lang="en-GB" sz="2600" b="0" dirty="0" smtClean="0">
                <a:solidFill>
                  <a:srgbClr val="000000"/>
                </a:solidFill>
              </a:rPr>
              <a:t>Pour </a:t>
            </a:r>
            <a:r>
              <a:rPr lang="en-GB" sz="2600" b="0" dirty="0" err="1" smtClean="0">
                <a:solidFill>
                  <a:srgbClr val="000000"/>
                </a:solidFill>
              </a:rPr>
              <a:t>équilibrer</a:t>
            </a:r>
            <a:r>
              <a:rPr lang="en-GB" sz="2600" b="0" dirty="0" smtClean="0">
                <a:solidFill>
                  <a:srgbClr val="000000"/>
                </a:solidFill>
              </a:rPr>
              <a:t> les </a:t>
            </a:r>
            <a:r>
              <a:rPr lang="en-GB" sz="2600" b="0" dirty="0" err="1" smtClean="0">
                <a:solidFill>
                  <a:srgbClr val="000000"/>
                </a:solidFill>
              </a:rPr>
              <a:t>niveaux</a:t>
            </a:r>
            <a:r>
              <a:rPr lang="en-GB" sz="2600" b="0" dirty="0" smtClean="0">
                <a:solidFill>
                  <a:srgbClr val="000000"/>
                </a:solidFill>
              </a:rPr>
              <a:t> de </a:t>
            </a:r>
            <a:r>
              <a:rPr lang="en-GB" sz="2600" b="0" dirty="0" err="1" smtClean="0">
                <a:solidFill>
                  <a:srgbClr val="000000"/>
                </a:solidFill>
              </a:rPr>
              <a:t>sécurité</a:t>
            </a:r>
            <a:r>
              <a:rPr lang="en-GB" sz="2600" b="0" dirty="0" smtClean="0">
                <a:solidFill>
                  <a:srgbClr val="000000"/>
                </a:solidFill>
              </a:rPr>
              <a:t> minimal, normal et </a:t>
            </a:r>
            <a:r>
              <a:rPr lang="en-GB" sz="2600" b="0" dirty="0" err="1" smtClean="0">
                <a:solidFill>
                  <a:srgbClr val="000000"/>
                </a:solidFill>
              </a:rPr>
              <a:t>élevé</a:t>
            </a:r>
            <a:r>
              <a:rPr lang="en-GB" sz="2600" b="0" dirty="0" smtClean="0">
                <a:solidFill>
                  <a:srgbClr val="000000"/>
                </a:solidFill>
              </a:rPr>
              <a:t>, </a:t>
            </a:r>
            <a:r>
              <a:rPr lang="en-GB" sz="2600" b="0" dirty="0" err="1" smtClean="0">
                <a:solidFill>
                  <a:srgbClr val="000000"/>
                </a:solidFill>
              </a:rPr>
              <a:t>vous</a:t>
            </a:r>
            <a:r>
              <a:rPr lang="en-GB" sz="2600" b="0" dirty="0" smtClean="0">
                <a:solidFill>
                  <a:srgbClr val="000000"/>
                </a:solidFill>
              </a:rPr>
              <a:t> </a:t>
            </a:r>
            <a:r>
              <a:rPr lang="en-GB" sz="2600" b="0" dirty="0" err="1" smtClean="0">
                <a:solidFill>
                  <a:srgbClr val="000000"/>
                </a:solidFill>
              </a:rPr>
              <a:t>devez</a:t>
            </a:r>
            <a:r>
              <a:rPr lang="en-GB" sz="2600" b="0" dirty="0" smtClean="0">
                <a:solidFill>
                  <a:srgbClr val="000000"/>
                </a:solidFill>
              </a:rPr>
              <a:t> </a:t>
            </a:r>
            <a:r>
              <a:rPr lang="en-GB" sz="2600" b="0" dirty="0" err="1" smtClean="0">
                <a:solidFill>
                  <a:srgbClr val="000000"/>
                </a:solidFill>
              </a:rPr>
              <a:t>effectuer</a:t>
            </a:r>
            <a:r>
              <a:rPr lang="en-GB" sz="2600" b="0" dirty="0" smtClean="0">
                <a:solidFill>
                  <a:srgbClr val="000000"/>
                </a:solidFill>
              </a:rPr>
              <a:t> les </a:t>
            </a:r>
            <a:r>
              <a:rPr lang="en-GB" sz="2600" b="0" dirty="0" err="1" smtClean="0">
                <a:solidFill>
                  <a:srgbClr val="000000"/>
                </a:solidFill>
              </a:rPr>
              <a:t>tâches</a:t>
            </a:r>
            <a:r>
              <a:rPr lang="en-GB" sz="2600" b="0" dirty="0" smtClean="0">
                <a:solidFill>
                  <a:srgbClr val="000000"/>
                </a:solidFill>
              </a:rPr>
              <a:t> </a:t>
            </a:r>
            <a:r>
              <a:rPr lang="en-GB" sz="2600" b="0" dirty="0" err="1" smtClean="0">
                <a:solidFill>
                  <a:srgbClr val="000000"/>
                </a:solidFill>
              </a:rPr>
              <a:t>suivantes</a:t>
            </a:r>
            <a:r>
              <a:rPr lang="en-GB" sz="2600" b="0" dirty="0" smtClean="0">
                <a:solidFill>
                  <a:srgbClr val="000000"/>
                </a:solidFill>
              </a:rPr>
              <a:t> :</a:t>
            </a:r>
            <a:endParaRPr lang="en-US" sz="2600" b="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Rectangle 2"/>
          <p:cNvSpPr>
            <a:spLocks noGrp="1" noChangeArrowheads="1"/>
          </p:cNvSpPr>
          <p:nvPr>
            <p:ph type="title"/>
            <p:custDataLst>
              <p:tags r:id="rId1"/>
            </p:custDataLst>
          </p:nvPr>
        </p:nvSpPr>
        <p:spPr>
          <a:xfrm>
            <a:off x="185637" y="330198"/>
            <a:ext cx="8784191" cy="758952"/>
          </a:xfrm>
        </p:spPr>
        <p:txBody>
          <a:bodyPr>
            <a:noAutofit/>
          </a:bodyPr>
          <a:lstStyle/>
          <a:p>
            <a:r>
              <a:rPr lang="fr-FR" sz="2800" b="1" dirty="0">
                <a:solidFill>
                  <a:srgbClr val="000000"/>
                </a:solidFill>
              </a:rPr>
              <a:t>Comment attribuer ou supprimer l'attribution d'une stratégie </a:t>
            </a:r>
            <a:r>
              <a:rPr lang="fr-FR" sz="2800" b="1" dirty="0" err="1">
                <a:solidFill>
                  <a:srgbClr val="000000"/>
                </a:solidFill>
              </a:rPr>
              <a:t>IPSec</a:t>
            </a:r>
            <a:r>
              <a:rPr lang="fr-FR" sz="2800" b="1" dirty="0">
                <a:solidFill>
                  <a:srgbClr val="000000"/>
                </a:solidFill>
              </a:rPr>
              <a:t> sur un ordinateur</a:t>
            </a:r>
            <a:endParaRPr lang="en-US" sz="2800" b="1" dirty="0"/>
          </a:p>
        </p:txBody>
      </p:sp>
      <p:sp>
        <p:nvSpPr>
          <p:cNvPr id="264241" name="AutoShape 49"/>
          <p:cNvSpPr>
            <a:spLocks noChangeArrowheads="1"/>
          </p:cNvSpPr>
          <p:nvPr>
            <p:custDataLst>
              <p:tags r:id="rId2"/>
            </p:custDataLst>
          </p:nvPr>
        </p:nvSpPr>
        <p:spPr bwMode="auto">
          <a:xfrm>
            <a:off x="404813" y="1909535"/>
            <a:ext cx="8289244" cy="2778579"/>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tIns="91440"/>
          <a:lstStyle/>
          <a:p>
            <a:pPr marL="225425" indent="-225425" algn="l">
              <a:lnSpc>
                <a:spcPct val="200000"/>
              </a:lnSpc>
              <a:spcBef>
                <a:spcPct val="55000"/>
              </a:spcBef>
              <a:buSzPct val="80000"/>
              <a:buFontTx/>
              <a:buBlip>
                <a:blip r:embed="rId5"/>
              </a:buBlip>
            </a:pPr>
            <a:r>
              <a:rPr lang="en-GB" sz="2600" dirty="0" err="1">
                <a:solidFill>
                  <a:srgbClr val="000000"/>
                </a:solidFill>
              </a:rPr>
              <a:t>Ajouter</a:t>
            </a:r>
            <a:r>
              <a:rPr lang="en-GB" sz="2600" dirty="0">
                <a:solidFill>
                  <a:srgbClr val="000000"/>
                </a:solidFill>
              </a:rPr>
              <a:t> </a:t>
            </a:r>
            <a:r>
              <a:rPr lang="en-GB" sz="2600" dirty="0" err="1">
                <a:solidFill>
                  <a:srgbClr val="000000"/>
                </a:solidFill>
              </a:rPr>
              <a:t>une</a:t>
            </a:r>
            <a:r>
              <a:rPr lang="en-GB" sz="2600" dirty="0">
                <a:solidFill>
                  <a:srgbClr val="000000"/>
                </a:solidFill>
              </a:rPr>
              <a:t> </a:t>
            </a:r>
            <a:r>
              <a:rPr lang="en-GB" sz="2600" i="1" u="sng" dirty="0">
                <a:solidFill>
                  <a:srgbClr val="7030A0"/>
                </a:solidFill>
              </a:rPr>
              <a:t>console </a:t>
            </a:r>
            <a:r>
              <a:rPr lang="en-GB" sz="2600" i="1" u="sng" dirty="0" err="1">
                <a:solidFill>
                  <a:srgbClr val="7030A0"/>
                </a:solidFill>
              </a:rPr>
              <a:t>Gestion</a:t>
            </a:r>
            <a:r>
              <a:rPr lang="en-GB" sz="2600" i="1" u="sng" dirty="0">
                <a:solidFill>
                  <a:srgbClr val="7030A0"/>
                </a:solidFill>
              </a:rPr>
              <a:t> des </a:t>
            </a:r>
            <a:r>
              <a:rPr lang="en-GB" sz="2600" i="1" u="sng" dirty="0" err="1">
                <a:solidFill>
                  <a:srgbClr val="7030A0"/>
                </a:solidFill>
              </a:rPr>
              <a:t>stratégies</a:t>
            </a:r>
            <a:r>
              <a:rPr lang="en-GB" sz="2600" i="1" u="sng" dirty="0">
                <a:solidFill>
                  <a:srgbClr val="7030A0"/>
                </a:solidFill>
              </a:rPr>
              <a:t> de </a:t>
            </a:r>
            <a:r>
              <a:rPr lang="en-GB" sz="2600" i="1" u="sng" dirty="0" err="1" smtClean="0">
                <a:solidFill>
                  <a:srgbClr val="7030A0"/>
                </a:solidFill>
              </a:rPr>
              <a:t>sécurité</a:t>
            </a:r>
            <a:r>
              <a:rPr lang="en-GB" sz="2600" i="1" u="sng" dirty="0" smtClean="0">
                <a:solidFill>
                  <a:srgbClr val="7030A0"/>
                </a:solidFill>
              </a:rPr>
              <a:t> </a:t>
            </a:r>
            <a:r>
              <a:rPr lang="en-GB" sz="2600" i="1" u="sng" dirty="0">
                <a:solidFill>
                  <a:srgbClr val="7030A0"/>
                </a:solidFill>
              </a:rPr>
              <a:t>IP</a:t>
            </a:r>
            <a:r>
              <a:rPr lang="en-GB" sz="2600" dirty="0">
                <a:solidFill>
                  <a:srgbClr val="000000"/>
                </a:solidFill>
              </a:rPr>
              <a:t>, </a:t>
            </a:r>
            <a:r>
              <a:rPr lang="en-GB" sz="2600" dirty="0" err="1">
                <a:solidFill>
                  <a:srgbClr val="000000"/>
                </a:solidFill>
              </a:rPr>
              <a:t>puis</a:t>
            </a:r>
            <a:r>
              <a:rPr lang="en-GB" sz="2600" dirty="0">
                <a:solidFill>
                  <a:srgbClr val="000000"/>
                </a:solidFill>
              </a:rPr>
              <a:t> </a:t>
            </a:r>
            <a:r>
              <a:rPr lang="en-GB" sz="2600" dirty="0" err="1">
                <a:solidFill>
                  <a:srgbClr val="000000"/>
                </a:solidFill>
              </a:rPr>
              <a:t>attribuer</a:t>
            </a:r>
            <a:r>
              <a:rPr lang="en-GB" sz="2600" dirty="0">
                <a:solidFill>
                  <a:srgbClr val="000000"/>
                </a:solidFill>
              </a:rPr>
              <a:t> </a:t>
            </a:r>
            <a:r>
              <a:rPr lang="en-GB" sz="2600" dirty="0" err="1">
                <a:solidFill>
                  <a:srgbClr val="000000"/>
                </a:solidFill>
              </a:rPr>
              <a:t>ou</a:t>
            </a:r>
            <a:r>
              <a:rPr lang="en-GB" sz="2600" dirty="0">
                <a:solidFill>
                  <a:srgbClr val="000000"/>
                </a:solidFill>
              </a:rPr>
              <a:t> </a:t>
            </a:r>
            <a:r>
              <a:rPr lang="en-GB" sz="2600" dirty="0" err="1">
                <a:solidFill>
                  <a:srgbClr val="000000"/>
                </a:solidFill>
              </a:rPr>
              <a:t>supprimer</a:t>
            </a:r>
            <a:r>
              <a:rPr lang="en-GB" sz="2600" dirty="0">
                <a:solidFill>
                  <a:srgbClr val="000000"/>
                </a:solidFill>
              </a:rPr>
              <a:t> </a:t>
            </a:r>
            <a:r>
              <a:rPr lang="en-GB" sz="2600" dirty="0" err="1">
                <a:solidFill>
                  <a:srgbClr val="000000"/>
                </a:solidFill>
              </a:rPr>
              <a:t>l'attribution</a:t>
            </a:r>
            <a:r>
              <a:rPr lang="en-GB" sz="2600" dirty="0">
                <a:solidFill>
                  <a:srgbClr val="000000"/>
                </a:solidFill>
              </a:rPr>
              <a:t> </a:t>
            </a:r>
            <a:r>
              <a:rPr lang="en-GB" sz="2600" dirty="0" err="1">
                <a:solidFill>
                  <a:srgbClr val="000000"/>
                </a:solidFill>
              </a:rPr>
              <a:t>d'une</a:t>
            </a:r>
            <a:r>
              <a:rPr lang="en-GB" sz="2600" dirty="0">
                <a:solidFill>
                  <a:srgbClr val="000000"/>
                </a:solidFill>
              </a:rPr>
              <a:t> </a:t>
            </a:r>
            <a:r>
              <a:rPr lang="en-GB" sz="2600" dirty="0" err="1">
                <a:solidFill>
                  <a:srgbClr val="000000"/>
                </a:solidFill>
              </a:rPr>
              <a:t>stratégie</a:t>
            </a:r>
            <a:r>
              <a:rPr lang="en-GB" sz="2600" dirty="0">
                <a:solidFill>
                  <a:srgbClr val="000000"/>
                </a:solidFill>
              </a:rPr>
              <a:t> IPSec pour </a:t>
            </a:r>
            <a:r>
              <a:rPr lang="en-GB" sz="2600" dirty="0" err="1">
                <a:solidFill>
                  <a:srgbClr val="000000"/>
                </a:solidFill>
              </a:rPr>
              <a:t>une</a:t>
            </a:r>
            <a:r>
              <a:rPr lang="en-GB" sz="2600" dirty="0">
                <a:solidFill>
                  <a:srgbClr val="000000"/>
                </a:solidFill>
              </a:rPr>
              <a:t> </a:t>
            </a:r>
            <a:r>
              <a:rPr lang="en-GB" sz="2600" dirty="0" err="1">
                <a:solidFill>
                  <a:srgbClr val="000000"/>
                </a:solidFill>
              </a:rPr>
              <a:t>stratégie</a:t>
            </a:r>
            <a:r>
              <a:rPr lang="en-GB" sz="2600" dirty="0">
                <a:solidFill>
                  <a:srgbClr val="000000"/>
                </a:solidFill>
              </a:rPr>
              <a:t> </a:t>
            </a:r>
            <a:r>
              <a:rPr lang="en-GB" sz="2600" dirty="0" err="1">
                <a:solidFill>
                  <a:srgbClr val="000000"/>
                </a:solidFill>
              </a:rPr>
              <a:t>d'ordinateur</a:t>
            </a:r>
            <a:r>
              <a:rPr lang="en-GB" sz="2600" dirty="0">
                <a:solidFill>
                  <a:srgbClr val="000000"/>
                </a:solidFill>
              </a:rPr>
              <a:t> </a:t>
            </a:r>
            <a:r>
              <a:rPr lang="en-GB" sz="2600" dirty="0" smtClean="0">
                <a:solidFill>
                  <a:srgbClr val="000000"/>
                </a:solidFill>
              </a:rPr>
              <a:t>local</a:t>
            </a:r>
            <a:endParaRPr lang="en-US" sz="26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Rectangle 2"/>
          <p:cNvSpPr>
            <a:spLocks noGrp="1" noChangeArrowheads="1"/>
          </p:cNvSpPr>
          <p:nvPr>
            <p:ph type="title"/>
            <p:custDataLst>
              <p:tags r:id="rId1"/>
            </p:custDataLst>
          </p:nvPr>
        </p:nvSpPr>
        <p:spPr>
          <a:xfrm>
            <a:off x="203200" y="77787"/>
            <a:ext cx="8752114" cy="1097869"/>
          </a:xfrm>
          <a:noFill/>
          <a:ln/>
        </p:spPr>
        <p:txBody>
          <a:bodyPr>
            <a:normAutofit/>
          </a:bodyPr>
          <a:lstStyle/>
          <a:p>
            <a:r>
              <a:rPr lang="en-GB" b="1" dirty="0" smtClean="0">
                <a:solidFill>
                  <a:srgbClr val="000000"/>
                </a:solidFill>
              </a:rPr>
              <a:t>2. </a:t>
            </a:r>
            <a:r>
              <a:rPr lang="en-GB" b="1" dirty="0" err="1" smtClean="0">
                <a:solidFill>
                  <a:srgbClr val="000000"/>
                </a:solidFill>
              </a:rPr>
              <a:t>Implémentation</a:t>
            </a:r>
            <a:r>
              <a:rPr lang="en-GB" b="1" dirty="0" smtClean="0">
                <a:solidFill>
                  <a:srgbClr val="000000"/>
                </a:solidFill>
              </a:rPr>
              <a:t> </a:t>
            </a:r>
            <a:r>
              <a:rPr lang="en-GB" b="1" dirty="0">
                <a:solidFill>
                  <a:srgbClr val="000000"/>
                </a:solidFill>
              </a:rPr>
              <a:t>de la </a:t>
            </a:r>
            <a:r>
              <a:rPr lang="en-GB" b="1" dirty="0" err="1">
                <a:solidFill>
                  <a:srgbClr val="000000"/>
                </a:solidFill>
              </a:rPr>
              <a:t>sécurité</a:t>
            </a:r>
            <a:r>
              <a:rPr lang="en-GB" b="1" dirty="0">
                <a:solidFill>
                  <a:srgbClr val="000000"/>
                </a:solidFill>
              </a:rPr>
              <a:t> IPSec avec des </a:t>
            </a:r>
            <a:r>
              <a:rPr lang="en-GB" b="1" dirty="0" err="1">
                <a:solidFill>
                  <a:srgbClr val="000000"/>
                </a:solidFill>
              </a:rPr>
              <a:t>certificats</a:t>
            </a:r>
            <a:endParaRPr lang="en-US" b="1" dirty="0">
              <a:solidFill>
                <a:srgbClr val="000000"/>
              </a:solidFill>
            </a:endParaRPr>
          </a:p>
        </p:txBody>
      </p:sp>
      <p:sp>
        <p:nvSpPr>
          <p:cNvPr id="250883" name="Rectangle 3"/>
          <p:cNvSpPr>
            <a:spLocks noChangeArrowheads="1"/>
          </p:cNvSpPr>
          <p:nvPr>
            <p:custDataLst>
              <p:tags r:id="rId2"/>
            </p:custDataLst>
          </p:nvPr>
        </p:nvSpPr>
        <p:spPr bwMode="auto">
          <a:xfrm>
            <a:off x="383268" y="1916112"/>
            <a:ext cx="8310789" cy="3149373"/>
          </a:xfrm>
          <a:prstGeom prst="rect">
            <a:avLst/>
          </a:prstGeom>
          <a:noFill/>
          <a:ln w="9525" algn="ctr">
            <a:noFill/>
            <a:miter lim="800000"/>
            <a:headEnd/>
            <a:tailEnd/>
          </a:ln>
          <a:effectLst/>
        </p:spPr>
        <p:txBody>
          <a:bodyPr lIns="0" tIns="0" rIns="0" bIns="0"/>
          <a:lstStyle/>
          <a:p>
            <a:pPr marL="342900" indent="-342900" algn="l">
              <a:lnSpc>
                <a:spcPct val="90000"/>
              </a:lnSpc>
              <a:spcBef>
                <a:spcPct val="40000"/>
              </a:spcBef>
              <a:buClr>
                <a:schemeClr val="tx1"/>
              </a:buClr>
              <a:buSzPct val="70000"/>
              <a:buFont typeface="Wingdings" pitchFamily="2" charset="2"/>
              <a:buChar char="Ø"/>
            </a:pPr>
            <a:r>
              <a:rPr lang="en-GB" sz="2600" dirty="0" err="1">
                <a:solidFill>
                  <a:srgbClr val="000000"/>
                </a:solidFill>
              </a:rPr>
              <a:t>Qu'est-ce</a:t>
            </a:r>
            <a:r>
              <a:rPr lang="en-GB" sz="2600" dirty="0">
                <a:solidFill>
                  <a:srgbClr val="000000"/>
                </a:solidFill>
              </a:rPr>
              <a:t> </a:t>
            </a:r>
            <a:r>
              <a:rPr lang="en-GB" sz="2600" dirty="0" err="1">
                <a:solidFill>
                  <a:srgbClr val="000000"/>
                </a:solidFill>
              </a:rPr>
              <a:t>qu'un</a:t>
            </a:r>
            <a:r>
              <a:rPr lang="en-GB" sz="2600" dirty="0">
                <a:solidFill>
                  <a:srgbClr val="000000"/>
                </a:solidFill>
              </a:rPr>
              <a:t> </a:t>
            </a:r>
            <a:r>
              <a:rPr lang="en-GB" sz="2600" dirty="0" err="1">
                <a:solidFill>
                  <a:srgbClr val="000000"/>
                </a:solidFill>
              </a:rPr>
              <a:t>certificat</a:t>
            </a:r>
            <a:r>
              <a:rPr lang="en-GB" sz="2600" dirty="0">
                <a:solidFill>
                  <a:srgbClr val="000000"/>
                </a:solidFill>
              </a:rPr>
              <a:t> ?</a:t>
            </a:r>
            <a:endParaRPr lang="en-US" sz="2600" dirty="0"/>
          </a:p>
          <a:p>
            <a:pPr marL="342900" indent="-342900" algn="l">
              <a:lnSpc>
                <a:spcPct val="90000"/>
              </a:lnSpc>
              <a:spcBef>
                <a:spcPct val="40000"/>
              </a:spcBef>
              <a:buClr>
                <a:schemeClr val="tx1"/>
              </a:buClr>
              <a:buSzPct val="70000"/>
              <a:buFont typeface="Wingdings" pitchFamily="2" charset="2"/>
              <a:buChar char="Ø"/>
            </a:pPr>
            <a:r>
              <a:rPr lang="en-GB" sz="2600" dirty="0">
                <a:solidFill>
                  <a:srgbClr val="000000"/>
                </a:solidFill>
              </a:rPr>
              <a:t>Utilisations </a:t>
            </a:r>
            <a:r>
              <a:rPr lang="en-GB" sz="2600" dirty="0" err="1">
                <a:solidFill>
                  <a:srgbClr val="000000"/>
                </a:solidFill>
              </a:rPr>
              <a:t>courantes</a:t>
            </a:r>
            <a:r>
              <a:rPr lang="en-GB" sz="2600" dirty="0">
                <a:solidFill>
                  <a:srgbClr val="000000"/>
                </a:solidFill>
              </a:rPr>
              <a:t> des </a:t>
            </a:r>
            <a:r>
              <a:rPr lang="en-GB" sz="2600" dirty="0" err="1">
                <a:solidFill>
                  <a:srgbClr val="000000"/>
                </a:solidFill>
              </a:rPr>
              <a:t>certificats</a:t>
            </a:r>
            <a:endParaRPr lang="en-US" sz="2600" dirty="0"/>
          </a:p>
          <a:p>
            <a:pPr marL="342900" indent="-342900" algn="l">
              <a:lnSpc>
                <a:spcPct val="90000"/>
              </a:lnSpc>
              <a:spcBef>
                <a:spcPct val="40000"/>
              </a:spcBef>
              <a:buClr>
                <a:schemeClr val="tx1"/>
              </a:buClr>
              <a:buSzPct val="70000"/>
              <a:buFont typeface="Wingdings" pitchFamily="2" charset="2"/>
              <a:buChar char="Ø"/>
            </a:pPr>
            <a:r>
              <a:rPr lang="en-GB" sz="2600" dirty="0" err="1">
                <a:solidFill>
                  <a:srgbClr val="000000"/>
                </a:solidFill>
              </a:rPr>
              <a:t>Pourquoi</a:t>
            </a:r>
            <a:r>
              <a:rPr lang="en-GB" sz="2600" dirty="0">
                <a:solidFill>
                  <a:srgbClr val="000000"/>
                </a:solidFill>
              </a:rPr>
              <a:t> </a:t>
            </a:r>
            <a:r>
              <a:rPr lang="en-GB" sz="2600" dirty="0" err="1">
                <a:solidFill>
                  <a:srgbClr val="000000"/>
                </a:solidFill>
              </a:rPr>
              <a:t>utiliser</a:t>
            </a:r>
            <a:r>
              <a:rPr lang="en-GB" sz="2600" dirty="0">
                <a:solidFill>
                  <a:srgbClr val="000000"/>
                </a:solidFill>
              </a:rPr>
              <a:t> des </a:t>
            </a:r>
            <a:r>
              <a:rPr lang="en-GB" sz="2600" dirty="0" err="1">
                <a:solidFill>
                  <a:srgbClr val="000000"/>
                </a:solidFill>
              </a:rPr>
              <a:t>certificats</a:t>
            </a:r>
            <a:r>
              <a:rPr lang="en-GB" sz="2600" dirty="0">
                <a:solidFill>
                  <a:srgbClr val="000000"/>
                </a:solidFill>
              </a:rPr>
              <a:t> avec la </a:t>
            </a:r>
            <a:r>
              <a:rPr lang="en-GB" sz="2600" dirty="0" err="1">
                <a:solidFill>
                  <a:srgbClr val="000000"/>
                </a:solidFill>
              </a:rPr>
              <a:t>sécurité</a:t>
            </a:r>
            <a:r>
              <a:rPr lang="en-GB" sz="2600" dirty="0">
                <a:solidFill>
                  <a:srgbClr val="000000"/>
                </a:solidFill>
              </a:rPr>
              <a:t> IPSec pour </a:t>
            </a:r>
            <a:r>
              <a:rPr lang="en-GB" sz="2600" dirty="0" err="1">
                <a:solidFill>
                  <a:srgbClr val="000000"/>
                </a:solidFill>
              </a:rPr>
              <a:t>protéger</a:t>
            </a:r>
            <a:r>
              <a:rPr lang="en-GB" sz="2600" dirty="0">
                <a:solidFill>
                  <a:srgbClr val="000000"/>
                </a:solidFill>
              </a:rPr>
              <a:t> le </a:t>
            </a:r>
            <a:r>
              <a:rPr lang="en-GB" sz="2600" dirty="0" err="1">
                <a:solidFill>
                  <a:srgbClr val="000000"/>
                </a:solidFill>
              </a:rPr>
              <a:t>trafic</a:t>
            </a:r>
            <a:r>
              <a:rPr lang="en-GB" sz="2600" dirty="0">
                <a:solidFill>
                  <a:srgbClr val="000000"/>
                </a:solidFill>
              </a:rPr>
              <a:t> </a:t>
            </a:r>
            <a:r>
              <a:rPr lang="en-GB" sz="2600" dirty="0" err="1">
                <a:solidFill>
                  <a:srgbClr val="000000"/>
                </a:solidFill>
              </a:rPr>
              <a:t>réseau</a:t>
            </a:r>
            <a:r>
              <a:rPr lang="en-GB" sz="2600" dirty="0">
                <a:solidFill>
                  <a:srgbClr val="000000"/>
                </a:solidFill>
              </a:rPr>
              <a:t> ?</a:t>
            </a:r>
            <a:endParaRPr lang="it-IT" sz="2600" dirty="0"/>
          </a:p>
          <a:p>
            <a:pPr marL="342900" indent="-342900" algn="l">
              <a:lnSpc>
                <a:spcPct val="90000"/>
              </a:lnSpc>
              <a:spcBef>
                <a:spcPct val="40000"/>
              </a:spcBef>
              <a:buClr>
                <a:schemeClr val="tx1"/>
              </a:buClr>
              <a:buSzPct val="70000"/>
              <a:buFont typeface="Wingdings" pitchFamily="2" charset="2"/>
              <a:buChar char="Ø"/>
            </a:pPr>
            <a:endParaRPr lang="en-US" sz="26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Rectangle 2"/>
          <p:cNvSpPr>
            <a:spLocks noGrp="1" noChangeArrowheads="1"/>
          </p:cNvSpPr>
          <p:nvPr>
            <p:ph type="title"/>
            <p:custDataLst>
              <p:tags r:id="rId1"/>
            </p:custDataLst>
          </p:nvPr>
        </p:nvSpPr>
        <p:spPr/>
        <p:txBody>
          <a:bodyPr>
            <a:normAutofit/>
          </a:bodyPr>
          <a:lstStyle/>
          <a:p>
            <a:r>
              <a:rPr lang="en-GB" sz="2800" b="1">
                <a:solidFill>
                  <a:srgbClr val="000000"/>
                </a:solidFill>
              </a:rPr>
              <a:t>Qu'est-ce qu'un certificat ?</a:t>
            </a:r>
            <a:endParaRPr lang="en-US" sz="2800" b="1"/>
          </a:p>
        </p:txBody>
      </p:sp>
      <p:sp>
        <p:nvSpPr>
          <p:cNvPr id="238595" name="AutoShape 3"/>
          <p:cNvSpPr>
            <a:spLocks noChangeArrowheads="1"/>
          </p:cNvSpPr>
          <p:nvPr>
            <p:custDataLst>
              <p:tags r:id="rId2"/>
            </p:custDataLst>
          </p:nvPr>
        </p:nvSpPr>
        <p:spPr bwMode="auto">
          <a:xfrm>
            <a:off x="203200" y="1343025"/>
            <a:ext cx="8752114" cy="1119188"/>
          </a:xfrm>
          <a:prstGeom prst="roundRect">
            <a:avLst>
              <a:gd name="adj" fmla="val 16667"/>
            </a:avLst>
          </a:prstGeom>
          <a:solidFill>
            <a:schemeClr val="bg1"/>
          </a:solidFill>
          <a:ln w="9525" algn="ctr">
            <a:solidFill>
              <a:srgbClr val="808080"/>
            </a:solidFill>
            <a:round/>
            <a:headEnd/>
            <a:tailEnd/>
          </a:ln>
          <a:effectLst>
            <a:outerShdw dist="35921" dir="2700000" algn="ctr" rotWithShape="0">
              <a:srgbClr val="C0C0C0"/>
            </a:outerShdw>
          </a:effectLst>
        </p:spPr>
        <p:txBody>
          <a:bodyPr anchor="ctr"/>
          <a:lstStyle/>
          <a:p>
            <a:pPr algn="l"/>
            <a:r>
              <a:rPr lang="en-GB" sz="2400" dirty="0">
                <a:solidFill>
                  <a:srgbClr val="000000"/>
                </a:solidFill>
              </a:rPr>
              <a:t>Les </a:t>
            </a:r>
            <a:r>
              <a:rPr lang="en-GB" sz="2400" i="1" dirty="0" err="1">
                <a:solidFill>
                  <a:srgbClr val="000000"/>
                </a:solidFill>
              </a:rPr>
              <a:t>certificats</a:t>
            </a:r>
            <a:r>
              <a:rPr lang="en-GB" sz="2400" dirty="0">
                <a:solidFill>
                  <a:srgbClr val="000000"/>
                </a:solidFill>
              </a:rPr>
              <a:t> </a:t>
            </a:r>
            <a:r>
              <a:rPr lang="en-GB" sz="2400" dirty="0" err="1">
                <a:solidFill>
                  <a:srgbClr val="000000"/>
                </a:solidFill>
              </a:rPr>
              <a:t>sont</a:t>
            </a:r>
            <a:r>
              <a:rPr lang="en-GB" sz="2400" dirty="0">
                <a:solidFill>
                  <a:srgbClr val="000000"/>
                </a:solidFill>
              </a:rPr>
              <a:t> des </a:t>
            </a:r>
            <a:r>
              <a:rPr lang="en-GB" sz="2400" dirty="0" err="1">
                <a:solidFill>
                  <a:srgbClr val="000000"/>
                </a:solidFill>
              </a:rPr>
              <a:t>informations</a:t>
            </a:r>
            <a:r>
              <a:rPr lang="en-GB" sz="2400" dirty="0">
                <a:solidFill>
                  <a:srgbClr val="000000"/>
                </a:solidFill>
              </a:rPr>
              <a:t> </a:t>
            </a:r>
            <a:r>
              <a:rPr lang="en-GB" sz="2400" dirty="0" err="1">
                <a:solidFill>
                  <a:srgbClr val="000000"/>
                </a:solidFill>
              </a:rPr>
              <a:t>d'identification</a:t>
            </a:r>
            <a:r>
              <a:rPr lang="en-GB" sz="2400" dirty="0">
                <a:solidFill>
                  <a:srgbClr val="000000"/>
                </a:solidFill>
              </a:rPr>
              <a:t> </a:t>
            </a:r>
            <a:r>
              <a:rPr lang="en-GB" sz="2400" dirty="0" err="1">
                <a:solidFill>
                  <a:srgbClr val="000000"/>
                </a:solidFill>
              </a:rPr>
              <a:t>électroniques</a:t>
            </a:r>
            <a:r>
              <a:rPr lang="en-GB" sz="2400" dirty="0">
                <a:solidFill>
                  <a:srgbClr val="000000"/>
                </a:solidFill>
              </a:rPr>
              <a:t> qui </a:t>
            </a:r>
            <a:r>
              <a:rPr lang="en-GB" sz="2400" dirty="0" err="1">
                <a:solidFill>
                  <a:srgbClr val="000000"/>
                </a:solidFill>
              </a:rPr>
              <a:t>permettent</a:t>
            </a:r>
            <a:r>
              <a:rPr lang="en-GB" sz="2400" dirty="0">
                <a:solidFill>
                  <a:srgbClr val="000000"/>
                </a:solidFill>
              </a:rPr>
              <a:t> </a:t>
            </a:r>
            <a:r>
              <a:rPr lang="en-GB" sz="2400" dirty="0" err="1">
                <a:solidFill>
                  <a:srgbClr val="000000"/>
                </a:solidFill>
              </a:rPr>
              <a:t>d'authentifier</a:t>
            </a:r>
            <a:r>
              <a:rPr lang="en-GB" sz="2400" dirty="0">
                <a:solidFill>
                  <a:srgbClr val="000000"/>
                </a:solidFill>
              </a:rPr>
              <a:t> un </a:t>
            </a:r>
            <a:r>
              <a:rPr lang="en-GB" sz="2400" dirty="0" err="1">
                <a:solidFill>
                  <a:srgbClr val="000000"/>
                </a:solidFill>
              </a:rPr>
              <a:t>utilisateur</a:t>
            </a:r>
            <a:r>
              <a:rPr lang="en-GB" sz="2400" dirty="0">
                <a:solidFill>
                  <a:srgbClr val="000000"/>
                </a:solidFill>
              </a:rPr>
              <a:t> </a:t>
            </a:r>
            <a:r>
              <a:rPr lang="en-GB" sz="2400" dirty="0" err="1" smtClean="0">
                <a:solidFill>
                  <a:srgbClr val="000000"/>
                </a:solidFill>
              </a:rPr>
              <a:t>sur</a:t>
            </a:r>
            <a:r>
              <a:rPr lang="en-GB" sz="2400" dirty="0" smtClean="0">
                <a:solidFill>
                  <a:srgbClr val="000000"/>
                </a:solidFill>
              </a:rPr>
              <a:t> </a:t>
            </a:r>
            <a:r>
              <a:rPr lang="en-GB" sz="2400" dirty="0">
                <a:solidFill>
                  <a:srgbClr val="000000"/>
                </a:solidFill>
              </a:rPr>
              <a:t>Internet et des intranets</a:t>
            </a:r>
            <a:endParaRPr lang="en-US" sz="2400" dirty="0"/>
          </a:p>
        </p:txBody>
      </p:sp>
      <p:sp>
        <p:nvSpPr>
          <p:cNvPr id="238599" name="AutoShape 7"/>
          <p:cNvSpPr>
            <a:spLocks noChangeArrowheads="1"/>
          </p:cNvSpPr>
          <p:nvPr>
            <p:custDataLst>
              <p:tags r:id="rId3"/>
            </p:custDataLst>
          </p:nvPr>
        </p:nvSpPr>
        <p:spPr bwMode="auto">
          <a:xfrm>
            <a:off x="328160" y="2654762"/>
            <a:ext cx="6899954" cy="3760551"/>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p>
            <a:pPr marL="225425" indent="-225425" algn="l">
              <a:lnSpc>
                <a:spcPct val="90000"/>
              </a:lnSpc>
              <a:spcBef>
                <a:spcPct val="55000"/>
              </a:spcBef>
              <a:buSzPct val="80000"/>
              <a:buFontTx/>
              <a:buBlip>
                <a:blip r:embed="rId6"/>
              </a:buBlip>
            </a:pPr>
            <a:r>
              <a:rPr lang="en-GB" sz="2500" dirty="0" err="1">
                <a:solidFill>
                  <a:srgbClr val="000000"/>
                </a:solidFill>
              </a:rPr>
              <a:t>Permettent</a:t>
            </a:r>
            <a:r>
              <a:rPr lang="en-GB" sz="2500" dirty="0">
                <a:solidFill>
                  <a:srgbClr val="000000"/>
                </a:solidFill>
              </a:rPr>
              <a:t> de </a:t>
            </a:r>
            <a:r>
              <a:rPr lang="en-GB" sz="2500" dirty="0" err="1">
                <a:solidFill>
                  <a:srgbClr val="000000"/>
                </a:solidFill>
              </a:rPr>
              <a:t>lier</a:t>
            </a:r>
            <a:r>
              <a:rPr lang="en-GB" sz="2500" dirty="0">
                <a:solidFill>
                  <a:srgbClr val="000000"/>
                </a:solidFill>
              </a:rPr>
              <a:t> de </a:t>
            </a:r>
            <a:r>
              <a:rPr lang="en-GB" sz="2500" dirty="0" err="1">
                <a:solidFill>
                  <a:srgbClr val="000000"/>
                </a:solidFill>
              </a:rPr>
              <a:t>manière</a:t>
            </a:r>
            <a:r>
              <a:rPr lang="en-GB" sz="2500" dirty="0">
                <a:solidFill>
                  <a:srgbClr val="000000"/>
                </a:solidFill>
              </a:rPr>
              <a:t> </a:t>
            </a:r>
            <a:r>
              <a:rPr lang="en-GB" sz="2500" dirty="0" err="1">
                <a:solidFill>
                  <a:srgbClr val="000000"/>
                </a:solidFill>
              </a:rPr>
              <a:t>sécurisée</a:t>
            </a:r>
            <a:r>
              <a:rPr lang="en-GB" sz="2500" dirty="0">
                <a:solidFill>
                  <a:srgbClr val="000000"/>
                </a:solidFill>
              </a:rPr>
              <a:t> </a:t>
            </a:r>
            <a:r>
              <a:rPr lang="en-GB" sz="2500" dirty="0" err="1" smtClean="0">
                <a:solidFill>
                  <a:srgbClr val="000000"/>
                </a:solidFill>
              </a:rPr>
              <a:t>une</a:t>
            </a:r>
            <a:r>
              <a:rPr lang="en-GB" sz="2500" dirty="0" smtClean="0">
                <a:solidFill>
                  <a:srgbClr val="000000"/>
                </a:solidFill>
              </a:rPr>
              <a:t> </a:t>
            </a:r>
            <a:r>
              <a:rPr lang="en-GB" sz="2500" dirty="0" err="1" smtClean="0">
                <a:solidFill>
                  <a:srgbClr val="000000"/>
                </a:solidFill>
              </a:rPr>
              <a:t>clé</a:t>
            </a:r>
            <a:r>
              <a:rPr lang="en-GB" sz="2500" dirty="0" smtClean="0">
                <a:solidFill>
                  <a:srgbClr val="000000"/>
                </a:solidFill>
              </a:rPr>
              <a:t> </a:t>
            </a:r>
            <a:r>
              <a:rPr lang="en-GB" sz="2500" dirty="0" err="1" smtClean="0">
                <a:solidFill>
                  <a:srgbClr val="000000"/>
                </a:solidFill>
              </a:rPr>
              <a:t>publique</a:t>
            </a:r>
            <a:r>
              <a:rPr lang="en-GB" sz="2500" dirty="0" smtClean="0">
                <a:solidFill>
                  <a:srgbClr val="000000"/>
                </a:solidFill>
              </a:rPr>
              <a:t> à </a:t>
            </a:r>
            <a:r>
              <a:rPr lang="en-GB" sz="2500" dirty="0" err="1">
                <a:solidFill>
                  <a:srgbClr val="000000"/>
                </a:solidFill>
              </a:rPr>
              <a:t>l'entité</a:t>
            </a:r>
            <a:r>
              <a:rPr lang="en-GB" sz="2500" dirty="0">
                <a:solidFill>
                  <a:srgbClr val="000000"/>
                </a:solidFill>
              </a:rPr>
              <a:t> qui </a:t>
            </a:r>
            <a:r>
              <a:rPr lang="en-GB" sz="2500" dirty="0" err="1">
                <a:solidFill>
                  <a:srgbClr val="000000"/>
                </a:solidFill>
              </a:rPr>
              <a:t>détient</a:t>
            </a:r>
            <a:r>
              <a:rPr lang="en-GB" sz="2500" dirty="0">
                <a:solidFill>
                  <a:srgbClr val="000000"/>
                </a:solidFill>
              </a:rPr>
              <a:t> la </a:t>
            </a:r>
            <a:r>
              <a:rPr lang="en-GB" sz="2500" dirty="0" err="1">
                <a:solidFill>
                  <a:srgbClr val="000000"/>
                </a:solidFill>
              </a:rPr>
              <a:t>clé</a:t>
            </a:r>
            <a:r>
              <a:rPr lang="en-GB" sz="2500" dirty="0">
                <a:solidFill>
                  <a:srgbClr val="000000"/>
                </a:solidFill>
              </a:rPr>
              <a:t> </a:t>
            </a:r>
            <a:r>
              <a:rPr lang="en-GB" sz="2500" dirty="0" err="1">
                <a:solidFill>
                  <a:srgbClr val="000000"/>
                </a:solidFill>
              </a:rPr>
              <a:t>privée</a:t>
            </a:r>
            <a:r>
              <a:rPr lang="en-GB" sz="2500" dirty="0">
                <a:solidFill>
                  <a:srgbClr val="000000"/>
                </a:solidFill>
              </a:rPr>
              <a:t> </a:t>
            </a:r>
            <a:r>
              <a:rPr lang="en-GB" sz="2500" dirty="0" err="1">
                <a:solidFill>
                  <a:srgbClr val="000000"/>
                </a:solidFill>
              </a:rPr>
              <a:t>correspondante</a:t>
            </a:r>
            <a:endParaRPr lang="en-US" sz="2500" dirty="0"/>
          </a:p>
          <a:p>
            <a:pPr marL="225425" indent="-225425" algn="l">
              <a:lnSpc>
                <a:spcPct val="90000"/>
              </a:lnSpc>
              <a:spcBef>
                <a:spcPct val="55000"/>
              </a:spcBef>
              <a:buSzPct val="80000"/>
              <a:buFontTx/>
              <a:buBlip>
                <a:blip r:embed="rId6"/>
              </a:buBlip>
            </a:pPr>
            <a:r>
              <a:rPr lang="en-GB" sz="2500" dirty="0" err="1">
                <a:solidFill>
                  <a:srgbClr val="000000"/>
                </a:solidFill>
              </a:rPr>
              <a:t>Sont</a:t>
            </a:r>
            <a:r>
              <a:rPr lang="en-GB" sz="2500" dirty="0">
                <a:solidFill>
                  <a:srgbClr val="000000"/>
                </a:solidFill>
              </a:rPr>
              <a:t> </a:t>
            </a:r>
            <a:r>
              <a:rPr lang="en-GB" sz="2500" dirty="0" err="1">
                <a:solidFill>
                  <a:srgbClr val="000000"/>
                </a:solidFill>
              </a:rPr>
              <a:t>signés</a:t>
            </a:r>
            <a:r>
              <a:rPr lang="en-GB" sz="2500" dirty="0">
                <a:solidFill>
                  <a:srgbClr val="000000"/>
                </a:solidFill>
              </a:rPr>
              <a:t> </a:t>
            </a:r>
            <a:r>
              <a:rPr lang="en-GB" sz="2500" dirty="0" err="1">
                <a:solidFill>
                  <a:srgbClr val="000000"/>
                </a:solidFill>
              </a:rPr>
              <a:t>numériquement</a:t>
            </a:r>
            <a:r>
              <a:rPr lang="en-GB" sz="2500" dirty="0">
                <a:solidFill>
                  <a:srgbClr val="000000"/>
                </a:solidFill>
              </a:rPr>
              <a:t> par </a:t>
            </a:r>
            <a:r>
              <a:rPr lang="en-GB" sz="2500" dirty="0" err="1">
                <a:solidFill>
                  <a:srgbClr val="000000"/>
                </a:solidFill>
              </a:rPr>
              <a:t>l'Autorité</a:t>
            </a:r>
            <a:r>
              <a:rPr lang="en-GB" sz="2500" dirty="0">
                <a:solidFill>
                  <a:srgbClr val="000000"/>
                </a:solidFill>
              </a:rPr>
              <a:t> de </a:t>
            </a:r>
            <a:r>
              <a:rPr lang="en-GB" sz="2500" dirty="0" smtClean="0">
                <a:solidFill>
                  <a:srgbClr val="000000"/>
                </a:solidFill>
              </a:rPr>
              <a:t> certification </a:t>
            </a:r>
            <a:r>
              <a:rPr lang="en-GB" sz="2500" dirty="0" err="1">
                <a:solidFill>
                  <a:srgbClr val="000000"/>
                </a:solidFill>
              </a:rPr>
              <a:t>émettrice</a:t>
            </a:r>
            <a:endParaRPr lang="en-US" sz="2500" dirty="0"/>
          </a:p>
          <a:p>
            <a:pPr marL="225425" indent="-225425" algn="l">
              <a:lnSpc>
                <a:spcPct val="90000"/>
              </a:lnSpc>
              <a:spcBef>
                <a:spcPct val="55000"/>
              </a:spcBef>
              <a:buSzPct val="80000"/>
              <a:buFontTx/>
              <a:buBlip>
                <a:blip r:embed="rId6"/>
              </a:buBlip>
            </a:pPr>
            <a:r>
              <a:rPr lang="en-GB" sz="2500" dirty="0" err="1">
                <a:solidFill>
                  <a:srgbClr val="000000"/>
                </a:solidFill>
              </a:rPr>
              <a:t>Vérifient</a:t>
            </a:r>
            <a:r>
              <a:rPr lang="en-GB" sz="2500" dirty="0">
                <a:solidFill>
                  <a:srgbClr val="000000"/>
                </a:solidFill>
              </a:rPr>
              <a:t> </a:t>
            </a:r>
            <a:r>
              <a:rPr lang="en-GB" sz="2500" dirty="0" err="1">
                <a:solidFill>
                  <a:srgbClr val="000000"/>
                </a:solidFill>
              </a:rPr>
              <a:t>l'identité</a:t>
            </a:r>
            <a:r>
              <a:rPr lang="en-GB" sz="2500" dirty="0">
                <a:solidFill>
                  <a:srgbClr val="000000"/>
                </a:solidFill>
              </a:rPr>
              <a:t> d'un </a:t>
            </a:r>
            <a:r>
              <a:rPr lang="en-GB" sz="2500" dirty="0" err="1">
                <a:solidFill>
                  <a:srgbClr val="000000"/>
                </a:solidFill>
              </a:rPr>
              <a:t>utilisateur</a:t>
            </a:r>
            <a:r>
              <a:rPr lang="en-GB" sz="2500" dirty="0">
                <a:solidFill>
                  <a:srgbClr val="000000"/>
                </a:solidFill>
              </a:rPr>
              <a:t>, d'un </a:t>
            </a:r>
            <a:r>
              <a:rPr lang="en-GB" sz="2500" dirty="0" err="1" smtClean="0">
                <a:solidFill>
                  <a:srgbClr val="000000"/>
                </a:solidFill>
              </a:rPr>
              <a:t>ordinateur</a:t>
            </a:r>
            <a:r>
              <a:rPr lang="en-GB" sz="2500" dirty="0" smtClean="0">
                <a:solidFill>
                  <a:srgbClr val="000000"/>
                </a:solidFill>
              </a:rPr>
              <a:t> </a:t>
            </a:r>
            <a:r>
              <a:rPr lang="en-GB" sz="2500" dirty="0" err="1">
                <a:solidFill>
                  <a:srgbClr val="000000"/>
                </a:solidFill>
              </a:rPr>
              <a:t>ou</a:t>
            </a:r>
            <a:r>
              <a:rPr lang="en-GB" sz="2500" dirty="0">
                <a:solidFill>
                  <a:srgbClr val="000000"/>
                </a:solidFill>
              </a:rPr>
              <a:t> d'un service qui </a:t>
            </a:r>
            <a:r>
              <a:rPr lang="en-GB" sz="2500" dirty="0" err="1">
                <a:solidFill>
                  <a:srgbClr val="000000"/>
                </a:solidFill>
              </a:rPr>
              <a:t>présente</a:t>
            </a:r>
            <a:r>
              <a:rPr lang="en-GB" sz="2500" dirty="0">
                <a:solidFill>
                  <a:srgbClr val="000000"/>
                </a:solidFill>
              </a:rPr>
              <a:t> </a:t>
            </a:r>
            <a:r>
              <a:rPr lang="en-GB" sz="2500" dirty="0" smtClean="0">
                <a:solidFill>
                  <a:srgbClr val="000000"/>
                </a:solidFill>
              </a:rPr>
              <a:t> le </a:t>
            </a:r>
            <a:r>
              <a:rPr lang="en-GB" sz="2500" dirty="0" err="1">
                <a:solidFill>
                  <a:srgbClr val="000000"/>
                </a:solidFill>
              </a:rPr>
              <a:t>certificat</a:t>
            </a:r>
            <a:endParaRPr lang="en-US" sz="2500" dirty="0"/>
          </a:p>
          <a:p>
            <a:pPr marL="225425" indent="-225425" algn="l">
              <a:lnSpc>
                <a:spcPct val="90000"/>
              </a:lnSpc>
              <a:spcBef>
                <a:spcPct val="55000"/>
              </a:spcBef>
              <a:buSzPct val="80000"/>
              <a:buFontTx/>
              <a:buBlip>
                <a:blip r:embed="rId6"/>
              </a:buBlip>
            </a:pPr>
            <a:r>
              <a:rPr lang="en-GB" sz="2500" dirty="0" err="1">
                <a:solidFill>
                  <a:srgbClr val="000000"/>
                </a:solidFill>
              </a:rPr>
              <a:t>Contiennent</a:t>
            </a:r>
            <a:r>
              <a:rPr lang="en-GB" sz="2500" dirty="0">
                <a:solidFill>
                  <a:srgbClr val="000000"/>
                </a:solidFill>
              </a:rPr>
              <a:t> des </a:t>
            </a:r>
            <a:r>
              <a:rPr lang="en-GB" sz="2500" dirty="0" err="1">
                <a:solidFill>
                  <a:srgbClr val="000000"/>
                </a:solidFill>
              </a:rPr>
              <a:t>détails</a:t>
            </a:r>
            <a:r>
              <a:rPr lang="en-GB" sz="2500" dirty="0">
                <a:solidFill>
                  <a:srgbClr val="000000"/>
                </a:solidFill>
              </a:rPr>
              <a:t> </a:t>
            </a:r>
            <a:r>
              <a:rPr lang="en-GB" sz="2500" dirty="0" err="1">
                <a:solidFill>
                  <a:srgbClr val="000000"/>
                </a:solidFill>
              </a:rPr>
              <a:t>sur</a:t>
            </a:r>
            <a:r>
              <a:rPr lang="en-GB" sz="2500" dirty="0">
                <a:solidFill>
                  <a:srgbClr val="000000"/>
                </a:solidFill>
              </a:rPr>
              <a:t> </a:t>
            </a:r>
            <a:r>
              <a:rPr lang="en-GB" sz="2500" dirty="0" err="1">
                <a:solidFill>
                  <a:srgbClr val="000000"/>
                </a:solidFill>
              </a:rPr>
              <a:t>l'émetteur</a:t>
            </a:r>
            <a:r>
              <a:rPr lang="en-GB" sz="2500" dirty="0">
                <a:solidFill>
                  <a:srgbClr val="000000"/>
                </a:solidFill>
              </a:rPr>
              <a:t> et le </a:t>
            </a:r>
            <a:r>
              <a:rPr lang="en-GB" sz="2500" dirty="0" err="1">
                <a:solidFill>
                  <a:srgbClr val="000000"/>
                </a:solidFill>
              </a:rPr>
              <a:t>sujet</a:t>
            </a:r>
            <a:endParaRPr lang="en-US" sz="2500" dirty="0">
              <a:solidFill>
                <a:srgbClr val="000000"/>
              </a:solidFill>
            </a:endParaRPr>
          </a:p>
        </p:txBody>
      </p:sp>
      <p:pic>
        <p:nvPicPr>
          <p:cNvPr id="238600" name="Picture 8" descr="CertificationAuthority01"/>
          <p:cNvPicPr>
            <a:picLocks noChangeAspect="1" noChangeArrowheads="1"/>
          </p:cNvPicPr>
          <p:nvPr/>
        </p:nvPicPr>
        <p:blipFill>
          <a:blip r:embed="rId7"/>
          <a:srcRect/>
          <a:stretch>
            <a:fillRect/>
          </a:stretch>
        </p:blipFill>
        <p:spPr bwMode="auto">
          <a:xfrm>
            <a:off x="7224474" y="2264679"/>
            <a:ext cx="1905000" cy="1722438"/>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38599">
                                            <p:txEl>
                                              <p:pRg st="0" end="0"/>
                                            </p:txEl>
                                          </p:spTgt>
                                        </p:tgtEl>
                                        <p:attrNameLst>
                                          <p:attrName>style.visibility</p:attrName>
                                        </p:attrNameLst>
                                      </p:cBhvr>
                                      <p:to>
                                        <p:strVal val="visible"/>
                                      </p:to>
                                    </p:set>
                                    <p:animEffect transition="in" filter="checkerboard(across)">
                                      <p:cBhvr>
                                        <p:cTn id="7" dur="1000"/>
                                        <p:tgtEl>
                                          <p:spTgt spid="23859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38599">
                                            <p:txEl>
                                              <p:pRg st="1" end="1"/>
                                            </p:txEl>
                                          </p:spTgt>
                                        </p:tgtEl>
                                        <p:attrNameLst>
                                          <p:attrName>style.visibility</p:attrName>
                                        </p:attrNameLst>
                                      </p:cBhvr>
                                      <p:to>
                                        <p:strVal val="visible"/>
                                      </p:to>
                                    </p:set>
                                    <p:animEffect transition="in" filter="checkerboard(across)">
                                      <p:cBhvr>
                                        <p:cTn id="12" dur="1000"/>
                                        <p:tgtEl>
                                          <p:spTgt spid="23859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238599">
                                            <p:txEl>
                                              <p:pRg st="2" end="2"/>
                                            </p:txEl>
                                          </p:spTgt>
                                        </p:tgtEl>
                                        <p:attrNameLst>
                                          <p:attrName>style.visibility</p:attrName>
                                        </p:attrNameLst>
                                      </p:cBhvr>
                                      <p:to>
                                        <p:strVal val="visible"/>
                                      </p:to>
                                    </p:set>
                                    <p:animEffect transition="in" filter="checkerboard(across)">
                                      <p:cBhvr>
                                        <p:cTn id="17" dur="1000"/>
                                        <p:tgtEl>
                                          <p:spTgt spid="23859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238599">
                                            <p:txEl>
                                              <p:pRg st="3" end="3"/>
                                            </p:txEl>
                                          </p:spTgt>
                                        </p:tgtEl>
                                        <p:attrNameLst>
                                          <p:attrName>style.visibility</p:attrName>
                                        </p:attrNameLst>
                                      </p:cBhvr>
                                      <p:to>
                                        <p:strVal val="visible"/>
                                      </p:to>
                                    </p:set>
                                    <p:animEffect transition="in" filter="checkerboard(across)">
                                      <p:cBhvr>
                                        <p:cTn id="22" dur="1000"/>
                                        <p:tgtEl>
                                          <p:spTgt spid="23859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5" name="Rectangle 3"/>
          <p:cNvSpPr>
            <a:spLocks noGrp="1" noChangeArrowheads="1"/>
          </p:cNvSpPr>
          <p:nvPr>
            <p:ph type="title"/>
            <p:custDataLst>
              <p:tags r:id="rId1"/>
            </p:custDataLst>
          </p:nvPr>
        </p:nvSpPr>
        <p:spPr/>
        <p:txBody>
          <a:bodyPr>
            <a:normAutofit/>
          </a:bodyPr>
          <a:lstStyle/>
          <a:p>
            <a:r>
              <a:rPr lang="en-GB" sz="3200" b="1" dirty="0">
                <a:solidFill>
                  <a:srgbClr val="000000"/>
                </a:solidFill>
              </a:rPr>
              <a:t>Utilisations </a:t>
            </a:r>
            <a:r>
              <a:rPr lang="en-GB" sz="3200" b="1" dirty="0" err="1">
                <a:solidFill>
                  <a:srgbClr val="000000"/>
                </a:solidFill>
              </a:rPr>
              <a:t>courantes</a:t>
            </a:r>
            <a:r>
              <a:rPr lang="en-GB" sz="3200" b="1" dirty="0">
                <a:solidFill>
                  <a:srgbClr val="000000"/>
                </a:solidFill>
              </a:rPr>
              <a:t> des </a:t>
            </a:r>
            <a:r>
              <a:rPr lang="en-GB" sz="3200" b="1" dirty="0" err="1">
                <a:solidFill>
                  <a:srgbClr val="000000"/>
                </a:solidFill>
              </a:rPr>
              <a:t>certificats</a:t>
            </a:r>
            <a:endParaRPr lang="en-US" sz="3200" b="1" dirty="0"/>
          </a:p>
        </p:txBody>
      </p:sp>
      <p:sp>
        <p:nvSpPr>
          <p:cNvPr id="248834" name="Oval 2"/>
          <p:cNvSpPr>
            <a:spLocks noChangeArrowheads="1"/>
          </p:cNvSpPr>
          <p:nvPr>
            <p:custDataLst>
              <p:tags r:id="rId2"/>
            </p:custDataLst>
          </p:nvPr>
        </p:nvSpPr>
        <p:spPr bwMode="auto">
          <a:xfrm>
            <a:off x="1027113" y="1589088"/>
            <a:ext cx="6772275" cy="4448175"/>
          </a:xfrm>
          <a:prstGeom prst="ellipse">
            <a:avLst/>
          </a:prstGeom>
          <a:gradFill rotWithShape="1">
            <a:gsLst>
              <a:gs pos="0">
                <a:srgbClr val="FFFFFF"/>
              </a:gs>
              <a:gs pos="100000">
                <a:srgbClr val="EEEFD7"/>
              </a:gs>
            </a:gsLst>
            <a:path path="shape">
              <a:fillToRect l="50000" t="50000" r="50000" b="50000"/>
            </a:path>
          </a:gradFill>
          <a:ln w="9525" algn="ctr">
            <a:noFill/>
            <a:round/>
            <a:headEnd/>
            <a:tailEnd/>
          </a:ln>
          <a:effectLst>
            <a:outerShdw dist="35921" dir="2700000" algn="ctr" rotWithShape="0">
              <a:srgbClr val="ADADAD"/>
            </a:outerShdw>
          </a:effectLst>
        </p:spPr>
        <p:txBody>
          <a:bodyPr wrap="none" anchor="ctr"/>
          <a:lstStyle/>
          <a:p>
            <a:endParaRPr lang="en-GB"/>
          </a:p>
        </p:txBody>
      </p:sp>
      <p:grpSp>
        <p:nvGrpSpPr>
          <p:cNvPr id="248887" name="Group 10"/>
          <p:cNvGrpSpPr>
            <a:grpSpLocks/>
          </p:cNvGrpSpPr>
          <p:nvPr>
            <p:custDataLst>
              <p:tags r:id="rId3"/>
            </p:custDataLst>
          </p:nvPr>
        </p:nvGrpSpPr>
        <p:grpSpPr bwMode="auto">
          <a:xfrm>
            <a:off x="4886325" y="1311275"/>
            <a:ext cx="1189038" cy="1285875"/>
            <a:chOff x="3078" y="826"/>
            <a:chExt cx="749" cy="810"/>
          </a:xfrm>
        </p:grpSpPr>
        <p:pic>
          <p:nvPicPr>
            <p:cNvPr id="248843" name="Picture 11" descr="Folder_OpenWithDocumentWriting01"/>
            <p:cNvPicPr>
              <a:picLocks noChangeAspect="1" noChangeArrowheads="1"/>
            </p:cNvPicPr>
            <p:nvPr>
              <p:custDataLst>
                <p:tags r:id="rId22"/>
              </p:custDataLst>
            </p:nvPr>
          </p:nvPicPr>
          <p:blipFill>
            <a:blip r:embed="rId26" cstate="print"/>
            <a:srcRect/>
            <a:stretch>
              <a:fillRect/>
            </a:stretch>
          </p:blipFill>
          <p:spPr bwMode="auto">
            <a:xfrm>
              <a:off x="3078" y="826"/>
              <a:ext cx="671" cy="780"/>
            </a:xfrm>
            <a:prstGeom prst="rect">
              <a:avLst/>
            </a:prstGeom>
            <a:noFill/>
          </p:spPr>
        </p:pic>
        <p:pic>
          <p:nvPicPr>
            <p:cNvPr id="248844" name="Picture 12" descr="Security_Permissions01"/>
            <p:cNvPicPr>
              <a:picLocks noChangeAspect="1" noChangeArrowheads="1"/>
            </p:cNvPicPr>
            <p:nvPr>
              <p:custDataLst>
                <p:tags r:id="rId23"/>
              </p:custDataLst>
            </p:nvPr>
          </p:nvPicPr>
          <p:blipFill>
            <a:blip r:embed="rId27" cstate="print"/>
            <a:srcRect/>
            <a:stretch>
              <a:fillRect/>
            </a:stretch>
          </p:blipFill>
          <p:spPr bwMode="auto">
            <a:xfrm>
              <a:off x="3440" y="1091"/>
              <a:ext cx="387" cy="545"/>
            </a:xfrm>
            <a:prstGeom prst="rect">
              <a:avLst/>
            </a:prstGeom>
            <a:noFill/>
          </p:spPr>
        </p:pic>
      </p:grpSp>
      <p:pic>
        <p:nvPicPr>
          <p:cNvPr id="248850" name="Picture 18" descr="MsOutlook01"/>
          <p:cNvPicPr>
            <a:picLocks noChangeAspect="1" noChangeArrowheads="1"/>
          </p:cNvPicPr>
          <p:nvPr>
            <p:custDataLst>
              <p:tags r:id="rId4"/>
            </p:custDataLst>
          </p:nvPr>
        </p:nvPicPr>
        <p:blipFill>
          <a:blip r:embed="rId28" cstate="print"/>
          <a:srcRect/>
          <a:stretch>
            <a:fillRect/>
          </a:stretch>
        </p:blipFill>
        <p:spPr bwMode="auto">
          <a:xfrm>
            <a:off x="6292850" y="2974975"/>
            <a:ext cx="985838" cy="985838"/>
          </a:xfrm>
          <a:prstGeom prst="rect">
            <a:avLst/>
          </a:prstGeom>
          <a:noFill/>
        </p:spPr>
      </p:pic>
      <p:pic>
        <p:nvPicPr>
          <p:cNvPr id="248859" name="Picture 27" descr="CdDvd_CdDvdMedia01"/>
          <p:cNvPicPr>
            <a:picLocks noChangeAspect="1" noChangeArrowheads="1"/>
          </p:cNvPicPr>
          <p:nvPr>
            <p:custDataLst>
              <p:tags r:id="rId5"/>
            </p:custDataLst>
          </p:nvPr>
        </p:nvPicPr>
        <p:blipFill>
          <a:blip r:embed="rId29" cstate="print"/>
          <a:srcRect/>
          <a:stretch>
            <a:fillRect/>
          </a:stretch>
        </p:blipFill>
        <p:spPr bwMode="auto">
          <a:xfrm>
            <a:off x="5919788" y="4762500"/>
            <a:ext cx="962025" cy="682625"/>
          </a:xfrm>
          <a:prstGeom prst="rect">
            <a:avLst/>
          </a:prstGeom>
          <a:noFill/>
        </p:spPr>
      </p:pic>
      <p:pic>
        <p:nvPicPr>
          <p:cNvPr id="248860" name="Picture 28" descr="CdDvd_CdDvdMedia01"/>
          <p:cNvPicPr>
            <a:picLocks noChangeAspect="1" noChangeArrowheads="1"/>
          </p:cNvPicPr>
          <p:nvPr>
            <p:custDataLst>
              <p:tags r:id="rId6"/>
            </p:custDataLst>
          </p:nvPr>
        </p:nvPicPr>
        <p:blipFill>
          <a:blip r:embed="rId29" cstate="print"/>
          <a:srcRect/>
          <a:stretch>
            <a:fillRect/>
          </a:stretch>
        </p:blipFill>
        <p:spPr bwMode="auto">
          <a:xfrm>
            <a:off x="5584825" y="4889500"/>
            <a:ext cx="962025" cy="682625"/>
          </a:xfrm>
          <a:prstGeom prst="rect">
            <a:avLst/>
          </a:prstGeom>
          <a:noFill/>
        </p:spPr>
      </p:pic>
      <p:sp>
        <p:nvSpPr>
          <p:cNvPr id="248862" name="Oval 30"/>
          <p:cNvSpPr>
            <a:spLocks noChangeArrowheads="1"/>
          </p:cNvSpPr>
          <p:nvPr>
            <p:custDataLst>
              <p:tags r:id="rId7"/>
            </p:custDataLst>
          </p:nvPr>
        </p:nvSpPr>
        <p:spPr bwMode="auto">
          <a:xfrm>
            <a:off x="3348038" y="2936875"/>
            <a:ext cx="2130425" cy="1752600"/>
          </a:xfrm>
          <a:prstGeom prst="ellipse">
            <a:avLst/>
          </a:prstGeom>
          <a:solidFill>
            <a:srgbClr val="CC0000">
              <a:alpha val="25000"/>
            </a:srgbClr>
          </a:solidFill>
          <a:ln w="9525" algn="ctr">
            <a:noFill/>
            <a:round/>
            <a:headEnd/>
            <a:tailEnd/>
          </a:ln>
          <a:effectLst/>
        </p:spPr>
        <p:txBody>
          <a:bodyPr wrap="none" anchor="ctr"/>
          <a:lstStyle/>
          <a:p>
            <a:endParaRPr lang="fr-FR"/>
          </a:p>
        </p:txBody>
      </p:sp>
      <p:sp>
        <p:nvSpPr>
          <p:cNvPr id="248873" name="AutoShape 41"/>
          <p:cNvSpPr>
            <a:spLocks noChangeArrowheads="1"/>
          </p:cNvSpPr>
          <p:nvPr>
            <p:custDataLst>
              <p:tags r:id="rId8"/>
            </p:custDataLst>
          </p:nvPr>
        </p:nvSpPr>
        <p:spPr bwMode="auto">
          <a:xfrm>
            <a:off x="1003988" y="1974849"/>
            <a:ext cx="2278892" cy="698273"/>
          </a:xfrm>
          <a:prstGeom prst="roundRect">
            <a:avLst>
              <a:gd name="adj" fmla="val 4167"/>
            </a:avLst>
          </a:prstGeom>
          <a:gradFill rotWithShape="1">
            <a:gsLst>
              <a:gs pos="0">
                <a:srgbClr val="8DACD0"/>
              </a:gs>
              <a:gs pos="100000">
                <a:srgbClr val="DEE7F1"/>
              </a:gs>
            </a:gsLst>
            <a:lin ang="2700000" scaled="1"/>
          </a:gradFill>
          <a:ln w="9525">
            <a:solidFill>
              <a:srgbClr val="4D4D4D"/>
            </a:solidFill>
            <a:round/>
            <a:headEnd/>
            <a:tailEnd/>
          </a:ln>
          <a:effectLst>
            <a:outerShdw dist="35921" dir="2700000" algn="ctr" rotWithShape="0">
              <a:srgbClr val="AFAFAF"/>
            </a:outerShdw>
          </a:effectLst>
        </p:spPr>
        <p:txBody>
          <a:bodyPr anchor="ctr"/>
          <a:lstStyle/>
          <a:p>
            <a:pPr>
              <a:lnSpc>
                <a:spcPct val="85000"/>
              </a:lnSpc>
            </a:pPr>
            <a:r>
              <a:rPr lang="en-GB" sz="2200">
                <a:solidFill>
                  <a:srgbClr val="000000"/>
                </a:solidFill>
              </a:rPr>
              <a:t>Authentification Internet</a:t>
            </a:r>
            <a:endParaRPr lang="en-US" sz="2200"/>
          </a:p>
        </p:txBody>
      </p:sp>
      <p:pic>
        <p:nvPicPr>
          <p:cNvPr id="248874" name="Picture 42" descr="IeLogo01"/>
          <p:cNvPicPr>
            <a:picLocks noChangeAspect="1" noChangeArrowheads="1"/>
          </p:cNvPicPr>
          <p:nvPr>
            <p:custDataLst>
              <p:tags r:id="rId9"/>
            </p:custDataLst>
          </p:nvPr>
        </p:nvPicPr>
        <p:blipFill>
          <a:blip r:embed="rId30" cstate="print"/>
          <a:srcRect/>
          <a:stretch>
            <a:fillRect/>
          </a:stretch>
        </p:blipFill>
        <p:spPr bwMode="auto">
          <a:xfrm>
            <a:off x="3006725" y="1349375"/>
            <a:ext cx="882650" cy="931863"/>
          </a:xfrm>
          <a:prstGeom prst="rect">
            <a:avLst/>
          </a:prstGeom>
          <a:noFill/>
        </p:spPr>
      </p:pic>
      <p:sp>
        <p:nvSpPr>
          <p:cNvPr id="248875" name="AutoShape 43"/>
          <p:cNvSpPr>
            <a:spLocks noChangeArrowheads="1"/>
          </p:cNvSpPr>
          <p:nvPr>
            <p:custDataLst>
              <p:tags r:id="rId10"/>
            </p:custDataLst>
          </p:nvPr>
        </p:nvSpPr>
        <p:spPr bwMode="auto">
          <a:xfrm>
            <a:off x="5658538" y="2233612"/>
            <a:ext cx="2092098" cy="698273"/>
          </a:xfrm>
          <a:prstGeom prst="roundRect">
            <a:avLst>
              <a:gd name="adj" fmla="val 4167"/>
            </a:avLst>
          </a:prstGeom>
          <a:gradFill rotWithShape="1">
            <a:gsLst>
              <a:gs pos="0">
                <a:srgbClr val="8DACD0"/>
              </a:gs>
              <a:gs pos="100000">
                <a:srgbClr val="DEE7F1"/>
              </a:gs>
            </a:gsLst>
            <a:lin ang="2700000" scaled="1"/>
          </a:gradFill>
          <a:ln w="9525">
            <a:solidFill>
              <a:srgbClr val="4D4D4D"/>
            </a:solidFill>
            <a:round/>
            <a:headEnd/>
            <a:tailEnd/>
          </a:ln>
          <a:effectLst>
            <a:outerShdw dist="35921" dir="2700000" algn="ctr" rotWithShape="0">
              <a:srgbClr val="AFAFAF"/>
            </a:outerShdw>
          </a:effectLst>
        </p:spPr>
        <p:txBody>
          <a:bodyPr anchor="ctr"/>
          <a:lstStyle/>
          <a:p>
            <a:pPr>
              <a:lnSpc>
                <a:spcPct val="85000"/>
              </a:lnSpc>
            </a:pPr>
            <a:r>
              <a:rPr lang="en-GB" sz="2200">
                <a:solidFill>
                  <a:srgbClr val="000000"/>
                </a:solidFill>
              </a:rPr>
              <a:t>Système de fichiers EFS</a:t>
            </a:r>
            <a:endParaRPr lang="en-US" sz="2200"/>
          </a:p>
        </p:txBody>
      </p:sp>
      <p:sp>
        <p:nvSpPr>
          <p:cNvPr id="248876" name="AutoShape 44"/>
          <p:cNvSpPr>
            <a:spLocks noChangeArrowheads="1"/>
          </p:cNvSpPr>
          <p:nvPr>
            <p:custDataLst>
              <p:tags r:id="rId11"/>
            </p:custDataLst>
          </p:nvPr>
        </p:nvSpPr>
        <p:spPr bwMode="auto">
          <a:xfrm>
            <a:off x="5920475" y="4017962"/>
            <a:ext cx="2092098" cy="698273"/>
          </a:xfrm>
          <a:prstGeom prst="roundRect">
            <a:avLst>
              <a:gd name="adj" fmla="val 4167"/>
            </a:avLst>
          </a:prstGeom>
          <a:gradFill rotWithShape="1">
            <a:gsLst>
              <a:gs pos="0">
                <a:srgbClr val="8DACD0"/>
              </a:gs>
              <a:gs pos="100000">
                <a:srgbClr val="DEE7F1"/>
              </a:gs>
            </a:gsLst>
            <a:lin ang="2700000" scaled="1"/>
          </a:gradFill>
          <a:ln w="9525">
            <a:solidFill>
              <a:srgbClr val="4D4D4D"/>
            </a:solidFill>
            <a:round/>
            <a:headEnd/>
            <a:tailEnd/>
          </a:ln>
          <a:effectLst>
            <a:outerShdw dist="35921" dir="2700000" algn="ctr" rotWithShape="0">
              <a:srgbClr val="AFAFAF"/>
            </a:outerShdw>
          </a:effectLst>
        </p:spPr>
        <p:txBody>
          <a:bodyPr anchor="ctr"/>
          <a:lstStyle/>
          <a:p>
            <a:pPr>
              <a:lnSpc>
                <a:spcPct val="85000"/>
              </a:lnSpc>
            </a:pPr>
            <a:r>
              <a:rPr lang="en-GB" sz="2200">
                <a:solidFill>
                  <a:srgbClr val="000000"/>
                </a:solidFill>
              </a:rPr>
              <a:t>Messagerie sécurisée</a:t>
            </a:r>
            <a:endParaRPr lang="en-US" sz="2200"/>
          </a:p>
        </p:txBody>
      </p:sp>
      <p:pic>
        <p:nvPicPr>
          <p:cNvPr id="248878" name="Picture 46" descr="Encryption01"/>
          <p:cNvPicPr>
            <a:picLocks noChangeAspect="1" noChangeArrowheads="1"/>
          </p:cNvPicPr>
          <p:nvPr>
            <p:custDataLst>
              <p:tags r:id="rId12"/>
            </p:custDataLst>
          </p:nvPr>
        </p:nvPicPr>
        <p:blipFill>
          <a:blip r:embed="rId31" cstate="print"/>
          <a:srcRect/>
          <a:stretch>
            <a:fillRect/>
          </a:stretch>
        </p:blipFill>
        <p:spPr bwMode="auto">
          <a:xfrm>
            <a:off x="7170738" y="3151188"/>
            <a:ext cx="560387" cy="900112"/>
          </a:xfrm>
          <a:prstGeom prst="rect">
            <a:avLst/>
          </a:prstGeom>
          <a:noFill/>
        </p:spPr>
      </p:pic>
      <p:sp>
        <p:nvSpPr>
          <p:cNvPr id="248879" name="AutoShape 47"/>
          <p:cNvSpPr>
            <a:spLocks noChangeArrowheads="1"/>
          </p:cNvSpPr>
          <p:nvPr>
            <p:custDataLst>
              <p:tags r:id="rId13"/>
            </p:custDataLst>
          </p:nvPr>
        </p:nvSpPr>
        <p:spPr bwMode="auto">
          <a:xfrm>
            <a:off x="4688574" y="5613399"/>
            <a:ext cx="2316251" cy="698273"/>
          </a:xfrm>
          <a:prstGeom prst="roundRect">
            <a:avLst>
              <a:gd name="adj" fmla="val 4167"/>
            </a:avLst>
          </a:prstGeom>
          <a:gradFill rotWithShape="1">
            <a:gsLst>
              <a:gs pos="0">
                <a:srgbClr val="8DACD0"/>
              </a:gs>
              <a:gs pos="100000">
                <a:srgbClr val="DEE7F1"/>
              </a:gs>
            </a:gsLst>
            <a:lin ang="2700000" scaled="1"/>
          </a:gradFill>
          <a:ln w="9525">
            <a:solidFill>
              <a:srgbClr val="4D4D4D"/>
            </a:solidFill>
            <a:round/>
            <a:headEnd/>
            <a:tailEnd/>
          </a:ln>
          <a:effectLst>
            <a:outerShdw dist="35921" dir="2700000" algn="ctr" rotWithShape="0">
              <a:srgbClr val="AFAFAF"/>
            </a:outerShdw>
          </a:effectLst>
        </p:spPr>
        <p:txBody>
          <a:bodyPr anchor="ctr"/>
          <a:lstStyle/>
          <a:p>
            <a:pPr>
              <a:lnSpc>
                <a:spcPct val="85000"/>
              </a:lnSpc>
            </a:pPr>
            <a:r>
              <a:rPr lang="en-GB" sz="2200">
                <a:solidFill>
                  <a:srgbClr val="000000"/>
                </a:solidFill>
              </a:rPr>
              <a:t>Signature du code logiciel</a:t>
            </a:r>
            <a:endParaRPr lang="en-US" sz="2200"/>
          </a:p>
        </p:txBody>
      </p:sp>
      <p:pic>
        <p:nvPicPr>
          <p:cNvPr id="248880" name="Picture 48" descr="Pen01"/>
          <p:cNvPicPr>
            <a:picLocks noChangeAspect="1" noChangeArrowheads="1"/>
          </p:cNvPicPr>
          <p:nvPr>
            <p:custDataLst>
              <p:tags r:id="rId14"/>
            </p:custDataLst>
          </p:nvPr>
        </p:nvPicPr>
        <p:blipFill>
          <a:blip r:embed="rId32" cstate="print"/>
          <a:srcRect/>
          <a:stretch>
            <a:fillRect/>
          </a:stretch>
        </p:blipFill>
        <p:spPr bwMode="auto">
          <a:xfrm rot="-1809225">
            <a:off x="5734050" y="4210050"/>
            <a:ext cx="150813" cy="1279525"/>
          </a:xfrm>
          <a:prstGeom prst="rect">
            <a:avLst/>
          </a:prstGeom>
          <a:noFill/>
        </p:spPr>
      </p:pic>
      <p:sp>
        <p:nvSpPr>
          <p:cNvPr id="248881" name="AutoShape 49"/>
          <p:cNvSpPr>
            <a:spLocks noChangeArrowheads="1"/>
          </p:cNvSpPr>
          <p:nvPr>
            <p:custDataLst>
              <p:tags r:id="rId15"/>
            </p:custDataLst>
          </p:nvPr>
        </p:nvSpPr>
        <p:spPr bwMode="auto">
          <a:xfrm>
            <a:off x="1073383" y="5573935"/>
            <a:ext cx="2555188" cy="812348"/>
          </a:xfrm>
          <a:prstGeom prst="roundRect">
            <a:avLst>
              <a:gd name="adj" fmla="val 4167"/>
            </a:avLst>
          </a:prstGeom>
          <a:gradFill rotWithShape="1">
            <a:gsLst>
              <a:gs pos="0">
                <a:srgbClr val="8DACD0"/>
              </a:gs>
              <a:gs pos="100000">
                <a:srgbClr val="DEE7F1"/>
              </a:gs>
            </a:gsLst>
            <a:lin ang="2700000" scaled="1"/>
          </a:gradFill>
          <a:ln w="9525">
            <a:solidFill>
              <a:srgbClr val="4D4D4D"/>
            </a:solidFill>
            <a:round/>
            <a:headEnd/>
            <a:tailEnd/>
          </a:ln>
          <a:effectLst>
            <a:outerShdw dist="35921" dir="2700000" algn="ctr" rotWithShape="0">
              <a:srgbClr val="AFAFAF"/>
            </a:outerShdw>
          </a:effectLst>
        </p:spPr>
        <p:txBody>
          <a:bodyPr anchor="ctr"/>
          <a:lstStyle/>
          <a:p>
            <a:pPr>
              <a:lnSpc>
                <a:spcPct val="85000"/>
              </a:lnSpc>
            </a:pPr>
            <a:r>
              <a:rPr lang="en-GB" sz="2200" dirty="0" err="1">
                <a:solidFill>
                  <a:srgbClr val="000000"/>
                </a:solidFill>
              </a:rPr>
              <a:t>Ouverture</a:t>
            </a:r>
            <a:r>
              <a:rPr lang="en-GB" sz="2200" dirty="0">
                <a:solidFill>
                  <a:srgbClr val="000000"/>
                </a:solidFill>
              </a:rPr>
              <a:t> </a:t>
            </a:r>
            <a:r>
              <a:rPr lang="en-GB" sz="2200" dirty="0" smtClean="0">
                <a:solidFill>
                  <a:srgbClr val="000000"/>
                </a:solidFill>
              </a:rPr>
              <a:t>de session </a:t>
            </a:r>
            <a:r>
              <a:rPr lang="en-GB" sz="2200" dirty="0">
                <a:solidFill>
                  <a:srgbClr val="000000"/>
                </a:solidFill>
              </a:rPr>
              <a:t>par carte à puce</a:t>
            </a:r>
            <a:endParaRPr lang="en-US" sz="2200" dirty="0"/>
          </a:p>
        </p:txBody>
      </p:sp>
      <p:pic>
        <p:nvPicPr>
          <p:cNvPr id="248870" name="Picture 38" descr="SmartCard_SmartCard&amp;Reader01"/>
          <p:cNvPicPr>
            <a:picLocks noChangeAspect="1" noChangeArrowheads="1"/>
          </p:cNvPicPr>
          <p:nvPr>
            <p:custDataLst>
              <p:tags r:id="rId16"/>
            </p:custDataLst>
          </p:nvPr>
        </p:nvPicPr>
        <p:blipFill>
          <a:blip r:embed="rId33" cstate="print"/>
          <a:srcRect/>
          <a:stretch>
            <a:fillRect/>
          </a:stretch>
        </p:blipFill>
        <p:spPr bwMode="auto">
          <a:xfrm>
            <a:off x="1768475" y="4711700"/>
            <a:ext cx="1419225" cy="969963"/>
          </a:xfrm>
          <a:prstGeom prst="rect">
            <a:avLst/>
          </a:prstGeom>
          <a:noFill/>
        </p:spPr>
      </p:pic>
      <p:sp>
        <p:nvSpPr>
          <p:cNvPr id="248883" name="AutoShape 51"/>
          <p:cNvSpPr>
            <a:spLocks noChangeArrowheads="1"/>
          </p:cNvSpPr>
          <p:nvPr>
            <p:custDataLst>
              <p:tags r:id="rId17"/>
            </p:custDataLst>
          </p:nvPr>
        </p:nvSpPr>
        <p:spPr bwMode="auto">
          <a:xfrm>
            <a:off x="853175" y="3759199"/>
            <a:ext cx="2092098" cy="698273"/>
          </a:xfrm>
          <a:prstGeom prst="roundRect">
            <a:avLst>
              <a:gd name="adj" fmla="val 4167"/>
            </a:avLst>
          </a:prstGeom>
          <a:gradFill rotWithShape="1">
            <a:gsLst>
              <a:gs pos="0">
                <a:srgbClr val="8DACD0"/>
              </a:gs>
              <a:gs pos="100000">
                <a:srgbClr val="DEE7F1"/>
              </a:gs>
            </a:gsLst>
            <a:lin ang="2700000" scaled="1"/>
          </a:gradFill>
          <a:ln w="9525">
            <a:solidFill>
              <a:srgbClr val="4D4D4D"/>
            </a:solidFill>
            <a:round/>
            <a:headEnd/>
            <a:tailEnd/>
          </a:ln>
          <a:effectLst>
            <a:outerShdw dist="35921" dir="2700000" algn="ctr" rotWithShape="0">
              <a:srgbClr val="AFAFAF"/>
            </a:outerShdw>
          </a:effectLst>
        </p:spPr>
        <p:txBody>
          <a:bodyPr anchor="ctr"/>
          <a:lstStyle/>
          <a:p>
            <a:pPr>
              <a:lnSpc>
                <a:spcPct val="85000"/>
              </a:lnSpc>
            </a:pPr>
            <a:r>
              <a:rPr lang="en-GB" sz="2200">
                <a:solidFill>
                  <a:srgbClr val="000000"/>
                </a:solidFill>
              </a:rPr>
              <a:t>Signatures numériques</a:t>
            </a:r>
            <a:endParaRPr lang="en-US" sz="2200"/>
          </a:p>
        </p:txBody>
      </p:sp>
      <p:pic>
        <p:nvPicPr>
          <p:cNvPr id="248882" name="Picture 50" descr="DigitalSignature01"/>
          <p:cNvPicPr>
            <a:picLocks noChangeAspect="1" noChangeArrowheads="1"/>
          </p:cNvPicPr>
          <p:nvPr>
            <p:custDataLst>
              <p:tags r:id="rId18"/>
            </p:custDataLst>
          </p:nvPr>
        </p:nvPicPr>
        <p:blipFill>
          <a:blip r:embed="rId34"/>
          <a:srcRect/>
          <a:stretch>
            <a:fillRect/>
          </a:stretch>
        </p:blipFill>
        <p:spPr bwMode="auto">
          <a:xfrm>
            <a:off x="852488" y="2703513"/>
            <a:ext cx="1985962" cy="1104900"/>
          </a:xfrm>
          <a:prstGeom prst="rect">
            <a:avLst/>
          </a:prstGeom>
          <a:noFill/>
        </p:spPr>
      </p:pic>
      <p:sp>
        <p:nvSpPr>
          <p:cNvPr id="248885" name="AutoShape 53"/>
          <p:cNvSpPr>
            <a:spLocks noChangeArrowheads="1"/>
          </p:cNvSpPr>
          <p:nvPr>
            <p:custDataLst>
              <p:tags r:id="rId19"/>
            </p:custDataLst>
          </p:nvPr>
        </p:nvSpPr>
        <p:spPr bwMode="auto">
          <a:xfrm>
            <a:off x="3627438" y="4105275"/>
            <a:ext cx="1600200" cy="533400"/>
          </a:xfrm>
          <a:prstGeom prst="roundRect">
            <a:avLst>
              <a:gd name="adj" fmla="val 4167"/>
            </a:avLst>
          </a:prstGeom>
          <a:gradFill rotWithShape="1">
            <a:gsLst>
              <a:gs pos="0">
                <a:srgbClr val="8DACD0"/>
              </a:gs>
              <a:gs pos="100000">
                <a:srgbClr val="DEE7F1"/>
              </a:gs>
            </a:gsLst>
            <a:lin ang="2700000" scaled="1"/>
          </a:gradFill>
          <a:ln w="9525">
            <a:solidFill>
              <a:srgbClr val="4D4D4D"/>
            </a:solidFill>
            <a:round/>
            <a:headEnd/>
            <a:tailEnd/>
          </a:ln>
          <a:effectLst>
            <a:outerShdw dist="35921" dir="2700000" algn="ctr" rotWithShape="0">
              <a:srgbClr val="AFAFAF"/>
            </a:outerShdw>
          </a:effectLst>
        </p:spPr>
        <p:txBody>
          <a:bodyPr anchor="ctr"/>
          <a:lstStyle/>
          <a:p>
            <a:pPr>
              <a:lnSpc>
                <a:spcPct val="85000"/>
              </a:lnSpc>
            </a:pPr>
            <a:r>
              <a:rPr lang="en-GB" sz="2200" dirty="0" err="1">
                <a:solidFill>
                  <a:srgbClr val="000000"/>
                </a:solidFill>
              </a:rPr>
              <a:t>Sécurité</a:t>
            </a:r>
            <a:r>
              <a:rPr lang="en-GB" sz="2200" dirty="0">
                <a:solidFill>
                  <a:srgbClr val="000000"/>
                </a:solidFill>
              </a:rPr>
              <a:t> IP</a:t>
            </a:r>
            <a:endParaRPr lang="en-US" sz="2200" dirty="0"/>
          </a:p>
        </p:txBody>
      </p:sp>
      <p:pic>
        <p:nvPicPr>
          <p:cNvPr id="248865" name="Picture 33" descr="Cards_NetworkCard01"/>
          <p:cNvPicPr>
            <a:picLocks noChangeAspect="1" noChangeArrowheads="1"/>
          </p:cNvPicPr>
          <p:nvPr>
            <p:custDataLst>
              <p:tags r:id="rId20"/>
            </p:custDataLst>
          </p:nvPr>
        </p:nvPicPr>
        <p:blipFill>
          <a:blip r:embed="rId35"/>
          <a:srcRect/>
          <a:stretch>
            <a:fillRect/>
          </a:stretch>
        </p:blipFill>
        <p:spPr bwMode="auto">
          <a:xfrm>
            <a:off x="3411538" y="3059113"/>
            <a:ext cx="2095500" cy="1120775"/>
          </a:xfrm>
          <a:prstGeom prst="rect">
            <a:avLst/>
          </a:prstGeom>
          <a:noFill/>
        </p:spPr>
      </p:pic>
      <p:pic>
        <p:nvPicPr>
          <p:cNvPr id="248866" name="Picture 34" descr="Security_Permissions01"/>
          <p:cNvPicPr>
            <a:picLocks noChangeAspect="1" noChangeArrowheads="1"/>
          </p:cNvPicPr>
          <p:nvPr>
            <p:custDataLst>
              <p:tags r:id="rId21"/>
            </p:custDataLst>
          </p:nvPr>
        </p:nvPicPr>
        <p:blipFill>
          <a:blip r:embed="rId36" cstate="print"/>
          <a:srcRect/>
          <a:stretch>
            <a:fillRect/>
          </a:stretch>
        </p:blipFill>
        <p:spPr bwMode="auto">
          <a:xfrm>
            <a:off x="4048125" y="2824163"/>
            <a:ext cx="620713" cy="876300"/>
          </a:xfrm>
          <a:prstGeom prst="rect">
            <a:avLst/>
          </a:prstGeom>
          <a:noFill/>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2"/>
          <p:cNvSpPr>
            <a:spLocks noGrp="1" noChangeArrowheads="1"/>
          </p:cNvSpPr>
          <p:nvPr>
            <p:ph type="title"/>
            <p:custDataLst>
              <p:tags r:id="rId1"/>
            </p:custDataLst>
          </p:nvPr>
        </p:nvSpPr>
        <p:spPr>
          <a:xfrm>
            <a:off x="185057" y="230868"/>
            <a:ext cx="8755744" cy="944789"/>
          </a:xfrm>
        </p:spPr>
        <p:txBody>
          <a:bodyPr>
            <a:noAutofit/>
          </a:bodyPr>
          <a:lstStyle/>
          <a:p>
            <a:r>
              <a:rPr lang="fr-FR" sz="2800" b="1" dirty="0">
                <a:solidFill>
                  <a:srgbClr val="000000"/>
                </a:solidFill>
              </a:rPr>
              <a:t>Pourquoi utiliser des certificats avec la sécurité </a:t>
            </a:r>
            <a:r>
              <a:rPr lang="fr-FR" sz="2800" b="1" dirty="0" err="1">
                <a:solidFill>
                  <a:srgbClr val="000000"/>
                </a:solidFill>
              </a:rPr>
              <a:t>IPSec</a:t>
            </a:r>
            <a:r>
              <a:rPr lang="fr-FR" sz="2800" b="1" dirty="0">
                <a:solidFill>
                  <a:srgbClr val="000000"/>
                </a:solidFill>
              </a:rPr>
              <a:t> pour protéger le trafic réseau ?</a:t>
            </a:r>
            <a:endParaRPr lang="en-US" sz="2800" b="1" dirty="0"/>
          </a:p>
        </p:txBody>
      </p:sp>
      <p:sp>
        <p:nvSpPr>
          <p:cNvPr id="219156" name="AutoShape 20"/>
          <p:cNvSpPr>
            <a:spLocks noChangeArrowheads="1"/>
          </p:cNvSpPr>
          <p:nvPr>
            <p:custDataLst>
              <p:tags r:id="rId2"/>
            </p:custDataLst>
          </p:nvPr>
        </p:nvSpPr>
        <p:spPr bwMode="auto">
          <a:xfrm>
            <a:off x="232223" y="2583543"/>
            <a:ext cx="8447320" cy="3773714"/>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tIns="228600"/>
          <a:lstStyle/>
          <a:p>
            <a:pPr marL="231775" indent="-231775" algn="l">
              <a:lnSpc>
                <a:spcPct val="90000"/>
              </a:lnSpc>
              <a:spcAft>
                <a:spcPts val="1200"/>
              </a:spcAft>
              <a:buSzPct val="80000"/>
              <a:buFontTx/>
              <a:buBlip>
                <a:blip r:embed="rId9"/>
              </a:buBlip>
            </a:pPr>
            <a:r>
              <a:rPr lang="en-GB" sz="2600" dirty="0">
                <a:solidFill>
                  <a:srgbClr val="000000"/>
                </a:solidFill>
              </a:rPr>
              <a:t>Pour </a:t>
            </a:r>
            <a:r>
              <a:rPr lang="en-GB" sz="2600" dirty="0" err="1">
                <a:solidFill>
                  <a:srgbClr val="000000"/>
                </a:solidFill>
              </a:rPr>
              <a:t>permettre</a:t>
            </a:r>
            <a:r>
              <a:rPr lang="en-GB" sz="2600" dirty="0">
                <a:solidFill>
                  <a:srgbClr val="000000"/>
                </a:solidFill>
              </a:rPr>
              <a:t> à </a:t>
            </a:r>
            <a:r>
              <a:rPr lang="en-GB" sz="2600" dirty="0" err="1">
                <a:solidFill>
                  <a:srgbClr val="000000"/>
                </a:solidFill>
              </a:rPr>
              <a:t>une</a:t>
            </a:r>
            <a:r>
              <a:rPr lang="en-GB" sz="2600" dirty="0">
                <a:solidFill>
                  <a:srgbClr val="000000"/>
                </a:solidFill>
              </a:rPr>
              <a:t> </a:t>
            </a:r>
            <a:r>
              <a:rPr lang="en-GB" sz="2600" dirty="0" err="1">
                <a:solidFill>
                  <a:srgbClr val="000000"/>
                </a:solidFill>
              </a:rPr>
              <a:t>entreprise</a:t>
            </a:r>
            <a:r>
              <a:rPr lang="en-GB" sz="2600" dirty="0">
                <a:solidFill>
                  <a:srgbClr val="000000"/>
                </a:solidFill>
              </a:rPr>
              <a:t> de dialoguer avec </a:t>
            </a:r>
            <a:r>
              <a:rPr lang="en-GB" sz="2600" dirty="0" err="1">
                <a:solidFill>
                  <a:srgbClr val="000000"/>
                </a:solidFill>
              </a:rPr>
              <a:t>d'autres</a:t>
            </a:r>
            <a:r>
              <a:rPr lang="en-GB" sz="2600" dirty="0">
                <a:solidFill>
                  <a:srgbClr val="000000"/>
                </a:solidFill>
              </a:rPr>
              <a:t> organisations qui </a:t>
            </a:r>
            <a:r>
              <a:rPr lang="en-GB" sz="2600" dirty="0" err="1">
                <a:solidFill>
                  <a:srgbClr val="000000"/>
                </a:solidFill>
              </a:rPr>
              <a:t>approuvent</a:t>
            </a:r>
            <a:r>
              <a:rPr lang="en-GB" sz="2600" dirty="0">
                <a:solidFill>
                  <a:srgbClr val="000000"/>
                </a:solidFill>
              </a:rPr>
              <a:t> la </a:t>
            </a:r>
            <a:r>
              <a:rPr lang="en-GB" sz="2600" dirty="0" err="1">
                <a:solidFill>
                  <a:srgbClr val="000000"/>
                </a:solidFill>
              </a:rPr>
              <a:t>même</a:t>
            </a:r>
            <a:r>
              <a:rPr lang="en-GB" sz="2600" dirty="0">
                <a:solidFill>
                  <a:srgbClr val="000000"/>
                </a:solidFill>
              </a:rPr>
              <a:t> </a:t>
            </a:r>
            <a:r>
              <a:rPr lang="en-GB" sz="2600" dirty="0" err="1">
                <a:solidFill>
                  <a:srgbClr val="000000"/>
                </a:solidFill>
              </a:rPr>
              <a:t>Autorité</a:t>
            </a:r>
            <a:r>
              <a:rPr lang="en-GB" sz="2600" dirty="0">
                <a:solidFill>
                  <a:srgbClr val="000000"/>
                </a:solidFill>
              </a:rPr>
              <a:t> de certification</a:t>
            </a:r>
            <a:endParaRPr lang="en-US" sz="2600" dirty="0"/>
          </a:p>
          <a:p>
            <a:pPr marL="231775" indent="-231775" algn="l">
              <a:lnSpc>
                <a:spcPct val="90000"/>
              </a:lnSpc>
              <a:spcAft>
                <a:spcPts val="1200"/>
              </a:spcAft>
              <a:buSzPct val="80000"/>
              <a:buFontTx/>
              <a:buBlip>
                <a:blip r:embed="rId9"/>
              </a:buBlip>
            </a:pPr>
            <a:r>
              <a:rPr lang="en-GB" sz="2600" dirty="0" err="1">
                <a:solidFill>
                  <a:srgbClr val="000000"/>
                </a:solidFill>
              </a:rPr>
              <a:t>Lorsque</a:t>
            </a:r>
            <a:r>
              <a:rPr lang="en-GB" sz="2600" dirty="0">
                <a:solidFill>
                  <a:srgbClr val="000000"/>
                </a:solidFill>
              </a:rPr>
              <a:t> </a:t>
            </a:r>
            <a:r>
              <a:rPr lang="en-GB" sz="2600" dirty="0" err="1">
                <a:solidFill>
                  <a:srgbClr val="000000"/>
                </a:solidFill>
              </a:rPr>
              <a:t>vous</a:t>
            </a:r>
            <a:r>
              <a:rPr lang="en-GB" sz="2600" dirty="0">
                <a:solidFill>
                  <a:srgbClr val="000000"/>
                </a:solidFill>
              </a:rPr>
              <a:t> </a:t>
            </a:r>
            <a:r>
              <a:rPr lang="en-GB" sz="2600" dirty="0" err="1">
                <a:solidFill>
                  <a:srgbClr val="000000"/>
                </a:solidFill>
              </a:rPr>
              <a:t>avez</a:t>
            </a:r>
            <a:r>
              <a:rPr lang="en-GB" sz="2600" dirty="0">
                <a:solidFill>
                  <a:srgbClr val="000000"/>
                </a:solidFill>
              </a:rPr>
              <a:t> </a:t>
            </a:r>
            <a:r>
              <a:rPr lang="en-GB" sz="2600" dirty="0" err="1">
                <a:solidFill>
                  <a:srgbClr val="000000"/>
                </a:solidFill>
              </a:rPr>
              <a:t>besoin</a:t>
            </a:r>
            <a:r>
              <a:rPr lang="en-GB" sz="2600" dirty="0">
                <a:solidFill>
                  <a:srgbClr val="000000"/>
                </a:solidFill>
              </a:rPr>
              <a:t> d'un </a:t>
            </a:r>
            <a:r>
              <a:rPr lang="en-GB" sz="2600" dirty="0" err="1">
                <a:solidFill>
                  <a:srgbClr val="000000"/>
                </a:solidFill>
              </a:rPr>
              <a:t>niveau</a:t>
            </a:r>
            <a:r>
              <a:rPr lang="en-GB" sz="2600" dirty="0">
                <a:solidFill>
                  <a:srgbClr val="000000"/>
                </a:solidFill>
              </a:rPr>
              <a:t> de </a:t>
            </a:r>
            <a:r>
              <a:rPr lang="en-GB" sz="2600" dirty="0" err="1">
                <a:solidFill>
                  <a:srgbClr val="000000"/>
                </a:solidFill>
              </a:rPr>
              <a:t>sécurité</a:t>
            </a:r>
            <a:r>
              <a:rPr lang="en-GB" sz="2600" dirty="0">
                <a:solidFill>
                  <a:srgbClr val="000000"/>
                </a:solidFill>
              </a:rPr>
              <a:t> plus </a:t>
            </a:r>
            <a:r>
              <a:rPr lang="en-GB" sz="2600" dirty="0" err="1">
                <a:solidFill>
                  <a:srgbClr val="000000"/>
                </a:solidFill>
              </a:rPr>
              <a:t>élevé</a:t>
            </a:r>
            <a:r>
              <a:rPr lang="en-GB" sz="2600" dirty="0">
                <a:solidFill>
                  <a:srgbClr val="000000"/>
                </a:solidFill>
              </a:rPr>
              <a:t> </a:t>
            </a:r>
            <a:r>
              <a:rPr lang="en-GB" sz="2600" dirty="0" err="1">
                <a:solidFill>
                  <a:srgbClr val="000000"/>
                </a:solidFill>
              </a:rPr>
              <a:t>que</a:t>
            </a:r>
            <a:r>
              <a:rPr lang="en-GB" sz="2600" dirty="0">
                <a:solidFill>
                  <a:srgbClr val="000000"/>
                </a:solidFill>
              </a:rPr>
              <a:t> </a:t>
            </a:r>
            <a:r>
              <a:rPr lang="en-GB" sz="2600" dirty="0" err="1">
                <a:solidFill>
                  <a:srgbClr val="000000"/>
                </a:solidFill>
              </a:rPr>
              <a:t>celui</a:t>
            </a:r>
            <a:r>
              <a:rPr lang="en-GB" sz="2600" dirty="0">
                <a:solidFill>
                  <a:srgbClr val="000000"/>
                </a:solidFill>
              </a:rPr>
              <a:t> </a:t>
            </a:r>
            <a:r>
              <a:rPr lang="en-GB" sz="2600" dirty="0" err="1">
                <a:solidFill>
                  <a:srgbClr val="000000"/>
                </a:solidFill>
              </a:rPr>
              <a:t>fourni</a:t>
            </a:r>
            <a:r>
              <a:rPr lang="en-GB" sz="2600" dirty="0">
                <a:solidFill>
                  <a:srgbClr val="000000"/>
                </a:solidFill>
              </a:rPr>
              <a:t> par le </a:t>
            </a:r>
            <a:r>
              <a:rPr lang="en-GB" sz="2600" dirty="0" err="1">
                <a:solidFill>
                  <a:srgbClr val="000000"/>
                </a:solidFill>
              </a:rPr>
              <a:t>protocole</a:t>
            </a:r>
            <a:r>
              <a:rPr lang="en-GB" sz="2600" dirty="0">
                <a:solidFill>
                  <a:srgbClr val="000000"/>
                </a:solidFill>
              </a:rPr>
              <a:t> Kerberos </a:t>
            </a:r>
            <a:r>
              <a:rPr lang="en-GB" sz="2600" dirty="0" err="1">
                <a:solidFill>
                  <a:srgbClr val="000000"/>
                </a:solidFill>
              </a:rPr>
              <a:t>ou</a:t>
            </a:r>
            <a:r>
              <a:rPr lang="en-GB" sz="2600" dirty="0">
                <a:solidFill>
                  <a:srgbClr val="000000"/>
                </a:solidFill>
              </a:rPr>
              <a:t> les </a:t>
            </a:r>
            <a:r>
              <a:rPr lang="en-GB" sz="2600" dirty="0" err="1">
                <a:solidFill>
                  <a:srgbClr val="000000"/>
                </a:solidFill>
              </a:rPr>
              <a:t>clés</a:t>
            </a:r>
            <a:r>
              <a:rPr lang="en-GB" sz="2600" dirty="0">
                <a:solidFill>
                  <a:srgbClr val="000000"/>
                </a:solidFill>
              </a:rPr>
              <a:t> </a:t>
            </a:r>
            <a:r>
              <a:rPr lang="en-GB" sz="2600" dirty="0" err="1">
                <a:solidFill>
                  <a:srgbClr val="000000"/>
                </a:solidFill>
              </a:rPr>
              <a:t>pré-partagées</a:t>
            </a:r>
            <a:endParaRPr lang="en-US" sz="2600" dirty="0"/>
          </a:p>
          <a:p>
            <a:pPr marL="231775" indent="-231775" algn="l">
              <a:lnSpc>
                <a:spcPct val="90000"/>
              </a:lnSpc>
              <a:spcAft>
                <a:spcPts val="1200"/>
              </a:spcAft>
              <a:buSzPct val="80000"/>
              <a:buFontTx/>
              <a:buBlip>
                <a:blip r:embed="rId9"/>
              </a:buBlip>
            </a:pPr>
            <a:r>
              <a:rPr lang="en-GB" sz="2600" dirty="0">
                <a:solidFill>
                  <a:srgbClr val="000000"/>
                </a:solidFill>
              </a:rPr>
              <a:t>Pour les clients qui ne font pas </a:t>
            </a:r>
            <a:r>
              <a:rPr lang="en-GB" sz="2600" dirty="0" err="1">
                <a:solidFill>
                  <a:srgbClr val="000000"/>
                </a:solidFill>
              </a:rPr>
              <a:t>partie</a:t>
            </a:r>
            <a:r>
              <a:rPr lang="en-GB" sz="2600" dirty="0">
                <a:solidFill>
                  <a:srgbClr val="000000"/>
                </a:solidFill>
              </a:rPr>
              <a:t> </a:t>
            </a:r>
            <a:r>
              <a:rPr lang="en-GB" sz="2600" dirty="0" err="1">
                <a:solidFill>
                  <a:srgbClr val="000000"/>
                </a:solidFill>
              </a:rPr>
              <a:t>d'une</a:t>
            </a:r>
            <a:r>
              <a:rPr lang="en-GB" sz="2600" dirty="0">
                <a:solidFill>
                  <a:srgbClr val="000000"/>
                </a:solidFill>
              </a:rPr>
              <a:t> structure Active Directory </a:t>
            </a:r>
            <a:r>
              <a:rPr lang="en-GB" sz="2600" dirty="0" err="1">
                <a:solidFill>
                  <a:srgbClr val="000000"/>
                </a:solidFill>
              </a:rPr>
              <a:t>ou</a:t>
            </a:r>
            <a:r>
              <a:rPr lang="en-GB" sz="2600" dirty="0">
                <a:solidFill>
                  <a:srgbClr val="000000"/>
                </a:solidFill>
              </a:rPr>
              <a:t> qui ne </a:t>
            </a:r>
            <a:r>
              <a:rPr lang="en-GB" sz="2600" dirty="0" err="1">
                <a:solidFill>
                  <a:srgbClr val="000000"/>
                </a:solidFill>
              </a:rPr>
              <a:t>prennent</a:t>
            </a:r>
            <a:r>
              <a:rPr lang="en-GB" sz="2600" dirty="0">
                <a:solidFill>
                  <a:srgbClr val="000000"/>
                </a:solidFill>
              </a:rPr>
              <a:t> pas en charge le </a:t>
            </a:r>
            <a:r>
              <a:rPr lang="en-GB" sz="2600" dirty="0" err="1">
                <a:solidFill>
                  <a:srgbClr val="000000"/>
                </a:solidFill>
              </a:rPr>
              <a:t>protocole</a:t>
            </a:r>
            <a:r>
              <a:rPr lang="en-GB" sz="2600" dirty="0">
                <a:solidFill>
                  <a:srgbClr val="000000"/>
                </a:solidFill>
              </a:rPr>
              <a:t> Kerberos</a:t>
            </a:r>
            <a:endParaRPr lang="en-US" sz="2600" dirty="0">
              <a:solidFill>
                <a:srgbClr val="000000"/>
              </a:solidFill>
            </a:endParaRPr>
          </a:p>
        </p:txBody>
      </p:sp>
      <p:grpSp>
        <p:nvGrpSpPr>
          <p:cNvPr id="219162" name="Group 14"/>
          <p:cNvGrpSpPr>
            <a:grpSpLocks/>
          </p:cNvGrpSpPr>
          <p:nvPr/>
        </p:nvGrpSpPr>
        <p:grpSpPr bwMode="auto">
          <a:xfrm>
            <a:off x="6472238" y="1051378"/>
            <a:ext cx="2671762" cy="1878013"/>
            <a:chOff x="3625" y="868"/>
            <a:chExt cx="1683" cy="1183"/>
          </a:xfrm>
        </p:grpSpPr>
        <p:pic>
          <p:nvPicPr>
            <p:cNvPr id="219148" name="Picture 12" descr="CertificationAuthority01"/>
            <p:cNvPicPr>
              <a:picLocks noChangeAspect="1" noChangeArrowheads="1"/>
            </p:cNvPicPr>
            <p:nvPr>
              <p:custDataLst>
                <p:tags r:id="rId3"/>
              </p:custDataLst>
            </p:nvPr>
          </p:nvPicPr>
          <p:blipFill>
            <a:blip r:embed="rId10"/>
            <a:srcRect/>
            <a:stretch>
              <a:fillRect/>
            </a:stretch>
          </p:blipFill>
          <p:spPr bwMode="auto">
            <a:xfrm>
              <a:off x="3832" y="1010"/>
              <a:ext cx="1152" cy="1041"/>
            </a:xfrm>
            <a:prstGeom prst="rect">
              <a:avLst/>
            </a:prstGeom>
            <a:noFill/>
          </p:spPr>
        </p:pic>
        <p:pic>
          <p:nvPicPr>
            <p:cNvPr id="219151" name="Picture 15" descr="Cards_NetworkCard01"/>
            <p:cNvPicPr>
              <a:picLocks noChangeAspect="1" noChangeArrowheads="1"/>
            </p:cNvPicPr>
            <p:nvPr>
              <p:custDataLst>
                <p:tags r:id="rId4"/>
              </p:custDataLst>
            </p:nvPr>
          </p:nvPicPr>
          <p:blipFill>
            <a:blip r:embed="rId11"/>
            <a:srcRect/>
            <a:stretch>
              <a:fillRect/>
            </a:stretch>
          </p:blipFill>
          <p:spPr bwMode="auto">
            <a:xfrm>
              <a:off x="4180" y="986"/>
              <a:ext cx="1128" cy="562"/>
            </a:xfrm>
            <a:prstGeom prst="rect">
              <a:avLst/>
            </a:prstGeom>
            <a:noFill/>
          </p:spPr>
        </p:pic>
        <p:pic>
          <p:nvPicPr>
            <p:cNvPr id="219152" name="Picture 16" descr="Security_Permissions01"/>
            <p:cNvPicPr>
              <a:picLocks noChangeAspect="1" noChangeArrowheads="1"/>
            </p:cNvPicPr>
            <p:nvPr>
              <p:custDataLst>
                <p:tags r:id="rId5"/>
              </p:custDataLst>
            </p:nvPr>
          </p:nvPicPr>
          <p:blipFill>
            <a:blip r:embed="rId12" cstate="print"/>
            <a:srcRect/>
            <a:stretch>
              <a:fillRect/>
            </a:stretch>
          </p:blipFill>
          <p:spPr bwMode="auto">
            <a:xfrm>
              <a:off x="4522" y="868"/>
              <a:ext cx="335" cy="440"/>
            </a:xfrm>
            <a:prstGeom prst="rect">
              <a:avLst/>
            </a:prstGeom>
            <a:noFill/>
          </p:spPr>
        </p:pic>
        <p:sp>
          <p:nvSpPr>
            <p:cNvPr id="219153" name="AutoShape 17"/>
            <p:cNvSpPr>
              <a:spLocks noChangeArrowheads="1"/>
            </p:cNvSpPr>
            <p:nvPr>
              <p:custDataLst>
                <p:tags r:id="rId6"/>
              </p:custDataLst>
            </p:nvPr>
          </p:nvSpPr>
          <p:spPr bwMode="auto">
            <a:xfrm>
              <a:off x="3625" y="999"/>
              <a:ext cx="759" cy="228"/>
            </a:xfrm>
            <a:prstGeom prst="roundRect">
              <a:avLst>
                <a:gd name="adj" fmla="val 4167"/>
              </a:avLst>
            </a:prstGeom>
            <a:solidFill>
              <a:schemeClr val="bg1"/>
            </a:solidFill>
            <a:ln w="9525">
              <a:solidFill>
                <a:srgbClr val="4D4D4D"/>
              </a:solidFill>
              <a:round/>
              <a:headEnd/>
              <a:tailEnd/>
            </a:ln>
            <a:effectLst>
              <a:outerShdw dist="35921" dir="2700000" algn="ctr" rotWithShape="0">
                <a:srgbClr val="AFAFAF"/>
              </a:outerShdw>
            </a:effectLst>
          </p:spPr>
          <p:txBody>
            <a:bodyPr wrap="none" anchor="ctr"/>
            <a:lstStyle/>
            <a:p>
              <a:pPr>
                <a:lnSpc>
                  <a:spcPct val="85000"/>
                </a:lnSpc>
              </a:pPr>
              <a:r>
                <a:rPr lang="en-GB">
                  <a:solidFill>
                    <a:srgbClr val="000000"/>
                  </a:solidFill>
                </a:rPr>
                <a:t>Sécurité IP</a:t>
              </a:r>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19156">
                                            <p:txEl>
                                              <p:pRg st="0" end="0"/>
                                            </p:txEl>
                                          </p:spTgt>
                                        </p:tgtEl>
                                        <p:attrNameLst>
                                          <p:attrName>style.visibility</p:attrName>
                                        </p:attrNameLst>
                                      </p:cBhvr>
                                      <p:to>
                                        <p:strVal val="visible"/>
                                      </p:to>
                                    </p:set>
                                    <p:animEffect transition="in" filter="checkerboard(across)">
                                      <p:cBhvr>
                                        <p:cTn id="7" dur="500"/>
                                        <p:tgtEl>
                                          <p:spTgt spid="21915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19156">
                                            <p:txEl>
                                              <p:pRg st="1" end="1"/>
                                            </p:txEl>
                                          </p:spTgt>
                                        </p:tgtEl>
                                        <p:attrNameLst>
                                          <p:attrName>style.visibility</p:attrName>
                                        </p:attrNameLst>
                                      </p:cBhvr>
                                      <p:to>
                                        <p:strVal val="visible"/>
                                      </p:to>
                                    </p:set>
                                    <p:animEffect transition="in" filter="checkerboard(across)">
                                      <p:cBhvr>
                                        <p:cTn id="12" dur="500"/>
                                        <p:tgtEl>
                                          <p:spTgt spid="21915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219156">
                                            <p:txEl>
                                              <p:pRg st="2" end="2"/>
                                            </p:txEl>
                                          </p:spTgt>
                                        </p:tgtEl>
                                        <p:attrNameLst>
                                          <p:attrName>style.visibility</p:attrName>
                                        </p:attrNameLst>
                                      </p:cBhvr>
                                      <p:to>
                                        <p:strVal val="visible"/>
                                      </p:to>
                                    </p:set>
                                    <p:animEffect transition="in" filter="checkerboard(across)">
                                      <p:cBhvr>
                                        <p:cTn id="17" dur="500"/>
                                        <p:tgtEl>
                                          <p:spTgt spid="21915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2"/>
          <p:cNvSpPr>
            <a:spLocks noGrp="1" noChangeArrowheads="1"/>
          </p:cNvSpPr>
          <p:nvPr>
            <p:ph type="title"/>
            <p:custDataLst>
              <p:tags r:id="rId1"/>
            </p:custDataLst>
          </p:nvPr>
        </p:nvSpPr>
        <p:spPr/>
        <p:txBody>
          <a:bodyPr/>
          <a:lstStyle/>
          <a:p>
            <a:pPr marL="460375" indent="-460375"/>
            <a:r>
              <a:rPr lang="fr-FR" b="1" dirty="0" smtClean="0">
                <a:solidFill>
                  <a:srgbClr val="000000"/>
                </a:solidFill>
              </a:rPr>
              <a:t>3. Analyse </a:t>
            </a:r>
            <a:r>
              <a:rPr lang="fr-FR" b="1" dirty="0">
                <a:solidFill>
                  <a:srgbClr val="000000"/>
                </a:solidFill>
              </a:rPr>
              <a:t>de la sécurité </a:t>
            </a:r>
            <a:r>
              <a:rPr lang="fr-FR" b="1" dirty="0" err="1">
                <a:solidFill>
                  <a:srgbClr val="000000"/>
                </a:solidFill>
              </a:rPr>
              <a:t>IPSec</a:t>
            </a:r>
            <a:endParaRPr lang="en-US" b="1" dirty="0">
              <a:solidFill>
                <a:srgbClr val="000000"/>
              </a:solidFill>
            </a:endParaRPr>
          </a:p>
        </p:txBody>
      </p:sp>
      <p:sp>
        <p:nvSpPr>
          <p:cNvPr id="185347" name="Rectangle 3"/>
          <p:cNvSpPr>
            <a:spLocks noGrp="1" noChangeArrowheads="1"/>
          </p:cNvSpPr>
          <p:nvPr>
            <p:ph sz="quarter" idx="1"/>
            <p:custDataLst>
              <p:tags r:id="rId2"/>
            </p:custDataLst>
          </p:nvPr>
        </p:nvSpPr>
        <p:spPr>
          <a:xfrm>
            <a:off x="243695" y="2339848"/>
            <a:ext cx="8503920" cy="2493409"/>
          </a:xfrm>
        </p:spPr>
        <p:txBody>
          <a:bodyPr/>
          <a:lstStyle/>
          <a:p>
            <a:pPr>
              <a:buClrTx/>
              <a:buFont typeface="Wingdings" pitchFamily="2" charset="2"/>
              <a:buChar char="Ø"/>
            </a:pPr>
            <a:r>
              <a:rPr lang="en-GB" dirty="0" err="1">
                <a:solidFill>
                  <a:srgbClr val="000000"/>
                </a:solidFill>
              </a:rPr>
              <a:t>Moniteur</a:t>
            </a:r>
            <a:r>
              <a:rPr lang="en-GB" dirty="0">
                <a:solidFill>
                  <a:srgbClr val="000000"/>
                </a:solidFill>
              </a:rPr>
              <a:t> de </a:t>
            </a:r>
            <a:r>
              <a:rPr lang="en-GB" dirty="0" err="1">
                <a:solidFill>
                  <a:srgbClr val="000000"/>
                </a:solidFill>
              </a:rPr>
              <a:t>sécurité</a:t>
            </a:r>
            <a:r>
              <a:rPr lang="en-GB" dirty="0">
                <a:solidFill>
                  <a:srgbClr val="000000"/>
                </a:solidFill>
              </a:rPr>
              <a:t> IP</a:t>
            </a:r>
            <a:endParaRPr lang="en-US" dirty="0"/>
          </a:p>
          <a:p>
            <a:pPr>
              <a:buClrTx/>
              <a:buFont typeface="Wingdings" pitchFamily="2" charset="2"/>
              <a:buChar char="Ø"/>
            </a:pPr>
            <a:r>
              <a:rPr lang="en-GB" dirty="0">
                <a:solidFill>
                  <a:srgbClr val="000000"/>
                </a:solidFill>
              </a:rPr>
              <a:t>Instructions relatives à </a:t>
            </a:r>
            <a:r>
              <a:rPr lang="en-GB" dirty="0" err="1">
                <a:solidFill>
                  <a:srgbClr val="000000"/>
                </a:solidFill>
              </a:rPr>
              <a:t>l'analyse</a:t>
            </a:r>
            <a:r>
              <a:rPr lang="en-GB" dirty="0">
                <a:solidFill>
                  <a:srgbClr val="000000"/>
                </a:solidFill>
              </a:rPr>
              <a:t> des </a:t>
            </a:r>
            <a:r>
              <a:rPr lang="en-GB" dirty="0" err="1">
                <a:solidFill>
                  <a:srgbClr val="000000"/>
                </a:solidFill>
              </a:rPr>
              <a:t>stratégies</a:t>
            </a:r>
            <a:r>
              <a:rPr lang="en-GB" dirty="0">
                <a:solidFill>
                  <a:srgbClr val="000000"/>
                </a:solidFill>
              </a:rPr>
              <a:t> IPSec</a:t>
            </a:r>
            <a:endParaRPr lang="en-US" dirty="0">
              <a:solidFill>
                <a:srgbClr val="FF0000"/>
              </a:solidFill>
              <a:hlinkMouseOver r:id="rId5" action="ppaction://hlinkfile"/>
            </a:endParaRPr>
          </a:p>
          <a:p>
            <a:pPr>
              <a:buFont typeface="Wingdings" pitchFamily="2" charset="2"/>
              <a:buNone/>
            </a:pPr>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1" name="Rectangle 3"/>
          <p:cNvSpPr>
            <a:spLocks noGrp="1" noChangeArrowheads="1"/>
          </p:cNvSpPr>
          <p:nvPr>
            <p:ph type="title"/>
            <p:custDataLst>
              <p:tags r:id="rId1"/>
            </p:custDataLst>
          </p:nvPr>
        </p:nvSpPr>
        <p:spPr/>
        <p:txBody>
          <a:bodyPr>
            <a:normAutofit/>
          </a:bodyPr>
          <a:lstStyle/>
          <a:p>
            <a:r>
              <a:rPr lang="en-GB" sz="2800" b="1" dirty="0" err="1">
                <a:solidFill>
                  <a:srgbClr val="000000"/>
                </a:solidFill>
              </a:rPr>
              <a:t>Moniteur</a:t>
            </a:r>
            <a:r>
              <a:rPr lang="en-GB" sz="2800" b="1" dirty="0">
                <a:solidFill>
                  <a:srgbClr val="000000"/>
                </a:solidFill>
              </a:rPr>
              <a:t> de </a:t>
            </a:r>
            <a:r>
              <a:rPr lang="en-GB" sz="2800" b="1" dirty="0" err="1">
                <a:solidFill>
                  <a:srgbClr val="000000"/>
                </a:solidFill>
              </a:rPr>
              <a:t>sécurité</a:t>
            </a:r>
            <a:r>
              <a:rPr lang="en-GB" sz="2800" b="1" dirty="0">
                <a:solidFill>
                  <a:srgbClr val="000000"/>
                </a:solidFill>
              </a:rPr>
              <a:t> IP</a:t>
            </a:r>
            <a:endParaRPr lang="en-US" sz="2800" b="1" dirty="0"/>
          </a:p>
        </p:txBody>
      </p:sp>
      <p:sp>
        <p:nvSpPr>
          <p:cNvPr id="258077" name="AutoShape 29"/>
          <p:cNvSpPr>
            <a:spLocks noChangeArrowheads="1"/>
          </p:cNvSpPr>
          <p:nvPr>
            <p:custDataLst>
              <p:tags r:id="rId2"/>
            </p:custDataLst>
          </p:nvPr>
        </p:nvSpPr>
        <p:spPr bwMode="auto">
          <a:xfrm>
            <a:off x="406400" y="2209572"/>
            <a:ext cx="8127999" cy="4100512"/>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marL="231775" indent="-231775" algn="l">
              <a:lnSpc>
                <a:spcPct val="90000"/>
              </a:lnSpc>
              <a:buSzPct val="80000"/>
              <a:buFontTx/>
              <a:buBlip>
                <a:blip r:embed="rId5"/>
              </a:buBlip>
            </a:pPr>
            <a:r>
              <a:rPr lang="en-GB" sz="2400" dirty="0" err="1">
                <a:solidFill>
                  <a:srgbClr val="000000"/>
                </a:solidFill>
              </a:rPr>
              <a:t>Détails</a:t>
            </a:r>
            <a:r>
              <a:rPr lang="en-GB" sz="2400" dirty="0">
                <a:solidFill>
                  <a:srgbClr val="000000"/>
                </a:solidFill>
              </a:rPr>
              <a:t> </a:t>
            </a:r>
            <a:r>
              <a:rPr lang="en-GB" sz="2400" dirty="0" err="1">
                <a:solidFill>
                  <a:srgbClr val="000000"/>
                </a:solidFill>
              </a:rPr>
              <a:t>d'une</a:t>
            </a:r>
            <a:r>
              <a:rPr lang="en-GB" sz="2400" dirty="0">
                <a:solidFill>
                  <a:srgbClr val="000000"/>
                </a:solidFill>
              </a:rPr>
              <a:t> </a:t>
            </a:r>
            <a:r>
              <a:rPr lang="en-GB" sz="2400" dirty="0" err="1">
                <a:solidFill>
                  <a:srgbClr val="000000"/>
                </a:solidFill>
              </a:rPr>
              <a:t>stratégie</a:t>
            </a:r>
            <a:r>
              <a:rPr lang="en-GB" sz="2400" dirty="0">
                <a:solidFill>
                  <a:srgbClr val="000000"/>
                </a:solidFill>
              </a:rPr>
              <a:t> IPSec active</a:t>
            </a:r>
            <a:endParaRPr lang="en-US" sz="2400" dirty="0">
              <a:cs typeface="Times New Roman" pitchFamily="18" charset="0"/>
            </a:endParaRPr>
          </a:p>
          <a:p>
            <a:pPr marL="573088" lvl="1" indent="-227013" algn="l">
              <a:lnSpc>
                <a:spcPct val="90000"/>
              </a:lnSpc>
              <a:buClr>
                <a:schemeClr val="accent2"/>
              </a:buClr>
              <a:buFont typeface="Wingdings" pitchFamily="2" charset="2"/>
              <a:buChar char=""/>
            </a:pPr>
            <a:r>
              <a:rPr lang="en-US" sz="2400" b="0" dirty="0"/>
              <a:t> </a:t>
            </a:r>
            <a:r>
              <a:rPr lang="en-GB" sz="2400" b="0" dirty="0">
                <a:solidFill>
                  <a:srgbClr val="000000"/>
                </a:solidFill>
              </a:rPr>
              <a:t>Nom</a:t>
            </a:r>
            <a:endParaRPr lang="en-US" sz="2400" b="0" dirty="0"/>
          </a:p>
          <a:p>
            <a:pPr marL="573088" lvl="1" indent="-227013" algn="l">
              <a:lnSpc>
                <a:spcPct val="90000"/>
              </a:lnSpc>
              <a:buClr>
                <a:schemeClr val="accent2"/>
              </a:buClr>
              <a:buFont typeface="Wingdings" pitchFamily="2" charset="2"/>
              <a:buChar char=""/>
            </a:pPr>
            <a:r>
              <a:rPr lang="en-US" sz="2400" b="0" dirty="0"/>
              <a:t> </a:t>
            </a:r>
            <a:r>
              <a:rPr lang="en-GB" sz="2400" b="0" dirty="0">
                <a:solidFill>
                  <a:srgbClr val="000000"/>
                </a:solidFill>
              </a:rPr>
              <a:t>Description</a:t>
            </a:r>
            <a:endParaRPr lang="en-US" sz="2400" b="0" dirty="0"/>
          </a:p>
          <a:p>
            <a:pPr marL="573088" lvl="1" indent="-227013" algn="l">
              <a:lnSpc>
                <a:spcPct val="90000"/>
              </a:lnSpc>
              <a:buClr>
                <a:schemeClr val="accent2"/>
              </a:buClr>
              <a:buFont typeface="Wingdings" pitchFamily="2" charset="2"/>
              <a:buChar char=""/>
            </a:pPr>
            <a:r>
              <a:rPr lang="en-US" sz="2400" b="0" dirty="0"/>
              <a:t> </a:t>
            </a:r>
            <a:r>
              <a:rPr lang="en-GB" sz="2400" b="0" dirty="0">
                <a:solidFill>
                  <a:srgbClr val="000000"/>
                </a:solidFill>
              </a:rPr>
              <a:t>Date de la </a:t>
            </a:r>
            <a:r>
              <a:rPr lang="en-GB" sz="2400" b="0" dirty="0" err="1">
                <a:solidFill>
                  <a:srgbClr val="000000"/>
                </a:solidFill>
              </a:rPr>
              <a:t>dernière</a:t>
            </a:r>
            <a:r>
              <a:rPr lang="en-GB" sz="2400" b="0" dirty="0">
                <a:solidFill>
                  <a:srgbClr val="000000"/>
                </a:solidFill>
              </a:rPr>
              <a:t> modification</a:t>
            </a:r>
            <a:endParaRPr lang="en-US" sz="2400" b="0" dirty="0"/>
          </a:p>
          <a:p>
            <a:pPr marL="573088" lvl="1" indent="-227013" algn="l">
              <a:lnSpc>
                <a:spcPct val="90000"/>
              </a:lnSpc>
              <a:buClr>
                <a:schemeClr val="accent2"/>
              </a:buClr>
              <a:buFont typeface="Wingdings" pitchFamily="2" charset="2"/>
              <a:buChar char=""/>
            </a:pPr>
            <a:r>
              <a:rPr lang="en-US" sz="2400" b="0" dirty="0"/>
              <a:t> </a:t>
            </a:r>
            <a:r>
              <a:rPr lang="en-GB" sz="2400" b="0" dirty="0" err="1">
                <a:solidFill>
                  <a:srgbClr val="000000"/>
                </a:solidFill>
              </a:rPr>
              <a:t>Magasin</a:t>
            </a:r>
            <a:endParaRPr lang="en-US" sz="2400" b="0" dirty="0"/>
          </a:p>
          <a:p>
            <a:pPr marL="573088" lvl="1" indent="-227013" algn="l">
              <a:lnSpc>
                <a:spcPct val="90000"/>
              </a:lnSpc>
              <a:buClr>
                <a:schemeClr val="accent2"/>
              </a:buClr>
              <a:buFont typeface="Wingdings" pitchFamily="2" charset="2"/>
              <a:buChar char=""/>
            </a:pPr>
            <a:r>
              <a:rPr lang="en-US" sz="2400" b="0" dirty="0"/>
              <a:t> </a:t>
            </a:r>
            <a:r>
              <a:rPr lang="en-GB" sz="2400" b="0" dirty="0" err="1">
                <a:solidFill>
                  <a:srgbClr val="000000"/>
                </a:solidFill>
              </a:rPr>
              <a:t>Chemin</a:t>
            </a:r>
            <a:r>
              <a:rPr lang="en-GB" sz="2400" b="0" dirty="0">
                <a:solidFill>
                  <a:srgbClr val="000000"/>
                </a:solidFill>
              </a:rPr>
              <a:t> </a:t>
            </a:r>
            <a:r>
              <a:rPr lang="en-GB" sz="2400" b="0" dirty="0" err="1">
                <a:solidFill>
                  <a:srgbClr val="000000"/>
                </a:solidFill>
              </a:rPr>
              <a:t>d'accès</a:t>
            </a:r>
            <a:endParaRPr lang="en-US" sz="2400" b="0" dirty="0"/>
          </a:p>
          <a:p>
            <a:pPr marL="573088" lvl="1" indent="-227013" algn="l">
              <a:lnSpc>
                <a:spcPct val="90000"/>
              </a:lnSpc>
              <a:buClr>
                <a:schemeClr val="accent2"/>
              </a:buClr>
              <a:buFont typeface="Wingdings" pitchFamily="2" charset="2"/>
              <a:buChar char=""/>
            </a:pPr>
            <a:r>
              <a:rPr lang="en-GB" sz="2400" b="0" dirty="0" err="1">
                <a:solidFill>
                  <a:srgbClr val="000000"/>
                </a:solidFill>
              </a:rPr>
              <a:t>Unité</a:t>
            </a:r>
            <a:r>
              <a:rPr lang="en-GB" sz="2400" b="0" dirty="0">
                <a:solidFill>
                  <a:srgbClr val="000000"/>
                </a:solidFill>
              </a:rPr>
              <a:t> </a:t>
            </a:r>
            <a:r>
              <a:rPr lang="en-GB" sz="2400" b="0" dirty="0" err="1">
                <a:solidFill>
                  <a:srgbClr val="000000"/>
                </a:solidFill>
              </a:rPr>
              <a:t>d'organisation</a:t>
            </a:r>
            <a:r>
              <a:rPr lang="en-GB" sz="2400" b="0" dirty="0">
                <a:solidFill>
                  <a:srgbClr val="000000"/>
                </a:solidFill>
              </a:rPr>
              <a:t> et nom de </a:t>
            </a:r>
            <a:r>
              <a:rPr lang="en-GB" sz="2400" b="0" dirty="0" err="1">
                <a:solidFill>
                  <a:srgbClr val="000000"/>
                </a:solidFill>
              </a:rPr>
              <a:t>l'objet</a:t>
            </a:r>
            <a:r>
              <a:rPr lang="en-GB" sz="2400" b="0" dirty="0">
                <a:solidFill>
                  <a:srgbClr val="000000"/>
                </a:solidFill>
              </a:rPr>
              <a:t> </a:t>
            </a:r>
            <a:r>
              <a:rPr lang="en-GB" sz="2400" b="0" dirty="0" err="1" smtClean="0">
                <a:solidFill>
                  <a:srgbClr val="000000"/>
                </a:solidFill>
              </a:rPr>
              <a:t>Stratégie</a:t>
            </a:r>
            <a:r>
              <a:rPr lang="en-GB" sz="2400" b="0" dirty="0" smtClean="0">
                <a:solidFill>
                  <a:srgbClr val="000000"/>
                </a:solidFill>
              </a:rPr>
              <a:t> de </a:t>
            </a:r>
            <a:r>
              <a:rPr lang="en-GB" sz="2400" b="0" dirty="0" err="1">
                <a:solidFill>
                  <a:srgbClr val="000000"/>
                </a:solidFill>
              </a:rPr>
              <a:t>groupe</a:t>
            </a:r>
            <a:endParaRPr lang="en-US" sz="2400" b="0" dirty="0">
              <a:cs typeface="Times New Roman" pitchFamily="18" charset="0"/>
            </a:endParaRPr>
          </a:p>
          <a:p>
            <a:pPr marL="231775" indent="-231775" algn="l">
              <a:lnSpc>
                <a:spcPct val="90000"/>
              </a:lnSpc>
              <a:buSzPct val="80000"/>
              <a:buFontTx/>
              <a:buBlip>
                <a:blip r:embed="rId5"/>
              </a:buBlip>
            </a:pPr>
            <a:r>
              <a:rPr lang="en-GB" sz="2400" dirty="0" err="1">
                <a:solidFill>
                  <a:srgbClr val="000000"/>
                </a:solidFill>
              </a:rPr>
              <a:t>Statistiques</a:t>
            </a:r>
            <a:r>
              <a:rPr lang="en-GB" sz="2400" dirty="0">
                <a:solidFill>
                  <a:srgbClr val="000000"/>
                </a:solidFill>
              </a:rPr>
              <a:t> du mode principal</a:t>
            </a:r>
            <a:endParaRPr lang="en-US" sz="2400" dirty="0">
              <a:cs typeface="Times New Roman" pitchFamily="18" charset="0"/>
            </a:endParaRPr>
          </a:p>
          <a:p>
            <a:pPr marL="573088" lvl="1" indent="-227013" algn="l">
              <a:lnSpc>
                <a:spcPct val="90000"/>
              </a:lnSpc>
              <a:buClr>
                <a:schemeClr val="accent2"/>
              </a:buClr>
              <a:buFont typeface="Wingdings" pitchFamily="2" charset="2"/>
              <a:buChar char=""/>
            </a:pPr>
            <a:r>
              <a:rPr lang="en-US" sz="2400" b="0" dirty="0"/>
              <a:t> </a:t>
            </a:r>
            <a:r>
              <a:rPr lang="en-GB" sz="2400" b="0" dirty="0" err="1">
                <a:solidFill>
                  <a:srgbClr val="000000"/>
                </a:solidFill>
              </a:rPr>
              <a:t>Informations</a:t>
            </a:r>
            <a:r>
              <a:rPr lang="en-GB" sz="2400" b="0" dirty="0">
                <a:solidFill>
                  <a:srgbClr val="000000"/>
                </a:solidFill>
              </a:rPr>
              <a:t> du module IKE</a:t>
            </a:r>
            <a:endParaRPr lang="en-US" sz="2400" b="0" dirty="0">
              <a:cs typeface="Times New Roman" pitchFamily="18" charset="0"/>
            </a:endParaRPr>
          </a:p>
          <a:p>
            <a:pPr marL="231775" indent="-231775" algn="l">
              <a:lnSpc>
                <a:spcPct val="90000"/>
              </a:lnSpc>
              <a:buSzPct val="80000"/>
              <a:buFontTx/>
              <a:buBlip>
                <a:blip r:embed="rId5"/>
              </a:buBlip>
            </a:pPr>
            <a:r>
              <a:rPr lang="en-GB" sz="2400" dirty="0" err="1">
                <a:solidFill>
                  <a:srgbClr val="000000"/>
                </a:solidFill>
              </a:rPr>
              <a:t>Statistiques</a:t>
            </a:r>
            <a:r>
              <a:rPr lang="en-GB" sz="2400" dirty="0">
                <a:solidFill>
                  <a:srgbClr val="000000"/>
                </a:solidFill>
              </a:rPr>
              <a:t> du mode </a:t>
            </a:r>
            <a:r>
              <a:rPr lang="en-GB" sz="2400" dirty="0" err="1">
                <a:solidFill>
                  <a:srgbClr val="000000"/>
                </a:solidFill>
              </a:rPr>
              <a:t>rapide</a:t>
            </a:r>
            <a:endParaRPr lang="en-US" sz="2400" dirty="0"/>
          </a:p>
          <a:p>
            <a:pPr marL="573088" lvl="1" indent="-227013" algn="l">
              <a:lnSpc>
                <a:spcPct val="90000"/>
              </a:lnSpc>
              <a:buClr>
                <a:schemeClr val="accent2"/>
              </a:buClr>
              <a:buFont typeface="Wingdings" pitchFamily="2" charset="2"/>
              <a:buChar char=""/>
            </a:pPr>
            <a:r>
              <a:rPr lang="en-GB" sz="2400" b="0" dirty="0" err="1">
                <a:solidFill>
                  <a:srgbClr val="000000"/>
                </a:solidFill>
              </a:rPr>
              <a:t>Informations</a:t>
            </a:r>
            <a:r>
              <a:rPr lang="en-GB" sz="2400" b="0" dirty="0">
                <a:solidFill>
                  <a:srgbClr val="000000"/>
                </a:solidFill>
              </a:rPr>
              <a:t> </a:t>
            </a:r>
            <a:r>
              <a:rPr lang="en-GB" sz="2400" b="0" dirty="0" err="1">
                <a:solidFill>
                  <a:srgbClr val="000000"/>
                </a:solidFill>
              </a:rPr>
              <a:t>sur</a:t>
            </a:r>
            <a:r>
              <a:rPr lang="en-GB" sz="2400" b="0" dirty="0">
                <a:solidFill>
                  <a:srgbClr val="000000"/>
                </a:solidFill>
              </a:rPr>
              <a:t> le </a:t>
            </a:r>
            <a:r>
              <a:rPr lang="en-GB" sz="2400" b="0" dirty="0" err="1">
                <a:solidFill>
                  <a:srgbClr val="000000"/>
                </a:solidFill>
              </a:rPr>
              <a:t>pilote</a:t>
            </a:r>
            <a:r>
              <a:rPr lang="en-GB" sz="2400" b="0" dirty="0">
                <a:solidFill>
                  <a:srgbClr val="000000"/>
                </a:solidFill>
              </a:rPr>
              <a:t> IPSec</a:t>
            </a:r>
            <a:endParaRPr lang="en-US" sz="2400" b="0" dirty="0">
              <a:solidFill>
                <a:srgbClr val="000000"/>
              </a:solidFill>
            </a:endParaRPr>
          </a:p>
        </p:txBody>
      </p:sp>
      <p:sp>
        <p:nvSpPr>
          <p:cNvPr id="5" name="Rectangle 4"/>
          <p:cNvSpPr/>
          <p:nvPr/>
        </p:nvSpPr>
        <p:spPr>
          <a:xfrm>
            <a:off x="268513" y="1370764"/>
            <a:ext cx="8599715" cy="830997"/>
          </a:xfrm>
          <a:prstGeom prst="rect">
            <a:avLst/>
          </a:prstGeom>
        </p:spPr>
        <p:txBody>
          <a:bodyPr wrap="square">
            <a:spAutoFit/>
          </a:bodyPr>
          <a:lstStyle/>
          <a:p>
            <a:pPr algn="l"/>
            <a:r>
              <a:rPr lang="en-GB" sz="2400" dirty="0" err="1" smtClean="0">
                <a:solidFill>
                  <a:srgbClr val="000000"/>
                </a:solidFill>
              </a:rPr>
              <a:t>Vous</a:t>
            </a:r>
            <a:r>
              <a:rPr lang="en-GB" sz="2400" dirty="0" smtClean="0">
                <a:solidFill>
                  <a:srgbClr val="000000"/>
                </a:solidFill>
              </a:rPr>
              <a:t> </a:t>
            </a:r>
            <a:r>
              <a:rPr lang="en-GB" sz="2400" dirty="0" err="1" smtClean="0">
                <a:solidFill>
                  <a:srgbClr val="000000"/>
                </a:solidFill>
              </a:rPr>
              <a:t>pouvez</a:t>
            </a:r>
            <a:r>
              <a:rPr lang="en-GB" sz="2400" dirty="0" smtClean="0">
                <a:solidFill>
                  <a:srgbClr val="000000"/>
                </a:solidFill>
              </a:rPr>
              <a:t> </a:t>
            </a:r>
            <a:r>
              <a:rPr lang="en-GB" sz="2400" dirty="0" err="1" smtClean="0">
                <a:solidFill>
                  <a:srgbClr val="000000"/>
                </a:solidFill>
              </a:rPr>
              <a:t>utiliser</a:t>
            </a:r>
            <a:r>
              <a:rPr lang="en-GB" sz="2400" dirty="0" smtClean="0">
                <a:solidFill>
                  <a:srgbClr val="000000"/>
                </a:solidFill>
              </a:rPr>
              <a:t> le </a:t>
            </a:r>
            <a:r>
              <a:rPr lang="en-GB" sz="2400" dirty="0" err="1" smtClean="0">
                <a:solidFill>
                  <a:srgbClr val="000000"/>
                </a:solidFill>
              </a:rPr>
              <a:t>Moniteur</a:t>
            </a:r>
            <a:r>
              <a:rPr lang="en-GB" sz="2400" dirty="0" smtClean="0">
                <a:solidFill>
                  <a:srgbClr val="000000"/>
                </a:solidFill>
              </a:rPr>
              <a:t> de </a:t>
            </a:r>
            <a:r>
              <a:rPr lang="en-GB" sz="2400" dirty="0" err="1" smtClean="0">
                <a:solidFill>
                  <a:srgbClr val="000000"/>
                </a:solidFill>
              </a:rPr>
              <a:t>sécurité</a:t>
            </a:r>
            <a:r>
              <a:rPr lang="en-GB" sz="2400" dirty="0" smtClean="0">
                <a:solidFill>
                  <a:srgbClr val="000000"/>
                </a:solidFill>
              </a:rPr>
              <a:t> IP pour </a:t>
            </a:r>
            <a:r>
              <a:rPr lang="en-GB" sz="2400" dirty="0" err="1" smtClean="0">
                <a:solidFill>
                  <a:srgbClr val="000000"/>
                </a:solidFill>
              </a:rPr>
              <a:t>afficher</a:t>
            </a:r>
            <a:r>
              <a:rPr lang="en-GB" sz="2400" dirty="0" smtClean="0">
                <a:solidFill>
                  <a:srgbClr val="000000"/>
                </a:solidFill>
              </a:rPr>
              <a:t> les </a:t>
            </a:r>
            <a:r>
              <a:rPr lang="en-GB" sz="2400" dirty="0" err="1" smtClean="0">
                <a:solidFill>
                  <a:srgbClr val="000000"/>
                </a:solidFill>
              </a:rPr>
              <a:t>détails</a:t>
            </a:r>
            <a:r>
              <a:rPr lang="en-GB" sz="2400" dirty="0" smtClean="0">
                <a:solidFill>
                  <a:srgbClr val="000000"/>
                </a:solidFill>
              </a:rPr>
              <a:t> </a:t>
            </a:r>
            <a:r>
              <a:rPr lang="en-GB" sz="2400" dirty="0" err="1" smtClean="0">
                <a:solidFill>
                  <a:srgbClr val="000000"/>
                </a:solidFill>
              </a:rPr>
              <a:t>suivants</a:t>
            </a:r>
            <a:r>
              <a:rPr lang="en-GB" sz="2400" dirty="0" smtClean="0">
                <a:solidFill>
                  <a:srgbClr val="000000"/>
                </a:solidFill>
              </a:rPr>
              <a:t> des </a:t>
            </a:r>
            <a:r>
              <a:rPr lang="en-GB" sz="2400" dirty="0" err="1" smtClean="0">
                <a:solidFill>
                  <a:srgbClr val="000000"/>
                </a:solidFill>
              </a:rPr>
              <a:t>stratégies</a:t>
            </a:r>
            <a:r>
              <a:rPr lang="en-GB" sz="2400" dirty="0" smtClean="0">
                <a:solidFill>
                  <a:srgbClr val="000000"/>
                </a:solidFill>
              </a:rPr>
              <a:t> IPSec :</a:t>
            </a: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58077">
                                            <p:txEl>
                                              <p:pRg st="0" end="0"/>
                                            </p:txEl>
                                          </p:spTgt>
                                        </p:tgtEl>
                                        <p:attrNameLst>
                                          <p:attrName>style.visibility</p:attrName>
                                        </p:attrNameLst>
                                      </p:cBhvr>
                                      <p:to>
                                        <p:strVal val="visible"/>
                                      </p:to>
                                    </p:set>
                                    <p:animEffect transition="in" filter="checkerboard(across)">
                                      <p:cBhvr>
                                        <p:cTn id="7" dur="1000"/>
                                        <p:tgtEl>
                                          <p:spTgt spid="258077">
                                            <p:txEl>
                                              <p:pRg st="0" end="0"/>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258077">
                                            <p:txEl>
                                              <p:pRg st="1" end="1"/>
                                            </p:txEl>
                                          </p:spTgt>
                                        </p:tgtEl>
                                        <p:attrNameLst>
                                          <p:attrName>style.visibility</p:attrName>
                                        </p:attrNameLst>
                                      </p:cBhvr>
                                      <p:to>
                                        <p:strVal val="visible"/>
                                      </p:to>
                                    </p:set>
                                    <p:animEffect transition="in" filter="checkerboard(across)">
                                      <p:cBhvr>
                                        <p:cTn id="10" dur="500"/>
                                        <p:tgtEl>
                                          <p:spTgt spid="258077">
                                            <p:txEl>
                                              <p:pRg st="1" end="1"/>
                                            </p:txEl>
                                          </p:spTgt>
                                        </p:tgtEl>
                                      </p:cBhvr>
                                    </p:animEffect>
                                  </p:childTnLst>
                                </p:cTn>
                              </p:par>
                              <p:par>
                                <p:cTn id="11" presetID="5" presetClass="entr" presetSubtype="10" fill="hold" nodeType="withEffect">
                                  <p:stCondLst>
                                    <p:cond delay="0"/>
                                  </p:stCondLst>
                                  <p:childTnLst>
                                    <p:set>
                                      <p:cBhvr>
                                        <p:cTn id="12" dur="1" fill="hold">
                                          <p:stCondLst>
                                            <p:cond delay="0"/>
                                          </p:stCondLst>
                                        </p:cTn>
                                        <p:tgtEl>
                                          <p:spTgt spid="258077">
                                            <p:txEl>
                                              <p:pRg st="2" end="2"/>
                                            </p:txEl>
                                          </p:spTgt>
                                        </p:tgtEl>
                                        <p:attrNameLst>
                                          <p:attrName>style.visibility</p:attrName>
                                        </p:attrNameLst>
                                      </p:cBhvr>
                                      <p:to>
                                        <p:strVal val="visible"/>
                                      </p:to>
                                    </p:set>
                                    <p:animEffect transition="in" filter="checkerboard(across)">
                                      <p:cBhvr>
                                        <p:cTn id="13" dur="500"/>
                                        <p:tgtEl>
                                          <p:spTgt spid="258077">
                                            <p:txEl>
                                              <p:pRg st="2" end="2"/>
                                            </p:txEl>
                                          </p:spTgt>
                                        </p:tgtEl>
                                      </p:cBhvr>
                                    </p:animEffect>
                                  </p:childTnLst>
                                </p:cTn>
                              </p:par>
                              <p:par>
                                <p:cTn id="14" presetID="5" presetClass="entr" presetSubtype="10" fill="hold" nodeType="withEffect">
                                  <p:stCondLst>
                                    <p:cond delay="0"/>
                                  </p:stCondLst>
                                  <p:childTnLst>
                                    <p:set>
                                      <p:cBhvr>
                                        <p:cTn id="15" dur="1" fill="hold">
                                          <p:stCondLst>
                                            <p:cond delay="0"/>
                                          </p:stCondLst>
                                        </p:cTn>
                                        <p:tgtEl>
                                          <p:spTgt spid="258077">
                                            <p:txEl>
                                              <p:pRg st="3" end="3"/>
                                            </p:txEl>
                                          </p:spTgt>
                                        </p:tgtEl>
                                        <p:attrNameLst>
                                          <p:attrName>style.visibility</p:attrName>
                                        </p:attrNameLst>
                                      </p:cBhvr>
                                      <p:to>
                                        <p:strVal val="visible"/>
                                      </p:to>
                                    </p:set>
                                    <p:animEffect transition="in" filter="checkerboard(across)">
                                      <p:cBhvr>
                                        <p:cTn id="16" dur="500"/>
                                        <p:tgtEl>
                                          <p:spTgt spid="258077">
                                            <p:txEl>
                                              <p:pRg st="3" end="3"/>
                                            </p:txEl>
                                          </p:spTgt>
                                        </p:tgtEl>
                                      </p:cBhvr>
                                    </p:animEffect>
                                  </p:childTnLst>
                                </p:cTn>
                              </p:par>
                              <p:par>
                                <p:cTn id="17" presetID="5" presetClass="entr" presetSubtype="10" fill="hold" nodeType="withEffect">
                                  <p:stCondLst>
                                    <p:cond delay="0"/>
                                  </p:stCondLst>
                                  <p:childTnLst>
                                    <p:set>
                                      <p:cBhvr>
                                        <p:cTn id="18" dur="1" fill="hold">
                                          <p:stCondLst>
                                            <p:cond delay="0"/>
                                          </p:stCondLst>
                                        </p:cTn>
                                        <p:tgtEl>
                                          <p:spTgt spid="258077">
                                            <p:txEl>
                                              <p:pRg st="4" end="4"/>
                                            </p:txEl>
                                          </p:spTgt>
                                        </p:tgtEl>
                                        <p:attrNameLst>
                                          <p:attrName>style.visibility</p:attrName>
                                        </p:attrNameLst>
                                      </p:cBhvr>
                                      <p:to>
                                        <p:strVal val="visible"/>
                                      </p:to>
                                    </p:set>
                                    <p:animEffect transition="in" filter="checkerboard(across)">
                                      <p:cBhvr>
                                        <p:cTn id="19" dur="500"/>
                                        <p:tgtEl>
                                          <p:spTgt spid="258077">
                                            <p:txEl>
                                              <p:pRg st="4" end="4"/>
                                            </p:txEl>
                                          </p:spTgt>
                                        </p:tgtEl>
                                      </p:cBhvr>
                                    </p:animEffect>
                                  </p:childTnLst>
                                </p:cTn>
                              </p:par>
                              <p:par>
                                <p:cTn id="20" presetID="5" presetClass="entr" presetSubtype="10" fill="hold" nodeType="withEffect">
                                  <p:stCondLst>
                                    <p:cond delay="0"/>
                                  </p:stCondLst>
                                  <p:childTnLst>
                                    <p:set>
                                      <p:cBhvr>
                                        <p:cTn id="21" dur="1" fill="hold">
                                          <p:stCondLst>
                                            <p:cond delay="0"/>
                                          </p:stCondLst>
                                        </p:cTn>
                                        <p:tgtEl>
                                          <p:spTgt spid="258077">
                                            <p:txEl>
                                              <p:pRg st="5" end="5"/>
                                            </p:txEl>
                                          </p:spTgt>
                                        </p:tgtEl>
                                        <p:attrNameLst>
                                          <p:attrName>style.visibility</p:attrName>
                                        </p:attrNameLst>
                                      </p:cBhvr>
                                      <p:to>
                                        <p:strVal val="visible"/>
                                      </p:to>
                                    </p:set>
                                    <p:animEffect transition="in" filter="checkerboard(across)">
                                      <p:cBhvr>
                                        <p:cTn id="22" dur="500"/>
                                        <p:tgtEl>
                                          <p:spTgt spid="258077">
                                            <p:txEl>
                                              <p:pRg st="5" end="5"/>
                                            </p:txEl>
                                          </p:spTgt>
                                        </p:tgtEl>
                                      </p:cBhvr>
                                    </p:animEffect>
                                  </p:childTnLst>
                                </p:cTn>
                              </p:par>
                              <p:par>
                                <p:cTn id="23" presetID="5" presetClass="entr" presetSubtype="10" fill="hold" nodeType="withEffect">
                                  <p:stCondLst>
                                    <p:cond delay="0"/>
                                  </p:stCondLst>
                                  <p:childTnLst>
                                    <p:set>
                                      <p:cBhvr>
                                        <p:cTn id="24" dur="1" fill="hold">
                                          <p:stCondLst>
                                            <p:cond delay="0"/>
                                          </p:stCondLst>
                                        </p:cTn>
                                        <p:tgtEl>
                                          <p:spTgt spid="258077">
                                            <p:txEl>
                                              <p:pRg st="6" end="6"/>
                                            </p:txEl>
                                          </p:spTgt>
                                        </p:tgtEl>
                                        <p:attrNameLst>
                                          <p:attrName>style.visibility</p:attrName>
                                        </p:attrNameLst>
                                      </p:cBhvr>
                                      <p:to>
                                        <p:strVal val="visible"/>
                                      </p:to>
                                    </p:set>
                                    <p:animEffect transition="in" filter="checkerboard(across)">
                                      <p:cBhvr>
                                        <p:cTn id="25" dur="500"/>
                                        <p:tgtEl>
                                          <p:spTgt spid="258077">
                                            <p:txEl>
                                              <p:pRg st="6" end="6"/>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5" presetClass="entr" presetSubtype="10" fill="hold" nodeType="clickEffect">
                                  <p:stCondLst>
                                    <p:cond delay="0"/>
                                  </p:stCondLst>
                                  <p:childTnLst>
                                    <p:set>
                                      <p:cBhvr>
                                        <p:cTn id="29" dur="1" fill="hold">
                                          <p:stCondLst>
                                            <p:cond delay="0"/>
                                          </p:stCondLst>
                                        </p:cTn>
                                        <p:tgtEl>
                                          <p:spTgt spid="258077">
                                            <p:txEl>
                                              <p:pRg st="7" end="7"/>
                                            </p:txEl>
                                          </p:spTgt>
                                        </p:tgtEl>
                                        <p:attrNameLst>
                                          <p:attrName>style.visibility</p:attrName>
                                        </p:attrNameLst>
                                      </p:cBhvr>
                                      <p:to>
                                        <p:strVal val="visible"/>
                                      </p:to>
                                    </p:set>
                                    <p:animEffect transition="in" filter="checkerboard(across)">
                                      <p:cBhvr>
                                        <p:cTn id="30" dur="1000"/>
                                        <p:tgtEl>
                                          <p:spTgt spid="258077">
                                            <p:txEl>
                                              <p:pRg st="7" end="7"/>
                                            </p:txEl>
                                          </p:spTgt>
                                        </p:tgtEl>
                                      </p:cBhvr>
                                    </p:animEffect>
                                  </p:childTnLst>
                                </p:cTn>
                              </p:par>
                              <p:par>
                                <p:cTn id="31" presetID="5" presetClass="entr" presetSubtype="10" fill="hold" nodeType="withEffect">
                                  <p:stCondLst>
                                    <p:cond delay="0"/>
                                  </p:stCondLst>
                                  <p:childTnLst>
                                    <p:set>
                                      <p:cBhvr>
                                        <p:cTn id="32" dur="1" fill="hold">
                                          <p:stCondLst>
                                            <p:cond delay="0"/>
                                          </p:stCondLst>
                                        </p:cTn>
                                        <p:tgtEl>
                                          <p:spTgt spid="258077">
                                            <p:txEl>
                                              <p:pRg st="8" end="8"/>
                                            </p:txEl>
                                          </p:spTgt>
                                        </p:tgtEl>
                                        <p:attrNameLst>
                                          <p:attrName>style.visibility</p:attrName>
                                        </p:attrNameLst>
                                      </p:cBhvr>
                                      <p:to>
                                        <p:strVal val="visible"/>
                                      </p:to>
                                    </p:set>
                                    <p:animEffect transition="in" filter="checkerboard(across)">
                                      <p:cBhvr>
                                        <p:cTn id="33" dur="500"/>
                                        <p:tgtEl>
                                          <p:spTgt spid="258077">
                                            <p:txEl>
                                              <p:pRg st="8" end="8"/>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5" presetClass="entr" presetSubtype="10" fill="hold" nodeType="clickEffect">
                                  <p:stCondLst>
                                    <p:cond delay="0"/>
                                  </p:stCondLst>
                                  <p:childTnLst>
                                    <p:set>
                                      <p:cBhvr>
                                        <p:cTn id="37" dur="1" fill="hold">
                                          <p:stCondLst>
                                            <p:cond delay="0"/>
                                          </p:stCondLst>
                                        </p:cTn>
                                        <p:tgtEl>
                                          <p:spTgt spid="258077">
                                            <p:txEl>
                                              <p:pRg st="9" end="9"/>
                                            </p:txEl>
                                          </p:spTgt>
                                        </p:tgtEl>
                                        <p:attrNameLst>
                                          <p:attrName>style.visibility</p:attrName>
                                        </p:attrNameLst>
                                      </p:cBhvr>
                                      <p:to>
                                        <p:strVal val="visible"/>
                                      </p:to>
                                    </p:set>
                                    <p:animEffect transition="in" filter="checkerboard(across)">
                                      <p:cBhvr>
                                        <p:cTn id="38" dur="1000"/>
                                        <p:tgtEl>
                                          <p:spTgt spid="258077">
                                            <p:txEl>
                                              <p:pRg st="9" end="9"/>
                                            </p:txEl>
                                          </p:spTgt>
                                        </p:tgtEl>
                                      </p:cBhvr>
                                    </p:animEffect>
                                  </p:childTnLst>
                                </p:cTn>
                              </p:par>
                              <p:par>
                                <p:cTn id="39" presetID="5" presetClass="entr" presetSubtype="10" fill="hold" nodeType="withEffect">
                                  <p:stCondLst>
                                    <p:cond delay="0"/>
                                  </p:stCondLst>
                                  <p:childTnLst>
                                    <p:set>
                                      <p:cBhvr>
                                        <p:cTn id="40" dur="1" fill="hold">
                                          <p:stCondLst>
                                            <p:cond delay="0"/>
                                          </p:stCondLst>
                                        </p:cTn>
                                        <p:tgtEl>
                                          <p:spTgt spid="258077">
                                            <p:txEl>
                                              <p:pRg st="10" end="10"/>
                                            </p:txEl>
                                          </p:spTgt>
                                        </p:tgtEl>
                                        <p:attrNameLst>
                                          <p:attrName>style.visibility</p:attrName>
                                        </p:attrNameLst>
                                      </p:cBhvr>
                                      <p:to>
                                        <p:strVal val="visible"/>
                                      </p:to>
                                    </p:set>
                                    <p:animEffect transition="in" filter="checkerboard(across)">
                                      <p:cBhvr>
                                        <p:cTn id="41" dur="500"/>
                                        <p:tgtEl>
                                          <p:spTgt spid="258077">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5" name="Rectangle 3"/>
          <p:cNvSpPr>
            <a:spLocks noGrp="1" noChangeArrowheads="1"/>
          </p:cNvSpPr>
          <p:nvPr>
            <p:ph type="title"/>
            <p:custDataLst>
              <p:tags r:id="rId1"/>
            </p:custDataLst>
          </p:nvPr>
        </p:nvSpPr>
        <p:spPr>
          <a:xfrm>
            <a:off x="185056" y="222931"/>
            <a:ext cx="8770257" cy="822098"/>
          </a:xfrm>
        </p:spPr>
        <p:txBody>
          <a:bodyPr>
            <a:noAutofit/>
          </a:bodyPr>
          <a:lstStyle/>
          <a:p>
            <a:r>
              <a:rPr lang="fr-FR" sz="2800" b="1" dirty="0">
                <a:solidFill>
                  <a:srgbClr val="000000"/>
                </a:solidFill>
              </a:rPr>
              <a:t>Instructions relatives à l'analyse des stratégies </a:t>
            </a:r>
            <a:r>
              <a:rPr lang="fr-FR" sz="2800" b="1" dirty="0" err="1">
                <a:solidFill>
                  <a:srgbClr val="000000"/>
                </a:solidFill>
              </a:rPr>
              <a:t>IPSec</a:t>
            </a:r>
            <a:endParaRPr lang="en-US" sz="2800" b="1" dirty="0"/>
          </a:p>
        </p:txBody>
      </p:sp>
      <p:sp>
        <p:nvSpPr>
          <p:cNvPr id="187425" name="AutoShape 33"/>
          <p:cNvSpPr>
            <a:spLocks noChangeArrowheads="1"/>
          </p:cNvSpPr>
          <p:nvPr>
            <p:custDataLst>
              <p:tags r:id="rId2"/>
            </p:custDataLst>
          </p:nvPr>
        </p:nvSpPr>
        <p:spPr bwMode="auto">
          <a:xfrm>
            <a:off x="362856" y="1915886"/>
            <a:ext cx="8490857" cy="4364264"/>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marL="231775" indent="-231775" algn="l">
              <a:lnSpc>
                <a:spcPct val="85000"/>
              </a:lnSpc>
              <a:spcBef>
                <a:spcPct val="15000"/>
              </a:spcBef>
              <a:buSzPct val="80000"/>
              <a:buFontTx/>
              <a:buBlip>
                <a:blip r:embed="rId5"/>
              </a:buBlip>
            </a:pPr>
            <a:r>
              <a:rPr lang="en-GB" sz="2200" dirty="0" err="1">
                <a:solidFill>
                  <a:srgbClr val="000000"/>
                </a:solidFill>
              </a:rPr>
              <a:t>Arrêter</a:t>
            </a:r>
            <a:r>
              <a:rPr lang="en-GB" sz="2200" dirty="0">
                <a:solidFill>
                  <a:srgbClr val="000000"/>
                </a:solidFill>
              </a:rPr>
              <a:t> </a:t>
            </a:r>
            <a:r>
              <a:rPr lang="en-GB" sz="2200" dirty="0" err="1">
                <a:solidFill>
                  <a:srgbClr val="000000"/>
                </a:solidFill>
              </a:rPr>
              <a:t>l'Agent</a:t>
            </a:r>
            <a:r>
              <a:rPr lang="en-GB" sz="2200" dirty="0">
                <a:solidFill>
                  <a:srgbClr val="000000"/>
                </a:solidFill>
              </a:rPr>
              <a:t> de </a:t>
            </a:r>
            <a:r>
              <a:rPr lang="en-GB" sz="2200" dirty="0" err="1">
                <a:solidFill>
                  <a:srgbClr val="000000"/>
                </a:solidFill>
              </a:rPr>
              <a:t>stratégie</a:t>
            </a:r>
            <a:r>
              <a:rPr lang="en-GB" sz="2200" dirty="0">
                <a:solidFill>
                  <a:srgbClr val="000000"/>
                </a:solidFill>
              </a:rPr>
              <a:t> IPSec </a:t>
            </a:r>
            <a:r>
              <a:rPr lang="en-GB" sz="2200" dirty="0" err="1">
                <a:solidFill>
                  <a:srgbClr val="000000"/>
                </a:solidFill>
              </a:rPr>
              <a:t>sur</a:t>
            </a:r>
            <a:r>
              <a:rPr lang="en-GB" sz="2200" dirty="0">
                <a:solidFill>
                  <a:srgbClr val="000000"/>
                </a:solidFill>
              </a:rPr>
              <a:t> les </a:t>
            </a:r>
            <a:r>
              <a:rPr lang="en-GB" sz="2200" dirty="0" err="1">
                <a:solidFill>
                  <a:srgbClr val="000000"/>
                </a:solidFill>
              </a:rPr>
              <a:t>ordinateurs</a:t>
            </a:r>
            <a:r>
              <a:rPr lang="en-GB" sz="2200" dirty="0">
                <a:solidFill>
                  <a:srgbClr val="000000"/>
                </a:solidFill>
              </a:rPr>
              <a:t> et </a:t>
            </a:r>
            <a:r>
              <a:rPr lang="en-GB" sz="2200" dirty="0" err="1">
                <a:solidFill>
                  <a:srgbClr val="000000"/>
                </a:solidFill>
              </a:rPr>
              <a:t>utiliser</a:t>
            </a:r>
            <a:r>
              <a:rPr lang="en-GB" sz="2200" dirty="0">
                <a:solidFill>
                  <a:srgbClr val="000000"/>
                </a:solidFill>
              </a:rPr>
              <a:t> la </a:t>
            </a:r>
            <a:r>
              <a:rPr lang="en-GB" sz="2200" dirty="0" err="1">
                <a:solidFill>
                  <a:srgbClr val="000000"/>
                </a:solidFill>
              </a:rPr>
              <a:t>commande</a:t>
            </a:r>
            <a:r>
              <a:rPr lang="en-GB" sz="2200" dirty="0">
                <a:solidFill>
                  <a:srgbClr val="000000"/>
                </a:solidFill>
              </a:rPr>
              <a:t> ping pour </a:t>
            </a:r>
            <a:r>
              <a:rPr lang="en-GB" sz="2200" dirty="0" err="1">
                <a:solidFill>
                  <a:srgbClr val="000000"/>
                </a:solidFill>
              </a:rPr>
              <a:t>vérifier</a:t>
            </a:r>
            <a:r>
              <a:rPr lang="en-GB" sz="2200" dirty="0">
                <a:solidFill>
                  <a:srgbClr val="000000"/>
                </a:solidFill>
              </a:rPr>
              <a:t> </a:t>
            </a:r>
            <a:r>
              <a:rPr lang="en-GB" sz="2200" dirty="0" err="1">
                <a:solidFill>
                  <a:srgbClr val="000000"/>
                </a:solidFill>
              </a:rPr>
              <a:t>qu'ils</a:t>
            </a:r>
            <a:r>
              <a:rPr lang="en-GB" sz="2200" dirty="0">
                <a:solidFill>
                  <a:srgbClr val="000000"/>
                </a:solidFill>
              </a:rPr>
              <a:t> </a:t>
            </a:r>
            <a:r>
              <a:rPr lang="en-GB" sz="2200" dirty="0" err="1">
                <a:solidFill>
                  <a:srgbClr val="000000"/>
                </a:solidFill>
              </a:rPr>
              <a:t>communiquent</a:t>
            </a:r>
            <a:r>
              <a:rPr lang="en-GB" sz="2200" dirty="0">
                <a:solidFill>
                  <a:srgbClr val="000000"/>
                </a:solidFill>
              </a:rPr>
              <a:t> </a:t>
            </a:r>
            <a:r>
              <a:rPr lang="en-GB" sz="2200" dirty="0" err="1">
                <a:solidFill>
                  <a:srgbClr val="000000"/>
                </a:solidFill>
              </a:rPr>
              <a:t>correctement</a:t>
            </a:r>
            <a:r>
              <a:rPr lang="en-GB" sz="2200" dirty="0">
                <a:solidFill>
                  <a:srgbClr val="000000"/>
                </a:solidFill>
              </a:rPr>
              <a:t> entre </a:t>
            </a:r>
            <a:r>
              <a:rPr lang="en-GB" sz="2200" dirty="0" err="1">
                <a:solidFill>
                  <a:srgbClr val="000000"/>
                </a:solidFill>
              </a:rPr>
              <a:t>eux</a:t>
            </a:r>
            <a:endParaRPr lang="en-US" sz="2200" dirty="0"/>
          </a:p>
          <a:p>
            <a:pPr marL="231775" indent="-231775" algn="l">
              <a:lnSpc>
                <a:spcPct val="85000"/>
              </a:lnSpc>
              <a:spcBef>
                <a:spcPct val="15000"/>
              </a:spcBef>
              <a:buSzPct val="80000"/>
              <a:buFontTx/>
              <a:buBlip>
                <a:blip r:embed="rId5"/>
              </a:buBlip>
            </a:pPr>
            <a:r>
              <a:rPr lang="en-GB" sz="2200" dirty="0" err="1">
                <a:solidFill>
                  <a:srgbClr val="000000"/>
                </a:solidFill>
              </a:rPr>
              <a:t>Redémarrer</a:t>
            </a:r>
            <a:r>
              <a:rPr lang="en-GB" sz="2200" dirty="0">
                <a:solidFill>
                  <a:srgbClr val="000000"/>
                </a:solidFill>
              </a:rPr>
              <a:t> </a:t>
            </a:r>
            <a:r>
              <a:rPr lang="en-GB" sz="2200" dirty="0" err="1">
                <a:solidFill>
                  <a:srgbClr val="000000"/>
                </a:solidFill>
              </a:rPr>
              <a:t>l'Agent</a:t>
            </a:r>
            <a:r>
              <a:rPr lang="en-GB" sz="2200" dirty="0">
                <a:solidFill>
                  <a:srgbClr val="000000"/>
                </a:solidFill>
              </a:rPr>
              <a:t> de </a:t>
            </a:r>
            <a:r>
              <a:rPr lang="en-GB" sz="2200" dirty="0" err="1">
                <a:solidFill>
                  <a:srgbClr val="000000"/>
                </a:solidFill>
              </a:rPr>
              <a:t>stratégie</a:t>
            </a:r>
            <a:r>
              <a:rPr lang="en-GB" sz="2200" dirty="0">
                <a:solidFill>
                  <a:srgbClr val="000000"/>
                </a:solidFill>
              </a:rPr>
              <a:t> IPSec et </a:t>
            </a:r>
            <a:r>
              <a:rPr lang="en-GB" sz="2200" dirty="0" err="1">
                <a:solidFill>
                  <a:srgbClr val="000000"/>
                </a:solidFill>
              </a:rPr>
              <a:t>utiliser</a:t>
            </a:r>
            <a:r>
              <a:rPr lang="en-GB" sz="2200" dirty="0">
                <a:solidFill>
                  <a:srgbClr val="000000"/>
                </a:solidFill>
              </a:rPr>
              <a:t> le </a:t>
            </a:r>
            <a:r>
              <a:rPr lang="en-GB" sz="2200" dirty="0" err="1">
                <a:solidFill>
                  <a:srgbClr val="000000"/>
                </a:solidFill>
              </a:rPr>
              <a:t>Moniteur</a:t>
            </a:r>
            <a:r>
              <a:rPr lang="en-GB" sz="2200" dirty="0">
                <a:solidFill>
                  <a:srgbClr val="000000"/>
                </a:solidFill>
              </a:rPr>
              <a:t> de </a:t>
            </a:r>
            <a:r>
              <a:rPr lang="en-GB" sz="2200" dirty="0" err="1">
                <a:solidFill>
                  <a:srgbClr val="000000"/>
                </a:solidFill>
              </a:rPr>
              <a:t>sécurité</a:t>
            </a:r>
            <a:r>
              <a:rPr lang="en-GB" sz="2200" dirty="0">
                <a:solidFill>
                  <a:srgbClr val="000000"/>
                </a:solidFill>
              </a:rPr>
              <a:t> IP pour confirmer </a:t>
            </a:r>
            <a:r>
              <a:rPr lang="en-GB" sz="2200" dirty="0" err="1">
                <a:solidFill>
                  <a:srgbClr val="000000"/>
                </a:solidFill>
              </a:rPr>
              <a:t>qu'une</a:t>
            </a:r>
            <a:r>
              <a:rPr lang="en-GB" sz="2200" dirty="0">
                <a:solidFill>
                  <a:srgbClr val="000000"/>
                </a:solidFill>
              </a:rPr>
              <a:t> association de </a:t>
            </a:r>
            <a:r>
              <a:rPr lang="en-GB" sz="2200" dirty="0" err="1">
                <a:solidFill>
                  <a:srgbClr val="000000"/>
                </a:solidFill>
              </a:rPr>
              <a:t>sécurité</a:t>
            </a:r>
            <a:r>
              <a:rPr lang="en-GB" sz="2200" dirty="0">
                <a:solidFill>
                  <a:srgbClr val="000000"/>
                </a:solidFill>
              </a:rPr>
              <a:t> </a:t>
            </a:r>
            <a:r>
              <a:rPr lang="en-GB" sz="2200" dirty="0" err="1">
                <a:solidFill>
                  <a:srgbClr val="000000"/>
                </a:solidFill>
              </a:rPr>
              <a:t>est</a:t>
            </a:r>
            <a:r>
              <a:rPr lang="en-GB" sz="2200" dirty="0">
                <a:solidFill>
                  <a:srgbClr val="000000"/>
                </a:solidFill>
              </a:rPr>
              <a:t> </a:t>
            </a:r>
            <a:r>
              <a:rPr lang="en-GB" sz="2200" dirty="0" err="1">
                <a:solidFill>
                  <a:srgbClr val="000000"/>
                </a:solidFill>
              </a:rPr>
              <a:t>établie</a:t>
            </a:r>
            <a:r>
              <a:rPr lang="en-GB" sz="2200" dirty="0">
                <a:solidFill>
                  <a:srgbClr val="000000"/>
                </a:solidFill>
              </a:rPr>
              <a:t> entre les </a:t>
            </a:r>
            <a:r>
              <a:rPr lang="en-GB" sz="2200" dirty="0" err="1">
                <a:solidFill>
                  <a:srgbClr val="000000"/>
                </a:solidFill>
              </a:rPr>
              <a:t>ordinateurs</a:t>
            </a:r>
            <a:r>
              <a:rPr lang="en-GB" sz="2200" dirty="0">
                <a:solidFill>
                  <a:srgbClr val="000000"/>
                </a:solidFill>
              </a:rPr>
              <a:t> et </a:t>
            </a:r>
            <a:r>
              <a:rPr lang="en-GB" sz="2200" dirty="0" err="1">
                <a:solidFill>
                  <a:srgbClr val="000000"/>
                </a:solidFill>
              </a:rPr>
              <a:t>que</a:t>
            </a:r>
            <a:r>
              <a:rPr lang="en-GB" sz="2200" dirty="0">
                <a:solidFill>
                  <a:srgbClr val="000000"/>
                </a:solidFill>
              </a:rPr>
              <a:t> la </a:t>
            </a:r>
            <a:r>
              <a:rPr lang="en-GB" sz="2200" dirty="0" err="1">
                <a:solidFill>
                  <a:srgbClr val="000000"/>
                </a:solidFill>
              </a:rPr>
              <a:t>stratégie</a:t>
            </a:r>
            <a:r>
              <a:rPr lang="en-GB" sz="2200" dirty="0">
                <a:solidFill>
                  <a:srgbClr val="000000"/>
                </a:solidFill>
              </a:rPr>
              <a:t> </a:t>
            </a:r>
            <a:r>
              <a:rPr lang="en-GB" sz="2200" dirty="0" err="1">
                <a:solidFill>
                  <a:srgbClr val="000000"/>
                </a:solidFill>
              </a:rPr>
              <a:t>est</a:t>
            </a:r>
            <a:r>
              <a:rPr lang="en-GB" sz="2200" dirty="0">
                <a:solidFill>
                  <a:srgbClr val="000000"/>
                </a:solidFill>
              </a:rPr>
              <a:t> en </a:t>
            </a:r>
            <a:r>
              <a:rPr lang="en-GB" sz="2200" dirty="0" err="1">
                <a:solidFill>
                  <a:srgbClr val="000000"/>
                </a:solidFill>
              </a:rPr>
              <a:t>vigueur</a:t>
            </a:r>
            <a:endParaRPr lang="en-US" sz="2200" dirty="0"/>
          </a:p>
          <a:p>
            <a:pPr marL="231775" indent="-231775" algn="l">
              <a:lnSpc>
                <a:spcPct val="85000"/>
              </a:lnSpc>
              <a:spcBef>
                <a:spcPct val="15000"/>
              </a:spcBef>
              <a:buSzPct val="80000"/>
              <a:buFontTx/>
              <a:buBlip>
                <a:blip r:embed="rId5"/>
              </a:buBlip>
            </a:pPr>
            <a:r>
              <a:rPr lang="en-GB" sz="2200" dirty="0" err="1" smtClean="0">
                <a:solidFill>
                  <a:srgbClr val="000000"/>
                </a:solidFill>
              </a:rPr>
              <a:t>Utiliser</a:t>
            </a:r>
            <a:r>
              <a:rPr lang="en-GB" sz="2200" dirty="0" smtClean="0">
                <a:solidFill>
                  <a:srgbClr val="000000"/>
                </a:solidFill>
              </a:rPr>
              <a:t> </a:t>
            </a:r>
            <a:r>
              <a:rPr lang="en-GB" sz="2200" dirty="0">
                <a:solidFill>
                  <a:srgbClr val="000000"/>
                </a:solidFill>
              </a:rPr>
              <a:t>le </a:t>
            </a:r>
            <a:r>
              <a:rPr lang="en-GB" sz="2200" dirty="0" err="1">
                <a:solidFill>
                  <a:srgbClr val="000000"/>
                </a:solidFill>
              </a:rPr>
              <a:t>composant</a:t>
            </a:r>
            <a:r>
              <a:rPr lang="en-GB" sz="2200" dirty="0">
                <a:solidFill>
                  <a:srgbClr val="000000"/>
                </a:solidFill>
              </a:rPr>
              <a:t> </a:t>
            </a:r>
            <a:r>
              <a:rPr lang="en-GB" sz="2200" dirty="0" err="1">
                <a:solidFill>
                  <a:srgbClr val="000000"/>
                </a:solidFill>
              </a:rPr>
              <a:t>logiciel</a:t>
            </a:r>
            <a:r>
              <a:rPr lang="en-GB" sz="2200" dirty="0">
                <a:solidFill>
                  <a:srgbClr val="000000"/>
                </a:solidFill>
              </a:rPr>
              <a:t> </a:t>
            </a:r>
            <a:r>
              <a:rPr lang="en-GB" sz="2200" dirty="0" err="1">
                <a:solidFill>
                  <a:srgbClr val="000000"/>
                </a:solidFill>
              </a:rPr>
              <a:t>enfichable</a:t>
            </a:r>
            <a:r>
              <a:rPr lang="en-GB" sz="2200" dirty="0">
                <a:solidFill>
                  <a:srgbClr val="000000"/>
                </a:solidFill>
              </a:rPr>
              <a:t> </a:t>
            </a:r>
            <a:r>
              <a:rPr lang="en-GB" sz="2200" dirty="0" err="1">
                <a:solidFill>
                  <a:srgbClr val="000000"/>
                </a:solidFill>
              </a:rPr>
              <a:t>Gestion</a:t>
            </a:r>
            <a:r>
              <a:rPr lang="en-GB" sz="2200" dirty="0">
                <a:solidFill>
                  <a:srgbClr val="000000"/>
                </a:solidFill>
              </a:rPr>
              <a:t> des </a:t>
            </a:r>
            <a:r>
              <a:rPr lang="en-GB" sz="2200" dirty="0" err="1">
                <a:solidFill>
                  <a:srgbClr val="000000"/>
                </a:solidFill>
              </a:rPr>
              <a:t>stratégies</a:t>
            </a:r>
            <a:r>
              <a:rPr lang="en-GB" sz="2200" dirty="0">
                <a:solidFill>
                  <a:srgbClr val="000000"/>
                </a:solidFill>
              </a:rPr>
              <a:t> de </a:t>
            </a:r>
            <a:r>
              <a:rPr lang="en-GB" sz="2200" dirty="0" err="1">
                <a:solidFill>
                  <a:srgbClr val="000000"/>
                </a:solidFill>
              </a:rPr>
              <a:t>sécurité</a:t>
            </a:r>
            <a:r>
              <a:rPr lang="en-GB" sz="2200" dirty="0">
                <a:solidFill>
                  <a:srgbClr val="000000"/>
                </a:solidFill>
              </a:rPr>
              <a:t> IP pour </a:t>
            </a:r>
            <a:r>
              <a:rPr lang="en-GB" sz="2200" dirty="0" smtClean="0">
                <a:solidFill>
                  <a:srgbClr val="000000"/>
                </a:solidFill>
              </a:rPr>
              <a:t>:</a:t>
            </a:r>
          </a:p>
          <a:p>
            <a:pPr marL="688975" lvl="1" indent="-231775" algn="l">
              <a:lnSpc>
                <a:spcPct val="85000"/>
              </a:lnSpc>
              <a:spcBef>
                <a:spcPct val="15000"/>
              </a:spcBef>
              <a:buSzPct val="80000"/>
              <a:buFont typeface="Wingdings" pitchFamily="2" charset="2"/>
              <a:buChar char="q"/>
            </a:pPr>
            <a:r>
              <a:rPr lang="en-GB" sz="2200" dirty="0" err="1" smtClean="0">
                <a:solidFill>
                  <a:srgbClr val="000000"/>
                </a:solidFill>
              </a:rPr>
              <a:t>S'assurer</a:t>
            </a:r>
            <a:r>
              <a:rPr lang="en-GB" sz="2200" dirty="0" smtClean="0">
                <a:solidFill>
                  <a:srgbClr val="000000"/>
                </a:solidFill>
              </a:rPr>
              <a:t> </a:t>
            </a:r>
            <a:r>
              <a:rPr lang="en-GB" sz="2200" dirty="0" err="1" smtClean="0">
                <a:solidFill>
                  <a:srgbClr val="000000"/>
                </a:solidFill>
              </a:rPr>
              <a:t>que</a:t>
            </a:r>
            <a:r>
              <a:rPr lang="en-GB" sz="2200" dirty="0" smtClean="0">
                <a:solidFill>
                  <a:srgbClr val="000000"/>
                </a:solidFill>
              </a:rPr>
              <a:t> les </a:t>
            </a:r>
            <a:r>
              <a:rPr lang="en-GB" sz="2200" dirty="0" err="1" smtClean="0">
                <a:solidFill>
                  <a:srgbClr val="000000"/>
                </a:solidFill>
              </a:rPr>
              <a:t>stratégies</a:t>
            </a:r>
            <a:r>
              <a:rPr lang="en-GB" sz="2200" dirty="0" smtClean="0">
                <a:solidFill>
                  <a:srgbClr val="000000"/>
                </a:solidFill>
              </a:rPr>
              <a:t> </a:t>
            </a:r>
            <a:r>
              <a:rPr lang="en-GB" sz="2200" dirty="0" err="1" smtClean="0">
                <a:solidFill>
                  <a:srgbClr val="000000"/>
                </a:solidFill>
              </a:rPr>
              <a:t>sont</a:t>
            </a:r>
            <a:r>
              <a:rPr lang="en-GB" sz="2200" dirty="0" smtClean="0">
                <a:solidFill>
                  <a:srgbClr val="000000"/>
                </a:solidFill>
              </a:rPr>
              <a:t> </a:t>
            </a:r>
            <a:r>
              <a:rPr lang="en-GB" sz="2200" dirty="0" err="1" smtClean="0">
                <a:solidFill>
                  <a:srgbClr val="000000"/>
                </a:solidFill>
              </a:rPr>
              <a:t>attribuées</a:t>
            </a:r>
            <a:r>
              <a:rPr lang="en-GB" sz="2200" dirty="0" smtClean="0">
                <a:solidFill>
                  <a:srgbClr val="000000"/>
                </a:solidFill>
              </a:rPr>
              <a:t> aux </a:t>
            </a:r>
            <a:r>
              <a:rPr lang="en-GB" sz="2200" dirty="0" err="1" smtClean="0">
                <a:solidFill>
                  <a:srgbClr val="000000"/>
                </a:solidFill>
              </a:rPr>
              <a:t>deux</a:t>
            </a:r>
            <a:r>
              <a:rPr lang="en-GB" sz="2200" dirty="0" smtClean="0">
                <a:solidFill>
                  <a:srgbClr val="000000"/>
                </a:solidFill>
              </a:rPr>
              <a:t> </a:t>
            </a:r>
            <a:r>
              <a:rPr lang="en-GB" sz="2200" dirty="0" err="1" smtClean="0">
                <a:solidFill>
                  <a:srgbClr val="000000"/>
                </a:solidFill>
              </a:rPr>
              <a:t>ordinateurs</a:t>
            </a:r>
            <a:endParaRPr lang="en-GB" sz="2200" dirty="0" smtClean="0">
              <a:solidFill>
                <a:srgbClr val="000000"/>
              </a:solidFill>
            </a:endParaRPr>
          </a:p>
          <a:p>
            <a:pPr marL="688975" lvl="1" indent="-231775" algn="l">
              <a:lnSpc>
                <a:spcPct val="85000"/>
              </a:lnSpc>
              <a:spcBef>
                <a:spcPct val="15000"/>
              </a:spcBef>
              <a:buSzPct val="80000"/>
              <a:buFont typeface="Wingdings" pitchFamily="2" charset="2"/>
              <a:buChar char="q"/>
            </a:pPr>
            <a:r>
              <a:rPr lang="en-GB" sz="2200" dirty="0" smtClean="0">
                <a:solidFill>
                  <a:srgbClr val="000000"/>
                </a:solidFill>
              </a:rPr>
              <a:t>Examiner </a:t>
            </a:r>
            <a:r>
              <a:rPr lang="en-GB" sz="2200" dirty="0">
                <a:solidFill>
                  <a:srgbClr val="000000"/>
                </a:solidFill>
              </a:rPr>
              <a:t>les </a:t>
            </a:r>
            <a:r>
              <a:rPr lang="en-GB" sz="2200" dirty="0" err="1">
                <a:solidFill>
                  <a:srgbClr val="000000"/>
                </a:solidFill>
              </a:rPr>
              <a:t>stratégies</a:t>
            </a:r>
            <a:r>
              <a:rPr lang="en-GB" sz="2200" dirty="0">
                <a:solidFill>
                  <a:srgbClr val="000000"/>
                </a:solidFill>
              </a:rPr>
              <a:t> et </a:t>
            </a:r>
            <a:r>
              <a:rPr lang="en-GB" sz="2200" dirty="0" err="1">
                <a:solidFill>
                  <a:srgbClr val="000000"/>
                </a:solidFill>
              </a:rPr>
              <a:t>vous</a:t>
            </a:r>
            <a:r>
              <a:rPr lang="en-GB" sz="2200" dirty="0">
                <a:solidFill>
                  <a:srgbClr val="000000"/>
                </a:solidFill>
              </a:rPr>
              <a:t> assurer </a:t>
            </a:r>
            <a:r>
              <a:rPr lang="en-GB" sz="2200" dirty="0" err="1">
                <a:solidFill>
                  <a:srgbClr val="000000"/>
                </a:solidFill>
              </a:rPr>
              <a:t>qu'elles</a:t>
            </a:r>
            <a:r>
              <a:rPr lang="en-GB" sz="2200" dirty="0">
                <a:solidFill>
                  <a:srgbClr val="000000"/>
                </a:solidFill>
              </a:rPr>
              <a:t> </a:t>
            </a:r>
            <a:r>
              <a:rPr lang="en-GB" sz="2200" dirty="0" err="1">
                <a:solidFill>
                  <a:srgbClr val="000000"/>
                </a:solidFill>
              </a:rPr>
              <a:t>sont</a:t>
            </a:r>
            <a:r>
              <a:rPr lang="en-GB" sz="2200" dirty="0">
                <a:solidFill>
                  <a:srgbClr val="000000"/>
                </a:solidFill>
              </a:rPr>
              <a:t> compatibles entre </a:t>
            </a:r>
            <a:r>
              <a:rPr lang="en-GB" sz="2200" dirty="0" err="1">
                <a:solidFill>
                  <a:srgbClr val="000000"/>
                </a:solidFill>
              </a:rPr>
              <a:t>elles</a:t>
            </a:r>
            <a:endParaRPr lang="en-US" sz="2200" dirty="0"/>
          </a:p>
          <a:p>
            <a:pPr marL="688975" lvl="1" indent="-231775" algn="l">
              <a:lnSpc>
                <a:spcPct val="85000"/>
              </a:lnSpc>
              <a:spcBef>
                <a:spcPct val="15000"/>
              </a:spcBef>
              <a:buSzPct val="80000"/>
              <a:buFont typeface="Wingdings" pitchFamily="2" charset="2"/>
              <a:buChar char="q"/>
            </a:pPr>
            <a:r>
              <a:rPr lang="en-GB" sz="2200" dirty="0" err="1" smtClean="0">
                <a:solidFill>
                  <a:srgbClr val="000000"/>
                </a:solidFill>
              </a:rPr>
              <a:t>S'assurer</a:t>
            </a:r>
            <a:r>
              <a:rPr lang="en-GB" sz="2200" dirty="0" smtClean="0">
                <a:solidFill>
                  <a:srgbClr val="000000"/>
                </a:solidFill>
              </a:rPr>
              <a:t> </a:t>
            </a:r>
            <a:r>
              <a:rPr lang="en-GB" sz="2200" dirty="0" err="1">
                <a:solidFill>
                  <a:srgbClr val="000000"/>
                </a:solidFill>
              </a:rPr>
              <a:t>que</a:t>
            </a:r>
            <a:r>
              <a:rPr lang="en-GB" sz="2200" dirty="0">
                <a:solidFill>
                  <a:srgbClr val="000000"/>
                </a:solidFill>
              </a:rPr>
              <a:t> </a:t>
            </a:r>
            <a:r>
              <a:rPr lang="en-GB" sz="2200" dirty="0" err="1">
                <a:solidFill>
                  <a:srgbClr val="000000"/>
                </a:solidFill>
              </a:rPr>
              <a:t>toutes</a:t>
            </a:r>
            <a:r>
              <a:rPr lang="en-GB" sz="2200" dirty="0">
                <a:solidFill>
                  <a:srgbClr val="000000"/>
                </a:solidFill>
              </a:rPr>
              <a:t> les modifications </a:t>
            </a:r>
            <a:r>
              <a:rPr lang="en-GB" sz="2200" dirty="0" err="1">
                <a:solidFill>
                  <a:srgbClr val="000000"/>
                </a:solidFill>
              </a:rPr>
              <a:t>sont</a:t>
            </a:r>
            <a:r>
              <a:rPr lang="en-GB" sz="2200" dirty="0">
                <a:solidFill>
                  <a:srgbClr val="000000"/>
                </a:solidFill>
              </a:rPr>
              <a:t> </a:t>
            </a:r>
            <a:r>
              <a:rPr lang="en-GB" sz="2200" dirty="0" err="1">
                <a:solidFill>
                  <a:srgbClr val="000000"/>
                </a:solidFill>
              </a:rPr>
              <a:t>appliquées</a:t>
            </a:r>
            <a:endParaRPr lang="en-US" sz="2200" dirty="0">
              <a:solidFill>
                <a:srgbClr val="000000"/>
              </a:solidFill>
            </a:endParaRPr>
          </a:p>
        </p:txBody>
      </p:sp>
      <p:sp>
        <p:nvSpPr>
          <p:cNvPr id="5" name="Rectangle 4"/>
          <p:cNvSpPr/>
          <p:nvPr/>
        </p:nvSpPr>
        <p:spPr>
          <a:xfrm>
            <a:off x="239485" y="1449213"/>
            <a:ext cx="8570685" cy="432426"/>
          </a:xfrm>
          <a:prstGeom prst="rect">
            <a:avLst/>
          </a:prstGeom>
        </p:spPr>
        <p:txBody>
          <a:bodyPr wrap="square">
            <a:spAutoFit/>
          </a:bodyPr>
          <a:lstStyle/>
          <a:p>
            <a:pPr algn="l">
              <a:lnSpc>
                <a:spcPct val="85000"/>
              </a:lnSpc>
            </a:pPr>
            <a:r>
              <a:rPr lang="en-GB" sz="2600" b="0" dirty="0" smtClean="0">
                <a:solidFill>
                  <a:srgbClr val="000000"/>
                </a:solidFill>
              </a:rPr>
              <a:t>Pour </a:t>
            </a:r>
            <a:r>
              <a:rPr lang="en-GB" sz="2600" b="0" dirty="0" err="1" smtClean="0">
                <a:solidFill>
                  <a:srgbClr val="000000"/>
                </a:solidFill>
              </a:rPr>
              <a:t>vous</a:t>
            </a:r>
            <a:r>
              <a:rPr lang="en-GB" sz="2600" b="0" dirty="0" smtClean="0">
                <a:solidFill>
                  <a:srgbClr val="000000"/>
                </a:solidFill>
              </a:rPr>
              <a:t> aider à </a:t>
            </a:r>
            <a:r>
              <a:rPr lang="en-GB" sz="2600" b="0" dirty="0" err="1" smtClean="0">
                <a:solidFill>
                  <a:srgbClr val="000000"/>
                </a:solidFill>
              </a:rPr>
              <a:t>isoler</a:t>
            </a:r>
            <a:r>
              <a:rPr lang="en-GB" sz="2600" b="0" dirty="0" smtClean="0">
                <a:solidFill>
                  <a:srgbClr val="000000"/>
                </a:solidFill>
              </a:rPr>
              <a:t> la cause d'un </a:t>
            </a:r>
            <a:r>
              <a:rPr lang="en-GB" sz="2600" b="0" dirty="0" err="1" smtClean="0">
                <a:solidFill>
                  <a:srgbClr val="000000"/>
                </a:solidFill>
              </a:rPr>
              <a:t>problème</a:t>
            </a:r>
            <a:r>
              <a:rPr lang="en-GB" sz="2600" b="0" dirty="0" smtClean="0">
                <a:solidFill>
                  <a:srgbClr val="000000"/>
                </a:solidFill>
              </a:rPr>
              <a:t> de communication :</a:t>
            </a:r>
            <a:endParaRPr lang="en-US" sz="2600" b="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87425">
                                            <p:txEl>
                                              <p:pRg st="0" end="0"/>
                                            </p:txEl>
                                          </p:spTgt>
                                        </p:tgtEl>
                                        <p:attrNameLst>
                                          <p:attrName>style.visibility</p:attrName>
                                        </p:attrNameLst>
                                      </p:cBhvr>
                                      <p:to>
                                        <p:strVal val="visible"/>
                                      </p:to>
                                    </p:set>
                                    <p:animEffect transition="in" filter="checkerboard(across)">
                                      <p:cBhvr>
                                        <p:cTn id="7" dur="1000"/>
                                        <p:tgtEl>
                                          <p:spTgt spid="18742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87425">
                                            <p:txEl>
                                              <p:pRg st="1" end="1"/>
                                            </p:txEl>
                                          </p:spTgt>
                                        </p:tgtEl>
                                        <p:attrNameLst>
                                          <p:attrName>style.visibility</p:attrName>
                                        </p:attrNameLst>
                                      </p:cBhvr>
                                      <p:to>
                                        <p:strVal val="visible"/>
                                      </p:to>
                                    </p:set>
                                    <p:animEffect transition="in" filter="checkerboard(across)">
                                      <p:cBhvr>
                                        <p:cTn id="12" dur="1000"/>
                                        <p:tgtEl>
                                          <p:spTgt spid="18742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187425">
                                            <p:txEl>
                                              <p:pRg st="2" end="2"/>
                                            </p:txEl>
                                          </p:spTgt>
                                        </p:tgtEl>
                                        <p:attrNameLst>
                                          <p:attrName>style.visibility</p:attrName>
                                        </p:attrNameLst>
                                      </p:cBhvr>
                                      <p:to>
                                        <p:strVal val="visible"/>
                                      </p:to>
                                    </p:set>
                                    <p:animEffect transition="in" filter="checkerboard(across)">
                                      <p:cBhvr>
                                        <p:cTn id="17" dur="1000"/>
                                        <p:tgtEl>
                                          <p:spTgt spid="18742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187425">
                                            <p:txEl>
                                              <p:pRg st="3" end="3"/>
                                            </p:txEl>
                                          </p:spTgt>
                                        </p:tgtEl>
                                        <p:attrNameLst>
                                          <p:attrName>style.visibility</p:attrName>
                                        </p:attrNameLst>
                                      </p:cBhvr>
                                      <p:to>
                                        <p:strVal val="visible"/>
                                      </p:to>
                                    </p:set>
                                    <p:animEffect transition="in" filter="checkerboard(across)">
                                      <p:cBhvr>
                                        <p:cTn id="22" dur="1000"/>
                                        <p:tgtEl>
                                          <p:spTgt spid="18742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187425">
                                            <p:txEl>
                                              <p:pRg st="4" end="4"/>
                                            </p:txEl>
                                          </p:spTgt>
                                        </p:tgtEl>
                                        <p:attrNameLst>
                                          <p:attrName>style.visibility</p:attrName>
                                        </p:attrNameLst>
                                      </p:cBhvr>
                                      <p:to>
                                        <p:strVal val="visible"/>
                                      </p:to>
                                    </p:set>
                                    <p:animEffect transition="in" filter="checkerboard(across)">
                                      <p:cBhvr>
                                        <p:cTn id="27" dur="1000"/>
                                        <p:tgtEl>
                                          <p:spTgt spid="18742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187425">
                                            <p:txEl>
                                              <p:pRg st="5" end="5"/>
                                            </p:txEl>
                                          </p:spTgt>
                                        </p:tgtEl>
                                        <p:attrNameLst>
                                          <p:attrName>style.visibility</p:attrName>
                                        </p:attrNameLst>
                                      </p:cBhvr>
                                      <p:to>
                                        <p:strVal val="visible"/>
                                      </p:to>
                                    </p:set>
                                    <p:animEffect transition="in" filter="checkerboard(across)">
                                      <p:cBhvr>
                                        <p:cTn id="32" dur="1000"/>
                                        <p:tgtEl>
                                          <p:spTgt spid="18742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PPWINTOTALSEGMENTS" val="1"/>
</p:tagLst>
</file>

<file path=ppt/tags/tag2.xml><?xml version="1.0" encoding="utf-8"?>
<p:tagLst xmlns:a="http://schemas.openxmlformats.org/drawingml/2006/main" xmlns:r="http://schemas.openxmlformats.org/officeDocument/2006/relationships" xmlns:p="http://schemas.openxmlformats.org/presentationml/2006/main">
  <p:tag name="PPWINTOTALSEGMENTS" val="1"/>
</p:tagLst>
</file>

<file path=ppt/tags/tag3.xml><?xml version="1.0" encoding="utf-8"?>
<p:tagLst xmlns:a="http://schemas.openxmlformats.org/drawingml/2006/main" xmlns:r="http://schemas.openxmlformats.org/officeDocument/2006/relationships" xmlns:p="http://schemas.openxmlformats.org/presentationml/2006/main">
  <p:tag name="PPWINTOTALSEGMENTS" val="5"/>
</p:tagLst>
</file>

<file path=ppt/tags/tag4.xml><?xml version="1.0" encoding="utf-8"?>
<p:tagLst xmlns:a="http://schemas.openxmlformats.org/drawingml/2006/main" xmlns:r="http://schemas.openxmlformats.org/officeDocument/2006/relationships" xmlns:p="http://schemas.openxmlformats.org/presentationml/2006/main">
  <p:tag name="PPWINTOTALSEGMENTS" val="1"/>
</p:tagLst>
</file>

<file path=ppt/tags/tag5.xml><?xml version="1.0" encoding="utf-8"?>
<p:tagLst xmlns:a="http://schemas.openxmlformats.org/drawingml/2006/main" xmlns:r="http://schemas.openxmlformats.org/officeDocument/2006/relationships" xmlns:p="http://schemas.openxmlformats.org/presentationml/2006/main">
  <p:tag name="PPWINTOTALSEGMENTS" val="0"/>
</p:tagLst>
</file>

<file path=ppt/tags/tag6.xml><?xml version="1.0" encoding="utf-8"?>
<p:tagLst xmlns:a="http://schemas.openxmlformats.org/drawingml/2006/main" xmlns:r="http://schemas.openxmlformats.org/officeDocument/2006/relationships" xmlns:p="http://schemas.openxmlformats.org/presentationml/2006/main">
  <p:tag name="PPWINTOTALSEGMENTS" val="1"/>
</p:tagLst>
</file>

<file path=ppt/tags/tag7.xml><?xml version="1.0" encoding="utf-8"?>
<p:tagLst xmlns:a="http://schemas.openxmlformats.org/drawingml/2006/main" xmlns:r="http://schemas.openxmlformats.org/officeDocument/2006/relationships" xmlns:p="http://schemas.openxmlformats.org/presentationml/2006/main">
  <p:tag name="PPWINTOTALSEGMENTS" val="1"/>
</p:tagLst>
</file>

<file path=ppt/tags/tag8.xml><?xml version="1.0" encoding="utf-8"?>
<p:tagLst xmlns:a="http://schemas.openxmlformats.org/drawingml/2006/main" xmlns:r="http://schemas.openxmlformats.org/officeDocument/2006/relationships" xmlns:p="http://schemas.openxmlformats.org/presentationml/2006/main">
  <p:tag name="PPWINTOTALSEGMENTS" val="1"/>
</p:tagLst>
</file>

<file path=ppt/tags/tag9.xml><?xml version="1.0" encoding="utf-8"?>
<p:tagLst xmlns:a="http://schemas.openxmlformats.org/drawingml/2006/main" xmlns:r="http://schemas.openxmlformats.org/officeDocument/2006/relationships" xmlns:p="http://schemas.openxmlformats.org/presentationml/2006/main">
  <p:tag name="PPWINTOTALSEGMENTS" val="0"/>
</p:tagLst>
</file>

<file path=ppt/tags/tag10.xml><?xml version="1.0" encoding="utf-8"?>
<p:tagLst xmlns:a="http://schemas.openxmlformats.org/drawingml/2006/main" xmlns:r="http://schemas.openxmlformats.org/officeDocument/2006/relationships" xmlns:p="http://schemas.openxmlformats.org/presentationml/2006/main">
  <p:tag name="PPWINSEGMENT1START" val="1"/>
  <p:tag name="PPWINSEGMENT1LENGTH" val="10"/>
  <p:tag name="PPWINSEGMENT1SOURCERTF" val="{\rtf1\ansi\deff0{\fonttbl{\f0\fcharset0 Arial Narrow;}}{\colortbl\red0\green0\blue0;}{\f0\fs100\b\cf0 Module 8:\par}}"/>
  <p:tag name="PPWINSEGMENT1TARGETRTF" val="{\rtf1\ansi\deff1{\fonttbl{\f1\fcharset0 Arial;}{\f2\fcharset0 Arial Narrow;}}{\colortbl\red0\green0\blue0;}{\f2\fs100\b\cf0 Module 8 :\par}}"/>
  <p:tag name="PPWINSEGMENT2START" val="12"/>
  <p:tag name="PPWINSEGMENT2LENGTH" val="75"/>
  <p:tag name="PPWINSEGMENT2SOURCERTF" val="{\rtf1\ansi\deff0{\fonttbl{\f0\fcharset0 Arial Narrow;}}{\colortbl\red0\green0\blue0;}{\f0\fs100\b\cf0 Securing Network Traffic by Using IPSec and Certificates\par}}"/>
  <p:tag name="PPWINSEGMENT2TARGETRTF" val="{\rtf1\ansi\deff1{\fonttbl{\f1\fcharset0 Arial;}{\f2\fcharset0 Arial Narrow;}}{\colortbl\red0\green0\blue0;}{\f2\fs100\b\cf0 Protection du trafic r\'E9seau \'E0 l'aide de la s\'E9curit\'E9 IPSec et de certificats\par}}"/>
  <p:tag name="PPWINLASTSAVEDTRANSLATION" val="Module 8 : Protection du trafic réseau à l'aide de la sécurité IPSec et de certificats"/>
  <p:tag name="PPWINALREADYSEGMENTED" val="True"/>
  <p:tag name="PPWINTOTALSEGMENTS" val="2"/>
</p:tagLst>
</file>

<file path=ppt/tags/tag11.xml><?xml version="1.0" encoding="utf-8"?>
<p:tagLst xmlns:a="http://schemas.openxmlformats.org/drawingml/2006/main" xmlns:r="http://schemas.openxmlformats.org/officeDocument/2006/relationships" xmlns:p="http://schemas.openxmlformats.org/presentationml/2006/main">
  <p:tag name="PPWINTOTALSEGMENTS" val="0"/>
</p:tagLst>
</file>

<file path=ppt/tags/tag12.xml><?xml version="1.0" encoding="utf-8"?>
<p:tagLst xmlns:a="http://schemas.openxmlformats.org/drawingml/2006/main" xmlns:r="http://schemas.openxmlformats.org/officeDocument/2006/relationships" xmlns:p="http://schemas.openxmlformats.org/presentationml/2006/main">
  <p:tag name="PPWINSEGMENT1START" val="1"/>
  <p:tag name="PPWINSEGMENT1LENGTH" val="14"/>
  <p:tag name="PPWINSEGMENT1SOURCERTF" val="{\rtf1\ansi\deff0{\fonttbl{\f0\fcharset0 Arial Narrow;}}{\colortbl\red0\green0\blue0;}{\f0\fs60\b\cf0 Overview\par}}"/>
  <p:tag name="PPWINSEGMENT1TARGETRTF" val="{\rtf1\ansi\deff1{\fonttbl{\f1\fcharset0 Arial;}{\f2\fcharset0 Arial Narrow;}}{\colortbl\red0\green0\blue0;}{\f2\fs60\b\cf0 Vue d'ensemble\par}}"/>
  <p:tag name="PPWINLASTSAVEDTRANSLATION" val="Vue d'ensemble"/>
  <p:tag name="PPWINALREADYSEGMENTED" val="True"/>
  <p:tag name="PPWINTOTALSEGMENTS" val="1"/>
</p:tagLst>
</file>

<file path=ppt/tags/tag13.xml><?xml version="1.0" encoding="utf-8"?>
<p:tagLst xmlns:a="http://schemas.openxmlformats.org/drawingml/2006/main" xmlns:r="http://schemas.openxmlformats.org/officeDocument/2006/relationships" xmlns:p="http://schemas.openxmlformats.org/presentationml/2006/main">
  <p:tag name="PPWINSEGMENT1START" val="1"/>
  <p:tag name="PPWINSEGMENT1LENGTH" val="35"/>
  <p:tag name="PPWINSEGMENT1SOURCERTF" val="{\rtf1\ansi\deff0{\fonttbl{\f0\fcharset0 Arial Narrow;}}{\colortbl\red0\green0\blue0;}{\f0\fs48\b\cf0 Implementing IPSec\par}}"/>
  <p:tag name="PPWINSEGMENT1TARGETRTF" val="{\rtf1\ansi\deff1{\fonttbl{\f1\fcharset0 Arial;}{\f2\fcharset0 Arial Narrow;}}{\colortbl\red0\green0\blue0;}{\f2\fs48\b\cf0 Impl\'E9mentation de la s\'E9curit\'E9 IPSec\par}}"/>
  <p:tag name="PPWINSEGMENT2START" val="37"/>
  <p:tag name="PPWINSEGMENT2LENGTH" val="56"/>
  <p:tag name="PPWINSEGMENT2SOURCERTF" val="{\rtf1\ansi\deff0{\fonttbl{\f0\fcharset0 Arial Narrow;}}{\colortbl\red0\green0\blue0;}{\f0\fs48\b\cf0 Implementing IPSec with Certificates\par}}"/>
  <p:tag name="PPWINSEGMENT2TARGETRTF" val="{\rtf1\ansi\deff1{\fonttbl{\f1\fcharset0 Arial;}{\f2\fcharset0 Arial Narrow;}}{\colortbl\red0\green0\blue0;}{\f2\fs48\b\cf0 Impl\'E9mentation de la s\'E9curit\'E9 IPSec avec des certificats\par}}"/>
  <p:tag name="PPWINSEGMENT3START" val="94"/>
  <p:tag name="PPWINSEGMENT3LENGTH" val="28"/>
  <p:tag name="PPWINSEGMENT3SOURCERTF" val="{\rtf1\ansi\deff0{\fonttbl{\f0\fcharset0 Arial Narrow;}}{\colortbl\red0\green0\blue0;}{\f0\fs48\b\cf0 Monitoring IPSec\par}}"/>
  <p:tag name="PPWINSEGMENT3TARGETRTF" val="{\rtf1\ansi\deff1{\fonttbl{\f1\fcharset0 Arial;}{\f2\fcharset0 Arial Narrow;}}{\colortbl\red0\green0\blue0;}{\f2\fs48\b\cf0 Analyse de la s\'E9curit\'E9 IPSec\par}}"/>
  <p:tag name="PPWINLASTSAVEDTRANSLATION" val="Implémentation de la sécurité IPSec&#10;Implémentation de la sécurité IPSec avec des certificats&#10;Analyse de la sécurité IPSec"/>
  <p:tag name="PPWINALREADYSEGMENTED" val="True"/>
  <p:tag name="PPWINTOTALSEGMENTS" val="3"/>
</p:tagLst>
</file>

<file path=ppt/tags/tag14.xml><?xml version="1.0" encoding="utf-8"?>
<p:tagLst xmlns:a="http://schemas.openxmlformats.org/drawingml/2006/main" xmlns:r="http://schemas.openxmlformats.org/officeDocument/2006/relationships" xmlns:p="http://schemas.openxmlformats.org/presentationml/2006/main">
  <p:tag name="PPWINTOTALSEGMENTS" val="0"/>
</p:tagLst>
</file>

<file path=ppt/tags/tag15.xml><?xml version="1.0" encoding="utf-8"?>
<p:tagLst xmlns:a="http://schemas.openxmlformats.org/drawingml/2006/main" xmlns:r="http://schemas.openxmlformats.org/officeDocument/2006/relationships" xmlns:p="http://schemas.openxmlformats.org/presentationml/2006/main">
  <p:tag name="PPWINSEGMENT1START" val="1"/>
  <p:tag name="PPWINSEGMENT1LENGTH" val="7"/>
  <p:tag name="PPWINSEGMENT1SOURCERTF" val="{\rtf1\ansi\deff0{\fonttbl{\f0\fcharset0 Arial Narrow;}}{\colortbl\red0\green0\blue0;}{\f0\fs60\b\cf0 Lesson:\par}}"/>
  <p:tag name="PPWINSEGMENT1TARGETRTF" val="{\rtf1\ansi\deff1{\fonttbl{\f1\fcharset0 Arial;}{\f2\fcharset0 Arial Narrow;}}{\colortbl\red0\green0\blue0;}{\f2\fs60\b\cf0 Le\'E7on :\par}}"/>
  <p:tag name="PPWINSEGMENT2START" val="9"/>
  <p:tag name="PPWINSEGMENT2LENGTH" val="35"/>
  <p:tag name="PPWINSEGMENT2SOURCERTF" val="{\rtf1\ansi\deff0{\fonttbl{\f0\fcharset0 Arial Narrow;}}{\colortbl\red0\green0\blue0;}{\f0\fs60\b\cf0 Implementing IPSec\par}}"/>
  <p:tag name="PPWINSEGMENT2TARGETRTF" val="{\rtf1\ansi\deff1{\fonttbl{\f1\fcharset0 Arial;}{\f2\fcharset0 Arial Narrow;}}{\colortbl\red0\green0\blue0;}{\f2\fs60\b\cf0 Impl\'E9mentation de la s\'E9curit\'E9 IPSec\par}}"/>
  <p:tag name="PPWINLASTSAVEDTRANSLATION" val="Leçon : Implémentation de la sécurité IPSec"/>
  <p:tag name="PPWINALREADYSEGMENTED" val="True"/>
  <p:tag name="PPWINTOTALSEGMENTS" val="2"/>
</p:tagLst>
</file>

<file path=ppt/tags/tag16.xml><?xml version="1.0" encoding="utf-8"?>
<p:tagLst xmlns:a="http://schemas.openxmlformats.org/drawingml/2006/main" xmlns:r="http://schemas.openxmlformats.org/officeDocument/2006/relationships" xmlns:p="http://schemas.openxmlformats.org/presentationml/2006/main">
  <p:tag name="PPWINSEGMENT1START" val="1"/>
  <p:tag name="PPWINSEGMENT1LENGTH" val="25"/>
  <p:tag name="PPWINSEGMENT1SOURCERTF" val="{\rtf1\ansi\deff0{\fonttbl{\f0\fcharset0 Arial Narrow;}}{\colortbl\red0\green0\blue0;}{\f0\fs48\b\cf0 Multimedia:\par}}"/>
  <p:tag name="PPWINSEGMENT1TARGETRTF" val="{\rtf1\ansi\deff1{\fonttbl{\f1\fcharset0 Arial;}{\f2\fcharset0 Arial Narrow;}}{\colortbl\red0\green0\blue0;}{\f2\fs48\b\cf0 Pr\'E9sentation multim\'E9dia :\par}}"/>
  <p:tag name="PPWINSEGMENT2START" val="27"/>
  <p:tag name="PPWINSEGMENT2LENGTH" val="56"/>
  <p:tag name="PPWINSEGMENT2SOURCERTF" val="{\rtf1\ansi\deff0{\fonttbl{\f0\fcharset0 Arial Narrow;}}{\colortbl\red0\green0\blue0;}{\f0\fs48\b\cf0 The Role of IPSec in a Network Infrastructure\par}}"/>
  <p:tag name="PPWINSEGMENT2TARGETRTF" val="{\rtf1\ansi\deff1{\fonttbl{\f1\fcharset0 Arial;}{\f2\fcharset0 Arial Narrow;}}{\colortbl\red0\green0\blue0;}{\f2\fs48\b\cf0 R\'F4le de la s\'E9curit\'E9 IPSec dans une infrastructure r\'E9seau\par}}"/>
  <p:tag name="PPWINSEGMENT3START" val="84"/>
  <p:tag name="PPWINSEGMENT3LENGTH" val="33"/>
  <p:tag name="PPWINSEGMENT3SOURCERTF" val="{\rtf1\ansi\deff0{\fonttbl{\f0\fcharset0 Arial Narrow;}}{\colortbl\red0\green0\blue0;}{\f0\fs48\b\cf0 What Is IPSec?\par}}"/>
  <p:tag name="PPWINSEGMENT3TARGETRTF" val="{\rtf1\ansi\deff1{\fonttbl{\f1\fcharset0 Arial;}{\f2\fcharset0 Arial Narrow;}}{\colortbl\red0\green0\blue0;}{\f2\fs48\b\cf0 Qu'est-ce que la s\'E9curit\'E9 IPSec ?\par}}"/>
  <p:tag name="PPWINSEGMENT4START" val="118"/>
  <p:tag name="PPWINSEGMENT4LENGTH" val="62"/>
  <p:tag name="PPWINSEGMENT4SOURCERTF" val="{\rtf1\ansi\deff0{\fonttbl{\f0\fcharset0 Arial Narrow;}}{\colortbl\red0\green0\blue0;}{\f0\fs48\b\cf0 How IPSec Secures Traffic \par}}"/>
  <p:tag name="PPWINSEGMENT4TARGETRTF" val="{\rtf1\ansi\deff1{\fonttbl{\f1\fcharset0 Arial;}{\f2\fcharset0 Arial Narrow;}}{\colortbl\red0\green0\blue0;}{\f2\fs48\b\cf0 De quelle mani\'E8re la s\'E9curit\'E9 IPSec prot\'E8ge-t-elle le trafic ?\par}}"/>
  <p:tag name="PPWINSEGMENT5START" val="181"/>
  <p:tag name="PPWINSEGMENT5LENGTH" val="46"/>
  <p:tag name="PPWINSEGMENT5SOURCERTF" val="{\rtf1\ansi\deff0{\fonttbl{\f0\fcharset0 Arial Narrow;}}{\colortbl\red0\green0\blue0;}{\f0\fs48\b\cf0 What Is an IPSec Security Policy?\par}}"/>
  <p:tag name="PPWINSEGMENT5TARGETRTF" val="{\rtf1\ansi\deff1{\fonttbl{\f1\fcharset0 Arial;}{\f2\fcharset0 Arial Narrow;}}{\colortbl\red0\green0\blue0;}{\f2\fs48\b\cf0 Qu'est-ce qu'une strat\'E9gie de s\'E9curit\'E9 IPSec ?\par}}"/>
  <p:tag name="PPWINSEGMENT6START" val="228"/>
  <p:tag name="PPWINSEGMENT6LENGTH" val="44"/>
  <p:tag name="PPWINSEGMENT6SOURCERTF" val="{\rtf1\ansi\deff0{\fonttbl{\f0\fcharset0 Arial Narrow;}}{\colortbl\red0\green0\blue0;}{\f0\fs48\b\cf0 How IPSec Policies Work Together\par}}"/>
  <p:tag name="PPWINSEGMENT6TARGETRTF" val="{\rtf1\ansi\deff1{\fonttbl{\f1\fcharset0 Arial;}{\f2\fcharset0 Arial Narrow;}}{\colortbl\red0\green0\blue0;}{\f2\fs48\b\cf0 Fonctionnement conjoint des strat\'E9gies IPSec\par}}"/>
  <p:tag name="PPWINSEGMENT7START" val="273"/>
  <p:tag name="PPWINSEGMENT7LENGTH" val="60"/>
  <p:tag name="PPWINSEGMENT7SOURCERTF" val="{\rtf1\ansi\deff0{\fonttbl{\f0\fcharset0 Arial Narrow;}}{\colortbl\red0\green0\blue0;}{\f0\fs48\b\cf0 Guidelines for Balancing Security and Performance \par}}"/>
  <p:tag name="PPWINSEGMENT7TARGETRTF" val="{\rtf1\ansi\deff1{\fonttbl{\f1\fcharset0 Arial;}{\f2\fcharset0 Arial Narrow;}}{\colortbl\red0\green0\blue0;}{\f2\fs48\b\cf0 Instructions pour \'E9quilibrer la s\'E9curit\'E9 et les performances\par}}"/>
  <p:tag name="PPWINSEGMENT8START" val="334"/>
  <p:tag name="PPWINSEGMENT8LENGTH" val="84"/>
  <p:tag name="PPWINSEGMENT8SOURCERTF" val="{\rtf1\ansi\deff0{\fonttbl{\f0\fcharset0 Arial Narrow;}}{\colortbl\red0\green0\blue0;}{\f0\fs48\b\cf0 How to Assign or Unassign an IPSec Policy on a Computer \par}}"/>
  <p:tag name="PPWINSEGMENT8TARGETRTF" val="{\rtf1\ansi\deff1{\fonttbl{\f1\fcharset0 Arial;}{\f2\fcharset0 Arial Narrow;}}{\colortbl\red0\green0\blue0;}{\f2\fs48\b\cf0 Comment attribuer ou supprimer l'attribution d'une strat\'E9gie IPSec sur un ordinateur\par}}"/>
  <p:tag name="PPWINLASTSAVEDTRANSLATION" val="Présentation multimédia : Rôle de la sécurité IPSec dans une infrastructure réseau&#10;Qu'est-ce que la sécurité IPSec ?&#10;De quelle manière la sécurité IPSec protège-t-elle le trafic ?&#10;Qu'est-ce qu'une stratégie de sécurité IPSec ?&#10;Fonctionnement conjoint des stratégies IPSec&#10;Instructions pour équilibrer la sécurité et les performances&#10;Comment attribuer ou supprimer l'attribution d'une stratégie IPSec sur un ordinateur"/>
  <p:tag name="PPWINALREADYSEGMENTED" val="True"/>
  <p:tag name="PPWINTOTALSEGMENTS" val="8"/>
</p:tagLst>
</file>

<file path=ppt/tags/tag17.xml><?xml version="1.0" encoding="utf-8"?>
<p:tagLst xmlns:a="http://schemas.openxmlformats.org/drawingml/2006/main" xmlns:r="http://schemas.openxmlformats.org/officeDocument/2006/relationships" xmlns:p="http://schemas.openxmlformats.org/presentationml/2006/main">
  <p:tag name="PPWINTOTALSEGMENTS" val="0"/>
</p:tagLst>
</file>

<file path=ppt/tags/tag18.xml><?xml version="1.0" encoding="utf-8"?>
<p:tagLst xmlns:a="http://schemas.openxmlformats.org/drawingml/2006/main" xmlns:r="http://schemas.openxmlformats.org/officeDocument/2006/relationships" xmlns:p="http://schemas.openxmlformats.org/presentationml/2006/main">
  <p:tag name="PPWINSEGMENT1START" val="1"/>
  <p:tag name="PPWINSEGMENT1LENGTH" val="25"/>
  <p:tag name="PPWINSEGMENT1SOURCERTF" val="{\rtf1\ansi\deff0{\fonttbl{\f0\fcharset0 Arial Narrow;}}{\colortbl\red0\green0\blue0;}{\f0\fs60\b\cf0 Multimedia:\par}}"/>
  <p:tag name="PPWINSEGMENT1TARGETRTF" val="{\rtf1\ansi\deff1{\fonttbl{\f1\fcharset0 Arial;}{\f2\fcharset0 Arial Narrow;}}{\colortbl\red0\green0\blue0;}{\f2\fs60\b\cf0 Pr\'E9sentation multim\'E9dia :\par}}"/>
  <p:tag name="PPWINSEGMENT2START" val="27"/>
  <p:tag name="PPWINSEGMENT2LENGTH" val="56"/>
  <p:tag name="PPWINSEGMENT2SOURCERTF" val="{\rtf1\ansi\deff0{\fonttbl{\f0\fcharset0 Arial Narrow;}}{\colortbl\red0\green0\blue0;}{\f0\fs60\b\cf0 The Role of IPSec in a Network Infrastructure\par}}"/>
  <p:tag name="PPWINSEGMENT2TARGETRTF" val="{\rtf1\ansi\deff1{\fonttbl{\f1\fcharset0 Arial;}{\f2\fcharset0 Arial Narrow;}}{\colortbl\red0\green0\blue0;}{\f2\fs60\b\cf0 R\'F4le de la s\'E9curit\'E9 IPSec dans une infrastructure r\'E9seau\par}}"/>
  <p:tag name="PPWINLASTSAVEDTRANSLATION" val="Présentation multimédia : Rôle de la sécurité IPSec dans une infrastructure réseau"/>
  <p:tag name="PPWINALREADYSEGMENTED" val="True"/>
  <p:tag name="PPWINTOTALSEGMENTS" val="2"/>
</p:tagLst>
</file>

<file path=ppt/tags/tag19.xml><?xml version="1.0" encoding="utf-8"?>
<p:tagLst xmlns:a="http://schemas.openxmlformats.org/drawingml/2006/main" xmlns:r="http://schemas.openxmlformats.org/officeDocument/2006/relationships" xmlns:p="http://schemas.openxmlformats.org/presentationml/2006/main">
  <p:tag name="PPWINTOTALSEGMENTS" val="0"/>
</p:tagLst>
</file>

<file path=ppt/tags/tag20.xml><?xml version="1.0" encoding="utf-8"?>
<p:tagLst xmlns:a="http://schemas.openxmlformats.org/drawingml/2006/main" xmlns:r="http://schemas.openxmlformats.org/officeDocument/2006/relationships" xmlns:p="http://schemas.openxmlformats.org/presentationml/2006/main">
  <p:tag name="PPWINSEGMENT1START" val="1"/>
  <p:tag name="PPWINSEGMENT1LENGTH" val="33"/>
  <p:tag name="PPWINSEGMENT1SOURCERTF" val="{\rtf1\ansi\deff0{\fonttbl{\f0\fcharset0 Arial Narrow;}}{\colortbl\red0\green0\blue0;}{\f0\fs60\b\cf0 What Is IPSec?\par}}"/>
  <p:tag name="PPWINSEGMENT1TARGETRTF" val="{\rtf1\ansi\deff1{\fonttbl{\f1\fcharset0 Arial;}{\f2\fcharset0 Arial Narrow;}}{\colortbl\red0\green0\blue0;}{\f2\fs60\b\cf0 Qu'est-ce que la s\'E9curit\'E9 IPSec ?\par}}"/>
  <p:tag name="PPWINLASTSAVEDTRANSLATION" val="Qu'est-ce que la sécurité IPSec ?"/>
  <p:tag name="PPWINALREADYSEGMENTED" val="True"/>
  <p:tag name="PPWINTOTALSEGMENTS" val="1"/>
</p:tagLst>
</file>

<file path=ppt/tags/tag21.xml><?xml version="1.0" encoding="utf-8"?>
<p:tagLst xmlns:a="http://schemas.openxmlformats.org/drawingml/2006/main" xmlns:r="http://schemas.openxmlformats.org/officeDocument/2006/relationships" xmlns:p="http://schemas.openxmlformats.org/presentationml/2006/main">
  <p:tag name="PPWINTOTALSEGMENTS" val="0"/>
</p:tagLst>
</file>

<file path=ppt/tags/tag22.xml><?xml version="1.0" encoding="utf-8"?>
<p:tagLst xmlns:a="http://schemas.openxmlformats.org/drawingml/2006/main" xmlns:r="http://schemas.openxmlformats.org/officeDocument/2006/relationships" xmlns:p="http://schemas.openxmlformats.org/presentationml/2006/main">
  <p:tag name="PPWINSEGMENT1START" val="1"/>
  <p:tag name="PPWINSEGMENT1LENGTH" val="145"/>
  <p:tag name="PPWINSEGMENT1SOURCERTF" val="{\rtf1\ansi\deff0{\fonttbl{\f0\fcharset0 Arial Narrow;}}{\colortbl\red0\green0\blue0;}{\f0\fs48\b\i\cf0 IPSec}{\f0\fs48\b\cf0  is an industry-defined set of standards that verifies, authenticates, and encrypts data at the IP packet level.\par}}"/>
  <p:tag name="PPWINSEGMENT1TARGETRTF" val="{\rtf1\ansi\deff1{\fonttbl{\f1\fcharset0 Arial;}{\f2\fcharset0 Arial Narrow;}}{\colortbl\red0\green0\blue0;}{\f2\fs48\b\cf0 La s\'E9curit\'E9 }{\f2\fs48\b\i\cf0 IPSec}{\f2\fs48\b\cf0  correspond \'E0 un ensemble de normes industrielles qui v\'E9rifient, authentifient et cryptent les donn\'E9es au niveau des paquets IP.\par}}"/>
  <p:tag name="PPWINSEGMENT2START" val="147"/>
  <p:tag name="PPWINSEGMENT2LENGTH" val="78"/>
  <p:tag name="PPWINSEGMENT2SOURCERTF" val="{\rtf1\ansi\deff0{\fonttbl{\f0\fcharset0 Arial Narrow;}}{\colortbl\red0\green0\blue0;}{\f0\fs48\b\cf0 IPSec is used to provide data security for network transmissions \par}}"/>
  <p:tag name="PPWINSEGMENT2TARGETRTF" val="{\rtf1\ansi\deff1{\fonttbl{\f1\fcharset0 Arial;}{\f2\fcharset0 Arial Narrow;}}{\colortbl\red0\green0\blue0;}{\f2\fs48\b\cf0 La s\'E9curit\'E9 IPSec permet de prot\'E9ger les donn\'E9es lors de transmissions r\'E9seau.\par}}"/>
  <p:tag name="PPWINLASTSAVEDTRANSLATION" val="La sécurité IPSec correspond à un ensemble de normes industrielles qui vérifient, authentifient et cryptent les données au niveau des paquets IP. La sécurité IPSec permet de protéger les données lors de transmissions réseau."/>
  <p:tag name="PPWINALREADYSEGMENTED" val="True"/>
  <p:tag name="PPWINTOTALSEGMENTS" val="2"/>
</p:tagLst>
</file>

<file path=ppt/tags/tag23.xml><?xml version="1.0" encoding="utf-8"?>
<p:tagLst xmlns:a="http://schemas.openxmlformats.org/drawingml/2006/main" xmlns:r="http://schemas.openxmlformats.org/officeDocument/2006/relationships" xmlns:p="http://schemas.openxmlformats.org/presentationml/2006/main">
  <p:tag name="PPWINSEGMENT1START" val="1"/>
  <p:tag name="PPWINSEGMENT1LENGTH" val="61"/>
  <p:tag name="PPWINSEGMENT1SOURCERTF" val="{\rtf1\ansi\deff0{\fonttbl{\f0\fcharset0 Arial Narrow;}}{\colortbl\red0\green0\blue0;}{\f0\fs44\b\cf0 Mutual authentication before and during communications\par}}"/>
  <p:tag name="PPWINSEGMENT1TARGETRTF" val="{\rtf1\ansi\deff1{\fonttbl{\f1\fcharset0 Arial;}{\f2\fcharset0 Arial Narrow;}}{\colortbl\red0\green0\blue0;}{\f2\fs44\b\cf0 Authentification mutuelle avant et pendant les communications\par}}"/>
  <p:tag name="PPWINSEGMENT2START" val="63"/>
  <p:tag name="PPWINSEGMENT2LENGTH" val="46"/>
  <p:tag name="PPWINSEGMENT2SOURCERTF" val="{\rtf1\ansi\deff0{\fonttbl{\f0\fcharset0 Arial Narrow;}}{\colortbl\red0\green0\blue0;}{\f0\fs44\b\cf0 Confidentiality through encryption of IP traffic\par}}"/>
  <p:tag name="PPWINSEGMENT2TARGETRTF" val="{\rtf1\ansi\deff1{\fonttbl{\f1\fcharset0 Arial;}{\f2\fcharset0 Arial Narrow;}}{\colortbl\red0\green0\blue0;}{\f2\fs44\b\cf0 Confidentialit\'E9 gr\'E2ce au cryptage du trafic IP\par}}"/>
  <p:tag name="PPWINSEGMENT3START" val="110"/>
  <p:tag name="PPWINSEGMENT3LENGTH" val="54"/>
  <p:tag name="PPWINSEGMENT3SOURCERTF" val="{\rtf1\ansi\deff0{\fonttbl{\f0\fcharset0 Arial Narrow;}}{\colortbl\red0\green0\blue0;}{\f0\fs44\b\cf0 Integrity of IP traffic by rejecting modified traffic\par}}"/>
  <p:tag name="PPWINSEGMENT3TARGETRTF" val="{\rtf1\ansi\deff1{\fonttbl{\f1\fcharset0 Arial;}{\f2\fcharset0 Arial Narrow;}}{\colortbl\red0\green0\blue0;}{\f2\fs44\b\cf0 Int\'E9grit\'E9 du trafic IP en rejetant tout trafic modifi\'E9\par}}"/>
  <p:tag name="PPWINSEGMENT4START" val="165"/>
  <p:tag name="PPWINSEGMENT4LENGTH" val="43"/>
  <p:tag name="PPWINSEGMENT4SOURCERTF" val="{\rtf1\ansi\deff0{\fonttbl{\f0\fcharset0 Arial Narrow;}}{\colortbl\red0\green0\blue0;}{\f0\fs44\b\cf0 Prevention against replay attacks\par}}"/>
  <p:tag name="PPWINSEGMENT4TARGETRTF" val="{\rtf1\ansi\deff1{\fonttbl{\f1\fcharset0 Arial;}{\f2\fcharset0 Arial Narrow;}}{\colortbl\red0\green0\blue0;}{\f2\fs44\b\cf0 Protection contre les attaques de relecture\par}}"/>
  <p:tag name="PPWINLASTSAVEDTRANSLATION" val="Authentification mutuelle avant et pendant les communications&#10;Confidentialité grâce au cryptage du trafic IP&#10;Intégrité du trafic IP en rejetant tout trafic modifié&#10;Protection contre les attaques de relecture"/>
  <p:tag name="PPWINALREADYSEGMENTED" val="True"/>
  <p:tag name="PPWINTOTALSEGMENTS" val="4"/>
</p:tagLst>
</file>

<file path=ppt/tags/tag24.xml><?xml version="1.0" encoding="utf-8"?>
<p:tagLst xmlns:a="http://schemas.openxmlformats.org/drawingml/2006/main" xmlns:r="http://schemas.openxmlformats.org/officeDocument/2006/relationships" xmlns:p="http://schemas.openxmlformats.org/presentationml/2006/main">
  <p:tag name="PPWINTOTALSEGMENTS" val="0"/>
</p:tagLst>
</file>

<file path=ppt/tags/tag25.xml><?xml version="1.0" encoding="utf-8"?>
<p:tagLst xmlns:a="http://schemas.openxmlformats.org/drawingml/2006/main" xmlns:r="http://schemas.openxmlformats.org/officeDocument/2006/relationships" xmlns:p="http://schemas.openxmlformats.org/presentationml/2006/main">
  <p:tag name="PPWINSEGMENT1START" val="1"/>
  <p:tag name="PPWINSEGMENT1LENGTH" val="62"/>
  <p:tag name="PPWINSEGMENT1SOURCERTF" val="{\rtf1\ansi\deff0{\fonttbl{\f0\fcharset0 Arial Narrow;}}{\colortbl\red0\green0\blue0;}{\f0\fs52\b\cf0 How IPSec Secures Traffic\par}}"/>
  <p:tag name="PPWINLASTSAVEDTRANSLATION" val="De quelle manière la sécurité IPSec protège-t-elle le trafic ?"/>
  <p:tag name="PPWINALREADYSEGMENTED" val="True"/>
  <p:tag name="PPWINTOTALSEGMENTS" val="1"/>
  <p:tag name="PPWINSEGMENT1TARGETRTF" val="{\rtf1\ansi\deff0{\fonttbl{\f0\fcharset0 Arial Narrow;}}{\colortbl\red0\green0\blue0;}{\f0\fs52\b\cf0 De quelle mani\'E8re la s\'E9curit\'E9 IPSec prot\'E8ge-t-elle le trafic ?\par}}"/>
</p:tagLst>
</file>

<file path=ppt/tags/tag26.xml><?xml version="1.0" encoding="utf-8"?>
<p:tagLst xmlns:a="http://schemas.openxmlformats.org/drawingml/2006/main" xmlns:r="http://schemas.openxmlformats.org/officeDocument/2006/relationships" xmlns:p="http://schemas.openxmlformats.org/presentationml/2006/main">
  <p:tag name="PPWINSEGMENT1START" val="1"/>
  <p:tag name="PPWINSEGMENT1LENGTH" val="63"/>
  <p:tag name="PPWINSEGMENT1SOURCERTF" val="{\rtf1\ansi\deff0{\fonttbl{\f0\fcharset0 Arial Narrow;}}{\colortbl\red0\green0\blue0;}{\f0\fs44\b\cf0 Assessing the risk and determining the appropriate level of security \par}}"/>
  <p:tag name="PPWINSEGMENT1TARGETRTF" val="{\rtf1\ansi\deff1{\fonttbl{\f1\fcharset0 Arial;}{\f2\fcharset0 Arial Narrow;}}{\colortbl\red0\green0\blue0;}{\f2\fs44\b\cf0 \'C9valuer le risque et d\'E9terminer le niveau de s\'E9curit\'E9 appropri\'E9\par}}"/>
  <p:tag name="PPWINSEGMENT2START" val="65"/>
  <p:tag name="PPWINSEGMENT2LENGTH" val="39"/>
  <p:tag name="PPWINSEGMENT2SOURCERTF" val="{\rtf1\ansi\deff0{\fonttbl{\f0\fcharset0 Arial Narrow;}}{\colortbl\red0\green0\blue0;}{\f0\fs44\b\cf0 Identifying valuable information \par}}"/>
  <p:tag name="PPWINSEGMENT2TARGETRTF" val="{\rtf1\ansi\deff1{\fonttbl{\f1\fcharset0 Arial;}{\f2\fcharset0 Arial Narrow;}}{\colortbl\red0\green0\blue0;}{\f2\fs44\b\cf0 Identifier les informations importantes\par}}"/>
  <p:tag name="PPWINSEGMENT3START" val="105"/>
  <p:tag name="PPWINSEGMENT3LENGTH" val="51"/>
  <p:tag name="PPWINSEGMENT3SOURCERTF" val="{\rtf1\ansi\deff0{\fonttbl{\f0\fcharset0 Arial Narrow;}}{\colortbl\red0\green0\blue0;}{\f0\fs44\b\cf0 Determining how the policies can best be implemented \par}}"/>
  <p:tag name="PPWINSEGMENT3TARGETRTF" val="{\rtf1\ansi\deff1{\fonttbl{\f1\fcharset0 Arial;}{\f2\fcharset0 Arial Narrow;}}{\colortbl\red0\green0\blue0;}{\f2\fs44\b\cf0 D\'E9terminer l'impl\'E9mentation optimale des strat\'E9gies\par}}"/>
  <p:tag name="PPWINSEGMENT4START" val="157"/>
  <p:tag name="PPWINSEGMENT4LENGTH" val="83"/>
  <p:tag name="PPWINSEGMENT4SOURCERTF" val="{\rtf1\ansi\deff0{\fonttbl{\f0\fcharset0 Arial Narrow;}}{\colortbl\red0\green0\blue0;}{\f0\fs44\b\cf0 Ensuring that management and technology requirements are in place\par}}"/>
  <p:tag name="PPWINSEGMENT4TARGETRTF" val="{\rtf1\ansi\deff1{\fonttbl{\f1\fcharset0 Arial;}{\f2\fcharset0 Arial Narrow;}}{\colortbl\red0\green0\blue0;}{\f2\fs44\b\cf0 V\'E9rifier que les exigences en termes de gestion et de technologies sont satisfaites\par}}"/>
  <p:tag name="PPWINSEGMENT5START" val="241"/>
  <p:tag name="PPWINSEGMENT5LENGTH" val="64"/>
  <p:tag name="PPWINSEGMENT5SOURCERTF" val="{\rtf1\ansi\deff0{\fonttbl{\f0\fcharset0 Arial Narrow;}}{\colortbl\red0\green0\blue0;}{\f0\fs44\b\cf0 Providing all users with both secure and efficient access\par}}"/>
  <p:tag name="PPWINSEGMENT5TARGETRTF" val="{\rtf1\ansi\deff1{\fonttbl{\f1\fcharset0 Arial;}{\f2\fcharset0 Arial Narrow;}}{\colortbl\red0\green0\blue0;}{\f2\fs44\b\cf0 Fournir aux utilisateurs un acc\'E8s \'E0 la fois s\'E9curis\'E9 et efficace\par}}"/>
  <p:tag name="PPWINLASTSAVEDTRANSLATION" val="Évaluer le risque et déterminer le niveau de sécurité approprié&#10;Identifier les informations importantes&#10;Déterminer l'implémentation optimale des stratégies&#10;Vérifier que les exigences en termes de gestion et de technologies sont satisfaites&#10;Fournir aux utilisateurs un accès à la fois sécurisé et efficace"/>
  <p:tag name="PPWINALREADYSEGMENTED" val="True"/>
  <p:tag name="PPWINTOTALSEGMENTS" val="5"/>
</p:tagLst>
</file>

<file path=ppt/tags/tag27.xml><?xml version="1.0" encoding="utf-8"?>
<p:tagLst xmlns:a="http://schemas.openxmlformats.org/drawingml/2006/main" xmlns:r="http://schemas.openxmlformats.org/officeDocument/2006/relationships" xmlns:p="http://schemas.openxmlformats.org/presentationml/2006/main">
  <p:tag name="PPWINSEGMENT1START" val="1"/>
  <p:tag name="PPWINSEGMENT1LENGTH" val="63"/>
  <p:tag name="PPWINSEGMENT1SOURCERTF" val="{\rtf1\ansi\deff0{\fonttbl{\f0\fcharset0 Arial Narrow;}}{\colortbl\red0\green0\blue0;}{\f0\fs44\b\cf0 Assessing the risk and determining the appropriate level of security \par}}"/>
  <p:tag name="PPWINSEGMENT1TARGETRTF" val="{\rtf1\ansi\deff1{\fonttbl{\f1\fcharset0 Arial;}{\f2\fcharset0 Arial Narrow;}}{\colortbl\red0\green0\blue0;}{\f2\fs44\b\cf0 \'C9valuer le risque et d\'E9terminer le niveau de s\'E9curit\'E9 appropri\'E9\par}}"/>
  <p:tag name="PPWINSEGMENT2START" val="65"/>
  <p:tag name="PPWINSEGMENT2LENGTH" val="39"/>
  <p:tag name="PPWINSEGMENT2SOURCERTF" val="{\rtf1\ansi\deff0{\fonttbl{\f0\fcharset0 Arial Narrow;}}{\colortbl\red0\green0\blue0;}{\f0\fs44\b\cf0 Identifying valuable information \par}}"/>
  <p:tag name="PPWINSEGMENT2TARGETRTF" val="{\rtf1\ansi\deff1{\fonttbl{\f1\fcharset0 Arial;}{\f2\fcharset0 Arial Narrow;}}{\colortbl\red0\green0\blue0;}{\f2\fs44\b\cf0 Identifier les informations importantes\par}}"/>
  <p:tag name="PPWINSEGMENT3START" val="105"/>
  <p:tag name="PPWINSEGMENT3LENGTH" val="51"/>
  <p:tag name="PPWINSEGMENT3SOURCERTF" val="{\rtf1\ansi\deff0{\fonttbl{\f0\fcharset0 Arial Narrow;}}{\colortbl\red0\green0\blue0;}{\f0\fs44\b\cf0 Determining how the policies can best be implemented \par}}"/>
  <p:tag name="PPWINSEGMENT3TARGETRTF" val="{\rtf1\ansi\deff1{\fonttbl{\f1\fcharset0 Arial;}{\f2\fcharset0 Arial Narrow;}}{\colortbl\red0\green0\blue0;}{\f2\fs44\b\cf0 D\'E9terminer l'impl\'E9mentation optimale des strat\'E9gies\par}}"/>
  <p:tag name="PPWINSEGMENT4START" val="157"/>
  <p:tag name="PPWINSEGMENT4LENGTH" val="83"/>
  <p:tag name="PPWINSEGMENT4SOURCERTF" val="{\rtf1\ansi\deff0{\fonttbl{\f0\fcharset0 Arial Narrow;}}{\colortbl\red0\green0\blue0;}{\f0\fs44\b\cf0 Ensuring that management and technology requirements are in place\par}}"/>
  <p:tag name="PPWINSEGMENT4TARGETRTF" val="{\rtf1\ansi\deff1{\fonttbl{\f1\fcharset0 Arial;}{\f2\fcharset0 Arial Narrow;}}{\colortbl\red0\green0\blue0;}{\f2\fs44\b\cf0 V\'E9rifier que les exigences en termes de gestion et de technologies sont satisfaites\par}}"/>
  <p:tag name="PPWINSEGMENT5START" val="241"/>
  <p:tag name="PPWINSEGMENT5LENGTH" val="64"/>
  <p:tag name="PPWINSEGMENT5SOURCERTF" val="{\rtf1\ansi\deff0{\fonttbl{\f0\fcharset0 Arial Narrow;}}{\colortbl\red0\green0\blue0;}{\f0\fs44\b\cf0 Providing all users with both secure and efficient access\par}}"/>
  <p:tag name="PPWINSEGMENT5TARGETRTF" val="{\rtf1\ansi\deff1{\fonttbl{\f1\fcharset0 Arial;}{\f2\fcharset0 Arial Narrow;}}{\colortbl\red0\green0\blue0;}{\f2\fs44\b\cf0 Fournir aux utilisateurs un acc\'E8s \'E0 la fois s\'E9curis\'E9 et efficace\par}}"/>
  <p:tag name="PPWINLASTSAVEDTRANSLATION" val="Évaluer le risque et déterminer le niveau de sécurité approprié&#10;Identifier les informations importantes&#10;Déterminer l'implémentation optimale des stratégies&#10;Vérifier que les exigences en termes de gestion et de technologies sont satisfaites&#10;Fournir aux utilisateurs un accès à la fois sécurisé et efficace"/>
  <p:tag name="PPWINALREADYSEGMENTED" val="True"/>
  <p:tag name="PPWINTOTALSEGMENTS" val="5"/>
</p:tagLst>
</file>

<file path=ppt/tags/tag28.xml><?xml version="1.0" encoding="utf-8"?>
<p:tagLst xmlns:a="http://schemas.openxmlformats.org/drawingml/2006/main" xmlns:r="http://schemas.openxmlformats.org/officeDocument/2006/relationships" xmlns:p="http://schemas.openxmlformats.org/presentationml/2006/main">
  <p:tag name="PPWINSEGMENT1START" val="1"/>
  <p:tag name="PPWINSEGMENT1LENGTH" val="63"/>
  <p:tag name="PPWINSEGMENT1SOURCERTF" val="{\rtf1\ansi\deff0{\fonttbl{\f0\fcharset0 Arial Narrow;}}{\colortbl\red0\green0\blue0;}{\f0\fs44\b\cf0 Assessing the risk and determining the appropriate level of security \par}}"/>
  <p:tag name="PPWINSEGMENT1TARGETRTF" val="{\rtf1\ansi\deff1{\fonttbl{\f1\fcharset0 Arial;}{\f2\fcharset0 Arial Narrow;}}{\colortbl\red0\green0\blue0;}{\f2\fs44\b\cf0 \'C9valuer le risque et d\'E9terminer le niveau de s\'E9curit\'E9 appropri\'E9\par}}"/>
  <p:tag name="PPWINSEGMENT2START" val="65"/>
  <p:tag name="PPWINSEGMENT2LENGTH" val="39"/>
  <p:tag name="PPWINSEGMENT2SOURCERTF" val="{\rtf1\ansi\deff0{\fonttbl{\f0\fcharset0 Arial Narrow;}}{\colortbl\red0\green0\blue0;}{\f0\fs44\b\cf0 Identifying valuable information \par}}"/>
  <p:tag name="PPWINSEGMENT2TARGETRTF" val="{\rtf1\ansi\deff1{\fonttbl{\f1\fcharset0 Arial;}{\f2\fcharset0 Arial Narrow;}}{\colortbl\red0\green0\blue0;}{\f2\fs44\b\cf0 Identifier les informations importantes\par}}"/>
  <p:tag name="PPWINSEGMENT3START" val="105"/>
  <p:tag name="PPWINSEGMENT3LENGTH" val="51"/>
  <p:tag name="PPWINSEGMENT3SOURCERTF" val="{\rtf1\ansi\deff0{\fonttbl{\f0\fcharset0 Arial Narrow;}}{\colortbl\red0\green0\blue0;}{\f0\fs44\b\cf0 Determining how the policies can best be implemented \par}}"/>
  <p:tag name="PPWINSEGMENT3TARGETRTF" val="{\rtf1\ansi\deff1{\fonttbl{\f1\fcharset0 Arial;}{\f2\fcharset0 Arial Narrow;}}{\colortbl\red0\green0\blue0;}{\f2\fs44\b\cf0 D\'E9terminer l'impl\'E9mentation optimale des strat\'E9gies\par}}"/>
  <p:tag name="PPWINSEGMENT4START" val="157"/>
  <p:tag name="PPWINSEGMENT4LENGTH" val="83"/>
  <p:tag name="PPWINSEGMENT4SOURCERTF" val="{\rtf1\ansi\deff0{\fonttbl{\f0\fcharset0 Arial Narrow;}}{\colortbl\red0\green0\blue0;}{\f0\fs44\b\cf0 Ensuring that management and technology requirements are in place\par}}"/>
  <p:tag name="PPWINSEGMENT4TARGETRTF" val="{\rtf1\ansi\deff1{\fonttbl{\f1\fcharset0 Arial;}{\f2\fcharset0 Arial Narrow;}}{\colortbl\red0\green0\blue0;}{\f2\fs44\b\cf0 V\'E9rifier que les exigences en termes de gestion et de technologies sont satisfaites\par}}"/>
  <p:tag name="PPWINSEGMENT5START" val="241"/>
  <p:tag name="PPWINSEGMENT5LENGTH" val="64"/>
  <p:tag name="PPWINSEGMENT5SOURCERTF" val="{\rtf1\ansi\deff0{\fonttbl{\f0\fcharset0 Arial Narrow;}}{\colortbl\red0\green0\blue0;}{\f0\fs44\b\cf0 Providing all users with both secure and efficient access\par}}"/>
  <p:tag name="PPWINSEGMENT5TARGETRTF" val="{\rtf1\ansi\deff1{\fonttbl{\f1\fcharset0 Arial;}{\f2\fcharset0 Arial Narrow;}}{\colortbl\red0\green0\blue0;}{\f2\fs44\b\cf0 Fournir aux utilisateurs un acc\'E8s \'E0 la fois s\'E9curis\'E9 et efficace\par}}"/>
  <p:tag name="PPWINLASTSAVEDTRANSLATION" val="Évaluer le risque et déterminer le niveau de sécurité approprié&#10;Identifier les informations importantes&#10;Déterminer l'implémentation optimale des stratégies&#10;Vérifier que les exigences en termes de gestion et de technologies sont satisfaites&#10;Fournir aux utilisateurs un accès à la fois sécurisé et efficace"/>
  <p:tag name="PPWINALREADYSEGMENTED" val="True"/>
  <p:tag name="PPWINTOTALSEGMENTS" val="5"/>
</p:tagLst>
</file>

<file path=ppt/tags/tag29.xml><?xml version="1.0" encoding="utf-8"?>
<p:tagLst xmlns:a="http://schemas.openxmlformats.org/drawingml/2006/main" xmlns:r="http://schemas.openxmlformats.org/officeDocument/2006/relationships" xmlns:p="http://schemas.openxmlformats.org/presentationml/2006/main">
  <p:tag name="PPWINSEGMENT1START" val="1"/>
  <p:tag name="PPWINSEGMENT1LENGTH" val="63"/>
  <p:tag name="PPWINSEGMENT1SOURCERTF" val="{\rtf1\ansi\deff0{\fonttbl{\f0\fcharset0 Arial Narrow;}}{\colortbl\red0\green0\blue0;}{\f0\fs44\b\cf0 Assessing the risk and determining the appropriate level of security \par}}"/>
  <p:tag name="PPWINSEGMENT1TARGETRTF" val="{\rtf1\ansi\deff1{\fonttbl{\f1\fcharset0 Arial;}{\f2\fcharset0 Arial Narrow;}}{\colortbl\red0\green0\blue0;}{\f2\fs44\b\cf0 \'C9valuer le risque et d\'E9terminer le niveau de s\'E9curit\'E9 appropri\'E9\par}}"/>
  <p:tag name="PPWINSEGMENT2START" val="65"/>
  <p:tag name="PPWINSEGMENT2LENGTH" val="39"/>
  <p:tag name="PPWINSEGMENT2SOURCERTF" val="{\rtf1\ansi\deff0{\fonttbl{\f0\fcharset0 Arial Narrow;}}{\colortbl\red0\green0\blue0;}{\f0\fs44\b\cf0 Identifying valuable information \par}}"/>
  <p:tag name="PPWINSEGMENT2TARGETRTF" val="{\rtf1\ansi\deff1{\fonttbl{\f1\fcharset0 Arial;}{\f2\fcharset0 Arial Narrow;}}{\colortbl\red0\green0\blue0;}{\f2\fs44\b\cf0 Identifier les informations importantes\par}}"/>
  <p:tag name="PPWINSEGMENT3START" val="105"/>
  <p:tag name="PPWINSEGMENT3LENGTH" val="51"/>
  <p:tag name="PPWINSEGMENT3SOURCERTF" val="{\rtf1\ansi\deff0{\fonttbl{\f0\fcharset0 Arial Narrow;}}{\colortbl\red0\green0\blue0;}{\f0\fs44\b\cf0 Determining how the policies can best be implemented \par}}"/>
  <p:tag name="PPWINSEGMENT3TARGETRTF" val="{\rtf1\ansi\deff1{\fonttbl{\f1\fcharset0 Arial;}{\f2\fcharset0 Arial Narrow;}}{\colortbl\red0\green0\blue0;}{\f2\fs44\b\cf0 D\'E9terminer l'impl\'E9mentation optimale des strat\'E9gies\par}}"/>
  <p:tag name="PPWINSEGMENT4START" val="157"/>
  <p:tag name="PPWINSEGMENT4LENGTH" val="83"/>
  <p:tag name="PPWINSEGMENT4SOURCERTF" val="{\rtf1\ansi\deff0{\fonttbl{\f0\fcharset0 Arial Narrow;}}{\colortbl\red0\green0\blue0;}{\f0\fs44\b\cf0 Ensuring that management and technology requirements are in place\par}}"/>
  <p:tag name="PPWINSEGMENT4TARGETRTF" val="{\rtf1\ansi\deff1{\fonttbl{\f1\fcharset0 Arial;}{\f2\fcharset0 Arial Narrow;}}{\colortbl\red0\green0\blue0;}{\f2\fs44\b\cf0 V\'E9rifier que les exigences en termes de gestion et de technologies sont satisfaites\par}}"/>
  <p:tag name="PPWINSEGMENT5START" val="241"/>
  <p:tag name="PPWINSEGMENT5LENGTH" val="64"/>
  <p:tag name="PPWINSEGMENT5SOURCERTF" val="{\rtf1\ansi\deff0{\fonttbl{\f0\fcharset0 Arial Narrow;}}{\colortbl\red0\green0\blue0;}{\f0\fs44\b\cf0 Providing all users with both secure and efficient access\par}}"/>
  <p:tag name="PPWINSEGMENT5TARGETRTF" val="{\rtf1\ansi\deff1{\fonttbl{\f1\fcharset0 Arial;}{\f2\fcharset0 Arial Narrow;}}{\colortbl\red0\green0\blue0;}{\f2\fs44\b\cf0 Fournir aux utilisateurs un acc\'E8s \'E0 la fois s\'E9curis\'E9 et efficace\par}}"/>
  <p:tag name="PPWINLASTSAVEDTRANSLATION" val="Évaluer le risque et déterminer le niveau de sécurité approprié&#10;Identifier les informations importantes&#10;Déterminer l'implémentation optimale des stratégies&#10;Vérifier que les exigences en termes de gestion et de technologies sont satisfaites&#10;Fournir aux utilisateurs un accès à la fois sécurisé et efficace"/>
  <p:tag name="PPWINALREADYSEGMENTED" val="True"/>
  <p:tag name="PPWINTOTALSEGMENTS" val="5"/>
</p:tagLst>
</file>

<file path=ppt/tags/tag30.xml><?xml version="1.0" encoding="utf-8"?>
<p:tagLst xmlns:a="http://schemas.openxmlformats.org/drawingml/2006/main" xmlns:r="http://schemas.openxmlformats.org/officeDocument/2006/relationships" xmlns:p="http://schemas.openxmlformats.org/presentationml/2006/main">
  <p:tag name="PPWINTOTALSEGMENTS" val="0"/>
</p:tagLst>
</file>

<file path=ppt/tags/tag31.xml><?xml version="1.0" encoding="utf-8"?>
<p:tagLst xmlns:a="http://schemas.openxmlformats.org/drawingml/2006/main" xmlns:r="http://schemas.openxmlformats.org/officeDocument/2006/relationships" xmlns:p="http://schemas.openxmlformats.org/presentationml/2006/main">
  <p:tag name="PPWINSEGMENT1START" val="1"/>
  <p:tag name="PPWINSEGMENT1LENGTH" val="46"/>
  <p:tag name="PPWINSEGMENT1SOURCERTF" val="{\rtf1\ansi\deff0{\fonttbl{\f0\fcharset0 Arial Narrow;}}{\colortbl\red0\green0\blue0;}{\f0\fs60\b\cf0 What Is an IPSec Security Policy?\par}}"/>
  <p:tag name="PPWINSEGMENT1TARGETRTF" val="{\rtf1\ansi\deff1{\fonttbl{\f1\fcharset0 Arial;}{\f2\fcharset0 Arial Narrow;}}{\colortbl\red0\green0\blue0;}{\f2\fs60\b\cf0 Qu'est-ce qu'une strat\'E9gie de s\'E9curit\'E9 IPSec ?\par}}"/>
  <p:tag name="PPWINLASTSAVEDTRANSLATION" val="Qu'est-ce qu'une stratégie de sécurité IPSec ?"/>
  <p:tag name="PPWINALREADYSEGMENTED" val="True"/>
  <p:tag name="PPWINTOTALSEGMENTS" val="1"/>
</p:tagLst>
</file>

<file path=ppt/tags/tag32.xml><?xml version="1.0" encoding="utf-8"?>
<p:tagLst xmlns:a="http://schemas.openxmlformats.org/drawingml/2006/main" xmlns:r="http://schemas.openxmlformats.org/officeDocument/2006/relationships" xmlns:p="http://schemas.openxmlformats.org/presentationml/2006/main">
  <p:tag name="PPWINSEGMENT1START" val="1"/>
  <p:tag name="PPWINSEGMENT1LENGTH" val="86"/>
  <p:tag name="PPWINSEGMENT1SOURCERTF" val="{\rtf1\ansi\deff0{\fonttbl{\f0\fcharset0 Arial Narrow;}}{\colortbl\red0\green0\blue0;}{\f0\fs48\b\cf0 IPSec uses rules and policies to secure network traffic\par}}"/>
  <p:tag name="PPWINSEGMENT1TARGETRTF" val="{\rtf1\ansi\deff1{\fonttbl{\f1\fcharset0 Arial;}{\f2\fcharset0 Arial Narrow;}}{\colortbl\red0\green0\blue0;}{\f2\fs48\b\cf0 La s\'E9curit\'E9 IPSec utilise des r\'E8gles et des strat\'E9gies pour prot\'E9ger le trafic r\'E9seau.\par}}"/>
  <p:tag name="PPWINSEGMENT2START" val="88"/>
  <p:tag name="PPWINSEGMENT2LENGTH" val="46"/>
  <p:tag name="PPWINSEGMENT2SOURCERTF" val="{\rtf1\ansi\deff0{\fonttbl{\f0\fcharset0 Arial Narrow;}}{\colortbl\red0\green0\blue0;}{\f0\fs48\b\cf0 Rules are composed of:\par}}"/>
  <p:tag name="PPWINSEGMENT2TARGETRTF" val="{\rtf1\ansi\deff1{\fonttbl{\f1\fcharset0 Arial;}{\f2\fcharset0 Arial Narrow;}}{\colortbl\red0\green0\blue0;}{\f2\fs48\b\cf0 Les r\'E8gles comprennent les \'E9l\'E9ments suivants :\par}}"/>
  <p:tag name="PPWINSEGMENT3START" val="135"/>
  <p:tag name="PPWINSEGMENT3LENGTH" val="9"/>
  <p:tag name="PPWINSEGMENT3SOURCERTF" val="{\rtf1\ansi\deff0{\fonttbl{\f0\fcharset0 Arial Narrow;}}{\colortbl\red0\green0\blue0;}{\f0\fs48\cf0 A filter\par}}"/>
  <p:tag name="PPWINSEGMENT3TARGETRTF" val="{\rtf1\ansi\deff1{\fonttbl{\f1\fcharset0 Arial;}{\f2\fcharset0 Arial Narrow;}}{\colortbl\red0\green0\blue0;}{\f2\fs48\cf0 Un filtre\par}}"/>
  <p:tag name="PPWINSEGMENT4START" val="145"/>
  <p:tag name="PPWINSEGMENT4LENGTH" val="22"/>
  <p:tag name="PPWINSEGMENT4SOURCERTF" val="{\rtf1\ansi\deff0{\fonttbl{\f0\fcharset0 Arial Narrow;}}{\colortbl\red0\green0\blue0;}{\f0\fs48\cf0 A filter action\par}}"/>
  <p:tag name="PPWINSEGMENT4TARGETRTF" val="{\rtf1\ansi\deff1{\fonttbl{\f1\fcharset0 Arial;}{\f2\fcharset0 Arial Narrow;}}{\colortbl\red0\green0\blue0;}{\f2\fs48\cf0 Une action de filtrage\par}}"/>
  <p:tag name="PPWINSEGMENT5START" val="168"/>
  <p:tag name="PPWINSEGMENT5LENGTH" val="30"/>
  <p:tag name="PPWINSEGMENT5SOURCERTF" val="{\rtf1\ansi\deff0{\fonttbl{\f0\fcharset0 Arial Narrow;}}{\colortbl\red0\green0\blue0;}{\f0\fs48\cf0 An authentication method\par}}"/>
  <p:tag name="PPWINSEGMENT5TARGETRTF" val="{\rtf1\ansi\deff1{\fonttbl{\f1\fcharset0 Arial;}{\f2\fcharset0 Arial Narrow;}}{\colortbl\red0\green0\blue0;}{\f2\fs48\cf0 Une m\'E9thode d'authentification\par}}"/>
  <p:tag name="PPWINSEGMENT6START" val="199"/>
  <p:tag name="PPWINSEGMENT6LENGTH" val="46"/>
  <p:tag name="PPWINSEGMENT6SOURCERTF" val="{\rtf1\ansi\deff0{\fonttbl{\f0\fcharset0 Arial Narrow;}}{\colortbl\red0\green0\blue0;}{\f0\fs48\b\cf0 Default polices include:\par}}"/>
  <p:tag name="PPWINSEGMENT6TARGETRTF" val="{\rtf1\ansi\deff1{\fonttbl{\f1\fcharset0 Arial;}{\f2\fcharset0 Arial Narrow;}}{\colortbl\red0\green0\blue0;}{\f2\fs48\b\cf0 Les strat\'E9gies par d\'E9faut sont les suivantes :\par}}"/>
  <p:tag name="PPWINSEGMENT7START" val="246"/>
  <p:tag name="PPWINSEGMENT7LENGTH" val="25"/>
  <p:tag name="PPWINSEGMENT7SOURCERTF" val="{\rtf1\ansi\deff0{\fonttbl{\f0\fcharset0 Arial Narrow;}}{\colortbl\red0\green0\blue0;}{\f0\fs48\cf0 Client (Respond Only)\par}}"/>
  <p:tag name="PPWINSEGMENT7TARGETRTF" val="{\rtf1\ansi\deff1{\fonttbl{\f1\fcharset0 Arial;}{\f2\fcharset0 Arial Narrow;}}{\colortbl\red0\green0\blue0;}{\f2\fs48\cf0 Client (en r\'E9ponse seule)\par}}"/>
  <p:tag name="PPWINSEGMENT8START" val="272"/>
  <p:tag name="PPWINSEGMENT8LENGTH" val="30"/>
  <p:tag name="PPWINSEGMENT8SOURCERTF" val="{\rtf1\ansi\deff0{\fonttbl{\f0\fcharset0 Arial Narrow;}}{\colortbl\red0\green0\blue0;}{\f0\fs48\cf0 Server (Request Security)\par}}"/>
  <p:tag name="PPWINSEGMENT8TARGETRTF" val="{\rtf1\ansi\deff1{\fonttbl{\f1\fcharset0 Arial;}{\f2\fcharset0 Arial Narrow;}}{\colortbl\red0\green0\blue0;}{\f2\fs48\cf0 Serveur (demandez la s\'E9curit\'E9)\par}}"/>
  <p:tag name="PPWINSEGMENT9START" val="303"/>
  <p:tag name="PPWINSEGMENT9LENGTH" val="44"/>
  <p:tag name="PPWINSEGMENT9SOURCERTF" val="{\rtf1\ansi\deff0{\fonttbl{\f0\fcharset0 Arial Narrow;}}{\colortbl\red0\green0\blue0;}{\f0\fs48\cf0 Secure Server (Require Security)\par}}"/>
  <p:tag name="PPWINSEGMENT9TARGETRTF" val="{\rtf1\ansi\deff1{\fonttbl{\f1\fcharset0 Arial;}{\f2\fcharset0 Arial Narrow;}}{\colortbl\red0\green0\blue0;}{\f2\fs48\cf0 S\'E9curiser le serveur (n\'E9cessite la s\'E9curit\'E9)\par}}"/>
  <p:tag name="PPWINLASTSAVEDTRANSLATION" val="La sécurité IPSec utilise des règles et des stratégies pour protéger le trafic réseau.&#10;Les règles comprennent les éléments suivants :&#10;Un filtre&#10;Une action de filtrage&#10;Une méthode d'authentification&#10;Les stratégies par défaut sont les suivantes :&#10;Client (en réponse seule)&#10;Serveur (demandez la sécurité)&#10;Sécuriser le serveur (nécessite la sécurité)"/>
  <p:tag name="PPWINALREADYSEGMENTED" val="True"/>
  <p:tag name="PPWINTOTALSEGMENTS" val="9"/>
</p:tagLst>
</file>

<file path=ppt/tags/tag33.xml><?xml version="1.0" encoding="utf-8"?>
<p:tagLst xmlns:a="http://schemas.openxmlformats.org/drawingml/2006/main" xmlns:r="http://schemas.openxmlformats.org/officeDocument/2006/relationships" xmlns:p="http://schemas.openxmlformats.org/presentationml/2006/main">
  <p:tag name="PPWINTOTALSEGMENTS" val="0"/>
</p:tagLst>
</file>

<file path=ppt/tags/tag34.xml><?xml version="1.0" encoding="utf-8"?>
<p:tagLst xmlns:a="http://schemas.openxmlformats.org/drawingml/2006/main" xmlns:r="http://schemas.openxmlformats.org/officeDocument/2006/relationships" xmlns:p="http://schemas.openxmlformats.org/presentationml/2006/main">
  <p:tag name="PPWINSEGMENT1START" val="1"/>
  <p:tag name="PPWINSEGMENT1LENGTH" val="44"/>
  <p:tag name="PPWINSEGMENT1SOURCERTF" val="{\rtf1\ansi\deff0{\fonttbl{\f0\fcharset0 Arial Narrow;}}{\colortbl\red0\green0\blue0;}{\f0\fs60\b\cf0 How IPSec Policies Work Together\par}}"/>
  <p:tag name="PPWINSEGMENT1TARGETRTF" val="{\rtf1\ansi\deff1{\fonttbl{\f1\fcharset0 Arial;}{\f2\fcharset0 Arial Narrow;}}{\colortbl\red0\green0\blue0;}{\f2\fs60\b\cf0 Fonctionnement conjoint des strat\'E9gies IPSec\par}}"/>
  <p:tag name="PPWINLASTSAVEDTRANSLATION" val="Fonctionnement conjoint des stratégies IPSec"/>
  <p:tag name="PPWINALREADYSEGMENTED" val="True"/>
  <p:tag name="PPWINTOTALSEGMENTS" val="1"/>
</p:tagLst>
</file>

<file path=ppt/tags/tag35.xml><?xml version="1.0" encoding="utf-8"?>
<p:tagLst xmlns:a="http://schemas.openxmlformats.org/drawingml/2006/main" xmlns:r="http://schemas.openxmlformats.org/officeDocument/2006/relationships" xmlns:p="http://schemas.openxmlformats.org/presentationml/2006/main">
  <p:tag name="PPWINTOTALSEGMENTS" val="0"/>
</p:tagLst>
</file>

<file path=ppt/tags/tag36.xml><?xml version="1.0" encoding="utf-8"?>
<p:tagLst xmlns:a="http://schemas.openxmlformats.org/drawingml/2006/main" xmlns:r="http://schemas.openxmlformats.org/officeDocument/2006/relationships" xmlns:p="http://schemas.openxmlformats.org/presentationml/2006/main">
  <p:tag name="PPWINSEGMENT1START" val="1"/>
  <p:tag name="PPWINSEGMENT1LENGTH" val="60"/>
  <p:tag name="PPWINSEGMENT1SOURCERTF" val="{\rtf1\ansi\deff0{\fonttbl{\f0\fcharset0 Arial Narrow;}}{\colortbl\red0\green0\blue0;}{\f0\fs52\b\cf0 Guidelines for Balancing Security and Performance\par}}"/>
  <p:tag name="PPWINSEGMENT1TARGETRTF" val="{\rtf1\ansi\deff1{\fonttbl{\f1\fcharset0 Arial;}{\f2\fcharset0 Arial Narrow;}}{\colortbl\red0\green0\blue0;}{\f2\fs52\b\cf0 Instructions pour \'E9quilibrer la s\'E9curit\'E9 et les performances\par}}"/>
  <p:tag name="PPWINLASTSAVEDTRANSLATION" val="Instructions pour équilibrer la sécurité et les performances"/>
  <p:tag name="PPWINALREADYSEGMENTED" val="True"/>
  <p:tag name="PPWINTOTALSEGMENTS" val="1"/>
</p:tagLst>
</file>

<file path=ppt/tags/tag37.xml><?xml version="1.0" encoding="utf-8"?>
<p:tagLst xmlns:a="http://schemas.openxmlformats.org/drawingml/2006/main" xmlns:r="http://schemas.openxmlformats.org/officeDocument/2006/relationships" xmlns:p="http://schemas.openxmlformats.org/presentationml/2006/main">
  <p:tag name="PPWINSEGMENT1START" val="1"/>
  <p:tag name="PPWINSEGMENT1LENGTH" val="63"/>
  <p:tag name="PPWINSEGMENT1SOURCERTF" val="{\rtf1\ansi\deff0{\fonttbl{\f0\fcharset0 Arial Narrow;}}{\colortbl\red0\green0\blue0;}{\f0\fs44\b\cf0 Assessing the risk and determining the appropriate level of security \par}}"/>
  <p:tag name="PPWINSEGMENT1TARGETRTF" val="{\rtf1\ansi\deff1{\fonttbl{\f1\fcharset0 Arial;}{\f2\fcharset0 Arial Narrow;}}{\colortbl\red0\green0\blue0;}{\f2\fs44\b\cf0 \'C9valuer le risque et d\'E9terminer le niveau de s\'E9curit\'E9 appropri\'E9\par}}"/>
  <p:tag name="PPWINSEGMENT2START" val="65"/>
  <p:tag name="PPWINSEGMENT2LENGTH" val="39"/>
  <p:tag name="PPWINSEGMENT2SOURCERTF" val="{\rtf1\ansi\deff0{\fonttbl{\f0\fcharset0 Arial Narrow;}}{\colortbl\red0\green0\blue0;}{\f0\fs44\b\cf0 Identifying valuable information \par}}"/>
  <p:tag name="PPWINSEGMENT2TARGETRTF" val="{\rtf1\ansi\deff1{\fonttbl{\f1\fcharset0 Arial;}{\f2\fcharset0 Arial Narrow;}}{\colortbl\red0\green0\blue0;}{\f2\fs44\b\cf0 Identifier les informations importantes\par}}"/>
  <p:tag name="PPWINSEGMENT3START" val="105"/>
  <p:tag name="PPWINSEGMENT3LENGTH" val="51"/>
  <p:tag name="PPWINSEGMENT3SOURCERTF" val="{\rtf1\ansi\deff0{\fonttbl{\f0\fcharset0 Arial Narrow;}}{\colortbl\red0\green0\blue0;}{\f0\fs44\b\cf0 Determining how the policies can best be implemented \par}}"/>
  <p:tag name="PPWINSEGMENT3TARGETRTF" val="{\rtf1\ansi\deff1{\fonttbl{\f1\fcharset0 Arial;}{\f2\fcharset0 Arial Narrow;}}{\colortbl\red0\green0\blue0;}{\f2\fs44\b\cf0 D\'E9terminer l'impl\'E9mentation optimale des strat\'E9gies\par}}"/>
  <p:tag name="PPWINSEGMENT4START" val="157"/>
  <p:tag name="PPWINSEGMENT4LENGTH" val="83"/>
  <p:tag name="PPWINSEGMENT4SOURCERTF" val="{\rtf1\ansi\deff0{\fonttbl{\f0\fcharset0 Arial Narrow;}}{\colortbl\red0\green0\blue0;}{\f0\fs44\b\cf0 Ensuring that management and technology requirements are in place\par}}"/>
  <p:tag name="PPWINSEGMENT4TARGETRTF" val="{\rtf1\ansi\deff1{\fonttbl{\f1\fcharset0 Arial;}{\f2\fcharset0 Arial Narrow;}}{\colortbl\red0\green0\blue0;}{\f2\fs44\b\cf0 V\'E9rifier que les exigences en termes de gestion et de technologies sont satisfaites\par}}"/>
  <p:tag name="PPWINSEGMENT5START" val="241"/>
  <p:tag name="PPWINSEGMENT5LENGTH" val="64"/>
  <p:tag name="PPWINSEGMENT5SOURCERTF" val="{\rtf1\ansi\deff0{\fonttbl{\f0\fcharset0 Arial Narrow;}}{\colortbl\red0\green0\blue0;}{\f0\fs44\b\cf0 Providing all users with both secure and efficient access\par}}"/>
  <p:tag name="PPWINSEGMENT5TARGETRTF" val="{\rtf1\ansi\deff1{\fonttbl{\f1\fcharset0 Arial;}{\f2\fcharset0 Arial Narrow;}}{\colortbl\red0\green0\blue0;}{\f2\fs44\b\cf0 Fournir aux utilisateurs un acc\'E8s \'E0 la fois s\'E9curis\'E9 et efficace\par}}"/>
  <p:tag name="PPWINLASTSAVEDTRANSLATION" val="Évaluer le risque et déterminer le niveau de sécurité approprié&#10;Identifier les informations importantes&#10;Déterminer l'implémentation optimale des stratégies&#10;Vérifier que les exigences en termes de gestion et de technologies sont satisfaites&#10;Fournir aux utilisateurs un accès à la fois sécurisé et efficace"/>
  <p:tag name="PPWINALREADYSEGMENTED" val="True"/>
  <p:tag name="PPWINTOTALSEGMENTS" val="5"/>
</p:tagLst>
</file>

<file path=ppt/tags/tag38.xml><?xml version="1.0" encoding="utf-8"?>
<p:tagLst xmlns:a="http://schemas.openxmlformats.org/drawingml/2006/main" xmlns:r="http://schemas.openxmlformats.org/officeDocument/2006/relationships" xmlns:p="http://schemas.openxmlformats.org/presentationml/2006/main">
  <p:tag name="PPWINTOTALSEGMENTS" val="0"/>
</p:tagLst>
</file>

<file path=ppt/tags/tag39.xml><?xml version="1.0" encoding="utf-8"?>
<p:tagLst xmlns:a="http://schemas.openxmlformats.org/drawingml/2006/main" xmlns:r="http://schemas.openxmlformats.org/officeDocument/2006/relationships" xmlns:p="http://schemas.openxmlformats.org/presentationml/2006/main">
  <p:tag name="PPWINSEGMENT1START" val="1"/>
  <p:tag name="PPWINSEGMENT1LENGTH" val="84"/>
  <p:tag name="PPWINSEGMENT1SOURCERTF" val="{\rtf1\ansi\deff0{\fonttbl{\f0\fcharset0 Arial Narrow;}}{\colortbl\red0\green0\blue0;}{\f0\fs52\b\cf0 How to Assign or Unassign an IPSec Policy on a Computer\par}}"/>
  <p:tag name="PPWINSEGMENT1TARGETRTF" val="{\rtf1\ansi\deff1{\fonttbl{\f1\fcharset0 Arial;}{\f2\fcharset0 Arial Narrow;}}{\colortbl\red0\green0\blue0;}{\f2\fs52\b\cf0 Comment attribuer ou supprimer l'attribution d'une strat\'E9gie IPSec sur un ordinateur\par}}"/>
  <p:tag name="PPWINLASTSAVEDTRANSLATION" val="Comment attribuer ou supprimer l'attribution d'une stratégie IPSec sur un ordinateur"/>
  <p:tag name="PPWINALREADYSEGMENTED" val="True"/>
  <p:tag name="PPWINTOTALSEGMENTS" val="1"/>
</p:tagLst>
</file>

<file path=ppt/tags/tag40.xml><?xml version="1.0" encoding="utf-8"?>
<p:tagLst xmlns:a="http://schemas.openxmlformats.org/drawingml/2006/main" xmlns:r="http://schemas.openxmlformats.org/officeDocument/2006/relationships" xmlns:p="http://schemas.openxmlformats.org/presentationml/2006/main">
  <p:tag name="PPWINSEGMENT1START" val="1"/>
  <p:tag name="PPWINSEGMENT1LENGTH" val="160"/>
  <p:tag name="PPWINSEGMENT1SOURCERTF" val="{\rtf1\ansi\deff0{\fonttbl{\f0\fcharset0 Arial Narrow;}}{\colortbl\red0\green0\blue0;}{\f0\fs44\b\cf0 Add an IP Security Management Console and then assign or unassign an IPSec policy for a local computer policy\par}}"/>
  <p:tag name="PPWINSEGMENT1TARGETRTF" val="{\rtf1\ansi\deff1{\fonttbl{\f1\fcharset0 Arial;}{\f2\fcharset0 Arial Narrow;}}{\colortbl\red0\green0\blue0;}{\f2\fs44\b\cf0 Ajouter une console Gestion des strat\'E9gies de s\'E9curit\'E9 IP, puis attribuer ou supprimer l'attribution d'une strat\'E9gie IPSec pour une strat\'E9gie d'ordinateur local\par}}"/>
  <p:tag name="PPWINSEGMENT2START" val="162"/>
  <p:tag name="PPWINSEGMENT2LENGTH" val="114"/>
  <p:tag name="PPWINSEGMENT2SOURCERTF" val="{\rtf1\ansi\deff0{\fonttbl{\f0\fcharset0 Arial Narrow;}}{\colortbl\red0\green0\blue0;}{\f0\fs44\b\cf0 Assign or unassign an IPSec policy for an Active Directory-based Group Policy\par}}"/>
  <p:tag name="PPWINSEGMENT2TARGETRTF" val="{\rtf1\ansi\deff1{\fonttbl{\f1\fcharset0 Arial;}{\f2\fcharset0 Arial Narrow;}}{\colortbl\red0\green0\blue0;}{\f2\fs44\b\cf0 Attribuer ou supprimer l'attribution d'une strat\'E9gie IPSec pour une strat\'E9gie de groupe bas\'E9e sur Active Directory\par}}"/>
  <p:tag name="PPWINLASTSAVEDTRANSLATION" val="Ajouter une console Gestion des stratégies de sécurité IP, puis attribuer ou supprimer l'attribution d'une stratégie IPSec pour une stratégie d'ordinateur local&#10;Attribuer ou supprimer l'attribution d'une stratégie IPSec pour une stratégie de groupe basée sur Active Directory"/>
  <p:tag name="PPWINALREADYSEGMENTED" val="True"/>
  <p:tag name="PPWINTOTALSEGMENTS" val="2"/>
</p:tagLst>
</file>

<file path=ppt/tags/tag41.xml><?xml version="1.0" encoding="utf-8"?>
<p:tagLst xmlns:a="http://schemas.openxmlformats.org/drawingml/2006/main" xmlns:r="http://schemas.openxmlformats.org/officeDocument/2006/relationships" xmlns:p="http://schemas.openxmlformats.org/presentationml/2006/main">
  <p:tag name="PPWINTOTALSEGMENTS" val="0"/>
</p:tagLst>
</file>

<file path=ppt/tags/tag42.xml><?xml version="1.0" encoding="utf-8"?>
<p:tagLst xmlns:a="http://schemas.openxmlformats.org/drawingml/2006/main" xmlns:r="http://schemas.openxmlformats.org/officeDocument/2006/relationships" xmlns:p="http://schemas.openxmlformats.org/presentationml/2006/main">
  <p:tag name="PPWINSEGMENT1START" val="1"/>
  <p:tag name="PPWINSEGMENT1LENGTH" val="7"/>
  <p:tag name="PPWINSEGMENT1SOURCERTF" val="{\rtf1\ansi\deff0{\fonttbl{\f0\fcharset0 Arial Narrow;}}{\colortbl\red0\green0\blue0;}{\f0\fs60\b\cf0 Lesson:\par}}"/>
  <p:tag name="PPWINSEGMENT1TARGETRTF" val="{\rtf1\ansi\deff1{\fonttbl{\f1\fcharset0 Arial;}{\f2\fcharset0 Arial Narrow;}}{\colortbl\red0\green0\blue0;}{\f2\fs60\b\cf0 Le\'E7on :\par}}"/>
  <p:tag name="PPWINSEGMENT2START" val="9"/>
  <p:tag name="PPWINSEGMENT2LENGTH" val="56"/>
  <p:tag name="PPWINSEGMENT2SOURCERTF" val="{\rtf1\ansi\deff0{\fonttbl{\f0\fcharset0 Arial Narrow;}}{\colortbl\red0\green0\blue0;}{\f0\fs60\b\cf0 Implementing IPSec with Certificates\par}}"/>
  <p:tag name="PPWINSEGMENT2TARGETRTF" val="{\rtf1\ansi\deff1{\fonttbl{\f1\fcharset0 Arial;}{\f2\fcharset0 Arial Narrow;}}{\colortbl\red0\green0\blue0;}{\f2\fs60\b\cf0 Impl\'E9mentation de la s\'E9curit\'E9 IPSec avec des certificats\par}}"/>
  <p:tag name="PPWINLASTSAVEDTRANSLATION" val="Leçon : Implémentation de la sécurité IPSec avec des certificats"/>
  <p:tag name="PPWINALREADYSEGMENTED" val="True"/>
  <p:tag name="PPWINTOTALSEGMENTS" val="2"/>
</p:tagLst>
</file>

<file path=ppt/tags/tag43.xml><?xml version="1.0" encoding="utf-8"?>
<p:tagLst xmlns:a="http://schemas.openxmlformats.org/drawingml/2006/main" xmlns:r="http://schemas.openxmlformats.org/officeDocument/2006/relationships" xmlns:p="http://schemas.openxmlformats.org/presentationml/2006/main">
  <p:tag name="PPWINSEGMENT1START" val="1"/>
  <p:tag name="PPWINSEGMENT1LENGTH" val="28"/>
  <p:tag name="PPWINSEGMENT1SOURCERTF" val="{\rtf1\ansi\deff0{\fonttbl{\f0\fcharset0 Arial Narrow;}}{\colortbl\red0\green0\blue0;}{\f0\fs48\b\cf0 What Is a Certificate?\par}}"/>
  <p:tag name="PPWINSEGMENT1TARGETRTF" val="{\rtf1\ansi\deff1{\fonttbl{\f1\fcharset0 Arial;}{\f2\fcharset0 Arial Narrow;}}{\colortbl\red0\green0\blue0;}{\f2\fs48\b\cf0 Qu'est-ce qu'un certificat ?\par}}"/>
  <p:tag name="PPWINSEGMENT2START" val="30"/>
  <p:tag name="PPWINSEGMENT2LENGTH" val="38"/>
  <p:tag name="PPWINSEGMENT2SOURCERTF" val="{\rtf1\ansi\deff0{\fonttbl{\f0\fcharset0 Arial Narrow;}}{\colortbl\red0\green0\blue0;}{\f0\fs48\b\cf0 Common Uses of Certificates\par}}"/>
  <p:tag name="PPWINSEGMENT2TARGETRTF" val="{\rtf1\ansi\deff1{\fonttbl{\f1\fcharset0 Arial;}{\f2\fcharset0 Arial Narrow;}}{\colortbl\red0\green0\blue0;}{\f2\fs48\b\cf0 Utilisations courantes des certificats\par}}"/>
  <p:tag name="PPWINSEGMENT3START" val="69"/>
  <p:tag name="PPWINSEGMENT3LENGTH" val="89"/>
  <p:tag name="PPWINSEGMENT3SOURCERTF" val="{\rtf1\ansi\deff0{\fonttbl{\f0\fcharset0 Arial Narrow;}}{\colortbl\red0\green0\blue0;}{\f0\fs48\b\cf0 Why Use Certificates with IPSec to Secure Network Traffic?\par}}"/>
  <p:tag name="PPWINSEGMENT3TARGETRTF" val="{\rtf1\ansi\deff1{\fonttbl{\f1\fcharset0 Arial;}{\f2\fcharset0 Arial Narrow;}}{\colortbl\red0\green0\blue0;}{\f2\fs48\b\cf0 Pourquoi utiliser des certificats avec la s\'E9curit\'E9 IPSec pour prot\'E9ger le trafic r\'E9seau ?\par}}"/>
  <p:tag name="PPWINSEGMENT4START" val="159"/>
  <p:tag name="PPWINSEGMENT4LENGTH" val="25"/>
  <p:tag name="PPWINSEGMENT4SOURCERTF" val="{\rtf1\ansi\deff0{\fonttbl{\f0\fcharset0 Arial Narrow;}}{\colortbl\red0\green0\blue0;}{\f0\fs48\b\cf0 Multimedia:\par}}"/>
  <p:tag name="PPWINSEGMENT4TARGETRTF" val="{\rtf1\ansi\deff1{\fonttbl{\f1\fcharset0 Arial;}{\f2\fcharset0 Arial Narrow;}}{\colortbl\red0\green0\blue0;}{\f2\fs48\b\cf0 Pr\'E9sentation multim\'E9dia :\par}}"/>
  <p:tag name="PPWINSEGMENT5START" val="185"/>
  <p:tag name="PPWINSEGMENT5LENGTH" val="26"/>
  <p:tag name="PPWINSEGMENT5SOURCERTF" val="{\rtf1\ansi\deff0{\fonttbl{\f0\fcharset0 Arial Narrow;}}{\colortbl\red0\green0\blue0;}{\f0\fs48\b\cf0 Certificate Enrollment\par}}"/>
  <p:tag name="PPWINSEGMENT5TARGETRTF" val="{\rtf1\ansi\deff1{\fonttbl{\f1\fcharset0 Arial;}{\f2\fcharset0 Arial Narrow;}}{\colortbl\red0\green0\blue0;}{\f2\fs48\b\cf0 Inscription de certificats\par}}"/>
  <p:tag name="PPWINSEGMENT6START" val="212"/>
  <p:tag name="PPWINSEGMENT6LENGTH" val="64"/>
  <p:tag name="PPWINSEGMENT6SOURCERTF" val="{\rtf1\ansi\deff0{\fonttbl{\f0\fcharset0 Arial Narrow;}}{\colortbl\red0\green0\blue0;}{\f0\fs48\b\cf0 How to Configure IPSec to Use a Certificate\par}}"/>
  <p:tag name="PPWINSEGMENT6TARGETRTF" val="{\rtf1\ansi\deff1{\fonttbl{\f1\fcharset0 Arial;}{\f2\fcharset0 Arial Narrow;}}{\colortbl\red0\green0\blue0;}{\f2\fs48\b\cf0 Comment configurer la s\'E9curit\'E9 IPSec pour utiliser un certificat\par}}"/>
  <p:tag name="PPWINLASTSAVEDTRANSLATION" val="Qu'est-ce qu'un certificat ?&#10;Utilisations courantes des certificats&#10;Pourquoi utiliser des certificats avec la sécurité IPSec pour protéger le trafic réseau ?&#10;Présentation multimédia : Inscription de certificats&#10;Comment configurer la sécurité IPSec pour utiliser un certificat&#10;"/>
  <p:tag name="PPWINALREADYSEGMENTED" val="True"/>
  <p:tag name="PPWINTOTALSEGMENTS" val="6"/>
</p:tagLst>
</file>

<file path=ppt/tags/tag44.xml><?xml version="1.0" encoding="utf-8"?>
<p:tagLst xmlns:a="http://schemas.openxmlformats.org/drawingml/2006/main" xmlns:r="http://schemas.openxmlformats.org/officeDocument/2006/relationships" xmlns:p="http://schemas.openxmlformats.org/presentationml/2006/main">
  <p:tag name="PPWINTOTALSEGMENTS" val="0"/>
</p:tagLst>
</file>

<file path=ppt/tags/tag45.xml><?xml version="1.0" encoding="utf-8"?>
<p:tagLst xmlns:a="http://schemas.openxmlformats.org/drawingml/2006/main" xmlns:r="http://schemas.openxmlformats.org/officeDocument/2006/relationships" xmlns:p="http://schemas.openxmlformats.org/presentationml/2006/main">
  <p:tag name="PPWINSEGMENT1START" val="1"/>
  <p:tag name="PPWINSEGMENT1LENGTH" val="28"/>
  <p:tag name="PPWINSEGMENT1SOURCERTF" val="{\rtf1\ansi\deff0{\fonttbl{\f0\fcharset0 Arial Narrow;}}{\colortbl\red0\green0\blue0;}{\f0\fs60\b\cf0 What Is a Certificate?\par}}"/>
  <p:tag name="PPWINSEGMENT1TARGETRTF" val="{\rtf1\ansi\deff1{\fonttbl{\f1\fcharset0 Arial;}{\f2\fcharset0 Arial Narrow;}}{\colortbl\red0\green0\blue0;}{\f2\fs60\b\cf0 Qu'est-ce qu'un certificat ?\par}}"/>
  <p:tag name="PPWINLASTSAVEDTRANSLATION" val="Qu'est-ce qu'un certificat ?"/>
  <p:tag name="PPWINALREADYSEGMENTED" val="True"/>
  <p:tag name="PPWINTOTALSEGMENTS" val="1"/>
</p:tagLst>
</file>

<file path=ppt/tags/tag46.xml><?xml version="1.0" encoding="utf-8"?>
<p:tagLst xmlns:a="http://schemas.openxmlformats.org/drawingml/2006/main" xmlns:r="http://schemas.openxmlformats.org/officeDocument/2006/relationships" xmlns:p="http://schemas.openxmlformats.org/presentationml/2006/main">
  <p:tag name="PPWINSEGMENT1START" val="1"/>
  <p:tag name="PPWINSEGMENT1LENGTH" val="144"/>
  <p:tag name="PPWINSEGMENT1SOURCERTF" val="{\rtf1\ansi\deff0{\fonttbl{\f0\fcharset0 Arial Narrow;}}{\colortbl\red0\green0\blue0;}{\f0\fs48\b\i\cf0 Certificates}{\f0\fs48\b\cf0  are an electronic credential that authenticates a user on the Internet and intranets\par}}"/>
  <p:tag name="PPWINSEGMENT1TARGETRTF" val="{\rtf1\ansi\deff1{\fonttbl{\f1\fcharset0 Arial;}{\f2\fcharset0 Arial Narrow;}}{\colortbl\red0\green0\blue0;}{\f2\fs48\b\cf0 Les }{\f2\fs48\b\i\cf0 certificats}{\f2\fs48\b\cf0  sont des informations d'identification \'E9lectroniques qui permettent d'authentifier un utilisateur sur Internet et des intranets.\par}}"/>
  <p:tag name="PPWINLASTSAVEDTRANSLATION" val="Les certificats sont des informations d'identification électroniques qui permettent d'authentifier un utilisateur sur Internet et des intranets."/>
  <p:tag name="PPWINALREADYSEGMENTED" val="True"/>
  <p:tag name="PPWINTOTALSEGMENTS" val="1"/>
</p:tagLst>
</file>

<file path=ppt/tags/tag47.xml><?xml version="1.0" encoding="utf-8"?>
<p:tagLst xmlns:a="http://schemas.openxmlformats.org/drawingml/2006/main" xmlns:r="http://schemas.openxmlformats.org/officeDocument/2006/relationships" xmlns:p="http://schemas.openxmlformats.org/presentationml/2006/main">
  <p:tag name="PPWINSEGMENT1START" val="1"/>
  <p:tag name="PPWINSEGMENT1LENGTH" val="108"/>
  <p:tag name="PPWINSEGMENT1SOURCERTF" val="{\rtf1\ansi\deff0{\fonttbl{\f0\fcharset0 Arial Narrow;}}{\colortbl\red0\green0\blue0;}{\f0\fs44\b\cf0 Securely bind a public key to the \line}{\f0\fs44\b\cf0 entity that holds the corresponding private key\par}}"/>
  <p:tag name="PPWINSEGMENT1TARGETRTF" val="{\rtf1\ansi\deff1{\fonttbl{\f1\fcharset0 Arial;}{\f2\fcharset0 Arial Narrow;}}{\colortbl\red0\green0\blue0;}{\f2\fs44\b\cf0 Permettent de lier de mani\'E8re s\'E9curis\'E9e une cl\'E9 publique \'E0 l'entit\'E9 qui d\'E9tient la cl\'E9 priv\'E9e correspondante\par}}"/>
  <p:tag name="PPWINSEGMENT2START" val="110"/>
  <p:tag name="PPWINSEGMENT2LENGTH" val="67"/>
  <p:tag name="PPWINSEGMENT2SOURCERTF" val="{\rtf1\ansi\deff0{\fonttbl{\f0\fcharset0 Arial Narrow;}}{\colortbl\red0\green0\blue0;}{\f0\fs44\b\cf0 Are digitally signed by the issuing certificate authority (CA)\par}}"/>
  <p:tag name="PPWINSEGMENT2TARGETRTF" val="{\rtf1\ansi\deff1{\fonttbl{\f1\fcharset0 Arial;}{\f2\fcharset0 Arial Narrow;}}{\colortbl\red0\green0\blue0;}{\f2\fs44\b\cf0 Sont sign\'E9s num\'E9riquement par l'Autorit\'E9 de certification \'E9mettrice\par}}"/>
  <p:tag name="PPWINSEGMENT3START" val="178"/>
  <p:tag name="PPWINSEGMENT3LENGTH" val="97"/>
  <p:tag name="PPWINSEGMENT3SOURCERTF" val="{\rtf1\ansi\deff0{\fonttbl{\f0\fcharset0 Arial Narrow;}}{\colortbl\red0\green0\blue0;}{\f0\fs44\b\cf0 Verify the identity of a user, computer, \line}{\f0\fs44\b\cf0 or service that presents the certificate\par}}"/>
  <p:tag name="PPWINSEGMENT3TARGETRTF" val="{\rtf1\ansi\deff1{\fonttbl{\f1\fcharset0 Arial;}{\f2\fcharset0 Arial Narrow;}}{\colortbl\red0\green0\blue0;}{\f2\fs44\b\cf0 V\'E9rifient l'identit\'E9 d'un utilisateur, d'un ordinateur ou d'un service qui pr\'E9sente le certificat\par}}"/>
  <p:tag name="PPWINSEGMENT4START" val="276"/>
  <p:tag name="PPWINSEGMENT4LENGTH" val="50"/>
  <p:tag name="PPWINSEGMENT4SOURCERTF" val="{\rtf1\ansi\deff0{\fonttbl{\f0\fcharset0 Arial Narrow;}}{\colortbl\red0\green0\blue0;}{\f0\fs44\b\cf0 Contain details about the issuer\line}{\f0\fs44\b\cf0 and the subject\par}}"/>
  <p:tag name="PPWINSEGMENT4TARGETRTF" val="{\rtf1\ansi\deff1{\fonttbl{\f1\fcharset0 Arial;}{\f2\fcharset0 Arial Narrow;}}{\colortbl\red0\green0\blue0;}{\f2\fs44\b\cf0 Contiennent des d\'E9tails sur l'\'E9metteur et le sujet\par}}"/>
  <p:tag name="PPWINLASTSAVEDTRANSLATION" val="Permettent de lier de manière sécurisée une clé publique à l'entité qui détient la clé privée correspondante&#10;Sont signés numériquement par l'Autorité de certification émettrice&#10;Vérifient l'identité d'un utilisateur, d'un ordinateur ou d'un service qui présente le certificat&#10;Contiennent des détails sur l'émetteur et le sujet"/>
  <p:tag name="PPWINALREADYSEGMENTED" val="True"/>
  <p:tag name="PPWINTOTALSEGMENTS" val="4"/>
</p:tagLst>
</file>

<file path=ppt/tags/tag48.xml><?xml version="1.0" encoding="utf-8"?>
<p:tagLst xmlns:a="http://schemas.openxmlformats.org/drawingml/2006/main" xmlns:r="http://schemas.openxmlformats.org/officeDocument/2006/relationships" xmlns:p="http://schemas.openxmlformats.org/presentationml/2006/main">
  <p:tag name="PPWINTOTALSEGMENTS" val="0"/>
</p:tagLst>
</file>

<file path=ppt/tags/tag49.xml><?xml version="1.0" encoding="utf-8"?>
<p:tagLst xmlns:a="http://schemas.openxmlformats.org/drawingml/2006/main" xmlns:r="http://schemas.openxmlformats.org/officeDocument/2006/relationships" xmlns:p="http://schemas.openxmlformats.org/presentationml/2006/main">
  <p:tag name="PPWINSEGMENT1START" val="1"/>
  <p:tag name="PPWINSEGMENT1LENGTH" val="38"/>
  <p:tag name="PPWINSEGMENT1SOURCERTF" val="{\rtf1\ansi\deff0{\fonttbl{\f0\fcharset0 Arial Narrow;}}{\colortbl\red0\green0\blue0;}{\f0\fs60\b\cf0 Common Uses of Certificates\par}}"/>
  <p:tag name="PPWINSEGMENT1TARGETRTF" val="{\rtf1\ansi\deff1{\fonttbl{\f1\fcharset0 Arial;}{\f2\fcharset0 Arial Narrow;}}{\colortbl\red0\green0\blue0;}{\f2\fs60\b\cf0 Utilisations courantes des certificats\par}}"/>
  <p:tag name="PPWINLASTSAVEDTRANSLATION" val="Utilisations courantes des certificats"/>
  <p:tag name="PPWINALREADYSEGMENTED" val="True"/>
  <p:tag name="PPWINTOTALSEGMENTS" val="1"/>
</p:tagLst>
</file>

<file path=ppt/tags/tag50.xml><?xml version="1.0" encoding="utf-8"?>
<p:tagLst xmlns:a="http://schemas.openxmlformats.org/drawingml/2006/main" xmlns:r="http://schemas.openxmlformats.org/officeDocument/2006/relationships" xmlns:p="http://schemas.openxmlformats.org/presentationml/2006/main">
  <p:tag name="PPTAGGERGROUP" val="1"/>
</p:tagLst>
</file>

<file path=ppt/tags/tag51.xml><?xml version="1.0" encoding="utf-8"?>
<p:tagLst xmlns:a="http://schemas.openxmlformats.org/drawingml/2006/main" xmlns:r="http://schemas.openxmlformats.org/officeDocument/2006/relationships" xmlns:p="http://schemas.openxmlformats.org/presentationml/2006/main">
  <p:tag name="PPTAGGERGROUP" val="1"/>
</p:tagLst>
</file>

<file path=ppt/tags/tag52.xml><?xml version="1.0" encoding="utf-8"?>
<p:tagLst xmlns:a="http://schemas.openxmlformats.org/drawingml/2006/main" xmlns:r="http://schemas.openxmlformats.org/officeDocument/2006/relationships" xmlns:p="http://schemas.openxmlformats.org/presentationml/2006/main">
  <p:tag name="PPTAGGERGROUP" val="1"/>
</p:tagLst>
</file>

<file path=ppt/tags/tag53.xml><?xml version="1.0" encoding="utf-8"?>
<p:tagLst xmlns:a="http://schemas.openxmlformats.org/drawingml/2006/main" xmlns:r="http://schemas.openxmlformats.org/officeDocument/2006/relationships" xmlns:p="http://schemas.openxmlformats.org/presentationml/2006/main">
  <p:tag name="PPTAGGERGROUP" val="1,2"/>
</p:tagLst>
</file>

<file path=ppt/tags/tag54.xml><?xml version="1.0" encoding="utf-8"?>
<p:tagLst xmlns:a="http://schemas.openxmlformats.org/drawingml/2006/main" xmlns:r="http://schemas.openxmlformats.org/officeDocument/2006/relationships" xmlns:p="http://schemas.openxmlformats.org/presentationml/2006/main">
  <p:tag name="PPTAGGERGROUP" val="1,2"/>
</p:tagLst>
</file>

<file path=ppt/tags/tag55.xml><?xml version="1.0" encoding="utf-8"?>
<p:tagLst xmlns:a="http://schemas.openxmlformats.org/drawingml/2006/main" xmlns:r="http://schemas.openxmlformats.org/officeDocument/2006/relationships" xmlns:p="http://schemas.openxmlformats.org/presentationml/2006/main">
  <p:tag name="PPTAGGERGROUP" val="1"/>
</p:tagLst>
</file>

<file path=ppt/tags/tag56.xml><?xml version="1.0" encoding="utf-8"?>
<p:tagLst xmlns:a="http://schemas.openxmlformats.org/drawingml/2006/main" xmlns:r="http://schemas.openxmlformats.org/officeDocument/2006/relationships" xmlns:p="http://schemas.openxmlformats.org/presentationml/2006/main">
  <p:tag name="PPTAGGERGROUP" val="1"/>
  <p:tag name="PPWINSEGMENT1START" val="1"/>
  <p:tag name="PPWINSEGMENT1LENGTH" val="25"/>
  <p:tag name="PPWINSEGMENT1SOURCERTF" val="{\rtf1\ansi\deff0{\fonttbl{\f0\fcharset0 Arial Narrow;}}{\colortbl\red0\green0\blue0;}{\f0\fs36\b\cf0 Internet Authentication\par}}"/>
  <p:tag name="PPWINSEGMENT1TARGETRTF" val="{\rtf1\ansi\deff1{\fonttbl{\f1\fcharset0 Arial;}{\f2\fcharset0 Arial Narrow;}}{\colortbl\red0\green0\blue0;}{\f2\fs36\b\cf0 Authentification Internet\par}}"/>
  <p:tag name="PPWINLASTSAVEDTRANSLATION" val="Authentification Internet"/>
  <p:tag name="PPWINALREADYSEGMENTED" val="True"/>
  <p:tag name="PPWINTOTALSEGMENTS" val="1"/>
</p:tagLst>
</file>

<file path=ppt/tags/tag57.xml><?xml version="1.0" encoding="utf-8"?>
<p:tagLst xmlns:a="http://schemas.openxmlformats.org/drawingml/2006/main" xmlns:r="http://schemas.openxmlformats.org/officeDocument/2006/relationships" xmlns:p="http://schemas.openxmlformats.org/presentationml/2006/main">
  <p:tag name="PPTAGGERGROUP" val="1"/>
</p:tagLst>
</file>

<file path=ppt/tags/tag58.xml><?xml version="1.0" encoding="utf-8"?>
<p:tagLst xmlns:a="http://schemas.openxmlformats.org/drawingml/2006/main" xmlns:r="http://schemas.openxmlformats.org/officeDocument/2006/relationships" xmlns:p="http://schemas.openxmlformats.org/presentationml/2006/main">
  <p:tag name="PPTAGGERGROUP" val="1"/>
  <p:tag name="PPWINSEGMENT1START" val="1"/>
  <p:tag name="PPWINSEGMENT1LENGTH" val="23"/>
  <p:tag name="PPWINSEGMENT1SOURCERTF" val="{\rtf1\ansi\deff0{\fonttbl{\f0\fcharset0 Arial Narrow;}}{\colortbl\red0\green0\blue0;}{\f0\fs36\b\cf0 Encrypting File System\par}}"/>
  <p:tag name="PPWINSEGMENT1TARGETRTF" val="{\rtf1\ansi\deff1{\fonttbl{\f1\fcharset0 Arial;}{\f2\fcharset0 Arial Narrow;}}{\colortbl\red0\green0\blue0;}{\f2\fs36\b\cf0 Syst\'E8me de fichiers EFS\par}}"/>
  <p:tag name="PPWINLASTSAVEDTRANSLATION" val="Système de fichiers EFS"/>
  <p:tag name="PPWINALREADYSEGMENTED" val="True"/>
  <p:tag name="PPWINTOTALSEGMENTS" val="1"/>
</p:tagLst>
</file>

<file path=ppt/tags/tag59.xml><?xml version="1.0" encoding="utf-8"?>
<p:tagLst xmlns:a="http://schemas.openxmlformats.org/drawingml/2006/main" xmlns:r="http://schemas.openxmlformats.org/officeDocument/2006/relationships" xmlns:p="http://schemas.openxmlformats.org/presentationml/2006/main">
  <p:tag name="PPTAGGERGROUP" val="1"/>
  <p:tag name="PPWINSEGMENT1START" val="1"/>
  <p:tag name="PPWINSEGMENT1LENGTH" val="20"/>
  <p:tag name="PPWINSEGMENT1SOURCERTF" val="{\rtf1\ansi\deff0{\fonttbl{\f0\fcharset0 Arial Narrow;}}{\colortbl\red0\green0\blue0;}{\f0\fs36\b\cf0 Secure E-Mail\par}}"/>
  <p:tag name="PPWINSEGMENT1TARGETRTF" val="{\rtf1\ansi\deff1{\fonttbl{\f1\fcharset0 Arial;}{\f2\fcharset0 Arial Narrow;}}{\colortbl\red0\green0\blue0;}{\f2\fs36\b\cf0 Messagerie s\'E9curis\'E9e\par}}"/>
  <p:tag name="PPWINLASTSAVEDTRANSLATION" val="Messagerie sécurisée"/>
  <p:tag name="PPWINALREADYSEGMENTED" val="True"/>
  <p:tag name="PPWINTOTALSEGMENTS" val="1"/>
</p:tagLst>
</file>

<file path=ppt/tags/tag60.xml><?xml version="1.0" encoding="utf-8"?>
<p:tagLst xmlns:a="http://schemas.openxmlformats.org/drawingml/2006/main" xmlns:r="http://schemas.openxmlformats.org/officeDocument/2006/relationships" xmlns:p="http://schemas.openxmlformats.org/presentationml/2006/main">
  <p:tag name="PPTAGGERGROUP" val="1"/>
</p:tagLst>
</file>

<file path=ppt/tags/tag61.xml><?xml version="1.0" encoding="utf-8"?>
<p:tagLst xmlns:a="http://schemas.openxmlformats.org/drawingml/2006/main" xmlns:r="http://schemas.openxmlformats.org/officeDocument/2006/relationships" xmlns:p="http://schemas.openxmlformats.org/presentationml/2006/main">
  <p:tag name="PPTAGGERGROUP" val="1"/>
  <p:tag name="PPWINSEGMENT1START" val="1"/>
  <p:tag name="PPWINSEGMENT1LENGTH" val="26"/>
  <p:tag name="PPWINSEGMENT1SOURCERTF" val="{\rtf1\ansi\deff0{\fonttbl{\f0\fcharset0 Arial Narrow;}}{\colortbl\red0\green0\blue0;}{\f0\fs36\b\cf0 Software\line}{\f0\fs36\b\cf0 Code Signing\par}}"/>
  <p:tag name="PPWINSEGMENT1TARGETRTF" val="{\rtf1\ansi\deff1{\fonttbl{\f1\fcharset0 Arial;}{\f2\fcharset0 Arial Narrow;}}{\colortbl\red0\green0\blue0;}{\f2\fs36\b\cf0 Signature\line}{\f2\fs36\b\cf0 du code logiciel\par}}"/>
  <p:tag name="PPWINLASTSAVEDTRANSLATION" val="Signaturedu code logiciel"/>
  <p:tag name="PPWINALREADYSEGMENTED" val="True"/>
  <p:tag name="PPWINTOTALSEGMENTS" val="1"/>
</p:tagLst>
</file>

<file path=ppt/tags/tag62.xml><?xml version="1.0" encoding="utf-8"?>
<p:tagLst xmlns:a="http://schemas.openxmlformats.org/drawingml/2006/main" xmlns:r="http://schemas.openxmlformats.org/officeDocument/2006/relationships" xmlns:p="http://schemas.openxmlformats.org/presentationml/2006/main">
  <p:tag name="PPTAGGERGROUP" val="1"/>
</p:tagLst>
</file>

<file path=ppt/tags/tag63.xml><?xml version="1.0" encoding="utf-8"?>
<p:tagLst xmlns:a="http://schemas.openxmlformats.org/drawingml/2006/main" xmlns:r="http://schemas.openxmlformats.org/officeDocument/2006/relationships" xmlns:p="http://schemas.openxmlformats.org/presentationml/2006/main">
  <p:tag name="PPTAGGERGROUP" val="1"/>
  <p:tag name="PPWINSEGMENT1START" val="1"/>
  <p:tag name="PPWINSEGMENT1LENGTH" val="37"/>
  <p:tag name="PPWINSEGMENT1SOURCERTF" val="{\rtf1\ansi\deff0{\fonttbl{\f0\fcharset0 Arial Narrow;}}{\colortbl\red0\green0\blue0;}{\f0\fs36\b\cf0 Smart Card Logon\par}}"/>
  <p:tag name="PPWINSEGMENT1TARGETRTF" val="{\rtf1\ansi\deff1{\fonttbl{\f1\fcharset0 Arial;}{\f2\fcharset0 Arial Narrow;}}{\colortbl\red0\green0\blue0;}{\f2\fs36\b\cf0 Ouverture de session par carte \'E0 puce\par}}"/>
  <p:tag name="PPWINLASTSAVEDTRANSLATION" val="Ouverture de session par carte à puce"/>
  <p:tag name="PPWINALREADYSEGMENTED" val="True"/>
  <p:tag name="PPWINTOTALSEGMENTS" val="1"/>
</p:tagLst>
</file>

<file path=ppt/tags/tag64.xml><?xml version="1.0" encoding="utf-8"?>
<p:tagLst xmlns:a="http://schemas.openxmlformats.org/drawingml/2006/main" xmlns:r="http://schemas.openxmlformats.org/officeDocument/2006/relationships" xmlns:p="http://schemas.openxmlformats.org/presentationml/2006/main">
  <p:tag name="PPTAGGERGROUP" val="1"/>
</p:tagLst>
</file>

<file path=ppt/tags/tag65.xml><?xml version="1.0" encoding="utf-8"?>
<p:tagLst xmlns:a="http://schemas.openxmlformats.org/drawingml/2006/main" xmlns:r="http://schemas.openxmlformats.org/officeDocument/2006/relationships" xmlns:p="http://schemas.openxmlformats.org/presentationml/2006/main">
  <p:tag name="PPTAGGERGROUP" val="1"/>
  <p:tag name="PPWINSEGMENT1START" val="1"/>
  <p:tag name="PPWINSEGMENT1LENGTH" val="21"/>
  <p:tag name="PPWINSEGMENT1SOURCERTF" val="{\rtf1\ansi\deff0{\fonttbl{\f0\fcharset0 Arial Narrow;}}{\colortbl\red0\green0\blue0;}{\f0\fs36\b\cf0 Digital Signatures\par}}"/>
  <p:tag name="PPWINSEGMENT1TARGETRTF" val="{\rtf1\ansi\deff1{\fonttbl{\f1\fcharset0 Arial;}{\f2\fcharset0 Arial Narrow;}}{\colortbl\red0\green0\blue0;}{\f2\fs36\b\cf0 Signatures num\'E9riques\par}}"/>
  <p:tag name="PPWINLASTSAVEDTRANSLATION" val="Signatures numériques"/>
  <p:tag name="PPWINALREADYSEGMENTED" val="True"/>
  <p:tag name="PPWINTOTALSEGMENTS" val="1"/>
</p:tagLst>
</file>

<file path=ppt/tags/tag66.xml><?xml version="1.0" encoding="utf-8"?>
<p:tagLst xmlns:a="http://schemas.openxmlformats.org/drawingml/2006/main" xmlns:r="http://schemas.openxmlformats.org/officeDocument/2006/relationships" xmlns:p="http://schemas.openxmlformats.org/presentationml/2006/main">
  <p:tag name="PPTAGGERGROUP" val="1"/>
</p:tagLst>
</file>

<file path=ppt/tags/tag67.xml><?xml version="1.0" encoding="utf-8"?>
<p:tagLst xmlns:a="http://schemas.openxmlformats.org/drawingml/2006/main" xmlns:r="http://schemas.openxmlformats.org/officeDocument/2006/relationships" xmlns:p="http://schemas.openxmlformats.org/presentationml/2006/main">
  <p:tag name="PPTAGGERGROUP" val="1"/>
  <p:tag name="PPWINSEGMENT1START" val="1"/>
  <p:tag name="PPWINSEGMENT1LENGTH" val="11"/>
  <p:tag name="PPWINSEGMENT1SOURCERTF" val="{\rtf1\ansi\deff0{\fonttbl{\f0\fcharset0 Arial Narrow;}}{\colortbl\red0\green0\blue0;}{\f0\fs36\b\cf0 IP Security\par}}"/>
  <p:tag name="PPWINSEGMENT1TARGETRTF" val="{\rtf1\ansi\deff1{\fonttbl{\f1\fcharset0 Arial;}{\f2\fcharset0 Arial Narrow;}}{\colortbl\red0\green0\blue0;}{\f2\fs36\b\cf0 S\'E9curit\'E9 IP\par}}"/>
  <p:tag name="PPWINLASTSAVEDTRANSLATION" val="Sécurité IP"/>
  <p:tag name="PPWINALREADYSEGMENTED" val="True"/>
  <p:tag name="PPWINTOTALSEGMENTS" val="1"/>
</p:tagLst>
</file>

<file path=ppt/tags/tag68.xml><?xml version="1.0" encoding="utf-8"?>
<p:tagLst xmlns:a="http://schemas.openxmlformats.org/drawingml/2006/main" xmlns:r="http://schemas.openxmlformats.org/officeDocument/2006/relationships" xmlns:p="http://schemas.openxmlformats.org/presentationml/2006/main">
  <p:tag name="PPTAGGERGROUP" val="1,3"/>
</p:tagLst>
</file>

<file path=ppt/tags/tag69.xml><?xml version="1.0" encoding="utf-8"?>
<p:tagLst xmlns:a="http://schemas.openxmlformats.org/drawingml/2006/main" xmlns:r="http://schemas.openxmlformats.org/officeDocument/2006/relationships" xmlns:p="http://schemas.openxmlformats.org/presentationml/2006/main">
  <p:tag name="PPTAGGERGROUP" val="1,3"/>
</p:tagLst>
</file>

<file path=ppt/tags/tag70.xml><?xml version="1.0" encoding="utf-8"?>
<p:tagLst xmlns:a="http://schemas.openxmlformats.org/drawingml/2006/main" xmlns:r="http://schemas.openxmlformats.org/officeDocument/2006/relationships" xmlns:p="http://schemas.openxmlformats.org/presentationml/2006/main">
  <p:tag name="PPTAGGERGROUP" val="1,4"/>
</p:tagLst>
</file>

<file path=ppt/tags/tag71.xml><?xml version="1.0" encoding="utf-8"?>
<p:tagLst xmlns:a="http://schemas.openxmlformats.org/drawingml/2006/main" xmlns:r="http://schemas.openxmlformats.org/officeDocument/2006/relationships" xmlns:p="http://schemas.openxmlformats.org/presentationml/2006/main">
  <p:tag name="PPTAGGERGROUP" val="1,4"/>
</p:tagLst>
</file>

<file path=ppt/tags/tag72.xml><?xml version="1.0" encoding="utf-8"?>
<p:tagLst xmlns:a="http://schemas.openxmlformats.org/drawingml/2006/main" xmlns:r="http://schemas.openxmlformats.org/officeDocument/2006/relationships" xmlns:p="http://schemas.openxmlformats.org/presentationml/2006/main">
  <p:tag name="PPWINTOTALSEGMENTS" val="0"/>
</p:tagLst>
</file>

<file path=ppt/tags/tag73.xml><?xml version="1.0" encoding="utf-8"?>
<p:tagLst xmlns:a="http://schemas.openxmlformats.org/drawingml/2006/main" xmlns:r="http://schemas.openxmlformats.org/officeDocument/2006/relationships" xmlns:p="http://schemas.openxmlformats.org/presentationml/2006/main">
  <p:tag name="PPWINSEGMENT1START" val="1"/>
  <p:tag name="PPWINSEGMENT1LENGTH" val="89"/>
  <p:tag name="PPWINSEGMENT1SOURCERTF" val="{\rtf1\ansi\deff0{\fonttbl{\f0\fcharset0 Arial Narrow;}}{\colortbl\red0\green0\blue0;}{\f0\fs60\b\cf0 Why Use Certificates with IPSec to Secure Network Traffic?\par}}"/>
  <p:tag name="PPWINLASTSAVEDTRANSLATION" val="Pourquoi utiliser des certificats avec la sécurité IPSec pour protéger le trafic réseau ?"/>
  <p:tag name="PPWINALREADYSEGMENTED" val="True"/>
  <p:tag name="PPWINTOTALSEGMENTS" val="1"/>
  <p:tag name="PPWINSEGMENT1TARGETRTF" val="{\rtf1\ansi\deff0{\fonttbl{\f0\fcharset0 Arial Narrow;}}{\colortbl\red0\green0\blue0;}{\f0\fs60\b\cf0 Pourquoi utiliser des certificats avec la s\'E9curit\'E9 IPSec pour prot\'E9ger le trafic r\'E9seau ?\par}}"/>
</p:tagLst>
</file>

<file path=ppt/tags/tag74.xml><?xml version="1.0" encoding="utf-8"?>
<p:tagLst xmlns:a="http://schemas.openxmlformats.org/drawingml/2006/main" xmlns:r="http://schemas.openxmlformats.org/officeDocument/2006/relationships" xmlns:p="http://schemas.openxmlformats.org/presentationml/2006/main">
  <p:tag name="PPWINDOWLASTEDITMARKER" val="1"/>
  <p:tag name="PPWINSEGMENT1START" val="1"/>
  <p:tag name="PPWINSEGMENT1LENGTH" val="121"/>
  <p:tag name="PPWINSEGMENT1SOURCERTF" val="{\rtf1\ansi\deff0{\fonttbl{\f0\fcharset0 Arial Narrow;}}{\colortbl\red0\green0\blue0;}{\f0\fs44\b\cf0 To allow an enterprise to interoperate with other organizations that trust the same CA}{\f0\fs36\b\cf0  \par}}"/>
  <p:tag name="PPWINSEGMENT1TARGETRTF" val="{\rtf1\ansi\deff1{\fonttbl{\f1\fcharset0 Arial;}{\f2\fcharset0 Arial Narrow;}}{\colortbl\red0\green0\blue0;}{\f2\fs44\b\cf0 Pour permettre \'E0 une entreprise de dialoguer avec d'autres organisations qui approuvent la m\'EAme Autorit\'E9 de certification}{\f2\fs24\b\cf0 \par}}"/>
  <p:tag name="PPWINSEGMENT2START" val="123"/>
  <p:tag name="PPWINSEGMENT2LENGTH" val="128"/>
  <p:tag name="PPWINSEGMENT2SOURCERTF" val="{\rtf1\ansi\deff0{\fonttbl{\f0\fcharset0 Arial Narrow;}}{\colortbl\red0\green0\blue0;}{\f0\fs44\b\cf0 When you need a higher level of security than provided by the Kerberos protocol or preshared keys\par}}"/>
  <p:tag name="PPWINSEGMENT2TARGETRTF" val="{\rtf1\ansi\deff0{\fonttbl{\f0\fcharset0 Arial Narrow;}}{\colortbl\red0\green0\blue0;}{\f0\fs44\b\cf0 Lorsque vous avez besoin d'un niveau de s\'E9curit\'E9 plus \'E9lev\'E9 que celui fourni par le protocole Kerberos ou les cl\'E9s pr\'E9-partag\'E9es\par}}"/>
  <p:tag name="PPWINSEGMENT3START" val="252"/>
  <p:tag name="PPWINSEGMENT3LENGTH" val="127"/>
  <p:tag name="PPWINSEGMENT3SOURCERTF" val="{\rtf1\ansi\deff0{\fonttbl{\f0\fcharset0 Arial Narrow;}}{\colortbl\red0\green0\blue0;}{\f0\fs44\b\cf0 For clients that are not part of an Active Directory structure or do not support the Kerberos protocol\par}}"/>
  <p:tag name="PPWINSEGMENT3TARGETRTF" val="{\rtf1\ansi\deff0{\fonttbl{\f0\fcharset0 Arial Narrow;}}{\colortbl\red0\green0\blue0;}{\f0\fs44\b\cf0 Pour les clients qui ne font pas partie d'une structure Active Directory ou qui ne prennent pas en charge le protocole Kerberos\par}}"/>
  <p:tag name="PPWINLASTSAVEDTRANSLATION" val="Pour permettre à une entreprise de dialoguer avec d'autres organisations qui approuvent la même Autorité de certification&#10;Lorsque vous avez besoin d'un niveau de sécurité plus élevé que celui fourni par le protocole Kerberos ou les clés pré-partagées&#10;Pour les clients qui ne font pas partie d'une structure Active Directory ou qui ne prennent pas en charge le protocole Kerberos"/>
  <p:tag name="PPWINALREADYSEGMENTED" val="True"/>
  <p:tag name="PPWINTOTALSEGMENTS" val="3"/>
</p:tagLst>
</file>

<file path=ppt/tags/tag75.xml><?xml version="1.0" encoding="utf-8"?>
<p:tagLst xmlns:a="http://schemas.openxmlformats.org/drawingml/2006/main" xmlns:r="http://schemas.openxmlformats.org/officeDocument/2006/relationships" xmlns:p="http://schemas.openxmlformats.org/presentationml/2006/main">
  <p:tag name="PPTAGGERGROUP" val="1"/>
</p:tagLst>
</file>

<file path=ppt/tags/tag76.xml><?xml version="1.0" encoding="utf-8"?>
<p:tagLst xmlns:a="http://schemas.openxmlformats.org/drawingml/2006/main" xmlns:r="http://schemas.openxmlformats.org/officeDocument/2006/relationships" xmlns:p="http://schemas.openxmlformats.org/presentationml/2006/main">
  <p:tag name="PPTAGGERGROUP" val="1,1"/>
</p:tagLst>
</file>

<file path=ppt/tags/tag77.xml><?xml version="1.0" encoding="utf-8"?>
<p:tagLst xmlns:a="http://schemas.openxmlformats.org/drawingml/2006/main" xmlns:r="http://schemas.openxmlformats.org/officeDocument/2006/relationships" xmlns:p="http://schemas.openxmlformats.org/presentationml/2006/main">
  <p:tag name="PPTAGGERGROUP" val="1,1"/>
</p:tagLst>
</file>

<file path=ppt/tags/tag78.xml><?xml version="1.0" encoding="utf-8"?>
<p:tagLst xmlns:a="http://schemas.openxmlformats.org/drawingml/2006/main" xmlns:r="http://schemas.openxmlformats.org/officeDocument/2006/relationships" xmlns:p="http://schemas.openxmlformats.org/presentationml/2006/main">
  <p:tag name="PPTAGGERGROUP" val="1"/>
  <p:tag name="PPWINSEGMENT1START" val="1"/>
  <p:tag name="PPWINSEGMENT1LENGTH" val="11"/>
  <p:tag name="PPWINSEGMENT1SOURCERTF" val="{\rtf1\ansi\deff0{\fonttbl{\f0\fcharset0 Arial Narrow;}}{\colortbl\red0\green0\blue0;}{\f0\fs36\b\cf0 IP Security\par}}"/>
  <p:tag name="PPWINLASTSAVEDTRANSLATION" val="Sécurité IP"/>
  <p:tag name="PPWINALREADYSEGMENTED" val="True"/>
  <p:tag name="PPWINTOTALSEGMENTS" val="1"/>
  <p:tag name="PPWINSEGMENT1TARGETRTF" val="{\rtf1\ansi\deff0{\fonttbl{\f0\fcharset0 Arial Narrow;}}{\colortbl\red0\green0\blue0;}{\f0\fs36\b\cf0 S\'E9curit\'E9 IP\par}}"/>
</p:tagLst>
</file>

<file path=ppt/tags/tag79.xml><?xml version="1.0" encoding="utf-8"?>
<p:tagLst xmlns:a="http://schemas.openxmlformats.org/drawingml/2006/main" xmlns:r="http://schemas.openxmlformats.org/officeDocument/2006/relationships" xmlns:p="http://schemas.openxmlformats.org/presentationml/2006/main">
  <p:tag name="PPWINTOTALSEGMENTS" val="0"/>
</p:tagLst>
</file>

<file path=ppt/tags/tag80.xml><?xml version="1.0" encoding="utf-8"?>
<p:tagLst xmlns:a="http://schemas.openxmlformats.org/drawingml/2006/main" xmlns:r="http://schemas.openxmlformats.org/officeDocument/2006/relationships" xmlns:p="http://schemas.openxmlformats.org/presentationml/2006/main">
  <p:tag name="PPWINSEGMENT1START" val="1"/>
  <p:tag name="PPWINSEGMENT1LENGTH" val="7"/>
  <p:tag name="PPWINSEGMENT1SOURCERTF" val="{\rtf1\ansi\deff0{\fonttbl{\f0\fcharset0 Arial Narrow;}}{\colortbl\red0\green0\blue0;}{\f0\fs60\b\cf0 Lesson:\par}}"/>
  <p:tag name="PPWINSEGMENT1TARGETRTF" val="{\rtf1\ansi\deff1{\fonttbl{\f1\fcharset0 Arial;}{\f2\fcharset0 Arial Narrow;}}{\colortbl\red0\green0\blue0;}{\f2\fs60\b\cf0 Le\'E7on :\par}}"/>
  <p:tag name="PPWINSEGMENT2START" val="9"/>
  <p:tag name="PPWINSEGMENT2LENGTH" val="28"/>
  <p:tag name="PPWINSEGMENT2SOURCERTF" val="{\rtf1\ansi\deff0{\fonttbl{\f0\fcharset0 Arial Narrow;}}{\colortbl\red0\green0\blue0;}{\f0\fs60\b\cf0 Monitoring IPSec\par}}"/>
  <p:tag name="PPWINSEGMENT2TARGETRTF" val="{\rtf1\ansi\deff1{\fonttbl{\f1\fcharset0 Arial;}{\f2\fcharset0 Arial Narrow;}}{\colortbl\red0\green0\blue0;}{\f2\fs60\b\cf0 Analyse de la s\'E9curit\'E9 IPSec\par}}"/>
  <p:tag name="PPWINLASTSAVEDTRANSLATION" val="Leçon : Analyse de la sécurité IPSec"/>
  <p:tag name="PPWINALREADYSEGMENTED" val="True"/>
  <p:tag name="PPWINTOTALSEGMENTS" val="2"/>
</p:tagLst>
</file>

<file path=ppt/tags/tag81.xml><?xml version="1.0" encoding="utf-8"?>
<p:tagLst xmlns:a="http://schemas.openxmlformats.org/drawingml/2006/main" xmlns:r="http://schemas.openxmlformats.org/officeDocument/2006/relationships" xmlns:p="http://schemas.openxmlformats.org/presentationml/2006/main">
  <p:tag name="PPWINSEGMENT1START" val="1"/>
  <p:tag name="PPWINSEGMENT1LENGTH" val="23"/>
  <p:tag name="PPWINSEGMENT1SOURCERTF" val="{\rtf1\ansi\deff0{\fonttbl{\f0\fcharset0 Arial Narrow;}}{\colortbl\red0\green0\blue0;}{\f0\fs48\b\cf0 IP Security Monitor \par}}"/>
  <p:tag name="PPWINSEGMENT1TARGETRTF" val="{\rtf1\ansi\deff1{\fonttbl{\f1\fcharset0 Arial;}{\f2\fcharset0 Arial Narrow;}}{\colortbl\red0\green0\blue0;}{\f2\fs48\b\cf0 Moniteur de s\'E9curit\'E9 IP\par}}"/>
  <p:tag name="PPWINSEGMENT2START" val="25"/>
  <p:tag name="PPWINSEGMENT2LENGTH" val="55"/>
  <p:tag name="PPWINSEGMENT2SOURCERTF" val="{\rtf1\ansi\deff0{\fonttbl{\f0\fcharset0 Arial Narrow;}}{\colortbl\red0\green0\blue0;}{\f0\fs48\b\cf0 Guidelines for Monitoring IPSec Policies\par}}"/>
  <p:tag name="PPWINSEGMENT2TARGETRTF" val="{\rtf1\ansi\deff1{\fonttbl{\f1\fcharset0 Arial;}{\f2\fcharset0 Arial Narrow;}}{\colortbl\red0\green0\blue0;}{\f2\fs48\b\cf0 Instructions relatives \'E0 l'analyse des strat\'E9gies IPSec\par}}"/>
  <p:tag name="PPWINSEGMENT3START" val="81"/>
  <p:tag name="PPWINSEGMENT3LENGTH" val="46"/>
  <p:tag name="PPWINSEGMENT3SOURCERTF" val="{\rtf1\ansi\deff0{\fonttbl{\f0\fcharset0 Arial Narrow;}}{\colortbl\red0\green0\blue0;}{\f0\fs48\b\cf0 How to Stop and Start the IPSec Services\par}}"/>
  <p:tag name="PPWINSEGMENT3TARGETRTF" val="{\rtf1\ansi\deff1{\fonttbl{\f1\fcharset0 Arial;}{\f2\fcharset0 Arial Narrow;}}{\colortbl\red0\green0\blue0;}{\f2\fs48\b\cf0 Comment arr\'EAter et d\'E9marrer les services IPSec\par}}"/>
  <p:tag name="PPWINSEGMENT4START" val="128"/>
  <p:tag name="PPWINSEGMENT4LENGTH" val="50"/>
  <p:tag name="PPWINSEGMENT4SOURCERTF" val="{\rtf1\ansi\deff0{\fonttbl{\f0\fcharset0 Arial Narrow;}}{\colortbl\red0\green0\blue0;}{\f0\fs48\b\cf0 How to View IPSec Policy Details\par}}"/>
  <p:tag name="PPWINSEGMENT4TARGETRTF" val="{\rtf1\ansi\deff1{\fonttbl{\f1\fcharset0 Arial;}{\f2\fcharset0 Arial Narrow;}}{\colortbl\red0\green0\blue0;}{\f2\fs48\b\cf0 Comment afficher les d\'E9tails de la strat\'E9gie IPSec\par}}"/>
  <p:tag name="PPWINLASTSAVEDTRANSLATION" val="Moniteur de sécurité IP&#10;Instructions relatives à l'analyse des stratégies IPSec&#10;Comment arrêter et démarrer les services IPSec&#10;Comment afficher les détails de la stratégie IPSec&#10;"/>
  <p:tag name="PPWINALREADYSEGMENTED" val="True"/>
  <p:tag name="PPWINTOTALSEGMENTS" val="4"/>
</p:tagLst>
</file>

<file path=ppt/tags/tag82.xml><?xml version="1.0" encoding="utf-8"?>
<p:tagLst xmlns:a="http://schemas.openxmlformats.org/drawingml/2006/main" xmlns:r="http://schemas.openxmlformats.org/officeDocument/2006/relationships" xmlns:p="http://schemas.openxmlformats.org/presentationml/2006/main">
  <p:tag name="PPWINTOTALSEGMENTS" val="0"/>
</p:tagLst>
</file>

<file path=ppt/tags/tag83.xml><?xml version="1.0" encoding="utf-8"?>
<p:tagLst xmlns:a="http://schemas.openxmlformats.org/drawingml/2006/main" xmlns:r="http://schemas.openxmlformats.org/officeDocument/2006/relationships" xmlns:p="http://schemas.openxmlformats.org/presentationml/2006/main">
  <p:tag name="PPWINSEGMENT1START" val="1"/>
  <p:tag name="PPWINSEGMENT1LENGTH" val="23"/>
  <p:tag name="PPWINSEGMENT1SOURCERTF" val="{\rtf1\ansi\deff0{\fonttbl{\f0\fcharset0 Arial Narrow;}}{\colortbl\red0\green0\blue0;}{\f0\fs60\b\cf0 IP Security Monitor\par}}"/>
  <p:tag name="PPWINSEGMENT1TARGETRTF" val="{\rtf1\ansi\deff1{\fonttbl{\f1\fcharset0 Arial;}{\f2\fcharset0 Arial Narrow;}}{\colortbl\red0\green0\blue0;}{\f2\fs60\b\cf0 Moniteur de s\'E9curit\'E9 IP\par}}"/>
  <p:tag name="PPWINLASTSAVEDTRANSLATION" val="Moniteur de sécurité IP"/>
  <p:tag name="PPWINALREADYSEGMENTED" val="True"/>
  <p:tag name="PPWINTOTALSEGMENTS" val="1"/>
</p:tagLst>
</file>

<file path=ppt/tags/tag84.xml><?xml version="1.0" encoding="utf-8"?>
<p:tagLst xmlns:a="http://schemas.openxmlformats.org/drawingml/2006/main" xmlns:r="http://schemas.openxmlformats.org/officeDocument/2006/relationships" xmlns:p="http://schemas.openxmlformats.org/presentationml/2006/main">
  <p:tag name="PPWINSEGMENT1START" val="1"/>
  <p:tag name="PPWINSEGMENT1LENGTH" val="36"/>
  <p:tag name="PPWINSEGMENT1SOURCERTF" val="{\rtf1\ansi\deff0{\fonttbl{\f0\fcharset0 Arial Narrow;}}{\colortbl\red0\green0\blue0;}{\f0\fs44\b\cf0 Active IPSec policy details\par}}"/>
  <p:tag name="PPWINSEGMENT1TARGETRTF" val="{\rtf1\ansi\deff1{\fonttbl{\f1\fcharset0 Arial;}{\f2\fcharset0 Arial Narrow;}}{\colortbl\red0\green0\blue0;}{\f2\fs44\b\cf0 D\'E9tails d'une strat\'E9gie IPSec active\par}}"/>
  <p:tag name="PPWINSEGMENT2START" val="39"/>
  <p:tag name="PPWINSEGMENT2LENGTH" val="3"/>
  <p:tag name="PPWINSEGMENT2SOURCERTF" val="{\rtf1\ansi\deff0{\fonttbl{\f0\fcharset0 Arial Narrow;}}{\colortbl\red0\green0\blue0;}{\f0\fs44\cf0 Name\par}}"/>
  <p:tag name="PPWINSEGMENT2TARGETRTF" val="{\rtf1\ansi\deff1{\fonttbl{\f1\fcharset0 Arial;}{\f2\fcharset0 Arial Narrow;}}{\colortbl\red0\green0\blue0;}{\f2\fs44\cf0 Nom\par}}"/>
  <p:tag name="PPWINSEGMENT3START" val="44"/>
  <p:tag name="PPWINSEGMENT3LENGTH" val="11"/>
  <p:tag name="PPWINSEGMENT3SOURCERTF" val="{\rtf1\ansi\deff0{\fonttbl{\f0\fcharset0 Arial Narrow;}}{\colortbl\red0\green0\blue0;}{\f0\fs44\cf0 Description\par}}"/>
  <p:tag name="PPWINSEGMENT3TARGETRTF" val="{\rtf1\ansi\deff1{\fonttbl{\f1\fcharset0 Arial;}{\f2\fcharset0 Arial Narrow;}}{\colortbl\red0\green0\blue0;}{\f2\fs44\cf0 Description\par}}"/>
  <p:tag name="PPWINSEGMENT4START" val="57"/>
  <p:tag name="PPWINSEGMENT4LENGTH" val="32"/>
  <p:tag name="PPWINSEGMENT4SOURCERTF" val="{\rtf1\ansi\deff0{\fonttbl{\f0\fcharset0 Arial Narrow;}}{\colortbl\red0\green0\blue0;}{\f0\fs44\cf0 Date last modified\par}}"/>
  <p:tag name="PPWINSEGMENT4TARGETRTF" val="{\rtf1\ansi\deff1{\fonttbl{\f1\fcharset0 Arial;}{\f2\fcharset0 Arial Narrow;}}{\colortbl\red0\green0\blue0;}{\f2\fs44\cf0 Date de la derni\'E8re modification\par}}"/>
  <p:tag name="PPWINSEGMENT5START" val="91"/>
  <p:tag name="PPWINSEGMENT5LENGTH" val="7"/>
  <p:tag name="PPWINSEGMENT5SOURCERTF" val="{\rtf1\ansi\deff0{\fonttbl{\f0\fcharset0 Arial Narrow;}}{\colortbl\red0\green0\blue0;}{\f0\fs44\cf0 Store\par}}"/>
  <p:tag name="PPWINSEGMENT5TARGETRTF" val="{\rtf1\ansi\deff1{\fonttbl{\f1\fcharset0 Arial;}{\f2\fcharset0 Arial Narrow;}}{\colortbl\red0\green0\blue0;}{\f2\fs44\cf0 Magasin\par}}"/>
  <p:tag name="PPWINSEGMENT6START" val="100"/>
  <p:tag name="PPWINSEGMENT6LENGTH" val="14"/>
  <p:tag name="PPWINSEGMENT6SOURCERTF" val="{\rtf1\ansi\deff0{\fonttbl{\f0\fcharset0 Arial Narrow;}}{\colortbl\red0\green0\blue0;}{\f0\fs44\cf0 Path\par}}"/>
  <p:tag name="PPWINSEGMENT6TARGETRTF" val="{\rtf1\ansi\deff1{\fonttbl{\f1\fcharset0 Arial;}{\f2\fcharset0 Arial Narrow;}}{\colortbl\red0\green0\blue0;}{\f2\fs44\cf0 Chemin d'acc\'E8s\par}}"/>
  <p:tag name="PPWINSEGMENT7START" val="115"/>
  <p:tag name="PPWINSEGMENT7LENGTH" val="58"/>
  <p:tag name="PPWINSEGMENT7SOURCERTF" val="{\rtf1\ansi\deff0{\fonttbl{\f0\fcharset0 Arial Narrow;}}{\colortbl\red0\green0\blue0;}{\f0\fs44\cf0 Organizational unit and Group Policy object (GPO) name \par}}"/>
  <p:tag name="PPWINSEGMENT7TARGETRTF" val="{\rtf1\ansi\deff1{\fonttbl{\f1\fcharset0 Arial;}{\f2\fcharset0 Arial Narrow;}}{\colortbl\red0\green0\blue0;}{\f2\fs44\cf0 Unit\'E9 d'organisation et nom de l'objet Strat\'E9gie de groupe\par}}"/>
  <p:tag name="PPWINSEGMENT8START" val="174"/>
  <p:tag name="PPWINSEGMENT8LENGTH" val="30"/>
  <p:tag name="PPWINSEGMENT8SOURCERTF" val="{\rtf1\ansi\deff0{\fonttbl{\f0\fcharset0 Arial Narrow;}}{\colortbl\red0\green0\blue0;}{\f0\fs44\b\cf0 Main mode statistics\par}}"/>
  <p:tag name="PPWINSEGMENT8TARGETRTF" val="{\rtf1\ansi\deff1{\fonttbl{\f1\fcharset0 Arial;}{\f2\fcharset0 Arial Narrow;}}{\colortbl\red0\green0\blue0;}{\f2\fs44\b\cf0 Statistiques du mode principal\par}}"/>
  <p:tag name="PPWINSEGMENT9START" val="206"/>
  <p:tag name="PPWINSEGMENT9LENGTH" val="26"/>
  <p:tag name="PPWINSEGMENT9SOURCERTF" val="{\rtf1\ansi\deff0{\fonttbl{\f0\fcharset0 Arial Narrow;}}{\colortbl\red0\green0\blue0;}{\f0\fs44\cf0 Information from the Internet Key Exchange \par}}"/>
  <p:tag name="PPWINSEGMENT9TARGETRTF" val="{\rtf1\ansi\deff1{\fonttbl{\f1\fcharset0 Arial;}{\f2\fcharset0 Arial Narrow;}}{\colortbl\red0\green0\blue0;}{\f2\fs44\cf0 Informations du module IKE\par}}"/>
  <p:tag name="PPWINSEGMENT10START" val="233"/>
  <p:tag name="PPWINSEGMENT10LENGTH" val="27"/>
  <p:tag name="PPWINSEGMENT10SOURCERTF" val="{\rtf1\ansi\deff0{\fonttbl{\f0\fcharset0 Arial Narrow;}}{\colortbl\red0\green0\blue0;}{\f0\fs44\b\cf0 Quick mode statistics \par}}"/>
  <p:tag name="PPWINSEGMENT10TARGETRTF" val="{\rtf1\ansi\deff1{\fonttbl{\f1\fcharset0 Arial;}{\f2\fcharset0 Arial Narrow;}}{\colortbl\red0\green0\blue0;}{\f2\fs44\b\cf0 Statistiques du mode rapide\par}}"/>
  <p:tag name="PPWINSEGMENT11START" val="261"/>
  <p:tag name="PPWINSEGMENT11LENGTH" val="32"/>
  <p:tag name="PPWINSEGMENT11SOURCERTF" val="{\rtf1\ansi\deff0{\fonttbl{\f0\fcharset0 Arial Narrow;}}{\colortbl\red0\green0\blue0;}{\f0\fs44\cf0 Information about the IPSec driver\par}}"/>
  <p:tag name="PPWINSEGMENT11TARGETRTF" val="{\rtf1\ansi\deff1{\fonttbl{\f1\fcharset0 Arial;}{\f2\fcharset0 Arial Narrow;}}{\colortbl\red0\green0\blue0;}{\f2\fs44\cf0 Informations sur le pilote IPSec\par}}"/>
  <p:tag name="PPWINLASTSAVEDTRANSLATION" val="Détails d'une stratégie IPSec active&#10; Nom&#10; Description&#10; Date de la dernière modification&#10; Magasin&#10; Chemin d'accès&#10;Unité d'organisation et nom de l'objet Stratégie de groupe&#10;Statistiques du mode principal&#10; Informations du module IKE&#10;Statistiques du mode rapide&#10;Informations sur le pilote IPSec"/>
  <p:tag name="PPWINALREADYSEGMENTED" val="True"/>
  <p:tag name="PPWINTOTALSEGMENTS" val="11"/>
</p:tagLst>
</file>

<file path=ppt/tags/tag85.xml><?xml version="1.0" encoding="utf-8"?>
<p:tagLst xmlns:a="http://schemas.openxmlformats.org/drawingml/2006/main" xmlns:r="http://schemas.openxmlformats.org/officeDocument/2006/relationships" xmlns:p="http://schemas.openxmlformats.org/presentationml/2006/main">
  <p:tag name="PPWINTOTALSEGMENTS" val="0"/>
</p:tagLst>
</file>

<file path=ppt/tags/tag86.xml><?xml version="1.0" encoding="utf-8"?>
<p:tagLst xmlns:a="http://schemas.openxmlformats.org/drawingml/2006/main" xmlns:r="http://schemas.openxmlformats.org/officeDocument/2006/relationships" xmlns:p="http://schemas.openxmlformats.org/presentationml/2006/main">
  <p:tag name="PPWINSEGMENT1START" val="1"/>
  <p:tag name="PPWINSEGMENT1LENGTH" val="55"/>
  <p:tag name="PPWINSEGMENT1SOURCERTF" val="{\rtf1\ansi\deff0{\fonttbl{\f0\fcharset0 Arial Narrow;}}{\colortbl\red0\green0\blue0;}{\f0\fs60\b\cf0 Guidelines for Monitoring IPSec Policies\par}}"/>
  <p:tag name="PPWINSEGMENT1TARGETRTF" val="{\rtf1\ansi\deff1{\fonttbl{\f1\fcharset0 Arial;}{\f2\fcharset0 Arial Narrow;}}{\colortbl\red0\green0\blue0;}{\f2\fs60\b\cf0 Instructions relatives \'E0 l'analyse des strat\'E9gies IPSec\par}}"/>
  <p:tag name="PPWINLASTSAVEDTRANSLATION" val="Instructions relatives à l'analyse des stratégies IPSec"/>
  <p:tag name="PPWINALREADYSEGMENTED" val="True"/>
  <p:tag name="PPWINTOTALSEGMENTS" val="1"/>
</p:tagLst>
</file>

<file path=ppt/tags/tag87.xml><?xml version="1.0" encoding="utf-8"?>
<p:tagLst xmlns:a="http://schemas.openxmlformats.org/drawingml/2006/main" xmlns:r="http://schemas.openxmlformats.org/officeDocument/2006/relationships" xmlns:p="http://schemas.openxmlformats.org/presentationml/2006/main">
  <p:tag name="PPWINSEGMENT1START" val="1"/>
  <p:tag name="PPWINSEGMENT1LENGTH" val="140"/>
  <p:tag name="PPWINSEGMENT1SOURCERTF" val="{\rtf1\ansi\deff0{\fonttbl{\f0\fcharset0 Arial Narrow;}}{\colortbl\red0\green0\blue0;}{\f0\fs44\b\cf0 Stop the IPSec Policy Agent on the computers and use the ping command to verify communications between them\par}}"/>
  <p:tag name="PPWINSEGMENT1TARGETRTF" val="{\rtf1\ansi\deff1{\fonttbl{\f1\fcharset0 Arial;}{\f2\fcharset0 Arial Narrow;}}{\colortbl\red0\green0\blue0;}{\f2\fs44\b\cf0 Arr\'EAter l'Agent de strat\'E9gie IPSec sur les ordinateurs et utiliser la commande ping pour v\'E9rifier qu'ils communiquent correctement entre eux\par}}"/>
  <p:tag name="PPWINSEGMENT2START" val="142"/>
  <p:tag name="PPWINSEGMENT2LENGTH" val="191"/>
  <p:tag name="PPWINSEGMENT2SOURCERTF" val="{\rtf1\ansi\deff0{\fonttbl{\f0\fcharset0 Arial Narrow;}}{\colortbl\red0\green0\blue0;}{\f0\fs44\b\cf0 Restart the IPSec Policy Agent and use the IP Security Monitor to confirm that a security association is established between the computers, and the policy is in effect\par}}"/>
  <p:tag name="PPWINSEGMENT2TARGETRTF" val="{\rtf1\ansi\deff1{\fonttbl{\f1\fcharset0 Arial;}{\f2\fcharset0 Arial Narrow;}}{\colortbl\red0\green0\blue0;}{\f2\fs44\b\cf0 Red\'E9marrer l'Agent de strat\'E9gie IPSec et utiliser le Moniteur de s\'E9curit\'E9 IP pour confirmer qu'une association de s\'E9curit\'E9 est \'E9tablie entre les ordinateurs et que la strat\'E9gie est en vigueur\par}}"/>
  <p:tag name="PPWINSEGMENT3START" val="334"/>
  <p:tag name="PPWINSEGMENT3LENGTH" val="153"/>
  <p:tag name="PPWINSEGMENT3SOURCERTF" val="{\rtf1\ansi\deff0{\fonttbl{\f0\fcharset0 Arial Narrow;}}{\colortbl\red0\green0\blue0;}{\f0\fs44\b\cf0 Use IP Security Policy Management to verify that the policies are assigned to both computers\par}}"/>
  <p:tag name="PPWINSEGMENT3TARGETRTF" val="{\rtf1\ansi\deff1{\fonttbl{\f1\fcharset0 Arial;}{\f2\fcharset0 Arial Narrow;}}{\colortbl\red0\green0\blue0;}{\f2\fs44\b\cf0 Utiliser le composant logiciel enfichable Gestion des strat\'E9gies de s\'E9curit\'E9 IP pour vous assurer que les strat\'E9gies sont attribu\'E9es aux deux ordinateurs\par}}"/>
  <p:tag name="PPWINSEGMENT4START" val="488"/>
  <p:tag name="PPWINSEGMENT4LENGTH" val="162"/>
  <p:tag name="PPWINSEGMENT4SOURCERTF" val="{\rtf1\ansi\deff0{\fonttbl{\f0\fcharset0 Arial Narrow;}}{\colortbl\red0\green0\blue0;}{\f0\fs44\b\cf0 Use IP Security Policy Management to review the policies and ensure they are compatible with each other\par}}"/>
  <p:tag name="PPWINSEGMENT4TARGETRTF" val="{\rtf1\ansi\deff1{\fonttbl{\f1\fcharset0 Arial;}{\f2\fcharset0 Arial Narrow;}}{\colortbl\red0\green0\blue0;}{\f2\fs44\b\cf0 Utiliser le composant logiciel enfichable Gestion des strat\'E9gies de s\'E9curit\'E9 IP pour examiner les strat\'E9gies et vous assurer qu'elles sont compatibles entre elles\par}}"/>
  <p:tag name="PPWINSEGMENT5START" val="651"/>
  <p:tag name="PPWINSEGMENT5LENGTH" val="100"/>
  <p:tag name="PPWINSEGMENT5SOURCERTF" val="{\rtf1\ansi\deff0{\fonttbl{\f0\fcharset0 Arial Narrow;}}{\colortbl\red0\green0\blue0;}{\f0\fs44\b\cf0 Restart the IP Security Monitor to ensure that all changes are applied \par}}"/>
  <p:tag name="PPWINSEGMENT5TARGETRTF" val="{\rtf1\ansi\deff1{\fonttbl{\f1\fcharset0 Arial;}{\f2\fcharset0 Arial Narrow;}}{\colortbl\red0\green0\blue0;}{\f2\fs44\b\cf0 Red\'E9marrer le Moniteur de s\'E9curit\'E9 IP pour vous assurer que toutes les modifications sont appliqu\'E9es\par}}"/>
  <p:tag name="PPWINLASTSAVEDTRANSLATION" val="Arrêter l'Agent de stratégie IPSec sur les ordinateurs et utiliser la commande ping pour vérifier qu'ils communiquent correctement entre eux&#10;Redémarrer l'Agent de stratégie IPSec et utiliser le Moniteur de sécurité IP pour confirmer qu'une association de sécurité est établie entre les ordinateurs et que la stratégie est en vigueur&#10;Utiliser le composant logiciel enfichable Gestion des stratégies de sécurité IP pour vous assurer que les stratégies sont attribuées aux deux ordinateurs&#10;Utiliser le composant logiciel enfichable Gestion des stratégies de sécurité IP pour examiner les stratégies et vous assurer qu'elles sont compatibles entre elles&#10;Redémarrer le Moniteur de sécurité IP pour vous assurer que toutes les modifications sont appliquées"/>
  <p:tag name="PPWINALREADYSEGMENTED" val="True"/>
  <p:tag name="PPWINTOTALSEGMENTS" val="5"/>
</p:tagLst>
</file>

<file path=ppt/tags/tag88.xml><?xml version="1.0" encoding="utf-8"?>
<p:tagLst xmlns:a="http://schemas.openxmlformats.org/drawingml/2006/main" xmlns:r="http://schemas.openxmlformats.org/officeDocument/2006/relationships" xmlns:p="http://schemas.openxmlformats.org/presentationml/2006/main">
  <p:tag name="PPWINTOTALSEGMENTS" val="0"/>
</p:tagLst>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l">
  <a:themeElements>
    <a:clrScheme name="Nuances de gris">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ivil">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ivil">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5943</TotalTime>
  <Words>957</Words>
  <Application>Microsoft PowerPoint</Application>
  <PresentationFormat>Affichage à l'écran (4:3)</PresentationFormat>
  <Paragraphs>155</Paragraphs>
  <Slides>17</Slides>
  <Notes>17</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17</vt:i4>
      </vt:variant>
    </vt:vector>
  </HeadingPairs>
  <TitlesOfParts>
    <vt:vector size="24" baseType="lpstr">
      <vt:lpstr>Arial</vt:lpstr>
      <vt:lpstr>Georgia</vt:lpstr>
      <vt:lpstr>Wingdings</vt:lpstr>
      <vt:lpstr>Arial Narrow</vt:lpstr>
      <vt:lpstr>Times New Roman</vt:lpstr>
      <vt:lpstr>Wingdings 2</vt:lpstr>
      <vt:lpstr>Civil</vt:lpstr>
      <vt:lpstr>Chapitre 8   Protection du trafic réseau à l'aide de la sécurité IPSec et de certificats</vt:lpstr>
      <vt:lpstr>Plan du cours</vt:lpstr>
      <vt:lpstr>1. Implémentation de la sécurité IPSec</vt:lpstr>
      <vt:lpstr>Rôle de la sécurité IPSec dans une infrastructure réseau</vt:lpstr>
      <vt:lpstr>Qu'est-ce que la sécurité IPSec ?</vt:lpstr>
      <vt:lpstr>Fonctionnement de la sécurité IPSec</vt:lpstr>
      <vt:lpstr>Qu'est-ce qu'une stratégie de sécurité IPSec ?</vt:lpstr>
      <vt:lpstr>Fonctionnement conjoint des stratégies IPSec</vt:lpstr>
      <vt:lpstr>Instructions pour équilibrer la sécurité et les performances</vt:lpstr>
      <vt:lpstr>Comment attribuer ou supprimer l'attribution d'une stratégie IPSec sur un ordinateur</vt:lpstr>
      <vt:lpstr>2. Implémentation de la sécurité IPSec avec des certificats</vt:lpstr>
      <vt:lpstr>Qu'est-ce qu'un certificat ?</vt:lpstr>
      <vt:lpstr>Utilisations courantes des certificats</vt:lpstr>
      <vt:lpstr>Pourquoi utiliser des certificats avec la sécurité IPSec pour protéger le trafic réseau ?</vt:lpstr>
      <vt:lpstr>3. Analyse de la sécurité IPSec</vt:lpstr>
      <vt:lpstr>Moniteur de sécurité IP</vt:lpstr>
      <vt:lpstr>Instructions relatives à l'analyse des stratégies IPSec</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9: Configuring Certificates and Deploying Smart Cards</dc:title>
  <dc:creator>Brenna Calnan</dc:creator>
  <cp:lastModifiedBy>Halima</cp:lastModifiedBy>
  <cp:revision>253</cp:revision>
  <dcterms:created xsi:type="dcterms:W3CDTF">2002-09-06T18:28:57Z</dcterms:created>
  <dcterms:modified xsi:type="dcterms:W3CDTF">2016-01-12T14:27:41Z</dcterms:modified>
</cp:coreProperties>
</file>