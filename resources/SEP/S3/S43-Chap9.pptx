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3.xml" ContentType="application/vnd.openxmlformats-officedocument.them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1.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2.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3.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4.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5.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6.xml" ContentType="application/vnd.openxmlformats-officedocument.presentationml.notesSlide+xml"/>
  <Override PartName="/ppt/tags/tag74.xml" ContentType="application/vnd.openxmlformats-officedocument.presentationml.tags+xml"/>
  <Override PartName="/ppt/tags/tag75.xml" ContentType="application/vnd.openxmlformats-officedocument.presentationml.tags+xml"/>
  <Override PartName="/ppt/notesSlides/notesSlide7.xml" ContentType="application/vnd.openxmlformats-officedocument.presentationml.notesSlide+xml"/>
  <Override PartName="/ppt/tags/tag76.xml" ContentType="application/vnd.openxmlformats-officedocument.presentationml.tags+xml"/>
  <Override PartName="/ppt/tags/tag77.xml" ContentType="application/vnd.openxmlformats-officedocument.presentationml.tags+xml"/>
  <Override PartName="/ppt/notesSlides/notesSlide8.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notesSlides/notesSlide9.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10.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notesSlides/notesSlide11.xml" ContentType="application/vnd.openxmlformats-officedocument.presentationml.notesSlide+xml"/>
  <Override PartName="/ppt/tags/tag109.xml" ContentType="application/vnd.openxmlformats-officedocument.presentationml.tags+xml"/>
  <Override PartName="/ppt/tags/tag110.xml" ContentType="application/vnd.openxmlformats-officedocument.presentationml.tags+xml"/>
  <Override PartName="/ppt/notesSlides/notesSlide12.xml" ContentType="application/vnd.openxmlformats-officedocument.presentationml.notesSlide+xml"/>
  <Override PartName="/ppt/tags/tag111.xml" ContentType="application/vnd.openxmlformats-officedocument.presentationml.tags+xml"/>
  <Override PartName="/ppt/tags/tag112.xml" ContentType="application/vnd.openxmlformats-officedocument.presentationml.tags+xml"/>
  <Override PartName="/ppt/notesSlides/notesSlide13.xml" ContentType="application/vnd.openxmlformats-officedocument.presentationml.notesSlide+xml"/>
  <Override PartName="/ppt/tags/tag113.xml" ContentType="application/vnd.openxmlformats-officedocument.presentationml.tags+xml"/>
  <Override PartName="/ppt/tags/tag114.xml" ContentType="application/vnd.openxmlformats-officedocument.presentationml.tags+xml"/>
  <Override PartName="/ppt/notesSlides/notesSlide14.xml" ContentType="application/vnd.openxmlformats-officedocument.presentationml.notesSlide+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notesSlides/notesSlide15.xml" ContentType="application/vnd.openxmlformats-officedocument.presentationml.notesSlide+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notesSlides/notesSlide16.xml" ContentType="application/vnd.openxmlformats-officedocument.presentationml.notesSlide+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notesSlides/notesSlide17.xml" ContentType="application/vnd.openxmlformats-officedocument.presentationml.notesSlide+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notesSlides/notesSlide18.xml" ContentType="application/vnd.openxmlformats-officedocument.presentationml.notesSlide+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notesSlides/notesSlide19.xml" ContentType="application/vnd.openxmlformats-officedocument.presentationml.notesSlide+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notesSlides/notesSlide20.xml" ContentType="application/vnd.openxmlformats-officedocument.presentationml.notesSlide+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notesSlides/notesSlide21.xml" ContentType="application/vnd.openxmlformats-officedocument.presentationml.notesSlide+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notesSlides/notesSlide22.xml" ContentType="application/vnd.openxmlformats-officedocument.presentationml.notesSlide+xml"/>
  <Override PartName="/ppt/tags/tag240.xml" ContentType="application/vnd.openxmlformats-officedocument.presentationml.tags+xml"/>
  <Override PartName="/ppt/tags/tag241.xml" ContentType="application/vnd.openxmlformats-officedocument.presentationml.tags+xml"/>
  <Override PartName="/ppt/notesSlides/notesSlide23.xml" ContentType="application/vnd.openxmlformats-officedocument.presentationml.notesSlide+xml"/>
  <Override PartName="/ppt/tags/tag242.xml" ContentType="application/vnd.openxmlformats-officedocument.presentationml.tags+xml"/>
  <Override PartName="/ppt/tags/tag243.xml" ContentType="application/vnd.openxmlformats-officedocument.presentationml.tags+xml"/>
  <Override PartName="/ppt/notesSlides/notesSlide24.xml" ContentType="application/vnd.openxmlformats-officedocument.presentationml.notesSlide+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notesSlides/notesSlide25.xml" ContentType="application/vnd.openxmlformats-officedocument.presentationml.notesSlide+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notesSlides/notesSlide26.xml" ContentType="application/vnd.openxmlformats-officedocument.presentationml.notesSlide+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notesSlides/notesSlide27.xml" ContentType="application/vnd.openxmlformats-officedocument.presentationml.notesSlide+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notesSlides/notesSlide28.xml" ContentType="application/vnd.openxmlformats-officedocument.presentationml.notesSlide+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notesSlides/notesSlide29.xml" ContentType="application/vnd.openxmlformats-officedocument.presentationml.notesSlide+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notesSlides/notesSlide30.xml" ContentType="application/vnd.openxmlformats-officedocument.presentationml.notesSlide+xml"/>
  <Override PartName="/ppt/tags/tag270.xml" ContentType="application/vnd.openxmlformats-officedocument.presentationml.tags+xml"/>
  <Override PartName="/ppt/tags/tag271.xml" ContentType="application/vnd.openxmlformats-officedocument.presentationml.tags+xml"/>
  <Override PartName="/ppt/notesSlides/notesSlide31.xml" ContentType="application/vnd.openxmlformats-officedocument.presentationml.notesSlide+xml"/>
  <Override PartName="/ppt/tags/tag27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3" r:id="rId1"/>
  </p:sldMasterIdLst>
  <p:notesMasterIdLst>
    <p:notesMasterId r:id="rId35"/>
  </p:notesMasterIdLst>
  <p:handoutMasterIdLst>
    <p:handoutMasterId r:id="rId36"/>
  </p:handoutMasterIdLst>
  <p:sldIdLst>
    <p:sldId id="256" r:id="rId2"/>
    <p:sldId id="257" r:id="rId3"/>
    <p:sldId id="258" r:id="rId4"/>
    <p:sldId id="424" r:id="rId5"/>
    <p:sldId id="478" r:id="rId6"/>
    <p:sldId id="439" r:id="rId7"/>
    <p:sldId id="440" r:id="rId8"/>
    <p:sldId id="526" r:id="rId9"/>
    <p:sldId id="349" r:id="rId10"/>
    <p:sldId id="492" r:id="rId11"/>
    <p:sldId id="522" r:id="rId12"/>
    <p:sldId id="491" r:id="rId13"/>
    <p:sldId id="450" r:id="rId14"/>
    <p:sldId id="527" r:id="rId15"/>
    <p:sldId id="495" r:id="rId16"/>
    <p:sldId id="525" r:id="rId17"/>
    <p:sldId id="493" r:id="rId18"/>
    <p:sldId id="497" r:id="rId19"/>
    <p:sldId id="523" r:id="rId20"/>
    <p:sldId id="498" r:id="rId21"/>
    <p:sldId id="392" r:id="rId22"/>
    <p:sldId id="462" r:id="rId23"/>
    <p:sldId id="509" r:id="rId24"/>
    <p:sldId id="486" r:id="rId25"/>
    <p:sldId id="463" r:id="rId26"/>
    <p:sldId id="464" r:id="rId27"/>
    <p:sldId id="467" r:id="rId28"/>
    <p:sldId id="519" r:id="rId29"/>
    <p:sldId id="471" r:id="rId30"/>
    <p:sldId id="360" r:id="rId31"/>
    <p:sldId id="413" r:id="rId32"/>
    <p:sldId id="480" r:id="rId33"/>
    <p:sldId id="515" r:id="rId34"/>
  </p:sldIdLst>
  <p:sldSz cx="9144000" cy="6858000" type="screen4x3"/>
  <p:notesSz cx="6997700" cy="9283700"/>
  <p:embeddedFontLst>
    <p:embeddedFont>
      <p:font typeface="Arial Narrow" panose="020B0606020202030204" pitchFamily="34" charset="0"/>
      <p:regular r:id="rId37"/>
      <p:bold r:id="rId38"/>
      <p:italic r:id="rId39"/>
      <p:boldItalic r:id="rId40"/>
    </p:embeddedFont>
    <p:embeddedFont>
      <p:font typeface="Georgia" panose="02040502050405020303" pitchFamily="18" charset="0"/>
      <p:regular r:id="rId41"/>
      <p:bold r:id="rId42"/>
      <p:italic r:id="rId43"/>
      <p:boldItalic r:id="rId44"/>
    </p:embeddedFont>
    <p:embeddedFont>
      <p:font typeface="Wingdings 2" panose="05020102010507070707" pitchFamily="18" charset="2"/>
      <p:regular r:id="rId45"/>
    </p:embeddedFont>
  </p:embeddedFontLst>
  <p:defaultTextStyle>
    <a:defPPr>
      <a:defRPr lang="en-US"/>
    </a:defPPr>
    <a:lvl1pPr algn="ctr" rtl="0" eaLnBrk="0" fontAlgn="base" hangingPunct="0">
      <a:spcBef>
        <a:spcPct val="0"/>
      </a:spcBef>
      <a:spcAft>
        <a:spcPct val="0"/>
      </a:spcAft>
      <a:defRPr kern="1200">
        <a:solidFill>
          <a:schemeClr val="tx1"/>
        </a:solidFill>
        <a:latin typeface="Arial Narrow" pitchFamily="34" charset="0"/>
        <a:ea typeface="+mn-ea"/>
        <a:cs typeface="+mn-cs"/>
      </a:defRPr>
    </a:lvl1pPr>
    <a:lvl2pPr marL="457200" algn="ctr" rtl="0" eaLnBrk="0" fontAlgn="base" hangingPunct="0">
      <a:spcBef>
        <a:spcPct val="0"/>
      </a:spcBef>
      <a:spcAft>
        <a:spcPct val="0"/>
      </a:spcAft>
      <a:defRPr kern="1200">
        <a:solidFill>
          <a:schemeClr val="tx1"/>
        </a:solidFill>
        <a:latin typeface="Arial Narrow" pitchFamily="34" charset="0"/>
        <a:ea typeface="+mn-ea"/>
        <a:cs typeface="+mn-cs"/>
      </a:defRPr>
    </a:lvl2pPr>
    <a:lvl3pPr marL="914400" algn="ctr" rtl="0" eaLnBrk="0" fontAlgn="base" hangingPunct="0">
      <a:spcBef>
        <a:spcPct val="0"/>
      </a:spcBef>
      <a:spcAft>
        <a:spcPct val="0"/>
      </a:spcAft>
      <a:defRPr kern="1200">
        <a:solidFill>
          <a:schemeClr val="tx1"/>
        </a:solidFill>
        <a:latin typeface="Arial Narrow" pitchFamily="34" charset="0"/>
        <a:ea typeface="+mn-ea"/>
        <a:cs typeface="+mn-cs"/>
      </a:defRPr>
    </a:lvl3pPr>
    <a:lvl4pPr marL="1371600" algn="ctr" rtl="0" eaLnBrk="0" fontAlgn="base" hangingPunct="0">
      <a:spcBef>
        <a:spcPct val="0"/>
      </a:spcBef>
      <a:spcAft>
        <a:spcPct val="0"/>
      </a:spcAft>
      <a:defRPr kern="1200">
        <a:solidFill>
          <a:schemeClr val="tx1"/>
        </a:solidFill>
        <a:latin typeface="Arial Narrow" pitchFamily="34" charset="0"/>
        <a:ea typeface="+mn-ea"/>
        <a:cs typeface="+mn-cs"/>
      </a:defRPr>
    </a:lvl4pPr>
    <a:lvl5pPr marL="1828800" algn="ctr" rtl="0" eaLnBrk="0" fontAlgn="base" hangingPunct="0">
      <a:spcBef>
        <a:spcPct val="0"/>
      </a:spcBef>
      <a:spcAft>
        <a:spcPct val="0"/>
      </a:spcAft>
      <a:defRPr kern="1200">
        <a:solidFill>
          <a:schemeClr val="tx1"/>
        </a:solidFill>
        <a:latin typeface="Arial Narrow" pitchFamily="34" charset="0"/>
        <a:ea typeface="+mn-ea"/>
        <a:cs typeface="+mn-cs"/>
      </a:defRPr>
    </a:lvl5pPr>
    <a:lvl6pPr marL="2286000" algn="l" defTabSz="914400" rtl="0" eaLnBrk="1" latinLnBrk="0" hangingPunct="1">
      <a:defRPr kern="1200">
        <a:solidFill>
          <a:schemeClr val="tx1"/>
        </a:solidFill>
        <a:latin typeface="Arial Narrow" pitchFamily="34" charset="0"/>
        <a:ea typeface="+mn-ea"/>
        <a:cs typeface="+mn-cs"/>
      </a:defRPr>
    </a:lvl6pPr>
    <a:lvl7pPr marL="2743200" algn="l" defTabSz="914400" rtl="0" eaLnBrk="1" latinLnBrk="0" hangingPunct="1">
      <a:defRPr kern="1200">
        <a:solidFill>
          <a:schemeClr val="tx1"/>
        </a:solidFill>
        <a:latin typeface="Arial Narrow" pitchFamily="34" charset="0"/>
        <a:ea typeface="+mn-ea"/>
        <a:cs typeface="+mn-cs"/>
      </a:defRPr>
    </a:lvl7pPr>
    <a:lvl8pPr marL="3200400" algn="l" defTabSz="914400" rtl="0" eaLnBrk="1" latinLnBrk="0" hangingPunct="1">
      <a:defRPr kern="1200">
        <a:solidFill>
          <a:schemeClr val="tx1"/>
        </a:solidFill>
        <a:latin typeface="Arial Narrow" pitchFamily="34" charset="0"/>
        <a:ea typeface="+mn-ea"/>
        <a:cs typeface="+mn-cs"/>
      </a:defRPr>
    </a:lvl8pPr>
    <a:lvl9pPr marL="3657600" algn="l" defTabSz="914400" rtl="0" eaLnBrk="1" latinLnBrk="0" hangingPunct="1">
      <a:defRPr kern="1200">
        <a:solidFill>
          <a:schemeClr val="tx1"/>
        </a:solidFill>
        <a:latin typeface="Arial Narrow" pitchFamily="34" charset="0"/>
        <a:ea typeface="+mn-ea"/>
        <a:cs typeface="+mn-cs"/>
      </a:defRPr>
    </a:lvl9pPr>
  </p:defaultTextStyle>
  <p:extLst>
    <p:ext uri="{EFAFB233-063F-42B5-8137-9DF3F51BA10A}">
      <p15:sldGuideLst xmlns:p15="http://schemas.microsoft.com/office/powerpoint/2012/main">
        <p15:guide id="1" orient="horz" pos="4080">
          <p15:clr>
            <a:srgbClr val="A4A3A4"/>
          </p15:clr>
        </p15:guide>
        <p15:guide id="2" orient="horz" pos="2678">
          <p15:clr>
            <a:srgbClr val="A4A3A4"/>
          </p15:clr>
        </p15:guide>
        <p15:guide id="3" orient="horz" pos="2499">
          <p15:clr>
            <a:srgbClr val="A4A3A4"/>
          </p15:clr>
        </p15:guide>
        <p15:guide id="4" pos="2880">
          <p15:clr>
            <a:srgbClr val="A4A3A4"/>
          </p15:clr>
        </p15:guide>
      </p15:sldGuideLst>
    </p:ext>
    <p:ext uri="{2D200454-40CA-4A62-9FC3-DE9A4176ACB9}">
      <p15:notesGuideLst xmlns:p15="http://schemas.microsoft.com/office/powerpoint/2012/main">
        <p15:guide id="1" orient="horz" pos="2924">
          <p15:clr>
            <a:srgbClr val="A4A3A4"/>
          </p15:clr>
        </p15:guide>
        <p15:guide id="2" pos="220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renna Calnan" initials="" lastIdx="49" clrIdx="0"/>
  <p:cmAuthor id="1" name="Chris" initials="" lastIdx="3" clrIdx="1"/>
  <p:cmAuthor id="2" name="eliree" initials="" lastIdx="22" clrIdx="2"/>
  <p:cmAuthor id="3" name="jimcla" initials="" lastIdx="1" clrIdx="3"/>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1DA9E"/>
    <a:srgbClr val="C7D288"/>
    <a:srgbClr val="D0D99B"/>
    <a:srgbClr val="F2EFEE"/>
    <a:srgbClr val="3333CC"/>
    <a:srgbClr val="D6E1EE"/>
    <a:srgbClr val="ADE2A1"/>
    <a:srgbClr val="CC0000"/>
    <a:srgbClr val="5F5F5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300" autoAdjust="0"/>
    <p:restoredTop sz="94660" autoAdjust="0"/>
  </p:normalViewPr>
  <p:slideViewPr>
    <p:cSldViewPr snapToGrid="0">
      <p:cViewPr varScale="1">
        <p:scale>
          <a:sx n="63" d="100"/>
          <a:sy n="63" d="100"/>
        </p:scale>
        <p:origin x="1552" y="64"/>
      </p:cViewPr>
      <p:guideLst>
        <p:guide orient="horz" pos="4080"/>
        <p:guide orient="horz" pos="2678"/>
        <p:guide orient="horz" pos="2499"/>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5850"/>
    </p:cViewPr>
  </p:sorterViewPr>
  <p:notesViewPr>
    <p:cSldViewPr snapToGrid="0">
      <p:cViewPr varScale="1">
        <p:scale>
          <a:sx n="60" d="100"/>
          <a:sy n="60" d="100"/>
        </p:scale>
        <p:origin x="-1692" y="-60"/>
      </p:cViewPr>
      <p:guideLst>
        <p:guide orient="horz" pos="2924"/>
        <p:guide pos="220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6.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45"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7.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 Id="rId46"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heme" Target="../theme/theme3.xml"/><Relationship Id="rId5" Type="http://schemas.openxmlformats.org/officeDocument/2006/relationships/tags" Target="../tags/tag9.xml"/><Relationship Id="rId4" Type="http://schemas.openxmlformats.org/officeDocument/2006/relationships/tags" Target="../tags/tag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1938" name="Rectangle 2"/>
          <p:cNvSpPr>
            <a:spLocks noGrp="1" noChangeArrowheads="1"/>
          </p:cNvSpPr>
          <p:nvPr>
            <p:ph type="hdr" sz="quarter"/>
            <p:custDataLst>
              <p:tags r:id="rId2"/>
            </p:custDataLst>
          </p:nvPr>
        </p:nvSpPr>
        <p:spPr bwMode="auto">
          <a:xfrm>
            <a:off x="0" y="0"/>
            <a:ext cx="3032125" cy="4635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a:latin typeface="Arial" charset="0"/>
              </a:defRPr>
            </a:lvl1pPr>
          </a:lstStyle>
          <a:p>
            <a:endParaRPr lang="en-US"/>
          </a:p>
        </p:txBody>
      </p:sp>
      <p:sp>
        <p:nvSpPr>
          <p:cNvPr id="551939" name="Rectangle 3"/>
          <p:cNvSpPr>
            <a:spLocks noGrp="1" noChangeArrowheads="1"/>
          </p:cNvSpPr>
          <p:nvPr>
            <p:ph type="dt" sz="quarter" idx="1"/>
            <p:custDataLst>
              <p:tags r:id="rId3"/>
            </p:custDataLst>
          </p:nvPr>
        </p:nvSpPr>
        <p:spPr bwMode="auto">
          <a:xfrm>
            <a:off x="3963988" y="0"/>
            <a:ext cx="3032125" cy="4635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endParaRPr lang="en-US"/>
          </a:p>
        </p:txBody>
      </p:sp>
      <p:sp>
        <p:nvSpPr>
          <p:cNvPr id="551940" name="Rectangle 4"/>
          <p:cNvSpPr>
            <a:spLocks noGrp="1" noChangeArrowheads="1"/>
          </p:cNvSpPr>
          <p:nvPr>
            <p:ph type="ftr" sz="quarter" idx="2"/>
            <p:custDataLst>
              <p:tags r:id="rId4"/>
            </p:custDataLst>
          </p:nvPr>
        </p:nvSpPr>
        <p:spPr bwMode="auto">
          <a:xfrm>
            <a:off x="0" y="8818563"/>
            <a:ext cx="3032125" cy="4635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a:latin typeface="Arial" charset="0"/>
              </a:defRPr>
            </a:lvl1pPr>
          </a:lstStyle>
          <a:p>
            <a:endParaRPr lang="en-US"/>
          </a:p>
        </p:txBody>
      </p:sp>
      <p:sp>
        <p:nvSpPr>
          <p:cNvPr id="551941" name="Rectangle 5"/>
          <p:cNvSpPr>
            <a:spLocks noGrp="1" noChangeArrowheads="1"/>
          </p:cNvSpPr>
          <p:nvPr>
            <p:ph type="sldNum" sz="quarter" idx="3"/>
            <p:custDataLst>
              <p:tags r:id="rId5"/>
            </p:custDataLst>
          </p:nvPr>
        </p:nvSpPr>
        <p:spPr bwMode="auto">
          <a:xfrm>
            <a:off x="3963988" y="8818563"/>
            <a:ext cx="3032125" cy="46355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charset="0"/>
              </a:defRPr>
            </a:lvl1pPr>
          </a:lstStyle>
          <a:p>
            <a:fld id="{B0CD61D8-5B24-4D80-B8DF-E7449C9B59EC}" type="slidenum">
              <a:rPr lang="en-US"/>
              <a:pPr/>
              <a:t>‹N°›</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theme" Target="../theme/theme2.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410" name="Rectangle 2"/>
          <p:cNvSpPr>
            <a:spLocks noGrp="1" noChangeArrowheads="1"/>
          </p:cNvSpPr>
          <p:nvPr>
            <p:ph type="hdr" sz="quarter"/>
            <p:custDataLst>
              <p:tags r:id="rId2"/>
            </p:custDataLst>
          </p:nvPr>
        </p:nvSpPr>
        <p:spPr bwMode="auto">
          <a:xfrm>
            <a:off x="0" y="0"/>
            <a:ext cx="3032125" cy="463550"/>
          </a:xfrm>
          <a:prstGeom prst="rect">
            <a:avLst/>
          </a:prstGeom>
          <a:noFill/>
          <a:ln w="9525">
            <a:noFill/>
            <a:miter lim="800000"/>
            <a:headEnd/>
            <a:tailEnd/>
          </a:ln>
          <a:effectLst/>
        </p:spPr>
        <p:txBody>
          <a:bodyPr vert="horz" wrap="square" lIns="92711" tIns="46356" rIns="92711" bIns="46356" numCol="1" anchor="t" anchorCtr="0" compatLnSpc="1">
            <a:prstTxWarp prst="textNoShape">
              <a:avLst/>
            </a:prstTxWarp>
          </a:bodyPr>
          <a:lstStyle>
            <a:lvl1pPr algn="l" defTabSz="927100" eaLnBrk="1" hangingPunct="1">
              <a:defRPr sz="1200">
                <a:latin typeface="Arial" charset="0"/>
              </a:defRPr>
            </a:lvl1pPr>
          </a:lstStyle>
          <a:p>
            <a:endParaRPr lang="en-US"/>
          </a:p>
        </p:txBody>
      </p:sp>
      <p:sp>
        <p:nvSpPr>
          <p:cNvPr id="17411" name="Rectangle 3"/>
          <p:cNvSpPr>
            <a:spLocks noGrp="1" noChangeArrowheads="1"/>
          </p:cNvSpPr>
          <p:nvPr>
            <p:ph type="dt" idx="1"/>
            <p:custDataLst>
              <p:tags r:id="rId3"/>
            </p:custDataLst>
          </p:nvPr>
        </p:nvSpPr>
        <p:spPr bwMode="auto">
          <a:xfrm>
            <a:off x="3963988" y="0"/>
            <a:ext cx="3032125" cy="463550"/>
          </a:xfrm>
          <a:prstGeom prst="rect">
            <a:avLst/>
          </a:prstGeom>
          <a:noFill/>
          <a:ln w="9525">
            <a:noFill/>
            <a:miter lim="800000"/>
            <a:headEnd/>
            <a:tailEnd/>
          </a:ln>
          <a:effectLst/>
        </p:spPr>
        <p:txBody>
          <a:bodyPr vert="horz" wrap="square" lIns="92711" tIns="46356" rIns="92711" bIns="46356" numCol="1" anchor="t" anchorCtr="0" compatLnSpc="1">
            <a:prstTxWarp prst="textNoShape">
              <a:avLst/>
            </a:prstTxWarp>
          </a:bodyPr>
          <a:lstStyle>
            <a:lvl1pPr algn="r" defTabSz="927100" eaLnBrk="1" hangingPunct="1">
              <a:defRPr sz="1200">
                <a:latin typeface="Arial" charset="0"/>
              </a:defRPr>
            </a:lvl1pPr>
          </a:lstStyle>
          <a:p>
            <a:endParaRPr lang="en-US"/>
          </a:p>
        </p:txBody>
      </p:sp>
      <p:sp>
        <p:nvSpPr>
          <p:cNvPr id="17412" name="Rectangle 4"/>
          <p:cNvSpPr>
            <a:spLocks noGrp="1" noRot="1" noChangeAspect="1" noChangeArrowheads="1" noTextEdit="1"/>
          </p:cNvSpPr>
          <p:nvPr>
            <p:ph type="sldImg" idx="2"/>
          </p:nvPr>
        </p:nvSpPr>
        <p:spPr bwMode="auto">
          <a:xfrm>
            <a:off x="1177925" y="696913"/>
            <a:ext cx="4641850" cy="3481387"/>
          </a:xfrm>
          <a:prstGeom prst="rect">
            <a:avLst/>
          </a:prstGeom>
          <a:noFill/>
          <a:ln w="9525">
            <a:solidFill>
              <a:srgbClr val="000000"/>
            </a:solidFill>
            <a:miter lim="800000"/>
            <a:headEnd/>
            <a:tailEnd/>
          </a:ln>
          <a:effectLst/>
        </p:spPr>
      </p:sp>
      <p:sp>
        <p:nvSpPr>
          <p:cNvPr id="17413" name="Rectangle 5"/>
          <p:cNvSpPr>
            <a:spLocks noGrp="1" noChangeArrowheads="1"/>
          </p:cNvSpPr>
          <p:nvPr>
            <p:ph type="body" sz="quarter" idx="3"/>
            <p:custDataLst>
              <p:tags r:id="rId4"/>
            </p:custDataLst>
          </p:nvPr>
        </p:nvSpPr>
        <p:spPr bwMode="auto">
          <a:xfrm>
            <a:off x="700088" y="4410075"/>
            <a:ext cx="5597525" cy="4176713"/>
          </a:xfrm>
          <a:prstGeom prst="rect">
            <a:avLst/>
          </a:prstGeom>
          <a:noFill/>
          <a:ln w="9525">
            <a:noFill/>
            <a:miter lim="800000"/>
            <a:headEnd/>
            <a:tailEnd/>
          </a:ln>
          <a:effectLst/>
        </p:spPr>
        <p:txBody>
          <a:bodyPr vert="horz" wrap="square" lIns="92711" tIns="46356" rIns="92711" bIns="46356"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414" name="Rectangle 6"/>
          <p:cNvSpPr>
            <a:spLocks noGrp="1" noChangeArrowheads="1"/>
          </p:cNvSpPr>
          <p:nvPr>
            <p:ph type="ftr" sz="quarter" idx="4"/>
            <p:custDataLst>
              <p:tags r:id="rId5"/>
            </p:custDataLst>
          </p:nvPr>
        </p:nvSpPr>
        <p:spPr bwMode="auto">
          <a:xfrm>
            <a:off x="0" y="8818563"/>
            <a:ext cx="3032125" cy="463550"/>
          </a:xfrm>
          <a:prstGeom prst="rect">
            <a:avLst/>
          </a:prstGeom>
          <a:noFill/>
          <a:ln w="9525">
            <a:noFill/>
            <a:miter lim="800000"/>
            <a:headEnd/>
            <a:tailEnd/>
          </a:ln>
          <a:effectLst/>
        </p:spPr>
        <p:txBody>
          <a:bodyPr vert="horz" wrap="square" lIns="92711" tIns="46356" rIns="92711" bIns="46356" numCol="1" anchor="b" anchorCtr="0" compatLnSpc="1">
            <a:prstTxWarp prst="textNoShape">
              <a:avLst/>
            </a:prstTxWarp>
          </a:bodyPr>
          <a:lstStyle>
            <a:lvl1pPr algn="l" defTabSz="927100" eaLnBrk="1" hangingPunct="1">
              <a:defRPr sz="1200">
                <a:latin typeface="Arial" charset="0"/>
              </a:defRPr>
            </a:lvl1pPr>
          </a:lstStyle>
          <a:p>
            <a:endParaRPr lang="en-US"/>
          </a:p>
        </p:txBody>
      </p:sp>
      <p:sp>
        <p:nvSpPr>
          <p:cNvPr id="17415" name="Rectangle 7"/>
          <p:cNvSpPr>
            <a:spLocks noGrp="1" noChangeArrowheads="1"/>
          </p:cNvSpPr>
          <p:nvPr>
            <p:ph type="sldNum" sz="quarter" idx="5"/>
            <p:custDataLst>
              <p:tags r:id="rId6"/>
            </p:custDataLst>
          </p:nvPr>
        </p:nvSpPr>
        <p:spPr bwMode="auto">
          <a:xfrm>
            <a:off x="3963988" y="8818563"/>
            <a:ext cx="3032125" cy="463550"/>
          </a:xfrm>
          <a:prstGeom prst="rect">
            <a:avLst/>
          </a:prstGeom>
          <a:noFill/>
          <a:ln w="9525">
            <a:noFill/>
            <a:miter lim="800000"/>
            <a:headEnd/>
            <a:tailEnd/>
          </a:ln>
          <a:effectLst/>
        </p:spPr>
        <p:txBody>
          <a:bodyPr vert="horz" wrap="square" lIns="92711" tIns="46356" rIns="92711" bIns="46356" numCol="1" anchor="b" anchorCtr="0" compatLnSpc="1">
            <a:prstTxWarp prst="textNoShape">
              <a:avLst/>
            </a:prstTxWarp>
          </a:bodyPr>
          <a:lstStyle>
            <a:lvl1pPr algn="r" defTabSz="927100" eaLnBrk="1" hangingPunct="1">
              <a:defRPr sz="1200">
                <a:latin typeface="Arial" charset="0"/>
              </a:defRPr>
            </a:lvl1pPr>
          </a:lstStyle>
          <a:p>
            <a:fld id="{6CA84A83-AC1F-4755-B62B-580D8543868E}" type="slidenum">
              <a:rPr lang="en-US"/>
              <a:pPr/>
              <a:t>‹N°›</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notesMaster" Target="../notesMasters/notesMaster1.xml"/><Relationship Id="rId1" Type="http://schemas.openxmlformats.org/officeDocument/2006/relationships/tags" Target="../tags/tag1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notesMaster" Target="../notesMasters/notesMaster1.xml"/><Relationship Id="rId1" Type="http://schemas.openxmlformats.org/officeDocument/2006/relationships/tags" Target="../tags/tag14.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ags" Target="../tags/tag17.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4.xml"/><Relationship Id="rId2" Type="http://schemas.openxmlformats.org/officeDocument/2006/relationships/notesMaster" Target="../notesMasters/notesMaster1.xml"/><Relationship Id="rId1" Type="http://schemas.openxmlformats.org/officeDocument/2006/relationships/tags" Target="../tags/tag52.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5.xml"/><Relationship Id="rId2" Type="http://schemas.openxmlformats.org/officeDocument/2006/relationships/notesMaster" Target="../notesMasters/notesMaster1.xml"/><Relationship Id="rId1" Type="http://schemas.openxmlformats.org/officeDocument/2006/relationships/tags" Target="../tags/tag56.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ags" Target="../tags/tag74.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ags" Target="../tags/tag76.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8.xml"/><Relationship Id="rId2" Type="http://schemas.openxmlformats.org/officeDocument/2006/relationships/notesMaster" Target="../notesMasters/notesMaster1.xml"/><Relationship Id="rId1" Type="http://schemas.openxmlformats.org/officeDocument/2006/relationships/tags" Target="../tags/tag78.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9.xml"/><Relationship Id="rId2" Type="http://schemas.openxmlformats.org/officeDocument/2006/relationships/notesMaster" Target="../notesMasters/notesMaster1.xml"/><Relationship Id="rId1" Type="http://schemas.openxmlformats.org/officeDocument/2006/relationships/tags" Target="../tags/tag81.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notesMaster" Target="../notesMasters/notesMaster1.xml"/><Relationship Id="rId1" Type="http://schemas.openxmlformats.org/officeDocument/2006/relationships/tags" Target="../tags/tag87.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notesMaster" Target="../notesMasters/notesMaster1.xml"/><Relationship Id="rId1" Type="http://schemas.openxmlformats.org/officeDocument/2006/relationships/tags" Target="../tags/tag109.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13.xml"/><Relationship Id="rId2" Type="http://schemas.openxmlformats.org/officeDocument/2006/relationships/notesMaster" Target="../notesMasters/notesMaster1.xml"/><Relationship Id="rId1" Type="http://schemas.openxmlformats.org/officeDocument/2006/relationships/tags" Target="../tags/tag11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notesMaster" Target="../notesMasters/notesMaster1.xml"/><Relationship Id="rId1" Type="http://schemas.openxmlformats.org/officeDocument/2006/relationships/tags" Target="../tags/tag115.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notesMaster" Target="../notesMasters/notesMaster1.xml"/><Relationship Id="rId1" Type="http://schemas.openxmlformats.org/officeDocument/2006/relationships/tags" Target="../tags/tag118.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notesMaster" Target="../notesMasters/notesMaster1.xml"/><Relationship Id="rId1" Type="http://schemas.openxmlformats.org/officeDocument/2006/relationships/tags" Target="../tags/tag124.xml"/></Relationships>
</file>

<file path=ppt/notesSlides/_rels/notesSlide17.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notesMaster" Target="../notesMasters/notesMaster1.xml"/><Relationship Id="rId1" Type="http://schemas.openxmlformats.org/officeDocument/2006/relationships/tags" Target="../tags/tag154.xml"/></Relationships>
</file>

<file path=ppt/notesSlides/_rels/notesSlide18.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notesMaster" Target="../notesMasters/notesMaster1.xml"/><Relationship Id="rId1" Type="http://schemas.openxmlformats.org/officeDocument/2006/relationships/tags" Target="../tags/tag163.xml"/></Relationships>
</file>

<file path=ppt/notesSlides/_rels/notesSlide19.xml.rels><?xml version="1.0" encoding="UTF-8" standalone="yes"?>
<Relationships xmlns="http://schemas.openxmlformats.org/package/2006/relationships"><Relationship Id="rId3" Type="http://schemas.openxmlformats.org/officeDocument/2006/relationships/slide" Target="../slides/slide20.xml"/><Relationship Id="rId2" Type="http://schemas.openxmlformats.org/officeDocument/2006/relationships/notesMaster" Target="../notesMasters/notesMaster1.xml"/><Relationship Id="rId1" Type="http://schemas.openxmlformats.org/officeDocument/2006/relationships/tags" Target="../tags/tag166.xml"/></Relationships>
</file>

<file path=ppt/notesSlides/_rels/notesSlide20.xml.rels><?xml version="1.0" encoding="UTF-8" standalone="yes"?>
<Relationships xmlns="http://schemas.openxmlformats.org/package/2006/relationships"><Relationship Id="rId3" Type="http://schemas.openxmlformats.org/officeDocument/2006/relationships/slide" Target="../slides/slide21.xml"/><Relationship Id="rId2" Type="http://schemas.openxmlformats.org/officeDocument/2006/relationships/notesMaster" Target="../notesMasters/notesMaster1.xml"/><Relationship Id="rId1" Type="http://schemas.openxmlformats.org/officeDocument/2006/relationships/tags" Target="../tags/tag169.xml"/></Relationships>
</file>

<file path=ppt/notesSlides/_rels/notesSlide21.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notesMaster" Target="../notesMasters/notesMaster1.xml"/><Relationship Id="rId1" Type="http://schemas.openxmlformats.org/officeDocument/2006/relationships/tags" Target="../tags/tag198.xml"/></Relationships>
</file>

<file path=ppt/notesSlides/_rels/notesSlide22.xml.rels><?xml version="1.0" encoding="UTF-8" standalone="yes"?>
<Relationships xmlns="http://schemas.openxmlformats.org/package/2006/relationships"><Relationship Id="rId3" Type="http://schemas.openxmlformats.org/officeDocument/2006/relationships/slide" Target="../slides/slide23.xml"/><Relationship Id="rId2" Type="http://schemas.openxmlformats.org/officeDocument/2006/relationships/notesMaster" Target="../notesMasters/notesMaster1.xml"/><Relationship Id="rId1" Type="http://schemas.openxmlformats.org/officeDocument/2006/relationships/tags" Target="../tags/tag240.xml"/></Relationships>
</file>

<file path=ppt/notesSlides/_rels/notesSlide23.xml.rels><?xml version="1.0" encoding="UTF-8" standalone="yes"?>
<Relationships xmlns="http://schemas.openxmlformats.org/package/2006/relationships"><Relationship Id="rId3" Type="http://schemas.openxmlformats.org/officeDocument/2006/relationships/slide" Target="../slides/slide24.xml"/><Relationship Id="rId2" Type="http://schemas.openxmlformats.org/officeDocument/2006/relationships/notesMaster" Target="../notesMasters/notesMaster1.xml"/><Relationship Id="rId1" Type="http://schemas.openxmlformats.org/officeDocument/2006/relationships/tags" Target="../tags/tag242.xml"/></Relationships>
</file>

<file path=ppt/notesSlides/_rels/notesSlide24.xml.rels><?xml version="1.0" encoding="UTF-8" standalone="yes"?>
<Relationships xmlns="http://schemas.openxmlformats.org/package/2006/relationships"><Relationship Id="rId3" Type="http://schemas.openxmlformats.org/officeDocument/2006/relationships/slide" Target="../slides/slide25.xml"/><Relationship Id="rId2" Type="http://schemas.openxmlformats.org/officeDocument/2006/relationships/notesMaster" Target="../notesMasters/notesMaster1.xml"/><Relationship Id="rId1" Type="http://schemas.openxmlformats.org/officeDocument/2006/relationships/tags" Target="../tags/tag244.xml"/></Relationships>
</file>

<file path=ppt/notesSlides/_rels/notesSlide25.xml.rels><?xml version="1.0" encoding="UTF-8" standalone="yes"?>
<Relationships xmlns="http://schemas.openxmlformats.org/package/2006/relationships"><Relationship Id="rId3" Type="http://schemas.openxmlformats.org/officeDocument/2006/relationships/slide" Target="../slides/slide26.xml"/><Relationship Id="rId2" Type="http://schemas.openxmlformats.org/officeDocument/2006/relationships/notesMaster" Target="../notesMasters/notesMaster1.xml"/><Relationship Id="rId1" Type="http://schemas.openxmlformats.org/officeDocument/2006/relationships/tags" Target="../tags/tag247.xml"/></Relationships>
</file>

<file path=ppt/notesSlides/_rels/notesSlide26.xml.rels><?xml version="1.0" encoding="UTF-8" standalone="yes"?>
<Relationships xmlns="http://schemas.openxmlformats.org/package/2006/relationships"><Relationship Id="rId3" Type="http://schemas.openxmlformats.org/officeDocument/2006/relationships/slide" Target="../slides/slide27.xml"/><Relationship Id="rId2" Type="http://schemas.openxmlformats.org/officeDocument/2006/relationships/notesMaster" Target="../notesMasters/notesMaster1.xml"/><Relationship Id="rId1" Type="http://schemas.openxmlformats.org/officeDocument/2006/relationships/tags" Target="../tags/tag250.xml"/></Relationships>
</file>

<file path=ppt/notesSlides/_rels/notesSlide27.xml.rels><?xml version="1.0" encoding="UTF-8" standalone="yes"?>
<Relationships xmlns="http://schemas.openxmlformats.org/package/2006/relationships"><Relationship Id="rId3" Type="http://schemas.openxmlformats.org/officeDocument/2006/relationships/slide" Target="../slides/slide29.xml"/><Relationship Id="rId2" Type="http://schemas.openxmlformats.org/officeDocument/2006/relationships/notesMaster" Target="../notesMasters/notesMaster1.xml"/><Relationship Id="rId1" Type="http://schemas.openxmlformats.org/officeDocument/2006/relationships/tags" Target="../tags/tag256.xml"/></Relationships>
</file>

<file path=ppt/notesSlides/_rels/notesSlide28.xml.rels><?xml version="1.0" encoding="UTF-8" standalone="yes"?>
<Relationships xmlns="http://schemas.openxmlformats.org/package/2006/relationships"><Relationship Id="rId3" Type="http://schemas.openxmlformats.org/officeDocument/2006/relationships/slide" Target="../slides/slide30.xml"/><Relationship Id="rId2" Type="http://schemas.openxmlformats.org/officeDocument/2006/relationships/notesMaster" Target="../notesMasters/notesMaster1.xml"/><Relationship Id="rId1" Type="http://schemas.openxmlformats.org/officeDocument/2006/relationships/tags" Target="../tags/tag259.xml"/></Relationships>
</file>

<file path=ppt/notesSlides/_rels/notesSlide29.xml.rels><?xml version="1.0" encoding="UTF-8" standalone="yes"?>
<Relationships xmlns="http://schemas.openxmlformats.org/package/2006/relationships"><Relationship Id="rId3" Type="http://schemas.openxmlformats.org/officeDocument/2006/relationships/slide" Target="../slides/slide31.xml"/><Relationship Id="rId2" Type="http://schemas.openxmlformats.org/officeDocument/2006/relationships/notesMaster" Target="../notesMasters/notesMaster1.xml"/><Relationship Id="rId1" Type="http://schemas.openxmlformats.org/officeDocument/2006/relationships/tags" Target="../tags/tag263.xml"/></Relationships>
</file>

<file path=ppt/notesSlides/_rels/notesSlide30.xml.rels><?xml version="1.0" encoding="UTF-8" standalone="yes"?>
<Relationships xmlns="http://schemas.openxmlformats.org/package/2006/relationships"><Relationship Id="rId3" Type="http://schemas.openxmlformats.org/officeDocument/2006/relationships/slide" Target="../slides/slide32.xml"/><Relationship Id="rId2" Type="http://schemas.openxmlformats.org/officeDocument/2006/relationships/notesMaster" Target="../notesMasters/notesMaster1.xml"/><Relationship Id="rId1" Type="http://schemas.openxmlformats.org/officeDocument/2006/relationships/tags" Target="../tags/tag270.xml"/></Relationships>
</file>

<file path=ppt/notesSlides/_rels/notesSlide31.xml.rels><?xml version="1.0" encoding="UTF-8" standalone="yes"?>
<Relationships xmlns="http://schemas.openxmlformats.org/package/2006/relationships"><Relationship Id="rId3" Type="http://schemas.openxmlformats.org/officeDocument/2006/relationships/slide" Target="../slides/slide33.xml"/><Relationship Id="rId2" Type="http://schemas.openxmlformats.org/officeDocument/2006/relationships/notesMaster" Target="../notesMasters/notesMaster1.xml"/><Relationship Id="rId1" Type="http://schemas.openxmlformats.org/officeDocument/2006/relationships/tags" Target="../tags/tag27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892D0A53-6E89-404E-80B1-A04CA7F57A61}" type="slidenum">
              <a:rPr lang="en-US"/>
              <a:pPr/>
              <a:t>1</a:t>
            </a:fld>
            <a:endParaRPr lang="en-US"/>
          </a:p>
        </p:txBody>
      </p:sp>
      <p:sp>
        <p:nvSpPr>
          <p:cNvPr id="513026" name="Rectangle 2"/>
          <p:cNvSpPr>
            <a:spLocks noGrp="1" noRot="1" noChangeAspect="1" noChangeArrowheads="1" noTextEdit="1"/>
          </p:cNvSpPr>
          <p:nvPr>
            <p:ph type="sldImg"/>
          </p:nvPr>
        </p:nvSpPr>
        <p:spPr>
          <a:ln/>
        </p:spPr>
      </p:sp>
      <p:sp>
        <p:nvSpPr>
          <p:cNvPr id="513027" name="Rectangle 3"/>
          <p:cNvSpPr>
            <a:spLocks noGrp="1" noChangeArrowheads="1"/>
          </p:cNvSpPr>
          <p:nvPr>
            <p:ph type="body" idx="1"/>
          </p:nvPr>
        </p:nvSpPr>
        <p:spPr/>
        <p:txBody>
          <a:bodyPr/>
          <a:lstStyle/>
          <a:p>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919A448A-ECCB-4094-B08A-0A15F1D1E8B1}" type="slidenum">
              <a:rPr lang="en-US"/>
              <a:pPr/>
              <a:t>2</a:t>
            </a:fld>
            <a:endParaRPr lang="en-US"/>
          </a:p>
        </p:txBody>
      </p:sp>
      <p:sp>
        <p:nvSpPr>
          <p:cNvPr id="135170" name="Rectangle 2"/>
          <p:cNvSpPr>
            <a:spLocks noGrp="1" noRot="1" noChangeAspect="1" noChangeArrowheads="1" noTextEdit="1"/>
          </p:cNvSpPr>
          <p:nvPr>
            <p:ph type="sldImg"/>
          </p:nvPr>
        </p:nvSpPr>
        <p:spPr>
          <a:ln/>
        </p:spPr>
      </p:sp>
      <p:sp>
        <p:nvSpPr>
          <p:cNvPr id="135171" name="Rectangle 3"/>
          <p:cNvSpPr>
            <a:spLocks noGrp="1" noChangeArrowheads="1"/>
          </p:cNvSpPr>
          <p:nvPr>
            <p:ph type="body" idx="1"/>
          </p:nvPr>
        </p:nvSpPr>
        <p:spPr/>
        <p:txBody>
          <a:bodyPr/>
          <a:lstStyle/>
          <a:p>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8D751D94-5454-44E5-BD0A-181DDB4352E9}" type="slidenum">
              <a:rPr lang="en-US"/>
              <a:pPr/>
              <a:t>3</a:t>
            </a:fld>
            <a:endParaRPr lang="en-US"/>
          </a:p>
        </p:txBody>
      </p:sp>
      <p:sp>
        <p:nvSpPr>
          <p:cNvPr id="136194" name="Rectangle 2"/>
          <p:cNvSpPr>
            <a:spLocks noGrp="1" noRot="1" noChangeAspect="1" noChangeArrowheads="1" noTextEdit="1"/>
          </p:cNvSpPr>
          <p:nvPr>
            <p:ph type="sldImg"/>
          </p:nvPr>
        </p:nvSpPr>
        <p:spPr>
          <a:ln/>
        </p:spPr>
      </p:sp>
      <p:sp>
        <p:nvSpPr>
          <p:cNvPr id="136195" name="Rectangle 3"/>
          <p:cNvSpPr>
            <a:spLocks noGrp="1" noChangeArrowheads="1"/>
          </p:cNvSpPr>
          <p:nvPr>
            <p:ph type="body" idx="1"/>
          </p:nvPr>
        </p:nvSpPr>
        <p:spPr/>
        <p:txBody>
          <a:bodyPr/>
          <a:lstStyle/>
          <a:p>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F7855E91-12CA-4FA3-AB68-700D449B3CB4}" type="slidenum">
              <a:rPr lang="en-US"/>
              <a:pPr/>
              <a:t>4</a:t>
            </a:fld>
            <a:endParaRPr lang="en-US"/>
          </a:p>
        </p:txBody>
      </p:sp>
      <p:sp>
        <p:nvSpPr>
          <p:cNvPr id="332802" name="Rectangle 2"/>
          <p:cNvSpPr>
            <a:spLocks noGrp="1" noRot="1" noChangeAspect="1" noChangeArrowheads="1" noTextEdit="1"/>
          </p:cNvSpPr>
          <p:nvPr>
            <p:ph type="sldImg"/>
          </p:nvPr>
        </p:nvSpPr>
        <p:spPr>
          <a:ln/>
        </p:spPr>
      </p:sp>
      <p:sp>
        <p:nvSpPr>
          <p:cNvPr id="332803" name="Rectangle 3"/>
          <p:cNvSpPr>
            <a:spLocks noGrp="1" noChangeArrowheads="1"/>
          </p:cNvSpPr>
          <p:nvPr>
            <p:ph type="body" idx="1"/>
          </p:nvPr>
        </p:nvSpPr>
        <p:spPr/>
        <p:txBody>
          <a:bodyPr/>
          <a:lstStyle/>
          <a:p>
            <a:pPr>
              <a:buFontTx/>
              <a:buChar char="•"/>
            </a:pPr>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0419C1CB-3B22-4FAF-9DBA-DD0A7FFA6C90}" type="slidenum">
              <a:rPr lang="en-US"/>
              <a:pPr/>
              <a:t>5</a:t>
            </a:fld>
            <a:endParaRPr lang="en-US"/>
          </a:p>
        </p:txBody>
      </p:sp>
      <p:sp>
        <p:nvSpPr>
          <p:cNvPr id="448514" name="Rectangle 2"/>
          <p:cNvSpPr>
            <a:spLocks noGrp="1" noRot="1" noChangeAspect="1" noChangeArrowheads="1" noTextEdit="1"/>
          </p:cNvSpPr>
          <p:nvPr>
            <p:ph type="sldImg"/>
          </p:nvPr>
        </p:nvSpPr>
        <p:spPr>
          <a:ln/>
        </p:spPr>
      </p:sp>
      <p:sp>
        <p:nvSpPr>
          <p:cNvPr id="448515" name="Rectangle 3"/>
          <p:cNvSpPr>
            <a:spLocks noGrp="1" noChangeArrowheads="1"/>
          </p:cNvSpPr>
          <p:nvPr>
            <p:ph type="body" idx="1"/>
          </p:nvPr>
        </p:nvSpPr>
        <p:spPr/>
        <p:txBody>
          <a:bodyPr/>
          <a:lstStyle/>
          <a:p>
            <a:pPr>
              <a:buFontTx/>
              <a:buChar char="•"/>
            </a:pPr>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9CA4EF34-58D8-4EB5-A63A-61AE165105AF}" type="slidenum">
              <a:rPr lang="en-US"/>
              <a:pPr/>
              <a:t>6</a:t>
            </a:fld>
            <a:endParaRPr lang="en-US"/>
          </a:p>
        </p:txBody>
      </p:sp>
      <p:sp>
        <p:nvSpPr>
          <p:cNvPr id="361474" name="Rectangle 2"/>
          <p:cNvSpPr>
            <a:spLocks noGrp="1" noRot="1" noChangeAspect="1" noChangeArrowheads="1" noTextEdit="1"/>
          </p:cNvSpPr>
          <p:nvPr>
            <p:ph type="sldImg"/>
          </p:nvPr>
        </p:nvSpPr>
        <p:spPr>
          <a:ln/>
        </p:spPr>
      </p:sp>
      <p:sp>
        <p:nvSpPr>
          <p:cNvPr id="361475" name="Rectangle 3"/>
          <p:cNvSpPr>
            <a:spLocks noGrp="1" noChangeArrowheads="1"/>
          </p:cNvSpPr>
          <p:nvPr>
            <p:ph type="body" idx="1"/>
          </p:nvPr>
        </p:nvSpPr>
        <p:spPr/>
        <p:txBody>
          <a:bodyPr/>
          <a:lstStyle/>
          <a:p>
            <a:pPr>
              <a:buFontTx/>
              <a:buChar char="•"/>
            </a:pPr>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CD3ADB1C-0707-4FF4-9C8C-ADB091E2444D}" type="slidenum">
              <a:rPr lang="en-US"/>
              <a:pPr/>
              <a:t>7</a:t>
            </a:fld>
            <a:endParaRPr lang="en-US"/>
          </a:p>
        </p:txBody>
      </p:sp>
      <p:sp>
        <p:nvSpPr>
          <p:cNvPr id="363522" name="Rectangle 2"/>
          <p:cNvSpPr>
            <a:spLocks noGrp="1" noRot="1" noChangeAspect="1" noChangeArrowheads="1" noTextEdit="1"/>
          </p:cNvSpPr>
          <p:nvPr>
            <p:ph type="sldImg"/>
          </p:nvPr>
        </p:nvSpPr>
        <p:spPr>
          <a:ln/>
        </p:spPr>
      </p:sp>
      <p:sp>
        <p:nvSpPr>
          <p:cNvPr id="363523" name="Rectangle 3"/>
          <p:cNvSpPr>
            <a:spLocks noGrp="1" noChangeArrowheads="1"/>
          </p:cNvSpPr>
          <p:nvPr>
            <p:ph type="body" idx="1"/>
          </p:nvPr>
        </p:nvSpPr>
        <p:spPr/>
        <p:txBody>
          <a:bodyPr/>
          <a:lstStyle/>
          <a:p>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BCC37FA2-FC4A-45A0-8F6E-6BDC17BCDF0F}" type="slidenum">
              <a:rPr lang="en-US"/>
              <a:pPr/>
              <a:t>8</a:t>
            </a:fld>
            <a:endParaRPr lang="en-US"/>
          </a:p>
        </p:txBody>
      </p:sp>
      <p:sp>
        <p:nvSpPr>
          <p:cNvPr id="392194" name="Rectangle 2"/>
          <p:cNvSpPr>
            <a:spLocks noGrp="1" noRot="1" noChangeAspect="1" noChangeArrowheads="1" noTextEdit="1"/>
          </p:cNvSpPr>
          <p:nvPr>
            <p:ph type="sldImg"/>
          </p:nvPr>
        </p:nvSpPr>
        <p:spPr>
          <a:ln/>
        </p:spPr>
      </p:sp>
      <p:sp>
        <p:nvSpPr>
          <p:cNvPr id="392195" name="Rectangle 3"/>
          <p:cNvSpPr>
            <a:spLocks noGrp="1" noChangeArrowheads="1"/>
          </p:cNvSpPr>
          <p:nvPr>
            <p:ph type="body" idx="1"/>
          </p:nvPr>
        </p:nvSpPr>
        <p:spPr/>
        <p:txBody>
          <a:bodyPr/>
          <a:lstStyle/>
          <a:p>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24E3CD04-447B-4609-934E-E1E6E50071A9}" type="slidenum">
              <a:rPr lang="en-US"/>
              <a:pPr/>
              <a:t>9</a:t>
            </a:fld>
            <a:endParaRPr lang="en-US"/>
          </a:p>
        </p:txBody>
      </p:sp>
      <p:sp>
        <p:nvSpPr>
          <p:cNvPr id="178178" name="Rectangle 2"/>
          <p:cNvSpPr>
            <a:spLocks noGrp="1" noRot="1" noChangeAspect="1" noChangeArrowheads="1" noTextEdit="1"/>
          </p:cNvSpPr>
          <p:nvPr>
            <p:ph type="sldImg"/>
          </p:nvPr>
        </p:nvSpPr>
        <p:spPr>
          <a:ln/>
        </p:spPr>
      </p:sp>
      <p:sp>
        <p:nvSpPr>
          <p:cNvPr id="178179"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781B1969-2F71-4B88-B873-77DE7BDE5A97}" type="slidenum">
              <a:rPr lang="en-US"/>
              <a:pPr/>
              <a:t>10</a:t>
            </a:fld>
            <a:endParaRPr lang="en-US"/>
          </a:p>
        </p:txBody>
      </p:sp>
      <p:sp>
        <p:nvSpPr>
          <p:cNvPr id="475138" name="Rectangle 2"/>
          <p:cNvSpPr>
            <a:spLocks noGrp="1" noRot="1" noChangeAspect="1" noChangeArrowheads="1" noTextEdit="1"/>
          </p:cNvSpPr>
          <p:nvPr>
            <p:ph type="sldImg"/>
          </p:nvPr>
        </p:nvSpPr>
        <p:spPr>
          <a:ln/>
        </p:spPr>
      </p:sp>
      <p:sp>
        <p:nvSpPr>
          <p:cNvPr id="475139" name="Rectangle 3"/>
          <p:cNvSpPr>
            <a:spLocks noGrp="1" noChangeArrowheads="1"/>
          </p:cNvSpPr>
          <p:nvPr>
            <p:ph type="body" idx="1"/>
          </p:nvPr>
        </p:nvSpPr>
        <p:spPr/>
        <p:txBody>
          <a:bodyPr/>
          <a:lstStyle/>
          <a:p>
            <a:pPr>
              <a:buFontTx/>
              <a:buChar char="•"/>
            </a:pPr>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C2DD7745-AEF8-46E3-A4D9-4AE4E2D3C0B8}" type="slidenum">
              <a:rPr lang="en-US"/>
              <a:pPr/>
              <a:t>12</a:t>
            </a:fld>
            <a:endParaRPr lang="en-US"/>
          </a:p>
        </p:txBody>
      </p:sp>
      <p:sp>
        <p:nvSpPr>
          <p:cNvPr id="473090" name="Rectangle 2"/>
          <p:cNvSpPr>
            <a:spLocks noGrp="1" noRot="1" noChangeAspect="1" noChangeArrowheads="1" noTextEdit="1"/>
          </p:cNvSpPr>
          <p:nvPr>
            <p:ph type="sldImg"/>
          </p:nvPr>
        </p:nvSpPr>
        <p:spPr>
          <a:ln/>
        </p:spPr>
      </p:sp>
      <p:sp>
        <p:nvSpPr>
          <p:cNvPr id="473091" name="Rectangle 3"/>
          <p:cNvSpPr>
            <a:spLocks noGrp="1" noChangeArrowheads="1"/>
          </p:cNvSpPr>
          <p:nvPr>
            <p:ph type="body" idx="1"/>
          </p:nvPr>
        </p:nvSpPr>
        <p:spPr/>
        <p:txBody>
          <a:bodyPr/>
          <a:lstStyle/>
          <a:p>
            <a:pPr lvl="1">
              <a:buFontTx/>
              <a:buChar char="•"/>
            </a:pPr>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EEE03E3F-D319-44FA-A66E-E85AEC4EF246}" type="slidenum">
              <a:rPr lang="en-US"/>
              <a:pPr/>
              <a:t>13</a:t>
            </a:fld>
            <a:endParaRPr lang="en-US"/>
          </a:p>
        </p:txBody>
      </p:sp>
      <p:sp>
        <p:nvSpPr>
          <p:cNvPr id="381954" name="Rectangle 2"/>
          <p:cNvSpPr>
            <a:spLocks noGrp="1" noRot="1" noChangeAspect="1" noChangeArrowheads="1" noTextEdit="1"/>
          </p:cNvSpPr>
          <p:nvPr>
            <p:ph type="sldImg"/>
          </p:nvPr>
        </p:nvSpPr>
        <p:spPr>
          <a:ln/>
        </p:spPr>
      </p:sp>
      <p:sp>
        <p:nvSpPr>
          <p:cNvPr id="381955"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hdr" sz="quarter"/>
          </p:nvPr>
        </p:nvSpPr>
        <p:spPr>
          <a:noFill/>
        </p:spPr>
        <p:txBody>
          <a:bodyPr/>
          <a:lstStyle/>
          <a:p>
            <a:r>
              <a:rPr lang="en-US"/>
              <a:t>Module 6: Configuring and Troubleshooting Routing and Remote Access</a:t>
            </a:r>
          </a:p>
        </p:txBody>
      </p:sp>
      <p:sp>
        <p:nvSpPr>
          <p:cNvPr id="56323" name="Rectangle 3"/>
          <p:cNvSpPr>
            <a:spLocks noGrp="1" noChangeArrowheads="1"/>
          </p:cNvSpPr>
          <p:nvPr>
            <p:ph type="dt" sz="quarter" idx="1"/>
          </p:nvPr>
        </p:nvSpPr>
        <p:spPr>
          <a:noFill/>
        </p:spPr>
        <p:txBody>
          <a:bodyPr/>
          <a:lstStyle/>
          <a:p>
            <a:r>
              <a:rPr lang="en-US"/>
              <a:t>Course 6421A</a:t>
            </a:r>
          </a:p>
        </p:txBody>
      </p:sp>
      <p:sp>
        <p:nvSpPr>
          <p:cNvPr id="56324" name="Rectangle 7"/>
          <p:cNvSpPr>
            <a:spLocks noGrp="1" noChangeArrowheads="1"/>
          </p:cNvSpPr>
          <p:nvPr>
            <p:ph type="sldNum" sz="quarter" idx="5"/>
          </p:nvPr>
        </p:nvSpPr>
        <p:spPr>
          <a:noFill/>
        </p:spPr>
        <p:txBody>
          <a:bodyPr/>
          <a:lstStyle/>
          <a:p>
            <a:fld id="{CD4C0BA3-A449-486A-B8F4-291E05D42D3E}" type="slidenum">
              <a:rPr lang="en-US" smtClean="0"/>
              <a:pPr/>
              <a:t>14</a:t>
            </a:fld>
            <a:endParaRPr lang="en-US"/>
          </a:p>
        </p:txBody>
      </p:sp>
      <p:sp>
        <p:nvSpPr>
          <p:cNvPr id="56325" name="Rectangle 2"/>
          <p:cNvSpPr>
            <a:spLocks noGrp="1" noRot="1" noChangeAspect="1" noChangeArrowheads="1" noTextEdit="1"/>
          </p:cNvSpPr>
          <p:nvPr>
            <p:ph type="sldImg"/>
          </p:nvPr>
        </p:nvSpPr>
        <p:spPr>
          <a:ln/>
        </p:spPr>
      </p:sp>
      <p:sp>
        <p:nvSpPr>
          <p:cNvPr id="56326" name="Rectangle 3"/>
          <p:cNvSpPr>
            <a:spLocks noGrp="1" noChangeArrowheads="1"/>
          </p:cNvSpPr>
          <p:nvPr>
            <p:ph type="body" idx="1"/>
          </p:nvPr>
        </p:nvSpPr>
        <p:spPr>
          <a:xfrm>
            <a:off x="313756" y="2181416"/>
            <a:ext cx="6275111" cy="6834364"/>
          </a:xfrm>
          <a:noFill/>
          <a:ln/>
        </p:spPr>
        <p:txBody>
          <a:bodyPr/>
          <a:lstStyle/>
          <a:p>
            <a:pPr eaLnBrk="1" hangingPunct="1"/>
            <a:r>
              <a:rPr lang="en-US"/>
              <a:t>Talk to the students about the different support for each of the client protocols:</a:t>
            </a:r>
          </a:p>
          <a:p>
            <a:pPr lvl="1" eaLnBrk="1" hangingPunct="1"/>
            <a:r>
              <a:rPr lang="en-US"/>
              <a:t>Point-to-Point Tunneling Protocol (PPTP): Widely usable on a variety of Microsoft clients</a:t>
            </a:r>
          </a:p>
          <a:p>
            <a:pPr lvl="1" eaLnBrk="1" hangingPunct="1"/>
            <a:r>
              <a:rPr lang="en-US"/>
              <a:t>Layer Two Tunneling Protocol (L2TP): Windows 2000, Windows XP, or Windows Vista™</a:t>
            </a:r>
          </a:p>
          <a:p>
            <a:pPr lvl="1" eaLnBrk="1" hangingPunct="1"/>
            <a:r>
              <a:rPr lang="en-US"/>
              <a:t>Secure Socket Tunneling Protocol (SSTP): Windows Vista SP1 or Windows Server 2008</a:t>
            </a:r>
          </a:p>
          <a:p>
            <a:pPr eaLnBrk="1" hangingPunct="1"/>
            <a:r>
              <a:rPr lang="en-US"/>
              <a:t>The student CD contains the following information on the benefits and disadvantages of each tunneling protocol. Use the student CD information when presenting this topic.</a:t>
            </a:r>
          </a:p>
          <a:p>
            <a:pPr eaLnBrk="1" hangingPunct="1"/>
            <a:r>
              <a:rPr lang="en-US"/>
              <a:t>Choosing between tunneling protocols</a:t>
            </a:r>
          </a:p>
          <a:p>
            <a:pPr eaLnBrk="1" hangingPunct="1"/>
            <a:r>
              <a:rPr lang="en-US"/>
              <a:t>When choosing between PPTP, L2TP/IPsec, and SSTP remote access VPN solutions, consider the following:</a:t>
            </a:r>
          </a:p>
          <a:p>
            <a:pPr eaLnBrk="1" hangingPunct="1"/>
            <a:r>
              <a:rPr lang="en-US"/>
              <a:t>•	You can use PPTP with a variety of Microsoft clients, including Microsoft Windows 2000, Windows XP, Windows Vista, and Windows Server 2008. Unlike L2TP/IPsec, PPTP does not require the use of a public key infrastructure (PKI). By using encryption, PPTP-based VPN connections provide data confidentiality, as captured packets cannot be interpreted without the encryption key. PPTP-based VPN connections, however, do not provide data integrity (proof that the data was not modified in transit) or data-origin authentication (proof that the data was sent by the authorized user).</a:t>
            </a:r>
          </a:p>
          <a:p>
            <a:pPr eaLnBrk="1" hangingPunct="1"/>
            <a:r>
              <a:rPr lang="en-US"/>
              <a:t>•	You can use L2TP only with client computers running Windows 2000, Windows XP, or Windows Vista. L2TP supports either computer certificates or a preshared key as the IPsec authentication method. Computer certificate authentication, the recommended authentication method, requires a PKI to issue computer certificates to the VPN server computer and all VPN client computers. By using IPsec, L2TP/IPsec VPN connections provide data confidentiality, integrity, and authentication.</a:t>
            </a:r>
          </a:p>
          <a:p>
            <a:pPr eaLnBrk="1" hangingPunct="1"/>
            <a:r>
              <a:rPr lang="en-US"/>
              <a:t>•	Unlike PPTP and SSTP, L2TP/IPsec enables computer authentication at the IPsec layer and user-level authentication at the PPP layer.</a:t>
            </a:r>
          </a:p>
          <a:p>
            <a:pPr eaLnBrk="1" hangingPunct="1"/>
            <a:r>
              <a:rPr lang="en-US"/>
              <a:t>•	You can use SSTP only with client computers running Windows Vista Service Pack 1 (SP1) or Windows Server 2008. By using SSL, SSTP VPN connections provide data confidentiality, integrity, and authentication. </a:t>
            </a:r>
          </a:p>
          <a:p>
            <a:pPr eaLnBrk="1" hangingPunct="1"/>
            <a:r>
              <a:rPr lang="en-US"/>
              <a:t>•	All three tunnel types carry PPP frames on top of the network protocol stack. Therefore, the common features of PPP, such as authentication schemes, NAP, and Internet Protocol version 4 (IPv4) and Internet Protocol version 6 (IPV6) negotiation, are the same for the three tunnel types.</a:t>
            </a:r>
          </a:p>
          <a:p>
            <a:pPr eaLnBrk="1" hangingPunct="1"/>
            <a:r>
              <a:rPr lang="en-US" b="1"/>
              <a:t>References</a:t>
            </a:r>
          </a:p>
          <a:p>
            <a:pPr eaLnBrk="1" hangingPunct="1"/>
            <a:r>
              <a:rPr lang="en-US"/>
              <a:t>Help Topic: VPN Tunneling Protocols </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EF2602BD-30C2-44FB-8302-00EDE2C9AE1E}" type="slidenum">
              <a:rPr lang="en-US"/>
              <a:pPr/>
              <a:t>15</a:t>
            </a:fld>
            <a:endParaRPr lang="en-US"/>
          </a:p>
        </p:txBody>
      </p:sp>
      <p:sp>
        <p:nvSpPr>
          <p:cNvPr id="482306" name="Rectangle 2"/>
          <p:cNvSpPr>
            <a:spLocks noGrp="1" noRot="1" noChangeAspect="1" noChangeArrowheads="1" noTextEdit="1"/>
          </p:cNvSpPr>
          <p:nvPr>
            <p:ph type="sldImg"/>
          </p:nvPr>
        </p:nvSpPr>
        <p:spPr>
          <a:ln/>
        </p:spPr>
      </p:sp>
      <p:sp>
        <p:nvSpPr>
          <p:cNvPr id="482307"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E4331E93-4B2E-4CDF-9220-C6A67392AC69}" type="slidenum">
              <a:rPr lang="en-US"/>
              <a:pPr/>
              <a:t>16</a:t>
            </a:fld>
            <a:endParaRPr lang="en-US"/>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pPr lvl="1"/>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CE80F195-6DFA-42D2-856E-CBDF8AB3302C}" type="slidenum">
              <a:rPr lang="en-US"/>
              <a:pPr/>
              <a:t>17</a:t>
            </a:fld>
            <a:endParaRPr lang="en-US"/>
          </a:p>
        </p:txBody>
      </p:sp>
      <p:sp>
        <p:nvSpPr>
          <p:cNvPr id="478210" name="Rectangle 2"/>
          <p:cNvSpPr>
            <a:spLocks noGrp="1" noRot="1" noChangeAspect="1" noChangeArrowheads="1" noTextEdit="1"/>
          </p:cNvSpPr>
          <p:nvPr>
            <p:ph type="sldImg"/>
          </p:nvPr>
        </p:nvSpPr>
        <p:spPr>
          <a:ln/>
        </p:spPr>
      </p:sp>
      <p:sp>
        <p:nvSpPr>
          <p:cNvPr id="478211" name="Rectangle 3"/>
          <p:cNvSpPr>
            <a:spLocks noGrp="1" noChangeArrowheads="1"/>
          </p:cNvSpPr>
          <p:nvPr>
            <p:ph type="body" idx="1"/>
          </p:nvPr>
        </p:nvSpPr>
        <p:spPr/>
        <p:txBody>
          <a:bodyPr/>
          <a:lstStyle/>
          <a:p>
            <a:pPr>
              <a:buFontTx/>
              <a:buChar char="•"/>
            </a:pPr>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25FC5A03-ABAA-4BE5-B4F0-46E4D164ED04}" type="slidenum">
              <a:rPr lang="en-US"/>
              <a:pPr/>
              <a:t>18</a:t>
            </a:fld>
            <a:endParaRPr lang="en-US"/>
          </a:p>
        </p:txBody>
      </p:sp>
      <p:sp>
        <p:nvSpPr>
          <p:cNvPr id="486402" name="Rectangle 2"/>
          <p:cNvSpPr>
            <a:spLocks noGrp="1" noRot="1" noChangeAspect="1" noChangeArrowheads="1" noTextEdit="1"/>
          </p:cNvSpPr>
          <p:nvPr>
            <p:ph type="sldImg"/>
          </p:nvPr>
        </p:nvSpPr>
        <p:spPr>
          <a:ln/>
        </p:spPr>
      </p:sp>
      <p:sp>
        <p:nvSpPr>
          <p:cNvPr id="486403" name="Rectangle 3"/>
          <p:cNvSpPr>
            <a:spLocks noGrp="1" noChangeArrowheads="1"/>
          </p:cNvSpPr>
          <p:nvPr>
            <p:ph type="body" idx="1"/>
          </p:nvPr>
        </p:nvSpPr>
        <p:spPr/>
        <p:txBody>
          <a:bodyPr/>
          <a:lstStyle/>
          <a:p>
            <a:pPr lvl="1">
              <a:buFontTx/>
              <a:buChar char="•"/>
            </a:pPr>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BCC37FA2-FC4A-45A0-8F6E-6BDC17BCDF0F}" type="slidenum">
              <a:rPr lang="en-US"/>
              <a:pPr/>
              <a:t>19</a:t>
            </a:fld>
            <a:endParaRPr lang="en-US"/>
          </a:p>
        </p:txBody>
      </p:sp>
      <p:sp>
        <p:nvSpPr>
          <p:cNvPr id="392194" name="Rectangle 2"/>
          <p:cNvSpPr>
            <a:spLocks noGrp="1" noRot="1" noChangeAspect="1" noChangeArrowheads="1" noTextEdit="1"/>
          </p:cNvSpPr>
          <p:nvPr>
            <p:ph type="sldImg"/>
          </p:nvPr>
        </p:nvSpPr>
        <p:spPr>
          <a:ln/>
        </p:spPr>
      </p:sp>
      <p:sp>
        <p:nvSpPr>
          <p:cNvPr id="392195" name="Rectangle 3"/>
          <p:cNvSpPr>
            <a:spLocks noGrp="1" noChangeArrowheads="1"/>
          </p:cNvSpPr>
          <p:nvPr>
            <p:ph type="body" idx="1"/>
          </p:nvPr>
        </p:nvSpPr>
        <p:spPr/>
        <p:txBody>
          <a:bodyPr/>
          <a:lstStyle/>
          <a:p>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9D39B331-6064-4192-BA80-72DEADFE0144}" type="slidenum">
              <a:rPr lang="en-US"/>
              <a:pPr/>
              <a:t>20</a:t>
            </a:fld>
            <a:endParaRPr lang="en-US"/>
          </a:p>
        </p:txBody>
      </p:sp>
      <p:sp>
        <p:nvSpPr>
          <p:cNvPr id="488450" name="Rectangle 2"/>
          <p:cNvSpPr>
            <a:spLocks noGrp="1" noRot="1" noChangeAspect="1" noChangeArrowheads="1" noTextEdit="1"/>
          </p:cNvSpPr>
          <p:nvPr>
            <p:ph type="sldImg"/>
          </p:nvPr>
        </p:nvSpPr>
        <p:spPr>
          <a:ln/>
        </p:spPr>
      </p:sp>
      <p:sp>
        <p:nvSpPr>
          <p:cNvPr id="488451" name="Rectangle 3"/>
          <p:cNvSpPr>
            <a:spLocks noGrp="1" noChangeArrowheads="1"/>
          </p:cNvSpPr>
          <p:nvPr>
            <p:ph type="body" idx="1"/>
          </p:nvPr>
        </p:nvSpPr>
        <p:spPr/>
        <p:txBody>
          <a:bodyPr/>
          <a:lstStyle/>
          <a:p>
            <a:endParaRPr 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E2DA2F1A-721C-489E-86D0-8659BF1DB27B}" type="slidenum">
              <a:rPr lang="en-US"/>
              <a:pPr/>
              <a:t>21</a:t>
            </a:fld>
            <a:endParaRPr lang="en-US"/>
          </a:p>
        </p:txBody>
      </p:sp>
      <p:sp>
        <p:nvSpPr>
          <p:cNvPr id="261122" name="Rectangle 2"/>
          <p:cNvSpPr>
            <a:spLocks noGrp="1" noRot="1" noChangeAspect="1" noChangeArrowheads="1" noTextEdit="1"/>
          </p:cNvSpPr>
          <p:nvPr>
            <p:ph type="sldImg"/>
          </p:nvPr>
        </p:nvSpPr>
        <p:spPr>
          <a:ln/>
        </p:spPr>
      </p:sp>
      <p:sp>
        <p:nvSpPr>
          <p:cNvPr id="261123" name="Rectangle 3"/>
          <p:cNvSpPr>
            <a:spLocks noGrp="1" noChangeArrowheads="1"/>
          </p:cNvSpPr>
          <p:nvPr>
            <p:ph type="body" idx="1"/>
          </p:nvPr>
        </p:nvSpPr>
        <p:spPr/>
        <p:txBody>
          <a:bodyPr/>
          <a:lstStyle/>
          <a:p>
            <a:pPr>
              <a:buFontTx/>
              <a:buChar char="•"/>
            </a:pPr>
            <a:endParaRPr 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72923EB8-6B7F-4108-8673-F0697841FB2D}" type="slidenum">
              <a:rPr lang="en-US"/>
              <a:pPr/>
              <a:t>22</a:t>
            </a:fld>
            <a:endParaRPr lang="en-US"/>
          </a:p>
        </p:txBody>
      </p:sp>
      <p:sp>
        <p:nvSpPr>
          <p:cNvPr id="520194" name="Rectangle 2"/>
          <p:cNvSpPr>
            <a:spLocks noGrp="1" noRot="1" noChangeAspect="1" noChangeArrowheads="1" noTextEdit="1"/>
          </p:cNvSpPr>
          <p:nvPr>
            <p:ph type="sldImg"/>
          </p:nvPr>
        </p:nvSpPr>
        <p:spPr>
          <a:ln/>
        </p:spPr>
      </p:sp>
      <p:sp>
        <p:nvSpPr>
          <p:cNvPr id="520195" name="Rectangle 3"/>
          <p:cNvSpPr>
            <a:spLocks noGrp="1" noChangeArrowheads="1"/>
          </p:cNvSpPr>
          <p:nvPr>
            <p:ph type="body" idx="1"/>
          </p:nvPr>
        </p:nvSpPr>
        <p:spPr/>
        <p:txBody>
          <a:bodyPr/>
          <a:lstStyle/>
          <a:p>
            <a:endParaRPr lang="en-GB"/>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C18FF295-5BB2-48AC-A3CE-D1C1C3CBCAC2}" type="slidenum">
              <a:rPr lang="en-US"/>
              <a:pPr/>
              <a:t>23</a:t>
            </a:fld>
            <a:endParaRPr lang="en-US"/>
          </a:p>
        </p:txBody>
      </p:sp>
      <p:sp>
        <p:nvSpPr>
          <p:cNvPr id="502786" name="Rectangle 2"/>
          <p:cNvSpPr>
            <a:spLocks noGrp="1" noRot="1" noChangeAspect="1" noChangeArrowheads="1" noTextEdit="1"/>
          </p:cNvSpPr>
          <p:nvPr>
            <p:ph type="sldImg"/>
          </p:nvPr>
        </p:nvSpPr>
        <p:spPr>
          <a:ln/>
        </p:spPr>
      </p:sp>
      <p:sp>
        <p:nvSpPr>
          <p:cNvPr id="502787" name="Rectangle 3"/>
          <p:cNvSpPr>
            <a:spLocks noGrp="1" noChangeArrowheads="1"/>
          </p:cNvSpPr>
          <p:nvPr>
            <p:ph type="body" idx="1"/>
          </p:nvPr>
        </p:nvSpPr>
        <p:spPr/>
        <p:txBody>
          <a:bodyPr/>
          <a:lstStyle/>
          <a:p>
            <a:pPr lvl="1">
              <a:buFontTx/>
              <a:buChar char="•"/>
            </a:pPr>
            <a:endParaRPr lang="en-GB"/>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15B8EFE6-1B62-4293-BBCB-4471EC6D5C8A}" type="slidenum">
              <a:rPr lang="en-US"/>
              <a:pPr/>
              <a:t>24</a:t>
            </a:fld>
            <a:endParaRPr lang="en-US"/>
          </a:p>
        </p:txBody>
      </p:sp>
      <p:sp>
        <p:nvSpPr>
          <p:cNvPr id="463874" name="Rectangle 2"/>
          <p:cNvSpPr>
            <a:spLocks noGrp="1" noRot="1" noChangeAspect="1" noChangeArrowheads="1" noTextEdit="1"/>
          </p:cNvSpPr>
          <p:nvPr>
            <p:ph type="sldImg"/>
          </p:nvPr>
        </p:nvSpPr>
        <p:spPr>
          <a:ln/>
        </p:spPr>
      </p:sp>
      <p:sp>
        <p:nvSpPr>
          <p:cNvPr id="463875" name="Rectangle 3"/>
          <p:cNvSpPr>
            <a:spLocks noGrp="1" noChangeArrowheads="1"/>
          </p:cNvSpPr>
          <p:nvPr>
            <p:ph type="body" idx="1"/>
          </p:nvPr>
        </p:nvSpPr>
        <p:spPr/>
        <p:txBody>
          <a:bodyPr/>
          <a:lstStyle/>
          <a:p>
            <a:pPr>
              <a:lnSpc>
                <a:spcPct val="80000"/>
              </a:lnSpc>
            </a:pPr>
            <a:endParaRPr lang="en-GB" sz="70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6394A1AA-3342-4F85-A939-C095DAE6FAD0}" type="slidenum">
              <a:rPr lang="en-US"/>
              <a:pPr/>
              <a:t>25</a:t>
            </a:fld>
            <a:endParaRPr lang="en-US"/>
          </a:p>
        </p:txBody>
      </p:sp>
      <p:sp>
        <p:nvSpPr>
          <p:cNvPr id="415746" name="Rectangle 2"/>
          <p:cNvSpPr>
            <a:spLocks noGrp="1" noRot="1" noChangeAspect="1" noChangeArrowheads="1" noTextEdit="1"/>
          </p:cNvSpPr>
          <p:nvPr>
            <p:ph type="sldImg"/>
          </p:nvPr>
        </p:nvSpPr>
        <p:spPr>
          <a:ln/>
        </p:spPr>
      </p:sp>
      <p:sp>
        <p:nvSpPr>
          <p:cNvPr id="415747" name="Rectangle 3"/>
          <p:cNvSpPr>
            <a:spLocks noGrp="1" noChangeArrowheads="1"/>
          </p:cNvSpPr>
          <p:nvPr>
            <p:ph type="body" idx="1"/>
          </p:nvPr>
        </p:nvSpPr>
        <p:spPr/>
        <p:txBody>
          <a:bodyPr/>
          <a:lstStyle/>
          <a:p>
            <a:endParaRPr lang="en-GB"/>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B0002D94-67F3-446D-823F-34792A4B2606}" type="slidenum">
              <a:rPr lang="en-US"/>
              <a:pPr/>
              <a:t>26</a:t>
            </a:fld>
            <a:endParaRPr lang="en-US"/>
          </a:p>
        </p:txBody>
      </p:sp>
      <p:sp>
        <p:nvSpPr>
          <p:cNvPr id="417794" name="Rectangle 2"/>
          <p:cNvSpPr>
            <a:spLocks noGrp="1" noRot="1" noChangeAspect="1" noChangeArrowheads="1" noTextEdit="1"/>
          </p:cNvSpPr>
          <p:nvPr>
            <p:ph type="sldImg"/>
          </p:nvPr>
        </p:nvSpPr>
        <p:spPr>
          <a:ln/>
        </p:spPr>
      </p:sp>
      <p:sp>
        <p:nvSpPr>
          <p:cNvPr id="417795" name="Rectangle 3"/>
          <p:cNvSpPr>
            <a:spLocks noGrp="1" noChangeArrowheads="1"/>
          </p:cNvSpPr>
          <p:nvPr>
            <p:ph type="body" idx="1"/>
          </p:nvPr>
        </p:nvSpPr>
        <p:spPr/>
        <p:txBody>
          <a:bodyPr/>
          <a:lstStyle/>
          <a:p>
            <a:endParaRPr lang="en-GB"/>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03C45AFE-6847-4F03-A3E2-DA7106ADDF3F}" type="slidenum">
              <a:rPr lang="en-US"/>
              <a:pPr/>
              <a:t>27</a:t>
            </a:fld>
            <a:endParaRPr lang="en-US"/>
          </a:p>
        </p:txBody>
      </p:sp>
      <p:sp>
        <p:nvSpPr>
          <p:cNvPr id="423938" name="Rectangle 2"/>
          <p:cNvSpPr>
            <a:spLocks noGrp="1" noRot="1" noChangeAspect="1" noChangeArrowheads="1" noTextEdit="1"/>
          </p:cNvSpPr>
          <p:nvPr>
            <p:ph type="sldImg"/>
          </p:nvPr>
        </p:nvSpPr>
        <p:spPr>
          <a:ln/>
        </p:spPr>
      </p:sp>
      <p:sp>
        <p:nvSpPr>
          <p:cNvPr id="423939" name="Rectangle 3"/>
          <p:cNvSpPr>
            <a:spLocks noGrp="1" noChangeArrowheads="1"/>
          </p:cNvSpPr>
          <p:nvPr>
            <p:ph type="body" idx="1"/>
          </p:nvPr>
        </p:nvSpPr>
        <p:spPr/>
        <p:txBody>
          <a:bodyPr/>
          <a:lstStyle/>
          <a:p>
            <a:endParaRPr lang="en-GB"/>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251B1A77-38C0-4983-B9AE-CF77F590CF8C}" type="slidenum">
              <a:rPr lang="en-US"/>
              <a:pPr/>
              <a:t>29</a:t>
            </a:fld>
            <a:endParaRPr lang="en-US"/>
          </a:p>
        </p:txBody>
      </p:sp>
      <p:sp>
        <p:nvSpPr>
          <p:cNvPr id="432130" name="Rectangle 2"/>
          <p:cNvSpPr>
            <a:spLocks noGrp="1" noRot="1" noChangeAspect="1" noChangeArrowheads="1" noTextEdit="1"/>
          </p:cNvSpPr>
          <p:nvPr>
            <p:ph type="sldImg"/>
          </p:nvPr>
        </p:nvSpPr>
        <p:spPr>
          <a:ln/>
        </p:spPr>
      </p:sp>
      <p:sp>
        <p:nvSpPr>
          <p:cNvPr id="432131" name="Rectangle 3"/>
          <p:cNvSpPr>
            <a:spLocks noGrp="1" noChangeArrowheads="1"/>
          </p:cNvSpPr>
          <p:nvPr>
            <p:ph type="body" idx="1"/>
          </p:nvPr>
        </p:nvSpPr>
        <p:spPr/>
        <p:txBody>
          <a:bodyPr/>
          <a:lstStyle/>
          <a:p>
            <a:endParaRPr lang="en-GB"/>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14D4D713-9FE7-4251-A7D2-A2D661AB5DD6}" type="slidenum">
              <a:rPr lang="en-US"/>
              <a:pPr/>
              <a:t>30</a:t>
            </a:fld>
            <a:endParaRPr lang="en-US"/>
          </a:p>
        </p:txBody>
      </p:sp>
      <p:sp>
        <p:nvSpPr>
          <p:cNvPr id="193538" name="Rectangle 2"/>
          <p:cNvSpPr>
            <a:spLocks noGrp="1" noRot="1" noChangeAspect="1" noChangeArrowheads="1" noTextEdit="1"/>
          </p:cNvSpPr>
          <p:nvPr>
            <p:ph type="sldImg"/>
          </p:nvPr>
        </p:nvSpPr>
        <p:spPr>
          <a:ln/>
        </p:spPr>
      </p:sp>
      <p:sp>
        <p:nvSpPr>
          <p:cNvPr id="193539" name="Rectangle 3"/>
          <p:cNvSpPr>
            <a:spLocks noGrp="1" noChangeArrowheads="1"/>
          </p:cNvSpPr>
          <p:nvPr>
            <p:ph type="body" idx="1"/>
          </p:nvPr>
        </p:nvSpPr>
        <p:spPr/>
        <p:txBody>
          <a:bodyPr/>
          <a:lstStyle/>
          <a:p>
            <a:endParaRPr lang="en-GB"/>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FE894332-A09E-427C-AB09-EE2B19562E81}" type="slidenum">
              <a:rPr lang="en-US"/>
              <a:pPr/>
              <a:t>31</a:t>
            </a:fld>
            <a:endParaRPr lang="en-US"/>
          </a:p>
        </p:txBody>
      </p:sp>
      <p:sp>
        <p:nvSpPr>
          <p:cNvPr id="310274" name="Rectangle 2"/>
          <p:cNvSpPr>
            <a:spLocks noGrp="1" noRot="1" noChangeAspect="1" noChangeArrowheads="1" noTextEdit="1"/>
          </p:cNvSpPr>
          <p:nvPr>
            <p:ph type="sldImg"/>
          </p:nvPr>
        </p:nvSpPr>
        <p:spPr>
          <a:ln/>
        </p:spPr>
      </p:sp>
      <p:sp>
        <p:nvSpPr>
          <p:cNvPr id="310275" name="Rectangle 3"/>
          <p:cNvSpPr>
            <a:spLocks noGrp="1" noChangeArrowheads="1"/>
          </p:cNvSpPr>
          <p:nvPr>
            <p:ph type="body" idx="1"/>
          </p:nvPr>
        </p:nvSpPr>
        <p:spPr/>
        <p:txBody>
          <a:bodyPr/>
          <a:lstStyle/>
          <a:p>
            <a:pPr>
              <a:lnSpc>
                <a:spcPct val="80000"/>
              </a:lnSpc>
            </a:pPr>
            <a:endParaRPr lang="en-GB" sz="8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25B26BBC-E6DC-49C3-8A41-E8A1DB4F6DF4}" type="slidenum">
              <a:rPr lang="en-US"/>
              <a:pPr/>
              <a:t>32</a:t>
            </a:fld>
            <a:endParaRPr lang="en-US"/>
          </a:p>
        </p:txBody>
      </p:sp>
      <p:sp>
        <p:nvSpPr>
          <p:cNvPr id="451586" name="Rectangle 2"/>
          <p:cNvSpPr>
            <a:spLocks noGrp="1" noRot="1" noChangeAspect="1" noChangeArrowheads="1" noTextEdit="1"/>
          </p:cNvSpPr>
          <p:nvPr>
            <p:ph type="sldImg"/>
          </p:nvPr>
        </p:nvSpPr>
        <p:spPr>
          <a:ln/>
        </p:spPr>
      </p:sp>
      <p:sp>
        <p:nvSpPr>
          <p:cNvPr id="451587" name="Rectangle 3"/>
          <p:cNvSpPr>
            <a:spLocks noGrp="1" noChangeArrowheads="1"/>
          </p:cNvSpPr>
          <p:nvPr>
            <p:ph type="body" idx="1"/>
          </p:nvPr>
        </p:nvSpPr>
        <p:spPr/>
        <p:txBody>
          <a:bodyPr/>
          <a:lstStyle/>
          <a:p>
            <a:pPr>
              <a:buFontTx/>
              <a:buChar char="•"/>
            </a:pPr>
            <a:endParaRPr lang="en-GB"/>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custDataLst>
              <p:tags r:id="rId1"/>
            </p:custDataLst>
          </p:nvPr>
        </p:nvSpPr>
        <p:spPr>
          <a:ln/>
        </p:spPr>
        <p:txBody>
          <a:bodyPr/>
          <a:lstStyle/>
          <a:p>
            <a:fld id="{7E90F991-E40D-48A6-90DD-AC0302616F54}" type="slidenum">
              <a:rPr lang="en-US"/>
              <a:pPr/>
              <a:t>33</a:t>
            </a:fld>
            <a:endParaRPr lang="en-US"/>
          </a:p>
        </p:txBody>
      </p:sp>
      <p:sp>
        <p:nvSpPr>
          <p:cNvPr id="509954" name="Rectangle 2"/>
          <p:cNvSpPr>
            <a:spLocks noGrp="1" noRot="1" noChangeAspect="1" noChangeArrowheads="1" noTextEdit="1"/>
          </p:cNvSpPr>
          <p:nvPr>
            <p:ph type="sldImg"/>
          </p:nvPr>
        </p:nvSpPr>
        <p:spPr>
          <a:ln/>
        </p:spPr>
      </p:sp>
      <p:sp>
        <p:nvSpPr>
          <p:cNvPr id="509955" name="Rectangle 3"/>
          <p:cNvSpPr>
            <a:spLocks noGrp="1" noChangeArrowheads="1"/>
          </p:cNvSpPr>
          <p:nvPr>
            <p:ph type="body" idx="1"/>
          </p:nvPr>
        </p:nvSpPr>
        <p:spPr/>
        <p:txBody>
          <a:bodyPr/>
          <a:lstStyle/>
          <a:p>
            <a:pPr>
              <a:lnSpc>
                <a:spcPct val="80000"/>
              </a:lnSpc>
            </a:pPr>
            <a:endParaRPr lang="en-GB" sz="8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ous-titr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9D21D778-B565-4D7E-94D7-64010A445B68}" type="datetimeFigureOut">
              <a:rPr lang="en-US" smtClean="0"/>
              <a:pPr/>
              <a:t>2/14/2021</a:t>
            </a:fld>
            <a:endParaRPr lang="en-US"/>
          </a:p>
        </p:txBody>
      </p:sp>
      <p:sp>
        <p:nvSpPr>
          <p:cNvPr id="17" name="Espace réservé du pied de page 16"/>
          <p:cNvSpPr>
            <a:spLocks noGrp="1"/>
          </p:cNvSpPr>
          <p:nvPr>
            <p:ph type="ftr" sz="quarter" idx="11"/>
          </p:nvPr>
        </p:nvSpPr>
        <p:spPr/>
        <p:txBody>
          <a:bodyPr/>
          <a:lstStyle/>
          <a:p>
            <a:endParaRPr kumimoji="0" lang="en-US"/>
          </a:p>
        </p:txBody>
      </p:sp>
      <p:sp>
        <p:nvSpPr>
          <p:cNvPr id="7" name="Connecteur droit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Ellipse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Ellipse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Espace réservé du numéro de diapositive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8" name="Titr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174171" y="228600"/>
            <a:ext cx="8795658" cy="758952"/>
          </a:xfrm>
        </p:spPr>
        <p:txBody>
          <a:bodyPr/>
          <a:lstStyle>
            <a:lvl1pPr>
              <a:defRPr b="1">
                <a:solidFill>
                  <a:schemeClr val="tx1"/>
                </a:solidFill>
              </a:defRPr>
            </a:lvl1pPr>
          </a:lstStyle>
          <a:p>
            <a:r>
              <a:rPr kumimoji="0" lang="fr-FR" dirty="0"/>
              <a:t>Cliquez pour modifier le style du titre</a:t>
            </a:r>
            <a:endParaRPr kumimoji="0" lang="en-US" dirty="0"/>
          </a:p>
        </p:txBody>
      </p:sp>
      <p:sp>
        <p:nvSpPr>
          <p:cNvPr id="4" name="Espace réservé de la date 3"/>
          <p:cNvSpPr>
            <a:spLocks noGrp="1"/>
          </p:cNvSpPr>
          <p:nvPr>
            <p:ph type="dt" sz="half" idx="10"/>
          </p:nvPr>
        </p:nvSpPr>
        <p:spPr/>
        <p:txBody>
          <a:bodyPr/>
          <a:lstStyle/>
          <a:p>
            <a:fld id="{9D21D778-B565-4D7E-94D7-64010A445B68}" type="datetimeFigureOut">
              <a:rPr lang="en-US" smtClean="0"/>
              <a:pPr/>
              <a:t>2/14/2021</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a:xfrm>
            <a:off x="4361688" y="1026372"/>
            <a:ext cx="457200" cy="441325"/>
          </a:xfrm>
        </p:spPr>
        <p:txBody>
          <a:bodyPr/>
          <a:lstStyle/>
          <a:p>
            <a:fld id="{2C6B1FF6-39B9-40F5-8B67-33C6354A3D4F}" type="slidenum">
              <a:rPr kumimoji="0" lang="en-US" smtClean="0"/>
              <a:pPr/>
              <a:t>‹N°›</a:t>
            </a:fld>
            <a:endParaRPr kumimoji="0" lang="en-US" dirty="0"/>
          </a:p>
        </p:txBody>
      </p:sp>
      <p:sp>
        <p:nvSpPr>
          <p:cNvPr id="8" name="Espace réservé du contenu 7"/>
          <p:cNvSpPr>
            <a:spLocks noGrp="1"/>
          </p:cNvSpPr>
          <p:nvPr>
            <p:ph sz="quarter" idx="1"/>
          </p:nvPr>
        </p:nvSpPr>
        <p:spPr>
          <a:xfrm>
            <a:off x="301752" y="1527048"/>
            <a:ext cx="8503920" cy="45720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a:t>Cliquez pour modifier les styles du texte du masque</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Espace réservé du pied de page 4"/>
          <p:cNvSpPr>
            <a:spLocks noGrp="1"/>
          </p:cNvSpPr>
          <p:nvPr>
            <p:ph type="ftr" sz="quarter" idx="11"/>
          </p:nvPr>
        </p:nvSpPr>
        <p:spPr/>
        <p:txBody>
          <a:bodyPr/>
          <a:lstStyle/>
          <a:p>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2/14/2021</a:t>
            </a:fld>
            <a:endParaRPr lang="en-US"/>
          </a:p>
        </p:txBody>
      </p:sp>
      <p:sp>
        <p:nvSpPr>
          <p:cNvPr id="8" name="Connecteur droit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llipse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 name="Titr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301752" y="228600"/>
            <a:ext cx="8534400" cy="758952"/>
          </a:xfrm>
        </p:spPr>
        <p:txBody>
          <a:bodyPr/>
          <a:lstStyle/>
          <a:p>
            <a:r>
              <a:rPr kumimoji="0" lang="fr-FR"/>
              <a:t>Cliquez pour modifier le style du titre</a:t>
            </a:r>
            <a:endParaRPr kumimoji="0" lang="en-US"/>
          </a:p>
        </p:txBody>
      </p:sp>
      <p:sp>
        <p:nvSpPr>
          <p:cNvPr id="5" name="Espace réservé de la date 4"/>
          <p:cNvSpPr>
            <a:spLocks noGrp="1"/>
          </p:cNvSpPr>
          <p:nvPr>
            <p:ph type="dt" sz="half" idx="10"/>
          </p:nvPr>
        </p:nvSpPr>
        <p:spPr>
          <a:xfrm>
            <a:off x="5791200" y="6409944"/>
            <a:ext cx="3044952" cy="365760"/>
          </a:xfrm>
        </p:spPr>
        <p:txBody>
          <a:bodyPr/>
          <a:lstStyle/>
          <a:p>
            <a:fld id="{9D21D778-B565-4D7E-94D7-64010A445B68}" type="datetimeFigureOut">
              <a:rPr lang="en-US" smtClean="0"/>
              <a:pPr/>
              <a:t>2/14/2021</a:t>
            </a:fld>
            <a:endParaRPr lang="en-US"/>
          </a:p>
        </p:txBody>
      </p:sp>
      <p:sp>
        <p:nvSpPr>
          <p:cNvPr id="6" name="Espace réservé du pied de page 5"/>
          <p:cNvSpPr>
            <a:spLocks noGrp="1"/>
          </p:cNvSpPr>
          <p:nvPr>
            <p:ph type="ftr" sz="quarter" idx="11"/>
          </p:nvPr>
        </p:nvSpPr>
        <p:spPr/>
        <p:txBody>
          <a:bodyPr/>
          <a:lstStyle/>
          <a:p>
            <a:endParaRPr kumimoji="0" lang="en-US" dirty="0"/>
          </a:p>
        </p:txBody>
      </p:sp>
      <p:sp>
        <p:nvSpPr>
          <p:cNvPr id="7" name="Espace réservé du numéro de diapositive 6"/>
          <p:cNvSpPr>
            <a:spLocks noGrp="1"/>
          </p:cNvSpPr>
          <p:nvPr>
            <p:ph type="sldNum" sz="quarter" idx="12"/>
          </p:nvPr>
        </p:nvSpPr>
        <p:spPr/>
        <p:txBody>
          <a:bodyPr/>
          <a:lstStyle/>
          <a:p>
            <a:fld id="{2C6B1FF6-39B9-40F5-8B67-33C6354A3D4F}" type="slidenum">
              <a:rPr kumimoji="0" lang="en-US" smtClean="0"/>
              <a:pPr/>
              <a:t>‹N°›</a:t>
            </a:fld>
            <a:endParaRPr kumimoji="0" lang="en-US"/>
          </a:p>
        </p:txBody>
      </p:sp>
      <p:sp>
        <p:nvSpPr>
          <p:cNvPr id="8" name="Connecteur droit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space réservé du contenu 9"/>
          <p:cNvSpPr>
            <a:spLocks noGrp="1"/>
          </p:cNvSpPr>
          <p:nvPr>
            <p:ph sz="half" idx="1"/>
          </p:nvPr>
        </p:nvSpPr>
        <p:spPr>
          <a:xfrm>
            <a:off x="301752" y="1371600"/>
            <a:ext cx="4038600" cy="4681728"/>
          </a:xfrm>
        </p:spPr>
        <p:txBody>
          <a:bodyPr/>
          <a:lstStyle>
            <a:lvl1pPr>
              <a:defRPr sz="2500"/>
            </a:lvl1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2" name="Espace réservé du contenu 11"/>
          <p:cNvSpPr>
            <a:spLocks noGrp="1"/>
          </p:cNvSpPr>
          <p:nvPr>
            <p:ph sz="half" idx="2"/>
          </p:nvPr>
        </p:nvSpPr>
        <p:spPr>
          <a:xfrm>
            <a:off x="4800600" y="1371600"/>
            <a:ext cx="4038600" cy="4681728"/>
          </a:xfrm>
        </p:spPr>
        <p:txBody>
          <a:bodyPr/>
          <a:lstStyle>
            <a:lvl1pPr>
              <a:defRPr sz="2500"/>
            </a:lvl1p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1">
        <a:schemeClr val="bg2"/>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4" name="Espace réservé du texte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fr-FR"/>
              <a:t>Cliquez pour modifier les styles du texte du masque</a:t>
            </a:r>
          </a:p>
        </p:txBody>
      </p:sp>
      <p:sp>
        <p:nvSpPr>
          <p:cNvPr id="7" name="Espace réservé de la date 6"/>
          <p:cNvSpPr>
            <a:spLocks noGrp="1"/>
          </p:cNvSpPr>
          <p:nvPr>
            <p:ph type="dt" sz="half" idx="10"/>
          </p:nvPr>
        </p:nvSpPr>
        <p:spPr/>
        <p:txBody>
          <a:bodyPr/>
          <a:lstStyle/>
          <a:p>
            <a:fld id="{9D21D778-B565-4D7E-94D7-64010A445B68}" type="datetimeFigureOut">
              <a:rPr lang="en-US" smtClean="0"/>
              <a:pPr/>
              <a:t>2/14/2021</a:t>
            </a:fld>
            <a:endParaRPr lang="en-US"/>
          </a:p>
        </p:txBody>
      </p:sp>
      <p:sp>
        <p:nvSpPr>
          <p:cNvPr id="8" name="Espace réservé du pied de page 7"/>
          <p:cNvSpPr>
            <a:spLocks noGrp="1"/>
          </p:cNvSpPr>
          <p:nvPr>
            <p:ph type="ftr" sz="quarter" idx="11"/>
          </p:nvPr>
        </p:nvSpPr>
        <p:spPr>
          <a:xfrm>
            <a:off x="304800" y="6409944"/>
            <a:ext cx="3581400" cy="365760"/>
          </a:xfrm>
        </p:spPr>
        <p:txBody>
          <a:bodyPr/>
          <a:lstStyle/>
          <a:p>
            <a:endParaRPr kumimoji="0" lang="en-US"/>
          </a:p>
        </p:txBody>
      </p:sp>
      <p:sp>
        <p:nvSpPr>
          <p:cNvPr id="15" name="Connecteur droit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Espace réservé du contenu 23"/>
          <p:cNvSpPr>
            <a:spLocks noGrp="1"/>
          </p:cNvSpPr>
          <p:nvPr>
            <p:ph sz="quarter" idx="2"/>
          </p:nvPr>
        </p:nvSpPr>
        <p:spPr>
          <a:xfrm>
            <a:off x="301752" y="2471383"/>
            <a:ext cx="4041648" cy="3818404"/>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26" name="Espace réservé du contenu 25"/>
          <p:cNvSpPr>
            <a:spLocks noGrp="1"/>
          </p:cNvSpPr>
          <p:nvPr>
            <p:ph sz="quarter" idx="4"/>
          </p:nvPr>
        </p:nvSpPr>
        <p:spPr>
          <a:xfrm>
            <a:off x="4800600" y="2471383"/>
            <a:ext cx="4038600" cy="3822192"/>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25" name="Ellipse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Ellipse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Espace réservé du numéro de diapositive 8"/>
          <p:cNvSpPr>
            <a:spLocks noGrp="1"/>
          </p:cNvSpPr>
          <p:nvPr>
            <p:ph type="sldNum" sz="quarter" idx="12"/>
          </p:nvPr>
        </p:nvSpPr>
        <p:spPr>
          <a:xfrm>
            <a:off x="4343400" y="1042416"/>
            <a:ext cx="457200" cy="441325"/>
          </a:xfrm>
        </p:spPr>
        <p:txBody>
          <a:bodyPr/>
          <a:lstStyle>
            <a:lvl1pPr algn="ctr">
              <a:defRPr/>
            </a:lvl1pPr>
          </a:lstStyle>
          <a:p>
            <a:pPr algn="ctr" eaLnBrk="1" latinLnBrk="0" hangingPunct="1"/>
            <a:fld id="{2C6B1FF6-39B9-40F5-8B67-33C6354A3D4F}" type="slidenum">
              <a:rPr kumimoji="0" lang="en-US" smtClean="0"/>
              <a:pPr algn="ctr" eaLnBrk="1" latinLnBrk="0" hangingPunct="1"/>
              <a:t>‹N°›</a:t>
            </a:fld>
            <a:endParaRPr kumimoji="0" lang="en-US" dirty="0"/>
          </a:p>
        </p:txBody>
      </p:sp>
      <p:sp>
        <p:nvSpPr>
          <p:cNvPr id="23" name="Titre 22"/>
          <p:cNvSpPr>
            <a:spLocks noGrp="1"/>
          </p:cNvSpPr>
          <p:nvPr>
            <p:ph type="title"/>
          </p:nvPr>
        </p:nvSpPr>
        <p:spPr/>
        <p:txBody>
          <a:bodyPr rtlCol="0" anchor="b" anchorCtr="0"/>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vert="horz" anchor="b">
            <a:normAutofit/>
          </a:bodyPr>
          <a:lstStyle>
            <a:lvl1pPr algn="ctr" rtl="0" eaLnBrk="1" latinLnBrk="0" hangingPunct="1">
              <a:spcBef>
                <a:spcPct val="0"/>
              </a:spcBef>
              <a:buNone/>
              <a:defRPr kumimoji="0" lang="en-US" sz="3300" b="1" kern="1200">
                <a:solidFill>
                  <a:schemeClr val="tx1"/>
                </a:solidFill>
                <a:latin typeface="+mj-lt"/>
                <a:ea typeface="+mj-ea"/>
                <a:cs typeface="+mj-cs"/>
              </a:defRPr>
            </a:lvl1pPr>
          </a:lstStyle>
          <a:p>
            <a:r>
              <a:rPr kumimoji="0" lang="fr-FR"/>
              <a:t>Cliquez pour modifier le style du titre</a:t>
            </a:r>
            <a:endParaRPr kumimoji="0" lang="en-US"/>
          </a:p>
        </p:txBody>
      </p:sp>
      <p:sp>
        <p:nvSpPr>
          <p:cNvPr id="3" name="Espace réservé de la date 2"/>
          <p:cNvSpPr>
            <a:spLocks noGrp="1"/>
          </p:cNvSpPr>
          <p:nvPr>
            <p:ph type="dt" sz="half" idx="10"/>
          </p:nvPr>
        </p:nvSpPr>
        <p:spPr/>
        <p:txBody>
          <a:bodyPr/>
          <a:lstStyle/>
          <a:p>
            <a:fld id="{9D21D778-B565-4D7E-94D7-64010A445B68}" type="datetimeFigureOut">
              <a:rPr lang="en-US" smtClean="0"/>
              <a:pPr/>
              <a:t>2/14/2021</a:t>
            </a:fld>
            <a:endParaRPr lang="en-US"/>
          </a:p>
        </p:txBody>
      </p:sp>
      <p:sp>
        <p:nvSpPr>
          <p:cNvPr id="4" name="Espace réservé du pied de page 3"/>
          <p:cNvSpPr>
            <a:spLocks noGrp="1"/>
          </p:cNvSpPr>
          <p:nvPr>
            <p:ph type="ftr" sz="quarter" idx="11"/>
          </p:nvPr>
        </p:nvSpPr>
        <p:spPr/>
        <p:txBody>
          <a:bodyPr/>
          <a:lstStyle/>
          <a:p>
            <a:endParaRPr kumimoji="0" lang="en-US" dirty="0"/>
          </a:p>
        </p:txBody>
      </p:sp>
      <p:sp>
        <p:nvSpPr>
          <p:cNvPr id="5" name="Espace réservé du numéro de diapositive 4"/>
          <p:cNvSpPr>
            <a:spLocks noGrp="1"/>
          </p:cNvSpPr>
          <p:nvPr>
            <p:ph type="sldNum" sz="quarter" idx="12"/>
          </p:nvPr>
        </p:nvSpPr>
        <p:spPr>
          <a:xfrm>
            <a:off x="4343400" y="1036020"/>
            <a:ext cx="457200" cy="441325"/>
          </a:xfrm>
        </p:spPr>
        <p:txBody>
          <a:bodyPr/>
          <a:lstStyle/>
          <a:p>
            <a:fld id="{2C6B1FF6-39B9-40F5-8B67-33C6354A3D4F}" type="slidenum">
              <a:rPr kumimoji="0" lang="en-US" smtClean="0"/>
              <a:pPr/>
              <a:t>‹N°›</a:t>
            </a:fld>
            <a:endParaRPr kumimoji="0"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Espace réservé de la date 1"/>
          <p:cNvSpPr>
            <a:spLocks noGrp="1"/>
          </p:cNvSpPr>
          <p:nvPr>
            <p:ph type="dt" sz="half" idx="10"/>
          </p:nvPr>
        </p:nvSpPr>
        <p:spPr/>
        <p:txBody>
          <a:bodyPr/>
          <a:lstStyle/>
          <a:p>
            <a:fld id="{9D21D778-B565-4D7E-94D7-64010A445B68}" type="datetimeFigureOut">
              <a:rPr lang="en-US" smtClean="0"/>
              <a:pPr/>
              <a:t>2/14/2021</a:t>
            </a:fld>
            <a:endParaRPr lang="en-US"/>
          </a:p>
        </p:txBody>
      </p:sp>
      <p:sp>
        <p:nvSpPr>
          <p:cNvPr id="3" name="Espace réservé du pied de page 2"/>
          <p:cNvSpPr>
            <a:spLocks noGrp="1"/>
          </p:cNvSpPr>
          <p:nvPr>
            <p:ph type="ftr" sz="quarter" idx="11"/>
          </p:nvPr>
        </p:nvSpPr>
        <p:spPr/>
        <p:txBody>
          <a:bodyPr/>
          <a:lstStyle/>
          <a:p>
            <a:endParaRPr kumimoji="0" lang="en-US"/>
          </a:p>
        </p:txBody>
      </p:sp>
      <p:sp>
        <p:nvSpPr>
          <p:cNvPr id="4" name="Espace réservé du numéro de diapositive 3"/>
          <p:cNvSpPr>
            <a:spLocks noGrp="1"/>
          </p:cNvSpPr>
          <p:nvPr>
            <p:ph type="sldNum" sz="quarter" idx="12"/>
          </p:nvPr>
        </p:nvSpPr>
        <p:spPr>
          <a:xfrm>
            <a:off x="4267200" y="6324600"/>
            <a:ext cx="609600" cy="441324"/>
          </a:xfrm>
        </p:spPr>
        <p:txBody>
          <a:bodyPr/>
          <a:lstStyle>
            <a:lvl1pPr>
              <a:defRPr>
                <a:solidFill>
                  <a:srgbClr val="FFFFFF"/>
                </a:solidFill>
              </a:defRPr>
            </a:lvl1pPr>
          </a:lstStyle>
          <a:p>
            <a:fld id="{2C6B1FF6-39B9-40F5-8B67-33C6354A3D4F}" type="slidenum">
              <a:rPr kumimoji="0" lang="en-US" smtClean="0"/>
              <a:pPr/>
              <a:t>‹N°›</a:t>
            </a:fld>
            <a:endParaRPr kumimoji="0" lang="en-US" dirty="0">
              <a:solidFill>
                <a:srgbClr val="FFFFFF"/>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fr-FR"/>
              <a:t>Cliquez pour modifier le style du titre</a:t>
            </a:r>
            <a:endParaRPr kumimoji="0" lang="en-US"/>
          </a:p>
        </p:txBody>
      </p:sp>
      <p:sp>
        <p:nvSpPr>
          <p:cNvPr id="3" name="Espace réservé du texte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fr-FR"/>
              <a:t>Cliquez pour modifier les styles du texte du masque</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Connecteur droit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Espace réservé du contenu 19"/>
          <p:cNvSpPr>
            <a:spLocks noGrp="1"/>
          </p:cNvSpPr>
          <p:nvPr>
            <p:ph sz="quarter" idx="1"/>
          </p:nvPr>
        </p:nvSpPr>
        <p:spPr>
          <a:xfrm>
            <a:off x="3124200" y="685800"/>
            <a:ext cx="5638800" cy="5410200"/>
          </a:xfrm>
        </p:spPr>
        <p:txBody>
          <a:bodyPr/>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10" name="Ellipse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2C6B1FF6-39B9-40F5-8B67-33C6354A3D4F}" type="slidenum">
              <a:rPr kumimoji="0" lang="en-US" smtClean="0"/>
              <a:pPr/>
              <a:t>‹N°›</a:t>
            </a:fld>
            <a:endParaRPr kumimoji="0" lang="en-US" dirty="0">
              <a:solidFill>
                <a:schemeClr val="accent3">
                  <a:shade val="75000"/>
                </a:schemeClr>
              </a:solidFill>
            </a:endParaRPr>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p:txBody>
          <a:bodyPr/>
          <a:lstStyle/>
          <a:p>
            <a:fld id="{9D21D778-B565-4D7E-94D7-64010A445B68}" type="datetimeFigureOut">
              <a:rPr lang="en-US" smtClean="0"/>
              <a:pPr/>
              <a:t>2/14/2021</a:t>
            </a:fld>
            <a:endParaRPr lang="en-US"/>
          </a:p>
        </p:txBody>
      </p:sp>
      <p:sp>
        <p:nvSpPr>
          <p:cNvPr id="6" name="Espace réservé du pied de page 5"/>
          <p:cNvSpPr>
            <a:spLocks noGrp="1"/>
          </p:cNvSpPr>
          <p:nvPr>
            <p:ph type="ftr" sz="quarter" idx="11"/>
          </p:nvPr>
        </p:nvSpPr>
        <p:spPr>
          <a:xfrm>
            <a:off x="301752" y="6410848"/>
            <a:ext cx="3383280" cy="365760"/>
          </a:xfrm>
        </p:spPr>
        <p:txBody>
          <a:bodyPr/>
          <a:lstStyle/>
          <a:p>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1" name="Connecteur droit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Ellipse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Ellipse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p>
            <a:fld id="{2C6B1FF6-39B9-40F5-8B67-33C6354A3D4F}" type="slidenum">
              <a:rPr kumimoji="0" lang="en-US" smtClean="0"/>
              <a:pPr/>
              <a:t>‹N°›</a:t>
            </a:fld>
            <a:endParaRPr kumimoji="0" lang="en-US" dirty="0"/>
          </a:p>
        </p:txBody>
      </p:sp>
      <p:sp>
        <p:nvSpPr>
          <p:cNvPr id="2" name="Titr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fr-FR"/>
              <a:t>Cliquez pour modifier le style du titre</a:t>
            </a:r>
            <a:endParaRPr kumimoji="0" lang="en-US"/>
          </a:p>
        </p:txBody>
      </p:sp>
      <p:sp>
        <p:nvSpPr>
          <p:cNvPr id="3" name="Espace réservé pour une image  2"/>
          <p:cNvSpPr>
            <a:spLocks noGrp="1"/>
          </p:cNvSpPr>
          <p:nvPr>
            <p:ph type="pic" idx="1"/>
          </p:nvPr>
        </p:nvSpPr>
        <p:spPr>
          <a:xfrm>
            <a:off x="3000375" y="609600"/>
            <a:ext cx="5867400" cy="4267200"/>
          </a:xfrm>
        </p:spPr>
        <p:txBody>
          <a:bodyPr/>
          <a:lstStyle>
            <a:lvl1pPr marL="0" indent="0">
              <a:buNone/>
              <a:defRPr sz="3200"/>
            </a:lvl1pPr>
          </a:lstStyle>
          <a:p>
            <a:r>
              <a:rPr kumimoji="0" lang="fr-FR"/>
              <a:t>Cliquez sur l'icône pour ajouter une image</a:t>
            </a:r>
            <a:endParaRPr kumimoji="0" lang="en-US" dirty="0"/>
          </a:p>
        </p:txBody>
      </p:sp>
      <p:sp>
        <p:nvSpPr>
          <p:cNvPr id="4" name="Espace réservé du texte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fr-FR"/>
              <a:t>Cliquez pour modifier les styles du texte du masque</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a:xfrm>
            <a:off x="5788152" y="6404984"/>
            <a:ext cx="3044952" cy="365760"/>
          </a:xfrm>
        </p:spPr>
        <p:txBody>
          <a:bodyPr/>
          <a:lstStyle/>
          <a:p>
            <a:fld id="{9D21D778-B565-4D7E-94D7-64010A445B68}" type="datetimeFigureOut">
              <a:rPr lang="en-US" smtClean="0"/>
              <a:pPr/>
              <a:t>2/14/2021</a:t>
            </a:fld>
            <a:endParaRPr lang="en-US" dirty="0"/>
          </a:p>
        </p:txBody>
      </p:sp>
      <p:sp>
        <p:nvSpPr>
          <p:cNvPr id="6" name="Espace réservé du pied de page 5"/>
          <p:cNvSpPr>
            <a:spLocks noGrp="1"/>
          </p:cNvSpPr>
          <p:nvPr>
            <p:ph type="ftr" sz="quarter" idx="11"/>
          </p:nvPr>
        </p:nvSpPr>
        <p:spPr>
          <a:xfrm>
            <a:off x="301752" y="6410848"/>
            <a:ext cx="3584448" cy="365760"/>
          </a:xfrm>
        </p:spPr>
        <p:txBody>
          <a:bodyPr/>
          <a:lstStyle/>
          <a:p>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2/14/2021</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6" name="Espace réservé du numéro de diapositive 5"/>
          <p:cNvSpPr>
            <a:spLocks noGrp="1"/>
          </p:cNvSpPr>
          <p:nvPr>
            <p:ph type="sldNum" sz="quarter" idx="12"/>
          </p:nvPr>
        </p:nvSpPr>
        <p:spPr/>
        <p:txBody>
          <a:bodyPr/>
          <a:lstStyle/>
          <a:p>
            <a:fld id="{2C6B1FF6-39B9-40F5-8B67-33C6354A3D4F}" type="slidenum">
              <a:rPr kumimoji="0" lang="en-US" smtClean="0"/>
              <a:pPr/>
              <a:t>‹N°›</a:t>
            </a:fld>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Connecteur droit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Ellipse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6915912" y="3009901"/>
            <a:ext cx="457200" cy="441325"/>
          </a:xfrm>
        </p:spPr>
        <p:txBody>
          <a:bodyPr/>
          <a:lstStyle/>
          <a:p>
            <a:fld id="{2C6B1FF6-39B9-40F5-8B67-33C6354A3D4F}" type="slidenum">
              <a:rPr kumimoji="0" lang="en-US" smtClean="0"/>
              <a:pPr/>
              <a:t>‹N°›</a:t>
            </a:fld>
            <a:endParaRPr kumimoji="0" lang="en-US" dirty="0"/>
          </a:p>
        </p:txBody>
      </p:sp>
      <p:sp>
        <p:nvSpPr>
          <p:cNvPr id="3" name="Espace réservé du texte vertical 2"/>
          <p:cNvSpPr>
            <a:spLocks noGrp="1"/>
          </p:cNvSpPr>
          <p:nvPr>
            <p:ph type="body" orient="vert" idx="1"/>
          </p:nvPr>
        </p:nvSpPr>
        <p:spPr>
          <a:xfrm>
            <a:off x="304800" y="304800"/>
            <a:ext cx="6553200" cy="5821366"/>
          </a:xfrm>
        </p:spPr>
        <p:txBody>
          <a:bodyPr vert="eaVert"/>
          <a:lstStyle/>
          <a:p>
            <a:pPr lvl="0" eaLnBrk="1" latinLnBrk="0" hangingPunct="1"/>
            <a:r>
              <a:rPr lang="fr-FR"/>
              <a:t>Cliquez pour modifier les styles du texte du masque</a:t>
            </a:r>
          </a:p>
          <a:p>
            <a:pPr lvl="1" eaLnBrk="1" latinLnBrk="0" hangingPunct="1"/>
            <a:r>
              <a:rPr lang="fr-FR"/>
              <a:t>Deuxième niveau</a:t>
            </a:r>
          </a:p>
          <a:p>
            <a:pPr lvl="2" eaLnBrk="1" latinLnBrk="0" hangingPunct="1"/>
            <a:r>
              <a:rPr lang="fr-FR"/>
              <a:t>Troisième niveau</a:t>
            </a:r>
          </a:p>
          <a:p>
            <a:pPr lvl="3" eaLnBrk="1" latinLnBrk="0" hangingPunct="1"/>
            <a:r>
              <a:rPr lang="fr-FR"/>
              <a:t>Quatrième niveau</a:t>
            </a:r>
          </a:p>
          <a:p>
            <a:pPr lvl="4" eaLnBrk="1" latinLnBrk="0" hangingPunct="1"/>
            <a:r>
              <a:rPr lang="fr-FR"/>
              <a:t>Cinquième niveau</a:t>
            </a:r>
            <a:endParaRPr kumimoji="0" lang="en-US"/>
          </a:p>
        </p:txBody>
      </p:sp>
      <p:sp>
        <p:nvSpPr>
          <p:cNvPr id="4" name="Espace réservé de la date 3"/>
          <p:cNvSpPr>
            <a:spLocks noGrp="1"/>
          </p:cNvSpPr>
          <p:nvPr>
            <p:ph type="dt" sz="half" idx="10"/>
          </p:nvPr>
        </p:nvSpPr>
        <p:spPr/>
        <p:txBody>
          <a:bodyPr/>
          <a:lstStyle/>
          <a:p>
            <a:fld id="{9D21D778-B565-4D7E-94D7-64010A445B68}" type="datetimeFigureOut">
              <a:rPr lang="en-US" smtClean="0"/>
              <a:pPr/>
              <a:t>2/14/2021</a:t>
            </a:fld>
            <a:endParaRPr lang="en-US"/>
          </a:p>
        </p:txBody>
      </p:sp>
      <p:sp>
        <p:nvSpPr>
          <p:cNvPr id="5" name="Espace réservé du pied de page 4"/>
          <p:cNvSpPr>
            <a:spLocks noGrp="1"/>
          </p:cNvSpPr>
          <p:nvPr>
            <p:ph type="ftr" sz="quarter" idx="11"/>
          </p:nvPr>
        </p:nvSpPr>
        <p:spPr/>
        <p:txBody>
          <a:bodyPr/>
          <a:lstStyle/>
          <a:p>
            <a:endParaRPr kumimoji="0" lang="en-US"/>
          </a:p>
        </p:txBody>
      </p:sp>
      <p:sp>
        <p:nvSpPr>
          <p:cNvPr id="2" name="Titre vertical 1"/>
          <p:cNvSpPr>
            <a:spLocks noGrp="1"/>
          </p:cNvSpPr>
          <p:nvPr>
            <p:ph type="title" orient="vert"/>
          </p:nvPr>
        </p:nvSpPr>
        <p:spPr>
          <a:xfrm>
            <a:off x="7391400" y="304801"/>
            <a:ext cx="1447800" cy="5851525"/>
          </a:xfrm>
        </p:spPr>
        <p:txBody>
          <a:bodyPr vert="eaVert"/>
          <a:lstStyle/>
          <a:p>
            <a:r>
              <a:rPr kumimoji="0" lang="fr-FR"/>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re. Texte et contenu">
    <p:spTree>
      <p:nvGrpSpPr>
        <p:cNvPr id="1" name=""/>
        <p:cNvGrpSpPr/>
        <p:nvPr/>
      </p:nvGrpSpPr>
      <p:grpSpPr>
        <a:xfrm>
          <a:off x="0" y="0"/>
          <a:ext cx="0" cy="0"/>
          <a:chOff x="0" y="0"/>
          <a:chExt cx="0" cy="0"/>
        </a:xfrm>
      </p:grpSpPr>
      <p:sp>
        <p:nvSpPr>
          <p:cNvPr id="2" name="Titre 1"/>
          <p:cNvSpPr>
            <a:spLocks noGrp="1"/>
          </p:cNvSpPr>
          <p:nvPr>
            <p:ph type="title"/>
          </p:nvPr>
        </p:nvSpPr>
        <p:spPr>
          <a:xfrm>
            <a:off x="838200" y="77788"/>
            <a:ext cx="7391400" cy="684212"/>
          </a:xfrm>
        </p:spPr>
        <p:txBody>
          <a:bodyPr vert="horz" anchor="b">
            <a:normAutofit/>
          </a:bodyPr>
          <a:lstStyle>
            <a:lvl1pPr algn="ctr" rtl="0" eaLnBrk="1" latinLnBrk="0" hangingPunct="1">
              <a:spcBef>
                <a:spcPct val="0"/>
              </a:spcBef>
              <a:buNone/>
              <a:defRPr kumimoji="0" lang="fr-FR" sz="3300" b="1" kern="1200" dirty="0" smtClean="0">
                <a:solidFill>
                  <a:schemeClr val="tx1"/>
                </a:solidFill>
                <a:latin typeface="+mj-lt"/>
                <a:ea typeface="+mj-ea"/>
                <a:cs typeface="+mj-cs"/>
              </a:defRPr>
            </a:lvl1pPr>
          </a:lstStyle>
          <a:p>
            <a:r>
              <a:rPr lang="fr-FR"/>
              <a:t>Cliquez pour modifier le style du titre</a:t>
            </a:r>
          </a:p>
        </p:txBody>
      </p:sp>
      <p:sp>
        <p:nvSpPr>
          <p:cNvPr id="3" name="Espace réservé du texte 2"/>
          <p:cNvSpPr>
            <a:spLocks noGrp="1"/>
          </p:cNvSpPr>
          <p:nvPr>
            <p:ph type="body" sz="half" idx="1"/>
          </p:nvPr>
        </p:nvSpPr>
        <p:spPr>
          <a:xfrm>
            <a:off x="1050925" y="1447800"/>
            <a:ext cx="3436938" cy="46942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0263" y="1447800"/>
            <a:ext cx="3436937" cy="46942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Titre. Texte et 2 contenus">
    <p:spTree>
      <p:nvGrpSpPr>
        <p:cNvPr id="1" name=""/>
        <p:cNvGrpSpPr/>
        <p:nvPr/>
      </p:nvGrpSpPr>
      <p:grpSpPr>
        <a:xfrm>
          <a:off x="0" y="0"/>
          <a:ext cx="0" cy="0"/>
          <a:chOff x="0" y="0"/>
          <a:chExt cx="0" cy="0"/>
        </a:xfrm>
      </p:grpSpPr>
      <p:sp>
        <p:nvSpPr>
          <p:cNvPr id="2" name="Titre 1"/>
          <p:cNvSpPr>
            <a:spLocks noGrp="1"/>
          </p:cNvSpPr>
          <p:nvPr>
            <p:ph type="title"/>
          </p:nvPr>
        </p:nvSpPr>
        <p:spPr>
          <a:xfrm>
            <a:off x="838200" y="77788"/>
            <a:ext cx="7391400" cy="684212"/>
          </a:xfrm>
        </p:spPr>
        <p:txBody>
          <a:bodyPr/>
          <a:lstStyle/>
          <a:p>
            <a:r>
              <a:rPr lang="fr-FR"/>
              <a:t>Cliquez pour modifier le style du titre</a:t>
            </a:r>
          </a:p>
        </p:txBody>
      </p:sp>
      <p:sp>
        <p:nvSpPr>
          <p:cNvPr id="3" name="Espace réservé du texte 2"/>
          <p:cNvSpPr>
            <a:spLocks noGrp="1"/>
          </p:cNvSpPr>
          <p:nvPr>
            <p:ph type="body" sz="half" idx="1"/>
          </p:nvPr>
        </p:nvSpPr>
        <p:spPr>
          <a:xfrm>
            <a:off x="1050925" y="1447800"/>
            <a:ext cx="3436938" cy="46942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quarter" idx="2"/>
          </p:nvPr>
        </p:nvSpPr>
        <p:spPr>
          <a:xfrm>
            <a:off x="4640263" y="1447800"/>
            <a:ext cx="3436937" cy="2270125"/>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contenu 4"/>
          <p:cNvSpPr>
            <a:spLocks noGrp="1"/>
          </p:cNvSpPr>
          <p:nvPr>
            <p:ph sz="quarter" idx="3"/>
          </p:nvPr>
        </p:nvSpPr>
        <p:spPr>
          <a:xfrm>
            <a:off x="4640263" y="3870325"/>
            <a:ext cx="3436937" cy="227171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Espace réservé de la date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pPr algn="r" eaLnBrk="1" latinLnBrk="0" hangingPunct="1"/>
            <a:fld id="{9D21D778-B565-4D7E-94D7-64010A445B68}" type="datetimeFigureOut">
              <a:rPr lang="en-US" smtClean="0"/>
              <a:pPr algn="r" eaLnBrk="1" latinLnBrk="0" hangingPunct="1"/>
              <a:t>2/14/2021</a:t>
            </a:fld>
            <a:endParaRPr lang="en-US" sz="1400" dirty="0">
              <a:solidFill>
                <a:srgbClr val="FFFFFF"/>
              </a:solidFill>
            </a:endParaRPr>
          </a:p>
        </p:txBody>
      </p:sp>
      <p:sp>
        <p:nvSpPr>
          <p:cNvPr id="3" name="Espace réservé du pied de page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pPr algn="l" eaLnBrk="1" latinLnBrk="0" hangingPunct="1"/>
            <a:endParaRPr kumimoji="0" lang="en-US" dirty="0">
              <a:solidFill>
                <a:srgbClr val="FFFFFF"/>
              </a:solidFill>
            </a:endParaRPr>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Connecteur droit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Ellipse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Espace réservé du numéro de diapositive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pPr algn="ctr" eaLnBrk="1" latinLnBrk="0" hangingPunct="1"/>
            <a:fld id="{2C6B1FF6-39B9-40F5-8B67-33C6354A3D4F}" type="slidenum">
              <a:rPr kumimoji="0" lang="en-US" smtClean="0"/>
              <a:pPr algn="ctr" eaLnBrk="1" latinLnBrk="0" hangingPunct="1"/>
              <a:t>‹N°›</a:t>
            </a:fld>
            <a:endParaRPr kumimoji="0" lang="en-US" sz="1600" dirty="0">
              <a:solidFill>
                <a:schemeClr val="accent3">
                  <a:shade val="75000"/>
                </a:schemeClr>
              </a:solidFill>
            </a:endParaRPr>
          </a:p>
        </p:txBody>
      </p:sp>
      <p:sp>
        <p:nvSpPr>
          <p:cNvPr id="22" name="Espace réservé du titre 21"/>
          <p:cNvSpPr>
            <a:spLocks noGrp="1"/>
          </p:cNvSpPr>
          <p:nvPr>
            <p:ph type="title"/>
          </p:nvPr>
        </p:nvSpPr>
        <p:spPr>
          <a:xfrm>
            <a:off x="301752" y="228600"/>
            <a:ext cx="8534400" cy="758952"/>
          </a:xfrm>
          <a:prstGeom prst="rect">
            <a:avLst/>
          </a:prstGeom>
        </p:spPr>
        <p:txBody>
          <a:bodyPr vert="horz" anchor="b">
            <a:normAutofit/>
          </a:bodyPr>
          <a:lstStyle/>
          <a:p>
            <a:r>
              <a:rPr kumimoji="0" lang="fr-FR"/>
              <a:t>Cliquez pour modifier le style du titre</a:t>
            </a:r>
            <a:endParaRPr kumimoji="0" lang="en-US"/>
          </a:p>
        </p:txBody>
      </p:sp>
      <p:sp>
        <p:nvSpPr>
          <p:cNvPr id="13" name="Espace réservé du texte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fr-FR"/>
              <a:t>Cliquez pour modifier les styles du texte du masque</a:t>
            </a:r>
          </a:p>
          <a:p>
            <a:pPr lvl="1" eaLnBrk="1" latinLnBrk="0" hangingPunct="1"/>
            <a:r>
              <a:rPr kumimoji="0" lang="fr-FR"/>
              <a:t>Deuxième niveau</a:t>
            </a:r>
          </a:p>
          <a:p>
            <a:pPr lvl="2" eaLnBrk="1" latinLnBrk="0" hangingPunct="1"/>
            <a:r>
              <a:rPr kumimoji="0" lang="fr-FR"/>
              <a:t>Troisième niveau</a:t>
            </a:r>
          </a:p>
          <a:p>
            <a:pPr lvl="3" eaLnBrk="1" latinLnBrk="0" hangingPunct="1"/>
            <a:r>
              <a:rPr kumimoji="0" lang="fr-FR"/>
              <a:t>Quatrième niveau</a:t>
            </a:r>
          </a:p>
          <a:p>
            <a:pPr lvl="4" eaLnBrk="1" latinLnBrk="0" hangingPunct="1"/>
            <a:r>
              <a:rPr kumimoji="0" lang="fr-FR"/>
              <a:t>Cinquième niveau</a:t>
            </a:r>
            <a:endParaRPr kumimoji="0" 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Lst>
  <p:txStyles>
    <p:titleStyle>
      <a:lvl1pPr algn="ctr" rtl="0" eaLnBrk="1" latinLnBrk="0" hangingPunct="1">
        <a:spcBef>
          <a:spcPct val="0"/>
        </a:spcBef>
        <a:buNone/>
        <a:defRPr kumimoji="0" lang="en-US" sz="3300" b="1" kern="1200">
          <a:solidFill>
            <a:schemeClr val="tx1"/>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tags" Target="../tags/tag1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tags" Target="../tags/tag15.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3" Type="http://schemas.openxmlformats.org/officeDocument/2006/relationships/tags" Target="../tags/tag30.xml"/><Relationship Id="rId18" Type="http://schemas.openxmlformats.org/officeDocument/2006/relationships/tags" Target="../tags/tag35.xml"/><Relationship Id="rId26" Type="http://schemas.openxmlformats.org/officeDocument/2006/relationships/tags" Target="../tags/tag43.xml"/><Relationship Id="rId39" Type="http://schemas.openxmlformats.org/officeDocument/2006/relationships/image" Target="../media/image5.png"/><Relationship Id="rId21" Type="http://schemas.openxmlformats.org/officeDocument/2006/relationships/tags" Target="../tags/tag38.xml"/><Relationship Id="rId34" Type="http://schemas.openxmlformats.org/officeDocument/2006/relationships/tags" Target="../tags/tag51.xml"/><Relationship Id="rId42" Type="http://schemas.openxmlformats.org/officeDocument/2006/relationships/image" Target="../media/image8.png"/><Relationship Id="rId47" Type="http://schemas.openxmlformats.org/officeDocument/2006/relationships/image" Target="../media/image13.png"/><Relationship Id="rId7" Type="http://schemas.openxmlformats.org/officeDocument/2006/relationships/tags" Target="../tags/tag24.xml"/><Relationship Id="rId2" Type="http://schemas.openxmlformats.org/officeDocument/2006/relationships/tags" Target="../tags/tag19.xml"/><Relationship Id="rId16" Type="http://schemas.openxmlformats.org/officeDocument/2006/relationships/tags" Target="../tags/tag33.xml"/><Relationship Id="rId29" Type="http://schemas.openxmlformats.org/officeDocument/2006/relationships/tags" Target="../tags/tag46.xml"/><Relationship Id="rId11" Type="http://schemas.openxmlformats.org/officeDocument/2006/relationships/tags" Target="../tags/tag28.xml"/><Relationship Id="rId24" Type="http://schemas.openxmlformats.org/officeDocument/2006/relationships/tags" Target="../tags/tag41.xml"/><Relationship Id="rId32" Type="http://schemas.openxmlformats.org/officeDocument/2006/relationships/tags" Target="../tags/tag49.xml"/><Relationship Id="rId37" Type="http://schemas.openxmlformats.org/officeDocument/2006/relationships/image" Target="../media/image3.png"/><Relationship Id="rId40" Type="http://schemas.openxmlformats.org/officeDocument/2006/relationships/image" Target="../media/image6.png"/><Relationship Id="rId45" Type="http://schemas.openxmlformats.org/officeDocument/2006/relationships/image" Target="../media/image11.png"/><Relationship Id="rId5" Type="http://schemas.openxmlformats.org/officeDocument/2006/relationships/tags" Target="../tags/tag22.xml"/><Relationship Id="rId15" Type="http://schemas.openxmlformats.org/officeDocument/2006/relationships/tags" Target="../tags/tag32.xml"/><Relationship Id="rId23" Type="http://schemas.openxmlformats.org/officeDocument/2006/relationships/tags" Target="../tags/tag40.xml"/><Relationship Id="rId28" Type="http://schemas.openxmlformats.org/officeDocument/2006/relationships/tags" Target="../tags/tag45.xml"/><Relationship Id="rId36" Type="http://schemas.openxmlformats.org/officeDocument/2006/relationships/notesSlide" Target="../notesSlides/notesSlide4.xml"/><Relationship Id="rId49" Type="http://schemas.openxmlformats.org/officeDocument/2006/relationships/image" Target="../media/image15.png"/><Relationship Id="rId10" Type="http://schemas.openxmlformats.org/officeDocument/2006/relationships/tags" Target="../tags/tag27.xml"/><Relationship Id="rId19" Type="http://schemas.openxmlformats.org/officeDocument/2006/relationships/tags" Target="../tags/tag36.xml"/><Relationship Id="rId31" Type="http://schemas.openxmlformats.org/officeDocument/2006/relationships/tags" Target="../tags/tag48.xml"/><Relationship Id="rId44" Type="http://schemas.openxmlformats.org/officeDocument/2006/relationships/image" Target="../media/image10.png"/><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 Id="rId22" Type="http://schemas.openxmlformats.org/officeDocument/2006/relationships/tags" Target="../tags/tag39.xml"/><Relationship Id="rId27" Type="http://schemas.openxmlformats.org/officeDocument/2006/relationships/tags" Target="../tags/tag44.xml"/><Relationship Id="rId30" Type="http://schemas.openxmlformats.org/officeDocument/2006/relationships/tags" Target="../tags/tag47.xml"/><Relationship Id="rId35" Type="http://schemas.openxmlformats.org/officeDocument/2006/relationships/slideLayout" Target="../slideLayouts/slideLayout2.xml"/><Relationship Id="rId43" Type="http://schemas.openxmlformats.org/officeDocument/2006/relationships/image" Target="../media/image9.png"/><Relationship Id="rId48" Type="http://schemas.openxmlformats.org/officeDocument/2006/relationships/image" Target="../media/image14.png"/><Relationship Id="rId8" Type="http://schemas.openxmlformats.org/officeDocument/2006/relationships/tags" Target="../tags/tag25.xml"/><Relationship Id="rId3" Type="http://schemas.openxmlformats.org/officeDocument/2006/relationships/tags" Target="../tags/tag20.xml"/><Relationship Id="rId12" Type="http://schemas.openxmlformats.org/officeDocument/2006/relationships/tags" Target="../tags/tag29.xml"/><Relationship Id="rId17" Type="http://schemas.openxmlformats.org/officeDocument/2006/relationships/tags" Target="../tags/tag34.xml"/><Relationship Id="rId25" Type="http://schemas.openxmlformats.org/officeDocument/2006/relationships/tags" Target="../tags/tag42.xml"/><Relationship Id="rId33" Type="http://schemas.openxmlformats.org/officeDocument/2006/relationships/tags" Target="../tags/tag50.xml"/><Relationship Id="rId38" Type="http://schemas.openxmlformats.org/officeDocument/2006/relationships/image" Target="../media/image4.png"/><Relationship Id="rId46" Type="http://schemas.openxmlformats.org/officeDocument/2006/relationships/image" Target="../media/image12.png"/><Relationship Id="rId20" Type="http://schemas.openxmlformats.org/officeDocument/2006/relationships/tags" Target="../tags/tag37.xml"/><Relationship Id="rId41" Type="http://schemas.openxmlformats.org/officeDocument/2006/relationships/image" Target="../media/image7.png"/><Relationship Id="rId1" Type="http://schemas.openxmlformats.org/officeDocument/2006/relationships/tags" Target="../tags/tag18.xml"/><Relationship Id="rId6" Type="http://schemas.openxmlformats.org/officeDocument/2006/relationships/tags" Target="../tags/tag23.xml"/></Relationships>
</file>

<file path=ppt/slides/_rels/slide5.xml.rels><?xml version="1.0" encoding="UTF-8" standalone="yes"?>
<Relationships xmlns="http://schemas.openxmlformats.org/package/2006/relationships"><Relationship Id="rId3" Type="http://schemas.openxmlformats.org/officeDocument/2006/relationships/tags" Target="../tags/tag55.xml"/><Relationship Id="rId7" Type="http://schemas.openxmlformats.org/officeDocument/2006/relationships/image" Target="../media/image16.png"/><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image" Target="../media/image3.png"/><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tags" Target="../tags/tag64.xml"/><Relationship Id="rId13" Type="http://schemas.openxmlformats.org/officeDocument/2006/relationships/tags" Target="../tags/tag69.xml"/><Relationship Id="rId18" Type="http://schemas.openxmlformats.org/officeDocument/2006/relationships/slideLayout" Target="../slideLayouts/slideLayout2.xml"/><Relationship Id="rId26" Type="http://schemas.openxmlformats.org/officeDocument/2006/relationships/image" Target="../media/image22.png"/><Relationship Id="rId3" Type="http://schemas.openxmlformats.org/officeDocument/2006/relationships/tags" Target="../tags/tag59.xml"/><Relationship Id="rId21" Type="http://schemas.openxmlformats.org/officeDocument/2006/relationships/image" Target="../media/image17.png"/><Relationship Id="rId7" Type="http://schemas.openxmlformats.org/officeDocument/2006/relationships/tags" Target="../tags/tag63.xml"/><Relationship Id="rId12" Type="http://schemas.openxmlformats.org/officeDocument/2006/relationships/tags" Target="../tags/tag68.xml"/><Relationship Id="rId17" Type="http://schemas.openxmlformats.org/officeDocument/2006/relationships/tags" Target="../tags/tag73.xml"/><Relationship Id="rId25" Type="http://schemas.openxmlformats.org/officeDocument/2006/relationships/image" Target="../media/image21.png"/><Relationship Id="rId2" Type="http://schemas.openxmlformats.org/officeDocument/2006/relationships/tags" Target="../tags/tag58.xml"/><Relationship Id="rId16" Type="http://schemas.openxmlformats.org/officeDocument/2006/relationships/tags" Target="../tags/tag72.xml"/><Relationship Id="rId20" Type="http://schemas.openxmlformats.org/officeDocument/2006/relationships/image" Target="../media/image3.png"/><Relationship Id="rId29" Type="http://schemas.openxmlformats.org/officeDocument/2006/relationships/image" Target="../media/image25.png"/><Relationship Id="rId1" Type="http://schemas.openxmlformats.org/officeDocument/2006/relationships/tags" Target="../tags/tag57.xml"/><Relationship Id="rId6" Type="http://schemas.openxmlformats.org/officeDocument/2006/relationships/tags" Target="../tags/tag62.xml"/><Relationship Id="rId11" Type="http://schemas.openxmlformats.org/officeDocument/2006/relationships/tags" Target="../tags/tag67.xml"/><Relationship Id="rId24" Type="http://schemas.openxmlformats.org/officeDocument/2006/relationships/image" Target="../media/image20.png"/><Relationship Id="rId5" Type="http://schemas.openxmlformats.org/officeDocument/2006/relationships/tags" Target="../tags/tag61.xml"/><Relationship Id="rId15" Type="http://schemas.openxmlformats.org/officeDocument/2006/relationships/tags" Target="../tags/tag71.xml"/><Relationship Id="rId23" Type="http://schemas.openxmlformats.org/officeDocument/2006/relationships/image" Target="../media/image19.png"/><Relationship Id="rId28" Type="http://schemas.openxmlformats.org/officeDocument/2006/relationships/image" Target="../media/image24.png"/><Relationship Id="rId10" Type="http://schemas.openxmlformats.org/officeDocument/2006/relationships/tags" Target="../tags/tag66.xml"/><Relationship Id="rId19" Type="http://schemas.openxmlformats.org/officeDocument/2006/relationships/notesSlide" Target="../notesSlides/notesSlide6.xml"/><Relationship Id="rId4" Type="http://schemas.openxmlformats.org/officeDocument/2006/relationships/tags" Target="../tags/tag60.xml"/><Relationship Id="rId9" Type="http://schemas.openxmlformats.org/officeDocument/2006/relationships/tags" Target="../tags/tag65.xml"/><Relationship Id="rId14" Type="http://schemas.openxmlformats.org/officeDocument/2006/relationships/tags" Target="../tags/tag70.xml"/><Relationship Id="rId22" Type="http://schemas.openxmlformats.org/officeDocument/2006/relationships/image" Target="../media/image18.png"/><Relationship Id="rId27" Type="http://schemas.openxmlformats.org/officeDocument/2006/relationships/image" Target="../media/image23.png"/><Relationship Id="rId30" Type="http://schemas.openxmlformats.org/officeDocument/2006/relationships/image" Target="../media/image26.png"/></Relationships>
</file>

<file path=ppt/slides/_rels/slide7.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notesSlide" Target="../notesSlides/notesSlide7.xml"/><Relationship Id="rId7" Type="http://schemas.openxmlformats.org/officeDocument/2006/relationships/image" Target="../media/image29.png"/><Relationship Id="rId2" Type="http://schemas.openxmlformats.org/officeDocument/2006/relationships/slideLayout" Target="../slideLayouts/slideLayout2.xml"/><Relationship Id="rId1" Type="http://schemas.openxmlformats.org/officeDocument/2006/relationships/tags" Target="../tags/tag75.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7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0.xml"/><Relationship Id="rId1" Type="http://schemas.openxmlformats.org/officeDocument/2006/relationships/tags" Target="../tags/tag79.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33.png"/><Relationship Id="rId3" Type="http://schemas.openxmlformats.org/officeDocument/2006/relationships/tags" Target="../tags/tag84.xml"/><Relationship Id="rId7" Type="http://schemas.openxmlformats.org/officeDocument/2006/relationships/notesSlide" Target="../notesSlides/notesSlide10.xml"/><Relationship Id="rId12" Type="http://schemas.openxmlformats.org/officeDocument/2006/relationships/image" Target="../media/image32.png"/><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slideLayout" Target="../slideLayouts/slideLayout2.xml"/><Relationship Id="rId11" Type="http://schemas.openxmlformats.org/officeDocument/2006/relationships/image" Target="../media/image31.png"/><Relationship Id="rId5" Type="http://schemas.openxmlformats.org/officeDocument/2006/relationships/tags" Target="../tags/tag86.xml"/><Relationship Id="rId10" Type="http://schemas.openxmlformats.org/officeDocument/2006/relationships/image" Target="../media/image8.png"/><Relationship Id="rId4" Type="http://schemas.openxmlformats.org/officeDocument/2006/relationships/tags" Target="../tags/tag85.xml"/><Relationship Id="rId9" Type="http://schemas.openxmlformats.org/officeDocument/2006/relationships/image" Target="../media/image5.png"/><Relationship Id="rId1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tags" Target="../tags/tag95.xml"/><Relationship Id="rId13" Type="http://schemas.openxmlformats.org/officeDocument/2006/relationships/tags" Target="../tags/tag100.xml"/><Relationship Id="rId18" Type="http://schemas.openxmlformats.org/officeDocument/2006/relationships/tags" Target="../tags/tag105.xml"/><Relationship Id="rId26" Type="http://schemas.openxmlformats.org/officeDocument/2006/relationships/image" Target="../media/image36.png"/><Relationship Id="rId3" Type="http://schemas.openxmlformats.org/officeDocument/2006/relationships/tags" Target="../tags/tag90.xml"/><Relationship Id="rId21" Type="http://schemas.openxmlformats.org/officeDocument/2006/relationships/tags" Target="../tags/tag108.xml"/><Relationship Id="rId7" Type="http://schemas.openxmlformats.org/officeDocument/2006/relationships/tags" Target="../tags/tag94.xml"/><Relationship Id="rId12" Type="http://schemas.openxmlformats.org/officeDocument/2006/relationships/tags" Target="../tags/tag99.xml"/><Relationship Id="rId17" Type="http://schemas.openxmlformats.org/officeDocument/2006/relationships/tags" Target="../tags/tag104.xml"/><Relationship Id="rId25" Type="http://schemas.openxmlformats.org/officeDocument/2006/relationships/image" Target="../media/image35.png"/><Relationship Id="rId2" Type="http://schemas.openxmlformats.org/officeDocument/2006/relationships/tags" Target="../tags/tag89.xml"/><Relationship Id="rId16" Type="http://schemas.openxmlformats.org/officeDocument/2006/relationships/tags" Target="../tags/tag103.xml"/><Relationship Id="rId20" Type="http://schemas.openxmlformats.org/officeDocument/2006/relationships/tags" Target="../tags/tag107.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tags" Target="../tags/tag98.xml"/><Relationship Id="rId24" Type="http://schemas.openxmlformats.org/officeDocument/2006/relationships/image" Target="../media/image34.png"/><Relationship Id="rId5" Type="http://schemas.openxmlformats.org/officeDocument/2006/relationships/tags" Target="../tags/tag92.xml"/><Relationship Id="rId15" Type="http://schemas.openxmlformats.org/officeDocument/2006/relationships/tags" Target="../tags/tag102.xml"/><Relationship Id="rId23" Type="http://schemas.openxmlformats.org/officeDocument/2006/relationships/notesSlide" Target="../notesSlides/notesSlide11.xml"/><Relationship Id="rId28" Type="http://schemas.openxmlformats.org/officeDocument/2006/relationships/image" Target="../media/image37.png"/><Relationship Id="rId10" Type="http://schemas.openxmlformats.org/officeDocument/2006/relationships/tags" Target="../tags/tag97.xml"/><Relationship Id="rId19" Type="http://schemas.openxmlformats.org/officeDocument/2006/relationships/tags" Target="../tags/tag106.xml"/><Relationship Id="rId4" Type="http://schemas.openxmlformats.org/officeDocument/2006/relationships/tags" Target="../tags/tag91.xml"/><Relationship Id="rId9" Type="http://schemas.openxmlformats.org/officeDocument/2006/relationships/tags" Target="../tags/tag96.xml"/><Relationship Id="rId14" Type="http://schemas.openxmlformats.org/officeDocument/2006/relationships/tags" Target="../tags/tag101.xml"/><Relationship Id="rId22" Type="http://schemas.openxmlformats.org/officeDocument/2006/relationships/slideLayout" Target="../slideLayouts/slideLayout2.xml"/><Relationship Id="rId27"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6.xml"/><Relationship Id="rId1" Type="http://schemas.openxmlformats.org/officeDocument/2006/relationships/tags" Target="../tags/tag110.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1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114.xml"/><Relationship Id="rId1" Type="http://schemas.openxmlformats.org/officeDocument/2006/relationships/tags" Target="../tags/tag113.xml"/><Relationship Id="rId5" Type="http://schemas.openxmlformats.org/officeDocument/2006/relationships/image" Target="../media/image3.png"/><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7.xml"/><Relationship Id="rId1" Type="http://schemas.openxmlformats.org/officeDocument/2006/relationships/tags" Target="../tags/tag116.xml"/><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image" Target="../media/image8.png"/><Relationship Id="rId3" Type="http://schemas.openxmlformats.org/officeDocument/2006/relationships/tags" Target="../tags/tag121.xml"/><Relationship Id="rId7" Type="http://schemas.openxmlformats.org/officeDocument/2006/relationships/notesSlide" Target="../notesSlides/notesSlide16.xml"/><Relationship Id="rId12" Type="http://schemas.openxmlformats.org/officeDocument/2006/relationships/image" Target="../media/image5.png"/><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slideLayout" Target="../slideLayouts/slideLayout2.xml"/><Relationship Id="rId11" Type="http://schemas.openxmlformats.org/officeDocument/2006/relationships/image" Target="../media/image7.png"/><Relationship Id="rId5" Type="http://schemas.openxmlformats.org/officeDocument/2006/relationships/tags" Target="../tags/tag123.xml"/><Relationship Id="rId10" Type="http://schemas.openxmlformats.org/officeDocument/2006/relationships/image" Target="../media/image29.png"/><Relationship Id="rId4" Type="http://schemas.openxmlformats.org/officeDocument/2006/relationships/tags" Target="../tags/tag122.xml"/><Relationship Id="rId9" Type="http://schemas.openxmlformats.org/officeDocument/2006/relationships/image" Target="../media/image38.png"/></Relationships>
</file>

<file path=ppt/slides/_rels/slide18.xml.rels><?xml version="1.0" encoding="UTF-8" standalone="yes"?>
<Relationships xmlns="http://schemas.openxmlformats.org/package/2006/relationships"><Relationship Id="rId13" Type="http://schemas.openxmlformats.org/officeDocument/2006/relationships/tags" Target="../tags/tag137.xml"/><Relationship Id="rId18" Type="http://schemas.openxmlformats.org/officeDocument/2006/relationships/tags" Target="../tags/tag142.xml"/><Relationship Id="rId26" Type="http://schemas.openxmlformats.org/officeDocument/2006/relationships/tags" Target="../tags/tag150.xml"/><Relationship Id="rId3" Type="http://schemas.openxmlformats.org/officeDocument/2006/relationships/tags" Target="../tags/tag127.xml"/><Relationship Id="rId21" Type="http://schemas.openxmlformats.org/officeDocument/2006/relationships/tags" Target="../tags/tag145.xml"/><Relationship Id="rId34" Type="http://schemas.openxmlformats.org/officeDocument/2006/relationships/image" Target="../media/image29.png"/><Relationship Id="rId7" Type="http://schemas.openxmlformats.org/officeDocument/2006/relationships/tags" Target="../tags/tag131.xml"/><Relationship Id="rId12" Type="http://schemas.openxmlformats.org/officeDocument/2006/relationships/tags" Target="../tags/tag136.xml"/><Relationship Id="rId17" Type="http://schemas.openxmlformats.org/officeDocument/2006/relationships/tags" Target="../tags/tag141.xml"/><Relationship Id="rId25" Type="http://schemas.openxmlformats.org/officeDocument/2006/relationships/tags" Target="../tags/tag149.xml"/><Relationship Id="rId33" Type="http://schemas.openxmlformats.org/officeDocument/2006/relationships/image" Target="../media/image39.png"/><Relationship Id="rId2" Type="http://schemas.openxmlformats.org/officeDocument/2006/relationships/tags" Target="../tags/tag126.xml"/><Relationship Id="rId16" Type="http://schemas.openxmlformats.org/officeDocument/2006/relationships/tags" Target="../tags/tag140.xml"/><Relationship Id="rId20" Type="http://schemas.openxmlformats.org/officeDocument/2006/relationships/tags" Target="../tags/tag144.xml"/><Relationship Id="rId29" Type="http://schemas.openxmlformats.org/officeDocument/2006/relationships/tags" Target="../tags/tag153.xml"/><Relationship Id="rId1" Type="http://schemas.openxmlformats.org/officeDocument/2006/relationships/tags" Target="../tags/tag125.xml"/><Relationship Id="rId6" Type="http://schemas.openxmlformats.org/officeDocument/2006/relationships/tags" Target="../tags/tag130.xml"/><Relationship Id="rId11" Type="http://schemas.openxmlformats.org/officeDocument/2006/relationships/tags" Target="../tags/tag135.xml"/><Relationship Id="rId24" Type="http://schemas.openxmlformats.org/officeDocument/2006/relationships/tags" Target="../tags/tag148.xml"/><Relationship Id="rId32" Type="http://schemas.openxmlformats.org/officeDocument/2006/relationships/image" Target="../media/image34.png"/><Relationship Id="rId5" Type="http://schemas.openxmlformats.org/officeDocument/2006/relationships/tags" Target="../tags/tag129.xml"/><Relationship Id="rId15" Type="http://schemas.openxmlformats.org/officeDocument/2006/relationships/tags" Target="../tags/tag139.xml"/><Relationship Id="rId23" Type="http://schemas.openxmlformats.org/officeDocument/2006/relationships/tags" Target="../tags/tag147.xml"/><Relationship Id="rId28" Type="http://schemas.openxmlformats.org/officeDocument/2006/relationships/tags" Target="../tags/tag152.xml"/><Relationship Id="rId36" Type="http://schemas.openxmlformats.org/officeDocument/2006/relationships/image" Target="../media/image41.png"/><Relationship Id="rId10" Type="http://schemas.openxmlformats.org/officeDocument/2006/relationships/tags" Target="../tags/tag134.xml"/><Relationship Id="rId19" Type="http://schemas.openxmlformats.org/officeDocument/2006/relationships/tags" Target="../tags/tag143.xml"/><Relationship Id="rId31" Type="http://schemas.openxmlformats.org/officeDocument/2006/relationships/notesSlide" Target="../notesSlides/notesSlide17.xml"/><Relationship Id="rId4" Type="http://schemas.openxmlformats.org/officeDocument/2006/relationships/tags" Target="../tags/tag128.xml"/><Relationship Id="rId9" Type="http://schemas.openxmlformats.org/officeDocument/2006/relationships/tags" Target="../tags/tag133.xml"/><Relationship Id="rId14" Type="http://schemas.openxmlformats.org/officeDocument/2006/relationships/tags" Target="../tags/tag138.xml"/><Relationship Id="rId22" Type="http://schemas.openxmlformats.org/officeDocument/2006/relationships/tags" Target="../tags/tag146.xml"/><Relationship Id="rId27" Type="http://schemas.openxmlformats.org/officeDocument/2006/relationships/tags" Target="../tags/tag151.xml"/><Relationship Id="rId30" Type="http://schemas.openxmlformats.org/officeDocument/2006/relationships/slideLayout" Target="../slideLayouts/slideLayout2.xml"/><Relationship Id="rId35" Type="http://schemas.openxmlformats.org/officeDocument/2006/relationships/image" Target="../media/image40.png"/><Relationship Id="rId8" Type="http://schemas.openxmlformats.org/officeDocument/2006/relationships/tags" Target="../tags/tag132.xml"/></Relationships>
</file>

<file path=ppt/slides/_rels/slide19.xml.rels><?xml version="1.0" encoding="UTF-8" standalone="yes"?>
<Relationships xmlns="http://schemas.openxmlformats.org/package/2006/relationships"><Relationship Id="rId8" Type="http://schemas.openxmlformats.org/officeDocument/2006/relationships/tags" Target="../tags/tag162.xml"/><Relationship Id="rId13" Type="http://schemas.openxmlformats.org/officeDocument/2006/relationships/image" Target="../media/image44.png"/><Relationship Id="rId3" Type="http://schemas.openxmlformats.org/officeDocument/2006/relationships/tags" Target="../tags/tag157.xml"/><Relationship Id="rId7" Type="http://schemas.openxmlformats.org/officeDocument/2006/relationships/tags" Target="../tags/tag161.xml"/><Relationship Id="rId12" Type="http://schemas.openxmlformats.org/officeDocument/2006/relationships/image" Target="../media/image43.png"/><Relationship Id="rId2" Type="http://schemas.openxmlformats.org/officeDocument/2006/relationships/tags" Target="../tags/tag156.xml"/><Relationship Id="rId1" Type="http://schemas.openxmlformats.org/officeDocument/2006/relationships/tags" Target="../tags/tag155.xml"/><Relationship Id="rId6" Type="http://schemas.openxmlformats.org/officeDocument/2006/relationships/tags" Target="../tags/tag160.xml"/><Relationship Id="rId11" Type="http://schemas.openxmlformats.org/officeDocument/2006/relationships/image" Target="../media/image42.png"/><Relationship Id="rId5" Type="http://schemas.openxmlformats.org/officeDocument/2006/relationships/tags" Target="../tags/tag159.xml"/><Relationship Id="rId10" Type="http://schemas.openxmlformats.org/officeDocument/2006/relationships/notesSlide" Target="../notesSlides/notesSlide18.xml"/><Relationship Id="rId4" Type="http://schemas.openxmlformats.org/officeDocument/2006/relationships/tags" Target="../tags/tag158.xml"/><Relationship Id="rId9" Type="http://schemas.openxmlformats.org/officeDocument/2006/relationships/slideLayout" Target="../slideLayouts/slideLayout2.xml"/><Relationship Id="rId14" Type="http://schemas.openxmlformats.org/officeDocument/2006/relationships/image" Target="../media/image45.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5.xml"/><Relationship Id="rId1" Type="http://schemas.openxmlformats.org/officeDocument/2006/relationships/tags" Target="../tags/tag164.xml"/><Relationship Id="rId5" Type="http://schemas.openxmlformats.org/officeDocument/2006/relationships/image" Target="../media/image3.png"/><Relationship Id="rId4"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8.xml"/><Relationship Id="rId1" Type="http://schemas.openxmlformats.org/officeDocument/2006/relationships/tags" Target="../tags/tag167.xml"/><Relationship Id="rId4"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3" Type="http://schemas.openxmlformats.org/officeDocument/2006/relationships/tags" Target="../tags/tag182.xml"/><Relationship Id="rId18" Type="http://schemas.openxmlformats.org/officeDocument/2006/relationships/tags" Target="../tags/tag187.xml"/><Relationship Id="rId26" Type="http://schemas.openxmlformats.org/officeDocument/2006/relationships/tags" Target="../tags/tag195.xml"/><Relationship Id="rId21" Type="http://schemas.openxmlformats.org/officeDocument/2006/relationships/tags" Target="../tags/tag190.xml"/><Relationship Id="rId34" Type="http://schemas.openxmlformats.org/officeDocument/2006/relationships/image" Target="../media/image8.png"/><Relationship Id="rId7" Type="http://schemas.openxmlformats.org/officeDocument/2006/relationships/tags" Target="../tags/tag176.xml"/><Relationship Id="rId12" Type="http://schemas.openxmlformats.org/officeDocument/2006/relationships/tags" Target="../tags/tag181.xml"/><Relationship Id="rId17" Type="http://schemas.openxmlformats.org/officeDocument/2006/relationships/tags" Target="../tags/tag186.xml"/><Relationship Id="rId25" Type="http://schemas.openxmlformats.org/officeDocument/2006/relationships/tags" Target="../tags/tag194.xml"/><Relationship Id="rId33" Type="http://schemas.openxmlformats.org/officeDocument/2006/relationships/image" Target="../media/image7.png"/><Relationship Id="rId2" Type="http://schemas.openxmlformats.org/officeDocument/2006/relationships/tags" Target="../tags/tag171.xml"/><Relationship Id="rId16" Type="http://schemas.openxmlformats.org/officeDocument/2006/relationships/tags" Target="../tags/tag185.xml"/><Relationship Id="rId20" Type="http://schemas.openxmlformats.org/officeDocument/2006/relationships/tags" Target="../tags/tag189.xml"/><Relationship Id="rId29" Type="http://schemas.openxmlformats.org/officeDocument/2006/relationships/slideLayout" Target="../slideLayouts/slideLayout2.xml"/><Relationship Id="rId1" Type="http://schemas.openxmlformats.org/officeDocument/2006/relationships/tags" Target="../tags/tag170.xml"/><Relationship Id="rId6" Type="http://schemas.openxmlformats.org/officeDocument/2006/relationships/tags" Target="../tags/tag175.xml"/><Relationship Id="rId11" Type="http://schemas.openxmlformats.org/officeDocument/2006/relationships/tags" Target="../tags/tag180.xml"/><Relationship Id="rId24" Type="http://schemas.openxmlformats.org/officeDocument/2006/relationships/tags" Target="../tags/tag193.xml"/><Relationship Id="rId32" Type="http://schemas.openxmlformats.org/officeDocument/2006/relationships/image" Target="../media/image5.png"/><Relationship Id="rId37" Type="http://schemas.openxmlformats.org/officeDocument/2006/relationships/image" Target="../media/image47.png"/><Relationship Id="rId5" Type="http://schemas.openxmlformats.org/officeDocument/2006/relationships/tags" Target="../tags/tag174.xml"/><Relationship Id="rId15" Type="http://schemas.openxmlformats.org/officeDocument/2006/relationships/tags" Target="../tags/tag184.xml"/><Relationship Id="rId23" Type="http://schemas.openxmlformats.org/officeDocument/2006/relationships/tags" Target="../tags/tag192.xml"/><Relationship Id="rId28" Type="http://schemas.openxmlformats.org/officeDocument/2006/relationships/tags" Target="../tags/tag197.xml"/><Relationship Id="rId36" Type="http://schemas.openxmlformats.org/officeDocument/2006/relationships/image" Target="../media/image46.png"/><Relationship Id="rId10" Type="http://schemas.openxmlformats.org/officeDocument/2006/relationships/tags" Target="../tags/tag179.xml"/><Relationship Id="rId19" Type="http://schemas.openxmlformats.org/officeDocument/2006/relationships/tags" Target="../tags/tag188.xml"/><Relationship Id="rId31" Type="http://schemas.openxmlformats.org/officeDocument/2006/relationships/image" Target="../media/image3.png"/><Relationship Id="rId4" Type="http://schemas.openxmlformats.org/officeDocument/2006/relationships/tags" Target="../tags/tag173.xml"/><Relationship Id="rId9" Type="http://schemas.openxmlformats.org/officeDocument/2006/relationships/tags" Target="../tags/tag178.xml"/><Relationship Id="rId14" Type="http://schemas.openxmlformats.org/officeDocument/2006/relationships/tags" Target="../tags/tag183.xml"/><Relationship Id="rId22" Type="http://schemas.openxmlformats.org/officeDocument/2006/relationships/tags" Target="../tags/tag191.xml"/><Relationship Id="rId27" Type="http://schemas.openxmlformats.org/officeDocument/2006/relationships/tags" Target="../tags/tag196.xml"/><Relationship Id="rId30" Type="http://schemas.openxmlformats.org/officeDocument/2006/relationships/notesSlide" Target="../notesSlides/notesSlide21.xml"/><Relationship Id="rId35" Type="http://schemas.openxmlformats.org/officeDocument/2006/relationships/image" Target="../media/image9.png"/><Relationship Id="rId8" Type="http://schemas.openxmlformats.org/officeDocument/2006/relationships/tags" Target="../tags/tag177.xml"/><Relationship Id="rId3" Type="http://schemas.openxmlformats.org/officeDocument/2006/relationships/tags" Target="../tags/tag172.xml"/></Relationships>
</file>

<file path=ppt/slides/_rels/slide23.xml.rels><?xml version="1.0" encoding="UTF-8" standalone="yes"?>
<Relationships xmlns="http://schemas.openxmlformats.org/package/2006/relationships"><Relationship Id="rId13" Type="http://schemas.openxmlformats.org/officeDocument/2006/relationships/tags" Target="../tags/tag211.xml"/><Relationship Id="rId18" Type="http://schemas.openxmlformats.org/officeDocument/2006/relationships/tags" Target="../tags/tag216.xml"/><Relationship Id="rId26" Type="http://schemas.openxmlformats.org/officeDocument/2006/relationships/tags" Target="../tags/tag224.xml"/><Relationship Id="rId39" Type="http://schemas.openxmlformats.org/officeDocument/2006/relationships/tags" Target="../tags/tag237.xml"/><Relationship Id="rId21" Type="http://schemas.openxmlformats.org/officeDocument/2006/relationships/tags" Target="../tags/tag219.xml"/><Relationship Id="rId34" Type="http://schemas.openxmlformats.org/officeDocument/2006/relationships/tags" Target="../tags/tag232.xml"/><Relationship Id="rId42" Type="http://schemas.openxmlformats.org/officeDocument/2006/relationships/slideLayout" Target="../slideLayouts/slideLayout2.xml"/><Relationship Id="rId47" Type="http://schemas.openxmlformats.org/officeDocument/2006/relationships/image" Target="../media/image15.png"/><Relationship Id="rId7" Type="http://schemas.openxmlformats.org/officeDocument/2006/relationships/tags" Target="../tags/tag205.xml"/><Relationship Id="rId2" Type="http://schemas.openxmlformats.org/officeDocument/2006/relationships/tags" Target="../tags/tag200.xml"/><Relationship Id="rId16" Type="http://schemas.openxmlformats.org/officeDocument/2006/relationships/tags" Target="../tags/tag214.xml"/><Relationship Id="rId29" Type="http://schemas.openxmlformats.org/officeDocument/2006/relationships/tags" Target="../tags/tag227.xml"/><Relationship Id="rId1" Type="http://schemas.openxmlformats.org/officeDocument/2006/relationships/tags" Target="../tags/tag199.xml"/><Relationship Id="rId6" Type="http://schemas.openxmlformats.org/officeDocument/2006/relationships/tags" Target="../tags/tag204.xml"/><Relationship Id="rId11" Type="http://schemas.openxmlformats.org/officeDocument/2006/relationships/tags" Target="../tags/tag209.xml"/><Relationship Id="rId24" Type="http://schemas.openxmlformats.org/officeDocument/2006/relationships/tags" Target="../tags/tag222.xml"/><Relationship Id="rId32" Type="http://schemas.openxmlformats.org/officeDocument/2006/relationships/tags" Target="../tags/tag230.xml"/><Relationship Id="rId37" Type="http://schemas.openxmlformats.org/officeDocument/2006/relationships/tags" Target="../tags/tag235.xml"/><Relationship Id="rId40" Type="http://schemas.openxmlformats.org/officeDocument/2006/relationships/tags" Target="../tags/tag238.xml"/><Relationship Id="rId45" Type="http://schemas.openxmlformats.org/officeDocument/2006/relationships/image" Target="../media/image49.png"/><Relationship Id="rId5" Type="http://schemas.openxmlformats.org/officeDocument/2006/relationships/tags" Target="../tags/tag203.xml"/><Relationship Id="rId15" Type="http://schemas.openxmlformats.org/officeDocument/2006/relationships/tags" Target="../tags/tag213.xml"/><Relationship Id="rId23" Type="http://schemas.openxmlformats.org/officeDocument/2006/relationships/tags" Target="../tags/tag221.xml"/><Relationship Id="rId28" Type="http://schemas.openxmlformats.org/officeDocument/2006/relationships/tags" Target="../tags/tag226.xml"/><Relationship Id="rId36" Type="http://schemas.openxmlformats.org/officeDocument/2006/relationships/tags" Target="../tags/tag234.xml"/><Relationship Id="rId10" Type="http://schemas.openxmlformats.org/officeDocument/2006/relationships/tags" Target="../tags/tag208.xml"/><Relationship Id="rId19" Type="http://schemas.openxmlformats.org/officeDocument/2006/relationships/tags" Target="../tags/tag217.xml"/><Relationship Id="rId31" Type="http://schemas.openxmlformats.org/officeDocument/2006/relationships/tags" Target="../tags/tag229.xml"/><Relationship Id="rId44" Type="http://schemas.openxmlformats.org/officeDocument/2006/relationships/image" Target="../media/image48.png"/><Relationship Id="rId4" Type="http://schemas.openxmlformats.org/officeDocument/2006/relationships/tags" Target="../tags/tag202.xml"/><Relationship Id="rId9" Type="http://schemas.openxmlformats.org/officeDocument/2006/relationships/tags" Target="../tags/tag207.xml"/><Relationship Id="rId14" Type="http://schemas.openxmlformats.org/officeDocument/2006/relationships/tags" Target="../tags/tag212.xml"/><Relationship Id="rId22" Type="http://schemas.openxmlformats.org/officeDocument/2006/relationships/tags" Target="../tags/tag220.xml"/><Relationship Id="rId27" Type="http://schemas.openxmlformats.org/officeDocument/2006/relationships/tags" Target="../tags/tag225.xml"/><Relationship Id="rId30" Type="http://schemas.openxmlformats.org/officeDocument/2006/relationships/tags" Target="../tags/tag228.xml"/><Relationship Id="rId35" Type="http://schemas.openxmlformats.org/officeDocument/2006/relationships/tags" Target="../tags/tag233.xml"/><Relationship Id="rId43" Type="http://schemas.openxmlformats.org/officeDocument/2006/relationships/notesSlide" Target="../notesSlides/notesSlide22.xml"/><Relationship Id="rId48" Type="http://schemas.openxmlformats.org/officeDocument/2006/relationships/image" Target="../media/image50.png"/><Relationship Id="rId8" Type="http://schemas.openxmlformats.org/officeDocument/2006/relationships/tags" Target="../tags/tag206.xml"/><Relationship Id="rId3" Type="http://schemas.openxmlformats.org/officeDocument/2006/relationships/tags" Target="../tags/tag201.xml"/><Relationship Id="rId12" Type="http://schemas.openxmlformats.org/officeDocument/2006/relationships/tags" Target="../tags/tag210.xml"/><Relationship Id="rId17" Type="http://schemas.openxmlformats.org/officeDocument/2006/relationships/tags" Target="../tags/tag215.xml"/><Relationship Id="rId25" Type="http://schemas.openxmlformats.org/officeDocument/2006/relationships/tags" Target="../tags/tag223.xml"/><Relationship Id="rId33" Type="http://schemas.openxmlformats.org/officeDocument/2006/relationships/tags" Target="../tags/tag231.xml"/><Relationship Id="rId38" Type="http://schemas.openxmlformats.org/officeDocument/2006/relationships/tags" Target="../tags/tag236.xml"/><Relationship Id="rId46" Type="http://schemas.openxmlformats.org/officeDocument/2006/relationships/image" Target="../media/image14.png"/><Relationship Id="rId20" Type="http://schemas.openxmlformats.org/officeDocument/2006/relationships/tags" Target="../tags/tag218.xml"/><Relationship Id="rId41" Type="http://schemas.openxmlformats.org/officeDocument/2006/relationships/tags" Target="../tags/tag239.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2.xml"/><Relationship Id="rId1" Type="http://schemas.openxmlformats.org/officeDocument/2006/relationships/tags" Target="../tags/tag241.xml"/><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43.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46.xml"/><Relationship Id="rId1" Type="http://schemas.openxmlformats.org/officeDocument/2006/relationships/tags" Target="../tags/tag245.xml"/><Relationship Id="rId4"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49.xml"/><Relationship Id="rId1" Type="http://schemas.openxmlformats.org/officeDocument/2006/relationships/tags" Target="../tags/tag248.xml"/><Relationship Id="rId4"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2.xml"/><Relationship Id="rId1" Type="http://schemas.openxmlformats.org/officeDocument/2006/relationships/tags" Target="../tags/tag251.xml"/></Relationships>
</file>

<file path=ppt/slides/_rels/slide29.xml.rels><?xml version="1.0" encoding="UTF-8" standalone="yes"?>
<Relationships xmlns="http://schemas.openxmlformats.org/package/2006/relationships"><Relationship Id="rId3" Type="http://schemas.openxmlformats.org/officeDocument/2006/relationships/tags" Target="../tags/tag255.xml"/><Relationship Id="rId7" Type="http://schemas.openxmlformats.org/officeDocument/2006/relationships/image" Target="../media/image3.png"/><Relationship Id="rId2" Type="http://schemas.openxmlformats.org/officeDocument/2006/relationships/tags" Target="../tags/tag254.xml"/><Relationship Id="rId1" Type="http://schemas.openxmlformats.org/officeDocument/2006/relationships/tags" Target="../tags/tag253.xml"/><Relationship Id="rId6" Type="http://schemas.openxmlformats.org/officeDocument/2006/relationships/image" Target="../media/image51.png"/><Relationship Id="rId5" Type="http://schemas.openxmlformats.org/officeDocument/2006/relationships/notesSlide" Target="../notesSlides/notesSlide27.xml"/><Relationship Id="rId4"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58.xml"/><Relationship Id="rId1" Type="http://schemas.openxmlformats.org/officeDocument/2006/relationships/tags" Target="../tags/tag257.xml"/><Relationship Id="rId4"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3" Type="http://schemas.openxmlformats.org/officeDocument/2006/relationships/tags" Target="../tags/tag262.xml"/><Relationship Id="rId2" Type="http://schemas.openxmlformats.org/officeDocument/2006/relationships/tags" Target="../tags/tag261.xml"/><Relationship Id="rId1" Type="http://schemas.openxmlformats.org/officeDocument/2006/relationships/tags" Target="../tags/tag260.xml"/><Relationship Id="rId5" Type="http://schemas.openxmlformats.org/officeDocument/2006/relationships/notesSlide" Target="../notesSlides/notesSlide29.xml"/><Relationship Id="rId4"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8" Type="http://schemas.openxmlformats.org/officeDocument/2006/relationships/notesSlide" Target="../notesSlides/notesSlide30.xml"/><Relationship Id="rId3" Type="http://schemas.openxmlformats.org/officeDocument/2006/relationships/tags" Target="../tags/tag266.xml"/><Relationship Id="rId7" Type="http://schemas.openxmlformats.org/officeDocument/2006/relationships/slideLayout" Target="../slideLayouts/slideLayout2.xml"/><Relationship Id="rId2" Type="http://schemas.openxmlformats.org/officeDocument/2006/relationships/tags" Target="../tags/tag265.xml"/><Relationship Id="rId1" Type="http://schemas.openxmlformats.org/officeDocument/2006/relationships/tags" Target="../tags/tag264.xml"/><Relationship Id="rId6" Type="http://schemas.openxmlformats.org/officeDocument/2006/relationships/tags" Target="../tags/tag269.xml"/><Relationship Id="rId5" Type="http://schemas.openxmlformats.org/officeDocument/2006/relationships/tags" Target="../tags/tag268.xml"/><Relationship Id="rId10" Type="http://schemas.openxmlformats.org/officeDocument/2006/relationships/image" Target="../media/image52.png"/><Relationship Id="rId4" Type="http://schemas.openxmlformats.org/officeDocument/2006/relationships/tags" Target="../tags/tag267.xml"/><Relationship Id="rId9"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1.xml"/><Relationship Id="rId7" Type="http://schemas.openxmlformats.org/officeDocument/2006/relationships/image" Target="../media/image55.png"/><Relationship Id="rId2" Type="http://schemas.openxmlformats.org/officeDocument/2006/relationships/slideLayout" Target="../slideLayouts/slideLayout13.xml"/><Relationship Id="rId1" Type="http://schemas.openxmlformats.org/officeDocument/2006/relationships/tags" Target="../tags/tag271.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custDataLst>
              <p:tags r:id="rId1"/>
            </p:custDataLst>
          </p:nvPr>
        </p:nvSpPr>
        <p:spPr>
          <a:xfrm>
            <a:off x="957943" y="2061028"/>
            <a:ext cx="7162800" cy="3222171"/>
          </a:xfrm>
          <a:noFill/>
          <a:ln/>
        </p:spPr>
        <p:txBody>
          <a:bodyPr>
            <a:normAutofit/>
          </a:bodyPr>
          <a:lstStyle/>
          <a:p>
            <a:pPr algn="ctr"/>
            <a:r>
              <a:rPr lang="en-GB" sz="6000" dirty="0" err="1">
                <a:solidFill>
                  <a:srgbClr val="000000"/>
                </a:solidFill>
              </a:rPr>
              <a:t>Chapitre</a:t>
            </a:r>
            <a:r>
              <a:rPr lang="en-GB" sz="6000" dirty="0">
                <a:solidFill>
                  <a:srgbClr val="000000"/>
                </a:solidFill>
              </a:rPr>
              <a:t> 9 Configuration </a:t>
            </a:r>
            <a:br>
              <a:rPr lang="en-GB" sz="6000" dirty="0">
                <a:solidFill>
                  <a:srgbClr val="000000"/>
                </a:solidFill>
              </a:rPr>
            </a:br>
            <a:r>
              <a:rPr lang="en-GB" sz="6000" dirty="0">
                <a:solidFill>
                  <a:srgbClr val="000000"/>
                </a:solidFill>
              </a:rPr>
              <a:t>de </a:t>
            </a:r>
            <a:r>
              <a:rPr lang="en-GB" sz="6000" dirty="0" err="1">
                <a:solidFill>
                  <a:srgbClr val="000000"/>
                </a:solidFill>
              </a:rPr>
              <a:t>l'accès</a:t>
            </a:r>
            <a:r>
              <a:rPr lang="en-GB" sz="6000" dirty="0">
                <a:solidFill>
                  <a:srgbClr val="000000"/>
                </a:solidFill>
              </a:rPr>
              <a:t> </a:t>
            </a:r>
            <a:r>
              <a:rPr lang="en-GB" sz="6000" dirty="0" err="1">
                <a:solidFill>
                  <a:srgbClr val="000000"/>
                </a:solidFill>
              </a:rPr>
              <a:t>réseau</a:t>
            </a:r>
            <a:endParaRPr lang="en-US" sz="6000" dirty="0">
              <a:solidFill>
                <a:srgbClr val="000000"/>
              </a:solidFill>
            </a:endParaRPr>
          </a:p>
        </p:txBody>
      </p:sp>
      <p:sp>
        <p:nvSpPr>
          <p:cNvPr id="4" name="Rectangle 3"/>
          <p:cNvSpPr/>
          <p:nvPr/>
        </p:nvSpPr>
        <p:spPr>
          <a:xfrm>
            <a:off x="3065614" y="225367"/>
            <a:ext cx="2988319" cy="830997"/>
          </a:xfrm>
          <a:prstGeom prst="rect">
            <a:avLst/>
          </a:prstGeom>
        </p:spPr>
        <p:txBody>
          <a:bodyPr wrap="none">
            <a:spAutoFit/>
          </a:bodyPr>
          <a:lstStyle/>
          <a:p>
            <a:r>
              <a:rPr lang="en-GB" sz="4800" b="1" dirty="0">
                <a:solidFill>
                  <a:srgbClr val="000000"/>
                </a:solidFill>
              </a:rPr>
              <a:t>Module S43</a:t>
            </a:r>
            <a:endParaRPr lang="fr-FR" sz="4800" b="1" dirty="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custDataLst>
              <p:tags r:id="rId1"/>
            </p:custDataLst>
          </p:nvPr>
        </p:nvSpPr>
        <p:spPr/>
        <p:txBody>
          <a:bodyPr/>
          <a:lstStyle/>
          <a:p>
            <a:r>
              <a:rPr lang="en-GB" b="1" dirty="0">
                <a:solidFill>
                  <a:srgbClr val="000000"/>
                </a:solidFill>
              </a:rPr>
              <a:t>Plan du </a:t>
            </a:r>
            <a:r>
              <a:rPr lang="en-GB" b="1" dirty="0" err="1">
                <a:solidFill>
                  <a:srgbClr val="000000"/>
                </a:solidFill>
              </a:rPr>
              <a:t>cours</a:t>
            </a:r>
            <a:endParaRPr lang="en-US" b="1" dirty="0"/>
          </a:p>
        </p:txBody>
      </p:sp>
      <p:sp>
        <p:nvSpPr>
          <p:cNvPr id="6147" name="Rectangle 3"/>
          <p:cNvSpPr>
            <a:spLocks noGrp="1" noChangeArrowheads="1"/>
          </p:cNvSpPr>
          <p:nvPr>
            <p:ph sz="quarter" idx="1"/>
            <p:custDataLst>
              <p:tags r:id="rId2"/>
            </p:custDataLst>
          </p:nvPr>
        </p:nvSpPr>
        <p:spPr>
          <a:xfrm>
            <a:off x="287238" y="1904420"/>
            <a:ext cx="8503920" cy="3886781"/>
          </a:xfrm>
        </p:spPr>
        <p:txBody>
          <a:bodyPr/>
          <a:lstStyle/>
          <a:p>
            <a:pPr marL="514350" indent="-514350">
              <a:buClr>
                <a:schemeClr val="tx1"/>
              </a:buClr>
              <a:buFont typeface="+mj-lt"/>
              <a:buAutoNum type="arabicPeriod"/>
            </a:pPr>
            <a:r>
              <a:rPr lang="en-GB" dirty="0">
                <a:solidFill>
                  <a:srgbClr val="000000"/>
                </a:solidFill>
              </a:rPr>
              <a:t>Introduction à </a:t>
            </a:r>
            <a:r>
              <a:rPr lang="en-GB" dirty="0" err="1">
                <a:solidFill>
                  <a:srgbClr val="000000"/>
                </a:solidFill>
              </a:rPr>
              <a:t>l'infrastructure</a:t>
            </a:r>
            <a:r>
              <a:rPr lang="en-GB" dirty="0">
                <a:solidFill>
                  <a:srgbClr val="000000"/>
                </a:solidFill>
              </a:rPr>
              <a:t> </a:t>
            </a:r>
            <a:r>
              <a:rPr lang="en-GB" dirty="0" err="1">
                <a:solidFill>
                  <a:srgbClr val="000000"/>
                </a:solidFill>
              </a:rPr>
              <a:t>d'accès</a:t>
            </a:r>
            <a:r>
              <a:rPr lang="en-GB" dirty="0">
                <a:solidFill>
                  <a:srgbClr val="000000"/>
                </a:solidFill>
              </a:rPr>
              <a:t> </a:t>
            </a:r>
            <a:r>
              <a:rPr lang="en-GB" dirty="0" err="1">
                <a:solidFill>
                  <a:srgbClr val="000000"/>
                </a:solidFill>
              </a:rPr>
              <a:t>réseau</a:t>
            </a:r>
            <a:endParaRPr lang="en-US" dirty="0"/>
          </a:p>
          <a:p>
            <a:pPr marL="514350" indent="-514350">
              <a:buClr>
                <a:schemeClr val="tx1"/>
              </a:buClr>
              <a:buFont typeface="+mj-lt"/>
              <a:buAutoNum type="arabicPeriod"/>
            </a:pPr>
            <a:r>
              <a:rPr lang="en-GB" dirty="0">
                <a:solidFill>
                  <a:srgbClr val="000000"/>
                </a:solidFill>
              </a:rPr>
              <a:t>Configuration </a:t>
            </a:r>
            <a:r>
              <a:rPr lang="en-GB" dirty="0" err="1">
                <a:solidFill>
                  <a:srgbClr val="000000"/>
                </a:solidFill>
              </a:rPr>
              <a:t>d'une</a:t>
            </a:r>
            <a:r>
              <a:rPr lang="en-GB" dirty="0">
                <a:solidFill>
                  <a:srgbClr val="000000"/>
                </a:solidFill>
              </a:rPr>
              <a:t> connexion VPN</a:t>
            </a:r>
            <a:endParaRPr lang="en-US" dirty="0"/>
          </a:p>
          <a:p>
            <a:pPr marL="514350" indent="-514350">
              <a:buClr>
                <a:schemeClr val="tx1"/>
              </a:buClr>
              <a:buFont typeface="+mj-lt"/>
              <a:buAutoNum type="arabicPeriod"/>
            </a:pPr>
            <a:r>
              <a:rPr lang="en-GB" dirty="0">
                <a:solidFill>
                  <a:srgbClr val="000000"/>
                </a:solidFill>
              </a:rPr>
              <a:t>Configuration </a:t>
            </a:r>
            <a:r>
              <a:rPr lang="en-GB" dirty="0" err="1">
                <a:solidFill>
                  <a:srgbClr val="000000"/>
                </a:solidFill>
              </a:rPr>
              <a:t>d'une</a:t>
            </a:r>
            <a:r>
              <a:rPr lang="en-GB" dirty="0">
                <a:solidFill>
                  <a:srgbClr val="000000"/>
                </a:solidFill>
              </a:rPr>
              <a:t> connexion </a:t>
            </a:r>
            <a:r>
              <a:rPr lang="en-GB" dirty="0" err="1">
                <a:solidFill>
                  <a:srgbClr val="000000"/>
                </a:solidFill>
              </a:rPr>
              <a:t>d'accès</a:t>
            </a:r>
            <a:r>
              <a:rPr lang="en-GB" dirty="0">
                <a:solidFill>
                  <a:srgbClr val="000000"/>
                </a:solidFill>
              </a:rPr>
              <a:t> à distance</a:t>
            </a:r>
            <a:endParaRPr lang="en-US" dirty="0"/>
          </a:p>
          <a:p>
            <a:pPr marL="514350" indent="-514350">
              <a:buClr>
                <a:schemeClr val="tx1"/>
              </a:buClr>
              <a:buFont typeface="+mj-lt"/>
              <a:buAutoNum type="arabicPeriod"/>
            </a:pPr>
            <a:r>
              <a:rPr lang="en-GB" dirty="0">
                <a:solidFill>
                  <a:srgbClr val="000000"/>
                </a:solidFill>
              </a:rPr>
              <a:t>Configuration </a:t>
            </a:r>
            <a:r>
              <a:rPr lang="en-GB" dirty="0" err="1">
                <a:solidFill>
                  <a:srgbClr val="000000"/>
                </a:solidFill>
              </a:rPr>
              <a:t>d'une</a:t>
            </a:r>
            <a:r>
              <a:rPr lang="en-GB" dirty="0">
                <a:solidFill>
                  <a:srgbClr val="000000"/>
                </a:solidFill>
              </a:rPr>
              <a:t> connexion sans </a:t>
            </a:r>
            <a:r>
              <a:rPr lang="en-GB" dirty="0" err="1">
                <a:solidFill>
                  <a:srgbClr val="000000"/>
                </a:solidFill>
              </a:rPr>
              <a:t>fil</a:t>
            </a:r>
            <a:endParaRPr lang="en-US" dirty="0">
              <a:solidFill>
                <a:srgbClr val="3333CC"/>
              </a:solidFill>
            </a:endParaRPr>
          </a:p>
          <a:p>
            <a:pPr marL="514350" indent="-514350">
              <a:buClr>
                <a:schemeClr val="tx1"/>
              </a:buClr>
              <a:buFont typeface="+mj-lt"/>
              <a:buAutoNum type="arabicPeriod"/>
            </a:pPr>
            <a:r>
              <a:rPr lang="en-GB" dirty="0" err="1">
                <a:solidFill>
                  <a:srgbClr val="000000"/>
                </a:solidFill>
              </a:rPr>
              <a:t>Contrôle</a:t>
            </a:r>
            <a:r>
              <a:rPr lang="en-GB" dirty="0">
                <a:solidFill>
                  <a:srgbClr val="000000"/>
                </a:solidFill>
              </a:rPr>
              <a:t> de </a:t>
            </a:r>
            <a:r>
              <a:rPr lang="en-GB" dirty="0" err="1">
                <a:solidFill>
                  <a:srgbClr val="000000"/>
                </a:solidFill>
              </a:rPr>
              <a:t>l'accès</a:t>
            </a:r>
            <a:r>
              <a:rPr lang="en-GB" dirty="0">
                <a:solidFill>
                  <a:srgbClr val="000000"/>
                </a:solidFill>
              </a:rPr>
              <a:t> </a:t>
            </a:r>
            <a:r>
              <a:rPr lang="en-GB" dirty="0" err="1">
                <a:solidFill>
                  <a:srgbClr val="000000"/>
                </a:solidFill>
              </a:rPr>
              <a:t>utilisateur</a:t>
            </a:r>
            <a:r>
              <a:rPr lang="en-GB" dirty="0">
                <a:solidFill>
                  <a:srgbClr val="000000"/>
                </a:solidFill>
              </a:rPr>
              <a:t> au </a:t>
            </a:r>
            <a:r>
              <a:rPr lang="en-GB" dirty="0" err="1">
                <a:solidFill>
                  <a:srgbClr val="000000"/>
                </a:solidFill>
              </a:rPr>
              <a:t>réseau</a:t>
            </a:r>
            <a:endParaRPr lang="en-US" dirty="0"/>
          </a:p>
          <a:p>
            <a:pPr marL="514350" indent="-514350">
              <a:buClr>
                <a:schemeClr val="tx1"/>
              </a:buClr>
              <a:buFont typeface="+mj-lt"/>
              <a:buAutoNum type="arabicPeriod"/>
            </a:pPr>
            <a:r>
              <a:rPr lang="en-GB" dirty="0">
                <a:solidFill>
                  <a:srgbClr val="000000"/>
                </a:solidFill>
              </a:rPr>
              <a:t>Centralisation de </a:t>
            </a:r>
            <a:r>
              <a:rPr lang="en-GB" dirty="0" err="1">
                <a:solidFill>
                  <a:srgbClr val="000000"/>
                </a:solidFill>
              </a:rPr>
              <a:t>l'authentification</a:t>
            </a:r>
            <a:r>
              <a:rPr lang="en-GB" dirty="0">
                <a:solidFill>
                  <a:srgbClr val="000000"/>
                </a:solidFill>
              </a:rPr>
              <a:t> de </a:t>
            </a:r>
            <a:r>
              <a:rPr lang="en-GB" dirty="0" err="1">
                <a:solidFill>
                  <a:srgbClr val="000000"/>
                </a:solidFill>
              </a:rPr>
              <a:t>l'accès</a:t>
            </a:r>
            <a:r>
              <a:rPr lang="en-GB" dirty="0">
                <a:solidFill>
                  <a:srgbClr val="000000"/>
                </a:solidFill>
              </a:rPr>
              <a:t> </a:t>
            </a:r>
            <a:r>
              <a:rPr lang="en-GB" dirty="0" err="1">
                <a:solidFill>
                  <a:srgbClr val="000000"/>
                </a:solidFill>
              </a:rPr>
              <a:t>réseau</a:t>
            </a:r>
            <a:r>
              <a:rPr lang="en-GB" dirty="0">
                <a:solidFill>
                  <a:srgbClr val="000000"/>
                </a:solidFill>
              </a:rPr>
              <a:t> et de la </a:t>
            </a:r>
            <a:r>
              <a:rPr lang="en-GB" dirty="0" err="1">
                <a:solidFill>
                  <a:srgbClr val="000000"/>
                </a:solidFill>
              </a:rPr>
              <a:t>gestion</a:t>
            </a:r>
            <a:r>
              <a:rPr lang="en-GB" dirty="0">
                <a:solidFill>
                  <a:srgbClr val="000000"/>
                </a:solidFill>
              </a:rPr>
              <a:t> des </a:t>
            </a:r>
            <a:r>
              <a:rPr lang="en-GB" dirty="0" err="1">
                <a:solidFill>
                  <a:srgbClr val="000000"/>
                </a:solidFill>
              </a:rPr>
              <a:t>stratégies</a:t>
            </a:r>
            <a:r>
              <a:rPr lang="en-GB" dirty="0">
                <a:solidFill>
                  <a:srgbClr val="000000"/>
                </a:solidFill>
              </a:rPr>
              <a:t> en </a:t>
            </a:r>
            <a:r>
              <a:rPr lang="en-GB" dirty="0" err="1">
                <a:solidFill>
                  <a:srgbClr val="000000"/>
                </a:solidFill>
              </a:rPr>
              <a:t>utilisant</a:t>
            </a:r>
            <a:r>
              <a:rPr lang="en-GB" dirty="0">
                <a:solidFill>
                  <a:srgbClr val="000000"/>
                </a:solidFill>
              </a:rPr>
              <a:t> IAS</a:t>
            </a:r>
            <a:endParaRPr lang="en-US" dirty="0">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custDataLst>
              <p:tags r:id="rId1"/>
            </p:custDataLst>
          </p:nvPr>
        </p:nvSpPr>
        <p:spPr>
          <a:xfrm>
            <a:off x="174171" y="344712"/>
            <a:ext cx="8795658" cy="758952"/>
          </a:xfrm>
        </p:spPr>
        <p:txBody>
          <a:bodyPr>
            <a:noAutofit/>
          </a:bodyPr>
          <a:lstStyle/>
          <a:p>
            <a:r>
              <a:rPr lang="fr-FR" sz="3000" dirty="0">
                <a:solidFill>
                  <a:srgbClr val="000000"/>
                </a:solidFill>
              </a:rPr>
              <a:t>1. Introduction à l'infrastructure d'accès réseau</a:t>
            </a:r>
            <a:endParaRPr lang="en-US" sz="3000" dirty="0">
              <a:solidFill>
                <a:srgbClr val="000000"/>
              </a:solidFill>
            </a:endParaRPr>
          </a:p>
        </p:txBody>
      </p:sp>
      <p:sp>
        <p:nvSpPr>
          <p:cNvPr id="7171" name="Rectangle 3"/>
          <p:cNvSpPr>
            <a:spLocks noGrp="1" noChangeArrowheads="1"/>
          </p:cNvSpPr>
          <p:nvPr>
            <p:ph sz="quarter" idx="1"/>
            <p:custDataLst>
              <p:tags r:id="rId2"/>
            </p:custDataLst>
          </p:nvPr>
        </p:nvSpPr>
        <p:spPr>
          <a:xfrm>
            <a:off x="301752" y="2194705"/>
            <a:ext cx="8503920" cy="2943352"/>
          </a:xfrm>
        </p:spPr>
        <p:txBody>
          <a:bodyPr/>
          <a:lstStyle/>
          <a:p>
            <a:pPr>
              <a:buClr>
                <a:schemeClr val="tx1"/>
              </a:buClr>
              <a:buFont typeface="Wingdings" pitchFamily="2" charset="2"/>
              <a:buChar char="Ø"/>
            </a:pPr>
            <a:r>
              <a:rPr lang="en-GB" dirty="0" err="1">
                <a:solidFill>
                  <a:srgbClr val="000000"/>
                </a:solidFill>
              </a:rPr>
              <a:t>Composants</a:t>
            </a:r>
            <a:r>
              <a:rPr lang="en-GB" dirty="0">
                <a:solidFill>
                  <a:srgbClr val="000000"/>
                </a:solidFill>
              </a:rPr>
              <a:t> </a:t>
            </a:r>
            <a:r>
              <a:rPr lang="en-GB" dirty="0" err="1">
                <a:solidFill>
                  <a:srgbClr val="000000"/>
                </a:solidFill>
              </a:rPr>
              <a:t>d'une</a:t>
            </a:r>
            <a:r>
              <a:rPr lang="en-GB" dirty="0">
                <a:solidFill>
                  <a:srgbClr val="000000"/>
                </a:solidFill>
              </a:rPr>
              <a:t> infrastructure </a:t>
            </a:r>
            <a:r>
              <a:rPr lang="en-GB" dirty="0" err="1">
                <a:solidFill>
                  <a:srgbClr val="000000"/>
                </a:solidFill>
              </a:rPr>
              <a:t>d'accès</a:t>
            </a:r>
            <a:r>
              <a:rPr lang="en-GB" dirty="0">
                <a:solidFill>
                  <a:srgbClr val="000000"/>
                </a:solidFill>
              </a:rPr>
              <a:t> </a:t>
            </a:r>
            <a:r>
              <a:rPr lang="en-GB" dirty="0" err="1">
                <a:solidFill>
                  <a:srgbClr val="000000"/>
                </a:solidFill>
              </a:rPr>
              <a:t>réseau</a:t>
            </a:r>
            <a:endParaRPr lang="en-US" dirty="0"/>
          </a:p>
          <a:p>
            <a:pPr>
              <a:buClr>
                <a:schemeClr val="tx1"/>
              </a:buClr>
              <a:buFont typeface="Wingdings" pitchFamily="2" charset="2"/>
              <a:buChar char="Ø"/>
            </a:pPr>
            <a:r>
              <a:rPr lang="en-GB" dirty="0">
                <a:solidFill>
                  <a:srgbClr val="000000"/>
                </a:solidFill>
              </a:rPr>
              <a:t>Configuration </a:t>
            </a:r>
            <a:r>
              <a:rPr lang="en-GB" dirty="0" err="1">
                <a:solidFill>
                  <a:srgbClr val="000000"/>
                </a:solidFill>
              </a:rPr>
              <a:t>requise</a:t>
            </a:r>
            <a:r>
              <a:rPr lang="en-GB" dirty="0">
                <a:solidFill>
                  <a:srgbClr val="000000"/>
                </a:solidFill>
              </a:rPr>
              <a:t> pour un </a:t>
            </a:r>
            <a:r>
              <a:rPr lang="en-GB" dirty="0" err="1">
                <a:solidFill>
                  <a:srgbClr val="000000"/>
                </a:solidFill>
              </a:rPr>
              <a:t>serveur</a:t>
            </a:r>
            <a:r>
              <a:rPr lang="en-GB" dirty="0">
                <a:solidFill>
                  <a:srgbClr val="000000"/>
                </a:solidFill>
              </a:rPr>
              <a:t> </a:t>
            </a:r>
            <a:r>
              <a:rPr lang="en-GB" dirty="0" err="1">
                <a:solidFill>
                  <a:srgbClr val="000000"/>
                </a:solidFill>
              </a:rPr>
              <a:t>d'accès</a:t>
            </a:r>
            <a:r>
              <a:rPr lang="en-GB" dirty="0">
                <a:solidFill>
                  <a:srgbClr val="000000"/>
                </a:solidFill>
              </a:rPr>
              <a:t> </a:t>
            </a:r>
            <a:r>
              <a:rPr lang="en-GB" dirty="0" err="1">
                <a:solidFill>
                  <a:srgbClr val="000000"/>
                </a:solidFill>
              </a:rPr>
              <a:t>réseau</a:t>
            </a:r>
            <a:endParaRPr lang="en-US" dirty="0"/>
          </a:p>
          <a:p>
            <a:pPr>
              <a:buClr>
                <a:schemeClr val="tx1"/>
              </a:buClr>
              <a:buFont typeface="Wingdings" pitchFamily="2" charset="2"/>
              <a:buChar char="Ø"/>
            </a:pPr>
            <a:r>
              <a:rPr lang="en-GB" dirty="0" err="1">
                <a:solidFill>
                  <a:srgbClr val="000000"/>
                </a:solidFill>
              </a:rPr>
              <a:t>Qu'est-ce</a:t>
            </a:r>
            <a:r>
              <a:rPr lang="en-GB" dirty="0">
                <a:solidFill>
                  <a:srgbClr val="000000"/>
                </a:solidFill>
              </a:rPr>
              <a:t> </a:t>
            </a:r>
            <a:r>
              <a:rPr lang="en-GB" dirty="0" err="1">
                <a:solidFill>
                  <a:srgbClr val="000000"/>
                </a:solidFill>
              </a:rPr>
              <a:t>qu'un</a:t>
            </a:r>
            <a:r>
              <a:rPr lang="en-GB" dirty="0">
                <a:solidFill>
                  <a:srgbClr val="000000"/>
                </a:solidFill>
              </a:rPr>
              <a:t> client </a:t>
            </a:r>
            <a:r>
              <a:rPr lang="en-GB" dirty="0" err="1">
                <a:solidFill>
                  <a:srgbClr val="000000"/>
                </a:solidFill>
              </a:rPr>
              <a:t>d'accès</a:t>
            </a:r>
            <a:r>
              <a:rPr lang="en-GB" dirty="0">
                <a:solidFill>
                  <a:srgbClr val="000000"/>
                </a:solidFill>
              </a:rPr>
              <a:t> </a:t>
            </a:r>
            <a:r>
              <a:rPr lang="en-GB" dirty="0" err="1">
                <a:solidFill>
                  <a:srgbClr val="000000"/>
                </a:solidFill>
              </a:rPr>
              <a:t>réseau</a:t>
            </a:r>
            <a:r>
              <a:rPr lang="en-GB" dirty="0">
                <a:solidFill>
                  <a:srgbClr val="000000"/>
                </a:solidFill>
              </a:rPr>
              <a:t> ?</a:t>
            </a:r>
            <a:endParaRPr lang="en-US" dirty="0"/>
          </a:p>
          <a:p>
            <a:pPr>
              <a:buClr>
                <a:schemeClr val="tx1"/>
              </a:buClr>
              <a:buFont typeface="Wingdings" pitchFamily="2" charset="2"/>
              <a:buChar char="Ø"/>
            </a:pPr>
            <a:r>
              <a:rPr lang="en-GB" dirty="0" err="1">
                <a:solidFill>
                  <a:srgbClr val="000000"/>
                </a:solidFill>
              </a:rPr>
              <a:t>L’autorisation</a:t>
            </a:r>
            <a:r>
              <a:rPr lang="en-GB" dirty="0">
                <a:solidFill>
                  <a:srgbClr val="000000"/>
                </a:solidFill>
              </a:rPr>
              <a:t> et </a:t>
            </a:r>
            <a:r>
              <a:rPr lang="en-GB" dirty="0" err="1">
                <a:solidFill>
                  <a:srgbClr val="000000"/>
                </a:solidFill>
              </a:rPr>
              <a:t>l’authentification</a:t>
            </a:r>
            <a:r>
              <a:rPr lang="en-GB" dirty="0">
                <a:solidFill>
                  <a:srgbClr val="000000"/>
                </a:solidFill>
              </a:rPr>
              <a:t> de </a:t>
            </a:r>
            <a:r>
              <a:rPr lang="en-GB" dirty="0" err="1">
                <a:solidFill>
                  <a:srgbClr val="000000"/>
                </a:solidFill>
              </a:rPr>
              <a:t>l'accès</a:t>
            </a:r>
            <a:r>
              <a:rPr lang="en-GB" dirty="0">
                <a:solidFill>
                  <a:srgbClr val="000000"/>
                </a:solidFill>
              </a:rPr>
              <a:t> </a:t>
            </a:r>
            <a:r>
              <a:rPr lang="en-GB" dirty="0" err="1">
                <a:solidFill>
                  <a:srgbClr val="000000"/>
                </a:solidFill>
              </a:rPr>
              <a:t>réseau</a:t>
            </a:r>
            <a:r>
              <a:rPr lang="en-GB" dirty="0">
                <a:solidFill>
                  <a:srgbClr val="000000"/>
                </a:solidFill>
              </a:rPr>
              <a:t> ?</a:t>
            </a:r>
            <a:endParaRPr lang="en-US" dirty="0"/>
          </a:p>
          <a:p>
            <a:pPr>
              <a:buClr>
                <a:schemeClr val="tx1"/>
              </a:buClr>
              <a:buFont typeface="Wingdings" pitchFamily="2" charset="2"/>
              <a:buChar char="Ø"/>
            </a:pPr>
            <a:r>
              <a:rPr lang="en-GB" dirty="0">
                <a:solidFill>
                  <a:srgbClr val="000000"/>
                </a:solidFill>
              </a:rPr>
              <a:t>Les </a:t>
            </a:r>
            <a:r>
              <a:rPr lang="en-GB" dirty="0" err="1">
                <a:solidFill>
                  <a:srgbClr val="000000"/>
                </a:solidFill>
              </a:rPr>
              <a:t>méthodes</a:t>
            </a:r>
            <a:r>
              <a:rPr lang="en-GB" dirty="0">
                <a:solidFill>
                  <a:srgbClr val="000000"/>
                </a:solidFill>
              </a:rPr>
              <a:t> </a:t>
            </a:r>
            <a:r>
              <a:rPr lang="en-GB" dirty="0" err="1">
                <a:solidFill>
                  <a:srgbClr val="000000"/>
                </a:solidFill>
              </a:rPr>
              <a:t>d'authentification</a:t>
            </a:r>
            <a:r>
              <a:rPr lang="en-GB" dirty="0">
                <a:solidFill>
                  <a:srgbClr val="000000"/>
                </a:solidFill>
              </a:rPr>
              <a:t> </a:t>
            </a:r>
            <a:endParaRPr lang="en-US" dirty="0">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782" name="Rectangle 6"/>
          <p:cNvSpPr>
            <a:spLocks noGrp="1" noChangeArrowheads="1"/>
          </p:cNvSpPr>
          <p:nvPr>
            <p:ph type="title"/>
            <p:custDataLst>
              <p:tags r:id="rId1"/>
            </p:custDataLst>
          </p:nvPr>
        </p:nvSpPr>
        <p:spPr/>
        <p:txBody>
          <a:bodyPr vert="horz" anchor="b">
            <a:normAutofit fontScale="90000"/>
          </a:bodyPr>
          <a:lstStyle/>
          <a:p>
            <a:r>
              <a:rPr lang="en-GB" sz="2800" dirty="0" err="1">
                <a:solidFill>
                  <a:srgbClr val="C00000"/>
                </a:solidFill>
              </a:rPr>
              <a:t>Composants</a:t>
            </a:r>
            <a:r>
              <a:rPr lang="en-GB" sz="2800" dirty="0">
                <a:solidFill>
                  <a:srgbClr val="C00000"/>
                </a:solidFill>
              </a:rPr>
              <a:t> </a:t>
            </a:r>
            <a:r>
              <a:rPr lang="en-GB" sz="2800" dirty="0" err="1">
                <a:solidFill>
                  <a:srgbClr val="C00000"/>
                </a:solidFill>
              </a:rPr>
              <a:t>d'une</a:t>
            </a:r>
            <a:r>
              <a:rPr lang="en-GB" sz="2800" dirty="0">
                <a:solidFill>
                  <a:srgbClr val="C00000"/>
                </a:solidFill>
              </a:rPr>
              <a:t> infrastructure </a:t>
            </a:r>
            <a:r>
              <a:rPr lang="en-GB" sz="2800" dirty="0" err="1">
                <a:solidFill>
                  <a:srgbClr val="C00000"/>
                </a:solidFill>
              </a:rPr>
              <a:t>d'accès</a:t>
            </a:r>
            <a:r>
              <a:rPr lang="en-GB" sz="2800" dirty="0">
                <a:solidFill>
                  <a:srgbClr val="C00000"/>
                </a:solidFill>
              </a:rPr>
              <a:t> </a:t>
            </a:r>
            <a:r>
              <a:rPr lang="en-GB" sz="2800" dirty="0" err="1">
                <a:solidFill>
                  <a:srgbClr val="C00000"/>
                </a:solidFill>
              </a:rPr>
              <a:t>réseau</a:t>
            </a:r>
            <a:endParaRPr sz="2800" dirty="0">
              <a:solidFill>
                <a:srgbClr val="C00000"/>
              </a:solidFill>
            </a:endParaRPr>
          </a:p>
        </p:txBody>
      </p:sp>
      <p:sp>
        <p:nvSpPr>
          <p:cNvPr id="331819" name="Oval 43"/>
          <p:cNvSpPr>
            <a:spLocks noChangeArrowheads="1"/>
          </p:cNvSpPr>
          <p:nvPr>
            <p:custDataLst>
              <p:tags r:id="rId2"/>
            </p:custDataLst>
          </p:nvPr>
        </p:nvSpPr>
        <p:spPr bwMode="auto">
          <a:xfrm>
            <a:off x="609600" y="1219200"/>
            <a:ext cx="7848600" cy="3579813"/>
          </a:xfrm>
          <a:prstGeom prst="ellipse">
            <a:avLst/>
          </a:prstGeom>
          <a:gradFill rotWithShape="1">
            <a:gsLst>
              <a:gs pos="0">
                <a:srgbClr val="CFE1C2"/>
              </a:gs>
              <a:gs pos="100000">
                <a:srgbClr val="FFFFFF"/>
              </a:gs>
            </a:gsLst>
            <a:lin ang="5400000" scaled="1"/>
          </a:gradFill>
          <a:ln w="9525" algn="ctr">
            <a:noFill/>
            <a:round/>
            <a:headEnd/>
            <a:tailEnd/>
          </a:ln>
          <a:effectLst/>
        </p:spPr>
        <p:txBody>
          <a:bodyPr lIns="0" tIns="0" rIns="0" bIns="0"/>
          <a:lstStyle/>
          <a:p>
            <a:pPr marL="342900" indent="-342900" algn="l">
              <a:lnSpc>
                <a:spcPct val="90000"/>
              </a:lnSpc>
              <a:spcBef>
                <a:spcPct val="40000"/>
              </a:spcBef>
              <a:buClr>
                <a:srgbClr val="8DACD0"/>
              </a:buClr>
              <a:buSzPct val="70000"/>
              <a:buFont typeface="Wingdings" pitchFamily="2" charset="2"/>
              <a:buBlip>
                <a:blip r:embed="rId37"/>
              </a:buBlip>
            </a:pPr>
            <a:endParaRPr lang="en-US" sz="2400" b="1"/>
          </a:p>
          <a:p>
            <a:pPr marL="342900" indent="-342900" algn="l">
              <a:lnSpc>
                <a:spcPct val="90000"/>
              </a:lnSpc>
              <a:spcBef>
                <a:spcPct val="40000"/>
              </a:spcBef>
              <a:buClr>
                <a:srgbClr val="8DACD0"/>
              </a:buClr>
              <a:buSzPct val="70000"/>
              <a:buFont typeface="Wingdings" pitchFamily="2" charset="2"/>
              <a:buBlip>
                <a:blip r:embed="rId37"/>
              </a:buBlip>
            </a:pPr>
            <a:endParaRPr lang="en-US" sz="2400" b="1"/>
          </a:p>
          <a:p>
            <a:pPr marL="342900" indent="-342900" algn="l">
              <a:lnSpc>
                <a:spcPct val="90000"/>
              </a:lnSpc>
              <a:spcBef>
                <a:spcPct val="40000"/>
              </a:spcBef>
              <a:buClr>
                <a:srgbClr val="8DACD0"/>
              </a:buClr>
              <a:buSzPct val="70000"/>
              <a:buFont typeface="Wingdings" pitchFamily="2" charset="2"/>
              <a:buBlip>
                <a:blip r:embed="rId37"/>
              </a:buBlip>
            </a:pPr>
            <a:endParaRPr lang="en-US" sz="2400" b="1"/>
          </a:p>
        </p:txBody>
      </p:sp>
      <p:sp>
        <p:nvSpPr>
          <p:cNvPr id="331823" name="Text Box 47"/>
          <p:cNvSpPr txBox="1">
            <a:spLocks noChangeArrowheads="1"/>
          </p:cNvSpPr>
          <p:nvPr>
            <p:custDataLst>
              <p:tags r:id="rId3"/>
            </p:custDataLst>
          </p:nvPr>
        </p:nvSpPr>
        <p:spPr bwMode="auto">
          <a:xfrm>
            <a:off x="3532953" y="1781175"/>
            <a:ext cx="2461447" cy="667875"/>
          </a:xfrm>
          <a:prstGeom prst="rect">
            <a:avLst/>
          </a:prstGeom>
          <a:noFill/>
          <a:ln w="9525" algn="ctr">
            <a:noFill/>
            <a:miter lim="800000"/>
            <a:headEnd/>
            <a:tailEnd/>
          </a:ln>
          <a:effectLst/>
        </p:spPr>
        <p:txBody>
          <a:bodyPr wrap="square">
            <a:spAutoFit/>
          </a:bodyPr>
          <a:lstStyle/>
          <a:p>
            <a:pPr>
              <a:lnSpc>
                <a:spcPct val="85000"/>
              </a:lnSpc>
            </a:pPr>
            <a:r>
              <a:rPr lang="en-GB" sz="2200" b="1">
                <a:solidFill>
                  <a:srgbClr val="000000"/>
                </a:solidFill>
              </a:rPr>
              <a:t>Serveur d'accès</a:t>
            </a:r>
            <a:br>
              <a:rPr lang="en-GB" sz="2200" b="1">
                <a:solidFill>
                  <a:srgbClr val="000000"/>
                </a:solidFill>
              </a:rPr>
            </a:br>
            <a:r>
              <a:rPr lang="en-GB" sz="2200" b="1">
                <a:solidFill>
                  <a:srgbClr val="000000"/>
                </a:solidFill>
              </a:rPr>
              <a:t>réseau</a:t>
            </a:r>
            <a:endParaRPr lang="en-US" sz="2200" b="1">
              <a:solidFill>
                <a:srgbClr val="000000"/>
              </a:solidFill>
            </a:endParaRPr>
          </a:p>
        </p:txBody>
      </p:sp>
      <p:sp>
        <p:nvSpPr>
          <p:cNvPr id="331829" name="Freeform 53"/>
          <p:cNvSpPr>
            <a:spLocks/>
          </p:cNvSpPr>
          <p:nvPr/>
        </p:nvSpPr>
        <p:spPr bwMode="auto">
          <a:xfrm rot="491065">
            <a:off x="4343400" y="2981325"/>
            <a:ext cx="1487488" cy="1314450"/>
          </a:xfrm>
          <a:custGeom>
            <a:avLst/>
            <a:gdLst/>
            <a:ahLst/>
            <a:cxnLst>
              <a:cxn ang="0">
                <a:pos x="0" y="0"/>
              </a:cxn>
              <a:cxn ang="0">
                <a:pos x="430" y="162"/>
              </a:cxn>
              <a:cxn ang="0">
                <a:pos x="203" y="170"/>
              </a:cxn>
              <a:cxn ang="0">
                <a:pos x="576" y="349"/>
              </a:cxn>
            </a:cxnLst>
            <a:rect l="0" t="0" r="r" b="b"/>
            <a:pathLst>
              <a:path w="576" h="349">
                <a:moveTo>
                  <a:pt x="0" y="0"/>
                </a:moveTo>
                <a:lnTo>
                  <a:pt x="430" y="162"/>
                </a:lnTo>
                <a:lnTo>
                  <a:pt x="203" y="170"/>
                </a:lnTo>
                <a:lnTo>
                  <a:pt x="576" y="349"/>
                </a:lnTo>
              </a:path>
            </a:pathLst>
          </a:custGeom>
          <a:noFill/>
          <a:ln w="38100" cap="flat" cmpd="sng">
            <a:solidFill>
              <a:srgbClr val="333333"/>
            </a:solidFill>
            <a:prstDash val="solid"/>
            <a:round/>
            <a:headEnd type="none" w="med" len="med"/>
            <a:tailEnd type="none" w="med" len="med"/>
          </a:ln>
          <a:effectLst/>
        </p:spPr>
        <p:txBody>
          <a:bodyPr anchor="ctr"/>
          <a:lstStyle/>
          <a:p>
            <a:endParaRPr lang="fr-FR"/>
          </a:p>
        </p:txBody>
      </p:sp>
      <p:pic>
        <p:nvPicPr>
          <p:cNvPr id="331859" name="Picture 83" descr="Modem_Modem01"/>
          <p:cNvPicPr>
            <a:picLocks noChangeAspect="1" noChangeArrowheads="1"/>
          </p:cNvPicPr>
          <p:nvPr/>
        </p:nvPicPr>
        <p:blipFill>
          <a:blip r:embed="rId38" cstate="print"/>
          <a:srcRect/>
          <a:stretch>
            <a:fillRect/>
          </a:stretch>
        </p:blipFill>
        <p:spPr bwMode="auto">
          <a:xfrm>
            <a:off x="5027613" y="3824288"/>
            <a:ext cx="490537" cy="306387"/>
          </a:xfrm>
          <a:prstGeom prst="rect">
            <a:avLst/>
          </a:prstGeom>
          <a:noFill/>
        </p:spPr>
      </p:pic>
      <p:sp>
        <p:nvSpPr>
          <p:cNvPr id="331877" name="Line 101"/>
          <p:cNvSpPr>
            <a:spLocks noChangeShapeType="1"/>
          </p:cNvSpPr>
          <p:nvPr/>
        </p:nvSpPr>
        <p:spPr bwMode="auto">
          <a:xfrm flipV="1">
            <a:off x="2108200" y="2847975"/>
            <a:ext cx="533400" cy="700088"/>
          </a:xfrm>
          <a:prstGeom prst="line">
            <a:avLst/>
          </a:prstGeom>
          <a:noFill/>
          <a:ln w="57150">
            <a:solidFill>
              <a:srgbClr val="CC0000"/>
            </a:solidFill>
            <a:round/>
            <a:headEnd/>
            <a:tailEnd/>
          </a:ln>
          <a:effectLst/>
        </p:spPr>
        <p:txBody>
          <a:bodyPr anchor="ctr"/>
          <a:lstStyle/>
          <a:p>
            <a:endParaRPr lang="fr-FR"/>
          </a:p>
        </p:txBody>
      </p:sp>
      <p:sp>
        <p:nvSpPr>
          <p:cNvPr id="331879" name="Line 103"/>
          <p:cNvSpPr>
            <a:spLocks noChangeShapeType="1"/>
          </p:cNvSpPr>
          <p:nvPr/>
        </p:nvSpPr>
        <p:spPr bwMode="auto">
          <a:xfrm flipV="1">
            <a:off x="2614613" y="2686050"/>
            <a:ext cx="2057400" cy="0"/>
          </a:xfrm>
          <a:prstGeom prst="line">
            <a:avLst/>
          </a:prstGeom>
          <a:noFill/>
          <a:ln w="57150">
            <a:solidFill>
              <a:srgbClr val="CC0000"/>
            </a:solidFill>
            <a:round/>
            <a:headEnd/>
            <a:tailEnd/>
          </a:ln>
          <a:effectLst/>
        </p:spPr>
        <p:txBody>
          <a:bodyPr anchor="ctr"/>
          <a:lstStyle/>
          <a:p>
            <a:endParaRPr lang="fr-FR"/>
          </a:p>
        </p:txBody>
      </p:sp>
      <p:pic>
        <p:nvPicPr>
          <p:cNvPr id="331888" name="Picture 112" descr="Modem_Modem01"/>
          <p:cNvPicPr>
            <a:picLocks noChangeAspect="1" noChangeArrowheads="1"/>
          </p:cNvPicPr>
          <p:nvPr/>
        </p:nvPicPr>
        <p:blipFill>
          <a:blip r:embed="rId38" cstate="print"/>
          <a:srcRect/>
          <a:stretch>
            <a:fillRect/>
          </a:stretch>
        </p:blipFill>
        <p:spPr bwMode="auto">
          <a:xfrm>
            <a:off x="4611688" y="3074988"/>
            <a:ext cx="490537" cy="306387"/>
          </a:xfrm>
          <a:prstGeom prst="rect">
            <a:avLst/>
          </a:prstGeom>
          <a:noFill/>
        </p:spPr>
      </p:pic>
      <p:sp>
        <p:nvSpPr>
          <p:cNvPr id="331889" name="Oval 113"/>
          <p:cNvSpPr>
            <a:spLocks noChangeArrowheads="1"/>
          </p:cNvSpPr>
          <p:nvPr/>
        </p:nvSpPr>
        <p:spPr bwMode="auto">
          <a:xfrm>
            <a:off x="2119313" y="2319338"/>
            <a:ext cx="1208087" cy="762000"/>
          </a:xfrm>
          <a:prstGeom prst="ellipse">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endParaRPr lang="fr-FR"/>
          </a:p>
        </p:txBody>
      </p:sp>
      <p:pic>
        <p:nvPicPr>
          <p:cNvPr id="331890" name="Picture 114" descr="Server01"/>
          <p:cNvPicPr>
            <a:picLocks noChangeAspect="1" noChangeArrowheads="1"/>
          </p:cNvPicPr>
          <p:nvPr/>
        </p:nvPicPr>
        <p:blipFill>
          <a:blip r:embed="rId39" cstate="print"/>
          <a:srcRect/>
          <a:stretch>
            <a:fillRect/>
          </a:stretch>
        </p:blipFill>
        <p:spPr bwMode="auto">
          <a:xfrm>
            <a:off x="2566988" y="1974850"/>
            <a:ext cx="558800" cy="657225"/>
          </a:xfrm>
          <a:prstGeom prst="rect">
            <a:avLst/>
          </a:prstGeom>
          <a:noFill/>
        </p:spPr>
      </p:pic>
      <p:pic>
        <p:nvPicPr>
          <p:cNvPr id="331891" name="Picture 115" descr="Server01"/>
          <p:cNvPicPr>
            <a:picLocks noChangeAspect="1" noChangeArrowheads="1"/>
          </p:cNvPicPr>
          <p:nvPr/>
        </p:nvPicPr>
        <p:blipFill>
          <a:blip r:embed="rId39" cstate="print"/>
          <a:srcRect/>
          <a:stretch>
            <a:fillRect/>
          </a:stretch>
        </p:blipFill>
        <p:spPr bwMode="auto">
          <a:xfrm>
            <a:off x="2744788" y="2674938"/>
            <a:ext cx="558800" cy="657225"/>
          </a:xfrm>
          <a:prstGeom prst="rect">
            <a:avLst/>
          </a:prstGeom>
          <a:noFill/>
        </p:spPr>
      </p:pic>
      <p:sp>
        <p:nvSpPr>
          <p:cNvPr id="331892" name="Text Box 116"/>
          <p:cNvSpPr txBox="1">
            <a:spLocks noChangeArrowheads="1"/>
          </p:cNvSpPr>
          <p:nvPr>
            <p:custDataLst>
              <p:tags r:id="rId4"/>
            </p:custDataLst>
          </p:nvPr>
        </p:nvSpPr>
        <p:spPr bwMode="auto">
          <a:xfrm>
            <a:off x="2371674" y="3231245"/>
            <a:ext cx="1532669" cy="667875"/>
          </a:xfrm>
          <a:prstGeom prst="rect">
            <a:avLst/>
          </a:prstGeom>
          <a:noFill/>
          <a:ln w="9525" algn="ctr">
            <a:noFill/>
            <a:miter lim="800000"/>
            <a:headEnd/>
            <a:tailEnd/>
          </a:ln>
          <a:effectLst/>
        </p:spPr>
        <p:txBody>
          <a:bodyPr wrap="square">
            <a:spAutoFit/>
          </a:bodyPr>
          <a:lstStyle/>
          <a:p>
            <a:pPr>
              <a:lnSpc>
                <a:spcPct val="85000"/>
              </a:lnSpc>
            </a:pPr>
            <a:r>
              <a:rPr lang="en-GB" sz="2200" b="1" dirty="0" err="1">
                <a:solidFill>
                  <a:srgbClr val="000000"/>
                </a:solidFill>
              </a:rPr>
              <a:t>Serveur</a:t>
            </a:r>
            <a:r>
              <a:rPr lang="en-GB" sz="2200" b="1" dirty="0">
                <a:solidFill>
                  <a:srgbClr val="000000"/>
                </a:solidFill>
              </a:rPr>
              <a:t> NPS (IAS)</a:t>
            </a:r>
            <a:endParaRPr lang="en-US" sz="2200" b="1" dirty="0">
              <a:solidFill>
                <a:srgbClr val="000000"/>
              </a:solidFill>
            </a:endParaRPr>
          </a:p>
        </p:txBody>
      </p:sp>
      <p:pic>
        <p:nvPicPr>
          <p:cNvPr id="331893" name="Picture 117" descr="Server01"/>
          <p:cNvPicPr>
            <a:picLocks noChangeAspect="1" noChangeArrowheads="1"/>
          </p:cNvPicPr>
          <p:nvPr/>
        </p:nvPicPr>
        <p:blipFill>
          <a:blip r:embed="rId39" cstate="print"/>
          <a:srcRect/>
          <a:stretch>
            <a:fillRect/>
          </a:stretch>
        </p:blipFill>
        <p:spPr bwMode="auto">
          <a:xfrm>
            <a:off x="1892300" y="2339975"/>
            <a:ext cx="558800" cy="657225"/>
          </a:xfrm>
          <a:prstGeom prst="rect">
            <a:avLst/>
          </a:prstGeom>
          <a:noFill/>
        </p:spPr>
      </p:pic>
      <p:sp>
        <p:nvSpPr>
          <p:cNvPr id="331920" name="Text Box 144"/>
          <p:cNvSpPr txBox="1">
            <a:spLocks noChangeArrowheads="1"/>
          </p:cNvSpPr>
          <p:nvPr>
            <p:custDataLst>
              <p:tags r:id="rId5"/>
            </p:custDataLst>
          </p:nvPr>
        </p:nvSpPr>
        <p:spPr bwMode="auto">
          <a:xfrm>
            <a:off x="1959428" y="1574346"/>
            <a:ext cx="1812358" cy="430887"/>
          </a:xfrm>
          <a:prstGeom prst="rect">
            <a:avLst/>
          </a:prstGeom>
          <a:noFill/>
          <a:ln w="9525" algn="ctr">
            <a:noFill/>
            <a:miter lim="800000"/>
            <a:headEnd/>
            <a:tailEnd/>
          </a:ln>
          <a:effectLst/>
        </p:spPr>
        <p:txBody>
          <a:bodyPr wrap="square">
            <a:spAutoFit/>
          </a:bodyPr>
          <a:lstStyle/>
          <a:p>
            <a:r>
              <a:rPr lang="en-GB" sz="2200" b="1" dirty="0" err="1">
                <a:solidFill>
                  <a:srgbClr val="000000"/>
                </a:solidFill>
              </a:rPr>
              <a:t>Serveur</a:t>
            </a:r>
            <a:r>
              <a:rPr lang="en-GB" sz="2200" b="1" dirty="0">
                <a:solidFill>
                  <a:srgbClr val="000000"/>
                </a:solidFill>
              </a:rPr>
              <a:t> DHCP</a:t>
            </a:r>
            <a:endParaRPr lang="en-US" sz="2200" b="1" dirty="0">
              <a:solidFill>
                <a:srgbClr val="000000"/>
              </a:solidFill>
            </a:endParaRPr>
          </a:p>
        </p:txBody>
      </p:sp>
      <p:sp>
        <p:nvSpPr>
          <p:cNvPr id="331921" name="Text Box 145"/>
          <p:cNvSpPr txBox="1">
            <a:spLocks noChangeArrowheads="1"/>
          </p:cNvSpPr>
          <p:nvPr>
            <p:custDataLst>
              <p:tags r:id="rId6"/>
            </p:custDataLst>
          </p:nvPr>
        </p:nvSpPr>
        <p:spPr bwMode="auto">
          <a:xfrm>
            <a:off x="348342" y="2368550"/>
            <a:ext cx="1508495" cy="667875"/>
          </a:xfrm>
          <a:prstGeom prst="rect">
            <a:avLst/>
          </a:prstGeom>
          <a:noFill/>
          <a:ln w="9525" algn="ctr">
            <a:noFill/>
            <a:miter lim="800000"/>
            <a:headEnd/>
            <a:tailEnd/>
          </a:ln>
          <a:effectLst/>
        </p:spPr>
        <p:txBody>
          <a:bodyPr wrap="square">
            <a:spAutoFit/>
          </a:bodyPr>
          <a:lstStyle/>
          <a:p>
            <a:pPr algn="r">
              <a:lnSpc>
                <a:spcPct val="85000"/>
              </a:lnSpc>
            </a:pPr>
            <a:r>
              <a:rPr lang="en-GB" sz="2200" b="1" dirty="0" err="1">
                <a:solidFill>
                  <a:srgbClr val="000000"/>
                </a:solidFill>
              </a:rPr>
              <a:t>Contrôleur</a:t>
            </a:r>
            <a:endParaRPr lang="en-US" sz="2200" b="1" dirty="0"/>
          </a:p>
          <a:p>
            <a:pPr algn="r">
              <a:lnSpc>
                <a:spcPct val="85000"/>
              </a:lnSpc>
            </a:pPr>
            <a:r>
              <a:rPr lang="en-GB" sz="2200" b="1" dirty="0">
                <a:solidFill>
                  <a:srgbClr val="000000"/>
                </a:solidFill>
              </a:rPr>
              <a:t>de </a:t>
            </a:r>
            <a:r>
              <a:rPr lang="en-GB" sz="2200" b="1" dirty="0" err="1">
                <a:solidFill>
                  <a:srgbClr val="000000"/>
                </a:solidFill>
              </a:rPr>
              <a:t>domaine</a:t>
            </a:r>
            <a:endParaRPr lang="en-US" sz="2200" b="1" dirty="0">
              <a:solidFill>
                <a:srgbClr val="000000"/>
              </a:solidFill>
            </a:endParaRPr>
          </a:p>
        </p:txBody>
      </p:sp>
      <p:sp>
        <p:nvSpPr>
          <p:cNvPr id="331923" name="AutoShape 147"/>
          <p:cNvSpPr>
            <a:spLocks noChangeArrowheads="1"/>
          </p:cNvSpPr>
          <p:nvPr>
            <p:custDataLst>
              <p:tags r:id="rId7"/>
            </p:custDataLst>
          </p:nvPr>
        </p:nvSpPr>
        <p:spPr bwMode="auto">
          <a:xfrm>
            <a:off x="4879974" y="5129666"/>
            <a:ext cx="4075339" cy="1692000"/>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spcBef>
                <a:spcPct val="15000"/>
              </a:spcBef>
              <a:buSzPct val="80000"/>
              <a:buFontTx/>
              <a:buBlip>
                <a:blip r:embed="rId37"/>
              </a:buBlip>
            </a:pPr>
            <a:r>
              <a:rPr lang="en-GB" sz="2400" b="1" dirty="0">
                <a:solidFill>
                  <a:srgbClr val="000000"/>
                </a:solidFill>
              </a:rPr>
              <a:t>Service </a:t>
            </a:r>
            <a:r>
              <a:rPr lang="en-GB" sz="2400" b="1" dirty="0" err="1">
                <a:solidFill>
                  <a:srgbClr val="000000"/>
                </a:solidFill>
              </a:rPr>
              <a:t>d'accès</a:t>
            </a:r>
            <a:r>
              <a:rPr lang="en-GB" sz="2400" b="1" dirty="0">
                <a:solidFill>
                  <a:srgbClr val="000000"/>
                </a:solidFill>
              </a:rPr>
              <a:t> </a:t>
            </a:r>
            <a:r>
              <a:rPr lang="en-GB" sz="2400" b="1" dirty="0" err="1">
                <a:solidFill>
                  <a:srgbClr val="000000"/>
                </a:solidFill>
              </a:rPr>
              <a:t>réseau</a:t>
            </a:r>
            <a:endParaRPr lang="en-US" sz="2400" b="1" dirty="0"/>
          </a:p>
          <a:p>
            <a:pPr marL="231775" indent="-231775" algn="l">
              <a:lnSpc>
                <a:spcPct val="90000"/>
              </a:lnSpc>
              <a:spcBef>
                <a:spcPct val="15000"/>
              </a:spcBef>
              <a:buSzPct val="80000"/>
              <a:buFontTx/>
              <a:buBlip>
                <a:blip r:embed="rId37"/>
              </a:buBlip>
            </a:pPr>
            <a:r>
              <a:rPr lang="en-GB" sz="2400" b="1" dirty="0">
                <a:solidFill>
                  <a:srgbClr val="000000"/>
                </a:solidFill>
              </a:rPr>
              <a:t>Clients </a:t>
            </a:r>
            <a:r>
              <a:rPr lang="en-GB" sz="2400" b="1" dirty="0" err="1">
                <a:solidFill>
                  <a:srgbClr val="000000"/>
                </a:solidFill>
              </a:rPr>
              <a:t>d'accès</a:t>
            </a:r>
            <a:r>
              <a:rPr lang="en-GB" sz="2400" b="1" dirty="0">
                <a:solidFill>
                  <a:srgbClr val="000000"/>
                </a:solidFill>
              </a:rPr>
              <a:t> </a:t>
            </a:r>
            <a:r>
              <a:rPr lang="en-GB" sz="2400" b="1" dirty="0" err="1">
                <a:solidFill>
                  <a:srgbClr val="000000"/>
                </a:solidFill>
              </a:rPr>
              <a:t>réseau</a:t>
            </a:r>
            <a:endParaRPr lang="en-US" sz="2400" b="1" dirty="0"/>
          </a:p>
          <a:p>
            <a:pPr marL="231775" indent="-231775" algn="l">
              <a:lnSpc>
                <a:spcPct val="90000"/>
              </a:lnSpc>
              <a:spcBef>
                <a:spcPct val="15000"/>
              </a:spcBef>
              <a:buSzPct val="80000"/>
              <a:buFontTx/>
              <a:buBlip>
                <a:blip r:embed="rId37"/>
              </a:buBlip>
            </a:pPr>
            <a:r>
              <a:rPr lang="en-GB" sz="2400" b="1" dirty="0">
                <a:solidFill>
                  <a:srgbClr val="000000"/>
                </a:solidFill>
              </a:rPr>
              <a:t>Service </a:t>
            </a:r>
            <a:r>
              <a:rPr lang="en-GB" sz="2400" b="1" dirty="0" err="1">
                <a:solidFill>
                  <a:srgbClr val="000000"/>
                </a:solidFill>
              </a:rPr>
              <a:t>d'authentification</a:t>
            </a:r>
            <a:endParaRPr lang="en-US" sz="2400" b="1" dirty="0"/>
          </a:p>
          <a:p>
            <a:pPr marL="231775" indent="-231775" algn="l">
              <a:lnSpc>
                <a:spcPct val="90000"/>
              </a:lnSpc>
              <a:spcBef>
                <a:spcPct val="15000"/>
              </a:spcBef>
              <a:buSzPct val="80000"/>
              <a:buFontTx/>
              <a:buBlip>
                <a:blip r:embed="rId37"/>
              </a:buBlip>
            </a:pPr>
            <a:r>
              <a:rPr lang="en-GB" sz="2400" b="1" dirty="0">
                <a:solidFill>
                  <a:srgbClr val="000000"/>
                </a:solidFill>
              </a:rPr>
              <a:t>Active Directory (non </a:t>
            </a:r>
            <a:r>
              <a:rPr lang="en-GB" sz="2400" b="1" dirty="0" err="1">
                <a:solidFill>
                  <a:srgbClr val="000000"/>
                </a:solidFill>
              </a:rPr>
              <a:t>requis</a:t>
            </a:r>
            <a:r>
              <a:rPr lang="en-GB" sz="2400" b="1" dirty="0">
                <a:solidFill>
                  <a:srgbClr val="000000"/>
                </a:solidFill>
              </a:rPr>
              <a:t>)</a:t>
            </a:r>
            <a:endParaRPr lang="en-US" sz="2400" b="1" dirty="0">
              <a:solidFill>
                <a:srgbClr val="000000"/>
              </a:solidFill>
            </a:endParaRPr>
          </a:p>
        </p:txBody>
      </p:sp>
      <p:sp>
        <p:nvSpPr>
          <p:cNvPr id="331925" name="Text Box 149"/>
          <p:cNvSpPr txBox="1">
            <a:spLocks noChangeArrowheads="1"/>
          </p:cNvSpPr>
          <p:nvPr>
            <p:custDataLst>
              <p:tags r:id="rId8"/>
            </p:custDataLst>
          </p:nvPr>
        </p:nvSpPr>
        <p:spPr bwMode="auto">
          <a:xfrm>
            <a:off x="6273912" y="4165825"/>
            <a:ext cx="1854091" cy="769441"/>
          </a:xfrm>
          <a:prstGeom prst="rect">
            <a:avLst/>
          </a:prstGeom>
          <a:noFill/>
          <a:ln w="9525" algn="ctr">
            <a:noFill/>
            <a:miter lim="800000"/>
            <a:headEnd/>
            <a:tailEnd/>
          </a:ln>
          <a:effectLst/>
        </p:spPr>
        <p:txBody>
          <a:bodyPr wrap="square">
            <a:spAutoFit/>
          </a:bodyPr>
          <a:lstStyle/>
          <a:p>
            <a:pPr>
              <a:spcBef>
                <a:spcPct val="50000"/>
              </a:spcBef>
            </a:pPr>
            <a:r>
              <a:rPr lang="en-GB" sz="2200" b="1" dirty="0">
                <a:solidFill>
                  <a:srgbClr val="000000"/>
                </a:solidFill>
              </a:rPr>
              <a:t>Client </a:t>
            </a:r>
            <a:r>
              <a:rPr lang="en-GB" sz="2200" b="1" dirty="0" err="1">
                <a:solidFill>
                  <a:srgbClr val="000000"/>
                </a:solidFill>
              </a:rPr>
              <a:t>d'accès</a:t>
            </a:r>
            <a:r>
              <a:rPr lang="en-GB" sz="2200" b="1" dirty="0">
                <a:solidFill>
                  <a:srgbClr val="000000"/>
                </a:solidFill>
              </a:rPr>
              <a:t> à distance</a:t>
            </a:r>
            <a:endParaRPr lang="en-US" sz="2200" b="1" dirty="0">
              <a:solidFill>
                <a:srgbClr val="000000"/>
              </a:solidFill>
            </a:endParaRPr>
          </a:p>
        </p:txBody>
      </p:sp>
      <p:sp>
        <p:nvSpPr>
          <p:cNvPr id="331928" name="Line 152"/>
          <p:cNvSpPr>
            <a:spLocks noChangeShapeType="1"/>
          </p:cNvSpPr>
          <p:nvPr/>
        </p:nvSpPr>
        <p:spPr bwMode="auto">
          <a:xfrm flipV="1">
            <a:off x="5953125" y="2679700"/>
            <a:ext cx="1490663" cy="3175"/>
          </a:xfrm>
          <a:prstGeom prst="line">
            <a:avLst/>
          </a:prstGeom>
          <a:noFill/>
          <a:ln w="57150">
            <a:solidFill>
              <a:srgbClr val="CC0000"/>
            </a:solidFill>
            <a:round/>
            <a:headEnd/>
            <a:tailEnd/>
          </a:ln>
          <a:effectLst/>
        </p:spPr>
        <p:txBody>
          <a:bodyPr anchor="ctr"/>
          <a:lstStyle/>
          <a:p>
            <a:endParaRPr lang="fr-FR"/>
          </a:p>
        </p:txBody>
      </p:sp>
      <p:pic>
        <p:nvPicPr>
          <p:cNvPr id="331936" name="Picture 160" descr="Internet_Tunnel01"/>
          <p:cNvPicPr>
            <a:picLocks noChangeAspect="1" noChangeArrowheads="1"/>
          </p:cNvPicPr>
          <p:nvPr/>
        </p:nvPicPr>
        <p:blipFill>
          <a:blip r:embed="rId40" cstate="print"/>
          <a:srcRect/>
          <a:stretch>
            <a:fillRect/>
          </a:stretch>
        </p:blipFill>
        <p:spPr bwMode="auto">
          <a:xfrm rot="2349511">
            <a:off x="5627688" y="2281238"/>
            <a:ext cx="914400" cy="809625"/>
          </a:xfrm>
          <a:prstGeom prst="rect">
            <a:avLst/>
          </a:prstGeom>
          <a:noFill/>
        </p:spPr>
      </p:pic>
      <p:sp>
        <p:nvSpPr>
          <p:cNvPr id="331937" name="Line 161"/>
          <p:cNvSpPr>
            <a:spLocks noChangeShapeType="1"/>
          </p:cNvSpPr>
          <p:nvPr/>
        </p:nvSpPr>
        <p:spPr bwMode="auto">
          <a:xfrm>
            <a:off x="4764088" y="2695575"/>
            <a:ext cx="1003300" cy="4763"/>
          </a:xfrm>
          <a:prstGeom prst="line">
            <a:avLst/>
          </a:prstGeom>
          <a:noFill/>
          <a:ln w="57150">
            <a:solidFill>
              <a:srgbClr val="CC0000"/>
            </a:solidFill>
            <a:round/>
            <a:headEnd/>
            <a:tailEnd/>
          </a:ln>
          <a:effectLst/>
        </p:spPr>
        <p:txBody>
          <a:bodyPr anchor="ctr"/>
          <a:lstStyle/>
          <a:p>
            <a:endParaRPr lang="fr-FR"/>
          </a:p>
        </p:txBody>
      </p:sp>
      <p:pic>
        <p:nvPicPr>
          <p:cNvPr id="331938" name="Picture 162" descr="Server01"/>
          <p:cNvPicPr>
            <a:picLocks noChangeAspect="1" noChangeArrowheads="1"/>
          </p:cNvPicPr>
          <p:nvPr/>
        </p:nvPicPr>
        <p:blipFill>
          <a:blip r:embed="rId41" cstate="print"/>
          <a:srcRect/>
          <a:stretch>
            <a:fillRect/>
          </a:stretch>
        </p:blipFill>
        <p:spPr bwMode="auto">
          <a:xfrm>
            <a:off x="4064000" y="2327275"/>
            <a:ext cx="741363" cy="873125"/>
          </a:xfrm>
          <a:prstGeom prst="rect">
            <a:avLst/>
          </a:prstGeom>
          <a:noFill/>
        </p:spPr>
      </p:pic>
      <p:sp>
        <p:nvSpPr>
          <p:cNvPr id="331939" name="Oval 163"/>
          <p:cNvSpPr>
            <a:spLocks noChangeArrowheads="1"/>
          </p:cNvSpPr>
          <p:nvPr>
            <p:custDataLst>
              <p:tags r:id="rId9"/>
            </p:custDataLst>
          </p:nvPr>
        </p:nvSpPr>
        <p:spPr bwMode="auto">
          <a:xfrm>
            <a:off x="1117600" y="3432175"/>
            <a:ext cx="1485900" cy="844550"/>
          </a:xfrm>
          <a:prstGeom prst="ellipse">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endParaRPr lang="fr-FR"/>
          </a:p>
        </p:txBody>
      </p:sp>
      <p:pic>
        <p:nvPicPr>
          <p:cNvPr id="331940" name="Picture 164" descr="Computer_DesktopComputerSansKeyboard01"/>
          <p:cNvPicPr>
            <a:picLocks noChangeAspect="1" noChangeArrowheads="1"/>
          </p:cNvPicPr>
          <p:nvPr>
            <p:custDataLst>
              <p:tags r:id="rId10"/>
            </p:custDataLst>
          </p:nvPr>
        </p:nvPicPr>
        <p:blipFill>
          <a:blip r:embed="rId42" cstate="print"/>
          <a:srcRect/>
          <a:stretch>
            <a:fillRect/>
          </a:stretch>
        </p:blipFill>
        <p:spPr bwMode="auto">
          <a:xfrm>
            <a:off x="1647825" y="3216275"/>
            <a:ext cx="422275" cy="495300"/>
          </a:xfrm>
          <a:prstGeom prst="rect">
            <a:avLst/>
          </a:prstGeom>
          <a:noFill/>
        </p:spPr>
      </p:pic>
      <p:pic>
        <p:nvPicPr>
          <p:cNvPr id="331941" name="Picture 165" descr="Computer_DesktopComputerSansKeyboard01"/>
          <p:cNvPicPr>
            <a:picLocks noChangeAspect="1" noChangeArrowheads="1"/>
          </p:cNvPicPr>
          <p:nvPr>
            <p:custDataLst>
              <p:tags r:id="rId11"/>
            </p:custDataLst>
          </p:nvPr>
        </p:nvPicPr>
        <p:blipFill>
          <a:blip r:embed="rId42" cstate="print"/>
          <a:srcRect/>
          <a:stretch>
            <a:fillRect/>
          </a:stretch>
        </p:blipFill>
        <p:spPr bwMode="auto">
          <a:xfrm>
            <a:off x="1028700" y="3481388"/>
            <a:ext cx="422275" cy="495300"/>
          </a:xfrm>
          <a:prstGeom prst="rect">
            <a:avLst/>
          </a:prstGeom>
          <a:noFill/>
        </p:spPr>
      </p:pic>
      <p:sp>
        <p:nvSpPr>
          <p:cNvPr id="331944" name="Oval 168"/>
          <p:cNvSpPr>
            <a:spLocks noChangeArrowheads="1"/>
          </p:cNvSpPr>
          <p:nvPr>
            <p:custDataLst>
              <p:tags r:id="rId12"/>
            </p:custDataLst>
          </p:nvPr>
        </p:nvSpPr>
        <p:spPr bwMode="auto">
          <a:xfrm>
            <a:off x="2144713" y="3481388"/>
            <a:ext cx="273050" cy="269875"/>
          </a:xfrm>
          <a:prstGeom prst="ellipse">
            <a:avLst/>
          </a:prstGeom>
          <a:solidFill>
            <a:schemeClr val="bg1"/>
          </a:solidFill>
          <a:ln w="12700" algn="ctr">
            <a:solidFill>
              <a:srgbClr val="4D4D4D"/>
            </a:solidFill>
            <a:round/>
            <a:headEnd/>
            <a:tailEnd/>
          </a:ln>
          <a:effectLst/>
        </p:spPr>
        <p:txBody>
          <a:bodyPr wrap="none" anchor="ctr"/>
          <a:lstStyle/>
          <a:p>
            <a:endParaRPr lang="fr-FR"/>
          </a:p>
        </p:txBody>
      </p:sp>
      <p:sp>
        <p:nvSpPr>
          <p:cNvPr id="331945" name="Oval 169"/>
          <p:cNvSpPr>
            <a:spLocks noChangeArrowheads="1"/>
          </p:cNvSpPr>
          <p:nvPr>
            <p:custDataLst>
              <p:tags r:id="rId13"/>
            </p:custDataLst>
          </p:nvPr>
        </p:nvSpPr>
        <p:spPr bwMode="auto">
          <a:xfrm>
            <a:off x="2185988" y="3522663"/>
            <a:ext cx="187325" cy="185737"/>
          </a:xfrm>
          <a:prstGeom prst="ellipse">
            <a:avLst/>
          </a:prstGeom>
          <a:solidFill>
            <a:schemeClr val="bg1"/>
          </a:solidFill>
          <a:ln w="12700" algn="ctr">
            <a:solidFill>
              <a:srgbClr val="4D4D4D"/>
            </a:solidFill>
            <a:round/>
            <a:headEnd/>
            <a:tailEnd/>
          </a:ln>
          <a:effectLst/>
        </p:spPr>
        <p:txBody>
          <a:bodyPr wrap="none" anchor="ctr"/>
          <a:lstStyle/>
          <a:p>
            <a:endParaRPr lang="fr-FR"/>
          </a:p>
        </p:txBody>
      </p:sp>
      <p:sp>
        <p:nvSpPr>
          <p:cNvPr id="331946" name="Line 170"/>
          <p:cNvSpPr>
            <a:spLocks noChangeShapeType="1"/>
          </p:cNvSpPr>
          <p:nvPr>
            <p:custDataLst>
              <p:tags r:id="rId14"/>
            </p:custDataLst>
          </p:nvPr>
        </p:nvSpPr>
        <p:spPr bwMode="auto">
          <a:xfrm flipH="1" flipV="1">
            <a:off x="2278063" y="3649663"/>
            <a:ext cx="1587" cy="430212"/>
          </a:xfrm>
          <a:prstGeom prst="line">
            <a:avLst/>
          </a:prstGeom>
          <a:noFill/>
          <a:ln w="28575">
            <a:solidFill>
              <a:srgbClr val="4D4D4D"/>
            </a:solidFill>
            <a:round/>
            <a:headEnd/>
            <a:tailEnd/>
          </a:ln>
          <a:effectLst/>
        </p:spPr>
        <p:txBody>
          <a:bodyPr wrap="none" anchor="ctr"/>
          <a:lstStyle/>
          <a:p>
            <a:endParaRPr lang="fr-FR"/>
          </a:p>
        </p:txBody>
      </p:sp>
      <p:sp>
        <p:nvSpPr>
          <p:cNvPr id="331947" name="Oval 171"/>
          <p:cNvSpPr>
            <a:spLocks noChangeArrowheads="1"/>
          </p:cNvSpPr>
          <p:nvPr>
            <p:custDataLst>
              <p:tags r:id="rId15"/>
            </p:custDataLst>
          </p:nvPr>
        </p:nvSpPr>
        <p:spPr bwMode="auto">
          <a:xfrm>
            <a:off x="2243138" y="3575050"/>
            <a:ext cx="73025" cy="73025"/>
          </a:xfrm>
          <a:prstGeom prst="ellipse">
            <a:avLst/>
          </a:prstGeom>
          <a:solidFill>
            <a:schemeClr val="tx2"/>
          </a:solidFill>
          <a:ln w="12700" algn="ctr">
            <a:solidFill>
              <a:srgbClr val="4D4D4D"/>
            </a:solidFill>
            <a:round/>
            <a:headEnd/>
            <a:tailEnd/>
          </a:ln>
          <a:effectLst/>
        </p:spPr>
        <p:txBody>
          <a:bodyPr wrap="none" anchor="ctr"/>
          <a:lstStyle/>
          <a:p>
            <a:endParaRPr lang="fr-FR"/>
          </a:p>
        </p:txBody>
      </p:sp>
      <p:pic>
        <p:nvPicPr>
          <p:cNvPr id="331948" name="Picture 172" descr="Rackmount_Hub01"/>
          <p:cNvPicPr>
            <a:picLocks noChangeAspect="1" noChangeArrowheads="1"/>
          </p:cNvPicPr>
          <p:nvPr>
            <p:custDataLst>
              <p:tags r:id="rId16"/>
            </p:custDataLst>
          </p:nvPr>
        </p:nvPicPr>
        <p:blipFill>
          <a:blip r:embed="rId43" cstate="print"/>
          <a:srcRect/>
          <a:stretch>
            <a:fillRect/>
          </a:stretch>
        </p:blipFill>
        <p:spPr bwMode="auto">
          <a:xfrm>
            <a:off x="1824038" y="3922713"/>
            <a:ext cx="661987" cy="422275"/>
          </a:xfrm>
          <a:prstGeom prst="rect">
            <a:avLst/>
          </a:prstGeom>
          <a:noFill/>
        </p:spPr>
      </p:pic>
      <p:sp>
        <p:nvSpPr>
          <p:cNvPr id="331949" name="Text Box 173"/>
          <p:cNvSpPr txBox="1">
            <a:spLocks noChangeArrowheads="1"/>
          </p:cNvSpPr>
          <p:nvPr>
            <p:custDataLst>
              <p:tags r:id="rId17"/>
            </p:custDataLst>
          </p:nvPr>
        </p:nvSpPr>
        <p:spPr bwMode="auto">
          <a:xfrm>
            <a:off x="814399" y="4283075"/>
            <a:ext cx="2218230" cy="667875"/>
          </a:xfrm>
          <a:prstGeom prst="rect">
            <a:avLst/>
          </a:prstGeom>
          <a:noFill/>
          <a:ln w="9525" algn="ctr">
            <a:noFill/>
            <a:miter lim="800000"/>
            <a:headEnd/>
            <a:tailEnd/>
          </a:ln>
          <a:effectLst/>
        </p:spPr>
        <p:txBody>
          <a:bodyPr wrap="square">
            <a:spAutoFit/>
          </a:bodyPr>
          <a:lstStyle/>
          <a:p>
            <a:pPr>
              <a:lnSpc>
                <a:spcPct val="85000"/>
              </a:lnSpc>
              <a:spcBef>
                <a:spcPct val="50000"/>
              </a:spcBef>
            </a:pPr>
            <a:r>
              <a:rPr lang="en-GB" sz="2200" b="1">
                <a:solidFill>
                  <a:srgbClr val="000000"/>
                </a:solidFill>
              </a:rPr>
              <a:t>Point d'accès sans fil</a:t>
            </a:r>
            <a:endParaRPr lang="en-US" sz="2200" b="1">
              <a:solidFill>
                <a:srgbClr val="000000"/>
              </a:solidFill>
            </a:endParaRPr>
          </a:p>
        </p:txBody>
      </p:sp>
      <p:sp>
        <p:nvSpPr>
          <p:cNvPr id="331964" name="Text Box 188"/>
          <p:cNvSpPr txBox="1">
            <a:spLocks noChangeArrowheads="1"/>
          </p:cNvSpPr>
          <p:nvPr>
            <p:custDataLst>
              <p:tags r:id="rId18"/>
            </p:custDataLst>
          </p:nvPr>
        </p:nvSpPr>
        <p:spPr bwMode="auto">
          <a:xfrm>
            <a:off x="2380295" y="5719763"/>
            <a:ext cx="2139868" cy="430887"/>
          </a:xfrm>
          <a:prstGeom prst="rect">
            <a:avLst/>
          </a:prstGeom>
          <a:noFill/>
          <a:ln w="9525" algn="ctr">
            <a:noFill/>
            <a:miter lim="800000"/>
            <a:headEnd/>
            <a:tailEnd/>
          </a:ln>
          <a:effectLst/>
        </p:spPr>
        <p:txBody>
          <a:bodyPr wrap="square">
            <a:spAutoFit/>
          </a:bodyPr>
          <a:lstStyle/>
          <a:p>
            <a:pPr algn="l">
              <a:spcBef>
                <a:spcPct val="50000"/>
              </a:spcBef>
            </a:pPr>
            <a:r>
              <a:rPr lang="en-GB" sz="2200" b="1">
                <a:solidFill>
                  <a:srgbClr val="000000"/>
                </a:solidFill>
              </a:rPr>
              <a:t>Client sans fil</a:t>
            </a:r>
            <a:endParaRPr lang="en-US" sz="2200" b="1"/>
          </a:p>
        </p:txBody>
      </p:sp>
      <p:pic>
        <p:nvPicPr>
          <p:cNvPr id="331981" name="Picture 205" descr="Laptop"/>
          <p:cNvPicPr>
            <a:picLocks noChangeAspect="1" noChangeArrowheads="1"/>
          </p:cNvPicPr>
          <p:nvPr>
            <p:custDataLst>
              <p:tags r:id="rId19"/>
            </p:custDataLst>
          </p:nvPr>
        </p:nvPicPr>
        <p:blipFill>
          <a:blip r:embed="rId44" cstate="print"/>
          <a:srcRect/>
          <a:stretch>
            <a:fillRect/>
          </a:stretch>
        </p:blipFill>
        <p:spPr bwMode="auto">
          <a:xfrm>
            <a:off x="5468938" y="4100513"/>
            <a:ext cx="647700" cy="706437"/>
          </a:xfrm>
          <a:prstGeom prst="rect">
            <a:avLst/>
          </a:prstGeom>
          <a:noFill/>
        </p:spPr>
      </p:pic>
      <p:pic>
        <p:nvPicPr>
          <p:cNvPr id="331982" name="Picture 206" descr="UserInteract"/>
          <p:cNvPicPr>
            <a:picLocks noChangeAspect="1" noChangeArrowheads="1"/>
          </p:cNvPicPr>
          <p:nvPr>
            <p:custDataLst>
              <p:tags r:id="rId20"/>
            </p:custDataLst>
          </p:nvPr>
        </p:nvPicPr>
        <p:blipFill>
          <a:blip r:embed="rId45" cstate="print"/>
          <a:srcRect/>
          <a:stretch>
            <a:fillRect/>
          </a:stretch>
        </p:blipFill>
        <p:spPr bwMode="auto">
          <a:xfrm>
            <a:off x="5892800" y="4092575"/>
            <a:ext cx="501650" cy="825500"/>
          </a:xfrm>
          <a:prstGeom prst="rect">
            <a:avLst/>
          </a:prstGeom>
          <a:noFill/>
        </p:spPr>
      </p:pic>
      <p:sp>
        <p:nvSpPr>
          <p:cNvPr id="331995" name="Text Box 219"/>
          <p:cNvSpPr txBox="1">
            <a:spLocks noChangeArrowheads="1"/>
          </p:cNvSpPr>
          <p:nvPr>
            <p:custDataLst>
              <p:tags r:id="rId21"/>
            </p:custDataLst>
          </p:nvPr>
        </p:nvSpPr>
        <p:spPr bwMode="auto">
          <a:xfrm>
            <a:off x="6943180" y="3014663"/>
            <a:ext cx="1486857" cy="430887"/>
          </a:xfrm>
          <a:prstGeom prst="rect">
            <a:avLst/>
          </a:prstGeom>
          <a:noFill/>
          <a:ln w="9525" algn="ctr">
            <a:noFill/>
            <a:miter lim="800000"/>
            <a:headEnd/>
            <a:tailEnd/>
          </a:ln>
          <a:effectLst/>
        </p:spPr>
        <p:txBody>
          <a:bodyPr wrap="square">
            <a:spAutoFit/>
          </a:bodyPr>
          <a:lstStyle/>
          <a:p>
            <a:pPr algn="l">
              <a:spcBef>
                <a:spcPct val="50000"/>
              </a:spcBef>
            </a:pPr>
            <a:r>
              <a:rPr lang="en-GB" sz="2200" b="1">
                <a:solidFill>
                  <a:srgbClr val="000000"/>
                </a:solidFill>
              </a:rPr>
              <a:t>Client VPN</a:t>
            </a:r>
            <a:endParaRPr lang="en-US" sz="2200" b="1">
              <a:solidFill>
                <a:srgbClr val="000000"/>
              </a:solidFill>
            </a:endParaRPr>
          </a:p>
        </p:txBody>
      </p:sp>
      <p:sp>
        <p:nvSpPr>
          <p:cNvPr id="331999" name="Arc 223"/>
          <p:cNvSpPr>
            <a:spLocks/>
          </p:cNvSpPr>
          <p:nvPr>
            <p:custDataLst>
              <p:tags r:id="rId22"/>
            </p:custDataLst>
          </p:nvPr>
        </p:nvSpPr>
        <p:spPr bwMode="auto">
          <a:xfrm rot="15937463">
            <a:off x="3188494" y="3540919"/>
            <a:ext cx="655638" cy="1066800"/>
          </a:xfrm>
          <a:custGeom>
            <a:avLst/>
            <a:gdLst>
              <a:gd name="G0" fmla="+- 0 0 0"/>
              <a:gd name="G1" fmla="+- 20559 0 0"/>
              <a:gd name="G2" fmla="+- 21600 0 0"/>
              <a:gd name="T0" fmla="*/ 6624 w 16026"/>
              <a:gd name="T1" fmla="*/ 0 h 20559"/>
              <a:gd name="T2" fmla="*/ 16026 w 16026"/>
              <a:gd name="T3" fmla="*/ 6077 h 20559"/>
              <a:gd name="T4" fmla="*/ 0 w 16026"/>
              <a:gd name="T5" fmla="*/ 20559 h 20559"/>
            </a:gdLst>
            <a:ahLst/>
            <a:cxnLst>
              <a:cxn ang="0">
                <a:pos x="T0" y="T1"/>
              </a:cxn>
              <a:cxn ang="0">
                <a:pos x="T2" y="T3"/>
              </a:cxn>
              <a:cxn ang="0">
                <a:pos x="T4" y="T5"/>
              </a:cxn>
            </a:cxnLst>
            <a:rect l="0" t="0" r="r" b="b"/>
            <a:pathLst>
              <a:path w="16026" h="20559" fill="none" extrusionOk="0">
                <a:moveTo>
                  <a:pt x="6624" y="-1"/>
                </a:moveTo>
                <a:cubicBezTo>
                  <a:pt x="10237" y="1164"/>
                  <a:pt x="13480" y="3260"/>
                  <a:pt x="16025" y="6077"/>
                </a:cubicBezTo>
              </a:path>
              <a:path w="16026" h="20559" stroke="0" extrusionOk="0">
                <a:moveTo>
                  <a:pt x="6624" y="-1"/>
                </a:moveTo>
                <a:cubicBezTo>
                  <a:pt x="10237" y="1164"/>
                  <a:pt x="13480" y="3260"/>
                  <a:pt x="16025" y="6077"/>
                </a:cubicBezTo>
                <a:lnTo>
                  <a:pt x="0" y="20559"/>
                </a:lnTo>
                <a:close/>
              </a:path>
            </a:pathLst>
          </a:custGeom>
          <a:noFill/>
          <a:ln w="22225">
            <a:solidFill>
              <a:srgbClr val="4D4D4D"/>
            </a:solidFill>
            <a:round/>
            <a:headEnd/>
            <a:tailEnd/>
          </a:ln>
          <a:effectLst/>
        </p:spPr>
        <p:txBody>
          <a:bodyPr wrap="none" anchor="ctr"/>
          <a:lstStyle/>
          <a:p>
            <a:endParaRPr lang="fr-FR"/>
          </a:p>
        </p:txBody>
      </p:sp>
      <p:sp>
        <p:nvSpPr>
          <p:cNvPr id="332000" name="Arc 224"/>
          <p:cNvSpPr>
            <a:spLocks/>
          </p:cNvSpPr>
          <p:nvPr>
            <p:custDataLst>
              <p:tags r:id="rId23"/>
            </p:custDataLst>
          </p:nvPr>
        </p:nvSpPr>
        <p:spPr bwMode="auto">
          <a:xfrm rot="15937463">
            <a:off x="3351213" y="3651250"/>
            <a:ext cx="611188" cy="1036637"/>
          </a:xfrm>
          <a:custGeom>
            <a:avLst/>
            <a:gdLst>
              <a:gd name="G0" fmla="+- 0 0 0"/>
              <a:gd name="G1" fmla="+- 19993 0 0"/>
              <a:gd name="G2" fmla="+- 21600 0 0"/>
              <a:gd name="T0" fmla="*/ 8176 w 14928"/>
              <a:gd name="T1" fmla="*/ 0 h 19993"/>
              <a:gd name="T2" fmla="*/ 14928 w 14928"/>
              <a:gd name="T3" fmla="*/ 4382 h 19993"/>
              <a:gd name="T4" fmla="*/ 0 w 14928"/>
              <a:gd name="T5" fmla="*/ 19993 h 19993"/>
            </a:gdLst>
            <a:ahLst/>
            <a:cxnLst>
              <a:cxn ang="0">
                <a:pos x="T0" y="T1"/>
              </a:cxn>
              <a:cxn ang="0">
                <a:pos x="T2" y="T3"/>
              </a:cxn>
              <a:cxn ang="0">
                <a:pos x="T4" y="T5"/>
              </a:cxn>
            </a:cxnLst>
            <a:rect l="0" t="0" r="r" b="b"/>
            <a:pathLst>
              <a:path w="14928" h="19993" fill="none" extrusionOk="0">
                <a:moveTo>
                  <a:pt x="8175" y="0"/>
                </a:moveTo>
                <a:cubicBezTo>
                  <a:pt x="10681" y="1024"/>
                  <a:pt x="12971" y="2511"/>
                  <a:pt x="14928" y="4381"/>
                </a:cubicBezTo>
              </a:path>
              <a:path w="14928" h="19993" stroke="0" extrusionOk="0">
                <a:moveTo>
                  <a:pt x="8175" y="0"/>
                </a:moveTo>
                <a:cubicBezTo>
                  <a:pt x="10681" y="1024"/>
                  <a:pt x="12971" y="2511"/>
                  <a:pt x="14928" y="4381"/>
                </a:cubicBezTo>
                <a:lnTo>
                  <a:pt x="0" y="19993"/>
                </a:lnTo>
                <a:close/>
              </a:path>
            </a:pathLst>
          </a:custGeom>
          <a:noFill/>
          <a:ln w="22225">
            <a:solidFill>
              <a:srgbClr val="4D4D4D"/>
            </a:solidFill>
            <a:round/>
            <a:headEnd/>
            <a:tailEnd/>
          </a:ln>
          <a:effectLst/>
        </p:spPr>
        <p:txBody>
          <a:bodyPr wrap="none" anchor="ctr"/>
          <a:lstStyle/>
          <a:p>
            <a:endParaRPr lang="fr-FR"/>
          </a:p>
        </p:txBody>
      </p:sp>
      <p:sp>
        <p:nvSpPr>
          <p:cNvPr id="332001" name="Arc 225"/>
          <p:cNvSpPr>
            <a:spLocks/>
          </p:cNvSpPr>
          <p:nvPr>
            <p:custDataLst>
              <p:tags r:id="rId24"/>
            </p:custDataLst>
          </p:nvPr>
        </p:nvSpPr>
        <p:spPr bwMode="auto">
          <a:xfrm rot="15937463">
            <a:off x="3509963" y="3773488"/>
            <a:ext cx="573087" cy="992187"/>
          </a:xfrm>
          <a:custGeom>
            <a:avLst/>
            <a:gdLst>
              <a:gd name="G0" fmla="+- 0 0 0"/>
              <a:gd name="G1" fmla="+- 19126 0 0"/>
              <a:gd name="G2" fmla="+- 21600 0 0"/>
              <a:gd name="T0" fmla="*/ 10038 w 13989"/>
              <a:gd name="T1" fmla="*/ 0 h 19126"/>
              <a:gd name="T2" fmla="*/ 13989 w 13989"/>
              <a:gd name="T3" fmla="*/ 2668 h 19126"/>
              <a:gd name="T4" fmla="*/ 0 w 13989"/>
              <a:gd name="T5" fmla="*/ 19126 h 19126"/>
            </a:gdLst>
            <a:ahLst/>
            <a:cxnLst>
              <a:cxn ang="0">
                <a:pos x="T0" y="T1"/>
              </a:cxn>
              <a:cxn ang="0">
                <a:pos x="T2" y="T3"/>
              </a:cxn>
              <a:cxn ang="0">
                <a:pos x="T4" y="T5"/>
              </a:cxn>
            </a:cxnLst>
            <a:rect l="0" t="0" r="r" b="b"/>
            <a:pathLst>
              <a:path w="13989" h="19126" fill="none" extrusionOk="0">
                <a:moveTo>
                  <a:pt x="10037" y="0"/>
                </a:moveTo>
                <a:cubicBezTo>
                  <a:pt x="11449" y="740"/>
                  <a:pt x="12774" y="1635"/>
                  <a:pt x="13989" y="2667"/>
                </a:cubicBezTo>
              </a:path>
              <a:path w="13989" h="19126" stroke="0" extrusionOk="0">
                <a:moveTo>
                  <a:pt x="10037" y="0"/>
                </a:moveTo>
                <a:cubicBezTo>
                  <a:pt x="11449" y="740"/>
                  <a:pt x="12774" y="1635"/>
                  <a:pt x="13989" y="2667"/>
                </a:cubicBezTo>
                <a:lnTo>
                  <a:pt x="0" y="19126"/>
                </a:lnTo>
                <a:close/>
              </a:path>
            </a:pathLst>
          </a:custGeom>
          <a:noFill/>
          <a:ln w="22225">
            <a:solidFill>
              <a:srgbClr val="4D4D4D"/>
            </a:solidFill>
            <a:round/>
            <a:headEnd/>
            <a:tailEnd/>
          </a:ln>
          <a:effectLst/>
        </p:spPr>
        <p:txBody>
          <a:bodyPr wrap="none" anchor="ctr"/>
          <a:lstStyle/>
          <a:p>
            <a:endParaRPr lang="fr-FR"/>
          </a:p>
        </p:txBody>
      </p:sp>
      <p:sp>
        <p:nvSpPr>
          <p:cNvPr id="332002" name="Arc 226"/>
          <p:cNvSpPr>
            <a:spLocks/>
          </p:cNvSpPr>
          <p:nvPr>
            <p:custDataLst>
              <p:tags r:id="rId25"/>
            </p:custDataLst>
          </p:nvPr>
        </p:nvSpPr>
        <p:spPr bwMode="auto">
          <a:xfrm rot="15937463">
            <a:off x="3514726" y="4005262"/>
            <a:ext cx="277812" cy="481013"/>
          </a:xfrm>
          <a:custGeom>
            <a:avLst/>
            <a:gdLst>
              <a:gd name="G0" fmla="+- 0 0 0"/>
              <a:gd name="G1" fmla="+- 19126 0 0"/>
              <a:gd name="G2" fmla="+- 21600 0 0"/>
              <a:gd name="T0" fmla="*/ 10038 w 13989"/>
              <a:gd name="T1" fmla="*/ 0 h 19126"/>
              <a:gd name="T2" fmla="*/ 13989 w 13989"/>
              <a:gd name="T3" fmla="*/ 2668 h 19126"/>
              <a:gd name="T4" fmla="*/ 0 w 13989"/>
              <a:gd name="T5" fmla="*/ 19126 h 19126"/>
            </a:gdLst>
            <a:ahLst/>
            <a:cxnLst>
              <a:cxn ang="0">
                <a:pos x="T0" y="T1"/>
              </a:cxn>
              <a:cxn ang="0">
                <a:pos x="T2" y="T3"/>
              </a:cxn>
              <a:cxn ang="0">
                <a:pos x="T4" y="T5"/>
              </a:cxn>
            </a:cxnLst>
            <a:rect l="0" t="0" r="r" b="b"/>
            <a:pathLst>
              <a:path w="13989" h="19126" fill="none" extrusionOk="0">
                <a:moveTo>
                  <a:pt x="10037" y="0"/>
                </a:moveTo>
                <a:cubicBezTo>
                  <a:pt x="11449" y="740"/>
                  <a:pt x="12774" y="1635"/>
                  <a:pt x="13989" y="2667"/>
                </a:cubicBezTo>
              </a:path>
              <a:path w="13989" h="19126" stroke="0" extrusionOk="0">
                <a:moveTo>
                  <a:pt x="10037" y="0"/>
                </a:moveTo>
                <a:cubicBezTo>
                  <a:pt x="11449" y="740"/>
                  <a:pt x="12774" y="1635"/>
                  <a:pt x="13989" y="2667"/>
                </a:cubicBezTo>
                <a:lnTo>
                  <a:pt x="0" y="19126"/>
                </a:lnTo>
                <a:close/>
              </a:path>
            </a:pathLst>
          </a:custGeom>
          <a:noFill/>
          <a:ln w="22225">
            <a:solidFill>
              <a:srgbClr val="4D4D4D"/>
            </a:solidFill>
            <a:round/>
            <a:headEnd/>
            <a:tailEnd/>
          </a:ln>
          <a:effectLst/>
        </p:spPr>
        <p:txBody>
          <a:bodyPr wrap="none" anchor="ctr"/>
          <a:lstStyle/>
          <a:p>
            <a:endParaRPr lang="fr-FR"/>
          </a:p>
        </p:txBody>
      </p:sp>
      <p:sp>
        <p:nvSpPr>
          <p:cNvPr id="332005" name="Oval 229"/>
          <p:cNvSpPr>
            <a:spLocks noChangeArrowheads="1"/>
          </p:cNvSpPr>
          <p:nvPr>
            <p:custDataLst>
              <p:tags r:id="rId26"/>
            </p:custDataLst>
          </p:nvPr>
        </p:nvSpPr>
        <p:spPr bwMode="auto">
          <a:xfrm>
            <a:off x="3470275" y="4100513"/>
            <a:ext cx="396875" cy="395287"/>
          </a:xfrm>
          <a:prstGeom prst="ellipse">
            <a:avLst/>
          </a:prstGeom>
          <a:solidFill>
            <a:schemeClr val="bg1"/>
          </a:solidFill>
          <a:ln w="12700" algn="ctr">
            <a:solidFill>
              <a:srgbClr val="4D4D4D"/>
            </a:solidFill>
            <a:round/>
            <a:headEnd/>
            <a:tailEnd/>
          </a:ln>
          <a:effectLst/>
        </p:spPr>
        <p:txBody>
          <a:bodyPr wrap="none" anchor="ctr"/>
          <a:lstStyle/>
          <a:p>
            <a:endParaRPr lang="fr-FR"/>
          </a:p>
        </p:txBody>
      </p:sp>
      <p:sp>
        <p:nvSpPr>
          <p:cNvPr id="332006" name="Oval 230"/>
          <p:cNvSpPr>
            <a:spLocks noChangeArrowheads="1"/>
          </p:cNvSpPr>
          <p:nvPr>
            <p:custDataLst>
              <p:tags r:id="rId27"/>
            </p:custDataLst>
          </p:nvPr>
        </p:nvSpPr>
        <p:spPr bwMode="auto">
          <a:xfrm>
            <a:off x="3530600" y="4160838"/>
            <a:ext cx="273050" cy="271462"/>
          </a:xfrm>
          <a:prstGeom prst="ellipse">
            <a:avLst/>
          </a:prstGeom>
          <a:solidFill>
            <a:schemeClr val="bg1"/>
          </a:solidFill>
          <a:ln w="12700" algn="ctr">
            <a:solidFill>
              <a:srgbClr val="4D4D4D"/>
            </a:solidFill>
            <a:round/>
            <a:headEnd/>
            <a:tailEnd/>
          </a:ln>
          <a:effectLst/>
        </p:spPr>
        <p:txBody>
          <a:bodyPr wrap="none" anchor="ctr"/>
          <a:lstStyle/>
          <a:p>
            <a:endParaRPr lang="fr-FR"/>
          </a:p>
        </p:txBody>
      </p:sp>
      <p:sp>
        <p:nvSpPr>
          <p:cNvPr id="332007" name="Line 231"/>
          <p:cNvSpPr>
            <a:spLocks noChangeShapeType="1"/>
          </p:cNvSpPr>
          <p:nvPr>
            <p:custDataLst>
              <p:tags r:id="rId28"/>
            </p:custDataLst>
          </p:nvPr>
        </p:nvSpPr>
        <p:spPr bwMode="auto">
          <a:xfrm flipH="1" flipV="1">
            <a:off x="3663950" y="4346575"/>
            <a:ext cx="3175" cy="627063"/>
          </a:xfrm>
          <a:prstGeom prst="line">
            <a:avLst/>
          </a:prstGeom>
          <a:noFill/>
          <a:ln w="28575">
            <a:solidFill>
              <a:srgbClr val="4D4D4D"/>
            </a:solidFill>
            <a:round/>
            <a:headEnd/>
            <a:tailEnd/>
          </a:ln>
          <a:effectLst/>
        </p:spPr>
        <p:txBody>
          <a:bodyPr wrap="none" anchor="ctr"/>
          <a:lstStyle/>
          <a:p>
            <a:endParaRPr lang="fr-FR"/>
          </a:p>
        </p:txBody>
      </p:sp>
      <p:sp>
        <p:nvSpPr>
          <p:cNvPr id="332008" name="Oval 232"/>
          <p:cNvSpPr>
            <a:spLocks noChangeArrowheads="1"/>
          </p:cNvSpPr>
          <p:nvPr>
            <p:custDataLst>
              <p:tags r:id="rId29"/>
            </p:custDataLst>
          </p:nvPr>
        </p:nvSpPr>
        <p:spPr bwMode="auto">
          <a:xfrm>
            <a:off x="3613150" y="4237038"/>
            <a:ext cx="107950" cy="106362"/>
          </a:xfrm>
          <a:prstGeom prst="ellipse">
            <a:avLst/>
          </a:prstGeom>
          <a:solidFill>
            <a:schemeClr val="tx2"/>
          </a:solidFill>
          <a:ln w="12700" algn="ctr">
            <a:solidFill>
              <a:srgbClr val="4D4D4D"/>
            </a:solidFill>
            <a:round/>
            <a:headEnd/>
            <a:tailEnd/>
          </a:ln>
          <a:effectLst/>
        </p:spPr>
        <p:txBody>
          <a:bodyPr wrap="none" anchor="ctr"/>
          <a:lstStyle/>
          <a:p>
            <a:endParaRPr lang="fr-FR"/>
          </a:p>
        </p:txBody>
      </p:sp>
      <p:grpSp>
        <p:nvGrpSpPr>
          <p:cNvPr id="332015" name="Group 233"/>
          <p:cNvGrpSpPr>
            <a:grpSpLocks/>
          </p:cNvGrpSpPr>
          <p:nvPr>
            <p:custDataLst>
              <p:tags r:id="rId30"/>
            </p:custDataLst>
          </p:nvPr>
        </p:nvGrpSpPr>
        <p:grpSpPr bwMode="auto">
          <a:xfrm>
            <a:off x="2706688" y="2224088"/>
            <a:ext cx="5397500" cy="3525837"/>
            <a:chOff x="1633" y="1374"/>
            <a:chExt cx="3400" cy="2221"/>
          </a:xfrm>
        </p:grpSpPr>
        <p:pic>
          <p:nvPicPr>
            <p:cNvPr id="331932" name="Picture 156" descr="Laptop"/>
            <p:cNvPicPr>
              <a:picLocks noChangeAspect="1" noChangeArrowheads="1"/>
            </p:cNvPicPr>
            <p:nvPr>
              <p:custDataLst>
                <p:tags r:id="rId31"/>
              </p:custDataLst>
            </p:nvPr>
          </p:nvPicPr>
          <p:blipFill>
            <a:blip r:embed="rId46" cstate="print"/>
            <a:srcRect/>
            <a:stretch>
              <a:fillRect/>
            </a:stretch>
          </p:blipFill>
          <p:spPr bwMode="auto">
            <a:xfrm flipH="1">
              <a:off x="4450" y="1379"/>
              <a:ext cx="408" cy="445"/>
            </a:xfrm>
            <a:prstGeom prst="rect">
              <a:avLst/>
            </a:prstGeom>
            <a:noFill/>
          </p:spPr>
        </p:pic>
        <p:pic>
          <p:nvPicPr>
            <p:cNvPr id="331933" name="Picture 157" descr="UserInteract"/>
            <p:cNvPicPr>
              <a:picLocks noChangeAspect="1" noChangeArrowheads="1"/>
            </p:cNvPicPr>
            <p:nvPr>
              <p:custDataLst>
                <p:tags r:id="rId32"/>
              </p:custDataLst>
            </p:nvPr>
          </p:nvPicPr>
          <p:blipFill>
            <a:blip r:embed="rId47" cstate="print"/>
            <a:srcRect/>
            <a:stretch>
              <a:fillRect/>
            </a:stretch>
          </p:blipFill>
          <p:spPr bwMode="auto">
            <a:xfrm flipH="1">
              <a:off x="4717" y="1374"/>
              <a:ext cx="316" cy="520"/>
            </a:xfrm>
            <a:prstGeom prst="rect">
              <a:avLst/>
            </a:prstGeom>
            <a:noFill/>
          </p:spPr>
        </p:pic>
        <p:pic>
          <p:nvPicPr>
            <p:cNvPr id="332010" name="Picture 234" descr="LaptopComputer01"/>
            <p:cNvPicPr>
              <a:picLocks noChangeAspect="1" noChangeArrowheads="1"/>
            </p:cNvPicPr>
            <p:nvPr>
              <p:custDataLst>
                <p:tags r:id="rId33"/>
              </p:custDataLst>
            </p:nvPr>
          </p:nvPicPr>
          <p:blipFill>
            <a:blip r:embed="rId48" cstate="print"/>
            <a:srcRect/>
            <a:stretch>
              <a:fillRect/>
            </a:stretch>
          </p:blipFill>
          <p:spPr bwMode="auto">
            <a:xfrm>
              <a:off x="1829" y="2899"/>
              <a:ext cx="521" cy="569"/>
            </a:xfrm>
            <a:prstGeom prst="rect">
              <a:avLst/>
            </a:prstGeom>
            <a:noFill/>
          </p:spPr>
        </p:pic>
        <p:pic>
          <p:nvPicPr>
            <p:cNvPr id="332011" name="Picture 235" descr="User_UserHalfD01"/>
            <p:cNvPicPr>
              <a:picLocks noChangeAspect="1" noChangeArrowheads="1"/>
            </p:cNvPicPr>
            <p:nvPr>
              <p:custDataLst>
                <p:tags r:id="rId34"/>
              </p:custDataLst>
            </p:nvPr>
          </p:nvPicPr>
          <p:blipFill>
            <a:blip r:embed="rId49" cstate="print"/>
            <a:srcRect/>
            <a:stretch>
              <a:fillRect/>
            </a:stretch>
          </p:blipFill>
          <p:spPr bwMode="auto">
            <a:xfrm>
              <a:off x="1633" y="2944"/>
              <a:ext cx="416" cy="651"/>
            </a:xfrm>
            <a:prstGeom prst="rect">
              <a:avLst/>
            </a:prstGeom>
            <a:noFill/>
          </p:spPr>
        </p:pic>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19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319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319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3192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494" name="Rectangle 6"/>
          <p:cNvSpPr>
            <a:spLocks noGrp="1" noChangeArrowheads="1"/>
          </p:cNvSpPr>
          <p:nvPr>
            <p:ph type="title"/>
            <p:custDataLst>
              <p:tags r:id="rId1"/>
            </p:custDataLst>
          </p:nvPr>
        </p:nvSpPr>
        <p:spPr/>
        <p:txBody>
          <a:bodyPr vert="horz" anchor="b">
            <a:normAutofit fontScale="90000"/>
          </a:bodyPr>
          <a:lstStyle/>
          <a:p>
            <a:r>
              <a:rPr lang="fr-FR" sz="2800" dirty="0">
                <a:solidFill>
                  <a:srgbClr val="C00000"/>
                </a:solidFill>
              </a:rPr>
              <a:t>Configuration requise pour un serveur </a:t>
            </a:r>
            <a:br>
              <a:rPr lang="fr-FR" sz="2800" dirty="0">
                <a:solidFill>
                  <a:srgbClr val="C00000"/>
                </a:solidFill>
              </a:rPr>
            </a:br>
            <a:r>
              <a:rPr lang="fr-FR" sz="2800" dirty="0">
                <a:solidFill>
                  <a:srgbClr val="C00000"/>
                </a:solidFill>
              </a:rPr>
              <a:t>d'accès réseau</a:t>
            </a:r>
            <a:endParaRPr sz="2800" dirty="0">
              <a:solidFill>
                <a:srgbClr val="C00000"/>
              </a:solidFill>
            </a:endParaRPr>
          </a:p>
        </p:txBody>
      </p:sp>
      <p:sp>
        <p:nvSpPr>
          <p:cNvPr id="447757" name="AutoShape 269"/>
          <p:cNvSpPr>
            <a:spLocks noChangeArrowheads="1"/>
          </p:cNvSpPr>
          <p:nvPr>
            <p:custDataLst>
              <p:tags r:id="rId2"/>
            </p:custDataLst>
          </p:nvPr>
        </p:nvSpPr>
        <p:spPr bwMode="auto">
          <a:xfrm>
            <a:off x="767806" y="3880415"/>
            <a:ext cx="7402285" cy="2046287"/>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spcBef>
                <a:spcPct val="15000"/>
              </a:spcBef>
              <a:buSzPct val="80000"/>
              <a:buFontTx/>
              <a:buBlip>
                <a:blip r:embed="rId6"/>
              </a:buBlip>
            </a:pPr>
            <a:r>
              <a:rPr lang="en-GB" sz="2400" b="1" dirty="0">
                <a:solidFill>
                  <a:srgbClr val="000000"/>
                </a:solidFill>
              </a:rPr>
              <a:t>Le </a:t>
            </a:r>
            <a:r>
              <a:rPr lang="en-GB" sz="2400" b="1" dirty="0" err="1">
                <a:solidFill>
                  <a:srgbClr val="000000"/>
                </a:solidFill>
              </a:rPr>
              <a:t>serveur</a:t>
            </a:r>
            <a:r>
              <a:rPr lang="en-GB" sz="2400" b="1" dirty="0">
                <a:solidFill>
                  <a:srgbClr val="000000"/>
                </a:solidFill>
              </a:rPr>
              <a:t> </a:t>
            </a:r>
            <a:r>
              <a:rPr lang="en-GB" sz="2400" b="1" dirty="0" err="1">
                <a:solidFill>
                  <a:srgbClr val="000000"/>
                </a:solidFill>
              </a:rPr>
              <a:t>fera</a:t>
            </a:r>
            <a:r>
              <a:rPr lang="en-GB" sz="2400" b="1" dirty="0">
                <a:solidFill>
                  <a:srgbClr val="000000"/>
                </a:solidFill>
              </a:rPr>
              <a:t>-t-</a:t>
            </a:r>
            <a:r>
              <a:rPr lang="en-GB" sz="2400" b="1" dirty="0" err="1">
                <a:solidFill>
                  <a:srgbClr val="000000"/>
                </a:solidFill>
              </a:rPr>
              <a:t>il</a:t>
            </a:r>
            <a:r>
              <a:rPr lang="en-GB" sz="2400" b="1" dirty="0">
                <a:solidFill>
                  <a:srgbClr val="000000"/>
                </a:solidFill>
              </a:rPr>
              <a:t> </a:t>
            </a:r>
            <a:r>
              <a:rPr lang="en-GB" sz="2400" b="1" dirty="0" err="1">
                <a:solidFill>
                  <a:srgbClr val="000000"/>
                </a:solidFill>
              </a:rPr>
              <a:t>également</a:t>
            </a:r>
            <a:r>
              <a:rPr lang="en-GB" sz="2400" b="1" dirty="0">
                <a:solidFill>
                  <a:srgbClr val="000000"/>
                </a:solidFill>
              </a:rPr>
              <a:t> office de </a:t>
            </a:r>
            <a:r>
              <a:rPr lang="en-GB" sz="2400" b="1" dirty="0" err="1">
                <a:solidFill>
                  <a:srgbClr val="000000"/>
                </a:solidFill>
              </a:rPr>
              <a:t>routeur</a:t>
            </a:r>
            <a:r>
              <a:rPr lang="en-GB" sz="2400" b="1" dirty="0">
                <a:solidFill>
                  <a:srgbClr val="000000"/>
                </a:solidFill>
              </a:rPr>
              <a:t> ?</a:t>
            </a:r>
            <a:endParaRPr lang="en-US" sz="2400" b="1" dirty="0"/>
          </a:p>
          <a:p>
            <a:pPr marL="231775" indent="-231775" algn="l">
              <a:lnSpc>
                <a:spcPct val="90000"/>
              </a:lnSpc>
              <a:spcBef>
                <a:spcPct val="15000"/>
              </a:spcBef>
              <a:buSzPct val="80000"/>
              <a:buFontTx/>
              <a:buBlip>
                <a:blip r:embed="rId6"/>
              </a:buBlip>
            </a:pPr>
            <a:r>
              <a:rPr lang="en-GB" sz="2400" b="1" dirty="0" err="1">
                <a:solidFill>
                  <a:srgbClr val="000000"/>
                </a:solidFill>
              </a:rPr>
              <a:t>Méthodes</a:t>
            </a:r>
            <a:r>
              <a:rPr lang="en-GB" sz="2400" b="1" dirty="0">
                <a:solidFill>
                  <a:srgbClr val="000000"/>
                </a:solidFill>
              </a:rPr>
              <a:t> et </a:t>
            </a:r>
            <a:r>
              <a:rPr lang="en-GB" sz="2400" b="1" dirty="0" err="1">
                <a:solidFill>
                  <a:srgbClr val="000000"/>
                </a:solidFill>
              </a:rPr>
              <a:t>fournisseurs</a:t>
            </a:r>
            <a:r>
              <a:rPr lang="en-GB" sz="2400" b="1" dirty="0">
                <a:solidFill>
                  <a:srgbClr val="000000"/>
                </a:solidFill>
              </a:rPr>
              <a:t> </a:t>
            </a:r>
            <a:r>
              <a:rPr lang="en-GB" sz="2400" b="1" dirty="0" err="1">
                <a:solidFill>
                  <a:srgbClr val="000000"/>
                </a:solidFill>
              </a:rPr>
              <a:t>d'authentification</a:t>
            </a:r>
            <a:endParaRPr lang="en-US" sz="2400" b="1" dirty="0"/>
          </a:p>
          <a:p>
            <a:pPr marL="231775" indent="-231775" algn="l">
              <a:lnSpc>
                <a:spcPct val="90000"/>
              </a:lnSpc>
              <a:spcBef>
                <a:spcPct val="15000"/>
              </a:spcBef>
              <a:buSzPct val="80000"/>
              <a:buFontTx/>
              <a:buBlip>
                <a:blip r:embed="rId6"/>
              </a:buBlip>
            </a:pPr>
            <a:r>
              <a:rPr lang="en-GB" sz="2400" b="1" dirty="0" err="1">
                <a:solidFill>
                  <a:srgbClr val="000000"/>
                </a:solidFill>
              </a:rPr>
              <a:t>Accès</a:t>
            </a:r>
            <a:r>
              <a:rPr lang="en-GB" sz="2400" b="1" dirty="0">
                <a:solidFill>
                  <a:srgbClr val="000000"/>
                </a:solidFill>
              </a:rPr>
              <a:t> client</a:t>
            </a:r>
            <a:endParaRPr lang="en-US" sz="2400" b="1" dirty="0"/>
          </a:p>
          <a:p>
            <a:pPr marL="231775" indent="-231775" algn="l">
              <a:lnSpc>
                <a:spcPct val="90000"/>
              </a:lnSpc>
              <a:spcBef>
                <a:spcPct val="15000"/>
              </a:spcBef>
              <a:buSzPct val="80000"/>
              <a:buFontTx/>
              <a:buBlip>
                <a:blip r:embed="rId6"/>
              </a:buBlip>
            </a:pPr>
            <a:r>
              <a:rPr lang="en-GB" sz="2400" b="1" dirty="0">
                <a:solidFill>
                  <a:srgbClr val="000000"/>
                </a:solidFill>
              </a:rPr>
              <a:t>Attribution </a:t>
            </a:r>
            <a:r>
              <a:rPr lang="en-GB" sz="2400" b="1" dirty="0" err="1">
                <a:solidFill>
                  <a:srgbClr val="000000"/>
                </a:solidFill>
              </a:rPr>
              <a:t>d'adresses</a:t>
            </a:r>
            <a:r>
              <a:rPr lang="en-GB" sz="2400" b="1" dirty="0">
                <a:solidFill>
                  <a:srgbClr val="000000"/>
                </a:solidFill>
              </a:rPr>
              <a:t> IP</a:t>
            </a:r>
            <a:endParaRPr lang="en-US" sz="2400" b="1" dirty="0"/>
          </a:p>
        </p:txBody>
      </p:sp>
      <p:pic>
        <p:nvPicPr>
          <p:cNvPr id="447747" name="Picture 259" descr="Server01"/>
          <p:cNvPicPr>
            <a:picLocks noChangeAspect="1" noChangeArrowheads="1"/>
          </p:cNvPicPr>
          <p:nvPr/>
        </p:nvPicPr>
        <p:blipFill>
          <a:blip r:embed="rId7" cstate="print"/>
          <a:srcRect/>
          <a:stretch>
            <a:fillRect/>
          </a:stretch>
        </p:blipFill>
        <p:spPr bwMode="auto">
          <a:xfrm>
            <a:off x="7824787" y="2761342"/>
            <a:ext cx="1319213" cy="1554163"/>
          </a:xfrm>
          <a:prstGeom prst="rect">
            <a:avLst/>
          </a:prstGeom>
          <a:noFill/>
        </p:spPr>
      </p:pic>
      <p:sp>
        <p:nvSpPr>
          <p:cNvPr id="447758" name="AutoShape 270"/>
          <p:cNvSpPr>
            <a:spLocks noChangeArrowheads="1"/>
          </p:cNvSpPr>
          <p:nvPr>
            <p:custDataLst>
              <p:tags r:id="rId3"/>
            </p:custDataLst>
          </p:nvPr>
        </p:nvSpPr>
        <p:spPr bwMode="auto">
          <a:xfrm>
            <a:off x="174171" y="1308100"/>
            <a:ext cx="8795657" cy="865188"/>
          </a:xfrm>
          <a:prstGeom prst="roundRect">
            <a:avLst>
              <a:gd name="adj" fmla="val 16667"/>
            </a:avLst>
          </a:prstGeom>
          <a:gradFill rotWithShape="1">
            <a:gsLst>
              <a:gs pos="0">
                <a:srgbClr val="EAABA0"/>
              </a:gs>
              <a:gs pos="100000">
                <a:srgbClr val="F6D9D4"/>
              </a:gs>
            </a:gsLst>
            <a:lin ang="2700000" scaled="1"/>
          </a:gradFill>
          <a:ln w="9525" algn="ctr">
            <a:solidFill>
              <a:srgbClr val="808080"/>
            </a:solidFill>
            <a:round/>
            <a:headEnd/>
            <a:tailEnd/>
          </a:ln>
          <a:effectLst>
            <a:outerShdw dist="35921" dir="2700000" algn="ctr" rotWithShape="0">
              <a:srgbClr val="C0C0C0"/>
            </a:outerShdw>
          </a:effectLst>
        </p:spPr>
        <p:txBody>
          <a:bodyPr anchor="ctr"/>
          <a:lstStyle/>
          <a:p>
            <a:pPr algn="l">
              <a:lnSpc>
                <a:spcPct val="90000"/>
              </a:lnSpc>
            </a:pPr>
            <a:r>
              <a:rPr lang="en-GB" sz="2600" b="1" dirty="0">
                <a:solidFill>
                  <a:srgbClr val="000000"/>
                </a:solidFill>
              </a:rPr>
              <a:t>Un </a:t>
            </a:r>
            <a:r>
              <a:rPr lang="en-GB" sz="2600" b="1" i="1" dirty="0" err="1">
                <a:solidFill>
                  <a:srgbClr val="000000"/>
                </a:solidFill>
              </a:rPr>
              <a:t>serveur</a:t>
            </a:r>
            <a:r>
              <a:rPr lang="en-GB" sz="2600" b="1" i="1" dirty="0">
                <a:solidFill>
                  <a:srgbClr val="000000"/>
                </a:solidFill>
              </a:rPr>
              <a:t> </a:t>
            </a:r>
            <a:r>
              <a:rPr lang="en-GB" sz="2600" b="1" i="1" dirty="0" err="1">
                <a:solidFill>
                  <a:srgbClr val="000000"/>
                </a:solidFill>
              </a:rPr>
              <a:t>d'accès</a:t>
            </a:r>
            <a:r>
              <a:rPr lang="en-GB" sz="2600" b="1" i="1" dirty="0">
                <a:solidFill>
                  <a:srgbClr val="000000"/>
                </a:solidFill>
              </a:rPr>
              <a:t> </a:t>
            </a:r>
            <a:r>
              <a:rPr lang="en-GB" sz="2600" b="1" i="1" dirty="0" err="1">
                <a:solidFill>
                  <a:srgbClr val="000000"/>
                </a:solidFill>
              </a:rPr>
              <a:t>réseau</a:t>
            </a:r>
            <a:r>
              <a:rPr lang="en-GB" sz="2600" b="1" dirty="0">
                <a:solidFill>
                  <a:srgbClr val="000000"/>
                </a:solidFill>
              </a:rPr>
              <a:t> </a:t>
            </a:r>
            <a:r>
              <a:rPr lang="en-GB" sz="2600" b="1" dirty="0" err="1">
                <a:solidFill>
                  <a:srgbClr val="000000"/>
                </a:solidFill>
              </a:rPr>
              <a:t>est</a:t>
            </a:r>
            <a:r>
              <a:rPr lang="en-GB" sz="2600" b="1" dirty="0">
                <a:solidFill>
                  <a:srgbClr val="000000"/>
                </a:solidFill>
              </a:rPr>
              <a:t> un </a:t>
            </a:r>
            <a:r>
              <a:rPr lang="en-GB" sz="2600" b="1" dirty="0" err="1">
                <a:solidFill>
                  <a:srgbClr val="000000"/>
                </a:solidFill>
              </a:rPr>
              <a:t>serveur</a:t>
            </a:r>
            <a:r>
              <a:rPr lang="en-GB" sz="2600" b="1" dirty="0">
                <a:solidFill>
                  <a:srgbClr val="000000"/>
                </a:solidFill>
              </a:rPr>
              <a:t> qui fait office de </a:t>
            </a:r>
            <a:r>
              <a:rPr lang="en-GB" sz="2600" b="1" dirty="0" err="1">
                <a:solidFill>
                  <a:srgbClr val="000000"/>
                </a:solidFill>
              </a:rPr>
              <a:t>passerelle</a:t>
            </a:r>
            <a:r>
              <a:rPr lang="en-GB" sz="2600" b="1" dirty="0">
                <a:solidFill>
                  <a:srgbClr val="000000"/>
                </a:solidFill>
              </a:rPr>
              <a:t> </a:t>
            </a:r>
            <a:r>
              <a:rPr lang="en-GB" sz="2600" b="1" dirty="0" err="1">
                <a:solidFill>
                  <a:srgbClr val="000000"/>
                </a:solidFill>
              </a:rPr>
              <a:t>vers</a:t>
            </a:r>
            <a:r>
              <a:rPr lang="en-GB" sz="2600" b="1" dirty="0">
                <a:solidFill>
                  <a:srgbClr val="000000"/>
                </a:solidFill>
              </a:rPr>
              <a:t> un </a:t>
            </a:r>
            <a:r>
              <a:rPr lang="en-GB" sz="2600" b="1" dirty="0" err="1">
                <a:solidFill>
                  <a:srgbClr val="000000"/>
                </a:solidFill>
              </a:rPr>
              <a:t>réseau</a:t>
            </a:r>
            <a:r>
              <a:rPr lang="en-GB" sz="2600" b="1" dirty="0">
                <a:solidFill>
                  <a:srgbClr val="000000"/>
                </a:solidFill>
              </a:rPr>
              <a:t> pour un client</a:t>
            </a:r>
            <a:endParaRPr lang="en-US" sz="2600" b="1" dirty="0"/>
          </a:p>
        </p:txBody>
      </p:sp>
      <p:sp>
        <p:nvSpPr>
          <p:cNvPr id="7" name="Rectangle 6"/>
          <p:cNvSpPr/>
          <p:nvPr/>
        </p:nvSpPr>
        <p:spPr>
          <a:xfrm>
            <a:off x="239484" y="2525264"/>
            <a:ext cx="8701315" cy="892552"/>
          </a:xfrm>
          <a:prstGeom prst="rect">
            <a:avLst/>
          </a:prstGeom>
        </p:spPr>
        <p:txBody>
          <a:bodyPr wrap="square">
            <a:spAutoFit/>
          </a:bodyPr>
          <a:lstStyle/>
          <a:p>
            <a:pPr algn="l"/>
            <a:r>
              <a:rPr lang="en-GB" sz="2600" b="1" dirty="0">
                <a:solidFill>
                  <a:srgbClr val="000000"/>
                </a:solidFill>
              </a:rPr>
              <a:t>Pour </a:t>
            </a:r>
            <a:r>
              <a:rPr lang="en-GB" sz="2600" b="1" dirty="0" err="1">
                <a:solidFill>
                  <a:srgbClr val="000000"/>
                </a:solidFill>
              </a:rPr>
              <a:t>configurer</a:t>
            </a:r>
            <a:r>
              <a:rPr lang="en-GB" sz="2600" b="1" dirty="0">
                <a:solidFill>
                  <a:srgbClr val="000000"/>
                </a:solidFill>
              </a:rPr>
              <a:t> le </a:t>
            </a:r>
            <a:r>
              <a:rPr lang="en-GB" sz="2600" b="1" dirty="0" err="1">
                <a:solidFill>
                  <a:srgbClr val="000000"/>
                </a:solidFill>
              </a:rPr>
              <a:t>serveur</a:t>
            </a:r>
            <a:r>
              <a:rPr lang="en-GB" sz="2600" b="1" dirty="0">
                <a:solidFill>
                  <a:srgbClr val="000000"/>
                </a:solidFill>
              </a:rPr>
              <a:t> </a:t>
            </a:r>
            <a:r>
              <a:rPr lang="en-GB" sz="2600" b="1" dirty="0" err="1">
                <a:solidFill>
                  <a:srgbClr val="000000"/>
                </a:solidFill>
              </a:rPr>
              <a:t>d'accès</a:t>
            </a:r>
            <a:r>
              <a:rPr lang="en-GB" sz="2600" b="1" dirty="0">
                <a:solidFill>
                  <a:srgbClr val="000000"/>
                </a:solidFill>
              </a:rPr>
              <a:t> </a:t>
            </a:r>
            <a:r>
              <a:rPr lang="en-GB" sz="2600" b="1" dirty="0" err="1">
                <a:solidFill>
                  <a:srgbClr val="000000"/>
                </a:solidFill>
              </a:rPr>
              <a:t>réseau</a:t>
            </a:r>
            <a:r>
              <a:rPr lang="en-GB" sz="2600" b="1" dirty="0">
                <a:solidFill>
                  <a:srgbClr val="000000"/>
                </a:solidFill>
              </a:rPr>
              <a:t>, les </a:t>
            </a:r>
            <a:r>
              <a:rPr lang="en-GB" sz="2600" b="1" dirty="0" err="1">
                <a:solidFill>
                  <a:srgbClr val="000000"/>
                </a:solidFill>
              </a:rPr>
              <a:t>informations</a:t>
            </a:r>
            <a:r>
              <a:rPr lang="en-GB" sz="2600" b="1" dirty="0">
                <a:solidFill>
                  <a:srgbClr val="000000"/>
                </a:solidFill>
              </a:rPr>
              <a:t> </a:t>
            </a:r>
            <a:r>
              <a:rPr lang="en-GB" sz="2600" b="1" dirty="0" err="1">
                <a:solidFill>
                  <a:srgbClr val="000000"/>
                </a:solidFill>
              </a:rPr>
              <a:t>suivantes</a:t>
            </a:r>
            <a:r>
              <a:rPr lang="en-GB" sz="2600" b="1" dirty="0">
                <a:solidFill>
                  <a:srgbClr val="000000"/>
                </a:solidFill>
              </a:rPr>
              <a:t> </a:t>
            </a:r>
            <a:r>
              <a:rPr lang="en-GB" sz="2600" b="1" dirty="0" err="1">
                <a:solidFill>
                  <a:srgbClr val="000000"/>
                </a:solidFill>
              </a:rPr>
              <a:t>sont</a:t>
            </a:r>
            <a:r>
              <a:rPr lang="en-GB" sz="2600" b="1" dirty="0">
                <a:solidFill>
                  <a:srgbClr val="000000"/>
                </a:solidFill>
              </a:rPr>
              <a:t> </a:t>
            </a:r>
            <a:r>
              <a:rPr lang="en-GB" sz="2600" b="1" dirty="0" err="1">
                <a:solidFill>
                  <a:srgbClr val="000000"/>
                </a:solidFill>
              </a:rPr>
              <a:t>requises</a:t>
            </a:r>
            <a:r>
              <a:rPr lang="en-GB" sz="2600" b="1" dirty="0">
                <a:solidFill>
                  <a:srgbClr val="000000"/>
                </a:solidFill>
              </a:rPr>
              <a:t> :</a:t>
            </a:r>
            <a:endParaRPr lang="en-US" sz="2600" b="1"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heckerboard(across)">
                                      <p:cBhvr>
                                        <p:cTn id="7" dur="10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47757">
                                            <p:txEl>
                                              <p:pRg st="0" end="0"/>
                                            </p:txEl>
                                          </p:spTgt>
                                        </p:tgtEl>
                                        <p:attrNameLst>
                                          <p:attrName>style.visibility</p:attrName>
                                        </p:attrNameLst>
                                      </p:cBhvr>
                                      <p:to>
                                        <p:strVal val="visible"/>
                                      </p:to>
                                    </p:set>
                                    <p:animEffect transition="in" filter="checkerboard(across)">
                                      <p:cBhvr>
                                        <p:cTn id="12" dur="1000"/>
                                        <p:tgtEl>
                                          <p:spTgt spid="44775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47757">
                                            <p:txEl>
                                              <p:pRg st="1" end="1"/>
                                            </p:txEl>
                                          </p:spTgt>
                                        </p:tgtEl>
                                        <p:attrNameLst>
                                          <p:attrName>style.visibility</p:attrName>
                                        </p:attrNameLst>
                                      </p:cBhvr>
                                      <p:to>
                                        <p:strVal val="visible"/>
                                      </p:to>
                                    </p:set>
                                    <p:animEffect transition="in" filter="checkerboard(across)">
                                      <p:cBhvr>
                                        <p:cTn id="17" dur="1000"/>
                                        <p:tgtEl>
                                          <p:spTgt spid="44775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447757">
                                            <p:txEl>
                                              <p:pRg st="2" end="2"/>
                                            </p:txEl>
                                          </p:spTgt>
                                        </p:tgtEl>
                                        <p:attrNameLst>
                                          <p:attrName>style.visibility</p:attrName>
                                        </p:attrNameLst>
                                      </p:cBhvr>
                                      <p:to>
                                        <p:strVal val="visible"/>
                                      </p:to>
                                    </p:set>
                                    <p:animEffect transition="in" filter="checkerboard(across)">
                                      <p:cBhvr>
                                        <p:cTn id="22" dur="1000"/>
                                        <p:tgtEl>
                                          <p:spTgt spid="44775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447757">
                                            <p:txEl>
                                              <p:pRg st="3" end="3"/>
                                            </p:txEl>
                                          </p:spTgt>
                                        </p:tgtEl>
                                        <p:attrNameLst>
                                          <p:attrName>style.visibility</p:attrName>
                                        </p:attrNameLst>
                                      </p:cBhvr>
                                      <p:to>
                                        <p:strVal val="visible"/>
                                      </p:to>
                                    </p:set>
                                    <p:animEffect transition="in" filter="checkerboard(across)">
                                      <p:cBhvr>
                                        <p:cTn id="27" dur="1000"/>
                                        <p:tgtEl>
                                          <p:spTgt spid="44775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454" name="Rectangle 6"/>
          <p:cNvSpPr>
            <a:spLocks noGrp="1" noChangeArrowheads="1"/>
          </p:cNvSpPr>
          <p:nvPr>
            <p:ph type="title"/>
            <p:custDataLst>
              <p:tags r:id="rId1"/>
            </p:custDataLst>
          </p:nvPr>
        </p:nvSpPr>
        <p:spPr>
          <a:xfrm>
            <a:off x="199570" y="295503"/>
            <a:ext cx="8755743" cy="684212"/>
          </a:xfrm>
        </p:spPr>
        <p:txBody>
          <a:bodyPr vert="horz" anchor="b">
            <a:normAutofit/>
          </a:bodyPr>
          <a:lstStyle/>
          <a:p>
            <a:r>
              <a:rPr lang="fr-FR" sz="2800" dirty="0">
                <a:solidFill>
                  <a:srgbClr val="C00000"/>
                </a:solidFill>
              </a:rPr>
              <a:t>Qu'est-ce qu'un client d'accès réseau ?</a:t>
            </a:r>
            <a:endParaRPr sz="2800" dirty="0">
              <a:solidFill>
                <a:srgbClr val="C00000"/>
              </a:solidFill>
            </a:endParaRPr>
          </a:p>
        </p:txBody>
      </p:sp>
      <p:graphicFrame>
        <p:nvGraphicFramePr>
          <p:cNvPr id="360993" name="Group 545"/>
          <p:cNvGraphicFramePr>
            <a:graphicFrameLocks noGrp="1"/>
          </p:cNvGraphicFramePr>
          <p:nvPr/>
        </p:nvGraphicFramePr>
        <p:xfrm>
          <a:off x="72572" y="1154113"/>
          <a:ext cx="8969829" cy="5618015"/>
        </p:xfrm>
        <a:graphic>
          <a:graphicData uri="http://schemas.openxmlformats.org/drawingml/2006/table">
            <a:tbl>
              <a:tblPr/>
              <a:tblGrid>
                <a:gridCol w="2194273">
                  <a:extLst>
                    <a:ext uri="{9D8B030D-6E8A-4147-A177-3AD203B41FA5}">
                      <a16:colId xmlns:a16="http://schemas.microsoft.com/office/drawing/2014/main" val="20000"/>
                    </a:ext>
                  </a:extLst>
                </a:gridCol>
                <a:gridCol w="6775556">
                  <a:extLst>
                    <a:ext uri="{9D8B030D-6E8A-4147-A177-3AD203B41FA5}">
                      <a16:colId xmlns:a16="http://schemas.microsoft.com/office/drawing/2014/main" val="20001"/>
                    </a:ext>
                  </a:extLst>
                </a:gridCol>
              </a:tblGrid>
              <a:tr h="453583">
                <a:tc>
                  <a:txBody>
                    <a:bodyPr/>
                    <a:lstStyle/>
                    <a:p>
                      <a:pPr marL="0" marR="0" lvl="0" indent="0" algn="ctr"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en-GB" sz="2200" b="1" i="0" u="none" strike="noStrike" cap="none" normalizeH="0" baseline="0" dirty="0">
                          <a:ln>
                            <a:noFill/>
                          </a:ln>
                          <a:solidFill>
                            <a:srgbClr val="000000"/>
                          </a:solidFill>
                          <a:effectLst/>
                          <a:latin typeface="Arial Narrow" pitchFamily="34" charset="0"/>
                        </a:rPr>
                        <a:t>Type de client</a:t>
                      </a:r>
                      <a:endParaRPr kumimoji="0" lang="en-US" sz="2200" b="1" i="0" u="none" strike="noStrike" cap="none" normalizeH="0" baseline="0" dirty="0">
                        <a:ln>
                          <a:noFill/>
                        </a:ln>
                        <a:solidFill>
                          <a:schemeClr val="tx1"/>
                        </a:solidFill>
                        <a:effectLst/>
                        <a:latin typeface="Arial Narrow" pitchFamily="34" charset="0"/>
                      </a:endParaRPr>
                    </a:p>
                  </a:txBody>
                  <a:tcPr anchor="ctr" anchorCtr="1"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c>
                  <a:txBody>
                    <a:bodyPr/>
                    <a:lstStyle/>
                    <a:p>
                      <a:pPr marL="0" marR="0" lvl="0" indent="0" algn="ctr" defTabSz="914400" rtl="0" eaLnBrk="0" fontAlgn="base" latinLnBrk="0" hangingPunct="0">
                        <a:lnSpc>
                          <a:spcPct val="90000"/>
                        </a:lnSpc>
                        <a:spcBef>
                          <a:spcPct val="0"/>
                        </a:spcBef>
                        <a:spcAft>
                          <a:spcPct val="0"/>
                        </a:spcAft>
                        <a:buClrTx/>
                        <a:buSzTx/>
                        <a:buFontTx/>
                        <a:buNone/>
                        <a:tabLst/>
                      </a:pPr>
                      <a:r>
                        <a:rPr kumimoji="0" lang="en-GB" sz="2200" b="1" i="0" u="none" strike="noStrike" cap="none" normalizeH="0" baseline="0" dirty="0">
                          <a:ln>
                            <a:noFill/>
                          </a:ln>
                          <a:solidFill>
                            <a:srgbClr val="000000"/>
                          </a:solidFill>
                          <a:effectLst/>
                          <a:latin typeface="Arial Narrow" pitchFamily="34" charset="0"/>
                        </a:rPr>
                        <a:t>Description</a:t>
                      </a:r>
                      <a:endParaRPr kumimoji="0" lang="en-US" sz="2200" b="1" i="0" u="none" strike="noStrike" cap="none" normalizeH="0" baseline="0" dirty="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extLst>
                  <a:ext uri="{0D108BD9-81ED-4DB2-BD59-A6C34878D82A}">
                    <a16:rowId xmlns:a16="http://schemas.microsoft.com/office/drawing/2014/main" val="10000"/>
                  </a:ext>
                </a:extLst>
              </a:tr>
              <a:tr h="1382010">
                <a:tc>
                  <a:txBody>
                    <a:bodyPr/>
                    <a:lstStyle/>
                    <a:p>
                      <a:pPr marL="0" marR="0" lvl="0" indent="0" algn="ctr"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en-GB" sz="2000" b="1" i="0" u="none" strike="noStrike" cap="none" normalizeH="0" baseline="0" dirty="0">
                          <a:ln>
                            <a:noFill/>
                          </a:ln>
                          <a:solidFill>
                            <a:srgbClr val="000000"/>
                          </a:solidFill>
                          <a:effectLst/>
                          <a:latin typeface="Arial Narrow" pitchFamily="34" charset="0"/>
                        </a:rPr>
                        <a:t>Client VPN</a:t>
                      </a:r>
                      <a:endParaRPr kumimoji="0" lang="en-US" sz="2000" b="1" i="0" u="none" strike="noStrike" cap="none" normalizeH="0" baseline="0" dirty="0">
                        <a:ln>
                          <a:noFill/>
                        </a:ln>
                        <a:solidFill>
                          <a:srgbClr val="000000"/>
                        </a:solidFill>
                        <a:effectLst/>
                        <a:latin typeface="Arial Narrow" pitchFamily="34" charset="0"/>
                      </a:endParaRPr>
                    </a:p>
                  </a:txBody>
                  <a:tcPr anchor="b"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177800" marR="0" lvl="0" indent="-177800" algn="l" defTabSz="914400" rtl="0" eaLnBrk="0" fontAlgn="base" latinLnBrk="0" hangingPunct="0">
                        <a:lnSpc>
                          <a:spcPct val="100000"/>
                        </a:lnSpc>
                        <a:spcBef>
                          <a:spcPct val="0"/>
                        </a:spcBef>
                        <a:spcAft>
                          <a:spcPct val="0"/>
                        </a:spcAft>
                        <a:buClr>
                          <a:schemeClr val="accent2"/>
                        </a:buClr>
                        <a:buSzPct val="70000"/>
                        <a:buFont typeface="Wingdings" pitchFamily="2" charset="2"/>
                        <a:buBlip>
                          <a:blip r:embed="rId20"/>
                        </a:buBlip>
                        <a:tabLst/>
                      </a:pPr>
                      <a:r>
                        <a:rPr kumimoji="0" lang="en-GB" sz="2500" b="0" i="0" u="none" strike="noStrike" cap="none" normalizeH="0" baseline="0" dirty="0">
                          <a:ln>
                            <a:noFill/>
                          </a:ln>
                          <a:solidFill>
                            <a:srgbClr val="000000"/>
                          </a:solidFill>
                          <a:effectLst/>
                          <a:latin typeface="Arial Narrow" pitchFamily="34" charset="0"/>
                        </a:rPr>
                        <a:t>Se </a:t>
                      </a:r>
                      <a:r>
                        <a:rPr kumimoji="0" lang="en-GB" sz="2500" b="0" i="0" u="none" strike="noStrike" cap="none" normalizeH="0" baseline="0" dirty="0" err="1">
                          <a:ln>
                            <a:noFill/>
                          </a:ln>
                          <a:solidFill>
                            <a:srgbClr val="000000"/>
                          </a:solidFill>
                          <a:effectLst/>
                          <a:latin typeface="Arial Narrow" pitchFamily="34" charset="0"/>
                        </a:rPr>
                        <a:t>connecte</a:t>
                      </a:r>
                      <a:r>
                        <a:rPr kumimoji="0" lang="en-GB" sz="2500" b="0" i="0" u="none" strike="noStrike" cap="none" normalizeH="0" baseline="0" dirty="0">
                          <a:ln>
                            <a:noFill/>
                          </a:ln>
                          <a:solidFill>
                            <a:srgbClr val="000000"/>
                          </a:solidFill>
                          <a:effectLst/>
                          <a:latin typeface="Arial Narrow" pitchFamily="34" charset="0"/>
                        </a:rPr>
                        <a:t> via un </a:t>
                      </a:r>
                      <a:r>
                        <a:rPr kumimoji="0" lang="en-GB" sz="2500" b="0" i="0" u="none" strike="noStrike" cap="none" normalizeH="0" baseline="0" dirty="0" err="1">
                          <a:ln>
                            <a:noFill/>
                          </a:ln>
                          <a:solidFill>
                            <a:srgbClr val="000000"/>
                          </a:solidFill>
                          <a:effectLst/>
                          <a:latin typeface="Arial Narrow" pitchFamily="34" charset="0"/>
                        </a:rPr>
                        <a:t>réseau</a:t>
                      </a:r>
                      <a:r>
                        <a:rPr kumimoji="0" lang="en-GB" sz="2500" b="0" i="0" u="none" strike="noStrike" cap="none" normalizeH="0" baseline="0" dirty="0">
                          <a:ln>
                            <a:noFill/>
                          </a:ln>
                          <a:solidFill>
                            <a:srgbClr val="000000"/>
                          </a:solidFill>
                          <a:effectLst/>
                          <a:latin typeface="Arial Narrow" pitchFamily="34" charset="0"/>
                        </a:rPr>
                        <a:t> public </a:t>
                      </a:r>
                      <a:r>
                        <a:rPr kumimoji="0" lang="en-GB" sz="2500" b="0" i="0" u="none" strike="noStrike" cap="none" normalizeH="0" baseline="0" dirty="0" err="1">
                          <a:ln>
                            <a:noFill/>
                          </a:ln>
                          <a:solidFill>
                            <a:srgbClr val="000000"/>
                          </a:solidFill>
                          <a:effectLst/>
                          <a:latin typeface="Arial Narrow" pitchFamily="34" charset="0"/>
                        </a:rPr>
                        <a:t>ou</a:t>
                      </a:r>
                      <a:r>
                        <a:rPr kumimoji="0" lang="en-GB" sz="2500" b="0" i="0" u="none" strike="noStrike" cap="none" normalizeH="0" baseline="0" dirty="0">
                          <a:ln>
                            <a:noFill/>
                          </a:ln>
                          <a:solidFill>
                            <a:srgbClr val="000000"/>
                          </a:solidFill>
                          <a:effectLst/>
                          <a:latin typeface="Arial Narrow" pitchFamily="34" charset="0"/>
                        </a:rPr>
                        <a:t> </a:t>
                      </a:r>
                      <a:r>
                        <a:rPr kumimoji="0" lang="en-GB" sz="2500" b="0" i="0" u="none" strike="noStrike" cap="none" normalizeH="0" baseline="0" dirty="0" err="1">
                          <a:ln>
                            <a:noFill/>
                          </a:ln>
                          <a:solidFill>
                            <a:srgbClr val="000000"/>
                          </a:solidFill>
                          <a:effectLst/>
                          <a:latin typeface="Arial Narrow" pitchFamily="34" charset="0"/>
                        </a:rPr>
                        <a:t>partagé</a:t>
                      </a:r>
                      <a:endParaRPr kumimoji="0" lang="en-US" sz="2500" b="0" i="0" u="none" strike="noStrike" cap="none" normalizeH="0" baseline="0" dirty="0">
                        <a:ln>
                          <a:noFill/>
                        </a:ln>
                        <a:solidFill>
                          <a:schemeClr val="tx1"/>
                        </a:solidFill>
                        <a:effectLst/>
                        <a:latin typeface="Arial Narrow" pitchFamily="34" charset="0"/>
                      </a:endParaRPr>
                    </a:p>
                    <a:p>
                      <a:pPr marL="177800" marR="0" lvl="0" indent="-177800" algn="l" defTabSz="914400" rtl="0" eaLnBrk="0" fontAlgn="base" latinLnBrk="0" hangingPunct="0">
                        <a:lnSpc>
                          <a:spcPct val="100000"/>
                        </a:lnSpc>
                        <a:spcBef>
                          <a:spcPct val="0"/>
                        </a:spcBef>
                        <a:spcAft>
                          <a:spcPct val="0"/>
                        </a:spcAft>
                        <a:buClr>
                          <a:schemeClr val="accent2"/>
                        </a:buClr>
                        <a:buSzPct val="70000"/>
                        <a:buFont typeface="Wingdings" pitchFamily="2" charset="2"/>
                        <a:buBlip>
                          <a:blip r:embed="rId20"/>
                        </a:buBlip>
                        <a:tabLst/>
                      </a:pPr>
                      <a:r>
                        <a:rPr kumimoji="0" lang="en-GB" sz="2500" b="0" i="0" u="none" strike="noStrike" cap="none" normalizeH="0" baseline="0" dirty="0" err="1">
                          <a:ln>
                            <a:noFill/>
                          </a:ln>
                          <a:solidFill>
                            <a:srgbClr val="000000"/>
                          </a:solidFill>
                          <a:effectLst/>
                          <a:latin typeface="Arial Narrow" pitchFamily="34" charset="0"/>
                        </a:rPr>
                        <a:t>Émule</a:t>
                      </a:r>
                      <a:r>
                        <a:rPr kumimoji="0" lang="en-GB" sz="2500" b="0" i="0" u="none" strike="noStrike" cap="none" normalizeH="0" baseline="0" dirty="0">
                          <a:ln>
                            <a:noFill/>
                          </a:ln>
                          <a:solidFill>
                            <a:srgbClr val="000000"/>
                          </a:solidFill>
                          <a:effectLst/>
                          <a:latin typeface="Arial Narrow" pitchFamily="34" charset="0"/>
                        </a:rPr>
                        <a:t> </a:t>
                      </a:r>
                      <a:r>
                        <a:rPr kumimoji="0" lang="en-GB" sz="2500" b="0" i="0" u="none" strike="noStrike" cap="none" normalizeH="0" baseline="0" dirty="0" err="1">
                          <a:ln>
                            <a:noFill/>
                          </a:ln>
                          <a:solidFill>
                            <a:srgbClr val="000000"/>
                          </a:solidFill>
                          <a:effectLst/>
                          <a:latin typeface="Arial Narrow" pitchFamily="34" charset="0"/>
                        </a:rPr>
                        <a:t>une</a:t>
                      </a:r>
                      <a:r>
                        <a:rPr kumimoji="0" lang="en-GB" sz="2500" b="0" i="0" u="none" strike="noStrike" cap="none" normalizeH="0" baseline="0" dirty="0">
                          <a:ln>
                            <a:noFill/>
                          </a:ln>
                          <a:solidFill>
                            <a:srgbClr val="000000"/>
                          </a:solidFill>
                          <a:effectLst/>
                          <a:latin typeface="Arial Narrow" pitchFamily="34" charset="0"/>
                        </a:rPr>
                        <a:t> liaison point à point </a:t>
                      </a:r>
                      <a:r>
                        <a:rPr kumimoji="0" lang="en-GB" sz="2500" b="0" i="0" u="none" strike="noStrike" cap="none" normalizeH="0" baseline="0" dirty="0" err="1">
                          <a:ln>
                            <a:noFill/>
                          </a:ln>
                          <a:solidFill>
                            <a:srgbClr val="000000"/>
                          </a:solidFill>
                          <a:effectLst/>
                          <a:latin typeface="Arial Narrow" pitchFamily="34" charset="0"/>
                        </a:rPr>
                        <a:t>sur</a:t>
                      </a:r>
                      <a:r>
                        <a:rPr kumimoji="0" lang="en-GB" sz="2500" b="0" i="0" u="none" strike="noStrike" cap="none" normalizeH="0" baseline="0" dirty="0">
                          <a:ln>
                            <a:noFill/>
                          </a:ln>
                          <a:solidFill>
                            <a:srgbClr val="000000"/>
                          </a:solidFill>
                          <a:effectLst/>
                          <a:latin typeface="Arial Narrow" pitchFamily="34" charset="0"/>
                        </a:rPr>
                        <a:t> un </a:t>
                      </a:r>
                      <a:r>
                        <a:rPr kumimoji="0" lang="en-GB" sz="2500" b="0" i="0" u="none" strike="noStrike" cap="none" normalizeH="0" baseline="0" dirty="0" err="1">
                          <a:ln>
                            <a:noFill/>
                          </a:ln>
                          <a:solidFill>
                            <a:srgbClr val="000000"/>
                          </a:solidFill>
                          <a:effectLst/>
                          <a:latin typeface="Arial Narrow" pitchFamily="34" charset="0"/>
                        </a:rPr>
                        <a:t>réseau</a:t>
                      </a:r>
                      <a:r>
                        <a:rPr kumimoji="0" lang="en-GB" sz="2500" b="0" i="0" u="none" strike="noStrike" cap="none" normalizeH="0" baseline="0" dirty="0">
                          <a:ln>
                            <a:noFill/>
                          </a:ln>
                          <a:solidFill>
                            <a:srgbClr val="000000"/>
                          </a:solidFill>
                          <a:effectLst/>
                          <a:latin typeface="Arial Narrow" pitchFamily="34" charset="0"/>
                        </a:rPr>
                        <a:t> </a:t>
                      </a:r>
                      <a:r>
                        <a:rPr kumimoji="0" lang="en-GB" sz="2500" b="0" i="0" u="none" strike="noStrike" cap="none" normalizeH="0" baseline="0" dirty="0" err="1">
                          <a:ln>
                            <a:noFill/>
                          </a:ln>
                          <a:solidFill>
                            <a:srgbClr val="000000"/>
                          </a:solidFill>
                          <a:effectLst/>
                          <a:latin typeface="Arial Narrow" pitchFamily="34" charset="0"/>
                        </a:rPr>
                        <a:t>privé</a:t>
                      </a:r>
                      <a:endParaRPr kumimoji="0" lang="en-US" sz="2500" b="0" i="0" u="none" strike="noStrike" cap="none" normalizeH="0" baseline="0" dirty="0">
                        <a:ln>
                          <a:noFill/>
                        </a:ln>
                        <a:solidFill>
                          <a:srgbClr val="000000"/>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1980715">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GB" sz="2000" b="1" i="0" u="none" strike="noStrike" cap="none" normalizeH="0" baseline="0" dirty="0">
                          <a:ln>
                            <a:noFill/>
                          </a:ln>
                          <a:solidFill>
                            <a:srgbClr val="000000"/>
                          </a:solidFill>
                          <a:effectLst/>
                          <a:latin typeface="Arial Narrow" pitchFamily="34" charset="0"/>
                        </a:rPr>
                        <a:t>Client</a:t>
                      </a:r>
                      <a:endParaRPr kumimoji="0" lang="en-US" sz="2000" b="1" i="0" u="none" strike="noStrike" cap="none" normalizeH="0" baseline="0" dirty="0">
                        <a:ln>
                          <a:noFill/>
                        </a:ln>
                        <a:solidFill>
                          <a:schemeClr val="tx1"/>
                        </a:solidFill>
                        <a:effectLst/>
                        <a:latin typeface="Arial Narrow"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GB" sz="2000" b="1" i="0" u="none" strike="noStrike" cap="none" normalizeH="0" baseline="0" dirty="0" err="1">
                          <a:ln>
                            <a:noFill/>
                          </a:ln>
                          <a:solidFill>
                            <a:srgbClr val="000000"/>
                          </a:solidFill>
                          <a:effectLst/>
                          <a:latin typeface="Arial Narrow" pitchFamily="34" charset="0"/>
                        </a:rPr>
                        <a:t>d'accès</a:t>
                      </a:r>
                      <a:r>
                        <a:rPr kumimoji="0" lang="en-GB" sz="2000" b="1" i="0" u="none" strike="noStrike" cap="none" normalizeH="0" baseline="0" dirty="0">
                          <a:ln>
                            <a:noFill/>
                          </a:ln>
                          <a:solidFill>
                            <a:srgbClr val="000000"/>
                          </a:solidFill>
                          <a:effectLst/>
                          <a:latin typeface="Arial Narrow" pitchFamily="34" charset="0"/>
                        </a:rPr>
                        <a:t> à distance</a:t>
                      </a:r>
                      <a:endParaRPr kumimoji="0" lang="en-US" sz="2000" b="1" i="0" u="none" strike="noStrike" cap="none" normalizeH="0" baseline="0" dirty="0">
                        <a:ln>
                          <a:noFill/>
                        </a:ln>
                        <a:solidFill>
                          <a:srgbClr val="000000"/>
                        </a:solidFill>
                        <a:effectLst/>
                        <a:latin typeface="Arial Narrow" pitchFamily="34" charset="0"/>
                      </a:endParaRPr>
                    </a:p>
                  </a:txBody>
                  <a:tcPr anchor="b"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177800" marR="0" lvl="0" indent="-177800" algn="l" defTabSz="914400" rtl="0" eaLnBrk="0" fontAlgn="base" latinLnBrk="0" hangingPunct="0">
                        <a:lnSpc>
                          <a:spcPct val="100000"/>
                        </a:lnSpc>
                        <a:spcBef>
                          <a:spcPct val="0"/>
                        </a:spcBef>
                        <a:spcAft>
                          <a:spcPct val="0"/>
                        </a:spcAft>
                        <a:buClr>
                          <a:schemeClr val="accent2"/>
                        </a:buClr>
                        <a:buSzPct val="70000"/>
                        <a:buFont typeface="Wingdings" pitchFamily="2" charset="2"/>
                        <a:buBlip>
                          <a:blip r:embed="rId20"/>
                        </a:buBlip>
                        <a:tabLst/>
                      </a:pPr>
                      <a:r>
                        <a:rPr kumimoji="0" lang="en-GB" sz="2500" b="0" i="0" u="none" strike="noStrike" cap="none" normalizeH="0" baseline="0" dirty="0">
                          <a:ln>
                            <a:noFill/>
                          </a:ln>
                          <a:solidFill>
                            <a:srgbClr val="000000"/>
                          </a:solidFill>
                          <a:effectLst/>
                          <a:latin typeface="Arial Narrow" pitchFamily="34" charset="0"/>
                        </a:rPr>
                        <a:t>Se </a:t>
                      </a:r>
                      <a:r>
                        <a:rPr kumimoji="0" lang="en-GB" sz="2500" b="0" i="0" u="none" strike="noStrike" cap="none" normalizeH="0" baseline="0" dirty="0" err="1">
                          <a:ln>
                            <a:noFill/>
                          </a:ln>
                          <a:solidFill>
                            <a:srgbClr val="000000"/>
                          </a:solidFill>
                          <a:effectLst/>
                          <a:latin typeface="Arial Narrow" pitchFamily="34" charset="0"/>
                        </a:rPr>
                        <a:t>connecte</a:t>
                      </a:r>
                      <a:r>
                        <a:rPr kumimoji="0" lang="en-GB" sz="2500" b="0" i="0" u="none" strike="noStrike" cap="none" normalizeH="0" baseline="0" dirty="0">
                          <a:ln>
                            <a:noFill/>
                          </a:ln>
                          <a:solidFill>
                            <a:srgbClr val="000000"/>
                          </a:solidFill>
                          <a:effectLst/>
                          <a:latin typeface="Arial Narrow" pitchFamily="34" charset="0"/>
                        </a:rPr>
                        <a:t> par le </a:t>
                      </a:r>
                      <a:r>
                        <a:rPr kumimoji="0" lang="en-GB" sz="2500" b="0" i="0" u="none" strike="noStrike" cap="none" normalizeH="0" baseline="0" dirty="0" err="1">
                          <a:ln>
                            <a:noFill/>
                          </a:ln>
                          <a:solidFill>
                            <a:srgbClr val="000000"/>
                          </a:solidFill>
                          <a:effectLst/>
                          <a:latin typeface="Arial Narrow" pitchFamily="34" charset="0"/>
                        </a:rPr>
                        <a:t>biais</a:t>
                      </a:r>
                      <a:r>
                        <a:rPr kumimoji="0" lang="en-GB" sz="2500" b="0" i="0" u="none" strike="noStrike" cap="none" normalizeH="0" baseline="0" dirty="0">
                          <a:ln>
                            <a:noFill/>
                          </a:ln>
                          <a:solidFill>
                            <a:srgbClr val="000000"/>
                          </a:solidFill>
                          <a:effectLst/>
                          <a:latin typeface="Arial Narrow" pitchFamily="34" charset="0"/>
                        </a:rPr>
                        <a:t> d'un </a:t>
                      </a:r>
                      <a:r>
                        <a:rPr kumimoji="0" lang="en-GB" sz="2500" b="0" i="0" u="none" strike="noStrike" cap="none" normalizeH="0" baseline="0" dirty="0" err="1">
                          <a:ln>
                            <a:noFill/>
                          </a:ln>
                          <a:solidFill>
                            <a:srgbClr val="000000"/>
                          </a:solidFill>
                          <a:effectLst/>
                          <a:latin typeface="Arial Narrow" pitchFamily="34" charset="0"/>
                        </a:rPr>
                        <a:t>réseau</a:t>
                      </a:r>
                      <a:r>
                        <a:rPr kumimoji="0" lang="en-GB" sz="2500" b="0" i="0" u="none" strike="noStrike" cap="none" normalizeH="0" baseline="0" dirty="0">
                          <a:ln>
                            <a:noFill/>
                          </a:ln>
                          <a:solidFill>
                            <a:srgbClr val="000000"/>
                          </a:solidFill>
                          <a:effectLst/>
                          <a:latin typeface="Arial Narrow" pitchFamily="34" charset="0"/>
                        </a:rPr>
                        <a:t> de communication</a:t>
                      </a:r>
                      <a:endParaRPr kumimoji="0" lang="en-US" sz="2500" b="1" i="0" u="none" strike="noStrike" cap="none" normalizeH="0" baseline="0" dirty="0">
                        <a:ln>
                          <a:noFill/>
                        </a:ln>
                        <a:solidFill>
                          <a:schemeClr val="tx1"/>
                        </a:solidFill>
                        <a:effectLst/>
                        <a:latin typeface="Arial Narrow" pitchFamily="34" charset="0"/>
                      </a:endParaRPr>
                    </a:p>
                    <a:p>
                      <a:pPr marL="177800" marR="0" lvl="0" indent="-177800" algn="l" defTabSz="914400" rtl="0" eaLnBrk="0" fontAlgn="base" latinLnBrk="0" hangingPunct="0">
                        <a:lnSpc>
                          <a:spcPct val="100000"/>
                        </a:lnSpc>
                        <a:spcBef>
                          <a:spcPct val="0"/>
                        </a:spcBef>
                        <a:spcAft>
                          <a:spcPct val="0"/>
                        </a:spcAft>
                        <a:buClr>
                          <a:schemeClr val="accent2"/>
                        </a:buClr>
                        <a:buSzPct val="70000"/>
                        <a:buFont typeface="Wingdings" pitchFamily="2" charset="2"/>
                        <a:buBlip>
                          <a:blip r:embed="rId20"/>
                        </a:buBlip>
                        <a:tabLst/>
                      </a:pPr>
                      <a:r>
                        <a:rPr kumimoji="0" lang="en-GB" sz="2500" b="0" i="0" u="none" strike="noStrike" cap="none" normalizeH="0" baseline="0" dirty="0" err="1">
                          <a:ln>
                            <a:noFill/>
                          </a:ln>
                          <a:solidFill>
                            <a:srgbClr val="000000"/>
                          </a:solidFill>
                          <a:effectLst/>
                          <a:latin typeface="Arial Narrow" pitchFamily="34" charset="0"/>
                        </a:rPr>
                        <a:t>Crée</a:t>
                      </a:r>
                      <a:r>
                        <a:rPr kumimoji="0" lang="en-GB" sz="2500" b="0" i="0" u="none" strike="noStrike" cap="none" normalizeH="0" baseline="0" dirty="0">
                          <a:ln>
                            <a:noFill/>
                          </a:ln>
                          <a:solidFill>
                            <a:srgbClr val="000000"/>
                          </a:solidFill>
                          <a:effectLst/>
                          <a:latin typeface="Arial Narrow" pitchFamily="34" charset="0"/>
                        </a:rPr>
                        <a:t> </a:t>
                      </a:r>
                      <a:r>
                        <a:rPr kumimoji="0" lang="en-GB" sz="2500" b="0" i="0" u="none" strike="noStrike" cap="none" normalizeH="0" baseline="0" dirty="0" err="1">
                          <a:ln>
                            <a:noFill/>
                          </a:ln>
                          <a:solidFill>
                            <a:srgbClr val="000000"/>
                          </a:solidFill>
                          <a:effectLst/>
                          <a:latin typeface="Arial Narrow" pitchFamily="34" charset="0"/>
                        </a:rPr>
                        <a:t>une</a:t>
                      </a:r>
                      <a:r>
                        <a:rPr kumimoji="0" lang="en-GB" sz="2500" b="0" i="0" u="none" strike="noStrike" cap="none" normalizeH="0" baseline="0" dirty="0">
                          <a:ln>
                            <a:noFill/>
                          </a:ln>
                          <a:solidFill>
                            <a:srgbClr val="000000"/>
                          </a:solidFill>
                          <a:effectLst/>
                          <a:latin typeface="Arial Narrow" pitchFamily="34" charset="0"/>
                        </a:rPr>
                        <a:t> connexion physique à un port </a:t>
                      </a:r>
                      <a:r>
                        <a:rPr kumimoji="0" lang="en-GB" sz="2500" b="0" i="0" u="none" strike="noStrike" cap="none" normalizeH="0" baseline="0" dirty="0" err="1">
                          <a:ln>
                            <a:noFill/>
                          </a:ln>
                          <a:solidFill>
                            <a:srgbClr val="000000"/>
                          </a:solidFill>
                          <a:effectLst/>
                          <a:latin typeface="Arial Narrow" pitchFamily="34" charset="0"/>
                        </a:rPr>
                        <a:t>sur</a:t>
                      </a:r>
                      <a:r>
                        <a:rPr kumimoji="0" lang="en-GB" sz="2500" b="0" i="0" u="none" strike="noStrike" cap="none" normalizeH="0" baseline="0" dirty="0">
                          <a:ln>
                            <a:noFill/>
                          </a:ln>
                          <a:solidFill>
                            <a:srgbClr val="000000"/>
                          </a:solidFill>
                          <a:effectLst/>
                          <a:latin typeface="Arial Narrow" pitchFamily="34" charset="0"/>
                        </a:rPr>
                        <a:t> un </a:t>
                      </a:r>
                      <a:r>
                        <a:rPr kumimoji="0" lang="en-GB" sz="2500" b="0" i="0" u="none" strike="noStrike" cap="none" normalizeH="0" baseline="0" dirty="0" err="1">
                          <a:ln>
                            <a:noFill/>
                          </a:ln>
                          <a:solidFill>
                            <a:srgbClr val="000000"/>
                          </a:solidFill>
                          <a:effectLst/>
                          <a:latin typeface="Arial Narrow" pitchFamily="34" charset="0"/>
                        </a:rPr>
                        <a:t>serveur</a:t>
                      </a:r>
                      <a:r>
                        <a:rPr kumimoji="0" lang="en-GB" sz="2500" b="0" i="0" u="none" strike="noStrike" cap="none" normalizeH="0" baseline="0" dirty="0">
                          <a:ln>
                            <a:noFill/>
                          </a:ln>
                          <a:solidFill>
                            <a:srgbClr val="000000"/>
                          </a:solidFill>
                          <a:effectLst/>
                          <a:latin typeface="Arial Narrow" pitchFamily="34" charset="0"/>
                        </a:rPr>
                        <a:t> </a:t>
                      </a:r>
                      <a:r>
                        <a:rPr kumimoji="0" lang="en-GB" sz="2500" b="0" i="0" u="none" strike="noStrike" cap="none" normalizeH="0" baseline="0" dirty="0" err="1">
                          <a:ln>
                            <a:noFill/>
                          </a:ln>
                          <a:solidFill>
                            <a:srgbClr val="000000"/>
                          </a:solidFill>
                          <a:effectLst/>
                          <a:latin typeface="Arial Narrow" pitchFamily="34" charset="0"/>
                        </a:rPr>
                        <a:t>d'accès</a:t>
                      </a:r>
                      <a:r>
                        <a:rPr kumimoji="0" lang="en-GB" sz="2500" b="0" i="0" u="none" strike="noStrike" cap="none" normalizeH="0" baseline="0" dirty="0">
                          <a:ln>
                            <a:noFill/>
                          </a:ln>
                          <a:solidFill>
                            <a:srgbClr val="000000"/>
                          </a:solidFill>
                          <a:effectLst/>
                          <a:latin typeface="Arial Narrow" pitchFamily="34" charset="0"/>
                        </a:rPr>
                        <a:t> distant </a:t>
                      </a:r>
                      <a:r>
                        <a:rPr kumimoji="0" lang="en-GB" sz="2500" b="0" i="0" u="none" strike="noStrike" cap="none" normalizeH="0" baseline="0" dirty="0" err="1">
                          <a:ln>
                            <a:noFill/>
                          </a:ln>
                          <a:solidFill>
                            <a:srgbClr val="000000"/>
                          </a:solidFill>
                          <a:effectLst/>
                          <a:latin typeface="Arial Narrow" pitchFamily="34" charset="0"/>
                        </a:rPr>
                        <a:t>situé</a:t>
                      </a:r>
                      <a:r>
                        <a:rPr kumimoji="0" lang="en-GB" sz="2500" b="0" i="0" u="none" strike="noStrike" cap="none" normalizeH="0" baseline="0" dirty="0">
                          <a:ln>
                            <a:noFill/>
                          </a:ln>
                          <a:solidFill>
                            <a:srgbClr val="000000"/>
                          </a:solidFill>
                          <a:effectLst/>
                          <a:latin typeface="Arial Narrow" pitchFamily="34" charset="0"/>
                        </a:rPr>
                        <a:t> </a:t>
                      </a:r>
                      <a:r>
                        <a:rPr kumimoji="0" lang="en-GB" sz="2500" b="0" i="0" u="none" strike="noStrike" cap="none" normalizeH="0" baseline="0" dirty="0" err="1">
                          <a:ln>
                            <a:noFill/>
                          </a:ln>
                          <a:solidFill>
                            <a:srgbClr val="000000"/>
                          </a:solidFill>
                          <a:effectLst/>
                          <a:latin typeface="Arial Narrow" pitchFamily="34" charset="0"/>
                        </a:rPr>
                        <a:t>sur</a:t>
                      </a:r>
                      <a:r>
                        <a:rPr kumimoji="0" lang="en-GB" sz="2500" b="0" i="0" u="none" strike="noStrike" cap="none" normalizeH="0" baseline="0" dirty="0">
                          <a:ln>
                            <a:noFill/>
                          </a:ln>
                          <a:solidFill>
                            <a:srgbClr val="000000"/>
                          </a:solidFill>
                          <a:effectLst/>
                          <a:latin typeface="Arial Narrow" pitchFamily="34" charset="0"/>
                        </a:rPr>
                        <a:t> un </a:t>
                      </a:r>
                      <a:r>
                        <a:rPr kumimoji="0" lang="en-GB" sz="2500" b="0" i="0" u="none" strike="noStrike" cap="none" normalizeH="0" baseline="0" dirty="0" err="1">
                          <a:ln>
                            <a:noFill/>
                          </a:ln>
                          <a:solidFill>
                            <a:srgbClr val="000000"/>
                          </a:solidFill>
                          <a:effectLst/>
                          <a:latin typeface="Arial Narrow" pitchFamily="34" charset="0"/>
                        </a:rPr>
                        <a:t>réseau</a:t>
                      </a:r>
                      <a:r>
                        <a:rPr kumimoji="0" lang="en-GB" sz="2500" b="0" i="0" u="none" strike="noStrike" cap="none" normalizeH="0" baseline="0" dirty="0">
                          <a:ln>
                            <a:noFill/>
                          </a:ln>
                          <a:solidFill>
                            <a:srgbClr val="000000"/>
                          </a:solidFill>
                          <a:effectLst/>
                          <a:latin typeface="Arial Narrow" pitchFamily="34" charset="0"/>
                        </a:rPr>
                        <a:t> </a:t>
                      </a:r>
                      <a:r>
                        <a:rPr kumimoji="0" lang="en-GB" sz="2500" b="0" i="0" u="none" strike="noStrike" cap="none" normalizeH="0" baseline="0" dirty="0" err="1">
                          <a:ln>
                            <a:noFill/>
                          </a:ln>
                          <a:solidFill>
                            <a:srgbClr val="000000"/>
                          </a:solidFill>
                          <a:effectLst/>
                          <a:latin typeface="Arial Narrow" pitchFamily="34" charset="0"/>
                        </a:rPr>
                        <a:t>privé</a:t>
                      </a:r>
                      <a:endParaRPr kumimoji="0" lang="en-US" sz="2500" b="1" i="0" u="none" strike="noStrike" cap="none" normalizeH="0" baseline="0" dirty="0">
                        <a:ln>
                          <a:noFill/>
                        </a:ln>
                        <a:solidFill>
                          <a:schemeClr val="tx1"/>
                        </a:solidFill>
                        <a:effectLst/>
                        <a:latin typeface="Arial Narrow" pitchFamily="34" charset="0"/>
                      </a:endParaRPr>
                    </a:p>
                    <a:p>
                      <a:pPr marL="177800" marR="0" lvl="0" indent="-177800" algn="l" defTabSz="914400" rtl="0" eaLnBrk="0" fontAlgn="base" latinLnBrk="0" hangingPunct="0">
                        <a:lnSpc>
                          <a:spcPct val="100000"/>
                        </a:lnSpc>
                        <a:spcBef>
                          <a:spcPct val="0"/>
                        </a:spcBef>
                        <a:spcAft>
                          <a:spcPct val="0"/>
                        </a:spcAft>
                        <a:buClr>
                          <a:schemeClr val="accent2"/>
                        </a:buClr>
                        <a:buSzPct val="70000"/>
                        <a:buFont typeface="Wingdings" pitchFamily="2" charset="2"/>
                        <a:buBlip>
                          <a:blip r:embed="rId20"/>
                        </a:buBlip>
                        <a:tabLst/>
                      </a:pPr>
                      <a:r>
                        <a:rPr kumimoji="0" lang="en-GB" sz="2500" b="0" i="0" u="none" strike="noStrike" cap="none" normalizeH="0" baseline="0" dirty="0">
                          <a:ln>
                            <a:noFill/>
                          </a:ln>
                          <a:solidFill>
                            <a:srgbClr val="000000"/>
                          </a:solidFill>
                          <a:effectLst/>
                          <a:latin typeface="Arial Narrow" pitchFamily="34" charset="0"/>
                        </a:rPr>
                        <a:t>Utilise un modem </a:t>
                      </a:r>
                      <a:r>
                        <a:rPr kumimoji="0" lang="en-GB" sz="2500" b="0" i="0" u="none" strike="noStrike" cap="none" normalizeH="0" baseline="0" dirty="0" err="1">
                          <a:ln>
                            <a:noFill/>
                          </a:ln>
                          <a:solidFill>
                            <a:srgbClr val="000000"/>
                          </a:solidFill>
                          <a:effectLst/>
                          <a:latin typeface="Arial Narrow" pitchFamily="34" charset="0"/>
                        </a:rPr>
                        <a:t>ou</a:t>
                      </a:r>
                      <a:r>
                        <a:rPr kumimoji="0" lang="en-GB" sz="2500" b="0" i="0" u="none" strike="noStrike" cap="none" normalizeH="0" baseline="0" dirty="0">
                          <a:ln>
                            <a:noFill/>
                          </a:ln>
                          <a:solidFill>
                            <a:srgbClr val="000000"/>
                          </a:solidFill>
                          <a:effectLst/>
                          <a:latin typeface="Arial Narrow" pitchFamily="34" charset="0"/>
                        </a:rPr>
                        <a:t> </a:t>
                      </a:r>
                      <a:r>
                        <a:rPr kumimoji="0" lang="en-GB" sz="2500" b="0" i="0" u="none" strike="noStrike" cap="none" normalizeH="0" baseline="0" dirty="0" err="1">
                          <a:ln>
                            <a:noFill/>
                          </a:ln>
                          <a:solidFill>
                            <a:srgbClr val="000000"/>
                          </a:solidFill>
                          <a:effectLst/>
                          <a:latin typeface="Arial Narrow" pitchFamily="34" charset="0"/>
                        </a:rPr>
                        <a:t>une</a:t>
                      </a:r>
                      <a:r>
                        <a:rPr kumimoji="0" lang="en-GB" sz="2500" b="0" i="0" u="none" strike="noStrike" cap="none" normalizeH="0" baseline="0" dirty="0">
                          <a:ln>
                            <a:noFill/>
                          </a:ln>
                          <a:solidFill>
                            <a:srgbClr val="000000"/>
                          </a:solidFill>
                          <a:effectLst/>
                          <a:latin typeface="Arial Narrow" pitchFamily="34" charset="0"/>
                        </a:rPr>
                        <a:t> carte RNIS pour se connecter au </a:t>
                      </a:r>
                      <a:r>
                        <a:rPr kumimoji="0" lang="en-GB" sz="2500" b="0" i="0" u="none" strike="noStrike" cap="none" normalizeH="0" baseline="0" dirty="0" err="1">
                          <a:ln>
                            <a:noFill/>
                          </a:ln>
                          <a:solidFill>
                            <a:srgbClr val="000000"/>
                          </a:solidFill>
                          <a:effectLst/>
                          <a:latin typeface="Arial Narrow" pitchFamily="34" charset="0"/>
                        </a:rPr>
                        <a:t>serveur</a:t>
                      </a:r>
                      <a:r>
                        <a:rPr kumimoji="0" lang="en-GB" sz="2500" b="0" i="0" u="none" strike="noStrike" cap="none" normalizeH="0" baseline="0" dirty="0">
                          <a:ln>
                            <a:noFill/>
                          </a:ln>
                          <a:solidFill>
                            <a:srgbClr val="000000"/>
                          </a:solidFill>
                          <a:effectLst/>
                          <a:latin typeface="Arial Narrow" pitchFamily="34" charset="0"/>
                        </a:rPr>
                        <a:t> </a:t>
                      </a:r>
                      <a:r>
                        <a:rPr kumimoji="0" lang="en-GB" sz="2500" b="0" i="0" u="none" strike="noStrike" cap="none" normalizeH="0" baseline="0" dirty="0" err="1">
                          <a:ln>
                            <a:noFill/>
                          </a:ln>
                          <a:solidFill>
                            <a:srgbClr val="000000"/>
                          </a:solidFill>
                          <a:effectLst/>
                          <a:latin typeface="Arial Narrow" pitchFamily="34" charset="0"/>
                        </a:rPr>
                        <a:t>d'accès</a:t>
                      </a:r>
                      <a:r>
                        <a:rPr kumimoji="0" lang="en-GB" sz="2500" b="0" i="0" u="none" strike="noStrike" cap="none" normalizeH="0" baseline="0" dirty="0">
                          <a:ln>
                            <a:noFill/>
                          </a:ln>
                          <a:solidFill>
                            <a:srgbClr val="000000"/>
                          </a:solidFill>
                          <a:effectLst/>
                          <a:latin typeface="Arial Narrow" pitchFamily="34" charset="0"/>
                        </a:rPr>
                        <a:t> distant</a:t>
                      </a:r>
                      <a:endParaRPr kumimoji="0" lang="en-US" sz="2500" b="0" i="0" u="none" strike="noStrike" cap="none" normalizeH="0" baseline="0" dirty="0">
                        <a:ln>
                          <a:noFill/>
                        </a:ln>
                        <a:solidFill>
                          <a:srgbClr val="000000"/>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1785982">
                <a:tc>
                  <a:txBody>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en-GB" sz="2000" b="1" i="0" u="none" strike="noStrike" cap="none" normalizeH="0" baseline="0" dirty="0">
                          <a:ln>
                            <a:noFill/>
                          </a:ln>
                          <a:solidFill>
                            <a:srgbClr val="000000"/>
                          </a:solidFill>
                          <a:effectLst/>
                          <a:latin typeface="Arial Narrow" pitchFamily="34" charset="0"/>
                        </a:rPr>
                        <a:t>Client</a:t>
                      </a:r>
                      <a:endParaRPr kumimoji="0" lang="en-US" sz="2000" b="1" i="0" u="none" strike="noStrike" cap="none" normalizeH="0" baseline="0" dirty="0">
                        <a:ln>
                          <a:noFill/>
                        </a:ln>
                        <a:solidFill>
                          <a:schemeClr val="tx1"/>
                        </a:solidFill>
                        <a:effectLst/>
                        <a:latin typeface="Arial Narrow" pitchFamily="34" charset="0"/>
                      </a:endParaRPr>
                    </a:p>
                    <a:p>
                      <a:pPr marL="0" marR="0" lvl="0" indent="0" algn="r" defTabSz="914400" rtl="0" eaLnBrk="0" fontAlgn="base" latinLnBrk="0" hangingPunct="0">
                        <a:lnSpc>
                          <a:spcPct val="100000"/>
                        </a:lnSpc>
                        <a:spcBef>
                          <a:spcPct val="0"/>
                        </a:spcBef>
                        <a:spcAft>
                          <a:spcPct val="0"/>
                        </a:spcAft>
                        <a:buClrTx/>
                        <a:buSzTx/>
                        <a:buFontTx/>
                        <a:buNone/>
                        <a:tabLst/>
                      </a:pPr>
                      <a:r>
                        <a:rPr kumimoji="0" lang="en-GB" sz="2000" b="1" i="0" u="none" strike="noStrike" cap="none" normalizeH="0" baseline="0" dirty="0">
                          <a:ln>
                            <a:noFill/>
                          </a:ln>
                          <a:solidFill>
                            <a:srgbClr val="000000"/>
                          </a:solidFill>
                          <a:effectLst/>
                          <a:latin typeface="Arial Narrow" pitchFamily="34" charset="0"/>
                        </a:rPr>
                        <a:t>sans </a:t>
                      </a:r>
                      <a:r>
                        <a:rPr kumimoji="0" lang="en-GB" sz="2000" b="1" i="0" u="none" strike="noStrike" cap="none" normalizeH="0" baseline="0" dirty="0" err="1">
                          <a:ln>
                            <a:noFill/>
                          </a:ln>
                          <a:solidFill>
                            <a:srgbClr val="000000"/>
                          </a:solidFill>
                          <a:effectLst/>
                          <a:latin typeface="Arial Narrow" pitchFamily="34" charset="0"/>
                        </a:rPr>
                        <a:t>fil</a:t>
                      </a:r>
                      <a:endParaRPr kumimoji="0" lang="en-US" sz="2000" b="1" i="0" u="none" strike="noStrike" cap="none" normalizeH="0" baseline="0" dirty="0">
                        <a:ln>
                          <a:noFill/>
                        </a:ln>
                        <a:solidFill>
                          <a:srgbClr val="000000"/>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177800" marR="0" lvl="0" indent="-177800" algn="l" defTabSz="914400" rtl="0" eaLnBrk="0" fontAlgn="base" latinLnBrk="0" hangingPunct="0">
                        <a:lnSpc>
                          <a:spcPct val="100000"/>
                        </a:lnSpc>
                        <a:spcBef>
                          <a:spcPct val="0"/>
                        </a:spcBef>
                        <a:spcAft>
                          <a:spcPct val="0"/>
                        </a:spcAft>
                        <a:buClr>
                          <a:schemeClr val="accent2"/>
                        </a:buClr>
                        <a:buSzPct val="70000"/>
                        <a:buFont typeface="Wingdings" pitchFamily="2" charset="2"/>
                        <a:buBlip>
                          <a:blip r:embed="rId20"/>
                        </a:buBlip>
                        <a:tabLst/>
                      </a:pPr>
                      <a:r>
                        <a:rPr kumimoji="0" lang="en-GB" sz="2500" b="0" i="0" u="none" strike="noStrike" cap="none" normalizeH="0" baseline="0" dirty="0">
                          <a:ln>
                            <a:noFill/>
                          </a:ln>
                          <a:solidFill>
                            <a:srgbClr val="000000"/>
                          </a:solidFill>
                          <a:effectLst/>
                          <a:latin typeface="Arial Narrow" pitchFamily="34" charset="0"/>
                        </a:rPr>
                        <a:t>Se </a:t>
                      </a:r>
                      <a:r>
                        <a:rPr kumimoji="0" lang="en-GB" sz="2500" b="0" i="0" u="none" strike="noStrike" cap="none" normalizeH="0" baseline="0" dirty="0" err="1">
                          <a:ln>
                            <a:noFill/>
                          </a:ln>
                          <a:solidFill>
                            <a:srgbClr val="000000"/>
                          </a:solidFill>
                          <a:effectLst/>
                          <a:latin typeface="Arial Narrow" pitchFamily="34" charset="0"/>
                        </a:rPr>
                        <a:t>connecte</a:t>
                      </a:r>
                      <a:r>
                        <a:rPr kumimoji="0" lang="en-GB" sz="2500" b="0" i="0" u="none" strike="noStrike" cap="none" normalizeH="0" baseline="0" dirty="0">
                          <a:ln>
                            <a:noFill/>
                          </a:ln>
                          <a:solidFill>
                            <a:srgbClr val="000000"/>
                          </a:solidFill>
                          <a:effectLst/>
                          <a:latin typeface="Arial Narrow" pitchFamily="34" charset="0"/>
                        </a:rPr>
                        <a:t> à un </a:t>
                      </a:r>
                      <a:r>
                        <a:rPr kumimoji="0" lang="en-GB" sz="2500" b="0" i="0" u="none" strike="noStrike" cap="none" normalizeH="0" baseline="0" dirty="0" err="1">
                          <a:ln>
                            <a:noFill/>
                          </a:ln>
                          <a:solidFill>
                            <a:srgbClr val="000000"/>
                          </a:solidFill>
                          <a:effectLst/>
                          <a:latin typeface="Arial Narrow" pitchFamily="34" charset="0"/>
                        </a:rPr>
                        <a:t>réseau</a:t>
                      </a:r>
                      <a:r>
                        <a:rPr kumimoji="0" lang="en-GB" sz="2500" b="0" i="0" u="none" strike="noStrike" cap="none" normalizeH="0" baseline="0" dirty="0">
                          <a:ln>
                            <a:noFill/>
                          </a:ln>
                          <a:solidFill>
                            <a:srgbClr val="000000"/>
                          </a:solidFill>
                          <a:effectLst/>
                          <a:latin typeface="Arial Narrow" pitchFamily="34" charset="0"/>
                        </a:rPr>
                        <a:t> au </a:t>
                      </a:r>
                      <a:r>
                        <a:rPr kumimoji="0" lang="en-GB" sz="2500" b="0" i="0" u="none" strike="noStrike" cap="none" normalizeH="0" baseline="0" dirty="0" err="1">
                          <a:ln>
                            <a:noFill/>
                          </a:ln>
                          <a:solidFill>
                            <a:srgbClr val="000000"/>
                          </a:solidFill>
                          <a:effectLst/>
                          <a:latin typeface="Arial Narrow" pitchFamily="34" charset="0"/>
                        </a:rPr>
                        <a:t>moyen</a:t>
                      </a:r>
                      <a:r>
                        <a:rPr kumimoji="0" lang="en-GB" sz="2500" b="0" i="0" u="none" strike="noStrike" cap="none" normalizeH="0" baseline="0" dirty="0">
                          <a:ln>
                            <a:noFill/>
                          </a:ln>
                          <a:solidFill>
                            <a:srgbClr val="000000"/>
                          </a:solidFill>
                          <a:effectLst/>
                          <a:latin typeface="Arial Narrow" pitchFamily="34" charset="0"/>
                        </a:rPr>
                        <a:t> de technologies </a:t>
                      </a:r>
                      <a:r>
                        <a:rPr kumimoji="0" lang="en-GB" sz="2500" b="0" i="0" u="none" strike="noStrike" cap="none" normalizeH="0" baseline="0" dirty="0" err="1">
                          <a:ln>
                            <a:noFill/>
                          </a:ln>
                          <a:solidFill>
                            <a:srgbClr val="000000"/>
                          </a:solidFill>
                          <a:effectLst/>
                          <a:latin typeface="Arial Narrow" pitchFamily="34" charset="0"/>
                        </a:rPr>
                        <a:t>infrarouges</a:t>
                      </a:r>
                      <a:r>
                        <a:rPr kumimoji="0" lang="en-GB" sz="2500" b="0" i="0" u="none" strike="noStrike" cap="none" normalizeH="0" baseline="0" dirty="0">
                          <a:ln>
                            <a:noFill/>
                          </a:ln>
                          <a:solidFill>
                            <a:srgbClr val="000000"/>
                          </a:solidFill>
                          <a:effectLst/>
                          <a:latin typeface="Arial Narrow" pitchFamily="34" charset="0"/>
                        </a:rPr>
                        <a:t> (IR) </a:t>
                      </a:r>
                      <a:r>
                        <a:rPr kumimoji="0" lang="en-GB" sz="2500" b="0" i="0" u="none" strike="noStrike" cap="none" normalizeH="0" baseline="0" dirty="0" err="1">
                          <a:ln>
                            <a:noFill/>
                          </a:ln>
                          <a:solidFill>
                            <a:srgbClr val="000000"/>
                          </a:solidFill>
                          <a:effectLst/>
                          <a:latin typeface="Arial Narrow" pitchFamily="34" charset="0"/>
                        </a:rPr>
                        <a:t>ou</a:t>
                      </a:r>
                      <a:r>
                        <a:rPr kumimoji="0" lang="en-GB" sz="2500" b="0" i="0" u="none" strike="noStrike" cap="none" normalizeH="0" baseline="0" dirty="0">
                          <a:ln>
                            <a:noFill/>
                          </a:ln>
                          <a:solidFill>
                            <a:srgbClr val="000000"/>
                          </a:solidFill>
                          <a:effectLst/>
                          <a:latin typeface="Arial Narrow" pitchFamily="34" charset="0"/>
                        </a:rPr>
                        <a:t> à </a:t>
                      </a:r>
                      <a:r>
                        <a:rPr kumimoji="0" lang="en-GB" sz="2500" b="0" i="0" u="none" strike="noStrike" cap="none" normalizeH="0" baseline="0" dirty="0" err="1">
                          <a:ln>
                            <a:noFill/>
                          </a:ln>
                          <a:solidFill>
                            <a:srgbClr val="000000"/>
                          </a:solidFill>
                          <a:effectLst/>
                          <a:latin typeface="Arial Narrow" pitchFamily="34" charset="0"/>
                        </a:rPr>
                        <a:t>fréquences</a:t>
                      </a:r>
                      <a:r>
                        <a:rPr kumimoji="0" lang="en-GB" sz="2500" b="0" i="0" u="none" strike="noStrike" cap="none" normalizeH="0" baseline="0" dirty="0">
                          <a:ln>
                            <a:noFill/>
                          </a:ln>
                          <a:solidFill>
                            <a:srgbClr val="000000"/>
                          </a:solidFill>
                          <a:effectLst/>
                          <a:latin typeface="Arial Narrow" pitchFamily="34" charset="0"/>
                        </a:rPr>
                        <a:t> radio (RF)</a:t>
                      </a:r>
                      <a:endParaRPr kumimoji="0" lang="en-US" sz="2500" b="1" i="0" u="none" strike="noStrike" cap="none" normalizeH="0" baseline="0" dirty="0">
                        <a:ln>
                          <a:noFill/>
                        </a:ln>
                        <a:solidFill>
                          <a:schemeClr val="tx1"/>
                        </a:solidFill>
                        <a:effectLst/>
                        <a:latin typeface="Arial Narrow" pitchFamily="34" charset="0"/>
                      </a:endParaRPr>
                    </a:p>
                    <a:p>
                      <a:pPr marL="177800" marR="0" lvl="0" indent="-177800" algn="l" defTabSz="914400" rtl="0" eaLnBrk="0" fontAlgn="base" latinLnBrk="0" hangingPunct="0">
                        <a:lnSpc>
                          <a:spcPct val="100000"/>
                        </a:lnSpc>
                        <a:spcBef>
                          <a:spcPct val="0"/>
                        </a:spcBef>
                        <a:spcAft>
                          <a:spcPct val="0"/>
                        </a:spcAft>
                        <a:buClr>
                          <a:schemeClr val="accent2"/>
                        </a:buClr>
                        <a:buSzPct val="70000"/>
                        <a:buFont typeface="Wingdings" pitchFamily="2" charset="2"/>
                        <a:buBlip>
                          <a:blip r:embed="rId20"/>
                        </a:buBlip>
                        <a:tabLst/>
                      </a:pPr>
                      <a:r>
                        <a:rPr kumimoji="0" lang="en-GB" sz="2500" b="0" i="0" u="none" strike="noStrike" cap="none" normalizeH="0" baseline="0" dirty="0" err="1">
                          <a:ln>
                            <a:noFill/>
                          </a:ln>
                          <a:solidFill>
                            <a:srgbClr val="000000"/>
                          </a:solidFill>
                          <a:effectLst/>
                          <a:latin typeface="Arial Narrow" pitchFamily="34" charset="0"/>
                        </a:rPr>
                        <a:t>Comprend</a:t>
                      </a:r>
                      <a:r>
                        <a:rPr kumimoji="0" lang="en-GB" sz="2500" b="0" i="0" u="none" strike="noStrike" cap="none" normalizeH="0" baseline="0" dirty="0">
                          <a:ln>
                            <a:noFill/>
                          </a:ln>
                          <a:solidFill>
                            <a:srgbClr val="000000"/>
                          </a:solidFill>
                          <a:effectLst/>
                          <a:latin typeface="Arial Narrow" pitchFamily="34" charset="0"/>
                        </a:rPr>
                        <a:t> de </a:t>
                      </a:r>
                      <a:r>
                        <a:rPr kumimoji="0" lang="en-GB" sz="2500" b="0" i="0" u="none" strike="noStrike" cap="none" normalizeH="0" baseline="0" dirty="0" err="1">
                          <a:ln>
                            <a:noFill/>
                          </a:ln>
                          <a:solidFill>
                            <a:srgbClr val="000000"/>
                          </a:solidFill>
                          <a:effectLst/>
                          <a:latin typeface="Arial Narrow" pitchFamily="34" charset="0"/>
                        </a:rPr>
                        <a:t>nombreux</a:t>
                      </a:r>
                      <a:r>
                        <a:rPr kumimoji="0" lang="en-GB" sz="2500" b="0" i="0" u="none" strike="noStrike" cap="none" normalizeH="0" baseline="0" dirty="0">
                          <a:ln>
                            <a:noFill/>
                          </a:ln>
                          <a:solidFill>
                            <a:srgbClr val="000000"/>
                          </a:solidFill>
                          <a:effectLst/>
                          <a:latin typeface="Arial Narrow" pitchFamily="34" charset="0"/>
                        </a:rPr>
                        <a:t> types de </a:t>
                      </a:r>
                      <a:r>
                        <a:rPr kumimoji="0" lang="en-GB" sz="2500" b="0" i="0" u="none" strike="noStrike" cap="none" normalizeH="0" baseline="0" dirty="0" err="1">
                          <a:ln>
                            <a:noFill/>
                          </a:ln>
                          <a:solidFill>
                            <a:srgbClr val="000000"/>
                          </a:solidFill>
                          <a:effectLst/>
                          <a:latin typeface="Arial Narrow" pitchFamily="34" charset="0"/>
                        </a:rPr>
                        <a:t>périphériques</a:t>
                      </a:r>
                      <a:endParaRPr kumimoji="0" lang="en-US" sz="2500" b="0" i="0" u="none" strike="noStrike" cap="none" normalizeH="0" baseline="0" dirty="0">
                        <a:ln>
                          <a:noFill/>
                        </a:ln>
                        <a:solidFill>
                          <a:srgbClr val="000000"/>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360822" name="Arc 374"/>
          <p:cNvSpPr>
            <a:spLocks/>
          </p:cNvSpPr>
          <p:nvPr>
            <p:custDataLst>
              <p:tags r:id="rId2"/>
            </p:custDataLst>
          </p:nvPr>
        </p:nvSpPr>
        <p:spPr bwMode="auto">
          <a:xfrm rot="15937463">
            <a:off x="654299" y="5004925"/>
            <a:ext cx="487362" cy="804862"/>
          </a:xfrm>
          <a:custGeom>
            <a:avLst/>
            <a:gdLst>
              <a:gd name="G0" fmla="+- 0 0 0"/>
              <a:gd name="G1" fmla="+- 20559 0 0"/>
              <a:gd name="G2" fmla="+- 21600 0 0"/>
              <a:gd name="T0" fmla="*/ 6624 w 16026"/>
              <a:gd name="T1" fmla="*/ 0 h 20559"/>
              <a:gd name="T2" fmla="*/ 16026 w 16026"/>
              <a:gd name="T3" fmla="*/ 6077 h 20559"/>
              <a:gd name="T4" fmla="*/ 0 w 16026"/>
              <a:gd name="T5" fmla="*/ 20559 h 20559"/>
            </a:gdLst>
            <a:ahLst/>
            <a:cxnLst>
              <a:cxn ang="0">
                <a:pos x="T0" y="T1"/>
              </a:cxn>
              <a:cxn ang="0">
                <a:pos x="T2" y="T3"/>
              </a:cxn>
              <a:cxn ang="0">
                <a:pos x="T4" y="T5"/>
              </a:cxn>
            </a:cxnLst>
            <a:rect l="0" t="0" r="r" b="b"/>
            <a:pathLst>
              <a:path w="16026" h="20559" fill="none" extrusionOk="0">
                <a:moveTo>
                  <a:pt x="6624" y="-1"/>
                </a:moveTo>
                <a:cubicBezTo>
                  <a:pt x="10237" y="1164"/>
                  <a:pt x="13480" y="3260"/>
                  <a:pt x="16025" y="6077"/>
                </a:cubicBezTo>
              </a:path>
              <a:path w="16026" h="20559" stroke="0" extrusionOk="0">
                <a:moveTo>
                  <a:pt x="6624" y="-1"/>
                </a:moveTo>
                <a:cubicBezTo>
                  <a:pt x="10237" y="1164"/>
                  <a:pt x="13480" y="3260"/>
                  <a:pt x="16025" y="6077"/>
                </a:cubicBezTo>
                <a:lnTo>
                  <a:pt x="0" y="20559"/>
                </a:lnTo>
                <a:close/>
              </a:path>
            </a:pathLst>
          </a:custGeom>
          <a:noFill/>
          <a:ln w="22225">
            <a:solidFill>
              <a:srgbClr val="4D4D4D"/>
            </a:solidFill>
            <a:round/>
            <a:headEnd/>
            <a:tailEnd/>
          </a:ln>
          <a:effectLst/>
        </p:spPr>
        <p:txBody>
          <a:bodyPr wrap="none" anchor="ctr"/>
          <a:lstStyle/>
          <a:p>
            <a:endParaRPr lang="fr-FR"/>
          </a:p>
        </p:txBody>
      </p:sp>
      <p:sp>
        <p:nvSpPr>
          <p:cNvPr id="360823" name="Arc 375"/>
          <p:cNvSpPr>
            <a:spLocks/>
          </p:cNvSpPr>
          <p:nvPr>
            <p:custDataLst>
              <p:tags r:id="rId3"/>
            </p:custDataLst>
          </p:nvPr>
        </p:nvSpPr>
        <p:spPr bwMode="auto">
          <a:xfrm rot="15937463">
            <a:off x="776536" y="5087475"/>
            <a:ext cx="454025" cy="781050"/>
          </a:xfrm>
          <a:custGeom>
            <a:avLst/>
            <a:gdLst>
              <a:gd name="G0" fmla="+- 0 0 0"/>
              <a:gd name="G1" fmla="+- 19993 0 0"/>
              <a:gd name="G2" fmla="+- 21600 0 0"/>
              <a:gd name="T0" fmla="*/ 8176 w 14928"/>
              <a:gd name="T1" fmla="*/ 0 h 19993"/>
              <a:gd name="T2" fmla="*/ 14928 w 14928"/>
              <a:gd name="T3" fmla="*/ 4382 h 19993"/>
              <a:gd name="T4" fmla="*/ 0 w 14928"/>
              <a:gd name="T5" fmla="*/ 19993 h 19993"/>
            </a:gdLst>
            <a:ahLst/>
            <a:cxnLst>
              <a:cxn ang="0">
                <a:pos x="T0" y="T1"/>
              </a:cxn>
              <a:cxn ang="0">
                <a:pos x="T2" y="T3"/>
              </a:cxn>
              <a:cxn ang="0">
                <a:pos x="T4" y="T5"/>
              </a:cxn>
            </a:cxnLst>
            <a:rect l="0" t="0" r="r" b="b"/>
            <a:pathLst>
              <a:path w="14928" h="19993" fill="none" extrusionOk="0">
                <a:moveTo>
                  <a:pt x="8175" y="0"/>
                </a:moveTo>
                <a:cubicBezTo>
                  <a:pt x="10681" y="1024"/>
                  <a:pt x="12971" y="2511"/>
                  <a:pt x="14928" y="4381"/>
                </a:cubicBezTo>
              </a:path>
              <a:path w="14928" h="19993" stroke="0" extrusionOk="0">
                <a:moveTo>
                  <a:pt x="8175" y="0"/>
                </a:moveTo>
                <a:cubicBezTo>
                  <a:pt x="10681" y="1024"/>
                  <a:pt x="12971" y="2511"/>
                  <a:pt x="14928" y="4381"/>
                </a:cubicBezTo>
                <a:lnTo>
                  <a:pt x="0" y="19993"/>
                </a:lnTo>
                <a:close/>
              </a:path>
            </a:pathLst>
          </a:custGeom>
          <a:noFill/>
          <a:ln w="22225">
            <a:solidFill>
              <a:srgbClr val="4D4D4D"/>
            </a:solidFill>
            <a:round/>
            <a:headEnd/>
            <a:tailEnd/>
          </a:ln>
          <a:effectLst/>
        </p:spPr>
        <p:txBody>
          <a:bodyPr wrap="none" anchor="ctr"/>
          <a:lstStyle/>
          <a:p>
            <a:endParaRPr lang="fr-FR"/>
          </a:p>
        </p:txBody>
      </p:sp>
      <p:sp>
        <p:nvSpPr>
          <p:cNvPr id="360824" name="Arc 376"/>
          <p:cNvSpPr>
            <a:spLocks/>
          </p:cNvSpPr>
          <p:nvPr>
            <p:custDataLst>
              <p:tags r:id="rId4"/>
            </p:custDataLst>
          </p:nvPr>
        </p:nvSpPr>
        <p:spPr bwMode="auto">
          <a:xfrm rot="15937463">
            <a:off x="896393" y="5178755"/>
            <a:ext cx="425450" cy="747713"/>
          </a:xfrm>
          <a:custGeom>
            <a:avLst/>
            <a:gdLst>
              <a:gd name="G0" fmla="+- 0 0 0"/>
              <a:gd name="G1" fmla="+- 19126 0 0"/>
              <a:gd name="G2" fmla="+- 21600 0 0"/>
              <a:gd name="T0" fmla="*/ 10038 w 13989"/>
              <a:gd name="T1" fmla="*/ 0 h 19126"/>
              <a:gd name="T2" fmla="*/ 13989 w 13989"/>
              <a:gd name="T3" fmla="*/ 2668 h 19126"/>
              <a:gd name="T4" fmla="*/ 0 w 13989"/>
              <a:gd name="T5" fmla="*/ 19126 h 19126"/>
            </a:gdLst>
            <a:ahLst/>
            <a:cxnLst>
              <a:cxn ang="0">
                <a:pos x="T0" y="T1"/>
              </a:cxn>
              <a:cxn ang="0">
                <a:pos x="T2" y="T3"/>
              </a:cxn>
              <a:cxn ang="0">
                <a:pos x="T4" y="T5"/>
              </a:cxn>
            </a:cxnLst>
            <a:rect l="0" t="0" r="r" b="b"/>
            <a:pathLst>
              <a:path w="13989" h="19126" fill="none" extrusionOk="0">
                <a:moveTo>
                  <a:pt x="10037" y="0"/>
                </a:moveTo>
                <a:cubicBezTo>
                  <a:pt x="11449" y="740"/>
                  <a:pt x="12774" y="1635"/>
                  <a:pt x="13989" y="2667"/>
                </a:cubicBezTo>
              </a:path>
              <a:path w="13989" h="19126" stroke="0" extrusionOk="0">
                <a:moveTo>
                  <a:pt x="10037" y="0"/>
                </a:moveTo>
                <a:cubicBezTo>
                  <a:pt x="11449" y="740"/>
                  <a:pt x="12774" y="1635"/>
                  <a:pt x="13989" y="2667"/>
                </a:cubicBezTo>
                <a:lnTo>
                  <a:pt x="0" y="19126"/>
                </a:lnTo>
                <a:close/>
              </a:path>
            </a:pathLst>
          </a:custGeom>
          <a:noFill/>
          <a:ln w="22225">
            <a:solidFill>
              <a:srgbClr val="4D4D4D"/>
            </a:solidFill>
            <a:round/>
            <a:headEnd/>
            <a:tailEnd/>
          </a:ln>
          <a:effectLst/>
        </p:spPr>
        <p:txBody>
          <a:bodyPr wrap="none" anchor="ctr"/>
          <a:lstStyle/>
          <a:p>
            <a:endParaRPr lang="fr-FR"/>
          </a:p>
        </p:txBody>
      </p:sp>
      <p:sp>
        <p:nvSpPr>
          <p:cNvPr id="360825" name="Arc 377"/>
          <p:cNvSpPr>
            <a:spLocks/>
          </p:cNvSpPr>
          <p:nvPr>
            <p:custDataLst>
              <p:tags r:id="rId5"/>
            </p:custDataLst>
          </p:nvPr>
        </p:nvSpPr>
        <p:spPr bwMode="auto">
          <a:xfrm rot="15937463">
            <a:off x="897980" y="5353381"/>
            <a:ext cx="206375" cy="363537"/>
          </a:xfrm>
          <a:custGeom>
            <a:avLst/>
            <a:gdLst>
              <a:gd name="G0" fmla="+- 0 0 0"/>
              <a:gd name="G1" fmla="+- 19126 0 0"/>
              <a:gd name="G2" fmla="+- 21600 0 0"/>
              <a:gd name="T0" fmla="*/ 10038 w 13989"/>
              <a:gd name="T1" fmla="*/ 0 h 19126"/>
              <a:gd name="T2" fmla="*/ 13989 w 13989"/>
              <a:gd name="T3" fmla="*/ 2668 h 19126"/>
              <a:gd name="T4" fmla="*/ 0 w 13989"/>
              <a:gd name="T5" fmla="*/ 19126 h 19126"/>
            </a:gdLst>
            <a:ahLst/>
            <a:cxnLst>
              <a:cxn ang="0">
                <a:pos x="T0" y="T1"/>
              </a:cxn>
              <a:cxn ang="0">
                <a:pos x="T2" y="T3"/>
              </a:cxn>
              <a:cxn ang="0">
                <a:pos x="T4" y="T5"/>
              </a:cxn>
            </a:cxnLst>
            <a:rect l="0" t="0" r="r" b="b"/>
            <a:pathLst>
              <a:path w="13989" h="19126" fill="none" extrusionOk="0">
                <a:moveTo>
                  <a:pt x="10037" y="0"/>
                </a:moveTo>
                <a:cubicBezTo>
                  <a:pt x="11449" y="740"/>
                  <a:pt x="12774" y="1635"/>
                  <a:pt x="13989" y="2667"/>
                </a:cubicBezTo>
              </a:path>
              <a:path w="13989" h="19126" stroke="0" extrusionOk="0">
                <a:moveTo>
                  <a:pt x="10037" y="0"/>
                </a:moveTo>
                <a:cubicBezTo>
                  <a:pt x="11449" y="740"/>
                  <a:pt x="12774" y="1635"/>
                  <a:pt x="13989" y="2667"/>
                </a:cubicBezTo>
                <a:lnTo>
                  <a:pt x="0" y="19126"/>
                </a:lnTo>
                <a:close/>
              </a:path>
            </a:pathLst>
          </a:custGeom>
          <a:noFill/>
          <a:ln w="22225">
            <a:solidFill>
              <a:srgbClr val="4D4D4D"/>
            </a:solidFill>
            <a:round/>
            <a:headEnd/>
            <a:tailEnd/>
          </a:ln>
          <a:effectLst/>
        </p:spPr>
        <p:txBody>
          <a:bodyPr wrap="none" anchor="ctr"/>
          <a:lstStyle/>
          <a:p>
            <a:endParaRPr lang="fr-FR"/>
          </a:p>
        </p:txBody>
      </p:sp>
      <p:sp>
        <p:nvSpPr>
          <p:cNvPr id="360828" name="Oval 380"/>
          <p:cNvSpPr>
            <a:spLocks noChangeArrowheads="1"/>
          </p:cNvSpPr>
          <p:nvPr>
            <p:custDataLst>
              <p:tags r:id="rId6"/>
            </p:custDataLst>
          </p:nvPr>
        </p:nvSpPr>
        <p:spPr bwMode="auto">
          <a:xfrm>
            <a:off x="862261" y="5427200"/>
            <a:ext cx="300038" cy="293687"/>
          </a:xfrm>
          <a:prstGeom prst="ellipse">
            <a:avLst/>
          </a:prstGeom>
          <a:solidFill>
            <a:schemeClr val="bg1"/>
          </a:solidFill>
          <a:ln w="12700" algn="ctr">
            <a:solidFill>
              <a:srgbClr val="4D4D4D"/>
            </a:solidFill>
            <a:round/>
            <a:headEnd/>
            <a:tailEnd/>
          </a:ln>
          <a:effectLst/>
        </p:spPr>
        <p:txBody>
          <a:bodyPr wrap="none" anchor="ctr"/>
          <a:lstStyle/>
          <a:p>
            <a:endParaRPr lang="fr-FR"/>
          </a:p>
        </p:txBody>
      </p:sp>
      <p:sp>
        <p:nvSpPr>
          <p:cNvPr id="360829" name="Oval 381"/>
          <p:cNvSpPr>
            <a:spLocks noChangeArrowheads="1"/>
          </p:cNvSpPr>
          <p:nvPr>
            <p:custDataLst>
              <p:tags r:id="rId7"/>
            </p:custDataLst>
          </p:nvPr>
        </p:nvSpPr>
        <p:spPr bwMode="auto">
          <a:xfrm>
            <a:off x="908299" y="5471650"/>
            <a:ext cx="206375" cy="201612"/>
          </a:xfrm>
          <a:prstGeom prst="ellipse">
            <a:avLst/>
          </a:prstGeom>
          <a:solidFill>
            <a:schemeClr val="bg1"/>
          </a:solidFill>
          <a:ln w="12700" algn="ctr">
            <a:solidFill>
              <a:srgbClr val="4D4D4D"/>
            </a:solidFill>
            <a:round/>
            <a:headEnd/>
            <a:tailEnd/>
          </a:ln>
          <a:effectLst/>
        </p:spPr>
        <p:txBody>
          <a:bodyPr wrap="none" anchor="ctr"/>
          <a:lstStyle/>
          <a:p>
            <a:endParaRPr lang="fr-FR"/>
          </a:p>
        </p:txBody>
      </p:sp>
      <p:sp>
        <p:nvSpPr>
          <p:cNvPr id="360830" name="Line 382"/>
          <p:cNvSpPr>
            <a:spLocks noChangeShapeType="1"/>
          </p:cNvSpPr>
          <p:nvPr>
            <p:custDataLst>
              <p:tags r:id="rId8"/>
            </p:custDataLst>
          </p:nvPr>
        </p:nvSpPr>
        <p:spPr bwMode="auto">
          <a:xfrm flipH="1" flipV="1">
            <a:off x="1008311" y="5609762"/>
            <a:ext cx="3175" cy="466725"/>
          </a:xfrm>
          <a:prstGeom prst="line">
            <a:avLst/>
          </a:prstGeom>
          <a:noFill/>
          <a:ln w="28575">
            <a:solidFill>
              <a:srgbClr val="4D4D4D"/>
            </a:solidFill>
            <a:round/>
            <a:headEnd/>
            <a:tailEnd/>
          </a:ln>
          <a:effectLst/>
        </p:spPr>
        <p:txBody>
          <a:bodyPr wrap="none" anchor="ctr"/>
          <a:lstStyle/>
          <a:p>
            <a:endParaRPr lang="fr-FR"/>
          </a:p>
        </p:txBody>
      </p:sp>
      <p:sp>
        <p:nvSpPr>
          <p:cNvPr id="360831" name="Oval 383"/>
          <p:cNvSpPr>
            <a:spLocks noChangeArrowheads="1"/>
          </p:cNvSpPr>
          <p:nvPr>
            <p:custDataLst>
              <p:tags r:id="rId9"/>
            </p:custDataLst>
          </p:nvPr>
        </p:nvSpPr>
        <p:spPr bwMode="auto">
          <a:xfrm>
            <a:off x="970211" y="5528800"/>
            <a:ext cx="80963" cy="79375"/>
          </a:xfrm>
          <a:prstGeom prst="ellipse">
            <a:avLst/>
          </a:prstGeom>
          <a:solidFill>
            <a:schemeClr val="tx2"/>
          </a:solidFill>
          <a:ln w="12700" algn="ctr">
            <a:solidFill>
              <a:srgbClr val="4D4D4D"/>
            </a:solidFill>
            <a:round/>
            <a:headEnd/>
            <a:tailEnd/>
          </a:ln>
          <a:effectLst/>
        </p:spPr>
        <p:txBody>
          <a:bodyPr wrap="none" anchor="ctr"/>
          <a:lstStyle/>
          <a:p>
            <a:endParaRPr lang="fr-FR"/>
          </a:p>
        </p:txBody>
      </p:sp>
      <p:grpSp>
        <p:nvGrpSpPr>
          <p:cNvPr id="360992" name="Group 384"/>
          <p:cNvGrpSpPr>
            <a:grpSpLocks/>
          </p:cNvGrpSpPr>
          <p:nvPr/>
        </p:nvGrpSpPr>
        <p:grpSpPr bwMode="auto">
          <a:xfrm>
            <a:off x="287586" y="5070033"/>
            <a:ext cx="1203325" cy="1673231"/>
            <a:chOff x="876" y="3027"/>
            <a:chExt cx="758" cy="1054"/>
          </a:xfrm>
        </p:grpSpPr>
        <p:pic>
          <p:nvPicPr>
            <p:cNvPr id="360833" name="Picture 385" descr="LaptopComputer01"/>
            <p:cNvPicPr>
              <a:picLocks noChangeAspect="1" noChangeArrowheads="1"/>
            </p:cNvPicPr>
            <p:nvPr>
              <p:custDataLst>
                <p:tags r:id="rId14"/>
              </p:custDataLst>
            </p:nvPr>
          </p:nvPicPr>
          <p:blipFill>
            <a:blip r:embed="rId21" cstate="print"/>
            <a:srcRect/>
            <a:stretch>
              <a:fillRect/>
            </a:stretch>
          </p:blipFill>
          <p:spPr bwMode="auto">
            <a:xfrm>
              <a:off x="1024" y="3507"/>
              <a:ext cx="392" cy="423"/>
            </a:xfrm>
            <a:prstGeom prst="rect">
              <a:avLst/>
            </a:prstGeom>
            <a:noFill/>
          </p:spPr>
        </p:pic>
        <p:pic>
          <p:nvPicPr>
            <p:cNvPr id="360834" name="Picture 386" descr="User_UserHalfD01"/>
            <p:cNvPicPr>
              <a:picLocks noChangeAspect="1" noChangeArrowheads="1"/>
            </p:cNvPicPr>
            <p:nvPr>
              <p:custDataLst>
                <p:tags r:id="rId15"/>
              </p:custDataLst>
            </p:nvPr>
          </p:nvPicPr>
          <p:blipFill>
            <a:blip r:embed="rId22" cstate="print"/>
            <a:srcRect/>
            <a:stretch>
              <a:fillRect/>
            </a:stretch>
          </p:blipFill>
          <p:spPr bwMode="auto">
            <a:xfrm>
              <a:off x="876" y="3540"/>
              <a:ext cx="313" cy="484"/>
            </a:xfrm>
            <a:prstGeom prst="rect">
              <a:avLst/>
            </a:prstGeom>
            <a:noFill/>
          </p:spPr>
        </p:pic>
        <p:pic>
          <p:nvPicPr>
            <p:cNvPr id="360845" name="Picture 397" descr="HandheldPc01"/>
            <p:cNvPicPr>
              <a:picLocks noChangeAspect="1" noChangeArrowheads="1"/>
            </p:cNvPicPr>
            <p:nvPr>
              <p:custDataLst>
                <p:tags r:id="rId16"/>
              </p:custDataLst>
            </p:nvPr>
          </p:nvPicPr>
          <p:blipFill>
            <a:blip r:embed="rId23" cstate="print"/>
            <a:srcRect/>
            <a:stretch>
              <a:fillRect/>
            </a:stretch>
          </p:blipFill>
          <p:spPr bwMode="auto">
            <a:xfrm>
              <a:off x="1420" y="3027"/>
              <a:ext cx="214" cy="388"/>
            </a:xfrm>
            <a:prstGeom prst="rect">
              <a:avLst/>
            </a:prstGeom>
            <a:noFill/>
            <a:ln w="9525">
              <a:noFill/>
              <a:miter lim="800000"/>
              <a:headEnd/>
              <a:tailEnd/>
            </a:ln>
          </p:spPr>
        </p:pic>
        <p:pic>
          <p:nvPicPr>
            <p:cNvPr id="360846" name="Picture 398" descr="CellPhone01"/>
            <p:cNvPicPr>
              <a:picLocks noChangeAspect="1" noChangeArrowheads="1"/>
            </p:cNvPicPr>
            <p:nvPr>
              <p:custDataLst>
                <p:tags r:id="rId17"/>
              </p:custDataLst>
            </p:nvPr>
          </p:nvPicPr>
          <p:blipFill>
            <a:blip r:embed="rId24" cstate="print"/>
            <a:srcRect/>
            <a:stretch>
              <a:fillRect/>
            </a:stretch>
          </p:blipFill>
          <p:spPr bwMode="auto">
            <a:xfrm>
              <a:off x="1434" y="3602"/>
              <a:ext cx="181" cy="479"/>
            </a:xfrm>
            <a:prstGeom prst="rect">
              <a:avLst/>
            </a:prstGeom>
            <a:noFill/>
            <a:ln w="9525">
              <a:noFill/>
              <a:miter lim="800000"/>
              <a:headEnd/>
              <a:tailEnd/>
            </a:ln>
            <a:effectLst/>
          </p:spPr>
        </p:pic>
      </p:grpSp>
      <p:sp>
        <p:nvSpPr>
          <p:cNvPr id="360855" name="Line 407"/>
          <p:cNvSpPr>
            <a:spLocks noChangeShapeType="1"/>
          </p:cNvSpPr>
          <p:nvPr/>
        </p:nvSpPr>
        <p:spPr bwMode="auto">
          <a:xfrm flipH="1">
            <a:off x="1085858" y="2280785"/>
            <a:ext cx="500063" cy="212725"/>
          </a:xfrm>
          <a:prstGeom prst="line">
            <a:avLst/>
          </a:prstGeom>
          <a:noFill/>
          <a:ln w="57150">
            <a:solidFill>
              <a:srgbClr val="CC0000"/>
            </a:solidFill>
            <a:round/>
            <a:headEnd/>
            <a:tailEnd/>
          </a:ln>
          <a:effectLst/>
        </p:spPr>
        <p:txBody>
          <a:bodyPr anchor="ctr"/>
          <a:lstStyle/>
          <a:p>
            <a:endParaRPr lang="fr-FR"/>
          </a:p>
        </p:txBody>
      </p:sp>
      <p:pic>
        <p:nvPicPr>
          <p:cNvPr id="360858" name="Picture 410" descr="Laptop"/>
          <p:cNvPicPr>
            <a:picLocks noChangeAspect="1" noChangeArrowheads="1"/>
          </p:cNvPicPr>
          <p:nvPr>
            <p:custDataLst>
              <p:tags r:id="rId10"/>
            </p:custDataLst>
          </p:nvPr>
        </p:nvPicPr>
        <p:blipFill>
          <a:blip r:embed="rId25" cstate="print"/>
          <a:srcRect/>
          <a:stretch>
            <a:fillRect/>
          </a:stretch>
        </p:blipFill>
        <p:spPr bwMode="auto">
          <a:xfrm>
            <a:off x="458796" y="2018847"/>
            <a:ext cx="658812" cy="709613"/>
          </a:xfrm>
          <a:prstGeom prst="rect">
            <a:avLst/>
          </a:prstGeom>
          <a:noFill/>
        </p:spPr>
      </p:pic>
      <p:pic>
        <p:nvPicPr>
          <p:cNvPr id="360859" name="Picture 411" descr="UserInteract"/>
          <p:cNvPicPr>
            <a:picLocks noChangeAspect="1" noChangeArrowheads="1"/>
          </p:cNvPicPr>
          <p:nvPr>
            <p:custDataLst>
              <p:tags r:id="rId11"/>
            </p:custDataLst>
          </p:nvPr>
        </p:nvPicPr>
        <p:blipFill>
          <a:blip r:embed="rId26" cstate="print"/>
          <a:srcRect/>
          <a:stretch>
            <a:fillRect/>
          </a:stretch>
        </p:blipFill>
        <p:spPr bwMode="auto">
          <a:xfrm>
            <a:off x="176221" y="2010910"/>
            <a:ext cx="511175" cy="828675"/>
          </a:xfrm>
          <a:prstGeom prst="rect">
            <a:avLst/>
          </a:prstGeom>
          <a:noFill/>
        </p:spPr>
      </p:pic>
      <p:sp>
        <p:nvSpPr>
          <p:cNvPr id="360883" name="Freeform 435"/>
          <p:cNvSpPr>
            <a:spLocks/>
          </p:cNvSpPr>
          <p:nvPr/>
        </p:nvSpPr>
        <p:spPr bwMode="auto">
          <a:xfrm>
            <a:off x="417296" y="3340100"/>
            <a:ext cx="1201738" cy="469900"/>
          </a:xfrm>
          <a:custGeom>
            <a:avLst/>
            <a:gdLst/>
            <a:ahLst/>
            <a:cxnLst>
              <a:cxn ang="0">
                <a:pos x="0" y="0"/>
              </a:cxn>
              <a:cxn ang="0">
                <a:pos x="502" y="173"/>
              </a:cxn>
              <a:cxn ang="0">
                <a:pos x="239" y="189"/>
              </a:cxn>
              <a:cxn ang="0">
                <a:pos x="757" y="296"/>
              </a:cxn>
            </a:cxnLst>
            <a:rect l="0" t="0" r="r" b="b"/>
            <a:pathLst>
              <a:path w="757" h="296">
                <a:moveTo>
                  <a:pt x="0" y="0"/>
                </a:moveTo>
                <a:lnTo>
                  <a:pt x="502" y="173"/>
                </a:lnTo>
                <a:lnTo>
                  <a:pt x="239" y="189"/>
                </a:lnTo>
                <a:lnTo>
                  <a:pt x="757" y="296"/>
                </a:lnTo>
              </a:path>
            </a:pathLst>
          </a:custGeom>
          <a:noFill/>
          <a:ln w="38100" cap="flat" cmpd="sng">
            <a:solidFill>
              <a:srgbClr val="333333"/>
            </a:solidFill>
            <a:prstDash val="solid"/>
            <a:round/>
            <a:headEnd type="none" w="med" len="med"/>
            <a:tailEnd type="none" w="med" len="med"/>
          </a:ln>
          <a:effectLst/>
        </p:spPr>
        <p:txBody>
          <a:bodyPr anchor="ctr"/>
          <a:lstStyle/>
          <a:p>
            <a:endParaRPr lang="fr-FR"/>
          </a:p>
        </p:txBody>
      </p:sp>
      <p:pic>
        <p:nvPicPr>
          <p:cNvPr id="360886" name="Picture 438" descr="Laptop"/>
          <p:cNvPicPr>
            <a:picLocks noChangeAspect="1" noChangeArrowheads="1"/>
          </p:cNvPicPr>
          <p:nvPr>
            <p:custDataLst>
              <p:tags r:id="rId12"/>
            </p:custDataLst>
          </p:nvPr>
        </p:nvPicPr>
        <p:blipFill>
          <a:blip r:embed="rId27" cstate="print"/>
          <a:srcRect/>
          <a:stretch>
            <a:fillRect/>
          </a:stretch>
        </p:blipFill>
        <p:spPr bwMode="auto">
          <a:xfrm>
            <a:off x="1295184" y="3406775"/>
            <a:ext cx="658812" cy="720725"/>
          </a:xfrm>
          <a:prstGeom prst="rect">
            <a:avLst/>
          </a:prstGeom>
          <a:noFill/>
        </p:spPr>
      </p:pic>
      <p:pic>
        <p:nvPicPr>
          <p:cNvPr id="360887" name="Picture 439" descr="UserInteract"/>
          <p:cNvPicPr>
            <a:picLocks noChangeAspect="1" noChangeArrowheads="1"/>
          </p:cNvPicPr>
          <p:nvPr>
            <p:custDataLst>
              <p:tags r:id="rId13"/>
            </p:custDataLst>
          </p:nvPr>
        </p:nvPicPr>
        <p:blipFill>
          <a:blip r:embed="rId28" cstate="print"/>
          <a:srcRect/>
          <a:stretch>
            <a:fillRect/>
          </a:stretch>
        </p:blipFill>
        <p:spPr bwMode="auto">
          <a:xfrm>
            <a:off x="1725396" y="3495675"/>
            <a:ext cx="509588" cy="842963"/>
          </a:xfrm>
          <a:prstGeom prst="rect">
            <a:avLst/>
          </a:prstGeom>
          <a:noFill/>
        </p:spPr>
      </p:pic>
      <p:pic>
        <p:nvPicPr>
          <p:cNvPr id="360915" name="Picture 467" descr="Modem_Modem01"/>
          <p:cNvPicPr>
            <a:picLocks noChangeAspect="1" noChangeArrowheads="1"/>
          </p:cNvPicPr>
          <p:nvPr/>
        </p:nvPicPr>
        <p:blipFill>
          <a:blip r:embed="rId29" cstate="print"/>
          <a:srcRect/>
          <a:stretch>
            <a:fillRect/>
          </a:stretch>
        </p:blipFill>
        <p:spPr bwMode="auto">
          <a:xfrm>
            <a:off x="196634" y="3132138"/>
            <a:ext cx="677862" cy="423862"/>
          </a:xfrm>
          <a:prstGeom prst="rect">
            <a:avLst/>
          </a:prstGeom>
          <a:noFill/>
        </p:spPr>
      </p:pic>
      <p:pic>
        <p:nvPicPr>
          <p:cNvPr id="360916" name="Picture 468" descr="Internet_Tunnel01"/>
          <p:cNvPicPr>
            <a:picLocks noChangeAspect="1" noChangeArrowheads="1"/>
          </p:cNvPicPr>
          <p:nvPr/>
        </p:nvPicPr>
        <p:blipFill>
          <a:blip r:embed="rId30" cstate="print"/>
          <a:srcRect/>
          <a:stretch>
            <a:fillRect/>
          </a:stretch>
        </p:blipFill>
        <p:spPr bwMode="auto">
          <a:xfrm>
            <a:off x="1485908" y="1714047"/>
            <a:ext cx="793750" cy="703263"/>
          </a:xfrm>
          <a:prstGeom prst="rect">
            <a:avLst/>
          </a:prstGeom>
          <a:noFill/>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62502" name="Rectangle 6"/>
          <p:cNvSpPr>
            <a:spLocks noGrp="1" noChangeArrowheads="1"/>
          </p:cNvSpPr>
          <p:nvPr>
            <p:ph type="title"/>
            <p:custDataLst>
              <p:tags r:id="rId1"/>
            </p:custDataLst>
          </p:nvPr>
        </p:nvSpPr>
        <p:spPr/>
        <p:txBody>
          <a:bodyPr vert="horz" anchor="b">
            <a:normAutofit fontScale="90000"/>
          </a:bodyPr>
          <a:lstStyle/>
          <a:p>
            <a:r>
              <a:rPr lang="fr-FR" sz="2800" dirty="0">
                <a:solidFill>
                  <a:srgbClr val="C00000"/>
                </a:solidFill>
              </a:rPr>
              <a:t>L’autorisation et l’authentification de l'accès réseau </a:t>
            </a:r>
            <a:endParaRPr sz="2800" dirty="0">
              <a:solidFill>
                <a:srgbClr val="C00000"/>
              </a:solidFill>
            </a:endParaRPr>
          </a:p>
        </p:txBody>
      </p:sp>
      <p:sp>
        <p:nvSpPr>
          <p:cNvPr id="362864" name="Oval 368"/>
          <p:cNvSpPr>
            <a:spLocks noChangeArrowheads="1"/>
          </p:cNvSpPr>
          <p:nvPr/>
        </p:nvSpPr>
        <p:spPr bwMode="auto">
          <a:xfrm>
            <a:off x="609600" y="1341438"/>
            <a:ext cx="7848600" cy="3430587"/>
          </a:xfrm>
          <a:prstGeom prst="ellipse">
            <a:avLst/>
          </a:prstGeom>
          <a:gradFill rotWithShape="1">
            <a:gsLst>
              <a:gs pos="0">
                <a:srgbClr val="CFE1C2"/>
              </a:gs>
              <a:gs pos="100000">
                <a:srgbClr val="FFFFFF"/>
              </a:gs>
            </a:gsLst>
            <a:lin ang="5400000" scaled="1"/>
          </a:gradFill>
          <a:ln w="9525" algn="ctr">
            <a:noFill/>
            <a:round/>
            <a:headEnd/>
            <a:tailEnd/>
          </a:ln>
          <a:effectLst/>
        </p:spPr>
        <p:txBody>
          <a:bodyPr lIns="0" tIns="0" rIns="0" bIns="0"/>
          <a:lstStyle/>
          <a:p>
            <a:pPr marL="342900" indent="-342900" algn="l">
              <a:lnSpc>
                <a:spcPct val="90000"/>
              </a:lnSpc>
              <a:spcBef>
                <a:spcPct val="40000"/>
              </a:spcBef>
              <a:buClr>
                <a:srgbClr val="8DACD0"/>
              </a:buClr>
              <a:buSzPct val="70000"/>
              <a:buFont typeface="Wingdings" pitchFamily="2" charset="2"/>
              <a:buBlip>
                <a:blip r:embed="rId4"/>
              </a:buBlip>
            </a:pPr>
            <a:endParaRPr lang="en-US" sz="2400" b="1"/>
          </a:p>
          <a:p>
            <a:pPr marL="342900" indent="-342900" algn="l">
              <a:lnSpc>
                <a:spcPct val="90000"/>
              </a:lnSpc>
              <a:spcBef>
                <a:spcPct val="40000"/>
              </a:spcBef>
              <a:buClr>
                <a:srgbClr val="8DACD0"/>
              </a:buClr>
              <a:buSzPct val="70000"/>
              <a:buFont typeface="Wingdings" pitchFamily="2" charset="2"/>
              <a:buBlip>
                <a:blip r:embed="rId4"/>
              </a:buBlip>
            </a:pPr>
            <a:endParaRPr lang="en-US" sz="2400" b="1"/>
          </a:p>
          <a:p>
            <a:pPr marL="342900" indent="-342900" algn="l">
              <a:lnSpc>
                <a:spcPct val="90000"/>
              </a:lnSpc>
              <a:spcBef>
                <a:spcPct val="40000"/>
              </a:spcBef>
              <a:buClr>
                <a:srgbClr val="8DACD0"/>
              </a:buClr>
              <a:buSzPct val="70000"/>
              <a:buFont typeface="Wingdings" pitchFamily="2" charset="2"/>
              <a:buBlip>
                <a:blip r:embed="rId4"/>
              </a:buBlip>
            </a:pPr>
            <a:endParaRPr lang="en-US" sz="2400" b="1"/>
          </a:p>
        </p:txBody>
      </p:sp>
      <p:pic>
        <p:nvPicPr>
          <p:cNvPr id="362865" name="Picture 369" descr="Server01"/>
          <p:cNvPicPr>
            <a:picLocks noChangeAspect="1" noChangeArrowheads="1"/>
          </p:cNvPicPr>
          <p:nvPr/>
        </p:nvPicPr>
        <p:blipFill>
          <a:blip r:embed="rId5" cstate="print"/>
          <a:srcRect/>
          <a:stretch>
            <a:fillRect/>
          </a:stretch>
        </p:blipFill>
        <p:spPr bwMode="auto">
          <a:xfrm>
            <a:off x="4017963" y="2066925"/>
            <a:ext cx="1106487" cy="1303338"/>
          </a:xfrm>
          <a:prstGeom prst="rect">
            <a:avLst/>
          </a:prstGeom>
          <a:noFill/>
        </p:spPr>
      </p:pic>
      <p:sp>
        <p:nvSpPr>
          <p:cNvPr id="362866" name="Line 370"/>
          <p:cNvSpPr>
            <a:spLocks noChangeShapeType="1"/>
          </p:cNvSpPr>
          <p:nvPr/>
        </p:nvSpPr>
        <p:spPr bwMode="auto">
          <a:xfrm>
            <a:off x="2271713" y="2719388"/>
            <a:ext cx="1708150" cy="0"/>
          </a:xfrm>
          <a:prstGeom prst="line">
            <a:avLst/>
          </a:prstGeom>
          <a:noFill/>
          <a:ln w="63500">
            <a:solidFill>
              <a:srgbClr val="CC0000"/>
            </a:solidFill>
            <a:round/>
            <a:headEnd/>
            <a:tailEnd type="triangle" w="med" len="med"/>
          </a:ln>
          <a:effectLst/>
        </p:spPr>
        <p:txBody>
          <a:bodyPr wrap="none" anchor="ctr"/>
          <a:lstStyle/>
          <a:p>
            <a:endParaRPr lang="fr-FR"/>
          </a:p>
        </p:txBody>
      </p:sp>
      <p:grpSp>
        <p:nvGrpSpPr>
          <p:cNvPr id="362867" name="Group 371"/>
          <p:cNvGrpSpPr>
            <a:grpSpLocks/>
          </p:cNvGrpSpPr>
          <p:nvPr/>
        </p:nvGrpSpPr>
        <p:grpSpPr bwMode="auto">
          <a:xfrm flipH="1">
            <a:off x="1482725" y="2001838"/>
            <a:ext cx="1401763" cy="1328737"/>
            <a:chOff x="2999" y="1125"/>
            <a:chExt cx="654" cy="576"/>
          </a:xfrm>
        </p:grpSpPr>
        <p:pic>
          <p:nvPicPr>
            <p:cNvPr id="362868" name="Picture 372" descr="Laptop"/>
            <p:cNvPicPr>
              <a:picLocks noChangeAspect="1" noChangeArrowheads="1"/>
            </p:cNvPicPr>
            <p:nvPr/>
          </p:nvPicPr>
          <p:blipFill>
            <a:blip r:embed="rId6" cstate="print"/>
            <a:srcRect/>
            <a:stretch>
              <a:fillRect/>
            </a:stretch>
          </p:blipFill>
          <p:spPr bwMode="auto">
            <a:xfrm flipH="1">
              <a:off x="2999" y="1131"/>
              <a:ext cx="458" cy="493"/>
            </a:xfrm>
            <a:prstGeom prst="rect">
              <a:avLst/>
            </a:prstGeom>
            <a:noFill/>
          </p:spPr>
        </p:pic>
        <p:pic>
          <p:nvPicPr>
            <p:cNvPr id="362869" name="Picture 373" descr="UserInteract"/>
            <p:cNvPicPr>
              <a:picLocks noChangeAspect="1" noChangeArrowheads="1"/>
            </p:cNvPicPr>
            <p:nvPr/>
          </p:nvPicPr>
          <p:blipFill>
            <a:blip r:embed="rId7"/>
            <a:srcRect/>
            <a:stretch>
              <a:fillRect/>
            </a:stretch>
          </p:blipFill>
          <p:spPr bwMode="auto">
            <a:xfrm flipH="1">
              <a:off x="3298" y="1125"/>
              <a:ext cx="355" cy="576"/>
            </a:xfrm>
            <a:prstGeom prst="rect">
              <a:avLst/>
            </a:prstGeom>
            <a:noFill/>
          </p:spPr>
        </p:pic>
      </p:grpSp>
      <p:pic>
        <p:nvPicPr>
          <p:cNvPr id="362870" name="Picture 374" descr="Server01"/>
          <p:cNvPicPr>
            <a:picLocks noChangeAspect="1" noChangeArrowheads="1"/>
          </p:cNvPicPr>
          <p:nvPr/>
        </p:nvPicPr>
        <p:blipFill>
          <a:blip r:embed="rId5" cstate="print"/>
          <a:srcRect/>
          <a:stretch>
            <a:fillRect/>
          </a:stretch>
        </p:blipFill>
        <p:spPr bwMode="auto">
          <a:xfrm>
            <a:off x="6329363" y="2054225"/>
            <a:ext cx="1106487" cy="1303338"/>
          </a:xfrm>
          <a:prstGeom prst="rect">
            <a:avLst/>
          </a:prstGeom>
          <a:noFill/>
        </p:spPr>
      </p:pic>
      <p:sp>
        <p:nvSpPr>
          <p:cNvPr id="362871" name="Rectangle 375"/>
          <p:cNvSpPr>
            <a:spLocks noChangeArrowheads="1"/>
          </p:cNvSpPr>
          <p:nvPr/>
        </p:nvSpPr>
        <p:spPr bwMode="auto">
          <a:xfrm>
            <a:off x="2928711" y="3322638"/>
            <a:ext cx="2523311" cy="769441"/>
          </a:xfrm>
          <a:prstGeom prst="rect">
            <a:avLst/>
          </a:prstGeom>
          <a:noFill/>
          <a:ln w="9525" algn="ctr">
            <a:noFill/>
            <a:miter lim="800000"/>
            <a:headEnd/>
            <a:tailEnd/>
          </a:ln>
          <a:effectLst/>
        </p:spPr>
        <p:txBody>
          <a:bodyPr wrap="square">
            <a:spAutoFit/>
          </a:bodyPr>
          <a:lstStyle/>
          <a:p>
            <a:r>
              <a:rPr lang="en-US" sz="2200" b="1"/>
              <a:t>Serveur</a:t>
            </a:r>
          </a:p>
          <a:p>
            <a:r>
              <a:rPr lang="en-US" sz="2200" b="1"/>
              <a:t>d'accès réseau</a:t>
            </a:r>
          </a:p>
        </p:txBody>
      </p:sp>
      <p:sp>
        <p:nvSpPr>
          <p:cNvPr id="362872" name="Rectangle 376"/>
          <p:cNvSpPr>
            <a:spLocks noChangeArrowheads="1"/>
          </p:cNvSpPr>
          <p:nvPr/>
        </p:nvSpPr>
        <p:spPr bwMode="auto">
          <a:xfrm>
            <a:off x="696686" y="3322638"/>
            <a:ext cx="2523311" cy="769441"/>
          </a:xfrm>
          <a:prstGeom prst="rect">
            <a:avLst/>
          </a:prstGeom>
          <a:noFill/>
          <a:ln w="9525" algn="ctr">
            <a:noFill/>
            <a:miter lim="800000"/>
            <a:headEnd/>
            <a:tailEnd/>
          </a:ln>
          <a:effectLst/>
        </p:spPr>
        <p:txBody>
          <a:bodyPr wrap="square">
            <a:spAutoFit/>
          </a:bodyPr>
          <a:lstStyle/>
          <a:p>
            <a:r>
              <a:rPr lang="en-US" sz="2200" b="1" dirty="0"/>
              <a:t>Client</a:t>
            </a:r>
          </a:p>
          <a:p>
            <a:r>
              <a:rPr lang="en-US" sz="2200" b="1" dirty="0" err="1"/>
              <a:t>d'accès</a:t>
            </a:r>
            <a:r>
              <a:rPr lang="en-US" sz="2200" b="1" dirty="0"/>
              <a:t> </a:t>
            </a:r>
            <a:r>
              <a:rPr lang="en-US" sz="2200" b="1" dirty="0" err="1"/>
              <a:t>réseau</a:t>
            </a:r>
            <a:endParaRPr lang="en-US" sz="2200" b="1" dirty="0"/>
          </a:p>
        </p:txBody>
      </p:sp>
      <p:sp>
        <p:nvSpPr>
          <p:cNvPr id="362873" name="Rectangle 377"/>
          <p:cNvSpPr>
            <a:spLocks noChangeArrowheads="1"/>
          </p:cNvSpPr>
          <p:nvPr/>
        </p:nvSpPr>
        <p:spPr bwMode="auto">
          <a:xfrm>
            <a:off x="5596616" y="3322638"/>
            <a:ext cx="2023603" cy="769441"/>
          </a:xfrm>
          <a:prstGeom prst="rect">
            <a:avLst/>
          </a:prstGeom>
          <a:noFill/>
          <a:ln w="9525" algn="ctr">
            <a:noFill/>
            <a:miter lim="800000"/>
            <a:headEnd/>
            <a:tailEnd/>
          </a:ln>
          <a:effectLst/>
        </p:spPr>
        <p:txBody>
          <a:bodyPr wrap="square">
            <a:spAutoFit/>
          </a:bodyPr>
          <a:lstStyle/>
          <a:p>
            <a:r>
              <a:rPr lang="en-US" sz="2200" b="1"/>
              <a:t>Contrôleur</a:t>
            </a:r>
          </a:p>
          <a:p>
            <a:r>
              <a:rPr lang="en-US" sz="2200" b="1"/>
              <a:t>de domaine</a:t>
            </a:r>
          </a:p>
        </p:txBody>
      </p:sp>
      <p:sp>
        <p:nvSpPr>
          <p:cNvPr id="362874" name="Freeform 378"/>
          <p:cNvSpPr>
            <a:spLocks/>
          </p:cNvSpPr>
          <p:nvPr/>
        </p:nvSpPr>
        <p:spPr bwMode="auto">
          <a:xfrm rot="-33794070" flipH="1" flipV="1">
            <a:off x="4576763" y="1439863"/>
            <a:ext cx="2105025" cy="1341437"/>
          </a:xfrm>
          <a:custGeom>
            <a:avLst/>
            <a:gdLst/>
            <a:ahLst/>
            <a:cxnLst>
              <a:cxn ang="0">
                <a:pos x="1544" y="358"/>
              </a:cxn>
              <a:cxn ang="0">
                <a:pos x="1531" y="338"/>
              </a:cxn>
              <a:cxn ang="0">
                <a:pos x="1500" y="299"/>
              </a:cxn>
              <a:cxn ang="0">
                <a:pos x="1466" y="263"/>
              </a:cxn>
              <a:cxn ang="0">
                <a:pos x="1425" y="228"/>
              </a:cxn>
              <a:cxn ang="0">
                <a:pos x="1382" y="195"/>
              </a:cxn>
              <a:cxn ang="0">
                <a:pos x="1332" y="163"/>
              </a:cxn>
              <a:cxn ang="0">
                <a:pos x="1280" y="134"/>
              </a:cxn>
              <a:cxn ang="0">
                <a:pos x="1225" y="108"/>
              </a:cxn>
              <a:cxn ang="0">
                <a:pos x="1164" y="85"/>
              </a:cxn>
              <a:cxn ang="0">
                <a:pos x="1102" y="63"/>
              </a:cxn>
              <a:cxn ang="0">
                <a:pos x="1037" y="44"/>
              </a:cxn>
              <a:cxn ang="0">
                <a:pos x="967" y="29"/>
              </a:cxn>
              <a:cxn ang="0">
                <a:pos x="896" y="18"/>
              </a:cxn>
              <a:cxn ang="0">
                <a:pos x="824" y="8"/>
              </a:cxn>
              <a:cxn ang="0">
                <a:pos x="767" y="3"/>
              </a:cxn>
              <a:cxn ang="0">
                <a:pos x="709" y="2"/>
              </a:cxn>
              <a:cxn ang="0">
                <a:pos x="622" y="2"/>
              </a:cxn>
              <a:cxn ang="0">
                <a:pos x="573" y="3"/>
              </a:cxn>
              <a:cxn ang="0">
                <a:pos x="479" y="12"/>
              </a:cxn>
              <a:cxn ang="0">
                <a:pos x="432" y="19"/>
              </a:cxn>
              <a:cxn ang="0">
                <a:pos x="344" y="35"/>
              </a:cxn>
              <a:cxn ang="0">
                <a:pos x="258" y="57"/>
              </a:cxn>
              <a:cxn ang="0">
                <a:pos x="177" y="85"/>
              </a:cxn>
              <a:cxn ang="0">
                <a:pos x="102" y="115"/>
              </a:cxn>
              <a:cxn ang="0">
                <a:pos x="32" y="150"/>
              </a:cxn>
              <a:cxn ang="0">
                <a:pos x="31" y="154"/>
              </a:cxn>
              <a:cxn ang="0">
                <a:pos x="95" y="129"/>
              </a:cxn>
              <a:cxn ang="0">
                <a:pos x="163" y="106"/>
              </a:cxn>
              <a:cxn ang="0">
                <a:pos x="197" y="96"/>
              </a:cxn>
              <a:cxn ang="0">
                <a:pos x="270" y="80"/>
              </a:cxn>
              <a:cxn ang="0">
                <a:pos x="345" y="66"/>
              </a:cxn>
              <a:cxn ang="0">
                <a:pos x="422" y="56"/>
              </a:cxn>
              <a:cxn ang="0">
                <a:pos x="503" y="50"/>
              </a:cxn>
              <a:cxn ang="0">
                <a:pos x="584" y="47"/>
              </a:cxn>
              <a:cxn ang="0">
                <a:pos x="661" y="50"/>
              </a:cxn>
              <a:cxn ang="0">
                <a:pos x="735" y="54"/>
              </a:cxn>
              <a:cxn ang="0">
                <a:pos x="808" y="63"/>
              </a:cxn>
              <a:cxn ang="0">
                <a:pos x="879" y="74"/>
              </a:cxn>
              <a:cxn ang="0">
                <a:pos x="947" y="90"/>
              </a:cxn>
              <a:cxn ang="0">
                <a:pos x="1012" y="108"/>
              </a:cxn>
              <a:cxn ang="0">
                <a:pos x="1074" y="128"/>
              </a:cxn>
              <a:cxn ang="0">
                <a:pos x="1134" y="153"/>
              </a:cxn>
              <a:cxn ang="0">
                <a:pos x="1189" y="177"/>
              </a:cxn>
              <a:cxn ang="0">
                <a:pos x="1241" y="206"/>
              </a:cxn>
              <a:cxn ang="0">
                <a:pos x="1290" y="237"/>
              </a:cxn>
              <a:cxn ang="0">
                <a:pos x="1334" y="269"/>
              </a:cxn>
              <a:cxn ang="0">
                <a:pos x="1374" y="303"/>
              </a:cxn>
              <a:cxn ang="0">
                <a:pos x="1409" y="340"/>
              </a:cxn>
              <a:cxn ang="0">
                <a:pos x="1440" y="379"/>
              </a:cxn>
              <a:cxn ang="0">
                <a:pos x="1466" y="418"/>
              </a:cxn>
              <a:cxn ang="0">
                <a:pos x="1409" y="427"/>
              </a:cxn>
              <a:cxn ang="0">
                <a:pos x="1599" y="338"/>
              </a:cxn>
            </a:cxnLst>
            <a:rect l="0" t="0" r="r" b="b"/>
            <a:pathLst>
              <a:path w="1631" h="609">
                <a:moveTo>
                  <a:pt x="1556" y="379"/>
                </a:moveTo>
                <a:lnTo>
                  <a:pt x="1544" y="358"/>
                </a:lnTo>
                <a:lnTo>
                  <a:pt x="1537" y="348"/>
                </a:lnTo>
                <a:lnTo>
                  <a:pt x="1531" y="338"/>
                </a:lnTo>
                <a:lnTo>
                  <a:pt x="1516" y="319"/>
                </a:lnTo>
                <a:lnTo>
                  <a:pt x="1500" y="299"/>
                </a:lnTo>
                <a:lnTo>
                  <a:pt x="1483" y="282"/>
                </a:lnTo>
                <a:lnTo>
                  <a:pt x="1466" y="263"/>
                </a:lnTo>
                <a:lnTo>
                  <a:pt x="1445" y="245"/>
                </a:lnTo>
                <a:lnTo>
                  <a:pt x="1425" y="228"/>
                </a:lnTo>
                <a:lnTo>
                  <a:pt x="1403" y="211"/>
                </a:lnTo>
                <a:lnTo>
                  <a:pt x="1382" y="195"/>
                </a:lnTo>
                <a:lnTo>
                  <a:pt x="1357" y="179"/>
                </a:lnTo>
                <a:lnTo>
                  <a:pt x="1332" y="163"/>
                </a:lnTo>
                <a:lnTo>
                  <a:pt x="1308" y="148"/>
                </a:lnTo>
                <a:lnTo>
                  <a:pt x="1280" y="134"/>
                </a:lnTo>
                <a:lnTo>
                  <a:pt x="1253" y="121"/>
                </a:lnTo>
                <a:lnTo>
                  <a:pt x="1225" y="108"/>
                </a:lnTo>
                <a:lnTo>
                  <a:pt x="1195" y="96"/>
                </a:lnTo>
                <a:lnTo>
                  <a:pt x="1164" y="85"/>
                </a:lnTo>
                <a:lnTo>
                  <a:pt x="1134" y="73"/>
                </a:lnTo>
                <a:lnTo>
                  <a:pt x="1102" y="63"/>
                </a:lnTo>
                <a:lnTo>
                  <a:pt x="1070" y="54"/>
                </a:lnTo>
                <a:lnTo>
                  <a:pt x="1037" y="44"/>
                </a:lnTo>
                <a:lnTo>
                  <a:pt x="1002" y="37"/>
                </a:lnTo>
                <a:lnTo>
                  <a:pt x="967" y="29"/>
                </a:lnTo>
                <a:lnTo>
                  <a:pt x="932" y="22"/>
                </a:lnTo>
                <a:lnTo>
                  <a:pt x="896" y="18"/>
                </a:lnTo>
                <a:lnTo>
                  <a:pt x="860" y="12"/>
                </a:lnTo>
                <a:lnTo>
                  <a:pt x="824" y="8"/>
                </a:lnTo>
                <a:lnTo>
                  <a:pt x="786" y="5"/>
                </a:lnTo>
                <a:lnTo>
                  <a:pt x="767" y="3"/>
                </a:lnTo>
                <a:lnTo>
                  <a:pt x="748" y="3"/>
                </a:lnTo>
                <a:lnTo>
                  <a:pt x="709" y="2"/>
                </a:lnTo>
                <a:lnTo>
                  <a:pt x="671" y="0"/>
                </a:lnTo>
                <a:lnTo>
                  <a:pt x="622" y="2"/>
                </a:lnTo>
                <a:lnTo>
                  <a:pt x="597" y="3"/>
                </a:lnTo>
                <a:lnTo>
                  <a:pt x="573" y="3"/>
                </a:lnTo>
                <a:lnTo>
                  <a:pt x="525" y="8"/>
                </a:lnTo>
                <a:lnTo>
                  <a:pt x="479" y="12"/>
                </a:lnTo>
                <a:lnTo>
                  <a:pt x="455" y="16"/>
                </a:lnTo>
                <a:lnTo>
                  <a:pt x="432" y="19"/>
                </a:lnTo>
                <a:lnTo>
                  <a:pt x="387" y="27"/>
                </a:lnTo>
                <a:lnTo>
                  <a:pt x="344" y="35"/>
                </a:lnTo>
                <a:lnTo>
                  <a:pt x="300" y="45"/>
                </a:lnTo>
                <a:lnTo>
                  <a:pt x="258" y="57"/>
                </a:lnTo>
                <a:lnTo>
                  <a:pt x="218" y="70"/>
                </a:lnTo>
                <a:lnTo>
                  <a:pt x="177" y="85"/>
                </a:lnTo>
                <a:lnTo>
                  <a:pt x="139" y="99"/>
                </a:lnTo>
                <a:lnTo>
                  <a:pt x="102" y="115"/>
                </a:lnTo>
                <a:lnTo>
                  <a:pt x="67" y="131"/>
                </a:lnTo>
                <a:lnTo>
                  <a:pt x="32" y="150"/>
                </a:lnTo>
                <a:lnTo>
                  <a:pt x="0" y="169"/>
                </a:lnTo>
                <a:lnTo>
                  <a:pt x="31" y="154"/>
                </a:lnTo>
                <a:lnTo>
                  <a:pt x="63" y="141"/>
                </a:lnTo>
                <a:lnTo>
                  <a:pt x="95" y="129"/>
                </a:lnTo>
                <a:lnTo>
                  <a:pt x="128" y="118"/>
                </a:lnTo>
                <a:lnTo>
                  <a:pt x="163" y="106"/>
                </a:lnTo>
                <a:lnTo>
                  <a:pt x="180" y="102"/>
                </a:lnTo>
                <a:lnTo>
                  <a:pt x="197" y="96"/>
                </a:lnTo>
                <a:lnTo>
                  <a:pt x="232" y="87"/>
                </a:lnTo>
                <a:lnTo>
                  <a:pt x="270" y="80"/>
                </a:lnTo>
                <a:lnTo>
                  <a:pt x="306" y="71"/>
                </a:lnTo>
                <a:lnTo>
                  <a:pt x="345" y="66"/>
                </a:lnTo>
                <a:lnTo>
                  <a:pt x="383" y="60"/>
                </a:lnTo>
                <a:lnTo>
                  <a:pt x="422" y="56"/>
                </a:lnTo>
                <a:lnTo>
                  <a:pt x="463" y="53"/>
                </a:lnTo>
                <a:lnTo>
                  <a:pt x="503" y="50"/>
                </a:lnTo>
                <a:lnTo>
                  <a:pt x="544" y="48"/>
                </a:lnTo>
                <a:lnTo>
                  <a:pt x="584" y="47"/>
                </a:lnTo>
                <a:lnTo>
                  <a:pt x="624" y="48"/>
                </a:lnTo>
                <a:lnTo>
                  <a:pt x="661" y="50"/>
                </a:lnTo>
                <a:lnTo>
                  <a:pt x="699" y="51"/>
                </a:lnTo>
                <a:lnTo>
                  <a:pt x="735" y="54"/>
                </a:lnTo>
                <a:lnTo>
                  <a:pt x="773" y="58"/>
                </a:lnTo>
                <a:lnTo>
                  <a:pt x="808" y="63"/>
                </a:lnTo>
                <a:lnTo>
                  <a:pt x="844" y="69"/>
                </a:lnTo>
                <a:lnTo>
                  <a:pt x="879" y="74"/>
                </a:lnTo>
                <a:lnTo>
                  <a:pt x="913" y="82"/>
                </a:lnTo>
                <a:lnTo>
                  <a:pt x="947" y="90"/>
                </a:lnTo>
                <a:lnTo>
                  <a:pt x="980" y="99"/>
                </a:lnTo>
                <a:lnTo>
                  <a:pt x="1012" y="108"/>
                </a:lnTo>
                <a:lnTo>
                  <a:pt x="1044" y="118"/>
                </a:lnTo>
                <a:lnTo>
                  <a:pt x="1074" y="128"/>
                </a:lnTo>
                <a:lnTo>
                  <a:pt x="1105" y="140"/>
                </a:lnTo>
                <a:lnTo>
                  <a:pt x="1134" y="153"/>
                </a:lnTo>
                <a:lnTo>
                  <a:pt x="1161" y="164"/>
                </a:lnTo>
                <a:lnTo>
                  <a:pt x="1189" y="177"/>
                </a:lnTo>
                <a:lnTo>
                  <a:pt x="1216" y="192"/>
                </a:lnTo>
                <a:lnTo>
                  <a:pt x="1241" y="206"/>
                </a:lnTo>
                <a:lnTo>
                  <a:pt x="1266" y="221"/>
                </a:lnTo>
                <a:lnTo>
                  <a:pt x="1290" y="237"/>
                </a:lnTo>
                <a:lnTo>
                  <a:pt x="1312" y="253"/>
                </a:lnTo>
                <a:lnTo>
                  <a:pt x="1334" y="269"/>
                </a:lnTo>
                <a:lnTo>
                  <a:pt x="1354" y="286"/>
                </a:lnTo>
                <a:lnTo>
                  <a:pt x="1374" y="303"/>
                </a:lnTo>
                <a:lnTo>
                  <a:pt x="1392" y="322"/>
                </a:lnTo>
                <a:lnTo>
                  <a:pt x="1409" y="340"/>
                </a:lnTo>
                <a:lnTo>
                  <a:pt x="1425" y="358"/>
                </a:lnTo>
                <a:lnTo>
                  <a:pt x="1440" y="379"/>
                </a:lnTo>
                <a:lnTo>
                  <a:pt x="1453" y="398"/>
                </a:lnTo>
                <a:lnTo>
                  <a:pt x="1466" y="418"/>
                </a:lnTo>
                <a:lnTo>
                  <a:pt x="1437" y="422"/>
                </a:lnTo>
                <a:lnTo>
                  <a:pt x="1409" y="427"/>
                </a:lnTo>
                <a:lnTo>
                  <a:pt x="1631" y="609"/>
                </a:lnTo>
                <a:lnTo>
                  <a:pt x="1599" y="338"/>
                </a:lnTo>
                <a:lnTo>
                  <a:pt x="1556" y="379"/>
                </a:lnTo>
                <a:close/>
              </a:path>
            </a:pathLst>
          </a:custGeom>
          <a:solidFill>
            <a:srgbClr val="FF0000">
              <a:alpha val="75000"/>
            </a:srgbClr>
          </a:solidFill>
          <a:ln w="9525">
            <a:noFill/>
            <a:round/>
            <a:headEnd/>
            <a:tailEnd/>
          </a:ln>
        </p:spPr>
        <p:txBody>
          <a:bodyPr/>
          <a:lstStyle/>
          <a:p>
            <a:endParaRPr lang="fr-FR"/>
          </a:p>
        </p:txBody>
      </p:sp>
      <p:sp>
        <p:nvSpPr>
          <p:cNvPr id="362875" name="Freeform 379"/>
          <p:cNvSpPr>
            <a:spLocks/>
          </p:cNvSpPr>
          <p:nvPr/>
        </p:nvSpPr>
        <p:spPr bwMode="auto">
          <a:xfrm rot="-33814962">
            <a:off x="4772025" y="1973263"/>
            <a:ext cx="2065338" cy="1322387"/>
          </a:xfrm>
          <a:custGeom>
            <a:avLst/>
            <a:gdLst/>
            <a:ahLst/>
            <a:cxnLst>
              <a:cxn ang="0">
                <a:pos x="1544" y="358"/>
              </a:cxn>
              <a:cxn ang="0">
                <a:pos x="1531" y="338"/>
              </a:cxn>
              <a:cxn ang="0">
                <a:pos x="1500" y="299"/>
              </a:cxn>
              <a:cxn ang="0">
                <a:pos x="1466" y="263"/>
              </a:cxn>
              <a:cxn ang="0">
                <a:pos x="1425" y="228"/>
              </a:cxn>
              <a:cxn ang="0">
                <a:pos x="1382" y="195"/>
              </a:cxn>
              <a:cxn ang="0">
                <a:pos x="1332" y="163"/>
              </a:cxn>
              <a:cxn ang="0">
                <a:pos x="1280" y="134"/>
              </a:cxn>
              <a:cxn ang="0">
                <a:pos x="1225" y="108"/>
              </a:cxn>
              <a:cxn ang="0">
                <a:pos x="1164" y="85"/>
              </a:cxn>
              <a:cxn ang="0">
                <a:pos x="1102" y="63"/>
              </a:cxn>
              <a:cxn ang="0">
                <a:pos x="1037" y="44"/>
              </a:cxn>
              <a:cxn ang="0">
                <a:pos x="967" y="29"/>
              </a:cxn>
              <a:cxn ang="0">
                <a:pos x="896" y="18"/>
              </a:cxn>
              <a:cxn ang="0">
                <a:pos x="824" y="8"/>
              </a:cxn>
              <a:cxn ang="0">
                <a:pos x="767" y="3"/>
              </a:cxn>
              <a:cxn ang="0">
                <a:pos x="709" y="2"/>
              </a:cxn>
              <a:cxn ang="0">
                <a:pos x="622" y="2"/>
              </a:cxn>
              <a:cxn ang="0">
                <a:pos x="573" y="3"/>
              </a:cxn>
              <a:cxn ang="0">
                <a:pos x="479" y="12"/>
              </a:cxn>
              <a:cxn ang="0">
                <a:pos x="432" y="19"/>
              </a:cxn>
              <a:cxn ang="0">
                <a:pos x="344" y="35"/>
              </a:cxn>
              <a:cxn ang="0">
                <a:pos x="258" y="57"/>
              </a:cxn>
              <a:cxn ang="0">
                <a:pos x="177" y="85"/>
              </a:cxn>
              <a:cxn ang="0">
                <a:pos x="102" y="115"/>
              </a:cxn>
              <a:cxn ang="0">
                <a:pos x="32" y="150"/>
              </a:cxn>
              <a:cxn ang="0">
                <a:pos x="31" y="154"/>
              </a:cxn>
              <a:cxn ang="0">
                <a:pos x="95" y="129"/>
              </a:cxn>
              <a:cxn ang="0">
                <a:pos x="163" y="106"/>
              </a:cxn>
              <a:cxn ang="0">
                <a:pos x="197" y="96"/>
              </a:cxn>
              <a:cxn ang="0">
                <a:pos x="270" y="80"/>
              </a:cxn>
              <a:cxn ang="0">
                <a:pos x="345" y="66"/>
              </a:cxn>
              <a:cxn ang="0">
                <a:pos x="422" y="56"/>
              </a:cxn>
              <a:cxn ang="0">
                <a:pos x="503" y="50"/>
              </a:cxn>
              <a:cxn ang="0">
                <a:pos x="584" y="47"/>
              </a:cxn>
              <a:cxn ang="0">
                <a:pos x="661" y="50"/>
              </a:cxn>
              <a:cxn ang="0">
                <a:pos x="735" y="54"/>
              </a:cxn>
              <a:cxn ang="0">
                <a:pos x="808" y="63"/>
              </a:cxn>
              <a:cxn ang="0">
                <a:pos x="879" y="74"/>
              </a:cxn>
              <a:cxn ang="0">
                <a:pos x="947" y="90"/>
              </a:cxn>
              <a:cxn ang="0">
                <a:pos x="1012" y="108"/>
              </a:cxn>
              <a:cxn ang="0">
                <a:pos x="1074" y="128"/>
              </a:cxn>
              <a:cxn ang="0">
                <a:pos x="1134" y="153"/>
              </a:cxn>
              <a:cxn ang="0">
                <a:pos x="1189" y="177"/>
              </a:cxn>
              <a:cxn ang="0">
                <a:pos x="1241" y="206"/>
              </a:cxn>
              <a:cxn ang="0">
                <a:pos x="1290" y="237"/>
              </a:cxn>
              <a:cxn ang="0">
                <a:pos x="1334" y="269"/>
              </a:cxn>
              <a:cxn ang="0">
                <a:pos x="1374" y="303"/>
              </a:cxn>
              <a:cxn ang="0">
                <a:pos x="1409" y="340"/>
              </a:cxn>
              <a:cxn ang="0">
                <a:pos x="1440" y="379"/>
              </a:cxn>
              <a:cxn ang="0">
                <a:pos x="1466" y="418"/>
              </a:cxn>
              <a:cxn ang="0">
                <a:pos x="1409" y="427"/>
              </a:cxn>
              <a:cxn ang="0">
                <a:pos x="1599" y="338"/>
              </a:cxn>
            </a:cxnLst>
            <a:rect l="0" t="0" r="r" b="b"/>
            <a:pathLst>
              <a:path w="1631" h="609">
                <a:moveTo>
                  <a:pt x="1556" y="379"/>
                </a:moveTo>
                <a:lnTo>
                  <a:pt x="1544" y="358"/>
                </a:lnTo>
                <a:lnTo>
                  <a:pt x="1537" y="348"/>
                </a:lnTo>
                <a:lnTo>
                  <a:pt x="1531" y="338"/>
                </a:lnTo>
                <a:lnTo>
                  <a:pt x="1516" y="319"/>
                </a:lnTo>
                <a:lnTo>
                  <a:pt x="1500" y="299"/>
                </a:lnTo>
                <a:lnTo>
                  <a:pt x="1483" y="282"/>
                </a:lnTo>
                <a:lnTo>
                  <a:pt x="1466" y="263"/>
                </a:lnTo>
                <a:lnTo>
                  <a:pt x="1445" y="245"/>
                </a:lnTo>
                <a:lnTo>
                  <a:pt x="1425" y="228"/>
                </a:lnTo>
                <a:lnTo>
                  <a:pt x="1403" y="211"/>
                </a:lnTo>
                <a:lnTo>
                  <a:pt x="1382" y="195"/>
                </a:lnTo>
                <a:lnTo>
                  <a:pt x="1357" y="179"/>
                </a:lnTo>
                <a:lnTo>
                  <a:pt x="1332" y="163"/>
                </a:lnTo>
                <a:lnTo>
                  <a:pt x="1308" y="148"/>
                </a:lnTo>
                <a:lnTo>
                  <a:pt x="1280" y="134"/>
                </a:lnTo>
                <a:lnTo>
                  <a:pt x="1253" y="121"/>
                </a:lnTo>
                <a:lnTo>
                  <a:pt x="1225" y="108"/>
                </a:lnTo>
                <a:lnTo>
                  <a:pt x="1195" y="96"/>
                </a:lnTo>
                <a:lnTo>
                  <a:pt x="1164" y="85"/>
                </a:lnTo>
                <a:lnTo>
                  <a:pt x="1134" y="73"/>
                </a:lnTo>
                <a:lnTo>
                  <a:pt x="1102" y="63"/>
                </a:lnTo>
                <a:lnTo>
                  <a:pt x="1070" y="54"/>
                </a:lnTo>
                <a:lnTo>
                  <a:pt x="1037" y="44"/>
                </a:lnTo>
                <a:lnTo>
                  <a:pt x="1002" y="37"/>
                </a:lnTo>
                <a:lnTo>
                  <a:pt x="967" y="29"/>
                </a:lnTo>
                <a:lnTo>
                  <a:pt x="932" y="22"/>
                </a:lnTo>
                <a:lnTo>
                  <a:pt x="896" y="18"/>
                </a:lnTo>
                <a:lnTo>
                  <a:pt x="860" y="12"/>
                </a:lnTo>
                <a:lnTo>
                  <a:pt x="824" y="8"/>
                </a:lnTo>
                <a:lnTo>
                  <a:pt x="786" y="5"/>
                </a:lnTo>
                <a:lnTo>
                  <a:pt x="767" y="3"/>
                </a:lnTo>
                <a:lnTo>
                  <a:pt x="748" y="3"/>
                </a:lnTo>
                <a:lnTo>
                  <a:pt x="709" y="2"/>
                </a:lnTo>
                <a:lnTo>
                  <a:pt x="671" y="0"/>
                </a:lnTo>
                <a:lnTo>
                  <a:pt x="622" y="2"/>
                </a:lnTo>
                <a:lnTo>
                  <a:pt x="597" y="3"/>
                </a:lnTo>
                <a:lnTo>
                  <a:pt x="573" y="3"/>
                </a:lnTo>
                <a:lnTo>
                  <a:pt x="525" y="8"/>
                </a:lnTo>
                <a:lnTo>
                  <a:pt x="479" y="12"/>
                </a:lnTo>
                <a:lnTo>
                  <a:pt x="455" y="16"/>
                </a:lnTo>
                <a:lnTo>
                  <a:pt x="432" y="19"/>
                </a:lnTo>
                <a:lnTo>
                  <a:pt x="387" y="27"/>
                </a:lnTo>
                <a:lnTo>
                  <a:pt x="344" y="35"/>
                </a:lnTo>
                <a:lnTo>
                  <a:pt x="300" y="45"/>
                </a:lnTo>
                <a:lnTo>
                  <a:pt x="258" y="57"/>
                </a:lnTo>
                <a:lnTo>
                  <a:pt x="218" y="70"/>
                </a:lnTo>
                <a:lnTo>
                  <a:pt x="177" y="85"/>
                </a:lnTo>
                <a:lnTo>
                  <a:pt x="139" y="99"/>
                </a:lnTo>
                <a:lnTo>
                  <a:pt x="102" y="115"/>
                </a:lnTo>
                <a:lnTo>
                  <a:pt x="67" y="131"/>
                </a:lnTo>
                <a:lnTo>
                  <a:pt x="32" y="150"/>
                </a:lnTo>
                <a:lnTo>
                  <a:pt x="0" y="169"/>
                </a:lnTo>
                <a:lnTo>
                  <a:pt x="31" y="154"/>
                </a:lnTo>
                <a:lnTo>
                  <a:pt x="63" y="141"/>
                </a:lnTo>
                <a:lnTo>
                  <a:pt x="95" y="129"/>
                </a:lnTo>
                <a:lnTo>
                  <a:pt x="128" y="118"/>
                </a:lnTo>
                <a:lnTo>
                  <a:pt x="163" y="106"/>
                </a:lnTo>
                <a:lnTo>
                  <a:pt x="180" y="102"/>
                </a:lnTo>
                <a:lnTo>
                  <a:pt x="197" y="96"/>
                </a:lnTo>
                <a:lnTo>
                  <a:pt x="232" y="87"/>
                </a:lnTo>
                <a:lnTo>
                  <a:pt x="270" y="80"/>
                </a:lnTo>
                <a:lnTo>
                  <a:pt x="306" y="71"/>
                </a:lnTo>
                <a:lnTo>
                  <a:pt x="345" y="66"/>
                </a:lnTo>
                <a:lnTo>
                  <a:pt x="383" y="60"/>
                </a:lnTo>
                <a:lnTo>
                  <a:pt x="422" y="56"/>
                </a:lnTo>
                <a:lnTo>
                  <a:pt x="463" y="53"/>
                </a:lnTo>
                <a:lnTo>
                  <a:pt x="503" y="50"/>
                </a:lnTo>
                <a:lnTo>
                  <a:pt x="544" y="48"/>
                </a:lnTo>
                <a:lnTo>
                  <a:pt x="584" y="47"/>
                </a:lnTo>
                <a:lnTo>
                  <a:pt x="624" y="48"/>
                </a:lnTo>
                <a:lnTo>
                  <a:pt x="661" y="50"/>
                </a:lnTo>
                <a:lnTo>
                  <a:pt x="699" y="51"/>
                </a:lnTo>
                <a:lnTo>
                  <a:pt x="735" y="54"/>
                </a:lnTo>
                <a:lnTo>
                  <a:pt x="773" y="58"/>
                </a:lnTo>
                <a:lnTo>
                  <a:pt x="808" y="63"/>
                </a:lnTo>
                <a:lnTo>
                  <a:pt x="844" y="69"/>
                </a:lnTo>
                <a:lnTo>
                  <a:pt x="879" y="74"/>
                </a:lnTo>
                <a:lnTo>
                  <a:pt x="913" y="82"/>
                </a:lnTo>
                <a:lnTo>
                  <a:pt x="947" y="90"/>
                </a:lnTo>
                <a:lnTo>
                  <a:pt x="980" y="99"/>
                </a:lnTo>
                <a:lnTo>
                  <a:pt x="1012" y="108"/>
                </a:lnTo>
                <a:lnTo>
                  <a:pt x="1044" y="118"/>
                </a:lnTo>
                <a:lnTo>
                  <a:pt x="1074" y="128"/>
                </a:lnTo>
                <a:lnTo>
                  <a:pt x="1105" y="140"/>
                </a:lnTo>
                <a:lnTo>
                  <a:pt x="1134" y="153"/>
                </a:lnTo>
                <a:lnTo>
                  <a:pt x="1161" y="164"/>
                </a:lnTo>
                <a:lnTo>
                  <a:pt x="1189" y="177"/>
                </a:lnTo>
                <a:lnTo>
                  <a:pt x="1216" y="192"/>
                </a:lnTo>
                <a:lnTo>
                  <a:pt x="1241" y="206"/>
                </a:lnTo>
                <a:lnTo>
                  <a:pt x="1266" y="221"/>
                </a:lnTo>
                <a:lnTo>
                  <a:pt x="1290" y="237"/>
                </a:lnTo>
                <a:lnTo>
                  <a:pt x="1312" y="253"/>
                </a:lnTo>
                <a:lnTo>
                  <a:pt x="1334" y="269"/>
                </a:lnTo>
                <a:lnTo>
                  <a:pt x="1354" y="286"/>
                </a:lnTo>
                <a:lnTo>
                  <a:pt x="1374" y="303"/>
                </a:lnTo>
                <a:lnTo>
                  <a:pt x="1392" y="322"/>
                </a:lnTo>
                <a:lnTo>
                  <a:pt x="1409" y="340"/>
                </a:lnTo>
                <a:lnTo>
                  <a:pt x="1425" y="358"/>
                </a:lnTo>
                <a:lnTo>
                  <a:pt x="1440" y="379"/>
                </a:lnTo>
                <a:lnTo>
                  <a:pt x="1453" y="398"/>
                </a:lnTo>
                <a:lnTo>
                  <a:pt x="1466" y="418"/>
                </a:lnTo>
                <a:lnTo>
                  <a:pt x="1437" y="422"/>
                </a:lnTo>
                <a:lnTo>
                  <a:pt x="1409" y="427"/>
                </a:lnTo>
                <a:lnTo>
                  <a:pt x="1631" y="609"/>
                </a:lnTo>
                <a:lnTo>
                  <a:pt x="1599" y="338"/>
                </a:lnTo>
                <a:lnTo>
                  <a:pt x="1556" y="379"/>
                </a:lnTo>
                <a:close/>
              </a:path>
            </a:pathLst>
          </a:custGeom>
          <a:solidFill>
            <a:srgbClr val="FF0000">
              <a:alpha val="75000"/>
            </a:srgbClr>
          </a:solidFill>
          <a:ln w="9525">
            <a:noFill/>
            <a:round/>
            <a:headEnd/>
            <a:tailEnd/>
          </a:ln>
        </p:spPr>
        <p:txBody>
          <a:bodyPr/>
          <a:lstStyle/>
          <a:p>
            <a:endParaRPr lang="fr-FR"/>
          </a:p>
        </p:txBody>
      </p:sp>
      <p:graphicFrame>
        <p:nvGraphicFramePr>
          <p:cNvPr id="362876" name="Group 380"/>
          <p:cNvGraphicFramePr>
            <a:graphicFrameLocks noGrp="1"/>
          </p:cNvGraphicFramePr>
          <p:nvPr/>
        </p:nvGraphicFramePr>
        <p:xfrm>
          <a:off x="436795" y="4221163"/>
          <a:ext cx="8518519" cy="1105580"/>
        </p:xfrm>
        <a:graphic>
          <a:graphicData uri="http://schemas.openxmlformats.org/drawingml/2006/table">
            <a:tbl>
              <a:tblPr/>
              <a:tblGrid>
                <a:gridCol w="2001638">
                  <a:extLst>
                    <a:ext uri="{9D8B030D-6E8A-4147-A177-3AD203B41FA5}">
                      <a16:colId xmlns:a16="http://schemas.microsoft.com/office/drawing/2014/main" val="20000"/>
                    </a:ext>
                  </a:extLst>
                </a:gridCol>
                <a:gridCol w="6516881">
                  <a:extLst>
                    <a:ext uri="{9D8B030D-6E8A-4147-A177-3AD203B41FA5}">
                      <a16:colId xmlns:a16="http://schemas.microsoft.com/office/drawing/2014/main" val="20001"/>
                    </a:ext>
                  </a:extLst>
                </a:gridCol>
              </a:tblGrid>
              <a:tr h="110558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Arial Narrow" pitchFamily="34" charset="0"/>
                        </a:rPr>
                        <a:t> </a:t>
                      </a:r>
                      <a:r>
                        <a:rPr kumimoji="0" lang="en-US" sz="2200" b="1" i="0" u="none" strike="noStrike" cap="none" normalizeH="0" baseline="0" dirty="0" err="1">
                          <a:ln>
                            <a:noFill/>
                          </a:ln>
                          <a:solidFill>
                            <a:schemeClr val="tx1"/>
                          </a:solidFill>
                          <a:effectLst/>
                          <a:latin typeface="Arial Narrow" pitchFamily="34" charset="0"/>
                        </a:rPr>
                        <a:t>Authentification</a:t>
                      </a:r>
                      <a:endParaRPr kumimoji="0" lang="en-US" sz="2200" b="1" i="0" u="none" strike="noStrike" cap="none" normalizeH="0" baseline="0" dirty="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85000"/>
                        </a:lnSpc>
                        <a:spcBef>
                          <a:spcPct val="0"/>
                        </a:spcBef>
                        <a:spcAft>
                          <a:spcPct val="0"/>
                        </a:spcAft>
                        <a:buClr>
                          <a:schemeClr val="accent2"/>
                        </a:buClr>
                        <a:buSzTx/>
                        <a:buFont typeface="Wingdings" pitchFamily="2" charset="2"/>
                        <a:buNone/>
                        <a:tabLst/>
                      </a:pPr>
                      <a:r>
                        <a:rPr kumimoji="0" lang="fr-FR" sz="2200" b="1" i="0" u="none" strike="noStrike" cap="none" normalizeH="0" baseline="0" dirty="0">
                          <a:ln>
                            <a:noFill/>
                          </a:ln>
                          <a:solidFill>
                            <a:schemeClr val="tx1"/>
                          </a:solidFill>
                          <a:effectLst/>
                          <a:latin typeface="Arial Narrow" pitchFamily="34" charset="0"/>
                        </a:rPr>
                        <a:t>Vérifie l'identification d'un utilisateur distant auprès du service réseau auquel l'utilisateur tente d'accéder (ouverture de session interactive)</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sp>
        <p:nvSpPr>
          <p:cNvPr id="362884" name="AutoShape 388"/>
          <p:cNvSpPr>
            <a:spLocks noChangeArrowheads="1"/>
          </p:cNvSpPr>
          <p:nvPr/>
        </p:nvSpPr>
        <p:spPr bwMode="auto">
          <a:xfrm>
            <a:off x="75980" y="4600569"/>
            <a:ext cx="373062" cy="458788"/>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3400" b="1" dirty="0">
                <a:solidFill>
                  <a:srgbClr val="990033"/>
                </a:solidFill>
              </a:rPr>
              <a:t>1</a:t>
            </a:r>
          </a:p>
        </p:txBody>
      </p:sp>
      <p:sp>
        <p:nvSpPr>
          <p:cNvPr id="362885" name="AutoShape 389"/>
          <p:cNvSpPr>
            <a:spLocks noChangeArrowheads="1"/>
          </p:cNvSpPr>
          <p:nvPr/>
        </p:nvSpPr>
        <p:spPr bwMode="auto">
          <a:xfrm>
            <a:off x="3957638" y="1501775"/>
            <a:ext cx="373062" cy="458788"/>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3400" b="1">
                <a:solidFill>
                  <a:srgbClr val="990033"/>
                </a:solidFill>
              </a:rPr>
              <a:t>2</a:t>
            </a:r>
          </a:p>
        </p:txBody>
      </p:sp>
      <p:sp>
        <p:nvSpPr>
          <p:cNvPr id="362886" name="AutoShape 390"/>
          <p:cNvSpPr>
            <a:spLocks noChangeArrowheads="1"/>
          </p:cNvSpPr>
          <p:nvPr/>
        </p:nvSpPr>
        <p:spPr bwMode="auto">
          <a:xfrm>
            <a:off x="6831013" y="1501775"/>
            <a:ext cx="373062" cy="458788"/>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3400" b="1">
                <a:solidFill>
                  <a:srgbClr val="990033"/>
                </a:solidFill>
              </a:rPr>
              <a:t>1</a:t>
            </a:r>
          </a:p>
        </p:txBody>
      </p:sp>
      <p:graphicFrame>
        <p:nvGraphicFramePr>
          <p:cNvPr id="362887" name="Group 391"/>
          <p:cNvGraphicFramePr>
            <a:graphicFrameLocks noGrp="1"/>
          </p:cNvGraphicFramePr>
          <p:nvPr/>
        </p:nvGraphicFramePr>
        <p:xfrm>
          <a:off x="436795" y="5346015"/>
          <a:ext cx="8518519" cy="946404"/>
        </p:xfrm>
        <a:graphic>
          <a:graphicData uri="http://schemas.openxmlformats.org/drawingml/2006/table">
            <a:tbl>
              <a:tblPr/>
              <a:tblGrid>
                <a:gridCol w="2001638">
                  <a:extLst>
                    <a:ext uri="{9D8B030D-6E8A-4147-A177-3AD203B41FA5}">
                      <a16:colId xmlns:a16="http://schemas.microsoft.com/office/drawing/2014/main" val="20000"/>
                    </a:ext>
                  </a:extLst>
                </a:gridCol>
                <a:gridCol w="6516881">
                  <a:extLst>
                    <a:ext uri="{9D8B030D-6E8A-4147-A177-3AD203B41FA5}">
                      <a16:colId xmlns:a16="http://schemas.microsoft.com/office/drawing/2014/main" val="20001"/>
                    </a:ext>
                  </a:extLst>
                </a:gridCol>
              </a:tblGrid>
              <a:tr h="585788">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Narrow" pitchFamily="34" charset="0"/>
                        </a:rPr>
                        <a:t> </a:t>
                      </a:r>
                      <a:r>
                        <a:rPr kumimoji="0" lang="en-US" sz="2200" b="1" i="0" u="none" strike="noStrike" cap="none" normalizeH="0" baseline="0" dirty="0" err="1">
                          <a:ln>
                            <a:noFill/>
                          </a:ln>
                          <a:solidFill>
                            <a:schemeClr val="tx1"/>
                          </a:solidFill>
                          <a:effectLst/>
                          <a:latin typeface="Arial Narrow" pitchFamily="34" charset="0"/>
                        </a:rPr>
                        <a:t>Autorisation</a:t>
                      </a:r>
                      <a:endParaRPr kumimoji="0" lang="en-US" sz="2200" b="1" i="0" u="none" strike="noStrike" cap="none" normalizeH="0" baseline="0" dirty="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85000"/>
                        </a:lnSpc>
                        <a:spcBef>
                          <a:spcPct val="0"/>
                        </a:spcBef>
                        <a:spcAft>
                          <a:spcPct val="0"/>
                        </a:spcAft>
                        <a:buClr>
                          <a:schemeClr val="accent2"/>
                        </a:buClr>
                        <a:buSzTx/>
                        <a:buFont typeface="Wingdings" pitchFamily="2" charset="2"/>
                        <a:buNone/>
                        <a:tabLst/>
                      </a:pPr>
                      <a:r>
                        <a:rPr kumimoji="0" lang="fr-FR" sz="2200" b="1" i="0" u="none" strike="noStrike" cap="none" normalizeH="0" baseline="0" dirty="0">
                          <a:ln>
                            <a:noFill/>
                          </a:ln>
                          <a:solidFill>
                            <a:schemeClr val="tx1"/>
                          </a:solidFill>
                          <a:effectLst/>
                          <a:latin typeface="Arial Narrow" pitchFamily="34" charset="0"/>
                        </a:rPr>
                        <a:t>Vérifie que la tentative de connexion est autorisée ; </a:t>
                      </a:r>
                      <a:br>
                        <a:rPr kumimoji="0" lang="fr-FR" sz="2200" b="1" i="0" u="none" strike="noStrike" cap="none" normalizeH="0" baseline="0" dirty="0">
                          <a:ln>
                            <a:noFill/>
                          </a:ln>
                          <a:solidFill>
                            <a:schemeClr val="tx1"/>
                          </a:solidFill>
                          <a:effectLst/>
                          <a:latin typeface="Arial Narrow" pitchFamily="34" charset="0"/>
                        </a:rPr>
                      </a:br>
                      <a:r>
                        <a:rPr kumimoji="0" lang="fr-FR" sz="2200" b="1" i="0" u="none" strike="noStrike" cap="none" normalizeH="0" baseline="0" dirty="0">
                          <a:ln>
                            <a:noFill/>
                          </a:ln>
                          <a:solidFill>
                            <a:schemeClr val="tx1"/>
                          </a:solidFill>
                          <a:effectLst/>
                          <a:latin typeface="Arial Narrow" pitchFamily="34" charset="0"/>
                        </a:rPr>
                        <a:t>la procédure d'autorisation a lieu après une tentative d'ouverture de session réussie</a:t>
                      </a:r>
                    </a:p>
                  </a:txBody>
                  <a:tcP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0"/>
                  </a:ext>
                </a:extLst>
              </a:tr>
            </a:tbl>
          </a:graphicData>
        </a:graphic>
      </p:graphicFrame>
      <p:sp>
        <p:nvSpPr>
          <p:cNvPr id="362895" name="AutoShape 399"/>
          <p:cNvSpPr>
            <a:spLocks noChangeArrowheads="1"/>
          </p:cNvSpPr>
          <p:nvPr/>
        </p:nvSpPr>
        <p:spPr bwMode="auto">
          <a:xfrm>
            <a:off x="83917" y="5615433"/>
            <a:ext cx="373063" cy="458787"/>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3400" b="1" dirty="0">
                <a:solidFill>
                  <a:srgbClr val="990033"/>
                </a:solidFill>
              </a:rPr>
              <a:t>2</a:t>
            </a:r>
          </a:p>
        </p:txBody>
      </p:sp>
      <p:pic>
        <p:nvPicPr>
          <p:cNvPr id="362896" name="Picture 400" descr="Validated01"/>
          <p:cNvPicPr>
            <a:picLocks noChangeAspect="1" noChangeArrowheads="1"/>
          </p:cNvPicPr>
          <p:nvPr/>
        </p:nvPicPr>
        <p:blipFill>
          <a:blip r:embed="rId8" cstate="print"/>
          <a:srcRect/>
          <a:stretch>
            <a:fillRect/>
          </a:stretch>
        </p:blipFill>
        <p:spPr bwMode="auto">
          <a:xfrm>
            <a:off x="5165725" y="3314700"/>
            <a:ext cx="595313" cy="615950"/>
          </a:xfrm>
          <a:prstGeom prst="rect">
            <a:avLst/>
          </a:prstGeom>
          <a:noFill/>
        </p:spPr>
      </p:pic>
      <p:pic>
        <p:nvPicPr>
          <p:cNvPr id="362897" name="Picture 401" descr="Validated01"/>
          <p:cNvPicPr>
            <a:picLocks noChangeAspect="1" noChangeArrowheads="1"/>
          </p:cNvPicPr>
          <p:nvPr/>
        </p:nvPicPr>
        <p:blipFill>
          <a:blip r:embed="rId8" cstate="print"/>
          <a:srcRect/>
          <a:stretch>
            <a:fillRect/>
          </a:stretch>
        </p:blipFill>
        <p:spPr bwMode="auto">
          <a:xfrm>
            <a:off x="7426325" y="3306763"/>
            <a:ext cx="595313" cy="615950"/>
          </a:xfrm>
          <a:prstGeom prst="rect">
            <a:avLst/>
          </a:prstGeom>
          <a:noFill/>
        </p:spPr>
      </p:pic>
      <p:grpSp>
        <p:nvGrpSpPr>
          <p:cNvPr id="362898" name="Group 402"/>
          <p:cNvGrpSpPr>
            <a:grpSpLocks/>
          </p:cNvGrpSpPr>
          <p:nvPr/>
        </p:nvGrpSpPr>
        <p:grpSpPr bwMode="auto">
          <a:xfrm>
            <a:off x="130638" y="6283774"/>
            <a:ext cx="914400" cy="425450"/>
            <a:chOff x="384" y="3024"/>
            <a:chExt cx="720" cy="336"/>
          </a:xfrm>
        </p:grpSpPr>
        <p:sp>
          <p:nvSpPr>
            <p:cNvPr id="362899" name="Oval 403"/>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endParaRPr lang="fr-FR"/>
            </a:p>
          </p:txBody>
        </p:sp>
        <p:grpSp>
          <p:nvGrpSpPr>
            <p:cNvPr id="362900" name="Group 404"/>
            <p:cNvGrpSpPr>
              <a:grpSpLocks/>
            </p:cNvGrpSpPr>
            <p:nvPr/>
          </p:nvGrpSpPr>
          <p:grpSpPr bwMode="auto">
            <a:xfrm>
              <a:off x="480" y="3096"/>
              <a:ext cx="240" cy="192"/>
              <a:chOff x="480" y="3096"/>
              <a:chExt cx="240" cy="192"/>
            </a:xfrm>
          </p:grpSpPr>
          <p:sp>
            <p:nvSpPr>
              <p:cNvPr id="362901" name="Oval 405"/>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362902" name="Freeform 406"/>
              <p:cNvSpPr>
                <a:spLocks/>
              </p:cNvSpPr>
              <p:nvPr/>
            </p:nvSpPr>
            <p:spPr bwMode="auto">
              <a:xfrm>
                <a:off x="539" y="3123"/>
                <a:ext cx="138" cy="132"/>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endParaRPr lang="fr-FR"/>
              </a:p>
            </p:txBody>
          </p:sp>
        </p:grpSp>
      </p:grpSp>
      <p:grpSp>
        <p:nvGrpSpPr>
          <p:cNvPr id="362903" name="Group 407"/>
          <p:cNvGrpSpPr>
            <a:grpSpLocks/>
          </p:cNvGrpSpPr>
          <p:nvPr/>
        </p:nvGrpSpPr>
        <p:grpSpPr bwMode="auto">
          <a:xfrm>
            <a:off x="618001" y="6374262"/>
            <a:ext cx="304800" cy="244475"/>
            <a:chOff x="768" y="3096"/>
            <a:chExt cx="240" cy="192"/>
          </a:xfrm>
        </p:grpSpPr>
        <p:sp>
          <p:nvSpPr>
            <p:cNvPr id="362904" name="Oval 408"/>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362905" name="Rectangle 409"/>
            <p:cNvSpPr>
              <a:spLocks noChangeArrowheads="1"/>
            </p:cNvSpPr>
            <p:nvPr/>
          </p:nvSpPr>
          <p:spPr bwMode="auto">
            <a:xfrm>
              <a:off x="840" y="3144"/>
              <a:ext cx="96"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endParaRPr lang="fr-F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62876"/>
                                        </p:tgtEl>
                                        <p:attrNameLst>
                                          <p:attrName>style.visibility</p:attrName>
                                        </p:attrNameLst>
                                      </p:cBhvr>
                                      <p:to>
                                        <p:strVal val="visible"/>
                                      </p:to>
                                    </p:set>
                                    <p:animEffect transition="in" filter="wipe(left)">
                                      <p:cBhvr>
                                        <p:cTn id="7" dur="500"/>
                                        <p:tgtEl>
                                          <p:spTgt spid="362876"/>
                                        </p:tgtEl>
                                      </p:cBhvr>
                                    </p:animEffect>
                                  </p:childTnLst>
                                </p:cTn>
                              </p:par>
                              <p:par>
                                <p:cTn id="8" presetID="1" presetClass="entr" presetSubtype="0" fill="hold" grpId="0" nodeType="withEffect">
                                  <p:stCondLst>
                                    <p:cond delay="0"/>
                                  </p:stCondLst>
                                  <p:childTnLst>
                                    <p:set>
                                      <p:cBhvr>
                                        <p:cTn id="9" dur="1" fill="hold">
                                          <p:stCondLst>
                                            <p:cond delay="0"/>
                                          </p:stCondLst>
                                        </p:cTn>
                                        <p:tgtEl>
                                          <p:spTgt spid="362884"/>
                                        </p:tgtEl>
                                        <p:attrNameLst>
                                          <p:attrName>style.visibility</p:attrName>
                                        </p:attrNameLst>
                                      </p:cBhvr>
                                      <p:to>
                                        <p:strVal val="visible"/>
                                      </p:to>
                                    </p:set>
                                  </p:childTnLst>
                                </p:cTn>
                              </p:par>
                            </p:childTnLst>
                          </p:cTn>
                        </p:par>
                        <p:par>
                          <p:cTn id="10" fill="hold">
                            <p:stCondLst>
                              <p:cond delay="500"/>
                            </p:stCondLst>
                            <p:childTnLst>
                              <p:par>
                                <p:cTn id="11" presetID="22" presetClass="entr" presetSubtype="8" fill="hold" grpId="0" nodeType="afterEffect">
                                  <p:stCondLst>
                                    <p:cond delay="0"/>
                                  </p:stCondLst>
                                  <p:childTnLst>
                                    <p:set>
                                      <p:cBhvr>
                                        <p:cTn id="12" dur="1" fill="hold">
                                          <p:stCondLst>
                                            <p:cond delay="0"/>
                                          </p:stCondLst>
                                        </p:cTn>
                                        <p:tgtEl>
                                          <p:spTgt spid="362866"/>
                                        </p:tgtEl>
                                        <p:attrNameLst>
                                          <p:attrName>style.visibility</p:attrName>
                                        </p:attrNameLst>
                                      </p:cBhvr>
                                      <p:to>
                                        <p:strVal val="visible"/>
                                      </p:to>
                                    </p:set>
                                    <p:animEffect transition="in" filter="wipe(left)">
                                      <p:cBhvr>
                                        <p:cTn id="13" dur="1000"/>
                                        <p:tgtEl>
                                          <p:spTgt spid="362866"/>
                                        </p:tgtEl>
                                      </p:cBhvr>
                                    </p:animEffect>
                                  </p:childTnLst>
                                </p:cTn>
                              </p:par>
                            </p:childTnLst>
                          </p:cTn>
                        </p:par>
                        <p:par>
                          <p:cTn id="14" fill="hold">
                            <p:stCondLst>
                              <p:cond delay="1500"/>
                            </p:stCondLst>
                            <p:childTnLst>
                              <p:par>
                                <p:cTn id="15" presetID="1" presetClass="entr" presetSubtype="0" fill="hold" grpId="0" nodeType="afterEffect">
                                  <p:stCondLst>
                                    <p:cond delay="0"/>
                                  </p:stCondLst>
                                  <p:childTnLst>
                                    <p:set>
                                      <p:cBhvr>
                                        <p:cTn id="16" dur="1" fill="hold">
                                          <p:stCondLst>
                                            <p:cond delay="0"/>
                                          </p:stCondLst>
                                        </p:cTn>
                                        <p:tgtEl>
                                          <p:spTgt spid="362886"/>
                                        </p:tgtEl>
                                        <p:attrNameLst>
                                          <p:attrName>style.visibility</p:attrName>
                                        </p:attrNameLst>
                                      </p:cBhvr>
                                      <p:to>
                                        <p:strVal val="visible"/>
                                      </p:to>
                                    </p:set>
                                  </p:childTnLst>
                                </p:cTn>
                              </p:par>
                            </p:childTnLst>
                          </p:cTn>
                        </p:par>
                        <p:par>
                          <p:cTn id="17" fill="hold">
                            <p:stCondLst>
                              <p:cond delay="1500"/>
                            </p:stCondLst>
                            <p:childTnLst>
                              <p:par>
                                <p:cTn id="18" presetID="18" presetClass="entr" presetSubtype="3" fill="hold" grpId="0" nodeType="afterEffect">
                                  <p:stCondLst>
                                    <p:cond delay="0"/>
                                  </p:stCondLst>
                                  <p:childTnLst>
                                    <p:set>
                                      <p:cBhvr>
                                        <p:cTn id="19" dur="1" fill="hold">
                                          <p:stCondLst>
                                            <p:cond delay="0"/>
                                          </p:stCondLst>
                                        </p:cTn>
                                        <p:tgtEl>
                                          <p:spTgt spid="362874"/>
                                        </p:tgtEl>
                                        <p:attrNameLst>
                                          <p:attrName>style.visibility</p:attrName>
                                        </p:attrNameLst>
                                      </p:cBhvr>
                                      <p:to>
                                        <p:strVal val="visible"/>
                                      </p:to>
                                    </p:set>
                                    <p:animEffect transition="in" filter="strips(upRight)">
                                      <p:cBhvr>
                                        <p:cTn id="20" dur="1000"/>
                                        <p:tgtEl>
                                          <p:spTgt spid="362874"/>
                                        </p:tgtEl>
                                      </p:cBhvr>
                                    </p:animEffect>
                                  </p:childTnLst>
                                </p:cTn>
                              </p:par>
                            </p:childTnLst>
                          </p:cTn>
                        </p:par>
                        <p:par>
                          <p:cTn id="21" fill="hold">
                            <p:stCondLst>
                              <p:cond delay="2500"/>
                            </p:stCondLst>
                            <p:childTnLst>
                              <p:par>
                                <p:cTn id="22" presetID="18" presetClass="entr" presetSubtype="9" fill="hold" grpId="0" nodeType="afterEffect">
                                  <p:stCondLst>
                                    <p:cond delay="0"/>
                                  </p:stCondLst>
                                  <p:childTnLst>
                                    <p:set>
                                      <p:cBhvr>
                                        <p:cTn id="23" dur="1" fill="hold">
                                          <p:stCondLst>
                                            <p:cond delay="0"/>
                                          </p:stCondLst>
                                        </p:cTn>
                                        <p:tgtEl>
                                          <p:spTgt spid="362875"/>
                                        </p:tgtEl>
                                        <p:attrNameLst>
                                          <p:attrName>style.visibility</p:attrName>
                                        </p:attrNameLst>
                                      </p:cBhvr>
                                      <p:to>
                                        <p:strVal val="visible"/>
                                      </p:to>
                                    </p:set>
                                    <p:animEffect transition="in" filter="strips(upLeft)">
                                      <p:cBhvr>
                                        <p:cTn id="24" dur="1000"/>
                                        <p:tgtEl>
                                          <p:spTgt spid="362875"/>
                                        </p:tgtEl>
                                      </p:cBhvr>
                                    </p:animEffect>
                                  </p:childTnLst>
                                </p:cTn>
                              </p:par>
                            </p:childTnLst>
                          </p:cTn>
                        </p:par>
                        <p:par>
                          <p:cTn id="25" fill="hold">
                            <p:stCondLst>
                              <p:cond delay="3500"/>
                            </p:stCondLst>
                            <p:childTnLst>
                              <p:par>
                                <p:cTn id="26" presetID="1" presetClass="entr" presetSubtype="0" fill="hold" nodeType="afterEffect">
                                  <p:stCondLst>
                                    <p:cond delay="0"/>
                                  </p:stCondLst>
                                  <p:childTnLst>
                                    <p:set>
                                      <p:cBhvr>
                                        <p:cTn id="27" dur="1" fill="hold">
                                          <p:stCondLst>
                                            <p:cond delay="0"/>
                                          </p:stCondLst>
                                        </p:cTn>
                                        <p:tgtEl>
                                          <p:spTgt spid="36289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62887"/>
                                        </p:tgtEl>
                                        <p:attrNameLst>
                                          <p:attrName>style.visibility</p:attrName>
                                        </p:attrNameLst>
                                      </p:cBhvr>
                                      <p:to>
                                        <p:strVal val="visible"/>
                                      </p:to>
                                    </p:set>
                                    <p:animEffect transition="in" filter="wipe(left)">
                                      <p:cBhvr>
                                        <p:cTn id="32" dur="500"/>
                                        <p:tgtEl>
                                          <p:spTgt spid="362887"/>
                                        </p:tgtEl>
                                      </p:cBhvr>
                                    </p:animEffect>
                                  </p:childTnLst>
                                </p:cTn>
                              </p:par>
                              <p:par>
                                <p:cTn id="33" presetID="1" presetClass="entr" presetSubtype="0" fill="hold" grpId="0" nodeType="withEffect">
                                  <p:stCondLst>
                                    <p:cond delay="0"/>
                                  </p:stCondLst>
                                  <p:childTnLst>
                                    <p:set>
                                      <p:cBhvr>
                                        <p:cTn id="34" dur="1" fill="hold">
                                          <p:stCondLst>
                                            <p:cond delay="0"/>
                                          </p:stCondLst>
                                        </p:cTn>
                                        <p:tgtEl>
                                          <p:spTgt spid="362895"/>
                                        </p:tgtEl>
                                        <p:attrNameLst>
                                          <p:attrName>style.visibility</p:attrName>
                                        </p:attrNameLst>
                                      </p:cBhvr>
                                      <p:to>
                                        <p:strVal val="visible"/>
                                      </p:to>
                                    </p:set>
                                  </p:childTnLst>
                                </p:cTn>
                              </p:par>
                              <p:par>
                                <p:cTn id="35" presetID="22" presetClass="entr" presetSubtype="8" fill="hold" nodeType="withEffect">
                                  <p:stCondLst>
                                    <p:cond delay="0"/>
                                  </p:stCondLst>
                                  <p:childTnLst>
                                    <p:set>
                                      <p:cBhvr>
                                        <p:cTn id="36" dur="1" fill="hold">
                                          <p:stCondLst>
                                            <p:cond delay="0"/>
                                          </p:stCondLst>
                                        </p:cTn>
                                        <p:tgtEl>
                                          <p:spTgt spid="362887"/>
                                        </p:tgtEl>
                                        <p:attrNameLst>
                                          <p:attrName>style.visibility</p:attrName>
                                        </p:attrNameLst>
                                      </p:cBhvr>
                                      <p:to>
                                        <p:strVal val="visible"/>
                                      </p:to>
                                    </p:set>
                                    <p:animEffect transition="in" filter="wipe(left)">
                                      <p:cBhvr>
                                        <p:cTn id="37" dur="500"/>
                                        <p:tgtEl>
                                          <p:spTgt spid="362887"/>
                                        </p:tgtEl>
                                      </p:cBhvr>
                                    </p:animEffect>
                                  </p:childTnLst>
                                </p:cTn>
                              </p:par>
                            </p:childTnLst>
                          </p:cTn>
                        </p:par>
                        <p:par>
                          <p:cTn id="38" fill="hold">
                            <p:stCondLst>
                              <p:cond delay="500"/>
                            </p:stCondLst>
                            <p:childTnLst>
                              <p:par>
                                <p:cTn id="39" presetID="1" presetClass="entr" presetSubtype="0" fill="hold" grpId="0" nodeType="afterEffect">
                                  <p:stCondLst>
                                    <p:cond delay="0"/>
                                  </p:stCondLst>
                                  <p:childTnLst>
                                    <p:set>
                                      <p:cBhvr>
                                        <p:cTn id="40" dur="1" fill="hold">
                                          <p:stCondLst>
                                            <p:cond delay="0"/>
                                          </p:stCondLst>
                                        </p:cTn>
                                        <p:tgtEl>
                                          <p:spTgt spid="362885"/>
                                        </p:tgtEl>
                                        <p:attrNameLst>
                                          <p:attrName>style.visibility</p:attrName>
                                        </p:attrNameLst>
                                      </p:cBhvr>
                                      <p:to>
                                        <p:strVal val="visible"/>
                                      </p:to>
                                    </p:set>
                                  </p:childTnLst>
                                </p:cTn>
                              </p:par>
                              <p:par>
                                <p:cTn id="41" presetID="26" presetClass="emph" presetSubtype="0" fill="hold" nodeType="withEffect">
                                  <p:stCondLst>
                                    <p:cond delay="0"/>
                                  </p:stCondLst>
                                  <p:childTnLst>
                                    <p:animEffect transition="out" filter="fade">
                                      <p:cBhvr>
                                        <p:cTn id="42" dur="1000" tmFilter="0, 0; .2, .5; .8, .5; 1, 0"/>
                                        <p:tgtEl>
                                          <p:spTgt spid="362865"/>
                                        </p:tgtEl>
                                      </p:cBhvr>
                                    </p:animEffect>
                                    <p:animScale>
                                      <p:cBhvr>
                                        <p:cTn id="43" dur="500" autoRev="1" fill="hold"/>
                                        <p:tgtEl>
                                          <p:spTgt spid="362865"/>
                                        </p:tgtEl>
                                      </p:cBhvr>
                                      <p:by x="105000" y="105000"/>
                                    </p:animScale>
                                  </p:childTnLst>
                                </p:cTn>
                              </p:par>
                            </p:childTnLst>
                          </p:cTn>
                        </p:par>
                        <p:par>
                          <p:cTn id="44" fill="hold">
                            <p:stCondLst>
                              <p:cond delay="1500"/>
                            </p:stCondLst>
                            <p:childTnLst>
                              <p:par>
                                <p:cTn id="45" presetID="1" presetClass="entr" presetSubtype="0" fill="hold" nodeType="afterEffect">
                                  <p:stCondLst>
                                    <p:cond delay="0"/>
                                  </p:stCondLst>
                                  <p:childTnLst>
                                    <p:set>
                                      <p:cBhvr>
                                        <p:cTn id="46" dur="1" fill="hold">
                                          <p:stCondLst>
                                            <p:cond delay="0"/>
                                          </p:stCondLst>
                                        </p:cTn>
                                        <p:tgtEl>
                                          <p:spTgt spid="362896"/>
                                        </p:tgtEl>
                                        <p:attrNameLst>
                                          <p:attrName>style.visibility</p:attrName>
                                        </p:attrNameLst>
                                      </p:cBhvr>
                                      <p:to>
                                        <p:strVal val="visible"/>
                                      </p:to>
                                    </p:set>
                                  </p:childTnLst>
                                </p:cTn>
                              </p:par>
                            </p:childTnLst>
                          </p:cTn>
                        </p:par>
                        <p:par>
                          <p:cTn id="47" fill="hold">
                            <p:stCondLst>
                              <p:cond delay="1500"/>
                            </p:stCondLst>
                            <p:childTnLst>
                              <p:par>
                                <p:cTn id="48" presetID="1" presetClass="entr" presetSubtype="0" fill="hold" nodeType="afterEffect">
                                  <p:stCondLst>
                                    <p:cond delay="0"/>
                                  </p:stCondLst>
                                  <p:childTnLst>
                                    <p:set>
                                      <p:cBhvr>
                                        <p:cTn id="49" dur="1" fill="hold">
                                          <p:stCondLst>
                                            <p:cond delay="0"/>
                                          </p:stCondLst>
                                        </p:cTn>
                                        <p:tgtEl>
                                          <p:spTgt spid="3629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2866" grpId="0" animBg="1"/>
      <p:bldP spid="362874" grpId="0" animBg="1"/>
      <p:bldP spid="362875" grpId="0" animBg="1"/>
      <p:bldP spid="362884" grpId="0" animBg="1"/>
      <p:bldP spid="362885" grpId="0" animBg="1"/>
      <p:bldP spid="362886" grpId="0" animBg="1"/>
      <p:bldP spid="36289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5" name="Rectangle 7"/>
          <p:cNvSpPr>
            <a:spLocks noGrp="1" noChangeArrowheads="1"/>
          </p:cNvSpPr>
          <p:nvPr>
            <p:ph type="title"/>
            <p:custDataLst>
              <p:tags r:id="rId1"/>
            </p:custDataLst>
          </p:nvPr>
        </p:nvSpPr>
        <p:spPr>
          <a:xfrm>
            <a:off x="174171" y="228600"/>
            <a:ext cx="8795658" cy="656771"/>
          </a:xfrm>
        </p:spPr>
        <p:txBody>
          <a:bodyPr vert="horz" anchor="b">
            <a:normAutofit/>
          </a:bodyPr>
          <a:lstStyle/>
          <a:p>
            <a:r>
              <a:rPr lang="fr-FR" sz="2800" dirty="0">
                <a:solidFill>
                  <a:srgbClr val="C00000"/>
                </a:solidFill>
              </a:rPr>
              <a:t>Les méthodes d'authentification</a:t>
            </a:r>
            <a:endParaRPr sz="2800" dirty="0">
              <a:solidFill>
                <a:srgbClr val="C00000"/>
              </a:solidFill>
            </a:endParaRPr>
          </a:p>
        </p:txBody>
      </p:sp>
      <p:graphicFrame>
        <p:nvGraphicFramePr>
          <p:cNvPr id="29" name="Tableau 28"/>
          <p:cNvGraphicFramePr>
            <a:graphicFrameLocks noGrp="1"/>
          </p:cNvGraphicFramePr>
          <p:nvPr/>
        </p:nvGraphicFramePr>
        <p:xfrm>
          <a:off x="72570" y="1338942"/>
          <a:ext cx="9027888" cy="5262155"/>
        </p:xfrm>
        <a:graphic>
          <a:graphicData uri="http://schemas.openxmlformats.org/drawingml/2006/table">
            <a:tbl>
              <a:tblPr firstRow="1" bandRow="1">
                <a:tableStyleId>{5C22544A-7EE6-4342-B048-85BDC9FD1C3A}</a:tableStyleId>
              </a:tblPr>
              <a:tblGrid>
                <a:gridCol w="3178630">
                  <a:extLst>
                    <a:ext uri="{9D8B030D-6E8A-4147-A177-3AD203B41FA5}">
                      <a16:colId xmlns:a16="http://schemas.microsoft.com/office/drawing/2014/main" val="20000"/>
                    </a:ext>
                  </a:extLst>
                </a:gridCol>
                <a:gridCol w="5849258">
                  <a:extLst>
                    <a:ext uri="{9D8B030D-6E8A-4147-A177-3AD203B41FA5}">
                      <a16:colId xmlns:a16="http://schemas.microsoft.com/office/drawing/2014/main" val="20001"/>
                    </a:ext>
                  </a:extLst>
                </a:gridCol>
              </a:tblGrid>
              <a:tr h="359228">
                <a:tc>
                  <a:txBody>
                    <a:bodyPr/>
                    <a:lstStyle/>
                    <a:p>
                      <a:pPr algn="ctr"/>
                      <a:r>
                        <a:rPr lang="fr-FR" sz="1800" b="1" dirty="0">
                          <a:solidFill>
                            <a:schemeClr val="tx1"/>
                          </a:solidFill>
                        </a:rPr>
                        <a:t>Méthode  d’authentification </a:t>
                      </a:r>
                      <a:endParaRPr lang="fr-FR" sz="1800" dirty="0">
                        <a:solidFill>
                          <a:schemeClr val="tx1"/>
                        </a:solidFill>
                      </a:endParaRPr>
                    </a:p>
                  </a:txBody>
                  <a:tcPr/>
                </a:tc>
                <a:tc>
                  <a:txBody>
                    <a:bodyPr/>
                    <a:lstStyle/>
                    <a:p>
                      <a:pPr algn="ctr"/>
                      <a:r>
                        <a:rPr lang="fr-FR" sz="1800" b="1" dirty="0">
                          <a:solidFill>
                            <a:schemeClr val="tx1"/>
                          </a:solidFill>
                        </a:rPr>
                        <a:t>Description</a:t>
                      </a:r>
                      <a:endParaRPr lang="fr-FR" sz="1800" dirty="0">
                        <a:solidFill>
                          <a:schemeClr val="tx1"/>
                        </a:solidFill>
                      </a:endParaRPr>
                    </a:p>
                  </a:txBody>
                  <a:tcPr/>
                </a:tc>
                <a:extLst>
                  <a:ext uri="{0D108BD9-81ED-4DB2-BD59-A6C34878D82A}">
                    <a16:rowId xmlns:a16="http://schemas.microsoft.com/office/drawing/2014/main" val="10000"/>
                  </a:ext>
                </a:extLst>
              </a:tr>
              <a:tr h="648064">
                <a:tc>
                  <a:txBody>
                    <a:bodyPr/>
                    <a:lstStyle/>
                    <a:p>
                      <a:r>
                        <a:rPr lang="fr-FR" sz="1800" b="1" u="sng" dirty="0"/>
                        <a:t>CHAP</a:t>
                      </a:r>
                      <a:r>
                        <a:rPr lang="fr-FR" sz="1800" b="1" dirty="0"/>
                        <a:t> (</a:t>
                      </a:r>
                      <a:r>
                        <a:rPr lang="fr-FR" sz="1700" b="0" dirty="0">
                          <a:solidFill>
                            <a:srgbClr val="C00000"/>
                          </a:solidFill>
                        </a:rPr>
                        <a:t>Challenge </a:t>
                      </a:r>
                      <a:r>
                        <a:rPr lang="fr-FR" sz="1700" b="0" dirty="0" err="1">
                          <a:solidFill>
                            <a:srgbClr val="C00000"/>
                          </a:solidFill>
                        </a:rPr>
                        <a:t>Handshake</a:t>
                      </a:r>
                      <a:r>
                        <a:rPr lang="fr-FR" sz="1700" b="0" dirty="0">
                          <a:solidFill>
                            <a:srgbClr val="C00000"/>
                          </a:solidFill>
                        </a:rPr>
                        <a:t> </a:t>
                      </a:r>
                      <a:r>
                        <a:rPr lang="fr-FR" sz="1700" b="0" dirty="0" err="1">
                          <a:solidFill>
                            <a:srgbClr val="C00000"/>
                          </a:solidFill>
                        </a:rPr>
                        <a:t>Authentication</a:t>
                      </a:r>
                      <a:r>
                        <a:rPr lang="fr-FR" sz="1700" b="0" dirty="0">
                          <a:solidFill>
                            <a:srgbClr val="C00000"/>
                          </a:solidFill>
                        </a:rPr>
                        <a:t> Protocol</a:t>
                      </a:r>
                      <a:r>
                        <a:rPr lang="fr-FR" sz="1800" b="1" dirty="0"/>
                        <a:t>)</a:t>
                      </a:r>
                    </a:p>
                  </a:txBody>
                  <a:tcPr/>
                </a:tc>
                <a:tc>
                  <a:txBody>
                    <a:bodyPr/>
                    <a:lstStyle/>
                    <a:p>
                      <a:r>
                        <a:rPr lang="fr-FR" sz="1800" dirty="0"/>
                        <a:t>• Utilisé par plusieurs fournisseurs de clients et serveurs d’accès distant.</a:t>
                      </a:r>
                    </a:p>
                  </a:txBody>
                  <a:tcPr/>
                </a:tc>
                <a:extLst>
                  <a:ext uri="{0D108BD9-81ED-4DB2-BD59-A6C34878D82A}">
                    <a16:rowId xmlns:a16="http://schemas.microsoft.com/office/drawing/2014/main" val="10001"/>
                  </a:ext>
                </a:extLst>
              </a:tr>
              <a:tr h="627633">
                <a:tc>
                  <a:txBody>
                    <a:bodyPr/>
                    <a:lstStyle/>
                    <a:p>
                      <a:r>
                        <a:rPr lang="fr-FR" sz="1800" b="1" u="sng" dirty="0"/>
                        <a:t>PAP</a:t>
                      </a:r>
                      <a:r>
                        <a:rPr lang="fr-FR" sz="1800" b="1" dirty="0"/>
                        <a:t> (</a:t>
                      </a:r>
                      <a:r>
                        <a:rPr kumimoji="0" lang="fr-FR" sz="1700" b="0" kern="1200" dirty="0" err="1">
                          <a:solidFill>
                            <a:srgbClr val="C00000"/>
                          </a:solidFill>
                          <a:latin typeface="+mn-lt"/>
                          <a:ea typeface="+mn-ea"/>
                          <a:cs typeface="+mn-cs"/>
                        </a:rPr>
                        <a:t>Password</a:t>
                      </a:r>
                      <a:endParaRPr kumimoji="0" lang="fr-FR" sz="1700" b="0" kern="1200" dirty="0">
                        <a:solidFill>
                          <a:srgbClr val="C00000"/>
                        </a:solidFill>
                        <a:latin typeface="+mn-lt"/>
                        <a:ea typeface="+mn-ea"/>
                        <a:cs typeface="+mn-cs"/>
                      </a:endParaRPr>
                    </a:p>
                    <a:p>
                      <a:r>
                        <a:rPr kumimoji="0" lang="fr-FR" sz="1700" b="0" kern="1200" dirty="0" err="1">
                          <a:solidFill>
                            <a:srgbClr val="C00000"/>
                          </a:solidFill>
                          <a:latin typeface="+mn-lt"/>
                          <a:ea typeface="+mn-ea"/>
                          <a:cs typeface="+mn-cs"/>
                        </a:rPr>
                        <a:t>Authentication</a:t>
                      </a:r>
                      <a:r>
                        <a:rPr kumimoji="0" lang="fr-FR" sz="1700" b="0" kern="1200" dirty="0">
                          <a:solidFill>
                            <a:srgbClr val="C00000"/>
                          </a:solidFill>
                          <a:latin typeface="+mn-lt"/>
                          <a:ea typeface="+mn-ea"/>
                          <a:cs typeface="+mn-cs"/>
                        </a:rPr>
                        <a:t> Protocol</a:t>
                      </a:r>
                      <a:r>
                        <a:rPr lang="fr-FR" sz="1800" b="1" dirty="0"/>
                        <a:t>)</a:t>
                      </a:r>
                    </a:p>
                  </a:txBody>
                  <a:tcPr/>
                </a:tc>
                <a:tc>
                  <a:txBody>
                    <a:bodyPr/>
                    <a:lstStyle/>
                    <a:p>
                      <a:r>
                        <a:rPr lang="fr-FR" sz="1800" dirty="0"/>
                        <a:t>• Utilise des mots de passe en clair. Il s’agit du protocole d’authentification le moins sécurisé.</a:t>
                      </a:r>
                    </a:p>
                  </a:txBody>
                  <a:tcPr/>
                </a:tc>
                <a:extLst>
                  <a:ext uri="{0D108BD9-81ED-4DB2-BD59-A6C34878D82A}">
                    <a16:rowId xmlns:a16="http://schemas.microsoft.com/office/drawing/2014/main" val="10002"/>
                  </a:ext>
                </a:extLst>
              </a:tr>
              <a:tr h="627633">
                <a:tc>
                  <a:txBody>
                    <a:bodyPr/>
                    <a:lstStyle/>
                    <a:p>
                      <a:r>
                        <a:rPr lang="fr-FR" sz="1800" b="1" dirty="0"/>
                        <a:t>MS-CHAP v2 </a:t>
                      </a:r>
                    </a:p>
                  </a:txBody>
                  <a:tcPr/>
                </a:tc>
                <a:tc>
                  <a:txBody>
                    <a:bodyPr/>
                    <a:lstStyle/>
                    <a:p>
                      <a:r>
                        <a:rPr kumimoji="0" lang="fr-FR" sz="1800" kern="1200" baseline="0" dirty="0">
                          <a:solidFill>
                            <a:schemeClr val="dk1"/>
                          </a:solidFill>
                          <a:latin typeface="+mn-lt"/>
                          <a:ea typeface="+mn-ea"/>
                          <a:cs typeface="+mn-cs"/>
                        </a:rPr>
                        <a:t>• </a:t>
                      </a:r>
                      <a:r>
                        <a:rPr lang="fr-FR" sz="1800" dirty="0"/>
                        <a:t>Ce protocole effectue une authentification mutuelle.</a:t>
                      </a:r>
                    </a:p>
                    <a:p>
                      <a:r>
                        <a:rPr lang="fr-FR" sz="1800" dirty="0"/>
                        <a:t>•  Protocole  par défaut pour les OS (Ms Windows 2000 et les versions ultérieures .</a:t>
                      </a:r>
                    </a:p>
                  </a:txBody>
                  <a:tcPr/>
                </a:tc>
                <a:extLst>
                  <a:ext uri="{0D108BD9-81ED-4DB2-BD59-A6C34878D82A}">
                    <a16:rowId xmlns:a16="http://schemas.microsoft.com/office/drawing/2014/main" val="10003"/>
                  </a:ext>
                </a:extLst>
              </a:tr>
              <a:tr h="956491">
                <a:tc>
                  <a:txBody>
                    <a:bodyPr/>
                    <a:lstStyle/>
                    <a:p>
                      <a:pPr marL="0" algn="l" rtl="0" eaLnBrk="1" latinLnBrk="0" hangingPunct="1"/>
                      <a:r>
                        <a:rPr kumimoji="0" lang="fr-FR" sz="1800" b="1" u="sng" kern="1200" baseline="0" dirty="0">
                          <a:solidFill>
                            <a:schemeClr val="dk1"/>
                          </a:solidFill>
                          <a:latin typeface="+mn-lt"/>
                          <a:ea typeface="+mn-ea"/>
                          <a:cs typeface="+mn-cs"/>
                        </a:rPr>
                        <a:t>EAP-TLS</a:t>
                      </a:r>
                      <a:r>
                        <a:rPr kumimoji="0" lang="fr-FR" sz="1800" b="1" kern="1200" baseline="0" dirty="0">
                          <a:solidFill>
                            <a:schemeClr val="dk1"/>
                          </a:solidFill>
                          <a:latin typeface="+mn-lt"/>
                          <a:ea typeface="+mn-ea"/>
                          <a:cs typeface="+mn-cs"/>
                        </a:rPr>
                        <a:t> (</a:t>
                      </a:r>
                      <a:r>
                        <a:rPr kumimoji="0" lang="fr-FR" sz="1700" b="0" kern="1200" dirty="0">
                          <a:solidFill>
                            <a:srgbClr val="C00000"/>
                          </a:solidFill>
                          <a:latin typeface="+mn-lt"/>
                          <a:ea typeface="+mn-ea"/>
                          <a:cs typeface="+mn-cs"/>
                        </a:rPr>
                        <a:t>Extensible </a:t>
                      </a:r>
                      <a:r>
                        <a:rPr kumimoji="0" lang="fr-FR" sz="1700" b="0" kern="1200" dirty="0" err="1">
                          <a:solidFill>
                            <a:srgbClr val="C00000"/>
                          </a:solidFill>
                          <a:latin typeface="+mn-lt"/>
                          <a:ea typeface="+mn-ea"/>
                          <a:cs typeface="+mn-cs"/>
                        </a:rPr>
                        <a:t>Authentication</a:t>
                      </a:r>
                      <a:r>
                        <a:rPr kumimoji="0" lang="fr-FR" sz="1700" b="0" kern="1200" dirty="0">
                          <a:solidFill>
                            <a:srgbClr val="C00000"/>
                          </a:solidFill>
                          <a:latin typeface="+mn-lt"/>
                          <a:ea typeface="+mn-ea"/>
                          <a:cs typeface="+mn-cs"/>
                        </a:rPr>
                        <a:t> Protocol</a:t>
                      </a:r>
                      <a:r>
                        <a:rPr kumimoji="0" lang="fr-FR" sz="1700" b="0" kern="1200" baseline="0" dirty="0">
                          <a:solidFill>
                            <a:srgbClr val="C00000"/>
                          </a:solidFill>
                          <a:latin typeface="+mn-lt"/>
                          <a:ea typeface="+mn-ea"/>
                          <a:cs typeface="+mn-cs"/>
                        </a:rPr>
                        <a:t> T</a:t>
                      </a:r>
                      <a:r>
                        <a:rPr kumimoji="0" lang="fr-FR" sz="1700" b="0" kern="1200" dirty="0">
                          <a:solidFill>
                            <a:srgbClr val="C00000"/>
                          </a:solidFill>
                          <a:latin typeface="+mn-lt"/>
                          <a:ea typeface="+mn-ea"/>
                          <a:cs typeface="+mn-cs"/>
                        </a:rPr>
                        <a:t>ransport Layer Security</a:t>
                      </a:r>
                      <a:r>
                        <a:rPr kumimoji="0" lang="fr-FR" sz="1800" b="1" kern="1200" baseline="0" dirty="0">
                          <a:solidFill>
                            <a:schemeClr val="dk1"/>
                          </a:solidFill>
                          <a:latin typeface="+mn-lt"/>
                          <a:ea typeface="+mn-ea"/>
                          <a:cs typeface="+mn-cs"/>
                        </a:rPr>
                        <a:t>)</a:t>
                      </a:r>
                      <a:endParaRPr lang="fr-FR" sz="1800" b="1" dirty="0"/>
                    </a:p>
                  </a:txBody>
                  <a:tcPr/>
                </a:tc>
                <a:tc>
                  <a:txBody>
                    <a:bodyPr/>
                    <a:lstStyle/>
                    <a:p>
                      <a:r>
                        <a:rPr kumimoji="0" lang="fr-FR" sz="1800" kern="1200" baseline="0" dirty="0">
                          <a:solidFill>
                            <a:schemeClr val="dk1"/>
                          </a:solidFill>
                          <a:latin typeface="+mn-lt"/>
                          <a:ea typeface="+mn-ea"/>
                          <a:cs typeface="+mn-cs"/>
                        </a:rPr>
                        <a:t>Ce protocole effectue une authentification mutuelle.</a:t>
                      </a:r>
                    </a:p>
                    <a:p>
                      <a:r>
                        <a:rPr kumimoji="0" lang="fr-FR" sz="1800" kern="1200" baseline="0" dirty="0">
                          <a:solidFill>
                            <a:schemeClr val="dk1"/>
                          </a:solidFill>
                          <a:latin typeface="+mn-lt"/>
                          <a:ea typeface="+mn-ea"/>
                          <a:cs typeface="+mn-cs"/>
                        </a:rPr>
                        <a:t>• Exige une infrastructure de certificats à cartes à puce.</a:t>
                      </a:r>
                    </a:p>
                    <a:p>
                      <a:r>
                        <a:rPr kumimoji="0" lang="fr-FR" sz="1800" kern="1200" baseline="0" dirty="0">
                          <a:solidFill>
                            <a:schemeClr val="dk1"/>
                          </a:solidFill>
                          <a:latin typeface="+mn-lt"/>
                          <a:ea typeface="+mn-ea"/>
                          <a:cs typeface="+mn-cs"/>
                        </a:rPr>
                        <a:t>• Offre le niveau de sécurité  le plus élevé.</a:t>
                      </a:r>
                      <a:endParaRPr lang="fr-FR" sz="1800" dirty="0"/>
                    </a:p>
                  </a:txBody>
                  <a:tcPr/>
                </a:tc>
                <a:extLst>
                  <a:ext uri="{0D108BD9-81ED-4DB2-BD59-A6C34878D82A}">
                    <a16:rowId xmlns:a16="http://schemas.microsoft.com/office/drawing/2014/main" val="10004"/>
                  </a:ext>
                </a:extLst>
              </a:tr>
              <a:tr h="1007790">
                <a:tc>
                  <a:txBody>
                    <a:bodyPr/>
                    <a:lstStyle/>
                    <a:p>
                      <a:pPr marL="0" algn="l" rtl="0" eaLnBrk="1" latinLnBrk="0" hangingPunct="1"/>
                      <a:r>
                        <a:rPr kumimoji="0" lang="fr-FR" sz="1800" b="1" u="sng" kern="1200" baseline="0" dirty="0">
                          <a:solidFill>
                            <a:schemeClr val="dk1"/>
                          </a:solidFill>
                          <a:latin typeface="+mn-lt"/>
                          <a:ea typeface="+mn-ea"/>
                          <a:cs typeface="+mn-cs"/>
                        </a:rPr>
                        <a:t>PEAP</a:t>
                      </a:r>
                      <a:r>
                        <a:rPr kumimoji="0" lang="fr-FR" sz="1800" b="1" kern="1200" baseline="0" dirty="0">
                          <a:solidFill>
                            <a:schemeClr val="dk1"/>
                          </a:solidFill>
                          <a:latin typeface="+mn-lt"/>
                          <a:ea typeface="+mn-ea"/>
                          <a:cs typeface="+mn-cs"/>
                        </a:rPr>
                        <a:t> (</a:t>
                      </a:r>
                      <a:r>
                        <a:rPr kumimoji="0" lang="fr-FR" sz="1700" b="0" kern="1200" dirty="0" err="1">
                          <a:solidFill>
                            <a:srgbClr val="C00000"/>
                          </a:solidFill>
                          <a:latin typeface="+mn-lt"/>
                          <a:ea typeface="+mn-ea"/>
                          <a:cs typeface="+mn-cs"/>
                        </a:rPr>
                        <a:t>Protected</a:t>
                      </a:r>
                      <a:r>
                        <a:rPr kumimoji="0" lang="fr-FR" sz="1700" b="0" kern="1200" dirty="0">
                          <a:solidFill>
                            <a:srgbClr val="C00000"/>
                          </a:solidFill>
                          <a:latin typeface="+mn-lt"/>
                          <a:ea typeface="+mn-ea"/>
                          <a:cs typeface="+mn-cs"/>
                        </a:rPr>
                        <a:t> Extensible </a:t>
                      </a:r>
                      <a:r>
                        <a:rPr kumimoji="0" lang="fr-FR" sz="1700" b="0" kern="1200" dirty="0" err="1">
                          <a:solidFill>
                            <a:srgbClr val="C00000"/>
                          </a:solidFill>
                          <a:latin typeface="+mn-lt"/>
                          <a:ea typeface="+mn-ea"/>
                          <a:cs typeface="+mn-cs"/>
                        </a:rPr>
                        <a:t>Authentication</a:t>
                      </a:r>
                      <a:r>
                        <a:rPr kumimoji="0" lang="fr-FR" sz="1700" b="0" kern="1200" dirty="0">
                          <a:solidFill>
                            <a:srgbClr val="C00000"/>
                          </a:solidFill>
                          <a:latin typeface="+mn-lt"/>
                          <a:ea typeface="+mn-ea"/>
                          <a:cs typeface="+mn-cs"/>
                        </a:rPr>
                        <a:t> Protocol</a:t>
                      </a:r>
                      <a:r>
                        <a:rPr kumimoji="0" lang="fr-FR" sz="1800" b="1" kern="1200" baseline="0" dirty="0">
                          <a:solidFill>
                            <a:schemeClr val="dk1"/>
                          </a:solidFill>
                          <a:latin typeface="+mn-lt"/>
                          <a:ea typeface="+mn-ea"/>
                          <a:cs typeface="+mn-cs"/>
                        </a:rPr>
                        <a:t>)</a:t>
                      </a:r>
                      <a:endParaRPr lang="fr-FR" sz="1800" b="1" dirty="0"/>
                    </a:p>
                  </a:txBody>
                  <a:tcPr/>
                </a:tc>
                <a:tc>
                  <a:txBody>
                    <a:bodyPr/>
                    <a:lstStyle/>
                    <a:p>
                      <a:r>
                        <a:rPr kumimoji="0" lang="fr-FR" sz="1800" kern="1200" baseline="0" dirty="0">
                          <a:solidFill>
                            <a:schemeClr val="dk1"/>
                          </a:solidFill>
                          <a:latin typeface="+mn-lt"/>
                          <a:ea typeface="+mn-ea"/>
                          <a:cs typeface="+mn-cs"/>
                        </a:rPr>
                        <a:t>Utilisé avec les réseaux 802.1x afin de sécuriser les réseaux câblés  et sans fil.</a:t>
                      </a:r>
                    </a:p>
                    <a:p>
                      <a:r>
                        <a:rPr kumimoji="0" lang="fr-FR" sz="1800" kern="1200" baseline="0" dirty="0">
                          <a:solidFill>
                            <a:schemeClr val="dk1"/>
                          </a:solidFill>
                          <a:latin typeface="+mn-lt"/>
                          <a:ea typeface="+mn-ea"/>
                          <a:cs typeface="+mn-cs"/>
                        </a:rPr>
                        <a:t>• L’accès est accordé en fonction de l’identité  de l’utilisateur.</a:t>
                      </a:r>
                    </a:p>
                    <a:p>
                      <a:r>
                        <a:rPr kumimoji="0" lang="fr-FR" sz="1800" kern="1200" baseline="0" dirty="0">
                          <a:solidFill>
                            <a:schemeClr val="dk1"/>
                          </a:solidFill>
                          <a:latin typeface="+mn-lt"/>
                          <a:ea typeface="+mn-ea"/>
                          <a:cs typeface="+mn-cs"/>
                        </a:rPr>
                        <a:t>• Il renforce la sécurité du cryptage des réseaux sans fil.</a:t>
                      </a:r>
                      <a:endParaRPr lang="fr-FR" sz="1800" dirty="0"/>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4" name="Rectangle 2"/>
          <p:cNvSpPr>
            <a:spLocks noGrp="1" noChangeArrowheads="1"/>
          </p:cNvSpPr>
          <p:nvPr>
            <p:ph type="title"/>
            <p:custDataLst>
              <p:tags r:id="rId1"/>
            </p:custDataLst>
          </p:nvPr>
        </p:nvSpPr>
        <p:spPr/>
        <p:txBody>
          <a:bodyPr>
            <a:normAutofit/>
          </a:bodyPr>
          <a:lstStyle/>
          <a:p>
            <a:pPr marL="460375" indent="-460375"/>
            <a:r>
              <a:rPr lang="fr-FR" dirty="0">
                <a:solidFill>
                  <a:srgbClr val="000000"/>
                </a:solidFill>
              </a:rPr>
              <a:t>2. </a:t>
            </a:r>
            <a:r>
              <a:rPr lang="en-GB" dirty="0">
                <a:solidFill>
                  <a:srgbClr val="000000"/>
                </a:solidFill>
              </a:rPr>
              <a:t>Configuration </a:t>
            </a:r>
            <a:r>
              <a:rPr lang="en-GB" dirty="0" err="1">
                <a:solidFill>
                  <a:srgbClr val="000000"/>
                </a:solidFill>
              </a:rPr>
              <a:t>d'une</a:t>
            </a:r>
            <a:r>
              <a:rPr lang="en-GB" dirty="0">
                <a:solidFill>
                  <a:srgbClr val="000000"/>
                </a:solidFill>
              </a:rPr>
              <a:t> connexion VPN</a:t>
            </a:r>
            <a:endParaRPr lang="en-US" dirty="0">
              <a:solidFill>
                <a:srgbClr val="000000"/>
              </a:solidFill>
            </a:endParaRPr>
          </a:p>
        </p:txBody>
      </p:sp>
      <p:sp>
        <p:nvSpPr>
          <p:cNvPr id="177155" name="Rectangle 3"/>
          <p:cNvSpPr>
            <a:spLocks noGrp="1" noChangeArrowheads="1"/>
          </p:cNvSpPr>
          <p:nvPr>
            <p:ph sz="quarter" idx="1"/>
            <p:custDataLst>
              <p:tags r:id="rId2"/>
            </p:custDataLst>
          </p:nvPr>
        </p:nvSpPr>
        <p:spPr>
          <a:xfrm>
            <a:off x="243695" y="2267276"/>
            <a:ext cx="8503920" cy="2319238"/>
          </a:xfrm>
        </p:spPr>
        <p:txBody>
          <a:bodyPr>
            <a:normAutofit/>
          </a:bodyPr>
          <a:lstStyle/>
          <a:p>
            <a:pPr>
              <a:buClr>
                <a:schemeClr val="tx1"/>
              </a:buClr>
              <a:buFont typeface="Wingdings" pitchFamily="2" charset="2"/>
              <a:buChar char="Ø"/>
            </a:pPr>
            <a:r>
              <a:rPr lang="en-GB" dirty="0" err="1">
                <a:solidFill>
                  <a:srgbClr val="000000"/>
                </a:solidFill>
              </a:rPr>
              <a:t>Fonctionnement</a:t>
            </a:r>
            <a:r>
              <a:rPr lang="en-GB" dirty="0">
                <a:solidFill>
                  <a:srgbClr val="000000"/>
                </a:solidFill>
              </a:rPr>
              <a:t> </a:t>
            </a:r>
            <a:r>
              <a:rPr lang="en-GB" dirty="0" err="1">
                <a:solidFill>
                  <a:srgbClr val="000000"/>
                </a:solidFill>
              </a:rPr>
              <a:t>d'une</a:t>
            </a:r>
            <a:r>
              <a:rPr lang="en-GB" dirty="0">
                <a:solidFill>
                  <a:srgbClr val="000000"/>
                </a:solidFill>
              </a:rPr>
              <a:t> connexion VPN</a:t>
            </a:r>
            <a:endParaRPr lang="en-US" dirty="0"/>
          </a:p>
          <a:p>
            <a:pPr>
              <a:buClr>
                <a:schemeClr val="tx1"/>
              </a:buClr>
              <a:buFont typeface="Wingdings" pitchFamily="2" charset="2"/>
              <a:buChar char="Ø"/>
            </a:pPr>
            <a:r>
              <a:rPr lang="en-GB" dirty="0" err="1">
                <a:solidFill>
                  <a:srgbClr val="000000"/>
                </a:solidFill>
              </a:rPr>
              <a:t>Composants</a:t>
            </a:r>
            <a:r>
              <a:rPr lang="en-GB" dirty="0">
                <a:solidFill>
                  <a:srgbClr val="000000"/>
                </a:solidFill>
              </a:rPr>
              <a:t> </a:t>
            </a:r>
            <a:r>
              <a:rPr lang="en-GB" dirty="0" err="1">
                <a:solidFill>
                  <a:srgbClr val="000000"/>
                </a:solidFill>
              </a:rPr>
              <a:t>d'une</a:t>
            </a:r>
            <a:r>
              <a:rPr lang="en-GB" dirty="0">
                <a:solidFill>
                  <a:srgbClr val="000000"/>
                </a:solidFill>
              </a:rPr>
              <a:t> connexion VPN</a:t>
            </a:r>
            <a:endParaRPr lang="en-US" dirty="0"/>
          </a:p>
          <a:p>
            <a:pPr>
              <a:buClr>
                <a:schemeClr val="tx1"/>
              </a:buClr>
              <a:buFont typeface="Wingdings" pitchFamily="2" charset="2"/>
              <a:buChar char="Ø"/>
            </a:pPr>
            <a:r>
              <a:rPr lang="en-GB" dirty="0" err="1">
                <a:solidFill>
                  <a:srgbClr val="000000"/>
                </a:solidFill>
              </a:rPr>
              <a:t>Protocoles</a:t>
            </a:r>
            <a:r>
              <a:rPr lang="en-GB" dirty="0">
                <a:solidFill>
                  <a:srgbClr val="000000"/>
                </a:solidFill>
              </a:rPr>
              <a:t> de </a:t>
            </a:r>
            <a:r>
              <a:rPr lang="en-GB" dirty="0" err="1">
                <a:solidFill>
                  <a:srgbClr val="000000"/>
                </a:solidFill>
              </a:rPr>
              <a:t>cryptage</a:t>
            </a:r>
            <a:r>
              <a:rPr lang="en-GB" dirty="0">
                <a:solidFill>
                  <a:srgbClr val="000000"/>
                </a:solidFill>
              </a:rPr>
              <a:t> pour </a:t>
            </a:r>
            <a:r>
              <a:rPr lang="en-GB" dirty="0" err="1">
                <a:solidFill>
                  <a:srgbClr val="000000"/>
                </a:solidFill>
              </a:rPr>
              <a:t>une</a:t>
            </a:r>
            <a:r>
              <a:rPr lang="en-GB" dirty="0">
                <a:solidFill>
                  <a:srgbClr val="000000"/>
                </a:solidFill>
              </a:rPr>
              <a:t> connexion VPN</a:t>
            </a:r>
            <a:endParaRPr lang="en-US" dirty="0"/>
          </a:p>
          <a:p>
            <a:pPr>
              <a:buClr>
                <a:schemeClr val="tx1"/>
              </a:buClr>
              <a:buFont typeface="Wingdings" pitchFamily="2" charset="2"/>
              <a:buChar char="Ø"/>
            </a:pPr>
            <a:r>
              <a:rPr lang="en-GB" dirty="0">
                <a:solidFill>
                  <a:srgbClr val="000000"/>
                </a:solidFill>
              </a:rPr>
              <a:t>Configuration </a:t>
            </a:r>
            <a:r>
              <a:rPr lang="en-GB" dirty="0" err="1">
                <a:solidFill>
                  <a:srgbClr val="000000"/>
                </a:solidFill>
              </a:rPr>
              <a:t>requise</a:t>
            </a:r>
            <a:r>
              <a:rPr lang="en-GB" dirty="0">
                <a:solidFill>
                  <a:srgbClr val="000000"/>
                </a:solidFill>
              </a:rPr>
              <a:t> pour un </a:t>
            </a:r>
            <a:r>
              <a:rPr lang="en-GB" dirty="0" err="1">
                <a:solidFill>
                  <a:srgbClr val="000000"/>
                </a:solidFill>
              </a:rPr>
              <a:t>serveur</a:t>
            </a:r>
            <a:r>
              <a:rPr lang="en-GB" dirty="0">
                <a:solidFill>
                  <a:srgbClr val="000000"/>
                </a:solidFill>
              </a:rPr>
              <a:t> VPN</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69" name="Rectangle 57"/>
          <p:cNvSpPr>
            <a:spLocks noGrp="1" noChangeArrowheads="1"/>
          </p:cNvSpPr>
          <p:nvPr>
            <p:ph type="title"/>
            <p:custDataLst>
              <p:tags r:id="rId1"/>
            </p:custDataLst>
          </p:nvPr>
        </p:nvSpPr>
        <p:spPr/>
        <p:txBody>
          <a:bodyPr vert="horz" anchor="b">
            <a:normAutofit/>
          </a:bodyPr>
          <a:lstStyle/>
          <a:p>
            <a:r>
              <a:rPr lang="en-GB" sz="2800" dirty="0">
                <a:solidFill>
                  <a:srgbClr val="C00000"/>
                </a:solidFill>
              </a:rPr>
              <a:t>Fonctionnement d'une connexion VPN</a:t>
            </a:r>
            <a:endParaRPr sz="2800" dirty="0">
              <a:solidFill>
                <a:srgbClr val="C00000"/>
              </a:solidFill>
            </a:endParaRPr>
          </a:p>
        </p:txBody>
      </p:sp>
      <p:sp>
        <p:nvSpPr>
          <p:cNvPr id="474264" name="Oval 152"/>
          <p:cNvSpPr>
            <a:spLocks noChangeArrowheads="1"/>
          </p:cNvSpPr>
          <p:nvPr/>
        </p:nvSpPr>
        <p:spPr bwMode="auto">
          <a:xfrm>
            <a:off x="519113" y="2960688"/>
            <a:ext cx="7848600" cy="2863850"/>
          </a:xfrm>
          <a:prstGeom prst="ellipse">
            <a:avLst/>
          </a:prstGeom>
          <a:gradFill rotWithShape="1">
            <a:gsLst>
              <a:gs pos="0">
                <a:srgbClr val="CFE1C2"/>
              </a:gs>
              <a:gs pos="100000">
                <a:srgbClr val="FFFFFF"/>
              </a:gs>
            </a:gsLst>
            <a:lin ang="5400000" scaled="1"/>
          </a:gradFill>
          <a:ln w="9525" algn="ctr">
            <a:noFill/>
            <a:round/>
            <a:headEnd/>
            <a:tailEnd/>
          </a:ln>
          <a:effectLst/>
        </p:spPr>
        <p:txBody>
          <a:bodyPr lIns="0" tIns="0" rIns="0" bIns="0"/>
          <a:lstStyle/>
          <a:p>
            <a:pPr marL="342900" indent="-342900" algn="l">
              <a:lnSpc>
                <a:spcPct val="90000"/>
              </a:lnSpc>
              <a:spcBef>
                <a:spcPct val="40000"/>
              </a:spcBef>
              <a:buClr>
                <a:srgbClr val="8DACD0"/>
              </a:buClr>
              <a:buSzPct val="70000"/>
              <a:buFont typeface="Wingdings" pitchFamily="2" charset="2"/>
              <a:buBlip>
                <a:blip r:embed="rId8"/>
              </a:buBlip>
            </a:pPr>
            <a:endParaRPr lang="en-US" sz="2400" b="1"/>
          </a:p>
          <a:p>
            <a:pPr marL="342900" indent="-342900" algn="l">
              <a:lnSpc>
                <a:spcPct val="90000"/>
              </a:lnSpc>
              <a:spcBef>
                <a:spcPct val="40000"/>
              </a:spcBef>
              <a:buClr>
                <a:srgbClr val="8DACD0"/>
              </a:buClr>
              <a:buSzPct val="70000"/>
              <a:buFont typeface="Wingdings" pitchFamily="2" charset="2"/>
              <a:buBlip>
                <a:blip r:embed="rId8"/>
              </a:buBlip>
            </a:pPr>
            <a:endParaRPr lang="en-US" sz="2400" b="1"/>
          </a:p>
          <a:p>
            <a:pPr marL="342900" indent="-342900" algn="l">
              <a:lnSpc>
                <a:spcPct val="90000"/>
              </a:lnSpc>
              <a:spcBef>
                <a:spcPct val="40000"/>
              </a:spcBef>
              <a:buClr>
                <a:srgbClr val="8DACD0"/>
              </a:buClr>
              <a:buSzPct val="70000"/>
              <a:buFont typeface="Wingdings" pitchFamily="2" charset="2"/>
              <a:buBlip>
                <a:blip r:embed="rId8"/>
              </a:buBlip>
            </a:pPr>
            <a:endParaRPr lang="en-US" sz="2400" b="1"/>
          </a:p>
        </p:txBody>
      </p:sp>
      <p:sp>
        <p:nvSpPr>
          <p:cNvPr id="474265" name="Line 153"/>
          <p:cNvSpPr>
            <a:spLocks noChangeShapeType="1"/>
          </p:cNvSpPr>
          <p:nvPr/>
        </p:nvSpPr>
        <p:spPr bwMode="auto">
          <a:xfrm>
            <a:off x="3187700" y="3814763"/>
            <a:ext cx="4102100" cy="0"/>
          </a:xfrm>
          <a:prstGeom prst="line">
            <a:avLst/>
          </a:prstGeom>
          <a:noFill/>
          <a:ln w="50800">
            <a:solidFill>
              <a:srgbClr val="969696"/>
            </a:solidFill>
            <a:round/>
            <a:headEnd/>
            <a:tailEnd/>
          </a:ln>
          <a:effectLst/>
        </p:spPr>
        <p:txBody>
          <a:bodyPr anchor="ctr"/>
          <a:lstStyle/>
          <a:p>
            <a:endParaRPr lang="fr-FR"/>
          </a:p>
        </p:txBody>
      </p:sp>
      <p:sp>
        <p:nvSpPr>
          <p:cNvPr id="474266" name="Line 154"/>
          <p:cNvSpPr>
            <a:spLocks noChangeShapeType="1"/>
          </p:cNvSpPr>
          <p:nvPr/>
        </p:nvSpPr>
        <p:spPr bwMode="auto">
          <a:xfrm flipV="1">
            <a:off x="1993900" y="3924300"/>
            <a:ext cx="533400" cy="700088"/>
          </a:xfrm>
          <a:prstGeom prst="line">
            <a:avLst/>
          </a:prstGeom>
          <a:noFill/>
          <a:ln w="50800">
            <a:solidFill>
              <a:srgbClr val="969696"/>
            </a:solidFill>
            <a:round/>
            <a:headEnd/>
            <a:tailEnd/>
          </a:ln>
          <a:effectLst/>
        </p:spPr>
        <p:txBody>
          <a:bodyPr anchor="ctr"/>
          <a:lstStyle/>
          <a:p>
            <a:endParaRPr lang="fr-FR"/>
          </a:p>
        </p:txBody>
      </p:sp>
      <p:sp>
        <p:nvSpPr>
          <p:cNvPr id="474267" name="Oval 155"/>
          <p:cNvSpPr>
            <a:spLocks noChangeArrowheads="1"/>
          </p:cNvSpPr>
          <p:nvPr/>
        </p:nvSpPr>
        <p:spPr bwMode="auto">
          <a:xfrm>
            <a:off x="2005013" y="3395663"/>
            <a:ext cx="1208087" cy="762000"/>
          </a:xfrm>
          <a:prstGeom prst="ellipse">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endParaRPr lang="fr-FR"/>
          </a:p>
        </p:txBody>
      </p:sp>
      <p:pic>
        <p:nvPicPr>
          <p:cNvPr id="474268" name="Picture 156" descr="Server01"/>
          <p:cNvPicPr>
            <a:picLocks noChangeAspect="1" noChangeArrowheads="1"/>
          </p:cNvPicPr>
          <p:nvPr/>
        </p:nvPicPr>
        <p:blipFill>
          <a:blip r:embed="rId9" cstate="print"/>
          <a:srcRect/>
          <a:stretch>
            <a:fillRect/>
          </a:stretch>
        </p:blipFill>
        <p:spPr bwMode="auto">
          <a:xfrm>
            <a:off x="2452688" y="3051175"/>
            <a:ext cx="558800" cy="657225"/>
          </a:xfrm>
          <a:prstGeom prst="rect">
            <a:avLst/>
          </a:prstGeom>
          <a:noFill/>
        </p:spPr>
      </p:pic>
      <p:pic>
        <p:nvPicPr>
          <p:cNvPr id="474269" name="Picture 157" descr="Server01"/>
          <p:cNvPicPr>
            <a:picLocks noChangeAspect="1" noChangeArrowheads="1"/>
          </p:cNvPicPr>
          <p:nvPr/>
        </p:nvPicPr>
        <p:blipFill>
          <a:blip r:embed="rId9" cstate="print"/>
          <a:srcRect/>
          <a:stretch>
            <a:fillRect/>
          </a:stretch>
        </p:blipFill>
        <p:spPr bwMode="auto">
          <a:xfrm>
            <a:off x="2630488" y="3751263"/>
            <a:ext cx="558800" cy="657225"/>
          </a:xfrm>
          <a:prstGeom prst="rect">
            <a:avLst/>
          </a:prstGeom>
          <a:noFill/>
        </p:spPr>
      </p:pic>
      <p:pic>
        <p:nvPicPr>
          <p:cNvPr id="474270" name="Picture 158" descr="Server01"/>
          <p:cNvPicPr>
            <a:picLocks noChangeAspect="1" noChangeArrowheads="1"/>
          </p:cNvPicPr>
          <p:nvPr/>
        </p:nvPicPr>
        <p:blipFill>
          <a:blip r:embed="rId9" cstate="print"/>
          <a:srcRect/>
          <a:stretch>
            <a:fillRect/>
          </a:stretch>
        </p:blipFill>
        <p:spPr bwMode="auto">
          <a:xfrm>
            <a:off x="1778000" y="3416300"/>
            <a:ext cx="558800" cy="657225"/>
          </a:xfrm>
          <a:prstGeom prst="rect">
            <a:avLst/>
          </a:prstGeom>
          <a:noFill/>
        </p:spPr>
      </p:pic>
      <p:grpSp>
        <p:nvGrpSpPr>
          <p:cNvPr id="474271" name="Group 159"/>
          <p:cNvGrpSpPr>
            <a:grpSpLocks/>
          </p:cNvGrpSpPr>
          <p:nvPr/>
        </p:nvGrpSpPr>
        <p:grpSpPr bwMode="auto">
          <a:xfrm>
            <a:off x="914400" y="4292600"/>
            <a:ext cx="1658938" cy="1173163"/>
            <a:chOff x="576" y="2123"/>
            <a:chExt cx="1045" cy="739"/>
          </a:xfrm>
        </p:grpSpPr>
        <p:sp>
          <p:nvSpPr>
            <p:cNvPr id="474272" name="Oval 160"/>
            <p:cNvSpPr>
              <a:spLocks noChangeArrowheads="1"/>
            </p:cNvSpPr>
            <p:nvPr/>
          </p:nvSpPr>
          <p:spPr bwMode="auto">
            <a:xfrm>
              <a:off x="632" y="2259"/>
              <a:ext cx="936" cy="532"/>
            </a:xfrm>
            <a:prstGeom prst="ellipse">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endParaRPr lang="fr-FR"/>
            </a:p>
          </p:txBody>
        </p:sp>
        <p:pic>
          <p:nvPicPr>
            <p:cNvPr id="474273" name="Picture 161" descr="Computer_DesktopComputerSansKeyboard01"/>
            <p:cNvPicPr>
              <a:picLocks noChangeAspect="1" noChangeArrowheads="1"/>
            </p:cNvPicPr>
            <p:nvPr/>
          </p:nvPicPr>
          <p:blipFill>
            <a:blip r:embed="rId10" cstate="print"/>
            <a:srcRect/>
            <a:stretch>
              <a:fillRect/>
            </a:stretch>
          </p:blipFill>
          <p:spPr bwMode="auto">
            <a:xfrm>
              <a:off x="966" y="2123"/>
              <a:ext cx="266" cy="312"/>
            </a:xfrm>
            <a:prstGeom prst="rect">
              <a:avLst/>
            </a:prstGeom>
            <a:noFill/>
          </p:spPr>
        </p:pic>
        <p:pic>
          <p:nvPicPr>
            <p:cNvPr id="474274" name="Picture 162" descr="Computer_DesktopComputerSansKeyboard01"/>
            <p:cNvPicPr>
              <a:picLocks noChangeAspect="1" noChangeArrowheads="1"/>
            </p:cNvPicPr>
            <p:nvPr/>
          </p:nvPicPr>
          <p:blipFill>
            <a:blip r:embed="rId10" cstate="print"/>
            <a:srcRect/>
            <a:stretch>
              <a:fillRect/>
            </a:stretch>
          </p:blipFill>
          <p:spPr bwMode="auto">
            <a:xfrm>
              <a:off x="576" y="2290"/>
              <a:ext cx="266" cy="312"/>
            </a:xfrm>
            <a:prstGeom prst="rect">
              <a:avLst/>
            </a:prstGeom>
            <a:noFill/>
          </p:spPr>
        </p:pic>
        <p:pic>
          <p:nvPicPr>
            <p:cNvPr id="474275" name="Picture 163" descr="Computer_DesktopComputerSansKeyboard01"/>
            <p:cNvPicPr>
              <a:picLocks noChangeAspect="1" noChangeArrowheads="1"/>
            </p:cNvPicPr>
            <p:nvPr/>
          </p:nvPicPr>
          <p:blipFill>
            <a:blip r:embed="rId10" cstate="print"/>
            <a:srcRect/>
            <a:stretch>
              <a:fillRect/>
            </a:stretch>
          </p:blipFill>
          <p:spPr bwMode="auto">
            <a:xfrm>
              <a:off x="1355" y="2383"/>
              <a:ext cx="266" cy="312"/>
            </a:xfrm>
            <a:prstGeom prst="rect">
              <a:avLst/>
            </a:prstGeom>
            <a:noFill/>
          </p:spPr>
        </p:pic>
        <p:pic>
          <p:nvPicPr>
            <p:cNvPr id="474276" name="Picture 164" descr="Computer_DesktopComputerSansKeyboard01"/>
            <p:cNvPicPr>
              <a:picLocks noChangeAspect="1" noChangeArrowheads="1"/>
            </p:cNvPicPr>
            <p:nvPr/>
          </p:nvPicPr>
          <p:blipFill>
            <a:blip r:embed="rId10" cstate="print"/>
            <a:srcRect/>
            <a:stretch>
              <a:fillRect/>
            </a:stretch>
          </p:blipFill>
          <p:spPr bwMode="auto">
            <a:xfrm>
              <a:off x="965" y="2550"/>
              <a:ext cx="266" cy="312"/>
            </a:xfrm>
            <a:prstGeom prst="rect">
              <a:avLst/>
            </a:prstGeom>
            <a:noFill/>
          </p:spPr>
        </p:pic>
      </p:grpSp>
      <p:grpSp>
        <p:nvGrpSpPr>
          <p:cNvPr id="474277" name="Group 165"/>
          <p:cNvGrpSpPr>
            <a:grpSpLocks/>
          </p:cNvGrpSpPr>
          <p:nvPr/>
        </p:nvGrpSpPr>
        <p:grpSpPr bwMode="auto">
          <a:xfrm>
            <a:off x="5525092" y="5347831"/>
            <a:ext cx="3564074" cy="617538"/>
            <a:chOff x="3395" y="3131"/>
            <a:chExt cx="1950" cy="389"/>
          </a:xfrm>
        </p:grpSpPr>
        <p:sp>
          <p:nvSpPr>
            <p:cNvPr id="474278" name="AutoShape 166"/>
            <p:cNvSpPr>
              <a:spLocks noChangeArrowheads="1"/>
            </p:cNvSpPr>
            <p:nvPr/>
          </p:nvSpPr>
          <p:spPr bwMode="auto">
            <a:xfrm>
              <a:off x="3395" y="3177"/>
              <a:ext cx="254" cy="289"/>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3400" b="1" dirty="0">
                  <a:solidFill>
                    <a:srgbClr val="990033"/>
                  </a:solidFill>
                </a:rPr>
                <a:t>3</a:t>
              </a:r>
            </a:p>
          </p:txBody>
        </p:sp>
        <p:sp>
          <p:nvSpPr>
            <p:cNvPr id="474279" name="AutoShape 167"/>
            <p:cNvSpPr>
              <a:spLocks noChangeArrowheads="1"/>
            </p:cNvSpPr>
            <p:nvPr/>
          </p:nvSpPr>
          <p:spPr bwMode="auto">
            <a:xfrm>
              <a:off x="3675" y="3131"/>
              <a:ext cx="1670" cy="389"/>
            </a:xfrm>
            <a:prstGeom prst="roundRect">
              <a:avLst>
                <a:gd name="adj" fmla="val 4167"/>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wrap="none" anchor="ctr"/>
            <a:lstStyle/>
            <a:p>
              <a:pPr algn="l">
                <a:lnSpc>
                  <a:spcPct val="85000"/>
                </a:lnSpc>
              </a:pPr>
              <a:r>
                <a:rPr lang="fr-FR" sz="2200" b="1" dirty="0"/>
                <a:t>Le serveur VPN authentifie</a:t>
              </a:r>
            </a:p>
            <a:p>
              <a:pPr algn="l">
                <a:lnSpc>
                  <a:spcPct val="85000"/>
                </a:lnSpc>
              </a:pPr>
              <a:r>
                <a:rPr lang="fr-FR" sz="2200" b="1" dirty="0"/>
                <a:t>et autorise le client</a:t>
              </a:r>
            </a:p>
          </p:txBody>
        </p:sp>
      </p:grpSp>
      <p:grpSp>
        <p:nvGrpSpPr>
          <p:cNvPr id="474280" name="Group 168"/>
          <p:cNvGrpSpPr>
            <a:grpSpLocks/>
          </p:cNvGrpSpPr>
          <p:nvPr/>
        </p:nvGrpSpPr>
        <p:grpSpPr bwMode="auto">
          <a:xfrm>
            <a:off x="1956219" y="6046331"/>
            <a:ext cx="3482602" cy="658813"/>
            <a:chOff x="1227" y="3456"/>
            <a:chExt cx="2112" cy="415"/>
          </a:xfrm>
        </p:grpSpPr>
        <p:sp>
          <p:nvSpPr>
            <p:cNvPr id="474281" name="AutoShape 169"/>
            <p:cNvSpPr>
              <a:spLocks noChangeArrowheads="1"/>
            </p:cNvSpPr>
            <p:nvPr/>
          </p:nvSpPr>
          <p:spPr bwMode="auto">
            <a:xfrm>
              <a:off x="1227" y="3511"/>
              <a:ext cx="235" cy="289"/>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3400" b="1" dirty="0">
                  <a:solidFill>
                    <a:srgbClr val="990033"/>
                  </a:solidFill>
                </a:rPr>
                <a:t>2</a:t>
              </a:r>
            </a:p>
          </p:txBody>
        </p:sp>
        <p:sp>
          <p:nvSpPr>
            <p:cNvPr id="474282" name="AutoShape 170"/>
            <p:cNvSpPr>
              <a:spLocks noChangeArrowheads="1"/>
            </p:cNvSpPr>
            <p:nvPr/>
          </p:nvSpPr>
          <p:spPr bwMode="auto">
            <a:xfrm>
              <a:off x="1488" y="3456"/>
              <a:ext cx="1851" cy="415"/>
            </a:xfrm>
            <a:prstGeom prst="roundRect">
              <a:avLst>
                <a:gd name="adj" fmla="val 4167"/>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wrap="square" anchor="ctr"/>
            <a:lstStyle/>
            <a:p>
              <a:pPr algn="l">
                <a:lnSpc>
                  <a:spcPct val="85000"/>
                </a:lnSpc>
              </a:pPr>
              <a:r>
                <a:rPr lang="fr-FR" sz="2200" b="1" dirty="0"/>
                <a:t>Le serveur VPN répond à l'appel</a:t>
              </a:r>
            </a:p>
          </p:txBody>
        </p:sp>
      </p:grpSp>
      <p:grpSp>
        <p:nvGrpSpPr>
          <p:cNvPr id="474283" name="Group 171"/>
          <p:cNvGrpSpPr>
            <a:grpSpLocks/>
          </p:cNvGrpSpPr>
          <p:nvPr/>
        </p:nvGrpSpPr>
        <p:grpSpPr bwMode="auto">
          <a:xfrm>
            <a:off x="5583238" y="6060845"/>
            <a:ext cx="3487738" cy="658813"/>
            <a:chOff x="3426" y="3571"/>
            <a:chExt cx="2197" cy="415"/>
          </a:xfrm>
        </p:grpSpPr>
        <p:sp>
          <p:nvSpPr>
            <p:cNvPr id="474284" name="AutoShape 172"/>
            <p:cNvSpPr>
              <a:spLocks noChangeArrowheads="1"/>
            </p:cNvSpPr>
            <p:nvPr/>
          </p:nvSpPr>
          <p:spPr bwMode="auto">
            <a:xfrm>
              <a:off x="3426" y="3644"/>
              <a:ext cx="254" cy="289"/>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3400" b="1" dirty="0">
                  <a:solidFill>
                    <a:srgbClr val="990033"/>
                  </a:solidFill>
                </a:rPr>
                <a:t>4</a:t>
              </a:r>
            </a:p>
          </p:txBody>
        </p:sp>
        <p:sp>
          <p:nvSpPr>
            <p:cNvPr id="474285" name="AutoShape 173"/>
            <p:cNvSpPr>
              <a:spLocks noChangeArrowheads="1"/>
            </p:cNvSpPr>
            <p:nvPr/>
          </p:nvSpPr>
          <p:spPr bwMode="auto">
            <a:xfrm>
              <a:off x="3700" y="3571"/>
              <a:ext cx="1923" cy="415"/>
            </a:xfrm>
            <a:prstGeom prst="roundRect">
              <a:avLst>
                <a:gd name="adj" fmla="val 4167"/>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wrap="none" anchor="ctr"/>
            <a:lstStyle/>
            <a:p>
              <a:pPr algn="l">
                <a:lnSpc>
                  <a:spcPct val="85000"/>
                </a:lnSpc>
              </a:pPr>
              <a:r>
                <a:rPr lang="fr-FR" sz="2200" b="1" dirty="0"/>
                <a:t>Le serveur VPN transfère</a:t>
              </a:r>
            </a:p>
            <a:p>
              <a:pPr algn="l">
                <a:lnSpc>
                  <a:spcPct val="85000"/>
                </a:lnSpc>
              </a:pPr>
              <a:r>
                <a:rPr lang="fr-FR" sz="2200" b="1" dirty="0"/>
                <a:t>les données</a:t>
              </a:r>
            </a:p>
          </p:txBody>
        </p:sp>
      </p:grpSp>
      <p:grpSp>
        <p:nvGrpSpPr>
          <p:cNvPr id="474286" name="Group 174"/>
          <p:cNvGrpSpPr>
            <a:grpSpLocks/>
          </p:cNvGrpSpPr>
          <p:nvPr/>
        </p:nvGrpSpPr>
        <p:grpSpPr bwMode="auto">
          <a:xfrm>
            <a:off x="1970858" y="5347831"/>
            <a:ext cx="3468923" cy="658813"/>
            <a:chOff x="1715" y="3360"/>
            <a:chExt cx="2103" cy="415"/>
          </a:xfrm>
        </p:grpSpPr>
        <p:sp>
          <p:nvSpPr>
            <p:cNvPr id="474287" name="AutoShape 175"/>
            <p:cNvSpPr>
              <a:spLocks noChangeArrowheads="1"/>
            </p:cNvSpPr>
            <p:nvPr/>
          </p:nvSpPr>
          <p:spPr bwMode="auto">
            <a:xfrm>
              <a:off x="1967" y="3360"/>
              <a:ext cx="1851" cy="415"/>
            </a:xfrm>
            <a:prstGeom prst="roundRect">
              <a:avLst>
                <a:gd name="adj" fmla="val 4167"/>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wrap="square" anchor="ctr"/>
            <a:lstStyle/>
            <a:p>
              <a:pPr algn="l">
                <a:lnSpc>
                  <a:spcPct val="85000"/>
                </a:lnSpc>
              </a:pPr>
              <a:r>
                <a:rPr lang="fr-FR" sz="2200" b="1" dirty="0"/>
                <a:t>Le client VPN appelle le serveur VPN</a:t>
              </a:r>
            </a:p>
          </p:txBody>
        </p:sp>
        <p:sp>
          <p:nvSpPr>
            <p:cNvPr id="474288" name="AutoShape 176"/>
            <p:cNvSpPr>
              <a:spLocks noChangeArrowheads="1"/>
            </p:cNvSpPr>
            <p:nvPr/>
          </p:nvSpPr>
          <p:spPr bwMode="auto">
            <a:xfrm>
              <a:off x="1715" y="3442"/>
              <a:ext cx="235" cy="289"/>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3400" b="1" dirty="0">
                  <a:solidFill>
                    <a:srgbClr val="990033"/>
                  </a:solidFill>
                </a:rPr>
                <a:t>1</a:t>
              </a:r>
            </a:p>
          </p:txBody>
        </p:sp>
      </p:grpSp>
      <p:sp>
        <p:nvSpPr>
          <p:cNvPr id="474289" name="Line 177"/>
          <p:cNvSpPr>
            <a:spLocks noChangeShapeType="1"/>
          </p:cNvSpPr>
          <p:nvPr/>
        </p:nvSpPr>
        <p:spPr bwMode="auto">
          <a:xfrm flipH="1">
            <a:off x="4687888" y="3808413"/>
            <a:ext cx="2384425" cy="0"/>
          </a:xfrm>
          <a:prstGeom prst="line">
            <a:avLst/>
          </a:prstGeom>
          <a:noFill/>
          <a:ln w="57150">
            <a:solidFill>
              <a:srgbClr val="CC0000"/>
            </a:solidFill>
            <a:round/>
            <a:headEnd/>
            <a:tailEnd type="triangle" w="med" len="med"/>
          </a:ln>
          <a:effectLst/>
        </p:spPr>
        <p:txBody>
          <a:bodyPr anchor="ctr"/>
          <a:lstStyle/>
          <a:p>
            <a:endParaRPr lang="fr-FR"/>
          </a:p>
        </p:txBody>
      </p:sp>
      <p:pic>
        <p:nvPicPr>
          <p:cNvPr id="474290" name="Picture 178" descr="Internet_Tunnel01"/>
          <p:cNvPicPr>
            <a:picLocks noChangeAspect="1" noChangeArrowheads="1"/>
          </p:cNvPicPr>
          <p:nvPr/>
        </p:nvPicPr>
        <p:blipFill>
          <a:blip r:embed="rId11" cstate="print"/>
          <a:srcRect/>
          <a:stretch>
            <a:fillRect/>
          </a:stretch>
        </p:blipFill>
        <p:spPr bwMode="auto">
          <a:xfrm rot="2349511">
            <a:off x="5446713" y="3271773"/>
            <a:ext cx="1047750" cy="927100"/>
          </a:xfrm>
          <a:prstGeom prst="rect">
            <a:avLst/>
          </a:prstGeom>
          <a:noFill/>
        </p:spPr>
      </p:pic>
      <p:grpSp>
        <p:nvGrpSpPr>
          <p:cNvPr id="474291" name="Group 179"/>
          <p:cNvGrpSpPr>
            <a:grpSpLocks/>
          </p:cNvGrpSpPr>
          <p:nvPr/>
        </p:nvGrpSpPr>
        <p:grpSpPr bwMode="auto">
          <a:xfrm>
            <a:off x="130638" y="6269260"/>
            <a:ext cx="914400" cy="425450"/>
            <a:chOff x="384" y="3024"/>
            <a:chExt cx="720" cy="336"/>
          </a:xfrm>
        </p:grpSpPr>
        <p:sp>
          <p:nvSpPr>
            <p:cNvPr id="474292" name="Oval 180"/>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endParaRPr lang="fr-FR"/>
            </a:p>
          </p:txBody>
        </p:sp>
        <p:grpSp>
          <p:nvGrpSpPr>
            <p:cNvPr id="474293" name="Group 181"/>
            <p:cNvGrpSpPr>
              <a:grpSpLocks/>
            </p:cNvGrpSpPr>
            <p:nvPr/>
          </p:nvGrpSpPr>
          <p:grpSpPr bwMode="auto">
            <a:xfrm>
              <a:off x="480" y="3096"/>
              <a:ext cx="240" cy="192"/>
              <a:chOff x="480" y="3096"/>
              <a:chExt cx="240" cy="192"/>
            </a:xfrm>
          </p:grpSpPr>
          <p:sp>
            <p:nvSpPr>
              <p:cNvPr id="474294" name="Oval 182"/>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474295" name="Freeform 183"/>
              <p:cNvSpPr>
                <a:spLocks/>
              </p:cNvSpPr>
              <p:nvPr/>
            </p:nvSpPr>
            <p:spPr bwMode="auto">
              <a:xfrm>
                <a:off x="539" y="3123"/>
                <a:ext cx="138" cy="132"/>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endParaRPr lang="fr-FR"/>
              </a:p>
            </p:txBody>
          </p:sp>
        </p:grpSp>
      </p:grpSp>
      <p:grpSp>
        <p:nvGrpSpPr>
          <p:cNvPr id="474296" name="Group 184"/>
          <p:cNvGrpSpPr>
            <a:grpSpLocks/>
          </p:cNvGrpSpPr>
          <p:nvPr/>
        </p:nvGrpSpPr>
        <p:grpSpPr bwMode="auto">
          <a:xfrm>
            <a:off x="618001" y="6359748"/>
            <a:ext cx="304800" cy="244475"/>
            <a:chOff x="768" y="3096"/>
            <a:chExt cx="240" cy="192"/>
          </a:xfrm>
        </p:grpSpPr>
        <p:sp>
          <p:nvSpPr>
            <p:cNvPr id="474297" name="Oval 185"/>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474298" name="Rectangle 186"/>
            <p:cNvSpPr>
              <a:spLocks noChangeArrowheads="1"/>
            </p:cNvSpPr>
            <p:nvPr/>
          </p:nvSpPr>
          <p:spPr bwMode="auto">
            <a:xfrm>
              <a:off x="840" y="3144"/>
              <a:ext cx="96"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endParaRPr lang="fr-FR"/>
            </a:p>
          </p:txBody>
        </p:sp>
      </p:grpSp>
      <p:sp>
        <p:nvSpPr>
          <p:cNvPr id="474299" name="Line 187"/>
          <p:cNvSpPr>
            <a:spLocks noChangeShapeType="1"/>
          </p:cNvSpPr>
          <p:nvPr/>
        </p:nvSpPr>
        <p:spPr bwMode="auto">
          <a:xfrm flipH="1" flipV="1">
            <a:off x="3213100" y="3808413"/>
            <a:ext cx="757238" cy="0"/>
          </a:xfrm>
          <a:prstGeom prst="line">
            <a:avLst/>
          </a:prstGeom>
          <a:noFill/>
          <a:ln w="57150">
            <a:solidFill>
              <a:srgbClr val="CC0000"/>
            </a:solidFill>
            <a:round/>
            <a:headEnd/>
            <a:tailEnd type="triangle" w="med" len="med"/>
          </a:ln>
          <a:effectLst/>
        </p:spPr>
        <p:txBody>
          <a:bodyPr anchor="ctr"/>
          <a:lstStyle/>
          <a:p>
            <a:endParaRPr lang="fr-FR"/>
          </a:p>
        </p:txBody>
      </p:sp>
      <p:grpSp>
        <p:nvGrpSpPr>
          <p:cNvPr id="474300" name="Group 188"/>
          <p:cNvGrpSpPr>
            <a:grpSpLocks/>
          </p:cNvGrpSpPr>
          <p:nvPr/>
        </p:nvGrpSpPr>
        <p:grpSpPr bwMode="auto">
          <a:xfrm>
            <a:off x="6985000" y="3201988"/>
            <a:ext cx="1063625" cy="949325"/>
            <a:chOff x="2999" y="1125"/>
            <a:chExt cx="654" cy="576"/>
          </a:xfrm>
        </p:grpSpPr>
        <p:pic>
          <p:nvPicPr>
            <p:cNvPr id="474301" name="Picture 189" descr="Laptop"/>
            <p:cNvPicPr>
              <a:picLocks noChangeAspect="1" noChangeArrowheads="1"/>
            </p:cNvPicPr>
            <p:nvPr/>
          </p:nvPicPr>
          <p:blipFill>
            <a:blip r:embed="rId12" cstate="print"/>
            <a:srcRect/>
            <a:stretch>
              <a:fillRect/>
            </a:stretch>
          </p:blipFill>
          <p:spPr bwMode="auto">
            <a:xfrm flipH="1">
              <a:off x="2999" y="1131"/>
              <a:ext cx="458" cy="493"/>
            </a:xfrm>
            <a:prstGeom prst="rect">
              <a:avLst/>
            </a:prstGeom>
            <a:noFill/>
          </p:spPr>
        </p:pic>
        <p:pic>
          <p:nvPicPr>
            <p:cNvPr id="474302" name="Picture 190" descr="UserInteract"/>
            <p:cNvPicPr>
              <a:picLocks noChangeAspect="1" noChangeArrowheads="1"/>
            </p:cNvPicPr>
            <p:nvPr/>
          </p:nvPicPr>
          <p:blipFill>
            <a:blip r:embed="rId13" cstate="print"/>
            <a:srcRect/>
            <a:stretch>
              <a:fillRect/>
            </a:stretch>
          </p:blipFill>
          <p:spPr bwMode="auto">
            <a:xfrm flipH="1">
              <a:off x="3298" y="1125"/>
              <a:ext cx="355" cy="576"/>
            </a:xfrm>
            <a:prstGeom prst="rect">
              <a:avLst/>
            </a:prstGeom>
            <a:noFill/>
          </p:spPr>
        </p:pic>
      </p:grpSp>
      <p:pic>
        <p:nvPicPr>
          <p:cNvPr id="474303" name="Picture 191" descr="Server01"/>
          <p:cNvPicPr>
            <a:picLocks noChangeAspect="1" noChangeArrowheads="1"/>
          </p:cNvPicPr>
          <p:nvPr/>
        </p:nvPicPr>
        <p:blipFill>
          <a:blip r:embed="rId14" cstate="print"/>
          <a:srcRect/>
          <a:stretch>
            <a:fillRect/>
          </a:stretch>
        </p:blipFill>
        <p:spPr bwMode="auto">
          <a:xfrm>
            <a:off x="3949700" y="3403600"/>
            <a:ext cx="741363" cy="873125"/>
          </a:xfrm>
          <a:prstGeom prst="rect">
            <a:avLst/>
          </a:prstGeom>
          <a:noFill/>
        </p:spPr>
      </p:pic>
      <p:sp>
        <p:nvSpPr>
          <p:cNvPr id="474304" name="Freeform 192"/>
          <p:cNvSpPr>
            <a:spLocks/>
          </p:cNvSpPr>
          <p:nvPr/>
        </p:nvSpPr>
        <p:spPr bwMode="auto">
          <a:xfrm rot="11853776" flipV="1">
            <a:off x="2136775" y="2895600"/>
            <a:ext cx="2046288" cy="1143000"/>
          </a:xfrm>
          <a:custGeom>
            <a:avLst/>
            <a:gdLst/>
            <a:ahLst/>
            <a:cxnLst>
              <a:cxn ang="0">
                <a:pos x="1544" y="358"/>
              </a:cxn>
              <a:cxn ang="0">
                <a:pos x="1531" y="338"/>
              </a:cxn>
              <a:cxn ang="0">
                <a:pos x="1500" y="299"/>
              </a:cxn>
              <a:cxn ang="0">
                <a:pos x="1466" y="263"/>
              </a:cxn>
              <a:cxn ang="0">
                <a:pos x="1425" y="228"/>
              </a:cxn>
              <a:cxn ang="0">
                <a:pos x="1382" y="195"/>
              </a:cxn>
              <a:cxn ang="0">
                <a:pos x="1332" y="163"/>
              </a:cxn>
              <a:cxn ang="0">
                <a:pos x="1280" y="134"/>
              </a:cxn>
              <a:cxn ang="0">
                <a:pos x="1225" y="108"/>
              </a:cxn>
              <a:cxn ang="0">
                <a:pos x="1164" y="85"/>
              </a:cxn>
              <a:cxn ang="0">
                <a:pos x="1102" y="63"/>
              </a:cxn>
              <a:cxn ang="0">
                <a:pos x="1037" y="44"/>
              </a:cxn>
              <a:cxn ang="0">
                <a:pos x="967" y="29"/>
              </a:cxn>
              <a:cxn ang="0">
                <a:pos x="896" y="18"/>
              </a:cxn>
              <a:cxn ang="0">
                <a:pos x="824" y="8"/>
              </a:cxn>
              <a:cxn ang="0">
                <a:pos x="767" y="3"/>
              </a:cxn>
              <a:cxn ang="0">
                <a:pos x="709" y="2"/>
              </a:cxn>
              <a:cxn ang="0">
                <a:pos x="622" y="2"/>
              </a:cxn>
              <a:cxn ang="0">
                <a:pos x="573" y="3"/>
              </a:cxn>
              <a:cxn ang="0">
                <a:pos x="479" y="12"/>
              </a:cxn>
              <a:cxn ang="0">
                <a:pos x="432" y="19"/>
              </a:cxn>
              <a:cxn ang="0">
                <a:pos x="344" y="35"/>
              </a:cxn>
              <a:cxn ang="0">
                <a:pos x="258" y="57"/>
              </a:cxn>
              <a:cxn ang="0">
                <a:pos x="177" y="85"/>
              </a:cxn>
              <a:cxn ang="0">
                <a:pos x="102" y="115"/>
              </a:cxn>
              <a:cxn ang="0">
                <a:pos x="32" y="150"/>
              </a:cxn>
              <a:cxn ang="0">
                <a:pos x="31" y="154"/>
              </a:cxn>
              <a:cxn ang="0">
                <a:pos x="95" y="129"/>
              </a:cxn>
              <a:cxn ang="0">
                <a:pos x="163" y="106"/>
              </a:cxn>
              <a:cxn ang="0">
                <a:pos x="197" y="96"/>
              </a:cxn>
              <a:cxn ang="0">
                <a:pos x="270" y="80"/>
              </a:cxn>
              <a:cxn ang="0">
                <a:pos x="345" y="66"/>
              </a:cxn>
              <a:cxn ang="0">
                <a:pos x="422" y="56"/>
              </a:cxn>
              <a:cxn ang="0">
                <a:pos x="503" y="50"/>
              </a:cxn>
              <a:cxn ang="0">
                <a:pos x="584" y="47"/>
              </a:cxn>
              <a:cxn ang="0">
                <a:pos x="661" y="50"/>
              </a:cxn>
              <a:cxn ang="0">
                <a:pos x="735" y="54"/>
              </a:cxn>
              <a:cxn ang="0">
                <a:pos x="808" y="63"/>
              </a:cxn>
              <a:cxn ang="0">
                <a:pos x="879" y="74"/>
              </a:cxn>
              <a:cxn ang="0">
                <a:pos x="947" y="90"/>
              </a:cxn>
              <a:cxn ang="0">
                <a:pos x="1012" y="108"/>
              </a:cxn>
              <a:cxn ang="0">
                <a:pos x="1074" y="128"/>
              </a:cxn>
              <a:cxn ang="0">
                <a:pos x="1134" y="153"/>
              </a:cxn>
              <a:cxn ang="0">
                <a:pos x="1189" y="177"/>
              </a:cxn>
              <a:cxn ang="0">
                <a:pos x="1241" y="206"/>
              </a:cxn>
              <a:cxn ang="0">
                <a:pos x="1290" y="237"/>
              </a:cxn>
              <a:cxn ang="0">
                <a:pos x="1334" y="269"/>
              </a:cxn>
              <a:cxn ang="0">
                <a:pos x="1374" y="303"/>
              </a:cxn>
              <a:cxn ang="0">
                <a:pos x="1409" y="340"/>
              </a:cxn>
              <a:cxn ang="0">
                <a:pos x="1440" y="379"/>
              </a:cxn>
              <a:cxn ang="0">
                <a:pos x="1466" y="418"/>
              </a:cxn>
              <a:cxn ang="0">
                <a:pos x="1409" y="427"/>
              </a:cxn>
              <a:cxn ang="0">
                <a:pos x="1599" y="338"/>
              </a:cxn>
            </a:cxnLst>
            <a:rect l="0" t="0" r="r" b="b"/>
            <a:pathLst>
              <a:path w="1631" h="609">
                <a:moveTo>
                  <a:pt x="1556" y="379"/>
                </a:moveTo>
                <a:lnTo>
                  <a:pt x="1544" y="358"/>
                </a:lnTo>
                <a:lnTo>
                  <a:pt x="1537" y="348"/>
                </a:lnTo>
                <a:lnTo>
                  <a:pt x="1531" y="338"/>
                </a:lnTo>
                <a:lnTo>
                  <a:pt x="1516" y="319"/>
                </a:lnTo>
                <a:lnTo>
                  <a:pt x="1500" y="299"/>
                </a:lnTo>
                <a:lnTo>
                  <a:pt x="1483" y="282"/>
                </a:lnTo>
                <a:lnTo>
                  <a:pt x="1466" y="263"/>
                </a:lnTo>
                <a:lnTo>
                  <a:pt x="1445" y="245"/>
                </a:lnTo>
                <a:lnTo>
                  <a:pt x="1425" y="228"/>
                </a:lnTo>
                <a:lnTo>
                  <a:pt x="1403" y="211"/>
                </a:lnTo>
                <a:lnTo>
                  <a:pt x="1382" y="195"/>
                </a:lnTo>
                <a:lnTo>
                  <a:pt x="1357" y="179"/>
                </a:lnTo>
                <a:lnTo>
                  <a:pt x="1332" y="163"/>
                </a:lnTo>
                <a:lnTo>
                  <a:pt x="1308" y="148"/>
                </a:lnTo>
                <a:lnTo>
                  <a:pt x="1280" y="134"/>
                </a:lnTo>
                <a:lnTo>
                  <a:pt x="1253" y="121"/>
                </a:lnTo>
                <a:lnTo>
                  <a:pt x="1225" y="108"/>
                </a:lnTo>
                <a:lnTo>
                  <a:pt x="1195" y="96"/>
                </a:lnTo>
                <a:lnTo>
                  <a:pt x="1164" y="85"/>
                </a:lnTo>
                <a:lnTo>
                  <a:pt x="1134" y="73"/>
                </a:lnTo>
                <a:lnTo>
                  <a:pt x="1102" y="63"/>
                </a:lnTo>
                <a:lnTo>
                  <a:pt x="1070" y="54"/>
                </a:lnTo>
                <a:lnTo>
                  <a:pt x="1037" y="44"/>
                </a:lnTo>
                <a:lnTo>
                  <a:pt x="1002" y="37"/>
                </a:lnTo>
                <a:lnTo>
                  <a:pt x="967" y="29"/>
                </a:lnTo>
                <a:lnTo>
                  <a:pt x="932" y="22"/>
                </a:lnTo>
                <a:lnTo>
                  <a:pt x="896" y="18"/>
                </a:lnTo>
                <a:lnTo>
                  <a:pt x="860" y="12"/>
                </a:lnTo>
                <a:lnTo>
                  <a:pt x="824" y="8"/>
                </a:lnTo>
                <a:lnTo>
                  <a:pt x="786" y="5"/>
                </a:lnTo>
                <a:lnTo>
                  <a:pt x="767" y="3"/>
                </a:lnTo>
                <a:lnTo>
                  <a:pt x="748" y="3"/>
                </a:lnTo>
                <a:lnTo>
                  <a:pt x="709" y="2"/>
                </a:lnTo>
                <a:lnTo>
                  <a:pt x="671" y="0"/>
                </a:lnTo>
                <a:lnTo>
                  <a:pt x="622" y="2"/>
                </a:lnTo>
                <a:lnTo>
                  <a:pt x="597" y="3"/>
                </a:lnTo>
                <a:lnTo>
                  <a:pt x="573" y="3"/>
                </a:lnTo>
                <a:lnTo>
                  <a:pt x="525" y="8"/>
                </a:lnTo>
                <a:lnTo>
                  <a:pt x="479" y="12"/>
                </a:lnTo>
                <a:lnTo>
                  <a:pt x="455" y="16"/>
                </a:lnTo>
                <a:lnTo>
                  <a:pt x="432" y="19"/>
                </a:lnTo>
                <a:lnTo>
                  <a:pt x="387" y="27"/>
                </a:lnTo>
                <a:lnTo>
                  <a:pt x="344" y="35"/>
                </a:lnTo>
                <a:lnTo>
                  <a:pt x="300" y="45"/>
                </a:lnTo>
                <a:lnTo>
                  <a:pt x="258" y="57"/>
                </a:lnTo>
                <a:lnTo>
                  <a:pt x="218" y="70"/>
                </a:lnTo>
                <a:lnTo>
                  <a:pt x="177" y="85"/>
                </a:lnTo>
                <a:lnTo>
                  <a:pt x="139" y="99"/>
                </a:lnTo>
                <a:lnTo>
                  <a:pt x="102" y="115"/>
                </a:lnTo>
                <a:lnTo>
                  <a:pt x="67" y="131"/>
                </a:lnTo>
                <a:lnTo>
                  <a:pt x="32" y="150"/>
                </a:lnTo>
                <a:lnTo>
                  <a:pt x="0" y="169"/>
                </a:lnTo>
                <a:lnTo>
                  <a:pt x="31" y="154"/>
                </a:lnTo>
                <a:lnTo>
                  <a:pt x="63" y="141"/>
                </a:lnTo>
                <a:lnTo>
                  <a:pt x="95" y="129"/>
                </a:lnTo>
                <a:lnTo>
                  <a:pt x="128" y="118"/>
                </a:lnTo>
                <a:lnTo>
                  <a:pt x="163" y="106"/>
                </a:lnTo>
                <a:lnTo>
                  <a:pt x="180" y="102"/>
                </a:lnTo>
                <a:lnTo>
                  <a:pt x="197" y="96"/>
                </a:lnTo>
                <a:lnTo>
                  <a:pt x="232" y="87"/>
                </a:lnTo>
                <a:lnTo>
                  <a:pt x="270" y="80"/>
                </a:lnTo>
                <a:lnTo>
                  <a:pt x="306" y="71"/>
                </a:lnTo>
                <a:lnTo>
                  <a:pt x="345" y="66"/>
                </a:lnTo>
                <a:lnTo>
                  <a:pt x="383" y="60"/>
                </a:lnTo>
                <a:lnTo>
                  <a:pt x="422" y="56"/>
                </a:lnTo>
                <a:lnTo>
                  <a:pt x="463" y="53"/>
                </a:lnTo>
                <a:lnTo>
                  <a:pt x="503" y="50"/>
                </a:lnTo>
                <a:lnTo>
                  <a:pt x="544" y="48"/>
                </a:lnTo>
                <a:lnTo>
                  <a:pt x="584" y="47"/>
                </a:lnTo>
                <a:lnTo>
                  <a:pt x="624" y="48"/>
                </a:lnTo>
                <a:lnTo>
                  <a:pt x="661" y="50"/>
                </a:lnTo>
                <a:lnTo>
                  <a:pt x="699" y="51"/>
                </a:lnTo>
                <a:lnTo>
                  <a:pt x="735" y="54"/>
                </a:lnTo>
                <a:lnTo>
                  <a:pt x="773" y="58"/>
                </a:lnTo>
                <a:lnTo>
                  <a:pt x="808" y="63"/>
                </a:lnTo>
                <a:lnTo>
                  <a:pt x="844" y="69"/>
                </a:lnTo>
                <a:lnTo>
                  <a:pt x="879" y="74"/>
                </a:lnTo>
                <a:lnTo>
                  <a:pt x="913" y="82"/>
                </a:lnTo>
                <a:lnTo>
                  <a:pt x="947" y="90"/>
                </a:lnTo>
                <a:lnTo>
                  <a:pt x="980" y="99"/>
                </a:lnTo>
                <a:lnTo>
                  <a:pt x="1012" y="108"/>
                </a:lnTo>
                <a:lnTo>
                  <a:pt x="1044" y="118"/>
                </a:lnTo>
                <a:lnTo>
                  <a:pt x="1074" y="128"/>
                </a:lnTo>
                <a:lnTo>
                  <a:pt x="1105" y="140"/>
                </a:lnTo>
                <a:lnTo>
                  <a:pt x="1134" y="153"/>
                </a:lnTo>
                <a:lnTo>
                  <a:pt x="1161" y="164"/>
                </a:lnTo>
                <a:lnTo>
                  <a:pt x="1189" y="177"/>
                </a:lnTo>
                <a:lnTo>
                  <a:pt x="1216" y="192"/>
                </a:lnTo>
                <a:lnTo>
                  <a:pt x="1241" y="206"/>
                </a:lnTo>
                <a:lnTo>
                  <a:pt x="1266" y="221"/>
                </a:lnTo>
                <a:lnTo>
                  <a:pt x="1290" y="237"/>
                </a:lnTo>
                <a:lnTo>
                  <a:pt x="1312" y="253"/>
                </a:lnTo>
                <a:lnTo>
                  <a:pt x="1334" y="269"/>
                </a:lnTo>
                <a:lnTo>
                  <a:pt x="1354" y="286"/>
                </a:lnTo>
                <a:lnTo>
                  <a:pt x="1374" y="303"/>
                </a:lnTo>
                <a:lnTo>
                  <a:pt x="1392" y="322"/>
                </a:lnTo>
                <a:lnTo>
                  <a:pt x="1409" y="340"/>
                </a:lnTo>
                <a:lnTo>
                  <a:pt x="1425" y="358"/>
                </a:lnTo>
                <a:lnTo>
                  <a:pt x="1440" y="379"/>
                </a:lnTo>
                <a:lnTo>
                  <a:pt x="1453" y="398"/>
                </a:lnTo>
                <a:lnTo>
                  <a:pt x="1466" y="418"/>
                </a:lnTo>
                <a:lnTo>
                  <a:pt x="1437" y="422"/>
                </a:lnTo>
                <a:lnTo>
                  <a:pt x="1409" y="427"/>
                </a:lnTo>
                <a:lnTo>
                  <a:pt x="1631" y="609"/>
                </a:lnTo>
                <a:lnTo>
                  <a:pt x="1599" y="338"/>
                </a:lnTo>
                <a:lnTo>
                  <a:pt x="1556" y="379"/>
                </a:lnTo>
                <a:close/>
              </a:path>
            </a:pathLst>
          </a:custGeom>
          <a:solidFill>
            <a:srgbClr val="FF0000">
              <a:alpha val="75000"/>
            </a:srgbClr>
          </a:solidFill>
          <a:ln w="9525">
            <a:noFill/>
            <a:round/>
            <a:headEnd/>
            <a:tailEnd/>
          </a:ln>
        </p:spPr>
        <p:txBody>
          <a:bodyPr/>
          <a:lstStyle/>
          <a:p>
            <a:endParaRPr lang="fr-FR"/>
          </a:p>
        </p:txBody>
      </p:sp>
      <p:sp>
        <p:nvSpPr>
          <p:cNvPr id="474305" name="Freeform 193"/>
          <p:cNvSpPr>
            <a:spLocks/>
          </p:cNvSpPr>
          <p:nvPr/>
        </p:nvSpPr>
        <p:spPr bwMode="auto">
          <a:xfrm rot="12403909" flipH="1">
            <a:off x="2057400" y="3352800"/>
            <a:ext cx="2057400" cy="1143000"/>
          </a:xfrm>
          <a:custGeom>
            <a:avLst/>
            <a:gdLst/>
            <a:ahLst/>
            <a:cxnLst>
              <a:cxn ang="0">
                <a:pos x="1544" y="358"/>
              </a:cxn>
              <a:cxn ang="0">
                <a:pos x="1531" y="338"/>
              </a:cxn>
              <a:cxn ang="0">
                <a:pos x="1500" y="299"/>
              </a:cxn>
              <a:cxn ang="0">
                <a:pos x="1466" y="263"/>
              </a:cxn>
              <a:cxn ang="0">
                <a:pos x="1425" y="228"/>
              </a:cxn>
              <a:cxn ang="0">
                <a:pos x="1382" y="195"/>
              </a:cxn>
              <a:cxn ang="0">
                <a:pos x="1332" y="163"/>
              </a:cxn>
              <a:cxn ang="0">
                <a:pos x="1280" y="134"/>
              </a:cxn>
              <a:cxn ang="0">
                <a:pos x="1225" y="108"/>
              </a:cxn>
              <a:cxn ang="0">
                <a:pos x="1164" y="85"/>
              </a:cxn>
              <a:cxn ang="0">
                <a:pos x="1102" y="63"/>
              </a:cxn>
              <a:cxn ang="0">
                <a:pos x="1037" y="44"/>
              </a:cxn>
              <a:cxn ang="0">
                <a:pos x="967" y="29"/>
              </a:cxn>
              <a:cxn ang="0">
                <a:pos x="896" y="18"/>
              </a:cxn>
              <a:cxn ang="0">
                <a:pos x="824" y="8"/>
              </a:cxn>
              <a:cxn ang="0">
                <a:pos x="767" y="3"/>
              </a:cxn>
              <a:cxn ang="0">
                <a:pos x="709" y="2"/>
              </a:cxn>
              <a:cxn ang="0">
                <a:pos x="622" y="2"/>
              </a:cxn>
              <a:cxn ang="0">
                <a:pos x="573" y="3"/>
              </a:cxn>
              <a:cxn ang="0">
                <a:pos x="479" y="12"/>
              </a:cxn>
              <a:cxn ang="0">
                <a:pos x="432" y="19"/>
              </a:cxn>
              <a:cxn ang="0">
                <a:pos x="344" y="35"/>
              </a:cxn>
              <a:cxn ang="0">
                <a:pos x="258" y="57"/>
              </a:cxn>
              <a:cxn ang="0">
                <a:pos x="177" y="85"/>
              </a:cxn>
              <a:cxn ang="0">
                <a:pos x="102" y="115"/>
              </a:cxn>
              <a:cxn ang="0">
                <a:pos x="32" y="150"/>
              </a:cxn>
              <a:cxn ang="0">
                <a:pos x="31" y="154"/>
              </a:cxn>
              <a:cxn ang="0">
                <a:pos x="95" y="129"/>
              </a:cxn>
              <a:cxn ang="0">
                <a:pos x="163" y="106"/>
              </a:cxn>
              <a:cxn ang="0">
                <a:pos x="197" y="96"/>
              </a:cxn>
              <a:cxn ang="0">
                <a:pos x="270" y="80"/>
              </a:cxn>
              <a:cxn ang="0">
                <a:pos x="345" y="66"/>
              </a:cxn>
              <a:cxn ang="0">
                <a:pos x="422" y="56"/>
              </a:cxn>
              <a:cxn ang="0">
                <a:pos x="503" y="50"/>
              </a:cxn>
              <a:cxn ang="0">
                <a:pos x="584" y="47"/>
              </a:cxn>
              <a:cxn ang="0">
                <a:pos x="661" y="50"/>
              </a:cxn>
              <a:cxn ang="0">
                <a:pos x="735" y="54"/>
              </a:cxn>
              <a:cxn ang="0">
                <a:pos x="808" y="63"/>
              </a:cxn>
              <a:cxn ang="0">
                <a:pos x="879" y="74"/>
              </a:cxn>
              <a:cxn ang="0">
                <a:pos x="947" y="90"/>
              </a:cxn>
              <a:cxn ang="0">
                <a:pos x="1012" y="108"/>
              </a:cxn>
              <a:cxn ang="0">
                <a:pos x="1074" y="128"/>
              </a:cxn>
              <a:cxn ang="0">
                <a:pos x="1134" y="153"/>
              </a:cxn>
              <a:cxn ang="0">
                <a:pos x="1189" y="177"/>
              </a:cxn>
              <a:cxn ang="0">
                <a:pos x="1241" y="206"/>
              </a:cxn>
              <a:cxn ang="0">
                <a:pos x="1290" y="237"/>
              </a:cxn>
              <a:cxn ang="0">
                <a:pos x="1334" y="269"/>
              </a:cxn>
              <a:cxn ang="0">
                <a:pos x="1374" y="303"/>
              </a:cxn>
              <a:cxn ang="0">
                <a:pos x="1409" y="340"/>
              </a:cxn>
              <a:cxn ang="0">
                <a:pos x="1440" y="379"/>
              </a:cxn>
              <a:cxn ang="0">
                <a:pos x="1466" y="418"/>
              </a:cxn>
              <a:cxn ang="0">
                <a:pos x="1409" y="427"/>
              </a:cxn>
              <a:cxn ang="0">
                <a:pos x="1599" y="338"/>
              </a:cxn>
            </a:cxnLst>
            <a:rect l="0" t="0" r="r" b="b"/>
            <a:pathLst>
              <a:path w="1631" h="609">
                <a:moveTo>
                  <a:pt x="1556" y="379"/>
                </a:moveTo>
                <a:lnTo>
                  <a:pt x="1544" y="358"/>
                </a:lnTo>
                <a:lnTo>
                  <a:pt x="1537" y="348"/>
                </a:lnTo>
                <a:lnTo>
                  <a:pt x="1531" y="338"/>
                </a:lnTo>
                <a:lnTo>
                  <a:pt x="1516" y="319"/>
                </a:lnTo>
                <a:lnTo>
                  <a:pt x="1500" y="299"/>
                </a:lnTo>
                <a:lnTo>
                  <a:pt x="1483" y="282"/>
                </a:lnTo>
                <a:lnTo>
                  <a:pt x="1466" y="263"/>
                </a:lnTo>
                <a:lnTo>
                  <a:pt x="1445" y="245"/>
                </a:lnTo>
                <a:lnTo>
                  <a:pt x="1425" y="228"/>
                </a:lnTo>
                <a:lnTo>
                  <a:pt x="1403" y="211"/>
                </a:lnTo>
                <a:lnTo>
                  <a:pt x="1382" y="195"/>
                </a:lnTo>
                <a:lnTo>
                  <a:pt x="1357" y="179"/>
                </a:lnTo>
                <a:lnTo>
                  <a:pt x="1332" y="163"/>
                </a:lnTo>
                <a:lnTo>
                  <a:pt x="1308" y="148"/>
                </a:lnTo>
                <a:lnTo>
                  <a:pt x="1280" y="134"/>
                </a:lnTo>
                <a:lnTo>
                  <a:pt x="1253" y="121"/>
                </a:lnTo>
                <a:lnTo>
                  <a:pt x="1225" y="108"/>
                </a:lnTo>
                <a:lnTo>
                  <a:pt x="1195" y="96"/>
                </a:lnTo>
                <a:lnTo>
                  <a:pt x="1164" y="85"/>
                </a:lnTo>
                <a:lnTo>
                  <a:pt x="1134" y="73"/>
                </a:lnTo>
                <a:lnTo>
                  <a:pt x="1102" y="63"/>
                </a:lnTo>
                <a:lnTo>
                  <a:pt x="1070" y="54"/>
                </a:lnTo>
                <a:lnTo>
                  <a:pt x="1037" y="44"/>
                </a:lnTo>
                <a:lnTo>
                  <a:pt x="1002" y="37"/>
                </a:lnTo>
                <a:lnTo>
                  <a:pt x="967" y="29"/>
                </a:lnTo>
                <a:lnTo>
                  <a:pt x="932" y="22"/>
                </a:lnTo>
                <a:lnTo>
                  <a:pt x="896" y="18"/>
                </a:lnTo>
                <a:lnTo>
                  <a:pt x="860" y="12"/>
                </a:lnTo>
                <a:lnTo>
                  <a:pt x="824" y="8"/>
                </a:lnTo>
                <a:lnTo>
                  <a:pt x="786" y="5"/>
                </a:lnTo>
                <a:lnTo>
                  <a:pt x="767" y="3"/>
                </a:lnTo>
                <a:lnTo>
                  <a:pt x="748" y="3"/>
                </a:lnTo>
                <a:lnTo>
                  <a:pt x="709" y="2"/>
                </a:lnTo>
                <a:lnTo>
                  <a:pt x="671" y="0"/>
                </a:lnTo>
                <a:lnTo>
                  <a:pt x="622" y="2"/>
                </a:lnTo>
                <a:lnTo>
                  <a:pt x="597" y="3"/>
                </a:lnTo>
                <a:lnTo>
                  <a:pt x="573" y="3"/>
                </a:lnTo>
                <a:lnTo>
                  <a:pt x="525" y="8"/>
                </a:lnTo>
                <a:lnTo>
                  <a:pt x="479" y="12"/>
                </a:lnTo>
                <a:lnTo>
                  <a:pt x="455" y="16"/>
                </a:lnTo>
                <a:lnTo>
                  <a:pt x="432" y="19"/>
                </a:lnTo>
                <a:lnTo>
                  <a:pt x="387" y="27"/>
                </a:lnTo>
                <a:lnTo>
                  <a:pt x="344" y="35"/>
                </a:lnTo>
                <a:lnTo>
                  <a:pt x="300" y="45"/>
                </a:lnTo>
                <a:lnTo>
                  <a:pt x="258" y="57"/>
                </a:lnTo>
                <a:lnTo>
                  <a:pt x="218" y="70"/>
                </a:lnTo>
                <a:lnTo>
                  <a:pt x="177" y="85"/>
                </a:lnTo>
                <a:lnTo>
                  <a:pt x="139" y="99"/>
                </a:lnTo>
                <a:lnTo>
                  <a:pt x="102" y="115"/>
                </a:lnTo>
                <a:lnTo>
                  <a:pt x="67" y="131"/>
                </a:lnTo>
                <a:lnTo>
                  <a:pt x="32" y="150"/>
                </a:lnTo>
                <a:lnTo>
                  <a:pt x="0" y="169"/>
                </a:lnTo>
                <a:lnTo>
                  <a:pt x="31" y="154"/>
                </a:lnTo>
                <a:lnTo>
                  <a:pt x="63" y="141"/>
                </a:lnTo>
                <a:lnTo>
                  <a:pt x="95" y="129"/>
                </a:lnTo>
                <a:lnTo>
                  <a:pt x="128" y="118"/>
                </a:lnTo>
                <a:lnTo>
                  <a:pt x="163" y="106"/>
                </a:lnTo>
                <a:lnTo>
                  <a:pt x="180" y="102"/>
                </a:lnTo>
                <a:lnTo>
                  <a:pt x="197" y="96"/>
                </a:lnTo>
                <a:lnTo>
                  <a:pt x="232" y="87"/>
                </a:lnTo>
                <a:lnTo>
                  <a:pt x="270" y="80"/>
                </a:lnTo>
                <a:lnTo>
                  <a:pt x="306" y="71"/>
                </a:lnTo>
                <a:lnTo>
                  <a:pt x="345" y="66"/>
                </a:lnTo>
                <a:lnTo>
                  <a:pt x="383" y="60"/>
                </a:lnTo>
                <a:lnTo>
                  <a:pt x="422" y="56"/>
                </a:lnTo>
                <a:lnTo>
                  <a:pt x="463" y="53"/>
                </a:lnTo>
                <a:lnTo>
                  <a:pt x="503" y="50"/>
                </a:lnTo>
                <a:lnTo>
                  <a:pt x="544" y="48"/>
                </a:lnTo>
                <a:lnTo>
                  <a:pt x="584" y="47"/>
                </a:lnTo>
                <a:lnTo>
                  <a:pt x="624" y="48"/>
                </a:lnTo>
                <a:lnTo>
                  <a:pt x="661" y="50"/>
                </a:lnTo>
                <a:lnTo>
                  <a:pt x="699" y="51"/>
                </a:lnTo>
                <a:lnTo>
                  <a:pt x="735" y="54"/>
                </a:lnTo>
                <a:lnTo>
                  <a:pt x="773" y="58"/>
                </a:lnTo>
                <a:lnTo>
                  <a:pt x="808" y="63"/>
                </a:lnTo>
                <a:lnTo>
                  <a:pt x="844" y="69"/>
                </a:lnTo>
                <a:lnTo>
                  <a:pt x="879" y="74"/>
                </a:lnTo>
                <a:lnTo>
                  <a:pt x="913" y="82"/>
                </a:lnTo>
                <a:lnTo>
                  <a:pt x="947" y="90"/>
                </a:lnTo>
                <a:lnTo>
                  <a:pt x="980" y="99"/>
                </a:lnTo>
                <a:lnTo>
                  <a:pt x="1012" y="108"/>
                </a:lnTo>
                <a:lnTo>
                  <a:pt x="1044" y="118"/>
                </a:lnTo>
                <a:lnTo>
                  <a:pt x="1074" y="128"/>
                </a:lnTo>
                <a:lnTo>
                  <a:pt x="1105" y="140"/>
                </a:lnTo>
                <a:lnTo>
                  <a:pt x="1134" y="153"/>
                </a:lnTo>
                <a:lnTo>
                  <a:pt x="1161" y="164"/>
                </a:lnTo>
                <a:lnTo>
                  <a:pt x="1189" y="177"/>
                </a:lnTo>
                <a:lnTo>
                  <a:pt x="1216" y="192"/>
                </a:lnTo>
                <a:lnTo>
                  <a:pt x="1241" y="206"/>
                </a:lnTo>
                <a:lnTo>
                  <a:pt x="1266" y="221"/>
                </a:lnTo>
                <a:lnTo>
                  <a:pt x="1290" y="237"/>
                </a:lnTo>
                <a:lnTo>
                  <a:pt x="1312" y="253"/>
                </a:lnTo>
                <a:lnTo>
                  <a:pt x="1334" y="269"/>
                </a:lnTo>
                <a:lnTo>
                  <a:pt x="1354" y="286"/>
                </a:lnTo>
                <a:lnTo>
                  <a:pt x="1374" y="303"/>
                </a:lnTo>
                <a:lnTo>
                  <a:pt x="1392" y="322"/>
                </a:lnTo>
                <a:lnTo>
                  <a:pt x="1409" y="340"/>
                </a:lnTo>
                <a:lnTo>
                  <a:pt x="1425" y="358"/>
                </a:lnTo>
                <a:lnTo>
                  <a:pt x="1440" y="379"/>
                </a:lnTo>
                <a:lnTo>
                  <a:pt x="1453" y="398"/>
                </a:lnTo>
                <a:lnTo>
                  <a:pt x="1466" y="418"/>
                </a:lnTo>
                <a:lnTo>
                  <a:pt x="1437" y="422"/>
                </a:lnTo>
                <a:lnTo>
                  <a:pt x="1409" y="427"/>
                </a:lnTo>
                <a:lnTo>
                  <a:pt x="1631" y="609"/>
                </a:lnTo>
                <a:lnTo>
                  <a:pt x="1599" y="338"/>
                </a:lnTo>
                <a:lnTo>
                  <a:pt x="1556" y="379"/>
                </a:lnTo>
                <a:close/>
              </a:path>
            </a:pathLst>
          </a:custGeom>
          <a:solidFill>
            <a:srgbClr val="FF0000">
              <a:alpha val="75000"/>
            </a:srgbClr>
          </a:solidFill>
          <a:ln w="9525">
            <a:noFill/>
            <a:round/>
            <a:headEnd/>
            <a:tailEnd/>
          </a:ln>
        </p:spPr>
        <p:txBody>
          <a:bodyPr/>
          <a:lstStyle/>
          <a:p>
            <a:endParaRPr lang="fr-FR"/>
          </a:p>
        </p:txBody>
      </p:sp>
      <p:sp>
        <p:nvSpPr>
          <p:cNvPr id="474306" name="AutoShape 194"/>
          <p:cNvSpPr>
            <a:spLocks noChangeArrowheads="1"/>
          </p:cNvSpPr>
          <p:nvPr>
            <p:custDataLst>
              <p:tags r:id="rId2"/>
            </p:custDataLst>
          </p:nvPr>
        </p:nvSpPr>
        <p:spPr bwMode="auto">
          <a:xfrm>
            <a:off x="188686" y="1308100"/>
            <a:ext cx="8737600" cy="1444625"/>
          </a:xfrm>
          <a:prstGeom prst="roundRect">
            <a:avLst>
              <a:gd name="adj" fmla="val 16667"/>
            </a:avLst>
          </a:prstGeom>
          <a:gradFill rotWithShape="1">
            <a:gsLst>
              <a:gs pos="0">
                <a:srgbClr val="EAABA0"/>
              </a:gs>
              <a:gs pos="100000">
                <a:srgbClr val="F6D9D4"/>
              </a:gs>
            </a:gsLst>
            <a:lin ang="2700000" scaled="1"/>
          </a:gradFill>
          <a:ln w="9525" algn="ctr">
            <a:solidFill>
              <a:srgbClr val="808080"/>
            </a:solidFill>
            <a:round/>
            <a:headEnd/>
            <a:tailEnd/>
          </a:ln>
          <a:effectLst>
            <a:outerShdw dist="35921" dir="2700000" algn="ctr" rotWithShape="0">
              <a:srgbClr val="C0C0C0"/>
            </a:outerShdw>
          </a:effectLst>
        </p:spPr>
        <p:txBody>
          <a:bodyPr anchor="ctr"/>
          <a:lstStyle/>
          <a:p>
            <a:pPr algn="l">
              <a:lnSpc>
                <a:spcPct val="90000"/>
              </a:lnSpc>
            </a:pPr>
            <a:r>
              <a:rPr lang="en-GB" sz="2600" b="1">
                <a:solidFill>
                  <a:srgbClr val="000000"/>
                </a:solidFill>
              </a:rPr>
              <a:t>Un </a:t>
            </a:r>
            <a:r>
              <a:rPr lang="en-GB" sz="2600" b="1" i="1">
                <a:solidFill>
                  <a:srgbClr val="000000"/>
                </a:solidFill>
              </a:rPr>
              <a:t>réseau privé virtuel (VPN)</a:t>
            </a:r>
            <a:r>
              <a:rPr lang="en-GB" sz="2600" b="1">
                <a:solidFill>
                  <a:srgbClr val="000000"/>
                </a:solidFill>
              </a:rPr>
              <a:t> est l'extension d'un réseau privé qui englobe des liaisons à travers des réseaux partagés ou publics, comme Internet, selon une méthode qui émule une liaison point à point</a:t>
            </a:r>
            <a:endParaRPr lang="en-US" sz="2600" b="1"/>
          </a:p>
        </p:txBody>
      </p:sp>
      <p:sp>
        <p:nvSpPr>
          <p:cNvPr id="474307" name="Text Box 195"/>
          <p:cNvSpPr txBox="1">
            <a:spLocks noChangeArrowheads="1"/>
          </p:cNvSpPr>
          <p:nvPr>
            <p:custDataLst>
              <p:tags r:id="rId3"/>
            </p:custDataLst>
          </p:nvPr>
        </p:nvSpPr>
        <p:spPr bwMode="auto">
          <a:xfrm>
            <a:off x="261258" y="3339874"/>
            <a:ext cx="1477975" cy="667875"/>
          </a:xfrm>
          <a:prstGeom prst="rect">
            <a:avLst/>
          </a:prstGeom>
          <a:noFill/>
          <a:ln w="9525" algn="ctr">
            <a:noFill/>
            <a:miter lim="800000"/>
            <a:headEnd/>
            <a:tailEnd/>
          </a:ln>
          <a:effectLst/>
        </p:spPr>
        <p:txBody>
          <a:bodyPr wrap="square">
            <a:spAutoFit/>
          </a:bodyPr>
          <a:lstStyle/>
          <a:p>
            <a:pPr algn="r">
              <a:lnSpc>
                <a:spcPct val="85000"/>
              </a:lnSpc>
            </a:pPr>
            <a:r>
              <a:rPr lang="en-GB" sz="2200" b="1" dirty="0" err="1">
                <a:solidFill>
                  <a:srgbClr val="000000"/>
                </a:solidFill>
              </a:rPr>
              <a:t>Contrôleur</a:t>
            </a:r>
            <a:endParaRPr lang="en-US" sz="2200" b="1" dirty="0"/>
          </a:p>
          <a:p>
            <a:pPr algn="r">
              <a:lnSpc>
                <a:spcPct val="85000"/>
              </a:lnSpc>
            </a:pPr>
            <a:r>
              <a:rPr lang="en-GB" sz="2200" b="1" dirty="0">
                <a:solidFill>
                  <a:srgbClr val="000000"/>
                </a:solidFill>
              </a:rPr>
              <a:t>de </a:t>
            </a:r>
            <a:r>
              <a:rPr lang="en-GB" sz="2200" b="1" dirty="0" err="1">
                <a:solidFill>
                  <a:srgbClr val="000000"/>
                </a:solidFill>
              </a:rPr>
              <a:t>domaine</a:t>
            </a:r>
            <a:endParaRPr lang="en-US" sz="2200" b="1" dirty="0">
              <a:solidFill>
                <a:srgbClr val="000000"/>
              </a:solidFill>
            </a:endParaRPr>
          </a:p>
        </p:txBody>
      </p:sp>
      <p:sp>
        <p:nvSpPr>
          <p:cNvPr id="474308" name="Text Box 196"/>
          <p:cNvSpPr txBox="1">
            <a:spLocks noChangeArrowheads="1"/>
          </p:cNvSpPr>
          <p:nvPr>
            <p:custDataLst>
              <p:tags r:id="rId4"/>
            </p:custDataLst>
          </p:nvPr>
        </p:nvSpPr>
        <p:spPr bwMode="auto">
          <a:xfrm>
            <a:off x="7059613" y="4090988"/>
            <a:ext cx="1503816" cy="430887"/>
          </a:xfrm>
          <a:prstGeom prst="rect">
            <a:avLst/>
          </a:prstGeom>
          <a:noFill/>
          <a:ln w="9525" algn="ctr">
            <a:noFill/>
            <a:miter lim="800000"/>
            <a:headEnd/>
            <a:tailEnd/>
          </a:ln>
          <a:effectLst/>
        </p:spPr>
        <p:txBody>
          <a:bodyPr wrap="square">
            <a:spAutoFit/>
          </a:bodyPr>
          <a:lstStyle/>
          <a:p>
            <a:pPr algn="l">
              <a:spcBef>
                <a:spcPct val="50000"/>
              </a:spcBef>
            </a:pPr>
            <a:r>
              <a:rPr lang="en-GB" sz="2200" b="1">
                <a:solidFill>
                  <a:srgbClr val="000000"/>
                </a:solidFill>
              </a:rPr>
              <a:t>Client VPN</a:t>
            </a:r>
            <a:endParaRPr lang="en-US" sz="2200" b="1">
              <a:solidFill>
                <a:srgbClr val="000000"/>
              </a:solidFill>
            </a:endParaRPr>
          </a:p>
        </p:txBody>
      </p:sp>
      <p:sp>
        <p:nvSpPr>
          <p:cNvPr id="474309" name="Text Box 197"/>
          <p:cNvSpPr txBox="1">
            <a:spLocks noChangeArrowheads="1"/>
          </p:cNvSpPr>
          <p:nvPr>
            <p:custDataLst>
              <p:tags r:id="rId5"/>
            </p:custDataLst>
          </p:nvPr>
        </p:nvSpPr>
        <p:spPr bwMode="auto">
          <a:xfrm>
            <a:off x="3696605" y="3033259"/>
            <a:ext cx="2025765" cy="380104"/>
          </a:xfrm>
          <a:prstGeom prst="rect">
            <a:avLst/>
          </a:prstGeom>
          <a:noFill/>
          <a:ln w="9525" algn="ctr">
            <a:noFill/>
            <a:miter lim="800000"/>
            <a:headEnd/>
            <a:tailEnd/>
          </a:ln>
          <a:effectLst/>
        </p:spPr>
        <p:txBody>
          <a:bodyPr wrap="square">
            <a:spAutoFit/>
          </a:bodyPr>
          <a:lstStyle/>
          <a:p>
            <a:pPr>
              <a:lnSpc>
                <a:spcPct val="85000"/>
              </a:lnSpc>
            </a:pPr>
            <a:r>
              <a:rPr lang="en-GB" sz="2200" b="1" dirty="0" err="1">
                <a:solidFill>
                  <a:srgbClr val="000000"/>
                </a:solidFill>
              </a:rPr>
              <a:t>Serveur</a:t>
            </a:r>
            <a:r>
              <a:rPr lang="en-GB" sz="2200" b="1" dirty="0">
                <a:solidFill>
                  <a:srgbClr val="000000"/>
                </a:solidFill>
              </a:rPr>
              <a:t> VPN</a:t>
            </a:r>
            <a:endParaRPr lang="en-US" sz="2200" b="1" dirty="0"/>
          </a:p>
        </p:txBody>
      </p:sp>
      <p:sp>
        <p:nvSpPr>
          <p:cNvPr id="49" name="Rectangle 48"/>
          <p:cNvSpPr/>
          <p:nvPr/>
        </p:nvSpPr>
        <p:spPr>
          <a:xfrm>
            <a:off x="72574" y="2873829"/>
            <a:ext cx="8955314" cy="3889826"/>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xit" presetSubtype="10" fill="hold" grpId="0" nodeType="clickEffect">
                                  <p:stCondLst>
                                    <p:cond delay="0"/>
                                  </p:stCondLst>
                                  <p:childTnLst>
                                    <p:animEffect transition="out" filter="checkerboard(across)">
                                      <p:cBhvr>
                                        <p:cTn id="6" dur="1000"/>
                                        <p:tgtEl>
                                          <p:spTgt spid="49"/>
                                        </p:tgtEl>
                                      </p:cBhvr>
                                    </p:animEffect>
                                    <p:set>
                                      <p:cBhvr>
                                        <p:cTn id="7" dur="1" fill="hold">
                                          <p:stCondLst>
                                            <p:cond delay="999"/>
                                          </p:stCondLst>
                                        </p:cTn>
                                        <p:tgtEl>
                                          <p:spTgt spid="49"/>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74286"/>
                                        </p:tgtEl>
                                        <p:attrNameLst>
                                          <p:attrName>style.visibility</p:attrName>
                                        </p:attrNameLst>
                                      </p:cBhvr>
                                      <p:to>
                                        <p:strVal val="visible"/>
                                      </p:to>
                                    </p:set>
                                    <p:animEffect transition="in" filter="wipe(left)">
                                      <p:cBhvr>
                                        <p:cTn id="12" dur="500"/>
                                        <p:tgtEl>
                                          <p:spTgt spid="474286"/>
                                        </p:tgtEl>
                                      </p:cBhvr>
                                    </p:animEffect>
                                  </p:childTnLst>
                                </p:cTn>
                              </p:par>
                            </p:childTnLst>
                          </p:cTn>
                        </p:par>
                        <p:par>
                          <p:cTn id="13" fill="hold">
                            <p:stCondLst>
                              <p:cond delay="500"/>
                            </p:stCondLst>
                            <p:childTnLst>
                              <p:par>
                                <p:cTn id="14" presetID="22" presetClass="entr" presetSubtype="2" fill="hold" grpId="0" nodeType="afterEffect">
                                  <p:stCondLst>
                                    <p:cond delay="0"/>
                                  </p:stCondLst>
                                  <p:childTnLst>
                                    <p:set>
                                      <p:cBhvr>
                                        <p:cTn id="15" dur="1" fill="hold">
                                          <p:stCondLst>
                                            <p:cond delay="0"/>
                                          </p:stCondLst>
                                        </p:cTn>
                                        <p:tgtEl>
                                          <p:spTgt spid="474289"/>
                                        </p:tgtEl>
                                        <p:attrNameLst>
                                          <p:attrName>style.visibility</p:attrName>
                                        </p:attrNameLst>
                                      </p:cBhvr>
                                      <p:to>
                                        <p:strVal val="visible"/>
                                      </p:to>
                                    </p:set>
                                    <p:animEffect transition="in" filter="wipe(right)">
                                      <p:cBhvr>
                                        <p:cTn id="16" dur="500"/>
                                        <p:tgtEl>
                                          <p:spTgt spid="47428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74280"/>
                                        </p:tgtEl>
                                        <p:attrNameLst>
                                          <p:attrName>style.visibility</p:attrName>
                                        </p:attrNameLst>
                                      </p:cBhvr>
                                      <p:to>
                                        <p:strVal val="visible"/>
                                      </p:to>
                                    </p:set>
                                    <p:animEffect transition="in" filter="wipe(left)">
                                      <p:cBhvr>
                                        <p:cTn id="21" dur="500"/>
                                        <p:tgtEl>
                                          <p:spTgt spid="474280"/>
                                        </p:tgtEl>
                                      </p:cBhvr>
                                    </p:animEffect>
                                  </p:childTnLst>
                                </p:cTn>
                              </p:par>
                            </p:childTnLst>
                          </p:cTn>
                        </p:par>
                        <p:par>
                          <p:cTn id="22" fill="hold">
                            <p:stCondLst>
                              <p:cond delay="500"/>
                            </p:stCondLst>
                            <p:childTnLst>
                              <p:par>
                                <p:cTn id="23" presetID="26" presetClass="emph" presetSubtype="0" fill="hold" nodeType="afterEffect">
                                  <p:stCondLst>
                                    <p:cond delay="0"/>
                                  </p:stCondLst>
                                  <p:childTnLst>
                                    <p:animEffect transition="out" filter="fade">
                                      <p:cBhvr>
                                        <p:cTn id="24" dur="1000" tmFilter="0, 0; .2, .5; .8, .5; 1, 0"/>
                                        <p:tgtEl>
                                          <p:spTgt spid="474303"/>
                                        </p:tgtEl>
                                      </p:cBhvr>
                                    </p:animEffect>
                                    <p:animScale>
                                      <p:cBhvr>
                                        <p:cTn id="25" dur="500" autoRev="1" fill="hold"/>
                                        <p:tgtEl>
                                          <p:spTgt spid="474303"/>
                                        </p:tgtEl>
                                      </p:cBhvr>
                                      <p:by x="105000" y="105000"/>
                                    </p:animScale>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74277"/>
                                        </p:tgtEl>
                                        <p:attrNameLst>
                                          <p:attrName>style.visibility</p:attrName>
                                        </p:attrNameLst>
                                      </p:cBhvr>
                                      <p:to>
                                        <p:strVal val="visible"/>
                                      </p:to>
                                    </p:set>
                                    <p:animEffect transition="in" filter="wipe(left)">
                                      <p:cBhvr>
                                        <p:cTn id="30" dur="1000"/>
                                        <p:tgtEl>
                                          <p:spTgt spid="474277"/>
                                        </p:tgtEl>
                                      </p:cBhvr>
                                    </p:animEffect>
                                  </p:childTnLst>
                                </p:cTn>
                              </p:par>
                            </p:childTnLst>
                          </p:cTn>
                        </p:par>
                        <p:par>
                          <p:cTn id="31" fill="hold">
                            <p:stCondLst>
                              <p:cond delay="1000"/>
                            </p:stCondLst>
                            <p:childTnLst>
                              <p:par>
                                <p:cTn id="32" presetID="18" presetClass="entr" presetSubtype="12" fill="hold" grpId="0" nodeType="afterEffect">
                                  <p:stCondLst>
                                    <p:cond delay="0"/>
                                  </p:stCondLst>
                                  <p:childTnLst>
                                    <p:set>
                                      <p:cBhvr>
                                        <p:cTn id="33" dur="1" fill="hold">
                                          <p:stCondLst>
                                            <p:cond delay="0"/>
                                          </p:stCondLst>
                                        </p:cTn>
                                        <p:tgtEl>
                                          <p:spTgt spid="474304"/>
                                        </p:tgtEl>
                                        <p:attrNameLst>
                                          <p:attrName>style.visibility</p:attrName>
                                        </p:attrNameLst>
                                      </p:cBhvr>
                                      <p:to>
                                        <p:strVal val="visible"/>
                                      </p:to>
                                    </p:set>
                                    <p:animEffect transition="in" filter="strips(downLeft)">
                                      <p:cBhvr>
                                        <p:cTn id="34" dur="500"/>
                                        <p:tgtEl>
                                          <p:spTgt spid="474304"/>
                                        </p:tgtEl>
                                      </p:cBhvr>
                                    </p:animEffect>
                                  </p:childTnLst>
                                </p:cTn>
                              </p:par>
                            </p:childTnLst>
                          </p:cTn>
                        </p:par>
                        <p:par>
                          <p:cTn id="35" fill="hold">
                            <p:stCondLst>
                              <p:cond delay="1500"/>
                            </p:stCondLst>
                            <p:childTnLst>
                              <p:par>
                                <p:cTn id="36" presetID="18" presetClass="entr" presetSubtype="3" fill="hold" grpId="0" nodeType="afterEffect">
                                  <p:stCondLst>
                                    <p:cond delay="0"/>
                                  </p:stCondLst>
                                  <p:childTnLst>
                                    <p:set>
                                      <p:cBhvr>
                                        <p:cTn id="37" dur="1" fill="hold">
                                          <p:stCondLst>
                                            <p:cond delay="0"/>
                                          </p:stCondLst>
                                        </p:cTn>
                                        <p:tgtEl>
                                          <p:spTgt spid="474305"/>
                                        </p:tgtEl>
                                        <p:attrNameLst>
                                          <p:attrName>style.visibility</p:attrName>
                                        </p:attrNameLst>
                                      </p:cBhvr>
                                      <p:to>
                                        <p:strVal val="visible"/>
                                      </p:to>
                                    </p:set>
                                    <p:animEffect transition="in" filter="strips(upRight)">
                                      <p:cBhvr>
                                        <p:cTn id="38" dur="500"/>
                                        <p:tgtEl>
                                          <p:spTgt spid="474305"/>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474283"/>
                                        </p:tgtEl>
                                        <p:attrNameLst>
                                          <p:attrName>style.visibility</p:attrName>
                                        </p:attrNameLst>
                                      </p:cBhvr>
                                      <p:to>
                                        <p:strVal val="visible"/>
                                      </p:to>
                                    </p:set>
                                    <p:animEffect transition="in" filter="wipe(left)">
                                      <p:cBhvr>
                                        <p:cTn id="43" dur="1000"/>
                                        <p:tgtEl>
                                          <p:spTgt spid="474283"/>
                                        </p:tgtEl>
                                      </p:cBhvr>
                                    </p:animEffect>
                                  </p:childTnLst>
                                </p:cTn>
                              </p:par>
                            </p:childTnLst>
                          </p:cTn>
                        </p:par>
                        <p:par>
                          <p:cTn id="44" fill="hold">
                            <p:stCondLst>
                              <p:cond delay="1000"/>
                            </p:stCondLst>
                            <p:childTnLst>
                              <p:par>
                                <p:cTn id="45" presetID="1" presetClass="entr" presetSubtype="0" fill="hold" nodeType="afterEffect">
                                  <p:stCondLst>
                                    <p:cond delay="0"/>
                                  </p:stCondLst>
                                  <p:childTnLst>
                                    <p:set>
                                      <p:cBhvr>
                                        <p:cTn id="46" dur="1" fill="hold">
                                          <p:stCondLst>
                                            <p:cond delay="0"/>
                                          </p:stCondLst>
                                        </p:cTn>
                                        <p:tgtEl>
                                          <p:spTgt spid="474296"/>
                                        </p:tgtEl>
                                        <p:attrNameLst>
                                          <p:attrName>style.visibility</p:attrName>
                                        </p:attrNameLst>
                                      </p:cBhvr>
                                      <p:to>
                                        <p:strVal val="visible"/>
                                      </p:to>
                                    </p:set>
                                  </p:childTnLst>
                                </p:cTn>
                              </p:par>
                            </p:childTnLst>
                          </p:cTn>
                        </p:par>
                        <p:par>
                          <p:cTn id="47" fill="hold">
                            <p:stCondLst>
                              <p:cond delay="1000"/>
                            </p:stCondLst>
                            <p:childTnLst>
                              <p:par>
                                <p:cTn id="48" presetID="22" presetClass="entr" presetSubtype="2" fill="hold" grpId="0" nodeType="afterEffect">
                                  <p:stCondLst>
                                    <p:cond delay="0"/>
                                  </p:stCondLst>
                                  <p:childTnLst>
                                    <p:set>
                                      <p:cBhvr>
                                        <p:cTn id="49" dur="1" fill="hold">
                                          <p:stCondLst>
                                            <p:cond delay="0"/>
                                          </p:stCondLst>
                                        </p:cTn>
                                        <p:tgtEl>
                                          <p:spTgt spid="474299"/>
                                        </p:tgtEl>
                                        <p:attrNameLst>
                                          <p:attrName>style.visibility</p:attrName>
                                        </p:attrNameLst>
                                      </p:cBhvr>
                                      <p:to>
                                        <p:strVal val="visible"/>
                                      </p:to>
                                    </p:set>
                                    <p:animEffect transition="in" filter="wipe(right)">
                                      <p:cBhvr>
                                        <p:cTn id="50" dur="500"/>
                                        <p:tgtEl>
                                          <p:spTgt spid="4742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289" grpId="0" animBg="1"/>
      <p:bldP spid="474299" grpId="0" animBg="1"/>
      <p:bldP spid="474304" grpId="0" animBg="1"/>
      <p:bldP spid="474305" grpId="0" animBg="1"/>
      <p:bldP spid="4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en-GB" sz="3600" dirty="0" err="1">
                <a:solidFill>
                  <a:srgbClr val="C00000"/>
                </a:solidFill>
              </a:rPr>
              <a:t>Avantages</a:t>
            </a:r>
            <a:r>
              <a:rPr lang="en-GB" sz="3600" dirty="0">
                <a:solidFill>
                  <a:srgbClr val="C00000"/>
                </a:solidFill>
              </a:rPr>
              <a:t> </a:t>
            </a:r>
            <a:r>
              <a:rPr lang="en-GB" sz="3600" dirty="0" err="1">
                <a:solidFill>
                  <a:srgbClr val="C00000"/>
                </a:solidFill>
              </a:rPr>
              <a:t>d'une</a:t>
            </a:r>
            <a:r>
              <a:rPr lang="en-GB" sz="3600" dirty="0">
                <a:solidFill>
                  <a:srgbClr val="C00000"/>
                </a:solidFill>
              </a:rPr>
              <a:t> connexion VPN</a:t>
            </a:r>
            <a:endParaRPr lang="fr-FR" dirty="0"/>
          </a:p>
        </p:txBody>
      </p:sp>
      <p:sp>
        <p:nvSpPr>
          <p:cNvPr id="3" name="Espace réservé du contenu 2"/>
          <p:cNvSpPr>
            <a:spLocks noGrp="1"/>
          </p:cNvSpPr>
          <p:nvPr>
            <p:ph sz="quarter" idx="1"/>
          </p:nvPr>
        </p:nvSpPr>
        <p:spPr/>
        <p:txBody>
          <a:bodyPr>
            <a:normAutofit/>
          </a:bodyPr>
          <a:lstStyle/>
          <a:p>
            <a:pPr>
              <a:buClrTx/>
            </a:pPr>
            <a:r>
              <a:rPr lang="fr-FR" sz="2400" dirty="0"/>
              <a:t>Permet aux utilisateurs ou aux entreprises de se connecter à des serveurs distants sur un réseau public</a:t>
            </a:r>
          </a:p>
          <a:p>
            <a:pPr>
              <a:buClrTx/>
            </a:pPr>
            <a:r>
              <a:rPr lang="fr-FR" sz="2400" b="1" i="1" u="sng" dirty="0"/>
              <a:t>Réduction des coûts</a:t>
            </a:r>
            <a:r>
              <a:rPr lang="fr-FR" sz="2400" i="1" dirty="0"/>
              <a:t>: Le réseau VPN n’utilise pas de ligne téléphonique et </a:t>
            </a:r>
            <a:r>
              <a:rPr lang="fr-FR" sz="2400" dirty="0"/>
              <a:t>requiert un minimum de matériel</a:t>
            </a:r>
          </a:p>
          <a:p>
            <a:pPr>
              <a:buClrTx/>
            </a:pPr>
            <a:r>
              <a:rPr lang="fr-FR" sz="2400" b="1" i="1" u="sng" dirty="0"/>
              <a:t>Sécurité accrue</a:t>
            </a:r>
            <a:r>
              <a:rPr lang="fr-FR" sz="2400" i="1" dirty="0"/>
              <a:t>: </a:t>
            </a:r>
            <a:r>
              <a:rPr lang="fr-FR" sz="2400" dirty="0"/>
              <a:t>Le serveur VPN applique l’authentification et le cryptage.</a:t>
            </a:r>
          </a:p>
          <a:p>
            <a:pPr>
              <a:buClrTx/>
            </a:pPr>
            <a:r>
              <a:rPr lang="fr-FR" sz="2400" b="1" i="1" u="sng" dirty="0"/>
              <a:t>Prise en charge des protocoles réseau</a:t>
            </a:r>
            <a:r>
              <a:rPr lang="fr-FR" sz="2400" i="1" dirty="0"/>
              <a:t>:  Vous pouvez exécuter à distance une </a:t>
            </a:r>
            <a:r>
              <a:rPr lang="fr-FR" sz="2400" dirty="0"/>
              <a:t>application qui dépend des protocoles réseau les plus courants (TCP/IP)</a:t>
            </a:r>
          </a:p>
          <a:p>
            <a:pPr>
              <a:buClrTx/>
            </a:pPr>
            <a:r>
              <a:rPr lang="fr-FR" sz="2400" b="1" i="1" u="sng" dirty="0"/>
              <a:t>Sécurité des adresses IP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1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1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1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heckerboard(across)">
                                      <p:cBhvr>
                                        <p:cTn id="22" dur="1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checkerboard(across)">
                                      <p:cBhvr>
                                        <p:cTn id="27" dur="10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7" name="Rectangle 1027"/>
          <p:cNvSpPr>
            <a:spLocks noGrp="1" noChangeArrowheads="1"/>
          </p:cNvSpPr>
          <p:nvPr>
            <p:ph type="title"/>
            <p:custDataLst>
              <p:tags r:id="rId1"/>
            </p:custDataLst>
          </p:nvPr>
        </p:nvSpPr>
        <p:spPr/>
        <p:txBody>
          <a:bodyPr vert="horz" anchor="b">
            <a:normAutofit/>
          </a:bodyPr>
          <a:lstStyle/>
          <a:p>
            <a:r>
              <a:rPr lang="en-GB" sz="2800" dirty="0">
                <a:solidFill>
                  <a:srgbClr val="C00000"/>
                </a:solidFill>
              </a:rPr>
              <a:t>Composants d'une connexion VPN</a:t>
            </a:r>
            <a:endParaRPr sz="2800" dirty="0">
              <a:solidFill>
                <a:srgbClr val="C00000"/>
              </a:solidFill>
            </a:endParaRPr>
          </a:p>
        </p:txBody>
      </p:sp>
      <p:sp>
        <p:nvSpPr>
          <p:cNvPr id="472066" name="Oval 1026"/>
          <p:cNvSpPr>
            <a:spLocks noGrp="1" noChangeArrowheads="1"/>
          </p:cNvSpPr>
          <p:nvPr>
            <p:ph sz="quarter" idx="1"/>
            <p:custDataLst>
              <p:tags r:id="rId2"/>
            </p:custDataLst>
          </p:nvPr>
        </p:nvSpPr>
        <p:spPr>
          <a:xfrm>
            <a:off x="1289050" y="1638300"/>
            <a:ext cx="6716713" cy="3200400"/>
          </a:xfrm>
          <a:prstGeom prst="ellipse">
            <a:avLst/>
          </a:prstGeom>
          <a:gradFill rotWithShape="1">
            <a:gsLst>
              <a:gs pos="0">
                <a:srgbClr val="CFE1C2"/>
              </a:gs>
              <a:gs pos="100000">
                <a:srgbClr val="FFFFFF"/>
              </a:gs>
            </a:gsLst>
            <a:lin ang="5400000" scaled="1"/>
          </a:gradFill>
          <a:ln/>
        </p:spPr>
        <p:txBody>
          <a:bodyPr/>
          <a:lstStyle/>
          <a:p>
            <a:pPr marL="342900" indent="-342900"/>
            <a:endParaRPr lang="en-US"/>
          </a:p>
          <a:p>
            <a:pPr marL="342900" indent="-342900"/>
            <a:endParaRPr lang="en-US"/>
          </a:p>
          <a:p>
            <a:pPr marL="342900" indent="-342900"/>
            <a:endParaRPr lang="en-US"/>
          </a:p>
        </p:txBody>
      </p:sp>
      <p:sp>
        <p:nvSpPr>
          <p:cNvPr id="472096" name="Line 1056"/>
          <p:cNvSpPr>
            <a:spLocks noChangeShapeType="1"/>
          </p:cNvSpPr>
          <p:nvPr/>
        </p:nvSpPr>
        <p:spPr bwMode="auto">
          <a:xfrm>
            <a:off x="3262778" y="1916800"/>
            <a:ext cx="0" cy="850900"/>
          </a:xfrm>
          <a:prstGeom prst="line">
            <a:avLst/>
          </a:prstGeom>
          <a:noFill/>
          <a:ln w="38100">
            <a:solidFill>
              <a:srgbClr val="333333"/>
            </a:solidFill>
            <a:round/>
            <a:headEnd/>
            <a:tailEnd/>
          </a:ln>
          <a:effectLst/>
        </p:spPr>
        <p:txBody>
          <a:bodyPr anchor="ctr"/>
          <a:lstStyle/>
          <a:p>
            <a:endParaRPr lang="fr-FR"/>
          </a:p>
        </p:txBody>
      </p:sp>
      <p:sp>
        <p:nvSpPr>
          <p:cNvPr id="472072" name="AutoShape 1032"/>
          <p:cNvSpPr>
            <a:spLocks noChangeArrowheads="1"/>
          </p:cNvSpPr>
          <p:nvPr>
            <p:custDataLst>
              <p:tags r:id="rId3"/>
            </p:custDataLst>
          </p:nvPr>
        </p:nvSpPr>
        <p:spPr bwMode="auto">
          <a:xfrm>
            <a:off x="2405528" y="1309696"/>
            <a:ext cx="2950255" cy="974131"/>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square" anchor="ctr">
            <a:spAutoFit/>
          </a:bodyPr>
          <a:lstStyle/>
          <a:p>
            <a:pPr>
              <a:lnSpc>
                <a:spcPct val="85000"/>
              </a:lnSpc>
            </a:pPr>
            <a:r>
              <a:rPr lang="en-GB" sz="2200" b="1" dirty="0">
                <a:solidFill>
                  <a:srgbClr val="000000"/>
                </a:solidFill>
              </a:rPr>
              <a:t>Tunnel VPN</a:t>
            </a:r>
            <a:endParaRPr lang="en-US" sz="2200" b="1" dirty="0"/>
          </a:p>
          <a:p>
            <a:pPr>
              <a:lnSpc>
                <a:spcPct val="85000"/>
              </a:lnSpc>
            </a:pPr>
            <a:r>
              <a:rPr lang="en-GB" sz="2200" b="1" dirty="0" err="1">
                <a:solidFill>
                  <a:srgbClr val="000000"/>
                </a:solidFill>
              </a:rPr>
              <a:t>Protocoles</a:t>
            </a:r>
            <a:r>
              <a:rPr lang="en-GB" sz="2200" b="1" dirty="0">
                <a:solidFill>
                  <a:srgbClr val="000000"/>
                </a:solidFill>
              </a:rPr>
              <a:t> de </a:t>
            </a:r>
            <a:r>
              <a:rPr lang="en-GB" sz="2200" b="1" dirty="0" err="1">
                <a:solidFill>
                  <a:srgbClr val="000000"/>
                </a:solidFill>
              </a:rPr>
              <a:t>tunneling</a:t>
            </a:r>
            <a:endParaRPr lang="en-US" sz="2200" b="1" dirty="0"/>
          </a:p>
          <a:p>
            <a:pPr>
              <a:lnSpc>
                <a:spcPct val="85000"/>
              </a:lnSpc>
            </a:pPr>
            <a:r>
              <a:rPr lang="en-GB" sz="2200" b="1" dirty="0" err="1">
                <a:solidFill>
                  <a:srgbClr val="000000"/>
                </a:solidFill>
              </a:rPr>
              <a:t>Données</a:t>
            </a:r>
            <a:r>
              <a:rPr lang="en-GB" sz="2200" b="1" dirty="0">
                <a:solidFill>
                  <a:srgbClr val="000000"/>
                </a:solidFill>
              </a:rPr>
              <a:t> en tunnel</a:t>
            </a:r>
            <a:endParaRPr lang="en-US" sz="2200" b="1" dirty="0">
              <a:solidFill>
                <a:srgbClr val="000000"/>
              </a:solidFill>
            </a:endParaRPr>
          </a:p>
        </p:txBody>
      </p:sp>
      <p:sp>
        <p:nvSpPr>
          <p:cNvPr id="472094" name="Line 1054"/>
          <p:cNvSpPr>
            <a:spLocks noChangeShapeType="1"/>
          </p:cNvSpPr>
          <p:nvPr/>
        </p:nvSpPr>
        <p:spPr bwMode="auto">
          <a:xfrm flipH="1" flipV="1">
            <a:off x="1708615" y="3256650"/>
            <a:ext cx="457200" cy="914400"/>
          </a:xfrm>
          <a:prstGeom prst="line">
            <a:avLst/>
          </a:prstGeom>
          <a:noFill/>
          <a:ln w="57150">
            <a:solidFill>
              <a:srgbClr val="CC0000"/>
            </a:solidFill>
            <a:round/>
            <a:headEnd/>
            <a:tailEnd/>
          </a:ln>
          <a:effectLst/>
        </p:spPr>
        <p:txBody>
          <a:bodyPr anchor="ctr"/>
          <a:lstStyle/>
          <a:p>
            <a:endParaRPr lang="fr-FR"/>
          </a:p>
        </p:txBody>
      </p:sp>
      <p:sp>
        <p:nvSpPr>
          <p:cNvPr id="472092" name="Oval 1052"/>
          <p:cNvSpPr>
            <a:spLocks noChangeArrowheads="1"/>
          </p:cNvSpPr>
          <p:nvPr/>
        </p:nvSpPr>
        <p:spPr bwMode="auto">
          <a:xfrm>
            <a:off x="806915" y="3763063"/>
            <a:ext cx="2773363" cy="2003425"/>
          </a:xfrm>
          <a:prstGeom prst="ellipse">
            <a:avLst/>
          </a:prstGeom>
          <a:gradFill rotWithShape="1">
            <a:gsLst>
              <a:gs pos="0">
                <a:srgbClr val="FFFFFF"/>
              </a:gs>
              <a:gs pos="100000">
                <a:srgbClr val="EEEFD7"/>
              </a:gs>
            </a:gsLst>
            <a:path path="shape">
              <a:fillToRect l="50000" t="50000" r="50000" b="50000"/>
            </a:path>
          </a:gradFill>
          <a:ln w="9525">
            <a:noFill/>
            <a:round/>
            <a:headEnd/>
            <a:tailEnd/>
          </a:ln>
          <a:effectLst/>
        </p:spPr>
        <p:txBody>
          <a:bodyPr wrap="none" anchor="ctr"/>
          <a:lstStyle/>
          <a:p>
            <a:endParaRPr lang="fr-FR"/>
          </a:p>
        </p:txBody>
      </p:sp>
      <p:sp>
        <p:nvSpPr>
          <p:cNvPr id="472077" name="AutoShape 1037"/>
          <p:cNvSpPr>
            <a:spLocks noChangeArrowheads="1"/>
          </p:cNvSpPr>
          <p:nvPr>
            <p:custDataLst>
              <p:tags r:id="rId4"/>
            </p:custDataLst>
          </p:nvPr>
        </p:nvSpPr>
        <p:spPr bwMode="auto">
          <a:xfrm>
            <a:off x="6818539" y="3465739"/>
            <a:ext cx="1384300" cy="439222"/>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anchor="ctr">
            <a:spAutoFit/>
          </a:bodyPr>
          <a:lstStyle/>
          <a:p>
            <a:r>
              <a:rPr lang="en-GB" sz="2200" b="1" dirty="0">
                <a:solidFill>
                  <a:srgbClr val="000000"/>
                </a:solidFill>
              </a:rPr>
              <a:t>Client VPN</a:t>
            </a:r>
            <a:endParaRPr lang="en-US" sz="2200" b="1" dirty="0"/>
          </a:p>
        </p:txBody>
      </p:sp>
      <p:sp>
        <p:nvSpPr>
          <p:cNvPr id="472078" name="AutoShape 1038"/>
          <p:cNvSpPr>
            <a:spLocks noChangeArrowheads="1"/>
          </p:cNvSpPr>
          <p:nvPr>
            <p:custDataLst>
              <p:tags r:id="rId5"/>
            </p:custDataLst>
          </p:nvPr>
        </p:nvSpPr>
        <p:spPr bwMode="auto">
          <a:xfrm>
            <a:off x="275783" y="1664388"/>
            <a:ext cx="1747157" cy="439222"/>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square" anchor="ctr">
            <a:spAutoFit/>
          </a:bodyPr>
          <a:lstStyle/>
          <a:p>
            <a:r>
              <a:rPr lang="en-GB" sz="2200" b="1" dirty="0" err="1">
                <a:solidFill>
                  <a:srgbClr val="000000"/>
                </a:solidFill>
              </a:rPr>
              <a:t>Serveur</a:t>
            </a:r>
            <a:r>
              <a:rPr lang="en-GB" sz="2200" b="1" dirty="0">
                <a:solidFill>
                  <a:srgbClr val="000000"/>
                </a:solidFill>
              </a:rPr>
              <a:t> VPN</a:t>
            </a:r>
            <a:endParaRPr lang="en-US" sz="2200" b="1" dirty="0"/>
          </a:p>
        </p:txBody>
      </p:sp>
      <p:pic>
        <p:nvPicPr>
          <p:cNvPr id="472086" name="Picture 1046" descr="Server01"/>
          <p:cNvPicPr>
            <a:picLocks noChangeAspect="1" noChangeArrowheads="1"/>
          </p:cNvPicPr>
          <p:nvPr/>
        </p:nvPicPr>
        <p:blipFill>
          <a:blip r:embed="rId24" cstate="print"/>
          <a:srcRect/>
          <a:stretch>
            <a:fillRect/>
          </a:stretch>
        </p:blipFill>
        <p:spPr bwMode="auto">
          <a:xfrm>
            <a:off x="2549990" y="4715563"/>
            <a:ext cx="841375" cy="990600"/>
          </a:xfrm>
          <a:prstGeom prst="rect">
            <a:avLst/>
          </a:prstGeom>
          <a:noFill/>
        </p:spPr>
      </p:pic>
      <p:sp>
        <p:nvSpPr>
          <p:cNvPr id="472088" name="AutoShape 1048"/>
          <p:cNvSpPr>
            <a:spLocks noChangeArrowheads="1"/>
          </p:cNvSpPr>
          <p:nvPr>
            <p:custDataLst>
              <p:tags r:id="rId6"/>
            </p:custDataLst>
          </p:nvPr>
        </p:nvSpPr>
        <p:spPr bwMode="auto">
          <a:xfrm>
            <a:off x="3253253" y="4972738"/>
            <a:ext cx="3379787" cy="784324"/>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square" anchor="ctr">
            <a:spAutoFit/>
          </a:bodyPr>
          <a:lstStyle/>
          <a:p>
            <a:r>
              <a:rPr lang="en-GB" sz="2200" b="1">
                <a:solidFill>
                  <a:srgbClr val="000000"/>
                </a:solidFill>
              </a:rPr>
              <a:t>Attribution d'un serveur de </a:t>
            </a:r>
            <a:br>
              <a:rPr lang="en-GB" sz="2200" b="1">
                <a:solidFill>
                  <a:srgbClr val="000000"/>
                </a:solidFill>
              </a:rPr>
            </a:br>
            <a:r>
              <a:rPr lang="en-GB" sz="2200" b="1">
                <a:solidFill>
                  <a:srgbClr val="000000"/>
                </a:solidFill>
              </a:rPr>
              <a:t>noms et d'adresses</a:t>
            </a:r>
            <a:endParaRPr lang="en-US" sz="2200" b="1"/>
          </a:p>
        </p:txBody>
      </p:sp>
      <p:sp>
        <p:nvSpPr>
          <p:cNvPr id="472090" name="Text Box 1050"/>
          <p:cNvSpPr txBox="1">
            <a:spLocks noChangeArrowheads="1"/>
          </p:cNvSpPr>
          <p:nvPr>
            <p:custDataLst>
              <p:tags r:id="rId7"/>
            </p:custDataLst>
          </p:nvPr>
        </p:nvSpPr>
        <p:spPr bwMode="auto">
          <a:xfrm>
            <a:off x="1364355" y="5034422"/>
            <a:ext cx="1185636" cy="667875"/>
          </a:xfrm>
          <a:prstGeom prst="rect">
            <a:avLst/>
          </a:prstGeom>
          <a:noFill/>
          <a:ln w="9525" algn="ctr">
            <a:noFill/>
            <a:miter lim="800000"/>
            <a:headEnd/>
            <a:tailEnd/>
          </a:ln>
          <a:effectLst/>
        </p:spPr>
        <p:txBody>
          <a:bodyPr wrap="square">
            <a:spAutoFit/>
          </a:bodyPr>
          <a:lstStyle/>
          <a:p>
            <a:pPr>
              <a:lnSpc>
                <a:spcPct val="85000"/>
              </a:lnSpc>
            </a:pPr>
            <a:r>
              <a:rPr lang="en-GB" sz="2200" b="1" dirty="0" err="1">
                <a:solidFill>
                  <a:srgbClr val="C00000"/>
                </a:solidFill>
              </a:rPr>
              <a:t>Serveur</a:t>
            </a:r>
            <a:endParaRPr lang="en-US" sz="2200" b="1" dirty="0">
              <a:solidFill>
                <a:srgbClr val="C00000"/>
              </a:solidFill>
            </a:endParaRPr>
          </a:p>
          <a:p>
            <a:pPr>
              <a:lnSpc>
                <a:spcPct val="85000"/>
              </a:lnSpc>
            </a:pPr>
            <a:r>
              <a:rPr lang="en-GB" sz="2200" b="1" dirty="0">
                <a:solidFill>
                  <a:srgbClr val="C00000"/>
                </a:solidFill>
              </a:rPr>
              <a:t>DHCP</a:t>
            </a:r>
            <a:endParaRPr lang="en-US" sz="2200" b="1" dirty="0">
              <a:solidFill>
                <a:srgbClr val="C00000"/>
              </a:solidFill>
            </a:endParaRPr>
          </a:p>
        </p:txBody>
      </p:sp>
      <p:pic>
        <p:nvPicPr>
          <p:cNvPr id="472091" name="Picture 1051" descr="Server01"/>
          <p:cNvPicPr>
            <a:picLocks noChangeAspect="1" noChangeArrowheads="1"/>
          </p:cNvPicPr>
          <p:nvPr/>
        </p:nvPicPr>
        <p:blipFill>
          <a:blip r:embed="rId24" cstate="print"/>
          <a:srcRect/>
          <a:stretch>
            <a:fillRect/>
          </a:stretch>
        </p:blipFill>
        <p:spPr bwMode="auto">
          <a:xfrm>
            <a:off x="870415" y="4296463"/>
            <a:ext cx="841375" cy="990600"/>
          </a:xfrm>
          <a:prstGeom prst="rect">
            <a:avLst/>
          </a:prstGeom>
          <a:noFill/>
        </p:spPr>
      </p:pic>
      <p:sp>
        <p:nvSpPr>
          <p:cNvPr id="472093" name="Text Box 1053"/>
          <p:cNvSpPr txBox="1">
            <a:spLocks noChangeArrowheads="1"/>
          </p:cNvSpPr>
          <p:nvPr>
            <p:custDataLst>
              <p:tags r:id="rId8"/>
            </p:custDataLst>
          </p:nvPr>
        </p:nvSpPr>
        <p:spPr bwMode="auto">
          <a:xfrm>
            <a:off x="-1" y="3612252"/>
            <a:ext cx="1683435" cy="667875"/>
          </a:xfrm>
          <a:prstGeom prst="rect">
            <a:avLst/>
          </a:prstGeom>
          <a:noFill/>
          <a:ln w="9525" algn="ctr">
            <a:noFill/>
            <a:miter lim="800000"/>
            <a:headEnd/>
            <a:tailEnd/>
          </a:ln>
          <a:effectLst/>
        </p:spPr>
        <p:txBody>
          <a:bodyPr wrap="square">
            <a:spAutoFit/>
          </a:bodyPr>
          <a:lstStyle/>
          <a:p>
            <a:pPr>
              <a:lnSpc>
                <a:spcPct val="85000"/>
              </a:lnSpc>
            </a:pPr>
            <a:r>
              <a:rPr lang="en-GB" sz="2200" b="1" dirty="0" err="1">
                <a:solidFill>
                  <a:srgbClr val="C00000"/>
                </a:solidFill>
              </a:rPr>
              <a:t>Contrôleur</a:t>
            </a:r>
            <a:endParaRPr lang="en-US" sz="2200" b="1" dirty="0">
              <a:solidFill>
                <a:srgbClr val="C00000"/>
              </a:solidFill>
            </a:endParaRPr>
          </a:p>
          <a:p>
            <a:pPr>
              <a:lnSpc>
                <a:spcPct val="85000"/>
              </a:lnSpc>
            </a:pPr>
            <a:r>
              <a:rPr lang="en-GB" sz="2200" b="1" dirty="0">
                <a:solidFill>
                  <a:srgbClr val="C00000"/>
                </a:solidFill>
              </a:rPr>
              <a:t>de </a:t>
            </a:r>
            <a:r>
              <a:rPr lang="en-GB" sz="2200" b="1" dirty="0" err="1">
                <a:solidFill>
                  <a:srgbClr val="C00000"/>
                </a:solidFill>
              </a:rPr>
              <a:t>domaine</a:t>
            </a:r>
            <a:endParaRPr lang="en-US" sz="2200" b="1" dirty="0">
              <a:solidFill>
                <a:srgbClr val="C00000"/>
              </a:solidFill>
            </a:endParaRPr>
          </a:p>
        </p:txBody>
      </p:sp>
      <p:sp>
        <p:nvSpPr>
          <p:cNvPr id="472095" name="AutoShape 1055"/>
          <p:cNvSpPr>
            <a:spLocks noChangeArrowheads="1"/>
          </p:cNvSpPr>
          <p:nvPr>
            <p:custDataLst>
              <p:tags r:id="rId9"/>
            </p:custDataLst>
          </p:nvPr>
        </p:nvSpPr>
        <p:spPr bwMode="auto">
          <a:xfrm>
            <a:off x="1414927" y="4137713"/>
            <a:ext cx="1995942" cy="439222"/>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square" anchor="ctr">
            <a:spAutoFit/>
          </a:bodyPr>
          <a:lstStyle/>
          <a:p>
            <a:r>
              <a:rPr lang="en-GB" sz="2200" b="1" dirty="0" err="1">
                <a:solidFill>
                  <a:srgbClr val="000000"/>
                </a:solidFill>
              </a:rPr>
              <a:t>Authentification</a:t>
            </a:r>
            <a:endParaRPr lang="en-US" sz="2200" b="1" dirty="0">
              <a:solidFill>
                <a:srgbClr val="000000"/>
              </a:solidFill>
            </a:endParaRPr>
          </a:p>
        </p:txBody>
      </p:sp>
      <p:sp>
        <p:nvSpPr>
          <p:cNvPr id="472102" name="Line 1062"/>
          <p:cNvSpPr>
            <a:spLocks noChangeShapeType="1"/>
          </p:cNvSpPr>
          <p:nvPr/>
        </p:nvSpPr>
        <p:spPr bwMode="auto">
          <a:xfrm flipH="1">
            <a:off x="1865778" y="2997888"/>
            <a:ext cx="4405312" cy="0"/>
          </a:xfrm>
          <a:prstGeom prst="line">
            <a:avLst/>
          </a:prstGeom>
          <a:noFill/>
          <a:ln w="57150">
            <a:solidFill>
              <a:srgbClr val="CC0000"/>
            </a:solidFill>
            <a:round/>
            <a:headEnd/>
            <a:tailEnd/>
          </a:ln>
          <a:effectLst/>
        </p:spPr>
        <p:txBody>
          <a:bodyPr anchor="ctr"/>
          <a:lstStyle/>
          <a:p>
            <a:endParaRPr lang="fr-FR"/>
          </a:p>
        </p:txBody>
      </p:sp>
      <p:pic>
        <p:nvPicPr>
          <p:cNvPr id="472079" name="Picture 1039" descr="Internet_Tunnel01"/>
          <p:cNvPicPr>
            <a:picLocks noChangeAspect="1" noChangeArrowheads="1"/>
          </p:cNvPicPr>
          <p:nvPr/>
        </p:nvPicPr>
        <p:blipFill>
          <a:blip r:embed="rId25" cstate="print"/>
          <a:srcRect/>
          <a:stretch>
            <a:fillRect/>
          </a:stretch>
        </p:blipFill>
        <p:spPr bwMode="auto">
          <a:xfrm rot="2120667">
            <a:off x="3229440" y="2291450"/>
            <a:ext cx="1397000" cy="1238250"/>
          </a:xfrm>
          <a:prstGeom prst="rect">
            <a:avLst/>
          </a:prstGeom>
          <a:noFill/>
        </p:spPr>
      </p:pic>
      <p:pic>
        <p:nvPicPr>
          <p:cNvPr id="472070" name="Picture 1030" descr="Laptop"/>
          <p:cNvPicPr>
            <a:picLocks noChangeAspect="1" noChangeArrowheads="1"/>
          </p:cNvPicPr>
          <p:nvPr>
            <p:custDataLst>
              <p:tags r:id="rId10"/>
            </p:custDataLst>
          </p:nvPr>
        </p:nvPicPr>
        <p:blipFill>
          <a:blip r:embed="rId26" cstate="print"/>
          <a:srcRect/>
          <a:stretch>
            <a:fillRect/>
          </a:stretch>
        </p:blipFill>
        <p:spPr bwMode="auto">
          <a:xfrm flipH="1">
            <a:off x="5901203" y="2183501"/>
            <a:ext cx="1019175" cy="1112838"/>
          </a:xfrm>
          <a:prstGeom prst="rect">
            <a:avLst/>
          </a:prstGeom>
          <a:noFill/>
        </p:spPr>
      </p:pic>
      <p:pic>
        <p:nvPicPr>
          <p:cNvPr id="472071" name="Picture 1031" descr="UserInteract"/>
          <p:cNvPicPr>
            <a:picLocks noChangeAspect="1" noChangeArrowheads="1"/>
          </p:cNvPicPr>
          <p:nvPr>
            <p:custDataLst>
              <p:tags r:id="rId11"/>
            </p:custDataLst>
          </p:nvPr>
        </p:nvPicPr>
        <p:blipFill>
          <a:blip r:embed="rId27"/>
          <a:srcRect/>
          <a:stretch>
            <a:fillRect/>
          </a:stretch>
        </p:blipFill>
        <p:spPr bwMode="auto">
          <a:xfrm flipH="1">
            <a:off x="6566365" y="2169213"/>
            <a:ext cx="790575" cy="1301750"/>
          </a:xfrm>
          <a:prstGeom prst="rect">
            <a:avLst/>
          </a:prstGeom>
          <a:noFill/>
        </p:spPr>
      </p:pic>
      <p:sp>
        <p:nvSpPr>
          <p:cNvPr id="472100" name="Line 1060"/>
          <p:cNvSpPr>
            <a:spLocks noChangeShapeType="1"/>
          </p:cNvSpPr>
          <p:nvPr>
            <p:custDataLst>
              <p:tags r:id="rId12"/>
            </p:custDataLst>
          </p:nvPr>
        </p:nvSpPr>
        <p:spPr bwMode="auto">
          <a:xfrm>
            <a:off x="4104153" y="3243951"/>
            <a:ext cx="0" cy="850900"/>
          </a:xfrm>
          <a:prstGeom prst="line">
            <a:avLst/>
          </a:prstGeom>
          <a:noFill/>
          <a:ln w="38100">
            <a:solidFill>
              <a:srgbClr val="333333"/>
            </a:solidFill>
            <a:round/>
            <a:headEnd/>
            <a:tailEnd/>
          </a:ln>
          <a:effectLst/>
        </p:spPr>
        <p:txBody>
          <a:bodyPr anchor="ctr"/>
          <a:lstStyle/>
          <a:p>
            <a:endParaRPr lang="fr-FR"/>
          </a:p>
        </p:txBody>
      </p:sp>
      <p:sp>
        <p:nvSpPr>
          <p:cNvPr id="472074" name="AutoShape 1034"/>
          <p:cNvSpPr>
            <a:spLocks noChangeArrowheads="1"/>
          </p:cNvSpPr>
          <p:nvPr>
            <p:custDataLst>
              <p:tags r:id="rId13"/>
            </p:custDataLst>
          </p:nvPr>
        </p:nvSpPr>
        <p:spPr bwMode="auto">
          <a:xfrm>
            <a:off x="3719978" y="3974201"/>
            <a:ext cx="2346325" cy="439738"/>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square" anchor="ctr">
            <a:spAutoFit/>
          </a:bodyPr>
          <a:lstStyle/>
          <a:p>
            <a:r>
              <a:rPr lang="en-GB" sz="2200" b="1" dirty="0" err="1">
                <a:solidFill>
                  <a:srgbClr val="000000"/>
                </a:solidFill>
              </a:rPr>
              <a:t>Réseau</a:t>
            </a:r>
            <a:r>
              <a:rPr lang="en-GB" sz="2200" b="1" dirty="0">
                <a:solidFill>
                  <a:srgbClr val="000000"/>
                </a:solidFill>
              </a:rPr>
              <a:t> de transit</a:t>
            </a:r>
            <a:endParaRPr lang="en-US" sz="2200" b="1" dirty="0"/>
          </a:p>
        </p:txBody>
      </p:sp>
      <p:pic>
        <p:nvPicPr>
          <p:cNvPr id="472081" name="Picture 1041" descr="Server01"/>
          <p:cNvPicPr>
            <a:picLocks noChangeAspect="1" noChangeArrowheads="1"/>
          </p:cNvPicPr>
          <p:nvPr/>
        </p:nvPicPr>
        <p:blipFill>
          <a:blip r:embed="rId28" cstate="print"/>
          <a:srcRect/>
          <a:stretch>
            <a:fillRect/>
          </a:stretch>
        </p:blipFill>
        <p:spPr bwMode="auto">
          <a:xfrm>
            <a:off x="814853" y="2134288"/>
            <a:ext cx="1201737" cy="1414462"/>
          </a:xfrm>
          <a:prstGeom prst="rect">
            <a:avLst/>
          </a:prstGeom>
          <a:noFill/>
        </p:spPr>
      </p:pic>
      <p:sp>
        <p:nvSpPr>
          <p:cNvPr id="24" name="AutoShape 1047"/>
          <p:cNvSpPr>
            <a:spLocks noChangeArrowheads="1"/>
          </p:cNvSpPr>
          <p:nvPr>
            <p:custDataLst>
              <p:tags r:id="rId14"/>
            </p:custDataLst>
          </p:nvPr>
        </p:nvSpPr>
        <p:spPr bwMode="auto">
          <a:xfrm>
            <a:off x="145140" y="5907315"/>
            <a:ext cx="8824689" cy="892629"/>
          </a:xfrm>
          <a:prstGeom prst="roundRect">
            <a:avLst>
              <a:gd name="adj" fmla="val 12231"/>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gn="just"/>
            <a:r>
              <a:rPr lang="fr-FR" sz="2200" b="1" dirty="0">
                <a:solidFill>
                  <a:srgbClr val="0070C0"/>
                </a:solidFill>
              </a:rPr>
              <a:t>Ordinateur qui accepte les connexions VPN émanant de clients VPN (service Routage et accès distant )</a:t>
            </a:r>
            <a:endParaRPr lang="en-US" sz="2200" b="1" dirty="0">
              <a:solidFill>
                <a:srgbClr val="0070C0"/>
              </a:solidFill>
            </a:endParaRPr>
          </a:p>
        </p:txBody>
      </p:sp>
      <p:sp>
        <p:nvSpPr>
          <p:cNvPr id="25" name="AutoShape 1047"/>
          <p:cNvSpPr>
            <a:spLocks noChangeArrowheads="1"/>
          </p:cNvSpPr>
          <p:nvPr>
            <p:custDataLst>
              <p:tags r:id="rId15"/>
            </p:custDataLst>
          </p:nvPr>
        </p:nvSpPr>
        <p:spPr bwMode="auto">
          <a:xfrm>
            <a:off x="152400" y="5900061"/>
            <a:ext cx="8824689" cy="892629"/>
          </a:xfrm>
          <a:prstGeom prst="roundRect">
            <a:avLst>
              <a:gd name="adj" fmla="val 12231"/>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gn="just"/>
            <a:r>
              <a:rPr lang="fr-FR" sz="2200" b="1" dirty="0">
                <a:solidFill>
                  <a:srgbClr val="0070C0"/>
                </a:solidFill>
              </a:rPr>
              <a:t>Ordinateur qui amorce une connexion VPN à un serveur VPN</a:t>
            </a:r>
            <a:endParaRPr lang="en-US" sz="2200" b="1" dirty="0">
              <a:solidFill>
                <a:srgbClr val="0070C0"/>
              </a:solidFill>
            </a:endParaRPr>
          </a:p>
        </p:txBody>
      </p:sp>
      <p:sp>
        <p:nvSpPr>
          <p:cNvPr id="26" name="AutoShape 1047"/>
          <p:cNvSpPr>
            <a:spLocks noChangeArrowheads="1"/>
          </p:cNvSpPr>
          <p:nvPr>
            <p:custDataLst>
              <p:tags r:id="rId16"/>
            </p:custDataLst>
          </p:nvPr>
        </p:nvSpPr>
        <p:spPr bwMode="auto">
          <a:xfrm>
            <a:off x="145146" y="5907321"/>
            <a:ext cx="8824689" cy="892629"/>
          </a:xfrm>
          <a:prstGeom prst="roundRect">
            <a:avLst>
              <a:gd name="adj" fmla="val 12231"/>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gn="just"/>
            <a:r>
              <a:rPr lang="fr-FR" sz="2200" b="1" dirty="0">
                <a:solidFill>
                  <a:srgbClr val="0070C0"/>
                </a:solidFill>
              </a:rPr>
              <a:t>Réseau public ou privé traversé par les données encapsulées</a:t>
            </a:r>
            <a:endParaRPr lang="en-US" sz="2200" b="1" dirty="0">
              <a:solidFill>
                <a:srgbClr val="0070C0"/>
              </a:solidFill>
            </a:endParaRPr>
          </a:p>
        </p:txBody>
      </p:sp>
      <p:sp>
        <p:nvSpPr>
          <p:cNvPr id="27" name="AutoShape 1047"/>
          <p:cNvSpPr>
            <a:spLocks noChangeArrowheads="1"/>
          </p:cNvSpPr>
          <p:nvPr>
            <p:custDataLst>
              <p:tags r:id="rId17"/>
            </p:custDataLst>
          </p:nvPr>
        </p:nvSpPr>
        <p:spPr bwMode="auto">
          <a:xfrm>
            <a:off x="137892" y="5900067"/>
            <a:ext cx="8824689" cy="892629"/>
          </a:xfrm>
          <a:prstGeom prst="roundRect">
            <a:avLst>
              <a:gd name="adj" fmla="val 12231"/>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gn="just"/>
            <a:r>
              <a:rPr lang="fr-FR" sz="2200" b="1" dirty="0">
                <a:solidFill>
                  <a:srgbClr val="0070C0"/>
                </a:solidFill>
              </a:rPr>
              <a:t>Segment de la connexion dans lequel vos données sont cryptées et encapsulées</a:t>
            </a:r>
            <a:endParaRPr lang="en-US" sz="2200" b="1" dirty="0">
              <a:solidFill>
                <a:srgbClr val="0070C0"/>
              </a:solidFill>
            </a:endParaRPr>
          </a:p>
        </p:txBody>
      </p:sp>
      <p:sp>
        <p:nvSpPr>
          <p:cNvPr id="28" name="AutoShape 1047"/>
          <p:cNvSpPr>
            <a:spLocks noChangeArrowheads="1"/>
          </p:cNvSpPr>
          <p:nvPr>
            <p:custDataLst>
              <p:tags r:id="rId18"/>
            </p:custDataLst>
          </p:nvPr>
        </p:nvSpPr>
        <p:spPr bwMode="auto">
          <a:xfrm>
            <a:off x="145152" y="5892813"/>
            <a:ext cx="8824689" cy="892629"/>
          </a:xfrm>
          <a:prstGeom prst="roundRect">
            <a:avLst>
              <a:gd name="adj" fmla="val 12231"/>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gn="just"/>
            <a:r>
              <a:rPr lang="fr-FR" sz="2200" b="1" dirty="0">
                <a:solidFill>
                  <a:srgbClr val="0070C0"/>
                </a:solidFill>
              </a:rPr>
              <a:t>Protocoles utilisés pour gérer les tunnels et encapsuler des données privées (</a:t>
            </a:r>
            <a:r>
              <a:rPr lang="fr-FR" sz="2200" b="1" dirty="0" err="1">
                <a:solidFill>
                  <a:srgbClr val="0070C0"/>
                </a:solidFill>
              </a:rPr>
              <a:t>pptp</a:t>
            </a:r>
            <a:r>
              <a:rPr lang="fr-FR" sz="2200" b="1" dirty="0">
                <a:solidFill>
                  <a:srgbClr val="0070C0"/>
                </a:solidFill>
              </a:rPr>
              <a:t> par ex)</a:t>
            </a:r>
            <a:endParaRPr lang="en-US" sz="2200" b="1" dirty="0">
              <a:solidFill>
                <a:srgbClr val="0070C0"/>
              </a:solidFill>
            </a:endParaRPr>
          </a:p>
        </p:txBody>
      </p:sp>
      <p:sp>
        <p:nvSpPr>
          <p:cNvPr id="29" name="AutoShape 1047"/>
          <p:cNvSpPr>
            <a:spLocks noChangeArrowheads="1"/>
          </p:cNvSpPr>
          <p:nvPr>
            <p:custDataLst>
              <p:tags r:id="rId19"/>
            </p:custDataLst>
          </p:nvPr>
        </p:nvSpPr>
        <p:spPr bwMode="auto">
          <a:xfrm>
            <a:off x="137898" y="5885559"/>
            <a:ext cx="8824689" cy="892629"/>
          </a:xfrm>
          <a:prstGeom prst="roundRect">
            <a:avLst>
              <a:gd name="adj" fmla="val 12231"/>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gn="just"/>
            <a:r>
              <a:rPr lang="fr-FR" sz="2200" b="1" dirty="0">
                <a:solidFill>
                  <a:srgbClr val="0070C0"/>
                </a:solidFill>
              </a:rPr>
              <a:t>Données acheminées généralement via une liaison point à point privée</a:t>
            </a:r>
            <a:endParaRPr lang="en-US" sz="2200" b="1" dirty="0">
              <a:solidFill>
                <a:srgbClr val="0070C0"/>
              </a:solidFill>
            </a:endParaRPr>
          </a:p>
        </p:txBody>
      </p:sp>
      <p:sp>
        <p:nvSpPr>
          <p:cNvPr id="30" name="AutoShape 1047"/>
          <p:cNvSpPr>
            <a:spLocks noChangeArrowheads="1"/>
          </p:cNvSpPr>
          <p:nvPr>
            <p:custDataLst>
              <p:tags r:id="rId20"/>
            </p:custDataLst>
          </p:nvPr>
        </p:nvSpPr>
        <p:spPr bwMode="auto">
          <a:xfrm>
            <a:off x="130644" y="5892819"/>
            <a:ext cx="8824689" cy="892629"/>
          </a:xfrm>
          <a:prstGeom prst="roundRect">
            <a:avLst>
              <a:gd name="adj" fmla="val 12231"/>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gn="just"/>
            <a:r>
              <a:rPr lang="fr-FR" sz="2200" b="1" dirty="0">
                <a:solidFill>
                  <a:srgbClr val="0070C0"/>
                </a:solidFill>
              </a:rPr>
              <a:t>l’identité du client, du serveur  et les données envoyées </a:t>
            </a:r>
            <a:endParaRPr lang="en-US" sz="2200" b="1" dirty="0" err="1">
              <a:solidFill>
                <a:srgbClr val="0070C0"/>
              </a:solidFill>
            </a:endParaRPr>
          </a:p>
        </p:txBody>
      </p:sp>
      <p:sp>
        <p:nvSpPr>
          <p:cNvPr id="31" name="AutoShape 1047"/>
          <p:cNvSpPr>
            <a:spLocks noChangeArrowheads="1"/>
          </p:cNvSpPr>
          <p:nvPr>
            <p:custDataLst>
              <p:tags r:id="rId21"/>
            </p:custDataLst>
          </p:nvPr>
        </p:nvSpPr>
        <p:spPr bwMode="auto">
          <a:xfrm>
            <a:off x="123390" y="5900079"/>
            <a:ext cx="8824689" cy="892629"/>
          </a:xfrm>
          <a:prstGeom prst="roundRect">
            <a:avLst>
              <a:gd name="adj" fmla="val 12231"/>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gn="just"/>
            <a:r>
              <a:rPr lang="fr-FR" sz="2200" b="1" dirty="0">
                <a:solidFill>
                  <a:srgbClr val="0070C0"/>
                </a:solidFill>
              </a:rPr>
              <a:t>Le serveur VPN est responsable de l’attribution d’adresses IP. Il alloue également des adresses de serveur DNS et WINS aux clients</a:t>
            </a:r>
            <a:endParaRPr lang="en-US" sz="2200" b="1" dirty="0" err="1">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checkerboard(across)">
                                      <p:cBhvr>
                                        <p:cTn id="7" dur="500"/>
                                        <p:tgtEl>
                                          <p:spTgt spid="24"/>
                                        </p:tgtEl>
                                      </p:cBhvr>
                                    </p:animEffect>
                                  </p:childTnLst>
                                </p:cTn>
                              </p:par>
                              <p:par>
                                <p:cTn id="8" presetID="1" presetClass="emph" presetSubtype="2" fill="hold" nodeType="withEffect">
                                  <p:stCondLst>
                                    <p:cond delay="0"/>
                                  </p:stCondLst>
                                  <p:childTnLst>
                                    <p:animClr clrSpc="rgb" dir="cw">
                                      <p:cBhvr>
                                        <p:cTn id="9" dur="2000" fill="hold"/>
                                        <p:tgtEl>
                                          <p:spTgt spid="472078"/>
                                        </p:tgtEl>
                                        <p:attrNameLst>
                                          <p:attrName>fillcolor</p:attrName>
                                        </p:attrNameLst>
                                      </p:cBhvr>
                                      <p:to>
                                        <a:srgbClr val="6600FF"/>
                                      </p:to>
                                    </p:animClr>
                                    <p:set>
                                      <p:cBhvr>
                                        <p:cTn id="10" dur="2000" fill="hold"/>
                                        <p:tgtEl>
                                          <p:spTgt spid="472078"/>
                                        </p:tgtEl>
                                        <p:attrNameLst>
                                          <p:attrName>fill.type</p:attrName>
                                        </p:attrNameLst>
                                      </p:cBhvr>
                                      <p:to>
                                        <p:strVal val="solid"/>
                                      </p:to>
                                    </p:set>
                                    <p:set>
                                      <p:cBhvr>
                                        <p:cTn id="11" dur="2000" fill="hold"/>
                                        <p:tgtEl>
                                          <p:spTgt spid="472078"/>
                                        </p:tgtEl>
                                        <p:attrNameLst>
                                          <p:attrName>fill.on</p:attrName>
                                        </p:attrNameLst>
                                      </p:cBhvr>
                                      <p:to>
                                        <p:strVal val="true"/>
                                      </p:to>
                                    </p:set>
                                  </p:childTnLst>
                                </p:cTn>
                              </p:par>
                              <p:par>
                                <p:cTn id="12" presetID="3" presetClass="emph" presetSubtype="2" fill="hold" grpId="0" nodeType="withEffect">
                                  <p:stCondLst>
                                    <p:cond delay="0"/>
                                  </p:stCondLst>
                                  <p:childTnLst>
                                    <p:animClr clrSpc="rgb" dir="cw">
                                      <p:cBhvr override="childStyle">
                                        <p:cTn id="13" dur="2000" fill="hold"/>
                                        <p:tgtEl>
                                          <p:spTgt spid="472078"/>
                                        </p:tgtEl>
                                        <p:attrNameLst>
                                          <p:attrName>style.color</p:attrName>
                                        </p:attrNameLst>
                                      </p:cBhvr>
                                      <p:to>
                                        <a:srgbClr val="CCECFF"/>
                                      </p:to>
                                    </p:animClr>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25"/>
                                        </p:tgtEl>
                                        <p:attrNameLst>
                                          <p:attrName>style.visibility</p:attrName>
                                        </p:attrNameLst>
                                      </p:cBhvr>
                                      <p:to>
                                        <p:strVal val="visible"/>
                                      </p:to>
                                    </p:set>
                                    <p:animEffect transition="in" filter="checkerboard(across)">
                                      <p:cBhvr>
                                        <p:cTn id="18" dur="500"/>
                                        <p:tgtEl>
                                          <p:spTgt spid="25"/>
                                        </p:tgtEl>
                                      </p:cBhvr>
                                    </p:animEffect>
                                  </p:childTnLst>
                                </p:cTn>
                              </p:par>
                              <p:par>
                                <p:cTn id="19" presetID="1" presetClass="emph" presetSubtype="2" fill="hold" nodeType="withEffect">
                                  <p:stCondLst>
                                    <p:cond delay="0"/>
                                  </p:stCondLst>
                                  <p:childTnLst>
                                    <p:animClr clrSpc="rgb" dir="cw">
                                      <p:cBhvr>
                                        <p:cTn id="20" dur="2000" fill="hold"/>
                                        <p:tgtEl>
                                          <p:spTgt spid="472078"/>
                                        </p:tgtEl>
                                        <p:attrNameLst>
                                          <p:attrName>fillcolor</p:attrName>
                                        </p:attrNameLst>
                                      </p:cBhvr>
                                      <p:to>
                                        <a:schemeClr val="bg1"/>
                                      </p:to>
                                    </p:animClr>
                                    <p:set>
                                      <p:cBhvr>
                                        <p:cTn id="21" dur="2000" fill="hold"/>
                                        <p:tgtEl>
                                          <p:spTgt spid="472078"/>
                                        </p:tgtEl>
                                        <p:attrNameLst>
                                          <p:attrName>fill.type</p:attrName>
                                        </p:attrNameLst>
                                      </p:cBhvr>
                                      <p:to>
                                        <p:strVal val="solid"/>
                                      </p:to>
                                    </p:set>
                                    <p:set>
                                      <p:cBhvr>
                                        <p:cTn id="22" dur="2000" fill="hold"/>
                                        <p:tgtEl>
                                          <p:spTgt spid="472078"/>
                                        </p:tgtEl>
                                        <p:attrNameLst>
                                          <p:attrName>fill.on</p:attrName>
                                        </p:attrNameLst>
                                      </p:cBhvr>
                                      <p:to>
                                        <p:strVal val="true"/>
                                      </p:to>
                                    </p:set>
                                  </p:childTnLst>
                                </p:cTn>
                              </p:par>
                              <p:par>
                                <p:cTn id="23" presetID="3" presetClass="emph" presetSubtype="2" fill="hold" grpId="1" nodeType="withEffect">
                                  <p:stCondLst>
                                    <p:cond delay="0"/>
                                  </p:stCondLst>
                                  <p:childTnLst>
                                    <p:animClr clrSpc="rgb" dir="cw">
                                      <p:cBhvr override="childStyle">
                                        <p:cTn id="24" dur="2000" fill="hold"/>
                                        <p:tgtEl>
                                          <p:spTgt spid="472078"/>
                                        </p:tgtEl>
                                        <p:attrNameLst>
                                          <p:attrName>style.color</p:attrName>
                                        </p:attrNameLst>
                                      </p:cBhvr>
                                      <p:to>
                                        <a:schemeClr val="tx1"/>
                                      </p:to>
                                    </p:animClr>
                                  </p:childTnLst>
                                </p:cTn>
                              </p:par>
                              <p:par>
                                <p:cTn id="25" presetID="1" presetClass="emph" presetSubtype="2" fill="hold" nodeType="withEffect">
                                  <p:stCondLst>
                                    <p:cond delay="0"/>
                                  </p:stCondLst>
                                  <p:childTnLst>
                                    <p:animClr clrSpc="rgb" dir="cw">
                                      <p:cBhvr>
                                        <p:cTn id="26" dur="2000" fill="hold"/>
                                        <p:tgtEl>
                                          <p:spTgt spid="472077"/>
                                        </p:tgtEl>
                                        <p:attrNameLst>
                                          <p:attrName>fillcolor</p:attrName>
                                        </p:attrNameLst>
                                      </p:cBhvr>
                                      <p:to>
                                        <a:srgbClr val="6600FF"/>
                                      </p:to>
                                    </p:animClr>
                                    <p:set>
                                      <p:cBhvr>
                                        <p:cTn id="27" dur="2000" fill="hold"/>
                                        <p:tgtEl>
                                          <p:spTgt spid="472077"/>
                                        </p:tgtEl>
                                        <p:attrNameLst>
                                          <p:attrName>fill.type</p:attrName>
                                        </p:attrNameLst>
                                      </p:cBhvr>
                                      <p:to>
                                        <p:strVal val="solid"/>
                                      </p:to>
                                    </p:set>
                                    <p:set>
                                      <p:cBhvr>
                                        <p:cTn id="28" dur="2000" fill="hold"/>
                                        <p:tgtEl>
                                          <p:spTgt spid="472077"/>
                                        </p:tgtEl>
                                        <p:attrNameLst>
                                          <p:attrName>fill.on</p:attrName>
                                        </p:attrNameLst>
                                      </p:cBhvr>
                                      <p:to>
                                        <p:strVal val="true"/>
                                      </p:to>
                                    </p:set>
                                  </p:childTnLst>
                                </p:cTn>
                              </p:par>
                              <p:par>
                                <p:cTn id="29" presetID="3" presetClass="emph" presetSubtype="2" fill="hold" grpId="0" nodeType="withEffect">
                                  <p:stCondLst>
                                    <p:cond delay="0"/>
                                  </p:stCondLst>
                                  <p:childTnLst>
                                    <p:animClr clrSpc="rgb" dir="cw">
                                      <p:cBhvr override="childStyle">
                                        <p:cTn id="30" dur="2000" fill="hold"/>
                                        <p:tgtEl>
                                          <p:spTgt spid="472077"/>
                                        </p:tgtEl>
                                        <p:attrNameLst>
                                          <p:attrName>style.color</p:attrName>
                                        </p:attrNameLst>
                                      </p:cBhvr>
                                      <p:to>
                                        <a:srgbClr val="CCECFF"/>
                                      </p:to>
                                    </p:animClr>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checkerboard(across)">
                                      <p:cBhvr>
                                        <p:cTn id="35" dur="500"/>
                                        <p:tgtEl>
                                          <p:spTgt spid="26"/>
                                        </p:tgtEl>
                                      </p:cBhvr>
                                    </p:animEffect>
                                  </p:childTnLst>
                                </p:cTn>
                              </p:par>
                              <p:par>
                                <p:cTn id="36" presetID="1" presetClass="emph" presetSubtype="2" fill="hold" nodeType="withEffect">
                                  <p:stCondLst>
                                    <p:cond delay="0"/>
                                  </p:stCondLst>
                                  <p:childTnLst>
                                    <p:animClr clrSpc="rgb" dir="cw">
                                      <p:cBhvr>
                                        <p:cTn id="37" dur="2000" fill="hold"/>
                                        <p:tgtEl>
                                          <p:spTgt spid="472077"/>
                                        </p:tgtEl>
                                        <p:attrNameLst>
                                          <p:attrName>fillcolor</p:attrName>
                                        </p:attrNameLst>
                                      </p:cBhvr>
                                      <p:to>
                                        <a:schemeClr val="bg1"/>
                                      </p:to>
                                    </p:animClr>
                                    <p:set>
                                      <p:cBhvr>
                                        <p:cTn id="38" dur="2000" fill="hold"/>
                                        <p:tgtEl>
                                          <p:spTgt spid="472077"/>
                                        </p:tgtEl>
                                        <p:attrNameLst>
                                          <p:attrName>fill.type</p:attrName>
                                        </p:attrNameLst>
                                      </p:cBhvr>
                                      <p:to>
                                        <p:strVal val="solid"/>
                                      </p:to>
                                    </p:set>
                                    <p:set>
                                      <p:cBhvr>
                                        <p:cTn id="39" dur="2000" fill="hold"/>
                                        <p:tgtEl>
                                          <p:spTgt spid="472077"/>
                                        </p:tgtEl>
                                        <p:attrNameLst>
                                          <p:attrName>fill.on</p:attrName>
                                        </p:attrNameLst>
                                      </p:cBhvr>
                                      <p:to>
                                        <p:strVal val="true"/>
                                      </p:to>
                                    </p:set>
                                  </p:childTnLst>
                                </p:cTn>
                              </p:par>
                              <p:par>
                                <p:cTn id="40" presetID="3" presetClass="emph" presetSubtype="2" fill="hold" grpId="1" nodeType="withEffect">
                                  <p:stCondLst>
                                    <p:cond delay="0"/>
                                  </p:stCondLst>
                                  <p:childTnLst>
                                    <p:animClr clrSpc="rgb" dir="cw">
                                      <p:cBhvr override="childStyle">
                                        <p:cTn id="41" dur="2000" fill="hold"/>
                                        <p:tgtEl>
                                          <p:spTgt spid="472077"/>
                                        </p:tgtEl>
                                        <p:attrNameLst>
                                          <p:attrName>style.color</p:attrName>
                                        </p:attrNameLst>
                                      </p:cBhvr>
                                      <p:to>
                                        <a:schemeClr val="tx1"/>
                                      </p:to>
                                    </p:animClr>
                                  </p:childTnLst>
                                </p:cTn>
                              </p:par>
                              <p:par>
                                <p:cTn id="42" presetID="1" presetClass="emph" presetSubtype="2" fill="hold" nodeType="withEffect">
                                  <p:stCondLst>
                                    <p:cond delay="0"/>
                                  </p:stCondLst>
                                  <p:childTnLst>
                                    <p:animClr clrSpc="rgb" dir="cw">
                                      <p:cBhvr>
                                        <p:cTn id="43" dur="2000" fill="hold"/>
                                        <p:tgtEl>
                                          <p:spTgt spid="472074"/>
                                        </p:tgtEl>
                                        <p:attrNameLst>
                                          <p:attrName>fillcolor</p:attrName>
                                        </p:attrNameLst>
                                      </p:cBhvr>
                                      <p:to>
                                        <a:srgbClr val="6600FF"/>
                                      </p:to>
                                    </p:animClr>
                                    <p:set>
                                      <p:cBhvr>
                                        <p:cTn id="44" dur="2000" fill="hold"/>
                                        <p:tgtEl>
                                          <p:spTgt spid="472074"/>
                                        </p:tgtEl>
                                        <p:attrNameLst>
                                          <p:attrName>fill.type</p:attrName>
                                        </p:attrNameLst>
                                      </p:cBhvr>
                                      <p:to>
                                        <p:strVal val="solid"/>
                                      </p:to>
                                    </p:set>
                                    <p:set>
                                      <p:cBhvr>
                                        <p:cTn id="45" dur="2000" fill="hold"/>
                                        <p:tgtEl>
                                          <p:spTgt spid="472074"/>
                                        </p:tgtEl>
                                        <p:attrNameLst>
                                          <p:attrName>fill.on</p:attrName>
                                        </p:attrNameLst>
                                      </p:cBhvr>
                                      <p:to>
                                        <p:strVal val="true"/>
                                      </p:to>
                                    </p:set>
                                  </p:childTnLst>
                                </p:cTn>
                              </p:par>
                              <p:par>
                                <p:cTn id="46" presetID="3" presetClass="emph" presetSubtype="2" fill="hold" grpId="0" nodeType="withEffect">
                                  <p:stCondLst>
                                    <p:cond delay="0"/>
                                  </p:stCondLst>
                                  <p:childTnLst>
                                    <p:animClr clrSpc="rgb" dir="cw">
                                      <p:cBhvr override="childStyle">
                                        <p:cTn id="47" dur="2000" fill="hold"/>
                                        <p:tgtEl>
                                          <p:spTgt spid="472074"/>
                                        </p:tgtEl>
                                        <p:attrNameLst>
                                          <p:attrName>style.color</p:attrName>
                                        </p:attrNameLst>
                                      </p:cBhvr>
                                      <p:to>
                                        <a:srgbClr val="CCECFF"/>
                                      </p:to>
                                    </p:animClr>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27"/>
                                        </p:tgtEl>
                                        <p:attrNameLst>
                                          <p:attrName>style.visibility</p:attrName>
                                        </p:attrNameLst>
                                      </p:cBhvr>
                                      <p:to>
                                        <p:strVal val="visible"/>
                                      </p:to>
                                    </p:set>
                                    <p:animEffect transition="in" filter="checkerboard(across)">
                                      <p:cBhvr>
                                        <p:cTn id="52" dur="500"/>
                                        <p:tgtEl>
                                          <p:spTgt spid="27"/>
                                        </p:tgtEl>
                                      </p:cBhvr>
                                    </p:animEffect>
                                  </p:childTnLst>
                                </p:cTn>
                              </p:par>
                              <p:par>
                                <p:cTn id="53" presetID="1" presetClass="emph" presetSubtype="2" fill="hold" nodeType="withEffect">
                                  <p:stCondLst>
                                    <p:cond delay="0"/>
                                  </p:stCondLst>
                                  <p:childTnLst>
                                    <p:animClr clrSpc="rgb" dir="cw">
                                      <p:cBhvr>
                                        <p:cTn id="54" dur="2000" fill="hold"/>
                                        <p:tgtEl>
                                          <p:spTgt spid="472072"/>
                                        </p:tgtEl>
                                        <p:attrNameLst>
                                          <p:attrName>fillcolor</p:attrName>
                                        </p:attrNameLst>
                                      </p:cBhvr>
                                      <p:to>
                                        <a:srgbClr val="6600FF"/>
                                      </p:to>
                                    </p:animClr>
                                    <p:set>
                                      <p:cBhvr>
                                        <p:cTn id="55" dur="2000" fill="hold"/>
                                        <p:tgtEl>
                                          <p:spTgt spid="472072"/>
                                        </p:tgtEl>
                                        <p:attrNameLst>
                                          <p:attrName>fill.type</p:attrName>
                                        </p:attrNameLst>
                                      </p:cBhvr>
                                      <p:to>
                                        <p:strVal val="solid"/>
                                      </p:to>
                                    </p:set>
                                    <p:set>
                                      <p:cBhvr>
                                        <p:cTn id="56" dur="2000" fill="hold"/>
                                        <p:tgtEl>
                                          <p:spTgt spid="472072"/>
                                        </p:tgtEl>
                                        <p:attrNameLst>
                                          <p:attrName>fill.on</p:attrName>
                                        </p:attrNameLst>
                                      </p:cBhvr>
                                      <p:to>
                                        <p:strVal val="true"/>
                                      </p:to>
                                    </p:set>
                                  </p:childTnLst>
                                </p:cTn>
                              </p:par>
                              <p:par>
                                <p:cTn id="57" presetID="3" presetClass="emph" presetSubtype="2" fill="hold" nodeType="withEffect">
                                  <p:stCondLst>
                                    <p:cond delay="0"/>
                                  </p:stCondLst>
                                  <p:childTnLst>
                                    <p:animClr clrSpc="rgb" dir="cw">
                                      <p:cBhvr override="childStyle">
                                        <p:cTn id="58" dur="2000" fill="hold"/>
                                        <p:tgtEl>
                                          <p:spTgt spid="472072">
                                            <p:txEl>
                                              <p:pRg st="0" end="0"/>
                                            </p:txEl>
                                          </p:spTgt>
                                        </p:tgtEl>
                                        <p:attrNameLst>
                                          <p:attrName>style.color</p:attrName>
                                        </p:attrNameLst>
                                      </p:cBhvr>
                                      <p:to>
                                        <a:srgbClr val="CCECFF"/>
                                      </p:to>
                                    </p:animClr>
                                  </p:childTnLst>
                                </p:cTn>
                              </p:par>
                              <p:par>
                                <p:cTn id="59" presetID="1" presetClass="emph" presetSubtype="2" fill="hold" nodeType="withEffect">
                                  <p:stCondLst>
                                    <p:cond delay="0"/>
                                  </p:stCondLst>
                                  <p:childTnLst>
                                    <p:animClr clrSpc="rgb" dir="cw">
                                      <p:cBhvr>
                                        <p:cTn id="60" dur="2000" fill="hold"/>
                                        <p:tgtEl>
                                          <p:spTgt spid="472074"/>
                                        </p:tgtEl>
                                        <p:attrNameLst>
                                          <p:attrName>fillcolor</p:attrName>
                                        </p:attrNameLst>
                                      </p:cBhvr>
                                      <p:to>
                                        <a:schemeClr val="bg1"/>
                                      </p:to>
                                    </p:animClr>
                                    <p:set>
                                      <p:cBhvr>
                                        <p:cTn id="61" dur="2000" fill="hold"/>
                                        <p:tgtEl>
                                          <p:spTgt spid="472074"/>
                                        </p:tgtEl>
                                        <p:attrNameLst>
                                          <p:attrName>fill.type</p:attrName>
                                        </p:attrNameLst>
                                      </p:cBhvr>
                                      <p:to>
                                        <p:strVal val="solid"/>
                                      </p:to>
                                    </p:set>
                                    <p:set>
                                      <p:cBhvr>
                                        <p:cTn id="62" dur="2000" fill="hold"/>
                                        <p:tgtEl>
                                          <p:spTgt spid="472074"/>
                                        </p:tgtEl>
                                        <p:attrNameLst>
                                          <p:attrName>fill.on</p:attrName>
                                        </p:attrNameLst>
                                      </p:cBhvr>
                                      <p:to>
                                        <p:strVal val="true"/>
                                      </p:to>
                                    </p:set>
                                  </p:childTnLst>
                                </p:cTn>
                              </p:par>
                              <p:par>
                                <p:cTn id="63" presetID="3" presetClass="emph" presetSubtype="2" fill="hold" grpId="1" nodeType="withEffect">
                                  <p:stCondLst>
                                    <p:cond delay="0"/>
                                  </p:stCondLst>
                                  <p:childTnLst>
                                    <p:animClr clrSpc="rgb" dir="cw">
                                      <p:cBhvr override="childStyle">
                                        <p:cTn id="64" dur="2000" fill="hold"/>
                                        <p:tgtEl>
                                          <p:spTgt spid="472074"/>
                                        </p:tgtEl>
                                        <p:attrNameLst>
                                          <p:attrName>style.color</p:attrName>
                                        </p:attrNameLst>
                                      </p:cBhvr>
                                      <p:to>
                                        <a:schemeClr val="tx1"/>
                                      </p:to>
                                    </p:animClr>
                                  </p:childTnLst>
                                </p:cTn>
                              </p:par>
                            </p:childTnLst>
                          </p:cTn>
                        </p:par>
                      </p:childTnLst>
                    </p:cTn>
                  </p:par>
                  <p:par>
                    <p:cTn id="65" fill="hold">
                      <p:stCondLst>
                        <p:cond delay="indefinite"/>
                      </p:stCondLst>
                      <p:childTnLst>
                        <p:par>
                          <p:cTn id="66" fill="hold">
                            <p:stCondLst>
                              <p:cond delay="0"/>
                            </p:stCondLst>
                            <p:childTnLst>
                              <p:par>
                                <p:cTn id="67" presetID="5" presetClass="entr" presetSubtype="10" fill="hold" grpId="0" nodeType="clickEffect">
                                  <p:stCondLst>
                                    <p:cond delay="0"/>
                                  </p:stCondLst>
                                  <p:childTnLst>
                                    <p:set>
                                      <p:cBhvr>
                                        <p:cTn id="68" dur="1" fill="hold">
                                          <p:stCondLst>
                                            <p:cond delay="0"/>
                                          </p:stCondLst>
                                        </p:cTn>
                                        <p:tgtEl>
                                          <p:spTgt spid="28"/>
                                        </p:tgtEl>
                                        <p:attrNameLst>
                                          <p:attrName>style.visibility</p:attrName>
                                        </p:attrNameLst>
                                      </p:cBhvr>
                                      <p:to>
                                        <p:strVal val="visible"/>
                                      </p:to>
                                    </p:set>
                                    <p:animEffect transition="in" filter="checkerboard(across)">
                                      <p:cBhvr>
                                        <p:cTn id="69" dur="500"/>
                                        <p:tgtEl>
                                          <p:spTgt spid="28"/>
                                        </p:tgtEl>
                                      </p:cBhvr>
                                    </p:animEffect>
                                  </p:childTnLst>
                                </p:cTn>
                              </p:par>
                              <p:par>
                                <p:cTn id="70" presetID="3" presetClass="emph" presetSubtype="2" fill="hold" nodeType="withEffect">
                                  <p:stCondLst>
                                    <p:cond delay="0"/>
                                  </p:stCondLst>
                                  <p:childTnLst>
                                    <p:animClr clrSpc="rgb" dir="cw">
                                      <p:cBhvr override="childStyle">
                                        <p:cTn id="71" dur="2000" fill="hold"/>
                                        <p:tgtEl>
                                          <p:spTgt spid="472072">
                                            <p:txEl>
                                              <p:pRg st="0" end="0"/>
                                            </p:txEl>
                                          </p:spTgt>
                                        </p:tgtEl>
                                        <p:attrNameLst>
                                          <p:attrName>style.color</p:attrName>
                                        </p:attrNameLst>
                                      </p:cBhvr>
                                      <p:to>
                                        <a:schemeClr val="tx1"/>
                                      </p:to>
                                    </p:animClr>
                                  </p:childTnLst>
                                </p:cTn>
                              </p:par>
                              <p:par>
                                <p:cTn id="72" presetID="3" presetClass="emph" presetSubtype="2" fill="hold" nodeType="withEffect">
                                  <p:stCondLst>
                                    <p:cond delay="0"/>
                                  </p:stCondLst>
                                  <p:childTnLst>
                                    <p:animClr clrSpc="rgb" dir="cw">
                                      <p:cBhvr override="childStyle">
                                        <p:cTn id="73" dur="2000" fill="hold"/>
                                        <p:tgtEl>
                                          <p:spTgt spid="472072">
                                            <p:txEl>
                                              <p:pRg st="1" end="1"/>
                                            </p:txEl>
                                          </p:spTgt>
                                        </p:tgtEl>
                                        <p:attrNameLst>
                                          <p:attrName>style.color</p:attrName>
                                        </p:attrNameLst>
                                      </p:cBhvr>
                                      <p:to>
                                        <a:srgbClr val="CCECFF"/>
                                      </p:to>
                                    </p:animClr>
                                  </p:childTnLst>
                                </p:cTn>
                              </p:par>
                            </p:childTnLst>
                          </p:cTn>
                        </p:par>
                      </p:childTnLst>
                    </p:cTn>
                  </p:par>
                  <p:par>
                    <p:cTn id="74" fill="hold">
                      <p:stCondLst>
                        <p:cond delay="indefinite"/>
                      </p:stCondLst>
                      <p:childTnLst>
                        <p:par>
                          <p:cTn id="75" fill="hold">
                            <p:stCondLst>
                              <p:cond delay="0"/>
                            </p:stCondLst>
                            <p:childTnLst>
                              <p:par>
                                <p:cTn id="76" presetID="5" presetClass="entr" presetSubtype="10" fill="hold" grpId="0" nodeType="clickEffect">
                                  <p:stCondLst>
                                    <p:cond delay="0"/>
                                  </p:stCondLst>
                                  <p:childTnLst>
                                    <p:set>
                                      <p:cBhvr>
                                        <p:cTn id="77" dur="1" fill="hold">
                                          <p:stCondLst>
                                            <p:cond delay="0"/>
                                          </p:stCondLst>
                                        </p:cTn>
                                        <p:tgtEl>
                                          <p:spTgt spid="29"/>
                                        </p:tgtEl>
                                        <p:attrNameLst>
                                          <p:attrName>style.visibility</p:attrName>
                                        </p:attrNameLst>
                                      </p:cBhvr>
                                      <p:to>
                                        <p:strVal val="visible"/>
                                      </p:to>
                                    </p:set>
                                    <p:animEffect transition="in" filter="checkerboard(across)">
                                      <p:cBhvr>
                                        <p:cTn id="78" dur="500"/>
                                        <p:tgtEl>
                                          <p:spTgt spid="29"/>
                                        </p:tgtEl>
                                      </p:cBhvr>
                                    </p:animEffect>
                                  </p:childTnLst>
                                </p:cTn>
                              </p:par>
                              <p:par>
                                <p:cTn id="79" presetID="3" presetClass="emph" presetSubtype="2" fill="hold" nodeType="withEffect">
                                  <p:stCondLst>
                                    <p:cond delay="0"/>
                                  </p:stCondLst>
                                  <p:childTnLst>
                                    <p:animClr clrSpc="rgb" dir="cw">
                                      <p:cBhvr override="childStyle">
                                        <p:cTn id="80" dur="2000" fill="hold"/>
                                        <p:tgtEl>
                                          <p:spTgt spid="472072">
                                            <p:txEl>
                                              <p:pRg st="1" end="1"/>
                                            </p:txEl>
                                          </p:spTgt>
                                        </p:tgtEl>
                                        <p:attrNameLst>
                                          <p:attrName>style.color</p:attrName>
                                        </p:attrNameLst>
                                      </p:cBhvr>
                                      <p:to>
                                        <a:schemeClr val="tx1"/>
                                      </p:to>
                                    </p:animClr>
                                  </p:childTnLst>
                                </p:cTn>
                              </p:par>
                              <p:par>
                                <p:cTn id="81" presetID="3" presetClass="emph" presetSubtype="2" fill="hold" nodeType="withEffect">
                                  <p:stCondLst>
                                    <p:cond delay="0"/>
                                  </p:stCondLst>
                                  <p:childTnLst>
                                    <p:animClr clrSpc="rgb" dir="cw">
                                      <p:cBhvr override="childStyle">
                                        <p:cTn id="82" dur="2000" fill="hold"/>
                                        <p:tgtEl>
                                          <p:spTgt spid="472072">
                                            <p:txEl>
                                              <p:pRg st="2" end="2"/>
                                            </p:txEl>
                                          </p:spTgt>
                                        </p:tgtEl>
                                        <p:attrNameLst>
                                          <p:attrName>style.color</p:attrName>
                                        </p:attrNameLst>
                                      </p:cBhvr>
                                      <p:to>
                                        <a:srgbClr val="CCECFF"/>
                                      </p:to>
                                    </p:animClr>
                                  </p:childTnLst>
                                </p:cTn>
                              </p:par>
                            </p:childTnLst>
                          </p:cTn>
                        </p:par>
                      </p:childTnLst>
                    </p:cTn>
                  </p:par>
                  <p:par>
                    <p:cTn id="83" fill="hold">
                      <p:stCondLst>
                        <p:cond delay="indefinite"/>
                      </p:stCondLst>
                      <p:childTnLst>
                        <p:par>
                          <p:cTn id="84" fill="hold">
                            <p:stCondLst>
                              <p:cond delay="0"/>
                            </p:stCondLst>
                            <p:childTnLst>
                              <p:par>
                                <p:cTn id="85" presetID="5" presetClass="entr" presetSubtype="10" fill="hold" grpId="0" nodeType="click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checkerboard(across)">
                                      <p:cBhvr>
                                        <p:cTn id="87" dur="500"/>
                                        <p:tgtEl>
                                          <p:spTgt spid="30"/>
                                        </p:tgtEl>
                                      </p:cBhvr>
                                    </p:animEffect>
                                  </p:childTnLst>
                                </p:cTn>
                              </p:par>
                              <p:par>
                                <p:cTn id="88" presetID="3" presetClass="emph" presetSubtype="2" fill="hold" nodeType="withEffect">
                                  <p:stCondLst>
                                    <p:cond delay="0"/>
                                  </p:stCondLst>
                                  <p:childTnLst>
                                    <p:animClr clrSpc="rgb" dir="cw">
                                      <p:cBhvr override="childStyle">
                                        <p:cTn id="89" dur="2000" fill="hold"/>
                                        <p:tgtEl>
                                          <p:spTgt spid="472072">
                                            <p:txEl>
                                              <p:pRg st="2" end="2"/>
                                            </p:txEl>
                                          </p:spTgt>
                                        </p:tgtEl>
                                        <p:attrNameLst>
                                          <p:attrName>style.color</p:attrName>
                                        </p:attrNameLst>
                                      </p:cBhvr>
                                      <p:to>
                                        <a:schemeClr val="tx1"/>
                                      </p:to>
                                    </p:animClr>
                                  </p:childTnLst>
                                </p:cTn>
                              </p:par>
                              <p:par>
                                <p:cTn id="90" presetID="1" presetClass="emph" presetSubtype="2" fill="hold" nodeType="withEffect">
                                  <p:stCondLst>
                                    <p:cond delay="0"/>
                                  </p:stCondLst>
                                  <p:childTnLst>
                                    <p:animClr clrSpc="rgb" dir="cw">
                                      <p:cBhvr>
                                        <p:cTn id="91" dur="2000" fill="hold"/>
                                        <p:tgtEl>
                                          <p:spTgt spid="472072"/>
                                        </p:tgtEl>
                                        <p:attrNameLst>
                                          <p:attrName>fillcolor</p:attrName>
                                        </p:attrNameLst>
                                      </p:cBhvr>
                                      <p:to>
                                        <a:schemeClr val="bg1"/>
                                      </p:to>
                                    </p:animClr>
                                    <p:set>
                                      <p:cBhvr>
                                        <p:cTn id="92" dur="2000" fill="hold"/>
                                        <p:tgtEl>
                                          <p:spTgt spid="472072"/>
                                        </p:tgtEl>
                                        <p:attrNameLst>
                                          <p:attrName>fill.type</p:attrName>
                                        </p:attrNameLst>
                                      </p:cBhvr>
                                      <p:to>
                                        <p:strVal val="solid"/>
                                      </p:to>
                                    </p:set>
                                    <p:set>
                                      <p:cBhvr>
                                        <p:cTn id="93" dur="2000" fill="hold"/>
                                        <p:tgtEl>
                                          <p:spTgt spid="472072"/>
                                        </p:tgtEl>
                                        <p:attrNameLst>
                                          <p:attrName>fill.on</p:attrName>
                                        </p:attrNameLst>
                                      </p:cBhvr>
                                      <p:to>
                                        <p:strVal val="true"/>
                                      </p:to>
                                    </p:set>
                                  </p:childTnLst>
                                </p:cTn>
                              </p:par>
                              <p:par>
                                <p:cTn id="94" presetID="1" presetClass="emph" presetSubtype="2" fill="hold" nodeType="withEffect">
                                  <p:stCondLst>
                                    <p:cond delay="0"/>
                                  </p:stCondLst>
                                  <p:childTnLst>
                                    <p:animClr clrSpc="rgb" dir="cw">
                                      <p:cBhvr>
                                        <p:cTn id="95" dur="2000" fill="hold"/>
                                        <p:tgtEl>
                                          <p:spTgt spid="472095"/>
                                        </p:tgtEl>
                                        <p:attrNameLst>
                                          <p:attrName>fillcolor</p:attrName>
                                        </p:attrNameLst>
                                      </p:cBhvr>
                                      <p:to>
                                        <a:srgbClr val="6600FF"/>
                                      </p:to>
                                    </p:animClr>
                                    <p:set>
                                      <p:cBhvr>
                                        <p:cTn id="96" dur="2000" fill="hold"/>
                                        <p:tgtEl>
                                          <p:spTgt spid="472095"/>
                                        </p:tgtEl>
                                        <p:attrNameLst>
                                          <p:attrName>fill.type</p:attrName>
                                        </p:attrNameLst>
                                      </p:cBhvr>
                                      <p:to>
                                        <p:strVal val="solid"/>
                                      </p:to>
                                    </p:set>
                                    <p:set>
                                      <p:cBhvr>
                                        <p:cTn id="97" dur="2000" fill="hold"/>
                                        <p:tgtEl>
                                          <p:spTgt spid="472095"/>
                                        </p:tgtEl>
                                        <p:attrNameLst>
                                          <p:attrName>fill.on</p:attrName>
                                        </p:attrNameLst>
                                      </p:cBhvr>
                                      <p:to>
                                        <p:strVal val="true"/>
                                      </p:to>
                                    </p:set>
                                  </p:childTnLst>
                                </p:cTn>
                              </p:par>
                              <p:par>
                                <p:cTn id="98" presetID="3" presetClass="emph" presetSubtype="2" fill="hold" grpId="0" nodeType="withEffect">
                                  <p:stCondLst>
                                    <p:cond delay="0"/>
                                  </p:stCondLst>
                                  <p:childTnLst>
                                    <p:animClr clrSpc="rgb" dir="cw">
                                      <p:cBhvr override="childStyle">
                                        <p:cTn id="99" dur="2000" fill="hold"/>
                                        <p:tgtEl>
                                          <p:spTgt spid="472095"/>
                                        </p:tgtEl>
                                        <p:attrNameLst>
                                          <p:attrName>style.color</p:attrName>
                                        </p:attrNameLst>
                                      </p:cBhvr>
                                      <p:to>
                                        <a:srgbClr val="CCECFF"/>
                                      </p:to>
                                    </p:animClr>
                                  </p:childTnLst>
                                </p:cTn>
                              </p:par>
                            </p:childTnLst>
                          </p:cTn>
                        </p:par>
                      </p:childTnLst>
                    </p:cTn>
                  </p:par>
                  <p:par>
                    <p:cTn id="100" fill="hold">
                      <p:stCondLst>
                        <p:cond delay="indefinite"/>
                      </p:stCondLst>
                      <p:childTnLst>
                        <p:par>
                          <p:cTn id="101" fill="hold">
                            <p:stCondLst>
                              <p:cond delay="0"/>
                            </p:stCondLst>
                            <p:childTnLst>
                              <p:par>
                                <p:cTn id="102" presetID="5" presetClass="entr" presetSubtype="10" fill="hold" grpId="0" nodeType="clickEffect">
                                  <p:stCondLst>
                                    <p:cond delay="0"/>
                                  </p:stCondLst>
                                  <p:childTnLst>
                                    <p:set>
                                      <p:cBhvr>
                                        <p:cTn id="103" dur="1" fill="hold">
                                          <p:stCondLst>
                                            <p:cond delay="0"/>
                                          </p:stCondLst>
                                        </p:cTn>
                                        <p:tgtEl>
                                          <p:spTgt spid="31"/>
                                        </p:tgtEl>
                                        <p:attrNameLst>
                                          <p:attrName>style.visibility</p:attrName>
                                        </p:attrNameLst>
                                      </p:cBhvr>
                                      <p:to>
                                        <p:strVal val="visible"/>
                                      </p:to>
                                    </p:set>
                                    <p:animEffect transition="in" filter="checkerboard(across)">
                                      <p:cBhvr>
                                        <p:cTn id="104" dur="500"/>
                                        <p:tgtEl>
                                          <p:spTgt spid="31"/>
                                        </p:tgtEl>
                                      </p:cBhvr>
                                    </p:animEffect>
                                  </p:childTnLst>
                                </p:cTn>
                              </p:par>
                              <p:par>
                                <p:cTn id="105" presetID="1" presetClass="emph" presetSubtype="2" fill="hold" nodeType="withEffect">
                                  <p:stCondLst>
                                    <p:cond delay="0"/>
                                  </p:stCondLst>
                                  <p:childTnLst>
                                    <p:animClr clrSpc="rgb" dir="cw">
                                      <p:cBhvr>
                                        <p:cTn id="106" dur="2000" fill="hold"/>
                                        <p:tgtEl>
                                          <p:spTgt spid="472095"/>
                                        </p:tgtEl>
                                        <p:attrNameLst>
                                          <p:attrName>fillcolor</p:attrName>
                                        </p:attrNameLst>
                                      </p:cBhvr>
                                      <p:to>
                                        <a:schemeClr val="bg1"/>
                                      </p:to>
                                    </p:animClr>
                                    <p:set>
                                      <p:cBhvr>
                                        <p:cTn id="107" dur="2000" fill="hold"/>
                                        <p:tgtEl>
                                          <p:spTgt spid="472095"/>
                                        </p:tgtEl>
                                        <p:attrNameLst>
                                          <p:attrName>fill.type</p:attrName>
                                        </p:attrNameLst>
                                      </p:cBhvr>
                                      <p:to>
                                        <p:strVal val="solid"/>
                                      </p:to>
                                    </p:set>
                                    <p:set>
                                      <p:cBhvr>
                                        <p:cTn id="108" dur="2000" fill="hold"/>
                                        <p:tgtEl>
                                          <p:spTgt spid="472095"/>
                                        </p:tgtEl>
                                        <p:attrNameLst>
                                          <p:attrName>fill.on</p:attrName>
                                        </p:attrNameLst>
                                      </p:cBhvr>
                                      <p:to>
                                        <p:strVal val="true"/>
                                      </p:to>
                                    </p:set>
                                  </p:childTnLst>
                                </p:cTn>
                              </p:par>
                              <p:par>
                                <p:cTn id="109" presetID="3" presetClass="emph" presetSubtype="2" fill="hold" grpId="1" nodeType="withEffect">
                                  <p:stCondLst>
                                    <p:cond delay="0"/>
                                  </p:stCondLst>
                                  <p:childTnLst>
                                    <p:animClr clrSpc="rgb" dir="cw">
                                      <p:cBhvr override="childStyle">
                                        <p:cTn id="110" dur="2000" fill="hold"/>
                                        <p:tgtEl>
                                          <p:spTgt spid="472095"/>
                                        </p:tgtEl>
                                        <p:attrNameLst>
                                          <p:attrName>style.color</p:attrName>
                                        </p:attrNameLst>
                                      </p:cBhvr>
                                      <p:to>
                                        <a:schemeClr val="tx1"/>
                                      </p:to>
                                    </p:animClr>
                                  </p:childTnLst>
                                </p:cTn>
                              </p:par>
                              <p:par>
                                <p:cTn id="111" presetID="1" presetClass="emph" presetSubtype="2" fill="hold" nodeType="withEffect">
                                  <p:stCondLst>
                                    <p:cond delay="0"/>
                                  </p:stCondLst>
                                  <p:childTnLst>
                                    <p:animClr clrSpc="rgb" dir="cw">
                                      <p:cBhvr>
                                        <p:cTn id="112" dur="2000" fill="hold"/>
                                        <p:tgtEl>
                                          <p:spTgt spid="472088"/>
                                        </p:tgtEl>
                                        <p:attrNameLst>
                                          <p:attrName>fillcolor</p:attrName>
                                        </p:attrNameLst>
                                      </p:cBhvr>
                                      <p:to>
                                        <a:srgbClr val="6600FF"/>
                                      </p:to>
                                    </p:animClr>
                                    <p:set>
                                      <p:cBhvr>
                                        <p:cTn id="113" dur="2000" fill="hold"/>
                                        <p:tgtEl>
                                          <p:spTgt spid="472088"/>
                                        </p:tgtEl>
                                        <p:attrNameLst>
                                          <p:attrName>fill.type</p:attrName>
                                        </p:attrNameLst>
                                      </p:cBhvr>
                                      <p:to>
                                        <p:strVal val="solid"/>
                                      </p:to>
                                    </p:set>
                                    <p:set>
                                      <p:cBhvr>
                                        <p:cTn id="114" dur="2000" fill="hold"/>
                                        <p:tgtEl>
                                          <p:spTgt spid="472088"/>
                                        </p:tgtEl>
                                        <p:attrNameLst>
                                          <p:attrName>fill.on</p:attrName>
                                        </p:attrNameLst>
                                      </p:cBhvr>
                                      <p:to>
                                        <p:strVal val="true"/>
                                      </p:to>
                                    </p:set>
                                  </p:childTnLst>
                                </p:cTn>
                              </p:par>
                              <p:par>
                                <p:cTn id="115" presetID="3" presetClass="emph" presetSubtype="2" fill="hold" grpId="0" nodeType="withEffect">
                                  <p:stCondLst>
                                    <p:cond delay="0"/>
                                  </p:stCondLst>
                                  <p:childTnLst>
                                    <p:animClr clrSpc="rgb" dir="cw">
                                      <p:cBhvr override="childStyle">
                                        <p:cTn id="116" dur="2000" fill="hold"/>
                                        <p:tgtEl>
                                          <p:spTgt spid="472088"/>
                                        </p:tgtEl>
                                        <p:attrNameLst>
                                          <p:attrName>style.color</p:attrName>
                                        </p:attrNameLst>
                                      </p:cBhvr>
                                      <p:to>
                                        <a:srgbClr val="CCECFF"/>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077" grpId="0" animBg="1"/>
      <p:bldP spid="472077" grpId="1" animBg="1"/>
      <p:bldP spid="472078" grpId="0" animBg="1"/>
      <p:bldP spid="472078" grpId="1" animBg="1"/>
      <p:bldP spid="472088" grpId="0" animBg="1"/>
      <p:bldP spid="472095" grpId="0" animBg="1"/>
      <p:bldP spid="472095" grpId="1" animBg="1"/>
      <p:bldP spid="472074" grpId="0" animBg="1"/>
      <p:bldP spid="472074" grpId="1" animBg="1"/>
      <p:bldP spid="24" grpId="0" animBg="1"/>
      <p:bldP spid="25" grpId="0" animBg="1"/>
      <p:bldP spid="26" grpId="0" animBg="1"/>
      <p:bldP spid="27" grpId="0" animBg="1"/>
      <p:bldP spid="28" grpId="0" animBg="1"/>
      <p:bldP spid="29" grpId="0" animBg="1"/>
      <p:bldP spid="30" grpId="0" animBg="1"/>
      <p:bldP spid="3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930" name="Rectangle 2"/>
          <p:cNvSpPr>
            <a:spLocks noGrp="1" noChangeArrowheads="1"/>
          </p:cNvSpPr>
          <p:nvPr>
            <p:ph type="title"/>
            <p:custDataLst>
              <p:tags r:id="rId1"/>
            </p:custDataLst>
          </p:nvPr>
        </p:nvSpPr>
        <p:spPr/>
        <p:txBody>
          <a:bodyPr vert="horz" anchor="b">
            <a:normAutofit fontScale="90000"/>
          </a:bodyPr>
          <a:lstStyle/>
          <a:p>
            <a:r>
              <a:rPr lang="en-GB" sz="2800" dirty="0">
                <a:solidFill>
                  <a:srgbClr val="C00000"/>
                </a:solidFill>
              </a:rPr>
              <a:t>Protocoles de cryptage pour une connexion VPN</a:t>
            </a:r>
            <a:endParaRPr sz="2800" dirty="0">
              <a:solidFill>
                <a:srgbClr val="C00000"/>
              </a:solidFill>
            </a:endParaRPr>
          </a:p>
        </p:txBody>
      </p:sp>
      <p:graphicFrame>
        <p:nvGraphicFramePr>
          <p:cNvPr id="381130" name="Group 202"/>
          <p:cNvGraphicFramePr>
            <a:graphicFrameLocks noGrp="1"/>
          </p:cNvGraphicFramePr>
          <p:nvPr/>
        </p:nvGraphicFramePr>
        <p:xfrm>
          <a:off x="174168" y="1701802"/>
          <a:ext cx="8781142" cy="4255008"/>
        </p:xfrm>
        <a:graphic>
          <a:graphicData uri="http://schemas.openxmlformats.org/drawingml/2006/table">
            <a:tbl>
              <a:tblPr/>
              <a:tblGrid>
                <a:gridCol w="1480457">
                  <a:extLst>
                    <a:ext uri="{9D8B030D-6E8A-4147-A177-3AD203B41FA5}">
                      <a16:colId xmlns:a16="http://schemas.microsoft.com/office/drawing/2014/main" val="20000"/>
                    </a:ext>
                  </a:extLst>
                </a:gridCol>
                <a:gridCol w="7300685">
                  <a:extLst>
                    <a:ext uri="{9D8B030D-6E8A-4147-A177-3AD203B41FA5}">
                      <a16:colId xmlns:a16="http://schemas.microsoft.com/office/drawing/2014/main" val="20001"/>
                    </a:ext>
                  </a:extLst>
                </a:gridCol>
              </a:tblGrid>
              <a:tr h="323850">
                <a:tc>
                  <a:txBody>
                    <a:bodyPr/>
                    <a:lstStyle/>
                    <a:p>
                      <a:pPr marL="0" marR="0" lvl="0" indent="0" algn="ctr"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en-GB" sz="2200" b="1" i="0" u="sng" strike="noStrike" cap="none" normalizeH="0" baseline="0" dirty="0" err="1">
                          <a:ln>
                            <a:noFill/>
                          </a:ln>
                          <a:solidFill>
                            <a:srgbClr val="000000"/>
                          </a:solidFill>
                          <a:effectLst/>
                          <a:latin typeface="Arial Narrow" pitchFamily="34" charset="0"/>
                        </a:rPr>
                        <a:t>Catégorie</a:t>
                      </a:r>
                      <a:endParaRPr kumimoji="0" lang="en-US" sz="2200" b="1" i="0" u="sng" strike="noStrike" cap="none" normalizeH="0" baseline="0" dirty="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GB" sz="2200" b="1" i="0" u="sng" strike="noStrike" cap="none" normalizeH="0" baseline="0" dirty="0">
                          <a:ln>
                            <a:noFill/>
                          </a:ln>
                          <a:solidFill>
                            <a:srgbClr val="000000"/>
                          </a:solidFill>
                          <a:effectLst/>
                          <a:latin typeface="Arial Narrow" pitchFamily="34" charset="0"/>
                        </a:rPr>
                        <a:t>Description</a:t>
                      </a:r>
                      <a:endParaRPr kumimoji="0" lang="en-US" sz="2200" b="1" i="0" u="sng" strike="noStrike" cap="none" normalizeH="0" baseline="0" dirty="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extLst>
                  <a:ext uri="{0D108BD9-81ED-4DB2-BD59-A6C34878D82A}">
                    <a16:rowId xmlns:a16="http://schemas.microsoft.com/office/drawing/2014/main" val="10000"/>
                  </a:ext>
                </a:extLst>
              </a:tr>
              <a:tr h="234950">
                <a:tc>
                  <a:txBody>
                    <a:bodyPr/>
                    <a:lstStyle/>
                    <a:p>
                      <a:pPr marL="0" marR="0" lvl="0" indent="0" algn="l" defTabSz="914400" rtl="0" eaLnBrk="0" fontAlgn="base" latinLnBrk="0" hangingPunct="0">
                        <a:lnSpc>
                          <a:spcPct val="90000"/>
                        </a:lnSpc>
                        <a:spcBef>
                          <a:spcPct val="35000"/>
                        </a:spcBef>
                        <a:spcAft>
                          <a:spcPct val="0"/>
                        </a:spcAft>
                        <a:buClrTx/>
                        <a:buSzPct val="70000"/>
                        <a:buFontTx/>
                        <a:buNone/>
                        <a:tabLst/>
                      </a:pPr>
                      <a:r>
                        <a:rPr kumimoji="0" lang="en-GB" sz="2200" b="1" i="0" u="none" strike="noStrike" cap="none" normalizeH="0" baseline="0" dirty="0">
                          <a:ln>
                            <a:noFill/>
                          </a:ln>
                          <a:solidFill>
                            <a:srgbClr val="000000"/>
                          </a:solidFill>
                          <a:effectLst/>
                          <a:latin typeface="Arial Narrow" pitchFamily="34" charset="0"/>
                        </a:rPr>
                        <a:t>PPTP</a:t>
                      </a:r>
                      <a:endParaRPr kumimoji="0" lang="en-US" sz="2200" b="1" i="0" u="none" strike="noStrike" cap="none" normalizeH="0" baseline="0" dirty="0">
                        <a:ln>
                          <a:noFill/>
                        </a:ln>
                        <a:solidFill>
                          <a:schemeClr val="tx1"/>
                        </a:solidFill>
                        <a:effectLst/>
                        <a:latin typeface="Arial Narrow" pitchFamily="34" charset="0"/>
                        <a:cs typeface="Times New Roman" pitchFamily="18"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90000"/>
                        </a:lnSpc>
                        <a:spcBef>
                          <a:spcPct val="35000"/>
                        </a:spcBef>
                        <a:spcAft>
                          <a:spcPct val="0"/>
                        </a:spcAft>
                        <a:buClrTx/>
                        <a:buSzPct val="70000"/>
                        <a:buFontTx/>
                        <a:buNone/>
                        <a:tabLst/>
                      </a:pPr>
                      <a:r>
                        <a:rPr kumimoji="0" lang="en-GB" sz="2200" b="0" i="0" u="none" strike="noStrike" cap="none" normalizeH="0" baseline="0" dirty="0">
                          <a:ln>
                            <a:noFill/>
                          </a:ln>
                          <a:solidFill>
                            <a:srgbClr val="000000"/>
                          </a:solidFill>
                          <a:effectLst/>
                          <a:latin typeface="Arial Narrow" pitchFamily="34" charset="0"/>
                        </a:rPr>
                        <a:t>Utilisation des </a:t>
                      </a:r>
                      <a:r>
                        <a:rPr kumimoji="0" lang="en-GB" sz="2200" b="0" i="0" u="none" strike="noStrike" cap="none" normalizeH="0" baseline="0" dirty="0" err="1">
                          <a:ln>
                            <a:noFill/>
                          </a:ln>
                          <a:solidFill>
                            <a:srgbClr val="000000"/>
                          </a:solidFill>
                          <a:effectLst/>
                          <a:latin typeface="Arial Narrow" pitchFamily="34" charset="0"/>
                        </a:rPr>
                        <a:t>méthodes</a:t>
                      </a:r>
                      <a:r>
                        <a:rPr kumimoji="0" lang="en-GB" sz="2200" b="0" i="0" u="none" strike="noStrike" cap="none" normalizeH="0" baseline="0" dirty="0">
                          <a:ln>
                            <a:noFill/>
                          </a:ln>
                          <a:solidFill>
                            <a:srgbClr val="000000"/>
                          </a:solidFill>
                          <a:effectLst/>
                          <a:latin typeface="Arial Narrow" pitchFamily="34" charset="0"/>
                        </a:rPr>
                        <a:t> </a:t>
                      </a:r>
                      <a:r>
                        <a:rPr kumimoji="0" lang="en-GB" sz="2200" b="0" i="0" u="none" strike="noStrike" cap="none" normalizeH="0" baseline="0" dirty="0" err="1">
                          <a:ln>
                            <a:noFill/>
                          </a:ln>
                          <a:solidFill>
                            <a:srgbClr val="000000"/>
                          </a:solidFill>
                          <a:effectLst/>
                          <a:latin typeface="Arial Narrow" pitchFamily="34" charset="0"/>
                        </a:rPr>
                        <a:t>d'authentification</a:t>
                      </a:r>
                      <a:r>
                        <a:rPr kumimoji="0" lang="en-GB" sz="2200" b="0" i="0" u="none" strike="noStrike" cap="none" normalizeH="0" baseline="0" dirty="0">
                          <a:ln>
                            <a:noFill/>
                          </a:ln>
                          <a:solidFill>
                            <a:srgbClr val="000000"/>
                          </a:solidFill>
                          <a:effectLst/>
                          <a:latin typeface="Arial Narrow" pitchFamily="34" charset="0"/>
                        </a:rPr>
                        <a:t> PPP au </a:t>
                      </a:r>
                      <a:r>
                        <a:rPr kumimoji="0" lang="en-GB" sz="2200" b="0" i="0" u="none" strike="noStrike" cap="none" normalizeH="0" baseline="0" dirty="0" err="1">
                          <a:ln>
                            <a:noFill/>
                          </a:ln>
                          <a:solidFill>
                            <a:srgbClr val="000000"/>
                          </a:solidFill>
                          <a:effectLst/>
                          <a:latin typeface="Arial Narrow" pitchFamily="34" charset="0"/>
                        </a:rPr>
                        <a:t>niveau</a:t>
                      </a:r>
                      <a:r>
                        <a:rPr kumimoji="0" lang="en-GB" sz="2200" b="0" i="0" u="none" strike="noStrike" cap="none" normalizeH="0" baseline="0" dirty="0">
                          <a:ln>
                            <a:noFill/>
                          </a:ln>
                          <a:solidFill>
                            <a:srgbClr val="000000"/>
                          </a:solidFill>
                          <a:effectLst/>
                          <a:latin typeface="Arial Narrow" pitchFamily="34" charset="0"/>
                        </a:rPr>
                        <a:t> </a:t>
                      </a:r>
                      <a:r>
                        <a:rPr kumimoji="0" lang="en-GB" sz="2200" b="0" i="0" u="none" strike="noStrike" cap="none" normalizeH="0" baseline="0" dirty="0" err="1">
                          <a:ln>
                            <a:noFill/>
                          </a:ln>
                          <a:solidFill>
                            <a:srgbClr val="000000"/>
                          </a:solidFill>
                          <a:effectLst/>
                          <a:latin typeface="Arial Narrow" pitchFamily="34" charset="0"/>
                        </a:rPr>
                        <a:t>utilisateur</a:t>
                      </a:r>
                      <a:r>
                        <a:rPr kumimoji="0" lang="en-GB" sz="2200" b="0" i="0" u="none" strike="noStrike" cap="none" normalizeH="0" baseline="0" dirty="0">
                          <a:ln>
                            <a:noFill/>
                          </a:ln>
                          <a:solidFill>
                            <a:srgbClr val="000000"/>
                          </a:solidFill>
                          <a:effectLst/>
                          <a:latin typeface="Arial Narrow" pitchFamily="34" charset="0"/>
                        </a:rPr>
                        <a:t> et MPPE pour le </a:t>
                      </a:r>
                      <a:r>
                        <a:rPr kumimoji="0" lang="en-GB" sz="2200" b="0" i="0" u="none" strike="noStrike" cap="none" normalizeH="0" baseline="0" dirty="0" err="1">
                          <a:ln>
                            <a:noFill/>
                          </a:ln>
                          <a:solidFill>
                            <a:srgbClr val="000000"/>
                          </a:solidFill>
                          <a:effectLst/>
                          <a:latin typeface="Arial Narrow" pitchFamily="34" charset="0"/>
                        </a:rPr>
                        <a:t>cryptage</a:t>
                      </a:r>
                      <a:r>
                        <a:rPr kumimoji="0" lang="en-GB" sz="2200" b="0" i="0" u="none" strike="noStrike" cap="none" normalizeH="0" baseline="0" dirty="0">
                          <a:ln>
                            <a:noFill/>
                          </a:ln>
                          <a:solidFill>
                            <a:srgbClr val="000000"/>
                          </a:solidFill>
                          <a:effectLst/>
                          <a:latin typeface="Arial Narrow" pitchFamily="34" charset="0"/>
                        </a:rPr>
                        <a:t> des </a:t>
                      </a:r>
                      <a:r>
                        <a:rPr kumimoji="0" lang="en-GB" sz="2200" b="0" i="0" u="none" strike="noStrike" cap="none" normalizeH="0" baseline="0" dirty="0" err="1">
                          <a:ln>
                            <a:noFill/>
                          </a:ln>
                          <a:solidFill>
                            <a:srgbClr val="000000"/>
                          </a:solidFill>
                          <a:effectLst/>
                          <a:latin typeface="Arial Narrow" pitchFamily="34" charset="0"/>
                        </a:rPr>
                        <a:t>données</a:t>
                      </a:r>
                      <a:endParaRPr kumimoji="0" lang="en-US" sz="2200" b="0" i="0" u="none" strike="noStrike" cap="none" normalizeH="0" baseline="0" dirty="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350838">
                <a:tc>
                  <a:txBody>
                    <a:bodyPr/>
                    <a:lstStyle/>
                    <a:p>
                      <a:pPr marL="0" marR="0" lvl="0" indent="0" algn="l" defTabSz="914400" rtl="0" eaLnBrk="0" fontAlgn="base" latinLnBrk="0" hangingPunct="0">
                        <a:lnSpc>
                          <a:spcPct val="90000"/>
                        </a:lnSpc>
                        <a:spcBef>
                          <a:spcPct val="35000"/>
                        </a:spcBef>
                        <a:spcAft>
                          <a:spcPct val="0"/>
                        </a:spcAft>
                        <a:buClrTx/>
                        <a:buSzPct val="70000"/>
                        <a:buFontTx/>
                        <a:buNone/>
                        <a:tabLst/>
                      </a:pPr>
                      <a:r>
                        <a:rPr kumimoji="0" lang="en-GB" sz="2200" b="1" i="0" u="none" strike="noStrike" cap="none" normalizeH="0" baseline="0" dirty="0">
                          <a:ln>
                            <a:noFill/>
                          </a:ln>
                          <a:solidFill>
                            <a:srgbClr val="000000"/>
                          </a:solidFill>
                          <a:effectLst/>
                          <a:latin typeface="Arial Narrow" pitchFamily="34" charset="0"/>
                        </a:rPr>
                        <a:t>L2TP/IPSec</a:t>
                      </a:r>
                      <a:endParaRPr kumimoji="0" lang="en-US" sz="2200" b="1" i="0" u="none" strike="noStrike" cap="none" normalizeH="0" baseline="0" dirty="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90000"/>
                        </a:lnSpc>
                        <a:spcBef>
                          <a:spcPct val="35000"/>
                        </a:spcBef>
                        <a:spcAft>
                          <a:spcPct val="0"/>
                        </a:spcAft>
                        <a:buClrTx/>
                        <a:buSzPct val="70000"/>
                        <a:buFontTx/>
                        <a:buNone/>
                        <a:tabLst/>
                      </a:pPr>
                      <a:r>
                        <a:rPr kumimoji="0" lang="en-GB" sz="2200" b="0" i="0" u="none" strike="noStrike" cap="none" normalizeH="0" baseline="0" dirty="0">
                          <a:ln>
                            <a:noFill/>
                          </a:ln>
                          <a:solidFill>
                            <a:srgbClr val="000000"/>
                          </a:solidFill>
                          <a:effectLst/>
                          <a:latin typeface="Arial Narrow" pitchFamily="34" charset="0"/>
                        </a:rPr>
                        <a:t>Utilisation des </a:t>
                      </a:r>
                      <a:r>
                        <a:rPr kumimoji="0" lang="en-GB" sz="2200" b="0" i="0" u="none" strike="noStrike" cap="none" normalizeH="0" baseline="0" dirty="0" err="1">
                          <a:ln>
                            <a:noFill/>
                          </a:ln>
                          <a:solidFill>
                            <a:srgbClr val="000000"/>
                          </a:solidFill>
                          <a:effectLst/>
                          <a:latin typeface="Arial Narrow" pitchFamily="34" charset="0"/>
                        </a:rPr>
                        <a:t>méthodes</a:t>
                      </a:r>
                      <a:r>
                        <a:rPr kumimoji="0" lang="en-GB" sz="2200" b="0" i="0" u="none" strike="noStrike" cap="none" normalizeH="0" baseline="0" dirty="0">
                          <a:ln>
                            <a:noFill/>
                          </a:ln>
                          <a:solidFill>
                            <a:srgbClr val="000000"/>
                          </a:solidFill>
                          <a:effectLst/>
                          <a:latin typeface="Arial Narrow" pitchFamily="34" charset="0"/>
                        </a:rPr>
                        <a:t> </a:t>
                      </a:r>
                      <a:r>
                        <a:rPr kumimoji="0" lang="en-GB" sz="2200" b="0" i="0" u="none" strike="noStrike" cap="none" normalizeH="0" baseline="0" dirty="0" err="1">
                          <a:ln>
                            <a:noFill/>
                          </a:ln>
                          <a:solidFill>
                            <a:srgbClr val="000000"/>
                          </a:solidFill>
                          <a:effectLst/>
                          <a:latin typeface="Arial Narrow" pitchFamily="34" charset="0"/>
                        </a:rPr>
                        <a:t>d'authentification</a:t>
                      </a:r>
                      <a:r>
                        <a:rPr kumimoji="0" lang="en-GB" sz="2200" b="0" i="0" u="none" strike="noStrike" cap="none" normalizeH="0" baseline="0" dirty="0">
                          <a:ln>
                            <a:noFill/>
                          </a:ln>
                          <a:solidFill>
                            <a:srgbClr val="000000"/>
                          </a:solidFill>
                          <a:effectLst/>
                          <a:latin typeface="Arial Narrow" pitchFamily="34" charset="0"/>
                        </a:rPr>
                        <a:t> PPP au </a:t>
                      </a:r>
                      <a:r>
                        <a:rPr kumimoji="0" lang="en-GB" sz="2200" b="0" i="0" u="none" strike="noStrike" cap="none" normalizeH="0" baseline="0" dirty="0" err="1">
                          <a:ln>
                            <a:noFill/>
                          </a:ln>
                          <a:solidFill>
                            <a:srgbClr val="000000"/>
                          </a:solidFill>
                          <a:effectLst/>
                          <a:latin typeface="Arial Narrow" pitchFamily="34" charset="0"/>
                        </a:rPr>
                        <a:t>niveau</a:t>
                      </a:r>
                      <a:r>
                        <a:rPr kumimoji="0" lang="en-GB" sz="2200" b="0" i="0" u="none" strike="noStrike" cap="none" normalizeH="0" baseline="0" dirty="0">
                          <a:ln>
                            <a:noFill/>
                          </a:ln>
                          <a:solidFill>
                            <a:srgbClr val="000000"/>
                          </a:solidFill>
                          <a:effectLst/>
                          <a:latin typeface="Arial Narrow" pitchFamily="34" charset="0"/>
                        </a:rPr>
                        <a:t> </a:t>
                      </a:r>
                      <a:r>
                        <a:rPr kumimoji="0" lang="en-GB" sz="2200" b="0" i="0" u="none" strike="noStrike" cap="none" normalizeH="0" baseline="0" dirty="0" err="1">
                          <a:ln>
                            <a:noFill/>
                          </a:ln>
                          <a:solidFill>
                            <a:srgbClr val="000000"/>
                          </a:solidFill>
                          <a:effectLst/>
                          <a:latin typeface="Arial Narrow" pitchFamily="34" charset="0"/>
                        </a:rPr>
                        <a:t>utilisateur</a:t>
                      </a:r>
                      <a:r>
                        <a:rPr kumimoji="0" lang="en-GB" sz="2200" b="0" i="0" u="none" strike="noStrike" cap="none" normalizeH="0" baseline="0" dirty="0">
                          <a:ln>
                            <a:noFill/>
                          </a:ln>
                          <a:solidFill>
                            <a:srgbClr val="000000"/>
                          </a:solidFill>
                          <a:effectLst/>
                          <a:latin typeface="Arial Narrow" pitchFamily="34" charset="0"/>
                        </a:rPr>
                        <a:t> </a:t>
                      </a:r>
                      <a:r>
                        <a:rPr kumimoji="0" lang="en-GB" sz="2200" b="0" i="0" u="none" strike="noStrike" cap="none" normalizeH="0" baseline="0" dirty="0" err="1">
                          <a:ln>
                            <a:noFill/>
                          </a:ln>
                          <a:solidFill>
                            <a:srgbClr val="000000"/>
                          </a:solidFill>
                          <a:effectLst/>
                          <a:latin typeface="Arial Narrow" pitchFamily="34" charset="0"/>
                        </a:rPr>
                        <a:t>sur</a:t>
                      </a:r>
                      <a:r>
                        <a:rPr kumimoji="0" lang="en-GB" sz="2200" b="0" i="0" u="none" strike="noStrike" cap="none" normalizeH="0" baseline="0" dirty="0">
                          <a:ln>
                            <a:noFill/>
                          </a:ln>
                          <a:solidFill>
                            <a:srgbClr val="000000"/>
                          </a:solidFill>
                          <a:effectLst/>
                          <a:latin typeface="Arial Narrow" pitchFamily="34" charset="0"/>
                        </a:rPr>
                        <a:t> </a:t>
                      </a:r>
                      <a:r>
                        <a:rPr kumimoji="0" lang="en-GB" sz="2200" b="0" i="0" u="none" strike="noStrike" cap="none" normalizeH="0" baseline="0" dirty="0" err="1">
                          <a:ln>
                            <a:noFill/>
                          </a:ln>
                          <a:solidFill>
                            <a:srgbClr val="000000"/>
                          </a:solidFill>
                          <a:effectLst/>
                          <a:latin typeface="Arial Narrow" pitchFamily="34" charset="0"/>
                        </a:rPr>
                        <a:t>une</a:t>
                      </a:r>
                      <a:r>
                        <a:rPr kumimoji="0" lang="en-GB" sz="2200" b="0" i="0" u="none" strike="noStrike" cap="none" normalizeH="0" baseline="0" dirty="0">
                          <a:ln>
                            <a:noFill/>
                          </a:ln>
                          <a:solidFill>
                            <a:srgbClr val="000000"/>
                          </a:solidFill>
                          <a:effectLst/>
                          <a:latin typeface="Arial Narrow" pitchFamily="34" charset="0"/>
                        </a:rPr>
                        <a:t> connexion </a:t>
                      </a:r>
                      <a:r>
                        <a:rPr kumimoji="0" lang="en-GB" sz="2200" b="0" i="0" u="none" strike="noStrike" cap="none" normalizeH="0" baseline="0" dirty="0" err="1">
                          <a:ln>
                            <a:noFill/>
                          </a:ln>
                          <a:solidFill>
                            <a:srgbClr val="000000"/>
                          </a:solidFill>
                          <a:effectLst/>
                          <a:latin typeface="Arial Narrow" pitchFamily="34" charset="0"/>
                        </a:rPr>
                        <a:t>cryptée</a:t>
                      </a:r>
                      <a:r>
                        <a:rPr kumimoji="0" lang="en-GB" sz="2200" b="0" i="0" u="none" strike="noStrike" cap="none" normalizeH="0" baseline="0" dirty="0">
                          <a:ln>
                            <a:noFill/>
                          </a:ln>
                          <a:solidFill>
                            <a:srgbClr val="000000"/>
                          </a:solidFill>
                          <a:effectLst/>
                          <a:latin typeface="Arial Narrow" pitchFamily="34" charset="0"/>
                        </a:rPr>
                        <a:t> avec la </a:t>
                      </a:r>
                      <a:r>
                        <a:rPr kumimoji="0" lang="en-GB" sz="2200" b="0" i="0" u="none" strike="noStrike" cap="none" normalizeH="0" baseline="0" dirty="0" err="1">
                          <a:ln>
                            <a:noFill/>
                          </a:ln>
                          <a:solidFill>
                            <a:srgbClr val="000000"/>
                          </a:solidFill>
                          <a:effectLst/>
                          <a:latin typeface="Arial Narrow" pitchFamily="34" charset="0"/>
                        </a:rPr>
                        <a:t>méthode</a:t>
                      </a:r>
                      <a:r>
                        <a:rPr kumimoji="0" lang="en-GB" sz="2200" b="0" i="0" u="none" strike="noStrike" cap="none" normalizeH="0" baseline="0" dirty="0">
                          <a:ln>
                            <a:noFill/>
                          </a:ln>
                          <a:solidFill>
                            <a:srgbClr val="000000"/>
                          </a:solidFill>
                          <a:effectLst/>
                          <a:latin typeface="Arial Narrow" pitchFamily="34" charset="0"/>
                        </a:rPr>
                        <a:t> IPSec</a:t>
                      </a:r>
                      <a:endParaRPr kumimoji="0" lang="en-US" sz="2200" b="0" i="0" u="none" strike="noStrike" cap="none" normalizeH="0" baseline="0" dirty="0">
                        <a:ln>
                          <a:noFill/>
                        </a:ln>
                        <a:solidFill>
                          <a:schemeClr val="tx1"/>
                        </a:solidFill>
                        <a:effectLst/>
                        <a:latin typeface="Arial Narrow" pitchFamily="34" charset="0"/>
                      </a:endParaRPr>
                    </a:p>
                    <a:p>
                      <a:pPr marL="0" marR="0" lvl="0" indent="0" algn="l" defTabSz="914400" rtl="0" eaLnBrk="0" fontAlgn="base" latinLnBrk="0" hangingPunct="0">
                        <a:lnSpc>
                          <a:spcPct val="100000"/>
                        </a:lnSpc>
                        <a:spcBef>
                          <a:spcPts val="0"/>
                        </a:spcBef>
                        <a:spcAft>
                          <a:spcPct val="0"/>
                        </a:spcAft>
                        <a:buClrTx/>
                        <a:buSzPct val="70000"/>
                        <a:buFontTx/>
                        <a:buNone/>
                        <a:tabLst/>
                      </a:pPr>
                      <a:r>
                        <a:rPr kumimoji="0" lang="en-GB" sz="2200" b="0" i="0" u="none" strike="noStrike" cap="none" normalizeH="0" baseline="0" dirty="0">
                          <a:ln>
                            <a:noFill/>
                          </a:ln>
                          <a:solidFill>
                            <a:srgbClr val="000000"/>
                          </a:solidFill>
                          <a:effectLst/>
                          <a:latin typeface="Arial Narrow" pitchFamily="34" charset="0"/>
                        </a:rPr>
                        <a:t>Pour </a:t>
                      </a:r>
                      <a:r>
                        <a:rPr kumimoji="0" lang="en-GB" sz="2200" b="0" i="0" u="none" strike="noStrike" cap="none" normalizeH="0" baseline="0" dirty="0" err="1">
                          <a:ln>
                            <a:noFill/>
                          </a:ln>
                          <a:solidFill>
                            <a:srgbClr val="000000"/>
                          </a:solidFill>
                          <a:effectLst/>
                          <a:latin typeface="Arial Narrow" pitchFamily="34" charset="0"/>
                        </a:rPr>
                        <a:t>l'accès</a:t>
                      </a:r>
                      <a:r>
                        <a:rPr kumimoji="0" lang="en-GB" sz="2200" b="0" i="0" u="none" strike="noStrike" cap="none" normalizeH="0" baseline="0" dirty="0">
                          <a:ln>
                            <a:noFill/>
                          </a:ln>
                          <a:solidFill>
                            <a:srgbClr val="000000"/>
                          </a:solidFill>
                          <a:effectLst/>
                          <a:latin typeface="Arial Narrow" pitchFamily="34" charset="0"/>
                        </a:rPr>
                        <a:t> à un </a:t>
                      </a:r>
                      <a:r>
                        <a:rPr kumimoji="0" lang="en-GB" sz="2200" b="0" i="0" u="none" strike="noStrike" cap="none" normalizeH="0" baseline="0" dirty="0" err="1">
                          <a:ln>
                            <a:noFill/>
                          </a:ln>
                          <a:solidFill>
                            <a:srgbClr val="000000"/>
                          </a:solidFill>
                          <a:effectLst/>
                          <a:latin typeface="Arial Narrow" pitchFamily="34" charset="0"/>
                        </a:rPr>
                        <a:t>réseau</a:t>
                      </a:r>
                      <a:r>
                        <a:rPr kumimoji="0" lang="en-GB" sz="2200" b="0" i="0" u="none" strike="noStrike" cap="none" normalizeH="0" baseline="0" dirty="0">
                          <a:ln>
                            <a:noFill/>
                          </a:ln>
                          <a:solidFill>
                            <a:srgbClr val="000000"/>
                          </a:solidFill>
                          <a:effectLst/>
                          <a:latin typeface="Arial Narrow" pitchFamily="34" charset="0"/>
                        </a:rPr>
                        <a:t> VPN, la </a:t>
                      </a:r>
                      <a:r>
                        <a:rPr kumimoji="0" lang="en-GB" sz="2200" b="0" i="0" u="none" strike="noStrike" cap="none" normalizeH="0" baseline="0" dirty="0" err="1">
                          <a:ln>
                            <a:noFill/>
                          </a:ln>
                          <a:solidFill>
                            <a:srgbClr val="000000"/>
                          </a:solidFill>
                          <a:effectLst/>
                          <a:latin typeface="Arial Narrow" pitchFamily="34" charset="0"/>
                        </a:rPr>
                        <a:t>méthode</a:t>
                      </a:r>
                      <a:r>
                        <a:rPr kumimoji="0" lang="en-GB" sz="2200" b="0" i="0" u="none" strike="noStrike" cap="none" normalizeH="0" baseline="0" dirty="0">
                          <a:ln>
                            <a:noFill/>
                          </a:ln>
                          <a:solidFill>
                            <a:srgbClr val="000000"/>
                          </a:solidFill>
                          <a:effectLst/>
                          <a:latin typeface="Arial Narrow" pitchFamily="34" charset="0"/>
                        </a:rPr>
                        <a:t> </a:t>
                      </a:r>
                      <a:r>
                        <a:rPr kumimoji="0" lang="en-GB" sz="2200" b="0" i="0" u="none" strike="noStrike" cap="none" normalizeH="0" baseline="0" dirty="0" err="1">
                          <a:ln>
                            <a:noFill/>
                          </a:ln>
                          <a:solidFill>
                            <a:srgbClr val="000000"/>
                          </a:solidFill>
                          <a:effectLst/>
                          <a:latin typeface="Arial Narrow" pitchFamily="34" charset="0"/>
                        </a:rPr>
                        <a:t>d'authentification</a:t>
                      </a:r>
                      <a:r>
                        <a:rPr kumimoji="0" lang="en-GB" sz="2200" b="0" i="0" u="none" strike="noStrike" cap="none" normalizeH="0" baseline="0" dirty="0">
                          <a:ln>
                            <a:noFill/>
                          </a:ln>
                          <a:solidFill>
                            <a:srgbClr val="000000"/>
                          </a:solidFill>
                          <a:effectLst/>
                          <a:latin typeface="Arial Narrow" pitchFamily="34" charset="0"/>
                        </a:rPr>
                        <a:t> </a:t>
                      </a:r>
                      <a:r>
                        <a:rPr kumimoji="0" lang="en-GB" sz="2200" b="0" i="0" u="none" strike="noStrike" cap="none" normalizeH="0" baseline="0" dirty="0" err="1">
                          <a:ln>
                            <a:noFill/>
                          </a:ln>
                          <a:solidFill>
                            <a:srgbClr val="000000"/>
                          </a:solidFill>
                          <a:effectLst/>
                          <a:latin typeface="Arial Narrow" pitchFamily="34" charset="0"/>
                        </a:rPr>
                        <a:t>recommandée</a:t>
                      </a:r>
                      <a:r>
                        <a:rPr kumimoji="0" lang="en-GB" sz="2200" b="0" i="0" u="none" strike="noStrike" cap="none" normalizeH="0" baseline="0" dirty="0">
                          <a:ln>
                            <a:noFill/>
                          </a:ln>
                          <a:solidFill>
                            <a:srgbClr val="000000"/>
                          </a:solidFill>
                          <a:effectLst/>
                          <a:latin typeface="Arial Narrow" pitchFamily="34" charset="0"/>
                        </a:rPr>
                        <a:t> </a:t>
                      </a:r>
                      <a:r>
                        <a:rPr kumimoji="0" lang="en-GB" sz="2200" b="0" i="0" u="none" strike="noStrike" cap="none" normalizeH="0" baseline="0" dirty="0" err="1">
                          <a:ln>
                            <a:noFill/>
                          </a:ln>
                          <a:solidFill>
                            <a:srgbClr val="000000"/>
                          </a:solidFill>
                          <a:effectLst/>
                          <a:latin typeface="Arial Narrow" pitchFamily="34" charset="0"/>
                        </a:rPr>
                        <a:t>est</a:t>
                      </a:r>
                      <a:r>
                        <a:rPr kumimoji="0" lang="en-GB" sz="2200" b="0" i="0" u="none" strike="noStrike" cap="none" normalizeH="0" baseline="0" dirty="0">
                          <a:ln>
                            <a:noFill/>
                          </a:ln>
                          <a:solidFill>
                            <a:srgbClr val="000000"/>
                          </a:solidFill>
                          <a:effectLst/>
                          <a:latin typeface="Arial Narrow" pitchFamily="34" charset="0"/>
                        </a:rPr>
                        <a:t> L2TP/IPSec avec des </a:t>
                      </a:r>
                      <a:r>
                        <a:rPr kumimoji="0" lang="en-GB" sz="2200" b="0" i="0" u="none" strike="noStrike" cap="none" normalizeH="0" baseline="0" dirty="0" err="1">
                          <a:ln>
                            <a:noFill/>
                          </a:ln>
                          <a:solidFill>
                            <a:srgbClr val="000000"/>
                          </a:solidFill>
                          <a:effectLst/>
                          <a:latin typeface="Arial Narrow" pitchFamily="34" charset="0"/>
                        </a:rPr>
                        <a:t>certificats</a:t>
                      </a:r>
                      <a:endParaRPr kumimoji="0" lang="en-US" sz="2200" b="0" i="0" u="none" strike="noStrike" cap="none" normalizeH="0" baseline="0" dirty="0">
                        <a:ln>
                          <a:noFill/>
                        </a:ln>
                        <a:solidFill>
                          <a:srgbClr val="000000"/>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50838">
                <a:tc>
                  <a:txBody>
                    <a:bodyPr/>
                    <a:lstStyle/>
                    <a:p>
                      <a:pPr marL="0" marR="0" lvl="0" indent="0" algn="l" defTabSz="914400" rtl="0" eaLnBrk="0" fontAlgn="base" latinLnBrk="0" hangingPunct="0">
                        <a:lnSpc>
                          <a:spcPct val="90000"/>
                        </a:lnSpc>
                        <a:spcBef>
                          <a:spcPct val="35000"/>
                        </a:spcBef>
                        <a:spcAft>
                          <a:spcPct val="0"/>
                        </a:spcAft>
                        <a:buClrTx/>
                        <a:buSzPct val="70000"/>
                        <a:buFontTx/>
                        <a:buNone/>
                        <a:tabLst/>
                      </a:pPr>
                      <a:r>
                        <a:rPr kumimoji="0" lang="en-US" sz="2200" b="1" i="0" u="none" strike="noStrike" cap="none" normalizeH="0" baseline="0" dirty="0">
                          <a:ln>
                            <a:noFill/>
                          </a:ln>
                          <a:solidFill>
                            <a:schemeClr val="tx1"/>
                          </a:solidFill>
                          <a:effectLst/>
                          <a:latin typeface="Arial Narrow" pitchFamily="34" charset="0"/>
                        </a:rPr>
                        <a:t>SSTP</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100000"/>
                        </a:lnSpc>
                        <a:spcBef>
                          <a:spcPts val="0"/>
                        </a:spcBef>
                        <a:spcAft>
                          <a:spcPct val="0"/>
                        </a:spcAft>
                        <a:buClrTx/>
                        <a:buSzPct val="70000"/>
                        <a:buFontTx/>
                        <a:buNone/>
                        <a:tabLst/>
                      </a:pPr>
                      <a:r>
                        <a:rPr kumimoji="0" lang="fr-FR" sz="2200" b="0" i="0" u="none" strike="noStrike" cap="none" normalizeH="0" baseline="0" dirty="0">
                          <a:ln>
                            <a:noFill/>
                          </a:ln>
                          <a:solidFill>
                            <a:srgbClr val="000000"/>
                          </a:solidFill>
                          <a:effectLst/>
                          <a:latin typeface="Arial Narrow" pitchFamily="34" charset="0"/>
                        </a:rPr>
                        <a:t>SSTP est un nouveau protocole de tunneling </a:t>
                      </a:r>
                    </a:p>
                    <a:p>
                      <a:pPr marL="0" marR="0" lvl="0" indent="0" algn="l" defTabSz="914400" rtl="0" eaLnBrk="0" fontAlgn="base" latinLnBrk="0" hangingPunct="0">
                        <a:lnSpc>
                          <a:spcPct val="100000"/>
                        </a:lnSpc>
                        <a:spcBef>
                          <a:spcPts val="0"/>
                        </a:spcBef>
                        <a:spcAft>
                          <a:spcPct val="0"/>
                        </a:spcAft>
                        <a:buClrTx/>
                        <a:buSzPct val="70000"/>
                        <a:buFontTx/>
                        <a:buNone/>
                        <a:tabLst/>
                      </a:pPr>
                      <a:r>
                        <a:rPr kumimoji="0" lang="fr-FR" sz="2200" b="0" i="0" u="none" strike="noStrike" cap="none" normalizeH="0" baseline="0" dirty="0">
                          <a:ln>
                            <a:noFill/>
                          </a:ln>
                          <a:solidFill>
                            <a:srgbClr val="000000"/>
                          </a:solidFill>
                          <a:effectLst/>
                          <a:latin typeface="Arial Narrow" pitchFamily="34" charset="0"/>
                        </a:rPr>
                        <a:t>Il utilise le protocole HTTPS (Secure </a:t>
                      </a:r>
                      <a:r>
                        <a:rPr kumimoji="0" lang="fr-FR" sz="2200" b="0" i="0" u="none" strike="noStrike" cap="none" normalizeH="0" baseline="0" dirty="0" err="1">
                          <a:ln>
                            <a:noFill/>
                          </a:ln>
                          <a:solidFill>
                            <a:srgbClr val="000000"/>
                          </a:solidFill>
                          <a:effectLst/>
                          <a:latin typeface="Arial Narrow" pitchFamily="34" charset="0"/>
                        </a:rPr>
                        <a:t>Hypertext</a:t>
                      </a:r>
                      <a:r>
                        <a:rPr kumimoji="0" lang="fr-FR" sz="2200" b="0" i="0" u="none" strike="noStrike" cap="none" normalizeH="0" baseline="0" dirty="0">
                          <a:ln>
                            <a:noFill/>
                          </a:ln>
                          <a:solidFill>
                            <a:srgbClr val="000000"/>
                          </a:solidFill>
                          <a:effectLst/>
                          <a:latin typeface="Arial Narrow" pitchFamily="34" charset="0"/>
                        </a:rPr>
                        <a:t> Transfer Protocol) pour transmettre le trafic via des pare-feux et des proxy Web qui peuvent bloquer le trafic PPTP et L2TP / </a:t>
                      </a:r>
                      <a:r>
                        <a:rPr kumimoji="0" lang="fr-FR" sz="2200" b="0" i="0" u="none" strike="noStrike" cap="none" normalizeH="0" baseline="0" dirty="0" err="1">
                          <a:ln>
                            <a:noFill/>
                          </a:ln>
                          <a:solidFill>
                            <a:srgbClr val="000000"/>
                          </a:solidFill>
                          <a:effectLst/>
                          <a:latin typeface="Arial Narrow" pitchFamily="34" charset="0"/>
                        </a:rPr>
                        <a:t>IPsec</a:t>
                      </a:r>
                      <a:r>
                        <a:rPr kumimoji="0" lang="fr-FR" sz="2200" b="0" i="0" u="none" strike="noStrike" cap="none" normalizeH="0" baseline="0" dirty="0">
                          <a:ln>
                            <a:noFill/>
                          </a:ln>
                          <a:solidFill>
                            <a:srgbClr val="000000"/>
                          </a:solidFill>
                          <a:effectLst/>
                          <a:latin typeface="Arial Narrow" pitchFamily="34" charset="0"/>
                        </a:rPr>
                        <a:t>.</a:t>
                      </a:r>
                    </a:p>
                    <a:p>
                      <a:pPr marL="0" marR="0" lvl="0" indent="0" algn="l" defTabSz="914400" rtl="0" eaLnBrk="0" fontAlgn="base" latinLnBrk="0" hangingPunct="0">
                        <a:lnSpc>
                          <a:spcPct val="100000"/>
                        </a:lnSpc>
                        <a:spcBef>
                          <a:spcPts val="0"/>
                        </a:spcBef>
                        <a:spcAft>
                          <a:spcPct val="0"/>
                        </a:spcAft>
                        <a:buClrTx/>
                        <a:buSzPct val="70000"/>
                        <a:buFontTx/>
                        <a:buNone/>
                        <a:tabLst/>
                      </a:pPr>
                      <a:endParaRPr kumimoji="0" lang="en-US" sz="2200" b="0" i="0" u="none" strike="noStrike" cap="none" normalizeH="0" baseline="0" dirty="0">
                        <a:ln>
                          <a:noFill/>
                        </a:ln>
                        <a:solidFill>
                          <a:srgbClr val="000000"/>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38" name="Rectangle 37"/>
          <p:cNvSpPr/>
          <p:nvPr/>
        </p:nvSpPr>
        <p:spPr>
          <a:xfrm>
            <a:off x="174171" y="2830286"/>
            <a:ext cx="1476000" cy="1404000"/>
          </a:xfrm>
          <a:prstGeom prst="rect">
            <a:avLst/>
          </a:prstGeom>
          <a:solidFill>
            <a:srgbClr val="D1DA9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Rectangle 38"/>
          <p:cNvSpPr/>
          <p:nvPr/>
        </p:nvSpPr>
        <p:spPr>
          <a:xfrm>
            <a:off x="181429" y="4201886"/>
            <a:ext cx="1451429" cy="1728000"/>
          </a:xfrm>
          <a:prstGeom prst="rect">
            <a:avLst/>
          </a:prstGeom>
          <a:solidFill>
            <a:srgbClr val="D1DA9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0" name="Rectangle 39"/>
          <p:cNvSpPr/>
          <p:nvPr/>
        </p:nvSpPr>
        <p:spPr>
          <a:xfrm>
            <a:off x="1654628" y="2801257"/>
            <a:ext cx="7308000" cy="140788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Rectangle 40"/>
          <p:cNvSpPr/>
          <p:nvPr/>
        </p:nvSpPr>
        <p:spPr>
          <a:xfrm>
            <a:off x="1661885" y="4230912"/>
            <a:ext cx="7308000" cy="1692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xit" presetSubtype="16" fill="hold" grpId="0" nodeType="clickEffect">
                                  <p:stCondLst>
                                    <p:cond delay="0"/>
                                  </p:stCondLst>
                                  <p:childTnLst>
                                    <p:animEffect transition="out" filter="box(in)">
                                      <p:cBhvr>
                                        <p:cTn id="6" dur="500"/>
                                        <p:tgtEl>
                                          <p:spTgt spid="38"/>
                                        </p:tgtEl>
                                      </p:cBhvr>
                                    </p:animEffect>
                                    <p:set>
                                      <p:cBhvr>
                                        <p:cTn id="7" dur="1" fill="hold">
                                          <p:stCondLst>
                                            <p:cond delay="499"/>
                                          </p:stCondLst>
                                        </p:cTn>
                                        <p:tgtEl>
                                          <p:spTgt spid="38"/>
                                        </p:tgtEl>
                                        <p:attrNameLst>
                                          <p:attrName>style.visibility</p:attrName>
                                        </p:attrNameLst>
                                      </p:cBhvr>
                                      <p:to>
                                        <p:strVal val="hidden"/>
                                      </p:to>
                                    </p:set>
                                  </p:childTnLst>
                                </p:cTn>
                              </p:par>
                              <p:par>
                                <p:cTn id="8" presetID="4" presetClass="exit" presetSubtype="16" fill="hold" grpId="0" nodeType="withEffect">
                                  <p:stCondLst>
                                    <p:cond delay="0"/>
                                  </p:stCondLst>
                                  <p:childTnLst>
                                    <p:animEffect transition="out" filter="box(in)">
                                      <p:cBhvr>
                                        <p:cTn id="9" dur="500"/>
                                        <p:tgtEl>
                                          <p:spTgt spid="40"/>
                                        </p:tgtEl>
                                      </p:cBhvr>
                                    </p:animEffect>
                                    <p:set>
                                      <p:cBhvr>
                                        <p:cTn id="10" dur="1" fill="hold">
                                          <p:stCondLst>
                                            <p:cond delay="499"/>
                                          </p:stCondLst>
                                        </p:cTn>
                                        <p:tgtEl>
                                          <p:spTgt spid="40"/>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4" presetClass="exit" presetSubtype="16" fill="hold" grpId="0" nodeType="clickEffect">
                                  <p:stCondLst>
                                    <p:cond delay="0"/>
                                  </p:stCondLst>
                                  <p:childTnLst>
                                    <p:animEffect transition="out" filter="box(in)">
                                      <p:cBhvr>
                                        <p:cTn id="14" dur="500"/>
                                        <p:tgtEl>
                                          <p:spTgt spid="39"/>
                                        </p:tgtEl>
                                      </p:cBhvr>
                                    </p:animEffect>
                                    <p:set>
                                      <p:cBhvr>
                                        <p:cTn id="15" dur="1" fill="hold">
                                          <p:stCondLst>
                                            <p:cond delay="499"/>
                                          </p:stCondLst>
                                        </p:cTn>
                                        <p:tgtEl>
                                          <p:spTgt spid="39"/>
                                        </p:tgtEl>
                                        <p:attrNameLst>
                                          <p:attrName>style.visibility</p:attrName>
                                        </p:attrNameLst>
                                      </p:cBhvr>
                                      <p:to>
                                        <p:strVal val="hidden"/>
                                      </p:to>
                                    </p:set>
                                  </p:childTnLst>
                                </p:cTn>
                              </p:par>
                              <p:par>
                                <p:cTn id="16" presetID="4" presetClass="exit" presetSubtype="16" fill="hold" grpId="0" nodeType="withEffect">
                                  <p:stCondLst>
                                    <p:cond delay="0"/>
                                  </p:stCondLst>
                                  <p:childTnLst>
                                    <p:animEffect transition="out" filter="box(in)">
                                      <p:cBhvr>
                                        <p:cTn id="17" dur="500"/>
                                        <p:tgtEl>
                                          <p:spTgt spid="41"/>
                                        </p:tgtEl>
                                      </p:cBhvr>
                                    </p:animEffect>
                                    <p:set>
                                      <p:cBhvr>
                                        <p:cTn id="18" dur="1" fill="hold">
                                          <p:stCondLst>
                                            <p:cond delay="499"/>
                                          </p:stCondLst>
                                        </p:cTn>
                                        <p:tgtEl>
                                          <p:spTgt spid="4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P spid="40" grpId="0" animBg="1"/>
      <p:bldP spid="4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Rectangle 2"/>
          <p:cNvSpPr>
            <a:spLocks noGrp="1" noChangeArrowheads="1"/>
          </p:cNvSpPr>
          <p:nvPr>
            <p:ph type="title"/>
            <p:custDataLst>
              <p:tags r:id="rId1"/>
            </p:custDataLst>
          </p:nvPr>
        </p:nvSpPr>
        <p:spPr>
          <a:xfrm>
            <a:off x="301752" y="228600"/>
            <a:ext cx="8534400" cy="758952"/>
          </a:xfrm>
        </p:spPr>
        <p:txBody>
          <a:bodyPr vert="horz" anchor="b">
            <a:normAutofit fontScale="90000"/>
          </a:bodyPr>
          <a:lstStyle/>
          <a:p>
            <a:r>
              <a:rPr lang="en-GB" sz="2800" dirty="0">
                <a:solidFill>
                  <a:srgbClr val="C00000"/>
                </a:solidFill>
              </a:rPr>
              <a:t>Protocoles de cryptage pour une connexion VPN</a:t>
            </a:r>
            <a:endParaRPr sz="2800" dirty="0">
              <a:solidFill>
                <a:srgbClr val="C00000"/>
              </a:solidFill>
            </a:endParaRPr>
          </a:p>
        </p:txBody>
      </p:sp>
      <p:sp>
        <p:nvSpPr>
          <p:cNvPr id="48" name="Rectangle à coins arrondis 47"/>
          <p:cNvSpPr/>
          <p:nvPr/>
        </p:nvSpPr>
        <p:spPr>
          <a:xfrm>
            <a:off x="203200" y="1335313"/>
            <a:ext cx="8737600" cy="510902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200" b="1" u="sng" dirty="0">
                <a:solidFill>
                  <a:schemeClr val="tx1"/>
                </a:solidFill>
              </a:rPr>
              <a:t>PPTP:</a:t>
            </a:r>
          </a:p>
          <a:p>
            <a:pPr algn="l">
              <a:buFont typeface="Wingdings" pitchFamily="2" charset="2"/>
              <a:buChar char="q"/>
            </a:pPr>
            <a:r>
              <a:rPr lang="fr-FR" sz="2200" dirty="0">
                <a:solidFill>
                  <a:schemeClr val="tx1"/>
                </a:solidFill>
              </a:rPr>
              <a:t>fournit la confidentialité des données (cryptage)</a:t>
            </a:r>
          </a:p>
          <a:p>
            <a:pPr algn="l">
              <a:buFont typeface="Wingdings" pitchFamily="2" charset="2"/>
              <a:buChar char="q"/>
            </a:pPr>
            <a:r>
              <a:rPr lang="fr-FR" sz="2200" dirty="0">
                <a:solidFill>
                  <a:schemeClr val="tx1"/>
                </a:solidFill>
              </a:rPr>
              <a:t>ne fournit pas l'intégrité des données (modification) </a:t>
            </a:r>
          </a:p>
          <a:p>
            <a:pPr algn="l">
              <a:buFont typeface="Wingdings" pitchFamily="2" charset="2"/>
              <a:buChar char="q"/>
            </a:pPr>
            <a:r>
              <a:rPr lang="fr-FR" sz="2200" dirty="0">
                <a:solidFill>
                  <a:schemeClr val="tx1"/>
                </a:solidFill>
              </a:rPr>
              <a:t>ne prouve pas l'authentification d'origine des données</a:t>
            </a:r>
          </a:p>
          <a:p>
            <a:r>
              <a:rPr lang="fr-FR" sz="2200" b="1" u="sng" dirty="0">
                <a:solidFill>
                  <a:schemeClr val="tx1"/>
                </a:solidFill>
              </a:rPr>
              <a:t>L2TP/IPSEC </a:t>
            </a:r>
          </a:p>
          <a:p>
            <a:pPr algn="l">
              <a:buFont typeface="Wingdings" pitchFamily="2" charset="2"/>
              <a:buChar char="q"/>
            </a:pPr>
            <a:r>
              <a:rPr lang="fr-FR" sz="2200" dirty="0">
                <a:solidFill>
                  <a:schemeClr val="tx1"/>
                </a:solidFill>
              </a:rPr>
              <a:t>En utilisant </a:t>
            </a:r>
            <a:r>
              <a:rPr lang="fr-FR" sz="2200" dirty="0" err="1">
                <a:solidFill>
                  <a:schemeClr val="tx1"/>
                </a:solidFill>
              </a:rPr>
              <a:t>IPsec</a:t>
            </a:r>
            <a:r>
              <a:rPr lang="fr-FR" sz="2200" dirty="0">
                <a:solidFill>
                  <a:schemeClr val="tx1"/>
                </a:solidFill>
              </a:rPr>
              <a:t>, les connexions VPN L2TP / </a:t>
            </a:r>
            <a:r>
              <a:rPr lang="fr-FR" sz="2200" dirty="0" err="1">
                <a:solidFill>
                  <a:schemeClr val="tx1"/>
                </a:solidFill>
              </a:rPr>
              <a:t>IPsec</a:t>
            </a:r>
            <a:r>
              <a:rPr lang="fr-FR" sz="2200" dirty="0">
                <a:solidFill>
                  <a:schemeClr val="tx1"/>
                </a:solidFill>
              </a:rPr>
              <a:t> fournissent la confidentialité, l'intégrité et l'authentification des données.</a:t>
            </a:r>
          </a:p>
          <a:p>
            <a:r>
              <a:rPr lang="fr-FR" sz="2200" b="1" u="sng" dirty="0">
                <a:solidFill>
                  <a:schemeClr val="tx1"/>
                </a:solidFill>
              </a:rPr>
              <a:t>SSTP</a:t>
            </a:r>
          </a:p>
          <a:p>
            <a:pPr algn="l">
              <a:buFont typeface="Wingdings" pitchFamily="2" charset="2"/>
              <a:buChar char="q"/>
            </a:pPr>
            <a:r>
              <a:rPr lang="fr-FR" sz="2200" dirty="0">
                <a:solidFill>
                  <a:schemeClr val="tx1"/>
                </a:solidFill>
              </a:rPr>
              <a:t>Vous pouvez l’utiliser uniquement avec les ordinateurs clients exécutant les nouveaux OS. </a:t>
            </a:r>
          </a:p>
          <a:p>
            <a:pPr algn="l">
              <a:buFont typeface="Wingdings" pitchFamily="2" charset="2"/>
              <a:buChar char="q"/>
            </a:pPr>
            <a:r>
              <a:rPr lang="fr-FR" sz="2200" dirty="0">
                <a:solidFill>
                  <a:schemeClr val="tx1"/>
                </a:solidFill>
              </a:rPr>
              <a:t>En utilisant SSL, les connexions VPN SSTP assurent la confidentialité, l'intégrité et l'authentification des données.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8">
                                            <p:txEl>
                                              <p:pRg st="0" end="0"/>
                                            </p:txEl>
                                          </p:spTgt>
                                        </p:tgtEl>
                                        <p:attrNameLst>
                                          <p:attrName>style.visibility</p:attrName>
                                        </p:attrNameLst>
                                      </p:cBhvr>
                                      <p:to>
                                        <p:strVal val="visible"/>
                                      </p:to>
                                    </p:set>
                                    <p:animEffect transition="in" filter="box(in)">
                                      <p:cBhvr>
                                        <p:cTn id="7" dur="500"/>
                                        <p:tgtEl>
                                          <p:spTgt spid="48">
                                            <p:txEl>
                                              <p:pRg st="0" end="0"/>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48">
                                            <p:txEl>
                                              <p:pRg st="1" end="1"/>
                                            </p:txEl>
                                          </p:spTgt>
                                        </p:tgtEl>
                                        <p:attrNameLst>
                                          <p:attrName>style.visibility</p:attrName>
                                        </p:attrNameLst>
                                      </p:cBhvr>
                                      <p:to>
                                        <p:strVal val="visible"/>
                                      </p:to>
                                    </p:set>
                                    <p:animEffect transition="in" filter="box(in)">
                                      <p:cBhvr>
                                        <p:cTn id="10" dur="500"/>
                                        <p:tgtEl>
                                          <p:spTgt spid="48">
                                            <p:txEl>
                                              <p:pRg st="1" end="1"/>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48">
                                            <p:txEl>
                                              <p:pRg st="2" end="2"/>
                                            </p:txEl>
                                          </p:spTgt>
                                        </p:tgtEl>
                                        <p:attrNameLst>
                                          <p:attrName>style.visibility</p:attrName>
                                        </p:attrNameLst>
                                      </p:cBhvr>
                                      <p:to>
                                        <p:strVal val="visible"/>
                                      </p:to>
                                    </p:set>
                                    <p:animEffect transition="in" filter="box(in)">
                                      <p:cBhvr>
                                        <p:cTn id="13" dur="500"/>
                                        <p:tgtEl>
                                          <p:spTgt spid="48">
                                            <p:txEl>
                                              <p:pRg st="2" end="2"/>
                                            </p:txEl>
                                          </p:spTgt>
                                        </p:tgtEl>
                                      </p:cBhvr>
                                    </p:animEffect>
                                  </p:childTnLst>
                                </p:cTn>
                              </p:par>
                              <p:par>
                                <p:cTn id="14" presetID="4" presetClass="entr" presetSubtype="16" fill="hold" nodeType="withEffect">
                                  <p:stCondLst>
                                    <p:cond delay="0"/>
                                  </p:stCondLst>
                                  <p:childTnLst>
                                    <p:set>
                                      <p:cBhvr>
                                        <p:cTn id="15" dur="1" fill="hold">
                                          <p:stCondLst>
                                            <p:cond delay="0"/>
                                          </p:stCondLst>
                                        </p:cTn>
                                        <p:tgtEl>
                                          <p:spTgt spid="48">
                                            <p:txEl>
                                              <p:pRg st="3" end="3"/>
                                            </p:txEl>
                                          </p:spTgt>
                                        </p:tgtEl>
                                        <p:attrNameLst>
                                          <p:attrName>style.visibility</p:attrName>
                                        </p:attrNameLst>
                                      </p:cBhvr>
                                      <p:to>
                                        <p:strVal val="visible"/>
                                      </p:to>
                                    </p:set>
                                    <p:animEffect transition="in" filter="box(in)">
                                      <p:cBhvr>
                                        <p:cTn id="16" dur="500"/>
                                        <p:tgtEl>
                                          <p:spTgt spid="48">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48">
                                            <p:txEl>
                                              <p:pRg st="4" end="4"/>
                                            </p:txEl>
                                          </p:spTgt>
                                        </p:tgtEl>
                                        <p:attrNameLst>
                                          <p:attrName>style.visibility</p:attrName>
                                        </p:attrNameLst>
                                      </p:cBhvr>
                                      <p:to>
                                        <p:strVal val="visible"/>
                                      </p:to>
                                    </p:set>
                                    <p:animEffect transition="in" filter="box(in)">
                                      <p:cBhvr>
                                        <p:cTn id="21" dur="500"/>
                                        <p:tgtEl>
                                          <p:spTgt spid="48">
                                            <p:txEl>
                                              <p:pRg st="4" end="4"/>
                                            </p:txEl>
                                          </p:spTgt>
                                        </p:tgtEl>
                                      </p:cBhvr>
                                    </p:animEffect>
                                  </p:childTnLst>
                                </p:cTn>
                              </p:par>
                              <p:par>
                                <p:cTn id="22" presetID="4" presetClass="entr" presetSubtype="16" fill="hold" nodeType="withEffect">
                                  <p:stCondLst>
                                    <p:cond delay="0"/>
                                  </p:stCondLst>
                                  <p:childTnLst>
                                    <p:set>
                                      <p:cBhvr>
                                        <p:cTn id="23" dur="1" fill="hold">
                                          <p:stCondLst>
                                            <p:cond delay="0"/>
                                          </p:stCondLst>
                                        </p:cTn>
                                        <p:tgtEl>
                                          <p:spTgt spid="48">
                                            <p:txEl>
                                              <p:pRg st="5" end="5"/>
                                            </p:txEl>
                                          </p:spTgt>
                                        </p:tgtEl>
                                        <p:attrNameLst>
                                          <p:attrName>style.visibility</p:attrName>
                                        </p:attrNameLst>
                                      </p:cBhvr>
                                      <p:to>
                                        <p:strVal val="visible"/>
                                      </p:to>
                                    </p:set>
                                    <p:animEffect transition="in" filter="box(in)">
                                      <p:cBhvr>
                                        <p:cTn id="24" dur="500"/>
                                        <p:tgtEl>
                                          <p:spTgt spid="48">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nodeType="clickEffect">
                                  <p:stCondLst>
                                    <p:cond delay="0"/>
                                  </p:stCondLst>
                                  <p:childTnLst>
                                    <p:set>
                                      <p:cBhvr>
                                        <p:cTn id="28" dur="1" fill="hold">
                                          <p:stCondLst>
                                            <p:cond delay="0"/>
                                          </p:stCondLst>
                                        </p:cTn>
                                        <p:tgtEl>
                                          <p:spTgt spid="48">
                                            <p:txEl>
                                              <p:pRg st="6" end="6"/>
                                            </p:txEl>
                                          </p:spTgt>
                                        </p:tgtEl>
                                        <p:attrNameLst>
                                          <p:attrName>style.visibility</p:attrName>
                                        </p:attrNameLst>
                                      </p:cBhvr>
                                      <p:to>
                                        <p:strVal val="visible"/>
                                      </p:to>
                                    </p:set>
                                    <p:animEffect transition="in" filter="box(in)">
                                      <p:cBhvr>
                                        <p:cTn id="29" dur="500"/>
                                        <p:tgtEl>
                                          <p:spTgt spid="48">
                                            <p:txEl>
                                              <p:pRg st="6" end="6"/>
                                            </p:txEl>
                                          </p:spTgt>
                                        </p:tgtEl>
                                      </p:cBhvr>
                                    </p:animEffect>
                                  </p:childTnLst>
                                </p:cTn>
                              </p:par>
                              <p:par>
                                <p:cTn id="30" presetID="4" presetClass="entr" presetSubtype="16" fill="hold" nodeType="withEffect">
                                  <p:stCondLst>
                                    <p:cond delay="0"/>
                                  </p:stCondLst>
                                  <p:childTnLst>
                                    <p:set>
                                      <p:cBhvr>
                                        <p:cTn id="31" dur="1" fill="hold">
                                          <p:stCondLst>
                                            <p:cond delay="0"/>
                                          </p:stCondLst>
                                        </p:cTn>
                                        <p:tgtEl>
                                          <p:spTgt spid="48">
                                            <p:txEl>
                                              <p:pRg st="7" end="7"/>
                                            </p:txEl>
                                          </p:spTgt>
                                        </p:tgtEl>
                                        <p:attrNameLst>
                                          <p:attrName>style.visibility</p:attrName>
                                        </p:attrNameLst>
                                      </p:cBhvr>
                                      <p:to>
                                        <p:strVal val="visible"/>
                                      </p:to>
                                    </p:set>
                                    <p:animEffect transition="in" filter="box(in)">
                                      <p:cBhvr>
                                        <p:cTn id="32" dur="500"/>
                                        <p:tgtEl>
                                          <p:spTgt spid="48">
                                            <p:txEl>
                                              <p:pRg st="7" end="7"/>
                                            </p:txEl>
                                          </p:spTgt>
                                        </p:tgtEl>
                                      </p:cBhvr>
                                    </p:animEffect>
                                  </p:childTnLst>
                                </p:cTn>
                              </p:par>
                              <p:par>
                                <p:cTn id="33" presetID="4" presetClass="entr" presetSubtype="16" fill="hold" nodeType="withEffect">
                                  <p:stCondLst>
                                    <p:cond delay="0"/>
                                  </p:stCondLst>
                                  <p:childTnLst>
                                    <p:set>
                                      <p:cBhvr>
                                        <p:cTn id="34" dur="1" fill="hold">
                                          <p:stCondLst>
                                            <p:cond delay="0"/>
                                          </p:stCondLst>
                                        </p:cTn>
                                        <p:tgtEl>
                                          <p:spTgt spid="48">
                                            <p:txEl>
                                              <p:pRg st="8" end="8"/>
                                            </p:txEl>
                                          </p:spTgt>
                                        </p:tgtEl>
                                        <p:attrNameLst>
                                          <p:attrName>style.visibility</p:attrName>
                                        </p:attrNameLst>
                                      </p:cBhvr>
                                      <p:to>
                                        <p:strVal val="visible"/>
                                      </p:to>
                                    </p:set>
                                    <p:animEffect transition="in" filter="box(in)">
                                      <p:cBhvr>
                                        <p:cTn id="35" dur="500"/>
                                        <p:tgtEl>
                                          <p:spTgt spid="4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2"/>
          <p:cNvSpPr>
            <a:spLocks noGrp="1" noChangeArrowheads="1"/>
          </p:cNvSpPr>
          <p:nvPr>
            <p:ph type="title"/>
            <p:custDataLst>
              <p:tags r:id="rId1"/>
            </p:custDataLst>
          </p:nvPr>
        </p:nvSpPr>
        <p:spPr/>
        <p:txBody>
          <a:bodyPr vert="horz" anchor="b">
            <a:normAutofit/>
          </a:bodyPr>
          <a:lstStyle/>
          <a:p>
            <a:r>
              <a:rPr lang="en-GB" sz="2800" dirty="0">
                <a:solidFill>
                  <a:srgbClr val="C00000"/>
                </a:solidFill>
              </a:rPr>
              <a:t>Configuration requise pour un serveur VPN</a:t>
            </a:r>
            <a:endParaRPr sz="2800" dirty="0">
              <a:solidFill>
                <a:srgbClr val="C00000"/>
              </a:solidFill>
            </a:endParaRPr>
          </a:p>
        </p:txBody>
      </p:sp>
      <p:sp>
        <p:nvSpPr>
          <p:cNvPr id="481284" name="AutoShape 4"/>
          <p:cNvSpPr>
            <a:spLocks noChangeArrowheads="1"/>
          </p:cNvSpPr>
          <p:nvPr>
            <p:custDataLst>
              <p:tags r:id="rId2"/>
            </p:custDataLst>
          </p:nvPr>
        </p:nvSpPr>
        <p:spPr bwMode="auto">
          <a:xfrm>
            <a:off x="914400" y="2467428"/>
            <a:ext cx="7736114" cy="3236685"/>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spcBef>
                <a:spcPct val="40000"/>
              </a:spcBef>
              <a:buSzPct val="80000"/>
              <a:buFontTx/>
              <a:buBlip>
                <a:blip r:embed="rId5"/>
              </a:buBlip>
            </a:pPr>
            <a:r>
              <a:rPr lang="en-GB" sz="2400" b="1" dirty="0">
                <a:solidFill>
                  <a:srgbClr val="000000"/>
                </a:solidFill>
              </a:rPr>
              <a:t>Identifier </a:t>
            </a:r>
            <a:r>
              <a:rPr lang="en-GB" sz="2400" b="1" dirty="0" err="1">
                <a:solidFill>
                  <a:srgbClr val="000000"/>
                </a:solidFill>
              </a:rPr>
              <a:t>l'interface</a:t>
            </a:r>
            <a:r>
              <a:rPr lang="en-GB" sz="2400" b="1" dirty="0">
                <a:solidFill>
                  <a:srgbClr val="000000"/>
                </a:solidFill>
              </a:rPr>
              <a:t> </a:t>
            </a:r>
            <a:r>
              <a:rPr lang="en-GB" sz="2400" b="1" dirty="0" err="1">
                <a:solidFill>
                  <a:srgbClr val="000000"/>
                </a:solidFill>
              </a:rPr>
              <a:t>réseau</a:t>
            </a:r>
            <a:r>
              <a:rPr lang="en-GB" sz="2400" b="1" dirty="0">
                <a:solidFill>
                  <a:srgbClr val="000000"/>
                </a:solidFill>
              </a:rPr>
              <a:t> qui assure la connexion à Internet et </a:t>
            </a:r>
            <a:r>
              <a:rPr lang="en-GB" sz="2400" b="1" dirty="0" err="1">
                <a:solidFill>
                  <a:srgbClr val="000000"/>
                </a:solidFill>
              </a:rPr>
              <a:t>celle</a:t>
            </a:r>
            <a:r>
              <a:rPr lang="en-GB" sz="2400" b="1" dirty="0">
                <a:solidFill>
                  <a:srgbClr val="000000"/>
                </a:solidFill>
              </a:rPr>
              <a:t> qui assure la connexion à </a:t>
            </a:r>
            <a:r>
              <a:rPr lang="en-GB" sz="2400" b="1" dirty="0" err="1">
                <a:solidFill>
                  <a:srgbClr val="000000"/>
                </a:solidFill>
              </a:rPr>
              <a:t>votre</a:t>
            </a:r>
            <a:r>
              <a:rPr lang="en-GB" sz="2400" b="1" dirty="0">
                <a:solidFill>
                  <a:srgbClr val="000000"/>
                </a:solidFill>
              </a:rPr>
              <a:t> </a:t>
            </a:r>
            <a:r>
              <a:rPr lang="en-GB" sz="2400" b="1" dirty="0" err="1">
                <a:solidFill>
                  <a:srgbClr val="000000"/>
                </a:solidFill>
              </a:rPr>
              <a:t>réseau</a:t>
            </a:r>
            <a:r>
              <a:rPr lang="en-GB" sz="2400" b="1" dirty="0">
                <a:solidFill>
                  <a:srgbClr val="000000"/>
                </a:solidFill>
              </a:rPr>
              <a:t> </a:t>
            </a:r>
            <a:r>
              <a:rPr lang="en-GB" sz="2400" b="1" dirty="0" err="1">
                <a:solidFill>
                  <a:srgbClr val="000000"/>
                </a:solidFill>
              </a:rPr>
              <a:t>privé</a:t>
            </a:r>
            <a:endParaRPr lang="en-US" sz="2400" b="1" dirty="0">
              <a:solidFill>
                <a:srgbClr val="000000"/>
              </a:solidFill>
              <a:cs typeface="Times New Roman" pitchFamily="18" charset="0"/>
            </a:endParaRPr>
          </a:p>
          <a:p>
            <a:pPr marL="231775" indent="-231775" algn="l">
              <a:lnSpc>
                <a:spcPct val="90000"/>
              </a:lnSpc>
              <a:spcBef>
                <a:spcPct val="40000"/>
              </a:spcBef>
              <a:buSzPct val="80000"/>
              <a:buFontTx/>
              <a:buBlip>
                <a:blip r:embed="rId5"/>
              </a:buBlip>
            </a:pPr>
            <a:r>
              <a:rPr lang="en-GB" sz="2400" b="1" dirty="0" err="1">
                <a:solidFill>
                  <a:srgbClr val="000000"/>
                </a:solidFill>
              </a:rPr>
              <a:t>Déterminer</a:t>
            </a:r>
            <a:r>
              <a:rPr lang="en-GB" sz="2400" b="1" dirty="0">
                <a:solidFill>
                  <a:srgbClr val="000000"/>
                </a:solidFill>
              </a:rPr>
              <a:t> </a:t>
            </a:r>
            <a:r>
              <a:rPr lang="en-GB" sz="2400" b="1" dirty="0" err="1">
                <a:solidFill>
                  <a:srgbClr val="000000"/>
                </a:solidFill>
              </a:rPr>
              <a:t>si</a:t>
            </a:r>
            <a:r>
              <a:rPr lang="en-GB" sz="2400" b="1" dirty="0">
                <a:solidFill>
                  <a:srgbClr val="000000"/>
                </a:solidFill>
              </a:rPr>
              <a:t> les clients </a:t>
            </a:r>
            <a:r>
              <a:rPr lang="en-GB" sz="2400" b="1" dirty="0" err="1">
                <a:solidFill>
                  <a:srgbClr val="000000"/>
                </a:solidFill>
              </a:rPr>
              <a:t>reçoivent</a:t>
            </a:r>
            <a:r>
              <a:rPr lang="en-GB" sz="2400" b="1" dirty="0">
                <a:solidFill>
                  <a:srgbClr val="000000"/>
                </a:solidFill>
              </a:rPr>
              <a:t> des </a:t>
            </a:r>
            <a:r>
              <a:rPr lang="en-GB" sz="2400" b="1" dirty="0" err="1">
                <a:solidFill>
                  <a:srgbClr val="000000"/>
                </a:solidFill>
              </a:rPr>
              <a:t>adresses</a:t>
            </a:r>
            <a:r>
              <a:rPr lang="en-GB" sz="2400" b="1" dirty="0">
                <a:solidFill>
                  <a:srgbClr val="000000"/>
                </a:solidFill>
              </a:rPr>
              <a:t> IP d'un </a:t>
            </a:r>
            <a:r>
              <a:rPr lang="en-GB" sz="2400" b="1" dirty="0" err="1">
                <a:solidFill>
                  <a:srgbClr val="000000"/>
                </a:solidFill>
              </a:rPr>
              <a:t>serveur</a:t>
            </a:r>
            <a:r>
              <a:rPr lang="en-GB" sz="2400" b="1" dirty="0">
                <a:solidFill>
                  <a:srgbClr val="000000"/>
                </a:solidFill>
              </a:rPr>
              <a:t> DHCP </a:t>
            </a:r>
            <a:r>
              <a:rPr lang="en-GB" sz="2400" b="1" dirty="0" err="1">
                <a:solidFill>
                  <a:srgbClr val="000000"/>
                </a:solidFill>
              </a:rPr>
              <a:t>ou</a:t>
            </a:r>
            <a:r>
              <a:rPr lang="en-GB" sz="2400" b="1" dirty="0">
                <a:solidFill>
                  <a:srgbClr val="000000"/>
                </a:solidFill>
              </a:rPr>
              <a:t> du </a:t>
            </a:r>
            <a:r>
              <a:rPr lang="en-GB" sz="2400" b="1" dirty="0" err="1">
                <a:solidFill>
                  <a:srgbClr val="000000"/>
                </a:solidFill>
              </a:rPr>
              <a:t>serveur</a:t>
            </a:r>
            <a:r>
              <a:rPr lang="en-GB" sz="2400" b="1" dirty="0">
                <a:solidFill>
                  <a:srgbClr val="000000"/>
                </a:solidFill>
              </a:rPr>
              <a:t> VPN</a:t>
            </a:r>
            <a:endParaRPr lang="en-US" sz="2400" b="1" dirty="0">
              <a:solidFill>
                <a:srgbClr val="000000"/>
              </a:solidFill>
              <a:cs typeface="Times New Roman" pitchFamily="18" charset="0"/>
            </a:endParaRPr>
          </a:p>
          <a:p>
            <a:pPr marL="231775" indent="-231775" algn="l">
              <a:lnSpc>
                <a:spcPct val="90000"/>
              </a:lnSpc>
              <a:spcBef>
                <a:spcPct val="40000"/>
              </a:spcBef>
              <a:buSzPct val="80000"/>
              <a:buFontTx/>
              <a:buBlip>
                <a:blip r:embed="rId5"/>
              </a:buBlip>
            </a:pPr>
            <a:r>
              <a:rPr lang="en-GB" sz="2400" b="1" dirty="0" err="1">
                <a:solidFill>
                  <a:srgbClr val="000000"/>
                </a:solidFill>
              </a:rPr>
              <a:t>Indiquer</a:t>
            </a:r>
            <a:r>
              <a:rPr lang="en-GB" sz="2400" b="1" dirty="0">
                <a:solidFill>
                  <a:srgbClr val="000000"/>
                </a:solidFill>
              </a:rPr>
              <a:t> </a:t>
            </a:r>
            <a:r>
              <a:rPr lang="en-GB" sz="2400" b="1" dirty="0" err="1">
                <a:solidFill>
                  <a:srgbClr val="000000"/>
                </a:solidFill>
              </a:rPr>
              <a:t>si</a:t>
            </a:r>
            <a:r>
              <a:rPr lang="en-GB" sz="2400" b="1" dirty="0">
                <a:solidFill>
                  <a:srgbClr val="000000"/>
                </a:solidFill>
              </a:rPr>
              <a:t> les </a:t>
            </a:r>
            <a:r>
              <a:rPr lang="en-GB" sz="2400" b="1" dirty="0" err="1">
                <a:solidFill>
                  <a:srgbClr val="000000"/>
                </a:solidFill>
              </a:rPr>
              <a:t>demandes</a:t>
            </a:r>
            <a:r>
              <a:rPr lang="en-GB" sz="2400" b="1" dirty="0">
                <a:solidFill>
                  <a:srgbClr val="000000"/>
                </a:solidFill>
              </a:rPr>
              <a:t> de connexion </a:t>
            </a:r>
            <a:r>
              <a:rPr lang="en-GB" sz="2400" b="1" dirty="0" err="1">
                <a:solidFill>
                  <a:srgbClr val="000000"/>
                </a:solidFill>
              </a:rPr>
              <a:t>doivent</a:t>
            </a:r>
            <a:r>
              <a:rPr lang="en-GB" sz="2400" b="1" dirty="0">
                <a:solidFill>
                  <a:srgbClr val="000000"/>
                </a:solidFill>
              </a:rPr>
              <a:t> </a:t>
            </a:r>
            <a:r>
              <a:rPr lang="en-GB" sz="2400" b="1" dirty="0" err="1">
                <a:solidFill>
                  <a:srgbClr val="000000"/>
                </a:solidFill>
              </a:rPr>
              <a:t>être</a:t>
            </a:r>
            <a:r>
              <a:rPr lang="en-GB" sz="2400" b="1" dirty="0">
                <a:solidFill>
                  <a:srgbClr val="000000"/>
                </a:solidFill>
              </a:rPr>
              <a:t> </a:t>
            </a:r>
            <a:r>
              <a:rPr lang="en-GB" sz="2400" b="1" dirty="0" err="1">
                <a:solidFill>
                  <a:srgbClr val="000000"/>
                </a:solidFill>
              </a:rPr>
              <a:t>authentifiées</a:t>
            </a:r>
            <a:r>
              <a:rPr lang="en-GB" sz="2400" b="1" dirty="0">
                <a:solidFill>
                  <a:srgbClr val="000000"/>
                </a:solidFill>
              </a:rPr>
              <a:t> par un </a:t>
            </a:r>
            <a:r>
              <a:rPr lang="en-GB" sz="2400" b="1" dirty="0" err="1">
                <a:solidFill>
                  <a:srgbClr val="000000"/>
                </a:solidFill>
              </a:rPr>
              <a:t>serveur</a:t>
            </a:r>
            <a:r>
              <a:rPr lang="en-GB" sz="2400" b="1" dirty="0">
                <a:solidFill>
                  <a:srgbClr val="000000"/>
                </a:solidFill>
              </a:rPr>
              <a:t> NPS(RADIUS) </a:t>
            </a:r>
            <a:r>
              <a:rPr lang="en-GB" sz="2400" b="1" dirty="0" err="1">
                <a:solidFill>
                  <a:srgbClr val="000000"/>
                </a:solidFill>
              </a:rPr>
              <a:t>ou</a:t>
            </a:r>
            <a:r>
              <a:rPr lang="en-GB" sz="2400" b="1" dirty="0">
                <a:solidFill>
                  <a:srgbClr val="000000"/>
                </a:solidFill>
              </a:rPr>
              <a:t> par le </a:t>
            </a:r>
            <a:r>
              <a:rPr lang="en-GB" sz="2400" b="1" dirty="0" err="1">
                <a:solidFill>
                  <a:srgbClr val="000000"/>
                </a:solidFill>
              </a:rPr>
              <a:t>serveur</a:t>
            </a:r>
            <a:r>
              <a:rPr lang="en-GB" sz="2400" b="1" dirty="0">
                <a:solidFill>
                  <a:srgbClr val="000000"/>
                </a:solidFill>
              </a:rPr>
              <a:t> VPN</a:t>
            </a:r>
            <a:endParaRPr lang="en-US" sz="2400" b="1" dirty="0">
              <a:solidFill>
                <a:srgbClr val="000000"/>
              </a:solidFill>
            </a:endParaRPr>
          </a:p>
        </p:txBody>
      </p:sp>
      <p:sp>
        <p:nvSpPr>
          <p:cNvPr id="5" name="Rectangle 4"/>
          <p:cNvSpPr/>
          <p:nvPr/>
        </p:nvSpPr>
        <p:spPr>
          <a:xfrm>
            <a:off x="283028" y="1610864"/>
            <a:ext cx="8149772" cy="492443"/>
          </a:xfrm>
          <a:prstGeom prst="rect">
            <a:avLst/>
          </a:prstGeom>
        </p:spPr>
        <p:txBody>
          <a:bodyPr wrap="square">
            <a:spAutoFit/>
          </a:bodyPr>
          <a:lstStyle/>
          <a:p>
            <a:pPr algn="l"/>
            <a:r>
              <a:rPr lang="en-GB" sz="2600" b="1" dirty="0" err="1">
                <a:solidFill>
                  <a:srgbClr val="000000"/>
                </a:solidFill>
              </a:rPr>
              <a:t>Avant</a:t>
            </a:r>
            <a:r>
              <a:rPr lang="en-GB" sz="2600" b="1" dirty="0">
                <a:solidFill>
                  <a:srgbClr val="000000"/>
                </a:solidFill>
              </a:rPr>
              <a:t> </a:t>
            </a:r>
            <a:r>
              <a:rPr lang="en-GB" sz="2600" b="1" dirty="0" err="1">
                <a:solidFill>
                  <a:srgbClr val="000000"/>
                </a:solidFill>
              </a:rPr>
              <a:t>d'ajouter</a:t>
            </a:r>
            <a:r>
              <a:rPr lang="en-GB" sz="2600" b="1" dirty="0">
                <a:solidFill>
                  <a:srgbClr val="000000"/>
                </a:solidFill>
              </a:rPr>
              <a:t> un </a:t>
            </a:r>
            <a:r>
              <a:rPr lang="en-GB" sz="2600" b="1" dirty="0" err="1">
                <a:solidFill>
                  <a:srgbClr val="000000"/>
                </a:solidFill>
              </a:rPr>
              <a:t>serveur</a:t>
            </a:r>
            <a:r>
              <a:rPr lang="en-GB" sz="2600" b="1" dirty="0">
                <a:solidFill>
                  <a:srgbClr val="000000"/>
                </a:solidFill>
              </a:rPr>
              <a:t> </a:t>
            </a:r>
            <a:r>
              <a:rPr lang="en-GB" sz="2600" b="1" dirty="0" err="1">
                <a:solidFill>
                  <a:srgbClr val="000000"/>
                </a:solidFill>
              </a:rPr>
              <a:t>d'accès</a:t>
            </a:r>
            <a:r>
              <a:rPr lang="en-GB" sz="2600" b="1" dirty="0">
                <a:solidFill>
                  <a:srgbClr val="000000"/>
                </a:solidFill>
              </a:rPr>
              <a:t> distant / VPN :</a:t>
            </a:r>
            <a:endParaRPr lang="en-US" sz="26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81284">
                                            <p:txEl>
                                              <p:pRg st="0" end="0"/>
                                            </p:txEl>
                                          </p:spTgt>
                                        </p:tgtEl>
                                        <p:attrNameLst>
                                          <p:attrName>style.visibility</p:attrName>
                                        </p:attrNameLst>
                                      </p:cBhvr>
                                      <p:to>
                                        <p:strVal val="visible"/>
                                      </p:to>
                                    </p:set>
                                    <p:animEffect transition="in" filter="checkerboard(across)">
                                      <p:cBhvr>
                                        <p:cTn id="7" dur="1000"/>
                                        <p:tgtEl>
                                          <p:spTgt spid="48128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81284">
                                            <p:txEl>
                                              <p:pRg st="1" end="1"/>
                                            </p:txEl>
                                          </p:spTgt>
                                        </p:tgtEl>
                                        <p:attrNameLst>
                                          <p:attrName>style.visibility</p:attrName>
                                        </p:attrNameLst>
                                      </p:cBhvr>
                                      <p:to>
                                        <p:strVal val="visible"/>
                                      </p:to>
                                    </p:set>
                                    <p:animEffect transition="in" filter="checkerboard(across)">
                                      <p:cBhvr>
                                        <p:cTn id="12" dur="1000"/>
                                        <p:tgtEl>
                                          <p:spTgt spid="48128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81284">
                                            <p:txEl>
                                              <p:pRg st="2" end="2"/>
                                            </p:txEl>
                                          </p:spTgt>
                                        </p:tgtEl>
                                        <p:attrNameLst>
                                          <p:attrName>style.visibility</p:attrName>
                                        </p:attrNameLst>
                                      </p:cBhvr>
                                      <p:to>
                                        <p:strVal val="visible"/>
                                      </p:to>
                                    </p:set>
                                    <p:animEffect transition="in" filter="checkerboard(across)">
                                      <p:cBhvr>
                                        <p:cTn id="17" dur="1000"/>
                                        <p:tgtEl>
                                          <p:spTgt spid="48128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p:cNvSpPr>
            <a:spLocks noGrp="1" noChangeArrowheads="1"/>
          </p:cNvSpPr>
          <p:nvPr>
            <p:ph type="title"/>
            <p:custDataLst>
              <p:tags r:id="rId1"/>
            </p:custDataLst>
          </p:nvPr>
        </p:nvSpPr>
        <p:spPr>
          <a:xfrm>
            <a:off x="58059" y="58057"/>
            <a:ext cx="8969829" cy="1117594"/>
          </a:xfrm>
        </p:spPr>
        <p:txBody>
          <a:bodyPr>
            <a:noAutofit/>
          </a:bodyPr>
          <a:lstStyle/>
          <a:p>
            <a:r>
              <a:rPr lang="fr-FR" b="1" dirty="0">
                <a:solidFill>
                  <a:srgbClr val="000000"/>
                </a:solidFill>
              </a:rPr>
              <a:t>3.  Configuration d'une connexion d'accès à distance</a:t>
            </a:r>
            <a:endParaRPr lang="en-US" b="1" dirty="0">
              <a:solidFill>
                <a:srgbClr val="000000"/>
              </a:solidFill>
            </a:endParaRPr>
          </a:p>
        </p:txBody>
      </p:sp>
      <p:sp>
        <p:nvSpPr>
          <p:cNvPr id="138243" name="Rectangle 3"/>
          <p:cNvSpPr>
            <a:spLocks noGrp="1" noChangeArrowheads="1"/>
          </p:cNvSpPr>
          <p:nvPr>
            <p:ph sz="quarter" idx="1"/>
            <p:custDataLst>
              <p:tags r:id="rId2"/>
            </p:custDataLst>
          </p:nvPr>
        </p:nvSpPr>
        <p:spPr>
          <a:xfrm>
            <a:off x="377373" y="1651000"/>
            <a:ext cx="7975600" cy="4270829"/>
          </a:xfrm>
        </p:spPr>
        <p:txBody>
          <a:bodyPr>
            <a:normAutofit/>
          </a:bodyPr>
          <a:lstStyle/>
          <a:p>
            <a:pPr>
              <a:buClr>
                <a:schemeClr val="tx2"/>
              </a:buClr>
              <a:buFont typeface="Wingdings" pitchFamily="2" charset="2"/>
              <a:buChar char="Ø"/>
            </a:pPr>
            <a:r>
              <a:rPr lang="en-GB" dirty="0">
                <a:solidFill>
                  <a:srgbClr val="000000"/>
                </a:solidFill>
              </a:rPr>
              <a:t>Comment </a:t>
            </a:r>
            <a:r>
              <a:rPr lang="en-GB" dirty="0" err="1">
                <a:solidFill>
                  <a:srgbClr val="000000"/>
                </a:solidFill>
              </a:rPr>
              <a:t>fonctionne</a:t>
            </a:r>
            <a:r>
              <a:rPr lang="en-GB" dirty="0">
                <a:solidFill>
                  <a:srgbClr val="000000"/>
                </a:solidFill>
              </a:rPr>
              <a:t> </a:t>
            </a:r>
            <a:r>
              <a:rPr lang="en-GB" dirty="0" err="1">
                <a:solidFill>
                  <a:srgbClr val="000000"/>
                </a:solidFill>
              </a:rPr>
              <a:t>l'accès</a:t>
            </a:r>
            <a:r>
              <a:rPr lang="en-GB" dirty="0">
                <a:solidFill>
                  <a:srgbClr val="000000"/>
                </a:solidFill>
              </a:rPr>
              <a:t> </a:t>
            </a:r>
            <a:r>
              <a:rPr lang="en-GB" dirty="0" err="1">
                <a:solidFill>
                  <a:srgbClr val="000000"/>
                </a:solidFill>
              </a:rPr>
              <a:t>réseau</a:t>
            </a:r>
            <a:r>
              <a:rPr lang="en-GB" dirty="0">
                <a:solidFill>
                  <a:srgbClr val="000000"/>
                </a:solidFill>
              </a:rPr>
              <a:t> à distance ?</a:t>
            </a:r>
            <a:endParaRPr lang="en-US" dirty="0"/>
          </a:p>
          <a:p>
            <a:pPr>
              <a:buClr>
                <a:schemeClr val="tx2"/>
              </a:buClr>
              <a:buFont typeface="Wingdings" pitchFamily="2" charset="2"/>
              <a:buChar char="Ø"/>
            </a:pPr>
            <a:r>
              <a:rPr lang="en-GB" dirty="0" err="1">
                <a:solidFill>
                  <a:srgbClr val="000000"/>
                </a:solidFill>
              </a:rPr>
              <a:t>Composants</a:t>
            </a:r>
            <a:r>
              <a:rPr lang="en-GB" dirty="0">
                <a:solidFill>
                  <a:srgbClr val="000000"/>
                </a:solidFill>
              </a:rPr>
              <a:t> </a:t>
            </a:r>
            <a:r>
              <a:rPr lang="en-GB" dirty="0" err="1">
                <a:solidFill>
                  <a:srgbClr val="000000"/>
                </a:solidFill>
              </a:rPr>
              <a:t>d'une</a:t>
            </a:r>
            <a:r>
              <a:rPr lang="en-GB" dirty="0">
                <a:solidFill>
                  <a:srgbClr val="000000"/>
                </a:solidFill>
              </a:rPr>
              <a:t> connexion </a:t>
            </a:r>
            <a:r>
              <a:rPr lang="en-GB" dirty="0" err="1">
                <a:solidFill>
                  <a:srgbClr val="000000"/>
                </a:solidFill>
              </a:rPr>
              <a:t>d'accès</a:t>
            </a:r>
            <a:r>
              <a:rPr lang="en-GB" dirty="0">
                <a:solidFill>
                  <a:srgbClr val="000000"/>
                </a:solidFill>
              </a:rPr>
              <a:t> à distance</a:t>
            </a:r>
            <a:endParaRPr lang="en-US" dirty="0"/>
          </a:p>
          <a:p>
            <a:pPr>
              <a:buClr>
                <a:schemeClr val="tx2"/>
              </a:buClr>
              <a:buFont typeface="Wingdings" pitchFamily="2" charset="2"/>
              <a:buChar char="Ø"/>
            </a:pPr>
            <a:r>
              <a:rPr lang="en-GB" dirty="0" err="1">
                <a:solidFill>
                  <a:srgbClr val="000000"/>
                </a:solidFill>
              </a:rPr>
              <a:t>Méthodes</a:t>
            </a:r>
            <a:r>
              <a:rPr lang="en-GB" dirty="0">
                <a:solidFill>
                  <a:srgbClr val="000000"/>
                </a:solidFill>
              </a:rPr>
              <a:t> </a:t>
            </a:r>
            <a:r>
              <a:rPr lang="en-GB" dirty="0" err="1">
                <a:solidFill>
                  <a:srgbClr val="000000"/>
                </a:solidFill>
              </a:rPr>
              <a:t>d'authentification</a:t>
            </a:r>
            <a:r>
              <a:rPr lang="en-GB" dirty="0">
                <a:solidFill>
                  <a:srgbClr val="000000"/>
                </a:solidFill>
              </a:rPr>
              <a:t> </a:t>
            </a:r>
            <a:r>
              <a:rPr lang="en-GB" dirty="0" err="1">
                <a:solidFill>
                  <a:srgbClr val="000000"/>
                </a:solidFill>
              </a:rPr>
              <a:t>disponibles</a:t>
            </a:r>
            <a:r>
              <a:rPr lang="en-GB" dirty="0">
                <a:solidFill>
                  <a:srgbClr val="000000"/>
                </a:solidFill>
              </a:rPr>
              <a:t> pour </a:t>
            </a:r>
            <a:r>
              <a:rPr lang="en-GB" dirty="0" err="1">
                <a:solidFill>
                  <a:srgbClr val="000000"/>
                </a:solidFill>
              </a:rPr>
              <a:t>une</a:t>
            </a:r>
            <a:r>
              <a:rPr lang="en-GB" dirty="0">
                <a:solidFill>
                  <a:srgbClr val="000000"/>
                </a:solidFill>
              </a:rPr>
              <a:t> connexion </a:t>
            </a:r>
            <a:r>
              <a:rPr lang="en-GB" dirty="0" err="1">
                <a:solidFill>
                  <a:srgbClr val="000000"/>
                </a:solidFill>
              </a:rPr>
              <a:t>d'accès</a:t>
            </a:r>
            <a:r>
              <a:rPr lang="en-GB" dirty="0">
                <a:solidFill>
                  <a:srgbClr val="000000"/>
                </a:solidFill>
              </a:rPr>
              <a:t> à distance</a:t>
            </a:r>
            <a:endParaRPr lang="en-US" dirty="0"/>
          </a:p>
          <a:p>
            <a:pPr>
              <a:buClr>
                <a:schemeClr val="tx2"/>
              </a:buClr>
              <a:buFont typeface="Wingdings" pitchFamily="2" charset="2"/>
              <a:buChar char="Ø"/>
            </a:pPr>
            <a:r>
              <a:rPr lang="en-GB" dirty="0">
                <a:solidFill>
                  <a:srgbClr val="000000"/>
                </a:solidFill>
              </a:rPr>
              <a:t>Configuration </a:t>
            </a:r>
            <a:r>
              <a:rPr lang="en-GB" dirty="0" err="1">
                <a:solidFill>
                  <a:srgbClr val="000000"/>
                </a:solidFill>
              </a:rPr>
              <a:t>requise</a:t>
            </a:r>
            <a:r>
              <a:rPr lang="en-GB" dirty="0">
                <a:solidFill>
                  <a:srgbClr val="000000"/>
                </a:solidFill>
              </a:rPr>
              <a:t> pour un </a:t>
            </a:r>
            <a:r>
              <a:rPr lang="en-GB" dirty="0" err="1">
                <a:solidFill>
                  <a:srgbClr val="000000"/>
                </a:solidFill>
              </a:rPr>
              <a:t>serveur</a:t>
            </a:r>
            <a:r>
              <a:rPr lang="en-GB" dirty="0">
                <a:solidFill>
                  <a:srgbClr val="000000"/>
                </a:solidFill>
              </a:rPr>
              <a:t> </a:t>
            </a:r>
            <a:r>
              <a:rPr lang="en-GB" dirty="0" err="1">
                <a:solidFill>
                  <a:srgbClr val="000000"/>
                </a:solidFill>
              </a:rPr>
              <a:t>d'accès</a:t>
            </a:r>
            <a:r>
              <a:rPr lang="en-GB" dirty="0">
                <a:solidFill>
                  <a:srgbClr val="000000"/>
                </a:solidFill>
              </a:rPr>
              <a:t> distant</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204" name="Rectangle 20"/>
          <p:cNvSpPr>
            <a:spLocks noGrp="1" noChangeArrowheads="1"/>
          </p:cNvSpPr>
          <p:nvPr>
            <p:ph type="title"/>
            <p:custDataLst>
              <p:tags r:id="rId1"/>
            </p:custDataLst>
          </p:nvPr>
        </p:nvSpPr>
        <p:spPr/>
        <p:txBody>
          <a:bodyPr vert="horz" anchor="b">
            <a:normAutofit fontScale="90000"/>
          </a:bodyPr>
          <a:lstStyle/>
          <a:p>
            <a:r>
              <a:rPr lang="fr-FR" sz="2800" dirty="0">
                <a:solidFill>
                  <a:srgbClr val="C00000"/>
                </a:solidFill>
              </a:rPr>
              <a:t>Comment fonctionne l'accès réseau à distance ?</a:t>
            </a:r>
            <a:endParaRPr sz="2800" dirty="0">
              <a:solidFill>
                <a:srgbClr val="C00000"/>
              </a:solidFill>
            </a:endParaRPr>
          </a:p>
        </p:txBody>
      </p:sp>
      <p:sp>
        <p:nvSpPr>
          <p:cNvPr id="477299" name="Oval 115"/>
          <p:cNvSpPr>
            <a:spLocks noChangeArrowheads="1"/>
          </p:cNvSpPr>
          <p:nvPr/>
        </p:nvSpPr>
        <p:spPr bwMode="auto">
          <a:xfrm>
            <a:off x="436563" y="2819400"/>
            <a:ext cx="7931150" cy="3005138"/>
          </a:xfrm>
          <a:prstGeom prst="ellipse">
            <a:avLst/>
          </a:prstGeom>
          <a:gradFill rotWithShape="1">
            <a:gsLst>
              <a:gs pos="0">
                <a:srgbClr val="CFE1C2"/>
              </a:gs>
              <a:gs pos="100000">
                <a:srgbClr val="FFFFFF"/>
              </a:gs>
            </a:gsLst>
            <a:lin ang="5400000" scaled="1"/>
          </a:gradFill>
          <a:ln w="9525" algn="ctr">
            <a:noFill/>
            <a:round/>
            <a:headEnd/>
            <a:tailEnd/>
          </a:ln>
          <a:effectLst/>
        </p:spPr>
        <p:txBody>
          <a:bodyPr lIns="0" tIns="0" rIns="0" bIns="0"/>
          <a:lstStyle/>
          <a:p>
            <a:pPr marL="342900" indent="-342900" algn="l">
              <a:lnSpc>
                <a:spcPct val="90000"/>
              </a:lnSpc>
              <a:spcBef>
                <a:spcPct val="40000"/>
              </a:spcBef>
              <a:buClr>
                <a:srgbClr val="8DACD0"/>
              </a:buClr>
              <a:buSzPct val="70000"/>
              <a:buFont typeface="Wingdings" pitchFamily="2" charset="2"/>
              <a:buBlip>
                <a:blip r:embed="rId8"/>
              </a:buBlip>
            </a:pPr>
            <a:endParaRPr lang="en-US" sz="2400" b="1"/>
          </a:p>
          <a:p>
            <a:pPr marL="342900" indent="-342900" algn="l">
              <a:lnSpc>
                <a:spcPct val="90000"/>
              </a:lnSpc>
              <a:spcBef>
                <a:spcPct val="40000"/>
              </a:spcBef>
              <a:buClr>
                <a:srgbClr val="8DACD0"/>
              </a:buClr>
              <a:buSzPct val="70000"/>
              <a:buFont typeface="Wingdings" pitchFamily="2" charset="2"/>
              <a:buBlip>
                <a:blip r:embed="rId8"/>
              </a:buBlip>
            </a:pPr>
            <a:endParaRPr lang="en-US" sz="2400" b="1"/>
          </a:p>
          <a:p>
            <a:pPr marL="342900" indent="-342900" algn="l">
              <a:lnSpc>
                <a:spcPct val="90000"/>
              </a:lnSpc>
              <a:spcBef>
                <a:spcPct val="40000"/>
              </a:spcBef>
              <a:buClr>
                <a:srgbClr val="8DACD0"/>
              </a:buClr>
              <a:buSzPct val="70000"/>
              <a:buFont typeface="Wingdings" pitchFamily="2" charset="2"/>
              <a:buBlip>
                <a:blip r:embed="rId8"/>
              </a:buBlip>
            </a:pPr>
            <a:endParaRPr lang="en-US" sz="2400" b="1"/>
          </a:p>
        </p:txBody>
      </p:sp>
      <p:sp>
        <p:nvSpPr>
          <p:cNvPr id="477300" name="Line 116"/>
          <p:cNvSpPr>
            <a:spLocks noChangeShapeType="1"/>
          </p:cNvSpPr>
          <p:nvPr/>
        </p:nvSpPr>
        <p:spPr bwMode="auto">
          <a:xfrm flipV="1">
            <a:off x="3068638" y="3800475"/>
            <a:ext cx="1182687" cy="3175"/>
          </a:xfrm>
          <a:prstGeom prst="line">
            <a:avLst/>
          </a:prstGeom>
          <a:noFill/>
          <a:ln w="57150">
            <a:solidFill>
              <a:srgbClr val="969696"/>
            </a:solidFill>
            <a:round/>
            <a:headEnd/>
            <a:tailEnd/>
          </a:ln>
          <a:effectLst/>
        </p:spPr>
        <p:txBody>
          <a:bodyPr anchor="ctr"/>
          <a:lstStyle/>
          <a:p>
            <a:endParaRPr lang="fr-FR"/>
          </a:p>
        </p:txBody>
      </p:sp>
      <p:grpSp>
        <p:nvGrpSpPr>
          <p:cNvPr id="477301" name="Group 117"/>
          <p:cNvGrpSpPr>
            <a:grpSpLocks/>
          </p:cNvGrpSpPr>
          <p:nvPr/>
        </p:nvGrpSpPr>
        <p:grpSpPr bwMode="auto">
          <a:xfrm>
            <a:off x="6508750" y="3171825"/>
            <a:ext cx="1173163" cy="1046163"/>
            <a:chOff x="2999" y="1125"/>
            <a:chExt cx="654" cy="576"/>
          </a:xfrm>
        </p:grpSpPr>
        <p:pic>
          <p:nvPicPr>
            <p:cNvPr id="477302" name="Picture 118" descr="Laptop"/>
            <p:cNvPicPr>
              <a:picLocks noChangeAspect="1" noChangeArrowheads="1"/>
            </p:cNvPicPr>
            <p:nvPr/>
          </p:nvPicPr>
          <p:blipFill>
            <a:blip r:embed="rId9" cstate="print"/>
            <a:srcRect/>
            <a:stretch>
              <a:fillRect/>
            </a:stretch>
          </p:blipFill>
          <p:spPr bwMode="auto">
            <a:xfrm flipH="1">
              <a:off x="2999" y="1131"/>
              <a:ext cx="458" cy="493"/>
            </a:xfrm>
            <a:prstGeom prst="rect">
              <a:avLst/>
            </a:prstGeom>
            <a:noFill/>
          </p:spPr>
        </p:pic>
        <p:pic>
          <p:nvPicPr>
            <p:cNvPr id="477303" name="Picture 119" descr="UserInteract"/>
            <p:cNvPicPr>
              <a:picLocks noChangeAspect="1" noChangeArrowheads="1"/>
            </p:cNvPicPr>
            <p:nvPr/>
          </p:nvPicPr>
          <p:blipFill>
            <a:blip r:embed="rId10"/>
            <a:srcRect/>
            <a:stretch>
              <a:fillRect/>
            </a:stretch>
          </p:blipFill>
          <p:spPr bwMode="auto">
            <a:xfrm flipH="1">
              <a:off x="3298" y="1125"/>
              <a:ext cx="355" cy="576"/>
            </a:xfrm>
            <a:prstGeom prst="rect">
              <a:avLst/>
            </a:prstGeom>
            <a:noFill/>
          </p:spPr>
        </p:pic>
      </p:grpSp>
      <p:pic>
        <p:nvPicPr>
          <p:cNvPr id="477304" name="Picture 120" descr="Server01"/>
          <p:cNvPicPr>
            <a:picLocks noChangeAspect="1" noChangeArrowheads="1"/>
          </p:cNvPicPr>
          <p:nvPr/>
        </p:nvPicPr>
        <p:blipFill>
          <a:blip r:embed="rId11" cstate="print"/>
          <a:srcRect/>
          <a:stretch>
            <a:fillRect/>
          </a:stretch>
        </p:blipFill>
        <p:spPr bwMode="auto">
          <a:xfrm>
            <a:off x="4233863" y="3403600"/>
            <a:ext cx="741362" cy="873125"/>
          </a:xfrm>
          <a:prstGeom prst="rect">
            <a:avLst/>
          </a:prstGeom>
          <a:noFill/>
        </p:spPr>
      </p:pic>
      <p:sp>
        <p:nvSpPr>
          <p:cNvPr id="477305" name="Line 121"/>
          <p:cNvSpPr>
            <a:spLocks noChangeShapeType="1"/>
          </p:cNvSpPr>
          <p:nvPr/>
        </p:nvSpPr>
        <p:spPr bwMode="auto">
          <a:xfrm flipV="1">
            <a:off x="1993900" y="3924300"/>
            <a:ext cx="533400" cy="700088"/>
          </a:xfrm>
          <a:prstGeom prst="line">
            <a:avLst/>
          </a:prstGeom>
          <a:noFill/>
          <a:ln w="50800">
            <a:solidFill>
              <a:srgbClr val="969696"/>
            </a:solidFill>
            <a:round/>
            <a:headEnd/>
            <a:tailEnd/>
          </a:ln>
          <a:effectLst/>
        </p:spPr>
        <p:txBody>
          <a:bodyPr anchor="ctr"/>
          <a:lstStyle/>
          <a:p>
            <a:endParaRPr lang="fr-FR"/>
          </a:p>
        </p:txBody>
      </p:sp>
      <p:sp>
        <p:nvSpPr>
          <p:cNvPr id="477306" name="Oval 122"/>
          <p:cNvSpPr>
            <a:spLocks noChangeArrowheads="1"/>
          </p:cNvSpPr>
          <p:nvPr/>
        </p:nvSpPr>
        <p:spPr bwMode="auto">
          <a:xfrm>
            <a:off x="2005013" y="3395663"/>
            <a:ext cx="1208087" cy="762000"/>
          </a:xfrm>
          <a:prstGeom prst="ellipse">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endParaRPr lang="fr-FR"/>
          </a:p>
        </p:txBody>
      </p:sp>
      <p:pic>
        <p:nvPicPr>
          <p:cNvPr id="477307" name="Picture 123" descr="Server01"/>
          <p:cNvPicPr>
            <a:picLocks noChangeAspect="1" noChangeArrowheads="1"/>
          </p:cNvPicPr>
          <p:nvPr/>
        </p:nvPicPr>
        <p:blipFill>
          <a:blip r:embed="rId12" cstate="print"/>
          <a:srcRect/>
          <a:stretch>
            <a:fillRect/>
          </a:stretch>
        </p:blipFill>
        <p:spPr bwMode="auto">
          <a:xfrm>
            <a:off x="2452688" y="3051175"/>
            <a:ext cx="558800" cy="657225"/>
          </a:xfrm>
          <a:prstGeom prst="rect">
            <a:avLst/>
          </a:prstGeom>
          <a:noFill/>
        </p:spPr>
      </p:pic>
      <p:pic>
        <p:nvPicPr>
          <p:cNvPr id="477308" name="Picture 124" descr="Server01"/>
          <p:cNvPicPr>
            <a:picLocks noChangeAspect="1" noChangeArrowheads="1"/>
          </p:cNvPicPr>
          <p:nvPr/>
        </p:nvPicPr>
        <p:blipFill>
          <a:blip r:embed="rId12" cstate="print"/>
          <a:srcRect/>
          <a:stretch>
            <a:fillRect/>
          </a:stretch>
        </p:blipFill>
        <p:spPr bwMode="auto">
          <a:xfrm>
            <a:off x="2630488" y="3751263"/>
            <a:ext cx="558800" cy="657225"/>
          </a:xfrm>
          <a:prstGeom prst="rect">
            <a:avLst/>
          </a:prstGeom>
          <a:noFill/>
        </p:spPr>
      </p:pic>
      <p:pic>
        <p:nvPicPr>
          <p:cNvPr id="477309" name="Picture 125" descr="Server01"/>
          <p:cNvPicPr>
            <a:picLocks noChangeAspect="1" noChangeArrowheads="1"/>
          </p:cNvPicPr>
          <p:nvPr/>
        </p:nvPicPr>
        <p:blipFill>
          <a:blip r:embed="rId12" cstate="print"/>
          <a:srcRect/>
          <a:stretch>
            <a:fillRect/>
          </a:stretch>
        </p:blipFill>
        <p:spPr bwMode="auto">
          <a:xfrm>
            <a:off x="1778000" y="3416300"/>
            <a:ext cx="558800" cy="657225"/>
          </a:xfrm>
          <a:prstGeom prst="rect">
            <a:avLst/>
          </a:prstGeom>
          <a:noFill/>
        </p:spPr>
      </p:pic>
      <p:grpSp>
        <p:nvGrpSpPr>
          <p:cNvPr id="477310" name="Group 126"/>
          <p:cNvGrpSpPr>
            <a:grpSpLocks/>
          </p:cNvGrpSpPr>
          <p:nvPr/>
        </p:nvGrpSpPr>
        <p:grpSpPr bwMode="auto">
          <a:xfrm>
            <a:off x="914400" y="4292600"/>
            <a:ext cx="1658938" cy="1173163"/>
            <a:chOff x="576" y="2123"/>
            <a:chExt cx="1045" cy="739"/>
          </a:xfrm>
        </p:grpSpPr>
        <p:sp>
          <p:nvSpPr>
            <p:cNvPr id="477311" name="Oval 127"/>
            <p:cNvSpPr>
              <a:spLocks noChangeArrowheads="1"/>
            </p:cNvSpPr>
            <p:nvPr/>
          </p:nvSpPr>
          <p:spPr bwMode="auto">
            <a:xfrm>
              <a:off x="632" y="2259"/>
              <a:ext cx="936" cy="532"/>
            </a:xfrm>
            <a:prstGeom prst="ellipse">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endParaRPr lang="fr-FR"/>
            </a:p>
          </p:txBody>
        </p:sp>
        <p:pic>
          <p:nvPicPr>
            <p:cNvPr id="477312" name="Picture 128" descr="Computer_DesktopComputerSansKeyboard01"/>
            <p:cNvPicPr>
              <a:picLocks noChangeAspect="1" noChangeArrowheads="1"/>
            </p:cNvPicPr>
            <p:nvPr/>
          </p:nvPicPr>
          <p:blipFill>
            <a:blip r:embed="rId13" cstate="print"/>
            <a:srcRect/>
            <a:stretch>
              <a:fillRect/>
            </a:stretch>
          </p:blipFill>
          <p:spPr bwMode="auto">
            <a:xfrm>
              <a:off x="966" y="2123"/>
              <a:ext cx="266" cy="312"/>
            </a:xfrm>
            <a:prstGeom prst="rect">
              <a:avLst/>
            </a:prstGeom>
            <a:noFill/>
          </p:spPr>
        </p:pic>
        <p:pic>
          <p:nvPicPr>
            <p:cNvPr id="477313" name="Picture 129" descr="Computer_DesktopComputerSansKeyboard01"/>
            <p:cNvPicPr>
              <a:picLocks noChangeAspect="1" noChangeArrowheads="1"/>
            </p:cNvPicPr>
            <p:nvPr/>
          </p:nvPicPr>
          <p:blipFill>
            <a:blip r:embed="rId13" cstate="print"/>
            <a:srcRect/>
            <a:stretch>
              <a:fillRect/>
            </a:stretch>
          </p:blipFill>
          <p:spPr bwMode="auto">
            <a:xfrm>
              <a:off x="576" y="2290"/>
              <a:ext cx="266" cy="312"/>
            </a:xfrm>
            <a:prstGeom prst="rect">
              <a:avLst/>
            </a:prstGeom>
            <a:noFill/>
          </p:spPr>
        </p:pic>
        <p:pic>
          <p:nvPicPr>
            <p:cNvPr id="477314" name="Picture 130" descr="Computer_DesktopComputerSansKeyboard01"/>
            <p:cNvPicPr>
              <a:picLocks noChangeAspect="1" noChangeArrowheads="1"/>
            </p:cNvPicPr>
            <p:nvPr/>
          </p:nvPicPr>
          <p:blipFill>
            <a:blip r:embed="rId13" cstate="print"/>
            <a:srcRect/>
            <a:stretch>
              <a:fillRect/>
            </a:stretch>
          </p:blipFill>
          <p:spPr bwMode="auto">
            <a:xfrm>
              <a:off x="1355" y="2383"/>
              <a:ext cx="266" cy="312"/>
            </a:xfrm>
            <a:prstGeom prst="rect">
              <a:avLst/>
            </a:prstGeom>
            <a:noFill/>
          </p:spPr>
        </p:pic>
        <p:pic>
          <p:nvPicPr>
            <p:cNvPr id="477315" name="Picture 131" descr="Computer_DesktopComputerSansKeyboard01"/>
            <p:cNvPicPr>
              <a:picLocks noChangeAspect="1" noChangeArrowheads="1"/>
            </p:cNvPicPr>
            <p:nvPr/>
          </p:nvPicPr>
          <p:blipFill>
            <a:blip r:embed="rId13" cstate="print"/>
            <a:srcRect/>
            <a:stretch>
              <a:fillRect/>
            </a:stretch>
          </p:blipFill>
          <p:spPr bwMode="auto">
            <a:xfrm>
              <a:off x="965" y="2550"/>
              <a:ext cx="266" cy="312"/>
            </a:xfrm>
            <a:prstGeom prst="rect">
              <a:avLst/>
            </a:prstGeom>
            <a:noFill/>
          </p:spPr>
        </p:pic>
      </p:grpSp>
      <p:grpSp>
        <p:nvGrpSpPr>
          <p:cNvPr id="477316" name="Group 132"/>
          <p:cNvGrpSpPr>
            <a:grpSpLocks/>
          </p:cNvGrpSpPr>
          <p:nvPr/>
        </p:nvGrpSpPr>
        <p:grpSpPr bwMode="auto">
          <a:xfrm>
            <a:off x="5734049" y="5292711"/>
            <a:ext cx="3409950" cy="831850"/>
            <a:chOff x="3612" y="2886"/>
            <a:chExt cx="2148" cy="524"/>
          </a:xfrm>
        </p:grpSpPr>
        <p:sp>
          <p:nvSpPr>
            <p:cNvPr id="477318" name="AutoShape 134"/>
            <p:cNvSpPr>
              <a:spLocks noChangeArrowheads="1"/>
            </p:cNvSpPr>
            <p:nvPr/>
          </p:nvSpPr>
          <p:spPr bwMode="auto">
            <a:xfrm>
              <a:off x="3846" y="2886"/>
              <a:ext cx="1914" cy="524"/>
            </a:xfrm>
            <a:prstGeom prst="roundRect">
              <a:avLst>
                <a:gd name="adj" fmla="val 4167"/>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wrap="square" anchor="ctr"/>
            <a:lstStyle/>
            <a:p>
              <a:pPr algn="l">
                <a:lnSpc>
                  <a:spcPct val="85000"/>
                </a:lnSpc>
              </a:pPr>
              <a:r>
                <a:rPr lang="fr-FR" sz="2000" b="1" dirty="0"/>
                <a:t>Le serveur d'accès distant authentifie et autorise le client</a:t>
              </a:r>
              <a:endParaRPr lang="en-US" sz="2000" b="1" dirty="0"/>
            </a:p>
          </p:txBody>
        </p:sp>
        <p:sp>
          <p:nvSpPr>
            <p:cNvPr id="477317" name="AutoShape 133"/>
            <p:cNvSpPr>
              <a:spLocks noChangeArrowheads="1"/>
            </p:cNvSpPr>
            <p:nvPr/>
          </p:nvSpPr>
          <p:spPr bwMode="auto">
            <a:xfrm>
              <a:off x="3612" y="2886"/>
              <a:ext cx="250" cy="289"/>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3400" b="1" dirty="0">
                  <a:solidFill>
                    <a:srgbClr val="990033"/>
                  </a:solidFill>
                </a:rPr>
                <a:t>3</a:t>
              </a:r>
            </a:p>
          </p:txBody>
        </p:sp>
      </p:grpSp>
      <p:grpSp>
        <p:nvGrpSpPr>
          <p:cNvPr id="477319" name="Group 135"/>
          <p:cNvGrpSpPr>
            <a:grpSpLocks/>
          </p:cNvGrpSpPr>
          <p:nvPr/>
        </p:nvGrpSpPr>
        <p:grpSpPr bwMode="auto">
          <a:xfrm>
            <a:off x="2205956" y="6197586"/>
            <a:ext cx="3324225" cy="660400"/>
            <a:chOff x="1737" y="3456"/>
            <a:chExt cx="2094" cy="416"/>
          </a:xfrm>
        </p:grpSpPr>
        <p:sp>
          <p:nvSpPr>
            <p:cNvPr id="477321" name="AutoShape 137"/>
            <p:cNvSpPr>
              <a:spLocks noChangeArrowheads="1"/>
            </p:cNvSpPr>
            <p:nvPr/>
          </p:nvSpPr>
          <p:spPr bwMode="auto">
            <a:xfrm>
              <a:off x="1980" y="3456"/>
              <a:ext cx="1851" cy="416"/>
            </a:xfrm>
            <a:prstGeom prst="roundRect">
              <a:avLst>
                <a:gd name="adj" fmla="val 4167"/>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wrap="square" anchor="ctr"/>
            <a:lstStyle/>
            <a:p>
              <a:pPr algn="l">
                <a:lnSpc>
                  <a:spcPct val="85000"/>
                </a:lnSpc>
              </a:pPr>
              <a:r>
                <a:rPr lang="fr-FR" sz="2000" b="1" dirty="0"/>
                <a:t>Le serveur d'accès distant répond à l'appel</a:t>
              </a:r>
            </a:p>
          </p:txBody>
        </p:sp>
        <p:sp>
          <p:nvSpPr>
            <p:cNvPr id="477320" name="AutoShape 136"/>
            <p:cNvSpPr>
              <a:spLocks noChangeArrowheads="1"/>
            </p:cNvSpPr>
            <p:nvPr/>
          </p:nvSpPr>
          <p:spPr bwMode="auto">
            <a:xfrm>
              <a:off x="1737" y="3456"/>
              <a:ext cx="243" cy="289"/>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3400" b="1" dirty="0">
                  <a:solidFill>
                    <a:srgbClr val="990033"/>
                  </a:solidFill>
                </a:rPr>
                <a:t>2</a:t>
              </a:r>
            </a:p>
          </p:txBody>
        </p:sp>
      </p:grpSp>
      <p:grpSp>
        <p:nvGrpSpPr>
          <p:cNvPr id="477322" name="Group 138"/>
          <p:cNvGrpSpPr>
            <a:grpSpLocks/>
          </p:cNvGrpSpPr>
          <p:nvPr/>
        </p:nvGrpSpPr>
        <p:grpSpPr bwMode="auto">
          <a:xfrm>
            <a:off x="5719766" y="6197586"/>
            <a:ext cx="3424240" cy="660400"/>
            <a:chOff x="3603" y="3456"/>
            <a:chExt cx="2157" cy="416"/>
          </a:xfrm>
        </p:grpSpPr>
        <p:sp>
          <p:nvSpPr>
            <p:cNvPr id="477324" name="AutoShape 140"/>
            <p:cNvSpPr>
              <a:spLocks noChangeArrowheads="1"/>
            </p:cNvSpPr>
            <p:nvPr/>
          </p:nvSpPr>
          <p:spPr bwMode="auto">
            <a:xfrm>
              <a:off x="3846" y="3456"/>
              <a:ext cx="1914" cy="416"/>
            </a:xfrm>
            <a:prstGeom prst="roundRect">
              <a:avLst>
                <a:gd name="adj" fmla="val 4167"/>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wrap="square" anchor="ctr"/>
            <a:lstStyle/>
            <a:p>
              <a:pPr algn="l">
                <a:lnSpc>
                  <a:spcPct val="85000"/>
                </a:lnSpc>
              </a:pPr>
              <a:r>
                <a:rPr lang="fr-FR" sz="2000" b="1" dirty="0"/>
                <a:t>Le serveur d'accès distant transfère les données</a:t>
              </a:r>
            </a:p>
          </p:txBody>
        </p:sp>
        <p:sp>
          <p:nvSpPr>
            <p:cNvPr id="477323" name="AutoShape 139"/>
            <p:cNvSpPr>
              <a:spLocks noChangeArrowheads="1"/>
            </p:cNvSpPr>
            <p:nvPr/>
          </p:nvSpPr>
          <p:spPr bwMode="auto">
            <a:xfrm>
              <a:off x="3603" y="3456"/>
              <a:ext cx="250" cy="289"/>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square" anchor="ctr"/>
            <a:lstStyle/>
            <a:p>
              <a:r>
                <a:rPr lang="en-US" sz="3400" b="1" dirty="0">
                  <a:solidFill>
                    <a:srgbClr val="990033"/>
                  </a:solidFill>
                </a:rPr>
                <a:t>4</a:t>
              </a:r>
            </a:p>
          </p:txBody>
        </p:sp>
      </p:grpSp>
      <p:grpSp>
        <p:nvGrpSpPr>
          <p:cNvPr id="477325" name="Group 141"/>
          <p:cNvGrpSpPr>
            <a:grpSpLocks/>
          </p:cNvGrpSpPr>
          <p:nvPr/>
        </p:nvGrpSpPr>
        <p:grpSpPr bwMode="auto">
          <a:xfrm>
            <a:off x="2191668" y="5292714"/>
            <a:ext cx="3338513" cy="803276"/>
            <a:chOff x="1728" y="2886"/>
            <a:chExt cx="2103" cy="506"/>
          </a:xfrm>
        </p:grpSpPr>
        <p:sp>
          <p:nvSpPr>
            <p:cNvPr id="477326" name="AutoShape 142"/>
            <p:cNvSpPr>
              <a:spLocks noChangeArrowheads="1"/>
            </p:cNvSpPr>
            <p:nvPr/>
          </p:nvSpPr>
          <p:spPr bwMode="auto">
            <a:xfrm>
              <a:off x="1971" y="2886"/>
              <a:ext cx="1860" cy="506"/>
            </a:xfrm>
            <a:prstGeom prst="roundRect">
              <a:avLst>
                <a:gd name="adj" fmla="val 4167"/>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wrap="square" anchor="ctr"/>
            <a:lstStyle/>
            <a:p>
              <a:pPr algn="l">
                <a:lnSpc>
                  <a:spcPct val="85000"/>
                </a:lnSpc>
              </a:pPr>
              <a:r>
                <a:rPr lang="fr-FR" sz="2000" b="1" dirty="0"/>
                <a:t>Le client d'accès à distance appelle le  serveur d'accès distant</a:t>
              </a:r>
            </a:p>
          </p:txBody>
        </p:sp>
        <p:sp>
          <p:nvSpPr>
            <p:cNvPr id="477327" name="AutoShape 143"/>
            <p:cNvSpPr>
              <a:spLocks noChangeArrowheads="1"/>
            </p:cNvSpPr>
            <p:nvPr/>
          </p:nvSpPr>
          <p:spPr bwMode="auto">
            <a:xfrm>
              <a:off x="1728" y="2886"/>
              <a:ext cx="243" cy="289"/>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3400" b="1" dirty="0">
                  <a:solidFill>
                    <a:srgbClr val="990033"/>
                  </a:solidFill>
                </a:rPr>
                <a:t>1</a:t>
              </a:r>
            </a:p>
          </p:txBody>
        </p:sp>
      </p:grpSp>
      <p:sp>
        <p:nvSpPr>
          <p:cNvPr id="477328" name="Freeform 144"/>
          <p:cNvSpPr>
            <a:spLocks/>
          </p:cNvSpPr>
          <p:nvPr/>
        </p:nvSpPr>
        <p:spPr bwMode="auto">
          <a:xfrm rot="11853776" flipV="1">
            <a:off x="2136775" y="2895600"/>
            <a:ext cx="2046288" cy="1143000"/>
          </a:xfrm>
          <a:custGeom>
            <a:avLst/>
            <a:gdLst/>
            <a:ahLst/>
            <a:cxnLst>
              <a:cxn ang="0">
                <a:pos x="1544" y="358"/>
              </a:cxn>
              <a:cxn ang="0">
                <a:pos x="1531" y="338"/>
              </a:cxn>
              <a:cxn ang="0">
                <a:pos x="1500" y="299"/>
              </a:cxn>
              <a:cxn ang="0">
                <a:pos x="1466" y="263"/>
              </a:cxn>
              <a:cxn ang="0">
                <a:pos x="1425" y="228"/>
              </a:cxn>
              <a:cxn ang="0">
                <a:pos x="1382" y="195"/>
              </a:cxn>
              <a:cxn ang="0">
                <a:pos x="1332" y="163"/>
              </a:cxn>
              <a:cxn ang="0">
                <a:pos x="1280" y="134"/>
              </a:cxn>
              <a:cxn ang="0">
                <a:pos x="1225" y="108"/>
              </a:cxn>
              <a:cxn ang="0">
                <a:pos x="1164" y="85"/>
              </a:cxn>
              <a:cxn ang="0">
                <a:pos x="1102" y="63"/>
              </a:cxn>
              <a:cxn ang="0">
                <a:pos x="1037" y="44"/>
              </a:cxn>
              <a:cxn ang="0">
                <a:pos x="967" y="29"/>
              </a:cxn>
              <a:cxn ang="0">
                <a:pos x="896" y="18"/>
              </a:cxn>
              <a:cxn ang="0">
                <a:pos x="824" y="8"/>
              </a:cxn>
              <a:cxn ang="0">
                <a:pos x="767" y="3"/>
              </a:cxn>
              <a:cxn ang="0">
                <a:pos x="709" y="2"/>
              </a:cxn>
              <a:cxn ang="0">
                <a:pos x="622" y="2"/>
              </a:cxn>
              <a:cxn ang="0">
                <a:pos x="573" y="3"/>
              </a:cxn>
              <a:cxn ang="0">
                <a:pos x="479" y="12"/>
              </a:cxn>
              <a:cxn ang="0">
                <a:pos x="432" y="19"/>
              </a:cxn>
              <a:cxn ang="0">
                <a:pos x="344" y="35"/>
              </a:cxn>
              <a:cxn ang="0">
                <a:pos x="258" y="57"/>
              </a:cxn>
              <a:cxn ang="0">
                <a:pos x="177" y="85"/>
              </a:cxn>
              <a:cxn ang="0">
                <a:pos x="102" y="115"/>
              </a:cxn>
              <a:cxn ang="0">
                <a:pos x="32" y="150"/>
              </a:cxn>
              <a:cxn ang="0">
                <a:pos x="31" y="154"/>
              </a:cxn>
              <a:cxn ang="0">
                <a:pos x="95" y="129"/>
              </a:cxn>
              <a:cxn ang="0">
                <a:pos x="163" y="106"/>
              </a:cxn>
              <a:cxn ang="0">
                <a:pos x="197" y="96"/>
              </a:cxn>
              <a:cxn ang="0">
                <a:pos x="270" y="80"/>
              </a:cxn>
              <a:cxn ang="0">
                <a:pos x="345" y="66"/>
              </a:cxn>
              <a:cxn ang="0">
                <a:pos x="422" y="56"/>
              </a:cxn>
              <a:cxn ang="0">
                <a:pos x="503" y="50"/>
              </a:cxn>
              <a:cxn ang="0">
                <a:pos x="584" y="47"/>
              </a:cxn>
              <a:cxn ang="0">
                <a:pos x="661" y="50"/>
              </a:cxn>
              <a:cxn ang="0">
                <a:pos x="735" y="54"/>
              </a:cxn>
              <a:cxn ang="0">
                <a:pos x="808" y="63"/>
              </a:cxn>
              <a:cxn ang="0">
                <a:pos x="879" y="74"/>
              </a:cxn>
              <a:cxn ang="0">
                <a:pos x="947" y="90"/>
              </a:cxn>
              <a:cxn ang="0">
                <a:pos x="1012" y="108"/>
              </a:cxn>
              <a:cxn ang="0">
                <a:pos x="1074" y="128"/>
              </a:cxn>
              <a:cxn ang="0">
                <a:pos x="1134" y="153"/>
              </a:cxn>
              <a:cxn ang="0">
                <a:pos x="1189" y="177"/>
              </a:cxn>
              <a:cxn ang="0">
                <a:pos x="1241" y="206"/>
              </a:cxn>
              <a:cxn ang="0">
                <a:pos x="1290" y="237"/>
              </a:cxn>
              <a:cxn ang="0">
                <a:pos x="1334" y="269"/>
              </a:cxn>
              <a:cxn ang="0">
                <a:pos x="1374" y="303"/>
              </a:cxn>
              <a:cxn ang="0">
                <a:pos x="1409" y="340"/>
              </a:cxn>
              <a:cxn ang="0">
                <a:pos x="1440" y="379"/>
              </a:cxn>
              <a:cxn ang="0">
                <a:pos x="1466" y="418"/>
              </a:cxn>
              <a:cxn ang="0">
                <a:pos x="1409" y="427"/>
              </a:cxn>
              <a:cxn ang="0">
                <a:pos x="1599" y="338"/>
              </a:cxn>
            </a:cxnLst>
            <a:rect l="0" t="0" r="r" b="b"/>
            <a:pathLst>
              <a:path w="1631" h="609">
                <a:moveTo>
                  <a:pt x="1556" y="379"/>
                </a:moveTo>
                <a:lnTo>
                  <a:pt x="1544" y="358"/>
                </a:lnTo>
                <a:lnTo>
                  <a:pt x="1537" y="348"/>
                </a:lnTo>
                <a:lnTo>
                  <a:pt x="1531" y="338"/>
                </a:lnTo>
                <a:lnTo>
                  <a:pt x="1516" y="319"/>
                </a:lnTo>
                <a:lnTo>
                  <a:pt x="1500" y="299"/>
                </a:lnTo>
                <a:lnTo>
                  <a:pt x="1483" y="282"/>
                </a:lnTo>
                <a:lnTo>
                  <a:pt x="1466" y="263"/>
                </a:lnTo>
                <a:lnTo>
                  <a:pt x="1445" y="245"/>
                </a:lnTo>
                <a:lnTo>
                  <a:pt x="1425" y="228"/>
                </a:lnTo>
                <a:lnTo>
                  <a:pt x="1403" y="211"/>
                </a:lnTo>
                <a:lnTo>
                  <a:pt x="1382" y="195"/>
                </a:lnTo>
                <a:lnTo>
                  <a:pt x="1357" y="179"/>
                </a:lnTo>
                <a:lnTo>
                  <a:pt x="1332" y="163"/>
                </a:lnTo>
                <a:lnTo>
                  <a:pt x="1308" y="148"/>
                </a:lnTo>
                <a:lnTo>
                  <a:pt x="1280" y="134"/>
                </a:lnTo>
                <a:lnTo>
                  <a:pt x="1253" y="121"/>
                </a:lnTo>
                <a:lnTo>
                  <a:pt x="1225" y="108"/>
                </a:lnTo>
                <a:lnTo>
                  <a:pt x="1195" y="96"/>
                </a:lnTo>
                <a:lnTo>
                  <a:pt x="1164" y="85"/>
                </a:lnTo>
                <a:lnTo>
                  <a:pt x="1134" y="73"/>
                </a:lnTo>
                <a:lnTo>
                  <a:pt x="1102" y="63"/>
                </a:lnTo>
                <a:lnTo>
                  <a:pt x="1070" y="54"/>
                </a:lnTo>
                <a:lnTo>
                  <a:pt x="1037" y="44"/>
                </a:lnTo>
                <a:lnTo>
                  <a:pt x="1002" y="37"/>
                </a:lnTo>
                <a:lnTo>
                  <a:pt x="967" y="29"/>
                </a:lnTo>
                <a:lnTo>
                  <a:pt x="932" y="22"/>
                </a:lnTo>
                <a:lnTo>
                  <a:pt x="896" y="18"/>
                </a:lnTo>
                <a:lnTo>
                  <a:pt x="860" y="12"/>
                </a:lnTo>
                <a:lnTo>
                  <a:pt x="824" y="8"/>
                </a:lnTo>
                <a:lnTo>
                  <a:pt x="786" y="5"/>
                </a:lnTo>
                <a:lnTo>
                  <a:pt x="767" y="3"/>
                </a:lnTo>
                <a:lnTo>
                  <a:pt x="748" y="3"/>
                </a:lnTo>
                <a:lnTo>
                  <a:pt x="709" y="2"/>
                </a:lnTo>
                <a:lnTo>
                  <a:pt x="671" y="0"/>
                </a:lnTo>
                <a:lnTo>
                  <a:pt x="622" y="2"/>
                </a:lnTo>
                <a:lnTo>
                  <a:pt x="597" y="3"/>
                </a:lnTo>
                <a:lnTo>
                  <a:pt x="573" y="3"/>
                </a:lnTo>
                <a:lnTo>
                  <a:pt x="525" y="8"/>
                </a:lnTo>
                <a:lnTo>
                  <a:pt x="479" y="12"/>
                </a:lnTo>
                <a:lnTo>
                  <a:pt x="455" y="16"/>
                </a:lnTo>
                <a:lnTo>
                  <a:pt x="432" y="19"/>
                </a:lnTo>
                <a:lnTo>
                  <a:pt x="387" y="27"/>
                </a:lnTo>
                <a:lnTo>
                  <a:pt x="344" y="35"/>
                </a:lnTo>
                <a:lnTo>
                  <a:pt x="300" y="45"/>
                </a:lnTo>
                <a:lnTo>
                  <a:pt x="258" y="57"/>
                </a:lnTo>
                <a:lnTo>
                  <a:pt x="218" y="70"/>
                </a:lnTo>
                <a:lnTo>
                  <a:pt x="177" y="85"/>
                </a:lnTo>
                <a:lnTo>
                  <a:pt x="139" y="99"/>
                </a:lnTo>
                <a:lnTo>
                  <a:pt x="102" y="115"/>
                </a:lnTo>
                <a:lnTo>
                  <a:pt x="67" y="131"/>
                </a:lnTo>
                <a:lnTo>
                  <a:pt x="32" y="150"/>
                </a:lnTo>
                <a:lnTo>
                  <a:pt x="0" y="169"/>
                </a:lnTo>
                <a:lnTo>
                  <a:pt x="31" y="154"/>
                </a:lnTo>
                <a:lnTo>
                  <a:pt x="63" y="141"/>
                </a:lnTo>
                <a:lnTo>
                  <a:pt x="95" y="129"/>
                </a:lnTo>
                <a:lnTo>
                  <a:pt x="128" y="118"/>
                </a:lnTo>
                <a:lnTo>
                  <a:pt x="163" y="106"/>
                </a:lnTo>
                <a:lnTo>
                  <a:pt x="180" y="102"/>
                </a:lnTo>
                <a:lnTo>
                  <a:pt x="197" y="96"/>
                </a:lnTo>
                <a:lnTo>
                  <a:pt x="232" y="87"/>
                </a:lnTo>
                <a:lnTo>
                  <a:pt x="270" y="80"/>
                </a:lnTo>
                <a:lnTo>
                  <a:pt x="306" y="71"/>
                </a:lnTo>
                <a:lnTo>
                  <a:pt x="345" y="66"/>
                </a:lnTo>
                <a:lnTo>
                  <a:pt x="383" y="60"/>
                </a:lnTo>
                <a:lnTo>
                  <a:pt x="422" y="56"/>
                </a:lnTo>
                <a:lnTo>
                  <a:pt x="463" y="53"/>
                </a:lnTo>
                <a:lnTo>
                  <a:pt x="503" y="50"/>
                </a:lnTo>
                <a:lnTo>
                  <a:pt x="544" y="48"/>
                </a:lnTo>
                <a:lnTo>
                  <a:pt x="584" y="47"/>
                </a:lnTo>
                <a:lnTo>
                  <a:pt x="624" y="48"/>
                </a:lnTo>
                <a:lnTo>
                  <a:pt x="661" y="50"/>
                </a:lnTo>
                <a:lnTo>
                  <a:pt x="699" y="51"/>
                </a:lnTo>
                <a:lnTo>
                  <a:pt x="735" y="54"/>
                </a:lnTo>
                <a:lnTo>
                  <a:pt x="773" y="58"/>
                </a:lnTo>
                <a:lnTo>
                  <a:pt x="808" y="63"/>
                </a:lnTo>
                <a:lnTo>
                  <a:pt x="844" y="69"/>
                </a:lnTo>
                <a:lnTo>
                  <a:pt x="879" y="74"/>
                </a:lnTo>
                <a:lnTo>
                  <a:pt x="913" y="82"/>
                </a:lnTo>
                <a:lnTo>
                  <a:pt x="947" y="90"/>
                </a:lnTo>
                <a:lnTo>
                  <a:pt x="980" y="99"/>
                </a:lnTo>
                <a:lnTo>
                  <a:pt x="1012" y="108"/>
                </a:lnTo>
                <a:lnTo>
                  <a:pt x="1044" y="118"/>
                </a:lnTo>
                <a:lnTo>
                  <a:pt x="1074" y="128"/>
                </a:lnTo>
                <a:lnTo>
                  <a:pt x="1105" y="140"/>
                </a:lnTo>
                <a:lnTo>
                  <a:pt x="1134" y="153"/>
                </a:lnTo>
                <a:lnTo>
                  <a:pt x="1161" y="164"/>
                </a:lnTo>
                <a:lnTo>
                  <a:pt x="1189" y="177"/>
                </a:lnTo>
                <a:lnTo>
                  <a:pt x="1216" y="192"/>
                </a:lnTo>
                <a:lnTo>
                  <a:pt x="1241" y="206"/>
                </a:lnTo>
                <a:lnTo>
                  <a:pt x="1266" y="221"/>
                </a:lnTo>
                <a:lnTo>
                  <a:pt x="1290" y="237"/>
                </a:lnTo>
                <a:lnTo>
                  <a:pt x="1312" y="253"/>
                </a:lnTo>
                <a:lnTo>
                  <a:pt x="1334" y="269"/>
                </a:lnTo>
                <a:lnTo>
                  <a:pt x="1354" y="286"/>
                </a:lnTo>
                <a:lnTo>
                  <a:pt x="1374" y="303"/>
                </a:lnTo>
                <a:lnTo>
                  <a:pt x="1392" y="322"/>
                </a:lnTo>
                <a:lnTo>
                  <a:pt x="1409" y="340"/>
                </a:lnTo>
                <a:lnTo>
                  <a:pt x="1425" y="358"/>
                </a:lnTo>
                <a:lnTo>
                  <a:pt x="1440" y="379"/>
                </a:lnTo>
                <a:lnTo>
                  <a:pt x="1453" y="398"/>
                </a:lnTo>
                <a:lnTo>
                  <a:pt x="1466" y="418"/>
                </a:lnTo>
                <a:lnTo>
                  <a:pt x="1437" y="422"/>
                </a:lnTo>
                <a:lnTo>
                  <a:pt x="1409" y="427"/>
                </a:lnTo>
                <a:lnTo>
                  <a:pt x="1631" y="609"/>
                </a:lnTo>
                <a:lnTo>
                  <a:pt x="1599" y="338"/>
                </a:lnTo>
                <a:lnTo>
                  <a:pt x="1556" y="379"/>
                </a:lnTo>
                <a:close/>
              </a:path>
            </a:pathLst>
          </a:custGeom>
          <a:solidFill>
            <a:srgbClr val="FF0000">
              <a:alpha val="75000"/>
            </a:srgbClr>
          </a:solidFill>
          <a:ln w="9525">
            <a:noFill/>
            <a:round/>
            <a:headEnd/>
            <a:tailEnd/>
          </a:ln>
        </p:spPr>
        <p:txBody>
          <a:bodyPr/>
          <a:lstStyle/>
          <a:p>
            <a:endParaRPr lang="fr-FR"/>
          </a:p>
        </p:txBody>
      </p:sp>
      <p:sp>
        <p:nvSpPr>
          <p:cNvPr id="477329" name="Freeform 145"/>
          <p:cNvSpPr>
            <a:spLocks/>
          </p:cNvSpPr>
          <p:nvPr/>
        </p:nvSpPr>
        <p:spPr bwMode="auto">
          <a:xfrm rot="12403909" flipH="1">
            <a:off x="2057400" y="3352800"/>
            <a:ext cx="2057400" cy="1143000"/>
          </a:xfrm>
          <a:custGeom>
            <a:avLst/>
            <a:gdLst/>
            <a:ahLst/>
            <a:cxnLst>
              <a:cxn ang="0">
                <a:pos x="1544" y="358"/>
              </a:cxn>
              <a:cxn ang="0">
                <a:pos x="1531" y="338"/>
              </a:cxn>
              <a:cxn ang="0">
                <a:pos x="1500" y="299"/>
              </a:cxn>
              <a:cxn ang="0">
                <a:pos x="1466" y="263"/>
              </a:cxn>
              <a:cxn ang="0">
                <a:pos x="1425" y="228"/>
              </a:cxn>
              <a:cxn ang="0">
                <a:pos x="1382" y="195"/>
              </a:cxn>
              <a:cxn ang="0">
                <a:pos x="1332" y="163"/>
              </a:cxn>
              <a:cxn ang="0">
                <a:pos x="1280" y="134"/>
              </a:cxn>
              <a:cxn ang="0">
                <a:pos x="1225" y="108"/>
              </a:cxn>
              <a:cxn ang="0">
                <a:pos x="1164" y="85"/>
              </a:cxn>
              <a:cxn ang="0">
                <a:pos x="1102" y="63"/>
              </a:cxn>
              <a:cxn ang="0">
                <a:pos x="1037" y="44"/>
              </a:cxn>
              <a:cxn ang="0">
                <a:pos x="967" y="29"/>
              </a:cxn>
              <a:cxn ang="0">
                <a:pos x="896" y="18"/>
              </a:cxn>
              <a:cxn ang="0">
                <a:pos x="824" y="8"/>
              </a:cxn>
              <a:cxn ang="0">
                <a:pos x="767" y="3"/>
              </a:cxn>
              <a:cxn ang="0">
                <a:pos x="709" y="2"/>
              </a:cxn>
              <a:cxn ang="0">
                <a:pos x="622" y="2"/>
              </a:cxn>
              <a:cxn ang="0">
                <a:pos x="573" y="3"/>
              </a:cxn>
              <a:cxn ang="0">
                <a:pos x="479" y="12"/>
              </a:cxn>
              <a:cxn ang="0">
                <a:pos x="432" y="19"/>
              </a:cxn>
              <a:cxn ang="0">
                <a:pos x="344" y="35"/>
              </a:cxn>
              <a:cxn ang="0">
                <a:pos x="258" y="57"/>
              </a:cxn>
              <a:cxn ang="0">
                <a:pos x="177" y="85"/>
              </a:cxn>
              <a:cxn ang="0">
                <a:pos x="102" y="115"/>
              </a:cxn>
              <a:cxn ang="0">
                <a:pos x="32" y="150"/>
              </a:cxn>
              <a:cxn ang="0">
                <a:pos x="31" y="154"/>
              </a:cxn>
              <a:cxn ang="0">
                <a:pos x="95" y="129"/>
              </a:cxn>
              <a:cxn ang="0">
                <a:pos x="163" y="106"/>
              </a:cxn>
              <a:cxn ang="0">
                <a:pos x="197" y="96"/>
              </a:cxn>
              <a:cxn ang="0">
                <a:pos x="270" y="80"/>
              </a:cxn>
              <a:cxn ang="0">
                <a:pos x="345" y="66"/>
              </a:cxn>
              <a:cxn ang="0">
                <a:pos x="422" y="56"/>
              </a:cxn>
              <a:cxn ang="0">
                <a:pos x="503" y="50"/>
              </a:cxn>
              <a:cxn ang="0">
                <a:pos x="584" y="47"/>
              </a:cxn>
              <a:cxn ang="0">
                <a:pos x="661" y="50"/>
              </a:cxn>
              <a:cxn ang="0">
                <a:pos x="735" y="54"/>
              </a:cxn>
              <a:cxn ang="0">
                <a:pos x="808" y="63"/>
              </a:cxn>
              <a:cxn ang="0">
                <a:pos x="879" y="74"/>
              </a:cxn>
              <a:cxn ang="0">
                <a:pos x="947" y="90"/>
              </a:cxn>
              <a:cxn ang="0">
                <a:pos x="1012" y="108"/>
              </a:cxn>
              <a:cxn ang="0">
                <a:pos x="1074" y="128"/>
              </a:cxn>
              <a:cxn ang="0">
                <a:pos x="1134" y="153"/>
              </a:cxn>
              <a:cxn ang="0">
                <a:pos x="1189" y="177"/>
              </a:cxn>
              <a:cxn ang="0">
                <a:pos x="1241" y="206"/>
              </a:cxn>
              <a:cxn ang="0">
                <a:pos x="1290" y="237"/>
              </a:cxn>
              <a:cxn ang="0">
                <a:pos x="1334" y="269"/>
              </a:cxn>
              <a:cxn ang="0">
                <a:pos x="1374" y="303"/>
              </a:cxn>
              <a:cxn ang="0">
                <a:pos x="1409" y="340"/>
              </a:cxn>
              <a:cxn ang="0">
                <a:pos x="1440" y="379"/>
              </a:cxn>
              <a:cxn ang="0">
                <a:pos x="1466" y="418"/>
              </a:cxn>
              <a:cxn ang="0">
                <a:pos x="1409" y="427"/>
              </a:cxn>
              <a:cxn ang="0">
                <a:pos x="1599" y="338"/>
              </a:cxn>
            </a:cxnLst>
            <a:rect l="0" t="0" r="r" b="b"/>
            <a:pathLst>
              <a:path w="1631" h="609">
                <a:moveTo>
                  <a:pt x="1556" y="379"/>
                </a:moveTo>
                <a:lnTo>
                  <a:pt x="1544" y="358"/>
                </a:lnTo>
                <a:lnTo>
                  <a:pt x="1537" y="348"/>
                </a:lnTo>
                <a:lnTo>
                  <a:pt x="1531" y="338"/>
                </a:lnTo>
                <a:lnTo>
                  <a:pt x="1516" y="319"/>
                </a:lnTo>
                <a:lnTo>
                  <a:pt x="1500" y="299"/>
                </a:lnTo>
                <a:lnTo>
                  <a:pt x="1483" y="282"/>
                </a:lnTo>
                <a:lnTo>
                  <a:pt x="1466" y="263"/>
                </a:lnTo>
                <a:lnTo>
                  <a:pt x="1445" y="245"/>
                </a:lnTo>
                <a:lnTo>
                  <a:pt x="1425" y="228"/>
                </a:lnTo>
                <a:lnTo>
                  <a:pt x="1403" y="211"/>
                </a:lnTo>
                <a:lnTo>
                  <a:pt x="1382" y="195"/>
                </a:lnTo>
                <a:lnTo>
                  <a:pt x="1357" y="179"/>
                </a:lnTo>
                <a:lnTo>
                  <a:pt x="1332" y="163"/>
                </a:lnTo>
                <a:lnTo>
                  <a:pt x="1308" y="148"/>
                </a:lnTo>
                <a:lnTo>
                  <a:pt x="1280" y="134"/>
                </a:lnTo>
                <a:lnTo>
                  <a:pt x="1253" y="121"/>
                </a:lnTo>
                <a:lnTo>
                  <a:pt x="1225" y="108"/>
                </a:lnTo>
                <a:lnTo>
                  <a:pt x="1195" y="96"/>
                </a:lnTo>
                <a:lnTo>
                  <a:pt x="1164" y="85"/>
                </a:lnTo>
                <a:lnTo>
                  <a:pt x="1134" y="73"/>
                </a:lnTo>
                <a:lnTo>
                  <a:pt x="1102" y="63"/>
                </a:lnTo>
                <a:lnTo>
                  <a:pt x="1070" y="54"/>
                </a:lnTo>
                <a:lnTo>
                  <a:pt x="1037" y="44"/>
                </a:lnTo>
                <a:lnTo>
                  <a:pt x="1002" y="37"/>
                </a:lnTo>
                <a:lnTo>
                  <a:pt x="967" y="29"/>
                </a:lnTo>
                <a:lnTo>
                  <a:pt x="932" y="22"/>
                </a:lnTo>
                <a:lnTo>
                  <a:pt x="896" y="18"/>
                </a:lnTo>
                <a:lnTo>
                  <a:pt x="860" y="12"/>
                </a:lnTo>
                <a:lnTo>
                  <a:pt x="824" y="8"/>
                </a:lnTo>
                <a:lnTo>
                  <a:pt x="786" y="5"/>
                </a:lnTo>
                <a:lnTo>
                  <a:pt x="767" y="3"/>
                </a:lnTo>
                <a:lnTo>
                  <a:pt x="748" y="3"/>
                </a:lnTo>
                <a:lnTo>
                  <a:pt x="709" y="2"/>
                </a:lnTo>
                <a:lnTo>
                  <a:pt x="671" y="0"/>
                </a:lnTo>
                <a:lnTo>
                  <a:pt x="622" y="2"/>
                </a:lnTo>
                <a:lnTo>
                  <a:pt x="597" y="3"/>
                </a:lnTo>
                <a:lnTo>
                  <a:pt x="573" y="3"/>
                </a:lnTo>
                <a:lnTo>
                  <a:pt x="525" y="8"/>
                </a:lnTo>
                <a:lnTo>
                  <a:pt x="479" y="12"/>
                </a:lnTo>
                <a:lnTo>
                  <a:pt x="455" y="16"/>
                </a:lnTo>
                <a:lnTo>
                  <a:pt x="432" y="19"/>
                </a:lnTo>
                <a:lnTo>
                  <a:pt x="387" y="27"/>
                </a:lnTo>
                <a:lnTo>
                  <a:pt x="344" y="35"/>
                </a:lnTo>
                <a:lnTo>
                  <a:pt x="300" y="45"/>
                </a:lnTo>
                <a:lnTo>
                  <a:pt x="258" y="57"/>
                </a:lnTo>
                <a:lnTo>
                  <a:pt x="218" y="70"/>
                </a:lnTo>
                <a:lnTo>
                  <a:pt x="177" y="85"/>
                </a:lnTo>
                <a:lnTo>
                  <a:pt x="139" y="99"/>
                </a:lnTo>
                <a:lnTo>
                  <a:pt x="102" y="115"/>
                </a:lnTo>
                <a:lnTo>
                  <a:pt x="67" y="131"/>
                </a:lnTo>
                <a:lnTo>
                  <a:pt x="32" y="150"/>
                </a:lnTo>
                <a:lnTo>
                  <a:pt x="0" y="169"/>
                </a:lnTo>
                <a:lnTo>
                  <a:pt x="31" y="154"/>
                </a:lnTo>
                <a:lnTo>
                  <a:pt x="63" y="141"/>
                </a:lnTo>
                <a:lnTo>
                  <a:pt x="95" y="129"/>
                </a:lnTo>
                <a:lnTo>
                  <a:pt x="128" y="118"/>
                </a:lnTo>
                <a:lnTo>
                  <a:pt x="163" y="106"/>
                </a:lnTo>
                <a:lnTo>
                  <a:pt x="180" y="102"/>
                </a:lnTo>
                <a:lnTo>
                  <a:pt x="197" y="96"/>
                </a:lnTo>
                <a:lnTo>
                  <a:pt x="232" y="87"/>
                </a:lnTo>
                <a:lnTo>
                  <a:pt x="270" y="80"/>
                </a:lnTo>
                <a:lnTo>
                  <a:pt x="306" y="71"/>
                </a:lnTo>
                <a:lnTo>
                  <a:pt x="345" y="66"/>
                </a:lnTo>
                <a:lnTo>
                  <a:pt x="383" y="60"/>
                </a:lnTo>
                <a:lnTo>
                  <a:pt x="422" y="56"/>
                </a:lnTo>
                <a:lnTo>
                  <a:pt x="463" y="53"/>
                </a:lnTo>
                <a:lnTo>
                  <a:pt x="503" y="50"/>
                </a:lnTo>
                <a:lnTo>
                  <a:pt x="544" y="48"/>
                </a:lnTo>
                <a:lnTo>
                  <a:pt x="584" y="47"/>
                </a:lnTo>
                <a:lnTo>
                  <a:pt x="624" y="48"/>
                </a:lnTo>
                <a:lnTo>
                  <a:pt x="661" y="50"/>
                </a:lnTo>
                <a:lnTo>
                  <a:pt x="699" y="51"/>
                </a:lnTo>
                <a:lnTo>
                  <a:pt x="735" y="54"/>
                </a:lnTo>
                <a:lnTo>
                  <a:pt x="773" y="58"/>
                </a:lnTo>
                <a:lnTo>
                  <a:pt x="808" y="63"/>
                </a:lnTo>
                <a:lnTo>
                  <a:pt x="844" y="69"/>
                </a:lnTo>
                <a:lnTo>
                  <a:pt x="879" y="74"/>
                </a:lnTo>
                <a:lnTo>
                  <a:pt x="913" y="82"/>
                </a:lnTo>
                <a:lnTo>
                  <a:pt x="947" y="90"/>
                </a:lnTo>
                <a:lnTo>
                  <a:pt x="980" y="99"/>
                </a:lnTo>
                <a:lnTo>
                  <a:pt x="1012" y="108"/>
                </a:lnTo>
                <a:lnTo>
                  <a:pt x="1044" y="118"/>
                </a:lnTo>
                <a:lnTo>
                  <a:pt x="1074" y="128"/>
                </a:lnTo>
                <a:lnTo>
                  <a:pt x="1105" y="140"/>
                </a:lnTo>
                <a:lnTo>
                  <a:pt x="1134" y="153"/>
                </a:lnTo>
                <a:lnTo>
                  <a:pt x="1161" y="164"/>
                </a:lnTo>
                <a:lnTo>
                  <a:pt x="1189" y="177"/>
                </a:lnTo>
                <a:lnTo>
                  <a:pt x="1216" y="192"/>
                </a:lnTo>
                <a:lnTo>
                  <a:pt x="1241" y="206"/>
                </a:lnTo>
                <a:lnTo>
                  <a:pt x="1266" y="221"/>
                </a:lnTo>
                <a:lnTo>
                  <a:pt x="1290" y="237"/>
                </a:lnTo>
                <a:lnTo>
                  <a:pt x="1312" y="253"/>
                </a:lnTo>
                <a:lnTo>
                  <a:pt x="1334" y="269"/>
                </a:lnTo>
                <a:lnTo>
                  <a:pt x="1354" y="286"/>
                </a:lnTo>
                <a:lnTo>
                  <a:pt x="1374" y="303"/>
                </a:lnTo>
                <a:lnTo>
                  <a:pt x="1392" y="322"/>
                </a:lnTo>
                <a:lnTo>
                  <a:pt x="1409" y="340"/>
                </a:lnTo>
                <a:lnTo>
                  <a:pt x="1425" y="358"/>
                </a:lnTo>
                <a:lnTo>
                  <a:pt x="1440" y="379"/>
                </a:lnTo>
                <a:lnTo>
                  <a:pt x="1453" y="398"/>
                </a:lnTo>
                <a:lnTo>
                  <a:pt x="1466" y="418"/>
                </a:lnTo>
                <a:lnTo>
                  <a:pt x="1437" y="422"/>
                </a:lnTo>
                <a:lnTo>
                  <a:pt x="1409" y="427"/>
                </a:lnTo>
                <a:lnTo>
                  <a:pt x="1631" y="609"/>
                </a:lnTo>
                <a:lnTo>
                  <a:pt x="1599" y="338"/>
                </a:lnTo>
                <a:lnTo>
                  <a:pt x="1556" y="379"/>
                </a:lnTo>
                <a:close/>
              </a:path>
            </a:pathLst>
          </a:custGeom>
          <a:solidFill>
            <a:srgbClr val="FF0000">
              <a:alpha val="75000"/>
            </a:srgbClr>
          </a:solidFill>
          <a:ln w="9525">
            <a:noFill/>
            <a:round/>
            <a:headEnd/>
            <a:tailEnd/>
          </a:ln>
        </p:spPr>
        <p:txBody>
          <a:bodyPr/>
          <a:lstStyle/>
          <a:p>
            <a:endParaRPr lang="fr-FR"/>
          </a:p>
        </p:txBody>
      </p:sp>
      <p:grpSp>
        <p:nvGrpSpPr>
          <p:cNvPr id="477330" name="Group 146"/>
          <p:cNvGrpSpPr>
            <a:grpSpLocks/>
          </p:cNvGrpSpPr>
          <p:nvPr/>
        </p:nvGrpSpPr>
        <p:grpSpPr bwMode="auto">
          <a:xfrm>
            <a:off x="130638" y="6269260"/>
            <a:ext cx="914400" cy="425450"/>
            <a:chOff x="384" y="3024"/>
            <a:chExt cx="720" cy="336"/>
          </a:xfrm>
        </p:grpSpPr>
        <p:sp>
          <p:nvSpPr>
            <p:cNvPr id="477331" name="Oval 147"/>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endParaRPr lang="fr-FR"/>
            </a:p>
          </p:txBody>
        </p:sp>
        <p:grpSp>
          <p:nvGrpSpPr>
            <p:cNvPr id="477332" name="Group 148"/>
            <p:cNvGrpSpPr>
              <a:grpSpLocks/>
            </p:cNvGrpSpPr>
            <p:nvPr/>
          </p:nvGrpSpPr>
          <p:grpSpPr bwMode="auto">
            <a:xfrm>
              <a:off x="480" y="3096"/>
              <a:ext cx="240" cy="192"/>
              <a:chOff x="480" y="3096"/>
              <a:chExt cx="240" cy="192"/>
            </a:xfrm>
          </p:grpSpPr>
          <p:sp>
            <p:nvSpPr>
              <p:cNvPr id="477333" name="Oval 149"/>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477334" name="Freeform 150"/>
              <p:cNvSpPr>
                <a:spLocks/>
              </p:cNvSpPr>
              <p:nvPr/>
            </p:nvSpPr>
            <p:spPr bwMode="auto">
              <a:xfrm>
                <a:off x="539" y="3123"/>
                <a:ext cx="138" cy="132"/>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endParaRPr lang="fr-FR"/>
              </a:p>
            </p:txBody>
          </p:sp>
        </p:grpSp>
      </p:grpSp>
      <p:grpSp>
        <p:nvGrpSpPr>
          <p:cNvPr id="477335" name="Group 151"/>
          <p:cNvGrpSpPr>
            <a:grpSpLocks/>
          </p:cNvGrpSpPr>
          <p:nvPr/>
        </p:nvGrpSpPr>
        <p:grpSpPr bwMode="auto">
          <a:xfrm>
            <a:off x="618001" y="6359748"/>
            <a:ext cx="304800" cy="244475"/>
            <a:chOff x="768" y="3096"/>
            <a:chExt cx="240" cy="192"/>
          </a:xfrm>
        </p:grpSpPr>
        <p:sp>
          <p:nvSpPr>
            <p:cNvPr id="477336" name="Oval 152"/>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477337" name="Rectangle 153"/>
            <p:cNvSpPr>
              <a:spLocks noChangeArrowheads="1"/>
            </p:cNvSpPr>
            <p:nvPr/>
          </p:nvSpPr>
          <p:spPr bwMode="auto">
            <a:xfrm>
              <a:off x="840" y="3144"/>
              <a:ext cx="96"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endParaRPr lang="fr-FR"/>
            </a:p>
          </p:txBody>
        </p:sp>
      </p:grpSp>
      <p:sp>
        <p:nvSpPr>
          <p:cNvPr id="477338" name="Freeform 154"/>
          <p:cNvSpPr>
            <a:spLocks/>
          </p:cNvSpPr>
          <p:nvPr/>
        </p:nvSpPr>
        <p:spPr bwMode="auto">
          <a:xfrm rot="-23029631">
            <a:off x="5110163" y="3521075"/>
            <a:ext cx="1581150" cy="577850"/>
          </a:xfrm>
          <a:custGeom>
            <a:avLst/>
            <a:gdLst/>
            <a:ahLst/>
            <a:cxnLst>
              <a:cxn ang="0">
                <a:pos x="1113" y="362"/>
              </a:cxn>
              <a:cxn ang="0">
                <a:pos x="502" y="44"/>
              </a:cxn>
              <a:cxn ang="0">
                <a:pos x="560" y="252"/>
              </a:cxn>
              <a:cxn ang="0">
                <a:pos x="0" y="0"/>
              </a:cxn>
              <a:cxn ang="0">
                <a:pos x="661" y="402"/>
              </a:cxn>
              <a:cxn ang="0">
                <a:pos x="564" y="165"/>
              </a:cxn>
              <a:cxn ang="0">
                <a:pos x="1113" y="362"/>
              </a:cxn>
            </a:cxnLst>
            <a:rect l="0" t="0" r="r" b="b"/>
            <a:pathLst>
              <a:path w="1113" h="402">
                <a:moveTo>
                  <a:pt x="1113" y="362"/>
                </a:moveTo>
                <a:lnTo>
                  <a:pt x="502" y="44"/>
                </a:lnTo>
                <a:lnTo>
                  <a:pt x="560" y="252"/>
                </a:lnTo>
                <a:lnTo>
                  <a:pt x="0" y="0"/>
                </a:lnTo>
                <a:lnTo>
                  <a:pt x="661" y="402"/>
                </a:lnTo>
                <a:lnTo>
                  <a:pt x="564" y="165"/>
                </a:lnTo>
                <a:lnTo>
                  <a:pt x="1113" y="362"/>
                </a:lnTo>
              </a:path>
            </a:pathLst>
          </a:custGeom>
          <a:solidFill>
            <a:srgbClr val="FF0000">
              <a:alpha val="75000"/>
            </a:srgbClr>
          </a:solidFill>
          <a:ln w="6350" cap="rnd" cmpd="sng">
            <a:noFill/>
            <a:prstDash val="solid"/>
            <a:round/>
            <a:headEnd type="none" w="med" len="med"/>
            <a:tailEnd type="none" w="med" len="med"/>
          </a:ln>
          <a:effectLst/>
        </p:spPr>
        <p:txBody>
          <a:bodyPr/>
          <a:lstStyle/>
          <a:p>
            <a:endParaRPr lang="fr-FR"/>
          </a:p>
        </p:txBody>
      </p:sp>
      <p:sp>
        <p:nvSpPr>
          <p:cNvPr id="477339" name="Line 155"/>
          <p:cNvSpPr>
            <a:spLocks noChangeShapeType="1"/>
          </p:cNvSpPr>
          <p:nvPr/>
        </p:nvSpPr>
        <p:spPr bwMode="auto">
          <a:xfrm flipH="1">
            <a:off x="3227388" y="3802063"/>
            <a:ext cx="1011237" cy="1587"/>
          </a:xfrm>
          <a:prstGeom prst="line">
            <a:avLst/>
          </a:prstGeom>
          <a:noFill/>
          <a:ln w="57150">
            <a:solidFill>
              <a:srgbClr val="CC0000"/>
            </a:solidFill>
            <a:round/>
            <a:headEnd/>
            <a:tailEnd type="triangle" w="med" len="med"/>
          </a:ln>
          <a:effectLst/>
        </p:spPr>
        <p:txBody>
          <a:bodyPr anchor="ctr"/>
          <a:lstStyle/>
          <a:p>
            <a:endParaRPr lang="fr-FR"/>
          </a:p>
        </p:txBody>
      </p:sp>
      <p:sp>
        <p:nvSpPr>
          <p:cNvPr id="477340" name="Text Box 156"/>
          <p:cNvSpPr txBox="1">
            <a:spLocks noChangeArrowheads="1"/>
          </p:cNvSpPr>
          <p:nvPr>
            <p:custDataLst>
              <p:tags r:id="rId2"/>
            </p:custDataLst>
          </p:nvPr>
        </p:nvSpPr>
        <p:spPr bwMode="auto">
          <a:xfrm>
            <a:off x="295057" y="3451225"/>
            <a:ext cx="1467068" cy="667875"/>
          </a:xfrm>
          <a:prstGeom prst="rect">
            <a:avLst/>
          </a:prstGeom>
          <a:noFill/>
          <a:ln w="9525" algn="ctr">
            <a:noFill/>
            <a:miter lim="800000"/>
            <a:headEnd/>
            <a:tailEnd/>
          </a:ln>
          <a:effectLst/>
        </p:spPr>
        <p:txBody>
          <a:bodyPr wrap="none">
            <a:spAutoFit/>
          </a:bodyPr>
          <a:lstStyle/>
          <a:p>
            <a:pPr algn="r">
              <a:lnSpc>
                <a:spcPct val="85000"/>
              </a:lnSpc>
            </a:pPr>
            <a:r>
              <a:rPr lang="en-GB" sz="2200" b="1" dirty="0" err="1">
                <a:solidFill>
                  <a:srgbClr val="000000"/>
                </a:solidFill>
              </a:rPr>
              <a:t>Contrôleur</a:t>
            </a:r>
            <a:endParaRPr lang="en-US" sz="2200" b="1" dirty="0"/>
          </a:p>
          <a:p>
            <a:pPr algn="r">
              <a:lnSpc>
                <a:spcPct val="85000"/>
              </a:lnSpc>
            </a:pPr>
            <a:r>
              <a:rPr lang="en-GB" sz="2200" b="1" dirty="0">
                <a:solidFill>
                  <a:srgbClr val="000000"/>
                </a:solidFill>
              </a:rPr>
              <a:t>de </a:t>
            </a:r>
            <a:r>
              <a:rPr lang="en-GB" sz="2200" b="1" dirty="0" err="1">
                <a:solidFill>
                  <a:srgbClr val="000000"/>
                </a:solidFill>
              </a:rPr>
              <a:t>domaine</a:t>
            </a:r>
            <a:endParaRPr lang="en-US" sz="2200" b="1" dirty="0">
              <a:solidFill>
                <a:srgbClr val="000000"/>
              </a:solidFill>
            </a:endParaRPr>
          </a:p>
        </p:txBody>
      </p:sp>
      <p:sp>
        <p:nvSpPr>
          <p:cNvPr id="477341" name="Text Box 157"/>
          <p:cNvSpPr txBox="1">
            <a:spLocks noChangeArrowheads="1"/>
          </p:cNvSpPr>
          <p:nvPr>
            <p:custDataLst>
              <p:tags r:id="rId3"/>
            </p:custDataLst>
          </p:nvPr>
        </p:nvSpPr>
        <p:spPr bwMode="auto">
          <a:xfrm>
            <a:off x="5907088" y="4149725"/>
            <a:ext cx="2578100" cy="769441"/>
          </a:xfrm>
          <a:prstGeom prst="rect">
            <a:avLst/>
          </a:prstGeom>
          <a:noFill/>
          <a:ln w="9525" algn="ctr">
            <a:noFill/>
            <a:miter lim="800000"/>
            <a:headEnd/>
            <a:tailEnd/>
          </a:ln>
          <a:effectLst/>
        </p:spPr>
        <p:txBody>
          <a:bodyPr>
            <a:spAutoFit/>
          </a:bodyPr>
          <a:lstStyle/>
          <a:p>
            <a:pPr algn="l">
              <a:spcBef>
                <a:spcPct val="50000"/>
              </a:spcBef>
            </a:pPr>
            <a:r>
              <a:rPr lang="en-GB" sz="2200" b="1">
                <a:solidFill>
                  <a:srgbClr val="000000"/>
                </a:solidFill>
              </a:rPr>
              <a:t>Client d'accès à distance</a:t>
            </a:r>
            <a:endParaRPr lang="en-US" sz="2200">
              <a:solidFill>
                <a:srgbClr val="000000"/>
              </a:solidFill>
            </a:endParaRPr>
          </a:p>
        </p:txBody>
      </p:sp>
      <p:sp>
        <p:nvSpPr>
          <p:cNvPr id="477342" name="AutoShape 158"/>
          <p:cNvSpPr>
            <a:spLocks noChangeArrowheads="1"/>
          </p:cNvSpPr>
          <p:nvPr>
            <p:custDataLst>
              <p:tags r:id="rId4"/>
            </p:custDataLst>
          </p:nvPr>
        </p:nvSpPr>
        <p:spPr bwMode="auto">
          <a:xfrm>
            <a:off x="217714" y="1308100"/>
            <a:ext cx="8723086" cy="1335088"/>
          </a:xfrm>
          <a:prstGeom prst="roundRect">
            <a:avLst>
              <a:gd name="adj" fmla="val 16667"/>
            </a:avLst>
          </a:prstGeom>
          <a:gradFill rotWithShape="1">
            <a:gsLst>
              <a:gs pos="0">
                <a:srgbClr val="EAABA0"/>
              </a:gs>
              <a:gs pos="100000">
                <a:srgbClr val="F6D9D4"/>
              </a:gs>
            </a:gsLst>
            <a:lin ang="2700000" scaled="1"/>
          </a:gradFill>
          <a:ln w="9525" algn="ctr">
            <a:solidFill>
              <a:srgbClr val="808080"/>
            </a:solidFill>
            <a:round/>
            <a:headEnd/>
            <a:tailEnd/>
          </a:ln>
          <a:effectLst>
            <a:outerShdw dist="35921" dir="2700000" algn="ctr" rotWithShape="0">
              <a:srgbClr val="C0C0C0"/>
            </a:outerShdw>
          </a:effectLst>
        </p:spPr>
        <p:txBody>
          <a:bodyPr anchor="ctr"/>
          <a:lstStyle/>
          <a:p>
            <a:pPr algn="l">
              <a:lnSpc>
                <a:spcPct val="90000"/>
              </a:lnSpc>
            </a:pPr>
            <a:r>
              <a:rPr lang="en-GB" sz="2400" b="1">
                <a:solidFill>
                  <a:srgbClr val="000000"/>
                </a:solidFill>
              </a:rPr>
              <a:t>L'</a:t>
            </a:r>
            <a:r>
              <a:rPr lang="en-GB" sz="2400" b="1" i="1">
                <a:solidFill>
                  <a:srgbClr val="000000"/>
                </a:solidFill>
              </a:rPr>
              <a:t>accès réseau à distance </a:t>
            </a:r>
            <a:r>
              <a:rPr lang="en-GB" sz="2400" b="1">
                <a:solidFill>
                  <a:srgbClr val="000000"/>
                </a:solidFill>
              </a:rPr>
              <a:t>est une procédure par laquelle un client d'accès distant établit une connexion temporaire à un port physique situé sur un serveur d'accès distant en utilisant les services d'un fournisseur de télécommunications</a:t>
            </a:r>
            <a:endParaRPr lang="en-US" sz="2400" b="1"/>
          </a:p>
        </p:txBody>
      </p:sp>
      <p:sp>
        <p:nvSpPr>
          <p:cNvPr id="477343" name="Text Box 159"/>
          <p:cNvSpPr txBox="1">
            <a:spLocks noChangeArrowheads="1"/>
          </p:cNvSpPr>
          <p:nvPr>
            <p:custDataLst>
              <p:tags r:id="rId5"/>
            </p:custDataLst>
          </p:nvPr>
        </p:nvSpPr>
        <p:spPr bwMode="auto">
          <a:xfrm>
            <a:off x="3938588" y="2897188"/>
            <a:ext cx="1944764" cy="667875"/>
          </a:xfrm>
          <a:prstGeom prst="rect">
            <a:avLst/>
          </a:prstGeom>
          <a:noFill/>
          <a:ln w="9525" algn="ctr">
            <a:noFill/>
            <a:miter lim="800000"/>
            <a:headEnd/>
            <a:tailEnd/>
          </a:ln>
          <a:effectLst/>
        </p:spPr>
        <p:txBody>
          <a:bodyPr wrap="none">
            <a:spAutoFit/>
          </a:bodyPr>
          <a:lstStyle/>
          <a:p>
            <a:pPr>
              <a:lnSpc>
                <a:spcPct val="85000"/>
              </a:lnSpc>
            </a:pPr>
            <a:r>
              <a:rPr lang="en-GB" sz="2200" b="1">
                <a:solidFill>
                  <a:srgbClr val="000000"/>
                </a:solidFill>
              </a:rPr>
              <a:t>Serveur d'accès</a:t>
            </a:r>
            <a:br>
              <a:rPr lang="en-GB" sz="2200" b="1">
                <a:solidFill>
                  <a:srgbClr val="000000"/>
                </a:solidFill>
              </a:rPr>
            </a:br>
            <a:r>
              <a:rPr lang="en-GB" sz="2200" b="1">
                <a:solidFill>
                  <a:srgbClr val="000000"/>
                </a:solidFill>
              </a:rPr>
              <a:t>distant</a:t>
            </a:r>
            <a:endParaRPr lang="en-US" sz="2200" b="1"/>
          </a:p>
        </p:txBody>
      </p:sp>
      <p:sp>
        <p:nvSpPr>
          <p:cNvPr id="48" name="Rectangle 47"/>
          <p:cNvSpPr/>
          <p:nvPr/>
        </p:nvSpPr>
        <p:spPr>
          <a:xfrm>
            <a:off x="0" y="2743200"/>
            <a:ext cx="9144000" cy="41148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xit" presetSubtype="10" fill="hold" grpId="0" nodeType="clickEffect">
                                  <p:stCondLst>
                                    <p:cond delay="0"/>
                                  </p:stCondLst>
                                  <p:childTnLst>
                                    <p:animEffect transition="out" filter="checkerboard(across)">
                                      <p:cBhvr>
                                        <p:cTn id="6" dur="1000"/>
                                        <p:tgtEl>
                                          <p:spTgt spid="48"/>
                                        </p:tgtEl>
                                      </p:cBhvr>
                                    </p:animEffect>
                                    <p:set>
                                      <p:cBhvr>
                                        <p:cTn id="7" dur="1" fill="hold">
                                          <p:stCondLst>
                                            <p:cond delay="999"/>
                                          </p:stCondLst>
                                        </p:cTn>
                                        <p:tgtEl>
                                          <p:spTgt spid="48"/>
                                        </p:tgtEl>
                                        <p:attrNameLst>
                                          <p:attrName>style.visibility</p:attrName>
                                        </p:attrNameLst>
                                      </p:cBhvr>
                                      <p:to>
                                        <p:strVal val="hidden"/>
                                      </p:to>
                                    </p:se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77325"/>
                                        </p:tgtEl>
                                        <p:attrNameLst>
                                          <p:attrName>style.visibility</p:attrName>
                                        </p:attrNameLst>
                                      </p:cBhvr>
                                      <p:to>
                                        <p:strVal val="visible"/>
                                      </p:to>
                                    </p:set>
                                    <p:animEffect transition="in" filter="wipe(left)">
                                      <p:cBhvr>
                                        <p:cTn id="12" dur="500"/>
                                        <p:tgtEl>
                                          <p:spTgt spid="477325"/>
                                        </p:tgtEl>
                                      </p:cBhvr>
                                    </p:animEffect>
                                  </p:childTnLst>
                                </p:cTn>
                              </p:par>
                            </p:childTnLst>
                          </p:cTn>
                        </p:par>
                        <p:par>
                          <p:cTn id="13" fill="hold">
                            <p:stCondLst>
                              <p:cond delay="500"/>
                            </p:stCondLst>
                            <p:childTnLst>
                              <p:par>
                                <p:cTn id="14" presetID="22" presetClass="entr" presetSubtype="2" fill="hold" grpId="0" nodeType="afterEffect">
                                  <p:stCondLst>
                                    <p:cond delay="0"/>
                                  </p:stCondLst>
                                  <p:childTnLst>
                                    <p:set>
                                      <p:cBhvr>
                                        <p:cTn id="15" dur="1" fill="hold">
                                          <p:stCondLst>
                                            <p:cond delay="0"/>
                                          </p:stCondLst>
                                        </p:cTn>
                                        <p:tgtEl>
                                          <p:spTgt spid="477338"/>
                                        </p:tgtEl>
                                        <p:attrNameLst>
                                          <p:attrName>style.visibility</p:attrName>
                                        </p:attrNameLst>
                                      </p:cBhvr>
                                      <p:to>
                                        <p:strVal val="visible"/>
                                      </p:to>
                                    </p:set>
                                    <p:animEffect transition="in" filter="wipe(right)">
                                      <p:cBhvr>
                                        <p:cTn id="16" dur="500"/>
                                        <p:tgtEl>
                                          <p:spTgt spid="47733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77319"/>
                                        </p:tgtEl>
                                        <p:attrNameLst>
                                          <p:attrName>style.visibility</p:attrName>
                                        </p:attrNameLst>
                                      </p:cBhvr>
                                      <p:to>
                                        <p:strVal val="visible"/>
                                      </p:to>
                                    </p:set>
                                    <p:animEffect transition="in" filter="wipe(left)">
                                      <p:cBhvr>
                                        <p:cTn id="21" dur="500"/>
                                        <p:tgtEl>
                                          <p:spTgt spid="477319"/>
                                        </p:tgtEl>
                                      </p:cBhvr>
                                    </p:animEffect>
                                  </p:childTnLst>
                                </p:cTn>
                              </p:par>
                            </p:childTnLst>
                          </p:cTn>
                        </p:par>
                        <p:par>
                          <p:cTn id="22" fill="hold">
                            <p:stCondLst>
                              <p:cond delay="500"/>
                            </p:stCondLst>
                            <p:childTnLst>
                              <p:par>
                                <p:cTn id="23" presetID="26" presetClass="emph" presetSubtype="0" fill="hold" nodeType="afterEffect">
                                  <p:stCondLst>
                                    <p:cond delay="0"/>
                                  </p:stCondLst>
                                  <p:childTnLst>
                                    <p:animEffect transition="out" filter="fade">
                                      <p:cBhvr>
                                        <p:cTn id="24" dur="1000" tmFilter="0, 0; .2, .5; .8, .5; 1, 0"/>
                                        <p:tgtEl>
                                          <p:spTgt spid="477304"/>
                                        </p:tgtEl>
                                      </p:cBhvr>
                                    </p:animEffect>
                                    <p:animScale>
                                      <p:cBhvr>
                                        <p:cTn id="25" dur="500" autoRev="1" fill="hold"/>
                                        <p:tgtEl>
                                          <p:spTgt spid="477304"/>
                                        </p:tgtEl>
                                      </p:cBhvr>
                                      <p:by x="105000" y="105000"/>
                                    </p:animScale>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477316"/>
                                        </p:tgtEl>
                                        <p:attrNameLst>
                                          <p:attrName>style.visibility</p:attrName>
                                        </p:attrNameLst>
                                      </p:cBhvr>
                                      <p:to>
                                        <p:strVal val="visible"/>
                                      </p:to>
                                    </p:set>
                                    <p:animEffect transition="in" filter="wipe(left)">
                                      <p:cBhvr>
                                        <p:cTn id="30" dur="1000"/>
                                        <p:tgtEl>
                                          <p:spTgt spid="477316"/>
                                        </p:tgtEl>
                                      </p:cBhvr>
                                    </p:animEffect>
                                  </p:childTnLst>
                                </p:cTn>
                              </p:par>
                            </p:childTnLst>
                          </p:cTn>
                        </p:par>
                        <p:par>
                          <p:cTn id="31" fill="hold">
                            <p:stCondLst>
                              <p:cond delay="1000"/>
                            </p:stCondLst>
                            <p:childTnLst>
                              <p:par>
                                <p:cTn id="32" presetID="18" presetClass="entr" presetSubtype="12" fill="hold" grpId="0" nodeType="afterEffect">
                                  <p:stCondLst>
                                    <p:cond delay="0"/>
                                  </p:stCondLst>
                                  <p:childTnLst>
                                    <p:set>
                                      <p:cBhvr>
                                        <p:cTn id="33" dur="1" fill="hold">
                                          <p:stCondLst>
                                            <p:cond delay="0"/>
                                          </p:stCondLst>
                                        </p:cTn>
                                        <p:tgtEl>
                                          <p:spTgt spid="477328"/>
                                        </p:tgtEl>
                                        <p:attrNameLst>
                                          <p:attrName>style.visibility</p:attrName>
                                        </p:attrNameLst>
                                      </p:cBhvr>
                                      <p:to>
                                        <p:strVal val="visible"/>
                                      </p:to>
                                    </p:set>
                                    <p:animEffect transition="in" filter="strips(downLeft)">
                                      <p:cBhvr>
                                        <p:cTn id="34" dur="500"/>
                                        <p:tgtEl>
                                          <p:spTgt spid="477328"/>
                                        </p:tgtEl>
                                      </p:cBhvr>
                                    </p:animEffect>
                                  </p:childTnLst>
                                </p:cTn>
                              </p:par>
                            </p:childTnLst>
                          </p:cTn>
                        </p:par>
                        <p:par>
                          <p:cTn id="35" fill="hold">
                            <p:stCondLst>
                              <p:cond delay="1500"/>
                            </p:stCondLst>
                            <p:childTnLst>
                              <p:par>
                                <p:cTn id="36" presetID="18" presetClass="entr" presetSubtype="3" fill="hold" grpId="0" nodeType="afterEffect">
                                  <p:stCondLst>
                                    <p:cond delay="0"/>
                                  </p:stCondLst>
                                  <p:childTnLst>
                                    <p:set>
                                      <p:cBhvr>
                                        <p:cTn id="37" dur="1" fill="hold">
                                          <p:stCondLst>
                                            <p:cond delay="0"/>
                                          </p:stCondLst>
                                        </p:cTn>
                                        <p:tgtEl>
                                          <p:spTgt spid="477329"/>
                                        </p:tgtEl>
                                        <p:attrNameLst>
                                          <p:attrName>style.visibility</p:attrName>
                                        </p:attrNameLst>
                                      </p:cBhvr>
                                      <p:to>
                                        <p:strVal val="visible"/>
                                      </p:to>
                                    </p:set>
                                    <p:animEffect transition="in" filter="strips(upRight)">
                                      <p:cBhvr>
                                        <p:cTn id="38" dur="500"/>
                                        <p:tgtEl>
                                          <p:spTgt spid="47732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477322"/>
                                        </p:tgtEl>
                                        <p:attrNameLst>
                                          <p:attrName>style.visibility</p:attrName>
                                        </p:attrNameLst>
                                      </p:cBhvr>
                                      <p:to>
                                        <p:strVal val="visible"/>
                                      </p:to>
                                    </p:set>
                                    <p:animEffect transition="in" filter="wipe(left)">
                                      <p:cBhvr>
                                        <p:cTn id="43" dur="1000"/>
                                        <p:tgtEl>
                                          <p:spTgt spid="477322"/>
                                        </p:tgtEl>
                                      </p:cBhvr>
                                    </p:animEffect>
                                  </p:childTnLst>
                                </p:cTn>
                              </p:par>
                            </p:childTnLst>
                          </p:cTn>
                        </p:par>
                        <p:par>
                          <p:cTn id="44" fill="hold">
                            <p:stCondLst>
                              <p:cond delay="1000"/>
                            </p:stCondLst>
                            <p:childTnLst>
                              <p:par>
                                <p:cTn id="45" presetID="1" presetClass="entr" presetSubtype="0" fill="hold" nodeType="afterEffect">
                                  <p:stCondLst>
                                    <p:cond delay="0"/>
                                  </p:stCondLst>
                                  <p:childTnLst>
                                    <p:set>
                                      <p:cBhvr>
                                        <p:cTn id="46" dur="1" fill="hold">
                                          <p:stCondLst>
                                            <p:cond delay="0"/>
                                          </p:stCondLst>
                                        </p:cTn>
                                        <p:tgtEl>
                                          <p:spTgt spid="477335"/>
                                        </p:tgtEl>
                                        <p:attrNameLst>
                                          <p:attrName>style.visibility</p:attrName>
                                        </p:attrNameLst>
                                      </p:cBhvr>
                                      <p:to>
                                        <p:strVal val="visible"/>
                                      </p:to>
                                    </p:set>
                                  </p:childTnLst>
                                </p:cTn>
                              </p:par>
                            </p:childTnLst>
                          </p:cTn>
                        </p:par>
                        <p:par>
                          <p:cTn id="47" fill="hold">
                            <p:stCondLst>
                              <p:cond delay="1000"/>
                            </p:stCondLst>
                            <p:childTnLst>
                              <p:par>
                                <p:cTn id="48" presetID="22" presetClass="entr" presetSubtype="2" fill="hold" grpId="0" nodeType="afterEffect">
                                  <p:stCondLst>
                                    <p:cond delay="0"/>
                                  </p:stCondLst>
                                  <p:childTnLst>
                                    <p:set>
                                      <p:cBhvr>
                                        <p:cTn id="49" dur="1" fill="hold">
                                          <p:stCondLst>
                                            <p:cond delay="0"/>
                                          </p:stCondLst>
                                        </p:cTn>
                                        <p:tgtEl>
                                          <p:spTgt spid="477339"/>
                                        </p:tgtEl>
                                        <p:attrNameLst>
                                          <p:attrName>style.visibility</p:attrName>
                                        </p:attrNameLst>
                                      </p:cBhvr>
                                      <p:to>
                                        <p:strVal val="visible"/>
                                      </p:to>
                                    </p:set>
                                    <p:animEffect transition="in" filter="wipe(right)">
                                      <p:cBhvr>
                                        <p:cTn id="50" dur="500"/>
                                        <p:tgtEl>
                                          <p:spTgt spid="4773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328" grpId="0" animBg="1"/>
      <p:bldP spid="477329" grpId="0" animBg="1"/>
      <p:bldP spid="477338" grpId="0" animBg="1"/>
      <p:bldP spid="477339" grpId="0" animBg="1"/>
      <p:bldP spid="4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81" name="Rectangle 5"/>
          <p:cNvSpPr>
            <a:spLocks noGrp="1" noChangeArrowheads="1"/>
          </p:cNvSpPr>
          <p:nvPr>
            <p:ph type="title"/>
            <p:custDataLst>
              <p:tags r:id="rId1"/>
            </p:custDataLst>
          </p:nvPr>
        </p:nvSpPr>
        <p:spPr/>
        <p:txBody>
          <a:bodyPr vert="horz" anchor="b">
            <a:normAutofit fontScale="90000"/>
          </a:bodyPr>
          <a:lstStyle/>
          <a:p>
            <a:r>
              <a:rPr lang="fr-FR" sz="2800" dirty="0">
                <a:solidFill>
                  <a:srgbClr val="C00000"/>
                </a:solidFill>
              </a:rPr>
              <a:t>Composants d'une connexion d'accès à distance</a:t>
            </a:r>
            <a:endParaRPr sz="2800" dirty="0">
              <a:solidFill>
                <a:srgbClr val="C00000"/>
              </a:solidFill>
            </a:endParaRPr>
          </a:p>
        </p:txBody>
      </p:sp>
      <p:sp>
        <p:nvSpPr>
          <p:cNvPr id="485425" name="Oval 49"/>
          <p:cNvSpPr>
            <a:spLocks noGrp="1" noChangeArrowheads="1"/>
          </p:cNvSpPr>
          <p:nvPr>
            <p:ph sz="quarter" idx="1"/>
            <p:custDataLst>
              <p:tags r:id="rId2"/>
            </p:custDataLst>
          </p:nvPr>
        </p:nvSpPr>
        <p:spPr>
          <a:xfrm>
            <a:off x="940714" y="1435104"/>
            <a:ext cx="6716713" cy="3200400"/>
          </a:xfrm>
          <a:prstGeom prst="ellipse">
            <a:avLst/>
          </a:prstGeom>
          <a:gradFill rotWithShape="1">
            <a:gsLst>
              <a:gs pos="0">
                <a:srgbClr val="CFE1C2"/>
              </a:gs>
              <a:gs pos="100000">
                <a:srgbClr val="FFFFFF"/>
              </a:gs>
            </a:gsLst>
            <a:lin ang="5400000" scaled="1"/>
          </a:gradFill>
          <a:ln algn="ctr">
            <a:round/>
          </a:ln>
        </p:spPr>
        <p:txBody>
          <a:bodyPr/>
          <a:lstStyle/>
          <a:p>
            <a:pPr marL="342900" indent="-342900"/>
            <a:endParaRPr lang="en-US" dirty="0"/>
          </a:p>
          <a:p>
            <a:pPr marL="342900" indent="-342900"/>
            <a:endParaRPr lang="en-US" dirty="0"/>
          </a:p>
          <a:p>
            <a:pPr marL="342900" indent="-342900"/>
            <a:endParaRPr lang="en-US" dirty="0"/>
          </a:p>
        </p:txBody>
      </p:sp>
      <p:sp>
        <p:nvSpPr>
          <p:cNvPr id="485426" name="Line 50"/>
          <p:cNvSpPr>
            <a:spLocks noChangeShapeType="1"/>
          </p:cNvSpPr>
          <p:nvPr>
            <p:custDataLst>
              <p:tags r:id="rId3"/>
            </p:custDataLst>
          </p:nvPr>
        </p:nvSpPr>
        <p:spPr bwMode="auto">
          <a:xfrm flipH="1" flipV="1">
            <a:off x="2069427" y="3273429"/>
            <a:ext cx="457200" cy="914400"/>
          </a:xfrm>
          <a:prstGeom prst="line">
            <a:avLst/>
          </a:prstGeom>
          <a:noFill/>
          <a:ln w="57150">
            <a:solidFill>
              <a:srgbClr val="CC0000"/>
            </a:solidFill>
            <a:round/>
            <a:headEnd/>
            <a:tailEnd/>
          </a:ln>
          <a:effectLst/>
        </p:spPr>
        <p:txBody>
          <a:bodyPr anchor="ctr"/>
          <a:lstStyle/>
          <a:p>
            <a:endParaRPr lang="fr-FR"/>
          </a:p>
        </p:txBody>
      </p:sp>
      <p:sp>
        <p:nvSpPr>
          <p:cNvPr id="485427" name="Oval 51"/>
          <p:cNvSpPr>
            <a:spLocks noChangeArrowheads="1"/>
          </p:cNvSpPr>
          <p:nvPr>
            <p:custDataLst>
              <p:tags r:id="rId4"/>
            </p:custDataLst>
          </p:nvPr>
        </p:nvSpPr>
        <p:spPr bwMode="auto">
          <a:xfrm>
            <a:off x="1039139" y="3922717"/>
            <a:ext cx="2773363" cy="2003425"/>
          </a:xfrm>
          <a:prstGeom prst="ellipse">
            <a:avLst/>
          </a:prstGeom>
          <a:gradFill rotWithShape="1">
            <a:gsLst>
              <a:gs pos="0">
                <a:srgbClr val="FFFFFF"/>
              </a:gs>
              <a:gs pos="100000">
                <a:srgbClr val="EEEFD7"/>
              </a:gs>
            </a:gsLst>
            <a:path path="shape">
              <a:fillToRect l="50000" t="50000" r="50000" b="50000"/>
            </a:path>
          </a:gradFill>
          <a:ln w="9525">
            <a:noFill/>
            <a:round/>
            <a:headEnd/>
            <a:tailEnd/>
          </a:ln>
          <a:effectLst/>
        </p:spPr>
        <p:txBody>
          <a:bodyPr wrap="none" anchor="ctr"/>
          <a:lstStyle/>
          <a:p>
            <a:endParaRPr lang="fr-FR"/>
          </a:p>
        </p:txBody>
      </p:sp>
      <p:pic>
        <p:nvPicPr>
          <p:cNvPr id="485429" name="Picture 53" descr="Server01"/>
          <p:cNvPicPr>
            <a:picLocks noChangeAspect="1" noChangeArrowheads="1"/>
          </p:cNvPicPr>
          <p:nvPr>
            <p:custDataLst>
              <p:tags r:id="rId5"/>
            </p:custDataLst>
          </p:nvPr>
        </p:nvPicPr>
        <p:blipFill>
          <a:blip r:embed="rId32" cstate="print"/>
          <a:srcRect/>
          <a:stretch>
            <a:fillRect/>
          </a:stretch>
        </p:blipFill>
        <p:spPr bwMode="auto">
          <a:xfrm>
            <a:off x="2782214" y="4875217"/>
            <a:ext cx="841375" cy="990600"/>
          </a:xfrm>
          <a:prstGeom prst="rect">
            <a:avLst/>
          </a:prstGeom>
          <a:noFill/>
        </p:spPr>
      </p:pic>
      <p:sp>
        <p:nvSpPr>
          <p:cNvPr id="485430" name="AutoShape 54"/>
          <p:cNvSpPr>
            <a:spLocks noChangeArrowheads="1"/>
          </p:cNvSpPr>
          <p:nvPr>
            <p:custDataLst>
              <p:tags r:id="rId6"/>
            </p:custDataLst>
          </p:nvPr>
        </p:nvSpPr>
        <p:spPr bwMode="auto">
          <a:xfrm>
            <a:off x="3271627" y="5141462"/>
            <a:ext cx="5524037" cy="503159"/>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r>
              <a:rPr lang="en-GB" sz="2200" b="1">
                <a:solidFill>
                  <a:srgbClr val="000000"/>
                </a:solidFill>
              </a:rPr>
              <a:t>Attribution d'un serveur de noms et d'adresses</a:t>
            </a:r>
            <a:endParaRPr lang="en-US" sz="2200" b="1"/>
          </a:p>
        </p:txBody>
      </p:sp>
      <p:sp>
        <p:nvSpPr>
          <p:cNvPr id="485431" name="Text Box 55"/>
          <p:cNvSpPr txBox="1">
            <a:spLocks noChangeArrowheads="1"/>
          </p:cNvSpPr>
          <p:nvPr>
            <p:custDataLst>
              <p:tags r:id="rId7"/>
            </p:custDataLst>
          </p:nvPr>
        </p:nvSpPr>
        <p:spPr bwMode="auto">
          <a:xfrm>
            <a:off x="1885277" y="5040317"/>
            <a:ext cx="968535" cy="707886"/>
          </a:xfrm>
          <a:prstGeom prst="rect">
            <a:avLst/>
          </a:prstGeom>
          <a:noFill/>
          <a:ln w="9525" algn="ctr">
            <a:noFill/>
            <a:miter lim="800000"/>
            <a:headEnd/>
            <a:tailEnd/>
          </a:ln>
          <a:effectLst/>
        </p:spPr>
        <p:txBody>
          <a:bodyPr wrap="none">
            <a:spAutoFit/>
          </a:bodyPr>
          <a:lstStyle/>
          <a:p>
            <a:r>
              <a:rPr lang="en-GB" sz="2000" b="1" dirty="0" err="1">
                <a:solidFill>
                  <a:srgbClr val="000000"/>
                </a:solidFill>
              </a:rPr>
              <a:t>Serveur</a:t>
            </a:r>
            <a:endParaRPr lang="en-US" sz="2000" b="1" dirty="0"/>
          </a:p>
          <a:p>
            <a:r>
              <a:rPr lang="en-GB" sz="2000" b="1" dirty="0">
                <a:solidFill>
                  <a:srgbClr val="000000"/>
                </a:solidFill>
              </a:rPr>
              <a:t>DHCP</a:t>
            </a:r>
            <a:endParaRPr lang="en-US" sz="2000" b="1" dirty="0">
              <a:solidFill>
                <a:srgbClr val="000000"/>
              </a:solidFill>
            </a:endParaRPr>
          </a:p>
        </p:txBody>
      </p:sp>
      <p:pic>
        <p:nvPicPr>
          <p:cNvPr id="485432" name="Picture 56" descr="Server01"/>
          <p:cNvPicPr>
            <a:picLocks noChangeAspect="1" noChangeArrowheads="1"/>
          </p:cNvPicPr>
          <p:nvPr>
            <p:custDataLst>
              <p:tags r:id="rId8"/>
            </p:custDataLst>
          </p:nvPr>
        </p:nvPicPr>
        <p:blipFill>
          <a:blip r:embed="rId32" cstate="print"/>
          <a:srcRect/>
          <a:stretch>
            <a:fillRect/>
          </a:stretch>
        </p:blipFill>
        <p:spPr bwMode="auto">
          <a:xfrm>
            <a:off x="1102639" y="4456117"/>
            <a:ext cx="841375" cy="990600"/>
          </a:xfrm>
          <a:prstGeom prst="rect">
            <a:avLst/>
          </a:prstGeom>
          <a:noFill/>
        </p:spPr>
      </p:pic>
      <p:sp>
        <p:nvSpPr>
          <p:cNvPr id="485433" name="Text Box 57"/>
          <p:cNvSpPr txBox="1">
            <a:spLocks noChangeArrowheads="1"/>
          </p:cNvSpPr>
          <p:nvPr>
            <p:custDataLst>
              <p:tags r:id="rId9"/>
            </p:custDataLst>
          </p:nvPr>
        </p:nvSpPr>
        <p:spPr bwMode="auto">
          <a:xfrm>
            <a:off x="462877" y="3794129"/>
            <a:ext cx="1351653" cy="615553"/>
          </a:xfrm>
          <a:prstGeom prst="rect">
            <a:avLst/>
          </a:prstGeom>
          <a:noFill/>
          <a:ln w="9525" algn="ctr">
            <a:noFill/>
            <a:miter lim="800000"/>
            <a:headEnd/>
            <a:tailEnd/>
          </a:ln>
          <a:effectLst/>
        </p:spPr>
        <p:txBody>
          <a:bodyPr wrap="none">
            <a:spAutoFit/>
          </a:bodyPr>
          <a:lstStyle/>
          <a:p>
            <a:pPr>
              <a:lnSpc>
                <a:spcPct val="85000"/>
              </a:lnSpc>
            </a:pPr>
            <a:r>
              <a:rPr lang="en-GB" sz="2000" b="1">
                <a:solidFill>
                  <a:srgbClr val="000000"/>
                </a:solidFill>
              </a:rPr>
              <a:t>Contrôleur</a:t>
            </a:r>
            <a:endParaRPr lang="en-US" sz="2000" b="1"/>
          </a:p>
          <a:p>
            <a:pPr>
              <a:lnSpc>
                <a:spcPct val="85000"/>
              </a:lnSpc>
            </a:pPr>
            <a:r>
              <a:rPr lang="en-GB" sz="2000" b="1">
                <a:solidFill>
                  <a:srgbClr val="000000"/>
                </a:solidFill>
              </a:rPr>
              <a:t>de domaine</a:t>
            </a:r>
            <a:endParaRPr lang="en-US" sz="2000" b="1">
              <a:solidFill>
                <a:srgbClr val="000000"/>
              </a:solidFill>
            </a:endParaRPr>
          </a:p>
        </p:txBody>
      </p:sp>
      <p:sp>
        <p:nvSpPr>
          <p:cNvPr id="485434" name="AutoShape 58"/>
          <p:cNvSpPr>
            <a:spLocks noChangeArrowheads="1"/>
          </p:cNvSpPr>
          <p:nvPr>
            <p:custDataLst>
              <p:tags r:id="rId10"/>
            </p:custDataLst>
          </p:nvPr>
        </p:nvSpPr>
        <p:spPr bwMode="auto">
          <a:xfrm>
            <a:off x="1650327" y="4297366"/>
            <a:ext cx="2041058" cy="501097"/>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r>
              <a:rPr lang="en-GB" sz="2200" b="1" dirty="0" err="1">
                <a:solidFill>
                  <a:srgbClr val="000000"/>
                </a:solidFill>
              </a:rPr>
              <a:t>Authentification</a:t>
            </a:r>
            <a:endParaRPr lang="en-US" sz="2200" b="1" dirty="0"/>
          </a:p>
        </p:txBody>
      </p:sp>
      <p:grpSp>
        <p:nvGrpSpPr>
          <p:cNvPr id="485446" name="Group 59"/>
          <p:cNvGrpSpPr>
            <a:grpSpLocks/>
          </p:cNvGrpSpPr>
          <p:nvPr>
            <p:custDataLst>
              <p:tags r:id="rId11"/>
            </p:custDataLst>
          </p:nvPr>
        </p:nvGrpSpPr>
        <p:grpSpPr bwMode="auto">
          <a:xfrm>
            <a:off x="5865139" y="2244729"/>
            <a:ext cx="1598613" cy="1430338"/>
            <a:chOff x="3914" y="1542"/>
            <a:chExt cx="1007" cy="901"/>
          </a:xfrm>
        </p:grpSpPr>
        <p:pic>
          <p:nvPicPr>
            <p:cNvPr id="485436" name="Picture 60" descr="Laptop"/>
            <p:cNvPicPr>
              <a:picLocks noChangeAspect="1" noChangeArrowheads="1"/>
            </p:cNvPicPr>
            <p:nvPr>
              <p:custDataLst>
                <p:tags r:id="rId28"/>
              </p:custDataLst>
            </p:nvPr>
          </p:nvPicPr>
          <p:blipFill>
            <a:blip r:embed="rId33" cstate="print"/>
            <a:srcRect/>
            <a:stretch>
              <a:fillRect/>
            </a:stretch>
          </p:blipFill>
          <p:spPr bwMode="auto">
            <a:xfrm flipH="1">
              <a:off x="3914" y="1551"/>
              <a:ext cx="705" cy="772"/>
            </a:xfrm>
            <a:prstGeom prst="rect">
              <a:avLst/>
            </a:prstGeom>
            <a:noFill/>
          </p:spPr>
        </p:pic>
        <p:pic>
          <p:nvPicPr>
            <p:cNvPr id="485437" name="Picture 61" descr="UserInteract"/>
            <p:cNvPicPr>
              <a:picLocks noChangeAspect="1" noChangeArrowheads="1"/>
            </p:cNvPicPr>
            <p:nvPr>
              <p:custDataLst>
                <p:tags r:id="rId29"/>
              </p:custDataLst>
            </p:nvPr>
          </p:nvPicPr>
          <p:blipFill>
            <a:blip r:embed="rId34"/>
            <a:srcRect/>
            <a:stretch>
              <a:fillRect/>
            </a:stretch>
          </p:blipFill>
          <p:spPr bwMode="auto">
            <a:xfrm flipH="1">
              <a:off x="4374" y="1542"/>
              <a:ext cx="547" cy="901"/>
            </a:xfrm>
            <a:prstGeom prst="rect">
              <a:avLst/>
            </a:prstGeom>
            <a:noFill/>
          </p:spPr>
        </p:pic>
      </p:grpSp>
      <p:pic>
        <p:nvPicPr>
          <p:cNvPr id="485438" name="Picture 62" descr="Server01"/>
          <p:cNvPicPr>
            <a:picLocks noChangeAspect="1" noChangeArrowheads="1"/>
          </p:cNvPicPr>
          <p:nvPr>
            <p:custDataLst>
              <p:tags r:id="rId12"/>
            </p:custDataLst>
          </p:nvPr>
        </p:nvPicPr>
        <p:blipFill>
          <a:blip r:embed="rId35" cstate="print"/>
          <a:srcRect/>
          <a:stretch>
            <a:fillRect/>
          </a:stretch>
        </p:blipFill>
        <p:spPr bwMode="auto">
          <a:xfrm>
            <a:off x="1416964" y="2046292"/>
            <a:ext cx="1228725" cy="1447800"/>
          </a:xfrm>
          <a:prstGeom prst="rect">
            <a:avLst/>
          </a:prstGeom>
          <a:noFill/>
        </p:spPr>
      </p:pic>
      <p:sp>
        <p:nvSpPr>
          <p:cNvPr id="485440" name="Freeform 64"/>
          <p:cNvSpPr>
            <a:spLocks/>
          </p:cNvSpPr>
          <p:nvPr>
            <p:custDataLst>
              <p:tags r:id="rId13"/>
            </p:custDataLst>
          </p:nvPr>
        </p:nvSpPr>
        <p:spPr bwMode="auto">
          <a:xfrm rot="-22367999">
            <a:off x="2745702" y="2184404"/>
            <a:ext cx="3074987" cy="1104900"/>
          </a:xfrm>
          <a:custGeom>
            <a:avLst/>
            <a:gdLst/>
            <a:ahLst/>
            <a:cxnLst>
              <a:cxn ang="0">
                <a:pos x="1113" y="362"/>
              </a:cxn>
              <a:cxn ang="0">
                <a:pos x="502" y="44"/>
              </a:cxn>
              <a:cxn ang="0">
                <a:pos x="560" y="252"/>
              </a:cxn>
              <a:cxn ang="0">
                <a:pos x="0" y="0"/>
              </a:cxn>
              <a:cxn ang="0">
                <a:pos x="661" y="402"/>
              </a:cxn>
              <a:cxn ang="0">
                <a:pos x="564" y="165"/>
              </a:cxn>
              <a:cxn ang="0">
                <a:pos x="1113" y="362"/>
              </a:cxn>
            </a:cxnLst>
            <a:rect l="0" t="0" r="r" b="b"/>
            <a:pathLst>
              <a:path w="1113" h="402">
                <a:moveTo>
                  <a:pt x="1113" y="362"/>
                </a:moveTo>
                <a:lnTo>
                  <a:pt x="502" y="44"/>
                </a:lnTo>
                <a:lnTo>
                  <a:pt x="560" y="252"/>
                </a:lnTo>
                <a:lnTo>
                  <a:pt x="0" y="0"/>
                </a:lnTo>
                <a:lnTo>
                  <a:pt x="661" y="402"/>
                </a:lnTo>
                <a:lnTo>
                  <a:pt x="564" y="165"/>
                </a:lnTo>
                <a:lnTo>
                  <a:pt x="1113" y="362"/>
                </a:lnTo>
              </a:path>
            </a:pathLst>
          </a:custGeom>
          <a:solidFill>
            <a:srgbClr val="FF0000">
              <a:alpha val="75000"/>
            </a:srgbClr>
          </a:solidFill>
          <a:ln w="6350" cap="rnd" cmpd="sng">
            <a:noFill/>
            <a:prstDash val="solid"/>
            <a:round/>
            <a:headEnd type="none" w="med" len="med"/>
            <a:tailEnd type="none" w="med" len="med"/>
          </a:ln>
          <a:effectLst/>
        </p:spPr>
        <p:txBody>
          <a:bodyPr/>
          <a:lstStyle/>
          <a:p>
            <a:endParaRPr lang="fr-FR"/>
          </a:p>
        </p:txBody>
      </p:sp>
      <p:pic>
        <p:nvPicPr>
          <p:cNvPr id="485441" name="Picture 65" descr="Modem_Modem01"/>
          <p:cNvPicPr>
            <a:picLocks noChangeAspect="1" noChangeArrowheads="1"/>
          </p:cNvPicPr>
          <p:nvPr>
            <p:custDataLst>
              <p:tags r:id="rId14"/>
            </p:custDataLst>
          </p:nvPr>
        </p:nvPicPr>
        <p:blipFill>
          <a:blip r:embed="rId36" cstate="print"/>
          <a:srcRect/>
          <a:stretch>
            <a:fillRect/>
          </a:stretch>
        </p:blipFill>
        <p:spPr bwMode="auto">
          <a:xfrm>
            <a:off x="4626889" y="2433642"/>
            <a:ext cx="819150" cy="512762"/>
          </a:xfrm>
          <a:prstGeom prst="rect">
            <a:avLst/>
          </a:prstGeom>
          <a:noFill/>
        </p:spPr>
      </p:pic>
      <p:pic>
        <p:nvPicPr>
          <p:cNvPr id="485442" name="Picture 66" descr="Modem_Modem01"/>
          <p:cNvPicPr>
            <a:picLocks noChangeAspect="1" noChangeArrowheads="1"/>
          </p:cNvPicPr>
          <p:nvPr>
            <p:custDataLst>
              <p:tags r:id="rId15"/>
            </p:custDataLst>
          </p:nvPr>
        </p:nvPicPr>
        <p:blipFill>
          <a:blip r:embed="rId36" cstate="print"/>
          <a:srcRect/>
          <a:stretch>
            <a:fillRect/>
          </a:stretch>
        </p:blipFill>
        <p:spPr bwMode="auto">
          <a:xfrm>
            <a:off x="2985414" y="2649542"/>
            <a:ext cx="820738" cy="512762"/>
          </a:xfrm>
          <a:prstGeom prst="rect">
            <a:avLst/>
          </a:prstGeom>
          <a:noFill/>
        </p:spPr>
      </p:pic>
      <p:sp>
        <p:nvSpPr>
          <p:cNvPr id="485443" name="AutoShape 67"/>
          <p:cNvSpPr>
            <a:spLocks noChangeArrowheads="1"/>
          </p:cNvSpPr>
          <p:nvPr>
            <p:custDataLst>
              <p:tags r:id="rId16"/>
            </p:custDataLst>
          </p:nvPr>
        </p:nvSpPr>
        <p:spPr bwMode="auto">
          <a:xfrm>
            <a:off x="3569160" y="2914427"/>
            <a:ext cx="2396545" cy="1402247"/>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square" anchor="ctr"/>
          <a:lstStyle/>
          <a:p>
            <a:pPr>
              <a:lnSpc>
                <a:spcPct val="85000"/>
              </a:lnSpc>
            </a:pPr>
            <a:r>
              <a:rPr lang="en-GB" sz="2200" b="1" dirty="0">
                <a:solidFill>
                  <a:srgbClr val="000000"/>
                </a:solidFill>
              </a:rPr>
              <a:t>Options de </a:t>
            </a:r>
            <a:r>
              <a:rPr lang="en-GB" sz="2200" b="1" dirty="0" err="1">
                <a:solidFill>
                  <a:srgbClr val="000000"/>
                </a:solidFill>
              </a:rPr>
              <a:t>réseau</a:t>
            </a:r>
            <a:br>
              <a:rPr lang="en-GB" sz="2200" b="1" dirty="0">
                <a:solidFill>
                  <a:srgbClr val="000000"/>
                </a:solidFill>
              </a:rPr>
            </a:br>
            <a:r>
              <a:rPr lang="en-GB" sz="2200" b="1" dirty="0" err="1">
                <a:solidFill>
                  <a:srgbClr val="000000"/>
                </a:solidFill>
              </a:rPr>
              <a:t>étendu</a:t>
            </a:r>
            <a:r>
              <a:rPr lang="en-GB" sz="2200" b="1" dirty="0">
                <a:solidFill>
                  <a:srgbClr val="000000"/>
                </a:solidFill>
              </a:rPr>
              <a:t> (WAN) :</a:t>
            </a:r>
            <a:r>
              <a:rPr lang="en-GB" sz="2200" b="1" dirty="0" err="1">
                <a:solidFill>
                  <a:srgbClr val="000000"/>
                </a:solidFill>
              </a:rPr>
              <a:t>Téléphone</a:t>
            </a:r>
            <a:r>
              <a:rPr lang="en-GB" sz="2200" b="1" dirty="0">
                <a:solidFill>
                  <a:srgbClr val="000000"/>
                </a:solidFill>
              </a:rPr>
              <a:t>, RNIS X.25 </a:t>
            </a:r>
            <a:r>
              <a:rPr lang="en-GB" sz="2200" b="1" dirty="0" err="1">
                <a:solidFill>
                  <a:srgbClr val="000000"/>
                </a:solidFill>
              </a:rPr>
              <a:t>ou</a:t>
            </a:r>
            <a:r>
              <a:rPr lang="en-GB" sz="2200" b="1" dirty="0">
                <a:solidFill>
                  <a:srgbClr val="000000"/>
                </a:solidFill>
              </a:rPr>
              <a:t> ATM</a:t>
            </a:r>
            <a:endParaRPr lang="en-US" sz="2200" b="1" dirty="0">
              <a:solidFill>
                <a:srgbClr val="000000"/>
              </a:solidFill>
            </a:endParaRPr>
          </a:p>
        </p:txBody>
      </p:sp>
      <p:sp>
        <p:nvSpPr>
          <p:cNvPr id="485444" name="Line 68"/>
          <p:cNvSpPr>
            <a:spLocks noChangeShapeType="1"/>
          </p:cNvSpPr>
          <p:nvPr>
            <p:custDataLst>
              <p:tags r:id="rId17"/>
            </p:custDataLst>
          </p:nvPr>
        </p:nvSpPr>
        <p:spPr bwMode="auto">
          <a:xfrm flipV="1">
            <a:off x="4272877" y="1947867"/>
            <a:ext cx="0" cy="630237"/>
          </a:xfrm>
          <a:prstGeom prst="line">
            <a:avLst/>
          </a:prstGeom>
          <a:noFill/>
          <a:ln w="38100">
            <a:solidFill>
              <a:srgbClr val="333333"/>
            </a:solidFill>
            <a:round/>
            <a:headEnd/>
            <a:tailEnd/>
          </a:ln>
          <a:effectLst/>
        </p:spPr>
        <p:txBody>
          <a:bodyPr anchor="ctr"/>
          <a:lstStyle/>
          <a:p>
            <a:endParaRPr lang="fr-FR"/>
          </a:p>
        </p:txBody>
      </p:sp>
      <p:sp>
        <p:nvSpPr>
          <p:cNvPr id="485445" name="AutoShape 69"/>
          <p:cNvSpPr>
            <a:spLocks noChangeArrowheads="1"/>
          </p:cNvSpPr>
          <p:nvPr>
            <p:custDataLst>
              <p:tags r:id="rId18"/>
            </p:custDataLst>
          </p:nvPr>
        </p:nvSpPr>
        <p:spPr bwMode="auto">
          <a:xfrm>
            <a:off x="2583320" y="1223967"/>
            <a:ext cx="3759423" cy="866094"/>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fr-FR" sz="2200" b="1" dirty="0">
                <a:solidFill>
                  <a:srgbClr val="000000"/>
                </a:solidFill>
              </a:rPr>
              <a:t>Protocoles de réseau local (LAN) </a:t>
            </a:r>
          </a:p>
          <a:p>
            <a:pPr>
              <a:lnSpc>
                <a:spcPct val="85000"/>
              </a:lnSpc>
            </a:pPr>
            <a:r>
              <a:rPr lang="fr-FR" sz="2200" b="1" dirty="0">
                <a:solidFill>
                  <a:srgbClr val="000000"/>
                </a:solidFill>
              </a:rPr>
              <a:t>Protocoles d'accès distant</a:t>
            </a:r>
            <a:endParaRPr lang="en-US" sz="2200" b="1" dirty="0">
              <a:solidFill>
                <a:srgbClr val="000000"/>
              </a:solidFill>
            </a:endParaRPr>
          </a:p>
        </p:txBody>
      </p:sp>
      <p:sp>
        <p:nvSpPr>
          <p:cNvPr id="24" name="AutoShape 1047"/>
          <p:cNvSpPr>
            <a:spLocks noChangeArrowheads="1"/>
          </p:cNvSpPr>
          <p:nvPr>
            <p:custDataLst>
              <p:tags r:id="rId19"/>
            </p:custDataLst>
          </p:nvPr>
        </p:nvSpPr>
        <p:spPr bwMode="auto">
          <a:xfrm>
            <a:off x="123390" y="5900079"/>
            <a:ext cx="8824689" cy="892629"/>
          </a:xfrm>
          <a:prstGeom prst="roundRect">
            <a:avLst>
              <a:gd name="adj" fmla="val 12231"/>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gn="just"/>
            <a:r>
              <a:rPr lang="fr-FR" sz="2200" b="1" dirty="0">
                <a:solidFill>
                  <a:srgbClr val="0070C0"/>
                </a:solidFill>
              </a:rPr>
              <a:t>Ordinateur qui accepte les connexions d’accès à distance émanant de clients d’accès à distance (Routage et accès distant)</a:t>
            </a:r>
            <a:endParaRPr lang="en-US" sz="2200" b="1" dirty="0" err="1">
              <a:solidFill>
                <a:srgbClr val="0070C0"/>
              </a:solidFill>
            </a:endParaRPr>
          </a:p>
        </p:txBody>
      </p:sp>
      <p:sp>
        <p:nvSpPr>
          <p:cNvPr id="25" name="AutoShape 1038"/>
          <p:cNvSpPr>
            <a:spLocks noChangeArrowheads="1"/>
          </p:cNvSpPr>
          <p:nvPr>
            <p:custDataLst>
              <p:tags r:id="rId20"/>
            </p:custDataLst>
          </p:nvPr>
        </p:nvSpPr>
        <p:spPr bwMode="auto">
          <a:xfrm>
            <a:off x="217714" y="1475701"/>
            <a:ext cx="2061029" cy="680793"/>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square" anchor="ctr">
            <a:spAutoFit/>
          </a:bodyPr>
          <a:lstStyle/>
          <a:p>
            <a:pPr>
              <a:lnSpc>
                <a:spcPct val="85000"/>
              </a:lnSpc>
            </a:pPr>
            <a:r>
              <a:rPr lang="en-GB" sz="2200" b="1" dirty="0" err="1">
                <a:solidFill>
                  <a:srgbClr val="000000"/>
                </a:solidFill>
              </a:rPr>
              <a:t>Serveur</a:t>
            </a:r>
            <a:r>
              <a:rPr lang="en-GB" sz="2200" b="1" dirty="0">
                <a:solidFill>
                  <a:srgbClr val="000000"/>
                </a:solidFill>
              </a:rPr>
              <a:t> </a:t>
            </a:r>
            <a:r>
              <a:rPr lang="en-GB" sz="2200" b="1" dirty="0" err="1">
                <a:solidFill>
                  <a:srgbClr val="000000"/>
                </a:solidFill>
              </a:rPr>
              <a:t>d'accès</a:t>
            </a:r>
            <a:r>
              <a:rPr lang="en-GB" sz="2200" b="1" dirty="0">
                <a:solidFill>
                  <a:srgbClr val="000000"/>
                </a:solidFill>
              </a:rPr>
              <a:t> distant</a:t>
            </a:r>
            <a:endParaRPr lang="en-US" sz="2200" b="1" dirty="0">
              <a:solidFill>
                <a:srgbClr val="000000"/>
              </a:solidFill>
            </a:endParaRPr>
          </a:p>
        </p:txBody>
      </p:sp>
      <p:sp>
        <p:nvSpPr>
          <p:cNvPr id="26" name="AutoShape 1047"/>
          <p:cNvSpPr>
            <a:spLocks noChangeArrowheads="1"/>
          </p:cNvSpPr>
          <p:nvPr>
            <p:custDataLst>
              <p:tags r:id="rId21"/>
            </p:custDataLst>
          </p:nvPr>
        </p:nvSpPr>
        <p:spPr bwMode="auto">
          <a:xfrm>
            <a:off x="130650" y="5907339"/>
            <a:ext cx="8824689" cy="892629"/>
          </a:xfrm>
          <a:prstGeom prst="roundRect">
            <a:avLst>
              <a:gd name="adj" fmla="val 12231"/>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gn="just"/>
            <a:r>
              <a:rPr lang="fr-FR" sz="2200" b="1" dirty="0">
                <a:solidFill>
                  <a:srgbClr val="0070C0"/>
                </a:solidFill>
              </a:rPr>
              <a:t>Ordinateur qui amorce une connexion d’accès à distance à un serveur d’accès à distance</a:t>
            </a:r>
            <a:endParaRPr lang="en-US" sz="2200" b="1" dirty="0" err="1">
              <a:solidFill>
                <a:srgbClr val="0070C0"/>
              </a:solidFill>
            </a:endParaRPr>
          </a:p>
        </p:txBody>
      </p:sp>
      <p:sp>
        <p:nvSpPr>
          <p:cNvPr id="485428" name="AutoShape 52"/>
          <p:cNvSpPr>
            <a:spLocks noChangeArrowheads="1"/>
          </p:cNvSpPr>
          <p:nvPr>
            <p:custDataLst>
              <p:tags r:id="rId22"/>
            </p:custDataLst>
          </p:nvPr>
        </p:nvSpPr>
        <p:spPr bwMode="auto">
          <a:xfrm>
            <a:off x="6778572" y="3514729"/>
            <a:ext cx="2017092" cy="748553"/>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r>
              <a:rPr lang="en-GB" sz="2200" b="1" dirty="0">
                <a:solidFill>
                  <a:srgbClr val="000000"/>
                </a:solidFill>
              </a:rPr>
              <a:t>Client </a:t>
            </a:r>
            <a:r>
              <a:rPr lang="en-GB" sz="2200" b="1" dirty="0" err="1">
                <a:solidFill>
                  <a:srgbClr val="000000"/>
                </a:solidFill>
              </a:rPr>
              <a:t>d'accès</a:t>
            </a:r>
            <a:br>
              <a:rPr lang="en-GB" sz="2200" b="1" dirty="0">
                <a:solidFill>
                  <a:srgbClr val="000000"/>
                </a:solidFill>
              </a:rPr>
            </a:br>
            <a:r>
              <a:rPr lang="en-GB" sz="2200" b="1" dirty="0">
                <a:solidFill>
                  <a:srgbClr val="000000"/>
                </a:solidFill>
              </a:rPr>
              <a:t>à distance</a:t>
            </a:r>
            <a:endParaRPr lang="en-US" sz="2200" b="1" dirty="0"/>
          </a:p>
        </p:txBody>
      </p:sp>
      <p:sp>
        <p:nvSpPr>
          <p:cNvPr id="27" name="AutoShape 1047"/>
          <p:cNvSpPr>
            <a:spLocks noChangeArrowheads="1"/>
          </p:cNvSpPr>
          <p:nvPr>
            <p:custDataLst>
              <p:tags r:id="rId23"/>
            </p:custDataLst>
          </p:nvPr>
        </p:nvSpPr>
        <p:spPr bwMode="auto">
          <a:xfrm>
            <a:off x="123396" y="5885571"/>
            <a:ext cx="8824689" cy="892629"/>
          </a:xfrm>
          <a:prstGeom prst="roundRect">
            <a:avLst>
              <a:gd name="adj" fmla="val 12231"/>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gn="just"/>
            <a:r>
              <a:rPr lang="fr-FR" sz="2200" b="1" dirty="0">
                <a:solidFill>
                  <a:srgbClr val="0070C0"/>
                </a:solidFill>
              </a:rPr>
              <a:t>Les programmes d’application utilisent des protocoles de réseau local (LAN) pour transporter les informations</a:t>
            </a:r>
            <a:endParaRPr lang="en-US" sz="2200" b="1" dirty="0" err="1">
              <a:solidFill>
                <a:srgbClr val="0070C0"/>
              </a:solidFill>
            </a:endParaRPr>
          </a:p>
        </p:txBody>
      </p:sp>
      <p:sp>
        <p:nvSpPr>
          <p:cNvPr id="28" name="AutoShape 1047"/>
          <p:cNvSpPr>
            <a:spLocks noChangeArrowheads="1"/>
          </p:cNvSpPr>
          <p:nvPr>
            <p:custDataLst>
              <p:tags r:id="rId24"/>
            </p:custDataLst>
          </p:nvPr>
        </p:nvSpPr>
        <p:spPr bwMode="auto">
          <a:xfrm>
            <a:off x="116112" y="5820229"/>
            <a:ext cx="8824689" cy="965201"/>
          </a:xfrm>
          <a:prstGeom prst="roundRect">
            <a:avLst>
              <a:gd name="adj" fmla="val 12231"/>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gn="just"/>
            <a:r>
              <a:rPr lang="fr-FR" sz="2200" b="1" dirty="0">
                <a:solidFill>
                  <a:srgbClr val="0070C0"/>
                </a:solidFill>
              </a:rPr>
              <a:t>Les protocoles d’accès distant sont utilisés pour négocier  les connexions et assurer le tramage des données des protocoles LAN qui sont envoyées sur des liaisons de réseau étendu (WAN)</a:t>
            </a:r>
            <a:endParaRPr lang="en-US" sz="2200" b="1" dirty="0" err="1">
              <a:solidFill>
                <a:srgbClr val="0070C0"/>
              </a:solidFill>
            </a:endParaRPr>
          </a:p>
        </p:txBody>
      </p:sp>
      <p:sp>
        <p:nvSpPr>
          <p:cNvPr id="29" name="AutoShape 1047"/>
          <p:cNvSpPr>
            <a:spLocks noChangeArrowheads="1"/>
          </p:cNvSpPr>
          <p:nvPr>
            <p:custDataLst>
              <p:tags r:id="rId25"/>
            </p:custDataLst>
          </p:nvPr>
        </p:nvSpPr>
        <p:spPr bwMode="auto">
          <a:xfrm>
            <a:off x="123372" y="5798461"/>
            <a:ext cx="8824689" cy="965201"/>
          </a:xfrm>
          <a:prstGeom prst="roundRect">
            <a:avLst>
              <a:gd name="adj" fmla="val 12231"/>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gn="just"/>
            <a:r>
              <a:rPr lang="fr-FR" sz="2200" b="1" dirty="0">
                <a:solidFill>
                  <a:srgbClr val="0070C0"/>
                </a:solidFill>
              </a:rPr>
              <a:t>Les clients peuvent se connecter au réseau en utilisant des lignes téléphoniques standard, un modem , X.25 ou ATM</a:t>
            </a:r>
            <a:endParaRPr lang="en-US" sz="2200" b="1" dirty="0" err="1">
              <a:solidFill>
                <a:srgbClr val="0070C0"/>
              </a:solidFill>
            </a:endParaRPr>
          </a:p>
        </p:txBody>
      </p:sp>
      <p:sp>
        <p:nvSpPr>
          <p:cNvPr id="30" name="AutoShape 1047"/>
          <p:cNvSpPr>
            <a:spLocks noChangeArrowheads="1"/>
          </p:cNvSpPr>
          <p:nvPr>
            <p:custDataLst>
              <p:tags r:id="rId26"/>
            </p:custDataLst>
          </p:nvPr>
        </p:nvSpPr>
        <p:spPr bwMode="auto">
          <a:xfrm>
            <a:off x="130629" y="5794825"/>
            <a:ext cx="8824689" cy="965201"/>
          </a:xfrm>
          <a:prstGeom prst="roundRect">
            <a:avLst>
              <a:gd name="adj" fmla="val 12231"/>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gn="l"/>
            <a:r>
              <a:rPr lang="fr-FR" sz="2200" b="1" dirty="0">
                <a:solidFill>
                  <a:srgbClr val="0070C0"/>
                </a:solidFill>
              </a:rPr>
              <a:t>Authentifié  l’identité du client et du serveur</a:t>
            </a:r>
            <a:endParaRPr lang="en-US" sz="2200" b="1" dirty="0" err="1">
              <a:solidFill>
                <a:srgbClr val="0070C0"/>
              </a:solidFill>
            </a:endParaRPr>
          </a:p>
        </p:txBody>
      </p:sp>
      <p:sp>
        <p:nvSpPr>
          <p:cNvPr id="31" name="AutoShape 1047"/>
          <p:cNvSpPr>
            <a:spLocks noChangeArrowheads="1"/>
          </p:cNvSpPr>
          <p:nvPr>
            <p:custDataLst>
              <p:tags r:id="rId27"/>
            </p:custDataLst>
          </p:nvPr>
        </p:nvSpPr>
        <p:spPr bwMode="auto">
          <a:xfrm>
            <a:off x="116115" y="5802081"/>
            <a:ext cx="8824689" cy="965201"/>
          </a:xfrm>
          <a:prstGeom prst="roundRect">
            <a:avLst>
              <a:gd name="adj" fmla="val 12231"/>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r>
              <a:rPr lang="fr-FR" sz="2200" b="1" dirty="0">
                <a:solidFill>
                  <a:srgbClr val="0070C0"/>
                </a:solidFill>
              </a:rPr>
              <a:t>Le serveur d’accès distant est responsable de l’attribution d’adresses IP (DHCP). Il affecte également des adresses de serveur DNS </a:t>
            </a:r>
            <a:r>
              <a:rPr lang="en-US" sz="2200" b="1" dirty="0">
                <a:solidFill>
                  <a:srgbClr val="0070C0"/>
                </a:solidFill>
              </a:rPr>
              <a:t>et WINS aux clients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checkerboard(across)">
                                      <p:cBhvr>
                                        <p:cTn id="7" dur="500"/>
                                        <p:tgtEl>
                                          <p:spTgt spid="24"/>
                                        </p:tgtEl>
                                      </p:cBhvr>
                                    </p:animEffect>
                                  </p:childTnLst>
                                </p:cTn>
                              </p:par>
                              <p:par>
                                <p:cTn id="8" presetID="1" presetClass="emph" presetSubtype="2" fill="hold" nodeType="withEffect">
                                  <p:stCondLst>
                                    <p:cond delay="0"/>
                                  </p:stCondLst>
                                  <p:childTnLst>
                                    <p:animClr clrSpc="rgb" dir="cw">
                                      <p:cBhvr>
                                        <p:cTn id="9" dur="2000" fill="hold"/>
                                        <p:tgtEl>
                                          <p:spTgt spid="25"/>
                                        </p:tgtEl>
                                        <p:attrNameLst>
                                          <p:attrName>fillcolor</p:attrName>
                                        </p:attrNameLst>
                                      </p:cBhvr>
                                      <p:to>
                                        <a:srgbClr val="6600FF"/>
                                      </p:to>
                                    </p:animClr>
                                    <p:set>
                                      <p:cBhvr>
                                        <p:cTn id="10" dur="2000" fill="hold"/>
                                        <p:tgtEl>
                                          <p:spTgt spid="25"/>
                                        </p:tgtEl>
                                        <p:attrNameLst>
                                          <p:attrName>fill.type</p:attrName>
                                        </p:attrNameLst>
                                      </p:cBhvr>
                                      <p:to>
                                        <p:strVal val="solid"/>
                                      </p:to>
                                    </p:set>
                                    <p:set>
                                      <p:cBhvr>
                                        <p:cTn id="11" dur="2000" fill="hold"/>
                                        <p:tgtEl>
                                          <p:spTgt spid="25"/>
                                        </p:tgtEl>
                                        <p:attrNameLst>
                                          <p:attrName>fill.on</p:attrName>
                                        </p:attrNameLst>
                                      </p:cBhvr>
                                      <p:to>
                                        <p:strVal val="true"/>
                                      </p:to>
                                    </p:set>
                                  </p:childTnLst>
                                </p:cTn>
                              </p:par>
                              <p:par>
                                <p:cTn id="12" presetID="3" presetClass="emph" presetSubtype="2" fill="hold" grpId="0" nodeType="withEffect">
                                  <p:stCondLst>
                                    <p:cond delay="0"/>
                                  </p:stCondLst>
                                  <p:childTnLst>
                                    <p:animClr clrSpc="rgb" dir="cw">
                                      <p:cBhvr override="childStyle">
                                        <p:cTn id="13" dur="2000" fill="hold"/>
                                        <p:tgtEl>
                                          <p:spTgt spid="25"/>
                                        </p:tgtEl>
                                        <p:attrNameLst>
                                          <p:attrName>style.color</p:attrName>
                                        </p:attrNameLst>
                                      </p:cBhvr>
                                      <p:to>
                                        <a:srgbClr val="CCECFF"/>
                                      </p:to>
                                    </p:animClr>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26"/>
                                        </p:tgtEl>
                                        <p:attrNameLst>
                                          <p:attrName>style.visibility</p:attrName>
                                        </p:attrNameLst>
                                      </p:cBhvr>
                                      <p:to>
                                        <p:strVal val="visible"/>
                                      </p:to>
                                    </p:set>
                                    <p:animEffect transition="in" filter="checkerboard(across)">
                                      <p:cBhvr>
                                        <p:cTn id="18" dur="500"/>
                                        <p:tgtEl>
                                          <p:spTgt spid="26"/>
                                        </p:tgtEl>
                                      </p:cBhvr>
                                    </p:animEffect>
                                  </p:childTnLst>
                                </p:cTn>
                              </p:par>
                              <p:par>
                                <p:cTn id="19" presetID="1" presetClass="emph" presetSubtype="2" fill="hold" nodeType="withEffect">
                                  <p:stCondLst>
                                    <p:cond delay="0"/>
                                  </p:stCondLst>
                                  <p:childTnLst>
                                    <p:animClr clrSpc="rgb" dir="cw">
                                      <p:cBhvr>
                                        <p:cTn id="20" dur="2000" fill="hold"/>
                                        <p:tgtEl>
                                          <p:spTgt spid="25"/>
                                        </p:tgtEl>
                                        <p:attrNameLst>
                                          <p:attrName>fillcolor</p:attrName>
                                        </p:attrNameLst>
                                      </p:cBhvr>
                                      <p:to>
                                        <a:schemeClr val="bg1"/>
                                      </p:to>
                                    </p:animClr>
                                    <p:set>
                                      <p:cBhvr>
                                        <p:cTn id="21" dur="2000" fill="hold"/>
                                        <p:tgtEl>
                                          <p:spTgt spid="25"/>
                                        </p:tgtEl>
                                        <p:attrNameLst>
                                          <p:attrName>fill.type</p:attrName>
                                        </p:attrNameLst>
                                      </p:cBhvr>
                                      <p:to>
                                        <p:strVal val="solid"/>
                                      </p:to>
                                    </p:set>
                                    <p:set>
                                      <p:cBhvr>
                                        <p:cTn id="22" dur="2000" fill="hold"/>
                                        <p:tgtEl>
                                          <p:spTgt spid="25"/>
                                        </p:tgtEl>
                                        <p:attrNameLst>
                                          <p:attrName>fill.on</p:attrName>
                                        </p:attrNameLst>
                                      </p:cBhvr>
                                      <p:to>
                                        <p:strVal val="true"/>
                                      </p:to>
                                    </p:set>
                                  </p:childTnLst>
                                </p:cTn>
                              </p:par>
                              <p:par>
                                <p:cTn id="23" presetID="3" presetClass="emph" presetSubtype="2" fill="hold" grpId="1" nodeType="withEffect">
                                  <p:stCondLst>
                                    <p:cond delay="0"/>
                                  </p:stCondLst>
                                  <p:childTnLst>
                                    <p:animClr clrSpc="rgb" dir="cw">
                                      <p:cBhvr override="childStyle">
                                        <p:cTn id="24" dur="2000" fill="hold"/>
                                        <p:tgtEl>
                                          <p:spTgt spid="25"/>
                                        </p:tgtEl>
                                        <p:attrNameLst>
                                          <p:attrName>style.color</p:attrName>
                                        </p:attrNameLst>
                                      </p:cBhvr>
                                      <p:to>
                                        <a:schemeClr val="tx1"/>
                                      </p:to>
                                    </p:animClr>
                                  </p:childTnLst>
                                </p:cTn>
                              </p:par>
                              <p:par>
                                <p:cTn id="25" presetID="1" presetClass="emph" presetSubtype="2" fill="hold" nodeType="withEffect">
                                  <p:stCondLst>
                                    <p:cond delay="0"/>
                                  </p:stCondLst>
                                  <p:childTnLst>
                                    <p:animClr clrSpc="rgb" dir="cw">
                                      <p:cBhvr>
                                        <p:cTn id="26" dur="2000" fill="hold"/>
                                        <p:tgtEl>
                                          <p:spTgt spid="485428"/>
                                        </p:tgtEl>
                                        <p:attrNameLst>
                                          <p:attrName>fillcolor</p:attrName>
                                        </p:attrNameLst>
                                      </p:cBhvr>
                                      <p:to>
                                        <a:srgbClr val="6600FF"/>
                                      </p:to>
                                    </p:animClr>
                                    <p:set>
                                      <p:cBhvr>
                                        <p:cTn id="27" dur="2000" fill="hold"/>
                                        <p:tgtEl>
                                          <p:spTgt spid="485428"/>
                                        </p:tgtEl>
                                        <p:attrNameLst>
                                          <p:attrName>fill.type</p:attrName>
                                        </p:attrNameLst>
                                      </p:cBhvr>
                                      <p:to>
                                        <p:strVal val="solid"/>
                                      </p:to>
                                    </p:set>
                                    <p:set>
                                      <p:cBhvr>
                                        <p:cTn id="28" dur="2000" fill="hold"/>
                                        <p:tgtEl>
                                          <p:spTgt spid="485428"/>
                                        </p:tgtEl>
                                        <p:attrNameLst>
                                          <p:attrName>fill.on</p:attrName>
                                        </p:attrNameLst>
                                      </p:cBhvr>
                                      <p:to>
                                        <p:strVal val="true"/>
                                      </p:to>
                                    </p:set>
                                  </p:childTnLst>
                                </p:cTn>
                              </p:par>
                              <p:par>
                                <p:cTn id="29" presetID="3" presetClass="emph" presetSubtype="2" fill="hold" grpId="0" nodeType="withEffect">
                                  <p:stCondLst>
                                    <p:cond delay="0"/>
                                  </p:stCondLst>
                                  <p:childTnLst>
                                    <p:animClr clrSpc="rgb" dir="cw">
                                      <p:cBhvr override="childStyle">
                                        <p:cTn id="30" dur="2000" fill="hold"/>
                                        <p:tgtEl>
                                          <p:spTgt spid="485428"/>
                                        </p:tgtEl>
                                        <p:attrNameLst>
                                          <p:attrName>style.color</p:attrName>
                                        </p:attrNameLst>
                                      </p:cBhvr>
                                      <p:to>
                                        <a:srgbClr val="CCECFF"/>
                                      </p:to>
                                    </p:animClr>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checkerboard(across)">
                                      <p:cBhvr>
                                        <p:cTn id="35" dur="500"/>
                                        <p:tgtEl>
                                          <p:spTgt spid="27"/>
                                        </p:tgtEl>
                                      </p:cBhvr>
                                    </p:animEffect>
                                  </p:childTnLst>
                                </p:cTn>
                              </p:par>
                              <p:par>
                                <p:cTn id="36" presetID="1" presetClass="emph" presetSubtype="2" fill="hold" nodeType="withEffect">
                                  <p:stCondLst>
                                    <p:cond delay="0"/>
                                  </p:stCondLst>
                                  <p:childTnLst>
                                    <p:animClr clrSpc="rgb" dir="cw">
                                      <p:cBhvr>
                                        <p:cTn id="37" dur="2000" fill="hold"/>
                                        <p:tgtEl>
                                          <p:spTgt spid="485445"/>
                                        </p:tgtEl>
                                        <p:attrNameLst>
                                          <p:attrName>fillcolor</p:attrName>
                                        </p:attrNameLst>
                                      </p:cBhvr>
                                      <p:to>
                                        <a:srgbClr val="6600FF"/>
                                      </p:to>
                                    </p:animClr>
                                    <p:set>
                                      <p:cBhvr>
                                        <p:cTn id="38" dur="2000" fill="hold"/>
                                        <p:tgtEl>
                                          <p:spTgt spid="485445"/>
                                        </p:tgtEl>
                                        <p:attrNameLst>
                                          <p:attrName>fill.type</p:attrName>
                                        </p:attrNameLst>
                                      </p:cBhvr>
                                      <p:to>
                                        <p:strVal val="solid"/>
                                      </p:to>
                                    </p:set>
                                    <p:set>
                                      <p:cBhvr>
                                        <p:cTn id="39" dur="2000" fill="hold"/>
                                        <p:tgtEl>
                                          <p:spTgt spid="485445"/>
                                        </p:tgtEl>
                                        <p:attrNameLst>
                                          <p:attrName>fill.on</p:attrName>
                                        </p:attrNameLst>
                                      </p:cBhvr>
                                      <p:to>
                                        <p:strVal val="true"/>
                                      </p:to>
                                    </p:set>
                                  </p:childTnLst>
                                </p:cTn>
                              </p:par>
                              <p:par>
                                <p:cTn id="40" presetID="3" presetClass="emph" presetSubtype="2" fill="hold" nodeType="withEffect">
                                  <p:stCondLst>
                                    <p:cond delay="0"/>
                                  </p:stCondLst>
                                  <p:childTnLst>
                                    <p:animClr clrSpc="rgb" dir="cw">
                                      <p:cBhvr override="childStyle">
                                        <p:cTn id="41" dur="2000" fill="hold"/>
                                        <p:tgtEl>
                                          <p:spTgt spid="485445">
                                            <p:txEl>
                                              <p:pRg st="0" end="0"/>
                                            </p:txEl>
                                          </p:spTgt>
                                        </p:tgtEl>
                                        <p:attrNameLst>
                                          <p:attrName>style.color</p:attrName>
                                        </p:attrNameLst>
                                      </p:cBhvr>
                                      <p:to>
                                        <a:srgbClr val="CCECFF"/>
                                      </p:to>
                                    </p:animClr>
                                  </p:childTnLst>
                                </p:cTn>
                              </p:par>
                              <p:par>
                                <p:cTn id="42" presetID="1" presetClass="emph" presetSubtype="2" fill="hold" nodeType="withEffect">
                                  <p:stCondLst>
                                    <p:cond delay="0"/>
                                  </p:stCondLst>
                                  <p:childTnLst>
                                    <p:animClr clrSpc="rgb" dir="cw">
                                      <p:cBhvr>
                                        <p:cTn id="43" dur="2000" fill="hold"/>
                                        <p:tgtEl>
                                          <p:spTgt spid="485428"/>
                                        </p:tgtEl>
                                        <p:attrNameLst>
                                          <p:attrName>fillcolor</p:attrName>
                                        </p:attrNameLst>
                                      </p:cBhvr>
                                      <p:to>
                                        <a:schemeClr val="bg1"/>
                                      </p:to>
                                    </p:animClr>
                                    <p:set>
                                      <p:cBhvr>
                                        <p:cTn id="44" dur="2000" fill="hold"/>
                                        <p:tgtEl>
                                          <p:spTgt spid="485428"/>
                                        </p:tgtEl>
                                        <p:attrNameLst>
                                          <p:attrName>fill.type</p:attrName>
                                        </p:attrNameLst>
                                      </p:cBhvr>
                                      <p:to>
                                        <p:strVal val="solid"/>
                                      </p:to>
                                    </p:set>
                                    <p:set>
                                      <p:cBhvr>
                                        <p:cTn id="45" dur="2000" fill="hold"/>
                                        <p:tgtEl>
                                          <p:spTgt spid="485428"/>
                                        </p:tgtEl>
                                        <p:attrNameLst>
                                          <p:attrName>fill.on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2000" fill="hold"/>
                                        <p:tgtEl>
                                          <p:spTgt spid="485428"/>
                                        </p:tgtEl>
                                        <p:attrNameLst>
                                          <p:attrName>style.color</p:attrName>
                                        </p:attrNameLst>
                                      </p:cBhvr>
                                      <p:to>
                                        <a:schemeClr val="tx1"/>
                                      </p:to>
                                    </p:animClr>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checkerboard(across)">
                                      <p:cBhvr>
                                        <p:cTn id="52" dur="500"/>
                                        <p:tgtEl>
                                          <p:spTgt spid="28"/>
                                        </p:tgtEl>
                                      </p:cBhvr>
                                    </p:animEffect>
                                  </p:childTnLst>
                                </p:cTn>
                              </p:par>
                              <p:par>
                                <p:cTn id="53" presetID="3" presetClass="emph" presetSubtype="2" fill="hold" nodeType="withEffect">
                                  <p:stCondLst>
                                    <p:cond delay="0"/>
                                  </p:stCondLst>
                                  <p:childTnLst>
                                    <p:animClr clrSpc="rgb" dir="cw">
                                      <p:cBhvr override="childStyle">
                                        <p:cTn id="54" dur="2000" fill="hold"/>
                                        <p:tgtEl>
                                          <p:spTgt spid="485445">
                                            <p:txEl>
                                              <p:pRg st="0" end="0"/>
                                            </p:txEl>
                                          </p:spTgt>
                                        </p:tgtEl>
                                        <p:attrNameLst>
                                          <p:attrName>style.color</p:attrName>
                                        </p:attrNameLst>
                                      </p:cBhvr>
                                      <p:to>
                                        <a:schemeClr val="tx1"/>
                                      </p:to>
                                    </p:animClr>
                                  </p:childTnLst>
                                </p:cTn>
                              </p:par>
                              <p:par>
                                <p:cTn id="55" presetID="3" presetClass="emph" presetSubtype="2" fill="hold" nodeType="withEffect">
                                  <p:stCondLst>
                                    <p:cond delay="0"/>
                                  </p:stCondLst>
                                  <p:childTnLst>
                                    <p:animClr clrSpc="rgb" dir="cw">
                                      <p:cBhvr override="childStyle">
                                        <p:cTn id="56" dur="2000" fill="hold"/>
                                        <p:tgtEl>
                                          <p:spTgt spid="485445">
                                            <p:txEl>
                                              <p:pRg st="1" end="1"/>
                                            </p:txEl>
                                          </p:spTgt>
                                        </p:tgtEl>
                                        <p:attrNameLst>
                                          <p:attrName>style.color</p:attrName>
                                        </p:attrNameLst>
                                      </p:cBhvr>
                                      <p:to>
                                        <a:srgbClr val="CCECFF"/>
                                      </p:to>
                                    </p:animClr>
                                  </p:childTnLst>
                                </p:cTn>
                              </p:par>
                            </p:childTnLst>
                          </p:cTn>
                        </p:par>
                      </p:childTnLst>
                    </p:cTn>
                  </p:par>
                  <p:par>
                    <p:cTn id="57" fill="hold">
                      <p:stCondLst>
                        <p:cond delay="indefinite"/>
                      </p:stCondLst>
                      <p:childTnLst>
                        <p:par>
                          <p:cTn id="58" fill="hold">
                            <p:stCondLst>
                              <p:cond delay="0"/>
                            </p:stCondLst>
                            <p:childTnLst>
                              <p:par>
                                <p:cTn id="59" presetID="5" presetClass="entr" presetSubtype="10" fill="hold" grpId="0" nodeType="clickEffect">
                                  <p:stCondLst>
                                    <p:cond delay="0"/>
                                  </p:stCondLst>
                                  <p:childTnLst>
                                    <p:set>
                                      <p:cBhvr>
                                        <p:cTn id="60" dur="1" fill="hold">
                                          <p:stCondLst>
                                            <p:cond delay="0"/>
                                          </p:stCondLst>
                                        </p:cTn>
                                        <p:tgtEl>
                                          <p:spTgt spid="29"/>
                                        </p:tgtEl>
                                        <p:attrNameLst>
                                          <p:attrName>style.visibility</p:attrName>
                                        </p:attrNameLst>
                                      </p:cBhvr>
                                      <p:to>
                                        <p:strVal val="visible"/>
                                      </p:to>
                                    </p:set>
                                    <p:animEffect transition="in" filter="checkerboard(across)">
                                      <p:cBhvr>
                                        <p:cTn id="61" dur="500"/>
                                        <p:tgtEl>
                                          <p:spTgt spid="29"/>
                                        </p:tgtEl>
                                      </p:cBhvr>
                                    </p:animEffect>
                                  </p:childTnLst>
                                </p:cTn>
                              </p:par>
                              <p:par>
                                <p:cTn id="62" presetID="3" presetClass="emph" presetSubtype="2" fill="hold" nodeType="withEffect">
                                  <p:stCondLst>
                                    <p:cond delay="0"/>
                                  </p:stCondLst>
                                  <p:childTnLst>
                                    <p:animClr clrSpc="rgb" dir="cw">
                                      <p:cBhvr override="childStyle">
                                        <p:cTn id="63" dur="2000" fill="hold"/>
                                        <p:tgtEl>
                                          <p:spTgt spid="485445">
                                            <p:txEl>
                                              <p:pRg st="1" end="1"/>
                                            </p:txEl>
                                          </p:spTgt>
                                        </p:tgtEl>
                                        <p:attrNameLst>
                                          <p:attrName>style.color</p:attrName>
                                        </p:attrNameLst>
                                      </p:cBhvr>
                                      <p:to>
                                        <a:schemeClr val="tx1"/>
                                      </p:to>
                                    </p:animClr>
                                  </p:childTnLst>
                                </p:cTn>
                              </p:par>
                              <p:par>
                                <p:cTn id="64" presetID="1" presetClass="emph" presetSubtype="2" fill="hold" nodeType="withEffect">
                                  <p:stCondLst>
                                    <p:cond delay="0"/>
                                  </p:stCondLst>
                                  <p:childTnLst>
                                    <p:animClr clrSpc="rgb" dir="cw">
                                      <p:cBhvr>
                                        <p:cTn id="65" dur="2000" fill="hold"/>
                                        <p:tgtEl>
                                          <p:spTgt spid="485445"/>
                                        </p:tgtEl>
                                        <p:attrNameLst>
                                          <p:attrName>fillcolor</p:attrName>
                                        </p:attrNameLst>
                                      </p:cBhvr>
                                      <p:to>
                                        <a:schemeClr val="bg1"/>
                                      </p:to>
                                    </p:animClr>
                                    <p:set>
                                      <p:cBhvr>
                                        <p:cTn id="66" dur="2000" fill="hold"/>
                                        <p:tgtEl>
                                          <p:spTgt spid="485445"/>
                                        </p:tgtEl>
                                        <p:attrNameLst>
                                          <p:attrName>fill.type</p:attrName>
                                        </p:attrNameLst>
                                      </p:cBhvr>
                                      <p:to>
                                        <p:strVal val="solid"/>
                                      </p:to>
                                    </p:set>
                                    <p:set>
                                      <p:cBhvr>
                                        <p:cTn id="67" dur="2000" fill="hold"/>
                                        <p:tgtEl>
                                          <p:spTgt spid="485445"/>
                                        </p:tgtEl>
                                        <p:attrNameLst>
                                          <p:attrName>fill.on</p:attrName>
                                        </p:attrNameLst>
                                      </p:cBhvr>
                                      <p:to>
                                        <p:strVal val="true"/>
                                      </p:to>
                                    </p:set>
                                  </p:childTnLst>
                                </p:cTn>
                              </p:par>
                              <p:par>
                                <p:cTn id="68" presetID="1" presetClass="emph" presetSubtype="2" fill="hold" nodeType="withEffect">
                                  <p:stCondLst>
                                    <p:cond delay="0"/>
                                  </p:stCondLst>
                                  <p:childTnLst>
                                    <p:animClr clrSpc="rgb" dir="cw">
                                      <p:cBhvr>
                                        <p:cTn id="69" dur="2000" fill="hold"/>
                                        <p:tgtEl>
                                          <p:spTgt spid="485443"/>
                                        </p:tgtEl>
                                        <p:attrNameLst>
                                          <p:attrName>fillcolor</p:attrName>
                                        </p:attrNameLst>
                                      </p:cBhvr>
                                      <p:to>
                                        <a:srgbClr val="6600FF"/>
                                      </p:to>
                                    </p:animClr>
                                    <p:set>
                                      <p:cBhvr>
                                        <p:cTn id="70" dur="2000" fill="hold"/>
                                        <p:tgtEl>
                                          <p:spTgt spid="485443"/>
                                        </p:tgtEl>
                                        <p:attrNameLst>
                                          <p:attrName>fill.type</p:attrName>
                                        </p:attrNameLst>
                                      </p:cBhvr>
                                      <p:to>
                                        <p:strVal val="solid"/>
                                      </p:to>
                                    </p:set>
                                    <p:set>
                                      <p:cBhvr>
                                        <p:cTn id="71" dur="2000" fill="hold"/>
                                        <p:tgtEl>
                                          <p:spTgt spid="485443"/>
                                        </p:tgtEl>
                                        <p:attrNameLst>
                                          <p:attrName>fill.on</p:attrName>
                                        </p:attrNameLst>
                                      </p:cBhvr>
                                      <p:to>
                                        <p:strVal val="true"/>
                                      </p:to>
                                    </p:set>
                                  </p:childTnLst>
                                </p:cTn>
                              </p:par>
                              <p:par>
                                <p:cTn id="72" presetID="3" presetClass="emph" presetSubtype="2" fill="hold" nodeType="withEffect">
                                  <p:stCondLst>
                                    <p:cond delay="0"/>
                                  </p:stCondLst>
                                  <p:childTnLst>
                                    <p:animClr clrSpc="rgb" dir="cw">
                                      <p:cBhvr override="childStyle">
                                        <p:cTn id="73" dur="2000" fill="hold"/>
                                        <p:tgtEl>
                                          <p:spTgt spid="485443">
                                            <p:txEl>
                                              <p:pRg st="0" end="0"/>
                                            </p:txEl>
                                          </p:spTgt>
                                        </p:tgtEl>
                                        <p:attrNameLst>
                                          <p:attrName>style.color</p:attrName>
                                        </p:attrNameLst>
                                      </p:cBhvr>
                                      <p:to>
                                        <a:srgbClr val="CCECFF"/>
                                      </p:to>
                                    </p:animClr>
                                  </p:childTnLst>
                                </p:cTn>
                              </p:par>
                            </p:childTnLst>
                          </p:cTn>
                        </p:par>
                      </p:childTnLst>
                    </p:cTn>
                  </p:par>
                  <p:par>
                    <p:cTn id="74" fill="hold">
                      <p:stCondLst>
                        <p:cond delay="indefinite"/>
                      </p:stCondLst>
                      <p:childTnLst>
                        <p:par>
                          <p:cTn id="75" fill="hold">
                            <p:stCondLst>
                              <p:cond delay="0"/>
                            </p:stCondLst>
                            <p:childTnLst>
                              <p:par>
                                <p:cTn id="76" presetID="5" presetClass="entr" presetSubtype="10" fill="hold" grpId="0" nodeType="click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checkerboard(across)">
                                      <p:cBhvr>
                                        <p:cTn id="78" dur="500"/>
                                        <p:tgtEl>
                                          <p:spTgt spid="30"/>
                                        </p:tgtEl>
                                      </p:cBhvr>
                                    </p:animEffect>
                                  </p:childTnLst>
                                </p:cTn>
                              </p:par>
                              <p:par>
                                <p:cTn id="79" presetID="3" presetClass="emph" presetSubtype="2" fill="hold" nodeType="withEffect">
                                  <p:stCondLst>
                                    <p:cond delay="0"/>
                                  </p:stCondLst>
                                  <p:childTnLst>
                                    <p:animClr clrSpc="rgb" dir="cw">
                                      <p:cBhvr override="childStyle">
                                        <p:cTn id="80" dur="2000" fill="hold"/>
                                        <p:tgtEl>
                                          <p:spTgt spid="485434">
                                            <p:txEl>
                                              <p:pRg st="0" end="0"/>
                                            </p:txEl>
                                          </p:spTgt>
                                        </p:tgtEl>
                                        <p:attrNameLst>
                                          <p:attrName>style.color</p:attrName>
                                        </p:attrNameLst>
                                      </p:cBhvr>
                                      <p:to>
                                        <a:srgbClr val="CCECFF"/>
                                      </p:to>
                                    </p:animClr>
                                  </p:childTnLst>
                                </p:cTn>
                              </p:par>
                              <p:par>
                                <p:cTn id="81" presetID="1" presetClass="emph" presetSubtype="2" fill="hold" nodeType="withEffect">
                                  <p:stCondLst>
                                    <p:cond delay="0"/>
                                  </p:stCondLst>
                                  <p:childTnLst>
                                    <p:animClr clrSpc="rgb" dir="cw">
                                      <p:cBhvr>
                                        <p:cTn id="82" dur="2000" fill="hold"/>
                                        <p:tgtEl>
                                          <p:spTgt spid="485434"/>
                                        </p:tgtEl>
                                        <p:attrNameLst>
                                          <p:attrName>fillcolor</p:attrName>
                                        </p:attrNameLst>
                                      </p:cBhvr>
                                      <p:to>
                                        <a:srgbClr val="6600FF"/>
                                      </p:to>
                                    </p:animClr>
                                    <p:set>
                                      <p:cBhvr>
                                        <p:cTn id="83" dur="2000" fill="hold"/>
                                        <p:tgtEl>
                                          <p:spTgt spid="485434"/>
                                        </p:tgtEl>
                                        <p:attrNameLst>
                                          <p:attrName>fill.type</p:attrName>
                                        </p:attrNameLst>
                                      </p:cBhvr>
                                      <p:to>
                                        <p:strVal val="solid"/>
                                      </p:to>
                                    </p:set>
                                    <p:set>
                                      <p:cBhvr>
                                        <p:cTn id="84" dur="2000" fill="hold"/>
                                        <p:tgtEl>
                                          <p:spTgt spid="485434"/>
                                        </p:tgtEl>
                                        <p:attrNameLst>
                                          <p:attrName>fill.on</p:attrName>
                                        </p:attrNameLst>
                                      </p:cBhvr>
                                      <p:to>
                                        <p:strVal val="true"/>
                                      </p:to>
                                    </p:set>
                                  </p:childTnLst>
                                </p:cTn>
                              </p:par>
                              <p:par>
                                <p:cTn id="85" presetID="1" presetClass="emph" presetSubtype="2" fill="hold" nodeType="withEffect">
                                  <p:stCondLst>
                                    <p:cond delay="0"/>
                                  </p:stCondLst>
                                  <p:childTnLst>
                                    <p:animClr clrSpc="rgb" dir="cw">
                                      <p:cBhvr>
                                        <p:cTn id="86" dur="2000" fill="hold"/>
                                        <p:tgtEl>
                                          <p:spTgt spid="485443"/>
                                        </p:tgtEl>
                                        <p:attrNameLst>
                                          <p:attrName>fillcolor</p:attrName>
                                        </p:attrNameLst>
                                      </p:cBhvr>
                                      <p:to>
                                        <a:schemeClr val="bg1"/>
                                      </p:to>
                                    </p:animClr>
                                    <p:set>
                                      <p:cBhvr>
                                        <p:cTn id="87" dur="2000" fill="hold"/>
                                        <p:tgtEl>
                                          <p:spTgt spid="485443"/>
                                        </p:tgtEl>
                                        <p:attrNameLst>
                                          <p:attrName>fill.type</p:attrName>
                                        </p:attrNameLst>
                                      </p:cBhvr>
                                      <p:to>
                                        <p:strVal val="solid"/>
                                      </p:to>
                                    </p:set>
                                    <p:set>
                                      <p:cBhvr>
                                        <p:cTn id="88" dur="2000" fill="hold"/>
                                        <p:tgtEl>
                                          <p:spTgt spid="485443"/>
                                        </p:tgtEl>
                                        <p:attrNameLst>
                                          <p:attrName>fill.on</p:attrName>
                                        </p:attrNameLst>
                                      </p:cBhvr>
                                      <p:to>
                                        <p:strVal val="true"/>
                                      </p:to>
                                    </p:set>
                                  </p:childTnLst>
                                </p:cTn>
                              </p:par>
                              <p:par>
                                <p:cTn id="89" presetID="3" presetClass="emph" presetSubtype="2" fill="hold" nodeType="withEffect">
                                  <p:stCondLst>
                                    <p:cond delay="0"/>
                                  </p:stCondLst>
                                  <p:childTnLst>
                                    <p:animClr clrSpc="rgb" dir="cw">
                                      <p:cBhvr override="childStyle">
                                        <p:cTn id="90" dur="2000" fill="hold"/>
                                        <p:tgtEl>
                                          <p:spTgt spid="485443">
                                            <p:txEl>
                                              <p:pRg st="0" end="0"/>
                                            </p:txEl>
                                          </p:spTgt>
                                        </p:tgtEl>
                                        <p:attrNameLst>
                                          <p:attrName>style.color</p:attrName>
                                        </p:attrNameLst>
                                      </p:cBhvr>
                                      <p:to>
                                        <a:schemeClr val="tx1"/>
                                      </p:to>
                                    </p:animClr>
                                  </p:childTnLst>
                                </p:cTn>
                              </p:par>
                            </p:childTnLst>
                          </p:cTn>
                        </p:par>
                      </p:childTnLst>
                    </p:cTn>
                  </p:par>
                  <p:par>
                    <p:cTn id="91" fill="hold">
                      <p:stCondLst>
                        <p:cond delay="indefinite"/>
                      </p:stCondLst>
                      <p:childTnLst>
                        <p:par>
                          <p:cTn id="92" fill="hold">
                            <p:stCondLst>
                              <p:cond delay="0"/>
                            </p:stCondLst>
                            <p:childTnLst>
                              <p:par>
                                <p:cTn id="93" presetID="5" presetClass="entr" presetSubtype="10" fill="hold" grpId="0" nodeType="click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checkerboard(across)">
                                      <p:cBhvr>
                                        <p:cTn id="95" dur="500"/>
                                        <p:tgtEl>
                                          <p:spTgt spid="31"/>
                                        </p:tgtEl>
                                      </p:cBhvr>
                                    </p:animEffect>
                                  </p:childTnLst>
                                </p:cTn>
                              </p:par>
                              <p:par>
                                <p:cTn id="96" presetID="1" presetClass="emph" presetSubtype="2" fill="hold" nodeType="withEffect">
                                  <p:stCondLst>
                                    <p:cond delay="0"/>
                                  </p:stCondLst>
                                  <p:childTnLst>
                                    <p:animClr clrSpc="rgb" dir="cw">
                                      <p:cBhvr>
                                        <p:cTn id="97" dur="2000" fill="hold"/>
                                        <p:tgtEl>
                                          <p:spTgt spid="485434"/>
                                        </p:tgtEl>
                                        <p:attrNameLst>
                                          <p:attrName>fillcolor</p:attrName>
                                        </p:attrNameLst>
                                      </p:cBhvr>
                                      <p:to>
                                        <a:schemeClr val="bg1"/>
                                      </p:to>
                                    </p:animClr>
                                    <p:set>
                                      <p:cBhvr>
                                        <p:cTn id="98" dur="2000" fill="hold"/>
                                        <p:tgtEl>
                                          <p:spTgt spid="485434"/>
                                        </p:tgtEl>
                                        <p:attrNameLst>
                                          <p:attrName>fill.type</p:attrName>
                                        </p:attrNameLst>
                                      </p:cBhvr>
                                      <p:to>
                                        <p:strVal val="solid"/>
                                      </p:to>
                                    </p:set>
                                    <p:set>
                                      <p:cBhvr>
                                        <p:cTn id="99" dur="2000" fill="hold"/>
                                        <p:tgtEl>
                                          <p:spTgt spid="485434"/>
                                        </p:tgtEl>
                                        <p:attrNameLst>
                                          <p:attrName>fill.on</p:attrName>
                                        </p:attrNameLst>
                                      </p:cBhvr>
                                      <p:to>
                                        <p:strVal val="true"/>
                                      </p:to>
                                    </p:set>
                                  </p:childTnLst>
                                </p:cTn>
                              </p:par>
                              <p:par>
                                <p:cTn id="100" presetID="3" presetClass="emph" presetSubtype="2" fill="hold" grpId="0" nodeType="withEffect">
                                  <p:stCondLst>
                                    <p:cond delay="0"/>
                                  </p:stCondLst>
                                  <p:childTnLst>
                                    <p:animClr clrSpc="rgb" dir="cw">
                                      <p:cBhvr override="childStyle">
                                        <p:cTn id="101" dur="2000" fill="hold"/>
                                        <p:tgtEl>
                                          <p:spTgt spid="485434">
                                            <p:txEl>
                                              <p:pRg st="0" end="0"/>
                                            </p:txEl>
                                          </p:spTgt>
                                        </p:tgtEl>
                                        <p:attrNameLst>
                                          <p:attrName>style.color</p:attrName>
                                        </p:attrNameLst>
                                      </p:cBhvr>
                                      <p:to>
                                        <a:schemeClr val="tx1"/>
                                      </p:to>
                                    </p:animClr>
                                  </p:childTnLst>
                                </p:cTn>
                              </p:par>
                              <p:par>
                                <p:cTn id="102" presetID="1" presetClass="emph" presetSubtype="2" fill="hold" nodeType="withEffect">
                                  <p:stCondLst>
                                    <p:cond delay="0"/>
                                  </p:stCondLst>
                                  <p:childTnLst>
                                    <p:animClr clrSpc="rgb" dir="cw">
                                      <p:cBhvr>
                                        <p:cTn id="103" dur="2000" fill="hold"/>
                                        <p:tgtEl>
                                          <p:spTgt spid="485430"/>
                                        </p:tgtEl>
                                        <p:attrNameLst>
                                          <p:attrName>fillcolor</p:attrName>
                                        </p:attrNameLst>
                                      </p:cBhvr>
                                      <p:to>
                                        <a:srgbClr val="6600FF"/>
                                      </p:to>
                                    </p:animClr>
                                    <p:set>
                                      <p:cBhvr>
                                        <p:cTn id="104" dur="2000" fill="hold"/>
                                        <p:tgtEl>
                                          <p:spTgt spid="485430"/>
                                        </p:tgtEl>
                                        <p:attrNameLst>
                                          <p:attrName>fill.type</p:attrName>
                                        </p:attrNameLst>
                                      </p:cBhvr>
                                      <p:to>
                                        <p:strVal val="solid"/>
                                      </p:to>
                                    </p:set>
                                    <p:set>
                                      <p:cBhvr>
                                        <p:cTn id="105" dur="2000" fill="hold"/>
                                        <p:tgtEl>
                                          <p:spTgt spid="485430"/>
                                        </p:tgtEl>
                                        <p:attrNameLst>
                                          <p:attrName>fill.on</p:attrName>
                                        </p:attrNameLst>
                                      </p:cBhvr>
                                      <p:to>
                                        <p:strVal val="true"/>
                                      </p:to>
                                    </p:set>
                                  </p:childTnLst>
                                </p:cTn>
                              </p:par>
                              <p:par>
                                <p:cTn id="106" presetID="3" presetClass="emph" presetSubtype="2" fill="hold" grpId="0" nodeType="withEffect">
                                  <p:stCondLst>
                                    <p:cond delay="0"/>
                                  </p:stCondLst>
                                  <p:childTnLst>
                                    <p:animClr clrSpc="rgb" dir="cw">
                                      <p:cBhvr override="childStyle">
                                        <p:cTn id="107" dur="2000" fill="hold"/>
                                        <p:tgtEl>
                                          <p:spTgt spid="485430"/>
                                        </p:tgtEl>
                                        <p:attrNameLst>
                                          <p:attrName>style.color</p:attrName>
                                        </p:attrNameLst>
                                      </p:cBhvr>
                                      <p:to>
                                        <a:srgbClr val="CCECFF"/>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5430" grpId="0" animBg="1"/>
      <p:bldP spid="485434" grpId="0" build="allAtOnce"/>
      <p:bldP spid="24" grpId="0" animBg="1"/>
      <p:bldP spid="25" grpId="0" animBg="1"/>
      <p:bldP spid="25" grpId="1" animBg="1"/>
      <p:bldP spid="26" grpId="0" animBg="1"/>
      <p:bldP spid="485428" grpId="0" animBg="1"/>
      <p:bldP spid="485428" grpId="1" animBg="1"/>
      <p:bldP spid="27" grpId="0" animBg="1"/>
      <p:bldP spid="28" grpId="0" animBg="1"/>
      <p:bldP spid="29" grpId="0" animBg="1"/>
      <p:bldP spid="30" grpId="0" animBg="1"/>
      <p:bldP spid="3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5" name="Rectangle 7"/>
          <p:cNvSpPr>
            <a:spLocks noGrp="1" noChangeArrowheads="1"/>
          </p:cNvSpPr>
          <p:nvPr>
            <p:ph type="title"/>
            <p:custDataLst>
              <p:tags r:id="rId1"/>
            </p:custDataLst>
          </p:nvPr>
        </p:nvSpPr>
        <p:spPr/>
        <p:txBody>
          <a:bodyPr vert="horz" anchor="b">
            <a:normAutofit fontScale="90000"/>
          </a:bodyPr>
          <a:lstStyle/>
          <a:p>
            <a:r>
              <a:rPr lang="fr-FR" sz="2800" dirty="0">
                <a:solidFill>
                  <a:srgbClr val="C00000"/>
                </a:solidFill>
              </a:rPr>
              <a:t>Méthodes d'authentification disponibles pour une connexion d'accès à distance</a:t>
            </a:r>
            <a:endParaRPr sz="2800" dirty="0">
              <a:solidFill>
                <a:srgbClr val="C00000"/>
              </a:solidFill>
            </a:endParaRPr>
          </a:p>
        </p:txBody>
      </p:sp>
      <p:sp>
        <p:nvSpPr>
          <p:cNvPr id="391205" name="Oval 37"/>
          <p:cNvSpPr>
            <a:spLocks noGrp="1" noChangeArrowheads="1"/>
          </p:cNvSpPr>
          <p:nvPr>
            <p:ph sz="quarter" idx="1"/>
            <p:custDataLst>
              <p:tags r:id="rId2"/>
            </p:custDataLst>
          </p:nvPr>
        </p:nvSpPr>
        <p:spPr>
          <a:xfrm>
            <a:off x="974725" y="2318005"/>
            <a:ext cx="7156450" cy="2824162"/>
          </a:xfrm>
          <a:prstGeom prst="ellipse">
            <a:avLst/>
          </a:prstGeom>
          <a:gradFill rotWithShape="1">
            <a:gsLst>
              <a:gs pos="0">
                <a:srgbClr val="CFE1C2"/>
              </a:gs>
              <a:gs pos="100000">
                <a:srgbClr val="FFFFFF"/>
              </a:gs>
            </a:gsLst>
            <a:lin ang="5400000" scaled="1"/>
          </a:gradFill>
          <a:ln/>
        </p:spPr>
        <p:txBody>
          <a:bodyPr/>
          <a:lstStyle/>
          <a:p>
            <a:pPr marL="342900" indent="-342900"/>
            <a:endParaRPr lang="en-US"/>
          </a:p>
          <a:p>
            <a:pPr marL="342900" indent="-342900"/>
            <a:endParaRPr lang="en-US"/>
          </a:p>
          <a:p>
            <a:pPr marL="342900" indent="-342900"/>
            <a:endParaRPr lang="en-US"/>
          </a:p>
        </p:txBody>
      </p:sp>
      <p:pic>
        <p:nvPicPr>
          <p:cNvPr id="391207" name="Picture 39" descr="Server01"/>
          <p:cNvPicPr>
            <a:picLocks noChangeAspect="1" noChangeArrowheads="1"/>
          </p:cNvPicPr>
          <p:nvPr/>
        </p:nvPicPr>
        <p:blipFill>
          <a:blip r:embed="rId11" cstate="print"/>
          <a:srcRect/>
          <a:stretch>
            <a:fillRect/>
          </a:stretch>
        </p:blipFill>
        <p:spPr bwMode="auto">
          <a:xfrm>
            <a:off x="2524125" y="2770442"/>
            <a:ext cx="1293813" cy="1524000"/>
          </a:xfrm>
          <a:prstGeom prst="rect">
            <a:avLst/>
          </a:prstGeom>
          <a:noFill/>
        </p:spPr>
      </p:pic>
      <p:sp>
        <p:nvSpPr>
          <p:cNvPr id="391208" name="Text Box 40"/>
          <p:cNvSpPr txBox="1">
            <a:spLocks noChangeArrowheads="1"/>
          </p:cNvSpPr>
          <p:nvPr>
            <p:custDataLst>
              <p:tags r:id="rId3"/>
            </p:custDataLst>
          </p:nvPr>
        </p:nvSpPr>
        <p:spPr bwMode="auto">
          <a:xfrm>
            <a:off x="1274763" y="3348292"/>
            <a:ext cx="1125629" cy="1200329"/>
          </a:xfrm>
          <a:prstGeom prst="rect">
            <a:avLst/>
          </a:prstGeom>
          <a:noFill/>
          <a:ln w="9525" algn="ctr">
            <a:noFill/>
            <a:miter lim="800000"/>
            <a:headEnd/>
            <a:tailEnd/>
          </a:ln>
          <a:effectLst/>
        </p:spPr>
        <p:txBody>
          <a:bodyPr wrap="none">
            <a:spAutoFit/>
          </a:bodyPr>
          <a:lstStyle/>
          <a:p>
            <a:r>
              <a:rPr lang="en-GB" sz="2400" b="1" dirty="0" err="1">
                <a:solidFill>
                  <a:srgbClr val="000000"/>
                </a:solidFill>
              </a:rPr>
              <a:t>Serveur</a:t>
            </a:r>
            <a:br>
              <a:rPr lang="en-GB" sz="2400" b="1" dirty="0">
                <a:solidFill>
                  <a:srgbClr val="000000"/>
                </a:solidFill>
              </a:rPr>
            </a:br>
            <a:r>
              <a:rPr lang="en-GB" sz="2400" b="1" dirty="0" err="1">
                <a:solidFill>
                  <a:srgbClr val="000000"/>
                </a:solidFill>
              </a:rPr>
              <a:t>d'accès</a:t>
            </a:r>
            <a:br>
              <a:rPr lang="en-GB" sz="2400" b="1" dirty="0">
                <a:solidFill>
                  <a:srgbClr val="000000"/>
                </a:solidFill>
              </a:rPr>
            </a:br>
            <a:r>
              <a:rPr lang="en-GB" sz="2400" b="1" dirty="0">
                <a:solidFill>
                  <a:srgbClr val="000000"/>
                </a:solidFill>
              </a:rPr>
              <a:t>distant</a:t>
            </a:r>
            <a:endParaRPr lang="en-US" sz="2400" b="1" dirty="0"/>
          </a:p>
        </p:txBody>
      </p:sp>
      <p:pic>
        <p:nvPicPr>
          <p:cNvPr id="391210" name="Picture 42" descr="Laptop"/>
          <p:cNvPicPr>
            <a:picLocks noChangeAspect="1" noChangeArrowheads="1"/>
          </p:cNvPicPr>
          <p:nvPr>
            <p:custDataLst>
              <p:tags r:id="rId4"/>
            </p:custDataLst>
          </p:nvPr>
        </p:nvPicPr>
        <p:blipFill>
          <a:blip r:embed="rId12" cstate="print"/>
          <a:srcRect/>
          <a:stretch>
            <a:fillRect/>
          </a:stretch>
        </p:blipFill>
        <p:spPr bwMode="auto">
          <a:xfrm>
            <a:off x="5321300" y="3019680"/>
            <a:ext cx="1035050" cy="1171575"/>
          </a:xfrm>
          <a:prstGeom prst="rect">
            <a:avLst/>
          </a:prstGeom>
          <a:noFill/>
        </p:spPr>
      </p:pic>
      <p:pic>
        <p:nvPicPr>
          <p:cNvPr id="391211" name="Picture 43" descr="UserInteract"/>
          <p:cNvPicPr>
            <a:picLocks noChangeAspect="1" noChangeArrowheads="1"/>
          </p:cNvPicPr>
          <p:nvPr>
            <p:custDataLst>
              <p:tags r:id="rId5"/>
            </p:custDataLst>
          </p:nvPr>
        </p:nvPicPr>
        <p:blipFill>
          <a:blip r:embed="rId13"/>
          <a:srcRect/>
          <a:stretch>
            <a:fillRect/>
          </a:stretch>
        </p:blipFill>
        <p:spPr bwMode="auto">
          <a:xfrm>
            <a:off x="5997575" y="3005392"/>
            <a:ext cx="801688" cy="1368425"/>
          </a:xfrm>
          <a:prstGeom prst="rect">
            <a:avLst/>
          </a:prstGeom>
          <a:noFill/>
        </p:spPr>
      </p:pic>
      <p:sp>
        <p:nvSpPr>
          <p:cNvPr id="391212" name="Text Box 44"/>
          <p:cNvSpPr txBox="1">
            <a:spLocks noChangeArrowheads="1"/>
          </p:cNvSpPr>
          <p:nvPr>
            <p:custDataLst>
              <p:tags r:id="rId6"/>
            </p:custDataLst>
          </p:nvPr>
        </p:nvSpPr>
        <p:spPr bwMode="auto">
          <a:xfrm>
            <a:off x="6586538" y="3472117"/>
            <a:ext cx="1519237" cy="1200329"/>
          </a:xfrm>
          <a:prstGeom prst="rect">
            <a:avLst/>
          </a:prstGeom>
          <a:noFill/>
          <a:ln w="9525" algn="ctr">
            <a:noFill/>
            <a:miter lim="800000"/>
            <a:headEnd/>
            <a:tailEnd/>
          </a:ln>
          <a:effectLst/>
        </p:spPr>
        <p:txBody>
          <a:bodyPr>
            <a:spAutoFit/>
          </a:bodyPr>
          <a:lstStyle/>
          <a:p>
            <a:r>
              <a:rPr lang="en-GB" sz="2400" b="1" dirty="0" err="1">
                <a:solidFill>
                  <a:srgbClr val="000000"/>
                </a:solidFill>
              </a:rPr>
              <a:t>Utilisateur</a:t>
            </a:r>
            <a:r>
              <a:rPr lang="en-GB" sz="2400" b="1" dirty="0">
                <a:solidFill>
                  <a:srgbClr val="000000"/>
                </a:solidFill>
              </a:rPr>
              <a:t> </a:t>
            </a:r>
            <a:r>
              <a:rPr lang="en-GB" sz="2400" b="1" dirty="0" err="1">
                <a:solidFill>
                  <a:srgbClr val="000000"/>
                </a:solidFill>
              </a:rPr>
              <a:t>d'accès</a:t>
            </a:r>
            <a:r>
              <a:rPr lang="en-GB" sz="2400" b="1" dirty="0">
                <a:solidFill>
                  <a:srgbClr val="000000"/>
                </a:solidFill>
              </a:rPr>
              <a:t> distant</a:t>
            </a:r>
            <a:endParaRPr lang="en-US" sz="2400" b="1" dirty="0"/>
          </a:p>
        </p:txBody>
      </p:sp>
      <p:sp>
        <p:nvSpPr>
          <p:cNvPr id="391213" name="Oval 45"/>
          <p:cNvSpPr>
            <a:spLocks noChangeArrowheads="1"/>
          </p:cNvSpPr>
          <p:nvPr/>
        </p:nvSpPr>
        <p:spPr bwMode="auto">
          <a:xfrm flipH="1">
            <a:off x="4400550" y="3768980"/>
            <a:ext cx="971550" cy="525462"/>
          </a:xfrm>
          <a:prstGeom prst="ellipse">
            <a:avLst/>
          </a:prstGeom>
          <a:solidFill>
            <a:srgbClr val="C0C0C0"/>
          </a:solidFill>
          <a:ln w="9525">
            <a:noFill/>
            <a:round/>
            <a:headEnd/>
            <a:tailEnd/>
          </a:ln>
          <a:effectLst/>
        </p:spPr>
        <p:txBody>
          <a:bodyPr wrap="none" anchor="ctr"/>
          <a:lstStyle/>
          <a:p>
            <a:endParaRPr lang="fr-FR"/>
          </a:p>
        </p:txBody>
      </p:sp>
      <p:pic>
        <p:nvPicPr>
          <p:cNvPr id="391214" name="Picture 46" descr="SmartCard_SmartCard&amp;Reader01"/>
          <p:cNvPicPr>
            <a:picLocks noChangeAspect="1" noChangeArrowheads="1"/>
          </p:cNvPicPr>
          <p:nvPr/>
        </p:nvPicPr>
        <p:blipFill>
          <a:blip r:embed="rId14" cstate="print"/>
          <a:srcRect/>
          <a:stretch>
            <a:fillRect/>
          </a:stretch>
        </p:blipFill>
        <p:spPr bwMode="auto">
          <a:xfrm>
            <a:off x="4552950" y="3815017"/>
            <a:ext cx="741363" cy="469900"/>
          </a:xfrm>
          <a:prstGeom prst="rect">
            <a:avLst/>
          </a:prstGeom>
          <a:noFill/>
        </p:spPr>
      </p:pic>
      <p:sp>
        <p:nvSpPr>
          <p:cNvPr id="391215" name="AutoShape 47"/>
          <p:cNvSpPr>
            <a:spLocks noChangeArrowheads="1"/>
          </p:cNvSpPr>
          <p:nvPr>
            <p:custDataLst>
              <p:tags r:id="rId7"/>
            </p:custDataLst>
          </p:nvPr>
        </p:nvSpPr>
        <p:spPr bwMode="auto">
          <a:xfrm>
            <a:off x="1392468" y="4833285"/>
            <a:ext cx="7504793" cy="428625"/>
          </a:xfrm>
          <a:prstGeom prst="roundRect">
            <a:avLst>
              <a:gd name="adj" fmla="val 4167"/>
            </a:avLst>
          </a:prstGeom>
          <a:gradFill rotWithShape="1">
            <a:gsLst>
              <a:gs pos="0">
                <a:srgbClr val="8DACD0"/>
              </a:gs>
              <a:gs pos="100000">
                <a:srgbClr val="DEE7F1"/>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nSpc>
                <a:spcPct val="85000"/>
              </a:lnSpc>
            </a:pPr>
            <a:r>
              <a:rPr lang="en-GB" sz="2600" b="1">
                <a:solidFill>
                  <a:srgbClr val="000000"/>
                </a:solidFill>
              </a:rPr>
              <a:t>Méthode la plus puissante :</a:t>
            </a:r>
            <a:r>
              <a:rPr lang="en-US" sz="2600" b="1"/>
              <a:t> </a:t>
            </a:r>
            <a:r>
              <a:rPr lang="en-GB" sz="2600" b="1">
                <a:solidFill>
                  <a:srgbClr val="000000"/>
                </a:solidFill>
              </a:rPr>
              <a:t>EAP-TLS avec cartes à puce</a:t>
            </a:r>
            <a:endParaRPr lang="en-US" sz="2600" b="1">
              <a:solidFill>
                <a:srgbClr val="000000"/>
              </a:solidFill>
            </a:endParaRPr>
          </a:p>
        </p:txBody>
      </p:sp>
      <p:sp>
        <p:nvSpPr>
          <p:cNvPr id="391216" name="Freeform 48"/>
          <p:cNvSpPr>
            <a:spLocks/>
          </p:cNvSpPr>
          <p:nvPr/>
        </p:nvSpPr>
        <p:spPr bwMode="auto">
          <a:xfrm rot="13153678" flipV="1">
            <a:off x="3548063" y="2694242"/>
            <a:ext cx="2046287" cy="1143000"/>
          </a:xfrm>
          <a:custGeom>
            <a:avLst/>
            <a:gdLst/>
            <a:ahLst/>
            <a:cxnLst>
              <a:cxn ang="0">
                <a:pos x="1544" y="358"/>
              </a:cxn>
              <a:cxn ang="0">
                <a:pos x="1531" y="338"/>
              </a:cxn>
              <a:cxn ang="0">
                <a:pos x="1500" y="299"/>
              </a:cxn>
              <a:cxn ang="0">
                <a:pos x="1466" y="263"/>
              </a:cxn>
              <a:cxn ang="0">
                <a:pos x="1425" y="228"/>
              </a:cxn>
              <a:cxn ang="0">
                <a:pos x="1382" y="195"/>
              </a:cxn>
              <a:cxn ang="0">
                <a:pos x="1332" y="163"/>
              </a:cxn>
              <a:cxn ang="0">
                <a:pos x="1280" y="134"/>
              </a:cxn>
              <a:cxn ang="0">
                <a:pos x="1225" y="108"/>
              </a:cxn>
              <a:cxn ang="0">
                <a:pos x="1164" y="85"/>
              </a:cxn>
              <a:cxn ang="0">
                <a:pos x="1102" y="63"/>
              </a:cxn>
              <a:cxn ang="0">
                <a:pos x="1037" y="44"/>
              </a:cxn>
              <a:cxn ang="0">
                <a:pos x="967" y="29"/>
              </a:cxn>
              <a:cxn ang="0">
                <a:pos x="896" y="18"/>
              </a:cxn>
              <a:cxn ang="0">
                <a:pos x="824" y="8"/>
              </a:cxn>
              <a:cxn ang="0">
                <a:pos x="767" y="3"/>
              </a:cxn>
              <a:cxn ang="0">
                <a:pos x="709" y="2"/>
              </a:cxn>
              <a:cxn ang="0">
                <a:pos x="622" y="2"/>
              </a:cxn>
              <a:cxn ang="0">
                <a:pos x="573" y="3"/>
              </a:cxn>
              <a:cxn ang="0">
                <a:pos x="479" y="12"/>
              </a:cxn>
              <a:cxn ang="0">
                <a:pos x="432" y="19"/>
              </a:cxn>
              <a:cxn ang="0">
                <a:pos x="344" y="35"/>
              </a:cxn>
              <a:cxn ang="0">
                <a:pos x="258" y="57"/>
              </a:cxn>
              <a:cxn ang="0">
                <a:pos x="177" y="85"/>
              </a:cxn>
              <a:cxn ang="0">
                <a:pos x="102" y="115"/>
              </a:cxn>
              <a:cxn ang="0">
                <a:pos x="32" y="150"/>
              </a:cxn>
              <a:cxn ang="0">
                <a:pos x="31" y="154"/>
              </a:cxn>
              <a:cxn ang="0">
                <a:pos x="95" y="129"/>
              </a:cxn>
              <a:cxn ang="0">
                <a:pos x="163" y="106"/>
              </a:cxn>
              <a:cxn ang="0">
                <a:pos x="197" y="96"/>
              </a:cxn>
              <a:cxn ang="0">
                <a:pos x="270" y="80"/>
              </a:cxn>
              <a:cxn ang="0">
                <a:pos x="345" y="66"/>
              </a:cxn>
              <a:cxn ang="0">
                <a:pos x="422" y="56"/>
              </a:cxn>
              <a:cxn ang="0">
                <a:pos x="503" y="50"/>
              </a:cxn>
              <a:cxn ang="0">
                <a:pos x="584" y="47"/>
              </a:cxn>
              <a:cxn ang="0">
                <a:pos x="661" y="50"/>
              </a:cxn>
              <a:cxn ang="0">
                <a:pos x="735" y="54"/>
              </a:cxn>
              <a:cxn ang="0">
                <a:pos x="808" y="63"/>
              </a:cxn>
              <a:cxn ang="0">
                <a:pos x="879" y="74"/>
              </a:cxn>
              <a:cxn ang="0">
                <a:pos x="947" y="90"/>
              </a:cxn>
              <a:cxn ang="0">
                <a:pos x="1012" y="108"/>
              </a:cxn>
              <a:cxn ang="0">
                <a:pos x="1074" y="128"/>
              </a:cxn>
              <a:cxn ang="0">
                <a:pos x="1134" y="153"/>
              </a:cxn>
              <a:cxn ang="0">
                <a:pos x="1189" y="177"/>
              </a:cxn>
              <a:cxn ang="0">
                <a:pos x="1241" y="206"/>
              </a:cxn>
              <a:cxn ang="0">
                <a:pos x="1290" y="237"/>
              </a:cxn>
              <a:cxn ang="0">
                <a:pos x="1334" y="269"/>
              </a:cxn>
              <a:cxn ang="0">
                <a:pos x="1374" y="303"/>
              </a:cxn>
              <a:cxn ang="0">
                <a:pos x="1409" y="340"/>
              </a:cxn>
              <a:cxn ang="0">
                <a:pos x="1440" y="379"/>
              </a:cxn>
              <a:cxn ang="0">
                <a:pos x="1466" y="418"/>
              </a:cxn>
              <a:cxn ang="0">
                <a:pos x="1409" y="427"/>
              </a:cxn>
              <a:cxn ang="0">
                <a:pos x="1599" y="338"/>
              </a:cxn>
            </a:cxnLst>
            <a:rect l="0" t="0" r="r" b="b"/>
            <a:pathLst>
              <a:path w="1631" h="609">
                <a:moveTo>
                  <a:pt x="1556" y="379"/>
                </a:moveTo>
                <a:lnTo>
                  <a:pt x="1544" y="358"/>
                </a:lnTo>
                <a:lnTo>
                  <a:pt x="1537" y="348"/>
                </a:lnTo>
                <a:lnTo>
                  <a:pt x="1531" y="338"/>
                </a:lnTo>
                <a:lnTo>
                  <a:pt x="1516" y="319"/>
                </a:lnTo>
                <a:lnTo>
                  <a:pt x="1500" y="299"/>
                </a:lnTo>
                <a:lnTo>
                  <a:pt x="1483" y="282"/>
                </a:lnTo>
                <a:lnTo>
                  <a:pt x="1466" y="263"/>
                </a:lnTo>
                <a:lnTo>
                  <a:pt x="1445" y="245"/>
                </a:lnTo>
                <a:lnTo>
                  <a:pt x="1425" y="228"/>
                </a:lnTo>
                <a:lnTo>
                  <a:pt x="1403" y="211"/>
                </a:lnTo>
                <a:lnTo>
                  <a:pt x="1382" y="195"/>
                </a:lnTo>
                <a:lnTo>
                  <a:pt x="1357" y="179"/>
                </a:lnTo>
                <a:lnTo>
                  <a:pt x="1332" y="163"/>
                </a:lnTo>
                <a:lnTo>
                  <a:pt x="1308" y="148"/>
                </a:lnTo>
                <a:lnTo>
                  <a:pt x="1280" y="134"/>
                </a:lnTo>
                <a:lnTo>
                  <a:pt x="1253" y="121"/>
                </a:lnTo>
                <a:lnTo>
                  <a:pt x="1225" y="108"/>
                </a:lnTo>
                <a:lnTo>
                  <a:pt x="1195" y="96"/>
                </a:lnTo>
                <a:lnTo>
                  <a:pt x="1164" y="85"/>
                </a:lnTo>
                <a:lnTo>
                  <a:pt x="1134" y="73"/>
                </a:lnTo>
                <a:lnTo>
                  <a:pt x="1102" y="63"/>
                </a:lnTo>
                <a:lnTo>
                  <a:pt x="1070" y="54"/>
                </a:lnTo>
                <a:lnTo>
                  <a:pt x="1037" y="44"/>
                </a:lnTo>
                <a:lnTo>
                  <a:pt x="1002" y="37"/>
                </a:lnTo>
                <a:lnTo>
                  <a:pt x="967" y="29"/>
                </a:lnTo>
                <a:lnTo>
                  <a:pt x="932" y="22"/>
                </a:lnTo>
                <a:lnTo>
                  <a:pt x="896" y="18"/>
                </a:lnTo>
                <a:lnTo>
                  <a:pt x="860" y="12"/>
                </a:lnTo>
                <a:lnTo>
                  <a:pt x="824" y="8"/>
                </a:lnTo>
                <a:lnTo>
                  <a:pt x="786" y="5"/>
                </a:lnTo>
                <a:lnTo>
                  <a:pt x="767" y="3"/>
                </a:lnTo>
                <a:lnTo>
                  <a:pt x="748" y="3"/>
                </a:lnTo>
                <a:lnTo>
                  <a:pt x="709" y="2"/>
                </a:lnTo>
                <a:lnTo>
                  <a:pt x="671" y="0"/>
                </a:lnTo>
                <a:lnTo>
                  <a:pt x="622" y="2"/>
                </a:lnTo>
                <a:lnTo>
                  <a:pt x="597" y="3"/>
                </a:lnTo>
                <a:lnTo>
                  <a:pt x="573" y="3"/>
                </a:lnTo>
                <a:lnTo>
                  <a:pt x="525" y="8"/>
                </a:lnTo>
                <a:lnTo>
                  <a:pt x="479" y="12"/>
                </a:lnTo>
                <a:lnTo>
                  <a:pt x="455" y="16"/>
                </a:lnTo>
                <a:lnTo>
                  <a:pt x="432" y="19"/>
                </a:lnTo>
                <a:lnTo>
                  <a:pt x="387" y="27"/>
                </a:lnTo>
                <a:lnTo>
                  <a:pt x="344" y="35"/>
                </a:lnTo>
                <a:lnTo>
                  <a:pt x="300" y="45"/>
                </a:lnTo>
                <a:lnTo>
                  <a:pt x="258" y="57"/>
                </a:lnTo>
                <a:lnTo>
                  <a:pt x="218" y="70"/>
                </a:lnTo>
                <a:lnTo>
                  <a:pt x="177" y="85"/>
                </a:lnTo>
                <a:lnTo>
                  <a:pt x="139" y="99"/>
                </a:lnTo>
                <a:lnTo>
                  <a:pt x="102" y="115"/>
                </a:lnTo>
                <a:lnTo>
                  <a:pt x="67" y="131"/>
                </a:lnTo>
                <a:lnTo>
                  <a:pt x="32" y="150"/>
                </a:lnTo>
                <a:lnTo>
                  <a:pt x="0" y="169"/>
                </a:lnTo>
                <a:lnTo>
                  <a:pt x="31" y="154"/>
                </a:lnTo>
                <a:lnTo>
                  <a:pt x="63" y="141"/>
                </a:lnTo>
                <a:lnTo>
                  <a:pt x="95" y="129"/>
                </a:lnTo>
                <a:lnTo>
                  <a:pt x="128" y="118"/>
                </a:lnTo>
                <a:lnTo>
                  <a:pt x="163" y="106"/>
                </a:lnTo>
                <a:lnTo>
                  <a:pt x="180" y="102"/>
                </a:lnTo>
                <a:lnTo>
                  <a:pt x="197" y="96"/>
                </a:lnTo>
                <a:lnTo>
                  <a:pt x="232" y="87"/>
                </a:lnTo>
                <a:lnTo>
                  <a:pt x="270" y="80"/>
                </a:lnTo>
                <a:lnTo>
                  <a:pt x="306" y="71"/>
                </a:lnTo>
                <a:lnTo>
                  <a:pt x="345" y="66"/>
                </a:lnTo>
                <a:lnTo>
                  <a:pt x="383" y="60"/>
                </a:lnTo>
                <a:lnTo>
                  <a:pt x="422" y="56"/>
                </a:lnTo>
                <a:lnTo>
                  <a:pt x="463" y="53"/>
                </a:lnTo>
                <a:lnTo>
                  <a:pt x="503" y="50"/>
                </a:lnTo>
                <a:lnTo>
                  <a:pt x="544" y="48"/>
                </a:lnTo>
                <a:lnTo>
                  <a:pt x="584" y="47"/>
                </a:lnTo>
                <a:lnTo>
                  <a:pt x="624" y="48"/>
                </a:lnTo>
                <a:lnTo>
                  <a:pt x="661" y="50"/>
                </a:lnTo>
                <a:lnTo>
                  <a:pt x="699" y="51"/>
                </a:lnTo>
                <a:lnTo>
                  <a:pt x="735" y="54"/>
                </a:lnTo>
                <a:lnTo>
                  <a:pt x="773" y="58"/>
                </a:lnTo>
                <a:lnTo>
                  <a:pt x="808" y="63"/>
                </a:lnTo>
                <a:lnTo>
                  <a:pt x="844" y="69"/>
                </a:lnTo>
                <a:lnTo>
                  <a:pt x="879" y="74"/>
                </a:lnTo>
                <a:lnTo>
                  <a:pt x="913" y="82"/>
                </a:lnTo>
                <a:lnTo>
                  <a:pt x="947" y="90"/>
                </a:lnTo>
                <a:lnTo>
                  <a:pt x="980" y="99"/>
                </a:lnTo>
                <a:lnTo>
                  <a:pt x="1012" y="108"/>
                </a:lnTo>
                <a:lnTo>
                  <a:pt x="1044" y="118"/>
                </a:lnTo>
                <a:lnTo>
                  <a:pt x="1074" y="128"/>
                </a:lnTo>
                <a:lnTo>
                  <a:pt x="1105" y="140"/>
                </a:lnTo>
                <a:lnTo>
                  <a:pt x="1134" y="153"/>
                </a:lnTo>
                <a:lnTo>
                  <a:pt x="1161" y="164"/>
                </a:lnTo>
                <a:lnTo>
                  <a:pt x="1189" y="177"/>
                </a:lnTo>
                <a:lnTo>
                  <a:pt x="1216" y="192"/>
                </a:lnTo>
                <a:lnTo>
                  <a:pt x="1241" y="206"/>
                </a:lnTo>
                <a:lnTo>
                  <a:pt x="1266" y="221"/>
                </a:lnTo>
                <a:lnTo>
                  <a:pt x="1290" y="237"/>
                </a:lnTo>
                <a:lnTo>
                  <a:pt x="1312" y="253"/>
                </a:lnTo>
                <a:lnTo>
                  <a:pt x="1334" y="269"/>
                </a:lnTo>
                <a:lnTo>
                  <a:pt x="1354" y="286"/>
                </a:lnTo>
                <a:lnTo>
                  <a:pt x="1374" y="303"/>
                </a:lnTo>
                <a:lnTo>
                  <a:pt x="1392" y="322"/>
                </a:lnTo>
                <a:lnTo>
                  <a:pt x="1409" y="340"/>
                </a:lnTo>
                <a:lnTo>
                  <a:pt x="1425" y="358"/>
                </a:lnTo>
                <a:lnTo>
                  <a:pt x="1440" y="379"/>
                </a:lnTo>
                <a:lnTo>
                  <a:pt x="1453" y="398"/>
                </a:lnTo>
                <a:lnTo>
                  <a:pt x="1466" y="418"/>
                </a:lnTo>
                <a:lnTo>
                  <a:pt x="1437" y="422"/>
                </a:lnTo>
                <a:lnTo>
                  <a:pt x="1409" y="427"/>
                </a:lnTo>
                <a:lnTo>
                  <a:pt x="1631" y="609"/>
                </a:lnTo>
                <a:lnTo>
                  <a:pt x="1599" y="338"/>
                </a:lnTo>
                <a:lnTo>
                  <a:pt x="1556" y="379"/>
                </a:lnTo>
                <a:close/>
              </a:path>
            </a:pathLst>
          </a:custGeom>
          <a:solidFill>
            <a:srgbClr val="FF0000">
              <a:alpha val="75000"/>
            </a:srgbClr>
          </a:solidFill>
          <a:ln w="9525">
            <a:noFill/>
            <a:round/>
            <a:headEnd/>
            <a:tailEnd/>
          </a:ln>
        </p:spPr>
        <p:txBody>
          <a:bodyPr/>
          <a:lstStyle/>
          <a:p>
            <a:endParaRPr lang="fr-FR"/>
          </a:p>
        </p:txBody>
      </p:sp>
      <p:sp>
        <p:nvSpPr>
          <p:cNvPr id="391217" name="Freeform 49"/>
          <p:cNvSpPr>
            <a:spLocks/>
          </p:cNvSpPr>
          <p:nvPr/>
        </p:nvSpPr>
        <p:spPr bwMode="auto">
          <a:xfrm>
            <a:off x="3598863" y="2256092"/>
            <a:ext cx="2057400" cy="990600"/>
          </a:xfrm>
          <a:custGeom>
            <a:avLst/>
            <a:gdLst/>
            <a:ahLst/>
            <a:cxnLst>
              <a:cxn ang="0">
                <a:pos x="1544" y="358"/>
              </a:cxn>
              <a:cxn ang="0">
                <a:pos x="1531" y="338"/>
              </a:cxn>
              <a:cxn ang="0">
                <a:pos x="1500" y="299"/>
              </a:cxn>
              <a:cxn ang="0">
                <a:pos x="1466" y="263"/>
              </a:cxn>
              <a:cxn ang="0">
                <a:pos x="1425" y="228"/>
              </a:cxn>
              <a:cxn ang="0">
                <a:pos x="1382" y="195"/>
              </a:cxn>
              <a:cxn ang="0">
                <a:pos x="1332" y="163"/>
              </a:cxn>
              <a:cxn ang="0">
                <a:pos x="1280" y="134"/>
              </a:cxn>
              <a:cxn ang="0">
                <a:pos x="1225" y="108"/>
              </a:cxn>
              <a:cxn ang="0">
                <a:pos x="1164" y="85"/>
              </a:cxn>
              <a:cxn ang="0">
                <a:pos x="1102" y="63"/>
              </a:cxn>
              <a:cxn ang="0">
                <a:pos x="1037" y="44"/>
              </a:cxn>
              <a:cxn ang="0">
                <a:pos x="967" y="29"/>
              </a:cxn>
              <a:cxn ang="0">
                <a:pos x="896" y="18"/>
              </a:cxn>
              <a:cxn ang="0">
                <a:pos x="824" y="8"/>
              </a:cxn>
              <a:cxn ang="0">
                <a:pos x="767" y="3"/>
              </a:cxn>
              <a:cxn ang="0">
                <a:pos x="709" y="2"/>
              </a:cxn>
              <a:cxn ang="0">
                <a:pos x="622" y="2"/>
              </a:cxn>
              <a:cxn ang="0">
                <a:pos x="573" y="3"/>
              </a:cxn>
              <a:cxn ang="0">
                <a:pos x="479" y="12"/>
              </a:cxn>
              <a:cxn ang="0">
                <a:pos x="432" y="19"/>
              </a:cxn>
              <a:cxn ang="0">
                <a:pos x="344" y="35"/>
              </a:cxn>
              <a:cxn ang="0">
                <a:pos x="258" y="57"/>
              </a:cxn>
              <a:cxn ang="0">
                <a:pos x="177" y="85"/>
              </a:cxn>
              <a:cxn ang="0">
                <a:pos x="102" y="115"/>
              </a:cxn>
              <a:cxn ang="0">
                <a:pos x="32" y="150"/>
              </a:cxn>
              <a:cxn ang="0">
                <a:pos x="31" y="154"/>
              </a:cxn>
              <a:cxn ang="0">
                <a:pos x="95" y="129"/>
              </a:cxn>
              <a:cxn ang="0">
                <a:pos x="163" y="106"/>
              </a:cxn>
              <a:cxn ang="0">
                <a:pos x="197" y="96"/>
              </a:cxn>
              <a:cxn ang="0">
                <a:pos x="270" y="80"/>
              </a:cxn>
              <a:cxn ang="0">
                <a:pos x="345" y="66"/>
              </a:cxn>
              <a:cxn ang="0">
                <a:pos x="422" y="56"/>
              </a:cxn>
              <a:cxn ang="0">
                <a:pos x="503" y="50"/>
              </a:cxn>
              <a:cxn ang="0">
                <a:pos x="584" y="47"/>
              </a:cxn>
              <a:cxn ang="0">
                <a:pos x="661" y="50"/>
              </a:cxn>
              <a:cxn ang="0">
                <a:pos x="735" y="54"/>
              </a:cxn>
              <a:cxn ang="0">
                <a:pos x="808" y="63"/>
              </a:cxn>
              <a:cxn ang="0">
                <a:pos x="879" y="74"/>
              </a:cxn>
              <a:cxn ang="0">
                <a:pos x="947" y="90"/>
              </a:cxn>
              <a:cxn ang="0">
                <a:pos x="1012" y="108"/>
              </a:cxn>
              <a:cxn ang="0">
                <a:pos x="1074" y="128"/>
              </a:cxn>
              <a:cxn ang="0">
                <a:pos x="1134" y="153"/>
              </a:cxn>
              <a:cxn ang="0">
                <a:pos x="1189" y="177"/>
              </a:cxn>
              <a:cxn ang="0">
                <a:pos x="1241" y="206"/>
              </a:cxn>
              <a:cxn ang="0">
                <a:pos x="1290" y="237"/>
              </a:cxn>
              <a:cxn ang="0">
                <a:pos x="1334" y="269"/>
              </a:cxn>
              <a:cxn ang="0">
                <a:pos x="1374" y="303"/>
              </a:cxn>
              <a:cxn ang="0">
                <a:pos x="1409" y="340"/>
              </a:cxn>
              <a:cxn ang="0">
                <a:pos x="1440" y="379"/>
              </a:cxn>
              <a:cxn ang="0">
                <a:pos x="1466" y="418"/>
              </a:cxn>
              <a:cxn ang="0">
                <a:pos x="1409" y="427"/>
              </a:cxn>
              <a:cxn ang="0">
                <a:pos x="1599" y="338"/>
              </a:cxn>
            </a:cxnLst>
            <a:rect l="0" t="0" r="r" b="b"/>
            <a:pathLst>
              <a:path w="1631" h="609">
                <a:moveTo>
                  <a:pt x="1556" y="379"/>
                </a:moveTo>
                <a:lnTo>
                  <a:pt x="1544" y="358"/>
                </a:lnTo>
                <a:lnTo>
                  <a:pt x="1537" y="348"/>
                </a:lnTo>
                <a:lnTo>
                  <a:pt x="1531" y="338"/>
                </a:lnTo>
                <a:lnTo>
                  <a:pt x="1516" y="319"/>
                </a:lnTo>
                <a:lnTo>
                  <a:pt x="1500" y="299"/>
                </a:lnTo>
                <a:lnTo>
                  <a:pt x="1483" y="282"/>
                </a:lnTo>
                <a:lnTo>
                  <a:pt x="1466" y="263"/>
                </a:lnTo>
                <a:lnTo>
                  <a:pt x="1445" y="245"/>
                </a:lnTo>
                <a:lnTo>
                  <a:pt x="1425" y="228"/>
                </a:lnTo>
                <a:lnTo>
                  <a:pt x="1403" y="211"/>
                </a:lnTo>
                <a:lnTo>
                  <a:pt x="1382" y="195"/>
                </a:lnTo>
                <a:lnTo>
                  <a:pt x="1357" y="179"/>
                </a:lnTo>
                <a:lnTo>
                  <a:pt x="1332" y="163"/>
                </a:lnTo>
                <a:lnTo>
                  <a:pt x="1308" y="148"/>
                </a:lnTo>
                <a:lnTo>
                  <a:pt x="1280" y="134"/>
                </a:lnTo>
                <a:lnTo>
                  <a:pt x="1253" y="121"/>
                </a:lnTo>
                <a:lnTo>
                  <a:pt x="1225" y="108"/>
                </a:lnTo>
                <a:lnTo>
                  <a:pt x="1195" y="96"/>
                </a:lnTo>
                <a:lnTo>
                  <a:pt x="1164" y="85"/>
                </a:lnTo>
                <a:lnTo>
                  <a:pt x="1134" y="73"/>
                </a:lnTo>
                <a:lnTo>
                  <a:pt x="1102" y="63"/>
                </a:lnTo>
                <a:lnTo>
                  <a:pt x="1070" y="54"/>
                </a:lnTo>
                <a:lnTo>
                  <a:pt x="1037" y="44"/>
                </a:lnTo>
                <a:lnTo>
                  <a:pt x="1002" y="37"/>
                </a:lnTo>
                <a:lnTo>
                  <a:pt x="967" y="29"/>
                </a:lnTo>
                <a:lnTo>
                  <a:pt x="932" y="22"/>
                </a:lnTo>
                <a:lnTo>
                  <a:pt x="896" y="18"/>
                </a:lnTo>
                <a:lnTo>
                  <a:pt x="860" y="12"/>
                </a:lnTo>
                <a:lnTo>
                  <a:pt x="824" y="8"/>
                </a:lnTo>
                <a:lnTo>
                  <a:pt x="786" y="5"/>
                </a:lnTo>
                <a:lnTo>
                  <a:pt x="767" y="3"/>
                </a:lnTo>
                <a:lnTo>
                  <a:pt x="748" y="3"/>
                </a:lnTo>
                <a:lnTo>
                  <a:pt x="709" y="2"/>
                </a:lnTo>
                <a:lnTo>
                  <a:pt x="671" y="0"/>
                </a:lnTo>
                <a:lnTo>
                  <a:pt x="622" y="2"/>
                </a:lnTo>
                <a:lnTo>
                  <a:pt x="597" y="3"/>
                </a:lnTo>
                <a:lnTo>
                  <a:pt x="573" y="3"/>
                </a:lnTo>
                <a:lnTo>
                  <a:pt x="525" y="8"/>
                </a:lnTo>
                <a:lnTo>
                  <a:pt x="479" y="12"/>
                </a:lnTo>
                <a:lnTo>
                  <a:pt x="455" y="16"/>
                </a:lnTo>
                <a:lnTo>
                  <a:pt x="432" y="19"/>
                </a:lnTo>
                <a:lnTo>
                  <a:pt x="387" y="27"/>
                </a:lnTo>
                <a:lnTo>
                  <a:pt x="344" y="35"/>
                </a:lnTo>
                <a:lnTo>
                  <a:pt x="300" y="45"/>
                </a:lnTo>
                <a:lnTo>
                  <a:pt x="258" y="57"/>
                </a:lnTo>
                <a:lnTo>
                  <a:pt x="218" y="70"/>
                </a:lnTo>
                <a:lnTo>
                  <a:pt x="177" y="85"/>
                </a:lnTo>
                <a:lnTo>
                  <a:pt x="139" y="99"/>
                </a:lnTo>
                <a:lnTo>
                  <a:pt x="102" y="115"/>
                </a:lnTo>
                <a:lnTo>
                  <a:pt x="67" y="131"/>
                </a:lnTo>
                <a:lnTo>
                  <a:pt x="32" y="150"/>
                </a:lnTo>
                <a:lnTo>
                  <a:pt x="0" y="169"/>
                </a:lnTo>
                <a:lnTo>
                  <a:pt x="31" y="154"/>
                </a:lnTo>
                <a:lnTo>
                  <a:pt x="63" y="141"/>
                </a:lnTo>
                <a:lnTo>
                  <a:pt x="95" y="129"/>
                </a:lnTo>
                <a:lnTo>
                  <a:pt x="128" y="118"/>
                </a:lnTo>
                <a:lnTo>
                  <a:pt x="163" y="106"/>
                </a:lnTo>
                <a:lnTo>
                  <a:pt x="180" y="102"/>
                </a:lnTo>
                <a:lnTo>
                  <a:pt x="197" y="96"/>
                </a:lnTo>
                <a:lnTo>
                  <a:pt x="232" y="87"/>
                </a:lnTo>
                <a:lnTo>
                  <a:pt x="270" y="80"/>
                </a:lnTo>
                <a:lnTo>
                  <a:pt x="306" y="71"/>
                </a:lnTo>
                <a:lnTo>
                  <a:pt x="345" y="66"/>
                </a:lnTo>
                <a:lnTo>
                  <a:pt x="383" y="60"/>
                </a:lnTo>
                <a:lnTo>
                  <a:pt x="422" y="56"/>
                </a:lnTo>
                <a:lnTo>
                  <a:pt x="463" y="53"/>
                </a:lnTo>
                <a:lnTo>
                  <a:pt x="503" y="50"/>
                </a:lnTo>
                <a:lnTo>
                  <a:pt x="544" y="48"/>
                </a:lnTo>
                <a:lnTo>
                  <a:pt x="584" y="47"/>
                </a:lnTo>
                <a:lnTo>
                  <a:pt x="624" y="48"/>
                </a:lnTo>
                <a:lnTo>
                  <a:pt x="661" y="50"/>
                </a:lnTo>
                <a:lnTo>
                  <a:pt x="699" y="51"/>
                </a:lnTo>
                <a:lnTo>
                  <a:pt x="735" y="54"/>
                </a:lnTo>
                <a:lnTo>
                  <a:pt x="773" y="58"/>
                </a:lnTo>
                <a:lnTo>
                  <a:pt x="808" y="63"/>
                </a:lnTo>
                <a:lnTo>
                  <a:pt x="844" y="69"/>
                </a:lnTo>
                <a:lnTo>
                  <a:pt x="879" y="74"/>
                </a:lnTo>
                <a:lnTo>
                  <a:pt x="913" y="82"/>
                </a:lnTo>
                <a:lnTo>
                  <a:pt x="947" y="90"/>
                </a:lnTo>
                <a:lnTo>
                  <a:pt x="980" y="99"/>
                </a:lnTo>
                <a:lnTo>
                  <a:pt x="1012" y="108"/>
                </a:lnTo>
                <a:lnTo>
                  <a:pt x="1044" y="118"/>
                </a:lnTo>
                <a:lnTo>
                  <a:pt x="1074" y="128"/>
                </a:lnTo>
                <a:lnTo>
                  <a:pt x="1105" y="140"/>
                </a:lnTo>
                <a:lnTo>
                  <a:pt x="1134" y="153"/>
                </a:lnTo>
                <a:lnTo>
                  <a:pt x="1161" y="164"/>
                </a:lnTo>
                <a:lnTo>
                  <a:pt x="1189" y="177"/>
                </a:lnTo>
                <a:lnTo>
                  <a:pt x="1216" y="192"/>
                </a:lnTo>
                <a:lnTo>
                  <a:pt x="1241" y="206"/>
                </a:lnTo>
                <a:lnTo>
                  <a:pt x="1266" y="221"/>
                </a:lnTo>
                <a:lnTo>
                  <a:pt x="1290" y="237"/>
                </a:lnTo>
                <a:lnTo>
                  <a:pt x="1312" y="253"/>
                </a:lnTo>
                <a:lnTo>
                  <a:pt x="1334" y="269"/>
                </a:lnTo>
                <a:lnTo>
                  <a:pt x="1354" y="286"/>
                </a:lnTo>
                <a:lnTo>
                  <a:pt x="1374" y="303"/>
                </a:lnTo>
                <a:lnTo>
                  <a:pt x="1392" y="322"/>
                </a:lnTo>
                <a:lnTo>
                  <a:pt x="1409" y="340"/>
                </a:lnTo>
                <a:lnTo>
                  <a:pt x="1425" y="358"/>
                </a:lnTo>
                <a:lnTo>
                  <a:pt x="1440" y="379"/>
                </a:lnTo>
                <a:lnTo>
                  <a:pt x="1453" y="398"/>
                </a:lnTo>
                <a:lnTo>
                  <a:pt x="1466" y="418"/>
                </a:lnTo>
                <a:lnTo>
                  <a:pt x="1437" y="422"/>
                </a:lnTo>
                <a:lnTo>
                  <a:pt x="1409" y="427"/>
                </a:lnTo>
                <a:lnTo>
                  <a:pt x="1631" y="609"/>
                </a:lnTo>
                <a:lnTo>
                  <a:pt x="1599" y="338"/>
                </a:lnTo>
                <a:lnTo>
                  <a:pt x="1556" y="379"/>
                </a:lnTo>
                <a:close/>
              </a:path>
            </a:pathLst>
          </a:custGeom>
          <a:solidFill>
            <a:srgbClr val="FF0000">
              <a:alpha val="75000"/>
            </a:srgbClr>
          </a:solidFill>
          <a:ln w="9525">
            <a:noFill/>
            <a:round/>
            <a:headEnd/>
            <a:tailEnd/>
          </a:ln>
        </p:spPr>
        <p:txBody>
          <a:bodyPr/>
          <a:lstStyle/>
          <a:p>
            <a:endParaRPr lang="fr-FR"/>
          </a:p>
        </p:txBody>
      </p:sp>
      <p:sp>
        <p:nvSpPr>
          <p:cNvPr id="391218" name="AutoShape 50"/>
          <p:cNvSpPr>
            <a:spLocks noChangeArrowheads="1"/>
          </p:cNvSpPr>
          <p:nvPr>
            <p:custDataLst>
              <p:tags r:id="rId8"/>
            </p:custDataLst>
          </p:nvPr>
        </p:nvSpPr>
        <p:spPr bwMode="auto">
          <a:xfrm>
            <a:off x="4127500" y="2370392"/>
            <a:ext cx="3144157" cy="381000"/>
          </a:xfrm>
          <a:prstGeom prst="roundRect">
            <a:avLst>
              <a:gd name="adj" fmla="val 4167"/>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wrap="none" anchor="ctr"/>
          <a:lstStyle/>
          <a:p>
            <a:r>
              <a:rPr lang="en-GB" sz="2200" b="1">
                <a:solidFill>
                  <a:srgbClr val="000000"/>
                </a:solidFill>
              </a:rPr>
              <a:t>Authentification mutuelle</a:t>
            </a:r>
            <a:endParaRPr lang="en-US" sz="2200" b="1"/>
          </a:p>
        </p:txBody>
      </p:sp>
      <p:grpSp>
        <p:nvGrpSpPr>
          <p:cNvPr id="2" name="Group 66"/>
          <p:cNvGrpSpPr>
            <a:grpSpLocks/>
          </p:cNvGrpSpPr>
          <p:nvPr/>
        </p:nvGrpSpPr>
        <p:grpSpPr bwMode="auto">
          <a:xfrm>
            <a:off x="203201" y="5968124"/>
            <a:ext cx="914400" cy="425450"/>
            <a:chOff x="384" y="3024"/>
            <a:chExt cx="720" cy="336"/>
          </a:xfrm>
        </p:grpSpPr>
        <p:sp>
          <p:nvSpPr>
            <p:cNvPr id="391235" name="Oval 67"/>
            <p:cNvSpPr>
              <a:spLocks noChangeArrowheads="1"/>
            </p:cNvSpPr>
            <p:nvPr/>
          </p:nvSpPr>
          <p:spPr bwMode="auto">
            <a:xfrm>
              <a:off x="384" y="3024"/>
              <a:ext cx="720" cy="336"/>
            </a:xfrm>
            <a:prstGeom prst="ellipse">
              <a:avLst/>
            </a:prstGeom>
            <a:gradFill rotWithShape="0">
              <a:gsLst>
                <a:gs pos="0">
                  <a:srgbClr val="666699"/>
                </a:gs>
                <a:gs pos="100000">
                  <a:srgbClr val="99CCFF"/>
                </a:gs>
              </a:gsLst>
              <a:lin ang="5400000" scaled="1"/>
            </a:gradFill>
            <a:ln w="9525" algn="ctr">
              <a:noFill/>
              <a:round/>
              <a:headEnd/>
              <a:tailEnd/>
            </a:ln>
            <a:effectLst>
              <a:outerShdw dist="17961" dir="2700000" algn="ctr" rotWithShape="0">
                <a:srgbClr val="969696"/>
              </a:outerShdw>
            </a:effectLst>
          </p:spPr>
          <p:txBody>
            <a:bodyPr wrap="none" anchor="ctr"/>
            <a:lstStyle/>
            <a:p>
              <a:endParaRPr lang="fr-FR"/>
            </a:p>
          </p:txBody>
        </p:sp>
        <p:grpSp>
          <p:nvGrpSpPr>
            <p:cNvPr id="3" name="Group 68"/>
            <p:cNvGrpSpPr>
              <a:grpSpLocks/>
            </p:cNvGrpSpPr>
            <p:nvPr/>
          </p:nvGrpSpPr>
          <p:grpSpPr bwMode="auto">
            <a:xfrm>
              <a:off x="480" y="3096"/>
              <a:ext cx="240" cy="192"/>
              <a:chOff x="480" y="3096"/>
              <a:chExt cx="240" cy="192"/>
            </a:xfrm>
          </p:grpSpPr>
          <p:sp>
            <p:nvSpPr>
              <p:cNvPr id="391237" name="Oval 69"/>
              <p:cNvSpPr>
                <a:spLocks noChangeArrowheads="1"/>
              </p:cNvSpPr>
              <p:nvPr/>
            </p:nvSpPr>
            <p:spPr bwMode="auto">
              <a:xfrm>
                <a:off x="480"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391238" name="Freeform 70"/>
              <p:cNvSpPr>
                <a:spLocks/>
              </p:cNvSpPr>
              <p:nvPr/>
            </p:nvSpPr>
            <p:spPr bwMode="auto">
              <a:xfrm>
                <a:off x="539" y="3123"/>
                <a:ext cx="138" cy="132"/>
              </a:xfrm>
              <a:custGeom>
                <a:avLst/>
                <a:gdLst/>
                <a:ahLst/>
                <a:cxnLst>
                  <a:cxn ang="0">
                    <a:pos x="0" y="0"/>
                  </a:cxn>
                  <a:cxn ang="0">
                    <a:pos x="0" y="576"/>
                  </a:cxn>
                  <a:cxn ang="0">
                    <a:pos x="432" y="288"/>
                  </a:cxn>
                  <a:cxn ang="0">
                    <a:pos x="0" y="0"/>
                  </a:cxn>
                </a:cxnLst>
                <a:rect l="0" t="0" r="r" b="b"/>
                <a:pathLst>
                  <a:path w="432" h="576">
                    <a:moveTo>
                      <a:pt x="0" y="0"/>
                    </a:moveTo>
                    <a:cubicBezTo>
                      <a:pt x="0" y="0"/>
                      <a:pt x="91" y="226"/>
                      <a:pt x="0" y="576"/>
                    </a:cubicBezTo>
                    <a:cubicBezTo>
                      <a:pt x="216" y="432"/>
                      <a:pt x="432" y="288"/>
                      <a:pt x="432" y="288"/>
                    </a:cubicBezTo>
                    <a:lnTo>
                      <a:pt x="0" y="0"/>
                    </a:lnTo>
                    <a:close/>
                  </a:path>
                </a:pathLst>
              </a:custGeom>
              <a:gradFill rotWithShape="1">
                <a:gsLst>
                  <a:gs pos="0">
                    <a:srgbClr val="FFFFCC"/>
                  </a:gs>
                  <a:gs pos="100000">
                    <a:srgbClr val="FFCC66"/>
                  </a:gs>
                </a:gsLst>
                <a:lin ang="18900000" scaled="1"/>
              </a:gradFill>
              <a:ln w="9525" cap="flat" cmpd="sng">
                <a:solidFill>
                  <a:srgbClr val="666699"/>
                </a:solidFill>
                <a:prstDash val="solid"/>
                <a:round/>
                <a:headEnd type="none" w="med" len="med"/>
                <a:tailEnd type="none" w="med" len="med"/>
              </a:ln>
              <a:effectLst>
                <a:outerShdw dist="17961" dir="8100000" algn="ctr" rotWithShape="0">
                  <a:schemeClr val="tx1"/>
                </a:outerShdw>
              </a:effectLst>
            </p:spPr>
            <p:txBody>
              <a:bodyPr wrap="none" anchor="ctr"/>
              <a:lstStyle/>
              <a:p>
                <a:endParaRPr lang="fr-FR"/>
              </a:p>
            </p:txBody>
          </p:sp>
        </p:grpSp>
      </p:grpSp>
      <p:grpSp>
        <p:nvGrpSpPr>
          <p:cNvPr id="4" name="Group 71"/>
          <p:cNvGrpSpPr>
            <a:grpSpLocks/>
          </p:cNvGrpSpPr>
          <p:nvPr/>
        </p:nvGrpSpPr>
        <p:grpSpPr bwMode="auto">
          <a:xfrm>
            <a:off x="690564" y="6058612"/>
            <a:ext cx="304800" cy="244475"/>
            <a:chOff x="768" y="3096"/>
            <a:chExt cx="240" cy="192"/>
          </a:xfrm>
        </p:grpSpPr>
        <p:sp>
          <p:nvSpPr>
            <p:cNvPr id="391240" name="Oval 72"/>
            <p:cNvSpPr>
              <a:spLocks noChangeArrowheads="1"/>
            </p:cNvSpPr>
            <p:nvPr/>
          </p:nvSpPr>
          <p:spPr bwMode="auto">
            <a:xfrm>
              <a:off x="768" y="3096"/>
              <a:ext cx="240" cy="192"/>
            </a:xfrm>
            <a:prstGeom prst="ellipse">
              <a:avLst/>
            </a:prstGeom>
            <a:gradFill rotWithShape="0">
              <a:gsLst>
                <a:gs pos="0">
                  <a:srgbClr val="666699"/>
                </a:gs>
                <a:gs pos="100000">
                  <a:srgbClr val="99CCFF"/>
                </a:gs>
              </a:gsLst>
              <a:lin ang="18900000" scaled="1"/>
            </a:gradFill>
            <a:ln w="9525" algn="ctr">
              <a:noFill/>
              <a:round/>
              <a:headEnd/>
              <a:tailEnd/>
            </a:ln>
            <a:effectLst/>
          </p:spPr>
          <p:txBody>
            <a:bodyPr wrap="none" anchor="ctr"/>
            <a:lstStyle/>
            <a:p>
              <a:endParaRPr lang="fr-FR"/>
            </a:p>
          </p:txBody>
        </p:sp>
        <p:sp>
          <p:nvSpPr>
            <p:cNvPr id="391241" name="Rectangle 73"/>
            <p:cNvSpPr>
              <a:spLocks noChangeArrowheads="1"/>
            </p:cNvSpPr>
            <p:nvPr/>
          </p:nvSpPr>
          <p:spPr bwMode="auto">
            <a:xfrm>
              <a:off x="840" y="3144"/>
              <a:ext cx="96" cy="96"/>
            </a:xfrm>
            <a:prstGeom prst="rect">
              <a:avLst/>
            </a:prstGeom>
            <a:gradFill rotWithShape="1">
              <a:gsLst>
                <a:gs pos="0">
                  <a:srgbClr val="FFFFCC"/>
                </a:gs>
                <a:gs pos="100000">
                  <a:srgbClr val="FFCC66"/>
                </a:gs>
              </a:gsLst>
              <a:lin ang="18900000" scaled="1"/>
            </a:gradFill>
            <a:ln w="9525" algn="ctr">
              <a:solidFill>
                <a:srgbClr val="666699"/>
              </a:solidFill>
              <a:miter lim="800000"/>
              <a:headEnd/>
              <a:tailEnd/>
            </a:ln>
            <a:effectLst>
              <a:outerShdw dist="17961" dir="8100000" algn="ctr" rotWithShape="0">
                <a:schemeClr val="tx1"/>
              </a:outerShdw>
            </a:effectLst>
          </p:spPr>
          <p:txBody>
            <a:bodyPr wrap="none" anchor="ctr"/>
            <a:lstStyle/>
            <a:p>
              <a:endParaRPr lang="fr-F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91216"/>
                                        </p:tgtEl>
                                        <p:attrNameLst>
                                          <p:attrName>style.visibility</p:attrName>
                                        </p:attrNameLst>
                                      </p:cBhvr>
                                      <p:to>
                                        <p:strVal val="visible"/>
                                      </p:to>
                                    </p:set>
                                    <p:animEffect transition="in" filter="wipe(right)">
                                      <p:cBhvr>
                                        <p:cTn id="7" dur="500"/>
                                        <p:tgtEl>
                                          <p:spTgt spid="391216"/>
                                        </p:tgtEl>
                                      </p:cBhvr>
                                    </p:animEffect>
                                  </p:childTnLst>
                                </p:cTn>
                              </p:par>
                            </p:childTnLst>
                          </p:cTn>
                        </p:par>
                        <p:par>
                          <p:cTn id="8" fill="hold">
                            <p:stCondLst>
                              <p:cond delay="500"/>
                            </p:stCondLst>
                            <p:childTnLst>
                              <p:par>
                                <p:cTn id="9" presetID="22" presetClass="entr" presetSubtype="8" fill="hold" grpId="0" nodeType="afterEffect">
                                  <p:stCondLst>
                                    <p:cond delay="500"/>
                                  </p:stCondLst>
                                  <p:childTnLst>
                                    <p:set>
                                      <p:cBhvr>
                                        <p:cTn id="10" dur="1" fill="hold">
                                          <p:stCondLst>
                                            <p:cond delay="0"/>
                                          </p:stCondLst>
                                        </p:cTn>
                                        <p:tgtEl>
                                          <p:spTgt spid="391217"/>
                                        </p:tgtEl>
                                        <p:attrNameLst>
                                          <p:attrName>style.visibility</p:attrName>
                                        </p:attrNameLst>
                                      </p:cBhvr>
                                      <p:to>
                                        <p:strVal val="visible"/>
                                      </p:to>
                                    </p:set>
                                    <p:animEffect transition="in" filter="wipe(left)">
                                      <p:cBhvr>
                                        <p:cTn id="11" dur="500"/>
                                        <p:tgtEl>
                                          <p:spTgt spid="391217"/>
                                        </p:tgtEl>
                                      </p:cBhvr>
                                    </p:animEffect>
                                  </p:childTnLst>
                                </p:cTn>
                              </p:par>
                            </p:childTnLst>
                          </p:cTn>
                        </p:par>
                        <p:par>
                          <p:cTn id="12" fill="hold">
                            <p:stCondLst>
                              <p:cond delay="1500"/>
                            </p:stCondLst>
                            <p:childTnLst>
                              <p:par>
                                <p:cTn id="13" presetID="1"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1216" grpId="0" animBg="1"/>
      <p:bldP spid="39121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26" name="Rectangle 2"/>
          <p:cNvSpPr>
            <a:spLocks noGrp="1" noChangeArrowheads="1"/>
          </p:cNvSpPr>
          <p:nvPr>
            <p:ph type="title"/>
            <p:custDataLst>
              <p:tags r:id="rId1"/>
            </p:custDataLst>
          </p:nvPr>
        </p:nvSpPr>
        <p:spPr/>
        <p:txBody>
          <a:bodyPr vert="horz" anchor="b">
            <a:normAutofit fontScale="90000"/>
          </a:bodyPr>
          <a:lstStyle/>
          <a:p>
            <a:r>
              <a:rPr lang="fr-FR" sz="2800" dirty="0">
                <a:solidFill>
                  <a:srgbClr val="C00000"/>
                </a:solidFill>
              </a:rPr>
              <a:t>Configuration requise pour un serveur </a:t>
            </a:r>
            <a:br>
              <a:rPr lang="fr-FR" sz="2800" dirty="0">
                <a:solidFill>
                  <a:srgbClr val="C00000"/>
                </a:solidFill>
              </a:rPr>
            </a:br>
            <a:r>
              <a:rPr lang="fr-FR" sz="2800" dirty="0">
                <a:solidFill>
                  <a:srgbClr val="C00000"/>
                </a:solidFill>
              </a:rPr>
              <a:t>d'accès distant</a:t>
            </a:r>
            <a:endParaRPr sz="2800" dirty="0">
              <a:solidFill>
                <a:srgbClr val="C00000"/>
              </a:solidFill>
            </a:endParaRPr>
          </a:p>
        </p:txBody>
      </p:sp>
      <p:sp>
        <p:nvSpPr>
          <p:cNvPr id="487444" name="AutoShape 20"/>
          <p:cNvSpPr>
            <a:spLocks noChangeArrowheads="1"/>
          </p:cNvSpPr>
          <p:nvPr>
            <p:custDataLst>
              <p:tags r:id="rId2"/>
            </p:custDataLst>
          </p:nvPr>
        </p:nvSpPr>
        <p:spPr bwMode="auto">
          <a:xfrm>
            <a:off x="632732" y="2672443"/>
            <a:ext cx="7800068" cy="3249385"/>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spcBef>
                <a:spcPct val="40000"/>
              </a:spcBef>
              <a:buSzPct val="80000"/>
              <a:buFontTx/>
              <a:buBlip>
                <a:blip r:embed="rId5"/>
              </a:buBlip>
            </a:pPr>
            <a:r>
              <a:rPr lang="en-GB" sz="2400" b="1" dirty="0" err="1">
                <a:solidFill>
                  <a:srgbClr val="000000"/>
                </a:solidFill>
              </a:rPr>
              <a:t>Déterminer</a:t>
            </a:r>
            <a:r>
              <a:rPr lang="en-GB" sz="2400" b="1" dirty="0">
                <a:solidFill>
                  <a:srgbClr val="000000"/>
                </a:solidFill>
              </a:rPr>
              <a:t> </a:t>
            </a:r>
            <a:r>
              <a:rPr lang="en-GB" sz="2400" b="1" dirty="0" err="1">
                <a:solidFill>
                  <a:srgbClr val="000000"/>
                </a:solidFill>
              </a:rPr>
              <a:t>si</a:t>
            </a:r>
            <a:r>
              <a:rPr lang="en-GB" sz="2400" b="1" dirty="0">
                <a:solidFill>
                  <a:srgbClr val="000000"/>
                </a:solidFill>
              </a:rPr>
              <a:t> les clients </a:t>
            </a:r>
            <a:r>
              <a:rPr lang="en-GB" sz="2400" b="1" dirty="0" err="1">
                <a:solidFill>
                  <a:srgbClr val="000000"/>
                </a:solidFill>
              </a:rPr>
              <a:t>reçoivent</a:t>
            </a:r>
            <a:r>
              <a:rPr lang="en-GB" sz="2400" b="1" dirty="0">
                <a:solidFill>
                  <a:srgbClr val="000000"/>
                </a:solidFill>
              </a:rPr>
              <a:t> des </a:t>
            </a:r>
            <a:r>
              <a:rPr lang="en-GB" sz="2400" b="1" dirty="0" err="1">
                <a:solidFill>
                  <a:srgbClr val="000000"/>
                </a:solidFill>
              </a:rPr>
              <a:t>adresses</a:t>
            </a:r>
            <a:r>
              <a:rPr lang="en-GB" sz="2400" b="1" dirty="0">
                <a:solidFill>
                  <a:srgbClr val="000000"/>
                </a:solidFill>
              </a:rPr>
              <a:t> IP </a:t>
            </a:r>
            <a:br>
              <a:rPr lang="en-GB" sz="2400" b="1" dirty="0">
                <a:solidFill>
                  <a:srgbClr val="000000"/>
                </a:solidFill>
              </a:rPr>
            </a:br>
            <a:r>
              <a:rPr lang="en-GB" sz="2400" b="1" dirty="0">
                <a:solidFill>
                  <a:srgbClr val="000000"/>
                </a:solidFill>
              </a:rPr>
              <a:t>d'un </a:t>
            </a:r>
            <a:r>
              <a:rPr lang="en-GB" sz="2400" b="1" dirty="0" err="1">
                <a:solidFill>
                  <a:srgbClr val="000000"/>
                </a:solidFill>
              </a:rPr>
              <a:t>serveur</a:t>
            </a:r>
            <a:r>
              <a:rPr lang="en-GB" sz="2400" b="1" dirty="0">
                <a:solidFill>
                  <a:srgbClr val="000000"/>
                </a:solidFill>
              </a:rPr>
              <a:t> DHCP </a:t>
            </a:r>
            <a:r>
              <a:rPr lang="en-GB" sz="2400" b="1" dirty="0" err="1">
                <a:solidFill>
                  <a:srgbClr val="000000"/>
                </a:solidFill>
              </a:rPr>
              <a:t>ou</a:t>
            </a:r>
            <a:r>
              <a:rPr lang="en-GB" sz="2400" b="1" dirty="0">
                <a:solidFill>
                  <a:srgbClr val="000000"/>
                </a:solidFill>
              </a:rPr>
              <a:t> du </a:t>
            </a:r>
            <a:r>
              <a:rPr lang="en-GB" sz="2400" b="1" dirty="0" err="1">
                <a:solidFill>
                  <a:srgbClr val="000000"/>
                </a:solidFill>
              </a:rPr>
              <a:t>serveur</a:t>
            </a:r>
            <a:r>
              <a:rPr lang="en-GB" sz="2400" b="1" dirty="0">
                <a:solidFill>
                  <a:srgbClr val="000000"/>
                </a:solidFill>
              </a:rPr>
              <a:t> </a:t>
            </a:r>
            <a:r>
              <a:rPr lang="en-GB" sz="2400" b="1" dirty="0" err="1">
                <a:solidFill>
                  <a:srgbClr val="000000"/>
                </a:solidFill>
              </a:rPr>
              <a:t>d'accès</a:t>
            </a:r>
            <a:r>
              <a:rPr lang="en-GB" sz="2400" b="1" dirty="0">
                <a:solidFill>
                  <a:srgbClr val="000000"/>
                </a:solidFill>
              </a:rPr>
              <a:t> distant</a:t>
            </a:r>
            <a:endParaRPr lang="en-US" sz="2400" b="1" dirty="0">
              <a:solidFill>
                <a:srgbClr val="000000"/>
              </a:solidFill>
              <a:cs typeface="Times New Roman" pitchFamily="18" charset="0"/>
            </a:endParaRPr>
          </a:p>
          <a:p>
            <a:pPr marL="231775" indent="-231775" algn="l">
              <a:lnSpc>
                <a:spcPct val="90000"/>
              </a:lnSpc>
              <a:spcBef>
                <a:spcPct val="40000"/>
              </a:spcBef>
              <a:buSzPct val="80000"/>
              <a:buFontTx/>
              <a:buBlip>
                <a:blip r:embed="rId5"/>
              </a:buBlip>
            </a:pPr>
            <a:r>
              <a:rPr lang="en-GB" sz="2400" b="1" dirty="0" err="1">
                <a:solidFill>
                  <a:srgbClr val="000000"/>
                </a:solidFill>
              </a:rPr>
              <a:t>Indiquer</a:t>
            </a:r>
            <a:r>
              <a:rPr lang="en-GB" sz="2400" b="1" dirty="0">
                <a:solidFill>
                  <a:srgbClr val="000000"/>
                </a:solidFill>
              </a:rPr>
              <a:t> </a:t>
            </a:r>
            <a:r>
              <a:rPr lang="en-GB" sz="2400" b="1" dirty="0" err="1">
                <a:solidFill>
                  <a:srgbClr val="000000"/>
                </a:solidFill>
              </a:rPr>
              <a:t>si</a:t>
            </a:r>
            <a:r>
              <a:rPr lang="en-GB" sz="2400" b="1" dirty="0">
                <a:solidFill>
                  <a:srgbClr val="000000"/>
                </a:solidFill>
              </a:rPr>
              <a:t> les </a:t>
            </a:r>
            <a:r>
              <a:rPr lang="en-GB" sz="2400" b="1" dirty="0" err="1">
                <a:solidFill>
                  <a:srgbClr val="000000"/>
                </a:solidFill>
              </a:rPr>
              <a:t>demandes</a:t>
            </a:r>
            <a:r>
              <a:rPr lang="en-GB" sz="2400" b="1" dirty="0">
                <a:solidFill>
                  <a:srgbClr val="000000"/>
                </a:solidFill>
              </a:rPr>
              <a:t> de connexion </a:t>
            </a:r>
            <a:r>
              <a:rPr lang="en-GB" sz="2400" b="1" dirty="0" err="1">
                <a:solidFill>
                  <a:srgbClr val="000000"/>
                </a:solidFill>
              </a:rPr>
              <a:t>doivent</a:t>
            </a:r>
            <a:r>
              <a:rPr lang="en-GB" sz="2400" b="1" dirty="0">
                <a:solidFill>
                  <a:srgbClr val="000000"/>
                </a:solidFill>
              </a:rPr>
              <a:t> </a:t>
            </a:r>
            <a:r>
              <a:rPr lang="en-GB" sz="2400" b="1" dirty="0" err="1">
                <a:solidFill>
                  <a:srgbClr val="000000"/>
                </a:solidFill>
              </a:rPr>
              <a:t>être</a:t>
            </a:r>
            <a:r>
              <a:rPr lang="en-GB" sz="2400" b="1" dirty="0">
                <a:solidFill>
                  <a:srgbClr val="000000"/>
                </a:solidFill>
              </a:rPr>
              <a:t> </a:t>
            </a:r>
            <a:r>
              <a:rPr lang="en-GB" sz="2400" b="1" dirty="0" err="1">
                <a:solidFill>
                  <a:srgbClr val="000000"/>
                </a:solidFill>
              </a:rPr>
              <a:t>authentifiées</a:t>
            </a:r>
            <a:r>
              <a:rPr lang="en-GB" sz="2400" b="1" dirty="0">
                <a:solidFill>
                  <a:srgbClr val="000000"/>
                </a:solidFill>
              </a:rPr>
              <a:t> par un </a:t>
            </a:r>
            <a:r>
              <a:rPr lang="en-GB" sz="2400" b="1" dirty="0" err="1">
                <a:solidFill>
                  <a:srgbClr val="000000"/>
                </a:solidFill>
              </a:rPr>
              <a:t>serveur</a:t>
            </a:r>
            <a:r>
              <a:rPr lang="en-GB" sz="2400" b="1" dirty="0">
                <a:solidFill>
                  <a:srgbClr val="000000"/>
                </a:solidFill>
              </a:rPr>
              <a:t> NPS(RADIUS) </a:t>
            </a:r>
            <a:r>
              <a:rPr lang="en-GB" sz="2400" b="1" dirty="0" err="1">
                <a:solidFill>
                  <a:srgbClr val="000000"/>
                </a:solidFill>
              </a:rPr>
              <a:t>ou</a:t>
            </a:r>
            <a:r>
              <a:rPr lang="en-GB" sz="2400" b="1" dirty="0">
                <a:solidFill>
                  <a:srgbClr val="000000"/>
                </a:solidFill>
              </a:rPr>
              <a:t> par le </a:t>
            </a:r>
            <a:r>
              <a:rPr lang="en-GB" sz="2400" b="1" dirty="0" err="1">
                <a:solidFill>
                  <a:srgbClr val="000000"/>
                </a:solidFill>
              </a:rPr>
              <a:t>serveur</a:t>
            </a:r>
            <a:r>
              <a:rPr lang="en-GB" sz="2400" b="1" dirty="0">
                <a:solidFill>
                  <a:srgbClr val="000000"/>
                </a:solidFill>
              </a:rPr>
              <a:t> </a:t>
            </a:r>
            <a:r>
              <a:rPr lang="en-GB" sz="2400" b="1" dirty="0" err="1">
                <a:solidFill>
                  <a:srgbClr val="000000"/>
                </a:solidFill>
              </a:rPr>
              <a:t>d'accès</a:t>
            </a:r>
            <a:r>
              <a:rPr lang="en-GB" sz="2400" b="1" dirty="0">
                <a:solidFill>
                  <a:srgbClr val="000000"/>
                </a:solidFill>
              </a:rPr>
              <a:t> distant</a:t>
            </a:r>
            <a:endParaRPr lang="en-US" sz="2400" b="1" dirty="0">
              <a:solidFill>
                <a:srgbClr val="000000"/>
              </a:solidFill>
              <a:cs typeface="Times New Roman" pitchFamily="18" charset="0"/>
            </a:endParaRPr>
          </a:p>
          <a:p>
            <a:pPr marL="231775" indent="-231775" algn="l">
              <a:lnSpc>
                <a:spcPct val="90000"/>
              </a:lnSpc>
              <a:spcBef>
                <a:spcPct val="40000"/>
              </a:spcBef>
              <a:buSzPct val="80000"/>
              <a:buFontTx/>
              <a:buBlip>
                <a:blip r:embed="rId5"/>
              </a:buBlip>
            </a:pPr>
            <a:r>
              <a:rPr lang="en-GB" sz="2400" b="1" dirty="0" err="1">
                <a:solidFill>
                  <a:srgbClr val="000000"/>
                </a:solidFill>
              </a:rPr>
              <a:t>Vérifier</a:t>
            </a:r>
            <a:r>
              <a:rPr lang="en-GB" sz="2400" b="1" dirty="0">
                <a:solidFill>
                  <a:srgbClr val="000000"/>
                </a:solidFill>
              </a:rPr>
              <a:t> </a:t>
            </a:r>
            <a:r>
              <a:rPr lang="en-GB" sz="2400" b="1" dirty="0" err="1">
                <a:solidFill>
                  <a:srgbClr val="000000"/>
                </a:solidFill>
              </a:rPr>
              <a:t>que</a:t>
            </a:r>
            <a:r>
              <a:rPr lang="en-GB" sz="2400" b="1" dirty="0">
                <a:solidFill>
                  <a:srgbClr val="000000"/>
                </a:solidFill>
              </a:rPr>
              <a:t> les </a:t>
            </a:r>
            <a:r>
              <a:rPr lang="en-GB" sz="2400" b="1" dirty="0" err="1">
                <a:solidFill>
                  <a:srgbClr val="000000"/>
                </a:solidFill>
              </a:rPr>
              <a:t>utilisateurs</a:t>
            </a:r>
            <a:r>
              <a:rPr lang="en-GB" sz="2400" b="1" dirty="0">
                <a:solidFill>
                  <a:srgbClr val="000000"/>
                </a:solidFill>
              </a:rPr>
              <a:t> </a:t>
            </a:r>
            <a:r>
              <a:rPr lang="en-GB" sz="2400" b="1" dirty="0" err="1">
                <a:solidFill>
                  <a:srgbClr val="000000"/>
                </a:solidFill>
              </a:rPr>
              <a:t>disposent</a:t>
            </a:r>
            <a:r>
              <a:rPr lang="en-GB" sz="2400" b="1" dirty="0">
                <a:solidFill>
                  <a:srgbClr val="000000"/>
                </a:solidFill>
              </a:rPr>
              <a:t> de </a:t>
            </a:r>
            <a:r>
              <a:rPr lang="en-GB" sz="2400" b="1" dirty="0" err="1">
                <a:solidFill>
                  <a:srgbClr val="000000"/>
                </a:solidFill>
              </a:rPr>
              <a:t>comptes</a:t>
            </a:r>
            <a:r>
              <a:rPr lang="en-GB" sz="2400" b="1" dirty="0">
                <a:solidFill>
                  <a:srgbClr val="000000"/>
                </a:solidFill>
              </a:rPr>
              <a:t> </a:t>
            </a:r>
            <a:r>
              <a:rPr lang="en-GB" sz="2400" b="1" dirty="0" err="1">
                <a:solidFill>
                  <a:srgbClr val="000000"/>
                </a:solidFill>
              </a:rPr>
              <a:t>d'utilisateurs</a:t>
            </a:r>
            <a:r>
              <a:rPr lang="en-GB" sz="2400" b="1" dirty="0">
                <a:solidFill>
                  <a:srgbClr val="000000"/>
                </a:solidFill>
              </a:rPr>
              <a:t> </a:t>
            </a:r>
            <a:r>
              <a:rPr lang="en-GB" sz="2400" b="1" dirty="0" err="1">
                <a:solidFill>
                  <a:srgbClr val="000000"/>
                </a:solidFill>
              </a:rPr>
              <a:t>configurés</a:t>
            </a:r>
            <a:r>
              <a:rPr lang="en-GB" sz="2400" b="1" dirty="0">
                <a:solidFill>
                  <a:srgbClr val="000000"/>
                </a:solidFill>
              </a:rPr>
              <a:t> pour </a:t>
            </a:r>
            <a:r>
              <a:rPr lang="en-GB" sz="2400" b="1" dirty="0" err="1">
                <a:solidFill>
                  <a:srgbClr val="000000"/>
                </a:solidFill>
              </a:rPr>
              <a:t>permettre</a:t>
            </a:r>
            <a:r>
              <a:rPr lang="en-GB" sz="2400" b="1" dirty="0">
                <a:solidFill>
                  <a:srgbClr val="000000"/>
                </a:solidFill>
              </a:rPr>
              <a:t> </a:t>
            </a:r>
            <a:r>
              <a:rPr lang="en-GB" sz="2400" b="1" dirty="0" err="1">
                <a:solidFill>
                  <a:srgbClr val="000000"/>
                </a:solidFill>
              </a:rPr>
              <a:t>l'accès</a:t>
            </a:r>
            <a:r>
              <a:rPr lang="en-GB" sz="2400" b="1" dirty="0">
                <a:solidFill>
                  <a:srgbClr val="000000"/>
                </a:solidFill>
              </a:rPr>
              <a:t> </a:t>
            </a:r>
            <a:r>
              <a:rPr lang="en-GB" sz="2400" b="1" dirty="0" err="1">
                <a:solidFill>
                  <a:srgbClr val="000000"/>
                </a:solidFill>
              </a:rPr>
              <a:t>réseau</a:t>
            </a:r>
            <a:r>
              <a:rPr lang="en-GB" sz="2400" b="1" dirty="0">
                <a:solidFill>
                  <a:srgbClr val="000000"/>
                </a:solidFill>
              </a:rPr>
              <a:t> </a:t>
            </a:r>
            <a:br>
              <a:rPr lang="en-GB" sz="2400" b="1" dirty="0">
                <a:solidFill>
                  <a:srgbClr val="000000"/>
                </a:solidFill>
              </a:rPr>
            </a:br>
            <a:r>
              <a:rPr lang="en-GB" sz="2400" b="1" dirty="0">
                <a:solidFill>
                  <a:srgbClr val="000000"/>
                </a:solidFill>
              </a:rPr>
              <a:t>à distance</a:t>
            </a:r>
            <a:endParaRPr lang="en-US" sz="2400" b="1" dirty="0">
              <a:solidFill>
                <a:srgbClr val="000000"/>
              </a:solidFill>
            </a:endParaRPr>
          </a:p>
        </p:txBody>
      </p:sp>
      <p:sp>
        <p:nvSpPr>
          <p:cNvPr id="5" name="Rectangle 4"/>
          <p:cNvSpPr/>
          <p:nvPr/>
        </p:nvSpPr>
        <p:spPr>
          <a:xfrm>
            <a:off x="268515" y="1632021"/>
            <a:ext cx="8469086" cy="892552"/>
          </a:xfrm>
          <a:prstGeom prst="rect">
            <a:avLst/>
          </a:prstGeom>
        </p:spPr>
        <p:txBody>
          <a:bodyPr wrap="square">
            <a:spAutoFit/>
          </a:bodyPr>
          <a:lstStyle/>
          <a:p>
            <a:pPr algn="l"/>
            <a:r>
              <a:rPr lang="en-GB" sz="2600" b="1" dirty="0" err="1">
                <a:solidFill>
                  <a:srgbClr val="000000"/>
                </a:solidFill>
              </a:rPr>
              <a:t>Avant</a:t>
            </a:r>
            <a:r>
              <a:rPr lang="en-GB" sz="2600" b="1" dirty="0">
                <a:solidFill>
                  <a:srgbClr val="000000"/>
                </a:solidFill>
              </a:rPr>
              <a:t> </a:t>
            </a:r>
            <a:r>
              <a:rPr lang="en-GB" sz="2600" b="1" dirty="0" err="1">
                <a:solidFill>
                  <a:srgbClr val="000000"/>
                </a:solidFill>
              </a:rPr>
              <a:t>d'ajouter</a:t>
            </a:r>
            <a:r>
              <a:rPr lang="en-GB" sz="2600" b="1" dirty="0">
                <a:solidFill>
                  <a:srgbClr val="000000"/>
                </a:solidFill>
              </a:rPr>
              <a:t> un </a:t>
            </a:r>
            <a:r>
              <a:rPr lang="en-GB" sz="2600" b="1" dirty="0" err="1">
                <a:solidFill>
                  <a:srgbClr val="000000"/>
                </a:solidFill>
              </a:rPr>
              <a:t>serveur</a:t>
            </a:r>
            <a:r>
              <a:rPr lang="en-GB" sz="2600" b="1" dirty="0">
                <a:solidFill>
                  <a:srgbClr val="000000"/>
                </a:solidFill>
              </a:rPr>
              <a:t> </a:t>
            </a:r>
            <a:r>
              <a:rPr lang="en-GB" sz="2600" b="1" dirty="0" err="1">
                <a:solidFill>
                  <a:srgbClr val="000000"/>
                </a:solidFill>
              </a:rPr>
              <a:t>d'accès</a:t>
            </a:r>
            <a:r>
              <a:rPr lang="en-GB" sz="2600" b="1" dirty="0">
                <a:solidFill>
                  <a:srgbClr val="000000"/>
                </a:solidFill>
              </a:rPr>
              <a:t> distant pour un </a:t>
            </a:r>
            <a:r>
              <a:rPr lang="en-GB" sz="2600" b="1" dirty="0" err="1">
                <a:solidFill>
                  <a:srgbClr val="000000"/>
                </a:solidFill>
              </a:rPr>
              <a:t>accès</a:t>
            </a:r>
            <a:r>
              <a:rPr lang="en-GB" sz="2600" b="1" dirty="0">
                <a:solidFill>
                  <a:srgbClr val="000000"/>
                </a:solidFill>
              </a:rPr>
              <a:t> à distance :</a:t>
            </a:r>
            <a:endParaRPr lang="en-US" sz="26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87444">
                                            <p:txEl>
                                              <p:pRg st="0" end="0"/>
                                            </p:txEl>
                                          </p:spTgt>
                                        </p:tgtEl>
                                        <p:attrNameLst>
                                          <p:attrName>style.visibility</p:attrName>
                                        </p:attrNameLst>
                                      </p:cBhvr>
                                      <p:to>
                                        <p:strVal val="visible"/>
                                      </p:to>
                                    </p:set>
                                    <p:animEffect transition="in" filter="checkerboard(across)">
                                      <p:cBhvr>
                                        <p:cTn id="7" dur="1000"/>
                                        <p:tgtEl>
                                          <p:spTgt spid="48744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87444">
                                            <p:txEl>
                                              <p:pRg st="1" end="1"/>
                                            </p:txEl>
                                          </p:spTgt>
                                        </p:tgtEl>
                                        <p:attrNameLst>
                                          <p:attrName>style.visibility</p:attrName>
                                        </p:attrNameLst>
                                      </p:cBhvr>
                                      <p:to>
                                        <p:strVal val="visible"/>
                                      </p:to>
                                    </p:set>
                                    <p:animEffect transition="in" filter="checkerboard(across)">
                                      <p:cBhvr>
                                        <p:cTn id="12" dur="1000"/>
                                        <p:tgtEl>
                                          <p:spTgt spid="48744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87444">
                                            <p:txEl>
                                              <p:pRg st="2" end="2"/>
                                            </p:txEl>
                                          </p:spTgt>
                                        </p:tgtEl>
                                        <p:attrNameLst>
                                          <p:attrName>style.visibility</p:attrName>
                                        </p:attrNameLst>
                                      </p:cBhvr>
                                      <p:to>
                                        <p:strVal val="visible"/>
                                      </p:to>
                                    </p:set>
                                    <p:animEffect transition="in" filter="checkerboard(across)">
                                      <p:cBhvr>
                                        <p:cTn id="17" dur="1000"/>
                                        <p:tgtEl>
                                          <p:spTgt spid="48744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8" name="Rectangle 2"/>
          <p:cNvSpPr>
            <a:spLocks noGrp="1" noChangeArrowheads="1"/>
          </p:cNvSpPr>
          <p:nvPr>
            <p:ph type="title"/>
            <p:custDataLst>
              <p:tags r:id="rId1"/>
            </p:custDataLst>
          </p:nvPr>
        </p:nvSpPr>
        <p:spPr>
          <a:xfrm>
            <a:off x="188686" y="310016"/>
            <a:ext cx="8766628" cy="684212"/>
          </a:xfrm>
          <a:noFill/>
          <a:ln/>
        </p:spPr>
        <p:txBody>
          <a:bodyPr>
            <a:normAutofit fontScale="90000"/>
          </a:bodyPr>
          <a:lstStyle/>
          <a:p>
            <a:r>
              <a:rPr lang="fr-FR" dirty="0">
                <a:solidFill>
                  <a:srgbClr val="000000"/>
                </a:solidFill>
              </a:rPr>
              <a:t>3. </a:t>
            </a:r>
            <a:r>
              <a:rPr lang="en-GB" dirty="0">
                <a:solidFill>
                  <a:srgbClr val="000000"/>
                </a:solidFill>
              </a:rPr>
              <a:t>Configuration </a:t>
            </a:r>
            <a:r>
              <a:rPr lang="en-GB" dirty="0" err="1">
                <a:solidFill>
                  <a:srgbClr val="000000"/>
                </a:solidFill>
              </a:rPr>
              <a:t>d'une</a:t>
            </a:r>
            <a:r>
              <a:rPr lang="en-GB" dirty="0">
                <a:solidFill>
                  <a:srgbClr val="000000"/>
                </a:solidFill>
              </a:rPr>
              <a:t> connexion sans </a:t>
            </a:r>
            <a:r>
              <a:rPr lang="en-GB" dirty="0" err="1">
                <a:solidFill>
                  <a:srgbClr val="000000"/>
                </a:solidFill>
              </a:rPr>
              <a:t>fil</a:t>
            </a:r>
            <a:endParaRPr lang="en-US" dirty="0">
              <a:solidFill>
                <a:srgbClr val="000000"/>
              </a:solidFill>
            </a:endParaRPr>
          </a:p>
        </p:txBody>
      </p:sp>
      <p:sp>
        <p:nvSpPr>
          <p:cNvPr id="260099" name="Rectangle 3"/>
          <p:cNvSpPr>
            <a:spLocks noGrp="1" noChangeArrowheads="1"/>
          </p:cNvSpPr>
          <p:nvPr>
            <p:ph sz="quarter" idx="1"/>
            <p:custDataLst>
              <p:tags r:id="rId2"/>
            </p:custDataLst>
          </p:nvPr>
        </p:nvSpPr>
        <p:spPr/>
        <p:txBody>
          <a:bodyPr/>
          <a:lstStyle/>
          <a:p>
            <a:pPr>
              <a:buClrTx/>
              <a:buFont typeface="Wingdings" pitchFamily="2" charset="2"/>
              <a:buChar char="Ø"/>
            </a:pPr>
            <a:r>
              <a:rPr lang="en-GB" dirty="0" err="1">
                <a:solidFill>
                  <a:srgbClr val="000000"/>
                </a:solidFill>
              </a:rPr>
              <a:t>Vue</a:t>
            </a:r>
            <a:r>
              <a:rPr lang="en-GB" dirty="0">
                <a:solidFill>
                  <a:srgbClr val="000000"/>
                </a:solidFill>
              </a:rPr>
              <a:t> </a:t>
            </a:r>
            <a:r>
              <a:rPr lang="en-GB" dirty="0" err="1">
                <a:solidFill>
                  <a:srgbClr val="000000"/>
                </a:solidFill>
              </a:rPr>
              <a:t>d'ensemble</a:t>
            </a:r>
            <a:r>
              <a:rPr lang="en-GB" dirty="0">
                <a:solidFill>
                  <a:srgbClr val="000000"/>
                </a:solidFill>
              </a:rPr>
              <a:t> de </a:t>
            </a:r>
            <a:r>
              <a:rPr lang="en-GB" dirty="0" err="1">
                <a:solidFill>
                  <a:srgbClr val="000000"/>
                </a:solidFill>
              </a:rPr>
              <a:t>l'accès</a:t>
            </a:r>
            <a:r>
              <a:rPr lang="en-GB" dirty="0">
                <a:solidFill>
                  <a:srgbClr val="000000"/>
                </a:solidFill>
              </a:rPr>
              <a:t> </a:t>
            </a:r>
            <a:r>
              <a:rPr lang="en-GB" dirty="0" err="1">
                <a:solidFill>
                  <a:srgbClr val="000000"/>
                </a:solidFill>
              </a:rPr>
              <a:t>réseau</a:t>
            </a:r>
            <a:r>
              <a:rPr lang="en-GB" dirty="0">
                <a:solidFill>
                  <a:srgbClr val="000000"/>
                </a:solidFill>
              </a:rPr>
              <a:t> sans </a:t>
            </a:r>
            <a:r>
              <a:rPr lang="en-GB" dirty="0" err="1">
                <a:solidFill>
                  <a:srgbClr val="000000"/>
                </a:solidFill>
              </a:rPr>
              <a:t>fil</a:t>
            </a:r>
            <a:endParaRPr lang="en-US" dirty="0"/>
          </a:p>
          <a:p>
            <a:pPr>
              <a:buClrTx/>
              <a:buFont typeface="Wingdings" pitchFamily="2" charset="2"/>
              <a:buChar char="Ø"/>
            </a:pPr>
            <a:r>
              <a:rPr lang="en-GB" dirty="0" err="1">
                <a:solidFill>
                  <a:srgbClr val="000000"/>
                </a:solidFill>
              </a:rPr>
              <a:t>Composants</a:t>
            </a:r>
            <a:r>
              <a:rPr lang="en-GB" dirty="0">
                <a:solidFill>
                  <a:srgbClr val="000000"/>
                </a:solidFill>
              </a:rPr>
              <a:t> </a:t>
            </a:r>
            <a:r>
              <a:rPr lang="en-GB" dirty="0" err="1">
                <a:solidFill>
                  <a:srgbClr val="000000"/>
                </a:solidFill>
              </a:rPr>
              <a:t>d'une</a:t>
            </a:r>
            <a:r>
              <a:rPr lang="en-GB" dirty="0">
                <a:solidFill>
                  <a:srgbClr val="000000"/>
                </a:solidFill>
              </a:rPr>
              <a:t> connexion sans </a:t>
            </a:r>
            <a:r>
              <a:rPr lang="en-GB" dirty="0" err="1">
                <a:solidFill>
                  <a:srgbClr val="000000"/>
                </a:solidFill>
              </a:rPr>
              <a:t>fil</a:t>
            </a:r>
            <a:endParaRPr lang="en-US" dirty="0"/>
          </a:p>
          <a:p>
            <a:pPr>
              <a:buClrTx/>
              <a:buFont typeface="Wingdings" pitchFamily="2" charset="2"/>
              <a:buChar char="Ø"/>
            </a:pPr>
            <a:r>
              <a:rPr lang="en-GB" dirty="0" err="1">
                <a:solidFill>
                  <a:srgbClr val="000000"/>
                </a:solidFill>
              </a:rPr>
              <a:t>Normes</a:t>
            </a:r>
            <a:r>
              <a:rPr lang="en-GB" dirty="0">
                <a:solidFill>
                  <a:srgbClr val="000000"/>
                </a:solidFill>
              </a:rPr>
              <a:t> sans </a:t>
            </a:r>
            <a:r>
              <a:rPr lang="en-GB" dirty="0" err="1">
                <a:solidFill>
                  <a:srgbClr val="000000"/>
                </a:solidFill>
              </a:rPr>
              <a:t>fil</a:t>
            </a:r>
            <a:endParaRPr lang="en-US" dirty="0"/>
          </a:p>
          <a:p>
            <a:pPr>
              <a:buClrTx/>
              <a:buFont typeface="Wingdings" pitchFamily="2" charset="2"/>
              <a:buChar char="Ø"/>
            </a:pPr>
            <a:r>
              <a:rPr lang="en-GB" dirty="0" err="1">
                <a:solidFill>
                  <a:srgbClr val="000000"/>
                </a:solidFill>
              </a:rPr>
              <a:t>Méthodes</a:t>
            </a:r>
            <a:r>
              <a:rPr lang="en-GB" dirty="0">
                <a:solidFill>
                  <a:srgbClr val="000000"/>
                </a:solidFill>
              </a:rPr>
              <a:t> </a:t>
            </a:r>
            <a:r>
              <a:rPr lang="en-GB" dirty="0" err="1">
                <a:solidFill>
                  <a:srgbClr val="000000"/>
                </a:solidFill>
              </a:rPr>
              <a:t>d'authentification</a:t>
            </a:r>
            <a:r>
              <a:rPr lang="en-GB" dirty="0">
                <a:solidFill>
                  <a:srgbClr val="000000"/>
                </a:solidFill>
              </a:rPr>
              <a:t> </a:t>
            </a:r>
            <a:r>
              <a:rPr lang="en-GB" dirty="0" err="1">
                <a:solidFill>
                  <a:srgbClr val="000000"/>
                </a:solidFill>
              </a:rPr>
              <a:t>disponibles</a:t>
            </a:r>
            <a:r>
              <a:rPr lang="en-GB" dirty="0">
                <a:solidFill>
                  <a:srgbClr val="000000"/>
                </a:solidFill>
              </a:rPr>
              <a:t> pour les </a:t>
            </a:r>
            <a:r>
              <a:rPr lang="en-GB" dirty="0" err="1">
                <a:solidFill>
                  <a:srgbClr val="000000"/>
                </a:solidFill>
              </a:rPr>
              <a:t>réseaux</a:t>
            </a:r>
            <a:r>
              <a:rPr lang="en-GB" dirty="0">
                <a:solidFill>
                  <a:srgbClr val="000000"/>
                </a:solidFill>
              </a:rPr>
              <a:t> sans </a:t>
            </a:r>
            <a:r>
              <a:rPr lang="en-GB" dirty="0" err="1">
                <a:solidFill>
                  <a:srgbClr val="000000"/>
                </a:solidFill>
              </a:rPr>
              <a:t>fil</a:t>
            </a:r>
            <a:endParaRPr lang="en-US" dirty="0"/>
          </a:p>
          <a:p>
            <a:pPr>
              <a:buClrTx/>
              <a:buFont typeface="Wingdings" pitchFamily="2" charset="2"/>
              <a:buChar char="Ø"/>
            </a:pPr>
            <a:r>
              <a:rPr lang="en-GB" dirty="0">
                <a:solidFill>
                  <a:srgbClr val="000000"/>
                </a:solidFill>
              </a:rPr>
              <a:t>Configuration </a:t>
            </a:r>
            <a:r>
              <a:rPr lang="en-GB" dirty="0" err="1">
                <a:solidFill>
                  <a:srgbClr val="000000"/>
                </a:solidFill>
              </a:rPr>
              <a:t>requise</a:t>
            </a:r>
            <a:r>
              <a:rPr lang="en-GB" dirty="0">
                <a:solidFill>
                  <a:srgbClr val="000000"/>
                </a:solidFill>
              </a:rPr>
              <a:t> pour un client Windows </a:t>
            </a:r>
            <a:r>
              <a:rPr lang="en-GB" dirty="0" err="1">
                <a:solidFill>
                  <a:srgbClr val="000000"/>
                </a:solidFill>
              </a:rPr>
              <a:t>Professionnel</a:t>
            </a:r>
            <a:r>
              <a:rPr lang="en-GB" dirty="0">
                <a:solidFill>
                  <a:srgbClr val="000000"/>
                </a:solidFill>
              </a:rPr>
              <a:t> en </a:t>
            </a:r>
            <a:r>
              <a:rPr lang="en-GB" dirty="0" err="1">
                <a:solidFill>
                  <a:srgbClr val="000000"/>
                </a:solidFill>
              </a:rPr>
              <a:t>vue</a:t>
            </a:r>
            <a:r>
              <a:rPr lang="en-GB" dirty="0">
                <a:solidFill>
                  <a:srgbClr val="000000"/>
                </a:solidFill>
              </a:rPr>
              <a:t> d'un </a:t>
            </a:r>
            <a:r>
              <a:rPr lang="en-GB" dirty="0" err="1">
                <a:solidFill>
                  <a:srgbClr val="000000"/>
                </a:solidFill>
              </a:rPr>
              <a:t>accès</a:t>
            </a:r>
            <a:r>
              <a:rPr lang="en-GB" dirty="0">
                <a:solidFill>
                  <a:srgbClr val="000000"/>
                </a:solidFill>
              </a:rPr>
              <a:t> </a:t>
            </a:r>
            <a:r>
              <a:rPr lang="en-GB" dirty="0" err="1">
                <a:solidFill>
                  <a:srgbClr val="000000"/>
                </a:solidFill>
              </a:rPr>
              <a:t>réseau</a:t>
            </a:r>
            <a:r>
              <a:rPr lang="en-GB" dirty="0">
                <a:solidFill>
                  <a:srgbClr val="000000"/>
                </a:solidFill>
              </a:rPr>
              <a:t> sans </a:t>
            </a:r>
            <a:r>
              <a:rPr lang="en-GB" dirty="0" err="1">
                <a:solidFill>
                  <a:srgbClr val="000000"/>
                </a:solidFill>
              </a:rPr>
              <a:t>fil</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893" name="Oval 197"/>
          <p:cNvSpPr>
            <a:spLocks noChangeArrowheads="1"/>
          </p:cNvSpPr>
          <p:nvPr>
            <p:custDataLst>
              <p:tags r:id="rId1"/>
            </p:custDataLst>
          </p:nvPr>
        </p:nvSpPr>
        <p:spPr bwMode="auto">
          <a:xfrm>
            <a:off x="36749" y="2478088"/>
            <a:ext cx="5562600" cy="3224212"/>
          </a:xfrm>
          <a:prstGeom prst="ellipse">
            <a:avLst/>
          </a:prstGeom>
          <a:gradFill rotWithShape="1">
            <a:gsLst>
              <a:gs pos="0">
                <a:srgbClr val="CFE1C2"/>
              </a:gs>
              <a:gs pos="100000">
                <a:srgbClr val="FFFFFF"/>
              </a:gs>
            </a:gsLst>
            <a:lin ang="5400000" scaled="1"/>
          </a:gradFill>
          <a:ln w="9525" algn="ctr">
            <a:noFill/>
            <a:round/>
            <a:headEnd/>
            <a:tailEnd/>
          </a:ln>
          <a:effectLst/>
        </p:spPr>
        <p:txBody>
          <a:bodyPr lIns="0" tIns="0" rIns="0" bIns="0"/>
          <a:lstStyle/>
          <a:p>
            <a:pPr marL="342900" indent="-342900" algn="l">
              <a:lnSpc>
                <a:spcPct val="90000"/>
              </a:lnSpc>
              <a:spcBef>
                <a:spcPct val="40000"/>
              </a:spcBef>
              <a:buClr>
                <a:srgbClr val="8DACD0"/>
              </a:buClr>
              <a:buSzPct val="70000"/>
              <a:buFont typeface="Wingdings" pitchFamily="2" charset="2"/>
              <a:buBlip>
                <a:blip r:embed="rId31"/>
              </a:buBlip>
            </a:pPr>
            <a:endParaRPr lang="en-US" sz="2400" b="1"/>
          </a:p>
          <a:p>
            <a:pPr marL="342900" indent="-342900" algn="l">
              <a:lnSpc>
                <a:spcPct val="90000"/>
              </a:lnSpc>
              <a:spcBef>
                <a:spcPct val="40000"/>
              </a:spcBef>
              <a:buClr>
                <a:srgbClr val="8DACD0"/>
              </a:buClr>
              <a:buSzPct val="70000"/>
              <a:buFont typeface="Wingdings" pitchFamily="2" charset="2"/>
              <a:buBlip>
                <a:blip r:embed="rId31"/>
              </a:buBlip>
            </a:pPr>
            <a:endParaRPr lang="en-US" sz="2400" b="1"/>
          </a:p>
          <a:p>
            <a:pPr marL="342900" indent="-342900" algn="l">
              <a:lnSpc>
                <a:spcPct val="90000"/>
              </a:lnSpc>
              <a:spcBef>
                <a:spcPct val="40000"/>
              </a:spcBef>
              <a:buClr>
                <a:srgbClr val="8DACD0"/>
              </a:buClr>
              <a:buSzPct val="70000"/>
              <a:buFont typeface="Wingdings" pitchFamily="2" charset="2"/>
              <a:buBlip>
                <a:blip r:embed="rId31"/>
              </a:buBlip>
            </a:pPr>
            <a:endParaRPr lang="en-US" sz="2400" b="1"/>
          </a:p>
        </p:txBody>
      </p:sp>
      <p:sp>
        <p:nvSpPr>
          <p:cNvPr id="413894" name="Text Box 198"/>
          <p:cNvSpPr txBox="1">
            <a:spLocks noChangeArrowheads="1"/>
          </p:cNvSpPr>
          <p:nvPr>
            <p:custDataLst>
              <p:tags r:id="rId2"/>
            </p:custDataLst>
          </p:nvPr>
        </p:nvSpPr>
        <p:spPr bwMode="auto">
          <a:xfrm>
            <a:off x="3202224" y="2867025"/>
            <a:ext cx="1979376" cy="615553"/>
          </a:xfrm>
          <a:prstGeom prst="rect">
            <a:avLst/>
          </a:prstGeom>
          <a:noFill/>
          <a:ln w="9525" algn="ctr">
            <a:noFill/>
            <a:miter lim="800000"/>
            <a:headEnd/>
            <a:tailEnd/>
          </a:ln>
          <a:effectLst/>
        </p:spPr>
        <p:txBody>
          <a:bodyPr wrap="square">
            <a:spAutoFit/>
          </a:bodyPr>
          <a:lstStyle/>
          <a:p>
            <a:pPr>
              <a:lnSpc>
                <a:spcPct val="85000"/>
              </a:lnSpc>
            </a:pPr>
            <a:r>
              <a:rPr lang="en-GB" sz="2000" b="1">
                <a:solidFill>
                  <a:srgbClr val="000000"/>
                </a:solidFill>
              </a:rPr>
              <a:t>Serveur d'accès</a:t>
            </a:r>
            <a:br>
              <a:rPr lang="en-GB" sz="2000" b="1">
                <a:solidFill>
                  <a:srgbClr val="000000"/>
                </a:solidFill>
              </a:rPr>
            </a:br>
            <a:r>
              <a:rPr lang="en-GB" sz="2000" b="1">
                <a:solidFill>
                  <a:srgbClr val="000000"/>
                </a:solidFill>
              </a:rPr>
              <a:t>réseau</a:t>
            </a:r>
            <a:endParaRPr lang="en-US" sz="2000" b="1"/>
          </a:p>
        </p:txBody>
      </p:sp>
      <p:sp>
        <p:nvSpPr>
          <p:cNvPr id="413895" name="Line 199"/>
          <p:cNvSpPr>
            <a:spLocks noChangeShapeType="1"/>
          </p:cNvSpPr>
          <p:nvPr/>
        </p:nvSpPr>
        <p:spPr bwMode="auto">
          <a:xfrm flipV="1">
            <a:off x="1528999" y="3913188"/>
            <a:ext cx="533400" cy="700087"/>
          </a:xfrm>
          <a:prstGeom prst="line">
            <a:avLst/>
          </a:prstGeom>
          <a:noFill/>
          <a:ln w="57150">
            <a:solidFill>
              <a:srgbClr val="CC0000"/>
            </a:solidFill>
            <a:round/>
            <a:headEnd/>
            <a:tailEnd/>
          </a:ln>
          <a:effectLst/>
        </p:spPr>
        <p:txBody>
          <a:bodyPr anchor="ctr"/>
          <a:lstStyle/>
          <a:p>
            <a:endParaRPr lang="fr-FR"/>
          </a:p>
        </p:txBody>
      </p:sp>
      <p:sp>
        <p:nvSpPr>
          <p:cNvPr id="413896" name="Line 200"/>
          <p:cNvSpPr>
            <a:spLocks noChangeShapeType="1"/>
          </p:cNvSpPr>
          <p:nvPr/>
        </p:nvSpPr>
        <p:spPr bwMode="auto">
          <a:xfrm flipV="1">
            <a:off x="2035412" y="3751263"/>
            <a:ext cx="2057400" cy="0"/>
          </a:xfrm>
          <a:prstGeom prst="line">
            <a:avLst/>
          </a:prstGeom>
          <a:noFill/>
          <a:ln w="57150">
            <a:solidFill>
              <a:srgbClr val="CC0000"/>
            </a:solidFill>
            <a:round/>
            <a:headEnd/>
            <a:tailEnd/>
          </a:ln>
          <a:effectLst/>
        </p:spPr>
        <p:txBody>
          <a:bodyPr anchor="ctr"/>
          <a:lstStyle/>
          <a:p>
            <a:endParaRPr lang="fr-FR"/>
          </a:p>
        </p:txBody>
      </p:sp>
      <p:sp>
        <p:nvSpPr>
          <p:cNvPr id="413897" name="Oval 201"/>
          <p:cNvSpPr>
            <a:spLocks noChangeArrowheads="1"/>
          </p:cNvSpPr>
          <p:nvPr/>
        </p:nvSpPr>
        <p:spPr bwMode="auto">
          <a:xfrm>
            <a:off x="1540112" y="3384550"/>
            <a:ext cx="1208087" cy="762000"/>
          </a:xfrm>
          <a:prstGeom prst="ellipse">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endParaRPr lang="fr-FR"/>
          </a:p>
        </p:txBody>
      </p:sp>
      <p:pic>
        <p:nvPicPr>
          <p:cNvPr id="413898" name="Picture 202" descr="Server01"/>
          <p:cNvPicPr>
            <a:picLocks noChangeAspect="1" noChangeArrowheads="1"/>
          </p:cNvPicPr>
          <p:nvPr/>
        </p:nvPicPr>
        <p:blipFill>
          <a:blip r:embed="rId32" cstate="print"/>
          <a:srcRect/>
          <a:stretch>
            <a:fillRect/>
          </a:stretch>
        </p:blipFill>
        <p:spPr bwMode="auto">
          <a:xfrm>
            <a:off x="1987787" y="3040063"/>
            <a:ext cx="558800" cy="657225"/>
          </a:xfrm>
          <a:prstGeom prst="rect">
            <a:avLst/>
          </a:prstGeom>
          <a:noFill/>
        </p:spPr>
      </p:pic>
      <p:pic>
        <p:nvPicPr>
          <p:cNvPr id="413899" name="Picture 203" descr="Server01"/>
          <p:cNvPicPr>
            <a:picLocks noChangeAspect="1" noChangeArrowheads="1"/>
          </p:cNvPicPr>
          <p:nvPr/>
        </p:nvPicPr>
        <p:blipFill>
          <a:blip r:embed="rId32" cstate="print"/>
          <a:srcRect/>
          <a:stretch>
            <a:fillRect/>
          </a:stretch>
        </p:blipFill>
        <p:spPr bwMode="auto">
          <a:xfrm>
            <a:off x="2165587" y="3740150"/>
            <a:ext cx="558800" cy="657225"/>
          </a:xfrm>
          <a:prstGeom prst="rect">
            <a:avLst/>
          </a:prstGeom>
          <a:noFill/>
        </p:spPr>
      </p:pic>
      <p:sp>
        <p:nvSpPr>
          <p:cNvPr id="413900" name="Text Box 204"/>
          <p:cNvSpPr txBox="1">
            <a:spLocks noChangeArrowheads="1"/>
          </p:cNvSpPr>
          <p:nvPr>
            <p:custDataLst>
              <p:tags r:id="rId3"/>
            </p:custDataLst>
          </p:nvPr>
        </p:nvSpPr>
        <p:spPr bwMode="auto">
          <a:xfrm>
            <a:off x="2702162" y="4013200"/>
            <a:ext cx="969952" cy="615553"/>
          </a:xfrm>
          <a:prstGeom prst="rect">
            <a:avLst/>
          </a:prstGeom>
          <a:noFill/>
          <a:ln w="9525" algn="ctr">
            <a:noFill/>
            <a:miter lim="800000"/>
            <a:headEnd/>
            <a:tailEnd/>
          </a:ln>
          <a:effectLst/>
        </p:spPr>
        <p:txBody>
          <a:bodyPr wrap="square">
            <a:spAutoFit/>
          </a:bodyPr>
          <a:lstStyle/>
          <a:p>
            <a:pPr>
              <a:lnSpc>
                <a:spcPct val="85000"/>
              </a:lnSpc>
            </a:pPr>
            <a:r>
              <a:rPr lang="en-GB" sz="2000" b="1" dirty="0" err="1">
                <a:solidFill>
                  <a:srgbClr val="000000"/>
                </a:solidFill>
              </a:rPr>
              <a:t>Serveur</a:t>
            </a:r>
            <a:endParaRPr lang="en-US" sz="2000" b="1" dirty="0"/>
          </a:p>
          <a:p>
            <a:pPr>
              <a:lnSpc>
                <a:spcPct val="85000"/>
              </a:lnSpc>
            </a:pPr>
            <a:r>
              <a:rPr lang="fr-FR" sz="2000" b="1" dirty="0">
                <a:solidFill>
                  <a:srgbClr val="000000"/>
                </a:solidFill>
              </a:rPr>
              <a:t>IAS</a:t>
            </a:r>
            <a:endParaRPr lang="en-US" sz="2000" b="1" dirty="0">
              <a:solidFill>
                <a:srgbClr val="000000"/>
              </a:solidFill>
            </a:endParaRPr>
          </a:p>
        </p:txBody>
      </p:sp>
      <p:pic>
        <p:nvPicPr>
          <p:cNvPr id="413901" name="Picture 205" descr="Server01"/>
          <p:cNvPicPr>
            <a:picLocks noChangeAspect="1" noChangeArrowheads="1"/>
          </p:cNvPicPr>
          <p:nvPr/>
        </p:nvPicPr>
        <p:blipFill>
          <a:blip r:embed="rId32" cstate="print"/>
          <a:srcRect/>
          <a:stretch>
            <a:fillRect/>
          </a:stretch>
        </p:blipFill>
        <p:spPr bwMode="auto">
          <a:xfrm>
            <a:off x="1313099" y="3405188"/>
            <a:ext cx="558800" cy="657225"/>
          </a:xfrm>
          <a:prstGeom prst="rect">
            <a:avLst/>
          </a:prstGeom>
          <a:noFill/>
        </p:spPr>
      </p:pic>
      <p:sp>
        <p:nvSpPr>
          <p:cNvPr id="413902" name="Text Box 206"/>
          <p:cNvSpPr txBox="1">
            <a:spLocks noChangeArrowheads="1"/>
          </p:cNvSpPr>
          <p:nvPr>
            <p:custDataLst>
              <p:tags r:id="rId4"/>
            </p:custDataLst>
          </p:nvPr>
        </p:nvSpPr>
        <p:spPr bwMode="auto">
          <a:xfrm>
            <a:off x="1204686" y="2693758"/>
            <a:ext cx="1884107" cy="400110"/>
          </a:xfrm>
          <a:prstGeom prst="rect">
            <a:avLst/>
          </a:prstGeom>
          <a:noFill/>
          <a:ln w="9525" algn="ctr">
            <a:noFill/>
            <a:miter lim="800000"/>
            <a:headEnd/>
            <a:tailEnd/>
          </a:ln>
          <a:effectLst/>
        </p:spPr>
        <p:txBody>
          <a:bodyPr wrap="square">
            <a:spAutoFit/>
          </a:bodyPr>
          <a:lstStyle/>
          <a:p>
            <a:r>
              <a:rPr lang="en-GB" sz="2000" b="1" dirty="0" err="1">
                <a:solidFill>
                  <a:srgbClr val="000000"/>
                </a:solidFill>
              </a:rPr>
              <a:t>Serveur</a:t>
            </a:r>
            <a:r>
              <a:rPr lang="en-GB" sz="2000" b="1" dirty="0">
                <a:solidFill>
                  <a:srgbClr val="000000"/>
                </a:solidFill>
              </a:rPr>
              <a:t> DHCP</a:t>
            </a:r>
            <a:endParaRPr lang="en-US" sz="2000" b="1" dirty="0"/>
          </a:p>
        </p:txBody>
      </p:sp>
      <p:sp>
        <p:nvSpPr>
          <p:cNvPr id="413903" name="Text Box 207"/>
          <p:cNvSpPr txBox="1">
            <a:spLocks noChangeArrowheads="1"/>
          </p:cNvSpPr>
          <p:nvPr>
            <p:custDataLst>
              <p:tags r:id="rId5"/>
            </p:custDataLst>
          </p:nvPr>
        </p:nvSpPr>
        <p:spPr bwMode="auto">
          <a:xfrm>
            <a:off x="-35378" y="3363913"/>
            <a:ext cx="1356178" cy="615553"/>
          </a:xfrm>
          <a:prstGeom prst="rect">
            <a:avLst/>
          </a:prstGeom>
          <a:noFill/>
          <a:ln w="9525" algn="ctr">
            <a:noFill/>
            <a:miter lim="800000"/>
            <a:headEnd/>
            <a:tailEnd/>
          </a:ln>
          <a:effectLst/>
        </p:spPr>
        <p:txBody>
          <a:bodyPr wrap="square">
            <a:spAutoFit/>
          </a:bodyPr>
          <a:lstStyle/>
          <a:p>
            <a:pPr algn="r">
              <a:lnSpc>
                <a:spcPct val="85000"/>
              </a:lnSpc>
            </a:pPr>
            <a:r>
              <a:rPr lang="en-GB" sz="2000" b="1" dirty="0" err="1">
                <a:solidFill>
                  <a:srgbClr val="000000"/>
                </a:solidFill>
              </a:rPr>
              <a:t>Contrôleur</a:t>
            </a:r>
            <a:endParaRPr lang="en-US" sz="2000" b="1" dirty="0"/>
          </a:p>
          <a:p>
            <a:pPr algn="r">
              <a:lnSpc>
                <a:spcPct val="85000"/>
              </a:lnSpc>
            </a:pPr>
            <a:r>
              <a:rPr lang="en-GB" sz="2000" b="1" dirty="0">
                <a:solidFill>
                  <a:srgbClr val="000000"/>
                </a:solidFill>
              </a:rPr>
              <a:t>de </a:t>
            </a:r>
            <a:r>
              <a:rPr lang="en-GB" sz="2000" b="1" dirty="0" err="1">
                <a:solidFill>
                  <a:srgbClr val="000000"/>
                </a:solidFill>
              </a:rPr>
              <a:t>domaine</a:t>
            </a:r>
            <a:endParaRPr lang="en-US" sz="2000" b="1" dirty="0">
              <a:solidFill>
                <a:srgbClr val="000000"/>
              </a:solidFill>
            </a:endParaRPr>
          </a:p>
        </p:txBody>
      </p:sp>
      <p:pic>
        <p:nvPicPr>
          <p:cNvPr id="413904" name="Picture 208" descr="Server01"/>
          <p:cNvPicPr>
            <a:picLocks noChangeAspect="1" noChangeArrowheads="1"/>
          </p:cNvPicPr>
          <p:nvPr/>
        </p:nvPicPr>
        <p:blipFill>
          <a:blip r:embed="rId33" cstate="print"/>
          <a:srcRect/>
          <a:stretch>
            <a:fillRect/>
          </a:stretch>
        </p:blipFill>
        <p:spPr bwMode="auto">
          <a:xfrm>
            <a:off x="3484799" y="3392488"/>
            <a:ext cx="741363" cy="873125"/>
          </a:xfrm>
          <a:prstGeom prst="rect">
            <a:avLst/>
          </a:prstGeom>
          <a:noFill/>
        </p:spPr>
      </p:pic>
      <p:sp>
        <p:nvSpPr>
          <p:cNvPr id="413906" name="Oval 210"/>
          <p:cNvSpPr>
            <a:spLocks noChangeArrowheads="1"/>
          </p:cNvSpPr>
          <p:nvPr>
            <p:custDataLst>
              <p:tags r:id="rId6"/>
            </p:custDataLst>
          </p:nvPr>
        </p:nvSpPr>
        <p:spPr bwMode="auto">
          <a:xfrm>
            <a:off x="538399" y="4497388"/>
            <a:ext cx="1485900" cy="844550"/>
          </a:xfrm>
          <a:prstGeom prst="ellipse">
            <a:avLst/>
          </a:prstGeom>
          <a:gradFill rotWithShape="1">
            <a:gsLst>
              <a:gs pos="0">
                <a:srgbClr val="FFFFFF"/>
              </a:gs>
              <a:gs pos="100000">
                <a:srgbClr val="EEEFD7"/>
              </a:gs>
            </a:gsLst>
            <a:path path="shape">
              <a:fillToRect l="50000" t="50000" r="50000" b="50000"/>
            </a:path>
          </a:gradFill>
          <a:ln w="9525" algn="ctr">
            <a:solidFill>
              <a:srgbClr val="808080"/>
            </a:solidFill>
            <a:round/>
            <a:headEnd/>
            <a:tailEnd/>
          </a:ln>
          <a:effectLst>
            <a:outerShdw dist="35921" dir="2700000" algn="ctr" rotWithShape="0">
              <a:srgbClr val="ADADAD"/>
            </a:outerShdw>
          </a:effectLst>
        </p:spPr>
        <p:txBody>
          <a:bodyPr wrap="none" anchor="ctr"/>
          <a:lstStyle/>
          <a:p>
            <a:endParaRPr lang="fr-FR"/>
          </a:p>
        </p:txBody>
      </p:sp>
      <p:pic>
        <p:nvPicPr>
          <p:cNvPr id="413907" name="Picture 211" descr="Computer_DesktopComputerSansKeyboard01"/>
          <p:cNvPicPr>
            <a:picLocks noChangeAspect="1" noChangeArrowheads="1"/>
          </p:cNvPicPr>
          <p:nvPr>
            <p:custDataLst>
              <p:tags r:id="rId7"/>
            </p:custDataLst>
          </p:nvPr>
        </p:nvPicPr>
        <p:blipFill>
          <a:blip r:embed="rId34" cstate="print"/>
          <a:srcRect/>
          <a:stretch>
            <a:fillRect/>
          </a:stretch>
        </p:blipFill>
        <p:spPr bwMode="auto">
          <a:xfrm>
            <a:off x="1068624" y="4281488"/>
            <a:ext cx="422275" cy="495300"/>
          </a:xfrm>
          <a:prstGeom prst="rect">
            <a:avLst/>
          </a:prstGeom>
          <a:noFill/>
        </p:spPr>
      </p:pic>
      <p:pic>
        <p:nvPicPr>
          <p:cNvPr id="413908" name="Picture 212" descr="Computer_DesktopComputerSansKeyboard01"/>
          <p:cNvPicPr>
            <a:picLocks noChangeAspect="1" noChangeArrowheads="1"/>
          </p:cNvPicPr>
          <p:nvPr>
            <p:custDataLst>
              <p:tags r:id="rId8"/>
            </p:custDataLst>
          </p:nvPr>
        </p:nvPicPr>
        <p:blipFill>
          <a:blip r:embed="rId34" cstate="print"/>
          <a:srcRect/>
          <a:stretch>
            <a:fillRect/>
          </a:stretch>
        </p:blipFill>
        <p:spPr bwMode="auto">
          <a:xfrm>
            <a:off x="449499" y="4546600"/>
            <a:ext cx="422275" cy="495300"/>
          </a:xfrm>
          <a:prstGeom prst="rect">
            <a:avLst/>
          </a:prstGeom>
          <a:noFill/>
        </p:spPr>
      </p:pic>
      <p:sp>
        <p:nvSpPr>
          <p:cNvPr id="413911" name="Oval 215"/>
          <p:cNvSpPr>
            <a:spLocks noChangeArrowheads="1"/>
          </p:cNvSpPr>
          <p:nvPr>
            <p:custDataLst>
              <p:tags r:id="rId9"/>
            </p:custDataLst>
          </p:nvPr>
        </p:nvSpPr>
        <p:spPr bwMode="auto">
          <a:xfrm>
            <a:off x="1565512" y="4546600"/>
            <a:ext cx="273050" cy="269875"/>
          </a:xfrm>
          <a:prstGeom prst="ellipse">
            <a:avLst/>
          </a:prstGeom>
          <a:solidFill>
            <a:schemeClr val="bg1"/>
          </a:solidFill>
          <a:ln w="12700" algn="ctr">
            <a:solidFill>
              <a:srgbClr val="4D4D4D"/>
            </a:solidFill>
            <a:round/>
            <a:headEnd/>
            <a:tailEnd/>
          </a:ln>
          <a:effectLst/>
        </p:spPr>
        <p:txBody>
          <a:bodyPr wrap="none" anchor="ctr"/>
          <a:lstStyle/>
          <a:p>
            <a:endParaRPr lang="fr-FR"/>
          </a:p>
        </p:txBody>
      </p:sp>
      <p:sp>
        <p:nvSpPr>
          <p:cNvPr id="413912" name="Oval 216"/>
          <p:cNvSpPr>
            <a:spLocks noChangeArrowheads="1"/>
          </p:cNvSpPr>
          <p:nvPr>
            <p:custDataLst>
              <p:tags r:id="rId10"/>
            </p:custDataLst>
          </p:nvPr>
        </p:nvSpPr>
        <p:spPr bwMode="auto">
          <a:xfrm>
            <a:off x="1606787" y="4587875"/>
            <a:ext cx="187325" cy="185738"/>
          </a:xfrm>
          <a:prstGeom prst="ellipse">
            <a:avLst/>
          </a:prstGeom>
          <a:solidFill>
            <a:schemeClr val="bg1"/>
          </a:solidFill>
          <a:ln w="12700" algn="ctr">
            <a:solidFill>
              <a:srgbClr val="4D4D4D"/>
            </a:solidFill>
            <a:round/>
            <a:headEnd/>
            <a:tailEnd/>
          </a:ln>
          <a:effectLst/>
        </p:spPr>
        <p:txBody>
          <a:bodyPr wrap="none" anchor="ctr"/>
          <a:lstStyle/>
          <a:p>
            <a:endParaRPr lang="fr-FR"/>
          </a:p>
        </p:txBody>
      </p:sp>
      <p:sp>
        <p:nvSpPr>
          <p:cNvPr id="413913" name="Line 217"/>
          <p:cNvSpPr>
            <a:spLocks noChangeShapeType="1"/>
          </p:cNvSpPr>
          <p:nvPr>
            <p:custDataLst>
              <p:tags r:id="rId11"/>
            </p:custDataLst>
          </p:nvPr>
        </p:nvSpPr>
        <p:spPr bwMode="auto">
          <a:xfrm flipH="1" flipV="1">
            <a:off x="1698862" y="4714875"/>
            <a:ext cx="1587" cy="430213"/>
          </a:xfrm>
          <a:prstGeom prst="line">
            <a:avLst/>
          </a:prstGeom>
          <a:noFill/>
          <a:ln w="28575">
            <a:solidFill>
              <a:srgbClr val="4D4D4D"/>
            </a:solidFill>
            <a:round/>
            <a:headEnd/>
            <a:tailEnd/>
          </a:ln>
          <a:effectLst/>
        </p:spPr>
        <p:txBody>
          <a:bodyPr wrap="none" anchor="ctr"/>
          <a:lstStyle/>
          <a:p>
            <a:endParaRPr lang="fr-FR"/>
          </a:p>
        </p:txBody>
      </p:sp>
      <p:sp>
        <p:nvSpPr>
          <p:cNvPr id="413914" name="Oval 218"/>
          <p:cNvSpPr>
            <a:spLocks noChangeArrowheads="1"/>
          </p:cNvSpPr>
          <p:nvPr>
            <p:custDataLst>
              <p:tags r:id="rId12"/>
            </p:custDataLst>
          </p:nvPr>
        </p:nvSpPr>
        <p:spPr bwMode="auto">
          <a:xfrm>
            <a:off x="1663937" y="4640263"/>
            <a:ext cx="73025" cy="73025"/>
          </a:xfrm>
          <a:prstGeom prst="ellipse">
            <a:avLst/>
          </a:prstGeom>
          <a:solidFill>
            <a:schemeClr val="tx2"/>
          </a:solidFill>
          <a:ln w="12700" algn="ctr">
            <a:solidFill>
              <a:srgbClr val="4D4D4D"/>
            </a:solidFill>
            <a:round/>
            <a:headEnd/>
            <a:tailEnd/>
          </a:ln>
          <a:effectLst/>
        </p:spPr>
        <p:txBody>
          <a:bodyPr wrap="none" anchor="ctr"/>
          <a:lstStyle/>
          <a:p>
            <a:endParaRPr lang="fr-FR"/>
          </a:p>
        </p:txBody>
      </p:sp>
      <p:pic>
        <p:nvPicPr>
          <p:cNvPr id="413915" name="Picture 219" descr="Rackmount_Hub01"/>
          <p:cNvPicPr>
            <a:picLocks noChangeAspect="1" noChangeArrowheads="1"/>
          </p:cNvPicPr>
          <p:nvPr>
            <p:custDataLst>
              <p:tags r:id="rId13"/>
            </p:custDataLst>
          </p:nvPr>
        </p:nvPicPr>
        <p:blipFill>
          <a:blip r:embed="rId35" cstate="print"/>
          <a:srcRect/>
          <a:stretch>
            <a:fillRect/>
          </a:stretch>
        </p:blipFill>
        <p:spPr bwMode="auto">
          <a:xfrm>
            <a:off x="1244837" y="4987925"/>
            <a:ext cx="661987" cy="422275"/>
          </a:xfrm>
          <a:prstGeom prst="rect">
            <a:avLst/>
          </a:prstGeom>
          <a:noFill/>
        </p:spPr>
      </p:pic>
      <p:sp>
        <p:nvSpPr>
          <p:cNvPr id="413916" name="Text Box 220"/>
          <p:cNvSpPr txBox="1">
            <a:spLocks noChangeArrowheads="1"/>
          </p:cNvSpPr>
          <p:nvPr>
            <p:custDataLst>
              <p:tags r:id="rId14"/>
            </p:custDataLst>
          </p:nvPr>
        </p:nvSpPr>
        <p:spPr bwMode="auto">
          <a:xfrm>
            <a:off x="329531" y="5304293"/>
            <a:ext cx="1938808" cy="615553"/>
          </a:xfrm>
          <a:prstGeom prst="rect">
            <a:avLst/>
          </a:prstGeom>
          <a:noFill/>
          <a:ln w="9525" algn="ctr">
            <a:noFill/>
            <a:miter lim="800000"/>
            <a:headEnd/>
            <a:tailEnd/>
          </a:ln>
          <a:effectLst/>
        </p:spPr>
        <p:txBody>
          <a:bodyPr wrap="square">
            <a:spAutoFit/>
          </a:bodyPr>
          <a:lstStyle/>
          <a:p>
            <a:pPr>
              <a:lnSpc>
                <a:spcPct val="85000"/>
              </a:lnSpc>
              <a:spcBef>
                <a:spcPct val="50000"/>
              </a:spcBef>
            </a:pPr>
            <a:r>
              <a:rPr lang="en-GB" sz="2000" b="1" dirty="0">
                <a:solidFill>
                  <a:srgbClr val="000000"/>
                </a:solidFill>
              </a:rPr>
              <a:t>Point </a:t>
            </a:r>
            <a:r>
              <a:rPr lang="en-GB" sz="2000" b="1" dirty="0" err="1">
                <a:solidFill>
                  <a:srgbClr val="000000"/>
                </a:solidFill>
              </a:rPr>
              <a:t>d'accès</a:t>
            </a:r>
            <a:br>
              <a:rPr lang="en-GB" sz="2000" b="1" dirty="0">
                <a:solidFill>
                  <a:srgbClr val="000000"/>
                </a:solidFill>
              </a:rPr>
            </a:br>
            <a:r>
              <a:rPr lang="en-GB" sz="2000" b="1" dirty="0">
                <a:solidFill>
                  <a:srgbClr val="000000"/>
                </a:solidFill>
              </a:rPr>
              <a:t>sans </a:t>
            </a:r>
            <a:r>
              <a:rPr lang="en-GB" sz="2000" b="1" dirty="0" err="1">
                <a:solidFill>
                  <a:srgbClr val="000000"/>
                </a:solidFill>
              </a:rPr>
              <a:t>fil</a:t>
            </a:r>
            <a:endParaRPr lang="en-US" sz="2000" b="1" dirty="0"/>
          </a:p>
        </p:txBody>
      </p:sp>
      <p:sp>
        <p:nvSpPr>
          <p:cNvPr id="413926" name="Text Box 230"/>
          <p:cNvSpPr txBox="1">
            <a:spLocks noChangeArrowheads="1"/>
          </p:cNvSpPr>
          <p:nvPr>
            <p:custDataLst>
              <p:tags r:id="rId15"/>
            </p:custDataLst>
          </p:nvPr>
        </p:nvSpPr>
        <p:spPr bwMode="auto">
          <a:xfrm>
            <a:off x="1517433" y="6282192"/>
            <a:ext cx="1770216" cy="400110"/>
          </a:xfrm>
          <a:prstGeom prst="rect">
            <a:avLst/>
          </a:prstGeom>
          <a:noFill/>
          <a:ln w="9525" algn="ctr">
            <a:noFill/>
            <a:miter lim="800000"/>
            <a:headEnd/>
            <a:tailEnd/>
          </a:ln>
          <a:effectLst/>
        </p:spPr>
        <p:txBody>
          <a:bodyPr wrap="square">
            <a:spAutoFit/>
          </a:bodyPr>
          <a:lstStyle/>
          <a:p>
            <a:pPr algn="l">
              <a:spcBef>
                <a:spcPct val="50000"/>
              </a:spcBef>
            </a:pPr>
            <a:r>
              <a:rPr lang="en-GB" sz="2000" b="1" dirty="0">
                <a:solidFill>
                  <a:srgbClr val="000000"/>
                </a:solidFill>
              </a:rPr>
              <a:t>Client sans </a:t>
            </a:r>
            <a:r>
              <a:rPr lang="en-GB" sz="2000" b="1" dirty="0" err="1">
                <a:solidFill>
                  <a:srgbClr val="000000"/>
                </a:solidFill>
              </a:rPr>
              <a:t>fil</a:t>
            </a:r>
            <a:endParaRPr lang="en-US" sz="2000" b="1" dirty="0"/>
          </a:p>
        </p:txBody>
      </p:sp>
      <p:sp>
        <p:nvSpPr>
          <p:cNvPr id="413919" name="Oval 223"/>
          <p:cNvSpPr>
            <a:spLocks noChangeArrowheads="1"/>
          </p:cNvSpPr>
          <p:nvPr>
            <p:custDataLst>
              <p:tags r:id="rId16"/>
            </p:custDataLst>
          </p:nvPr>
        </p:nvSpPr>
        <p:spPr bwMode="auto">
          <a:xfrm>
            <a:off x="2778362" y="5005388"/>
            <a:ext cx="336550" cy="334962"/>
          </a:xfrm>
          <a:prstGeom prst="ellipse">
            <a:avLst/>
          </a:prstGeom>
          <a:solidFill>
            <a:schemeClr val="bg1"/>
          </a:solidFill>
          <a:ln w="12700" algn="ctr">
            <a:solidFill>
              <a:srgbClr val="4D4D4D"/>
            </a:solidFill>
            <a:round/>
            <a:headEnd/>
            <a:tailEnd/>
          </a:ln>
          <a:effectLst/>
        </p:spPr>
        <p:txBody>
          <a:bodyPr wrap="none" anchor="ctr"/>
          <a:lstStyle/>
          <a:p>
            <a:endParaRPr lang="fr-FR"/>
          </a:p>
        </p:txBody>
      </p:sp>
      <p:sp>
        <p:nvSpPr>
          <p:cNvPr id="413920" name="Oval 224"/>
          <p:cNvSpPr>
            <a:spLocks noChangeArrowheads="1"/>
          </p:cNvSpPr>
          <p:nvPr>
            <p:custDataLst>
              <p:tags r:id="rId17"/>
            </p:custDataLst>
          </p:nvPr>
        </p:nvSpPr>
        <p:spPr bwMode="auto">
          <a:xfrm>
            <a:off x="2829162" y="5056188"/>
            <a:ext cx="231775" cy="230187"/>
          </a:xfrm>
          <a:prstGeom prst="ellipse">
            <a:avLst/>
          </a:prstGeom>
          <a:solidFill>
            <a:schemeClr val="bg1"/>
          </a:solidFill>
          <a:ln w="12700" algn="ctr">
            <a:solidFill>
              <a:srgbClr val="4D4D4D"/>
            </a:solidFill>
            <a:round/>
            <a:headEnd/>
            <a:tailEnd/>
          </a:ln>
          <a:effectLst/>
        </p:spPr>
        <p:txBody>
          <a:bodyPr wrap="none" anchor="ctr"/>
          <a:lstStyle/>
          <a:p>
            <a:endParaRPr lang="fr-FR"/>
          </a:p>
        </p:txBody>
      </p:sp>
      <p:sp>
        <p:nvSpPr>
          <p:cNvPr id="413921" name="Line 225"/>
          <p:cNvSpPr>
            <a:spLocks noChangeShapeType="1"/>
          </p:cNvSpPr>
          <p:nvPr>
            <p:custDataLst>
              <p:tags r:id="rId18"/>
            </p:custDataLst>
          </p:nvPr>
        </p:nvSpPr>
        <p:spPr bwMode="auto">
          <a:xfrm flipH="1" flipV="1">
            <a:off x="2941874" y="5213350"/>
            <a:ext cx="3175" cy="531813"/>
          </a:xfrm>
          <a:prstGeom prst="line">
            <a:avLst/>
          </a:prstGeom>
          <a:noFill/>
          <a:ln w="28575">
            <a:solidFill>
              <a:srgbClr val="4D4D4D"/>
            </a:solidFill>
            <a:round/>
            <a:headEnd/>
            <a:tailEnd/>
          </a:ln>
          <a:effectLst/>
        </p:spPr>
        <p:txBody>
          <a:bodyPr wrap="none" anchor="ctr"/>
          <a:lstStyle/>
          <a:p>
            <a:endParaRPr lang="fr-FR"/>
          </a:p>
        </p:txBody>
      </p:sp>
      <p:sp>
        <p:nvSpPr>
          <p:cNvPr id="413922" name="Oval 226"/>
          <p:cNvSpPr>
            <a:spLocks noChangeArrowheads="1"/>
          </p:cNvSpPr>
          <p:nvPr>
            <p:custDataLst>
              <p:tags r:id="rId19"/>
            </p:custDataLst>
          </p:nvPr>
        </p:nvSpPr>
        <p:spPr bwMode="auto">
          <a:xfrm>
            <a:off x="2900599" y="5121275"/>
            <a:ext cx="90488" cy="90488"/>
          </a:xfrm>
          <a:prstGeom prst="ellipse">
            <a:avLst/>
          </a:prstGeom>
          <a:solidFill>
            <a:schemeClr val="tx2"/>
          </a:solidFill>
          <a:ln w="12700" algn="ctr">
            <a:solidFill>
              <a:srgbClr val="4D4D4D"/>
            </a:solidFill>
            <a:round/>
            <a:headEnd/>
            <a:tailEnd/>
          </a:ln>
          <a:effectLst/>
        </p:spPr>
        <p:txBody>
          <a:bodyPr wrap="none" anchor="ctr"/>
          <a:lstStyle/>
          <a:p>
            <a:endParaRPr lang="fr-FR"/>
          </a:p>
        </p:txBody>
      </p:sp>
      <p:grpSp>
        <p:nvGrpSpPr>
          <p:cNvPr id="413964" name="Group 227"/>
          <p:cNvGrpSpPr>
            <a:grpSpLocks/>
          </p:cNvGrpSpPr>
          <p:nvPr>
            <p:custDataLst>
              <p:tags r:id="rId20"/>
            </p:custDataLst>
          </p:nvPr>
        </p:nvGrpSpPr>
        <p:grpSpPr bwMode="auto">
          <a:xfrm>
            <a:off x="2132249" y="5380038"/>
            <a:ext cx="963613" cy="936625"/>
            <a:chOff x="1636" y="3389"/>
            <a:chExt cx="607" cy="590"/>
          </a:xfrm>
        </p:grpSpPr>
        <p:pic>
          <p:nvPicPr>
            <p:cNvPr id="413924" name="Picture 228" descr="LaptopComputer01"/>
            <p:cNvPicPr>
              <a:picLocks noChangeAspect="1" noChangeArrowheads="1"/>
            </p:cNvPicPr>
            <p:nvPr>
              <p:custDataLst>
                <p:tags r:id="rId27"/>
              </p:custDataLst>
            </p:nvPr>
          </p:nvPicPr>
          <p:blipFill>
            <a:blip r:embed="rId36" cstate="print"/>
            <a:srcRect/>
            <a:stretch>
              <a:fillRect/>
            </a:stretch>
          </p:blipFill>
          <p:spPr bwMode="auto">
            <a:xfrm>
              <a:off x="1802" y="3389"/>
              <a:ext cx="441" cy="483"/>
            </a:xfrm>
            <a:prstGeom prst="rect">
              <a:avLst/>
            </a:prstGeom>
            <a:noFill/>
          </p:spPr>
        </p:pic>
        <p:pic>
          <p:nvPicPr>
            <p:cNvPr id="413925" name="Picture 229" descr="User_UserHalfD01"/>
            <p:cNvPicPr>
              <a:picLocks noChangeAspect="1" noChangeArrowheads="1"/>
            </p:cNvPicPr>
            <p:nvPr>
              <p:custDataLst>
                <p:tags r:id="rId28"/>
              </p:custDataLst>
            </p:nvPr>
          </p:nvPicPr>
          <p:blipFill>
            <a:blip r:embed="rId37" cstate="print"/>
            <a:srcRect/>
            <a:stretch>
              <a:fillRect/>
            </a:stretch>
          </p:blipFill>
          <p:spPr bwMode="auto">
            <a:xfrm>
              <a:off x="1636" y="3427"/>
              <a:ext cx="352" cy="552"/>
            </a:xfrm>
            <a:prstGeom prst="rect">
              <a:avLst/>
            </a:prstGeom>
            <a:noFill/>
          </p:spPr>
        </p:pic>
      </p:grpSp>
      <p:sp>
        <p:nvSpPr>
          <p:cNvPr id="413928" name="Arc 232"/>
          <p:cNvSpPr>
            <a:spLocks/>
          </p:cNvSpPr>
          <p:nvPr>
            <p:custDataLst>
              <p:tags r:id="rId21"/>
            </p:custDataLst>
          </p:nvPr>
        </p:nvSpPr>
        <p:spPr bwMode="auto">
          <a:xfrm rot="15937463">
            <a:off x="2436255" y="4379119"/>
            <a:ext cx="655638" cy="1066800"/>
          </a:xfrm>
          <a:custGeom>
            <a:avLst/>
            <a:gdLst>
              <a:gd name="G0" fmla="+- 0 0 0"/>
              <a:gd name="G1" fmla="+- 20559 0 0"/>
              <a:gd name="G2" fmla="+- 21600 0 0"/>
              <a:gd name="T0" fmla="*/ 6624 w 16026"/>
              <a:gd name="T1" fmla="*/ 0 h 20559"/>
              <a:gd name="T2" fmla="*/ 16026 w 16026"/>
              <a:gd name="T3" fmla="*/ 6077 h 20559"/>
              <a:gd name="T4" fmla="*/ 0 w 16026"/>
              <a:gd name="T5" fmla="*/ 20559 h 20559"/>
            </a:gdLst>
            <a:ahLst/>
            <a:cxnLst>
              <a:cxn ang="0">
                <a:pos x="T0" y="T1"/>
              </a:cxn>
              <a:cxn ang="0">
                <a:pos x="T2" y="T3"/>
              </a:cxn>
              <a:cxn ang="0">
                <a:pos x="T4" y="T5"/>
              </a:cxn>
            </a:cxnLst>
            <a:rect l="0" t="0" r="r" b="b"/>
            <a:pathLst>
              <a:path w="16026" h="20559" fill="none" extrusionOk="0">
                <a:moveTo>
                  <a:pt x="6624" y="-1"/>
                </a:moveTo>
                <a:cubicBezTo>
                  <a:pt x="10237" y="1164"/>
                  <a:pt x="13480" y="3260"/>
                  <a:pt x="16025" y="6077"/>
                </a:cubicBezTo>
              </a:path>
              <a:path w="16026" h="20559" stroke="0" extrusionOk="0">
                <a:moveTo>
                  <a:pt x="6624" y="-1"/>
                </a:moveTo>
                <a:cubicBezTo>
                  <a:pt x="10237" y="1164"/>
                  <a:pt x="13480" y="3260"/>
                  <a:pt x="16025" y="6077"/>
                </a:cubicBezTo>
                <a:lnTo>
                  <a:pt x="0" y="20559"/>
                </a:lnTo>
                <a:close/>
              </a:path>
            </a:pathLst>
          </a:custGeom>
          <a:noFill/>
          <a:ln w="22225">
            <a:solidFill>
              <a:srgbClr val="4D4D4D"/>
            </a:solidFill>
            <a:round/>
            <a:headEnd/>
            <a:tailEnd/>
          </a:ln>
          <a:effectLst/>
        </p:spPr>
        <p:txBody>
          <a:bodyPr wrap="none" anchor="ctr"/>
          <a:lstStyle/>
          <a:p>
            <a:endParaRPr lang="fr-FR"/>
          </a:p>
        </p:txBody>
      </p:sp>
      <p:sp>
        <p:nvSpPr>
          <p:cNvPr id="413929" name="Arc 233"/>
          <p:cNvSpPr>
            <a:spLocks/>
          </p:cNvSpPr>
          <p:nvPr>
            <p:custDataLst>
              <p:tags r:id="rId22"/>
            </p:custDataLst>
          </p:nvPr>
        </p:nvSpPr>
        <p:spPr bwMode="auto">
          <a:xfrm rot="15937463">
            <a:off x="2598974" y="4489450"/>
            <a:ext cx="611188" cy="1036638"/>
          </a:xfrm>
          <a:custGeom>
            <a:avLst/>
            <a:gdLst>
              <a:gd name="G0" fmla="+- 0 0 0"/>
              <a:gd name="G1" fmla="+- 19993 0 0"/>
              <a:gd name="G2" fmla="+- 21600 0 0"/>
              <a:gd name="T0" fmla="*/ 8176 w 14928"/>
              <a:gd name="T1" fmla="*/ 0 h 19993"/>
              <a:gd name="T2" fmla="*/ 14928 w 14928"/>
              <a:gd name="T3" fmla="*/ 4382 h 19993"/>
              <a:gd name="T4" fmla="*/ 0 w 14928"/>
              <a:gd name="T5" fmla="*/ 19993 h 19993"/>
            </a:gdLst>
            <a:ahLst/>
            <a:cxnLst>
              <a:cxn ang="0">
                <a:pos x="T0" y="T1"/>
              </a:cxn>
              <a:cxn ang="0">
                <a:pos x="T2" y="T3"/>
              </a:cxn>
              <a:cxn ang="0">
                <a:pos x="T4" y="T5"/>
              </a:cxn>
            </a:cxnLst>
            <a:rect l="0" t="0" r="r" b="b"/>
            <a:pathLst>
              <a:path w="14928" h="19993" fill="none" extrusionOk="0">
                <a:moveTo>
                  <a:pt x="8175" y="0"/>
                </a:moveTo>
                <a:cubicBezTo>
                  <a:pt x="10681" y="1024"/>
                  <a:pt x="12971" y="2511"/>
                  <a:pt x="14928" y="4381"/>
                </a:cubicBezTo>
              </a:path>
              <a:path w="14928" h="19993" stroke="0" extrusionOk="0">
                <a:moveTo>
                  <a:pt x="8175" y="0"/>
                </a:moveTo>
                <a:cubicBezTo>
                  <a:pt x="10681" y="1024"/>
                  <a:pt x="12971" y="2511"/>
                  <a:pt x="14928" y="4381"/>
                </a:cubicBezTo>
                <a:lnTo>
                  <a:pt x="0" y="19993"/>
                </a:lnTo>
                <a:close/>
              </a:path>
            </a:pathLst>
          </a:custGeom>
          <a:noFill/>
          <a:ln w="22225">
            <a:solidFill>
              <a:srgbClr val="4D4D4D"/>
            </a:solidFill>
            <a:round/>
            <a:headEnd/>
            <a:tailEnd/>
          </a:ln>
          <a:effectLst/>
        </p:spPr>
        <p:txBody>
          <a:bodyPr wrap="none" anchor="ctr"/>
          <a:lstStyle/>
          <a:p>
            <a:endParaRPr lang="fr-FR"/>
          </a:p>
        </p:txBody>
      </p:sp>
      <p:sp>
        <p:nvSpPr>
          <p:cNvPr id="413930" name="Arc 234"/>
          <p:cNvSpPr>
            <a:spLocks/>
          </p:cNvSpPr>
          <p:nvPr>
            <p:custDataLst>
              <p:tags r:id="rId23"/>
            </p:custDataLst>
          </p:nvPr>
        </p:nvSpPr>
        <p:spPr bwMode="auto">
          <a:xfrm rot="15937463">
            <a:off x="2757724" y="4611688"/>
            <a:ext cx="573087" cy="992188"/>
          </a:xfrm>
          <a:custGeom>
            <a:avLst/>
            <a:gdLst>
              <a:gd name="G0" fmla="+- 0 0 0"/>
              <a:gd name="G1" fmla="+- 19126 0 0"/>
              <a:gd name="G2" fmla="+- 21600 0 0"/>
              <a:gd name="T0" fmla="*/ 10038 w 13989"/>
              <a:gd name="T1" fmla="*/ 0 h 19126"/>
              <a:gd name="T2" fmla="*/ 13989 w 13989"/>
              <a:gd name="T3" fmla="*/ 2668 h 19126"/>
              <a:gd name="T4" fmla="*/ 0 w 13989"/>
              <a:gd name="T5" fmla="*/ 19126 h 19126"/>
            </a:gdLst>
            <a:ahLst/>
            <a:cxnLst>
              <a:cxn ang="0">
                <a:pos x="T0" y="T1"/>
              </a:cxn>
              <a:cxn ang="0">
                <a:pos x="T2" y="T3"/>
              </a:cxn>
              <a:cxn ang="0">
                <a:pos x="T4" y="T5"/>
              </a:cxn>
            </a:cxnLst>
            <a:rect l="0" t="0" r="r" b="b"/>
            <a:pathLst>
              <a:path w="13989" h="19126" fill="none" extrusionOk="0">
                <a:moveTo>
                  <a:pt x="10037" y="0"/>
                </a:moveTo>
                <a:cubicBezTo>
                  <a:pt x="11449" y="740"/>
                  <a:pt x="12774" y="1635"/>
                  <a:pt x="13989" y="2667"/>
                </a:cubicBezTo>
              </a:path>
              <a:path w="13989" h="19126" stroke="0" extrusionOk="0">
                <a:moveTo>
                  <a:pt x="10037" y="0"/>
                </a:moveTo>
                <a:cubicBezTo>
                  <a:pt x="11449" y="740"/>
                  <a:pt x="12774" y="1635"/>
                  <a:pt x="13989" y="2667"/>
                </a:cubicBezTo>
                <a:lnTo>
                  <a:pt x="0" y="19126"/>
                </a:lnTo>
                <a:close/>
              </a:path>
            </a:pathLst>
          </a:custGeom>
          <a:noFill/>
          <a:ln w="22225">
            <a:solidFill>
              <a:srgbClr val="4D4D4D"/>
            </a:solidFill>
            <a:round/>
            <a:headEnd/>
            <a:tailEnd/>
          </a:ln>
          <a:effectLst/>
        </p:spPr>
        <p:txBody>
          <a:bodyPr wrap="none" anchor="ctr"/>
          <a:lstStyle/>
          <a:p>
            <a:endParaRPr lang="fr-FR"/>
          </a:p>
        </p:txBody>
      </p:sp>
      <p:sp>
        <p:nvSpPr>
          <p:cNvPr id="413931" name="Arc 235"/>
          <p:cNvSpPr>
            <a:spLocks/>
          </p:cNvSpPr>
          <p:nvPr>
            <p:custDataLst>
              <p:tags r:id="rId24"/>
            </p:custDataLst>
          </p:nvPr>
        </p:nvSpPr>
        <p:spPr bwMode="auto">
          <a:xfrm rot="15937463">
            <a:off x="2762487" y="4843463"/>
            <a:ext cx="277812" cy="481012"/>
          </a:xfrm>
          <a:custGeom>
            <a:avLst/>
            <a:gdLst>
              <a:gd name="G0" fmla="+- 0 0 0"/>
              <a:gd name="G1" fmla="+- 19126 0 0"/>
              <a:gd name="G2" fmla="+- 21600 0 0"/>
              <a:gd name="T0" fmla="*/ 10038 w 13989"/>
              <a:gd name="T1" fmla="*/ 0 h 19126"/>
              <a:gd name="T2" fmla="*/ 13989 w 13989"/>
              <a:gd name="T3" fmla="*/ 2668 h 19126"/>
              <a:gd name="T4" fmla="*/ 0 w 13989"/>
              <a:gd name="T5" fmla="*/ 19126 h 19126"/>
            </a:gdLst>
            <a:ahLst/>
            <a:cxnLst>
              <a:cxn ang="0">
                <a:pos x="T0" y="T1"/>
              </a:cxn>
              <a:cxn ang="0">
                <a:pos x="T2" y="T3"/>
              </a:cxn>
              <a:cxn ang="0">
                <a:pos x="T4" y="T5"/>
              </a:cxn>
            </a:cxnLst>
            <a:rect l="0" t="0" r="r" b="b"/>
            <a:pathLst>
              <a:path w="13989" h="19126" fill="none" extrusionOk="0">
                <a:moveTo>
                  <a:pt x="10037" y="0"/>
                </a:moveTo>
                <a:cubicBezTo>
                  <a:pt x="11449" y="740"/>
                  <a:pt x="12774" y="1635"/>
                  <a:pt x="13989" y="2667"/>
                </a:cubicBezTo>
              </a:path>
              <a:path w="13989" h="19126" stroke="0" extrusionOk="0">
                <a:moveTo>
                  <a:pt x="10037" y="0"/>
                </a:moveTo>
                <a:cubicBezTo>
                  <a:pt x="11449" y="740"/>
                  <a:pt x="12774" y="1635"/>
                  <a:pt x="13989" y="2667"/>
                </a:cubicBezTo>
                <a:lnTo>
                  <a:pt x="0" y="19126"/>
                </a:lnTo>
                <a:close/>
              </a:path>
            </a:pathLst>
          </a:custGeom>
          <a:noFill/>
          <a:ln w="22225">
            <a:solidFill>
              <a:srgbClr val="4D4D4D"/>
            </a:solidFill>
            <a:round/>
            <a:headEnd/>
            <a:tailEnd/>
          </a:ln>
          <a:effectLst/>
        </p:spPr>
        <p:txBody>
          <a:bodyPr wrap="none" anchor="ctr"/>
          <a:lstStyle/>
          <a:p>
            <a:endParaRPr lang="fr-FR"/>
          </a:p>
        </p:txBody>
      </p:sp>
      <p:sp>
        <p:nvSpPr>
          <p:cNvPr id="413698" name="Rectangle 2"/>
          <p:cNvSpPr>
            <a:spLocks noGrp="1" noChangeArrowheads="1"/>
          </p:cNvSpPr>
          <p:nvPr>
            <p:ph type="title"/>
            <p:custDataLst>
              <p:tags r:id="rId25"/>
            </p:custDataLst>
          </p:nvPr>
        </p:nvSpPr>
        <p:spPr>
          <a:xfrm>
            <a:off x="174171" y="112488"/>
            <a:ext cx="8795658" cy="758952"/>
          </a:xfrm>
        </p:spPr>
        <p:txBody>
          <a:bodyPr vert="horz" anchor="b">
            <a:normAutofit/>
          </a:bodyPr>
          <a:lstStyle/>
          <a:p>
            <a:r>
              <a:rPr lang="fr-FR" sz="2800" dirty="0">
                <a:solidFill>
                  <a:srgbClr val="C00000"/>
                </a:solidFill>
              </a:rPr>
              <a:t>Vue d'ensemble de l'accès réseau sans fil</a:t>
            </a:r>
            <a:endParaRPr sz="2800" dirty="0">
              <a:solidFill>
                <a:srgbClr val="C00000"/>
              </a:solidFill>
            </a:endParaRPr>
          </a:p>
        </p:txBody>
      </p:sp>
      <p:sp>
        <p:nvSpPr>
          <p:cNvPr id="413832" name="AutoShape 136"/>
          <p:cNvSpPr>
            <a:spLocks noChangeArrowheads="1"/>
          </p:cNvSpPr>
          <p:nvPr>
            <p:custDataLst>
              <p:tags r:id="rId26"/>
            </p:custDataLst>
          </p:nvPr>
        </p:nvSpPr>
        <p:spPr bwMode="auto">
          <a:xfrm>
            <a:off x="87088" y="1083812"/>
            <a:ext cx="8940800" cy="1630362"/>
          </a:xfrm>
          <a:prstGeom prst="roundRect">
            <a:avLst>
              <a:gd name="adj" fmla="val 11278"/>
            </a:avLst>
          </a:prstGeom>
          <a:gradFill rotWithShape="1">
            <a:gsLst>
              <a:gs pos="0">
                <a:srgbClr val="EAABA0"/>
              </a:gs>
              <a:gs pos="100000">
                <a:srgbClr val="F6D9D4"/>
              </a:gs>
            </a:gsLst>
            <a:lin ang="2700000" scaled="1"/>
          </a:gradFill>
          <a:ln w="9525" algn="ctr">
            <a:solidFill>
              <a:srgbClr val="808080"/>
            </a:solidFill>
            <a:round/>
            <a:headEnd/>
            <a:tailEnd/>
          </a:ln>
          <a:effectLst>
            <a:outerShdw dist="35921" dir="2700000" algn="ctr" rotWithShape="0">
              <a:srgbClr val="C0C0C0"/>
            </a:outerShdw>
          </a:effectLst>
        </p:spPr>
        <p:txBody>
          <a:bodyPr anchor="ctr"/>
          <a:lstStyle/>
          <a:p>
            <a:pPr algn="l">
              <a:lnSpc>
                <a:spcPct val="85000"/>
              </a:lnSpc>
            </a:pPr>
            <a:r>
              <a:rPr lang="en-GB" sz="2400" b="1" dirty="0">
                <a:solidFill>
                  <a:srgbClr val="000000"/>
                </a:solidFill>
              </a:rPr>
              <a:t>La </a:t>
            </a:r>
            <a:r>
              <a:rPr lang="en-GB" sz="2400" b="1" dirty="0" err="1">
                <a:solidFill>
                  <a:srgbClr val="000000"/>
                </a:solidFill>
              </a:rPr>
              <a:t>technologie</a:t>
            </a:r>
            <a:r>
              <a:rPr lang="en-GB" sz="2400" b="1" dirty="0">
                <a:solidFill>
                  <a:srgbClr val="000000"/>
                </a:solidFill>
              </a:rPr>
              <a:t> </a:t>
            </a:r>
            <a:r>
              <a:rPr lang="en-GB" sz="2400" b="1" dirty="0" err="1">
                <a:solidFill>
                  <a:srgbClr val="000000"/>
                </a:solidFill>
              </a:rPr>
              <a:t>utilisée</a:t>
            </a:r>
            <a:r>
              <a:rPr lang="en-GB" sz="2400" b="1" dirty="0">
                <a:solidFill>
                  <a:srgbClr val="000000"/>
                </a:solidFill>
              </a:rPr>
              <a:t> </a:t>
            </a:r>
            <a:r>
              <a:rPr lang="en-GB" sz="2400" b="1" dirty="0" err="1">
                <a:solidFill>
                  <a:srgbClr val="000000"/>
                </a:solidFill>
              </a:rPr>
              <a:t>sur</a:t>
            </a:r>
            <a:r>
              <a:rPr lang="en-GB" sz="2400" b="1" dirty="0">
                <a:solidFill>
                  <a:srgbClr val="000000"/>
                </a:solidFill>
              </a:rPr>
              <a:t> un </a:t>
            </a:r>
            <a:r>
              <a:rPr lang="en-GB" sz="2400" b="1" i="1" dirty="0" err="1">
                <a:solidFill>
                  <a:srgbClr val="000000"/>
                </a:solidFill>
              </a:rPr>
              <a:t>réseau</a:t>
            </a:r>
            <a:r>
              <a:rPr lang="en-GB" sz="2400" b="1" i="1" dirty="0">
                <a:solidFill>
                  <a:srgbClr val="000000"/>
                </a:solidFill>
              </a:rPr>
              <a:t> sans </a:t>
            </a:r>
            <a:r>
              <a:rPr lang="en-GB" sz="2400" b="1" i="1" dirty="0" err="1">
                <a:solidFill>
                  <a:srgbClr val="000000"/>
                </a:solidFill>
              </a:rPr>
              <a:t>fil</a:t>
            </a:r>
            <a:r>
              <a:rPr lang="en-GB" sz="2400" b="1" dirty="0">
                <a:solidFill>
                  <a:srgbClr val="000000"/>
                </a:solidFill>
              </a:rPr>
              <a:t> </a:t>
            </a:r>
            <a:r>
              <a:rPr lang="en-GB" sz="2400" b="1" dirty="0" err="1">
                <a:solidFill>
                  <a:srgbClr val="000000"/>
                </a:solidFill>
              </a:rPr>
              <a:t>permet</a:t>
            </a:r>
            <a:r>
              <a:rPr lang="en-GB" sz="2400" b="1" dirty="0">
                <a:solidFill>
                  <a:srgbClr val="000000"/>
                </a:solidFill>
              </a:rPr>
              <a:t> à </a:t>
            </a:r>
            <a:r>
              <a:rPr lang="en-GB" sz="2400" b="1" dirty="0" err="1">
                <a:solidFill>
                  <a:srgbClr val="000000"/>
                </a:solidFill>
              </a:rPr>
              <a:t>plusieurs</a:t>
            </a:r>
            <a:r>
              <a:rPr lang="en-GB" sz="2400" b="1" dirty="0">
                <a:solidFill>
                  <a:srgbClr val="000000"/>
                </a:solidFill>
              </a:rPr>
              <a:t> </a:t>
            </a:r>
            <a:r>
              <a:rPr lang="en-GB" sz="2400" b="1" dirty="0" err="1">
                <a:solidFill>
                  <a:srgbClr val="000000"/>
                </a:solidFill>
              </a:rPr>
              <a:t>périphériques</a:t>
            </a:r>
            <a:r>
              <a:rPr lang="en-GB" sz="2400" b="1" dirty="0">
                <a:solidFill>
                  <a:srgbClr val="000000"/>
                </a:solidFill>
              </a:rPr>
              <a:t> de </a:t>
            </a:r>
            <a:r>
              <a:rPr lang="en-GB" sz="2400" b="1" dirty="0" err="1">
                <a:solidFill>
                  <a:srgbClr val="000000"/>
                </a:solidFill>
              </a:rPr>
              <a:t>communiquer</a:t>
            </a:r>
            <a:r>
              <a:rPr lang="en-GB" sz="2400" b="1" dirty="0">
                <a:solidFill>
                  <a:srgbClr val="000000"/>
                </a:solidFill>
              </a:rPr>
              <a:t> au </a:t>
            </a:r>
            <a:r>
              <a:rPr lang="en-GB" sz="2400" b="1" dirty="0" err="1">
                <a:solidFill>
                  <a:srgbClr val="000000"/>
                </a:solidFill>
              </a:rPr>
              <a:t>moyen</a:t>
            </a:r>
            <a:r>
              <a:rPr lang="en-GB" sz="2400" b="1" dirty="0">
                <a:solidFill>
                  <a:srgbClr val="000000"/>
                </a:solidFill>
              </a:rPr>
              <a:t> de </a:t>
            </a:r>
            <a:r>
              <a:rPr lang="en-GB" sz="2400" b="1" dirty="0" err="1">
                <a:solidFill>
                  <a:srgbClr val="000000"/>
                </a:solidFill>
              </a:rPr>
              <a:t>protocoles</a:t>
            </a:r>
            <a:r>
              <a:rPr lang="en-GB" sz="2400" b="1" dirty="0">
                <a:solidFill>
                  <a:srgbClr val="000000"/>
                </a:solidFill>
              </a:rPr>
              <a:t> </a:t>
            </a:r>
            <a:r>
              <a:rPr lang="en-GB" sz="2400" b="1" dirty="0" err="1">
                <a:solidFill>
                  <a:srgbClr val="000000"/>
                </a:solidFill>
              </a:rPr>
              <a:t>réseau</a:t>
            </a:r>
            <a:r>
              <a:rPr lang="en-GB" sz="2400" b="1" dirty="0">
                <a:solidFill>
                  <a:srgbClr val="000000"/>
                </a:solidFill>
              </a:rPr>
              <a:t> standard et </a:t>
            </a:r>
            <a:r>
              <a:rPr lang="en-GB" sz="2400" b="1" dirty="0" err="1">
                <a:solidFill>
                  <a:srgbClr val="000000"/>
                </a:solidFill>
              </a:rPr>
              <a:t>d'ondes</a:t>
            </a:r>
            <a:r>
              <a:rPr lang="en-GB" sz="2400" b="1" dirty="0">
                <a:solidFill>
                  <a:srgbClr val="000000"/>
                </a:solidFill>
              </a:rPr>
              <a:t> </a:t>
            </a:r>
            <a:r>
              <a:rPr lang="en-GB" sz="2400" b="1" dirty="0" err="1">
                <a:solidFill>
                  <a:srgbClr val="000000"/>
                </a:solidFill>
              </a:rPr>
              <a:t>électromagnétiques</a:t>
            </a:r>
            <a:r>
              <a:rPr lang="en-GB" sz="2400" b="1" dirty="0">
                <a:solidFill>
                  <a:srgbClr val="000000"/>
                </a:solidFill>
              </a:rPr>
              <a:t> (et non de </a:t>
            </a:r>
            <a:r>
              <a:rPr lang="en-GB" sz="2400" b="1" dirty="0" err="1">
                <a:solidFill>
                  <a:srgbClr val="000000"/>
                </a:solidFill>
              </a:rPr>
              <a:t>câbles</a:t>
            </a:r>
            <a:r>
              <a:rPr lang="en-GB" sz="2400" b="1" dirty="0">
                <a:solidFill>
                  <a:srgbClr val="000000"/>
                </a:solidFill>
              </a:rPr>
              <a:t> </a:t>
            </a:r>
            <a:r>
              <a:rPr lang="en-GB" sz="2400" b="1" dirty="0" err="1">
                <a:solidFill>
                  <a:srgbClr val="000000"/>
                </a:solidFill>
              </a:rPr>
              <a:t>réseau</a:t>
            </a:r>
            <a:r>
              <a:rPr lang="en-GB" sz="2400" b="1" dirty="0">
                <a:solidFill>
                  <a:srgbClr val="000000"/>
                </a:solidFill>
              </a:rPr>
              <a:t>) </a:t>
            </a:r>
            <a:r>
              <a:rPr lang="en-GB" sz="2400" b="1" dirty="0" err="1">
                <a:solidFill>
                  <a:srgbClr val="000000"/>
                </a:solidFill>
              </a:rPr>
              <a:t>afin</a:t>
            </a:r>
            <a:r>
              <a:rPr lang="en-GB" sz="2400" b="1" dirty="0">
                <a:solidFill>
                  <a:srgbClr val="000000"/>
                </a:solidFill>
              </a:rPr>
              <a:t> de transporter des </a:t>
            </a:r>
            <a:r>
              <a:rPr lang="en-GB" sz="2400" b="1" dirty="0" err="1">
                <a:solidFill>
                  <a:srgbClr val="000000"/>
                </a:solidFill>
              </a:rPr>
              <a:t>signaux</a:t>
            </a:r>
            <a:r>
              <a:rPr lang="en-GB" sz="2400" b="1" dirty="0">
                <a:solidFill>
                  <a:srgbClr val="000000"/>
                </a:solidFill>
              </a:rPr>
              <a:t> </a:t>
            </a:r>
            <a:r>
              <a:rPr lang="en-GB" sz="2400" b="1" dirty="0" err="1">
                <a:solidFill>
                  <a:srgbClr val="000000"/>
                </a:solidFill>
              </a:rPr>
              <a:t>sur</a:t>
            </a:r>
            <a:r>
              <a:rPr lang="en-GB" sz="2400" b="1" dirty="0">
                <a:solidFill>
                  <a:srgbClr val="000000"/>
                </a:solidFill>
              </a:rPr>
              <a:t> </a:t>
            </a:r>
            <a:r>
              <a:rPr lang="en-GB" sz="2400" b="1" dirty="0" err="1">
                <a:solidFill>
                  <a:srgbClr val="000000"/>
                </a:solidFill>
              </a:rPr>
              <a:t>toute</a:t>
            </a:r>
            <a:r>
              <a:rPr lang="en-GB" sz="2400" b="1" dirty="0">
                <a:solidFill>
                  <a:srgbClr val="000000"/>
                </a:solidFill>
              </a:rPr>
              <a:t> </a:t>
            </a:r>
            <a:r>
              <a:rPr lang="en-GB" sz="2400" b="1" dirty="0" err="1">
                <a:solidFill>
                  <a:srgbClr val="000000"/>
                </a:solidFill>
              </a:rPr>
              <a:t>ou</a:t>
            </a:r>
            <a:r>
              <a:rPr lang="en-GB" sz="2400" b="1" dirty="0">
                <a:solidFill>
                  <a:srgbClr val="000000"/>
                </a:solidFill>
              </a:rPr>
              <a:t> </a:t>
            </a:r>
            <a:r>
              <a:rPr lang="en-GB" sz="2400" b="1" dirty="0" err="1">
                <a:solidFill>
                  <a:srgbClr val="000000"/>
                </a:solidFill>
              </a:rPr>
              <a:t>une</a:t>
            </a:r>
            <a:r>
              <a:rPr lang="en-GB" sz="2400" b="1" dirty="0">
                <a:solidFill>
                  <a:srgbClr val="000000"/>
                </a:solidFill>
              </a:rPr>
              <a:t> </a:t>
            </a:r>
            <a:r>
              <a:rPr lang="en-GB" sz="2400" b="1" dirty="0" err="1">
                <a:solidFill>
                  <a:srgbClr val="000000"/>
                </a:solidFill>
              </a:rPr>
              <a:t>partie</a:t>
            </a:r>
            <a:r>
              <a:rPr lang="en-GB" sz="2400" b="1" dirty="0">
                <a:solidFill>
                  <a:srgbClr val="000000"/>
                </a:solidFill>
              </a:rPr>
              <a:t> de </a:t>
            </a:r>
            <a:r>
              <a:rPr lang="en-GB" sz="2400" b="1" dirty="0" err="1">
                <a:solidFill>
                  <a:srgbClr val="000000"/>
                </a:solidFill>
              </a:rPr>
              <a:t>l'infrastructure</a:t>
            </a:r>
            <a:r>
              <a:rPr lang="en-GB" sz="2400" b="1" dirty="0">
                <a:solidFill>
                  <a:srgbClr val="000000"/>
                </a:solidFill>
              </a:rPr>
              <a:t> </a:t>
            </a:r>
            <a:r>
              <a:rPr lang="en-GB" sz="2400" b="1" dirty="0" err="1">
                <a:solidFill>
                  <a:srgbClr val="000000"/>
                </a:solidFill>
              </a:rPr>
              <a:t>réseau</a:t>
            </a:r>
            <a:endParaRPr lang="en-US" sz="2400" b="1" dirty="0"/>
          </a:p>
        </p:txBody>
      </p:sp>
      <p:graphicFrame>
        <p:nvGraphicFramePr>
          <p:cNvPr id="413968" name="Group 272"/>
          <p:cNvGraphicFramePr>
            <a:graphicFrameLocks noGrp="1"/>
          </p:cNvGraphicFramePr>
          <p:nvPr/>
        </p:nvGraphicFramePr>
        <p:xfrm>
          <a:off x="3309257" y="4513943"/>
          <a:ext cx="5834743" cy="2184403"/>
        </p:xfrm>
        <a:graphic>
          <a:graphicData uri="http://schemas.openxmlformats.org/drawingml/2006/table">
            <a:tbl>
              <a:tblPr/>
              <a:tblGrid>
                <a:gridCol w="2073733">
                  <a:extLst>
                    <a:ext uri="{9D8B030D-6E8A-4147-A177-3AD203B41FA5}">
                      <a16:colId xmlns:a16="http://schemas.microsoft.com/office/drawing/2014/main" val="20000"/>
                    </a:ext>
                  </a:extLst>
                </a:gridCol>
                <a:gridCol w="3761010">
                  <a:extLst>
                    <a:ext uri="{9D8B030D-6E8A-4147-A177-3AD203B41FA5}">
                      <a16:colId xmlns:a16="http://schemas.microsoft.com/office/drawing/2014/main" val="20001"/>
                    </a:ext>
                  </a:extLst>
                </a:gridCol>
              </a:tblGrid>
              <a:tr h="448083">
                <a:tc>
                  <a:txBody>
                    <a:bodyPr/>
                    <a:lstStyle/>
                    <a:p>
                      <a:pPr marL="0" marR="0" lvl="0" indent="0" algn="ctr"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en-GB" sz="2200" b="1" i="0" u="sng" strike="noStrike" cap="none" normalizeH="0" baseline="0" dirty="0" err="1">
                          <a:ln>
                            <a:noFill/>
                          </a:ln>
                          <a:solidFill>
                            <a:srgbClr val="000000"/>
                          </a:solidFill>
                          <a:effectLst/>
                          <a:latin typeface="Arial Narrow" pitchFamily="34" charset="0"/>
                        </a:rPr>
                        <a:t>Norme</a:t>
                      </a:r>
                      <a:endParaRPr kumimoji="0" lang="en-US" sz="2200" b="1" i="0" u="sng" strike="noStrike" cap="none" normalizeH="0" baseline="0" dirty="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GB" sz="2200" b="1" i="0" u="sng" strike="noStrike" cap="none" normalizeH="0" baseline="0" dirty="0">
                          <a:ln>
                            <a:noFill/>
                          </a:ln>
                          <a:solidFill>
                            <a:srgbClr val="000000"/>
                          </a:solidFill>
                          <a:effectLst/>
                          <a:latin typeface="Arial Narrow" pitchFamily="34" charset="0"/>
                        </a:rPr>
                        <a:t>Description</a:t>
                      </a:r>
                      <a:endParaRPr kumimoji="0" lang="en-US" sz="2200" b="1" i="0" u="sng" strike="noStrike" cap="none" normalizeH="0" baseline="0" dirty="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extLst>
                  <a:ext uri="{0D108BD9-81ED-4DB2-BD59-A6C34878D82A}">
                    <a16:rowId xmlns:a16="http://schemas.microsoft.com/office/drawing/2014/main" val="10000"/>
                  </a:ext>
                </a:extLst>
              </a:tr>
              <a:tr h="716932">
                <a:tc>
                  <a:txBody>
                    <a:bodyPr/>
                    <a:lstStyle/>
                    <a:p>
                      <a:pPr marL="0" marR="0" lvl="0" indent="0" algn="l" defTabSz="914400" rtl="0" eaLnBrk="0" fontAlgn="base" latinLnBrk="0" hangingPunct="0">
                        <a:lnSpc>
                          <a:spcPct val="90000"/>
                        </a:lnSpc>
                        <a:spcBef>
                          <a:spcPct val="35000"/>
                        </a:spcBef>
                        <a:spcAft>
                          <a:spcPct val="0"/>
                        </a:spcAft>
                        <a:buClrTx/>
                        <a:buSzPct val="70000"/>
                        <a:buFontTx/>
                        <a:buNone/>
                        <a:tabLst/>
                      </a:pPr>
                      <a:r>
                        <a:rPr kumimoji="0" lang="en-GB" sz="2200" b="1" i="0" u="none" strike="noStrike" cap="none" normalizeH="0" baseline="0" dirty="0" err="1">
                          <a:ln>
                            <a:noFill/>
                          </a:ln>
                          <a:solidFill>
                            <a:srgbClr val="000000"/>
                          </a:solidFill>
                          <a:effectLst/>
                          <a:latin typeface="Arial Narrow" pitchFamily="34" charset="0"/>
                        </a:rPr>
                        <a:t>Réseau</a:t>
                      </a:r>
                      <a:r>
                        <a:rPr kumimoji="0" lang="en-GB" sz="2200" b="1" i="0" u="none" strike="noStrike" cap="none" normalizeH="0" baseline="0" dirty="0">
                          <a:ln>
                            <a:noFill/>
                          </a:ln>
                          <a:solidFill>
                            <a:srgbClr val="000000"/>
                          </a:solidFill>
                          <a:effectLst/>
                          <a:latin typeface="Arial Narrow" pitchFamily="34" charset="0"/>
                        </a:rPr>
                        <a:t> sans </a:t>
                      </a:r>
                      <a:r>
                        <a:rPr kumimoji="0" lang="en-GB" sz="2200" b="1" i="0" u="none" strike="noStrike" cap="none" normalizeH="0" baseline="0" dirty="0" err="1">
                          <a:ln>
                            <a:noFill/>
                          </a:ln>
                          <a:solidFill>
                            <a:srgbClr val="000000"/>
                          </a:solidFill>
                          <a:effectLst/>
                          <a:latin typeface="Arial Narrow" pitchFamily="34" charset="0"/>
                        </a:rPr>
                        <a:t>fil</a:t>
                      </a:r>
                      <a:r>
                        <a:rPr kumimoji="0" lang="en-GB" sz="2200" b="1" i="0" u="none" strike="noStrike" cap="none" normalizeH="0" baseline="0" dirty="0">
                          <a:ln>
                            <a:noFill/>
                          </a:ln>
                          <a:solidFill>
                            <a:srgbClr val="000000"/>
                          </a:solidFill>
                          <a:effectLst/>
                          <a:latin typeface="Arial Narrow" pitchFamily="34" charset="0"/>
                        </a:rPr>
                        <a:t> </a:t>
                      </a:r>
                      <a:r>
                        <a:rPr kumimoji="0" lang="en-GB" sz="2200" b="1" i="0" u="none" strike="noStrike" cap="none" normalizeH="0" baseline="0" dirty="0" err="1">
                          <a:ln>
                            <a:noFill/>
                          </a:ln>
                          <a:solidFill>
                            <a:srgbClr val="000000"/>
                          </a:solidFill>
                          <a:effectLst/>
                          <a:latin typeface="Arial Narrow" pitchFamily="34" charset="0"/>
                        </a:rPr>
                        <a:t>d'infrastructure</a:t>
                      </a:r>
                      <a:endParaRPr kumimoji="0" lang="en-US" sz="2200" b="1" i="0" u="none" strike="noStrike" cap="none" normalizeH="0" baseline="0" dirty="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90000"/>
                        </a:lnSpc>
                        <a:spcBef>
                          <a:spcPct val="35000"/>
                        </a:spcBef>
                        <a:spcAft>
                          <a:spcPct val="0"/>
                        </a:spcAft>
                        <a:buClrTx/>
                        <a:buSzPct val="70000"/>
                        <a:buFontTx/>
                        <a:buNone/>
                        <a:tabLst/>
                      </a:pPr>
                      <a:r>
                        <a:rPr kumimoji="0" lang="en-GB" sz="2200" b="0" i="0" u="none" strike="noStrike" cap="none" normalizeH="0" baseline="0" dirty="0">
                          <a:ln>
                            <a:noFill/>
                          </a:ln>
                          <a:solidFill>
                            <a:srgbClr val="000000"/>
                          </a:solidFill>
                          <a:effectLst/>
                          <a:latin typeface="Arial Narrow" pitchFamily="34" charset="0"/>
                        </a:rPr>
                        <a:t>Les clients se </a:t>
                      </a:r>
                      <a:r>
                        <a:rPr kumimoji="0" lang="en-GB" sz="2200" b="0" i="0" u="none" strike="noStrike" cap="none" normalizeH="0" baseline="0" dirty="0" err="1">
                          <a:ln>
                            <a:noFill/>
                          </a:ln>
                          <a:solidFill>
                            <a:srgbClr val="000000"/>
                          </a:solidFill>
                          <a:effectLst/>
                          <a:latin typeface="Arial Narrow" pitchFamily="34" charset="0"/>
                        </a:rPr>
                        <a:t>connectent</a:t>
                      </a:r>
                      <a:r>
                        <a:rPr kumimoji="0" lang="en-GB" sz="2200" b="0" i="0" u="none" strike="noStrike" cap="none" normalizeH="0" baseline="0" dirty="0">
                          <a:ln>
                            <a:noFill/>
                          </a:ln>
                          <a:solidFill>
                            <a:srgbClr val="000000"/>
                          </a:solidFill>
                          <a:effectLst/>
                          <a:latin typeface="Arial Narrow" pitchFamily="34" charset="0"/>
                        </a:rPr>
                        <a:t> à des points </a:t>
                      </a:r>
                      <a:r>
                        <a:rPr kumimoji="0" lang="en-GB" sz="2200" b="0" i="0" u="none" strike="noStrike" cap="none" normalizeH="0" baseline="0" dirty="0" err="1">
                          <a:ln>
                            <a:noFill/>
                          </a:ln>
                          <a:solidFill>
                            <a:srgbClr val="000000"/>
                          </a:solidFill>
                          <a:effectLst/>
                          <a:latin typeface="Arial Narrow" pitchFamily="34" charset="0"/>
                        </a:rPr>
                        <a:t>d'accès</a:t>
                      </a:r>
                      <a:r>
                        <a:rPr kumimoji="0" lang="en-GB" sz="2200" b="0" i="0" u="none" strike="noStrike" cap="none" normalizeH="0" baseline="0" dirty="0">
                          <a:ln>
                            <a:noFill/>
                          </a:ln>
                          <a:solidFill>
                            <a:srgbClr val="000000"/>
                          </a:solidFill>
                          <a:effectLst/>
                          <a:latin typeface="Arial Narrow" pitchFamily="34" charset="0"/>
                        </a:rPr>
                        <a:t> sans </a:t>
                      </a:r>
                      <a:r>
                        <a:rPr kumimoji="0" lang="en-GB" sz="2200" b="0" i="0" u="none" strike="noStrike" cap="none" normalizeH="0" baseline="0" dirty="0" err="1">
                          <a:ln>
                            <a:noFill/>
                          </a:ln>
                          <a:solidFill>
                            <a:srgbClr val="000000"/>
                          </a:solidFill>
                          <a:effectLst/>
                          <a:latin typeface="Arial Narrow" pitchFamily="34" charset="0"/>
                        </a:rPr>
                        <a:t>fil</a:t>
                      </a:r>
                      <a:endParaRPr kumimoji="0" lang="en-US" sz="2200" b="0" i="0" u="none" strike="noStrike" cap="none" normalizeH="0" baseline="0" dirty="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1019388">
                <a:tc>
                  <a:txBody>
                    <a:bodyPr/>
                    <a:lstStyle/>
                    <a:p>
                      <a:pPr marL="0" marR="0" lvl="0" indent="0" algn="l" defTabSz="914400" rtl="0" eaLnBrk="0" fontAlgn="base" latinLnBrk="0" hangingPunct="0">
                        <a:lnSpc>
                          <a:spcPct val="90000"/>
                        </a:lnSpc>
                        <a:spcBef>
                          <a:spcPct val="35000"/>
                        </a:spcBef>
                        <a:spcAft>
                          <a:spcPct val="0"/>
                        </a:spcAft>
                        <a:buClrTx/>
                        <a:buSzPct val="70000"/>
                        <a:buFontTx/>
                        <a:buNone/>
                        <a:tabLst/>
                      </a:pPr>
                      <a:r>
                        <a:rPr kumimoji="0" lang="en-GB" sz="2200" b="1" i="0" u="none" strike="noStrike" cap="none" normalizeH="0" baseline="0">
                          <a:ln>
                            <a:noFill/>
                          </a:ln>
                          <a:solidFill>
                            <a:srgbClr val="000000"/>
                          </a:solidFill>
                          <a:effectLst/>
                          <a:latin typeface="Arial Narrow" pitchFamily="34" charset="0"/>
                        </a:rPr>
                        <a:t>Réseau sans fil d'égal à égal</a:t>
                      </a:r>
                      <a:endParaRPr kumimoji="0" lang="en-US" sz="2200" b="1" i="0" u="none" strike="noStrike" cap="none" normalizeH="0" baseline="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0" marR="0" lvl="0" indent="0" algn="l" defTabSz="914400" rtl="0" eaLnBrk="0" fontAlgn="base" latinLnBrk="0" hangingPunct="0">
                        <a:lnSpc>
                          <a:spcPct val="90000"/>
                        </a:lnSpc>
                        <a:spcBef>
                          <a:spcPct val="35000"/>
                        </a:spcBef>
                        <a:spcAft>
                          <a:spcPct val="0"/>
                        </a:spcAft>
                        <a:buClrTx/>
                        <a:buSzPct val="70000"/>
                        <a:buFontTx/>
                        <a:buNone/>
                        <a:tabLst/>
                      </a:pPr>
                      <a:r>
                        <a:rPr kumimoji="0" lang="en-GB" sz="2200" b="0" i="0" u="none" strike="noStrike" cap="none" normalizeH="0" baseline="0" dirty="0">
                          <a:ln>
                            <a:noFill/>
                          </a:ln>
                          <a:solidFill>
                            <a:srgbClr val="000000"/>
                          </a:solidFill>
                          <a:effectLst/>
                          <a:latin typeface="Arial Narrow" pitchFamily="34" charset="0"/>
                        </a:rPr>
                        <a:t>Les clients sans </a:t>
                      </a:r>
                      <a:r>
                        <a:rPr kumimoji="0" lang="en-GB" sz="2200" b="0" i="0" u="none" strike="noStrike" cap="none" normalizeH="0" baseline="0" dirty="0" err="1">
                          <a:ln>
                            <a:noFill/>
                          </a:ln>
                          <a:solidFill>
                            <a:srgbClr val="000000"/>
                          </a:solidFill>
                          <a:effectLst/>
                          <a:latin typeface="Arial Narrow" pitchFamily="34" charset="0"/>
                        </a:rPr>
                        <a:t>fil</a:t>
                      </a:r>
                      <a:r>
                        <a:rPr kumimoji="0" lang="en-GB" sz="2200" b="0" i="0" u="none" strike="noStrike" cap="none" normalizeH="0" baseline="0" dirty="0">
                          <a:ln>
                            <a:noFill/>
                          </a:ln>
                          <a:solidFill>
                            <a:srgbClr val="000000"/>
                          </a:solidFill>
                          <a:effectLst/>
                          <a:latin typeface="Arial Narrow" pitchFamily="34" charset="0"/>
                        </a:rPr>
                        <a:t> </a:t>
                      </a:r>
                      <a:r>
                        <a:rPr kumimoji="0" lang="en-GB" sz="2200" b="0" i="0" u="none" strike="noStrike" cap="none" normalizeH="0" baseline="0" dirty="0" err="1">
                          <a:ln>
                            <a:noFill/>
                          </a:ln>
                          <a:solidFill>
                            <a:srgbClr val="000000"/>
                          </a:solidFill>
                          <a:effectLst/>
                          <a:latin typeface="Arial Narrow" pitchFamily="34" charset="0"/>
                        </a:rPr>
                        <a:t>communiquent</a:t>
                      </a:r>
                      <a:r>
                        <a:rPr kumimoji="0" lang="en-GB" sz="2200" b="0" i="0" u="none" strike="noStrike" cap="none" normalizeH="0" baseline="0" dirty="0">
                          <a:ln>
                            <a:noFill/>
                          </a:ln>
                          <a:solidFill>
                            <a:srgbClr val="000000"/>
                          </a:solidFill>
                          <a:effectLst/>
                          <a:latin typeface="Arial Narrow" pitchFamily="34" charset="0"/>
                        </a:rPr>
                        <a:t> </a:t>
                      </a:r>
                      <a:r>
                        <a:rPr kumimoji="0" lang="en-GB" sz="2200" b="0" i="0" u="none" strike="noStrike" cap="none" normalizeH="0" baseline="0" dirty="0" err="1">
                          <a:ln>
                            <a:noFill/>
                          </a:ln>
                          <a:solidFill>
                            <a:srgbClr val="000000"/>
                          </a:solidFill>
                          <a:effectLst/>
                          <a:latin typeface="Arial Narrow" pitchFamily="34" charset="0"/>
                        </a:rPr>
                        <a:t>directement</a:t>
                      </a:r>
                      <a:r>
                        <a:rPr kumimoji="0" lang="en-GB" sz="2200" b="0" i="0" u="none" strike="noStrike" cap="none" normalizeH="0" baseline="0" dirty="0">
                          <a:ln>
                            <a:noFill/>
                          </a:ln>
                          <a:solidFill>
                            <a:srgbClr val="000000"/>
                          </a:solidFill>
                          <a:effectLst/>
                          <a:latin typeface="Arial Narrow" pitchFamily="34" charset="0"/>
                        </a:rPr>
                        <a:t> entre </a:t>
                      </a:r>
                      <a:r>
                        <a:rPr kumimoji="0" lang="en-GB" sz="2200" b="0" i="0" u="none" strike="noStrike" cap="none" normalizeH="0" baseline="0" dirty="0" err="1">
                          <a:ln>
                            <a:noFill/>
                          </a:ln>
                          <a:solidFill>
                            <a:srgbClr val="000000"/>
                          </a:solidFill>
                          <a:effectLst/>
                          <a:latin typeface="Arial Narrow" pitchFamily="34" charset="0"/>
                        </a:rPr>
                        <a:t>eux</a:t>
                      </a:r>
                      <a:r>
                        <a:rPr kumimoji="0" lang="en-GB" sz="2200" b="0" i="0" u="none" strike="noStrike" cap="none" normalizeH="0" baseline="0" dirty="0">
                          <a:ln>
                            <a:noFill/>
                          </a:ln>
                          <a:solidFill>
                            <a:srgbClr val="000000"/>
                          </a:solidFill>
                          <a:effectLst/>
                          <a:latin typeface="Arial Narrow" pitchFamily="34" charset="0"/>
                        </a:rPr>
                        <a:t> sans </a:t>
                      </a:r>
                      <a:r>
                        <a:rPr kumimoji="0" lang="en-GB" sz="2200" b="0" i="0" u="none" strike="noStrike" cap="none" normalizeH="0" baseline="0" dirty="0" err="1">
                          <a:ln>
                            <a:noFill/>
                          </a:ln>
                          <a:solidFill>
                            <a:srgbClr val="000000"/>
                          </a:solidFill>
                          <a:effectLst/>
                          <a:latin typeface="Arial Narrow" pitchFamily="34" charset="0"/>
                        </a:rPr>
                        <a:t>utiliser</a:t>
                      </a:r>
                      <a:r>
                        <a:rPr kumimoji="0" lang="en-GB" sz="2200" b="0" i="0" u="none" strike="noStrike" cap="none" normalizeH="0" baseline="0" dirty="0">
                          <a:ln>
                            <a:noFill/>
                          </a:ln>
                          <a:solidFill>
                            <a:srgbClr val="000000"/>
                          </a:solidFill>
                          <a:effectLst/>
                          <a:latin typeface="Arial Narrow" pitchFamily="34" charset="0"/>
                        </a:rPr>
                        <a:t> de </a:t>
                      </a:r>
                      <a:r>
                        <a:rPr kumimoji="0" lang="en-GB" sz="2200" b="0" i="0" u="none" strike="noStrike" cap="none" normalizeH="0" baseline="0" dirty="0" err="1">
                          <a:ln>
                            <a:noFill/>
                          </a:ln>
                          <a:solidFill>
                            <a:srgbClr val="000000"/>
                          </a:solidFill>
                          <a:effectLst/>
                          <a:latin typeface="Arial Narrow" pitchFamily="34" charset="0"/>
                        </a:rPr>
                        <a:t>câbles</a:t>
                      </a:r>
                      <a:endParaRPr kumimoji="0" lang="en-US" sz="2200" b="0" i="0" u="none" strike="noStrike" cap="none" normalizeH="0" baseline="0" dirty="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38" name="Rectangle 37"/>
          <p:cNvSpPr/>
          <p:nvPr/>
        </p:nvSpPr>
        <p:spPr>
          <a:xfrm>
            <a:off x="0" y="2743200"/>
            <a:ext cx="9144000" cy="4114800"/>
          </a:xfrm>
          <a:prstGeom prst="rect">
            <a:avLst/>
          </a:prstGeom>
          <a:solidFill>
            <a:schemeClr val="bg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xit" presetSubtype="10" fill="hold" grpId="0" nodeType="clickEffect">
                                  <p:stCondLst>
                                    <p:cond delay="0"/>
                                  </p:stCondLst>
                                  <p:childTnLst>
                                    <p:animEffect transition="out" filter="checkerboard(across)">
                                      <p:cBhvr>
                                        <p:cTn id="6" dur="1000"/>
                                        <p:tgtEl>
                                          <p:spTgt spid="38"/>
                                        </p:tgtEl>
                                      </p:cBhvr>
                                    </p:animEffect>
                                    <p:set>
                                      <p:cBhvr>
                                        <p:cTn id="7" dur="1" fill="hold">
                                          <p:stCondLst>
                                            <p:cond delay="999"/>
                                          </p:stCondLst>
                                        </p:cTn>
                                        <p:tgtEl>
                                          <p:spTgt spid="3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3" name="Rectangle 3"/>
          <p:cNvSpPr>
            <a:spLocks noGrp="1" noChangeArrowheads="1"/>
          </p:cNvSpPr>
          <p:nvPr>
            <p:ph type="title"/>
            <p:custDataLst>
              <p:tags r:id="rId1"/>
            </p:custDataLst>
          </p:nvPr>
        </p:nvSpPr>
        <p:spPr/>
        <p:txBody>
          <a:bodyPr vert="horz" anchor="b">
            <a:normAutofit/>
          </a:bodyPr>
          <a:lstStyle/>
          <a:p>
            <a:r>
              <a:rPr lang="fr-FR" sz="2800" dirty="0">
                <a:solidFill>
                  <a:srgbClr val="C00000"/>
                </a:solidFill>
              </a:rPr>
              <a:t>Composants d'une connexion sans fil</a:t>
            </a:r>
            <a:endParaRPr sz="2800" dirty="0">
              <a:solidFill>
                <a:srgbClr val="C00000"/>
              </a:solidFill>
            </a:endParaRPr>
          </a:p>
        </p:txBody>
      </p:sp>
      <p:sp>
        <p:nvSpPr>
          <p:cNvPr id="501843" name="Oval 83"/>
          <p:cNvSpPr>
            <a:spLocks noChangeArrowheads="1"/>
          </p:cNvSpPr>
          <p:nvPr>
            <p:custDataLst>
              <p:tags r:id="rId2"/>
            </p:custDataLst>
          </p:nvPr>
        </p:nvSpPr>
        <p:spPr bwMode="auto">
          <a:xfrm>
            <a:off x="892175" y="2262194"/>
            <a:ext cx="4779963" cy="2781300"/>
          </a:xfrm>
          <a:prstGeom prst="ellipse">
            <a:avLst/>
          </a:prstGeom>
          <a:gradFill rotWithShape="1">
            <a:gsLst>
              <a:gs pos="0">
                <a:srgbClr val="FFFFFF"/>
              </a:gs>
              <a:gs pos="100000">
                <a:srgbClr val="EEEFD7"/>
              </a:gs>
            </a:gsLst>
            <a:path path="shape">
              <a:fillToRect l="50000" t="50000" r="50000" b="50000"/>
            </a:path>
          </a:gradFill>
          <a:ln w="9525">
            <a:noFill/>
            <a:round/>
            <a:headEnd/>
            <a:tailEnd/>
          </a:ln>
          <a:effectLst/>
        </p:spPr>
        <p:txBody>
          <a:bodyPr wrap="none" anchor="ctr"/>
          <a:lstStyle/>
          <a:p>
            <a:endParaRPr lang="fr-FR"/>
          </a:p>
        </p:txBody>
      </p:sp>
      <p:sp>
        <p:nvSpPr>
          <p:cNvPr id="501844" name="Text Box 84"/>
          <p:cNvSpPr txBox="1">
            <a:spLocks noChangeArrowheads="1"/>
          </p:cNvSpPr>
          <p:nvPr>
            <p:custDataLst>
              <p:tags r:id="rId3"/>
            </p:custDataLst>
          </p:nvPr>
        </p:nvSpPr>
        <p:spPr bwMode="auto">
          <a:xfrm>
            <a:off x="1520601" y="3954469"/>
            <a:ext cx="1043877" cy="667875"/>
          </a:xfrm>
          <a:prstGeom prst="rect">
            <a:avLst/>
          </a:prstGeom>
          <a:noFill/>
          <a:ln w="9525" algn="ctr">
            <a:noFill/>
            <a:miter lim="800000"/>
            <a:headEnd/>
            <a:tailEnd/>
          </a:ln>
          <a:effectLst/>
        </p:spPr>
        <p:txBody>
          <a:bodyPr wrap="none">
            <a:spAutoFit/>
          </a:bodyPr>
          <a:lstStyle/>
          <a:p>
            <a:pPr>
              <a:lnSpc>
                <a:spcPct val="85000"/>
              </a:lnSpc>
            </a:pPr>
            <a:r>
              <a:rPr lang="en-GB" sz="2200" b="1" dirty="0" err="1">
                <a:solidFill>
                  <a:srgbClr val="000000"/>
                </a:solidFill>
              </a:rPr>
              <a:t>Serveur</a:t>
            </a:r>
            <a:endParaRPr lang="en-US" sz="2200" b="1" dirty="0"/>
          </a:p>
          <a:p>
            <a:pPr>
              <a:lnSpc>
                <a:spcPct val="85000"/>
              </a:lnSpc>
            </a:pPr>
            <a:r>
              <a:rPr lang="en-GB" sz="2200" b="1" dirty="0">
                <a:solidFill>
                  <a:srgbClr val="000000"/>
                </a:solidFill>
              </a:rPr>
              <a:t>DHCP</a:t>
            </a:r>
            <a:endParaRPr lang="en-US" sz="2200" b="1" dirty="0">
              <a:solidFill>
                <a:srgbClr val="000000"/>
              </a:solidFill>
            </a:endParaRPr>
          </a:p>
        </p:txBody>
      </p:sp>
      <p:pic>
        <p:nvPicPr>
          <p:cNvPr id="501845" name="Picture 85" descr="Server01"/>
          <p:cNvPicPr>
            <a:picLocks noChangeAspect="1" noChangeArrowheads="1"/>
          </p:cNvPicPr>
          <p:nvPr>
            <p:custDataLst>
              <p:tags r:id="rId4"/>
            </p:custDataLst>
          </p:nvPr>
        </p:nvPicPr>
        <p:blipFill>
          <a:blip r:embed="rId44" cstate="print"/>
          <a:srcRect/>
          <a:stretch>
            <a:fillRect/>
          </a:stretch>
        </p:blipFill>
        <p:spPr bwMode="auto">
          <a:xfrm>
            <a:off x="3062288" y="1843094"/>
            <a:ext cx="1035050" cy="1219200"/>
          </a:xfrm>
          <a:prstGeom prst="rect">
            <a:avLst/>
          </a:prstGeom>
          <a:noFill/>
        </p:spPr>
      </p:pic>
      <p:sp>
        <p:nvSpPr>
          <p:cNvPr id="501846" name="Rectangle 86"/>
          <p:cNvSpPr>
            <a:spLocks noChangeArrowheads="1"/>
          </p:cNvSpPr>
          <p:nvPr>
            <p:custDataLst>
              <p:tags r:id="rId5"/>
            </p:custDataLst>
          </p:nvPr>
        </p:nvSpPr>
        <p:spPr bwMode="auto">
          <a:xfrm>
            <a:off x="2812826" y="1306064"/>
            <a:ext cx="2020431" cy="667875"/>
          </a:xfrm>
          <a:prstGeom prst="rect">
            <a:avLst/>
          </a:prstGeom>
          <a:noFill/>
          <a:ln w="9525" algn="ctr">
            <a:noFill/>
            <a:miter lim="800000"/>
            <a:headEnd/>
            <a:tailEnd/>
          </a:ln>
          <a:effectLst/>
        </p:spPr>
        <p:txBody>
          <a:bodyPr wrap="square">
            <a:spAutoFit/>
          </a:bodyPr>
          <a:lstStyle/>
          <a:p>
            <a:pPr>
              <a:lnSpc>
                <a:spcPct val="85000"/>
              </a:lnSpc>
            </a:pPr>
            <a:r>
              <a:rPr lang="en-GB" sz="2200" b="1" dirty="0" err="1">
                <a:solidFill>
                  <a:srgbClr val="000000"/>
                </a:solidFill>
              </a:rPr>
              <a:t>Serveur</a:t>
            </a:r>
            <a:r>
              <a:rPr lang="en-GB" sz="2200" b="1" dirty="0">
                <a:solidFill>
                  <a:srgbClr val="000000"/>
                </a:solidFill>
              </a:rPr>
              <a:t> </a:t>
            </a:r>
            <a:r>
              <a:rPr lang="en-GB" sz="2200" b="1" dirty="0" err="1">
                <a:solidFill>
                  <a:srgbClr val="000000"/>
                </a:solidFill>
              </a:rPr>
              <a:t>d'accès</a:t>
            </a:r>
            <a:br>
              <a:rPr lang="en-GB" sz="2200" b="1" dirty="0">
                <a:solidFill>
                  <a:srgbClr val="000000"/>
                </a:solidFill>
              </a:rPr>
            </a:br>
            <a:r>
              <a:rPr lang="en-GB" sz="2200" b="1" dirty="0">
                <a:solidFill>
                  <a:srgbClr val="000000"/>
                </a:solidFill>
              </a:rPr>
              <a:t>distant</a:t>
            </a:r>
            <a:endParaRPr lang="en-US" sz="2200" b="1" dirty="0"/>
          </a:p>
        </p:txBody>
      </p:sp>
      <p:sp>
        <p:nvSpPr>
          <p:cNvPr id="501847" name="Text Box 87"/>
          <p:cNvSpPr txBox="1">
            <a:spLocks noChangeArrowheads="1"/>
          </p:cNvSpPr>
          <p:nvPr>
            <p:custDataLst>
              <p:tags r:id="rId6"/>
            </p:custDataLst>
          </p:nvPr>
        </p:nvSpPr>
        <p:spPr bwMode="auto">
          <a:xfrm>
            <a:off x="2119088" y="2984506"/>
            <a:ext cx="1467069" cy="667875"/>
          </a:xfrm>
          <a:prstGeom prst="rect">
            <a:avLst/>
          </a:prstGeom>
          <a:noFill/>
          <a:ln w="9525" algn="ctr">
            <a:noFill/>
            <a:miter lim="800000"/>
            <a:headEnd/>
            <a:tailEnd/>
          </a:ln>
          <a:effectLst/>
        </p:spPr>
        <p:txBody>
          <a:bodyPr wrap="none">
            <a:spAutoFit/>
          </a:bodyPr>
          <a:lstStyle/>
          <a:p>
            <a:pPr>
              <a:lnSpc>
                <a:spcPct val="85000"/>
              </a:lnSpc>
            </a:pPr>
            <a:r>
              <a:rPr lang="en-GB" sz="2200" b="1" dirty="0" err="1">
                <a:solidFill>
                  <a:srgbClr val="000000"/>
                </a:solidFill>
              </a:rPr>
              <a:t>Contrôleur</a:t>
            </a:r>
            <a:endParaRPr lang="en-US" sz="2200" b="1" dirty="0"/>
          </a:p>
          <a:p>
            <a:pPr>
              <a:lnSpc>
                <a:spcPct val="85000"/>
              </a:lnSpc>
            </a:pPr>
            <a:r>
              <a:rPr lang="en-GB" sz="2200" b="1" dirty="0">
                <a:solidFill>
                  <a:srgbClr val="000000"/>
                </a:solidFill>
              </a:rPr>
              <a:t>de </a:t>
            </a:r>
            <a:r>
              <a:rPr lang="en-GB" sz="2200" b="1" dirty="0" err="1">
                <a:solidFill>
                  <a:srgbClr val="000000"/>
                </a:solidFill>
              </a:rPr>
              <a:t>domaine</a:t>
            </a:r>
            <a:endParaRPr lang="en-US" sz="2200" b="1" dirty="0">
              <a:solidFill>
                <a:srgbClr val="000000"/>
              </a:solidFill>
            </a:endParaRPr>
          </a:p>
        </p:txBody>
      </p:sp>
      <p:pic>
        <p:nvPicPr>
          <p:cNvPr id="501848" name="Picture 88" descr="Server01"/>
          <p:cNvPicPr>
            <a:picLocks noChangeAspect="1" noChangeArrowheads="1"/>
          </p:cNvPicPr>
          <p:nvPr>
            <p:custDataLst>
              <p:tags r:id="rId7"/>
            </p:custDataLst>
          </p:nvPr>
        </p:nvPicPr>
        <p:blipFill>
          <a:blip r:embed="rId45" cstate="print"/>
          <a:srcRect/>
          <a:stretch>
            <a:fillRect/>
          </a:stretch>
        </p:blipFill>
        <p:spPr bwMode="auto">
          <a:xfrm>
            <a:off x="1257300" y="2689231"/>
            <a:ext cx="984250" cy="1158875"/>
          </a:xfrm>
          <a:prstGeom prst="rect">
            <a:avLst/>
          </a:prstGeom>
          <a:noFill/>
        </p:spPr>
      </p:pic>
      <p:pic>
        <p:nvPicPr>
          <p:cNvPr id="501849" name="Picture 89" descr="Server01"/>
          <p:cNvPicPr>
            <a:picLocks noChangeAspect="1" noChangeArrowheads="1"/>
          </p:cNvPicPr>
          <p:nvPr>
            <p:custDataLst>
              <p:tags r:id="rId8"/>
            </p:custDataLst>
          </p:nvPr>
        </p:nvPicPr>
        <p:blipFill>
          <a:blip r:embed="rId45" cstate="print"/>
          <a:srcRect/>
          <a:stretch>
            <a:fillRect/>
          </a:stretch>
        </p:blipFill>
        <p:spPr bwMode="auto">
          <a:xfrm>
            <a:off x="2520950" y="3668719"/>
            <a:ext cx="984250" cy="1158875"/>
          </a:xfrm>
          <a:prstGeom prst="rect">
            <a:avLst/>
          </a:prstGeom>
          <a:noFill/>
        </p:spPr>
      </p:pic>
      <p:sp>
        <p:nvSpPr>
          <p:cNvPr id="501850" name="Freeform 90"/>
          <p:cNvSpPr>
            <a:spLocks/>
          </p:cNvSpPr>
          <p:nvPr>
            <p:custDataLst>
              <p:tags r:id="rId9"/>
            </p:custDataLst>
          </p:nvPr>
        </p:nvSpPr>
        <p:spPr bwMode="auto">
          <a:xfrm rot="10341071" flipV="1">
            <a:off x="1666875" y="1739906"/>
            <a:ext cx="1724025" cy="925513"/>
          </a:xfrm>
          <a:custGeom>
            <a:avLst/>
            <a:gdLst/>
            <a:ahLst/>
            <a:cxnLst>
              <a:cxn ang="0">
                <a:pos x="1544" y="358"/>
              </a:cxn>
              <a:cxn ang="0">
                <a:pos x="1531" y="338"/>
              </a:cxn>
              <a:cxn ang="0">
                <a:pos x="1500" y="299"/>
              </a:cxn>
              <a:cxn ang="0">
                <a:pos x="1466" y="263"/>
              </a:cxn>
              <a:cxn ang="0">
                <a:pos x="1425" y="228"/>
              </a:cxn>
              <a:cxn ang="0">
                <a:pos x="1382" y="195"/>
              </a:cxn>
              <a:cxn ang="0">
                <a:pos x="1332" y="163"/>
              </a:cxn>
              <a:cxn ang="0">
                <a:pos x="1280" y="134"/>
              </a:cxn>
              <a:cxn ang="0">
                <a:pos x="1225" y="108"/>
              </a:cxn>
              <a:cxn ang="0">
                <a:pos x="1164" y="85"/>
              </a:cxn>
              <a:cxn ang="0">
                <a:pos x="1102" y="63"/>
              </a:cxn>
              <a:cxn ang="0">
                <a:pos x="1037" y="44"/>
              </a:cxn>
              <a:cxn ang="0">
                <a:pos x="967" y="29"/>
              </a:cxn>
              <a:cxn ang="0">
                <a:pos x="896" y="18"/>
              </a:cxn>
              <a:cxn ang="0">
                <a:pos x="824" y="8"/>
              </a:cxn>
              <a:cxn ang="0">
                <a:pos x="767" y="3"/>
              </a:cxn>
              <a:cxn ang="0">
                <a:pos x="709" y="2"/>
              </a:cxn>
              <a:cxn ang="0">
                <a:pos x="622" y="2"/>
              </a:cxn>
              <a:cxn ang="0">
                <a:pos x="573" y="3"/>
              </a:cxn>
              <a:cxn ang="0">
                <a:pos x="479" y="12"/>
              </a:cxn>
              <a:cxn ang="0">
                <a:pos x="432" y="19"/>
              </a:cxn>
              <a:cxn ang="0">
                <a:pos x="344" y="35"/>
              </a:cxn>
              <a:cxn ang="0">
                <a:pos x="258" y="57"/>
              </a:cxn>
              <a:cxn ang="0">
                <a:pos x="177" y="85"/>
              </a:cxn>
              <a:cxn ang="0">
                <a:pos x="102" y="115"/>
              </a:cxn>
              <a:cxn ang="0">
                <a:pos x="32" y="150"/>
              </a:cxn>
              <a:cxn ang="0">
                <a:pos x="31" y="154"/>
              </a:cxn>
              <a:cxn ang="0">
                <a:pos x="95" y="129"/>
              </a:cxn>
              <a:cxn ang="0">
                <a:pos x="163" y="106"/>
              </a:cxn>
              <a:cxn ang="0">
                <a:pos x="197" y="96"/>
              </a:cxn>
              <a:cxn ang="0">
                <a:pos x="270" y="80"/>
              </a:cxn>
              <a:cxn ang="0">
                <a:pos x="345" y="66"/>
              </a:cxn>
              <a:cxn ang="0">
                <a:pos x="422" y="56"/>
              </a:cxn>
              <a:cxn ang="0">
                <a:pos x="503" y="50"/>
              </a:cxn>
              <a:cxn ang="0">
                <a:pos x="584" y="47"/>
              </a:cxn>
              <a:cxn ang="0">
                <a:pos x="661" y="50"/>
              </a:cxn>
              <a:cxn ang="0">
                <a:pos x="735" y="54"/>
              </a:cxn>
              <a:cxn ang="0">
                <a:pos x="808" y="63"/>
              </a:cxn>
              <a:cxn ang="0">
                <a:pos x="879" y="74"/>
              </a:cxn>
              <a:cxn ang="0">
                <a:pos x="947" y="90"/>
              </a:cxn>
              <a:cxn ang="0">
                <a:pos x="1012" y="108"/>
              </a:cxn>
              <a:cxn ang="0">
                <a:pos x="1074" y="128"/>
              </a:cxn>
              <a:cxn ang="0">
                <a:pos x="1134" y="153"/>
              </a:cxn>
              <a:cxn ang="0">
                <a:pos x="1189" y="177"/>
              </a:cxn>
              <a:cxn ang="0">
                <a:pos x="1241" y="206"/>
              </a:cxn>
              <a:cxn ang="0">
                <a:pos x="1290" y="237"/>
              </a:cxn>
              <a:cxn ang="0">
                <a:pos x="1334" y="269"/>
              </a:cxn>
              <a:cxn ang="0">
                <a:pos x="1374" y="303"/>
              </a:cxn>
              <a:cxn ang="0">
                <a:pos x="1409" y="340"/>
              </a:cxn>
              <a:cxn ang="0">
                <a:pos x="1440" y="379"/>
              </a:cxn>
              <a:cxn ang="0">
                <a:pos x="1466" y="418"/>
              </a:cxn>
              <a:cxn ang="0">
                <a:pos x="1409" y="427"/>
              </a:cxn>
              <a:cxn ang="0">
                <a:pos x="1599" y="338"/>
              </a:cxn>
            </a:cxnLst>
            <a:rect l="0" t="0" r="r" b="b"/>
            <a:pathLst>
              <a:path w="1631" h="609">
                <a:moveTo>
                  <a:pt x="1556" y="379"/>
                </a:moveTo>
                <a:lnTo>
                  <a:pt x="1544" y="358"/>
                </a:lnTo>
                <a:lnTo>
                  <a:pt x="1537" y="348"/>
                </a:lnTo>
                <a:lnTo>
                  <a:pt x="1531" y="338"/>
                </a:lnTo>
                <a:lnTo>
                  <a:pt x="1516" y="319"/>
                </a:lnTo>
                <a:lnTo>
                  <a:pt x="1500" y="299"/>
                </a:lnTo>
                <a:lnTo>
                  <a:pt x="1483" y="282"/>
                </a:lnTo>
                <a:lnTo>
                  <a:pt x="1466" y="263"/>
                </a:lnTo>
                <a:lnTo>
                  <a:pt x="1445" y="245"/>
                </a:lnTo>
                <a:lnTo>
                  <a:pt x="1425" y="228"/>
                </a:lnTo>
                <a:lnTo>
                  <a:pt x="1403" y="211"/>
                </a:lnTo>
                <a:lnTo>
                  <a:pt x="1382" y="195"/>
                </a:lnTo>
                <a:lnTo>
                  <a:pt x="1357" y="179"/>
                </a:lnTo>
                <a:lnTo>
                  <a:pt x="1332" y="163"/>
                </a:lnTo>
                <a:lnTo>
                  <a:pt x="1308" y="148"/>
                </a:lnTo>
                <a:lnTo>
                  <a:pt x="1280" y="134"/>
                </a:lnTo>
                <a:lnTo>
                  <a:pt x="1253" y="121"/>
                </a:lnTo>
                <a:lnTo>
                  <a:pt x="1225" y="108"/>
                </a:lnTo>
                <a:lnTo>
                  <a:pt x="1195" y="96"/>
                </a:lnTo>
                <a:lnTo>
                  <a:pt x="1164" y="85"/>
                </a:lnTo>
                <a:lnTo>
                  <a:pt x="1134" y="73"/>
                </a:lnTo>
                <a:lnTo>
                  <a:pt x="1102" y="63"/>
                </a:lnTo>
                <a:lnTo>
                  <a:pt x="1070" y="54"/>
                </a:lnTo>
                <a:lnTo>
                  <a:pt x="1037" y="44"/>
                </a:lnTo>
                <a:lnTo>
                  <a:pt x="1002" y="37"/>
                </a:lnTo>
                <a:lnTo>
                  <a:pt x="967" y="29"/>
                </a:lnTo>
                <a:lnTo>
                  <a:pt x="932" y="22"/>
                </a:lnTo>
                <a:lnTo>
                  <a:pt x="896" y="18"/>
                </a:lnTo>
                <a:lnTo>
                  <a:pt x="860" y="12"/>
                </a:lnTo>
                <a:lnTo>
                  <a:pt x="824" y="8"/>
                </a:lnTo>
                <a:lnTo>
                  <a:pt x="786" y="5"/>
                </a:lnTo>
                <a:lnTo>
                  <a:pt x="767" y="3"/>
                </a:lnTo>
                <a:lnTo>
                  <a:pt x="748" y="3"/>
                </a:lnTo>
                <a:lnTo>
                  <a:pt x="709" y="2"/>
                </a:lnTo>
                <a:lnTo>
                  <a:pt x="671" y="0"/>
                </a:lnTo>
                <a:lnTo>
                  <a:pt x="622" y="2"/>
                </a:lnTo>
                <a:lnTo>
                  <a:pt x="597" y="3"/>
                </a:lnTo>
                <a:lnTo>
                  <a:pt x="573" y="3"/>
                </a:lnTo>
                <a:lnTo>
                  <a:pt x="525" y="8"/>
                </a:lnTo>
                <a:lnTo>
                  <a:pt x="479" y="12"/>
                </a:lnTo>
                <a:lnTo>
                  <a:pt x="455" y="16"/>
                </a:lnTo>
                <a:lnTo>
                  <a:pt x="432" y="19"/>
                </a:lnTo>
                <a:lnTo>
                  <a:pt x="387" y="27"/>
                </a:lnTo>
                <a:lnTo>
                  <a:pt x="344" y="35"/>
                </a:lnTo>
                <a:lnTo>
                  <a:pt x="300" y="45"/>
                </a:lnTo>
                <a:lnTo>
                  <a:pt x="258" y="57"/>
                </a:lnTo>
                <a:lnTo>
                  <a:pt x="218" y="70"/>
                </a:lnTo>
                <a:lnTo>
                  <a:pt x="177" y="85"/>
                </a:lnTo>
                <a:lnTo>
                  <a:pt x="139" y="99"/>
                </a:lnTo>
                <a:lnTo>
                  <a:pt x="102" y="115"/>
                </a:lnTo>
                <a:lnTo>
                  <a:pt x="67" y="131"/>
                </a:lnTo>
                <a:lnTo>
                  <a:pt x="32" y="150"/>
                </a:lnTo>
                <a:lnTo>
                  <a:pt x="0" y="169"/>
                </a:lnTo>
                <a:lnTo>
                  <a:pt x="31" y="154"/>
                </a:lnTo>
                <a:lnTo>
                  <a:pt x="63" y="141"/>
                </a:lnTo>
                <a:lnTo>
                  <a:pt x="95" y="129"/>
                </a:lnTo>
                <a:lnTo>
                  <a:pt x="128" y="118"/>
                </a:lnTo>
                <a:lnTo>
                  <a:pt x="163" y="106"/>
                </a:lnTo>
                <a:lnTo>
                  <a:pt x="180" y="102"/>
                </a:lnTo>
                <a:lnTo>
                  <a:pt x="197" y="96"/>
                </a:lnTo>
                <a:lnTo>
                  <a:pt x="232" y="87"/>
                </a:lnTo>
                <a:lnTo>
                  <a:pt x="270" y="80"/>
                </a:lnTo>
                <a:lnTo>
                  <a:pt x="306" y="71"/>
                </a:lnTo>
                <a:lnTo>
                  <a:pt x="345" y="66"/>
                </a:lnTo>
                <a:lnTo>
                  <a:pt x="383" y="60"/>
                </a:lnTo>
                <a:lnTo>
                  <a:pt x="422" y="56"/>
                </a:lnTo>
                <a:lnTo>
                  <a:pt x="463" y="53"/>
                </a:lnTo>
                <a:lnTo>
                  <a:pt x="503" y="50"/>
                </a:lnTo>
                <a:lnTo>
                  <a:pt x="544" y="48"/>
                </a:lnTo>
                <a:lnTo>
                  <a:pt x="584" y="47"/>
                </a:lnTo>
                <a:lnTo>
                  <a:pt x="624" y="48"/>
                </a:lnTo>
                <a:lnTo>
                  <a:pt x="661" y="50"/>
                </a:lnTo>
                <a:lnTo>
                  <a:pt x="699" y="51"/>
                </a:lnTo>
                <a:lnTo>
                  <a:pt x="735" y="54"/>
                </a:lnTo>
                <a:lnTo>
                  <a:pt x="773" y="58"/>
                </a:lnTo>
                <a:lnTo>
                  <a:pt x="808" y="63"/>
                </a:lnTo>
                <a:lnTo>
                  <a:pt x="844" y="69"/>
                </a:lnTo>
                <a:lnTo>
                  <a:pt x="879" y="74"/>
                </a:lnTo>
                <a:lnTo>
                  <a:pt x="913" y="82"/>
                </a:lnTo>
                <a:lnTo>
                  <a:pt x="947" y="90"/>
                </a:lnTo>
                <a:lnTo>
                  <a:pt x="980" y="99"/>
                </a:lnTo>
                <a:lnTo>
                  <a:pt x="1012" y="108"/>
                </a:lnTo>
                <a:lnTo>
                  <a:pt x="1044" y="118"/>
                </a:lnTo>
                <a:lnTo>
                  <a:pt x="1074" y="128"/>
                </a:lnTo>
                <a:lnTo>
                  <a:pt x="1105" y="140"/>
                </a:lnTo>
                <a:lnTo>
                  <a:pt x="1134" y="153"/>
                </a:lnTo>
                <a:lnTo>
                  <a:pt x="1161" y="164"/>
                </a:lnTo>
                <a:lnTo>
                  <a:pt x="1189" y="177"/>
                </a:lnTo>
                <a:lnTo>
                  <a:pt x="1216" y="192"/>
                </a:lnTo>
                <a:lnTo>
                  <a:pt x="1241" y="206"/>
                </a:lnTo>
                <a:lnTo>
                  <a:pt x="1266" y="221"/>
                </a:lnTo>
                <a:lnTo>
                  <a:pt x="1290" y="237"/>
                </a:lnTo>
                <a:lnTo>
                  <a:pt x="1312" y="253"/>
                </a:lnTo>
                <a:lnTo>
                  <a:pt x="1334" y="269"/>
                </a:lnTo>
                <a:lnTo>
                  <a:pt x="1354" y="286"/>
                </a:lnTo>
                <a:lnTo>
                  <a:pt x="1374" y="303"/>
                </a:lnTo>
                <a:lnTo>
                  <a:pt x="1392" y="322"/>
                </a:lnTo>
                <a:lnTo>
                  <a:pt x="1409" y="340"/>
                </a:lnTo>
                <a:lnTo>
                  <a:pt x="1425" y="358"/>
                </a:lnTo>
                <a:lnTo>
                  <a:pt x="1440" y="379"/>
                </a:lnTo>
                <a:lnTo>
                  <a:pt x="1453" y="398"/>
                </a:lnTo>
                <a:lnTo>
                  <a:pt x="1466" y="418"/>
                </a:lnTo>
                <a:lnTo>
                  <a:pt x="1437" y="422"/>
                </a:lnTo>
                <a:lnTo>
                  <a:pt x="1409" y="427"/>
                </a:lnTo>
                <a:lnTo>
                  <a:pt x="1631" y="609"/>
                </a:lnTo>
                <a:lnTo>
                  <a:pt x="1599" y="338"/>
                </a:lnTo>
                <a:lnTo>
                  <a:pt x="1556" y="379"/>
                </a:lnTo>
                <a:close/>
              </a:path>
            </a:pathLst>
          </a:custGeom>
          <a:solidFill>
            <a:srgbClr val="FF0000">
              <a:alpha val="75000"/>
            </a:srgbClr>
          </a:solidFill>
          <a:ln w="9525">
            <a:noFill/>
            <a:round/>
            <a:headEnd/>
            <a:tailEnd/>
          </a:ln>
        </p:spPr>
        <p:txBody>
          <a:bodyPr/>
          <a:lstStyle/>
          <a:p>
            <a:endParaRPr lang="fr-FR"/>
          </a:p>
        </p:txBody>
      </p:sp>
      <p:sp>
        <p:nvSpPr>
          <p:cNvPr id="501851" name="Freeform 91"/>
          <p:cNvSpPr>
            <a:spLocks/>
          </p:cNvSpPr>
          <p:nvPr>
            <p:custDataLst>
              <p:tags r:id="rId10"/>
            </p:custDataLst>
          </p:nvPr>
        </p:nvSpPr>
        <p:spPr bwMode="auto">
          <a:xfrm rot="-13815828" flipH="1" flipV="1">
            <a:off x="1784351" y="2028831"/>
            <a:ext cx="1600200" cy="784225"/>
          </a:xfrm>
          <a:custGeom>
            <a:avLst/>
            <a:gdLst/>
            <a:ahLst/>
            <a:cxnLst>
              <a:cxn ang="0">
                <a:pos x="1544" y="358"/>
              </a:cxn>
              <a:cxn ang="0">
                <a:pos x="1531" y="338"/>
              </a:cxn>
              <a:cxn ang="0">
                <a:pos x="1500" y="299"/>
              </a:cxn>
              <a:cxn ang="0">
                <a:pos x="1466" y="263"/>
              </a:cxn>
              <a:cxn ang="0">
                <a:pos x="1425" y="228"/>
              </a:cxn>
              <a:cxn ang="0">
                <a:pos x="1382" y="195"/>
              </a:cxn>
              <a:cxn ang="0">
                <a:pos x="1332" y="163"/>
              </a:cxn>
              <a:cxn ang="0">
                <a:pos x="1280" y="134"/>
              </a:cxn>
              <a:cxn ang="0">
                <a:pos x="1225" y="108"/>
              </a:cxn>
              <a:cxn ang="0">
                <a:pos x="1164" y="85"/>
              </a:cxn>
              <a:cxn ang="0">
                <a:pos x="1102" y="63"/>
              </a:cxn>
              <a:cxn ang="0">
                <a:pos x="1037" y="44"/>
              </a:cxn>
              <a:cxn ang="0">
                <a:pos x="967" y="29"/>
              </a:cxn>
              <a:cxn ang="0">
                <a:pos x="896" y="18"/>
              </a:cxn>
              <a:cxn ang="0">
                <a:pos x="824" y="8"/>
              </a:cxn>
              <a:cxn ang="0">
                <a:pos x="767" y="3"/>
              </a:cxn>
              <a:cxn ang="0">
                <a:pos x="709" y="2"/>
              </a:cxn>
              <a:cxn ang="0">
                <a:pos x="622" y="2"/>
              </a:cxn>
              <a:cxn ang="0">
                <a:pos x="573" y="3"/>
              </a:cxn>
              <a:cxn ang="0">
                <a:pos x="479" y="12"/>
              </a:cxn>
              <a:cxn ang="0">
                <a:pos x="432" y="19"/>
              </a:cxn>
              <a:cxn ang="0">
                <a:pos x="344" y="35"/>
              </a:cxn>
              <a:cxn ang="0">
                <a:pos x="258" y="57"/>
              </a:cxn>
              <a:cxn ang="0">
                <a:pos x="177" y="85"/>
              </a:cxn>
              <a:cxn ang="0">
                <a:pos x="102" y="115"/>
              </a:cxn>
              <a:cxn ang="0">
                <a:pos x="32" y="150"/>
              </a:cxn>
              <a:cxn ang="0">
                <a:pos x="31" y="154"/>
              </a:cxn>
              <a:cxn ang="0">
                <a:pos x="95" y="129"/>
              </a:cxn>
              <a:cxn ang="0">
                <a:pos x="163" y="106"/>
              </a:cxn>
              <a:cxn ang="0">
                <a:pos x="197" y="96"/>
              </a:cxn>
              <a:cxn ang="0">
                <a:pos x="270" y="80"/>
              </a:cxn>
              <a:cxn ang="0">
                <a:pos x="345" y="66"/>
              </a:cxn>
              <a:cxn ang="0">
                <a:pos x="422" y="56"/>
              </a:cxn>
              <a:cxn ang="0">
                <a:pos x="503" y="50"/>
              </a:cxn>
              <a:cxn ang="0">
                <a:pos x="584" y="47"/>
              </a:cxn>
              <a:cxn ang="0">
                <a:pos x="661" y="50"/>
              </a:cxn>
              <a:cxn ang="0">
                <a:pos x="735" y="54"/>
              </a:cxn>
              <a:cxn ang="0">
                <a:pos x="808" y="63"/>
              </a:cxn>
              <a:cxn ang="0">
                <a:pos x="879" y="74"/>
              </a:cxn>
              <a:cxn ang="0">
                <a:pos x="947" y="90"/>
              </a:cxn>
              <a:cxn ang="0">
                <a:pos x="1012" y="108"/>
              </a:cxn>
              <a:cxn ang="0">
                <a:pos x="1074" y="128"/>
              </a:cxn>
              <a:cxn ang="0">
                <a:pos x="1134" y="153"/>
              </a:cxn>
              <a:cxn ang="0">
                <a:pos x="1189" y="177"/>
              </a:cxn>
              <a:cxn ang="0">
                <a:pos x="1241" y="206"/>
              </a:cxn>
              <a:cxn ang="0">
                <a:pos x="1290" y="237"/>
              </a:cxn>
              <a:cxn ang="0">
                <a:pos x="1334" y="269"/>
              </a:cxn>
              <a:cxn ang="0">
                <a:pos x="1374" y="303"/>
              </a:cxn>
              <a:cxn ang="0">
                <a:pos x="1409" y="340"/>
              </a:cxn>
              <a:cxn ang="0">
                <a:pos x="1440" y="379"/>
              </a:cxn>
              <a:cxn ang="0">
                <a:pos x="1466" y="418"/>
              </a:cxn>
              <a:cxn ang="0">
                <a:pos x="1409" y="427"/>
              </a:cxn>
              <a:cxn ang="0">
                <a:pos x="1599" y="338"/>
              </a:cxn>
            </a:cxnLst>
            <a:rect l="0" t="0" r="r" b="b"/>
            <a:pathLst>
              <a:path w="1631" h="609">
                <a:moveTo>
                  <a:pt x="1556" y="379"/>
                </a:moveTo>
                <a:lnTo>
                  <a:pt x="1544" y="358"/>
                </a:lnTo>
                <a:lnTo>
                  <a:pt x="1537" y="348"/>
                </a:lnTo>
                <a:lnTo>
                  <a:pt x="1531" y="338"/>
                </a:lnTo>
                <a:lnTo>
                  <a:pt x="1516" y="319"/>
                </a:lnTo>
                <a:lnTo>
                  <a:pt x="1500" y="299"/>
                </a:lnTo>
                <a:lnTo>
                  <a:pt x="1483" y="282"/>
                </a:lnTo>
                <a:lnTo>
                  <a:pt x="1466" y="263"/>
                </a:lnTo>
                <a:lnTo>
                  <a:pt x="1445" y="245"/>
                </a:lnTo>
                <a:lnTo>
                  <a:pt x="1425" y="228"/>
                </a:lnTo>
                <a:lnTo>
                  <a:pt x="1403" y="211"/>
                </a:lnTo>
                <a:lnTo>
                  <a:pt x="1382" y="195"/>
                </a:lnTo>
                <a:lnTo>
                  <a:pt x="1357" y="179"/>
                </a:lnTo>
                <a:lnTo>
                  <a:pt x="1332" y="163"/>
                </a:lnTo>
                <a:lnTo>
                  <a:pt x="1308" y="148"/>
                </a:lnTo>
                <a:lnTo>
                  <a:pt x="1280" y="134"/>
                </a:lnTo>
                <a:lnTo>
                  <a:pt x="1253" y="121"/>
                </a:lnTo>
                <a:lnTo>
                  <a:pt x="1225" y="108"/>
                </a:lnTo>
                <a:lnTo>
                  <a:pt x="1195" y="96"/>
                </a:lnTo>
                <a:lnTo>
                  <a:pt x="1164" y="85"/>
                </a:lnTo>
                <a:lnTo>
                  <a:pt x="1134" y="73"/>
                </a:lnTo>
                <a:lnTo>
                  <a:pt x="1102" y="63"/>
                </a:lnTo>
                <a:lnTo>
                  <a:pt x="1070" y="54"/>
                </a:lnTo>
                <a:lnTo>
                  <a:pt x="1037" y="44"/>
                </a:lnTo>
                <a:lnTo>
                  <a:pt x="1002" y="37"/>
                </a:lnTo>
                <a:lnTo>
                  <a:pt x="967" y="29"/>
                </a:lnTo>
                <a:lnTo>
                  <a:pt x="932" y="22"/>
                </a:lnTo>
                <a:lnTo>
                  <a:pt x="896" y="18"/>
                </a:lnTo>
                <a:lnTo>
                  <a:pt x="860" y="12"/>
                </a:lnTo>
                <a:lnTo>
                  <a:pt x="824" y="8"/>
                </a:lnTo>
                <a:lnTo>
                  <a:pt x="786" y="5"/>
                </a:lnTo>
                <a:lnTo>
                  <a:pt x="767" y="3"/>
                </a:lnTo>
                <a:lnTo>
                  <a:pt x="748" y="3"/>
                </a:lnTo>
                <a:lnTo>
                  <a:pt x="709" y="2"/>
                </a:lnTo>
                <a:lnTo>
                  <a:pt x="671" y="0"/>
                </a:lnTo>
                <a:lnTo>
                  <a:pt x="622" y="2"/>
                </a:lnTo>
                <a:lnTo>
                  <a:pt x="597" y="3"/>
                </a:lnTo>
                <a:lnTo>
                  <a:pt x="573" y="3"/>
                </a:lnTo>
                <a:lnTo>
                  <a:pt x="525" y="8"/>
                </a:lnTo>
                <a:lnTo>
                  <a:pt x="479" y="12"/>
                </a:lnTo>
                <a:lnTo>
                  <a:pt x="455" y="16"/>
                </a:lnTo>
                <a:lnTo>
                  <a:pt x="432" y="19"/>
                </a:lnTo>
                <a:lnTo>
                  <a:pt x="387" y="27"/>
                </a:lnTo>
                <a:lnTo>
                  <a:pt x="344" y="35"/>
                </a:lnTo>
                <a:lnTo>
                  <a:pt x="300" y="45"/>
                </a:lnTo>
                <a:lnTo>
                  <a:pt x="258" y="57"/>
                </a:lnTo>
                <a:lnTo>
                  <a:pt x="218" y="70"/>
                </a:lnTo>
                <a:lnTo>
                  <a:pt x="177" y="85"/>
                </a:lnTo>
                <a:lnTo>
                  <a:pt x="139" y="99"/>
                </a:lnTo>
                <a:lnTo>
                  <a:pt x="102" y="115"/>
                </a:lnTo>
                <a:lnTo>
                  <a:pt x="67" y="131"/>
                </a:lnTo>
                <a:lnTo>
                  <a:pt x="32" y="150"/>
                </a:lnTo>
                <a:lnTo>
                  <a:pt x="0" y="169"/>
                </a:lnTo>
                <a:lnTo>
                  <a:pt x="31" y="154"/>
                </a:lnTo>
                <a:lnTo>
                  <a:pt x="63" y="141"/>
                </a:lnTo>
                <a:lnTo>
                  <a:pt x="95" y="129"/>
                </a:lnTo>
                <a:lnTo>
                  <a:pt x="128" y="118"/>
                </a:lnTo>
                <a:lnTo>
                  <a:pt x="163" y="106"/>
                </a:lnTo>
                <a:lnTo>
                  <a:pt x="180" y="102"/>
                </a:lnTo>
                <a:lnTo>
                  <a:pt x="197" y="96"/>
                </a:lnTo>
                <a:lnTo>
                  <a:pt x="232" y="87"/>
                </a:lnTo>
                <a:lnTo>
                  <a:pt x="270" y="80"/>
                </a:lnTo>
                <a:lnTo>
                  <a:pt x="306" y="71"/>
                </a:lnTo>
                <a:lnTo>
                  <a:pt x="345" y="66"/>
                </a:lnTo>
                <a:lnTo>
                  <a:pt x="383" y="60"/>
                </a:lnTo>
                <a:lnTo>
                  <a:pt x="422" y="56"/>
                </a:lnTo>
                <a:lnTo>
                  <a:pt x="463" y="53"/>
                </a:lnTo>
                <a:lnTo>
                  <a:pt x="503" y="50"/>
                </a:lnTo>
                <a:lnTo>
                  <a:pt x="544" y="48"/>
                </a:lnTo>
                <a:lnTo>
                  <a:pt x="584" y="47"/>
                </a:lnTo>
                <a:lnTo>
                  <a:pt x="624" y="48"/>
                </a:lnTo>
                <a:lnTo>
                  <a:pt x="661" y="50"/>
                </a:lnTo>
                <a:lnTo>
                  <a:pt x="699" y="51"/>
                </a:lnTo>
                <a:lnTo>
                  <a:pt x="735" y="54"/>
                </a:lnTo>
                <a:lnTo>
                  <a:pt x="773" y="58"/>
                </a:lnTo>
                <a:lnTo>
                  <a:pt x="808" y="63"/>
                </a:lnTo>
                <a:lnTo>
                  <a:pt x="844" y="69"/>
                </a:lnTo>
                <a:lnTo>
                  <a:pt x="879" y="74"/>
                </a:lnTo>
                <a:lnTo>
                  <a:pt x="913" y="82"/>
                </a:lnTo>
                <a:lnTo>
                  <a:pt x="947" y="90"/>
                </a:lnTo>
                <a:lnTo>
                  <a:pt x="980" y="99"/>
                </a:lnTo>
                <a:lnTo>
                  <a:pt x="1012" y="108"/>
                </a:lnTo>
                <a:lnTo>
                  <a:pt x="1044" y="118"/>
                </a:lnTo>
                <a:lnTo>
                  <a:pt x="1074" y="128"/>
                </a:lnTo>
                <a:lnTo>
                  <a:pt x="1105" y="140"/>
                </a:lnTo>
                <a:lnTo>
                  <a:pt x="1134" y="153"/>
                </a:lnTo>
                <a:lnTo>
                  <a:pt x="1161" y="164"/>
                </a:lnTo>
                <a:lnTo>
                  <a:pt x="1189" y="177"/>
                </a:lnTo>
                <a:lnTo>
                  <a:pt x="1216" y="192"/>
                </a:lnTo>
                <a:lnTo>
                  <a:pt x="1241" y="206"/>
                </a:lnTo>
                <a:lnTo>
                  <a:pt x="1266" y="221"/>
                </a:lnTo>
                <a:lnTo>
                  <a:pt x="1290" y="237"/>
                </a:lnTo>
                <a:lnTo>
                  <a:pt x="1312" y="253"/>
                </a:lnTo>
                <a:lnTo>
                  <a:pt x="1334" y="269"/>
                </a:lnTo>
                <a:lnTo>
                  <a:pt x="1354" y="286"/>
                </a:lnTo>
                <a:lnTo>
                  <a:pt x="1374" y="303"/>
                </a:lnTo>
                <a:lnTo>
                  <a:pt x="1392" y="322"/>
                </a:lnTo>
                <a:lnTo>
                  <a:pt x="1409" y="340"/>
                </a:lnTo>
                <a:lnTo>
                  <a:pt x="1425" y="358"/>
                </a:lnTo>
                <a:lnTo>
                  <a:pt x="1440" y="379"/>
                </a:lnTo>
                <a:lnTo>
                  <a:pt x="1453" y="398"/>
                </a:lnTo>
                <a:lnTo>
                  <a:pt x="1466" y="418"/>
                </a:lnTo>
                <a:lnTo>
                  <a:pt x="1437" y="422"/>
                </a:lnTo>
                <a:lnTo>
                  <a:pt x="1409" y="427"/>
                </a:lnTo>
                <a:lnTo>
                  <a:pt x="1631" y="609"/>
                </a:lnTo>
                <a:lnTo>
                  <a:pt x="1599" y="338"/>
                </a:lnTo>
                <a:lnTo>
                  <a:pt x="1556" y="379"/>
                </a:lnTo>
                <a:close/>
              </a:path>
            </a:pathLst>
          </a:custGeom>
          <a:solidFill>
            <a:srgbClr val="FF0000">
              <a:alpha val="75000"/>
            </a:srgbClr>
          </a:solidFill>
          <a:ln w="9525">
            <a:noFill/>
            <a:round/>
            <a:headEnd/>
            <a:tailEnd/>
          </a:ln>
        </p:spPr>
        <p:txBody>
          <a:bodyPr/>
          <a:lstStyle/>
          <a:p>
            <a:endParaRPr lang="fr-FR"/>
          </a:p>
        </p:txBody>
      </p:sp>
      <p:sp>
        <p:nvSpPr>
          <p:cNvPr id="501854" name="AutoShape 94"/>
          <p:cNvSpPr>
            <a:spLocks noChangeArrowheads="1"/>
          </p:cNvSpPr>
          <p:nvPr>
            <p:custDataLst>
              <p:tags r:id="rId11"/>
            </p:custDataLst>
          </p:nvPr>
        </p:nvSpPr>
        <p:spPr bwMode="auto">
          <a:xfrm>
            <a:off x="319314" y="5033969"/>
            <a:ext cx="5738587" cy="495980"/>
          </a:xfrm>
          <a:prstGeom prst="roundRect">
            <a:avLst>
              <a:gd name="adj" fmla="val 4167"/>
            </a:avLst>
          </a:prstGeom>
          <a:solidFill>
            <a:srgbClr val="FFFFFF"/>
          </a:solidFill>
          <a:ln w="9525" algn="ctr">
            <a:solidFill>
              <a:srgbClr val="4D4D4D"/>
            </a:solidFill>
            <a:round/>
            <a:headEnd/>
            <a:tailEnd/>
          </a:ln>
          <a:effectLst>
            <a:outerShdw dist="35921" dir="2700000" algn="ctr" rotWithShape="0">
              <a:srgbClr val="AFAFAF"/>
            </a:outerShdw>
          </a:effectLst>
        </p:spPr>
        <p:txBody>
          <a:bodyPr/>
          <a:lstStyle/>
          <a:p>
            <a:r>
              <a:rPr lang="en-GB" sz="2200" b="1" dirty="0">
                <a:solidFill>
                  <a:srgbClr val="000000"/>
                </a:solidFill>
              </a:rPr>
              <a:t>Attribution d'un </a:t>
            </a:r>
            <a:r>
              <a:rPr lang="en-GB" sz="2200" b="1" dirty="0" err="1">
                <a:solidFill>
                  <a:srgbClr val="000000"/>
                </a:solidFill>
              </a:rPr>
              <a:t>serveur</a:t>
            </a:r>
            <a:r>
              <a:rPr lang="en-GB" sz="2200" b="1" dirty="0">
                <a:solidFill>
                  <a:srgbClr val="000000"/>
                </a:solidFill>
              </a:rPr>
              <a:t> de </a:t>
            </a:r>
            <a:r>
              <a:rPr lang="en-GB" sz="2200" b="1" dirty="0" err="1">
                <a:solidFill>
                  <a:srgbClr val="000000"/>
                </a:solidFill>
              </a:rPr>
              <a:t>noms</a:t>
            </a:r>
            <a:r>
              <a:rPr lang="en-GB" sz="2200" b="1" dirty="0">
                <a:solidFill>
                  <a:srgbClr val="000000"/>
                </a:solidFill>
              </a:rPr>
              <a:t> et </a:t>
            </a:r>
            <a:r>
              <a:rPr lang="en-GB" sz="2200" b="1" dirty="0" err="1">
                <a:solidFill>
                  <a:srgbClr val="000000"/>
                </a:solidFill>
              </a:rPr>
              <a:t>d'adresses</a:t>
            </a:r>
            <a:endParaRPr lang="en-US" sz="2200" b="1" dirty="0"/>
          </a:p>
        </p:txBody>
      </p:sp>
      <p:sp>
        <p:nvSpPr>
          <p:cNvPr id="501855" name="AutoShape 95"/>
          <p:cNvSpPr>
            <a:spLocks noChangeArrowheads="1"/>
          </p:cNvSpPr>
          <p:nvPr>
            <p:custDataLst>
              <p:tags r:id="rId12"/>
            </p:custDataLst>
          </p:nvPr>
        </p:nvSpPr>
        <p:spPr bwMode="auto">
          <a:xfrm>
            <a:off x="682171" y="1246193"/>
            <a:ext cx="2119767" cy="451983"/>
          </a:xfrm>
          <a:prstGeom prst="roundRect">
            <a:avLst>
              <a:gd name="adj" fmla="val 4167"/>
            </a:avLst>
          </a:prstGeom>
          <a:solidFill>
            <a:srgbClr val="FFFFFF"/>
          </a:solidFill>
          <a:ln w="9525" algn="ctr">
            <a:solidFill>
              <a:srgbClr val="4D4D4D"/>
            </a:solidFill>
            <a:round/>
            <a:headEnd/>
            <a:tailEnd/>
          </a:ln>
          <a:effectLst>
            <a:outerShdw dist="35921" dir="2700000" algn="ctr" rotWithShape="0">
              <a:srgbClr val="AFAFAF"/>
            </a:outerShdw>
          </a:effectLst>
        </p:spPr>
        <p:txBody>
          <a:bodyPr/>
          <a:lstStyle/>
          <a:p>
            <a:r>
              <a:rPr lang="en-GB" sz="2200" b="1" dirty="0" err="1">
                <a:solidFill>
                  <a:srgbClr val="000000"/>
                </a:solidFill>
              </a:rPr>
              <a:t>Authentification</a:t>
            </a:r>
            <a:endParaRPr lang="en-US" sz="2200" b="1" dirty="0"/>
          </a:p>
        </p:txBody>
      </p:sp>
      <p:sp>
        <p:nvSpPr>
          <p:cNvPr id="501857" name="Arc 97"/>
          <p:cNvSpPr>
            <a:spLocks/>
          </p:cNvSpPr>
          <p:nvPr>
            <p:custDataLst>
              <p:tags r:id="rId13"/>
            </p:custDataLst>
          </p:nvPr>
        </p:nvSpPr>
        <p:spPr bwMode="auto">
          <a:xfrm rot="15937463">
            <a:off x="6715919" y="2564613"/>
            <a:ext cx="655637" cy="1066800"/>
          </a:xfrm>
          <a:custGeom>
            <a:avLst/>
            <a:gdLst>
              <a:gd name="G0" fmla="+- 0 0 0"/>
              <a:gd name="G1" fmla="+- 20559 0 0"/>
              <a:gd name="G2" fmla="+- 21600 0 0"/>
              <a:gd name="T0" fmla="*/ 6624 w 16026"/>
              <a:gd name="T1" fmla="*/ 0 h 20559"/>
              <a:gd name="T2" fmla="*/ 16026 w 16026"/>
              <a:gd name="T3" fmla="*/ 6077 h 20559"/>
              <a:gd name="T4" fmla="*/ 0 w 16026"/>
              <a:gd name="T5" fmla="*/ 20559 h 20559"/>
            </a:gdLst>
            <a:ahLst/>
            <a:cxnLst>
              <a:cxn ang="0">
                <a:pos x="T0" y="T1"/>
              </a:cxn>
              <a:cxn ang="0">
                <a:pos x="T2" y="T3"/>
              </a:cxn>
              <a:cxn ang="0">
                <a:pos x="T4" y="T5"/>
              </a:cxn>
            </a:cxnLst>
            <a:rect l="0" t="0" r="r" b="b"/>
            <a:pathLst>
              <a:path w="16026" h="20559" fill="none" extrusionOk="0">
                <a:moveTo>
                  <a:pt x="6624" y="-1"/>
                </a:moveTo>
                <a:cubicBezTo>
                  <a:pt x="10237" y="1164"/>
                  <a:pt x="13480" y="3260"/>
                  <a:pt x="16025" y="6077"/>
                </a:cubicBezTo>
              </a:path>
              <a:path w="16026" h="20559" stroke="0" extrusionOk="0">
                <a:moveTo>
                  <a:pt x="6624" y="-1"/>
                </a:moveTo>
                <a:cubicBezTo>
                  <a:pt x="10237" y="1164"/>
                  <a:pt x="13480" y="3260"/>
                  <a:pt x="16025" y="6077"/>
                </a:cubicBezTo>
                <a:lnTo>
                  <a:pt x="0" y="20559"/>
                </a:lnTo>
                <a:close/>
              </a:path>
            </a:pathLst>
          </a:custGeom>
          <a:noFill/>
          <a:ln w="22225">
            <a:solidFill>
              <a:srgbClr val="4D4D4D"/>
            </a:solidFill>
            <a:round/>
            <a:headEnd/>
            <a:tailEnd/>
          </a:ln>
          <a:effectLst/>
        </p:spPr>
        <p:txBody>
          <a:bodyPr wrap="none" anchor="ctr"/>
          <a:lstStyle/>
          <a:p>
            <a:endParaRPr lang="fr-FR"/>
          </a:p>
        </p:txBody>
      </p:sp>
      <p:sp>
        <p:nvSpPr>
          <p:cNvPr id="501858" name="Arc 98"/>
          <p:cNvSpPr>
            <a:spLocks/>
          </p:cNvSpPr>
          <p:nvPr>
            <p:custDataLst>
              <p:tags r:id="rId14"/>
            </p:custDataLst>
          </p:nvPr>
        </p:nvSpPr>
        <p:spPr bwMode="auto">
          <a:xfrm rot="15937463">
            <a:off x="6878638" y="2674944"/>
            <a:ext cx="611187" cy="1036637"/>
          </a:xfrm>
          <a:custGeom>
            <a:avLst/>
            <a:gdLst>
              <a:gd name="G0" fmla="+- 0 0 0"/>
              <a:gd name="G1" fmla="+- 19993 0 0"/>
              <a:gd name="G2" fmla="+- 21600 0 0"/>
              <a:gd name="T0" fmla="*/ 8176 w 14928"/>
              <a:gd name="T1" fmla="*/ 0 h 19993"/>
              <a:gd name="T2" fmla="*/ 14928 w 14928"/>
              <a:gd name="T3" fmla="*/ 4382 h 19993"/>
              <a:gd name="T4" fmla="*/ 0 w 14928"/>
              <a:gd name="T5" fmla="*/ 19993 h 19993"/>
            </a:gdLst>
            <a:ahLst/>
            <a:cxnLst>
              <a:cxn ang="0">
                <a:pos x="T0" y="T1"/>
              </a:cxn>
              <a:cxn ang="0">
                <a:pos x="T2" y="T3"/>
              </a:cxn>
              <a:cxn ang="0">
                <a:pos x="T4" y="T5"/>
              </a:cxn>
            </a:cxnLst>
            <a:rect l="0" t="0" r="r" b="b"/>
            <a:pathLst>
              <a:path w="14928" h="19993" fill="none" extrusionOk="0">
                <a:moveTo>
                  <a:pt x="8175" y="0"/>
                </a:moveTo>
                <a:cubicBezTo>
                  <a:pt x="10681" y="1024"/>
                  <a:pt x="12971" y="2511"/>
                  <a:pt x="14928" y="4381"/>
                </a:cubicBezTo>
              </a:path>
              <a:path w="14928" h="19993" stroke="0" extrusionOk="0">
                <a:moveTo>
                  <a:pt x="8175" y="0"/>
                </a:moveTo>
                <a:cubicBezTo>
                  <a:pt x="10681" y="1024"/>
                  <a:pt x="12971" y="2511"/>
                  <a:pt x="14928" y="4381"/>
                </a:cubicBezTo>
                <a:lnTo>
                  <a:pt x="0" y="19993"/>
                </a:lnTo>
                <a:close/>
              </a:path>
            </a:pathLst>
          </a:custGeom>
          <a:noFill/>
          <a:ln w="22225">
            <a:solidFill>
              <a:srgbClr val="4D4D4D"/>
            </a:solidFill>
            <a:round/>
            <a:headEnd/>
            <a:tailEnd/>
          </a:ln>
          <a:effectLst/>
        </p:spPr>
        <p:txBody>
          <a:bodyPr wrap="none" anchor="ctr"/>
          <a:lstStyle/>
          <a:p>
            <a:endParaRPr lang="fr-FR"/>
          </a:p>
        </p:txBody>
      </p:sp>
      <p:sp>
        <p:nvSpPr>
          <p:cNvPr id="501859" name="Arc 99"/>
          <p:cNvSpPr>
            <a:spLocks/>
          </p:cNvSpPr>
          <p:nvPr>
            <p:custDataLst>
              <p:tags r:id="rId15"/>
            </p:custDataLst>
          </p:nvPr>
        </p:nvSpPr>
        <p:spPr bwMode="auto">
          <a:xfrm rot="15937463">
            <a:off x="7037388" y="2797181"/>
            <a:ext cx="573088" cy="992187"/>
          </a:xfrm>
          <a:custGeom>
            <a:avLst/>
            <a:gdLst>
              <a:gd name="G0" fmla="+- 0 0 0"/>
              <a:gd name="G1" fmla="+- 19126 0 0"/>
              <a:gd name="G2" fmla="+- 21600 0 0"/>
              <a:gd name="T0" fmla="*/ 10038 w 13989"/>
              <a:gd name="T1" fmla="*/ 0 h 19126"/>
              <a:gd name="T2" fmla="*/ 13989 w 13989"/>
              <a:gd name="T3" fmla="*/ 2668 h 19126"/>
              <a:gd name="T4" fmla="*/ 0 w 13989"/>
              <a:gd name="T5" fmla="*/ 19126 h 19126"/>
            </a:gdLst>
            <a:ahLst/>
            <a:cxnLst>
              <a:cxn ang="0">
                <a:pos x="T0" y="T1"/>
              </a:cxn>
              <a:cxn ang="0">
                <a:pos x="T2" y="T3"/>
              </a:cxn>
              <a:cxn ang="0">
                <a:pos x="T4" y="T5"/>
              </a:cxn>
            </a:cxnLst>
            <a:rect l="0" t="0" r="r" b="b"/>
            <a:pathLst>
              <a:path w="13989" h="19126" fill="none" extrusionOk="0">
                <a:moveTo>
                  <a:pt x="10037" y="0"/>
                </a:moveTo>
                <a:cubicBezTo>
                  <a:pt x="11449" y="740"/>
                  <a:pt x="12774" y="1635"/>
                  <a:pt x="13989" y="2667"/>
                </a:cubicBezTo>
              </a:path>
              <a:path w="13989" h="19126" stroke="0" extrusionOk="0">
                <a:moveTo>
                  <a:pt x="10037" y="0"/>
                </a:moveTo>
                <a:cubicBezTo>
                  <a:pt x="11449" y="740"/>
                  <a:pt x="12774" y="1635"/>
                  <a:pt x="13989" y="2667"/>
                </a:cubicBezTo>
                <a:lnTo>
                  <a:pt x="0" y="19126"/>
                </a:lnTo>
                <a:close/>
              </a:path>
            </a:pathLst>
          </a:custGeom>
          <a:noFill/>
          <a:ln w="22225">
            <a:solidFill>
              <a:srgbClr val="4D4D4D"/>
            </a:solidFill>
            <a:round/>
            <a:headEnd/>
            <a:tailEnd/>
          </a:ln>
          <a:effectLst/>
        </p:spPr>
        <p:txBody>
          <a:bodyPr wrap="none" anchor="ctr"/>
          <a:lstStyle/>
          <a:p>
            <a:endParaRPr lang="fr-FR"/>
          </a:p>
        </p:txBody>
      </p:sp>
      <p:sp>
        <p:nvSpPr>
          <p:cNvPr id="501860" name="Arc 100"/>
          <p:cNvSpPr>
            <a:spLocks/>
          </p:cNvSpPr>
          <p:nvPr>
            <p:custDataLst>
              <p:tags r:id="rId16"/>
            </p:custDataLst>
          </p:nvPr>
        </p:nvSpPr>
        <p:spPr bwMode="auto">
          <a:xfrm rot="15937463">
            <a:off x="7042150" y="3028956"/>
            <a:ext cx="277813" cy="481013"/>
          </a:xfrm>
          <a:custGeom>
            <a:avLst/>
            <a:gdLst>
              <a:gd name="G0" fmla="+- 0 0 0"/>
              <a:gd name="G1" fmla="+- 19126 0 0"/>
              <a:gd name="G2" fmla="+- 21600 0 0"/>
              <a:gd name="T0" fmla="*/ 10038 w 13989"/>
              <a:gd name="T1" fmla="*/ 0 h 19126"/>
              <a:gd name="T2" fmla="*/ 13989 w 13989"/>
              <a:gd name="T3" fmla="*/ 2668 h 19126"/>
              <a:gd name="T4" fmla="*/ 0 w 13989"/>
              <a:gd name="T5" fmla="*/ 19126 h 19126"/>
            </a:gdLst>
            <a:ahLst/>
            <a:cxnLst>
              <a:cxn ang="0">
                <a:pos x="T0" y="T1"/>
              </a:cxn>
              <a:cxn ang="0">
                <a:pos x="T2" y="T3"/>
              </a:cxn>
              <a:cxn ang="0">
                <a:pos x="T4" y="T5"/>
              </a:cxn>
            </a:cxnLst>
            <a:rect l="0" t="0" r="r" b="b"/>
            <a:pathLst>
              <a:path w="13989" h="19126" fill="none" extrusionOk="0">
                <a:moveTo>
                  <a:pt x="10037" y="0"/>
                </a:moveTo>
                <a:cubicBezTo>
                  <a:pt x="11449" y="740"/>
                  <a:pt x="12774" y="1635"/>
                  <a:pt x="13989" y="2667"/>
                </a:cubicBezTo>
              </a:path>
              <a:path w="13989" h="19126" stroke="0" extrusionOk="0">
                <a:moveTo>
                  <a:pt x="10037" y="0"/>
                </a:moveTo>
                <a:cubicBezTo>
                  <a:pt x="11449" y="740"/>
                  <a:pt x="12774" y="1635"/>
                  <a:pt x="13989" y="2667"/>
                </a:cubicBezTo>
                <a:lnTo>
                  <a:pt x="0" y="19126"/>
                </a:lnTo>
                <a:close/>
              </a:path>
            </a:pathLst>
          </a:custGeom>
          <a:noFill/>
          <a:ln w="22225">
            <a:solidFill>
              <a:srgbClr val="4D4D4D"/>
            </a:solidFill>
            <a:round/>
            <a:headEnd/>
            <a:tailEnd/>
          </a:ln>
          <a:effectLst/>
        </p:spPr>
        <p:txBody>
          <a:bodyPr wrap="none" anchor="ctr"/>
          <a:lstStyle/>
          <a:p>
            <a:endParaRPr lang="fr-FR"/>
          </a:p>
        </p:txBody>
      </p:sp>
      <p:sp>
        <p:nvSpPr>
          <p:cNvPr id="501862" name="Oval 102"/>
          <p:cNvSpPr>
            <a:spLocks noChangeArrowheads="1"/>
          </p:cNvSpPr>
          <p:nvPr>
            <p:custDataLst>
              <p:tags r:id="rId17"/>
            </p:custDataLst>
          </p:nvPr>
        </p:nvSpPr>
        <p:spPr bwMode="auto">
          <a:xfrm>
            <a:off x="6997700" y="3124206"/>
            <a:ext cx="396875" cy="395288"/>
          </a:xfrm>
          <a:prstGeom prst="ellipse">
            <a:avLst/>
          </a:prstGeom>
          <a:solidFill>
            <a:schemeClr val="bg1"/>
          </a:solidFill>
          <a:ln w="12700" algn="ctr">
            <a:solidFill>
              <a:srgbClr val="4D4D4D"/>
            </a:solidFill>
            <a:round/>
            <a:headEnd/>
            <a:tailEnd/>
          </a:ln>
          <a:effectLst/>
        </p:spPr>
        <p:txBody>
          <a:bodyPr wrap="none" anchor="ctr"/>
          <a:lstStyle/>
          <a:p>
            <a:endParaRPr lang="fr-FR"/>
          </a:p>
        </p:txBody>
      </p:sp>
      <p:sp>
        <p:nvSpPr>
          <p:cNvPr id="501863" name="Oval 103"/>
          <p:cNvSpPr>
            <a:spLocks noChangeArrowheads="1"/>
          </p:cNvSpPr>
          <p:nvPr>
            <p:custDataLst>
              <p:tags r:id="rId18"/>
            </p:custDataLst>
          </p:nvPr>
        </p:nvSpPr>
        <p:spPr bwMode="auto">
          <a:xfrm>
            <a:off x="7058025" y="3184531"/>
            <a:ext cx="273050" cy="271463"/>
          </a:xfrm>
          <a:prstGeom prst="ellipse">
            <a:avLst/>
          </a:prstGeom>
          <a:solidFill>
            <a:schemeClr val="bg1"/>
          </a:solidFill>
          <a:ln w="12700" algn="ctr">
            <a:solidFill>
              <a:srgbClr val="4D4D4D"/>
            </a:solidFill>
            <a:round/>
            <a:headEnd/>
            <a:tailEnd/>
          </a:ln>
          <a:effectLst/>
        </p:spPr>
        <p:txBody>
          <a:bodyPr wrap="none" anchor="ctr"/>
          <a:lstStyle/>
          <a:p>
            <a:endParaRPr lang="fr-FR"/>
          </a:p>
        </p:txBody>
      </p:sp>
      <p:sp>
        <p:nvSpPr>
          <p:cNvPr id="501864" name="Line 104"/>
          <p:cNvSpPr>
            <a:spLocks noChangeShapeType="1"/>
          </p:cNvSpPr>
          <p:nvPr>
            <p:custDataLst>
              <p:tags r:id="rId19"/>
            </p:custDataLst>
          </p:nvPr>
        </p:nvSpPr>
        <p:spPr bwMode="auto">
          <a:xfrm flipH="1" flipV="1">
            <a:off x="7191375" y="3370269"/>
            <a:ext cx="3175" cy="627062"/>
          </a:xfrm>
          <a:prstGeom prst="line">
            <a:avLst/>
          </a:prstGeom>
          <a:noFill/>
          <a:ln w="28575">
            <a:solidFill>
              <a:srgbClr val="4D4D4D"/>
            </a:solidFill>
            <a:round/>
            <a:headEnd/>
            <a:tailEnd/>
          </a:ln>
          <a:effectLst/>
        </p:spPr>
        <p:txBody>
          <a:bodyPr wrap="none" anchor="ctr"/>
          <a:lstStyle/>
          <a:p>
            <a:endParaRPr lang="fr-FR"/>
          </a:p>
        </p:txBody>
      </p:sp>
      <p:sp>
        <p:nvSpPr>
          <p:cNvPr id="501865" name="Oval 105"/>
          <p:cNvSpPr>
            <a:spLocks noChangeArrowheads="1"/>
          </p:cNvSpPr>
          <p:nvPr>
            <p:custDataLst>
              <p:tags r:id="rId20"/>
            </p:custDataLst>
          </p:nvPr>
        </p:nvSpPr>
        <p:spPr bwMode="auto">
          <a:xfrm>
            <a:off x="7140575" y="3260731"/>
            <a:ext cx="107950" cy="106363"/>
          </a:xfrm>
          <a:prstGeom prst="ellipse">
            <a:avLst/>
          </a:prstGeom>
          <a:solidFill>
            <a:schemeClr val="tx2"/>
          </a:solidFill>
          <a:ln w="12700" algn="ctr">
            <a:solidFill>
              <a:srgbClr val="4D4D4D"/>
            </a:solidFill>
            <a:round/>
            <a:headEnd/>
            <a:tailEnd/>
          </a:ln>
          <a:effectLst/>
        </p:spPr>
        <p:txBody>
          <a:bodyPr wrap="none" anchor="ctr"/>
          <a:lstStyle/>
          <a:p>
            <a:endParaRPr lang="fr-FR"/>
          </a:p>
        </p:txBody>
      </p:sp>
      <p:pic>
        <p:nvPicPr>
          <p:cNvPr id="501867" name="Picture 107" descr="LaptopComputer01"/>
          <p:cNvPicPr>
            <a:picLocks noChangeAspect="1" noChangeArrowheads="1"/>
          </p:cNvPicPr>
          <p:nvPr>
            <p:custDataLst>
              <p:tags r:id="rId21"/>
            </p:custDataLst>
          </p:nvPr>
        </p:nvPicPr>
        <p:blipFill>
          <a:blip r:embed="rId46" cstate="print"/>
          <a:srcRect/>
          <a:stretch>
            <a:fillRect/>
          </a:stretch>
        </p:blipFill>
        <p:spPr bwMode="auto">
          <a:xfrm>
            <a:off x="6791325" y="3784606"/>
            <a:ext cx="827088" cy="903288"/>
          </a:xfrm>
          <a:prstGeom prst="rect">
            <a:avLst/>
          </a:prstGeom>
          <a:noFill/>
        </p:spPr>
      </p:pic>
      <p:pic>
        <p:nvPicPr>
          <p:cNvPr id="501868" name="Picture 108" descr="User_UserHalfD01"/>
          <p:cNvPicPr>
            <a:picLocks noChangeAspect="1" noChangeArrowheads="1"/>
          </p:cNvPicPr>
          <p:nvPr>
            <p:custDataLst>
              <p:tags r:id="rId22"/>
            </p:custDataLst>
          </p:nvPr>
        </p:nvPicPr>
        <p:blipFill>
          <a:blip r:embed="rId47" cstate="print"/>
          <a:srcRect/>
          <a:stretch>
            <a:fillRect/>
          </a:stretch>
        </p:blipFill>
        <p:spPr bwMode="auto">
          <a:xfrm>
            <a:off x="6480175" y="3856044"/>
            <a:ext cx="660400" cy="1033462"/>
          </a:xfrm>
          <a:prstGeom prst="rect">
            <a:avLst/>
          </a:prstGeom>
          <a:noFill/>
        </p:spPr>
      </p:pic>
      <p:sp>
        <p:nvSpPr>
          <p:cNvPr id="501870" name="Oval 110"/>
          <p:cNvSpPr>
            <a:spLocks noChangeArrowheads="1"/>
          </p:cNvSpPr>
          <p:nvPr>
            <p:custDataLst>
              <p:tags r:id="rId23"/>
            </p:custDataLst>
          </p:nvPr>
        </p:nvSpPr>
        <p:spPr bwMode="auto">
          <a:xfrm>
            <a:off x="4672013" y="2481269"/>
            <a:ext cx="427037" cy="423862"/>
          </a:xfrm>
          <a:prstGeom prst="ellipse">
            <a:avLst/>
          </a:prstGeom>
          <a:solidFill>
            <a:schemeClr val="bg1"/>
          </a:solidFill>
          <a:ln w="12700" algn="ctr">
            <a:solidFill>
              <a:srgbClr val="4D4D4D"/>
            </a:solidFill>
            <a:round/>
            <a:headEnd/>
            <a:tailEnd/>
          </a:ln>
          <a:effectLst/>
        </p:spPr>
        <p:txBody>
          <a:bodyPr wrap="none" anchor="ctr"/>
          <a:lstStyle/>
          <a:p>
            <a:endParaRPr lang="fr-FR"/>
          </a:p>
        </p:txBody>
      </p:sp>
      <p:sp>
        <p:nvSpPr>
          <p:cNvPr id="501871" name="Oval 111"/>
          <p:cNvSpPr>
            <a:spLocks noChangeArrowheads="1"/>
          </p:cNvSpPr>
          <p:nvPr>
            <p:custDataLst>
              <p:tags r:id="rId24"/>
            </p:custDataLst>
          </p:nvPr>
        </p:nvSpPr>
        <p:spPr bwMode="auto">
          <a:xfrm>
            <a:off x="4737100" y="2546356"/>
            <a:ext cx="293688" cy="290513"/>
          </a:xfrm>
          <a:prstGeom prst="ellipse">
            <a:avLst/>
          </a:prstGeom>
          <a:solidFill>
            <a:schemeClr val="bg1"/>
          </a:solidFill>
          <a:ln w="12700" algn="ctr">
            <a:solidFill>
              <a:srgbClr val="4D4D4D"/>
            </a:solidFill>
            <a:round/>
            <a:headEnd/>
            <a:tailEnd/>
          </a:ln>
          <a:effectLst/>
        </p:spPr>
        <p:txBody>
          <a:bodyPr wrap="none" anchor="ctr"/>
          <a:lstStyle/>
          <a:p>
            <a:endParaRPr lang="fr-FR"/>
          </a:p>
        </p:txBody>
      </p:sp>
      <p:sp>
        <p:nvSpPr>
          <p:cNvPr id="501872" name="Line 112"/>
          <p:cNvSpPr>
            <a:spLocks noChangeShapeType="1"/>
          </p:cNvSpPr>
          <p:nvPr>
            <p:custDataLst>
              <p:tags r:id="rId25"/>
            </p:custDataLst>
          </p:nvPr>
        </p:nvSpPr>
        <p:spPr bwMode="auto">
          <a:xfrm flipH="1" flipV="1">
            <a:off x="4879975" y="2744794"/>
            <a:ext cx="3175" cy="674687"/>
          </a:xfrm>
          <a:prstGeom prst="line">
            <a:avLst/>
          </a:prstGeom>
          <a:noFill/>
          <a:ln w="28575">
            <a:solidFill>
              <a:srgbClr val="4D4D4D"/>
            </a:solidFill>
            <a:round/>
            <a:headEnd/>
            <a:tailEnd/>
          </a:ln>
          <a:effectLst/>
        </p:spPr>
        <p:txBody>
          <a:bodyPr wrap="none" anchor="ctr"/>
          <a:lstStyle/>
          <a:p>
            <a:endParaRPr lang="fr-FR"/>
          </a:p>
        </p:txBody>
      </p:sp>
      <p:sp>
        <p:nvSpPr>
          <p:cNvPr id="501873" name="Oval 113"/>
          <p:cNvSpPr>
            <a:spLocks noChangeArrowheads="1"/>
          </p:cNvSpPr>
          <p:nvPr>
            <p:custDataLst>
              <p:tags r:id="rId26"/>
            </p:custDataLst>
          </p:nvPr>
        </p:nvSpPr>
        <p:spPr bwMode="auto">
          <a:xfrm>
            <a:off x="4826000" y="2628906"/>
            <a:ext cx="115888" cy="114300"/>
          </a:xfrm>
          <a:prstGeom prst="ellipse">
            <a:avLst/>
          </a:prstGeom>
          <a:solidFill>
            <a:schemeClr val="tx2"/>
          </a:solidFill>
          <a:ln w="12700" algn="ctr">
            <a:solidFill>
              <a:srgbClr val="4D4D4D"/>
            </a:solidFill>
            <a:round/>
            <a:headEnd/>
            <a:tailEnd/>
          </a:ln>
          <a:effectLst/>
        </p:spPr>
        <p:txBody>
          <a:bodyPr wrap="none" anchor="ctr"/>
          <a:lstStyle/>
          <a:p>
            <a:endParaRPr lang="fr-FR"/>
          </a:p>
        </p:txBody>
      </p:sp>
      <p:sp>
        <p:nvSpPr>
          <p:cNvPr id="501842" name="Oval 82"/>
          <p:cNvSpPr>
            <a:spLocks noChangeArrowheads="1"/>
          </p:cNvSpPr>
          <p:nvPr>
            <p:custDataLst>
              <p:tags r:id="rId27"/>
            </p:custDataLst>
          </p:nvPr>
        </p:nvSpPr>
        <p:spPr bwMode="auto">
          <a:xfrm>
            <a:off x="6221413" y="3708406"/>
            <a:ext cx="1689100" cy="1273175"/>
          </a:xfrm>
          <a:prstGeom prst="ellipse">
            <a:avLst/>
          </a:prstGeom>
          <a:solidFill>
            <a:srgbClr val="CC0000">
              <a:alpha val="25000"/>
            </a:srgbClr>
          </a:solidFill>
          <a:ln w="9525" algn="ctr">
            <a:noFill/>
            <a:round/>
            <a:headEnd/>
            <a:tailEnd/>
          </a:ln>
          <a:effectLst/>
        </p:spPr>
        <p:txBody>
          <a:bodyPr wrap="none" anchor="ctr"/>
          <a:lstStyle/>
          <a:p>
            <a:endParaRPr lang="fr-FR"/>
          </a:p>
        </p:txBody>
      </p:sp>
      <p:sp>
        <p:nvSpPr>
          <p:cNvPr id="501853" name="AutoShape 93"/>
          <p:cNvSpPr>
            <a:spLocks noChangeArrowheads="1"/>
          </p:cNvSpPr>
          <p:nvPr>
            <p:custDataLst>
              <p:tags r:id="rId28"/>
            </p:custDataLst>
          </p:nvPr>
        </p:nvSpPr>
        <p:spPr bwMode="auto">
          <a:xfrm>
            <a:off x="3715657" y="4024319"/>
            <a:ext cx="1812018" cy="678316"/>
          </a:xfrm>
          <a:prstGeom prst="roundRect">
            <a:avLst>
              <a:gd name="adj" fmla="val 4167"/>
            </a:avLst>
          </a:prstGeom>
          <a:solidFill>
            <a:srgbClr val="FFFFFF"/>
          </a:solidFill>
          <a:ln w="9525" algn="ctr">
            <a:solidFill>
              <a:srgbClr val="4D4D4D"/>
            </a:solidFill>
            <a:round/>
            <a:headEnd/>
            <a:tailEnd/>
          </a:ln>
          <a:effectLst>
            <a:outerShdw dist="35921" dir="2700000" algn="ctr" rotWithShape="0">
              <a:srgbClr val="AFAFAF"/>
            </a:outerShdw>
          </a:effectLst>
        </p:spPr>
        <p:txBody>
          <a:bodyPr anchor="ctr"/>
          <a:lstStyle/>
          <a:p>
            <a:pPr>
              <a:lnSpc>
                <a:spcPct val="85000"/>
              </a:lnSpc>
            </a:pPr>
            <a:r>
              <a:rPr lang="en-GB" sz="2200" b="1" dirty="0">
                <a:solidFill>
                  <a:srgbClr val="000000"/>
                </a:solidFill>
              </a:rPr>
              <a:t>Point </a:t>
            </a:r>
            <a:r>
              <a:rPr lang="en-GB" sz="2200" b="1" dirty="0" err="1">
                <a:solidFill>
                  <a:srgbClr val="000000"/>
                </a:solidFill>
              </a:rPr>
              <a:t>d'accès</a:t>
            </a:r>
            <a:r>
              <a:rPr lang="en-GB" sz="2200" b="1" dirty="0">
                <a:solidFill>
                  <a:srgbClr val="000000"/>
                </a:solidFill>
              </a:rPr>
              <a:t> sans </a:t>
            </a:r>
            <a:r>
              <a:rPr lang="en-GB" sz="2200" b="1" dirty="0" err="1">
                <a:solidFill>
                  <a:srgbClr val="000000"/>
                </a:solidFill>
              </a:rPr>
              <a:t>fil</a:t>
            </a:r>
            <a:endParaRPr lang="en-US" sz="2200" b="1" dirty="0"/>
          </a:p>
        </p:txBody>
      </p:sp>
      <p:pic>
        <p:nvPicPr>
          <p:cNvPr id="501874" name="Picture 114" descr="Rackmount_Hub01"/>
          <p:cNvPicPr>
            <a:picLocks noChangeAspect="1" noChangeArrowheads="1"/>
          </p:cNvPicPr>
          <p:nvPr>
            <p:custDataLst>
              <p:tags r:id="rId29"/>
            </p:custDataLst>
          </p:nvPr>
        </p:nvPicPr>
        <p:blipFill>
          <a:blip r:embed="rId48" cstate="print"/>
          <a:srcRect/>
          <a:stretch>
            <a:fillRect/>
          </a:stretch>
        </p:blipFill>
        <p:spPr bwMode="auto">
          <a:xfrm>
            <a:off x="4459288" y="3249619"/>
            <a:ext cx="1104900" cy="704850"/>
          </a:xfrm>
          <a:prstGeom prst="rect">
            <a:avLst/>
          </a:prstGeom>
          <a:noFill/>
        </p:spPr>
      </p:pic>
      <p:sp>
        <p:nvSpPr>
          <p:cNvPr id="501876" name="Arc 116"/>
          <p:cNvSpPr>
            <a:spLocks/>
          </p:cNvSpPr>
          <p:nvPr>
            <p:custDataLst>
              <p:tags r:id="rId30"/>
            </p:custDataLst>
          </p:nvPr>
        </p:nvSpPr>
        <p:spPr bwMode="auto">
          <a:xfrm rot="15937463">
            <a:off x="6072981" y="2359825"/>
            <a:ext cx="655638" cy="1066800"/>
          </a:xfrm>
          <a:custGeom>
            <a:avLst/>
            <a:gdLst>
              <a:gd name="G0" fmla="+- 0 0 0"/>
              <a:gd name="G1" fmla="+- 20559 0 0"/>
              <a:gd name="G2" fmla="+- 21600 0 0"/>
              <a:gd name="T0" fmla="*/ 6624 w 16026"/>
              <a:gd name="T1" fmla="*/ 0 h 20559"/>
              <a:gd name="T2" fmla="*/ 16026 w 16026"/>
              <a:gd name="T3" fmla="*/ 6077 h 20559"/>
              <a:gd name="T4" fmla="*/ 0 w 16026"/>
              <a:gd name="T5" fmla="*/ 20559 h 20559"/>
            </a:gdLst>
            <a:ahLst/>
            <a:cxnLst>
              <a:cxn ang="0">
                <a:pos x="T0" y="T1"/>
              </a:cxn>
              <a:cxn ang="0">
                <a:pos x="T2" y="T3"/>
              </a:cxn>
              <a:cxn ang="0">
                <a:pos x="T4" y="T5"/>
              </a:cxn>
            </a:cxnLst>
            <a:rect l="0" t="0" r="r" b="b"/>
            <a:pathLst>
              <a:path w="16026" h="20559" fill="none" extrusionOk="0">
                <a:moveTo>
                  <a:pt x="6624" y="-1"/>
                </a:moveTo>
                <a:cubicBezTo>
                  <a:pt x="10237" y="1164"/>
                  <a:pt x="13480" y="3260"/>
                  <a:pt x="16025" y="6077"/>
                </a:cubicBezTo>
              </a:path>
              <a:path w="16026" h="20559" stroke="0" extrusionOk="0">
                <a:moveTo>
                  <a:pt x="6624" y="-1"/>
                </a:moveTo>
                <a:cubicBezTo>
                  <a:pt x="10237" y="1164"/>
                  <a:pt x="13480" y="3260"/>
                  <a:pt x="16025" y="6077"/>
                </a:cubicBezTo>
                <a:lnTo>
                  <a:pt x="0" y="20559"/>
                </a:lnTo>
                <a:close/>
              </a:path>
            </a:pathLst>
          </a:custGeom>
          <a:noFill/>
          <a:ln w="22225">
            <a:solidFill>
              <a:srgbClr val="4D4D4D"/>
            </a:solidFill>
            <a:round/>
            <a:headEnd/>
            <a:tailEnd/>
          </a:ln>
          <a:effectLst/>
        </p:spPr>
        <p:txBody>
          <a:bodyPr wrap="none" anchor="ctr"/>
          <a:lstStyle/>
          <a:p>
            <a:endParaRPr lang="fr-FR"/>
          </a:p>
        </p:txBody>
      </p:sp>
      <p:sp>
        <p:nvSpPr>
          <p:cNvPr id="501877" name="Arc 117"/>
          <p:cNvSpPr>
            <a:spLocks/>
          </p:cNvSpPr>
          <p:nvPr>
            <p:custDataLst>
              <p:tags r:id="rId31"/>
            </p:custDataLst>
          </p:nvPr>
        </p:nvSpPr>
        <p:spPr bwMode="auto">
          <a:xfrm rot="15937463">
            <a:off x="6235700" y="2470156"/>
            <a:ext cx="611188" cy="1036638"/>
          </a:xfrm>
          <a:custGeom>
            <a:avLst/>
            <a:gdLst>
              <a:gd name="G0" fmla="+- 0 0 0"/>
              <a:gd name="G1" fmla="+- 19993 0 0"/>
              <a:gd name="G2" fmla="+- 21600 0 0"/>
              <a:gd name="T0" fmla="*/ 8176 w 14928"/>
              <a:gd name="T1" fmla="*/ 0 h 19993"/>
              <a:gd name="T2" fmla="*/ 14928 w 14928"/>
              <a:gd name="T3" fmla="*/ 4382 h 19993"/>
              <a:gd name="T4" fmla="*/ 0 w 14928"/>
              <a:gd name="T5" fmla="*/ 19993 h 19993"/>
            </a:gdLst>
            <a:ahLst/>
            <a:cxnLst>
              <a:cxn ang="0">
                <a:pos x="T0" y="T1"/>
              </a:cxn>
              <a:cxn ang="0">
                <a:pos x="T2" y="T3"/>
              </a:cxn>
              <a:cxn ang="0">
                <a:pos x="T4" y="T5"/>
              </a:cxn>
            </a:cxnLst>
            <a:rect l="0" t="0" r="r" b="b"/>
            <a:pathLst>
              <a:path w="14928" h="19993" fill="none" extrusionOk="0">
                <a:moveTo>
                  <a:pt x="8175" y="0"/>
                </a:moveTo>
                <a:cubicBezTo>
                  <a:pt x="10681" y="1024"/>
                  <a:pt x="12971" y="2511"/>
                  <a:pt x="14928" y="4381"/>
                </a:cubicBezTo>
              </a:path>
              <a:path w="14928" h="19993" stroke="0" extrusionOk="0">
                <a:moveTo>
                  <a:pt x="8175" y="0"/>
                </a:moveTo>
                <a:cubicBezTo>
                  <a:pt x="10681" y="1024"/>
                  <a:pt x="12971" y="2511"/>
                  <a:pt x="14928" y="4381"/>
                </a:cubicBezTo>
                <a:lnTo>
                  <a:pt x="0" y="19993"/>
                </a:lnTo>
                <a:close/>
              </a:path>
            </a:pathLst>
          </a:custGeom>
          <a:noFill/>
          <a:ln w="22225">
            <a:solidFill>
              <a:srgbClr val="4D4D4D"/>
            </a:solidFill>
            <a:round/>
            <a:headEnd/>
            <a:tailEnd/>
          </a:ln>
          <a:effectLst/>
        </p:spPr>
        <p:txBody>
          <a:bodyPr wrap="none" anchor="ctr"/>
          <a:lstStyle/>
          <a:p>
            <a:endParaRPr lang="fr-FR"/>
          </a:p>
        </p:txBody>
      </p:sp>
      <p:sp>
        <p:nvSpPr>
          <p:cNvPr id="501878" name="Arc 118"/>
          <p:cNvSpPr>
            <a:spLocks/>
          </p:cNvSpPr>
          <p:nvPr>
            <p:custDataLst>
              <p:tags r:id="rId32"/>
            </p:custDataLst>
          </p:nvPr>
        </p:nvSpPr>
        <p:spPr bwMode="auto">
          <a:xfrm rot="15937463">
            <a:off x="6394450" y="2592394"/>
            <a:ext cx="573087" cy="992188"/>
          </a:xfrm>
          <a:custGeom>
            <a:avLst/>
            <a:gdLst>
              <a:gd name="G0" fmla="+- 0 0 0"/>
              <a:gd name="G1" fmla="+- 19126 0 0"/>
              <a:gd name="G2" fmla="+- 21600 0 0"/>
              <a:gd name="T0" fmla="*/ 10038 w 13989"/>
              <a:gd name="T1" fmla="*/ 0 h 19126"/>
              <a:gd name="T2" fmla="*/ 13989 w 13989"/>
              <a:gd name="T3" fmla="*/ 2668 h 19126"/>
              <a:gd name="T4" fmla="*/ 0 w 13989"/>
              <a:gd name="T5" fmla="*/ 19126 h 19126"/>
            </a:gdLst>
            <a:ahLst/>
            <a:cxnLst>
              <a:cxn ang="0">
                <a:pos x="T0" y="T1"/>
              </a:cxn>
              <a:cxn ang="0">
                <a:pos x="T2" y="T3"/>
              </a:cxn>
              <a:cxn ang="0">
                <a:pos x="T4" y="T5"/>
              </a:cxn>
            </a:cxnLst>
            <a:rect l="0" t="0" r="r" b="b"/>
            <a:pathLst>
              <a:path w="13989" h="19126" fill="none" extrusionOk="0">
                <a:moveTo>
                  <a:pt x="10037" y="0"/>
                </a:moveTo>
                <a:cubicBezTo>
                  <a:pt x="11449" y="740"/>
                  <a:pt x="12774" y="1635"/>
                  <a:pt x="13989" y="2667"/>
                </a:cubicBezTo>
              </a:path>
              <a:path w="13989" h="19126" stroke="0" extrusionOk="0">
                <a:moveTo>
                  <a:pt x="10037" y="0"/>
                </a:moveTo>
                <a:cubicBezTo>
                  <a:pt x="11449" y="740"/>
                  <a:pt x="12774" y="1635"/>
                  <a:pt x="13989" y="2667"/>
                </a:cubicBezTo>
                <a:lnTo>
                  <a:pt x="0" y="19126"/>
                </a:lnTo>
                <a:close/>
              </a:path>
            </a:pathLst>
          </a:custGeom>
          <a:noFill/>
          <a:ln w="22225">
            <a:solidFill>
              <a:srgbClr val="4D4D4D"/>
            </a:solidFill>
            <a:round/>
            <a:headEnd/>
            <a:tailEnd/>
          </a:ln>
          <a:effectLst/>
        </p:spPr>
        <p:txBody>
          <a:bodyPr wrap="none" anchor="ctr"/>
          <a:lstStyle/>
          <a:p>
            <a:endParaRPr lang="fr-FR"/>
          </a:p>
        </p:txBody>
      </p:sp>
      <p:sp>
        <p:nvSpPr>
          <p:cNvPr id="501879" name="Arc 119"/>
          <p:cNvSpPr>
            <a:spLocks/>
          </p:cNvSpPr>
          <p:nvPr>
            <p:custDataLst>
              <p:tags r:id="rId33"/>
            </p:custDataLst>
          </p:nvPr>
        </p:nvSpPr>
        <p:spPr bwMode="auto">
          <a:xfrm rot="15937463">
            <a:off x="6399213" y="2824169"/>
            <a:ext cx="277812" cy="481012"/>
          </a:xfrm>
          <a:custGeom>
            <a:avLst/>
            <a:gdLst>
              <a:gd name="G0" fmla="+- 0 0 0"/>
              <a:gd name="G1" fmla="+- 19126 0 0"/>
              <a:gd name="G2" fmla="+- 21600 0 0"/>
              <a:gd name="T0" fmla="*/ 10038 w 13989"/>
              <a:gd name="T1" fmla="*/ 0 h 19126"/>
              <a:gd name="T2" fmla="*/ 13989 w 13989"/>
              <a:gd name="T3" fmla="*/ 2668 h 19126"/>
              <a:gd name="T4" fmla="*/ 0 w 13989"/>
              <a:gd name="T5" fmla="*/ 19126 h 19126"/>
            </a:gdLst>
            <a:ahLst/>
            <a:cxnLst>
              <a:cxn ang="0">
                <a:pos x="T0" y="T1"/>
              </a:cxn>
              <a:cxn ang="0">
                <a:pos x="T2" y="T3"/>
              </a:cxn>
              <a:cxn ang="0">
                <a:pos x="T4" y="T5"/>
              </a:cxn>
            </a:cxnLst>
            <a:rect l="0" t="0" r="r" b="b"/>
            <a:pathLst>
              <a:path w="13989" h="19126" fill="none" extrusionOk="0">
                <a:moveTo>
                  <a:pt x="10037" y="0"/>
                </a:moveTo>
                <a:cubicBezTo>
                  <a:pt x="11449" y="740"/>
                  <a:pt x="12774" y="1635"/>
                  <a:pt x="13989" y="2667"/>
                </a:cubicBezTo>
              </a:path>
              <a:path w="13989" h="19126" stroke="0" extrusionOk="0">
                <a:moveTo>
                  <a:pt x="10037" y="0"/>
                </a:moveTo>
                <a:cubicBezTo>
                  <a:pt x="11449" y="740"/>
                  <a:pt x="12774" y="1635"/>
                  <a:pt x="13989" y="2667"/>
                </a:cubicBezTo>
                <a:lnTo>
                  <a:pt x="0" y="19126"/>
                </a:lnTo>
                <a:close/>
              </a:path>
            </a:pathLst>
          </a:custGeom>
          <a:noFill/>
          <a:ln w="22225">
            <a:solidFill>
              <a:srgbClr val="4D4D4D"/>
            </a:solidFill>
            <a:round/>
            <a:headEnd/>
            <a:tailEnd/>
          </a:ln>
          <a:effectLst/>
        </p:spPr>
        <p:txBody>
          <a:bodyPr wrap="none" anchor="ctr"/>
          <a:lstStyle/>
          <a:p>
            <a:endParaRPr lang="fr-FR"/>
          </a:p>
        </p:txBody>
      </p:sp>
      <p:sp>
        <p:nvSpPr>
          <p:cNvPr id="501880" name="Freeform 120"/>
          <p:cNvSpPr>
            <a:spLocks/>
          </p:cNvSpPr>
          <p:nvPr>
            <p:custDataLst>
              <p:tags r:id="rId34"/>
            </p:custDataLst>
          </p:nvPr>
        </p:nvSpPr>
        <p:spPr bwMode="auto">
          <a:xfrm>
            <a:off x="5305425" y="2181231"/>
            <a:ext cx="2178050" cy="1841500"/>
          </a:xfrm>
          <a:custGeom>
            <a:avLst/>
            <a:gdLst/>
            <a:ahLst/>
            <a:cxnLst>
              <a:cxn ang="0">
                <a:pos x="0" y="762"/>
              </a:cxn>
              <a:cxn ang="0">
                <a:pos x="0" y="0"/>
              </a:cxn>
              <a:cxn ang="0">
                <a:pos x="1112" y="0"/>
              </a:cxn>
              <a:cxn ang="0">
                <a:pos x="1112" y="1160"/>
              </a:cxn>
            </a:cxnLst>
            <a:rect l="0" t="0" r="r" b="b"/>
            <a:pathLst>
              <a:path w="1112" h="1160">
                <a:moveTo>
                  <a:pt x="0" y="762"/>
                </a:moveTo>
                <a:lnTo>
                  <a:pt x="0" y="0"/>
                </a:lnTo>
                <a:lnTo>
                  <a:pt x="1112" y="0"/>
                </a:lnTo>
                <a:lnTo>
                  <a:pt x="1112" y="1160"/>
                </a:lnTo>
              </a:path>
            </a:pathLst>
          </a:custGeom>
          <a:noFill/>
          <a:ln w="38100" cap="flat" cmpd="sng">
            <a:solidFill>
              <a:srgbClr val="333333"/>
            </a:solidFill>
            <a:prstDash val="solid"/>
            <a:round/>
            <a:headEnd/>
            <a:tailEnd/>
          </a:ln>
          <a:effectLst/>
        </p:spPr>
        <p:txBody>
          <a:bodyPr anchor="ctr"/>
          <a:lstStyle/>
          <a:p>
            <a:endParaRPr lang="fr-FR"/>
          </a:p>
        </p:txBody>
      </p:sp>
      <p:sp>
        <p:nvSpPr>
          <p:cNvPr id="501881" name="AutoShape 121"/>
          <p:cNvSpPr>
            <a:spLocks noChangeArrowheads="1"/>
          </p:cNvSpPr>
          <p:nvPr>
            <p:custDataLst>
              <p:tags r:id="rId35"/>
            </p:custDataLst>
          </p:nvPr>
        </p:nvSpPr>
        <p:spPr bwMode="auto">
          <a:xfrm>
            <a:off x="5978525" y="1949456"/>
            <a:ext cx="831850" cy="385763"/>
          </a:xfrm>
          <a:prstGeom prst="roundRect">
            <a:avLst>
              <a:gd name="adj" fmla="val 4167"/>
            </a:avLst>
          </a:prstGeom>
          <a:solidFill>
            <a:srgbClr val="FFFFFF"/>
          </a:solidFill>
          <a:ln w="9525" algn="ctr">
            <a:solidFill>
              <a:srgbClr val="4D4D4D"/>
            </a:solidFill>
            <a:round/>
            <a:headEnd/>
            <a:tailEnd/>
          </a:ln>
          <a:effectLst>
            <a:outerShdw dist="35921" dir="2700000" algn="ctr" rotWithShape="0">
              <a:srgbClr val="AFAFAF"/>
            </a:outerShdw>
          </a:effectLst>
        </p:spPr>
        <p:txBody>
          <a:bodyPr/>
          <a:lstStyle/>
          <a:p>
            <a:r>
              <a:rPr lang="en-GB" sz="2200" b="1">
                <a:solidFill>
                  <a:srgbClr val="000000"/>
                </a:solidFill>
              </a:rPr>
              <a:t>Ports</a:t>
            </a:r>
            <a:endParaRPr lang="en-US" sz="2200" b="1"/>
          </a:p>
        </p:txBody>
      </p:sp>
      <p:sp>
        <p:nvSpPr>
          <p:cNvPr id="38" name="AutoShape 1047"/>
          <p:cNvSpPr>
            <a:spLocks noChangeArrowheads="1"/>
          </p:cNvSpPr>
          <p:nvPr>
            <p:custDataLst>
              <p:tags r:id="rId36"/>
            </p:custDataLst>
          </p:nvPr>
        </p:nvSpPr>
        <p:spPr bwMode="auto">
          <a:xfrm>
            <a:off x="116115" y="5802081"/>
            <a:ext cx="8824689" cy="965201"/>
          </a:xfrm>
          <a:prstGeom prst="roundRect">
            <a:avLst>
              <a:gd name="adj" fmla="val 12231"/>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gn="just"/>
            <a:r>
              <a:rPr lang="fr-FR" sz="2200" b="1" dirty="0">
                <a:solidFill>
                  <a:srgbClr val="0070C0"/>
                </a:solidFill>
              </a:rPr>
              <a:t>Une station est un périphérique informatique équipé d’une carte réseau sans fil</a:t>
            </a:r>
            <a:endParaRPr lang="en-US" sz="2200" b="1" dirty="0">
              <a:solidFill>
                <a:srgbClr val="0070C0"/>
              </a:solidFill>
            </a:endParaRPr>
          </a:p>
        </p:txBody>
      </p:sp>
      <p:sp>
        <p:nvSpPr>
          <p:cNvPr id="39" name="AutoShape 52"/>
          <p:cNvSpPr>
            <a:spLocks noChangeArrowheads="1"/>
          </p:cNvSpPr>
          <p:nvPr>
            <p:custDataLst>
              <p:tags r:id="rId37"/>
            </p:custDataLst>
          </p:nvPr>
        </p:nvSpPr>
        <p:spPr bwMode="auto">
          <a:xfrm>
            <a:off x="7126908" y="4704901"/>
            <a:ext cx="2017092" cy="748553"/>
          </a:xfrm>
          <a:prstGeom prst="roundRect">
            <a:avLst>
              <a:gd name="adj" fmla="val 4167"/>
            </a:avLst>
          </a:prstGeom>
          <a:solidFill>
            <a:schemeClr val="bg1"/>
          </a:solidFill>
          <a:ln w="9525" algn="ctr">
            <a:solidFill>
              <a:srgbClr val="4D4D4D"/>
            </a:solidFill>
            <a:round/>
            <a:headEnd/>
            <a:tailEnd/>
          </a:ln>
          <a:effectLst>
            <a:outerShdw dist="35921" dir="2700000" algn="ctr" rotWithShape="0">
              <a:srgbClr val="AFAFAF"/>
            </a:outerShdw>
          </a:effectLst>
        </p:spPr>
        <p:txBody>
          <a:bodyPr wrap="none" anchor="ctr"/>
          <a:lstStyle/>
          <a:p>
            <a:pPr>
              <a:lnSpc>
                <a:spcPct val="85000"/>
              </a:lnSpc>
            </a:pPr>
            <a:r>
              <a:rPr lang="en-GB" sz="2200" b="1" dirty="0">
                <a:solidFill>
                  <a:srgbClr val="000000"/>
                </a:solidFill>
              </a:rPr>
              <a:t>Client sans </a:t>
            </a:r>
            <a:r>
              <a:rPr lang="en-GB" sz="2200" b="1" dirty="0" err="1">
                <a:solidFill>
                  <a:srgbClr val="000000"/>
                </a:solidFill>
              </a:rPr>
              <a:t>fil</a:t>
            </a:r>
            <a:endParaRPr lang="en-US" sz="2200" b="1" dirty="0"/>
          </a:p>
          <a:p>
            <a:pPr>
              <a:lnSpc>
                <a:spcPct val="85000"/>
              </a:lnSpc>
            </a:pPr>
            <a:r>
              <a:rPr lang="en-GB" sz="2200" b="1" dirty="0">
                <a:solidFill>
                  <a:srgbClr val="000000"/>
                </a:solidFill>
              </a:rPr>
              <a:t>(station)</a:t>
            </a:r>
            <a:endParaRPr lang="en-US" sz="2200" b="1" dirty="0">
              <a:solidFill>
                <a:srgbClr val="000000"/>
              </a:solidFill>
            </a:endParaRPr>
          </a:p>
        </p:txBody>
      </p:sp>
      <p:sp>
        <p:nvSpPr>
          <p:cNvPr id="40" name="AutoShape 1047"/>
          <p:cNvSpPr>
            <a:spLocks noChangeArrowheads="1"/>
          </p:cNvSpPr>
          <p:nvPr>
            <p:custDataLst>
              <p:tags r:id="rId38"/>
            </p:custDataLst>
          </p:nvPr>
        </p:nvSpPr>
        <p:spPr bwMode="auto">
          <a:xfrm>
            <a:off x="123375" y="5794827"/>
            <a:ext cx="8824689" cy="965201"/>
          </a:xfrm>
          <a:prstGeom prst="roundRect">
            <a:avLst>
              <a:gd name="adj" fmla="val 12231"/>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gn="just"/>
            <a:r>
              <a:rPr lang="fr-FR" sz="2200" b="1" dirty="0">
                <a:solidFill>
                  <a:srgbClr val="0070C0"/>
                </a:solidFill>
              </a:rPr>
              <a:t>Un point d’accès sans fil est un périphérique réseau équipé d’une carte réseau sans fil qui fait office de pont entre les stations et un réseau câblé traditionnel </a:t>
            </a:r>
            <a:endParaRPr lang="en-US" sz="2200" b="1" dirty="0">
              <a:solidFill>
                <a:srgbClr val="0070C0"/>
              </a:solidFill>
            </a:endParaRPr>
          </a:p>
        </p:txBody>
      </p:sp>
      <p:sp>
        <p:nvSpPr>
          <p:cNvPr id="41" name="AutoShape 1047"/>
          <p:cNvSpPr>
            <a:spLocks noChangeArrowheads="1"/>
          </p:cNvSpPr>
          <p:nvPr>
            <p:custDataLst>
              <p:tags r:id="rId39"/>
            </p:custDataLst>
          </p:nvPr>
        </p:nvSpPr>
        <p:spPr bwMode="auto">
          <a:xfrm>
            <a:off x="130635" y="5787573"/>
            <a:ext cx="8824689" cy="965201"/>
          </a:xfrm>
          <a:prstGeom prst="roundRect">
            <a:avLst>
              <a:gd name="adj" fmla="val 12231"/>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gn="just"/>
            <a:r>
              <a:rPr lang="fr-FR" sz="2200" b="1" dirty="0">
                <a:solidFill>
                  <a:srgbClr val="0070C0"/>
                </a:solidFill>
              </a:rPr>
              <a:t>Un port est le canal d’un périphérique capable de gérer une seule connexion point à point</a:t>
            </a:r>
            <a:endParaRPr lang="en-US" sz="2200" b="1" dirty="0">
              <a:solidFill>
                <a:srgbClr val="0070C0"/>
              </a:solidFill>
            </a:endParaRPr>
          </a:p>
        </p:txBody>
      </p:sp>
      <p:sp>
        <p:nvSpPr>
          <p:cNvPr id="42" name="AutoShape 1047"/>
          <p:cNvSpPr>
            <a:spLocks noChangeArrowheads="1"/>
          </p:cNvSpPr>
          <p:nvPr>
            <p:custDataLst>
              <p:tags r:id="rId40"/>
            </p:custDataLst>
          </p:nvPr>
        </p:nvSpPr>
        <p:spPr bwMode="auto">
          <a:xfrm>
            <a:off x="108867" y="5780319"/>
            <a:ext cx="8824689" cy="965201"/>
          </a:xfrm>
          <a:prstGeom prst="roundRect">
            <a:avLst>
              <a:gd name="adj" fmla="val 12231"/>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gn="just"/>
            <a:r>
              <a:rPr lang="fr-FR" sz="2200" b="1" dirty="0">
                <a:solidFill>
                  <a:srgbClr val="0070C0"/>
                </a:solidFill>
              </a:rPr>
              <a:t>Le service Routage et accès distant fournit des services d’authentification, tels que les méthodes d’authentification 802.1x et IAS</a:t>
            </a:r>
            <a:endParaRPr lang="en-US" sz="2200" b="1" dirty="0">
              <a:solidFill>
                <a:srgbClr val="0070C0"/>
              </a:solidFill>
            </a:endParaRPr>
          </a:p>
        </p:txBody>
      </p:sp>
      <p:sp>
        <p:nvSpPr>
          <p:cNvPr id="43" name="AutoShape 1047"/>
          <p:cNvSpPr>
            <a:spLocks noChangeArrowheads="1"/>
          </p:cNvSpPr>
          <p:nvPr>
            <p:custDataLst>
              <p:tags r:id="rId41"/>
            </p:custDataLst>
          </p:nvPr>
        </p:nvSpPr>
        <p:spPr bwMode="auto">
          <a:xfrm>
            <a:off x="116127" y="5773065"/>
            <a:ext cx="8824689" cy="965201"/>
          </a:xfrm>
          <a:prstGeom prst="roundRect">
            <a:avLst>
              <a:gd name="adj" fmla="val 12231"/>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gn="just"/>
            <a:r>
              <a:rPr lang="fr-FR" sz="2200" b="1" dirty="0">
                <a:solidFill>
                  <a:srgbClr val="0070C0"/>
                </a:solidFill>
              </a:rPr>
              <a:t>Le service Routage et accès distant fournit des stratégies d’accès distant et d’allocation d’adresses IP propres aux clients réseau sans fil</a:t>
            </a:r>
            <a:endParaRPr lang="en-US" sz="2200" b="1"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checkerboard(across)">
                                      <p:cBhvr>
                                        <p:cTn id="7" dur="500"/>
                                        <p:tgtEl>
                                          <p:spTgt spid="38"/>
                                        </p:tgtEl>
                                      </p:cBhvr>
                                    </p:animEffect>
                                  </p:childTnLst>
                                </p:cTn>
                              </p:par>
                              <p:par>
                                <p:cTn id="8" presetID="1" presetClass="emph" presetSubtype="2" fill="hold" nodeType="withEffect">
                                  <p:stCondLst>
                                    <p:cond delay="0"/>
                                  </p:stCondLst>
                                  <p:childTnLst>
                                    <p:animClr clrSpc="rgb" dir="cw">
                                      <p:cBhvr>
                                        <p:cTn id="9" dur="2000" fill="hold"/>
                                        <p:tgtEl>
                                          <p:spTgt spid="39"/>
                                        </p:tgtEl>
                                        <p:attrNameLst>
                                          <p:attrName>fillcolor</p:attrName>
                                        </p:attrNameLst>
                                      </p:cBhvr>
                                      <p:to>
                                        <a:srgbClr val="6600FF"/>
                                      </p:to>
                                    </p:animClr>
                                    <p:set>
                                      <p:cBhvr>
                                        <p:cTn id="10" dur="2000" fill="hold"/>
                                        <p:tgtEl>
                                          <p:spTgt spid="39"/>
                                        </p:tgtEl>
                                        <p:attrNameLst>
                                          <p:attrName>fill.type</p:attrName>
                                        </p:attrNameLst>
                                      </p:cBhvr>
                                      <p:to>
                                        <p:strVal val="solid"/>
                                      </p:to>
                                    </p:set>
                                    <p:set>
                                      <p:cBhvr>
                                        <p:cTn id="11" dur="2000" fill="hold"/>
                                        <p:tgtEl>
                                          <p:spTgt spid="39"/>
                                        </p:tgtEl>
                                        <p:attrNameLst>
                                          <p:attrName>fill.on</p:attrName>
                                        </p:attrNameLst>
                                      </p:cBhvr>
                                      <p:to>
                                        <p:strVal val="true"/>
                                      </p:to>
                                    </p:set>
                                  </p:childTnLst>
                                </p:cTn>
                              </p:par>
                              <p:par>
                                <p:cTn id="12" presetID="3" presetClass="emph" presetSubtype="2" fill="hold" grpId="0" nodeType="withEffect">
                                  <p:stCondLst>
                                    <p:cond delay="0"/>
                                  </p:stCondLst>
                                  <p:childTnLst>
                                    <p:animClr clrSpc="rgb" dir="cw">
                                      <p:cBhvr override="childStyle">
                                        <p:cTn id="13" dur="2000" fill="hold"/>
                                        <p:tgtEl>
                                          <p:spTgt spid="39"/>
                                        </p:tgtEl>
                                        <p:attrNameLst>
                                          <p:attrName>style.color</p:attrName>
                                        </p:attrNameLst>
                                      </p:cBhvr>
                                      <p:to>
                                        <a:srgbClr val="CCECFF"/>
                                      </p:to>
                                    </p:animClr>
                                  </p:childTnLst>
                                </p:cTn>
                              </p:par>
                            </p:childTnLst>
                          </p:cTn>
                        </p:par>
                      </p:childTnLst>
                    </p:cTn>
                  </p:par>
                  <p:par>
                    <p:cTn id="14" fill="hold">
                      <p:stCondLst>
                        <p:cond delay="indefinite"/>
                      </p:stCondLst>
                      <p:childTnLst>
                        <p:par>
                          <p:cTn id="15" fill="hold">
                            <p:stCondLst>
                              <p:cond delay="0"/>
                            </p:stCondLst>
                            <p:childTnLst>
                              <p:par>
                                <p:cTn id="16" presetID="5" presetClass="entr" presetSubtype="10" fill="hold" grpId="0" nodeType="clickEffect">
                                  <p:stCondLst>
                                    <p:cond delay="0"/>
                                  </p:stCondLst>
                                  <p:childTnLst>
                                    <p:set>
                                      <p:cBhvr>
                                        <p:cTn id="17" dur="1" fill="hold">
                                          <p:stCondLst>
                                            <p:cond delay="0"/>
                                          </p:stCondLst>
                                        </p:cTn>
                                        <p:tgtEl>
                                          <p:spTgt spid="40"/>
                                        </p:tgtEl>
                                        <p:attrNameLst>
                                          <p:attrName>style.visibility</p:attrName>
                                        </p:attrNameLst>
                                      </p:cBhvr>
                                      <p:to>
                                        <p:strVal val="visible"/>
                                      </p:to>
                                    </p:set>
                                    <p:animEffect transition="in" filter="checkerboard(across)">
                                      <p:cBhvr>
                                        <p:cTn id="18" dur="500"/>
                                        <p:tgtEl>
                                          <p:spTgt spid="40"/>
                                        </p:tgtEl>
                                      </p:cBhvr>
                                    </p:animEffect>
                                  </p:childTnLst>
                                </p:cTn>
                              </p:par>
                              <p:par>
                                <p:cTn id="19" presetID="1" presetClass="emph" presetSubtype="2" fill="hold" nodeType="withEffect">
                                  <p:stCondLst>
                                    <p:cond delay="0"/>
                                  </p:stCondLst>
                                  <p:childTnLst>
                                    <p:animClr clrSpc="rgb" dir="cw">
                                      <p:cBhvr>
                                        <p:cTn id="20" dur="2000" fill="hold"/>
                                        <p:tgtEl>
                                          <p:spTgt spid="39"/>
                                        </p:tgtEl>
                                        <p:attrNameLst>
                                          <p:attrName>fillcolor</p:attrName>
                                        </p:attrNameLst>
                                      </p:cBhvr>
                                      <p:to>
                                        <a:schemeClr val="bg1"/>
                                      </p:to>
                                    </p:animClr>
                                    <p:set>
                                      <p:cBhvr>
                                        <p:cTn id="21" dur="2000" fill="hold"/>
                                        <p:tgtEl>
                                          <p:spTgt spid="39"/>
                                        </p:tgtEl>
                                        <p:attrNameLst>
                                          <p:attrName>fill.type</p:attrName>
                                        </p:attrNameLst>
                                      </p:cBhvr>
                                      <p:to>
                                        <p:strVal val="solid"/>
                                      </p:to>
                                    </p:set>
                                    <p:set>
                                      <p:cBhvr>
                                        <p:cTn id="22" dur="2000" fill="hold"/>
                                        <p:tgtEl>
                                          <p:spTgt spid="39"/>
                                        </p:tgtEl>
                                        <p:attrNameLst>
                                          <p:attrName>fill.on</p:attrName>
                                        </p:attrNameLst>
                                      </p:cBhvr>
                                      <p:to>
                                        <p:strVal val="true"/>
                                      </p:to>
                                    </p:set>
                                  </p:childTnLst>
                                </p:cTn>
                              </p:par>
                              <p:par>
                                <p:cTn id="23" presetID="3" presetClass="emph" presetSubtype="2" fill="hold" grpId="1" nodeType="withEffect">
                                  <p:stCondLst>
                                    <p:cond delay="0"/>
                                  </p:stCondLst>
                                  <p:childTnLst>
                                    <p:animClr clrSpc="rgb" dir="cw">
                                      <p:cBhvr override="childStyle">
                                        <p:cTn id="24" dur="2000" fill="hold"/>
                                        <p:tgtEl>
                                          <p:spTgt spid="39"/>
                                        </p:tgtEl>
                                        <p:attrNameLst>
                                          <p:attrName>style.color</p:attrName>
                                        </p:attrNameLst>
                                      </p:cBhvr>
                                      <p:to>
                                        <a:schemeClr val="tx1"/>
                                      </p:to>
                                    </p:animClr>
                                  </p:childTnLst>
                                </p:cTn>
                              </p:par>
                              <p:par>
                                <p:cTn id="25" presetID="1" presetClass="emph" presetSubtype="2" fill="hold" nodeType="withEffect">
                                  <p:stCondLst>
                                    <p:cond delay="0"/>
                                  </p:stCondLst>
                                  <p:childTnLst>
                                    <p:animClr clrSpc="rgb" dir="cw">
                                      <p:cBhvr>
                                        <p:cTn id="26" dur="2000" fill="hold"/>
                                        <p:tgtEl>
                                          <p:spTgt spid="501853"/>
                                        </p:tgtEl>
                                        <p:attrNameLst>
                                          <p:attrName>fillcolor</p:attrName>
                                        </p:attrNameLst>
                                      </p:cBhvr>
                                      <p:to>
                                        <a:srgbClr val="6600FF"/>
                                      </p:to>
                                    </p:animClr>
                                    <p:set>
                                      <p:cBhvr>
                                        <p:cTn id="27" dur="2000" fill="hold"/>
                                        <p:tgtEl>
                                          <p:spTgt spid="501853"/>
                                        </p:tgtEl>
                                        <p:attrNameLst>
                                          <p:attrName>fill.type</p:attrName>
                                        </p:attrNameLst>
                                      </p:cBhvr>
                                      <p:to>
                                        <p:strVal val="solid"/>
                                      </p:to>
                                    </p:set>
                                    <p:set>
                                      <p:cBhvr>
                                        <p:cTn id="28" dur="2000" fill="hold"/>
                                        <p:tgtEl>
                                          <p:spTgt spid="501853"/>
                                        </p:tgtEl>
                                        <p:attrNameLst>
                                          <p:attrName>fill.on</p:attrName>
                                        </p:attrNameLst>
                                      </p:cBhvr>
                                      <p:to>
                                        <p:strVal val="true"/>
                                      </p:to>
                                    </p:set>
                                  </p:childTnLst>
                                </p:cTn>
                              </p:par>
                              <p:par>
                                <p:cTn id="29" presetID="3" presetClass="emph" presetSubtype="2" fill="hold" grpId="0" nodeType="withEffect">
                                  <p:stCondLst>
                                    <p:cond delay="0"/>
                                  </p:stCondLst>
                                  <p:childTnLst>
                                    <p:animClr clrSpc="rgb" dir="cw">
                                      <p:cBhvr override="childStyle">
                                        <p:cTn id="30" dur="2000" fill="hold"/>
                                        <p:tgtEl>
                                          <p:spTgt spid="501853"/>
                                        </p:tgtEl>
                                        <p:attrNameLst>
                                          <p:attrName>style.color</p:attrName>
                                        </p:attrNameLst>
                                      </p:cBhvr>
                                      <p:to>
                                        <a:srgbClr val="CCECFF"/>
                                      </p:to>
                                    </p:animClr>
                                  </p:childTnLst>
                                </p:cTn>
                              </p:par>
                            </p:childTnLst>
                          </p:cTn>
                        </p:par>
                      </p:childTnLst>
                    </p:cTn>
                  </p:par>
                  <p:par>
                    <p:cTn id="31" fill="hold">
                      <p:stCondLst>
                        <p:cond delay="indefinite"/>
                      </p:stCondLst>
                      <p:childTnLst>
                        <p:par>
                          <p:cTn id="32" fill="hold">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41"/>
                                        </p:tgtEl>
                                        <p:attrNameLst>
                                          <p:attrName>style.visibility</p:attrName>
                                        </p:attrNameLst>
                                      </p:cBhvr>
                                      <p:to>
                                        <p:strVal val="visible"/>
                                      </p:to>
                                    </p:set>
                                    <p:animEffect transition="in" filter="checkerboard(across)">
                                      <p:cBhvr>
                                        <p:cTn id="35" dur="500"/>
                                        <p:tgtEl>
                                          <p:spTgt spid="41"/>
                                        </p:tgtEl>
                                      </p:cBhvr>
                                    </p:animEffect>
                                  </p:childTnLst>
                                </p:cTn>
                              </p:par>
                              <p:par>
                                <p:cTn id="36" presetID="1" presetClass="emph" presetSubtype="2" fill="hold" nodeType="withEffect">
                                  <p:stCondLst>
                                    <p:cond delay="0"/>
                                  </p:stCondLst>
                                  <p:childTnLst>
                                    <p:animClr clrSpc="rgb" dir="cw">
                                      <p:cBhvr>
                                        <p:cTn id="37" dur="2000" fill="hold"/>
                                        <p:tgtEl>
                                          <p:spTgt spid="501853"/>
                                        </p:tgtEl>
                                        <p:attrNameLst>
                                          <p:attrName>fillcolor</p:attrName>
                                        </p:attrNameLst>
                                      </p:cBhvr>
                                      <p:to>
                                        <a:schemeClr val="bg1"/>
                                      </p:to>
                                    </p:animClr>
                                    <p:set>
                                      <p:cBhvr>
                                        <p:cTn id="38" dur="2000" fill="hold"/>
                                        <p:tgtEl>
                                          <p:spTgt spid="501853"/>
                                        </p:tgtEl>
                                        <p:attrNameLst>
                                          <p:attrName>fill.type</p:attrName>
                                        </p:attrNameLst>
                                      </p:cBhvr>
                                      <p:to>
                                        <p:strVal val="solid"/>
                                      </p:to>
                                    </p:set>
                                    <p:set>
                                      <p:cBhvr>
                                        <p:cTn id="39" dur="2000" fill="hold"/>
                                        <p:tgtEl>
                                          <p:spTgt spid="501853"/>
                                        </p:tgtEl>
                                        <p:attrNameLst>
                                          <p:attrName>fill.on</p:attrName>
                                        </p:attrNameLst>
                                      </p:cBhvr>
                                      <p:to>
                                        <p:strVal val="true"/>
                                      </p:to>
                                    </p:set>
                                  </p:childTnLst>
                                </p:cTn>
                              </p:par>
                              <p:par>
                                <p:cTn id="40" presetID="3" presetClass="emph" presetSubtype="2" fill="hold" grpId="1" nodeType="withEffect">
                                  <p:stCondLst>
                                    <p:cond delay="0"/>
                                  </p:stCondLst>
                                  <p:childTnLst>
                                    <p:animClr clrSpc="rgb" dir="cw">
                                      <p:cBhvr override="childStyle">
                                        <p:cTn id="41" dur="2000" fill="hold"/>
                                        <p:tgtEl>
                                          <p:spTgt spid="501853"/>
                                        </p:tgtEl>
                                        <p:attrNameLst>
                                          <p:attrName>style.color</p:attrName>
                                        </p:attrNameLst>
                                      </p:cBhvr>
                                      <p:to>
                                        <a:schemeClr val="tx1"/>
                                      </p:to>
                                    </p:animClr>
                                  </p:childTnLst>
                                </p:cTn>
                              </p:par>
                              <p:par>
                                <p:cTn id="42" presetID="1" presetClass="emph" presetSubtype="2" fill="hold" nodeType="withEffect">
                                  <p:stCondLst>
                                    <p:cond delay="0"/>
                                  </p:stCondLst>
                                  <p:childTnLst>
                                    <p:animClr clrSpc="rgb" dir="cw">
                                      <p:cBhvr>
                                        <p:cTn id="43" dur="2000" fill="hold"/>
                                        <p:tgtEl>
                                          <p:spTgt spid="501881"/>
                                        </p:tgtEl>
                                        <p:attrNameLst>
                                          <p:attrName>fillcolor</p:attrName>
                                        </p:attrNameLst>
                                      </p:cBhvr>
                                      <p:to>
                                        <a:srgbClr val="6600FF"/>
                                      </p:to>
                                    </p:animClr>
                                    <p:set>
                                      <p:cBhvr>
                                        <p:cTn id="44" dur="2000" fill="hold"/>
                                        <p:tgtEl>
                                          <p:spTgt spid="501881"/>
                                        </p:tgtEl>
                                        <p:attrNameLst>
                                          <p:attrName>fill.type</p:attrName>
                                        </p:attrNameLst>
                                      </p:cBhvr>
                                      <p:to>
                                        <p:strVal val="solid"/>
                                      </p:to>
                                    </p:set>
                                    <p:set>
                                      <p:cBhvr>
                                        <p:cTn id="45" dur="2000" fill="hold"/>
                                        <p:tgtEl>
                                          <p:spTgt spid="501881"/>
                                        </p:tgtEl>
                                        <p:attrNameLst>
                                          <p:attrName>fill.on</p:attrName>
                                        </p:attrNameLst>
                                      </p:cBhvr>
                                      <p:to>
                                        <p:strVal val="true"/>
                                      </p:to>
                                    </p:set>
                                  </p:childTnLst>
                                </p:cTn>
                              </p:par>
                              <p:par>
                                <p:cTn id="46" presetID="3" presetClass="emph" presetSubtype="2" fill="hold" grpId="0" nodeType="withEffect">
                                  <p:stCondLst>
                                    <p:cond delay="0"/>
                                  </p:stCondLst>
                                  <p:childTnLst>
                                    <p:animClr clrSpc="rgb" dir="cw">
                                      <p:cBhvr override="childStyle">
                                        <p:cTn id="47" dur="2000" fill="hold"/>
                                        <p:tgtEl>
                                          <p:spTgt spid="501881"/>
                                        </p:tgtEl>
                                        <p:attrNameLst>
                                          <p:attrName>style.color</p:attrName>
                                        </p:attrNameLst>
                                      </p:cBhvr>
                                      <p:to>
                                        <a:srgbClr val="CCECFF"/>
                                      </p:to>
                                    </p:animClr>
                                  </p:childTnLst>
                                </p:cTn>
                              </p:par>
                            </p:childTnLst>
                          </p:cTn>
                        </p:par>
                      </p:childTnLst>
                    </p:cTn>
                  </p:par>
                  <p:par>
                    <p:cTn id="48" fill="hold">
                      <p:stCondLst>
                        <p:cond delay="indefinite"/>
                      </p:stCondLst>
                      <p:childTnLst>
                        <p:par>
                          <p:cTn id="49" fill="hold">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42"/>
                                        </p:tgtEl>
                                        <p:attrNameLst>
                                          <p:attrName>style.visibility</p:attrName>
                                        </p:attrNameLst>
                                      </p:cBhvr>
                                      <p:to>
                                        <p:strVal val="visible"/>
                                      </p:to>
                                    </p:set>
                                    <p:animEffect transition="in" filter="checkerboard(across)">
                                      <p:cBhvr>
                                        <p:cTn id="52" dur="500"/>
                                        <p:tgtEl>
                                          <p:spTgt spid="42"/>
                                        </p:tgtEl>
                                      </p:cBhvr>
                                    </p:animEffect>
                                  </p:childTnLst>
                                </p:cTn>
                              </p:par>
                              <p:par>
                                <p:cTn id="53" presetID="1" presetClass="emph" presetSubtype="2" fill="hold" nodeType="withEffect">
                                  <p:stCondLst>
                                    <p:cond delay="0"/>
                                  </p:stCondLst>
                                  <p:childTnLst>
                                    <p:animClr clrSpc="rgb" dir="cw">
                                      <p:cBhvr>
                                        <p:cTn id="54" dur="2000" fill="hold"/>
                                        <p:tgtEl>
                                          <p:spTgt spid="501881"/>
                                        </p:tgtEl>
                                        <p:attrNameLst>
                                          <p:attrName>fillcolor</p:attrName>
                                        </p:attrNameLst>
                                      </p:cBhvr>
                                      <p:to>
                                        <a:schemeClr val="bg1"/>
                                      </p:to>
                                    </p:animClr>
                                    <p:set>
                                      <p:cBhvr>
                                        <p:cTn id="55" dur="2000" fill="hold"/>
                                        <p:tgtEl>
                                          <p:spTgt spid="501881"/>
                                        </p:tgtEl>
                                        <p:attrNameLst>
                                          <p:attrName>fill.type</p:attrName>
                                        </p:attrNameLst>
                                      </p:cBhvr>
                                      <p:to>
                                        <p:strVal val="solid"/>
                                      </p:to>
                                    </p:set>
                                    <p:set>
                                      <p:cBhvr>
                                        <p:cTn id="56" dur="2000" fill="hold"/>
                                        <p:tgtEl>
                                          <p:spTgt spid="501881"/>
                                        </p:tgtEl>
                                        <p:attrNameLst>
                                          <p:attrName>fill.on</p:attrName>
                                        </p:attrNameLst>
                                      </p:cBhvr>
                                      <p:to>
                                        <p:strVal val="true"/>
                                      </p:to>
                                    </p:set>
                                  </p:childTnLst>
                                </p:cTn>
                              </p:par>
                              <p:par>
                                <p:cTn id="57" presetID="3" presetClass="emph" presetSubtype="2" fill="hold" grpId="1" nodeType="withEffect">
                                  <p:stCondLst>
                                    <p:cond delay="0"/>
                                  </p:stCondLst>
                                  <p:childTnLst>
                                    <p:animClr clrSpc="rgb" dir="cw">
                                      <p:cBhvr override="childStyle">
                                        <p:cTn id="58" dur="2000" fill="hold"/>
                                        <p:tgtEl>
                                          <p:spTgt spid="501881"/>
                                        </p:tgtEl>
                                        <p:attrNameLst>
                                          <p:attrName>style.color</p:attrName>
                                        </p:attrNameLst>
                                      </p:cBhvr>
                                      <p:to>
                                        <a:schemeClr val="tx1"/>
                                      </p:to>
                                    </p:animClr>
                                  </p:childTnLst>
                                </p:cTn>
                              </p:par>
                              <p:par>
                                <p:cTn id="59" presetID="1" presetClass="emph" presetSubtype="2" fill="hold" nodeType="withEffect">
                                  <p:stCondLst>
                                    <p:cond delay="0"/>
                                  </p:stCondLst>
                                  <p:childTnLst>
                                    <p:animClr clrSpc="rgb" dir="cw">
                                      <p:cBhvr>
                                        <p:cTn id="60" dur="2000" fill="hold"/>
                                        <p:tgtEl>
                                          <p:spTgt spid="501855"/>
                                        </p:tgtEl>
                                        <p:attrNameLst>
                                          <p:attrName>fillcolor</p:attrName>
                                        </p:attrNameLst>
                                      </p:cBhvr>
                                      <p:to>
                                        <a:srgbClr val="6600FF"/>
                                      </p:to>
                                    </p:animClr>
                                    <p:set>
                                      <p:cBhvr>
                                        <p:cTn id="61" dur="2000" fill="hold"/>
                                        <p:tgtEl>
                                          <p:spTgt spid="501855"/>
                                        </p:tgtEl>
                                        <p:attrNameLst>
                                          <p:attrName>fill.type</p:attrName>
                                        </p:attrNameLst>
                                      </p:cBhvr>
                                      <p:to>
                                        <p:strVal val="solid"/>
                                      </p:to>
                                    </p:set>
                                    <p:set>
                                      <p:cBhvr>
                                        <p:cTn id="62" dur="2000" fill="hold"/>
                                        <p:tgtEl>
                                          <p:spTgt spid="501855"/>
                                        </p:tgtEl>
                                        <p:attrNameLst>
                                          <p:attrName>fill.on</p:attrName>
                                        </p:attrNameLst>
                                      </p:cBhvr>
                                      <p:to>
                                        <p:strVal val="true"/>
                                      </p:to>
                                    </p:set>
                                  </p:childTnLst>
                                </p:cTn>
                              </p:par>
                              <p:par>
                                <p:cTn id="63" presetID="3" presetClass="emph" presetSubtype="2" fill="hold" grpId="0" nodeType="withEffect">
                                  <p:stCondLst>
                                    <p:cond delay="0"/>
                                  </p:stCondLst>
                                  <p:childTnLst>
                                    <p:animClr clrSpc="rgb" dir="cw">
                                      <p:cBhvr override="childStyle">
                                        <p:cTn id="64" dur="2000" fill="hold"/>
                                        <p:tgtEl>
                                          <p:spTgt spid="501855"/>
                                        </p:tgtEl>
                                        <p:attrNameLst>
                                          <p:attrName>style.color</p:attrName>
                                        </p:attrNameLst>
                                      </p:cBhvr>
                                      <p:to>
                                        <a:srgbClr val="CCECFF"/>
                                      </p:to>
                                    </p:animClr>
                                  </p:childTnLst>
                                </p:cTn>
                              </p:par>
                            </p:childTnLst>
                          </p:cTn>
                        </p:par>
                      </p:childTnLst>
                    </p:cTn>
                  </p:par>
                  <p:par>
                    <p:cTn id="65" fill="hold">
                      <p:stCondLst>
                        <p:cond delay="indefinite"/>
                      </p:stCondLst>
                      <p:childTnLst>
                        <p:par>
                          <p:cTn id="66" fill="hold">
                            <p:stCondLst>
                              <p:cond delay="0"/>
                            </p:stCondLst>
                            <p:childTnLst>
                              <p:par>
                                <p:cTn id="67" presetID="5" presetClass="entr" presetSubtype="10" fill="hold" grpId="0" nodeType="clickEffect">
                                  <p:stCondLst>
                                    <p:cond delay="0"/>
                                  </p:stCondLst>
                                  <p:childTnLst>
                                    <p:set>
                                      <p:cBhvr>
                                        <p:cTn id="68" dur="1" fill="hold">
                                          <p:stCondLst>
                                            <p:cond delay="0"/>
                                          </p:stCondLst>
                                        </p:cTn>
                                        <p:tgtEl>
                                          <p:spTgt spid="43"/>
                                        </p:tgtEl>
                                        <p:attrNameLst>
                                          <p:attrName>style.visibility</p:attrName>
                                        </p:attrNameLst>
                                      </p:cBhvr>
                                      <p:to>
                                        <p:strVal val="visible"/>
                                      </p:to>
                                    </p:set>
                                    <p:animEffect transition="in" filter="checkerboard(across)">
                                      <p:cBhvr>
                                        <p:cTn id="69" dur="500"/>
                                        <p:tgtEl>
                                          <p:spTgt spid="43"/>
                                        </p:tgtEl>
                                      </p:cBhvr>
                                    </p:animEffect>
                                  </p:childTnLst>
                                </p:cTn>
                              </p:par>
                              <p:par>
                                <p:cTn id="70" presetID="1" presetClass="emph" presetSubtype="2" fill="hold" nodeType="withEffect">
                                  <p:stCondLst>
                                    <p:cond delay="0"/>
                                  </p:stCondLst>
                                  <p:childTnLst>
                                    <p:animClr clrSpc="rgb" dir="cw">
                                      <p:cBhvr>
                                        <p:cTn id="71" dur="2000" fill="hold"/>
                                        <p:tgtEl>
                                          <p:spTgt spid="501855"/>
                                        </p:tgtEl>
                                        <p:attrNameLst>
                                          <p:attrName>fillcolor</p:attrName>
                                        </p:attrNameLst>
                                      </p:cBhvr>
                                      <p:to>
                                        <a:schemeClr val="bg1"/>
                                      </p:to>
                                    </p:animClr>
                                    <p:set>
                                      <p:cBhvr>
                                        <p:cTn id="72" dur="2000" fill="hold"/>
                                        <p:tgtEl>
                                          <p:spTgt spid="501855"/>
                                        </p:tgtEl>
                                        <p:attrNameLst>
                                          <p:attrName>fill.type</p:attrName>
                                        </p:attrNameLst>
                                      </p:cBhvr>
                                      <p:to>
                                        <p:strVal val="solid"/>
                                      </p:to>
                                    </p:set>
                                    <p:set>
                                      <p:cBhvr>
                                        <p:cTn id="73" dur="2000" fill="hold"/>
                                        <p:tgtEl>
                                          <p:spTgt spid="501855"/>
                                        </p:tgtEl>
                                        <p:attrNameLst>
                                          <p:attrName>fill.on</p:attrName>
                                        </p:attrNameLst>
                                      </p:cBhvr>
                                      <p:to>
                                        <p:strVal val="true"/>
                                      </p:to>
                                    </p:set>
                                  </p:childTnLst>
                                </p:cTn>
                              </p:par>
                              <p:par>
                                <p:cTn id="74" presetID="3" presetClass="emph" presetSubtype="2" fill="hold" grpId="1" nodeType="withEffect">
                                  <p:stCondLst>
                                    <p:cond delay="0"/>
                                  </p:stCondLst>
                                  <p:childTnLst>
                                    <p:animClr clrSpc="rgb" dir="cw">
                                      <p:cBhvr override="childStyle">
                                        <p:cTn id="75" dur="2000" fill="hold"/>
                                        <p:tgtEl>
                                          <p:spTgt spid="501855"/>
                                        </p:tgtEl>
                                        <p:attrNameLst>
                                          <p:attrName>style.color</p:attrName>
                                        </p:attrNameLst>
                                      </p:cBhvr>
                                      <p:to>
                                        <a:schemeClr val="tx1"/>
                                      </p:to>
                                    </p:animClr>
                                  </p:childTnLst>
                                </p:cTn>
                              </p:par>
                              <p:par>
                                <p:cTn id="76" presetID="1" presetClass="emph" presetSubtype="2" fill="hold" nodeType="withEffect">
                                  <p:stCondLst>
                                    <p:cond delay="0"/>
                                  </p:stCondLst>
                                  <p:childTnLst>
                                    <p:animClr clrSpc="rgb" dir="cw">
                                      <p:cBhvr>
                                        <p:cTn id="77" dur="2000" fill="hold"/>
                                        <p:tgtEl>
                                          <p:spTgt spid="501854"/>
                                        </p:tgtEl>
                                        <p:attrNameLst>
                                          <p:attrName>fillcolor</p:attrName>
                                        </p:attrNameLst>
                                      </p:cBhvr>
                                      <p:to>
                                        <a:srgbClr val="6600FF"/>
                                      </p:to>
                                    </p:animClr>
                                    <p:set>
                                      <p:cBhvr>
                                        <p:cTn id="78" dur="2000" fill="hold"/>
                                        <p:tgtEl>
                                          <p:spTgt spid="501854"/>
                                        </p:tgtEl>
                                        <p:attrNameLst>
                                          <p:attrName>fill.type</p:attrName>
                                        </p:attrNameLst>
                                      </p:cBhvr>
                                      <p:to>
                                        <p:strVal val="solid"/>
                                      </p:to>
                                    </p:set>
                                    <p:set>
                                      <p:cBhvr>
                                        <p:cTn id="79" dur="2000" fill="hold"/>
                                        <p:tgtEl>
                                          <p:spTgt spid="501854"/>
                                        </p:tgtEl>
                                        <p:attrNameLst>
                                          <p:attrName>fill.on</p:attrName>
                                        </p:attrNameLst>
                                      </p:cBhvr>
                                      <p:to>
                                        <p:strVal val="true"/>
                                      </p:to>
                                    </p:set>
                                  </p:childTnLst>
                                </p:cTn>
                              </p:par>
                              <p:par>
                                <p:cTn id="80" presetID="3" presetClass="emph" presetSubtype="2" fill="hold" grpId="0" nodeType="withEffect">
                                  <p:stCondLst>
                                    <p:cond delay="0"/>
                                  </p:stCondLst>
                                  <p:childTnLst>
                                    <p:animClr clrSpc="rgb" dir="cw">
                                      <p:cBhvr override="childStyle">
                                        <p:cTn id="81" dur="2000" fill="hold"/>
                                        <p:tgtEl>
                                          <p:spTgt spid="501854"/>
                                        </p:tgtEl>
                                        <p:attrNameLst>
                                          <p:attrName>style.color</p:attrName>
                                        </p:attrNameLst>
                                      </p:cBhvr>
                                      <p:to>
                                        <a:srgbClr val="CCECFF"/>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54" grpId="0" animBg="1"/>
      <p:bldP spid="501855" grpId="0" animBg="1"/>
      <p:bldP spid="501855" grpId="1" animBg="1"/>
      <p:bldP spid="501853" grpId="0" animBg="1"/>
      <p:bldP spid="501853" grpId="1" animBg="1"/>
      <p:bldP spid="501881" grpId="0" animBg="1"/>
      <p:bldP spid="501881" grpId="1" animBg="1"/>
      <p:bldP spid="38" grpId="0" animBg="1"/>
      <p:bldP spid="39" grpId="0" animBg="1"/>
      <p:bldP spid="39" grpId="1" animBg="1"/>
      <p:bldP spid="40" grpId="0" animBg="1"/>
      <p:bldP spid="41" grpId="0" animBg="1"/>
      <p:bldP spid="42" grpId="0" animBg="1"/>
      <p:bldP spid="4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2"/>
          <p:cNvSpPr>
            <a:spLocks noGrp="1" noChangeArrowheads="1"/>
          </p:cNvSpPr>
          <p:nvPr>
            <p:ph type="title"/>
            <p:custDataLst>
              <p:tags r:id="rId1"/>
            </p:custDataLst>
          </p:nvPr>
        </p:nvSpPr>
        <p:spPr>
          <a:xfrm>
            <a:off x="838200" y="222931"/>
            <a:ext cx="7391400" cy="684212"/>
          </a:xfrm>
        </p:spPr>
        <p:txBody>
          <a:bodyPr vert="horz" anchor="b">
            <a:normAutofit/>
          </a:bodyPr>
          <a:lstStyle/>
          <a:p>
            <a:r>
              <a:rPr lang="en-GB" sz="2800" dirty="0" err="1">
                <a:solidFill>
                  <a:srgbClr val="C00000"/>
                </a:solidFill>
              </a:rPr>
              <a:t>Normes</a:t>
            </a:r>
            <a:r>
              <a:rPr lang="en-GB" sz="2800" dirty="0">
                <a:solidFill>
                  <a:srgbClr val="C00000"/>
                </a:solidFill>
              </a:rPr>
              <a:t> sans </a:t>
            </a:r>
            <a:r>
              <a:rPr lang="en-GB" sz="2800" dirty="0" err="1">
                <a:solidFill>
                  <a:srgbClr val="C00000"/>
                </a:solidFill>
              </a:rPr>
              <a:t>fil</a:t>
            </a:r>
            <a:endParaRPr lang="en-US" sz="2800" dirty="0">
              <a:solidFill>
                <a:srgbClr val="C00000"/>
              </a:solidFill>
            </a:endParaRPr>
          </a:p>
        </p:txBody>
      </p:sp>
      <p:graphicFrame>
        <p:nvGraphicFramePr>
          <p:cNvPr id="463143" name="Group 295"/>
          <p:cNvGraphicFramePr>
            <a:graphicFrameLocks noGrp="1"/>
          </p:cNvGraphicFramePr>
          <p:nvPr>
            <p:ph sz="half" idx="2"/>
          </p:nvPr>
        </p:nvGraphicFramePr>
        <p:xfrm>
          <a:off x="203200" y="1227138"/>
          <a:ext cx="8766629" cy="5347336"/>
        </p:xfrm>
        <a:graphic>
          <a:graphicData uri="http://schemas.openxmlformats.org/drawingml/2006/table">
            <a:tbl>
              <a:tblPr/>
              <a:tblGrid>
                <a:gridCol w="998927">
                  <a:extLst>
                    <a:ext uri="{9D8B030D-6E8A-4147-A177-3AD203B41FA5}">
                      <a16:colId xmlns:a16="http://schemas.microsoft.com/office/drawing/2014/main" val="20000"/>
                    </a:ext>
                  </a:extLst>
                </a:gridCol>
                <a:gridCol w="7767702">
                  <a:extLst>
                    <a:ext uri="{9D8B030D-6E8A-4147-A177-3AD203B41FA5}">
                      <a16:colId xmlns:a16="http://schemas.microsoft.com/office/drawing/2014/main" val="20001"/>
                    </a:ext>
                  </a:extLst>
                </a:gridCol>
              </a:tblGrid>
              <a:tr h="452438">
                <a:tc>
                  <a:txBody>
                    <a:bodyPr/>
                    <a:lstStyle/>
                    <a:p>
                      <a:pPr marL="0" marR="0" lvl="0" indent="0" algn="ctr"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en-GB" sz="2200" b="1" i="0" u="sng" strike="noStrike" cap="none" normalizeH="0" baseline="0" dirty="0" err="1">
                          <a:ln>
                            <a:noFill/>
                          </a:ln>
                          <a:solidFill>
                            <a:srgbClr val="000000"/>
                          </a:solidFill>
                          <a:effectLst/>
                          <a:latin typeface="Arial Narrow" pitchFamily="34" charset="0"/>
                        </a:rPr>
                        <a:t>Norme</a:t>
                      </a:r>
                      <a:endParaRPr kumimoji="0" lang="en-US" sz="2200" b="1" i="0" u="sng" strike="noStrike" cap="none" normalizeH="0" baseline="0" dirty="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GB" sz="2200" b="1" i="0" u="sng" strike="noStrike" cap="none" normalizeH="0" baseline="0" dirty="0">
                          <a:ln>
                            <a:noFill/>
                          </a:ln>
                          <a:solidFill>
                            <a:srgbClr val="000000"/>
                          </a:solidFill>
                          <a:effectLst/>
                          <a:latin typeface="Arial Narrow" pitchFamily="34" charset="0"/>
                        </a:rPr>
                        <a:t>Description</a:t>
                      </a:r>
                      <a:endParaRPr kumimoji="0" lang="en-US" sz="2200" b="1" i="0" u="sng" strike="noStrike" cap="none" normalizeH="0" baseline="0" dirty="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extLst>
                  <a:ext uri="{0D108BD9-81ED-4DB2-BD59-A6C34878D82A}">
                    <a16:rowId xmlns:a16="http://schemas.microsoft.com/office/drawing/2014/main" val="10000"/>
                  </a:ext>
                </a:extLst>
              </a:tr>
              <a:tr h="234950">
                <a:tc>
                  <a:txBody>
                    <a:bodyPr/>
                    <a:lstStyle/>
                    <a:p>
                      <a:pPr marL="171450" marR="0" lvl="0" indent="-171450" algn="l" defTabSz="914400" rtl="0" eaLnBrk="0" fontAlgn="base" latinLnBrk="0" hangingPunct="0">
                        <a:lnSpc>
                          <a:spcPct val="90000"/>
                        </a:lnSpc>
                        <a:spcBef>
                          <a:spcPct val="35000"/>
                        </a:spcBef>
                        <a:spcAft>
                          <a:spcPct val="0"/>
                        </a:spcAft>
                        <a:buClrTx/>
                        <a:buSzPct val="70000"/>
                        <a:buFontTx/>
                        <a:buNone/>
                        <a:tabLst/>
                      </a:pPr>
                      <a:r>
                        <a:rPr kumimoji="0" lang="en-US" sz="2000" b="1" i="0" u="none" strike="noStrike" cap="none" normalizeH="0" baseline="0" dirty="0">
                          <a:ln>
                            <a:noFill/>
                          </a:ln>
                          <a:solidFill>
                            <a:schemeClr val="tx1"/>
                          </a:solidFill>
                          <a:effectLst/>
                          <a:latin typeface="Arial Narrow" pitchFamily="34" charset="0"/>
                          <a:cs typeface="Times New Roman" pitchFamily="18" charset="0"/>
                        </a:rPr>
                        <a:t>802.11</a:t>
                      </a: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225425" marR="0" lvl="0" indent="-225425" algn="l" defTabSz="914400" rtl="0" eaLnBrk="0" fontAlgn="base" latinLnBrk="0" hangingPunct="0">
                        <a:lnSpc>
                          <a:spcPct val="85000"/>
                        </a:lnSpc>
                        <a:spcBef>
                          <a:spcPct val="10000"/>
                        </a:spcBef>
                        <a:spcAft>
                          <a:spcPct val="0"/>
                        </a:spcAft>
                        <a:buClrTx/>
                        <a:buSzPct val="70000"/>
                        <a:buFontTx/>
                        <a:buBlip>
                          <a:blip r:embed="rId4"/>
                        </a:buBlip>
                        <a:tabLst/>
                      </a:pPr>
                      <a:r>
                        <a:rPr kumimoji="0" lang="en-GB" sz="2000" b="0" i="0" u="none" strike="noStrike" cap="none" normalizeH="0" baseline="0" dirty="0" err="1">
                          <a:ln>
                            <a:noFill/>
                          </a:ln>
                          <a:solidFill>
                            <a:srgbClr val="000000"/>
                          </a:solidFill>
                          <a:effectLst/>
                          <a:latin typeface="Arial Narrow" pitchFamily="34" charset="0"/>
                        </a:rPr>
                        <a:t>Groupe</a:t>
                      </a:r>
                      <a:r>
                        <a:rPr kumimoji="0" lang="en-GB" sz="2000" b="0" i="0" u="none" strike="noStrike" cap="none" normalizeH="0" baseline="0" dirty="0">
                          <a:ln>
                            <a:noFill/>
                          </a:ln>
                          <a:solidFill>
                            <a:srgbClr val="000000"/>
                          </a:solidFill>
                          <a:effectLst/>
                          <a:latin typeface="Arial Narrow" pitchFamily="34" charset="0"/>
                        </a:rPr>
                        <a:t> de </a:t>
                      </a:r>
                      <a:r>
                        <a:rPr kumimoji="0" lang="en-GB" sz="2000" b="0" i="0" u="none" strike="noStrike" cap="none" normalizeH="0" baseline="0" dirty="0" err="1">
                          <a:ln>
                            <a:noFill/>
                          </a:ln>
                          <a:solidFill>
                            <a:srgbClr val="000000"/>
                          </a:solidFill>
                          <a:effectLst/>
                          <a:latin typeface="Arial Narrow" pitchFamily="34" charset="0"/>
                        </a:rPr>
                        <a:t>spécifications</a:t>
                      </a:r>
                      <a:r>
                        <a:rPr kumimoji="0" lang="en-GB" sz="2000" b="0" i="0" u="none" strike="noStrike" cap="none" normalizeH="0" baseline="0" dirty="0">
                          <a:ln>
                            <a:noFill/>
                          </a:ln>
                          <a:solidFill>
                            <a:srgbClr val="000000"/>
                          </a:solidFill>
                          <a:effectLst/>
                          <a:latin typeface="Arial Narrow" pitchFamily="34" charset="0"/>
                        </a:rPr>
                        <a:t> pour les </a:t>
                      </a:r>
                      <a:r>
                        <a:rPr kumimoji="0" lang="en-GB" sz="2000" b="0" i="0" u="none" strike="noStrike" cap="none" normalizeH="0" baseline="0" dirty="0" err="1">
                          <a:ln>
                            <a:noFill/>
                          </a:ln>
                          <a:solidFill>
                            <a:srgbClr val="000000"/>
                          </a:solidFill>
                          <a:effectLst/>
                          <a:latin typeface="Arial Narrow" pitchFamily="34" charset="0"/>
                        </a:rPr>
                        <a:t>réseaux</a:t>
                      </a:r>
                      <a:r>
                        <a:rPr kumimoji="0" lang="en-GB" sz="2000" b="0" i="0" u="none" strike="noStrike" cap="none" normalizeH="0" baseline="0" dirty="0">
                          <a:ln>
                            <a:noFill/>
                          </a:ln>
                          <a:solidFill>
                            <a:srgbClr val="000000"/>
                          </a:solidFill>
                          <a:effectLst/>
                          <a:latin typeface="Arial Narrow" pitchFamily="34" charset="0"/>
                        </a:rPr>
                        <a:t> WLAN </a:t>
                      </a:r>
                      <a:r>
                        <a:rPr kumimoji="0" lang="en-GB" sz="2000" b="0" i="0" u="none" strike="noStrike" cap="none" normalizeH="0" baseline="0" dirty="0" err="1">
                          <a:ln>
                            <a:noFill/>
                          </a:ln>
                          <a:solidFill>
                            <a:srgbClr val="000000"/>
                          </a:solidFill>
                          <a:effectLst/>
                          <a:latin typeface="Arial Narrow" pitchFamily="34" charset="0"/>
                        </a:rPr>
                        <a:t>élaborées</a:t>
                      </a:r>
                      <a:r>
                        <a:rPr kumimoji="0" lang="en-GB" sz="2000" b="0" i="0" u="none" strike="noStrike" cap="none" normalizeH="0" baseline="0" dirty="0">
                          <a:ln>
                            <a:noFill/>
                          </a:ln>
                          <a:solidFill>
                            <a:srgbClr val="000000"/>
                          </a:solidFill>
                          <a:effectLst/>
                          <a:latin typeface="Arial Narrow" pitchFamily="34" charset="0"/>
                        </a:rPr>
                        <a:t> par </a:t>
                      </a:r>
                      <a:r>
                        <a:rPr kumimoji="0" lang="en-GB" sz="2000" b="0" i="0" u="none" strike="noStrike" cap="none" normalizeH="0" baseline="0" dirty="0" err="1">
                          <a:ln>
                            <a:noFill/>
                          </a:ln>
                          <a:solidFill>
                            <a:srgbClr val="000000"/>
                          </a:solidFill>
                          <a:effectLst/>
                          <a:latin typeface="Arial Narrow" pitchFamily="34" charset="0"/>
                        </a:rPr>
                        <a:t>l'IEEE</a:t>
                      </a:r>
                      <a:endParaRPr kumimoji="0" lang="en-US" sz="2000" b="0" i="0" u="none" strike="noStrike" cap="none" normalizeH="0" baseline="0" dirty="0">
                        <a:ln>
                          <a:noFill/>
                        </a:ln>
                        <a:solidFill>
                          <a:schemeClr val="tx1"/>
                        </a:solidFill>
                        <a:effectLst/>
                        <a:latin typeface="Arial Narrow" pitchFamily="34" charset="0"/>
                      </a:endParaRPr>
                    </a:p>
                    <a:p>
                      <a:pPr marL="225425" marR="0" lvl="0" indent="-225425" algn="l" defTabSz="914400" rtl="0" eaLnBrk="0" fontAlgn="base" latinLnBrk="0" hangingPunct="0">
                        <a:lnSpc>
                          <a:spcPct val="85000"/>
                        </a:lnSpc>
                        <a:spcBef>
                          <a:spcPct val="10000"/>
                        </a:spcBef>
                        <a:spcAft>
                          <a:spcPct val="0"/>
                        </a:spcAft>
                        <a:buClrTx/>
                        <a:buSzPct val="70000"/>
                        <a:buFontTx/>
                        <a:buBlip>
                          <a:blip r:embed="rId4"/>
                        </a:buBlip>
                        <a:tabLst/>
                      </a:pPr>
                      <a:r>
                        <a:rPr kumimoji="0" lang="en-GB" sz="2000" b="0" i="0" u="none" strike="noStrike" cap="none" normalizeH="0" baseline="0" dirty="0" err="1">
                          <a:ln>
                            <a:noFill/>
                          </a:ln>
                          <a:solidFill>
                            <a:srgbClr val="000000"/>
                          </a:solidFill>
                          <a:effectLst/>
                          <a:latin typeface="Arial Narrow" pitchFamily="34" charset="0"/>
                        </a:rPr>
                        <a:t>Définit</a:t>
                      </a:r>
                      <a:r>
                        <a:rPr kumimoji="0" lang="en-GB" sz="2000" b="0" i="0" u="none" strike="noStrike" cap="none" normalizeH="0" baseline="0" dirty="0">
                          <a:ln>
                            <a:noFill/>
                          </a:ln>
                          <a:solidFill>
                            <a:srgbClr val="000000"/>
                          </a:solidFill>
                          <a:effectLst/>
                          <a:latin typeface="Arial Narrow" pitchFamily="34" charset="0"/>
                        </a:rPr>
                        <a:t> la </a:t>
                      </a:r>
                      <a:r>
                        <a:rPr kumimoji="0" lang="en-GB" sz="2000" b="0" i="0" u="none" strike="noStrike" cap="none" normalizeH="0" baseline="0" dirty="0" err="1">
                          <a:ln>
                            <a:noFill/>
                          </a:ln>
                          <a:solidFill>
                            <a:srgbClr val="000000"/>
                          </a:solidFill>
                          <a:effectLst/>
                          <a:latin typeface="Arial Narrow" pitchFamily="34" charset="0"/>
                        </a:rPr>
                        <a:t>partie</a:t>
                      </a:r>
                      <a:r>
                        <a:rPr kumimoji="0" lang="en-GB" sz="2000" b="0" i="0" u="none" strike="noStrike" cap="none" normalizeH="0" baseline="0" dirty="0">
                          <a:ln>
                            <a:noFill/>
                          </a:ln>
                          <a:solidFill>
                            <a:srgbClr val="000000"/>
                          </a:solidFill>
                          <a:effectLst/>
                          <a:latin typeface="Arial Narrow" pitchFamily="34" charset="0"/>
                        </a:rPr>
                        <a:t> physique et MAC de la </a:t>
                      </a:r>
                      <a:r>
                        <a:rPr kumimoji="0" lang="en-GB" sz="2000" b="0" i="0" u="none" strike="noStrike" cap="none" normalizeH="0" baseline="0" dirty="0" err="1">
                          <a:ln>
                            <a:noFill/>
                          </a:ln>
                          <a:solidFill>
                            <a:srgbClr val="000000"/>
                          </a:solidFill>
                          <a:effectLst/>
                          <a:latin typeface="Arial Narrow" pitchFamily="34" charset="0"/>
                        </a:rPr>
                        <a:t>couche</a:t>
                      </a:r>
                      <a:r>
                        <a:rPr kumimoji="0" lang="en-GB" sz="2000" b="0" i="0" u="none" strike="noStrike" cap="none" normalizeH="0" baseline="0" dirty="0">
                          <a:ln>
                            <a:noFill/>
                          </a:ln>
                          <a:solidFill>
                            <a:srgbClr val="000000"/>
                          </a:solidFill>
                          <a:effectLst/>
                          <a:latin typeface="Arial Narrow" pitchFamily="34" charset="0"/>
                        </a:rPr>
                        <a:t> de liaison de </a:t>
                      </a:r>
                      <a:r>
                        <a:rPr kumimoji="0" lang="en-GB" sz="2000" b="0" i="0" u="none" strike="noStrike" cap="none" normalizeH="0" baseline="0" dirty="0" err="1">
                          <a:ln>
                            <a:noFill/>
                          </a:ln>
                          <a:solidFill>
                            <a:srgbClr val="000000"/>
                          </a:solidFill>
                          <a:effectLst/>
                          <a:latin typeface="Arial Narrow" pitchFamily="34" charset="0"/>
                        </a:rPr>
                        <a:t>données</a:t>
                      </a:r>
                      <a:r>
                        <a:rPr kumimoji="0" lang="en-GB" sz="2000" b="0" i="0" u="none" strike="noStrike" cap="none" normalizeH="0" baseline="0" dirty="0">
                          <a:ln>
                            <a:noFill/>
                          </a:ln>
                          <a:solidFill>
                            <a:srgbClr val="000000"/>
                          </a:solidFill>
                          <a:effectLst/>
                          <a:latin typeface="Arial Narrow" pitchFamily="34" charset="0"/>
                        </a:rPr>
                        <a:t> du </a:t>
                      </a:r>
                      <a:br>
                        <a:rPr kumimoji="0" lang="en-GB" sz="2000" b="0" i="0" u="none" strike="noStrike" cap="none" normalizeH="0" baseline="0" dirty="0">
                          <a:ln>
                            <a:noFill/>
                          </a:ln>
                          <a:solidFill>
                            <a:srgbClr val="000000"/>
                          </a:solidFill>
                          <a:effectLst/>
                          <a:latin typeface="Arial Narrow" pitchFamily="34" charset="0"/>
                        </a:rPr>
                      </a:br>
                      <a:r>
                        <a:rPr kumimoji="0" lang="en-GB" sz="2000" b="0" i="0" u="none" strike="noStrike" cap="none" normalizeH="0" baseline="0" dirty="0" err="1">
                          <a:ln>
                            <a:noFill/>
                          </a:ln>
                          <a:solidFill>
                            <a:srgbClr val="000000"/>
                          </a:solidFill>
                          <a:effectLst/>
                          <a:latin typeface="Arial Narrow" pitchFamily="34" charset="0"/>
                        </a:rPr>
                        <a:t>modèle</a:t>
                      </a:r>
                      <a:r>
                        <a:rPr kumimoji="0" lang="en-GB" sz="2000" b="0" i="0" u="none" strike="noStrike" cap="none" normalizeH="0" baseline="0" dirty="0">
                          <a:ln>
                            <a:noFill/>
                          </a:ln>
                          <a:solidFill>
                            <a:srgbClr val="000000"/>
                          </a:solidFill>
                          <a:effectLst/>
                          <a:latin typeface="Arial Narrow" pitchFamily="34" charset="0"/>
                        </a:rPr>
                        <a:t> OSI</a:t>
                      </a:r>
                      <a:endParaRPr kumimoji="0" lang="en-US" sz="2000" b="0" i="0" u="none" strike="noStrike" cap="none" normalizeH="0" baseline="0" dirty="0">
                        <a:ln>
                          <a:noFill/>
                        </a:ln>
                        <a:solidFill>
                          <a:srgbClr val="000000"/>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947738">
                <a:tc>
                  <a:txBody>
                    <a:bodyPr/>
                    <a:lstStyle/>
                    <a:p>
                      <a:pPr marL="169863" marR="0" lvl="0" indent="-169863" algn="l" defTabSz="914400" rtl="0" eaLnBrk="0" fontAlgn="base" latinLnBrk="0" hangingPunct="0">
                        <a:lnSpc>
                          <a:spcPct val="90000"/>
                        </a:lnSpc>
                        <a:spcBef>
                          <a:spcPct val="35000"/>
                        </a:spcBef>
                        <a:spcAft>
                          <a:spcPct val="0"/>
                        </a:spcAft>
                        <a:buClrTx/>
                        <a:buSzPct val="70000"/>
                        <a:buFontTx/>
                        <a:buNone/>
                        <a:tabLst/>
                      </a:pPr>
                      <a:r>
                        <a:rPr kumimoji="0" lang="en-GB" sz="2000" b="1" i="0" u="none" strike="noStrike" cap="none" normalizeH="0" baseline="0">
                          <a:ln>
                            <a:noFill/>
                          </a:ln>
                          <a:solidFill>
                            <a:srgbClr val="000000"/>
                          </a:solidFill>
                          <a:effectLst/>
                          <a:latin typeface="Arial Narrow" pitchFamily="34" charset="0"/>
                        </a:rPr>
                        <a:t>802.11b</a:t>
                      </a:r>
                      <a:endParaRPr kumimoji="0" lang="en-US" sz="2000" b="1" i="0" u="none" strike="noStrike" cap="none" normalizeH="0" baseline="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225425" marR="0" lvl="0" indent="-225425" algn="l" defTabSz="914400" rtl="0" eaLnBrk="0" fontAlgn="base" latinLnBrk="0" hangingPunct="0">
                        <a:lnSpc>
                          <a:spcPct val="85000"/>
                        </a:lnSpc>
                        <a:spcBef>
                          <a:spcPct val="10000"/>
                        </a:spcBef>
                        <a:spcAft>
                          <a:spcPct val="0"/>
                        </a:spcAft>
                        <a:buClrTx/>
                        <a:buSzPct val="70000"/>
                        <a:buFontTx/>
                        <a:buBlip>
                          <a:blip r:embed="rId4"/>
                        </a:buBlip>
                        <a:tabLst/>
                      </a:pPr>
                      <a:r>
                        <a:rPr kumimoji="0" lang="en-GB" sz="2000" b="0" i="0" u="none" strike="noStrike" cap="none" normalizeH="0" baseline="0" dirty="0">
                          <a:ln>
                            <a:noFill/>
                          </a:ln>
                          <a:solidFill>
                            <a:srgbClr val="000000"/>
                          </a:solidFill>
                          <a:effectLst/>
                          <a:latin typeface="Arial Narrow" pitchFamily="34" charset="0"/>
                        </a:rPr>
                        <a:t>11 </a:t>
                      </a:r>
                      <a:r>
                        <a:rPr kumimoji="0" lang="en-GB" sz="2000" b="0" i="0" u="none" strike="noStrike" cap="none" normalizeH="0" baseline="0" dirty="0" err="1">
                          <a:ln>
                            <a:noFill/>
                          </a:ln>
                          <a:solidFill>
                            <a:srgbClr val="000000"/>
                          </a:solidFill>
                          <a:effectLst/>
                          <a:latin typeface="Arial Narrow" pitchFamily="34" charset="0"/>
                        </a:rPr>
                        <a:t>Mbit</a:t>
                      </a:r>
                      <a:r>
                        <a:rPr kumimoji="0" lang="en-GB" sz="2000" b="0" i="0" u="none" strike="noStrike" cap="none" normalizeH="0" baseline="0" dirty="0">
                          <a:ln>
                            <a:noFill/>
                          </a:ln>
                          <a:solidFill>
                            <a:srgbClr val="000000"/>
                          </a:solidFill>
                          <a:effectLst/>
                          <a:latin typeface="Arial Narrow" pitchFamily="34" charset="0"/>
                        </a:rPr>
                        <a:t>/s</a:t>
                      </a:r>
                      <a:endParaRPr kumimoji="0" lang="en-US" sz="2000" b="0" i="0" u="none" strike="noStrike" cap="none" normalizeH="0" baseline="0" dirty="0">
                        <a:ln>
                          <a:noFill/>
                        </a:ln>
                        <a:solidFill>
                          <a:schemeClr val="tx1"/>
                        </a:solidFill>
                        <a:effectLst/>
                        <a:latin typeface="Arial Narrow" pitchFamily="34" charset="0"/>
                      </a:endParaRPr>
                    </a:p>
                    <a:p>
                      <a:pPr marL="225425" marR="0" lvl="0" indent="-225425" algn="l" defTabSz="914400" rtl="0" eaLnBrk="0" fontAlgn="base" latinLnBrk="0" hangingPunct="0">
                        <a:lnSpc>
                          <a:spcPct val="85000"/>
                        </a:lnSpc>
                        <a:spcBef>
                          <a:spcPct val="10000"/>
                        </a:spcBef>
                        <a:spcAft>
                          <a:spcPct val="0"/>
                        </a:spcAft>
                        <a:buClrTx/>
                        <a:buSzPct val="70000"/>
                        <a:buFontTx/>
                        <a:buBlip>
                          <a:blip r:embed="rId4"/>
                        </a:buBlip>
                        <a:tabLst/>
                      </a:pPr>
                      <a:r>
                        <a:rPr kumimoji="0" lang="en-GB" sz="2000" b="0" i="0" u="none" strike="noStrike" cap="none" normalizeH="0" baseline="0" dirty="0">
                          <a:ln>
                            <a:noFill/>
                          </a:ln>
                          <a:solidFill>
                            <a:srgbClr val="000000"/>
                          </a:solidFill>
                          <a:effectLst/>
                          <a:latin typeface="Arial Narrow" pitchFamily="34" charset="0"/>
                        </a:rPr>
                        <a:t>Bonne </a:t>
                      </a:r>
                      <a:r>
                        <a:rPr kumimoji="0" lang="en-GB" sz="2000" b="0" i="0" u="none" strike="noStrike" cap="none" normalizeH="0" baseline="0" dirty="0" err="1">
                          <a:ln>
                            <a:noFill/>
                          </a:ln>
                          <a:solidFill>
                            <a:srgbClr val="000000"/>
                          </a:solidFill>
                          <a:effectLst/>
                          <a:latin typeface="Arial Narrow" pitchFamily="34" charset="0"/>
                        </a:rPr>
                        <a:t>couverture</a:t>
                      </a:r>
                      <a:r>
                        <a:rPr kumimoji="0" lang="en-GB" sz="2000" b="0" i="0" u="none" strike="noStrike" cap="none" normalizeH="0" baseline="0" dirty="0">
                          <a:ln>
                            <a:noFill/>
                          </a:ln>
                          <a:solidFill>
                            <a:srgbClr val="000000"/>
                          </a:solidFill>
                          <a:effectLst/>
                          <a:latin typeface="Arial Narrow" pitchFamily="34" charset="0"/>
                        </a:rPr>
                        <a:t>, </a:t>
                      </a:r>
                      <a:r>
                        <a:rPr kumimoji="0" lang="en-GB" sz="2000" b="0" i="0" u="none" strike="noStrike" cap="none" normalizeH="0" baseline="0" dirty="0" err="1">
                          <a:ln>
                            <a:noFill/>
                          </a:ln>
                          <a:solidFill>
                            <a:srgbClr val="000000"/>
                          </a:solidFill>
                          <a:effectLst/>
                          <a:latin typeface="Arial Narrow" pitchFamily="34" charset="0"/>
                        </a:rPr>
                        <a:t>mais</a:t>
                      </a:r>
                      <a:r>
                        <a:rPr kumimoji="0" lang="en-GB" sz="2000" b="0" i="0" u="none" strike="noStrike" cap="none" normalizeH="0" baseline="0" dirty="0">
                          <a:ln>
                            <a:noFill/>
                          </a:ln>
                          <a:solidFill>
                            <a:srgbClr val="000000"/>
                          </a:solidFill>
                          <a:effectLst/>
                          <a:latin typeface="Arial Narrow" pitchFamily="34" charset="0"/>
                        </a:rPr>
                        <a:t> </a:t>
                      </a:r>
                      <a:r>
                        <a:rPr kumimoji="0" lang="en-GB" sz="2000" b="0" i="0" u="none" strike="noStrike" cap="none" normalizeH="0" baseline="0" dirty="0" err="1">
                          <a:ln>
                            <a:noFill/>
                          </a:ln>
                          <a:solidFill>
                            <a:srgbClr val="000000"/>
                          </a:solidFill>
                          <a:effectLst/>
                          <a:latin typeface="Arial Narrow" pitchFamily="34" charset="0"/>
                        </a:rPr>
                        <a:t>sensibilité</a:t>
                      </a:r>
                      <a:r>
                        <a:rPr kumimoji="0" lang="en-GB" sz="2000" b="0" i="0" u="none" strike="noStrike" cap="none" normalizeH="0" baseline="0" dirty="0">
                          <a:ln>
                            <a:noFill/>
                          </a:ln>
                          <a:solidFill>
                            <a:srgbClr val="000000"/>
                          </a:solidFill>
                          <a:effectLst/>
                          <a:latin typeface="Arial Narrow" pitchFamily="34" charset="0"/>
                        </a:rPr>
                        <a:t> aux </a:t>
                      </a:r>
                      <a:r>
                        <a:rPr kumimoji="0" lang="en-GB" sz="2000" b="0" i="0" u="none" strike="noStrike" cap="none" normalizeH="0" baseline="0" dirty="0" err="1">
                          <a:ln>
                            <a:noFill/>
                          </a:ln>
                          <a:solidFill>
                            <a:srgbClr val="000000"/>
                          </a:solidFill>
                          <a:effectLst/>
                          <a:latin typeface="Arial Narrow" pitchFamily="34" charset="0"/>
                        </a:rPr>
                        <a:t>interférences</a:t>
                      </a:r>
                      <a:r>
                        <a:rPr kumimoji="0" lang="en-GB" sz="2000" b="0" i="0" u="none" strike="noStrike" cap="none" normalizeH="0" baseline="0" dirty="0">
                          <a:ln>
                            <a:noFill/>
                          </a:ln>
                          <a:solidFill>
                            <a:srgbClr val="000000"/>
                          </a:solidFill>
                          <a:effectLst/>
                          <a:latin typeface="Arial Narrow" pitchFamily="34" charset="0"/>
                        </a:rPr>
                        <a:t> radio</a:t>
                      </a:r>
                      <a:endParaRPr kumimoji="0" lang="en-US" sz="2000" b="0" i="0" u="none" strike="noStrike" cap="none" normalizeH="0" baseline="0" dirty="0">
                        <a:ln>
                          <a:noFill/>
                        </a:ln>
                        <a:solidFill>
                          <a:schemeClr val="tx1"/>
                        </a:solidFill>
                        <a:effectLst/>
                        <a:latin typeface="Arial Narrow" pitchFamily="34" charset="0"/>
                      </a:endParaRPr>
                    </a:p>
                    <a:p>
                      <a:pPr marL="225425" marR="0" lvl="0" indent="-225425" algn="l" defTabSz="914400" rtl="0" eaLnBrk="0" fontAlgn="base" latinLnBrk="0" hangingPunct="0">
                        <a:lnSpc>
                          <a:spcPct val="85000"/>
                        </a:lnSpc>
                        <a:spcBef>
                          <a:spcPct val="10000"/>
                        </a:spcBef>
                        <a:spcAft>
                          <a:spcPct val="0"/>
                        </a:spcAft>
                        <a:buClrTx/>
                        <a:buSzPct val="70000"/>
                        <a:buFontTx/>
                        <a:buBlip>
                          <a:blip r:embed="rId4"/>
                        </a:buBlip>
                        <a:tabLst/>
                      </a:pPr>
                      <a:r>
                        <a:rPr kumimoji="0" lang="en-GB" sz="2000" b="0" i="0" u="none" strike="noStrike" cap="none" normalizeH="0" baseline="0" dirty="0" err="1">
                          <a:ln>
                            <a:noFill/>
                          </a:ln>
                          <a:solidFill>
                            <a:srgbClr val="000000"/>
                          </a:solidFill>
                          <a:effectLst/>
                          <a:latin typeface="Arial Narrow" pitchFamily="34" charset="0"/>
                        </a:rPr>
                        <a:t>Norme</a:t>
                      </a:r>
                      <a:r>
                        <a:rPr kumimoji="0" lang="en-GB" sz="2000" b="0" i="0" u="none" strike="noStrike" cap="none" normalizeH="0" baseline="0" dirty="0">
                          <a:ln>
                            <a:noFill/>
                          </a:ln>
                          <a:solidFill>
                            <a:srgbClr val="000000"/>
                          </a:solidFill>
                          <a:effectLst/>
                          <a:latin typeface="Arial Narrow" pitchFamily="34" charset="0"/>
                        </a:rPr>
                        <a:t> </a:t>
                      </a:r>
                      <a:r>
                        <a:rPr kumimoji="0" lang="en-GB" sz="2000" b="0" i="0" u="none" strike="noStrike" cap="none" normalizeH="0" baseline="0" dirty="0" err="1">
                          <a:ln>
                            <a:noFill/>
                          </a:ln>
                          <a:solidFill>
                            <a:srgbClr val="000000"/>
                          </a:solidFill>
                          <a:effectLst/>
                          <a:latin typeface="Arial Narrow" pitchFamily="34" charset="0"/>
                        </a:rPr>
                        <a:t>répandue</a:t>
                      </a:r>
                      <a:r>
                        <a:rPr kumimoji="0" lang="en-GB" sz="2000" b="0" i="0" u="none" strike="noStrike" cap="none" normalizeH="0" baseline="0" dirty="0">
                          <a:ln>
                            <a:noFill/>
                          </a:ln>
                          <a:solidFill>
                            <a:srgbClr val="000000"/>
                          </a:solidFill>
                          <a:effectLst/>
                          <a:latin typeface="Arial Narrow" pitchFamily="34" charset="0"/>
                        </a:rPr>
                        <a:t> </a:t>
                      </a:r>
                      <a:r>
                        <a:rPr kumimoji="0" lang="en-GB" sz="2000" b="0" i="0" u="none" strike="noStrike" cap="none" normalizeH="0" baseline="0" dirty="0" err="1">
                          <a:ln>
                            <a:noFill/>
                          </a:ln>
                          <a:solidFill>
                            <a:srgbClr val="000000"/>
                          </a:solidFill>
                          <a:effectLst/>
                          <a:latin typeface="Arial Narrow" pitchFamily="34" charset="0"/>
                        </a:rPr>
                        <a:t>auprès</a:t>
                      </a:r>
                      <a:r>
                        <a:rPr kumimoji="0" lang="en-GB" sz="2000" b="0" i="0" u="none" strike="noStrike" cap="none" normalizeH="0" baseline="0" dirty="0">
                          <a:ln>
                            <a:noFill/>
                          </a:ln>
                          <a:solidFill>
                            <a:srgbClr val="000000"/>
                          </a:solidFill>
                          <a:effectLst/>
                          <a:latin typeface="Arial Narrow" pitchFamily="34" charset="0"/>
                        </a:rPr>
                        <a:t> des </a:t>
                      </a:r>
                      <a:r>
                        <a:rPr kumimoji="0" lang="en-GB" sz="2000" b="0" i="0" u="none" strike="noStrike" cap="none" normalizeH="0" baseline="0" dirty="0" err="1">
                          <a:ln>
                            <a:noFill/>
                          </a:ln>
                          <a:solidFill>
                            <a:srgbClr val="000000"/>
                          </a:solidFill>
                          <a:effectLst/>
                          <a:latin typeface="Arial Narrow" pitchFamily="34" charset="0"/>
                        </a:rPr>
                        <a:t>utilisateurs</a:t>
                      </a:r>
                      <a:r>
                        <a:rPr kumimoji="0" lang="en-GB" sz="2000" b="0" i="0" u="none" strike="noStrike" cap="none" normalizeH="0" baseline="0" dirty="0">
                          <a:ln>
                            <a:noFill/>
                          </a:ln>
                          <a:solidFill>
                            <a:srgbClr val="000000"/>
                          </a:solidFill>
                          <a:effectLst/>
                          <a:latin typeface="Arial Narrow" pitchFamily="34" charset="0"/>
                        </a:rPr>
                        <a:t> </a:t>
                      </a:r>
                      <a:r>
                        <a:rPr kumimoji="0" lang="en-GB" sz="2000" b="0" i="0" u="none" strike="noStrike" cap="none" normalizeH="0" baseline="0" dirty="0" err="1">
                          <a:ln>
                            <a:noFill/>
                          </a:ln>
                          <a:solidFill>
                            <a:srgbClr val="000000"/>
                          </a:solidFill>
                          <a:effectLst/>
                          <a:latin typeface="Arial Narrow" pitchFamily="34" charset="0"/>
                        </a:rPr>
                        <a:t>domestiques</a:t>
                      </a:r>
                      <a:r>
                        <a:rPr kumimoji="0" lang="en-GB" sz="2000" b="0" i="0" u="none" strike="noStrike" cap="none" normalizeH="0" baseline="0" dirty="0">
                          <a:ln>
                            <a:noFill/>
                          </a:ln>
                          <a:solidFill>
                            <a:srgbClr val="000000"/>
                          </a:solidFill>
                          <a:effectLst/>
                          <a:latin typeface="Arial Narrow" pitchFamily="34" charset="0"/>
                        </a:rPr>
                        <a:t> et des petites </a:t>
                      </a:r>
                      <a:r>
                        <a:rPr kumimoji="0" lang="en-GB" sz="2000" b="0" i="0" u="none" strike="noStrike" cap="none" normalizeH="0" baseline="0" dirty="0" err="1">
                          <a:ln>
                            <a:noFill/>
                          </a:ln>
                          <a:solidFill>
                            <a:srgbClr val="000000"/>
                          </a:solidFill>
                          <a:effectLst/>
                          <a:latin typeface="Arial Narrow" pitchFamily="34" charset="0"/>
                        </a:rPr>
                        <a:t>entreprises</a:t>
                      </a:r>
                      <a:endParaRPr kumimoji="0" lang="en-US" sz="2000" b="0" i="0" u="none" strike="noStrike" cap="none" normalizeH="0" baseline="0" dirty="0">
                        <a:ln>
                          <a:noFill/>
                        </a:ln>
                        <a:solidFill>
                          <a:srgbClr val="000000"/>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50838">
                <a:tc>
                  <a:txBody>
                    <a:bodyPr/>
                    <a:lstStyle/>
                    <a:p>
                      <a:pPr marL="169863" marR="0" lvl="0" indent="-169863" algn="l" defTabSz="914400" rtl="0" eaLnBrk="0" fontAlgn="base" latinLnBrk="0" hangingPunct="0">
                        <a:lnSpc>
                          <a:spcPct val="90000"/>
                        </a:lnSpc>
                        <a:spcBef>
                          <a:spcPct val="35000"/>
                        </a:spcBef>
                        <a:spcAft>
                          <a:spcPct val="0"/>
                        </a:spcAft>
                        <a:buClrTx/>
                        <a:buSzPct val="70000"/>
                        <a:buFontTx/>
                        <a:buNone/>
                        <a:tabLst/>
                      </a:pPr>
                      <a:r>
                        <a:rPr kumimoji="0" lang="en-GB" sz="2000" b="1" i="0" u="none" strike="noStrike" cap="none" normalizeH="0" baseline="0" dirty="0">
                          <a:ln>
                            <a:noFill/>
                          </a:ln>
                          <a:solidFill>
                            <a:srgbClr val="000000"/>
                          </a:solidFill>
                          <a:effectLst/>
                          <a:latin typeface="Arial Narrow" pitchFamily="34" charset="0"/>
                        </a:rPr>
                        <a:t>802.11a</a:t>
                      </a:r>
                      <a:endParaRPr kumimoji="0" lang="en-US" sz="2000" b="1" i="0" u="none" strike="noStrike" cap="none" normalizeH="0" baseline="0" dirty="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225425" marR="0" lvl="0" indent="-225425" algn="l" defTabSz="914400" rtl="0" eaLnBrk="0" fontAlgn="base" latinLnBrk="0" hangingPunct="0">
                        <a:lnSpc>
                          <a:spcPct val="85000"/>
                        </a:lnSpc>
                        <a:spcBef>
                          <a:spcPct val="10000"/>
                        </a:spcBef>
                        <a:spcAft>
                          <a:spcPct val="0"/>
                        </a:spcAft>
                        <a:buClrTx/>
                        <a:buSzPct val="70000"/>
                        <a:buFontTx/>
                        <a:buBlip>
                          <a:blip r:embed="rId4"/>
                        </a:buBlip>
                        <a:tabLst/>
                      </a:pPr>
                      <a:r>
                        <a:rPr kumimoji="0" lang="en-GB" sz="2000" b="0" i="0" u="none" strike="noStrike" cap="none" normalizeH="0" baseline="0" dirty="0" err="1">
                          <a:ln>
                            <a:noFill/>
                          </a:ln>
                          <a:solidFill>
                            <a:srgbClr val="000000"/>
                          </a:solidFill>
                          <a:effectLst/>
                          <a:latin typeface="Arial Narrow" pitchFamily="34" charset="0"/>
                        </a:rPr>
                        <a:t>Vitesses</a:t>
                      </a:r>
                      <a:r>
                        <a:rPr kumimoji="0" lang="en-GB" sz="2000" b="0" i="0" u="none" strike="noStrike" cap="none" normalizeH="0" baseline="0" dirty="0">
                          <a:ln>
                            <a:noFill/>
                          </a:ln>
                          <a:solidFill>
                            <a:srgbClr val="000000"/>
                          </a:solidFill>
                          <a:effectLst/>
                          <a:latin typeface="Arial Narrow" pitchFamily="34" charset="0"/>
                        </a:rPr>
                        <a:t> de transmission de </a:t>
                      </a:r>
                      <a:r>
                        <a:rPr kumimoji="0" lang="en-GB" sz="2000" b="0" i="0" u="none" strike="noStrike" cap="none" normalizeH="0" baseline="0" dirty="0" err="1">
                          <a:ln>
                            <a:noFill/>
                          </a:ln>
                          <a:solidFill>
                            <a:srgbClr val="000000"/>
                          </a:solidFill>
                          <a:effectLst/>
                          <a:latin typeface="Arial Narrow" pitchFamily="34" charset="0"/>
                        </a:rPr>
                        <a:t>l'ordre</a:t>
                      </a:r>
                      <a:r>
                        <a:rPr kumimoji="0" lang="en-GB" sz="2000" b="0" i="0" u="none" strike="noStrike" cap="none" normalizeH="0" baseline="0" dirty="0">
                          <a:ln>
                            <a:noFill/>
                          </a:ln>
                          <a:solidFill>
                            <a:srgbClr val="000000"/>
                          </a:solidFill>
                          <a:effectLst/>
                          <a:latin typeface="Arial Narrow" pitchFamily="34" charset="0"/>
                        </a:rPr>
                        <a:t> de 54 </a:t>
                      </a:r>
                      <a:r>
                        <a:rPr kumimoji="0" lang="en-GB" sz="2000" b="0" i="0" u="none" strike="noStrike" cap="none" normalizeH="0" baseline="0" dirty="0" err="1">
                          <a:ln>
                            <a:noFill/>
                          </a:ln>
                          <a:solidFill>
                            <a:srgbClr val="000000"/>
                          </a:solidFill>
                          <a:effectLst/>
                          <a:latin typeface="Arial Narrow" pitchFamily="34" charset="0"/>
                        </a:rPr>
                        <a:t>Mbit</a:t>
                      </a:r>
                      <a:r>
                        <a:rPr kumimoji="0" lang="en-GB" sz="2000" b="0" i="0" u="none" strike="noStrike" cap="none" normalizeH="0" baseline="0" dirty="0">
                          <a:ln>
                            <a:noFill/>
                          </a:ln>
                          <a:solidFill>
                            <a:srgbClr val="000000"/>
                          </a:solidFill>
                          <a:effectLst/>
                          <a:latin typeface="Arial Narrow" pitchFamily="34" charset="0"/>
                        </a:rPr>
                        <a:t>/s</a:t>
                      </a:r>
                      <a:endParaRPr kumimoji="0" lang="en-US" sz="2000" b="0" i="0" u="none" strike="noStrike" cap="none" normalizeH="0" baseline="0" dirty="0">
                        <a:ln>
                          <a:noFill/>
                        </a:ln>
                        <a:solidFill>
                          <a:schemeClr val="tx1"/>
                        </a:solidFill>
                        <a:effectLst/>
                        <a:latin typeface="Arial Narrow" pitchFamily="34" charset="0"/>
                      </a:endParaRPr>
                    </a:p>
                    <a:p>
                      <a:pPr marL="225425" marR="0" lvl="0" indent="-225425" algn="l" defTabSz="914400" rtl="0" eaLnBrk="0" fontAlgn="base" latinLnBrk="0" hangingPunct="0">
                        <a:lnSpc>
                          <a:spcPct val="85000"/>
                        </a:lnSpc>
                        <a:spcBef>
                          <a:spcPct val="10000"/>
                        </a:spcBef>
                        <a:spcAft>
                          <a:spcPct val="0"/>
                        </a:spcAft>
                        <a:buClrTx/>
                        <a:buSzPct val="70000"/>
                        <a:buFontTx/>
                        <a:buBlip>
                          <a:blip r:embed="rId4"/>
                        </a:buBlip>
                        <a:tabLst/>
                      </a:pPr>
                      <a:r>
                        <a:rPr kumimoji="0" lang="en-GB" sz="2000" b="0" i="0" u="none" strike="noStrike" cap="none" normalizeH="0" baseline="0" dirty="0" err="1">
                          <a:ln>
                            <a:noFill/>
                          </a:ln>
                          <a:solidFill>
                            <a:srgbClr val="000000"/>
                          </a:solidFill>
                          <a:effectLst/>
                          <a:latin typeface="Arial Narrow" pitchFamily="34" charset="0"/>
                        </a:rPr>
                        <a:t>Permet</a:t>
                      </a:r>
                      <a:r>
                        <a:rPr kumimoji="0" lang="en-GB" sz="2000" b="0" i="0" u="none" strike="noStrike" cap="none" normalizeH="0" baseline="0" dirty="0">
                          <a:ln>
                            <a:noFill/>
                          </a:ln>
                          <a:solidFill>
                            <a:srgbClr val="000000"/>
                          </a:solidFill>
                          <a:effectLst/>
                          <a:latin typeface="Arial Narrow" pitchFamily="34" charset="0"/>
                        </a:rPr>
                        <a:t> </a:t>
                      </a:r>
                      <a:r>
                        <a:rPr kumimoji="0" lang="en-GB" sz="2000" b="0" i="0" u="none" strike="noStrike" cap="none" normalizeH="0" baseline="0" dirty="0" err="1">
                          <a:ln>
                            <a:noFill/>
                          </a:ln>
                          <a:solidFill>
                            <a:srgbClr val="000000"/>
                          </a:solidFill>
                          <a:effectLst/>
                          <a:latin typeface="Arial Narrow" pitchFamily="34" charset="0"/>
                        </a:rPr>
                        <a:t>d'optimiser</a:t>
                      </a:r>
                      <a:r>
                        <a:rPr kumimoji="0" lang="en-GB" sz="2000" b="0" i="0" u="none" strike="noStrike" cap="none" normalizeH="0" baseline="0" dirty="0">
                          <a:ln>
                            <a:noFill/>
                          </a:ln>
                          <a:solidFill>
                            <a:srgbClr val="000000"/>
                          </a:solidFill>
                          <a:effectLst/>
                          <a:latin typeface="Arial Narrow" pitchFamily="34" charset="0"/>
                        </a:rPr>
                        <a:t> les performances des applications de </a:t>
                      </a:r>
                      <a:r>
                        <a:rPr kumimoji="0" lang="en-GB" sz="2000" b="0" i="0" u="none" strike="noStrike" cap="none" normalizeH="0" baseline="0" dirty="0" err="1">
                          <a:ln>
                            <a:noFill/>
                          </a:ln>
                          <a:solidFill>
                            <a:srgbClr val="000000"/>
                          </a:solidFill>
                          <a:effectLst/>
                          <a:latin typeface="Arial Narrow" pitchFamily="34" charset="0"/>
                        </a:rPr>
                        <a:t>conférence</a:t>
                      </a:r>
                      <a:r>
                        <a:rPr kumimoji="0" lang="en-GB" sz="2000" b="0" i="0" u="none" strike="noStrike" cap="none" normalizeH="0" baseline="0" dirty="0">
                          <a:ln>
                            <a:noFill/>
                          </a:ln>
                          <a:solidFill>
                            <a:srgbClr val="000000"/>
                          </a:solidFill>
                          <a:effectLst/>
                          <a:latin typeface="Arial Narrow" pitchFamily="34" charset="0"/>
                        </a:rPr>
                        <a:t> et </a:t>
                      </a:r>
                      <a:r>
                        <a:rPr kumimoji="0" lang="en-GB" sz="2000" b="0" i="0" u="none" strike="noStrike" cap="none" normalizeH="0" baseline="0" dirty="0" err="1">
                          <a:ln>
                            <a:noFill/>
                          </a:ln>
                          <a:solidFill>
                            <a:srgbClr val="000000"/>
                          </a:solidFill>
                          <a:effectLst/>
                          <a:latin typeface="Arial Narrow" pitchFamily="34" charset="0"/>
                        </a:rPr>
                        <a:t>vidéo</a:t>
                      </a:r>
                      <a:r>
                        <a:rPr kumimoji="0" lang="en-GB" sz="2000" b="0" i="0" u="none" strike="noStrike" cap="none" normalizeH="0" baseline="0" dirty="0">
                          <a:ln>
                            <a:noFill/>
                          </a:ln>
                          <a:solidFill>
                            <a:srgbClr val="000000"/>
                          </a:solidFill>
                          <a:effectLst/>
                          <a:latin typeface="Arial Narrow" pitchFamily="34" charset="0"/>
                        </a:rPr>
                        <a:t> </a:t>
                      </a:r>
                      <a:r>
                        <a:rPr kumimoji="0" lang="en-GB" sz="2000" b="0" i="0" u="none" strike="noStrike" cap="none" normalizeH="0" baseline="0" dirty="0" err="1">
                          <a:ln>
                            <a:noFill/>
                          </a:ln>
                          <a:solidFill>
                            <a:srgbClr val="000000"/>
                          </a:solidFill>
                          <a:effectLst/>
                          <a:latin typeface="Arial Narrow" pitchFamily="34" charset="0"/>
                        </a:rPr>
                        <a:t>sur</a:t>
                      </a:r>
                      <a:r>
                        <a:rPr kumimoji="0" lang="en-GB" sz="2000" b="0" i="0" u="none" strike="noStrike" cap="none" normalizeH="0" baseline="0" dirty="0">
                          <a:ln>
                            <a:noFill/>
                          </a:ln>
                          <a:solidFill>
                            <a:srgbClr val="000000"/>
                          </a:solidFill>
                          <a:effectLst/>
                          <a:latin typeface="Arial Narrow" pitchFamily="34" charset="0"/>
                        </a:rPr>
                        <a:t> un </a:t>
                      </a:r>
                      <a:r>
                        <a:rPr kumimoji="0" lang="en-GB" sz="2000" b="0" i="0" u="none" strike="noStrike" cap="none" normalizeH="0" baseline="0" dirty="0" err="1">
                          <a:ln>
                            <a:noFill/>
                          </a:ln>
                          <a:solidFill>
                            <a:srgbClr val="000000"/>
                          </a:solidFill>
                          <a:effectLst/>
                          <a:latin typeface="Arial Narrow" pitchFamily="34" charset="0"/>
                        </a:rPr>
                        <a:t>réseau</a:t>
                      </a:r>
                      <a:r>
                        <a:rPr kumimoji="0" lang="en-GB" sz="2000" b="0" i="0" u="none" strike="noStrike" cap="none" normalizeH="0" baseline="0" dirty="0">
                          <a:ln>
                            <a:noFill/>
                          </a:ln>
                          <a:solidFill>
                            <a:srgbClr val="000000"/>
                          </a:solidFill>
                          <a:effectLst/>
                          <a:latin typeface="Arial Narrow" pitchFamily="34" charset="0"/>
                        </a:rPr>
                        <a:t> local sans </a:t>
                      </a:r>
                      <a:r>
                        <a:rPr kumimoji="0" lang="en-GB" sz="2000" b="0" i="0" u="none" strike="noStrike" cap="none" normalizeH="0" baseline="0" dirty="0" err="1">
                          <a:ln>
                            <a:noFill/>
                          </a:ln>
                          <a:solidFill>
                            <a:srgbClr val="000000"/>
                          </a:solidFill>
                          <a:effectLst/>
                          <a:latin typeface="Arial Narrow" pitchFamily="34" charset="0"/>
                        </a:rPr>
                        <a:t>fil</a:t>
                      </a:r>
                      <a:endParaRPr kumimoji="0" lang="en-US" sz="2000" b="0" i="0" u="none" strike="noStrike" cap="none" normalizeH="0" baseline="0" dirty="0">
                        <a:ln>
                          <a:noFill/>
                        </a:ln>
                        <a:solidFill>
                          <a:schemeClr val="tx1"/>
                        </a:solidFill>
                        <a:effectLst/>
                        <a:latin typeface="Arial Narrow" pitchFamily="34" charset="0"/>
                      </a:endParaRPr>
                    </a:p>
                    <a:p>
                      <a:pPr marL="225425" marR="0" lvl="0" indent="-225425" algn="l" defTabSz="914400" rtl="0" eaLnBrk="0" fontAlgn="base" latinLnBrk="0" hangingPunct="0">
                        <a:lnSpc>
                          <a:spcPct val="85000"/>
                        </a:lnSpc>
                        <a:spcBef>
                          <a:spcPct val="10000"/>
                        </a:spcBef>
                        <a:spcAft>
                          <a:spcPct val="0"/>
                        </a:spcAft>
                        <a:buClrTx/>
                        <a:buSzPct val="70000"/>
                        <a:buFontTx/>
                        <a:buBlip>
                          <a:blip r:embed="rId4"/>
                        </a:buBlip>
                        <a:tabLst/>
                      </a:pPr>
                      <a:r>
                        <a:rPr kumimoji="0" lang="en-GB" sz="2000" b="0" i="0" u="none" strike="noStrike" cap="none" normalizeH="0" baseline="0" dirty="0" err="1">
                          <a:ln>
                            <a:noFill/>
                          </a:ln>
                          <a:solidFill>
                            <a:srgbClr val="000000"/>
                          </a:solidFill>
                          <a:effectLst/>
                          <a:latin typeface="Arial Narrow" pitchFamily="34" charset="0"/>
                        </a:rPr>
                        <a:t>Fonctionnement</a:t>
                      </a:r>
                      <a:r>
                        <a:rPr kumimoji="0" lang="en-GB" sz="2000" b="0" i="0" u="none" strike="noStrike" cap="none" normalizeH="0" baseline="0" dirty="0">
                          <a:ln>
                            <a:noFill/>
                          </a:ln>
                          <a:solidFill>
                            <a:srgbClr val="000000"/>
                          </a:solidFill>
                          <a:effectLst/>
                          <a:latin typeface="Arial Narrow" pitchFamily="34" charset="0"/>
                        </a:rPr>
                        <a:t> optimal </a:t>
                      </a:r>
                      <a:r>
                        <a:rPr kumimoji="0" lang="en-GB" sz="2000" b="0" i="0" u="none" strike="noStrike" cap="none" normalizeH="0" baseline="0" dirty="0" err="1">
                          <a:ln>
                            <a:noFill/>
                          </a:ln>
                          <a:solidFill>
                            <a:srgbClr val="000000"/>
                          </a:solidFill>
                          <a:effectLst/>
                          <a:latin typeface="Arial Narrow" pitchFamily="34" charset="0"/>
                        </a:rPr>
                        <a:t>dans</a:t>
                      </a:r>
                      <a:r>
                        <a:rPr kumimoji="0" lang="en-GB" sz="2000" b="0" i="0" u="none" strike="noStrike" cap="none" normalizeH="0" baseline="0" dirty="0">
                          <a:ln>
                            <a:noFill/>
                          </a:ln>
                          <a:solidFill>
                            <a:srgbClr val="000000"/>
                          </a:solidFill>
                          <a:effectLst/>
                          <a:latin typeface="Arial Narrow" pitchFamily="34" charset="0"/>
                        </a:rPr>
                        <a:t> les zones </a:t>
                      </a:r>
                      <a:r>
                        <a:rPr kumimoji="0" lang="en-GB" sz="2000" b="0" i="0" u="none" strike="noStrike" cap="none" normalizeH="0" baseline="0" dirty="0" err="1">
                          <a:ln>
                            <a:noFill/>
                          </a:ln>
                          <a:solidFill>
                            <a:srgbClr val="000000"/>
                          </a:solidFill>
                          <a:effectLst/>
                          <a:latin typeface="Arial Narrow" pitchFamily="34" charset="0"/>
                        </a:rPr>
                        <a:t>densément</a:t>
                      </a:r>
                      <a:r>
                        <a:rPr kumimoji="0" lang="en-GB" sz="2000" b="0" i="0" u="none" strike="noStrike" cap="none" normalizeH="0" baseline="0" dirty="0">
                          <a:ln>
                            <a:noFill/>
                          </a:ln>
                          <a:solidFill>
                            <a:srgbClr val="000000"/>
                          </a:solidFill>
                          <a:effectLst/>
                          <a:latin typeface="Arial Narrow" pitchFamily="34" charset="0"/>
                        </a:rPr>
                        <a:t> </a:t>
                      </a:r>
                      <a:r>
                        <a:rPr kumimoji="0" lang="en-GB" sz="2000" b="0" i="0" u="none" strike="noStrike" cap="none" normalizeH="0" baseline="0" dirty="0" err="1">
                          <a:ln>
                            <a:noFill/>
                          </a:ln>
                          <a:solidFill>
                            <a:srgbClr val="000000"/>
                          </a:solidFill>
                          <a:effectLst/>
                          <a:latin typeface="Arial Narrow" pitchFamily="34" charset="0"/>
                        </a:rPr>
                        <a:t>peuplées</a:t>
                      </a:r>
                      <a:endParaRPr kumimoji="0" lang="en-US" sz="2000" b="0" i="0" u="none" strike="noStrike" cap="none" normalizeH="0" baseline="0" dirty="0">
                        <a:ln>
                          <a:noFill/>
                        </a:ln>
                        <a:solidFill>
                          <a:schemeClr val="tx1"/>
                        </a:solidFill>
                        <a:effectLst/>
                        <a:latin typeface="Arial Narrow" pitchFamily="34" charset="0"/>
                      </a:endParaRPr>
                    </a:p>
                    <a:p>
                      <a:pPr marL="225425" marR="0" lvl="0" indent="-225425" algn="l" defTabSz="914400" rtl="0" eaLnBrk="0" fontAlgn="base" latinLnBrk="0" hangingPunct="0">
                        <a:lnSpc>
                          <a:spcPct val="85000"/>
                        </a:lnSpc>
                        <a:spcBef>
                          <a:spcPct val="10000"/>
                        </a:spcBef>
                        <a:spcAft>
                          <a:spcPct val="0"/>
                        </a:spcAft>
                        <a:buClrTx/>
                        <a:buSzPct val="70000"/>
                        <a:buFontTx/>
                        <a:buBlip>
                          <a:blip r:embed="rId4"/>
                        </a:buBlip>
                        <a:tabLst/>
                      </a:pPr>
                      <a:r>
                        <a:rPr kumimoji="0" lang="en-GB" sz="2000" b="0" i="0" u="none" strike="noStrike" cap="none" normalizeH="0" baseline="0" dirty="0">
                          <a:ln>
                            <a:noFill/>
                          </a:ln>
                          <a:solidFill>
                            <a:srgbClr val="000000"/>
                          </a:solidFill>
                          <a:effectLst/>
                          <a:latin typeface="Arial Narrow" pitchFamily="34" charset="0"/>
                        </a:rPr>
                        <a:t>Incompatible avec les </a:t>
                      </a:r>
                      <a:r>
                        <a:rPr kumimoji="0" lang="en-GB" sz="2000" b="0" i="0" u="none" strike="noStrike" cap="none" normalizeH="0" baseline="0" dirty="0" err="1">
                          <a:ln>
                            <a:noFill/>
                          </a:ln>
                          <a:solidFill>
                            <a:srgbClr val="000000"/>
                          </a:solidFill>
                          <a:effectLst/>
                          <a:latin typeface="Arial Narrow" pitchFamily="34" charset="0"/>
                        </a:rPr>
                        <a:t>normes</a:t>
                      </a:r>
                      <a:r>
                        <a:rPr kumimoji="0" lang="en-GB" sz="2000" b="0" i="0" u="none" strike="noStrike" cap="none" normalizeH="0" baseline="0" dirty="0">
                          <a:ln>
                            <a:noFill/>
                          </a:ln>
                          <a:solidFill>
                            <a:srgbClr val="000000"/>
                          </a:solidFill>
                          <a:effectLst/>
                          <a:latin typeface="Arial Narrow" pitchFamily="34" charset="0"/>
                        </a:rPr>
                        <a:t> 802.11, 802.11b et 802.11g</a:t>
                      </a:r>
                      <a:endParaRPr kumimoji="0" lang="en-US" sz="2000" b="0" i="0" u="none" strike="noStrike" cap="none" normalizeH="0" baseline="0" dirty="0">
                        <a:ln>
                          <a:noFill/>
                        </a:ln>
                        <a:solidFill>
                          <a:srgbClr val="000000"/>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r h="350838">
                <a:tc>
                  <a:txBody>
                    <a:bodyPr/>
                    <a:lstStyle/>
                    <a:p>
                      <a:pPr marL="169863" marR="0" lvl="0" indent="-169863" algn="l" defTabSz="914400" rtl="0" eaLnBrk="0" fontAlgn="base" latinLnBrk="0" hangingPunct="0">
                        <a:lnSpc>
                          <a:spcPct val="90000"/>
                        </a:lnSpc>
                        <a:spcBef>
                          <a:spcPct val="35000"/>
                        </a:spcBef>
                        <a:spcAft>
                          <a:spcPct val="0"/>
                        </a:spcAft>
                        <a:buClrTx/>
                        <a:buSzPct val="70000"/>
                        <a:buFontTx/>
                        <a:buNone/>
                        <a:tabLst/>
                      </a:pPr>
                      <a:r>
                        <a:rPr kumimoji="0" lang="en-GB" sz="2000" b="1" i="0" u="none" strike="noStrike" cap="none" normalizeH="0" baseline="0">
                          <a:ln>
                            <a:noFill/>
                          </a:ln>
                          <a:solidFill>
                            <a:srgbClr val="000000"/>
                          </a:solidFill>
                          <a:effectLst/>
                          <a:latin typeface="Arial Narrow" pitchFamily="34" charset="0"/>
                        </a:rPr>
                        <a:t>802.11g</a:t>
                      </a:r>
                      <a:endParaRPr kumimoji="0" lang="en-US" sz="2000" b="1" i="0" u="none" strike="noStrike" cap="none" normalizeH="0" baseline="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225425" marR="0" lvl="0" indent="-225425" algn="l" defTabSz="914400" rtl="0" eaLnBrk="0" fontAlgn="base" latinLnBrk="0" hangingPunct="0">
                        <a:lnSpc>
                          <a:spcPct val="85000"/>
                        </a:lnSpc>
                        <a:spcBef>
                          <a:spcPct val="10000"/>
                        </a:spcBef>
                        <a:spcAft>
                          <a:spcPct val="0"/>
                        </a:spcAft>
                        <a:buClrTx/>
                        <a:buSzPct val="70000"/>
                        <a:buFontTx/>
                        <a:buBlip>
                          <a:blip r:embed="rId4"/>
                        </a:buBlip>
                        <a:tabLst/>
                      </a:pPr>
                      <a:r>
                        <a:rPr kumimoji="0" lang="en-GB" sz="2000" b="0" i="0" u="none" strike="noStrike" cap="none" normalizeH="0" baseline="0" dirty="0" err="1">
                          <a:ln>
                            <a:noFill/>
                          </a:ln>
                          <a:solidFill>
                            <a:srgbClr val="000000"/>
                          </a:solidFill>
                          <a:effectLst/>
                          <a:latin typeface="Arial Narrow" pitchFamily="34" charset="0"/>
                        </a:rPr>
                        <a:t>Amélioration</a:t>
                      </a:r>
                      <a:r>
                        <a:rPr kumimoji="0" lang="en-GB" sz="2000" b="0" i="0" u="none" strike="noStrike" cap="none" normalizeH="0" baseline="0" dirty="0">
                          <a:ln>
                            <a:noFill/>
                          </a:ln>
                          <a:solidFill>
                            <a:srgbClr val="000000"/>
                          </a:solidFill>
                          <a:effectLst/>
                          <a:latin typeface="Arial Narrow" pitchFamily="34" charset="0"/>
                        </a:rPr>
                        <a:t> de la </a:t>
                      </a:r>
                      <a:r>
                        <a:rPr kumimoji="0" lang="en-GB" sz="2000" b="0" i="0" u="none" strike="noStrike" cap="none" normalizeH="0" baseline="0" dirty="0" err="1">
                          <a:ln>
                            <a:noFill/>
                          </a:ln>
                          <a:solidFill>
                            <a:srgbClr val="000000"/>
                          </a:solidFill>
                          <a:effectLst/>
                          <a:latin typeface="Arial Narrow" pitchFamily="34" charset="0"/>
                        </a:rPr>
                        <a:t>norme</a:t>
                      </a:r>
                      <a:r>
                        <a:rPr kumimoji="0" lang="en-GB" sz="2000" b="0" i="0" u="none" strike="noStrike" cap="none" normalizeH="0" baseline="0" dirty="0">
                          <a:ln>
                            <a:noFill/>
                          </a:ln>
                          <a:solidFill>
                            <a:srgbClr val="000000"/>
                          </a:solidFill>
                          <a:effectLst/>
                          <a:latin typeface="Arial Narrow" pitchFamily="34" charset="0"/>
                        </a:rPr>
                        <a:t> 802.11b, avec </a:t>
                      </a:r>
                      <a:r>
                        <a:rPr kumimoji="0" lang="en-GB" sz="2000" b="0" i="0" u="none" strike="noStrike" cap="none" normalizeH="0" baseline="0" dirty="0" err="1">
                          <a:ln>
                            <a:noFill/>
                          </a:ln>
                          <a:solidFill>
                            <a:srgbClr val="000000"/>
                          </a:solidFill>
                          <a:effectLst/>
                          <a:latin typeface="Arial Narrow" pitchFamily="34" charset="0"/>
                        </a:rPr>
                        <a:t>laquelle</a:t>
                      </a:r>
                      <a:r>
                        <a:rPr kumimoji="0" lang="en-GB" sz="2000" b="0" i="0" u="none" strike="noStrike" cap="none" normalizeH="0" baseline="0" dirty="0">
                          <a:ln>
                            <a:noFill/>
                          </a:ln>
                          <a:solidFill>
                            <a:srgbClr val="000000"/>
                          </a:solidFill>
                          <a:effectLst/>
                          <a:latin typeface="Arial Narrow" pitchFamily="34" charset="0"/>
                        </a:rPr>
                        <a:t> </a:t>
                      </a:r>
                      <a:r>
                        <a:rPr kumimoji="0" lang="en-GB" sz="2000" b="0" i="0" u="none" strike="noStrike" cap="none" normalizeH="0" baseline="0" dirty="0" err="1">
                          <a:ln>
                            <a:noFill/>
                          </a:ln>
                          <a:solidFill>
                            <a:srgbClr val="000000"/>
                          </a:solidFill>
                          <a:effectLst/>
                          <a:latin typeface="Arial Narrow" pitchFamily="34" charset="0"/>
                        </a:rPr>
                        <a:t>elle</a:t>
                      </a:r>
                      <a:r>
                        <a:rPr kumimoji="0" lang="en-GB" sz="2000" b="0" i="0" u="none" strike="noStrike" cap="none" normalizeH="0" baseline="0" dirty="0">
                          <a:ln>
                            <a:noFill/>
                          </a:ln>
                          <a:solidFill>
                            <a:srgbClr val="000000"/>
                          </a:solidFill>
                          <a:effectLst/>
                          <a:latin typeface="Arial Narrow" pitchFamily="34" charset="0"/>
                        </a:rPr>
                        <a:t> </a:t>
                      </a:r>
                      <a:r>
                        <a:rPr kumimoji="0" lang="en-GB" sz="2000" b="0" i="0" u="none" strike="noStrike" cap="none" normalizeH="0" baseline="0" dirty="0" err="1">
                          <a:ln>
                            <a:noFill/>
                          </a:ln>
                          <a:solidFill>
                            <a:srgbClr val="000000"/>
                          </a:solidFill>
                          <a:effectLst/>
                          <a:latin typeface="Arial Narrow" pitchFamily="34" charset="0"/>
                        </a:rPr>
                        <a:t>est</a:t>
                      </a:r>
                      <a:r>
                        <a:rPr kumimoji="0" lang="en-GB" sz="2000" b="0" i="0" u="none" strike="noStrike" cap="none" normalizeH="0" baseline="0" dirty="0">
                          <a:ln>
                            <a:noFill/>
                          </a:ln>
                          <a:solidFill>
                            <a:srgbClr val="000000"/>
                          </a:solidFill>
                          <a:effectLst/>
                          <a:latin typeface="Arial Narrow" pitchFamily="34" charset="0"/>
                        </a:rPr>
                        <a:t> compatible</a:t>
                      </a:r>
                      <a:endParaRPr kumimoji="0" lang="en-US" sz="2000" b="0" i="0" u="none" strike="noStrike" cap="none" normalizeH="0" baseline="0" dirty="0">
                        <a:ln>
                          <a:noFill/>
                        </a:ln>
                        <a:solidFill>
                          <a:schemeClr val="tx1"/>
                        </a:solidFill>
                        <a:effectLst/>
                        <a:latin typeface="Arial Narrow" pitchFamily="34" charset="0"/>
                      </a:endParaRPr>
                    </a:p>
                    <a:p>
                      <a:pPr marL="225425" marR="0" lvl="0" indent="-225425" algn="l" defTabSz="914400" rtl="0" eaLnBrk="0" fontAlgn="base" latinLnBrk="0" hangingPunct="0">
                        <a:lnSpc>
                          <a:spcPct val="85000"/>
                        </a:lnSpc>
                        <a:spcBef>
                          <a:spcPct val="10000"/>
                        </a:spcBef>
                        <a:spcAft>
                          <a:spcPct val="0"/>
                        </a:spcAft>
                        <a:buClrTx/>
                        <a:buSzPct val="70000"/>
                        <a:buFontTx/>
                        <a:buBlip>
                          <a:blip r:embed="rId4"/>
                        </a:buBlip>
                        <a:tabLst/>
                      </a:pPr>
                      <a:r>
                        <a:rPr kumimoji="0" lang="en-GB" sz="2000" b="0" i="0" u="none" strike="noStrike" cap="none" normalizeH="0" baseline="0" dirty="0" err="1">
                          <a:ln>
                            <a:noFill/>
                          </a:ln>
                          <a:solidFill>
                            <a:srgbClr val="000000"/>
                          </a:solidFill>
                          <a:effectLst/>
                          <a:latin typeface="Arial Narrow" pitchFamily="34" charset="0"/>
                        </a:rPr>
                        <a:t>Débit</a:t>
                      </a:r>
                      <a:r>
                        <a:rPr kumimoji="0" lang="en-GB" sz="2000" b="0" i="0" u="none" strike="noStrike" cap="none" normalizeH="0" baseline="0" dirty="0">
                          <a:ln>
                            <a:noFill/>
                          </a:ln>
                          <a:solidFill>
                            <a:srgbClr val="000000"/>
                          </a:solidFill>
                          <a:effectLst/>
                          <a:latin typeface="Arial Narrow" pitchFamily="34" charset="0"/>
                        </a:rPr>
                        <a:t> de 54 </a:t>
                      </a:r>
                      <a:r>
                        <a:rPr kumimoji="0" lang="en-GB" sz="2000" b="0" i="0" u="none" strike="noStrike" cap="none" normalizeH="0" baseline="0" dirty="0" err="1">
                          <a:ln>
                            <a:noFill/>
                          </a:ln>
                          <a:solidFill>
                            <a:srgbClr val="000000"/>
                          </a:solidFill>
                          <a:effectLst/>
                          <a:latin typeface="Arial Narrow" pitchFamily="34" charset="0"/>
                        </a:rPr>
                        <a:t>Mbit</a:t>
                      </a:r>
                      <a:r>
                        <a:rPr kumimoji="0" lang="en-GB" sz="2000" b="0" i="0" u="none" strike="noStrike" cap="none" normalizeH="0" baseline="0" dirty="0">
                          <a:ln>
                            <a:noFill/>
                          </a:ln>
                          <a:solidFill>
                            <a:srgbClr val="000000"/>
                          </a:solidFill>
                          <a:effectLst/>
                          <a:latin typeface="Arial Narrow" pitchFamily="34" charset="0"/>
                        </a:rPr>
                        <a:t>/s, </a:t>
                      </a:r>
                      <a:r>
                        <a:rPr kumimoji="0" lang="en-GB" sz="2000" b="0" i="0" u="none" strike="noStrike" cap="none" normalizeH="0" baseline="0" dirty="0" err="1">
                          <a:ln>
                            <a:noFill/>
                          </a:ln>
                          <a:solidFill>
                            <a:srgbClr val="000000"/>
                          </a:solidFill>
                          <a:effectLst/>
                          <a:latin typeface="Arial Narrow" pitchFamily="34" charset="0"/>
                        </a:rPr>
                        <a:t>mais</a:t>
                      </a:r>
                      <a:r>
                        <a:rPr kumimoji="0" lang="en-GB" sz="2000" b="0" i="0" u="none" strike="noStrike" cap="none" normalizeH="0" baseline="0" dirty="0">
                          <a:ln>
                            <a:noFill/>
                          </a:ln>
                          <a:solidFill>
                            <a:srgbClr val="000000"/>
                          </a:solidFill>
                          <a:effectLst/>
                          <a:latin typeface="Arial Narrow" pitchFamily="34" charset="0"/>
                        </a:rPr>
                        <a:t> avec </a:t>
                      </a:r>
                      <a:r>
                        <a:rPr kumimoji="0" lang="en-GB" sz="2000" b="0" i="0" u="none" strike="noStrike" cap="none" normalizeH="0" baseline="0" dirty="0" err="1">
                          <a:ln>
                            <a:noFill/>
                          </a:ln>
                          <a:solidFill>
                            <a:srgbClr val="000000"/>
                          </a:solidFill>
                          <a:effectLst/>
                          <a:latin typeface="Arial Narrow" pitchFamily="34" charset="0"/>
                        </a:rPr>
                        <a:t>une</a:t>
                      </a:r>
                      <a:r>
                        <a:rPr kumimoji="0" lang="en-GB" sz="2000" b="0" i="0" u="none" strike="noStrike" cap="none" normalizeH="0" baseline="0" dirty="0">
                          <a:ln>
                            <a:noFill/>
                          </a:ln>
                          <a:solidFill>
                            <a:srgbClr val="000000"/>
                          </a:solidFill>
                          <a:effectLst/>
                          <a:latin typeface="Arial Narrow" pitchFamily="34" charset="0"/>
                        </a:rPr>
                        <a:t> </a:t>
                      </a:r>
                      <a:r>
                        <a:rPr kumimoji="0" lang="en-GB" sz="2000" b="0" i="0" u="none" strike="noStrike" cap="none" normalizeH="0" baseline="0" dirty="0" err="1">
                          <a:ln>
                            <a:noFill/>
                          </a:ln>
                          <a:solidFill>
                            <a:srgbClr val="000000"/>
                          </a:solidFill>
                          <a:effectLst/>
                          <a:latin typeface="Arial Narrow" pitchFamily="34" charset="0"/>
                        </a:rPr>
                        <a:t>portée</a:t>
                      </a:r>
                      <a:r>
                        <a:rPr kumimoji="0" lang="en-GB" sz="2000" b="0" i="0" u="none" strike="noStrike" cap="none" normalizeH="0" baseline="0" dirty="0">
                          <a:ln>
                            <a:noFill/>
                          </a:ln>
                          <a:solidFill>
                            <a:srgbClr val="000000"/>
                          </a:solidFill>
                          <a:effectLst/>
                          <a:latin typeface="Arial Narrow" pitchFamily="34" charset="0"/>
                        </a:rPr>
                        <a:t> </a:t>
                      </a:r>
                      <a:r>
                        <a:rPr kumimoji="0" lang="en-GB" sz="2000" b="0" i="0" u="none" strike="noStrike" cap="none" normalizeH="0" baseline="0" dirty="0" err="1">
                          <a:ln>
                            <a:noFill/>
                          </a:ln>
                          <a:solidFill>
                            <a:srgbClr val="000000"/>
                          </a:solidFill>
                          <a:effectLst/>
                          <a:latin typeface="Arial Narrow" pitchFamily="34" charset="0"/>
                        </a:rPr>
                        <a:t>inférieure</a:t>
                      </a:r>
                      <a:r>
                        <a:rPr kumimoji="0" lang="en-GB" sz="2000" b="0" i="0" u="none" strike="noStrike" cap="none" normalizeH="0" baseline="0" dirty="0">
                          <a:ln>
                            <a:noFill/>
                          </a:ln>
                          <a:solidFill>
                            <a:srgbClr val="000000"/>
                          </a:solidFill>
                          <a:effectLst/>
                          <a:latin typeface="Arial Narrow" pitchFamily="34" charset="0"/>
                        </a:rPr>
                        <a:t> à la </a:t>
                      </a:r>
                      <a:r>
                        <a:rPr kumimoji="0" lang="en-GB" sz="2000" b="0" i="0" u="none" strike="noStrike" cap="none" normalizeH="0" baseline="0" dirty="0" err="1">
                          <a:ln>
                            <a:noFill/>
                          </a:ln>
                          <a:solidFill>
                            <a:srgbClr val="000000"/>
                          </a:solidFill>
                          <a:effectLst/>
                          <a:latin typeface="Arial Narrow" pitchFamily="34" charset="0"/>
                        </a:rPr>
                        <a:t>spécification</a:t>
                      </a:r>
                      <a:r>
                        <a:rPr kumimoji="0" lang="en-GB" sz="2000" b="0" i="0" u="none" strike="noStrike" cap="none" normalizeH="0" baseline="0" dirty="0">
                          <a:ln>
                            <a:noFill/>
                          </a:ln>
                          <a:solidFill>
                            <a:srgbClr val="000000"/>
                          </a:solidFill>
                          <a:effectLst/>
                          <a:latin typeface="Arial Narrow" pitchFamily="34" charset="0"/>
                        </a:rPr>
                        <a:t> 802.11b</a:t>
                      </a:r>
                      <a:endParaRPr kumimoji="0" lang="en-US" sz="2000" b="0" i="0" u="none" strike="noStrike" cap="none" normalizeH="0" baseline="0" dirty="0">
                        <a:ln>
                          <a:noFill/>
                        </a:ln>
                        <a:solidFill>
                          <a:srgbClr val="000000"/>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50838">
                <a:tc>
                  <a:txBody>
                    <a:bodyPr/>
                    <a:lstStyle/>
                    <a:p>
                      <a:pPr marL="169863" marR="0" lvl="0" indent="-169863" algn="l" defTabSz="914400" rtl="0" eaLnBrk="0" fontAlgn="base" latinLnBrk="0" hangingPunct="0">
                        <a:lnSpc>
                          <a:spcPct val="90000"/>
                        </a:lnSpc>
                        <a:spcBef>
                          <a:spcPct val="35000"/>
                        </a:spcBef>
                        <a:spcAft>
                          <a:spcPct val="0"/>
                        </a:spcAft>
                        <a:buClrTx/>
                        <a:buSzPct val="70000"/>
                        <a:buFontTx/>
                        <a:buNone/>
                        <a:tabLst/>
                      </a:pPr>
                      <a:r>
                        <a:rPr kumimoji="0" lang="en-GB" sz="2000" b="1" i="0" u="none" strike="noStrike" cap="none" normalizeH="0" baseline="0" dirty="0">
                          <a:ln>
                            <a:noFill/>
                          </a:ln>
                          <a:solidFill>
                            <a:srgbClr val="000000"/>
                          </a:solidFill>
                          <a:effectLst/>
                          <a:latin typeface="Arial Narrow" pitchFamily="34" charset="0"/>
                        </a:rPr>
                        <a:t>802.1x</a:t>
                      </a:r>
                      <a:endParaRPr kumimoji="0" lang="en-US" sz="2000" b="1" i="0" u="none" strike="noStrike" cap="none" normalizeH="0" baseline="0" dirty="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225425" marR="0" lvl="0" indent="-225425" algn="l" defTabSz="914400" rtl="0" eaLnBrk="0" fontAlgn="base" latinLnBrk="0" hangingPunct="0">
                        <a:lnSpc>
                          <a:spcPct val="85000"/>
                        </a:lnSpc>
                        <a:spcBef>
                          <a:spcPct val="10000"/>
                        </a:spcBef>
                        <a:spcAft>
                          <a:spcPct val="0"/>
                        </a:spcAft>
                        <a:buClrTx/>
                        <a:buSzPct val="70000"/>
                        <a:buFontTx/>
                        <a:buBlip>
                          <a:blip r:embed="rId4"/>
                        </a:buBlip>
                        <a:tabLst/>
                      </a:pPr>
                      <a:r>
                        <a:rPr kumimoji="0" lang="en-GB" sz="2000" b="0" i="0" u="none" strike="noStrike" cap="none" normalizeH="0" baseline="0" dirty="0" err="1">
                          <a:ln>
                            <a:noFill/>
                          </a:ln>
                          <a:solidFill>
                            <a:srgbClr val="000000"/>
                          </a:solidFill>
                          <a:effectLst/>
                          <a:latin typeface="Arial Narrow" pitchFamily="34" charset="0"/>
                        </a:rPr>
                        <a:t>Authentifie</a:t>
                      </a:r>
                      <a:r>
                        <a:rPr kumimoji="0" lang="en-GB" sz="2000" b="0" i="0" u="none" strike="noStrike" cap="none" normalizeH="0" baseline="0" dirty="0">
                          <a:ln>
                            <a:noFill/>
                          </a:ln>
                          <a:solidFill>
                            <a:srgbClr val="000000"/>
                          </a:solidFill>
                          <a:effectLst/>
                          <a:latin typeface="Arial Narrow" pitchFamily="34" charset="0"/>
                        </a:rPr>
                        <a:t> les clients </a:t>
                      </a:r>
                      <a:r>
                        <a:rPr kumimoji="0" lang="en-GB" sz="2000" b="0" i="0" u="none" strike="noStrike" cap="none" normalizeH="0" baseline="0" dirty="0" err="1">
                          <a:ln>
                            <a:noFill/>
                          </a:ln>
                          <a:solidFill>
                            <a:srgbClr val="000000"/>
                          </a:solidFill>
                          <a:effectLst/>
                          <a:latin typeface="Arial Narrow" pitchFamily="34" charset="0"/>
                        </a:rPr>
                        <a:t>avant</a:t>
                      </a:r>
                      <a:r>
                        <a:rPr kumimoji="0" lang="en-GB" sz="2000" b="0" i="0" u="none" strike="noStrike" cap="none" normalizeH="0" baseline="0" dirty="0">
                          <a:ln>
                            <a:noFill/>
                          </a:ln>
                          <a:solidFill>
                            <a:srgbClr val="000000"/>
                          </a:solidFill>
                          <a:effectLst/>
                          <a:latin typeface="Arial Narrow" pitchFamily="34" charset="0"/>
                        </a:rPr>
                        <a:t> de </a:t>
                      </a:r>
                      <a:r>
                        <a:rPr kumimoji="0" lang="en-GB" sz="2000" b="0" i="0" u="none" strike="noStrike" cap="none" normalizeH="0" baseline="0" dirty="0" err="1">
                          <a:ln>
                            <a:noFill/>
                          </a:ln>
                          <a:solidFill>
                            <a:srgbClr val="000000"/>
                          </a:solidFill>
                          <a:effectLst/>
                          <a:latin typeface="Arial Narrow" pitchFamily="34" charset="0"/>
                        </a:rPr>
                        <a:t>leur</a:t>
                      </a:r>
                      <a:r>
                        <a:rPr kumimoji="0" lang="en-GB" sz="2000" b="0" i="0" u="none" strike="noStrike" cap="none" normalizeH="0" baseline="0" dirty="0">
                          <a:ln>
                            <a:noFill/>
                          </a:ln>
                          <a:solidFill>
                            <a:srgbClr val="000000"/>
                          </a:solidFill>
                          <a:effectLst/>
                          <a:latin typeface="Arial Narrow" pitchFamily="34" charset="0"/>
                        </a:rPr>
                        <a:t> </a:t>
                      </a:r>
                      <a:r>
                        <a:rPr kumimoji="0" lang="en-GB" sz="2000" b="0" i="0" u="none" strike="noStrike" cap="none" normalizeH="0" baseline="0" dirty="0" err="1">
                          <a:ln>
                            <a:noFill/>
                          </a:ln>
                          <a:solidFill>
                            <a:srgbClr val="000000"/>
                          </a:solidFill>
                          <a:effectLst/>
                          <a:latin typeface="Arial Narrow" pitchFamily="34" charset="0"/>
                        </a:rPr>
                        <a:t>donner</a:t>
                      </a:r>
                      <a:r>
                        <a:rPr kumimoji="0" lang="en-GB" sz="2000" b="0" i="0" u="none" strike="noStrike" cap="none" normalizeH="0" baseline="0" dirty="0">
                          <a:ln>
                            <a:noFill/>
                          </a:ln>
                          <a:solidFill>
                            <a:srgbClr val="000000"/>
                          </a:solidFill>
                          <a:effectLst/>
                          <a:latin typeface="Arial Narrow" pitchFamily="34" charset="0"/>
                        </a:rPr>
                        <a:t> </a:t>
                      </a:r>
                      <a:r>
                        <a:rPr kumimoji="0" lang="en-GB" sz="2000" b="0" i="0" u="none" strike="noStrike" cap="none" normalizeH="0" baseline="0" dirty="0" err="1">
                          <a:ln>
                            <a:noFill/>
                          </a:ln>
                          <a:solidFill>
                            <a:srgbClr val="000000"/>
                          </a:solidFill>
                          <a:effectLst/>
                          <a:latin typeface="Arial Narrow" pitchFamily="34" charset="0"/>
                        </a:rPr>
                        <a:t>accès</a:t>
                      </a:r>
                      <a:r>
                        <a:rPr kumimoji="0" lang="en-GB" sz="2000" b="0" i="0" u="none" strike="noStrike" cap="none" normalizeH="0" baseline="0" dirty="0">
                          <a:ln>
                            <a:noFill/>
                          </a:ln>
                          <a:solidFill>
                            <a:srgbClr val="000000"/>
                          </a:solidFill>
                          <a:effectLst/>
                          <a:latin typeface="Arial Narrow" pitchFamily="34" charset="0"/>
                        </a:rPr>
                        <a:t> au </a:t>
                      </a:r>
                      <a:r>
                        <a:rPr kumimoji="0" lang="en-GB" sz="2000" b="0" i="0" u="none" strike="noStrike" cap="none" normalizeH="0" baseline="0" dirty="0" err="1">
                          <a:ln>
                            <a:noFill/>
                          </a:ln>
                          <a:solidFill>
                            <a:srgbClr val="000000"/>
                          </a:solidFill>
                          <a:effectLst/>
                          <a:latin typeface="Arial Narrow" pitchFamily="34" charset="0"/>
                        </a:rPr>
                        <a:t>réseau</a:t>
                      </a:r>
                      <a:endParaRPr kumimoji="0" lang="en-US" sz="2000" b="0" i="0" u="none" strike="noStrike" cap="none" normalizeH="0" baseline="0" dirty="0">
                        <a:ln>
                          <a:noFill/>
                        </a:ln>
                        <a:solidFill>
                          <a:schemeClr val="tx1"/>
                        </a:solidFill>
                        <a:effectLst/>
                        <a:latin typeface="Arial Narrow" pitchFamily="34" charset="0"/>
                      </a:endParaRPr>
                    </a:p>
                    <a:p>
                      <a:pPr marL="225425" marR="0" lvl="0" indent="-225425" algn="l" defTabSz="914400" rtl="0" eaLnBrk="0" fontAlgn="base" latinLnBrk="0" hangingPunct="0">
                        <a:lnSpc>
                          <a:spcPct val="85000"/>
                        </a:lnSpc>
                        <a:spcBef>
                          <a:spcPct val="10000"/>
                        </a:spcBef>
                        <a:spcAft>
                          <a:spcPct val="0"/>
                        </a:spcAft>
                        <a:buClrTx/>
                        <a:buSzPct val="70000"/>
                        <a:buFontTx/>
                        <a:buBlip>
                          <a:blip r:embed="rId4"/>
                        </a:buBlip>
                        <a:tabLst/>
                      </a:pPr>
                      <a:r>
                        <a:rPr kumimoji="0" lang="en-GB" sz="2000" b="0" i="0" u="none" strike="noStrike" cap="none" normalizeH="0" baseline="0" dirty="0">
                          <a:ln>
                            <a:noFill/>
                          </a:ln>
                          <a:solidFill>
                            <a:srgbClr val="000000"/>
                          </a:solidFill>
                          <a:effectLst/>
                          <a:latin typeface="Arial Narrow" pitchFamily="34" charset="0"/>
                        </a:rPr>
                        <a:t>Utilisable avec les </a:t>
                      </a:r>
                      <a:r>
                        <a:rPr kumimoji="0" lang="en-GB" sz="2000" b="0" i="0" u="none" strike="noStrike" cap="none" normalizeH="0" baseline="0" dirty="0" err="1">
                          <a:ln>
                            <a:noFill/>
                          </a:ln>
                          <a:solidFill>
                            <a:srgbClr val="000000"/>
                          </a:solidFill>
                          <a:effectLst/>
                          <a:latin typeface="Arial Narrow" pitchFamily="34" charset="0"/>
                        </a:rPr>
                        <a:t>réseaux</a:t>
                      </a:r>
                      <a:r>
                        <a:rPr kumimoji="0" lang="en-GB" sz="2000" b="0" i="0" u="none" strike="noStrike" cap="none" normalizeH="0" baseline="0" dirty="0">
                          <a:ln>
                            <a:noFill/>
                          </a:ln>
                          <a:solidFill>
                            <a:srgbClr val="000000"/>
                          </a:solidFill>
                          <a:effectLst/>
                          <a:latin typeface="Arial Narrow" pitchFamily="34" charset="0"/>
                        </a:rPr>
                        <a:t> </a:t>
                      </a:r>
                      <a:r>
                        <a:rPr kumimoji="0" lang="en-GB" sz="2000" b="0" i="0" u="none" strike="noStrike" cap="none" normalizeH="0" baseline="0" dirty="0" err="1">
                          <a:ln>
                            <a:noFill/>
                          </a:ln>
                          <a:solidFill>
                            <a:srgbClr val="000000"/>
                          </a:solidFill>
                          <a:effectLst/>
                          <a:latin typeface="Arial Narrow" pitchFamily="34" charset="0"/>
                        </a:rPr>
                        <a:t>locaux</a:t>
                      </a:r>
                      <a:r>
                        <a:rPr kumimoji="0" lang="en-GB" sz="2000" b="0" i="0" u="none" strike="noStrike" cap="none" normalizeH="0" baseline="0" dirty="0">
                          <a:ln>
                            <a:noFill/>
                          </a:ln>
                          <a:solidFill>
                            <a:srgbClr val="000000"/>
                          </a:solidFill>
                          <a:effectLst/>
                          <a:latin typeface="Arial Narrow" pitchFamily="34" charset="0"/>
                        </a:rPr>
                        <a:t> </a:t>
                      </a:r>
                      <a:r>
                        <a:rPr kumimoji="0" lang="en-GB" sz="2000" b="0" i="0" u="none" strike="noStrike" cap="none" normalizeH="0" baseline="0" dirty="0" err="1">
                          <a:ln>
                            <a:noFill/>
                          </a:ln>
                          <a:solidFill>
                            <a:srgbClr val="000000"/>
                          </a:solidFill>
                          <a:effectLst/>
                          <a:latin typeface="Arial Narrow" pitchFamily="34" charset="0"/>
                        </a:rPr>
                        <a:t>câblés</a:t>
                      </a:r>
                      <a:r>
                        <a:rPr kumimoji="0" lang="en-GB" sz="2000" b="0" i="0" u="none" strike="noStrike" cap="none" normalizeH="0" baseline="0" dirty="0">
                          <a:ln>
                            <a:noFill/>
                          </a:ln>
                          <a:solidFill>
                            <a:srgbClr val="000000"/>
                          </a:solidFill>
                          <a:effectLst/>
                          <a:latin typeface="Arial Narrow" pitchFamily="34" charset="0"/>
                        </a:rPr>
                        <a:t> </a:t>
                      </a:r>
                      <a:r>
                        <a:rPr kumimoji="0" lang="en-GB" sz="2000" b="0" i="0" u="none" strike="noStrike" cap="none" normalizeH="0" baseline="0" dirty="0" err="1">
                          <a:ln>
                            <a:noFill/>
                          </a:ln>
                          <a:solidFill>
                            <a:srgbClr val="000000"/>
                          </a:solidFill>
                          <a:effectLst/>
                          <a:latin typeface="Arial Narrow" pitchFamily="34" charset="0"/>
                        </a:rPr>
                        <a:t>ou</a:t>
                      </a:r>
                      <a:r>
                        <a:rPr kumimoji="0" lang="en-GB" sz="2000" b="0" i="0" u="none" strike="noStrike" cap="none" normalizeH="0" baseline="0" dirty="0">
                          <a:ln>
                            <a:noFill/>
                          </a:ln>
                          <a:solidFill>
                            <a:srgbClr val="000000"/>
                          </a:solidFill>
                          <a:effectLst/>
                          <a:latin typeface="Arial Narrow" pitchFamily="34" charset="0"/>
                        </a:rPr>
                        <a:t> sans </a:t>
                      </a:r>
                      <a:r>
                        <a:rPr kumimoji="0" lang="en-GB" sz="2000" b="0" i="0" u="none" strike="noStrike" cap="none" normalizeH="0" baseline="0" dirty="0" err="1">
                          <a:ln>
                            <a:noFill/>
                          </a:ln>
                          <a:solidFill>
                            <a:srgbClr val="000000"/>
                          </a:solidFill>
                          <a:effectLst/>
                          <a:latin typeface="Arial Narrow" pitchFamily="34" charset="0"/>
                        </a:rPr>
                        <a:t>fil</a:t>
                      </a:r>
                      <a:endParaRPr kumimoji="0" lang="en-US" sz="2000" b="0" i="0" u="none" strike="noStrike" cap="none" normalizeH="0" baseline="0" dirty="0">
                        <a:ln>
                          <a:noFill/>
                        </a:ln>
                        <a:solidFill>
                          <a:schemeClr val="tx1"/>
                        </a:solidFill>
                        <a:effectLst/>
                        <a:latin typeface="Arial Narrow" pitchFamily="34" charset="0"/>
                      </a:endParaRPr>
                    </a:p>
                    <a:p>
                      <a:pPr marL="225425" marR="0" lvl="0" indent="-225425" algn="l" defTabSz="914400" rtl="0" eaLnBrk="0" fontAlgn="base" latinLnBrk="0" hangingPunct="0">
                        <a:lnSpc>
                          <a:spcPct val="85000"/>
                        </a:lnSpc>
                        <a:spcBef>
                          <a:spcPct val="10000"/>
                        </a:spcBef>
                        <a:spcAft>
                          <a:spcPct val="0"/>
                        </a:spcAft>
                        <a:buClrTx/>
                        <a:buSzPct val="70000"/>
                        <a:buFontTx/>
                        <a:buBlip>
                          <a:blip r:embed="rId4"/>
                        </a:buBlip>
                        <a:tabLst/>
                      </a:pPr>
                      <a:r>
                        <a:rPr kumimoji="0" lang="en-GB" sz="2000" b="0" i="0" u="none" strike="noStrike" cap="none" normalizeH="0" baseline="0" dirty="0" err="1">
                          <a:ln>
                            <a:noFill/>
                          </a:ln>
                          <a:solidFill>
                            <a:srgbClr val="000000"/>
                          </a:solidFill>
                          <a:effectLst/>
                          <a:latin typeface="Arial Narrow" pitchFamily="34" charset="0"/>
                        </a:rPr>
                        <a:t>Investissement</a:t>
                      </a:r>
                      <a:r>
                        <a:rPr kumimoji="0" lang="en-GB" sz="2000" b="0" i="0" u="none" strike="noStrike" cap="none" normalizeH="0" baseline="0" dirty="0">
                          <a:ln>
                            <a:noFill/>
                          </a:ln>
                          <a:solidFill>
                            <a:srgbClr val="000000"/>
                          </a:solidFill>
                          <a:effectLst/>
                          <a:latin typeface="Arial Narrow" pitchFamily="34" charset="0"/>
                        </a:rPr>
                        <a:t> plus important </a:t>
                      </a:r>
                      <a:r>
                        <a:rPr kumimoji="0" lang="en-GB" sz="2000" b="0" i="0" u="none" strike="noStrike" cap="none" normalizeH="0" baseline="0" dirty="0" err="1">
                          <a:ln>
                            <a:noFill/>
                          </a:ln>
                          <a:solidFill>
                            <a:srgbClr val="000000"/>
                          </a:solidFill>
                          <a:effectLst/>
                          <a:latin typeface="Arial Narrow" pitchFamily="34" charset="0"/>
                        </a:rPr>
                        <a:t>sur</a:t>
                      </a:r>
                      <a:r>
                        <a:rPr kumimoji="0" lang="en-GB" sz="2000" b="0" i="0" u="none" strike="noStrike" cap="none" normalizeH="0" baseline="0" dirty="0">
                          <a:ln>
                            <a:noFill/>
                          </a:ln>
                          <a:solidFill>
                            <a:srgbClr val="000000"/>
                          </a:solidFill>
                          <a:effectLst/>
                          <a:latin typeface="Arial Narrow" pitchFamily="34" charset="0"/>
                        </a:rPr>
                        <a:t> le plan du </a:t>
                      </a:r>
                      <a:r>
                        <a:rPr kumimoji="0" lang="en-GB" sz="2000" b="0" i="0" u="none" strike="noStrike" cap="none" normalizeH="0" baseline="0" dirty="0" err="1">
                          <a:ln>
                            <a:noFill/>
                          </a:ln>
                          <a:solidFill>
                            <a:srgbClr val="000000"/>
                          </a:solidFill>
                          <a:effectLst/>
                          <a:latin typeface="Arial Narrow" pitchFamily="34" charset="0"/>
                        </a:rPr>
                        <a:t>matériel</a:t>
                      </a:r>
                      <a:r>
                        <a:rPr kumimoji="0" lang="en-GB" sz="2000" b="0" i="0" u="none" strike="noStrike" cap="none" normalizeH="0" baseline="0" dirty="0">
                          <a:ln>
                            <a:noFill/>
                          </a:ln>
                          <a:solidFill>
                            <a:srgbClr val="000000"/>
                          </a:solidFill>
                          <a:effectLst/>
                          <a:latin typeface="Arial Narrow" pitchFamily="34" charset="0"/>
                        </a:rPr>
                        <a:t> et de </a:t>
                      </a:r>
                      <a:r>
                        <a:rPr kumimoji="0" lang="en-GB" sz="2000" b="0" i="0" u="none" strike="noStrike" cap="none" normalizeH="0" baseline="0" dirty="0" err="1">
                          <a:ln>
                            <a:noFill/>
                          </a:ln>
                          <a:solidFill>
                            <a:srgbClr val="000000"/>
                          </a:solidFill>
                          <a:effectLst/>
                          <a:latin typeface="Arial Narrow" pitchFamily="34" charset="0"/>
                        </a:rPr>
                        <a:t>l'infrastructure</a:t>
                      </a:r>
                      <a:endParaRPr kumimoji="0" lang="en-US" sz="2000" b="0" i="0" u="none" strike="noStrike" cap="none" normalizeH="0" baseline="0" dirty="0">
                        <a:ln>
                          <a:noFill/>
                        </a:ln>
                        <a:solidFill>
                          <a:srgbClr val="000000"/>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723" name="Rectangle 3"/>
          <p:cNvSpPr>
            <a:spLocks noGrp="1" noChangeArrowheads="1"/>
          </p:cNvSpPr>
          <p:nvPr>
            <p:ph type="title"/>
            <p:custDataLst>
              <p:tags r:id="rId1"/>
            </p:custDataLst>
          </p:nvPr>
        </p:nvSpPr>
        <p:spPr/>
        <p:txBody>
          <a:bodyPr vert="horz" anchor="b">
            <a:normAutofit fontScale="90000"/>
          </a:bodyPr>
          <a:lstStyle/>
          <a:p>
            <a:r>
              <a:rPr lang="fr-FR" sz="2800" dirty="0">
                <a:solidFill>
                  <a:srgbClr val="C00000"/>
                </a:solidFill>
              </a:rPr>
              <a:t>Méthodes d'authentification disponibles pour les réseaux sans fil</a:t>
            </a:r>
            <a:endParaRPr sz="2800" dirty="0">
              <a:solidFill>
                <a:srgbClr val="C00000"/>
              </a:solidFill>
            </a:endParaRPr>
          </a:p>
        </p:txBody>
      </p:sp>
      <p:graphicFrame>
        <p:nvGraphicFramePr>
          <p:cNvPr id="414932" name="Group 212"/>
          <p:cNvGraphicFramePr>
            <a:graphicFrameLocks noGrp="1"/>
          </p:cNvGraphicFramePr>
          <p:nvPr/>
        </p:nvGraphicFramePr>
        <p:xfrm>
          <a:off x="174171" y="1371600"/>
          <a:ext cx="8795658" cy="5000170"/>
        </p:xfrm>
        <a:graphic>
          <a:graphicData uri="http://schemas.openxmlformats.org/drawingml/2006/table">
            <a:tbl>
              <a:tblPr/>
              <a:tblGrid>
                <a:gridCol w="3106058">
                  <a:extLst>
                    <a:ext uri="{9D8B030D-6E8A-4147-A177-3AD203B41FA5}">
                      <a16:colId xmlns:a16="http://schemas.microsoft.com/office/drawing/2014/main" val="20000"/>
                    </a:ext>
                  </a:extLst>
                </a:gridCol>
                <a:gridCol w="5689600">
                  <a:extLst>
                    <a:ext uri="{9D8B030D-6E8A-4147-A177-3AD203B41FA5}">
                      <a16:colId xmlns:a16="http://schemas.microsoft.com/office/drawing/2014/main" val="20001"/>
                    </a:ext>
                  </a:extLst>
                </a:gridCol>
              </a:tblGrid>
              <a:tr h="790048">
                <a:tc>
                  <a:txBody>
                    <a:bodyPr/>
                    <a:lstStyle/>
                    <a:p>
                      <a:pPr marL="0" marR="0" lvl="0" indent="0" algn="ctr" defTabSz="914400" rtl="0" eaLnBrk="0" fontAlgn="base" latinLnBrk="0" hangingPunct="0">
                        <a:lnSpc>
                          <a:spcPct val="90000"/>
                        </a:lnSpc>
                        <a:spcBef>
                          <a:spcPct val="40000"/>
                        </a:spcBef>
                        <a:spcAft>
                          <a:spcPct val="0"/>
                        </a:spcAft>
                        <a:buClr>
                          <a:srgbClr val="8DACD0"/>
                        </a:buClr>
                        <a:buSzPct val="70000"/>
                        <a:buFont typeface="Wingdings" pitchFamily="2" charset="2"/>
                        <a:buNone/>
                        <a:tabLst/>
                      </a:pPr>
                      <a:r>
                        <a:rPr kumimoji="0" lang="en-GB" sz="2400" b="1" i="0" u="sng" strike="noStrike" cap="none" normalizeH="0" baseline="0" dirty="0" err="1">
                          <a:ln>
                            <a:noFill/>
                          </a:ln>
                          <a:solidFill>
                            <a:srgbClr val="000000"/>
                          </a:solidFill>
                          <a:effectLst/>
                          <a:latin typeface="Arial Narrow" pitchFamily="34" charset="0"/>
                        </a:rPr>
                        <a:t>Méthodes</a:t>
                      </a:r>
                      <a:r>
                        <a:rPr kumimoji="0" lang="en-GB" sz="2400" b="1" i="0" u="sng" strike="noStrike" cap="none" normalizeH="0" baseline="0" dirty="0">
                          <a:ln>
                            <a:noFill/>
                          </a:ln>
                          <a:solidFill>
                            <a:srgbClr val="000000"/>
                          </a:solidFill>
                          <a:effectLst/>
                          <a:latin typeface="Arial Narrow" pitchFamily="34" charset="0"/>
                        </a:rPr>
                        <a:t> </a:t>
                      </a:r>
                      <a:r>
                        <a:rPr kumimoji="0" lang="en-GB" sz="2400" b="1" i="0" u="sng" strike="noStrike" cap="none" normalizeH="0" baseline="0" dirty="0" err="1">
                          <a:ln>
                            <a:noFill/>
                          </a:ln>
                          <a:solidFill>
                            <a:srgbClr val="000000"/>
                          </a:solidFill>
                          <a:effectLst/>
                          <a:latin typeface="Arial Narrow" pitchFamily="34" charset="0"/>
                        </a:rPr>
                        <a:t>d'authentification</a:t>
                      </a:r>
                      <a:r>
                        <a:rPr kumimoji="0" lang="en-GB" sz="2400" b="1" i="0" u="sng" strike="noStrike" cap="none" normalizeH="0" baseline="0" dirty="0">
                          <a:ln>
                            <a:noFill/>
                          </a:ln>
                          <a:solidFill>
                            <a:srgbClr val="000000"/>
                          </a:solidFill>
                          <a:effectLst/>
                          <a:latin typeface="Arial Narrow" pitchFamily="34" charset="0"/>
                        </a:rPr>
                        <a:t> 802.1x</a:t>
                      </a:r>
                      <a:endParaRPr kumimoji="0" lang="en-US" sz="2400" b="1" i="0" u="sng" strike="noStrike" cap="none" normalizeH="0" baseline="0" dirty="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GB" sz="2400" b="1" i="0" u="sng" strike="noStrike" cap="none" normalizeH="0" baseline="0" dirty="0">
                          <a:ln>
                            <a:noFill/>
                          </a:ln>
                          <a:solidFill>
                            <a:srgbClr val="000000"/>
                          </a:solidFill>
                          <a:effectLst/>
                          <a:latin typeface="Arial Narrow" pitchFamily="34" charset="0"/>
                        </a:rPr>
                        <a:t>Description</a:t>
                      </a:r>
                      <a:endParaRPr kumimoji="0" lang="en-US" sz="2400" b="1" i="0" u="sng" strike="noStrike" cap="none" normalizeH="0" baseline="0" dirty="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rgbClr val="B3C8DF"/>
                    </a:solidFill>
                  </a:tcPr>
                </a:tc>
                <a:extLst>
                  <a:ext uri="{0D108BD9-81ED-4DB2-BD59-A6C34878D82A}">
                    <a16:rowId xmlns:a16="http://schemas.microsoft.com/office/drawing/2014/main" val="10000"/>
                  </a:ext>
                </a:extLst>
              </a:tr>
              <a:tr h="1403374">
                <a:tc>
                  <a:txBody>
                    <a:bodyPr/>
                    <a:lstStyle/>
                    <a:p>
                      <a:pPr marL="169863" marR="0" lvl="0" indent="-169863" algn="l" defTabSz="914400" rtl="0" eaLnBrk="0" fontAlgn="base" latinLnBrk="0" hangingPunct="0">
                        <a:lnSpc>
                          <a:spcPct val="90000"/>
                        </a:lnSpc>
                        <a:spcBef>
                          <a:spcPct val="35000"/>
                        </a:spcBef>
                        <a:spcAft>
                          <a:spcPct val="0"/>
                        </a:spcAft>
                        <a:buClrTx/>
                        <a:buSzPct val="70000"/>
                        <a:buFontTx/>
                        <a:buNone/>
                        <a:tabLst/>
                      </a:pPr>
                      <a:r>
                        <a:rPr kumimoji="0" lang="en-GB" sz="2400" b="1" i="0" u="none" strike="noStrike" cap="none" normalizeH="0" baseline="0" dirty="0">
                          <a:ln>
                            <a:noFill/>
                          </a:ln>
                          <a:solidFill>
                            <a:srgbClr val="000000"/>
                          </a:solidFill>
                          <a:effectLst/>
                          <a:latin typeface="Arial Narrow" pitchFamily="34" charset="0"/>
                        </a:rPr>
                        <a:t>EAP-MS-CHAP v2</a:t>
                      </a:r>
                      <a:endParaRPr kumimoji="0" lang="en-US" sz="2400" b="1" i="0" u="none" strike="noStrike" cap="none" normalizeH="0" baseline="0" dirty="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228600" marR="0" lvl="0" indent="-228600" algn="l" defTabSz="914400" rtl="0" eaLnBrk="0" fontAlgn="base" latinLnBrk="0" hangingPunct="0">
                        <a:lnSpc>
                          <a:spcPct val="90000"/>
                        </a:lnSpc>
                        <a:spcBef>
                          <a:spcPct val="15000"/>
                        </a:spcBef>
                        <a:spcAft>
                          <a:spcPct val="0"/>
                        </a:spcAft>
                        <a:buClrTx/>
                        <a:buSzPct val="70000"/>
                        <a:buFontTx/>
                        <a:buBlip>
                          <a:blip r:embed="rId4"/>
                        </a:buBlip>
                        <a:tabLst/>
                      </a:pPr>
                      <a:r>
                        <a:rPr kumimoji="0" lang="en-GB" sz="2200" b="0" i="0" u="none" strike="noStrike" cap="none" normalizeH="0" baseline="0" dirty="0" err="1">
                          <a:ln>
                            <a:noFill/>
                          </a:ln>
                          <a:solidFill>
                            <a:srgbClr val="000000"/>
                          </a:solidFill>
                          <a:effectLst/>
                          <a:latin typeface="Arial Narrow" pitchFamily="34" charset="0"/>
                        </a:rPr>
                        <a:t>Authentification</a:t>
                      </a:r>
                      <a:r>
                        <a:rPr kumimoji="0" lang="en-GB" sz="2200" b="0" i="0" u="none" strike="noStrike" cap="none" normalizeH="0" baseline="0" dirty="0">
                          <a:ln>
                            <a:noFill/>
                          </a:ln>
                          <a:solidFill>
                            <a:srgbClr val="000000"/>
                          </a:solidFill>
                          <a:effectLst/>
                          <a:latin typeface="Arial Narrow" pitchFamily="34" charset="0"/>
                        </a:rPr>
                        <a:t> </a:t>
                      </a:r>
                      <a:r>
                        <a:rPr kumimoji="0" lang="en-GB" sz="2200" b="0" i="0" u="none" strike="noStrike" cap="none" normalizeH="0" baseline="0" dirty="0" err="1">
                          <a:ln>
                            <a:noFill/>
                          </a:ln>
                          <a:solidFill>
                            <a:srgbClr val="000000"/>
                          </a:solidFill>
                          <a:effectLst/>
                          <a:latin typeface="Arial Narrow" pitchFamily="34" charset="0"/>
                        </a:rPr>
                        <a:t>mutuelle</a:t>
                      </a:r>
                      <a:endParaRPr kumimoji="0" lang="en-US" sz="2200" b="0" i="0" u="none" strike="noStrike" cap="none" normalizeH="0" baseline="0" dirty="0">
                        <a:ln>
                          <a:noFill/>
                        </a:ln>
                        <a:solidFill>
                          <a:schemeClr val="tx1"/>
                        </a:solidFill>
                        <a:effectLst/>
                        <a:latin typeface="Arial Narrow" pitchFamily="34" charset="0"/>
                      </a:endParaRPr>
                    </a:p>
                    <a:p>
                      <a:pPr marL="228600" marR="0" lvl="0" indent="-228600" algn="l" defTabSz="914400" rtl="0" eaLnBrk="0" fontAlgn="base" latinLnBrk="0" hangingPunct="0">
                        <a:lnSpc>
                          <a:spcPct val="90000"/>
                        </a:lnSpc>
                        <a:spcBef>
                          <a:spcPct val="15000"/>
                        </a:spcBef>
                        <a:spcAft>
                          <a:spcPct val="0"/>
                        </a:spcAft>
                        <a:buClrTx/>
                        <a:buSzPct val="70000"/>
                        <a:buFontTx/>
                        <a:buBlip>
                          <a:blip r:embed="rId4"/>
                        </a:buBlip>
                        <a:tabLst/>
                      </a:pPr>
                      <a:r>
                        <a:rPr kumimoji="0" lang="en-GB" sz="2200" b="0" i="0" u="none" strike="noStrike" cap="none" normalizeH="0" baseline="0" dirty="0">
                          <a:ln>
                            <a:noFill/>
                          </a:ln>
                          <a:solidFill>
                            <a:srgbClr val="000000"/>
                          </a:solidFill>
                          <a:effectLst/>
                          <a:latin typeface="Arial Narrow" pitchFamily="34" charset="0"/>
                        </a:rPr>
                        <a:t>Utilise des </a:t>
                      </a:r>
                      <a:r>
                        <a:rPr kumimoji="0" lang="en-GB" sz="2200" b="0" i="0" u="none" strike="noStrike" cap="none" normalizeH="0" baseline="0" dirty="0" err="1">
                          <a:ln>
                            <a:noFill/>
                          </a:ln>
                          <a:solidFill>
                            <a:srgbClr val="000000"/>
                          </a:solidFill>
                          <a:effectLst/>
                          <a:latin typeface="Arial Narrow" pitchFamily="34" charset="0"/>
                        </a:rPr>
                        <a:t>certificats</a:t>
                      </a:r>
                      <a:r>
                        <a:rPr kumimoji="0" lang="en-GB" sz="2200" b="0" i="0" u="none" strike="noStrike" cap="none" normalizeH="0" baseline="0" dirty="0">
                          <a:ln>
                            <a:noFill/>
                          </a:ln>
                          <a:solidFill>
                            <a:srgbClr val="000000"/>
                          </a:solidFill>
                          <a:effectLst/>
                          <a:latin typeface="Arial Narrow" pitchFamily="34" charset="0"/>
                        </a:rPr>
                        <a:t> pour </a:t>
                      </a:r>
                      <a:r>
                        <a:rPr kumimoji="0" lang="en-GB" sz="2200" b="0" i="0" u="none" strike="noStrike" cap="none" normalizeH="0" baseline="0" dirty="0" err="1">
                          <a:ln>
                            <a:noFill/>
                          </a:ln>
                          <a:solidFill>
                            <a:srgbClr val="000000"/>
                          </a:solidFill>
                          <a:effectLst/>
                          <a:latin typeface="Arial Narrow" pitchFamily="34" charset="0"/>
                        </a:rPr>
                        <a:t>l'authentification</a:t>
                      </a:r>
                      <a:r>
                        <a:rPr kumimoji="0" lang="en-GB" sz="2200" b="0" i="0" u="none" strike="noStrike" cap="none" normalizeH="0" baseline="0" dirty="0">
                          <a:ln>
                            <a:noFill/>
                          </a:ln>
                          <a:solidFill>
                            <a:srgbClr val="000000"/>
                          </a:solidFill>
                          <a:effectLst/>
                          <a:latin typeface="Arial Narrow" pitchFamily="34" charset="0"/>
                        </a:rPr>
                        <a:t> du </a:t>
                      </a:r>
                      <a:r>
                        <a:rPr kumimoji="0" lang="en-GB" sz="2200" b="0" i="0" u="none" strike="noStrike" cap="none" normalizeH="0" baseline="0" dirty="0" err="1">
                          <a:ln>
                            <a:noFill/>
                          </a:ln>
                          <a:solidFill>
                            <a:srgbClr val="000000"/>
                          </a:solidFill>
                          <a:effectLst/>
                          <a:latin typeface="Arial Narrow" pitchFamily="34" charset="0"/>
                        </a:rPr>
                        <a:t>serveur</a:t>
                      </a:r>
                      <a:r>
                        <a:rPr kumimoji="0" lang="en-GB" sz="2200" b="0" i="0" u="none" strike="noStrike" cap="none" normalizeH="0" baseline="0" dirty="0">
                          <a:ln>
                            <a:noFill/>
                          </a:ln>
                          <a:solidFill>
                            <a:srgbClr val="000000"/>
                          </a:solidFill>
                          <a:effectLst/>
                          <a:latin typeface="Arial Narrow" pitchFamily="34" charset="0"/>
                        </a:rPr>
                        <a:t> et des </a:t>
                      </a:r>
                      <a:r>
                        <a:rPr kumimoji="0" lang="en-GB" sz="2200" b="0" i="0" u="none" strike="noStrike" cap="none" normalizeH="0" baseline="0" dirty="0" err="1">
                          <a:ln>
                            <a:noFill/>
                          </a:ln>
                          <a:solidFill>
                            <a:srgbClr val="000000"/>
                          </a:solidFill>
                          <a:effectLst/>
                          <a:latin typeface="Arial Narrow" pitchFamily="34" charset="0"/>
                        </a:rPr>
                        <a:t>informations</a:t>
                      </a:r>
                      <a:r>
                        <a:rPr kumimoji="0" lang="en-GB" sz="2200" b="0" i="0" u="none" strike="noStrike" cap="none" normalizeH="0" baseline="0" dirty="0">
                          <a:ln>
                            <a:noFill/>
                          </a:ln>
                          <a:solidFill>
                            <a:srgbClr val="000000"/>
                          </a:solidFill>
                          <a:effectLst/>
                          <a:latin typeface="Arial Narrow" pitchFamily="34" charset="0"/>
                        </a:rPr>
                        <a:t> </a:t>
                      </a:r>
                      <a:r>
                        <a:rPr kumimoji="0" lang="en-GB" sz="2200" b="0" i="0" u="none" strike="noStrike" cap="none" normalizeH="0" baseline="0" dirty="0" err="1">
                          <a:ln>
                            <a:noFill/>
                          </a:ln>
                          <a:solidFill>
                            <a:srgbClr val="000000"/>
                          </a:solidFill>
                          <a:effectLst/>
                          <a:latin typeface="Arial Narrow" pitchFamily="34" charset="0"/>
                        </a:rPr>
                        <a:t>d'identification</a:t>
                      </a:r>
                      <a:r>
                        <a:rPr kumimoji="0" lang="en-GB" sz="2200" b="0" i="0" u="none" strike="noStrike" cap="none" normalizeH="0" baseline="0" dirty="0">
                          <a:ln>
                            <a:noFill/>
                          </a:ln>
                          <a:solidFill>
                            <a:srgbClr val="000000"/>
                          </a:solidFill>
                          <a:effectLst/>
                          <a:latin typeface="Arial Narrow" pitchFamily="34" charset="0"/>
                        </a:rPr>
                        <a:t> </a:t>
                      </a:r>
                      <a:r>
                        <a:rPr kumimoji="0" lang="en-GB" sz="2200" b="0" i="0" u="none" strike="noStrike" cap="none" normalizeH="0" baseline="0" dirty="0" err="1">
                          <a:ln>
                            <a:noFill/>
                          </a:ln>
                          <a:solidFill>
                            <a:srgbClr val="000000"/>
                          </a:solidFill>
                          <a:effectLst/>
                          <a:latin typeface="Arial Narrow" pitchFamily="34" charset="0"/>
                        </a:rPr>
                        <a:t>basées</a:t>
                      </a:r>
                      <a:r>
                        <a:rPr kumimoji="0" lang="en-GB" sz="2200" b="0" i="0" u="none" strike="noStrike" cap="none" normalizeH="0" baseline="0" dirty="0">
                          <a:ln>
                            <a:noFill/>
                          </a:ln>
                          <a:solidFill>
                            <a:srgbClr val="000000"/>
                          </a:solidFill>
                          <a:effectLst/>
                          <a:latin typeface="Arial Narrow" pitchFamily="34" charset="0"/>
                        </a:rPr>
                        <a:t> </a:t>
                      </a:r>
                      <a:r>
                        <a:rPr kumimoji="0" lang="en-GB" sz="2200" b="0" i="0" u="none" strike="noStrike" cap="none" normalizeH="0" baseline="0" dirty="0" err="1">
                          <a:ln>
                            <a:noFill/>
                          </a:ln>
                          <a:solidFill>
                            <a:srgbClr val="000000"/>
                          </a:solidFill>
                          <a:effectLst/>
                          <a:latin typeface="Arial Narrow" pitchFamily="34" charset="0"/>
                        </a:rPr>
                        <a:t>sur</a:t>
                      </a:r>
                      <a:r>
                        <a:rPr kumimoji="0" lang="en-GB" sz="2200" b="0" i="0" u="none" strike="noStrike" cap="none" normalizeH="0" baseline="0" dirty="0">
                          <a:ln>
                            <a:noFill/>
                          </a:ln>
                          <a:solidFill>
                            <a:srgbClr val="000000"/>
                          </a:solidFill>
                          <a:effectLst/>
                          <a:latin typeface="Arial Narrow" pitchFamily="34" charset="0"/>
                        </a:rPr>
                        <a:t> un mot de </a:t>
                      </a:r>
                      <a:r>
                        <a:rPr kumimoji="0" lang="en-GB" sz="2200" b="0" i="0" u="none" strike="noStrike" cap="none" normalizeH="0" baseline="0" dirty="0" err="1">
                          <a:ln>
                            <a:noFill/>
                          </a:ln>
                          <a:solidFill>
                            <a:srgbClr val="000000"/>
                          </a:solidFill>
                          <a:effectLst/>
                          <a:latin typeface="Arial Narrow" pitchFamily="34" charset="0"/>
                        </a:rPr>
                        <a:t>passe</a:t>
                      </a:r>
                      <a:r>
                        <a:rPr kumimoji="0" lang="en-GB" sz="2200" b="0" i="0" u="none" strike="noStrike" cap="none" normalizeH="0" baseline="0" dirty="0">
                          <a:ln>
                            <a:noFill/>
                          </a:ln>
                          <a:solidFill>
                            <a:srgbClr val="000000"/>
                          </a:solidFill>
                          <a:effectLst/>
                          <a:latin typeface="Arial Narrow" pitchFamily="34" charset="0"/>
                        </a:rPr>
                        <a:t> pour </a:t>
                      </a:r>
                      <a:r>
                        <a:rPr kumimoji="0" lang="en-GB" sz="2200" b="0" i="0" u="none" strike="noStrike" cap="none" normalizeH="0" baseline="0" dirty="0" err="1">
                          <a:ln>
                            <a:noFill/>
                          </a:ln>
                          <a:solidFill>
                            <a:srgbClr val="000000"/>
                          </a:solidFill>
                          <a:effectLst/>
                          <a:latin typeface="Arial Narrow" pitchFamily="34" charset="0"/>
                        </a:rPr>
                        <a:t>l'authentification</a:t>
                      </a:r>
                      <a:r>
                        <a:rPr kumimoji="0" lang="en-GB" sz="2200" b="0" i="0" u="none" strike="noStrike" cap="none" normalizeH="0" baseline="0" dirty="0">
                          <a:ln>
                            <a:noFill/>
                          </a:ln>
                          <a:solidFill>
                            <a:srgbClr val="000000"/>
                          </a:solidFill>
                          <a:effectLst/>
                          <a:latin typeface="Arial Narrow" pitchFamily="34" charset="0"/>
                        </a:rPr>
                        <a:t> du client</a:t>
                      </a:r>
                      <a:endParaRPr kumimoji="0" lang="en-US" sz="2200" b="0" i="0" u="none" strike="noStrike" cap="none" normalizeH="0" baseline="0" dirty="0">
                        <a:ln>
                          <a:noFill/>
                        </a:ln>
                        <a:solidFill>
                          <a:srgbClr val="000000"/>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1715235">
                <a:tc>
                  <a:txBody>
                    <a:bodyPr/>
                    <a:lstStyle/>
                    <a:p>
                      <a:pPr marL="169863" marR="0" lvl="0" indent="-169863" algn="l" defTabSz="914400" rtl="0" eaLnBrk="0" fontAlgn="base" latinLnBrk="0" hangingPunct="0">
                        <a:lnSpc>
                          <a:spcPct val="90000"/>
                        </a:lnSpc>
                        <a:spcBef>
                          <a:spcPct val="35000"/>
                        </a:spcBef>
                        <a:spcAft>
                          <a:spcPct val="0"/>
                        </a:spcAft>
                        <a:buClrTx/>
                        <a:buSzPct val="70000"/>
                        <a:buFontTx/>
                        <a:buNone/>
                        <a:tabLst/>
                      </a:pPr>
                      <a:r>
                        <a:rPr kumimoji="0" lang="en-GB" sz="2400" b="1" i="0" u="none" strike="noStrike" cap="none" normalizeH="0" baseline="0" dirty="0">
                          <a:ln>
                            <a:noFill/>
                          </a:ln>
                          <a:solidFill>
                            <a:srgbClr val="000000"/>
                          </a:solidFill>
                          <a:effectLst/>
                          <a:latin typeface="Arial Narrow" pitchFamily="34" charset="0"/>
                        </a:rPr>
                        <a:t>EAP-TLS</a:t>
                      </a:r>
                      <a:endParaRPr kumimoji="0" lang="en-US" sz="2400" b="1" i="0" u="none" strike="noStrike" cap="none" normalizeH="0" baseline="0" dirty="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228600" marR="0" lvl="0" indent="-228600" algn="l" defTabSz="914400" rtl="0" eaLnBrk="0" fontAlgn="base" latinLnBrk="0" hangingPunct="0">
                        <a:lnSpc>
                          <a:spcPct val="90000"/>
                        </a:lnSpc>
                        <a:spcBef>
                          <a:spcPct val="15000"/>
                        </a:spcBef>
                        <a:spcAft>
                          <a:spcPct val="0"/>
                        </a:spcAft>
                        <a:buClrTx/>
                        <a:buSzPct val="70000"/>
                        <a:buFontTx/>
                        <a:buBlip>
                          <a:blip r:embed="rId4"/>
                        </a:buBlip>
                        <a:tabLst/>
                      </a:pPr>
                      <a:r>
                        <a:rPr kumimoji="0" lang="en-GB" sz="2200" b="0" i="0" u="none" strike="noStrike" cap="none" normalizeH="0" baseline="0" dirty="0" err="1">
                          <a:ln>
                            <a:noFill/>
                          </a:ln>
                          <a:solidFill>
                            <a:srgbClr val="000000"/>
                          </a:solidFill>
                          <a:effectLst/>
                          <a:latin typeface="Arial Narrow" pitchFamily="34" charset="0"/>
                        </a:rPr>
                        <a:t>Effectue</a:t>
                      </a:r>
                      <a:r>
                        <a:rPr kumimoji="0" lang="en-GB" sz="2200" b="0" i="0" u="none" strike="noStrike" cap="none" normalizeH="0" baseline="0" dirty="0">
                          <a:ln>
                            <a:noFill/>
                          </a:ln>
                          <a:solidFill>
                            <a:srgbClr val="000000"/>
                          </a:solidFill>
                          <a:effectLst/>
                          <a:latin typeface="Arial Narrow" pitchFamily="34" charset="0"/>
                        </a:rPr>
                        <a:t> </a:t>
                      </a:r>
                      <a:r>
                        <a:rPr kumimoji="0" lang="en-GB" sz="2200" b="0" i="0" u="none" strike="noStrike" cap="none" normalizeH="0" baseline="0" dirty="0" err="1">
                          <a:ln>
                            <a:noFill/>
                          </a:ln>
                          <a:solidFill>
                            <a:srgbClr val="000000"/>
                          </a:solidFill>
                          <a:effectLst/>
                          <a:latin typeface="Arial Narrow" pitchFamily="34" charset="0"/>
                        </a:rPr>
                        <a:t>une</a:t>
                      </a:r>
                      <a:r>
                        <a:rPr kumimoji="0" lang="en-GB" sz="2200" b="0" i="0" u="none" strike="noStrike" cap="none" normalizeH="0" baseline="0" dirty="0">
                          <a:ln>
                            <a:noFill/>
                          </a:ln>
                          <a:solidFill>
                            <a:srgbClr val="000000"/>
                          </a:solidFill>
                          <a:effectLst/>
                          <a:latin typeface="Arial Narrow" pitchFamily="34" charset="0"/>
                        </a:rPr>
                        <a:t> </a:t>
                      </a:r>
                      <a:r>
                        <a:rPr kumimoji="0" lang="en-GB" sz="2200" b="0" i="0" u="none" strike="noStrike" cap="none" normalizeH="0" baseline="0" dirty="0" err="1">
                          <a:ln>
                            <a:noFill/>
                          </a:ln>
                          <a:solidFill>
                            <a:srgbClr val="000000"/>
                          </a:solidFill>
                          <a:effectLst/>
                          <a:latin typeface="Arial Narrow" pitchFamily="34" charset="0"/>
                        </a:rPr>
                        <a:t>authentification</a:t>
                      </a:r>
                      <a:r>
                        <a:rPr kumimoji="0" lang="en-GB" sz="2200" b="0" i="0" u="none" strike="noStrike" cap="none" normalizeH="0" baseline="0" dirty="0">
                          <a:ln>
                            <a:noFill/>
                          </a:ln>
                          <a:solidFill>
                            <a:srgbClr val="000000"/>
                          </a:solidFill>
                          <a:effectLst/>
                          <a:latin typeface="Arial Narrow" pitchFamily="34" charset="0"/>
                        </a:rPr>
                        <a:t> </a:t>
                      </a:r>
                      <a:r>
                        <a:rPr kumimoji="0" lang="en-GB" sz="2200" b="0" i="0" u="none" strike="noStrike" cap="none" normalizeH="0" baseline="0" dirty="0" err="1">
                          <a:ln>
                            <a:noFill/>
                          </a:ln>
                          <a:solidFill>
                            <a:srgbClr val="000000"/>
                          </a:solidFill>
                          <a:effectLst/>
                          <a:latin typeface="Arial Narrow" pitchFamily="34" charset="0"/>
                        </a:rPr>
                        <a:t>mutuelle</a:t>
                      </a:r>
                      <a:r>
                        <a:rPr kumimoji="0" lang="en-GB" sz="2200" b="0" i="0" u="none" strike="noStrike" cap="none" normalizeH="0" baseline="0" dirty="0">
                          <a:ln>
                            <a:noFill/>
                          </a:ln>
                          <a:solidFill>
                            <a:srgbClr val="000000"/>
                          </a:solidFill>
                          <a:effectLst/>
                          <a:latin typeface="Arial Narrow" pitchFamily="34" charset="0"/>
                        </a:rPr>
                        <a:t>. </a:t>
                      </a:r>
                      <a:r>
                        <a:rPr kumimoji="0" lang="en-GB" sz="2200" b="0" i="0" u="none" strike="noStrike" cap="none" normalizeH="0" baseline="0" dirty="0" err="1">
                          <a:ln>
                            <a:noFill/>
                          </a:ln>
                          <a:solidFill>
                            <a:srgbClr val="000000"/>
                          </a:solidFill>
                          <a:effectLst/>
                          <a:latin typeface="Arial Narrow" pitchFamily="34" charset="0"/>
                        </a:rPr>
                        <a:t>Méthode</a:t>
                      </a:r>
                      <a:r>
                        <a:rPr kumimoji="0" lang="en-GB" sz="2200" b="0" i="0" u="none" strike="noStrike" cap="none" normalizeH="0" baseline="0" dirty="0">
                          <a:ln>
                            <a:noFill/>
                          </a:ln>
                          <a:solidFill>
                            <a:srgbClr val="000000"/>
                          </a:solidFill>
                          <a:effectLst/>
                          <a:latin typeface="Arial Narrow" pitchFamily="34" charset="0"/>
                        </a:rPr>
                        <a:t> la plus </a:t>
                      </a:r>
                      <a:r>
                        <a:rPr kumimoji="0" lang="en-GB" sz="2200" b="0" i="0" u="none" strike="noStrike" cap="none" normalizeH="0" baseline="0" dirty="0" err="1">
                          <a:ln>
                            <a:noFill/>
                          </a:ln>
                          <a:solidFill>
                            <a:srgbClr val="000000"/>
                          </a:solidFill>
                          <a:effectLst/>
                          <a:latin typeface="Arial Narrow" pitchFamily="34" charset="0"/>
                        </a:rPr>
                        <a:t>puissante</a:t>
                      </a:r>
                      <a:r>
                        <a:rPr kumimoji="0" lang="en-GB" sz="2200" b="0" i="0" u="none" strike="noStrike" cap="none" normalizeH="0" baseline="0" dirty="0">
                          <a:ln>
                            <a:noFill/>
                          </a:ln>
                          <a:solidFill>
                            <a:srgbClr val="000000"/>
                          </a:solidFill>
                          <a:effectLst/>
                          <a:latin typeface="Arial Narrow" pitchFamily="34" charset="0"/>
                        </a:rPr>
                        <a:t> en </a:t>
                      </a:r>
                      <a:r>
                        <a:rPr kumimoji="0" lang="en-GB" sz="2200" b="0" i="0" u="none" strike="noStrike" cap="none" normalizeH="0" baseline="0" dirty="0" err="1">
                          <a:ln>
                            <a:noFill/>
                          </a:ln>
                          <a:solidFill>
                            <a:srgbClr val="000000"/>
                          </a:solidFill>
                          <a:effectLst/>
                          <a:latin typeface="Arial Narrow" pitchFamily="34" charset="0"/>
                        </a:rPr>
                        <a:t>matière</a:t>
                      </a:r>
                      <a:r>
                        <a:rPr kumimoji="0" lang="en-GB" sz="2200" b="0" i="0" u="none" strike="noStrike" cap="none" normalizeH="0" baseline="0" dirty="0">
                          <a:ln>
                            <a:noFill/>
                          </a:ln>
                          <a:solidFill>
                            <a:srgbClr val="000000"/>
                          </a:solidFill>
                          <a:effectLst/>
                          <a:latin typeface="Arial Narrow" pitchFamily="34" charset="0"/>
                        </a:rPr>
                        <a:t> </a:t>
                      </a:r>
                      <a:r>
                        <a:rPr kumimoji="0" lang="en-GB" sz="2200" b="0" i="0" u="none" strike="noStrike" cap="none" normalizeH="0" baseline="0" dirty="0" err="1">
                          <a:ln>
                            <a:noFill/>
                          </a:ln>
                          <a:solidFill>
                            <a:srgbClr val="000000"/>
                          </a:solidFill>
                          <a:effectLst/>
                          <a:latin typeface="Arial Narrow" pitchFamily="34" charset="0"/>
                        </a:rPr>
                        <a:t>d'authentification</a:t>
                      </a:r>
                      <a:r>
                        <a:rPr kumimoji="0" lang="en-GB" sz="2200" b="0" i="0" u="none" strike="noStrike" cap="none" normalizeH="0" baseline="0" dirty="0">
                          <a:ln>
                            <a:noFill/>
                          </a:ln>
                          <a:solidFill>
                            <a:srgbClr val="000000"/>
                          </a:solidFill>
                          <a:effectLst/>
                          <a:latin typeface="Arial Narrow" pitchFamily="34" charset="0"/>
                        </a:rPr>
                        <a:t> et de </a:t>
                      </a:r>
                      <a:r>
                        <a:rPr kumimoji="0" lang="en-GB" sz="2200" b="0" i="0" u="none" strike="noStrike" cap="none" normalizeH="0" baseline="0" dirty="0" err="1">
                          <a:ln>
                            <a:noFill/>
                          </a:ln>
                          <a:solidFill>
                            <a:srgbClr val="000000"/>
                          </a:solidFill>
                          <a:effectLst/>
                          <a:latin typeface="Arial Narrow" pitchFamily="34" charset="0"/>
                        </a:rPr>
                        <a:t>détermination</a:t>
                      </a:r>
                      <a:r>
                        <a:rPr kumimoji="0" lang="en-GB" sz="2200" b="0" i="0" u="none" strike="noStrike" cap="none" normalizeH="0" baseline="0" dirty="0">
                          <a:ln>
                            <a:noFill/>
                          </a:ln>
                          <a:solidFill>
                            <a:srgbClr val="000000"/>
                          </a:solidFill>
                          <a:effectLst/>
                          <a:latin typeface="Arial Narrow" pitchFamily="34" charset="0"/>
                        </a:rPr>
                        <a:t> des </a:t>
                      </a:r>
                      <a:r>
                        <a:rPr kumimoji="0" lang="en-GB" sz="2200" b="0" i="0" u="none" strike="noStrike" cap="none" normalizeH="0" baseline="0" dirty="0" err="1">
                          <a:ln>
                            <a:noFill/>
                          </a:ln>
                          <a:solidFill>
                            <a:srgbClr val="000000"/>
                          </a:solidFill>
                          <a:effectLst/>
                          <a:latin typeface="Arial Narrow" pitchFamily="34" charset="0"/>
                        </a:rPr>
                        <a:t>clés</a:t>
                      </a:r>
                      <a:endParaRPr kumimoji="0" lang="en-US" sz="2200" b="0" i="0" u="none" strike="noStrike" cap="none" normalizeH="0" baseline="0" dirty="0">
                        <a:ln>
                          <a:noFill/>
                        </a:ln>
                        <a:solidFill>
                          <a:schemeClr val="tx1"/>
                        </a:solidFill>
                        <a:effectLst/>
                        <a:latin typeface="Arial Narrow" pitchFamily="34" charset="0"/>
                      </a:endParaRPr>
                    </a:p>
                    <a:p>
                      <a:pPr marL="228600" marR="0" lvl="0" indent="-228600" algn="l" defTabSz="914400" rtl="0" eaLnBrk="0" fontAlgn="base" latinLnBrk="0" hangingPunct="0">
                        <a:lnSpc>
                          <a:spcPct val="90000"/>
                        </a:lnSpc>
                        <a:spcBef>
                          <a:spcPct val="15000"/>
                        </a:spcBef>
                        <a:spcAft>
                          <a:spcPct val="0"/>
                        </a:spcAft>
                        <a:buClrTx/>
                        <a:buSzPct val="70000"/>
                        <a:buFontTx/>
                        <a:buBlip>
                          <a:blip r:embed="rId4"/>
                        </a:buBlip>
                        <a:tabLst/>
                      </a:pPr>
                      <a:r>
                        <a:rPr kumimoji="0" lang="en-GB" sz="2200" b="0" i="0" u="none" strike="noStrike" cap="none" normalizeH="0" baseline="0" dirty="0">
                          <a:ln>
                            <a:noFill/>
                          </a:ln>
                          <a:solidFill>
                            <a:srgbClr val="000000"/>
                          </a:solidFill>
                          <a:effectLst/>
                          <a:latin typeface="Arial Narrow" pitchFamily="34" charset="0"/>
                        </a:rPr>
                        <a:t>Utilise des </a:t>
                      </a:r>
                      <a:r>
                        <a:rPr kumimoji="0" lang="en-GB" sz="2200" b="0" i="0" u="none" strike="noStrike" cap="none" normalizeH="0" baseline="0" dirty="0" err="1">
                          <a:ln>
                            <a:noFill/>
                          </a:ln>
                          <a:solidFill>
                            <a:srgbClr val="000000"/>
                          </a:solidFill>
                          <a:effectLst/>
                          <a:latin typeface="Arial Narrow" pitchFamily="34" charset="0"/>
                        </a:rPr>
                        <a:t>certificats</a:t>
                      </a:r>
                      <a:r>
                        <a:rPr kumimoji="0" lang="en-GB" sz="2200" b="0" i="0" u="none" strike="noStrike" cap="none" normalizeH="0" baseline="0" dirty="0">
                          <a:ln>
                            <a:noFill/>
                          </a:ln>
                          <a:solidFill>
                            <a:srgbClr val="000000"/>
                          </a:solidFill>
                          <a:effectLst/>
                          <a:latin typeface="Arial Narrow" pitchFamily="34" charset="0"/>
                        </a:rPr>
                        <a:t> pour </a:t>
                      </a:r>
                      <a:r>
                        <a:rPr kumimoji="0" lang="en-GB" sz="2200" b="0" i="0" u="none" strike="noStrike" cap="none" normalizeH="0" baseline="0" dirty="0" err="1">
                          <a:ln>
                            <a:noFill/>
                          </a:ln>
                          <a:solidFill>
                            <a:srgbClr val="000000"/>
                          </a:solidFill>
                          <a:effectLst/>
                          <a:latin typeface="Arial Narrow" pitchFamily="34" charset="0"/>
                        </a:rPr>
                        <a:t>l'authentification</a:t>
                      </a:r>
                      <a:r>
                        <a:rPr kumimoji="0" lang="en-GB" sz="2200" b="0" i="0" u="none" strike="noStrike" cap="none" normalizeH="0" baseline="0" dirty="0">
                          <a:ln>
                            <a:noFill/>
                          </a:ln>
                          <a:solidFill>
                            <a:srgbClr val="000000"/>
                          </a:solidFill>
                          <a:effectLst/>
                          <a:latin typeface="Arial Narrow" pitchFamily="34" charset="0"/>
                        </a:rPr>
                        <a:t> du </a:t>
                      </a:r>
                      <a:br>
                        <a:rPr kumimoji="0" lang="en-GB" sz="2200" b="0" i="0" u="none" strike="noStrike" cap="none" normalizeH="0" baseline="0" dirty="0">
                          <a:ln>
                            <a:noFill/>
                          </a:ln>
                          <a:solidFill>
                            <a:srgbClr val="000000"/>
                          </a:solidFill>
                          <a:effectLst/>
                          <a:latin typeface="Arial Narrow" pitchFamily="34" charset="0"/>
                        </a:rPr>
                      </a:br>
                      <a:r>
                        <a:rPr kumimoji="0" lang="en-GB" sz="2200" b="0" i="0" u="none" strike="noStrike" cap="none" normalizeH="0" baseline="0" dirty="0">
                          <a:ln>
                            <a:noFill/>
                          </a:ln>
                          <a:solidFill>
                            <a:srgbClr val="000000"/>
                          </a:solidFill>
                          <a:effectLst/>
                          <a:latin typeface="Arial Narrow" pitchFamily="34" charset="0"/>
                        </a:rPr>
                        <a:t>client et du </a:t>
                      </a:r>
                      <a:r>
                        <a:rPr kumimoji="0" lang="en-GB" sz="2200" b="0" i="0" u="none" strike="noStrike" cap="none" normalizeH="0" baseline="0" dirty="0" err="1">
                          <a:ln>
                            <a:noFill/>
                          </a:ln>
                          <a:solidFill>
                            <a:srgbClr val="000000"/>
                          </a:solidFill>
                          <a:effectLst/>
                          <a:latin typeface="Arial Narrow" pitchFamily="34" charset="0"/>
                        </a:rPr>
                        <a:t>serveur</a:t>
                      </a:r>
                      <a:endParaRPr kumimoji="0" lang="en-US" sz="2200" b="0" i="0" u="none" strike="noStrike" cap="none" normalizeH="0" baseline="0" dirty="0">
                        <a:ln>
                          <a:noFill/>
                        </a:ln>
                        <a:solidFill>
                          <a:srgbClr val="000000"/>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1091513">
                <a:tc>
                  <a:txBody>
                    <a:bodyPr/>
                    <a:lstStyle/>
                    <a:p>
                      <a:pPr marL="169863" marR="0" lvl="0" indent="-169863" algn="l" defTabSz="914400" rtl="0" eaLnBrk="0" fontAlgn="base" latinLnBrk="0" hangingPunct="0">
                        <a:lnSpc>
                          <a:spcPct val="90000"/>
                        </a:lnSpc>
                        <a:spcBef>
                          <a:spcPct val="35000"/>
                        </a:spcBef>
                        <a:spcAft>
                          <a:spcPct val="0"/>
                        </a:spcAft>
                        <a:buClrTx/>
                        <a:buSzPct val="70000"/>
                        <a:buFontTx/>
                        <a:buNone/>
                        <a:tabLst/>
                      </a:pPr>
                      <a:r>
                        <a:rPr kumimoji="0" lang="en-GB" sz="2400" b="1" i="0" u="none" strike="noStrike" cap="none" normalizeH="0" baseline="0" dirty="0">
                          <a:ln>
                            <a:noFill/>
                          </a:ln>
                          <a:solidFill>
                            <a:srgbClr val="000000"/>
                          </a:solidFill>
                          <a:effectLst/>
                          <a:latin typeface="Arial Narrow" pitchFamily="34" charset="0"/>
                        </a:rPr>
                        <a:t>PEAP</a:t>
                      </a:r>
                      <a:endParaRPr kumimoji="0" lang="en-US" sz="2400" b="1" i="0" u="none" strike="noStrike" cap="none" normalizeH="0" baseline="0" dirty="0">
                        <a:ln>
                          <a:noFill/>
                        </a:ln>
                        <a:solidFill>
                          <a:schemeClr val="tx1"/>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gradFill rotWithShape="0">
                      <a:gsLst>
                        <a:gs pos="0">
                          <a:srgbClr val="EEEFD7"/>
                        </a:gs>
                        <a:gs pos="100000">
                          <a:srgbClr val="D5D69C"/>
                        </a:gs>
                      </a:gsLst>
                      <a:lin ang="0" scaled="1"/>
                    </a:gradFill>
                  </a:tcPr>
                </a:tc>
                <a:tc>
                  <a:txBody>
                    <a:bodyPr/>
                    <a:lstStyle/>
                    <a:p>
                      <a:pPr marL="228600" marR="0" lvl="0" indent="-228600" algn="l" defTabSz="914400" rtl="0" eaLnBrk="0" fontAlgn="base" latinLnBrk="0" hangingPunct="0">
                        <a:lnSpc>
                          <a:spcPct val="90000"/>
                        </a:lnSpc>
                        <a:spcBef>
                          <a:spcPct val="15000"/>
                        </a:spcBef>
                        <a:spcAft>
                          <a:spcPct val="0"/>
                        </a:spcAft>
                        <a:buClrTx/>
                        <a:buSzPct val="70000"/>
                        <a:buFontTx/>
                        <a:buBlip>
                          <a:blip r:embed="rId4"/>
                        </a:buBlip>
                        <a:tabLst/>
                      </a:pPr>
                      <a:r>
                        <a:rPr kumimoji="0" lang="en-GB" sz="2200" b="0" i="0" u="none" strike="noStrike" cap="none" normalizeH="0" baseline="0" dirty="0" err="1">
                          <a:ln>
                            <a:noFill/>
                          </a:ln>
                          <a:solidFill>
                            <a:srgbClr val="000000"/>
                          </a:solidFill>
                          <a:effectLst/>
                          <a:latin typeface="Arial Narrow" pitchFamily="34" charset="0"/>
                        </a:rPr>
                        <a:t>Prend</a:t>
                      </a:r>
                      <a:r>
                        <a:rPr kumimoji="0" lang="en-GB" sz="2200" b="0" i="0" u="none" strike="noStrike" cap="none" normalizeH="0" baseline="0" dirty="0">
                          <a:ln>
                            <a:noFill/>
                          </a:ln>
                          <a:solidFill>
                            <a:srgbClr val="000000"/>
                          </a:solidFill>
                          <a:effectLst/>
                          <a:latin typeface="Arial Narrow" pitchFamily="34" charset="0"/>
                        </a:rPr>
                        <a:t> en charge les </a:t>
                      </a:r>
                      <a:r>
                        <a:rPr kumimoji="0" lang="en-GB" sz="2200" b="0" i="0" u="none" strike="noStrike" cap="none" normalizeH="0" baseline="0" dirty="0" err="1">
                          <a:ln>
                            <a:noFill/>
                          </a:ln>
                          <a:solidFill>
                            <a:srgbClr val="000000"/>
                          </a:solidFill>
                          <a:effectLst/>
                          <a:latin typeface="Arial Narrow" pitchFamily="34" charset="0"/>
                        </a:rPr>
                        <a:t>méthodes</a:t>
                      </a:r>
                      <a:r>
                        <a:rPr kumimoji="0" lang="en-GB" sz="2200" b="0" i="0" u="none" strike="noStrike" cap="none" normalizeH="0" baseline="0" dirty="0">
                          <a:ln>
                            <a:noFill/>
                          </a:ln>
                          <a:solidFill>
                            <a:srgbClr val="000000"/>
                          </a:solidFill>
                          <a:effectLst/>
                          <a:latin typeface="Arial Narrow" pitchFamily="34" charset="0"/>
                        </a:rPr>
                        <a:t> EAP-TLS et </a:t>
                      </a:r>
                      <a:br>
                        <a:rPr kumimoji="0" lang="en-GB" sz="2200" b="0" i="0" u="none" strike="noStrike" cap="none" normalizeH="0" baseline="0" dirty="0">
                          <a:ln>
                            <a:noFill/>
                          </a:ln>
                          <a:solidFill>
                            <a:srgbClr val="000000"/>
                          </a:solidFill>
                          <a:effectLst/>
                          <a:latin typeface="Arial Narrow" pitchFamily="34" charset="0"/>
                        </a:rPr>
                      </a:br>
                      <a:r>
                        <a:rPr kumimoji="0" lang="en-GB" sz="2200" b="0" i="0" u="none" strike="noStrike" cap="none" normalizeH="0" baseline="0" dirty="0">
                          <a:ln>
                            <a:noFill/>
                          </a:ln>
                          <a:solidFill>
                            <a:srgbClr val="000000"/>
                          </a:solidFill>
                          <a:effectLst/>
                          <a:latin typeface="Arial Narrow" pitchFamily="34" charset="0"/>
                        </a:rPr>
                        <a:t>EAP-MS-CHAP v2</a:t>
                      </a:r>
                      <a:endParaRPr kumimoji="0" lang="en-US" sz="2200" b="0" i="0" u="none" strike="noStrike" cap="none" normalizeH="0" baseline="0" dirty="0">
                        <a:ln>
                          <a:noFill/>
                        </a:ln>
                        <a:solidFill>
                          <a:schemeClr val="tx1"/>
                        </a:solidFill>
                        <a:effectLst/>
                        <a:latin typeface="Arial Narrow" pitchFamily="34" charset="0"/>
                      </a:endParaRPr>
                    </a:p>
                    <a:p>
                      <a:pPr marL="228600" marR="0" lvl="0" indent="-228600" algn="l" defTabSz="914400" rtl="0" eaLnBrk="0" fontAlgn="base" latinLnBrk="0" hangingPunct="0">
                        <a:lnSpc>
                          <a:spcPct val="90000"/>
                        </a:lnSpc>
                        <a:spcBef>
                          <a:spcPct val="15000"/>
                        </a:spcBef>
                        <a:spcAft>
                          <a:spcPct val="0"/>
                        </a:spcAft>
                        <a:buClrTx/>
                        <a:buSzPct val="70000"/>
                        <a:buFontTx/>
                        <a:buBlip>
                          <a:blip r:embed="rId4"/>
                        </a:buBlip>
                        <a:tabLst/>
                      </a:pPr>
                      <a:r>
                        <a:rPr kumimoji="0" lang="en-GB" sz="2200" b="0" i="0" u="none" strike="noStrike" cap="none" normalizeH="0" baseline="0" dirty="0" err="1">
                          <a:ln>
                            <a:noFill/>
                          </a:ln>
                          <a:solidFill>
                            <a:srgbClr val="000000"/>
                          </a:solidFill>
                          <a:effectLst/>
                          <a:latin typeface="Arial Narrow" pitchFamily="34" charset="0"/>
                        </a:rPr>
                        <a:t>Crypte</a:t>
                      </a:r>
                      <a:r>
                        <a:rPr kumimoji="0" lang="en-GB" sz="2200" b="0" i="0" u="none" strike="noStrike" cap="none" normalizeH="0" baseline="0" dirty="0">
                          <a:ln>
                            <a:noFill/>
                          </a:ln>
                          <a:solidFill>
                            <a:srgbClr val="000000"/>
                          </a:solidFill>
                          <a:effectLst/>
                          <a:latin typeface="Arial Narrow" pitchFamily="34" charset="0"/>
                        </a:rPr>
                        <a:t> le </a:t>
                      </a:r>
                      <a:r>
                        <a:rPr kumimoji="0" lang="en-GB" sz="2200" b="0" i="0" u="none" strike="noStrike" cap="none" normalizeH="0" baseline="0" dirty="0" err="1">
                          <a:ln>
                            <a:noFill/>
                          </a:ln>
                          <a:solidFill>
                            <a:srgbClr val="000000"/>
                          </a:solidFill>
                          <a:effectLst/>
                          <a:latin typeface="Arial Narrow" pitchFamily="34" charset="0"/>
                        </a:rPr>
                        <a:t>processus</a:t>
                      </a:r>
                      <a:r>
                        <a:rPr kumimoji="0" lang="en-GB" sz="2200" b="0" i="0" u="none" strike="noStrike" cap="none" normalizeH="0" baseline="0" dirty="0">
                          <a:ln>
                            <a:noFill/>
                          </a:ln>
                          <a:solidFill>
                            <a:srgbClr val="000000"/>
                          </a:solidFill>
                          <a:effectLst/>
                          <a:latin typeface="Arial Narrow" pitchFamily="34" charset="0"/>
                        </a:rPr>
                        <a:t> de </a:t>
                      </a:r>
                      <a:r>
                        <a:rPr kumimoji="0" lang="en-GB" sz="2200" b="0" i="0" u="none" strike="noStrike" cap="none" normalizeH="0" baseline="0" dirty="0" err="1">
                          <a:ln>
                            <a:noFill/>
                          </a:ln>
                          <a:solidFill>
                            <a:srgbClr val="000000"/>
                          </a:solidFill>
                          <a:effectLst/>
                          <a:latin typeface="Arial Narrow" pitchFamily="34" charset="0"/>
                        </a:rPr>
                        <a:t>négociation</a:t>
                      </a:r>
                      <a:endParaRPr kumimoji="0" lang="en-US" sz="2200" b="0" i="0" u="none" strike="noStrike" cap="none" normalizeH="0" baseline="0" dirty="0">
                        <a:ln>
                          <a:noFill/>
                        </a:ln>
                        <a:solidFill>
                          <a:srgbClr val="000000"/>
                        </a:solidFill>
                        <a:effectLst/>
                        <a:latin typeface="Arial Narrow" pitchFamily="34" charset="0"/>
                      </a:endParaRPr>
                    </a:p>
                  </a:txBody>
                  <a:tcPr anchor="ctr" horzOverflow="overflow">
                    <a:lnL w="19050" cap="flat" cmpd="sng" algn="ctr">
                      <a:solidFill>
                        <a:srgbClr val="808080"/>
                      </a:solidFill>
                      <a:prstDash val="solid"/>
                      <a:round/>
                      <a:headEnd type="none" w="med" len="med"/>
                      <a:tailEnd type="none" w="med" len="med"/>
                    </a:lnL>
                    <a:lnR w="19050" cap="flat" cmpd="sng" algn="ctr">
                      <a:solidFill>
                        <a:srgbClr val="808080"/>
                      </a:solidFill>
                      <a:prstDash val="solid"/>
                      <a:round/>
                      <a:headEnd type="none" w="med" len="med"/>
                      <a:tailEnd type="none" w="med" len="med"/>
                    </a:lnR>
                    <a:lnT w="19050" cap="flat" cmpd="sng" algn="ctr">
                      <a:solidFill>
                        <a:srgbClr val="808080"/>
                      </a:solidFill>
                      <a:prstDash val="solid"/>
                      <a:round/>
                      <a:headEnd type="none" w="med" len="med"/>
                      <a:tailEnd type="none" w="med" len="med"/>
                    </a:lnT>
                    <a:lnB w="19050" cap="flat" cmpd="sng" algn="ctr">
                      <a:solidFill>
                        <a:srgbClr val="80808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6771" name="Rectangle 3"/>
          <p:cNvSpPr>
            <a:spLocks noGrp="1" noChangeArrowheads="1"/>
          </p:cNvSpPr>
          <p:nvPr>
            <p:ph type="title"/>
            <p:custDataLst>
              <p:tags r:id="rId1"/>
            </p:custDataLst>
          </p:nvPr>
        </p:nvSpPr>
        <p:spPr/>
        <p:txBody>
          <a:bodyPr vert="horz" anchor="b">
            <a:normAutofit fontScale="90000"/>
          </a:bodyPr>
          <a:lstStyle/>
          <a:p>
            <a:r>
              <a:rPr lang="fr-FR" sz="2800" dirty="0">
                <a:solidFill>
                  <a:srgbClr val="C00000"/>
                </a:solidFill>
              </a:rPr>
              <a:t>Configuration requise pour un client Windows en vue d'un accès réseau sans fil</a:t>
            </a:r>
            <a:endParaRPr sz="2800" dirty="0">
              <a:solidFill>
                <a:srgbClr val="C00000"/>
              </a:solidFill>
            </a:endParaRPr>
          </a:p>
        </p:txBody>
      </p:sp>
      <p:sp>
        <p:nvSpPr>
          <p:cNvPr id="416775" name="Rectangle 7"/>
          <p:cNvSpPr>
            <a:spLocks noGrp="1" noChangeArrowheads="1"/>
          </p:cNvSpPr>
          <p:nvPr>
            <p:ph sz="quarter" idx="1"/>
            <p:custDataLst>
              <p:tags r:id="rId2"/>
            </p:custDataLst>
          </p:nvPr>
        </p:nvSpPr>
        <p:spPr>
          <a:xfrm>
            <a:off x="217260" y="1371146"/>
            <a:ext cx="8723540" cy="4872038"/>
          </a:xfrm>
        </p:spPr>
        <p:txBody>
          <a:bodyPr>
            <a:normAutofit/>
          </a:bodyPr>
          <a:lstStyle/>
          <a:p>
            <a:pPr>
              <a:lnSpc>
                <a:spcPct val="85000"/>
              </a:lnSpc>
              <a:spcBef>
                <a:spcPct val="35000"/>
              </a:spcBef>
              <a:buClr>
                <a:schemeClr val="tx1"/>
              </a:buClr>
              <a:buFont typeface="Wingdings" pitchFamily="2" charset="2"/>
              <a:buChar char="Ø"/>
            </a:pPr>
            <a:r>
              <a:rPr lang="en-GB" dirty="0" err="1">
                <a:solidFill>
                  <a:srgbClr val="000000"/>
                </a:solidFill>
              </a:rPr>
              <a:t>Choix</a:t>
            </a:r>
            <a:r>
              <a:rPr lang="en-GB" dirty="0">
                <a:solidFill>
                  <a:srgbClr val="000000"/>
                </a:solidFill>
              </a:rPr>
              <a:t> du type de </a:t>
            </a:r>
            <a:r>
              <a:rPr lang="en-GB" dirty="0" err="1">
                <a:solidFill>
                  <a:srgbClr val="000000"/>
                </a:solidFill>
              </a:rPr>
              <a:t>réseau</a:t>
            </a:r>
            <a:r>
              <a:rPr lang="en-GB" dirty="0">
                <a:solidFill>
                  <a:srgbClr val="000000"/>
                </a:solidFill>
              </a:rPr>
              <a:t> :</a:t>
            </a:r>
            <a:endParaRPr lang="en-US" dirty="0"/>
          </a:p>
          <a:p>
            <a:pPr lvl="1">
              <a:lnSpc>
                <a:spcPct val="85000"/>
              </a:lnSpc>
              <a:spcBef>
                <a:spcPct val="35000"/>
              </a:spcBef>
            </a:pPr>
            <a:r>
              <a:rPr lang="en-GB" dirty="0">
                <a:solidFill>
                  <a:srgbClr val="000000"/>
                </a:solidFill>
              </a:rPr>
              <a:t>Point </a:t>
            </a:r>
            <a:r>
              <a:rPr lang="en-GB" dirty="0" err="1">
                <a:solidFill>
                  <a:srgbClr val="000000"/>
                </a:solidFill>
              </a:rPr>
              <a:t>d'accès</a:t>
            </a:r>
            <a:endParaRPr lang="en-US" dirty="0"/>
          </a:p>
          <a:p>
            <a:pPr lvl="1">
              <a:lnSpc>
                <a:spcPct val="85000"/>
              </a:lnSpc>
              <a:spcBef>
                <a:spcPct val="35000"/>
              </a:spcBef>
            </a:pPr>
            <a:r>
              <a:rPr lang="en-GB" dirty="0" err="1">
                <a:solidFill>
                  <a:srgbClr val="000000"/>
                </a:solidFill>
              </a:rPr>
              <a:t>Ordinateur</a:t>
            </a:r>
            <a:r>
              <a:rPr lang="en-GB" dirty="0">
                <a:solidFill>
                  <a:srgbClr val="000000"/>
                </a:solidFill>
              </a:rPr>
              <a:t> à </a:t>
            </a:r>
            <a:r>
              <a:rPr lang="en-GB" dirty="0" err="1">
                <a:solidFill>
                  <a:srgbClr val="000000"/>
                </a:solidFill>
              </a:rPr>
              <a:t>ordinateur</a:t>
            </a:r>
            <a:endParaRPr lang="en-US" dirty="0"/>
          </a:p>
          <a:p>
            <a:pPr lvl="1">
              <a:lnSpc>
                <a:spcPct val="85000"/>
              </a:lnSpc>
              <a:spcBef>
                <a:spcPct val="35000"/>
              </a:spcBef>
            </a:pPr>
            <a:r>
              <a:rPr lang="en-GB" dirty="0">
                <a:solidFill>
                  <a:srgbClr val="000000"/>
                </a:solidFill>
              </a:rPr>
              <a:t>Tout </a:t>
            </a:r>
            <a:r>
              <a:rPr lang="en-GB" dirty="0" err="1">
                <a:solidFill>
                  <a:srgbClr val="000000"/>
                </a:solidFill>
              </a:rPr>
              <a:t>réseau</a:t>
            </a:r>
            <a:r>
              <a:rPr lang="en-GB" dirty="0">
                <a:solidFill>
                  <a:srgbClr val="000000"/>
                </a:solidFill>
              </a:rPr>
              <a:t> </a:t>
            </a:r>
            <a:r>
              <a:rPr lang="en-GB" dirty="0" err="1">
                <a:solidFill>
                  <a:srgbClr val="000000"/>
                </a:solidFill>
              </a:rPr>
              <a:t>disponible</a:t>
            </a:r>
            <a:endParaRPr lang="en-US" dirty="0"/>
          </a:p>
          <a:p>
            <a:pPr>
              <a:lnSpc>
                <a:spcPct val="85000"/>
              </a:lnSpc>
              <a:spcBef>
                <a:spcPct val="35000"/>
              </a:spcBef>
              <a:buClr>
                <a:schemeClr val="tx1"/>
              </a:buClr>
              <a:buFont typeface="Wingdings" pitchFamily="2" charset="2"/>
              <a:buChar char="Ø"/>
            </a:pPr>
            <a:r>
              <a:rPr lang="en-GB" dirty="0">
                <a:solidFill>
                  <a:srgbClr val="000000"/>
                </a:solidFill>
              </a:rPr>
              <a:t>Configuration de </a:t>
            </a:r>
            <a:r>
              <a:rPr lang="en-GB" dirty="0" err="1">
                <a:solidFill>
                  <a:srgbClr val="000000"/>
                </a:solidFill>
              </a:rPr>
              <a:t>l'authentification</a:t>
            </a:r>
            <a:r>
              <a:rPr lang="en-GB" dirty="0">
                <a:solidFill>
                  <a:srgbClr val="000000"/>
                </a:solidFill>
              </a:rPr>
              <a:t> pour le type de </a:t>
            </a:r>
            <a:r>
              <a:rPr lang="en-GB" dirty="0" err="1">
                <a:solidFill>
                  <a:srgbClr val="000000"/>
                </a:solidFill>
              </a:rPr>
              <a:t>réseau</a:t>
            </a:r>
            <a:r>
              <a:rPr lang="en-GB" dirty="0">
                <a:solidFill>
                  <a:srgbClr val="000000"/>
                </a:solidFill>
              </a:rPr>
              <a:t> </a:t>
            </a:r>
            <a:r>
              <a:rPr lang="en-GB" dirty="0" err="1">
                <a:solidFill>
                  <a:srgbClr val="000000"/>
                </a:solidFill>
              </a:rPr>
              <a:t>sélectionné</a:t>
            </a:r>
            <a:endParaRPr lang="en-US" dirty="0">
              <a:solidFill>
                <a:srgbClr val="000000"/>
              </a:solidFill>
            </a:endParaRPr>
          </a:p>
          <a:p>
            <a:pPr>
              <a:lnSpc>
                <a:spcPct val="85000"/>
              </a:lnSpc>
              <a:spcBef>
                <a:spcPct val="35000"/>
              </a:spcBef>
              <a:buClr>
                <a:schemeClr val="tx1"/>
              </a:buClr>
              <a:buFont typeface="Wingdings" pitchFamily="2" charset="2"/>
              <a:buChar char="Ø"/>
            </a:pPr>
            <a:r>
              <a:rPr lang="en-GB" dirty="0" err="1">
                <a:solidFill>
                  <a:srgbClr val="000000"/>
                </a:solidFill>
              </a:rPr>
              <a:t>Mise</a:t>
            </a:r>
            <a:r>
              <a:rPr lang="en-GB" dirty="0">
                <a:solidFill>
                  <a:srgbClr val="000000"/>
                </a:solidFill>
              </a:rPr>
              <a:t> en </a:t>
            </a:r>
            <a:r>
              <a:rPr lang="en-GB" dirty="0" err="1">
                <a:solidFill>
                  <a:srgbClr val="000000"/>
                </a:solidFill>
              </a:rPr>
              <a:t>adéquation</a:t>
            </a:r>
            <a:r>
              <a:rPr lang="en-GB" dirty="0">
                <a:solidFill>
                  <a:srgbClr val="000000"/>
                </a:solidFill>
              </a:rPr>
              <a:t> du </a:t>
            </a:r>
            <a:r>
              <a:rPr lang="en-GB" dirty="0" err="1">
                <a:solidFill>
                  <a:srgbClr val="000000"/>
                </a:solidFill>
              </a:rPr>
              <a:t>niveau</a:t>
            </a:r>
            <a:r>
              <a:rPr lang="en-GB" dirty="0">
                <a:solidFill>
                  <a:srgbClr val="000000"/>
                </a:solidFill>
              </a:rPr>
              <a:t> de </a:t>
            </a:r>
            <a:r>
              <a:rPr lang="en-GB" dirty="0" err="1">
                <a:solidFill>
                  <a:srgbClr val="000000"/>
                </a:solidFill>
              </a:rPr>
              <a:t>sécurité</a:t>
            </a:r>
            <a:r>
              <a:rPr lang="en-GB" dirty="0">
                <a:solidFill>
                  <a:srgbClr val="000000"/>
                </a:solidFill>
              </a:rPr>
              <a:t> et de la </a:t>
            </a:r>
            <a:r>
              <a:rPr lang="en-GB" dirty="0" err="1">
                <a:solidFill>
                  <a:srgbClr val="000000"/>
                </a:solidFill>
              </a:rPr>
              <a:t>facilité</a:t>
            </a:r>
            <a:r>
              <a:rPr lang="en-GB" dirty="0">
                <a:solidFill>
                  <a:srgbClr val="000000"/>
                </a:solidFill>
              </a:rPr>
              <a:t> de </a:t>
            </a:r>
            <a:r>
              <a:rPr lang="en-GB" dirty="0" err="1">
                <a:solidFill>
                  <a:srgbClr val="000000"/>
                </a:solidFill>
              </a:rPr>
              <a:t>déploiement</a:t>
            </a:r>
            <a:r>
              <a:rPr lang="en-GB" dirty="0">
                <a:solidFill>
                  <a:srgbClr val="000000"/>
                </a:solidFill>
              </a:rPr>
              <a:t> :</a:t>
            </a:r>
            <a:r>
              <a:rPr lang="en-US" dirty="0">
                <a:solidFill>
                  <a:srgbClr val="000000"/>
                </a:solidFill>
              </a:rPr>
              <a:t> </a:t>
            </a:r>
          </a:p>
          <a:p>
            <a:pPr lvl="1">
              <a:lnSpc>
                <a:spcPct val="85000"/>
              </a:lnSpc>
              <a:spcBef>
                <a:spcPct val="35000"/>
              </a:spcBef>
            </a:pPr>
            <a:r>
              <a:rPr lang="en-GB" dirty="0">
                <a:solidFill>
                  <a:srgbClr val="000000"/>
                </a:solidFill>
              </a:rPr>
              <a:t>Pour </a:t>
            </a:r>
            <a:r>
              <a:rPr lang="en-GB" dirty="0" err="1">
                <a:solidFill>
                  <a:srgbClr val="000000"/>
                </a:solidFill>
              </a:rPr>
              <a:t>bénéficier</a:t>
            </a:r>
            <a:r>
              <a:rPr lang="en-GB" dirty="0">
                <a:solidFill>
                  <a:srgbClr val="000000"/>
                </a:solidFill>
              </a:rPr>
              <a:t> du </a:t>
            </a:r>
            <a:r>
              <a:rPr lang="en-GB" dirty="0" err="1">
                <a:solidFill>
                  <a:srgbClr val="000000"/>
                </a:solidFill>
              </a:rPr>
              <a:t>niveau</a:t>
            </a:r>
            <a:r>
              <a:rPr lang="en-GB" dirty="0">
                <a:solidFill>
                  <a:srgbClr val="000000"/>
                </a:solidFill>
              </a:rPr>
              <a:t> de </a:t>
            </a:r>
            <a:r>
              <a:rPr lang="en-GB" dirty="0" err="1">
                <a:solidFill>
                  <a:srgbClr val="000000"/>
                </a:solidFill>
              </a:rPr>
              <a:t>sécurité</a:t>
            </a:r>
            <a:r>
              <a:rPr lang="en-GB" dirty="0">
                <a:solidFill>
                  <a:srgbClr val="000000"/>
                </a:solidFill>
              </a:rPr>
              <a:t> maximal, </a:t>
            </a:r>
            <a:r>
              <a:rPr lang="en-GB" dirty="0" err="1">
                <a:solidFill>
                  <a:srgbClr val="000000"/>
                </a:solidFill>
              </a:rPr>
              <a:t>choisissez</a:t>
            </a:r>
            <a:r>
              <a:rPr lang="en-GB" dirty="0">
                <a:solidFill>
                  <a:srgbClr val="000000"/>
                </a:solidFill>
              </a:rPr>
              <a:t> PEAP avec des </a:t>
            </a:r>
            <a:r>
              <a:rPr lang="en-GB" dirty="0" err="1">
                <a:solidFill>
                  <a:srgbClr val="000000"/>
                </a:solidFill>
              </a:rPr>
              <a:t>certificats</a:t>
            </a:r>
            <a:r>
              <a:rPr lang="en-GB" dirty="0">
                <a:solidFill>
                  <a:srgbClr val="000000"/>
                </a:solidFill>
              </a:rPr>
              <a:t> (EAP-TLS)</a:t>
            </a:r>
            <a:endParaRPr lang="en-US" dirty="0"/>
          </a:p>
          <a:p>
            <a:pPr lvl="1">
              <a:lnSpc>
                <a:spcPct val="85000"/>
              </a:lnSpc>
              <a:spcBef>
                <a:spcPct val="35000"/>
              </a:spcBef>
            </a:pPr>
            <a:r>
              <a:rPr lang="en-GB" dirty="0">
                <a:solidFill>
                  <a:srgbClr val="000000"/>
                </a:solidFill>
              </a:rPr>
              <a:t>Si </a:t>
            </a:r>
            <a:r>
              <a:rPr lang="en-GB" dirty="0" err="1">
                <a:solidFill>
                  <a:srgbClr val="000000"/>
                </a:solidFill>
              </a:rPr>
              <a:t>vous</a:t>
            </a:r>
            <a:r>
              <a:rPr lang="en-GB" dirty="0">
                <a:solidFill>
                  <a:srgbClr val="000000"/>
                </a:solidFill>
              </a:rPr>
              <a:t> </a:t>
            </a:r>
            <a:r>
              <a:rPr lang="en-GB" dirty="0" err="1">
                <a:solidFill>
                  <a:srgbClr val="000000"/>
                </a:solidFill>
              </a:rPr>
              <a:t>privilégiez</a:t>
            </a:r>
            <a:r>
              <a:rPr lang="en-GB" dirty="0">
                <a:solidFill>
                  <a:srgbClr val="000000"/>
                </a:solidFill>
              </a:rPr>
              <a:t> la </a:t>
            </a:r>
            <a:r>
              <a:rPr lang="en-GB" dirty="0" err="1">
                <a:solidFill>
                  <a:srgbClr val="000000"/>
                </a:solidFill>
              </a:rPr>
              <a:t>facilité</a:t>
            </a:r>
            <a:r>
              <a:rPr lang="en-GB" dirty="0">
                <a:solidFill>
                  <a:srgbClr val="000000"/>
                </a:solidFill>
              </a:rPr>
              <a:t> de </a:t>
            </a:r>
            <a:r>
              <a:rPr lang="en-GB" dirty="0" err="1">
                <a:solidFill>
                  <a:srgbClr val="000000"/>
                </a:solidFill>
              </a:rPr>
              <a:t>déploiement</a:t>
            </a:r>
            <a:r>
              <a:rPr lang="en-GB" dirty="0">
                <a:solidFill>
                  <a:srgbClr val="000000"/>
                </a:solidFill>
              </a:rPr>
              <a:t>, </a:t>
            </a:r>
            <a:r>
              <a:rPr lang="en-GB" dirty="0" err="1">
                <a:solidFill>
                  <a:srgbClr val="000000"/>
                </a:solidFill>
              </a:rPr>
              <a:t>choisissez</a:t>
            </a:r>
            <a:r>
              <a:rPr lang="en-GB" dirty="0">
                <a:solidFill>
                  <a:srgbClr val="000000"/>
                </a:solidFill>
              </a:rPr>
              <a:t> PEAP avec des </a:t>
            </a:r>
            <a:r>
              <a:rPr lang="en-GB" dirty="0" err="1">
                <a:solidFill>
                  <a:srgbClr val="000000"/>
                </a:solidFill>
              </a:rPr>
              <a:t>mots</a:t>
            </a:r>
            <a:r>
              <a:rPr lang="en-GB" dirty="0">
                <a:solidFill>
                  <a:srgbClr val="000000"/>
                </a:solidFill>
              </a:rPr>
              <a:t> de </a:t>
            </a:r>
            <a:r>
              <a:rPr lang="en-GB" dirty="0" err="1">
                <a:solidFill>
                  <a:srgbClr val="000000"/>
                </a:solidFill>
              </a:rPr>
              <a:t>passe</a:t>
            </a:r>
            <a:r>
              <a:rPr lang="en-GB" dirty="0">
                <a:solidFill>
                  <a:srgbClr val="000000"/>
                </a:solidFill>
              </a:rPr>
              <a:t> (EAP-MS-CHAP v2)</a:t>
            </a:r>
            <a:endParaRPr lang="en-US"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16775">
                                            <p:txEl>
                                              <p:pRg st="0" end="0"/>
                                            </p:txEl>
                                          </p:spTgt>
                                        </p:tgtEl>
                                        <p:attrNameLst>
                                          <p:attrName>style.visibility</p:attrName>
                                        </p:attrNameLst>
                                      </p:cBhvr>
                                      <p:to>
                                        <p:strVal val="visible"/>
                                      </p:to>
                                    </p:set>
                                    <p:animEffect transition="in" filter="checkerboard(across)">
                                      <p:cBhvr>
                                        <p:cTn id="7" dur="1000"/>
                                        <p:tgtEl>
                                          <p:spTgt spid="416775">
                                            <p:txEl>
                                              <p:pRg st="0" end="0"/>
                                            </p:txEl>
                                          </p:spTgt>
                                        </p:tgtEl>
                                      </p:cBhvr>
                                    </p:animEffect>
                                  </p:childTnLst>
                                </p:cTn>
                              </p:par>
                            </p:childTnLst>
                          </p:cTn>
                        </p:par>
                        <p:par>
                          <p:cTn id="8" fill="hold">
                            <p:stCondLst>
                              <p:cond delay="1000"/>
                            </p:stCondLst>
                            <p:childTnLst>
                              <p:par>
                                <p:cTn id="9" presetID="5" presetClass="entr" presetSubtype="10" fill="hold" nodeType="afterEffect">
                                  <p:stCondLst>
                                    <p:cond delay="0"/>
                                  </p:stCondLst>
                                  <p:childTnLst>
                                    <p:set>
                                      <p:cBhvr>
                                        <p:cTn id="10" dur="1" fill="hold">
                                          <p:stCondLst>
                                            <p:cond delay="0"/>
                                          </p:stCondLst>
                                        </p:cTn>
                                        <p:tgtEl>
                                          <p:spTgt spid="416775">
                                            <p:txEl>
                                              <p:pRg st="1" end="1"/>
                                            </p:txEl>
                                          </p:spTgt>
                                        </p:tgtEl>
                                        <p:attrNameLst>
                                          <p:attrName>style.visibility</p:attrName>
                                        </p:attrNameLst>
                                      </p:cBhvr>
                                      <p:to>
                                        <p:strVal val="visible"/>
                                      </p:to>
                                    </p:set>
                                    <p:animEffect transition="in" filter="checkerboard(across)">
                                      <p:cBhvr>
                                        <p:cTn id="11" dur="1000"/>
                                        <p:tgtEl>
                                          <p:spTgt spid="416775">
                                            <p:txEl>
                                              <p:pRg st="1" end="1"/>
                                            </p:txEl>
                                          </p:spTgt>
                                        </p:tgtEl>
                                      </p:cBhvr>
                                    </p:animEffect>
                                  </p:childTnLst>
                                </p:cTn>
                              </p:par>
                            </p:childTnLst>
                          </p:cTn>
                        </p:par>
                        <p:par>
                          <p:cTn id="12" fill="hold">
                            <p:stCondLst>
                              <p:cond delay="2000"/>
                            </p:stCondLst>
                            <p:childTnLst>
                              <p:par>
                                <p:cTn id="13" presetID="5" presetClass="entr" presetSubtype="10" fill="hold" nodeType="afterEffect">
                                  <p:stCondLst>
                                    <p:cond delay="0"/>
                                  </p:stCondLst>
                                  <p:childTnLst>
                                    <p:set>
                                      <p:cBhvr>
                                        <p:cTn id="14" dur="1" fill="hold">
                                          <p:stCondLst>
                                            <p:cond delay="0"/>
                                          </p:stCondLst>
                                        </p:cTn>
                                        <p:tgtEl>
                                          <p:spTgt spid="416775">
                                            <p:txEl>
                                              <p:pRg st="2" end="2"/>
                                            </p:txEl>
                                          </p:spTgt>
                                        </p:tgtEl>
                                        <p:attrNameLst>
                                          <p:attrName>style.visibility</p:attrName>
                                        </p:attrNameLst>
                                      </p:cBhvr>
                                      <p:to>
                                        <p:strVal val="visible"/>
                                      </p:to>
                                    </p:set>
                                    <p:animEffect transition="in" filter="checkerboard(across)">
                                      <p:cBhvr>
                                        <p:cTn id="15" dur="1000"/>
                                        <p:tgtEl>
                                          <p:spTgt spid="416775">
                                            <p:txEl>
                                              <p:pRg st="2" end="2"/>
                                            </p:txEl>
                                          </p:spTgt>
                                        </p:tgtEl>
                                      </p:cBhvr>
                                    </p:animEffect>
                                  </p:childTnLst>
                                </p:cTn>
                              </p:par>
                            </p:childTnLst>
                          </p:cTn>
                        </p:par>
                        <p:par>
                          <p:cTn id="16" fill="hold">
                            <p:stCondLst>
                              <p:cond delay="3000"/>
                            </p:stCondLst>
                            <p:childTnLst>
                              <p:par>
                                <p:cTn id="17" presetID="5" presetClass="entr" presetSubtype="10" fill="hold" nodeType="afterEffect">
                                  <p:stCondLst>
                                    <p:cond delay="0"/>
                                  </p:stCondLst>
                                  <p:childTnLst>
                                    <p:set>
                                      <p:cBhvr>
                                        <p:cTn id="18" dur="1" fill="hold">
                                          <p:stCondLst>
                                            <p:cond delay="0"/>
                                          </p:stCondLst>
                                        </p:cTn>
                                        <p:tgtEl>
                                          <p:spTgt spid="416775">
                                            <p:txEl>
                                              <p:pRg st="3" end="3"/>
                                            </p:txEl>
                                          </p:spTgt>
                                        </p:tgtEl>
                                        <p:attrNameLst>
                                          <p:attrName>style.visibility</p:attrName>
                                        </p:attrNameLst>
                                      </p:cBhvr>
                                      <p:to>
                                        <p:strVal val="visible"/>
                                      </p:to>
                                    </p:set>
                                    <p:animEffect transition="in" filter="checkerboard(across)">
                                      <p:cBhvr>
                                        <p:cTn id="19" dur="1000"/>
                                        <p:tgtEl>
                                          <p:spTgt spid="416775">
                                            <p:txEl>
                                              <p:pRg st="3" end="3"/>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5" presetClass="entr" presetSubtype="10" fill="hold" nodeType="clickEffect">
                                  <p:stCondLst>
                                    <p:cond delay="0"/>
                                  </p:stCondLst>
                                  <p:childTnLst>
                                    <p:set>
                                      <p:cBhvr>
                                        <p:cTn id="23" dur="1" fill="hold">
                                          <p:stCondLst>
                                            <p:cond delay="0"/>
                                          </p:stCondLst>
                                        </p:cTn>
                                        <p:tgtEl>
                                          <p:spTgt spid="416775">
                                            <p:txEl>
                                              <p:pRg st="4" end="4"/>
                                            </p:txEl>
                                          </p:spTgt>
                                        </p:tgtEl>
                                        <p:attrNameLst>
                                          <p:attrName>style.visibility</p:attrName>
                                        </p:attrNameLst>
                                      </p:cBhvr>
                                      <p:to>
                                        <p:strVal val="visible"/>
                                      </p:to>
                                    </p:set>
                                    <p:animEffect transition="in" filter="checkerboard(across)">
                                      <p:cBhvr>
                                        <p:cTn id="24" dur="1000"/>
                                        <p:tgtEl>
                                          <p:spTgt spid="416775">
                                            <p:txEl>
                                              <p:pRg st="4" end="4"/>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5" presetClass="entr" presetSubtype="10" fill="hold" nodeType="clickEffect">
                                  <p:stCondLst>
                                    <p:cond delay="0"/>
                                  </p:stCondLst>
                                  <p:childTnLst>
                                    <p:set>
                                      <p:cBhvr>
                                        <p:cTn id="28" dur="1" fill="hold">
                                          <p:stCondLst>
                                            <p:cond delay="0"/>
                                          </p:stCondLst>
                                        </p:cTn>
                                        <p:tgtEl>
                                          <p:spTgt spid="416775">
                                            <p:txEl>
                                              <p:pRg st="5" end="5"/>
                                            </p:txEl>
                                          </p:spTgt>
                                        </p:tgtEl>
                                        <p:attrNameLst>
                                          <p:attrName>style.visibility</p:attrName>
                                        </p:attrNameLst>
                                      </p:cBhvr>
                                      <p:to>
                                        <p:strVal val="visible"/>
                                      </p:to>
                                    </p:set>
                                    <p:animEffect transition="in" filter="checkerboard(across)">
                                      <p:cBhvr>
                                        <p:cTn id="29" dur="1000"/>
                                        <p:tgtEl>
                                          <p:spTgt spid="416775">
                                            <p:txEl>
                                              <p:pRg st="5" end="5"/>
                                            </p:txEl>
                                          </p:spTgt>
                                        </p:tgtEl>
                                      </p:cBhvr>
                                    </p:animEffect>
                                  </p:childTnLst>
                                </p:cTn>
                              </p:par>
                            </p:childTnLst>
                          </p:cTn>
                        </p:par>
                        <p:par>
                          <p:cTn id="30" fill="hold">
                            <p:stCondLst>
                              <p:cond delay="1000"/>
                            </p:stCondLst>
                            <p:childTnLst>
                              <p:par>
                                <p:cTn id="31" presetID="5" presetClass="entr" presetSubtype="10" fill="hold" nodeType="afterEffect">
                                  <p:stCondLst>
                                    <p:cond delay="0"/>
                                  </p:stCondLst>
                                  <p:childTnLst>
                                    <p:set>
                                      <p:cBhvr>
                                        <p:cTn id="32" dur="1" fill="hold">
                                          <p:stCondLst>
                                            <p:cond delay="0"/>
                                          </p:stCondLst>
                                        </p:cTn>
                                        <p:tgtEl>
                                          <p:spTgt spid="416775">
                                            <p:txEl>
                                              <p:pRg st="6" end="6"/>
                                            </p:txEl>
                                          </p:spTgt>
                                        </p:tgtEl>
                                        <p:attrNameLst>
                                          <p:attrName>style.visibility</p:attrName>
                                        </p:attrNameLst>
                                      </p:cBhvr>
                                      <p:to>
                                        <p:strVal val="visible"/>
                                      </p:to>
                                    </p:set>
                                    <p:animEffect transition="in" filter="checkerboard(across)">
                                      <p:cBhvr>
                                        <p:cTn id="33" dur="1000"/>
                                        <p:tgtEl>
                                          <p:spTgt spid="416775">
                                            <p:txEl>
                                              <p:pRg st="6" end="6"/>
                                            </p:txEl>
                                          </p:spTgt>
                                        </p:tgtEl>
                                      </p:cBhvr>
                                    </p:animEffect>
                                  </p:childTnLst>
                                </p:cTn>
                              </p:par>
                            </p:childTnLst>
                          </p:cTn>
                        </p:par>
                        <p:par>
                          <p:cTn id="34" fill="hold">
                            <p:stCondLst>
                              <p:cond delay="2000"/>
                            </p:stCondLst>
                            <p:childTnLst>
                              <p:par>
                                <p:cTn id="35" presetID="5" presetClass="entr" presetSubtype="10" fill="hold" nodeType="afterEffect">
                                  <p:stCondLst>
                                    <p:cond delay="0"/>
                                  </p:stCondLst>
                                  <p:childTnLst>
                                    <p:set>
                                      <p:cBhvr>
                                        <p:cTn id="36" dur="1" fill="hold">
                                          <p:stCondLst>
                                            <p:cond delay="0"/>
                                          </p:stCondLst>
                                        </p:cTn>
                                        <p:tgtEl>
                                          <p:spTgt spid="416775">
                                            <p:txEl>
                                              <p:pRg st="7" end="7"/>
                                            </p:txEl>
                                          </p:spTgt>
                                        </p:tgtEl>
                                        <p:attrNameLst>
                                          <p:attrName>style.visibility</p:attrName>
                                        </p:attrNameLst>
                                      </p:cBhvr>
                                      <p:to>
                                        <p:strVal val="visible"/>
                                      </p:to>
                                    </p:set>
                                    <p:animEffect transition="in" filter="checkerboard(across)">
                                      <p:cBhvr>
                                        <p:cTn id="37" dur="1000"/>
                                        <p:tgtEl>
                                          <p:spTgt spid="416775">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14" name="Rectangle 2"/>
          <p:cNvSpPr>
            <a:spLocks noGrp="1" noChangeArrowheads="1"/>
          </p:cNvSpPr>
          <p:nvPr>
            <p:ph type="title"/>
            <p:custDataLst>
              <p:tags r:id="rId1"/>
            </p:custDataLst>
          </p:nvPr>
        </p:nvSpPr>
        <p:spPr/>
        <p:txBody>
          <a:bodyPr>
            <a:normAutofit fontScale="90000"/>
          </a:bodyPr>
          <a:lstStyle/>
          <a:p>
            <a:pPr marL="460375" indent="-460375"/>
            <a:r>
              <a:rPr lang="fr-FR" dirty="0">
                <a:solidFill>
                  <a:srgbClr val="000000"/>
                </a:solidFill>
              </a:rPr>
              <a:t>4. Contrôle de l'accès utilisateur au réseau</a:t>
            </a:r>
            <a:endParaRPr lang="en-US" dirty="0">
              <a:solidFill>
                <a:srgbClr val="000000"/>
              </a:solidFill>
            </a:endParaRPr>
          </a:p>
        </p:txBody>
      </p:sp>
      <p:sp>
        <p:nvSpPr>
          <p:cNvPr id="422915" name="Rectangle 3"/>
          <p:cNvSpPr>
            <a:spLocks noGrp="1" noChangeArrowheads="1"/>
          </p:cNvSpPr>
          <p:nvPr>
            <p:ph sz="quarter" idx="1"/>
            <p:custDataLst>
              <p:tags r:id="rId2"/>
            </p:custDataLst>
          </p:nvPr>
        </p:nvSpPr>
        <p:spPr>
          <a:xfrm>
            <a:off x="287237" y="2093105"/>
            <a:ext cx="8503920" cy="1753181"/>
          </a:xfrm>
        </p:spPr>
        <p:txBody>
          <a:bodyPr>
            <a:normAutofit/>
          </a:bodyPr>
          <a:lstStyle/>
          <a:p>
            <a:pPr>
              <a:buClr>
                <a:schemeClr val="tx1"/>
              </a:buClr>
              <a:buFont typeface="Wingdings" pitchFamily="2" charset="2"/>
              <a:buChar char="Ø"/>
            </a:pPr>
            <a:r>
              <a:rPr lang="en-GB" dirty="0" err="1">
                <a:solidFill>
                  <a:srgbClr val="000000"/>
                </a:solidFill>
              </a:rPr>
              <a:t>Autorisations</a:t>
            </a:r>
            <a:r>
              <a:rPr lang="en-GB" dirty="0">
                <a:solidFill>
                  <a:srgbClr val="000000"/>
                </a:solidFill>
              </a:rPr>
              <a:t> </a:t>
            </a:r>
            <a:r>
              <a:rPr lang="en-GB" dirty="0" err="1">
                <a:solidFill>
                  <a:srgbClr val="000000"/>
                </a:solidFill>
              </a:rPr>
              <a:t>d'appel</a:t>
            </a:r>
            <a:r>
              <a:rPr lang="en-GB" dirty="0">
                <a:solidFill>
                  <a:srgbClr val="000000"/>
                </a:solidFill>
              </a:rPr>
              <a:t> entrant du </a:t>
            </a:r>
            <a:r>
              <a:rPr lang="en-GB" dirty="0" err="1">
                <a:solidFill>
                  <a:srgbClr val="000000"/>
                </a:solidFill>
              </a:rPr>
              <a:t>compte</a:t>
            </a:r>
            <a:r>
              <a:rPr lang="en-GB" dirty="0">
                <a:solidFill>
                  <a:srgbClr val="000000"/>
                </a:solidFill>
              </a:rPr>
              <a:t> de </a:t>
            </a:r>
            <a:r>
              <a:rPr lang="en-GB" dirty="0" err="1">
                <a:solidFill>
                  <a:srgbClr val="000000"/>
                </a:solidFill>
              </a:rPr>
              <a:t>l'utilisateur</a:t>
            </a:r>
            <a:endParaRPr lang="en-US" dirty="0"/>
          </a:p>
          <a:p>
            <a:pPr>
              <a:buClr>
                <a:schemeClr val="tx1"/>
              </a:buClr>
              <a:buFont typeface="Wingdings" pitchFamily="2" charset="2"/>
              <a:buChar char="Ø"/>
            </a:pPr>
            <a:r>
              <a:rPr lang="en-GB" dirty="0" err="1">
                <a:solidFill>
                  <a:srgbClr val="000000"/>
                </a:solidFill>
              </a:rPr>
              <a:t>Qu'est-ce</a:t>
            </a:r>
            <a:r>
              <a:rPr lang="en-GB" dirty="0">
                <a:solidFill>
                  <a:srgbClr val="000000"/>
                </a:solidFill>
              </a:rPr>
              <a:t> </a:t>
            </a:r>
            <a:r>
              <a:rPr lang="en-GB" dirty="0" err="1">
                <a:solidFill>
                  <a:srgbClr val="000000"/>
                </a:solidFill>
              </a:rPr>
              <a:t>qu'une</a:t>
            </a:r>
            <a:r>
              <a:rPr lang="en-GB" dirty="0">
                <a:solidFill>
                  <a:srgbClr val="000000"/>
                </a:solidFill>
              </a:rPr>
              <a:t> </a:t>
            </a:r>
            <a:r>
              <a:rPr lang="en-GB" dirty="0" err="1">
                <a:solidFill>
                  <a:srgbClr val="000000"/>
                </a:solidFill>
              </a:rPr>
              <a:t>stratégie</a:t>
            </a:r>
            <a:r>
              <a:rPr lang="en-GB" dirty="0">
                <a:solidFill>
                  <a:srgbClr val="000000"/>
                </a:solidFill>
              </a:rPr>
              <a:t> </a:t>
            </a:r>
            <a:r>
              <a:rPr lang="en-GB" dirty="0" err="1">
                <a:solidFill>
                  <a:srgbClr val="000000"/>
                </a:solidFill>
              </a:rPr>
              <a:t>d'accès</a:t>
            </a:r>
            <a:r>
              <a:rPr lang="en-GB" dirty="0">
                <a:solidFill>
                  <a:srgbClr val="000000"/>
                </a:solidFill>
              </a:rPr>
              <a:t> distant ?</a:t>
            </a:r>
            <a:r>
              <a:rPr lang="en-US" dirty="0"/>
              <a:t>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custDataLst>
              <p:tags r:id="rId1"/>
            </p:custDataLst>
          </p:nvPr>
        </p:nvSpPr>
        <p:spPr bwMode="auto">
          <a:xfrm>
            <a:off x="217714" y="411617"/>
            <a:ext cx="8723086" cy="684212"/>
          </a:xfrm>
          <a:prstGeom prst="rect">
            <a:avLst/>
          </a:prstGeom>
          <a:noFill/>
          <a:ln w="9525">
            <a:noFill/>
            <a:miter lim="800000"/>
            <a:headEnd/>
            <a:tailEnd/>
          </a:ln>
          <a:effectLst/>
        </p:spPr>
        <p:txBody>
          <a:bodyPr lIns="0" anchor="ctr"/>
          <a:lstStyle/>
          <a:p>
            <a:pPr>
              <a:lnSpc>
                <a:spcPct val="80000"/>
              </a:lnSpc>
              <a:buClr>
                <a:srgbClr val="DC0081"/>
              </a:buClr>
              <a:buFont typeface="Wingdings" pitchFamily="2" charset="2"/>
              <a:buNone/>
            </a:pPr>
            <a:r>
              <a:rPr lang="en-GB" sz="2800" b="1" dirty="0" err="1">
                <a:solidFill>
                  <a:srgbClr val="C00000"/>
                </a:solidFill>
              </a:rPr>
              <a:t>Autorisations</a:t>
            </a:r>
            <a:r>
              <a:rPr lang="en-GB" sz="2800" b="1" dirty="0">
                <a:solidFill>
                  <a:srgbClr val="C00000"/>
                </a:solidFill>
              </a:rPr>
              <a:t> </a:t>
            </a:r>
            <a:r>
              <a:rPr lang="en-GB" sz="2800" b="1" dirty="0" err="1">
                <a:solidFill>
                  <a:srgbClr val="C00000"/>
                </a:solidFill>
              </a:rPr>
              <a:t>d'appel</a:t>
            </a:r>
            <a:r>
              <a:rPr lang="en-GB" sz="2800" b="1" dirty="0">
                <a:solidFill>
                  <a:srgbClr val="C00000"/>
                </a:solidFill>
              </a:rPr>
              <a:t> entrant du </a:t>
            </a:r>
            <a:r>
              <a:rPr lang="en-GB" sz="2800" b="1" dirty="0" err="1">
                <a:solidFill>
                  <a:srgbClr val="C00000"/>
                </a:solidFill>
              </a:rPr>
              <a:t>compte</a:t>
            </a:r>
            <a:r>
              <a:rPr lang="en-GB" sz="2800" b="1" dirty="0">
                <a:solidFill>
                  <a:srgbClr val="C00000"/>
                </a:solidFill>
              </a:rPr>
              <a:t> de </a:t>
            </a:r>
            <a:r>
              <a:rPr lang="en-GB" sz="2800" b="1" dirty="0" err="1">
                <a:solidFill>
                  <a:srgbClr val="C00000"/>
                </a:solidFill>
              </a:rPr>
              <a:t>l'utilisateur</a:t>
            </a:r>
            <a:endParaRPr lang="en-US" sz="2800" b="1" dirty="0">
              <a:solidFill>
                <a:srgbClr val="C00000"/>
              </a:solidFill>
            </a:endParaRPr>
          </a:p>
        </p:txBody>
      </p:sp>
      <p:sp>
        <p:nvSpPr>
          <p:cNvPr id="6" name="AutoShape 98"/>
          <p:cNvSpPr>
            <a:spLocks noChangeArrowheads="1"/>
          </p:cNvSpPr>
          <p:nvPr>
            <p:custDataLst>
              <p:tags r:id="rId2"/>
            </p:custDataLst>
          </p:nvPr>
        </p:nvSpPr>
        <p:spPr bwMode="auto">
          <a:xfrm>
            <a:off x="293233" y="2148114"/>
            <a:ext cx="8574995" cy="4426857"/>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tIns="91440" anchor="ctr"/>
          <a:lstStyle/>
          <a:p>
            <a:pPr algn="l">
              <a:buFont typeface="Wingdings" pitchFamily="2" charset="2"/>
              <a:buChar char="q"/>
            </a:pPr>
            <a:r>
              <a:rPr lang="en-GB" sz="2400" b="1" dirty="0">
                <a:solidFill>
                  <a:srgbClr val="000000"/>
                </a:solidFill>
              </a:rPr>
              <a:t> </a:t>
            </a:r>
            <a:r>
              <a:rPr lang="en-GB" sz="2600" b="1" dirty="0" err="1">
                <a:solidFill>
                  <a:srgbClr val="000000"/>
                </a:solidFill>
              </a:rPr>
              <a:t>Autorisation</a:t>
            </a:r>
            <a:r>
              <a:rPr lang="en-GB" sz="2600" b="1" dirty="0">
                <a:solidFill>
                  <a:srgbClr val="000000"/>
                </a:solidFill>
              </a:rPr>
              <a:t> </a:t>
            </a:r>
            <a:r>
              <a:rPr lang="en-GB" sz="2600" b="1" dirty="0" err="1">
                <a:solidFill>
                  <a:srgbClr val="000000"/>
                </a:solidFill>
              </a:rPr>
              <a:t>d'accès</a:t>
            </a:r>
            <a:r>
              <a:rPr lang="en-GB" sz="2600" b="1" dirty="0">
                <a:solidFill>
                  <a:srgbClr val="000000"/>
                </a:solidFill>
              </a:rPr>
              <a:t> distant (</a:t>
            </a:r>
            <a:r>
              <a:rPr lang="en-GB" sz="2600" b="1" dirty="0" err="1">
                <a:solidFill>
                  <a:srgbClr val="000000"/>
                </a:solidFill>
              </a:rPr>
              <a:t>Accès</a:t>
            </a:r>
            <a:r>
              <a:rPr lang="en-GB" sz="2600" b="1" dirty="0">
                <a:solidFill>
                  <a:srgbClr val="000000"/>
                </a:solidFill>
              </a:rPr>
              <a:t> à distance </a:t>
            </a:r>
            <a:r>
              <a:rPr lang="en-GB" sz="2600" b="1" dirty="0" err="1">
                <a:solidFill>
                  <a:srgbClr val="000000"/>
                </a:solidFill>
              </a:rPr>
              <a:t>ou</a:t>
            </a:r>
            <a:r>
              <a:rPr lang="en-GB" sz="2600" b="1" dirty="0">
                <a:solidFill>
                  <a:srgbClr val="000000"/>
                </a:solidFill>
              </a:rPr>
              <a:t> VPN): </a:t>
            </a:r>
            <a:r>
              <a:rPr lang="fr-FR" sz="2600" dirty="0"/>
              <a:t>autorisé, refusé ou déterminé d’après les stratégies d’accès distant.</a:t>
            </a:r>
            <a:endParaRPr lang="en-US" sz="2600" b="1" dirty="0"/>
          </a:p>
          <a:p>
            <a:pPr marL="225425" indent="-225425" algn="l">
              <a:lnSpc>
                <a:spcPct val="85000"/>
              </a:lnSpc>
              <a:spcBef>
                <a:spcPct val="40000"/>
              </a:spcBef>
              <a:buSzPct val="80000"/>
              <a:buFont typeface="Wingdings" pitchFamily="2" charset="2"/>
              <a:buChar char="q"/>
            </a:pPr>
            <a:r>
              <a:rPr lang="en-GB" sz="2600" b="1" dirty="0" err="1">
                <a:solidFill>
                  <a:srgbClr val="000000"/>
                </a:solidFill>
              </a:rPr>
              <a:t>Vérifier</a:t>
            </a:r>
            <a:r>
              <a:rPr lang="en-GB" sz="2600" b="1" dirty="0">
                <a:solidFill>
                  <a:srgbClr val="000000"/>
                </a:solidFill>
              </a:rPr>
              <a:t> </a:t>
            </a:r>
            <a:r>
              <a:rPr lang="en-GB" sz="2600" b="1" dirty="0" err="1">
                <a:solidFill>
                  <a:srgbClr val="000000"/>
                </a:solidFill>
              </a:rPr>
              <a:t>l'identité</a:t>
            </a:r>
            <a:r>
              <a:rPr lang="en-GB" sz="2600" b="1" dirty="0">
                <a:solidFill>
                  <a:srgbClr val="000000"/>
                </a:solidFill>
              </a:rPr>
              <a:t> de </a:t>
            </a:r>
            <a:r>
              <a:rPr lang="en-GB" sz="2600" b="1" dirty="0" err="1">
                <a:solidFill>
                  <a:srgbClr val="000000"/>
                </a:solidFill>
              </a:rPr>
              <a:t>l'appelant</a:t>
            </a:r>
            <a:r>
              <a:rPr lang="en-GB" sz="2600" b="1" dirty="0">
                <a:solidFill>
                  <a:srgbClr val="000000"/>
                </a:solidFill>
              </a:rPr>
              <a:t>: </a:t>
            </a:r>
            <a:r>
              <a:rPr lang="fr-FR" sz="2600" dirty="0"/>
              <a:t>vérifier le numéro de téléphone de l’appelant</a:t>
            </a:r>
            <a:endParaRPr lang="en-US" sz="2600" b="1" dirty="0"/>
          </a:p>
          <a:p>
            <a:pPr algn="l">
              <a:buFont typeface="Wingdings" pitchFamily="2" charset="2"/>
              <a:buChar char="q"/>
            </a:pPr>
            <a:r>
              <a:rPr lang="en-GB" sz="2600" b="1" dirty="0">
                <a:solidFill>
                  <a:srgbClr val="000000"/>
                </a:solidFill>
              </a:rPr>
              <a:t>Options de rappel: </a:t>
            </a:r>
            <a:r>
              <a:rPr lang="fr-FR" sz="2600" dirty="0"/>
              <a:t>serveur rappelle l’appelant durant le processus de connexion</a:t>
            </a:r>
            <a:endParaRPr lang="en-US" sz="2600" b="1" dirty="0"/>
          </a:p>
          <a:p>
            <a:pPr algn="l">
              <a:buFont typeface="Wingdings" pitchFamily="2" charset="2"/>
              <a:buChar char="q"/>
            </a:pPr>
            <a:r>
              <a:rPr lang="en-GB" sz="2600" b="1" dirty="0">
                <a:solidFill>
                  <a:srgbClr val="000000"/>
                </a:solidFill>
              </a:rPr>
              <a:t>Attribution </a:t>
            </a:r>
            <a:r>
              <a:rPr lang="en-GB" sz="2600" b="1" dirty="0" err="1">
                <a:solidFill>
                  <a:srgbClr val="000000"/>
                </a:solidFill>
              </a:rPr>
              <a:t>d'une</a:t>
            </a:r>
            <a:r>
              <a:rPr lang="en-GB" sz="2600" b="1" dirty="0">
                <a:solidFill>
                  <a:srgbClr val="000000"/>
                </a:solidFill>
              </a:rPr>
              <a:t> </a:t>
            </a:r>
            <a:r>
              <a:rPr lang="en-GB" sz="2600" b="1" dirty="0" err="1">
                <a:solidFill>
                  <a:srgbClr val="000000"/>
                </a:solidFill>
              </a:rPr>
              <a:t>adresse</a:t>
            </a:r>
            <a:r>
              <a:rPr lang="en-GB" sz="2600" b="1" dirty="0">
                <a:solidFill>
                  <a:srgbClr val="000000"/>
                </a:solidFill>
              </a:rPr>
              <a:t> IP </a:t>
            </a:r>
            <a:r>
              <a:rPr lang="en-GB" sz="2600" b="1" dirty="0" err="1">
                <a:solidFill>
                  <a:srgbClr val="000000"/>
                </a:solidFill>
              </a:rPr>
              <a:t>statique</a:t>
            </a:r>
            <a:r>
              <a:rPr lang="en-GB" sz="2600" b="1" dirty="0">
                <a:solidFill>
                  <a:srgbClr val="000000"/>
                </a:solidFill>
              </a:rPr>
              <a:t>: </a:t>
            </a:r>
            <a:r>
              <a:rPr lang="fr-FR" sz="2600" dirty="0"/>
              <a:t>attribuer  à un utilisateur une adresse IP spécifique pendant l’établissement d’une connexion</a:t>
            </a:r>
            <a:endParaRPr lang="en-US" sz="2600" b="1" dirty="0"/>
          </a:p>
          <a:p>
            <a:pPr algn="l">
              <a:buFont typeface="Wingdings" pitchFamily="2" charset="2"/>
              <a:buChar char="q"/>
            </a:pPr>
            <a:r>
              <a:rPr lang="en-GB" sz="2600" b="1" dirty="0" err="1">
                <a:solidFill>
                  <a:srgbClr val="000000"/>
                </a:solidFill>
              </a:rPr>
              <a:t>Appliquer</a:t>
            </a:r>
            <a:r>
              <a:rPr lang="en-GB" sz="2600" b="1" dirty="0">
                <a:solidFill>
                  <a:srgbClr val="000000"/>
                </a:solidFill>
              </a:rPr>
              <a:t> les </a:t>
            </a:r>
            <a:r>
              <a:rPr lang="en-GB" sz="2600" b="1" dirty="0" err="1">
                <a:solidFill>
                  <a:srgbClr val="000000"/>
                </a:solidFill>
              </a:rPr>
              <a:t>itinéraires</a:t>
            </a:r>
            <a:r>
              <a:rPr lang="en-GB" sz="2600" b="1" dirty="0">
                <a:solidFill>
                  <a:srgbClr val="000000"/>
                </a:solidFill>
              </a:rPr>
              <a:t> </a:t>
            </a:r>
            <a:r>
              <a:rPr lang="en-GB" sz="2600" b="1" dirty="0" err="1">
                <a:solidFill>
                  <a:srgbClr val="000000"/>
                </a:solidFill>
              </a:rPr>
              <a:t>statiques</a:t>
            </a:r>
            <a:r>
              <a:rPr lang="en-GB" sz="2600" b="1" dirty="0">
                <a:solidFill>
                  <a:srgbClr val="000000"/>
                </a:solidFill>
              </a:rPr>
              <a:t>: </a:t>
            </a:r>
            <a:r>
              <a:rPr lang="fr-FR" sz="2600" dirty="0"/>
              <a:t>définir une série d’itinéraires IP statiques qui sont ajoutés à la table de routage du serveur RAS</a:t>
            </a:r>
            <a:endParaRPr lang="en-US" sz="2600" b="1" dirty="0">
              <a:solidFill>
                <a:srgbClr val="000000"/>
              </a:solidFill>
            </a:endParaRPr>
          </a:p>
        </p:txBody>
      </p:sp>
      <p:sp>
        <p:nvSpPr>
          <p:cNvPr id="7" name="Rectangle 6"/>
          <p:cNvSpPr/>
          <p:nvPr/>
        </p:nvSpPr>
        <p:spPr>
          <a:xfrm>
            <a:off x="210457" y="1472361"/>
            <a:ext cx="8338458" cy="461665"/>
          </a:xfrm>
          <a:prstGeom prst="rect">
            <a:avLst/>
          </a:prstGeom>
        </p:spPr>
        <p:txBody>
          <a:bodyPr wrap="square">
            <a:spAutoFit/>
          </a:bodyPr>
          <a:lstStyle/>
          <a:p>
            <a:pPr algn="l"/>
            <a:r>
              <a:rPr lang="en-GB" sz="2400" b="1" dirty="0">
                <a:solidFill>
                  <a:srgbClr val="000000"/>
                </a:solidFill>
              </a:rPr>
              <a:t>Les </a:t>
            </a:r>
            <a:r>
              <a:rPr lang="en-GB" sz="2400" b="1" dirty="0" err="1">
                <a:solidFill>
                  <a:srgbClr val="000000"/>
                </a:solidFill>
              </a:rPr>
              <a:t>propriétés</a:t>
            </a:r>
            <a:r>
              <a:rPr lang="en-GB" sz="2400" b="1" dirty="0">
                <a:solidFill>
                  <a:srgbClr val="000000"/>
                </a:solidFill>
              </a:rPr>
              <a:t> </a:t>
            </a:r>
            <a:r>
              <a:rPr lang="en-GB" sz="2400" b="1" dirty="0" err="1">
                <a:solidFill>
                  <a:srgbClr val="000000"/>
                </a:solidFill>
              </a:rPr>
              <a:t>d'appel</a:t>
            </a:r>
            <a:r>
              <a:rPr lang="en-GB" sz="2400" b="1" dirty="0">
                <a:solidFill>
                  <a:srgbClr val="000000"/>
                </a:solidFill>
              </a:rPr>
              <a:t> entrant </a:t>
            </a:r>
            <a:r>
              <a:rPr lang="en-GB" sz="2400" b="1" dirty="0" err="1">
                <a:solidFill>
                  <a:srgbClr val="000000"/>
                </a:solidFill>
              </a:rPr>
              <a:t>ci-dessous</a:t>
            </a:r>
            <a:r>
              <a:rPr lang="en-GB" sz="2400" b="1" dirty="0">
                <a:solidFill>
                  <a:srgbClr val="000000"/>
                </a:solidFill>
              </a:rPr>
              <a:t> :</a:t>
            </a:r>
            <a:endParaRPr lang="en-US"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checkerboard(across)">
                                      <p:cBhvr>
                                        <p:cTn id="7" dur="10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checkerboard(across)">
                                      <p:cBhvr>
                                        <p:cTn id="12" dur="10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checkerboard(across)">
                                      <p:cBhvr>
                                        <p:cTn id="17" dur="10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checkerboard(across)">
                                      <p:cBhvr>
                                        <p:cTn id="22" dur="10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animEffect transition="in" filter="checkerboard(across)">
                                      <p:cBhvr>
                                        <p:cTn id="27" dur="10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106" name="Rectangle 2"/>
          <p:cNvSpPr>
            <a:spLocks noGrp="1" noChangeArrowheads="1"/>
          </p:cNvSpPr>
          <p:nvPr>
            <p:ph type="title"/>
            <p:custDataLst>
              <p:tags r:id="rId1"/>
            </p:custDataLst>
          </p:nvPr>
        </p:nvSpPr>
        <p:spPr/>
        <p:txBody>
          <a:bodyPr vert="horz" anchor="b">
            <a:normAutofit/>
          </a:bodyPr>
          <a:lstStyle/>
          <a:p>
            <a:r>
              <a:rPr lang="fr-FR" sz="2500" dirty="0">
                <a:solidFill>
                  <a:srgbClr val="C00000"/>
                </a:solidFill>
              </a:rPr>
              <a:t>Qu'est-ce qu'une stratégie d'accès distant ?</a:t>
            </a:r>
            <a:endParaRPr sz="2500" dirty="0">
              <a:solidFill>
                <a:srgbClr val="C00000"/>
              </a:solidFill>
            </a:endParaRPr>
          </a:p>
        </p:txBody>
      </p:sp>
      <p:sp>
        <p:nvSpPr>
          <p:cNvPr id="431107" name="AutoShape 3"/>
          <p:cNvSpPr>
            <a:spLocks noChangeArrowheads="1"/>
          </p:cNvSpPr>
          <p:nvPr>
            <p:custDataLst>
              <p:tags r:id="rId2"/>
            </p:custDataLst>
          </p:nvPr>
        </p:nvSpPr>
        <p:spPr bwMode="auto">
          <a:xfrm>
            <a:off x="275771" y="1601788"/>
            <a:ext cx="8505372" cy="4813526"/>
          </a:xfrm>
          <a:prstGeom prst="roundRect">
            <a:avLst>
              <a:gd name="adj" fmla="val 7852"/>
            </a:avLst>
          </a:prstGeom>
          <a:gradFill rotWithShape="1">
            <a:gsLst>
              <a:gs pos="0">
                <a:srgbClr val="EAABA0"/>
              </a:gs>
              <a:gs pos="100000">
                <a:srgbClr val="F6D9D4"/>
              </a:gs>
            </a:gsLst>
            <a:lin ang="2700000" scaled="1"/>
          </a:gradFill>
          <a:ln w="9525" algn="ctr">
            <a:solidFill>
              <a:srgbClr val="808080"/>
            </a:solidFill>
            <a:round/>
            <a:headEnd/>
            <a:tailEnd/>
          </a:ln>
          <a:effectLst>
            <a:outerShdw dist="35921" dir="2700000" algn="ctr" rotWithShape="0">
              <a:srgbClr val="C0C0C0"/>
            </a:outerShdw>
          </a:effectLst>
        </p:spPr>
        <p:txBody>
          <a:bodyPr/>
          <a:lstStyle/>
          <a:p>
            <a:pPr algn="l"/>
            <a:r>
              <a:rPr lang="en-GB" sz="2400" b="1" dirty="0" err="1">
                <a:solidFill>
                  <a:srgbClr val="000000"/>
                </a:solidFill>
              </a:rPr>
              <a:t>Une</a:t>
            </a:r>
            <a:r>
              <a:rPr lang="en-GB" sz="2400" b="1" dirty="0">
                <a:solidFill>
                  <a:srgbClr val="000000"/>
                </a:solidFill>
              </a:rPr>
              <a:t> </a:t>
            </a:r>
            <a:r>
              <a:rPr lang="en-GB" sz="2400" b="1" i="1" dirty="0" err="1">
                <a:solidFill>
                  <a:srgbClr val="000000"/>
                </a:solidFill>
              </a:rPr>
              <a:t>stratégie</a:t>
            </a:r>
            <a:r>
              <a:rPr lang="en-GB" sz="2400" b="1" i="1" dirty="0">
                <a:solidFill>
                  <a:srgbClr val="000000"/>
                </a:solidFill>
              </a:rPr>
              <a:t> </a:t>
            </a:r>
            <a:r>
              <a:rPr lang="en-GB" sz="2400" b="1" i="1" dirty="0" err="1">
                <a:solidFill>
                  <a:srgbClr val="000000"/>
                </a:solidFill>
              </a:rPr>
              <a:t>d'accès</a:t>
            </a:r>
            <a:r>
              <a:rPr lang="en-GB" sz="2400" b="1" i="1" dirty="0">
                <a:solidFill>
                  <a:srgbClr val="000000"/>
                </a:solidFill>
              </a:rPr>
              <a:t> distant</a:t>
            </a:r>
            <a:r>
              <a:rPr lang="en-GB" sz="2400" b="1" dirty="0">
                <a:solidFill>
                  <a:srgbClr val="000000"/>
                </a:solidFill>
              </a:rPr>
              <a:t> </a:t>
            </a:r>
            <a:r>
              <a:rPr lang="en-GB" sz="2400" b="1" dirty="0" err="1">
                <a:solidFill>
                  <a:srgbClr val="000000"/>
                </a:solidFill>
              </a:rPr>
              <a:t>est</a:t>
            </a:r>
            <a:r>
              <a:rPr lang="en-GB" sz="2400" b="1" dirty="0">
                <a:solidFill>
                  <a:srgbClr val="000000"/>
                </a:solidFill>
              </a:rPr>
              <a:t> </a:t>
            </a:r>
            <a:r>
              <a:rPr lang="en-GB" sz="2400" b="1" dirty="0" err="1">
                <a:solidFill>
                  <a:srgbClr val="000000"/>
                </a:solidFill>
              </a:rPr>
              <a:t>une</a:t>
            </a:r>
            <a:r>
              <a:rPr lang="en-GB" sz="2400" b="1" dirty="0">
                <a:solidFill>
                  <a:srgbClr val="000000"/>
                </a:solidFill>
              </a:rPr>
              <a:t> </a:t>
            </a:r>
            <a:r>
              <a:rPr lang="en-GB" sz="2400" b="1" dirty="0" err="1">
                <a:solidFill>
                  <a:srgbClr val="000000"/>
                </a:solidFill>
              </a:rPr>
              <a:t>règle</a:t>
            </a:r>
            <a:r>
              <a:rPr lang="en-GB" sz="2400" b="1" dirty="0">
                <a:solidFill>
                  <a:srgbClr val="000000"/>
                </a:solidFill>
              </a:rPr>
              <a:t> </a:t>
            </a:r>
            <a:r>
              <a:rPr lang="en-GB" sz="2400" b="1" dirty="0" err="1">
                <a:solidFill>
                  <a:srgbClr val="000000"/>
                </a:solidFill>
              </a:rPr>
              <a:t>nommée</a:t>
            </a:r>
            <a:r>
              <a:rPr lang="en-GB" sz="2400" b="1" dirty="0">
                <a:solidFill>
                  <a:srgbClr val="000000"/>
                </a:solidFill>
              </a:rPr>
              <a:t> </a:t>
            </a:r>
            <a:r>
              <a:rPr lang="en-GB" sz="2400" b="1" dirty="0" err="1">
                <a:solidFill>
                  <a:srgbClr val="000000"/>
                </a:solidFill>
              </a:rPr>
              <a:t>comprenant</a:t>
            </a:r>
            <a:r>
              <a:rPr lang="en-GB" sz="2400" b="1" dirty="0">
                <a:solidFill>
                  <a:srgbClr val="000000"/>
                </a:solidFill>
              </a:rPr>
              <a:t> les </a:t>
            </a:r>
            <a:r>
              <a:rPr lang="en-GB" sz="2400" b="1" dirty="0" err="1">
                <a:solidFill>
                  <a:srgbClr val="000000"/>
                </a:solidFill>
              </a:rPr>
              <a:t>éléments</a:t>
            </a:r>
            <a:r>
              <a:rPr lang="en-GB" sz="2400" b="1" dirty="0">
                <a:solidFill>
                  <a:srgbClr val="000000"/>
                </a:solidFill>
              </a:rPr>
              <a:t> </a:t>
            </a:r>
            <a:r>
              <a:rPr lang="en-GB" sz="2400" b="1" dirty="0" err="1">
                <a:solidFill>
                  <a:srgbClr val="000000"/>
                </a:solidFill>
              </a:rPr>
              <a:t>suivants</a:t>
            </a:r>
            <a:r>
              <a:rPr lang="en-GB" sz="2400" b="1" dirty="0">
                <a:solidFill>
                  <a:srgbClr val="000000"/>
                </a:solidFill>
              </a:rPr>
              <a:t> :</a:t>
            </a:r>
            <a:endParaRPr lang="en-US" sz="2400" b="1" dirty="0">
              <a:solidFill>
                <a:srgbClr val="000000"/>
              </a:solidFill>
            </a:endParaRPr>
          </a:p>
          <a:p>
            <a:pPr algn="l"/>
            <a:endParaRPr lang="en-US" sz="2400" b="1" dirty="0"/>
          </a:p>
        </p:txBody>
      </p:sp>
      <p:pic>
        <p:nvPicPr>
          <p:cNvPr id="431109" name="Picture 5" descr="Policy_Writing01"/>
          <p:cNvPicPr>
            <a:picLocks noChangeAspect="1" noChangeArrowheads="1"/>
          </p:cNvPicPr>
          <p:nvPr/>
        </p:nvPicPr>
        <p:blipFill>
          <a:blip r:embed="rId6" cstate="print"/>
          <a:srcRect/>
          <a:stretch>
            <a:fillRect/>
          </a:stretch>
        </p:blipFill>
        <p:spPr bwMode="auto">
          <a:xfrm rot="348979">
            <a:off x="7887482" y="674689"/>
            <a:ext cx="836612" cy="1168400"/>
          </a:xfrm>
          <a:prstGeom prst="rect">
            <a:avLst/>
          </a:prstGeom>
          <a:noFill/>
        </p:spPr>
      </p:pic>
      <p:sp>
        <p:nvSpPr>
          <p:cNvPr id="431110" name="AutoShape 6"/>
          <p:cNvSpPr>
            <a:spLocks noChangeArrowheads="1"/>
          </p:cNvSpPr>
          <p:nvPr>
            <p:custDataLst>
              <p:tags r:id="rId3"/>
            </p:custDataLst>
          </p:nvPr>
        </p:nvSpPr>
        <p:spPr bwMode="auto">
          <a:xfrm>
            <a:off x="711200" y="2705100"/>
            <a:ext cx="7939313" cy="3507014"/>
          </a:xfrm>
          <a:prstGeom prst="roundRect">
            <a:avLst>
              <a:gd name="adj" fmla="val 4167"/>
            </a:avLst>
          </a:prstGeom>
          <a:gradFill rotWithShape="1">
            <a:gsLst>
              <a:gs pos="0">
                <a:srgbClr val="EEEFD7"/>
              </a:gs>
              <a:gs pos="100000">
                <a:srgbClr val="D5D69C"/>
              </a:gs>
            </a:gsLst>
            <a:lin ang="2700000" scaled="1"/>
          </a:gradFill>
          <a:ln w="9525">
            <a:solidFill>
              <a:srgbClr val="4D4D4D"/>
            </a:solidFill>
            <a:round/>
            <a:headEnd/>
            <a:tailEnd/>
          </a:ln>
          <a:effectLst>
            <a:outerShdw dist="35921" dir="2700000" algn="ctr" rotWithShape="0">
              <a:srgbClr val="AFAFAF"/>
            </a:outerShdw>
          </a:effectLst>
        </p:spPr>
        <p:txBody>
          <a:bodyPr tIns="91440" anchor="ctr"/>
          <a:lstStyle/>
          <a:p>
            <a:pPr marL="225425" indent="-225425" algn="l">
              <a:lnSpc>
                <a:spcPct val="85000"/>
              </a:lnSpc>
              <a:spcBef>
                <a:spcPct val="40000"/>
              </a:spcBef>
              <a:buSzPct val="80000"/>
              <a:buFontTx/>
              <a:buBlip>
                <a:blip r:embed="rId7"/>
              </a:buBlip>
            </a:pPr>
            <a:r>
              <a:rPr lang="en-GB" sz="2500" b="1" dirty="0">
                <a:solidFill>
                  <a:srgbClr val="000000"/>
                </a:solidFill>
              </a:rPr>
              <a:t>Conditions.</a:t>
            </a:r>
            <a:r>
              <a:rPr lang="en-US" sz="2500" dirty="0"/>
              <a:t> </a:t>
            </a:r>
            <a:r>
              <a:rPr lang="en-GB" sz="2500" dirty="0">
                <a:solidFill>
                  <a:srgbClr val="000000"/>
                </a:solidFill>
              </a:rPr>
              <a:t>Un </a:t>
            </a:r>
            <a:r>
              <a:rPr lang="en-GB" sz="2500" dirty="0" err="1">
                <a:solidFill>
                  <a:srgbClr val="000000"/>
                </a:solidFill>
              </a:rPr>
              <a:t>ou</a:t>
            </a:r>
            <a:r>
              <a:rPr lang="en-GB" sz="2500" dirty="0">
                <a:solidFill>
                  <a:srgbClr val="000000"/>
                </a:solidFill>
              </a:rPr>
              <a:t> </a:t>
            </a:r>
            <a:r>
              <a:rPr lang="en-GB" sz="2500" dirty="0" err="1">
                <a:solidFill>
                  <a:srgbClr val="000000"/>
                </a:solidFill>
              </a:rPr>
              <a:t>plusieurs</a:t>
            </a:r>
            <a:r>
              <a:rPr lang="en-GB" sz="2500" dirty="0">
                <a:solidFill>
                  <a:srgbClr val="000000"/>
                </a:solidFill>
              </a:rPr>
              <a:t> </a:t>
            </a:r>
            <a:r>
              <a:rPr lang="en-GB" sz="2500" dirty="0" err="1">
                <a:solidFill>
                  <a:srgbClr val="000000"/>
                </a:solidFill>
              </a:rPr>
              <a:t>attributs</a:t>
            </a:r>
            <a:r>
              <a:rPr lang="en-GB" sz="2500" dirty="0">
                <a:solidFill>
                  <a:srgbClr val="000000"/>
                </a:solidFill>
              </a:rPr>
              <a:t> qui </a:t>
            </a:r>
            <a:r>
              <a:rPr lang="en-GB" sz="2500" dirty="0" err="1">
                <a:solidFill>
                  <a:srgbClr val="000000"/>
                </a:solidFill>
              </a:rPr>
              <a:t>sont</a:t>
            </a:r>
            <a:r>
              <a:rPr lang="en-GB" sz="2500" dirty="0">
                <a:solidFill>
                  <a:srgbClr val="000000"/>
                </a:solidFill>
              </a:rPr>
              <a:t> </a:t>
            </a:r>
            <a:r>
              <a:rPr lang="en-GB" sz="2500" dirty="0" err="1">
                <a:solidFill>
                  <a:srgbClr val="000000"/>
                </a:solidFill>
              </a:rPr>
              <a:t>comparés</a:t>
            </a:r>
            <a:r>
              <a:rPr lang="en-GB" sz="2500" dirty="0">
                <a:solidFill>
                  <a:srgbClr val="000000"/>
                </a:solidFill>
              </a:rPr>
              <a:t> aux </a:t>
            </a:r>
            <a:r>
              <a:rPr lang="en-GB" sz="2500" dirty="0" err="1">
                <a:solidFill>
                  <a:srgbClr val="000000"/>
                </a:solidFill>
              </a:rPr>
              <a:t>paramètres</a:t>
            </a:r>
            <a:r>
              <a:rPr lang="en-GB" sz="2500" dirty="0">
                <a:solidFill>
                  <a:srgbClr val="000000"/>
                </a:solidFill>
              </a:rPr>
              <a:t> de la tentative de connexion</a:t>
            </a:r>
            <a:endParaRPr lang="en-US" sz="2500" dirty="0"/>
          </a:p>
          <a:p>
            <a:pPr marL="225425" indent="-225425" algn="l">
              <a:lnSpc>
                <a:spcPct val="85000"/>
              </a:lnSpc>
              <a:spcBef>
                <a:spcPct val="40000"/>
              </a:spcBef>
              <a:buSzPct val="80000"/>
              <a:buFontTx/>
              <a:buBlip>
                <a:blip r:embed="rId7"/>
              </a:buBlip>
            </a:pPr>
            <a:r>
              <a:rPr lang="en-GB" sz="2500" b="1" dirty="0" err="1">
                <a:solidFill>
                  <a:srgbClr val="000000"/>
                </a:solidFill>
              </a:rPr>
              <a:t>Autorisation</a:t>
            </a:r>
            <a:r>
              <a:rPr lang="en-GB" sz="2500" b="1" dirty="0">
                <a:solidFill>
                  <a:srgbClr val="000000"/>
                </a:solidFill>
              </a:rPr>
              <a:t> </a:t>
            </a:r>
            <a:r>
              <a:rPr lang="en-GB" sz="2500" b="1" dirty="0" err="1">
                <a:solidFill>
                  <a:srgbClr val="000000"/>
                </a:solidFill>
              </a:rPr>
              <a:t>d'accès</a:t>
            </a:r>
            <a:r>
              <a:rPr lang="en-GB" sz="2500" b="1" dirty="0">
                <a:solidFill>
                  <a:srgbClr val="000000"/>
                </a:solidFill>
              </a:rPr>
              <a:t> distant.</a:t>
            </a:r>
            <a:r>
              <a:rPr lang="en-US" sz="2500" b="1" dirty="0"/>
              <a:t> </a:t>
            </a:r>
            <a:r>
              <a:rPr lang="en-GB" sz="2500" dirty="0">
                <a:solidFill>
                  <a:srgbClr val="000000"/>
                </a:solidFill>
              </a:rPr>
              <a:t>Si </a:t>
            </a:r>
            <a:r>
              <a:rPr lang="en-GB" sz="2500" dirty="0" err="1">
                <a:solidFill>
                  <a:srgbClr val="000000"/>
                </a:solidFill>
              </a:rPr>
              <a:t>toutes</a:t>
            </a:r>
            <a:r>
              <a:rPr lang="en-GB" sz="2500" dirty="0">
                <a:solidFill>
                  <a:srgbClr val="000000"/>
                </a:solidFill>
              </a:rPr>
              <a:t> les conditions </a:t>
            </a:r>
            <a:r>
              <a:rPr lang="en-GB" sz="2500" dirty="0" err="1">
                <a:solidFill>
                  <a:srgbClr val="000000"/>
                </a:solidFill>
              </a:rPr>
              <a:t>d'une</a:t>
            </a:r>
            <a:r>
              <a:rPr lang="en-GB" sz="2500" dirty="0">
                <a:solidFill>
                  <a:srgbClr val="000000"/>
                </a:solidFill>
              </a:rPr>
              <a:t> </a:t>
            </a:r>
            <a:r>
              <a:rPr lang="en-GB" sz="2500" dirty="0" err="1">
                <a:solidFill>
                  <a:srgbClr val="000000"/>
                </a:solidFill>
              </a:rPr>
              <a:t>stratégie</a:t>
            </a:r>
            <a:r>
              <a:rPr lang="en-GB" sz="2500" dirty="0">
                <a:solidFill>
                  <a:srgbClr val="000000"/>
                </a:solidFill>
              </a:rPr>
              <a:t> </a:t>
            </a:r>
            <a:r>
              <a:rPr lang="en-GB" sz="2500" dirty="0" err="1">
                <a:solidFill>
                  <a:srgbClr val="000000"/>
                </a:solidFill>
              </a:rPr>
              <a:t>d'accès</a:t>
            </a:r>
            <a:r>
              <a:rPr lang="en-GB" sz="2500" dirty="0">
                <a:solidFill>
                  <a:srgbClr val="000000"/>
                </a:solidFill>
              </a:rPr>
              <a:t> distant </a:t>
            </a:r>
            <a:r>
              <a:rPr lang="en-GB" sz="2500" dirty="0" err="1">
                <a:solidFill>
                  <a:srgbClr val="000000"/>
                </a:solidFill>
              </a:rPr>
              <a:t>sont</a:t>
            </a:r>
            <a:r>
              <a:rPr lang="en-GB" sz="2500" dirty="0">
                <a:solidFill>
                  <a:srgbClr val="000000"/>
                </a:solidFill>
              </a:rPr>
              <a:t> </a:t>
            </a:r>
            <a:r>
              <a:rPr lang="en-GB" sz="2500" dirty="0" err="1">
                <a:solidFill>
                  <a:srgbClr val="000000"/>
                </a:solidFill>
              </a:rPr>
              <a:t>remplies</a:t>
            </a:r>
            <a:r>
              <a:rPr lang="en-GB" sz="2500" dirty="0">
                <a:solidFill>
                  <a:srgbClr val="000000"/>
                </a:solidFill>
              </a:rPr>
              <a:t>, </a:t>
            </a:r>
            <a:r>
              <a:rPr lang="en-GB" sz="2500" dirty="0" err="1">
                <a:solidFill>
                  <a:srgbClr val="000000"/>
                </a:solidFill>
              </a:rPr>
              <a:t>l'autorisation</a:t>
            </a:r>
            <a:r>
              <a:rPr lang="en-GB" sz="2500" dirty="0">
                <a:solidFill>
                  <a:srgbClr val="000000"/>
                </a:solidFill>
              </a:rPr>
              <a:t> </a:t>
            </a:r>
            <a:r>
              <a:rPr lang="en-GB" sz="2500" dirty="0" err="1">
                <a:solidFill>
                  <a:srgbClr val="000000"/>
                </a:solidFill>
              </a:rPr>
              <a:t>d'accès</a:t>
            </a:r>
            <a:r>
              <a:rPr lang="en-GB" sz="2500" dirty="0">
                <a:solidFill>
                  <a:srgbClr val="000000"/>
                </a:solidFill>
              </a:rPr>
              <a:t> distant </a:t>
            </a:r>
            <a:r>
              <a:rPr lang="en-GB" sz="2500" dirty="0" err="1">
                <a:solidFill>
                  <a:srgbClr val="000000"/>
                </a:solidFill>
              </a:rPr>
              <a:t>peut</a:t>
            </a:r>
            <a:r>
              <a:rPr lang="en-GB" sz="2500" dirty="0">
                <a:solidFill>
                  <a:srgbClr val="000000"/>
                </a:solidFill>
              </a:rPr>
              <a:t> </a:t>
            </a:r>
            <a:r>
              <a:rPr lang="en-GB" sz="2500" dirty="0" err="1">
                <a:solidFill>
                  <a:srgbClr val="000000"/>
                </a:solidFill>
              </a:rPr>
              <a:t>être</a:t>
            </a:r>
            <a:r>
              <a:rPr lang="en-GB" sz="2500" dirty="0">
                <a:solidFill>
                  <a:srgbClr val="000000"/>
                </a:solidFill>
              </a:rPr>
              <a:t> </a:t>
            </a:r>
            <a:r>
              <a:rPr lang="en-GB" sz="2500" dirty="0" err="1">
                <a:solidFill>
                  <a:srgbClr val="000000"/>
                </a:solidFill>
              </a:rPr>
              <a:t>soit</a:t>
            </a:r>
            <a:r>
              <a:rPr lang="en-GB" sz="2500" dirty="0">
                <a:solidFill>
                  <a:srgbClr val="000000"/>
                </a:solidFill>
              </a:rPr>
              <a:t> </a:t>
            </a:r>
            <a:r>
              <a:rPr lang="en-GB" sz="2500" dirty="0" err="1">
                <a:solidFill>
                  <a:srgbClr val="000000"/>
                </a:solidFill>
              </a:rPr>
              <a:t>octroyée</a:t>
            </a:r>
            <a:r>
              <a:rPr lang="en-GB" sz="2500" dirty="0">
                <a:solidFill>
                  <a:srgbClr val="000000"/>
                </a:solidFill>
              </a:rPr>
              <a:t>, </a:t>
            </a:r>
            <a:r>
              <a:rPr lang="en-GB" sz="2500" dirty="0" err="1">
                <a:solidFill>
                  <a:srgbClr val="000000"/>
                </a:solidFill>
              </a:rPr>
              <a:t>soit</a:t>
            </a:r>
            <a:r>
              <a:rPr lang="en-GB" sz="2500" dirty="0">
                <a:solidFill>
                  <a:srgbClr val="000000"/>
                </a:solidFill>
              </a:rPr>
              <a:t> </a:t>
            </a:r>
            <a:r>
              <a:rPr lang="en-GB" sz="2500" dirty="0" err="1">
                <a:solidFill>
                  <a:srgbClr val="000000"/>
                </a:solidFill>
              </a:rPr>
              <a:t>refusée</a:t>
            </a:r>
            <a:endParaRPr lang="en-US" sz="2500" b="1" dirty="0"/>
          </a:p>
          <a:p>
            <a:pPr marL="225425" indent="-225425" algn="l">
              <a:lnSpc>
                <a:spcPct val="85000"/>
              </a:lnSpc>
              <a:spcBef>
                <a:spcPct val="40000"/>
              </a:spcBef>
              <a:buSzPct val="80000"/>
              <a:buFontTx/>
              <a:buBlip>
                <a:blip r:embed="rId7"/>
              </a:buBlip>
            </a:pPr>
            <a:r>
              <a:rPr lang="en-GB" sz="2500" b="1" dirty="0" err="1">
                <a:solidFill>
                  <a:srgbClr val="000000"/>
                </a:solidFill>
              </a:rPr>
              <a:t>Profil</a:t>
            </a:r>
            <a:r>
              <a:rPr lang="en-GB" sz="2500" b="1" dirty="0">
                <a:solidFill>
                  <a:srgbClr val="000000"/>
                </a:solidFill>
              </a:rPr>
              <a:t>.</a:t>
            </a:r>
            <a:r>
              <a:rPr lang="en-US" sz="2500" b="1" dirty="0"/>
              <a:t> </a:t>
            </a:r>
            <a:r>
              <a:rPr lang="en-GB" sz="2500" dirty="0">
                <a:solidFill>
                  <a:srgbClr val="000000"/>
                </a:solidFill>
              </a:rPr>
              <a:t>Ensemble de </a:t>
            </a:r>
            <a:r>
              <a:rPr lang="en-GB" sz="2500" dirty="0" err="1">
                <a:solidFill>
                  <a:srgbClr val="000000"/>
                </a:solidFill>
              </a:rPr>
              <a:t>propriétés</a:t>
            </a:r>
            <a:r>
              <a:rPr lang="en-GB" sz="2500" dirty="0">
                <a:solidFill>
                  <a:srgbClr val="000000"/>
                </a:solidFill>
              </a:rPr>
              <a:t> </a:t>
            </a:r>
            <a:r>
              <a:rPr lang="en-GB" sz="2500" dirty="0" err="1">
                <a:solidFill>
                  <a:srgbClr val="000000"/>
                </a:solidFill>
              </a:rPr>
              <a:t>appliquées</a:t>
            </a:r>
            <a:r>
              <a:rPr lang="en-GB" sz="2500" dirty="0">
                <a:solidFill>
                  <a:srgbClr val="000000"/>
                </a:solidFill>
              </a:rPr>
              <a:t> à </a:t>
            </a:r>
            <a:r>
              <a:rPr lang="en-GB" sz="2500" dirty="0" err="1">
                <a:solidFill>
                  <a:srgbClr val="000000"/>
                </a:solidFill>
              </a:rPr>
              <a:t>une</a:t>
            </a:r>
            <a:r>
              <a:rPr lang="en-GB" sz="2500" dirty="0">
                <a:solidFill>
                  <a:srgbClr val="000000"/>
                </a:solidFill>
              </a:rPr>
              <a:t> connexion après </a:t>
            </a:r>
            <a:r>
              <a:rPr lang="en-GB" sz="2500" dirty="0" err="1">
                <a:solidFill>
                  <a:srgbClr val="000000"/>
                </a:solidFill>
              </a:rPr>
              <a:t>l'autorisation</a:t>
            </a:r>
            <a:r>
              <a:rPr lang="en-GB" sz="2500" dirty="0">
                <a:solidFill>
                  <a:srgbClr val="000000"/>
                </a:solidFill>
              </a:rPr>
              <a:t> de </a:t>
            </a:r>
            <a:r>
              <a:rPr lang="en-GB" sz="2500" dirty="0" err="1">
                <a:solidFill>
                  <a:srgbClr val="000000"/>
                </a:solidFill>
              </a:rPr>
              <a:t>cette</a:t>
            </a:r>
            <a:r>
              <a:rPr lang="en-GB" sz="2500" dirty="0">
                <a:solidFill>
                  <a:srgbClr val="000000"/>
                </a:solidFill>
              </a:rPr>
              <a:t> </a:t>
            </a:r>
            <a:r>
              <a:rPr lang="en-GB" sz="2500" dirty="0" err="1">
                <a:solidFill>
                  <a:srgbClr val="000000"/>
                </a:solidFill>
              </a:rPr>
              <a:t>dernière</a:t>
            </a:r>
            <a:r>
              <a:rPr lang="en-GB" sz="2500" dirty="0">
                <a:solidFill>
                  <a:srgbClr val="000000"/>
                </a:solidFill>
              </a:rPr>
              <a:t> (au </a:t>
            </a:r>
            <a:r>
              <a:rPr lang="en-GB" sz="2500" dirty="0" err="1">
                <a:solidFill>
                  <a:srgbClr val="000000"/>
                </a:solidFill>
              </a:rPr>
              <a:t>moyen</a:t>
            </a:r>
            <a:r>
              <a:rPr lang="en-GB" sz="2500" dirty="0">
                <a:solidFill>
                  <a:srgbClr val="000000"/>
                </a:solidFill>
              </a:rPr>
              <a:t> des </a:t>
            </a:r>
            <a:r>
              <a:rPr lang="en-GB" sz="2500" dirty="0" err="1">
                <a:solidFill>
                  <a:srgbClr val="000000"/>
                </a:solidFill>
              </a:rPr>
              <a:t>paramètres</a:t>
            </a:r>
            <a:r>
              <a:rPr lang="en-GB" sz="2500" dirty="0">
                <a:solidFill>
                  <a:srgbClr val="000000"/>
                </a:solidFill>
              </a:rPr>
              <a:t> </a:t>
            </a:r>
            <a:r>
              <a:rPr lang="en-GB" sz="2500" dirty="0" err="1">
                <a:solidFill>
                  <a:srgbClr val="000000"/>
                </a:solidFill>
              </a:rPr>
              <a:t>d'autorisation</a:t>
            </a:r>
            <a:r>
              <a:rPr lang="en-GB" sz="2500" dirty="0">
                <a:solidFill>
                  <a:srgbClr val="000000"/>
                </a:solidFill>
              </a:rPr>
              <a:t> de la  </a:t>
            </a:r>
            <a:r>
              <a:rPr lang="en-GB" sz="2500" dirty="0" err="1">
                <a:solidFill>
                  <a:srgbClr val="000000"/>
                </a:solidFill>
              </a:rPr>
              <a:t>stratégie</a:t>
            </a:r>
            <a:r>
              <a:rPr lang="en-GB" sz="2500" dirty="0">
                <a:solidFill>
                  <a:srgbClr val="000000"/>
                </a:solidFill>
              </a:rPr>
              <a:t> </a:t>
            </a:r>
            <a:r>
              <a:rPr lang="en-GB" sz="2500" dirty="0" err="1">
                <a:solidFill>
                  <a:srgbClr val="000000"/>
                </a:solidFill>
              </a:rPr>
              <a:t>ou</a:t>
            </a:r>
            <a:r>
              <a:rPr lang="en-GB" sz="2500" dirty="0">
                <a:solidFill>
                  <a:srgbClr val="000000"/>
                </a:solidFill>
              </a:rPr>
              <a:t> du </a:t>
            </a:r>
            <a:r>
              <a:rPr lang="en-GB" sz="2500" dirty="0" err="1">
                <a:solidFill>
                  <a:srgbClr val="000000"/>
                </a:solidFill>
              </a:rPr>
              <a:t>compte</a:t>
            </a:r>
            <a:r>
              <a:rPr lang="en-GB" sz="2500" dirty="0">
                <a:solidFill>
                  <a:srgbClr val="000000"/>
                </a:solidFill>
              </a:rPr>
              <a:t> </a:t>
            </a:r>
            <a:r>
              <a:rPr lang="en-GB" sz="2500" dirty="0" err="1">
                <a:solidFill>
                  <a:srgbClr val="000000"/>
                </a:solidFill>
              </a:rPr>
              <a:t>d'utilisateur</a:t>
            </a:r>
            <a:r>
              <a:rPr lang="en-GB" sz="2500" dirty="0">
                <a:solidFill>
                  <a:srgbClr val="000000"/>
                </a:solidFill>
              </a:rPr>
              <a:t>)</a:t>
            </a:r>
            <a:endParaRPr lang="en-US" sz="2500"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431110">
                                            <p:txEl>
                                              <p:pRg st="0" end="0"/>
                                            </p:txEl>
                                          </p:spTgt>
                                        </p:tgtEl>
                                        <p:attrNameLst>
                                          <p:attrName>style.visibility</p:attrName>
                                        </p:attrNameLst>
                                      </p:cBhvr>
                                      <p:to>
                                        <p:strVal val="visible"/>
                                      </p:to>
                                    </p:set>
                                    <p:animEffect transition="in" filter="checkerboard(across)">
                                      <p:cBhvr>
                                        <p:cTn id="7" dur="1000"/>
                                        <p:tgtEl>
                                          <p:spTgt spid="4311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31110">
                                            <p:txEl>
                                              <p:pRg st="1" end="1"/>
                                            </p:txEl>
                                          </p:spTgt>
                                        </p:tgtEl>
                                        <p:attrNameLst>
                                          <p:attrName>style.visibility</p:attrName>
                                        </p:attrNameLst>
                                      </p:cBhvr>
                                      <p:to>
                                        <p:strVal val="visible"/>
                                      </p:to>
                                    </p:set>
                                    <p:animEffect transition="in" filter="checkerboard(across)">
                                      <p:cBhvr>
                                        <p:cTn id="12" dur="1000"/>
                                        <p:tgtEl>
                                          <p:spTgt spid="43111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31110">
                                            <p:txEl>
                                              <p:pRg st="2" end="2"/>
                                            </p:txEl>
                                          </p:spTgt>
                                        </p:tgtEl>
                                        <p:attrNameLst>
                                          <p:attrName>style.visibility</p:attrName>
                                        </p:attrNameLst>
                                      </p:cBhvr>
                                      <p:to>
                                        <p:strVal val="visible"/>
                                      </p:to>
                                    </p:set>
                                    <p:animEffect transition="in" filter="checkerboard(across)">
                                      <p:cBhvr>
                                        <p:cTn id="17" dur="1000"/>
                                        <p:tgtEl>
                                          <p:spTgt spid="4311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20" name="Rectangle 8"/>
          <p:cNvSpPr>
            <a:spLocks noGrp="1" noChangeArrowheads="1"/>
          </p:cNvSpPr>
          <p:nvPr>
            <p:ph type="title"/>
            <p:custDataLst>
              <p:tags r:id="rId1"/>
            </p:custDataLst>
          </p:nvPr>
        </p:nvSpPr>
        <p:spPr>
          <a:xfrm>
            <a:off x="174171" y="576936"/>
            <a:ext cx="8795658" cy="758952"/>
          </a:xfrm>
        </p:spPr>
        <p:txBody>
          <a:bodyPr>
            <a:noAutofit/>
          </a:bodyPr>
          <a:lstStyle/>
          <a:p>
            <a:r>
              <a:rPr lang="fr-FR" sz="2600" dirty="0">
                <a:solidFill>
                  <a:srgbClr val="000000"/>
                </a:solidFill>
              </a:rPr>
              <a:t>6. Centralisation de l'authentification de l'accès réseau et de la gestion des stratégies en utilisant IAS</a:t>
            </a:r>
            <a:endParaRPr lang="en-US" sz="2600" dirty="0">
              <a:solidFill>
                <a:srgbClr val="000000"/>
              </a:solidFill>
            </a:endParaRPr>
          </a:p>
        </p:txBody>
      </p:sp>
      <p:sp>
        <p:nvSpPr>
          <p:cNvPr id="192521" name="Rectangle 9"/>
          <p:cNvSpPr>
            <a:spLocks noGrp="1" noChangeArrowheads="1"/>
          </p:cNvSpPr>
          <p:nvPr>
            <p:ph sz="quarter" idx="1"/>
            <p:custDataLst>
              <p:tags r:id="rId2"/>
            </p:custDataLst>
          </p:nvPr>
        </p:nvSpPr>
        <p:spPr>
          <a:xfrm>
            <a:off x="330780" y="1991505"/>
            <a:ext cx="8503920" cy="3596495"/>
          </a:xfrm>
        </p:spPr>
        <p:txBody>
          <a:bodyPr/>
          <a:lstStyle/>
          <a:p>
            <a:pPr>
              <a:buClrTx/>
              <a:buFont typeface="Wingdings" pitchFamily="2" charset="2"/>
              <a:buChar char="Ø"/>
            </a:pPr>
            <a:r>
              <a:rPr lang="en-GB" dirty="0" err="1">
                <a:solidFill>
                  <a:srgbClr val="000000"/>
                </a:solidFill>
              </a:rPr>
              <a:t>Que</a:t>
            </a:r>
            <a:r>
              <a:rPr lang="en-GB" dirty="0">
                <a:solidFill>
                  <a:srgbClr val="000000"/>
                </a:solidFill>
              </a:rPr>
              <a:t> </a:t>
            </a:r>
            <a:r>
              <a:rPr lang="en-GB" dirty="0" err="1">
                <a:solidFill>
                  <a:srgbClr val="000000"/>
                </a:solidFill>
              </a:rPr>
              <a:t>signifie</a:t>
            </a:r>
            <a:r>
              <a:rPr lang="en-GB" dirty="0">
                <a:solidFill>
                  <a:srgbClr val="000000"/>
                </a:solidFill>
              </a:rPr>
              <a:t> NPS (RADIUS )?</a:t>
            </a:r>
            <a:endParaRPr lang="en-US" dirty="0"/>
          </a:p>
          <a:p>
            <a:pPr>
              <a:buClrTx/>
              <a:buFont typeface="Wingdings" pitchFamily="2" charset="2"/>
              <a:buChar char="Ø"/>
            </a:pPr>
            <a:r>
              <a:rPr lang="en-GB" dirty="0" err="1">
                <a:solidFill>
                  <a:srgbClr val="000000"/>
                </a:solidFill>
              </a:rPr>
              <a:t>Que</a:t>
            </a:r>
            <a:r>
              <a:rPr lang="en-GB" dirty="0">
                <a:solidFill>
                  <a:srgbClr val="000000"/>
                </a:solidFill>
              </a:rPr>
              <a:t> </a:t>
            </a:r>
            <a:r>
              <a:rPr lang="en-GB" dirty="0" err="1">
                <a:solidFill>
                  <a:srgbClr val="000000"/>
                </a:solidFill>
              </a:rPr>
              <a:t>signifie</a:t>
            </a:r>
            <a:r>
              <a:rPr lang="en-GB" dirty="0">
                <a:solidFill>
                  <a:srgbClr val="000000"/>
                </a:solidFill>
              </a:rPr>
              <a:t> IAS ?</a:t>
            </a:r>
            <a:r>
              <a:rPr lang="en-US" dirty="0"/>
              <a:t> </a:t>
            </a:r>
          </a:p>
          <a:p>
            <a:pPr>
              <a:buClrTx/>
              <a:buFont typeface="Wingdings" pitchFamily="2" charset="2"/>
              <a:buChar char="Ø"/>
            </a:pPr>
            <a:r>
              <a:rPr lang="en-GB" dirty="0" err="1">
                <a:solidFill>
                  <a:srgbClr val="000000"/>
                </a:solidFill>
              </a:rPr>
              <a:t>Fonctionnement</a:t>
            </a:r>
            <a:r>
              <a:rPr lang="en-GB" dirty="0">
                <a:solidFill>
                  <a:srgbClr val="000000"/>
                </a:solidFill>
              </a:rPr>
              <a:t> de </a:t>
            </a:r>
            <a:r>
              <a:rPr lang="en-GB" dirty="0" err="1">
                <a:solidFill>
                  <a:srgbClr val="000000"/>
                </a:solidFill>
              </a:rPr>
              <a:t>l'authentification</a:t>
            </a:r>
            <a:r>
              <a:rPr lang="en-GB" dirty="0">
                <a:solidFill>
                  <a:srgbClr val="000000"/>
                </a:solidFill>
              </a:rPr>
              <a:t> </a:t>
            </a:r>
            <a:r>
              <a:rPr lang="en-GB" dirty="0" err="1">
                <a:solidFill>
                  <a:srgbClr val="000000"/>
                </a:solidFill>
              </a:rPr>
              <a:t>centralisée</a:t>
            </a:r>
            <a:endParaRPr lang="en-US" dirty="0"/>
          </a:p>
          <a:p>
            <a:pPr>
              <a:buClrTx/>
              <a:buFont typeface="Wingdings" pitchFamily="2" charset="2"/>
              <a:buChar char="Ø"/>
            </a:pPr>
            <a:r>
              <a:rPr lang="en-GB" dirty="0">
                <a:solidFill>
                  <a:srgbClr val="000000"/>
                </a:solidFill>
              </a:rPr>
              <a:t>Comment </a:t>
            </a:r>
            <a:r>
              <a:rPr lang="en-GB" dirty="0" err="1">
                <a:solidFill>
                  <a:srgbClr val="000000"/>
                </a:solidFill>
              </a:rPr>
              <a:t>configurer</a:t>
            </a:r>
            <a:r>
              <a:rPr lang="en-GB" dirty="0">
                <a:solidFill>
                  <a:srgbClr val="000000"/>
                </a:solidFill>
              </a:rPr>
              <a:t> un </a:t>
            </a:r>
            <a:r>
              <a:rPr lang="en-GB" dirty="0" err="1">
                <a:solidFill>
                  <a:srgbClr val="000000"/>
                </a:solidFill>
              </a:rPr>
              <a:t>serveur</a:t>
            </a:r>
            <a:r>
              <a:rPr lang="en-GB" dirty="0">
                <a:solidFill>
                  <a:srgbClr val="000000"/>
                </a:solidFill>
              </a:rPr>
              <a:t> IAS pour </a:t>
            </a:r>
            <a:r>
              <a:rPr lang="en-GB" dirty="0" err="1">
                <a:solidFill>
                  <a:srgbClr val="000000"/>
                </a:solidFill>
              </a:rPr>
              <a:t>l'authentification</a:t>
            </a:r>
            <a:r>
              <a:rPr lang="en-GB" dirty="0">
                <a:solidFill>
                  <a:srgbClr val="000000"/>
                </a:solidFill>
              </a:rPr>
              <a:t> de </a:t>
            </a:r>
            <a:r>
              <a:rPr lang="en-GB" dirty="0" err="1">
                <a:solidFill>
                  <a:srgbClr val="000000"/>
                </a:solidFill>
              </a:rPr>
              <a:t>l'accès</a:t>
            </a:r>
            <a:r>
              <a:rPr lang="en-GB" dirty="0">
                <a:solidFill>
                  <a:srgbClr val="000000"/>
                </a:solidFill>
              </a:rPr>
              <a:t> </a:t>
            </a:r>
            <a:r>
              <a:rPr lang="en-GB" dirty="0" err="1">
                <a:solidFill>
                  <a:srgbClr val="000000"/>
                </a:solidFill>
              </a:rPr>
              <a:t>réseau</a:t>
            </a:r>
            <a:endParaRPr lang="en-US" dirty="0"/>
          </a:p>
          <a:p>
            <a:pPr>
              <a:buClrTx/>
              <a:buFont typeface="Wingdings" pitchFamily="2" charset="2"/>
              <a:buChar char="Ø"/>
            </a:pPr>
            <a:r>
              <a:rPr lang="en-GB" dirty="0">
                <a:solidFill>
                  <a:srgbClr val="000000"/>
                </a:solidFill>
              </a:rPr>
              <a:t>Comment </a:t>
            </a:r>
            <a:r>
              <a:rPr lang="en-GB" dirty="0" err="1">
                <a:solidFill>
                  <a:srgbClr val="000000"/>
                </a:solidFill>
              </a:rPr>
              <a:t>configurer</a:t>
            </a:r>
            <a:r>
              <a:rPr lang="en-GB" dirty="0">
                <a:solidFill>
                  <a:srgbClr val="000000"/>
                </a:solidFill>
              </a:rPr>
              <a:t> le </a:t>
            </a:r>
            <a:r>
              <a:rPr lang="en-GB" dirty="0" err="1">
                <a:solidFill>
                  <a:srgbClr val="000000"/>
                </a:solidFill>
              </a:rPr>
              <a:t>serveur</a:t>
            </a:r>
            <a:r>
              <a:rPr lang="en-GB" dirty="0">
                <a:solidFill>
                  <a:srgbClr val="000000"/>
                </a:solidFill>
              </a:rPr>
              <a:t> </a:t>
            </a:r>
            <a:r>
              <a:rPr lang="en-GB" dirty="0" err="1">
                <a:solidFill>
                  <a:srgbClr val="000000"/>
                </a:solidFill>
              </a:rPr>
              <a:t>d'accès</a:t>
            </a:r>
            <a:r>
              <a:rPr lang="en-GB" dirty="0">
                <a:solidFill>
                  <a:srgbClr val="000000"/>
                </a:solidFill>
              </a:rPr>
              <a:t> distant en </a:t>
            </a:r>
            <a:r>
              <a:rPr lang="en-GB" dirty="0" err="1">
                <a:solidFill>
                  <a:srgbClr val="000000"/>
                </a:solidFill>
              </a:rPr>
              <a:t>vue</a:t>
            </a:r>
            <a:r>
              <a:rPr lang="en-GB" dirty="0">
                <a:solidFill>
                  <a:srgbClr val="000000"/>
                </a:solidFill>
              </a:rPr>
              <a:t> </a:t>
            </a:r>
            <a:r>
              <a:rPr lang="en-GB" dirty="0" err="1">
                <a:solidFill>
                  <a:srgbClr val="000000"/>
                </a:solidFill>
              </a:rPr>
              <a:t>d'utiliser</a:t>
            </a:r>
            <a:r>
              <a:rPr lang="en-GB" dirty="0">
                <a:solidFill>
                  <a:srgbClr val="000000"/>
                </a:solidFill>
              </a:rPr>
              <a:t> </a:t>
            </a:r>
            <a:r>
              <a:rPr lang="en-GB" dirty="0" err="1">
                <a:solidFill>
                  <a:srgbClr val="000000"/>
                </a:solidFill>
              </a:rPr>
              <a:t>l'authentification</a:t>
            </a:r>
            <a:r>
              <a:rPr lang="en-GB" dirty="0">
                <a:solidFill>
                  <a:srgbClr val="000000"/>
                </a:solidFill>
              </a:rPr>
              <a:t> IAS</a:t>
            </a:r>
            <a:endParaRPr lang="en-US" dirty="0">
              <a:solidFill>
                <a:srgbClr val="00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9358" name="AutoShape 110"/>
          <p:cNvSpPr>
            <a:spLocks noChangeArrowheads="1"/>
          </p:cNvSpPr>
          <p:nvPr>
            <p:custDataLst>
              <p:tags r:id="rId1"/>
            </p:custDataLst>
          </p:nvPr>
        </p:nvSpPr>
        <p:spPr bwMode="auto">
          <a:xfrm>
            <a:off x="435429" y="3194949"/>
            <a:ext cx="8345714" cy="2364015"/>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marL="231775" indent="-231775" algn="l">
              <a:lnSpc>
                <a:spcPct val="90000"/>
              </a:lnSpc>
              <a:spcBef>
                <a:spcPct val="40000"/>
              </a:spcBef>
              <a:buSzPct val="80000"/>
            </a:pPr>
            <a:r>
              <a:rPr lang="fr-FR" sz="2400" b="1" dirty="0">
                <a:solidFill>
                  <a:srgbClr val="000000"/>
                </a:solidFill>
              </a:rPr>
              <a:t>Exemples de clients RADIUS:</a:t>
            </a:r>
          </a:p>
          <a:p>
            <a:pPr marL="900113" indent="-231775" algn="l">
              <a:lnSpc>
                <a:spcPct val="90000"/>
              </a:lnSpc>
              <a:spcBef>
                <a:spcPct val="40000"/>
              </a:spcBef>
              <a:buSzPct val="80000"/>
              <a:buFont typeface="Wingdings" pitchFamily="2" charset="2"/>
              <a:buChar char="q"/>
            </a:pPr>
            <a:r>
              <a:rPr lang="fr-FR" sz="2400" b="1" dirty="0">
                <a:solidFill>
                  <a:srgbClr val="000000"/>
                </a:solidFill>
              </a:rPr>
              <a:t>Serveurs d'accès réseau</a:t>
            </a:r>
          </a:p>
          <a:p>
            <a:pPr marL="900113" indent="-231775" algn="l">
              <a:lnSpc>
                <a:spcPct val="90000"/>
              </a:lnSpc>
              <a:spcBef>
                <a:spcPct val="40000"/>
              </a:spcBef>
              <a:buSzPct val="80000"/>
              <a:buFont typeface="Wingdings" pitchFamily="2" charset="2"/>
              <a:buChar char="q"/>
            </a:pPr>
            <a:r>
              <a:rPr lang="fr-FR" sz="2400" b="1" dirty="0">
                <a:solidFill>
                  <a:srgbClr val="000000"/>
                </a:solidFill>
              </a:rPr>
              <a:t>Points d'accès sans fil </a:t>
            </a:r>
          </a:p>
          <a:p>
            <a:pPr marL="900113" indent="-231775" algn="l">
              <a:lnSpc>
                <a:spcPct val="90000"/>
              </a:lnSpc>
              <a:spcBef>
                <a:spcPct val="40000"/>
              </a:spcBef>
              <a:buSzPct val="80000"/>
              <a:buFont typeface="Wingdings" pitchFamily="2" charset="2"/>
              <a:buChar char="q"/>
            </a:pPr>
            <a:r>
              <a:rPr lang="fr-FR" sz="2400" b="1" dirty="0">
                <a:solidFill>
                  <a:srgbClr val="000000"/>
                </a:solidFill>
              </a:rPr>
              <a:t>Proxy RADIUS</a:t>
            </a:r>
          </a:p>
        </p:txBody>
      </p:sp>
      <p:sp>
        <p:nvSpPr>
          <p:cNvPr id="309250" name="Rectangle 2"/>
          <p:cNvSpPr>
            <a:spLocks noGrp="1" noChangeArrowheads="1"/>
          </p:cNvSpPr>
          <p:nvPr>
            <p:ph type="title"/>
            <p:custDataLst>
              <p:tags r:id="rId2"/>
            </p:custDataLst>
          </p:nvPr>
        </p:nvSpPr>
        <p:spPr>
          <a:xfrm>
            <a:off x="214086" y="353559"/>
            <a:ext cx="8712200" cy="684212"/>
          </a:xfrm>
        </p:spPr>
        <p:txBody>
          <a:bodyPr vert="horz" anchor="b">
            <a:normAutofit/>
          </a:bodyPr>
          <a:lstStyle/>
          <a:p>
            <a:r>
              <a:rPr lang="en-GB" sz="2800" dirty="0">
                <a:solidFill>
                  <a:srgbClr val="C00000"/>
                </a:solidFill>
              </a:rPr>
              <a:t>Que </a:t>
            </a:r>
            <a:r>
              <a:rPr lang="en-GB" sz="2800" dirty="0" err="1">
                <a:solidFill>
                  <a:srgbClr val="C00000"/>
                </a:solidFill>
              </a:rPr>
              <a:t>signifie</a:t>
            </a:r>
            <a:r>
              <a:rPr lang="en-GB" sz="2800" dirty="0">
                <a:solidFill>
                  <a:srgbClr val="C00000"/>
                </a:solidFill>
              </a:rPr>
              <a:t> Radius ?</a:t>
            </a:r>
            <a:endParaRPr sz="2800" dirty="0">
              <a:solidFill>
                <a:srgbClr val="C00000"/>
              </a:solidFill>
            </a:endParaRPr>
          </a:p>
        </p:txBody>
      </p:sp>
      <p:sp>
        <p:nvSpPr>
          <p:cNvPr id="309310" name="AutoShape 62"/>
          <p:cNvSpPr>
            <a:spLocks noChangeArrowheads="1"/>
          </p:cNvSpPr>
          <p:nvPr>
            <p:custDataLst>
              <p:tags r:id="rId3"/>
            </p:custDataLst>
          </p:nvPr>
        </p:nvSpPr>
        <p:spPr bwMode="auto">
          <a:xfrm>
            <a:off x="174171" y="1592708"/>
            <a:ext cx="8723086" cy="1542371"/>
          </a:xfrm>
          <a:prstGeom prst="roundRect">
            <a:avLst>
              <a:gd name="adj" fmla="val 16648"/>
            </a:avLst>
          </a:prstGeom>
          <a:gradFill rotWithShape="1">
            <a:gsLst>
              <a:gs pos="0">
                <a:srgbClr val="EAABA0"/>
              </a:gs>
              <a:gs pos="100000">
                <a:srgbClr val="F6D9D4"/>
              </a:gs>
            </a:gsLst>
            <a:lin ang="2700000" scaled="1"/>
          </a:gradFill>
          <a:ln w="9525" algn="ctr">
            <a:solidFill>
              <a:srgbClr val="808080"/>
            </a:solidFill>
            <a:round/>
            <a:headEnd/>
            <a:tailEnd/>
          </a:ln>
          <a:effectLst>
            <a:outerShdw dist="35921" dir="2700000" algn="ctr" rotWithShape="0">
              <a:srgbClr val="C0C0C0"/>
            </a:outerShdw>
          </a:effectLst>
        </p:spPr>
        <p:txBody>
          <a:bodyPr anchor="ctr"/>
          <a:lstStyle/>
          <a:p>
            <a:pPr algn="l">
              <a:lnSpc>
                <a:spcPct val="85000"/>
              </a:lnSpc>
            </a:pPr>
            <a:r>
              <a:rPr lang="fr-FR" sz="2200" b="1" dirty="0"/>
              <a:t>RADIUS est un protocole standard de l'industrie qui permet l’authentification, l’autorisation et la comptabilité des connexions d’accès distant</a:t>
            </a:r>
            <a:endParaRPr lang="en-US" sz="22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309358">
                                            <p:txEl>
                                              <p:pRg st="0" end="0"/>
                                            </p:txEl>
                                          </p:spTgt>
                                        </p:tgtEl>
                                        <p:attrNameLst>
                                          <p:attrName>style.visibility</p:attrName>
                                        </p:attrNameLst>
                                      </p:cBhvr>
                                      <p:to>
                                        <p:strVal val="visible"/>
                                      </p:to>
                                    </p:set>
                                    <p:animEffect transition="in" filter="checkerboard(across)">
                                      <p:cBhvr>
                                        <p:cTn id="7" dur="1000"/>
                                        <p:tgtEl>
                                          <p:spTgt spid="309358">
                                            <p:txEl>
                                              <p:pRg st="0" end="0"/>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309358">
                                            <p:txEl>
                                              <p:pRg st="3" end="3"/>
                                            </p:txEl>
                                          </p:spTgt>
                                        </p:tgtEl>
                                        <p:attrNameLst>
                                          <p:attrName>style.visibility</p:attrName>
                                        </p:attrNameLst>
                                      </p:cBhvr>
                                      <p:to>
                                        <p:strVal val="visible"/>
                                      </p:to>
                                    </p:set>
                                    <p:animEffect transition="in" filter="checkerboard(across)">
                                      <p:cBhvr>
                                        <p:cTn id="10" dur="1000"/>
                                        <p:tgtEl>
                                          <p:spTgt spid="309358">
                                            <p:txEl>
                                              <p:pRg st="3" end="3"/>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309358">
                                            <p:txEl>
                                              <p:pRg st="1" end="1"/>
                                            </p:txEl>
                                          </p:spTgt>
                                        </p:tgtEl>
                                        <p:attrNameLst>
                                          <p:attrName>style.visibility</p:attrName>
                                        </p:attrNameLst>
                                      </p:cBhvr>
                                      <p:to>
                                        <p:strVal val="visible"/>
                                      </p:to>
                                    </p:set>
                                    <p:animEffect transition="in" filter="checkerboard(across)">
                                      <p:cBhvr>
                                        <p:cTn id="13" dur="1000"/>
                                        <p:tgtEl>
                                          <p:spTgt spid="309358">
                                            <p:txEl>
                                              <p:pRg st="1" end="1"/>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309358">
                                            <p:txEl>
                                              <p:pRg st="2" end="2"/>
                                            </p:txEl>
                                          </p:spTgt>
                                        </p:tgtEl>
                                        <p:attrNameLst>
                                          <p:attrName>style.visibility</p:attrName>
                                        </p:attrNameLst>
                                      </p:cBhvr>
                                      <p:to>
                                        <p:strVal val="visible"/>
                                      </p:to>
                                    </p:set>
                                    <p:animEffect transition="in" filter="checkerboard(across)">
                                      <p:cBhvr>
                                        <p:cTn id="16" dur="1000"/>
                                        <p:tgtEl>
                                          <p:spTgt spid="30935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62" name="Rectangle 2"/>
          <p:cNvSpPr>
            <a:spLocks noGrp="1" noChangeArrowheads="1"/>
          </p:cNvSpPr>
          <p:nvPr>
            <p:ph type="title"/>
            <p:custDataLst>
              <p:tags r:id="rId1"/>
            </p:custDataLst>
          </p:nvPr>
        </p:nvSpPr>
        <p:spPr>
          <a:xfrm>
            <a:off x="286656" y="310017"/>
            <a:ext cx="8567057" cy="684212"/>
          </a:xfrm>
        </p:spPr>
        <p:txBody>
          <a:bodyPr vert="horz" anchor="b">
            <a:normAutofit/>
          </a:bodyPr>
          <a:lstStyle/>
          <a:p>
            <a:r>
              <a:rPr lang="en-GB" sz="2800" dirty="0">
                <a:solidFill>
                  <a:srgbClr val="C00000"/>
                </a:solidFill>
              </a:rPr>
              <a:t>Que </a:t>
            </a:r>
            <a:r>
              <a:rPr lang="en-GB" sz="2800" dirty="0" err="1">
                <a:solidFill>
                  <a:srgbClr val="C00000"/>
                </a:solidFill>
              </a:rPr>
              <a:t>signifie</a:t>
            </a:r>
            <a:r>
              <a:rPr lang="en-GB" sz="2800" dirty="0">
                <a:solidFill>
                  <a:srgbClr val="C00000"/>
                </a:solidFill>
              </a:rPr>
              <a:t> NPS ?</a:t>
            </a:r>
            <a:endParaRPr sz="2800" dirty="0">
              <a:solidFill>
                <a:srgbClr val="C00000"/>
              </a:solidFill>
            </a:endParaRPr>
          </a:p>
        </p:txBody>
      </p:sp>
      <p:sp>
        <p:nvSpPr>
          <p:cNvPr id="450568" name="AutoShape 8"/>
          <p:cNvSpPr>
            <a:spLocks noChangeArrowheads="1"/>
          </p:cNvSpPr>
          <p:nvPr>
            <p:custDataLst>
              <p:tags r:id="rId2"/>
            </p:custDataLst>
          </p:nvPr>
        </p:nvSpPr>
        <p:spPr bwMode="auto">
          <a:xfrm>
            <a:off x="188686" y="1360486"/>
            <a:ext cx="8752114" cy="1406525"/>
          </a:xfrm>
          <a:prstGeom prst="roundRect">
            <a:avLst>
              <a:gd name="adj" fmla="val 13338"/>
            </a:avLst>
          </a:prstGeom>
          <a:gradFill rotWithShape="1">
            <a:gsLst>
              <a:gs pos="0">
                <a:srgbClr val="EAABA0"/>
              </a:gs>
              <a:gs pos="100000">
                <a:srgbClr val="F6D9D4"/>
              </a:gs>
            </a:gsLst>
            <a:lin ang="2700000" scaled="1"/>
          </a:gradFill>
          <a:ln w="9525" algn="ctr">
            <a:solidFill>
              <a:srgbClr val="808080"/>
            </a:solidFill>
            <a:round/>
            <a:headEnd/>
            <a:tailEnd/>
          </a:ln>
          <a:effectLst>
            <a:outerShdw dist="35921" dir="2700000" algn="ctr" rotWithShape="0">
              <a:srgbClr val="C0C0C0"/>
            </a:outerShdw>
          </a:effectLst>
        </p:spPr>
        <p:txBody>
          <a:bodyPr anchor="ctr"/>
          <a:lstStyle/>
          <a:p>
            <a:pPr algn="l">
              <a:lnSpc>
                <a:spcPct val="85000"/>
              </a:lnSpc>
            </a:pPr>
            <a:r>
              <a:rPr lang="fr-FR" sz="2400" b="1" i="1" dirty="0">
                <a:solidFill>
                  <a:srgbClr val="000000"/>
                </a:solidFill>
              </a:rPr>
              <a:t>NPS </a:t>
            </a:r>
            <a:r>
              <a:rPr lang="en-GB" sz="2400" b="1" dirty="0" err="1">
                <a:solidFill>
                  <a:srgbClr val="000000"/>
                </a:solidFill>
              </a:rPr>
              <a:t>est</a:t>
            </a:r>
            <a:r>
              <a:rPr lang="en-GB" sz="2400" b="1" dirty="0">
                <a:solidFill>
                  <a:srgbClr val="000000"/>
                </a:solidFill>
              </a:rPr>
              <a:t> un </a:t>
            </a:r>
            <a:r>
              <a:rPr lang="en-GB" sz="2400" b="1" dirty="0" err="1">
                <a:solidFill>
                  <a:srgbClr val="000000"/>
                </a:solidFill>
              </a:rPr>
              <a:t>serveur</a:t>
            </a:r>
            <a:r>
              <a:rPr lang="en-GB" sz="2400" b="1" dirty="0">
                <a:solidFill>
                  <a:srgbClr val="000000"/>
                </a:solidFill>
              </a:rPr>
              <a:t> Radius qui </a:t>
            </a:r>
            <a:r>
              <a:rPr lang="fr-FR" sz="2400" b="1" i="1" dirty="0">
                <a:solidFill>
                  <a:srgbClr val="000000"/>
                </a:solidFill>
              </a:rPr>
              <a:t>permet de créer et de mettre en œuvre des stratégies d'accès réseau.</a:t>
            </a:r>
          </a:p>
          <a:p>
            <a:pPr algn="l">
              <a:lnSpc>
                <a:spcPct val="85000"/>
              </a:lnSpc>
            </a:pPr>
            <a:r>
              <a:rPr lang="fr-FR" sz="2400" b="1" i="1" dirty="0">
                <a:solidFill>
                  <a:srgbClr val="000000"/>
                </a:solidFill>
              </a:rPr>
              <a:t>Il permet  l'authentification, l'autorisation </a:t>
            </a:r>
            <a:r>
              <a:rPr lang="en-GB" sz="2400" b="1" dirty="0">
                <a:solidFill>
                  <a:srgbClr val="000000"/>
                </a:solidFill>
              </a:rPr>
              <a:t>et la </a:t>
            </a:r>
            <a:r>
              <a:rPr lang="en-GB" sz="2400" b="1" dirty="0" err="1">
                <a:solidFill>
                  <a:srgbClr val="000000"/>
                </a:solidFill>
              </a:rPr>
              <a:t>comptabilisation</a:t>
            </a:r>
            <a:r>
              <a:rPr lang="en-GB" sz="2400" b="1" dirty="0">
                <a:solidFill>
                  <a:srgbClr val="000000"/>
                </a:solidFill>
              </a:rPr>
              <a:t> </a:t>
            </a:r>
            <a:r>
              <a:rPr lang="en-GB" sz="2400" b="1" dirty="0" err="1">
                <a:solidFill>
                  <a:srgbClr val="000000"/>
                </a:solidFill>
              </a:rPr>
              <a:t>centralisées</a:t>
            </a:r>
            <a:r>
              <a:rPr lang="en-GB" sz="2400" b="1" dirty="0">
                <a:solidFill>
                  <a:srgbClr val="000000"/>
                </a:solidFill>
              </a:rPr>
              <a:t> de </a:t>
            </a:r>
            <a:r>
              <a:rPr lang="en-GB" sz="2400" b="1" dirty="0" err="1">
                <a:solidFill>
                  <a:srgbClr val="000000"/>
                </a:solidFill>
              </a:rPr>
              <a:t>l'accès</a:t>
            </a:r>
            <a:r>
              <a:rPr lang="en-GB" sz="2400" b="1" dirty="0">
                <a:solidFill>
                  <a:srgbClr val="000000"/>
                </a:solidFill>
              </a:rPr>
              <a:t> </a:t>
            </a:r>
            <a:r>
              <a:rPr lang="en-GB" sz="2400" b="1" dirty="0" err="1">
                <a:solidFill>
                  <a:srgbClr val="000000"/>
                </a:solidFill>
              </a:rPr>
              <a:t>réseau</a:t>
            </a:r>
            <a:endParaRPr lang="en-US" sz="2400" b="1" dirty="0"/>
          </a:p>
        </p:txBody>
      </p:sp>
      <p:sp>
        <p:nvSpPr>
          <p:cNvPr id="450569" name="AutoShape 9"/>
          <p:cNvSpPr>
            <a:spLocks noChangeArrowheads="1"/>
          </p:cNvSpPr>
          <p:nvPr>
            <p:custDataLst>
              <p:tags r:id="rId3"/>
            </p:custDataLst>
          </p:nvPr>
        </p:nvSpPr>
        <p:spPr bwMode="auto">
          <a:xfrm>
            <a:off x="261257" y="3086099"/>
            <a:ext cx="8708572" cy="3590472"/>
          </a:xfrm>
          <a:prstGeom prst="roundRect">
            <a:avLst>
              <a:gd name="adj" fmla="val 4167"/>
            </a:avLst>
          </a:prstGeom>
          <a:solidFill>
            <a:srgbClr val="B3C8DF"/>
          </a:solidFill>
          <a:ln w="9525">
            <a:solidFill>
              <a:srgbClr val="4D4D4D"/>
            </a:solidFill>
            <a:round/>
            <a:headEnd/>
            <a:tailEnd/>
          </a:ln>
          <a:effectLst>
            <a:outerShdw dist="35921" dir="2700000" algn="ctr" rotWithShape="0">
              <a:srgbClr val="AFAFAF"/>
            </a:outerShdw>
          </a:effectLst>
        </p:spPr>
        <p:txBody>
          <a:bodyPr/>
          <a:lstStyle/>
          <a:p>
            <a:pPr marL="231775" indent="-231775" algn="l">
              <a:lnSpc>
                <a:spcPct val="90000"/>
              </a:lnSpc>
              <a:spcBef>
                <a:spcPct val="40000"/>
              </a:spcBef>
              <a:buSzPct val="80000"/>
            </a:pPr>
            <a:r>
              <a:rPr lang="fr-FR" sz="2400" b="1" dirty="0">
                <a:solidFill>
                  <a:srgbClr val="000000"/>
                </a:solidFill>
              </a:rPr>
              <a:t>Vous pouvez l’utiliser pour les fonctionnalités suivantes:</a:t>
            </a:r>
          </a:p>
        </p:txBody>
      </p:sp>
      <p:sp>
        <p:nvSpPr>
          <p:cNvPr id="450570" name="AutoShape 10"/>
          <p:cNvSpPr>
            <a:spLocks noChangeArrowheads="1"/>
          </p:cNvSpPr>
          <p:nvPr>
            <p:custDataLst>
              <p:tags r:id="rId4"/>
            </p:custDataLst>
          </p:nvPr>
        </p:nvSpPr>
        <p:spPr bwMode="auto">
          <a:xfrm>
            <a:off x="478971" y="3635375"/>
            <a:ext cx="8403772" cy="2968625"/>
          </a:xfrm>
          <a:prstGeom prst="roundRect">
            <a:avLst>
              <a:gd name="adj" fmla="val 4167"/>
            </a:avLst>
          </a:prstGeom>
          <a:gradFill rotWithShape="1">
            <a:gsLst>
              <a:gs pos="0">
                <a:srgbClr val="EEEFD7"/>
              </a:gs>
              <a:gs pos="100000">
                <a:srgbClr val="D5D69C"/>
              </a:gs>
            </a:gsLst>
            <a:lin ang="2700000" scaled="1"/>
          </a:gradFill>
          <a:ln w="9525" algn="ctr">
            <a:solidFill>
              <a:srgbClr val="4D4D4D"/>
            </a:solidFill>
            <a:round/>
            <a:headEnd/>
            <a:tailEnd/>
          </a:ln>
          <a:effectLst>
            <a:outerShdw dist="35921" dir="2700000" algn="ctr" rotWithShape="0">
              <a:srgbClr val="AFAFAF"/>
            </a:outerShdw>
          </a:effectLst>
        </p:spPr>
        <p:txBody>
          <a:bodyPr/>
          <a:lstStyle/>
          <a:p>
            <a:pPr marL="231775" indent="-231775" algn="l">
              <a:lnSpc>
                <a:spcPct val="90000"/>
              </a:lnSpc>
              <a:spcBef>
                <a:spcPct val="40000"/>
              </a:spcBef>
              <a:buSzPct val="80000"/>
              <a:buFontTx/>
              <a:buBlip>
                <a:blip r:embed="rId9"/>
              </a:buBlip>
            </a:pPr>
            <a:r>
              <a:rPr lang="fr-FR" sz="2400" b="1" dirty="0">
                <a:solidFill>
                  <a:srgbClr val="000000"/>
                </a:solidFill>
              </a:rPr>
              <a:t>Serveur RADIUS: NPS effectue l'authentification de connexion centralisée, l'autorisation et la comptabilité pour :</a:t>
            </a:r>
          </a:p>
          <a:p>
            <a:pPr marL="688975" lvl="1" indent="-231775" algn="l">
              <a:lnSpc>
                <a:spcPct val="90000"/>
              </a:lnSpc>
              <a:spcBef>
                <a:spcPct val="40000"/>
              </a:spcBef>
              <a:buSzPct val="80000"/>
              <a:buFont typeface="Wingdings" pitchFamily="2" charset="2"/>
              <a:buChar char="q"/>
            </a:pPr>
            <a:r>
              <a:rPr lang="fr-FR" sz="2400" b="1" dirty="0">
                <a:solidFill>
                  <a:srgbClr val="000000"/>
                </a:solidFill>
              </a:rPr>
              <a:t>Commutateur sans fil</a:t>
            </a:r>
          </a:p>
          <a:p>
            <a:pPr marL="688975" lvl="1" indent="-231775" algn="l">
              <a:lnSpc>
                <a:spcPct val="90000"/>
              </a:lnSpc>
              <a:spcBef>
                <a:spcPct val="40000"/>
              </a:spcBef>
              <a:buSzPct val="80000"/>
              <a:buFont typeface="Wingdings" pitchFamily="2" charset="2"/>
              <a:buChar char="q"/>
            </a:pPr>
            <a:r>
              <a:rPr lang="fr-FR" sz="2400" b="1" dirty="0">
                <a:solidFill>
                  <a:srgbClr val="000000"/>
                </a:solidFill>
              </a:rPr>
              <a:t>Connexions d'accès distant </a:t>
            </a:r>
          </a:p>
          <a:p>
            <a:pPr marL="688975" lvl="1" indent="-231775" algn="l">
              <a:lnSpc>
                <a:spcPct val="90000"/>
              </a:lnSpc>
              <a:spcBef>
                <a:spcPct val="40000"/>
              </a:spcBef>
              <a:buSzPct val="80000"/>
              <a:buFont typeface="Wingdings" pitchFamily="2" charset="2"/>
              <a:buChar char="q"/>
            </a:pPr>
            <a:r>
              <a:rPr lang="fr-FR" sz="2400" b="1" dirty="0">
                <a:solidFill>
                  <a:srgbClr val="000000"/>
                </a:solidFill>
              </a:rPr>
              <a:t>Réseau privé virtuel (VPN). </a:t>
            </a:r>
          </a:p>
          <a:p>
            <a:pPr marL="231775" lvl="1" indent="-231775" algn="l">
              <a:lnSpc>
                <a:spcPct val="90000"/>
              </a:lnSpc>
              <a:spcBef>
                <a:spcPct val="40000"/>
              </a:spcBef>
              <a:buSzPct val="80000"/>
              <a:buBlip>
                <a:blip r:embed="rId9"/>
              </a:buBlip>
            </a:pPr>
            <a:r>
              <a:rPr lang="fr-FR" sz="2400" b="1" dirty="0">
                <a:solidFill>
                  <a:srgbClr val="000000"/>
                </a:solidFill>
              </a:rPr>
              <a:t>Proxy RADIUS: transférer des requêtes de connexion vers NPS ou d'autres serveurs RADIUS</a:t>
            </a:r>
            <a:endParaRPr lang="en-US" sz="2400" b="1" dirty="0">
              <a:solidFill>
                <a:srgbClr val="000000"/>
              </a:solidFill>
            </a:endParaRPr>
          </a:p>
        </p:txBody>
      </p:sp>
      <p:pic>
        <p:nvPicPr>
          <p:cNvPr id="450571" name="Picture 11" descr="Server01"/>
          <p:cNvPicPr>
            <a:picLocks noChangeAspect="1" noChangeArrowheads="1"/>
          </p:cNvPicPr>
          <p:nvPr>
            <p:custDataLst>
              <p:tags r:id="rId5"/>
            </p:custDataLst>
          </p:nvPr>
        </p:nvPicPr>
        <p:blipFill>
          <a:blip r:embed="rId10"/>
          <a:srcRect/>
          <a:stretch>
            <a:fillRect/>
          </a:stretch>
        </p:blipFill>
        <p:spPr bwMode="auto">
          <a:xfrm>
            <a:off x="7945437" y="2123849"/>
            <a:ext cx="1198563" cy="1409700"/>
          </a:xfrm>
          <a:prstGeom prst="rect">
            <a:avLst/>
          </a:prstGeom>
          <a:noFill/>
        </p:spPr>
      </p:pic>
      <p:sp>
        <p:nvSpPr>
          <p:cNvPr id="450572" name="AutoShape 12"/>
          <p:cNvSpPr>
            <a:spLocks noChangeArrowheads="1"/>
          </p:cNvSpPr>
          <p:nvPr>
            <p:custDataLst>
              <p:tags r:id="rId6"/>
            </p:custDataLst>
          </p:nvPr>
        </p:nvSpPr>
        <p:spPr bwMode="auto">
          <a:xfrm>
            <a:off x="8210550" y="2873149"/>
            <a:ext cx="933450" cy="612775"/>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lstStyle/>
          <a:p>
            <a:r>
              <a:rPr lang="en-GB" b="1">
                <a:solidFill>
                  <a:srgbClr val="000000"/>
                </a:solidFill>
              </a:rPr>
              <a:t>Serveur RADIUS</a:t>
            </a:r>
            <a:endParaRPr lang="en-US"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50569"/>
                                        </p:tgtEl>
                                        <p:attrNameLst>
                                          <p:attrName>style.visibility</p:attrName>
                                        </p:attrNameLst>
                                      </p:cBhvr>
                                      <p:to>
                                        <p:strVal val="visible"/>
                                      </p:to>
                                    </p:set>
                                    <p:animEffect transition="in" filter="checkerboard(across)">
                                      <p:cBhvr>
                                        <p:cTn id="7" dur="500"/>
                                        <p:tgtEl>
                                          <p:spTgt spid="450569"/>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50570">
                                            <p:txEl>
                                              <p:pRg st="0" end="0"/>
                                            </p:txEl>
                                          </p:spTgt>
                                        </p:tgtEl>
                                        <p:attrNameLst>
                                          <p:attrName>style.visibility</p:attrName>
                                        </p:attrNameLst>
                                      </p:cBhvr>
                                      <p:to>
                                        <p:strVal val="visible"/>
                                      </p:to>
                                    </p:set>
                                    <p:animEffect transition="in" filter="checkerboard(across)">
                                      <p:cBhvr>
                                        <p:cTn id="12" dur="1000"/>
                                        <p:tgtEl>
                                          <p:spTgt spid="45057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50570">
                                            <p:txEl>
                                              <p:pRg st="1" end="1"/>
                                            </p:txEl>
                                          </p:spTgt>
                                        </p:tgtEl>
                                        <p:attrNameLst>
                                          <p:attrName>style.visibility</p:attrName>
                                        </p:attrNameLst>
                                      </p:cBhvr>
                                      <p:to>
                                        <p:strVal val="visible"/>
                                      </p:to>
                                    </p:set>
                                    <p:animEffect transition="in" filter="checkerboard(across)">
                                      <p:cBhvr>
                                        <p:cTn id="17" dur="1000"/>
                                        <p:tgtEl>
                                          <p:spTgt spid="450570">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450570">
                                            <p:txEl>
                                              <p:pRg st="2" end="2"/>
                                            </p:txEl>
                                          </p:spTgt>
                                        </p:tgtEl>
                                        <p:attrNameLst>
                                          <p:attrName>style.visibility</p:attrName>
                                        </p:attrNameLst>
                                      </p:cBhvr>
                                      <p:to>
                                        <p:strVal val="visible"/>
                                      </p:to>
                                    </p:set>
                                    <p:animEffect transition="in" filter="checkerboard(across)">
                                      <p:cBhvr>
                                        <p:cTn id="22" dur="1000"/>
                                        <p:tgtEl>
                                          <p:spTgt spid="450570">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450570">
                                            <p:txEl>
                                              <p:pRg st="3" end="3"/>
                                            </p:txEl>
                                          </p:spTgt>
                                        </p:tgtEl>
                                        <p:attrNameLst>
                                          <p:attrName>style.visibility</p:attrName>
                                        </p:attrNameLst>
                                      </p:cBhvr>
                                      <p:to>
                                        <p:strVal val="visible"/>
                                      </p:to>
                                    </p:set>
                                    <p:animEffect transition="in" filter="checkerboard(across)">
                                      <p:cBhvr>
                                        <p:cTn id="27" dur="1000"/>
                                        <p:tgtEl>
                                          <p:spTgt spid="450570">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450570">
                                            <p:txEl>
                                              <p:pRg st="4" end="4"/>
                                            </p:txEl>
                                          </p:spTgt>
                                        </p:tgtEl>
                                        <p:attrNameLst>
                                          <p:attrName>style.visibility</p:attrName>
                                        </p:attrNameLst>
                                      </p:cBhvr>
                                      <p:to>
                                        <p:strVal val="visible"/>
                                      </p:to>
                                    </p:set>
                                    <p:animEffect transition="in" filter="checkerboard(across)">
                                      <p:cBhvr>
                                        <p:cTn id="32" dur="1000"/>
                                        <p:tgtEl>
                                          <p:spTgt spid="45057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6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p:cNvSpPr>
            <a:spLocks noGrp="1" noChangeArrowheads="1"/>
          </p:cNvSpPr>
          <p:nvPr>
            <p:ph type="title"/>
            <p:custDataLst>
              <p:tags r:id="rId1"/>
            </p:custDataLst>
          </p:nvPr>
        </p:nvSpPr>
        <p:spPr>
          <a:xfrm>
            <a:off x="185056" y="324531"/>
            <a:ext cx="8770257" cy="684212"/>
          </a:xfrm>
        </p:spPr>
        <p:txBody>
          <a:bodyPr vert="horz" anchor="b">
            <a:normAutofit/>
          </a:bodyPr>
          <a:lstStyle/>
          <a:p>
            <a:r>
              <a:rPr lang="en-GB" sz="2500" dirty="0">
                <a:solidFill>
                  <a:srgbClr val="C00000"/>
                </a:solidFill>
              </a:rPr>
              <a:t>Fonctionnement de l'authentification centralisée</a:t>
            </a:r>
            <a:endParaRPr sz="2500" dirty="0">
              <a:solidFill>
                <a:srgbClr val="C00000"/>
              </a:solidFill>
            </a:endParaRPr>
          </a:p>
        </p:txBody>
      </p:sp>
      <p:sp>
        <p:nvSpPr>
          <p:cNvPr id="508999" name="Oval 71"/>
          <p:cNvSpPr>
            <a:spLocks noChangeArrowheads="1"/>
          </p:cNvSpPr>
          <p:nvPr/>
        </p:nvSpPr>
        <p:spPr bwMode="auto">
          <a:xfrm>
            <a:off x="2020888" y="3244850"/>
            <a:ext cx="4270375" cy="2309813"/>
          </a:xfrm>
          <a:prstGeom prst="ellipse">
            <a:avLst/>
          </a:prstGeom>
          <a:gradFill rotWithShape="1">
            <a:gsLst>
              <a:gs pos="0">
                <a:srgbClr val="FFFFFF"/>
              </a:gs>
              <a:gs pos="100000">
                <a:srgbClr val="EEEFD7"/>
              </a:gs>
            </a:gsLst>
            <a:path path="shape">
              <a:fillToRect l="50000" t="50000" r="50000" b="50000"/>
            </a:path>
          </a:gradFill>
          <a:ln w="9525">
            <a:noFill/>
            <a:round/>
            <a:headEnd/>
            <a:tailEnd/>
          </a:ln>
          <a:effectLst/>
        </p:spPr>
        <p:txBody>
          <a:bodyPr wrap="none" anchor="ctr"/>
          <a:lstStyle/>
          <a:p>
            <a:endParaRPr lang="fr-FR"/>
          </a:p>
        </p:txBody>
      </p:sp>
      <p:pic>
        <p:nvPicPr>
          <p:cNvPr id="509000" name="Picture 72" descr="Server01"/>
          <p:cNvPicPr>
            <a:picLocks noChangeAspect="1" noChangeArrowheads="1"/>
          </p:cNvPicPr>
          <p:nvPr/>
        </p:nvPicPr>
        <p:blipFill>
          <a:blip r:embed="rId4"/>
          <a:srcRect/>
          <a:stretch>
            <a:fillRect/>
          </a:stretch>
        </p:blipFill>
        <p:spPr bwMode="auto">
          <a:xfrm>
            <a:off x="4714875" y="4049713"/>
            <a:ext cx="1198563" cy="1409700"/>
          </a:xfrm>
          <a:prstGeom prst="rect">
            <a:avLst/>
          </a:prstGeom>
          <a:noFill/>
        </p:spPr>
      </p:pic>
      <p:sp>
        <p:nvSpPr>
          <p:cNvPr id="509001" name="AutoShape 73"/>
          <p:cNvSpPr>
            <a:spLocks noChangeArrowheads="1"/>
          </p:cNvSpPr>
          <p:nvPr/>
        </p:nvSpPr>
        <p:spPr bwMode="auto">
          <a:xfrm>
            <a:off x="3236687" y="4637088"/>
            <a:ext cx="1660752" cy="762226"/>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lstStyle/>
          <a:p>
            <a:r>
              <a:rPr lang="en-US" sz="2000" b="1" dirty="0" err="1"/>
              <a:t>Serveur</a:t>
            </a:r>
            <a:r>
              <a:rPr lang="en-US" sz="2000" b="1" dirty="0"/>
              <a:t> RADIUS (NPS)</a:t>
            </a:r>
          </a:p>
        </p:txBody>
      </p:sp>
      <p:sp>
        <p:nvSpPr>
          <p:cNvPr id="509002" name="Freeform 74"/>
          <p:cNvSpPr>
            <a:spLocks/>
          </p:cNvSpPr>
          <p:nvPr/>
        </p:nvSpPr>
        <p:spPr bwMode="auto">
          <a:xfrm rot="-3173236">
            <a:off x="4719637" y="2509838"/>
            <a:ext cx="1147763" cy="1443038"/>
          </a:xfrm>
          <a:custGeom>
            <a:avLst/>
            <a:gdLst/>
            <a:ahLst/>
            <a:cxnLst>
              <a:cxn ang="0">
                <a:pos x="415" y="27"/>
              </a:cxn>
              <a:cxn ang="0">
                <a:pos x="571" y="71"/>
              </a:cxn>
              <a:cxn ang="0">
                <a:pos x="701" y="117"/>
              </a:cxn>
              <a:cxn ang="0">
                <a:pos x="807" y="166"/>
              </a:cxn>
              <a:cxn ang="0">
                <a:pos x="891" y="217"/>
              </a:cxn>
              <a:cxn ang="0">
                <a:pos x="953" y="269"/>
              </a:cxn>
              <a:cxn ang="0">
                <a:pos x="997" y="321"/>
              </a:cxn>
              <a:cxn ang="0">
                <a:pos x="1021" y="374"/>
              </a:cxn>
              <a:cxn ang="0">
                <a:pos x="1030" y="427"/>
              </a:cxn>
              <a:cxn ang="0">
                <a:pos x="1023" y="478"/>
              </a:cxn>
              <a:cxn ang="0">
                <a:pos x="1004" y="529"/>
              </a:cxn>
              <a:cxn ang="0">
                <a:pos x="971" y="576"/>
              </a:cxn>
              <a:cxn ang="0">
                <a:pos x="929" y="623"/>
              </a:cxn>
              <a:cxn ang="0">
                <a:pos x="875" y="665"/>
              </a:cxn>
              <a:cxn ang="0">
                <a:pos x="816" y="705"/>
              </a:cxn>
              <a:cxn ang="0">
                <a:pos x="702" y="762"/>
              </a:cxn>
              <a:cxn ang="0">
                <a:pos x="629" y="790"/>
              </a:cxn>
              <a:cxn ang="0">
                <a:pos x="553" y="813"/>
              </a:cxn>
              <a:cxn ang="0">
                <a:pos x="476" y="830"/>
              </a:cxn>
              <a:cxn ang="0">
                <a:pos x="400" y="840"/>
              </a:cxn>
              <a:cxn ang="0">
                <a:pos x="326" y="845"/>
              </a:cxn>
              <a:cxn ang="0">
                <a:pos x="53" y="836"/>
              </a:cxn>
              <a:cxn ang="0">
                <a:pos x="0" y="823"/>
              </a:cxn>
              <a:cxn ang="0">
                <a:pos x="146" y="759"/>
              </a:cxn>
              <a:cxn ang="0">
                <a:pos x="300" y="755"/>
              </a:cxn>
              <a:cxn ang="0">
                <a:pos x="384" y="749"/>
              </a:cxn>
              <a:cxn ang="0">
                <a:pos x="518" y="723"/>
              </a:cxn>
              <a:cxn ang="0">
                <a:pos x="608" y="695"/>
              </a:cxn>
              <a:cxn ang="0">
                <a:pos x="675" y="671"/>
              </a:cxn>
              <a:cxn ang="0">
                <a:pos x="736" y="642"/>
              </a:cxn>
              <a:cxn ang="0">
                <a:pos x="794" y="610"/>
              </a:cxn>
              <a:cxn ang="0">
                <a:pos x="845" y="575"/>
              </a:cxn>
              <a:cxn ang="0">
                <a:pos x="888" y="537"/>
              </a:cxn>
              <a:cxn ang="0">
                <a:pos x="921" y="497"/>
              </a:cxn>
              <a:cxn ang="0">
                <a:pos x="943" y="453"/>
              </a:cxn>
              <a:cxn ang="0">
                <a:pos x="953" y="410"/>
              </a:cxn>
              <a:cxn ang="0">
                <a:pos x="950" y="363"/>
              </a:cxn>
              <a:cxn ang="0">
                <a:pos x="930" y="317"/>
              </a:cxn>
              <a:cxn ang="0">
                <a:pos x="894" y="269"/>
              </a:cxn>
              <a:cxn ang="0">
                <a:pos x="840" y="221"/>
              </a:cxn>
              <a:cxn ang="0">
                <a:pos x="765" y="174"/>
              </a:cxn>
              <a:cxn ang="0">
                <a:pos x="669" y="124"/>
              </a:cxn>
              <a:cxn ang="0">
                <a:pos x="550" y="78"/>
              </a:cxn>
              <a:cxn ang="0">
                <a:pos x="407" y="30"/>
              </a:cxn>
            </a:cxnLst>
            <a:rect l="0" t="0" r="r" b="b"/>
            <a:pathLst>
              <a:path w="1030" h="897">
                <a:moveTo>
                  <a:pt x="298" y="0"/>
                </a:moveTo>
                <a:lnTo>
                  <a:pt x="359" y="13"/>
                </a:lnTo>
                <a:lnTo>
                  <a:pt x="415" y="27"/>
                </a:lnTo>
                <a:lnTo>
                  <a:pt x="471" y="42"/>
                </a:lnTo>
                <a:lnTo>
                  <a:pt x="523" y="56"/>
                </a:lnTo>
                <a:lnTo>
                  <a:pt x="571" y="71"/>
                </a:lnTo>
                <a:lnTo>
                  <a:pt x="617" y="87"/>
                </a:lnTo>
                <a:lnTo>
                  <a:pt x="660" y="102"/>
                </a:lnTo>
                <a:lnTo>
                  <a:pt x="701" y="117"/>
                </a:lnTo>
                <a:lnTo>
                  <a:pt x="739" y="133"/>
                </a:lnTo>
                <a:lnTo>
                  <a:pt x="773" y="150"/>
                </a:lnTo>
                <a:lnTo>
                  <a:pt x="807" y="166"/>
                </a:lnTo>
                <a:lnTo>
                  <a:pt x="837" y="184"/>
                </a:lnTo>
                <a:lnTo>
                  <a:pt x="865" y="200"/>
                </a:lnTo>
                <a:lnTo>
                  <a:pt x="891" y="217"/>
                </a:lnTo>
                <a:lnTo>
                  <a:pt x="914" y="234"/>
                </a:lnTo>
                <a:lnTo>
                  <a:pt x="934" y="252"/>
                </a:lnTo>
                <a:lnTo>
                  <a:pt x="953" y="269"/>
                </a:lnTo>
                <a:lnTo>
                  <a:pt x="969" y="287"/>
                </a:lnTo>
                <a:lnTo>
                  <a:pt x="984" y="304"/>
                </a:lnTo>
                <a:lnTo>
                  <a:pt x="997" y="321"/>
                </a:lnTo>
                <a:lnTo>
                  <a:pt x="1007" y="339"/>
                </a:lnTo>
                <a:lnTo>
                  <a:pt x="1016" y="356"/>
                </a:lnTo>
                <a:lnTo>
                  <a:pt x="1021" y="374"/>
                </a:lnTo>
                <a:lnTo>
                  <a:pt x="1026" y="391"/>
                </a:lnTo>
                <a:lnTo>
                  <a:pt x="1029" y="410"/>
                </a:lnTo>
                <a:lnTo>
                  <a:pt x="1030" y="427"/>
                </a:lnTo>
                <a:lnTo>
                  <a:pt x="1030" y="443"/>
                </a:lnTo>
                <a:lnTo>
                  <a:pt x="1027" y="461"/>
                </a:lnTo>
                <a:lnTo>
                  <a:pt x="1023" y="478"/>
                </a:lnTo>
                <a:lnTo>
                  <a:pt x="1018" y="495"/>
                </a:lnTo>
                <a:lnTo>
                  <a:pt x="1011" y="511"/>
                </a:lnTo>
                <a:lnTo>
                  <a:pt x="1004" y="529"/>
                </a:lnTo>
                <a:lnTo>
                  <a:pt x="994" y="545"/>
                </a:lnTo>
                <a:lnTo>
                  <a:pt x="984" y="561"/>
                </a:lnTo>
                <a:lnTo>
                  <a:pt x="971" y="576"/>
                </a:lnTo>
                <a:lnTo>
                  <a:pt x="958" y="592"/>
                </a:lnTo>
                <a:lnTo>
                  <a:pt x="943" y="607"/>
                </a:lnTo>
                <a:lnTo>
                  <a:pt x="929" y="623"/>
                </a:lnTo>
                <a:lnTo>
                  <a:pt x="911" y="637"/>
                </a:lnTo>
                <a:lnTo>
                  <a:pt x="894" y="652"/>
                </a:lnTo>
                <a:lnTo>
                  <a:pt x="875" y="665"/>
                </a:lnTo>
                <a:lnTo>
                  <a:pt x="856" y="679"/>
                </a:lnTo>
                <a:lnTo>
                  <a:pt x="836" y="692"/>
                </a:lnTo>
                <a:lnTo>
                  <a:pt x="816" y="705"/>
                </a:lnTo>
                <a:lnTo>
                  <a:pt x="772" y="730"/>
                </a:lnTo>
                <a:lnTo>
                  <a:pt x="726" y="752"/>
                </a:lnTo>
                <a:lnTo>
                  <a:pt x="702" y="762"/>
                </a:lnTo>
                <a:lnTo>
                  <a:pt x="678" y="772"/>
                </a:lnTo>
                <a:lnTo>
                  <a:pt x="653" y="781"/>
                </a:lnTo>
                <a:lnTo>
                  <a:pt x="629" y="790"/>
                </a:lnTo>
                <a:lnTo>
                  <a:pt x="604" y="798"/>
                </a:lnTo>
                <a:lnTo>
                  <a:pt x="578" y="805"/>
                </a:lnTo>
                <a:lnTo>
                  <a:pt x="553" y="813"/>
                </a:lnTo>
                <a:lnTo>
                  <a:pt x="527" y="819"/>
                </a:lnTo>
                <a:lnTo>
                  <a:pt x="501" y="824"/>
                </a:lnTo>
                <a:lnTo>
                  <a:pt x="476" y="830"/>
                </a:lnTo>
                <a:lnTo>
                  <a:pt x="450" y="834"/>
                </a:lnTo>
                <a:lnTo>
                  <a:pt x="424" y="837"/>
                </a:lnTo>
                <a:lnTo>
                  <a:pt x="400" y="840"/>
                </a:lnTo>
                <a:lnTo>
                  <a:pt x="375" y="842"/>
                </a:lnTo>
                <a:lnTo>
                  <a:pt x="349" y="843"/>
                </a:lnTo>
                <a:lnTo>
                  <a:pt x="326" y="845"/>
                </a:lnTo>
                <a:lnTo>
                  <a:pt x="346" y="897"/>
                </a:lnTo>
                <a:lnTo>
                  <a:pt x="172" y="861"/>
                </a:lnTo>
                <a:lnTo>
                  <a:pt x="53" y="836"/>
                </a:lnTo>
                <a:lnTo>
                  <a:pt x="14" y="827"/>
                </a:lnTo>
                <a:lnTo>
                  <a:pt x="4" y="824"/>
                </a:lnTo>
                <a:lnTo>
                  <a:pt x="0" y="823"/>
                </a:lnTo>
                <a:lnTo>
                  <a:pt x="13" y="817"/>
                </a:lnTo>
                <a:lnTo>
                  <a:pt x="46" y="803"/>
                </a:lnTo>
                <a:lnTo>
                  <a:pt x="146" y="759"/>
                </a:lnTo>
                <a:lnTo>
                  <a:pt x="292" y="694"/>
                </a:lnTo>
                <a:lnTo>
                  <a:pt x="297" y="724"/>
                </a:lnTo>
                <a:lnTo>
                  <a:pt x="300" y="755"/>
                </a:lnTo>
                <a:lnTo>
                  <a:pt x="320" y="755"/>
                </a:lnTo>
                <a:lnTo>
                  <a:pt x="342" y="753"/>
                </a:lnTo>
                <a:lnTo>
                  <a:pt x="384" y="749"/>
                </a:lnTo>
                <a:lnTo>
                  <a:pt x="427" y="742"/>
                </a:lnTo>
                <a:lnTo>
                  <a:pt x="472" y="733"/>
                </a:lnTo>
                <a:lnTo>
                  <a:pt x="518" y="723"/>
                </a:lnTo>
                <a:lnTo>
                  <a:pt x="540" y="717"/>
                </a:lnTo>
                <a:lnTo>
                  <a:pt x="563" y="710"/>
                </a:lnTo>
                <a:lnTo>
                  <a:pt x="608" y="695"/>
                </a:lnTo>
                <a:lnTo>
                  <a:pt x="630" y="688"/>
                </a:lnTo>
                <a:lnTo>
                  <a:pt x="653" y="679"/>
                </a:lnTo>
                <a:lnTo>
                  <a:pt x="675" y="671"/>
                </a:lnTo>
                <a:lnTo>
                  <a:pt x="695" y="662"/>
                </a:lnTo>
                <a:lnTo>
                  <a:pt x="716" y="652"/>
                </a:lnTo>
                <a:lnTo>
                  <a:pt x="736" y="642"/>
                </a:lnTo>
                <a:lnTo>
                  <a:pt x="756" y="632"/>
                </a:lnTo>
                <a:lnTo>
                  <a:pt x="775" y="621"/>
                </a:lnTo>
                <a:lnTo>
                  <a:pt x="794" y="610"/>
                </a:lnTo>
                <a:lnTo>
                  <a:pt x="811" y="598"/>
                </a:lnTo>
                <a:lnTo>
                  <a:pt x="829" y="587"/>
                </a:lnTo>
                <a:lnTo>
                  <a:pt x="845" y="575"/>
                </a:lnTo>
                <a:lnTo>
                  <a:pt x="860" y="562"/>
                </a:lnTo>
                <a:lnTo>
                  <a:pt x="875" y="549"/>
                </a:lnTo>
                <a:lnTo>
                  <a:pt x="888" y="537"/>
                </a:lnTo>
                <a:lnTo>
                  <a:pt x="900" y="523"/>
                </a:lnTo>
                <a:lnTo>
                  <a:pt x="911" y="510"/>
                </a:lnTo>
                <a:lnTo>
                  <a:pt x="921" y="497"/>
                </a:lnTo>
                <a:lnTo>
                  <a:pt x="930" y="482"/>
                </a:lnTo>
                <a:lnTo>
                  <a:pt x="937" y="468"/>
                </a:lnTo>
                <a:lnTo>
                  <a:pt x="943" y="453"/>
                </a:lnTo>
                <a:lnTo>
                  <a:pt x="949" y="439"/>
                </a:lnTo>
                <a:lnTo>
                  <a:pt x="952" y="424"/>
                </a:lnTo>
                <a:lnTo>
                  <a:pt x="953" y="410"/>
                </a:lnTo>
                <a:lnTo>
                  <a:pt x="955" y="394"/>
                </a:lnTo>
                <a:lnTo>
                  <a:pt x="953" y="379"/>
                </a:lnTo>
                <a:lnTo>
                  <a:pt x="950" y="363"/>
                </a:lnTo>
                <a:lnTo>
                  <a:pt x="946" y="349"/>
                </a:lnTo>
                <a:lnTo>
                  <a:pt x="939" y="333"/>
                </a:lnTo>
                <a:lnTo>
                  <a:pt x="930" y="317"/>
                </a:lnTo>
                <a:lnTo>
                  <a:pt x="920" y="301"/>
                </a:lnTo>
                <a:lnTo>
                  <a:pt x="908" y="285"/>
                </a:lnTo>
                <a:lnTo>
                  <a:pt x="894" y="269"/>
                </a:lnTo>
                <a:lnTo>
                  <a:pt x="878" y="253"/>
                </a:lnTo>
                <a:lnTo>
                  <a:pt x="860" y="237"/>
                </a:lnTo>
                <a:lnTo>
                  <a:pt x="840" y="221"/>
                </a:lnTo>
                <a:lnTo>
                  <a:pt x="817" y="205"/>
                </a:lnTo>
                <a:lnTo>
                  <a:pt x="792" y="189"/>
                </a:lnTo>
                <a:lnTo>
                  <a:pt x="765" y="174"/>
                </a:lnTo>
                <a:lnTo>
                  <a:pt x="736" y="158"/>
                </a:lnTo>
                <a:lnTo>
                  <a:pt x="704" y="142"/>
                </a:lnTo>
                <a:lnTo>
                  <a:pt x="669" y="124"/>
                </a:lnTo>
                <a:lnTo>
                  <a:pt x="633" y="108"/>
                </a:lnTo>
                <a:lnTo>
                  <a:pt x="592" y="92"/>
                </a:lnTo>
                <a:lnTo>
                  <a:pt x="550" y="78"/>
                </a:lnTo>
                <a:lnTo>
                  <a:pt x="505" y="62"/>
                </a:lnTo>
                <a:lnTo>
                  <a:pt x="458" y="46"/>
                </a:lnTo>
                <a:lnTo>
                  <a:pt x="407" y="30"/>
                </a:lnTo>
                <a:lnTo>
                  <a:pt x="355" y="16"/>
                </a:lnTo>
                <a:lnTo>
                  <a:pt x="298" y="0"/>
                </a:lnTo>
                <a:close/>
              </a:path>
            </a:pathLst>
          </a:custGeom>
          <a:solidFill>
            <a:srgbClr val="FF0000">
              <a:alpha val="75000"/>
            </a:srgbClr>
          </a:solidFill>
          <a:ln w="9525">
            <a:noFill/>
            <a:round/>
            <a:headEnd/>
            <a:tailEnd/>
          </a:ln>
        </p:spPr>
        <p:txBody>
          <a:bodyPr/>
          <a:lstStyle/>
          <a:p>
            <a:endParaRPr lang="fr-FR"/>
          </a:p>
        </p:txBody>
      </p:sp>
      <p:grpSp>
        <p:nvGrpSpPr>
          <p:cNvPr id="509003" name="Group 75"/>
          <p:cNvGrpSpPr>
            <a:grpSpLocks/>
          </p:cNvGrpSpPr>
          <p:nvPr/>
        </p:nvGrpSpPr>
        <p:grpSpPr bwMode="auto">
          <a:xfrm>
            <a:off x="2801938" y="1965325"/>
            <a:ext cx="1797051" cy="1868488"/>
            <a:chOff x="1815" y="1028"/>
            <a:chExt cx="1132" cy="1177"/>
          </a:xfrm>
        </p:grpSpPr>
        <p:sp>
          <p:nvSpPr>
            <p:cNvPr id="509004" name="AutoShape 76"/>
            <p:cNvSpPr>
              <a:spLocks noChangeArrowheads="1"/>
            </p:cNvSpPr>
            <p:nvPr/>
          </p:nvSpPr>
          <p:spPr bwMode="auto">
            <a:xfrm>
              <a:off x="1815" y="1028"/>
              <a:ext cx="1132" cy="240"/>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lstStyle/>
            <a:p>
              <a:r>
                <a:rPr lang="en-US" sz="2000" b="1" dirty="0"/>
                <a:t>Client RADIUS</a:t>
              </a:r>
            </a:p>
          </p:txBody>
        </p:sp>
        <p:pic>
          <p:nvPicPr>
            <p:cNvPr id="509005" name="Picture 77" descr="Server01"/>
            <p:cNvPicPr>
              <a:picLocks noChangeAspect="1" noChangeArrowheads="1"/>
            </p:cNvPicPr>
            <p:nvPr/>
          </p:nvPicPr>
          <p:blipFill>
            <a:blip r:embed="rId5" cstate="print"/>
            <a:srcRect/>
            <a:stretch>
              <a:fillRect/>
            </a:stretch>
          </p:blipFill>
          <p:spPr bwMode="auto">
            <a:xfrm>
              <a:off x="2095" y="1345"/>
              <a:ext cx="731" cy="860"/>
            </a:xfrm>
            <a:prstGeom prst="rect">
              <a:avLst/>
            </a:prstGeom>
            <a:noFill/>
          </p:spPr>
        </p:pic>
      </p:grpSp>
      <p:grpSp>
        <p:nvGrpSpPr>
          <p:cNvPr id="509006" name="Group 78"/>
          <p:cNvGrpSpPr>
            <a:grpSpLocks/>
          </p:cNvGrpSpPr>
          <p:nvPr/>
        </p:nvGrpSpPr>
        <p:grpSpPr bwMode="auto">
          <a:xfrm>
            <a:off x="725488" y="3830638"/>
            <a:ext cx="1933575" cy="1538287"/>
            <a:chOff x="547" y="2348"/>
            <a:chExt cx="1218" cy="969"/>
          </a:xfrm>
        </p:grpSpPr>
        <p:pic>
          <p:nvPicPr>
            <p:cNvPr id="509007" name="Picture 79" descr="LaptopComputer01"/>
            <p:cNvPicPr>
              <a:picLocks noChangeAspect="1" noChangeArrowheads="1"/>
            </p:cNvPicPr>
            <p:nvPr/>
          </p:nvPicPr>
          <p:blipFill>
            <a:blip r:embed="rId6"/>
            <a:srcRect/>
            <a:stretch>
              <a:fillRect/>
            </a:stretch>
          </p:blipFill>
          <p:spPr bwMode="auto">
            <a:xfrm>
              <a:off x="883" y="2348"/>
              <a:ext cx="882" cy="969"/>
            </a:xfrm>
            <a:prstGeom prst="rect">
              <a:avLst/>
            </a:prstGeom>
            <a:noFill/>
          </p:spPr>
        </p:pic>
        <p:sp>
          <p:nvSpPr>
            <p:cNvPr id="509008" name="AutoShape 80"/>
            <p:cNvSpPr>
              <a:spLocks noChangeArrowheads="1"/>
            </p:cNvSpPr>
            <p:nvPr/>
          </p:nvSpPr>
          <p:spPr bwMode="auto">
            <a:xfrm>
              <a:off x="547" y="2602"/>
              <a:ext cx="557" cy="240"/>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lstStyle/>
            <a:p>
              <a:r>
                <a:rPr lang="en-US" sz="2000" b="1"/>
                <a:t>Client</a:t>
              </a:r>
            </a:p>
          </p:txBody>
        </p:sp>
      </p:grpSp>
      <p:grpSp>
        <p:nvGrpSpPr>
          <p:cNvPr id="509009" name="Group 81"/>
          <p:cNvGrpSpPr>
            <a:grpSpLocks/>
          </p:cNvGrpSpPr>
          <p:nvPr/>
        </p:nvGrpSpPr>
        <p:grpSpPr bwMode="auto">
          <a:xfrm>
            <a:off x="1246188" y="5495925"/>
            <a:ext cx="4240213" cy="692150"/>
            <a:chOff x="777" y="3406"/>
            <a:chExt cx="2671" cy="436"/>
          </a:xfrm>
        </p:grpSpPr>
        <p:sp>
          <p:nvSpPr>
            <p:cNvPr id="509010" name="AutoShape 82"/>
            <p:cNvSpPr>
              <a:spLocks noChangeArrowheads="1"/>
            </p:cNvSpPr>
            <p:nvPr/>
          </p:nvSpPr>
          <p:spPr bwMode="auto">
            <a:xfrm>
              <a:off x="1064" y="3406"/>
              <a:ext cx="2384" cy="436"/>
            </a:xfrm>
            <a:prstGeom prst="roundRect">
              <a:avLst>
                <a:gd name="adj" fmla="val 4167"/>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gn="l">
                <a:lnSpc>
                  <a:spcPct val="85000"/>
                </a:lnSpc>
              </a:pPr>
              <a:r>
                <a:rPr lang="fr-FR" sz="2200" b="1"/>
                <a:t>Se connecte à un client RADIUS local pour avoir accès au réseau</a:t>
              </a:r>
            </a:p>
          </p:txBody>
        </p:sp>
        <p:sp>
          <p:nvSpPr>
            <p:cNvPr id="509011" name="AutoShape 83"/>
            <p:cNvSpPr>
              <a:spLocks noChangeArrowheads="1"/>
            </p:cNvSpPr>
            <p:nvPr/>
          </p:nvSpPr>
          <p:spPr bwMode="auto">
            <a:xfrm>
              <a:off x="777" y="3410"/>
              <a:ext cx="213" cy="248"/>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800" b="1">
                  <a:solidFill>
                    <a:srgbClr val="990033"/>
                  </a:solidFill>
                </a:rPr>
                <a:t>1</a:t>
              </a:r>
            </a:p>
          </p:txBody>
        </p:sp>
      </p:grpSp>
      <p:grpSp>
        <p:nvGrpSpPr>
          <p:cNvPr id="509012" name="Group 84"/>
          <p:cNvGrpSpPr>
            <a:grpSpLocks/>
          </p:cNvGrpSpPr>
          <p:nvPr/>
        </p:nvGrpSpPr>
        <p:grpSpPr bwMode="auto">
          <a:xfrm>
            <a:off x="392113" y="2012950"/>
            <a:ext cx="2627313" cy="1271588"/>
            <a:chOff x="247" y="1268"/>
            <a:chExt cx="1655" cy="801"/>
          </a:xfrm>
        </p:grpSpPr>
        <p:sp>
          <p:nvSpPr>
            <p:cNvPr id="509013" name="AutoShape 85"/>
            <p:cNvSpPr>
              <a:spLocks noChangeArrowheads="1"/>
            </p:cNvSpPr>
            <p:nvPr/>
          </p:nvSpPr>
          <p:spPr bwMode="auto">
            <a:xfrm>
              <a:off x="247" y="1561"/>
              <a:ext cx="1655" cy="508"/>
            </a:xfrm>
            <a:prstGeom prst="roundRect">
              <a:avLst>
                <a:gd name="adj" fmla="val 4167"/>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gn="l">
                <a:lnSpc>
                  <a:spcPct val="85000"/>
                </a:lnSpc>
              </a:pPr>
              <a:r>
                <a:rPr lang="fr-FR" sz="2200" b="1" dirty="0"/>
                <a:t>Transmet les requêtes à un serveur RADIUS</a:t>
              </a:r>
            </a:p>
          </p:txBody>
        </p:sp>
        <p:sp>
          <p:nvSpPr>
            <p:cNvPr id="509014" name="AutoShape 86"/>
            <p:cNvSpPr>
              <a:spLocks noChangeArrowheads="1"/>
            </p:cNvSpPr>
            <p:nvPr/>
          </p:nvSpPr>
          <p:spPr bwMode="auto">
            <a:xfrm>
              <a:off x="638" y="1268"/>
              <a:ext cx="213" cy="248"/>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800" b="1">
                  <a:solidFill>
                    <a:srgbClr val="990033"/>
                  </a:solidFill>
                </a:rPr>
                <a:t>2</a:t>
              </a:r>
            </a:p>
          </p:txBody>
        </p:sp>
      </p:grpSp>
      <p:grpSp>
        <p:nvGrpSpPr>
          <p:cNvPr id="509015" name="Group 87"/>
          <p:cNvGrpSpPr>
            <a:grpSpLocks/>
          </p:cNvGrpSpPr>
          <p:nvPr/>
        </p:nvGrpSpPr>
        <p:grpSpPr bwMode="auto">
          <a:xfrm>
            <a:off x="5627689" y="4832351"/>
            <a:ext cx="3516313" cy="1466851"/>
            <a:chOff x="3824" y="3044"/>
            <a:chExt cx="2215" cy="924"/>
          </a:xfrm>
        </p:grpSpPr>
        <p:sp>
          <p:nvSpPr>
            <p:cNvPr id="509016" name="AutoShape 88"/>
            <p:cNvSpPr>
              <a:spLocks noChangeArrowheads="1"/>
            </p:cNvSpPr>
            <p:nvPr/>
          </p:nvSpPr>
          <p:spPr bwMode="auto">
            <a:xfrm>
              <a:off x="3824" y="3333"/>
              <a:ext cx="2215" cy="635"/>
            </a:xfrm>
            <a:prstGeom prst="roundRect">
              <a:avLst>
                <a:gd name="adj" fmla="val 4167"/>
              </a:avLst>
            </a:prstGeom>
            <a:gradFill rotWithShape="1">
              <a:gsLst>
                <a:gs pos="0">
                  <a:srgbClr val="ADE2A1"/>
                </a:gs>
                <a:gs pos="100000">
                  <a:srgbClr val="E8F6E4"/>
                </a:gs>
              </a:gsLst>
              <a:lin ang="2700000" scaled="1"/>
            </a:gradFill>
            <a:ln w="9525">
              <a:solidFill>
                <a:srgbClr val="4D4D4D"/>
              </a:solidFill>
              <a:round/>
              <a:headEnd/>
              <a:tailEnd/>
            </a:ln>
            <a:effectLst>
              <a:outerShdw dist="35921" dir="2700000" algn="ctr" rotWithShape="0">
                <a:srgbClr val="AFAFAF"/>
              </a:outerShdw>
            </a:effectLst>
          </p:spPr>
          <p:txBody>
            <a:bodyPr anchor="ctr"/>
            <a:lstStyle/>
            <a:p>
              <a:pPr algn="l">
                <a:lnSpc>
                  <a:spcPct val="85000"/>
                </a:lnSpc>
              </a:pPr>
              <a:r>
                <a:rPr lang="fr-FR" sz="2200" b="1" dirty="0"/>
                <a:t>Authentifie les requêtes et stocke les informations de gestion des comptes</a:t>
              </a:r>
            </a:p>
          </p:txBody>
        </p:sp>
        <p:sp>
          <p:nvSpPr>
            <p:cNvPr id="509017" name="AutoShape 89"/>
            <p:cNvSpPr>
              <a:spLocks noChangeArrowheads="1"/>
            </p:cNvSpPr>
            <p:nvPr/>
          </p:nvSpPr>
          <p:spPr bwMode="auto">
            <a:xfrm>
              <a:off x="4093" y="3044"/>
              <a:ext cx="213" cy="248"/>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800" b="1">
                  <a:solidFill>
                    <a:srgbClr val="990033"/>
                  </a:solidFill>
                </a:rPr>
                <a:t>3</a:t>
              </a:r>
            </a:p>
          </p:txBody>
        </p:sp>
      </p:grpSp>
      <p:sp>
        <p:nvSpPr>
          <p:cNvPr id="509018" name="Freeform 90"/>
          <p:cNvSpPr>
            <a:spLocks/>
          </p:cNvSpPr>
          <p:nvPr/>
        </p:nvSpPr>
        <p:spPr bwMode="auto">
          <a:xfrm rot="8313062" flipH="1">
            <a:off x="4760913" y="1985963"/>
            <a:ext cx="1419225" cy="1798637"/>
          </a:xfrm>
          <a:custGeom>
            <a:avLst/>
            <a:gdLst/>
            <a:ahLst/>
            <a:cxnLst>
              <a:cxn ang="0">
                <a:pos x="415" y="27"/>
              </a:cxn>
              <a:cxn ang="0">
                <a:pos x="571" y="71"/>
              </a:cxn>
              <a:cxn ang="0">
                <a:pos x="701" y="117"/>
              </a:cxn>
              <a:cxn ang="0">
                <a:pos x="807" y="166"/>
              </a:cxn>
              <a:cxn ang="0">
                <a:pos x="891" y="217"/>
              </a:cxn>
              <a:cxn ang="0">
                <a:pos x="953" y="269"/>
              </a:cxn>
              <a:cxn ang="0">
                <a:pos x="997" y="321"/>
              </a:cxn>
              <a:cxn ang="0">
                <a:pos x="1021" y="374"/>
              </a:cxn>
              <a:cxn ang="0">
                <a:pos x="1030" y="427"/>
              </a:cxn>
              <a:cxn ang="0">
                <a:pos x="1023" y="478"/>
              </a:cxn>
              <a:cxn ang="0">
                <a:pos x="1004" y="529"/>
              </a:cxn>
              <a:cxn ang="0">
                <a:pos x="971" y="576"/>
              </a:cxn>
              <a:cxn ang="0">
                <a:pos x="929" y="623"/>
              </a:cxn>
              <a:cxn ang="0">
                <a:pos x="875" y="665"/>
              </a:cxn>
              <a:cxn ang="0">
                <a:pos x="816" y="705"/>
              </a:cxn>
              <a:cxn ang="0">
                <a:pos x="702" y="762"/>
              </a:cxn>
              <a:cxn ang="0">
                <a:pos x="629" y="790"/>
              </a:cxn>
              <a:cxn ang="0">
                <a:pos x="553" y="813"/>
              </a:cxn>
              <a:cxn ang="0">
                <a:pos x="476" y="830"/>
              </a:cxn>
              <a:cxn ang="0">
                <a:pos x="400" y="840"/>
              </a:cxn>
              <a:cxn ang="0">
                <a:pos x="326" y="845"/>
              </a:cxn>
              <a:cxn ang="0">
                <a:pos x="53" y="836"/>
              </a:cxn>
              <a:cxn ang="0">
                <a:pos x="0" y="823"/>
              </a:cxn>
              <a:cxn ang="0">
                <a:pos x="146" y="759"/>
              </a:cxn>
              <a:cxn ang="0">
                <a:pos x="300" y="755"/>
              </a:cxn>
              <a:cxn ang="0">
                <a:pos x="384" y="749"/>
              </a:cxn>
              <a:cxn ang="0">
                <a:pos x="518" y="723"/>
              </a:cxn>
              <a:cxn ang="0">
                <a:pos x="608" y="695"/>
              </a:cxn>
              <a:cxn ang="0">
                <a:pos x="675" y="671"/>
              </a:cxn>
              <a:cxn ang="0">
                <a:pos x="736" y="642"/>
              </a:cxn>
              <a:cxn ang="0">
                <a:pos x="794" y="610"/>
              </a:cxn>
              <a:cxn ang="0">
                <a:pos x="845" y="575"/>
              </a:cxn>
              <a:cxn ang="0">
                <a:pos x="888" y="537"/>
              </a:cxn>
              <a:cxn ang="0">
                <a:pos x="921" y="497"/>
              </a:cxn>
              <a:cxn ang="0">
                <a:pos x="943" y="453"/>
              </a:cxn>
              <a:cxn ang="0">
                <a:pos x="953" y="410"/>
              </a:cxn>
              <a:cxn ang="0">
                <a:pos x="950" y="363"/>
              </a:cxn>
              <a:cxn ang="0">
                <a:pos x="930" y="317"/>
              </a:cxn>
              <a:cxn ang="0">
                <a:pos x="894" y="269"/>
              </a:cxn>
              <a:cxn ang="0">
                <a:pos x="840" y="221"/>
              </a:cxn>
              <a:cxn ang="0">
                <a:pos x="765" y="174"/>
              </a:cxn>
              <a:cxn ang="0">
                <a:pos x="669" y="124"/>
              </a:cxn>
              <a:cxn ang="0">
                <a:pos x="550" y="78"/>
              </a:cxn>
              <a:cxn ang="0">
                <a:pos x="407" y="30"/>
              </a:cxn>
            </a:cxnLst>
            <a:rect l="0" t="0" r="r" b="b"/>
            <a:pathLst>
              <a:path w="1030" h="897">
                <a:moveTo>
                  <a:pt x="298" y="0"/>
                </a:moveTo>
                <a:lnTo>
                  <a:pt x="359" y="13"/>
                </a:lnTo>
                <a:lnTo>
                  <a:pt x="415" y="27"/>
                </a:lnTo>
                <a:lnTo>
                  <a:pt x="471" y="42"/>
                </a:lnTo>
                <a:lnTo>
                  <a:pt x="523" y="56"/>
                </a:lnTo>
                <a:lnTo>
                  <a:pt x="571" y="71"/>
                </a:lnTo>
                <a:lnTo>
                  <a:pt x="617" y="87"/>
                </a:lnTo>
                <a:lnTo>
                  <a:pt x="660" y="102"/>
                </a:lnTo>
                <a:lnTo>
                  <a:pt x="701" y="117"/>
                </a:lnTo>
                <a:lnTo>
                  <a:pt x="739" y="133"/>
                </a:lnTo>
                <a:lnTo>
                  <a:pt x="773" y="150"/>
                </a:lnTo>
                <a:lnTo>
                  <a:pt x="807" y="166"/>
                </a:lnTo>
                <a:lnTo>
                  <a:pt x="837" y="184"/>
                </a:lnTo>
                <a:lnTo>
                  <a:pt x="865" y="200"/>
                </a:lnTo>
                <a:lnTo>
                  <a:pt x="891" y="217"/>
                </a:lnTo>
                <a:lnTo>
                  <a:pt x="914" y="234"/>
                </a:lnTo>
                <a:lnTo>
                  <a:pt x="934" y="252"/>
                </a:lnTo>
                <a:lnTo>
                  <a:pt x="953" y="269"/>
                </a:lnTo>
                <a:lnTo>
                  <a:pt x="969" y="287"/>
                </a:lnTo>
                <a:lnTo>
                  <a:pt x="984" y="304"/>
                </a:lnTo>
                <a:lnTo>
                  <a:pt x="997" y="321"/>
                </a:lnTo>
                <a:lnTo>
                  <a:pt x="1007" y="339"/>
                </a:lnTo>
                <a:lnTo>
                  <a:pt x="1016" y="356"/>
                </a:lnTo>
                <a:lnTo>
                  <a:pt x="1021" y="374"/>
                </a:lnTo>
                <a:lnTo>
                  <a:pt x="1026" y="391"/>
                </a:lnTo>
                <a:lnTo>
                  <a:pt x="1029" y="410"/>
                </a:lnTo>
                <a:lnTo>
                  <a:pt x="1030" y="427"/>
                </a:lnTo>
                <a:lnTo>
                  <a:pt x="1030" y="443"/>
                </a:lnTo>
                <a:lnTo>
                  <a:pt x="1027" y="461"/>
                </a:lnTo>
                <a:lnTo>
                  <a:pt x="1023" y="478"/>
                </a:lnTo>
                <a:lnTo>
                  <a:pt x="1018" y="495"/>
                </a:lnTo>
                <a:lnTo>
                  <a:pt x="1011" y="511"/>
                </a:lnTo>
                <a:lnTo>
                  <a:pt x="1004" y="529"/>
                </a:lnTo>
                <a:lnTo>
                  <a:pt x="994" y="545"/>
                </a:lnTo>
                <a:lnTo>
                  <a:pt x="984" y="561"/>
                </a:lnTo>
                <a:lnTo>
                  <a:pt x="971" y="576"/>
                </a:lnTo>
                <a:lnTo>
                  <a:pt x="958" y="592"/>
                </a:lnTo>
                <a:lnTo>
                  <a:pt x="943" y="607"/>
                </a:lnTo>
                <a:lnTo>
                  <a:pt x="929" y="623"/>
                </a:lnTo>
                <a:lnTo>
                  <a:pt x="911" y="637"/>
                </a:lnTo>
                <a:lnTo>
                  <a:pt x="894" y="652"/>
                </a:lnTo>
                <a:lnTo>
                  <a:pt x="875" y="665"/>
                </a:lnTo>
                <a:lnTo>
                  <a:pt x="856" y="679"/>
                </a:lnTo>
                <a:lnTo>
                  <a:pt x="836" y="692"/>
                </a:lnTo>
                <a:lnTo>
                  <a:pt x="816" y="705"/>
                </a:lnTo>
                <a:lnTo>
                  <a:pt x="772" y="730"/>
                </a:lnTo>
                <a:lnTo>
                  <a:pt x="726" y="752"/>
                </a:lnTo>
                <a:lnTo>
                  <a:pt x="702" y="762"/>
                </a:lnTo>
                <a:lnTo>
                  <a:pt x="678" y="772"/>
                </a:lnTo>
                <a:lnTo>
                  <a:pt x="653" y="781"/>
                </a:lnTo>
                <a:lnTo>
                  <a:pt x="629" y="790"/>
                </a:lnTo>
                <a:lnTo>
                  <a:pt x="604" y="798"/>
                </a:lnTo>
                <a:lnTo>
                  <a:pt x="578" y="805"/>
                </a:lnTo>
                <a:lnTo>
                  <a:pt x="553" y="813"/>
                </a:lnTo>
                <a:lnTo>
                  <a:pt x="527" y="819"/>
                </a:lnTo>
                <a:lnTo>
                  <a:pt x="501" y="824"/>
                </a:lnTo>
                <a:lnTo>
                  <a:pt x="476" y="830"/>
                </a:lnTo>
                <a:lnTo>
                  <a:pt x="450" y="834"/>
                </a:lnTo>
                <a:lnTo>
                  <a:pt x="424" y="837"/>
                </a:lnTo>
                <a:lnTo>
                  <a:pt x="400" y="840"/>
                </a:lnTo>
                <a:lnTo>
                  <a:pt x="375" y="842"/>
                </a:lnTo>
                <a:lnTo>
                  <a:pt x="349" y="843"/>
                </a:lnTo>
                <a:lnTo>
                  <a:pt x="326" y="845"/>
                </a:lnTo>
                <a:lnTo>
                  <a:pt x="346" y="897"/>
                </a:lnTo>
                <a:lnTo>
                  <a:pt x="172" y="861"/>
                </a:lnTo>
                <a:lnTo>
                  <a:pt x="53" y="836"/>
                </a:lnTo>
                <a:lnTo>
                  <a:pt x="14" y="827"/>
                </a:lnTo>
                <a:lnTo>
                  <a:pt x="4" y="824"/>
                </a:lnTo>
                <a:lnTo>
                  <a:pt x="0" y="823"/>
                </a:lnTo>
                <a:lnTo>
                  <a:pt x="13" y="817"/>
                </a:lnTo>
                <a:lnTo>
                  <a:pt x="46" y="803"/>
                </a:lnTo>
                <a:lnTo>
                  <a:pt x="146" y="759"/>
                </a:lnTo>
                <a:lnTo>
                  <a:pt x="292" y="694"/>
                </a:lnTo>
                <a:lnTo>
                  <a:pt x="297" y="724"/>
                </a:lnTo>
                <a:lnTo>
                  <a:pt x="300" y="755"/>
                </a:lnTo>
                <a:lnTo>
                  <a:pt x="320" y="755"/>
                </a:lnTo>
                <a:lnTo>
                  <a:pt x="342" y="753"/>
                </a:lnTo>
                <a:lnTo>
                  <a:pt x="384" y="749"/>
                </a:lnTo>
                <a:lnTo>
                  <a:pt x="427" y="742"/>
                </a:lnTo>
                <a:lnTo>
                  <a:pt x="472" y="733"/>
                </a:lnTo>
                <a:lnTo>
                  <a:pt x="518" y="723"/>
                </a:lnTo>
                <a:lnTo>
                  <a:pt x="540" y="717"/>
                </a:lnTo>
                <a:lnTo>
                  <a:pt x="563" y="710"/>
                </a:lnTo>
                <a:lnTo>
                  <a:pt x="608" y="695"/>
                </a:lnTo>
                <a:lnTo>
                  <a:pt x="630" y="688"/>
                </a:lnTo>
                <a:lnTo>
                  <a:pt x="653" y="679"/>
                </a:lnTo>
                <a:lnTo>
                  <a:pt x="675" y="671"/>
                </a:lnTo>
                <a:lnTo>
                  <a:pt x="695" y="662"/>
                </a:lnTo>
                <a:lnTo>
                  <a:pt x="716" y="652"/>
                </a:lnTo>
                <a:lnTo>
                  <a:pt x="736" y="642"/>
                </a:lnTo>
                <a:lnTo>
                  <a:pt x="756" y="632"/>
                </a:lnTo>
                <a:lnTo>
                  <a:pt x="775" y="621"/>
                </a:lnTo>
                <a:lnTo>
                  <a:pt x="794" y="610"/>
                </a:lnTo>
                <a:lnTo>
                  <a:pt x="811" y="598"/>
                </a:lnTo>
                <a:lnTo>
                  <a:pt x="829" y="587"/>
                </a:lnTo>
                <a:lnTo>
                  <a:pt x="845" y="575"/>
                </a:lnTo>
                <a:lnTo>
                  <a:pt x="860" y="562"/>
                </a:lnTo>
                <a:lnTo>
                  <a:pt x="875" y="549"/>
                </a:lnTo>
                <a:lnTo>
                  <a:pt x="888" y="537"/>
                </a:lnTo>
                <a:lnTo>
                  <a:pt x="900" y="523"/>
                </a:lnTo>
                <a:lnTo>
                  <a:pt x="911" y="510"/>
                </a:lnTo>
                <a:lnTo>
                  <a:pt x="921" y="497"/>
                </a:lnTo>
                <a:lnTo>
                  <a:pt x="930" y="482"/>
                </a:lnTo>
                <a:lnTo>
                  <a:pt x="937" y="468"/>
                </a:lnTo>
                <a:lnTo>
                  <a:pt x="943" y="453"/>
                </a:lnTo>
                <a:lnTo>
                  <a:pt x="949" y="439"/>
                </a:lnTo>
                <a:lnTo>
                  <a:pt x="952" y="424"/>
                </a:lnTo>
                <a:lnTo>
                  <a:pt x="953" y="410"/>
                </a:lnTo>
                <a:lnTo>
                  <a:pt x="955" y="394"/>
                </a:lnTo>
                <a:lnTo>
                  <a:pt x="953" y="379"/>
                </a:lnTo>
                <a:lnTo>
                  <a:pt x="950" y="363"/>
                </a:lnTo>
                <a:lnTo>
                  <a:pt x="946" y="349"/>
                </a:lnTo>
                <a:lnTo>
                  <a:pt x="939" y="333"/>
                </a:lnTo>
                <a:lnTo>
                  <a:pt x="930" y="317"/>
                </a:lnTo>
                <a:lnTo>
                  <a:pt x="920" y="301"/>
                </a:lnTo>
                <a:lnTo>
                  <a:pt x="908" y="285"/>
                </a:lnTo>
                <a:lnTo>
                  <a:pt x="894" y="269"/>
                </a:lnTo>
                <a:lnTo>
                  <a:pt x="878" y="253"/>
                </a:lnTo>
                <a:lnTo>
                  <a:pt x="860" y="237"/>
                </a:lnTo>
                <a:lnTo>
                  <a:pt x="840" y="221"/>
                </a:lnTo>
                <a:lnTo>
                  <a:pt x="817" y="205"/>
                </a:lnTo>
                <a:lnTo>
                  <a:pt x="792" y="189"/>
                </a:lnTo>
                <a:lnTo>
                  <a:pt x="765" y="174"/>
                </a:lnTo>
                <a:lnTo>
                  <a:pt x="736" y="158"/>
                </a:lnTo>
                <a:lnTo>
                  <a:pt x="704" y="142"/>
                </a:lnTo>
                <a:lnTo>
                  <a:pt x="669" y="124"/>
                </a:lnTo>
                <a:lnTo>
                  <a:pt x="633" y="108"/>
                </a:lnTo>
                <a:lnTo>
                  <a:pt x="592" y="92"/>
                </a:lnTo>
                <a:lnTo>
                  <a:pt x="550" y="78"/>
                </a:lnTo>
                <a:lnTo>
                  <a:pt x="505" y="62"/>
                </a:lnTo>
                <a:lnTo>
                  <a:pt x="458" y="46"/>
                </a:lnTo>
                <a:lnTo>
                  <a:pt x="407" y="30"/>
                </a:lnTo>
                <a:lnTo>
                  <a:pt x="355" y="16"/>
                </a:lnTo>
                <a:lnTo>
                  <a:pt x="298" y="0"/>
                </a:lnTo>
                <a:close/>
              </a:path>
            </a:pathLst>
          </a:custGeom>
          <a:solidFill>
            <a:srgbClr val="FF0000">
              <a:alpha val="75000"/>
            </a:srgbClr>
          </a:solidFill>
          <a:ln w="9525">
            <a:noFill/>
            <a:round/>
            <a:headEnd/>
            <a:tailEnd/>
          </a:ln>
        </p:spPr>
        <p:txBody>
          <a:bodyPr/>
          <a:lstStyle/>
          <a:p>
            <a:endParaRPr lang="fr-FR"/>
          </a:p>
        </p:txBody>
      </p:sp>
      <p:sp>
        <p:nvSpPr>
          <p:cNvPr id="509019" name="Freeform 91"/>
          <p:cNvSpPr>
            <a:spLocks/>
          </p:cNvSpPr>
          <p:nvPr/>
        </p:nvSpPr>
        <p:spPr bwMode="auto">
          <a:xfrm rot="-3290377">
            <a:off x="2149476" y="3548062"/>
            <a:ext cx="1581150" cy="638175"/>
          </a:xfrm>
          <a:custGeom>
            <a:avLst/>
            <a:gdLst/>
            <a:ahLst/>
            <a:cxnLst>
              <a:cxn ang="0">
                <a:pos x="1113" y="362"/>
              </a:cxn>
              <a:cxn ang="0">
                <a:pos x="502" y="44"/>
              </a:cxn>
              <a:cxn ang="0">
                <a:pos x="560" y="252"/>
              </a:cxn>
              <a:cxn ang="0">
                <a:pos x="0" y="0"/>
              </a:cxn>
              <a:cxn ang="0">
                <a:pos x="661" y="402"/>
              </a:cxn>
              <a:cxn ang="0">
                <a:pos x="564" y="165"/>
              </a:cxn>
              <a:cxn ang="0">
                <a:pos x="1113" y="362"/>
              </a:cxn>
            </a:cxnLst>
            <a:rect l="0" t="0" r="r" b="b"/>
            <a:pathLst>
              <a:path w="1113" h="402">
                <a:moveTo>
                  <a:pt x="1113" y="362"/>
                </a:moveTo>
                <a:lnTo>
                  <a:pt x="502" y="44"/>
                </a:lnTo>
                <a:lnTo>
                  <a:pt x="560" y="252"/>
                </a:lnTo>
                <a:lnTo>
                  <a:pt x="0" y="0"/>
                </a:lnTo>
                <a:lnTo>
                  <a:pt x="661" y="402"/>
                </a:lnTo>
                <a:lnTo>
                  <a:pt x="564" y="165"/>
                </a:lnTo>
                <a:lnTo>
                  <a:pt x="1113" y="362"/>
                </a:lnTo>
              </a:path>
            </a:pathLst>
          </a:custGeom>
          <a:solidFill>
            <a:srgbClr val="FF0000">
              <a:alpha val="75000"/>
            </a:srgbClr>
          </a:solidFill>
          <a:ln w="6350" cap="rnd" cmpd="sng">
            <a:noFill/>
            <a:prstDash val="solid"/>
            <a:round/>
            <a:headEnd type="none" w="med" len="med"/>
            <a:tailEnd type="none" w="med" len="med"/>
          </a:ln>
          <a:effectLst/>
        </p:spPr>
        <p:txBody>
          <a:bodyPr/>
          <a:lstStyle/>
          <a:p>
            <a:endParaRPr lang="fr-FR"/>
          </a:p>
        </p:txBody>
      </p:sp>
      <p:grpSp>
        <p:nvGrpSpPr>
          <p:cNvPr id="509020" name="Group 92"/>
          <p:cNvGrpSpPr>
            <a:grpSpLocks/>
          </p:cNvGrpSpPr>
          <p:nvPr/>
        </p:nvGrpSpPr>
        <p:grpSpPr bwMode="auto">
          <a:xfrm>
            <a:off x="6805614" y="2720975"/>
            <a:ext cx="1568592" cy="1993900"/>
            <a:chOff x="4377" y="1714"/>
            <a:chExt cx="867" cy="1256"/>
          </a:xfrm>
        </p:grpSpPr>
        <p:pic>
          <p:nvPicPr>
            <p:cNvPr id="509021" name="Picture 93" descr="Server01"/>
            <p:cNvPicPr>
              <a:picLocks noChangeAspect="1" noChangeArrowheads="1"/>
            </p:cNvPicPr>
            <p:nvPr/>
          </p:nvPicPr>
          <p:blipFill>
            <a:blip r:embed="rId7" cstate="print"/>
            <a:srcRect/>
            <a:stretch>
              <a:fillRect/>
            </a:stretch>
          </p:blipFill>
          <p:spPr bwMode="auto">
            <a:xfrm>
              <a:off x="4423" y="2236"/>
              <a:ext cx="624" cy="734"/>
            </a:xfrm>
            <a:prstGeom prst="rect">
              <a:avLst/>
            </a:prstGeom>
            <a:noFill/>
          </p:spPr>
        </p:pic>
        <p:sp>
          <p:nvSpPr>
            <p:cNvPr id="509022" name="AutoShape 94"/>
            <p:cNvSpPr>
              <a:spLocks noChangeArrowheads="1"/>
            </p:cNvSpPr>
            <p:nvPr/>
          </p:nvSpPr>
          <p:spPr bwMode="auto">
            <a:xfrm>
              <a:off x="4377" y="1714"/>
              <a:ext cx="867" cy="494"/>
            </a:xfrm>
            <a:prstGeom prst="roundRect">
              <a:avLst>
                <a:gd name="adj" fmla="val 4167"/>
              </a:avLst>
            </a:prstGeom>
            <a:solidFill>
              <a:schemeClr val="bg1"/>
            </a:solidFill>
            <a:ln w="9525">
              <a:solidFill>
                <a:srgbClr val="4D4D4D"/>
              </a:solidFill>
              <a:round/>
              <a:headEnd/>
              <a:tailEnd/>
            </a:ln>
            <a:effectLst>
              <a:outerShdw dist="35921" dir="2700000" algn="ctr" rotWithShape="0">
                <a:srgbClr val="AFAFAF"/>
              </a:outerShdw>
            </a:effectLst>
          </p:spPr>
          <p:txBody>
            <a:bodyPr anchor="ctr"/>
            <a:lstStyle/>
            <a:p>
              <a:pPr>
                <a:lnSpc>
                  <a:spcPct val="85000"/>
                </a:lnSpc>
              </a:pPr>
              <a:r>
                <a:rPr lang="en-US" sz="2000" b="1"/>
                <a:t>Contrôleur de domaine</a:t>
              </a:r>
            </a:p>
          </p:txBody>
        </p:sp>
      </p:grpSp>
      <p:sp>
        <p:nvSpPr>
          <p:cNvPr id="509023" name="AutoShape 95"/>
          <p:cNvSpPr>
            <a:spLocks noChangeArrowheads="1"/>
          </p:cNvSpPr>
          <p:nvPr/>
        </p:nvSpPr>
        <p:spPr bwMode="auto">
          <a:xfrm rot="-1326854">
            <a:off x="5895975" y="4271963"/>
            <a:ext cx="968375" cy="369887"/>
          </a:xfrm>
          <a:prstGeom prst="leftRightArrow">
            <a:avLst>
              <a:gd name="adj1" fmla="val 50000"/>
              <a:gd name="adj2" fmla="val 79898"/>
            </a:avLst>
          </a:prstGeom>
          <a:solidFill>
            <a:srgbClr val="FF0000">
              <a:alpha val="75000"/>
            </a:srgbClr>
          </a:solidFill>
          <a:ln w="9525" algn="ctr">
            <a:noFill/>
            <a:miter lim="800000"/>
            <a:headEnd/>
            <a:tailEnd/>
          </a:ln>
          <a:effectLst/>
        </p:spPr>
        <p:txBody>
          <a:bodyPr/>
          <a:lstStyle/>
          <a:p>
            <a:endParaRPr lang="fr-FR"/>
          </a:p>
        </p:txBody>
      </p:sp>
      <p:grpSp>
        <p:nvGrpSpPr>
          <p:cNvPr id="509024" name="Group 96"/>
          <p:cNvGrpSpPr>
            <a:grpSpLocks/>
          </p:cNvGrpSpPr>
          <p:nvPr/>
        </p:nvGrpSpPr>
        <p:grpSpPr bwMode="auto">
          <a:xfrm>
            <a:off x="4343400" y="1295400"/>
            <a:ext cx="4800600" cy="838200"/>
            <a:chOff x="2736" y="816"/>
            <a:chExt cx="3024" cy="528"/>
          </a:xfrm>
        </p:grpSpPr>
        <p:sp>
          <p:nvSpPr>
            <p:cNvPr id="509025" name="AutoShape 97"/>
            <p:cNvSpPr>
              <a:spLocks noChangeArrowheads="1"/>
            </p:cNvSpPr>
            <p:nvPr/>
          </p:nvSpPr>
          <p:spPr bwMode="auto">
            <a:xfrm>
              <a:off x="3023" y="816"/>
              <a:ext cx="2737" cy="528"/>
            </a:xfrm>
            <a:prstGeom prst="roundRect">
              <a:avLst>
                <a:gd name="adj" fmla="val 4167"/>
              </a:avLst>
            </a:prstGeom>
            <a:gradFill rotWithShape="1">
              <a:gsLst>
                <a:gs pos="0">
                  <a:srgbClr val="ADE2A1"/>
                </a:gs>
                <a:gs pos="100000">
                  <a:srgbClr val="E8F6E4"/>
                </a:gs>
              </a:gsLst>
              <a:lin ang="2700000" scaled="1"/>
            </a:gradFill>
            <a:ln w="9525" algn="ctr">
              <a:solidFill>
                <a:srgbClr val="4D4D4D"/>
              </a:solidFill>
              <a:round/>
              <a:headEnd/>
              <a:tailEnd/>
            </a:ln>
            <a:effectLst>
              <a:outerShdw dist="35921" dir="2700000" algn="ctr" rotWithShape="0">
                <a:srgbClr val="AFAFAF"/>
              </a:outerShdw>
            </a:effectLst>
          </p:spPr>
          <p:txBody>
            <a:bodyPr anchor="ctr"/>
            <a:lstStyle/>
            <a:p>
              <a:pPr algn="l">
                <a:lnSpc>
                  <a:spcPct val="85000"/>
                </a:lnSpc>
              </a:pPr>
              <a:r>
                <a:rPr lang="fr-FR" sz="2200" b="1" dirty="0"/>
                <a:t>Communique avec un client RADIUS pour accorder ou refuser l'accès</a:t>
              </a:r>
            </a:p>
          </p:txBody>
        </p:sp>
        <p:sp>
          <p:nvSpPr>
            <p:cNvPr id="509026" name="AutoShape 98"/>
            <p:cNvSpPr>
              <a:spLocks noChangeArrowheads="1"/>
            </p:cNvSpPr>
            <p:nvPr/>
          </p:nvSpPr>
          <p:spPr bwMode="auto">
            <a:xfrm>
              <a:off x="2736" y="820"/>
              <a:ext cx="213" cy="248"/>
            </a:xfrm>
            <a:prstGeom prst="roundRect">
              <a:avLst>
                <a:gd name="adj" fmla="val 0"/>
              </a:avLst>
            </a:prstGeom>
            <a:gradFill rotWithShape="1">
              <a:gsLst>
                <a:gs pos="0">
                  <a:schemeClr val="folHlink"/>
                </a:gs>
                <a:gs pos="50000">
                  <a:srgbClr val="F0F0F0"/>
                </a:gs>
                <a:gs pos="100000">
                  <a:schemeClr val="folHlink"/>
                </a:gs>
              </a:gsLst>
              <a:lin ang="5400000" scaled="1"/>
            </a:gradFill>
            <a:ln w="9525">
              <a:solidFill>
                <a:schemeClr val="tx1"/>
              </a:solidFill>
              <a:round/>
              <a:headEnd/>
              <a:tailEnd/>
            </a:ln>
            <a:effectLst>
              <a:outerShdw dist="35921" dir="2700000" algn="ctr" rotWithShape="0">
                <a:schemeClr val="tx1">
                  <a:alpha val="50000"/>
                </a:schemeClr>
              </a:outerShdw>
            </a:effectLst>
          </p:spPr>
          <p:txBody>
            <a:bodyPr wrap="none" anchor="ctr"/>
            <a:lstStyle/>
            <a:p>
              <a:r>
                <a:rPr lang="en-US" sz="2800" b="1">
                  <a:solidFill>
                    <a:srgbClr val="990033"/>
                  </a:solidFill>
                </a:rPr>
                <a:t>4</a:t>
              </a:r>
            </a:p>
          </p:txBody>
        </p:sp>
      </p:grpSp>
      <p:sp>
        <p:nvSpPr>
          <p:cNvPr id="509035" name="Rectangle 107"/>
          <p:cNvSpPr>
            <a:spLocks noChangeArrowheads="1"/>
          </p:cNvSpPr>
          <p:nvPr/>
        </p:nvSpPr>
        <p:spPr bwMode="auto">
          <a:xfrm>
            <a:off x="2992438" y="3786188"/>
            <a:ext cx="1781175" cy="877163"/>
          </a:xfrm>
          <a:prstGeom prst="rect">
            <a:avLst/>
          </a:prstGeom>
          <a:noFill/>
          <a:ln w="9525" algn="ctr">
            <a:noFill/>
            <a:miter lim="800000"/>
            <a:headEnd/>
            <a:tailEnd/>
          </a:ln>
          <a:effectLst/>
        </p:spPr>
        <p:txBody>
          <a:bodyPr>
            <a:spAutoFit/>
          </a:bodyPr>
          <a:lstStyle/>
          <a:p>
            <a:pPr>
              <a:lnSpc>
                <a:spcPct val="85000"/>
              </a:lnSpc>
            </a:pPr>
            <a:r>
              <a:rPr lang="en-US" sz="2000" b="1" dirty="0" err="1"/>
              <a:t>Serveur</a:t>
            </a:r>
            <a:br>
              <a:rPr lang="en-US" sz="2000" b="1" dirty="0"/>
            </a:br>
            <a:r>
              <a:rPr lang="en-US" sz="2000" b="1" dirty="0" err="1"/>
              <a:t>d'accès</a:t>
            </a:r>
            <a:br>
              <a:rPr lang="en-US" sz="2000" b="1" dirty="0"/>
            </a:br>
            <a:r>
              <a:rPr lang="en-US" sz="2000" b="1" dirty="0"/>
              <a:t>distant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09009"/>
                                        </p:tgtEl>
                                        <p:attrNameLst>
                                          <p:attrName>style.visibility</p:attrName>
                                        </p:attrNameLst>
                                      </p:cBhvr>
                                      <p:to>
                                        <p:strVal val="visible"/>
                                      </p:to>
                                    </p:set>
                                    <p:animEffect transition="in" filter="wipe(left)">
                                      <p:cBhvr>
                                        <p:cTn id="7" dur="500"/>
                                        <p:tgtEl>
                                          <p:spTgt spid="509009"/>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509019"/>
                                        </p:tgtEl>
                                        <p:attrNameLst>
                                          <p:attrName>style.visibility</p:attrName>
                                        </p:attrNameLst>
                                      </p:cBhvr>
                                      <p:to>
                                        <p:strVal val="visible"/>
                                      </p:to>
                                    </p:set>
                                    <p:animEffect transition="in" filter="wipe(left)">
                                      <p:cBhvr>
                                        <p:cTn id="11" dur="500"/>
                                        <p:tgtEl>
                                          <p:spTgt spid="50901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09012"/>
                                        </p:tgtEl>
                                        <p:attrNameLst>
                                          <p:attrName>style.visibility</p:attrName>
                                        </p:attrNameLst>
                                      </p:cBhvr>
                                      <p:to>
                                        <p:strVal val="visible"/>
                                      </p:to>
                                    </p:set>
                                    <p:animEffect transition="in" filter="wipe(left)">
                                      <p:cBhvr>
                                        <p:cTn id="16" dur="500"/>
                                        <p:tgtEl>
                                          <p:spTgt spid="509012"/>
                                        </p:tgtEl>
                                      </p:cBhvr>
                                    </p:animEffect>
                                  </p:childTnLst>
                                </p:cTn>
                              </p:par>
                            </p:childTnLst>
                          </p:cTn>
                        </p:par>
                        <p:par>
                          <p:cTn id="17" fill="hold">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509002"/>
                                        </p:tgtEl>
                                        <p:attrNameLst>
                                          <p:attrName>style.visibility</p:attrName>
                                        </p:attrNameLst>
                                      </p:cBhvr>
                                      <p:to>
                                        <p:strVal val="visible"/>
                                      </p:to>
                                    </p:set>
                                    <p:animEffect transition="in" filter="wipe(up)">
                                      <p:cBhvr>
                                        <p:cTn id="20" dur="500"/>
                                        <p:tgtEl>
                                          <p:spTgt spid="50900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09015"/>
                                        </p:tgtEl>
                                        <p:attrNameLst>
                                          <p:attrName>style.visibility</p:attrName>
                                        </p:attrNameLst>
                                      </p:cBhvr>
                                      <p:to>
                                        <p:strVal val="visible"/>
                                      </p:to>
                                    </p:set>
                                    <p:animEffect transition="in" filter="wipe(left)">
                                      <p:cBhvr>
                                        <p:cTn id="25" dur="500"/>
                                        <p:tgtEl>
                                          <p:spTgt spid="509015"/>
                                        </p:tgtEl>
                                      </p:cBhvr>
                                    </p:animEffect>
                                  </p:childTnLst>
                                </p:cTn>
                              </p:par>
                            </p:childTnLst>
                          </p:cTn>
                        </p:par>
                        <p:par>
                          <p:cTn id="26" fill="hold">
                            <p:stCondLst>
                              <p:cond delay="500"/>
                            </p:stCondLst>
                            <p:childTnLst>
                              <p:par>
                                <p:cTn id="27" presetID="4" presetClass="entr" presetSubtype="32" fill="hold" grpId="0" nodeType="afterEffect">
                                  <p:stCondLst>
                                    <p:cond delay="0"/>
                                  </p:stCondLst>
                                  <p:childTnLst>
                                    <p:set>
                                      <p:cBhvr>
                                        <p:cTn id="28" dur="1" fill="hold">
                                          <p:stCondLst>
                                            <p:cond delay="0"/>
                                          </p:stCondLst>
                                        </p:cTn>
                                        <p:tgtEl>
                                          <p:spTgt spid="509023"/>
                                        </p:tgtEl>
                                        <p:attrNameLst>
                                          <p:attrName>style.visibility</p:attrName>
                                        </p:attrNameLst>
                                      </p:cBhvr>
                                      <p:to>
                                        <p:strVal val="visible"/>
                                      </p:to>
                                    </p:set>
                                    <p:animEffect transition="in" filter="box(out)">
                                      <p:cBhvr>
                                        <p:cTn id="29" dur="500"/>
                                        <p:tgtEl>
                                          <p:spTgt spid="50902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509024"/>
                                        </p:tgtEl>
                                        <p:attrNameLst>
                                          <p:attrName>style.visibility</p:attrName>
                                        </p:attrNameLst>
                                      </p:cBhvr>
                                      <p:to>
                                        <p:strVal val="visible"/>
                                      </p:to>
                                    </p:set>
                                    <p:animEffect transition="in" filter="wipe(left)">
                                      <p:cBhvr>
                                        <p:cTn id="34" dur="500"/>
                                        <p:tgtEl>
                                          <p:spTgt spid="509024"/>
                                        </p:tgtEl>
                                      </p:cBhvr>
                                    </p:animEffect>
                                  </p:childTnLst>
                                </p:cTn>
                              </p:par>
                            </p:childTnLst>
                          </p:cTn>
                        </p:par>
                        <p:par>
                          <p:cTn id="35" fill="hold">
                            <p:stCondLst>
                              <p:cond delay="500"/>
                            </p:stCondLst>
                            <p:childTnLst>
                              <p:par>
                                <p:cTn id="36" presetID="22" presetClass="entr" presetSubtype="2" fill="hold" grpId="0" nodeType="afterEffect">
                                  <p:stCondLst>
                                    <p:cond delay="0"/>
                                  </p:stCondLst>
                                  <p:childTnLst>
                                    <p:set>
                                      <p:cBhvr>
                                        <p:cTn id="37" dur="1" fill="hold">
                                          <p:stCondLst>
                                            <p:cond delay="0"/>
                                          </p:stCondLst>
                                        </p:cTn>
                                        <p:tgtEl>
                                          <p:spTgt spid="509018"/>
                                        </p:tgtEl>
                                        <p:attrNameLst>
                                          <p:attrName>style.visibility</p:attrName>
                                        </p:attrNameLst>
                                      </p:cBhvr>
                                      <p:to>
                                        <p:strVal val="visible"/>
                                      </p:to>
                                    </p:set>
                                    <p:animEffect transition="in" filter="wipe(right)">
                                      <p:cBhvr>
                                        <p:cTn id="38" dur="500"/>
                                        <p:tgtEl>
                                          <p:spTgt spid="5090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9002" grpId="0" animBg="1"/>
      <p:bldP spid="509018" grpId="0" animBg="1"/>
      <p:bldP spid="509019" grpId="0" animBg="1"/>
      <p:bldP spid="509023" grpId="0" animBg="1"/>
    </p:bldLst>
  </p:timing>
</p:sld>
</file>

<file path=ppt/tags/tag1.xml><?xml version="1.0" encoding="utf-8"?>
<p:tagLst xmlns:a="http://schemas.openxmlformats.org/drawingml/2006/main" xmlns:r="http://schemas.openxmlformats.org/officeDocument/2006/relationships" xmlns:p="http://schemas.openxmlformats.org/presentationml/2006/main">
  <p:tag name="PPWINTOTALSEGMENTS" val="1"/>
</p:tagLst>
</file>

<file path=ppt/tags/tag2.xml><?xml version="1.0" encoding="utf-8"?>
<p:tagLst xmlns:a="http://schemas.openxmlformats.org/drawingml/2006/main" xmlns:r="http://schemas.openxmlformats.org/officeDocument/2006/relationships" xmlns:p="http://schemas.openxmlformats.org/presentationml/2006/main">
  <p:tag name="PPWINTOTALSEGMENTS" val="1"/>
</p:tagLst>
</file>

<file path=ppt/tags/tag3.xml><?xml version="1.0" encoding="utf-8"?>
<p:tagLst xmlns:a="http://schemas.openxmlformats.org/drawingml/2006/main" xmlns:r="http://schemas.openxmlformats.org/officeDocument/2006/relationships" xmlns:p="http://schemas.openxmlformats.org/presentationml/2006/main">
  <p:tag name="PPWINTOTALSEGMENTS" val="5"/>
</p:tagLst>
</file>

<file path=ppt/tags/tag4.xml><?xml version="1.0" encoding="utf-8"?>
<p:tagLst xmlns:a="http://schemas.openxmlformats.org/drawingml/2006/main" xmlns:r="http://schemas.openxmlformats.org/officeDocument/2006/relationships" xmlns:p="http://schemas.openxmlformats.org/presentationml/2006/main">
  <p:tag name="PPWINTOTALSEGMENTS" val="1"/>
</p:tagLst>
</file>

<file path=ppt/tags/tag5.xml><?xml version="1.0" encoding="utf-8"?>
<p:tagLst xmlns:a="http://schemas.openxmlformats.org/drawingml/2006/main" xmlns:r="http://schemas.openxmlformats.org/officeDocument/2006/relationships" xmlns:p="http://schemas.openxmlformats.org/presentationml/2006/main">
  <p:tag name="PPWINTOTALSEGMENTS" val="0"/>
</p:tagLst>
</file>

<file path=ppt/tags/tag6.xml><?xml version="1.0" encoding="utf-8"?>
<p:tagLst xmlns:a="http://schemas.openxmlformats.org/drawingml/2006/main" xmlns:r="http://schemas.openxmlformats.org/officeDocument/2006/relationships" xmlns:p="http://schemas.openxmlformats.org/presentationml/2006/main">
  <p:tag name="PPWINTOTALSEGMENTS" val="1"/>
</p:tagLst>
</file>

<file path=ppt/tags/tag7.xml><?xml version="1.0" encoding="utf-8"?>
<p:tagLst xmlns:a="http://schemas.openxmlformats.org/drawingml/2006/main" xmlns:r="http://schemas.openxmlformats.org/officeDocument/2006/relationships" xmlns:p="http://schemas.openxmlformats.org/presentationml/2006/main">
  <p:tag name="PPWINTOTALSEGMENTS" val="1"/>
</p:tagLst>
</file>

<file path=ppt/tags/tag8.xml><?xml version="1.0" encoding="utf-8"?>
<p:tagLst xmlns:a="http://schemas.openxmlformats.org/drawingml/2006/main" xmlns:r="http://schemas.openxmlformats.org/officeDocument/2006/relationships" xmlns:p="http://schemas.openxmlformats.org/presentationml/2006/main">
  <p:tag name="PPWINTOTALSEGMENTS" val="1"/>
</p:tagLst>
</file>

<file path=ppt/tags/tag9.xml><?xml version="1.0" encoding="utf-8"?>
<p:tagLst xmlns:a="http://schemas.openxmlformats.org/drawingml/2006/main" xmlns:r="http://schemas.openxmlformats.org/officeDocument/2006/relationships" xmlns:p="http://schemas.openxmlformats.org/presentationml/2006/main">
  <p:tag name="PPWINTOTALSEGMENTS" val="0"/>
</p:tagLst>
</file>

<file path=ppt/tags/tag10.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
  <p:tag name="PPWINSEGMENT1SOURCERTF" val="{\rtf1\ansi\deff0{\fonttbl{\f0\fcharset0 Arial Narrow;}}{\colortbl\red0\green0\blue0;}{\f0\fs100\b\cf0 Module 9:\par}}"/>
  <p:tag name="PPWINSEGMENT1TARGETRTF" val="{\rtf1\ansi\deff1{\fonttbl{\f1\fcharset0 Arial;}{\f2\fcharset0 Arial Narrow;}}{\colortbl\red0\green0\blue0;}{\f2\fs100\b\cf0 Module 9 :\par}}"/>
  <p:tag name="PPWINSEGMENT2START" val="12"/>
  <p:tag name="PPWINSEGMENT2LENGTH" val="31"/>
  <p:tag name="PPWINSEGMENT2SOURCERTF" val="{\rtf1\ansi\deff0{\fonttbl{\f0\fcharset0 Arial Narrow;}}{\colortbl\red0\green0\blue0;}{\f0\fs100\b\cf0 Configuring Network Access\par}}"/>
  <p:tag name="PPWINSEGMENT2TARGETRTF" val="{\rtf1\ansi\deff1{\fonttbl{\f1\fcharset0 Arial;}{\f2\fcharset0 Arial Narrow;}}{\colortbl\red0\green0\blue0;}{\f2\fs100\b\cf0 Configuration de l'acc\'E8s r\'E9seau\par}}"/>
  <p:tag name="PPWINLASTSAVEDTRANSLATION" val="Module 9 : Configuration de l'accès réseau"/>
  <p:tag name="PPWINALREADYSEGMENTED" val="True"/>
  <p:tag name="PPWINTOTALSEGMENTS" val="2"/>
</p:tagLst>
</file>

<file path=ppt/tags/tag11.xml><?xml version="1.0" encoding="utf-8"?>
<p:tagLst xmlns:a="http://schemas.openxmlformats.org/drawingml/2006/main" xmlns:r="http://schemas.openxmlformats.org/officeDocument/2006/relationships" xmlns:p="http://schemas.openxmlformats.org/presentationml/2006/main">
  <p:tag name="PPWINTOTALSEGMENTS" val="0"/>
</p:tagLst>
</file>

<file path=ppt/tags/tag12.xml><?xml version="1.0" encoding="utf-8"?>
<p:tagLst xmlns:a="http://schemas.openxmlformats.org/drawingml/2006/main" xmlns:r="http://schemas.openxmlformats.org/officeDocument/2006/relationships" xmlns:p="http://schemas.openxmlformats.org/presentationml/2006/main">
  <p:tag name="PPWINSEGMENT1START" val="1"/>
  <p:tag name="PPWINSEGMENT1LENGTH" val="14"/>
  <p:tag name="PPWINSEGMENT1SOURCERTF" val="{\rtf1\ansi\deff0{\fonttbl{\f0\fcharset0 Arial Narrow;}}{\colortbl\red0\green0\blue0;}{\f0\fs60\b\cf0 Overview\par}}"/>
  <p:tag name="PPWINSEGMENT1TARGETRTF" val="{\rtf1\ansi\deff1{\fonttbl{\f1\fcharset0 Arial;}{\f2\fcharset0 Arial Narrow;}}{\colortbl\red0\green0\blue0;}{\f2\fs60\b\cf0 Vue d'ensemble\par}}"/>
  <p:tag name="PPWINLASTSAVEDTRANSLATION" val="Vue d'ensemble"/>
  <p:tag name="PPWINALREADYSEGMENTED" val="True"/>
  <p:tag name="PPWINTOTALSEGMENTS" val="1"/>
</p:tagLst>
</file>

<file path=ppt/tags/tag13.xml><?xml version="1.0" encoding="utf-8"?>
<p:tagLst xmlns:a="http://schemas.openxmlformats.org/drawingml/2006/main" xmlns:r="http://schemas.openxmlformats.org/officeDocument/2006/relationships" xmlns:p="http://schemas.openxmlformats.org/presentationml/2006/main">
  <p:tag name="PPWINSEGMENT1START" val="1"/>
  <p:tag name="PPWINSEGMENT1LENGTH" val="46"/>
  <p:tag name="PPWINSEGMENT1SOURCERTF" val="{\rtf1\ansi\deff0{\fonttbl{\f0\fcharset0 Arial Narrow;}}{\colortbl\red0\green0\blue0;}{\f0\fs48\b\cf0 Introduction to a Network Access Infrastructure\par}}"/>
  <p:tag name="PPWINSEGMENT1TARGETRTF" val="{\rtf1\ansi\deff1{\fonttbl{\f1\fcharset0 Arial;}{\f2\fcharset0 Arial Narrow;}}{\colortbl\red0\green0\blue0;}{\f2\fs48\b\cf0 Introduction \'E0 l'infrastructure d'acc\'E8s r\'E9seau\par}}"/>
  <p:tag name="PPWINSEGMENT2START" val="48"/>
  <p:tag name="PPWINSEGMENT2LENGTH" val="33"/>
  <p:tag name="PPWINSEGMENT2SOURCERTF" val="{\rtf1\ansi\deff0{\fonttbl{\f0\fcharset0 Arial Narrow;}}{\colortbl\red0\green0\blue0;}{\f0\fs48\b\cf0 Configuring a VPN Connection \par}}"/>
  <p:tag name="PPWINSEGMENT2TARGETRTF" val="{\rtf1\ansi\deff1{\fonttbl{\f1\fcharset0 Arial;}{\f2\fcharset0 Arial Narrow;}}{\colortbl\red0\green0\blue0;}{\f2\fs48\b\cf0 Configuration d'une connexion VPN\par}}"/>
  <p:tag name="PPWINSEGMENT3START" val="82"/>
  <p:tag name="PPWINSEGMENT3LENGTH" val="48"/>
  <p:tag name="PPWINSEGMENT3SOURCERTF" val="{\rtf1\ansi\deff0{\fonttbl{\f0\fcharset0 Arial Narrow;}}{\colortbl\red0\green0\blue0;}{\f0\fs48\b\cf0 Configuring a Dial-up Connection \par}}"/>
  <p:tag name="PPWINSEGMENT3TARGETRTF" val="{\rtf1\ansi\deff1{\fonttbl{\f1\fcharset0 Arial;}{\f2\fcharset0 Arial Narrow;}}{\colortbl\red0\green0\blue0;}{\f2\fs48\b\cf0 Configuration d'une connexion d'acc\'E8s \'E0 distance\par}}"/>
  <p:tag name="PPWINSEGMENT4START" val="131"/>
  <p:tag name="PPWINSEGMENT4LENGTH" val="38"/>
  <p:tag name="PPWINSEGMENT4SOURCERTF" val="{\rtf1\ansi\deff0{\fonttbl{\f0\fcharset0 Arial Narrow;}}{\colortbl\red0\green0\blue0;}{\f0\fs48\b\cf0 Configuring a Wireless Connection \par}}"/>
  <p:tag name="PPWINSEGMENT4TARGETRTF" val="{\rtf1\ansi\deff1{\fonttbl{\f1\fcharset0 Arial;}{\f2\fcharset0 Arial Narrow;}}{\colortbl\red0\green0\blue0;}{\f2\fs48\b\cf0 Configuration d'une connexion sans fil\par}}"/>
  <p:tag name="PPWINSEGMENT5START" val="170"/>
  <p:tag name="PPWINSEGMENT5LENGTH" val="41"/>
  <p:tag name="PPWINSEGMENT5SOURCERTF" val="{\rtf1\ansi\deff0{\fonttbl{\f0\fcharset0 Arial Narrow;}}{\colortbl\red0\green0\blue0;}{\f0\fs48\b\cf0 Controlling User Access to a Network\par}}"/>
  <p:tag name="PPWINSEGMENT5TARGETRTF" val="{\rtf1\ansi\deff1{\fonttbl{\f1\fcharset0 Arial;}{\f2\fcharset0 Arial Narrow;}}{\colortbl\red0\green0\blue0;}{\f2\fs48\b\cf0 Contr\'F4le de l'acc\'E8s utilisateur au r\'E9seau\par}}"/>
  <p:tag name="PPWINSEGMENT6START" val="212"/>
  <p:tag name="PPWINSEGMENT6LENGTH" val="103"/>
  <p:tag name="PPWINSEGMENT6SOURCERTF" val="{\rtf1\ansi\deff0{\fonttbl{\f0\fcharset0 Arial Narrow;}}{\colortbl\red0\green0\blue0;}{\f0\fs48\b\cf0 Centralizing Network Access Authentication and Policy Management by Using IAS \par}}"/>
  <p:tag name="PPWINSEGMENT6TARGETRTF" val="{\rtf1\ansi\deff1{\fonttbl{\f1\fcharset0 Arial;}{\f2\fcharset0 Arial Narrow;}}{\colortbl\red0\green0\blue0;}{\f2\fs48\b\cf0 Centralisation de l'authentification de l'acc\'E8s r\'E9seau et de la gestion des strat\'E9gies en utilisant IAS\par}}"/>
  <p:tag name="PPWINLASTSAVEDTRANSLATION" val="Introduction à l'infrastructure d'accès réseau&#10;Configuration d'une connexion VPN&#10;Configuration d'une connexion d'accès à distance&#10;Configuration d'une connexion sans fil&#10;Contrôle de l'accès utilisateur au réseau&#10;Centralisation de l'authentification de l'accès réseau et de la gestion des stratégies en utilisant IAS"/>
  <p:tag name="PPWINALREADYSEGMENTED" val="True"/>
  <p:tag name="PPWINTOTALSEGMENTS" val="6"/>
</p:tagLst>
</file>

<file path=ppt/tags/tag14.xml><?xml version="1.0" encoding="utf-8"?>
<p:tagLst xmlns:a="http://schemas.openxmlformats.org/drawingml/2006/main" xmlns:r="http://schemas.openxmlformats.org/officeDocument/2006/relationships" xmlns:p="http://schemas.openxmlformats.org/presentationml/2006/main">
  <p:tag name="PPWINTOTALSEGMENTS" val="0"/>
</p:tagLst>
</file>

<file path=ppt/tags/tag15.xml><?xml version="1.0" encoding="utf-8"?>
<p:tagLst xmlns:a="http://schemas.openxmlformats.org/drawingml/2006/main" xmlns:r="http://schemas.openxmlformats.org/officeDocument/2006/relationships" xmlns:p="http://schemas.openxmlformats.org/presentationml/2006/main">
  <p:tag name="PPWINSEGMENT1START" val="1"/>
  <p:tag name="PPWINSEGMENT1LENGTH" val="7"/>
  <p:tag name="PPWINSEGMENT1SOURCERTF" val="{\rtf1\ansi\deff0{\fonttbl{\f0\fcharset0 Arial Narrow;}}{\colortbl\red0\green0\blue0;}{\f0\fs52\b\cf0 Lesson:\par}}"/>
  <p:tag name="PPWINSEGMENT1TARGETRTF" val="{\rtf1\ansi\deff1{\fonttbl{\f1\fcharset0 Arial;}{\f2\fcharset0 Arial Narrow;}}{\colortbl\red0\green0\blue0;}{\f2\fs52\b\cf0 Le\'E7on :\par}}"/>
  <p:tag name="PPWINSEGMENT2START" val="9"/>
  <p:tag name="PPWINSEGMENT2LENGTH" val="46"/>
  <p:tag name="PPWINSEGMENT2SOURCERTF" val="{\rtf1\ansi\deff0{\fonttbl{\f0\fcharset0 Arial Narrow;}}{\colortbl\red0\green0\blue0;}{\f0\fs52\b\cf0 Introduction to a Network Access Infrastructure\par}}"/>
  <p:tag name="PPWINSEGMENT2TARGETRTF" val="{\rtf1\ansi\deff1{\fonttbl{\f1\fcharset0 Arial;}{\f2\fcharset0 Arial Narrow;}}{\colortbl\red0\green0\blue0;}{\f2\fs52\b\cf0 Introduction \'E0 l'infrastructure d'acc\'E8s r\'E9seau\par}}"/>
  <p:tag name="PPWINLASTSAVEDTRANSLATION" val="Leçon : Introduction à l'infrastructure d'accès réseau"/>
  <p:tag name="PPWINALREADYSEGMENTED" val="True"/>
  <p:tag name="PPWINTOTALSEGMENTS" val="2"/>
</p:tagLst>
</file>

<file path=ppt/tags/tag16.xml><?xml version="1.0" encoding="utf-8"?>
<p:tagLst xmlns:a="http://schemas.openxmlformats.org/drawingml/2006/main" xmlns:r="http://schemas.openxmlformats.org/officeDocument/2006/relationships" xmlns:p="http://schemas.openxmlformats.org/presentationml/2006/main">
  <p:tag name="PPWINSEGMENT1START" val="1"/>
  <p:tag name="PPWINSEGMENT1LENGTH" val="25"/>
  <p:tag name="PPWINSEGMENT1SOURCERTF" val="{\rtf1\ansi\deff0{\fonttbl{\f0\fcharset0 Arial Narrow;}}{\colortbl\red0\green0\blue0;}{\f0\fs48\b\cf0 Multimedia:\par}}"/>
  <p:tag name="PPWINSEGMENT1TARGETRTF" val="{\rtf1\ansi\deff1{\fonttbl{\f1\fcharset0 Arial;}{\f2\fcharset0 Arial Narrow;}}{\colortbl\red0\green0\blue0;}{\f2\fs48\b\cf0 Pr\'E9sentation multim\'E9dia :\par}}"/>
  <p:tag name="PPWINSEGMENT2START" val="27"/>
  <p:tag name="PPWINSEGMENT2LENGTH" val="46"/>
  <p:tag name="PPWINSEGMENT2SOURCERTF" val="{\rtf1\ansi\deff0{\fonttbl{\f0\fcharset0 Arial Narrow;}}{\colortbl\red0\green0\blue0;}{\f0\fs48\b\cf0 Introduction to the Network Access Infrastructure\par}}"/>
  <p:tag name="PPWINSEGMENT2TARGETRTF" val="{\rtf1\ansi\deff1{\fonttbl{\f1\fcharset0 Arial;}{\f2\fcharset0 Arial Narrow;}}{\colortbl\red0\green0\blue0;}{\f2\fs48\b\cf0 Introduction \'E0 l'infrastructure d'acc\'E8s r\'E9seau\par}}"/>
  <p:tag name="PPWINSEGMENT3START" val="74"/>
  <p:tag name="PPWINSEGMENT3LENGTH" val="46"/>
  <p:tag name="PPWINSEGMENT3SOURCERTF" val="{\rtf1\ansi\deff0{\fonttbl{\f0\fcharset0 Arial Narrow;}}{\colortbl\red0\green0\blue0;}{\f0\fs48\b\cf0 Components of a Network Access Infrastructure \par}}"/>
  <p:tag name="PPWINSEGMENT3TARGETRTF" val="{\rtf1\ansi\deff1{\fonttbl{\f1\fcharset0 Arial;}{\f2\fcharset0 Arial Narrow;}}{\colortbl\red0\green0\blue0;}{\f2\fs48\b\cf0 Composants d'une infrastructure d'acc\'E8s r\'E9seau\par}}"/>
  <p:tag name="PPWINSEGMENT4START" val="121"/>
  <p:tag name="PPWINSEGMENT4LENGTH" val="52"/>
  <p:tag name="PPWINSEGMENT4SOURCERTF" val="{\rtf1\ansi\deff0{\fonttbl{\f0\fcharset0 Arial Narrow;}}{\colortbl\red0\green0\blue0;}{\f0\fs48\b\cf0 Configuration Requirements for a Network Access Server\par}}"/>
  <p:tag name="PPWINSEGMENT4TARGETRTF" val="{\rtf1\ansi\deff1{\fonttbl{\f1\fcharset0 Arial;}{\f2\fcharset0 Arial Narrow;}}{\colortbl\red0\green0\blue0;}{\f2\fs48\b\cf0 Configuration requise pour un serveur d'acc\'E8s r\'E9seau\par}}"/>
  <p:tag name="PPWINSEGMENT5START" val="174"/>
  <p:tag name="PPWINSEGMENT5LENGTH" val="39"/>
  <p:tag name="PPWINSEGMENT5SOURCERTF" val="{\rtf1\ansi\deff0{\fonttbl{\f0\fcharset0 Arial Narrow;}}{\colortbl\red0\green0\blue0;}{\f0\fs48\b\cf0 What Is a Network Access Client?\par}}"/>
  <p:tag name="PPWINSEGMENT5TARGETRTF" val="{\rtf1\ansi\deff1{\fonttbl{\f1\fcharset0 Arial;}{\f2\fcharset0 Arial Narrow;}}{\colortbl\red0\green0\blue0;}{\f2\fs48\b\cf0 Qu'est-ce qu'un client d'acc\'E8s r\'E9seau ?\par}}"/>
  <p:tag name="PPWINSEGMENT6START" val="214"/>
  <p:tag name="PPWINSEGMENT6LENGTH" val="69"/>
  <p:tag name="PPWINSEGMENT6SOURCERTF" val="{\rtf1\ansi\deff0{\fonttbl{\f0\fcharset0 Arial Narrow;}}{\colortbl\red0\green0\blue0;}{\f0\fs48\b\cf0 What Are Network Access Authentication and Authorization?\par}}"/>
  <p:tag name="PPWINSEGMENT6TARGETRTF" val="{\rtf1\ansi\deff1{\fonttbl{\f1\fcharset0 Arial;}{\f2\fcharset0 Arial Narrow;}}{\colortbl\red0\green0\blue0;}{\f2\fs48\b\cf0 Qu'entend-on par autorisation et authentification de l'acc\'E8s r\'E9seau ?\par}}"/>
  <p:tag name="PPWINSEGMENT7START" val="284"/>
  <p:tag name="PPWINSEGMENT7LENGTH" val="39"/>
  <p:tag name="PPWINSEGMENT7SOURCERTF" val="{\rtf1\ansi\deff0{\fonttbl{\f0\fcharset0 Arial Narrow;}}{\colortbl\red0\green0\blue0;}{\f0\fs48\b\cf0 Available Methods of Authentication\par}}"/>
  <p:tag name="PPWINSEGMENT7TARGETRTF" val="{\rtf1\ansi\deff1{\fonttbl{\f1\fcharset0 Arial;}{\f2\fcharset0 Arial Narrow;}}{\colortbl\red0\green0\blue0;}{\f2\fs48\b\cf0 M\'E9thodes d'authentification disponibles\par}}"/>
  <p:tag name="PPWINLASTSAVEDTRANSLATION" val="Présentation multimédia : Introduction à l'infrastructure d'accès réseau&#10;Composants d'une infrastructure d'accès réseau&#10;Configuration requise pour un serveur d'accès réseau&#10;Qu'est-ce qu'un client d'accès réseau ?&#10;Qu'entend-on par autorisation et authentification de l'accès réseau ?&#10;Méthodes d'authentification disponibles"/>
  <p:tag name="PPWINALREADYSEGMENTED" val="True"/>
  <p:tag name="PPWINTOTALSEGMENTS" val="7"/>
</p:tagLst>
</file>

<file path=ppt/tags/tag17.xml><?xml version="1.0" encoding="utf-8"?>
<p:tagLst xmlns:a="http://schemas.openxmlformats.org/drawingml/2006/main" xmlns:r="http://schemas.openxmlformats.org/officeDocument/2006/relationships" xmlns:p="http://schemas.openxmlformats.org/presentationml/2006/main">
  <p:tag name="PPWINTOTALSEGMENTS" val="0"/>
</p:tagLst>
</file>

<file path=ppt/tags/tag18.xml><?xml version="1.0" encoding="utf-8"?>
<p:tagLst xmlns:a="http://schemas.openxmlformats.org/drawingml/2006/main" xmlns:r="http://schemas.openxmlformats.org/officeDocument/2006/relationships" xmlns:p="http://schemas.openxmlformats.org/presentationml/2006/main">
  <p:tag name="PPWINSEGMENT1START" val="1"/>
  <p:tag name="PPWINSEGMENT1LENGTH" val="46"/>
  <p:tag name="PPWINSEGMENT1SOURCERTF" val="{\rtf1\ansi\deff0{\fonttbl{\f0\fcharset0 Arial Narrow;}}{\colortbl\red0\green0\blue0;}{\f0\fs60\b\cf0 Components of a Network Access Infrastructure\par}}"/>
  <p:tag name="PPWINSEGMENT1TARGETRTF" val="{\rtf1\ansi\deff1{\fonttbl{\f1\fcharset0 Arial;}{\f2\fcharset0 Arial Narrow;}}{\colortbl\red0\green0\blue0;}{\f2\fs60\b\cf0 Composants d'une infrastructure d'acc\'E8s r\'E9seau\par}}"/>
  <p:tag name="PPWINLASTSAVEDTRANSLATION" val="Composants d'une infrastructure d'accès réseau"/>
  <p:tag name="PPWINALREADYSEGMENTED" val="True"/>
  <p:tag name="PPWINTOTALSEGMENTS" val="1"/>
</p:tagLst>
</file>

<file path=ppt/tags/tag19.xml><?xml version="1.0" encoding="utf-8"?>
<p:tagLst xmlns:a="http://schemas.openxmlformats.org/drawingml/2006/main" xmlns:r="http://schemas.openxmlformats.org/officeDocument/2006/relationships" xmlns:p="http://schemas.openxmlformats.org/presentationml/2006/main">
  <p:tag name="PPWINTOTALSEGMENTS" val="0"/>
</p:tagLst>
</file>

<file path=ppt/tags/tag20.xml><?xml version="1.0" encoding="utf-8"?>
<p:tagLst xmlns:a="http://schemas.openxmlformats.org/drawingml/2006/main" xmlns:r="http://schemas.openxmlformats.org/officeDocument/2006/relationships" xmlns:p="http://schemas.openxmlformats.org/presentationml/2006/main">
  <p:tag name="PPWINSEGMENT1START" val="1"/>
  <p:tag name="PPWINSEGMENT1LENGTH" val="22"/>
  <p:tag name="PPWINSEGMENT1SOURCERTF" val="{\rtf1\ansi\deff0{\fonttbl{\f0\fcharset0 Arial Narrow;}}{\colortbl\red0\green0\blue0;}{\f0\fs36\b\cf0 Network Access \line}{\f0\fs36\b\cf0 Server\par}}"/>
  <p:tag name="PPWINSEGMENT1TARGETRTF" val="{\rtf1\ansi\deff1{\fonttbl{\f1\fcharset0 Arial;}{\f2\fcharset0 Arial Narrow;}}{\colortbl\red0\green0\blue0;}{\f2\fs36\b\cf0 Serveur d'acc\'E8s\line}{\f2\fs36\b\cf0 r\'E9seau\par}}"/>
  <p:tag name="PPWINLASTSAVEDTRANSLATION" val="Serveur d'accèsréseau"/>
  <p:tag name="PPWINALREADYSEGMENTED" val="True"/>
  <p:tag name="PPWINTOTALSEGMENTS" val="1"/>
</p:tagLst>
</file>

<file path=ppt/tags/tag21.xml><?xml version="1.0" encoding="utf-8"?>
<p:tagLst xmlns:a="http://schemas.openxmlformats.org/drawingml/2006/main" xmlns:r="http://schemas.openxmlformats.org/officeDocument/2006/relationships" xmlns:p="http://schemas.openxmlformats.org/presentationml/2006/main">
  <p:tag name="PPWINSEGMENT1START" val="1"/>
  <p:tag name="PPWINSEGMENT1LENGTH" val="7"/>
  <p:tag name="PPWINSEGMENT1SOURCERTF" val="{\rtf1\ansi\deff0{\fonttbl{\f0\fcharset0 Arial Narrow;}}{\colortbl\red0\green0\blue0;}{\f0\fs36\b\cf0 IAS\par}}"/>
  <p:tag name="PPWINSEGMENT1TARGETRTF" val="{\rtf1\ansi\deff1{\fonttbl{\f1\fcharset0 Arial;}{\f2\fcharset0 Arial Narrow;}}{\colortbl\red0\green0\blue0;}{\f2\fs36\b\cf0 Serveur\par}}"/>
  <p:tag name="PPWINSEGMENT2START" val="9"/>
  <p:tag name="PPWINSEGMENT2LENGTH" val="3"/>
  <p:tag name="PPWINSEGMENT2SOURCERTF" val="{\rtf1\ansi\deff0{\fonttbl{\f0\fcharset0 Arial Narrow;}}{\colortbl\red0\green0\blue0;}{\f0\fs36\b\cf0 Server \par}}"/>
  <p:tag name="PPWINSEGMENT2TARGETRTF" val="{\rtf1\ansi\deff1{\fonttbl{\f1\fcharset0 Arial;}{\f2\fcharset0 Arial Narrow;}}{\colortbl\red0\green0\blue0;}{\f2\fs36\b\cf0 IAS\par}}"/>
  <p:tag name="PPWINLASTSAVEDTRANSLATION" val="Serveur&#10;IAS"/>
  <p:tag name="PPWINALREADYSEGMENTED" val="True"/>
  <p:tag name="PPWINTOTALSEGMENTS" val="2"/>
</p:tagLst>
</file>

<file path=ppt/tags/tag22.xml><?xml version="1.0" encoding="utf-8"?>
<p:tagLst xmlns:a="http://schemas.openxmlformats.org/drawingml/2006/main" xmlns:r="http://schemas.openxmlformats.org/officeDocument/2006/relationships" xmlns:p="http://schemas.openxmlformats.org/presentationml/2006/main">
  <p:tag name="PPWINSEGMENT1START" val="1"/>
  <p:tag name="PPWINSEGMENT1LENGTH" val="12"/>
  <p:tag name="PPWINSEGMENT1SOURCERTF" val="{\rtf1\ansi\deff0{\fonttbl{\f0\fcharset0 Arial Narrow;}}{\colortbl\red0\green0\blue0;}{\f0\fs36\b\cf0 DHCP Server \par}}"/>
  <p:tag name="PPWINSEGMENT1TARGETRTF" val="{\rtf1\ansi\deff1{\fonttbl{\f1\fcharset0 Arial;}{\f2\fcharset0 Arial Narrow;}}{\colortbl\red0\green0\blue0;}{\f2\fs36\b\cf0 Serveur DHCP\par}}"/>
  <p:tag name="PPWINLASTSAVEDTRANSLATION" val="Serveur DHCP"/>
  <p:tag name="PPWINALREADYSEGMENTED" val="True"/>
  <p:tag name="PPWINTOTALSEGMENTS" val="1"/>
</p:tagLst>
</file>

<file path=ppt/tags/tag23.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
  <p:tag name="PPWINSEGMENT1SOURCERTF" val="{\rtf1\ansi\deff0{\fonttbl{\f0\fcharset0 Arial Narrow;}}{\colortbl\red0\green0\blue0;}{\f0\fs36\b\cf0 Domain\par}}"/>
  <p:tag name="PPWINSEGMENT1TARGETRTF" val="{\rtf1\ansi\deff1{\fonttbl{\f1\fcharset0 Arial;}{\f2\fcharset0 Arial Narrow;}}{\colortbl\red0\green0\blue0;}{\f2\fs36\b\cf0 Contr\'F4leur\par}}"/>
  <p:tag name="PPWINSEGMENT2START" val="12"/>
  <p:tag name="PPWINSEGMENT2LENGTH" val="10"/>
  <p:tag name="PPWINSEGMENT2SOURCERTF" val="{\rtf1\ansi\deff0{\fonttbl{\f0\fcharset0 Arial Narrow;}}{\colortbl\red0\green0\blue0;}{\f0\fs36\b\cf0 Controller \par}}"/>
  <p:tag name="PPWINSEGMENT2TARGETRTF" val="{\rtf1\ansi\deff1{\fonttbl{\f1\fcharset0 Arial;}{\f2\fcharset0 Arial Narrow;}}{\colortbl\red0\green0\blue0;}{\f2\fs36\b\cf0 de domaine\par}}"/>
  <p:tag name="PPWINLASTSAVEDTRANSLATION" val="Contrôleur&#10;de domaine"/>
  <p:tag name="PPWINALREADYSEGMENTED" val="True"/>
  <p:tag name="PPWINTOTALSEGMENTS" val="2"/>
</p:tagLst>
</file>

<file path=ppt/tags/tag24.xml><?xml version="1.0" encoding="utf-8"?>
<p:tagLst xmlns:a="http://schemas.openxmlformats.org/drawingml/2006/main" xmlns:r="http://schemas.openxmlformats.org/officeDocument/2006/relationships" xmlns:p="http://schemas.openxmlformats.org/presentationml/2006/main">
  <p:tag name="PPWINSEGMENT1START" val="1"/>
  <p:tag name="PPWINSEGMENT1LENGTH" val="22"/>
  <p:tag name="PPWINSEGMENT1SOURCERTF" val="{\rtf1\ansi\deff0{\fonttbl{\f0\fcharset0 Arial Narrow;}}{\colortbl\red0\green0\blue0;}{\f0\fs40\b\cf0 Network access service\par}}"/>
  <p:tag name="PPWINSEGMENT1TARGETRTF" val="{\rtf1\ansi\deff1{\fonttbl{\f1\fcharset0 Arial;}{\f2\fcharset0 Arial Narrow;}}{\colortbl\red0\green0\blue0;}{\f2\fs40\b\cf0 Service d'acc\'E8s r\'E9seau\par}}"/>
  <p:tag name="PPWINSEGMENT2START" val="24"/>
  <p:tag name="PPWINSEGMENT2LENGTH" val="22"/>
  <p:tag name="PPWINSEGMENT2SOURCERTF" val="{\rtf1\ansi\deff0{\fonttbl{\f0\fcharset0 Arial Narrow;}}{\colortbl\red0\green0\blue0;}{\f0\fs40\b\cf0 Network access clients\par}}"/>
  <p:tag name="PPWINSEGMENT2TARGETRTF" val="{\rtf1\ansi\deff0{\fonttbl{\f0\fcharset0 Arial Narrow;}}{\colortbl\red0\green0\blue0;}{\f0\fs40\b\cf0 Clients d'acc\'E8s r\'E9seau\par}}"/>
  <p:tag name="PPWINSEGMENT3START" val="47"/>
  <p:tag name="PPWINSEGMENT3LENGTH" val="26"/>
  <p:tag name="PPWINSEGMENT3SOURCERTF" val="{\rtf1\ansi\deff0{\fonttbl{\f0\fcharset0 Arial Narrow;}}{\colortbl\red0\green0\blue0;}{\f0\fs40\b\cf0 Authentication service\par}}"/>
  <p:tag name="PPWINSEGMENT3TARGETRTF" val="{\rtf1\ansi\deff0{\fonttbl{\f0\fcharset0 Arial Narrow;}}{\colortbl\red0\green0\blue0;}{\f0\fs40\b\cf0 Service d'authentification\par}}"/>
  <p:tag name="PPWINSEGMENT4START" val="74"/>
  <p:tag name="PPWINSEGMENT4LENGTH" val="29"/>
  <p:tag name="PPWINSEGMENT4SOURCERTF" val="{\rtf1\ansi\deff0{\fonttbl{\f0\fcharset0 Arial Narrow;}}{\colortbl\red0\green0\blue0;}{\f0\fs40\b\cf0 Active Directory (not required)\par}}"/>
  <p:tag name="PPWINSEGMENT4TARGETRTF" val="{\rtf1\ansi\deff0{\fonttbl{\f0\fcharset0 Arial Narrow;}}{\colortbl\red0\green0\blue0;}{\f0\fs40\b\cf0 Active Directory (non requis)\par}}"/>
  <p:tag name="PPWINLASTSAVEDTRANSLATION" val="Service d'accès réseau&#10;Clients d'accès réseau&#10;Service d'authentification&#10;Active Directory (non requis)"/>
  <p:tag name="PPWINALREADYSEGMENTED" val="True"/>
  <p:tag name="PPWINTOTALSEGMENTS" val="4"/>
</p:tagLst>
</file>

<file path=ppt/tags/tag25.xml><?xml version="1.0" encoding="utf-8"?>
<p:tagLst xmlns:a="http://schemas.openxmlformats.org/drawingml/2006/main" xmlns:r="http://schemas.openxmlformats.org/officeDocument/2006/relationships" xmlns:p="http://schemas.openxmlformats.org/presentationml/2006/main">
  <p:tag name="PPWINSEGMENT1START" val="1"/>
  <p:tag name="PPWINSEGMENT1LENGTH" val="25"/>
  <p:tag name="PPWINSEGMENT1SOURCERTF" val="{\rtf1\ansi\deff0{\fonttbl{\f0\fcharset0 Arial Narrow;}}{\colortbl\red0\green0\blue0;}{\f0\fs36\b\cf0 Dial-up Client\par}}"/>
  <p:tag name="PPWINSEGMENT1TARGETRTF" val="{\rtf1\ansi\deff1{\fonttbl{\f1\fcharset0 Arial;}{\f2\fcharset0 Arial Narrow;}}{\colortbl\red0\green0\blue0;}{\f2\fs36\b\cf0 Client d'acc\'E8s \'E0 distance\par}}"/>
  <p:tag name="PPWINLASTSAVEDTRANSLATION" val="Client d'accès à distance"/>
  <p:tag name="PPWINALREADYSEGMENTED" val="True"/>
  <p:tag name="PPWINTOTALSEGMENTS" val="1"/>
</p:tagLst>
</file>

<file path=ppt/tags/tag26.xml><?xml version="1.0" encoding="utf-8"?>
<p:tagLst xmlns:a="http://schemas.openxmlformats.org/drawingml/2006/main" xmlns:r="http://schemas.openxmlformats.org/officeDocument/2006/relationships" xmlns:p="http://schemas.openxmlformats.org/presentationml/2006/main">
  <p:tag name="PPTAGGERGROUP" val="2"/>
</p:tagLst>
</file>

<file path=ppt/tags/tag27.xml><?xml version="1.0" encoding="utf-8"?>
<p:tagLst xmlns:a="http://schemas.openxmlformats.org/drawingml/2006/main" xmlns:r="http://schemas.openxmlformats.org/officeDocument/2006/relationships" xmlns:p="http://schemas.openxmlformats.org/presentationml/2006/main">
  <p:tag name="PPTAGGERGROUP" val="2"/>
</p:tagLst>
</file>

<file path=ppt/tags/tag28.xml><?xml version="1.0" encoding="utf-8"?>
<p:tagLst xmlns:a="http://schemas.openxmlformats.org/drawingml/2006/main" xmlns:r="http://schemas.openxmlformats.org/officeDocument/2006/relationships" xmlns:p="http://schemas.openxmlformats.org/presentationml/2006/main">
  <p:tag name="PPTAGGERGROUP" val="2"/>
</p:tagLst>
</file>

<file path=ppt/tags/tag29.xml><?xml version="1.0" encoding="utf-8"?>
<p:tagLst xmlns:a="http://schemas.openxmlformats.org/drawingml/2006/main" xmlns:r="http://schemas.openxmlformats.org/officeDocument/2006/relationships" xmlns:p="http://schemas.openxmlformats.org/presentationml/2006/main">
  <p:tag name="PPTAGGERGROUP" val="2,3,6"/>
</p:tagLst>
</file>

<file path=ppt/tags/tag30.xml><?xml version="1.0" encoding="utf-8"?>
<p:tagLst xmlns:a="http://schemas.openxmlformats.org/drawingml/2006/main" xmlns:r="http://schemas.openxmlformats.org/officeDocument/2006/relationships" xmlns:p="http://schemas.openxmlformats.org/presentationml/2006/main">
  <p:tag name="PPTAGGERGROUP" val="2,3,6"/>
</p:tagLst>
</file>

<file path=ppt/tags/tag31.xml><?xml version="1.0" encoding="utf-8"?>
<p:tagLst xmlns:a="http://schemas.openxmlformats.org/drawingml/2006/main" xmlns:r="http://schemas.openxmlformats.org/officeDocument/2006/relationships" xmlns:p="http://schemas.openxmlformats.org/presentationml/2006/main">
  <p:tag name="PPTAGGERGROUP" val="2,3,6"/>
</p:tagLst>
</file>

<file path=ppt/tags/tag32.xml><?xml version="1.0" encoding="utf-8"?>
<p:tagLst xmlns:a="http://schemas.openxmlformats.org/drawingml/2006/main" xmlns:r="http://schemas.openxmlformats.org/officeDocument/2006/relationships" xmlns:p="http://schemas.openxmlformats.org/presentationml/2006/main">
  <p:tag name="PPTAGGERGROUP" val="2,3,6"/>
</p:tagLst>
</file>

<file path=ppt/tags/tag33.xml><?xml version="1.0" encoding="utf-8"?>
<p:tagLst xmlns:a="http://schemas.openxmlformats.org/drawingml/2006/main" xmlns:r="http://schemas.openxmlformats.org/officeDocument/2006/relationships" xmlns:p="http://schemas.openxmlformats.org/presentationml/2006/main">
  <p:tag name="PPTAGGERGROUP" val="2,3"/>
</p:tagLst>
</file>

<file path=ppt/tags/tag34.xml><?xml version="1.0" encoding="utf-8"?>
<p:tagLst xmlns:a="http://schemas.openxmlformats.org/drawingml/2006/main" xmlns:r="http://schemas.openxmlformats.org/officeDocument/2006/relationships" xmlns:p="http://schemas.openxmlformats.org/presentationml/2006/main">
  <p:tag name="PPWINSEGMENT1START" val="1"/>
  <p:tag name="PPWINSEGMENT1LENGTH" val="22"/>
  <p:tag name="PPWINSEGMENT1SOURCERTF" val="{\rtf1\ansi\deff0{\fonttbl{\f0\fcharset0 Arial Narrow;}}{\colortbl\red0\green0\blue0;}{\f0\fs36\b\cf0 Wireless Access Point\par}}"/>
  <p:tag name="PPWINSEGMENT1TARGETRTF" val="{\rtf1\ansi\deff1{\fonttbl{\f1\fcharset0 Arial;}{\f2\fcharset0 Arial Narrow;}}{\colortbl\red0\green0\blue0;}{\f2\fs36\b\cf0 Point d'acc\'E8s sans fil\par}}"/>
  <p:tag name="PPWINLASTSAVEDTRANSLATION" val="Point d'accès sans fil"/>
  <p:tag name="PPWINALREADYSEGMENTED" val="True"/>
  <p:tag name="PPWINTOTALSEGMENTS" val="1"/>
</p:tagLst>
</file>

<file path=ppt/tags/tag35.xml><?xml version="1.0" encoding="utf-8"?>
<p:tagLst xmlns:a="http://schemas.openxmlformats.org/drawingml/2006/main" xmlns:r="http://schemas.openxmlformats.org/officeDocument/2006/relationships" xmlns:p="http://schemas.openxmlformats.org/presentationml/2006/main">
  <p:tag name="PPWINSEGMENT1START" val="1"/>
  <p:tag name="PPWINSEGMENT1LENGTH" val="15"/>
  <p:tag name="PPWINSEGMENT1SOURCERTF" val="{\rtf1\ansi\deff0{\fonttbl{\f0\fcharset0 Arial Narrow;}}{\colortbl\red0\green0\blue0;}{\f0\fs36\b\cf0 Wireless Client\par}}"/>
  <p:tag name="PPWINLASTSAVEDTRANSLATION" val="Client sans fil"/>
  <p:tag name="PPWINALREADYSEGMENTED" val="True"/>
  <p:tag name="PPWINTOTALSEGMENTS" val="1"/>
  <p:tag name="PPWINSEGMENT1TARGETRTF" val="{\rtf1\ansi\deff0{\fonttbl{\f0\fcharset0 Arial Narrow;}}{\colortbl\red0\green0\blue0;}{\f0\fs36\b\cf0 Client sans fil\par}}"/>
</p:tagLst>
</file>

<file path=ppt/tags/tag36.xml><?xml version="1.0" encoding="utf-8"?>
<p:tagLst xmlns:a="http://schemas.openxmlformats.org/drawingml/2006/main" xmlns:r="http://schemas.openxmlformats.org/officeDocument/2006/relationships" xmlns:p="http://schemas.openxmlformats.org/presentationml/2006/main">
  <p:tag name="PPTAGGERGROUP" val="4"/>
</p:tagLst>
</file>

<file path=ppt/tags/tag37.xml><?xml version="1.0" encoding="utf-8"?>
<p:tagLst xmlns:a="http://schemas.openxmlformats.org/drawingml/2006/main" xmlns:r="http://schemas.openxmlformats.org/officeDocument/2006/relationships" xmlns:p="http://schemas.openxmlformats.org/presentationml/2006/main">
  <p:tag name="PPTAGGERGROUP" val="4"/>
</p:tagLst>
</file>

<file path=ppt/tags/tag38.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
  <p:tag name="PPWINSEGMENT1SOURCERTF" val="{\rtf1\ansi\deff0{\fonttbl{\f0\fcharset0 Arial Narrow;}}{\colortbl\red0\green0\blue0;}{\f0\fs36\b\cf0 VPN Client\par}}"/>
  <p:tag name="PPWINSEGMENT1TARGETRTF" val="{\rtf1\ansi\deff1{\fonttbl{\f1\fcharset0 Arial;}{\f2\fcharset0 Arial Narrow;}}{\colortbl\red0\green0\blue0;}{\f2\fs36\b\cf0 Client VPN\par}}"/>
  <p:tag name="PPWINLASTSAVEDTRANSLATION" val="Client VPN"/>
  <p:tag name="PPWINALREADYSEGMENTED" val="True"/>
  <p:tag name="PPWINTOTALSEGMENTS" val="1"/>
</p:tagLst>
</file>

<file path=ppt/tags/tag39.xml><?xml version="1.0" encoding="utf-8"?>
<p:tagLst xmlns:a="http://schemas.openxmlformats.org/drawingml/2006/main" xmlns:r="http://schemas.openxmlformats.org/officeDocument/2006/relationships" xmlns:p="http://schemas.openxmlformats.org/presentationml/2006/main">
  <p:tag name="PPTAGGERGROUP" val="5,7"/>
</p:tagLst>
</file>

<file path=ppt/tags/tag40.xml><?xml version="1.0" encoding="utf-8"?>
<p:tagLst xmlns:a="http://schemas.openxmlformats.org/drawingml/2006/main" xmlns:r="http://schemas.openxmlformats.org/officeDocument/2006/relationships" xmlns:p="http://schemas.openxmlformats.org/presentationml/2006/main">
  <p:tag name="PPTAGGERGROUP" val="5,7"/>
</p:tagLst>
</file>

<file path=ppt/tags/tag41.xml><?xml version="1.0" encoding="utf-8"?>
<p:tagLst xmlns:a="http://schemas.openxmlformats.org/drawingml/2006/main" xmlns:r="http://schemas.openxmlformats.org/officeDocument/2006/relationships" xmlns:p="http://schemas.openxmlformats.org/presentationml/2006/main">
  <p:tag name="PPTAGGERGROUP" val="5,7"/>
</p:tagLst>
</file>

<file path=ppt/tags/tag42.xml><?xml version="1.0" encoding="utf-8"?>
<p:tagLst xmlns:a="http://schemas.openxmlformats.org/drawingml/2006/main" xmlns:r="http://schemas.openxmlformats.org/officeDocument/2006/relationships" xmlns:p="http://schemas.openxmlformats.org/presentationml/2006/main">
  <p:tag name="PPTAGGERGROUP" val="5,7"/>
</p:tagLst>
</file>

<file path=ppt/tags/tag43.xml><?xml version="1.0" encoding="utf-8"?>
<p:tagLst xmlns:a="http://schemas.openxmlformats.org/drawingml/2006/main" xmlns:r="http://schemas.openxmlformats.org/officeDocument/2006/relationships" xmlns:p="http://schemas.openxmlformats.org/presentationml/2006/main">
  <p:tag name="PPTAGGERGROUP" val="5,8,9"/>
</p:tagLst>
</file>

<file path=ppt/tags/tag44.xml><?xml version="1.0" encoding="utf-8"?>
<p:tagLst xmlns:a="http://schemas.openxmlformats.org/drawingml/2006/main" xmlns:r="http://schemas.openxmlformats.org/officeDocument/2006/relationships" xmlns:p="http://schemas.openxmlformats.org/presentationml/2006/main">
  <p:tag name="PPTAGGERGROUP" val="5,8,9"/>
</p:tagLst>
</file>

<file path=ppt/tags/tag45.xml><?xml version="1.0" encoding="utf-8"?>
<p:tagLst xmlns:a="http://schemas.openxmlformats.org/drawingml/2006/main" xmlns:r="http://schemas.openxmlformats.org/officeDocument/2006/relationships" xmlns:p="http://schemas.openxmlformats.org/presentationml/2006/main">
  <p:tag name="PPTAGGERGROUP" val="5,8,9"/>
</p:tagLst>
</file>

<file path=ppt/tags/tag46.xml><?xml version="1.0" encoding="utf-8"?>
<p:tagLst xmlns:a="http://schemas.openxmlformats.org/drawingml/2006/main" xmlns:r="http://schemas.openxmlformats.org/officeDocument/2006/relationships" xmlns:p="http://schemas.openxmlformats.org/presentationml/2006/main">
  <p:tag name="PPTAGGERGROUP" val="5,8,9"/>
</p:tagLst>
</file>

<file path=ppt/tags/tag47.xml><?xml version="1.0" encoding="utf-8"?>
<p:tagLst xmlns:a="http://schemas.openxmlformats.org/drawingml/2006/main" xmlns:r="http://schemas.openxmlformats.org/officeDocument/2006/relationships" xmlns:p="http://schemas.openxmlformats.org/presentationml/2006/main">
  <p:tag name="PPTAGGERGROUP" val="5,8"/>
</p:tagLst>
</file>

<file path=ppt/tags/tag48.xml><?xml version="1.0" encoding="utf-8"?>
<p:tagLst xmlns:a="http://schemas.openxmlformats.org/drawingml/2006/main" xmlns:r="http://schemas.openxmlformats.org/officeDocument/2006/relationships" xmlns:p="http://schemas.openxmlformats.org/presentationml/2006/main">
  <p:tag name="PPTAGGERGROUP" val="1"/>
</p:tagLst>
</file>

<file path=ppt/tags/tag49.xml><?xml version="1.0" encoding="utf-8"?>
<p:tagLst xmlns:a="http://schemas.openxmlformats.org/drawingml/2006/main" xmlns:r="http://schemas.openxmlformats.org/officeDocument/2006/relationships" xmlns:p="http://schemas.openxmlformats.org/presentationml/2006/main">
  <p:tag name="PPTAGGERGROUP" val="1"/>
</p:tagLst>
</file>

<file path=ppt/tags/tag50.xml><?xml version="1.0" encoding="utf-8"?>
<p:tagLst xmlns:a="http://schemas.openxmlformats.org/drawingml/2006/main" xmlns:r="http://schemas.openxmlformats.org/officeDocument/2006/relationships" xmlns:p="http://schemas.openxmlformats.org/presentationml/2006/main">
  <p:tag name="PPTAGGERGROUP" val="5,8,1"/>
</p:tagLst>
</file>

<file path=ppt/tags/tag51.xml><?xml version="1.0" encoding="utf-8"?>
<p:tagLst xmlns:a="http://schemas.openxmlformats.org/drawingml/2006/main" xmlns:r="http://schemas.openxmlformats.org/officeDocument/2006/relationships" xmlns:p="http://schemas.openxmlformats.org/presentationml/2006/main">
  <p:tag name="PPTAGGERGROUP" val="5,8,1"/>
</p:tagLst>
</file>

<file path=ppt/tags/tag52.xml><?xml version="1.0" encoding="utf-8"?>
<p:tagLst xmlns:a="http://schemas.openxmlformats.org/drawingml/2006/main" xmlns:r="http://schemas.openxmlformats.org/officeDocument/2006/relationships" xmlns:p="http://schemas.openxmlformats.org/presentationml/2006/main">
  <p:tag name="PPWINTOTALSEGMENTS" val="0"/>
</p:tagLst>
</file>

<file path=ppt/tags/tag53.xml><?xml version="1.0" encoding="utf-8"?>
<p:tagLst xmlns:a="http://schemas.openxmlformats.org/drawingml/2006/main" xmlns:r="http://schemas.openxmlformats.org/officeDocument/2006/relationships" xmlns:p="http://schemas.openxmlformats.org/presentationml/2006/main">
  <p:tag name="PPWINSEGMENT1START" val="1"/>
  <p:tag name="PPWINSEGMENT1LENGTH" val="52"/>
  <p:tag name="PPWINSEGMENT1SOURCERTF" val="{\rtf1\ansi\deff0{\fonttbl{\f0\fcharset0 Arial Narrow;}}{\colortbl\red0\green0\blue0;}{\f0\fs52\b\cf0 Configuration Requirements for a Network Access Server\par}}"/>
  <p:tag name="PPWINSEGMENT1TARGETRTF" val="{\rtf1\ansi\deff1{\fonttbl{\f1\fcharset0 Arial;}{\f2\fcharset0 Arial Narrow;}}{\colortbl\red0\green0\blue0;}{\f2\fs52\b\cf0 Configuration requise pour un serveur d'acc\'E8s r\'E9seau\par}}"/>
  <p:tag name="PPWINLASTSAVEDTRANSLATION" val="Configuration requise pour un serveur d'accès réseau"/>
  <p:tag name="PPWINALREADYSEGMENTED" val="True"/>
  <p:tag name="PPWINTOTALSEGMENTS" val="1"/>
</p:tagLst>
</file>

<file path=ppt/tags/tag54.xml><?xml version="1.0" encoding="utf-8"?>
<p:tagLst xmlns:a="http://schemas.openxmlformats.org/drawingml/2006/main" xmlns:r="http://schemas.openxmlformats.org/officeDocument/2006/relationships" xmlns:p="http://schemas.openxmlformats.org/presentationml/2006/main">
  <p:tag name="PPWINSEGMENT1START" val="1"/>
  <p:tag name="PPWINSEGMENT1LENGTH" val="50"/>
  <p:tag name="PPWINSEGMENT1SOURCERTF" val="{\rtf1\ansi\deff0{\fonttbl{\f0\fcharset0 Arial Narrow;}}{\colortbl\red0\green0\blue0;}{\f0\fs44\b\cf0 Whether the server will also act as a router\par}}"/>
  <p:tag name="PPWINSEGMENT1TARGETRTF" val="{\rtf1\ansi\deff1{\fonttbl{\f1\fcharset0 Arial;}{\f2\fcharset0 Arial Narrow;}}{\colortbl\red0\green0\blue0;}{\f2\fs44\b\cf0 Le serveur fera-t-il \'E9galement office de routeur ?\par}}"/>
  <p:tag name="PPWINSEGMENT2START" val="52"/>
  <p:tag name="PPWINSEGMENT2LENGTH" val="43"/>
  <p:tag name="PPWINSEGMENT2SOURCERTF" val="{\rtf1\ansi\deff0{\fonttbl{\f0\fcharset0 Arial Narrow;}}{\colortbl\red0\green0\blue0;}{\f0\fs44\b\cf0 Authentication methods and providers \par}}"/>
  <p:tag name="PPWINSEGMENT2TARGETRTF" val="{\rtf1\ansi\deff1{\fonttbl{\f1\fcharset0 Arial;}{\f2\fcharset0 Arial Narrow;}}{\colortbl\red0\green0\blue0;}{\f2\fs44\b\cf0 M\'E9thodes et fournisseurs d'authentification\par}}"/>
  <p:tag name="PPWINSEGMENT3START" val="96"/>
  <p:tag name="PPWINSEGMENT3LENGTH" val="12"/>
  <p:tag name="PPWINSEGMENT3SOURCERTF" val="{\rtf1\ansi\deff0{\fonttbl{\f0\fcharset0 Arial Narrow;}}{\colortbl\red0\green0\blue0;}{\f0\fs44\b\cf0 Client access \par}}"/>
  <p:tag name="PPWINSEGMENT3TARGETRTF" val="{\rtf1\ansi\deff1{\fonttbl{\f1\fcharset0 Arial;}{\f2\fcharset0 Arial Narrow;}}{\colortbl\red0\green0\blue0;}{\f2\fs44\b\cf0 Acc\'E8s client\par}}"/>
  <p:tag name="PPWINSEGMENT4START" val="109"/>
  <p:tag name="PPWINSEGMENT4LENGTH" val="25"/>
  <p:tag name="PPWINSEGMENT4SOURCERTF" val="{\rtf1\ansi\deff0{\fonttbl{\f0\fcharset0 Arial Narrow;}}{\colortbl\red0\green0\blue0;}{\f0\fs44\b\cf0 IP address assignment\par}}"/>
  <p:tag name="PPWINSEGMENT4TARGETRTF" val="{\rtf1\ansi\deff1{\fonttbl{\f1\fcharset0 Arial;}{\f2\fcharset0 Arial Narrow;}}{\colortbl\red0\green0\blue0;}{\f2\fs44\b\cf0 Attribution d'adresses IP\par}}"/>
  <p:tag name="PPWINSEGMENT5START" val="135"/>
  <p:tag name="PPWINSEGMENT5LENGTH" val="28"/>
  <p:tag name="PPWINSEGMENT5SOURCERTF" val="{\rtf1\ansi\deff0{\fonttbl{\f0\fcharset0 Arial Narrow;}}{\colortbl\red0\green0\blue0;}{\f0\fs44\b\cf0 PPP configuration options\par}}"/>
  <p:tag name="PPWINSEGMENT5TARGETRTF" val="{\rtf1\ansi\deff1{\fonttbl{\f1\fcharset0 Arial;}{\f2\fcharset0 Arial Narrow;}}{\colortbl\red0\green0\blue0;}{\f2\fs44\b\cf0 Options de configuration PPP\par}}"/>
  <p:tag name="PPWINSEGMENT6START" val="164"/>
  <p:tag name="PPWINSEGMENT6LENGTH" val="54"/>
  <p:tag name="PPWINSEGMENT6SOURCERTF" val="{\rtf1\ansi\deff0{\fonttbl{\f0\fcharset0 Arial Narrow;}}{\colortbl\red0\green0\blue0;}{\f0\fs44\b\cf0 Event logging preferences\par}}"/>
  <p:tag name="PPWINSEGMENT6TARGETRTF" val="{\rtf1\ansi\deff1{\fonttbl{\f1\fcharset0 Arial;}{\f2\fcharset0 Arial Narrow;}}{\colortbl\red0\green0\blue0;}{\f2\fs44\b\cf0 Pr\'E9f\'E9rences en mati\'E8re d'enregistrement des \'E9v\'E9nements\par}}"/>
  <p:tag name="PPWINLASTSAVEDTRANSLATION" val="Le serveur fera-t-il également office de routeur ?&#10;Méthodes et fournisseurs d'authentification&#10;Accès client&#10;Attribution d'adresses IP&#10;Options de configuration PPP&#10;Préférences en matière d'enregistrement des événements"/>
  <p:tag name="PPWINALREADYSEGMENTED" val="True"/>
  <p:tag name="PPWINTOTALSEGMENTS" val="6"/>
</p:tagLst>
</file>

<file path=ppt/tags/tag55.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1"/>
  <p:tag name="PPWINSEGMENT1SOURCERTF" val="{\rtf1\ansi\deff0{\fonttbl{\f0\fcharset0 Arial Narrow;}}{\colortbl\red0\green0\blue0;}{\f0\fs48\b\cf0 A }{\f0\fs48\b\i\cf0 network access server}{\f0\fs48\b\cf0  is a server that acts as a gateway to a network for a client\par}}"/>
  <p:tag name="PPWINSEGMENT1TARGETRTF" val="{\rtf1\ansi\deff1{\fonttbl{\f1\fcharset0 Arial;}{\f2\fcharset0 Arial Narrow;}}{\colortbl\red0\green0\blue0;}{\f2\fs48\b\cf0 Un }{\f2\fs48\b\i\cf0 serveur d'acc\'E8s r\'E9seau}{\f2\fs48\b\cf0  est un serveur qui fait office de passerelle vers un r\'E9seau pour un client.\par}}"/>
  <p:tag name="PPWINLASTSAVEDTRANSLATION" val="Un serveur d'accès réseau est un serveur qui fait office de passerelle vers un réseau pour un client."/>
  <p:tag name="PPWINALREADYSEGMENTED" val="True"/>
  <p:tag name="PPWINTOTALSEGMENTS" val="1"/>
</p:tagLst>
</file>

<file path=ppt/tags/tag56.xml><?xml version="1.0" encoding="utf-8"?>
<p:tagLst xmlns:a="http://schemas.openxmlformats.org/drawingml/2006/main" xmlns:r="http://schemas.openxmlformats.org/officeDocument/2006/relationships" xmlns:p="http://schemas.openxmlformats.org/presentationml/2006/main">
  <p:tag name="PPWINTOTALSEGMENTS" val="0"/>
</p:tagLst>
</file>

<file path=ppt/tags/tag57.xml><?xml version="1.0" encoding="utf-8"?>
<p:tagLst xmlns:a="http://schemas.openxmlformats.org/drawingml/2006/main" xmlns:r="http://schemas.openxmlformats.org/officeDocument/2006/relationships" xmlns:p="http://schemas.openxmlformats.org/presentationml/2006/main">
  <p:tag name="PPWINSEGMENT1START" val="1"/>
  <p:tag name="PPWINSEGMENT1LENGTH" val="39"/>
  <p:tag name="PPWINSEGMENT1SOURCERTF" val="{\rtf1\ansi\deff0{\fonttbl{\f0\fcharset0 Arial Narrow;}}{\colortbl\red0\green0\blue0;}{\f0\fs60\b\cf0 What Is a Network Access Client?\par}}"/>
  <p:tag name="PPWINLASTSAVEDTRANSLATION" val="Qu'est-ce qu'un client d'accès réseau ?"/>
  <p:tag name="PPWINALREADYSEGMENTED" val="True"/>
  <p:tag name="PPWINTOTALSEGMENTS" val="1"/>
  <p:tag name="PPWINSEGMENT1TARGETRTF" val="{\rtf1\ansi\deff0{\fonttbl{\f0\fcharset0 Arial Narrow;}}{\colortbl\red0\green0\blue0;}{\f0\fs60\b\cf0 Qu'est-ce qu'un client d'acc\'E8s r\'E9seau ?\par}}"/>
</p:tagLst>
</file>

<file path=ppt/tags/tag58.xml><?xml version="1.0" encoding="utf-8"?>
<p:tagLst xmlns:a="http://schemas.openxmlformats.org/drawingml/2006/main" xmlns:r="http://schemas.openxmlformats.org/officeDocument/2006/relationships" xmlns:p="http://schemas.openxmlformats.org/presentationml/2006/main">
  <p:tag name="PPTAGGERGROUP" val="1,4,5"/>
</p:tagLst>
</file>

<file path=ppt/tags/tag59.xml><?xml version="1.0" encoding="utf-8"?>
<p:tagLst xmlns:a="http://schemas.openxmlformats.org/drawingml/2006/main" xmlns:r="http://schemas.openxmlformats.org/officeDocument/2006/relationships" xmlns:p="http://schemas.openxmlformats.org/presentationml/2006/main">
  <p:tag name="PPTAGGERGROUP" val="1,4,5"/>
</p:tagLst>
</file>

<file path=ppt/tags/tag60.xml><?xml version="1.0" encoding="utf-8"?>
<p:tagLst xmlns:a="http://schemas.openxmlformats.org/drawingml/2006/main" xmlns:r="http://schemas.openxmlformats.org/officeDocument/2006/relationships" xmlns:p="http://schemas.openxmlformats.org/presentationml/2006/main">
  <p:tag name="PPTAGGERGROUP" val="1,4,5"/>
</p:tagLst>
</file>

<file path=ppt/tags/tag61.xml><?xml version="1.0" encoding="utf-8"?>
<p:tagLst xmlns:a="http://schemas.openxmlformats.org/drawingml/2006/main" xmlns:r="http://schemas.openxmlformats.org/officeDocument/2006/relationships" xmlns:p="http://schemas.openxmlformats.org/presentationml/2006/main">
  <p:tag name="PPTAGGERGROUP" val="1,4,5"/>
</p:tagLst>
</file>

<file path=ppt/tags/tag62.xml><?xml version="1.0" encoding="utf-8"?>
<p:tagLst xmlns:a="http://schemas.openxmlformats.org/drawingml/2006/main" xmlns:r="http://schemas.openxmlformats.org/officeDocument/2006/relationships" xmlns:p="http://schemas.openxmlformats.org/presentationml/2006/main">
  <p:tag name="PPTAGGERGROUP" val="1,4,6,7"/>
</p:tagLst>
</file>

<file path=ppt/tags/tag63.xml><?xml version="1.0" encoding="utf-8"?>
<p:tagLst xmlns:a="http://schemas.openxmlformats.org/drawingml/2006/main" xmlns:r="http://schemas.openxmlformats.org/officeDocument/2006/relationships" xmlns:p="http://schemas.openxmlformats.org/presentationml/2006/main">
  <p:tag name="PPTAGGERGROUP" val="1,4,6,7"/>
</p:tagLst>
</file>

<file path=ppt/tags/tag64.xml><?xml version="1.0" encoding="utf-8"?>
<p:tagLst xmlns:a="http://schemas.openxmlformats.org/drawingml/2006/main" xmlns:r="http://schemas.openxmlformats.org/officeDocument/2006/relationships" xmlns:p="http://schemas.openxmlformats.org/presentationml/2006/main">
  <p:tag name="PPTAGGERGROUP" val="1,4,6,7"/>
</p:tagLst>
</file>

<file path=ppt/tags/tag65.xml><?xml version="1.0" encoding="utf-8"?>
<p:tagLst xmlns:a="http://schemas.openxmlformats.org/drawingml/2006/main" xmlns:r="http://schemas.openxmlformats.org/officeDocument/2006/relationships" xmlns:p="http://schemas.openxmlformats.org/presentationml/2006/main">
  <p:tag name="PPTAGGERGROUP" val="1,4,6,7"/>
</p:tagLst>
</file>

<file path=ppt/tags/tag66.xml><?xml version="1.0" encoding="utf-8"?>
<p:tagLst xmlns:a="http://schemas.openxmlformats.org/drawingml/2006/main" xmlns:r="http://schemas.openxmlformats.org/officeDocument/2006/relationships" xmlns:p="http://schemas.openxmlformats.org/presentationml/2006/main">
  <p:tag name="PPTAGGERGROUP" val="2"/>
</p:tagLst>
</file>

<file path=ppt/tags/tag67.xml><?xml version="1.0" encoding="utf-8"?>
<p:tagLst xmlns:a="http://schemas.openxmlformats.org/drawingml/2006/main" xmlns:r="http://schemas.openxmlformats.org/officeDocument/2006/relationships" xmlns:p="http://schemas.openxmlformats.org/presentationml/2006/main">
  <p:tag name="PPTAGGERGROUP" val="2"/>
</p:tagLst>
</file>

<file path=ppt/tags/tag68.xml><?xml version="1.0" encoding="utf-8"?>
<p:tagLst xmlns:a="http://schemas.openxmlformats.org/drawingml/2006/main" xmlns:r="http://schemas.openxmlformats.org/officeDocument/2006/relationships" xmlns:p="http://schemas.openxmlformats.org/presentationml/2006/main">
  <p:tag name="PPTAGGERGROUP" val="3"/>
</p:tagLst>
</file>

<file path=ppt/tags/tag69.xml><?xml version="1.0" encoding="utf-8"?>
<p:tagLst xmlns:a="http://schemas.openxmlformats.org/drawingml/2006/main" xmlns:r="http://schemas.openxmlformats.org/officeDocument/2006/relationships" xmlns:p="http://schemas.openxmlformats.org/presentationml/2006/main">
  <p:tag name="PPTAGGERGROUP" val="3"/>
</p:tagLst>
</file>

<file path=ppt/tags/tag70.xml><?xml version="1.0" encoding="utf-8"?>
<p:tagLst xmlns:a="http://schemas.openxmlformats.org/drawingml/2006/main" xmlns:r="http://schemas.openxmlformats.org/officeDocument/2006/relationships" xmlns:p="http://schemas.openxmlformats.org/presentationml/2006/main">
  <p:tag name="PPTAGGERGROUP" val="1,4,6,1"/>
</p:tagLst>
</file>

<file path=ppt/tags/tag71.xml><?xml version="1.0" encoding="utf-8"?>
<p:tagLst xmlns:a="http://schemas.openxmlformats.org/drawingml/2006/main" xmlns:r="http://schemas.openxmlformats.org/officeDocument/2006/relationships" xmlns:p="http://schemas.openxmlformats.org/presentationml/2006/main">
  <p:tag name="PPTAGGERGROUP" val="1,4,6,1"/>
</p:tagLst>
</file>

<file path=ppt/tags/tag72.xml><?xml version="1.0" encoding="utf-8"?>
<p:tagLst xmlns:a="http://schemas.openxmlformats.org/drawingml/2006/main" xmlns:r="http://schemas.openxmlformats.org/officeDocument/2006/relationships" xmlns:p="http://schemas.openxmlformats.org/presentationml/2006/main">
  <p:tag name="PPTAGGERGROUP" val="1"/>
</p:tagLst>
</file>

<file path=ppt/tags/tag73.xml><?xml version="1.0" encoding="utf-8"?>
<p:tagLst xmlns:a="http://schemas.openxmlformats.org/drawingml/2006/main" xmlns:r="http://schemas.openxmlformats.org/officeDocument/2006/relationships" xmlns:p="http://schemas.openxmlformats.org/presentationml/2006/main">
  <p:tag name="PPTAGGERGROUP" val="1"/>
</p:tagLst>
</file>

<file path=ppt/tags/tag74.xml><?xml version="1.0" encoding="utf-8"?>
<p:tagLst xmlns:a="http://schemas.openxmlformats.org/drawingml/2006/main" xmlns:r="http://schemas.openxmlformats.org/officeDocument/2006/relationships" xmlns:p="http://schemas.openxmlformats.org/presentationml/2006/main">
  <p:tag name="PPWINTOTALSEGMENTS" val="0"/>
</p:tagLst>
</file>

<file path=ppt/tags/tag75.xml><?xml version="1.0" encoding="utf-8"?>
<p:tagLst xmlns:a="http://schemas.openxmlformats.org/drawingml/2006/main" xmlns:r="http://schemas.openxmlformats.org/officeDocument/2006/relationships" xmlns:p="http://schemas.openxmlformats.org/presentationml/2006/main">
  <p:tag name="PPWINSEGMENT1START" val="1"/>
  <p:tag name="PPWINSEGMENT1LENGTH" val="69"/>
  <p:tag name="PPWINSEGMENT1SOURCERTF" val="{\rtf1\ansi\deff0{\fonttbl{\f0\fcharset0 Arial Narrow;}}{\colortbl\red0\green0\blue0;}{\f0\fs52\b\cf0 What Are Network Access Authentication and Authorization?\par}}"/>
  <p:tag name="PPWINLASTSAVEDTRANSLATION" val="Qu'entend-on par autorisation et authentification de l'accès réseau ?"/>
  <p:tag name="PPWINALREADYSEGMENTED" val="True"/>
  <p:tag name="PPWINTOTALSEGMENTS" val="1"/>
  <p:tag name="PPWINSEGMENT1TARGETRTF" val="{\rtf1\ansi\deff0{\fonttbl{\f0\fcharset0 Arial Narrow;}}{\colortbl\red0\green0\blue0;}{\f0\fs52\b\cf0 Qu'entend-on par autorisation et authentification de l'acc\'E8s r\'E9seau ?\par}}"/>
</p:tagLst>
</file>

<file path=ppt/tags/tag76.xml><?xml version="1.0" encoding="utf-8"?>
<p:tagLst xmlns:a="http://schemas.openxmlformats.org/drawingml/2006/main" xmlns:r="http://schemas.openxmlformats.org/officeDocument/2006/relationships" xmlns:p="http://schemas.openxmlformats.org/presentationml/2006/main">
  <p:tag name="PPWINTOTALSEGMENTS" val="0"/>
</p:tagLst>
</file>

<file path=ppt/tags/tag77.xml><?xml version="1.0" encoding="utf-8"?>
<p:tagLst xmlns:a="http://schemas.openxmlformats.org/drawingml/2006/main" xmlns:r="http://schemas.openxmlformats.org/officeDocument/2006/relationships" xmlns:p="http://schemas.openxmlformats.org/presentationml/2006/main">
  <p:tag name="PPWINSEGMENT1START" val="1"/>
  <p:tag name="PPWINSEGMENT1LENGTH" val="77"/>
  <p:tag name="PPWINSEGMENT1SOURCERTF" val="{\rtf1\ansi\deff0{\fonttbl{\f0\fcharset0 Arial Narrow;}}{\colortbl\red0\green0\blue0;}{\f0\fs60\b\cf0 Authentication Methods for a Dial-up Connection\par}}"/>
  <p:tag name="PPWINSEGMENT1TARGETRTF" val="{\rtf1\ansi\deff1{\fonttbl{\f1\fcharset0 Arial;}{\f2\fcharset0 Arial Narrow;}}{\colortbl\red0\green0\blue0;}{\f2\fs60\b\cf0 M\'E9thodes d'authentification disponibles pour une connexion d'acc\'E8s \'E0 distance\par}}"/>
  <p:tag name="PPWINLASTSAVEDTRANSLATION" val="Méthodes d'authentification disponibles pour une connexion d'accès à distance"/>
  <p:tag name="PPWINALREADYSEGMENTED" val="True"/>
  <p:tag name="PPWINTOTALSEGMENTS" val="1"/>
</p:tagLst>
</file>

<file path=ppt/tags/tag78.xml><?xml version="1.0" encoding="utf-8"?>
<p:tagLst xmlns:a="http://schemas.openxmlformats.org/drawingml/2006/main" xmlns:r="http://schemas.openxmlformats.org/officeDocument/2006/relationships" xmlns:p="http://schemas.openxmlformats.org/presentationml/2006/main">
  <p:tag name="PPWINTOTALSEGMENTS" val="0"/>
</p:tagLst>
</file>

<file path=ppt/tags/tag79.xml><?xml version="1.0" encoding="utf-8"?>
<p:tagLst xmlns:a="http://schemas.openxmlformats.org/drawingml/2006/main" xmlns:r="http://schemas.openxmlformats.org/officeDocument/2006/relationships" xmlns:p="http://schemas.openxmlformats.org/presentationml/2006/main">
  <p:tag name="PPWINSEGMENT1START" val="1"/>
  <p:tag name="PPWINSEGMENT1LENGTH" val="7"/>
  <p:tag name="PPWINSEGMENT1SOURCERTF" val="{\rtf1\ansi\deff0{\fonttbl{\f0\fcharset0 Arial Narrow;}}{\colortbl\red0\green0\blue0;}{\f0\fs60\b\cf0 Lesson:\par}}"/>
  <p:tag name="PPWINSEGMENT1TARGETRTF" val="{\rtf1\ansi\deff1{\fonttbl{\f1\fcharset0 Arial;}{\f2\fcharset0 Arial Narrow;}}{\colortbl\red0\green0\blue0;}{\f2\fs60\b\cf0 Le\'E7on :\par}}"/>
  <p:tag name="PPWINSEGMENT2START" val="9"/>
  <p:tag name="PPWINSEGMENT2LENGTH" val="33"/>
  <p:tag name="PPWINSEGMENT2SOURCERTF" val="{\rtf1\ansi\deff0{\fonttbl{\f0\fcharset0 Arial Narrow;}}{\colortbl\red0\green0\blue0;}{\f0\fs60\b\cf0 Configuring a VPN Connection\par}}"/>
  <p:tag name="PPWINSEGMENT2TARGETRTF" val="{\rtf1\ansi\deff1{\fonttbl{\f1\fcharset0 Arial;}{\f2\fcharset0 Arial Narrow;}}{\colortbl\red0\green0\blue0;}{\f2\fs60\b\cf0 Configuration d'une connexion VPN\par}}"/>
  <p:tag name="PPWINLASTSAVEDTRANSLATION" val="Leçon : Configuration d'une connexion VPN"/>
  <p:tag name="PPWINALREADYSEGMENTED" val="True"/>
  <p:tag name="PPWINTOTALSEGMENTS" val="2"/>
</p:tagLst>
</file>

<file path=ppt/tags/tag80.xml><?xml version="1.0" encoding="utf-8"?>
<p:tagLst xmlns:a="http://schemas.openxmlformats.org/drawingml/2006/main" xmlns:r="http://schemas.openxmlformats.org/officeDocument/2006/relationships" xmlns:p="http://schemas.openxmlformats.org/presentationml/2006/main">
  <p:tag name="PPWINSEGMENT1START" val="1"/>
  <p:tag name="PPWINSEGMENT1LENGTH" val="34"/>
  <p:tag name="PPWINSEGMENT1SOURCERTF" val="{\rtf1\ansi\deff0{\fonttbl{\f0\fcharset0 Arial Narrow;}}{\colortbl\red0\green0\blue0;}{\f0\fs48\b\cf0 How a VPN Connection Works \par}}"/>
  <p:tag name="PPWINSEGMENT1TARGETRTF" val="{\rtf1\ansi\deff1{\fonttbl{\f1\fcharset0 Arial;}{\f2\fcharset0 Arial Narrow;}}{\colortbl\red0\green0\blue0;}{\f2\fs48\b\cf0 Fonctionnement d'une connexion VPN\par}}"/>
  <p:tag name="PPWINSEGMENT2START" val="36"/>
  <p:tag name="PPWINSEGMENT2LENGTH" val="30"/>
  <p:tag name="PPWINSEGMENT2SOURCERTF" val="{\rtf1\ansi\deff0{\fonttbl{\f0\fcharset0 Arial Narrow;}}{\colortbl\red0\green0\blue0;}{\f0\fs48\b\cf0 Components of a VPN Connection \par}}"/>
  <p:tag name="PPWINSEGMENT2TARGETRTF" val="{\rtf1\ansi\deff1{\fonttbl{\f1\fcharset0 Arial;}{\f2\fcharset0 Arial Narrow;}}{\colortbl\red0\green0\blue0;}{\f2\fs48\b\cf0 Composants d'une connexion VPN\par}}"/>
  <p:tag name="PPWINSEGMENT3START" val="67"/>
  <p:tag name="PPWINSEGMENT3LENGTH" val="45"/>
  <p:tag name="PPWINSEGMENT3SOURCERTF" val="{\rtf1\ansi\deff0{\fonttbl{\f0\fcharset0 Arial Narrow;}}{\colortbl\red0\green0\blue0;}{\f0\fs48\b\cf0 Encryption Protocols for a VPN Connection\par}}"/>
  <p:tag name="PPWINSEGMENT3TARGETRTF" val="{\rtf1\ansi\deff1{\fonttbl{\f1\fcharset0 Arial;}{\f2\fcharset0 Arial Narrow;}}{\colortbl\red0\green0\blue0;}{\f2\fs48\b\cf0 Protocoles de cryptage pour une connexion VPN\par}}"/>
  <p:tag name="PPWINSEGMENT4START" val="113"/>
  <p:tag name="PPWINSEGMENT4LENGTH" val="41"/>
  <p:tag name="PPWINSEGMENT4SOURCERTF" val="{\rtf1\ansi\deff0{\fonttbl{\f0\fcharset0 Arial Narrow;}}{\colortbl\red0\green0\blue0;}{\f0\fs48\b\cf0 Configuration Requirements for a VPN Server \par}}"/>
  <p:tag name="PPWINSEGMENT4TARGETRTF" val="{\rtf1\ansi\deff1{\fonttbl{\f1\fcharset0 Arial;}{\f2\fcharset0 Arial Narrow;}}{\colortbl\red0\green0\blue0;}{\f2\fs48\b\cf0 Configuration requise pour un serveur VPN\par}}"/>
  <p:tag name="PPWINSEGMENT5START" val="155"/>
  <p:tag name="PPWINSEGMENT5LENGTH" val="68"/>
  <p:tag name="PPWINSEGMENT5SOURCERTF" val="{\rtf1\ansi\deff0{\fonttbl{\f0\fcharset0 Arial Narrow;}}{\colortbl\red0\green0\blue0;}{\f0\fs48\b\cf0 How to Configure a Remote Access Server for a VPN Connection \par}}"/>
  <p:tag name="PPWINSEGMENT5TARGETRTF" val="{\rtf1\ansi\deff1{\fonttbl{\f1\fcharset0 Arial;}{\f2\fcharset0 Arial Narrow;}}{\colortbl\red0\green0\blue0;}{\f2\fs48\b\cf0 Comment configurer un serveur d'acc\'E8s distant pour une connexion VPN\par}}"/>
  <p:tag name="PPWINSEGMENT6START" val="224"/>
  <p:tag name="PPWINSEGMENT6LENGTH" val="67"/>
  <p:tag name="PPWINSEGMENT6SOURCERTF" val="{\rtf1\ansi\deff0{\fonttbl{\f0\fcharset0 Arial Narrow;}}{\colortbl\red0\green0\blue0;}{\f0\fs48\b\cf0 How to Configure a Remote Access Client for a VPN Connection \par}}"/>
  <p:tag name="PPWINSEGMENT6TARGETRTF" val="{\rtf1\ansi\deff1{\fonttbl{\f1\fcharset0 Arial;}{\f2\fcharset0 Arial Narrow;}}{\colortbl\red0\green0\blue0;}{\f2\fs48\b\cf0 Comment configurer un client d'acc\'E8s distant pour une connexion VPN\par}}"/>
  <p:tag name="PPWINSEGMENT7START" val="292"/>
  <p:tag name="PPWINSEGMENT7LENGTH" val="85"/>
  <p:tag name="PPWINSEGMENT7SOURCERTF" val="{\rtf1\ansi\deff0{\fonttbl{\f0\fcharset0 Arial Narrow;}}{\colortbl\red0\green0\blue0;}{\f0\fs48\b\cf0 How to Configure Smart Card Authentication on a Remote Access Server\par}}"/>
  <p:tag name="PPWINSEGMENT7TARGETRTF" val="{\rtf1\ansi\deff1{\fonttbl{\f1\fcharset0 Arial;}{\f2\fcharset0 Arial Narrow;}}{\colortbl\red0\green0\blue0;}{\f2\fs48\b\cf0 Comment configurer l'authentification par carte \'E0 puce sur un serveur d'acc\'E8s distant\par}}"/>
  <p:tag name="PPWINLASTSAVEDTRANSLATION" val="Fonctionnement d'une connexion VPN&#10;Composants d'une connexion VPN&#10;Protocoles de cryptage pour une connexion VPN&#10;Configuration requise pour un serveur VPN&#10;Comment configurer un serveur d'accès distant pour une connexion VPN&#10;Comment configurer un client d'accès distant pour une connexion VPN&#10;Comment configurer l'authentification par carte à puce sur un serveur d'accès distant"/>
  <p:tag name="PPWINALREADYSEGMENTED" val="True"/>
  <p:tag name="PPWINTOTALSEGMENTS" val="7"/>
</p:tagLst>
</file>

<file path=ppt/tags/tag81.xml><?xml version="1.0" encoding="utf-8"?>
<p:tagLst xmlns:a="http://schemas.openxmlformats.org/drawingml/2006/main" xmlns:r="http://schemas.openxmlformats.org/officeDocument/2006/relationships" xmlns:p="http://schemas.openxmlformats.org/presentationml/2006/main">
  <p:tag name="PPWINTOTALSEGMENTS" val="0"/>
</p:tagLst>
</file>

<file path=ppt/tags/tag82.xml><?xml version="1.0" encoding="utf-8"?>
<p:tagLst xmlns:a="http://schemas.openxmlformats.org/drawingml/2006/main" xmlns:r="http://schemas.openxmlformats.org/officeDocument/2006/relationships" xmlns:p="http://schemas.openxmlformats.org/presentationml/2006/main">
  <p:tag name="PPWINSEGMENT1START" val="1"/>
  <p:tag name="PPWINSEGMENT1LENGTH" val="34"/>
  <p:tag name="PPWINSEGMENT1SOURCERTF" val="{\rtf1\ansi\deff0{\fonttbl{\f0\fcharset0 Arial Narrow;}}{\colortbl\red0\green0\blue0;}{\f0\fs60\b\cf0 How a VPN Connection Works\par}}"/>
  <p:tag name="PPWINLASTSAVEDTRANSLATION" val="Fonctionnement d'une connexion VPN"/>
  <p:tag name="PPWINALREADYSEGMENTED" val="True"/>
  <p:tag name="PPWINTOTALSEGMENTS" val="1"/>
  <p:tag name="PPWINSEGMENT1TARGETRTF" val="{\rtf1\ansi\deff0{\fonttbl{\f0\fcharset0 Arial Narrow;}}{\colortbl\red0\green0\blue0;}{\f0\fs60\b\cf0 Fonctionnement d'une connexion VPN\par}}"/>
</p:tagLst>
</file>

<file path=ppt/tags/tag83.xml><?xml version="1.0" encoding="utf-8"?>
<p:tagLst xmlns:a="http://schemas.openxmlformats.org/drawingml/2006/main" xmlns:r="http://schemas.openxmlformats.org/officeDocument/2006/relationships" xmlns:p="http://schemas.openxmlformats.org/presentationml/2006/main">
  <p:tag name="PPWINSEGMENT1START" val="1"/>
  <p:tag name="PPWINSEGMENT1LENGTH" val="202"/>
  <p:tag name="PPWINSEGMENT1SOURCERTF" val="{\rtf1\ansi\deff0{\fonttbl{\f0\fcharset0 Arial Narrow;}}{\colortbl\red0\green0\blue0;}{\f0\fs48\b\cf0 A }{\f0\fs48\b\i\cf0 VPN}{\f0\fs48\b\cf0  extends the capabilities of a private network to encompass links across shared or public networks, such as the Internet, in a manner that emulates a point-to-point link  \par}}"/>
  <p:tag name="PPWINLASTSAVEDTRANSLATION" val="Un réseau privé virtuel (VPN) est l'extension d'un réseau privé qui englobe des liaisons à travers des réseaux partagés ou publics, comme Internet, selon une méthode qui émule une liaison point à point."/>
  <p:tag name="PPWINALREADYSEGMENTED" val="True"/>
  <p:tag name="PPWINTOTALSEGMENTS" val="1"/>
  <p:tag name="PPWINSEGMENT1TARGETRTF" val="{\rtf1\ansi\deff0{\fonttbl{\f0\fcharset0 Arial Narrow;}}{\colortbl\red0\green0\blue0;}{\f0\fs48\b\cf0 Un r\'E9seau priv\'E9 virtuel (VPN) est l'extension d'un r\'E9seau priv\'E9 qui englobe des liaisons \'E0 travers des r\'E9seaux partag\'E9s ou publics, comme Internet, selon une m\'E9thode qui \'E9mule une liaison point \'E0 point.\par}}"/>
</p:tagLst>
</file>

<file path=ppt/tags/tag84.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
  <p:tag name="PPWINSEGMENT1SOURCERTF" val="{\rtf1\ansi\deff0{\fonttbl{\f0\fcharset0 Arial Narrow;}}{\colortbl\red0\green0\blue0;}{\f0\fs36\b\cf0 Domain\par}}"/>
  <p:tag name="PPWINSEGMENT1TARGETRTF" val="{\rtf1\ansi\deff1{\fonttbl{\f1\fcharset0 Arial;}{\f2\fcharset0 Arial Narrow;}}{\colortbl\red0\green0\blue0;}{\f2\fs36\b\cf0 Contr\'F4leur\par}}"/>
  <p:tag name="PPWINSEGMENT2START" val="12"/>
  <p:tag name="PPWINSEGMENT2LENGTH" val="10"/>
  <p:tag name="PPWINSEGMENT2SOURCERTF" val="{\rtf1\ansi\deff0{\fonttbl{\f0\fcharset0 Arial Narrow;}}{\colortbl\red0\green0\blue0;}{\f0\fs36\b\cf0 Controller \par}}"/>
  <p:tag name="PPWINSEGMENT2TARGETRTF" val="{\rtf1\ansi\deff1{\fonttbl{\f1\fcharset0 Arial;}{\f2\fcharset0 Arial Narrow;}}{\colortbl\red0\green0\blue0;}{\f2\fs36\b\cf0 de domaine\par}}"/>
  <p:tag name="PPWINLASTSAVEDTRANSLATION" val="Contrôleur&#10;de domaine"/>
  <p:tag name="PPWINALREADYSEGMENTED" val="True"/>
  <p:tag name="PPWINTOTALSEGMENTS" val="2"/>
</p:tagLst>
</file>

<file path=ppt/tags/tag85.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
  <p:tag name="PPWINSEGMENT1SOURCERTF" val="{\rtf1\ansi\deff0{\fonttbl{\f0\fcharset0 Arial Narrow;}}{\colortbl\red0\green0\blue0;}{\f0\fs36\b\cf0 VPN Client\par}}"/>
  <p:tag name="PPWINSEGMENT1TARGETRTF" val="{\rtf1\ansi\deff1{\fonttbl{\f1\fcharset0 Arial;}{\f2\fcharset0 Arial Narrow;}}{\colortbl\red0\green0\blue0;}{\f2\fs36\b\cf0 Client VPN\par}}"/>
  <p:tag name="PPWINLASTSAVEDTRANSLATION" val="Client VPN"/>
  <p:tag name="PPWINALREADYSEGMENTED" val="True"/>
  <p:tag name="PPWINTOTALSEGMENTS" val="1"/>
</p:tagLst>
</file>

<file path=ppt/tags/tag86.xml><?xml version="1.0" encoding="utf-8"?>
<p:tagLst xmlns:a="http://schemas.openxmlformats.org/drawingml/2006/main" xmlns:r="http://schemas.openxmlformats.org/officeDocument/2006/relationships" xmlns:p="http://schemas.openxmlformats.org/presentationml/2006/main">
  <p:tag name="PPWINSEGMENT1START" val="1"/>
  <p:tag name="PPWINSEGMENT1LENGTH" val="11"/>
  <p:tag name="PPWINSEGMENT1SOURCERTF" val="{\rtf1\ansi\deff0{\fonttbl{\f0\fcharset0 Arial Narrow;}}{\colortbl\red0\green0\blue0;}{\f0\fs36\b\cf0 VPN Server\par}}"/>
  <p:tag name="PPWINLASTSAVEDTRANSLATION" val="Serveur VPN"/>
  <p:tag name="PPWINALREADYSEGMENTED" val="True"/>
  <p:tag name="PPWINTOTALSEGMENTS" val="1"/>
  <p:tag name="PPWINSEGMENT1TARGETRTF" val="{\rtf1\ansi\deff0{\fonttbl{\f0\fcharset0 Arial Narrow;}}{\colortbl\red0\green0\blue0;}{\f0\fs36\b\cf0 Serveur VPN\par}}"/>
</p:tagLst>
</file>

<file path=ppt/tags/tag87.xml><?xml version="1.0" encoding="utf-8"?>
<p:tagLst xmlns:a="http://schemas.openxmlformats.org/drawingml/2006/main" xmlns:r="http://schemas.openxmlformats.org/officeDocument/2006/relationships" xmlns:p="http://schemas.openxmlformats.org/presentationml/2006/main">
  <p:tag name="PPWINTOTALSEGMENTS" val="0"/>
</p:tagLst>
</file>

<file path=ppt/tags/tag88.xml><?xml version="1.0" encoding="utf-8"?>
<p:tagLst xmlns:a="http://schemas.openxmlformats.org/drawingml/2006/main" xmlns:r="http://schemas.openxmlformats.org/officeDocument/2006/relationships" xmlns:p="http://schemas.openxmlformats.org/presentationml/2006/main">
  <p:tag name="PPWINSEGMENT1START" val="1"/>
  <p:tag name="PPWINSEGMENT1LENGTH" val="30"/>
  <p:tag name="PPWINSEGMENT1SOURCERTF" val="{\rtf1\ansi\deff0{\fonttbl{\f0\fcharset0 Arial Narrow;}}{\colortbl\red0\green0\blue0;}{\f0\fs60\b\cf0 Components of a VPN Connection\par}}"/>
  <p:tag name="PPWINLASTSAVEDTRANSLATION" val="Composants d'une connexion VPN"/>
  <p:tag name="PPWINALREADYSEGMENTED" val="True"/>
  <p:tag name="PPWINTOTALSEGMENTS" val="1"/>
  <p:tag name="PPWINSEGMENT1TARGETRTF" val="{\rtf1\ansi\deff0{\fonttbl{\f0\fcharset0 Arial Narrow;}}{\colortbl\red0\green0\blue0;}{\f0\fs60\b\cf0 Composants d'une connexion VPN\par}}"/>
</p:tagLst>
</file>

<file path=ppt/tags/tag89.xml><?xml version="1.0" encoding="utf-8"?>
<p:tagLst xmlns:a="http://schemas.openxmlformats.org/drawingml/2006/main" xmlns:r="http://schemas.openxmlformats.org/officeDocument/2006/relationships" xmlns:p="http://schemas.openxmlformats.org/presentationml/2006/main">
  <p:tag name="PPWINTOTALSEGMENTS" val="0"/>
</p:tagLst>
</file>

<file path=ppt/tags/tag90.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
  <p:tag name="PPWINSEGMENT1SOURCERTF" val="{\rtf1\ansi\deff0{\fonttbl{\f0\fcharset0 Arial Narrow;}}{\colortbl\red0\green0\blue0;}{\f0\fs36\b\cf0 VPN Tunnel\par}}"/>
  <p:tag name="PPWINSEGMENT2START" val="12"/>
  <p:tag name="PPWINSEGMENT2LENGTH" val="23"/>
  <p:tag name="PPWINSEGMENT2SOURCERTF" val="{\rtf1\ansi\deff0{\fonttbl{\f0\fcharset0 Arial Narrow;}}{\colortbl\red0\green0\blue0;}{\f0\fs36\b\cf0 Tunneling Protocols\par}}"/>
  <p:tag name="PPWINSEGMENT3START" val="36"/>
  <p:tag name="PPWINSEGMENT3LENGTH" val="17"/>
  <p:tag name="PPWINSEGMENT3SOURCERTF" val="{\rtf1\ansi\deff0{\fonttbl{\f0\fcharset0 Arial Narrow;}}{\colortbl\red0\green0\blue0;}{\f0\fs36\b\cf0 Tunneled Data\par}}"/>
  <p:tag name="PPWINLASTSAVEDTRANSLATION" val="Tunnel VPN&#10;Protocoles de tunneling&#10;Données en tunnel"/>
  <p:tag name="PPWINALREADYSEGMENTED" val="True"/>
  <p:tag name="PPWINTOTALSEGMENTS" val="3"/>
  <p:tag name="PPWINSEGMENT1TARGETRTF" val="{\rtf1\ansi\deff0{\fonttbl{\f0\fcharset0 Arial Narrow;}}{\colortbl\red0\green0\blue0;}{\f0\fs36\b\cf0 Tunnel VPN\par}}"/>
  <p:tag name="PPWINSEGMENT2TARGETRTF" val="{\rtf1\ansi\deff0{\fonttbl{\f0\fcharset0 Arial Narrow;}}{\colortbl\red0\green0\blue0;}{\f0\fs36\b\cf0 Protocoles de tunneling\par}}"/>
  <p:tag name="PPWINSEGMENT3TARGETRTF" val="{\rtf1\ansi\deff0{\fonttbl{\f0\fcharset0 Arial Narrow;}}{\colortbl\red0\green0\blue0;}{\f0\fs36\b\cf0 Donn\'E9es en tunnel\par}}"/>
</p:tagLst>
</file>

<file path=ppt/tags/tag91.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
  <p:tag name="PPWINSEGMENT1SOURCERTF" val="{\rtf1\ansi\deff0{\fonttbl{\f0\fcharset0 Arial Narrow;}}{\colortbl\red0\green0\blue0;}{\f0\fs36\b\cf0 VPN Client\par}}"/>
  <p:tag name="PPWINLASTSAVEDTRANSLATION" val="Client VPN"/>
  <p:tag name="PPWINALREADYSEGMENTED" val="True"/>
  <p:tag name="PPWINTOTALSEGMENTS" val="1"/>
  <p:tag name="PPWINSEGMENT1TARGETRTF" val="{\rtf1\ansi\deff0{\fonttbl{\f0\fcharset0 Arial Narrow;}}{\colortbl\red0\green0\blue0;}{\f0\fs36\b\cf0 Client VPN\par}}"/>
</p:tagLst>
</file>

<file path=ppt/tags/tag92.xml><?xml version="1.0" encoding="utf-8"?>
<p:tagLst xmlns:a="http://schemas.openxmlformats.org/drawingml/2006/main" xmlns:r="http://schemas.openxmlformats.org/officeDocument/2006/relationships" xmlns:p="http://schemas.openxmlformats.org/presentationml/2006/main">
  <p:tag name="PPWINSEGMENT1START" val="1"/>
  <p:tag name="PPWINSEGMENT1LENGTH" val="11"/>
  <p:tag name="PPWINSEGMENT1SOURCERTF" val="{\rtf1\ansi\deff0{\fonttbl{\f0\fcharset0 Arial Narrow;}}{\colortbl\red0\green0\blue0;}{\f0\fs36\b\cf0 VPN Server\par}}"/>
  <p:tag name="PPWINLASTSAVEDTRANSLATION" val="Serveur VPN"/>
  <p:tag name="PPWINALREADYSEGMENTED" val="True"/>
  <p:tag name="PPWINTOTALSEGMENTS" val="1"/>
  <p:tag name="PPWINSEGMENT1TARGETRTF" val="{\rtf1\ansi\deff0{\fonttbl{\f0\fcharset0 Arial Narrow;}}{\colortbl\red0\green0\blue0;}{\f0\fs36\b\cf0 Serveur VPN\par}}"/>
</p:tagLst>
</file>

<file path=ppt/tags/tag93.xml><?xml version="1.0" encoding="utf-8"?>
<p:tagLst xmlns:a="http://schemas.openxmlformats.org/drawingml/2006/main" xmlns:r="http://schemas.openxmlformats.org/officeDocument/2006/relationships" xmlns:p="http://schemas.openxmlformats.org/presentationml/2006/main">
  <p:tag name="PPWINSEGMENT1START" val="1"/>
  <p:tag name="PPWINSEGMENT1LENGTH" val="46"/>
  <p:tag name="PPWINSEGMENT1SOURCERTF" val="{\rtf1\ansi\deff0{\fonttbl{\f0\fcharset0 Arial Narrow;}}{\colortbl\red0\green0\blue0;}{\f0\fs36\b\cf0 Address and Name Server Allocation\par}}"/>
  <p:tag name="PPWINLASTSAVEDTRANSLATION" val="Attribution d'un serveur de noms et d'adresses"/>
  <p:tag name="PPWINALREADYSEGMENTED" val="True"/>
  <p:tag name="PPWINTOTALSEGMENTS" val="1"/>
  <p:tag name="PPWINSEGMENT1TARGETRTF" val="{\rtf1\ansi\deff0{\fonttbl{\f0\fcharset0 Arial Narrow;}}{\colortbl\red0\green0\blue0;}{\f0\fs36\b\cf0 Attribution d'un serveur de noms et d'adresses\par}}"/>
</p:tagLst>
</file>

<file path=ppt/tags/tag94.xml><?xml version="1.0" encoding="utf-8"?>
<p:tagLst xmlns:a="http://schemas.openxmlformats.org/drawingml/2006/main" xmlns:r="http://schemas.openxmlformats.org/officeDocument/2006/relationships" xmlns:p="http://schemas.openxmlformats.org/presentationml/2006/main">
  <p:tag name="PPWINSEGMENT1START" val="1"/>
  <p:tag name="PPWINSEGMENT1LENGTH" val="7"/>
  <p:tag name="PPWINSEGMENT1SOURCERTF" val="{\rtf1\ansi\deff0{\fonttbl{\f0\fcharset0 Arial Narrow;}}{\colortbl\red0\green0\blue0;}{\f0\fs36\b\cf0 DHCP\par}}"/>
  <p:tag name="PPWINSEGMENT1TARGETRTF" val="{\rtf1\ansi\deff1{\fonttbl{\f1\fcharset0 Arial;}{\f2\fcharset0 Arial Narrow;}}{\colortbl\red0\green0\blue0;}{\f2\fs36\b\cf0 Serveur\par}}"/>
  <p:tag name="PPWINSEGMENT2START" val="9"/>
  <p:tag name="PPWINSEGMENT2LENGTH" val="4"/>
  <p:tag name="PPWINSEGMENT2SOURCERTF" val="{\rtf1\ansi\deff0{\fonttbl{\f0\fcharset0 Arial Narrow;}}{\colortbl\red0\green0\blue0;}{\f0\fs36\b\cf0 Server\par}}"/>
  <p:tag name="PPWINSEGMENT2TARGETRTF" val="{\rtf1\ansi\deff1{\fonttbl{\f1\fcharset0 Arial;}{\f2\fcharset0 Arial Narrow;}}{\colortbl\red0\green0\blue0;}{\f2\fs36\b\cf0 DHCP\par}}"/>
  <p:tag name="PPWINLASTSAVEDTRANSLATION" val="Serveur&#10;DHCP"/>
  <p:tag name="PPWINALREADYSEGMENTED" val="True"/>
  <p:tag name="PPWINTOTALSEGMENTS" val="2"/>
</p:tagLst>
</file>

<file path=ppt/tags/tag95.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
  <p:tag name="PPWINSEGMENT1SOURCERTF" val="{\rtf1\ansi\deff0{\fonttbl{\f0\fcharset0 Arial Narrow;}}{\colortbl\red0\green0\blue0;}{\f0\fs36\b\cf0 Domain\par}}"/>
  <p:tag name="PPWINSEGMENT2START" val="12"/>
  <p:tag name="PPWINSEGMENT2LENGTH" val="10"/>
  <p:tag name="PPWINSEGMENT2SOURCERTF" val="{\rtf1\ansi\deff0{\fonttbl{\f0\fcharset0 Arial Narrow;}}{\colortbl\red0\green0\blue0;}{\f0\fs36\b\cf0 Controller \par}}"/>
  <p:tag name="PPWINLASTSAVEDTRANSLATION" val="Contrôleur&#10;de domaine"/>
  <p:tag name="PPWINALREADYSEGMENTED" val="True"/>
  <p:tag name="PPWINTOTALSEGMENTS" val="2"/>
  <p:tag name="PPWINSEGMENT1TARGETRTF" val="{\rtf1\ansi\deff0{\fonttbl{\f0\fcharset0 Arial Narrow;}}{\colortbl\red0\green0\blue0;}{\f0\fs36\b\cf0 Contr\'F4leur\par}}"/>
  <p:tag name="PPWINSEGMENT2TARGETRTF" val="{\rtf1\ansi\deff0{\fonttbl{\f0\fcharset0 Arial Narrow;}}{\colortbl\red0\green0\blue0;}{\f0\fs36\b\cf0 de domaine\par}}"/>
</p:tagLst>
</file>

<file path=ppt/tags/tag96.xml><?xml version="1.0" encoding="utf-8"?>
<p:tagLst xmlns:a="http://schemas.openxmlformats.org/drawingml/2006/main" xmlns:r="http://schemas.openxmlformats.org/officeDocument/2006/relationships" xmlns:p="http://schemas.openxmlformats.org/presentationml/2006/main">
  <p:tag name="PPWINSEGMENT1START" val="1"/>
  <p:tag name="PPWINSEGMENT1LENGTH" val="16"/>
  <p:tag name="PPWINSEGMENT1SOURCERTF" val="{\rtf1\ansi\deff0{\fonttbl{\f0\fcharset0 Arial Narrow;}}{\colortbl\red0\green0\blue0;}{\f0\fs36\b\cf0 Authentication\par}}"/>
  <p:tag name="PPWINSEGMENT1TARGETRTF" val="{\rtf1\ansi\deff1{\fonttbl{\f1\fcharset0 Arial;}{\f2\fcharset0 Arial Narrow;}}{\colortbl\red0\green0\blue0;}{\f2\fs36\b\cf0 Authentification\par}}"/>
  <p:tag name="PPWINLASTSAVEDTRANSLATION" val="Authentification"/>
  <p:tag name="PPWINALREADYSEGMENTED" val="True"/>
  <p:tag name="PPWINTOTALSEGMENTS" val="1"/>
</p:tagLst>
</file>

<file path=ppt/tags/tag97.xml><?xml version="1.0" encoding="utf-8"?>
<p:tagLst xmlns:a="http://schemas.openxmlformats.org/drawingml/2006/main" xmlns:r="http://schemas.openxmlformats.org/officeDocument/2006/relationships" xmlns:p="http://schemas.openxmlformats.org/presentationml/2006/main">
  <p:tag name="PPTAGGERGROUP" val="1"/>
</p:tagLst>
</file>

<file path=ppt/tags/tag98.xml><?xml version="1.0" encoding="utf-8"?>
<p:tagLst xmlns:a="http://schemas.openxmlformats.org/drawingml/2006/main" xmlns:r="http://schemas.openxmlformats.org/officeDocument/2006/relationships" xmlns:p="http://schemas.openxmlformats.org/presentationml/2006/main">
  <p:tag name="PPTAGGERGROUP" val="1"/>
</p:tagLst>
</file>

<file path=ppt/tags/tag99.xml><?xml version="1.0" encoding="utf-8"?>
<p:tagLst xmlns:a="http://schemas.openxmlformats.org/drawingml/2006/main" xmlns:r="http://schemas.openxmlformats.org/officeDocument/2006/relationships" xmlns:p="http://schemas.openxmlformats.org/presentationml/2006/main">
  <p:tag name="PPTAGGERGROUP" val="1"/>
</p:tagLst>
</file>

<file path=ppt/tags/tag100.xml><?xml version="1.0" encoding="utf-8"?>
<p:tagLst xmlns:a="http://schemas.openxmlformats.org/drawingml/2006/main" xmlns:r="http://schemas.openxmlformats.org/officeDocument/2006/relationships" xmlns:p="http://schemas.openxmlformats.org/presentationml/2006/main">
  <p:tag name="PPWINSEGMENT1START" val="1"/>
  <p:tag name="PPWINSEGMENT1LENGTH" val="17"/>
  <p:tag name="PPWINSEGMENT1SOURCERTF" val="{\rtf1\ansi\deff0{\fonttbl{\f0\fcharset0 Arial Narrow;}}{\colortbl\red0\green0\blue0;}{\f0\fs36\b\cf0 Transit Network\par}}"/>
  <p:tag name="PPWINLASTSAVEDTRANSLATION" val="Réseau de transit"/>
  <p:tag name="PPWINALREADYSEGMENTED" val="True"/>
  <p:tag name="PPWINTOTALSEGMENTS" val="1"/>
  <p:tag name="PPTAGGERGROUP" val="1"/>
  <p:tag name="PPWINSEGMENT1TARGETRTF" val="{\rtf1\ansi\deff0{\fonttbl{\f0\fcharset0 Arial Narrow;}}{\colortbl\red0\green0\blue0;}{\f0\fs36\b\cf0 R\'E9seau de transit\par}}"/>
</p:tagLst>
</file>

<file path=ppt/tags/tag101.xml><?xml version="1.0" encoding="utf-8"?>
<p:tagLst xmlns:a="http://schemas.openxmlformats.org/drawingml/2006/main" xmlns:r="http://schemas.openxmlformats.org/officeDocument/2006/relationships" xmlns:p="http://schemas.openxmlformats.org/presentationml/2006/main">
  <p:tag name="PPWINSEGMENT1START" val="1"/>
  <p:tag name="PPWINSEGMENT1LENGTH" val="27"/>
  <p:tag name="PPWINSEGMENT1SOURCERTF" val="{\rtf1\ansi\deff0{\fonttbl{\f0\fcharset0 Arial Narrow;}}{\colortbl\red0\green0\blue0;}{\f0\fs44\b\cf0 Recommended method for user \par}}"/>
  <p:tag name="PPWINSEGMENT1TARGETRTF" val="{\rtf1\ansi\deff1{\fonttbl{\f1\fcharset0 Arial;}{\f2\fcharset0 Arial Narrow;}}{\colortbl\red0\green0\blue0;}{\f2\fs44\b\cf0 La m\'E9thode recommand\'E9e pour\par}}"/>
  <p:tag name="PPWINSEGMENT2START" val="29"/>
  <p:tag name="PPWINSEGMENT2LENGTH" val="87"/>
  <p:tag name="PPWINSEGMENT2SOURCERTF" val="{\rtf1\ansi\deff0{\fonttbl{\f0\fcharset0 Arial Narrow;}}{\colortbl\red0\green0\blue0;}{\f0\fs44\b\cf0 authentication is by using smart card certificates\par}}"/>
  <p:tag name="PPWINSEGMENT2TARGETRTF" val="{\rtf1\ansi\deff1{\fonttbl{\f1\fcharset0 Arial;}{\f2\fcharset0 Arial Narrow;}}{\colortbl\red0\green0\blue0;}{\f2\fs44\b\cf0 l'authentification des utilisateurs est de faire appel aux certificats de cartes \'E0 puce\par}}"/>
  <p:tag name="PPWINLASTSAVEDTRANSLATION" val="La méthode recommandée pour&#10;l'authentification des utilisateurs est de faire appel aux certificats de cartes à puce"/>
  <p:tag name="PPWINALREADYSEGMENTED" val="True"/>
  <p:tag name="PPWINTOTALSEGMENTS" val="2"/>
</p:tagLst>
</file>

<file path=ppt/tags/tag102.xml><?xml version="1.0" encoding="utf-8"?>
<p:tagLst xmlns:a="http://schemas.openxmlformats.org/drawingml/2006/main" xmlns:r="http://schemas.openxmlformats.org/officeDocument/2006/relationships" xmlns:p="http://schemas.openxmlformats.org/presentationml/2006/main">
  <p:tag name="PPWINSEGMENT1START" val="1"/>
  <p:tag name="PPWINSEGMENT1LENGTH" val="27"/>
  <p:tag name="PPWINSEGMENT1SOURCERTF" val="{\rtf1\ansi\deff0{\fonttbl{\f0\fcharset0 Arial Narrow;}}{\colortbl\red0\green0\blue0;}{\f0\fs44\b\cf0 Recommended method for user \par}}"/>
  <p:tag name="PPWINSEGMENT1TARGETRTF" val="{\rtf1\ansi\deff1{\fonttbl{\f1\fcharset0 Arial;}{\f2\fcharset0 Arial Narrow;}}{\colortbl\red0\green0\blue0;}{\f2\fs44\b\cf0 La m\'E9thode recommand\'E9e pour\par}}"/>
  <p:tag name="PPWINSEGMENT2START" val="29"/>
  <p:tag name="PPWINSEGMENT2LENGTH" val="87"/>
  <p:tag name="PPWINSEGMENT2SOURCERTF" val="{\rtf1\ansi\deff0{\fonttbl{\f0\fcharset0 Arial Narrow;}}{\colortbl\red0\green0\blue0;}{\f0\fs44\b\cf0 authentication is by using smart card certificates\par}}"/>
  <p:tag name="PPWINSEGMENT2TARGETRTF" val="{\rtf1\ansi\deff1{\fonttbl{\f1\fcharset0 Arial;}{\f2\fcharset0 Arial Narrow;}}{\colortbl\red0\green0\blue0;}{\f2\fs44\b\cf0 l'authentification des utilisateurs est de faire appel aux certificats de cartes \'E0 puce\par}}"/>
  <p:tag name="PPWINLASTSAVEDTRANSLATION" val="La méthode recommandée pour&#10;l'authentification des utilisateurs est de faire appel aux certificats de cartes à puce"/>
  <p:tag name="PPWINALREADYSEGMENTED" val="True"/>
  <p:tag name="PPWINTOTALSEGMENTS" val="2"/>
</p:tagLst>
</file>

<file path=ppt/tags/tag103.xml><?xml version="1.0" encoding="utf-8"?>
<p:tagLst xmlns:a="http://schemas.openxmlformats.org/drawingml/2006/main" xmlns:r="http://schemas.openxmlformats.org/officeDocument/2006/relationships" xmlns:p="http://schemas.openxmlformats.org/presentationml/2006/main">
  <p:tag name="PPWINSEGMENT1START" val="1"/>
  <p:tag name="PPWINSEGMENT1LENGTH" val="27"/>
  <p:tag name="PPWINSEGMENT1SOURCERTF" val="{\rtf1\ansi\deff0{\fonttbl{\f0\fcharset0 Arial Narrow;}}{\colortbl\red0\green0\blue0;}{\f0\fs44\b\cf0 Recommended method for user \par}}"/>
  <p:tag name="PPWINSEGMENT1TARGETRTF" val="{\rtf1\ansi\deff1{\fonttbl{\f1\fcharset0 Arial;}{\f2\fcharset0 Arial Narrow;}}{\colortbl\red0\green0\blue0;}{\f2\fs44\b\cf0 La m\'E9thode recommand\'E9e pour\par}}"/>
  <p:tag name="PPWINSEGMENT2START" val="29"/>
  <p:tag name="PPWINSEGMENT2LENGTH" val="87"/>
  <p:tag name="PPWINSEGMENT2SOURCERTF" val="{\rtf1\ansi\deff0{\fonttbl{\f0\fcharset0 Arial Narrow;}}{\colortbl\red0\green0\blue0;}{\f0\fs44\b\cf0 authentication is by using smart card certificates\par}}"/>
  <p:tag name="PPWINSEGMENT2TARGETRTF" val="{\rtf1\ansi\deff1{\fonttbl{\f1\fcharset0 Arial;}{\f2\fcharset0 Arial Narrow;}}{\colortbl\red0\green0\blue0;}{\f2\fs44\b\cf0 l'authentification des utilisateurs est de faire appel aux certificats de cartes \'E0 puce\par}}"/>
  <p:tag name="PPWINLASTSAVEDTRANSLATION" val="La méthode recommandée pour&#10;l'authentification des utilisateurs est de faire appel aux certificats de cartes à puce"/>
  <p:tag name="PPWINALREADYSEGMENTED" val="True"/>
  <p:tag name="PPWINTOTALSEGMENTS" val="2"/>
</p:tagLst>
</file>

<file path=ppt/tags/tag104.xml><?xml version="1.0" encoding="utf-8"?>
<p:tagLst xmlns:a="http://schemas.openxmlformats.org/drawingml/2006/main" xmlns:r="http://schemas.openxmlformats.org/officeDocument/2006/relationships" xmlns:p="http://schemas.openxmlformats.org/presentationml/2006/main">
  <p:tag name="PPWINSEGMENT1START" val="1"/>
  <p:tag name="PPWINSEGMENT1LENGTH" val="27"/>
  <p:tag name="PPWINSEGMENT1SOURCERTF" val="{\rtf1\ansi\deff0{\fonttbl{\f0\fcharset0 Arial Narrow;}}{\colortbl\red0\green0\blue0;}{\f0\fs44\b\cf0 Recommended method for user \par}}"/>
  <p:tag name="PPWINSEGMENT1TARGETRTF" val="{\rtf1\ansi\deff1{\fonttbl{\f1\fcharset0 Arial;}{\f2\fcharset0 Arial Narrow;}}{\colortbl\red0\green0\blue0;}{\f2\fs44\b\cf0 La m\'E9thode recommand\'E9e pour\par}}"/>
  <p:tag name="PPWINSEGMENT2START" val="29"/>
  <p:tag name="PPWINSEGMENT2LENGTH" val="87"/>
  <p:tag name="PPWINSEGMENT2SOURCERTF" val="{\rtf1\ansi\deff0{\fonttbl{\f0\fcharset0 Arial Narrow;}}{\colortbl\red0\green0\blue0;}{\f0\fs44\b\cf0 authentication is by using smart card certificates\par}}"/>
  <p:tag name="PPWINSEGMENT2TARGETRTF" val="{\rtf1\ansi\deff1{\fonttbl{\f1\fcharset0 Arial;}{\f2\fcharset0 Arial Narrow;}}{\colortbl\red0\green0\blue0;}{\f2\fs44\b\cf0 l'authentification des utilisateurs est de faire appel aux certificats de cartes \'E0 puce\par}}"/>
  <p:tag name="PPWINLASTSAVEDTRANSLATION" val="La méthode recommandée pour&#10;l'authentification des utilisateurs est de faire appel aux certificats de cartes à puce"/>
  <p:tag name="PPWINALREADYSEGMENTED" val="True"/>
  <p:tag name="PPWINTOTALSEGMENTS" val="2"/>
</p:tagLst>
</file>

<file path=ppt/tags/tag105.xml><?xml version="1.0" encoding="utf-8"?>
<p:tagLst xmlns:a="http://schemas.openxmlformats.org/drawingml/2006/main" xmlns:r="http://schemas.openxmlformats.org/officeDocument/2006/relationships" xmlns:p="http://schemas.openxmlformats.org/presentationml/2006/main">
  <p:tag name="PPWINSEGMENT1START" val="1"/>
  <p:tag name="PPWINSEGMENT1LENGTH" val="27"/>
  <p:tag name="PPWINSEGMENT1SOURCERTF" val="{\rtf1\ansi\deff0{\fonttbl{\f0\fcharset0 Arial Narrow;}}{\colortbl\red0\green0\blue0;}{\f0\fs44\b\cf0 Recommended method for user \par}}"/>
  <p:tag name="PPWINSEGMENT1TARGETRTF" val="{\rtf1\ansi\deff1{\fonttbl{\f1\fcharset0 Arial;}{\f2\fcharset0 Arial Narrow;}}{\colortbl\red0\green0\blue0;}{\f2\fs44\b\cf0 La m\'E9thode recommand\'E9e pour\par}}"/>
  <p:tag name="PPWINSEGMENT2START" val="29"/>
  <p:tag name="PPWINSEGMENT2LENGTH" val="87"/>
  <p:tag name="PPWINSEGMENT2SOURCERTF" val="{\rtf1\ansi\deff0{\fonttbl{\f0\fcharset0 Arial Narrow;}}{\colortbl\red0\green0\blue0;}{\f0\fs44\b\cf0 authentication is by using smart card certificates\par}}"/>
  <p:tag name="PPWINSEGMENT2TARGETRTF" val="{\rtf1\ansi\deff1{\fonttbl{\f1\fcharset0 Arial;}{\f2\fcharset0 Arial Narrow;}}{\colortbl\red0\green0\blue0;}{\f2\fs44\b\cf0 l'authentification des utilisateurs est de faire appel aux certificats de cartes \'E0 puce\par}}"/>
  <p:tag name="PPWINLASTSAVEDTRANSLATION" val="La méthode recommandée pour&#10;l'authentification des utilisateurs est de faire appel aux certificats de cartes à puce"/>
  <p:tag name="PPWINALREADYSEGMENTED" val="True"/>
  <p:tag name="PPWINTOTALSEGMENTS" val="2"/>
</p:tagLst>
</file>

<file path=ppt/tags/tag106.xml><?xml version="1.0" encoding="utf-8"?>
<p:tagLst xmlns:a="http://schemas.openxmlformats.org/drawingml/2006/main" xmlns:r="http://schemas.openxmlformats.org/officeDocument/2006/relationships" xmlns:p="http://schemas.openxmlformats.org/presentationml/2006/main">
  <p:tag name="PPWINSEGMENT1START" val="1"/>
  <p:tag name="PPWINSEGMENT1LENGTH" val="27"/>
  <p:tag name="PPWINSEGMENT1SOURCERTF" val="{\rtf1\ansi\deff0{\fonttbl{\f0\fcharset0 Arial Narrow;}}{\colortbl\red0\green0\blue0;}{\f0\fs44\b\cf0 Recommended method for user \par}}"/>
  <p:tag name="PPWINSEGMENT1TARGETRTF" val="{\rtf1\ansi\deff1{\fonttbl{\f1\fcharset0 Arial;}{\f2\fcharset0 Arial Narrow;}}{\colortbl\red0\green0\blue0;}{\f2\fs44\b\cf0 La m\'E9thode recommand\'E9e pour\par}}"/>
  <p:tag name="PPWINSEGMENT2START" val="29"/>
  <p:tag name="PPWINSEGMENT2LENGTH" val="87"/>
  <p:tag name="PPWINSEGMENT2SOURCERTF" val="{\rtf1\ansi\deff0{\fonttbl{\f0\fcharset0 Arial Narrow;}}{\colortbl\red0\green0\blue0;}{\f0\fs44\b\cf0 authentication is by using smart card certificates\par}}"/>
  <p:tag name="PPWINSEGMENT2TARGETRTF" val="{\rtf1\ansi\deff1{\fonttbl{\f1\fcharset0 Arial;}{\f2\fcharset0 Arial Narrow;}}{\colortbl\red0\green0\blue0;}{\f2\fs44\b\cf0 l'authentification des utilisateurs est de faire appel aux certificats de cartes \'E0 puce\par}}"/>
  <p:tag name="PPWINLASTSAVEDTRANSLATION" val="La méthode recommandée pour&#10;l'authentification des utilisateurs est de faire appel aux certificats de cartes à puce"/>
  <p:tag name="PPWINALREADYSEGMENTED" val="True"/>
  <p:tag name="PPWINTOTALSEGMENTS" val="2"/>
</p:tagLst>
</file>

<file path=ppt/tags/tag107.xml><?xml version="1.0" encoding="utf-8"?>
<p:tagLst xmlns:a="http://schemas.openxmlformats.org/drawingml/2006/main" xmlns:r="http://schemas.openxmlformats.org/officeDocument/2006/relationships" xmlns:p="http://schemas.openxmlformats.org/presentationml/2006/main">
  <p:tag name="PPWINSEGMENT1START" val="1"/>
  <p:tag name="PPWINSEGMENT1LENGTH" val="27"/>
  <p:tag name="PPWINSEGMENT1SOURCERTF" val="{\rtf1\ansi\deff0{\fonttbl{\f0\fcharset0 Arial Narrow;}}{\colortbl\red0\green0\blue0;}{\f0\fs44\b\cf0 Recommended method for user \par}}"/>
  <p:tag name="PPWINSEGMENT1TARGETRTF" val="{\rtf1\ansi\deff1{\fonttbl{\f1\fcharset0 Arial;}{\f2\fcharset0 Arial Narrow;}}{\colortbl\red0\green0\blue0;}{\f2\fs44\b\cf0 La m\'E9thode recommand\'E9e pour\par}}"/>
  <p:tag name="PPWINSEGMENT2START" val="29"/>
  <p:tag name="PPWINSEGMENT2LENGTH" val="87"/>
  <p:tag name="PPWINSEGMENT2SOURCERTF" val="{\rtf1\ansi\deff0{\fonttbl{\f0\fcharset0 Arial Narrow;}}{\colortbl\red0\green0\blue0;}{\f0\fs44\b\cf0 authentication is by using smart card certificates\par}}"/>
  <p:tag name="PPWINSEGMENT2TARGETRTF" val="{\rtf1\ansi\deff1{\fonttbl{\f1\fcharset0 Arial;}{\f2\fcharset0 Arial Narrow;}}{\colortbl\red0\green0\blue0;}{\f2\fs44\b\cf0 l'authentification des utilisateurs est de faire appel aux certificats de cartes \'E0 puce\par}}"/>
  <p:tag name="PPWINLASTSAVEDTRANSLATION" val="La méthode recommandée pour&#10;l'authentification des utilisateurs est de faire appel aux certificats de cartes à puce"/>
  <p:tag name="PPWINALREADYSEGMENTED" val="True"/>
  <p:tag name="PPWINTOTALSEGMENTS" val="2"/>
</p:tagLst>
</file>

<file path=ppt/tags/tag108.xml><?xml version="1.0" encoding="utf-8"?>
<p:tagLst xmlns:a="http://schemas.openxmlformats.org/drawingml/2006/main" xmlns:r="http://schemas.openxmlformats.org/officeDocument/2006/relationships" xmlns:p="http://schemas.openxmlformats.org/presentationml/2006/main">
  <p:tag name="PPWINSEGMENT1START" val="1"/>
  <p:tag name="PPWINSEGMENT1LENGTH" val="27"/>
  <p:tag name="PPWINSEGMENT1SOURCERTF" val="{\rtf1\ansi\deff0{\fonttbl{\f0\fcharset0 Arial Narrow;}}{\colortbl\red0\green0\blue0;}{\f0\fs44\b\cf0 Recommended method for user \par}}"/>
  <p:tag name="PPWINSEGMENT1TARGETRTF" val="{\rtf1\ansi\deff1{\fonttbl{\f1\fcharset0 Arial;}{\f2\fcharset0 Arial Narrow;}}{\colortbl\red0\green0\blue0;}{\f2\fs44\b\cf0 La m\'E9thode recommand\'E9e pour\par}}"/>
  <p:tag name="PPWINSEGMENT2START" val="29"/>
  <p:tag name="PPWINSEGMENT2LENGTH" val="87"/>
  <p:tag name="PPWINSEGMENT2SOURCERTF" val="{\rtf1\ansi\deff0{\fonttbl{\f0\fcharset0 Arial Narrow;}}{\colortbl\red0\green0\blue0;}{\f0\fs44\b\cf0 authentication is by using smart card certificates\par}}"/>
  <p:tag name="PPWINSEGMENT2TARGETRTF" val="{\rtf1\ansi\deff1{\fonttbl{\f1\fcharset0 Arial;}{\f2\fcharset0 Arial Narrow;}}{\colortbl\red0\green0\blue0;}{\f2\fs44\b\cf0 l'authentification des utilisateurs est de faire appel aux certificats de cartes \'E0 puce\par}}"/>
  <p:tag name="PPWINLASTSAVEDTRANSLATION" val="La méthode recommandée pour&#10;l'authentification des utilisateurs est de faire appel aux certificats de cartes à puce"/>
  <p:tag name="PPWINALREADYSEGMENTED" val="True"/>
  <p:tag name="PPWINTOTALSEGMENTS" val="2"/>
</p:tagLst>
</file>

<file path=ppt/tags/tag109.xml><?xml version="1.0" encoding="utf-8"?>
<p:tagLst xmlns:a="http://schemas.openxmlformats.org/drawingml/2006/main" xmlns:r="http://schemas.openxmlformats.org/officeDocument/2006/relationships" xmlns:p="http://schemas.openxmlformats.org/presentationml/2006/main">
  <p:tag name="PPWINTOTALSEGMENTS" val="0"/>
</p:tagLst>
</file>

<file path=ppt/tags/tag110.xml><?xml version="1.0" encoding="utf-8"?>
<p:tagLst xmlns:a="http://schemas.openxmlformats.org/drawingml/2006/main" xmlns:r="http://schemas.openxmlformats.org/officeDocument/2006/relationships" xmlns:p="http://schemas.openxmlformats.org/presentationml/2006/main">
  <p:tag name="PPWINSEGMENT1START" val="1"/>
  <p:tag name="PPWINSEGMENT1LENGTH" val="45"/>
  <p:tag name="PPWINSEGMENT1SOURCERTF" val="{\rtf1\ansi\deff0{\fonttbl{\f0\fcharset0 Arial Narrow;}}{\colortbl\red0\green0\blue0;}{\f0\fs60\b\cf0 Encryption Protocols for a VPN Connection\par}}"/>
  <p:tag name="PPWINSEGMENT1TARGETRTF" val="{\rtf1\ansi\deff1{\fonttbl{\f1\fcharset0 Arial;}{\f2\fcharset0 Arial Narrow;}}{\colortbl\red0\green0\blue0;}{\f2\fs60\b\cf0 Protocoles de cryptage pour une connexion VPN\par}}"/>
  <p:tag name="PPWINLASTSAVEDTRANSLATION" val="Protocoles de cryptage pour une connexion VPN"/>
  <p:tag name="PPWINALREADYSEGMENTED" val="True"/>
  <p:tag name="PPWINTOTALSEGMENTS" val="1"/>
</p:tagLst>
</file>

<file path=ppt/tags/tag111.xml><?xml version="1.0" encoding="utf-8"?>
<p:tagLst xmlns:a="http://schemas.openxmlformats.org/drawingml/2006/main" xmlns:r="http://schemas.openxmlformats.org/officeDocument/2006/relationships" xmlns:p="http://schemas.openxmlformats.org/presentationml/2006/main">
  <p:tag name="PPWINTOTALSEGMENTS" val="0"/>
</p:tagLst>
</file>

<file path=ppt/tags/tag112.xml><?xml version="1.0" encoding="utf-8"?>
<p:tagLst xmlns:a="http://schemas.openxmlformats.org/drawingml/2006/main" xmlns:r="http://schemas.openxmlformats.org/officeDocument/2006/relationships" xmlns:p="http://schemas.openxmlformats.org/presentationml/2006/main">
  <p:tag name="PPWINSEGMENT1START" val="1"/>
  <p:tag name="PPWINSEGMENT1LENGTH" val="45"/>
  <p:tag name="PPWINSEGMENT1SOURCERTF" val="{\rtf1\ansi\deff0{\fonttbl{\f0\fcharset0 Arial Narrow;}}{\colortbl\red0\green0\blue0;}{\f0\fs60\b\cf0 Encryption Protocols for a VPN Connection\par}}"/>
  <p:tag name="PPWINSEGMENT1TARGETRTF" val="{\rtf1\ansi\deff1{\fonttbl{\f1\fcharset0 Arial;}{\f2\fcharset0 Arial Narrow;}}{\colortbl\red0\green0\blue0;}{\f2\fs60\b\cf0 Protocoles de cryptage pour une connexion VPN\par}}"/>
  <p:tag name="PPWINLASTSAVEDTRANSLATION" val="Protocoles de cryptage pour une connexion VPN"/>
  <p:tag name="PPWINALREADYSEGMENTED" val="True"/>
  <p:tag name="PPWINTOTALSEGMENTS" val="1"/>
</p:tagLst>
</file>

<file path=ppt/tags/tag113.xml><?xml version="1.0" encoding="utf-8"?>
<p:tagLst xmlns:a="http://schemas.openxmlformats.org/drawingml/2006/main" xmlns:r="http://schemas.openxmlformats.org/officeDocument/2006/relationships" xmlns:p="http://schemas.openxmlformats.org/presentationml/2006/main">
  <p:tag name="PPWINSEGMENT1START" val="1"/>
  <p:tag name="PPWINSEGMENT1LENGTH" val="41"/>
  <p:tag name="PPWINSEGMENT1SOURCERTF" val="{\rtf1\ansi\deff0{\fonttbl{\f0\fcharset0 Arial Narrow;}}{\colortbl\red0\green0\blue0;}{\f0\fs52\b\cf0 Configuration Requirements for a VPN Server\par}}"/>
  <p:tag name="PPWINSEGMENT1TARGETRTF" val="{\rtf1\ansi\deff1{\fonttbl{\f1\fcharset0 Arial;}{\f2\fcharset0 Arial Narrow;}}{\colortbl\red0\green0\blue0;}{\f2\fs52\b\cf0 Configuration requise pour un serveur VPN\par}}"/>
  <p:tag name="PPWINLASTSAVEDTRANSLATION" val="Configuration requise pour un serveur VPN"/>
  <p:tag name="PPWINALREADYSEGMENTED" val="True"/>
  <p:tag name="PPWINTOTALSEGMENTS" val="1"/>
</p:tagLst>
</file>

<file path=ppt/tags/tag114.xml><?xml version="1.0" encoding="utf-8"?>
<p:tagLst xmlns:a="http://schemas.openxmlformats.org/drawingml/2006/main" xmlns:r="http://schemas.openxmlformats.org/officeDocument/2006/relationships" xmlns:p="http://schemas.openxmlformats.org/presentationml/2006/main">
  <p:tag name="PPWINSEGMENT1START" val="1"/>
  <p:tag name="PPWINSEGMENT1LENGTH" val="118"/>
  <p:tag name="PPWINSEGMENT1SOURCERTF" val="{\rtf1\ansi\deff0{\fonttbl{\f0\fcharset0 Arial Narrow;}}{\colortbl\red0\green0\blue0;}{\f0\fs44\b\cf0 Identify which network interface connects to the Internet and which network interface connects to your private network \par}}"/>
  <p:tag name="PPWINSEGMENT1TARGETRTF" val="{\rtf1\ansi\deff1{\fonttbl{\f1\fcharset0 Arial;}{\f2\fcharset0 Arial Narrow;}}{\colortbl\red0\green0\blue0;}{\f2\fs44\b\cf0 Identifier l'interface r\'E9seau qui assure la connexion \'E0 Internet et celle qui assure la connexion \'E0 votre r\'E9seau priv\'E9\par}}"/>
  <p:tag name="PPWINSEGMENT2START" val="120"/>
  <p:tag name="PPWINSEGMENT2LENGTH" val="87"/>
  <p:tag name="PPWINSEGMENT2SOURCERTF" val="{\rtf1\ansi\deff0{\fonttbl{\f0\fcharset0 Arial Narrow;}}{\colortbl\red0\green0\blue0;}{\f0\fs44\b\cf0 Identify whether clients receive IP addresses from a DHCP server or the VPN server\par}}"/>
  <p:tag name="PPWINSEGMENT2TARGETRTF" val="{\rtf1\ansi\deff1{\fonttbl{\f1\fcharset0 Arial;}{\f2\fcharset0 Arial Narrow;}}{\colortbl\red0\green0\blue0;}{\f2\fs44\b\cf0 D\'E9terminer si les clients re\'E7oivent des adresses IP d'un serveur DHCP ou du serveur VPN\par}}"/>
  <p:tag name="PPWINSEGMENT3START" val="208"/>
  <p:tag name="PPWINSEGMENT3LENGTH" val="108"/>
  <p:tag name="PPWINSEGMENT3SOURCERTF" val="{\rtf1\ansi\deff0{\fonttbl{\f0\fcharset0 Arial Narrow;}}{\colortbl\red0\green0\blue0;}{\f0\fs44\b\cf0 Identify whether to authenticate connection requests by RADIUS or by the VPN server\par}}"/>
  <p:tag name="PPWINSEGMENT3TARGETRTF" val="{\rtf1\ansi\deff1{\fonttbl{\f1\fcharset0 Arial;}{\f2\fcharset0 Arial Narrow;}}{\colortbl\red0\green0\blue0;}{\f2\fs44\b\cf0 Indiquer si les demandes de connexion doivent \'EAtre authentifi\'E9es par un serveur RADIUS ou par le serveur VPN\par}}"/>
  <p:tag name="PPWINLASTSAVEDTRANSLATION" val="Identifier l'interface réseau qui assure la connexion à Internet et celle qui assure la connexion à votre réseau privé&#10;Déterminer si les clients reçoivent des adresses IP d'un serveur DHCP ou du serveur VPN&#10;Indiquer si les demandes de connexion doivent être authentifiées par un serveur RADIUS ou par le serveur VPN"/>
  <p:tag name="PPWINALREADYSEGMENTED" val="True"/>
  <p:tag name="PPWINTOTALSEGMENTS" val="3"/>
</p:tagLst>
</file>

<file path=ppt/tags/tag115.xml><?xml version="1.0" encoding="utf-8"?>
<p:tagLst xmlns:a="http://schemas.openxmlformats.org/drawingml/2006/main" xmlns:r="http://schemas.openxmlformats.org/officeDocument/2006/relationships" xmlns:p="http://schemas.openxmlformats.org/presentationml/2006/main">
  <p:tag name="PPWINTOTALSEGMENTS" val="0"/>
</p:tagLst>
</file>

<file path=ppt/tags/tag116.xml><?xml version="1.0" encoding="utf-8"?>
<p:tagLst xmlns:a="http://schemas.openxmlformats.org/drawingml/2006/main" xmlns:r="http://schemas.openxmlformats.org/officeDocument/2006/relationships" xmlns:p="http://schemas.openxmlformats.org/presentationml/2006/main">
  <p:tag name="PPWINSEGMENT1START" val="1"/>
  <p:tag name="PPWINSEGMENT1LENGTH" val="7"/>
  <p:tag name="PPWINSEGMENT1SOURCERTF" val="{\rtf1\ansi\deff0{\fonttbl{\f0\fcharset0 Arial Narrow;}}{\colortbl\red0\green0\blue0;}{\f0\fs60\b\cf0 Lesson:\par}}"/>
  <p:tag name="PPWINSEGMENT1TARGETRTF" val="{\rtf1\ansi\deff1{\fonttbl{\f1\fcharset0 Arial;}{\f2\fcharset0 Arial Narrow;}}{\colortbl\red0\green0\blue0;}{\f2\fs60\b\cf0 Le\'E7on :\par}}"/>
  <p:tag name="PPWINSEGMENT2START" val="9"/>
  <p:tag name="PPWINSEGMENT2LENGTH" val="48"/>
  <p:tag name="PPWINSEGMENT2SOURCERTF" val="{\rtf1\ansi\deff0{\fonttbl{\f0\fcharset0 Arial Narrow;}}{\colortbl\red0\green0\blue0;}{\f0\fs60\b\cf0 Configuring a Dial-up Connection\par}}"/>
  <p:tag name="PPWINSEGMENT2TARGETRTF" val="{\rtf1\ansi\deff1{\fonttbl{\f1\fcharset0 Arial;}{\f2\fcharset0 Arial Narrow;}}{\colortbl\red0\green0\blue0;}{\f2\fs60\b\cf0 Configuration d'une connexion d'acc\'E8s \'E0 distance\par}}"/>
  <p:tag name="PPWINLASTSAVEDTRANSLATION" val="Leçon : Configuration d'une connexion d'accès à distance"/>
  <p:tag name="PPWINALREADYSEGMENTED" val="True"/>
  <p:tag name="PPWINTOTALSEGMENTS" val="2"/>
</p:tagLst>
</file>

<file path=ppt/tags/tag117.xml><?xml version="1.0" encoding="utf-8"?>
<p:tagLst xmlns:a="http://schemas.openxmlformats.org/drawingml/2006/main" xmlns:r="http://schemas.openxmlformats.org/officeDocument/2006/relationships" xmlns:p="http://schemas.openxmlformats.org/presentationml/2006/main">
  <p:tag name="PPWINSEGMENT1START" val="1"/>
  <p:tag name="PPWINSEGMENT1LENGTH" val="46"/>
  <p:tag name="PPWINSEGMENT1SOURCERTF" val="{\rtf1\ansi\deff0{\fonttbl{\f0\fcharset0 Arial Narrow;}}{\colortbl\red0\green0\blue0;}{\f0\fs48\b\cf0 How Dial-up Network Access Works\par}}"/>
  <p:tag name="PPWINSEGMENT1TARGETRTF" val="{\rtf1\ansi\deff1{\fonttbl{\f1\fcharset0 Arial;}{\f2\fcharset0 Arial Narrow;}}{\colortbl\red0\green0\blue0;}{\f2\fs48\b\cf0 Comment fonctionne l'acc\'E8s r\'E9seau \'E0 distance ?\par}}"/>
  <p:tag name="PPWINSEGMENT2START" val="48"/>
  <p:tag name="PPWINSEGMENT2LENGTH" val="45"/>
  <p:tag name="PPWINSEGMENT2SOURCERTF" val="{\rtf1\ansi\deff0{\fonttbl{\f0\fcharset0 Arial Narrow;}}{\colortbl\red0\green0\blue0;}{\f0\fs48\b\cf0 Components of a Dial-up Connection \par}}"/>
  <p:tag name="PPWINSEGMENT2TARGETRTF" val="{\rtf1\ansi\deff1{\fonttbl{\f1\fcharset0 Arial;}{\f2\fcharset0 Arial Narrow;}}{\colortbl\red0\green0\blue0;}{\f2\fs48\b\cf0 Composants d'une connexion d'acc\'E8s \'E0 distance\par}}"/>
  <p:tag name="PPWINSEGMENT3START" val="94"/>
  <p:tag name="PPWINSEGMENT3LENGTH" val="77"/>
  <p:tag name="PPWINSEGMENT3SOURCERTF" val="{\rtf1\ansi\deff0{\fonttbl{\f0\fcharset0 Arial Narrow;}}{\colortbl\red0\green0\blue0;}{\f0\fs48\b\cf0 Authentication Methods for a Dial-up Connection \par}}"/>
  <p:tag name="PPWINSEGMENT3TARGETRTF" val="{\rtf1\ansi\deff1{\fonttbl{\f1\fcharset0 Arial;}{\f2\fcharset0 Arial Narrow;}}{\colortbl\red0\green0\blue0;}{\f2\fs48\b\cf0 M\'E9thodes d'authentification disponibles pour une connexion d'acc\'E8s \'E0 distance\par}}"/>
  <p:tag name="PPWINSEGMENT4START" val="172"/>
  <p:tag name="PPWINSEGMENT4LENGTH" val="53"/>
  <p:tag name="PPWINSEGMENT4SOURCERTF" val="{\rtf1\ansi\deff0{\fonttbl{\f0\fcharset0 Arial Narrow;}}{\colortbl\red0\green0\blue0;}{\f0\fs48\b\cf0 Configuration Requirements for a Remote Access Server\par}}"/>
  <p:tag name="PPWINSEGMENT4TARGETRTF" val="{\rtf1\ansi\deff1{\fonttbl{\f1\fcharset0 Arial;}{\f2\fcharset0 Arial Narrow;}}{\colortbl\red0\green0\blue0;}{\f2\fs48\b\cf0 Configuration requise pour un serveur d'acc\'E8s distant\par}}"/>
  <p:tag name="PPWINSEGMENT5START" val="226"/>
  <p:tag name="PPWINSEGMENT5LENGTH" val="83"/>
  <p:tag name="PPWINSEGMENT5SOURCERTF" val="{\rtf1\ansi\deff0{\fonttbl{\f0\fcharset0 Arial Narrow;}}{\colortbl\red0\green0\blue0;}{\f0\fs48\b\cf0 How to Configure a Remote Access Server for a Dial-up Connection \par}}"/>
  <p:tag name="PPWINSEGMENT5TARGETRTF" val="{\rtf1\ansi\deff1{\fonttbl{\f1\fcharset0 Arial;}{\f2\fcharset0 Arial Narrow;}}{\colortbl\red0\green0\blue0;}{\f2\fs48\b\cf0 Comment configurer un serveur d'acc\'E8s distant pour une connexion d'acc\'E8s \'E0 distance\par}}"/>
  <p:tag name="PPWINSEGMENT6START" val="310"/>
  <p:tag name="PPWINSEGMENT6LENGTH" val="82"/>
  <p:tag name="PPWINSEGMENT6SOURCERTF" val="{\rtf1\ansi\deff0{\fonttbl{\f0\fcharset0 Arial Narrow;}}{\colortbl\red0\green0\blue0;}{\f0\fs48\b\cf0 How to Configure a Remote Access Client for a Dial-up Connection \'A0\par}}"/>
  <p:tag name="PPWINSEGMENT6TARGETRTF" val="{\rtf1\ansi\deff1{\fonttbl{\f1\fcharset0 Arial;}{\f2\fcharset0 Arial Narrow;}}{\colortbl\red0\green0\blue0;}{\f2\fs48\b\cf0 Comment configurer un client d'acc\'E8s distant pour une connexion d'acc\'E8s \'E0 distance\par}}"/>
  <p:tag name="PPWINLASTSAVEDTRANSLATION" val="Comment fonctionne l'accès réseau à distance ?&#10;Composants d'une connexion d'accès à distance&#10;Méthodes d'authentification disponibles pour une connexion d'accès à distance&#10;Configuration requise pour un serveur d'accès distant&#10;Comment configurer un serveur d'accès distant pour une connexion d'accès à distance&#10;Comment configurer un client d'accès distant pour une connexion d'accès à distance"/>
  <p:tag name="PPWINALREADYSEGMENTED" val="True"/>
  <p:tag name="PPWINTOTALSEGMENTS" val="6"/>
</p:tagLst>
</file>

<file path=ppt/tags/tag118.xml><?xml version="1.0" encoding="utf-8"?>
<p:tagLst xmlns:a="http://schemas.openxmlformats.org/drawingml/2006/main" xmlns:r="http://schemas.openxmlformats.org/officeDocument/2006/relationships" xmlns:p="http://schemas.openxmlformats.org/presentationml/2006/main">
  <p:tag name="PPWINTOTALSEGMENTS" val="0"/>
</p:tagLst>
</file>

<file path=ppt/tags/tag119.xml><?xml version="1.0" encoding="utf-8"?>
<p:tagLst xmlns:a="http://schemas.openxmlformats.org/drawingml/2006/main" xmlns:r="http://schemas.openxmlformats.org/officeDocument/2006/relationships" xmlns:p="http://schemas.openxmlformats.org/presentationml/2006/main">
  <p:tag name="PPWINSEGMENT1START" val="1"/>
  <p:tag name="PPWINSEGMENT1LENGTH" val="46"/>
  <p:tag name="PPWINSEGMENT1SOURCERTF" val="{\rtf1\ansi\deff0{\fonttbl{\f0\fcharset0 Arial Narrow;}}{\colortbl\red0\green0\blue0;}{\f0\fs60\b\cf0 How Dial-up Network Access Works\par}}"/>
  <p:tag name="PPWINLASTSAVEDTRANSLATION" val="Comment fonctionne l'accès réseau à distance ?"/>
  <p:tag name="PPWINALREADYSEGMENTED" val="True"/>
  <p:tag name="PPWINTOTALSEGMENTS" val="1"/>
  <p:tag name="PPWINSEGMENT1TARGETRTF" val="{\rtf1\ansi\deff0{\fonttbl{\f0\fcharset0 Arial Narrow;}}{\colortbl\red0\green0\blue0;}{\f0\fs60\b\cf0 Comment fonctionne l'acc\'E8s r\'E9seau \'E0 distance ?\par}}"/>
</p:tagLst>
</file>

<file path=ppt/tags/tag120.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
  <p:tag name="PPWINSEGMENT1SOURCERTF" val="{\rtf1\ansi\deff0{\fonttbl{\f0\fcharset0 Arial Narrow;}}{\colortbl\red0\green0\blue0;}{\f0\fs36\b\cf0 Domain\par}}"/>
  <p:tag name="PPWINSEGMENT2START" val="12"/>
  <p:tag name="PPWINSEGMENT2LENGTH" val="10"/>
  <p:tag name="PPWINSEGMENT2SOURCERTF" val="{\rtf1\ansi\deff0{\fonttbl{\f0\fcharset0 Arial Narrow;}}{\colortbl\red0\green0\blue0;}{\f0\fs36\b\cf0 Controller \par}}"/>
  <p:tag name="PPWINLASTSAVEDTRANSLATION" val="Contrôleur&#10;de domaine"/>
  <p:tag name="PPWINALREADYSEGMENTED" val="True"/>
  <p:tag name="PPWINTOTALSEGMENTS" val="2"/>
  <p:tag name="PPWINSEGMENT1TARGETRTF" val="{\rtf1\ansi\deff0{\fonttbl{\f0\fcharset0 Arial Narrow;}}{\colortbl\red0\green0\blue0;}{\f0\fs36\b\cf0 Contr\'F4leur\par}}"/>
  <p:tag name="PPWINSEGMENT2TARGETRTF" val="{\rtf1\ansi\deff0{\fonttbl{\f0\fcharset0 Arial Narrow;}}{\colortbl\red0\green0\blue0;}{\f0\fs36\b\cf0 de domaine\par}}"/>
</p:tagLst>
</file>

<file path=ppt/tags/tag121.xml><?xml version="1.0" encoding="utf-8"?>
<p:tagLst xmlns:a="http://schemas.openxmlformats.org/drawingml/2006/main" xmlns:r="http://schemas.openxmlformats.org/officeDocument/2006/relationships" xmlns:p="http://schemas.openxmlformats.org/presentationml/2006/main">
  <p:tag name="PPWINSEGMENT1START" val="1"/>
  <p:tag name="PPWINSEGMENT1LENGTH" val="25"/>
  <p:tag name="PPWINSEGMENT1SOURCERTF" val="{\rtf1\ansi\deff0{\fonttbl{\f0\fcharset0 Arial Narrow;}}{\colortbl\red0\green0\blue0;}{\f0\fs36\b\cf0 Dial-up}{\f0\fs36\cf0  }{\f0\fs36\b\cf0 Client\par}}"/>
  <p:tag name="PPWINSEGMENT1TARGETRTF" val="{\rtf1\ansi\deff1{\fonttbl{\f1\fcharset0 Arial;}{\f2\fcharset0 Arial Narrow;}}{\colortbl\red0\green0\blue0;}{\f2\fs36\b\cf0 Client d'acc\'E8s \'E0 distance}{\f2\fs36\cf0 \par}}"/>
  <p:tag name="PPWINLASTSAVEDTRANSLATION" val="Client d'accès à distance"/>
  <p:tag name="PPWINALREADYSEGMENTED" val="True"/>
  <p:tag name="PPWINTOTALSEGMENTS" val="1"/>
</p:tagLst>
</file>

<file path=ppt/tags/tag122.xml><?xml version="1.0" encoding="utf-8"?>
<p:tagLst xmlns:a="http://schemas.openxmlformats.org/drawingml/2006/main" xmlns:r="http://schemas.openxmlformats.org/officeDocument/2006/relationships" xmlns:p="http://schemas.openxmlformats.org/presentationml/2006/main">
  <p:tag name="PPWINSEGMENT1START" val="1"/>
  <p:tag name="PPWINSEGMENT1LENGTH" val="237"/>
  <p:tag name="PPWINSEGMENT1SOURCERTF" val="{\rtf1\ansi\deff0{\fonttbl{\f0\fcharset0 Arial Narrow;}}{\colortbl\red0\green0\blue0;}{\f0\fs44\b\i\cf0 Dial-up networking}{\f0\fs44\b\cf0  is the process of a remote access client making a temporary dial-up connection to a physical port on a remote access server by using the service of a telecommunications provider  \par}}"/>
  <p:tag name="PPWINLASTSAVEDTRANSLATION" val="L'accès réseau à distance est une procédure par laquelle un client d'accès distant établit une connexion temporaire à un port physique situé sur un serveur d'accès distant en utilisant les services d'un fournisseur de télécommunications."/>
  <p:tag name="PPWINALREADYSEGMENTED" val="True"/>
  <p:tag name="PPWINTOTALSEGMENTS" val="1"/>
  <p:tag name="PPWINSEGMENT1TARGETRTF" val="{\rtf1\ansi\deff0{\fonttbl{\f0\fcharset0 Arial Narrow;}}{\colortbl\red0\green0\blue0;}{\f0\fs44\b\cf0 L'}{\f0\fs44\b\i\cf0 acc\'E8s r\'E9seau \'E0 distance }{\f0\fs44\b\cf0 est une proc\'E9dure par laquelle un client d'acc\'E8s distant \'E9tablit une connexion temporaire \'E0 un port physique situ\'E9 sur un serveur d'acc\'E8s distant en utilisant les services d'un fournisseur de t\'E9l\'E9communications.\par}}"/>
</p:tagLst>
</file>

<file path=ppt/tags/tag123.xml><?xml version="1.0" encoding="utf-8"?>
<p:tagLst xmlns:a="http://schemas.openxmlformats.org/drawingml/2006/main" xmlns:r="http://schemas.openxmlformats.org/officeDocument/2006/relationships" xmlns:p="http://schemas.openxmlformats.org/presentationml/2006/main">
  <p:tag name="PPWINSEGMENT1START" val="1"/>
  <p:tag name="PPWINSEGMENT1LENGTH" val="23"/>
  <p:tag name="PPWINSEGMENT1SOURCERTF" val="{\rtf1\ansi\deff0{\fonttbl{\f0\fcharset0 Arial Narrow;}}{\colortbl\red0\green0\blue0;}{\f0\fs36\b\cf0 Remote Access \line}{\f0\fs36\b\cf0 Server\par}}"/>
  <p:tag name="PPWINLASTSAVEDTRANSLATION" val="Serveur d'accèsdistant"/>
  <p:tag name="PPWINALREADYSEGMENTED" val="True"/>
  <p:tag name="PPWINTOTALSEGMENTS" val="1"/>
  <p:tag name="PPWINSEGMENT1TARGETRTF" val="{\rtf1\ansi\deff0{\fonttbl{\f0\fcharset0 Arial Narrow;}}{\colortbl\red0\green0\blue0;}{\f0\fs36\b\cf0 Serveur d'acc\'E8s\line}{\f0\fs36\b\cf0 distant\par}}"/>
</p:tagLst>
</file>

<file path=ppt/tags/tag124.xml><?xml version="1.0" encoding="utf-8"?>
<p:tagLst xmlns:a="http://schemas.openxmlformats.org/drawingml/2006/main" xmlns:r="http://schemas.openxmlformats.org/officeDocument/2006/relationships" xmlns:p="http://schemas.openxmlformats.org/presentationml/2006/main">
  <p:tag name="PPWINTOTALSEGMENTS" val="0"/>
</p:tagLst>
</file>

<file path=ppt/tags/tag125.xml><?xml version="1.0" encoding="utf-8"?>
<p:tagLst xmlns:a="http://schemas.openxmlformats.org/drawingml/2006/main" xmlns:r="http://schemas.openxmlformats.org/officeDocument/2006/relationships" xmlns:p="http://schemas.openxmlformats.org/presentationml/2006/main">
  <p:tag name="PPWINSEGMENT1START" val="1"/>
  <p:tag name="PPWINSEGMENT1LENGTH" val="45"/>
  <p:tag name="PPWINSEGMENT1SOURCERTF" val="{\rtf1\ansi\deff0{\fonttbl{\f0\fcharset0 Arial Narrow;}}{\colortbl\red0\green0\blue0;}{\f0\fs60\b\cf0 Components of a Dial-up Connection\par}}"/>
  <p:tag name="PPWINSEGMENT1TARGETRTF" val="{\rtf1\ansi\deff1{\fonttbl{\f1\fcharset0 Arial;}{\f2\fcharset0 Arial Narrow;}}{\colortbl\red0\green0\blue0;}{\f2\fs60\b\cf0 Composants d'une connexion d'acc\'E8s \'E0 distance\par}}"/>
  <p:tag name="PPWINLASTSAVEDTRANSLATION" val="Composants d'une connexion d'accès à distance"/>
  <p:tag name="PPWINALREADYSEGMENTED" val="True"/>
  <p:tag name="PPWINTOTALSEGMENTS" val="1"/>
</p:tagLst>
</file>

<file path=ppt/tags/tag126.xml><?xml version="1.0" encoding="utf-8"?>
<p:tagLst xmlns:a="http://schemas.openxmlformats.org/drawingml/2006/main" xmlns:r="http://schemas.openxmlformats.org/officeDocument/2006/relationships" xmlns:p="http://schemas.openxmlformats.org/presentationml/2006/main">
  <p:tag name="PPTAGGERGROUP" val="1"/>
  <p:tag name="PPWINTOTALSEGMENTS" val="0"/>
</p:tagLst>
</file>

<file path=ppt/tags/tag127.xml><?xml version="1.0" encoding="utf-8"?>
<p:tagLst xmlns:a="http://schemas.openxmlformats.org/drawingml/2006/main" xmlns:r="http://schemas.openxmlformats.org/officeDocument/2006/relationships" xmlns:p="http://schemas.openxmlformats.org/presentationml/2006/main">
  <p:tag name="PPTAGGERGROUP" val="1"/>
</p:tagLst>
</file>

<file path=ppt/tags/tag128.xml><?xml version="1.0" encoding="utf-8"?>
<p:tagLst xmlns:a="http://schemas.openxmlformats.org/drawingml/2006/main" xmlns:r="http://schemas.openxmlformats.org/officeDocument/2006/relationships" xmlns:p="http://schemas.openxmlformats.org/presentationml/2006/main">
  <p:tag name="PPTAGGERGROUP" val="1"/>
</p:tagLst>
</file>

<file path=ppt/tags/tag129.xml><?xml version="1.0" encoding="utf-8"?>
<p:tagLst xmlns:a="http://schemas.openxmlformats.org/drawingml/2006/main" xmlns:r="http://schemas.openxmlformats.org/officeDocument/2006/relationships" xmlns:p="http://schemas.openxmlformats.org/presentationml/2006/main">
  <p:tag name="PPTAGGERGROUP" val="1"/>
</p:tagLst>
</file>

<file path=ppt/tags/tag130.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46"/>
  <p:tag name="PPWINSEGMENT1SOURCERTF" val="{\rtf1\ansi\deff0{\fonttbl{\f0\fcharset0 Arial Narrow;}}{\colortbl\red0\green0\blue0;}{\f0\fs36\b\cf0 Address and Name Server Allocation\par}}"/>
  <p:tag name="PPWINSEGMENT1TARGETRTF" val="{\rtf1\ansi\deff1{\fonttbl{\f1\fcharset0 Arial;}{\f2\fcharset0 Arial Narrow;}}{\colortbl\red0\green0\blue0;}{\f2\fs36\b\cf0 Attribution d'un serveur de noms et d'adresses\par}}"/>
  <p:tag name="PPWINLASTSAVEDTRANSLATION" val="Attribution d'un serveur de noms et d'adresses"/>
  <p:tag name="PPWINALREADYSEGMENTED" val="True"/>
  <p:tag name="PPWINTOTALSEGMENTS" val="1"/>
</p:tagLst>
</file>

<file path=ppt/tags/tag131.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7"/>
  <p:tag name="PPWINSEGMENT1SOURCERTF" val="{\rtf1\ansi\deff0{\fonttbl{\f0\fcharset0 Arial Narrow;}}{\colortbl\red0\green0\blue0;}{\f0\fs36\b\cf0 DHCP\par}}"/>
  <p:tag name="PPWINSEGMENT1TARGETRTF" val="{\rtf1\ansi\deff1{\fonttbl{\f1\fcharset0 Arial;}{\f2\fcharset0 Arial Narrow;}}{\colortbl\red0\green0\blue0;}{\f2\fs36\b\cf0 Serveur\par}}"/>
  <p:tag name="PPWINSEGMENT2START" val="9"/>
  <p:tag name="PPWINSEGMENT2LENGTH" val="15"/>
  <p:tag name="PPWINSEGMENT2SOURCERTF" val="{\rtf1\ansi\deff0{\fonttbl{\f0\fcharset0 Arial Narrow;}}{\colortbl\red0\green0\blue0;}{\f0\fs36\b\cf0 Server\par}}"/>
  <p:tag name="PPWINSEGMENT2TARGETRTF" val="{\rtf1\ansi\deff1{\fonttbl{\f1\fcharset0 Arial;}{\f2\fcharset0 Arial Narrow;}}{\colortbl\red0\green0\blue0;}{\f2\fs36\b\cf0 d'acc\'E8s distant\par}}"/>
  <p:tag name="PPWINLASTSAVEDTRANSLATION" val="Serveur&#10;d'accès distant"/>
  <p:tag name="PPWINALREADYSEGMENTED" val="True"/>
  <p:tag name="PPWINTOTALSEGMENTS" val="2"/>
</p:tagLst>
</file>

<file path=ppt/tags/tag132.xml><?xml version="1.0" encoding="utf-8"?>
<p:tagLst xmlns:a="http://schemas.openxmlformats.org/drawingml/2006/main" xmlns:r="http://schemas.openxmlformats.org/officeDocument/2006/relationships" xmlns:p="http://schemas.openxmlformats.org/presentationml/2006/main">
  <p:tag name="PPTAGGERGROUP" val="1"/>
</p:tagLst>
</file>

<file path=ppt/tags/tag133.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10"/>
  <p:tag name="PPWINSEGMENT1SOURCERTF" val="{\rtf1\ansi\deff0{\fonttbl{\f0\fcharset0 Arial Narrow;}}{\colortbl\red0\green0\blue0;}{\f0\fs36\b\cf0 Domain\par}}"/>
  <p:tag name="PPWINSEGMENT1TARGETRTF" val="{\rtf1\ansi\deff1{\fonttbl{\f1\fcharset0 Arial;}{\f2\fcharset0 Arial Narrow;}}{\colortbl\red0\green0\blue0;}{\f2\fs36\b\cf0 Contr\'F4leur\par}}"/>
  <p:tag name="PPWINSEGMENT2START" val="12"/>
  <p:tag name="PPWINSEGMENT2LENGTH" val="10"/>
  <p:tag name="PPWINSEGMENT2SOURCERTF" val="{\rtf1\ansi\deff0{\fonttbl{\f0\fcharset0 Arial Narrow;}}{\colortbl\red0\green0\blue0;}{\f0\fs36\b\cf0 Controller \par}}"/>
  <p:tag name="PPWINSEGMENT2TARGETRTF" val="{\rtf1\ansi\deff1{\fonttbl{\f1\fcharset0 Arial;}{\f2\fcharset0 Arial Narrow;}}{\colortbl\red0\green0\blue0;}{\f2\fs36\b\cf0 de domaine\par}}"/>
  <p:tag name="PPWINLASTSAVEDTRANSLATION" val="Contrôleur&#10;de domaine"/>
  <p:tag name="PPWINALREADYSEGMENTED" val="True"/>
  <p:tag name="PPWINTOTALSEGMENTS" val="2"/>
</p:tagLst>
</file>

<file path=ppt/tags/tag134.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16"/>
  <p:tag name="PPWINSEGMENT1SOURCERTF" val="{\rtf1\ansi\deff0{\fonttbl{\f0\fcharset0 Arial Narrow;}}{\colortbl\red0\green0\blue0;}{\f0\fs36\b\cf0 Authentication\par}}"/>
  <p:tag name="PPWINSEGMENT1TARGETRTF" val="{\rtf1\ansi\deff1{\fonttbl{\f1\fcharset0 Arial;}{\f2\fcharset0 Arial Narrow;}}{\colortbl\red0\green0\blue0;}{\f2\fs36\b\cf0 Authentification\par}}"/>
  <p:tag name="PPWINLASTSAVEDTRANSLATION" val="Authentification"/>
  <p:tag name="PPWINALREADYSEGMENTED" val="True"/>
  <p:tag name="PPWINTOTALSEGMENTS" val="1"/>
</p:tagLst>
</file>

<file path=ppt/tags/tag135.xml><?xml version="1.0" encoding="utf-8"?>
<p:tagLst xmlns:a="http://schemas.openxmlformats.org/drawingml/2006/main" xmlns:r="http://schemas.openxmlformats.org/officeDocument/2006/relationships" xmlns:p="http://schemas.openxmlformats.org/presentationml/2006/main">
  <p:tag name="PPTAGGERGROUP" val="1"/>
</p:tagLst>
</file>

<file path=ppt/tags/tag136.xml><?xml version="1.0" encoding="utf-8"?>
<p:tagLst xmlns:a="http://schemas.openxmlformats.org/drawingml/2006/main" xmlns:r="http://schemas.openxmlformats.org/officeDocument/2006/relationships" xmlns:p="http://schemas.openxmlformats.org/presentationml/2006/main">
  <p:tag name="PPTAGGERGROUP" val="1"/>
</p:tagLst>
</file>

<file path=ppt/tags/tag137.xml><?xml version="1.0" encoding="utf-8"?>
<p:tagLst xmlns:a="http://schemas.openxmlformats.org/drawingml/2006/main" xmlns:r="http://schemas.openxmlformats.org/officeDocument/2006/relationships" xmlns:p="http://schemas.openxmlformats.org/presentationml/2006/main">
  <p:tag name="PPTAGGERGROUP" val="1"/>
</p:tagLst>
</file>

<file path=ppt/tags/tag138.xml><?xml version="1.0" encoding="utf-8"?>
<p:tagLst xmlns:a="http://schemas.openxmlformats.org/drawingml/2006/main" xmlns:r="http://schemas.openxmlformats.org/officeDocument/2006/relationships" xmlns:p="http://schemas.openxmlformats.org/presentationml/2006/main">
  <p:tag name="PPTAGGERGROUP" val="1"/>
</p:tagLst>
</file>

<file path=ppt/tags/tag139.xml><?xml version="1.0" encoding="utf-8"?>
<p:tagLst xmlns:a="http://schemas.openxmlformats.org/drawingml/2006/main" xmlns:r="http://schemas.openxmlformats.org/officeDocument/2006/relationships" xmlns:p="http://schemas.openxmlformats.org/presentationml/2006/main">
  <p:tag name="PPTAGGERGROUP" val="1"/>
</p:tagLst>
</file>

<file path=ppt/tags/tag140.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32"/>
  <p:tag name="PPWINSEGMENT1SOURCERTF" val="{\rtf1\ansi\deff0{\fonttbl{\f0\fcharset0 Arial Narrow;}}{\colortbl\red0\green0\blue0;}{\f0\fs36\b\cf0 WAN Options:\par}}"/>
  <p:tag name="PPWINSEGMENT1TARGETRTF" val="{\rtf1\ansi\deff1{\fonttbl{\f1\fcharset0 Arial;}{\f2\fcharset0 Arial Narrow;}}{\colortbl\red0\green0\blue0;}{\f2\fs36\b\cf0 Options de r\'E9seau \'E9tendu (WAN) :\par}}"/>
  <p:tag name="PPWINSEGMENT2START" val="34"/>
  <p:tag name="PPWINSEGMENT2LENGTH" val="17"/>
  <p:tag name="PPWINSEGMENT2SOURCERTF" val="{\rtf1\ansi\deff0{\fonttbl{\f0\fcharset0 Arial Narrow;}}{\colortbl\red0\green0\blue0;}{\f0\fs36\b\cf0 Telephone, ISDN, \par}}"/>
  <p:tag name="PPWINSEGMENT2TARGETRTF" val="{\rtf1\ansi\deff1{\fonttbl{\f1\fcharset0 Arial;}{\f2\fcharset0 Arial Narrow;}}{\colortbl\red0\green0\blue0;}{\f2\fs36\b\cf0 T\'E9l\'E9phone, RNIS, \par}}"/>
  <p:tag name="PPWINSEGMENT3START" val="52"/>
  <p:tag name="PPWINSEGMENT3LENGTH" val="11"/>
  <p:tag name="PPWINSEGMENT3SOURCERTF" val="{\rtf1\ansi\deff0{\fonttbl{\f0\fcharset0 Arial Narrow;}}{\colortbl\red0\green0\blue0;}{\f0\fs36\b\cf0 X.25, or ATM\par}}"/>
  <p:tag name="PPWINSEGMENT3TARGETRTF" val="{\rtf1\ansi\deff1{\fonttbl{\f1\fcharset0 Arial;}{\f2\fcharset0 Arial Narrow;}}{\colortbl\red0\green0\blue0;}{\f2\fs36\b\cf0 X.25 ou ATM\par}}"/>
  <p:tag name="PPWINLASTSAVEDTRANSLATION" val="Options de réseau étendu (WAN) :&#10;Téléphone, RNIS, &#10;X.25 ou ATM"/>
  <p:tag name="PPWINALREADYSEGMENTED" val="True"/>
  <p:tag name="PPWINTOTALSEGMENTS" val="3"/>
</p:tagLst>
</file>

<file path=ppt/tags/tag141.xml><?xml version="1.0" encoding="utf-8"?>
<p:tagLst xmlns:a="http://schemas.openxmlformats.org/drawingml/2006/main" xmlns:r="http://schemas.openxmlformats.org/officeDocument/2006/relationships" xmlns:p="http://schemas.openxmlformats.org/presentationml/2006/main">
  <p:tag name="PPTAGGERGROUP" val="1"/>
</p:tagLst>
</file>

<file path=ppt/tags/tag142.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26"/>
  <p:tag name="PPWINSEGMENT1SOURCERTF" val="{\rtf1\ansi\deff0{\fonttbl{\f0\fcharset0 Arial Narrow;}}{\colortbl\red0\green0\blue0;}{\f0\fs36\b\cf0 LAN and Remote Access\par}}"/>
  <p:tag name="PPWINSEGMENT1TARGETRTF" val="{\rtf1\ansi\deff1{\fonttbl{\f1\fcharset0 Arial;}{\f2\fcharset0 Arial Narrow;}}{\colortbl\red0\green0\blue0;}{\f2\fs36\b\cf0 Protocoles d'acc\'E8s distant\par}}"/>
  <p:tag name="PPWINSEGMENT2START" val="28"/>
  <p:tag name="PPWINSEGMENT2LENGTH" val="6"/>
  <p:tag name="PPWINSEGMENT2SOURCERTF" val="{\rtf1\ansi\deff0{\fonttbl{\f0\fcharset0 Arial Narrow;}}{\colortbl\red0\green0\blue0;}{\f0\fs36\b\cf0 Protocols\par}}"/>
  <p:tag name="PPWINSEGMENT2TARGETRTF" val="{\rtf1\ansi\deff1{\fonttbl{\f1\fcharset0 Arial;}{\f2\fcharset0 Arial Narrow;}}{\colortbl\red0\green0\blue0;}{\f2\fs36\b\cf0 et LAN\par}}"/>
  <p:tag name="PPWINLASTSAVEDTRANSLATION" val="Protocoles d'accès distant&#10;et LAN"/>
  <p:tag name="PPWINALREADYSEGMENTED" val="True"/>
  <p:tag name="PPWINTOTALSEGMENTS" val="2"/>
</p:tagLst>
</file>

<file path=ppt/tags/tag143.xml><?xml version="1.0" encoding="utf-8"?>
<p:tagLst xmlns:a="http://schemas.openxmlformats.org/drawingml/2006/main" xmlns:r="http://schemas.openxmlformats.org/officeDocument/2006/relationships" xmlns:p="http://schemas.openxmlformats.org/presentationml/2006/main">
  <p:tag name="PPWINSEGMENT1START" val="1"/>
  <p:tag name="PPWINSEGMENT1LENGTH" val="27"/>
  <p:tag name="PPWINSEGMENT1SOURCERTF" val="{\rtf1\ansi\deff0{\fonttbl{\f0\fcharset0 Arial Narrow;}}{\colortbl\red0\green0\blue0;}{\f0\fs44\b\cf0 Recommended method for user \par}}"/>
  <p:tag name="PPWINSEGMENT1TARGETRTF" val="{\rtf1\ansi\deff1{\fonttbl{\f1\fcharset0 Arial;}{\f2\fcharset0 Arial Narrow;}}{\colortbl\red0\green0\blue0;}{\f2\fs44\b\cf0 La m\'E9thode recommand\'E9e pour\par}}"/>
  <p:tag name="PPWINSEGMENT2START" val="29"/>
  <p:tag name="PPWINSEGMENT2LENGTH" val="87"/>
  <p:tag name="PPWINSEGMENT2SOURCERTF" val="{\rtf1\ansi\deff0{\fonttbl{\f0\fcharset0 Arial Narrow;}}{\colortbl\red0\green0\blue0;}{\f0\fs44\b\cf0 authentication is by using smart card certificates\par}}"/>
  <p:tag name="PPWINSEGMENT2TARGETRTF" val="{\rtf1\ansi\deff1{\fonttbl{\f1\fcharset0 Arial;}{\f2\fcharset0 Arial Narrow;}}{\colortbl\red0\green0\blue0;}{\f2\fs44\b\cf0 l'authentification des utilisateurs est de faire appel aux certificats de cartes \'E0 puce\par}}"/>
  <p:tag name="PPWINLASTSAVEDTRANSLATION" val="La méthode recommandée pour&#10;l'authentification des utilisateurs est de faire appel aux certificats de cartes à puce"/>
  <p:tag name="PPWINALREADYSEGMENTED" val="True"/>
  <p:tag name="PPWINTOTALSEGMENTS" val="2"/>
</p:tagLst>
</file>

<file path=ppt/tags/tag144.xml><?xml version="1.0" encoding="utf-8"?>
<p:tagLst xmlns:a="http://schemas.openxmlformats.org/drawingml/2006/main" xmlns:r="http://schemas.openxmlformats.org/officeDocument/2006/relationships" xmlns:p="http://schemas.openxmlformats.org/presentationml/2006/main">
  <p:tag name="PPWINSEGMENT1START" val="1"/>
  <p:tag name="PPWINSEGMENT1LENGTH" val="11"/>
  <p:tag name="PPWINSEGMENT1SOURCERTF" val="{\rtf1\ansi\deff0{\fonttbl{\f0\fcharset0 Arial Narrow;}}{\colortbl\red0\green0\blue0;}{\f0\fs36\b\cf0 VPN Server\par}}"/>
  <p:tag name="PPWINLASTSAVEDTRANSLATION" val="Serveur VPN"/>
  <p:tag name="PPWINALREADYSEGMENTED" val="True"/>
  <p:tag name="PPWINTOTALSEGMENTS" val="1"/>
  <p:tag name="PPWINSEGMENT1TARGETRTF" val="{\rtf1\ansi\deff0{\fonttbl{\f0\fcharset0 Arial Narrow;}}{\colortbl\red0\green0\blue0;}{\f0\fs36\b\cf0 Serveur VPN\par}}"/>
</p:tagLst>
</file>

<file path=ppt/tags/tag145.xml><?xml version="1.0" encoding="utf-8"?>
<p:tagLst xmlns:a="http://schemas.openxmlformats.org/drawingml/2006/main" xmlns:r="http://schemas.openxmlformats.org/officeDocument/2006/relationships" xmlns:p="http://schemas.openxmlformats.org/presentationml/2006/main">
  <p:tag name="PPWINSEGMENT1START" val="1"/>
  <p:tag name="PPWINSEGMENT1LENGTH" val="27"/>
  <p:tag name="PPWINSEGMENT1SOURCERTF" val="{\rtf1\ansi\deff0{\fonttbl{\f0\fcharset0 Arial Narrow;}}{\colortbl\red0\green0\blue0;}{\f0\fs44\b\cf0 Recommended method for user \par}}"/>
  <p:tag name="PPWINSEGMENT1TARGETRTF" val="{\rtf1\ansi\deff1{\fonttbl{\f1\fcharset0 Arial;}{\f2\fcharset0 Arial Narrow;}}{\colortbl\red0\green0\blue0;}{\f2\fs44\b\cf0 La m\'E9thode recommand\'E9e pour\par}}"/>
  <p:tag name="PPWINSEGMENT2START" val="29"/>
  <p:tag name="PPWINSEGMENT2LENGTH" val="87"/>
  <p:tag name="PPWINSEGMENT2SOURCERTF" val="{\rtf1\ansi\deff0{\fonttbl{\f0\fcharset0 Arial Narrow;}}{\colortbl\red0\green0\blue0;}{\f0\fs44\b\cf0 authentication is by using smart card certificates\par}}"/>
  <p:tag name="PPWINSEGMENT2TARGETRTF" val="{\rtf1\ansi\deff1{\fonttbl{\f1\fcharset0 Arial;}{\f2\fcharset0 Arial Narrow;}}{\colortbl\red0\green0\blue0;}{\f2\fs44\b\cf0 l'authentification des utilisateurs est de faire appel aux certificats de cartes \'E0 puce\par}}"/>
  <p:tag name="PPWINLASTSAVEDTRANSLATION" val="La méthode recommandée pour&#10;l'authentification des utilisateurs est de faire appel aux certificats de cartes à puce"/>
  <p:tag name="PPWINALREADYSEGMENTED" val="True"/>
  <p:tag name="PPWINTOTALSEGMENTS" val="2"/>
</p:tagLst>
</file>

<file path=ppt/tags/tag146.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25"/>
  <p:tag name="PPWINSEGMENT1SOURCERTF" val="{\rtf1\ansi\deff0{\fonttbl{\f0\fcharset0 Arial Narrow;}}{\colortbl\red0\green0\blue0;}{\f0\fs36\b\cf0 Dial-up Client\par}}"/>
  <p:tag name="PPWINSEGMENT1TARGETRTF" val="{\rtf1\ansi\deff1{\fonttbl{\f1\fcharset0 Arial;}{\f2\fcharset0 Arial Narrow;}}{\colortbl\red0\green0\blue0;}{\f2\fs36\b\cf0 Client d'acc\'E8s \'E0 distance\par}}"/>
  <p:tag name="PPWINLASTSAVEDTRANSLATION" val="Client d'accès à distance"/>
  <p:tag name="PPWINALREADYSEGMENTED" val="True"/>
  <p:tag name="PPWINTOTALSEGMENTS" val="1"/>
</p:tagLst>
</file>

<file path=ppt/tags/tag147.xml><?xml version="1.0" encoding="utf-8"?>
<p:tagLst xmlns:a="http://schemas.openxmlformats.org/drawingml/2006/main" xmlns:r="http://schemas.openxmlformats.org/officeDocument/2006/relationships" xmlns:p="http://schemas.openxmlformats.org/presentationml/2006/main">
  <p:tag name="PPWINSEGMENT1START" val="1"/>
  <p:tag name="PPWINSEGMENT1LENGTH" val="27"/>
  <p:tag name="PPWINSEGMENT1SOURCERTF" val="{\rtf1\ansi\deff0{\fonttbl{\f0\fcharset0 Arial Narrow;}}{\colortbl\red0\green0\blue0;}{\f0\fs44\b\cf0 Recommended method for user \par}}"/>
  <p:tag name="PPWINSEGMENT1TARGETRTF" val="{\rtf1\ansi\deff1{\fonttbl{\f1\fcharset0 Arial;}{\f2\fcharset0 Arial Narrow;}}{\colortbl\red0\green0\blue0;}{\f2\fs44\b\cf0 La m\'E9thode recommand\'E9e pour\par}}"/>
  <p:tag name="PPWINSEGMENT2START" val="29"/>
  <p:tag name="PPWINSEGMENT2LENGTH" val="87"/>
  <p:tag name="PPWINSEGMENT2SOURCERTF" val="{\rtf1\ansi\deff0{\fonttbl{\f0\fcharset0 Arial Narrow;}}{\colortbl\red0\green0\blue0;}{\f0\fs44\b\cf0 authentication is by using smart card certificates\par}}"/>
  <p:tag name="PPWINSEGMENT2TARGETRTF" val="{\rtf1\ansi\deff1{\fonttbl{\f1\fcharset0 Arial;}{\f2\fcharset0 Arial Narrow;}}{\colortbl\red0\green0\blue0;}{\f2\fs44\b\cf0 l'authentification des utilisateurs est de faire appel aux certificats de cartes \'E0 puce\par}}"/>
  <p:tag name="PPWINLASTSAVEDTRANSLATION" val="La méthode recommandée pour&#10;l'authentification des utilisateurs est de faire appel aux certificats de cartes à puce"/>
  <p:tag name="PPWINALREADYSEGMENTED" val="True"/>
  <p:tag name="PPWINTOTALSEGMENTS" val="2"/>
</p:tagLst>
</file>

<file path=ppt/tags/tag148.xml><?xml version="1.0" encoding="utf-8"?>
<p:tagLst xmlns:a="http://schemas.openxmlformats.org/drawingml/2006/main" xmlns:r="http://schemas.openxmlformats.org/officeDocument/2006/relationships" xmlns:p="http://schemas.openxmlformats.org/presentationml/2006/main">
  <p:tag name="PPWINSEGMENT1START" val="1"/>
  <p:tag name="PPWINSEGMENT1LENGTH" val="27"/>
  <p:tag name="PPWINSEGMENT1SOURCERTF" val="{\rtf1\ansi\deff0{\fonttbl{\f0\fcharset0 Arial Narrow;}}{\colortbl\red0\green0\blue0;}{\f0\fs44\b\cf0 Recommended method for user \par}}"/>
  <p:tag name="PPWINSEGMENT1TARGETRTF" val="{\rtf1\ansi\deff1{\fonttbl{\f1\fcharset0 Arial;}{\f2\fcharset0 Arial Narrow;}}{\colortbl\red0\green0\blue0;}{\f2\fs44\b\cf0 La m\'E9thode recommand\'E9e pour\par}}"/>
  <p:tag name="PPWINSEGMENT2START" val="29"/>
  <p:tag name="PPWINSEGMENT2LENGTH" val="87"/>
  <p:tag name="PPWINSEGMENT2SOURCERTF" val="{\rtf1\ansi\deff0{\fonttbl{\f0\fcharset0 Arial Narrow;}}{\colortbl\red0\green0\blue0;}{\f0\fs44\b\cf0 authentication is by using smart card certificates\par}}"/>
  <p:tag name="PPWINSEGMENT2TARGETRTF" val="{\rtf1\ansi\deff1{\fonttbl{\f1\fcharset0 Arial;}{\f2\fcharset0 Arial Narrow;}}{\colortbl\red0\green0\blue0;}{\f2\fs44\b\cf0 l'authentification des utilisateurs est de faire appel aux certificats de cartes \'E0 puce\par}}"/>
  <p:tag name="PPWINLASTSAVEDTRANSLATION" val="La méthode recommandée pour&#10;l'authentification des utilisateurs est de faire appel aux certificats de cartes à puce"/>
  <p:tag name="PPWINALREADYSEGMENTED" val="True"/>
  <p:tag name="PPWINTOTALSEGMENTS" val="2"/>
</p:tagLst>
</file>

<file path=ppt/tags/tag149.xml><?xml version="1.0" encoding="utf-8"?>
<p:tagLst xmlns:a="http://schemas.openxmlformats.org/drawingml/2006/main" xmlns:r="http://schemas.openxmlformats.org/officeDocument/2006/relationships" xmlns:p="http://schemas.openxmlformats.org/presentationml/2006/main">
  <p:tag name="PPWINSEGMENT1START" val="1"/>
  <p:tag name="PPWINSEGMENT1LENGTH" val="27"/>
  <p:tag name="PPWINSEGMENT1SOURCERTF" val="{\rtf1\ansi\deff0{\fonttbl{\f0\fcharset0 Arial Narrow;}}{\colortbl\red0\green0\blue0;}{\f0\fs44\b\cf0 Recommended method for user \par}}"/>
  <p:tag name="PPWINSEGMENT1TARGETRTF" val="{\rtf1\ansi\deff1{\fonttbl{\f1\fcharset0 Arial;}{\f2\fcharset0 Arial Narrow;}}{\colortbl\red0\green0\blue0;}{\f2\fs44\b\cf0 La m\'E9thode recommand\'E9e pour\par}}"/>
  <p:tag name="PPWINSEGMENT2START" val="29"/>
  <p:tag name="PPWINSEGMENT2LENGTH" val="87"/>
  <p:tag name="PPWINSEGMENT2SOURCERTF" val="{\rtf1\ansi\deff0{\fonttbl{\f0\fcharset0 Arial Narrow;}}{\colortbl\red0\green0\blue0;}{\f0\fs44\b\cf0 authentication is by using smart card certificates\par}}"/>
  <p:tag name="PPWINSEGMENT2TARGETRTF" val="{\rtf1\ansi\deff1{\fonttbl{\f1\fcharset0 Arial;}{\f2\fcharset0 Arial Narrow;}}{\colortbl\red0\green0\blue0;}{\f2\fs44\b\cf0 l'authentification des utilisateurs est de faire appel aux certificats de cartes \'E0 puce\par}}"/>
  <p:tag name="PPWINLASTSAVEDTRANSLATION" val="La méthode recommandée pour&#10;l'authentification des utilisateurs est de faire appel aux certificats de cartes à puce"/>
  <p:tag name="PPWINALREADYSEGMENTED" val="True"/>
  <p:tag name="PPWINTOTALSEGMENTS" val="2"/>
</p:tagLst>
</file>

<file path=ppt/tags/tag150.xml><?xml version="1.0" encoding="utf-8"?>
<p:tagLst xmlns:a="http://schemas.openxmlformats.org/drawingml/2006/main" xmlns:r="http://schemas.openxmlformats.org/officeDocument/2006/relationships" xmlns:p="http://schemas.openxmlformats.org/presentationml/2006/main">
  <p:tag name="PPWINSEGMENT1START" val="1"/>
  <p:tag name="PPWINSEGMENT1LENGTH" val="27"/>
  <p:tag name="PPWINSEGMENT1SOURCERTF" val="{\rtf1\ansi\deff0{\fonttbl{\f0\fcharset0 Arial Narrow;}}{\colortbl\red0\green0\blue0;}{\f0\fs44\b\cf0 Recommended method for user \par}}"/>
  <p:tag name="PPWINSEGMENT1TARGETRTF" val="{\rtf1\ansi\deff1{\fonttbl{\f1\fcharset0 Arial;}{\f2\fcharset0 Arial Narrow;}}{\colortbl\red0\green0\blue0;}{\f2\fs44\b\cf0 La m\'E9thode recommand\'E9e pour\par}}"/>
  <p:tag name="PPWINSEGMENT2START" val="29"/>
  <p:tag name="PPWINSEGMENT2LENGTH" val="87"/>
  <p:tag name="PPWINSEGMENT2SOURCERTF" val="{\rtf1\ansi\deff0{\fonttbl{\f0\fcharset0 Arial Narrow;}}{\colortbl\red0\green0\blue0;}{\f0\fs44\b\cf0 authentication is by using smart card certificates\par}}"/>
  <p:tag name="PPWINSEGMENT2TARGETRTF" val="{\rtf1\ansi\deff1{\fonttbl{\f1\fcharset0 Arial;}{\f2\fcharset0 Arial Narrow;}}{\colortbl\red0\green0\blue0;}{\f2\fs44\b\cf0 l'authentification des utilisateurs est de faire appel aux certificats de cartes \'E0 puce\par}}"/>
  <p:tag name="PPWINLASTSAVEDTRANSLATION" val="La méthode recommandée pour&#10;l'authentification des utilisateurs est de faire appel aux certificats de cartes à puce"/>
  <p:tag name="PPWINALREADYSEGMENTED" val="True"/>
  <p:tag name="PPWINTOTALSEGMENTS" val="2"/>
</p:tagLst>
</file>

<file path=ppt/tags/tag151.xml><?xml version="1.0" encoding="utf-8"?>
<p:tagLst xmlns:a="http://schemas.openxmlformats.org/drawingml/2006/main" xmlns:r="http://schemas.openxmlformats.org/officeDocument/2006/relationships" xmlns:p="http://schemas.openxmlformats.org/presentationml/2006/main">
  <p:tag name="PPWINSEGMENT1START" val="1"/>
  <p:tag name="PPWINSEGMENT1LENGTH" val="27"/>
  <p:tag name="PPWINSEGMENT1SOURCERTF" val="{\rtf1\ansi\deff0{\fonttbl{\f0\fcharset0 Arial Narrow;}}{\colortbl\red0\green0\blue0;}{\f0\fs44\b\cf0 Recommended method for user \par}}"/>
  <p:tag name="PPWINSEGMENT1TARGETRTF" val="{\rtf1\ansi\deff1{\fonttbl{\f1\fcharset0 Arial;}{\f2\fcharset0 Arial Narrow;}}{\colortbl\red0\green0\blue0;}{\f2\fs44\b\cf0 La m\'E9thode recommand\'E9e pour\par}}"/>
  <p:tag name="PPWINSEGMENT2START" val="29"/>
  <p:tag name="PPWINSEGMENT2LENGTH" val="87"/>
  <p:tag name="PPWINSEGMENT2SOURCERTF" val="{\rtf1\ansi\deff0{\fonttbl{\f0\fcharset0 Arial Narrow;}}{\colortbl\red0\green0\blue0;}{\f0\fs44\b\cf0 authentication is by using smart card certificates\par}}"/>
  <p:tag name="PPWINSEGMENT2TARGETRTF" val="{\rtf1\ansi\deff1{\fonttbl{\f1\fcharset0 Arial;}{\f2\fcharset0 Arial Narrow;}}{\colortbl\red0\green0\blue0;}{\f2\fs44\b\cf0 l'authentification des utilisateurs est de faire appel aux certificats de cartes \'E0 puce\par}}"/>
  <p:tag name="PPWINLASTSAVEDTRANSLATION" val="La méthode recommandée pour&#10;l'authentification des utilisateurs est de faire appel aux certificats de cartes à puce"/>
  <p:tag name="PPWINALREADYSEGMENTED" val="True"/>
  <p:tag name="PPWINTOTALSEGMENTS" val="2"/>
</p:tagLst>
</file>

<file path=ppt/tags/tag152.xml><?xml version="1.0" encoding="utf-8"?>
<p:tagLst xmlns:a="http://schemas.openxmlformats.org/drawingml/2006/main" xmlns:r="http://schemas.openxmlformats.org/officeDocument/2006/relationships" xmlns:p="http://schemas.openxmlformats.org/presentationml/2006/main">
  <p:tag name="PPTAGGERGROUP" val="1,2"/>
</p:tagLst>
</file>

<file path=ppt/tags/tag153.xml><?xml version="1.0" encoding="utf-8"?>
<p:tagLst xmlns:a="http://schemas.openxmlformats.org/drawingml/2006/main" xmlns:r="http://schemas.openxmlformats.org/officeDocument/2006/relationships" xmlns:p="http://schemas.openxmlformats.org/presentationml/2006/main">
  <p:tag name="PPTAGGERGROUP" val="1,2"/>
</p:tagLst>
</file>

<file path=ppt/tags/tag154.xml><?xml version="1.0" encoding="utf-8"?>
<p:tagLst xmlns:a="http://schemas.openxmlformats.org/drawingml/2006/main" xmlns:r="http://schemas.openxmlformats.org/officeDocument/2006/relationships" xmlns:p="http://schemas.openxmlformats.org/presentationml/2006/main">
  <p:tag name="PPWINTOTALSEGMENTS" val="0"/>
</p:tagLst>
</file>

<file path=ppt/tags/tag155.xml><?xml version="1.0" encoding="utf-8"?>
<p:tagLst xmlns:a="http://schemas.openxmlformats.org/drawingml/2006/main" xmlns:r="http://schemas.openxmlformats.org/officeDocument/2006/relationships" xmlns:p="http://schemas.openxmlformats.org/presentationml/2006/main">
  <p:tag name="PPWINSEGMENT1START" val="1"/>
  <p:tag name="PPWINSEGMENT1LENGTH" val="77"/>
  <p:tag name="PPWINSEGMENT1SOURCERTF" val="{\rtf1\ansi\deff0{\fonttbl{\f0\fcharset0 Arial Narrow;}}{\colortbl\red0\green0\blue0;}{\f0\fs60\b\cf0 Authentication Methods for a Dial-up Connection\par}}"/>
  <p:tag name="PPWINSEGMENT1TARGETRTF" val="{\rtf1\ansi\deff1{\fonttbl{\f1\fcharset0 Arial;}{\f2\fcharset0 Arial Narrow;}}{\colortbl\red0\green0\blue0;}{\f2\fs60\b\cf0 M\'E9thodes d'authentification disponibles pour une connexion d'acc\'E8s \'E0 distance\par}}"/>
  <p:tag name="PPWINLASTSAVEDTRANSLATION" val="Méthodes d'authentification disponibles pour une connexion d'accès à distance"/>
  <p:tag name="PPWINALREADYSEGMENTED" val="True"/>
  <p:tag name="PPWINTOTALSEGMENTS" val="1"/>
</p:tagLst>
</file>

<file path=ppt/tags/tag156.xml><?xml version="1.0" encoding="utf-8"?>
<p:tagLst xmlns:a="http://schemas.openxmlformats.org/drawingml/2006/main" xmlns:r="http://schemas.openxmlformats.org/officeDocument/2006/relationships" xmlns:p="http://schemas.openxmlformats.org/presentationml/2006/main">
  <p:tag name="PPWINTOTALSEGMENTS" val="0"/>
</p:tagLst>
</file>

<file path=ppt/tags/tag157.xml><?xml version="1.0" encoding="utf-8"?>
<p:tagLst xmlns:a="http://schemas.openxmlformats.org/drawingml/2006/main" xmlns:r="http://schemas.openxmlformats.org/officeDocument/2006/relationships" xmlns:p="http://schemas.openxmlformats.org/presentationml/2006/main">
  <p:tag name="PPWINSEGMENT1START" val="1"/>
  <p:tag name="PPWINSEGMENT1LENGTH" val="23"/>
  <p:tag name="PPWINSEGMENT1SOURCERTF" val="{\rtf1\ansi\deff0{\fonttbl{\f0\fcharset0 Arial Narrow;}}{\colortbl\red0\green0\blue0;}{\f0\fs36\b\cf0 Remote \line}{\f0\fs36\b\cf0 Access Server\par}}"/>
  <p:tag name="PPWINSEGMENT1TARGETRTF" val="{\rtf1\ansi\deff1{\fonttbl{\f1\fcharset0 Arial;}{\f2\fcharset0 Arial Narrow;}}{\colortbl\red0\green0\blue0;}{\f2\fs36\b\cf0 Serveur d'acc\'E8s\line}{\f2\fs36\b\cf0 distant\par}}"/>
  <p:tag name="PPWINLASTSAVEDTRANSLATION" val="Serveur d'accèsdistant"/>
  <p:tag name="PPWINALREADYSEGMENTED" val="True"/>
  <p:tag name="PPWINTOTALSEGMENTS" val="1"/>
</p:tagLst>
</file>

<file path=ppt/tags/tag158.xml><?xml version="1.0" encoding="utf-8"?>
<p:tagLst xmlns:a="http://schemas.openxmlformats.org/drawingml/2006/main" xmlns:r="http://schemas.openxmlformats.org/officeDocument/2006/relationships" xmlns:p="http://schemas.openxmlformats.org/presentationml/2006/main">
  <p:tag name="PPTAGGERGROUP" val="1"/>
</p:tagLst>
</file>

<file path=ppt/tags/tag159.xml><?xml version="1.0" encoding="utf-8"?>
<p:tagLst xmlns:a="http://schemas.openxmlformats.org/drawingml/2006/main" xmlns:r="http://schemas.openxmlformats.org/officeDocument/2006/relationships" xmlns:p="http://schemas.openxmlformats.org/presentationml/2006/main">
  <p:tag name="PPTAGGERGROUP" val="1"/>
</p:tagLst>
</file>

<file path=ppt/tags/tag160.xml><?xml version="1.0" encoding="utf-8"?>
<p:tagLst xmlns:a="http://schemas.openxmlformats.org/drawingml/2006/main" xmlns:r="http://schemas.openxmlformats.org/officeDocument/2006/relationships" xmlns:p="http://schemas.openxmlformats.org/presentationml/2006/main">
  <p:tag name="PPWINSEGMENT1START" val="1"/>
  <p:tag name="PPWINSEGMENT1LENGTH" val="27"/>
  <p:tag name="PPWINSEGMENT1SOURCERTF" val="{\rtf1\ansi\deff0{\fonttbl{\f0\fcharset0 Arial Narrow;}}{\colortbl\red0\green0\blue0;}{\f0\fs36\b\cf0 Remote Access User\par}}"/>
  <p:tag name="PPWINSEGMENT1TARGETRTF" val="{\rtf1\ansi\deff1{\fonttbl{\f1\fcharset0 Arial;}{\f2\fcharset0 Arial Narrow;}}{\colortbl\red0\green0\blue0;}{\f2\fs36\b\cf0 Utilisateur d'acc\'E8s distant\par}}"/>
  <p:tag name="PPWINLASTSAVEDTRANSLATION" val="Utilisateur d'accès distant"/>
  <p:tag name="PPWINALREADYSEGMENTED" val="True"/>
  <p:tag name="PPWINTOTALSEGMENTS" val="1"/>
</p:tagLst>
</file>

<file path=ppt/tags/tag161.xml><?xml version="1.0" encoding="utf-8"?>
<p:tagLst xmlns:a="http://schemas.openxmlformats.org/drawingml/2006/main" xmlns:r="http://schemas.openxmlformats.org/officeDocument/2006/relationships" xmlns:p="http://schemas.openxmlformats.org/presentationml/2006/main">
  <p:tag name="PPWINSEGMENT1START" val="1"/>
  <p:tag name="PPWINSEGMENT1LENGTH" val="27"/>
  <p:tag name="PPWINSEGMENT1SOURCERTF" val="{\rtf1\ansi\deff0{\fonttbl{\f0\fcharset0 Arial Narrow;}}{\colortbl\red0\green0\blue0;}{\f0\fs44\b\cf0 Strongest method:\par}}"/>
  <p:tag name="PPWINSEGMENT1TARGETRTF" val="{\rtf1\ansi\deff1{\fonttbl{\f1\fcharset0 Arial;}{\f2\fcharset0 Arial Narrow;}}{\colortbl\red0\green0\blue0;}{\f2\fs44\b\cf0 M\'E9thode la plus puissante :\par}}"/>
  <p:tag name="PPWINSEGMENT2START" val="29"/>
  <p:tag name="PPWINSEGMENT2LENGTH" val="26"/>
  <p:tag name="PPWINSEGMENT2SOURCERTF" val="{\rtf1\ansi\deff0{\fonttbl{\f0\fcharset0 Arial Narrow;}}{\colortbl\red0\green0\blue0;}{\f0\fs44\b\cf0 EAP-TLS with smart cards\par}}"/>
  <p:tag name="PPWINSEGMENT2TARGETRTF" val="{\rtf1\ansi\deff1{\fonttbl{\f1\fcharset0 Arial;}{\f2\fcharset0 Arial Narrow;}}{\colortbl\red0\green0\blue0;}{\f2\fs44\b\cf0 EAP-TLS avec cartes \'E0 puce\par}}"/>
  <p:tag name="PPWINLASTSAVEDTRANSLATION" val="Méthode la plus puissante : EAP-TLS avec cartes à puce"/>
  <p:tag name="PPWINALREADYSEGMENTED" val="True"/>
  <p:tag name="PPWINTOTALSEGMENTS" val="2"/>
</p:tagLst>
</file>

<file path=ppt/tags/tag162.xml><?xml version="1.0" encoding="utf-8"?>
<p:tagLst xmlns:a="http://schemas.openxmlformats.org/drawingml/2006/main" xmlns:r="http://schemas.openxmlformats.org/officeDocument/2006/relationships" xmlns:p="http://schemas.openxmlformats.org/presentationml/2006/main">
  <p:tag name="PPWINSEGMENT1START" val="1"/>
  <p:tag name="PPWINSEGMENT1LENGTH" val="25"/>
  <p:tag name="PPWINSEGMENT1SOURCERTF" val="{\rtf1\ansi\deff0{\fonttbl{\f0\fcharset0 Arial Narrow;}}{\colortbl\red0\green0\blue0;}{\f0\fs36\b\cf0 Mutual Authentication\par}}"/>
  <p:tag name="PPWINSEGMENT1TARGETRTF" val="{\rtf1\ansi\deff1{\fonttbl{\f1\fcharset0 Arial;}{\f2\fcharset0 Arial Narrow;}}{\colortbl\red0\green0\blue0;}{\f2\fs36\b\cf0 Authentification mutuelle\par}}"/>
  <p:tag name="PPWINLASTSAVEDTRANSLATION" val="Authentification mutuelle"/>
  <p:tag name="PPWINALREADYSEGMENTED" val="True"/>
  <p:tag name="PPWINTOTALSEGMENTS" val="1"/>
</p:tagLst>
</file>

<file path=ppt/tags/tag163.xml><?xml version="1.0" encoding="utf-8"?>
<p:tagLst xmlns:a="http://schemas.openxmlformats.org/drawingml/2006/main" xmlns:r="http://schemas.openxmlformats.org/officeDocument/2006/relationships" xmlns:p="http://schemas.openxmlformats.org/presentationml/2006/main">
  <p:tag name="PPWINTOTALSEGMENTS" val="0"/>
</p:tagLst>
</file>

<file path=ppt/tags/tag164.xml><?xml version="1.0" encoding="utf-8"?>
<p:tagLst xmlns:a="http://schemas.openxmlformats.org/drawingml/2006/main" xmlns:r="http://schemas.openxmlformats.org/officeDocument/2006/relationships" xmlns:p="http://schemas.openxmlformats.org/presentationml/2006/main">
  <p:tag name="PPWINSEGMENT1START" val="1"/>
  <p:tag name="PPWINSEGMENT1LENGTH" val="53"/>
  <p:tag name="PPWINSEGMENT1SOURCERTF" val="{\rtf1\ansi\deff0{\fonttbl{\f0\fcharset0 Arial Narrow;}}{\colortbl\red0\green0\blue0;}{\f0\fs52\b\cf0 Configuration Requirements for a Remote Access Server\par}}"/>
  <p:tag name="PPWINSEGMENT1TARGETRTF" val="{\rtf1\ansi\deff1{\fonttbl{\f1\fcharset0 Arial;}{\f2\fcharset0 Arial Narrow;}}{\colortbl\red0\green0\blue0;}{\f2\fs52\b\cf0 Configuration requise pour un serveur d'acc\'E8s distant\par}}"/>
  <p:tag name="PPWINLASTSAVEDTRANSLATION" val="Configuration requise pour un serveur d'accès distant"/>
  <p:tag name="PPWINALREADYSEGMENTED" val="True"/>
  <p:tag name="PPWINTOTALSEGMENTS" val="1"/>
</p:tagLst>
</file>

<file path=ppt/tags/tag165.xml><?xml version="1.0" encoding="utf-8"?>
<p:tagLst xmlns:a="http://schemas.openxmlformats.org/drawingml/2006/main" xmlns:r="http://schemas.openxmlformats.org/officeDocument/2006/relationships" xmlns:p="http://schemas.openxmlformats.org/presentationml/2006/main">
  <p:tag name="PPWINSEGMENT1START" val="1"/>
  <p:tag name="PPWINSEGMENT1LENGTH" val="99"/>
  <p:tag name="PPWINSEGMENT1SOURCERTF" val="{\rtf1\ansi\deff0{\fonttbl{\f0\fcharset0 Arial Narrow;}}{\colortbl\red0\green0\blue0;}{\f0\fs44\b\cf0 Identify whether clients receive IP addresses from a DHCP server or the remote access server\par}}"/>
  <p:tag name="PPWINSEGMENT1TARGETRTF" val="{\rtf1\ansi\deff1{\fonttbl{\f1\fcharset0 Arial;}{\f2\fcharset0 Arial Narrow;}}{\colortbl\red0\green0\blue0;}{\f2\fs44\b\cf0 D\'E9terminer si les clients re\'E7oivent des adresses IP d'un serveur DHCP ou du serveur d'acc\'E8s distant\par}}"/>
  <p:tag name="PPWINSEGMENT2START" val="101"/>
  <p:tag name="PPWINSEGMENT2LENGTH" val="120"/>
  <p:tag name="PPWINSEGMENT2SOURCERTF" val="{\rtf1\ansi\deff0{\fonttbl{\f0\fcharset0 Arial Narrow;}}{\colortbl\red0\green0\blue0;}{\f0\fs44\b\cf0 Identify whether to authenticate connection requests by RADIUS or by the remote access server\par}}"/>
  <p:tag name="PPWINSEGMENT2TARGETRTF" val="{\rtf1\ansi\deff1{\fonttbl{\f1\fcharset0 Arial;}{\f2\fcharset0 Arial Narrow;}}{\colortbl\red0\green0\blue0;}{\f2\fs44\b\cf0 Indiquer si les demandes de connexion doivent \'EAtre authentifi\'E9es par un serveur RADIUS ou par le serveur d'acc\'E8s distant\par}}"/>
  <p:tag name="PPWINSEGMENT3START" val="222"/>
  <p:tag name="PPWINSEGMENT3LENGTH" val="117"/>
  <p:tag name="PPWINSEGMENT3SOURCERTF" val="{\rtf1\ansi\deff0{\fonttbl{\f0\fcharset0 Arial Narrow;}}{\colortbl\red0\green0\blue0;}{\f0\fs44\b\cf0 Verify that users have user accounts configured for dial-up access\par}}"/>
  <p:tag name="PPWINSEGMENT3TARGETRTF" val="{\rtf1\ansi\deff1{\fonttbl{\f1\fcharset0 Arial;}{\f2\fcharset0 Arial Narrow;}}{\colortbl\red0\green0\blue0;}{\f2\fs44\b\cf0 V\'E9rifier que les utilisateurs disposent de comptes d'utilisateurs configur\'E9s pour permettre l'acc\'E8s r\'E9seau \'E0 distance\par}}"/>
  <p:tag name="PPWINLASTSAVEDTRANSLATION" val="Déterminer si les clients reçoivent des adresses IP d'un serveur DHCP ou du serveur d'accès distant&#10;Indiquer si les demandes de connexion doivent être authentifiées par un serveur RADIUS ou par le serveur d'accès distant&#10;Vérifier que les utilisateurs disposent de comptes d'utilisateurs configurés pour permettre l'accès réseau à distance"/>
  <p:tag name="PPWINALREADYSEGMENTED" val="True"/>
  <p:tag name="PPWINTOTALSEGMENTS" val="3"/>
</p:tagLst>
</file>

<file path=ppt/tags/tag166.xml><?xml version="1.0" encoding="utf-8"?>
<p:tagLst xmlns:a="http://schemas.openxmlformats.org/drawingml/2006/main" xmlns:r="http://schemas.openxmlformats.org/officeDocument/2006/relationships" xmlns:p="http://schemas.openxmlformats.org/presentationml/2006/main">
  <p:tag name="PPWINTOTALSEGMENTS" val="0"/>
</p:tagLst>
</file>

<file path=ppt/tags/tag167.xml><?xml version="1.0" encoding="utf-8"?>
<p:tagLst xmlns:a="http://schemas.openxmlformats.org/drawingml/2006/main" xmlns:r="http://schemas.openxmlformats.org/officeDocument/2006/relationships" xmlns:p="http://schemas.openxmlformats.org/presentationml/2006/main">
  <p:tag name="PPWINSEGMENT1START" val="1"/>
  <p:tag name="PPWINSEGMENT1LENGTH" val="7"/>
  <p:tag name="PPWINSEGMENT1SOURCERTF" val="{\rtf1\ansi\deff0{\fonttbl{\f0\fcharset0 Arial Narrow;}}{\colortbl\red0\green0\blue0;}{\f0\fs60\b\cf0 Lesson:\par}}"/>
  <p:tag name="PPWINSEGMENT1TARGETRTF" val="{\rtf1\ansi\deff1{\fonttbl{\f1\fcharset0 Arial;}{\f2\fcharset0 Arial Narrow;}}{\colortbl\red0\green0\blue0;}{\f2\fs60\b\cf0 Le\'E7on :\par}}"/>
  <p:tag name="PPWINSEGMENT2START" val="9"/>
  <p:tag name="PPWINSEGMENT2LENGTH" val="38"/>
  <p:tag name="PPWINSEGMENT2SOURCERTF" val="{\rtf1\ansi\deff0{\fonttbl{\f0\fcharset0 Arial Narrow;}}{\colortbl\red0\green0\blue0;}{\f0\fs60\b\cf0 Configuring a Wireless Connection\par}}"/>
  <p:tag name="PPWINSEGMENT2TARGETRTF" val="{\rtf1\ansi\deff1{\fonttbl{\f1\fcharset0 Arial;}{\f2\fcharset0 Arial Narrow;}}{\colortbl\red0\green0\blue0;}{\f2\fs60\b\cf0 Configuration d'une connexion sans fil\par}}"/>
  <p:tag name="PPWINLASTSAVEDTRANSLATION" val="Leçon : Configuration d'une connexion sans fil"/>
  <p:tag name="PPWINALREADYSEGMENTED" val="True"/>
  <p:tag name="PPWINTOTALSEGMENTS" val="2"/>
</p:tagLst>
</file>

<file path=ppt/tags/tag168.xml><?xml version="1.0" encoding="utf-8"?>
<p:tagLst xmlns:a="http://schemas.openxmlformats.org/drawingml/2006/main" xmlns:r="http://schemas.openxmlformats.org/officeDocument/2006/relationships" xmlns:p="http://schemas.openxmlformats.org/presentationml/2006/main">
  <p:tag name="PPWINSEGMENT1START" val="1"/>
  <p:tag name="PPWINSEGMENT1LENGTH" val="41"/>
  <p:tag name="PPWINSEGMENT1SOURCERTF" val="{\rtf1\ansi\deff0{\fonttbl{\f0\fcharset0 Arial Narrow;}}{\colortbl\red0\green0\blue0;}{\f0\fs48\b\cf0 Overview of Wireless Network Access \par}}"/>
  <p:tag name="PPWINSEGMENT1TARGETRTF" val="{\rtf1\ansi\deff1{\fonttbl{\f1\fcharset0 Arial;}{\f2\fcharset0 Arial Narrow;}}{\colortbl\red0\green0\blue0;}{\f2\fs48\b\cf0 Vue d'ensemble de l'acc\'E8s r\'E9seau sans fil\par}}"/>
  <p:tag name="PPWINSEGMENT2START" val="43"/>
  <p:tag name="PPWINSEGMENT2LENGTH" val="35"/>
  <p:tag name="PPWINSEGMENT2SOURCERTF" val="{\rtf1\ansi\deff0{\fonttbl{\f0\fcharset0 Arial Narrow;}}{\colortbl\red0\green0\blue0;}{\f0\fs48\b\cf0 Components of a Wireless Connection \par}}"/>
  <p:tag name="PPWINSEGMENT2TARGETRTF" val="{\rtf1\ansi\deff1{\fonttbl{\f1\fcharset0 Arial;}{\f2\fcharset0 Arial Narrow;}}{\colortbl\red0\green0\blue0;}{\f2\fs48\b\cf0 Composants d'une connexion sans fil\par}}"/>
  <p:tag name="PPWINSEGMENT3START" val="79"/>
  <p:tag name="PPWINSEGMENT3LENGTH" val="15"/>
  <p:tag name="PPWINSEGMENT3SOURCERTF" val="{\rtf1\ansi\deff0{\fonttbl{\f0\fcharset0 Arial Narrow;}}{\colortbl\red0\green0\blue0;}{\f0\fs48\b\cf0 Wireless Standards \par}}"/>
  <p:tag name="PPWINSEGMENT3TARGETRTF" val="{\rtf1\ansi\deff1{\fonttbl{\f1\fcharset0 Arial;}{\f2\fcharset0 Arial Narrow;}}{\colortbl\red0\green0\blue0;}{\f2\fs48\b\cf0 Normes sans fil\par}}"/>
  <p:tag name="PPWINSEGMENT4START" val="95"/>
  <p:tag name="PPWINSEGMENT4LENGTH" val="65"/>
  <p:tag name="PPWINSEGMENT4SOURCERTF" val="{\rtf1\ansi\deff0{\fonttbl{\f0\fcharset0 Arial Narrow;}}{\colortbl\red0\green0\blue0;}{\f0\fs48\b\cf0 Authentication Methods for Wireless Networks\par}}"/>
  <p:tag name="PPWINSEGMENT4TARGETRTF" val="{\rtf1\ansi\deff1{\fonttbl{\f1\fcharset0 Arial;}{\f2\fcharset0 Arial Narrow;}}{\colortbl\red0\green0\blue0;}{\f2\fs48\b\cf0 M\'E9thodes d'authentification disponibles pour les r\'E9seaux sans fil\par}}"/>
  <p:tag name="PPWINSEGMENT5START" val="161"/>
  <p:tag name="PPWINSEGMENT5LENGTH" val="95"/>
  <p:tag name="PPWINSEGMENT5SOURCERTF" val="{\rtf1\ansi\deff0{\fonttbl{\f0\fcharset0 Arial Narrow;}}{\colortbl\red0\green0\blue0;}{\f0\fs48\b\cf0 Configuration Requirements of a Windows XP Professional Client for Wireless Network Access \par}}"/>
  <p:tag name="PPWINSEGMENT5TARGETRTF" val="{\rtf1\ansi\deff1{\fonttbl{\f1\fcharset0 Arial;}{\f2\fcharset0 Arial Narrow;}}{\colortbl\red0\green0\blue0;}{\f2\fs48\b\cf0 Configuration requise pour un client Windows XP Professionnel en vue d'un acc\'E8s r\'E9seau sans fil\par}}"/>
  <p:tag name="PPWINSEGMENT6START" val="257"/>
  <p:tag name="PPWINSEGMENT6LENGTH" val="71"/>
  <p:tag name="PPWINSEGMENT6SOURCERTF" val="{\rtf1\ansi\deff0{\fonttbl{\f0\fcharset0 Arial Narrow;}}{\colortbl\red0\green0\blue0;}{\f0\fs48\b\cf0 How to Configure the Network Access Client for a Wireless Connection\par}}"/>
  <p:tag name="PPWINSEGMENT6TARGETRTF" val="{\rtf1\ansi\deff1{\fonttbl{\f1\fcharset0 Arial;}{\f2\fcharset0 Arial Narrow;}}{\colortbl\red0\green0\blue0;}{\f2\fs48\b\cf0 Comment configurer le client d'acc\'E8s r\'E9seau pour une connexion sans fil\par}}"/>
  <p:tag name="PPWINLASTSAVEDTRANSLATION" val="Vue d'ensemble de l'accès réseau sans fil&#10;Composants d'une connexion sans fil&#10;Normes sans fil&#10;Méthodes d'authentification disponibles pour les réseaux sans fil&#10;Configuration requise pour un client Windows XP Professionnel en vue d'un accès réseau sans fil&#10;Comment configurer le client d'accès réseau pour une connexion sans fil"/>
  <p:tag name="PPWINALREADYSEGMENTED" val="True"/>
  <p:tag name="PPWINTOTALSEGMENTS" val="6"/>
</p:tagLst>
</file>

<file path=ppt/tags/tag169.xml><?xml version="1.0" encoding="utf-8"?>
<p:tagLst xmlns:a="http://schemas.openxmlformats.org/drawingml/2006/main" xmlns:r="http://schemas.openxmlformats.org/officeDocument/2006/relationships" xmlns:p="http://schemas.openxmlformats.org/presentationml/2006/main">
  <p:tag name="PPWINTOTALSEGMENTS" val="0"/>
</p:tagLst>
</file>

<file path=ppt/tags/tag170.xml><?xml version="1.0" encoding="utf-8"?>
<p:tagLst xmlns:a="http://schemas.openxmlformats.org/drawingml/2006/main" xmlns:r="http://schemas.openxmlformats.org/officeDocument/2006/relationships" xmlns:p="http://schemas.openxmlformats.org/presentationml/2006/main">
  <p:tag name="PPWINTOTALSEGMENTS" val="0"/>
</p:tagLst>
</file>

<file path=ppt/tags/tag171.xml><?xml version="1.0" encoding="utf-8"?>
<p:tagLst xmlns:a="http://schemas.openxmlformats.org/drawingml/2006/main" xmlns:r="http://schemas.openxmlformats.org/officeDocument/2006/relationships" xmlns:p="http://schemas.openxmlformats.org/presentationml/2006/main">
  <p:tag name="PPWINSEGMENT1START" val="1"/>
  <p:tag name="PPWINSEGMENT1LENGTH" val="22"/>
  <p:tag name="PPWINSEGMENT1SOURCERTF" val="{\rtf1\ansi\deff0{\fonttbl{\f0\fcharset0 Arial Narrow;}}{\colortbl\red0\green0\blue0;}{\f0\fs32\b\cf0 Network Access \line}{\f0\fs32\b\cf0 Server\par}}"/>
  <p:tag name="PPWINSEGMENT1TARGETRTF" val="{\rtf1\ansi\deff1{\fonttbl{\f1\fcharset0 Arial;}{\f2\fcharset0 Arial Narrow;}}{\colortbl\red0\green0\blue0;}{\f2\fs32\b\cf0 Serveur d'acc\'E8s\line}{\f2\fs32\b\cf0 r\'E9seau\par}}"/>
  <p:tag name="PPWINLASTSAVEDTRANSLATION" val="Serveur d'accèsréseau"/>
  <p:tag name="PPWINALREADYSEGMENTED" val="True"/>
  <p:tag name="PPWINTOTALSEGMENTS" val="1"/>
</p:tagLst>
</file>

<file path=ppt/tags/tag172.xml><?xml version="1.0" encoding="utf-8"?>
<p:tagLst xmlns:a="http://schemas.openxmlformats.org/drawingml/2006/main" xmlns:r="http://schemas.openxmlformats.org/officeDocument/2006/relationships" xmlns:p="http://schemas.openxmlformats.org/presentationml/2006/main">
  <p:tag name="PPWINSEGMENT1START" val="1"/>
  <p:tag name="PPWINSEGMENT1LENGTH" val="7"/>
  <p:tag name="PPWINSEGMENT1SOURCERTF" val="{\rtf1\ansi\deff0{\fonttbl{\f0\fcharset0 Arial Narrow;}}{\colortbl\red0\green0\blue0;}{\f0\fs32\b\cf0 IAS\par}}"/>
  <p:tag name="PPWINSEGMENT1TARGETRTF" val="{\rtf1\ansi\deff1{\fonttbl{\f1\fcharset0 Arial;}{\f2\fcharset0 Arial Narrow;}}{\colortbl\red0\green0\blue0;}{\f2\fs32\b\cf0 Serveur\par}}"/>
  <p:tag name="PPWINSEGMENT2START" val="9"/>
  <p:tag name="PPWINSEGMENT2LENGTH" val="15"/>
  <p:tag name="PPWINSEGMENT2SOURCERTF" val="{\rtf1\ansi\deff0{\fonttbl{\f0\fcharset0 Arial Narrow;}}{\colortbl\red0\green0\blue0;}{\f0\fs32\b\cf0 Server \par}}"/>
  <p:tag name="PPWINSEGMENT2TARGETRTF" val="{\rtf1\ansi\deff1{\fonttbl{\f1\fcharset0 Arial;}{\f2\fcharset0 Arial Narrow;}}{\colortbl\red0\green0\blue0;}{\f2\fs32\b\cf0 d'acc\'E8s distant\par}}"/>
  <p:tag name="PPWINLASTSAVEDTRANSLATION" val="Serveur&#10;d'accès distant"/>
  <p:tag name="PPWINALREADYSEGMENTED" val="True"/>
  <p:tag name="PPWINTOTALSEGMENTS" val="2"/>
</p:tagLst>
</file>

<file path=ppt/tags/tag173.xml><?xml version="1.0" encoding="utf-8"?>
<p:tagLst xmlns:a="http://schemas.openxmlformats.org/drawingml/2006/main" xmlns:r="http://schemas.openxmlformats.org/officeDocument/2006/relationships" xmlns:p="http://schemas.openxmlformats.org/presentationml/2006/main">
  <p:tag name="PPWINSEGMENT1START" val="1"/>
  <p:tag name="PPWINSEGMENT1LENGTH" val="12"/>
  <p:tag name="PPWINSEGMENT1SOURCERTF" val="{\rtf1\ansi\deff0{\fonttbl{\f0\fcharset0 Arial Narrow;}}{\colortbl\red0\green0\blue0;}{\f0\fs32\b\cf0 DHCP Server \par}}"/>
  <p:tag name="PPWINSEGMENT1TARGETRTF" val="{\rtf1\ansi\deff1{\fonttbl{\f1\fcharset0 Arial;}{\f2\fcharset0 Arial Narrow;}}{\colortbl\red0\green0\blue0;}{\f2\fs32\b\cf0 Serveur DHCP\par}}"/>
  <p:tag name="PPWINLASTSAVEDTRANSLATION" val="Serveur DHCP"/>
  <p:tag name="PPWINALREADYSEGMENTED" val="True"/>
  <p:tag name="PPWINTOTALSEGMENTS" val="1"/>
</p:tagLst>
</file>

<file path=ppt/tags/tag174.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
  <p:tag name="PPWINSEGMENT1SOURCERTF" val="{\rtf1\ansi\deff0{\fonttbl{\f0\fcharset0 Arial Narrow;}}{\colortbl\red0\green0\blue0;}{\f0\fs32\b\cf0 Domain\par}}"/>
  <p:tag name="PPWINSEGMENT1TARGETRTF" val="{\rtf1\ansi\deff1{\fonttbl{\f1\fcharset0 Arial;}{\f2\fcharset0 Arial Narrow;}}{\colortbl\red0\green0\blue0;}{\f2\fs32\b\cf0 Contr\'F4leur\par}}"/>
  <p:tag name="PPWINSEGMENT2START" val="12"/>
  <p:tag name="PPWINSEGMENT2LENGTH" val="10"/>
  <p:tag name="PPWINSEGMENT2SOURCERTF" val="{\rtf1\ansi\deff0{\fonttbl{\f0\fcharset0 Arial Narrow;}}{\colortbl\red0\green0\blue0;}{\f0\fs32\b\cf0 Controller \par}}"/>
  <p:tag name="PPWINSEGMENT2TARGETRTF" val="{\rtf1\ansi\deff1{\fonttbl{\f1\fcharset0 Arial;}{\f2\fcharset0 Arial Narrow;}}{\colortbl\red0\green0\blue0;}{\f2\fs32\b\cf0 de domaine\par}}"/>
  <p:tag name="PPWINLASTSAVEDTRANSLATION" val="Contrôleur&#10;de domaine"/>
  <p:tag name="PPWINALREADYSEGMENTED" val="True"/>
  <p:tag name="PPWINTOTALSEGMENTS" val="2"/>
</p:tagLst>
</file>

<file path=ppt/tags/tag175.xml><?xml version="1.0" encoding="utf-8"?>
<p:tagLst xmlns:a="http://schemas.openxmlformats.org/drawingml/2006/main" xmlns:r="http://schemas.openxmlformats.org/officeDocument/2006/relationships" xmlns:p="http://schemas.openxmlformats.org/presentationml/2006/main">
  <p:tag name="PPTAGGERGROUP" val="1"/>
</p:tagLst>
</file>

<file path=ppt/tags/tag176.xml><?xml version="1.0" encoding="utf-8"?>
<p:tagLst xmlns:a="http://schemas.openxmlformats.org/drawingml/2006/main" xmlns:r="http://schemas.openxmlformats.org/officeDocument/2006/relationships" xmlns:p="http://schemas.openxmlformats.org/presentationml/2006/main">
  <p:tag name="PPTAGGERGROUP" val="1"/>
</p:tagLst>
</file>

<file path=ppt/tags/tag177.xml><?xml version="1.0" encoding="utf-8"?>
<p:tagLst xmlns:a="http://schemas.openxmlformats.org/drawingml/2006/main" xmlns:r="http://schemas.openxmlformats.org/officeDocument/2006/relationships" xmlns:p="http://schemas.openxmlformats.org/presentationml/2006/main">
  <p:tag name="PPTAGGERGROUP" val="1"/>
</p:tagLst>
</file>

<file path=ppt/tags/tag178.xml><?xml version="1.0" encoding="utf-8"?>
<p:tagLst xmlns:a="http://schemas.openxmlformats.org/drawingml/2006/main" xmlns:r="http://schemas.openxmlformats.org/officeDocument/2006/relationships" xmlns:p="http://schemas.openxmlformats.org/presentationml/2006/main">
  <p:tag name="PPTAGGERGROUP" val="1,2,4"/>
</p:tagLst>
</file>

<file path=ppt/tags/tag179.xml><?xml version="1.0" encoding="utf-8"?>
<p:tagLst xmlns:a="http://schemas.openxmlformats.org/drawingml/2006/main" xmlns:r="http://schemas.openxmlformats.org/officeDocument/2006/relationships" xmlns:p="http://schemas.openxmlformats.org/presentationml/2006/main">
  <p:tag name="PPTAGGERGROUP" val="1,2,4"/>
</p:tagLst>
</file>

<file path=ppt/tags/tag180.xml><?xml version="1.0" encoding="utf-8"?>
<p:tagLst xmlns:a="http://schemas.openxmlformats.org/drawingml/2006/main" xmlns:r="http://schemas.openxmlformats.org/officeDocument/2006/relationships" xmlns:p="http://schemas.openxmlformats.org/presentationml/2006/main">
  <p:tag name="PPTAGGERGROUP" val="1,2,4"/>
</p:tagLst>
</file>

<file path=ppt/tags/tag181.xml><?xml version="1.0" encoding="utf-8"?>
<p:tagLst xmlns:a="http://schemas.openxmlformats.org/drawingml/2006/main" xmlns:r="http://schemas.openxmlformats.org/officeDocument/2006/relationships" xmlns:p="http://schemas.openxmlformats.org/presentationml/2006/main">
  <p:tag name="PPTAGGERGROUP" val="1,2,4"/>
</p:tagLst>
</file>

<file path=ppt/tags/tag182.xml><?xml version="1.0" encoding="utf-8"?>
<p:tagLst xmlns:a="http://schemas.openxmlformats.org/drawingml/2006/main" xmlns:r="http://schemas.openxmlformats.org/officeDocument/2006/relationships" xmlns:p="http://schemas.openxmlformats.org/presentationml/2006/main">
  <p:tag name="PPTAGGERGROUP" val="1,2"/>
</p:tagLst>
</file>

<file path=ppt/tags/tag183.xml><?xml version="1.0" encoding="utf-8"?>
<p:tagLst xmlns:a="http://schemas.openxmlformats.org/drawingml/2006/main" xmlns:r="http://schemas.openxmlformats.org/officeDocument/2006/relationships" xmlns:p="http://schemas.openxmlformats.org/presentationml/2006/main">
  <p:tag name="PPWINSEGMENT1START" val="1"/>
  <p:tag name="PPWINSEGMENT1LENGTH" val="22"/>
  <p:tag name="PPWINSEGMENT1SOURCERTF" val="{\rtf1\ansi\deff0{\fonttbl{\f0\fcharset0 Arial Narrow;}}{\colortbl\red0\green0\blue0;}{\f0\fs32\b\cf0 Wireless Access Point\par}}"/>
  <p:tag name="PPWINSEGMENT1TARGETRTF" val="{\rtf1\ansi\deff1{\fonttbl{\f1\fcharset0 Arial;}{\f2\fcharset0 Arial Narrow;}}{\colortbl\red0\green0\blue0;}{\f2\fs32\b\cf0 Point d'acc\'E8s sans fil\par}}"/>
  <p:tag name="PPWINLASTSAVEDTRANSLATION" val="Point d'accès sans fil"/>
  <p:tag name="PPWINALREADYSEGMENTED" val="True"/>
  <p:tag name="PPWINTOTALSEGMENTS" val="1"/>
</p:tagLst>
</file>

<file path=ppt/tags/tag184.xml><?xml version="1.0" encoding="utf-8"?>
<p:tagLst xmlns:a="http://schemas.openxmlformats.org/drawingml/2006/main" xmlns:r="http://schemas.openxmlformats.org/officeDocument/2006/relationships" xmlns:p="http://schemas.openxmlformats.org/presentationml/2006/main">
  <p:tag name="PPWINSEGMENT1START" val="1"/>
  <p:tag name="PPWINSEGMENT1LENGTH" val="15"/>
  <p:tag name="PPWINSEGMENT1SOURCERTF" val="{\rtf1\ansi\deff0{\fonttbl{\f0\fcharset0 Arial Narrow;}}{\colortbl\red0\green0\blue0;}{\f0\fs32\b\cf0 Wireless Client\par}}"/>
  <p:tag name="PPWINSEGMENT1TARGETRTF" val="{\rtf1\ansi\deff1{\fonttbl{\f1\fcharset0 Arial;}{\f2\fcharset0 Arial Narrow;}}{\colortbl\red0\green0\blue0;}{\f2\fs32\b\cf0 Client sans fil\par}}"/>
  <p:tag name="PPWINLASTSAVEDTRANSLATION" val="Client sans fil"/>
  <p:tag name="PPWINALREADYSEGMENTED" val="True"/>
  <p:tag name="PPWINTOTALSEGMENTS" val="1"/>
</p:tagLst>
</file>

<file path=ppt/tags/tag185.xml><?xml version="1.0" encoding="utf-8"?>
<p:tagLst xmlns:a="http://schemas.openxmlformats.org/drawingml/2006/main" xmlns:r="http://schemas.openxmlformats.org/officeDocument/2006/relationships" xmlns:p="http://schemas.openxmlformats.org/presentationml/2006/main">
  <p:tag name="PPTAGGERGROUP" val="3,5,7"/>
</p:tagLst>
</file>

<file path=ppt/tags/tag186.xml><?xml version="1.0" encoding="utf-8"?>
<p:tagLst xmlns:a="http://schemas.openxmlformats.org/drawingml/2006/main" xmlns:r="http://schemas.openxmlformats.org/officeDocument/2006/relationships" xmlns:p="http://schemas.openxmlformats.org/presentationml/2006/main">
  <p:tag name="PPTAGGERGROUP" val="3,5,7"/>
</p:tagLst>
</file>

<file path=ppt/tags/tag187.xml><?xml version="1.0" encoding="utf-8"?>
<p:tagLst xmlns:a="http://schemas.openxmlformats.org/drawingml/2006/main" xmlns:r="http://schemas.openxmlformats.org/officeDocument/2006/relationships" xmlns:p="http://schemas.openxmlformats.org/presentationml/2006/main">
  <p:tag name="PPTAGGERGROUP" val="3,5,7"/>
</p:tagLst>
</file>

<file path=ppt/tags/tag188.xml><?xml version="1.0" encoding="utf-8"?>
<p:tagLst xmlns:a="http://schemas.openxmlformats.org/drawingml/2006/main" xmlns:r="http://schemas.openxmlformats.org/officeDocument/2006/relationships" xmlns:p="http://schemas.openxmlformats.org/presentationml/2006/main">
  <p:tag name="PPTAGGERGROUP" val="3,5,7"/>
</p:tagLst>
</file>

<file path=ppt/tags/tag189.xml><?xml version="1.0" encoding="utf-8"?>
<p:tagLst xmlns:a="http://schemas.openxmlformats.org/drawingml/2006/main" xmlns:r="http://schemas.openxmlformats.org/officeDocument/2006/relationships" xmlns:p="http://schemas.openxmlformats.org/presentationml/2006/main">
  <p:tag name="PPTAGGERGROUP" val="3,5"/>
</p:tagLst>
</file>

<file path=ppt/tags/tag190.xml><?xml version="1.0" encoding="utf-8"?>
<p:tagLst xmlns:a="http://schemas.openxmlformats.org/drawingml/2006/main" xmlns:r="http://schemas.openxmlformats.org/officeDocument/2006/relationships" xmlns:p="http://schemas.openxmlformats.org/presentationml/2006/main">
  <p:tag name="PPTAGGERGROUP" val="3,6"/>
</p:tagLst>
</file>

<file path=ppt/tags/tag191.xml><?xml version="1.0" encoding="utf-8"?>
<p:tagLst xmlns:a="http://schemas.openxmlformats.org/drawingml/2006/main" xmlns:r="http://schemas.openxmlformats.org/officeDocument/2006/relationships" xmlns:p="http://schemas.openxmlformats.org/presentationml/2006/main">
  <p:tag name="PPTAGGERGROUP" val="3,6"/>
</p:tagLst>
</file>

<file path=ppt/tags/tag192.xml><?xml version="1.0" encoding="utf-8"?>
<p:tagLst xmlns:a="http://schemas.openxmlformats.org/drawingml/2006/main" xmlns:r="http://schemas.openxmlformats.org/officeDocument/2006/relationships" xmlns:p="http://schemas.openxmlformats.org/presentationml/2006/main">
  <p:tag name="PPTAGGERGROUP" val="3,6"/>
</p:tagLst>
</file>

<file path=ppt/tags/tag193.xml><?xml version="1.0" encoding="utf-8"?>
<p:tagLst xmlns:a="http://schemas.openxmlformats.org/drawingml/2006/main" xmlns:r="http://schemas.openxmlformats.org/officeDocument/2006/relationships" xmlns:p="http://schemas.openxmlformats.org/presentationml/2006/main">
  <p:tag name="PPTAGGERGROUP" val="3,6"/>
</p:tagLst>
</file>

<file path=ppt/tags/tag194.xml><?xml version="1.0" encoding="utf-8"?>
<p:tagLst xmlns:a="http://schemas.openxmlformats.org/drawingml/2006/main" xmlns:r="http://schemas.openxmlformats.org/officeDocument/2006/relationships" xmlns:p="http://schemas.openxmlformats.org/presentationml/2006/main">
  <p:tag name="PPWINSEGMENT1START" val="1"/>
  <p:tag name="PPWINSEGMENT1LENGTH" val="41"/>
  <p:tag name="PPWINSEGMENT1SOURCERTF" val="{\rtf1\ansi\deff0{\fonttbl{\f0\fcharset0 Arial Narrow;}}{\colortbl\red0\green0\blue0;}{\f0\fs60\b\cf0 Overview of Wireless Network Access\par}}"/>
  <p:tag name="PPWINSEGMENT1TARGETRTF" val="{\rtf1\ansi\deff1{\fonttbl{\f1\fcharset0 Arial;}{\f2\fcharset0 Arial Narrow;}}{\colortbl\red0\green0\blue0;}{\f2\fs60\b\cf0 Vue d'ensemble de l'acc\'E8s r\'E9seau sans fil\par}}"/>
  <p:tag name="PPWINLASTSAVEDTRANSLATION" val="Vue d'ensemble de l'accès réseau sans fil"/>
  <p:tag name="PPWINALREADYSEGMENTED" val="True"/>
  <p:tag name="PPWINTOTALSEGMENTS" val="1"/>
</p:tagLst>
</file>

<file path=ppt/tags/tag195.xml><?xml version="1.0" encoding="utf-8"?>
<p:tagLst xmlns:a="http://schemas.openxmlformats.org/drawingml/2006/main" xmlns:r="http://schemas.openxmlformats.org/officeDocument/2006/relationships" xmlns:p="http://schemas.openxmlformats.org/presentationml/2006/main">
  <p:tag name="PPWINSEGMENT1START" val="1"/>
  <p:tag name="PPWINSEGMENT1LENGTH" val="273"/>
  <p:tag name="PPWINSEGMENT1SOURCERTF" val="{\rtf1\ansi\deff0{\fonttbl{\f0\fcharset0 Arial Narrow;}}{\colortbl\red0\green0\blue0;}{\f0\fs44\b\cf0 A }{\f0\fs44\b\i\cf0 wireless network}{\f0\fs44\b\cf0  uses technology that enables devices to communicate by using standard network protocols and electromagnetic waves\'97not network cabling\'97to carry signals over part or all of the network infrastructure\par}}"/>
  <p:tag name="PPWINSEGMENT1TARGETRTF" val="{\rtf1\ansi\deff1{\fonttbl{\f1\fcharset0 Arial;}{\f2\fcharset0 Arial Narrow;}}{\colortbl\red0\green0\blue0;}{\f2\fs44\b\cf0 La technologie utilis\'E9e sur un }{\f2\fs44\b\i\cf0 r\'E9seau sans fil}{\f2\fs44\b\cf0  permet \'E0 plusieurs p\'E9riph\'E9riques de communiquer au moyen de protocoles r\'E9seau standard et d'ondes \'E9lectromagn\'E9tiques (et non de c\'E2bles r\'E9seau) afin de transporter des signaux sur toute ou une partie de l'infrastructure r\'E9seau.\par}}"/>
  <p:tag name="PPWINLASTSAVEDTRANSLATION" val="La technologie utilisée sur un réseau sans fil permet à plusieurs périphériques de communiquer au moyen de protocoles réseau standard et d'ondes électromagnétiques (et non de câbles réseau) afin de transporter des signaux sur toute ou une partie de l'infrastructure réseau."/>
  <p:tag name="PPWINALREADYSEGMENTED" val="True"/>
  <p:tag name="PPWINTOTALSEGMENTS" val="1"/>
</p:tagLst>
</file>

<file path=ppt/tags/tag196.xml><?xml version="1.0" encoding="utf-8"?>
<p:tagLst xmlns:a="http://schemas.openxmlformats.org/drawingml/2006/main" xmlns:r="http://schemas.openxmlformats.org/officeDocument/2006/relationships" xmlns:p="http://schemas.openxmlformats.org/presentationml/2006/main">
  <p:tag name="PPTAGGERGROUP" val="3,5,8"/>
</p:tagLst>
</file>

<file path=ppt/tags/tag197.xml><?xml version="1.0" encoding="utf-8"?>
<p:tagLst xmlns:a="http://schemas.openxmlformats.org/drawingml/2006/main" xmlns:r="http://schemas.openxmlformats.org/officeDocument/2006/relationships" xmlns:p="http://schemas.openxmlformats.org/presentationml/2006/main">
  <p:tag name="PPTAGGERGROUP" val="3,5,8"/>
</p:tagLst>
</file>

<file path=ppt/tags/tag198.xml><?xml version="1.0" encoding="utf-8"?>
<p:tagLst xmlns:a="http://schemas.openxmlformats.org/drawingml/2006/main" xmlns:r="http://schemas.openxmlformats.org/officeDocument/2006/relationships" xmlns:p="http://schemas.openxmlformats.org/presentationml/2006/main">
  <p:tag name="PPWINTOTALSEGMENTS" val="0"/>
</p:tagLst>
</file>

<file path=ppt/tags/tag199.xml><?xml version="1.0" encoding="utf-8"?>
<p:tagLst xmlns:a="http://schemas.openxmlformats.org/drawingml/2006/main" xmlns:r="http://schemas.openxmlformats.org/officeDocument/2006/relationships" xmlns:p="http://schemas.openxmlformats.org/presentationml/2006/main">
  <p:tag name="PPWINSEGMENT1START" val="1"/>
  <p:tag name="PPWINSEGMENT1LENGTH" val="35"/>
  <p:tag name="PPWINSEGMENT1SOURCERTF" val="{\rtf1\ansi\deff0{\fonttbl{\f0\fcharset0 Arial Narrow;}}{\colortbl\red0\green0\blue0;}{\f0\fs60\b\cf0 Components of a Wireless Connection\par}}"/>
  <p:tag name="PPWINLASTSAVEDTRANSLATION" val="Composants d'une connexion sans fil"/>
  <p:tag name="PPWINALREADYSEGMENTED" val="True"/>
  <p:tag name="PPWINTOTALSEGMENTS" val="1"/>
  <p:tag name="PPWINSEGMENT1TARGETRTF" val="{\rtf1\ansi\deff0{\fonttbl{\f0\fcharset0 Arial Narrow;}}{\colortbl\red0\green0\blue0;}{\f0\fs60\b\cf0 Composants d'une connexion sans fil\par}}"/>
</p:tagLst>
</file>

<file path=ppt/tags/tag200.xml><?xml version="1.0" encoding="utf-8"?>
<p:tagLst xmlns:a="http://schemas.openxmlformats.org/drawingml/2006/main" xmlns:r="http://schemas.openxmlformats.org/officeDocument/2006/relationships" xmlns:p="http://schemas.openxmlformats.org/presentationml/2006/main">
  <p:tag name="PPTAGGERGROUP" val="1"/>
</p:tagLst>
</file>

<file path=ppt/tags/tag201.xml><?xml version="1.0" encoding="utf-8"?>
<p:tagLst xmlns:a="http://schemas.openxmlformats.org/drawingml/2006/main" xmlns:r="http://schemas.openxmlformats.org/officeDocument/2006/relationships" xmlns:p="http://schemas.openxmlformats.org/presentationml/2006/main">
  <p:tag name="PPTAGGERGROUP" val="1"/>
  <p:tag name="PPWINDOWLASTEDITMARKER" val="9"/>
  <p:tag name="PPWINSEGMENT1START" val="1"/>
  <p:tag name="PPWINSEGMENT1LENGTH" val="7"/>
  <p:tag name="PPWINSEGMENT1SOURCERTF" val="{\rtf1\ansi\deff0{\fonttbl{\f0\fcharset0 Arial Narrow;}}{\colortbl\red0\green0\blue0;}{\f0\fs36\b\cf0 DHCP\par}}"/>
  <p:tag name="PPWINSEGMENT1TARGETRTF" val="{\rtf1\ansi\deff1{\fonttbl{\f1\fcharset0 Arial;}{\f2\fcharset0 Arial Narrow;}}{\colortbl\red0\green0\blue0;}{\f2\fs36\b\cf0 Serveur\par}}"/>
  <p:tag name="PPWINSEGMENT2START" val="9"/>
  <p:tag name="PPWINSEGMENT2LENGTH" val="4"/>
  <p:tag name="PPWINSEGMENT2SOURCERTF" val="{\rtf1\ansi\deff0{\fonttbl{\f0\fcharset0 Arial Narrow;}}{\colortbl\red0\green0\blue0;}{\f0\fs36\b\cf0 Server\par}}"/>
  <p:tag name="PPWINSEGMENT2TARGETRTF" val="{\rtf1\ansi\deff1{\fonttbl{\f1\fcharset0 Arial;}{\f2\fcharset0 Arial Narrow;}}{\colortbl\red0\green0\blue0;}{\f2\fs36\b\cf0 DHCP\par}}"/>
  <p:tag name="PPWINLASTSAVEDTRANSLATION" val="Serveur&#10;DHCP"/>
  <p:tag name="PPWINALREADYSEGMENTED" val="True"/>
  <p:tag name="PPWINTOTALSEGMENTS" val="2"/>
</p:tagLst>
</file>

<file path=ppt/tags/tag202.xml><?xml version="1.0" encoding="utf-8"?>
<p:tagLst xmlns:a="http://schemas.openxmlformats.org/drawingml/2006/main" xmlns:r="http://schemas.openxmlformats.org/officeDocument/2006/relationships" xmlns:p="http://schemas.openxmlformats.org/presentationml/2006/main">
  <p:tag name="PPTAGGERGROUP" val="1"/>
</p:tagLst>
</file>

<file path=ppt/tags/tag203.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23"/>
  <p:tag name="PPWINSEGMENT1SOURCERTF" val="{\rtf1\ansi\deff0{\fonttbl{\f0\fcharset0 Arial Narrow;}}{\colortbl\red0\green0\blue0;}{\f0\fs36\b\cf0 Remote \line}{\f0\fs36\b\cf0 Access Server\par}}"/>
  <p:tag name="PPWINLASTSAVEDTRANSLATION" val="Serveur d'accèsdistant"/>
  <p:tag name="PPWINALREADYSEGMENTED" val="True"/>
  <p:tag name="PPWINTOTALSEGMENTS" val="1"/>
  <p:tag name="PPWINSEGMENT1TARGETRTF" val="{\rtf1\ansi\deff0{\fonttbl{\f0\fcharset0 Arial Narrow;}}{\colortbl\red0\green0\blue0;}{\f0\fs36\b\cf0 Serveur d'acc\'E8s\line}{\f0\fs36\b\cf0 distant\par}}"/>
</p:tagLst>
</file>

<file path=ppt/tags/tag204.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10"/>
  <p:tag name="PPWINSEGMENT1SOURCERTF" val="{\rtf1\ansi\deff0{\fonttbl{\f0\fcharset0 Arial Narrow;}}{\colortbl\red0\green0\blue0;}{\f0\fs36\b\cf0 Domain\par}}"/>
  <p:tag name="PPWINSEGMENT2START" val="12"/>
  <p:tag name="PPWINSEGMENT2LENGTH" val="10"/>
  <p:tag name="PPWINSEGMENT2SOURCERTF" val="{\rtf1\ansi\deff0{\fonttbl{\f0\fcharset0 Arial Narrow;}}{\colortbl\red0\green0\blue0;}{\f0\fs36\b\cf0 Controller \par}}"/>
  <p:tag name="PPWINLASTSAVEDTRANSLATION" val="Contrôleur&#10;de domaine"/>
  <p:tag name="PPWINALREADYSEGMENTED" val="True"/>
  <p:tag name="PPWINTOTALSEGMENTS" val="2"/>
  <p:tag name="PPWINSEGMENT1TARGETRTF" val="{\rtf1\ansi\deff0{\fonttbl{\f0\fcharset0 Arial Narrow;}}{\colortbl\red0\green0\blue0;}{\f0\fs36\b\cf0 Contr\'F4leur\par}}"/>
  <p:tag name="PPWINSEGMENT2TARGETRTF" val="{\rtf1\ansi\deff0{\fonttbl{\f0\fcharset0 Arial Narrow;}}{\colortbl\red0\green0\blue0;}{\f0\fs36\b\cf0 de domaine\par}}"/>
</p:tagLst>
</file>

<file path=ppt/tags/tag205.xml><?xml version="1.0" encoding="utf-8"?>
<p:tagLst xmlns:a="http://schemas.openxmlformats.org/drawingml/2006/main" xmlns:r="http://schemas.openxmlformats.org/officeDocument/2006/relationships" xmlns:p="http://schemas.openxmlformats.org/presentationml/2006/main">
  <p:tag name="PPTAGGERGROUP" val="1"/>
</p:tagLst>
</file>

<file path=ppt/tags/tag206.xml><?xml version="1.0" encoding="utf-8"?>
<p:tagLst xmlns:a="http://schemas.openxmlformats.org/drawingml/2006/main" xmlns:r="http://schemas.openxmlformats.org/officeDocument/2006/relationships" xmlns:p="http://schemas.openxmlformats.org/presentationml/2006/main">
  <p:tag name="PPTAGGERGROUP" val="1"/>
</p:tagLst>
</file>

<file path=ppt/tags/tag207.xml><?xml version="1.0" encoding="utf-8"?>
<p:tagLst xmlns:a="http://schemas.openxmlformats.org/drawingml/2006/main" xmlns:r="http://schemas.openxmlformats.org/officeDocument/2006/relationships" xmlns:p="http://schemas.openxmlformats.org/presentationml/2006/main">
  <p:tag name="PPTAGGERGROUP" val="1"/>
</p:tagLst>
</file>

<file path=ppt/tags/tag208.xml><?xml version="1.0" encoding="utf-8"?>
<p:tagLst xmlns:a="http://schemas.openxmlformats.org/drawingml/2006/main" xmlns:r="http://schemas.openxmlformats.org/officeDocument/2006/relationships" xmlns:p="http://schemas.openxmlformats.org/presentationml/2006/main">
  <p:tag name="PPTAGGERGROUP" val="1"/>
</p:tagLst>
</file>

<file path=ppt/tags/tag209.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46"/>
  <p:tag name="PPWINSEGMENT1SOURCERTF" val="{\rtf1\ansi\deff0{\fonttbl{\f0\fcharset0 Arial Narrow;}}{\colortbl\red0\green0\blue0;}{\f0\fs36\b\cf0 Address and Name Server Allocation\par}}"/>
  <p:tag name="PPWINLASTSAVEDTRANSLATION" val="Attribution d'un serveur de noms et d'adresses"/>
  <p:tag name="PPWINALREADYSEGMENTED" val="True"/>
  <p:tag name="PPWINTOTALSEGMENTS" val="1"/>
  <p:tag name="PPWINSEGMENT1TARGETRTF" val="{\rtf1\ansi\deff0{\fonttbl{\f0\fcharset0 Arial Narrow;}}{\colortbl\red0\green0\blue0;}{\f0\fs36\b\cf0 Attribution d'un serveur de noms et d'adresses\par}}"/>
</p:tagLst>
</file>

<file path=ppt/tags/tag210.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16"/>
  <p:tag name="PPWINSEGMENT1SOURCERTF" val="{\rtf1\ansi\deff0{\fonttbl{\f0\fcharset0 Arial Narrow;}}{\colortbl\red0\green0\blue0;}{\f0\fs36\b\cf0 Authentication\par}}"/>
  <p:tag name="PPWINLASTSAVEDTRANSLATION" val="Authentification"/>
  <p:tag name="PPWINALREADYSEGMENTED" val="True"/>
  <p:tag name="PPWINTOTALSEGMENTS" val="1"/>
  <p:tag name="PPWINSEGMENT1TARGETRTF" val="{\rtf1\ansi\deff0{\fonttbl{\f0\fcharset0 Arial Narrow;}}{\colortbl\red0\green0\blue0;}{\f0\fs36\b\cf0 Authentification\par}}"/>
</p:tagLst>
</file>

<file path=ppt/tags/tag211.xml><?xml version="1.0" encoding="utf-8"?>
<p:tagLst xmlns:a="http://schemas.openxmlformats.org/drawingml/2006/main" xmlns:r="http://schemas.openxmlformats.org/officeDocument/2006/relationships" xmlns:p="http://schemas.openxmlformats.org/presentationml/2006/main">
  <p:tag name="PPTAGGERGROUP" val="1,2"/>
</p:tagLst>
</file>

<file path=ppt/tags/tag212.xml><?xml version="1.0" encoding="utf-8"?>
<p:tagLst xmlns:a="http://schemas.openxmlformats.org/drawingml/2006/main" xmlns:r="http://schemas.openxmlformats.org/officeDocument/2006/relationships" xmlns:p="http://schemas.openxmlformats.org/presentationml/2006/main">
  <p:tag name="PPTAGGERGROUP" val="1,2"/>
</p:tagLst>
</file>

<file path=ppt/tags/tag213.xml><?xml version="1.0" encoding="utf-8"?>
<p:tagLst xmlns:a="http://schemas.openxmlformats.org/drawingml/2006/main" xmlns:r="http://schemas.openxmlformats.org/officeDocument/2006/relationships" xmlns:p="http://schemas.openxmlformats.org/presentationml/2006/main">
  <p:tag name="PPTAGGERGROUP" val="1,2"/>
</p:tagLst>
</file>

<file path=ppt/tags/tag214.xml><?xml version="1.0" encoding="utf-8"?>
<p:tagLst xmlns:a="http://schemas.openxmlformats.org/drawingml/2006/main" xmlns:r="http://schemas.openxmlformats.org/officeDocument/2006/relationships" xmlns:p="http://schemas.openxmlformats.org/presentationml/2006/main">
  <p:tag name="PPTAGGERGROUP" val="1,2"/>
</p:tagLst>
</file>

<file path=ppt/tags/tag215.xml><?xml version="1.0" encoding="utf-8"?>
<p:tagLst xmlns:a="http://schemas.openxmlformats.org/drawingml/2006/main" xmlns:r="http://schemas.openxmlformats.org/officeDocument/2006/relationships" xmlns:p="http://schemas.openxmlformats.org/presentationml/2006/main">
  <p:tag name="PPTAGGERGROUP" val="1,3"/>
</p:tagLst>
</file>

<file path=ppt/tags/tag216.xml><?xml version="1.0" encoding="utf-8"?>
<p:tagLst xmlns:a="http://schemas.openxmlformats.org/drawingml/2006/main" xmlns:r="http://schemas.openxmlformats.org/officeDocument/2006/relationships" xmlns:p="http://schemas.openxmlformats.org/presentationml/2006/main">
  <p:tag name="PPTAGGERGROUP" val="1,3"/>
</p:tagLst>
</file>

<file path=ppt/tags/tag217.xml><?xml version="1.0" encoding="utf-8"?>
<p:tagLst xmlns:a="http://schemas.openxmlformats.org/drawingml/2006/main" xmlns:r="http://schemas.openxmlformats.org/officeDocument/2006/relationships" xmlns:p="http://schemas.openxmlformats.org/presentationml/2006/main">
  <p:tag name="PPTAGGERGROUP" val="1,3"/>
</p:tagLst>
</file>

<file path=ppt/tags/tag218.xml><?xml version="1.0" encoding="utf-8"?>
<p:tagLst xmlns:a="http://schemas.openxmlformats.org/drawingml/2006/main" xmlns:r="http://schemas.openxmlformats.org/officeDocument/2006/relationships" xmlns:p="http://schemas.openxmlformats.org/presentationml/2006/main">
  <p:tag name="PPTAGGERGROUP" val="1,3"/>
</p:tagLst>
</file>

<file path=ppt/tags/tag219.xml><?xml version="1.0" encoding="utf-8"?>
<p:tagLst xmlns:a="http://schemas.openxmlformats.org/drawingml/2006/main" xmlns:r="http://schemas.openxmlformats.org/officeDocument/2006/relationships" xmlns:p="http://schemas.openxmlformats.org/presentationml/2006/main">
  <p:tag name="PPTAGGERGROUP" val="1,4"/>
</p:tagLst>
</file>

<file path=ppt/tags/tag220.xml><?xml version="1.0" encoding="utf-8"?>
<p:tagLst xmlns:a="http://schemas.openxmlformats.org/drawingml/2006/main" xmlns:r="http://schemas.openxmlformats.org/officeDocument/2006/relationships" xmlns:p="http://schemas.openxmlformats.org/presentationml/2006/main">
  <p:tag name="PPTAGGERGROUP" val="1,4"/>
</p:tagLst>
</file>

<file path=ppt/tags/tag221.xml><?xml version="1.0" encoding="utf-8"?>
<p:tagLst xmlns:a="http://schemas.openxmlformats.org/drawingml/2006/main" xmlns:r="http://schemas.openxmlformats.org/officeDocument/2006/relationships" xmlns:p="http://schemas.openxmlformats.org/presentationml/2006/main">
  <p:tag name="PPTAGGERGROUP" val="1,5"/>
</p:tagLst>
</file>

<file path=ppt/tags/tag222.xml><?xml version="1.0" encoding="utf-8"?>
<p:tagLst xmlns:a="http://schemas.openxmlformats.org/drawingml/2006/main" xmlns:r="http://schemas.openxmlformats.org/officeDocument/2006/relationships" xmlns:p="http://schemas.openxmlformats.org/presentationml/2006/main">
  <p:tag name="PPTAGGERGROUP" val="1,5"/>
</p:tagLst>
</file>

<file path=ppt/tags/tag223.xml><?xml version="1.0" encoding="utf-8"?>
<p:tagLst xmlns:a="http://schemas.openxmlformats.org/drawingml/2006/main" xmlns:r="http://schemas.openxmlformats.org/officeDocument/2006/relationships" xmlns:p="http://schemas.openxmlformats.org/presentationml/2006/main">
  <p:tag name="PPTAGGERGROUP" val="1,5"/>
</p:tagLst>
</file>

<file path=ppt/tags/tag224.xml><?xml version="1.0" encoding="utf-8"?>
<p:tagLst xmlns:a="http://schemas.openxmlformats.org/drawingml/2006/main" xmlns:r="http://schemas.openxmlformats.org/officeDocument/2006/relationships" xmlns:p="http://schemas.openxmlformats.org/presentationml/2006/main">
  <p:tag name="PPTAGGERGROUP" val="1,5"/>
</p:tagLst>
</file>

<file path=ppt/tags/tag225.xml><?xml version="1.0" encoding="utf-8"?>
<p:tagLst xmlns:a="http://schemas.openxmlformats.org/drawingml/2006/main" xmlns:r="http://schemas.openxmlformats.org/officeDocument/2006/relationships" xmlns:p="http://schemas.openxmlformats.org/presentationml/2006/main">
  <p:tag name="PPTAGGERGROUP" val="1"/>
</p:tagLst>
</file>

<file path=ppt/tags/tag226.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22"/>
  <p:tag name="PPWINSEGMENT1SOURCERTF" val="{\rtf1\ansi\deff0{\fonttbl{\f0\fcharset0 Arial Narrow;}}{\colortbl\red0\green0\blue0;}{\f0\fs36\b\cf0 Wireless Access Point\par}}"/>
  <p:tag name="PPWINLASTSAVEDTRANSLATION" val="Point d'accès sans fil"/>
  <p:tag name="PPWINALREADYSEGMENTED" val="True"/>
  <p:tag name="PPWINTOTALSEGMENTS" val="1"/>
  <p:tag name="PPWINSEGMENT1TARGETRTF" val="{\rtf1\ansi\deff0{\fonttbl{\f0\fcharset0 Arial Narrow;}}{\colortbl\red0\green0\blue0;}{\f0\fs36\b\cf0 Point d'acc\'E8s sans fil\par}}"/>
</p:tagLst>
</file>

<file path=ppt/tags/tag227.xml><?xml version="1.0" encoding="utf-8"?>
<p:tagLst xmlns:a="http://schemas.openxmlformats.org/drawingml/2006/main" xmlns:r="http://schemas.openxmlformats.org/officeDocument/2006/relationships" xmlns:p="http://schemas.openxmlformats.org/presentationml/2006/main">
  <p:tag name="PPTAGGERGROUP" val="1"/>
</p:tagLst>
</file>

<file path=ppt/tags/tag228.xml><?xml version="1.0" encoding="utf-8"?>
<p:tagLst xmlns:a="http://schemas.openxmlformats.org/drawingml/2006/main" xmlns:r="http://schemas.openxmlformats.org/officeDocument/2006/relationships" xmlns:p="http://schemas.openxmlformats.org/presentationml/2006/main">
  <p:tag name="PPTAGGERGROUP" val="1,1"/>
</p:tagLst>
</file>

<file path=ppt/tags/tag229.xml><?xml version="1.0" encoding="utf-8"?>
<p:tagLst xmlns:a="http://schemas.openxmlformats.org/drawingml/2006/main" xmlns:r="http://schemas.openxmlformats.org/officeDocument/2006/relationships" xmlns:p="http://schemas.openxmlformats.org/presentationml/2006/main">
  <p:tag name="PPTAGGERGROUP" val="1,1"/>
</p:tagLst>
</file>

<file path=ppt/tags/tag230.xml><?xml version="1.0" encoding="utf-8"?>
<p:tagLst xmlns:a="http://schemas.openxmlformats.org/drawingml/2006/main" xmlns:r="http://schemas.openxmlformats.org/officeDocument/2006/relationships" xmlns:p="http://schemas.openxmlformats.org/presentationml/2006/main">
  <p:tag name="PPTAGGERGROUP" val="1,1"/>
</p:tagLst>
</file>

<file path=ppt/tags/tag231.xml><?xml version="1.0" encoding="utf-8"?>
<p:tagLst xmlns:a="http://schemas.openxmlformats.org/drawingml/2006/main" xmlns:r="http://schemas.openxmlformats.org/officeDocument/2006/relationships" xmlns:p="http://schemas.openxmlformats.org/presentationml/2006/main">
  <p:tag name="PPTAGGERGROUP" val="1,1"/>
</p:tagLst>
</file>

<file path=ppt/tags/tag232.xml><?xml version="1.0" encoding="utf-8"?>
<p:tagLst xmlns:a="http://schemas.openxmlformats.org/drawingml/2006/main" xmlns:r="http://schemas.openxmlformats.org/officeDocument/2006/relationships" xmlns:p="http://schemas.openxmlformats.org/presentationml/2006/main">
  <p:tag name="PPTAGGERGROUP" val="1"/>
</p:tagLst>
</file>

<file path=ppt/tags/tag233.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5"/>
  <p:tag name="PPWINSEGMENT1SOURCERTF" val="{\rtf1\ansi\deff0{\fonttbl{\f0\fcharset0 Arial Narrow;}}{\colortbl\red0\green0\blue0;}{\f0\fs36\b\cf0 Ports\par}}"/>
  <p:tag name="PPWINLASTSAVEDTRANSLATION" val="Ports"/>
  <p:tag name="PPWINALREADYSEGMENTED" val="True"/>
  <p:tag name="PPWINTOTALSEGMENTS" val="1"/>
  <p:tag name="PPWINSEGMENT1TARGETRTF" val="{\rtf1\ansi\deff0{\fonttbl{\f0\fcharset0 Arial Narrow;}}{\colortbl\red0\green0\blue0;}{\f0\fs36\b\cf0 Ports\par}}"/>
</p:tagLst>
</file>

<file path=ppt/tags/tag234.xml><?xml version="1.0" encoding="utf-8"?>
<p:tagLst xmlns:a="http://schemas.openxmlformats.org/drawingml/2006/main" xmlns:r="http://schemas.openxmlformats.org/officeDocument/2006/relationships" xmlns:p="http://schemas.openxmlformats.org/presentationml/2006/main">
  <p:tag name="PPWINSEGMENT1START" val="1"/>
  <p:tag name="PPWINSEGMENT1LENGTH" val="27"/>
  <p:tag name="PPWINSEGMENT1SOURCERTF" val="{\rtf1\ansi\deff0{\fonttbl{\f0\fcharset0 Arial Narrow;}}{\colortbl\red0\green0\blue0;}{\f0\fs44\b\cf0 Recommended method for user \par}}"/>
  <p:tag name="PPWINSEGMENT1TARGETRTF" val="{\rtf1\ansi\deff1{\fonttbl{\f1\fcharset0 Arial;}{\f2\fcharset0 Arial Narrow;}}{\colortbl\red0\green0\blue0;}{\f2\fs44\b\cf0 La m\'E9thode recommand\'E9e pour\par}}"/>
  <p:tag name="PPWINSEGMENT2START" val="29"/>
  <p:tag name="PPWINSEGMENT2LENGTH" val="87"/>
  <p:tag name="PPWINSEGMENT2SOURCERTF" val="{\rtf1\ansi\deff0{\fonttbl{\f0\fcharset0 Arial Narrow;}}{\colortbl\red0\green0\blue0;}{\f0\fs44\b\cf0 authentication is by using smart card certificates\par}}"/>
  <p:tag name="PPWINSEGMENT2TARGETRTF" val="{\rtf1\ansi\deff1{\fonttbl{\f1\fcharset0 Arial;}{\f2\fcharset0 Arial Narrow;}}{\colortbl\red0\green0\blue0;}{\f2\fs44\b\cf0 l'authentification des utilisateurs est de faire appel aux certificats de cartes \'E0 puce\par}}"/>
  <p:tag name="PPWINLASTSAVEDTRANSLATION" val="La méthode recommandée pour&#10;l'authentification des utilisateurs est de faire appel aux certificats de cartes à puce"/>
  <p:tag name="PPWINALREADYSEGMENTED" val="True"/>
  <p:tag name="PPWINTOTALSEGMENTS" val="2"/>
</p:tagLst>
</file>

<file path=ppt/tags/tag235.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25"/>
  <p:tag name="PPWINSEGMENT1SOURCERTF" val="{\rtf1\ansi\deff0{\fonttbl{\f0\fcharset0 Arial Narrow;}}{\colortbl\red0\green0\blue0;}{\f0\fs36\b\cf0 Dial-up Client\par}}"/>
  <p:tag name="PPWINSEGMENT1TARGETRTF" val="{\rtf1\ansi\deff1{\fonttbl{\f1\fcharset0 Arial;}{\f2\fcharset0 Arial Narrow;}}{\colortbl\red0\green0\blue0;}{\f2\fs36\b\cf0 Client d'acc\'E8s \'E0 distance\par}}"/>
  <p:tag name="PPWINLASTSAVEDTRANSLATION" val="Client d'accès à distance"/>
  <p:tag name="PPWINALREADYSEGMENTED" val="True"/>
  <p:tag name="PPWINTOTALSEGMENTS" val="1"/>
</p:tagLst>
</file>

<file path=ppt/tags/tag236.xml><?xml version="1.0" encoding="utf-8"?>
<p:tagLst xmlns:a="http://schemas.openxmlformats.org/drawingml/2006/main" xmlns:r="http://schemas.openxmlformats.org/officeDocument/2006/relationships" xmlns:p="http://schemas.openxmlformats.org/presentationml/2006/main">
  <p:tag name="PPWINSEGMENT1START" val="1"/>
  <p:tag name="PPWINSEGMENT1LENGTH" val="27"/>
  <p:tag name="PPWINSEGMENT1SOURCERTF" val="{\rtf1\ansi\deff0{\fonttbl{\f0\fcharset0 Arial Narrow;}}{\colortbl\red0\green0\blue0;}{\f0\fs44\b\cf0 Recommended method for user \par}}"/>
  <p:tag name="PPWINSEGMENT1TARGETRTF" val="{\rtf1\ansi\deff1{\fonttbl{\f1\fcharset0 Arial;}{\f2\fcharset0 Arial Narrow;}}{\colortbl\red0\green0\blue0;}{\f2\fs44\b\cf0 La m\'E9thode recommand\'E9e pour\par}}"/>
  <p:tag name="PPWINSEGMENT2START" val="29"/>
  <p:tag name="PPWINSEGMENT2LENGTH" val="87"/>
  <p:tag name="PPWINSEGMENT2SOURCERTF" val="{\rtf1\ansi\deff0{\fonttbl{\f0\fcharset0 Arial Narrow;}}{\colortbl\red0\green0\blue0;}{\f0\fs44\b\cf0 authentication is by using smart card certificates\par}}"/>
  <p:tag name="PPWINSEGMENT2TARGETRTF" val="{\rtf1\ansi\deff1{\fonttbl{\f1\fcharset0 Arial;}{\f2\fcharset0 Arial Narrow;}}{\colortbl\red0\green0\blue0;}{\f2\fs44\b\cf0 l'authentification des utilisateurs est de faire appel aux certificats de cartes \'E0 puce\par}}"/>
  <p:tag name="PPWINLASTSAVEDTRANSLATION" val="La méthode recommandée pour&#10;l'authentification des utilisateurs est de faire appel aux certificats de cartes à puce"/>
  <p:tag name="PPWINALREADYSEGMENTED" val="True"/>
  <p:tag name="PPWINTOTALSEGMENTS" val="2"/>
</p:tagLst>
</file>

<file path=ppt/tags/tag237.xml><?xml version="1.0" encoding="utf-8"?>
<p:tagLst xmlns:a="http://schemas.openxmlformats.org/drawingml/2006/main" xmlns:r="http://schemas.openxmlformats.org/officeDocument/2006/relationships" xmlns:p="http://schemas.openxmlformats.org/presentationml/2006/main">
  <p:tag name="PPWINSEGMENT1START" val="1"/>
  <p:tag name="PPWINSEGMENT1LENGTH" val="27"/>
  <p:tag name="PPWINSEGMENT1SOURCERTF" val="{\rtf1\ansi\deff0{\fonttbl{\f0\fcharset0 Arial Narrow;}}{\colortbl\red0\green0\blue0;}{\f0\fs44\b\cf0 Recommended method for user \par}}"/>
  <p:tag name="PPWINSEGMENT1TARGETRTF" val="{\rtf1\ansi\deff1{\fonttbl{\f1\fcharset0 Arial;}{\f2\fcharset0 Arial Narrow;}}{\colortbl\red0\green0\blue0;}{\f2\fs44\b\cf0 La m\'E9thode recommand\'E9e pour\par}}"/>
  <p:tag name="PPWINSEGMENT2START" val="29"/>
  <p:tag name="PPWINSEGMENT2LENGTH" val="87"/>
  <p:tag name="PPWINSEGMENT2SOURCERTF" val="{\rtf1\ansi\deff0{\fonttbl{\f0\fcharset0 Arial Narrow;}}{\colortbl\red0\green0\blue0;}{\f0\fs44\b\cf0 authentication is by using smart card certificates\par}}"/>
  <p:tag name="PPWINSEGMENT2TARGETRTF" val="{\rtf1\ansi\deff1{\fonttbl{\f1\fcharset0 Arial;}{\f2\fcharset0 Arial Narrow;}}{\colortbl\red0\green0\blue0;}{\f2\fs44\b\cf0 l'authentification des utilisateurs est de faire appel aux certificats de cartes \'E0 puce\par}}"/>
  <p:tag name="PPWINLASTSAVEDTRANSLATION" val="La méthode recommandée pour&#10;l'authentification des utilisateurs est de faire appel aux certificats de cartes à puce"/>
  <p:tag name="PPWINALREADYSEGMENTED" val="True"/>
  <p:tag name="PPWINTOTALSEGMENTS" val="2"/>
</p:tagLst>
</file>

<file path=ppt/tags/tag238.xml><?xml version="1.0" encoding="utf-8"?>
<p:tagLst xmlns:a="http://schemas.openxmlformats.org/drawingml/2006/main" xmlns:r="http://schemas.openxmlformats.org/officeDocument/2006/relationships" xmlns:p="http://schemas.openxmlformats.org/presentationml/2006/main">
  <p:tag name="PPWINSEGMENT1START" val="1"/>
  <p:tag name="PPWINSEGMENT1LENGTH" val="27"/>
  <p:tag name="PPWINSEGMENT1SOURCERTF" val="{\rtf1\ansi\deff0{\fonttbl{\f0\fcharset0 Arial Narrow;}}{\colortbl\red0\green0\blue0;}{\f0\fs44\b\cf0 Recommended method for user \par}}"/>
  <p:tag name="PPWINSEGMENT1TARGETRTF" val="{\rtf1\ansi\deff1{\fonttbl{\f1\fcharset0 Arial;}{\f2\fcharset0 Arial Narrow;}}{\colortbl\red0\green0\blue0;}{\f2\fs44\b\cf0 La m\'E9thode recommand\'E9e pour\par}}"/>
  <p:tag name="PPWINSEGMENT2START" val="29"/>
  <p:tag name="PPWINSEGMENT2LENGTH" val="87"/>
  <p:tag name="PPWINSEGMENT2SOURCERTF" val="{\rtf1\ansi\deff0{\fonttbl{\f0\fcharset0 Arial Narrow;}}{\colortbl\red0\green0\blue0;}{\f0\fs44\b\cf0 authentication is by using smart card certificates\par}}"/>
  <p:tag name="PPWINSEGMENT2TARGETRTF" val="{\rtf1\ansi\deff1{\fonttbl{\f1\fcharset0 Arial;}{\f2\fcharset0 Arial Narrow;}}{\colortbl\red0\green0\blue0;}{\f2\fs44\b\cf0 l'authentification des utilisateurs est de faire appel aux certificats de cartes \'E0 puce\par}}"/>
  <p:tag name="PPWINLASTSAVEDTRANSLATION" val="La méthode recommandée pour&#10;l'authentification des utilisateurs est de faire appel aux certificats de cartes à puce"/>
  <p:tag name="PPWINALREADYSEGMENTED" val="True"/>
  <p:tag name="PPWINTOTALSEGMENTS" val="2"/>
</p:tagLst>
</file>

<file path=ppt/tags/tag239.xml><?xml version="1.0" encoding="utf-8"?>
<p:tagLst xmlns:a="http://schemas.openxmlformats.org/drawingml/2006/main" xmlns:r="http://schemas.openxmlformats.org/officeDocument/2006/relationships" xmlns:p="http://schemas.openxmlformats.org/presentationml/2006/main">
  <p:tag name="PPWINSEGMENT1START" val="1"/>
  <p:tag name="PPWINSEGMENT1LENGTH" val="27"/>
  <p:tag name="PPWINSEGMENT1SOURCERTF" val="{\rtf1\ansi\deff0{\fonttbl{\f0\fcharset0 Arial Narrow;}}{\colortbl\red0\green0\blue0;}{\f0\fs44\b\cf0 Recommended method for user \par}}"/>
  <p:tag name="PPWINSEGMENT1TARGETRTF" val="{\rtf1\ansi\deff1{\fonttbl{\f1\fcharset0 Arial;}{\f2\fcharset0 Arial Narrow;}}{\colortbl\red0\green0\blue0;}{\f2\fs44\b\cf0 La m\'E9thode recommand\'E9e pour\par}}"/>
  <p:tag name="PPWINSEGMENT2START" val="29"/>
  <p:tag name="PPWINSEGMENT2LENGTH" val="87"/>
  <p:tag name="PPWINSEGMENT2SOURCERTF" val="{\rtf1\ansi\deff0{\fonttbl{\f0\fcharset0 Arial Narrow;}}{\colortbl\red0\green0\blue0;}{\f0\fs44\b\cf0 authentication is by using smart card certificates\par}}"/>
  <p:tag name="PPWINSEGMENT2TARGETRTF" val="{\rtf1\ansi\deff1{\fonttbl{\f1\fcharset0 Arial;}{\f2\fcharset0 Arial Narrow;}}{\colortbl\red0\green0\blue0;}{\f2\fs44\b\cf0 l'authentification des utilisateurs est de faire appel aux certificats de cartes \'E0 puce\par}}"/>
  <p:tag name="PPWINLASTSAVEDTRANSLATION" val="La méthode recommandée pour&#10;l'authentification des utilisateurs est de faire appel aux certificats de cartes à puce"/>
  <p:tag name="PPWINALREADYSEGMENTED" val="True"/>
  <p:tag name="PPWINTOTALSEGMENTS" val="2"/>
</p:tagLst>
</file>

<file path=ppt/tags/tag240.xml><?xml version="1.0" encoding="utf-8"?>
<p:tagLst xmlns:a="http://schemas.openxmlformats.org/drawingml/2006/main" xmlns:r="http://schemas.openxmlformats.org/officeDocument/2006/relationships" xmlns:p="http://schemas.openxmlformats.org/presentationml/2006/main">
  <p:tag name="PPWINTOTALSEGMENTS" val="0"/>
</p:tagLst>
</file>

<file path=ppt/tags/tag241.xml><?xml version="1.0" encoding="utf-8"?>
<p:tagLst xmlns:a="http://schemas.openxmlformats.org/drawingml/2006/main" xmlns:r="http://schemas.openxmlformats.org/officeDocument/2006/relationships" xmlns:p="http://schemas.openxmlformats.org/presentationml/2006/main">
  <p:tag name="PPWINSEGMENT1START" val="1"/>
  <p:tag name="PPWINSEGMENT1LENGTH" val="15"/>
  <p:tag name="PPWINSEGMENT1SOURCERTF" val="{\rtf1\ansi\deff0{\fonttbl{\f0\fcharset0 Arial Narrow;}}{\colortbl\red0\green0\blue0;}{\f0\fs60\b\cf0 Wireless Standards\par}}"/>
  <p:tag name="PPWINSEGMENT1TARGETRTF" val="{\rtf1\ansi\deff1{\fonttbl{\f1\fcharset0 Arial;}{\f2\fcharset0 Arial Narrow;}}{\colortbl\red0\green0\blue0;}{\f2\fs60\b\cf0 Normes sans fil\par}}"/>
  <p:tag name="PPWINLASTSAVEDTRANSLATION" val="Normes sans fil"/>
  <p:tag name="PPWINALREADYSEGMENTED" val="True"/>
  <p:tag name="PPWINTOTALSEGMENTS" val="1"/>
</p:tagLst>
</file>

<file path=ppt/tags/tag242.xml><?xml version="1.0" encoding="utf-8"?>
<p:tagLst xmlns:a="http://schemas.openxmlformats.org/drawingml/2006/main" xmlns:r="http://schemas.openxmlformats.org/officeDocument/2006/relationships" xmlns:p="http://schemas.openxmlformats.org/presentationml/2006/main">
  <p:tag name="PPWINTOTALSEGMENTS" val="0"/>
</p:tagLst>
</file>

<file path=ppt/tags/tag243.xml><?xml version="1.0" encoding="utf-8"?>
<p:tagLst xmlns:a="http://schemas.openxmlformats.org/drawingml/2006/main" xmlns:r="http://schemas.openxmlformats.org/officeDocument/2006/relationships" xmlns:p="http://schemas.openxmlformats.org/presentationml/2006/main">
  <p:tag name="PPWINSEGMENT1START" val="1"/>
  <p:tag name="PPWINSEGMENT1LENGTH" val="65"/>
  <p:tag name="PPWINSEGMENT1SOURCERTF" val="{\rtf1\ansi\deff0{\fonttbl{\f0\fcharset0 Arial Narrow;}}{\colortbl\red0\green0\blue0;}{\f0\fs60\b\cf0 Authentication Methods for Wireless Networks\par}}"/>
  <p:tag name="PPWINSEGMENT1TARGETRTF" val="{\rtf1\ansi\deff1{\fonttbl{\f1\fcharset0 Arial;}{\f2\fcharset0 Arial Narrow;}}{\colortbl\red0\green0\blue0;}{\f2\fs60\b\cf0 M\'E9thodes d'authentification disponibles pour les r\'E9seaux sans fil\par}}"/>
  <p:tag name="PPWINLASTSAVEDTRANSLATION" val="Méthodes d'authentification disponibles pour les réseaux sans fil"/>
  <p:tag name="PPWINALREADYSEGMENTED" val="True"/>
  <p:tag name="PPWINTOTALSEGMENTS" val="1"/>
</p:tagLst>
</file>

<file path=ppt/tags/tag244.xml><?xml version="1.0" encoding="utf-8"?>
<p:tagLst xmlns:a="http://schemas.openxmlformats.org/drawingml/2006/main" xmlns:r="http://schemas.openxmlformats.org/officeDocument/2006/relationships" xmlns:p="http://schemas.openxmlformats.org/presentationml/2006/main">
  <p:tag name="PPWINTOTALSEGMENTS" val="0"/>
</p:tagLst>
</file>

<file path=ppt/tags/tag245.xml><?xml version="1.0" encoding="utf-8"?>
<p:tagLst xmlns:a="http://schemas.openxmlformats.org/drawingml/2006/main" xmlns:r="http://schemas.openxmlformats.org/officeDocument/2006/relationships" xmlns:p="http://schemas.openxmlformats.org/presentationml/2006/main">
  <p:tag name="PPWINSEGMENT1START" val="1"/>
  <p:tag name="PPWINSEGMENT1LENGTH" val="95"/>
  <p:tag name="PPWINSEGMENT1SOURCERTF" val="{\rtf1\ansi\deff0{\fonttbl{\f0\fcharset0 Arial Narrow;}}{\colortbl\red0\green0\blue0;}{\f0\fs52\b\cf0 Configuration Requirements of a Windows XP Professional Client for Wireless Network Access\par}}"/>
  <p:tag name="PPWINSEGMENT1TARGETRTF" val="{\rtf1\ansi\deff1{\fonttbl{\f1\fcharset0 Arial;}{\f2\fcharset0 Arial Narrow;}}{\colortbl\red0\green0\blue0;}{\f2\fs52\b\cf0 Configuration requise pour un client Windows XP Professionnel en vue d'un acc\'E8s r\'E9seau sans fil\par}}"/>
  <p:tag name="PPWINLASTSAVEDTRANSLATION" val="Configuration requise pour un client Windows XP Professionnel en vue d'un accès réseau sans fil"/>
  <p:tag name="PPWINALREADYSEGMENTED" val="True"/>
  <p:tag name="PPWINTOTALSEGMENTS" val="1"/>
</p:tagLst>
</file>

<file path=ppt/tags/tag246.xml><?xml version="1.0" encoding="utf-8"?>
<p:tagLst xmlns:a="http://schemas.openxmlformats.org/drawingml/2006/main" xmlns:r="http://schemas.openxmlformats.org/officeDocument/2006/relationships" xmlns:p="http://schemas.openxmlformats.org/presentationml/2006/main">
  <p:tag name="PPWINSEGMENT1START" val="1"/>
  <p:tag name="PPWINSEGMENT1LENGTH" val="25"/>
  <p:tag name="PPWINSEGMENT1SOURCERTF" val="{\rtf1\ansi\deff0{\fonttbl{\f0\fcharset0 Arial Narrow;}}{\colortbl\red0\green0\blue0;}{\f0\fs48\b\cf0 Choose a network type:\par}}"/>
  <p:tag name="PPWINSEGMENT1TARGETRTF" val="{\rtf1\ansi\deff1{\fonttbl{\f1\fcharset0 Arial;}{\f2\fcharset0 Arial Narrow;}}{\colortbl\red0\green0\blue0;}{\f2\fs48\b\cf0 Choix du type de r\'E9seau :\par}}"/>
  <p:tag name="PPWINSEGMENT2START" val="27"/>
  <p:tag name="PPWINSEGMENT2LENGTH" val="13"/>
  <p:tag name="PPWINSEGMENT2SOURCERTF" val="{\rtf1\ansi\deff0{\fonttbl{\f0\fcharset0 Arial Narrow;}}{\colortbl\red0\green0\blue0;}{\f0\fs48\cf0 Access point\par}}"/>
  <p:tag name="PPWINSEGMENT2TARGETRTF" val="{\rtf1\ansi\deff1{\fonttbl{\f1\fcharset0 Arial;}{\f2\fcharset0 Arial Narrow;}}{\colortbl\red0\green0\blue0;}{\f2\fs48\cf0 Point d'acc\'E8s\par}}"/>
  <p:tag name="PPWINSEGMENT3START" val="41"/>
  <p:tag name="PPWINSEGMENT3LENGTH" val="23"/>
  <p:tag name="PPWINSEGMENT3SOURCERTF" val="{\rtf1\ansi\deff0{\fonttbl{\f0\fcharset0 Arial Narrow;}}{\colortbl\red0\green0\blue0;}{\f0\fs48\cf0 Computer-to-computer\par}}"/>
  <p:tag name="PPWINSEGMENT3TARGETRTF" val="{\rtf1\ansi\deff1{\fonttbl{\f1\fcharset0 Arial;}{\f2\fcharset0 Arial Narrow;}}{\colortbl\red0\green0\blue0;}{\f2\fs48\cf0 Ordinateur \'E0 ordinateur\par}}"/>
  <p:tag name="PPWINSEGMENT4START" val="65"/>
  <p:tag name="PPWINSEGMENT4LENGTH" val="22"/>
  <p:tag name="PPWINSEGMENT4SOURCERTF" val="{\rtf1\ansi\deff0{\fonttbl{\f0\fcharset0 Arial Narrow;}}{\colortbl\red0\green0\blue0;}{\f0\fs48\cf0 Any available network \par}}"/>
  <p:tag name="PPWINSEGMENT4TARGETRTF" val="{\rtf1\ansi\deff1{\fonttbl{\f1\fcharset0 Arial;}{\f2\fcharset0 Arial Narrow;}}{\colortbl\red0\green0\blue0;}{\f2\fs48\cf0 Tout r\'E9seau disponible\par}}"/>
  <p:tag name="PPWINSEGMENT5START" val="88"/>
  <p:tag name="PPWINSEGMENT5LENGTH" val="70"/>
  <p:tag name="PPWINSEGMENT5SOURCERTF" val="{\rtf1\ansi\deff0{\fonttbl{\f0\fcharset0 Arial Narrow;}}{\colortbl\red0\green0\blue0;}{\f0\fs48\b\cf0 Configure authentication appropriately for the selected network type\par}}"/>
  <p:tag name="PPWINSEGMENT5TARGETRTF" val="{\rtf1\ansi\deff1{\fonttbl{\f1\fcharset0 Arial;}{\f2\fcharset0 Arial Narrow;}}{\colortbl\red0\green0\blue0;}{\f2\fs48\b\cf0 Configuration de l'authentification pour le type de r\'E9seau s\'E9lectionn\'E9\par}}"/>
  <p:tag name="PPWINSEGMENT6START" val="159"/>
  <p:tag name="PPWINSEGMENT6LENGTH" val="75"/>
  <p:tag name="PPWINSEGMENT6SOURCERTF" val="{\rtf1\ansi\deff0{\fonttbl{\f0\fcharset0 Arial Narrow;}}{\colortbl\red0\green0\blue0;}{\f0\fs48\b\cf0 Balance the level of security with the deployment effort:\par}}"/>
  <p:tag name="PPWINSEGMENT6TARGETRTF" val="{\rtf1\ansi\deff1{\fonttbl{\f1\fcharset0 Arial;}{\f2\fcharset0 Arial Narrow;}}{\colortbl\red0\green0\blue0;}{\f2\fs48\b\cf0 Mise en ad\'E9quation du niveau de s\'E9curit\'E9 et de la facilit\'E9 de d\'E9ploiement :\par}}"/>
  <p:tag name="PPWINSEGMENT7START" val="236"/>
  <p:tag name="PPWINSEGMENT7LENGTH" val="93"/>
  <p:tag name="PPWINSEGMENT7SOURCERTF" val="{\rtf1\ansi\deff0{\fonttbl{\f0\fcharset0 Arial Narrow;}}{\colortbl\red0\green0\blue0;}{\f0\fs48\cf0 For the highest level of security, choose PEAP with certificates (EAP-TLS)\par}}"/>
  <p:tag name="PPWINSEGMENT7TARGETRTF" val="{\rtf1\ansi\deff1{\fonttbl{\f1\fcharset0 Arial;}{\f2\fcharset0 Arial Narrow;}}{\colortbl\red0\green0\blue0;}{\f2\fs48\cf0 Pour b\'E9n\'E9ficier du niveau de s\'E9curit\'E9 maximal, choisissez PEAP avec des certificats (EAP-TLS)\par}}"/>
  <p:tag name="PPWINSEGMENT8START" val="330"/>
  <p:tag name="PPWINSEGMENT8LENGTH" val="103"/>
  <p:tag name="PPWINSEGMENT8SOURCERTF" val="{\rtf1\ansi\deff0{\fonttbl{\f0\fcharset0 Arial Narrow;}}{\colortbl\red0\green0\blue0;}{\f0\fs48\cf0 For the greatest ease of deployment, choose PEAP with passwords (EAP-MS-CHAP v2)\par}}"/>
  <p:tag name="PPWINSEGMENT8TARGETRTF" val="{\rtf1\ansi\deff1{\fonttbl{\f1\fcharset0 Arial;}{\f2\fcharset0 Arial Narrow;}}{\colortbl\red0\green0\blue0;}{\f2\fs48\cf0 Si vous privil\'E9giez la facilit\'E9 de d\'E9ploiement, choisissez PEAP avec des mots de passe (EAP-MS-CHAP v2)\par}}"/>
  <p:tag name="PPWINLASTSAVEDTRANSLATION" val="Choix du type de réseau :&#10;Point d'accès&#10;Ordinateur à ordinateur&#10;Tout réseau disponible&#10;Configuration de l'authentification pour le type de réseau sélectionné&#10;Mise en adéquation du niveau de sécurité et de la facilité de déploiement : &#10;Pour bénéficier du niveau de sécurité maximal, choisissez PEAP avec des certificats (EAP-TLS)&#10;Si vous privilégiez la facilité de déploiement, choisissez PEAP avec des mots de passe (EAP-MS-CHAP v2)"/>
  <p:tag name="PPWINALREADYSEGMENTED" val="True"/>
  <p:tag name="PPWINTOTALSEGMENTS" val="8"/>
</p:tagLst>
</file>

<file path=ppt/tags/tag247.xml><?xml version="1.0" encoding="utf-8"?>
<p:tagLst xmlns:a="http://schemas.openxmlformats.org/drawingml/2006/main" xmlns:r="http://schemas.openxmlformats.org/officeDocument/2006/relationships" xmlns:p="http://schemas.openxmlformats.org/presentationml/2006/main">
  <p:tag name="PPWINTOTALSEGMENTS" val="0"/>
</p:tagLst>
</file>

<file path=ppt/tags/tag248.xml><?xml version="1.0" encoding="utf-8"?>
<p:tagLst xmlns:a="http://schemas.openxmlformats.org/drawingml/2006/main" xmlns:r="http://schemas.openxmlformats.org/officeDocument/2006/relationships" xmlns:p="http://schemas.openxmlformats.org/presentationml/2006/main">
  <p:tag name="PPWINSEGMENT1START" val="1"/>
  <p:tag name="PPWINSEGMENT1LENGTH" val="7"/>
  <p:tag name="PPWINSEGMENT1SOURCERTF" val="{\rtf1\ansi\deff0{\fonttbl{\f0\fcharset0 Arial Narrow;}}{\colortbl\red0\green0\blue0;}{\f0\fs60\b\cf0 Lesson:\par}}"/>
  <p:tag name="PPWINSEGMENT1TARGETRTF" val="{\rtf1\ansi\deff1{\fonttbl{\f1\fcharset0 Arial;}{\f2\fcharset0 Arial Narrow;}}{\colortbl\red0\green0\blue0;}{\f2\fs60\b\cf0 Le\'E7on :\par}}"/>
  <p:tag name="PPWINSEGMENT2START" val="9"/>
  <p:tag name="PPWINSEGMENT2LENGTH" val="41"/>
  <p:tag name="PPWINSEGMENT2SOURCERTF" val="{\rtf1\ansi\deff0{\fonttbl{\f0\fcharset0 Arial Narrow;}}{\colortbl\red0\green0\blue0;}{\f0\fs60\b\cf0 Controlling User Access to a Network\par}}"/>
  <p:tag name="PPWINSEGMENT2TARGETRTF" val="{\rtf1\ansi\deff1{\fonttbl{\f1\fcharset0 Arial;}{\f2\fcharset0 Arial Narrow;}}{\colortbl\red0\green0\blue0;}{\f2\fs60\b\cf0 Contr\'F4le de l'acc\'E8s utilisateur au r\'E9seau\par}}"/>
  <p:tag name="PPWINLASTSAVEDTRANSLATION" val="Leçon : Contrôle de l'accès utilisateur au réseau"/>
  <p:tag name="PPWINALREADYSEGMENTED" val="True"/>
  <p:tag name="PPWINTOTALSEGMENTS" val="2"/>
</p:tagLst>
</file>

<file path=ppt/tags/tag249.xml><?xml version="1.0" encoding="utf-8"?>
<p:tagLst xmlns:a="http://schemas.openxmlformats.org/drawingml/2006/main" xmlns:r="http://schemas.openxmlformats.org/officeDocument/2006/relationships" xmlns:p="http://schemas.openxmlformats.org/presentationml/2006/main">
  <p:tag name="PPWINSEGMENT1START" val="1"/>
  <p:tag name="PPWINSEGMENT1LENGTH" val="56"/>
  <p:tag name="PPWINSEGMENT1SOURCERTF" val="{\rtf1\ansi\deff0{\fonttbl{\f0\fcharset0 Arial Narrow;}}{\colortbl\red0\green0\blue0;}{\f0\fs48\b\cf0 User Account Dial-in Permissions\par}}"/>
  <p:tag name="PPWINSEGMENT1TARGETRTF" val="{\rtf1\ansi\deff1{\fonttbl{\f1\fcharset0 Arial;}{\f2\fcharset0 Arial Narrow;}}{\colortbl\red0\green0\blue0;}{\f2\fs48\b\cf0 Autorisations d'appel entrant du compte de l'utilisateur\par}}"/>
  <p:tag name="PPWINSEGMENT2START" val="58"/>
  <p:tag name="PPWINSEGMENT2LENGTH" val="65"/>
  <p:tag name="PPWINSEGMENT2SOURCERTF" val="{\rtf1\ansi\deff0{\fonttbl{\f0\fcharset0 Arial Narrow;}}{\colortbl\red0\green0\blue0;}{\f0\fs48\b\cf0 How to Configure User Accounts for Network Access \par}}"/>
  <p:tag name="PPWINSEGMENT2TARGETRTF" val="{\rtf1\ansi\deff1{\fonttbl{\f1\fcharset0 Arial;}{\f2\fcharset0 Arial Narrow;}}{\colortbl\red0\green0\blue0;}{\f2\fs48\b\cf0 Comment configurer les comptes d'utilisateurs pour l'acc\'E8s r\'E9seau\par}}"/>
  <p:tag name="PPWINSEGMENT3START" val="124"/>
  <p:tag name="PPWINSEGMENT3LENGTH" val="44"/>
  <p:tag name="PPWINSEGMENT3SOURCERTF" val="{\rtf1\ansi\deff0{\fonttbl{\f0\fcharset0 Arial Narrow;}}{\colortbl\red0\green0\blue0;}{\f0\fs48\b\cf0 What Is a Remote Access Policy?\par}}"/>
  <p:tag name="PPWINSEGMENT3TARGETRTF" val="{\rtf1\ansi\deff1{\fonttbl{\f1\fcharset0 Arial;}{\f2\fcharset0 Arial Narrow;}}{\colortbl\red0\green0\blue0;}{\f2\fs48\b\cf0 Qu'est-ce qu'une strat\'E9gie d'acc\'E8s distant ?\par}}"/>
  <p:tag name="PPWINSEGMENT4START" val="170"/>
  <p:tag name="PPWINSEGMENT4LENGTH" val="53"/>
  <p:tag name="PPWINSEGMENT4SOURCERTF" val="{\rtf1\ansi\deff0{\fonttbl{\f0\fcharset0 Arial Narrow;}}{\colortbl\red0\green0\blue0;}{\f0\fs48\b\cf0 What Is a Remote Access Policy Profile?\par}}"/>
  <p:tag name="PPWINSEGMENT4TARGETRTF" val="{\rtf1\ansi\deff1{\fonttbl{\f1\fcharset0 Arial;}{\f2\fcharset0 Arial Narrow;}}{\colortbl\red0\green0\blue0;}{\f2\fs48\b\cf0 Qu'est-ce qu'un profil de strat\'E9gie d'acc\'E8s distant ?\par}}"/>
  <p:tag name="PPWINSEGMENT5START" val="225"/>
  <p:tag name="PPWINSEGMENT5LENGTH" val="41"/>
  <p:tag name="PPWINSEGMENT5SOURCERTF" val="{\rtf1\ansi\deff0{\fonttbl{\f0\fcharset0 Arial Narrow;}}{\colortbl\red0\green0\blue0;}{\f0\fs48\b\cf0 How Remote Access Policies Are Processed \par}}"/>
  <p:tag name="PPWINSEGMENT5TARGETRTF" val="{\rtf1\ansi\deff1{\fonttbl{\f1\fcharset0 Arial;}{\f2\fcharset0 Arial Narrow;}}{\colortbl\red0\green0\blue0;}{\f2\fs48\b\cf0 Traitement des strat\'E9gies d'acc\'E8s distant\par}}"/>
  <p:tag name="PPWINSEGMENT6START" val="267"/>
  <p:tag name="PPWINSEGMENT6LENGTH" val="48"/>
  <p:tag name="PPWINSEGMENT6SOURCERTF" val="{\rtf1\ansi\deff0{\fonttbl{\f0\fcharset0 Arial Narrow;}}{\colortbl\red0\green0\blue0;}{\f0\fs48\b\cf0 How to Configure a Remote Access Policy \par}}"/>
  <p:tag name="PPWINSEGMENT6TARGETRTF" val="{\rtf1\ansi\deff1{\fonttbl{\f1\fcharset0 Arial;}{\f2\fcharset0 Arial Narrow;}}{\colortbl\red0\green0\blue0;}{\f2\fs48\b\cf0 Comment configurer une strat\'E9gie d'acc\'E8s distant\par}}"/>
  <p:tag name="PPWINSEGMENT7START" val="316"/>
  <p:tag name="PPWINSEGMENT7LENGTH" val="57"/>
  <p:tag name="PPWINSEGMENT7SOURCERTF" val="{\rtf1\ansi\deff0{\fonttbl{\f0\fcharset0 Arial Narrow;}}{\colortbl\red0\green0\blue0;}{\f0\fs48\b\cf0 How to Configure a Remote Access Policy Profile \par}}"/>
  <p:tag name="PPWINSEGMENT7TARGETRTF" val="{\rtf1\ansi\deff1{\fonttbl{\f1\fcharset0 Arial;}{\f2\fcharset0 Arial Narrow;}}{\colortbl\red0\green0\blue0;}{\f2\fs48\b\cf0 Comment configurer un profil de strat\'E9gie d'acc\'E8s distant\par}}"/>
  <p:tag name="PPWINLASTSAVEDTRANSLATION" val="Autorisations d'appel entrant du compte de l'utilisateur&#10;Comment configurer les comptes d'utilisateurs pour l'accès réseau&#10;Qu'est-ce qu'une stratégie d'accès distant ? &#10;Qu'est-ce qu'un profil de stratégie d'accès distant ? &#10;Traitement des stratégies d'accès distant&#10;Comment configurer une stratégie d'accès distant&#10;Comment configurer un profil de stratégie d'accès distant"/>
  <p:tag name="PPWINALREADYSEGMENTED" val="True"/>
  <p:tag name="PPWINTOTALSEGMENTS" val="7"/>
</p:tagLst>
</file>

<file path=ppt/tags/tag250.xml><?xml version="1.0" encoding="utf-8"?>
<p:tagLst xmlns:a="http://schemas.openxmlformats.org/drawingml/2006/main" xmlns:r="http://schemas.openxmlformats.org/officeDocument/2006/relationships" xmlns:p="http://schemas.openxmlformats.org/presentationml/2006/main">
  <p:tag name="PPWINTOTALSEGMENTS" val="0"/>
</p:tagLst>
</file>

<file path=ppt/tags/tag251.xml><?xml version="1.0" encoding="utf-8"?>
<p:tagLst xmlns:a="http://schemas.openxmlformats.org/drawingml/2006/main" xmlns:r="http://schemas.openxmlformats.org/officeDocument/2006/relationships" xmlns:p="http://schemas.openxmlformats.org/presentationml/2006/main">
  <p:tag name="PPWINSEGMENT1START" val="1"/>
  <p:tag name="PPWINSEGMENT1LENGTH" val="56"/>
  <p:tag name="PPWINSEGMENT1SOURCERTF" val="{\rtf1\ansi\deff0{\fonttbl{\f0\fcharset0 Arial Narrow;}}{\colortbl\red0\green0\blue0;}{\f0\fs60\b\cf0 User Account Dial-in Permissions\par}}"/>
  <p:tag name="PPWINSEGMENT1TARGETRTF" val="{\rtf1\ansi\deff1{\fonttbl{\f1\fcharset0 Arial;}{\f2\fcharset0 Arial Narrow;}}{\colortbl\red0\green0\blue0;}{\f2\fs60\b\cf0 Autorisations d'appel entrant du compte de l'utilisateur\par}}"/>
  <p:tag name="PPWINLASTSAVEDTRANSLATION" val="Autorisations d'appel entrant du compte de l'utilisateur"/>
  <p:tag name="PPWINALREADYSEGMENTED" val="True"/>
  <p:tag name="PPWINTOTALSEGMENTS" val="1"/>
</p:tagLst>
</file>

<file path=ppt/tags/tag252.xml><?xml version="1.0" encoding="utf-8"?>
<p:tagLst xmlns:a="http://schemas.openxmlformats.org/drawingml/2006/main" xmlns:r="http://schemas.openxmlformats.org/officeDocument/2006/relationships" xmlns:p="http://schemas.openxmlformats.org/presentationml/2006/main">
  <p:tag name="PPWINSEGMENT1START" val="1"/>
  <p:tag name="PPWINSEGMENT1LENGTH" val="54"/>
  <p:tag name="PPWINSEGMENT1SOURCERTF" val="{\rtf1\ansi\deff0{\fonttbl{\f0\fcharset0 Arial Narrow;}}{\colortbl\red0\green0\blue0;}{\f0\fs44\b\cf0 Remote Access Permission (Dial-in or VPN) \par}}"/>
  <p:tag name="PPWINSEGMENT1TARGETRTF" val="{\rtf1\ansi\deff1{\fonttbl{\f1\fcharset0 Arial;}{\f2\fcharset0 Arial Narrow;}}{\colortbl\red0\green0\blue0;}{\f2\fs44\b\cf0 Autorisation d'acc\'E8s distant (Acc\'E8s \'E0 distance ou VPN)\par}}"/>
  <p:tag name="PPWINSEGMENT2START" val="56"/>
  <p:tag name="PPWINSEGMENT2LENGTH" val="33"/>
  <p:tag name="PPWINSEGMENT2SOURCERTF" val="{\rtf1\ansi\deff0{\fonttbl{\f0\fcharset0 Arial Narrow;}}{\colortbl\red0\green0\blue0;}{\f0\fs44\b\cf0 Verify Caller ID \par}}"/>
  <p:tag name="PPWINSEGMENT2TARGETRTF" val="{\rtf1\ansi\deff1{\fonttbl{\f1\fcharset0 Arial;}{\f2\fcharset0 Arial Narrow;}}{\colortbl\red0\green0\blue0;}{\f2\fs44\b\cf0 V\'E9rifier l'identit\'E9 de l'appelant\par}}"/>
  <p:tag name="PPWINSEGMENT3START" val="90"/>
  <p:tag name="PPWINSEGMENT3LENGTH" val="17"/>
  <p:tag name="PPWINSEGMENT3SOURCERTF" val="{\rtf1\ansi\deff0{\fonttbl{\f0\fcharset0 Arial Narrow;}}{\colortbl\red0\green0\blue0;}{\f0\fs44\b\cf0 Callback Options \par}}"/>
  <p:tag name="PPWINSEGMENT3TARGETRTF" val="{\rtf1\ansi\deff1{\fonttbl{\f1\fcharset0 Arial;}{\f2\fcharset0 Arial Narrow;}}{\colortbl\red0\green0\blue0;}{\f2\fs44\b\cf0 Options de rappel\par}}"/>
  <p:tag name="PPWINSEGMENT4START" val="108"/>
  <p:tag name="PPWINSEGMENT4LENGTH" val="37"/>
  <p:tag name="PPWINSEGMENT4SOURCERTF" val="{\rtf1\ansi\deff0{\fonttbl{\f0\fcharset0 Arial Narrow;}}{\colortbl\red0\green0\blue0;}{\f0\fs44\b\cf0 Assign a Static IP Address \par}}"/>
  <p:tag name="PPWINSEGMENT4TARGETRTF" val="{\rtf1\ansi\deff1{\fonttbl{\f1\fcharset0 Arial;}{\f2\fcharset0 Arial Narrow;}}{\colortbl\red0\green0\blue0;}{\f2\fs44\b\cf0 Attribution d'une adresse IP statique\par}}"/>
  <p:tag name="PPWINSEGMENT5START" val="146"/>
  <p:tag name="PPWINSEGMENT5LENGTH" val="35"/>
  <p:tag name="PPWINSEGMENT5SOURCERTF" val="{\rtf1\ansi\deff0{\fonttbl{\f0\fcharset0 Arial Narrow;}}{\colortbl\red0\green0\blue0;}{\f0\fs44\b\cf0 Apply Static Routes \par}}"/>
  <p:tag name="PPWINSEGMENT5TARGETRTF" val="{\rtf1\ansi\deff1{\fonttbl{\f1\fcharset0 Arial;}{\f2\fcharset0 Arial Narrow;}}{\colortbl\red0\green0\blue0;}{\f2\fs44\b\cf0 Appliquer les itin\'E9raires statiques\par}}"/>
  <p:tag name="PPWINLASTSAVEDTRANSLATION" val="Autorisation d'accès distant (Accès à distance ou VPN)&#10;Vérifier l'identité de l'appelant&#10;Options de rappel&#10;Attribution d'une adresse IP statique&#10;Appliquer les itinéraires statiques"/>
  <p:tag name="PPWINALREADYSEGMENTED" val="True"/>
  <p:tag name="PPWINTOTALSEGMENTS" val="5"/>
</p:tagLst>
</file>

<file path=ppt/tags/tag253.xml><?xml version="1.0" encoding="utf-8"?>
<p:tagLst xmlns:a="http://schemas.openxmlformats.org/drawingml/2006/main" xmlns:r="http://schemas.openxmlformats.org/officeDocument/2006/relationships" xmlns:p="http://schemas.openxmlformats.org/presentationml/2006/main">
  <p:tag name="PPWINSEGMENT1START" val="1"/>
  <p:tag name="PPWINSEGMENT1LENGTH" val="44"/>
  <p:tag name="PPWINSEGMENT1SOURCERTF" val="{\rtf1\ansi\deff0{\fonttbl{\f0\fcharset0 Arial Narrow;}}{\colortbl\red0\green0\blue0;}{\f0\fs60\b\cf0 What Is a Remote Access Policy?\par}}"/>
  <p:tag name="PPWINSEGMENT1TARGETRTF" val="{\rtf1\ansi\deff1{\fonttbl{\f1\fcharset0 Arial;}{\f2\fcharset0 Arial Narrow;}}{\colortbl\red0\green0\blue0;}{\f2\fs60\b\cf0 Qu'est-ce qu'une strat\'E9gie d'acc\'E8s distant ?\par}}"/>
  <p:tag name="PPWINLASTSAVEDTRANSLATION" val="Qu'est-ce qu'une stratégie d'accès distant ?"/>
  <p:tag name="PPWINALREADYSEGMENTED" val="True"/>
  <p:tag name="PPWINTOTALSEGMENTS" val="1"/>
</p:tagLst>
</file>

<file path=ppt/tags/tag254.xml><?xml version="1.0" encoding="utf-8"?>
<p:tagLst xmlns:a="http://schemas.openxmlformats.org/drawingml/2006/main" xmlns:r="http://schemas.openxmlformats.org/officeDocument/2006/relationships" xmlns:p="http://schemas.openxmlformats.org/presentationml/2006/main">
  <p:tag name="PPWINSEGMENT1START" val="1"/>
  <p:tag name="PPWINSEGMENT1LENGTH" val="85"/>
  <p:tag name="PPWINSEGMENT1SOURCERTF" val="{\rtf1\ansi\deff0{\fonttbl{\f0\fcharset0 Arial Narrow;}}{\colortbl\red0\green0\blue0;}{\f0\fs48\b\cf0 A }{\f0\fs48\b\i\cf0 remote access policy}{\f0\fs48\b\cf0  is a named rule that \line}{\f0\fs48\b\cf0 consists of the following elements:\par}}"/>
  <p:tag name="PPWINSEGMENT1TARGETRTF" val="{\rtf1\ansi\deff1{\fonttbl{\f1\fcharset0 Arial;}{\f2\fcharset0 Arial Narrow;}}{\colortbl\red0\green0\blue0;}{\f2\fs48\b\cf0 Une }{\f2\fs48\b\i\cf0 strat\'E9gie d'acc\'E8s distant}{\f2\fs48\b\cf0  est une r\'E8gle nomm\'E9e comprenant les \'E9l\'E9ments suivants :\par}}"/>
  <p:tag name="PPWINLASTSAVEDTRANSLATION" val="Une stratégie d'accès distant est une règle nommée comprenant les éléments suivants :&#10;"/>
  <p:tag name="PPWINALREADYSEGMENTED" val="True"/>
  <p:tag name="PPWINTOTALSEGMENTS" val="1"/>
</p:tagLst>
</file>

<file path=ppt/tags/tag255.xml><?xml version="1.0" encoding="utf-8"?>
<p:tagLst xmlns:a="http://schemas.openxmlformats.org/drawingml/2006/main" xmlns:r="http://schemas.openxmlformats.org/officeDocument/2006/relationships" xmlns:p="http://schemas.openxmlformats.org/presentationml/2006/main">
  <p:tag name="PPWINSEGMENT1START" val="1"/>
  <p:tag name="PPWINSEGMENT1LENGTH" val="11"/>
  <p:tag name="PPWINSEGMENT1SOURCERTF" val="{\rtf1\ansi\deff0{\fonttbl{\f0\fcharset0 Arial Narrow;}}{\colortbl\red0\green0\blue0;}{\f0\fs44\b\cf0 Conditions}{\f0\fs44\cf0 .\par}}"/>
  <p:tag name="PPWINSEGMENT1TARGETRTF" val="{\rtf1\ansi\deff1{\fonttbl{\f1\fcharset0 Arial;}{\f2\fcharset0 Arial Narrow;}}{\colortbl\red0\green0\blue0;}{\f2\fs44\b\cf0 Conditions}{\f2\fs44\cf0 .\par}}"/>
  <p:tag name="PPWINSEGMENT2START" val="13"/>
  <p:tag name="PPWINSEGMENT2LENGTH" val="87"/>
  <p:tag name="PPWINSEGMENT2SOURCERTF" val="{\rtf1\ansi\deff0{\fonttbl{\f0\fcharset0 Arial Narrow;}}{\colortbl\red0\green0\blue0;}{\f0\fs44\cf0 One or more attributes that are compared to the settings of the connection attempt \par}}"/>
  <p:tag name="PPWINSEGMENT2TARGETRTF" val="{\rtf1\ansi\deff1{\fonttbl{\f1\fcharset0 Arial;}{\f2\fcharset0 Arial Narrow;}}{\colortbl\red0\green0\blue0;}{\f2\fs44\cf0 Un ou plusieurs attributs qui sont compar\'E9s aux param\'E8tres de la tentative de connexion\par}}"/>
  <p:tag name="PPWINSEGMENT3START" val="101"/>
  <p:tag name="PPWINSEGMENT3LENGTH" val="29"/>
  <p:tag name="PPWINSEGMENT3SOURCERTF" val="{\rtf1\ansi\deff0{\fonttbl{\f0\fcharset0 Arial Narrow;}}{\colortbl\red0\green0\blue0;}{\f0\fs44\b\cf0 Remote access permission.\par}}"/>
  <p:tag name="PPWINSEGMENT3TARGETRTF" val="{\rtf1\ansi\deff1{\fonttbl{\f1\fcharset0 Arial;}{\f2\fcharset0 Arial Narrow;}}{\colortbl\red0\green0\blue0;}{\f2\fs44\b\cf0 Autorisation d'acc\'E8s distant.\par}}"/>
  <p:tag name="PPWINSEGMENT4START" val="131"/>
  <p:tag name="PPWINSEGMENT4LENGTH" val="140"/>
  <p:tag name="PPWINSEGMENT4SOURCERTF" val="{\rtf1\ansi\deff0{\fonttbl{\f0\fcharset0 Arial Narrow;}}{\colortbl\red0\green0\blue0;}{\f0\fs44\cf0 If all conditions of a remote access policy are met, remote access permission is either granted or denied}{\f0\fs44\b\cf0   \par}}"/>
  <p:tag name="PPWINSEGMENT4TARGETRTF" val="{\rtf1\ansi\deff1{\fonttbl{\f1\fcharset0 Arial;}{\f2\fcharset0 Arial Narrow;}}{\colortbl\red0\green0\blue0;}{\f2\fs44\cf0 Si toutes les conditions d'une strat\'E9gie d'acc\'E8s distant sont remplies, l'autorisation d'acc\'E8s distant peut \'EAtre soit octroy\'E9e, soit refus\'E9e\par}}"/>
  <p:tag name="PPWINSEGMENT5START" val="272"/>
  <p:tag name="PPWINSEGMENT5LENGTH" val="7"/>
  <p:tag name="PPWINSEGMENT5SOURCERTF" val="{\rtf1\ansi\deff0{\fonttbl{\f0\fcharset0 Arial Narrow;}}{\colortbl\red0\green0\blue0;}{\f0\fs44\b\cf0 Profile.\par}}"/>
  <p:tag name="PPWINSEGMENT5TARGETRTF" val="{\rtf1\ansi\deff1{\fonttbl{\f1\fcharset0 Arial;}{\f2\fcharset0 Arial Narrow;}}{\colortbl\red0\green0\blue0;}{\f2\fs44\b\cf0 Profil.\par}}"/>
  <p:tag name="PPWINSEGMENT6START" val="280"/>
  <p:tag name="PPWINSEGMENT6LENGTH" val="172"/>
  <p:tag name="PPWINSEGMENT6SOURCERTF" val="{\rtf1\ansi\deff0{\fonttbl{\f0\fcharset0 Arial Narrow;}}{\colortbl\red0\green0\blue0;}{\f0\fs44\cf0 A set of properties that are applied to a connection when it is authorized (either through the user account or policy permission settings) \par}}"/>
  <p:tag name="PPWINSEGMENT6TARGETRTF" val="{\rtf1\ansi\deff1{\fonttbl{\f1\fcharset0 Arial;}{\f2\fcharset0 Arial Narrow;}}{\colortbl\red0\green0\blue0;}{\f2\fs44\cf0 Ensemble de propri\'E9t\'E9s appliqu\'E9es \'E0 une connexion apr\'E8s l'autorisation de cette derni\'E8re (au moyen des param\'E8tres d'autorisation de la strat\'E9gie ou du compte d'utilisateur)\par}}"/>
  <p:tag name="PPWINLASTSAVEDTRANSLATION" val="Conditions. Un ou plusieurs attributs qui sont comparés aux paramètres de la tentative de connexion&#10;Autorisation d'accès distant. Si toutes les conditions d'une stratégie d'accès distant sont remplies, l'autorisation d'accès distant peut être soit octroyée, soit refusée&#10;Profil. Ensemble de propriétés appliquées à une connexion après l'autorisation de cette dernière (au moyen des paramètres d'autorisation de la stratégie ou du compte d'utilisateur)"/>
  <p:tag name="PPWINALREADYSEGMENTED" val="True"/>
  <p:tag name="PPWINTOTALSEGMENTS" val="6"/>
</p:tagLst>
</file>

<file path=ppt/tags/tag256.xml><?xml version="1.0" encoding="utf-8"?>
<p:tagLst xmlns:a="http://schemas.openxmlformats.org/drawingml/2006/main" xmlns:r="http://schemas.openxmlformats.org/officeDocument/2006/relationships" xmlns:p="http://schemas.openxmlformats.org/presentationml/2006/main">
  <p:tag name="PPWINTOTALSEGMENTS" val="0"/>
</p:tagLst>
</file>

<file path=ppt/tags/tag257.xml><?xml version="1.0" encoding="utf-8"?>
<p:tagLst xmlns:a="http://schemas.openxmlformats.org/drawingml/2006/main" xmlns:r="http://schemas.openxmlformats.org/officeDocument/2006/relationships" xmlns:p="http://schemas.openxmlformats.org/presentationml/2006/main">
  <p:tag name="PPWINSEGMENT1START" val="1"/>
  <p:tag name="PPWINSEGMENT1LENGTH" val="7"/>
  <p:tag name="PPWINSEGMENT1SOURCERTF" val="{\rtf1\ansi\deff0{\fonttbl{\f0\fcharset0 Arial Narrow;}}{\colortbl\red0\green0\blue0;}{\f0\fs54\b\cf0 Lesson:\par}}"/>
  <p:tag name="PPWINSEGMENT1TARGETRTF" val="{\rtf1\ansi\deff1{\fonttbl{\f1\fcharset0 Arial;}{\f2\fcharset0 Arial Narrow;}}{\colortbl\red0\green0\blue0;}{\f2\fs54\b\cf0 Le\'E7on :\par}}"/>
  <p:tag name="PPWINSEGMENT2START" val="9"/>
  <p:tag name="PPWINSEGMENT2LENGTH" val="103"/>
  <p:tag name="PPWINSEGMENT2SOURCERTF" val="{\rtf1\ansi\deff0{\fonttbl{\f0\fcharset0 Arial Narrow;}}{\colortbl\red0\green0\blue0;}{\f0\fs54\b\cf0 Centralizing Network Access Authentication and Policy Management by Using IAS\par}}"/>
  <p:tag name="PPWINSEGMENT2TARGETRTF" val="{\rtf1\ansi\deff1{\fonttbl{\f1\fcharset0 Arial;}{\f2\fcharset0 Arial Narrow;}}{\colortbl\red0\green0\blue0;}{\f2\fs54\b\cf0 Centralisation de l'authentification de l'acc\'E8s r\'E9seau et de la gestion des strat\'E9gies en utilisant IAS\par}}"/>
  <p:tag name="PPWINLASTSAVEDTRANSLATION" val="Leçon : Centralisation de l'authentification de l'accès réseau et de la gestion des stratégies en utilisant IAS"/>
  <p:tag name="PPWINALREADYSEGMENTED" val="True"/>
  <p:tag name="PPWINTOTALSEGMENTS" val="2"/>
</p:tagLst>
</file>

<file path=ppt/tags/tag258.xml><?xml version="1.0" encoding="utf-8"?>
<p:tagLst xmlns:a="http://schemas.openxmlformats.org/drawingml/2006/main" xmlns:r="http://schemas.openxmlformats.org/officeDocument/2006/relationships" xmlns:p="http://schemas.openxmlformats.org/presentationml/2006/main">
  <p:tag name="PPWINSEGMENT1START" val="1"/>
  <p:tag name="PPWINSEGMENT1LENGTH" val="21"/>
  <p:tag name="PPWINSEGMENT1SOURCERTF" val="{\rtf1\ansi\deff0{\fonttbl{\f0\fcharset0 Arial Narrow;}}{\colortbl\red0\green0\blue0;}{\f0\fs48\b\cf0 What Is RADIUS?\par}}"/>
  <p:tag name="PPWINSEGMENT1TARGETRTF" val="{\rtf1\ansi\deff1{\fonttbl{\f1\fcharset0 Arial;}{\f2\fcharset0 Arial Narrow;}}{\colortbl\red0\green0\blue0;}{\f2\fs48\b\cf0 Que signifie RADIUS ?\par}}"/>
  <p:tag name="PPWINSEGMENT2START" val="23"/>
  <p:tag name="PPWINSEGMENT2LENGTH" val="18"/>
  <p:tag name="PPWINSEGMENT2SOURCERTF" val="{\rtf1\ansi\deff0{\fonttbl{\f0\fcharset0 Arial Narrow;}}{\colortbl\red0\green0\blue0;}{\f0\fs48\b\cf0 What Is IAS?\par}}"/>
  <p:tag name="PPWINSEGMENT2TARGETRTF" val="{\rtf1\ansi\deff1{\fonttbl{\f1\fcharset0 Arial;}{\f2\fcharset0 Arial Narrow;}}{\colortbl\red0\green0\blue0;}{\f2\fs48\b\cf0 Que signifie IAS ?\par}}"/>
  <p:tag name="PPWINSEGMENT3START" val="43"/>
  <p:tag name="PPWINSEGMENT3LENGTH" val="48"/>
  <p:tag name="PPWINSEGMENT3SOURCERTF" val="{\rtf1\ansi\deff0{\fonttbl{\f0\fcharset0 Arial Narrow;}}{\colortbl\red0\green0\blue0;}{\f0\fs48\b\cf0 How Centralized Authentication Works\par}}"/>
  <p:tag name="PPWINSEGMENT3TARGETRTF" val="{\rtf1\ansi\deff1{\fonttbl{\f1\fcharset0 Arial;}{\f2\fcharset0 Arial Narrow;}}{\colortbl\red0\green0\blue0;}{\f2\fs48\b\cf0 Fonctionnement de l'authentification centralis\'E9e\par}}"/>
  <p:tag name="PPWINSEGMENT4START" val="92"/>
  <p:tag name="PPWINSEGMENT4LENGTH" val="75"/>
  <p:tag name="PPWINSEGMENT4SOURCERTF" val="{\rtf1\ansi\deff0{\fonttbl{\f0\fcharset0 Arial Narrow;}}{\colortbl\red0\green0\blue0;}{\f0\fs48\b\cf0 How to Configure an IAS Server for Network Access Authentication \par}}"/>
  <p:tag name="PPWINSEGMENT4TARGETRTF" val="{\rtf1\ansi\deff1{\fonttbl{\f1\fcharset0 Arial;}{\f2\fcharset0 Arial Narrow;}}{\colortbl\red0\green0\blue0;}{\f2\fs48\b\cf0 Comment configurer un serveur IAS pour l'authentification de l'acc\'E8s r\'E9seau\par}}"/>
  <p:tag name="PPWINSEGMENT5START" val="168"/>
  <p:tag name="PPWINSEGMENT5LENGTH" val="86"/>
  <p:tag name="PPWINSEGMENT5SOURCERTF" val="{\rtf1\ansi\deff0{\fonttbl{\f0\fcharset0 Arial Narrow;}}{\colortbl\red0\green0\blue0;}{\f0\fs48\b\cf0 How to Configure the Remote Access Server to Use IAS for Authentication \par}}"/>
  <p:tag name="PPWINSEGMENT5TARGETRTF" val="{\rtf1\ansi\deff1{\fonttbl{\f1\fcharset0 Arial;}{\f2\fcharset0 Arial Narrow;}}{\colortbl\red0\green0\blue0;}{\f2\fs48\b\cf0 Comment configurer le serveur d'acc\'E8s distant en vue d'utiliser l'authentification IAS\par}}"/>
  <p:tag name="PPWINLASTSAVEDTRANSLATION" val="Que signifie RADIUS ?&#10;Que signifie IAS ? &#10;Fonctionnement de l'authentification centralisée&#10;Comment configurer un serveur IAS pour l'authentification de l'accès réseau&#10;Comment configurer le serveur d'accès distant en vue d'utiliser l'authentification IAS"/>
  <p:tag name="PPWINALREADYSEGMENTED" val="True"/>
  <p:tag name="PPWINTOTALSEGMENTS" val="5"/>
</p:tagLst>
</file>

<file path=ppt/tags/tag259.xml><?xml version="1.0" encoding="utf-8"?>
<p:tagLst xmlns:a="http://schemas.openxmlformats.org/drawingml/2006/main" xmlns:r="http://schemas.openxmlformats.org/officeDocument/2006/relationships" xmlns:p="http://schemas.openxmlformats.org/presentationml/2006/main">
  <p:tag name="PPWINTOTALSEGMENTS" val="0"/>
</p:tagLst>
</file>

<file path=ppt/tags/tag260.xml><?xml version="1.0" encoding="utf-8"?>
<p:tagLst xmlns:a="http://schemas.openxmlformats.org/drawingml/2006/main" xmlns:r="http://schemas.openxmlformats.org/officeDocument/2006/relationships" xmlns:p="http://schemas.openxmlformats.org/presentationml/2006/main">
  <p:tag name="PPWINSEGMENT1START" val="1"/>
  <p:tag name="PPWINSEGMENT1LENGTH" val="107"/>
  <p:tag name="PPWINSEGMENT1SOURCERTF" val="{\rtf1\ansi\deff0{\fonttbl{\f0\fcharset0 Arial Narrow;}}{\colortbl\red0\green0\blue0;}{\f0\fs44\b\cf0 RADIUS is the standard for managing network access for VPN, dial-up, and wireless networks \par}}"/>
  <p:tag name="PPWINSEGMENT1TARGETRTF" val="{\rtf1\ansi\deff1{\fonttbl{\f1\fcharset0 Arial;}{\f2\fcharset0 Arial Narrow;}}{\colortbl\red0\green0\blue0;}{\f2\fs44\b\cf0 RADIUS est le protocole standard pour la gestion de l'acc\'E8s aux r\'E9seaux VPN, sans fil et d'acc\'E8s \'E0 distance\par}}"/>
  <p:tag name="PPWINSEGMENT2START" val="109"/>
  <p:tag name="PPWINSEGMENT2LENGTH" val="93"/>
  <p:tag name="PPWINSEGMENT2SOURCERTF" val="{\rtf1\ansi\deff0{\fonttbl{\f0\fcharset0 Arial Narrow;}}{\colortbl\red0\green0\blue0;}{\f0\fs44\b\cf0 Use RADIUS to manage network access centrally across many types of network access \par}}"/>
  <p:tag name="PPWINSEGMENT2TARGETRTF" val="{\rtf1\ansi\deff1{\fonttbl{\f1\fcharset0 Arial;}{\f2\fcharset0 Arial Narrow;}}{\colortbl\red0\green0\blue0;}{\f2\fs44\b\cf0 Utilisez RADIUS pour centraliser la gestion de l'acc\'E8s r\'E9seau parmi de nombreux types d'acc\'E8s\par}}"/>
  <p:tag name="PPWINSEGMENT3START" val="203"/>
  <p:tag name="PPWINSEGMENT3LENGTH" val="152"/>
  <p:tag name="PPWINSEGMENT3SOURCERTF" val="{\rtf1\ansi\deff0{\fonttbl{\f0\fcharset0 Arial Narrow;}}{\colortbl\red0\green0\blue0;}{\f0\fs44\b\cf0 RADIUS servers receive and process connection requests or accounting messages from RADIUS clients or proxies\par}}"/>
  <p:tag name="PPWINSEGMENT3TARGETRTF" val="{\rtf1\ansi\deff1{\fonttbl{\f1\fcharset0 Arial;}{\f2\fcharset0 Arial Narrow;}}{\colortbl\red0\green0\blue0;}{\f2\fs44\b\cf0 Les serveurs RADIUS re\'E7oivent et traitent les demandes de connexion ou messages de gestion de comptes envoy\'E9s par les clients RADIUS ou les proxy RADIUS\par}}"/>
  <p:tag name="PPWINLASTSAVEDTRANSLATION" val="RADIUS est le protocole standard pour la gestion de l'accès aux réseaux VPN, sans fil et d'accès à distance&#10;Utilisez RADIUS pour centraliser la gestion de l'accès réseau parmi de nombreux types d'accès&#10;Les serveurs RADIUS reçoivent et traitent les demandes de connexion ou messages de gestion de comptes envoyés par les clients RADIUS ou les proxy RADIUS"/>
  <p:tag name="PPWINALREADYSEGMENTED" val="True"/>
  <p:tag name="PPWINTOTALSEGMENTS" val="3"/>
</p:tagLst>
</file>

<file path=ppt/tags/tag261.xml><?xml version="1.0" encoding="utf-8"?>
<p:tagLst xmlns:a="http://schemas.openxmlformats.org/drawingml/2006/main" xmlns:r="http://schemas.openxmlformats.org/officeDocument/2006/relationships" xmlns:p="http://schemas.openxmlformats.org/presentationml/2006/main">
  <p:tag name="PPWINSEGMENT1START" val="1"/>
  <p:tag name="PPWINSEGMENT1LENGTH" val="21"/>
  <p:tag name="PPWINSEGMENT1SOURCERTF" val="{\rtf1\ansi\deff0{\fonttbl{\f0\fcharset0 Arial Narrow;}}{\colortbl\red0\green0\blue0;}{\f0\fs52\b\cf0 What Is RADIUS?\par}}"/>
  <p:tag name="PPWINSEGMENT1TARGETRTF" val="{\rtf1\ansi\deff1{\fonttbl{\f1\fcharset0 Arial;}{\f2\fcharset0 Arial Narrow;}}{\colortbl\red0\green0\blue0;}{\f2\fs52\b\cf0 Que signifie RADIUS ?\par}}"/>
  <p:tag name="PPWINLASTSAVEDTRANSLATION" val="Que signifie RADIUS ?"/>
  <p:tag name="PPWINALREADYSEGMENTED" val="True"/>
  <p:tag name="PPWINTOTALSEGMENTS" val="1"/>
</p:tagLst>
</file>

<file path=ppt/tags/tag262.xml><?xml version="1.0" encoding="utf-8"?>
<p:tagLst xmlns:a="http://schemas.openxmlformats.org/drawingml/2006/main" xmlns:r="http://schemas.openxmlformats.org/officeDocument/2006/relationships" xmlns:p="http://schemas.openxmlformats.org/presentationml/2006/main">
  <p:tag name="PPWINSEGMENT1START" val="1"/>
  <p:tag name="PPWINSEGMENT1LENGTH" val="177"/>
  <p:tag name="PPWINSEGMENT1SOURCERTF" val="{\rtf1\ansi\deff0{\fonttbl{\f0\fcharset0 Arial Narrow;}}{\colortbl\red0\green0\blue0;}{\f0\fs44\b\i\cf0 RADIUS}{\f0\fs44\b\cf0  is a widely deployed protocol, based on a client/server model,  that enables centralized authentication, authorization, and accounting for network access \par}}"/>
  <p:tag name="PPWINSEGMENT1TARGETRTF" val="{\rtf1\ansi\deff1{\fonttbl{\f1\fcharset0 Arial;}{\f2\fcharset0 Arial Narrow;}}{\colortbl\red0\green0\blue0;}{\f2\fs44\b\i\cf0 RADIUS}{\f2\fs44\b\cf0  est un protocole largement r\'E9pandu, bas\'E9 sur un mod\'E8le client/serveur. Il permet l'authentification, l'autorisation et la comptabilisation centralis\'E9es de l'acc\'E8s r\'E9seau.\par}}"/>
  <p:tag name="PPWINLASTSAVEDTRANSLATION" val="RADIUS est un protocole largement répandu, basé sur un modèle client/serveur. Il permet l'authentification, l'autorisation et la comptabilisation centralisées de l'accès réseau."/>
  <p:tag name="PPWINALREADYSEGMENTED" val="True"/>
  <p:tag name="PPWINTOTALSEGMENTS" val="1"/>
</p:tagLst>
</file>

<file path=ppt/tags/tag263.xml><?xml version="1.0" encoding="utf-8"?>
<p:tagLst xmlns:a="http://schemas.openxmlformats.org/drawingml/2006/main" xmlns:r="http://schemas.openxmlformats.org/officeDocument/2006/relationships" xmlns:p="http://schemas.openxmlformats.org/presentationml/2006/main">
  <p:tag name="PPWINTOTALSEGMENTS" val="0"/>
</p:tagLst>
</file>

<file path=ppt/tags/tag264.xml><?xml version="1.0" encoding="utf-8"?>
<p:tagLst xmlns:a="http://schemas.openxmlformats.org/drawingml/2006/main" xmlns:r="http://schemas.openxmlformats.org/officeDocument/2006/relationships" xmlns:p="http://schemas.openxmlformats.org/presentationml/2006/main">
  <p:tag name="PPWINSEGMENT1START" val="1"/>
  <p:tag name="PPWINSEGMENT1LENGTH" val="18"/>
  <p:tag name="PPWINSEGMENT1SOURCERTF" val="{\rtf1\ansi\deff0{\fonttbl{\f0\fcharset0 Arial Narrow;}}{\colortbl\red0\green0\blue0;}{\f0\fs60\b\cf0 What Is IAS?\par}}"/>
  <p:tag name="PPWINSEGMENT1TARGETRTF" val="{\rtf1\ansi\deff1{\fonttbl{\f1\fcharset0 Arial;}{\f2\fcharset0 Arial Narrow;}}{\colortbl\red0\green0\blue0;}{\f2\fs60\b\cf0 Que signifie IAS ?\par}}"/>
  <p:tag name="PPWINLASTSAVEDTRANSLATION" val="Que signifie IAS ?"/>
  <p:tag name="PPWINALREADYSEGMENTED" val="True"/>
  <p:tag name="PPWINTOTALSEGMENTS" val="1"/>
</p:tagLst>
</file>

<file path=ppt/tags/tag265.xml><?xml version="1.0" encoding="utf-8"?>
<p:tagLst xmlns:a="http://schemas.openxmlformats.org/drawingml/2006/main" xmlns:r="http://schemas.openxmlformats.org/officeDocument/2006/relationships" xmlns:p="http://schemas.openxmlformats.org/presentationml/2006/main">
  <p:tag name="PPWINSEGMENT1START" val="1"/>
  <p:tag name="PPWINSEGMENT1LENGTH" val="71"/>
  <p:tag name="PPWINSEGMENT1SOURCERTF" val="{\rtf1\ansi\deff0{\fonttbl{\f0\fcharset0 Arial Narrow;}}{\colortbl\red0\green0\blue0;}{\f0\fs44\b\i\cf0 IAS, }{\f0\fs44\b\cf0 a Windows Server 2003 component, is an industry-standard compliant RADIUS server.\par}}"/>
  <p:tag name="PPWINSEGMENT1TARGETRTF" val="{\rtf1\ansi\deff1{\fonttbl{\f1\fcharset0 Arial;}{\f2\fcharset0 Arial Narrow;}}{\colortbl\red0\green0\blue0;}{\f2\fs44\b\cf0 Le composant IAS de Windows Server 2003 est un serveur RADIUS standard.\par}}"/>
  <p:tag name="PPWINSEGMENT2START" val="73"/>
  <p:tag name="PPWINSEGMENT2LENGTH" val="153"/>
  <p:tag name="PPWINSEGMENT2SOURCERTF" val="{\rtf1\ansi\deff0{\fonttbl{\f0\fcharset0 Arial Narrow;}}{\colortbl\red0\green0\blue0;}{\f0\fs44\b\cf0 IAS performs centralized authentication, authorization, auditing, and accounting of connections for VPN, dial-up, and wireless connections\par}}"/>
  <p:tag name="PPWINSEGMENT2TARGETRTF" val="{\rtf1\ansi\deff1{\fonttbl{\f1\fcharset0 Arial;}{\f2\fcharset0 Arial Narrow;}}{\colortbl\red0\green0\blue0;}{\f2\fs44\b\cf0 Il r\'E9alise, de mani\'E8re centralis\'E9e, l'authentification, l'autorisation, l'audit et la comptabilisation des connexions d'acc\'E8s \'E0 distance, VPN et sans fil\par}}"/>
  <p:tag name="PPWINLASTSAVEDTRANSLATION" val="Le composant IAS de Windows Server 2003 est un serveur RADIUS standard. Il réalise, de manière centralisée, l'authentification, l'autorisation, l'audit et la comptabilisation des connexions d'accès à distance, VPN et sans fil"/>
  <p:tag name="PPWINALREADYSEGMENTED" val="True"/>
  <p:tag name="PPWINTOTALSEGMENTS" val="2"/>
</p:tagLst>
</file>

<file path=ppt/tags/tag266.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55"/>
  <p:tag name="PPWINSEGMENT1SOURCERTF" val="{\rtf1\ansi\deff0{\fonttbl{\f0\fcharset0 Arial Narrow;}}{\colortbl\red0\green0\blue0;}{\f0\fs48\b\cf0 You can configure IAS to support:\par}}"/>
  <p:tag name="PPWINSEGMENT1TARGETRTF" val="{\rtf1\ansi\deff1{\fonttbl{\f1\fcharset0 Arial;}{\f2\fcharset0 Arial Narrow;}}{\colortbl\red0\green0\blue0;}{\f2\fs48\b\cf0 Vous pouvez configurer IAS pour la prise en charge de :\par}}"/>
  <p:tag name="PPWINLASTSAVEDTRANSLATION" val="Vous pouvez configurer IAS pour la prise en charge de :"/>
  <p:tag name="PPWINALREADYSEGMENTED" val="True"/>
  <p:tag name="PPWINTOTALSEGMENTS" val="1"/>
</p:tagLst>
</file>

<file path=ppt/tags/tag267.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58"/>
  <p:tag name="PPWINSEGMENT1SOURCERTF" val="{\rtf1\ansi\deff0{\fonttbl{\f0\fcharset0 Arial Narrow;}}{\colortbl\red0\green0\blue0;}{\f0\fs44\b\cf0 Dial-up corporate access\par}}"/>
  <p:tag name="PPWINSEGMENT1TARGETRTF" val="{\rtf1\ansi\deff1{\fonttbl{\f1\fcharset0 Arial;}{\f2\fcharset0 Arial Narrow;}}{\colortbl\red0\green0\blue0;}{\f2\fs44\b\cf0 L'acc\'E8s au r\'E9seau de l'entreprise par connexion \'E0 distance\par}}"/>
  <p:tag name="PPWINSEGMENT2START" val="60"/>
  <p:tag name="PPWINSEGMENT2LENGTH" val="53"/>
  <p:tag name="PPWINSEGMENT2SOURCERTF" val="{\rtf1\ansi\deff0{\fonttbl{\f0\fcharset0 Arial Narrow;}}{\colortbl\red0\green0\blue0;}{\f0\fs44\b\cf0 Extranet access for business partners\par}}"/>
  <p:tag name="PPWINSEGMENT2TARGETRTF" val="{\rtf1\ansi\deff1{\fonttbl{\f1\fcharset0 Arial;}{\f2\fcharset0 Arial Narrow;}}{\colortbl\red0\green0\blue0;}{\f2\fs44\b\cf0 L'acc\'E8s extranet pour les partenaires de l'entreprise\par}}"/>
  <p:tag name="PPWINSEGMENT3START" val="114"/>
  <p:tag name="PPWINSEGMENT3LENGTH" val="18"/>
  <p:tag name="PPWINSEGMENT3SOURCERTF" val="{\rtf1\ansi\deff0{\fonttbl{\f0\fcharset0 Arial Narrow;}}{\colortbl\red0\green0\blue0;}{\f0\fs44\b\cf0 Internet access\par}}"/>
  <p:tag name="PPWINSEGMENT3TARGETRTF" val="{\rtf1\ansi\deff1{\fonttbl{\f1\fcharset0 Arial;}{\f2\fcharset0 Arial Narrow;}}{\colortbl\red0\green0\blue0;}{\f2\fs44\b\cf0 L'acc\'E8s \'E0 Internet\par}}"/>
  <p:tag name="PPWINSEGMENT4START" val="133"/>
  <p:tag name="PPWINSEGMENT4LENGTH" val="90"/>
  <p:tag name="PPWINSEGMENT4SOURCERTF" val="{\rtf1\ansi\deff0{\fonttbl{\f0\fcharset0 Arial Narrow;}}{\colortbl\red0\green0\blue0;}{\f0\fs44\b\cf0 Outsourced corporate access through service providers\par}}"/>
  <p:tag name="PPWINSEGMENT4TARGETRTF" val="{\rtf1\ansi\deff1{\fonttbl{\f1\fcharset0 Arial;}{\f2\fcharset0 Arial Narrow;}}{\colortbl\red0\green0\blue0;}{\f2\fs44\b\cf0 L'acc\'E8s au r\'E9seau d'entreprise sous-trait\'E9 par l'interm\'E9diaire de fournisseurs de services\par}}"/>
  <p:tag name="PPWINLASTSAVEDTRANSLATION" val="L'accès au réseau de l'entreprise par connexion à distance&#10;L'accès extranet pour les partenaires de l'entreprise&#10;L'accès à Internet&#10;L'accès au réseau d'entreprise sous-traité par l'intermédiaire de fournisseurs de services"/>
  <p:tag name="PPWINALREADYSEGMENTED" val="True"/>
  <p:tag name="PPWINTOTALSEGMENTS" val="4"/>
</p:tagLst>
</file>

<file path=ppt/tags/tag268.xml><?xml version="1.0" encoding="utf-8"?>
<p:tagLst xmlns:a="http://schemas.openxmlformats.org/drawingml/2006/main" xmlns:r="http://schemas.openxmlformats.org/officeDocument/2006/relationships" xmlns:p="http://schemas.openxmlformats.org/presentationml/2006/main">
  <p:tag name="PPTAGGERGROUP" val="1"/>
</p:tagLst>
</file>

<file path=ppt/tags/tag269.xml><?xml version="1.0" encoding="utf-8"?>
<p:tagLst xmlns:a="http://schemas.openxmlformats.org/drawingml/2006/main" xmlns:r="http://schemas.openxmlformats.org/officeDocument/2006/relationships" xmlns:p="http://schemas.openxmlformats.org/presentationml/2006/main">
  <p:tag name="PPTAGGERGROUP" val="1"/>
  <p:tag name="PPWINSEGMENT1START" val="1"/>
  <p:tag name="PPWINSEGMENT1LENGTH" val="14"/>
  <p:tag name="PPWINSEGMENT1SOURCERTF" val="{\rtf1\ansi\deff0{\fonttbl{\f0\fcharset0 Arial Narrow;}}{\colortbl\red0\green0\blue0;}{\f0\fs36\b\cf0 RADIUS Server\par}}"/>
  <p:tag name="PPWINSEGMENT1TARGETRTF" val="{\rtf1\ansi\deff1{\fonttbl{\f1\fcharset0 Arial;}{\f2\fcharset0 Arial Narrow;}}{\colortbl\red0\green0\blue0;}{\f2\fs36\b\cf0 Serveur RADIUS\par}}"/>
  <p:tag name="PPWINLASTSAVEDTRANSLATION" val="Serveur RADIUS"/>
  <p:tag name="PPWINALREADYSEGMENTED" val="True"/>
  <p:tag name="PPWINTOTALSEGMENTS" val="1"/>
</p:tagLst>
</file>

<file path=ppt/tags/tag270.xml><?xml version="1.0" encoding="utf-8"?>
<p:tagLst xmlns:a="http://schemas.openxmlformats.org/drawingml/2006/main" xmlns:r="http://schemas.openxmlformats.org/officeDocument/2006/relationships" xmlns:p="http://schemas.openxmlformats.org/presentationml/2006/main">
  <p:tag name="PPWINTOTALSEGMENTS" val="0"/>
</p:tagLst>
</file>

<file path=ppt/tags/tag271.xml><?xml version="1.0" encoding="utf-8"?>
<p:tagLst xmlns:a="http://schemas.openxmlformats.org/drawingml/2006/main" xmlns:r="http://schemas.openxmlformats.org/officeDocument/2006/relationships" xmlns:p="http://schemas.openxmlformats.org/presentationml/2006/main">
  <p:tag name="PPWINSEGMENT1START" val="1"/>
  <p:tag name="PPWINSEGMENT1LENGTH" val="48"/>
  <p:tag name="PPWINSEGMENT1SOURCERTF" val="{\rtf1\ansi\deff0{\fonttbl{\f0\fcharset0 Arial Narrow;}}{\colortbl\red0\green0\blue0;}{\f0\fs52\b\cf0 How Centralized Authentication Works\par}}"/>
  <p:tag name="PPWINLASTSAVEDTRANSLATION" val="Fonctionnement de l'authentification centralisée"/>
  <p:tag name="PPWINALREADYSEGMENTED" val="True"/>
  <p:tag name="PPWINTOTALSEGMENTS" val="1"/>
  <p:tag name="PPWINSEGMENT1TARGETRTF" val="{\rtf1\ansi\deff0{\fonttbl{\f0\fcharset0 Arial Narrow;}}{\colortbl\red0\green0\blue0;}{\f0\fs52\b\cf0 Fonctionnement de l'authentification centralis\'E9e\par}}"/>
</p:tagLst>
</file>

<file path=ppt/tags/tag272.xml><?xml version="1.0" encoding="utf-8"?>
<p:tagLst xmlns:a="http://schemas.openxmlformats.org/drawingml/2006/main" xmlns:r="http://schemas.openxmlformats.org/officeDocument/2006/relationships" xmlns:p="http://schemas.openxmlformats.org/presentationml/2006/main">
  <p:tag name="PPWINTOTALSEGMENTS" val="0"/>
</p:tagLst>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l">
  <a:themeElements>
    <a:clrScheme name="Nuances de gris">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19953</TotalTime>
  <Words>3044</Words>
  <Application>Microsoft Office PowerPoint</Application>
  <PresentationFormat>Affichage à l'écran (4:3)</PresentationFormat>
  <Paragraphs>395</Paragraphs>
  <Slides>33</Slides>
  <Notes>31</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33</vt:i4>
      </vt:variant>
    </vt:vector>
  </HeadingPairs>
  <TitlesOfParts>
    <vt:vector size="39" baseType="lpstr">
      <vt:lpstr>Arial Narrow</vt:lpstr>
      <vt:lpstr>Wingdings</vt:lpstr>
      <vt:lpstr>Arial</vt:lpstr>
      <vt:lpstr>Georgia</vt:lpstr>
      <vt:lpstr>Wingdings 2</vt:lpstr>
      <vt:lpstr>Civil</vt:lpstr>
      <vt:lpstr>Chapitre 9 Configuration  de l'accès réseau</vt:lpstr>
      <vt:lpstr>Plan du cours</vt:lpstr>
      <vt:lpstr>1. Introduction à l'infrastructure d'accès réseau</vt:lpstr>
      <vt:lpstr>Composants d'une infrastructure d'accès réseau</vt:lpstr>
      <vt:lpstr>Configuration requise pour un serveur  d'accès réseau</vt:lpstr>
      <vt:lpstr>Qu'est-ce qu'un client d'accès réseau ?</vt:lpstr>
      <vt:lpstr>L’autorisation et l’authentification de l'accès réseau </vt:lpstr>
      <vt:lpstr>Les méthodes d'authentification</vt:lpstr>
      <vt:lpstr>2. Configuration d'une connexion VPN</vt:lpstr>
      <vt:lpstr>Fonctionnement d'une connexion VPN</vt:lpstr>
      <vt:lpstr>Avantages d'une connexion VPN</vt:lpstr>
      <vt:lpstr>Composants d'une connexion VPN</vt:lpstr>
      <vt:lpstr>Protocoles de cryptage pour une connexion VPN</vt:lpstr>
      <vt:lpstr>Protocoles de cryptage pour une connexion VPN</vt:lpstr>
      <vt:lpstr>Configuration requise pour un serveur VPN</vt:lpstr>
      <vt:lpstr>3.  Configuration d'une connexion d'accès à distance</vt:lpstr>
      <vt:lpstr>Comment fonctionne l'accès réseau à distance ?</vt:lpstr>
      <vt:lpstr>Composants d'une connexion d'accès à distance</vt:lpstr>
      <vt:lpstr>Méthodes d'authentification disponibles pour une connexion d'accès à distance</vt:lpstr>
      <vt:lpstr>Configuration requise pour un serveur  d'accès distant</vt:lpstr>
      <vt:lpstr>3. Configuration d'une connexion sans fil</vt:lpstr>
      <vt:lpstr>Vue d'ensemble de l'accès réseau sans fil</vt:lpstr>
      <vt:lpstr>Composants d'une connexion sans fil</vt:lpstr>
      <vt:lpstr>Normes sans fil</vt:lpstr>
      <vt:lpstr>Méthodes d'authentification disponibles pour les réseaux sans fil</vt:lpstr>
      <vt:lpstr>Configuration requise pour un client Windows en vue d'un accès réseau sans fil</vt:lpstr>
      <vt:lpstr>4. Contrôle de l'accès utilisateur au réseau</vt:lpstr>
      <vt:lpstr>Présentation PowerPoint</vt:lpstr>
      <vt:lpstr>Qu'est-ce qu'une stratégie d'accès distant ?</vt:lpstr>
      <vt:lpstr>6. Centralisation de l'authentification de l'accès réseau et de la gestion des stratégies en utilisant IAS</vt:lpstr>
      <vt:lpstr>Que signifie Radius ?</vt:lpstr>
      <vt:lpstr>Que signifie NPS ?</vt:lpstr>
      <vt:lpstr>Fonctionnement de l'authentification centralisée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7: Configuring a Remote Access</dc:title>
  <dc:creator>Brenna Calnan</dc:creator>
  <cp:lastModifiedBy>HALIMA.HOUSNY</cp:lastModifiedBy>
  <cp:revision>660</cp:revision>
  <dcterms:created xsi:type="dcterms:W3CDTF">2002-08-22T19:09:21Z</dcterms:created>
  <dcterms:modified xsi:type="dcterms:W3CDTF">2021-02-14T20:12:34Z</dcterms:modified>
</cp:coreProperties>
</file>