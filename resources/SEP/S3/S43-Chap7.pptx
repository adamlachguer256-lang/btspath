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104.xml" ContentType="application/vnd.openxmlformats-officedocument.presentationml.tags+xml"/>
  <Override PartName="/ppt/tags/tag140.xml" ContentType="application/vnd.openxmlformats-officedocument.presentationml.tags+xml"/>
  <Override PartName="/ppt/tags/tag151.xml" ContentType="application/vnd.openxmlformats-officedocument.presentationml.tags+xml"/>
  <Override PartName="/ppt/tags/tag238.xml" ContentType="application/vnd.openxmlformats-officedocument.presentationml.tags+xml"/>
  <Override PartName="/ppt/tags/tag227.xml" ContentType="application/vnd.openxmlformats-officedocument.presentationml.tags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96.xml" ContentType="application/vnd.openxmlformats-officedocument.presentationml.tags+xml"/>
  <Override PartName="/ppt/notesSlides/notesSlide27.xml" ContentType="application/vnd.openxmlformats-officedocument.presentationml.notesSlide+xml"/>
  <Override PartName="/ppt/tags/tag205.xml" ContentType="application/vnd.openxmlformats-officedocument.presentationml.tags+xml"/>
  <Override PartName="/ppt/tags/tag216.xml" ContentType="application/vnd.openxmlformats-officedocument.presentationml.tags+xml"/>
  <Override PartName="/ppt/tags/tag252.xml" ContentType="application/vnd.openxmlformats-officedocument.presentationml.tags+xml"/>
  <Override PartName="/ppt/tags/tag263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tags/tag38.xml" ContentType="application/vnd.openxmlformats-officedocument.presentationml.tags+xml"/>
  <Override PartName="/ppt/notesSlides/notesSlide16.xml" ContentType="application/vnd.openxmlformats-officedocument.presentationml.notesSlide+xml"/>
  <Override PartName="/ppt/tags/tag85.xml" ContentType="application/vnd.openxmlformats-officedocument.presentationml.tags+xml"/>
  <Override PartName="/ppt/tags/tag189.xml" ContentType="application/vnd.openxmlformats-officedocument.presentationml.tags+xml"/>
  <Override PartName="/ppt/tags/tag241.xml" ContentType="application/vnd.openxmlformats-officedocument.presentationml.tags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178.xml" ContentType="application/vnd.openxmlformats-officedocument.presentationml.tags+xml"/>
  <Override PartName="/ppt/tags/tag230.xml" ContentType="application/vnd.openxmlformats-officedocument.presentationml.tags+xml"/>
  <Override PartName="/ppt/tags/tag52.xml" ContentType="application/vnd.openxmlformats-officedocument.presentationml.tags+xml"/>
  <Override PartName="/ppt/tags/tag109.xml" ContentType="application/vnd.openxmlformats-officedocument.presentationml.tags+xml"/>
  <Override PartName="/ppt/tags/tag156.xml" ContentType="application/vnd.openxmlformats-officedocument.presentationml.tags+xml"/>
  <Override PartName="/ppt/tags/tag167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145.xml" ContentType="application/vnd.openxmlformats-officedocument.presentationml.tags+xml"/>
  <Override PartName="/ppt/tags/tag192.xml" ContentType="application/vnd.openxmlformats-officedocument.presentationml.tags+xml"/>
  <Override PartName="/ppt/tags/tag30.xml" ContentType="application/vnd.openxmlformats-officedocument.presentationml.tags+xml"/>
  <Override PartName="/ppt/tags/tag134.xml" ContentType="application/vnd.openxmlformats-officedocument.presentationml.tags+xml"/>
  <Override PartName="/ppt/tags/tag181.xml" ContentType="application/vnd.openxmlformats-officedocument.presentationml.tags+xml"/>
  <Override PartName="/ppt/tags/tag268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112.xml" ContentType="application/vnd.openxmlformats-officedocument.presentationml.tags+xml"/>
  <Override PartName="/ppt/tags/tag123.xml" ContentType="application/vnd.openxmlformats-officedocument.presentationml.tags+xml"/>
  <Override PartName="/ppt/tags/tag170.xml" ContentType="application/vnd.openxmlformats-officedocument.presentationml.tags+xml"/>
  <Override PartName="/ppt/tags/tag257.xml" ContentType="application/vnd.openxmlformats-officedocument.presentationml.tag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tags/tag101.xml" ContentType="application/vnd.openxmlformats-officedocument.presentationml.tags+xml"/>
  <Override PartName="/ppt/tags/tag246.xml" ContentType="application/vnd.openxmlformats-officedocument.presentationml.tags+xml"/>
  <Override PartName="/ppt/slides/slide33.xml" ContentType="application/vnd.openxmlformats-officedocument.presentationml.slide+xml"/>
  <Override PartName="/ppt/tags/tag68.xml" ContentType="application/vnd.openxmlformats-officedocument.presentationml.tags+xml"/>
  <Override PartName="/ppt/tags/tag224.xml" ContentType="application/vnd.openxmlformats-officedocument.presentationml.tags+xml"/>
  <Override PartName="/ppt/tags/tag235.xml" ContentType="application/vnd.openxmlformats-officedocument.presentationml.tags+xml"/>
  <Override PartName="/ppt/tags/tag271.xml" ContentType="application/vnd.openxmlformats-officedocument.presentationml.tags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tags/tag57.xml" ContentType="application/vnd.openxmlformats-officedocument.presentationml.tags+xml"/>
  <Override PartName="/ppt/notesSlides/notesSlide24.xml" ContentType="application/vnd.openxmlformats-officedocument.presentationml.notesSlide+xml"/>
  <Override PartName="/ppt/tags/tag213.xml" ContentType="application/vnd.openxmlformats-officedocument.presentationml.tags+xml"/>
  <Override PartName="/ppt/tags/tag260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notesSlides/notesSlide13.xml" ContentType="application/vnd.openxmlformats-officedocument.presentationml.notesSlide+xml"/>
  <Override PartName="/ppt/tags/tag82.xml" ContentType="application/vnd.openxmlformats-officedocument.presentationml.tags+xml"/>
  <Override PartName="/ppt/tags/tag93.xml" ContentType="application/vnd.openxmlformats-officedocument.presentationml.tags+xml"/>
  <Override PartName="/ppt/tags/tag139.xml" ContentType="application/vnd.openxmlformats-officedocument.presentationml.tags+xml"/>
  <Override PartName="/ppt/tags/tag186.xml" ContentType="application/vnd.openxmlformats-officedocument.presentationml.tags+xml"/>
  <Override PartName="/ppt/tags/tag197.xml" ContentType="application/vnd.openxmlformats-officedocument.presentationml.tags+xml"/>
  <Override PartName="/ppt/tags/tag20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24.xml" ContentType="application/vnd.openxmlformats-officedocument.presentationml.tags+xml"/>
  <Override PartName="/ppt/tags/tag71.xml" ContentType="application/vnd.openxmlformats-officedocument.presentationml.tags+xml"/>
  <Override PartName="/ppt/tags/tag128.xml" ContentType="application/vnd.openxmlformats-officedocument.presentationml.tags+xml"/>
  <Override PartName="/ppt/tags/tag175.xml" ContentType="application/vnd.openxmlformats-officedocument.presentationml.tags+xml"/>
  <Override PartName="/ppt/tags/tag13.xml" ContentType="application/vnd.openxmlformats-officedocument.presentationml.tags+xml"/>
  <Override PartName="/ppt/tags/tag60.xml" ContentType="application/vnd.openxmlformats-officedocument.presentationml.tags+xml"/>
  <Override PartName="/ppt/tags/tag117.xml" ContentType="application/vnd.openxmlformats-officedocument.presentationml.tags+xml"/>
  <Override PartName="/ppt/tags/tag164.xml" ContentType="application/vnd.openxmlformats-officedocument.presentationml.tags+xml"/>
  <Override PartName="/ppt/notesSlides/notesSlide4.xml" ContentType="application/vnd.openxmlformats-officedocument.presentationml.notesSlide+xml"/>
  <Override PartName="/ppt/tags/tag106.xml" ContentType="application/vnd.openxmlformats-officedocument.presentationml.tags+xml"/>
  <Override PartName="/ppt/tags/tag142.xml" ContentType="application/vnd.openxmlformats-officedocument.presentationml.tags+xml"/>
  <Override PartName="/ppt/tags/tag153.xml" ContentType="application/vnd.openxmlformats-officedocument.presentationml.tags+xml"/>
  <Override PartName="/ppt/tags/tag131.xml" ContentType="application/vnd.openxmlformats-officedocument.presentationml.tags+xml"/>
  <Override PartName="/ppt/tags/tag229.xml" ContentType="application/vnd.openxmlformats-officedocument.presentationml.tags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ags/tag98.xml" ContentType="application/vnd.openxmlformats-officedocument.presentationml.tags+xml"/>
  <Override PartName="/ppt/tags/tag120.xml" ContentType="application/vnd.openxmlformats-officedocument.presentationml.tags+xml"/>
  <Override PartName="/ppt/tags/tag207.xml" ContentType="application/vnd.openxmlformats-officedocument.presentationml.tags+xml"/>
  <Override PartName="/ppt/notesSlides/notesSlide29.xml" ContentType="application/vnd.openxmlformats-officedocument.presentationml.notesSlide+xml"/>
  <Override PartName="/ppt/tags/tag218.xml" ContentType="application/vnd.openxmlformats-officedocument.presentationml.tags+xml"/>
  <Override PartName="/ppt/tags/tag254.xml" ContentType="application/vnd.openxmlformats-officedocument.presentationml.tags+xml"/>
  <Override PartName="/ppt/tags/tag265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87.xml" ContentType="application/vnd.openxmlformats-officedocument.presentationml.tags+xml"/>
  <Override PartName="/ppt/notesSlides/notesSlide18.xml" ContentType="application/vnd.openxmlformats-officedocument.presentationml.notesSlide+xml"/>
  <Override PartName="/ppt/tags/tag243.xml" ContentType="application/vnd.openxmlformats-officedocument.presentationml.tags+xml"/>
  <Override PartName="/ppt/tags/tag29.xml" ContentType="application/vnd.openxmlformats-officedocument.presentationml.tags+xml"/>
  <Override PartName="/ppt/tags/tag76.xml" ContentType="application/vnd.openxmlformats-officedocument.presentationml.tags+xml"/>
  <Override PartName="/ppt/tags/tag232.xml" ContentType="application/vnd.openxmlformats-officedocument.presentationml.tags+xml"/>
  <Override PartName="/ppt/slides/slide30.xml" ContentType="application/vnd.openxmlformats-officedocument.presentationml.slide+xml"/>
  <Override PartName="/ppt/tags/tag18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158.xml" ContentType="application/vnd.openxmlformats-officedocument.presentationml.tags+xml"/>
  <Override PartName="/ppt/tags/tag169.xml" ContentType="application/vnd.openxmlformats-officedocument.presentationml.tags+xml"/>
  <Override PartName="/ppt/tags/tag210.xml" ContentType="application/vnd.openxmlformats-officedocument.presentationml.tags+xml"/>
  <Override PartName="/ppt/tags/tag221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3.xml" ContentType="application/vnd.openxmlformats-officedocument.presentationml.tags+xml"/>
  <Override PartName="/ppt/tags/tag90.xml" ContentType="application/vnd.openxmlformats-officedocument.presentationml.tags+xml"/>
  <Override PartName="/ppt/tags/tag147.xml" ContentType="application/vnd.openxmlformats-officedocument.presentationml.tags+xml"/>
  <Override PartName="/ppt/notesSlides/notesSlide21.xml" ContentType="application/vnd.openxmlformats-officedocument.presentationml.notesSlide+xml"/>
  <Override PartName="/ppt/tags/tag194.xml" ContentType="application/vnd.openxmlformats-officedocument.presentationml.tags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tags/tag136.xml" ContentType="application/vnd.openxmlformats-officedocument.presentationml.tags+xml"/>
  <Override PartName="/ppt/tags/tag183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114.xml" ContentType="application/vnd.openxmlformats-officedocument.presentationml.tags+xml"/>
  <Override PartName="/ppt/tags/tag125.xml" ContentType="application/vnd.openxmlformats-officedocument.presentationml.tags+xml"/>
  <Override PartName="/ppt/tags/tag161.xml" ContentType="application/vnd.openxmlformats-officedocument.presentationml.tags+xml"/>
  <Override PartName="/ppt/tags/tag172.xml" ContentType="application/vnd.openxmlformats-officedocument.presentationml.tags+xml"/>
  <Override PartName="/ppt/tags/tag259.xml" ContentType="application/vnd.openxmlformats-officedocument.presentationml.tags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50.xml" ContentType="application/vnd.openxmlformats-officedocument.presentationml.tags+xml"/>
  <Override PartName="/ppt/tags/tag248.xml" ContentType="application/vnd.openxmlformats-officedocument.presentationml.tags+xml"/>
  <Override PartName="/ppt/tags/tag226.xml" ContentType="application/vnd.openxmlformats-officedocument.presentationml.tags+xml"/>
  <Override PartName="/ppt/tags/tag237.xml" ContentType="application/vnd.openxmlformats-officedocument.presentationml.tags+xml"/>
  <Override PartName="/ppt/tags/tag273.xml" ContentType="application/vnd.openxmlformats-officedocument.presentationml.tags+xml"/>
  <Override PartName="/ppt/slides/slide24.xml" ContentType="application/vnd.openxmlformats-officedocument.presentationml.slide+xml"/>
  <Override PartName="/ppt/tags/tag59.xml" ContentType="application/vnd.openxmlformats-officedocument.presentationml.tags+xml"/>
  <Override PartName="/ppt/tags/tag215.xml" ContentType="application/vnd.openxmlformats-officedocument.presentationml.tags+xml"/>
  <Override PartName="/ppt/tags/tag262.xml" ContentType="application/vnd.openxmlformats-officedocument.presentationml.tags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notesSlides/notesSlide15.xml" ContentType="application/vnd.openxmlformats-officedocument.presentationml.notesSlide+xml"/>
  <Override PartName="/ppt/tags/tag84.xml" ContentType="application/vnd.openxmlformats-officedocument.presentationml.tags+xml"/>
  <Override PartName="/ppt/tags/tag95.xml" ContentType="application/vnd.openxmlformats-officedocument.presentationml.tags+xml"/>
  <Override PartName="/ppt/notesSlides/notesSlide26.xml" ContentType="application/vnd.openxmlformats-officedocument.presentationml.notesSlide+xml"/>
  <Override PartName="/ppt/tags/tag188.xml" ContentType="application/vnd.openxmlformats-officedocument.presentationml.tags+xml"/>
  <Override PartName="/ppt/tags/tag199.xml" ContentType="application/vnd.openxmlformats-officedocument.presentationml.tags+xml"/>
  <Override PartName="/ppt/tags/tag204.xml" ContentType="application/vnd.openxmlformats-officedocument.presentationml.tags+xml"/>
  <Override PartName="/ppt/tags/tag251.xml" ContentType="application/vnd.openxmlformats-officedocument.presentationml.tags+xml"/>
  <Override PartName="/ppt/slideLayouts/slideLayout12.xml" ContentType="application/vnd.openxmlformats-officedocument.presentationml.slideLayout+xml"/>
  <Override PartName="/ppt/tags/tag26.xml" ContentType="application/vnd.openxmlformats-officedocument.presentationml.tags+xml"/>
  <Override PartName="/ppt/tags/tag73.xml" ContentType="application/vnd.openxmlformats-officedocument.presentationml.tags+xml"/>
  <Override PartName="/ppt/tags/tag177.xml" ContentType="application/vnd.openxmlformats-officedocument.presentationml.tags+xml"/>
  <Override PartName="/ppt/tags/tag240.xml" ContentType="application/vnd.openxmlformats-officedocument.presentationml.tags+xml"/>
  <Override PartName="/ppt/tags/tag15.xml" ContentType="application/vnd.openxmlformats-officedocument.presentationml.tags+xml"/>
  <Override PartName="/ppt/tags/tag62.xml" ContentType="application/vnd.openxmlformats-officedocument.presentationml.tags+xml"/>
  <Override PartName="/ppt/tags/tag119.xml" ContentType="application/vnd.openxmlformats-officedocument.presentationml.tags+xml"/>
  <Override PartName="/ppt/tags/tag166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51.xml" ContentType="application/vnd.openxmlformats-officedocument.presentationml.tags+xml"/>
  <Override PartName="/ppt/tags/tag108.xml" ContentType="application/vnd.openxmlformats-officedocument.presentationml.tags+xml"/>
  <Override PartName="/ppt/tags/tag155.xml" ContentType="application/vnd.openxmlformats-officedocument.presentationml.tags+xml"/>
  <Override PartName="/ppt/tags/tag133.xml" ContentType="application/vnd.openxmlformats-officedocument.presentationml.tags+xml"/>
  <Override PartName="/ppt/tags/tag144.xml" ContentType="application/vnd.openxmlformats-officedocument.presentationml.tags+xml"/>
  <Override PartName="/ppt/tags/tag180.xml" ContentType="application/vnd.openxmlformats-officedocument.presentationml.tags+xml"/>
  <Override PartName="/ppt/tags/tag191.xml" ContentType="application/vnd.openxmlformats-officedocument.presentationml.tags+xml"/>
  <Override PartName="/ppt/slides/slide29.xml" ContentType="application/vnd.openxmlformats-officedocument.presentationml.slide+xml"/>
  <Override PartName="/ppt/tags/tag122.xml" ContentType="application/vnd.openxmlformats-officedocument.presentationml.tags+xml"/>
  <Override PartName="/ppt/tags/tag209.xml" ContentType="application/vnd.openxmlformats-officedocument.presentationml.tags+xml"/>
  <Override PartName="/ppt/tags/tag256.xml" ContentType="application/vnd.openxmlformats-officedocument.presentationml.tags+xml"/>
  <Override PartName="/ppt/tags/tag267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tags/tag111.xml" ContentType="application/vnd.openxmlformats-officedocument.presentationml.tags+xml"/>
  <Override PartName="/ppt/tags/tag245.xml" ContentType="application/vnd.openxmlformats-officedocument.presentationml.tags+xml"/>
  <Override PartName="/ppt/theme/theme1.xml" ContentType="application/vnd.openxmlformats-officedocument.theme+xml"/>
  <Override PartName="/ppt/tags/tag78.xml" ContentType="application/vnd.openxmlformats-officedocument.presentationml.tags+xml"/>
  <Override PartName="/ppt/tags/tag100.xml" ContentType="application/vnd.openxmlformats-officedocument.presentationml.tags+xml"/>
  <Override PartName="/ppt/tags/tag234.xml" ContentType="application/vnd.openxmlformats-officedocument.presentationml.tags+xml"/>
  <Override PartName="/ppt/slides/slide32.xml" ContentType="application/vnd.openxmlformats-officedocument.presentationml.slide+xml"/>
  <Default Extension="fntdata" ContentType="application/x-fontdata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tags/tag223.xml" ContentType="application/vnd.openxmlformats-officedocument.presentationml.tags+xml"/>
  <Override PartName="/ppt/tags/tag270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tags/tag45.xml" ContentType="application/vnd.openxmlformats-officedocument.presentationml.tags+xml"/>
  <Override PartName="/ppt/tags/tag92.xml" ContentType="application/vnd.openxmlformats-officedocument.presentationml.tags+xml"/>
  <Override PartName="/ppt/tags/tag149.xml" ContentType="application/vnd.openxmlformats-officedocument.presentationml.tags+xml"/>
  <Override PartName="/ppt/notesSlides/notesSlide23.xml" ContentType="application/vnd.openxmlformats-officedocument.presentationml.notesSlide+xml"/>
  <Override PartName="/ppt/tags/tag196.xml" ContentType="application/vnd.openxmlformats-officedocument.presentationml.tags+xml"/>
  <Override PartName="/ppt/tags/tag201.xml" ContentType="application/vnd.openxmlformats-officedocument.presentationml.tags+xml"/>
  <Override PartName="/ppt/tags/tag212.xml" ContentType="application/vnd.openxmlformats-officedocument.presentationml.tags+xml"/>
  <Override PartName="/ppt/tags/tag34.xml" ContentType="application/vnd.openxmlformats-officedocument.presentationml.tags+xml"/>
  <Override PartName="/ppt/notesSlides/notesSlide12.xml" ContentType="application/vnd.openxmlformats-officedocument.presentationml.notesSlide+xml"/>
  <Override PartName="/ppt/tags/tag81.xml" ContentType="application/vnd.openxmlformats-officedocument.presentationml.tags+xml"/>
  <Override PartName="/ppt/tags/tag138.xml" ContentType="application/vnd.openxmlformats-officedocument.presentationml.tags+xml"/>
  <Override PartName="/ppt/tags/tag185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70.xml" ContentType="application/vnd.openxmlformats-officedocument.presentationml.tags+xml"/>
  <Override PartName="/ppt/tags/tag116.xml" ContentType="application/vnd.openxmlformats-officedocument.presentationml.tags+xml"/>
  <Override PartName="/ppt/tags/tag127.xml" ContentType="application/vnd.openxmlformats-officedocument.presentationml.tags+xml"/>
  <Override PartName="/ppt/tags/tag163.xml" ContentType="application/vnd.openxmlformats-officedocument.presentationml.tags+xml"/>
  <Override PartName="/ppt/tags/tag174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5.xml" ContentType="application/vnd.openxmlformats-officedocument.presentationml.tags+xml"/>
  <Override PartName="/ppt/tags/tag152.xml" ContentType="application/vnd.openxmlformats-officedocument.presentationml.tags+xml"/>
  <Override PartName="/ppt/notesSlides/notesSlide3.xml" ContentType="application/vnd.openxmlformats-officedocument.presentationml.notesSlide+xml"/>
  <Override PartName="/ppt/tags/tag141.xml" ContentType="application/vnd.openxmlformats-officedocument.presentationml.tags+xml"/>
  <Override PartName="/ppt/tags/tag228.xml" ContentType="application/vnd.openxmlformats-officedocument.presentationml.tags+xml"/>
  <Override PartName="/ppt/tags/tag239.xml" ContentType="application/vnd.openxmlformats-officedocument.presentationml.tags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ags/tag130.xml" ContentType="application/vnd.openxmlformats-officedocument.presentationml.tags+xml"/>
  <Override PartName="/ppt/tags/tag217.xml" ContentType="application/vnd.openxmlformats-officedocument.presentationml.tags+xml"/>
  <Override PartName="/ppt/tags/tag264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9.xml" ContentType="application/vnd.openxmlformats-officedocument.presentationml.tags+xml"/>
  <Override PartName="/ppt/notesSlides/notesSlide17.xml" ContentType="application/vnd.openxmlformats-officedocument.presentationml.notesSlide+xml"/>
  <Override PartName="/ppt/tags/tag86.xml" ContentType="application/vnd.openxmlformats-officedocument.presentationml.tags+xml"/>
  <Override PartName="/ppt/tags/tag97.xml" ContentType="application/vnd.openxmlformats-officedocument.presentationml.tags+xml"/>
  <Override PartName="/ppt/notesSlides/notesSlide28.xml" ContentType="application/vnd.openxmlformats-officedocument.presentationml.notesSlide+xml"/>
  <Override PartName="/ppt/tags/tag206.xml" ContentType="application/vnd.openxmlformats-officedocument.presentationml.tags+xml"/>
  <Override PartName="/ppt/tags/tag253.xml" ContentType="application/vnd.openxmlformats-officedocument.presentationml.tags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75.xml" ContentType="application/vnd.openxmlformats-officedocument.presentationml.tags+xml"/>
  <Override PartName="/ppt/tags/tag179.xml" ContentType="application/vnd.openxmlformats-officedocument.presentationml.tags+xml"/>
  <Override PartName="/ppt/tags/tag231.xml" ContentType="application/vnd.openxmlformats-officedocument.presentationml.tags+xml"/>
  <Override PartName="/ppt/tags/tag242.xml" ContentType="application/vnd.openxmlformats-officedocument.presentationml.tags+xml"/>
  <Override PartName="/ppt/tags/tag17.xml" ContentType="application/vnd.openxmlformats-officedocument.presentationml.tags+xml"/>
  <Override PartName="/ppt/tags/tag64.xml" ContentType="application/vnd.openxmlformats-officedocument.presentationml.tags+xml"/>
  <Override PartName="/ppt/tags/tag168.xml" ContentType="application/vnd.openxmlformats-officedocument.presentationml.tags+xml"/>
  <Override PartName="/ppt/tags/tag220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tags/tag157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31.xml" ContentType="application/vnd.openxmlformats-officedocument.presentationml.tags+xml"/>
  <Override PartName="/ppt/tags/tag42.xml" ContentType="application/vnd.openxmlformats-officedocument.presentationml.tags+xml"/>
  <Override PartName="/ppt/tags/tag135.xml" ContentType="application/vnd.openxmlformats-officedocument.presentationml.tags+xml"/>
  <Override PartName="/ppt/tags/tag146.xml" ContentType="application/vnd.openxmlformats-officedocument.presentationml.tags+xml"/>
  <Override PartName="/ppt/tags/tag182.xml" ContentType="application/vnd.openxmlformats-officedocument.presentationml.tags+xml"/>
  <Override PartName="/ppt/tags/tag193.xml" ContentType="application/vnd.openxmlformats-officedocument.presentationml.tags+xml"/>
  <Override PartName="/ppt/handoutMasters/handoutMaster1.xml" ContentType="application/vnd.openxmlformats-officedocument.presentationml.handoutMaster+xml"/>
  <Override PartName="/ppt/tags/tag20.xml" ContentType="application/vnd.openxmlformats-officedocument.presentationml.tags+xml"/>
  <Override PartName="/ppt/tags/tag124.xml" ContentType="application/vnd.openxmlformats-officedocument.presentationml.tags+xml"/>
  <Override PartName="/ppt/tags/tag171.xml" ContentType="application/vnd.openxmlformats-officedocument.presentationml.tags+xml"/>
  <Override PartName="/ppt/tags/tag269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tags/tag113.xml" ContentType="application/vnd.openxmlformats-officedocument.presentationml.tags+xml"/>
  <Override PartName="/ppt/tags/tag160.xml" ContentType="application/vnd.openxmlformats-officedocument.presentationml.tags+xml"/>
  <Override PartName="/ppt/tags/tag247.xml" ContentType="application/vnd.openxmlformats-officedocument.presentationml.tags+xml"/>
  <Override PartName="/ppt/tags/tag258.xml" ContentType="application/vnd.openxmlformats-officedocument.presentationml.tags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ags/tag102.xml" ContentType="application/vnd.openxmlformats-officedocument.presentationml.tags+xml"/>
  <Override PartName="/ppt/tags/tag236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tags/tag225.xml" ContentType="application/vnd.openxmlformats-officedocument.presentationml.tags+xml"/>
  <Override PartName="/ppt/tags/tag272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tags/tag47.xml" ContentType="application/vnd.openxmlformats-officedocument.presentationml.tags+xml"/>
  <Override PartName="/ppt/tags/tag94.xml" ContentType="application/vnd.openxmlformats-officedocument.presentationml.tags+xml"/>
  <Override PartName="/ppt/notesSlides/notesSlide25.xml" ContentType="application/vnd.openxmlformats-officedocument.presentationml.notesSlide+xml"/>
  <Override PartName="/ppt/tags/tag198.xml" ContentType="application/vnd.openxmlformats-officedocument.presentationml.tags+xml"/>
  <Override PartName="/ppt/tags/tag203.xml" ContentType="application/vnd.openxmlformats-officedocument.presentationml.tags+xml"/>
  <Override PartName="/ppt/tags/tag214.xml" ContentType="application/vnd.openxmlformats-officedocument.presentationml.tags+xml"/>
  <Override PartName="/ppt/tags/tag250.xml" ContentType="application/vnd.openxmlformats-officedocument.presentationml.tags+xml"/>
  <Override PartName="/ppt/tags/tag261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36.xml" ContentType="application/vnd.openxmlformats-officedocument.presentationml.tags+xml"/>
  <Override PartName="/ppt/notesSlides/notesSlide14.xml" ContentType="application/vnd.openxmlformats-officedocument.presentationml.notesSlide+xml"/>
  <Override PartName="/ppt/tags/tag83.xml" ContentType="application/vnd.openxmlformats-officedocument.presentationml.tags+xml"/>
  <Override PartName="/ppt/tags/tag187.xml" ContentType="application/vnd.openxmlformats-officedocument.presentationml.tags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118.xml" ContentType="application/vnd.openxmlformats-officedocument.presentationml.tags+xml"/>
  <Override PartName="/ppt/tags/tag129.xml" ContentType="application/vnd.openxmlformats-officedocument.presentationml.tags+xml"/>
  <Override PartName="/ppt/tags/tag165.xml" ContentType="application/vnd.openxmlformats-officedocument.presentationml.tags+xml"/>
  <Override PartName="/ppt/tags/tag176.xml" ContentType="application/vnd.openxmlformats-officedocument.presentationml.tags+xml"/>
  <Override PartName="/ppt/tags/tag50.xml" ContentType="application/vnd.openxmlformats-officedocument.presentationml.tags+xml"/>
  <Override PartName="/ppt/tags/tag107.xml" ContentType="application/vnd.openxmlformats-officedocument.presentationml.tags+xml"/>
  <Override PartName="/ppt/tags/tag154.xml" ContentType="application/vnd.openxmlformats-officedocument.presentationml.tags+xml"/>
  <Override PartName="/ppt/notesSlides/notesSlide5.xml" ContentType="application/vnd.openxmlformats-officedocument.presentationml.notesSlide+xml"/>
  <Override PartName="/ppt/tags/tag143.xml" ContentType="application/vnd.openxmlformats-officedocument.presentationml.tags+xml"/>
  <Override PartName="/ppt/tags/tag190.xml" ContentType="application/vnd.openxmlformats-officedocument.presentationml.tags+xml"/>
  <Override PartName="/ppt/slides/slide28.xml" ContentType="application/vnd.openxmlformats-officedocument.presentationml.slide+xml"/>
  <Override PartName="/ppt/tags/tag132.xml" ContentType="application/vnd.openxmlformats-officedocument.presentationml.tags+xml"/>
  <Override PartName="/ppt/tags/tag219.xml" ContentType="application/vnd.openxmlformats-officedocument.presentationml.tags+xml"/>
  <Override PartName="/ppt/tags/tag266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tags/tag99.xml" ContentType="application/vnd.openxmlformats-officedocument.presentationml.tags+xml"/>
  <Override PartName="/ppt/notesSlides/notesSlide19.xml" ContentType="application/vnd.openxmlformats-officedocument.presentationml.notesSlide+xml"/>
  <Override PartName="/ppt/tags/tag110.xml" ContentType="application/vnd.openxmlformats-officedocument.presentationml.tags+xml"/>
  <Override PartName="/ppt/tags/tag121.xml" ContentType="application/vnd.openxmlformats-officedocument.presentationml.tags+xml"/>
  <Override PartName="/ppt/tags/tag208.xml" ContentType="application/vnd.openxmlformats-officedocument.presentationml.tags+xml"/>
  <Override PartName="/ppt/tags/tag255.xml" ContentType="application/vnd.openxmlformats-officedocument.presentationml.tags+xml"/>
  <Default Extension="jpeg" ContentType="image/jpeg"/>
  <Override PartName="/ppt/slideLayouts/slideLayout16.xml" ContentType="application/vnd.openxmlformats-officedocument.presentationml.slideLayout+xml"/>
  <Override PartName="/ppt/tags/tag3.xml" ContentType="application/vnd.openxmlformats-officedocument.presentationml.tags+xml"/>
  <Override PartName="/ppt/tags/tag77.xml" ContentType="application/vnd.openxmlformats-officedocument.presentationml.tags+xml"/>
  <Override PartName="/ppt/tags/tag88.xml" ContentType="application/vnd.openxmlformats-officedocument.presentationml.tags+xml"/>
  <Override PartName="/ppt/tags/tag233.xml" ContentType="application/vnd.openxmlformats-officedocument.presentationml.tags+xml"/>
  <Override PartName="/ppt/tags/tag244.xml" ContentType="application/vnd.openxmlformats-officedocument.presentationml.tags+xml"/>
  <Override PartName="/ppt/slides/slide31.xml" ContentType="application/vnd.openxmlformats-officedocument.presentationml.slide+xml"/>
  <Override PartName="/ppt/tags/tag19.xml" ContentType="application/vnd.openxmlformats-officedocument.presentationml.tags+xml"/>
  <Override PartName="/ppt/tags/tag66.xml" ContentType="application/vnd.openxmlformats-officedocument.presentationml.tags+xml"/>
  <Override PartName="/ppt/tags/tag222.xml" ContentType="application/vnd.openxmlformats-officedocument.presentationml.tags+xml"/>
  <Override PartName="/ppt/slides/slide20.xml" ContentType="application/vnd.openxmlformats-officedocument.presentationml.slide+xml"/>
  <Override PartName="/ppt/tags/tag55.xml" ContentType="application/vnd.openxmlformats-officedocument.presentationml.tags+xml"/>
  <Override PartName="/ppt/tags/tag159.xml" ContentType="application/vnd.openxmlformats-officedocument.presentationml.tags+xml"/>
  <Override PartName="/ppt/notesSlides/notesSlide22.xml" ContentType="application/vnd.openxmlformats-officedocument.presentationml.notesSlide+xml"/>
  <Override PartName="/ppt/tags/tag211.xml" ContentType="application/vnd.openxmlformats-officedocument.presentationml.tags+xml"/>
  <Override PartName="/ppt/notesSlides/notesSlide33.xml" ContentType="application/vnd.openxmlformats-officedocument.presentationml.notesSlide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tags/tag44.xml" ContentType="application/vnd.openxmlformats-officedocument.presentationml.tags+xml"/>
  <Override PartName="/ppt/tags/tag80.xml" ContentType="application/vnd.openxmlformats-officedocument.presentationml.tags+xml"/>
  <Override PartName="/ppt/tags/tag91.xml" ContentType="application/vnd.openxmlformats-officedocument.presentationml.tags+xml"/>
  <Override PartName="/ppt/tags/tag137.xml" ContentType="application/vnd.openxmlformats-officedocument.presentationml.tags+xml"/>
  <Override PartName="/ppt/tags/tag148.xml" ContentType="application/vnd.openxmlformats-officedocument.presentationml.tags+xml"/>
  <Override PartName="/ppt/tags/tag184.xml" ContentType="application/vnd.openxmlformats-officedocument.presentationml.tags+xml"/>
  <Override PartName="/ppt/tags/tag195.xml" ContentType="application/vnd.openxmlformats-officedocument.presentationml.tags+xml"/>
  <Override PartName="/ppt/tags/tag200.xml" ContentType="application/vnd.openxmlformats-officedocument.presentationml.tags+xml"/>
  <Override PartName="/ppt/tags/tag22.xml" ContentType="application/vnd.openxmlformats-officedocument.presentationml.tags+xml"/>
  <Override PartName="/ppt/tags/tag126.xml" ContentType="application/vnd.openxmlformats-officedocument.presentationml.tags+xml"/>
  <Override PartName="/ppt/tags/tag173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115.xml" ContentType="application/vnd.openxmlformats-officedocument.presentationml.tags+xml"/>
  <Override PartName="/ppt/tags/tag162.xml" ContentType="application/vnd.openxmlformats-officedocument.presentationml.tags+xml"/>
  <Override PartName="/ppt/tags/tag249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4" r:id="rId1"/>
    <p:sldMasterId id="2147483687" r:id="rId2"/>
  </p:sldMasterIdLst>
  <p:notesMasterIdLst>
    <p:notesMasterId r:id="rId36"/>
  </p:notesMasterIdLst>
  <p:handoutMasterIdLst>
    <p:handoutMasterId r:id="rId37"/>
  </p:handoutMasterIdLst>
  <p:sldIdLst>
    <p:sldId id="256" r:id="rId3"/>
    <p:sldId id="257" r:id="rId4"/>
    <p:sldId id="268" r:id="rId5"/>
    <p:sldId id="439" r:id="rId6"/>
    <p:sldId id="258" r:id="rId7"/>
    <p:sldId id="334" r:id="rId8"/>
    <p:sldId id="393" r:id="rId9"/>
    <p:sldId id="272" r:id="rId10"/>
    <p:sldId id="335" r:id="rId11"/>
    <p:sldId id="403" r:id="rId12"/>
    <p:sldId id="260" r:id="rId13"/>
    <p:sldId id="354" r:id="rId14"/>
    <p:sldId id="395" r:id="rId15"/>
    <p:sldId id="416" r:id="rId16"/>
    <p:sldId id="367" r:id="rId17"/>
    <p:sldId id="417" r:id="rId18"/>
    <p:sldId id="261" r:id="rId19"/>
    <p:sldId id="397" r:id="rId20"/>
    <p:sldId id="344" r:id="rId21"/>
    <p:sldId id="345" r:id="rId22"/>
    <p:sldId id="404" r:id="rId23"/>
    <p:sldId id="346" r:id="rId24"/>
    <p:sldId id="420" r:id="rId25"/>
    <p:sldId id="431" r:id="rId26"/>
    <p:sldId id="432" r:id="rId27"/>
    <p:sldId id="433" r:id="rId28"/>
    <p:sldId id="434" r:id="rId29"/>
    <p:sldId id="421" r:id="rId30"/>
    <p:sldId id="437" r:id="rId31"/>
    <p:sldId id="379" r:id="rId32"/>
    <p:sldId id="438" r:id="rId33"/>
    <p:sldId id="428" r:id="rId34"/>
    <p:sldId id="413" r:id="rId35"/>
  </p:sldIdLst>
  <p:sldSz cx="9144000" cy="6858000" type="screen4x3"/>
  <p:notesSz cx="6997700" cy="9283700"/>
  <p:embeddedFontLst>
    <p:embeddedFont>
      <p:font typeface="Georgia" pitchFamily="18" charset="0"/>
      <p:regular r:id="rId38"/>
      <p:bold r:id="rId39"/>
      <p:italic r:id="rId40"/>
      <p:boldItalic r:id="rId41"/>
    </p:embeddedFont>
    <p:embeddedFont>
      <p:font typeface="Arial Narrow" pitchFamily="34" charset="0"/>
      <p:regular r:id="rId42"/>
      <p:bold r:id="rId43"/>
      <p:italic r:id="rId44"/>
      <p:boldItalic r:id="rId45"/>
    </p:embeddedFont>
    <p:embeddedFont>
      <p:font typeface="Wingdings 2" pitchFamily="18" charset="2"/>
      <p:regular r:id="rId46"/>
    </p:embeddedFont>
  </p:embeddedFont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renna Calnan" initials="" lastIdx="43" clrIdx="0"/>
  <p:cmAuthor id="1" name="eliree" initials="" lastIdx="24" clrIdx="1"/>
  <p:cmAuthor id="2" name="jimcla" initials="" lastIdx="19" clrIdx="2"/>
  <p:cmAuthor id="3" name="Elisem" initials="" lastIdx="1" clrIdx="3"/>
  <p:cmAuthor id="4" name="ESM" initials="" lastIdx="1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9900FF"/>
    <a:srgbClr val="EEEFD7"/>
    <a:srgbClr val="D5D69C"/>
    <a:srgbClr val="BBCDE3"/>
    <a:srgbClr val="CC00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014" autoAdjust="0"/>
    <p:restoredTop sz="95888" autoAdjust="0"/>
  </p:normalViewPr>
  <p:slideViewPr>
    <p:cSldViewPr snapToGrid="0">
      <p:cViewPr>
        <p:scale>
          <a:sx n="70" d="100"/>
          <a:sy n="70" d="100"/>
        </p:scale>
        <p:origin x="-792" y="-72"/>
      </p:cViewPr>
      <p:guideLst>
        <p:guide orient="horz" pos="881"/>
        <p:guide pos="1858"/>
        <p:guide pos="529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7010"/>
    </p:cViewPr>
  </p:sorterViewPr>
  <p:notesViewPr>
    <p:cSldViewPr snapToGrid="0">
      <p:cViewPr>
        <p:scale>
          <a:sx n="75" d="100"/>
          <a:sy n="75" d="100"/>
        </p:scale>
        <p:origin x="-1380" y="1104"/>
      </p:cViewPr>
      <p:guideLst>
        <p:guide orient="horz" pos="2924"/>
        <p:guide pos="22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7.xml"/><Relationship Id="rId2" Type="http://schemas.openxmlformats.org/officeDocument/2006/relationships/slide" Target="slides/slide5.xml"/><Relationship Id="rId1" Type="http://schemas.openxmlformats.org/officeDocument/2006/relationships/slide" Target="slides/slide2.xml"/><Relationship Id="rId4" Type="http://schemas.openxmlformats.org/officeDocument/2006/relationships/slide" Target="slides/slide23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4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dt" sz="quarter" idx="1"/>
            <p:custDataLst>
              <p:tags r:id="rId3"/>
            </p:custDataLst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84004" name="Rectangle 4"/>
          <p:cNvSpPr>
            <a:spLocks noGrp="1" noChangeArrowheads="1"/>
          </p:cNvSpPr>
          <p:nvPr>
            <p:ph type="ftr" sz="quarter" idx="2"/>
            <p:custDataLst>
              <p:tags r:id="rId4"/>
            </p:custDataLst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84005" name="Rectangle 5"/>
          <p:cNvSpPr>
            <a:spLocks noGrp="1" noChangeArrowheads="1"/>
          </p:cNvSpPr>
          <p:nvPr>
            <p:ph type="sldNum" sz="quarter" idx="3"/>
            <p:custDataLst>
              <p:tags r:id="rId5"/>
            </p:custDataLst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6A7DA289-AFA5-4C4F-8FE5-3203D1994505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" Target="../theme/theme3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91" tIns="46195" rIns="92391" bIns="46195" numCol="1" anchor="t" anchorCtr="0" compatLnSpc="1">
            <a:prstTxWarp prst="textNoShape">
              <a:avLst/>
            </a:prstTxWarp>
          </a:bodyPr>
          <a:lstStyle>
            <a:lvl1pPr algn="l" defTabSz="923925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  <p:custDataLst>
              <p:tags r:id="rId3"/>
            </p:custDataLst>
          </p:nvPr>
        </p:nvSpPr>
        <p:spPr bwMode="auto">
          <a:xfrm>
            <a:off x="3963988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91" tIns="46195" rIns="92391" bIns="46195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  <p:custDataLst>
              <p:tags r:id="rId4"/>
            </p:custDataLst>
          </p:nvPr>
        </p:nvSpPr>
        <p:spPr bwMode="auto">
          <a:xfrm>
            <a:off x="700088" y="4411663"/>
            <a:ext cx="5597525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91" tIns="46195" rIns="92391" bIns="461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  <p:custDataLst>
              <p:tags r:id="rId5"/>
            </p:custDataLst>
          </p:nvPr>
        </p:nvSpPr>
        <p:spPr bwMode="auto">
          <a:xfrm>
            <a:off x="0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91" tIns="46195" rIns="92391" bIns="46195" numCol="1" anchor="b" anchorCtr="0" compatLnSpc="1">
            <a:prstTxWarp prst="textNoShape">
              <a:avLst/>
            </a:prstTxWarp>
          </a:bodyPr>
          <a:lstStyle>
            <a:lvl1pPr algn="l" defTabSz="923925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  <p:custDataLst>
              <p:tags r:id="rId6"/>
            </p:custDataLst>
          </p:nvPr>
        </p:nvSpPr>
        <p:spPr bwMode="auto">
          <a:xfrm>
            <a:off x="3963988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91" tIns="46195" rIns="92391" bIns="46195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 b="0">
                <a:latin typeface="Arial" charset="0"/>
              </a:defRPr>
            </a:lvl1pPr>
          </a:lstStyle>
          <a:p>
            <a:fld id="{22FA0F0B-87E7-464A-9A01-C33BE24A33D2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3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5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0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6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9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8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0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3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7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9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2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0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3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7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0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5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0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9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8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3FAB759-CF57-4703-8D3F-72C3AFAAEB7B}" type="slidenum">
              <a:rPr lang="en-US"/>
              <a:pPr/>
              <a:t>1</a:t>
            </a:fld>
            <a:endParaRPr lang="en-US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C9F6F545-2856-4090-852A-37171C87AB3E}" type="slidenum">
              <a:rPr lang="en-US"/>
              <a:pPr/>
              <a:t>2</a:t>
            </a:fld>
            <a:endParaRPr 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endParaRPr lang="en-US"/>
          </a:p>
          <a:p>
            <a:pPr>
              <a:lnSpc>
                <a:spcPct val="90000"/>
              </a:lnSpc>
              <a:buFontTx/>
              <a:buChar char="•"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3D5EE1A-1927-43BF-8FC1-9C69A11463B0}" type="slidenum">
              <a:rPr lang="en-US"/>
              <a:pPr/>
              <a:t>3</a:t>
            </a:fld>
            <a:endParaRPr lang="en-US"/>
          </a:p>
        </p:txBody>
      </p:sp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Tx/>
              <a:buAutoNum type="arabicPeriod"/>
            </a:pPr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3D5EE1A-1927-43BF-8FC1-9C69A11463B0}" type="slidenum">
              <a:rPr lang="en-US"/>
              <a:pPr/>
              <a:t>4</a:t>
            </a:fld>
            <a:endParaRPr lang="en-US"/>
          </a:p>
        </p:txBody>
      </p:sp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Tx/>
              <a:buAutoNum type="arabicPeriod"/>
            </a:pPr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4CE68A34-ED3F-433A-B8AC-4DD64919C71B}" type="slidenum">
              <a:rPr lang="en-US"/>
              <a:pPr/>
              <a:t>5</a:t>
            </a:fld>
            <a:endParaRPr lang="en-US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EC46778-2733-45E0-B5BC-0512FF5834C8}" type="slidenum">
              <a:rPr lang="en-US"/>
              <a:pPr/>
              <a:t>6</a:t>
            </a:fld>
            <a:endParaRPr lang="en-US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23B02027-8150-4B15-9261-8EA8E9A571E8}" type="slidenum">
              <a:rPr lang="en-US"/>
              <a:pPr/>
              <a:t>7</a:t>
            </a:fld>
            <a:endParaRPr lang="en-US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4BBB5F8-378A-4EB4-B085-0EFCC3523684}" type="slidenum">
              <a:rPr lang="en-US"/>
              <a:pPr/>
              <a:t>8</a:t>
            </a:fld>
            <a:endParaRPr lang="en-US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FCD8476-D162-4DE4-A663-93591B82CEDB}" type="slidenum">
              <a:rPr lang="en-US"/>
              <a:pPr/>
              <a:t>9</a:t>
            </a:fld>
            <a:endParaRPr lang="en-US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8A37C26-8845-484D-AC15-432D6731822F}" type="slidenum">
              <a:rPr lang="en-US"/>
              <a:pPr/>
              <a:t>10</a:t>
            </a:fld>
            <a:endParaRPr lang="en-US"/>
          </a:p>
        </p:txBody>
      </p:sp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lnSpc>
                <a:spcPct val="80000"/>
              </a:lnSpc>
            </a:pPr>
            <a:endParaRPr lang="en-GB"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EA3FD7A-4575-492A-A9FC-CAEB6A606DBB}" type="slidenum">
              <a:rPr lang="en-US"/>
              <a:pPr/>
              <a:t>11</a:t>
            </a:fld>
            <a:endParaRPr lang="en-US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4ABD53CD-0EAE-4A4E-8107-FF3E0B0FAE61}" type="slidenum">
              <a:rPr lang="en-US"/>
              <a:pPr/>
              <a:t>12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034EBB2-A99F-4235-A536-8E4C9461059C}" type="slidenum">
              <a:rPr lang="en-US"/>
              <a:pPr/>
              <a:t>13</a:t>
            </a:fld>
            <a:endParaRPr lang="en-US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74DBD0A-066B-4106-A2FB-AD4B47F97D03}" type="slidenum">
              <a:rPr lang="en-US"/>
              <a:pPr/>
              <a:t>14</a:t>
            </a:fld>
            <a:endParaRPr lang="en-US"/>
          </a:p>
        </p:txBody>
      </p:sp>
      <p:sp>
        <p:nvSpPr>
          <p:cNvPr id="342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5B7AB06-0F83-4C75-9CEE-2B475950B745}" type="slidenum">
              <a:rPr lang="en-US"/>
              <a:pPr/>
              <a:t>15</a:t>
            </a:fld>
            <a:endParaRPr lang="en-US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14244D7A-BE29-4338-B30E-234BCA591C38}" type="slidenum">
              <a:rPr lang="en-US"/>
              <a:pPr/>
              <a:t>16</a:t>
            </a:fld>
            <a:endParaRPr lang="en-US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2D79AC03-7B3B-4ACB-A8DE-D95F88904A82}" type="slidenum">
              <a:rPr lang="en-US"/>
              <a:pPr/>
              <a:t>17</a:t>
            </a:fld>
            <a:endParaRPr lang="en-US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lvl="1"/>
            <a:endParaRPr lang="en-US"/>
          </a:p>
          <a:p>
            <a:r>
              <a:rPr lang="en-US"/>
              <a:t> 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A83B321-EA50-4222-9A26-B2EB9FEE52CA}" type="slidenum">
              <a:rPr lang="en-US"/>
              <a:pPr/>
              <a:t>18</a:t>
            </a:fld>
            <a:endParaRPr lang="en-US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b="1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5E1A8B5-C0AC-40F6-925C-6301DDB590F4}" type="slidenum">
              <a:rPr lang="en-US"/>
              <a:pPr/>
              <a:t>19</a:t>
            </a:fld>
            <a:endParaRPr 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b="1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607F24B8-BABC-4710-A203-61C6FE5D6E31}" type="slidenum">
              <a:rPr lang="en-US"/>
              <a:pPr/>
              <a:t>20</a:t>
            </a:fld>
            <a:endParaRPr lang="en-US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6075D36-6584-41EB-9705-4E7DFFB1639B}" type="slidenum">
              <a:rPr lang="en-US"/>
              <a:pPr/>
              <a:t>21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96D8CF62-80AF-4F4D-A394-4E494CB7786D}" type="slidenum">
              <a:rPr lang="en-US"/>
              <a:pPr/>
              <a:t>22</a:t>
            </a:fld>
            <a:endParaRPr 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E3681770-EA51-4910-893C-821D7095A2F5}" type="slidenum">
              <a:rPr lang="en-US"/>
              <a:pPr/>
              <a:t>23</a:t>
            </a:fld>
            <a:endParaRPr lang="en-US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26AD8D14-393C-4AF2-8BC3-770B4E215348}" type="slidenum">
              <a:rPr lang="en-US"/>
              <a:pPr/>
              <a:t>24</a:t>
            </a:fld>
            <a:endParaRPr lang="en-US"/>
          </a:p>
        </p:txBody>
      </p:sp>
      <p:sp>
        <p:nvSpPr>
          <p:cNvPr id="37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088" y="4410075"/>
            <a:ext cx="5597525" cy="4176713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EE9EE60-B9D1-4BC4-ADF5-1FD4BBA1BA96}" type="slidenum">
              <a:rPr lang="en-US"/>
              <a:pPr/>
              <a:t>25</a:t>
            </a:fld>
            <a:endParaRPr lang="en-US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5073E7E-1558-4CC1-8A05-C4E31BFCC5C2}" type="slidenum">
              <a:rPr lang="en-US"/>
              <a:pPr/>
              <a:t>26</a:t>
            </a:fld>
            <a:endParaRPr lang="en-US"/>
          </a:p>
        </p:txBody>
      </p:sp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b="1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297EE134-6DB8-4DBD-9AA0-ADCAD4841DC9}" type="slidenum">
              <a:rPr lang="en-US"/>
              <a:pPr/>
              <a:t>27</a:t>
            </a:fld>
            <a:endParaRPr lang="en-US"/>
          </a:p>
        </p:txBody>
      </p:sp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BCDC66F-5E15-40DB-BA71-DEF2081A9DDD}" type="slidenum">
              <a:rPr lang="en-US"/>
              <a:pPr/>
              <a:t>28</a:t>
            </a:fld>
            <a:endParaRPr lang="en-US"/>
          </a:p>
        </p:txBody>
      </p:sp>
      <p:sp>
        <p:nvSpPr>
          <p:cNvPr id="320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b="1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2A6C96F8-90CB-41BA-B5BF-1F6E05C1F747}" type="slidenum">
              <a:rPr lang="en-US"/>
              <a:pPr/>
              <a:t>29</a:t>
            </a:fld>
            <a:endParaRPr lang="en-US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0262" cy="3479800"/>
          </a:xfrm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088" y="4410075"/>
            <a:ext cx="5597525" cy="4176713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2A6C96F8-90CB-41BA-B5BF-1F6E05C1F747}" type="slidenum">
              <a:rPr lang="en-US"/>
              <a:pPr/>
              <a:t>30</a:t>
            </a:fld>
            <a:endParaRPr lang="en-US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0262" cy="3479800"/>
          </a:xfrm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088" y="4410075"/>
            <a:ext cx="5597525" cy="4176713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2A6C96F8-90CB-41BA-B5BF-1F6E05C1F747}" type="slidenum">
              <a:rPr lang="en-US"/>
              <a:pPr/>
              <a:t>31</a:t>
            </a:fld>
            <a:endParaRPr lang="en-US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0262" cy="3479800"/>
          </a:xfrm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088" y="4410075"/>
            <a:ext cx="5597525" cy="4176713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91D55621-7612-4C32-AD73-C59665357C31}" type="slidenum">
              <a:rPr lang="en-US"/>
              <a:pPr/>
              <a:t>32</a:t>
            </a:fld>
            <a:endParaRPr lang="en-US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088" y="4410075"/>
            <a:ext cx="5597525" cy="4176713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403E62C-E24D-4D2F-A595-2155DF29E0AE}" type="slidenum">
              <a:rPr lang="en-US"/>
              <a:pPr/>
              <a:t>33</a:t>
            </a:fld>
            <a:endParaRPr lang="en-US"/>
          </a:p>
        </p:txBody>
      </p:sp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088" y="4410075"/>
            <a:ext cx="5597525" cy="4176713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CC9F-A94F-443A-99AE-6867CCA3B913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A695-38B5-4A40-9FE2-ED94DDAD6C4B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1454-2307-4E5D-BFB6-075F05FE0181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BC80AE30-4D2F-4A67-BF6D-714F9CD38F6E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6FD8-087C-4CEB-8EB6-889A258BFA2C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6078D-4B6B-4D88-8F45-8B6E6D6E1B19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1FC0-B974-4532-854F-EC6EADE10795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C554-31EF-4DFD-A4C7-D86682D1A9A4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311AACC-CA31-4747-B62C-C4F5B88054B9}" type="datetime1">
              <a:rPr lang="en-US" smtClean="0"/>
              <a:pPr/>
              <a:t>12/15/2014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46FCF-ABBD-402E-AB74-33B3AF27E033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31EF-9D64-4583-849F-FB13C576560D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1050925" y="1447800"/>
            <a:ext cx="7026275" cy="4694238"/>
          </a:xfr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0FAD-1774-475D-B246-17E6389E04B9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E584-B057-4468-89DB-261FFAD7ECF7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F94AA-E9B9-46D6-A433-1295EC1161EC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3C8ECFED-6349-4EF2-ACC7-CAEC76C690CA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4DD44-9EE4-4A4E-981B-CD6C3D330DBD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4114-EAA1-4DC3-8479-6C822B4C46E0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D524-437B-473A-8A61-AD2A6C12F3D9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CFFB-4FA3-469B-8E55-D722E12E2B13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E8329250-157C-43A7-8E84-DDD5DD66C1CE}" type="datetime1">
              <a:rPr lang="en-US" smtClean="0"/>
              <a:pPr/>
              <a:t>12/15/2014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DE361-E1D2-42D8-B5A1-5C92B4D7BBF9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4DA6-05F1-4ED7-B0B6-D5C6C3C73802}" type="datetime1">
              <a:rPr lang="en-US" smtClean="0"/>
              <a:pPr/>
              <a:t>12/15/2014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8E1EBF76-D965-4776-9F23-8B86B6557C8B}" type="datetime1">
              <a:rPr lang="en-US" smtClean="0"/>
              <a:pPr algn="r" eaLnBrk="1" latinLnBrk="0" hangingPunct="1"/>
              <a:t>12/15/2014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EBBBCB59-0AD4-46AA-9E75-508422D7E0E4}" type="datetime1">
              <a:rPr lang="en-US" smtClean="0"/>
              <a:pPr algn="r" eaLnBrk="1" latinLnBrk="0" hangingPunct="1"/>
              <a:t>12/15/2014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notesSlide" Target="../notesSlides/notesSlide13.xml"/><Relationship Id="rId17" Type="http://schemas.openxmlformats.org/officeDocument/2006/relationships/image" Target="../media/image23.png"/><Relationship Id="rId2" Type="http://schemas.openxmlformats.org/officeDocument/2006/relationships/tags" Target="../tags/tag42.xml"/><Relationship Id="rId16" Type="http://schemas.openxmlformats.org/officeDocument/2006/relationships/image" Target="../media/image22.pn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15" Type="http://schemas.openxmlformats.org/officeDocument/2006/relationships/image" Target="../media/image21.png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hyperlink" Target="Ajouter%20une%20entr&#233;e%20de%20mappage%20statique%20WINS.wmv" TargetMode="Externa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hyperlink" Target="Filtrer%20des%20enregistrements%20WINS&#160;sous%20Windows%202003%20Server.wmv" TargetMode="Externa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tags" Target="../tags/tag89.xml"/><Relationship Id="rId39" Type="http://schemas.openxmlformats.org/officeDocument/2006/relationships/image" Target="../media/image27.png"/><Relationship Id="rId3" Type="http://schemas.openxmlformats.org/officeDocument/2006/relationships/tags" Target="../tags/tag66.xml"/><Relationship Id="rId21" Type="http://schemas.openxmlformats.org/officeDocument/2006/relationships/tags" Target="../tags/tag84.xml"/><Relationship Id="rId34" Type="http://schemas.openxmlformats.org/officeDocument/2006/relationships/tags" Target="../tags/tag97.xml"/><Relationship Id="rId42" Type="http://schemas.openxmlformats.org/officeDocument/2006/relationships/image" Target="../media/image30.png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tags" Target="../tags/tag88.xml"/><Relationship Id="rId33" Type="http://schemas.openxmlformats.org/officeDocument/2006/relationships/tags" Target="../tags/tag96.xml"/><Relationship Id="rId38" Type="http://schemas.openxmlformats.org/officeDocument/2006/relationships/image" Target="../media/image26.png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tags" Target="../tags/tag83.xml"/><Relationship Id="rId29" Type="http://schemas.openxmlformats.org/officeDocument/2006/relationships/tags" Target="../tags/tag92.xml"/><Relationship Id="rId41" Type="http://schemas.openxmlformats.org/officeDocument/2006/relationships/image" Target="../media/image29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tags" Target="../tags/tag87.xml"/><Relationship Id="rId32" Type="http://schemas.openxmlformats.org/officeDocument/2006/relationships/tags" Target="../tags/tag95.xml"/><Relationship Id="rId37" Type="http://schemas.openxmlformats.org/officeDocument/2006/relationships/image" Target="../media/image25.png"/><Relationship Id="rId40" Type="http://schemas.openxmlformats.org/officeDocument/2006/relationships/image" Target="../media/image28.png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36" Type="http://schemas.openxmlformats.org/officeDocument/2006/relationships/notesSlide" Target="../notesSlides/notesSlide18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31" Type="http://schemas.openxmlformats.org/officeDocument/2006/relationships/tags" Target="../tags/tag94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30" Type="http://schemas.openxmlformats.org/officeDocument/2006/relationships/tags" Target="../tags/tag93.xml"/><Relationship Id="rId35" Type="http://schemas.openxmlformats.org/officeDocument/2006/relationships/slideLayout" Target="../slideLayouts/slideLayout2.xml"/><Relationship Id="rId43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113.xml"/><Relationship Id="rId18" Type="http://schemas.openxmlformats.org/officeDocument/2006/relationships/tags" Target="../tags/tag118.xml"/><Relationship Id="rId26" Type="http://schemas.openxmlformats.org/officeDocument/2006/relationships/tags" Target="../tags/tag126.xml"/><Relationship Id="rId39" Type="http://schemas.openxmlformats.org/officeDocument/2006/relationships/tags" Target="../tags/tag139.xml"/><Relationship Id="rId21" Type="http://schemas.openxmlformats.org/officeDocument/2006/relationships/tags" Target="../tags/tag121.xml"/><Relationship Id="rId34" Type="http://schemas.openxmlformats.org/officeDocument/2006/relationships/tags" Target="../tags/tag134.xml"/><Relationship Id="rId42" Type="http://schemas.openxmlformats.org/officeDocument/2006/relationships/tags" Target="../tags/tag142.xml"/><Relationship Id="rId47" Type="http://schemas.openxmlformats.org/officeDocument/2006/relationships/tags" Target="../tags/tag147.xml"/><Relationship Id="rId50" Type="http://schemas.openxmlformats.org/officeDocument/2006/relationships/tags" Target="../tags/tag150.xml"/><Relationship Id="rId55" Type="http://schemas.openxmlformats.org/officeDocument/2006/relationships/tags" Target="../tags/tag155.xml"/><Relationship Id="rId63" Type="http://schemas.openxmlformats.org/officeDocument/2006/relationships/slideLayout" Target="../slideLayouts/slideLayout2.xml"/><Relationship Id="rId68" Type="http://schemas.openxmlformats.org/officeDocument/2006/relationships/image" Target="../media/image35.png"/><Relationship Id="rId7" Type="http://schemas.openxmlformats.org/officeDocument/2006/relationships/tags" Target="../tags/tag107.xml"/><Relationship Id="rId71" Type="http://schemas.openxmlformats.org/officeDocument/2006/relationships/image" Target="../media/image7.png"/><Relationship Id="rId2" Type="http://schemas.openxmlformats.org/officeDocument/2006/relationships/tags" Target="../tags/tag102.xml"/><Relationship Id="rId16" Type="http://schemas.openxmlformats.org/officeDocument/2006/relationships/tags" Target="../tags/tag116.xml"/><Relationship Id="rId29" Type="http://schemas.openxmlformats.org/officeDocument/2006/relationships/tags" Target="../tags/tag129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24" Type="http://schemas.openxmlformats.org/officeDocument/2006/relationships/tags" Target="../tags/tag124.xml"/><Relationship Id="rId32" Type="http://schemas.openxmlformats.org/officeDocument/2006/relationships/tags" Target="../tags/tag132.xml"/><Relationship Id="rId37" Type="http://schemas.openxmlformats.org/officeDocument/2006/relationships/tags" Target="../tags/tag137.xml"/><Relationship Id="rId40" Type="http://schemas.openxmlformats.org/officeDocument/2006/relationships/tags" Target="../tags/tag140.xml"/><Relationship Id="rId45" Type="http://schemas.openxmlformats.org/officeDocument/2006/relationships/tags" Target="../tags/tag145.xml"/><Relationship Id="rId53" Type="http://schemas.openxmlformats.org/officeDocument/2006/relationships/tags" Target="../tags/tag153.xml"/><Relationship Id="rId58" Type="http://schemas.openxmlformats.org/officeDocument/2006/relationships/tags" Target="../tags/tag158.xml"/><Relationship Id="rId66" Type="http://schemas.openxmlformats.org/officeDocument/2006/relationships/image" Target="../media/image38.png"/><Relationship Id="rId5" Type="http://schemas.openxmlformats.org/officeDocument/2006/relationships/tags" Target="../tags/tag105.xml"/><Relationship Id="rId15" Type="http://schemas.openxmlformats.org/officeDocument/2006/relationships/tags" Target="../tags/tag115.xml"/><Relationship Id="rId23" Type="http://schemas.openxmlformats.org/officeDocument/2006/relationships/tags" Target="../tags/tag123.xml"/><Relationship Id="rId28" Type="http://schemas.openxmlformats.org/officeDocument/2006/relationships/tags" Target="../tags/tag128.xml"/><Relationship Id="rId36" Type="http://schemas.openxmlformats.org/officeDocument/2006/relationships/tags" Target="../tags/tag136.xml"/><Relationship Id="rId49" Type="http://schemas.openxmlformats.org/officeDocument/2006/relationships/tags" Target="../tags/tag149.xml"/><Relationship Id="rId57" Type="http://schemas.openxmlformats.org/officeDocument/2006/relationships/tags" Target="../tags/tag157.xml"/><Relationship Id="rId61" Type="http://schemas.openxmlformats.org/officeDocument/2006/relationships/tags" Target="../tags/tag161.xml"/><Relationship Id="rId10" Type="http://schemas.openxmlformats.org/officeDocument/2006/relationships/tags" Target="../tags/tag110.xml"/><Relationship Id="rId19" Type="http://schemas.openxmlformats.org/officeDocument/2006/relationships/tags" Target="../tags/tag119.xml"/><Relationship Id="rId31" Type="http://schemas.openxmlformats.org/officeDocument/2006/relationships/tags" Target="../tags/tag131.xml"/><Relationship Id="rId44" Type="http://schemas.openxmlformats.org/officeDocument/2006/relationships/tags" Target="../tags/tag144.xml"/><Relationship Id="rId52" Type="http://schemas.openxmlformats.org/officeDocument/2006/relationships/tags" Target="../tags/tag152.xml"/><Relationship Id="rId60" Type="http://schemas.openxmlformats.org/officeDocument/2006/relationships/tags" Target="../tags/tag160.xml"/><Relationship Id="rId65" Type="http://schemas.openxmlformats.org/officeDocument/2006/relationships/image" Target="../media/image32.png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tags" Target="../tags/tag114.xml"/><Relationship Id="rId22" Type="http://schemas.openxmlformats.org/officeDocument/2006/relationships/tags" Target="../tags/tag122.xml"/><Relationship Id="rId27" Type="http://schemas.openxmlformats.org/officeDocument/2006/relationships/tags" Target="../tags/tag127.xml"/><Relationship Id="rId30" Type="http://schemas.openxmlformats.org/officeDocument/2006/relationships/tags" Target="../tags/tag130.xml"/><Relationship Id="rId35" Type="http://schemas.openxmlformats.org/officeDocument/2006/relationships/tags" Target="../tags/tag135.xml"/><Relationship Id="rId43" Type="http://schemas.openxmlformats.org/officeDocument/2006/relationships/tags" Target="../tags/tag143.xml"/><Relationship Id="rId48" Type="http://schemas.openxmlformats.org/officeDocument/2006/relationships/tags" Target="../tags/tag148.xml"/><Relationship Id="rId56" Type="http://schemas.openxmlformats.org/officeDocument/2006/relationships/tags" Target="../tags/tag156.xml"/><Relationship Id="rId64" Type="http://schemas.openxmlformats.org/officeDocument/2006/relationships/notesSlide" Target="../notesSlides/notesSlide20.xml"/><Relationship Id="rId69" Type="http://schemas.openxmlformats.org/officeDocument/2006/relationships/image" Target="../media/image36.png"/><Relationship Id="rId8" Type="http://schemas.openxmlformats.org/officeDocument/2006/relationships/tags" Target="../tags/tag108.xml"/><Relationship Id="rId51" Type="http://schemas.openxmlformats.org/officeDocument/2006/relationships/tags" Target="../tags/tag151.xml"/><Relationship Id="rId3" Type="http://schemas.openxmlformats.org/officeDocument/2006/relationships/tags" Target="../tags/tag103.xml"/><Relationship Id="rId12" Type="http://schemas.openxmlformats.org/officeDocument/2006/relationships/tags" Target="../tags/tag112.xml"/><Relationship Id="rId17" Type="http://schemas.openxmlformats.org/officeDocument/2006/relationships/tags" Target="../tags/tag117.xml"/><Relationship Id="rId25" Type="http://schemas.openxmlformats.org/officeDocument/2006/relationships/tags" Target="../tags/tag125.xml"/><Relationship Id="rId33" Type="http://schemas.openxmlformats.org/officeDocument/2006/relationships/tags" Target="../tags/tag133.xml"/><Relationship Id="rId38" Type="http://schemas.openxmlformats.org/officeDocument/2006/relationships/tags" Target="../tags/tag138.xml"/><Relationship Id="rId46" Type="http://schemas.openxmlformats.org/officeDocument/2006/relationships/tags" Target="../tags/tag146.xml"/><Relationship Id="rId59" Type="http://schemas.openxmlformats.org/officeDocument/2006/relationships/tags" Target="../tags/tag159.xml"/><Relationship Id="rId67" Type="http://schemas.openxmlformats.org/officeDocument/2006/relationships/image" Target="../media/image34.png"/><Relationship Id="rId20" Type="http://schemas.openxmlformats.org/officeDocument/2006/relationships/tags" Target="../tags/tag120.xml"/><Relationship Id="rId41" Type="http://schemas.openxmlformats.org/officeDocument/2006/relationships/tags" Target="../tags/tag141.xml"/><Relationship Id="rId54" Type="http://schemas.openxmlformats.org/officeDocument/2006/relationships/tags" Target="../tags/tag154.xml"/><Relationship Id="rId62" Type="http://schemas.openxmlformats.org/officeDocument/2006/relationships/tags" Target="../tags/tag162.xml"/><Relationship Id="rId70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image" Target="../media/image40.png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image" Target="../media/image39.png"/><Relationship Id="rId5" Type="http://schemas.openxmlformats.org/officeDocument/2006/relationships/tags" Target="../tags/tag177.xml"/><Relationship Id="rId10" Type="http://schemas.openxmlformats.org/officeDocument/2006/relationships/image" Target="../media/image7.png"/><Relationship Id="rId4" Type="http://schemas.openxmlformats.org/officeDocument/2006/relationships/tags" Target="../tags/tag176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hyperlink" Target="Sauvegarder%20et%20Restaurer%20une%20base%20de%20donn&#233;es%20WINS&#160;sous%20W2K3.wmv" TargetMode="Externa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5" Type="http://schemas.openxmlformats.org/officeDocument/2006/relationships/hyperlink" Target="Supprimer%20un%20enregistrement%20WINS&#160;sous%20Windows%202003%20Server.wmv" TargetMode="Externa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93.xml"/><Relationship Id="rId7" Type="http://schemas.openxmlformats.org/officeDocument/2006/relationships/image" Target="../media/image7.png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17" Type="http://schemas.openxmlformats.org/officeDocument/2006/relationships/notesSlide" Target="../notesSlides/notesSlide29.xml"/><Relationship Id="rId2" Type="http://schemas.openxmlformats.org/officeDocument/2006/relationships/tags" Target="../tags/tag197.xml"/><Relationship Id="rId16" Type="http://schemas.openxmlformats.org/officeDocument/2006/relationships/slideLayout" Target="../slideLayouts/slideLayout12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tags" Target="../tags/tag210.xml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13" Type="http://schemas.openxmlformats.org/officeDocument/2006/relationships/tags" Target="../tags/tag224.xml"/><Relationship Id="rId18" Type="http://schemas.openxmlformats.org/officeDocument/2006/relationships/tags" Target="../tags/tag229.xml"/><Relationship Id="rId3" Type="http://schemas.openxmlformats.org/officeDocument/2006/relationships/tags" Target="../tags/tag214.xml"/><Relationship Id="rId21" Type="http://schemas.openxmlformats.org/officeDocument/2006/relationships/image" Target="../media/image41.png"/><Relationship Id="rId7" Type="http://schemas.openxmlformats.org/officeDocument/2006/relationships/tags" Target="../tags/tag218.xml"/><Relationship Id="rId12" Type="http://schemas.openxmlformats.org/officeDocument/2006/relationships/tags" Target="../tags/tag223.xml"/><Relationship Id="rId17" Type="http://schemas.openxmlformats.org/officeDocument/2006/relationships/tags" Target="../tags/tag228.xml"/><Relationship Id="rId2" Type="http://schemas.openxmlformats.org/officeDocument/2006/relationships/tags" Target="../tags/tag213.xml"/><Relationship Id="rId16" Type="http://schemas.openxmlformats.org/officeDocument/2006/relationships/tags" Target="../tags/tag227.xml"/><Relationship Id="rId20" Type="http://schemas.openxmlformats.org/officeDocument/2006/relationships/notesSlide" Target="../notesSlides/notesSlide30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tags" Target="../tags/tag222.xml"/><Relationship Id="rId5" Type="http://schemas.openxmlformats.org/officeDocument/2006/relationships/tags" Target="../tags/tag216.xml"/><Relationship Id="rId15" Type="http://schemas.openxmlformats.org/officeDocument/2006/relationships/tags" Target="../tags/tag226.xml"/><Relationship Id="rId10" Type="http://schemas.openxmlformats.org/officeDocument/2006/relationships/tags" Target="../tags/tag221.xml"/><Relationship Id="rId19" Type="http://schemas.openxmlformats.org/officeDocument/2006/relationships/slideLayout" Target="../slideLayouts/slideLayout12.xml"/><Relationship Id="rId4" Type="http://schemas.openxmlformats.org/officeDocument/2006/relationships/tags" Target="../tags/tag215.xml"/><Relationship Id="rId9" Type="http://schemas.openxmlformats.org/officeDocument/2006/relationships/tags" Target="../tags/tag220.xml"/><Relationship Id="rId14" Type="http://schemas.openxmlformats.org/officeDocument/2006/relationships/tags" Target="../tags/tag22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238.xml"/><Relationship Id="rId3" Type="http://schemas.openxmlformats.org/officeDocument/2006/relationships/tags" Target="../tags/tag233.xml"/><Relationship Id="rId7" Type="http://schemas.openxmlformats.org/officeDocument/2006/relationships/tags" Target="../tags/tag237.xm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tags" Target="../tags/tag236.xml"/><Relationship Id="rId11" Type="http://schemas.openxmlformats.org/officeDocument/2006/relationships/image" Target="../media/image41.png"/><Relationship Id="rId5" Type="http://schemas.openxmlformats.org/officeDocument/2006/relationships/tags" Target="../tags/tag235.xml"/><Relationship Id="rId10" Type="http://schemas.openxmlformats.org/officeDocument/2006/relationships/notesSlide" Target="../notesSlides/notesSlide31.xml"/><Relationship Id="rId4" Type="http://schemas.openxmlformats.org/officeDocument/2006/relationships/tags" Target="../tags/tag234.xml"/><Relationship Id="rId9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247.xml"/><Relationship Id="rId13" Type="http://schemas.openxmlformats.org/officeDocument/2006/relationships/tags" Target="../tags/tag252.xml"/><Relationship Id="rId18" Type="http://schemas.openxmlformats.org/officeDocument/2006/relationships/tags" Target="../tags/tag257.xml"/><Relationship Id="rId26" Type="http://schemas.openxmlformats.org/officeDocument/2006/relationships/tags" Target="../tags/tag265.xml"/><Relationship Id="rId3" Type="http://schemas.openxmlformats.org/officeDocument/2006/relationships/tags" Target="../tags/tag242.xml"/><Relationship Id="rId21" Type="http://schemas.openxmlformats.org/officeDocument/2006/relationships/tags" Target="../tags/tag260.xml"/><Relationship Id="rId7" Type="http://schemas.openxmlformats.org/officeDocument/2006/relationships/tags" Target="../tags/tag246.xml"/><Relationship Id="rId12" Type="http://schemas.openxmlformats.org/officeDocument/2006/relationships/tags" Target="../tags/tag251.xml"/><Relationship Id="rId17" Type="http://schemas.openxmlformats.org/officeDocument/2006/relationships/tags" Target="../tags/tag256.xml"/><Relationship Id="rId25" Type="http://schemas.openxmlformats.org/officeDocument/2006/relationships/tags" Target="../tags/tag264.xml"/><Relationship Id="rId33" Type="http://schemas.openxmlformats.org/officeDocument/2006/relationships/image" Target="../media/image44.png"/><Relationship Id="rId2" Type="http://schemas.openxmlformats.org/officeDocument/2006/relationships/tags" Target="../tags/tag241.xml"/><Relationship Id="rId16" Type="http://schemas.openxmlformats.org/officeDocument/2006/relationships/tags" Target="../tags/tag255.xml"/><Relationship Id="rId20" Type="http://schemas.openxmlformats.org/officeDocument/2006/relationships/tags" Target="../tags/tag259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tags" Target="../tags/tag250.xml"/><Relationship Id="rId24" Type="http://schemas.openxmlformats.org/officeDocument/2006/relationships/tags" Target="../tags/tag263.xml"/><Relationship Id="rId32" Type="http://schemas.openxmlformats.org/officeDocument/2006/relationships/image" Target="../media/image43.png"/><Relationship Id="rId5" Type="http://schemas.openxmlformats.org/officeDocument/2006/relationships/tags" Target="../tags/tag244.xml"/><Relationship Id="rId15" Type="http://schemas.openxmlformats.org/officeDocument/2006/relationships/tags" Target="../tags/tag254.xml"/><Relationship Id="rId23" Type="http://schemas.openxmlformats.org/officeDocument/2006/relationships/tags" Target="../tags/tag262.xml"/><Relationship Id="rId28" Type="http://schemas.openxmlformats.org/officeDocument/2006/relationships/tags" Target="../tags/tag267.xml"/><Relationship Id="rId10" Type="http://schemas.openxmlformats.org/officeDocument/2006/relationships/tags" Target="../tags/tag249.xml"/><Relationship Id="rId19" Type="http://schemas.openxmlformats.org/officeDocument/2006/relationships/tags" Target="../tags/tag258.xml"/><Relationship Id="rId31" Type="http://schemas.openxmlformats.org/officeDocument/2006/relationships/image" Target="../media/image42.png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tags" Target="../tags/tag253.xml"/><Relationship Id="rId22" Type="http://schemas.openxmlformats.org/officeDocument/2006/relationships/tags" Target="../tags/tag261.xml"/><Relationship Id="rId27" Type="http://schemas.openxmlformats.org/officeDocument/2006/relationships/tags" Target="../tags/tag266.xml"/><Relationship Id="rId3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271.xml"/><Relationship Id="rId7" Type="http://schemas.openxmlformats.org/officeDocument/2006/relationships/image" Target="../media/image7.png"/><Relationship Id="rId2" Type="http://schemas.openxmlformats.org/officeDocument/2006/relationships/tags" Target="../tags/tag270.xml"/><Relationship Id="rId1" Type="http://schemas.openxmlformats.org/officeDocument/2006/relationships/tags" Target="../tags/tag269.xml"/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Rectangle 9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887640" y="1629456"/>
            <a:ext cx="7102475" cy="3436030"/>
          </a:xfrm>
          <a:noFill/>
          <a:ln/>
        </p:spPr>
        <p:txBody>
          <a:bodyPr lIns="90488" tIns="44450" rIns="90488" bIns="44450"/>
          <a:lstStyle/>
          <a:p>
            <a:pPr algn="ctr">
              <a:lnSpc>
                <a:spcPct val="95000"/>
              </a:lnSpc>
            </a:pPr>
            <a:r>
              <a:rPr lang="en-GB" sz="5000" dirty="0" err="1" smtClean="0">
                <a:solidFill>
                  <a:srgbClr val="000000"/>
                </a:solidFill>
              </a:rPr>
              <a:t>Chapitre</a:t>
            </a:r>
            <a:r>
              <a:rPr lang="en-GB" sz="5000" dirty="0" smtClean="0">
                <a:solidFill>
                  <a:srgbClr val="000000"/>
                </a:solidFill>
              </a:rPr>
              <a:t> 7 </a:t>
            </a:r>
            <a:br>
              <a:rPr lang="en-GB" sz="5000" dirty="0" smtClean="0">
                <a:solidFill>
                  <a:srgbClr val="000000"/>
                </a:solidFill>
              </a:rPr>
            </a:br>
            <a:r>
              <a:rPr lang="en-US" sz="5000" dirty="0" smtClean="0"/>
              <a:t> </a:t>
            </a:r>
            <a:r>
              <a:rPr lang="en-GB" sz="5000" dirty="0" err="1">
                <a:solidFill>
                  <a:srgbClr val="000000"/>
                </a:solidFill>
              </a:rPr>
              <a:t>Résolution</a:t>
            </a:r>
            <a:r>
              <a:rPr lang="en-GB" sz="5000" dirty="0">
                <a:solidFill>
                  <a:srgbClr val="000000"/>
                </a:solidFill>
              </a:rPr>
              <a:t> de </a:t>
            </a:r>
            <a:r>
              <a:rPr lang="en-GB" sz="5000" dirty="0" err="1">
                <a:solidFill>
                  <a:srgbClr val="000000"/>
                </a:solidFill>
              </a:rPr>
              <a:t>noms</a:t>
            </a:r>
            <a:r>
              <a:rPr lang="en-GB" sz="5000" dirty="0">
                <a:solidFill>
                  <a:srgbClr val="000000"/>
                </a:solidFill>
              </a:rPr>
              <a:t> NetBIOS à </a:t>
            </a:r>
            <a:r>
              <a:rPr lang="en-GB" sz="5000" dirty="0" err="1">
                <a:solidFill>
                  <a:srgbClr val="000000"/>
                </a:solidFill>
              </a:rPr>
              <a:t>l'aide</a:t>
            </a:r>
            <a:r>
              <a:rPr lang="en-GB" sz="5000" dirty="0">
                <a:solidFill>
                  <a:srgbClr val="000000"/>
                </a:solidFill>
              </a:rPr>
              <a:t> du service WINS</a:t>
            </a:r>
            <a:endParaRPr lang="en-US" sz="1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23059" y="268907"/>
            <a:ext cx="410998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5000" dirty="0" smtClean="0">
                <a:solidFill>
                  <a:srgbClr val="000000"/>
                </a:solidFill>
              </a:rPr>
              <a:t>Module S43</a:t>
            </a:r>
            <a:endParaRPr lang="fr-FR" sz="5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0000"/>
                </a:solidFill>
              </a:rPr>
              <a:t>Plan du </a:t>
            </a:r>
            <a:r>
              <a:rPr lang="en-GB" b="1" dirty="0" err="1" smtClean="0">
                <a:solidFill>
                  <a:srgbClr val="000000"/>
                </a:solidFill>
              </a:rPr>
              <a:t>cours</a:t>
            </a:r>
            <a:endParaRPr lang="en-US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80068" y="2289629"/>
            <a:ext cx="8760732" cy="2993572"/>
          </a:xfrm>
        </p:spPr>
        <p:txBody>
          <a:bodyPr>
            <a:normAutofit/>
          </a:bodyPr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GB" sz="2800" dirty="0" err="1" smtClean="0">
                <a:solidFill>
                  <a:srgbClr val="000000"/>
                </a:solidFill>
              </a:rPr>
              <a:t>Rôle</a:t>
            </a:r>
            <a:r>
              <a:rPr lang="en-GB" sz="2800" dirty="0" smtClean="0">
                <a:solidFill>
                  <a:srgbClr val="000000"/>
                </a:solidFill>
              </a:rPr>
              <a:t> </a:t>
            </a:r>
            <a:r>
              <a:rPr lang="en-GB" sz="2800" dirty="0">
                <a:solidFill>
                  <a:srgbClr val="000000"/>
                </a:solidFill>
              </a:rPr>
              <a:t>du service WINS </a:t>
            </a:r>
            <a:r>
              <a:rPr lang="en-GB" sz="2800" dirty="0" err="1">
                <a:solidFill>
                  <a:srgbClr val="000000"/>
                </a:solidFill>
              </a:rPr>
              <a:t>dans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l'infrastructure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réseau</a:t>
            </a: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GB" sz="2800" dirty="0">
                <a:solidFill>
                  <a:srgbClr val="000000"/>
                </a:solidFill>
              </a:rPr>
              <a:t>Installation et configuration d'un </a:t>
            </a:r>
            <a:r>
              <a:rPr lang="en-GB" sz="2800" dirty="0" err="1">
                <a:solidFill>
                  <a:srgbClr val="000000"/>
                </a:solidFill>
              </a:rPr>
              <a:t>serveur</a:t>
            </a:r>
            <a:r>
              <a:rPr lang="en-GB" sz="2800" dirty="0">
                <a:solidFill>
                  <a:srgbClr val="000000"/>
                </a:solidFill>
              </a:rPr>
              <a:t> WINS</a:t>
            </a: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GB" sz="2800" dirty="0" err="1">
                <a:solidFill>
                  <a:srgbClr val="000000"/>
                </a:solidFill>
              </a:rPr>
              <a:t>Gestion</a:t>
            </a:r>
            <a:r>
              <a:rPr lang="en-GB" sz="2800" dirty="0">
                <a:solidFill>
                  <a:srgbClr val="000000"/>
                </a:solidFill>
              </a:rPr>
              <a:t> des </a:t>
            </a:r>
            <a:r>
              <a:rPr lang="en-GB" sz="2800" dirty="0" err="1">
                <a:solidFill>
                  <a:srgbClr val="000000"/>
                </a:solidFill>
              </a:rPr>
              <a:t>enregistrements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dans</a:t>
            </a:r>
            <a:r>
              <a:rPr lang="en-GB" sz="2800" dirty="0">
                <a:solidFill>
                  <a:srgbClr val="000000"/>
                </a:solidFill>
              </a:rPr>
              <a:t> le </a:t>
            </a:r>
            <a:r>
              <a:rPr lang="en-GB" sz="2800" dirty="0" err="1">
                <a:solidFill>
                  <a:srgbClr val="000000"/>
                </a:solidFill>
              </a:rPr>
              <a:t>serveur</a:t>
            </a:r>
            <a:r>
              <a:rPr lang="en-GB" sz="2800" dirty="0">
                <a:solidFill>
                  <a:srgbClr val="000000"/>
                </a:solidFill>
              </a:rPr>
              <a:t> WINS</a:t>
            </a: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GB" sz="2800" dirty="0">
                <a:solidFill>
                  <a:srgbClr val="000000"/>
                </a:solidFill>
              </a:rPr>
              <a:t>Configuration de la </a:t>
            </a:r>
            <a:r>
              <a:rPr lang="en-GB" sz="2800" dirty="0" err="1">
                <a:solidFill>
                  <a:srgbClr val="000000"/>
                </a:solidFill>
              </a:rPr>
              <a:t>réplication</a:t>
            </a:r>
            <a:r>
              <a:rPr lang="en-GB" sz="2800" dirty="0">
                <a:solidFill>
                  <a:srgbClr val="000000"/>
                </a:solidFill>
              </a:rPr>
              <a:t> WINS</a:t>
            </a: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GB" sz="2800" dirty="0" err="1">
                <a:solidFill>
                  <a:srgbClr val="000000"/>
                </a:solidFill>
              </a:rPr>
              <a:t>Gestion</a:t>
            </a:r>
            <a:r>
              <a:rPr lang="en-GB" sz="2800" dirty="0">
                <a:solidFill>
                  <a:srgbClr val="000000"/>
                </a:solidFill>
              </a:rPr>
              <a:t> de la base de </a:t>
            </a:r>
            <a:r>
              <a:rPr lang="en-GB" sz="2800" dirty="0" err="1">
                <a:solidFill>
                  <a:srgbClr val="000000"/>
                </a:solidFill>
              </a:rPr>
              <a:t>données</a:t>
            </a:r>
            <a:r>
              <a:rPr lang="en-GB" sz="2800" dirty="0">
                <a:solidFill>
                  <a:srgbClr val="000000"/>
                </a:solidFill>
              </a:rPr>
              <a:t> WINS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2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9144000" cy="1153881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0000"/>
                </a:solidFill>
              </a:rPr>
              <a:t>1. Rôle </a:t>
            </a:r>
            <a:r>
              <a:rPr lang="fr-FR" b="1" dirty="0">
                <a:solidFill>
                  <a:srgbClr val="000000"/>
                </a:solidFill>
              </a:rPr>
              <a:t>du service WINS dans l'infrastructure réseau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pSp>
        <p:nvGrpSpPr>
          <p:cNvPr id="7" name="Groupe 6"/>
          <p:cNvGrpSpPr/>
          <p:nvPr/>
        </p:nvGrpSpPr>
        <p:grpSpPr>
          <a:xfrm>
            <a:off x="191068" y="1398111"/>
            <a:ext cx="8611737" cy="976599"/>
            <a:chOff x="-27297" y="1112"/>
            <a:chExt cx="8611737" cy="1052270"/>
          </a:xfrm>
        </p:grpSpPr>
        <p:sp>
          <p:nvSpPr>
            <p:cNvPr id="23" name="Rectangle à coins arrondis 22"/>
            <p:cNvSpPr/>
            <p:nvPr/>
          </p:nvSpPr>
          <p:spPr>
            <a:xfrm>
              <a:off x="-27297" y="1112"/>
              <a:ext cx="8611737" cy="1052270"/>
            </a:xfrm>
            <a:prstGeom prst="roundRect">
              <a:avLst>
                <a:gd name="adj" fmla="val 10000"/>
              </a:avLst>
            </a:prstGeom>
            <a:solidFill>
              <a:srgbClr val="00206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angle 23"/>
            <p:cNvSpPr/>
            <p:nvPr/>
          </p:nvSpPr>
          <p:spPr>
            <a:xfrm>
              <a:off x="-13648" y="31932"/>
              <a:ext cx="8516202" cy="9906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200" kern="1200" dirty="0" smtClean="0"/>
                <a:t>Pour </a:t>
              </a:r>
              <a:r>
                <a:rPr lang="fr-FR" sz="2200" kern="1200" dirty="0" smtClean="0"/>
                <a:t>localiser d’autres </a:t>
              </a:r>
              <a:r>
                <a:rPr lang="fr-FR" sz="2200" kern="1200" dirty="0" smtClean="0"/>
                <a:t>ordinateurs d’un </a:t>
              </a:r>
              <a:r>
                <a:rPr lang="fr-FR" sz="2200" kern="1200" dirty="0" smtClean="0"/>
                <a:t>réseau IP et communiquer avec eux</a:t>
              </a:r>
              <a:endParaRPr lang="fr-FR" sz="2200" kern="1200" dirty="0"/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3057099" y="2906364"/>
            <a:ext cx="3384644" cy="819476"/>
            <a:chOff x="4258101" y="3010617"/>
            <a:chExt cx="3384644" cy="1056646"/>
          </a:xfrm>
        </p:grpSpPr>
        <p:sp>
          <p:nvSpPr>
            <p:cNvPr id="19" name="Rectangle à coins arrondis 18"/>
            <p:cNvSpPr/>
            <p:nvPr/>
          </p:nvSpPr>
          <p:spPr>
            <a:xfrm>
              <a:off x="4285396" y="3010617"/>
              <a:ext cx="3316406" cy="1056646"/>
            </a:xfrm>
            <a:prstGeom prst="roundRect">
              <a:avLst>
                <a:gd name="adj" fmla="val 10000"/>
              </a:avLst>
            </a:pr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r>
                <a:rPr lang="fr-FR" sz="22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Le système DNS</a:t>
              </a:r>
              <a:endParaRPr lang="fr-FR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258101" y="3041437"/>
              <a:ext cx="3384644" cy="9906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fr-FR" sz="900" kern="1200"/>
            </a:p>
          </p:txBody>
        </p:sp>
      </p:grpSp>
      <p:grpSp>
        <p:nvGrpSpPr>
          <p:cNvPr id="11" name="Groupe 10"/>
          <p:cNvGrpSpPr/>
          <p:nvPr/>
        </p:nvGrpSpPr>
        <p:grpSpPr>
          <a:xfrm>
            <a:off x="171757" y="4462209"/>
            <a:ext cx="1861759" cy="669350"/>
            <a:chOff x="1563827" y="3010617"/>
            <a:chExt cx="2104540" cy="1052270"/>
          </a:xfrm>
        </p:grpSpPr>
        <p:sp>
          <p:nvSpPr>
            <p:cNvPr id="15" name="Rectangle à coins arrondis 14"/>
            <p:cNvSpPr/>
            <p:nvPr/>
          </p:nvSpPr>
          <p:spPr>
            <a:xfrm>
              <a:off x="1563827" y="3010617"/>
              <a:ext cx="2104540" cy="105227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r>
                <a:rPr lang="fr-FR" sz="2200" dirty="0" smtClean="0">
                  <a:solidFill>
                    <a:srgbClr val="C00000"/>
                  </a:solidFill>
                </a:rPr>
                <a:t>Problème ?</a:t>
              </a:r>
              <a:endParaRPr lang="fr-FR" sz="2200" dirty="0">
                <a:solidFill>
                  <a:srgbClr val="C00000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94647" y="3041437"/>
              <a:ext cx="2042900" cy="9906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fr-FR" sz="900" kern="1200"/>
            </a:p>
          </p:txBody>
        </p:sp>
      </p:grpSp>
      <p:sp>
        <p:nvSpPr>
          <p:cNvPr id="26" name="Flèche vers le bas 25"/>
          <p:cNvSpPr/>
          <p:nvPr/>
        </p:nvSpPr>
        <p:spPr>
          <a:xfrm>
            <a:off x="4314967" y="2402006"/>
            <a:ext cx="750627" cy="491320"/>
          </a:xfrm>
          <a:prstGeom prst="downArrow">
            <a:avLst/>
          </a:prstGeom>
          <a:solidFill>
            <a:srgbClr val="99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 vers le bas 26"/>
          <p:cNvSpPr/>
          <p:nvPr/>
        </p:nvSpPr>
        <p:spPr>
          <a:xfrm>
            <a:off x="4314967" y="3755410"/>
            <a:ext cx="750627" cy="491320"/>
          </a:xfrm>
          <a:prstGeom prst="downArrow">
            <a:avLst/>
          </a:prstGeom>
          <a:solidFill>
            <a:srgbClr val="99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9" name="Groupe 28"/>
          <p:cNvGrpSpPr/>
          <p:nvPr/>
        </p:nvGrpSpPr>
        <p:grpSpPr>
          <a:xfrm>
            <a:off x="2047164" y="4257493"/>
            <a:ext cx="6823880" cy="1078782"/>
            <a:chOff x="1563827" y="3010617"/>
            <a:chExt cx="2104540" cy="1996304"/>
          </a:xfrm>
        </p:grpSpPr>
        <p:sp>
          <p:nvSpPr>
            <p:cNvPr id="30" name="Rectangle à coins arrondis 29"/>
            <p:cNvSpPr/>
            <p:nvPr/>
          </p:nvSpPr>
          <p:spPr>
            <a:xfrm>
              <a:off x="1563827" y="3010617"/>
              <a:ext cx="2104540" cy="195338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r>
                <a:rPr lang="fr-FR" sz="2200" dirty="0" smtClean="0">
                  <a:solidFill>
                    <a:srgbClr val="C00000"/>
                  </a:solidFill>
                </a:rPr>
                <a:t>Versions </a:t>
              </a:r>
              <a:r>
                <a:rPr lang="fr-FR" sz="2200" dirty="0" smtClean="0">
                  <a:solidFill>
                    <a:srgbClr val="C00000"/>
                  </a:solidFill>
                </a:rPr>
                <a:t>antérieures de </a:t>
              </a:r>
              <a:r>
                <a:rPr lang="fr-FR" sz="2200" dirty="0" smtClean="0">
                  <a:solidFill>
                    <a:srgbClr val="C00000"/>
                  </a:solidFill>
                </a:rPr>
                <a:t>Windows (Win NT 4.0)  </a:t>
              </a:r>
              <a:r>
                <a:rPr lang="fr-FR" sz="2200" dirty="0" smtClean="0">
                  <a:solidFill>
                    <a:srgbClr val="C00000"/>
                  </a:solidFill>
                </a:rPr>
                <a:t>utilisent </a:t>
              </a:r>
              <a:r>
                <a:rPr lang="fr-FR" sz="2200" dirty="0" smtClean="0">
                  <a:solidFill>
                    <a:srgbClr val="C00000"/>
                  </a:solidFill>
                </a:rPr>
                <a:t>des </a:t>
              </a:r>
              <a:r>
                <a:rPr lang="fr-FR" sz="2200" dirty="0" smtClean="0">
                  <a:solidFill>
                    <a:srgbClr val="C00000"/>
                  </a:solidFill>
                </a:rPr>
                <a:t>noms </a:t>
              </a:r>
              <a:r>
                <a:rPr lang="fr-FR" sz="2200" dirty="0" smtClean="0">
                  <a:solidFill>
                    <a:srgbClr val="C00000"/>
                  </a:solidFill>
                </a:rPr>
                <a:t>NetBIOS</a:t>
              </a:r>
              <a:endParaRPr lang="fr-FR" sz="2200" dirty="0">
                <a:solidFill>
                  <a:srgbClr val="C00000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580041" y="3041438"/>
              <a:ext cx="2042900" cy="19654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fr-FR" sz="900" kern="1200"/>
            </a:p>
          </p:txBody>
        </p:sp>
      </p:grpSp>
      <p:grpSp>
        <p:nvGrpSpPr>
          <p:cNvPr id="32" name="Groupe 31"/>
          <p:cNvGrpSpPr/>
          <p:nvPr/>
        </p:nvGrpSpPr>
        <p:grpSpPr>
          <a:xfrm>
            <a:off x="3004781" y="5874748"/>
            <a:ext cx="3384644" cy="819476"/>
            <a:chOff x="4258101" y="3010617"/>
            <a:chExt cx="3384644" cy="1056646"/>
          </a:xfrm>
        </p:grpSpPr>
        <p:sp>
          <p:nvSpPr>
            <p:cNvPr id="33" name="Rectangle à coins arrondis 32"/>
            <p:cNvSpPr/>
            <p:nvPr/>
          </p:nvSpPr>
          <p:spPr>
            <a:xfrm>
              <a:off x="4285396" y="3010617"/>
              <a:ext cx="3316406" cy="1056646"/>
            </a:xfrm>
            <a:prstGeom prst="roundRect">
              <a:avLst>
                <a:gd name="adj" fmla="val 10000"/>
              </a:avLst>
            </a:pr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r>
                <a:rPr lang="fr-FR" sz="2200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Le service WINS</a:t>
              </a:r>
              <a:endParaRPr lang="fr-FR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258101" y="3041437"/>
              <a:ext cx="3384644" cy="9906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fr-FR" sz="900" kern="1200"/>
            </a:p>
          </p:txBody>
        </p:sp>
      </p:grpSp>
      <p:sp>
        <p:nvSpPr>
          <p:cNvPr id="35" name="Flèche vers le bas 34"/>
          <p:cNvSpPr/>
          <p:nvPr/>
        </p:nvSpPr>
        <p:spPr>
          <a:xfrm>
            <a:off x="4314967" y="5356745"/>
            <a:ext cx="750627" cy="491320"/>
          </a:xfrm>
          <a:prstGeom prst="downArrow">
            <a:avLst/>
          </a:prstGeom>
          <a:solidFill>
            <a:srgbClr val="99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1752" y="378728"/>
            <a:ext cx="8534400" cy="758952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0000"/>
                </a:solidFill>
              </a:rPr>
              <a:t>1. Rôle </a:t>
            </a:r>
            <a:r>
              <a:rPr lang="fr-FR" b="1" dirty="0">
                <a:solidFill>
                  <a:srgbClr val="000000"/>
                </a:solidFill>
              </a:rPr>
              <a:t>du service WINS dans l'infrastructure réseau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22" name="Espace réservé du contenu 21"/>
          <p:cNvSpPr>
            <a:spLocks noGrp="1"/>
          </p:cNvSpPr>
          <p:nvPr>
            <p:ph sz="quarter" idx="1"/>
          </p:nvPr>
        </p:nvSpPr>
        <p:spPr>
          <a:xfrm>
            <a:off x="288104" y="2427800"/>
            <a:ext cx="8503920" cy="3004009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  <a:buFont typeface="Wingdings" pitchFamily="2" charset="2"/>
              <a:buChar char="q"/>
            </a:pPr>
            <a:r>
              <a:rPr lang="fr-FR" sz="2500" dirty="0" smtClean="0"/>
              <a:t>WINS est un service logiciel qui mappe de façon dynamique les adresses </a:t>
            </a:r>
            <a:r>
              <a:rPr lang="fr-FR" sz="2500" dirty="0" smtClean="0"/>
              <a:t>IP aux </a:t>
            </a:r>
            <a:r>
              <a:rPr lang="fr-FR" sz="2500" dirty="0" smtClean="0"/>
              <a:t>noms </a:t>
            </a:r>
            <a:r>
              <a:rPr lang="fr-FR" sz="2500" dirty="0" smtClean="0"/>
              <a:t>NetBIOS.</a:t>
            </a:r>
          </a:p>
          <a:p>
            <a:pPr>
              <a:buClr>
                <a:schemeClr val="tx2"/>
              </a:buClr>
              <a:buFont typeface="Wingdings" pitchFamily="2" charset="2"/>
              <a:buChar char="q"/>
            </a:pPr>
            <a:r>
              <a:rPr lang="fr-FR" sz="2500" dirty="0" smtClean="0"/>
              <a:t>Le </a:t>
            </a:r>
            <a:r>
              <a:rPr lang="fr-FR" sz="2500" dirty="0" smtClean="0"/>
              <a:t>service WINS </a:t>
            </a:r>
            <a:r>
              <a:rPr lang="fr-FR" sz="2500" dirty="0" smtClean="0"/>
              <a:t>réduit </a:t>
            </a:r>
            <a:r>
              <a:rPr lang="fr-FR" sz="2500" dirty="0" smtClean="0"/>
              <a:t>le trafic de </a:t>
            </a:r>
            <a:r>
              <a:rPr lang="fr-FR" sz="2500" dirty="0" smtClean="0"/>
              <a:t>diffusion et </a:t>
            </a:r>
            <a:r>
              <a:rPr lang="fr-FR" sz="2500" dirty="0" smtClean="0"/>
              <a:t>permet aux clients de résoudre les noms NetBIOS d’ordinateurs situés </a:t>
            </a:r>
            <a:r>
              <a:rPr lang="fr-FR" sz="2500" dirty="0" smtClean="0"/>
              <a:t>sur des </a:t>
            </a:r>
            <a:r>
              <a:rPr lang="fr-FR" sz="2500" dirty="0" smtClean="0"/>
              <a:t>segments de réseau différents (sous-réseaux).</a:t>
            </a:r>
            <a:endParaRPr lang="fr-FR" sz="2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01597" y="0"/>
            <a:ext cx="8940801" cy="1175655"/>
          </a:xfrm>
        </p:spPr>
        <p:txBody>
          <a:bodyPr>
            <a:noAutofit/>
          </a:bodyPr>
          <a:lstStyle/>
          <a:p>
            <a:r>
              <a:rPr lang="fr-FR" dirty="0" smtClean="0">
                <a:solidFill>
                  <a:srgbClr val="000000"/>
                </a:solidFill>
              </a:rPr>
              <a:t>2. </a:t>
            </a:r>
            <a:r>
              <a:rPr lang="fr-FR" dirty="0" smtClean="0">
                <a:solidFill>
                  <a:srgbClr val="000000"/>
                </a:solidFill>
              </a:rPr>
              <a:t>Installation </a:t>
            </a:r>
            <a:r>
              <a:rPr lang="fr-FR" dirty="0">
                <a:solidFill>
                  <a:srgbClr val="000000"/>
                </a:solidFill>
              </a:rPr>
              <a:t>et configuration d'un </a:t>
            </a:r>
            <a:r>
              <a:rPr lang="fr-FR" dirty="0" smtClean="0">
                <a:solidFill>
                  <a:srgbClr val="000000"/>
                </a:solidFill>
              </a:rPr>
              <a:t>serveur WINS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01752" y="1854594"/>
            <a:ext cx="8503920" cy="3740988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GB" dirty="0" err="1">
                <a:solidFill>
                  <a:srgbClr val="000000"/>
                </a:solidFill>
              </a:rPr>
              <a:t>Composants</a:t>
            </a:r>
            <a:r>
              <a:rPr lang="en-GB" dirty="0">
                <a:solidFill>
                  <a:srgbClr val="000000"/>
                </a:solidFill>
              </a:rPr>
              <a:t> du service WINS</a:t>
            </a:r>
            <a:endParaRPr lang="en-US" dirty="0"/>
          </a:p>
          <a:p>
            <a:pPr>
              <a:buClrTx/>
              <a:buFont typeface="Wingdings" pitchFamily="2" charset="2"/>
              <a:buChar char="Ø"/>
            </a:pPr>
            <a:r>
              <a:rPr lang="en-GB" dirty="0" err="1">
                <a:solidFill>
                  <a:srgbClr val="000000"/>
                </a:solidFill>
              </a:rPr>
              <a:t>Présentation</a:t>
            </a:r>
            <a:r>
              <a:rPr lang="en-GB" dirty="0">
                <a:solidFill>
                  <a:srgbClr val="000000"/>
                </a:solidFill>
              </a:rPr>
              <a:t> d'un type de </a:t>
            </a:r>
            <a:r>
              <a:rPr lang="en-GB" dirty="0" err="1">
                <a:solidFill>
                  <a:srgbClr val="000000"/>
                </a:solidFill>
              </a:rPr>
              <a:t>nœud</a:t>
            </a:r>
            <a:r>
              <a:rPr lang="en-GB" dirty="0">
                <a:solidFill>
                  <a:srgbClr val="000000"/>
                </a:solidFill>
              </a:rPr>
              <a:t> NetBIOS</a:t>
            </a:r>
            <a:endParaRPr lang="en-US" dirty="0"/>
          </a:p>
          <a:p>
            <a:pPr>
              <a:buClrTx/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</a:rPr>
              <a:t>Comment un client WINS </a:t>
            </a:r>
            <a:r>
              <a:rPr lang="en-GB" dirty="0" err="1">
                <a:solidFill>
                  <a:srgbClr val="000000"/>
                </a:solidFill>
              </a:rPr>
              <a:t>inscrit</a:t>
            </a:r>
            <a:r>
              <a:rPr lang="en-GB" dirty="0">
                <a:solidFill>
                  <a:srgbClr val="000000"/>
                </a:solidFill>
              </a:rPr>
              <a:t> et </a:t>
            </a:r>
            <a:r>
              <a:rPr lang="en-GB" dirty="0" err="1">
                <a:solidFill>
                  <a:srgbClr val="000000"/>
                </a:solidFill>
              </a:rPr>
              <a:t>libère</a:t>
            </a:r>
            <a:r>
              <a:rPr lang="en-GB" dirty="0">
                <a:solidFill>
                  <a:srgbClr val="000000"/>
                </a:solidFill>
              </a:rPr>
              <a:t> des </a:t>
            </a:r>
            <a:r>
              <a:rPr lang="en-GB" dirty="0" err="1">
                <a:solidFill>
                  <a:srgbClr val="000000"/>
                </a:solidFill>
              </a:rPr>
              <a:t>noms</a:t>
            </a:r>
            <a:r>
              <a:rPr lang="en-GB" dirty="0">
                <a:solidFill>
                  <a:srgbClr val="000000"/>
                </a:solidFill>
              </a:rPr>
              <a:t> NetBIOS</a:t>
            </a:r>
            <a:endParaRPr lang="en-US" dirty="0"/>
          </a:p>
          <a:p>
            <a:pPr>
              <a:buClrTx/>
              <a:buFont typeface="Wingdings" pitchFamily="2" charset="2"/>
              <a:buChar char="Ø"/>
            </a:pPr>
            <a:r>
              <a:rPr lang="en-GB" dirty="0" err="1">
                <a:solidFill>
                  <a:srgbClr val="000000"/>
                </a:solidFill>
              </a:rPr>
              <a:t>Fonctionnement</a:t>
            </a:r>
            <a:r>
              <a:rPr lang="en-GB" dirty="0">
                <a:solidFill>
                  <a:srgbClr val="000000"/>
                </a:solidFill>
              </a:rPr>
              <a:t> de la prise en charge du </a:t>
            </a:r>
            <a:r>
              <a:rPr lang="en-GB" dirty="0" err="1">
                <a:solidFill>
                  <a:srgbClr val="000000"/>
                </a:solidFill>
              </a:rPr>
              <a:t>traitement</a:t>
            </a:r>
            <a:r>
              <a:rPr lang="en-GB" dirty="0">
                <a:solidFill>
                  <a:srgbClr val="000000"/>
                </a:solidFill>
              </a:rPr>
              <a:t> 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en </a:t>
            </a:r>
            <a:r>
              <a:rPr lang="en-GB" dirty="0" err="1">
                <a:solidFill>
                  <a:srgbClr val="000000"/>
                </a:solidFill>
              </a:rPr>
              <a:t>rafale</a:t>
            </a:r>
            <a:endParaRPr lang="en-US" dirty="0"/>
          </a:p>
          <a:p>
            <a:pPr>
              <a:buClrTx/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</a:rPr>
              <a:t>Comment un </a:t>
            </a:r>
            <a:r>
              <a:rPr lang="en-GB" dirty="0" err="1">
                <a:solidFill>
                  <a:srgbClr val="000000"/>
                </a:solidFill>
              </a:rPr>
              <a:t>serveur</a:t>
            </a:r>
            <a:r>
              <a:rPr lang="en-GB" dirty="0">
                <a:solidFill>
                  <a:srgbClr val="000000"/>
                </a:solidFill>
              </a:rPr>
              <a:t> WINS </a:t>
            </a:r>
            <a:r>
              <a:rPr lang="en-GB" dirty="0" err="1">
                <a:solidFill>
                  <a:srgbClr val="000000"/>
                </a:solidFill>
              </a:rPr>
              <a:t>résout</a:t>
            </a:r>
            <a:r>
              <a:rPr lang="en-GB" dirty="0">
                <a:solidFill>
                  <a:srgbClr val="000000"/>
                </a:solidFill>
              </a:rPr>
              <a:t> les </a:t>
            </a:r>
            <a:r>
              <a:rPr lang="en-GB" dirty="0" err="1">
                <a:solidFill>
                  <a:srgbClr val="000000"/>
                </a:solidFill>
              </a:rPr>
              <a:t>noms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smtClean="0">
                <a:solidFill>
                  <a:srgbClr val="000000"/>
                </a:solidFill>
              </a:rPr>
              <a:t>NetBIOS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5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8686" y="228600"/>
            <a:ext cx="8752114" cy="758952"/>
          </a:xfrm>
        </p:spPr>
        <p:txBody>
          <a:bodyPr/>
          <a:lstStyle/>
          <a:p>
            <a:r>
              <a:rPr lang="en-GB" b="1" dirty="0" err="1">
                <a:solidFill>
                  <a:srgbClr val="C00000"/>
                </a:solidFill>
              </a:rPr>
              <a:t>Composants</a:t>
            </a:r>
            <a:r>
              <a:rPr lang="en-GB" b="1" dirty="0">
                <a:solidFill>
                  <a:srgbClr val="C00000"/>
                </a:solidFill>
              </a:rPr>
              <a:t> du service WINS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26209" name="AutoShape 257"/>
          <p:cNvSpPr>
            <a:spLocks noChangeArrowheads="1"/>
          </p:cNvSpPr>
          <p:nvPr/>
        </p:nvSpPr>
        <p:spPr bwMode="auto">
          <a:xfrm>
            <a:off x="58060" y="1509486"/>
            <a:ext cx="8955313" cy="5348514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26211" name="Oval 259"/>
          <p:cNvSpPr>
            <a:spLocks noChangeArrowheads="1"/>
          </p:cNvSpPr>
          <p:nvPr/>
        </p:nvSpPr>
        <p:spPr bwMode="auto">
          <a:xfrm>
            <a:off x="16569" y="3027826"/>
            <a:ext cx="3028950" cy="1517650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es-ES"/>
          </a:p>
        </p:txBody>
      </p:sp>
      <p:sp>
        <p:nvSpPr>
          <p:cNvPr id="126212" name="Text Box 260"/>
          <p:cNvSpPr txBox="1">
            <a:spLocks noChangeArrowheads="1"/>
          </p:cNvSpPr>
          <p:nvPr/>
        </p:nvSpPr>
        <p:spPr bwMode="auto">
          <a:xfrm>
            <a:off x="259003" y="4092128"/>
            <a:ext cx="146843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 err="1">
                <a:solidFill>
                  <a:srgbClr val="000000"/>
                </a:solidFill>
              </a:rPr>
              <a:t>Sous-réseau</a:t>
            </a:r>
            <a:r>
              <a:rPr lang="en-GB" dirty="0">
                <a:solidFill>
                  <a:srgbClr val="000000"/>
                </a:solidFill>
              </a:rPr>
              <a:t> 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6213" name="Oval 261"/>
          <p:cNvSpPr>
            <a:spLocks noChangeArrowheads="1"/>
          </p:cNvSpPr>
          <p:nvPr/>
        </p:nvSpPr>
        <p:spPr bwMode="auto">
          <a:xfrm>
            <a:off x="3375719" y="1533988"/>
            <a:ext cx="3028950" cy="1517650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es-ES"/>
          </a:p>
        </p:txBody>
      </p:sp>
      <p:sp>
        <p:nvSpPr>
          <p:cNvPr id="126214" name="Text Box 262"/>
          <p:cNvSpPr txBox="1">
            <a:spLocks noChangeArrowheads="1"/>
          </p:cNvSpPr>
          <p:nvPr/>
        </p:nvSpPr>
        <p:spPr bwMode="auto">
          <a:xfrm>
            <a:off x="3788469" y="1519701"/>
            <a:ext cx="14700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00"/>
                </a:solidFill>
              </a:rPr>
              <a:t>Sous-réseau 2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26215" name="Line 263"/>
          <p:cNvSpPr>
            <a:spLocks noChangeShapeType="1"/>
          </p:cNvSpPr>
          <p:nvPr/>
        </p:nvSpPr>
        <p:spPr bwMode="auto">
          <a:xfrm flipV="1">
            <a:off x="3794819" y="2011826"/>
            <a:ext cx="842962" cy="663575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26216" name="Line 264"/>
          <p:cNvSpPr>
            <a:spLocks noChangeShapeType="1"/>
          </p:cNvSpPr>
          <p:nvPr/>
        </p:nvSpPr>
        <p:spPr bwMode="auto">
          <a:xfrm flipV="1">
            <a:off x="4967981" y="2288051"/>
            <a:ext cx="842963" cy="661987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26217" name="Picture 265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23369" y="2008651"/>
            <a:ext cx="744537" cy="906462"/>
          </a:xfrm>
          <a:prstGeom prst="rect">
            <a:avLst/>
          </a:prstGeom>
          <a:noFill/>
        </p:spPr>
      </p:pic>
      <p:pic>
        <p:nvPicPr>
          <p:cNvPr id="126218" name="Picture 266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0656" y="2288051"/>
            <a:ext cx="744538" cy="906462"/>
          </a:xfrm>
          <a:prstGeom prst="rect">
            <a:avLst/>
          </a:prstGeom>
          <a:noFill/>
        </p:spPr>
      </p:pic>
      <p:sp>
        <p:nvSpPr>
          <p:cNvPr id="126219" name="Line 267"/>
          <p:cNvSpPr>
            <a:spLocks noChangeShapeType="1"/>
          </p:cNvSpPr>
          <p:nvPr/>
        </p:nvSpPr>
        <p:spPr bwMode="auto">
          <a:xfrm flipV="1">
            <a:off x="5175944" y="1818151"/>
            <a:ext cx="428625" cy="33020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26220" name="Picture 268" descr="Server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98169" y="1032338"/>
            <a:ext cx="798512" cy="1011238"/>
          </a:xfrm>
          <a:prstGeom prst="rect">
            <a:avLst/>
          </a:prstGeom>
          <a:noFill/>
        </p:spPr>
      </p:pic>
      <p:pic>
        <p:nvPicPr>
          <p:cNvPr id="126221" name="Picture 269" descr="Database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55369" y="1600663"/>
            <a:ext cx="571500" cy="463550"/>
          </a:xfrm>
          <a:prstGeom prst="rect">
            <a:avLst/>
          </a:prstGeom>
          <a:noFill/>
        </p:spPr>
      </p:pic>
      <p:sp>
        <p:nvSpPr>
          <p:cNvPr id="126222" name="Freeform 270"/>
          <p:cNvSpPr>
            <a:spLocks/>
          </p:cNvSpPr>
          <p:nvPr/>
        </p:nvSpPr>
        <p:spPr bwMode="auto">
          <a:xfrm>
            <a:off x="559494" y="3145301"/>
            <a:ext cx="2254250" cy="731837"/>
          </a:xfrm>
          <a:custGeom>
            <a:avLst/>
            <a:gdLst/>
            <a:ahLst/>
            <a:cxnLst>
              <a:cxn ang="0">
                <a:pos x="0" y="227"/>
              </a:cxn>
              <a:cxn ang="0">
                <a:pos x="349" y="0"/>
              </a:cxn>
              <a:cxn ang="0">
                <a:pos x="1323" y="211"/>
              </a:cxn>
              <a:cxn ang="0">
                <a:pos x="1015" y="430"/>
              </a:cxn>
            </a:cxnLst>
            <a:rect l="0" t="0" r="r" b="b"/>
            <a:pathLst>
              <a:path w="1323" h="430">
                <a:moveTo>
                  <a:pt x="0" y="227"/>
                </a:moveTo>
                <a:lnTo>
                  <a:pt x="349" y="0"/>
                </a:lnTo>
                <a:lnTo>
                  <a:pt x="1323" y="211"/>
                </a:lnTo>
                <a:lnTo>
                  <a:pt x="1015" y="430"/>
                </a:lnTo>
              </a:path>
            </a:pathLst>
          </a:custGeom>
          <a:noFill/>
          <a:ln w="38100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26223" name="Picture 271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8969" y="3116726"/>
            <a:ext cx="744537" cy="906462"/>
          </a:xfrm>
          <a:prstGeom prst="rect">
            <a:avLst/>
          </a:prstGeom>
          <a:noFill/>
        </p:spPr>
      </p:pic>
      <p:pic>
        <p:nvPicPr>
          <p:cNvPr id="126224" name="Picture 272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32694" y="3629488"/>
            <a:ext cx="744537" cy="906463"/>
          </a:xfrm>
          <a:prstGeom prst="rect">
            <a:avLst/>
          </a:prstGeom>
          <a:noFill/>
        </p:spPr>
      </p:pic>
      <p:sp>
        <p:nvSpPr>
          <p:cNvPr id="126225" name="Freeform 273"/>
          <p:cNvSpPr>
            <a:spLocks/>
          </p:cNvSpPr>
          <p:nvPr/>
        </p:nvSpPr>
        <p:spPr bwMode="auto">
          <a:xfrm>
            <a:off x="1551681" y="1756238"/>
            <a:ext cx="4808538" cy="1455738"/>
          </a:xfrm>
          <a:custGeom>
            <a:avLst/>
            <a:gdLst/>
            <a:ahLst/>
            <a:cxnLst>
              <a:cxn ang="0">
                <a:pos x="0" y="854"/>
              </a:cxn>
              <a:cxn ang="0">
                <a:pos x="1094" y="0"/>
              </a:cxn>
              <a:cxn ang="0">
                <a:pos x="2822" y="381"/>
              </a:cxn>
            </a:cxnLst>
            <a:rect l="0" t="0" r="r" b="b"/>
            <a:pathLst>
              <a:path w="2822" h="854">
                <a:moveTo>
                  <a:pt x="0" y="854"/>
                </a:moveTo>
                <a:lnTo>
                  <a:pt x="1094" y="0"/>
                </a:lnTo>
                <a:lnTo>
                  <a:pt x="2822" y="381"/>
                </a:lnTo>
              </a:path>
            </a:pathLst>
          </a:custGeom>
          <a:noFill/>
          <a:ln w="38100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26226" name="Picture 274" descr="Rackmount_Router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00944" y="2170576"/>
            <a:ext cx="962025" cy="614362"/>
          </a:xfrm>
          <a:prstGeom prst="rect">
            <a:avLst/>
          </a:prstGeom>
          <a:noFill/>
        </p:spPr>
      </p:pic>
      <p:sp>
        <p:nvSpPr>
          <p:cNvPr id="126227" name="Line 275"/>
          <p:cNvSpPr>
            <a:spLocks noChangeShapeType="1"/>
          </p:cNvSpPr>
          <p:nvPr/>
        </p:nvSpPr>
        <p:spPr bwMode="auto">
          <a:xfrm flipV="1">
            <a:off x="1126231" y="3338976"/>
            <a:ext cx="842963" cy="663575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26228" name="Picture 276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00831" y="3364376"/>
            <a:ext cx="744538" cy="906462"/>
          </a:xfrm>
          <a:prstGeom prst="rect">
            <a:avLst/>
          </a:prstGeom>
          <a:noFill/>
        </p:spPr>
      </p:pic>
      <p:grpSp>
        <p:nvGrpSpPr>
          <p:cNvPr id="126250" name="Group 298"/>
          <p:cNvGrpSpPr>
            <a:grpSpLocks/>
          </p:cNvGrpSpPr>
          <p:nvPr/>
        </p:nvGrpSpPr>
        <p:grpSpPr bwMode="auto">
          <a:xfrm>
            <a:off x="6017319" y="1133938"/>
            <a:ext cx="2459037" cy="381000"/>
            <a:chOff x="4211" y="1016"/>
            <a:chExt cx="1086" cy="240"/>
          </a:xfrm>
        </p:grpSpPr>
        <p:sp>
          <p:nvSpPr>
            <p:cNvPr id="126230" name="Line 278"/>
            <p:cNvSpPr>
              <a:spLocks noChangeShapeType="1"/>
            </p:cNvSpPr>
            <p:nvPr/>
          </p:nvSpPr>
          <p:spPr bwMode="auto">
            <a:xfrm rot="16200000" flipV="1">
              <a:off x="4355" y="986"/>
              <a:ext cx="0" cy="2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 sz="2200"/>
            </a:p>
          </p:txBody>
        </p:sp>
        <p:sp>
          <p:nvSpPr>
            <p:cNvPr id="126231" name="AutoShape 279"/>
            <p:cNvSpPr>
              <a:spLocks noChangeArrowheads="1"/>
            </p:cNvSpPr>
            <p:nvPr/>
          </p:nvSpPr>
          <p:spPr bwMode="auto">
            <a:xfrm>
              <a:off x="4369" y="1016"/>
              <a:ext cx="928" cy="24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400">
                  <a:solidFill>
                    <a:srgbClr val="000000"/>
                  </a:solidFill>
                </a:rPr>
                <a:t>Serveur WINS</a:t>
              </a:r>
              <a:endParaRPr 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126249" name="Group 297"/>
          <p:cNvGrpSpPr>
            <a:grpSpLocks/>
          </p:cNvGrpSpPr>
          <p:nvPr/>
        </p:nvGrpSpPr>
        <p:grpSpPr bwMode="auto">
          <a:xfrm>
            <a:off x="6379271" y="1657813"/>
            <a:ext cx="2096748" cy="1288596"/>
            <a:chOff x="4430" y="1346"/>
            <a:chExt cx="926" cy="514"/>
          </a:xfrm>
        </p:grpSpPr>
        <p:sp>
          <p:nvSpPr>
            <p:cNvPr id="126233" name="Line 281"/>
            <p:cNvSpPr>
              <a:spLocks noChangeShapeType="1"/>
            </p:cNvSpPr>
            <p:nvPr/>
          </p:nvSpPr>
          <p:spPr bwMode="auto">
            <a:xfrm rot="16200000" flipV="1">
              <a:off x="4574" y="1324"/>
              <a:ext cx="0" cy="2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 sz="2200"/>
            </a:p>
          </p:txBody>
        </p:sp>
        <p:sp>
          <p:nvSpPr>
            <p:cNvPr id="126234" name="AutoShape 282"/>
            <p:cNvSpPr>
              <a:spLocks noChangeArrowheads="1"/>
            </p:cNvSpPr>
            <p:nvPr/>
          </p:nvSpPr>
          <p:spPr bwMode="auto">
            <a:xfrm>
              <a:off x="4608" y="1346"/>
              <a:ext cx="748" cy="514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en-GB" sz="2400" dirty="0">
                  <a:solidFill>
                    <a:srgbClr val="000000"/>
                  </a:solidFill>
                </a:rPr>
                <a:t>Base de </a:t>
              </a:r>
              <a:r>
                <a:rPr lang="en-GB" sz="2400" dirty="0" err="1">
                  <a:solidFill>
                    <a:srgbClr val="000000"/>
                  </a:solidFill>
                </a:rPr>
                <a:t>données</a:t>
              </a:r>
              <a:r>
                <a:rPr lang="en-GB" sz="2400" dirty="0">
                  <a:solidFill>
                    <a:srgbClr val="000000"/>
                  </a:solidFill>
                </a:rPr>
                <a:t> WINS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3" name="Groupe 42"/>
          <p:cNvGrpSpPr/>
          <p:nvPr/>
        </p:nvGrpSpPr>
        <p:grpSpPr>
          <a:xfrm>
            <a:off x="2087348" y="2893795"/>
            <a:ext cx="1838617" cy="827314"/>
            <a:chOff x="2087348" y="2893795"/>
            <a:chExt cx="1838617" cy="827314"/>
          </a:xfrm>
        </p:grpSpPr>
        <p:sp>
          <p:nvSpPr>
            <p:cNvPr id="126236" name="Line 284"/>
            <p:cNvSpPr>
              <a:spLocks noChangeShapeType="1"/>
            </p:cNvSpPr>
            <p:nvPr/>
          </p:nvSpPr>
          <p:spPr bwMode="auto">
            <a:xfrm rot="10800000" flipV="1">
              <a:off x="2397069" y="3263909"/>
              <a:ext cx="0" cy="45720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 sz="2200"/>
            </a:p>
          </p:txBody>
        </p:sp>
        <p:sp>
          <p:nvSpPr>
            <p:cNvPr id="126237" name="AutoShape 285"/>
            <p:cNvSpPr>
              <a:spLocks noChangeArrowheads="1"/>
            </p:cNvSpPr>
            <p:nvPr/>
          </p:nvSpPr>
          <p:spPr bwMode="auto">
            <a:xfrm>
              <a:off x="2087348" y="2893795"/>
              <a:ext cx="1838617" cy="3810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400">
                  <a:solidFill>
                    <a:srgbClr val="000000"/>
                  </a:solidFill>
                </a:rPr>
                <a:t>Proxy WINS</a:t>
              </a:r>
              <a:endParaRPr 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126238" name="Group 286"/>
          <p:cNvGrpSpPr>
            <a:grpSpLocks/>
          </p:cNvGrpSpPr>
          <p:nvPr/>
        </p:nvGrpSpPr>
        <p:grpSpPr bwMode="auto">
          <a:xfrm>
            <a:off x="4480618" y="3191338"/>
            <a:ext cx="1883903" cy="719138"/>
            <a:chOff x="3298" y="3207"/>
            <a:chExt cx="832" cy="453"/>
          </a:xfrm>
        </p:grpSpPr>
        <p:sp>
          <p:nvSpPr>
            <p:cNvPr id="126239" name="Line 287"/>
            <p:cNvSpPr>
              <a:spLocks noChangeShapeType="1"/>
            </p:cNvSpPr>
            <p:nvPr/>
          </p:nvSpPr>
          <p:spPr bwMode="auto">
            <a:xfrm flipV="1">
              <a:off x="3714" y="3207"/>
              <a:ext cx="0" cy="2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 sz="2200"/>
            </a:p>
          </p:txBody>
        </p:sp>
        <p:sp>
          <p:nvSpPr>
            <p:cNvPr id="126240" name="AutoShape 288"/>
            <p:cNvSpPr>
              <a:spLocks noChangeArrowheads="1"/>
            </p:cNvSpPr>
            <p:nvPr/>
          </p:nvSpPr>
          <p:spPr bwMode="auto">
            <a:xfrm>
              <a:off x="3298" y="3420"/>
              <a:ext cx="832" cy="24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400">
                  <a:solidFill>
                    <a:srgbClr val="000000"/>
                  </a:solidFill>
                </a:rPr>
                <a:t>Client WINS</a:t>
              </a:r>
              <a:endParaRPr 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116116" y="4347196"/>
            <a:ext cx="8955314" cy="24622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Wingdings" pitchFamily="2" charset="2"/>
              <a:buChar char="§"/>
            </a:pPr>
            <a:r>
              <a:rPr lang="fr-FR" sz="2200" dirty="0" smtClean="0"/>
              <a:t>Traite les requêtes d’inscription de nom provenant des clients WINS</a:t>
            </a:r>
          </a:p>
          <a:p>
            <a:pPr algn="l">
              <a:buFont typeface="Wingdings" pitchFamily="2" charset="2"/>
              <a:buChar char="§"/>
            </a:pPr>
            <a:r>
              <a:rPr lang="fr-FR" sz="2200" dirty="0" smtClean="0"/>
              <a:t>Inscrit les noms et adresses IP du client</a:t>
            </a:r>
          </a:p>
          <a:p>
            <a:pPr algn="l">
              <a:buFont typeface="Wingdings" pitchFamily="2" charset="2"/>
              <a:buChar char="§"/>
            </a:pPr>
            <a:r>
              <a:rPr lang="fr-FR" sz="2200" dirty="0" smtClean="0"/>
              <a:t>Répond aux requêtes de noms NetBIOS soumises par les clients</a:t>
            </a:r>
          </a:p>
          <a:p>
            <a:pPr algn="l">
              <a:buFont typeface="Wingdings" pitchFamily="2" charset="2"/>
              <a:buChar char="§"/>
            </a:pPr>
            <a:r>
              <a:rPr lang="fr-FR" sz="2200" dirty="0" smtClean="0"/>
              <a:t>Renvoie ensuite l’adresse IP d’un nom demandé, si ce dernier figure dans la base de données du serveur</a:t>
            </a:r>
            <a:endParaRPr lang="fr-FR" sz="2200" dirty="0"/>
          </a:p>
        </p:txBody>
      </p:sp>
      <p:sp>
        <p:nvSpPr>
          <p:cNvPr id="44" name="Rectangle 43"/>
          <p:cNvSpPr/>
          <p:nvPr/>
        </p:nvSpPr>
        <p:spPr>
          <a:xfrm>
            <a:off x="116112" y="4439328"/>
            <a:ext cx="8955314" cy="235449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Font typeface="Wingdings" pitchFamily="2" charset="2"/>
              <a:buChar char="§"/>
            </a:pPr>
            <a:r>
              <a:rPr lang="fr-FR" sz="2400" dirty="0" smtClean="0"/>
              <a:t>Ordinateurs que vous pouvez configurer pour utiliser directement un serveur WINS </a:t>
            </a:r>
          </a:p>
          <a:p>
            <a:pPr algn="l">
              <a:spcAft>
                <a:spcPts val="600"/>
              </a:spcAft>
              <a:buFont typeface="Wingdings" pitchFamily="2" charset="2"/>
              <a:buChar char="§"/>
            </a:pPr>
            <a:r>
              <a:rPr lang="fr-FR" sz="2400" dirty="0" smtClean="0"/>
              <a:t> Ces ordinateurs possèdent généralement plusieurs noms NetBIOS qu’ils doivent inscrire pour pouvoir être utilisés sur le réseau</a:t>
            </a:r>
          </a:p>
          <a:p>
            <a:pPr algn="l">
              <a:spcAft>
                <a:spcPts val="600"/>
              </a:spcAft>
            </a:pPr>
            <a:endParaRPr lang="fr-FR" sz="2200" dirty="0"/>
          </a:p>
        </p:txBody>
      </p:sp>
      <p:sp>
        <p:nvSpPr>
          <p:cNvPr id="45" name="Rectangle 44"/>
          <p:cNvSpPr/>
          <p:nvPr/>
        </p:nvSpPr>
        <p:spPr>
          <a:xfrm>
            <a:off x="101602" y="4430939"/>
            <a:ext cx="8955314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Wingdings" pitchFamily="2" charset="2"/>
              <a:buChar char="§"/>
            </a:pPr>
            <a:r>
              <a:rPr lang="fr-FR" sz="2400" dirty="0" smtClean="0"/>
              <a:t>Ordinateur qui contrôle la diffusion des requêtes de noms et répond lorsque les noms ne figurent pas sur le sous-réseau local.</a:t>
            </a:r>
          </a:p>
          <a:p>
            <a:pPr algn="l">
              <a:buFont typeface="Wingdings" pitchFamily="2" charset="2"/>
              <a:buChar char="§"/>
            </a:pPr>
            <a:r>
              <a:rPr lang="fr-FR" sz="2400" dirty="0" smtClean="0"/>
              <a:t>Le proxy communique avec un serveur WINS pour résoudre les noms, puis les met en cache pour une période donnée</a:t>
            </a:r>
            <a:endParaRPr lang="fr-FR" sz="2200" dirty="0"/>
          </a:p>
        </p:txBody>
      </p:sp>
      <p:sp>
        <p:nvSpPr>
          <p:cNvPr id="46" name="Rectangle 45"/>
          <p:cNvSpPr/>
          <p:nvPr/>
        </p:nvSpPr>
        <p:spPr>
          <a:xfrm>
            <a:off x="130630" y="4781906"/>
            <a:ext cx="8955314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fr-FR" sz="2400" dirty="0" smtClean="0"/>
              <a:t>La base de données WINS stocke et réplique les</a:t>
            </a:r>
          </a:p>
          <a:p>
            <a:pPr algn="l"/>
            <a:r>
              <a:rPr lang="fr-FR" sz="2400" dirty="0" smtClean="0"/>
              <a:t>mappages des noms NetBIOS aux adresses IP d’un réseau</a:t>
            </a:r>
            <a:endParaRPr lang="fr-FR" sz="2200" dirty="0"/>
          </a:p>
        </p:txBody>
      </p:sp>
      <p:sp>
        <p:nvSpPr>
          <p:cNvPr id="38" name="Espace réservé du numéro de diapositive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6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26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26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2" grpId="1" animBg="1"/>
      <p:bldP spid="44" grpId="0" animBg="1"/>
      <p:bldP spid="44" grpId="1" animBg="1"/>
      <p:bldP spid="45" grpId="0" animBg="1"/>
      <p:bldP spid="45" grpId="1" animBg="1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8686" y="228600"/>
            <a:ext cx="8766628" cy="758952"/>
          </a:xfrm>
        </p:spPr>
        <p:txBody>
          <a:bodyPr vert="horz" anchor="b">
            <a:normAutofit fontScale="90000"/>
          </a:bodyPr>
          <a:lstStyle/>
          <a:p>
            <a:r>
              <a:rPr lang="fr-FR" b="1" dirty="0" err="1">
                <a:solidFill>
                  <a:srgbClr val="C00000"/>
                </a:solidFill>
              </a:rPr>
              <a:t>Présentation d'un type de nœud NetBIOS</a:t>
            </a:r>
            <a:endParaRPr lang="en-US" b="1" dirty="0" err="1">
              <a:solidFill>
                <a:srgbClr val="C00000"/>
              </a:solidFill>
            </a:endParaRPr>
          </a:p>
        </p:txBody>
      </p:sp>
      <p:graphicFrame>
        <p:nvGraphicFramePr>
          <p:cNvPr id="252007" name="Group 103"/>
          <p:cNvGraphicFramePr>
            <a:graphicFrameLocks noGrp="1"/>
          </p:cNvGraphicFramePr>
          <p:nvPr/>
        </p:nvGraphicFramePr>
        <p:xfrm>
          <a:off x="246737" y="2632527"/>
          <a:ext cx="8694063" cy="4035219"/>
        </p:xfrm>
        <a:graphic>
          <a:graphicData uri="http://schemas.openxmlformats.org/drawingml/2006/table">
            <a:tbl>
              <a:tblPr/>
              <a:tblGrid>
                <a:gridCol w="1390994"/>
                <a:gridCol w="5950424"/>
                <a:gridCol w="1352645"/>
              </a:tblGrid>
              <a:tr h="75444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Type de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nœud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Description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Valeur de Registre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</a:tr>
              <a:tr h="8262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Nœud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B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Méthode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utilisant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les diffusions pour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l'inscription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et la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résolution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noms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4558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Nœud P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Méthode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utilisant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un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serveur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noms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NetBIOS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tel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que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WINS pour la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résolution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 de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noms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NetBIOS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544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Nœud M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Combine</a:t>
                      </a:r>
                      <a:r>
                        <a:rPr kumimoji="0" lang="en-GB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 nœud B et le nœud P, mais fonctionne par défaut comme un nœud B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544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Nœud H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Combine</a:t>
                      </a:r>
                      <a:r>
                        <a:rPr kumimoji="0" lang="en-GB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nœud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P et le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nœud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B,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mais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fonctionne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par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défaut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comme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un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nœud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P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1924" name="AutoShape 2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7715" y="1373188"/>
            <a:ext cx="8752114" cy="11668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r>
              <a:rPr lang="en-GB" sz="2600" dirty="0">
                <a:solidFill>
                  <a:srgbClr val="000000"/>
                </a:solidFill>
              </a:rPr>
              <a:t>Un </a:t>
            </a:r>
            <a:r>
              <a:rPr lang="en-GB" sz="2600" i="1" dirty="0">
                <a:solidFill>
                  <a:srgbClr val="000000"/>
                </a:solidFill>
              </a:rPr>
              <a:t>type de </a:t>
            </a:r>
            <a:r>
              <a:rPr lang="en-GB" sz="2600" i="1" dirty="0" err="1">
                <a:solidFill>
                  <a:srgbClr val="000000"/>
                </a:solidFill>
              </a:rPr>
              <a:t>nœud</a:t>
            </a:r>
            <a:r>
              <a:rPr lang="en-GB" sz="2600" i="1" dirty="0">
                <a:solidFill>
                  <a:srgbClr val="000000"/>
                </a:solidFill>
              </a:rPr>
              <a:t> NetBIOS </a:t>
            </a:r>
            <a:r>
              <a:rPr lang="en-GB" sz="2600" dirty="0" err="1">
                <a:solidFill>
                  <a:srgbClr val="000000"/>
                </a:solidFill>
              </a:rPr>
              <a:t>est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une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méthode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utilisée</a:t>
            </a:r>
            <a:r>
              <a:rPr lang="en-GB" sz="2600" dirty="0">
                <a:solidFill>
                  <a:srgbClr val="000000"/>
                </a:solidFill>
              </a:rPr>
              <a:t> par un </a:t>
            </a:r>
            <a:r>
              <a:rPr lang="en-GB" sz="2600" dirty="0" err="1">
                <a:solidFill>
                  <a:srgbClr val="000000"/>
                </a:solidFill>
              </a:rPr>
              <a:t>ordinateur</a:t>
            </a:r>
            <a:r>
              <a:rPr lang="en-GB" sz="2600" dirty="0">
                <a:solidFill>
                  <a:srgbClr val="000000"/>
                </a:solidFill>
              </a:rPr>
              <a:t> pour </a:t>
            </a:r>
            <a:r>
              <a:rPr lang="en-GB" sz="2600" dirty="0" err="1">
                <a:solidFill>
                  <a:srgbClr val="000000"/>
                </a:solidFill>
              </a:rPr>
              <a:t>résoudre</a:t>
            </a:r>
            <a:r>
              <a:rPr lang="en-GB" sz="2600" dirty="0">
                <a:solidFill>
                  <a:srgbClr val="000000"/>
                </a:solidFill>
              </a:rPr>
              <a:t> un nom NetBIOS en </a:t>
            </a:r>
            <a:r>
              <a:rPr lang="en-GB" sz="2600" dirty="0" err="1">
                <a:solidFill>
                  <a:srgbClr val="000000"/>
                </a:solidFill>
              </a:rPr>
              <a:t>adresse</a:t>
            </a:r>
            <a:r>
              <a:rPr lang="en-GB" sz="2600" dirty="0">
                <a:solidFill>
                  <a:srgbClr val="000000"/>
                </a:solidFill>
              </a:rPr>
              <a:t> IP</a:t>
            </a:r>
            <a:endParaRPr lang="en-US" sz="26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7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5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95536" y="179386"/>
            <a:ext cx="8925636" cy="938212"/>
          </a:xfrm>
        </p:spPr>
        <p:txBody>
          <a:bodyPr vert="horz" anchor="b">
            <a:normAutofit fontScale="90000"/>
          </a:bodyPr>
          <a:lstStyle/>
          <a:p>
            <a:r>
              <a:rPr lang="fr-FR" b="1" dirty="0" err="1">
                <a:solidFill>
                  <a:srgbClr val="C00000"/>
                </a:solidFill>
              </a:rPr>
              <a:t>Comment un client WINS inscrit et libère des noms NetBIOS</a:t>
            </a:r>
            <a:endParaRPr lang="en-US" b="1" dirty="0" err="1">
              <a:solidFill>
                <a:srgbClr val="C00000"/>
              </a:solidFill>
            </a:endParaRPr>
          </a:p>
        </p:txBody>
      </p:sp>
      <p:sp>
        <p:nvSpPr>
          <p:cNvPr id="36210" name="AutoShape 370"/>
          <p:cNvSpPr>
            <a:spLocks noChangeArrowheads="1"/>
          </p:cNvSpPr>
          <p:nvPr/>
        </p:nvSpPr>
        <p:spPr bwMode="auto">
          <a:xfrm>
            <a:off x="247895" y="4217158"/>
            <a:ext cx="8838049" cy="178785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341313" indent="-225425" algn="l">
              <a:lnSpc>
                <a:spcPct val="85000"/>
              </a:lnSpc>
              <a:spcBef>
                <a:spcPct val="30000"/>
              </a:spcBef>
              <a:buSzPct val="80000"/>
              <a:buFontTx/>
              <a:buBlip>
                <a:blip r:embed="rId4"/>
              </a:buBlip>
            </a:pPr>
            <a:r>
              <a:rPr lang="en-GB" sz="2400" dirty="0">
                <a:solidFill>
                  <a:srgbClr val="000000"/>
                </a:solidFill>
              </a:rPr>
              <a:t>Le client WINS </a:t>
            </a:r>
            <a:r>
              <a:rPr lang="en-GB" sz="2400" dirty="0" err="1">
                <a:solidFill>
                  <a:srgbClr val="000000"/>
                </a:solidFill>
              </a:rPr>
              <a:t>envoie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requête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d'inscription</a:t>
            </a:r>
            <a:endParaRPr lang="en-US" sz="2400" dirty="0"/>
          </a:p>
          <a:p>
            <a:pPr marL="341313" indent="-225425" algn="l">
              <a:lnSpc>
                <a:spcPct val="85000"/>
              </a:lnSpc>
              <a:spcBef>
                <a:spcPct val="30000"/>
              </a:spcBef>
              <a:buSzPct val="80000"/>
              <a:buFontTx/>
              <a:buBlip>
                <a:blip r:embed="rId4"/>
              </a:buBlip>
            </a:pPr>
            <a:r>
              <a:rPr lang="en-GB" sz="2400" dirty="0">
                <a:solidFill>
                  <a:srgbClr val="000000"/>
                </a:solidFill>
              </a:rPr>
              <a:t>Le </a:t>
            </a:r>
            <a:r>
              <a:rPr lang="en-GB" sz="2400" dirty="0" err="1">
                <a:solidFill>
                  <a:srgbClr val="000000"/>
                </a:solidFill>
              </a:rPr>
              <a:t>serveur</a:t>
            </a:r>
            <a:r>
              <a:rPr lang="en-GB" sz="2400" dirty="0">
                <a:solidFill>
                  <a:srgbClr val="000000"/>
                </a:solidFill>
              </a:rPr>
              <a:t> WINS </a:t>
            </a:r>
            <a:r>
              <a:rPr lang="en-GB" sz="2400" dirty="0" err="1">
                <a:solidFill>
                  <a:srgbClr val="000000"/>
                </a:solidFill>
              </a:rPr>
              <a:t>renvoie</a:t>
            </a:r>
            <a:r>
              <a:rPr lang="en-GB" sz="2400" dirty="0">
                <a:solidFill>
                  <a:srgbClr val="000000"/>
                </a:solidFill>
              </a:rPr>
              <a:t> un message avec </a:t>
            </a: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valeur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durée</a:t>
            </a:r>
            <a:r>
              <a:rPr lang="en-GB" sz="2400" dirty="0">
                <a:solidFill>
                  <a:srgbClr val="000000"/>
                </a:solidFill>
              </a:rPr>
              <a:t> de vie </a:t>
            </a:r>
            <a:r>
              <a:rPr lang="en-GB" sz="2400" dirty="0" err="1">
                <a:solidFill>
                  <a:srgbClr val="000000"/>
                </a:solidFill>
              </a:rPr>
              <a:t>indiquant</a:t>
            </a:r>
            <a:r>
              <a:rPr lang="en-GB" sz="2400" dirty="0">
                <a:solidFill>
                  <a:srgbClr val="000000"/>
                </a:solidFill>
              </a:rPr>
              <a:t> la date </a:t>
            </a:r>
            <a:r>
              <a:rPr lang="en-GB" sz="2400" dirty="0" err="1">
                <a:solidFill>
                  <a:srgbClr val="000000"/>
                </a:solidFill>
              </a:rPr>
              <a:t>d'expiration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l'inscription</a:t>
            </a:r>
            <a:r>
              <a:rPr lang="en-GB" sz="2400" dirty="0">
                <a:solidFill>
                  <a:srgbClr val="000000"/>
                </a:solidFill>
              </a:rPr>
              <a:t> hors </a:t>
            </a:r>
            <a:r>
              <a:rPr lang="en-GB" sz="2400" dirty="0" err="1">
                <a:solidFill>
                  <a:srgbClr val="000000"/>
                </a:solidFill>
              </a:rPr>
              <a:t>demande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renouvellement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36211" name="AutoShape 371"/>
          <p:cNvSpPr>
            <a:spLocks noChangeArrowheads="1"/>
          </p:cNvSpPr>
          <p:nvPr/>
        </p:nvSpPr>
        <p:spPr bwMode="auto">
          <a:xfrm>
            <a:off x="-56905" y="4878821"/>
            <a:ext cx="457200" cy="45085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3200" dirty="0">
                <a:solidFill>
                  <a:srgbClr val="990033"/>
                </a:solidFill>
              </a:rPr>
              <a:t>1</a:t>
            </a:r>
          </a:p>
        </p:txBody>
      </p:sp>
      <p:sp>
        <p:nvSpPr>
          <p:cNvPr id="36212" name="AutoShape 372"/>
          <p:cNvSpPr>
            <a:spLocks noChangeArrowheads="1"/>
          </p:cNvSpPr>
          <p:nvPr/>
        </p:nvSpPr>
        <p:spPr bwMode="auto">
          <a:xfrm>
            <a:off x="233381" y="4595596"/>
            <a:ext cx="8854254" cy="109855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395288" indent="-220663" algn="l">
              <a:lnSpc>
                <a:spcPct val="85000"/>
              </a:lnSpc>
              <a:spcBef>
                <a:spcPct val="30000"/>
              </a:spcBef>
              <a:buSzPct val="80000"/>
              <a:buFontTx/>
              <a:buBlip>
                <a:blip r:embed="rId4"/>
              </a:buBlip>
            </a:pPr>
            <a:r>
              <a:rPr lang="en-GB" sz="2400">
                <a:solidFill>
                  <a:srgbClr val="000000"/>
                </a:solidFill>
              </a:rPr>
              <a:t>Le client WINS envoie une demande de libération de nom</a:t>
            </a:r>
            <a:endParaRPr lang="en-US" sz="2400"/>
          </a:p>
          <a:p>
            <a:pPr marL="395288" indent="-220663" algn="l">
              <a:lnSpc>
                <a:spcPct val="85000"/>
              </a:lnSpc>
              <a:spcBef>
                <a:spcPct val="30000"/>
              </a:spcBef>
              <a:buSzPct val="80000"/>
              <a:buFontTx/>
              <a:buBlip>
                <a:blip r:embed="rId4"/>
              </a:buBlip>
            </a:pPr>
            <a:r>
              <a:rPr lang="en-GB" sz="2400">
                <a:solidFill>
                  <a:srgbClr val="000000"/>
                </a:solidFill>
              </a:rPr>
              <a:t>Le serveur WINS envoie une réponse de libération de nom positive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36213" name="AutoShape 373"/>
          <p:cNvSpPr>
            <a:spLocks noChangeArrowheads="1"/>
          </p:cNvSpPr>
          <p:nvPr/>
        </p:nvSpPr>
        <p:spPr bwMode="auto">
          <a:xfrm>
            <a:off x="1151" y="4914000"/>
            <a:ext cx="457200" cy="45085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3200">
                <a:solidFill>
                  <a:srgbClr val="990033"/>
                </a:solidFill>
              </a:rPr>
              <a:t>2</a:t>
            </a:r>
          </a:p>
        </p:txBody>
      </p:sp>
      <p:sp>
        <p:nvSpPr>
          <p:cNvPr id="36214" name="AutoShape 374"/>
          <p:cNvSpPr>
            <a:spLocks noChangeArrowheads="1"/>
          </p:cNvSpPr>
          <p:nvPr/>
        </p:nvSpPr>
        <p:spPr bwMode="auto">
          <a:xfrm>
            <a:off x="1288764" y="3267259"/>
            <a:ext cx="1459930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000">
                <a:solidFill>
                  <a:srgbClr val="000000"/>
                </a:solidFill>
              </a:rPr>
              <a:t>Client WINS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36215" name="AutoShape 375"/>
          <p:cNvSpPr>
            <a:spLocks noChangeArrowheads="1"/>
          </p:cNvSpPr>
          <p:nvPr/>
        </p:nvSpPr>
        <p:spPr bwMode="auto">
          <a:xfrm>
            <a:off x="4897152" y="3267259"/>
            <a:ext cx="1596798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000">
                <a:solidFill>
                  <a:srgbClr val="000000"/>
                </a:solidFill>
              </a:rPr>
              <a:t>Serveur WINS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36216" name="Oval 376"/>
          <p:cNvSpPr>
            <a:spLocks noChangeArrowheads="1"/>
          </p:cNvSpPr>
          <p:nvPr/>
        </p:nvSpPr>
        <p:spPr bwMode="auto">
          <a:xfrm>
            <a:off x="930275" y="1901825"/>
            <a:ext cx="2220913" cy="123983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pic>
        <p:nvPicPr>
          <p:cNvPr id="36217" name="Picture 377" descr="Computer_DesktopComputerSansKeyboard0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30338" y="1344613"/>
            <a:ext cx="1347787" cy="1641475"/>
          </a:xfrm>
          <a:prstGeom prst="rect">
            <a:avLst/>
          </a:prstGeom>
          <a:noFill/>
        </p:spPr>
      </p:pic>
      <p:sp>
        <p:nvSpPr>
          <p:cNvPr id="36218" name="Oval 378"/>
          <p:cNvSpPr>
            <a:spLocks noChangeArrowheads="1"/>
          </p:cNvSpPr>
          <p:nvPr/>
        </p:nvSpPr>
        <p:spPr bwMode="auto">
          <a:xfrm>
            <a:off x="4522788" y="1901825"/>
            <a:ext cx="2220912" cy="1239838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6219" name="Group 379"/>
          <p:cNvGrpSpPr>
            <a:grpSpLocks/>
          </p:cNvGrpSpPr>
          <p:nvPr/>
        </p:nvGrpSpPr>
        <p:grpSpPr bwMode="auto">
          <a:xfrm>
            <a:off x="4803775" y="1243013"/>
            <a:ext cx="1741488" cy="1730375"/>
            <a:chOff x="3665" y="1841"/>
            <a:chExt cx="1097" cy="1090"/>
          </a:xfrm>
        </p:grpSpPr>
        <p:pic>
          <p:nvPicPr>
            <p:cNvPr id="36220" name="Picture 380" descr="Server0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665" y="1841"/>
              <a:ext cx="843" cy="1068"/>
            </a:xfrm>
            <a:prstGeom prst="rect">
              <a:avLst/>
            </a:prstGeom>
            <a:noFill/>
          </p:spPr>
        </p:pic>
        <p:pic>
          <p:nvPicPr>
            <p:cNvPr id="36221" name="Picture 381" descr="Database0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174" y="2456"/>
              <a:ext cx="588" cy="475"/>
            </a:xfrm>
            <a:prstGeom prst="rect">
              <a:avLst/>
            </a:prstGeom>
            <a:noFill/>
          </p:spPr>
        </p:pic>
      </p:grpSp>
      <p:grpSp>
        <p:nvGrpSpPr>
          <p:cNvPr id="36222" name="Group 382"/>
          <p:cNvGrpSpPr>
            <a:grpSpLocks/>
          </p:cNvGrpSpPr>
          <p:nvPr/>
        </p:nvGrpSpPr>
        <p:grpSpPr bwMode="auto">
          <a:xfrm>
            <a:off x="5980113" y="1152525"/>
            <a:ext cx="2481716" cy="506413"/>
            <a:chOff x="3960" y="825"/>
            <a:chExt cx="1296" cy="319"/>
          </a:xfrm>
        </p:grpSpPr>
        <p:sp>
          <p:nvSpPr>
            <p:cNvPr id="36223" name="AutoShape 383"/>
            <p:cNvSpPr>
              <a:spLocks noChangeArrowheads="1"/>
            </p:cNvSpPr>
            <p:nvPr/>
          </p:nvSpPr>
          <p:spPr bwMode="auto">
            <a:xfrm>
              <a:off x="3960" y="904"/>
              <a:ext cx="1296" cy="24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000">
                  <a:solidFill>
                    <a:srgbClr val="000000"/>
                  </a:solidFill>
                </a:rPr>
                <a:t>Nom inscrit</a:t>
              </a:r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36224" name="Freeform 384"/>
            <p:cNvSpPr>
              <a:spLocks/>
            </p:cNvSpPr>
            <p:nvPr/>
          </p:nvSpPr>
          <p:spPr bwMode="auto">
            <a:xfrm>
              <a:off x="3984" y="825"/>
              <a:ext cx="269" cy="270"/>
            </a:xfrm>
            <a:custGeom>
              <a:avLst/>
              <a:gdLst/>
              <a:ahLst/>
              <a:cxnLst>
                <a:cxn ang="0">
                  <a:pos x="0" y="229"/>
                </a:cxn>
                <a:cxn ang="0">
                  <a:pos x="123" y="396"/>
                </a:cxn>
                <a:cxn ang="0">
                  <a:pos x="157" y="395"/>
                </a:cxn>
                <a:cxn ang="0">
                  <a:pos x="219" y="309"/>
                </a:cxn>
                <a:cxn ang="0">
                  <a:pos x="237" y="283"/>
                </a:cxn>
                <a:cxn ang="0">
                  <a:pos x="290" y="219"/>
                </a:cxn>
                <a:cxn ang="0">
                  <a:pos x="474" y="0"/>
                </a:cxn>
                <a:cxn ang="0">
                  <a:pos x="341" y="121"/>
                </a:cxn>
                <a:cxn ang="0">
                  <a:pos x="266" y="190"/>
                </a:cxn>
                <a:cxn ang="0">
                  <a:pos x="210" y="249"/>
                </a:cxn>
                <a:cxn ang="0">
                  <a:pos x="137" y="330"/>
                </a:cxn>
                <a:cxn ang="0">
                  <a:pos x="0" y="229"/>
                </a:cxn>
              </a:cxnLst>
              <a:rect l="0" t="0" r="r" b="b"/>
              <a:pathLst>
                <a:path w="474" h="396">
                  <a:moveTo>
                    <a:pt x="0" y="229"/>
                  </a:moveTo>
                  <a:lnTo>
                    <a:pt x="123" y="396"/>
                  </a:lnTo>
                  <a:lnTo>
                    <a:pt x="157" y="395"/>
                  </a:lnTo>
                  <a:lnTo>
                    <a:pt x="219" y="309"/>
                  </a:lnTo>
                  <a:lnTo>
                    <a:pt x="237" y="283"/>
                  </a:lnTo>
                  <a:lnTo>
                    <a:pt x="290" y="219"/>
                  </a:lnTo>
                  <a:lnTo>
                    <a:pt x="474" y="0"/>
                  </a:lnTo>
                  <a:lnTo>
                    <a:pt x="341" y="121"/>
                  </a:lnTo>
                  <a:lnTo>
                    <a:pt x="266" y="190"/>
                  </a:lnTo>
                  <a:lnTo>
                    <a:pt x="210" y="249"/>
                  </a:lnTo>
                  <a:lnTo>
                    <a:pt x="137" y="330"/>
                  </a:lnTo>
                  <a:lnTo>
                    <a:pt x="0" y="229"/>
                  </a:lnTo>
                  <a:close/>
                </a:path>
              </a:pathLst>
            </a:custGeom>
            <a:solidFill>
              <a:srgbClr val="CC0000"/>
            </a:solidFill>
            <a:ln w="63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393192" bIns="27432" anchor="b"/>
            <a:lstStyle/>
            <a:p>
              <a:endParaRPr lang="fr-FR" sz="2000"/>
            </a:p>
          </p:txBody>
        </p:sp>
      </p:grpSp>
      <p:grpSp>
        <p:nvGrpSpPr>
          <p:cNvPr id="36225" name="Group 385"/>
          <p:cNvGrpSpPr>
            <a:grpSpLocks/>
          </p:cNvGrpSpPr>
          <p:nvPr/>
        </p:nvGrpSpPr>
        <p:grpSpPr bwMode="auto">
          <a:xfrm>
            <a:off x="5980113" y="1646238"/>
            <a:ext cx="2481716" cy="482600"/>
            <a:chOff x="3960" y="1176"/>
            <a:chExt cx="1296" cy="304"/>
          </a:xfrm>
        </p:grpSpPr>
        <p:sp>
          <p:nvSpPr>
            <p:cNvPr id="36226" name="AutoShape 386"/>
            <p:cNvSpPr>
              <a:spLocks noChangeArrowheads="1"/>
            </p:cNvSpPr>
            <p:nvPr/>
          </p:nvSpPr>
          <p:spPr bwMode="auto">
            <a:xfrm>
              <a:off x="3960" y="1240"/>
              <a:ext cx="1296" cy="24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2000" dirty="0"/>
                <a:t> </a:t>
              </a:r>
              <a:r>
                <a:rPr lang="en-GB" sz="2000" dirty="0">
                  <a:solidFill>
                    <a:srgbClr val="000000"/>
                  </a:solidFill>
                </a:rPr>
                <a:t>Nom </a:t>
              </a:r>
              <a:r>
                <a:rPr lang="en-GB" sz="2000" dirty="0" err="1">
                  <a:solidFill>
                    <a:srgbClr val="000000"/>
                  </a:solidFill>
                </a:rPr>
                <a:t>libéré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36227" name="Freeform 387"/>
            <p:cNvSpPr>
              <a:spLocks/>
            </p:cNvSpPr>
            <p:nvPr/>
          </p:nvSpPr>
          <p:spPr bwMode="auto">
            <a:xfrm>
              <a:off x="3984" y="1176"/>
              <a:ext cx="269" cy="270"/>
            </a:xfrm>
            <a:custGeom>
              <a:avLst/>
              <a:gdLst/>
              <a:ahLst/>
              <a:cxnLst>
                <a:cxn ang="0">
                  <a:pos x="0" y="229"/>
                </a:cxn>
                <a:cxn ang="0">
                  <a:pos x="123" y="396"/>
                </a:cxn>
                <a:cxn ang="0">
                  <a:pos x="157" y="395"/>
                </a:cxn>
                <a:cxn ang="0">
                  <a:pos x="219" y="309"/>
                </a:cxn>
                <a:cxn ang="0">
                  <a:pos x="237" y="283"/>
                </a:cxn>
                <a:cxn ang="0">
                  <a:pos x="290" y="219"/>
                </a:cxn>
                <a:cxn ang="0">
                  <a:pos x="474" y="0"/>
                </a:cxn>
                <a:cxn ang="0">
                  <a:pos x="341" y="121"/>
                </a:cxn>
                <a:cxn ang="0">
                  <a:pos x="266" y="190"/>
                </a:cxn>
                <a:cxn ang="0">
                  <a:pos x="210" y="249"/>
                </a:cxn>
                <a:cxn ang="0">
                  <a:pos x="137" y="330"/>
                </a:cxn>
                <a:cxn ang="0">
                  <a:pos x="0" y="229"/>
                </a:cxn>
              </a:cxnLst>
              <a:rect l="0" t="0" r="r" b="b"/>
              <a:pathLst>
                <a:path w="474" h="396">
                  <a:moveTo>
                    <a:pt x="0" y="229"/>
                  </a:moveTo>
                  <a:lnTo>
                    <a:pt x="123" y="396"/>
                  </a:lnTo>
                  <a:lnTo>
                    <a:pt x="157" y="395"/>
                  </a:lnTo>
                  <a:lnTo>
                    <a:pt x="219" y="309"/>
                  </a:lnTo>
                  <a:lnTo>
                    <a:pt x="237" y="283"/>
                  </a:lnTo>
                  <a:lnTo>
                    <a:pt x="290" y="219"/>
                  </a:lnTo>
                  <a:lnTo>
                    <a:pt x="474" y="0"/>
                  </a:lnTo>
                  <a:lnTo>
                    <a:pt x="341" y="121"/>
                  </a:lnTo>
                  <a:lnTo>
                    <a:pt x="266" y="190"/>
                  </a:lnTo>
                  <a:lnTo>
                    <a:pt x="210" y="249"/>
                  </a:lnTo>
                  <a:lnTo>
                    <a:pt x="137" y="330"/>
                  </a:lnTo>
                  <a:lnTo>
                    <a:pt x="0" y="229"/>
                  </a:lnTo>
                  <a:close/>
                </a:path>
              </a:pathLst>
            </a:custGeom>
            <a:solidFill>
              <a:srgbClr val="CC0000"/>
            </a:solidFill>
            <a:ln w="63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393192" bIns="27432" anchor="b"/>
            <a:lstStyle/>
            <a:p>
              <a:endParaRPr lang="fr-FR" sz="2000"/>
            </a:p>
          </p:txBody>
        </p:sp>
      </p:grpSp>
      <p:sp>
        <p:nvSpPr>
          <p:cNvPr id="36228" name="Line 388"/>
          <p:cNvSpPr>
            <a:spLocks noChangeShapeType="1"/>
          </p:cNvSpPr>
          <p:nvPr/>
        </p:nvSpPr>
        <p:spPr bwMode="auto">
          <a:xfrm>
            <a:off x="2963863" y="1671638"/>
            <a:ext cx="1712912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229" name="Line 389"/>
          <p:cNvSpPr>
            <a:spLocks noChangeShapeType="1"/>
          </p:cNvSpPr>
          <p:nvPr/>
        </p:nvSpPr>
        <p:spPr bwMode="auto">
          <a:xfrm flipH="1">
            <a:off x="2963863" y="1966913"/>
            <a:ext cx="1712912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6230" name="Group 390"/>
          <p:cNvGrpSpPr>
            <a:grpSpLocks/>
          </p:cNvGrpSpPr>
          <p:nvPr/>
        </p:nvGrpSpPr>
        <p:grpSpPr bwMode="auto">
          <a:xfrm>
            <a:off x="130626" y="6301924"/>
            <a:ext cx="914400" cy="425450"/>
            <a:chOff x="384" y="3024"/>
            <a:chExt cx="720" cy="336"/>
          </a:xfrm>
        </p:grpSpPr>
        <p:sp>
          <p:nvSpPr>
            <p:cNvPr id="36231" name="Oval 391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36232" name="Group 392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36233" name="Oval 393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6234" name="Freeform 394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36235" name="Group 395"/>
          <p:cNvGrpSpPr>
            <a:grpSpLocks/>
          </p:cNvGrpSpPr>
          <p:nvPr/>
        </p:nvGrpSpPr>
        <p:grpSpPr bwMode="auto">
          <a:xfrm>
            <a:off x="617989" y="6392412"/>
            <a:ext cx="304800" cy="244475"/>
            <a:chOff x="768" y="3096"/>
            <a:chExt cx="240" cy="192"/>
          </a:xfrm>
        </p:grpSpPr>
        <p:sp>
          <p:nvSpPr>
            <p:cNvPr id="36236" name="Oval 396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237" name="Rectangle 397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1" name="Espace réservé du numéro de diapositiv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8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3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36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36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36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2" dur="500"/>
                                        <p:tgtEl>
                                          <p:spTgt spid="36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5" dur="500"/>
                                        <p:tgtEl>
                                          <p:spTgt spid="36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000"/>
                                        <p:tgtEl>
                                          <p:spTgt spid="3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10" grpId="0" animBg="1"/>
      <p:bldP spid="36210" grpId="1" animBg="1"/>
      <p:bldP spid="36211" grpId="0" animBg="1"/>
      <p:bldP spid="36211" grpId="1" animBg="1"/>
      <p:bldP spid="36212" grpId="0" animBg="1"/>
      <p:bldP spid="36213" grpId="0" animBg="1"/>
      <p:bldP spid="36228" grpId="0" animBg="1"/>
      <p:bldP spid="36228" grpId="1" animBg="1"/>
      <p:bldP spid="36228" grpId="2" animBg="1"/>
      <p:bldP spid="36229" grpId="0" animBg="1"/>
      <p:bldP spid="36229" grpId="1" animBg="1"/>
      <p:bldP spid="36229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 fontScale="90000"/>
          </a:bodyPr>
          <a:lstStyle/>
          <a:p>
            <a:r>
              <a:rPr lang="fr-FR" sz="3000" b="1" dirty="0" err="1">
                <a:solidFill>
                  <a:srgbClr val="C00000"/>
                </a:solidFill>
              </a:rPr>
              <a:t>Fonctionnement de la prise en charge du traitement en rafale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grpSp>
        <p:nvGrpSpPr>
          <p:cNvPr id="127198" name="Group 222"/>
          <p:cNvGrpSpPr>
            <a:grpSpLocks/>
          </p:cNvGrpSpPr>
          <p:nvPr/>
        </p:nvGrpSpPr>
        <p:grpSpPr bwMode="auto">
          <a:xfrm>
            <a:off x="1122139" y="5419040"/>
            <a:ext cx="6773631" cy="952731"/>
            <a:chOff x="779" y="3250"/>
            <a:chExt cx="4068" cy="509"/>
          </a:xfrm>
        </p:grpSpPr>
        <p:pic>
          <p:nvPicPr>
            <p:cNvPr id="127199" name="Picture 223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455" y="3282"/>
              <a:ext cx="392" cy="477"/>
            </a:xfrm>
            <a:prstGeom prst="rect">
              <a:avLst/>
            </a:prstGeom>
            <a:noFill/>
          </p:spPr>
        </p:pic>
        <p:pic>
          <p:nvPicPr>
            <p:cNvPr id="127200" name="Picture 224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79" y="3250"/>
              <a:ext cx="392" cy="477"/>
            </a:xfrm>
            <a:prstGeom prst="rect">
              <a:avLst/>
            </a:prstGeom>
            <a:noFill/>
          </p:spPr>
        </p:pic>
        <p:pic>
          <p:nvPicPr>
            <p:cNvPr id="127201" name="Picture 225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929" y="3282"/>
              <a:ext cx="392" cy="477"/>
            </a:xfrm>
            <a:prstGeom prst="rect">
              <a:avLst/>
            </a:prstGeom>
            <a:noFill/>
          </p:spPr>
        </p:pic>
        <p:pic>
          <p:nvPicPr>
            <p:cNvPr id="127202" name="Picture 226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404" y="3272"/>
              <a:ext cx="392" cy="477"/>
            </a:xfrm>
            <a:prstGeom prst="rect">
              <a:avLst/>
            </a:prstGeom>
            <a:noFill/>
          </p:spPr>
        </p:pic>
        <p:pic>
          <p:nvPicPr>
            <p:cNvPr id="127203" name="Picture 227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79" y="3269"/>
              <a:ext cx="392" cy="477"/>
            </a:xfrm>
            <a:prstGeom prst="rect">
              <a:avLst/>
            </a:prstGeom>
            <a:noFill/>
          </p:spPr>
        </p:pic>
        <p:pic>
          <p:nvPicPr>
            <p:cNvPr id="127204" name="Picture 228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354" y="3277"/>
              <a:ext cx="392" cy="477"/>
            </a:xfrm>
            <a:prstGeom prst="rect">
              <a:avLst/>
            </a:prstGeom>
            <a:noFill/>
          </p:spPr>
        </p:pic>
        <p:pic>
          <p:nvPicPr>
            <p:cNvPr id="127205" name="Picture 229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829" y="3253"/>
              <a:ext cx="392" cy="477"/>
            </a:xfrm>
            <a:prstGeom prst="rect">
              <a:avLst/>
            </a:prstGeom>
            <a:noFill/>
          </p:spPr>
        </p:pic>
        <p:pic>
          <p:nvPicPr>
            <p:cNvPr id="127206" name="Picture 230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304" y="3250"/>
              <a:ext cx="392" cy="477"/>
            </a:xfrm>
            <a:prstGeom prst="rect">
              <a:avLst/>
            </a:prstGeom>
            <a:noFill/>
          </p:spPr>
        </p:pic>
      </p:grpSp>
      <p:grpSp>
        <p:nvGrpSpPr>
          <p:cNvPr id="127207" name="Group 231"/>
          <p:cNvGrpSpPr>
            <a:grpSpLocks/>
          </p:cNvGrpSpPr>
          <p:nvPr/>
        </p:nvGrpSpPr>
        <p:grpSpPr bwMode="auto">
          <a:xfrm>
            <a:off x="1747615" y="3993465"/>
            <a:ext cx="5310188" cy="1471612"/>
            <a:chOff x="1238" y="2351"/>
            <a:chExt cx="3345" cy="927"/>
          </a:xfrm>
        </p:grpSpPr>
        <p:sp>
          <p:nvSpPr>
            <p:cNvPr id="127208" name="Line 232"/>
            <p:cNvSpPr>
              <a:spLocks noChangeShapeType="1"/>
            </p:cNvSpPr>
            <p:nvPr/>
          </p:nvSpPr>
          <p:spPr bwMode="auto">
            <a:xfrm flipV="1">
              <a:off x="1238" y="2396"/>
              <a:ext cx="1238" cy="88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09" name="Line 233"/>
            <p:cNvSpPr>
              <a:spLocks noChangeShapeType="1"/>
            </p:cNvSpPr>
            <p:nvPr/>
          </p:nvSpPr>
          <p:spPr bwMode="auto">
            <a:xfrm flipV="1">
              <a:off x="1822" y="2521"/>
              <a:ext cx="747" cy="75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10" name="Line 234"/>
            <p:cNvSpPr>
              <a:spLocks noChangeShapeType="1"/>
            </p:cNvSpPr>
            <p:nvPr/>
          </p:nvSpPr>
          <p:spPr bwMode="auto">
            <a:xfrm flipV="1">
              <a:off x="2305" y="2542"/>
              <a:ext cx="397" cy="71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11" name="Line 235"/>
            <p:cNvSpPr>
              <a:spLocks noChangeShapeType="1"/>
            </p:cNvSpPr>
            <p:nvPr/>
          </p:nvSpPr>
          <p:spPr bwMode="auto">
            <a:xfrm flipV="1">
              <a:off x="2758" y="2592"/>
              <a:ext cx="81" cy="67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12" name="Line 236"/>
            <p:cNvSpPr>
              <a:spLocks noChangeShapeType="1"/>
            </p:cNvSpPr>
            <p:nvPr/>
          </p:nvSpPr>
          <p:spPr bwMode="auto">
            <a:xfrm flipH="1" flipV="1">
              <a:off x="2985" y="2586"/>
              <a:ext cx="134" cy="65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13" name="Line 237"/>
            <p:cNvSpPr>
              <a:spLocks noChangeShapeType="1"/>
            </p:cNvSpPr>
            <p:nvPr/>
          </p:nvSpPr>
          <p:spPr bwMode="auto">
            <a:xfrm flipH="1" flipV="1">
              <a:off x="3120" y="2563"/>
              <a:ext cx="530" cy="68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14" name="Line 238"/>
            <p:cNvSpPr>
              <a:spLocks noChangeShapeType="1"/>
            </p:cNvSpPr>
            <p:nvPr/>
          </p:nvSpPr>
          <p:spPr bwMode="auto">
            <a:xfrm flipH="1" flipV="1">
              <a:off x="3242" y="2465"/>
              <a:ext cx="840" cy="76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15" name="Line 239"/>
            <p:cNvSpPr>
              <a:spLocks noChangeShapeType="1"/>
            </p:cNvSpPr>
            <p:nvPr/>
          </p:nvSpPr>
          <p:spPr bwMode="auto">
            <a:xfrm flipH="1" flipV="1">
              <a:off x="3373" y="2351"/>
              <a:ext cx="1210" cy="86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</p:grpSp>
      <p:grpSp>
        <p:nvGrpSpPr>
          <p:cNvPr id="127225" name="Group 249"/>
          <p:cNvGrpSpPr>
            <a:grpSpLocks/>
          </p:cNvGrpSpPr>
          <p:nvPr/>
        </p:nvGrpSpPr>
        <p:grpSpPr bwMode="auto">
          <a:xfrm>
            <a:off x="5782473" y="3091765"/>
            <a:ext cx="3143820" cy="482600"/>
            <a:chOff x="3796" y="1873"/>
            <a:chExt cx="1469" cy="304"/>
          </a:xfrm>
        </p:grpSpPr>
        <p:sp>
          <p:nvSpPr>
            <p:cNvPr id="127226" name="AutoShape 250"/>
            <p:cNvSpPr>
              <a:spLocks noChangeArrowheads="1"/>
            </p:cNvSpPr>
            <p:nvPr/>
          </p:nvSpPr>
          <p:spPr bwMode="auto">
            <a:xfrm>
              <a:off x="3969" y="1873"/>
              <a:ext cx="1296" cy="304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182880" anchor="ctr"/>
            <a:lstStyle/>
            <a:p>
              <a:pPr algn="l"/>
              <a:r>
                <a:rPr lang="en-GB" sz="2400">
                  <a:solidFill>
                    <a:srgbClr val="000000"/>
                  </a:solidFill>
                </a:rPr>
                <a:t>Requête à inscrire</a:t>
              </a:r>
              <a:endParaRPr lang="en-US" sz="2400">
                <a:solidFill>
                  <a:srgbClr val="000000"/>
                </a:solidFill>
              </a:endParaRPr>
            </a:p>
          </p:txBody>
        </p:sp>
        <p:sp>
          <p:nvSpPr>
            <p:cNvPr id="127227" name="AutoShape 251"/>
            <p:cNvSpPr>
              <a:spLocks noChangeArrowheads="1"/>
            </p:cNvSpPr>
            <p:nvPr/>
          </p:nvSpPr>
          <p:spPr bwMode="auto">
            <a:xfrm>
              <a:off x="3796" y="1913"/>
              <a:ext cx="204" cy="22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127228" name="Group 252"/>
          <p:cNvGrpSpPr>
            <a:grpSpLocks/>
          </p:cNvGrpSpPr>
          <p:nvPr/>
        </p:nvGrpSpPr>
        <p:grpSpPr bwMode="auto">
          <a:xfrm>
            <a:off x="5795312" y="3777565"/>
            <a:ext cx="3137399" cy="482600"/>
            <a:chOff x="3802" y="2305"/>
            <a:chExt cx="1466" cy="304"/>
          </a:xfrm>
        </p:grpSpPr>
        <p:sp>
          <p:nvSpPr>
            <p:cNvPr id="127229" name="AutoShape 253"/>
            <p:cNvSpPr>
              <a:spLocks noChangeArrowheads="1"/>
            </p:cNvSpPr>
            <p:nvPr/>
          </p:nvSpPr>
          <p:spPr bwMode="auto">
            <a:xfrm>
              <a:off x="3969" y="2305"/>
              <a:ext cx="1299" cy="304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182880" anchor="ctr"/>
            <a:lstStyle/>
            <a:p>
              <a:pPr algn="l"/>
              <a:r>
                <a:rPr lang="en-US" sz="2400"/>
                <a:t> </a:t>
              </a:r>
              <a:r>
                <a:rPr lang="en-GB" sz="2400">
                  <a:solidFill>
                    <a:srgbClr val="000000"/>
                  </a:solidFill>
                </a:rPr>
                <a:t>Inscrite</a:t>
              </a:r>
              <a:endParaRPr lang="en-US" sz="2400">
                <a:solidFill>
                  <a:srgbClr val="000000"/>
                </a:solidFill>
              </a:endParaRPr>
            </a:p>
          </p:txBody>
        </p:sp>
        <p:sp>
          <p:nvSpPr>
            <p:cNvPr id="127230" name="AutoShape 254"/>
            <p:cNvSpPr>
              <a:spLocks noChangeArrowheads="1"/>
            </p:cNvSpPr>
            <p:nvPr/>
          </p:nvSpPr>
          <p:spPr bwMode="auto">
            <a:xfrm>
              <a:off x="3802" y="2349"/>
              <a:ext cx="204" cy="22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 dirty="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127236" name="Group 260"/>
          <p:cNvGrpSpPr>
            <a:grpSpLocks/>
          </p:cNvGrpSpPr>
          <p:nvPr/>
        </p:nvGrpSpPr>
        <p:grpSpPr bwMode="auto">
          <a:xfrm>
            <a:off x="391890" y="6312802"/>
            <a:ext cx="914400" cy="425450"/>
            <a:chOff x="384" y="3024"/>
            <a:chExt cx="720" cy="336"/>
          </a:xfrm>
        </p:grpSpPr>
        <p:sp>
          <p:nvSpPr>
            <p:cNvPr id="127237" name="Oval 261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27238" name="Group 262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127239" name="Oval 263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27240" name="Freeform 264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27241" name="Group 265"/>
          <p:cNvGrpSpPr>
            <a:grpSpLocks/>
          </p:cNvGrpSpPr>
          <p:nvPr/>
        </p:nvGrpSpPr>
        <p:grpSpPr bwMode="auto">
          <a:xfrm>
            <a:off x="879253" y="6403290"/>
            <a:ext cx="304800" cy="244475"/>
            <a:chOff x="768" y="3096"/>
            <a:chExt cx="240" cy="192"/>
          </a:xfrm>
        </p:grpSpPr>
        <p:sp>
          <p:nvSpPr>
            <p:cNvPr id="127242" name="Oval 266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7243" name="Rectangle 267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7095" name="AutoShape 11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4171" y="1308100"/>
            <a:ext cx="8969829" cy="123348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/>
            <a:r>
              <a:rPr lang="en-GB" sz="2400">
                <a:solidFill>
                  <a:srgbClr val="000000"/>
                </a:solidFill>
              </a:rPr>
              <a:t>La</a:t>
            </a:r>
            <a:r>
              <a:rPr lang="en-GB" sz="2400" i="1">
                <a:solidFill>
                  <a:srgbClr val="000000"/>
                </a:solidFill>
              </a:rPr>
              <a:t> prise en charge du traitement en rafale</a:t>
            </a:r>
            <a:r>
              <a:rPr lang="en-GB" sz="2400">
                <a:solidFill>
                  <a:srgbClr val="000000"/>
                </a:solidFill>
              </a:rPr>
              <a:t> est la réponse d'un serveur WINS face à un grand nombre de clients WINS qui tentent d'y inscrire simultanément leurs noms locaux</a:t>
            </a:r>
            <a:endParaRPr lang="en-US" sz="2400"/>
          </a:p>
        </p:txBody>
      </p:sp>
      <p:grpSp>
        <p:nvGrpSpPr>
          <p:cNvPr id="127231" name="Group 255"/>
          <p:cNvGrpSpPr>
            <a:grpSpLocks/>
          </p:cNvGrpSpPr>
          <p:nvPr/>
        </p:nvGrpSpPr>
        <p:grpSpPr bwMode="auto">
          <a:xfrm>
            <a:off x="3353713" y="2496455"/>
            <a:ext cx="2147203" cy="1746245"/>
            <a:chOff x="2159" y="1562"/>
            <a:chExt cx="1092" cy="890"/>
          </a:xfrm>
        </p:grpSpPr>
        <p:sp>
          <p:nvSpPr>
            <p:cNvPr id="127232" name="Oval 256"/>
            <p:cNvSpPr>
              <a:spLocks noChangeArrowheads="1"/>
            </p:cNvSpPr>
            <p:nvPr/>
          </p:nvSpPr>
          <p:spPr bwMode="auto">
            <a:xfrm>
              <a:off x="2159" y="1815"/>
              <a:ext cx="1092" cy="63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27233" name="Group 257"/>
            <p:cNvGrpSpPr>
              <a:grpSpLocks/>
            </p:cNvGrpSpPr>
            <p:nvPr/>
          </p:nvGrpSpPr>
          <p:grpSpPr bwMode="auto">
            <a:xfrm>
              <a:off x="2298" y="1562"/>
              <a:ext cx="815" cy="810"/>
              <a:chOff x="3665" y="1841"/>
              <a:chExt cx="1097" cy="1090"/>
            </a:xfrm>
          </p:grpSpPr>
          <p:pic>
            <p:nvPicPr>
              <p:cNvPr id="127234" name="Picture 258" descr="Serv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665" y="1841"/>
                <a:ext cx="843" cy="1068"/>
              </a:xfrm>
              <a:prstGeom prst="rect">
                <a:avLst/>
              </a:prstGeom>
              <a:noFill/>
            </p:spPr>
          </p:pic>
          <p:pic>
            <p:nvPicPr>
              <p:cNvPr id="127235" name="Picture 259" descr="Database01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4174" y="2456"/>
                <a:ext cx="588" cy="47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50" name="Espace réservé du numéro de diapositive 4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pSp>
        <p:nvGrpSpPr>
          <p:cNvPr id="127216" name="Group 240"/>
          <p:cNvGrpSpPr>
            <a:grpSpLocks/>
          </p:cNvGrpSpPr>
          <p:nvPr/>
        </p:nvGrpSpPr>
        <p:grpSpPr bwMode="auto">
          <a:xfrm>
            <a:off x="1641253" y="4009340"/>
            <a:ext cx="5303837" cy="1416050"/>
            <a:chOff x="1171" y="2361"/>
            <a:chExt cx="3341" cy="892"/>
          </a:xfrm>
        </p:grpSpPr>
        <p:sp>
          <p:nvSpPr>
            <p:cNvPr id="127217" name="Line 241"/>
            <p:cNvSpPr>
              <a:spLocks noChangeShapeType="1"/>
            </p:cNvSpPr>
            <p:nvPr/>
          </p:nvSpPr>
          <p:spPr bwMode="auto">
            <a:xfrm flipH="1">
              <a:off x="1171" y="2361"/>
              <a:ext cx="1251" cy="88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18" name="Line 242"/>
            <p:cNvSpPr>
              <a:spLocks noChangeShapeType="1"/>
            </p:cNvSpPr>
            <p:nvPr/>
          </p:nvSpPr>
          <p:spPr bwMode="auto">
            <a:xfrm flipH="1">
              <a:off x="1756" y="2465"/>
              <a:ext cx="777" cy="7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19" name="Line 243"/>
            <p:cNvSpPr>
              <a:spLocks noChangeShapeType="1"/>
            </p:cNvSpPr>
            <p:nvPr/>
          </p:nvSpPr>
          <p:spPr bwMode="auto">
            <a:xfrm flipH="1">
              <a:off x="2248" y="2519"/>
              <a:ext cx="402" cy="7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20" name="Line 244"/>
            <p:cNvSpPr>
              <a:spLocks noChangeShapeType="1"/>
            </p:cNvSpPr>
            <p:nvPr/>
          </p:nvSpPr>
          <p:spPr bwMode="auto">
            <a:xfrm flipH="1">
              <a:off x="2686" y="2554"/>
              <a:ext cx="91" cy="69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21" name="Line 245"/>
            <p:cNvSpPr>
              <a:spLocks noChangeShapeType="1"/>
            </p:cNvSpPr>
            <p:nvPr/>
          </p:nvSpPr>
          <p:spPr bwMode="auto">
            <a:xfrm>
              <a:off x="2914" y="2583"/>
              <a:ext cx="107" cy="6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22" name="Line 246"/>
            <p:cNvSpPr>
              <a:spLocks noChangeShapeType="1"/>
            </p:cNvSpPr>
            <p:nvPr/>
          </p:nvSpPr>
          <p:spPr bwMode="auto">
            <a:xfrm>
              <a:off x="3050" y="2575"/>
              <a:ext cx="510" cy="67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23" name="Line 247"/>
            <p:cNvSpPr>
              <a:spLocks noChangeShapeType="1"/>
            </p:cNvSpPr>
            <p:nvPr/>
          </p:nvSpPr>
          <p:spPr bwMode="auto">
            <a:xfrm>
              <a:off x="3183" y="2502"/>
              <a:ext cx="801" cy="74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27224" name="Line 248"/>
            <p:cNvSpPr>
              <a:spLocks noChangeShapeType="1"/>
            </p:cNvSpPr>
            <p:nvPr/>
          </p:nvSpPr>
          <p:spPr bwMode="auto">
            <a:xfrm>
              <a:off x="3325" y="2392"/>
              <a:ext cx="1187" cy="85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2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2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2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27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2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5" name="Rectangle 5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5057" y="339043"/>
            <a:ext cx="8741229" cy="684212"/>
          </a:xfrm>
        </p:spPr>
        <p:txBody>
          <a:bodyPr vert="horz" anchor="b">
            <a:normAutofit fontScale="90000"/>
          </a:bodyPr>
          <a:lstStyle/>
          <a:p>
            <a:r>
              <a:rPr lang="en-GB" sz="3000" b="1" dirty="0" err="1">
                <a:solidFill>
                  <a:srgbClr val="C00000"/>
                </a:solidFill>
              </a:rPr>
              <a:t>Comment un serveur WINS résout les noms </a:t>
            </a:r>
            <a:br>
              <a:rPr lang="en-GB" sz="3000" b="1" dirty="0" err="1">
                <a:solidFill>
                  <a:srgbClr val="C00000"/>
                </a:solidFill>
              </a:rPr>
            </a:br>
            <a:r>
              <a:rPr lang="en-GB" sz="3000" b="1" dirty="0" err="1">
                <a:solidFill>
                  <a:srgbClr val="C00000"/>
                </a:solidFill>
              </a:rPr>
              <a:t>NetBIOS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sp>
        <p:nvSpPr>
          <p:cNvPr id="276599" name="Freeform 119"/>
          <p:cNvSpPr>
            <a:spLocks/>
          </p:cNvSpPr>
          <p:nvPr/>
        </p:nvSpPr>
        <p:spPr bwMode="auto">
          <a:xfrm>
            <a:off x="3041650" y="2279650"/>
            <a:ext cx="2857500" cy="1687513"/>
          </a:xfrm>
          <a:custGeom>
            <a:avLst/>
            <a:gdLst/>
            <a:ahLst/>
            <a:cxnLst>
              <a:cxn ang="0">
                <a:pos x="0" y="374"/>
              </a:cxn>
              <a:cxn ang="0">
                <a:pos x="1800" y="0"/>
              </a:cxn>
              <a:cxn ang="0">
                <a:pos x="1345" y="1063"/>
              </a:cxn>
              <a:cxn ang="0">
                <a:pos x="0" y="374"/>
              </a:cxn>
            </a:cxnLst>
            <a:rect l="0" t="0" r="r" b="b"/>
            <a:pathLst>
              <a:path w="1800" h="1063">
                <a:moveTo>
                  <a:pt x="0" y="374"/>
                </a:moveTo>
                <a:lnTo>
                  <a:pt x="1800" y="0"/>
                </a:lnTo>
                <a:lnTo>
                  <a:pt x="1345" y="1063"/>
                </a:lnTo>
                <a:lnTo>
                  <a:pt x="0" y="374"/>
                </a:lnTo>
                <a:close/>
              </a:path>
            </a:pathLst>
          </a:custGeom>
          <a:noFill/>
          <a:ln w="57150" cap="flat" cmpd="sng">
            <a:solidFill>
              <a:srgbClr val="808080"/>
            </a:solidFill>
            <a:prstDash val="sysDot"/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276600" name="Oval 120"/>
          <p:cNvSpPr>
            <a:spLocks noChangeArrowheads="1"/>
          </p:cNvSpPr>
          <p:nvPr/>
        </p:nvSpPr>
        <p:spPr bwMode="auto">
          <a:xfrm>
            <a:off x="4781550" y="1816100"/>
            <a:ext cx="2216150" cy="1068388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es-ES"/>
          </a:p>
        </p:txBody>
      </p:sp>
      <p:grpSp>
        <p:nvGrpSpPr>
          <p:cNvPr id="276601" name="Group 121"/>
          <p:cNvGrpSpPr>
            <a:grpSpLocks/>
          </p:cNvGrpSpPr>
          <p:nvPr/>
        </p:nvGrpSpPr>
        <p:grpSpPr bwMode="auto">
          <a:xfrm>
            <a:off x="5243513" y="1311275"/>
            <a:ext cx="1293812" cy="1287463"/>
            <a:chOff x="3665" y="1841"/>
            <a:chExt cx="1097" cy="1090"/>
          </a:xfrm>
        </p:grpSpPr>
        <p:pic>
          <p:nvPicPr>
            <p:cNvPr id="276602" name="Picture 122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65" y="1841"/>
              <a:ext cx="843" cy="1068"/>
            </a:xfrm>
            <a:prstGeom prst="rect">
              <a:avLst/>
            </a:prstGeom>
            <a:noFill/>
          </p:spPr>
        </p:pic>
        <p:pic>
          <p:nvPicPr>
            <p:cNvPr id="276603" name="Picture 123" descr="Database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174" y="2456"/>
              <a:ext cx="588" cy="475"/>
            </a:xfrm>
            <a:prstGeom prst="rect">
              <a:avLst/>
            </a:prstGeom>
            <a:noFill/>
          </p:spPr>
        </p:pic>
      </p:grpSp>
      <p:sp>
        <p:nvSpPr>
          <p:cNvPr id="276604" name="Text Box 124"/>
          <p:cNvSpPr txBox="1">
            <a:spLocks noChangeArrowheads="1"/>
          </p:cNvSpPr>
          <p:nvPr/>
        </p:nvSpPr>
        <p:spPr bwMode="auto">
          <a:xfrm>
            <a:off x="4678363" y="2533650"/>
            <a:ext cx="1722437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Sous-réseau 2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276605" name="Oval 125"/>
          <p:cNvSpPr>
            <a:spLocks noChangeArrowheads="1"/>
          </p:cNvSpPr>
          <p:nvPr/>
        </p:nvSpPr>
        <p:spPr bwMode="auto">
          <a:xfrm>
            <a:off x="1549400" y="2306638"/>
            <a:ext cx="2216150" cy="1068387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es-ES"/>
          </a:p>
        </p:txBody>
      </p:sp>
      <p:pic>
        <p:nvPicPr>
          <p:cNvPr id="276606" name="Picture 126" descr="Computer_DesktopComputerSansKeyboard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16163" y="1887538"/>
            <a:ext cx="968375" cy="1179512"/>
          </a:xfrm>
          <a:prstGeom prst="rect">
            <a:avLst/>
          </a:prstGeom>
          <a:noFill/>
        </p:spPr>
      </p:pic>
      <p:sp>
        <p:nvSpPr>
          <p:cNvPr id="276607" name="Text Box 127"/>
          <p:cNvSpPr txBox="1">
            <a:spLocks noChangeArrowheads="1"/>
          </p:cNvSpPr>
          <p:nvPr/>
        </p:nvSpPr>
        <p:spPr bwMode="auto">
          <a:xfrm>
            <a:off x="1063625" y="2900363"/>
            <a:ext cx="191481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Sous-réseau 1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276608" name="Oval 128"/>
          <p:cNvSpPr>
            <a:spLocks noChangeArrowheads="1"/>
          </p:cNvSpPr>
          <p:nvPr/>
        </p:nvSpPr>
        <p:spPr bwMode="auto">
          <a:xfrm>
            <a:off x="3957638" y="3470275"/>
            <a:ext cx="2384425" cy="1068388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es-ES"/>
          </a:p>
        </p:txBody>
      </p:sp>
      <p:grpSp>
        <p:nvGrpSpPr>
          <p:cNvPr id="276609" name="Group 129"/>
          <p:cNvGrpSpPr>
            <a:grpSpLocks/>
          </p:cNvGrpSpPr>
          <p:nvPr/>
        </p:nvGrpSpPr>
        <p:grpSpPr bwMode="auto">
          <a:xfrm>
            <a:off x="4173538" y="3117850"/>
            <a:ext cx="1241425" cy="1235075"/>
            <a:chOff x="3665" y="1841"/>
            <a:chExt cx="1097" cy="1090"/>
          </a:xfrm>
        </p:grpSpPr>
        <p:pic>
          <p:nvPicPr>
            <p:cNvPr id="276610" name="Picture 130" descr="Server0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665" y="1841"/>
              <a:ext cx="843" cy="1068"/>
            </a:xfrm>
            <a:prstGeom prst="rect">
              <a:avLst/>
            </a:prstGeom>
            <a:noFill/>
          </p:spPr>
        </p:pic>
        <p:pic>
          <p:nvPicPr>
            <p:cNvPr id="276611" name="Picture 131" descr="Database0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174" y="2456"/>
              <a:ext cx="588" cy="475"/>
            </a:xfrm>
            <a:prstGeom prst="rect">
              <a:avLst/>
            </a:prstGeom>
            <a:noFill/>
          </p:spPr>
        </p:pic>
      </p:grpSp>
      <p:sp>
        <p:nvSpPr>
          <p:cNvPr id="276612" name="Text Box 132"/>
          <p:cNvSpPr txBox="1">
            <a:spLocks noChangeArrowheads="1"/>
          </p:cNvSpPr>
          <p:nvPr/>
        </p:nvSpPr>
        <p:spPr bwMode="auto">
          <a:xfrm>
            <a:off x="5368925" y="3846513"/>
            <a:ext cx="175120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 dirty="0" err="1">
                <a:solidFill>
                  <a:srgbClr val="000000"/>
                </a:solidFill>
              </a:rPr>
              <a:t>Sous-réseau</a:t>
            </a:r>
            <a:r>
              <a:rPr lang="en-GB" sz="2000" dirty="0">
                <a:solidFill>
                  <a:srgbClr val="000000"/>
                </a:solidFill>
              </a:rPr>
              <a:t> 2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76613" name="AutoShape 133"/>
          <p:cNvSpPr>
            <a:spLocks noChangeArrowheads="1"/>
          </p:cNvSpPr>
          <p:nvPr/>
        </p:nvSpPr>
        <p:spPr bwMode="auto">
          <a:xfrm>
            <a:off x="6239556" y="1423988"/>
            <a:ext cx="1990044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200">
                <a:solidFill>
                  <a:srgbClr val="000000"/>
                </a:solidFill>
              </a:rPr>
              <a:t>Serveur WINS A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276614" name="AutoShape 134"/>
          <p:cNvSpPr>
            <a:spLocks noChangeArrowheads="1"/>
          </p:cNvSpPr>
          <p:nvPr/>
        </p:nvSpPr>
        <p:spPr bwMode="auto">
          <a:xfrm>
            <a:off x="5227638" y="3306763"/>
            <a:ext cx="1990044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200">
                <a:solidFill>
                  <a:srgbClr val="000000"/>
                </a:solidFill>
              </a:rPr>
              <a:t>Serveur WINS B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276615" name="AutoShape 135"/>
          <p:cNvSpPr>
            <a:spLocks noChangeArrowheads="1"/>
          </p:cNvSpPr>
          <p:nvPr/>
        </p:nvSpPr>
        <p:spPr bwMode="auto">
          <a:xfrm>
            <a:off x="1416050" y="1898650"/>
            <a:ext cx="1025114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200">
                <a:solidFill>
                  <a:srgbClr val="000000"/>
                </a:solidFill>
              </a:rPr>
              <a:t>ClientA</a:t>
            </a:r>
            <a:endParaRPr lang="en-US" sz="2200">
              <a:solidFill>
                <a:srgbClr val="000000"/>
              </a:solidFill>
            </a:endParaRPr>
          </a:p>
        </p:txBody>
      </p:sp>
      <p:grpSp>
        <p:nvGrpSpPr>
          <p:cNvPr id="276616" name="Group 136"/>
          <p:cNvGrpSpPr>
            <a:grpSpLocks/>
          </p:cNvGrpSpPr>
          <p:nvPr/>
        </p:nvGrpSpPr>
        <p:grpSpPr bwMode="auto">
          <a:xfrm>
            <a:off x="-1" y="4455429"/>
            <a:ext cx="8969829" cy="593724"/>
            <a:chOff x="908" y="2898"/>
            <a:chExt cx="4032" cy="374"/>
          </a:xfrm>
        </p:grpSpPr>
        <p:sp>
          <p:nvSpPr>
            <p:cNvPr id="276617" name="AutoShape 137"/>
            <p:cNvSpPr>
              <a:spLocks noChangeArrowheads="1"/>
            </p:cNvSpPr>
            <p:nvPr/>
          </p:nvSpPr>
          <p:spPr bwMode="auto">
            <a:xfrm>
              <a:off x="1024" y="2898"/>
              <a:ext cx="3916" cy="374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200" dirty="0">
                  <a:solidFill>
                    <a:srgbClr val="000000"/>
                  </a:solidFill>
                </a:rPr>
                <a:t>Le client </a:t>
              </a:r>
              <a:r>
                <a:rPr lang="en-GB" sz="2200" dirty="0" err="1">
                  <a:solidFill>
                    <a:srgbClr val="000000"/>
                  </a:solidFill>
                </a:rPr>
                <a:t>tente</a:t>
              </a:r>
              <a:r>
                <a:rPr lang="en-GB" sz="2200" dirty="0">
                  <a:solidFill>
                    <a:srgbClr val="000000"/>
                  </a:solidFill>
                </a:rPr>
                <a:t> par 3 </a:t>
              </a:r>
              <a:r>
                <a:rPr lang="en-GB" sz="2200" dirty="0" err="1">
                  <a:solidFill>
                    <a:srgbClr val="000000"/>
                  </a:solidFill>
                </a:rPr>
                <a:t>fois</a:t>
              </a:r>
              <a:r>
                <a:rPr lang="en-GB" sz="2200" dirty="0">
                  <a:solidFill>
                    <a:srgbClr val="000000"/>
                  </a:solidFill>
                </a:rPr>
                <a:t> de </a:t>
              </a:r>
              <a:r>
                <a:rPr lang="en-GB" sz="2200" dirty="0" err="1">
                  <a:solidFill>
                    <a:srgbClr val="000000"/>
                  </a:solidFill>
                </a:rPr>
                <a:t>contacter</a:t>
              </a:r>
              <a:r>
                <a:rPr lang="en-GB" sz="2200" dirty="0">
                  <a:solidFill>
                    <a:srgbClr val="000000"/>
                  </a:solidFill>
                </a:rPr>
                <a:t> le </a:t>
              </a:r>
              <a:r>
                <a:rPr lang="en-GB" sz="2200" dirty="0" err="1">
                  <a:solidFill>
                    <a:srgbClr val="000000"/>
                  </a:solidFill>
                </a:rPr>
                <a:t>serveur</a:t>
              </a:r>
              <a:r>
                <a:rPr lang="en-GB" sz="2200" dirty="0">
                  <a:solidFill>
                    <a:srgbClr val="000000"/>
                  </a:solidFill>
                </a:rPr>
                <a:t> WINS, </a:t>
              </a:r>
              <a:r>
                <a:rPr lang="en-GB" sz="2200" dirty="0" err="1">
                  <a:solidFill>
                    <a:srgbClr val="000000"/>
                  </a:solidFill>
                </a:rPr>
                <a:t>mais</a:t>
              </a:r>
              <a:r>
                <a:rPr lang="en-GB" sz="2200" dirty="0">
                  <a:solidFill>
                    <a:srgbClr val="000000"/>
                  </a:solidFill>
                </a:rPr>
                <a:t> ne </a:t>
              </a:r>
              <a:r>
                <a:rPr lang="en-GB" sz="2200" dirty="0" err="1">
                  <a:solidFill>
                    <a:srgbClr val="000000"/>
                  </a:solidFill>
                </a:rPr>
                <a:t>reçoit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aucune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réponse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  <p:sp>
          <p:nvSpPr>
            <p:cNvPr id="276618" name="AutoShape 138"/>
            <p:cNvSpPr>
              <a:spLocks noChangeArrowheads="1"/>
            </p:cNvSpPr>
            <p:nvPr/>
          </p:nvSpPr>
          <p:spPr bwMode="auto">
            <a:xfrm>
              <a:off x="908" y="2979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276619" name="Group 139"/>
          <p:cNvGrpSpPr>
            <a:grpSpLocks/>
          </p:cNvGrpSpPr>
          <p:nvPr/>
        </p:nvGrpSpPr>
        <p:grpSpPr bwMode="auto">
          <a:xfrm>
            <a:off x="0" y="5110616"/>
            <a:ext cx="8969627" cy="666069"/>
            <a:chOff x="972" y="3329"/>
            <a:chExt cx="4045" cy="343"/>
          </a:xfrm>
        </p:grpSpPr>
        <p:sp>
          <p:nvSpPr>
            <p:cNvPr id="276620" name="AutoShape 140"/>
            <p:cNvSpPr>
              <a:spLocks noChangeArrowheads="1"/>
            </p:cNvSpPr>
            <p:nvPr/>
          </p:nvSpPr>
          <p:spPr bwMode="auto">
            <a:xfrm>
              <a:off x="1088" y="3329"/>
              <a:ext cx="3929" cy="343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200" dirty="0">
                  <a:solidFill>
                    <a:srgbClr val="000000"/>
                  </a:solidFill>
                </a:rPr>
                <a:t>Le client </a:t>
              </a:r>
              <a:r>
                <a:rPr lang="en-GB" sz="2200" dirty="0" err="1">
                  <a:solidFill>
                    <a:srgbClr val="000000"/>
                  </a:solidFill>
                </a:rPr>
                <a:t>tente</a:t>
              </a:r>
              <a:r>
                <a:rPr lang="en-GB" sz="2200" dirty="0">
                  <a:solidFill>
                    <a:srgbClr val="000000"/>
                  </a:solidFill>
                </a:rPr>
                <a:t> de </a:t>
              </a:r>
              <a:r>
                <a:rPr lang="en-GB" sz="2200" dirty="0" err="1">
                  <a:solidFill>
                    <a:srgbClr val="000000"/>
                  </a:solidFill>
                </a:rPr>
                <a:t>contacter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tous</a:t>
              </a:r>
              <a:r>
                <a:rPr lang="en-GB" sz="2200" dirty="0">
                  <a:solidFill>
                    <a:srgbClr val="000000"/>
                  </a:solidFill>
                </a:rPr>
                <a:t> les </a:t>
              </a:r>
              <a:r>
                <a:rPr lang="en-GB" sz="2200" dirty="0" err="1">
                  <a:solidFill>
                    <a:srgbClr val="000000"/>
                  </a:solidFill>
                </a:rPr>
                <a:t>serveurs</a:t>
              </a:r>
              <a:r>
                <a:rPr lang="en-GB" sz="2200" dirty="0">
                  <a:solidFill>
                    <a:srgbClr val="000000"/>
                  </a:solidFill>
                </a:rPr>
                <a:t> WINS </a:t>
              </a:r>
              <a:r>
                <a:rPr lang="en-GB" sz="2200" dirty="0" err="1">
                  <a:solidFill>
                    <a:srgbClr val="000000"/>
                  </a:solidFill>
                </a:rPr>
                <a:t>jusqu'à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ce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qu'un</a:t>
              </a:r>
              <a:r>
                <a:rPr lang="en-GB" sz="2200" dirty="0">
                  <a:solidFill>
                    <a:srgbClr val="000000"/>
                  </a:solidFill>
                </a:rPr>
                <a:t> contact </a:t>
              </a:r>
              <a:r>
                <a:rPr lang="en-GB" sz="2200" dirty="0" err="1">
                  <a:solidFill>
                    <a:srgbClr val="000000"/>
                  </a:solidFill>
                </a:rPr>
                <a:t>soit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établi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  <p:sp>
          <p:nvSpPr>
            <p:cNvPr id="276621" name="AutoShape 141"/>
            <p:cNvSpPr>
              <a:spLocks noChangeArrowheads="1"/>
            </p:cNvSpPr>
            <p:nvPr/>
          </p:nvSpPr>
          <p:spPr bwMode="auto">
            <a:xfrm>
              <a:off x="972" y="3376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276622" name="Group 142"/>
          <p:cNvGrpSpPr>
            <a:grpSpLocks/>
          </p:cNvGrpSpPr>
          <p:nvPr/>
        </p:nvGrpSpPr>
        <p:grpSpPr bwMode="auto">
          <a:xfrm>
            <a:off x="-1" y="5834971"/>
            <a:ext cx="8969829" cy="544513"/>
            <a:chOff x="972" y="3767"/>
            <a:chExt cx="4032" cy="343"/>
          </a:xfrm>
        </p:grpSpPr>
        <p:sp>
          <p:nvSpPr>
            <p:cNvPr id="276623" name="AutoShape 143"/>
            <p:cNvSpPr>
              <a:spLocks noChangeArrowheads="1"/>
            </p:cNvSpPr>
            <p:nvPr/>
          </p:nvSpPr>
          <p:spPr bwMode="auto">
            <a:xfrm>
              <a:off x="1088" y="3767"/>
              <a:ext cx="3916" cy="343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200" dirty="0">
                  <a:solidFill>
                    <a:srgbClr val="000000"/>
                  </a:solidFill>
                </a:rPr>
                <a:t>En </a:t>
              </a:r>
              <a:r>
                <a:rPr lang="en-GB" sz="2200" dirty="0" err="1">
                  <a:solidFill>
                    <a:srgbClr val="000000"/>
                  </a:solidFill>
                </a:rPr>
                <a:t>cas</a:t>
              </a:r>
              <a:r>
                <a:rPr lang="en-GB" sz="2200" dirty="0">
                  <a:solidFill>
                    <a:srgbClr val="000000"/>
                  </a:solidFill>
                </a:rPr>
                <a:t> de </a:t>
              </a:r>
              <a:r>
                <a:rPr lang="en-GB" sz="2200" dirty="0" err="1">
                  <a:solidFill>
                    <a:srgbClr val="000000"/>
                  </a:solidFill>
                </a:rPr>
                <a:t>résolution</a:t>
              </a:r>
              <a:r>
                <a:rPr lang="en-GB" sz="2200" dirty="0">
                  <a:solidFill>
                    <a:srgbClr val="000000"/>
                  </a:solidFill>
                </a:rPr>
                <a:t> du nom, </a:t>
              </a:r>
              <a:r>
                <a:rPr lang="en-GB" sz="2200" dirty="0" err="1">
                  <a:solidFill>
                    <a:srgbClr val="000000"/>
                  </a:solidFill>
                </a:rPr>
                <a:t>l'adresse</a:t>
              </a:r>
              <a:r>
                <a:rPr lang="en-GB" sz="2200" dirty="0">
                  <a:solidFill>
                    <a:srgbClr val="000000"/>
                  </a:solidFill>
                </a:rPr>
                <a:t> IP </a:t>
              </a:r>
              <a:r>
                <a:rPr lang="en-GB" sz="2200" dirty="0" err="1">
                  <a:solidFill>
                    <a:srgbClr val="000000"/>
                  </a:solidFill>
                </a:rPr>
                <a:t>est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renvoyée</a:t>
              </a:r>
              <a:r>
                <a:rPr lang="en-GB" sz="2200" dirty="0">
                  <a:solidFill>
                    <a:srgbClr val="000000"/>
                  </a:solidFill>
                </a:rPr>
                <a:t> au client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  <p:sp>
          <p:nvSpPr>
            <p:cNvPr id="276624" name="AutoShape 144"/>
            <p:cNvSpPr>
              <a:spLocks noChangeArrowheads="1"/>
            </p:cNvSpPr>
            <p:nvPr/>
          </p:nvSpPr>
          <p:spPr bwMode="auto">
            <a:xfrm>
              <a:off x="972" y="3811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3</a:t>
              </a:r>
            </a:p>
          </p:txBody>
        </p:sp>
      </p:grpSp>
      <p:grpSp>
        <p:nvGrpSpPr>
          <p:cNvPr id="276644" name="Group 164"/>
          <p:cNvGrpSpPr>
            <a:grpSpLocks/>
          </p:cNvGrpSpPr>
          <p:nvPr/>
        </p:nvGrpSpPr>
        <p:grpSpPr bwMode="auto">
          <a:xfrm>
            <a:off x="2727325" y="1296988"/>
            <a:ext cx="3008313" cy="876300"/>
            <a:chOff x="1718" y="817"/>
            <a:chExt cx="1895" cy="552"/>
          </a:xfrm>
        </p:grpSpPr>
        <p:sp>
          <p:nvSpPr>
            <p:cNvPr id="276626" name="Freeform 146"/>
            <p:cNvSpPr>
              <a:spLocks/>
            </p:cNvSpPr>
            <p:nvPr/>
          </p:nvSpPr>
          <p:spPr bwMode="auto">
            <a:xfrm flipV="1">
              <a:off x="1809" y="1071"/>
              <a:ext cx="1453" cy="1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2"/>
                </a:cxn>
                <a:cxn ang="0">
                  <a:pos x="722" y="252"/>
                </a:cxn>
              </a:cxnLst>
              <a:rect l="0" t="0" r="r" b="b"/>
              <a:pathLst>
                <a:path w="722" h="252">
                  <a:moveTo>
                    <a:pt x="0" y="0"/>
                  </a:moveTo>
                  <a:lnTo>
                    <a:pt x="0" y="252"/>
                  </a:lnTo>
                  <a:lnTo>
                    <a:pt x="722" y="252"/>
                  </a:lnTo>
                </a:path>
              </a:pathLst>
            </a:custGeom>
            <a:noFill/>
            <a:ln w="571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276627" name="AutoShape 147"/>
            <p:cNvSpPr>
              <a:spLocks noChangeArrowheads="1"/>
            </p:cNvSpPr>
            <p:nvPr/>
          </p:nvSpPr>
          <p:spPr bwMode="auto">
            <a:xfrm>
              <a:off x="3325" y="926"/>
              <a:ext cx="288" cy="288"/>
            </a:xfrm>
            <a:custGeom>
              <a:avLst/>
              <a:gdLst>
                <a:gd name="G0" fmla="+- 2700 0 0"/>
                <a:gd name="G1" fmla="*/ G0 2 1"/>
                <a:gd name="G2" fmla="+- 21600 0 G1"/>
                <a:gd name="G3" fmla="*/ G2 G2 1"/>
                <a:gd name="G4" fmla="*/ G0 G0 1"/>
                <a:gd name="G5" fmla="+- G3 0 G4"/>
                <a:gd name="G6" fmla="*/ G5 1 8"/>
                <a:gd name="G7" fmla="sqrt G6"/>
                <a:gd name="G8" fmla="*/ G4 1 8"/>
                <a:gd name="G9" fmla="sqrt G8"/>
                <a:gd name="G10" fmla="+- G7 G9 0"/>
                <a:gd name="G11" fmla="+- G7 0 G9"/>
                <a:gd name="G12" fmla="+- G10 10800 0"/>
                <a:gd name="G13" fmla="+- 10800 0 G10"/>
                <a:gd name="G14" fmla="+- G11 10800 0"/>
                <a:gd name="G15" fmla="+- 10800 0 G11"/>
                <a:gd name="G16" fmla="+- 21600 0 G0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7401" y="15493"/>
                  </a:moveTo>
                  <a:cubicBezTo>
                    <a:pt x="18376" y="14122"/>
                    <a:pt x="18900" y="12482"/>
                    <a:pt x="18900" y="10800"/>
                  </a:cubicBezTo>
                  <a:cubicBezTo>
                    <a:pt x="18900" y="6326"/>
                    <a:pt x="15273" y="2700"/>
                    <a:pt x="10800" y="2700"/>
                  </a:cubicBezTo>
                  <a:cubicBezTo>
                    <a:pt x="9117" y="2699"/>
                    <a:pt x="7477" y="3223"/>
                    <a:pt x="6106" y="4198"/>
                  </a:cubicBezTo>
                  <a:close/>
                  <a:moveTo>
                    <a:pt x="4198" y="6106"/>
                  </a:moveTo>
                  <a:cubicBezTo>
                    <a:pt x="3223" y="7477"/>
                    <a:pt x="2700" y="9117"/>
                    <a:pt x="2700" y="10799"/>
                  </a:cubicBezTo>
                  <a:cubicBezTo>
                    <a:pt x="2700" y="15273"/>
                    <a:pt x="6326" y="18900"/>
                    <a:pt x="10800" y="18900"/>
                  </a:cubicBezTo>
                  <a:cubicBezTo>
                    <a:pt x="12482" y="18900"/>
                    <a:pt x="14122" y="18376"/>
                    <a:pt x="15493" y="17401"/>
                  </a:cubicBezTo>
                  <a:close/>
                </a:path>
              </a:pathLst>
            </a:custGeom>
            <a:solidFill>
              <a:srgbClr val="CC00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628" name="AutoShape 148"/>
            <p:cNvSpPr>
              <a:spLocks noChangeArrowheads="1"/>
            </p:cNvSpPr>
            <p:nvPr/>
          </p:nvSpPr>
          <p:spPr bwMode="auto">
            <a:xfrm>
              <a:off x="1718" y="817"/>
              <a:ext cx="1747" cy="198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200" dirty="0">
                  <a:solidFill>
                    <a:srgbClr val="000000"/>
                  </a:solidFill>
                </a:rPr>
                <a:t>3 </a:t>
              </a:r>
              <a:r>
                <a:rPr lang="en-GB" sz="2200" dirty="0" err="1">
                  <a:solidFill>
                    <a:srgbClr val="000000"/>
                  </a:solidFill>
                </a:rPr>
                <a:t>tentatives</a:t>
              </a:r>
              <a:r>
                <a:rPr lang="en-GB" sz="2200" dirty="0">
                  <a:solidFill>
                    <a:srgbClr val="000000"/>
                  </a:solidFill>
                </a:rPr>
                <a:t> maximum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  <p:sp>
          <p:nvSpPr>
            <p:cNvPr id="276629" name="AutoShape 149"/>
            <p:cNvSpPr>
              <a:spLocks noChangeArrowheads="1"/>
            </p:cNvSpPr>
            <p:nvPr/>
          </p:nvSpPr>
          <p:spPr bwMode="auto">
            <a:xfrm>
              <a:off x="2377" y="1121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276630" name="Group 150"/>
          <p:cNvGrpSpPr>
            <a:grpSpLocks/>
          </p:cNvGrpSpPr>
          <p:nvPr/>
        </p:nvGrpSpPr>
        <p:grpSpPr bwMode="auto">
          <a:xfrm>
            <a:off x="3013075" y="2990850"/>
            <a:ext cx="1031875" cy="512763"/>
            <a:chOff x="1898" y="1884"/>
            <a:chExt cx="650" cy="323"/>
          </a:xfrm>
        </p:grpSpPr>
        <p:sp>
          <p:nvSpPr>
            <p:cNvPr id="276631" name="Freeform 151"/>
            <p:cNvSpPr>
              <a:spLocks/>
            </p:cNvSpPr>
            <p:nvPr/>
          </p:nvSpPr>
          <p:spPr bwMode="auto">
            <a:xfrm>
              <a:off x="1898" y="1955"/>
              <a:ext cx="650" cy="2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2"/>
                </a:cxn>
                <a:cxn ang="0">
                  <a:pos x="722" y="252"/>
                </a:cxn>
              </a:cxnLst>
              <a:rect l="0" t="0" r="r" b="b"/>
              <a:pathLst>
                <a:path w="722" h="252">
                  <a:moveTo>
                    <a:pt x="0" y="0"/>
                  </a:moveTo>
                  <a:lnTo>
                    <a:pt x="0" y="252"/>
                  </a:lnTo>
                  <a:lnTo>
                    <a:pt x="722" y="252"/>
                  </a:lnTo>
                </a:path>
              </a:pathLst>
            </a:custGeom>
            <a:noFill/>
            <a:ln w="571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276632" name="AutoShape 152"/>
            <p:cNvSpPr>
              <a:spLocks noChangeArrowheads="1"/>
            </p:cNvSpPr>
            <p:nvPr/>
          </p:nvSpPr>
          <p:spPr bwMode="auto">
            <a:xfrm>
              <a:off x="2060" y="1884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276633" name="Group 153"/>
          <p:cNvGrpSpPr>
            <a:grpSpLocks/>
          </p:cNvGrpSpPr>
          <p:nvPr/>
        </p:nvGrpSpPr>
        <p:grpSpPr bwMode="auto">
          <a:xfrm>
            <a:off x="2743200" y="3078163"/>
            <a:ext cx="1300163" cy="1155700"/>
            <a:chOff x="1728" y="1939"/>
            <a:chExt cx="819" cy="728"/>
          </a:xfrm>
        </p:grpSpPr>
        <p:sp>
          <p:nvSpPr>
            <p:cNvPr id="276634" name="Freeform 154"/>
            <p:cNvSpPr>
              <a:spLocks/>
            </p:cNvSpPr>
            <p:nvPr/>
          </p:nvSpPr>
          <p:spPr bwMode="auto">
            <a:xfrm>
              <a:off x="1728" y="1939"/>
              <a:ext cx="819" cy="406"/>
            </a:xfrm>
            <a:custGeom>
              <a:avLst/>
              <a:gdLst/>
              <a:ahLst/>
              <a:cxnLst>
                <a:cxn ang="0">
                  <a:pos x="819" y="406"/>
                </a:cxn>
                <a:cxn ang="0">
                  <a:pos x="0" y="406"/>
                </a:cxn>
                <a:cxn ang="0">
                  <a:pos x="0" y="0"/>
                </a:cxn>
              </a:cxnLst>
              <a:rect l="0" t="0" r="r" b="b"/>
              <a:pathLst>
                <a:path w="819" h="406">
                  <a:moveTo>
                    <a:pt x="819" y="406"/>
                  </a:moveTo>
                  <a:lnTo>
                    <a:pt x="0" y="406"/>
                  </a:lnTo>
                  <a:lnTo>
                    <a:pt x="0" y="0"/>
                  </a:lnTo>
                </a:path>
              </a:pathLst>
            </a:custGeom>
            <a:noFill/>
            <a:ln w="571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276635" name="AutoShape 155"/>
            <p:cNvSpPr>
              <a:spLocks noChangeArrowheads="1"/>
            </p:cNvSpPr>
            <p:nvPr/>
          </p:nvSpPr>
          <p:spPr bwMode="auto">
            <a:xfrm>
              <a:off x="2060" y="2419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3</a:t>
              </a:r>
            </a:p>
          </p:txBody>
        </p:sp>
      </p:grpSp>
      <p:grpSp>
        <p:nvGrpSpPr>
          <p:cNvPr id="276636" name="Group 156"/>
          <p:cNvGrpSpPr>
            <a:grpSpLocks/>
          </p:cNvGrpSpPr>
          <p:nvPr/>
        </p:nvGrpSpPr>
        <p:grpSpPr bwMode="auto">
          <a:xfrm>
            <a:off x="101610" y="6399886"/>
            <a:ext cx="914400" cy="425450"/>
            <a:chOff x="384" y="3024"/>
            <a:chExt cx="720" cy="336"/>
          </a:xfrm>
        </p:grpSpPr>
        <p:sp>
          <p:nvSpPr>
            <p:cNvPr id="276637" name="Oval 157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276638" name="Group 158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276639" name="Oval 159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76640" name="Freeform 160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76641" name="Group 161"/>
          <p:cNvGrpSpPr>
            <a:grpSpLocks/>
          </p:cNvGrpSpPr>
          <p:nvPr/>
        </p:nvGrpSpPr>
        <p:grpSpPr bwMode="auto">
          <a:xfrm>
            <a:off x="588973" y="6490374"/>
            <a:ext cx="304800" cy="244475"/>
            <a:chOff x="768" y="3096"/>
            <a:chExt cx="240" cy="192"/>
          </a:xfrm>
        </p:grpSpPr>
        <p:sp>
          <p:nvSpPr>
            <p:cNvPr id="276642" name="Oval 162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643" name="Rectangle 163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8" name="Espace réservé du numéro de diapositive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10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7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7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7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27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9571" y="179387"/>
            <a:ext cx="8770258" cy="909183"/>
          </a:xfrm>
        </p:spPr>
        <p:txBody>
          <a:bodyPr>
            <a:noAutofit/>
          </a:bodyPr>
          <a:lstStyle/>
          <a:p>
            <a:r>
              <a:rPr lang="fr-FR" sz="3200" b="1" dirty="0" smtClean="0">
                <a:solidFill>
                  <a:srgbClr val="000000"/>
                </a:solidFill>
              </a:rPr>
              <a:t>3. Gestion </a:t>
            </a:r>
            <a:r>
              <a:rPr lang="fr-FR" sz="3200" b="1" dirty="0">
                <a:solidFill>
                  <a:srgbClr val="000000"/>
                </a:solidFill>
              </a:rPr>
              <a:t>des enregistrements dans le serveur WINS</a:t>
            </a:r>
            <a:endParaRPr lang="en-US" sz="3200" b="1" dirty="0">
              <a:solidFill>
                <a:srgbClr val="000000"/>
              </a:solidFill>
            </a:endParaRPr>
          </a:p>
        </p:txBody>
      </p:sp>
      <p:sp>
        <p:nvSpPr>
          <p:cNvPr id="9222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20915" y="2071914"/>
            <a:ext cx="8345714" cy="3037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28600" indent="-228600" algn="l">
              <a:lnSpc>
                <a:spcPct val="90000"/>
              </a:lnSpc>
              <a:spcBef>
                <a:spcPct val="40000"/>
              </a:spcBef>
              <a:buSzPct val="70000"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000000"/>
                </a:solidFill>
              </a:rPr>
              <a:t>Présentation</a:t>
            </a:r>
            <a:r>
              <a:rPr lang="en-GB" sz="2800" dirty="0">
                <a:solidFill>
                  <a:srgbClr val="000000"/>
                </a:solidFill>
              </a:rPr>
              <a:t> d'un </a:t>
            </a:r>
            <a:r>
              <a:rPr lang="en-GB" sz="2800" dirty="0" err="1">
                <a:solidFill>
                  <a:srgbClr val="000000"/>
                </a:solidFill>
              </a:rPr>
              <a:t>enregistrement</a:t>
            </a:r>
            <a:r>
              <a:rPr lang="en-GB" sz="2800" dirty="0">
                <a:solidFill>
                  <a:srgbClr val="000000"/>
                </a:solidFill>
              </a:rPr>
              <a:t> client</a:t>
            </a:r>
            <a:r>
              <a:rPr lang="en-US" sz="2800" dirty="0"/>
              <a:t> </a:t>
            </a:r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SzPct val="70000"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000000"/>
                </a:solidFill>
              </a:rPr>
              <a:t>Présentation</a:t>
            </a:r>
            <a:r>
              <a:rPr lang="en-GB" sz="2800" dirty="0">
                <a:solidFill>
                  <a:srgbClr val="000000"/>
                </a:solidFill>
              </a:rPr>
              <a:t> d'un </a:t>
            </a:r>
            <a:r>
              <a:rPr lang="en-GB" sz="2800" dirty="0" err="1">
                <a:solidFill>
                  <a:srgbClr val="000000"/>
                </a:solidFill>
              </a:rPr>
              <a:t>mappage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statique</a:t>
            </a:r>
            <a:r>
              <a:rPr lang="en-US" sz="2800" dirty="0"/>
              <a:t> </a:t>
            </a:r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SzPct val="70000"/>
              <a:buFont typeface="Wingdings" pitchFamily="2" charset="2"/>
              <a:buChar char="Ø"/>
            </a:pPr>
            <a:r>
              <a:rPr lang="en-GB" sz="2800" dirty="0">
                <a:solidFill>
                  <a:srgbClr val="000000"/>
                </a:solidFill>
              </a:rPr>
              <a:t>Comment </a:t>
            </a:r>
            <a:r>
              <a:rPr lang="en-GB" sz="2800" dirty="0" err="1">
                <a:solidFill>
                  <a:srgbClr val="000000"/>
                </a:solidFill>
              </a:rPr>
              <a:t>ajouter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entrée de </a:t>
            </a:r>
            <a:r>
              <a:rPr lang="en-GB" sz="2800" dirty="0" err="1">
                <a:solidFill>
                  <a:srgbClr val="000000"/>
                </a:solidFill>
              </a:rPr>
              <a:t>mappage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statique</a:t>
            </a:r>
            <a:endParaRPr lang="en-US" sz="2800" dirty="0"/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SzPct val="70000"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000000"/>
                </a:solidFill>
              </a:rPr>
              <a:t>Méthodes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filtrage</a:t>
            </a:r>
            <a:r>
              <a:rPr lang="en-GB" sz="2800" dirty="0">
                <a:solidFill>
                  <a:srgbClr val="000000"/>
                </a:solidFill>
              </a:rPr>
              <a:t> et </a:t>
            </a:r>
            <a:r>
              <a:rPr lang="en-GB" sz="2800" dirty="0" err="1">
                <a:solidFill>
                  <a:srgbClr val="000000"/>
                </a:solidFill>
              </a:rPr>
              <a:t>d'affichage</a:t>
            </a:r>
            <a:r>
              <a:rPr lang="en-GB" sz="2800" dirty="0">
                <a:solidFill>
                  <a:srgbClr val="000000"/>
                </a:solidFill>
              </a:rPr>
              <a:t> des </a:t>
            </a:r>
            <a:r>
              <a:rPr lang="en-GB" sz="2800" dirty="0" err="1">
                <a:solidFill>
                  <a:srgbClr val="000000"/>
                </a:solidFill>
              </a:rPr>
              <a:t>enregistrements</a:t>
            </a:r>
            <a:r>
              <a:rPr lang="en-GB" sz="2800" dirty="0">
                <a:solidFill>
                  <a:srgbClr val="000000"/>
                </a:solidFill>
              </a:rPr>
              <a:t> du service WINS</a:t>
            </a:r>
            <a:endParaRPr lang="en-US" sz="2800" dirty="0"/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SzPct val="70000"/>
              <a:buFont typeface="Wingdings" pitchFamily="2" charset="2"/>
              <a:buChar char="Ø"/>
            </a:pPr>
            <a:r>
              <a:rPr lang="en-GB" sz="2800" dirty="0">
                <a:solidFill>
                  <a:srgbClr val="000000"/>
                </a:solidFill>
              </a:rPr>
              <a:t>Comment </a:t>
            </a:r>
            <a:r>
              <a:rPr lang="en-GB" sz="2800" dirty="0" err="1">
                <a:solidFill>
                  <a:srgbClr val="000000"/>
                </a:solidFill>
              </a:rPr>
              <a:t>filtrer</a:t>
            </a:r>
            <a:r>
              <a:rPr lang="en-GB" sz="2800" dirty="0">
                <a:solidFill>
                  <a:srgbClr val="000000"/>
                </a:solidFill>
              </a:rPr>
              <a:t> les </a:t>
            </a:r>
            <a:r>
              <a:rPr lang="en-GB" sz="2800" dirty="0" err="1">
                <a:solidFill>
                  <a:srgbClr val="000000"/>
                </a:solidFill>
              </a:rPr>
              <a:t>enregistrements</a:t>
            </a:r>
            <a:r>
              <a:rPr lang="en-GB" sz="2800" dirty="0">
                <a:solidFill>
                  <a:srgbClr val="000000"/>
                </a:solidFill>
              </a:rPr>
              <a:t> WINS</a:t>
            </a:r>
            <a:endParaRPr lang="en-US" sz="2800" dirty="0"/>
          </a:p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5"/>
              </a:buBlip>
            </a:pPr>
            <a:endParaRPr lang="en-US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11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74" name="Rectangle 218"/>
          <p:cNvSpPr>
            <a:spLocks noChangeArrowheads="1"/>
          </p:cNvSpPr>
          <p:nvPr/>
        </p:nvSpPr>
        <p:spPr bwMode="auto">
          <a:xfrm>
            <a:off x="678546" y="4433888"/>
            <a:ext cx="4807848" cy="928514"/>
          </a:xfrm>
          <a:prstGeom prst="rect">
            <a:avLst/>
          </a:prstGeom>
          <a:solidFill>
            <a:schemeClr val="accent1"/>
          </a:solidFill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r>
              <a:rPr lang="en-GB" sz="2200">
                <a:solidFill>
                  <a:srgbClr val="000000"/>
                </a:solidFill>
              </a:rPr>
              <a:t>Le service qui a inscrit l'entrée, y compris </a:t>
            </a:r>
            <a:endParaRPr lang="en-US" sz="2200"/>
          </a:p>
          <a:p>
            <a:pPr algn="l"/>
            <a:r>
              <a:rPr lang="en-GB" sz="2200">
                <a:solidFill>
                  <a:srgbClr val="000000"/>
                </a:solidFill>
              </a:rPr>
              <a:t>l'identificateur de type hexadécimal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pPr marL="460375" indent="-460375"/>
            <a:r>
              <a:rPr lang="en-GB" sz="3000" b="1" dirty="0" err="1">
                <a:solidFill>
                  <a:srgbClr val="C00000"/>
                </a:solidFill>
              </a:rPr>
              <a:t>Présentation d'un enregistrement client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pic>
        <p:nvPicPr>
          <p:cNvPr id="173307" name="Picture 251" descr="mod_7_1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504825" y="1482725"/>
            <a:ext cx="8035925" cy="2459038"/>
          </a:xfrm>
          <a:noFill/>
          <a:ln/>
        </p:spPr>
      </p:pic>
      <p:sp>
        <p:nvSpPr>
          <p:cNvPr id="173273" name="Line 217"/>
          <p:cNvSpPr>
            <a:spLocks noChangeShapeType="1"/>
          </p:cNvSpPr>
          <p:nvPr/>
        </p:nvSpPr>
        <p:spPr bwMode="auto">
          <a:xfrm>
            <a:off x="4936220" y="3948113"/>
            <a:ext cx="45719" cy="45720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fr-FR" sz="2200"/>
          </a:p>
        </p:txBody>
      </p:sp>
      <p:sp>
        <p:nvSpPr>
          <p:cNvPr id="173275" name="Rectangle 219"/>
          <p:cNvSpPr>
            <a:spLocks noChangeArrowheads="1"/>
          </p:cNvSpPr>
          <p:nvPr/>
        </p:nvSpPr>
        <p:spPr bwMode="auto">
          <a:xfrm>
            <a:off x="1383396" y="4433888"/>
            <a:ext cx="4561775" cy="526509"/>
          </a:xfrm>
          <a:prstGeom prst="rect">
            <a:avLst/>
          </a:prstGeom>
          <a:solidFill>
            <a:schemeClr val="accent1"/>
          </a:solidFill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r>
              <a:rPr lang="en-GB" sz="2200">
                <a:solidFill>
                  <a:srgbClr val="000000"/>
                </a:solidFill>
              </a:rPr>
              <a:t>L'adresse IP correspondant au nominscrit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173276" name="Rectangle 220"/>
          <p:cNvSpPr>
            <a:spLocks noChangeArrowheads="1"/>
          </p:cNvSpPr>
          <p:nvPr/>
        </p:nvSpPr>
        <p:spPr bwMode="auto">
          <a:xfrm>
            <a:off x="2159683" y="4419600"/>
            <a:ext cx="6288143" cy="772693"/>
          </a:xfrm>
          <a:prstGeom prst="rect">
            <a:avLst/>
          </a:prstGeom>
          <a:solidFill>
            <a:schemeClr val="accent1"/>
          </a:solidFill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r>
              <a:rPr lang="en-GB" sz="2200">
                <a:solidFill>
                  <a:srgbClr val="000000"/>
                </a:solidFill>
              </a:rPr>
              <a:t>Affiche « x » pour indiquer que l'entrée est</a:t>
            </a:r>
            <a:endParaRPr lang="en-US" sz="2200"/>
          </a:p>
          <a:p>
            <a:pPr algn="l"/>
            <a:r>
              <a:rPr lang="en-GB" sz="2200">
                <a:solidFill>
                  <a:srgbClr val="000000"/>
                </a:solidFill>
              </a:rPr>
              <a:t>statique et « null » ou rien si l'entrée n'est pas statique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173277" name="Rectangle 221"/>
          <p:cNvSpPr>
            <a:spLocks noChangeArrowheads="1"/>
          </p:cNvSpPr>
          <p:nvPr/>
        </p:nvSpPr>
        <p:spPr bwMode="auto">
          <a:xfrm>
            <a:off x="3702734" y="4419599"/>
            <a:ext cx="4183122" cy="517525"/>
          </a:xfrm>
          <a:prstGeom prst="rect">
            <a:avLst/>
          </a:prstGeom>
          <a:solidFill>
            <a:schemeClr val="accent1"/>
          </a:solidFill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r>
              <a:rPr lang="en-GB" sz="2200">
                <a:solidFill>
                  <a:srgbClr val="000000"/>
                </a:solidFill>
              </a:rPr>
              <a:t>Le serveur WINS d'où provient l'entrée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173278" name="Rectangle 222"/>
          <p:cNvSpPr>
            <a:spLocks noChangeArrowheads="1"/>
          </p:cNvSpPr>
          <p:nvPr/>
        </p:nvSpPr>
        <p:spPr bwMode="auto">
          <a:xfrm>
            <a:off x="896034" y="4434113"/>
            <a:ext cx="8073788" cy="1035049"/>
          </a:xfrm>
          <a:prstGeom prst="rect">
            <a:avLst/>
          </a:prstGeom>
          <a:solidFill>
            <a:schemeClr val="accent1"/>
          </a:solidFill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r>
              <a:rPr lang="en-GB" sz="2200" dirty="0">
                <a:solidFill>
                  <a:srgbClr val="000000"/>
                </a:solidFill>
              </a:rPr>
              <a:t>Le nom NetBIOS </a:t>
            </a:r>
            <a:r>
              <a:rPr lang="en-GB" sz="2200" dirty="0" err="1">
                <a:solidFill>
                  <a:srgbClr val="000000"/>
                </a:solidFill>
              </a:rPr>
              <a:t>inscrit</a:t>
            </a:r>
            <a:r>
              <a:rPr lang="en-GB" sz="2200" dirty="0">
                <a:solidFill>
                  <a:srgbClr val="000000"/>
                </a:solidFill>
              </a:rPr>
              <a:t>, </a:t>
            </a:r>
            <a:r>
              <a:rPr lang="en-GB" sz="2200" dirty="0" err="1">
                <a:solidFill>
                  <a:srgbClr val="000000"/>
                </a:solidFill>
              </a:rPr>
              <a:t>pouvant</a:t>
            </a:r>
            <a:r>
              <a:rPr lang="en-GB" sz="2200" dirty="0">
                <a:solidFill>
                  <a:srgbClr val="000000"/>
                </a:solidFill>
              </a:rPr>
              <a:t> </a:t>
            </a:r>
            <a:r>
              <a:rPr lang="en-GB" sz="2200" dirty="0" err="1">
                <a:solidFill>
                  <a:srgbClr val="000000"/>
                </a:solidFill>
              </a:rPr>
              <a:t>être</a:t>
            </a:r>
            <a:r>
              <a:rPr lang="en-GB" sz="2200" dirty="0">
                <a:solidFill>
                  <a:srgbClr val="000000"/>
                </a:solidFill>
              </a:rPr>
              <a:t> un nom unique </a:t>
            </a:r>
            <a:r>
              <a:rPr lang="en-GB" sz="2200" dirty="0" smtClean="0">
                <a:solidFill>
                  <a:srgbClr val="000000"/>
                </a:solidFill>
              </a:rPr>
              <a:t> </a:t>
            </a:r>
            <a:r>
              <a:rPr lang="en-GB" sz="2200" dirty="0" err="1" smtClean="0">
                <a:solidFill>
                  <a:srgbClr val="000000"/>
                </a:solidFill>
              </a:rPr>
              <a:t>ou</a:t>
            </a:r>
            <a:r>
              <a:rPr lang="en-GB" sz="2200" dirty="0" smtClean="0">
                <a:solidFill>
                  <a:srgbClr val="000000"/>
                </a:solidFill>
              </a:rPr>
              <a:t> </a:t>
            </a:r>
            <a:r>
              <a:rPr lang="en-GB" sz="2200" dirty="0" err="1">
                <a:solidFill>
                  <a:srgbClr val="000000"/>
                </a:solidFill>
              </a:rPr>
              <a:t>représenter</a:t>
            </a:r>
            <a:r>
              <a:rPr lang="en-GB" sz="2200" dirty="0">
                <a:solidFill>
                  <a:srgbClr val="000000"/>
                </a:solidFill>
              </a:rPr>
              <a:t> un </a:t>
            </a:r>
            <a:endParaRPr lang="en-GB" sz="2200" dirty="0" smtClean="0">
              <a:solidFill>
                <a:srgbClr val="000000"/>
              </a:solidFill>
            </a:endParaRPr>
          </a:p>
          <a:p>
            <a:pPr algn="l"/>
            <a:r>
              <a:rPr lang="en-GB" sz="2200" dirty="0" err="1" smtClean="0">
                <a:solidFill>
                  <a:srgbClr val="000000"/>
                </a:solidFill>
              </a:rPr>
              <a:t>groupe</a:t>
            </a:r>
            <a:r>
              <a:rPr lang="en-GB" sz="2200" dirty="0">
                <a:solidFill>
                  <a:srgbClr val="000000"/>
                </a:solidFill>
              </a:rPr>
              <a:t>, un </a:t>
            </a:r>
            <a:r>
              <a:rPr lang="en-GB" sz="2200" dirty="0" err="1">
                <a:solidFill>
                  <a:srgbClr val="000000"/>
                </a:solidFill>
              </a:rPr>
              <a:t>groupe</a:t>
            </a:r>
            <a:r>
              <a:rPr lang="en-GB" sz="2200" dirty="0">
                <a:solidFill>
                  <a:srgbClr val="000000"/>
                </a:solidFill>
              </a:rPr>
              <a:t> Internet </a:t>
            </a:r>
            <a:r>
              <a:rPr lang="en-GB" sz="2200" dirty="0" err="1">
                <a:solidFill>
                  <a:srgbClr val="000000"/>
                </a:solidFill>
              </a:rPr>
              <a:t>ou</a:t>
            </a:r>
            <a:r>
              <a:rPr lang="en-GB" sz="2200" dirty="0">
                <a:solidFill>
                  <a:srgbClr val="000000"/>
                </a:solidFill>
              </a:rPr>
              <a:t> un </a:t>
            </a:r>
            <a:r>
              <a:rPr lang="en-GB" sz="2200" dirty="0" err="1" smtClean="0">
                <a:solidFill>
                  <a:srgbClr val="000000"/>
                </a:solidFill>
              </a:rPr>
              <a:t>ordinateur</a:t>
            </a:r>
            <a:r>
              <a:rPr lang="en-GB" sz="2200" dirty="0" smtClean="0">
                <a:solidFill>
                  <a:srgbClr val="000000"/>
                </a:solidFill>
              </a:rPr>
              <a:t> </a:t>
            </a:r>
            <a:r>
              <a:rPr lang="en-GB" sz="2200" dirty="0">
                <a:solidFill>
                  <a:srgbClr val="000000"/>
                </a:solidFill>
              </a:rPr>
              <a:t>à </a:t>
            </a:r>
            <a:r>
              <a:rPr lang="en-GB" sz="2200" dirty="0" err="1">
                <a:solidFill>
                  <a:srgbClr val="000000"/>
                </a:solidFill>
              </a:rPr>
              <a:t>hôtes</a:t>
            </a:r>
            <a:r>
              <a:rPr lang="en-GB" sz="2200" dirty="0">
                <a:solidFill>
                  <a:srgbClr val="000000"/>
                </a:solidFill>
              </a:rPr>
              <a:t> multiples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173279" name="Text Box 223"/>
          <p:cNvSpPr txBox="1">
            <a:spLocks noChangeArrowheads="1"/>
          </p:cNvSpPr>
          <p:nvPr/>
        </p:nvSpPr>
        <p:spPr bwMode="auto">
          <a:xfrm>
            <a:off x="788084" y="4510088"/>
            <a:ext cx="7321810" cy="430887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endParaRPr lang="es-ES" sz="2200"/>
          </a:p>
        </p:txBody>
      </p:sp>
      <p:sp>
        <p:nvSpPr>
          <p:cNvPr id="173280" name="Line 224"/>
          <p:cNvSpPr>
            <a:spLocks noChangeShapeType="1"/>
          </p:cNvSpPr>
          <p:nvPr/>
        </p:nvSpPr>
        <p:spPr bwMode="auto">
          <a:xfrm>
            <a:off x="864283" y="3948113"/>
            <a:ext cx="45719" cy="45720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fr-FR" sz="2200"/>
          </a:p>
        </p:txBody>
      </p:sp>
      <p:sp>
        <p:nvSpPr>
          <p:cNvPr id="173281" name="Line 225"/>
          <p:cNvSpPr>
            <a:spLocks noChangeShapeType="1"/>
          </p:cNvSpPr>
          <p:nvPr/>
        </p:nvSpPr>
        <p:spPr bwMode="auto">
          <a:xfrm>
            <a:off x="2383520" y="3948113"/>
            <a:ext cx="45719" cy="45720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fr-FR" sz="2200"/>
          </a:p>
        </p:txBody>
      </p:sp>
      <p:sp>
        <p:nvSpPr>
          <p:cNvPr id="173282" name="Line 226"/>
          <p:cNvSpPr>
            <a:spLocks noChangeShapeType="1"/>
          </p:cNvSpPr>
          <p:nvPr/>
        </p:nvSpPr>
        <p:spPr bwMode="auto">
          <a:xfrm>
            <a:off x="4198033" y="3948113"/>
            <a:ext cx="45719" cy="45720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fr-FR" sz="2200"/>
          </a:p>
        </p:txBody>
      </p:sp>
      <p:sp>
        <p:nvSpPr>
          <p:cNvPr id="173283" name="Rectangle 227"/>
          <p:cNvSpPr>
            <a:spLocks noChangeArrowheads="1"/>
          </p:cNvSpPr>
          <p:nvPr/>
        </p:nvSpPr>
        <p:spPr bwMode="auto">
          <a:xfrm>
            <a:off x="2164446" y="4419600"/>
            <a:ext cx="5295890" cy="921657"/>
          </a:xfrm>
          <a:prstGeom prst="rect">
            <a:avLst/>
          </a:prstGeom>
          <a:solidFill>
            <a:schemeClr val="accent1"/>
          </a:solidFill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r>
              <a:rPr lang="en-GB" sz="2200" dirty="0" err="1">
                <a:solidFill>
                  <a:srgbClr val="000000"/>
                </a:solidFill>
              </a:rPr>
              <a:t>L'état</a:t>
            </a:r>
            <a:r>
              <a:rPr lang="en-GB" sz="2200" dirty="0">
                <a:solidFill>
                  <a:srgbClr val="000000"/>
                </a:solidFill>
              </a:rPr>
              <a:t> de </a:t>
            </a:r>
            <a:r>
              <a:rPr lang="en-GB" sz="2200" dirty="0" err="1">
                <a:solidFill>
                  <a:srgbClr val="000000"/>
                </a:solidFill>
              </a:rPr>
              <a:t>l'entrée</a:t>
            </a:r>
            <a:r>
              <a:rPr lang="en-GB" sz="2200" dirty="0">
                <a:solidFill>
                  <a:srgbClr val="000000"/>
                </a:solidFill>
              </a:rPr>
              <a:t> de la base de </a:t>
            </a:r>
            <a:r>
              <a:rPr lang="en-GB" sz="2200" dirty="0" err="1">
                <a:solidFill>
                  <a:srgbClr val="000000"/>
                </a:solidFill>
              </a:rPr>
              <a:t>données</a:t>
            </a:r>
            <a:r>
              <a:rPr lang="en-GB" sz="2200" dirty="0">
                <a:solidFill>
                  <a:srgbClr val="000000"/>
                </a:solidFill>
              </a:rPr>
              <a:t> </a:t>
            </a:r>
            <a:r>
              <a:rPr lang="en-GB" sz="2200" dirty="0" err="1">
                <a:solidFill>
                  <a:srgbClr val="000000"/>
                </a:solidFill>
              </a:rPr>
              <a:t>peut</a:t>
            </a:r>
            <a:r>
              <a:rPr lang="en-GB" sz="2200" dirty="0">
                <a:solidFill>
                  <a:srgbClr val="000000"/>
                </a:solidFill>
              </a:rPr>
              <a:t> </a:t>
            </a:r>
            <a:br>
              <a:rPr lang="en-GB" sz="2200" dirty="0">
                <a:solidFill>
                  <a:srgbClr val="000000"/>
                </a:solidFill>
              </a:rPr>
            </a:br>
            <a:r>
              <a:rPr lang="en-GB" sz="2200" dirty="0" err="1">
                <a:solidFill>
                  <a:srgbClr val="000000"/>
                </a:solidFill>
              </a:rPr>
              <a:t>être</a:t>
            </a:r>
            <a:r>
              <a:rPr lang="en-GB" sz="2200" dirty="0">
                <a:solidFill>
                  <a:srgbClr val="000000"/>
                </a:solidFill>
              </a:rPr>
              <a:t> </a:t>
            </a:r>
            <a:r>
              <a:rPr lang="en-GB" sz="2200" dirty="0" err="1">
                <a:solidFill>
                  <a:srgbClr val="000000"/>
                </a:solidFill>
              </a:rPr>
              <a:t>actif</a:t>
            </a:r>
            <a:r>
              <a:rPr lang="en-GB" sz="2200" dirty="0">
                <a:solidFill>
                  <a:srgbClr val="000000"/>
                </a:solidFill>
              </a:rPr>
              <a:t>, </a:t>
            </a:r>
            <a:r>
              <a:rPr lang="en-GB" sz="2200" dirty="0" err="1">
                <a:solidFill>
                  <a:srgbClr val="000000"/>
                </a:solidFill>
              </a:rPr>
              <a:t>libéré</a:t>
            </a:r>
            <a:r>
              <a:rPr lang="en-GB" sz="2200" dirty="0">
                <a:solidFill>
                  <a:srgbClr val="000000"/>
                </a:solidFill>
              </a:rPr>
              <a:t> </a:t>
            </a:r>
            <a:r>
              <a:rPr lang="en-GB" sz="2200" dirty="0" err="1">
                <a:solidFill>
                  <a:srgbClr val="000000"/>
                </a:solidFill>
              </a:rPr>
              <a:t>ou</a:t>
            </a:r>
            <a:r>
              <a:rPr lang="en-GB" sz="2200" dirty="0">
                <a:solidFill>
                  <a:srgbClr val="000000"/>
                </a:solidFill>
              </a:rPr>
              <a:t> </a:t>
            </a:r>
            <a:r>
              <a:rPr lang="en-GB" sz="2200" dirty="0" err="1">
                <a:solidFill>
                  <a:srgbClr val="000000"/>
                </a:solidFill>
              </a:rPr>
              <a:t>désactivé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173284" name="Line 228"/>
          <p:cNvSpPr>
            <a:spLocks noChangeShapeType="1"/>
          </p:cNvSpPr>
          <p:nvPr/>
        </p:nvSpPr>
        <p:spPr bwMode="auto">
          <a:xfrm>
            <a:off x="6117320" y="3962400"/>
            <a:ext cx="45719" cy="45720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fr-FR" sz="2200"/>
          </a:p>
        </p:txBody>
      </p:sp>
      <p:sp>
        <p:nvSpPr>
          <p:cNvPr id="173285" name="Line 229"/>
          <p:cNvSpPr>
            <a:spLocks noChangeShapeType="1"/>
          </p:cNvSpPr>
          <p:nvPr/>
        </p:nvSpPr>
        <p:spPr bwMode="auto">
          <a:xfrm>
            <a:off x="5364845" y="3948113"/>
            <a:ext cx="45719" cy="45720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fr-FR" sz="2200"/>
          </a:p>
        </p:txBody>
      </p:sp>
      <p:sp>
        <p:nvSpPr>
          <p:cNvPr id="173286" name="Line 230"/>
          <p:cNvSpPr>
            <a:spLocks noChangeShapeType="1"/>
          </p:cNvSpPr>
          <p:nvPr/>
        </p:nvSpPr>
        <p:spPr bwMode="auto">
          <a:xfrm>
            <a:off x="6826933" y="3962400"/>
            <a:ext cx="45719" cy="45720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fr-FR" sz="2200"/>
          </a:p>
        </p:txBody>
      </p:sp>
      <p:sp>
        <p:nvSpPr>
          <p:cNvPr id="173287" name="Rectangle 231"/>
          <p:cNvSpPr>
            <a:spLocks noChangeArrowheads="1"/>
          </p:cNvSpPr>
          <p:nvPr/>
        </p:nvSpPr>
        <p:spPr bwMode="auto">
          <a:xfrm>
            <a:off x="3531283" y="4405312"/>
            <a:ext cx="5394995" cy="906917"/>
          </a:xfrm>
          <a:prstGeom prst="rect">
            <a:avLst/>
          </a:prstGeom>
          <a:solidFill>
            <a:schemeClr val="accent1"/>
          </a:solidFill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r>
              <a:rPr lang="en-GB" sz="2200" dirty="0">
                <a:solidFill>
                  <a:srgbClr val="000000"/>
                </a:solidFill>
              </a:rPr>
              <a:t>Un </a:t>
            </a:r>
            <a:r>
              <a:rPr lang="en-GB" sz="2200" dirty="0" err="1">
                <a:solidFill>
                  <a:srgbClr val="000000"/>
                </a:solidFill>
              </a:rPr>
              <a:t>nombre</a:t>
            </a:r>
            <a:r>
              <a:rPr lang="en-GB" sz="2200" dirty="0">
                <a:solidFill>
                  <a:srgbClr val="000000"/>
                </a:solidFill>
              </a:rPr>
              <a:t> </a:t>
            </a:r>
            <a:r>
              <a:rPr lang="en-GB" sz="2200" dirty="0" err="1">
                <a:solidFill>
                  <a:srgbClr val="000000"/>
                </a:solidFill>
              </a:rPr>
              <a:t>hexadécimal</a:t>
            </a:r>
            <a:r>
              <a:rPr lang="en-GB" sz="2200" dirty="0">
                <a:solidFill>
                  <a:srgbClr val="000000"/>
                </a:solidFill>
              </a:rPr>
              <a:t> unique </a:t>
            </a:r>
            <a:r>
              <a:rPr lang="en-GB" sz="2200" dirty="0" err="1">
                <a:solidFill>
                  <a:srgbClr val="000000"/>
                </a:solidFill>
              </a:rPr>
              <a:t>affecté</a:t>
            </a:r>
            <a:r>
              <a:rPr lang="en-GB" sz="2200" dirty="0">
                <a:solidFill>
                  <a:srgbClr val="000000"/>
                </a:solidFill>
              </a:rPr>
              <a:t> par </a:t>
            </a:r>
            <a:br>
              <a:rPr lang="en-GB" sz="2200" dirty="0">
                <a:solidFill>
                  <a:srgbClr val="000000"/>
                </a:solidFill>
              </a:rPr>
            </a:br>
            <a:r>
              <a:rPr lang="en-GB" sz="2200" dirty="0">
                <a:solidFill>
                  <a:srgbClr val="000000"/>
                </a:solidFill>
              </a:rPr>
              <a:t>le </a:t>
            </a:r>
            <a:r>
              <a:rPr lang="en-GB" sz="2200" dirty="0" err="1">
                <a:solidFill>
                  <a:srgbClr val="000000"/>
                </a:solidFill>
              </a:rPr>
              <a:t>serveur</a:t>
            </a:r>
            <a:r>
              <a:rPr lang="en-GB" sz="2200" dirty="0">
                <a:solidFill>
                  <a:srgbClr val="000000"/>
                </a:solidFill>
              </a:rPr>
              <a:t> </a:t>
            </a:r>
            <a:r>
              <a:rPr lang="en-US" sz="2200" dirty="0"/>
              <a:t> </a:t>
            </a:r>
            <a:r>
              <a:rPr lang="en-GB" sz="2200" dirty="0">
                <a:solidFill>
                  <a:srgbClr val="000000"/>
                </a:solidFill>
              </a:rPr>
              <a:t>WINS </a:t>
            </a:r>
            <a:r>
              <a:rPr lang="en-GB" sz="2200" dirty="0" err="1">
                <a:solidFill>
                  <a:srgbClr val="000000"/>
                </a:solidFill>
              </a:rPr>
              <a:t>lors</a:t>
            </a:r>
            <a:r>
              <a:rPr lang="en-GB" sz="2200" dirty="0">
                <a:solidFill>
                  <a:srgbClr val="000000"/>
                </a:solidFill>
              </a:rPr>
              <a:t> de </a:t>
            </a:r>
            <a:r>
              <a:rPr lang="en-GB" sz="2200" dirty="0" err="1">
                <a:solidFill>
                  <a:srgbClr val="000000"/>
                </a:solidFill>
              </a:rPr>
              <a:t>l'inscription</a:t>
            </a:r>
            <a:r>
              <a:rPr lang="en-GB" sz="2200" dirty="0">
                <a:solidFill>
                  <a:srgbClr val="000000"/>
                </a:solidFill>
              </a:rPr>
              <a:t> de nom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173288" name="Line 232"/>
          <p:cNvSpPr>
            <a:spLocks noChangeShapeType="1"/>
          </p:cNvSpPr>
          <p:nvPr/>
        </p:nvSpPr>
        <p:spPr bwMode="auto">
          <a:xfrm>
            <a:off x="7603220" y="3962400"/>
            <a:ext cx="45719" cy="45720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fr-FR" sz="2200"/>
          </a:p>
        </p:txBody>
      </p:sp>
      <p:sp>
        <p:nvSpPr>
          <p:cNvPr id="173289" name="Rectangle 233"/>
          <p:cNvSpPr>
            <a:spLocks noChangeArrowheads="1"/>
          </p:cNvSpPr>
          <p:nvPr/>
        </p:nvSpPr>
        <p:spPr bwMode="auto">
          <a:xfrm>
            <a:off x="5155295" y="4419599"/>
            <a:ext cx="3582298" cy="517525"/>
          </a:xfrm>
          <a:prstGeom prst="rect">
            <a:avLst/>
          </a:prstGeom>
          <a:solidFill>
            <a:schemeClr val="accent1"/>
          </a:solidFill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r>
              <a:rPr lang="en-GB" sz="2200">
                <a:solidFill>
                  <a:srgbClr val="000000"/>
                </a:solidFill>
              </a:rPr>
              <a:t>Indique quand l'entrée expire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173291" name="Rectangle 235"/>
          <p:cNvSpPr>
            <a:spLocks noChangeArrowheads="1"/>
          </p:cNvSpPr>
          <p:nvPr/>
        </p:nvSpPr>
        <p:spPr bwMode="auto">
          <a:xfrm>
            <a:off x="476250" y="1878013"/>
            <a:ext cx="1301750" cy="2084387"/>
          </a:xfrm>
          <a:prstGeom prst="rect">
            <a:avLst/>
          </a:prstGeom>
          <a:noFill/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3292" name="Rectangle 236"/>
          <p:cNvSpPr>
            <a:spLocks noChangeArrowheads="1"/>
          </p:cNvSpPr>
          <p:nvPr/>
        </p:nvSpPr>
        <p:spPr bwMode="auto">
          <a:xfrm>
            <a:off x="1781175" y="1879600"/>
            <a:ext cx="2119313" cy="2082800"/>
          </a:xfrm>
          <a:prstGeom prst="rect">
            <a:avLst/>
          </a:prstGeom>
          <a:noFill/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3293" name="Rectangle 237"/>
          <p:cNvSpPr>
            <a:spLocks noChangeArrowheads="1"/>
          </p:cNvSpPr>
          <p:nvPr/>
        </p:nvSpPr>
        <p:spPr bwMode="auto">
          <a:xfrm>
            <a:off x="3903663" y="1878013"/>
            <a:ext cx="977900" cy="2084387"/>
          </a:xfrm>
          <a:prstGeom prst="rect">
            <a:avLst/>
          </a:prstGeom>
          <a:noFill/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3294" name="Rectangle 238"/>
          <p:cNvSpPr>
            <a:spLocks noChangeArrowheads="1"/>
          </p:cNvSpPr>
          <p:nvPr/>
        </p:nvSpPr>
        <p:spPr bwMode="auto">
          <a:xfrm>
            <a:off x="5318125" y="1863725"/>
            <a:ext cx="431800" cy="2098675"/>
          </a:xfrm>
          <a:prstGeom prst="rect">
            <a:avLst/>
          </a:prstGeom>
          <a:noFill/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3295" name="Rectangle 239"/>
          <p:cNvSpPr>
            <a:spLocks noChangeArrowheads="1"/>
          </p:cNvSpPr>
          <p:nvPr/>
        </p:nvSpPr>
        <p:spPr bwMode="auto">
          <a:xfrm>
            <a:off x="4878388" y="1863725"/>
            <a:ext cx="439737" cy="2098675"/>
          </a:xfrm>
          <a:prstGeom prst="rect">
            <a:avLst/>
          </a:prstGeom>
          <a:noFill/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3296" name="Rectangle 240"/>
          <p:cNvSpPr>
            <a:spLocks noChangeArrowheads="1"/>
          </p:cNvSpPr>
          <p:nvPr/>
        </p:nvSpPr>
        <p:spPr bwMode="auto">
          <a:xfrm>
            <a:off x="5745163" y="1865313"/>
            <a:ext cx="1019175" cy="2097087"/>
          </a:xfrm>
          <a:prstGeom prst="rect">
            <a:avLst/>
          </a:prstGeom>
          <a:noFill/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3297" name="Rectangle 241"/>
          <p:cNvSpPr>
            <a:spLocks noChangeArrowheads="1"/>
          </p:cNvSpPr>
          <p:nvPr/>
        </p:nvSpPr>
        <p:spPr bwMode="auto">
          <a:xfrm>
            <a:off x="6764338" y="1865313"/>
            <a:ext cx="546100" cy="2097087"/>
          </a:xfrm>
          <a:prstGeom prst="rect">
            <a:avLst/>
          </a:prstGeom>
          <a:noFill/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3298" name="Rectangle 242"/>
          <p:cNvSpPr>
            <a:spLocks noChangeArrowheads="1"/>
          </p:cNvSpPr>
          <p:nvPr/>
        </p:nvSpPr>
        <p:spPr bwMode="auto">
          <a:xfrm>
            <a:off x="7313613" y="1865313"/>
            <a:ext cx="1239837" cy="2097087"/>
          </a:xfrm>
          <a:prstGeom prst="rect">
            <a:avLst/>
          </a:prstGeom>
          <a:noFill/>
          <a:ln w="3175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73299" name="Group 243"/>
          <p:cNvGrpSpPr>
            <a:grpSpLocks/>
          </p:cNvGrpSpPr>
          <p:nvPr/>
        </p:nvGrpSpPr>
        <p:grpSpPr bwMode="auto">
          <a:xfrm>
            <a:off x="609600" y="6051550"/>
            <a:ext cx="914400" cy="425450"/>
            <a:chOff x="384" y="3024"/>
            <a:chExt cx="720" cy="336"/>
          </a:xfrm>
        </p:grpSpPr>
        <p:sp>
          <p:nvSpPr>
            <p:cNvPr id="173300" name="Oval 244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73301" name="Group 245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173302" name="Oval 246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73303" name="Freeform 247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73304" name="Group 248"/>
          <p:cNvGrpSpPr>
            <a:grpSpLocks/>
          </p:cNvGrpSpPr>
          <p:nvPr/>
        </p:nvGrpSpPr>
        <p:grpSpPr bwMode="auto">
          <a:xfrm>
            <a:off x="1096963" y="6142038"/>
            <a:ext cx="304800" cy="244475"/>
            <a:chOff x="768" y="3096"/>
            <a:chExt cx="240" cy="192"/>
          </a:xfrm>
        </p:grpSpPr>
        <p:sp>
          <p:nvSpPr>
            <p:cNvPr id="173305" name="Oval 249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3306" name="Rectangle 250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3272" name="Rectangle 216"/>
          <p:cNvSpPr>
            <a:spLocks noChangeArrowheads="1"/>
          </p:cNvSpPr>
          <p:nvPr/>
        </p:nvSpPr>
        <p:spPr bwMode="auto">
          <a:xfrm>
            <a:off x="624124" y="3995964"/>
            <a:ext cx="8418278" cy="1876425"/>
          </a:xfrm>
          <a:prstGeom prst="rect">
            <a:avLst/>
          </a:prstGeom>
          <a:solidFill>
            <a:schemeClr val="accent1"/>
          </a:solidFill>
          <a:ln w="3175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 sz="2200"/>
          </a:p>
        </p:txBody>
      </p:sp>
      <p:sp>
        <p:nvSpPr>
          <p:cNvPr id="38" name="Espace réservé du numéro de diapositive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12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274" grpId="0" animBg="1"/>
      <p:bldP spid="173273" grpId="0" animBg="1"/>
      <p:bldP spid="173275" grpId="0" animBg="1"/>
      <p:bldP spid="173276" grpId="0" animBg="1"/>
      <p:bldP spid="173277" grpId="0" animBg="1"/>
      <p:bldP spid="173278" grpId="0" animBg="1"/>
      <p:bldP spid="173280" grpId="0" animBg="1"/>
      <p:bldP spid="173281" grpId="0" animBg="1"/>
      <p:bldP spid="173282" grpId="0" animBg="1"/>
      <p:bldP spid="173283" grpId="0" animBg="1"/>
      <p:bldP spid="173284" grpId="0" animBg="1"/>
      <p:bldP spid="173285" grpId="0" animBg="1"/>
      <p:bldP spid="173286" grpId="0" animBg="1"/>
      <p:bldP spid="173287" grpId="0" animBg="1"/>
      <p:bldP spid="173288" grpId="0" animBg="1"/>
      <p:bldP spid="173289" grpId="0" animBg="1"/>
      <p:bldP spid="173291" grpId="0" animBg="1"/>
      <p:bldP spid="173292" grpId="0" animBg="1"/>
      <p:bldP spid="173293" grpId="0" animBg="1"/>
      <p:bldP spid="173294" grpId="0" animBg="1"/>
      <p:bldP spid="173295" grpId="0" animBg="1"/>
      <p:bldP spid="173296" grpId="0" animBg="1"/>
      <p:bldP spid="173297" grpId="0" animBg="1"/>
      <p:bldP spid="173298" grpId="0" animBg="1"/>
      <p:bldP spid="1732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14" name="AutoShape 42"/>
          <p:cNvSpPr>
            <a:spLocks noChangeArrowheads="1"/>
          </p:cNvSpPr>
          <p:nvPr/>
        </p:nvSpPr>
        <p:spPr bwMode="auto">
          <a:xfrm>
            <a:off x="3043238" y="1676400"/>
            <a:ext cx="2714625" cy="3152775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pPr algn="r"/>
            <a:endParaRPr lang="en-GB"/>
          </a:p>
        </p:txBody>
      </p:sp>
      <p:sp>
        <p:nvSpPr>
          <p:cNvPr id="259077" name="Rectangle 5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pPr marL="460375" indent="-460375"/>
            <a:r>
              <a:rPr lang="en-GB" sz="3000" b="1" dirty="0" err="1">
                <a:solidFill>
                  <a:srgbClr val="C00000"/>
                </a:solidFill>
              </a:rPr>
              <a:t>Présentation d'un mappage statique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pic>
        <p:nvPicPr>
          <p:cNvPr id="259075" name="Picture 3" descr="Server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159500" y="3523334"/>
            <a:ext cx="1252538" cy="1558925"/>
          </a:xfrm>
          <a:prstGeom prst="rect">
            <a:avLst/>
          </a:prstGeom>
          <a:noFill/>
        </p:spPr>
      </p:pic>
      <p:pic>
        <p:nvPicPr>
          <p:cNvPr id="259076" name="Picture 4" descr="Database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927850" y="4455197"/>
            <a:ext cx="898525" cy="769937"/>
          </a:xfrm>
          <a:prstGeom prst="rect">
            <a:avLst/>
          </a:prstGeom>
          <a:noFill/>
        </p:spPr>
      </p:pic>
      <p:sp>
        <p:nvSpPr>
          <p:cNvPr id="259085" name="Line 13"/>
          <p:cNvSpPr>
            <a:spLocks noChangeShapeType="1"/>
          </p:cNvSpPr>
          <p:nvPr/>
        </p:nvSpPr>
        <p:spPr bwMode="auto">
          <a:xfrm>
            <a:off x="2828246" y="6242716"/>
            <a:ext cx="2970212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259113" name="AutoShape 4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83" y="6061737"/>
            <a:ext cx="2577635" cy="433387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500">
                <a:solidFill>
                  <a:srgbClr val="000000"/>
                </a:solidFill>
              </a:rPr>
              <a:t>Clients non-WINS</a:t>
            </a:r>
            <a:endParaRPr lang="en-US" sz="2500"/>
          </a:p>
        </p:txBody>
      </p:sp>
      <p:sp>
        <p:nvSpPr>
          <p:cNvPr id="259119" name="AutoShape 4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92800" y="6061739"/>
            <a:ext cx="3077025" cy="433387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500">
                <a:solidFill>
                  <a:srgbClr val="000000"/>
                </a:solidFill>
              </a:rPr>
              <a:t>Base de données WINS</a:t>
            </a:r>
            <a:endParaRPr lang="en-US" sz="2500"/>
          </a:p>
        </p:txBody>
      </p:sp>
      <p:sp>
        <p:nvSpPr>
          <p:cNvPr id="259120" name="AutoShape 4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4172" y="1418996"/>
            <a:ext cx="8795658" cy="1382261"/>
          </a:xfrm>
          <a:prstGeom prst="roundRect">
            <a:avLst>
              <a:gd name="adj" fmla="val 24236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800">
                <a:solidFill>
                  <a:srgbClr val="000000"/>
                </a:solidFill>
              </a:rPr>
              <a:t>Un </a:t>
            </a:r>
            <a:r>
              <a:rPr lang="en-GB" sz="2800" i="1">
                <a:solidFill>
                  <a:srgbClr val="000000"/>
                </a:solidFill>
              </a:rPr>
              <a:t>mappage statique</a:t>
            </a:r>
            <a:r>
              <a:rPr lang="en-GB" sz="2800">
                <a:solidFill>
                  <a:srgbClr val="000000"/>
                </a:solidFill>
              </a:rPr>
              <a:t> est une entrée manuelle dans la base de données WINS qui mappe un nom NetBIOS à une adresse IP</a:t>
            </a:r>
            <a:endParaRPr lang="en-US" sz="2800"/>
          </a:p>
        </p:txBody>
      </p:sp>
      <p:grpSp>
        <p:nvGrpSpPr>
          <p:cNvPr id="259126" name="Group 49"/>
          <p:cNvGrpSpPr>
            <a:grpSpLocks/>
          </p:cNvGrpSpPr>
          <p:nvPr/>
        </p:nvGrpSpPr>
        <p:grpSpPr bwMode="auto">
          <a:xfrm>
            <a:off x="367625" y="3282034"/>
            <a:ext cx="2232025" cy="2222500"/>
            <a:chOff x="387" y="1784"/>
            <a:chExt cx="1406" cy="1400"/>
          </a:xfrm>
        </p:grpSpPr>
        <p:pic>
          <p:nvPicPr>
            <p:cNvPr id="259110" name="Picture 38" descr="Server01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1154" y="1784"/>
              <a:ext cx="639" cy="828"/>
            </a:xfrm>
            <a:prstGeom prst="rect">
              <a:avLst/>
            </a:prstGeom>
            <a:noFill/>
          </p:spPr>
        </p:pic>
        <p:pic>
          <p:nvPicPr>
            <p:cNvPr id="259111" name="Picture 39" descr="Server01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7" y="1987"/>
              <a:ext cx="695" cy="900"/>
            </a:xfrm>
            <a:prstGeom prst="rect">
              <a:avLst/>
            </a:prstGeom>
            <a:noFill/>
          </p:spPr>
        </p:pic>
        <p:pic>
          <p:nvPicPr>
            <p:cNvPr id="259112" name="Picture 40" descr="Computer_DesktopComputerSansKeyboard01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968" y="2382"/>
              <a:ext cx="657" cy="802"/>
            </a:xfrm>
            <a:prstGeom prst="rect">
              <a:avLst/>
            </a:prstGeom>
            <a:noFill/>
          </p:spPr>
        </p:pic>
      </p:grpSp>
      <p:pic>
        <p:nvPicPr>
          <p:cNvPr id="259124" name="Picture 52" descr="UserWithDesktopComputer01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3567113" y="2840709"/>
            <a:ext cx="1666875" cy="1938338"/>
          </a:xfrm>
          <a:prstGeom prst="rect">
            <a:avLst/>
          </a:prstGeom>
          <a:noFill/>
        </p:spPr>
      </p:pic>
      <p:sp>
        <p:nvSpPr>
          <p:cNvPr id="259125" name="AutoShape 5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91465" y="4818747"/>
            <a:ext cx="3965792" cy="1215553"/>
          </a:xfrm>
          <a:prstGeom prst="roundRect">
            <a:avLst>
              <a:gd name="adj" fmla="val 8120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600">
                <a:solidFill>
                  <a:srgbClr val="000000"/>
                </a:solidFill>
              </a:rPr>
              <a:t>L'administrateur saisit une entrée</a:t>
            </a:r>
            <a:r>
              <a:rPr lang="en-US" sz="2600"/>
              <a:t> </a:t>
            </a:r>
            <a:r>
              <a:rPr lang="en-GB" sz="2600">
                <a:solidFill>
                  <a:srgbClr val="000000"/>
                </a:solidFill>
              </a:rPr>
              <a:t>de mappage d'un </a:t>
            </a:r>
            <a:br>
              <a:rPr lang="en-GB" sz="2600">
                <a:solidFill>
                  <a:srgbClr val="000000"/>
                </a:solidFill>
              </a:rPr>
            </a:br>
            <a:r>
              <a:rPr lang="en-GB" sz="2600">
                <a:solidFill>
                  <a:srgbClr val="000000"/>
                </a:solidFill>
              </a:rPr>
              <a:t>nom à une adresse IP</a:t>
            </a:r>
            <a:endParaRPr lang="en-US" sz="2600">
              <a:solidFill>
                <a:srgbClr val="000000"/>
              </a:solidFill>
            </a:endParaRP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13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5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5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25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1000"/>
                                        <p:tgtEl>
                                          <p:spTgt spid="25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25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25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25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25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114" grpId="0" animBg="1"/>
      <p:bldP spid="259085" grpId="0" animBg="1"/>
      <p:bldP spid="259113" grpId="0" animBg="1"/>
      <p:bldP spid="259119" grpId="0" animBg="1"/>
      <p:bldP spid="2591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77788"/>
            <a:ext cx="7923213" cy="684212"/>
          </a:xfrm>
        </p:spPr>
        <p:txBody>
          <a:bodyPr vert="horz" anchor="b">
            <a:normAutofit fontScale="90000"/>
          </a:bodyPr>
          <a:lstStyle/>
          <a:p>
            <a:r>
              <a:rPr lang="fr-FR" sz="3000" dirty="0" err="1">
                <a:solidFill>
                  <a:srgbClr val="C00000"/>
                </a:solidFill>
              </a:rPr>
              <a:t>Comment ajouter une entrée de mappage statique</a:t>
            </a:r>
            <a:endParaRPr lang="en-US" sz="3000" dirty="0" err="1">
              <a:solidFill>
                <a:srgbClr val="C00000"/>
              </a:solidFill>
            </a:endParaRPr>
          </a:p>
        </p:txBody>
      </p:sp>
      <p:sp>
        <p:nvSpPr>
          <p:cNvPr id="311308" name="AutoShap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6229" y="2657929"/>
            <a:ext cx="6867525" cy="904875"/>
          </a:xfrm>
          <a:prstGeom prst="roundRect">
            <a:avLst>
              <a:gd name="adj" fmla="val 17194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800" dirty="0" smtClean="0">
                <a:solidFill>
                  <a:srgbClr val="000000"/>
                </a:solidFill>
                <a:hlinkClick r:id="rId5" action="ppaction://hlinkfile"/>
              </a:rPr>
              <a:t>Ajouter </a:t>
            </a:r>
            <a:r>
              <a:rPr lang="en-GB" sz="2800" dirty="0" err="1">
                <a:solidFill>
                  <a:srgbClr val="000000"/>
                </a:solidFill>
                <a:hlinkClick r:id="rId5" action="ppaction://hlinkfile"/>
              </a:rPr>
              <a:t>une</a:t>
            </a:r>
            <a:r>
              <a:rPr lang="en-GB" sz="2800" dirty="0">
                <a:solidFill>
                  <a:srgbClr val="000000"/>
                </a:solidFill>
                <a:hlinkClick r:id="rId5" action="ppaction://hlinkfile"/>
              </a:rPr>
              <a:t> entrée de </a:t>
            </a:r>
            <a:r>
              <a:rPr lang="en-GB" sz="2800" dirty="0" err="1">
                <a:solidFill>
                  <a:srgbClr val="000000"/>
                </a:solidFill>
                <a:hlinkClick r:id="rId5" action="ppaction://hlinkfile"/>
              </a:rPr>
              <a:t>mappage</a:t>
            </a:r>
            <a:r>
              <a:rPr lang="en-GB" sz="2800" dirty="0">
                <a:solidFill>
                  <a:srgbClr val="000000"/>
                </a:solidFill>
                <a:hlinkClick r:id="rId5" action="ppaction://hlinkfile"/>
              </a:rPr>
              <a:t> </a:t>
            </a:r>
            <a:r>
              <a:rPr lang="en-GB" sz="2800" dirty="0" err="1">
                <a:solidFill>
                  <a:srgbClr val="000000"/>
                </a:solidFill>
                <a:hlinkClick r:id="rId5" action="ppaction://hlinkfile"/>
              </a:rPr>
              <a:t>statique</a:t>
            </a:r>
            <a:endParaRPr lang="en-US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14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9571" y="179388"/>
            <a:ext cx="8741229" cy="938212"/>
          </a:xfrm>
        </p:spPr>
        <p:txBody>
          <a:bodyPr vert="horz" anchor="b">
            <a:normAutofit fontScale="90000"/>
          </a:bodyPr>
          <a:lstStyle/>
          <a:p>
            <a:r>
              <a:rPr lang="fr-FR" sz="3000" b="1" dirty="0" err="1">
                <a:solidFill>
                  <a:srgbClr val="C00000"/>
                </a:solidFill>
              </a:rPr>
              <a:t>Méthodes de filtrage et d'affichage des enregistrements du service WINS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graphicFrame>
        <p:nvGraphicFramePr>
          <p:cNvPr id="200918" name="Group 214"/>
          <p:cNvGraphicFramePr>
            <a:graphicFrameLocks noGrp="1"/>
          </p:cNvGraphicFramePr>
          <p:nvPr/>
        </p:nvGraphicFramePr>
        <p:xfrm>
          <a:off x="199571" y="1342571"/>
          <a:ext cx="8770257" cy="5058230"/>
        </p:xfrm>
        <a:graphic>
          <a:graphicData uri="http://schemas.openxmlformats.org/drawingml/2006/table">
            <a:tbl>
              <a:tblPr/>
              <a:tblGrid>
                <a:gridCol w="3037115"/>
                <a:gridCol w="5733142"/>
              </a:tblGrid>
              <a:tr h="6685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30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Filtre</a:t>
                      </a:r>
                      <a:r>
                        <a:rPr kumimoji="0" lang="en-GB" sz="3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30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recherche</a:t>
                      </a:r>
                      <a:endParaRPr kumimoji="0" lang="en-US" sz="3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3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Description</a:t>
                      </a:r>
                      <a:endParaRPr kumimoji="0" lang="en-US" sz="3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</a:tr>
              <a:tr h="168653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Mappage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enregistrements</a:t>
                      </a: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À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partir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d'un nom NetBIOS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complet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ou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non et/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ou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d'une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adresse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IP, avec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ou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sans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paramètre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masque de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sous-réseau</a:t>
                      </a:r>
                      <a:endParaRPr kumimoji="0" lang="en-US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1712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Propriétaires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enregistrements</a:t>
                      </a: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À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partir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enregistrements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noms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d'un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ou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plusieurs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propriétaires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d'enregistrements</a:t>
                      </a:r>
                      <a:endParaRPr kumimoji="0" lang="en-US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5319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Types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d'enregistrements</a:t>
                      </a: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À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partir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d'un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ou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plusieurs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types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d'enregistrements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suffixes de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noms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NetBIOS</a:t>
                      </a:r>
                      <a:endParaRPr kumimoji="0" lang="en-US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15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fr-FR" sz="3000" dirty="0" err="1">
                <a:solidFill>
                  <a:srgbClr val="C00000"/>
                </a:solidFill>
              </a:rPr>
              <a:t>Comment filtrer les enregistrements WINS</a:t>
            </a:r>
            <a:endParaRPr lang="en-US" sz="3000" dirty="0" err="1">
              <a:solidFill>
                <a:srgbClr val="C00000"/>
              </a:solidFill>
            </a:endParaRPr>
          </a:p>
        </p:txBody>
      </p:sp>
      <p:sp>
        <p:nvSpPr>
          <p:cNvPr id="312330" name="AutoShape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31372" y="2759529"/>
            <a:ext cx="6867525" cy="904875"/>
          </a:xfrm>
          <a:prstGeom prst="roundRect">
            <a:avLst>
              <a:gd name="adj" fmla="val 17194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800" dirty="0" smtClean="0">
                <a:solidFill>
                  <a:srgbClr val="000000"/>
                </a:solidFill>
                <a:hlinkClick r:id="rId5" action="ppaction://hlinkfile"/>
              </a:rPr>
              <a:t>Filtrer </a:t>
            </a:r>
            <a:r>
              <a:rPr lang="en-GB" sz="2800" dirty="0">
                <a:solidFill>
                  <a:srgbClr val="000000"/>
                </a:solidFill>
                <a:hlinkClick r:id="rId5" action="ppaction://hlinkfile"/>
              </a:rPr>
              <a:t>des </a:t>
            </a:r>
            <a:r>
              <a:rPr lang="en-GB" sz="2800" dirty="0" err="1">
                <a:solidFill>
                  <a:srgbClr val="000000"/>
                </a:solidFill>
                <a:hlinkClick r:id="rId5" action="ppaction://hlinkfile"/>
              </a:rPr>
              <a:t>enregistrements</a:t>
            </a:r>
            <a:r>
              <a:rPr lang="en-GB" sz="2800" dirty="0">
                <a:solidFill>
                  <a:srgbClr val="000000"/>
                </a:solidFill>
                <a:hlinkClick r:id="rId5" action="ppaction://hlinkfile"/>
              </a:rPr>
              <a:t> WINS</a:t>
            </a:r>
            <a:endParaRPr lang="en-US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16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9570" y="275773"/>
            <a:ext cx="8755743" cy="667657"/>
          </a:xfrm>
        </p:spPr>
        <p:txBody>
          <a:bodyPr>
            <a:normAutofit/>
          </a:bodyPr>
          <a:lstStyle/>
          <a:p>
            <a:pPr marL="460375" indent="-460375"/>
            <a:r>
              <a:rPr lang="fr-FR" b="1" dirty="0" smtClean="0">
                <a:solidFill>
                  <a:srgbClr val="000000"/>
                </a:solidFill>
              </a:rPr>
              <a:t>4. Configuration </a:t>
            </a:r>
            <a:r>
              <a:rPr lang="fr-FR" b="1" dirty="0">
                <a:solidFill>
                  <a:srgbClr val="000000"/>
                </a:solidFill>
              </a:rPr>
              <a:t>de la réplication WINS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42695" y="1840947"/>
            <a:ext cx="8503920" cy="4000295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lang="en-GB" sz="3000" dirty="0" err="1">
                <a:solidFill>
                  <a:srgbClr val="000000"/>
                </a:solidFill>
              </a:rPr>
              <a:t>Fonctionnement</a:t>
            </a:r>
            <a:r>
              <a:rPr lang="en-GB" sz="3000" dirty="0">
                <a:solidFill>
                  <a:srgbClr val="000000"/>
                </a:solidFill>
              </a:rPr>
              <a:t> de la </a:t>
            </a:r>
            <a:r>
              <a:rPr lang="en-GB" sz="3000" dirty="0" err="1">
                <a:solidFill>
                  <a:srgbClr val="000000"/>
                </a:solidFill>
              </a:rPr>
              <a:t>réplication</a:t>
            </a:r>
            <a:r>
              <a:rPr lang="en-GB" sz="3000" dirty="0">
                <a:solidFill>
                  <a:srgbClr val="000000"/>
                </a:solidFill>
              </a:rPr>
              <a:t> WINS</a:t>
            </a:r>
            <a:endParaRPr lang="en-US" sz="3000" dirty="0"/>
          </a:p>
          <a:p>
            <a:pPr>
              <a:buClrTx/>
            </a:pPr>
            <a:r>
              <a:rPr lang="en-GB" sz="3000" dirty="0" err="1">
                <a:solidFill>
                  <a:srgbClr val="000000"/>
                </a:solidFill>
              </a:rPr>
              <a:t>Fonctionnement</a:t>
            </a:r>
            <a:r>
              <a:rPr lang="en-GB" sz="3000" dirty="0">
                <a:solidFill>
                  <a:srgbClr val="000000"/>
                </a:solidFill>
              </a:rPr>
              <a:t> de la </a:t>
            </a:r>
            <a:r>
              <a:rPr lang="en-GB" sz="3000" dirty="0" err="1">
                <a:solidFill>
                  <a:srgbClr val="000000"/>
                </a:solidFill>
              </a:rPr>
              <a:t>réplication</a:t>
            </a:r>
            <a:r>
              <a:rPr lang="en-GB" sz="3000" dirty="0">
                <a:solidFill>
                  <a:srgbClr val="000000"/>
                </a:solidFill>
              </a:rPr>
              <a:t> par </a:t>
            </a:r>
            <a:r>
              <a:rPr lang="en-GB" sz="3000" dirty="0" err="1">
                <a:solidFill>
                  <a:srgbClr val="000000"/>
                </a:solidFill>
              </a:rPr>
              <a:t>émission</a:t>
            </a:r>
            <a:endParaRPr lang="en-US" sz="3000" dirty="0"/>
          </a:p>
          <a:p>
            <a:pPr>
              <a:buClrTx/>
            </a:pPr>
            <a:r>
              <a:rPr lang="en-GB" sz="3000" dirty="0" err="1">
                <a:solidFill>
                  <a:srgbClr val="000000"/>
                </a:solidFill>
              </a:rPr>
              <a:t>Fonctionnement</a:t>
            </a:r>
            <a:r>
              <a:rPr lang="en-GB" sz="3000" dirty="0">
                <a:solidFill>
                  <a:srgbClr val="000000"/>
                </a:solidFill>
              </a:rPr>
              <a:t> de la </a:t>
            </a:r>
            <a:r>
              <a:rPr lang="en-GB" sz="3000" dirty="0" err="1">
                <a:solidFill>
                  <a:srgbClr val="000000"/>
                </a:solidFill>
              </a:rPr>
              <a:t>réplication</a:t>
            </a:r>
            <a:r>
              <a:rPr lang="en-GB" sz="3000" dirty="0">
                <a:solidFill>
                  <a:srgbClr val="000000"/>
                </a:solidFill>
              </a:rPr>
              <a:t> par </a:t>
            </a:r>
            <a:r>
              <a:rPr lang="en-GB" sz="3000" dirty="0" err="1">
                <a:solidFill>
                  <a:srgbClr val="000000"/>
                </a:solidFill>
              </a:rPr>
              <a:t>réception</a:t>
            </a:r>
            <a:endParaRPr lang="en-US" sz="3000" dirty="0"/>
          </a:p>
          <a:p>
            <a:pPr>
              <a:buClrTx/>
            </a:pPr>
            <a:r>
              <a:rPr lang="en-GB" sz="3000" dirty="0" err="1">
                <a:solidFill>
                  <a:srgbClr val="000000"/>
                </a:solidFill>
              </a:rPr>
              <a:t>Présentation</a:t>
            </a:r>
            <a:r>
              <a:rPr lang="en-GB" sz="3000" dirty="0">
                <a:solidFill>
                  <a:srgbClr val="000000"/>
                </a:solidFill>
              </a:rPr>
              <a:t> de la </a:t>
            </a:r>
            <a:r>
              <a:rPr lang="en-GB" sz="3000" dirty="0" err="1">
                <a:solidFill>
                  <a:srgbClr val="000000"/>
                </a:solidFill>
              </a:rPr>
              <a:t>réplication</a:t>
            </a:r>
            <a:r>
              <a:rPr lang="en-GB" sz="3000" dirty="0">
                <a:solidFill>
                  <a:srgbClr val="000000"/>
                </a:solidFill>
              </a:rPr>
              <a:t> par </a:t>
            </a:r>
            <a:r>
              <a:rPr lang="en-GB" sz="3000" dirty="0" err="1">
                <a:solidFill>
                  <a:srgbClr val="000000"/>
                </a:solidFill>
              </a:rPr>
              <a:t>émission</a:t>
            </a:r>
            <a:r>
              <a:rPr lang="en-GB" sz="3000" dirty="0">
                <a:solidFill>
                  <a:srgbClr val="000000"/>
                </a:solidFill>
              </a:rPr>
              <a:t>/</a:t>
            </a:r>
            <a:r>
              <a:rPr lang="en-GB" sz="3000" dirty="0" err="1">
                <a:solidFill>
                  <a:srgbClr val="000000"/>
                </a:solidFill>
              </a:rPr>
              <a:t>réception</a:t>
            </a:r>
            <a:endParaRPr lang="en-US" sz="3000" dirty="0"/>
          </a:p>
          <a:p>
            <a:pPr>
              <a:buClrTx/>
            </a:pPr>
            <a:r>
              <a:rPr lang="en-GB" sz="3000" dirty="0" err="1">
                <a:solidFill>
                  <a:srgbClr val="000000"/>
                </a:solidFill>
              </a:rPr>
              <a:t>Propriétés</a:t>
            </a:r>
            <a:r>
              <a:rPr lang="en-GB" sz="3000" dirty="0">
                <a:solidFill>
                  <a:srgbClr val="000000"/>
                </a:solidFill>
              </a:rPr>
              <a:t> des </a:t>
            </a:r>
            <a:r>
              <a:rPr lang="en-GB" sz="3000" dirty="0" err="1">
                <a:solidFill>
                  <a:srgbClr val="000000"/>
                </a:solidFill>
              </a:rPr>
              <a:t>partenaires</a:t>
            </a:r>
            <a:r>
              <a:rPr lang="en-GB" sz="3000" dirty="0">
                <a:solidFill>
                  <a:srgbClr val="000000"/>
                </a:solidFill>
              </a:rPr>
              <a:t> de </a:t>
            </a:r>
            <a:r>
              <a:rPr lang="en-GB" sz="3000" dirty="0" err="1">
                <a:solidFill>
                  <a:srgbClr val="000000"/>
                </a:solidFill>
              </a:rPr>
              <a:t>réplication</a:t>
            </a:r>
            <a:r>
              <a:rPr lang="en-GB" sz="3000" dirty="0">
                <a:solidFill>
                  <a:srgbClr val="000000"/>
                </a:solidFill>
              </a:rPr>
              <a:t> </a:t>
            </a:r>
            <a:r>
              <a:rPr lang="en-GB" sz="3000" dirty="0" smtClean="0">
                <a:solidFill>
                  <a:srgbClr val="000000"/>
                </a:solidFill>
              </a:rPr>
              <a:t>WINS</a:t>
            </a:r>
            <a:endParaRPr lang="en-US" sz="3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17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9572" y="295502"/>
            <a:ext cx="8755742" cy="684212"/>
          </a:xfrm>
        </p:spPr>
        <p:txBody>
          <a:bodyPr vert="horz" anchor="b">
            <a:normAutofit/>
          </a:bodyPr>
          <a:lstStyle/>
          <a:p>
            <a:pPr marL="460375" indent="-460375"/>
            <a:r>
              <a:rPr lang="fr-FR" sz="3000" b="1" dirty="0" err="1">
                <a:solidFill>
                  <a:srgbClr val="C00000"/>
                </a:solidFill>
              </a:rPr>
              <a:t>Fonctionnement de la réplication WINS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sp>
        <p:nvSpPr>
          <p:cNvPr id="263240" name="AutoShape 7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8682" y="1429432"/>
            <a:ext cx="8766629" cy="1255711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85000"/>
              </a:lnSpc>
            </a:pPr>
            <a:r>
              <a:rPr lang="en-GB" sz="2600">
                <a:solidFill>
                  <a:srgbClr val="000000"/>
                </a:solidFill>
              </a:rPr>
              <a:t>La </a:t>
            </a:r>
            <a:r>
              <a:rPr lang="en-GB" sz="2600" i="1">
                <a:solidFill>
                  <a:srgbClr val="000000"/>
                </a:solidFill>
              </a:rPr>
              <a:t>réplication WINS </a:t>
            </a:r>
            <a:r>
              <a:rPr lang="en-GB" sz="2600">
                <a:solidFill>
                  <a:srgbClr val="000000"/>
                </a:solidFill>
              </a:rPr>
              <a:t>est le processus qui consiste à copier les données WINS mises à jour d'un serveur WINS sur d'autres serveurs WINS d'un réseau afin de synchroniser les données</a:t>
            </a:r>
            <a:endParaRPr lang="en-US" sz="2600"/>
          </a:p>
        </p:txBody>
      </p:sp>
      <p:sp>
        <p:nvSpPr>
          <p:cNvPr id="263242" name="AutoShape 7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86857" y="3441913"/>
            <a:ext cx="2103211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400">
                <a:solidFill>
                  <a:srgbClr val="000000"/>
                </a:solidFill>
              </a:rPr>
              <a:t>Serveur WINS A</a:t>
            </a:r>
            <a:endParaRPr lang="en-US" sz="2400"/>
          </a:p>
        </p:txBody>
      </p:sp>
      <p:sp>
        <p:nvSpPr>
          <p:cNvPr id="263243" name="Oval 7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75771" y="3875314"/>
            <a:ext cx="3549199" cy="2553821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63244" name="Line 7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1079256" y="5088720"/>
            <a:ext cx="726414" cy="64509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263245" name="Line 7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V="1">
            <a:off x="2045967" y="5370286"/>
            <a:ext cx="697233" cy="590536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263246" name="Picture 78" descr="Computer_DesktopComputerSansKeyboard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37" cstate="print"/>
          <a:srcRect/>
          <a:stretch>
            <a:fillRect/>
          </a:stretch>
        </p:blipFill>
        <p:spPr bwMode="auto">
          <a:xfrm>
            <a:off x="1813658" y="5279188"/>
            <a:ext cx="723850" cy="883248"/>
          </a:xfrm>
          <a:prstGeom prst="rect">
            <a:avLst/>
          </a:prstGeom>
          <a:noFill/>
        </p:spPr>
      </p:pic>
      <p:sp>
        <p:nvSpPr>
          <p:cNvPr id="263247" name="Line 7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V="1">
            <a:off x="2220687" y="4814730"/>
            <a:ext cx="631146" cy="36687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263248" name="Oval 8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131482" y="4238172"/>
            <a:ext cx="3562575" cy="2190964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63249" name="Line 8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V="1">
            <a:off x="6133194" y="5131749"/>
            <a:ext cx="735700" cy="576661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263251" name="Picture 83" descr="Server01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38" cstate="print"/>
          <a:srcRect/>
          <a:stretch>
            <a:fillRect/>
          </a:stretch>
        </p:blipFill>
        <p:spPr bwMode="auto">
          <a:xfrm>
            <a:off x="2390005" y="3915651"/>
            <a:ext cx="909502" cy="1151410"/>
          </a:xfrm>
          <a:prstGeom prst="rect">
            <a:avLst/>
          </a:prstGeom>
          <a:noFill/>
        </p:spPr>
      </p:pic>
      <p:pic>
        <p:nvPicPr>
          <p:cNvPr id="263252" name="Picture 84" descr="Database01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39" cstate="print"/>
          <a:srcRect/>
          <a:stretch>
            <a:fillRect/>
          </a:stretch>
        </p:blipFill>
        <p:spPr bwMode="auto">
          <a:xfrm>
            <a:off x="2869454" y="4559161"/>
            <a:ext cx="650715" cy="526949"/>
          </a:xfrm>
          <a:prstGeom prst="rect">
            <a:avLst/>
          </a:prstGeom>
          <a:noFill/>
        </p:spPr>
      </p:pic>
      <p:sp>
        <p:nvSpPr>
          <p:cNvPr id="263253" name="Line 8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6298293" y="4663784"/>
            <a:ext cx="459603" cy="360413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263255" name="Picture 87" descr="Server01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40" cstate="print"/>
          <a:srcRect/>
          <a:stretch>
            <a:fillRect/>
          </a:stretch>
        </p:blipFill>
        <p:spPr bwMode="auto">
          <a:xfrm>
            <a:off x="6290356" y="3866689"/>
            <a:ext cx="813141" cy="1033683"/>
          </a:xfrm>
          <a:prstGeom prst="rect">
            <a:avLst/>
          </a:prstGeom>
          <a:noFill/>
        </p:spPr>
      </p:pic>
      <p:pic>
        <p:nvPicPr>
          <p:cNvPr id="263256" name="Picture 88" descr="Database01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41" cstate="print"/>
          <a:srcRect/>
          <a:stretch>
            <a:fillRect/>
          </a:stretch>
        </p:blipFill>
        <p:spPr bwMode="auto">
          <a:xfrm>
            <a:off x="6728507" y="4446353"/>
            <a:ext cx="582499" cy="473069"/>
          </a:xfrm>
          <a:prstGeom prst="rect">
            <a:avLst/>
          </a:prstGeom>
          <a:noFill/>
        </p:spPr>
      </p:pic>
      <p:sp>
        <p:nvSpPr>
          <p:cNvPr id="263257" name="Line 89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flipV="1">
            <a:off x="5614082" y="4960877"/>
            <a:ext cx="567347" cy="445907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263258" name="Line 90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 flipV="1">
            <a:off x="6992032" y="5302901"/>
            <a:ext cx="545462" cy="432496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263259" name="Picture 91" descr="Computer_DesktopComputerSansKeyboard01"/>
          <p:cNvPicPr>
            <a:picLocks noChangeAspect="1" noChangeArrowheads="1"/>
          </p:cNvPicPr>
          <p:nvPr>
            <p:custDataLst>
              <p:tags r:id="rId18"/>
            </p:custDataLst>
          </p:nvPr>
        </p:nvPicPr>
        <p:blipFill>
          <a:blip r:embed="rId37" cstate="print"/>
          <a:srcRect/>
          <a:stretch>
            <a:fillRect/>
          </a:stretch>
        </p:blipFill>
        <p:spPr bwMode="auto">
          <a:xfrm>
            <a:off x="5304519" y="5006055"/>
            <a:ext cx="649840" cy="791256"/>
          </a:xfrm>
          <a:prstGeom prst="rect">
            <a:avLst/>
          </a:prstGeom>
          <a:noFill/>
        </p:spPr>
      </p:pic>
      <p:pic>
        <p:nvPicPr>
          <p:cNvPr id="263260" name="Picture 92" descr="Computer_DesktopComputerSansKeyboard01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37" cstate="print"/>
          <a:srcRect/>
          <a:stretch>
            <a:fillRect/>
          </a:stretch>
        </p:blipFill>
        <p:spPr bwMode="auto">
          <a:xfrm>
            <a:off x="6839632" y="5428330"/>
            <a:ext cx="649840" cy="791256"/>
          </a:xfrm>
          <a:prstGeom prst="rect">
            <a:avLst/>
          </a:prstGeom>
          <a:noFill/>
        </p:spPr>
      </p:pic>
      <p:sp>
        <p:nvSpPr>
          <p:cNvPr id="263261" name="Freeform 93"/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980169" y="4779722"/>
            <a:ext cx="7202488" cy="925513"/>
          </a:xfrm>
          <a:custGeom>
            <a:avLst/>
            <a:gdLst>
              <a:gd name="connsiteX0" fmla="*/ 0 w 4235"/>
              <a:gd name="connsiteY0" fmla="*/ 138 h 544"/>
              <a:gd name="connsiteX1" fmla="*/ 4 w 4235"/>
              <a:gd name="connsiteY1" fmla="*/ 40 h 544"/>
              <a:gd name="connsiteX2" fmla="*/ 1769 w 4235"/>
              <a:gd name="connsiteY2" fmla="*/ 544 h 544"/>
              <a:gd name="connsiteX3" fmla="*/ 2523 w 4235"/>
              <a:gd name="connsiteY3" fmla="*/ 0 h 544"/>
              <a:gd name="connsiteX4" fmla="*/ 4235 w 4235"/>
              <a:gd name="connsiteY4" fmla="*/ 406 h 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35" h="544">
                <a:moveTo>
                  <a:pt x="0" y="138"/>
                </a:moveTo>
                <a:cubicBezTo>
                  <a:pt x="1" y="105"/>
                  <a:pt x="3" y="73"/>
                  <a:pt x="4" y="40"/>
                </a:cubicBezTo>
                <a:lnTo>
                  <a:pt x="1769" y="544"/>
                </a:lnTo>
                <a:lnTo>
                  <a:pt x="2523" y="0"/>
                </a:lnTo>
                <a:lnTo>
                  <a:pt x="4235" y="406"/>
                </a:lnTo>
              </a:path>
            </a:pathLst>
          </a:custGeom>
          <a:noFill/>
          <a:ln w="38100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263262" name="Picture 94" descr="Rackmount_Router01"/>
          <p:cNvPicPr>
            <a:picLocks noChangeAspect="1" noChangeArrowheads="1"/>
          </p:cNvPicPr>
          <p:nvPr>
            <p:custDataLst>
              <p:tags r:id="rId21"/>
            </p:custDataLst>
          </p:nvPr>
        </p:nvPicPr>
        <p:blipFill>
          <a:blip r:embed="rId42" cstate="print"/>
          <a:srcRect/>
          <a:stretch>
            <a:fillRect/>
          </a:stretch>
        </p:blipFill>
        <p:spPr bwMode="auto">
          <a:xfrm>
            <a:off x="4080557" y="4978614"/>
            <a:ext cx="926872" cy="592529"/>
          </a:xfrm>
          <a:prstGeom prst="rect">
            <a:avLst/>
          </a:prstGeom>
          <a:noFill/>
        </p:spPr>
      </p:pic>
      <p:sp>
        <p:nvSpPr>
          <p:cNvPr id="263263" name="Text Box 95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850743" y="4836706"/>
            <a:ext cx="172070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0000"/>
                </a:solidFill>
              </a:rPr>
              <a:t>Sous-réseau</a:t>
            </a:r>
            <a:r>
              <a:rPr lang="en-GB" sz="2000" dirty="0">
                <a:solidFill>
                  <a:srgbClr val="000000"/>
                </a:solidFill>
              </a:rPr>
              <a:t> 2</a:t>
            </a:r>
            <a:endParaRPr lang="en-US" sz="2000" dirty="0"/>
          </a:p>
        </p:txBody>
      </p:sp>
      <p:sp>
        <p:nvSpPr>
          <p:cNvPr id="263264" name="Text Box 96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82171" y="4372461"/>
            <a:ext cx="1783126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200" dirty="0" err="1">
                <a:solidFill>
                  <a:srgbClr val="000000"/>
                </a:solidFill>
              </a:rPr>
              <a:t>Sous-réseau</a:t>
            </a:r>
            <a:r>
              <a:rPr lang="en-GB" sz="2200" dirty="0">
                <a:solidFill>
                  <a:srgbClr val="000000"/>
                </a:solidFill>
              </a:rPr>
              <a:t> 1</a:t>
            </a:r>
            <a:endParaRPr lang="en-US" sz="2200" dirty="0"/>
          </a:p>
        </p:txBody>
      </p:sp>
      <p:sp>
        <p:nvSpPr>
          <p:cNvPr id="263265" name="AutoShape 97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879646" y="3345983"/>
            <a:ext cx="2103211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400">
                <a:solidFill>
                  <a:srgbClr val="000000"/>
                </a:solidFill>
              </a:rPr>
              <a:t>Serveur WINS B</a:t>
            </a:r>
            <a:endParaRPr lang="en-US" sz="2400"/>
          </a:p>
        </p:txBody>
      </p:sp>
      <p:grpSp>
        <p:nvGrpSpPr>
          <p:cNvPr id="263276" name="Group 98"/>
          <p:cNvGrpSpPr>
            <a:grpSpLocks/>
          </p:cNvGrpSpPr>
          <p:nvPr>
            <p:custDataLst>
              <p:tags r:id="rId25"/>
            </p:custDataLst>
          </p:nvPr>
        </p:nvGrpSpPr>
        <p:grpSpPr bwMode="auto">
          <a:xfrm>
            <a:off x="2906948" y="3846287"/>
            <a:ext cx="3618439" cy="800086"/>
            <a:chOff x="2142" y="2086"/>
            <a:chExt cx="1824" cy="402"/>
          </a:xfrm>
        </p:grpSpPr>
        <p:sp>
          <p:nvSpPr>
            <p:cNvPr id="263267" name="AutoShape 99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641" y="2086"/>
              <a:ext cx="820" cy="402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400" dirty="0" err="1">
                  <a:solidFill>
                    <a:srgbClr val="000000"/>
                  </a:solidFill>
                </a:rPr>
                <a:t>Réplication</a:t>
              </a:r>
              <a:r>
                <a:rPr lang="en-GB" sz="2400" dirty="0">
                  <a:solidFill>
                    <a:srgbClr val="000000"/>
                  </a:solidFill>
                </a:rPr>
                <a:t> WINS</a:t>
              </a:r>
              <a:endParaRPr lang="en-US" sz="2400" dirty="0"/>
            </a:p>
          </p:txBody>
        </p:sp>
        <p:sp>
          <p:nvSpPr>
            <p:cNvPr id="263268" name="AutoShape 100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 flipH="1">
              <a:off x="2142" y="2156"/>
              <a:ext cx="470" cy="300"/>
            </a:xfrm>
            <a:custGeom>
              <a:avLst/>
              <a:gdLst>
                <a:gd name="G0" fmla="+- 11719 0 0"/>
                <a:gd name="G1" fmla="+- 5400 0 0"/>
                <a:gd name="G2" fmla="+- 21600 0 5400"/>
                <a:gd name="G3" fmla="+- 10800 0 5400"/>
                <a:gd name="G4" fmla="+- 21600 0 11719"/>
                <a:gd name="G5" fmla="*/ G4 G3 10800"/>
                <a:gd name="G6" fmla="+- 21600 0 G5"/>
                <a:gd name="T0" fmla="*/ 11719 w 21600"/>
                <a:gd name="T1" fmla="*/ 0 h 21600"/>
                <a:gd name="T2" fmla="*/ 0 w 21600"/>
                <a:gd name="T3" fmla="*/ 10800 h 21600"/>
                <a:gd name="T4" fmla="*/ 11719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719" y="0"/>
                  </a:moveTo>
                  <a:lnTo>
                    <a:pt x="11719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1719" y="16200"/>
                  </a:lnTo>
                  <a:lnTo>
                    <a:pt x="11719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0000">
                <a:alpha val="75000"/>
              </a:srgb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2200"/>
            </a:p>
          </p:txBody>
        </p:sp>
        <p:sp>
          <p:nvSpPr>
            <p:cNvPr id="263269" name="AutoShape 101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496" y="2156"/>
              <a:ext cx="470" cy="300"/>
            </a:xfrm>
            <a:custGeom>
              <a:avLst/>
              <a:gdLst>
                <a:gd name="G0" fmla="+- 11719 0 0"/>
                <a:gd name="G1" fmla="+- 5400 0 0"/>
                <a:gd name="G2" fmla="+- 21600 0 5400"/>
                <a:gd name="G3" fmla="+- 10800 0 5400"/>
                <a:gd name="G4" fmla="+- 21600 0 11719"/>
                <a:gd name="G5" fmla="*/ G4 G3 10800"/>
                <a:gd name="G6" fmla="+- 21600 0 G5"/>
                <a:gd name="T0" fmla="*/ 11719 w 21600"/>
                <a:gd name="T1" fmla="*/ 0 h 21600"/>
                <a:gd name="T2" fmla="*/ 0 w 21600"/>
                <a:gd name="T3" fmla="*/ 10800 h 21600"/>
                <a:gd name="T4" fmla="*/ 11719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719" y="0"/>
                  </a:moveTo>
                  <a:lnTo>
                    <a:pt x="11719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1719" y="16200"/>
                  </a:lnTo>
                  <a:lnTo>
                    <a:pt x="11719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0000">
                <a:alpha val="75000"/>
              </a:srgb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2200"/>
            </a:p>
          </p:txBody>
        </p:sp>
      </p:grpSp>
      <p:sp>
        <p:nvSpPr>
          <p:cNvPr id="263270" name="Oval 102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48370" y="4898313"/>
            <a:ext cx="1023962" cy="1151410"/>
          </a:xfrm>
          <a:prstGeom prst="ellipse">
            <a:avLst/>
          </a:prstGeom>
          <a:solidFill>
            <a:srgbClr val="CC0000">
              <a:alpha val="25000"/>
            </a:srgb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263271" name="Picture 103" descr="Computer_DesktopComputerSansKeyboard01"/>
          <p:cNvPicPr>
            <a:picLocks noChangeAspect="1" noChangeArrowheads="1"/>
          </p:cNvPicPr>
          <p:nvPr>
            <p:custDataLst>
              <p:tags r:id="rId27"/>
            </p:custDataLst>
          </p:nvPr>
        </p:nvPicPr>
        <p:blipFill>
          <a:blip r:embed="rId43" cstate="print"/>
          <a:srcRect/>
          <a:stretch>
            <a:fillRect/>
          </a:stretch>
        </p:blipFill>
        <p:spPr bwMode="auto">
          <a:xfrm>
            <a:off x="859282" y="5049289"/>
            <a:ext cx="725726" cy="881372"/>
          </a:xfrm>
          <a:prstGeom prst="rect">
            <a:avLst/>
          </a:prstGeom>
          <a:noFill/>
        </p:spPr>
      </p:pic>
      <p:sp>
        <p:nvSpPr>
          <p:cNvPr id="263272" name="Oval 104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868081" y="5098237"/>
            <a:ext cx="1037051" cy="1029274"/>
          </a:xfrm>
          <a:prstGeom prst="ellipse">
            <a:avLst/>
          </a:prstGeom>
          <a:solidFill>
            <a:srgbClr val="CC0000">
              <a:alpha val="25000"/>
            </a:srgb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263273" name="Picture 105" descr="Computer_DesktopComputerSansKeyboard01"/>
          <p:cNvPicPr>
            <a:picLocks noChangeAspect="1" noChangeArrowheads="1"/>
          </p:cNvPicPr>
          <p:nvPr>
            <p:custDataLst>
              <p:tags r:id="rId29"/>
            </p:custDataLst>
          </p:nvPr>
        </p:nvPicPr>
        <p:blipFill>
          <a:blip r:embed="rId43" cstate="print"/>
          <a:srcRect/>
          <a:stretch>
            <a:fillRect/>
          </a:stretch>
        </p:blipFill>
        <p:spPr bwMode="auto">
          <a:xfrm>
            <a:off x="6071281" y="5210842"/>
            <a:ext cx="651523" cy="791256"/>
          </a:xfrm>
          <a:prstGeom prst="rect">
            <a:avLst/>
          </a:prstGeom>
          <a:noFill/>
        </p:spPr>
      </p:pic>
      <p:sp>
        <p:nvSpPr>
          <p:cNvPr id="263274" name="Rectangle 106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920469" y="5909856"/>
            <a:ext cx="85372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000000"/>
                </a:solidFill>
              </a:rPr>
              <a:t>HôteB</a:t>
            </a:r>
            <a:endParaRPr lang="en-US" sz="2000"/>
          </a:p>
        </p:txBody>
      </p:sp>
      <p:sp>
        <p:nvSpPr>
          <p:cNvPr id="263275" name="Rectangle 107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871945" y="5886935"/>
            <a:ext cx="842949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0000"/>
                </a:solidFill>
              </a:rPr>
              <a:t>HôteA</a:t>
            </a:r>
            <a:endParaRPr lang="en-US" sz="2000" dirty="0"/>
          </a:p>
        </p:txBody>
      </p:sp>
      <p:sp>
        <p:nvSpPr>
          <p:cNvPr id="36" name="Espace réservé du numéro de diapositive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18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6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6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6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63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6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6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6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6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6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6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6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6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6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6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6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6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6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6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6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26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26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26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6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6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26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26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6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6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242" grpId="0" animBg="1"/>
      <p:bldP spid="263243" grpId="0" animBg="1"/>
      <p:bldP spid="263244" grpId="0" animBg="1"/>
      <p:bldP spid="263245" grpId="0" animBg="1"/>
      <p:bldP spid="263247" grpId="0" animBg="1"/>
      <p:bldP spid="263248" grpId="0" animBg="1"/>
      <p:bldP spid="263249" grpId="0" animBg="1"/>
      <p:bldP spid="263253" grpId="0" animBg="1"/>
      <p:bldP spid="263257" grpId="0" animBg="1"/>
      <p:bldP spid="263258" grpId="0" animBg="1"/>
      <p:bldP spid="263261" grpId="0" animBg="1"/>
      <p:bldP spid="263263" grpId="0"/>
      <p:bldP spid="263264" grpId="0"/>
      <p:bldP spid="263265" grpId="0" animBg="1"/>
      <p:bldP spid="263270" grpId="0" animBg="1"/>
      <p:bldP spid="263272" grpId="0" animBg="1"/>
      <p:bldP spid="263274" grpId="0"/>
      <p:bldP spid="26327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72955" y="323448"/>
            <a:ext cx="8611738" cy="550009"/>
          </a:xfrm>
        </p:spPr>
        <p:txBody>
          <a:bodyPr vert="horz" anchor="b">
            <a:normAutofit fontScale="90000"/>
          </a:bodyPr>
          <a:lstStyle/>
          <a:p>
            <a:pPr marL="460375" indent="-460375"/>
            <a:r>
              <a:rPr lang="fr-FR" sz="3000" b="1" dirty="0">
                <a:solidFill>
                  <a:srgbClr val="C00000"/>
                </a:solidFill>
              </a:rPr>
              <a:t>Fonctionnement de la réplication par émission</a:t>
            </a:r>
            <a:endParaRPr lang="en-US" sz="3000" b="1" dirty="0">
              <a:solidFill>
                <a:srgbClr val="C00000"/>
              </a:solidFill>
            </a:endParaRPr>
          </a:p>
        </p:txBody>
      </p:sp>
      <p:sp>
        <p:nvSpPr>
          <p:cNvPr id="136972" name="Oval 780"/>
          <p:cNvSpPr>
            <a:spLocks noChangeArrowheads="1"/>
          </p:cNvSpPr>
          <p:nvPr/>
        </p:nvSpPr>
        <p:spPr bwMode="auto">
          <a:xfrm>
            <a:off x="547237" y="2629586"/>
            <a:ext cx="2905125" cy="1547812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es-ES"/>
          </a:p>
        </p:txBody>
      </p:sp>
      <p:sp>
        <p:nvSpPr>
          <p:cNvPr id="136973" name="Line 781"/>
          <p:cNvSpPr>
            <a:spLocks noChangeShapeType="1"/>
          </p:cNvSpPr>
          <p:nvPr/>
        </p:nvSpPr>
        <p:spPr bwMode="auto">
          <a:xfrm flipV="1">
            <a:off x="982212" y="3175686"/>
            <a:ext cx="630237" cy="496887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36974" name="Line 782"/>
          <p:cNvSpPr>
            <a:spLocks noChangeShapeType="1"/>
          </p:cNvSpPr>
          <p:nvPr/>
        </p:nvSpPr>
        <p:spPr bwMode="auto">
          <a:xfrm flipV="1">
            <a:off x="1861687" y="3382061"/>
            <a:ext cx="633412" cy="496887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36975" name="Picture 783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21987" y="3382061"/>
            <a:ext cx="558800" cy="681037"/>
          </a:xfrm>
          <a:prstGeom prst="rect">
            <a:avLst/>
          </a:prstGeom>
          <a:noFill/>
        </p:spPr>
      </p:pic>
      <p:sp>
        <p:nvSpPr>
          <p:cNvPr id="136976" name="Line 784"/>
          <p:cNvSpPr>
            <a:spLocks noChangeShapeType="1"/>
          </p:cNvSpPr>
          <p:nvPr/>
        </p:nvSpPr>
        <p:spPr bwMode="auto">
          <a:xfrm flipV="1">
            <a:off x="2018849" y="2902636"/>
            <a:ext cx="546100" cy="376237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36977" name="Oval 785"/>
          <p:cNvSpPr>
            <a:spLocks noChangeArrowheads="1"/>
          </p:cNvSpPr>
          <p:nvPr/>
        </p:nvSpPr>
        <p:spPr bwMode="auto">
          <a:xfrm>
            <a:off x="5306562" y="2629586"/>
            <a:ext cx="2903537" cy="1547812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es-ES"/>
          </a:p>
        </p:txBody>
      </p:sp>
      <p:sp>
        <p:nvSpPr>
          <p:cNvPr id="136978" name="Line 786"/>
          <p:cNvSpPr>
            <a:spLocks noChangeShapeType="1"/>
          </p:cNvSpPr>
          <p:nvPr/>
        </p:nvSpPr>
        <p:spPr bwMode="auto">
          <a:xfrm flipV="1">
            <a:off x="6217787" y="3151873"/>
            <a:ext cx="631825" cy="496888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grpSp>
        <p:nvGrpSpPr>
          <p:cNvPr id="136979" name="Group 787"/>
          <p:cNvGrpSpPr>
            <a:grpSpLocks/>
          </p:cNvGrpSpPr>
          <p:nvPr/>
        </p:nvGrpSpPr>
        <p:grpSpPr bwMode="auto">
          <a:xfrm>
            <a:off x="2272849" y="2180323"/>
            <a:ext cx="901700" cy="904875"/>
            <a:chOff x="4322" y="1000"/>
            <a:chExt cx="604" cy="606"/>
          </a:xfrm>
        </p:grpSpPr>
        <p:pic>
          <p:nvPicPr>
            <p:cNvPr id="136980" name="Picture 788" descr="Server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322" y="1000"/>
              <a:ext cx="469" cy="594"/>
            </a:xfrm>
            <a:prstGeom prst="rect">
              <a:avLst/>
            </a:prstGeom>
            <a:noFill/>
          </p:spPr>
        </p:pic>
        <p:pic>
          <p:nvPicPr>
            <p:cNvPr id="136981" name="Picture 789" descr="Database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590" y="1334"/>
              <a:ext cx="336" cy="272"/>
            </a:xfrm>
            <a:prstGeom prst="rect">
              <a:avLst/>
            </a:prstGeom>
            <a:noFill/>
          </p:spPr>
        </p:pic>
      </p:grpSp>
      <p:sp>
        <p:nvSpPr>
          <p:cNvPr id="136982" name="Line 790"/>
          <p:cNvSpPr>
            <a:spLocks noChangeShapeType="1"/>
          </p:cNvSpPr>
          <p:nvPr/>
        </p:nvSpPr>
        <p:spPr bwMode="auto">
          <a:xfrm flipV="1">
            <a:off x="6368599" y="2715311"/>
            <a:ext cx="393700" cy="31115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grpSp>
        <p:nvGrpSpPr>
          <p:cNvPr id="136983" name="Group 791"/>
          <p:cNvGrpSpPr>
            <a:grpSpLocks/>
          </p:cNvGrpSpPr>
          <p:nvPr/>
        </p:nvGrpSpPr>
        <p:grpSpPr bwMode="auto">
          <a:xfrm>
            <a:off x="6195562" y="1988236"/>
            <a:ext cx="898525" cy="904875"/>
            <a:chOff x="4322" y="1000"/>
            <a:chExt cx="604" cy="606"/>
          </a:xfrm>
        </p:grpSpPr>
        <p:pic>
          <p:nvPicPr>
            <p:cNvPr id="136984" name="Picture 792" descr="Server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322" y="1000"/>
              <a:ext cx="469" cy="594"/>
            </a:xfrm>
            <a:prstGeom prst="rect">
              <a:avLst/>
            </a:prstGeom>
            <a:noFill/>
          </p:spPr>
        </p:pic>
        <p:pic>
          <p:nvPicPr>
            <p:cNvPr id="136985" name="Picture 793" descr="Database0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590" y="1334"/>
              <a:ext cx="336" cy="272"/>
            </a:xfrm>
            <a:prstGeom prst="rect">
              <a:avLst/>
            </a:prstGeom>
            <a:noFill/>
          </p:spPr>
        </p:pic>
      </p:grpSp>
      <p:sp>
        <p:nvSpPr>
          <p:cNvPr id="136986" name="Line 794"/>
          <p:cNvSpPr>
            <a:spLocks noChangeShapeType="1"/>
          </p:cNvSpPr>
          <p:nvPr/>
        </p:nvSpPr>
        <p:spPr bwMode="auto">
          <a:xfrm flipV="1">
            <a:off x="5746299" y="2989948"/>
            <a:ext cx="485775" cy="384175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36987" name="Line 795"/>
          <p:cNvSpPr>
            <a:spLocks noChangeShapeType="1"/>
          </p:cNvSpPr>
          <p:nvPr/>
        </p:nvSpPr>
        <p:spPr bwMode="auto">
          <a:xfrm flipV="1">
            <a:off x="6998837" y="3302686"/>
            <a:ext cx="468312" cy="371475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36988" name="Picture 796" descr="Computer_DesktopComputerSansKeyboard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463724" y="3051861"/>
            <a:ext cx="558800" cy="679450"/>
          </a:xfrm>
          <a:prstGeom prst="rect">
            <a:avLst/>
          </a:prstGeom>
          <a:noFill/>
        </p:spPr>
      </p:pic>
      <p:pic>
        <p:nvPicPr>
          <p:cNvPr id="136989" name="Picture 797" descr="Computer_DesktopComputerSansKeyboard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60724" y="3436036"/>
            <a:ext cx="558800" cy="679450"/>
          </a:xfrm>
          <a:prstGeom prst="rect">
            <a:avLst/>
          </a:prstGeom>
          <a:noFill/>
        </p:spPr>
      </p:pic>
      <p:sp>
        <p:nvSpPr>
          <p:cNvPr id="136990" name="Freeform 798"/>
          <p:cNvSpPr>
            <a:spLocks/>
          </p:cNvSpPr>
          <p:nvPr/>
        </p:nvSpPr>
        <p:spPr bwMode="auto">
          <a:xfrm>
            <a:off x="863149" y="2732773"/>
            <a:ext cx="7275513" cy="985838"/>
          </a:xfrm>
          <a:custGeom>
            <a:avLst/>
            <a:gdLst/>
            <a:ahLst/>
            <a:cxnLst>
              <a:cxn ang="0">
                <a:pos x="0" y="181"/>
              </a:cxn>
              <a:cxn ang="0">
                <a:pos x="1953" y="625"/>
              </a:cxn>
              <a:cxn ang="0">
                <a:pos x="2748" y="0"/>
              </a:cxn>
              <a:cxn ang="0">
                <a:pos x="4614" y="463"/>
              </a:cxn>
            </a:cxnLst>
            <a:rect l="0" t="0" r="r" b="b"/>
            <a:pathLst>
              <a:path w="4614" h="625">
                <a:moveTo>
                  <a:pt x="0" y="181"/>
                </a:moveTo>
                <a:lnTo>
                  <a:pt x="1953" y="625"/>
                </a:lnTo>
                <a:lnTo>
                  <a:pt x="2748" y="0"/>
                </a:lnTo>
                <a:lnTo>
                  <a:pt x="4614" y="463"/>
                </a:lnTo>
              </a:path>
            </a:pathLst>
          </a:custGeom>
          <a:noFill/>
          <a:ln w="38100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36991" name="Picture 799" descr="Rackmount_Router0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117524" y="3051861"/>
            <a:ext cx="722313" cy="460375"/>
          </a:xfrm>
          <a:prstGeom prst="rect">
            <a:avLst/>
          </a:prstGeom>
          <a:noFill/>
        </p:spPr>
      </p:pic>
      <p:sp>
        <p:nvSpPr>
          <p:cNvPr id="136992" name="Text Box 800"/>
          <p:cNvSpPr txBox="1">
            <a:spLocks noChangeArrowheads="1"/>
          </p:cNvSpPr>
          <p:nvPr/>
        </p:nvSpPr>
        <p:spPr bwMode="auto">
          <a:xfrm>
            <a:off x="6875012" y="2875648"/>
            <a:ext cx="1319212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600">
                <a:solidFill>
                  <a:srgbClr val="000000"/>
                </a:solidFill>
              </a:rPr>
              <a:t>Sous-réseau 2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36993" name="Text Box 801"/>
          <p:cNvSpPr txBox="1">
            <a:spLocks noChangeArrowheads="1"/>
          </p:cNvSpPr>
          <p:nvPr/>
        </p:nvSpPr>
        <p:spPr bwMode="auto">
          <a:xfrm>
            <a:off x="1007612" y="2764523"/>
            <a:ext cx="1319212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600">
                <a:solidFill>
                  <a:srgbClr val="000000"/>
                </a:solidFill>
              </a:rPr>
              <a:t>Sous-réseau 1</a:t>
            </a: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136994" name="Picture 802" descr="Computer_DesktopComputerSansKeyboard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53624" y="3172511"/>
            <a:ext cx="558800" cy="679450"/>
          </a:xfrm>
          <a:prstGeom prst="rect">
            <a:avLst/>
          </a:prstGeom>
          <a:noFill/>
        </p:spPr>
      </p:pic>
      <p:pic>
        <p:nvPicPr>
          <p:cNvPr id="136995" name="Picture 803" descr="Computer_DesktopComputerSansKeyboard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62224" y="3237598"/>
            <a:ext cx="558800" cy="679450"/>
          </a:xfrm>
          <a:prstGeom prst="rect">
            <a:avLst/>
          </a:prstGeom>
          <a:noFill/>
        </p:spPr>
      </p:pic>
      <p:sp>
        <p:nvSpPr>
          <p:cNvPr id="136996" name="AutoShape 804"/>
          <p:cNvSpPr>
            <a:spLocks noChangeArrowheads="1"/>
          </p:cNvSpPr>
          <p:nvPr/>
        </p:nvSpPr>
        <p:spPr bwMode="auto">
          <a:xfrm>
            <a:off x="640899" y="2078723"/>
            <a:ext cx="1563688" cy="32543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>
                <a:solidFill>
                  <a:srgbClr val="000000"/>
                </a:solidFill>
              </a:rPr>
              <a:t>Serveur WINS 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36997" name="AutoShape 805"/>
          <p:cNvSpPr>
            <a:spLocks noChangeArrowheads="1"/>
          </p:cNvSpPr>
          <p:nvPr/>
        </p:nvSpPr>
        <p:spPr bwMode="auto">
          <a:xfrm>
            <a:off x="6968674" y="2078723"/>
            <a:ext cx="1547813" cy="32543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>
                <a:solidFill>
                  <a:srgbClr val="000000"/>
                </a:solidFill>
              </a:rPr>
              <a:t>Serveur WINS B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36998" name="Line 806"/>
          <p:cNvSpPr>
            <a:spLocks noChangeShapeType="1"/>
          </p:cNvSpPr>
          <p:nvPr/>
        </p:nvSpPr>
        <p:spPr bwMode="auto">
          <a:xfrm>
            <a:off x="3153912" y="2481948"/>
            <a:ext cx="3000375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36999" name="Line 807"/>
          <p:cNvSpPr>
            <a:spLocks noChangeShapeType="1"/>
          </p:cNvSpPr>
          <p:nvPr/>
        </p:nvSpPr>
        <p:spPr bwMode="auto">
          <a:xfrm flipH="1">
            <a:off x="3076124" y="2623236"/>
            <a:ext cx="3000375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37065" name="Group 873"/>
          <p:cNvGrpSpPr>
            <a:grpSpLocks/>
          </p:cNvGrpSpPr>
          <p:nvPr/>
        </p:nvGrpSpPr>
        <p:grpSpPr bwMode="auto">
          <a:xfrm>
            <a:off x="2901499" y="2734361"/>
            <a:ext cx="2062163" cy="1317625"/>
            <a:chOff x="1910" y="1896"/>
            <a:chExt cx="1299" cy="830"/>
          </a:xfrm>
        </p:grpSpPr>
        <p:sp>
          <p:nvSpPr>
            <p:cNvPr id="137001" name="AutoShape 809"/>
            <p:cNvSpPr>
              <a:spLocks noChangeArrowheads="1"/>
            </p:cNvSpPr>
            <p:nvPr/>
          </p:nvSpPr>
          <p:spPr bwMode="auto">
            <a:xfrm>
              <a:off x="1910" y="2204"/>
              <a:ext cx="1299" cy="522"/>
            </a:xfrm>
            <a:prstGeom prst="wedgeRectCallout">
              <a:avLst>
                <a:gd name="adj1" fmla="val -41069"/>
                <a:gd name="adj2" fmla="val -91954"/>
              </a:avLst>
            </a:prstGeom>
            <a:solidFill>
              <a:schemeClr val="bg1"/>
            </a:solidFill>
            <a:ln w="9525" algn="ctr">
              <a:solidFill>
                <a:srgbClr val="333333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en-GB">
                  <a:solidFill>
                    <a:srgbClr val="CC0000"/>
                  </a:solidFill>
                </a:rPr>
                <a:t>50 modifications se produisent dans la base de données</a:t>
              </a:r>
              <a:endParaRPr lang="en-US">
                <a:solidFill>
                  <a:srgbClr val="CC0000"/>
                </a:solidFill>
              </a:endParaRPr>
            </a:p>
          </p:txBody>
        </p:sp>
        <p:sp>
          <p:nvSpPr>
            <p:cNvPr id="137002" name="AutoShape 810"/>
            <p:cNvSpPr>
              <a:spLocks noChangeArrowheads="1"/>
            </p:cNvSpPr>
            <p:nvPr/>
          </p:nvSpPr>
          <p:spPr bwMode="auto">
            <a:xfrm>
              <a:off x="1959" y="1896"/>
              <a:ext cx="166" cy="181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137003" name="Group 811"/>
          <p:cNvGrpSpPr>
            <a:grpSpLocks/>
          </p:cNvGrpSpPr>
          <p:nvPr/>
        </p:nvGrpSpPr>
        <p:grpSpPr bwMode="auto">
          <a:xfrm>
            <a:off x="3288849" y="1994586"/>
            <a:ext cx="2489200" cy="381000"/>
            <a:chOff x="2244" y="601"/>
            <a:chExt cx="1404" cy="240"/>
          </a:xfrm>
        </p:grpSpPr>
        <p:sp>
          <p:nvSpPr>
            <p:cNvPr id="137004" name="AutoShape 812"/>
            <p:cNvSpPr>
              <a:spLocks noChangeArrowheads="1"/>
            </p:cNvSpPr>
            <p:nvPr/>
          </p:nvSpPr>
          <p:spPr bwMode="auto">
            <a:xfrm>
              <a:off x="2349" y="601"/>
              <a:ext cx="1299" cy="24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182880" anchor="ctr"/>
            <a:lstStyle/>
            <a:p>
              <a:pPr algn="l"/>
              <a:r>
                <a:rPr lang="en-GB">
                  <a:solidFill>
                    <a:srgbClr val="000000"/>
                  </a:solidFill>
                </a:rPr>
                <a:t>Notification envoyée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37005" name="AutoShape 813"/>
            <p:cNvSpPr>
              <a:spLocks noChangeArrowheads="1"/>
            </p:cNvSpPr>
            <p:nvPr/>
          </p:nvSpPr>
          <p:spPr bwMode="auto">
            <a:xfrm>
              <a:off x="2244" y="631"/>
              <a:ext cx="166" cy="181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137006" name="Group 814"/>
          <p:cNvGrpSpPr>
            <a:grpSpLocks/>
          </p:cNvGrpSpPr>
          <p:nvPr/>
        </p:nvGrpSpPr>
        <p:grpSpPr bwMode="auto">
          <a:xfrm>
            <a:off x="3288849" y="1994586"/>
            <a:ext cx="2501900" cy="381000"/>
            <a:chOff x="2244" y="910"/>
            <a:chExt cx="1404" cy="240"/>
          </a:xfrm>
        </p:grpSpPr>
        <p:sp>
          <p:nvSpPr>
            <p:cNvPr id="137007" name="AutoShape 815"/>
            <p:cNvSpPr>
              <a:spLocks noChangeArrowheads="1"/>
            </p:cNvSpPr>
            <p:nvPr/>
          </p:nvSpPr>
          <p:spPr bwMode="auto">
            <a:xfrm>
              <a:off x="2349" y="910"/>
              <a:ext cx="1299" cy="24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182880" anchor="ctr"/>
            <a:lstStyle/>
            <a:p>
              <a:pPr algn="l"/>
              <a:r>
                <a:rPr lang="en-GB">
                  <a:solidFill>
                    <a:srgbClr val="000000"/>
                  </a:solidFill>
                </a:rPr>
                <a:t>Requête de réplication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37008" name="AutoShape 816"/>
            <p:cNvSpPr>
              <a:spLocks noChangeArrowheads="1"/>
            </p:cNvSpPr>
            <p:nvPr/>
          </p:nvSpPr>
          <p:spPr bwMode="auto">
            <a:xfrm>
              <a:off x="2244" y="939"/>
              <a:ext cx="166" cy="181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3</a:t>
              </a:r>
            </a:p>
          </p:txBody>
        </p:sp>
      </p:grpSp>
      <p:grpSp>
        <p:nvGrpSpPr>
          <p:cNvPr id="137009" name="Group 817"/>
          <p:cNvGrpSpPr>
            <a:grpSpLocks/>
          </p:cNvGrpSpPr>
          <p:nvPr/>
        </p:nvGrpSpPr>
        <p:grpSpPr bwMode="auto">
          <a:xfrm>
            <a:off x="3288849" y="1994586"/>
            <a:ext cx="2501900" cy="381000"/>
            <a:chOff x="2244" y="1209"/>
            <a:chExt cx="1404" cy="240"/>
          </a:xfrm>
        </p:grpSpPr>
        <p:sp>
          <p:nvSpPr>
            <p:cNvPr id="137010" name="AutoShape 818"/>
            <p:cNvSpPr>
              <a:spLocks noChangeArrowheads="1"/>
            </p:cNvSpPr>
            <p:nvPr/>
          </p:nvSpPr>
          <p:spPr bwMode="auto">
            <a:xfrm>
              <a:off x="2349" y="1209"/>
              <a:ext cx="1299" cy="24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182880" anchor="ctr"/>
            <a:lstStyle/>
            <a:p>
              <a:pPr algn="l"/>
              <a:r>
                <a:rPr lang="en-GB">
                  <a:solidFill>
                    <a:srgbClr val="000000"/>
                  </a:solidFill>
                </a:rPr>
                <a:t>Réplicas envoyés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37011" name="AutoShape 819"/>
            <p:cNvSpPr>
              <a:spLocks noChangeArrowheads="1"/>
            </p:cNvSpPr>
            <p:nvPr/>
          </p:nvSpPr>
          <p:spPr bwMode="auto">
            <a:xfrm>
              <a:off x="2244" y="1238"/>
              <a:ext cx="166" cy="181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4</a:t>
              </a:r>
            </a:p>
          </p:txBody>
        </p:sp>
      </p:grpSp>
      <p:grpSp>
        <p:nvGrpSpPr>
          <p:cNvPr id="137068" name="Group 876"/>
          <p:cNvGrpSpPr>
            <a:grpSpLocks/>
          </p:cNvGrpSpPr>
          <p:nvPr/>
        </p:nvGrpSpPr>
        <p:grpSpPr bwMode="auto">
          <a:xfrm>
            <a:off x="540887" y="1016686"/>
            <a:ext cx="8066087" cy="4951412"/>
            <a:chOff x="5275" y="836"/>
            <a:chExt cx="5081" cy="3119"/>
          </a:xfrm>
        </p:grpSpPr>
        <p:sp>
          <p:nvSpPr>
            <p:cNvPr id="137013" name="AutoShape 821"/>
            <p:cNvSpPr>
              <a:spLocks noChangeArrowheads="1"/>
            </p:cNvSpPr>
            <p:nvPr/>
          </p:nvSpPr>
          <p:spPr bwMode="auto">
            <a:xfrm>
              <a:off x="5424" y="836"/>
              <a:ext cx="4550" cy="3119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lin ang="5400000" scaled="1"/>
            </a:gradFill>
            <a:ln w="6350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grpSp>
          <p:nvGrpSpPr>
            <p:cNvPr id="137067" name="Group 875"/>
            <p:cNvGrpSpPr>
              <a:grpSpLocks/>
            </p:cNvGrpSpPr>
            <p:nvPr/>
          </p:nvGrpSpPr>
          <p:grpSpPr bwMode="auto">
            <a:xfrm>
              <a:off x="5275" y="1451"/>
              <a:ext cx="5081" cy="1379"/>
              <a:chOff x="5275" y="1451"/>
              <a:chExt cx="5081" cy="1379"/>
            </a:xfrm>
          </p:grpSpPr>
          <p:grpSp>
            <p:nvGrpSpPr>
              <p:cNvPr id="137066" name="Group 874"/>
              <p:cNvGrpSpPr>
                <a:grpSpLocks/>
              </p:cNvGrpSpPr>
              <p:nvPr/>
            </p:nvGrpSpPr>
            <p:grpSpPr bwMode="auto">
              <a:xfrm>
                <a:off x="5275" y="1451"/>
                <a:ext cx="5081" cy="1379"/>
                <a:chOff x="5275" y="1451"/>
                <a:chExt cx="5081" cy="1379"/>
              </a:xfrm>
            </p:grpSpPr>
            <p:sp>
              <p:nvSpPr>
                <p:cNvPr id="137016" name="Oval 824"/>
                <p:cNvSpPr>
                  <a:spLocks noChangeArrowheads="1"/>
                </p:cNvSpPr>
                <p:nvPr/>
              </p:nvSpPr>
              <p:spPr bwMode="auto">
                <a:xfrm>
                  <a:off x="5275" y="1855"/>
                  <a:ext cx="1830" cy="97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0F1FF"/>
                    </a:gs>
                    <a:gs pos="100000">
                      <a:srgbClr val="B3C8D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ADADAD"/>
                  </a:outerShdw>
                </a:effec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7017" name="Line 825"/>
                <p:cNvSpPr>
                  <a:spLocks noChangeShapeType="1"/>
                </p:cNvSpPr>
                <p:nvPr/>
              </p:nvSpPr>
              <p:spPr bwMode="auto">
                <a:xfrm flipV="1">
                  <a:off x="5549" y="2199"/>
                  <a:ext cx="397" cy="313"/>
                </a:xfrm>
                <a:prstGeom prst="line">
                  <a:avLst/>
                </a:prstGeom>
                <a:noFill/>
                <a:ln w="38100">
                  <a:solidFill>
                    <a:srgbClr val="333333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fr-FR"/>
                </a:p>
              </p:txBody>
            </p:sp>
            <p:sp>
              <p:nvSpPr>
                <p:cNvPr id="137018" name="Line 826"/>
                <p:cNvSpPr>
                  <a:spLocks noChangeShapeType="1"/>
                </p:cNvSpPr>
                <p:nvPr/>
              </p:nvSpPr>
              <p:spPr bwMode="auto">
                <a:xfrm flipV="1">
                  <a:off x="6103" y="2329"/>
                  <a:ext cx="399" cy="313"/>
                </a:xfrm>
                <a:prstGeom prst="line">
                  <a:avLst/>
                </a:prstGeom>
                <a:noFill/>
                <a:ln w="38100">
                  <a:solidFill>
                    <a:srgbClr val="333333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fr-FR"/>
                </a:p>
              </p:txBody>
            </p:sp>
            <p:pic>
              <p:nvPicPr>
                <p:cNvPr id="137019" name="Picture 827" descr="Computer_DesktopComputerSansKeyboard01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6015" y="2329"/>
                  <a:ext cx="352" cy="429"/>
                </a:xfrm>
                <a:prstGeom prst="rect">
                  <a:avLst/>
                </a:prstGeom>
                <a:noFill/>
              </p:spPr>
            </p:pic>
            <p:sp>
              <p:nvSpPr>
                <p:cNvPr id="137020" name="Line 828"/>
                <p:cNvSpPr>
                  <a:spLocks noChangeShapeType="1"/>
                </p:cNvSpPr>
                <p:nvPr/>
              </p:nvSpPr>
              <p:spPr bwMode="auto">
                <a:xfrm flipV="1">
                  <a:off x="6202" y="2027"/>
                  <a:ext cx="344" cy="237"/>
                </a:xfrm>
                <a:prstGeom prst="line">
                  <a:avLst/>
                </a:prstGeom>
                <a:noFill/>
                <a:ln w="38100">
                  <a:solidFill>
                    <a:srgbClr val="333333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fr-FR"/>
                </a:p>
              </p:txBody>
            </p:sp>
            <p:sp>
              <p:nvSpPr>
                <p:cNvPr id="137021" name="Oval 829"/>
                <p:cNvSpPr>
                  <a:spLocks noChangeArrowheads="1"/>
                </p:cNvSpPr>
                <p:nvPr/>
              </p:nvSpPr>
              <p:spPr bwMode="auto">
                <a:xfrm>
                  <a:off x="8273" y="1855"/>
                  <a:ext cx="1829" cy="97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0F1FF"/>
                    </a:gs>
                    <a:gs pos="100000">
                      <a:srgbClr val="B3C8D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ADADAD"/>
                  </a:outerShdw>
                </a:effectLst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37022" name="Line 830"/>
                <p:cNvSpPr>
                  <a:spLocks noChangeShapeType="1"/>
                </p:cNvSpPr>
                <p:nvPr/>
              </p:nvSpPr>
              <p:spPr bwMode="auto">
                <a:xfrm flipV="1">
                  <a:off x="8847" y="2184"/>
                  <a:ext cx="398" cy="313"/>
                </a:xfrm>
                <a:prstGeom prst="line">
                  <a:avLst/>
                </a:prstGeom>
                <a:noFill/>
                <a:ln w="38100">
                  <a:solidFill>
                    <a:srgbClr val="333333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fr-FR"/>
                </a:p>
              </p:txBody>
            </p:sp>
            <p:grpSp>
              <p:nvGrpSpPr>
                <p:cNvPr id="137023" name="Group 831"/>
                <p:cNvGrpSpPr>
                  <a:grpSpLocks/>
                </p:cNvGrpSpPr>
                <p:nvPr/>
              </p:nvGrpSpPr>
              <p:grpSpPr bwMode="auto">
                <a:xfrm>
                  <a:off x="6362" y="1572"/>
                  <a:ext cx="568" cy="570"/>
                  <a:chOff x="4322" y="1000"/>
                  <a:chExt cx="604" cy="606"/>
                </a:xfrm>
              </p:grpSpPr>
              <p:pic>
                <p:nvPicPr>
                  <p:cNvPr id="137024" name="Picture 832" descr="Server01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/>
                  <a:srcRect/>
                  <a:stretch>
                    <a:fillRect/>
                  </a:stretch>
                </p:blipFill>
                <p:spPr bwMode="auto">
                  <a:xfrm>
                    <a:off x="4322" y="1000"/>
                    <a:ext cx="469" cy="594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37025" name="Picture 833" descr="Database01"/>
                  <p:cNvPicPr>
                    <a:picLocks noChangeAspect="1" noChangeArrowheads="1"/>
                  </p:cNvPicPr>
                  <p:nvPr/>
                </p:nvPicPr>
                <p:blipFill>
                  <a:blip r:embed="rId6" cstate="print"/>
                  <a:srcRect/>
                  <a:stretch>
                    <a:fillRect/>
                  </a:stretch>
                </p:blipFill>
                <p:spPr bwMode="auto">
                  <a:xfrm>
                    <a:off x="4590" y="1334"/>
                    <a:ext cx="336" cy="272"/>
                  </a:xfrm>
                  <a:prstGeom prst="rect">
                    <a:avLst/>
                  </a:prstGeom>
                  <a:noFill/>
                </p:spPr>
              </p:pic>
            </p:grpSp>
            <p:sp>
              <p:nvSpPr>
                <p:cNvPr id="137026" name="Line 834"/>
                <p:cNvSpPr>
                  <a:spLocks noChangeShapeType="1"/>
                </p:cNvSpPr>
                <p:nvPr/>
              </p:nvSpPr>
              <p:spPr bwMode="auto">
                <a:xfrm flipV="1">
                  <a:off x="8942" y="1909"/>
                  <a:ext cx="248" cy="196"/>
                </a:xfrm>
                <a:prstGeom prst="line">
                  <a:avLst/>
                </a:prstGeom>
                <a:noFill/>
                <a:ln w="38100">
                  <a:solidFill>
                    <a:srgbClr val="333333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fr-FR"/>
                </a:p>
              </p:txBody>
            </p:sp>
            <p:grpSp>
              <p:nvGrpSpPr>
                <p:cNvPr id="137027" name="Group 835"/>
                <p:cNvGrpSpPr>
                  <a:grpSpLocks/>
                </p:cNvGrpSpPr>
                <p:nvPr/>
              </p:nvGrpSpPr>
              <p:grpSpPr bwMode="auto">
                <a:xfrm>
                  <a:off x="8833" y="1451"/>
                  <a:ext cx="566" cy="570"/>
                  <a:chOff x="4322" y="1000"/>
                  <a:chExt cx="604" cy="606"/>
                </a:xfrm>
              </p:grpSpPr>
              <p:pic>
                <p:nvPicPr>
                  <p:cNvPr id="137028" name="Picture 836" descr="Server01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/>
                  <a:srcRect/>
                  <a:stretch>
                    <a:fillRect/>
                  </a:stretch>
                </p:blipFill>
                <p:spPr bwMode="auto">
                  <a:xfrm>
                    <a:off x="4322" y="1000"/>
                    <a:ext cx="469" cy="594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37029" name="Picture 837" descr="Database01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/>
                  <a:srcRect/>
                  <a:stretch>
                    <a:fillRect/>
                  </a:stretch>
                </p:blipFill>
                <p:spPr bwMode="auto">
                  <a:xfrm>
                    <a:off x="4590" y="1334"/>
                    <a:ext cx="336" cy="272"/>
                  </a:xfrm>
                  <a:prstGeom prst="rect">
                    <a:avLst/>
                  </a:prstGeom>
                  <a:noFill/>
                </p:spPr>
              </p:pic>
            </p:grpSp>
            <p:sp>
              <p:nvSpPr>
                <p:cNvPr id="137030" name="Line 838"/>
                <p:cNvSpPr>
                  <a:spLocks noChangeShapeType="1"/>
                </p:cNvSpPr>
                <p:nvPr/>
              </p:nvSpPr>
              <p:spPr bwMode="auto">
                <a:xfrm flipV="1">
                  <a:off x="8550" y="2082"/>
                  <a:ext cx="306" cy="242"/>
                </a:xfrm>
                <a:prstGeom prst="line">
                  <a:avLst/>
                </a:prstGeom>
                <a:noFill/>
                <a:ln w="38100">
                  <a:solidFill>
                    <a:srgbClr val="333333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fr-FR"/>
                </a:p>
              </p:txBody>
            </p:sp>
            <p:sp>
              <p:nvSpPr>
                <p:cNvPr id="137031" name="Line 839"/>
                <p:cNvSpPr>
                  <a:spLocks noChangeShapeType="1"/>
                </p:cNvSpPr>
                <p:nvPr/>
              </p:nvSpPr>
              <p:spPr bwMode="auto">
                <a:xfrm flipV="1">
                  <a:off x="9339" y="2279"/>
                  <a:ext cx="295" cy="234"/>
                </a:xfrm>
                <a:prstGeom prst="line">
                  <a:avLst/>
                </a:prstGeom>
                <a:noFill/>
                <a:ln w="38100">
                  <a:solidFill>
                    <a:srgbClr val="333333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fr-FR"/>
                </a:p>
              </p:txBody>
            </p:sp>
            <p:pic>
              <p:nvPicPr>
                <p:cNvPr id="137032" name="Picture 840" descr="Computer_DesktopComputerSansKeyboard01"/>
                <p:cNvPicPr>
                  <a:picLocks noChangeAspect="1"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8372" y="2121"/>
                  <a:ext cx="352" cy="428"/>
                </a:xfrm>
                <a:prstGeom prst="rect">
                  <a:avLst/>
                </a:prstGeom>
                <a:noFill/>
              </p:spPr>
            </p:pic>
            <p:pic>
              <p:nvPicPr>
                <p:cNvPr id="137033" name="Picture 841" descr="Computer_DesktopComputerSansKeyboard01"/>
                <p:cNvPicPr>
                  <a:picLocks noChangeAspect="1"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9252" y="2363"/>
                  <a:ext cx="352" cy="428"/>
                </a:xfrm>
                <a:prstGeom prst="rect">
                  <a:avLst/>
                </a:prstGeom>
                <a:noFill/>
              </p:spPr>
            </p:pic>
            <p:sp>
              <p:nvSpPr>
                <p:cNvPr id="137034" name="Freeform 842"/>
                <p:cNvSpPr>
                  <a:spLocks/>
                </p:cNvSpPr>
                <p:nvPr/>
              </p:nvSpPr>
              <p:spPr bwMode="auto">
                <a:xfrm>
                  <a:off x="5474" y="1920"/>
                  <a:ext cx="4583" cy="621"/>
                </a:xfrm>
                <a:custGeom>
                  <a:avLst/>
                  <a:gdLst/>
                  <a:ahLst/>
                  <a:cxnLst>
                    <a:cxn ang="0">
                      <a:pos x="0" y="181"/>
                    </a:cxn>
                    <a:cxn ang="0">
                      <a:pos x="1953" y="625"/>
                    </a:cxn>
                    <a:cxn ang="0">
                      <a:pos x="2748" y="0"/>
                    </a:cxn>
                    <a:cxn ang="0">
                      <a:pos x="4614" y="463"/>
                    </a:cxn>
                  </a:cxnLst>
                  <a:rect l="0" t="0" r="r" b="b"/>
                  <a:pathLst>
                    <a:path w="4614" h="625">
                      <a:moveTo>
                        <a:pt x="0" y="181"/>
                      </a:moveTo>
                      <a:lnTo>
                        <a:pt x="1953" y="625"/>
                      </a:lnTo>
                      <a:lnTo>
                        <a:pt x="2748" y="0"/>
                      </a:lnTo>
                      <a:lnTo>
                        <a:pt x="4614" y="463"/>
                      </a:lnTo>
                    </a:path>
                  </a:pathLst>
                </a:custGeom>
                <a:noFill/>
                <a:ln w="38100" cap="flat" cmpd="sng">
                  <a:solidFill>
                    <a:srgbClr val="33333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endParaRPr lang="fr-FR"/>
                </a:p>
              </p:txBody>
            </p:sp>
            <p:pic>
              <p:nvPicPr>
                <p:cNvPr id="137035" name="Picture 843" descr="Rackmount_Router01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7524" y="2121"/>
                  <a:ext cx="455" cy="290"/>
                </a:xfrm>
                <a:prstGeom prst="rect">
                  <a:avLst/>
                </a:prstGeom>
                <a:noFill/>
              </p:spPr>
            </p:pic>
            <p:sp>
              <p:nvSpPr>
                <p:cNvPr id="137036" name="Text Box 844"/>
                <p:cNvSpPr txBox="1">
                  <a:spLocks noChangeArrowheads="1"/>
                </p:cNvSpPr>
                <p:nvPr/>
              </p:nvSpPr>
              <p:spPr bwMode="auto">
                <a:xfrm>
                  <a:off x="9261" y="2010"/>
                  <a:ext cx="933" cy="23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GB" dirty="0" err="1">
                      <a:solidFill>
                        <a:srgbClr val="000000"/>
                      </a:solidFill>
                    </a:rPr>
                    <a:t>Sous-réseau</a:t>
                  </a:r>
                  <a:r>
                    <a:rPr lang="en-GB" dirty="0">
                      <a:solidFill>
                        <a:srgbClr val="000000"/>
                      </a:solidFill>
                    </a:rPr>
                    <a:t> 2</a:t>
                  </a:r>
                  <a:endParaRPr lang="en-US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7037" name="Text Box 845"/>
                <p:cNvSpPr txBox="1">
                  <a:spLocks noChangeArrowheads="1"/>
                </p:cNvSpPr>
                <p:nvPr/>
              </p:nvSpPr>
              <p:spPr bwMode="auto">
                <a:xfrm>
                  <a:off x="5565" y="1940"/>
                  <a:ext cx="933" cy="23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GB">
                      <a:solidFill>
                        <a:srgbClr val="000000"/>
                      </a:solidFill>
                    </a:rPr>
                    <a:t>Sous-réseau 1</a:t>
                  </a: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pic>
              <p:nvPicPr>
                <p:cNvPr id="137038" name="Picture 846" descr="Computer_DesktopComputerSansKeyboard01"/>
                <p:cNvPicPr>
                  <a:picLocks noChangeAspect="1"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468" y="2197"/>
                  <a:ext cx="352" cy="428"/>
                </a:xfrm>
                <a:prstGeom prst="rect">
                  <a:avLst/>
                </a:prstGeom>
                <a:noFill/>
              </p:spPr>
            </p:pic>
            <p:pic>
              <p:nvPicPr>
                <p:cNvPr id="137039" name="Picture 847" descr="Computer_DesktopComputerSansKeyboard01"/>
                <p:cNvPicPr>
                  <a:picLocks noChangeAspect="1"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8812" y="2238"/>
                  <a:ext cx="352" cy="428"/>
                </a:xfrm>
                <a:prstGeom prst="rect">
                  <a:avLst/>
                </a:prstGeom>
                <a:noFill/>
              </p:spPr>
            </p:pic>
            <p:sp>
              <p:nvSpPr>
                <p:cNvPr id="137040" name="AutoShape 848"/>
                <p:cNvSpPr>
                  <a:spLocks noChangeArrowheads="1"/>
                </p:cNvSpPr>
                <p:nvPr/>
              </p:nvSpPr>
              <p:spPr bwMode="auto">
                <a:xfrm>
                  <a:off x="5344" y="1508"/>
                  <a:ext cx="1044" cy="214"/>
                </a:xfrm>
                <a:prstGeom prst="roundRect">
                  <a:avLst>
                    <a:gd name="adj" fmla="val 4167"/>
                  </a:avLst>
                </a:prstGeom>
                <a:solidFill>
                  <a:schemeClr val="bg1"/>
                </a:solidFill>
                <a:ln w="9525">
                  <a:solidFill>
                    <a:srgbClr val="4D4D4D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AFAFAF"/>
                  </a:outerShdw>
                </a:effectLst>
              </p:spPr>
              <p:txBody>
                <a:bodyPr wrap="none" anchor="ctr"/>
                <a:lstStyle/>
                <a:p>
                  <a:r>
                    <a:rPr lang="en-GB" sz="2000" dirty="0" err="1">
                      <a:solidFill>
                        <a:srgbClr val="000000"/>
                      </a:solidFill>
                    </a:rPr>
                    <a:t>Serveur</a:t>
                  </a:r>
                  <a:r>
                    <a:rPr lang="en-GB" sz="2000" dirty="0">
                      <a:solidFill>
                        <a:srgbClr val="000000"/>
                      </a:solidFill>
                    </a:rPr>
                    <a:t> WINS A</a:t>
                  </a:r>
                  <a:endParaRPr lang="en-US" sz="2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7041" name="AutoShape 849"/>
                <p:cNvSpPr>
                  <a:spLocks noChangeArrowheads="1"/>
                </p:cNvSpPr>
                <p:nvPr/>
              </p:nvSpPr>
              <p:spPr bwMode="auto">
                <a:xfrm>
                  <a:off x="9313" y="1508"/>
                  <a:ext cx="1043" cy="214"/>
                </a:xfrm>
                <a:prstGeom prst="roundRect">
                  <a:avLst>
                    <a:gd name="adj" fmla="val 4167"/>
                  </a:avLst>
                </a:prstGeom>
                <a:solidFill>
                  <a:schemeClr val="bg1"/>
                </a:solidFill>
                <a:ln w="9525">
                  <a:solidFill>
                    <a:srgbClr val="4D4D4D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AFAFAF"/>
                  </a:outerShdw>
                </a:effectLst>
              </p:spPr>
              <p:txBody>
                <a:bodyPr wrap="none" anchor="ctr"/>
                <a:lstStyle/>
                <a:p>
                  <a:r>
                    <a:rPr lang="en-GB" sz="2000" dirty="0" err="1">
                      <a:solidFill>
                        <a:srgbClr val="000000"/>
                      </a:solidFill>
                    </a:rPr>
                    <a:t>Serveur</a:t>
                  </a:r>
                  <a:r>
                    <a:rPr lang="en-GB" sz="2000" dirty="0">
                      <a:solidFill>
                        <a:srgbClr val="000000"/>
                      </a:solidFill>
                    </a:rPr>
                    <a:t> WINS B</a:t>
                  </a:r>
                  <a:endParaRPr lang="en-US" sz="200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37042" name="Line 850"/>
              <p:cNvSpPr>
                <a:spLocks noChangeShapeType="1"/>
              </p:cNvSpPr>
              <p:nvPr/>
            </p:nvSpPr>
            <p:spPr bwMode="auto">
              <a:xfrm>
                <a:off x="6917" y="1744"/>
                <a:ext cx="1890" cy="0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7043" name="Line 851"/>
              <p:cNvSpPr>
                <a:spLocks noChangeShapeType="1"/>
              </p:cNvSpPr>
              <p:nvPr/>
            </p:nvSpPr>
            <p:spPr bwMode="auto">
              <a:xfrm flipH="1">
                <a:off x="6868" y="1833"/>
                <a:ext cx="1890" cy="0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137044" name="AutoShape 852"/>
          <p:cNvSpPr>
            <a:spLocks noChangeArrowheads="1"/>
          </p:cNvSpPr>
          <p:nvPr/>
        </p:nvSpPr>
        <p:spPr bwMode="auto">
          <a:xfrm>
            <a:off x="188686" y="1712686"/>
            <a:ext cx="8766628" cy="2540000"/>
          </a:xfrm>
          <a:prstGeom prst="roundRect">
            <a:avLst>
              <a:gd name="adj" fmla="val 12926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85000"/>
              </a:lnSpc>
              <a:buSzPct val="80000"/>
              <a:buFontTx/>
              <a:buBlip>
                <a:blip r:embed="rId10"/>
              </a:buBlip>
            </a:pPr>
            <a:r>
              <a:rPr lang="en-GB" sz="2600" dirty="0">
                <a:solidFill>
                  <a:srgbClr val="000000"/>
                </a:solidFill>
              </a:rPr>
              <a:t>Un </a:t>
            </a:r>
            <a:r>
              <a:rPr lang="en-GB" sz="2600" dirty="0" err="1">
                <a:solidFill>
                  <a:srgbClr val="000000"/>
                </a:solidFill>
              </a:rPr>
              <a:t>partenaire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émetteur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avertit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ses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partenaires</a:t>
            </a:r>
            <a:r>
              <a:rPr lang="en-GB" sz="2600" dirty="0">
                <a:solidFill>
                  <a:srgbClr val="000000"/>
                </a:solidFill>
              </a:rPr>
              <a:t> de </a:t>
            </a:r>
            <a:r>
              <a:rPr lang="en-GB" sz="2600" dirty="0" err="1">
                <a:solidFill>
                  <a:srgbClr val="000000"/>
                </a:solidFill>
              </a:rPr>
              <a:t>réplication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lorsque</a:t>
            </a:r>
            <a:r>
              <a:rPr lang="en-GB" sz="2600" dirty="0">
                <a:solidFill>
                  <a:srgbClr val="000000"/>
                </a:solidFill>
              </a:rPr>
              <a:t> la base de </a:t>
            </a:r>
            <a:r>
              <a:rPr lang="en-GB" sz="2600" dirty="0" err="1">
                <a:solidFill>
                  <a:srgbClr val="000000"/>
                </a:solidFill>
              </a:rPr>
              <a:t>données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atteint</a:t>
            </a:r>
            <a:r>
              <a:rPr lang="en-GB" sz="2600" dirty="0">
                <a:solidFill>
                  <a:srgbClr val="000000"/>
                </a:solidFill>
              </a:rPr>
              <a:t> le </a:t>
            </a:r>
            <a:r>
              <a:rPr lang="en-GB" sz="2600" dirty="0" err="1">
                <a:solidFill>
                  <a:srgbClr val="000000"/>
                </a:solidFill>
              </a:rPr>
              <a:t>seuil</a:t>
            </a:r>
            <a:r>
              <a:rPr lang="en-GB" sz="2600" dirty="0">
                <a:solidFill>
                  <a:srgbClr val="000000"/>
                </a:solidFill>
              </a:rPr>
              <a:t> des modifications </a:t>
            </a:r>
            <a:r>
              <a:rPr lang="en-GB" sz="2600" dirty="0" err="1">
                <a:solidFill>
                  <a:srgbClr val="000000"/>
                </a:solidFill>
              </a:rPr>
              <a:t>défini</a:t>
            </a:r>
            <a:endParaRPr lang="en-US" sz="2600" dirty="0"/>
          </a:p>
          <a:p>
            <a:pPr marL="231775" indent="-231775" algn="l">
              <a:lnSpc>
                <a:spcPct val="85000"/>
              </a:lnSpc>
              <a:buSzPct val="80000"/>
              <a:buFontTx/>
              <a:buBlip>
                <a:blip r:embed="rId10"/>
              </a:buBlip>
            </a:pPr>
            <a:r>
              <a:rPr lang="en-GB" sz="2600" dirty="0">
                <a:solidFill>
                  <a:srgbClr val="000000"/>
                </a:solidFill>
              </a:rPr>
              <a:t>La </a:t>
            </a:r>
            <a:r>
              <a:rPr lang="en-GB" sz="2600" dirty="0" err="1">
                <a:solidFill>
                  <a:srgbClr val="000000"/>
                </a:solidFill>
              </a:rPr>
              <a:t>réplication</a:t>
            </a:r>
            <a:r>
              <a:rPr lang="en-GB" sz="2600" dirty="0">
                <a:solidFill>
                  <a:srgbClr val="000000"/>
                </a:solidFill>
              </a:rPr>
              <a:t> par </a:t>
            </a:r>
            <a:r>
              <a:rPr lang="en-GB" sz="2600" dirty="0" err="1">
                <a:solidFill>
                  <a:srgbClr val="000000"/>
                </a:solidFill>
              </a:rPr>
              <a:t>émission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maintient</a:t>
            </a:r>
            <a:r>
              <a:rPr lang="en-GB" sz="2600" dirty="0">
                <a:solidFill>
                  <a:srgbClr val="000000"/>
                </a:solidFill>
              </a:rPr>
              <a:t> un haut </a:t>
            </a:r>
            <a:r>
              <a:rPr lang="en-GB" sz="2600" dirty="0" err="1">
                <a:solidFill>
                  <a:srgbClr val="000000"/>
                </a:solidFill>
              </a:rPr>
              <a:t>niveau</a:t>
            </a:r>
            <a:r>
              <a:rPr lang="en-GB" sz="2600" dirty="0">
                <a:solidFill>
                  <a:srgbClr val="000000"/>
                </a:solidFill>
              </a:rPr>
              <a:t> de synchronisation/utilisation avec des liaisons </a:t>
            </a:r>
            <a:r>
              <a:rPr lang="en-GB" sz="2600" dirty="0" err="1">
                <a:solidFill>
                  <a:srgbClr val="000000"/>
                </a:solidFill>
              </a:rPr>
              <a:t>rapides</a:t>
            </a:r>
            <a:r>
              <a:rPr lang="en-US" sz="2600" dirty="0"/>
              <a:t> </a:t>
            </a:r>
          </a:p>
        </p:txBody>
      </p:sp>
      <p:grpSp>
        <p:nvGrpSpPr>
          <p:cNvPr id="137073" name="Group 881"/>
          <p:cNvGrpSpPr>
            <a:grpSpLocks/>
          </p:cNvGrpSpPr>
          <p:nvPr/>
        </p:nvGrpSpPr>
        <p:grpSpPr bwMode="auto">
          <a:xfrm>
            <a:off x="125884" y="4402138"/>
            <a:ext cx="8843945" cy="509587"/>
            <a:chOff x="754" y="2773"/>
            <a:chExt cx="4407" cy="321"/>
          </a:xfrm>
        </p:grpSpPr>
        <p:sp>
          <p:nvSpPr>
            <p:cNvPr id="137046" name="AutoShape 854"/>
            <p:cNvSpPr>
              <a:spLocks noChangeArrowheads="1"/>
            </p:cNvSpPr>
            <p:nvPr/>
          </p:nvSpPr>
          <p:spPr bwMode="auto">
            <a:xfrm>
              <a:off x="849" y="2773"/>
              <a:ext cx="4312" cy="321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000" dirty="0">
                  <a:solidFill>
                    <a:srgbClr val="000000"/>
                  </a:solidFill>
                </a:rPr>
                <a:t>Le </a:t>
              </a:r>
              <a:r>
                <a:rPr lang="en-GB" sz="2000" dirty="0" err="1">
                  <a:solidFill>
                    <a:srgbClr val="000000"/>
                  </a:solidFill>
                </a:rPr>
                <a:t>serveur</a:t>
              </a:r>
              <a:r>
                <a:rPr lang="en-GB" sz="2000" dirty="0">
                  <a:solidFill>
                    <a:srgbClr val="000000"/>
                  </a:solidFill>
                </a:rPr>
                <a:t> WINS A </a:t>
              </a:r>
              <a:r>
                <a:rPr lang="en-GB" sz="2000" dirty="0" err="1">
                  <a:solidFill>
                    <a:srgbClr val="000000"/>
                  </a:solidFill>
                </a:rPr>
                <a:t>atteint</a:t>
              </a:r>
              <a:r>
                <a:rPr lang="en-GB" sz="2000" dirty="0">
                  <a:solidFill>
                    <a:srgbClr val="000000"/>
                  </a:solidFill>
                </a:rPr>
                <a:t> un </a:t>
              </a:r>
              <a:r>
                <a:rPr lang="en-GB" sz="2000" dirty="0" err="1">
                  <a:solidFill>
                    <a:srgbClr val="000000"/>
                  </a:solidFill>
                </a:rPr>
                <a:t>seuil</a:t>
              </a:r>
              <a:r>
                <a:rPr lang="en-GB" sz="2000" dirty="0">
                  <a:solidFill>
                    <a:srgbClr val="000000"/>
                  </a:solidFill>
                </a:rPr>
                <a:t> </a:t>
              </a:r>
              <a:r>
                <a:rPr lang="en-GB" sz="2000" dirty="0" err="1">
                  <a:solidFill>
                    <a:srgbClr val="000000"/>
                  </a:solidFill>
                </a:rPr>
                <a:t>défini</a:t>
              </a:r>
              <a:r>
                <a:rPr lang="en-GB" sz="2000" dirty="0">
                  <a:solidFill>
                    <a:srgbClr val="000000"/>
                  </a:solidFill>
                </a:rPr>
                <a:t> de 50 modifications </a:t>
              </a:r>
              <a:r>
                <a:rPr lang="en-GB" sz="2000" dirty="0" err="1">
                  <a:solidFill>
                    <a:srgbClr val="000000"/>
                  </a:solidFill>
                </a:rPr>
                <a:t>dans</a:t>
              </a:r>
              <a:r>
                <a:rPr lang="en-GB" sz="2000" dirty="0">
                  <a:solidFill>
                    <a:srgbClr val="000000"/>
                  </a:solidFill>
                </a:rPr>
                <a:t> </a:t>
              </a:r>
              <a:r>
                <a:rPr lang="en-GB" sz="2000" dirty="0" err="1">
                  <a:solidFill>
                    <a:srgbClr val="000000"/>
                  </a:solidFill>
                </a:rPr>
                <a:t>sa</a:t>
              </a:r>
              <a:r>
                <a:rPr lang="en-GB" sz="2000" dirty="0">
                  <a:solidFill>
                    <a:srgbClr val="000000"/>
                  </a:solidFill>
                </a:rPr>
                <a:t> base de </a:t>
              </a:r>
              <a:r>
                <a:rPr lang="en-GB" sz="2000" dirty="0" err="1">
                  <a:solidFill>
                    <a:srgbClr val="000000"/>
                  </a:solidFill>
                </a:rPr>
                <a:t>données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137047" name="AutoShape 855"/>
            <p:cNvSpPr>
              <a:spLocks noChangeArrowheads="1"/>
            </p:cNvSpPr>
            <p:nvPr/>
          </p:nvSpPr>
          <p:spPr bwMode="auto">
            <a:xfrm>
              <a:off x="754" y="2859"/>
              <a:ext cx="185" cy="192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137074" name="Group 882"/>
          <p:cNvGrpSpPr>
            <a:grpSpLocks/>
          </p:cNvGrpSpPr>
          <p:nvPr/>
        </p:nvGrpSpPr>
        <p:grpSpPr bwMode="auto">
          <a:xfrm>
            <a:off x="127471" y="4967288"/>
            <a:ext cx="8827843" cy="441325"/>
            <a:chOff x="755" y="3138"/>
            <a:chExt cx="5680" cy="278"/>
          </a:xfrm>
        </p:grpSpPr>
        <p:sp>
          <p:nvSpPr>
            <p:cNvPr id="137049" name="AutoShape 857"/>
            <p:cNvSpPr>
              <a:spLocks noChangeArrowheads="1"/>
            </p:cNvSpPr>
            <p:nvPr/>
          </p:nvSpPr>
          <p:spPr bwMode="auto">
            <a:xfrm>
              <a:off x="848" y="3138"/>
              <a:ext cx="5587" cy="278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000">
                  <a:solidFill>
                    <a:srgbClr val="000000"/>
                  </a:solidFill>
                </a:rPr>
                <a:t>Le serveur WINS A avertit le serveur WINS B que le seuil est atteint</a:t>
              </a:r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137050" name="AutoShape 858"/>
            <p:cNvSpPr>
              <a:spLocks noChangeArrowheads="1"/>
            </p:cNvSpPr>
            <p:nvPr/>
          </p:nvSpPr>
          <p:spPr bwMode="auto">
            <a:xfrm>
              <a:off x="755" y="3181"/>
              <a:ext cx="182" cy="192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137071" name="Group 879"/>
          <p:cNvGrpSpPr>
            <a:grpSpLocks/>
          </p:cNvGrpSpPr>
          <p:nvPr/>
        </p:nvGrpSpPr>
        <p:grpSpPr bwMode="auto">
          <a:xfrm>
            <a:off x="127471" y="5449888"/>
            <a:ext cx="8827843" cy="441325"/>
            <a:chOff x="755" y="3460"/>
            <a:chExt cx="5680" cy="278"/>
          </a:xfrm>
        </p:grpSpPr>
        <p:sp>
          <p:nvSpPr>
            <p:cNvPr id="137052" name="AutoShape 860"/>
            <p:cNvSpPr>
              <a:spLocks noChangeArrowheads="1"/>
            </p:cNvSpPr>
            <p:nvPr/>
          </p:nvSpPr>
          <p:spPr bwMode="auto">
            <a:xfrm>
              <a:off x="848" y="3460"/>
              <a:ext cx="5587" cy="278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000" dirty="0">
                  <a:solidFill>
                    <a:srgbClr val="000000"/>
                  </a:solidFill>
                </a:rPr>
                <a:t>Le </a:t>
              </a:r>
              <a:r>
                <a:rPr lang="en-GB" sz="2000" dirty="0" err="1">
                  <a:solidFill>
                    <a:srgbClr val="000000"/>
                  </a:solidFill>
                </a:rPr>
                <a:t>serveur</a:t>
              </a:r>
              <a:r>
                <a:rPr lang="en-GB" sz="2000" dirty="0">
                  <a:solidFill>
                    <a:srgbClr val="000000"/>
                  </a:solidFill>
                </a:rPr>
                <a:t> WINS B </a:t>
              </a:r>
              <a:r>
                <a:rPr lang="en-GB" sz="2000" dirty="0" err="1">
                  <a:solidFill>
                    <a:srgbClr val="000000"/>
                  </a:solidFill>
                </a:rPr>
                <a:t>envoie</a:t>
              </a:r>
              <a:r>
                <a:rPr lang="en-GB" sz="2000" dirty="0">
                  <a:solidFill>
                    <a:srgbClr val="000000"/>
                  </a:solidFill>
                </a:rPr>
                <a:t> au </a:t>
              </a:r>
              <a:r>
                <a:rPr lang="en-GB" sz="2000" dirty="0" err="1">
                  <a:solidFill>
                    <a:srgbClr val="000000"/>
                  </a:solidFill>
                </a:rPr>
                <a:t>serveur</a:t>
              </a:r>
              <a:r>
                <a:rPr lang="en-GB" sz="2000" dirty="0">
                  <a:solidFill>
                    <a:srgbClr val="000000"/>
                  </a:solidFill>
                </a:rPr>
                <a:t> WINS A </a:t>
              </a:r>
              <a:r>
                <a:rPr lang="en-GB" sz="2000" dirty="0" err="1">
                  <a:solidFill>
                    <a:srgbClr val="000000"/>
                  </a:solidFill>
                </a:rPr>
                <a:t>une</a:t>
              </a:r>
              <a:r>
                <a:rPr lang="en-GB" sz="2000" dirty="0">
                  <a:solidFill>
                    <a:srgbClr val="000000"/>
                  </a:solidFill>
                </a:rPr>
                <a:t> </a:t>
              </a:r>
              <a:r>
                <a:rPr lang="en-GB" sz="2000" dirty="0" err="1">
                  <a:solidFill>
                    <a:srgbClr val="000000"/>
                  </a:solidFill>
                </a:rPr>
                <a:t>requête</a:t>
              </a:r>
              <a:r>
                <a:rPr lang="en-GB" sz="2000" dirty="0">
                  <a:solidFill>
                    <a:srgbClr val="000000"/>
                  </a:solidFill>
                </a:rPr>
                <a:t> de </a:t>
              </a:r>
              <a:r>
                <a:rPr lang="en-GB" sz="2000" dirty="0" err="1">
                  <a:solidFill>
                    <a:srgbClr val="000000"/>
                  </a:solidFill>
                </a:rPr>
                <a:t>réplication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137053" name="AutoShape 861"/>
            <p:cNvSpPr>
              <a:spLocks noChangeArrowheads="1"/>
            </p:cNvSpPr>
            <p:nvPr/>
          </p:nvSpPr>
          <p:spPr bwMode="auto">
            <a:xfrm>
              <a:off x="755" y="3503"/>
              <a:ext cx="182" cy="192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3</a:t>
              </a:r>
            </a:p>
          </p:txBody>
        </p:sp>
      </p:grpSp>
      <p:grpSp>
        <p:nvGrpSpPr>
          <p:cNvPr id="137072" name="Group 880"/>
          <p:cNvGrpSpPr>
            <a:grpSpLocks/>
          </p:cNvGrpSpPr>
          <p:nvPr/>
        </p:nvGrpSpPr>
        <p:grpSpPr bwMode="auto">
          <a:xfrm>
            <a:off x="125884" y="5932488"/>
            <a:ext cx="8843945" cy="522287"/>
            <a:chOff x="754" y="3782"/>
            <a:chExt cx="5681" cy="329"/>
          </a:xfrm>
        </p:grpSpPr>
        <p:sp>
          <p:nvSpPr>
            <p:cNvPr id="137055" name="AutoShape 863"/>
            <p:cNvSpPr>
              <a:spLocks noChangeArrowheads="1"/>
            </p:cNvSpPr>
            <p:nvPr/>
          </p:nvSpPr>
          <p:spPr bwMode="auto">
            <a:xfrm>
              <a:off x="849" y="3782"/>
              <a:ext cx="5586" cy="329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000" dirty="0">
                  <a:solidFill>
                    <a:srgbClr val="000000"/>
                  </a:solidFill>
                </a:rPr>
                <a:t>Le </a:t>
              </a:r>
              <a:r>
                <a:rPr lang="en-GB" sz="2000" dirty="0" err="1">
                  <a:solidFill>
                    <a:srgbClr val="000000"/>
                  </a:solidFill>
                </a:rPr>
                <a:t>serveur</a:t>
              </a:r>
              <a:r>
                <a:rPr lang="en-GB" sz="2000" dirty="0">
                  <a:solidFill>
                    <a:srgbClr val="000000"/>
                  </a:solidFill>
                </a:rPr>
                <a:t> WINS A </a:t>
              </a:r>
              <a:r>
                <a:rPr lang="en-GB" sz="2000" dirty="0" err="1">
                  <a:solidFill>
                    <a:srgbClr val="000000"/>
                  </a:solidFill>
                </a:rPr>
                <a:t>envoie</a:t>
              </a:r>
              <a:r>
                <a:rPr lang="en-GB" sz="2000" dirty="0">
                  <a:solidFill>
                    <a:srgbClr val="000000"/>
                  </a:solidFill>
                </a:rPr>
                <a:t> des </a:t>
              </a:r>
              <a:r>
                <a:rPr lang="en-GB" sz="2000" dirty="0" err="1">
                  <a:solidFill>
                    <a:srgbClr val="000000"/>
                  </a:solidFill>
                </a:rPr>
                <a:t>réplicas</a:t>
              </a:r>
              <a:r>
                <a:rPr lang="en-GB" sz="2000" dirty="0">
                  <a:solidFill>
                    <a:srgbClr val="000000"/>
                  </a:solidFill>
                </a:rPr>
                <a:t> de </a:t>
              </a:r>
              <a:r>
                <a:rPr lang="en-GB" sz="2000" dirty="0" err="1">
                  <a:solidFill>
                    <a:srgbClr val="000000"/>
                  </a:solidFill>
                </a:rPr>
                <a:t>ses</a:t>
              </a:r>
              <a:r>
                <a:rPr lang="en-GB" sz="2000" dirty="0">
                  <a:solidFill>
                    <a:srgbClr val="000000"/>
                  </a:solidFill>
                </a:rPr>
                <a:t> </a:t>
              </a:r>
              <a:r>
                <a:rPr lang="en-GB" sz="2000" dirty="0" err="1">
                  <a:solidFill>
                    <a:srgbClr val="000000"/>
                  </a:solidFill>
                </a:rPr>
                <a:t>nouvelles</a:t>
              </a:r>
              <a:r>
                <a:rPr lang="en-GB" sz="2000" dirty="0">
                  <a:solidFill>
                    <a:srgbClr val="000000"/>
                  </a:solidFill>
                </a:rPr>
                <a:t> </a:t>
              </a:r>
              <a:r>
                <a:rPr lang="en-GB" sz="2000" dirty="0" smtClean="0">
                  <a:solidFill>
                    <a:srgbClr val="000000"/>
                  </a:solidFill>
                </a:rPr>
                <a:t>entrées de </a:t>
              </a:r>
              <a:r>
                <a:rPr lang="en-GB" sz="2000" dirty="0">
                  <a:solidFill>
                    <a:srgbClr val="000000"/>
                  </a:solidFill>
                </a:rPr>
                <a:t>base de </a:t>
              </a:r>
              <a:r>
                <a:rPr lang="en-GB" sz="2000" dirty="0" err="1">
                  <a:solidFill>
                    <a:srgbClr val="000000"/>
                  </a:solidFill>
                </a:rPr>
                <a:t>données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137056" name="AutoShape 864"/>
            <p:cNvSpPr>
              <a:spLocks noChangeArrowheads="1"/>
            </p:cNvSpPr>
            <p:nvPr/>
          </p:nvSpPr>
          <p:spPr bwMode="auto">
            <a:xfrm>
              <a:off x="754" y="3843"/>
              <a:ext cx="185" cy="192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4</a:t>
              </a:r>
            </a:p>
          </p:txBody>
        </p:sp>
      </p:grpSp>
      <p:grpSp>
        <p:nvGrpSpPr>
          <p:cNvPr id="137057" name="Group 865"/>
          <p:cNvGrpSpPr>
            <a:grpSpLocks/>
          </p:cNvGrpSpPr>
          <p:nvPr/>
        </p:nvGrpSpPr>
        <p:grpSpPr bwMode="auto">
          <a:xfrm>
            <a:off x="8229600" y="6432550"/>
            <a:ext cx="914400" cy="425450"/>
            <a:chOff x="384" y="3024"/>
            <a:chExt cx="720" cy="336"/>
          </a:xfrm>
        </p:grpSpPr>
        <p:sp>
          <p:nvSpPr>
            <p:cNvPr id="137058" name="Oval 866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37059" name="Group 867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137060" name="Oval 868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7061" name="Freeform 869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37062" name="Group 870"/>
          <p:cNvGrpSpPr>
            <a:grpSpLocks/>
          </p:cNvGrpSpPr>
          <p:nvPr/>
        </p:nvGrpSpPr>
        <p:grpSpPr bwMode="auto">
          <a:xfrm>
            <a:off x="8716962" y="6523038"/>
            <a:ext cx="304800" cy="244475"/>
            <a:chOff x="768" y="3096"/>
            <a:chExt cx="240" cy="192"/>
          </a:xfrm>
        </p:grpSpPr>
        <p:sp>
          <p:nvSpPr>
            <p:cNvPr id="137063" name="Oval 871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7064" name="Rectangle 872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6" name="Espace réservé du numéro de diapositive 9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19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1370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3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3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370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36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3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13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136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1370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1369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37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37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3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3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998" grpId="0" animBg="1"/>
      <p:bldP spid="136998" grpId="1" animBg="1"/>
      <p:bldP spid="136998" grpId="2" animBg="1"/>
      <p:bldP spid="136999" grpId="0" animBg="1"/>
      <p:bldP spid="136999" grpId="1" animBg="1"/>
      <p:bldP spid="13704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19585" y="255208"/>
            <a:ext cx="8551460" cy="684212"/>
          </a:xfrm>
        </p:spPr>
        <p:txBody>
          <a:bodyPr vert="horz" anchor="b">
            <a:normAutofit fontScale="90000"/>
          </a:bodyPr>
          <a:lstStyle/>
          <a:p>
            <a:pPr marL="460375" indent="-460375"/>
            <a:r>
              <a:rPr lang="fr-FR" sz="3000" b="1" dirty="0" err="1">
                <a:solidFill>
                  <a:srgbClr val="C00000"/>
                </a:solidFill>
              </a:rPr>
              <a:t>Fonctionnement de la réplication par réception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sp>
        <p:nvSpPr>
          <p:cNvPr id="138871" name="Oval 63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77863" y="3109913"/>
            <a:ext cx="2905125" cy="1547812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es-ES"/>
          </a:p>
        </p:txBody>
      </p:sp>
      <p:sp>
        <p:nvSpPr>
          <p:cNvPr id="138872" name="Line 632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1112838" y="3656013"/>
            <a:ext cx="630237" cy="496887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38873" name="Line 633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1992313" y="3862388"/>
            <a:ext cx="633412" cy="496887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38874" name="Picture 634" descr="Computer_DesktopComputerSansKeyboard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5" cstate="print"/>
          <a:srcRect/>
          <a:stretch>
            <a:fillRect/>
          </a:stretch>
        </p:blipFill>
        <p:spPr bwMode="auto">
          <a:xfrm>
            <a:off x="1852613" y="3862388"/>
            <a:ext cx="558800" cy="681037"/>
          </a:xfrm>
          <a:prstGeom prst="rect">
            <a:avLst/>
          </a:prstGeom>
          <a:noFill/>
        </p:spPr>
      </p:pic>
      <p:sp>
        <p:nvSpPr>
          <p:cNvPr id="138875" name="Line 63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V="1">
            <a:off x="2149475" y="3382963"/>
            <a:ext cx="546100" cy="376237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38876" name="Oval 63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437188" y="3109913"/>
            <a:ext cx="2903537" cy="1547812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es-ES"/>
          </a:p>
        </p:txBody>
      </p:sp>
      <p:sp>
        <p:nvSpPr>
          <p:cNvPr id="138877" name="Line 637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V="1">
            <a:off x="6348413" y="3632200"/>
            <a:ext cx="631825" cy="496888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38878" name="Picture 638" descr="Server0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66" cstate="print"/>
          <a:srcRect/>
          <a:stretch>
            <a:fillRect/>
          </a:stretch>
        </p:blipFill>
        <p:spPr bwMode="auto">
          <a:xfrm>
            <a:off x="2403475" y="2660650"/>
            <a:ext cx="700088" cy="887413"/>
          </a:xfrm>
          <a:prstGeom prst="rect">
            <a:avLst/>
          </a:prstGeom>
          <a:noFill/>
        </p:spPr>
      </p:pic>
      <p:pic>
        <p:nvPicPr>
          <p:cNvPr id="138879" name="Picture 639" descr="Database01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67" cstate="print"/>
          <a:srcRect/>
          <a:stretch>
            <a:fillRect/>
          </a:stretch>
        </p:blipFill>
        <p:spPr bwMode="auto">
          <a:xfrm>
            <a:off x="2803525" y="3159125"/>
            <a:ext cx="501650" cy="406400"/>
          </a:xfrm>
          <a:prstGeom prst="rect">
            <a:avLst/>
          </a:prstGeom>
          <a:noFill/>
        </p:spPr>
      </p:pic>
      <p:sp>
        <p:nvSpPr>
          <p:cNvPr id="138880" name="Line 640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V="1">
            <a:off x="6499225" y="3195638"/>
            <a:ext cx="393700" cy="31115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38881" name="Picture 641" descr="Server01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66" cstate="print"/>
          <a:srcRect/>
          <a:stretch>
            <a:fillRect/>
          </a:stretch>
        </p:blipFill>
        <p:spPr bwMode="auto">
          <a:xfrm>
            <a:off x="6326188" y="2468563"/>
            <a:ext cx="696912" cy="887412"/>
          </a:xfrm>
          <a:prstGeom prst="rect">
            <a:avLst/>
          </a:prstGeom>
          <a:noFill/>
        </p:spPr>
      </p:pic>
      <p:pic>
        <p:nvPicPr>
          <p:cNvPr id="138882" name="Picture 642" descr="Database01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68" cstate="print"/>
          <a:srcRect/>
          <a:stretch>
            <a:fillRect/>
          </a:stretch>
        </p:blipFill>
        <p:spPr bwMode="auto">
          <a:xfrm>
            <a:off x="6724650" y="2967038"/>
            <a:ext cx="500063" cy="406400"/>
          </a:xfrm>
          <a:prstGeom prst="rect">
            <a:avLst/>
          </a:prstGeom>
          <a:noFill/>
        </p:spPr>
      </p:pic>
      <p:sp>
        <p:nvSpPr>
          <p:cNvPr id="138883" name="Line 643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flipV="1">
            <a:off x="5876925" y="3470275"/>
            <a:ext cx="485775" cy="384175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38884" name="Line 64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7129463" y="3783013"/>
            <a:ext cx="468312" cy="371475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38885" name="Picture 645" descr="Computer_DesktopComputerSansKeyboard01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69" cstate="print"/>
          <a:srcRect/>
          <a:stretch>
            <a:fillRect/>
          </a:stretch>
        </p:blipFill>
        <p:spPr bwMode="auto">
          <a:xfrm>
            <a:off x="5594350" y="3532188"/>
            <a:ext cx="557213" cy="679450"/>
          </a:xfrm>
          <a:prstGeom prst="rect">
            <a:avLst/>
          </a:prstGeom>
          <a:noFill/>
        </p:spPr>
      </p:pic>
      <p:pic>
        <p:nvPicPr>
          <p:cNvPr id="138886" name="Picture 646" descr="Computer_DesktopComputerSansKeyboard01"/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>
          <a:blip r:embed="rId69" cstate="print"/>
          <a:srcRect/>
          <a:stretch>
            <a:fillRect/>
          </a:stretch>
        </p:blipFill>
        <p:spPr bwMode="auto">
          <a:xfrm>
            <a:off x="6991350" y="3916363"/>
            <a:ext cx="557213" cy="679450"/>
          </a:xfrm>
          <a:prstGeom prst="rect">
            <a:avLst/>
          </a:prstGeom>
          <a:noFill/>
        </p:spPr>
      </p:pic>
      <p:sp>
        <p:nvSpPr>
          <p:cNvPr id="138887" name="Freeform 647"/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93775" y="3213100"/>
            <a:ext cx="7273925" cy="985838"/>
          </a:xfrm>
          <a:custGeom>
            <a:avLst/>
            <a:gdLst/>
            <a:ahLst/>
            <a:cxnLst>
              <a:cxn ang="0">
                <a:pos x="0" y="181"/>
              </a:cxn>
              <a:cxn ang="0">
                <a:pos x="1953" y="625"/>
              </a:cxn>
              <a:cxn ang="0">
                <a:pos x="2748" y="0"/>
              </a:cxn>
              <a:cxn ang="0">
                <a:pos x="4614" y="463"/>
              </a:cxn>
            </a:cxnLst>
            <a:rect l="0" t="0" r="r" b="b"/>
            <a:pathLst>
              <a:path w="4614" h="625">
                <a:moveTo>
                  <a:pt x="0" y="181"/>
                </a:moveTo>
                <a:lnTo>
                  <a:pt x="1953" y="625"/>
                </a:lnTo>
                <a:lnTo>
                  <a:pt x="2748" y="0"/>
                </a:lnTo>
                <a:lnTo>
                  <a:pt x="4614" y="463"/>
                </a:lnTo>
              </a:path>
            </a:pathLst>
          </a:custGeom>
          <a:noFill/>
          <a:ln w="38100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138888" name="Picture 648" descr="Rackmount_Router01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70" cstate="print"/>
          <a:srcRect/>
          <a:stretch>
            <a:fillRect/>
          </a:stretch>
        </p:blipFill>
        <p:spPr bwMode="auto">
          <a:xfrm>
            <a:off x="4248150" y="3532188"/>
            <a:ext cx="722313" cy="460375"/>
          </a:xfrm>
          <a:prstGeom prst="rect">
            <a:avLst/>
          </a:prstGeom>
          <a:noFill/>
        </p:spPr>
      </p:pic>
      <p:sp>
        <p:nvSpPr>
          <p:cNvPr id="138889" name="Text Box 649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004050" y="3355975"/>
            <a:ext cx="131921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600">
                <a:solidFill>
                  <a:srgbClr val="000000"/>
                </a:solidFill>
              </a:rPr>
              <a:t>Sous-réseau 2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38890" name="Text Box 650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136650" y="3244850"/>
            <a:ext cx="131921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600">
                <a:solidFill>
                  <a:srgbClr val="000000"/>
                </a:solidFill>
              </a:rPr>
              <a:t>Sous-réseau 1</a:t>
            </a: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138891" name="Picture 651" descr="Computer_DesktopComputerSansKeyboard01"/>
          <p:cNvPicPr>
            <a:picLocks noChangeAspect="1" noChangeArrowheads="1"/>
          </p:cNvPicPr>
          <p:nvPr>
            <p:custDataLst>
              <p:tags r:id="rId22"/>
            </p:custDataLst>
          </p:nvPr>
        </p:nvPicPr>
        <p:blipFill>
          <a:blip r:embed="rId69" cstate="print"/>
          <a:srcRect/>
          <a:stretch>
            <a:fillRect/>
          </a:stretch>
        </p:blipFill>
        <p:spPr bwMode="auto">
          <a:xfrm>
            <a:off x="984250" y="3652838"/>
            <a:ext cx="558800" cy="679450"/>
          </a:xfrm>
          <a:prstGeom prst="rect">
            <a:avLst/>
          </a:prstGeom>
          <a:noFill/>
        </p:spPr>
      </p:pic>
      <p:pic>
        <p:nvPicPr>
          <p:cNvPr id="138892" name="Picture 652" descr="Computer_DesktopComputerSansKeyboard01"/>
          <p:cNvPicPr>
            <a:picLocks noChangeAspect="1" noChangeArrowheads="1"/>
          </p:cNvPicPr>
          <p:nvPr>
            <p:custDataLst>
              <p:tags r:id="rId23"/>
            </p:custDataLst>
          </p:nvPr>
        </p:nvPicPr>
        <p:blipFill>
          <a:blip r:embed="rId69" cstate="print"/>
          <a:srcRect/>
          <a:stretch>
            <a:fillRect/>
          </a:stretch>
        </p:blipFill>
        <p:spPr bwMode="auto">
          <a:xfrm>
            <a:off x="6292850" y="3717925"/>
            <a:ext cx="557213" cy="679450"/>
          </a:xfrm>
          <a:prstGeom prst="rect">
            <a:avLst/>
          </a:prstGeom>
          <a:noFill/>
        </p:spPr>
      </p:pic>
      <p:sp>
        <p:nvSpPr>
          <p:cNvPr id="138893" name="AutoShape 653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950913" y="2559050"/>
            <a:ext cx="1398587" cy="32543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1600">
                <a:solidFill>
                  <a:srgbClr val="000000"/>
                </a:solidFill>
              </a:rPr>
              <a:t>Serveur</a:t>
            </a:r>
            <a:r>
              <a:rPr lang="en-US" sz="1600">
                <a:solidFill>
                  <a:srgbClr val="000000"/>
                </a:solidFill>
              </a:rPr>
              <a:t> WINS A</a:t>
            </a:r>
          </a:p>
        </p:txBody>
      </p:sp>
      <p:sp>
        <p:nvSpPr>
          <p:cNvPr id="138894" name="AutoShape 654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086600" y="2559050"/>
            <a:ext cx="1404938" cy="32543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1600">
                <a:solidFill>
                  <a:srgbClr val="000000"/>
                </a:solidFill>
              </a:rPr>
              <a:t>Serveur</a:t>
            </a:r>
            <a:r>
              <a:rPr lang="en-US" sz="1600">
                <a:solidFill>
                  <a:srgbClr val="000000"/>
                </a:solidFill>
              </a:rPr>
              <a:t> WINS B</a:t>
            </a:r>
          </a:p>
        </p:txBody>
      </p:sp>
      <p:grpSp>
        <p:nvGrpSpPr>
          <p:cNvPr id="138895" name="Group 655"/>
          <p:cNvGrpSpPr>
            <a:grpSpLocks/>
          </p:cNvGrpSpPr>
          <p:nvPr/>
        </p:nvGrpSpPr>
        <p:grpSpPr bwMode="auto">
          <a:xfrm>
            <a:off x="3562350" y="2293938"/>
            <a:ext cx="2228850" cy="508000"/>
            <a:chOff x="2244" y="1445"/>
            <a:chExt cx="1404" cy="320"/>
          </a:xfrm>
        </p:grpSpPr>
        <p:sp>
          <p:nvSpPr>
            <p:cNvPr id="138896" name="AutoShape 656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2349" y="1445"/>
              <a:ext cx="1299" cy="32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182880" anchor="ctr"/>
            <a:lstStyle/>
            <a:p>
              <a:pPr algn="l">
                <a:lnSpc>
                  <a:spcPct val="85000"/>
                </a:lnSpc>
              </a:pPr>
              <a:r>
                <a:rPr lang="en-GB">
                  <a:solidFill>
                    <a:srgbClr val="000000"/>
                  </a:solidFill>
                </a:rPr>
                <a:t>Réplicas envoyés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38897" name="AutoShape 657"/>
            <p:cNvSpPr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2244" y="1514"/>
              <a:ext cx="166" cy="181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138898" name="Group 658"/>
          <p:cNvGrpSpPr>
            <a:grpSpLocks/>
          </p:cNvGrpSpPr>
          <p:nvPr/>
        </p:nvGrpSpPr>
        <p:grpSpPr bwMode="auto">
          <a:xfrm>
            <a:off x="3178175" y="2238375"/>
            <a:ext cx="2947988" cy="576263"/>
            <a:chOff x="4110" y="18"/>
            <a:chExt cx="1779" cy="363"/>
          </a:xfrm>
        </p:grpSpPr>
        <p:sp>
          <p:nvSpPr>
            <p:cNvPr id="138899" name="AutoShape 659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215" y="18"/>
              <a:ext cx="1674" cy="363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182880" anchor="ctr"/>
            <a:lstStyle/>
            <a:p>
              <a:pPr algn="l">
                <a:lnSpc>
                  <a:spcPct val="85000"/>
                </a:lnSpc>
              </a:pPr>
              <a:r>
                <a:rPr lang="en-GB">
                  <a:solidFill>
                    <a:srgbClr val="000000"/>
                  </a:solidFill>
                </a:rPr>
                <a:t>Demande les modifications toutes les 8 heures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38900" name="AutoShape 660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4110" y="119"/>
              <a:ext cx="166" cy="181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1</a:t>
              </a:r>
            </a:p>
          </p:txBody>
        </p:sp>
      </p:grpSp>
      <p:sp>
        <p:nvSpPr>
          <p:cNvPr id="138901" name="Line 661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3297238" y="2921000"/>
            <a:ext cx="3000375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38902" name="Line 662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 flipH="1">
            <a:off x="3206750" y="3074988"/>
            <a:ext cx="3000375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38903" name="Group 663"/>
          <p:cNvGrpSpPr>
            <a:grpSpLocks/>
          </p:cNvGrpSpPr>
          <p:nvPr/>
        </p:nvGrpSpPr>
        <p:grpSpPr bwMode="auto">
          <a:xfrm>
            <a:off x="690563" y="1273175"/>
            <a:ext cx="7800975" cy="4951413"/>
            <a:chOff x="427" y="802"/>
            <a:chExt cx="4914" cy="3119"/>
          </a:xfrm>
        </p:grpSpPr>
        <p:grpSp>
          <p:nvGrpSpPr>
            <p:cNvPr id="138904" name="Group 664"/>
            <p:cNvGrpSpPr>
              <a:grpSpLocks/>
            </p:cNvGrpSpPr>
            <p:nvPr/>
          </p:nvGrpSpPr>
          <p:grpSpPr bwMode="auto">
            <a:xfrm>
              <a:off x="576" y="802"/>
              <a:ext cx="4550" cy="3119"/>
              <a:chOff x="576" y="802"/>
              <a:chExt cx="4550" cy="3119"/>
            </a:xfrm>
          </p:grpSpPr>
          <p:sp>
            <p:nvSpPr>
              <p:cNvPr id="138905" name="AutoShape 665"/>
              <p:cNvSpPr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576" y="802"/>
                <a:ext cx="4550" cy="3119"/>
              </a:xfrm>
              <a:prstGeom prst="roundRect">
                <a:avLst>
                  <a:gd name="adj" fmla="val 2931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EFD7"/>
                  </a:gs>
                </a:gsLst>
                <a:lin ang="5400000" scaled="1"/>
              </a:gradFill>
              <a:ln w="6350" algn="ctr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8906" name="Line 666"/>
              <p:cNvSpPr>
                <a:spLocks noChangeShapeType="1"/>
              </p:cNvSpPr>
              <p:nvPr/>
            </p:nvSpPr>
            <p:spPr bwMode="auto">
              <a:xfrm>
                <a:off x="2069" y="1848"/>
                <a:ext cx="1890" cy="0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8907" name="Line 667"/>
              <p:cNvSpPr>
                <a:spLocks noChangeShapeType="1"/>
              </p:cNvSpPr>
              <p:nvPr/>
            </p:nvSpPr>
            <p:spPr bwMode="auto">
              <a:xfrm flipH="1">
                <a:off x="2020" y="1937"/>
                <a:ext cx="1890" cy="0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38908" name="Oval 668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27" y="1959"/>
              <a:ext cx="1830" cy="975"/>
            </a:xfrm>
            <a:prstGeom prst="ellipse">
              <a:avLst/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38909" name="Line 669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V="1">
              <a:off x="701" y="2303"/>
              <a:ext cx="397" cy="313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38910" name="Line 670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V="1">
              <a:off x="1255" y="2433"/>
              <a:ext cx="399" cy="313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138911" name="Picture 671" descr="Computer_DesktopComputerSansKeyboard01"/>
            <p:cNvPicPr>
              <a:picLocks noChangeAspect="1" noChangeArrowheads="1"/>
            </p:cNvPicPr>
            <p:nvPr>
              <p:custDataLst>
                <p:tags r:id="rId36"/>
              </p:custDataLst>
            </p:nvPr>
          </p:nvPicPr>
          <p:blipFill>
            <a:blip r:embed="rId65" cstate="print"/>
            <a:srcRect/>
            <a:stretch>
              <a:fillRect/>
            </a:stretch>
          </p:blipFill>
          <p:spPr bwMode="auto">
            <a:xfrm>
              <a:off x="1167" y="2433"/>
              <a:ext cx="352" cy="429"/>
            </a:xfrm>
            <a:prstGeom prst="rect">
              <a:avLst/>
            </a:prstGeom>
            <a:noFill/>
          </p:spPr>
        </p:pic>
        <p:sp>
          <p:nvSpPr>
            <p:cNvPr id="138912" name="Line 672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 flipV="1">
              <a:off x="1354" y="2131"/>
              <a:ext cx="344" cy="237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38913" name="Oval 673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425" y="1959"/>
              <a:ext cx="1829" cy="975"/>
            </a:xfrm>
            <a:prstGeom prst="ellipse">
              <a:avLst/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38914" name="Line 674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flipV="1">
              <a:off x="3999" y="2288"/>
              <a:ext cx="398" cy="313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138915" name="Picture 675" descr="Server01"/>
            <p:cNvPicPr>
              <a:picLocks noChangeAspect="1" noChangeArrowheads="1"/>
            </p:cNvPicPr>
            <p:nvPr>
              <p:custDataLst>
                <p:tags r:id="rId40"/>
              </p:custDataLst>
            </p:nvPr>
          </p:nvPicPr>
          <p:blipFill>
            <a:blip r:embed="rId66" cstate="print"/>
            <a:srcRect/>
            <a:stretch>
              <a:fillRect/>
            </a:stretch>
          </p:blipFill>
          <p:spPr bwMode="auto">
            <a:xfrm>
              <a:off x="1514" y="1676"/>
              <a:ext cx="441" cy="559"/>
            </a:xfrm>
            <a:prstGeom prst="rect">
              <a:avLst/>
            </a:prstGeom>
            <a:noFill/>
          </p:spPr>
        </p:pic>
        <p:pic>
          <p:nvPicPr>
            <p:cNvPr id="138916" name="Picture 676" descr="Database01"/>
            <p:cNvPicPr>
              <a:picLocks noChangeAspect="1" noChangeArrowheads="1"/>
            </p:cNvPicPr>
            <p:nvPr>
              <p:custDataLst>
                <p:tags r:id="rId41"/>
              </p:custDataLst>
            </p:nvPr>
          </p:nvPicPr>
          <p:blipFill>
            <a:blip r:embed="rId67" cstate="print"/>
            <a:srcRect/>
            <a:stretch>
              <a:fillRect/>
            </a:stretch>
          </p:blipFill>
          <p:spPr bwMode="auto">
            <a:xfrm>
              <a:off x="1766" y="1990"/>
              <a:ext cx="316" cy="256"/>
            </a:xfrm>
            <a:prstGeom prst="rect">
              <a:avLst/>
            </a:prstGeom>
            <a:noFill/>
          </p:spPr>
        </p:pic>
        <p:sp>
          <p:nvSpPr>
            <p:cNvPr id="138917" name="Line 677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 flipV="1">
              <a:off x="4094" y="2013"/>
              <a:ext cx="248" cy="196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grpSp>
          <p:nvGrpSpPr>
            <p:cNvPr id="138918" name="Group 573"/>
            <p:cNvGrpSpPr>
              <a:grpSpLocks/>
            </p:cNvGrpSpPr>
            <p:nvPr>
              <p:custDataLst>
                <p:tags r:id="rId43"/>
              </p:custDataLst>
            </p:nvPr>
          </p:nvGrpSpPr>
          <p:grpSpPr bwMode="auto">
            <a:xfrm>
              <a:off x="3985" y="1555"/>
              <a:ext cx="566" cy="570"/>
              <a:chOff x="3985" y="1555"/>
              <a:chExt cx="566" cy="570"/>
            </a:xfrm>
          </p:grpSpPr>
          <p:pic>
            <p:nvPicPr>
              <p:cNvPr id="138919" name="Picture 679" descr="Server01"/>
              <p:cNvPicPr>
                <a:picLocks noChangeAspect="1" noChangeArrowheads="1"/>
              </p:cNvPicPr>
              <p:nvPr>
                <p:custDataLst>
                  <p:tags r:id="rId56"/>
                </p:custDataLst>
              </p:nvPr>
            </p:nvPicPr>
            <p:blipFill>
              <a:blip r:embed="rId66" cstate="print"/>
              <a:srcRect/>
              <a:stretch>
                <a:fillRect/>
              </a:stretch>
            </p:blipFill>
            <p:spPr bwMode="auto">
              <a:xfrm>
                <a:off x="3985" y="1555"/>
                <a:ext cx="439" cy="559"/>
              </a:xfrm>
              <a:prstGeom prst="rect">
                <a:avLst/>
              </a:prstGeom>
              <a:noFill/>
            </p:spPr>
          </p:pic>
          <p:pic>
            <p:nvPicPr>
              <p:cNvPr id="138920" name="Picture 680" descr="Database01"/>
              <p:cNvPicPr>
                <a:picLocks noChangeAspect="1" noChangeArrowheads="1"/>
              </p:cNvPicPr>
              <p:nvPr>
                <p:custDataLst>
                  <p:tags r:id="rId57"/>
                </p:custDataLst>
              </p:nvPr>
            </p:nvPicPr>
            <p:blipFill>
              <a:blip r:embed="rId68" cstate="print"/>
              <a:srcRect/>
              <a:stretch>
                <a:fillRect/>
              </a:stretch>
            </p:blipFill>
            <p:spPr bwMode="auto">
              <a:xfrm>
                <a:off x="4236" y="1869"/>
                <a:ext cx="315" cy="256"/>
              </a:xfrm>
              <a:prstGeom prst="rect">
                <a:avLst/>
              </a:prstGeom>
              <a:noFill/>
            </p:spPr>
          </p:pic>
        </p:grpSp>
        <p:sp>
          <p:nvSpPr>
            <p:cNvPr id="138921" name="Line 681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 flipV="1">
              <a:off x="3702" y="2186"/>
              <a:ext cx="306" cy="242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38922" name="Line 682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 flipV="1">
              <a:off x="4491" y="2383"/>
              <a:ext cx="295" cy="234"/>
            </a:xfrm>
            <a:prstGeom prst="line">
              <a:avLst/>
            </a:prstGeom>
            <a:noFill/>
            <a:ln w="38100">
              <a:solidFill>
                <a:srgbClr val="333333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138923" name="Picture 683" descr="Computer_DesktopComputerSansKeyboard01"/>
            <p:cNvPicPr>
              <a:picLocks noChangeAspect="1" noChangeArrowheads="1"/>
            </p:cNvPicPr>
            <p:nvPr>
              <p:custDataLst>
                <p:tags r:id="rId46"/>
              </p:custDataLst>
            </p:nvPr>
          </p:nvPicPr>
          <p:blipFill>
            <a:blip r:embed="rId69" cstate="print"/>
            <a:srcRect/>
            <a:stretch>
              <a:fillRect/>
            </a:stretch>
          </p:blipFill>
          <p:spPr bwMode="auto">
            <a:xfrm>
              <a:off x="3524" y="2225"/>
              <a:ext cx="351" cy="428"/>
            </a:xfrm>
            <a:prstGeom prst="rect">
              <a:avLst/>
            </a:prstGeom>
            <a:noFill/>
          </p:spPr>
        </p:pic>
        <p:pic>
          <p:nvPicPr>
            <p:cNvPr id="138924" name="Picture 684" descr="Computer_DesktopComputerSansKeyboard01"/>
            <p:cNvPicPr>
              <a:picLocks noChangeAspect="1" noChangeArrowheads="1"/>
            </p:cNvPicPr>
            <p:nvPr>
              <p:custDataLst>
                <p:tags r:id="rId47"/>
              </p:custDataLst>
            </p:nvPr>
          </p:nvPicPr>
          <p:blipFill>
            <a:blip r:embed="rId69" cstate="print"/>
            <a:srcRect/>
            <a:stretch>
              <a:fillRect/>
            </a:stretch>
          </p:blipFill>
          <p:spPr bwMode="auto">
            <a:xfrm>
              <a:off x="4404" y="2467"/>
              <a:ext cx="351" cy="428"/>
            </a:xfrm>
            <a:prstGeom prst="rect">
              <a:avLst/>
            </a:prstGeom>
            <a:noFill/>
          </p:spPr>
        </p:pic>
        <p:sp>
          <p:nvSpPr>
            <p:cNvPr id="138925" name="Freeform 685"/>
            <p:cNvSpPr>
              <a:spLocks/>
            </p:cNvSpPr>
            <p:nvPr>
              <p:custDataLst>
                <p:tags r:id="rId48"/>
              </p:custDataLst>
            </p:nvPr>
          </p:nvSpPr>
          <p:spPr bwMode="auto">
            <a:xfrm>
              <a:off x="626" y="2024"/>
              <a:ext cx="4582" cy="621"/>
            </a:xfrm>
            <a:custGeom>
              <a:avLst/>
              <a:gdLst/>
              <a:ahLst/>
              <a:cxnLst>
                <a:cxn ang="0">
                  <a:pos x="0" y="181"/>
                </a:cxn>
                <a:cxn ang="0">
                  <a:pos x="1953" y="625"/>
                </a:cxn>
                <a:cxn ang="0">
                  <a:pos x="2748" y="0"/>
                </a:cxn>
                <a:cxn ang="0">
                  <a:pos x="4614" y="463"/>
                </a:cxn>
              </a:cxnLst>
              <a:rect l="0" t="0" r="r" b="b"/>
              <a:pathLst>
                <a:path w="4614" h="625">
                  <a:moveTo>
                    <a:pt x="0" y="181"/>
                  </a:moveTo>
                  <a:lnTo>
                    <a:pt x="1953" y="625"/>
                  </a:lnTo>
                  <a:lnTo>
                    <a:pt x="2748" y="0"/>
                  </a:lnTo>
                  <a:lnTo>
                    <a:pt x="4614" y="463"/>
                  </a:lnTo>
                </a:path>
              </a:pathLst>
            </a:custGeom>
            <a:noFill/>
            <a:ln w="3810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138926" name="Picture 686" descr="Rackmount_Router01"/>
            <p:cNvPicPr>
              <a:picLocks noChangeAspect="1" noChangeArrowheads="1"/>
            </p:cNvPicPr>
            <p:nvPr>
              <p:custDataLst>
                <p:tags r:id="rId49"/>
              </p:custDataLst>
            </p:nvPr>
          </p:nvPicPr>
          <p:blipFill>
            <a:blip r:embed="rId70" cstate="print"/>
            <a:srcRect/>
            <a:stretch>
              <a:fillRect/>
            </a:stretch>
          </p:blipFill>
          <p:spPr bwMode="auto">
            <a:xfrm>
              <a:off x="2676" y="2225"/>
              <a:ext cx="455" cy="290"/>
            </a:xfrm>
            <a:prstGeom prst="rect">
              <a:avLst/>
            </a:prstGeom>
            <a:noFill/>
          </p:spPr>
        </p:pic>
        <p:sp>
          <p:nvSpPr>
            <p:cNvPr id="138927" name="Text Box 687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4412" y="2114"/>
              <a:ext cx="831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600">
                  <a:solidFill>
                    <a:srgbClr val="000000"/>
                  </a:solidFill>
                </a:rPr>
                <a:t>Sous-réseau 2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38928" name="Text Box 688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716" y="2044"/>
              <a:ext cx="831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600">
                  <a:solidFill>
                    <a:srgbClr val="000000"/>
                  </a:solidFill>
                </a:rPr>
                <a:t>Sous-réseau 1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pic>
          <p:nvPicPr>
            <p:cNvPr id="138929" name="Picture 689" descr="Computer_DesktopComputerSansKeyboard01"/>
            <p:cNvPicPr>
              <a:picLocks noChangeAspect="1" noChangeArrowheads="1"/>
            </p:cNvPicPr>
            <p:nvPr>
              <p:custDataLst>
                <p:tags r:id="rId52"/>
              </p:custDataLst>
            </p:nvPr>
          </p:nvPicPr>
          <p:blipFill>
            <a:blip r:embed="rId69" cstate="print"/>
            <a:srcRect/>
            <a:stretch>
              <a:fillRect/>
            </a:stretch>
          </p:blipFill>
          <p:spPr bwMode="auto">
            <a:xfrm>
              <a:off x="620" y="2301"/>
              <a:ext cx="352" cy="428"/>
            </a:xfrm>
            <a:prstGeom prst="rect">
              <a:avLst/>
            </a:prstGeom>
            <a:noFill/>
          </p:spPr>
        </p:pic>
        <p:pic>
          <p:nvPicPr>
            <p:cNvPr id="138930" name="Picture 690" descr="Computer_DesktopComputerSansKeyboard01"/>
            <p:cNvPicPr>
              <a:picLocks noChangeAspect="1" noChangeArrowheads="1"/>
            </p:cNvPicPr>
            <p:nvPr>
              <p:custDataLst>
                <p:tags r:id="rId53"/>
              </p:custDataLst>
            </p:nvPr>
          </p:nvPicPr>
          <p:blipFill>
            <a:blip r:embed="rId69" cstate="print"/>
            <a:srcRect/>
            <a:stretch>
              <a:fillRect/>
            </a:stretch>
          </p:blipFill>
          <p:spPr bwMode="auto">
            <a:xfrm>
              <a:off x="3964" y="2342"/>
              <a:ext cx="351" cy="428"/>
            </a:xfrm>
            <a:prstGeom prst="rect">
              <a:avLst/>
            </a:prstGeom>
            <a:noFill/>
          </p:spPr>
        </p:pic>
        <p:sp>
          <p:nvSpPr>
            <p:cNvPr id="138931" name="AutoShape 691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00" y="1612"/>
              <a:ext cx="880" cy="205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GB" sz="1600">
                  <a:solidFill>
                    <a:srgbClr val="000000"/>
                  </a:solidFill>
                </a:rPr>
                <a:t>Serveur WINS A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38932" name="AutoShape 692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4435" y="1612"/>
              <a:ext cx="906" cy="205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GB" sz="1600">
                  <a:solidFill>
                    <a:srgbClr val="000000"/>
                  </a:solidFill>
                </a:rPr>
                <a:t>Serveur</a:t>
              </a:r>
              <a:r>
                <a:rPr lang="en-US" sz="1600">
                  <a:solidFill>
                    <a:srgbClr val="000000"/>
                  </a:solidFill>
                </a:rPr>
                <a:t> WINS B</a:t>
              </a:r>
            </a:p>
          </p:txBody>
        </p:sp>
      </p:grpSp>
      <p:grpSp>
        <p:nvGrpSpPr>
          <p:cNvPr id="138948" name="Group 708"/>
          <p:cNvGrpSpPr>
            <a:grpSpLocks/>
          </p:cNvGrpSpPr>
          <p:nvPr/>
        </p:nvGrpSpPr>
        <p:grpSpPr bwMode="auto">
          <a:xfrm>
            <a:off x="125203" y="4881564"/>
            <a:ext cx="9018797" cy="735012"/>
            <a:chOff x="547" y="3075"/>
            <a:chExt cx="4293" cy="463"/>
          </a:xfrm>
        </p:grpSpPr>
        <p:sp>
          <p:nvSpPr>
            <p:cNvPr id="138935" name="AutoShape 695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42" y="3075"/>
              <a:ext cx="4198" cy="463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200" dirty="0">
                  <a:solidFill>
                    <a:srgbClr val="000000"/>
                  </a:solidFill>
                </a:rPr>
                <a:t>Le </a:t>
              </a:r>
              <a:r>
                <a:rPr lang="en-GB" sz="2200" dirty="0" err="1">
                  <a:solidFill>
                    <a:srgbClr val="000000"/>
                  </a:solidFill>
                </a:rPr>
                <a:t>serveur</a:t>
              </a:r>
              <a:r>
                <a:rPr lang="en-GB" sz="2200" dirty="0">
                  <a:solidFill>
                    <a:srgbClr val="000000"/>
                  </a:solidFill>
                </a:rPr>
                <a:t> WINS A </a:t>
              </a:r>
              <a:r>
                <a:rPr lang="en-GB" sz="2200" dirty="0" err="1">
                  <a:solidFill>
                    <a:srgbClr val="000000"/>
                  </a:solidFill>
                </a:rPr>
                <a:t>demande</a:t>
              </a:r>
              <a:r>
                <a:rPr lang="en-GB" sz="2200" dirty="0">
                  <a:solidFill>
                    <a:srgbClr val="000000"/>
                  </a:solidFill>
                </a:rPr>
                <a:t> les modifications de base de </a:t>
              </a:r>
              <a:r>
                <a:rPr lang="en-GB" sz="2200" dirty="0" err="1">
                  <a:solidFill>
                    <a:srgbClr val="000000"/>
                  </a:solidFill>
                </a:rPr>
                <a:t>données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toutes</a:t>
              </a:r>
              <a:r>
                <a:rPr lang="en-GB" sz="2200" dirty="0">
                  <a:solidFill>
                    <a:srgbClr val="000000"/>
                  </a:solidFill>
                </a:rPr>
                <a:t> les 8 </a:t>
              </a:r>
              <a:r>
                <a:rPr lang="en-GB" sz="2200" dirty="0" err="1">
                  <a:solidFill>
                    <a:srgbClr val="000000"/>
                  </a:solidFill>
                </a:rPr>
                <a:t>heures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  <p:sp>
          <p:nvSpPr>
            <p:cNvPr id="138936" name="AutoShape 696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47" y="3216"/>
              <a:ext cx="182" cy="192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138949" name="Group 709"/>
          <p:cNvGrpSpPr>
            <a:grpSpLocks/>
          </p:cNvGrpSpPr>
          <p:nvPr/>
        </p:nvGrpSpPr>
        <p:grpSpPr bwMode="auto">
          <a:xfrm>
            <a:off x="126792" y="5700720"/>
            <a:ext cx="9029300" cy="700089"/>
            <a:chOff x="548" y="3591"/>
            <a:chExt cx="4298" cy="441"/>
          </a:xfrm>
        </p:grpSpPr>
        <p:sp>
          <p:nvSpPr>
            <p:cNvPr id="138938" name="AutoShape 698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40" y="3591"/>
              <a:ext cx="4206" cy="441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  <a:spcBef>
                  <a:spcPct val="40000"/>
                </a:spcBef>
                <a:buSzPct val="80000"/>
              </a:pPr>
              <a:r>
                <a:rPr lang="en-GB" sz="2200" dirty="0">
                  <a:solidFill>
                    <a:srgbClr val="000000"/>
                  </a:solidFill>
                </a:rPr>
                <a:t>Le </a:t>
              </a:r>
              <a:r>
                <a:rPr lang="en-GB" sz="2200" dirty="0" err="1">
                  <a:solidFill>
                    <a:srgbClr val="000000"/>
                  </a:solidFill>
                </a:rPr>
                <a:t>serveur</a:t>
              </a:r>
              <a:r>
                <a:rPr lang="en-GB" sz="2200" dirty="0">
                  <a:solidFill>
                    <a:srgbClr val="000000"/>
                  </a:solidFill>
                </a:rPr>
                <a:t> WINS B </a:t>
              </a:r>
              <a:r>
                <a:rPr lang="en-GB" sz="2200" dirty="0" err="1">
                  <a:solidFill>
                    <a:srgbClr val="000000"/>
                  </a:solidFill>
                </a:rPr>
                <a:t>envoie</a:t>
              </a:r>
              <a:r>
                <a:rPr lang="en-GB" sz="2200" dirty="0">
                  <a:solidFill>
                    <a:srgbClr val="000000"/>
                  </a:solidFill>
                </a:rPr>
                <a:t> des </a:t>
              </a:r>
              <a:r>
                <a:rPr lang="en-GB" sz="2200" dirty="0" err="1">
                  <a:solidFill>
                    <a:srgbClr val="000000"/>
                  </a:solidFill>
                </a:rPr>
                <a:t>réplicas</a:t>
              </a:r>
              <a:r>
                <a:rPr lang="en-GB" sz="2200" dirty="0">
                  <a:solidFill>
                    <a:srgbClr val="000000"/>
                  </a:solidFill>
                </a:rPr>
                <a:t> de </a:t>
              </a:r>
              <a:r>
                <a:rPr lang="en-GB" sz="2200" dirty="0" err="1">
                  <a:solidFill>
                    <a:srgbClr val="000000"/>
                  </a:solidFill>
                </a:rPr>
                <a:t>ses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nouvelles</a:t>
              </a:r>
              <a:r>
                <a:rPr lang="en-GB" sz="2200" dirty="0">
                  <a:solidFill>
                    <a:srgbClr val="000000"/>
                  </a:solidFill>
                </a:rPr>
                <a:t> entrées de base de </a:t>
              </a:r>
              <a:r>
                <a:rPr lang="en-GB" sz="2200" dirty="0" err="1">
                  <a:solidFill>
                    <a:srgbClr val="000000"/>
                  </a:solidFill>
                </a:rPr>
                <a:t>données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  <p:sp>
          <p:nvSpPr>
            <p:cNvPr id="138939" name="AutoShape 699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48" y="3671"/>
              <a:ext cx="179" cy="192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138940" name="Group 700"/>
          <p:cNvGrpSpPr>
            <a:grpSpLocks/>
          </p:cNvGrpSpPr>
          <p:nvPr/>
        </p:nvGrpSpPr>
        <p:grpSpPr bwMode="auto">
          <a:xfrm>
            <a:off x="8229600" y="6432550"/>
            <a:ext cx="914400" cy="425450"/>
            <a:chOff x="384" y="3024"/>
            <a:chExt cx="720" cy="336"/>
          </a:xfrm>
        </p:grpSpPr>
        <p:sp>
          <p:nvSpPr>
            <p:cNvPr id="138941" name="Oval 701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38942" name="Group 702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138943" name="Oval 703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8944" name="Freeform 704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38945" name="Group 705"/>
          <p:cNvGrpSpPr>
            <a:grpSpLocks/>
          </p:cNvGrpSpPr>
          <p:nvPr/>
        </p:nvGrpSpPr>
        <p:grpSpPr bwMode="auto">
          <a:xfrm>
            <a:off x="8716963" y="6523038"/>
            <a:ext cx="304800" cy="244475"/>
            <a:chOff x="768" y="3096"/>
            <a:chExt cx="240" cy="192"/>
          </a:xfrm>
        </p:grpSpPr>
        <p:sp>
          <p:nvSpPr>
            <p:cNvPr id="138946" name="Oval 706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8947" name="Rectangle 707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81" name="Groupe 80"/>
          <p:cNvGrpSpPr/>
          <p:nvPr/>
        </p:nvGrpSpPr>
        <p:grpSpPr>
          <a:xfrm>
            <a:off x="203200" y="1683657"/>
            <a:ext cx="8756197" cy="3149600"/>
            <a:chOff x="203200" y="1683657"/>
            <a:chExt cx="8756197" cy="3149600"/>
          </a:xfrm>
        </p:grpSpPr>
        <p:sp>
          <p:nvSpPr>
            <p:cNvPr id="80" name="Rectangle 79"/>
            <p:cNvSpPr/>
            <p:nvPr/>
          </p:nvSpPr>
          <p:spPr>
            <a:xfrm>
              <a:off x="551543" y="1683657"/>
              <a:ext cx="8098971" cy="3149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8933" name="AutoShape 693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03200" y="1969180"/>
              <a:ext cx="8756197" cy="1906134"/>
            </a:xfrm>
            <a:prstGeom prst="roundRect">
              <a:avLst>
                <a:gd name="adj" fmla="val 16741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marL="231775" indent="-231775" algn="l">
                <a:buSzPct val="80000"/>
                <a:buFontTx/>
                <a:buBlip>
                  <a:blip r:embed="rId71"/>
                </a:buBlip>
              </a:pPr>
              <a:r>
                <a:rPr lang="en-GB" sz="2600">
                  <a:solidFill>
                    <a:srgbClr val="000000"/>
                  </a:solidFill>
                </a:rPr>
                <a:t>Un partenaire récepteur demande une réplication à intervalles réguliers</a:t>
              </a:r>
              <a:endParaRPr lang="en-US" sz="2600"/>
            </a:p>
            <a:p>
              <a:pPr marL="231775" indent="-231775" algn="l">
                <a:lnSpc>
                  <a:spcPct val="85000"/>
                </a:lnSpc>
                <a:buSzPct val="80000"/>
                <a:buFontTx/>
                <a:buBlip>
                  <a:blip r:embed="rId71"/>
                </a:buBlip>
              </a:pPr>
              <a:r>
                <a:rPr lang="en-GB" sz="2600">
                  <a:solidFill>
                    <a:srgbClr val="000000"/>
                  </a:solidFill>
                </a:rPr>
                <a:t>La réplication par réception limite la fréquence du trafic de réplication sur des liaisons lentes</a:t>
              </a:r>
              <a:endParaRPr lang="en-US" sz="2600">
                <a:solidFill>
                  <a:srgbClr val="000000"/>
                </a:solidFill>
              </a:endParaRPr>
            </a:p>
          </p:txBody>
        </p:sp>
      </p:grpSp>
      <p:sp>
        <p:nvSpPr>
          <p:cNvPr id="82" name="Espace réservé du numéro de diapositive 8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20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3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3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388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138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13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8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901" grpId="0" animBg="1"/>
      <p:bldP spid="138901" grpId="1" animBg="1"/>
      <p:bldP spid="13890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68" name="AutoShape 4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7818" y="1684266"/>
            <a:ext cx="8723086" cy="1086229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r>
              <a:rPr lang="en-GB" sz="2600" dirty="0" err="1" smtClean="0">
                <a:solidFill>
                  <a:srgbClr val="000000"/>
                </a:solidFill>
              </a:rPr>
              <a:t>Garantit</a:t>
            </a:r>
            <a:r>
              <a:rPr lang="en-GB" sz="2600" dirty="0" smtClean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que</a:t>
            </a:r>
            <a:r>
              <a:rPr lang="en-GB" sz="2600" dirty="0">
                <a:solidFill>
                  <a:srgbClr val="000000"/>
                </a:solidFill>
              </a:rPr>
              <a:t> les bases de </a:t>
            </a:r>
            <a:r>
              <a:rPr lang="en-GB" sz="2600" dirty="0" err="1">
                <a:solidFill>
                  <a:srgbClr val="000000"/>
                </a:solidFill>
              </a:rPr>
              <a:t>données</a:t>
            </a:r>
            <a:r>
              <a:rPr lang="en-GB" sz="2600" dirty="0">
                <a:solidFill>
                  <a:srgbClr val="000000"/>
                </a:solidFill>
              </a:rPr>
              <a:t> de </a:t>
            </a:r>
            <a:r>
              <a:rPr lang="en-GB" sz="2600" dirty="0" err="1">
                <a:solidFill>
                  <a:srgbClr val="000000"/>
                </a:solidFill>
              </a:rPr>
              <a:t>plusieurs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serveurs</a:t>
            </a:r>
            <a:r>
              <a:rPr lang="en-GB" sz="2600" dirty="0">
                <a:solidFill>
                  <a:srgbClr val="000000"/>
                </a:solidFill>
              </a:rPr>
              <a:t> WINS </a:t>
            </a:r>
            <a:r>
              <a:rPr lang="en-GB" sz="2600" dirty="0" err="1">
                <a:solidFill>
                  <a:srgbClr val="000000"/>
                </a:solidFill>
              </a:rPr>
              <a:t>sont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pratiquement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identiques</a:t>
            </a:r>
            <a:r>
              <a:rPr lang="en-GB" sz="2600" dirty="0">
                <a:solidFill>
                  <a:srgbClr val="000000"/>
                </a:solidFill>
              </a:rPr>
              <a:t> à tout moment en :</a:t>
            </a:r>
            <a:endParaRPr lang="en-US" sz="26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214085" y="402952"/>
            <a:ext cx="8755744" cy="684212"/>
          </a:xfrm>
        </p:spPr>
        <p:txBody>
          <a:bodyPr vert="horz" anchor="b">
            <a:normAutofit fontScale="90000"/>
          </a:bodyPr>
          <a:lstStyle/>
          <a:p>
            <a:pPr marL="460375" indent="-460375"/>
            <a:r>
              <a:rPr lang="fr-FR" sz="3000" b="1" dirty="0" err="1">
                <a:solidFill>
                  <a:srgbClr val="C00000"/>
                </a:solidFill>
              </a:rPr>
              <a:t>Présentation de la réplication par émission/réception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sp>
        <p:nvSpPr>
          <p:cNvPr id="278531" name="AutoShap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28183" y="2992438"/>
            <a:ext cx="8252959" cy="227624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buSzPct val="80000"/>
              <a:buFontTx/>
              <a:buBlip>
                <a:blip r:embed="rId6"/>
              </a:buBlip>
            </a:pPr>
            <a:r>
              <a:rPr lang="en-GB" sz="2600" dirty="0" err="1">
                <a:solidFill>
                  <a:srgbClr val="000000"/>
                </a:solidFill>
              </a:rPr>
              <a:t>Avertissant</a:t>
            </a:r>
            <a:r>
              <a:rPr lang="en-GB" sz="2600" dirty="0">
                <a:solidFill>
                  <a:srgbClr val="000000"/>
                </a:solidFill>
              </a:rPr>
              <a:t> les </a:t>
            </a:r>
            <a:r>
              <a:rPr lang="en-GB" sz="2600" dirty="0" err="1">
                <a:solidFill>
                  <a:srgbClr val="000000"/>
                </a:solidFill>
              </a:rPr>
              <a:t>partenaires</a:t>
            </a:r>
            <a:r>
              <a:rPr lang="en-GB" sz="2600" dirty="0">
                <a:solidFill>
                  <a:srgbClr val="000000"/>
                </a:solidFill>
              </a:rPr>
              <a:t> de </a:t>
            </a:r>
            <a:r>
              <a:rPr lang="en-GB" sz="2600" dirty="0" err="1">
                <a:solidFill>
                  <a:srgbClr val="000000"/>
                </a:solidFill>
              </a:rPr>
              <a:t>réplication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lorsque</a:t>
            </a:r>
            <a:r>
              <a:rPr lang="en-GB" sz="2600" dirty="0">
                <a:solidFill>
                  <a:srgbClr val="000000"/>
                </a:solidFill>
              </a:rPr>
              <a:t> la base de </a:t>
            </a:r>
            <a:r>
              <a:rPr lang="en-GB" sz="2600" dirty="0" err="1">
                <a:solidFill>
                  <a:srgbClr val="000000"/>
                </a:solidFill>
              </a:rPr>
              <a:t>données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atteint</a:t>
            </a:r>
            <a:r>
              <a:rPr lang="en-GB" sz="2600" dirty="0">
                <a:solidFill>
                  <a:srgbClr val="000000"/>
                </a:solidFill>
              </a:rPr>
              <a:t> le </a:t>
            </a:r>
            <a:r>
              <a:rPr lang="en-GB" sz="2600" dirty="0" err="1">
                <a:solidFill>
                  <a:srgbClr val="000000"/>
                </a:solidFill>
              </a:rPr>
              <a:t>seuil</a:t>
            </a:r>
            <a:r>
              <a:rPr lang="en-GB" sz="2600" dirty="0">
                <a:solidFill>
                  <a:srgbClr val="000000"/>
                </a:solidFill>
              </a:rPr>
              <a:t> des modifications </a:t>
            </a:r>
            <a:r>
              <a:rPr lang="en-GB" sz="2600" dirty="0" err="1">
                <a:solidFill>
                  <a:srgbClr val="000000"/>
                </a:solidFill>
              </a:rPr>
              <a:t>défini</a:t>
            </a:r>
            <a:endParaRPr lang="en-US" sz="2600" dirty="0"/>
          </a:p>
          <a:p>
            <a:pPr lvl="2" algn="l">
              <a:buSzPct val="80000"/>
            </a:pPr>
            <a:r>
              <a:rPr lang="en-US" sz="2600" dirty="0"/>
              <a:t>	</a:t>
            </a:r>
            <a:r>
              <a:rPr lang="en-US" sz="3000" dirty="0"/>
              <a:t>                </a:t>
            </a:r>
            <a:r>
              <a:rPr lang="en-GB" sz="3000" dirty="0">
                <a:solidFill>
                  <a:srgbClr val="CC0000"/>
                </a:solidFill>
              </a:rPr>
              <a:t>ET</a:t>
            </a:r>
            <a:r>
              <a:rPr lang="en-GB" sz="30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marL="231775" indent="-231775" algn="l">
              <a:buSzPct val="80000"/>
              <a:buFontTx/>
              <a:buBlip>
                <a:blip r:embed="rId6"/>
              </a:buBlip>
            </a:pPr>
            <a:r>
              <a:rPr lang="en-GB" sz="2600" dirty="0" err="1">
                <a:solidFill>
                  <a:srgbClr val="000000"/>
                </a:solidFill>
              </a:rPr>
              <a:t>Demandant</a:t>
            </a:r>
            <a:r>
              <a:rPr lang="en-GB" sz="2600" dirty="0">
                <a:solidFill>
                  <a:srgbClr val="000000"/>
                </a:solidFill>
              </a:rPr>
              <a:t> la </a:t>
            </a:r>
            <a:r>
              <a:rPr lang="en-GB" sz="2600" dirty="0" err="1">
                <a:solidFill>
                  <a:srgbClr val="000000"/>
                </a:solidFill>
              </a:rPr>
              <a:t>réplication</a:t>
            </a:r>
            <a:r>
              <a:rPr lang="en-GB" sz="2600" dirty="0">
                <a:solidFill>
                  <a:srgbClr val="000000"/>
                </a:solidFill>
              </a:rPr>
              <a:t> à </a:t>
            </a:r>
            <a:r>
              <a:rPr lang="en-GB" sz="2600" dirty="0" err="1">
                <a:solidFill>
                  <a:srgbClr val="000000"/>
                </a:solidFill>
              </a:rPr>
              <a:t>intervalles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réguliers</a:t>
            </a:r>
            <a:endParaRPr lang="en-US" sz="2600" dirty="0">
              <a:solidFill>
                <a:srgbClr val="000000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21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5057" y="193902"/>
            <a:ext cx="8784772" cy="807584"/>
          </a:xfrm>
        </p:spPr>
        <p:txBody>
          <a:bodyPr vert="horz" anchor="b">
            <a:normAutofit fontScale="90000"/>
          </a:bodyPr>
          <a:lstStyle/>
          <a:p>
            <a:pPr marL="460375" indent="-460375"/>
            <a:r>
              <a:rPr lang="fr-FR" sz="3000" b="1" dirty="0" err="1">
                <a:solidFill>
                  <a:srgbClr val="C00000"/>
                </a:solidFill>
              </a:rPr>
              <a:t>Propriétés des partenaires de réplication WINS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graphicFrame>
        <p:nvGraphicFramePr>
          <p:cNvPr id="140608" name="Group 320"/>
          <p:cNvGraphicFramePr>
            <a:graphicFrameLocks noGrp="1"/>
          </p:cNvGraphicFramePr>
          <p:nvPr/>
        </p:nvGraphicFramePr>
        <p:xfrm>
          <a:off x="65316" y="1222831"/>
          <a:ext cx="8962571" cy="5369037"/>
        </p:xfrm>
        <a:graphic>
          <a:graphicData uri="http://schemas.openxmlformats.org/drawingml/2006/table">
            <a:tbl>
              <a:tblPr/>
              <a:tblGrid>
                <a:gridCol w="3469454"/>
                <a:gridCol w="5493117"/>
              </a:tblGrid>
              <a:tr h="60911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30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Propriété</a:t>
                      </a:r>
                      <a:endParaRPr kumimoji="0" lang="en-US" sz="3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3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Description</a:t>
                      </a:r>
                      <a:endParaRPr kumimoji="0" lang="en-US" sz="3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</a:tr>
              <a:tr h="15144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Activer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la configuration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automatique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partenaires</a:t>
                      </a: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À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mesure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que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les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serveurs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WINS se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connectant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au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réseau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sont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découverts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,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ils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sont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ajoutés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comme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partenaires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réplication</a:t>
                      </a:r>
                      <a:endParaRPr kumimoji="0" lang="en-US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533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Activer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les connexions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permanentes</a:t>
                      </a: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Permet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d'augmenter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la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vitesse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réplication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afin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qu'un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serveur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puisse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envoyer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instantanément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des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enregistrements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à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ses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partenaires</a:t>
                      </a:r>
                      <a:endParaRPr kumimoji="0" lang="en-US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921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Activer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l'option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Remplacer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les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mappages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statiques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uniques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pour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ce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serveur</a:t>
                      </a:r>
                      <a:r>
                        <a:rPr kumimoji="0" lang="en-GB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(migration)</a:t>
                      </a: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Si un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même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nom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présente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une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entrée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statique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et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une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entrée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dynamique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, le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mappage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statique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est</a:t>
                      </a:r>
                      <a:r>
                        <a:rPr kumimoji="0" lang="en-GB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remplacé</a:t>
                      </a:r>
                      <a:endParaRPr kumimoji="0" lang="en-US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22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marL="460375" indent="-460375"/>
            <a:r>
              <a:rPr lang="fr-FR" b="1" dirty="0" smtClean="0">
                <a:solidFill>
                  <a:srgbClr val="000000"/>
                </a:solidFill>
              </a:rPr>
              <a:t>5. Gestion </a:t>
            </a:r>
            <a:r>
              <a:rPr lang="fr-FR" b="1" dirty="0">
                <a:solidFill>
                  <a:srgbClr val="000000"/>
                </a:solidFill>
              </a:rPr>
              <a:t>de la base de données WINS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317447" name="Rectangle 7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203200" y="1494971"/>
            <a:ext cx="8679543" cy="4920343"/>
          </a:xfrm>
          <a:noFill/>
          <a:ln/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GB" sz="2400" dirty="0" err="1">
                <a:solidFill>
                  <a:srgbClr val="000000"/>
                </a:solidFill>
              </a:rPr>
              <a:t>Pourquoi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sauvegarder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base de </a:t>
            </a:r>
            <a:r>
              <a:rPr lang="en-GB" sz="2400" dirty="0" err="1">
                <a:solidFill>
                  <a:srgbClr val="000000"/>
                </a:solidFill>
              </a:rPr>
              <a:t>données</a:t>
            </a:r>
            <a:r>
              <a:rPr lang="en-GB" sz="2400" dirty="0">
                <a:solidFill>
                  <a:srgbClr val="000000"/>
                </a:solidFill>
              </a:rPr>
              <a:t> WINS ?</a:t>
            </a:r>
            <a:endParaRPr lang="en-US" sz="2400" dirty="0"/>
          </a:p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GB" sz="2400" dirty="0">
                <a:solidFill>
                  <a:srgbClr val="000000"/>
                </a:solidFill>
              </a:rPr>
              <a:t>Comment </a:t>
            </a:r>
            <a:r>
              <a:rPr lang="en-GB" sz="2400" dirty="0" err="1">
                <a:solidFill>
                  <a:srgbClr val="000000"/>
                </a:solidFill>
              </a:rPr>
              <a:t>sauvegarder</a:t>
            </a:r>
            <a:r>
              <a:rPr lang="en-GB" sz="2400" dirty="0">
                <a:solidFill>
                  <a:srgbClr val="000000"/>
                </a:solidFill>
              </a:rPr>
              <a:t> et </a:t>
            </a:r>
            <a:r>
              <a:rPr lang="en-GB" sz="2400" dirty="0" err="1">
                <a:solidFill>
                  <a:srgbClr val="000000"/>
                </a:solidFill>
              </a:rPr>
              <a:t>restaurer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base de </a:t>
            </a:r>
            <a:r>
              <a:rPr lang="en-GB" sz="2400" dirty="0" err="1">
                <a:solidFill>
                  <a:srgbClr val="000000"/>
                </a:solidFill>
              </a:rPr>
              <a:t>données</a:t>
            </a:r>
            <a:r>
              <a:rPr lang="en-GB" sz="2400" dirty="0">
                <a:solidFill>
                  <a:srgbClr val="000000"/>
                </a:solidFill>
              </a:rPr>
              <a:t> WINS</a:t>
            </a:r>
            <a:endParaRPr lang="en-US" sz="2400" dirty="0"/>
          </a:p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GB" sz="2400" dirty="0" err="1">
                <a:solidFill>
                  <a:srgbClr val="000000"/>
                </a:solidFill>
              </a:rPr>
              <a:t>Présentation</a:t>
            </a:r>
            <a:r>
              <a:rPr lang="en-GB" sz="2400" dirty="0">
                <a:solidFill>
                  <a:srgbClr val="000000"/>
                </a:solidFill>
              </a:rPr>
              <a:t> de la suppression simple et de la </a:t>
            </a:r>
            <a:r>
              <a:rPr lang="en-GB" sz="2400" dirty="0" err="1">
                <a:solidFill>
                  <a:srgbClr val="000000"/>
                </a:solidFill>
              </a:rPr>
              <a:t>désactivation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d'enregistrements</a:t>
            </a:r>
            <a:endParaRPr lang="en-US" sz="2400" dirty="0"/>
          </a:p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GB" sz="2400" dirty="0">
                <a:solidFill>
                  <a:srgbClr val="000000"/>
                </a:solidFill>
              </a:rPr>
              <a:t>Comment </a:t>
            </a:r>
            <a:r>
              <a:rPr lang="en-GB" sz="2400" dirty="0" err="1">
                <a:solidFill>
                  <a:srgbClr val="000000"/>
                </a:solidFill>
              </a:rPr>
              <a:t>supprimer</a:t>
            </a:r>
            <a:r>
              <a:rPr lang="en-GB" sz="2400" dirty="0">
                <a:solidFill>
                  <a:srgbClr val="000000"/>
                </a:solidFill>
              </a:rPr>
              <a:t> un </a:t>
            </a:r>
            <a:r>
              <a:rPr lang="en-GB" sz="2400" dirty="0" err="1">
                <a:solidFill>
                  <a:srgbClr val="000000"/>
                </a:solidFill>
              </a:rPr>
              <a:t>enregistrement</a:t>
            </a:r>
            <a:r>
              <a:rPr lang="en-GB" sz="2400" dirty="0">
                <a:solidFill>
                  <a:srgbClr val="000000"/>
                </a:solidFill>
              </a:rPr>
              <a:t> WINS</a:t>
            </a:r>
            <a:endParaRPr lang="en-US" sz="2400" dirty="0"/>
          </a:p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GB" sz="2400" dirty="0" err="1">
                <a:solidFill>
                  <a:srgbClr val="000000"/>
                </a:solidFill>
              </a:rPr>
              <a:t>Présentation</a:t>
            </a:r>
            <a:r>
              <a:rPr lang="en-GB" sz="2400" dirty="0">
                <a:solidFill>
                  <a:srgbClr val="000000"/>
                </a:solidFill>
              </a:rPr>
              <a:t> du </a:t>
            </a:r>
            <a:r>
              <a:rPr lang="en-GB" sz="2400" dirty="0" err="1">
                <a:solidFill>
                  <a:srgbClr val="000000"/>
                </a:solidFill>
              </a:rPr>
              <a:t>compactage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dynamique</a:t>
            </a:r>
            <a:r>
              <a:rPr lang="en-GB" sz="2400" dirty="0">
                <a:solidFill>
                  <a:srgbClr val="000000"/>
                </a:solidFill>
              </a:rPr>
              <a:t> et du </a:t>
            </a:r>
            <a:r>
              <a:rPr lang="en-GB" sz="2400" dirty="0" err="1">
                <a:solidFill>
                  <a:srgbClr val="000000"/>
                </a:solidFill>
              </a:rPr>
              <a:t>compactage</a:t>
            </a:r>
            <a:r>
              <a:rPr lang="en-GB" sz="2400" dirty="0">
                <a:solidFill>
                  <a:srgbClr val="000000"/>
                </a:solidFill>
              </a:rPr>
              <a:t> hors connexion</a:t>
            </a:r>
            <a:endParaRPr lang="en-US" sz="2400" dirty="0"/>
          </a:p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GB" sz="2400" dirty="0" smtClean="0">
                <a:solidFill>
                  <a:srgbClr val="000000"/>
                </a:solidFill>
              </a:rPr>
              <a:t>Comment </a:t>
            </a:r>
            <a:r>
              <a:rPr lang="en-GB" sz="2400" dirty="0" err="1">
                <a:solidFill>
                  <a:srgbClr val="000000"/>
                </a:solidFill>
              </a:rPr>
              <a:t>fonctionne</a:t>
            </a:r>
            <a:r>
              <a:rPr lang="en-GB" sz="2400" dirty="0">
                <a:solidFill>
                  <a:srgbClr val="000000"/>
                </a:solidFill>
              </a:rPr>
              <a:t> le </a:t>
            </a:r>
            <a:r>
              <a:rPr lang="en-GB" sz="2400" dirty="0" err="1">
                <a:solidFill>
                  <a:srgbClr val="000000"/>
                </a:solidFill>
              </a:rPr>
              <a:t>nettoyage</a:t>
            </a:r>
            <a:endParaRPr lang="en-US" sz="2400" dirty="0"/>
          </a:p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GB" sz="2400" dirty="0" err="1" smtClean="0">
                <a:solidFill>
                  <a:srgbClr val="000000"/>
                </a:solidFill>
              </a:rPr>
              <a:t>Présentation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>
                <a:solidFill>
                  <a:srgbClr val="000000"/>
                </a:solidFill>
              </a:rPr>
              <a:t>de la </a:t>
            </a:r>
            <a:r>
              <a:rPr lang="en-GB" sz="2400" dirty="0" err="1">
                <a:solidFill>
                  <a:srgbClr val="000000"/>
                </a:solidFill>
              </a:rPr>
              <a:t>vérification</a:t>
            </a:r>
            <a:r>
              <a:rPr lang="en-GB" sz="2400" dirty="0">
                <a:solidFill>
                  <a:srgbClr val="000000"/>
                </a:solidFill>
              </a:rPr>
              <a:t> de la </a:t>
            </a:r>
            <a:r>
              <a:rPr lang="en-GB" sz="2400" dirty="0" err="1">
                <a:solidFill>
                  <a:srgbClr val="000000"/>
                </a:solidFill>
              </a:rPr>
              <a:t>cohérence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d'une</a:t>
            </a:r>
            <a:r>
              <a:rPr lang="en-GB" sz="2400" dirty="0">
                <a:solidFill>
                  <a:srgbClr val="000000"/>
                </a:solidFill>
              </a:rPr>
              <a:t> base de </a:t>
            </a:r>
            <a:r>
              <a:rPr lang="en-GB" sz="2400" dirty="0" err="1">
                <a:solidFill>
                  <a:srgbClr val="000000"/>
                </a:solidFill>
              </a:rPr>
              <a:t>données</a:t>
            </a:r>
            <a:r>
              <a:rPr lang="en-GB" sz="2400" dirty="0">
                <a:solidFill>
                  <a:srgbClr val="000000"/>
                </a:solidFill>
              </a:rPr>
              <a:t> WINS</a:t>
            </a:r>
            <a:endParaRPr lang="en-US" sz="2400" dirty="0"/>
          </a:p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GB" sz="2400" dirty="0" smtClean="0">
                <a:solidFill>
                  <a:srgbClr val="000000"/>
                </a:solidFill>
              </a:rPr>
              <a:t>Instructions </a:t>
            </a:r>
            <a:r>
              <a:rPr lang="en-GB" sz="2400" dirty="0" err="1">
                <a:solidFill>
                  <a:srgbClr val="000000"/>
                </a:solidFill>
              </a:rPr>
              <a:t>concernant</a:t>
            </a:r>
            <a:r>
              <a:rPr lang="en-GB" sz="2400" dirty="0">
                <a:solidFill>
                  <a:srgbClr val="000000"/>
                </a:solidFill>
              </a:rPr>
              <a:t> le </a:t>
            </a:r>
            <a:r>
              <a:rPr lang="en-GB" sz="2400" dirty="0" err="1">
                <a:solidFill>
                  <a:srgbClr val="000000"/>
                </a:solidFill>
              </a:rPr>
              <a:t>retrait</a:t>
            </a:r>
            <a:r>
              <a:rPr lang="en-GB" sz="2400" dirty="0">
                <a:solidFill>
                  <a:srgbClr val="000000"/>
                </a:solidFill>
              </a:rPr>
              <a:t> d'un </a:t>
            </a:r>
            <a:r>
              <a:rPr lang="en-GB" sz="2400" dirty="0" err="1">
                <a:solidFill>
                  <a:srgbClr val="000000"/>
                </a:solidFill>
              </a:rPr>
              <a:t>serveur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WINS</a:t>
            </a:r>
            <a:endParaRPr lang="en-US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23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AutoShap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8682" y="1414464"/>
            <a:ext cx="8708575" cy="878794"/>
          </a:xfrm>
          <a:prstGeom prst="roundRect">
            <a:avLst>
              <a:gd name="adj" fmla="val 24236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600" dirty="0">
                <a:solidFill>
                  <a:srgbClr val="000000"/>
                </a:solidFill>
              </a:rPr>
              <a:t>Pour </a:t>
            </a:r>
            <a:r>
              <a:rPr lang="en-GB" sz="2600" dirty="0" err="1">
                <a:solidFill>
                  <a:srgbClr val="000000"/>
                </a:solidFill>
              </a:rPr>
              <a:t>réparer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une</a:t>
            </a:r>
            <a:r>
              <a:rPr lang="en-GB" sz="2600" dirty="0">
                <a:solidFill>
                  <a:srgbClr val="000000"/>
                </a:solidFill>
              </a:rPr>
              <a:t> base de </a:t>
            </a:r>
            <a:r>
              <a:rPr lang="en-GB" sz="2600" dirty="0" err="1">
                <a:solidFill>
                  <a:srgbClr val="000000"/>
                </a:solidFill>
              </a:rPr>
              <a:t>données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smtClean="0">
                <a:solidFill>
                  <a:srgbClr val="000000"/>
                </a:solidFill>
              </a:rPr>
              <a:t>WINS </a:t>
            </a:r>
            <a:r>
              <a:rPr lang="en-GB" sz="2600" dirty="0" err="1" smtClean="0">
                <a:solidFill>
                  <a:srgbClr val="000000"/>
                </a:solidFill>
              </a:rPr>
              <a:t>altérée</a:t>
            </a:r>
            <a:r>
              <a:rPr lang="en-GB" sz="2600" dirty="0">
                <a:solidFill>
                  <a:srgbClr val="000000"/>
                </a:solidFill>
              </a:rPr>
              <a:t>, </a:t>
            </a:r>
            <a:r>
              <a:rPr lang="en-GB" sz="2600" dirty="0" err="1">
                <a:solidFill>
                  <a:srgbClr val="000000"/>
                </a:solidFill>
              </a:rPr>
              <a:t>vous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pouvez</a:t>
            </a:r>
            <a:r>
              <a:rPr lang="en-GB" sz="2600" dirty="0">
                <a:solidFill>
                  <a:srgbClr val="000000"/>
                </a:solidFill>
              </a:rPr>
              <a:t> la </a:t>
            </a:r>
            <a:r>
              <a:rPr lang="en-GB" sz="2600" dirty="0" err="1">
                <a:solidFill>
                  <a:srgbClr val="000000"/>
                </a:solidFill>
              </a:rPr>
              <a:t>restaurer</a:t>
            </a:r>
            <a:r>
              <a:rPr lang="en-GB" sz="2600" dirty="0">
                <a:solidFill>
                  <a:srgbClr val="000000"/>
                </a:solidFill>
              </a:rPr>
              <a:t> à </a:t>
            </a:r>
            <a:r>
              <a:rPr lang="en-GB" sz="2600" dirty="0" err="1">
                <a:solidFill>
                  <a:srgbClr val="000000"/>
                </a:solidFill>
              </a:rPr>
              <a:t>partir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 smtClean="0">
                <a:solidFill>
                  <a:srgbClr val="000000"/>
                </a:solidFill>
              </a:rPr>
              <a:t>d'une</a:t>
            </a:r>
            <a:r>
              <a:rPr lang="en-GB" sz="2600" dirty="0" smtClean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sauvegarde</a:t>
            </a:r>
            <a:endParaRPr lang="en-US" sz="26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06819" y="233115"/>
            <a:ext cx="8921069" cy="822097"/>
          </a:xfrm>
        </p:spPr>
        <p:txBody>
          <a:bodyPr vert="horz" anchor="b">
            <a:normAutofit fontScale="90000"/>
          </a:bodyPr>
          <a:lstStyle/>
          <a:p>
            <a:pPr marL="460375" indent="-460375" algn="ctr"/>
            <a:r>
              <a:rPr lang="fr-FR" b="1" kern="1200" dirty="0">
                <a:solidFill>
                  <a:srgbClr val="C00000"/>
                </a:solidFill>
              </a:rPr>
              <a:t>Pourquoi sauvegarder une base de </a:t>
            </a:r>
            <a:r>
              <a:rPr lang="fr-FR" b="1" kern="1200" dirty="0" smtClean="0">
                <a:solidFill>
                  <a:srgbClr val="C00000"/>
                </a:solidFill>
              </a:rPr>
              <a:t>données</a:t>
            </a:r>
            <a:r>
              <a:rPr lang="fr-FR" b="1" kern="1200" dirty="0">
                <a:solidFill>
                  <a:srgbClr val="C00000"/>
                </a:solidFill>
              </a:rPr>
              <a:t> WINS ?</a:t>
            </a:r>
            <a:endParaRPr lang="en-US" b="1" kern="1200" dirty="0" err="1">
              <a:solidFill>
                <a:srgbClr val="C00000"/>
              </a:solidFill>
            </a:endParaRPr>
          </a:p>
        </p:txBody>
      </p:sp>
      <p:sp>
        <p:nvSpPr>
          <p:cNvPr id="371716" name="AutoShap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3914" y="2479448"/>
            <a:ext cx="8661400" cy="4182609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r>
              <a:rPr lang="en-GB" sz="2800" dirty="0">
                <a:solidFill>
                  <a:srgbClr val="000000"/>
                </a:solidFill>
              </a:rPr>
              <a:t>Pour </a:t>
            </a:r>
            <a:r>
              <a:rPr lang="en-GB" sz="2800" dirty="0" err="1">
                <a:solidFill>
                  <a:srgbClr val="000000"/>
                </a:solidFill>
              </a:rPr>
              <a:t>sauvegarder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base de </a:t>
            </a:r>
            <a:r>
              <a:rPr lang="en-GB" sz="2800" dirty="0" err="1">
                <a:solidFill>
                  <a:srgbClr val="000000"/>
                </a:solidFill>
              </a:rPr>
              <a:t>données</a:t>
            </a:r>
            <a:r>
              <a:rPr lang="en-GB" sz="2800" dirty="0">
                <a:solidFill>
                  <a:srgbClr val="000000"/>
                </a:solidFill>
              </a:rPr>
              <a:t> WINS :</a:t>
            </a:r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GB" sz="2800" dirty="0">
              <a:solidFill>
                <a:srgbClr val="000000"/>
              </a:solidFill>
            </a:endParaRPr>
          </a:p>
          <a:p>
            <a:pPr algn="l"/>
            <a:r>
              <a:rPr lang="en-GB" sz="2800" dirty="0">
                <a:solidFill>
                  <a:srgbClr val="000000"/>
                </a:solidFill>
              </a:rPr>
              <a:t>Pour </a:t>
            </a:r>
            <a:r>
              <a:rPr lang="en-GB" sz="2800" dirty="0" err="1">
                <a:solidFill>
                  <a:srgbClr val="000000"/>
                </a:solidFill>
              </a:rPr>
              <a:t>restaurer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base de </a:t>
            </a:r>
            <a:r>
              <a:rPr lang="en-GB" sz="2800" dirty="0" err="1">
                <a:solidFill>
                  <a:srgbClr val="000000"/>
                </a:solidFill>
              </a:rPr>
              <a:t>données</a:t>
            </a:r>
            <a:r>
              <a:rPr lang="en-GB" sz="2800" dirty="0">
                <a:solidFill>
                  <a:srgbClr val="000000"/>
                </a:solidFill>
              </a:rPr>
              <a:t> WINS :</a:t>
            </a:r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b="0" dirty="0">
              <a:latin typeface="Arial" charset="0"/>
            </a:endParaRPr>
          </a:p>
        </p:txBody>
      </p:sp>
      <p:sp>
        <p:nvSpPr>
          <p:cNvPr id="371717" name="AutoShap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6313" y="3157992"/>
            <a:ext cx="8117115" cy="1501094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10"/>
              </a:buBlip>
            </a:pPr>
            <a:r>
              <a:rPr lang="en-GB" sz="2600" dirty="0" err="1">
                <a:solidFill>
                  <a:srgbClr val="000000"/>
                </a:solidFill>
              </a:rPr>
              <a:t>Spécifier</a:t>
            </a:r>
            <a:r>
              <a:rPr lang="en-GB" sz="2600" dirty="0">
                <a:solidFill>
                  <a:srgbClr val="000000"/>
                </a:solidFill>
              </a:rPr>
              <a:t> un </a:t>
            </a:r>
            <a:r>
              <a:rPr lang="en-GB" sz="2600" dirty="0" err="1">
                <a:solidFill>
                  <a:srgbClr val="000000"/>
                </a:solidFill>
              </a:rPr>
              <a:t>répertoire</a:t>
            </a:r>
            <a:r>
              <a:rPr lang="en-GB" sz="2600" dirty="0">
                <a:solidFill>
                  <a:srgbClr val="000000"/>
                </a:solidFill>
              </a:rPr>
              <a:t> de </a:t>
            </a:r>
            <a:r>
              <a:rPr lang="en-GB" sz="2600" dirty="0" err="1">
                <a:solidFill>
                  <a:srgbClr val="000000"/>
                </a:solidFill>
              </a:rPr>
              <a:t>sauvegarde</a:t>
            </a:r>
            <a:endParaRPr lang="en-US" sz="2600" dirty="0"/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10"/>
              </a:buBlip>
            </a:pPr>
            <a:r>
              <a:rPr lang="en-GB" sz="2600" dirty="0" err="1">
                <a:solidFill>
                  <a:srgbClr val="000000"/>
                </a:solidFill>
              </a:rPr>
              <a:t>Effectuer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une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sauvegarde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manuelle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ou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configurer</a:t>
            </a:r>
            <a:r>
              <a:rPr lang="en-GB" sz="2600" dirty="0">
                <a:solidFill>
                  <a:srgbClr val="000000"/>
                </a:solidFill>
              </a:rPr>
              <a:t> des </a:t>
            </a:r>
            <a:r>
              <a:rPr lang="en-GB" sz="2600" dirty="0" err="1">
                <a:solidFill>
                  <a:srgbClr val="000000"/>
                </a:solidFill>
              </a:rPr>
              <a:t>sauvegardes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automatiques</a:t>
            </a:r>
            <a:endParaRPr lang="en-US" sz="2600" dirty="0">
              <a:solidFill>
                <a:srgbClr val="000000"/>
              </a:solidFill>
            </a:endParaRPr>
          </a:p>
        </p:txBody>
      </p:sp>
      <p:sp>
        <p:nvSpPr>
          <p:cNvPr id="371718" name="AutoShap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46315" y="5217659"/>
            <a:ext cx="8030028" cy="116862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10"/>
              </a:buBlip>
            </a:pPr>
            <a:r>
              <a:rPr lang="en-GB" sz="2600" dirty="0">
                <a:solidFill>
                  <a:srgbClr val="000000"/>
                </a:solidFill>
              </a:rPr>
              <a:t>Supprimer et </a:t>
            </a:r>
            <a:r>
              <a:rPr lang="en-GB" sz="2600" dirty="0" err="1">
                <a:solidFill>
                  <a:srgbClr val="000000"/>
                </a:solidFill>
              </a:rPr>
              <a:t>restaurer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manuellement</a:t>
            </a:r>
            <a:r>
              <a:rPr lang="en-GB" sz="2600" dirty="0">
                <a:solidFill>
                  <a:srgbClr val="000000"/>
                </a:solidFill>
              </a:rPr>
              <a:t> les </a:t>
            </a:r>
            <a:r>
              <a:rPr lang="en-GB" sz="2600" dirty="0" err="1">
                <a:solidFill>
                  <a:srgbClr val="000000"/>
                </a:solidFill>
              </a:rPr>
              <a:t>fichiers</a:t>
            </a:r>
            <a:r>
              <a:rPr lang="en-GB" sz="2600" dirty="0">
                <a:solidFill>
                  <a:srgbClr val="000000"/>
                </a:solidFill>
              </a:rPr>
              <a:t> de base de </a:t>
            </a:r>
            <a:r>
              <a:rPr lang="en-GB" sz="2600" dirty="0" err="1">
                <a:solidFill>
                  <a:srgbClr val="000000"/>
                </a:solidFill>
              </a:rPr>
              <a:t>données</a:t>
            </a:r>
            <a:endParaRPr lang="en-US" sz="2600" dirty="0"/>
          </a:p>
        </p:txBody>
      </p:sp>
      <p:grpSp>
        <p:nvGrpSpPr>
          <p:cNvPr id="371723" name="Group 7"/>
          <p:cNvGrpSpPr>
            <a:grpSpLocks/>
          </p:cNvGrpSpPr>
          <p:nvPr/>
        </p:nvGrpSpPr>
        <p:grpSpPr bwMode="auto">
          <a:xfrm>
            <a:off x="7334230" y="1814276"/>
            <a:ext cx="1674813" cy="1524000"/>
            <a:chOff x="3980" y="832"/>
            <a:chExt cx="1055" cy="960"/>
          </a:xfrm>
        </p:grpSpPr>
        <p:pic>
          <p:nvPicPr>
            <p:cNvPr id="371720" name="Picture 8" descr="Server01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980" y="832"/>
              <a:ext cx="815" cy="960"/>
            </a:xfrm>
            <a:prstGeom prst="rect">
              <a:avLst/>
            </a:prstGeom>
            <a:noFill/>
          </p:spPr>
        </p:pic>
        <p:pic>
          <p:nvPicPr>
            <p:cNvPr id="371721" name="Picture 9" descr="Database_Broken02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4551" y="1318"/>
              <a:ext cx="484" cy="378"/>
            </a:xfrm>
            <a:prstGeom prst="rect">
              <a:avLst/>
            </a:prstGeom>
            <a:noFill/>
          </p:spPr>
        </p:pic>
      </p:grp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24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7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7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6" grpId="0" animBg="1"/>
      <p:bldP spid="371717" grpId="0" animBg="1"/>
      <p:bldP spid="3717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5057" y="193903"/>
            <a:ext cx="8784772" cy="880154"/>
          </a:xfrm>
        </p:spPr>
        <p:txBody>
          <a:bodyPr vert="horz" anchor="b">
            <a:normAutofit fontScale="90000"/>
          </a:bodyPr>
          <a:lstStyle/>
          <a:p>
            <a:pPr marL="460375" indent="-460375" algn="ctr"/>
            <a:r>
              <a:rPr lang="fr-FR" b="1" kern="1200" dirty="0" err="1">
                <a:solidFill>
                  <a:srgbClr val="C00000"/>
                </a:solidFill>
              </a:rPr>
              <a:t>Comment sauvegarder et restaurer une base de données WINS</a:t>
            </a:r>
            <a:endParaRPr lang="en-US" b="1" kern="1200" dirty="0" err="1">
              <a:solidFill>
                <a:srgbClr val="C00000"/>
              </a:solidFill>
            </a:endParaRPr>
          </a:p>
        </p:txBody>
      </p:sp>
      <p:sp>
        <p:nvSpPr>
          <p:cNvPr id="373766" name="AutoShap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2857" y="1694543"/>
            <a:ext cx="8548914" cy="2790371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5"/>
              </a:buBlip>
            </a:pPr>
            <a:r>
              <a:rPr lang="en-GB" sz="2800" dirty="0" err="1">
                <a:solidFill>
                  <a:srgbClr val="000000"/>
                </a:solidFill>
              </a:rPr>
              <a:t>Spécifier</a:t>
            </a:r>
            <a:r>
              <a:rPr lang="en-GB" sz="2800" dirty="0">
                <a:solidFill>
                  <a:srgbClr val="000000"/>
                </a:solidFill>
              </a:rPr>
              <a:t> un </a:t>
            </a:r>
            <a:r>
              <a:rPr lang="en-GB" sz="2800" dirty="0" err="1">
                <a:solidFill>
                  <a:srgbClr val="000000"/>
                </a:solidFill>
              </a:rPr>
              <a:t>répertoire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sauvegarde</a:t>
            </a:r>
            <a:r>
              <a:rPr lang="en-GB" sz="2800" dirty="0">
                <a:solidFill>
                  <a:srgbClr val="000000"/>
                </a:solidFill>
              </a:rPr>
              <a:t> pour la base de </a:t>
            </a:r>
            <a:r>
              <a:rPr lang="en-GB" sz="2800" dirty="0" err="1">
                <a:solidFill>
                  <a:srgbClr val="000000"/>
                </a:solidFill>
              </a:rPr>
              <a:t>données</a:t>
            </a:r>
            <a:r>
              <a:rPr lang="en-GB" sz="2800" dirty="0">
                <a:solidFill>
                  <a:srgbClr val="000000"/>
                </a:solidFill>
              </a:rPr>
              <a:t> WINS</a:t>
            </a:r>
            <a:endParaRPr lang="en-US" sz="2800" dirty="0"/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5"/>
              </a:buBlip>
            </a:pPr>
            <a:r>
              <a:rPr lang="en-GB" sz="2800" dirty="0" err="1">
                <a:solidFill>
                  <a:srgbClr val="000000"/>
                </a:solidFill>
              </a:rPr>
              <a:t>Sauvegarder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manuellement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base de </a:t>
            </a:r>
            <a:r>
              <a:rPr lang="en-GB" sz="2800" dirty="0" err="1">
                <a:solidFill>
                  <a:srgbClr val="000000"/>
                </a:solidFill>
              </a:rPr>
              <a:t>données</a:t>
            </a:r>
            <a:r>
              <a:rPr lang="en-GB" sz="2800" dirty="0">
                <a:solidFill>
                  <a:srgbClr val="000000"/>
                </a:solidFill>
              </a:rPr>
              <a:t> WINS</a:t>
            </a:r>
            <a:endParaRPr lang="en-US" sz="2800" dirty="0"/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5"/>
              </a:buBlip>
            </a:pPr>
            <a:r>
              <a:rPr lang="en-GB" sz="2800" dirty="0" err="1">
                <a:solidFill>
                  <a:srgbClr val="000000"/>
                </a:solidFill>
              </a:rPr>
              <a:t>Restaurer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base de </a:t>
            </a:r>
            <a:r>
              <a:rPr lang="en-GB" sz="2800" dirty="0" err="1">
                <a:solidFill>
                  <a:srgbClr val="000000"/>
                </a:solidFill>
              </a:rPr>
              <a:t>données</a:t>
            </a:r>
            <a:r>
              <a:rPr lang="en-GB" sz="2800" dirty="0">
                <a:solidFill>
                  <a:srgbClr val="000000"/>
                </a:solidFill>
              </a:rPr>
              <a:t> WINS à </a:t>
            </a:r>
            <a:r>
              <a:rPr lang="en-GB" sz="2800" dirty="0" err="1">
                <a:solidFill>
                  <a:srgbClr val="000000"/>
                </a:solidFill>
              </a:rPr>
              <a:t>partir</a:t>
            </a:r>
            <a:r>
              <a:rPr lang="en-GB" sz="2800" dirty="0">
                <a:solidFill>
                  <a:srgbClr val="000000"/>
                </a:solidFill>
              </a:rPr>
              <a:t> de la </a:t>
            </a:r>
            <a:r>
              <a:rPr lang="en-GB" sz="2800" dirty="0" err="1">
                <a:solidFill>
                  <a:srgbClr val="000000"/>
                </a:solidFill>
              </a:rPr>
              <a:t>dernière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sauvegarde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5" name="Pentagone 4">
            <a:hlinkClick r:id="rId6" action="ppaction://hlinkfile"/>
          </p:cNvPr>
          <p:cNvSpPr/>
          <p:nvPr/>
        </p:nvSpPr>
        <p:spPr>
          <a:xfrm>
            <a:off x="4122057" y="4818743"/>
            <a:ext cx="798285" cy="754743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25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5056" y="174172"/>
            <a:ext cx="8770257" cy="928912"/>
          </a:xfrm>
        </p:spPr>
        <p:txBody>
          <a:bodyPr vert="horz" anchor="b">
            <a:normAutofit fontScale="90000"/>
          </a:bodyPr>
          <a:lstStyle/>
          <a:p>
            <a:pPr marL="460375" indent="-460375" algn="ctr"/>
            <a:r>
              <a:rPr lang="fr-FR" b="1" kern="1200" dirty="0" err="1">
                <a:solidFill>
                  <a:srgbClr val="C00000"/>
                </a:solidFill>
              </a:rPr>
              <a:t>Présentation de la suppression simple et de la désactivation d'enregistrements</a:t>
            </a:r>
            <a:endParaRPr lang="en-US" b="1" kern="1200" dirty="0" err="1">
              <a:solidFill>
                <a:srgbClr val="C00000"/>
              </a:solidFill>
            </a:endParaRPr>
          </a:p>
        </p:txBody>
      </p:sp>
      <p:sp>
        <p:nvSpPr>
          <p:cNvPr id="375811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4261" y="1455057"/>
            <a:ext cx="8850085" cy="4829629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r>
              <a:rPr lang="en-GB" sz="2600" dirty="0">
                <a:solidFill>
                  <a:srgbClr val="000000"/>
                </a:solidFill>
              </a:rPr>
              <a:t>Pour </a:t>
            </a:r>
            <a:r>
              <a:rPr lang="en-GB" sz="2600" dirty="0" err="1">
                <a:solidFill>
                  <a:srgbClr val="000000"/>
                </a:solidFill>
              </a:rPr>
              <a:t>récupérer</a:t>
            </a:r>
            <a:r>
              <a:rPr lang="en-GB" sz="2600" dirty="0">
                <a:solidFill>
                  <a:srgbClr val="000000"/>
                </a:solidFill>
              </a:rPr>
              <a:t> de </a:t>
            </a:r>
            <a:r>
              <a:rPr lang="en-GB" sz="2600" dirty="0" err="1">
                <a:solidFill>
                  <a:srgbClr val="000000"/>
                </a:solidFill>
              </a:rPr>
              <a:t>l'espace</a:t>
            </a:r>
            <a:r>
              <a:rPr lang="en-GB" sz="2600" dirty="0">
                <a:solidFill>
                  <a:srgbClr val="000000"/>
                </a:solidFill>
              </a:rPr>
              <a:t> non </a:t>
            </a:r>
            <a:r>
              <a:rPr lang="en-GB" sz="2600" dirty="0" err="1">
                <a:solidFill>
                  <a:srgbClr val="000000"/>
                </a:solidFill>
              </a:rPr>
              <a:t>utilisé</a:t>
            </a:r>
            <a:r>
              <a:rPr lang="en-GB" sz="2600" dirty="0">
                <a:solidFill>
                  <a:srgbClr val="000000"/>
                </a:solidFill>
              </a:rPr>
              <a:t>, </a:t>
            </a:r>
            <a:r>
              <a:rPr lang="en-GB" sz="2600" dirty="0" err="1">
                <a:solidFill>
                  <a:srgbClr val="000000"/>
                </a:solidFill>
              </a:rPr>
              <a:t>occupé</a:t>
            </a:r>
            <a:r>
              <a:rPr lang="en-GB" sz="2600" dirty="0">
                <a:solidFill>
                  <a:srgbClr val="000000"/>
                </a:solidFill>
              </a:rPr>
              <a:t> par </a:t>
            </a:r>
            <a:r>
              <a:rPr lang="en-GB" sz="2600" dirty="0" smtClean="0">
                <a:solidFill>
                  <a:srgbClr val="000000"/>
                </a:solidFill>
              </a:rPr>
              <a:t>des </a:t>
            </a:r>
            <a:r>
              <a:rPr lang="en-GB" sz="2600" dirty="0" err="1" smtClean="0">
                <a:solidFill>
                  <a:srgbClr val="000000"/>
                </a:solidFill>
              </a:rPr>
              <a:t>enregistrements</a:t>
            </a:r>
            <a:r>
              <a:rPr lang="en-GB" sz="2600" dirty="0" smtClean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obsolètes</a:t>
            </a:r>
            <a:r>
              <a:rPr lang="en-GB" sz="2600" dirty="0">
                <a:solidFill>
                  <a:srgbClr val="000000"/>
                </a:solidFill>
              </a:rPr>
              <a:t>, </a:t>
            </a:r>
            <a:r>
              <a:rPr lang="en-GB" sz="2600" dirty="0" err="1">
                <a:solidFill>
                  <a:srgbClr val="000000"/>
                </a:solidFill>
              </a:rPr>
              <a:t>vous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pouvez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mettre</a:t>
            </a:r>
            <a:r>
              <a:rPr lang="en-GB" sz="2600" dirty="0">
                <a:solidFill>
                  <a:srgbClr val="000000"/>
                </a:solidFill>
              </a:rPr>
              <a:t> à jour </a:t>
            </a:r>
            <a:r>
              <a:rPr lang="en-GB" sz="2600" dirty="0" smtClean="0">
                <a:solidFill>
                  <a:srgbClr val="000000"/>
                </a:solidFill>
              </a:rPr>
              <a:t>la </a:t>
            </a:r>
            <a:r>
              <a:rPr lang="en-GB" sz="2600" dirty="0">
                <a:solidFill>
                  <a:srgbClr val="000000"/>
                </a:solidFill>
              </a:rPr>
              <a:t>base de </a:t>
            </a:r>
            <a:r>
              <a:rPr lang="en-GB" sz="2600" dirty="0" err="1">
                <a:solidFill>
                  <a:srgbClr val="000000"/>
                </a:solidFill>
              </a:rPr>
              <a:t>données</a:t>
            </a:r>
            <a:r>
              <a:rPr lang="en-GB" sz="2600" dirty="0">
                <a:solidFill>
                  <a:srgbClr val="000000"/>
                </a:solidFill>
              </a:rPr>
              <a:t> WINS en </a:t>
            </a:r>
            <a:r>
              <a:rPr lang="en-GB" sz="2600" dirty="0" err="1">
                <a:solidFill>
                  <a:srgbClr val="000000"/>
                </a:solidFill>
              </a:rPr>
              <a:t>effectuant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l'une</a:t>
            </a:r>
            <a:r>
              <a:rPr lang="en-GB" sz="2600" dirty="0">
                <a:solidFill>
                  <a:srgbClr val="000000"/>
                </a:solidFill>
              </a:rPr>
              <a:t> des </a:t>
            </a:r>
            <a:r>
              <a:rPr lang="en-GB" sz="2600" dirty="0" err="1" smtClean="0">
                <a:solidFill>
                  <a:srgbClr val="000000"/>
                </a:solidFill>
              </a:rPr>
              <a:t>tâches</a:t>
            </a:r>
            <a:r>
              <a:rPr lang="en-GB" sz="2600" dirty="0" smtClean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suivantes</a:t>
            </a:r>
            <a:r>
              <a:rPr lang="en-GB" sz="2600" dirty="0">
                <a:solidFill>
                  <a:srgbClr val="000000"/>
                </a:solidFill>
              </a:rPr>
              <a:t> :</a:t>
            </a:r>
            <a:endParaRPr lang="en-US" sz="2600" dirty="0"/>
          </a:p>
          <a:p>
            <a:pPr algn="l"/>
            <a:endParaRPr lang="en-US" sz="2600" b="0" dirty="0">
              <a:latin typeface="Arial" charset="0"/>
            </a:endParaRPr>
          </a:p>
        </p:txBody>
      </p:sp>
      <p:sp>
        <p:nvSpPr>
          <p:cNvPr id="375812" name="AutoShap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5059" y="3172731"/>
            <a:ext cx="8697684" cy="2865212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spcBef>
                <a:spcPct val="40000"/>
              </a:spcBef>
              <a:buSzPct val="80000"/>
              <a:buFontTx/>
              <a:buBlip>
                <a:blip r:embed="rId6"/>
              </a:buBlip>
            </a:pPr>
            <a:r>
              <a:rPr lang="en-GB" sz="2600" dirty="0">
                <a:solidFill>
                  <a:srgbClr val="000000"/>
                </a:solidFill>
              </a:rPr>
              <a:t>Suppression simple</a:t>
            </a:r>
            <a:r>
              <a:rPr lang="en-GB" sz="2600" b="0" dirty="0">
                <a:solidFill>
                  <a:srgbClr val="000000"/>
                </a:solidFill>
              </a:rPr>
              <a:t>.</a:t>
            </a:r>
            <a:r>
              <a:rPr lang="en-US" sz="2600" dirty="0"/>
              <a:t> </a:t>
            </a:r>
            <a:r>
              <a:rPr lang="en-GB" sz="2600" b="0" dirty="0">
                <a:solidFill>
                  <a:srgbClr val="000000"/>
                </a:solidFill>
              </a:rPr>
              <a:t>Les </a:t>
            </a:r>
            <a:r>
              <a:rPr lang="en-GB" sz="2600" b="0" dirty="0" err="1">
                <a:solidFill>
                  <a:srgbClr val="000000"/>
                </a:solidFill>
              </a:rPr>
              <a:t>enregistrements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sélectionnés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smtClean="0">
                <a:solidFill>
                  <a:srgbClr val="000000"/>
                </a:solidFill>
              </a:rPr>
              <a:t> à </a:t>
            </a:r>
            <a:r>
              <a:rPr lang="en-GB" sz="2600" b="0" dirty="0" err="1">
                <a:solidFill>
                  <a:srgbClr val="000000"/>
                </a:solidFill>
              </a:rPr>
              <a:t>l'aide</a:t>
            </a:r>
            <a:r>
              <a:rPr lang="en-GB" sz="2600" b="0" dirty="0">
                <a:solidFill>
                  <a:srgbClr val="000000"/>
                </a:solidFill>
              </a:rPr>
              <a:t> de la console WINS </a:t>
            </a:r>
            <a:r>
              <a:rPr lang="en-GB" sz="2600" b="0" dirty="0" err="1">
                <a:solidFill>
                  <a:srgbClr val="000000"/>
                </a:solidFill>
              </a:rPr>
              <a:t>sont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supprimés</a:t>
            </a:r>
            <a:r>
              <a:rPr lang="en-GB" sz="2600" b="0" dirty="0">
                <a:solidFill>
                  <a:srgbClr val="000000"/>
                </a:solidFill>
              </a:rPr>
              <a:t> du </a:t>
            </a:r>
            <a:r>
              <a:rPr lang="en-GB" sz="2600" b="0" dirty="0" err="1">
                <a:solidFill>
                  <a:srgbClr val="000000"/>
                </a:solidFill>
              </a:rPr>
              <a:t>serveur</a:t>
            </a:r>
            <a:r>
              <a:rPr lang="en-GB" sz="2600" b="0">
                <a:solidFill>
                  <a:srgbClr val="000000"/>
                </a:solidFill>
              </a:rPr>
              <a:t> </a:t>
            </a:r>
            <a:r>
              <a:rPr lang="en-GB" sz="2600" b="0" smtClean="0">
                <a:solidFill>
                  <a:srgbClr val="000000"/>
                </a:solidFill>
              </a:rPr>
              <a:t> WINS </a:t>
            </a:r>
            <a:r>
              <a:rPr lang="en-GB" sz="2600" b="0" dirty="0">
                <a:solidFill>
                  <a:srgbClr val="000000"/>
                </a:solidFill>
              </a:rPr>
              <a:t>local</a:t>
            </a:r>
            <a:endParaRPr lang="en-US" sz="2600" b="0" dirty="0"/>
          </a:p>
          <a:p>
            <a:pPr marL="231775" indent="-231775" algn="l">
              <a:spcBef>
                <a:spcPct val="40000"/>
              </a:spcBef>
              <a:buSzPct val="80000"/>
              <a:buFontTx/>
              <a:buBlip>
                <a:blip r:embed="rId6"/>
              </a:buBlip>
            </a:pPr>
            <a:r>
              <a:rPr lang="en-GB" sz="2600" dirty="0" err="1">
                <a:solidFill>
                  <a:srgbClr val="000000"/>
                </a:solidFill>
              </a:rPr>
              <a:t>Désactivation</a:t>
            </a:r>
            <a:r>
              <a:rPr lang="en-GB" sz="2600" b="0" dirty="0">
                <a:solidFill>
                  <a:srgbClr val="000000"/>
                </a:solidFill>
              </a:rPr>
              <a:t>.</a:t>
            </a:r>
            <a:r>
              <a:rPr lang="en-US" sz="2600" b="0" dirty="0"/>
              <a:t> </a:t>
            </a:r>
            <a:r>
              <a:rPr lang="en-GB" sz="2600" b="0" dirty="0">
                <a:solidFill>
                  <a:srgbClr val="000000"/>
                </a:solidFill>
              </a:rPr>
              <a:t>Les </a:t>
            </a:r>
            <a:r>
              <a:rPr lang="en-GB" sz="2600" b="0" dirty="0" err="1">
                <a:solidFill>
                  <a:srgbClr val="000000"/>
                </a:solidFill>
              </a:rPr>
              <a:t>enregistrements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sont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marqués</a:t>
            </a:r>
            <a:r>
              <a:rPr lang="en-GB" sz="2600" b="0" dirty="0">
                <a:solidFill>
                  <a:srgbClr val="000000"/>
                </a:solidFill>
              </a:rPr>
              <a:t> pour </a:t>
            </a:r>
            <a:r>
              <a:rPr lang="en-GB" sz="2600" b="0" dirty="0" smtClean="0">
                <a:solidFill>
                  <a:srgbClr val="000000"/>
                </a:solidFill>
              </a:rPr>
              <a:t> suppression</a:t>
            </a:r>
            <a:r>
              <a:rPr lang="en-GB" sz="2600" b="0" dirty="0">
                <a:solidFill>
                  <a:srgbClr val="000000"/>
                </a:solidFill>
              </a:rPr>
              <a:t>, </a:t>
            </a:r>
            <a:r>
              <a:rPr lang="en-GB" sz="2600" b="0" dirty="0" err="1">
                <a:solidFill>
                  <a:srgbClr val="000000"/>
                </a:solidFill>
              </a:rPr>
              <a:t>répliqués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sur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d'autres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serveurs</a:t>
            </a:r>
            <a:r>
              <a:rPr lang="en-GB" sz="2600" b="0" dirty="0">
                <a:solidFill>
                  <a:srgbClr val="000000"/>
                </a:solidFill>
              </a:rPr>
              <a:t> WINS, </a:t>
            </a:r>
            <a:r>
              <a:rPr lang="en-GB" sz="2600" b="0" dirty="0" err="1">
                <a:solidFill>
                  <a:srgbClr val="000000"/>
                </a:solidFill>
              </a:rPr>
              <a:t>puis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supprimés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lors</a:t>
            </a:r>
            <a:r>
              <a:rPr lang="en-GB" sz="2600" b="0" dirty="0">
                <a:solidFill>
                  <a:srgbClr val="000000"/>
                </a:solidFill>
              </a:rPr>
              <a:t> du </a:t>
            </a:r>
            <a:r>
              <a:rPr lang="en-GB" sz="2600" b="0" dirty="0" err="1">
                <a:solidFill>
                  <a:srgbClr val="000000"/>
                </a:solidFill>
              </a:rPr>
              <a:t>nettoyage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 smtClean="0">
                <a:solidFill>
                  <a:srgbClr val="000000"/>
                </a:solidFill>
              </a:rPr>
              <a:t>suivant</a:t>
            </a:r>
            <a:r>
              <a:rPr lang="en-GB" sz="2600" b="0" dirty="0" smtClean="0">
                <a:solidFill>
                  <a:srgbClr val="000000"/>
                </a:solidFill>
              </a:rPr>
              <a:t> </a:t>
            </a:r>
            <a:endParaRPr lang="en-US" sz="2600" b="0" dirty="0">
              <a:solidFill>
                <a:srgbClr val="000000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26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5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75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 fontScale="90000"/>
          </a:bodyPr>
          <a:lstStyle/>
          <a:p>
            <a:pPr marL="460375" indent="-460375" algn="ctr"/>
            <a:r>
              <a:rPr lang="fr-FR" b="1" kern="1200" dirty="0" err="1">
                <a:solidFill>
                  <a:srgbClr val="C00000"/>
                </a:solidFill>
              </a:rPr>
              <a:t>Comment supprimer un enregistrement WINS</a:t>
            </a:r>
            <a:endParaRPr lang="en-US" b="1" kern="1200" dirty="0" err="1">
              <a:solidFill>
                <a:srgbClr val="C00000"/>
              </a:solidFill>
            </a:endParaRPr>
          </a:p>
        </p:txBody>
      </p:sp>
      <p:sp>
        <p:nvSpPr>
          <p:cNvPr id="377861" name="AutoShap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2686" y="2353128"/>
            <a:ext cx="6867525" cy="904875"/>
          </a:xfrm>
          <a:prstGeom prst="roundRect">
            <a:avLst>
              <a:gd name="adj" fmla="val 17194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800" dirty="0" smtClean="0">
                <a:solidFill>
                  <a:srgbClr val="000000"/>
                </a:solidFill>
                <a:hlinkClick r:id="rId5" action="ppaction://hlinkfile"/>
              </a:rPr>
              <a:t>Supprimer </a:t>
            </a:r>
            <a:r>
              <a:rPr lang="en-GB" sz="2800" dirty="0">
                <a:solidFill>
                  <a:srgbClr val="000000"/>
                </a:solidFill>
                <a:hlinkClick r:id="rId5" action="ppaction://hlinkfile"/>
              </a:rPr>
              <a:t>un </a:t>
            </a:r>
            <a:r>
              <a:rPr lang="en-GB" sz="2800" dirty="0" err="1">
                <a:solidFill>
                  <a:srgbClr val="000000"/>
                </a:solidFill>
                <a:hlinkClick r:id="rId5" action="ppaction://hlinkfile"/>
              </a:rPr>
              <a:t>enregistrement</a:t>
            </a:r>
            <a:r>
              <a:rPr lang="en-GB" sz="2800" dirty="0">
                <a:solidFill>
                  <a:srgbClr val="000000"/>
                </a:solidFill>
                <a:hlinkClick r:id="rId5" action="ppaction://hlinkfile"/>
              </a:rPr>
              <a:t> WINS</a:t>
            </a:r>
            <a:endParaRPr lang="en-US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27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5056" y="251958"/>
            <a:ext cx="8770257" cy="778555"/>
          </a:xfrm>
        </p:spPr>
        <p:txBody>
          <a:bodyPr vert="horz" anchor="b">
            <a:normAutofit fontScale="90000"/>
          </a:bodyPr>
          <a:lstStyle/>
          <a:p>
            <a:pPr marL="460375" indent="-460375"/>
            <a:r>
              <a:rPr lang="fr-FR" sz="3000" b="1" dirty="0" err="1">
                <a:solidFill>
                  <a:srgbClr val="C00000"/>
                </a:solidFill>
              </a:rPr>
              <a:t>Présentation du compactage dynamique et du compactage hors connexion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sp>
        <p:nvSpPr>
          <p:cNvPr id="319515" name="AutoShape 2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7800" y="3083827"/>
            <a:ext cx="8733971" cy="31718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r>
              <a:rPr lang="en-GB" sz="2600" dirty="0">
                <a:solidFill>
                  <a:srgbClr val="000000"/>
                </a:solidFill>
              </a:rPr>
              <a:t>Conserver </a:t>
            </a:r>
            <a:r>
              <a:rPr lang="en-GB" sz="2600" dirty="0" err="1">
                <a:solidFill>
                  <a:srgbClr val="000000"/>
                </a:solidFill>
              </a:rPr>
              <a:t>l'intégrité</a:t>
            </a:r>
            <a:r>
              <a:rPr lang="en-GB" sz="2600" dirty="0">
                <a:solidFill>
                  <a:srgbClr val="000000"/>
                </a:solidFill>
              </a:rPr>
              <a:t> de la base de </a:t>
            </a:r>
            <a:r>
              <a:rPr lang="en-GB" sz="2600" dirty="0" err="1">
                <a:solidFill>
                  <a:srgbClr val="000000"/>
                </a:solidFill>
              </a:rPr>
              <a:t>données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smtClean="0">
                <a:solidFill>
                  <a:srgbClr val="000000"/>
                </a:solidFill>
              </a:rPr>
              <a:t>WINS  </a:t>
            </a:r>
            <a:r>
              <a:rPr lang="en-GB" sz="2600" dirty="0" err="1" smtClean="0">
                <a:solidFill>
                  <a:srgbClr val="000000"/>
                </a:solidFill>
              </a:rPr>
              <a:t>grâce</a:t>
            </a:r>
            <a:r>
              <a:rPr lang="en-GB" sz="2600" dirty="0" smtClean="0">
                <a:solidFill>
                  <a:srgbClr val="000000"/>
                </a:solidFill>
              </a:rPr>
              <a:t> </a:t>
            </a:r>
            <a:r>
              <a:rPr lang="en-GB" sz="2600" dirty="0">
                <a:solidFill>
                  <a:srgbClr val="000000"/>
                </a:solidFill>
              </a:rPr>
              <a:t>au :</a:t>
            </a:r>
            <a:endParaRPr lang="en-US" sz="2600" dirty="0"/>
          </a:p>
          <a:p>
            <a:pPr algn="l"/>
            <a:endParaRPr lang="en-US" sz="2600" b="0" dirty="0">
              <a:latin typeface="Arial" charset="0"/>
            </a:endParaRPr>
          </a:p>
        </p:txBody>
      </p:sp>
      <p:sp>
        <p:nvSpPr>
          <p:cNvPr id="319516" name="AutoShape 2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5687" y="3721323"/>
            <a:ext cx="8436428" cy="228758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spcBef>
                <a:spcPct val="50000"/>
              </a:spcBef>
              <a:buSzPct val="80000"/>
              <a:buFontTx/>
              <a:buBlip>
                <a:blip r:embed="rId7"/>
              </a:buBlip>
            </a:pPr>
            <a:r>
              <a:rPr lang="en-GB" sz="2600" dirty="0" err="1">
                <a:solidFill>
                  <a:srgbClr val="000000"/>
                </a:solidFill>
              </a:rPr>
              <a:t>Compactage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dynamique</a:t>
            </a:r>
            <a:r>
              <a:rPr lang="en-GB" sz="2600" b="0" dirty="0">
                <a:solidFill>
                  <a:srgbClr val="000000"/>
                </a:solidFill>
              </a:rPr>
              <a:t>.</a:t>
            </a:r>
            <a:r>
              <a:rPr lang="en-US" sz="2600" b="0" dirty="0"/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S'effectue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automatiquement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lorsque</a:t>
            </a:r>
            <a:r>
              <a:rPr lang="en-GB" sz="2600" b="0" dirty="0">
                <a:solidFill>
                  <a:srgbClr val="000000"/>
                </a:solidFill>
              </a:rPr>
              <a:t> la base de </a:t>
            </a:r>
            <a:r>
              <a:rPr lang="en-GB" sz="2600" b="0" dirty="0" err="1">
                <a:solidFill>
                  <a:srgbClr val="000000"/>
                </a:solidFill>
              </a:rPr>
              <a:t>données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est</a:t>
            </a:r>
            <a:r>
              <a:rPr lang="en-GB" sz="2600" b="0" dirty="0">
                <a:solidFill>
                  <a:srgbClr val="000000"/>
                </a:solidFill>
              </a:rPr>
              <a:t> en </a:t>
            </a:r>
            <a:r>
              <a:rPr lang="en-GB" sz="2600" b="0" dirty="0" err="1">
                <a:solidFill>
                  <a:srgbClr val="000000"/>
                </a:solidFill>
              </a:rPr>
              <a:t>cours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d'utilisation</a:t>
            </a:r>
            <a:endParaRPr lang="en-US" sz="2600" b="0" dirty="0"/>
          </a:p>
          <a:p>
            <a:pPr marL="231775" indent="-231775" algn="l">
              <a:spcBef>
                <a:spcPct val="50000"/>
              </a:spcBef>
              <a:buSzPct val="80000"/>
              <a:buFontTx/>
              <a:buBlip>
                <a:blip r:embed="rId7"/>
              </a:buBlip>
            </a:pPr>
            <a:r>
              <a:rPr lang="en-GB" sz="2600" dirty="0" err="1">
                <a:solidFill>
                  <a:srgbClr val="000000"/>
                </a:solidFill>
              </a:rPr>
              <a:t>Compactage</a:t>
            </a:r>
            <a:r>
              <a:rPr lang="en-GB" sz="2600" dirty="0">
                <a:solidFill>
                  <a:srgbClr val="000000"/>
                </a:solidFill>
              </a:rPr>
              <a:t> hors connexion</a:t>
            </a:r>
            <a:r>
              <a:rPr lang="en-GB" sz="2600" b="0" dirty="0">
                <a:solidFill>
                  <a:srgbClr val="000000"/>
                </a:solidFill>
              </a:rPr>
              <a:t>.</a:t>
            </a:r>
            <a:r>
              <a:rPr lang="en-US" sz="2600" b="0" dirty="0"/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L'administrateur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b="0" dirty="0" err="1">
                <a:solidFill>
                  <a:srgbClr val="000000"/>
                </a:solidFill>
              </a:rPr>
              <a:t>arrête</a:t>
            </a:r>
            <a:r>
              <a:rPr lang="en-GB" sz="2600" b="0" dirty="0">
                <a:solidFill>
                  <a:srgbClr val="000000"/>
                </a:solidFill>
              </a:rPr>
              <a:t> le </a:t>
            </a:r>
            <a:r>
              <a:rPr lang="en-GB" sz="2600" b="0" dirty="0" err="1">
                <a:solidFill>
                  <a:srgbClr val="000000"/>
                </a:solidFill>
              </a:rPr>
              <a:t>serveur</a:t>
            </a:r>
            <a:r>
              <a:rPr lang="en-GB" sz="2600" b="0" dirty="0">
                <a:solidFill>
                  <a:srgbClr val="000000"/>
                </a:solidFill>
              </a:rPr>
              <a:t> WINS et utilise la </a:t>
            </a:r>
            <a:r>
              <a:rPr lang="en-GB" sz="2600" b="0" dirty="0" err="1">
                <a:solidFill>
                  <a:srgbClr val="000000"/>
                </a:solidFill>
              </a:rPr>
              <a:t>commande</a:t>
            </a:r>
            <a:r>
              <a:rPr lang="en-GB" sz="2600" b="0" dirty="0">
                <a:solidFill>
                  <a:srgbClr val="000000"/>
                </a:solidFill>
              </a:rPr>
              <a:t> </a:t>
            </a:r>
            <a:r>
              <a:rPr lang="en-GB" sz="2600" dirty="0" smtClean="0">
                <a:solidFill>
                  <a:srgbClr val="000000"/>
                </a:solidFill>
              </a:rPr>
              <a:t>jetpack</a:t>
            </a:r>
            <a:endParaRPr lang="en-US" sz="2600" b="0" dirty="0">
              <a:solidFill>
                <a:srgbClr val="000000"/>
              </a:solidFill>
            </a:endParaRPr>
          </a:p>
        </p:txBody>
      </p:sp>
      <p:sp>
        <p:nvSpPr>
          <p:cNvPr id="319517" name="AutoShape 2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8480" y="1505855"/>
            <a:ext cx="8762320" cy="141151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r>
              <a:rPr lang="en-GB" sz="2600">
                <a:solidFill>
                  <a:srgbClr val="000000"/>
                </a:solidFill>
              </a:rPr>
              <a:t>Le </a:t>
            </a:r>
            <a:r>
              <a:rPr lang="en-GB" sz="2600" i="1">
                <a:solidFill>
                  <a:srgbClr val="000000"/>
                </a:solidFill>
              </a:rPr>
              <a:t>compactage</a:t>
            </a:r>
            <a:r>
              <a:rPr lang="en-GB" sz="2600">
                <a:solidFill>
                  <a:srgbClr val="000000"/>
                </a:solidFill>
              </a:rPr>
              <a:t> est le processus de récupération de l'espace non utilisé d'une base de données WINS, occupé par des enregistrements obsolètes</a:t>
            </a:r>
            <a:endParaRPr lang="en-US" sz="260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28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1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515" grpId="1" animBg="1"/>
      <p:bldP spid="3195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42" name="AutoShape 21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8686" y="1248225"/>
            <a:ext cx="8781143" cy="655074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28575" algn="ctr">
            <a:solidFill>
              <a:srgbClr val="C0000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274320" anchor="ctr"/>
          <a:lstStyle/>
          <a:p>
            <a:pPr algn="l">
              <a:lnSpc>
                <a:spcPct val="80000"/>
              </a:lnSpc>
            </a:pPr>
            <a:r>
              <a:rPr lang="en-GB" sz="2400" b="0" dirty="0">
                <a:solidFill>
                  <a:srgbClr val="000000"/>
                </a:solidFill>
              </a:rPr>
              <a:t>Le </a:t>
            </a:r>
            <a:r>
              <a:rPr lang="en-GB" sz="2400" b="0" dirty="0" err="1">
                <a:solidFill>
                  <a:srgbClr val="000000"/>
                </a:solidFill>
              </a:rPr>
              <a:t>minuteur</a:t>
            </a:r>
            <a:r>
              <a:rPr lang="en-GB" sz="2400" b="0" dirty="0">
                <a:solidFill>
                  <a:srgbClr val="000000"/>
                </a:solidFill>
              </a:rPr>
              <a:t> de </a:t>
            </a:r>
            <a:r>
              <a:rPr lang="en-GB" sz="2400" b="0" dirty="0" err="1">
                <a:solidFill>
                  <a:srgbClr val="000000"/>
                </a:solidFill>
              </a:rPr>
              <a:t>nettoyage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est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activé</a:t>
            </a:r>
            <a:r>
              <a:rPr lang="en-GB" sz="2400" b="0" dirty="0">
                <a:solidFill>
                  <a:srgbClr val="000000"/>
                </a:solidFill>
              </a:rPr>
              <a:t> au </a:t>
            </a:r>
            <a:r>
              <a:rPr lang="en-GB" sz="2400" b="0" dirty="0" err="1">
                <a:solidFill>
                  <a:srgbClr val="000000"/>
                </a:solidFill>
              </a:rPr>
              <a:t>démarrage</a:t>
            </a:r>
            <a:r>
              <a:rPr lang="en-GB" sz="2400" b="0" dirty="0">
                <a:solidFill>
                  <a:srgbClr val="000000"/>
                </a:solidFill>
              </a:rPr>
              <a:t> du </a:t>
            </a:r>
            <a:r>
              <a:rPr lang="en-GB" sz="2400" b="0" dirty="0" err="1">
                <a:solidFill>
                  <a:srgbClr val="000000"/>
                </a:solidFill>
              </a:rPr>
              <a:t>serveur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smtClean="0">
                <a:solidFill>
                  <a:srgbClr val="000000"/>
                </a:solidFill>
              </a:rPr>
              <a:t>=la </a:t>
            </a:r>
            <a:r>
              <a:rPr lang="en-GB" sz="2400" b="0" dirty="0" err="1">
                <a:solidFill>
                  <a:srgbClr val="000000"/>
                </a:solidFill>
              </a:rPr>
              <a:t>moitié</a:t>
            </a:r>
            <a:r>
              <a:rPr lang="en-GB" sz="2400" b="0" dirty="0">
                <a:solidFill>
                  <a:srgbClr val="000000"/>
                </a:solidFill>
              </a:rPr>
              <a:t> de </a:t>
            </a:r>
            <a:r>
              <a:rPr lang="en-GB" sz="2400" b="0" dirty="0" err="1">
                <a:solidFill>
                  <a:srgbClr val="000000"/>
                </a:solidFill>
              </a:rPr>
              <a:t>l'</a:t>
            </a:r>
            <a:r>
              <a:rPr lang="en-GB" sz="2400" dirty="0" err="1">
                <a:solidFill>
                  <a:srgbClr val="000000"/>
                </a:solidFill>
              </a:rPr>
              <a:t>intervalle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renouvellement</a:t>
            </a:r>
            <a:endParaRPr lang="en-US" sz="2400" dirty="0"/>
          </a:p>
        </p:txBody>
      </p:sp>
      <p:sp>
        <p:nvSpPr>
          <p:cNvPr id="227546" name="AutoShape 21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3519" y="1973942"/>
            <a:ext cx="8796310" cy="727637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28575" algn="ctr">
            <a:solidFill>
              <a:srgbClr val="C0000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274320" anchor="ctr"/>
          <a:lstStyle/>
          <a:p>
            <a:pPr algn="l">
              <a:lnSpc>
                <a:spcPct val="80000"/>
              </a:lnSpc>
            </a:pPr>
            <a:r>
              <a:rPr lang="en-GB" sz="2400" b="0" dirty="0">
                <a:solidFill>
                  <a:srgbClr val="000000"/>
                </a:solidFill>
              </a:rPr>
              <a:t>Les </a:t>
            </a:r>
            <a:r>
              <a:rPr lang="en-GB" sz="2400" b="0" dirty="0" err="1">
                <a:solidFill>
                  <a:srgbClr val="000000"/>
                </a:solidFill>
              </a:rPr>
              <a:t>noms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actifs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appartenant</a:t>
            </a:r>
            <a:r>
              <a:rPr lang="en-GB" sz="2400" b="0" dirty="0">
                <a:solidFill>
                  <a:srgbClr val="000000"/>
                </a:solidFill>
              </a:rPr>
              <a:t> au </a:t>
            </a:r>
            <a:r>
              <a:rPr lang="en-GB" sz="2400" b="0" dirty="0" err="1">
                <a:solidFill>
                  <a:srgbClr val="000000"/>
                </a:solidFill>
              </a:rPr>
              <a:t>serveur</a:t>
            </a:r>
            <a:r>
              <a:rPr lang="en-GB" sz="2400" b="0" dirty="0">
                <a:solidFill>
                  <a:srgbClr val="000000"/>
                </a:solidFill>
              </a:rPr>
              <a:t> WINS et pour </a:t>
            </a:r>
            <a:r>
              <a:rPr lang="en-GB" sz="2400" b="0" dirty="0" err="1">
                <a:solidFill>
                  <a:srgbClr val="000000"/>
                </a:solidFill>
              </a:rPr>
              <a:t>lesquels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l'</a:t>
            </a:r>
            <a:r>
              <a:rPr lang="en-GB" sz="2400" dirty="0" err="1">
                <a:solidFill>
                  <a:srgbClr val="000000"/>
                </a:solidFill>
              </a:rPr>
              <a:t>intervalle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renouvellement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b="0" dirty="0">
                <a:solidFill>
                  <a:srgbClr val="000000"/>
                </a:solidFill>
              </a:rPr>
              <a:t>a </a:t>
            </a:r>
            <a:r>
              <a:rPr lang="en-GB" sz="2400" b="0" dirty="0" err="1">
                <a:solidFill>
                  <a:srgbClr val="000000"/>
                </a:solidFill>
              </a:rPr>
              <a:t>expiré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sont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marqués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comme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étant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libérés</a:t>
            </a:r>
            <a:endParaRPr lang="en-US" sz="2400" u="sng" dirty="0">
              <a:solidFill>
                <a:srgbClr val="002060"/>
              </a:solidFill>
            </a:endParaRPr>
          </a:p>
        </p:txBody>
      </p:sp>
      <p:sp>
        <p:nvSpPr>
          <p:cNvPr id="227548" name="AutoShape 22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3644" y="2772228"/>
            <a:ext cx="8826185" cy="684079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28575" algn="ctr">
            <a:solidFill>
              <a:srgbClr val="C0000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274320" anchor="ctr"/>
          <a:lstStyle/>
          <a:p>
            <a:pPr algn="l">
              <a:lnSpc>
                <a:spcPct val="80000"/>
              </a:lnSpc>
            </a:pPr>
            <a:r>
              <a:rPr lang="en-GB" sz="2400" b="0" dirty="0">
                <a:solidFill>
                  <a:srgbClr val="000000"/>
                </a:solidFill>
              </a:rPr>
              <a:t>Les </a:t>
            </a:r>
            <a:r>
              <a:rPr lang="en-GB" sz="2400" b="0" dirty="0" err="1">
                <a:solidFill>
                  <a:srgbClr val="000000"/>
                </a:solidFill>
              </a:rPr>
              <a:t>noms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libérés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appartenant</a:t>
            </a:r>
            <a:r>
              <a:rPr lang="en-GB" sz="2400" b="0" dirty="0">
                <a:solidFill>
                  <a:srgbClr val="000000"/>
                </a:solidFill>
              </a:rPr>
              <a:t> au </a:t>
            </a:r>
            <a:r>
              <a:rPr lang="en-GB" sz="2400" b="0" dirty="0" err="1">
                <a:solidFill>
                  <a:srgbClr val="000000"/>
                </a:solidFill>
              </a:rPr>
              <a:t>serveur</a:t>
            </a:r>
            <a:r>
              <a:rPr lang="en-GB" sz="2400" b="0" dirty="0">
                <a:solidFill>
                  <a:srgbClr val="000000"/>
                </a:solidFill>
              </a:rPr>
              <a:t> WINS et pour </a:t>
            </a:r>
            <a:r>
              <a:rPr lang="en-GB" sz="2400" b="0" dirty="0" err="1">
                <a:solidFill>
                  <a:srgbClr val="000000"/>
                </a:solidFill>
              </a:rPr>
              <a:t>lesquels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l'</a:t>
            </a:r>
            <a:r>
              <a:rPr lang="en-GB" sz="2400" dirty="0" err="1">
                <a:solidFill>
                  <a:srgbClr val="000000"/>
                </a:solidFill>
              </a:rPr>
              <a:t>intervalle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d'extinction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b="0" dirty="0">
                <a:solidFill>
                  <a:srgbClr val="000000"/>
                </a:solidFill>
              </a:rPr>
              <a:t>a </a:t>
            </a:r>
            <a:r>
              <a:rPr lang="en-GB" sz="2400" b="0" dirty="0" err="1">
                <a:solidFill>
                  <a:srgbClr val="000000"/>
                </a:solidFill>
              </a:rPr>
              <a:t>expiré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sont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marqués</a:t>
            </a:r>
            <a:r>
              <a:rPr lang="en-GB" sz="2400" u="sng" dirty="0">
                <a:solidFill>
                  <a:srgbClr val="002060"/>
                </a:solidFill>
              </a:rPr>
              <a:t> pour suppression</a:t>
            </a:r>
            <a:endParaRPr lang="en-US" sz="2400" u="sng" dirty="0">
              <a:solidFill>
                <a:srgbClr val="002060"/>
              </a:solidFill>
            </a:endParaRPr>
          </a:p>
        </p:txBody>
      </p:sp>
      <p:sp>
        <p:nvSpPr>
          <p:cNvPr id="227550" name="AutoShape 22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8575" y="3512457"/>
            <a:ext cx="8811254" cy="684082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28575" algn="ctr">
            <a:solidFill>
              <a:srgbClr val="C0000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274320" anchor="ctr"/>
          <a:lstStyle/>
          <a:p>
            <a:pPr algn="l">
              <a:lnSpc>
                <a:spcPct val="80000"/>
              </a:lnSpc>
            </a:pPr>
            <a:r>
              <a:rPr lang="en-GB" sz="2400" b="0" dirty="0">
                <a:solidFill>
                  <a:srgbClr val="000000"/>
                </a:solidFill>
              </a:rPr>
              <a:t>Les </a:t>
            </a:r>
            <a:r>
              <a:rPr lang="en-GB" sz="2400" b="0" dirty="0" err="1">
                <a:solidFill>
                  <a:srgbClr val="000000"/>
                </a:solidFill>
              </a:rPr>
              <a:t>noms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marqués</a:t>
            </a:r>
            <a:r>
              <a:rPr lang="en-GB" sz="2400" u="sng" dirty="0">
                <a:solidFill>
                  <a:srgbClr val="002060"/>
                </a:solidFill>
              </a:rPr>
              <a:t> pour suppression </a:t>
            </a:r>
            <a:r>
              <a:rPr lang="en-GB" sz="2400" b="0" dirty="0">
                <a:solidFill>
                  <a:srgbClr val="000000"/>
                </a:solidFill>
              </a:rPr>
              <a:t>et pour </a:t>
            </a:r>
            <a:r>
              <a:rPr lang="en-GB" sz="2400" b="0" dirty="0" err="1">
                <a:solidFill>
                  <a:srgbClr val="000000"/>
                </a:solidFill>
              </a:rPr>
              <a:t>lesquels</a:t>
            </a:r>
            <a:r>
              <a:rPr lang="en-GB" sz="2400" b="0" dirty="0">
                <a:solidFill>
                  <a:srgbClr val="000000"/>
                </a:solidFill>
              </a:rPr>
              <a:t> le </a:t>
            </a:r>
            <a:r>
              <a:rPr lang="en-GB" sz="2400" dirty="0" err="1">
                <a:solidFill>
                  <a:srgbClr val="000000"/>
                </a:solidFill>
              </a:rPr>
              <a:t>délai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d'extinction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b="0" dirty="0">
                <a:solidFill>
                  <a:srgbClr val="000000"/>
                </a:solidFill>
              </a:rPr>
              <a:t>a </a:t>
            </a:r>
            <a:r>
              <a:rPr lang="en-GB" sz="2400" b="0" dirty="0" err="1">
                <a:solidFill>
                  <a:srgbClr val="000000"/>
                </a:solidFill>
              </a:rPr>
              <a:t>expiré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sont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supprimés</a:t>
            </a:r>
            <a:r>
              <a:rPr lang="en-GB" sz="2400" b="0" dirty="0">
                <a:solidFill>
                  <a:srgbClr val="000000"/>
                </a:solidFill>
              </a:rPr>
              <a:t> de la base de </a:t>
            </a:r>
            <a:r>
              <a:rPr lang="en-GB" sz="2400" b="0" dirty="0" err="1">
                <a:solidFill>
                  <a:srgbClr val="000000"/>
                </a:solidFill>
              </a:rPr>
              <a:t>données</a:t>
            </a:r>
            <a:endParaRPr lang="en-US" sz="2400" b="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227552" name="AutoShape 22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43638" y="4254596"/>
            <a:ext cx="8826191" cy="9144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28575" algn="ctr">
            <a:solidFill>
              <a:srgbClr val="C0000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274320" anchor="ctr"/>
          <a:lstStyle/>
          <a:p>
            <a:pPr algn="l">
              <a:lnSpc>
                <a:spcPct val="80000"/>
              </a:lnSpc>
            </a:pPr>
            <a:r>
              <a:rPr lang="en-GB" sz="2400" b="0" dirty="0">
                <a:solidFill>
                  <a:srgbClr val="000000"/>
                </a:solidFill>
              </a:rPr>
              <a:t>Les </a:t>
            </a:r>
            <a:r>
              <a:rPr lang="en-GB" sz="2400" b="0" dirty="0" err="1">
                <a:solidFill>
                  <a:srgbClr val="000000"/>
                </a:solidFill>
              </a:rPr>
              <a:t>noms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marqués</a:t>
            </a:r>
            <a:r>
              <a:rPr lang="en-GB" sz="2400" u="sng" dirty="0">
                <a:solidFill>
                  <a:srgbClr val="002060"/>
                </a:solidFill>
              </a:rPr>
              <a:t> pour suppression </a:t>
            </a:r>
            <a:r>
              <a:rPr lang="en-GB" sz="2400" u="sng" dirty="0" err="1">
                <a:solidFill>
                  <a:srgbClr val="002060"/>
                </a:solidFill>
              </a:rPr>
              <a:t>répliqués</a:t>
            </a:r>
            <a:r>
              <a:rPr lang="en-GB" sz="2400" u="sng" dirty="0">
                <a:solidFill>
                  <a:srgbClr val="002060"/>
                </a:solidFill>
              </a:rPr>
              <a:t> </a:t>
            </a:r>
            <a:r>
              <a:rPr lang="en-GB" sz="2400" b="0" dirty="0">
                <a:solidFill>
                  <a:srgbClr val="000000"/>
                </a:solidFill>
              </a:rPr>
              <a:t>à </a:t>
            </a:r>
            <a:r>
              <a:rPr lang="en-GB" sz="2400" b="0" dirty="0" err="1">
                <a:solidFill>
                  <a:srgbClr val="000000"/>
                </a:solidFill>
              </a:rPr>
              <a:t>partir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d'autres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serveurs</a:t>
            </a:r>
            <a:r>
              <a:rPr lang="en-GB" sz="2400" b="0" dirty="0">
                <a:solidFill>
                  <a:srgbClr val="000000"/>
                </a:solidFill>
              </a:rPr>
              <a:t> et pour </a:t>
            </a:r>
            <a:r>
              <a:rPr lang="en-GB" sz="2400" b="0" dirty="0" err="1">
                <a:solidFill>
                  <a:srgbClr val="000000"/>
                </a:solidFill>
              </a:rPr>
              <a:t>lesquels</a:t>
            </a:r>
            <a:r>
              <a:rPr lang="en-GB" sz="2400" b="0" dirty="0">
                <a:solidFill>
                  <a:srgbClr val="000000"/>
                </a:solidFill>
              </a:rPr>
              <a:t> le </a:t>
            </a:r>
            <a:r>
              <a:rPr lang="en-GB" sz="2400" dirty="0" err="1">
                <a:solidFill>
                  <a:srgbClr val="000000"/>
                </a:solidFill>
              </a:rPr>
              <a:t>délai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d'extinction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b="0" dirty="0">
                <a:solidFill>
                  <a:srgbClr val="000000"/>
                </a:solidFill>
              </a:rPr>
              <a:t>a </a:t>
            </a:r>
            <a:r>
              <a:rPr lang="en-GB" sz="2400" b="0" dirty="0" err="1">
                <a:solidFill>
                  <a:srgbClr val="000000"/>
                </a:solidFill>
              </a:rPr>
              <a:t>expiré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sont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supprimés</a:t>
            </a:r>
            <a:r>
              <a:rPr lang="en-GB" sz="2400" b="0" dirty="0">
                <a:solidFill>
                  <a:srgbClr val="000000"/>
                </a:solidFill>
              </a:rPr>
              <a:t> de la base de </a:t>
            </a:r>
            <a:r>
              <a:rPr lang="en-GB" sz="2400" b="0" dirty="0" err="1">
                <a:solidFill>
                  <a:srgbClr val="000000"/>
                </a:solidFill>
              </a:rPr>
              <a:t>données</a:t>
            </a:r>
            <a:endParaRPr lang="en-US" sz="2400" b="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227554" name="AutoShape 22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36169" y="5239643"/>
            <a:ext cx="8833660" cy="71312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28575" algn="ctr">
            <a:solidFill>
              <a:srgbClr val="C0000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274320" anchor="ctr"/>
          <a:lstStyle/>
          <a:p>
            <a:pPr algn="l">
              <a:lnSpc>
                <a:spcPct val="80000"/>
              </a:lnSpc>
            </a:pPr>
            <a:r>
              <a:rPr lang="en-GB" sz="2400" b="0" dirty="0">
                <a:solidFill>
                  <a:srgbClr val="000000"/>
                </a:solidFill>
              </a:rPr>
              <a:t>Les </a:t>
            </a:r>
            <a:r>
              <a:rPr lang="en-GB" sz="2400" b="0" dirty="0" err="1">
                <a:solidFill>
                  <a:srgbClr val="000000"/>
                </a:solidFill>
              </a:rPr>
              <a:t>noms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actifs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répliqués</a:t>
            </a:r>
            <a:r>
              <a:rPr lang="en-GB" sz="2400" b="0" dirty="0">
                <a:solidFill>
                  <a:srgbClr val="000000"/>
                </a:solidFill>
              </a:rPr>
              <a:t> à </a:t>
            </a:r>
            <a:r>
              <a:rPr lang="en-GB" sz="2400" b="0" dirty="0" err="1">
                <a:solidFill>
                  <a:srgbClr val="000000"/>
                </a:solidFill>
              </a:rPr>
              <a:t>partir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d'autres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serveurs</a:t>
            </a:r>
            <a:r>
              <a:rPr lang="en-GB" sz="2400" b="0" dirty="0">
                <a:solidFill>
                  <a:srgbClr val="000000"/>
                </a:solidFill>
              </a:rPr>
              <a:t> et pour </a:t>
            </a:r>
            <a:r>
              <a:rPr lang="en-GB" sz="2400" b="0" dirty="0" err="1">
                <a:solidFill>
                  <a:srgbClr val="000000"/>
                </a:solidFill>
              </a:rPr>
              <a:t>lesquels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l'</a:t>
            </a:r>
            <a:r>
              <a:rPr lang="en-GB" sz="2400" dirty="0" err="1">
                <a:solidFill>
                  <a:srgbClr val="000000"/>
                </a:solidFill>
              </a:rPr>
              <a:t>intervalle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vérification</a:t>
            </a:r>
            <a:r>
              <a:rPr lang="en-GB" sz="2400" b="0" dirty="0">
                <a:solidFill>
                  <a:srgbClr val="000000"/>
                </a:solidFill>
              </a:rPr>
              <a:t> a </a:t>
            </a:r>
            <a:r>
              <a:rPr lang="en-GB" sz="2400" b="0" dirty="0" err="1">
                <a:solidFill>
                  <a:srgbClr val="000000"/>
                </a:solidFill>
              </a:rPr>
              <a:t>expiré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sont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revalidés</a:t>
            </a:r>
            <a:endParaRPr lang="en-US" sz="2400" u="sng" dirty="0">
              <a:solidFill>
                <a:srgbClr val="002060"/>
              </a:solidFill>
            </a:endParaRP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title"/>
            <p:custDataLst>
              <p:tags r:id="rId7"/>
            </p:custDataLst>
          </p:nvPr>
        </p:nvSpPr>
        <p:spPr>
          <a:xfrm>
            <a:off x="185056" y="208416"/>
            <a:ext cx="8755743" cy="684212"/>
          </a:xfrm>
        </p:spPr>
        <p:txBody>
          <a:bodyPr vert="horz" anchor="b">
            <a:normAutofit/>
          </a:bodyPr>
          <a:lstStyle/>
          <a:p>
            <a:pPr marL="460375" indent="-460375"/>
            <a:r>
              <a:rPr lang="en-GB" sz="3000" b="1" dirty="0" err="1">
                <a:solidFill>
                  <a:srgbClr val="C00000"/>
                </a:solidFill>
              </a:rPr>
              <a:t>Comment fonctionne le nettoyage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sp>
        <p:nvSpPr>
          <p:cNvPr id="227543" name="AutoShape 21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4514" y="1356864"/>
            <a:ext cx="288000" cy="28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600" dirty="0">
                <a:solidFill>
                  <a:srgbClr val="990033"/>
                </a:solidFill>
              </a:rPr>
              <a:t>1</a:t>
            </a:r>
          </a:p>
        </p:txBody>
      </p:sp>
      <p:sp>
        <p:nvSpPr>
          <p:cNvPr id="227547" name="AutoShape 219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-7250" y="2024504"/>
            <a:ext cx="288000" cy="28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600" dirty="0">
                <a:solidFill>
                  <a:srgbClr val="990033"/>
                </a:solidFill>
              </a:rPr>
              <a:t>2</a:t>
            </a:r>
          </a:p>
        </p:txBody>
      </p:sp>
      <p:sp>
        <p:nvSpPr>
          <p:cNvPr id="227549" name="AutoShape 22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268" y="2895352"/>
            <a:ext cx="288000" cy="28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600" dirty="0">
                <a:solidFill>
                  <a:srgbClr val="990033"/>
                </a:solidFill>
              </a:rPr>
              <a:t>3</a:t>
            </a:r>
          </a:p>
        </p:txBody>
      </p:sp>
      <p:sp>
        <p:nvSpPr>
          <p:cNvPr id="227551" name="AutoShape 22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261" y="3635583"/>
            <a:ext cx="288000" cy="28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600" dirty="0">
                <a:solidFill>
                  <a:srgbClr val="990033"/>
                </a:solidFill>
              </a:rPr>
              <a:t>4</a:t>
            </a:r>
          </a:p>
        </p:txBody>
      </p:sp>
      <p:sp>
        <p:nvSpPr>
          <p:cNvPr id="227553" name="AutoShape 22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1774" y="4491928"/>
            <a:ext cx="288000" cy="28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600" dirty="0">
                <a:solidFill>
                  <a:srgbClr val="990033"/>
                </a:solidFill>
              </a:rPr>
              <a:t>5</a:t>
            </a:r>
          </a:p>
        </p:txBody>
      </p:sp>
      <p:sp>
        <p:nvSpPr>
          <p:cNvPr id="227555" name="AutoShape 22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4517" y="5377301"/>
            <a:ext cx="288000" cy="28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600" dirty="0">
                <a:solidFill>
                  <a:srgbClr val="990033"/>
                </a:solidFill>
              </a:rPr>
              <a:t>6</a:t>
            </a:r>
          </a:p>
        </p:txBody>
      </p:sp>
      <p:sp>
        <p:nvSpPr>
          <p:cNvPr id="227584" name="AutoShape 256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30755" y="6023419"/>
            <a:ext cx="8824559" cy="80939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28575" algn="ctr">
            <a:solidFill>
              <a:srgbClr val="C0000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274320" anchor="ctr"/>
          <a:lstStyle/>
          <a:p>
            <a:pPr algn="l">
              <a:lnSpc>
                <a:spcPct val="80000"/>
              </a:lnSpc>
            </a:pPr>
            <a:r>
              <a:rPr lang="en-GB" sz="2400" b="0" dirty="0">
                <a:solidFill>
                  <a:srgbClr val="000000"/>
                </a:solidFill>
              </a:rPr>
              <a:t>Les </a:t>
            </a:r>
            <a:r>
              <a:rPr lang="en-GB" sz="2400" b="0" dirty="0" err="1">
                <a:solidFill>
                  <a:srgbClr val="000000"/>
                </a:solidFill>
              </a:rPr>
              <a:t>noms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marqués</a:t>
            </a:r>
            <a:r>
              <a:rPr lang="en-GB" sz="2400" u="sng" dirty="0">
                <a:solidFill>
                  <a:srgbClr val="002060"/>
                </a:solidFill>
              </a:rPr>
              <a:t> pour suppression </a:t>
            </a:r>
            <a:r>
              <a:rPr lang="en-GB" sz="2400" u="sng" dirty="0" err="1" smtClean="0">
                <a:solidFill>
                  <a:srgbClr val="002060"/>
                </a:solidFill>
              </a:rPr>
              <a:t>répliqués</a:t>
            </a:r>
            <a:r>
              <a:rPr lang="en-GB" sz="2400" u="sng" dirty="0" smtClean="0">
                <a:solidFill>
                  <a:srgbClr val="002060"/>
                </a:solidFill>
              </a:rPr>
              <a:t> </a:t>
            </a:r>
            <a:r>
              <a:rPr lang="en-GB" sz="2400" b="0" dirty="0">
                <a:solidFill>
                  <a:srgbClr val="000000"/>
                </a:solidFill>
              </a:rPr>
              <a:t>à </a:t>
            </a:r>
            <a:r>
              <a:rPr lang="en-GB" sz="2400" b="0" dirty="0" err="1">
                <a:solidFill>
                  <a:srgbClr val="000000"/>
                </a:solidFill>
              </a:rPr>
              <a:t>partir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d'autres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serveurs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b="0" dirty="0" err="1">
                <a:solidFill>
                  <a:srgbClr val="000000"/>
                </a:solidFill>
              </a:rPr>
              <a:t>sont</a:t>
            </a:r>
            <a:r>
              <a:rPr lang="en-GB" sz="2400" b="0" dirty="0">
                <a:solidFill>
                  <a:srgbClr val="000000"/>
                </a:solidFill>
              </a:rPr>
              <a:t> </a:t>
            </a:r>
            <a:r>
              <a:rPr lang="en-GB" sz="2400" u="sng" dirty="0" err="1">
                <a:solidFill>
                  <a:srgbClr val="002060"/>
                </a:solidFill>
              </a:rPr>
              <a:t>supprimés</a:t>
            </a:r>
            <a:r>
              <a:rPr lang="en-GB" sz="2400" b="0" dirty="0">
                <a:solidFill>
                  <a:srgbClr val="000000"/>
                </a:solidFill>
              </a:rPr>
              <a:t> de la base de </a:t>
            </a:r>
            <a:r>
              <a:rPr lang="en-GB" sz="2400" b="0" dirty="0" err="1" smtClean="0">
                <a:solidFill>
                  <a:srgbClr val="000000"/>
                </a:solidFill>
              </a:rPr>
              <a:t>données</a:t>
            </a:r>
            <a:endParaRPr lang="en-US" sz="2400" b="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227557" name="AutoShape 229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260" y="6233649"/>
            <a:ext cx="288000" cy="28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600" dirty="0">
                <a:solidFill>
                  <a:srgbClr val="990033"/>
                </a:solidFill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2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22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27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22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27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27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22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22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227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2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2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22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22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22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542" grpId="0" animBg="1" autoUpdateAnimBg="0"/>
      <p:bldP spid="227546" grpId="0" animBg="1" autoUpdateAnimBg="0"/>
      <p:bldP spid="227548" grpId="0" animBg="1" autoUpdateAnimBg="0"/>
      <p:bldP spid="227550" grpId="0" animBg="1" autoUpdateAnimBg="0"/>
      <p:bldP spid="227552" grpId="0" animBg="1" autoUpdateAnimBg="0"/>
      <p:bldP spid="227554" grpId="0" animBg="1" autoUpdateAnimBg="0"/>
      <p:bldP spid="227543" grpId="0" animBg="1" autoUpdateAnimBg="0"/>
      <p:bldP spid="227547" grpId="0" animBg="1" autoUpdateAnimBg="0"/>
      <p:bldP spid="227549" grpId="0" animBg="1" autoUpdateAnimBg="0"/>
      <p:bldP spid="227551" grpId="0" animBg="1" autoUpdateAnimBg="0"/>
      <p:bldP spid="227553" grpId="0" animBg="1" autoUpdateAnimBg="0"/>
      <p:bldP spid="227555" grpId="0" animBg="1" autoUpdateAnimBg="0"/>
      <p:bldP spid="227584" grpId="0" animBg="1" autoUpdateAnimBg="0"/>
      <p:bldP spid="227557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lèche droite 80"/>
          <p:cNvSpPr/>
          <p:nvPr/>
        </p:nvSpPr>
        <p:spPr>
          <a:xfrm>
            <a:off x="5979878" y="4927617"/>
            <a:ext cx="1785256" cy="48463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5056" y="208416"/>
            <a:ext cx="8755743" cy="684212"/>
          </a:xfrm>
        </p:spPr>
        <p:txBody>
          <a:bodyPr vert="horz" anchor="b">
            <a:normAutofit/>
          </a:bodyPr>
          <a:lstStyle/>
          <a:p>
            <a:pPr marL="460375" indent="-460375"/>
            <a:r>
              <a:rPr lang="en-GB" sz="3000" b="1" dirty="0" err="1">
                <a:solidFill>
                  <a:srgbClr val="C00000"/>
                </a:solidFill>
              </a:rPr>
              <a:t>Comment fonctionne le nettoyage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sp>
        <p:nvSpPr>
          <p:cNvPr id="227625" name="AutoShape 29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86962" y="1923146"/>
            <a:ext cx="2699657" cy="804863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n-US" sz="2200" dirty="0"/>
          </a:p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200" dirty="0">
                <a:solidFill>
                  <a:srgbClr val="000000"/>
                </a:solidFill>
              </a:rPr>
              <a:t>6</a:t>
            </a:r>
            <a:r>
              <a:rPr lang="en-GB" sz="2200" dirty="0" smtClean="0">
                <a:solidFill>
                  <a:srgbClr val="000000"/>
                </a:solidFill>
              </a:rPr>
              <a:t> </a:t>
            </a:r>
            <a:r>
              <a:rPr lang="en-GB" sz="2200" dirty="0" err="1">
                <a:solidFill>
                  <a:srgbClr val="000000"/>
                </a:solidFill>
              </a:rPr>
              <a:t>jours</a:t>
            </a:r>
            <a:endParaRPr lang="en-US" sz="2200" dirty="0"/>
          </a:p>
        </p:txBody>
      </p:sp>
      <p:sp>
        <p:nvSpPr>
          <p:cNvPr id="227626" name="AutoShape 29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693902" y="1908632"/>
            <a:ext cx="1603829" cy="804863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n-US" sz="2200" dirty="0"/>
          </a:p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200" dirty="0" smtClean="0">
                <a:solidFill>
                  <a:srgbClr val="000000"/>
                </a:solidFill>
              </a:rPr>
              <a:t>4 </a:t>
            </a:r>
            <a:r>
              <a:rPr lang="en-GB" sz="2200" dirty="0" err="1" smtClean="0">
                <a:solidFill>
                  <a:srgbClr val="000000"/>
                </a:solidFill>
              </a:rPr>
              <a:t>jours</a:t>
            </a:r>
            <a:endParaRPr lang="en-US" sz="2200" dirty="0"/>
          </a:p>
        </p:txBody>
      </p:sp>
      <p:pic>
        <p:nvPicPr>
          <p:cNvPr id="227632" name="Picture 304" descr="Clock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696223" y="1050702"/>
            <a:ext cx="828675" cy="889000"/>
          </a:xfrm>
          <a:prstGeom prst="rect">
            <a:avLst/>
          </a:prstGeom>
          <a:noFill/>
        </p:spPr>
      </p:pic>
      <p:pic>
        <p:nvPicPr>
          <p:cNvPr id="227633" name="Picture 305" descr="Clock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3265277" y="1050701"/>
            <a:ext cx="828675" cy="889000"/>
          </a:xfrm>
          <a:prstGeom prst="rect">
            <a:avLst/>
          </a:prstGeom>
          <a:noFill/>
        </p:spPr>
      </p:pic>
      <p:pic>
        <p:nvPicPr>
          <p:cNvPr id="227634" name="Picture 306" descr="Clock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4783814" y="1036188"/>
            <a:ext cx="828675" cy="889000"/>
          </a:xfrm>
          <a:prstGeom prst="rect">
            <a:avLst/>
          </a:prstGeom>
          <a:noFill/>
        </p:spPr>
      </p:pic>
      <p:sp>
        <p:nvSpPr>
          <p:cNvPr id="227643" name="AutoShape 31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91774" y="3858750"/>
            <a:ext cx="2133575" cy="785812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GB" sz="2400" dirty="0" err="1" smtClean="0">
                <a:solidFill>
                  <a:srgbClr val="000000"/>
                </a:solidFill>
              </a:rPr>
              <a:t>Intervalle</a:t>
            </a:r>
            <a:r>
              <a:rPr lang="en-GB" sz="2400" dirty="0" smtClean="0">
                <a:solidFill>
                  <a:srgbClr val="000000"/>
                </a:solidFill>
              </a:rPr>
              <a:t> de </a:t>
            </a:r>
            <a:r>
              <a:rPr lang="en-GB" sz="2400" dirty="0" err="1" smtClean="0">
                <a:solidFill>
                  <a:srgbClr val="000000"/>
                </a:solidFill>
              </a:rPr>
              <a:t>renouvellement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227648" name="AutoShape 32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146620" y="1999346"/>
            <a:ext cx="2506824" cy="279400"/>
          </a:xfrm>
          <a:prstGeom prst="rightArrow">
            <a:avLst>
              <a:gd name="adj1" fmla="val 50926"/>
              <a:gd name="adj2" fmla="val 132053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27649" name="AutoShape 32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80991" y="1984832"/>
            <a:ext cx="1468532" cy="308430"/>
          </a:xfrm>
          <a:prstGeom prst="rightArrow">
            <a:avLst>
              <a:gd name="adj1" fmla="val 50926"/>
              <a:gd name="adj2" fmla="val 132053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5" name="Line 309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V="1">
            <a:off x="3690066" y="2715997"/>
            <a:ext cx="0" cy="6120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6" name="Accolade fermante 55"/>
          <p:cNvSpPr/>
          <p:nvPr/>
        </p:nvSpPr>
        <p:spPr>
          <a:xfrm rot="5400000">
            <a:off x="2148110" y="2322305"/>
            <a:ext cx="435415" cy="2583545"/>
          </a:xfrm>
          <a:prstGeom prst="rightBrace">
            <a:avLst>
              <a:gd name="adj1" fmla="val 0"/>
              <a:gd name="adj2" fmla="val 50374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ZoneTexte 56"/>
          <p:cNvSpPr txBox="1"/>
          <p:nvPr/>
        </p:nvSpPr>
        <p:spPr>
          <a:xfrm>
            <a:off x="449939" y="4804243"/>
            <a:ext cx="7547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err="1" smtClean="0"/>
              <a:t>Enr</a:t>
            </a:r>
            <a:endParaRPr lang="fr-FR" sz="2200" dirty="0" smtClean="0"/>
          </a:p>
          <a:p>
            <a:r>
              <a:rPr lang="fr-FR" sz="2200" dirty="0" smtClean="0"/>
              <a:t> Actif</a:t>
            </a:r>
            <a:endParaRPr lang="fr-FR" sz="2200" dirty="0"/>
          </a:p>
        </p:txBody>
      </p:sp>
      <p:sp>
        <p:nvSpPr>
          <p:cNvPr id="58" name="Flèche droite 57"/>
          <p:cNvSpPr/>
          <p:nvPr/>
        </p:nvSpPr>
        <p:spPr>
          <a:xfrm>
            <a:off x="1190184" y="4920357"/>
            <a:ext cx="2119063" cy="48463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/>
          <p:cNvSpPr txBox="1"/>
          <p:nvPr/>
        </p:nvSpPr>
        <p:spPr>
          <a:xfrm>
            <a:off x="3156866" y="4738929"/>
            <a:ext cx="9796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err="1" smtClean="0"/>
              <a:t>Enr</a:t>
            </a:r>
            <a:endParaRPr lang="fr-FR" sz="2200" dirty="0" smtClean="0"/>
          </a:p>
          <a:p>
            <a:r>
              <a:rPr lang="fr-FR" sz="2200" dirty="0" smtClean="0"/>
              <a:t> Libéré</a:t>
            </a:r>
            <a:endParaRPr lang="fr-FR" sz="2200" dirty="0"/>
          </a:p>
        </p:txBody>
      </p:sp>
      <p:sp>
        <p:nvSpPr>
          <p:cNvPr id="66" name="AutoShape 315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08358" y="3866010"/>
            <a:ext cx="1618364" cy="785812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GB" sz="2400" dirty="0" err="1" smtClean="0">
                <a:solidFill>
                  <a:srgbClr val="000000"/>
                </a:solidFill>
              </a:rPr>
              <a:t>Intervalle</a:t>
            </a:r>
            <a:r>
              <a:rPr lang="en-GB" sz="2400" dirty="0" smtClean="0">
                <a:solidFill>
                  <a:srgbClr val="000000"/>
                </a:solidFill>
              </a:rPr>
              <a:t>  </a:t>
            </a:r>
            <a:r>
              <a:rPr lang="en-GB" sz="2400" dirty="0" err="1" smtClean="0">
                <a:solidFill>
                  <a:srgbClr val="000000"/>
                </a:solidFill>
              </a:rPr>
              <a:t>d’extinction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68" name="Line 309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5308380" y="2737771"/>
            <a:ext cx="0" cy="6120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69" name="Accolade fermante 68"/>
          <p:cNvSpPr/>
          <p:nvPr/>
        </p:nvSpPr>
        <p:spPr>
          <a:xfrm rot="5400000">
            <a:off x="4296199" y="2852040"/>
            <a:ext cx="457215" cy="1545851"/>
          </a:xfrm>
          <a:prstGeom prst="rightBrace">
            <a:avLst>
              <a:gd name="adj1" fmla="val 0"/>
              <a:gd name="adj2" fmla="val 50374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Flèche droite 69"/>
          <p:cNvSpPr/>
          <p:nvPr/>
        </p:nvSpPr>
        <p:spPr>
          <a:xfrm>
            <a:off x="3904333" y="4884072"/>
            <a:ext cx="1378858" cy="48463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ZoneTexte 70"/>
          <p:cNvSpPr txBox="1"/>
          <p:nvPr/>
        </p:nvSpPr>
        <p:spPr>
          <a:xfrm>
            <a:off x="4673648" y="4572015"/>
            <a:ext cx="16255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err="1" smtClean="0"/>
              <a:t>Enr</a:t>
            </a:r>
            <a:endParaRPr lang="fr-FR" sz="2200" dirty="0" smtClean="0"/>
          </a:p>
          <a:p>
            <a:r>
              <a:rPr lang="fr-FR" sz="2200" dirty="0" smtClean="0"/>
              <a:t>marqué pour suppression (éteinte)</a:t>
            </a:r>
            <a:endParaRPr lang="fr-FR" sz="2200" dirty="0"/>
          </a:p>
        </p:txBody>
      </p:sp>
      <p:sp>
        <p:nvSpPr>
          <p:cNvPr id="72" name="AutoShape 29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319394" y="1930406"/>
            <a:ext cx="2699657" cy="804863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n-US" sz="2200" dirty="0"/>
          </a:p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200" dirty="0">
                <a:solidFill>
                  <a:srgbClr val="000000"/>
                </a:solidFill>
              </a:rPr>
              <a:t>6</a:t>
            </a:r>
            <a:r>
              <a:rPr lang="en-GB" sz="2200" dirty="0" smtClean="0">
                <a:solidFill>
                  <a:srgbClr val="000000"/>
                </a:solidFill>
              </a:rPr>
              <a:t> </a:t>
            </a:r>
            <a:r>
              <a:rPr lang="en-GB" sz="2200" dirty="0" err="1">
                <a:solidFill>
                  <a:srgbClr val="000000"/>
                </a:solidFill>
              </a:rPr>
              <a:t>jours</a:t>
            </a:r>
            <a:endParaRPr lang="en-US" sz="2200" dirty="0"/>
          </a:p>
        </p:txBody>
      </p:sp>
      <p:pic>
        <p:nvPicPr>
          <p:cNvPr id="73" name="Picture 304" descr="Clock01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7452541" y="1057962"/>
            <a:ext cx="828675" cy="889000"/>
          </a:xfrm>
          <a:prstGeom prst="rect">
            <a:avLst/>
          </a:prstGeom>
          <a:noFill/>
        </p:spPr>
      </p:pic>
      <p:sp>
        <p:nvSpPr>
          <p:cNvPr id="75" name="AutoShape 3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841930" y="3866009"/>
            <a:ext cx="1676460" cy="785812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GB" sz="2400" dirty="0" err="1" smtClean="0">
                <a:solidFill>
                  <a:srgbClr val="000000"/>
                </a:solidFill>
              </a:rPr>
              <a:t>Délai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d’extinction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77" name="AutoShape 320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479052" y="2006606"/>
            <a:ext cx="2506824" cy="279400"/>
          </a:xfrm>
          <a:prstGeom prst="rightArrow">
            <a:avLst>
              <a:gd name="adj1" fmla="val 50926"/>
              <a:gd name="adj2" fmla="val 132053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8" name="Line 309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 flipV="1">
            <a:off x="8022498" y="2723257"/>
            <a:ext cx="0" cy="6120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79" name="Accolade fermante 78"/>
          <p:cNvSpPr/>
          <p:nvPr/>
        </p:nvSpPr>
        <p:spPr>
          <a:xfrm rot="5400000">
            <a:off x="6480542" y="2329565"/>
            <a:ext cx="435415" cy="2583545"/>
          </a:xfrm>
          <a:prstGeom prst="rightBrace">
            <a:avLst>
              <a:gd name="adj1" fmla="val 0"/>
              <a:gd name="adj2" fmla="val 50374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ZoneTexte 81"/>
          <p:cNvSpPr txBox="1"/>
          <p:nvPr/>
        </p:nvSpPr>
        <p:spPr>
          <a:xfrm>
            <a:off x="7387725" y="4731674"/>
            <a:ext cx="1524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err="1" smtClean="0"/>
              <a:t>Enr</a:t>
            </a:r>
            <a:endParaRPr lang="fr-FR" sz="2200" dirty="0" smtClean="0"/>
          </a:p>
          <a:p>
            <a:r>
              <a:rPr lang="fr-FR" sz="2200" dirty="0" smtClean="0"/>
              <a:t> Supprimé</a:t>
            </a:r>
            <a:endParaRPr lang="fr-FR" sz="2200" dirty="0"/>
          </a:p>
        </p:txBody>
      </p:sp>
      <p:sp>
        <p:nvSpPr>
          <p:cNvPr id="83" name="Line 309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 flipV="1">
            <a:off x="1055724" y="2708739"/>
            <a:ext cx="0" cy="6120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2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2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2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2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227625" grpId="0" animBg="1"/>
      <p:bldP spid="227626" grpId="0" animBg="1"/>
      <p:bldP spid="227649" grpId="0" animBg="1"/>
      <p:bldP spid="55" grpId="0" animBg="1"/>
      <p:bldP spid="66" grpId="0" animBg="1"/>
      <p:bldP spid="68" grpId="0" animBg="1"/>
      <p:bldP spid="69" grpId="0" animBg="1"/>
      <p:bldP spid="70" grpId="0" animBg="1"/>
      <p:bldP spid="71" grpId="0"/>
      <p:bldP spid="72" grpId="0" animBg="1"/>
      <p:bldP spid="75" grpId="0" animBg="1"/>
      <p:bldP spid="77" grpId="0" animBg="1"/>
      <p:bldP spid="78" grpId="0" animBg="1"/>
      <p:bldP spid="79" grpId="0" animBg="1"/>
      <p:bldP spid="8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1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5056" y="208416"/>
            <a:ext cx="8755743" cy="684212"/>
          </a:xfrm>
        </p:spPr>
        <p:txBody>
          <a:bodyPr vert="horz" anchor="b">
            <a:normAutofit/>
          </a:bodyPr>
          <a:lstStyle/>
          <a:p>
            <a:pPr marL="460375" indent="-460375"/>
            <a:r>
              <a:rPr lang="en-GB" sz="3000" b="1" dirty="0" err="1">
                <a:solidFill>
                  <a:srgbClr val="C00000"/>
                </a:solidFill>
              </a:rPr>
              <a:t>Comment fonctionne le nettoyage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sp>
        <p:nvSpPr>
          <p:cNvPr id="227625" name="AutoShape 29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22118" y="1923146"/>
            <a:ext cx="2699657" cy="804863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n-US" sz="2200" dirty="0"/>
          </a:p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200" dirty="0" smtClean="0">
                <a:solidFill>
                  <a:srgbClr val="000000"/>
                </a:solidFill>
              </a:rPr>
              <a:t>&gt;=24 </a:t>
            </a:r>
            <a:r>
              <a:rPr lang="en-GB" sz="2200" dirty="0" err="1">
                <a:solidFill>
                  <a:srgbClr val="000000"/>
                </a:solidFill>
              </a:rPr>
              <a:t>jours</a:t>
            </a:r>
            <a:endParaRPr lang="en-US" sz="2200" dirty="0"/>
          </a:p>
        </p:txBody>
      </p:sp>
      <p:pic>
        <p:nvPicPr>
          <p:cNvPr id="227632" name="Picture 304" descr="Clock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931379" y="1050702"/>
            <a:ext cx="828675" cy="889000"/>
          </a:xfrm>
          <a:prstGeom prst="rect">
            <a:avLst/>
          </a:prstGeom>
          <a:noFill/>
        </p:spPr>
      </p:pic>
      <p:pic>
        <p:nvPicPr>
          <p:cNvPr id="227633" name="Picture 305" descr="Clock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500433" y="1050701"/>
            <a:ext cx="828675" cy="889000"/>
          </a:xfrm>
          <a:prstGeom prst="rect">
            <a:avLst/>
          </a:prstGeom>
          <a:noFill/>
        </p:spPr>
      </p:pic>
      <p:sp>
        <p:nvSpPr>
          <p:cNvPr id="227643" name="AutoShape 31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526930" y="3858750"/>
            <a:ext cx="2133575" cy="785812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GB" sz="2400" dirty="0" err="1" smtClean="0">
                <a:solidFill>
                  <a:srgbClr val="000000"/>
                </a:solidFill>
              </a:rPr>
              <a:t>Intervalle</a:t>
            </a:r>
            <a:r>
              <a:rPr lang="en-GB" sz="2400" dirty="0" smtClean="0">
                <a:solidFill>
                  <a:srgbClr val="000000"/>
                </a:solidFill>
              </a:rPr>
              <a:t> de  </a:t>
            </a:r>
            <a:r>
              <a:rPr lang="en-GB" sz="2400" dirty="0" err="1" smtClean="0">
                <a:solidFill>
                  <a:srgbClr val="000000"/>
                </a:solidFill>
              </a:rPr>
              <a:t>vérification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227648" name="AutoShape 32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381776" y="1999346"/>
            <a:ext cx="2506824" cy="279400"/>
          </a:xfrm>
          <a:prstGeom prst="rightArrow">
            <a:avLst>
              <a:gd name="adj1" fmla="val 50926"/>
              <a:gd name="adj2" fmla="val 132053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5" name="Line 309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V="1">
            <a:off x="5925222" y="2715997"/>
            <a:ext cx="0" cy="6120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6" name="Accolade fermante 55"/>
          <p:cNvSpPr/>
          <p:nvPr/>
        </p:nvSpPr>
        <p:spPr>
          <a:xfrm rot="5400000">
            <a:off x="4383266" y="2322305"/>
            <a:ext cx="435415" cy="2583545"/>
          </a:xfrm>
          <a:prstGeom prst="rightBrace">
            <a:avLst>
              <a:gd name="adj1" fmla="val 0"/>
              <a:gd name="adj2" fmla="val 50374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ZoneTexte 56"/>
          <p:cNvSpPr txBox="1"/>
          <p:nvPr/>
        </p:nvSpPr>
        <p:spPr>
          <a:xfrm>
            <a:off x="2235200" y="4630075"/>
            <a:ext cx="12046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err="1" smtClean="0"/>
              <a:t>Enr</a:t>
            </a:r>
            <a:endParaRPr lang="fr-FR" sz="2200" dirty="0" smtClean="0"/>
          </a:p>
          <a:p>
            <a:r>
              <a:rPr lang="fr-FR" sz="2200" dirty="0" smtClean="0"/>
              <a:t> Actif</a:t>
            </a:r>
          </a:p>
          <a:p>
            <a:r>
              <a:rPr lang="fr-FR" sz="2200" dirty="0" smtClean="0"/>
              <a:t>répliqué</a:t>
            </a:r>
            <a:endParaRPr lang="fr-FR" sz="2200" dirty="0"/>
          </a:p>
        </p:txBody>
      </p:sp>
      <p:sp>
        <p:nvSpPr>
          <p:cNvPr id="58" name="Flèche droite 57"/>
          <p:cNvSpPr/>
          <p:nvPr/>
        </p:nvSpPr>
        <p:spPr>
          <a:xfrm>
            <a:off x="3425340" y="4920357"/>
            <a:ext cx="2119063" cy="48463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/>
          <p:cNvSpPr txBox="1"/>
          <p:nvPr/>
        </p:nvSpPr>
        <p:spPr>
          <a:xfrm>
            <a:off x="5392022" y="4796985"/>
            <a:ext cx="11829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err="1" smtClean="0"/>
              <a:t>Enr</a:t>
            </a:r>
            <a:endParaRPr lang="fr-FR" sz="2200" dirty="0" smtClean="0"/>
          </a:p>
          <a:p>
            <a:r>
              <a:rPr lang="fr-FR" sz="2200" dirty="0" smtClean="0"/>
              <a:t> revalidé</a:t>
            </a:r>
            <a:endParaRPr lang="fr-FR" sz="2200" dirty="0"/>
          </a:p>
        </p:txBody>
      </p:sp>
      <p:sp>
        <p:nvSpPr>
          <p:cNvPr id="83" name="Line 30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V="1">
            <a:off x="3290880" y="2708739"/>
            <a:ext cx="0" cy="6120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2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625" grpId="0" animBg="1"/>
      <p:bldP spid="5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5056" y="310016"/>
            <a:ext cx="8741229" cy="684212"/>
          </a:xfrm>
        </p:spPr>
        <p:txBody>
          <a:bodyPr vert="horz" anchor="b">
            <a:normAutofit fontScale="90000"/>
          </a:bodyPr>
          <a:lstStyle/>
          <a:p>
            <a:pPr marL="460375" indent="-460375"/>
            <a:r>
              <a:rPr lang="fr-FR" sz="3000" b="1" dirty="0" err="1">
                <a:solidFill>
                  <a:srgbClr val="C00000"/>
                </a:solidFill>
              </a:rPr>
              <a:t>Présentation de la vérification de la cohérence d'une base de données WINS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sp>
        <p:nvSpPr>
          <p:cNvPr id="331807" name="AutoShape 3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2160" y="1409470"/>
            <a:ext cx="8807669" cy="144984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600">
                <a:solidFill>
                  <a:srgbClr val="000000"/>
                </a:solidFill>
              </a:rPr>
              <a:t>La vérification de la </a:t>
            </a:r>
            <a:r>
              <a:rPr lang="en-GB" sz="2600" i="1">
                <a:solidFill>
                  <a:srgbClr val="000000"/>
                </a:solidFill>
              </a:rPr>
              <a:t>cohérence</a:t>
            </a:r>
            <a:r>
              <a:rPr lang="en-GB" sz="2600">
                <a:solidFill>
                  <a:srgbClr val="000000"/>
                </a:solidFill>
              </a:rPr>
              <a:t> de la base de données WINS permet de maintenir son intégrité entre les différents serveurs WINS d'un réseau de grande envergure</a:t>
            </a:r>
            <a:endParaRPr lang="en-US" sz="2600">
              <a:solidFill>
                <a:srgbClr val="000000"/>
              </a:solidFill>
            </a:endParaRPr>
          </a:p>
        </p:txBody>
      </p:sp>
      <p:sp>
        <p:nvSpPr>
          <p:cNvPr id="331808" name="Oval 3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06488" y="4059905"/>
            <a:ext cx="2098675" cy="1235075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en-GB"/>
          </a:p>
        </p:txBody>
      </p:sp>
      <p:pic>
        <p:nvPicPr>
          <p:cNvPr id="331810" name="Picture 34" descr="Computer_DesktopComputerSansKeyboard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1951038" y="3734468"/>
            <a:ext cx="536575" cy="652462"/>
          </a:xfrm>
          <a:prstGeom prst="rect">
            <a:avLst/>
          </a:prstGeom>
          <a:noFill/>
        </p:spPr>
      </p:pic>
      <p:pic>
        <p:nvPicPr>
          <p:cNvPr id="331809" name="Picture 33" descr="Server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2552700" y="4132930"/>
            <a:ext cx="731838" cy="927100"/>
          </a:xfrm>
          <a:prstGeom prst="rect">
            <a:avLst/>
          </a:prstGeom>
          <a:noFill/>
        </p:spPr>
      </p:pic>
      <p:pic>
        <p:nvPicPr>
          <p:cNvPr id="331811" name="Picture 35" descr="Database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33" cstate="print"/>
          <a:srcRect/>
          <a:stretch>
            <a:fillRect/>
          </a:stretch>
        </p:blipFill>
        <p:spPr bwMode="auto">
          <a:xfrm>
            <a:off x="3021013" y="4693318"/>
            <a:ext cx="533400" cy="431800"/>
          </a:xfrm>
          <a:prstGeom prst="rect">
            <a:avLst/>
          </a:prstGeom>
          <a:noFill/>
        </p:spPr>
      </p:pic>
      <p:pic>
        <p:nvPicPr>
          <p:cNvPr id="331813" name="Picture 37" descr="Computer_DesktopComputerSansKeyboard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1189038" y="3864643"/>
            <a:ext cx="536575" cy="652462"/>
          </a:xfrm>
          <a:prstGeom prst="rect">
            <a:avLst/>
          </a:prstGeom>
          <a:noFill/>
        </p:spPr>
      </p:pic>
      <p:pic>
        <p:nvPicPr>
          <p:cNvPr id="331814" name="Picture 38" descr="Computer_DesktopComputerSansKeyboard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960438" y="4572668"/>
            <a:ext cx="536575" cy="652462"/>
          </a:xfrm>
          <a:prstGeom prst="rect">
            <a:avLst/>
          </a:prstGeom>
          <a:noFill/>
        </p:spPr>
      </p:pic>
      <p:pic>
        <p:nvPicPr>
          <p:cNvPr id="331815" name="Picture 39" descr="Computer_DesktopComputerSansKeyboard0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1717675" y="4828255"/>
            <a:ext cx="536575" cy="652463"/>
          </a:xfrm>
          <a:prstGeom prst="rect">
            <a:avLst/>
          </a:prstGeom>
          <a:noFill/>
        </p:spPr>
      </p:pic>
      <p:sp>
        <p:nvSpPr>
          <p:cNvPr id="331818" name="AutoShape 4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198440" y="5169568"/>
            <a:ext cx="1663948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200">
                <a:solidFill>
                  <a:srgbClr val="000000"/>
                </a:solidFill>
              </a:rPr>
              <a:t>Serveur WINS</a:t>
            </a:r>
            <a:endParaRPr lang="en-US" sz="2200"/>
          </a:p>
        </p:txBody>
      </p:sp>
      <p:sp>
        <p:nvSpPr>
          <p:cNvPr id="331821" name="Oval 45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119563" y="5350543"/>
            <a:ext cx="2098675" cy="1235075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en-GB"/>
          </a:p>
        </p:txBody>
      </p:sp>
      <p:pic>
        <p:nvPicPr>
          <p:cNvPr id="331822" name="Picture 46" descr="Computer_DesktopComputerSansKeyboard01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4964113" y="5025105"/>
            <a:ext cx="536575" cy="652463"/>
          </a:xfrm>
          <a:prstGeom prst="rect">
            <a:avLst/>
          </a:prstGeom>
          <a:noFill/>
        </p:spPr>
      </p:pic>
      <p:pic>
        <p:nvPicPr>
          <p:cNvPr id="331826" name="Picture 50" descr="Computer_DesktopComputerSansKeyboard01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4202113" y="5155280"/>
            <a:ext cx="536575" cy="652463"/>
          </a:xfrm>
          <a:prstGeom prst="rect">
            <a:avLst/>
          </a:prstGeom>
          <a:noFill/>
        </p:spPr>
      </p:pic>
      <p:pic>
        <p:nvPicPr>
          <p:cNvPr id="331827" name="Picture 51" descr="Computer_DesktopComputerSansKeyboard01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3973513" y="5863305"/>
            <a:ext cx="536575" cy="652463"/>
          </a:xfrm>
          <a:prstGeom prst="rect">
            <a:avLst/>
          </a:prstGeom>
          <a:noFill/>
        </p:spPr>
      </p:pic>
      <p:pic>
        <p:nvPicPr>
          <p:cNvPr id="331828" name="Picture 52" descr="Computer_DesktopComputerSansKeyboard01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4730750" y="6118893"/>
            <a:ext cx="536575" cy="652462"/>
          </a:xfrm>
          <a:prstGeom prst="rect">
            <a:avLst/>
          </a:prstGeom>
          <a:noFill/>
        </p:spPr>
      </p:pic>
      <p:sp>
        <p:nvSpPr>
          <p:cNvPr id="331829" name="AutoShape 5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213475" y="6460205"/>
            <a:ext cx="1649288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200">
                <a:solidFill>
                  <a:srgbClr val="000000"/>
                </a:solidFill>
              </a:rPr>
              <a:t>Serveur WINS</a:t>
            </a:r>
            <a:endParaRPr lang="en-US" sz="2200"/>
          </a:p>
        </p:txBody>
      </p:sp>
      <p:sp>
        <p:nvSpPr>
          <p:cNvPr id="331831" name="Oval 55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791200" y="3378868"/>
            <a:ext cx="2098675" cy="1235075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en-GB"/>
          </a:p>
        </p:txBody>
      </p:sp>
      <p:pic>
        <p:nvPicPr>
          <p:cNvPr id="331832" name="Picture 56" descr="Computer_DesktopComputerSansKeyboard01"/>
          <p:cNvPicPr>
            <a:picLocks noChangeAspect="1" noChangeArrowheads="1"/>
          </p:cNvPicPr>
          <p:nvPr>
            <p:custDataLst>
              <p:tags r:id="rId18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6726238" y="3078830"/>
            <a:ext cx="536575" cy="652463"/>
          </a:xfrm>
          <a:prstGeom prst="rect">
            <a:avLst/>
          </a:prstGeom>
          <a:noFill/>
        </p:spPr>
      </p:pic>
      <p:pic>
        <p:nvPicPr>
          <p:cNvPr id="331834" name="Picture 58" descr="Server01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5653088" y="3194718"/>
            <a:ext cx="731837" cy="927100"/>
          </a:xfrm>
          <a:prstGeom prst="rect">
            <a:avLst/>
          </a:prstGeom>
          <a:noFill/>
        </p:spPr>
      </p:pic>
      <p:pic>
        <p:nvPicPr>
          <p:cNvPr id="331835" name="Picture 59" descr="Database01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>
          <a:blip r:embed="rId33" cstate="print"/>
          <a:srcRect/>
          <a:stretch>
            <a:fillRect/>
          </a:stretch>
        </p:blipFill>
        <p:spPr bwMode="auto">
          <a:xfrm>
            <a:off x="6121400" y="3755105"/>
            <a:ext cx="533400" cy="431800"/>
          </a:xfrm>
          <a:prstGeom prst="rect">
            <a:avLst/>
          </a:prstGeom>
          <a:noFill/>
        </p:spPr>
      </p:pic>
      <p:pic>
        <p:nvPicPr>
          <p:cNvPr id="331836" name="Picture 60" descr="Computer_DesktopComputerSansKeyboard01"/>
          <p:cNvPicPr>
            <a:picLocks noChangeAspect="1" noChangeArrowheads="1"/>
          </p:cNvPicPr>
          <p:nvPr>
            <p:custDataLst>
              <p:tags r:id="rId21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7291388" y="4047205"/>
            <a:ext cx="536575" cy="652463"/>
          </a:xfrm>
          <a:prstGeom prst="rect">
            <a:avLst/>
          </a:prstGeom>
          <a:noFill/>
        </p:spPr>
      </p:pic>
      <p:pic>
        <p:nvPicPr>
          <p:cNvPr id="331837" name="Picture 61" descr="Computer_DesktopComputerSansKeyboard01"/>
          <p:cNvPicPr>
            <a:picLocks noChangeAspect="1" noChangeArrowheads="1"/>
          </p:cNvPicPr>
          <p:nvPr>
            <p:custDataLst>
              <p:tags r:id="rId22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7473950" y="3272505"/>
            <a:ext cx="536575" cy="652463"/>
          </a:xfrm>
          <a:prstGeom prst="rect">
            <a:avLst/>
          </a:prstGeom>
          <a:noFill/>
        </p:spPr>
      </p:pic>
      <p:pic>
        <p:nvPicPr>
          <p:cNvPr id="331838" name="Picture 62" descr="Computer_DesktopComputerSansKeyboard01"/>
          <p:cNvPicPr>
            <a:picLocks noChangeAspect="1" noChangeArrowheads="1"/>
          </p:cNvPicPr>
          <p:nvPr>
            <p:custDataLst>
              <p:tags r:id="rId23"/>
            </p:custDataLst>
          </p:nvPr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6556375" y="4147218"/>
            <a:ext cx="536575" cy="652462"/>
          </a:xfrm>
          <a:prstGeom prst="rect">
            <a:avLst/>
          </a:prstGeom>
          <a:noFill/>
        </p:spPr>
      </p:pic>
      <p:pic>
        <p:nvPicPr>
          <p:cNvPr id="331824" name="Picture 48" descr="Server01"/>
          <p:cNvPicPr>
            <a:picLocks noChangeAspect="1" noChangeArrowheads="1"/>
          </p:cNvPicPr>
          <p:nvPr>
            <p:custDataLst>
              <p:tags r:id="rId24"/>
            </p:custDataLst>
          </p:nvPr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5565775" y="5423568"/>
            <a:ext cx="731838" cy="927100"/>
          </a:xfrm>
          <a:prstGeom prst="rect">
            <a:avLst/>
          </a:prstGeom>
          <a:noFill/>
        </p:spPr>
      </p:pic>
      <p:pic>
        <p:nvPicPr>
          <p:cNvPr id="331825" name="Picture 49" descr="Database01"/>
          <p:cNvPicPr>
            <a:picLocks noChangeAspect="1" noChangeArrowheads="1"/>
          </p:cNvPicPr>
          <p:nvPr>
            <p:custDataLst>
              <p:tags r:id="rId25"/>
            </p:custDataLst>
          </p:nvPr>
        </p:nvPicPr>
        <p:blipFill>
          <a:blip r:embed="rId33" cstate="print"/>
          <a:srcRect/>
          <a:stretch>
            <a:fillRect/>
          </a:stretch>
        </p:blipFill>
        <p:spPr bwMode="auto">
          <a:xfrm>
            <a:off x="6034088" y="5983955"/>
            <a:ext cx="533400" cy="431800"/>
          </a:xfrm>
          <a:prstGeom prst="rect">
            <a:avLst/>
          </a:prstGeom>
          <a:noFill/>
        </p:spPr>
      </p:pic>
      <p:sp>
        <p:nvSpPr>
          <p:cNvPr id="331839" name="AutoShape 63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47887" y="3563018"/>
            <a:ext cx="1616302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200">
                <a:solidFill>
                  <a:srgbClr val="000000"/>
                </a:solidFill>
              </a:rPr>
              <a:t>Serveur WINS</a:t>
            </a:r>
            <a:endParaRPr lang="en-US" sz="2200"/>
          </a:p>
        </p:txBody>
      </p:sp>
      <p:sp>
        <p:nvSpPr>
          <p:cNvPr id="331840" name="Arc 64"/>
          <p:cNvSpPr>
            <a:spLocks/>
          </p:cNvSpPr>
          <p:nvPr>
            <p:custDataLst>
              <p:tags r:id="rId27"/>
            </p:custDataLst>
          </p:nvPr>
        </p:nvSpPr>
        <p:spPr bwMode="auto">
          <a:xfrm>
            <a:off x="3211513" y="3189955"/>
            <a:ext cx="2487612" cy="1479550"/>
          </a:xfrm>
          <a:custGeom>
            <a:avLst/>
            <a:gdLst>
              <a:gd name="G0" fmla="+- 19821 0 0"/>
              <a:gd name="G1" fmla="+- 21600 0 0"/>
              <a:gd name="G2" fmla="+- 21600 0 0"/>
              <a:gd name="T0" fmla="*/ 0 w 27011"/>
              <a:gd name="T1" fmla="*/ 13016 h 21600"/>
              <a:gd name="T2" fmla="*/ 27011 w 27011"/>
              <a:gd name="T3" fmla="*/ 1232 h 21600"/>
              <a:gd name="T4" fmla="*/ 19821 w 2701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011" h="21600" fill="none" extrusionOk="0">
                <a:moveTo>
                  <a:pt x="-1" y="13015"/>
                </a:moveTo>
                <a:cubicBezTo>
                  <a:pt x="3421" y="5114"/>
                  <a:pt x="11210" y="-1"/>
                  <a:pt x="19821" y="0"/>
                </a:cubicBezTo>
                <a:cubicBezTo>
                  <a:pt x="22270" y="0"/>
                  <a:pt x="24701" y="416"/>
                  <a:pt x="27011" y="1231"/>
                </a:cubicBezTo>
              </a:path>
              <a:path w="27011" h="21600" stroke="0" extrusionOk="0">
                <a:moveTo>
                  <a:pt x="-1" y="13015"/>
                </a:moveTo>
                <a:cubicBezTo>
                  <a:pt x="3421" y="5114"/>
                  <a:pt x="11210" y="-1"/>
                  <a:pt x="19821" y="0"/>
                </a:cubicBezTo>
                <a:cubicBezTo>
                  <a:pt x="22270" y="0"/>
                  <a:pt x="24701" y="416"/>
                  <a:pt x="27011" y="1231"/>
                </a:cubicBezTo>
                <a:lnTo>
                  <a:pt x="19821" y="21600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1841" name="Arc 65"/>
          <p:cNvSpPr>
            <a:spLocks/>
          </p:cNvSpPr>
          <p:nvPr>
            <p:custDataLst>
              <p:tags r:id="rId28"/>
            </p:custDataLst>
          </p:nvPr>
        </p:nvSpPr>
        <p:spPr bwMode="auto">
          <a:xfrm rot="1263366">
            <a:off x="3190875" y="4386930"/>
            <a:ext cx="2908300" cy="1117600"/>
          </a:xfrm>
          <a:custGeom>
            <a:avLst/>
            <a:gdLst>
              <a:gd name="G0" fmla="+- 17134 0 0"/>
              <a:gd name="G1" fmla="+- 21600 0 0"/>
              <a:gd name="G2" fmla="+- 21600 0 0"/>
              <a:gd name="T0" fmla="*/ 0 w 36729"/>
              <a:gd name="T1" fmla="*/ 8447 h 21600"/>
              <a:gd name="T2" fmla="*/ 36729 w 36729"/>
              <a:gd name="T3" fmla="*/ 12512 h 21600"/>
              <a:gd name="T4" fmla="*/ 17134 w 3672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729" h="21600" fill="none" extrusionOk="0">
                <a:moveTo>
                  <a:pt x="0" y="8447"/>
                </a:moveTo>
                <a:cubicBezTo>
                  <a:pt x="4088" y="3121"/>
                  <a:pt x="10420" y="-1"/>
                  <a:pt x="17134" y="0"/>
                </a:cubicBezTo>
                <a:cubicBezTo>
                  <a:pt x="25544" y="0"/>
                  <a:pt x="33190" y="4882"/>
                  <a:pt x="36729" y="12511"/>
                </a:cubicBezTo>
              </a:path>
              <a:path w="36729" h="21600" stroke="0" extrusionOk="0">
                <a:moveTo>
                  <a:pt x="0" y="8447"/>
                </a:moveTo>
                <a:cubicBezTo>
                  <a:pt x="4088" y="3121"/>
                  <a:pt x="10420" y="-1"/>
                  <a:pt x="17134" y="0"/>
                </a:cubicBezTo>
                <a:cubicBezTo>
                  <a:pt x="25544" y="0"/>
                  <a:pt x="33190" y="4882"/>
                  <a:pt x="36729" y="12511"/>
                </a:cubicBezTo>
                <a:lnTo>
                  <a:pt x="17134" y="21600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" name="Espace réservé du numéro de diapositive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32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71408" y="344894"/>
            <a:ext cx="8770257" cy="684212"/>
          </a:xfrm>
        </p:spPr>
        <p:txBody>
          <a:bodyPr vert="horz" anchor="b">
            <a:normAutofit fontScale="90000"/>
          </a:bodyPr>
          <a:lstStyle/>
          <a:p>
            <a:pPr marL="460375" indent="-460375"/>
            <a:r>
              <a:rPr lang="fr-FR" sz="3000" b="1" dirty="0" err="1">
                <a:solidFill>
                  <a:srgbClr val="C00000"/>
                </a:solidFill>
              </a:rPr>
              <a:t>Instructions concernant le retrait d'un serveur WINS</a:t>
            </a:r>
            <a:endParaRPr lang="en-US" sz="3000" b="1" dirty="0" err="1">
              <a:solidFill>
                <a:srgbClr val="C00000"/>
              </a:solidFill>
            </a:endParaRPr>
          </a:p>
        </p:txBody>
      </p:sp>
      <p:sp>
        <p:nvSpPr>
          <p:cNvPr id="296996" name="AutoShape 3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65113" y="2340429"/>
            <a:ext cx="8646658" cy="4045857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r>
              <a:rPr lang="en-GB" sz="2600" dirty="0">
                <a:solidFill>
                  <a:srgbClr val="000000"/>
                </a:solidFill>
              </a:rPr>
              <a:t>Instructions </a:t>
            </a:r>
            <a:r>
              <a:rPr lang="en-GB" sz="2600" dirty="0" err="1">
                <a:solidFill>
                  <a:srgbClr val="000000"/>
                </a:solidFill>
              </a:rPr>
              <a:t>concernant</a:t>
            </a:r>
            <a:r>
              <a:rPr lang="en-GB" sz="2600" dirty="0">
                <a:solidFill>
                  <a:srgbClr val="000000"/>
                </a:solidFill>
              </a:rPr>
              <a:t> le </a:t>
            </a:r>
            <a:r>
              <a:rPr lang="en-GB" sz="2600" dirty="0" err="1">
                <a:solidFill>
                  <a:srgbClr val="000000"/>
                </a:solidFill>
              </a:rPr>
              <a:t>retrait</a:t>
            </a:r>
            <a:r>
              <a:rPr lang="en-GB" sz="2600" dirty="0">
                <a:solidFill>
                  <a:srgbClr val="000000"/>
                </a:solidFill>
              </a:rPr>
              <a:t> d'un </a:t>
            </a:r>
            <a:r>
              <a:rPr lang="en-GB" sz="2600" dirty="0" err="1">
                <a:solidFill>
                  <a:srgbClr val="000000"/>
                </a:solidFill>
              </a:rPr>
              <a:t>serveur</a:t>
            </a:r>
            <a:r>
              <a:rPr lang="en-GB" sz="2600" dirty="0">
                <a:solidFill>
                  <a:srgbClr val="000000"/>
                </a:solidFill>
              </a:rPr>
              <a:t> WINS</a:t>
            </a:r>
            <a:endParaRPr lang="en-US" sz="2600" dirty="0"/>
          </a:p>
          <a:p>
            <a:pPr algn="l"/>
            <a:endParaRPr lang="en-US" sz="2600" b="0" dirty="0">
              <a:latin typeface="Arial" charset="0"/>
            </a:endParaRPr>
          </a:p>
        </p:txBody>
      </p:sp>
      <p:sp>
        <p:nvSpPr>
          <p:cNvPr id="296997" name="AutoShape 3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9241" y="3036888"/>
            <a:ext cx="8321902" cy="3218769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buSzPct val="80000"/>
              <a:buFontTx/>
              <a:buBlip>
                <a:blip r:embed="rId7"/>
              </a:buBlip>
            </a:pPr>
            <a:r>
              <a:rPr lang="en-GB" sz="2400" dirty="0">
                <a:solidFill>
                  <a:srgbClr val="000000"/>
                </a:solidFill>
              </a:rPr>
              <a:t>Si </a:t>
            </a:r>
            <a:r>
              <a:rPr lang="en-GB" sz="2400" dirty="0" err="1">
                <a:solidFill>
                  <a:srgbClr val="000000"/>
                </a:solidFill>
              </a:rPr>
              <a:t>vous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réduisez</a:t>
            </a:r>
            <a:r>
              <a:rPr lang="en-GB" sz="2400" dirty="0">
                <a:solidFill>
                  <a:srgbClr val="000000"/>
                </a:solidFill>
              </a:rPr>
              <a:t> le </a:t>
            </a:r>
            <a:r>
              <a:rPr lang="en-GB" sz="2400" dirty="0" err="1">
                <a:solidFill>
                  <a:srgbClr val="000000"/>
                </a:solidFill>
              </a:rPr>
              <a:t>nombre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serveurs</a:t>
            </a:r>
            <a:r>
              <a:rPr lang="en-GB" sz="2400" dirty="0">
                <a:solidFill>
                  <a:srgbClr val="000000"/>
                </a:solidFill>
              </a:rPr>
              <a:t> WINS </a:t>
            </a:r>
            <a:r>
              <a:rPr lang="en-GB" sz="2400" dirty="0" err="1">
                <a:solidFill>
                  <a:srgbClr val="000000"/>
                </a:solidFill>
              </a:rPr>
              <a:t>sur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votre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réseau</a:t>
            </a:r>
            <a:r>
              <a:rPr lang="en-GB" sz="2400" dirty="0">
                <a:solidFill>
                  <a:srgbClr val="000000"/>
                </a:solidFill>
              </a:rPr>
              <a:t>, </a:t>
            </a:r>
            <a:r>
              <a:rPr lang="en-GB" sz="2400" dirty="0" err="1">
                <a:solidFill>
                  <a:srgbClr val="000000"/>
                </a:solidFill>
              </a:rPr>
              <a:t>vous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pouvez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reconfigurer</a:t>
            </a:r>
            <a:r>
              <a:rPr lang="en-GB" sz="2400" dirty="0">
                <a:solidFill>
                  <a:srgbClr val="000000"/>
                </a:solidFill>
              </a:rPr>
              <a:t> les clients WINS pour </a:t>
            </a:r>
            <a:r>
              <a:rPr lang="en-GB" sz="2400" dirty="0" err="1">
                <a:solidFill>
                  <a:srgbClr val="000000"/>
                </a:solidFill>
              </a:rPr>
              <a:t>qu'ils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pointent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vers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d'autres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serveurs</a:t>
            </a:r>
            <a:r>
              <a:rPr lang="en-GB" sz="2400" dirty="0">
                <a:solidFill>
                  <a:srgbClr val="000000"/>
                </a:solidFill>
              </a:rPr>
              <a:t> WINS du </a:t>
            </a:r>
            <a:r>
              <a:rPr lang="en-GB" sz="2400" dirty="0" err="1">
                <a:solidFill>
                  <a:srgbClr val="000000"/>
                </a:solidFill>
              </a:rPr>
              <a:t>réseau</a:t>
            </a:r>
            <a:endParaRPr lang="en-US" sz="2400" dirty="0"/>
          </a:p>
          <a:p>
            <a:pPr marL="231775" indent="-231775" algn="l">
              <a:buSzPct val="80000"/>
              <a:buFontTx/>
              <a:buBlip>
                <a:blip r:embed="rId7"/>
              </a:buBlip>
            </a:pPr>
            <a:r>
              <a:rPr lang="en-GB" sz="2400" dirty="0">
                <a:solidFill>
                  <a:srgbClr val="000000"/>
                </a:solidFill>
              </a:rPr>
              <a:t>La reconfiguration </a:t>
            </a:r>
            <a:r>
              <a:rPr lang="en-GB" sz="2400" dirty="0" err="1">
                <a:solidFill>
                  <a:srgbClr val="000000"/>
                </a:solidFill>
              </a:rPr>
              <a:t>n'est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nécessaire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que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si</a:t>
            </a:r>
            <a:r>
              <a:rPr lang="en-GB" sz="2400" dirty="0">
                <a:solidFill>
                  <a:srgbClr val="000000"/>
                </a:solidFill>
              </a:rPr>
              <a:t> les clients </a:t>
            </a:r>
            <a:r>
              <a:rPr lang="en-GB" sz="2400" dirty="0" err="1">
                <a:solidFill>
                  <a:srgbClr val="000000"/>
                </a:solidFill>
              </a:rPr>
              <a:t>continuent</a:t>
            </a:r>
            <a:r>
              <a:rPr lang="en-GB" sz="2400" dirty="0">
                <a:solidFill>
                  <a:srgbClr val="000000"/>
                </a:solidFill>
              </a:rPr>
              <a:t> à </a:t>
            </a:r>
            <a:r>
              <a:rPr lang="en-GB" sz="2400" dirty="0" err="1">
                <a:solidFill>
                  <a:srgbClr val="000000"/>
                </a:solidFill>
              </a:rPr>
              <a:t>utiliser</a:t>
            </a:r>
            <a:r>
              <a:rPr lang="en-GB" sz="2400" dirty="0">
                <a:solidFill>
                  <a:srgbClr val="000000"/>
                </a:solidFill>
              </a:rPr>
              <a:t> le service WINS</a:t>
            </a:r>
            <a:endParaRPr lang="en-US" sz="2400" dirty="0"/>
          </a:p>
          <a:p>
            <a:pPr marL="231775" indent="-231775" algn="l">
              <a:buSzPct val="80000"/>
              <a:buFontTx/>
              <a:buBlip>
                <a:blip r:embed="rId7"/>
              </a:buBlip>
            </a:pPr>
            <a:r>
              <a:rPr lang="en-GB" sz="2400" dirty="0">
                <a:solidFill>
                  <a:srgbClr val="000000"/>
                </a:solidFill>
              </a:rPr>
              <a:t>Si </a:t>
            </a:r>
            <a:r>
              <a:rPr lang="en-GB" sz="2400" dirty="0" err="1">
                <a:solidFill>
                  <a:srgbClr val="000000"/>
                </a:solidFill>
              </a:rPr>
              <a:t>vous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supprimez</a:t>
            </a:r>
            <a:r>
              <a:rPr lang="en-GB" sz="2400" dirty="0">
                <a:solidFill>
                  <a:srgbClr val="000000"/>
                </a:solidFill>
              </a:rPr>
              <a:t> le service WINS de </a:t>
            </a:r>
            <a:r>
              <a:rPr lang="en-GB" sz="2400" dirty="0" err="1">
                <a:solidFill>
                  <a:srgbClr val="000000"/>
                </a:solidFill>
              </a:rPr>
              <a:t>votre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réseau</a:t>
            </a:r>
            <a:r>
              <a:rPr lang="en-GB" sz="2400" dirty="0">
                <a:solidFill>
                  <a:srgbClr val="000000"/>
                </a:solidFill>
              </a:rPr>
              <a:t>, </a:t>
            </a:r>
            <a:r>
              <a:rPr lang="en-GB" sz="2400" dirty="0" err="1">
                <a:solidFill>
                  <a:srgbClr val="000000"/>
                </a:solidFill>
              </a:rPr>
              <a:t>vous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pouvez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implémenter</a:t>
            </a:r>
            <a:r>
              <a:rPr lang="en-GB" sz="2400" dirty="0">
                <a:solidFill>
                  <a:srgbClr val="000000"/>
                </a:solidFill>
              </a:rPr>
              <a:t> un </a:t>
            </a:r>
            <a:r>
              <a:rPr lang="en-GB" sz="2400" dirty="0" err="1">
                <a:solidFill>
                  <a:srgbClr val="000000"/>
                </a:solidFill>
              </a:rPr>
              <a:t>système</a:t>
            </a:r>
            <a:r>
              <a:rPr lang="en-GB" sz="2400" dirty="0">
                <a:solidFill>
                  <a:srgbClr val="000000"/>
                </a:solidFill>
              </a:rPr>
              <a:t> DNS </a:t>
            </a:r>
            <a:r>
              <a:rPr lang="en-GB" sz="2400" dirty="0" err="1">
                <a:solidFill>
                  <a:srgbClr val="000000"/>
                </a:solidFill>
              </a:rPr>
              <a:t>comme</a:t>
            </a:r>
            <a:r>
              <a:rPr lang="en-GB" sz="2400" dirty="0">
                <a:solidFill>
                  <a:srgbClr val="000000"/>
                </a:solidFill>
              </a:rPr>
              <a:t> service de nom principal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297001" name="AutoShape 4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3922" y="1461181"/>
            <a:ext cx="8771391" cy="6667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600" i="1" dirty="0" err="1">
                <a:solidFill>
                  <a:srgbClr val="000000"/>
                </a:solidFill>
              </a:rPr>
              <a:t>Retirer</a:t>
            </a:r>
            <a:r>
              <a:rPr lang="en-GB" sz="2600" i="1" dirty="0">
                <a:solidFill>
                  <a:srgbClr val="000000"/>
                </a:solidFill>
              </a:rPr>
              <a:t> </a:t>
            </a:r>
            <a:r>
              <a:rPr lang="en-GB" sz="2600" dirty="0">
                <a:solidFill>
                  <a:srgbClr val="000000"/>
                </a:solidFill>
              </a:rPr>
              <a:t>un </a:t>
            </a:r>
            <a:r>
              <a:rPr lang="en-GB" sz="2600" dirty="0" err="1">
                <a:solidFill>
                  <a:srgbClr val="000000"/>
                </a:solidFill>
              </a:rPr>
              <a:t>serveur</a:t>
            </a:r>
            <a:r>
              <a:rPr lang="en-GB" sz="2600" dirty="0">
                <a:solidFill>
                  <a:srgbClr val="000000"/>
                </a:solidFill>
              </a:rPr>
              <a:t> WINS </a:t>
            </a:r>
            <a:r>
              <a:rPr lang="en-GB" sz="2600" dirty="0" err="1">
                <a:solidFill>
                  <a:srgbClr val="000000"/>
                </a:solidFill>
              </a:rPr>
              <a:t>installé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revient</a:t>
            </a:r>
            <a:r>
              <a:rPr lang="en-GB" sz="2600" dirty="0">
                <a:solidFill>
                  <a:srgbClr val="000000"/>
                </a:solidFill>
              </a:rPr>
              <a:t> à le </a:t>
            </a:r>
            <a:r>
              <a:rPr lang="en-GB" sz="2600" dirty="0" err="1">
                <a:solidFill>
                  <a:srgbClr val="000000"/>
                </a:solidFill>
              </a:rPr>
              <a:t>supprimer</a:t>
            </a:r>
            <a:r>
              <a:rPr lang="en-GB" sz="2600" dirty="0">
                <a:solidFill>
                  <a:srgbClr val="000000"/>
                </a:solidFill>
              </a:rPr>
              <a:t> du </a:t>
            </a:r>
            <a:r>
              <a:rPr lang="en-GB" sz="2600" dirty="0" err="1">
                <a:solidFill>
                  <a:srgbClr val="000000"/>
                </a:solidFill>
              </a:rPr>
              <a:t>réseau</a:t>
            </a:r>
            <a:endParaRPr lang="en-US" sz="2600" dirty="0"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33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6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96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96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96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0"/>
  <p:tag name="PPWINSEGMENT1SOURCERTF" val="{\rtf1\ansi\deff0{\fonttbl{\f0\fcharset0 Arial Narrow;}}{\colortbl\red0\green0\blue0;}{\f0\fs100\b\cf0 Module 7:\par}}"/>
  <p:tag name="PPWINSEGMENT1TARGETRTF" val="{\rtf1\ansi\deff0{\fonttbl{\f0\fcharset0 Arial Narrow;}}{\colortbl\red0\green0\blue0;}{\f0\fs100\b\cf0 Module 7 :\par}}"/>
  <p:tag name="PPWINSEGMENT2START" val="12"/>
  <p:tag name="PPWINSEGMENT2LENGTH" val="51"/>
  <p:tag name="PPWINSEGMENT2SOURCERTF" val="{\rtf1\ansi\deff0{\fonttbl{\f0\fcharset0 Arial Narrow;}{\f1\fcharset0 Times New Roman;}}{\colortbl\red0\green0\blue0;}{\f0\fs100\b\cf0 Resolving NetBIOS Names by Using Windows Internet Name Service (WINS)}{\f1\fs98\b\cf0  \par}}"/>
  <p:tag name="PPWINSEGMENT2TARGETRTF" val="{\rtf1\ansi\deff1{\fonttbl{\f1\fcharset0 Arial;}{\f2\fcharset0 Times New Roman;}{\f3\fcharset0 Arial Narrow;}}{\colortbl\red0\green0\blue0;}{\f3\fs100\b\cf0 R\'E9solution de noms NetBIOS \'E0 l'aide du service WINS}{\f2\fs24\b\cf0 \par}}"/>
  <p:tag name="PPWINLASTSAVEDTRANSLATION" val="Module 7 : Résolution de noms NetBIOS à l'aide du service WINS"/>
  <p:tag name="PPWINALREADYSEGMENTED" val="True"/>
  <p:tag name="PPWINTOTALSEGMENTS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"/>
  <p:tag name="PPWINSEGMENT1SOURCERTF" val="{\rtf1\ansi\deff0{\fonttbl{\f0\fcharset0 Arial Narrow;}}{\colortbl\red0\green0\blue0;}{\f0\fs60\b\cf0 Overview\par}}"/>
  <p:tag name="PPWINSEGMENT1TARGETRTF" val="{\rtf1\ansi\deff1{\fonttbl{\f1\fcharset0 Arial;}{\f2\fcharset0 Arial Narrow;}}{\colortbl\red0\green0\blue0;}{\f2\fs60\b\cf0 Vue d'ensemble\par}}"/>
  <p:tag name="PPWINLASTSAVEDTRANSLATION" val="Vue d'ensemble"/>
  <p:tag name="PPWINALREADYSEGMENTED" val="True"/>
  <p:tag name="PPWINTOTALSEGMENTS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5"/>
  <p:tag name="PPWINSEGMENT1SOURCERTF" val="{\rtf1\ansi\deff0{\fonttbl{\f0\fcharset0 Arial Narrow;}}{\colortbl\red0\green0\blue0;}{\f0\fs48\b\cf0 Multimedia:\par}}"/>
  <p:tag name="PPWINSEGMENT1TARGETRTF" val="{\rtf1\ansi\deff1{\fonttbl{\f1\fcharset0 Arial;}{\f2\fcharset0 Arial Narrow;}}{\colortbl\red0\green0\blue0;}{\f2\fs48\b\cf0 Pr\'E9sentation multim\'E9dia :\par}}"/>
  <p:tag name="PPWINSEGMENT2START" val="27"/>
  <p:tag name="PPWINSEGMENT2LENGTH" val="49"/>
  <p:tag name="PPWINSEGMENT2SOURCERTF" val="{\rtf1\ansi\deff0{\fonttbl{\f0\fcharset0 Arial Narrow;}}{\colortbl\red0\green0\blue0;}{\f0\fs48\b\cf0 The Role of WINS in the Network Infrastructure\par}}"/>
  <p:tag name="PPWINSEGMENT2TARGETRTF" val="{\rtf1\ansi\deff1{\fonttbl{\f1\fcharset0 Arial;}{\f2\fcharset0 Arial Narrow;}}{\colortbl\red0\green0\blue0;}{\f2\fs48\b\cf0 R\'F4le du service WINS dans l'infrastructure r\'E9seau\par}}"/>
  <p:tag name="PPWINSEGMENT3START" val="77"/>
  <p:tag name="PPWINSEGMENT3LENGTH" val="47"/>
  <p:tag name="PPWINSEGMENT3SOURCERTF" val="{\rtf1\ansi\deff0{\fonttbl{\f0\fcharset0 Arial Narrow;}}{\colortbl\red0\green0\blue0;}{\f0\fs48\b\cf0 Installing and Configuring a WINS Server\par}}"/>
  <p:tag name="PPWINSEGMENT3TARGETRTF" val="{\rtf1\ansi\deff1{\fonttbl{\f1\fcharset0 Arial;}{\f2\fcharset0 Arial Narrow;}}{\colortbl\red0\green0\blue0;}{\f2\fs48\b\cf0 Installation et configuration d'un serveur WINS\par}}"/>
  <p:tag name="PPWINSEGMENT4START" val="125"/>
  <p:tag name="PPWINSEGMENT4LENGTH" val="48"/>
  <p:tag name="PPWINSEGMENT4SOURCERTF" val="{\rtf1\ansi\deff0{\fonttbl{\f0\fcharset0 Arial Narrow;}}{\colortbl\red0\green0\blue0;}{\f0\fs48\b\cf0 Managing Records in WINS\par}}"/>
  <p:tag name="PPWINSEGMENT4TARGETRTF" val="{\rtf1\ansi\deff1{\fonttbl{\f1\fcharset0 Arial;}{\f2\fcharset0 Arial Narrow;}}{\colortbl\red0\green0\blue0;}{\f2\fs48\b\cf0 Gestion des enregistrements dans le serveur WINS\par}}"/>
  <p:tag name="PPWINSEGMENT5START" val="174"/>
  <p:tag name="PPWINSEGMENT5LENGTH" val="36"/>
  <p:tag name="PPWINSEGMENT5SOURCERTF" val="{\rtf1\ansi\deff0{\fonttbl{\f0\fcharset0 Arial Narrow;}}{\colortbl\red0\green0\blue0;}{\f0\fs48\b\cf0 Configuring WINS Replication\par}}"/>
  <p:tag name="PPWINSEGMENT5TARGETRTF" val="{\rtf1\ansi\deff1{\fonttbl{\f1\fcharset0 Arial;}{\f2\fcharset0 Arial Narrow;}}{\colortbl\red0\green0\blue0;}{\f2\fs48\b\cf0 Configuration de la r\'E9plication WINS\par}}"/>
  <p:tag name="PPWINSEGMENT6START" val="211"/>
  <p:tag name="PPWINSEGMENT6LENGTH" val="34"/>
  <p:tag name="PPWINSEGMENT6SOURCERTF" val="{\rtf1\ansi\deff0{\fonttbl{\f0\fcharset0 Arial Narrow;}}{\colortbl\red0\green0\blue0;}{\f0\fs48\b\cf0 Managing the WINS Database\par}}"/>
  <p:tag name="PPWINSEGMENT6TARGETRTF" val="{\rtf1\ansi\deff1{\fonttbl{\f1\fcharset0 Arial;}{\f2\fcharset0 Arial Narrow;}}{\colortbl\red0\green0\blue0;}{\f2\fs48\b\cf0 Gestion de la base de donn\'E9es WINS\par}}"/>
  <p:tag name="PPWINLASTSAVEDTRANSLATION" val="Présentation multimédia : Rôle du service WINS dans l'infrastructure réseau&#10;Installation et configuration d'un serveur WINS&#10;Gestion des enregistrements dans le serveur WINS&#10;Configuration de la réplication WINS&#10;Gestion de la base de données WINS"/>
  <p:tag name="PPWINALREADYSEGMENTED" val="True"/>
  <p:tag name="PPWINTOTALSEGMENTS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5"/>
  <p:tag name="PPWINSEGMENT1SOURCERTF" val="{\rtf1\ansi\deff0{\fonttbl{\f0\fcharset0 Arial Narrow;}}{\colortbl\red0\green0\blue0;}{\f0\fs60\b\cf0 Multimedia:\par}}"/>
  <p:tag name="PPWINSEGMENT1TARGETRTF" val="{\rtf1\ansi\deff1{\fonttbl{\f1\fcharset0 Arial;}{\f2\fcharset0 Arial Narrow;}}{\colortbl\red0\green0\blue0;}{\f2\fs60\b\cf0 Pr\'E9sentation multim\'E9dia :\par}}"/>
  <p:tag name="PPWINSEGMENT2START" val="27"/>
  <p:tag name="PPWINSEGMENT2LENGTH" val="49"/>
  <p:tag name="PPWINSEGMENT2SOURCERTF" val="{\rtf1\ansi\deff0{\fonttbl{\f0\fcharset0 Arial Narrow;}}{\colortbl\red0\green0\blue0;}{\f0\fs60\b\cf0 The Role of WINS in the Network Infrastructure\par}}"/>
  <p:tag name="PPWINSEGMENT2TARGETRTF" val="{\rtf1\ansi\deff1{\fonttbl{\f1\fcharset0 Arial;}{\f2\fcharset0 Arial Narrow;}}{\colortbl\red0\green0\blue0;}{\f2\fs60\b\cf0 R\'F4le du service WINS dans l'infrastructure r\'E9seau\par}}"/>
  <p:tag name="PPWINLASTSAVEDTRANSLATION" val="Présentation multimédia : Rôle du service WINS dans l'infrastructure réseau"/>
  <p:tag name="PPWINALREADYSEGMENTED" val="True"/>
  <p:tag name="PPWINTOTALSEGMENTS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5"/>
  <p:tag name="PPWINSEGMENT1SOURCERTF" val="{\rtf1\ansi\deff0{\fonttbl{\f0\fcharset0 Arial Narrow;}}{\colortbl\red0\green0\blue0;}{\f0\fs60\b\cf0 Multimedia:\par}}"/>
  <p:tag name="PPWINSEGMENT1TARGETRTF" val="{\rtf1\ansi\deff1{\fonttbl{\f1\fcharset0 Arial;}{\f2\fcharset0 Arial Narrow;}}{\colortbl\red0\green0\blue0;}{\f2\fs60\b\cf0 Pr\'E9sentation multim\'E9dia :\par}}"/>
  <p:tag name="PPWINSEGMENT2START" val="27"/>
  <p:tag name="PPWINSEGMENT2LENGTH" val="49"/>
  <p:tag name="PPWINSEGMENT2SOURCERTF" val="{\rtf1\ansi\deff0{\fonttbl{\f0\fcharset0 Arial Narrow;}}{\colortbl\red0\green0\blue0;}{\f0\fs60\b\cf0 The Role of WINS in the Network Infrastructure\par}}"/>
  <p:tag name="PPWINSEGMENT2TARGETRTF" val="{\rtf1\ansi\deff1{\fonttbl{\f1\fcharset0 Arial;}{\f2\fcharset0 Arial Narrow;}}{\colortbl\red0\green0\blue0;}{\f2\fs60\b\cf0 R\'F4le du service WINS dans l'infrastructure r\'E9seau\par}}"/>
  <p:tag name="PPWINLASTSAVEDTRANSLATION" val="Présentation multimédia : Rôle du service WINS dans l'infrastructure réseau"/>
  <p:tag name="PPWINALREADYSEGMENTED" val="True"/>
  <p:tag name="PPWINTOTALSEGMENTS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1TARGETRTF" val="{\rtf1\ansi\deff1{\fonttbl{\f1\fcharset0 Arial;}{\f2\fcharset0 Arial Narrow;}}{\colortbl\red0\green0\blue0;}{\f2\fs60\b\cf0 Le\'E7on :\par}}"/>
  <p:tag name="PPWINSEGMENT2START" val="9"/>
  <p:tag name="PPWINSEGMENT2LENGTH" val="47"/>
  <p:tag name="PPWINSEGMENT2SOURCERTF" val="{\rtf1\ansi\deff0{\fonttbl{\f0\fcharset0 Arial Narrow;}}{\colortbl\red0\green0\blue0;}{\f0\fs60\b\cf0 Installing and Configuring a WINS Server\par}}"/>
  <p:tag name="PPWINSEGMENT2TARGETRTF" val="{\rtf1\ansi\deff1{\fonttbl{\f1\fcharset0 Arial;}{\f2\fcharset0 Arial Narrow;}}{\colortbl\red0\green0\blue0;}{\f2\fs60\b\cf0 Installation et configuration d'un serveur WINS\par}}"/>
  <p:tag name="PPWINLASTSAVEDTRANSLATION" val="Leçon : Installation et configuration d'un serveur WINS"/>
  <p:tag name="PPWINALREADYSEGMENTED" val="True"/>
  <p:tag name="PPWINTOTALSEGMENTS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6"/>
  <p:tag name="PPWINSEGMENT1SOURCERTF" val="{\rtf1\ansi\deff0{\fonttbl{\f0\fcharset0 Arial Narrow;}}{\colortbl\red0\green0\blue0;}{\f0\fs48\b\cf0 The Components of WINS\par}}"/>
  <p:tag name="PPWINSEGMENT1TARGETRTF" val="{\rtf1\ansi\deff1{\fonttbl{\f1\fcharset0 Arial;}{\f2\fcharset0 Arial Narrow;}}{\colortbl\red0\green0\blue0;}{\f2\fs48\b\cf0 Composants du service WINS\par}}"/>
  <p:tag name="PPWINSEGMENT2START" val="28"/>
  <p:tag name="PPWINSEGMENT2LENGTH" val="38"/>
  <p:tag name="PPWINSEGMENT2SOURCERTF" val="{\rtf1\ansi\deff0{\fonttbl{\f0\fcharset0 Arial Narrow;}}{\colortbl\red0\green0\blue0;}{\f0\fs48\b\cf0 What Is a NetBIOS Node Type?\par}}"/>
  <p:tag name="PPWINSEGMENT2TARGETRTF" val="{\rtf1\ansi\deff1{\fonttbl{\f1\fcharset0 Arial;}{\f2\fcharset0 Arial Narrow;}}{\colortbl\red0\green0\blue0;}{\f2\fs48\b\cf0 Pr\'E9sentation d'un type de n\'9Cud NetBIOS\par}}"/>
  <p:tag name="PPWINSEGMENT3START" val="67"/>
  <p:tag name="PPWINSEGMENT3LENGTH" val="57"/>
  <p:tag name="PPWINSEGMENT3SOURCERTF" val="{\rtf1\ansi\deff0{\fonttbl{\f0\fcharset0 Arial Narrow;}}{\colortbl\red0\green0\blue0;}{\f0\fs48\b\cf0 How a WINS Client Registers and Releases NetBIOS Names\par}}"/>
  <p:tag name="PPWINSEGMENT3TARGETRTF" val="{\rtf1\ansi\deff1{\fonttbl{\f1\fcharset0 Arial;}{\f2\fcharset0 Arial Narrow;}}{\colortbl\red0\green0\blue0;}{\f2\fs48\b\cf0 Comment un client WINS inscrit et lib\'E8re des noms NetBIOS\par}}"/>
  <p:tag name="PPWINSEGMENT4START" val="125"/>
  <p:tag name="PPWINSEGMENT4LENGTH" val="60"/>
  <p:tag name="PPWINSEGMENT4SOURCERTF" val="{\rtf1\ansi\deff0{\fonttbl{\f0\fcharset0 Arial Narrow;}}{\colortbl\red0\green0\blue0;}{\f0\fs48\b\cf0 How Burst Handling Works\par}}"/>
  <p:tag name="PPWINSEGMENT4TARGETRTF" val="{\rtf1\ansi\deff1{\fonttbl{\f1\fcharset0 Arial;}{\f2\fcharset0 Arial Narrow;}}{\colortbl\red0\green0\blue0;}{\f2\fs48\b\cf0 Fonctionnement de la prise en charge du traitement en rafale\par}}"/>
  <p:tag name="PPWINSEGMENT5START" val="186"/>
  <p:tag name="PPWINSEGMENT5LENGTH" val="47"/>
  <p:tag name="PPWINSEGMENT5SOURCERTF" val="{\rtf1\ansi\deff0{\fonttbl{\f0\fcharset0 Arial Narrow;}}{\colortbl\red0\green0\blue0;}{\f0\fs48\b\cf0 How a WINS Server Resolves NetBIOS Names\par}}"/>
  <p:tag name="PPWINSEGMENT5TARGETRTF" val="{\rtf1\ansi\deff1{\fonttbl{\f1\fcharset0 Arial;}{\f2\fcharset0 Arial Narrow;}}{\colortbl\red0\green0\blue0;}{\f2\fs48\b\cf0 Comment un serveur WINS r\'E9sout les noms NetBIOS\par}}"/>
  <p:tag name="PPWINSEGMENT6START" val="234"/>
  <p:tag name="PPWINSEGMENT6LENGTH" val="33"/>
  <p:tag name="PPWINSEGMENT6SOURCERTF" val="{\rtf1\ansi\deff0{\fonttbl{\f0\fcharset0 Arial Narrow;}}{\colortbl\red0\green0\blue0;}{\f0\fs48\b\cf0 How to Install the WINS Service\par}}"/>
  <p:tag name="PPWINSEGMENT6TARGETRTF" val="{\rtf1\ansi\deff1{\fonttbl{\f1\fcharset0 Arial;}{\f2\fcharset0 Arial Narrow;}}{\colortbl\red0\green0\blue0;}{\f2\fs48\b\cf0 Comment installer le service WINS\par}}"/>
  <p:tag name="PPWINSEGMENT7START" val="268"/>
  <p:tag name="PPWINSEGMENT7LENGTH" val="61"/>
  <p:tag name="PPWINSEGMENT7SOURCERTF" val="{\rtf1\ansi\deff0{\fonttbl{\f0\fcharset0 Arial Narrow;}}{\colortbl\red0\green0\blue0;}{\f0\fs48\b\cf0 How to Configure Burst Handling\par}}"/>
  <p:tag name="PPWINSEGMENT7TARGETRTF" val="{\rtf1\ansi\deff1{\fonttbl{\f1\fcharset0 Arial;}{\f2\fcharset0 Arial Narrow;}}{\colortbl\red0\green0\blue0;}{\f2\fs48\b\cf0 Comment configurer la prise en charge du traitement en rafale\par}}"/>
  <p:tag name="PPWINLASTSAVEDTRANSLATION" val="Composants du service WINS&#10;Présentation d'un type de nœud NetBIOS&#10;Comment un client WINS inscrit et libère des noms NetBIOS&#10;Fonctionnement de la prise en charge du traitement en rafale&#10;Comment un serveur WINS résout les noms NetBIOS&#10;Comment installer le service WINS&#10;Comment configurer la prise en charge du traitement en rafale"/>
  <p:tag name="PPWINALREADYSEGMENTED" val="True"/>
  <p:tag name="PPWINTOTALSEGMENTS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6"/>
  <p:tag name="PPWINSEGMENT1SOURCERTF" val="{\rtf1\ansi\deff0{\fonttbl{\f0\fcharset0 Arial Narrow;}}{\colortbl\red0\green0\blue0;}{\f0\fs60\b\cf0 The Components of WINS\par}}"/>
  <p:tag name="PPWINSEGMENT1TARGETRTF" val="{\rtf1\ansi\deff1{\fonttbl{\f1\fcharset0 Arial;}{\f2\fcharset0 Arial Narrow;}}{\colortbl\red0\green0\blue0;}{\f2\fs60\b\cf0 Composants du service WINS\par}}"/>
  <p:tag name="PPWINLASTSAVEDTRANSLATION" val="Composants du service WINS"/>
  <p:tag name="PPWINALREADYSEGMENTED" val="True"/>
  <p:tag name="PPWINTOTALSEGMENTS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8"/>
  <p:tag name="PPWINSEGMENT1SOURCERTF" val="{\rtf1\ansi\deff0{\fonttbl{\f0\fcharset0 Arial Narrow;}}{\colortbl\red0\green0\blue0;}{\f0\fs60\b\cf0 What Is a NetBIOS Node Type?\par}}"/>
  <p:tag name="PPWINSEGMENT1TARGETRTF" val="{\rtf1\ansi\deff1{\fonttbl{\f1\fcharset0 Arial;}{\f2\fcharset0 Arial Narrow;}}{\colortbl\red0\green0\blue0;}{\f2\fs60\b\cf0 Pr\'E9sentation d'un type de n\'9Cud NetBIOS\par}}"/>
  <p:tag name="PPWINLASTSAVEDTRANSLATION" val="Présentation d'un type de nœud NetBIOS"/>
  <p:tag name="PPWINALREADYSEGMENTED" val="True"/>
  <p:tag name="PPWINTOTALSEGMENTS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10"/>
  <p:tag name="PPWINSEGMENT1SOURCERTF" val="{\rtf1\ansi\deff0{\fonttbl{\f0\fcharset0 Arial Narrow;}}{\colortbl\red0\green0\blue0;}{\f0\fs48\b\cf0 A }{\f0\fs48\b\i\cf0 NetBIOS node type}{\f0\fs48\b\cf0  is a method that a computer uses to resolve a NetBIOS name into an IP address \par}}"/>
  <p:tag name="PPWINSEGMENT1TARGETRTF" val="{\rtf1\ansi\deff1{\fonttbl{\f1\fcharset0 Arial;}{\f2\fcharset0 Arial Narrow;}}{\colortbl\red0\green0\blue0;}{\f2\fs48\b\cf0 Un }{\f2\fs48\b\i\cf0 type de n\'9Cud NetBIOS }{\f2\fs48\b\cf0 est une m\'E9thode utilis\'E9e par un ordinateur pour r\'E9soudre un nom NetBIOS en adresse IP.\par}}"/>
  <p:tag name="PPWINLASTSAVEDTRANSLATION" val="Un type de nœud NetBIOS est une méthode utilisée par un ordinateur pour résoudre un nom NetBIOS en adresse IP."/>
  <p:tag name="PPWINALREADYSEGMENTED" val="True"/>
  <p:tag name="PPWINTOTALSEGMENTS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7"/>
  <p:tag name="PPWINSEGMENT1SOURCERTF" val="{\rtf1\ansi\deff0{\fonttbl{\f0\fcharset0 Arial Narrow;}}{\colortbl\red0\green0\blue0;}{\f0\fs52\b\cf0 How a WINS Client Registers and Releases NetBIOS Names\par}}"/>
  <p:tag name="PPWINSEGMENT1TARGETRTF" val="{\rtf1\ansi\deff1{\fonttbl{\f1\fcharset0 Arial;}{\f2\fcharset0 Arial Narrow;}}{\colortbl\red0\green0\blue0;}{\f2\fs52\b\cf0 Comment un client WINS inscrit et lib\'E8re des noms NetBIOS\par}}"/>
  <p:tag name="PPWINLASTSAVEDTRANSLATION" val="Comment un client WINS inscrit et libère des noms NetBIOS"/>
  <p:tag name="PPWINALREADYSEGMENTED" val="True"/>
  <p:tag name="PPWINTOTALSEGMENTS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0"/>
  <p:tag name="PPWINSEGMENT1SOURCERTF" val="{\rtf1\ansi\deff0{\fonttbl{\f0\fcharset0 Arial Narrow;}}{\colortbl\red0\green0\blue0;}{\f0\fs60\b\cf0 How Burst Handling Works\par}}"/>
  <p:tag name="PPWINSEGMENT1TARGETRTF" val="{\rtf1\ansi\deff1{\fonttbl{\f1\fcharset0 Arial;}{\f2\fcharset0 Arial Narrow;}}{\colortbl\red0\green0\blue0;}{\f2\fs60\b\cf0 Fonctionnement de la prise en charge du traitement en rafale\par}}"/>
  <p:tag name="PPWINLASTSAVEDTRANSLATION" val="Fonctionnement de la prise en charge du traitement en rafale"/>
  <p:tag name="PPWINALREADYSEGMENTED" val="True"/>
  <p:tag name="PPWINTOTALSEGMENTS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72"/>
  <p:tag name="PPWINSEGMENT1SOURCERTF" val="{\rtf1\ansi\deff0{\fonttbl{\f0\fcharset0 Arial Narrow;}}{\colortbl\red0\green0\blue0;}{\f0\fs48\b\i\cf0 Burst handling}{\f0\fs48\b\cf0  is the response of a WINS server to a large number of WINS clients that are trying to simultaneously register their local names in WINS\par}}"/>
  <p:tag name="PPWINSEGMENT1TARGETRTF" val="{\rtf1\ansi\deff1{\fonttbl{\f1\fcharset0 Arial;}{\f2\fcharset0 Arial Narrow;}}{\colortbl\red0\green0\blue0;}{\f2\fs48\b\cf0 La}{\f2\fs48\b\i\cf0  prise en charge du traitement en rafale}{\f2\fs48\b\cf0  est la r\'E9ponse d'un serveur WINS face \'E0 un grand nombre de clients WINS qui tentent d'y inscrire simultan\'E9ment leurs noms locaux.\par}}"/>
  <p:tag name="PPWINLASTSAVEDTRANSLATION" val="La prise en charge du traitement en rafale est la réponse d'un serveur WINS face à un grand nombre de clients WINS qui tentent d'y inscrire simultanément leurs noms locaux."/>
  <p:tag name="PPWINALREADYSEGMENTED" val="True"/>
  <p:tag name="PPWINTOTALSEGMENTS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7"/>
  <p:tag name="PPWINSEGMENT1SOURCERTF" val="{\rtf1\ansi\deff0{\fonttbl{\f0\fcharset0 Arial Narrow;}}{\colortbl\red0\green0\blue0;}{\f0\fs60\b\cf0 How a WINS Server Resolves NetBIOS Names\par}}"/>
  <p:tag name="PPWINSEGMENT1TARGETRTF" val="{\rtf1\ansi\deff1{\fonttbl{\f1\fcharset0 Arial;}{\f2\fcharset0 Arial Narrow;}}{\colortbl\red0\green0\blue0;}{\f2\fs60\b\cf0 Comment un serveur WINS r\'E9sout les noms NetBIOS\par}}"/>
  <p:tag name="PPWINLASTSAVEDTRANSLATION" val="Comment un serveur WINS résout les noms NetBIOS"/>
  <p:tag name="PPWINALREADYSEGMENTED" val="True"/>
  <p:tag name="PPWINTOTALSEGMENTS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1TARGETRTF" val="{\rtf1\ansi\deff1{\fonttbl{\f1\fcharset0 Arial;}{\f2\fcharset0 Arial Narrow;}}{\colortbl\red0\green0\blue0;}{\f2\fs60\b\cf0 Le\'E7on :\par}}"/>
  <p:tag name="PPWINSEGMENT2START" val="9"/>
  <p:tag name="PPWINSEGMENT2LENGTH" val="48"/>
  <p:tag name="PPWINSEGMENT2SOURCERTF" val="{\rtf1\ansi\deff0{\fonttbl{\f0\fcharset0 Arial Narrow;}}{\colortbl\red0\green0\blue0;}{\f0\fs60\b\cf0 Managing Records in WINS \par}}"/>
  <p:tag name="PPWINSEGMENT2TARGETRTF" val="{\rtf1\ansi\deff1{\fonttbl{\f1\fcharset0 Arial;}{\f2\fcharset0 Arial Narrow;}}{\colortbl\red0\green0\blue0;}{\f2\fs60\b\cf0 Gestion des enregistrements dans le serveur WINS\par}}"/>
  <p:tag name="PPWINLASTSAVEDTRANSLATION" val="Leçon : Gestion des enregistrements dans le serveur WINS"/>
  <p:tag name="PPWINALREADYSEGMENTED" val="True"/>
  <p:tag name="PPWINTOTALSEGMENTS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9"/>
  <p:tag name="PPWINSEGMENT1SOURCERTF" val="{\rtf1\ansi\deff0{\fonttbl{\f0\fcharset0 Arial Narrow;}}{\colortbl\red0\green0\blue0;}{\f0\fs48\b\cf0 What Is a Client Record?\par}}"/>
  <p:tag name="PPWINSEGMENT1TARGETRTF" val="{\rtf1\ansi\deff1{\fonttbl{\f1\fcharset0 Arial;}{\f2\fcharset0 Arial Narrow;}}{\colortbl\red0\green0\blue0;}{\f2\fs48\b\cf0 Pr\'E9sentation d'un enregistrement client\par}}"/>
  <p:tag name="PPWINSEGMENT2START" val="42"/>
  <p:tag name="PPWINSEGMENT2LENGTH" val="34"/>
  <p:tag name="PPWINSEGMENT2SOURCERTF" val="{\rtf1\ansi\deff0{\fonttbl{\f0\fcharset0 Arial Narrow;}}{\colortbl\red0\green0\blue0;}{\f0\fs48\b\cf0 What Is a Static Mapping?\par}}"/>
  <p:tag name="PPWINSEGMENT2TARGETRTF" val="{\rtf1\ansi\deff1{\fonttbl{\f1\fcharset0 Arial;}{\f2\fcharset0 Arial Narrow;}}{\colortbl\red0\green0\blue0;}{\f2\fs48\b\cf0 Pr\'E9sentation d'un mappage statique\par}}"/>
  <p:tag name="PPWINSEGMENT3START" val="78"/>
  <p:tag name="PPWINSEGMENT3LENGTH" val="46"/>
  <p:tag name="PPWINSEGMENT3SOURCERTF" val="{\rtf1\ansi\deff0{\fonttbl{\f0\fcharset0 Arial Narrow;}}{\colortbl\red0\green0\blue0;}{\f0\fs48\b\cf0 How to Add a Static Mapping Entry\par}}"/>
  <p:tag name="PPWINSEGMENT3TARGETRTF" val="{\rtf1\ansi\deff1{\fonttbl{\f1\fcharset0 Arial;}{\f2\fcharset0 Arial Narrow;}}{\colortbl\red0\green0\blue0;}{\f2\fs48\b\cf0 Comment ajouter une entr\'E9e de mappage statique\par}}"/>
  <p:tag name="PPWINSEGMENT4START" val="125"/>
  <p:tag name="PPWINSEGMENT4LENGTH" val="71"/>
  <p:tag name="PPWINSEGMENT4SOURCERTF" val="{\rtf1\ansi\deff0{\fonttbl{\f0\fcharset0 Arial Narrow;}}{\colortbl\red0\green0\blue0;}{\f0\fs48\b\cf0 Methods for Filtering and Viewing Records in WINS\par}}"/>
  <p:tag name="PPWINSEGMENT4TARGETRTF" val="{\rtf1\ansi\deff1{\fonttbl{\f1\fcharset0 Arial;}{\f2\fcharset0 Arial Narrow;}}{\colortbl\red0\green0\blue0;}{\f2\fs48\b\cf0 M\'E9thodes de filtrage et d'affichage des enregistrements du service WINS\par}}"/>
  <p:tag name="PPWINSEGMENT5START" val="197"/>
  <p:tag name="PPWINSEGMENT5LENGTH" val="40"/>
  <p:tag name="PPWINSEGMENT5SOURCERTF" val="{\rtf1\ansi\deff0{\fonttbl{\f0\fcharset0 Arial Narrow;}}{\colortbl\red0\green0\blue0;}{\f0\fs48\b\cf0 How to Filter WINS Records\par}}"/>
  <p:tag name="PPWINSEGMENT5TARGETRTF" val="{\rtf1\ansi\deff1{\fonttbl{\f1\fcharset0 Arial;}{\f2\fcharset0 Arial Narrow;}}{\colortbl\red0\green0\blue0;}{\f2\fs48\b\cf0 Comment filtrer les enregistrements WINS\par}}"/>
  <p:tag name="PPWINLASTSAVEDTRANSLATION" val="Présentation d'un enregistrement client &#10;Présentation d'un mappage statique &#10;Comment ajouter une entrée de mappage statique&#10;Méthodes de filtrage et d'affichage des enregistrements du service WINS&#10;Comment filtrer les enregistrements WINS&#10;"/>
  <p:tag name="PPWINALREADYSEGMENTED" val="True"/>
  <p:tag name="PPWINTOTALSEGMENTS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9"/>
  <p:tag name="PPWINSEGMENT1SOURCERTF" val="{\rtf1\ansi\deff0{\fonttbl{\f0\fcharset0 Arial Narrow;}}{\colortbl\red0\green0\blue0;}{\f0\fs60\b\cf0 What Is a Client Record?\par}}"/>
  <p:tag name="PPWINSEGMENT1TARGETRTF" val="{\rtf1\ansi\deff1{\fonttbl{\f1\fcharset0 Arial;}{\f2\fcharset0 Arial Narrow;}}{\colortbl\red0\green0\blue0;}{\f2\fs60\b\cf0 Pr\'E9sentation d'un enregistrement client\par}}"/>
  <p:tag name="PPWINLASTSAVEDTRANSLATION" val="Présentation d'un enregistrement client"/>
  <p:tag name="PPWINALREADYSEGMENTED" val="True"/>
  <p:tag name="PPWINTOTALSEGMENTS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4"/>
  <p:tag name="PPWINSEGMENT1SOURCERTF" val="{\rtf1\ansi\deff0{\fonttbl{\f0\fcharset0 Arial Narrow;}}{\colortbl\red0\green0\blue0;}{\f0\fs60\b\cf0 What Is a Static Mapping?\par}}"/>
  <p:tag name="PPWINSEGMENT1TARGETRTF" val="{\rtf1\ansi\deff1{\fonttbl{\f1\fcharset0 Arial;}{\f2\fcharset0 Arial Narrow;}}{\colortbl\red0\green0\blue0;}{\f2\fs60\b\cf0 Pr\'E9sentation d'un mappage statique\par}}"/>
  <p:tag name="PPWINLASTSAVEDTRANSLATION" val="Présentation d'un mappage statique"/>
  <p:tag name="PPWINALREADYSEGMENTED" val="True"/>
  <p:tag name="PPWINTOTALSEGMENTS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6"/>
  <p:tag name="PPWINSEGMENT1SOURCERTF" val="{\rtf1\ansi\deff0{\fonttbl{\f0\fcharset0 Arial Narrow;}}{\colortbl\red0\green0\blue0;}{\f0\fs36\b\cf0 Non-WINS Clients\par}}"/>
  <p:tag name="PPWINSEGMENT1TARGETRTF" val="{\rtf1\ansi\deff1{\fonttbl{\f1\fcharset0 Arial;}{\f2\fcharset0 Arial Narrow;}}{\colortbl\red0\green0\blue0;}{\f2\fs36\b\cf0 Clients non-WINS\par}}"/>
  <p:tag name="PPWINLASTSAVEDTRANSLATION" val="Clients non-WINS"/>
  <p:tag name="PPWINALREADYSEGMENTED" val="True"/>
  <p:tag name="PPWINTOTALSEGMENTS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0"/>
  <p:tag name="PPWINSEGMENT1SOURCERTF" val="{\rtf1\ansi\deff0{\fonttbl{\f0\fcharset0 Arial Narrow;}}{\colortbl\red0\green0\blue0;}{\f0\fs36\b\cf0 WINS Database\par}}"/>
  <p:tag name="PPWINSEGMENT1TARGETRTF" val="{\rtf1\ansi\deff1{\fonttbl{\f1\fcharset0 Arial;}{\f2\fcharset0 Arial Narrow;}}{\colortbl\red0\green0\blue0;}{\f2\fs36\b\cf0 Base de donn\'E9es WINS\par}}"/>
  <p:tag name="PPWINLASTSAVEDTRANSLATION" val="Base de données WINS"/>
  <p:tag name="PPWINALREADYSEGMENTED" val="True"/>
  <p:tag name="PPWINTOTALSEGMENTS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15"/>
  <p:tag name="PPWINSEGMENT1SOURCERTF" val="{\rtf1\ansi\deff0{\fonttbl{\f0\fcharset0 Arial Narrow;}}{\colortbl\red0\green0\blue0;}{\f0\fs48\b\cf0 A }{\f0\fs48\b\i\cf0 static mapping}{\f0\fs48\b\cf0  is a manual entry in the WINS database that maps a NetBIOS name to an IP address \par}}"/>
  <p:tag name="PPWINSEGMENT1TARGETRTF" val="{\rtf1\ansi\deff1{\fonttbl{\f1\fcharset0 Arial;}{\f2\fcharset0 Arial Narrow;}}{\colortbl\red0\green0\blue0;}{\f2\fs48\b\cf0 Un }{\f2\fs48\b\i\cf0 mappage statique}{\f2\fs48\b\cf0  est une entr\'E9e manuelle dans la base de donn\'E9es WINS qui mappe un nom NetBIOS \'E0 une adresse IP.\par}}"/>
  <p:tag name="PPWINLASTSAVEDTRANSLATION" val="Un mappage statique est une entrée manuelle dans la base de données WINS qui mappe un nom NetBIOS à une adresse IP."/>
  <p:tag name="PPWINALREADYSEGMENTED" val="True"/>
  <p:tag name="PPWINTOTALSEGMENTS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4"/>
  <p:tag name="PPWINSEGMENT1SOURCERTF" val="{\rtf1\ansi\deff0{\fonttbl{\f0\fcharset0 Arial Narrow;}}{\colortbl\red0\green0\blue0;}{\f0\fs36\b\cf0 Administrator enters computer \par}}"/>
  <p:tag name="PPWINSEGMENT1TARGETRTF" val="{\rtf1\ansi\deff1{\fonttbl{\f1\fcharset0 Arial;}{\f2\fcharset0 Arial Narrow;}}{\colortbl\red0\green0\blue0;}{\f2\fs36\b\cf0 L'administrateur saisit une entr\'E9e\par}}"/>
  <p:tag name="PPWINSEGMENT2START" val="36"/>
  <p:tag name="PPWINSEGMENT2LENGTH" val="36"/>
  <p:tag name="PPWINSEGMENT2SOURCERTF" val="{\rtf1\ansi\deff0{\fonttbl{\f0\fcharset0 Arial Narrow;}}{\colortbl\red0\green0\blue0;}{\f0\fs36\b\cf0 name-to-IP address entry\par}}"/>
  <p:tag name="PPWINSEGMENT2TARGETRTF" val="{\rtf1\ansi\deff1{\fonttbl{\f1\fcharset0 Arial;}{\f2\fcharset0 Arial Narrow;}}{\colortbl\red0\green0\blue0;}{\f2\fs36\b\cf0 de mappage d'un nom \'E0 une adresse IP\par}}"/>
  <p:tag name="PPWINLASTSAVEDTRANSLATION" val="L'administrateur saisit une entrée&#10;de mappage d'un nom à une adresse IP"/>
  <p:tag name="PPWINALREADYSEGMENTED" val="True"/>
  <p:tag name="PPWINTOTALSEGMENTS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6"/>
  <p:tag name="PPWINSEGMENT1SOURCERTF" val="{\rtf1\ansi\deff0{\fonttbl{\f0\fcharset0 Arial Narrow;}}{\colortbl\red0\green0\blue0;}{\f0\fs60\b\cf0 How to Add a Static Mapping Entry\par}}"/>
  <p:tag name="PPWINSEGMENT1TARGETRTF" val="{\rtf1\ansi\deff1{\fonttbl{\f1\fcharset0 Arial;}{\f2\fcharset0 Arial Narrow;}}{\colortbl\red0\green0\blue0;}{\f2\fs60\b\cf0 Comment ajouter une entr\'E9e de mappage statique\par}}"/>
  <p:tag name="PPWINLASTSAVEDTRANSLATION" val="Comment ajouter une entrée de mappage statique"/>
  <p:tag name="PPWINALREADYSEGMENTED" val="True"/>
  <p:tag name="PPWINTOTALSEGMENTS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7"/>
  <p:tag name="PPWINSEGMENT1SOURCERTF" val="{\rtf1\ansi\deff0{\fonttbl{\f0\fcharset0 Arial Narrow;}}{\colortbl\red0\green0\blue0;}{\f0\fs48\b\cf0 Your instructor will demonstrate how to add a static mapping entry\par}}"/>
  <p:tag name="PPWINSEGMENT1TARGETRTF" val="{\rtf1\ansi\deff1{\fonttbl{\f1\fcharset0 Arial;}{\f2\fcharset0 Arial Narrow;}}{\colortbl\red0\green0\blue0;}{\f2\fs48\b\cf0 L'instructeur va vous montrer comment ajouter une entr\'E9e de mappage statique.\par}}"/>
  <p:tag name="PPWINLASTSAVEDTRANSLATION" val="L'instructeur va vous montrer comment ajouter une entrée de mappage statique."/>
  <p:tag name="PPWINALREADYSEGMENTED" val="True"/>
  <p:tag name="PPWINTOTALSEGMENTS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1"/>
  <p:tag name="PPWINSEGMENT1SOURCERTF" val="{\rtf1\ansi\deff0{\fonttbl{\f0\fcharset0 Arial Narrow;}}{\colortbl\red0\green0\blue0;}{\f0\fs60\b\cf0 Methods for Filtering and Viewing Records in WINS\par}}"/>
  <p:tag name="PPWINSEGMENT1TARGETRTF" val="{\rtf1\ansi\deff1{\fonttbl{\f1\fcharset0 Arial;}{\f2\fcharset0 Arial Narrow;}}{\colortbl\red0\green0\blue0;}{\f2\fs60\b\cf0 M\'E9thodes de filtrage et d'affichage des enregistrements du service WINS\par}}"/>
  <p:tag name="PPWINLASTSAVEDTRANSLATION" val="Méthodes de filtrage et d'affichage des enregistrements du service WINS"/>
  <p:tag name="PPWINALREADYSEGMENTED" val="True"/>
  <p:tag name="PPWINTOTALSEGMENTS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0"/>
  <p:tag name="PPWINSEGMENT1SOURCERTF" val="{\rtf1\ansi\deff0{\fonttbl{\f0\fcharset0 Arial Narrow;}}{\colortbl\red0\green0\blue0;}{\f0\fs60\b\cf0 How to Filter WINS Records\par}}"/>
  <p:tag name="PPWINSEGMENT1TARGETRTF" val="{\rtf1\ansi\deff1{\fonttbl{\f1\fcharset0 Arial;}{\f2\fcharset0 Arial Narrow;}}{\colortbl\red0\green0\blue0;}{\f2\fs60\b\cf0 Comment filtrer les enregistrements WINS\par}}"/>
  <p:tag name="PPWINLASTSAVEDTRANSLATION" val="Comment filtrer les enregistrements WINS"/>
  <p:tag name="PPWINALREADYSEGMENTED" val="True"/>
  <p:tag name="PPWINTOTALSEGMENTS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1"/>
  <p:tag name="PPWINSEGMENT1SOURCERTF" val="{\rtf1\ansi\deff0{\fonttbl{\f0\fcharset0 Arial Narrow;}}{\colortbl\red0\green0\blue0;}{\f0\fs48\b\cf0 Your instructor will demonstrate how to filter WINS records\par}}"/>
  <p:tag name="PPWINSEGMENT1TARGETRTF" val="{\rtf1\ansi\deff1{\fonttbl{\f1\fcharset0 Arial;}{\f2\fcharset0 Arial Narrow;}}{\colortbl\red0\green0\blue0;}{\f2\fs48\b\cf0 L'instructeur va vous montrer comment filtrer des enregistrements WINS.\par}}"/>
  <p:tag name="PPWINLASTSAVEDTRANSLATION" val="L'instructeur va vous montrer comment filtrer des enregistrements WINS."/>
  <p:tag name="PPWINALREADYSEGMENTED" val="True"/>
  <p:tag name="PPWINTOTALSEGMENTS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1TARGETRTF" val="{\rtf1\ansi\deff1{\fonttbl{\f1\fcharset0 Arial;}{\f2\fcharset0 Arial Narrow;}}{\colortbl\red0\green0\blue0;}{\f2\fs60\b\cf0 Le\'E7on :\par}}"/>
  <p:tag name="PPWINSEGMENT2START" val="9"/>
  <p:tag name="PPWINSEGMENT2LENGTH" val="36"/>
  <p:tag name="PPWINSEGMENT2SOURCERTF" val="{\rtf1\ansi\deff0{\fonttbl{\f0\fcharset0 Arial Narrow;}}{\colortbl\red0\green0\blue0;}{\f0\fs60\b\cf0 Configuring WINS Replication\par}}"/>
  <p:tag name="PPWINSEGMENT2TARGETRTF" val="{\rtf1\ansi\deff1{\fonttbl{\f1\fcharset0 Arial;}{\f2\fcharset0 Arial Narrow;}}{\colortbl\red0\green0\blue0;}{\f2\fs60\b\cf0 Configuration de la r\'E9plication WINS\par}}"/>
  <p:tag name="PPWINLASTSAVEDTRANSLATION" val="Leçon : Configuration de la réplication WINS"/>
  <p:tag name="PPWINALREADYSEGMENTED" val="True"/>
  <p:tag name="PPWINTOTALSEGMENTS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7"/>
  <p:tag name="PPWINSEGMENT1SOURCERTF" val="{\rtf1\ansi\deff0{\fonttbl{\f0\fcharset0 Arial Narrow;}}{\colortbl\red0\green0\blue0;}{\f0\fs48\b\cf0 How WINS Replication Works\par}}"/>
  <p:tag name="PPWINSEGMENT1TARGETRTF" val="{\rtf1\ansi\deff1{\fonttbl{\f1\fcharset0 Arial;}{\f2\fcharset0 Arial Narrow;}}{\colortbl\red0\green0\blue0;}{\f2\fs48\b\cf0 Fonctionnement de la r\'E9plication WINS\par}}"/>
  <p:tag name="PPWINSEGMENT2START" val="39"/>
  <p:tag name="PPWINSEGMENT2LENGTH" val="45"/>
  <p:tag name="PPWINSEGMENT2SOURCERTF" val="{\rtf1\ansi\deff0{\fonttbl{\f0\fcharset0 Arial Narrow;}}{\colortbl\red0\green0\blue0;}{\f0\fs48\b\cf0 How Push Replication Works\par}}"/>
  <p:tag name="PPWINSEGMENT2TARGETRTF" val="{\rtf1\ansi\deff1{\fonttbl{\f1\fcharset0 Arial;}{\f2\fcharset0 Arial Narrow;}}{\colortbl\red0\green0\blue0;}{\f2\fs48\b\cf0 Fonctionnement de la r\'E9plication par \'E9mission\par}}"/>
  <p:tag name="PPWINSEGMENT3START" val="85"/>
  <p:tag name="PPWINSEGMENT3LENGTH" val="46"/>
  <p:tag name="PPWINSEGMENT3SOURCERTF" val="{\rtf1\ansi\deff0{\fonttbl{\f0\fcharset0 Arial Narrow;}}{\colortbl\red0\green0\blue0;}{\f0\fs48\b\cf0 How Pull Replication Works\par}}"/>
  <p:tag name="PPWINSEGMENT3TARGETRTF" val="{\rtf1\ansi\deff1{\fonttbl{\f1\fcharset0 Arial;}{\f2\fcharset0 Arial Narrow;}}{\colortbl\red0\green0\blue0;}{\f2\fs48\b\cf0 Fonctionnement de la r\'E9plication par r\'E9ception\par}}"/>
  <p:tag name="PPWINSEGMENT4START" val="132"/>
  <p:tag name="PPWINSEGMENT4LENGTH" val="53"/>
  <p:tag name="PPWINSEGMENT4SOURCERTF" val="{\rtf1\ansi\deff0{\fonttbl{\f0\fcharset0 Arial Narrow;}}{\colortbl\red0\green0\blue0;}{\f0\fs48\b\cf0 What Is Push/Pull Replication?\par}}"/>
  <p:tag name="PPWINSEGMENT4TARGETRTF" val="{\rtf1\ansi\deff1{\fonttbl{\f1\fcharset0 Arial;}{\f2\fcharset0 Arial Narrow;}}{\colortbl\red0\green0\blue0;}{\f2\fs48\b\cf0 Pr\'E9sentation de la r\'E9plication par \'E9mission/r\'E9ception\par}}"/>
  <p:tag name="PPWINSEGMENT5START" val="186"/>
  <p:tag name="PPWINSEGMENT5LENGTH" val="46"/>
  <p:tag name="PPWINSEGMENT5SOURCERTF" val="{\rtf1\ansi\deff0{\fonttbl{\f0\fcharset0 Arial Narrow;}}{\colortbl\red0\green0\blue0;}{\f0\fs48\b\cf0 WINS Replication Partner Properties\par}}"/>
  <p:tag name="PPWINSEGMENT5TARGETRTF" val="{\rtf1\ansi\deff1{\fonttbl{\f1\fcharset0 Arial;}{\f2\fcharset0 Arial Narrow;}}{\colortbl\red0\green0\blue0;}{\f2\fs48\b\cf0 Propri\'E9t\'E9s des partenaires de r\'E9plication WINS\par}}"/>
  <p:tag name="PPWINSEGMENT6START" val="233"/>
  <p:tag name="PPWINSEGMENT6LENGTH" val="38"/>
  <p:tag name="PPWINSEGMENT6SOURCERTF" val="{\rtf1\ansi\deff0{\fonttbl{\f0\fcharset0 Arial Narrow;}}{\colortbl\red0\green0\blue0;}{\f0\fs48\b\cf0 How to Configure WINS Replication\par}}"/>
  <p:tag name="PPWINSEGMENT6TARGETRTF" val="{\rtf1\ansi\deff1{\fonttbl{\f1\fcharset0 Arial;}{\f2\fcharset0 Arial Narrow;}}{\colortbl\red0\green0\blue0;}{\f2\fs48\b\cf0 Comment configurer la r\'E9plication WINS\par}}"/>
  <p:tag name="PPWINSEGMENT7START" val="272"/>
  <p:tag name="PPWINSEGMENT7LENGTH" val="64"/>
  <p:tag name="PPWINSEGMENT7SOURCERTF" val="{\rtf1\ansi\deff0{\fonttbl{\f0\fcharset0 Arial Narrow;}}{\colortbl\red0\green0\blue0;}{\f0\fs48\b\cf0 How to Configure Replication Partners Properties\par}}"/>
  <p:tag name="PPWINSEGMENT7TARGETRTF" val="{\rtf1\ansi\deff1{\fonttbl{\f1\fcharset0 Arial;}{\f2\fcharset0 Arial Narrow;}}{\colortbl\red0\green0\blue0;}{\f2\fs48\b\cf0 Comment configurer les propri\'E9t\'E9s des partenaires de r\'E9plication\par}}"/>
  <p:tag name="PPWINLASTSAVEDTRANSLATION" val="Fonctionnement de la réplication WINS&#10;Fonctionnement de la réplication par émission&#10;Fonctionnement de la réplication par réception&#10;Présentation de la réplication par émission/réception&#10;Propriétés des partenaires de réplication WINS&#10;Comment configurer la réplication WINS&#10;Comment configurer les propriétés des partenaires de réplication"/>
  <p:tag name="PPWINALREADYSEGMENTED" val="True"/>
  <p:tag name="PPWINTOTALSEGMENTS" val="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7"/>
  <p:tag name="PPWINSEGMENT1SOURCERTF" val="{\rtf1\ansi\deff0{\fonttbl{\f0\fcharset0 Arial Narrow;}}{\colortbl\red0\green0\blue0;}{\f0\fs60\b\cf0 How WINS Replication Works\par}}"/>
  <p:tag name="PPWINSEGMENT1TARGETRTF" val="{\rtf1\ansi\deff1{\fonttbl{\f1\fcharset0 Arial;}{\f2\fcharset0 Arial Narrow;}}{\colortbl\red0\green0\blue0;}{\f2\fs60\b\cf0 Fonctionnement de la r\'E9plication WINS\par}}"/>
  <p:tag name="PPWINLASTSAVEDTRANSLATION" val="Fonctionnement de la réplication WINS"/>
  <p:tag name="PPWINALREADYSEGMENTED" val="True"/>
  <p:tag name="PPWINTOTALSEGMENTS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79"/>
  <p:tag name="PPWINSEGMENT1SOURCERTF" val="{\rtf1\ansi\deff0{\fonttbl{\f0\fcharset0 Arial Narrow;}}{\colortbl\red0\green0\blue0;}{\f0\fs48\b\i\cf0 WINS replication}{\f0\fs48\b\cf0  is the process of copying updated WINS data from a WINS server to other WINS servers in a network to synchronize the data \par}}"/>
  <p:tag name="PPWINSEGMENT1TARGETRTF" val="{\rtf1\ansi\deff1{\fonttbl{\f1\fcharset0 Arial;}{\f2\fcharset0 Arial Narrow;}}{\colortbl\red0\green0\blue0;}{\f2\fs48\b\cf0 La }{\f2\fs48\b\i\cf0 r\'E9plication WINS }{\f2\fs48\b\cf0 est le processus qui consiste \'E0 copier les donn\'E9es WINS mises \'E0 jour d'un serveur WINS sur d'autres serveurs WINS d'un r\'E9seau afin de synchroniser les donn\'E9es.\par}}"/>
  <p:tag name="PPWINLASTSAVEDTRANSLATION" val="La réplication WINS est le processus qui consiste à copier les données WINS mises à jour d'un serveur WINS sur d'autres serveurs WINS d'un réseau afin de synchroniser les données."/>
  <p:tag name="PPWINALREADYSEGMENTED" val="True"/>
  <p:tag name="PPWINTOTALSEGMENTS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4"/>
  <p:tag name="PPWINSEGMENT1SOURCERTF" val="{\rtf1\ansi\deff0{\fonttbl{\f0\fcharset0 Arial Narrow;}}{\colortbl\red0\green0\blue0;}{\f0\fs36\b\cf0 WINS Server A\par}}"/>
  <p:tag name="PPWINSEGMENT1TARGETRTF" val="{\rtf1\ansi\deff1{\fonttbl{\f1\fcharset0 Arial;}{\f2\fcharset0 Arial Narrow;}}{\colortbl\red0\green0\blue0;}{\f2\fs36\b\cf0 Serveur WINS A\par}}"/>
  <p:tag name="PPWINLASTSAVEDTRANSLATION" val="Serveur WINS A"/>
  <p:tag name="PPWINALREADYSEGMENTED" val="True"/>
  <p:tag name="PPWINTOTALSEGMENTS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3"/>
  <p:tag name="PPWINSEGMENT1SOURCERTF" val="{\rtf1\ansi\deff0{\fonttbl{\f0\fcharset0 Arial Narrow;}}{\colortbl\red0\green0\blue0;}{\f0\fs32\b\cf0 Subnet 2\par}}"/>
  <p:tag name="PPWINSEGMENT1TARGETRTF" val="{\rtf1\ansi\deff1{\fonttbl{\f1\fcharset0 Arial;}{\f2\fcharset0 Arial Narrow;}}{\colortbl\red0\green0\blue0;}{\f2\fs32\b\cf0 Sous-r\'E9seau 2\par}}"/>
  <p:tag name="PPWINLASTSAVEDTRANSLATION" val="Sous-réseau 2"/>
  <p:tag name="PPWINALREADYSEGMENTED" val="True"/>
  <p:tag name="PPWINTOTALSEGMENTS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3"/>
  <p:tag name="PPWINSEGMENT1SOURCERTF" val="{\rtf1\ansi\deff0{\fonttbl{\f0\fcharset0 Arial Narrow;}}{\colortbl\red0\green0\blue0;}{\f0\fs32\b\cf0 Subnet 1\par}}"/>
  <p:tag name="PPWINSEGMENT1TARGETRTF" val="{\rtf1\ansi\deff1{\fonttbl{\f1\fcharset0 Arial;}{\f2\fcharset0 Arial Narrow;}}{\colortbl\red0\green0\blue0;}{\f2\fs32\b\cf0 Sous-r\'E9seau 1\par}}"/>
  <p:tag name="PPWINLASTSAVEDTRANSLATION" val="Sous-réseau 1"/>
  <p:tag name="PPWINALREADYSEGMENTED" val="True"/>
  <p:tag name="PPWINTOTALSEGMENTS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4"/>
  <p:tag name="PPWINSEGMENT1SOURCERTF" val="{\rtf1\ansi\deff0{\fonttbl{\f0\fcharset0 Arial Narrow;}}{\colortbl\red0\green0\blue0;}{\f0\fs36\b\cf0 WINS Server B\par}}"/>
  <p:tag name="PPWINSEGMENT1TARGETRTF" val="{\rtf1\ansi\deff1{\fonttbl{\f1\fcharset0 Arial;}{\f2\fcharset0 Arial Narrow;}}{\colortbl\red0\green0\blue0;}{\f2\fs36\b\cf0 Serveur WINS B\par}}"/>
  <p:tag name="PPWINLASTSAVEDTRANSLATION" val="Serveur WINS B"/>
  <p:tag name="PPWINALREADYSEGMENTED" val="True"/>
  <p:tag name="PPWINTOTALSEGMENTS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5"/>
  <p:tag name="PPWINSEGMENT1SOURCERTF" val="{\rtf1\ansi\deff0{\fonttbl{\f0\fcharset0 Arial Narrow;}}{\colortbl\red0\green0\blue0;}{\f0\fs36\b\cf0 HostB\par}}"/>
  <p:tag name="PPWINSEGMENT1TARGETRTF" val="{\rtf1\ansi\deff1{\fonttbl{\f1\fcharset0 Arial;}{\f2\fcharset0 Arial Narrow;}}{\colortbl\red0\green0\blue0;}{\f2\fs36\b\cf0 H\'F4teB\par}}"/>
  <p:tag name="PPWINLASTSAVEDTRANSLATION" val="HôteB"/>
  <p:tag name="PPWINALREADYSEGMENTED" val="True"/>
  <p:tag name="PPWINTOTALSEGMENTS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5"/>
  <p:tag name="PPWINSEGMENT1SOURCERTF" val="{\rtf1\ansi\deff0{\fonttbl{\f0\fcharset0 Arial Narrow;}}{\colortbl\red0\green0\blue0;}{\f0\fs36\b\cf0 HostA\par}}"/>
  <p:tag name="PPWINSEGMENT1TARGETRTF" val="{\rtf1\ansi\deff1{\fonttbl{\f1\fcharset0 Arial;}{\f2\fcharset0 Arial Narrow;}}{\colortbl\red0\green0\blue0;}{\f2\fs36\b\cf0 H\'F4teA\par}}"/>
  <p:tag name="PPWINLASTSAVEDTRANSLATION" val="HôteA"/>
  <p:tag name="PPWINALREADYSEGMENTED" val="True"/>
  <p:tag name="PPWINTOTALSEGMENTS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  <p:tag name="PPWINSEGMENT1START" val="1"/>
  <p:tag name="PPWINSEGMENT1LENGTH" val="16"/>
  <p:tag name="PPWINSEGMENT1SOURCERTF" val="{\rtf1\ansi\deff0{\fonttbl{\f0\fcharset0 Arial Narrow;}}{\colortbl\red0\green0\blue0;}{\f0\fs36\b\cf0 WINS Replication\par}}"/>
  <p:tag name="PPWINSEGMENT1TARGETRTF" val="{\rtf1\ansi\deff1{\fonttbl{\f1\fcharset0 Arial;}{\f2\fcharset0 Arial Narrow;}}{\colortbl\red0\green0\blue0;}{\f2\fs36\b\cf0 R\'E9plication WINS\par}}"/>
  <p:tag name="PPWINLASTSAVEDTRANSLATION" val="Réplication WINS"/>
  <p:tag name="PPWINALREADYSEGMENTED" val="True"/>
  <p:tag name="PPWINTOTALSEGMENTS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5"/>
  <p:tag name="PPWINSEGMENT1SOURCERTF" val="{\rtf1\ansi\deff0{\fonttbl{\f0\fcharset0 Arial Narrow;}}{\colortbl\red0\green0\blue0;}{\f0\fs60\b\cf0 How Push Replication Works\par}}"/>
  <p:tag name="PPWINSEGMENT1TARGETRTF" val="{\rtf1\ansi\deff1{\fonttbl{\f1\fcharset0 Arial;}{\f2\fcharset0 Arial Narrow;}}{\colortbl\red0\green0\blue0;}{\f2\fs60\b\cf0 Fonctionnement de la r\'E9plication par \'E9mission\par}}"/>
  <p:tag name="PPWINLASTSAVEDTRANSLATION" val="Fonctionnement de la réplication par émission"/>
  <p:tag name="PPWINALREADYSEGMENTED" val="True"/>
  <p:tag name="PPWINTOTALSEGMENTS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6"/>
  <p:tag name="PPWINSEGMENT1SOURCERTF" val="{\rtf1\ansi\deff0{\fonttbl{\f0\fcharset0 Arial Narrow;}}{\colortbl\red0\green0\blue0;}{\f0\fs60\b\cf0 How Pull Replication Works\par}}"/>
  <p:tag name="PPWINSEGMENT1TARGETRTF" val="{\rtf1\ansi\deff1{\fonttbl{\f1\fcharset0 Arial;}{\f2\fcharset0 Arial Narrow;}}{\colortbl\red0\green0\blue0;}{\f2\fs60\b\cf0 Fonctionnement de la r\'E9plication par r\'E9ception\par}}"/>
  <p:tag name="PPWINLASTSAVEDTRANSLATION" val="Fonctionnement de la réplication par réception"/>
  <p:tag name="PPWINALREADYSEGMENTED" val="True"/>
  <p:tag name="PPWINTOTALSEGMENTS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0"/>
  <p:tag name="PPWINSEGMENT1SOURCERTF" val="{\rtf1\ansi\deff0{\fonttbl{\f0\fcharset0 Arial Narrow;}}{\colortbl\red0\green0\blue0;}{\f0\fs32\b\cf0 Subnet 2\par}}"/>
  <p:tag name="PPWINSEGMENT1TARGETRTF" val="{\rtf1\ansi\deff1{\fonttbl{\f1\fcharset0 Arial;}{\f2\fcharset0 Arial Narrow;}}{\colortbl\red0\green0\blue0;}{\f2\fs32\b\cf0 Sub-rede 2\par}}"/>
  <p:tag name="PPWINLASTSAVEDTRANSLATION" val="Sub-rede 2"/>
  <p:tag name="PPWINALREADYSEGMENTED" val="True"/>
  <p:tag name="PPWINTOTALSEGMENTS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0"/>
  <p:tag name="PPWINSEGMENT1SOURCERTF" val="{\rtf1\ansi\deff0{\fonttbl{\f0\fcharset0 Arial Narrow;}}{\colortbl\red0\green0\blue0;}{\f0\fs32\b\cf0 Subnet 1\par}}"/>
  <p:tag name="PPWINSEGMENT1TARGETRTF" val="{\rtf1\ansi\deff1{\fonttbl{\f1\fcharset0 Arial;}{\f2\fcharset0 Arial Narrow;}}{\colortbl\red0\green0\blue0;}{\f2\fs32\b\cf0 Sub-rede 1\par}}"/>
  <p:tag name="PPWINLASTSAVEDTRANSLATION" val="Sub-rede 1"/>
  <p:tag name="PPWINALREADYSEGMENTED" val="True"/>
  <p:tag name="PPWINTOTALSEGMENTS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5"/>
  <p:tag name="PPWINSEGMENT1SOURCERTF" val="{\rtf1\ansi\deff0{\fonttbl{\f0\fcharset0 Arial Narrow;}}{\colortbl\red0\green0\blue0;}{\f0\fs32\b\cf0 WINS Server A\par}}"/>
  <p:tag name="PPWINSEGMENT1TARGETRTF" val="{\rtf1\ansi\deff1{\fonttbl{\f1\fcharset0 Arial;}{\f2\fcharset0 Arial Narrow;}}{\colortbl\red0\green0\blue0;}{\f2\fs32\b\cf0 Servidor WINS A\par}}"/>
  <p:tag name="PPWINLASTSAVEDTRANSLATION" val="Servidor WINS A"/>
  <p:tag name="PPWINALREADYSEGMENTED" val="True"/>
  <p:tag name="PPWINTOTALSEGMENTS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5"/>
  <p:tag name="PPWINSEGMENT1SOURCERTF" val="{\rtf1\ansi\deff0{\fonttbl{\f0\fcharset0 Arial Narrow;}}{\colortbl\red0\green0\blue0;}{\f0\fs32\b\cf0 WINS Server B\par}}"/>
  <p:tag name="PPWINSEGMENT1TARGETRTF" val="{\rtf1\ansi\deff1{\fonttbl{\f1\fcharset0 Arial;}{\f2\fcharset0 Arial Narrow;}}{\colortbl\red0\green0\blue0;}{\f2\fs32\b\cf0 Servidor WINS B\par}}"/>
  <p:tag name="PPWINLASTSAVEDTRANSLATION" val="Servidor WINS B"/>
  <p:tag name="PPWINALREADYSEGMENTED" val="True"/>
  <p:tag name="PPWINTOTALSEGMENTS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5"/>
  <p:tag name="PPWINSEGMENT1SOURCERTF" val="{\rtf1\ansi\deff0{\fonttbl{\f0\fcharset0 Arial Narrow;}}{\colortbl\red0\green0\blue0;}{\f0\fs40\b\cf0 A pull partner requests replication based on a set time\par}}"/>
  <p:tag name="PPWINSEGMENT1TARGETRTF" val="{\rtf1\ansi\deff1{\fonttbl{\f1\fcharset0 Arial;}{\f2\fcharset0 Arial Narrow;}}{\colortbl\red0\green0\blue0;}{\f2\fs40\b\cf0 Um parceiro de recep\'E7\'E3o solicita replica\'E7\'E3o com base em um per\'EDodo definido\par}}"/>
  <p:tag name="PPWINSEGMENT2START" val="77"/>
  <p:tag name="PPWINSEGMENT2LENGTH" val="98"/>
  <p:tag name="PPWINSEGMENT2SOURCERTF" val="{\rtf1\ansi\deff0{\fonttbl{\f0\fcharset0 Arial Narrow;}}{\colortbl\red0\green0\blue0;}{\f0\fs40\b\cf0 Pull replication limits frequency of replication traffic across slow links\par}}"/>
  <p:tag name="PPWINSEGMENT2TARGETRTF" val="{\rtf1\ansi\deff1{\fonttbl{\f1\fcharset0 Arial;}{\f2\fcharset0 Arial Narrow;}}{\colortbl\red0\green0\blue0;}{\f2\fs40\b\cf0 A replica\'E7\'E3o de recep\'E7\'E3o limita a freq\'FC\'EAncia do tr\'E1fego de replica\'E7\'E3o em links de baixa velocidade\par}}"/>
  <p:tag name="PPWINLASTSAVEDTRANSLATION" val="Um parceiro de recepção solicita replicação com base em um período definido&#10;A replicação de recepção limita a freqüência do tráfego de replicação em links de baixa velocidade"/>
  <p:tag name="PPWINALREADYSEGMENTED" val="True"/>
  <p:tag name="PPWINTOTALSEGMENTS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  <p:tag name="PPWINSEGMENT1START" val="1"/>
  <p:tag name="PPWINSEGMENT1LENGTH" val="71"/>
  <p:tag name="PPWINSEGMENT1SOURCERTF" val="{\rtf1\ansi\deff0{\fonttbl{\f0\fcharset0 Arial Narrow;}}{\colortbl\red0\green0\blue0;}{\f0\fs36\b\cf0 WINS Server B sends replicas of its new database entries\par}}"/>
  <p:tag name="PPWINSEGMENT1TARGETRTF" val="{\rtf1\ansi\deff1{\fonttbl{\f1\fcharset0 Arial;}{\f2\fcharset0 Arial Narrow;}}{\colortbl\red0\green0\blue0;}{\f2\fs36\b\cf0 Servidor WINS B envia r\'E9plicas das novas entradas de seu banco de dados\par}}"/>
  <p:tag name="PPWINLASTSAVEDTRANSLATION" val="Servidor WINS B envia réplicas das novas entradas de seu banco de dados"/>
  <p:tag name="PPWINALREADYSEGMENTED" val="True"/>
  <p:tag name="PPWINTOTALSEGMENTS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  <p:tag name="PPWINTOTALSEGMENTS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  <p:tag name="PPWINSEGMENT1START" val="1"/>
  <p:tag name="PPWINSEGMENT1LENGTH" val="73"/>
  <p:tag name="PPWINSEGMENT1SOURCERTF" val="{\rtf1\ansi\deff0{\fonttbl{\f0\fcharset0 Arial Narrow;}}{\colortbl\red0\green0\blue0;}{\f0\fs36\b\cf0 WINS Server A requests database changes every 8 hours\par}}"/>
  <p:tag name="PPWINSEGMENT1TARGETRTF" val="{\rtf1\ansi\deff1{\fonttbl{\f1\fcharset0 Arial;}{\f2\fcharset0 Arial Narrow;}}{\colortbl\red0\green0\blue0;}{\f2\fs36\b\cf0 Servidor WINS A solicita altera\'E7\'F5es do banco de dados a cada oito 8 horas\par}}"/>
  <p:tag name="PPWINLASTSAVEDTRANSLATION" val="Servidor WINS A solicita alterações do banco de dados a cada oito 8 horas"/>
  <p:tag name="PPWINALREADYSEGMENTED" val="True"/>
  <p:tag name="PPWINTOTALSEGMENTS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  <p:tag name="PPWINTOTALSEGMENTS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,1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,1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  <p:tag name="PPWINSEGMENT1START" val="1"/>
  <p:tag name="PPWINSEGMENT1LENGTH" val="10"/>
  <p:tag name="PPWINSEGMENT1SOURCERTF" val="{\rtf1\ansi\deff0{\fonttbl{\f0\fcharset0 Arial Narrow;}}{\colortbl\red0\green0\blue0;}{\f0\fs32\b\cf0 Subnet 2\par}}"/>
  <p:tag name="PPWINSEGMENT1TARGETRTF" val="{\rtf1\ansi\deff1{\fonttbl{\f1\fcharset0 Arial;}{\f2\fcharset0 Arial Narrow;}}{\colortbl\red0\green0\blue0;}{\f2\fs32\b\cf0 Sub-rede 2\par}}"/>
  <p:tag name="PPWINLASTSAVEDTRANSLATION" val="Sub-rede 2"/>
  <p:tag name="PPWINALREADYSEGMENTED" val="True"/>
  <p:tag name="PPWINTOTALSEGMENTS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  <p:tag name="PPWINSEGMENT1START" val="1"/>
  <p:tag name="PPWINSEGMENT1LENGTH" val="10"/>
  <p:tag name="PPWINSEGMENT1SOURCERTF" val="{\rtf1\ansi\deff0{\fonttbl{\f0\fcharset0 Arial Narrow;}}{\colortbl\red0\green0\blue0;}{\f0\fs32\b\cf0 Subnet 1\par}}"/>
  <p:tag name="PPWINSEGMENT1TARGETRTF" val="{\rtf1\ansi\deff1{\fonttbl{\f1\fcharset0 Arial;}{\f2\fcharset0 Arial Narrow;}}{\colortbl\red0\green0\blue0;}{\f2\fs32\b\cf0 Sub-rede 1\par}}"/>
  <p:tag name="PPWINLASTSAVEDTRANSLATION" val="Sub-rede 1"/>
  <p:tag name="PPWINALREADYSEGMENTED" val="True"/>
  <p:tag name="PPWINTOTALSEGMENTS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  <p:tag name="PPWINSEGMENT1START" val="1"/>
  <p:tag name="PPWINSEGMENT1LENGTH" val="15"/>
  <p:tag name="PPWINSEGMENT1SOURCERTF" val="{\rtf1\ansi\deff0{\fonttbl{\f0\fcharset0 Arial Narrow;}}{\colortbl\red0\green0\blue0;}{\f0\fs32\b\cf0 WINS Server A\par}}"/>
  <p:tag name="PPWINSEGMENT1TARGETRTF" val="{\rtf1\ansi\deff1{\fonttbl{\f1\fcharset0 Arial;}{\f2\fcharset0 Arial Narrow;}}{\colortbl\red0\green0\blue0;}{\f2\fs32\b\cf0 Servidor WINS A\par}}"/>
  <p:tag name="PPWINLASTSAVEDTRANSLATION" val="Servidor WINS A"/>
  <p:tag name="PPWINALREADYSEGMENTED" val="True"/>
  <p:tag name="PPWINTOTALSEGMENTS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"/>
  <p:tag name="PPWINSEGMENT1START" val="1"/>
  <p:tag name="PPWINSEGMENT1LENGTH" val="15"/>
  <p:tag name="PPWINSEGMENT1SOURCERTF" val="{\rtf1\ansi\deff0{\fonttbl{\f0\fcharset0 Arial Narrow;}}{\colortbl\red0\green0\blue0;}{\f0\fs32\b\cf0 WINS Server B\par}}"/>
  <p:tag name="PPWINSEGMENT1TARGETRTF" val="{\rtf1\ansi\deff1{\fonttbl{\f1\fcharset0 Arial;}{\f2\fcharset0 Arial Narrow;}}{\colortbl\red0\green0\blue0;}{\f2\fs32\b\cf0 Servidor WINS B\par}}"/>
  <p:tag name="PPWINLASTSAVEDTRANSLATION" val="Servidor WINS B"/>
  <p:tag name="PPWINALREADYSEGMENTED" val="True"/>
  <p:tag name="PPWINTOTALSEGMENTS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,15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1,13,15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  <p:tag name="PPWINSEGMENT1START" val="1"/>
  <p:tag name="PPWINSEGMENT1LENGTH" val="41"/>
  <p:tag name="PPWINSEGMENT1SOURCERTF" val="{\rtf1\ansi\deff0{\fonttbl{\f0\fcharset0 Arial Narrow;}}{\colortbl\red0\green0\blue0;}{\f0\fs36\b\cf0 Requests changes every 8 hours\par}}"/>
  <p:tag name="PPWINSEGMENT1TARGETRTF" val="{\rtf1\ansi\deff1{\fonttbl{\f1\fcharset0 Arial;}{\f2\fcharset0 Arial Narrow;}}{\colortbl\red0\green0\blue0;}{\f2\fs36\b\cf0 Solicita\'E7\'F5es de altera\'E7\'F5es a cada 8 horas\par}}"/>
  <p:tag name="PPWINLASTSAVEDTRANSLATION" val="Solicitações de alterações a cada 8 horas"/>
  <p:tag name="PPWINALREADYSEGMENTED" val="True"/>
  <p:tag name="PPWINTOTALSEGMENTS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  <p:tag name="PPWINTOTALSEGMENTS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  <p:tag name="PPWINSEGMENT1START" val="1"/>
  <p:tag name="PPWINSEGMENT1LENGTH" val="17"/>
  <p:tag name="PPWINSEGMENT1SOURCERTF" val="{\rtf1\ansi\deff0{\fonttbl{\f0\fcharset0 Arial Narrow;}}{\colortbl\red0\green0\blue0;}{\f0\fs36\b\cf0 Replicas sent\par}}"/>
  <p:tag name="PPWINSEGMENT1TARGETRTF" val="{\rtf1\ansi\deff1{\fonttbl{\f1\fcharset0 Arial;}{\f2\fcharset0 Arial Narrow;}}{\colortbl\red0\green0\blue0;}{\f2\fs36\b\cf0 R\'E9plicas enviadas\par}}"/>
  <p:tag name="PPWINLASTSAVEDTRANSLATION" val="Réplicas enviadas"/>
  <p:tag name="PPWINALREADYSEGMENTED" val="True"/>
  <p:tag name="PPWINTOTALSEGMENTS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  <p:tag name="PPWINTOTALSEGMENTS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6"/>
  <p:tag name="PPWINSEGMENT1SOURCERTF" val="{\rtf1\ansi\deff0{\fonttbl{\f0\fcharset0 Arial Narrow;}}{\colortbl\red0\green0\blue0;}{\f0\fs48\b\cf0 Push/pull replication effectively ensures that the databases on multiple WINS servers are nearly identical at any given time by:\par}}"/>
  <p:tag name="PPWINLASTSAVEDTRANSLATION" val="La réplication par émission/réception garantit que les bases de données de plusieurs serveurs WINS sont pratiquement identiques à tout moment en :"/>
  <p:tag name="PPWINALREADYSEGMENTED" val="True"/>
  <p:tag name="PPWINTOTALSEGMENTS" val="1"/>
  <p:tag name="PPWINSEGMENT1TARGETRTF" val="{\rtf1\ansi\deff0{\fonttbl{\f0\fcharset0 Arial Narrow;}}{\colortbl\red0\green0\blue0;}{\f0\fs48\b\cf0 La r\'E9plication par \'E9mission/r\'E9ception garantit que les bases de donn\'E9es de plusieurs serveurs WINS sont pratiquement identiques \'E0 tout moment en :\par}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3"/>
  <p:tag name="PPWINSEGMENT1SOURCERTF" val="{\rtf1\ansi\deff0{\fonttbl{\f0\fcharset0 Arial Narrow;}}{\colortbl\red0\green0\blue0;}{\f0\fs60\b\cf0 What Is Push/Pull Replication?\par}}"/>
  <p:tag name="PPWINLASTSAVEDTRANSLATION" val="Présentation de la réplication par émission/réception"/>
  <p:tag name="PPWINALREADYSEGMENTED" val="True"/>
  <p:tag name="PPWINTOTALSEGMENTS" val="1"/>
  <p:tag name="PPWINSEGMENT1TARGETRTF" val="{\rtf1\ansi\deff0{\fonttbl{\f0\fcharset0 Arial Narrow;}}{\colortbl\red0\green0\blue0;}{\f0\fs60\b\cf0 Pr\'E9sentation de la r\'E9plication par \'E9mission/r\'E9ception\par}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11"/>
  <p:tag name="PPWINSEGMENT1SOURCERTF" val="{\rtf1\ansi\deff0{\fonttbl{\f0\fcharset0 Arial Narrow;}}{\colortbl\red0\green0\blue0;}{\f0\fs44\b\cf0 Notifying replication partners whenever the database reaches a set threshold of changes \par}}"/>
  <p:tag name="PPWINSEGMENT1TARGETRTF" val="{\rtf1\ansi\deff1{\fonttbl{\f1\fcharset0 Arial;}{\f2\fcharset0 Arial Narrow;}}{\colortbl\red0\green0\blue0;}{\f2\fs44\b\cf0 Avertissant les partenaires de r\'E9plication lorsque la base de donn\'E9es atteint le seuil des modifications d\'E9fini\par}}"/>
  <p:tag name="PPWINSEGMENT2START" val="125"/>
  <p:tag name="PPWINSEGMENT2LENGTH" val="3"/>
  <p:tag name="PPWINSEGMENT2SOURCERTF" val="{\rtf1\ansi\deff0{\fonttbl{\f0\fcharset0 Arial Narrow;}}{\colortbl\red204\green0\blue0;\red0\green0\blue0;}{\f0\fs64\b\cf0 AND}{\f0\fs44\b\cf1  \par}}"/>
  <p:tag name="PPWINSEGMENT2TARGETRTF" val="{\rtf1\ansi\deff0{\fonttbl{\f0\fcharset0 Arial Narrow;}}{\colortbl\red204\green0\blue0;\red0\green0\blue0;}{\f0\fs64\b\cf0 ET}{\f0\fs44\b\cf1  \par}}"/>
  <p:tag name="PPWINSEGMENT3START" val="129"/>
  <p:tag name="PPWINSEGMENT3LENGTH" val="48"/>
  <p:tag name="PPWINSEGMENT3SOURCERTF" val="{\rtf1\ansi\deff0{\fonttbl{\f0\fcharset0 Arial Narrow;}}{\colortbl\red0\green0\blue0;}{\f0\fs44\b\cf0 Requesting replication based on a set time  \par}}"/>
  <p:tag name="PPWINSEGMENT3TARGETRTF" val="{\rtf1\ansi\deff0{\fonttbl{\f0\fcharset0 Arial Narrow;}}{\colortbl\red0\green0\blue0;}{\f0\fs44\b\cf0 Demandant la r\'E9plication \'E0 intervalles r\'E9guliers\par}}"/>
  <p:tag name="PPWINLASTSAVEDTRANSLATION" val="Avertissant les partenaires de réplication lorsque la base de données atteint le seuil des modifications défini&#10;            ET &#10;Demandant la réplication à intervalles réguliers"/>
  <p:tag name="PPWINALREADYSEGMENTED" val="True"/>
  <p:tag name="PPWINTOTALSEGMENTS" val="3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6"/>
  <p:tag name="PPWINSEGMENT1SOURCERTF" val="{\rtf1\ansi\deff0{\fonttbl{\f0\fcharset0 Arial Narrow;}}{\colortbl\red0\green0\blue0;}{\f0\fs60\b\cf0 WINS Replication Partner Properties\par}}"/>
  <p:tag name="PPWINLASTSAVEDTRANSLATION" val="Propriétés des partenaires de réplication WINS"/>
  <p:tag name="PPWINALREADYSEGMENTED" val="True"/>
  <p:tag name="PPWINTOTALSEGMENTS" val="1"/>
  <p:tag name="PPWINSEGMENT1TARGETRTF" val="{\rtf1\ansi\deff0{\fonttbl{\f0\fcharset0 Arial Narrow;}}{\colortbl\red0\green0\blue0;}{\f0\fs60\b\cf0 Propri\'E9t\'E9s des partenaires de r\'E9plication WINS\par}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2START" val="9"/>
  <p:tag name="PPWINSEGMENT2LENGTH" val="34"/>
  <p:tag name="PPWINSEGMENT2SOURCERTF" val="{\rtf1\ansi\deff0{\fonttbl{\f0\fcharset0 Arial Narrow;}}{\colortbl\red0\green0\blue0;}{\f0\fs60\b\cf0 Managing the WINS Database\par}}"/>
  <p:tag name="PPWINLASTSAVEDTRANSLATION" val="Leçon : Gestion de la base de données WINS"/>
  <p:tag name="PPWINALREADYSEGMENTED" val="True"/>
  <p:tag name="PPWINTOTALSEGMENTS" val="2"/>
  <p:tag name="PPWINSEGMENT1TARGETRTF" val="{\rtf1\ansi\deff0{\fonttbl{\f0\fcharset0 Arial Narrow;}}{\colortbl\red0\green0\blue0;}{\f0\fs60\b\cf0 Le\'E7on :\par}}"/>
  <p:tag name="PPWINSEGMENT2TARGETRTF" val="{\rtf1\ansi\deff0{\fonttbl{\f0\fcharset0 Arial Narrow;}}{\colortbl\red0\green0\blue0;}{\f0\fs60\b\cf0 Gestion de la base de donn\'E9es WINS\par}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7"/>
  <p:tag name="PPWINSEGMENT1SOURCERTF" val="{\rtf1\ansi\deff0{\fonttbl{\f0\fcharset0 Arial Narrow;}}{\colortbl\red0\green0\blue0;}{\f0\fs40\b\cf0 Why Back Up a WINS Database?\par}}"/>
  <p:tag name="PPWINSEGMENT1TARGETRTF" val="{\rtf1\ansi\deff1{\fonttbl{\f1\fcharset0 Arial;}{\f2\fcharset0 Arial Narrow;}}{\colortbl\red0\green0\blue0;}{\f2\fs40\b\cf0 Pourquoi sauvegarder une base de donn\'E9es WINS ?\par}}"/>
  <p:tag name="PPWINSEGMENT2START" val="49"/>
  <p:tag name="PPWINSEGMENT2LENGTH" val="57"/>
  <p:tag name="PPWINSEGMENT2SOURCERTF" val="{\rtf1\ansi\deff0{\fonttbl{\f0\fcharset0 Arial Narrow;}}{\colortbl\red0\green0\blue0;}{\f0\fs40\b\cf0 How to Back Up and Restore a WINS Database\par}}"/>
  <p:tag name="PPWINSEGMENT2TARGETRTF" val="{\rtf1\ansi\deff0{\fonttbl{\f0\fcharset0 Arial Narrow;}}{\colortbl\red0\green0\blue0;}{\f0\fs40\b\cf0 Comment sauvegarder et restaurer une base de donn\'E9es WINS\par}}"/>
  <p:tag name="PPWINSEGMENT3START" val="107"/>
  <p:tag name="PPWINSEGMENT3LENGTH" val="78"/>
  <p:tag name="PPWINSEGMENT3SOURCERTF" val="{\rtf1\ansi\deff0{\fonttbl{\f0\fcharset0 Arial Narrow;}}{\colortbl\red0\green0\blue0;}{\f0\fs40\b\cf0 What Are Simple Deletion and Tombstoned Deletion of Records?\par}}"/>
  <p:tag name="PPWINSEGMENT3TARGETRTF" val="{\rtf1\ansi\deff0{\fonttbl{\f0\fcharset0 Arial Narrow;}}{\colortbl\red0\green0\blue0;}{\f0\fs40\b\cf0 Pr\'E9sentation de la suppression simple et de la d\'E9sactivation d'enregistrements\par}}"/>
  <p:tag name="PPWINSEGMENT4START" val="186"/>
  <p:tag name="PPWINSEGMENT4LENGTH" val="40"/>
  <p:tag name="PPWINSEGMENT4SOURCERTF" val="{\rtf1\ansi\deff0{\fonttbl{\f0\fcharset0 Arial Narrow;}}{\colortbl\red0\green0\blue0;}{\f0\fs40\b\cf0 How to Delete a WINS Record\par}}"/>
  <p:tag name="PPWINSEGMENT4TARGETRTF" val="{\rtf1\ansi\deff0{\fonttbl{\f0\fcharset0 Arial Narrow;}}{\colortbl\red0\green0\blue0;}{\f0\fs40\b\cf0 Comment supprimer un enregistrement WINS\par}}"/>
  <p:tag name="PPWINSEGMENT5START" val="227"/>
  <p:tag name="PPWINSEGMENT5LENGTH" val="68"/>
  <p:tag name="PPWINSEGMENT5SOURCERTF" val="{\rtf1\ansi\deff0{\fonttbl{\f0\fcharset0 Arial Narrow;}}{\colortbl\red0\green0\blue0;}{\f0\fs40\b\cf0 What Are Dynamic and Offline Compacting?\par}}"/>
  <p:tag name="PPWINSEGMENT5TARGETRTF" val="{\rtf1\ansi\deff0{\fonttbl{\f0\fcharset0 Arial Narrow;}}{\colortbl\red0\green0\blue0;}{\f0\fs40\b\cf0 Pr\'E9sentation du compactage dynamique et du compactage hors connexion\par}}"/>
  <p:tag name="PPWINSEGMENT6START" val="296"/>
  <p:tag name="PPWINSEGMENT6LENGTH" val="42"/>
  <p:tag name="PPWINSEGMENT6SOURCERTF" val="{\rtf1\ansi\deff0{\fonttbl{\f0\fcharset0 Arial Narrow;}}{\colortbl\red0\green0\blue0;}{\f0\fs40\b\cf0 How to Compact a WINS Database\par}}"/>
  <p:tag name="PPWINSEGMENT6TARGETRTF" val="{\rtf1\ansi\deff0{\fonttbl{\f0\fcharset0 Arial Narrow;}}{\colortbl\red0\green0\blue0;}{\f0\fs40\b\cf0 Comment compacter une base de donn\'E9es WINS\par}}"/>
  <p:tag name="PPWINSEGMENT7START" val="339"/>
  <p:tag name="PPWINSEGMENT7LENGTH" val="31"/>
  <p:tag name="PPWINSEGMENT7SOURCERTF" val="{\rtf1\ansi\deff0{\fonttbl{\f0\fcharset0 Arial Narrow;}}{\colortbl\red0\green0\blue0;}{\f0\fs40\b\cf0 How Scavenging Works\par}}"/>
  <p:tag name="PPWINSEGMENT7TARGETRTF" val="{\rtf1\ansi\deff0{\fonttbl{\f0\fcharset0 Arial Narrow;}}{\colortbl\red0\green0\blue0;}{\f0\fs40\b\cf0 Comment fonctionne le nettoyage\par}}"/>
  <p:tag name="PPWINSEGMENT8START" val="371"/>
  <p:tag name="PPWINSEGMENT8LENGTH" val="41"/>
  <p:tag name="PPWINSEGMENT8SOURCERTF" val="{\rtf1\ansi\deff0{\fonttbl{\f0\fcharset0 Arial Narrow;}}{\colortbl\red0\green0\blue0;}{\f0\fs40\b\cf0 How to Scavenge a WINS Database\par}}"/>
  <p:tag name="PPWINSEGMENT8TARGETRTF" val="{\rtf1\ansi\deff0{\fonttbl{\f0\fcharset0 Arial Narrow;}}{\colortbl\red0\green0\blue0;}{\f0\fs40\b\cf0 Comment nettoyer une base de donn\'E9es WINS\par}}"/>
  <p:tag name="PPWINSEGMENT9START" val="413"/>
  <p:tag name="PPWINSEGMENT9LENGTH" val="74"/>
  <p:tag name="PPWINSEGMENT9SOURCERTF" val="{\rtf1\ansi\deff0{\fonttbl{\f0\fcharset0 Arial Narrow;}}{\colortbl\red0\green0\blue0;}{\f0\fs40\b\cf0 How a WINS Database Is Checked for Consistency\par}}"/>
  <p:tag name="PPWINSEGMENT9TARGETRTF" val="{\rtf1\ansi\deff0{\fonttbl{\f0\fcharset0 Arial Narrow;}}{\colortbl\red0\green0\blue0;}{\f0\fs40\b\cf0 Pr\'E9sentation de la v\'E9rification de la coh\'E9rence d'une base de donn\'E9es WINS\par}}"/>
  <p:tag name="PPWINSEGMENT10START" val="488"/>
  <p:tag name="PPWINSEGMENT10LENGTH" val="56"/>
  <p:tag name="PPWINSEGMENT10SOURCERTF" val="{\rtf1\ansi\deff0{\fonttbl{\f0\fcharset0 Arial Narrow;}}{\colortbl\red0\green0\blue0;}{\f0\fs40\b\cf0 How to Check for Consistency on a WINS Database\par}}"/>
  <p:tag name="PPWINSEGMENT10TARGETRTF" val="{\rtf1\ansi\deff0{\fonttbl{\f0\fcharset0 Arial Narrow;}}{\colortbl\red0\green0\blue0;}{\f0\fs40\b\cf0 Comment v\'E9rifier la coh\'E9rence d'une base de donn\'E9es WINS\par}}"/>
  <p:tag name="PPWINSEGMENT11START" val="545"/>
  <p:tag name="PPWINSEGMENT11LENGTH" val="52"/>
  <p:tag name="PPWINSEGMENT11SOURCERTF" val="{\rtf1\ansi\deff0{\fonttbl{\f0\fcharset0 Arial Narrow;}}{\colortbl\red0\green0\blue0;}{\f0\fs40\b\cf0 Guidelines for Decommissioning a WINS Server\par}}"/>
  <p:tag name="PPWINSEGMENT11TARGETRTF" val="{\rtf1\ansi\deff0{\fonttbl{\f0\fcharset0 Arial Narrow;}}{\colortbl\red0\green0\blue0;}{\f0\fs40\b\cf0 Instructions concernant le retrait d'un serveur WINS\par}}"/>
  <p:tag name="PPWINSEGMENT12START" val="598"/>
  <p:tag name="PPWINSEGMENT12LENGTH" val="31"/>
  <p:tag name="PPWINSEGMENT12SOURCERTF" val="{\rtf1\ansi\deff0{\fonttbl{\f0\fcharset0 Arial Narrow;}}{\colortbl\red0\green0\blue0;}{\f0\fs40\b\cf0 How to Decommission a WINS Server\par}}"/>
  <p:tag name="PPWINSEGMENT12TARGETRTF" val="{\rtf1\ansi\deff0{\fonttbl{\f0\fcharset0 Arial Narrow;}}{\colortbl\red0\green0\blue0;}{\f0\fs40\b\cf0 Comment retirer un serveur WINS\par}}"/>
  <p:tag name="PPWINLASTSAVEDTRANSLATION" val="Pourquoi sauvegarder une base de données WINS ?&#10;Comment sauvegarder et restaurer une base de données WINS&#10;Présentation de la suppression simple et de la désactivation d'enregistrements&#10;Comment supprimer un enregistrement WINS&#10;Présentation du compactage dynamique et du compactage hors connexion&#10;Comment compacter une base de données WINS&#10;Comment fonctionne le nettoyage&#10;Comment nettoyer une base de données WINS&#10;Présentation de la vérification de la cohérence d'une base de données WINS&#10;Comment vérifier la cohérence d'une base de données WINS&#10;Instructions concernant le retrait d'un serveur WINS&#10;Comment retirer un serveur WINS"/>
  <p:tag name="PPWINALREADYSEGMENTED" val="True"/>
  <p:tag name="PPWINTOTALSEGMENTS" val="1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98"/>
  <p:tag name="PPWINSEGMENT1SOURCERTF" val="{\rtf1\ansi\deff0{\fonttbl{\f0\fcharset0 Arial Narrow;}}{\colortbl\red0\green0\blue0;}{\f0\fs48\b\cf0 To repair a corrupt WINS database, you can                             back up and then restore a WINS database\par}}"/>
  <p:tag name="PPWINSEGMENT1TARGETRTF" val="{\rtf1\ansi\deff1{\fonttbl{\f1\fcharset0 Arial;}{\f2\fcharset0 Times New Roman;}{\f3\fcharset0 Arial Narrow;}}{\colortbl\red0\green0\blue0;}{\f3\fs48\b\cf0 Pour r\'E9parer une base de donn\'E9es WINS alt\'E9r\'E9e, vous pouvez la restaurer \'E0 partir d'une sauvegarde.}{\f2\fs48\b\cf0 \par}}"/>
  <p:tag name="PPWINLASTSAVEDTRANSLATION" val="Pour réparer une base de données WINS altérée, vous pouvez la restaurer à partir d'une sauvegarde."/>
  <p:tag name="PPWINALREADYSEGMENTED" val="True"/>
  <p:tag name="PPWINTOTALSEGMENTS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7"/>
  <p:tag name="PPWINSEGMENT1SOURCERTF" val="{\rtf1\ansi\deff0{\fonttbl{\f0\fcharset0 Arial Narrow;}}{\colortbl\red0\green0\blue0;}{\f0\fs60\b\cf0 Why Back Up a WINS Database?\par}}"/>
  <p:tag name="PPWINLASTSAVEDTRANSLATION" val="Pourquoi sauvegarder une base de données WINS ?"/>
  <p:tag name="PPWINALREADYSEGMENTED" val="True"/>
  <p:tag name="PPWINTOTALSEGMENTS" val="1"/>
  <p:tag name="PPWINSEGMENT1TARGETRTF" val="{\rtf1\ansi\deff0{\fonttbl{\f0\fcharset0 Arial Narrow;}}{\colortbl\red0\green0\blue0;}{\f0\fs60\b\cf0 Pourquoi sauvegarder une base de donn\'E9es WINS ?\par}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3"/>
  <p:tag name="PPWINSEGMENT1SOURCERTF" val="{\rtf1\ansi\deff0{\fonttbl{\f0\fcharset0 Arial Narrow;}}{\colortbl\red0\green0\blue0;}{\f0\fs48\b\cf0 To back up a WINS database :\par}}"/>
  <p:tag name="PPWINSEGMENT2START" val="48"/>
  <p:tag name="PPWINSEGMENT2LENGTH" val="41"/>
  <p:tag name="PPWINSEGMENT2SOURCERTF" val="{\rtf1\ansi\deff0{\fonttbl{\f0\fcharset0 Arial Narrow;}}{\colortbl\red0\green0\blue0;}{\f0\fs48\b\cf0 To restore a WINS database:\par}}"/>
  <p:tag name="PPWINLASTSAVEDTRANSLATION" val="Pour sauvegarder une base de données WINS :&#10;&#10;&#10;&#10;Pour restaurer une base de données WINS :&#10;&#10;"/>
  <p:tag name="PPWINALREADYSEGMENTED" val="True"/>
  <p:tag name="PPWINTOTALSEGMENTS" val="2"/>
  <p:tag name="PPWINSEGMENT1TARGETRTF" val="{\rtf1\ansi\deff0{\fonttbl{\f0\fcharset0 Arial Narrow;}}{\colortbl\red0\green0\blue0;}{\f0\fs48\b\cf0 Pour sauvegarder une base de donn\'E9es WINS :\par}}"/>
  <p:tag name="PPWINSEGMENT2TARGETRTF" val="{\rtf1\ansi\deff0{\fonttbl{\f0\fcharset0 Arial Narrow;}}{\colortbl\red0\green0\blue0;}{\f0\fs48\b\cf0 Pour restaurer une base de donn\'E9es WINS :\par}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7"/>
  <p:tag name="PPWINSEGMENT1SOURCERTF" val="{\rtf1\ansi\deff0{\fonttbl{\f0\fcharset0 Arial Narrow;}}{\colortbl\red0\green0\blue0;}{\f0\fs44\b\cf0 Specify a backup directory\par}}"/>
  <p:tag name="PPWINSEGMENT2START" val="39"/>
  <p:tag name="PPWINSEGMENT2LENGTH" val="76"/>
  <p:tag name="PPWINSEGMENT2SOURCERTF" val="{\rtf1\ansi\deff0{\fonttbl{\f0\fcharset0 Arial Narrow;}}{\colortbl\red0\green0\blue0;}{\f0\fs44\b\cf0 Back up manually or configure automatic backups                                                  \par}}"/>
  <p:tag name="PPWINLASTSAVEDTRANSLATION" val="Spécifier un répertoire de sauvegarde&#10;Effectuer une sauvegarde manuelle ou configurer des sauvegardes automatiques"/>
  <p:tag name="PPWINALREADYSEGMENTED" val="True"/>
  <p:tag name="PPWINTOTALSEGMENTS" val="2"/>
  <p:tag name="PPWINSEGMENT1TARGETRTF" val="{\rtf1\ansi\deff0{\fonttbl{\f0\fcharset0 Arial Narrow;}}{\colortbl\red0\green0\blue0;}{\f0\fs44\b\cf0 Sp\'E9cifier un r\'E9pertoire de sauvegarde\par}}"/>
  <p:tag name="PPWINSEGMENT2TARGETRTF" val="{\rtf1\ansi\deff0{\fonttbl{\f0\fcharset0 Arial Narrow;}}{\colortbl\red0\green0\blue0;}{\f0\fs44\b\cf0 Effectuer une sauvegarde manuelle ou configurer des sauvegardes automatiques\par}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7"/>
  <p:tag name="PPWINSEGMENT1SOURCERTF" val="{\rtf1\ansi\deff0{\fonttbl{\f0\fcharset0 Arial Narrow;}}{\colortbl\red0\green0\blue0;}{\f0\fs44\b\cf0 Manually delete and restore database files                                                  \par}}"/>
  <p:tag name="PPWINLASTSAVEDTRANSLATION" val="Supprimer et restaurer manuellement les fichiers de base de données"/>
  <p:tag name="PPWINALREADYSEGMENTED" val="True"/>
  <p:tag name="PPWINTOTALSEGMENTS" val="1"/>
  <p:tag name="PPWINSEGMENT1TARGETRTF" val="{\rtf1\ansi\deff0{\fonttbl{\f0\fcharset0 Arial Narrow;}}{\colortbl\red0\green0\blue0;}{\f0\fs44\b\cf0 Supprimer et restaurer manuellement les fichiers de base de donn\'E9es\par}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7"/>
  <p:tag name="PPWINSEGMENT1SOURCERTF" val="{\rtf1\ansi\deff0{\fonttbl{\f0\fcharset0 Arial Narrow;}}{\colortbl\red0\green0\blue0;}{\f0\fs60\b\cf0 How to Back Up and Restore a WINS Database\par}}"/>
  <p:tag name="PPWINSEGMENT1TARGETRTF" val="{\rtf1\ansi\deff1{\fonttbl{\f1\fcharset0 Arial;}{\f2\fcharset0 Arial Narrow;}}{\colortbl\red0\green0\blue0;}{\f2\fs60\b\cf0 Comment sauvegarder et restaurer une base de donn\'E9es WINS\par}}"/>
  <p:tag name="PPWINLASTSAVEDTRANSLATION" val="Comment sauvegarder et restaurer une base de données WINS"/>
  <p:tag name="PPWINALREADYSEGMENTED" val="True"/>
  <p:tag name="PPWINTOTALSEGMENTS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6"/>
  <p:tag name="PPWINSEGMENT1SOURCERTF" val="{\rtf1\ansi\deff0{\fonttbl{\f0\fcharset0 Arial Narrow;}}{\colortbl\red0\green0\blue0;}{\f0\fs44\b\cf0 Specify a back up directory for the WINS database \par}}"/>
  <p:tag name="PPWINSEGMENT1TARGETRTF" val="{\rtf1\ansi\deff1{\fonttbl{\f1\fcharset0 Arial;}{\f2\fcharset0 Arial Narrow;}}{\colortbl\red0\green0\blue0;}{\f2\fs44\b\cf0 Sp\'E9cifier un r\'E9pertoire de sauvegarde pour la base de donn\'E9es WINS\par}}"/>
  <p:tag name="PPWINSEGMENT2START" val="68"/>
  <p:tag name="PPWINSEGMENT2LENGTH" val="49"/>
  <p:tag name="PPWINSEGMENT2SOURCERTF" val="{\rtf1\ansi\deff0{\fonttbl{\f0\fcharset0 Arial Narrow;}}{\colortbl\red0\green0\blue0;}{\f0\fs44\b\cf0 Manually back up a WINS database\par}}"/>
  <p:tag name="PPWINSEGMENT2TARGETRTF" val="{\rtf1\ansi\deff1{\fonttbl{\f1\fcharset0 Arial;}{\f2\fcharset0 Arial Narrow;}}{\colortbl\red0\green0\blue0;}{\f2\fs44\b\cf0 Sauvegarder manuellement une base de donn\'E9es WINS\par}}"/>
  <p:tag name="PPWINSEGMENT3START" val="118"/>
  <p:tag name="PPWINSEGMENT3LENGTH" val="69"/>
  <p:tag name="PPWINSEGMENT3SOURCERTF" val="{\rtf1\ansi\deff0{\fonttbl{\f0\fcharset0 Arial Narrow;}}{\colortbl\red0\green0\blue0;}{\f0\fs44\b\cf0 Restore a WINS database from a recent backup\par}}"/>
  <p:tag name="PPWINSEGMENT3TARGETRTF" val="{\rtf1\ansi\deff1{\fonttbl{\f1\fcharset0 Arial;}{\f2\fcharset0 Arial Narrow;}}{\colortbl\red0\green0\blue0;}{\f2\fs44\b\cf0 Restaurer une base de donn\'E9es WINS \'E0 partir de la derni\'E8re sauvegarde\par}}"/>
  <p:tag name="PPWINLASTSAVEDTRANSLATION" val="Spécifier un répertoire de sauvegarde pour la base de données WINS&#10;Sauvegarder manuellement une base de données WINS&#10;Restaurer une base de données WINS à partir de la dernière sauvegarde"/>
  <p:tag name="PPWINALREADYSEGMENTED" val="True"/>
  <p:tag name="PPWINTOTALSEGMENTS" val="3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8"/>
  <p:tag name="PPWINSEGMENT1SOURCERTF" val="{\rtf1\ansi\deff0{\fonttbl{\f0\fcharset0 Arial Narrow;}}{\colortbl\red0\green0\blue0;}{\f0\fs52\b\cf0 What Are Simple Deletion and Tombstoned Deletion of Records?\par}}"/>
  <p:tag name="PPWINSEGMENT1TARGETRTF" val="{\rtf1\ansi\deff1{\fonttbl{\f1\fcharset0 Arial;}{\f2\fcharset0 Arial Narrow;}}{\colortbl\red0\green0\blue0;}{\f2\fs52\b\cf0 Pr\'E9sentation de la suppression simple et de la d\'E9sactivation d'enregistrements\par}}"/>
  <p:tag name="PPWINLASTSAVEDTRANSLATION" val="Présentation de la suppression simple et de la désactivation d'enregistrements"/>
  <p:tag name="PPWINALREADYSEGMENTED" val="True"/>
  <p:tag name="PPWINTOTALSEGMENTS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74"/>
  <p:tag name="PPWINSEGMENT1SOURCERTF" val="{\rtf1\ansi\deff0{\fonttbl{\f0\fcharset0 Arial Narrow;}}{\colortbl\red0\green0\blue0;}{\f0\fs48\b\cf0 To recover unused space that obsolete records occupy, you can update the WINS database by:\par}}"/>
  <p:tag name="PPWINSEGMENT1TARGETRTF" val="{\rtf1\ansi\deff1{\fonttbl{\f1\fcharset0 Arial;}{\f2\fcharset0 Arial Narrow;}}{\colortbl\red0\green0\blue0;}{\f2\fs48\b\cf0 Pour r\'E9cup\'E9rer de l'espace non utilis\'E9, occup\'E9 par des enregistrements obsol\'E8tes, vous pouvez mettre \'E0 jour la base de donn\'E9es WINS en effectuant l'une des t\'E2ches suivantes :\par}}"/>
  <p:tag name="PPWINLASTSAVEDTRANSLATION" val="Pour récupérer de l'espace non utilisé, occupé par des enregistrements obsolètes, vous pouvez mettre à jour la base de données WINS en effectuant l'une des tâches suivantes :&#10;"/>
  <p:tag name="PPWINALREADYSEGMENTED" val="True"/>
  <p:tag name="PPWINTOTALSEGMENTS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9"/>
  <p:tag name="PPWINSEGMENT1SOURCERTF" val="{\rtf1\ansi\deff0{\fonttbl{\f0\fcharset0 Arial Narrow;}}{\colortbl\red0\green0\blue0;}{\f0\fs44\b\cf0 Simple deletion.\par}}"/>
  <p:tag name="PPWINSEGMENT1TARGETRTF" val="{\rtf1\ansi\deff1{\fonttbl{\f1\fcharset0 Arial;}{\f2\fcharset0 Arial Narrow;}}{\colortbl\red0\green0\blue0;}{\f2\fs44\b\cf0 Suppression simple.\par}}"/>
  <p:tag name="PPWINSEGMENT2START" val="21"/>
  <p:tag name="PPWINSEGMENT2LENGTH" val="97"/>
  <p:tag name="PPWINSEGMENT2SOURCERTF" val="{\rtf1\ansi\deff0{\fonttbl{\f0\fcharset0 Arial Narrow;}}{\colortbl\red0\green0\blue0;}{\f0\fs44\cf0 Records selected by using the WINS console are removed from the current local WINS server\par}}"/>
  <p:tag name="PPWINSEGMENT2TARGETRTF" val="{\rtf1\ansi\deff1{\fonttbl{\f1\fcharset0 Arial;}{\f2\fcharset0 Arial Narrow;}}{\colortbl\red0\green0\blue0;}{\f2\fs44\cf0 Les enregistrements s\'E9lectionn\'E9s \'E0 l'aide de la console WINS sont supprim\'E9s du serveur WINS local\par}}"/>
  <p:tag name="PPWINSEGMENT3START" val="119"/>
  <p:tag name="PPWINSEGMENT3LENGTH" val="14"/>
  <p:tag name="PPWINSEGMENT3SOURCERTF" val="{\rtf1\ansi\deff0{\fonttbl{\f0\fcharset0 Arial Narrow;}}{\colortbl\red0\green0\blue0;}{\f0\fs44\b\cf0 Tombstoned deletion}{\f0\fs44\cf0 .\par}}"/>
  <p:tag name="PPWINSEGMENT3TARGETRTF" val="{\rtf1\ansi\deff1{\fonttbl{\f1\fcharset0 Arial;}{\f2\fcharset0 Arial Narrow;}}{\colortbl\red0\green0\blue0;}{\f2\fs44\b\cf0 D\'E9sactivation}{\f2\fs44\cf0 .\par}}"/>
  <p:tag name="PPWINSEGMENT4START" val="134"/>
  <p:tag name="PPWINSEGMENT4LENGTH" val="129"/>
  <p:tag name="PPWINSEGMENT4SOURCERTF" val="{\rtf1\ansi\deff0{\fonttbl{\f0\fcharset0 Arial Narrow;}}{\colortbl\red0\green0\blue0;}{\f0\fs44\cf0 Records are marked for deletion, replicated to other WINS servers, and then removed during the next scavenging operation\par}}"/>
  <p:tag name="PPWINSEGMENT4TARGETRTF" val="{\rtf1\ansi\deff1{\fonttbl{\f1\fcharset0 Arial;}{\f2\fcharset0 Arial Narrow;}}{\colortbl\red0\green0\blue0;}{\f2\fs44\cf0 Les enregistrements sont marqu\'E9s pour suppression, r\'E9pliqu\'E9s sur d'autres serveurs WINS, puis supprim\'E9s lors du nettoyage suivant\par}}"/>
  <p:tag name="PPWINLASTSAVEDTRANSLATION" val="Suppression simple. Les enregistrements sélectionnés à l'aide de la console WINS sont supprimés du serveur WINS local&#10;Désactivation. Les enregistrements sont marqués pour suppression, répliqués sur d'autres serveurs WINS, puis supprimés lors du nettoyage suivant"/>
  <p:tag name="PPWINALREADYSEGMENTED" val="True"/>
  <p:tag name="PPWINTOTALSEGMENTS" val="4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0"/>
  <p:tag name="PPWINSEGMENT1SOURCERTF" val="{\rtf1\ansi\deff0{\fonttbl{\f0\fcharset0 Arial Narrow;}}{\colortbl\red0\green0\blue0;}{\f0\fs60\b\cf0 How to Delete a WINS Record\par}}"/>
  <p:tag name="PPWINSEGMENT1TARGETRTF" val="{\rtf1\ansi\deff1{\fonttbl{\f1\fcharset0 Arial;}{\f2\fcharset0 Arial Narrow;}}{\colortbl\red0\green0\blue0;}{\f2\fs60\b\cf0 Comment supprimer un enregistrement WINS\par}}"/>
  <p:tag name="PPWINLASTSAVEDTRANSLATION" val="Comment supprimer un enregistrement WINS"/>
  <p:tag name="PPWINALREADYSEGMENTED" val="True"/>
  <p:tag name="PPWINTOTALSEGMENTS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1"/>
  <p:tag name="PPWINSEGMENT1SOURCERTF" val="{\rtf1\ansi\deff0{\fonttbl{\f0\fcharset0 Arial Narrow;}}{\colortbl\red0\green0\blue0;}{\f0\fs48\b\cf0 Your instructor will demonstrate how to delete a WINS record\par}}"/>
  <p:tag name="PPWINSEGMENT1TARGETRTF" val="{\rtf1\ansi\deff1{\fonttbl{\f1\fcharset0 Arial;}{\f2\fcharset0 Arial Narrow;}}{\colortbl\red0\green0\blue0;}{\f2\fs48\b\cf0 L'instructeur va vous montrer comment supprimer un enregistrement WINS.\par}}"/>
  <p:tag name="PPWINLASTSAVEDTRANSLATION" val="L'instructeur va vous montrer comment supprimer un enregistrement WINS."/>
  <p:tag name="PPWINALREADYSEGMENTED" val="True"/>
  <p:tag name="PPWINTOTALSEGMENTS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8"/>
  <p:tag name="PPWINSEGMENT1SOURCERTF" val="{\rtf1\ansi\deff0{\fonttbl{\f0\fcharset0 Arial Narrow;}}{\colortbl\red0\green0\blue0;}{\f0\fs60\b\cf0 What Are Dynamic and Offline Compacting?\par}}"/>
  <p:tag name="PPWINSEGMENT1TARGETRTF" val="{\rtf1\ansi\deff1{\fonttbl{\f1\fcharset0 Arial;}{\f2\fcharset0 Arial Narrow;}}{\colortbl\red0\green0\blue0;}{\f2\fs60\b\cf0 Pr\'E9sentation du compactage dynamique et du compactage hors connexion\par}}"/>
  <p:tag name="PPWINLASTSAVEDTRANSLATION" val="Présentation du compactage dynamique et du compactage hors connexion"/>
  <p:tag name="PPWINALREADYSEGMENTED" val="True"/>
  <p:tag name="PPWINTOTALSEGMENTS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9"/>
  <p:tag name="PPWINSEGMENT1SOURCERTF" val="{\rtf1\ansi\deff0{\fonttbl{\f0\fcharset0 Arial Narrow;}}{\colortbl\red0\green0\blue0;}{\f0\fs48\b\cf0 Maintain WINS database integrity by using:\par}}"/>
  <p:tag name="PPWINSEGMENT1TARGETRTF" val="{\rtf1\ansi\deff1{\fonttbl{\f1\fcharset0 Arial;}{\f2\fcharset0 Arial Narrow;}}{\colortbl\red0\green0\blue0;}{\f2\fs48\b\cf0 Conserver l'int\'E9grit\'E9 de la base de donn\'E9es WINS gr\'E2ce au :\par}}"/>
  <p:tag name="PPWINLASTSAVEDTRANSLATION" val="Conserver l'intégrité de la base de données WINS grâce au :&#10;"/>
  <p:tag name="PPWINALREADYSEGMENTED" val="True"/>
  <p:tag name="PPWINTOTALSEGMENTS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1"/>
  <p:tag name="PPWINSEGMENT1SOURCERTF" val="{\rtf1\ansi\deff0{\fonttbl{\f0\fcharset0 Arial Narrow;}}{\colortbl\red0\green0\blue0;}{\f0\fs44\b\cf0 Dynamic compacting}{\f0\fs44\cf0 .\par}}"/>
  <p:tag name="PPWINSEGMENT1TARGETRTF" val="{\rtf1\ansi\deff1{\fonttbl{\f1\fcharset0 Arial;}{\f2\fcharset0 Arial Narrow;}}{\colortbl\red0\green0\blue0;}{\f2\fs44\b\cf0 Compactage dynamique}{\f2\fs44\cf0 .\par}}"/>
  <p:tag name="PPWINSEGMENT2START" val="23"/>
  <p:tag name="PPWINSEGMENT2LENGTH" val="80"/>
  <p:tag name="PPWINSEGMENT2SOURCERTF" val="{\rtf1\ansi\deff0{\fonttbl{\f0\fcharset0 Arial Narrow;}}{\colortbl\red0\green0\blue0;}{\f0\fs44\cf0 Automatically occurs while the database is in use\par}}"/>
  <p:tag name="PPWINSEGMENT2TARGETRTF" val="{\rtf1\ansi\deff1{\fonttbl{\f1\fcharset0 Arial;}{\f2\fcharset0 Arial Narrow;}}{\colortbl\red0\green0\blue0;}{\f2\fs44\cf0 S'effectue automatiquement lorsque la base de donn\'E9es est en cours d'utilisation\par}}"/>
  <p:tag name="PPWINSEGMENT3START" val="104"/>
  <p:tag name="PPWINSEGMENT3LENGTH" val="26"/>
  <p:tag name="PPWINSEGMENT3SOURCERTF" val="{\rtf1\ansi\deff0{\fonttbl{\f0\fcharset0 Arial Narrow;}}{\colortbl\red0\green0\blue0;}{\f0\fs44\b\cf0 Offline compacting}{\f0\fs44\cf0 .\par}}"/>
  <p:tag name="PPWINSEGMENT3TARGETRTF" val="{\rtf1\ansi\deff1{\fonttbl{\f1\fcharset0 Arial;}{\f2\fcharset0 Arial Narrow;}}{\colortbl\red0\green0\blue0;}{\f2\fs44\b\cf0 Compactage hors connexion}{\f2\fs44\cf0 .\par}}"/>
  <p:tag name="PPWINSEGMENT4START" val="131"/>
  <p:tag name="PPWINSEGMENT4LENGTH" val="69"/>
  <p:tag name="PPWINSEGMENT4SOURCERTF" val="{\rtf1\ansi\deff0{\fonttbl{\f0\fcharset0 Arial Narrow;}}{\colortbl\red0\green0\blue0;}{\f0\fs44\cf0 Administrator stops the WINS server and uses the }{\f0\fs44\b\cf0 jetpak}{\f0\fs44\cf0  command\par}}"/>
  <p:tag name="PPWINSEGMENT4TARGETRTF" val="{\rtf1\ansi\deff1{\fonttbl{\f1\fcharset0 Arial;}{\f2\fcharset0 Arial Narrow;}}{\colortbl\red0\green0\blue0;}{\f2\fs44\cf0 L'administrateur arr\'EAte le serveur WINS et utilise la commande }{\f2\fs44\b\cf0 jetpak\par}}"/>
  <p:tag name="PPWINLASTSAVEDTRANSLATION" val="Compactage dynamique. S'effectue automatiquement lorsque la base de données est en cours d'utilisation&#10;Compactage hors connexion. L'administrateur arrête le serveur WINS et utilise la commande jetpak"/>
  <p:tag name="PPWINALREADYSEGMENTED" val="True"/>
  <p:tag name="PPWINTOTALSEGMENTS" val="4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0"/>
  <p:tag name="PPWINSEGMENT1SOURCERTF" val="{\rtf1\ansi\deff0{\fonttbl{\f0\fcharset0 Arial Narrow;}}{\colortbl\red0\green0\blue0;}{\f0\fs48\b\i\cf0 Compacting}{\f0\fs48\b\cf0  is the process of recovering unused space in a WINS database that is occupied by obsolete records\par}}"/>
  <p:tag name="PPWINSEGMENT1TARGETRTF" val="{\rtf1\ansi\deff1{\fonttbl{\f1\fcharset0 Arial;}{\f2\fcharset0 Arial Narrow;}}{\colortbl\red0\green0\blue0;}{\f2\fs48\b\cf0 Le }{\f2\fs48\b\i\cf0 compactage}{\f2\fs48\b\cf0  est le processus de r\'E9cup\'E9ration de l'espace non utilis\'E9 d'une base de donn\'E9es WINS, occup\'E9 par des enregistrements obsol\'E8tes.\par}}"/>
  <p:tag name="PPWINLASTSAVEDTRANSLATION" val="Le compactage est le processus de récupération de l'espace non utilisé d'une base de données WINS, occupé par des enregistrements obsolètes."/>
  <p:tag name="PPWINALREADYSEGMENTED" val="True"/>
  <p:tag name="PPWINTOTALSEGMENTS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19"/>
  <p:tag name="PPWINSEGMENT1SOURCERTF" val="{\rtf1\ansi\deff0{\fonttbl{\f0\fcharset0 Arial Narrow;}}{\colortbl\red0\green0\blue0;}{\f0\fs44\cf0 The scavenging timer starts when the server starts up and is equal to half the}{\f0\fs44\b\cf0  Renewal interval}{\f0\fs36\b\cf0  \par}}"/>
  <p:tag name="PPWINSEGMENT1TARGETRTF" val="{\rtf1\ansi\deff1{\fonttbl{\f1\fcharset0 Arial;}{\f2\fcharset0 Arial Narrow;}}{\colortbl\red0\green0\blue0;}{\f2\fs24\cf0 Le minuteur de nettoyage est activ\'E9 au d\'E9marrage du serveur et correspond \'E0 la moiti\'E9 de l'}{\f2\fs24\b\cf0 intervalle de renouvellement\par}}"/>
  <p:tag name="PPWINLASTSAVEDTRANSLATION" val="Le minuteur de nettoyage est activé au démarrage du serveur et correspond à la moitié de l'intervalle de renouvellement"/>
  <p:tag name="PPWINALREADYSEGMENTED" val="True"/>
  <p:tag name="PPWINTOTALSEGMENTS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33"/>
  <p:tag name="PPWINSEGMENT1SOURCERTF" val="{\rtf1\ansi\deff0{\fonttbl{\f0\fcharset0 Arial Narrow;}}{\colortbl\red0\green0\blue0;}{\f0\fs44\cf0 The active names that the WINS server owns and for which the}{\f0\fs44\b\cf0  Renew Interval }{\f0\fs44\cf0 has expired are marked as released \par}}"/>
  <p:tag name="PPWINSEGMENT1TARGETRTF" val="{\rtf1\ansi\deff1{\fonttbl{\f1\fcharset0 Arial;}{\f2\fcharset0 Arial Narrow;}}{\colortbl\red0\green0\blue0;}{\f2\fs44\cf0 Les noms actifs appartenant au serveur WINS et pour lesquels l'}{\f2\fs44\b\cf0 intervalle de renouvellement }{\f2\fs44\cf0 a expir\'E9 sont marqu\'E9s comme \'E9tant lib\'E9r\'E9s\par}}"/>
  <p:tag name="PPWINLASTSAVEDTRANSLATION" val="Les noms actifs appartenant au serveur WINS et pour lesquels l'intervalle de renouvellement a expiré sont marqués comme étant libérés"/>
  <p:tag name="PPWINALREADYSEGMENTED" val="True"/>
  <p:tag name="PPWINTOTALSEGMENTS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26"/>
  <p:tag name="PPWINSEGMENT1SOURCERTF" val="{\rtf1\ansi\deff0{\fonttbl{\f0\fcharset0 Arial Narrow;}}{\colortbl\red0\green0\blue0;}{\f0\fs44\cf0 Released names that the WINS server owns and for which the}{\f0\fs44\b\cf0  Extinction interval }{\f0\fs44\cf0 has expired are marked for deletion}{\f0\fs44\b\cf0  \par}}"/>
  <p:tag name="PPWINSEGMENT1TARGETRTF" val="{\rtf1\ansi\deff1{\fonttbl{\f1\fcharset0 Arial;}{\f2\fcharset0 Arial Narrow;}}{\colortbl\red0\green0\blue0;}{\f2\fs44\cf0 Les noms lib\'E9r\'E9s appartenant au serveur WINS et pour lesquels l'}{\f2\fs44\b\cf0 intervalle d'extinction }{\f2\fs44\cf0 a expir\'E9 sont marqu\'E9s pour suppression\par}}"/>
  <p:tag name="PPWINLASTSAVEDTRANSLATION" val="Les noms libérés appartenant au serveur WINS et pour lesquels l'intervalle d'extinction a expiré sont marqués pour suppression"/>
  <p:tag name="PPWINALREADYSEGMENTED" val="True"/>
  <p:tag name="PPWINTOTALSEGMENTS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18"/>
  <p:tag name="PPWINSEGMENT1SOURCERTF" val="{\rtf1\ansi\deff0{\fonttbl{\f0\fcharset0 Arial Narrow;}}{\colortbl\red0\green0\blue0;}{\f0\fs44\cf0 Names marked for deletion for which the}{\f0\fs44\b\cf0  Extinction timeout }{\f0\fs44\cf0 has expired are deleted and removed from the database\par}}"/>
  <p:tag name="PPWINSEGMENT1TARGETRTF" val="{\rtf1\ansi\deff1{\fonttbl{\f1\fcharset0 Arial;}{\f2\fcharset0 Arial Narrow;}}{\colortbl\red0\green0\blue0;}{\f2\fs44\cf0 Les noms marqu\'E9s pour suppression et pour lesquels le }{\f2\fs44\b\cf0 d\'E9lai d'extinction }{\f2\fs44\cf0 a expir\'E9 sont supprim\'E9s de la base de donn\'E9es\par}}"/>
  <p:tag name="PPWINLASTSAVEDTRANSLATION" val="Les noms marqués pour suppression et pour lesquels le délai d'extinction a expiré sont supprimés de la base de données"/>
  <p:tag name="PPWINALREADYSEGMENTED" val="True"/>
  <p:tag name="PPWINTOTALSEGMENTS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55"/>
  <p:tag name="PPWINSEGMENT1SOURCERTF" val="{\rtf1\ansi\deff0{\fonttbl{\f0\fcharset0 Arial Narrow;}}{\colortbl\red0\green0\blue0;}{\f0\fs44\cf0 Names marked for deletion that are replicated from other servers and for which the}{\f0\fs44\b\cf0  Extinction timeout }{\f0\fs44\cf0 has expired are deleted and removed from the database \par}}"/>
  <p:tag name="PPWINSEGMENT1TARGETRTF" val="{\rtf1\ansi\deff1{\fonttbl{\f1\fcharset0 Arial;}{\f2\fcharset0 Arial Narrow;}}{\colortbl\red0\green0\blue0;}{\f2\fs44\cf0 Les noms marqu\'E9s pour suppression r\'E9pliqu\'E9s \'E0 partir d'autres serveurs et pour lesquels le }{\f2\fs44\b\cf0 d\'E9lai d'extinction }{\f2\fs44\cf0 a expir\'E9 sont supprim\'E9s de la base de donn\'E9es\par}}"/>
  <p:tag name="PPWINLASTSAVEDTRANSLATION" val="Les noms marqués pour suppression répliqués à partir d'autres serveurs et pour lesquels le délai d'extinction a expiré sont supprimés de la base de données"/>
  <p:tag name="PPWINALREADYSEGMENTED" val="True"/>
  <p:tag name="PPWINTOTALSEGMENTS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22"/>
  <p:tag name="PPWINSEGMENT1SOURCERTF" val="{\rtf1\ansi\deff0{\fonttbl{\f0\fcharset0 Arial Narrow;}}{\colortbl\red0\green0\blue0;}{\f0\fs44\cf0 Active names that are replicated from other servers and for which the }{\f0\fs44\b\cf0 Verification interval}{\f0\fs44\cf0  has expired are revalidated \par}}"/>
  <p:tag name="PPWINSEGMENT1TARGETRTF" val="{\rtf1\ansi\deff1{\fonttbl{\f1\fcharset0 Arial;}{\f2\fcharset0 Arial Narrow;}}{\colortbl\red0\green0\blue0;}{\f2\fs44\cf0 Les noms actifs r\'E9pliqu\'E9s \'E0 partir d'autres serveurs et pour lesquels l'}{\f2\fs44\b\cf0 intervalle de v\'E9rification}{\f2\fs44\cf0  a expir\'E9 sont revalid\'E9s\par}}"/>
  <p:tag name="PPWINLASTSAVEDTRANSLATION" val="Les noms actifs répliqués à partir d'autres serveurs et pour lesquels l'intervalle de vérification a expiré sont revalidés"/>
  <p:tag name="PPWINALREADYSEGMENTED" val="True"/>
  <p:tag name="PPWINTOTALSEGMENTS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1"/>
  <p:tag name="PPWINSEGMENT1SOURCERTF" val="{\rtf1\ansi\deff0{\fonttbl{\f0\fcharset0 Arial Narrow;}}{\colortbl\red0\green0\blue0;}{\f0\fs60\b\cf0 How Scavenging Works\par}}"/>
  <p:tag name="PPWINSEGMENT1TARGETRTF" val="{\rtf1\ansi\deff1{\fonttbl{\f1\fcharset0 Arial;}{\f2\fcharset0 Arial Narrow;}}{\colortbl\red0\green0\blue0;}{\f2\fs60\b\cf0 Comment fonctionne le nettoyage\par}}"/>
  <p:tag name="PPWINLASTSAVEDTRANSLATION" val="Comment fonctionne le nettoyage"/>
  <p:tag name="PPWINALREADYSEGMENTED" val="True"/>
  <p:tag name="PPWINTOTALSEGMENTS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07"/>
  <p:tag name="PPWINSEGMENT1SOURCERTF" val="{\rtf1\ansi\deff0{\fonttbl{\f0\fcharset0 Arial Narrow;}}{\colortbl\red0\green0\blue0;}{\f0\fs44\cf0 Names marked for deletion that are replicated from other servers are removed from the database \par}}"/>
  <p:tag name="PPWINSEGMENT1TARGETRTF" val="{\rtf1\ansi\deff1{\fonttbl{\f1\fcharset0 Arial;}{\f2\fcharset0 Arial Narrow;}}{\colortbl\red0\green0\blue0;}{\f2\fs44\cf0 Les noms marqu\'E9s pour suppression r\'E9pliqu\'E9s \'E0 partir d'autres serveurs sont supprim\'E9s de la base de donn\'E9es\par}}"/>
  <p:tag name="PPWINLASTSAVEDTRANSLATION" val="Les noms marqués pour suppression répliqués à partir d'autres serveurs sont supprimés de la base de données"/>
  <p:tag name="PPWINALREADYSEGMENTED" val="True"/>
  <p:tag name="PPWINTOTALSEGMENTS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1"/>
  <p:tag name="PPWINSEGMENT1SOURCERTF" val="{\rtf1\ansi\deff0{\fonttbl{\f0\fcharset0 Arial Narrow;}}{\colortbl\red0\green0\blue0;}{\f0\fs60\b\cf0 How Scavenging Works\par}}"/>
  <p:tag name="PPWINSEGMENT1TARGETRTF" val="{\rtf1\ansi\deff1{\fonttbl{\f1\fcharset0 Arial;}{\f2\fcharset0 Arial Narrow;}}{\colortbl\red0\green0\blue0;}{\f2\fs60\b\cf0 Comment fonctionne le nettoyage\par}}"/>
  <p:tag name="PPWINLASTSAVEDTRANSLATION" val="Comment fonctionne le nettoyage"/>
  <p:tag name="PPWINALREADYSEGMENTED" val="True"/>
  <p:tag name="PPWINTOTALSEGMENTS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2"/>
  <p:tag name="PPWINSEGMENT1LENGTH" val="7"/>
  <p:tag name="PPWINSEGMENT1SOURCERTF" val="{\rtf1\ansi\deff0{\fonttbl{\f0\fcharset0 Arial Narrow;}}{\colortbl\red0\green0\blue0;}{\f0\fs44\b\cf0 7-days\par}}"/>
  <p:tag name="PPWINSEGMENT1TARGETRTF" val="{\rtf1\ansi\deff1{\fonttbl{\f1\fcharset0 Arial;}{\f2\fcharset0 Arial Narrow;}}{\colortbl\red0\green0\blue0;}{\f2\fs44\b\cf0 7 jours\par}}"/>
  <p:tag name="PPWINLASTSAVEDTRANSLATION" val="&#10;7 jours"/>
  <p:tag name="PPWINALREADYSEGMENTED" val="True"/>
  <p:tag name="PPWINTOTALSEGMENTS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2"/>
  <p:tag name="PPWINSEGMENT1LENGTH" val="7"/>
  <p:tag name="PPWINSEGMENT1SOURCERTF" val="{\rtf1\ansi\deff0{\fonttbl{\f0\fcharset0 Arial Narrow;}}{\colortbl\red0\green0\blue0;}{\f0\fs44\b\cf0 7-days\par}}"/>
  <p:tag name="PPWINSEGMENT1TARGETRTF" val="{\rtf1\ansi\deff1{\fonttbl{\f1\fcharset0 Arial;}{\f2\fcharset0 Arial Narrow;}}{\colortbl\red0\green0\blue0;}{\f2\fs44\b\cf0 7 jours\par}}"/>
  <p:tag name="PPWINLASTSAVEDTRANSLATION" val="&#10;7 jours"/>
  <p:tag name="PPWINALREADYSEGMENTED" val="True"/>
  <p:tag name="PPWINTOTALSEGMENTS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1"/>
  <p:tag name="PPWINSEGMENT1LENGTH" val="10"/>
  <p:tag name="PPWINSEGMENT1SOURCERTF" val="{\rtf1\ansi\deff0{\fonttbl{\f0\fcharset0 Arial Narrow;}}{\colortbl\red0\green0\blue0;}{\f0\fs36\b\cf0 Refresh\par}}"/>
  <p:tag name="PPWINSEGMENT1TARGETRTF" val="{\rtf1\ansi\deff1{\fonttbl{\f1\fcharset0 Arial;}{\f2\fcharset0 Arial Narrow;}}{\colortbl\red0\green0\blue0;}{\f2\fs36\b\cf0 Intervalle\par}}"/>
  <p:tag name="PPWINSEGMENT2START" val="12"/>
  <p:tag name="PPWINSEGMENT2LENGTH" val="15"/>
  <p:tag name="PPWINSEGMENT2SOURCERTF" val="{\rtf1\ansi\deff0{\fonttbl{\f0\fcharset0 Arial Narrow;}}{\colortbl\red0\green0\blue0;}{\f0\fs36\b\cf0 Interval\par}}"/>
  <p:tag name="PPWINSEGMENT2TARGETRTF" val="{\rtf1\ansi\deff1{\fonttbl{\f1\fcharset0 Arial;}{\f2\fcharset0 Arial Narrow;}}{\colortbl\red0\green0\blue0;}{\f2\fs36\b\cf0 d'actualisation\par}}"/>
  <p:tag name="PPWINLASTSAVEDTRANSLATION" val="Intervalle&#10;d'actualisation"/>
  <p:tag name="PPWINALREADYSEGMENTED" val="True"/>
  <p:tag name="PPWINTOTALSEGMENTS" val="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1"/>
  <p:tag name="PPWINSEGMENT1LENGTH" val="10"/>
  <p:tag name="PPWINSEGMENT1SOURCERTF" val="{\rtf1\ansi\deff0{\fonttbl{\f0\fcharset0 Arial Narrow;}}{\colortbl\red0\green0\blue0;}{\f0\fs36\b\cf0 Refresh\par}}"/>
  <p:tag name="PPWINSEGMENT1TARGETRTF" val="{\rtf1\ansi\deff1{\fonttbl{\f1\fcharset0 Arial;}{\f2\fcharset0 Arial Narrow;}}{\colortbl\red0\green0\blue0;}{\f2\fs36\b\cf0 Intervalle\par}}"/>
  <p:tag name="PPWINSEGMENT2START" val="12"/>
  <p:tag name="PPWINSEGMENT2LENGTH" val="15"/>
  <p:tag name="PPWINSEGMENT2SOURCERTF" val="{\rtf1\ansi\deff0{\fonttbl{\f0\fcharset0 Arial Narrow;}}{\colortbl\red0\green0\blue0;}{\f0\fs36\b\cf0 Interval\par}}"/>
  <p:tag name="PPWINSEGMENT2TARGETRTF" val="{\rtf1\ansi\deff1{\fonttbl{\f1\fcharset0 Arial;}{\f2\fcharset0 Arial Narrow;}}{\colortbl\red0\green0\blue0;}{\f2\fs36\b\cf0 d'actualisation\par}}"/>
  <p:tag name="PPWINLASTSAVEDTRANSLATION" val="Intervalle&#10;d'actualisation"/>
  <p:tag name="PPWINALREADYSEGMENTED" val="True"/>
  <p:tag name="PPWINTOTALSEGMENTS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2"/>
  <p:tag name="PPWINSEGMENT1LENGTH" val="7"/>
  <p:tag name="PPWINSEGMENT1SOURCERTF" val="{\rtf1\ansi\deff0{\fonttbl{\f0\fcharset0 Arial Narrow;}}{\colortbl\red0\green0\blue0;}{\f0\fs44\b\cf0 7-days\par}}"/>
  <p:tag name="PPWINSEGMENT1TARGETRTF" val="{\rtf1\ansi\deff1{\fonttbl{\f1\fcharset0 Arial;}{\f2\fcharset0 Arial Narrow;}}{\colortbl\red0\green0\blue0;}{\f2\fs44\b\cf0 7 jours\par}}"/>
  <p:tag name="PPWINLASTSAVEDTRANSLATION" val="&#10;7 jours"/>
  <p:tag name="PPWINALREADYSEGMENTED" val="True"/>
  <p:tag name="PPWINTOTALSEGMENTS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1"/>
  <p:tag name="PPWINSEGMENT1LENGTH" val="10"/>
  <p:tag name="PPWINSEGMENT1SOURCERTF" val="{\rtf1\ansi\deff0{\fonttbl{\f0\fcharset0 Arial Narrow;}}{\colortbl\red0\green0\blue0;}{\f0\fs36\b\cf0 Refresh\par}}"/>
  <p:tag name="PPWINSEGMENT1TARGETRTF" val="{\rtf1\ansi\deff1{\fonttbl{\f1\fcharset0 Arial;}{\f2\fcharset0 Arial Narrow;}}{\colortbl\red0\green0\blue0;}{\f2\fs36\b\cf0 Intervalle\par}}"/>
  <p:tag name="PPWINSEGMENT2START" val="12"/>
  <p:tag name="PPWINSEGMENT2LENGTH" val="15"/>
  <p:tag name="PPWINSEGMENT2SOURCERTF" val="{\rtf1\ansi\deff0{\fonttbl{\f0\fcharset0 Arial Narrow;}}{\colortbl\red0\green0\blue0;}{\f0\fs36\b\cf0 Interval\par}}"/>
  <p:tag name="PPWINSEGMENT2TARGETRTF" val="{\rtf1\ansi\deff1{\fonttbl{\f1\fcharset0 Arial;}{\f2\fcharset0 Arial Narrow;}}{\colortbl\red0\green0\blue0;}{\f2\fs36\b\cf0 d'actualisation\par}}"/>
  <p:tag name="PPWINLASTSAVEDTRANSLATION" val="Intervalle&#10;d'actualisation"/>
  <p:tag name="PPWINALREADYSEGMENTED" val="True"/>
  <p:tag name="PPWINTOTALSEGMENTS" val="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1"/>
  <p:tag name="PPWINSEGMENT1SOURCERTF" val="{\rtf1\ansi\deff0{\fonttbl{\f0\fcharset0 Arial Narrow;}}{\colortbl\red0\green0\blue0;}{\f0\fs60\b\cf0 How Scavenging Works\par}}"/>
  <p:tag name="PPWINSEGMENT1TARGETRTF" val="{\rtf1\ansi\deff1{\fonttbl{\f1\fcharset0 Arial;}{\f2\fcharset0 Arial Narrow;}}{\colortbl\red0\green0\blue0;}{\f2\fs60\b\cf0 Comment fonctionne le nettoyage\par}}"/>
  <p:tag name="PPWINLASTSAVEDTRANSLATION" val="Comment fonctionne le nettoyage"/>
  <p:tag name="PPWINALREADYSEGMENTED" val="True"/>
  <p:tag name="PPWINTOTALSEGMENTS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2"/>
  <p:tag name="PPWINSEGMENT1LENGTH" val="7"/>
  <p:tag name="PPWINSEGMENT1SOURCERTF" val="{\rtf1\ansi\deff0{\fonttbl{\f0\fcharset0 Arial Narrow;}}{\colortbl\red0\green0\blue0;}{\f0\fs44\b\cf0 7-days\par}}"/>
  <p:tag name="PPWINSEGMENT1TARGETRTF" val="{\rtf1\ansi\deff1{\fonttbl{\f1\fcharset0 Arial;}{\f2\fcharset0 Arial Narrow;}}{\colortbl\red0\green0\blue0;}{\f2\fs44\b\cf0 7 jours\par}}"/>
  <p:tag name="PPWINLASTSAVEDTRANSLATION" val="&#10;7 jours"/>
  <p:tag name="PPWINALREADYSEGMENTED" val="True"/>
  <p:tag name="PPWINTOTALSEGMENTS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1"/>
  <p:tag name="PPWINSEGMENT1LENGTH" val="10"/>
  <p:tag name="PPWINSEGMENT1SOURCERTF" val="{\rtf1\ansi\deff0{\fonttbl{\f0\fcharset0 Arial Narrow;}}{\colortbl\red0\green0\blue0;}{\f0\fs36\b\cf0 Refresh\par}}"/>
  <p:tag name="PPWINSEGMENT1TARGETRTF" val="{\rtf1\ansi\deff1{\fonttbl{\f1\fcharset0 Arial;}{\f2\fcharset0 Arial Narrow;}}{\colortbl\red0\green0\blue0;}{\f2\fs36\b\cf0 Intervalle\par}}"/>
  <p:tag name="PPWINSEGMENT2START" val="12"/>
  <p:tag name="PPWINSEGMENT2LENGTH" val="15"/>
  <p:tag name="PPWINSEGMENT2SOURCERTF" val="{\rtf1\ansi\deff0{\fonttbl{\f0\fcharset0 Arial Narrow;}}{\colortbl\red0\green0\blue0;}{\f0\fs36\b\cf0 Interval\par}}"/>
  <p:tag name="PPWINSEGMENT2TARGETRTF" val="{\rtf1\ansi\deff1{\fonttbl{\f1\fcharset0 Arial;}{\f2\fcharset0 Arial Narrow;}}{\colortbl\red0\green0\blue0;}{\f2\fs36\b\cf0 d'actualisation\par}}"/>
  <p:tag name="PPWINLASTSAVEDTRANSLATION" val="Intervalle&#10;d'actualisation"/>
  <p:tag name="PPWINALREADYSEGMENTED" val="True"/>
  <p:tag name="PPWINTOTALSEGMENTS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4"/>
  <p:tag name="PPWINSEGMENT1SOURCERTF" val="{\rtf1\ansi\deff0{\fonttbl{\f0\fcharset0 Arial Narrow;}}{\colortbl\red0\green0\blue0;}{\f0\fs52\b\cf0 How a WINS Database Is Checked for Consistency\par}}"/>
  <p:tag name="PPWINLASTSAVEDTRANSLATION" val="Présentation de la vérification de la cohérence d'une base de données WINS"/>
  <p:tag name="PPWINALREADYSEGMENTED" val="True"/>
  <p:tag name="PPWINTOTALSEGMENTS" val="1"/>
  <p:tag name="PPWINSEGMENT1TARGETRTF" val="{\rtf1\ansi\deff0{\fonttbl{\f0\fcharset0 Arial Narrow;}}{\colortbl\red0\green0\blue0;}{\f0\fs52\b\cf0 Pr\'E9sentation de la v\'E9rification de la coh\'E9rence d'une base de donn\'E9es WINS\par}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60"/>
  <p:tag name="PPWINSEGMENT1SOURCERTF" val="{\rtf1\ansi\deff0{\fonttbl{\f0\fcharset0 Arial Narrow;}}{\colortbl\red0\green0\blue0;}{\f0\fs48\b\cf0 Checking WINS database }{\f0\fs48\b\i\cf0 consistency}{\f0\fs48\b\cf0  helps maintain database integrity among WINS servers in a large network\par}}"/>
  <p:tag name="PPWINSEGMENT1TARGETRTF" val="{\rtf1\ansi\deff1{\fonttbl{\f1\fcharset0 Arial;}{\f2\fcharset0 Arial Narrow;}}{\colortbl\red0\green0\blue0;}{\f2\fs48\b\cf0 La v\'E9rification de la }{\f2\fs48\b\i\cf0 coh\'E9rence}{\f2\fs48\b\cf0  de la base de donn\'E9es WINS permet de maintenir son int\'E9grit\'E9 entre les diff\'E9rents serveurs WINS d'un r\'E9seau de grande envergure.\par}}"/>
  <p:tag name="PPWINLASTSAVEDTRANSLATION" val="La vérification de la cohérence de la base de données WINS permet de maintenir son intégrité entre les différents serveurs WINS d'un réseau de grande envergure."/>
  <p:tag name="PPWINALREADYSEGMENTED" val="True"/>
  <p:tag name="PPWINTOTALSEGMENTS" val="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,5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,5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  <p:tag name="PPWINSEGMENT1START" val="1"/>
  <p:tag name="PPWINSEGMENT1LENGTH" val="12"/>
  <p:tag name="PPWINSEGMENT1SOURCERTF" val="{\rtf1\ansi\deff0{\fonttbl{\f0\fcharset0 Arial Narrow;}}{\colortbl\red0\green0\blue0;}{\f0\fs36\b\cf0 WINS Server\par}}"/>
  <p:tag name="PPWINLASTSAVEDTRANSLATION" val="Serveur WINS"/>
  <p:tag name="PPWINALREADYSEGMENTED" val="True"/>
  <p:tag name="PPWINTOTALSEGMENTS" val="1"/>
  <p:tag name="PPWINSEGMENT1TARGETRTF" val="{\rtf1\ansi\deff0{\fonttbl{\f0\fcharset0 Arial Narrow;}}{\colortbl\red0\green0\blue0;}{\f0\fs36\b\cf0 Serveur WINS\par}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  <p:tag name="PPWINSEGMENT1START" val="1"/>
  <p:tag name="PPWINSEGMENT1LENGTH" val="12"/>
  <p:tag name="PPWINSEGMENT1SOURCERTF" val="{\rtf1\ansi\deff0{\fonttbl{\f0\fcharset0 Arial Narrow;}}{\colortbl\red0\green0\blue0;}{\f0\fs36\b\cf0 WINS Server\par}}"/>
  <p:tag name="PPWINLASTSAVEDTRANSLATION" val="Serveur WINS"/>
  <p:tag name="PPWINALREADYSEGMENTED" val="True"/>
  <p:tag name="PPWINTOTALSEGMENTS" val="1"/>
  <p:tag name="PPWINSEGMENT1TARGETRTF" val="{\rtf1\ansi\deff0{\fonttbl{\f0\fcharset0 Arial Narrow;}}{\colortbl\red0\green0\blue0;}{\f0\fs36\b\cf0 Serveur WINS\par}}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,3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,3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,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,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2"/>
  <p:tag name="PPWINSEGMENT1SOURCERTF" val="{\rtf1\ansi\deff0{\fonttbl{\f0\fcharset0 Arial Narrow;}}{\colortbl\red0\green0\blue0;}{\f0\fs36\b\cf0 WINS Server\par}}"/>
  <p:tag name="PPWINLASTSAVEDTRANSLATION" val="Serveur WINS"/>
  <p:tag name="PPWINALREADYSEGMENTED" val="True"/>
  <p:tag name="PPWINTOTALSEGMENTS" val="1"/>
  <p:tag name="PPWINSEGMENT1TARGETRTF" val="{\rtf1\ansi\deff0{\fonttbl{\f0\fcharset0 Arial Narrow;}}{\colortbl\red0\green0\blue0;}{\f0\fs36\b\cf0 Serveur WINS\par}}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2"/>
  <p:tag name="PPWINSEGMENT1SOURCERTF" val="{\rtf1\ansi\deff0{\fonttbl{\f0\fcharset0 Arial Narrow;}}{\colortbl\red0\green0\blue0;}{\f0\fs60\b\cf0 Guidelines for Decommissioning a WINS Server\par}}"/>
  <p:tag name="PPWINSEGMENT1TARGETRTF" val="{\rtf1\ansi\deff1{\fonttbl{\f1\fcharset0 Arial;}{\f2\fcharset0 Arial Narrow;}}{\colortbl\red0\green0\blue0;}{\f2\fs60\b\cf0 Instructions concernant le retrait d'un serveur WINS\par}}"/>
  <p:tag name="PPWINLASTSAVEDTRANSLATION" val="Instructions concernant le retrait d'un serveur WINS"/>
  <p:tag name="PPWINALREADYSEGMENTED" val="True"/>
  <p:tag name="PPWINTOTALSEGMENTS" val="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2"/>
  <p:tag name="PPWINSEGMENT1SOURCERTF" val="{\rtf1\ansi\deff0{\fonttbl{\f0\fcharset0 Arial Narrow;}}{\colortbl\red0\green0\blue0;}{\f0\fs48\b\cf0 Guidelines for decommissioning a WINS server:\par}}"/>
  <p:tag name="PPWINSEGMENT1TARGETRTF" val="{\rtf1\ansi\deff1{\fonttbl{\f1\fcharset0 Arial;}{\f2\fcharset0 Arial Narrow;}}{\colortbl\red0\green0\blue0;}{\f2\fs48\b\cf0 Instructions concernant le retrait d'un serveur WINS\par}}"/>
  <p:tag name="PPWINLASTSAVEDTRANSLATION" val="Instructions concernant le retrait d'un serveur WINS&#10;"/>
  <p:tag name="PPWINALREADYSEGMENTED" val="True"/>
  <p:tag name="PPWINTOTALSEGMENTS" val="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62"/>
  <p:tag name="PPWINSEGMENT1SOURCERTF" val="{\rtf1\ansi\deff0{\fonttbl{\f0\fcharset0 Arial Narrow;}}{\colortbl\red0\green0\blue0;}{\f0\fs44\b\cf0 If you reduce the number of WINS servers in your network, you can reconfigure WINS clients to point to other WINS servers in the network\par}}"/>
  <p:tag name="PPWINSEGMENT1TARGETRTF" val="{\rtf1\ansi\deff1{\fonttbl{\f1\fcharset0 Arial;}{\f2\fcharset0 Arial Narrow;}}{\colortbl\red0\green0\blue0;}{\f2\fs44\b\cf0 Si vous r\'E9duisez le nombre de serveurs WINS sur votre r\'E9seau, vous pouvez reconfigurer les clients WINS pour qu'ils pointent vers d'autres serveurs WINS du r\'E9seau\par}}"/>
  <p:tag name="PPWINSEGMENT2START" val="164"/>
  <p:tag name="PPWINSEGMENT2LENGTH" val="92"/>
  <p:tag name="PPWINSEGMENT2SOURCERTF" val="{\rtf1\ansi\deff0{\fonttbl{\f0\fcharset0 Arial Narrow;}}{\colortbl\red0\green0\blue0;}{\f0\fs44\b\cf0 Reconfiguration is necessary only if clients are still using WINS\par}}"/>
  <p:tag name="PPWINSEGMENT2TARGETRTF" val="{\rtf1\ansi\deff1{\fonttbl{\f1\fcharset0 Arial;}{\f2\fcharset0 Arial Narrow;}}{\colortbl\red0\green0\blue0;}{\f2\fs44\b\cf0 La reconfiguration n'est n\'E9cessaire que si les clients continuent \'E0 utiliser le service WINS\par}}"/>
  <p:tag name="PPWINSEGMENT3START" val="257"/>
  <p:tag name="PPWINSEGMENT3LENGTH" val="120"/>
  <p:tag name="PPWINSEGMENT3SOURCERTF" val="{\rtf1\ansi\deff0{\fonttbl{\f0\fcharset0 Arial Narrow;}}{\colortbl\red0\green0\blue0;}{\f0\fs44\b\cf0 If you eliminate WINS in your network, you can implement DNS as your primary naming service\par}}"/>
  <p:tag name="PPWINSEGMENT3TARGETRTF" val="{\rtf1\ansi\deff1{\fonttbl{\f1\fcharset0 Arial;}{\f2\fcharset0 Arial Narrow;}}{\colortbl\red0\green0\blue0;}{\f2\fs44\b\cf0 Si vous supprimez le service WINS de votre r\'E9seau, vous pouvez impl\'E9menter un syst\'E8me DNS comme service de nom principal\par}}"/>
  <p:tag name="PPWINLASTSAVEDTRANSLATION" val="Si vous réduisez le nombre de serveurs WINS sur votre réseau, vous pouvez reconfigurer les clients WINS pour qu'ils pointent vers d'autres serveurs WINS du réseau&#10;La reconfiguration n'est nécessaire que si les clients continuent à utiliser le service WINS&#10;Si vous supprimez le service WINS de votre réseau, vous pouvez implémenter un système DNS comme service de nom principal"/>
  <p:tag name="PPWINALREADYSEGMENTED" val="True"/>
  <p:tag name="PPWINTOTALSEGMENTS" val="3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6"/>
  <p:tag name="PPWINSEGMENT1SOURCERTF" val="{\rtf1\ansi\deff0{\fonttbl{\f0\fcharset0 Arial Narrow;}}{\colortbl\red0\green0\blue0;}{\f0\fs48\b\i\cf0 Decommissioning}{\f0\fs48\b\cf0  an installed WINS server is the act of removing it from a network \par}}"/>
  <p:tag name="PPWINSEGMENT1TARGETRTF" val="{\rtf1\ansi\deff1{\fonttbl{\f1\fcharset0 Arial;}{\f2\fcharset0 Arial Narrow;}}{\colortbl\red0\green0\blue0;}{\f2\fs48\b\i\cf0 Retirer }{\f2\fs48\b\cf0 un serveur WINS install\'E9 revient \'E0 le supprimer du r\'E9seau.\par}}"/>
  <p:tag name="PPWINLASTSAVEDTRANSLATION" val="Retirer un serveur WINS installé revient à le supprimer du réseau."/>
  <p:tag name="PPWINALREADYSEGMENTED" val="True"/>
  <p:tag name="PPWINTOTALSEGMENTS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WKBKDES</Template>
  <TotalTime>15591</TotalTime>
  <Words>2030</Words>
  <Application>Microsoft PowerPoint</Application>
  <PresentationFormat>Affichage à l'écran (4:3)</PresentationFormat>
  <Paragraphs>355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33</vt:i4>
      </vt:variant>
    </vt:vector>
  </HeadingPairs>
  <TitlesOfParts>
    <vt:vector size="41" baseType="lpstr">
      <vt:lpstr>Arial</vt:lpstr>
      <vt:lpstr>Georgia</vt:lpstr>
      <vt:lpstr>Times New Roman</vt:lpstr>
      <vt:lpstr>Arial Narrow</vt:lpstr>
      <vt:lpstr>Wingdings</vt:lpstr>
      <vt:lpstr>Wingdings 2</vt:lpstr>
      <vt:lpstr>Civil</vt:lpstr>
      <vt:lpstr>1_Civil</vt:lpstr>
      <vt:lpstr>Chapitre 7   Résolution de noms NetBIOS à l'aide du service WINS</vt:lpstr>
      <vt:lpstr>Plan du cours</vt:lpstr>
      <vt:lpstr>1. Rôle du service WINS dans l'infrastructure réseau</vt:lpstr>
      <vt:lpstr>1. Rôle du service WINS dans l'infrastructure réseau</vt:lpstr>
      <vt:lpstr>2. Installation et configuration d'un serveur WINS</vt:lpstr>
      <vt:lpstr>Composants du service WINS</vt:lpstr>
      <vt:lpstr>Présentation d'un type de nœud NetBIOS</vt:lpstr>
      <vt:lpstr>Comment un client WINS inscrit et libère des noms NetBIOS</vt:lpstr>
      <vt:lpstr>Fonctionnement de la prise en charge du traitement en rafale</vt:lpstr>
      <vt:lpstr>Comment un serveur WINS résout les noms  NetBIOS</vt:lpstr>
      <vt:lpstr>3. Gestion des enregistrements dans le serveur WINS</vt:lpstr>
      <vt:lpstr>Présentation d'un enregistrement client</vt:lpstr>
      <vt:lpstr>Présentation d'un mappage statique</vt:lpstr>
      <vt:lpstr>Comment ajouter une entrée de mappage statique</vt:lpstr>
      <vt:lpstr>Méthodes de filtrage et d'affichage des enregistrements du service WINS</vt:lpstr>
      <vt:lpstr>Comment filtrer les enregistrements WINS</vt:lpstr>
      <vt:lpstr>4. Configuration de la réplication WINS</vt:lpstr>
      <vt:lpstr>Fonctionnement de la réplication WINS</vt:lpstr>
      <vt:lpstr>Fonctionnement de la réplication par émission</vt:lpstr>
      <vt:lpstr>Fonctionnement de la réplication par réception</vt:lpstr>
      <vt:lpstr>Présentation de la réplication par émission/réception</vt:lpstr>
      <vt:lpstr>Propriétés des partenaires de réplication WINS</vt:lpstr>
      <vt:lpstr>5. Gestion de la base de données WINS</vt:lpstr>
      <vt:lpstr>Pourquoi sauvegarder une base de données WINS ?</vt:lpstr>
      <vt:lpstr>Comment sauvegarder et restaurer une base de données WINS</vt:lpstr>
      <vt:lpstr>Présentation de la suppression simple et de la désactivation d'enregistrements</vt:lpstr>
      <vt:lpstr>Comment supprimer un enregistrement WINS</vt:lpstr>
      <vt:lpstr>Présentation du compactage dynamique et du compactage hors connexion</vt:lpstr>
      <vt:lpstr>Comment fonctionne le nettoyage</vt:lpstr>
      <vt:lpstr>Comment fonctionne le nettoyage</vt:lpstr>
      <vt:lpstr>Comment fonctionne le nettoyage</vt:lpstr>
      <vt:lpstr>Présentation de la vérification de la cohérence d'une base de données WINS</vt:lpstr>
      <vt:lpstr>Instructions concernant le retrait d'un serveur WINS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Resolving NetBIOS Names by Using Windows Internet Name Service (WINS)</dc:title>
  <dc:creator>Brenna Calnan</dc:creator>
  <cp:lastModifiedBy>Halima</cp:lastModifiedBy>
  <cp:revision>535</cp:revision>
  <dcterms:created xsi:type="dcterms:W3CDTF">2002-09-11T14:58:58Z</dcterms:created>
  <dcterms:modified xsi:type="dcterms:W3CDTF">2014-12-15T10:31:48Z</dcterms:modified>
</cp:coreProperties>
</file>