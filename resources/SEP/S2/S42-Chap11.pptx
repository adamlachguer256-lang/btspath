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3"/>
  </p:notesMasterIdLst>
  <p:handoutMasterIdLst>
    <p:handoutMasterId r:id="rId14"/>
  </p:handoutMasterIdLst>
  <p:sldIdLst>
    <p:sldId id="416" r:id="rId2"/>
    <p:sldId id="420" r:id="rId3"/>
    <p:sldId id="447" r:id="rId4"/>
    <p:sldId id="517" r:id="rId5"/>
    <p:sldId id="509" r:id="rId6"/>
    <p:sldId id="516" r:id="rId7"/>
    <p:sldId id="510" r:id="rId8"/>
    <p:sldId id="511" r:id="rId9"/>
    <p:sldId id="479" r:id="rId10"/>
    <p:sldId id="512" r:id="rId11"/>
    <p:sldId id="518" r:id="rId12"/>
  </p:sldIdLst>
  <p:sldSz cx="9144000" cy="6858000" type="screen4x3"/>
  <p:notesSz cx="6858000" cy="9199563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  <p:clrMru>
    <a:srgbClr val="333333"/>
    <a:srgbClr val="EEEFD7"/>
    <a:srgbClr val="D5D69C"/>
    <a:srgbClr val="DFE8F2"/>
    <a:srgbClr val="BBCDE3"/>
    <a:srgbClr val="E4E4BF"/>
    <a:srgbClr val="8DACD0"/>
    <a:srgbClr val="CC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 autoAdjust="0"/>
    <p:restoredTop sz="94660" autoAdjust="0"/>
  </p:normalViewPr>
  <p:slideViewPr>
    <p:cSldViewPr snapToGrid="0">
      <p:cViewPr varScale="1">
        <p:scale>
          <a:sx n="69" d="100"/>
          <a:sy n="69" d="100"/>
        </p:scale>
        <p:origin x="-1320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376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fld id="{5A45267A-7A86-49A9-8A6D-35C889D37821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0300" y="690563"/>
            <a:ext cx="4598988" cy="34496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70388"/>
            <a:ext cx="5486400" cy="413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376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fld id="{42BF9EEE-EC1D-4640-A251-099456EF7C0B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F61AAB-A99B-4002-B8FA-8BE030AF4213}" type="slidenum">
              <a:rPr lang="en-US"/>
              <a:pPr/>
              <a:t>1</a:t>
            </a:fld>
            <a:endParaRPr lang="en-US"/>
          </a:p>
        </p:txBody>
      </p:sp>
      <p:sp>
        <p:nvSpPr>
          <p:cNvPr id="43213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213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1EAF11-0246-44B2-AA23-E431D3BC404D}" type="slidenum">
              <a:rPr lang="en-US"/>
              <a:pPr/>
              <a:t>2</a:t>
            </a:fld>
            <a:endParaRPr lang="en-US"/>
          </a:p>
        </p:txBody>
      </p:sp>
      <p:sp>
        <p:nvSpPr>
          <p:cNvPr id="41165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165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BD2608-3F02-464F-9B40-75A50CB16694}" type="slidenum">
              <a:rPr lang="en-US"/>
              <a:pPr/>
              <a:t>3</a:t>
            </a:fld>
            <a:endParaRPr lang="en-US"/>
          </a:p>
        </p:txBody>
      </p:sp>
      <p:sp>
        <p:nvSpPr>
          <p:cNvPr id="41267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EB926F-A649-4FCE-BA4D-AF07870407E3}" type="slidenum">
              <a:rPr lang="en-US"/>
              <a:pPr/>
              <a:t>4</a:t>
            </a:fld>
            <a:endParaRPr lang="en-US"/>
          </a:p>
        </p:txBody>
      </p:sp>
      <p:sp>
        <p:nvSpPr>
          <p:cNvPr id="439298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9299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 sz="10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C4CBCF-0F41-442F-92BB-896714A898CA}" type="slidenum">
              <a:rPr lang="en-US"/>
              <a:pPr/>
              <a:t>5</a:t>
            </a:fld>
            <a:endParaRPr lang="en-US"/>
          </a:p>
        </p:txBody>
      </p:sp>
      <p:sp>
        <p:nvSpPr>
          <p:cNvPr id="41574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574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 sz="10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AD2150-8EF2-4B76-915A-A5E672BA0FBE}" type="slidenum">
              <a:rPr lang="en-US"/>
              <a:pPr/>
              <a:t>6</a:t>
            </a:fld>
            <a:endParaRPr lang="en-US"/>
          </a:p>
        </p:txBody>
      </p:sp>
      <p:sp>
        <p:nvSpPr>
          <p:cNvPr id="43725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725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128EA1-112A-45F3-8EC0-091ADAEC7116}" type="slidenum">
              <a:rPr lang="en-US"/>
              <a:pPr/>
              <a:t>7</a:t>
            </a:fld>
            <a:endParaRPr lang="en-US"/>
          </a:p>
        </p:txBody>
      </p:sp>
      <p:sp>
        <p:nvSpPr>
          <p:cNvPr id="41779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779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C9DE33-A33E-4515-B082-66EA8A969534}" type="slidenum">
              <a:rPr lang="en-US"/>
              <a:pPr/>
              <a:t>8</a:t>
            </a:fld>
            <a:endParaRPr lang="en-US"/>
          </a:p>
        </p:txBody>
      </p:sp>
      <p:sp>
        <p:nvSpPr>
          <p:cNvPr id="41984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4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C9B243-77BD-4B66-9B1E-B8215A587FBC}" type="slidenum">
              <a:rPr lang="en-US"/>
              <a:pPr/>
              <a:t>9</a:t>
            </a:fld>
            <a:endParaRPr lang="en-US"/>
          </a:p>
        </p:txBody>
      </p:sp>
      <p:sp>
        <p:nvSpPr>
          <p:cNvPr id="413698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3699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C3B286-93C1-4C75-97FB-A65ADB267448}" type="slidenum">
              <a:rPr lang="en-US"/>
              <a:pPr/>
              <a:t>10</a:t>
            </a:fld>
            <a:endParaRPr lang="en-US"/>
          </a:p>
        </p:txBody>
      </p:sp>
      <p:sp>
        <p:nvSpPr>
          <p:cNvPr id="42189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189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/>
            <a:endParaRPr lang="en-US"/>
          </a:p>
          <a:p>
            <a:pPr marL="228600" indent="-22860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91EBBC-93AB-424B-8B13-F13795E40B2A}" type="slidenum">
              <a:rPr lang="en-US"/>
              <a:pPr/>
              <a:t>11</a:t>
            </a:fld>
            <a:endParaRPr lang="en-US"/>
          </a:p>
        </p:txBody>
      </p:sp>
      <p:sp>
        <p:nvSpPr>
          <p:cNvPr id="44134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134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indent="-228600"/>
            <a:endParaRPr lang="en-I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5/9/2017</a:t>
            </a:fld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5/9/2017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5/9/2017</a:t>
            </a:fld>
            <a:endParaRPr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5/9/2017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5/9/2017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5/9/2017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5/9/2017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5/9/2017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5/9/2017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5/9/2017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5/9/2017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77788"/>
            <a:ext cx="7391400" cy="68421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1050925" y="1447800"/>
            <a:ext cx="3436938" cy="469423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0263" y="1447800"/>
            <a:ext cx="3436937" cy="469423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D21D778-B565-4D7E-94D7-64010A445B68}" type="datetimeFigureOut">
              <a:rPr lang="en-US" smtClean="0"/>
              <a:pPr algn="r" eaLnBrk="1" latinLnBrk="0" hangingPunct="1"/>
              <a:t>5/9/2017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sz="1600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80" name="Rectangle-4"/>
          <p:cNvSpPr>
            <a:spLocks noGrp="1" noChangeArrowheads="1"/>
          </p:cNvSpPr>
          <p:nvPr>
            <p:ph type="ctrTitle"/>
          </p:nvPr>
        </p:nvSpPr>
        <p:spPr>
          <a:xfrm>
            <a:off x="982368" y="3103405"/>
            <a:ext cx="7233371" cy="2535382"/>
          </a:xfrm>
        </p:spPr>
        <p:txBody>
          <a:bodyPr>
            <a:noAutofit/>
          </a:bodyPr>
          <a:lstStyle/>
          <a:p>
            <a:r>
              <a:rPr lang="fr-FR" altLang="zh-CN" sz="48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Chapitre 11</a:t>
            </a:r>
            <a:br>
              <a:rPr lang="fr-FR" altLang="zh-CN" sz="48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</a:br>
            <a:r>
              <a:rPr lang="fr-FR" altLang="zh-CN" sz="48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r>
              <a:rPr lang="fr-FR" altLang="zh-CN" sz="48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Maintenance des pilotes de périphériques</a:t>
            </a:r>
            <a:r>
              <a:rPr lang="en-IE" altLang="zh-CN" sz="48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4800" dirty="0">
              <a:solidFill>
                <a:srgbClr val="000000"/>
              </a:solidFill>
              <a:ea typeface="SimSun" pitchFamily="2" charset="-122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551695" y="900552"/>
            <a:ext cx="60544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/>
              <a:t>Module S42</a:t>
            </a:r>
            <a:endParaRPr lang="fr-FR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-2"/>
          <p:cNvSpPr>
            <a:spLocks noGrp="1" noChangeArrowheads="1"/>
          </p:cNvSpPr>
          <p:nvPr>
            <p:ph type="title"/>
          </p:nvPr>
        </p:nvSpPr>
        <p:spPr>
          <a:xfrm>
            <a:off x="301752" y="284018"/>
            <a:ext cx="8534400" cy="758952"/>
          </a:xfrm>
        </p:spPr>
        <p:txBody>
          <a:bodyPr>
            <a:normAutofit/>
          </a:bodyPr>
          <a:lstStyle/>
          <a:p>
            <a:r>
              <a:rPr lang="fr-FR" altLang="zh-CN" b="1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Plan du cours</a:t>
            </a:r>
            <a:endParaRPr lang="en-US" altLang="zh-CN" b="1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287747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274042" y="2233629"/>
            <a:ext cx="8503920" cy="2172115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fr-FR" altLang="zh-CN" sz="26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Configuration des options de signature des pilotes de périphériques</a:t>
            </a:r>
            <a:r>
              <a:rPr lang="en-IE" altLang="zh-CN" sz="26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600" dirty="0">
              <a:ea typeface="SimSun" pitchFamily="2" charset="-122"/>
              <a:cs typeface="Arial Narrow" pitchFamily="34" charset="0"/>
            </a:endParaRP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fr-FR" altLang="zh-CN" sz="26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Utilisation de la version précédente d'un pilote de périphérique</a:t>
            </a:r>
            <a:r>
              <a:rPr lang="en-IE" altLang="zh-CN" sz="26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600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-2"/>
          <p:cNvSpPr>
            <a:spLocks noGrp="1" noChangeArrowheads="1"/>
          </p:cNvSpPr>
          <p:nvPr>
            <p:ph type="title"/>
          </p:nvPr>
        </p:nvSpPr>
        <p:spPr>
          <a:xfrm>
            <a:off x="301752" y="311730"/>
            <a:ext cx="8534400" cy="758952"/>
          </a:xfrm>
        </p:spPr>
        <p:txBody>
          <a:bodyPr>
            <a:noAutofit/>
          </a:bodyPr>
          <a:lstStyle/>
          <a:p>
            <a:r>
              <a:rPr lang="fr-FR" altLang="zh-CN" sz="3000" b="1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1. Configuration des options de signature des pilotes de périphériques</a:t>
            </a:r>
            <a:r>
              <a:rPr lang="en-IE" altLang="zh-CN" sz="3000" b="1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3000" b="1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325635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246334" y="1665593"/>
            <a:ext cx="8503920" cy="4555097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  <a:buClrTx/>
              <a:buFont typeface="Wingdings" pitchFamily="2" charset="2"/>
              <a:buChar char="q"/>
            </a:pPr>
            <a:r>
              <a:rPr lang="fr-FR" altLang="zh-CN" sz="24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Qu'est-ce qu'un périphérique ?</a:t>
            </a:r>
            <a:r>
              <a:rPr lang="en-IE" altLang="zh-CN" sz="24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400" b="1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>
              <a:spcAft>
                <a:spcPts val="600"/>
              </a:spcAft>
              <a:buClrTx/>
              <a:buFont typeface="Wingdings" pitchFamily="2" charset="2"/>
              <a:buChar char="q"/>
            </a:pPr>
            <a:r>
              <a:rPr lang="fr-FR" altLang="zh-CN" sz="24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Qu'est-ce qu'un pilote de périphérique ?</a:t>
            </a:r>
            <a:r>
              <a:rPr lang="en-IE" altLang="zh-CN" sz="24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400" b="1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>
              <a:spcAft>
                <a:spcPts val="600"/>
              </a:spcAft>
              <a:buClrTx/>
              <a:buFont typeface="Wingdings" pitchFamily="2" charset="2"/>
              <a:buChar char="q"/>
            </a:pPr>
            <a:r>
              <a:rPr lang="fr-FR" altLang="zh-CN" sz="24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Quelles sont les propriétés d'un pilote de périphérique ?</a:t>
            </a:r>
            <a:r>
              <a:rPr lang="en-IE" altLang="zh-CN" sz="24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400" b="1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>
              <a:spcAft>
                <a:spcPts val="600"/>
              </a:spcAft>
              <a:buClrTx/>
              <a:buFont typeface="Wingdings" pitchFamily="2" charset="2"/>
              <a:buChar char="q"/>
            </a:pPr>
            <a:r>
              <a:rPr lang="fr-FR" altLang="zh-CN" sz="24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Qu'est-ce qu'un pilote de périphérique signé ?</a:t>
            </a:r>
            <a:r>
              <a:rPr lang="en-IE" altLang="zh-CN" sz="24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400" b="1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>
              <a:spcAft>
                <a:spcPts val="600"/>
              </a:spcAft>
              <a:buClrTx/>
              <a:buFont typeface="Wingdings" pitchFamily="2" charset="2"/>
              <a:buChar char="q"/>
            </a:pPr>
            <a:r>
              <a:rPr lang="fr-FR" altLang="zh-CN" sz="24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Paramètre Stratégie de groupe pour les pilotes de périphériques non signés</a:t>
            </a:r>
            <a:r>
              <a:rPr lang="en-IE" altLang="zh-CN" sz="24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IE" altLang="zh-CN" sz="2400" b="1" dirty="0" smtClean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-2"/>
          <p:cNvSpPr>
            <a:spLocks noGrp="1" noChangeArrowheads="1"/>
          </p:cNvSpPr>
          <p:nvPr>
            <p:ph type="title"/>
          </p:nvPr>
        </p:nvSpPr>
        <p:spPr>
          <a:xfrm>
            <a:off x="315606" y="173182"/>
            <a:ext cx="8534400" cy="758952"/>
          </a:xfrm>
        </p:spPr>
        <p:txBody>
          <a:bodyPr/>
          <a:lstStyle/>
          <a:p>
            <a:r>
              <a:rPr lang="fr-FR" altLang="zh-CN" sz="2800" b="1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Qu'est-ce qu'un périphérique ?</a:t>
            </a:r>
            <a:r>
              <a:rPr lang="en-IE" altLang="zh-CN" b="1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b="1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438276" name="Rectangle-4"/>
          <p:cNvSpPr>
            <a:spLocks noGrp="1" noChangeArrowheads="1"/>
          </p:cNvSpPr>
          <p:nvPr>
            <p:ph sz="quarter" idx="1"/>
          </p:nvPr>
        </p:nvSpPr>
        <p:spPr>
          <a:xfrm>
            <a:off x="301752" y="1527047"/>
            <a:ext cx="8503920" cy="4887607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Un périphérique est un équipement qui peut être connecté à un ordinateur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200" dirty="0">
              <a:ea typeface="SimSun" pitchFamily="2" charset="-122"/>
              <a:cs typeface="Arial Narrow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Exemples : carte vidéo, imprimante, manette de jeu, carte réseau, carte modem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200" dirty="0">
              <a:ea typeface="SimSun" pitchFamily="2" charset="-122"/>
              <a:cs typeface="Arial Narrow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Les périphériques peuvent être de deux types :</a:t>
            </a: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r>
              <a:rPr lang="en-US" altLang="zh-CN" dirty="0">
                <a:ea typeface="SimSun" pitchFamily="2" charset="-122"/>
                <a:cs typeface="Arial Narrow" pitchFamily="34" charset="0"/>
              </a:rPr>
              <a:t> </a:t>
            </a:r>
          </a:p>
          <a:p>
            <a:pPr lvl="1">
              <a:buClr>
                <a:schemeClr val="tx1"/>
              </a:buClr>
              <a:buFont typeface="Wingdings" pitchFamily="2" charset="2"/>
              <a:buChar char="Ø"/>
            </a:pPr>
            <a:r>
              <a:rPr lang="fr-FR" altLang="zh-CN" sz="2200" b="1" u="sng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Plug-and-Play</a:t>
            </a:r>
            <a:r>
              <a:rPr lang="en-IE" altLang="zh-CN" sz="2200" b="1" u="sng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b="1" u="sng" dirty="0" smtClean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 marL="547688" lvl="1" indent="-7938">
              <a:buClr>
                <a:schemeClr val="tx1"/>
              </a:buClr>
              <a:buNone/>
            </a:pPr>
            <a:r>
              <a:rPr lang="fr-FR" altLang="zh-CN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Combinaison </a:t>
            </a: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de prises en charge matérielles et logicielles permettant au système d'identifier les modifications apportées à la configuration matérielle et de s'y adapter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ea typeface="SimSun" pitchFamily="2" charset="-122"/>
              <a:cs typeface="Arial Narrow" pitchFamily="34" charset="0"/>
            </a:endParaRPr>
          </a:p>
          <a:p>
            <a:pPr lvl="1">
              <a:buClr>
                <a:schemeClr val="tx1"/>
              </a:buClr>
              <a:buFont typeface="Wingdings" pitchFamily="2" charset="2"/>
              <a:buChar char="Ø"/>
            </a:pPr>
            <a:r>
              <a:rPr lang="fr-FR" altLang="zh-CN" sz="2200" b="1" u="sng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Non Plug-and-Play</a:t>
            </a:r>
            <a:r>
              <a:rPr lang="en-IE" altLang="zh-CN" u="sng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u="sng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 marL="822325" lvl="2" indent="-19050">
              <a:buClr>
                <a:schemeClr val="tx1"/>
              </a:buClr>
              <a:buNone/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Ne sont pas pris en charge </a:t>
            </a:r>
            <a:r>
              <a:rPr lang="fr-FR" altLang="zh-CN" sz="22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les nouveaux systèmes d’exploitation</a:t>
            </a:r>
            <a:endParaRPr lang="en-US" altLang="zh-CN" sz="2200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38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38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38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38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438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38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38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-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sz="28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Qu'est-ce qu'un pilote de périphérique ?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b="1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414724" name="Rectangle-4"/>
          <p:cNvSpPr>
            <a:spLocks noGrp="1" noChangeArrowheads="1"/>
          </p:cNvSpPr>
          <p:nvPr>
            <p:ph sz="quarter" idx="1"/>
          </p:nvPr>
        </p:nvSpPr>
        <p:spPr>
          <a:xfrm>
            <a:off x="301752" y="1527048"/>
            <a:ext cx="8503920" cy="5330952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4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C’est un 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programme permettant à un périphérique spécifique de communiquer avec le système d'exploitation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400" dirty="0">
              <a:ea typeface="SimSun" pitchFamily="2" charset="-122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Chargé automatiquement au démarrage de l'ordinateur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IE" altLang="zh-CN" sz="2400" dirty="0" smtClean="0">
              <a:solidFill>
                <a:srgbClr val="000000"/>
              </a:solidFill>
              <a:ea typeface="SimSun" pitchFamily="2" charset="-122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400" dirty="0" smtClean="0">
                <a:solidFill>
                  <a:srgbClr val="000000"/>
                </a:solidFill>
                <a:ea typeface="SimSun" pitchFamily="2" charset="-122"/>
              </a:rPr>
              <a:t>Avant 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que Windows puisse utiliser un périphérique connecté à l'ordinateur, il faut que le pilote approprié soit </a:t>
            </a:r>
            <a:r>
              <a:rPr lang="fr-FR" altLang="zh-CN" sz="2400" dirty="0" smtClean="0">
                <a:solidFill>
                  <a:srgbClr val="000000"/>
                </a:solidFill>
                <a:ea typeface="SimSun" pitchFamily="2" charset="-122"/>
              </a:rPr>
              <a:t>installé</a:t>
            </a: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400" dirty="0" smtClean="0">
                <a:solidFill>
                  <a:srgbClr val="000000"/>
                </a:solidFill>
                <a:ea typeface="SimSun" pitchFamily="2" charset="-122"/>
              </a:rPr>
              <a:t>Utilisez 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le Gestionnaire de périphériques pour :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400" dirty="0">
              <a:ea typeface="SimSun" pitchFamily="2" charset="-122"/>
            </a:endParaRPr>
          </a:p>
          <a:p>
            <a:pPr lvl="1"/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Identifier, installer et mettre à jour les pilotes de périphériques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400" dirty="0">
              <a:ea typeface="SimSun" pitchFamily="2" charset="-122"/>
            </a:endParaRPr>
          </a:p>
          <a:p>
            <a:pPr lvl="1"/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Revenir à la version précédente d'un pilote de périphérique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400" dirty="0">
              <a:ea typeface="SimSun" pitchFamily="2" charset="-122"/>
            </a:endParaRPr>
          </a:p>
          <a:p>
            <a:pPr lvl="1"/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Activer, désactiver et désinstaller des périphériques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400" dirty="0">
              <a:solidFill>
                <a:srgbClr val="000000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14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14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14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14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14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14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14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-2"/>
          <p:cNvSpPr>
            <a:spLocks noGrp="1" noChangeArrowheads="1"/>
          </p:cNvSpPr>
          <p:nvPr>
            <p:ph type="title"/>
          </p:nvPr>
        </p:nvSpPr>
        <p:spPr>
          <a:xfrm>
            <a:off x="228600" y="302204"/>
            <a:ext cx="8721436" cy="684213"/>
          </a:xfrm>
        </p:spPr>
        <p:txBody>
          <a:bodyPr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Quelles sont les propriétés d'un pilote de périphérique ?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</p:txBody>
      </p:sp>
      <p:graphicFrame>
        <p:nvGraphicFramePr>
          <p:cNvPr id="436272" name="Group 48"/>
          <p:cNvGraphicFramePr>
            <a:graphicFrameLocks noGrp="1"/>
          </p:cNvGraphicFramePr>
          <p:nvPr>
            <p:ph sz="half" idx="2"/>
          </p:nvPr>
        </p:nvGraphicFramePr>
        <p:xfrm>
          <a:off x="193964" y="1333500"/>
          <a:ext cx="8742218" cy="4935284"/>
        </p:xfrm>
        <a:graphic>
          <a:graphicData uri="http://schemas.openxmlformats.org/drawingml/2006/table">
            <a:tbl>
              <a:tblPr/>
              <a:tblGrid>
                <a:gridCol w="2280494"/>
                <a:gridCol w="6461724"/>
              </a:tblGrid>
              <a:tr h="688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Propriétés d'un pilote de périphérique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Description</a:t>
                      </a:r>
                      <a:r>
                        <a:rPr kumimoji="0" lang="en-IE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</a:tr>
              <a:tr h="8747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Nom du pilote</a:t>
                      </a:r>
                      <a:r>
                        <a:rPr kumimoji="0" lang="en-IE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1143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Nom et emplacement du fichier du pilote, par exemple</a:t>
                      </a: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C:\Windows\System32\drivers\e100b325.sys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Fournisseur du pilote</a:t>
                      </a:r>
                      <a:r>
                        <a:rPr kumimoji="0" lang="en-IE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1143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Nom de la société qui a fourni le pilote à Microsoft, par exemple</a:t>
                      </a: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Intel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Date du pilote</a:t>
                      </a:r>
                      <a:r>
                        <a:rPr kumimoji="0" lang="en-IE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1143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Date à laquelle le pilote a été conçu, par exemple</a:t>
                      </a: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7/1/2001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Version du pilote</a:t>
                      </a:r>
                      <a:r>
                        <a:rPr kumimoji="0" lang="en-IE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1143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Numéro de version du pilote, par exemple</a:t>
                      </a: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5.41.22.0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1239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Signataire numérique</a:t>
                      </a:r>
                      <a:r>
                        <a:rPr kumimoji="0" lang="en-IE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1143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Nom de l'entité chargée de tester et de contrôler le bon fonctionnement du pilote, par exemple</a:t>
                      </a: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Microsoft Windows XP Publisher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-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sz="28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Qu'est-ce qu'un pilote de périphérique signé ?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b="1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416775" name="Rectangle-7"/>
          <p:cNvSpPr>
            <a:spLocks noGrp="1" noChangeArrowheads="1"/>
          </p:cNvSpPr>
          <p:nvPr>
            <p:ph sz="quarter" idx="1"/>
          </p:nvPr>
        </p:nvSpPr>
        <p:spPr>
          <a:xfrm>
            <a:off x="260188" y="2261339"/>
            <a:ext cx="8503920" cy="3072661"/>
          </a:xfrm>
        </p:spPr>
        <p:txBody>
          <a:bodyPr>
            <a:normAutofit/>
          </a:bodyPr>
          <a:lstStyle/>
          <a:p>
            <a:pPr>
              <a:buClrTx/>
              <a:buFont typeface="Wingdings" pitchFamily="2" charset="2"/>
              <a:buChar char="q"/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La signature numérique indique que le pilote a atteint un certain niveau de test et qu'il n'a pas été endommagé par le processus d'installation d'un autre programme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400" dirty="0">
              <a:ea typeface="SimSun" pitchFamily="2" charset="-122"/>
              <a:cs typeface="Arial Narrow" pitchFamily="34" charset="0"/>
            </a:endParaRPr>
          </a:p>
          <a:p>
            <a:pPr>
              <a:buClrTx/>
              <a:buFont typeface="Wingdings" pitchFamily="2" charset="2"/>
              <a:buChar char="q"/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L'utilisation de pilotes de périphériques signés permet de garantir les performances et la stabilité de votre système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400" dirty="0">
              <a:ea typeface="SimSun" pitchFamily="2" charset="-122"/>
              <a:cs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16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167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-2"/>
          <p:cNvSpPr>
            <a:spLocks noGrp="1" noChangeArrowheads="1"/>
          </p:cNvSpPr>
          <p:nvPr>
            <p:ph type="title"/>
          </p:nvPr>
        </p:nvSpPr>
        <p:spPr>
          <a:xfrm>
            <a:off x="187035" y="246784"/>
            <a:ext cx="8790709" cy="684213"/>
          </a:xfrm>
        </p:spPr>
        <p:txBody>
          <a:bodyPr>
            <a:normAutofit fontScale="90000"/>
          </a:bodyPr>
          <a:lstStyle/>
          <a:p>
            <a:r>
              <a:rPr lang="fr-FR" altLang="zh-CN" sz="28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Paramètre Stratégie de groupe pour les pilotes de périphériques non signés</a:t>
            </a:r>
            <a:endParaRPr lang="en-US" altLang="zh-CN" sz="2800" b="1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418819" name="Rectangle-3"/>
          <p:cNvSpPr>
            <a:spLocks noGrp="1" noChangeArrowheads="1"/>
          </p:cNvSpPr>
          <p:nvPr>
            <p:ph type="body" sz="half" idx="1"/>
          </p:nvPr>
        </p:nvSpPr>
        <p:spPr>
          <a:xfrm>
            <a:off x="166255" y="1349375"/>
            <a:ext cx="8811490" cy="1421534"/>
          </a:xfrm>
        </p:spPr>
        <p:txBody>
          <a:bodyPr>
            <a:normAutofit lnSpcReduction="10000"/>
          </a:bodyPr>
          <a:lstStyle/>
          <a:p>
            <a:pPr marL="77788" indent="-9525">
              <a:buNone/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Le paramètre Stratégie de groupe par défaut des pilotes de périphériques non signés </a:t>
            </a:r>
            <a:r>
              <a:rPr lang="fr-FR" altLang="zh-CN" sz="22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:</a:t>
            </a:r>
          </a:p>
          <a:p>
            <a:pPr marL="77788" indent="-9525">
              <a:buNone/>
            </a:pPr>
            <a:r>
              <a:rPr lang="fr-FR" altLang="zh-CN" sz="2200" b="1" u="sng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Périphériques</a:t>
            </a:r>
            <a:r>
              <a:rPr lang="fr-FR" altLang="zh-CN" sz="2200" b="1" u="sng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 : comportement d'installation d'un pilote non </a:t>
            </a:r>
            <a:r>
              <a:rPr lang="fr-FR" altLang="zh-CN" sz="2200" b="1" u="sng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signé:</a:t>
            </a:r>
            <a:r>
              <a:rPr lang="en-IE" altLang="zh-CN" sz="2200" b="1" u="sng" dirty="0" smtClean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200" b="1" u="sng" dirty="0">
              <a:ea typeface="SimSun" pitchFamily="2" charset="-122"/>
            </a:endParaRPr>
          </a:p>
          <a:p>
            <a:pPr>
              <a:buFont typeface="Wingdings" pitchFamily="2" charset="2"/>
              <a:buNone/>
            </a:pPr>
            <a:endParaRPr lang="en-US" altLang="zh-CN" sz="2200" dirty="0">
              <a:ea typeface="SimSun" pitchFamily="2" charset="-122"/>
            </a:endParaRPr>
          </a:p>
        </p:txBody>
      </p:sp>
      <p:grpSp>
        <p:nvGrpSpPr>
          <p:cNvPr id="418824" name="Group-8"/>
          <p:cNvGrpSpPr>
            <a:grpSpLocks/>
          </p:cNvGrpSpPr>
          <p:nvPr/>
        </p:nvGrpSpPr>
        <p:grpSpPr bwMode="auto">
          <a:xfrm>
            <a:off x="5202392" y="2576978"/>
            <a:ext cx="3748088" cy="3086100"/>
            <a:chOff x="3110" y="1764"/>
            <a:chExt cx="2247" cy="1850"/>
          </a:xfrm>
        </p:grpSpPr>
        <p:sp>
          <p:nvSpPr>
            <p:cNvPr id="418823" name="AutoShape-7"/>
            <p:cNvSpPr>
              <a:spLocks noChangeArrowheads="1"/>
            </p:cNvSpPr>
            <p:nvPr/>
          </p:nvSpPr>
          <p:spPr bwMode="auto">
            <a:xfrm>
              <a:off x="3110" y="1764"/>
              <a:ext cx="2247" cy="1850"/>
            </a:xfrm>
            <a:prstGeom prst="roundRect">
              <a:avLst>
                <a:gd name="adj" fmla="val 1801"/>
              </a:avLst>
            </a:prstGeom>
            <a:solidFill>
              <a:srgbClr val="B3C8DF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/>
            <a:lstStyle/>
            <a:p>
              <a:pPr algn="l"/>
              <a:endParaRPr lang="en-IE" sz="2400"/>
            </a:p>
          </p:txBody>
        </p:sp>
        <p:pic>
          <p:nvPicPr>
            <p:cNvPr id="418820" name="Picture-4" descr="gpo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151" y="1809"/>
              <a:ext cx="2165" cy="176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418822" name="Rectangle-6"/>
          <p:cNvSpPr>
            <a:spLocks noChangeArrowheads="1"/>
          </p:cNvSpPr>
          <p:nvPr/>
        </p:nvSpPr>
        <p:spPr bwMode="auto">
          <a:xfrm>
            <a:off x="221673" y="2716076"/>
            <a:ext cx="4932218" cy="3657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179388" lvl="1" indent="-166688" algn="l">
              <a:spcBef>
                <a:spcPct val="40000"/>
              </a:spcBef>
              <a:buClr>
                <a:srgbClr val="8DACD0"/>
              </a:buClr>
              <a:buFont typeface="Wingdings" pitchFamily="2" charset="2"/>
              <a:buChar char=""/>
            </a:pPr>
            <a:r>
              <a:rPr lang="fr-FR" altLang="zh-CN" sz="2200" u="sng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Réussite silencieuse</a:t>
            </a:r>
            <a:r>
              <a:rPr lang="fr-FR" altLang="zh-CN" sz="2200" b="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 : les utilisateurs peuvent installer des pilotes non signés sans recevoir aucun message d'avertissement</a:t>
            </a:r>
            <a:r>
              <a:rPr lang="en-IE" altLang="zh-CN" sz="2200" b="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200" b="0" dirty="0">
              <a:ea typeface="SimSun" pitchFamily="2" charset="-122"/>
              <a:cs typeface="Arial Narrow" pitchFamily="34" charset="0"/>
            </a:endParaRPr>
          </a:p>
          <a:p>
            <a:pPr marL="179388" lvl="1" indent="-166688" algn="l">
              <a:spcBef>
                <a:spcPct val="40000"/>
              </a:spcBef>
              <a:buClr>
                <a:srgbClr val="8DACD0"/>
              </a:buClr>
              <a:buFont typeface="Wingdings" pitchFamily="2" charset="2"/>
              <a:buChar char=""/>
            </a:pPr>
            <a:r>
              <a:rPr lang="fr-FR" altLang="zh-CN" sz="2200" u="sng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Avertir,</a:t>
            </a:r>
            <a:r>
              <a:rPr lang="fr-FR" altLang="zh-CN" sz="2200" b="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mais autoriser l'installation : les utilisateurs peuvent installer des pilotes non signés, mais un message d'avertissement apparaît</a:t>
            </a:r>
            <a:r>
              <a:rPr lang="en-IE" altLang="zh-CN" sz="2200" b="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200" b="0" dirty="0">
              <a:ea typeface="SimSun" pitchFamily="2" charset="-122"/>
              <a:cs typeface="Arial Narrow" pitchFamily="34" charset="0"/>
            </a:endParaRPr>
          </a:p>
          <a:p>
            <a:pPr marL="179388" lvl="1" indent="-166688" algn="l">
              <a:spcBef>
                <a:spcPct val="40000"/>
              </a:spcBef>
              <a:buClr>
                <a:srgbClr val="8DACD0"/>
              </a:buClr>
              <a:buFont typeface="Wingdings" pitchFamily="2" charset="2"/>
              <a:buChar char=""/>
            </a:pPr>
            <a:r>
              <a:rPr lang="fr-FR" altLang="zh-CN" sz="2200" u="sng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Ne pas autoriser l'installation</a:t>
            </a:r>
            <a:r>
              <a:rPr lang="fr-FR" altLang="zh-CN" sz="2200" b="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 : les utilisateurs ne peuvent pas installer de pilotes non signés</a:t>
            </a:r>
            <a:r>
              <a:rPr lang="en-IE" altLang="zh-CN" sz="2200" b="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1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18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18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18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18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18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1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-2"/>
          <p:cNvSpPr>
            <a:spLocks noGrp="1" noChangeArrowheads="1"/>
          </p:cNvSpPr>
          <p:nvPr>
            <p:ph type="title"/>
          </p:nvPr>
        </p:nvSpPr>
        <p:spPr>
          <a:xfrm>
            <a:off x="214744" y="166255"/>
            <a:ext cx="8735291" cy="917147"/>
          </a:xfrm>
        </p:spPr>
        <p:txBody>
          <a:bodyPr>
            <a:noAutofit/>
          </a:bodyPr>
          <a:lstStyle/>
          <a:p>
            <a:r>
              <a:rPr lang="fr-FR" altLang="zh-CN" sz="3000" b="1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2. Utilisation </a:t>
            </a:r>
            <a:r>
              <a:rPr lang="fr-FR" altLang="zh-CN" sz="3000" b="1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de la version précédente d'un pilote de périphérique</a:t>
            </a:r>
            <a:endParaRPr lang="en-US" altLang="zh-CN" sz="3000" b="1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362499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287897" y="1845725"/>
            <a:ext cx="8503920" cy="3031075"/>
          </a:xfrm>
        </p:spPr>
        <p:txBody>
          <a:bodyPr>
            <a:noAutofit/>
          </a:bodyPr>
          <a:lstStyle/>
          <a:p>
            <a:pPr>
              <a:buClrTx/>
              <a:buFont typeface="Wingdings" pitchFamily="2" charset="2"/>
              <a:buChar char="q"/>
            </a:pPr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Qu'est-ce que le retour à la version précédente d'un pilote de périphérique ?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>
              <a:buClrTx/>
              <a:buFont typeface="Wingdings" pitchFamily="2" charset="2"/>
              <a:buChar char="q"/>
            </a:pPr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Comment restaurer et mettre à jour les pilotes de périphériques ?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>
              <a:buClrTx/>
              <a:buFont typeface="Wingdings" pitchFamily="2" charset="2"/>
              <a:buChar char="q"/>
            </a:pPr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Désinstallation des périphériques et de leurs pilotes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endParaRPr lang="en-US" altLang="zh-CN" sz="2600" dirty="0">
              <a:ea typeface="SimSun" pitchFamily="2" charset="-122"/>
              <a:cs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-2"/>
          <p:cNvSpPr>
            <a:spLocks noGrp="1" noChangeArrowheads="1"/>
          </p:cNvSpPr>
          <p:nvPr>
            <p:ph type="title"/>
          </p:nvPr>
        </p:nvSpPr>
        <p:spPr>
          <a:xfrm>
            <a:off x="187036" y="260639"/>
            <a:ext cx="8763000" cy="684213"/>
          </a:xfrm>
        </p:spPr>
        <p:txBody>
          <a:bodyPr>
            <a:normAutofit fontScale="90000"/>
          </a:bodyPr>
          <a:lstStyle/>
          <a:p>
            <a:r>
              <a:rPr lang="fr-FR" altLang="zh-CN" sz="28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Qu'est-ce que le retour à la version précédente d'un pilote de périphérique ?</a:t>
            </a:r>
            <a:endParaRPr lang="en-US" altLang="zh-CN" b="1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420868" name="Rectangle-4"/>
          <p:cNvSpPr>
            <a:spLocks noGrp="1" noChangeArrowheads="1"/>
          </p:cNvSpPr>
          <p:nvPr>
            <p:ph sz="quarter" idx="1"/>
          </p:nvPr>
        </p:nvSpPr>
        <p:spPr>
          <a:xfrm>
            <a:off x="190916" y="1471629"/>
            <a:ext cx="8503920" cy="4846043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Après la mise à jour de pilotes de périphériques, il se peut que vous rencontriez des problèmes au démarrage ou à l'arrêt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400" dirty="0">
              <a:ea typeface="SimSun" pitchFamily="2" charset="-122"/>
              <a:cs typeface="Arial Narrow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Si un problème se produit, vous pouvez revenir à la version précédente via la fonction Revenir à la version </a:t>
            </a:r>
            <a:r>
              <a:rPr lang="fr-FR" altLang="zh-CN" sz="24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précédente</a:t>
            </a:r>
            <a:endParaRPr lang="en-US" altLang="zh-CN" sz="2400" dirty="0">
              <a:ea typeface="SimSun" pitchFamily="2" charset="-122"/>
              <a:cs typeface="Arial Narrow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Vous ne pouvez pas : </a:t>
            </a:r>
            <a:r>
              <a:rPr lang="en-US" altLang="zh-CN" sz="2400" dirty="0">
                <a:ea typeface="SimSun" pitchFamily="2" charset="-122"/>
                <a:cs typeface="Arial Narrow" pitchFamily="34" charset="0"/>
              </a:rPr>
              <a:t> </a:t>
            </a:r>
          </a:p>
          <a:p>
            <a:pPr lvl="1"/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Revenir à une version antérieure à la version précédente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ea typeface="SimSun" pitchFamily="2" charset="-122"/>
              <a:cs typeface="Arial Narrow" pitchFamily="34" charset="0"/>
            </a:endParaRPr>
          </a:p>
          <a:p>
            <a:pPr lvl="1"/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Restaurer la version précédente d'un pilote d'impression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ea typeface="SimSun" pitchFamily="2" charset="-122"/>
              <a:cs typeface="Arial Narrow" pitchFamily="34" charset="0"/>
            </a:endParaRPr>
          </a:p>
          <a:p>
            <a:pPr lvl="1"/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Restaurer simultanément les pilotes pour toutes les fonctions d'un périphérique multifonction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ea typeface="SimSun" pitchFamily="2" charset="-122"/>
              <a:cs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20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20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20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20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20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20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-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Désinstallation des périphériques et de leurs pilotes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</a:p>
        </p:txBody>
      </p:sp>
      <p:sp>
        <p:nvSpPr>
          <p:cNvPr id="440324" name="Rectangle-4"/>
          <p:cNvSpPr>
            <a:spLocks noGrp="1" noChangeArrowheads="1"/>
          </p:cNvSpPr>
          <p:nvPr>
            <p:ph sz="quarter" idx="1"/>
          </p:nvPr>
        </p:nvSpPr>
        <p:spPr>
          <a:xfrm>
            <a:off x="301752" y="1690255"/>
            <a:ext cx="8503920" cy="4184072"/>
          </a:xfrm>
        </p:spPr>
        <p:txBody>
          <a:bodyPr>
            <a:normAutofit/>
          </a:bodyPr>
          <a:lstStyle/>
          <a:p>
            <a:pPr>
              <a:buClrTx/>
              <a:buFont typeface="Wingdings" pitchFamily="2" charset="2"/>
              <a:buChar char="q"/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Si vous utilisez le Gestionnaire de périphériques pour désinstaller un pilote de périphérique, le pilote est supprimé de la mémoire mais pas du disque dur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400" dirty="0">
              <a:ea typeface="SimSun" pitchFamily="2" charset="-122"/>
              <a:cs typeface="Arial Narrow" pitchFamily="34" charset="0"/>
            </a:endParaRPr>
          </a:p>
          <a:p>
            <a:pPr>
              <a:buClrTx/>
              <a:buFont typeface="Wingdings" pitchFamily="2" charset="2"/>
              <a:buChar char="q"/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Pour désinstaller un périphérique Plug-and-Play, déconnectez ou supprimez le périphérique de l'ordinateur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400" dirty="0">
              <a:ea typeface="SimSun" pitchFamily="2" charset="-122"/>
              <a:cs typeface="Arial Narrow" pitchFamily="34" charset="0"/>
            </a:endParaRPr>
          </a:p>
          <a:p>
            <a:pPr>
              <a:buClrTx/>
              <a:buFont typeface="Wingdings" pitchFamily="2" charset="2"/>
              <a:buChar char="q"/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Désactivez un périphérique </a:t>
            </a:r>
            <a:r>
              <a:rPr lang="fr-FR" altLang="zh-CN" sz="2400" dirty="0" err="1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plug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-and-</a:t>
            </a:r>
            <a:r>
              <a:rPr lang="fr-FR" altLang="zh-CN" sz="2400" dirty="0" err="1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play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, plutôt que de le désinstaller, si vous ne voulez pas l'activer mais qu'il reste connecté à l'ordinateur (dans le cas d'un modem, par exemple)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400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40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40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40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11117</TotalTime>
  <Words>454</Words>
  <Application>Microsoft PowerPoint</Application>
  <PresentationFormat>Affichage à l'écran (4:3)</PresentationFormat>
  <Paragraphs>75</Paragraphs>
  <Slides>11</Slides>
  <Notes>11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2" baseType="lpstr">
      <vt:lpstr>Civil</vt:lpstr>
      <vt:lpstr>Chapitre 11  Maintenance des pilotes de périphériques </vt:lpstr>
      <vt:lpstr>Plan du cours</vt:lpstr>
      <vt:lpstr>1. Configuration des options de signature des pilotes de périphériques </vt:lpstr>
      <vt:lpstr>Qu'est-ce qu'un périphérique ? </vt:lpstr>
      <vt:lpstr>Qu'est-ce qu'un pilote de périphérique ? </vt:lpstr>
      <vt:lpstr>Quelles sont les propriétés d'un pilote de périphérique ?</vt:lpstr>
      <vt:lpstr>Qu'est-ce qu'un pilote de périphérique signé ? </vt:lpstr>
      <vt:lpstr>Paramètre Stratégie de groupe pour les pilotes de périphériques non signés</vt:lpstr>
      <vt:lpstr>2. Utilisation de la version précédente d'un pilote de périphérique</vt:lpstr>
      <vt:lpstr>Qu'est-ce que le retour à la version précédente d'un pilote de périphérique ?</vt:lpstr>
      <vt:lpstr>Désinstallation des périphériques et de leurs pilotes 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#: Module Title</dc:title>
  <dc:creator>User</dc:creator>
  <cp:lastModifiedBy>Halima</cp:lastModifiedBy>
  <cp:revision>353</cp:revision>
  <dcterms:created xsi:type="dcterms:W3CDTF">2002-08-07T17:51:12Z</dcterms:created>
  <dcterms:modified xsi:type="dcterms:W3CDTF">2017-05-09T19:31:51Z</dcterms:modified>
</cp:coreProperties>
</file>