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commentAuthors.xml" ContentType="application/vnd.openxmlformats-officedocument.presentationml.commentAuthor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Default Extension="gif" ContentType="image/gif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29"/>
  </p:notesMasterIdLst>
  <p:handoutMasterIdLst>
    <p:handoutMasterId r:id="rId30"/>
  </p:handoutMasterIdLst>
  <p:sldIdLst>
    <p:sldId id="416" r:id="rId2"/>
    <p:sldId id="420" r:id="rId3"/>
    <p:sldId id="421" r:id="rId4"/>
    <p:sldId id="545" r:id="rId5"/>
    <p:sldId id="546" r:id="rId6"/>
    <p:sldId id="547" r:id="rId7"/>
    <p:sldId id="580" r:id="rId8"/>
    <p:sldId id="586" r:id="rId9"/>
    <p:sldId id="581" r:id="rId10"/>
    <p:sldId id="550" r:id="rId11"/>
    <p:sldId id="551" r:id="rId12"/>
    <p:sldId id="552" r:id="rId13"/>
    <p:sldId id="553" r:id="rId14"/>
    <p:sldId id="582" r:id="rId15"/>
    <p:sldId id="583" r:id="rId16"/>
    <p:sldId id="559" r:id="rId17"/>
    <p:sldId id="584" r:id="rId18"/>
    <p:sldId id="566" r:id="rId19"/>
    <p:sldId id="544" r:id="rId20"/>
    <p:sldId id="579" r:id="rId21"/>
    <p:sldId id="511" r:id="rId22"/>
    <p:sldId id="585" r:id="rId23"/>
    <p:sldId id="452" r:id="rId24"/>
    <p:sldId id="453" r:id="rId25"/>
    <p:sldId id="568" r:id="rId26"/>
    <p:sldId id="588" r:id="rId27"/>
    <p:sldId id="589" r:id="rId2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lnSpc>
        <a:spcPct val="75000"/>
      </a:lnSpc>
      <a:spcBef>
        <a:spcPct val="0"/>
      </a:spcBef>
      <a:spcAft>
        <a:spcPct val="0"/>
      </a:spcAft>
      <a:buClr>
        <a:srgbClr val="8DACD0"/>
      </a:buClr>
      <a:buSzPct val="70000"/>
      <a:buFont typeface="Wingdings" charset="2"/>
      <a:defRPr sz="2000" b="1" kern="1200">
        <a:solidFill>
          <a:srgbClr val="000000"/>
        </a:solidFill>
        <a:latin typeface="Arial Narrow" charset="0"/>
        <a:ea typeface="+mn-ea"/>
        <a:cs typeface="+mn-cs"/>
      </a:defRPr>
    </a:lvl1pPr>
    <a:lvl2pPr marL="457200" algn="l" rtl="0" eaLnBrk="0" fontAlgn="base" hangingPunct="0">
      <a:lnSpc>
        <a:spcPct val="75000"/>
      </a:lnSpc>
      <a:spcBef>
        <a:spcPct val="0"/>
      </a:spcBef>
      <a:spcAft>
        <a:spcPct val="0"/>
      </a:spcAft>
      <a:buClr>
        <a:srgbClr val="8DACD0"/>
      </a:buClr>
      <a:buSzPct val="70000"/>
      <a:buFont typeface="Wingdings" charset="2"/>
      <a:defRPr sz="2000" b="1" kern="1200">
        <a:solidFill>
          <a:srgbClr val="000000"/>
        </a:solidFill>
        <a:latin typeface="Arial Narrow" charset="0"/>
        <a:ea typeface="+mn-ea"/>
        <a:cs typeface="+mn-cs"/>
      </a:defRPr>
    </a:lvl2pPr>
    <a:lvl3pPr marL="914400" algn="l" rtl="0" eaLnBrk="0" fontAlgn="base" hangingPunct="0">
      <a:lnSpc>
        <a:spcPct val="75000"/>
      </a:lnSpc>
      <a:spcBef>
        <a:spcPct val="0"/>
      </a:spcBef>
      <a:spcAft>
        <a:spcPct val="0"/>
      </a:spcAft>
      <a:buClr>
        <a:srgbClr val="8DACD0"/>
      </a:buClr>
      <a:buSzPct val="70000"/>
      <a:buFont typeface="Wingdings" charset="2"/>
      <a:defRPr sz="2000" b="1" kern="1200">
        <a:solidFill>
          <a:srgbClr val="000000"/>
        </a:solidFill>
        <a:latin typeface="Arial Narrow" charset="0"/>
        <a:ea typeface="+mn-ea"/>
        <a:cs typeface="+mn-cs"/>
      </a:defRPr>
    </a:lvl3pPr>
    <a:lvl4pPr marL="1371600" algn="l" rtl="0" eaLnBrk="0" fontAlgn="base" hangingPunct="0">
      <a:lnSpc>
        <a:spcPct val="75000"/>
      </a:lnSpc>
      <a:spcBef>
        <a:spcPct val="0"/>
      </a:spcBef>
      <a:spcAft>
        <a:spcPct val="0"/>
      </a:spcAft>
      <a:buClr>
        <a:srgbClr val="8DACD0"/>
      </a:buClr>
      <a:buSzPct val="70000"/>
      <a:buFont typeface="Wingdings" charset="2"/>
      <a:defRPr sz="2000" b="1" kern="1200">
        <a:solidFill>
          <a:srgbClr val="000000"/>
        </a:solidFill>
        <a:latin typeface="Arial Narrow" charset="0"/>
        <a:ea typeface="+mn-ea"/>
        <a:cs typeface="+mn-cs"/>
      </a:defRPr>
    </a:lvl4pPr>
    <a:lvl5pPr marL="1828800" algn="l" rtl="0" eaLnBrk="0" fontAlgn="base" hangingPunct="0">
      <a:lnSpc>
        <a:spcPct val="75000"/>
      </a:lnSpc>
      <a:spcBef>
        <a:spcPct val="0"/>
      </a:spcBef>
      <a:spcAft>
        <a:spcPct val="0"/>
      </a:spcAft>
      <a:buClr>
        <a:srgbClr val="8DACD0"/>
      </a:buClr>
      <a:buSzPct val="70000"/>
      <a:buFont typeface="Wingdings" charset="2"/>
      <a:defRPr sz="2000" b="1" kern="1200">
        <a:solidFill>
          <a:srgbClr val="000000"/>
        </a:solidFill>
        <a:latin typeface="Arial Narrow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rgbClr val="000000"/>
        </a:solidFill>
        <a:latin typeface="Arial Narrow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rgbClr val="000000"/>
        </a:solidFill>
        <a:latin typeface="Arial Narrow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rgbClr val="000000"/>
        </a:solidFill>
        <a:latin typeface="Arial Narrow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rgbClr val="000000"/>
        </a:solidFill>
        <a:latin typeface="Arial Narrow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ser" initials="" lastIdx="1" clrIdx="0"/>
  <p:cmAuthor id="1" name="v-sonalm" initials="" lastIdx="2" clrIdx="1"/>
  <p:cmAuthor id="2" name="Sonal Mangrulkar" initials="" lastIdx="35" clrIdx="2"/>
  <p:cmAuthor id="3" name="Jeff Johnson" initials="" lastIdx="21" clrIdx="3"/>
  <p:cmAuthor id="4" name="Home" initials="" lastIdx="1" clrIdx="4"/>
  <p:cmAuthor id="5" name="jimcla" initials="" lastIdx="2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webPr encoding="windows-1252"/>
  <p:clrMru>
    <a:srgbClr val="333333"/>
    <a:srgbClr val="EEEFD7"/>
    <a:srgbClr val="D5D69C"/>
    <a:srgbClr val="DFE8F2"/>
    <a:srgbClr val="CC0000"/>
    <a:srgbClr val="9D76CC"/>
    <a:srgbClr val="B395D8"/>
    <a:srgbClr val="FFFF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19" autoAdjust="0"/>
    <p:restoredTop sz="94660" autoAdjust="0"/>
  </p:normalViewPr>
  <p:slideViewPr>
    <p:cSldViewPr snapToGrid="0">
      <p:cViewPr>
        <p:scale>
          <a:sx n="70" d="100"/>
          <a:sy n="70" d="100"/>
        </p:scale>
        <p:origin x="-1290" y="6"/>
      </p:cViewPr>
      <p:guideLst>
        <p:guide orient="horz" pos="350"/>
        <p:guide pos="328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84"/>
    </p:cViewPr>
  </p:sorterViewPr>
  <p:notesViewPr>
    <p:cSldViewPr snapToGrid="0">
      <p:cViewPr varScale="1">
        <p:scale>
          <a:sx n="56" d="100"/>
          <a:sy n="56" d="100"/>
        </p:scale>
        <p:origin x="-1236" y="-96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0.xml"/><Relationship Id="rId2" Type="http://schemas.openxmlformats.org/officeDocument/2006/relationships/slide" Target="slides/slide3.xml"/><Relationship Id="rId1" Type="http://schemas.openxmlformats.org/officeDocument/2006/relationships/slide" Target="slides/slide2.xml"/><Relationship Id="rId5" Type="http://schemas.openxmlformats.org/officeDocument/2006/relationships/slide" Target="slides/slide23.xml"/><Relationship Id="rId4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buClrTx/>
              <a:buSzTx/>
              <a:buFontTx/>
              <a:buNone/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Tx/>
              <a:buSzTx/>
              <a:buFontTx/>
              <a:buNone/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buClrTx/>
              <a:buSzTx/>
              <a:buFontTx/>
              <a:buNone/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Tx/>
              <a:buSzTx/>
              <a:buFontTx/>
              <a:buNone/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fld id="{48EF6E06-1A93-48C7-A410-ECC40C8C22CC}" type="slidenum">
              <a:rPr lang="en-US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buClrTx/>
              <a:buSzTx/>
              <a:buFontTx/>
              <a:buNone/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Tx/>
              <a:buSzTx/>
              <a:buFontTx/>
              <a:buNone/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buClrTx/>
              <a:buSzTx/>
              <a:buFontTx/>
              <a:buNone/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Tx/>
              <a:buSzTx/>
              <a:buFontTx/>
              <a:buNone/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fld id="{1B0612D7-BC91-4EBC-AB22-3C9DE0411EEA}" type="slidenum">
              <a:rPr lang="en-US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3236D2-9940-4A28-AD08-2F71CA7B6990}" type="slidenum">
              <a:rPr lang="en-US"/>
              <a:pPr/>
              <a:t>1</a:t>
            </a:fld>
            <a:endParaRPr lang="en-US"/>
          </a:p>
        </p:txBody>
      </p:sp>
      <p:sp>
        <p:nvSpPr>
          <p:cNvPr id="399362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68E1F0-7F50-4C49-A831-CEC9BA72F958}" type="slidenum">
              <a:rPr lang="en-US"/>
              <a:pPr/>
              <a:t>2</a:t>
            </a:fld>
            <a:endParaRPr lang="en-US"/>
          </a:p>
        </p:txBody>
      </p:sp>
      <p:sp>
        <p:nvSpPr>
          <p:cNvPr id="385026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5027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D80114-DD84-4235-A31F-BDAD2FA2A078}" type="slidenum">
              <a:rPr lang="en-US"/>
              <a:pPr/>
              <a:t>3</a:t>
            </a:fld>
            <a:endParaRPr lang="en-US"/>
          </a:p>
        </p:txBody>
      </p:sp>
      <p:sp>
        <p:nvSpPr>
          <p:cNvPr id="38605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605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FD9AA6-0C29-4D94-8910-AA5CD480FF21}" type="slidenum">
              <a:rPr lang="en-US"/>
              <a:pPr/>
              <a:t>4</a:t>
            </a:fld>
            <a:endParaRPr lang="en-US"/>
          </a:p>
        </p:txBody>
      </p:sp>
      <p:sp>
        <p:nvSpPr>
          <p:cNvPr id="513026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3027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7C7A62-26A3-4068-B6FE-649114FC2216}" type="slidenum">
              <a:rPr lang="en-US"/>
              <a:pPr/>
              <a:t>5</a:t>
            </a:fld>
            <a:endParaRPr lang="en-US"/>
          </a:p>
        </p:txBody>
      </p:sp>
      <p:sp>
        <p:nvSpPr>
          <p:cNvPr id="51405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405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8C71E6-4B06-4C7C-B43E-DA95574768BC}" type="slidenum">
              <a:rPr lang="en-US"/>
              <a:pPr/>
              <a:t>6</a:t>
            </a:fld>
            <a:endParaRPr lang="en-US"/>
          </a:p>
        </p:txBody>
      </p:sp>
      <p:sp>
        <p:nvSpPr>
          <p:cNvPr id="515074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5075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8C71E6-4B06-4C7C-B43E-DA95574768BC}" type="slidenum">
              <a:rPr lang="en-US"/>
              <a:pPr/>
              <a:t>7</a:t>
            </a:fld>
            <a:endParaRPr lang="en-US"/>
          </a:p>
        </p:txBody>
      </p:sp>
      <p:sp>
        <p:nvSpPr>
          <p:cNvPr id="515074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5075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8C71E6-4B06-4C7C-B43E-DA95574768BC}" type="slidenum">
              <a:rPr lang="en-US"/>
              <a:pPr/>
              <a:t>8</a:t>
            </a:fld>
            <a:endParaRPr lang="en-US"/>
          </a:p>
        </p:txBody>
      </p:sp>
      <p:sp>
        <p:nvSpPr>
          <p:cNvPr id="515074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5075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8C71E6-4B06-4C7C-B43E-DA95574768BC}" type="slidenum">
              <a:rPr lang="en-US"/>
              <a:pPr/>
              <a:t>9</a:t>
            </a:fld>
            <a:endParaRPr lang="en-US"/>
          </a:p>
        </p:txBody>
      </p:sp>
      <p:sp>
        <p:nvSpPr>
          <p:cNvPr id="515074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5075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EB76BE-CCDB-4F20-BF6E-9CE904A581A5}" type="slidenum">
              <a:rPr lang="en-US"/>
              <a:pPr/>
              <a:t>10</a:t>
            </a:fld>
            <a:endParaRPr lang="en-US"/>
          </a:p>
        </p:txBody>
      </p:sp>
      <p:sp>
        <p:nvSpPr>
          <p:cNvPr id="47309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309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5CB9F6-6F62-4204-9F32-A2D3689AB453}" type="slidenum">
              <a:rPr lang="en-US"/>
              <a:pPr/>
              <a:t>11</a:t>
            </a:fld>
            <a:endParaRPr lang="en-US"/>
          </a:p>
        </p:txBody>
      </p:sp>
      <p:sp>
        <p:nvSpPr>
          <p:cNvPr id="518146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8147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2A2EF9-14CA-4E2E-95A3-143D2491E1BD}" type="slidenum">
              <a:rPr lang="en-US"/>
              <a:pPr/>
              <a:t>12</a:t>
            </a:fld>
            <a:endParaRPr lang="en-US"/>
          </a:p>
        </p:txBody>
      </p:sp>
      <p:sp>
        <p:nvSpPr>
          <p:cNvPr id="51917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917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AB9BD8-033A-4BB7-B3FE-F1744A107757}" type="slidenum">
              <a:rPr lang="en-US"/>
              <a:pPr/>
              <a:t>13</a:t>
            </a:fld>
            <a:endParaRPr lang="en-US"/>
          </a:p>
        </p:txBody>
      </p:sp>
      <p:sp>
        <p:nvSpPr>
          <p:cNvPr id="520194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0195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AB9BD8-033A-4BB7-B3FE-F1744A107757}" type="slidenum">
              <a:rPr lang="en-US"/>
              <a:pPr/>
              <a:t>14</a:t>
            </a:fld>
            <a:endParaRPr lang="en-US"/>
          </a:p>
        </p:txBody>
      </p:sp>
      <p:sp>
        <p:nvSpPr>
          <p:cNvPr id="520194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0195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AB9BD8-033A-4BB7-B3FE-F1744A107757}" type="slidenum">
              <a:rPr lang="en-US"/>
              <a:pPr/>
              <a:t>15</a:t>
            </a:fld>
            <a:endParaRPr lang="en-US"/>
          </a:p>
        </p:txBody>
      </p:sp>
      <p:sp>
        <p:nvSpPr>
          <p:cNvPr id="520194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0195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781892-0A56-4974-94FB-FEF3CA048E2C}" type="slidenum">
              <a:rPr lang="en-US"/>
              <a:pPr/>
              <a:t>16</a:t>
            </a:fld>
            <a:endParaRPr lang="en-US"/>
          </a:p>
        </p:txBody>
      </p:sp>
      <p:sp>
        <p:nvSpPr>
          <p:cNvPr id="52429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429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781892-0A56-4974-94FB-FEF3CA048E2C}" type="slidenum">
              <a:rPr lang="en-US"/>
              <a:pPr/>
              <a:t>17</a:t>
            </a:fld>
            <a:endParaRPr lang="en-US"/>
          </a:p>
        </p:txBody>
      </p:sp>
      <p:sp>
        <p:nvSpPr>
          <p:cNvPr id="52429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429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F21268-F92B-4EDA-9FDC-2170BD276E8C}" type="slidenum">
              <a:rPr lang="en-US"/>
              <a:pPr/>
              <a:t>18</a:t>
            </a:fld>
            <a:endParaRPr lang="en-US"/>
          </a:p>
        </p:txBody>
      </p:sp>
      <p:sp>
        <p:nvSpPr>
          <p:cNvPr id="491522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23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E90CFD-CD71-4FC0-959D-DC3874066E08}" type="slidenum">
              <a:rPr lang="en-US"/>
              <a:pPr/>
              <a:t>19</a:t>
            </a:fld>
            <a:endParaRPr lang="en-US"/>
          </a:p>
        </p:txBody>
      </p:sp>
      <p:sp>
        <p:nvSpPr>
          <p:cNvPr id="527362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7363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B8CBCB-AFB2-400C-B578-73CE4DB13F3E}" type="slidenum">
              <a:rPr lang="en-US"/>
              <a:pPr/>
              <a:t>20</a:t>
            </a:fld>
            <a:endParaRPr lang="en-US"/>
          </a:p>
        </p:txBody>
      </p:sp>
      <p:sp>
        <p:nvSpPr>
          <p:cNvPr id="528386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8387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ADF26D-7808-4849-9A21-BFE5859E43A2}" type="slidenum">
              <a:rPr lang="en-US"/>
              <a:pPr/>
              <a:t>21</a:t>
            </a:fld>
            <a:endParaRPr lang="en-US"/>
          </a:p>
        </p:txBody>
      </p:sp>
      <p:sp>
        <p:nvSpPr>
          <p:cNvPr id="417794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7795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IE" sz="8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ADF26D-7808-4849-9A21-BFE5859E43A2}" type="slidenum">
              <a:rPr lang="en-US"/>
              <a:pPr/>
              <a:t>22</a:t>
            </a:fld>
            <a:endParaRPr lang="en-US"/>
          </a:p>
        </p:txBody>
      </p:sp>
      <p:sp>
        <p:nvSpPr>
          <p:cNvPr id="417794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7795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IE" sz="8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211190-3438-479D-AA0D-DC14CE911BF7}" type="slidenum">
              <a:rPr lang="en-US"/>
              <a:pPr/>
              <a:t>23</a:t>
            </a:fld>
            <a:endParaRPr lang="en-US"/>
          </a:p>
        </p:txBody>
      </p:sp>
      <p:sp>
        <p:nvSpPr>
          <p:cNvPr id="388098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8099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31CCA6-27F2-465D-A838-3DD3B7600D4C}" type="slidenum">
              <a:rPr lang="en-US"/>
              <a:pPr/>
              <a:t>24</a:t>
            </a:fld>
            <a:endParaRPr lang="en-US"/>
          </a:p>
        </p:txBody>
      </p:sp>
      <p:sp>
        <p:nvSpPr>
          <p:cNvPr id="44237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237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37D462-28CF-4104-AC8C-5D35810EA0ED}" type="slidenum">
              <a:rPr lang="en-US"/>
              <a:pPr/>
              <a:t>25</a:t>
            </a:fld>
            <a:endParaRPr lang="en-US"/>
          </a:p>
        </p:txBody>
      </p:sp>
      <p:sp>
        <p:nvSpPr>
          <p:cNvPr id="494594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4595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4/5/2016</a:t>
            </a:fld>
            <a:endParaRPr lang="en-US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4/5/2016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4/5/2016</a:t>
            </a:fld>
            <a:endParaRPr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9D21D778-B565-4D7E-94D7-64010A445B68}" type="datetimeFigureOut">
              <a:rPr lang="en-US" smtClean="0"/>
              <a:pPr/>
              <a:t>4/5/2016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4/5/2016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dirty="0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4/5/2016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4/5/2016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4/5/2016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9D21D778-B565-4D7E-94D7-64010A445B68}" type="datetimeFigureOut">
              <a:rPr lang="en-US" smtClean="0"/>
              <a:pPr/>
              <a:t>4/5/2016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4/5/2016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4/5/2016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77788"/>
            <a:ext cx="7391400" cy="684212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1050925" y="1447800"/>
            <a:ext cx="3436938" cy="4694238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0263" y="1447800"/>
            <a:ext cx="3436937" cy="4694238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 algn="r" eaLnBrk="1" latinLnBrk="0" hangingPunct="1"/>
            <a:fld id="{9D21D778-B565-4D7E-94D7-64010A445B68}" type="datetimeFigureOut">
              <a:rPr lang="en-US" smtClean="0"/>
              <a:pPr algn="r" eaLnBrk="1" latinLnBrk="0" hangingPunct="1"/>
              <a:t>4/5/2016</a:t>
            </a:fld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sz="1600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80" name="Rectangle-4"/>
          <p:cNvSpPr>
            <a:spLocks noGrp="1" noChangeArrowheads="1"/>
          </p:cNvSpPr>
          <p:nvPr>
            <p:ph type="ctrTitle"/>
          </p:nvPr>
        </p:nvSpPr>
        <p:spPr>
          <a:xfrm>
            <a:off x="341194" y="3111689"/>
            <a:ext cx="8352430" cy="3207223"/>
          </a:xfrm>
        </p:spPr>
        <p:txBody>
          <a:bodyPr>
            <a:noAutofit/>
          </a:bodyPr>
          <a:lstStyle/>
          <a:p>
            <a:r>
              <a:rPr lang="fr-FR" altLang="zh-CN" sz="4800" dirty="0" smtClean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Chapitre 8 </a:t>
            </a:r>
            <a:br>
              <a:rPr lang="fr-FR" altLang="zh-CN" sz="4800" dirty="0" smtClean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</a:br>
            <a:r>
              <a:rPr lang="fr-FR" altLang="zh-CN" sz="4800" dirty="0" smtClean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Implémentation </a:t>
            </a:r>
            <a:r>
              <a:rPr lang="fr-FR" altLang="zh-CN" sz="4800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de modèles d'administration et d'une stratégie d'audit </a:t>
            </a:r>
            <a:endParaRPr lang="en-US" sz="4800" dirty="0">
              <a:ea typeface="SimSun" pitchFamily="2" charset="-122"/>
              <a:cs typeface="Times New Roman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924334" y="641445"/>
            <a:ext cx="4872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 smtClean="0"/>
              <a:t>Module S42</a:t>
            </a:r>
            <a:endParaRPr lang="fr-FR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-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b="1" dirty="0" smtClean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Plan du cours</a:t>
            </a:r>
            <a:endParaRPr lang="en-US" b="1" dirty="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287747" name="Rectangle-3"/>
          <p:cNvSpPr>
            <a:spLocks noGrp="1" noChangeArrowheads="1"/>
          </p:cNvSpPr>
          <p:nvPr>
            <p:ph sz="quarter" idx="1"/>
          </p:nvPr>
        </p:nvSpPr>
        <p:spPr>
          <a:xfrm>
            <a:off x="301752" y="2086606"/>
            <a:ext cx="8503920" cy="3372498"/>
          </a:xfrm>
        </p:spPr>
        <p:txBody>
          <a:bodyPr/>
          <a:lstStyle/>
          <a:p>
            <a:pPr marL="514350" indent="-514350">
              <a:buClrTx/>
              <a:buFont typeface="+mj-lt"/>
              <a:buAutoNum type="arabicPeriod"/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Vue d'ensemble de la sécurité dans Windows </a:t>
            </a:r>
            <a:b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</a:b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Server 2003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dirty="0">
              <a:ea typeface="SimSun" pitchFamily="2" charset="-122"/>
              <a:cs typeface="Times New Roman" charset="0"/>
            </a:endParaRPr>
          </a:p>
          <a:p>
            <a:pPr marL="514350" indent="-514350">
              <a:buClrTx/>
              <a:buFont typeface="+mj-lt"/>
              <a:buAutoNum type="arabicPeriod"/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Utilisation de modèles de sécurité pour protéger les ordinateurs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dirty="0">
              <a:ea typeface="SimSun" pitchFamily="2" charset="-122"/>
              <a:cs typeface="Times New Roman" charset="0"/>
            </a:endParaRPr>
          </a:p>
          <a:p>
            <a:pPr marL="514350" indent="-514350">
              <a:buClrTx/>
              <a:buFont typeface="+mj-lt"/>
              <a:buAutoNum type="arabicPeriod"/>
            </a:pPr>
            <a:r>
              <a:rPr lang="fr-FR" altLang="zh-CN" dirty="0" smtClean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Configuration </a:t>
            </a: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de l'audit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IE" altLang="zh-CN" dirty="0" smtClean="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  <a:p>
            <a:pPr marL="514350" indent="-514350">
              <a:buClrTx/>
              <a:buFont typeface="+mj-lt"/>
              <a:buAutoNum type="arabicPeriod"/>
            </a:pPr>
            <a:r>
              <a:rPr lang="fr-FR" altLang="zh-CN" dirty="0" smtClean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Gestion </a:t>
            </a: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des journaux de sécurité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dirty="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-2"/>
          <p:cNvSpPr>
            <a:spLocks noGrp="1" noChangeArrowheads="1"/>
          </p:cNvSpPr>
          <p:nvPr>
            <p:ph type="title"/>
          </p:nvPr>
        </p:nvSpPr>
        <p:spPr>
          <a:xfrm>
            <a:off x="163773" y="310488"/>
            <a:ext cx="8816454" cy="758952"/>
          </a:xfrm>
        </p:spPr>
        <p:txBody>
          <a:bodyPr>
            <a:noAutofit/>
          </a:bodyPr>
          <a:lstStyle/>
          <a:p>
            <a:r>
              <a:rPr lang="fr-FR" altLang="zh-CN" sz="3000" b="1" dirty="0" smtClean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1. Vue </a:t>
            </a:r>
            <a:r>
              <a:rPr lang="fr-FR" altLang="zh-CN" sz="3000" b="1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d'ensemble de la sécurité dans Windows Server 2003</a:t>
            </a:r>
            <a:r>
              <a:rPr lang="en-IE" altLang="zh-CN" sz="3000" b="1" dirty="0">
                <a:solidFill>
                  <a:srgbClr val="000000"/>
                </a:solidFill>
                <a:ea typeface="SimSun" pitchFamily="2" charset="-122"/>
              </a:rPr>
              <a:t> </a:t>
            </a:r>
            <a:r>
              <a:rPr lang="en-US" sz="3000" b="1" dirty="0"/>
              <a:t> </a:t>
            </a:r>
          </a:p>
        </p:txBody>
      </p:sp>
      <p:sp>
        <p:nvSpPr>
          <p:cNvPr id="288771" name="Rectangle-3"/>
          <p:cNvSpPr>
            <a:spLocks noGrp="1" noChangeArrowheads="1"/>
          </p:cNvSpPr>
          <p:nvPr>
            <p:ph sz="quarter" idx="1"/>
          </p:nvPr>
        </p:nvSpPr>
        <p:spPr>
          <a:xfrm>
            <a:off x="301752" y="2072968"/>
            <a:ext cx="8503920" cy="2676462"/>
          </a:xfrm>
        </p:spPr>
        <p:txBody>
          <a:bodyPr/>
          <a:lstStyle/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Description des droits utilisateur</a:t>
            </a:r>
            <a:r>
              <a:rPr lang="en-IE" altLang="zh-CN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Droits utilisateur et autorisations</a:t>
            </a:r>
            <a:r>
              <a:rPr lang="en-IE" altLang="zh-CN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Droits utilisateur attribués à des groupes prédéfinis</a:t>
            </a:r>
            <a:r>
              <a:rPr lang="en-IE" altLang="zh-CN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Procédure d'attribution des droits utilisateur</a:t>
            </a:r>
            <a:r>
              <a:rPr lang="en-IE" altLang="zh-CN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9" name="AutoShape-5"/>
          <p:cNvSpPr>
            <a:spLocks noChangeArrowheads="1"/>
          </p:cNvSpPr>
          <p:nvPr/>
        </p:nvSpPr>
        <p:spPr bwMode="auto">
          <a:xfrm>
            <a:off x="204716" y="2609204"/>
            <a:ext cx="8734568" cy="4228343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en-IE" sz="2400" b="0">
              <a:solidFill>
                <a:schemeClr val="tx1"/>
              </a:solidFill>
            </a:endParaRPr>
          </a:p>
        </p:txBody>
      </p:sp>
      <p:sp>
        <p:nvSpPr>
          <p:cNvPr id="466946" name="Rectangle-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altLang="zh-CN" sz="30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Description des droits utilisateur</a:t>
            </a:r>
            <a:r>
              <a:rPr lang="en-IE" altLang="zh-CN" sz="30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3000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pic>
        <p:nvPicPr>
          <p:cNvPr id="466971" name="Picture 27" descr="2144A1004a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02835" y="3121305"/>
            <a:ext cx="4116753" cy="3566117"/>
          </a:xfrm>
          <a:noFill/>
          <a:ln/>
        </p:spPr>
      </p:pic>
      <p:sp>
        <p:nvSpPr>
          <p:cNvPr id="466950" name="AutoShape-6"/>
          <p:cNvSpPr>
            <a:spLocks noChangeArrowheads="1"/>
          </p:cNvSpPr>
          <p:nvPr/>
        </p:nvSpPr>
        <p:spPr bwMode="auto">
          <a:xfrm>
            <a:off x="3076575" y="2468842"/>
            <a:ext cx="3295650" cy="458788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ctr">
              <a:lnSpc>
                <a:spcPct val="90000"/>
              </a:lnSpc>
              <a:spcBef>
                <a:spcPct val="40000"/>
              </a:spcBef>
              <a:buClrTx/>
              <a:buSzPct val="80000"/>
              <a:buFontTx/>
              <a:buNone/>
            </a:pPr>
            <a:r>
              <a:rPr lang="fr-FR" altLang="zh-CN">
                <a:ea typeface="SimSun" pitchFamily="2" charset="-122"/>
                <a:cs typeface="Times New Roman" charset="0"/>
              </a:rPr>
              <a:t>Exemples de droits utilisateur</a:t>
            </a:r>
            <a:r>
              <a:rPr lang="en-IE" altLang="zh-CN">
                <a:ea typeface="SimSun" pitchFamily="2" charset="-122"/>
                <a:cs typeface="Times New Roman" charset="0"/>
              </a:rPr>
              <a:t> </a:t>
            </a:r>
            <a:endParaRPr lang="en-US">
              <a:ea typeface="SimSun" pitchFamily="2" charset="-122"/>
              <a:cs typeface="Times New Roman" charset="0"/>
            </a:endParaRPr>
          </a:p>
        </p:txBody>
      </p:sp>
      <p:pic>
        <p:nvPicPr>
          <p:cNvPr id="466972" name="Picture 28" descr="2144a1004b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86213" y="3765830"/>
            <a:ext cx="4919277" cy="1788828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293426" y="1455804"/>
            <a:ext cx="8659505" cy="854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smtClean="0"/>
              <a:t>Un droit sous Windows 2003 est la possibilité d’agir sur la configuration du système. (modification de l’heure, ouverture de session, ou arrêt de l’ordinateur,…)</a:t>
            </a:r>
            <a:endParaRPr lang="fr-FR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66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466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466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1000"/>
                                        <p:tgtEl>
                                          <p:spTgt spid="466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6949" grpId="0" animBg="1"/>
      <p:bldP spid="46695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8" name="AutoShape-10"/>
          <p:cNvSpPr>
            <a:spLocks noChangeArrowheads="1"/>
          </p:cNvSpPr>
          <p:nvPr/>
        </p:nvSpPr>
        <p:spPr bwMode="auto">
          <a:xfrm>
            <a:off x="218365" y="1668463"/>
            <a:ext cx="4125036" cy="4964349"/>
          </a:xfrm>
          <a:prstGeom prst="roundRect">
            <a:avLst>
              <a:gd name="adj" fmla="val 4167"/>
            </a:avLst>
          </a:prstGeom>
          <a:solidFill>
            <a:srgbClr val="F0F1E1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177800" indent="-177800">
              <a:lnSpc>
                <a:spcPct val="100000"/>
              </a:lnSpc>
              <a:buClrTx/>
              <a:buSzPct val="85000"/>
              <a:buFontTx/>
              <a:buNone/>
            </a:pPr>
            <a:endParaRPr lang="en-IE" sz="1800" b="0">
              <a:solidFill>
                <a:schemeClr val="tx1"/>
              </a:solidFill>
            </a:endParaRPr>
          </a:p>
        </p:txBody>
      </p:sp>
      <p:sp>
        <p:nvSpPr>
          <p:cNvPr id="467979" name="AutoShape-11"/>
          <p:cNvSpPr>
            <a:spLocks noChangeArrowheads="1"/>
          </p:cNvSpPr>
          <p:nvPr/>
        </p:nvSpPr>
        <p:spPr bwMode="auto">
          <a:xfrm>
            <a:off x="4551363" y="1673225"/>
            <a:ext cx="4401568" cy="4945939"/>
          </a:xfrm>
          <a:prstGeom prst="roundRect">
            <a:avLst>
              <a:gd name="adj" fmla="val 4167"/>
            </a:avLst>
          </a:prstGeom>
          <a:solidFill>
            <a:srgbClr val="F0F1E1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177800" indent="-177800">
              <a:lnSpc>
                <a:spcPct val="100000"/>
              </a:lnSpc>
              <a:buClrTx/>
              <a:buSzPct val="85000"/>
              <a:buFontTx/>
              <a:buNone/>
            </a:pPr>
            <a:endParaRPr lang="en-IE" sz="1800" b="0">
              <a:solidFill>
                <a:schemeClr val="tx1"/>
              </a:solidFill>
            </a:endParaRPr>
          </a:p>
        </p:txBody>
      </p:sp>
      <p:sp>
        <p:nvSpPr>
          <p:cNvPr id="467970" name="Rectangle-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altLang="zh-CN" sz="30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Droits utilisateur et autorisations</a:t>
            </a:r>
            <a:r>
              <a:rPr lang="en-IE" altLang="zh-CN" sz="3000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3000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pic>
        <p:nvPicPr>
          <p:cNvPr id="468020" name="Picture 52" descr="2144A1005a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4649787" y="2205038"/>
            <a:ext cx="2979311" cy="3185746"/>
          </a:xfrm>
          <a:noFill/>
          <a:ln/>
        </p:spPr>
      </p:pic>
      <p:sp>
        <p:nvSpPr>
          <p:cNvPr id="467981" name="Rectangle-13"/>
          <p:cNvSpPr>
            <a:spLocks noChangeArrowheads="1"/>
          </p:cNvSpPr>
          <p:nvPr/>
        </p:nvSpPr>
        <p:spPr bwMode="auto">
          <a:xfrm>
            <a:off x="1409700" y="3163888"/>
            <a:ext cx="2062163" cy="116046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pic>
        <p:nvPicPr>
          <p:cNvPr id="468018" name="Picture 50" descr="2144A1005b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/>
          <a:srcRect/>
          <a:stretch>
            <a:fillRect/>
          </a:stretch>
        </p:blipFill>
        <p:spPr>
          <a:xfrm>
            <a:off x="1204913" y="2798763"/>
            <a:ext cx="2752725" cy="2071687"/>
          </a:xfrm>
          <a:noFill/>
          <a:ln/>
        </p:spPr>
      </p:pic>
      <p:pic>
        <p:nvPicPr>
          <p:cNvPr id="467993" name="Picture-25" descr="User_UserHalfC0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94067" y="5047164"/>
            <a:ext cx="961527" cy="1511890"/>
          </a:xfrm>
          <a:prstGeom prst="rect">
            <a:avLst/>
          </a:prstGeom>
          <a:noFill/>
        </p:spPr>
      </p:pic>
      <p:sp>
        <p:nvSpPr>
          <p:cNvPr id="467995" name="AutoShape-27"/>
          <p:cNvSpPr>
            <a:spLocks noChangeArrowheads="1"/>
          </p:cNvSpPr>
          <p:nvPr/>
        </p:nvSpPr>
        <p:spPr bwMode="auto">
          <a:xfrm>
            <a:off x="907568" y="1274763"/>
            <a:ext cx="2777328" cy="673100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lang="fr-FR" altLang="zh-CN" sz="2200" dirty="0">
                <a:ea typeface="SimSun" pitchFamily="2" charset="-122"/>
                <a:cs typeface="Times New Roman" charset="0"/>
              </a:rPr>
              <a:t>Droits utilisateur :</a:t>
            </a:r>
            <a:r>
              <a:rPr lang="en-IE" altLang="zh-CN" sz="2200" dirty="0">
                <a:ea typeface="SimSun" pitchFamily="2" charset="-122"/>
                <a:cs typeface="Times New Roman" charset="0"/>
              </a:rPr>
              <a:t> </a:t>
            </a:r>
            <a:endParaRPr lang="en-US" sz="2200" dirty="0">
              <a:solidFill>
                <a:schemeClr val="tx1"/>
              </a:solidFill>
              <a:ea typeface="SimSun" pitchFamily="2" charset="-122"/>
              <a:cs typeface="Times New Roman" charset="0"/>
            </a:endParaRPr>
          </a:p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lang="fr-FR" altLang="zh-CN" sz="2200" dirty="0">
                <a:ea typeface="SimSun" pitchFamily="2" charset="-122"/>
                <a:cs typeface="Times New Roman" charset="0"/>
              </a:rPr>
              <a:t>Actions sur le système</a:t>
            </a:r>
            <a:r>
              <a:rPr lang="en-IE" altLang="zh-CN" sz="2200" dirty="0">
                <a:ea typeface="SimSun" pitchFamily="2" charset="-122"/>
                <a:cs typeface="Times New Roman" charset="0"/>
              </a:rPr>
              <a:t> </a:t>
            </a:r>
            <a:endParaRPr lang="en-US" sz="2200" dirty="0">
              <a:ea typeface="SimSun" pitchFamily="2" charset="-122"/>
              <a:cs typeface="Times New Roman" charset="0"/>
            </a:endParaRPr>
          </a:p>
        </p:txBody>
      </p:sp>
      <p:sp>
        <p:nvSpPr>
          <p:cNvPr id="467996" name="AutoShape-28"/>
          <p:cNvSpPr>
            <a:spLocks noChangeArrowheads="1"/>
          </p:cNvSpPr>
          <p:nvPr/>
        </p:nvSpPr>
        <p:spPr bwMode="auto">
          <a:xfrm>
            <a:off x="5428453" y="1274763"/>
            <a:ext cx="2600325" cy="673100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lang="fr-FR" altLang="zh-CN" sz="2200">
                <a:ea typeface="SimSun" pitchFamily="2" charset="-122"/>
                <a:cs typeface="Times New Roman" charset="0"/>
              </a:rPr>
              <a:t>Autorisations :</a:t>
            </a:r>
            <a:r>
              <a:rPr lang="fr-FR" altLang="zh-CN" sz="2200">
                <a:ea typeface="SimSun" pitchFamily="2" charset="-122"/>
                <a:cs typeface="Arial Narrow" charset="0"/>
              </a:rPr>
              <a:t> </a:t>
            </a:r>
            <a:br>
              <a:rPr lang="fr-FR" altLang="zh-CN" sz="2200">
                <a:ea typeface="SimSun" pitchFamily="2" charset="-122"/>
                <a:cs typeface="Arial Narrow" charset="0"/>
              </a:rPr>
            </a:br>
            <a:r>
              <a:rPr lang="fr-FR" altLang="zh-CN" sz="2200">
                <a:ea typeface="SimSun" pitchFamily="2" charset="-122"/>
                <a:cs typeface="Times New Roman" charset="0"/>
              </a:rPr>
              <a:t>Actions sur l'objet</a:t>
            </a:r>
            <a:r>
              <a:rPr lang="en-IE" altLang="zh-CN" sz="2200">
                <a:ea typeface="SimSun" pitchFamily="2" charset="-122"/>
              </a:rPr>
              <a:t> </a:t>
            </a:r>
            <a:endParaRPr lang="en-US" sz="2200"/>
          </a:p>
        </p:txBody>
      </p:sp>
      <p:pic>
        <p:nvPicPr>
          <p:cNvPr id="467998" name="Picture-30" descr="Collection_Group0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333767" y="5280628"/>
            <a:ext cx="1826715" cy="1320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7974" name="Picture-6" descr="Folder_OpenWithDocumentWriting0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669088" y="2330844"/>
            <a:ext cx="1424034" cy="1653781"/>
          </a:xfrm>
          <a:prstGeom prst="rect">
            <a:avLst/>
          </a:prstGeom>
          <a:noFill/>
        </p:spPr>
      </p:pic>
      <p:pic>
        <p:nvPicPr>
          <p:cNvPr id="467973" name="Picture-5" descr="User_UserHalfE0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657465" y="5218023"/>
            <a:ext cx="869878" cy="1368326"/>
          </a:xfrm>
          <a:prstGeom prst="rect">
            <a:avLst/>
          </a:prstGeom>
          <a:noFill/>
        </p:spPr>
      </p:pic>
      <p:pic>
        <p:nvPicPr>
          <p:cNvPr id="467992" name="Picture-24" descr="Collection_Group0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018646" y="5213563"/>
            <a:ext cx="1888505" cy="1364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7994" name="Picture-26" descr="Computer_Workstation01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3079750" y="2087563"/>
            <a:ext cx="1230313" cy="153828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-2"/>
          <p:cNvSpPr>
            <a:spLocks noGrp="1" noChangeArrowheads="1"/>
          </p:cNvSpPr>
          <p:nvPr>
            <p:ph type="title"/>
          </p:nvPr>
        </p:nvSpPr>
        <p:spPr>
          <a:xfrm>
            <a:off x="178921" y="177420"/>
            <a:ext cx="8774009" cy="919313"/>
          </a:xfrm>
        </p:spPr>
        <p:txBody>
          <a:bodyPr>
            <a:normAutofit fontScale="90000"/>
          </a:bodyPr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Droits utilisateur attribués à des groupes prédéfinis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469000" name="AutoShape-8"/>
          <p:cNvSpPr>
            <a:spLocks noChangeArrowheads="1"/>
          </p:cNvSpPr>
          <p:nvPr/>
        </p:nvSpPr>
        <p:spPr bwMode="auto">
          <a:xfrm>
            <a:off x="272955" y="1292225"/>
            <a:ext cx="4217158" cy="2774950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fr-FR" altLang="zh-CN">
                <a:ea typeface="SimSun" pitchFamily="2" charset="-122"/>
                <a:cs typeface="Times New Roman" charset="0"/>
              </a:rPr>
              <a:t>Groupes locaux prédéfinis :</a:t>
            </a:r>
            <a:r>
              <a:rPr lang="en-IE" altLang="zh-CN">
                <a:ea typeface="SimSun" pitchFamily="2" charset="-122"/>
                <a:cs typeface="Times New Roman" charset="0"/>
              </a:rPr>
              <a:t> </a:t>
            </a:r>
            <a:endParaRPr lang="en-US">
              <a:ea typeface="SimSun" pitchFamily="2" charset="-122"/>
              <a:cs typeface="Times New Roman" charset="0"/>
            </a:endParaRPr>
          </a:p>
        </p:txBody>
      </p:sp>
      <p:sp>
        <p:nvSpPr>
          <p:cNvPr id="469001" name="AutoShape-9"/>
          <p:cNvSpPr>
            <a:spLocks noChangeArrowheads="1"/>
          </p:cNvSpPr>
          <p:nvPr/>
        </p:nvSpPr>
        <p:spPr bwMode="auto">
          <a:xfrm>
            <a:off x="395785" y="1779588"/>
            <a:ext cx="4026090" cy="2135187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>
              <a:lnSpc>
                <a:spcPct val="90000"/>
              </a:lnSpc>
              <a:spcBef>
                <a:spcPct val="40000"/>
              </a:spcBef>
              <a:buClrTx/>
              <a:buSzPct val="80000"/>
              <a:buFontTx/>
              <a:buBlip>
                <a:blip r:embed="rId3"/>
              </a:buBlip>
            </a:pPr>
            <a:r>
              <a:rPr lang="fr-FR" altLang="zh-CN" dirty="0">
                <a:ea typeface="SimSun" pitchFamily="2" charset="-122"/>
                <a:cs typeface="Times New Roman" charset="0"/>
              </a:rPr>
              <a:t>Administrateurs</a:t>
            </a:r>
            <a:r>
              <a:rPr lang="en-IE" altLang="zh-CN" dirty="0">
                <a:ea typeface="SimSun" pitchFamily="2" charset="-122"/>
                <a:cs typeface="Times New Roman" charset="0"/>
              </a:rPr>
              <a:t> </a:t>
            </a:r>
            <a:endParaRPr lang="en-US" dirty="0">
              <a:solidFill>
                <a:schemeClr val="tx1"/>
              </a:solidFill>
              <a:ea typeface="SimSun" pitchFamily="2" charset="-122"/>
              <a:cs typeface="Times New Roman" charset="0"/>
            </a:endParaRPr>
          </a:p>
          <a:p>
            <a:pPr marL="231775" indent="-231775">
              <a:lnSpc>
                <a:spcPct val="90000"/>
              </a:lnSpc>
              <a:spcBef>
                <a:spcPct val="40000"/>
              </a:spcBef>
              <a:buClrTx/>
              <a:buSzPct val="80000"/>
              <a:buFontTx/>
              <a:buBlip>
                <a:blip r:embed="rId3"/>
              </a:buBlip>
            </a:pPr>
            <a:r>
              <a:rPr lang="fr-FR" altLang="zh-CN" dirty="0">
                <a:ea typeface="SimSun" pitchFamily="2" charset="-122"/>
                <a:cs typeface="Times New Roman" charset="0"/>
              </a:rPr>
              <a:t>Opérateurs de sauvegarde</a:t>
            </a:r>
            <a:r>
              <a:rPr lang="en-IE" altLang="zh-CN" dirty="0">
                <a:ea typeface="SimSun" pitchFamily="2" charset="-122"/>
                <a:cs typeface="Times New Roman" charset="0"/>
              </a:rPr>
              <a:t> </a:t>
            </a:r>
            <a:endParaRPr lang="en-US" dirty="0">
              <a:solidFill>
                <a:schemeClr val="tx1"/>
              </a:solidFill>
              <a:ea typeface="SimSun" pitchFamily="2" charset="-122"/>
              <a:cs typeface="Times New Roman" charset="0"/>
            </a:endParaRPr>
          </a:p>
          <a:p>
            <a:pPr marL="231775" indent="-231775">
              <a:lnSpc>
                <a:spcPct val="90000"/>
              </a:lnSpc>
              <a:spcBef>
                <a:spcPct val="40000"/>
              </a:spcBef>
              <a:buClrTx/>
              <a:buSzPct val="80000"/>
              <a:buFontTx/>
              <a:buBlip>
                <a:blip r:embed="rId3"/>
              </a:buBlip>
            </a:pPr>
            <a:r>
              <a:rPr lang="fr-FR" altLang="zh-CN" dirty="0">
                <a:ea typeface="SimSun" pitchFamily="2" charset="-122"/>
                <a:cs typeface="Times New Roman" charset="0"/>
              </a:rPr>
              <a:t>Utilisateurs avec pouvoir</a:t>
            </a:r>
            <a:r>
              <a:rPr lang="en-IE" altLang="zh-CN" dirty="0">
                <a:ea typeface="SimSun" pitchFamily="2" charset="-122"/>
                <a:cs typeface="Times New Roman" charset="0"/>
              </a:rPr>
              <a:t> </a:t>
            </a:r>
            <a:endParaRPr lang="en-US" dirty="0">
              <a:solidFill>
                <a:schemeClr val="tx1"/>
              </a:solidFill>
              <a:ea typeface="SimSun" pitchFamily="2" charset="-122"/>
              <a:cs typeface="Times New Roman" charset="0"/>
            </a:endParaRPr>
          </a:p>
          <a:p>
            <a:pPr marL="231775" indent="-231775">
              <a:lnSpc>
                <a:spcPct val="90000"/>
              </a:lnSpc>
              <a:spcBef>
                <a:spcPct val="40000"/>
              </a:spcBef>
              <a:buClrTx/>
              <a:buSzPct val="80000"/>
              <a:buFontTx/>
              <a:buBlip>
                <a:blip r:embed="rId3"/>
              </a:buBlip>
            </a:pPr>
            <a:r>
              <a:rPr lang="fr-FR" altLang="zh-CN" dirty="0">
                <a:ea typeface="SimSun" pitchFamily="2" charset="-122"/>
                <a:cs typeface="Times New Roman" charset="0"/>
              </a:rPr>
              <a:t>Utilisateurs du Bureau </a:t>
            </a:r>
            <a:r>
              <a:rPr lang="fr-FR" altLang="zh-CN" dirty="0" smtClean="0">
                <a:ea typeface="SimSun" pitchFamily="2" charset="-122"/>
                <a:cs typeface="Times New Roman" charset="0"/>
              </a:rPr>
              <a:t>à </a:t>
            </a:r>
            <a:r>
              <a:rPr lang="fr-FR" altLang="zh-CN" dirty="0">
                <a:ea typeface="SimSun" pitchFamily="2" charset="-122"/>
                <a:cs typeface="Times New Roman" charset="0"/>
              </a:rPr>
              <a:t>distance</a:t>
            </a:r>
            <a:r>
              <a:rPr lang="en-IE" altLang="zh-CN" dirty="0">
                <a:ea typeface="SimSun" pitchFamily="2" charset="-122"/>
                <a:cs typeface="Times New Roman" charset="0"/>
              </a:rPr>
              <a:t> </a:t>
            </a:r>
            <a:endParaRPr lang="en-US" dirty="0">
              <a:solidFill>
                <a:schemeClr val="tx1"/>
              </a:solidFill>
              <a:ea typeface="SimSun" pitchFamily="2" charset="-122"/>
              <a:cs typeface="Times New Roman" charset="0"/>
            </a:endParaRPr>
          </a:p>
          <a:p>
            <a:pPr marL="231775" indent="-231775">
              <a:lnSpc>
                <a:spcPct val="90000"/>
              </a:lnSpc>
              <a:spcBef>
                <a:spcPct val="40000"/>
              </a:spcBef>
              <a:buClrTx/>
              <a:buSzPct val="80000"/>
              <a:buFontTx/>
              <a:buBlip>
                <a:blip r:embed="rId3"/>
              </a:buBlip>
            </a:pPr>
            <a:r>
              <a:rPr lang="fr-FR" altLang="zh-CN" dirty="0">
                <a:ea typeface="SimSun" pitchFamily="2" charset="-122"/>
                <a:cs typeface="Times New Roman" charset="0"/>
              </a:rPr>
              <a:t>Utilisateurs</a:t>
            </a:r>
            <a:r>
              <a:rPr lang="en-IE" altLang="zh-CN" dirty="0">
                <a:ea typeface="SimSun" pitchFamily="2" charset="-122"/>
                <a:cs typeface="Times New Roman" charset="0"/>
              </a:rPr>
              <a:t> </a:t>
            </a:r>
            <a:endParaRPr lang="en-US" dirty="0">
              <a:ea typeface="SimSun" pitchFamily="2" charset="-122"/>
              <a:cs typeface="Times New Roman" charset="0"/>
            </a:endParaRPr>
          </a:p>
        </p:txBody>
      </p:sp>
      <p:grpSp>
        <p:nvGrpSpPr>
          <p:cNvPr id="469015" name="Group-23"/>
          <p:cNvGrpSpPr>
            <a:grpSpLocks/>
          </p:cNvGrpSpPr>
          <p:nvPr/>
        </p:nvGrpSpPr>
        <p:grpSpPr bwMode="auto">
          <a:xfrm>
            <a:off x="4589418" y="1974850"/>
            <a:ext cx="4404459" cy="3335338"/>
            <a:chOff x="2864" y="1210"/>
            <a:chExt cx="2438" cy="2101"/>
          </a:xfrm>
        </p:grpSpPr>
        <p:sp>
          <p:nvSpPr>
            <p:cNvPr id="469010" name="AutoShape-18"/>
            <p:cNvSpPr>
              <a:spLocks noChangeArrowheads="1"/>
            </p:cNvSpPr>
            <p:nvPr/>
          </p:nvSpPr>
          <p:spPr bwMode="auto">
            <a:xfrm>
              <a:off x="2864" y="1210"/>
              <a:ext cx="2438" cy="2101"/>
            </a:xfrm>
            <a:prstGeom prst="roundRect">
              <a:avLst>
                <a:gd name="adj" fmla="val 4167"/>
              </a:avLst>
            </a:prstGeom>
            <a:solidFill>
              <a:srgbClr val="B3C8DF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/>
            <a:lstStyle/>
            <a:p>
              <a:pPr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fr-FR" altLang="zh-CN" dirty="0">
                  <a:ea typeface="SimSun" pitchFamily="2" charset="-122"/>
                  <a:cs typeface="Times New Roman" charset="0"/>
                </a:rPr>
                <a:t>Groupes du conteneur </a:t>
              </a:r>
              <a:r>
                <a:rPr lang="fr-FR" altLang="zh-CN" dirty="0" err="1">
                  <a:ea typeface="SimSun" pitchFamily="2" charset="-122"/>
                  <a:cs typeface="Times New Roman" charset="0"/>
                </a:rPr>
                <a:t>Builtin</a:t>
              </a:r>
              <a:r>
                <a:rPr lang="fr-FR" altLang="zh-CN" dirty="0">
                  <a:ea typeface="SimSun" pitchFamily="2" charset="-122"/>
                  <a:cs typeface="Times New Roman" charset="0"/>
                </a:rPr>
                <a:t> :</a:t>
              </a:r>
              <a:r>
                <a:rPr lang="en-IE" altLang="zh-CN" dirty="0">
                  <a:ea typeface="SimSun" pitchFamily="2" charset="-122"/>
                  <a:cs typeface="Times New Roman" charset="0"/>
                </a:rPr>
                <a:t> </a:t>
              </a:r>
              <a:endParaRPr lang="en-US" dirty="0">
                <a:ea typeface="SimSun" pitchFamily="2" charset="-122"/>
                <a:cs typeface="Times New Roman" charset="0"/>
              </a:endParaRPr>
            </a:p>
          </p:txBody>
        </p:sp>
        <p:sp>
          <p:nvSpPr>
            <p:cNvPr id="469011" name="AutoShape-19"/>
            <p:cNvSpPr>
              <a:spLocks noChangeArrowheads="1"/>
            </p:cNvSpPr>
            <p:nvPr/>
          </p:nvSpPr>
          <p:spPr bwMode="auto">
            <a:xfrm>
              <a:off x="2907" y="1523"/>
              <a:ext cx="2334" cy="1669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 marL="231775" indent="-231775">
                <a:lnSpc>
                  <a:spcPct val="90000"/>
                </a:lnSpc>
                <a:spcBef>
                  <a:spcPct val="40000"/>
                </a:spcBef>
                <a:buClrTx/>
                <a:buSzPct val="80000"/>
                <a:buFontTx/>
                <a:buBlip>
                  <a:blip r:embed="rId3"/>
                </a:buBlip>
              </a:pPr>
              <a:r>
                <a:rPr lang="fr-FR" altLang="zh-CN" dirty="0">
                  <a:ea typeface="SimSun" pitchFamily="2" charset="-122"/>
                  <a:cs typeface="Times New Roman" charset="0"/>
                </a:rPr>
                <a:t>Opérateurs de compte</a:t>
              </a:r>
              <a:r>
                <a:rPr lang="en-IE" altLang="zh-CN" dirty="0">
                  <a:ea typeface="SimSun" pitchFamily="2" charset="-122"/>
                  <a:cs typeface="Times New Roman" charset="0"/>
                </a:rPr>
                <a:t> </a:t>
              </a:r>
              <a:endParaRPr lang="en-US" dirty="0">
                <a:solidFill>
                  <a:schemeClr val="tx1"/>
                </a:solidFill>
                <a:ea typeface="SimSun" pitchFamily="2" charset="-122"/>
                <a:cs typeface="Times New Roman" charset="0"/>
              </a:endParaRPr>
            </a:p>
            <a:p>
              <a:pPr marL="231775" indent="-231775">
                <a:lnSpc>
                  <a:spcPct val="90000"/>
                </a:lnSpc>
                <a:spcBef>
                  <a:spcPct val="40000"/>
                </a:spcBef>
                <a:buClrTx/>
                <a:buSzPct val="80000"/>
                <a:buFontTx/>
                <a:buBlip>
                  <a:blip r:embed="rId3"/>
                </a:buBlip>
              </a:pPr>
              <a:r>
                <a:rPr lang="fr-FR" altLang="zh-CN" dirty="0">
                  <a:ea typeface="SimSun" pitchFamily="2" charset="-122"/>
                  <a:cs typeface="Times New Roman" charset="0"/>
                </a:rPr>
                <a:t>Administrateurs</a:t>
              </a:r>
              <a:r>
                <a:rPr lang="en-IE" altLang="zh-CN" dirty="0">
                  <a:ea typeface="SimSun" pitchFamily="2" charset="-122"/>
                  <a:cs typeface="Times New Roman" charset="0"/>
                </a:rPr>
                <a:t> </a:t>
              </a:r>
              <a:endParaRPr lang="en-US" dirty="0">
                <a:solidFill>
                  <a:schemeClr val="tx1"/>
                </a:solidFill>
                <a:ea typeface="SimSun" pitchFamily="2" charset="-122"/>
                <a:cs typeface="Times New Roman" charset="0"/>
              </a:endParaRPr>
            </a:p>
            <a:p>
              <a:pPr marL="231775" indent="-231775">
                <a:lnSpc>
                  <a:spcPct val="90000"/>
                </a:lnSpc>
                <a:spcBef>
                  <a:spcPct val="40000"/>
                </a:spcBef>
                <a:buClrTx/>
                <a:buSzPct val="80000"/>
                <a:buFontTx/>
                <a:buBlip>
                  <a:blip r:embed="rId3"/>
                </a:buBlip>
              </a:pPr>
              <a:r>
                <a:rPr lang="fr-FR" altLang="zh-CN" dirty="0">
                  <a:ea typeface="SimSun" pitchFamily="2" charset="-122"/>
                  <a:cs typeface="Times New Roman" charset="0"/>
                </a:rPr>
                <a:t>Opérateurs de sauvegarde</a:t>
              </a:r>
              <a:r>
                <a:rPr lang="en-IE" altLang="zh-CN" dirty="0">
                  <a:ea typeface="SimSun" pitchFamily="2" charset="-122"/>
                  <a:cs typeface="Times New Roman" charset="0"/>
                </a:rPr>
                <a:t> </a:t>
              </a:r>
              <a:endParaRPr lang="en-US" dirty="0">
                <a:solidFill>
                  <a:schemeClr val="tx1"/>
                </a:solidFill>
                <a:ea typeface="SimSun" pitchFamily="2" charset="-122"/>
                <a:cs typeface="Times New Roman" charset="0"/>
              </a:endParaRPr>
            </a:p>
            <a:p>
              <a:pPr marL="231775" indent="-231775">
                <a:lnSpc>
                  <a:spcPct val="90000"/>
                </a:lnSpc>
                <a:spcBef>
                  <a:spcPct val="40000"/>
                </a:spcBef>
                <a:buClrTx/>
                <a:buSzPct val="80000"/>
                <a:buFontTx/>
                <a:buBlip>
                  <a:blip r:embed="rId3"/>
                </a:buBlip>
              </a:pPr>
              <a:r>
                <a:rPr lang="fr-FR" altLang="zh-CN" dirty="0">
                  <a:ea typeface="SimSun" pitchFamily="2" charset="-122"/>
                  <a:cs typeface="Times New Roman" charset="0"/>
                </a:rPr>
                <a:t>Accès compatible </a:t>
              </a:r>
              <a:r>
                <a:rPr lang="fr-FR" altLang="zh-CN" dirty="0" smtClean="0">
                  <a:ea typeface="SimSun" pitchFamily="2" charset="-122"/>
                  <a:cs typeface="Times New Roman" charset="0"/>
                </a:rPr>
                <a:t>pré-Windows </a:t>
              </a:r>
              <a:r>
                <a:rPr lang="fr-FR" altLang="zh-CN" dirty="0">
                  <a:ea typeface="SimSun" pitchFamily="2" charset="-122"/>
                  <a:cs typeface="Times New Roman" charset="0"/>
                </a:rPr>
                <a:t>2000</a:t>
              </a:r>
              <a:r>
                <a:rPr lang="en-IE" altLang="zh-CN" dirty="0">
                  <a:ea typeface="SimSun" pitchFamily="2" charset="-122"/>
                  <a:cs typeface="Times New Roman" charset="0"/>
                </a:rPr>
                <a:t> </a:t>
              </a:r>
              <a:endParaRPr lang="en-US" dirty="0">
                <a:solidFill>
                  <a:schemeClr val="tx1"/>
                </a:solidFill>
                <a:ea typeface="SimSun" pitchFamily="2" charset="-122"/>
                <a:cs typeface="Times New Roman" charset="0"/>
              </a:endParaRPr>
            </a:p>
            <a:p>
              <a:pPr marL="231775" indent="-231775">
                <a:lnSpc>
                  <a:spcPct val="90000"/>
                </a:lnSpc>
                <a:spcBef>
                  <a:spcPct val="40000"/>
                </a:spcBef>
                <a:buClrTx/>
                <a:buSzPct val="80000"/>
                <a:buFontTx/>
                <a:buBlip>
                  <a:blip r:embed="rId3"/>
                </a:buBlip>
              </a:pPr>
              <a:r>
                <a:rPr lang="fr-FR" altLang="zh-CN" dirty="0">
                  <a:ea typeface="SimSun" pitchFamily="2" charset="-122"/>
                  <a:cs typeface="Times New Roman" charset="0"/>
                </a:rPr>
                <a:t>Opérateurs d'impression</a:t>
              </a:r>
              <a:r>
                <a:rPr lang="en-IE" altLang="zh-CN" dirty="0">
                  <a:ea typeface="SimSun" pitchFamily="2" charset="-122"/>
                  <a:cs typeface="Times New Roman" charset="0"/>
                </a:rPr>
                <a:t> </a:t>
              </a:r>
              <a:endParaRPr lang="en-US" dirty="0">
                <a:solidFill>
                  <a:schemeClr val="tx1"/>
                </a:solidFill>
                <a:ea typeface="SimSun" pitchFamily="2" charset="-122"/>
                <a:cs typeface="Times New Roman" charset="0"/>
              </a:endParaRPr>
            </a:p>
            <a:p>
              <a:pPr marL="231775" indent="-231775">
                <a:lnSpc>
                  <a:spcPct val="90000"/>
                </a:lnSpc>
                <a:spcBef>
                  <a:spcPct val="40000"/>
                </a:spcBef>
                <a:buClrTx/>
                <a:buSzPct val="80000"/>
                <a:buFontTx/>
                <a:buBlip>
                  <a:blip r:embed="rId3"/>
                </a:buBlip>
              </a:pPr>
              <a:r>
                <a:rPr lang="fr-FR" altLang="zh-CN" dirty="0">
                  <a:ea typeface="SimSun" pitchFamily="2" charset="-122"/>
                  <a:cs typeface="Times New Roman" charset="0"/>
                </a:rPr>
                <a:t>Opérateurs de serveur</a:t>
              </a:r>
              <a:r>
                <a:rPr lang="en-IE" altLang="zh-CN" dirty="0">
                  <a:ea typeface="SimSun" pitchFamily="2" charset="-122"/>
                  <a:cs typeface="Times New Roman" charset="0"/>
                </a:rPr>
                <a:t> </a:t>
              </a:r>
              <a:endParaRPr lang="en-US" dirty="0">
                <a:ea typeface="SimSun" pitchFamily="2" charset="-122"/>
                <a:cs typeface="Times New Roman" charset="0"/>
              </a:endParaRPr>
            </a:p>
          </p:txBody>
        </p:sp>
      </p:grpSp>
      <p:sp>
        <p:nvSpPr>
          <p:cNvPr id="469013" name="AutoShape-21"/>
          <p:cNvSpPr>
            <a:spLocks noChangeArrowheads="1"/>
          </p:cNvSpPr>
          <p:nvPr/>
        </p:nvSpPr>
        <p:spPr bwMode="auto">
          <a:xfrm>
            <a:off x="286603" y="4202113"/>
            <a:ext cx="4230806" cy="1976437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fr-FR" altLang="zh-CN">
                <a:ea typeface="SimSun" pitchFamily="2" charset="-122"/>
                <a:cs typeface="Times New Roman" charset="0"/>
              </a:rPr>
              <a:t>Groupes du conteneur Utilisateurs :</a:t>
            </a:r>
            <a:r>
              <a:rPr lang="en-IE" altLang="zh-CN">
                <a:ea typeface="SimSun" pitchFamily="2" charset="-122"/>
                <a:cs typeface="Times New Roman" charset="0"/>
              </a:rPr>
              <a:t> </a:t>
            </a:r>
            <a:endParaRPr lang="en-US">
              <a:ea typeface="SimSun" pitchFamily="2" charset="-122"/>
              <a:cs typeface="Times New Roman" charset="0"/>
            </a:endParaRPr>
          </a:p>
        </p:txBody>
      </p:sp>
      <p:sp>
        <p:nvSpPr>
          <p:cNvPr id="469014" name="AutoShape-22"/>
          <p:cNvSpPr>
            <a:spLocks noChangeArrowheads="1"/>
          </p:cNvSpPr>
          <p:nvPr/>
        </p:nvSpPr>
        <p:spPr bwMode="auto">
          <a:xfrm>
            <a:off x="354842" y="4895850"/>
            <a:ext cx="4107976" cy="1163638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>
              <a:lnSpc>
                <a:spcPct val="90000"/>
              </a:lnSpc>
              <a:spcBef>
                <a:spcPct val="40000"/>
              </a:spcBef>
              <a:buClrTx/>
              <a:buSzPct val="80000"/>
              <a:buFontTx/>
              <a:buBlip>
                <a:blip r:embed="rId3"/>
              </a:buBlip>
            </a:pPr>
            <a:r>
              <a:rPr lang="fr-FR" altLang="zh-CN" dirty="0" err="1">
                <a:ea typeface="SimSun" pitchFamily="2" charset="-122"/>
                <a:cs typeface="Times New Roman" charset="0"/>
              </a:rPr>
              <a:t>Admins</a:t>
            </a:r>
            <a:r>
              <a:rPr lang="fr-FR" altLang="zh-CN" dirty="0">
                <a:ea typeface="SimSun" pitchFamily="2" charset="-122"/>
                <a:cs typeface="Times New Roman" charset="0"/>
              </a:rPr>
              <a:t> du domaine</a:t>
            </a:r>
            <a:r>
              <a:rPr lang="en-IE" altLang="zh-CN" dirty="0">
                <a:ea typeface="SimSun" pitchFamily="2" charset="-122"/>
                <a:cs typeface="Times New Roman" charset="0"/>
              </a:rPr>
              <a:t> </a:t>
            </a:r>
            <a:endParaRPr lang="en-US" dirty="0">
              <a:solidFill>
                <a:schemeClr val="tx1"/>
              </a:solidFill>
              <a:ea typeface="SimSun" pitchFamily="2" charset="-122"/>
              <a:cs typeface="Times New Roman" charset="0"/>
            </a:endParaRPr>
          </a:p>
          <a:p>
            <a:pPr marL="231775" indent="-231775">
              <a:lnSpc>
                <a:spcPct val="90000"/>
              </a:lnSpc>
              <a:spcBef>
                <a:spcPct val="40000"/>
              </a:spcBef>
              <a:buClrTx/>
              <a:buSzPct val="80000"/>
              <a:buFontTx/>
              <a:buBlip>
                <a:blip r:embed="rId3"/>
              </a:buBlip>
            </a:pPr>
            <a:r>
              <a:rPr lang="fr-FR" altLang="zh-CN" dirty="0">
                <a:ea typeface="SimSun" pitchFamily="2" charset="-122"/>
                <a:cs typeface="Times New Roman" charset="0"/>
              </a:rPr>
              <a:t>Administrateurs </a:t>
            </a:r>
            <a:r>
              <a:rPr lang="fr-FR" altLang="zh-CN" dirty="0" smtClean="0">
                <a:ea typeface="SimSun" pitchFamily="2" charset="-122"/>
                <a:cs typeface="Times New Roman" charset="0"/>
              </a:rPr>
              <a:t>de </a:t>
            </a:r>
            <a:r>
              <a:rPr lang="fr-FR" altLang="zh-CN" dirty="0">
                <a:ea typeface="SimSun" pitchFamily="2" charset="-122"/>
                <a:cs typeface="Times New Roman" charset="0"/>
              </a:rPr>
              <a:t>l'entreprise</a:t>
            </a:r>
            <a:r>
              <a:rPr lang="en-IE" altLang="zh-CN" dirty="0">
                <a:ea typeface="SimSun" pitchFamily="2" charset="-122"/>
                <a:cs typeface="Times New Roman" charset="0"/>
              </a:rPr>
              <a:t> </a:t>
            </a:r>
            <a:endParaRPr lang="en-US" dirty="0">
              <a:ea typeface="SimSun" pitchFamily="2" charset="-122"/>
              <a:cs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-2"/>
          <p:cNvSpPr>
            <a:spLocks noGrp="1" noChangeArrowheads="1"/>
          </p:cNvSpPr>
          <p:nvPr>
            <p:ph type="title"/>
          </p:nvPr>
        </p:nvSpPr>
        <p:spPr>
          <a:xfrm>
            <a:off x="178921" y="177420"/>
            <a:ext cx="8774009" cy="919313"/>
          </a:xfrm>
        </p:spPr>
        <p:txBody>
          <a:bodyPr>
            <a:normAutofit fontScale="90000"/>
          </a:bodyPr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Droits utilisateur attribués à des groupes prédéfinis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/>
        </p:nvGraphicFramePr>
        <p:xfrm>
          <a:off x="90982" y="1697248"/>
          <a:ext cx="8889245" cy="454152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2638570"/>
                <a:gridCol w="6250675"/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zh-CN" sz="2200" b="1" dirty="0" smtClean="0"/>
                        <a:t>Administrateurs</a:t>
                      </a:r>
                      <a:r>
                        <a:rPr lang="en-IE" altLang="zh-CN" sz="2200" b="1" dirty="0" smtClean="0"/>
                        <a:t> </a:t>
                      </a:r>
                      <a:endParaRPr lang="en-US" sz="2200" b="1" dirty="0" smtClean="0"/>
                    </a:p>
                    <a:p>
                      <a:endParaRPr lang="fr-FR" sz="2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fr-FR" sz="2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Accéder à cet ordinateur à partir du réseau</a:t>
                      </a:r>
                    </a:p>
                    <a:p>
                      <a:r>
                        <a:rPr kumimoji="0" lang="fr-FR" sz="2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Permettre l’ouverture d’une session locale</a:t>
                      </a:r>
                    </a:p>
                    <a:p>
                      <a:r>
                        <a:rPr kumimoji="0" lang="fr-FR" sz="2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Modifier l’heure système</a:t>
                      </a:r>
                    </a:p>
                    <a:p>
                      <a:r>
                        <a:rPr kumimoji="0" lang="fr-FR" sz="2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Forcer l’arrêt à partir d’un système distant</a:t>
                      </a:r>
                    </a:p>
                    <a:p>
                      <a:r>
                        <a:rPr kumimoji="0" lang="fr-FR" sz="2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Charger et décharger des pilotes de périphériques</a:t>
                      </a:r>
                    </a:p>
                    <a:p>
                      <a:r>
                        <a:rPr kumimoji="0" lang="fr-FR" sz="2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Arrêter le système, …</a:t>
                      </a:r>
                      <a:endParaRPr lang="fr-FR" sz="2200" b="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zh-CN" sz="2200" b="1" dirty="0" smtClean="0"/>
                        <a:t>Opérateurs de sauvegarde</a:t>
                      </a:r>
                      <a:r>
                        <a:rPr lang="en-IE" altLang="zh-CN" sz="2200" b="1" dirty="0" smtClean="0"/>
                        <a:t> </a:t>
                      </a:r>
                      <a:endParaRPr lang="en-US" sz="2200" b="1" dirty="0" smtClean="0"/>
                    </a:p>
                    <a:p>
                      <a:endParaRPr lang="fr-FR" sz="2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fr-FR" sz="2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Accéder à cet ordinateur à partir du réseau</a:t>
                      </a:r>
                    </a:p>
                    <a:p>
                      <a:r>
                        <a:rPr kumimoji="0" lang="fr-FR" sz="2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Permettre l’ouverture d’une session locale</a:t>
                      </a:r>
                    </a:p>
                    <a:p>
                      <a:r>
                        <a:rPr kumimoji="0" lang="fr-FR" sz="2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Sauvegarder des fichiers et des répertoires</a:t>
                      </a:r>
                    </a:p>
                    <a:p>
                      <a:r>
                        <a:rPr kumimoji="0" lang="fr-FR" sz="2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Contourner la vérification de parcours</a:t>
                      </a:r>
                    </a:p>
                    <a:p>
                      <a:r>
                        <a:rPr kumimoji="0" lang="fr-FR" sz="2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Restaurer des fichiers et des répertoires</a:t>
                      </a:r>
                    </a:p>
                    <a:p>
                      <a:r>
                        <a:rPr kumimoji="0" lang="fr-FR" sz="2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Arrêter le système</a:t>
                      </a:r>
                      <a:endParaRPr lang="fr-FR" sz="22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182934" y="1263668"/>
            <a:ext cx="38158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fr-FR" altLang="zh-CN" sz="2400" dirty="0" smtClean="0">
                <a:ea typeface="SimSun" pitchFamily="2" charset="-122"/>
                <a:cs typeface="Times New Roman" charset="0"/>
              </a:rPr>
              <a:t>Groupes locaux prédéfinis :</a:t>
            </a:r>
            <a:r>
              <a:rPr lang="en-IE" altLang="zh-CN" sz="2400" dirty="0" smtClean="0">
                <a:ea typeface="SimSun" pitchFamily="2" charset="-122"/>
                <a:cs typeface="Times New Roman" charset="0"/>
              </a:rPr>
              <a:t> </a:t>
            </a:r>
            <a:endParaRPr lang="en-US" sz="2400" dirty="0">
              <a:ea typeface="SimSun" pitchFamily="2" charset="-122"/>
              <a:cs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-2"/>
          <p:cNvSpPr>
            <a:spLocks noGrp="1" noChangeArrowheads="1"/>
          </p:cNvSpPr>
          <p:nvPr>
            <p:ph type="title"/>
          </p:nvPr>
        </p:nvSpPr>
        <p:spPr>
          <a:xfrm>
            <a:off x="178921" y="177420"/>
            <a:ext cx="8774009" cy="919313"/>
          </a:xfrm>
        </p:spPr>
        <p:txBody>
          <a:bodyPr>
            <a:normAutofit fontScale="90000"/>
          </a:bodyPr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Droits utilisateur attribués à des groupes prédéfinis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/>
        </p:nvGraphicFramePr>
        <p:xfrm>
          <a:off x="90982" y="1697248"/>
          <a:ext cx="8889245" cy="362712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2065364"/>
                <a:gridCol w="6823881"/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zh-CN" sz="2200" b="1" dirty="0" smtClean="0"/>
                        <a:t>Utilisateurs avec pouvoir</a:t>
                      </a:r>
                      <a:r>
                        <a:rPr lang="en-IE" altLang="zh-CN" sz="2200" b="1" dirty="0" smtClean="0"/>
                        <a:t> </a:t>
                      </a:r>
                      <a:endParaRPr lang="en-US" sz="2200" b="1" dirty="0" smtClean="0"/>
                    </a:p>
                    <a:p>
                      <a:endParaRPr lang="fr-FR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fr-FR" sz="2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Accéder à cet ordinateur à partir du réseau </a:t>
                      </a:r>
                      <a:endParaRPr kumimoji="0" lang="fr-FR" sz="2200" b="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0" lang="fr-FR" sz="2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Permettre </a:t>
                      </a:r>
                      <a:r>
                        <a:rPr kumimoji="0" lang="fr-FR" sz="2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l’ouverture d’une session locale </a:t>
                      </a:r>
                      <a:endParaRPr kumimoji="0" lang="fr-FR" sz="2200" b="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0" lang="fr-FR" sz="2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Modifier </a:t>
                      </a:r>
                      <a:r>
                        <a:rPr kumimoji="0" lang="fr-FR" sz="2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l’heure système</a:t>
                      </a:r>
                    </a:p>
                    <a:p>
                      <a:r>
                        <a:rPr kumimoji="0" lang="fr-FR" sz="2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Optimiser un processus unique</a:t>
                      </a:r>
                    </a:p>
                    <a:p>
                      <a:r>
                        <a:rPr kumimoji="0" lang="fr-FR" sz="2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Arrêter le système, …</a:t>
                      </a:r>
                      <a:endParaRPr lang="fr-FR" sz="2200" b="0" dirty="0"/>
                    </a:p>
                  </a:txBody>
                  <a:tcPr/>
                </a:tc>
              </a:tr>
              <a:tr h="64197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zh-CN" sz="2200" b="1" dirty="0" smtClean="0"/>
                        <a:t>Utilisateurs du Bureau  à distance</a:t>
                      </a:r>
                      <a:endParaRPr lang="fr-FR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fr-FR" sz="2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Autoriser l’ouverture de session par les services Terminal Server</a:t>
                      </a:r>
                      <a:endParaRPr lang="fr-FR" sz="2200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zh-CN" sz="2200" b="1" dirty="0" smtClean="0"/>
                        <a:t>Utilisateurs</a:t>
                      </a:r>
                      <a:r>
                        <a:rPr lang="en-IE" altLang="zh-CN" sz="2200" b="1" dirty="0" smtClean="0"/>
                        <a:t> </a:t>
                      </a:r>
                      <a:endParaRPr lang="en-US" sz="2200" b="1" dirty="0" smtClean="0"/>
                    </a:p>
                    <a:p>
                      <a:endParaRPr lang="fr-FR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fr-FR" sz="2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Accéder à cet ordinateur à partir du réseau</a:t>
                      </a:r>
                    </a:p>
                    <a:p>
                      <a:r>
                        <a:rPr kumimoji="0" lang="fr-FR" sz="2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Permettre l’ouverture d’une session </a:t>
                      </a:r>
                      <a:r>
                        <a:rPr kumimoji="0" lang="fr-FR" sz="2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locale</a:t>
                      </a:r>
                      <a:endParaRPr kumimoji="0" lang="fr-FR" sz="2200" b="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182934" y="1263668"/>
            <a:ext cx="38158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fr-FR" altLang="zh-CN" sz="2400" dirty="0" smtClean="0">
                <a:ea typeface="SimSun" pitchFamily="2" charset="-122"/>
                <a:cs typeface="Times New Roman" charset="0"/>
              </a:rPr>
              <a:t>Groupes locaux prédéfinis :</a:t>
            </a:r>
            <a:r>
              <a:rPr lang="en-IE" altLang="zh-CN" sz="2400" dirty="0" smtClean="0">
                <a:ea typeface="SimSun" pitchFamily="2" charset="-122"/>
                <a:cs typeface="Times New Roman" charset="0"/>
              </a:rPr>
              <a:t> </a:t>
            </a:r>
            <a:endParaRPr lang="en-US" sz="2400" dirty="0">
              <a:ea typeface="SimSun" pitchFamily="2" charset="-122"/>
              <a:cs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-2"/>
          <p:cNvSpPr>
            <a:spLocks noGrp="1" noChangeArrowheads="1"/>
          </p:cNvSpPr>
          <p:nvPr>
            <p:ph type="title"/>
          </p:nvPr>
        </p:nvSpPr>
        <p:spPr>
          <a:xfrm>
            <a:off x="178921" y="177420"/>
            <a:ext cx="8774009" cy="919313"/>
          </a:xfrm>
        </p:spPr>
        <p:txBody>
          <a:bodyPr>
            <a:normAutofit fontScale="90000"/>
          </a:bodyPr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Droits utilisateur attribués à des groupes prédéfinis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/>
        </p:nvGraphicFramePr>
        <p:xfrm>
          <a:off x="136480" y="1751841"/>
          <a:ext cx="8889245" cy="362712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2579424"/>
                <a:gridCol w="6309821"/>
              </a:tblGrid>
              <a:tr h="63651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2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Opérateurs de compte</a:t>
                      </a:r>
                      <a:r>
                        <a:rPr lang="en-IE" altLang="zh-CN" sz="2200" b="1" dirty="0" smtClean="0"/>
                        <a:t> </a:t>
                      </a:r>
                      <a:endParaRPr lang="fr-FR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fr-FR" sz="2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Permettre l’ouverture d’une session locale </a:t>
                      </a:r>
                    </a:p>
                    <a:p>
                      <a:r>
                        <a:rPr kumimoji="0" lang="fr-FR" sz="2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Arrêter le système</a:t>
                      </a:r>
                      <a:endParaRPr lang="fr-FR" sz="2200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2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Administrateurs</a:t>
                      </a:r>
                      <a:endParaRPr lang="fr-FR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fr-FR" sz="2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Accéder à cet ordinateur à partir du réseau</a:t>
                      </a:r>
                    </a:p>
                    <a:p>
                      <a:r>
                        <a:rPr kumimoji="0" lang="fr-FR" sz="2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Modifier l’heure système</a:t>
                      </a:r>
                    </a:p>
                    <a:p>
                      <a:r>
                        <a:rPr kumimoji="0" lang="fr-FR" sz="2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Permettre l’ouverture d’une session locale</a:t>
                      </a:r>
                    </a:p>
                    <a:p>
                      <a:r>
                        <a:rPr kumimoji="0" lang="fr-FR" sz="2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Arrêter le système, …</a:t>
                      </a:r>
                      <a:endParaRPr lang="fr-FR" sz="2200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2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Opérateurs de sauvegarde</a:t>
                      </a:r>
                      <a:endParaRPr lang="fr-FR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fr-FR" sz="2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Sauvegarder des fichiers et des répertoires</a:t>
                      </a:r>
                    </a:p>
                    <a:p>
                      <a:r>
                        <a:rPr kumimoji="0" lang="fr-FR" sz="2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Permettre l’ouverture d’une session locale</a:t>
                      </a:r>
                    </a:p>
                    <a:p>
                      <a:r>
                        <a:rPr kumimoji="0" lang="fr-FR" sz="2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Restaurer des fichiers et des répertoires</a:t>
                      </a:r>
                    </a:p>
                    <a:p>
                      <a:r>
                        <a:rPr kumimoji="0" lang="fr-FR" sz="2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Arrêter le système</a:t>
                      </a:r>
                      <a:endParaRPr lang="fr-FR" sz="2200" b="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91952" y="1250021"/>
            <a:ext cx="5257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fr-FR" altLang="zh-CN" sz="2400" dirty="0" smtClean="0">
                <a:ea typeface="SimSun" pitchFamily="2" charset="-122"/>
                <a:cs typeface="Times New Roman" charset="0"/>
              </a:rPr>
              <a:t>Groupes du conteneur </a:t>
            </a:r>
            <a:r>
              <a:rPr lang="fr-FR" altLang="zh-CN" sz="2400" dirty="0" err="1" smtClean="0">
                <a:ea typeface="SimSun" pitchFamily="2" charset="-122"/>
                <a:cs typeface="Times New Roman" charset="0"/>
              </a:rPr>
              <a:t>Builtin</a:t>
            </a:r>
            <a:r>
              <a:rPr lang="fr-FR" altLang="zh-CN" sz="2400" dirty="0" smtClean="0">
                <a:ea typeface="SimSun" pitchFamily="2" charset="-122"/>
                <a:cs typeface="Times New Roman" charset="0"/>
              </a:rPr>
              <a:t> :</a:t>
            </a:r>
            <a:r>
              <a:rPr lang="en-IE" altLang="zh-CN" sz="2400" dirty="0" smtClean="0">
                <a:ea typeface="SimSun" pitchFamily="2" charset="-122"/>
                <a:cs typeface="Times New Roman" charset="0"/>
              </a:rPr>
              <a:t> </a:t>
            </a:r>
            <a:endParaRPr lang="en-US" sz="2400" dirty="0">
              <a:ea typeface="SimSun" pitchFamily="2" charset="-122"/>
              <a:cs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-2"/>
          <p:cNvSpPr>
            <a:spLocks noGrp="1" noChangeArrowheads="1"/>
          </p:cNvSpPr>
          <p:nvPr>
            <p:ph type="title"/>
          </p:nvPr>
        </p:nvSpPr>
        <p:spPr>
          <a:xfrm>
            <a:off x="177421" y="365080"/>
            <a:ext cx="8775510" cy="758952"/>
          </a:xfrm>
        </p:spPr>
        <p:txBody>
          <a:bodyPr>
            <a:noAutofit/>
          </a:bodyPr>
          <a:lstStyle/>
          <a:p>
            <a:r>
              <a:rPr lang="fr-FR" altLang="zh-CN" sz="3000" b="1" dirty="0" smtClean="0">
                <a:solidFill>
                  <a:schemeClr val="tx1"/>
                </a:solidFill>
                <a:ea typeface="SimSun" pitchFamily="2" charset="-122"/>
                <a:cs typeface="Times New Roman" charset="0"/>
              </a:rPr>
              <a:t>2. Utilisation </a:t>
            </a:r>
            <a:r>
              <a:rPr lang="fr-FR" altLang="zh-CN" sz="3000" b="1" dirty="0">
                <a:solidFill>
                  <a:schemeClr val="tx1"/>
                </a:solidFill>
                <a:ea typeface="SimSun" pitchFamily="2" charset="-122"/>
                <a:cs typeface="Times New Roman" charset="0"/>
              </a:rPr>
              <a:t>de modèles de sécurité pour protéger les ordinateurs</a:t>
            </a:r>
            <a:r>
              <a:rPr lang="en-IE" altLang="zh-CN" sz="3000" b="1" dirty="0">
                <a:solidFill>
                  <a:schemeClr val="tx1"/>
                </a:solidFill>
                <a:ea typeface="SimSun" pitchFamily="2" charset="-122"/>
              </a:rPr>
              <a:t> </a:t>
            </a:r>
            <a:endParaRPr lang="en-US" sz="3000" b="1" dirty="0">
              <a:solidFill>
                <a:schemeClr val="tx1"/>
              </a:solidFill>
            </a:endParaRPr>
          </a:p>
        </p:txBody>
      </p:sp>
      <p:sp>
        <p:nvSpPr>
          <p:cNvPr id="472067" name="Rectangle-3"/>
          <p:cNvSpPr>
            <a:spLocks noGrp="1" noChangeArrowheads="1"/>
          </p:cNvSpPr>
          <p:nvPr>
            <p:ph sz="quarter" idx="1"/>
          </p:nvPr>
        </p:nvSpPr>
        <p:spPr>
          <a:xfrm>
            <a:off x="301752" y="1854594"/>
            <a:ext cx="8503920" cy="3167782"/>
          </a:xfrm>
        </p:spPr>
        <p:txBody>
          <a:bodyPr/>
          <a:lstStyle/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Qu'est-ce qu'une stratégie de sécurité ?</a:t>
            </a:r>
            <a:r>
              <a:rPr lang="en-IE" altLang="zh-CN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Description des modèles de sécurité</a:t>
            </a:r>
            <a:r>
              <a:rPr lang="en-IE" altLang="zh-CN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Description des paramètres de modèles de </a:t>
            </a:r>
            <a:r>
              <a:rPr lang="fr-FR" altLang="zh-CN" dirty="0" smtClean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sécurité</a:t>
            </a:r>
          </a:p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dirty="0" smtClean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Outils de création et d’importation des modèles de sécurité personnalisés</a:t>
            </a:r>
            <a:r>
              <a:rPr lang="en-IE" altLang="zh-CN" dirty="0" smtClean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altLang="zh-CN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6" name="AutoShape-4"/>
          <p:cNvSpPr>
            <a:spLocks noChangeArrowheads="1"/>
          </p:cNvSpPr>
          <p:nvPr/>
        </p:nvSpPr>
        <p:spPr bwMode="auto">
          <a:xfrm>
            <a:off x="709684" y="2436118"/>
            <a:ext cx="7710985" cy="4367290"/>
          </a:xfrm>
          <a:prstGeom prst="roundRect">
            <a:avLst>
              <a:gd name="adj" fmla="val 2278"/>
            </a:avLst>
          </a:prstGeom>
          <a:gradFill rotWithShape="1">
            <a:gsLst>
              <a:gs pos="0">
                <a:srgbClr val="DEE7F1"/>
              </a:gs>
              <a:gs pos="100000">
                <a:srgbClr val="B3C8DF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B2B2B2"/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74114" name="Rectangle-2"/>
          <p:cNvSpPr>
            <a:spLocks noGrp="1" noChangeArrowheads="1"/>
          </p:cNvSpPr>
          <p:nvPr>
            <p:ph type="title"/>
          </p:nvPr>
        </p:nvSpPr>
        <p:spPr>
          <a:xfrm>
            <a:off x="177420" y="228600"/>
            <a:ext cx="8775511" cy="758952"/>
          </a:xfrm>
        </p:spPr>
        <p:txBody>
          <a:bodyPr/>
          <a:lstStyle/>
          <a:p>
            <a:r>
              <a:rPr lang="fr-FR" altLang="zh-CN" b="1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Qu'est-ce qu'une stratégie de sécurité ?</a:t>
            </a:r>
            <a:r>
              <a:rPr lang="en-IE" altLang="zh-CN" b="1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b="1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pic>
        <p:nvPicPr>
          <p:cNvPr id="474145" name="Picture 33" descr="2144A1010a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439863" y="3388734"/>
            <a:ext cx="2632075" cy="431800"/>
          </a:xfrm>
          <a:noFill/>
          <a:ln/>
        </p:spPr>
      </p:pic>
      <p:pic>
        <p:nvPicPr>
          <p:cNvPr id="474148" name="Picture 36" descr="2144A1010b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54475" y="2584296"/>
            <a:ext cx="3233429" cy="2012526"/>
          </a:xfrm>
          <a:prstGeom prst="rect">
            <a:avLst/>
          </a:prstGeom>
          <a:noFill/>
        </p:spPr>
      </p:pic>
      <p:pic>
        <p:nvPicPr>
          <p:cNvPr id="474152" name="Picture 40" descr="2144A1010c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949450" y="4619838"/>
            <a:ext cx="5065499" cy="2135814"/>
          </a:xfrm>
          <a:prstGeom prst="rect">
            <a:avLst/>
          </a:prstGeom>
          <a:noFill/>
        </p:spPr>
      </p:pic>
      <p:sp>
        <p:nvSpPr>
          <p:cNvPr id="474134" name="Freeform-22"/>
          <p:cNvSpPr>
            <a:spLocks/>
          </p:cNvSpPr>
          <p:nvPr/>
        </p:nvSpPr>
        <p:spPr bwMode="auto">
          <a:xfrm flipV="1">
            <a:off x="1619250" y="5358889"/>
            <a:ext cx="814388" cy="554038"/>
          </a:xfrm>
          <a:custGeom>
            <a:avLst/>
            <a:gdLst/>
            <a:ahLst/>
            <a:cxnLst>
              <a:cxn ang="0">
                <a:pos x="288" y="164"/>
              </a:cxn>
              <a:cxn ang="0">
                <a:pos x="282" y="203"/>
              </a:cxn>
              <a:cxn ang="0">
                <a:pos x="282" y="0"/>
              </a:cxn>
              <a:cxn ang="0">
                <a:pos x="288" y="37"/>
              </a:cxn>
              <a:cxn ang="0">
                <a:pos x="277" y="55"/>
              </a:cxn>
              <a:cxn ang="0">
                <a:pos x="251" y="61"/>
              </a:cxn>
              <a:cxn ang="0">
                <a:pos x="214" y="73"/>
              </a:cxn>
              <a:cxn ang="0">
                <a:pos x="172" y="90"/>
              </a:cxn>
              <a:cxn ang="0">
                <a:pos x="143" y="105"/>
              </a:cxn>
              <a:cxn ang="0">
                <a:pos x="114" y="123"/>
              </a:cxn>
              <a:cxn ang="0">
                <a:pos x="85" y="145"/>
              </a:cxn>
              <a:cxn ang="0">
                <a:pos x="61" y="171"/>
              </a:cxn>
              <a:cxn ang="0">
                <a:pos x="37" y="200"/>
              </a:cxn>
              <a:cxn ang="0">
                <a:pos x="20" y="235"/>
              </a:cxn>
              <a:cxn ang="0">
                <a:pos x="10" y="266"/>
              </a:cxn>
              <a:cxn ang="0">
                <a:pos x="3" y="297"/>
              </a:cxn>
              <a:cxn ang="0">
                <a:pos x="0" y="344"/>
              </a:cxn>
              <a:cxn ang="0">
                <a:pos x="3" y="370"/>
              </a:cxn>
              <a:cxn ang="0">
                <a:pos x="6" y="397"/>
              </a:cxn>
              <a:cxn ang="0">
                <a:pos x="8" y="376"/>
              </a:cxn>
              <a:cxn ang="0">
                <a:pos x="14" y="345"/>
              </a:cxn>
              <a:cxn ang="0">
                <a:pos x="23" y="318"/>
              </a:cxn>
              <a:cxn ang="0">
                <a:pos x="39" y="284"/>
              </a:cxn>
              <a:cxn ang="0">
                <a:pos x="58" y="257"/>
              </a:cxn>
              <a:cxn ang="0">
                <a:pos x="79" y="234"/>
              </a:cxn>
              <a:cxn ang="0">
                <a:pos x="103" y="213"/>
              </a:cxn>
              <a:cxn ang="0">
                <a:pos x="129" y="196"/>
              </a:cxn>
              <a:cxn ang="0">
                <a:pos x="155" y="183"/>
              </a:cxn>
              <a:cxn ang="0">
                <a:pos x="180" y="173"/>
              </a:cxn>
              <a:cxn ang="0">
                <a:pos x="204" y="164"/>
              </a:cxn>
              <a:cxn ang="0">
                <a:pos x="227" y="158"/>
              </a:cxn>
              <a:cxn ang="0">
                <a:pos x="249" y="154"/>
              </a:cxn>
              <a:cxn ang="0">
                <a:pos x="280" y="150"/>
              </a:cxn>
            </a:cxnLst>
            <a:rect l="0" t="0" r="r" b="b"/>
            <a:pathLst>
              <a:path w="532" h="397">
                <a:moveTo>
                  <a:pt x="291" y="150"/>
                </a:moveTo>
                <a:lnTo>
                  <a:pt x="288" y="164"/>
                </a:lnTo>
                <a:lnTo>
                  <a:pt x="285" y="183"/>
                </a:lnTo>
                <a:lnTo>
                  <a:pt x="282" y="203"/>
                </a:lnTo>
                <a:lnTo>
                  <a:pt x="532" y="97"/>
                </a:lnTo>
                <a:lnTo>
                  <a:pt x="282" y="0"/>
                </a:lnTo>
                <a:lnTo>
                  <a:pt x="285" y="19"/>
                </a:lnTo>
                <a:lnTo>
                  <a:pt x="288" y="37"/>
                </a:lnTo>
                <a:lnTo>
                  <a:pt x="291" y="52"/>
                </a:lnTo>
                <a:lnTo>
                  <a:pt x="277" y="55"/>
                </a:lnTo>
                <a:lnTo>
                  <a:pt x="261" y="60"/>
                </a:lnTo>
                <a:lnTo>
                  <a:pt x="251" y="61"/>
                </a:lnTo>
                <a:lnTo>
                  <a:pt x="239" y="65"/>
                </a:lnTo>
                <a:lnTo>
                  <a:pt x="214" y="73"/>
                </a:lnTo>
                <a:lnTo>
                  <a:pt x="187" y="83"/>
                </a:lnTo>
                <a:lnTo>
                  <a:pt x="172" y="90"/>
                </a:lnTo>
                <a:lnTo>
                  <a:pt x="158" y="97"/>
                </a:lnTo>
                <a:lnTo>
                  <a:pt x="143" y="105"/>
                </a:lnTo>
                <a:lnTo>
                  <a:pt x="129" y="113"/>
                </a:lnTo>
                <a:lnTo>
                  <a:pt x="114" y="123"/>
                </a:lnTo>
                <a:lnTo>
                  <a:pt x="100" y="134"/>
                </a:lnTo>
                <a:lnTo>
                  <a:pt x="85" y="145"/>
                </a:lnTo>
                <a:lnTo>
                  <a:pt x="72" y="157"/>
                </a:lnTo>
                <a:lnTo>
                  <a:pt x="61" y="171"/>
                </a:lnTo>
                <a:lnTo>
                  <a:pt x="48" y="186"/>
                </a:lnTo>
                <a:lnTo>
                  <a:pt x="37" y="200"/>
                </a:lnTo>
                <a:lnTo>
                  <a:pt x="27" y="218"/>
                </a:lnTo>
                <a:lnTo>
                  <a:pt x="20" y="235"/>
                </a:lnTo>
                <a:lnTo>
                  <a:pt x="13" y="255"/>
                </a:lnTo>
                <a:lnTo>
                  <a:pt x="10" y="266"/>
                </a:lnTo>
                <a:lnTo>
                  <a:pt x="7" y="276"/>
                </a:lnTo>
                <a:lnTo>
                  <a:pt x="3" y="297"/>
                </a:lnTo>
                <a:lnTo>
                  <a:pt x="1" y="319"/>
                </a:lnTo>
                <a:lnTo>
                  <a:pt x="0" y="344"/>
                </a:lnTo>
                <a:lnTo>
                  <a:pt x="1" y="357"/>
                </a:lnTo>
                <a:lnTo>
                  <a:pt x="3" y="370"/>
                </a:lnTo>
                <a:lnTo>
                  <a:pt x="4" y="383"/>
                </a:lnTo>
                <a:lnTo>
                  <a:pt x="6" y="397"/>
                </a:lnTo>
                <a:lnTo>
                  <a:pt x="7" y="386"/>
                </a:lnTo>
                <a:lnTo>
                  <a:pt x="8" y="376"/>
                </a:lnTo>
                <a:lnTo>
                  <a:pt x="11" y="355"/>
                </a:lnTo>
                <a:lnTo>
                  <a:pt x="14" y="345"/>
                </a:lnTo>
                <a:lnTo>
                  <a:pt x="17" y="335"/>
                </a:lnTo>
                <a:lnTo>
                  <a:pt x="23" y="318"/>
                </a:lnTo>
                <a:lnTo>
                  <a:pt x="30" y="300"/>
                </a:lnTo>
                <a:lnTo>
                  <a:pt x="39" y="284"/>
                </a:lnTo>
                <a:lnTo>
                  <a:pt x="48" y="270"/>
                </a:lnTo>
                <a:lnTo>
                  <a:pt x="58" y="257"/>
                </a:lnTo>
                <a:lnTo>
                  <a:pt x="68" y="245"/>
                </a:lnTo>
                <a:lnTo>
                  <a:pt x="79" y="234"/>
                </a:lnTo>
                <a:lnTo>
                  <a:pt x="91" y="222"/>
                </a:lnTo>
                <a:lnTo>
                  <a:pt x="103" y="213"/>
                </a:lnTo>
                <a:lnTo>
                  <a:pt x="116" y="205"/>
                </a:lnTo>
                <a:lnTo>
                  <a:pt x="129" y="196"/>
                </a:lnTo>
                <a:lnTo>
                  <a:pt x="142" y="190"/>
                </a:lnTo>
                <a:lnTo>
                  <a:pt x="155" y="183"/>
                </a:lnTo>
                <a:lnTo>
                  <a:pt x="168" y="177"/>
                </a:lnTo>
                <a:lnTo>
                  <a:pt x="180" y="173"/>
                </a:lnTo>
                <a:lnTo>
                  <a:pt x="193" y="168"/>
                </a:lnTo>
                <a:lnTo>
                  <a:pt x="204" y="164"/>
                </a:lnTo>
                <a:lnTo>
                  <a:pt x="217" y="161"/>
                </a:lnTo>
                <a:lnTo>
                  <a:pt x="227" y="158"/>
                </a:lnTo>
                <a:lnTo>
                  <a:pt x="239" y="157"/>
                </a:lnTo>
                <a:lnTo>
                  <a:pt x="249" y="154"/>
                </a:lnTo>
                <a:lnTo>
                  <a:pt x="265" y="151"/>
                </a:lnTo>
                <a:lnTo>
                  <a:pt x="280" y="150"/>
                </a:lnTo>
                <a:lnTo>
                  <a:pt x="291" y="150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286609" y="1496749"/>
            <a:ext cx="85571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 smtClean="0"/>
              <a:t>C’est une combinaison de paramètres de sécurité affectant la sécurité d’un ordinateur</a:t>
            </a:r>
            <a:endParaRPr lang="fr-FR" sz="2400" dirty="0"/>
          </a:p>
        </p:txBody>
      </p:sp>
      <p:sp>
        <p:nvSpPr>
          <p:cNvPr id="9" name="Rectangle 8"/>
          <p:cNvSpPr/>
          <p:nvPr/>
        </p:nvSpPr>
        <p:spPr>
          <a:xfrm>
            <a:off x="924413" y="2639621"/>
            <a:ext cx="1436650" cy="346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smtClean="0">
                <a:solidFill>
                  <a:srgbClr val="C00000"/>
                </a:solidFill>
              </a:rPr>
              <a:t>local</a:t>
            </a:r>
            <a:endParaRPr lang="fr-FR" sz="2200" dirty="0">
              <a:solidFill>
                <a:srgbClr val="C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07326" y="4304648"/>
            <a:ext cx="1954381" cy="3462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200" dirty="0" smtClean="0">
                <a:solidFill>
                  <a:srgbClr val="C00000"/>
                </a:solidFill>
              </a:rPr>
              <a:t>Active Directory</a:t>
            </a:r>
            <a:endParaRPr lang="fr-FR" sz="22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74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74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7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474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7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4116" grpId="0" animBg="1"/>
      <p:bldP spid="474134" grpId="0" animBg="1"/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-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Description des modèles de sécurité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graphicFrame>
        <p:nvGraphicFramePr>
          <p:cNvPr id="29" name="Tableau 28"/>
          <p:cNvGraphicFramePr>
            <a:graphicFrameLocks noGrp="1"/>
          </p:cNvGraphicFramePr>
          <p:nvPr/>
        </p:nvGraphicFramePr>
        <p:xfrm>
          <a:off x="95536" y="1274170"/>
          <a:ext cx="8925637" cy="5328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3891"/>
                <a:gridCol w="2019869"/>
                <a:gridCol w="4421877"/>
              </a:tblGrid>
              <a:tr h="466520">
                <a:tc>
                  <a:txBody>
                    <a:bodyPr/>
                    <a:lstStyle/>
                    <a:p>
                      <a:r>
                        <a:rPr lang="fr-FR" altLang="zh-CN" sz="2200" dirty="0" smtClean="0">
                          <a:solidFill>
                            <a:srgbClr val="C00000"/>
                          </a:solidFill>
                          <a:ea typeface="SimSun" pitchFamily="2" charset="-122"/>
                          <a:cs typeface="Times New Roman" charset="0"/>
                        </a:rPr>
                        <a:t>Template</a:t>
                      </a:r>
                      <a:r>
                        <a:rPr lang="en-IE" altLang="zh-CN" sz="2200" dirty="0" smtClean="0">
                          <a:solidFill>
                            <a:srgbClr val="C00000"/>
                          </a:solidFill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lang="fr-FR" sz="22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200" dirty="0" smtClean="0">
                          <a:solidFill>
                            <a:srgbClr val="C00000"/>
                          </a:solidFill>
                        </a:rPr>
                        <a:t>Fichier</a:t>
                      </a:r>
                      <a:endParaRPr lang="fr-FR" sz="22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altLang="zh-CN" sz="2200" dirty="0" smtClean="0">
                          <a:solidFill>
                            <a:srgbClr val="C00000"/>
                          </a:solidFill>
                          <a:ea typeface="SimSun" pitchFamily="2" charset="-122"/>
                          <a:cs typeface="Times New Roman" charset="0"/>
                        </a:rPr>
                        <a:t>Description</a:t>
                      </a:r>
                      <a:r>
                        <a:rPr lang="en-IE" altLang="zh-CN" sz="2200" dirty="0" smtClean="0">
                          <a:solidFill>
                            <a:srgbClr val="C00000"/>
                          </a:solidFill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lang="fr-FR" sz="22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017">
                <a:tc>
                  <a:txBody>
                    <a:bodyPr/>
                    <a:lstStyle/>
                    <a:p>
                      <a:r>
                        <a:rPr lang="fr-FR" altLang="zh-CN" b="1" dirty="0" smtClean="0">
                          <a:ea typeface="SimSun" pitchFamily="2" charset="-122"/>
                          <a:cs typeface="Times New Roman" charset="0"/>
                        </a:rPr>
                        <a:t>Sécurité par défaut</a:t>
                      </a:r>
                      <a:endParaRPr lang="fr-FR" b="1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altLang="zh-CN" dirty="0" smtClean="0">
                          <a:ea typeface="SimSun" pitchFamily="2" charset="-122"/>
                          <a:cs typeface="Times New Roman" charset="0"/>
                        </a:rPr>
                        <a:t>Setup security.inf</a:t>
                      </a:r>
                      <a:endParaRPr lang="fr-FR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zh-CN" sz="1800" dirty="0" smtClean="0">
                          <a:ea typeface="SimSun" pitchFamily="2" charset="-122"/>
                          <a:cs typeface="Times New Roman" charset="0"/>
                        </a:rPr>
                        <a:t>Spécifie les paramètres de sécurité par défaut</a:t>
                      </a:r>
                      <a:endParaRPr lang="fr-FR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4607">
                <a:tc>
                  <a:txBody>
                    <a:bodyPr/>
                    <a:lstStyle/>
                    <a:p>
                      <a:r>
                        <a:rPr lang="fr-FR" altLang="zh-CN" b="1" dirty="0" smtClean="0">
                          <a:ea typeface="SimSun" pitchFamily="2" charset="-122"/>
                          <a:cs typeface="Times New Roman" charset="0"/>
                        </a:rPr>
                        <a:t>Sécurité par défaut du DC </a:t>
                      </a:r>
                      <a:endParaRPr lang="fr-FR" b="1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altLang="zh-CN" dirty="0" smtClean="0">
                          <a:ea typeface="SimSun" pitchFamily="2" charset="-122"/>
                          <a:cs typeface="Times New Roman" charset="0"/>
                        </a:rPr>
                        <a:t>DC security.inf</a:t>
                      </a:r>
                      <a:endParaRPr lang="fr-FR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zh-CN" sz="1800" dirty="0" smtClean="0">
                          <a:ea typeface="SimSun" pitchFamily="2" charset="-122"/>
                          <a:cs typeface="Arial Narrow" charset="0"/>
                        </a:rPr>
                        <a:t>Spécifie les paramètres de sécurité par défaut mis à jour depuis</a:t>
                      </a:r>
                      <a:r>
                        <a:rPr lang="fr-FR" altLang="zh-CN" sz="1800" dirty="0" smtClean="0"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r>
                        <a:rPr lang="fr-FR" altLang="zh-CN" sz="1800" dirty="0" smtClean="0">
                          <a:ea typeface="SimSun" pitchFamily="2" charset="-122"/>
                          <a:cs typeface="Arial Narrow" charset="0"/>
                        </a:rPr>
                        <a:t>Setup security.inf pour un contrôleur de domaine</a:t>
                      </a:r>
                      <a:r>
                        <a:rPr lang="en-IE" altLang="zh-CN" sz="1800" dirty="0" smtClean="0">
                          <a:ea typeface="SimSun" pitchFamily="2" charset="-122"/>
                        </a:rPr>
                        <a:t> </a:t>
                      </a:r>
                      <a:endParaRPr lang="fr-FR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9623">
                <a:tc>
                  <a:txBody>
                    <a:bodyPr/>
                    <a:lstStyle/>
                    <a:p>
                      <a:r>
                        <a:rPr lang="fr-FR" altLang="zh-CN" b="1" dirty="0" smtClean="0">
                          <a:ea typeface="SimSun" pitchFamily="2" charset="-122"/>
                          <a:cs typeface="Times New Roman" charset="0"/>
                        </a:rPr>
                        <a:t>Compatible </a:t>
                      </a:r>
                      <a:endParaRPr lang="fr-FR" b="1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altLang="zh-CN" dirty="0" smtClean="0">
                          <a:ea typeface="SimSun" pitchFamily="2" charset="-122"/>
                          <a:cs typeface="Times New Roman" charset="0"/>
                        </a:rPr>
                        <a:t>Compatws.inf</a:t>
                      </a:r>
                      <a:endParaRPr lang="fr-FR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zh-CN" sz="1800" dirty="0" smtClean="0">
                          <a:ea typeface="SimSun" pitchFamily="2" charset="-122"/>
                          <a:cs typeface="Times New Roman" charset="0"/>
                        </a:rPr>
                        <a:t>Modifie les autorisations et paramètres du registre pour le groupe Utilisateurs pour permettre une compatibilité maximale des applications</a:t>
                      </a:r>
                      <a:r>
                        <a:rPr lang="en-IE" altLang="zh-CN" sz="1800" dirty="0" smtClean="0"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lang="fr-FR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9718">
                <a:tc>
                  <a:txBody>
                    <a:bodyPr/>
                    <a:lstStyle/>
                    <a:p>
                      <a:r>
                        <a:rPr lang="fr-FR" altLang="zh-CN" b="1" dirty="0" smtClean="0">
                          <a:ea typeface="SimSun" pitchFamily="2" charset="-122"/>
                          <a:cs typeface="Times New Roman" charset="0"/>
                        </a:rPr>
                        <a:t>Sécurisé</a:t>
                      </a:r>
                      <a:endParaRPr lang="fr-FR" b="1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altLang="zh-CN" dirty="0" smtClean="0">
                          <a:ea typeface="SimSun" pitchFamily="2" charset="-122"/>
                          <a:cs typeface="Times New Roman" charset="0"/>
                        </a:rPr>
                        <a:t>Securedc.inf Securews.inf</a:t>
                      </a:r>
                      <a:endParaRPr lang="fr-FR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zh-CN" sz="1800" dirty="0" smtClean="0">
                          <a:ea typeface="SimSun" pitchFamily="2" charset="-122"/>
                          <a:cs typeface="Times New Roman" charset="0"/>
                        </a:rPr>
                        <a:t>Améliore les paramètres de sécurité les moins susceptibles de toucher la compatibilité des  applications</a:t>
                      </a:r>
                      <a:r>
                        <a:rPr lang="en-IE" altLang="zh-CN" sz="1800" dirty="0" smtClean="0"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lang="fr-FR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9812">
                <a:tc>
                  <a:txBody>
                    <a:bodyPr/>
                    <a:lstStyle/>
                    <a:p>
                      <a:r>
                        <a:rPr lang="fr-FR" altLang="zh-CN" b="1" dirty="0" smtClean="0">
                          <a:ea typeface="SimSun" pitchFamily="2" charset="-122"/>
                          <a:cs typeface="Times New Roman" charset="0"/>
                        </a:rPr>
                        <a:t>Hautement sécurisé </a:t>
                      </a:r>
                      <a:endParaRPr lang="fr-FR" b="1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altLang="zh-CN" dirty="0" smtClean="0">
                          <a:ea typeface="SimSun" pitchFamily="2" charset="-122"/>
                          <a:cs typeface="Times New Roman" charset="0"/>
                        </a:rPr>
                        <a:t>Hisecdc.inf Hisecws.inf</a:t>
                      </a:r>
                      <a:endParaRPr lang="fr-FR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zh-CN" sz="1800" dirty="0" smtClean="0">
                          <a:ea typeface="SimSun" pitchFamily="2" charset="-122"/>
                          <a:cs typeface="Times New Roman" charset="0"/>
                        </a:rPr>
                        <a:t>Augmente les restrictions sur les paramètres de sécurité</a:t>
                      </a:r>
                      <a:r>
                        <a:rPr lang="en-IE" altLang="zh-CN" sz="1800" dirty="0" smtClean="0"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lang="fr-FR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9812">
                <a:tc>
                  <a:txBody>
                    <a:bodyPr/>
                    <a:lstStyle/>
                    <a:p>
                      <a:r>
                        <a:rPr lang="fr-FR" altLang="zh-CN" b="1" dirty="0" smtClean="0">
                          <a:ea typeface="SimSun" pitchFamily="2" charset="-122"/>
                          <a:cs typeface="Times New Roman" charset="0"/>
                        </a:rPr>
                        <a:t>Sécurité racine système </a:t>
                      </a:r>
                      <a:endParaRPr lang="fr-FR" b="1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altLang="zh-CN" dirty="0" smtClean="0">
                          <a:ea typeface="SimSun" pitchFamily="2" charset="-122"/>
                          <a:cs typeface="Times New Roman" charset="0"/>
                        </a:rPr>
                        <a:t>Rootsec.inf</a:t>
                      </a:r>
                      <a:endParaRPr lang="fr-FR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zh-CN" sz="1800" dirty="0" smtClean="0">
                          <a:ea typeface="SimSun" pitchFamily="2" charset="-122"/>
                          <a:cs typeface="Times New Roman" charset="0"/>
                        </a:rPr>
                        <a:t>Spécifie les autorisations pour la racine du disque système</a:t>
                      </a:r>
                      <a:endParaRPr lang="fr-FR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-2"/>
          <p:cNvSpPr>
            <a:spLocks noGrp="1" noChangeArrowheads="1"/>
          </p:cNvSpPr>
          <p:nvPr>
            <p:ph type="title"/>
          </p:nvPr>
        </p:nvSpPr>
        <p:spPr>
          <a:xfrm>
            <a:off x="192569" y="283191"/>
            <a:ext cx="8774009" cy="758952"/>
          </a:xfrm>
        </p:spPr>
        <p:txBody>
          <a:bodyPr>
            <a:normAutofit fontScale="90000"/>
          </a:bodyPr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Description des paramètres de modèles </a:t>
            </a:r>
            <a:b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</a:br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 sécurité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pic>
        <p:nvPicPr>
          <p:cNvPr id="476182" name="Picture 22" descr="2144A101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 t="21608" r="21388"/>
          <a:stretch>
            <a:fillRect/>
          </a:stretch>
        </p:blipFill>
        <p:spPr>
          <a:xfrm>
            <a:off x="177543" y="2238232"/>
            <a:ext cx="8763044" cy="4053386"/>
          </a:xfrm>
          <a:noFill/>
          <a:ln/>
        </p:spPr>
      </p:pic>
      <p:sp>
        <p:nvSpPr>
          <p:cNvPr id="476172" name="AutoShape-12"/>
          <p:cNvSpPr>
            <a:spLocks noChangeArrowheads="1"/>
          </p:cNvSpPr>
          <p:nvPr/>
        </p:nvSpPr>
        <p:spPr bwMode="auto">
          <a:xfrm>
            <a:off x="202394" y="1542742"/>
            <a:ext cx="4615265" cy="477126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algn="ctr">
              <a:lnSpc>
                <a:spcPct val="85000"/>
              </a:lnSpc>
              <a:buClrTx/>
              <a:buSzTx/>
              <a:buFontTx/>
              <a:buNone/>
            </a:pPr>
            <a:r>
              <a:rPr lang="fr-FR" altLang="zh-CN" sz="2200">
                <a:ea typeface="SimSun" pitchFamily="2" charset="-122"/>
                <a:cs typeface="Times New Roman" charset="0"/>
              </a:rPr>
              <a:t>Modèle de sécurité :</a:t>
            </a:r>
            <a:r>
              <a:rPr lang="fr-FR" altLang="zh-CN" sz="2200">
                <a:ea typeface="SimSun" pitchFamily="2" charset="-122"/>
                <a:cs typeface="Arial Narrow" charset="0"/>
              </a:rPr>
              <a:t> </a:t>
            </a:r>
            <a:r>
              <a:rPr lang="fr-FR" altLang="zh-CN" sz="2200">
                <a:ea typeface="SimSun" pitchFamily="2" charset="-122"/>
                <a:cs typeface="Times New Roman" charset="0"/>
              </a:rPr>
              <a:t>Setup Security</a:t>
            </a:r>
            <a:r>
              <a:rPr lang="en-IE" altLang="zh-CN" sz="2200">
                <a:ea typeface="SimSun" pitchFamily="2" charset="-122"/>
              </a:rPr>
              <a:t> </a:t>
            </a:r>
            <a:endParaRPr lang="en-US" sz="2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-2"/>
          <p:cNvSpPr>
            <a:spLocks noGrp="1" noChangeArrowheads="1"/>
          </p:cNvSpPr>
          <p:nvPr>
            <p:ph type="title"/>
          </p:nvPr>
        </p:nvSpPr>
        <p:spPr>
          <a:xfrm>
            <a:off x="192569" y="283191"/>
            <a:ext cx="8774009" cy="758952"/>
          </a:xfrm>
        </p:spPr>
        <p:txBody>
          <a:bodyPr>
            <a:normAutofit fontScale="90000"/>
          </a:bodyPr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Description des paramètres de modèles </a:t>
            </a:r>
            <a:b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</a:br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 sécurité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graphicFrame>
        <p:nvGraphicFramePr>
          <p:cNvPr id="8" name="Tableau 7"/>
          <p:cNvGraphicFramePr>
            <a:graphicFrameLocks noGrp="1"/>
          </p:cNvGraphicFramePr>
          <p:nvPr/>
        </p:nvGraphicFramePr>
        <p:xfrm>
          <a:off x="177420" y="1683606"/>
          <a:ext cx="8789159" cy="4621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1367"/>
                <a:gridCol w="6367792"/>
              </a:tblGrid>
              <a:tr h="868733">
                <a:tc>
                  <a:txBody>
                    <a:bodyPr/>
                    <a:lstStyle/>
                    <a:p>
                      <a:r>
                        <a:rPr lang="fr-FR" sz="2200" b="1" dirty="0" smtClean="0">
                          <a:solidFill>
                            <a:schemeClr val="tx1"/>
                          </a:solidFill>
                        </a:rPr>
                        <a:t>Stratégies de comptes</a:t>
                      </a:r>
                      <a:endParaRPr lang="fr-FR" sz="2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fr-FR" sz="22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Configurent des stratégies pour les mots de passe et les comptes.</a:t>
                      </a:r>
                      <a:endParaRPr lang="fr-FR" sz="2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868733">
                <a:tc>
                  <a:txBody>
                    <a:bodyPr/>
                    <a:lstStyle/>
                    <a:p>
                      <a:r>
                        <a:rPr lang="fr-FR" sz="2200" b="1" dirty="0" smtClean="0">
                          <a:solidFill>
                            <a:schemeClr val="tx1"/>
                          </a:solidFill>
                        </a:rPr>
                        <a:t>Stratégies locales</a:t>
                      </a:r>
                      <a:endParaRPr lang="fr-FR" sz="2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fr-FR" sz="2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Configurent l'audit et les droits d'utilisateur et les options de sécurité.</a:t>
                      </a:r>
                      <a:endParaRPr lang="fr-FR" sz="2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1250976">
                <a:tc>
                  <a:txBody>
                    <a:bodyPr/>
                    <a:lstStyle/>
                    <a:p>
                      <a:r>
                        <a:rPr lang="fr-FR" sz="2200" b="1" dirty="0" smtClean="0">
                          <a:solidFill>
                            <a:schemeClr val="tx1"/>
                          </a:solidFill>
                        </a:rPr>
                        <a:t>Journal des événements</a:t>
                      </a:r>
                      <a:endParaRPr lang="fr-FR" sz="2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fr-FR" sz="2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Configure les paramètres des journaux des applications, des journaux système et des journaux de sécurité</a:t>
                      </a:r>
                      <a:endParaRPr lang="fr-FR" sz="2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1633218">
                <a:tc>
                  <a:txBody>
                    <a:bodyPr/>
                    <a:lstStyle/>
                    <a:p>
                      <a:r>
                        <a:rPr lang="fr-FR" sz="2200" b="1" dirty="0" smtClean="0">
                          <a:solidFill>
                            <a:schemeClr val="tx1"/>
                          </a:solidFill>
                        </a:rPr>
                        <a:t>Groupes restreints</a:t>
                      </a:r>
                      <a:endParaRPr lang="fr-FR" sz="2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fr-FR" sz="2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Configurent l'adhésion aux groupes prédéfinis comme « Administrateurs », « Utilisateurs avec pouvoir », </a:t>
                      </a:r>
                      <a:r>
                        <a:rPr kumimoji="0" lang="fr-FR" sz="2200" b="1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Admins</a:t>
                      </a:r>
                      <a:r>
                        <a:rPr kumimoji="0" lang="fr-FR" sz="2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du domaine, …</a:t>
                      </a:r>
                      <a:endParaRPr lang="fr-FR" sz="2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-2"/>
          <p:cNvSpPr>
            <a:spLocks noGrp="1" noChangeArrowheads="1"/>
          </p:cNvSpPr>
          <p:nvPr>
            <p:ph type="title"/>
          </p:nvPr>
        </p:nvSpPr>
        <p:spPr>
          <a:xfrm>
            <a:off x="192569" y="283191"/>
            <a:ext cx="8774009" cy="758952"/>
          </a:xfrm>
        </p:spPr>
        <p:txBody>
          <a:bodyPr>
            <a:normAutofit fontScale="90000"/>
          </a:bodyPr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Description des paramètres de modèles </a:t>
            </a:r>
            <a:b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</a:br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 sécurité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graphicFrame>
        <p:nvGraphicFramePr>
          <p:cNvPr id="8" name="Tableau 7"/>
          <p:cNvGraphicFramePr>
            <a:graphicFrameLocks noGrp="1"/>
          </p:cNvGraphicFramePr>
          <p:nvPr/>
        </p:nvGraphicFramePr>
        <p:xfrm>
          <a:off x="177420" y="1560781"/>
          <a:ext cx="880280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5127"/>
                <a:gridCol w="6377680"/>
              </a:tblGrid>
              <a:tr h="550412">
                <a:tc>
                  <a:txBody>
                    <a:bodyPr/>
                    <a:lstStyle/>
                    <a:p>
                      <a:r>
                        <a:rPr lang="fr-FR" sz="2200" b="1" dirty="0" smtClean="0">
                          <a:solidFill>
                            <a:schemeClr val="tx1"/>
                          </a:solidFill>
                        </a:rPr>
                        <a:t>Services système</a:t>
                      </a:r>
                      <a:endParaRPr lang="fr-FR" sz="2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fr-FR" sz="2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Configurent les paramètres de sécurité et de démarrage des services exécutés sur un ordinateur</a:t>
                      </a:r>
                      <a:endParaRPr lang="fr-FR" sz="2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50412">
                <a:tc>
                  <a:txBody>
                    <a:bodyPr/>
                    <a:lstStyle/>
                    <a:p>
                      <a:r>
                        <a:rPr lang="fr-FR" sz="2200" b="1" dirty="0" smtClean="0">
                          <a:solidFill>
                            <a:schemeClr val="tx1"/>
                          </a:solidFill>
                        </a:rPr>
                        <a:t>Registre</a:t>
                      </a:r>
                      <a:endParaRPr lang="fr-FR" sz="2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fr-FR" sz="2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Configure la sécurité d’accès (DACL) au niveau des clés du registre.</a:t>
                      </a:r>
                      <a:endParaRPr lang="fr-FR" sz="2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50412">
                <a:tc>
                  <a:txBody>
                    <a:bodyPr/>
                    <a:lstStyle/>
                    <a:p>
                      <a:r>
                        <a:rPr lang="fr-FR" sz="2200" b="1" dirty="0" smtClean="0">
                          <a:solidFill>
                            <a:schemeClr val="tx1"/>
                          </a:solidFill>
                        </a:rPr>
                        <a:t>Système de fichiers</a:t>
                      </a:r>
                      <a:endParaRPr lang="fr-FR" sz="2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fr-FR" sz="2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Configure la sécurité d’accès (DACL) au niveau des chemins d'accès de fichiers spécifiques</a:t>
                      </a:r>
                      <a:endParaRPr lang="fr-FR" sz="2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50412">
                <a:tc>
                  <a:txBody>
                    <a:bodyPr/>
                    <a:lstStyle/>
                    <a:p>
                      <a:r>
                        <a:rPr lang="fr-FR" sz="2200" b="1" dirty="0" smtClean="0">
                          <a:solidFill>
                            <a:schemeClr val="tx1"/>
                          </a:solidFill>
                        </a:rPr>
                        <a:t>Stratégies de clé publique</a:t>
                      </a:r>
                      <a:endParaRPr lang="fr-FR" sz="2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fr-FR" sz="2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Configurent les agents de récupération de données cryptées, les racines de domaines, les autorités de certification approuvées, etc.</a:t>
                      </a:r>
                      <a:endParaRPr lang="fr-FR" sz="2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-2"/>
          <p:cNvSpPr>
            <a:spLocks noGrp="1" noChangeArrowheads="1"/>
          </p:cNvSpPr>
          <p:nvPr>
            <p:ph type="title"/>
          </p:nvPr>
        </p:nvSpPr>
        <p:spPr>
          <a:xfrm>
            <a:off x="177421" y="310488"/>
            <a:ext cx="8966579" cy="758952"/>
          </a:xfrm>
        </p:spPr>
        <p:txBody>
          <a:bodyPr vert="horz" anchor="b">
            <a:normAutofit fontScale="90000"/>
          </a:bodyPr>
          <a:lstStyle/>
          <a:p>
            <a:r>
              <a:rPr lang="fr-FR" altLang="zh-CN" sz="3000" b="1" dirty="0" smtClean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Outils de création et d’importation des</a:t>
            </a:r>
            <a:br>
              <a:rPr lang="fr-FR" altLang="zh-CN" sz="3000" b="1" dirty="0" smtClean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</a:br>
            <a:r>
              <a:rPr lang="fr-FR" altLang="zh-CN" sz="3000" b="1" dirty="0" smtClean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modèles de sécurité personnalisés</a:t>
            </a:r>
            <a:endParaRPr lang="en-US" altLang="zh-CN" sz="3000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32012" y="2401880"/>
            <a:ext cx="8693624" cy="16504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Tx/>
              <a:buChar char="-"/>
            </a:pPr>
            <a:r>
              <a:rPr lang="fr-FR" sz="2300" u="sng" dirty="0" smtClean="0">
                <a:solidFill>
                  <a:schemeClr val="tx1"/>
                </a:solidFill>
              </a:rPr>
              <a:t>Modèles de sécurité</a:t>
            </a:r>
            <a:r>
              <a:rPr lang="fr-FR" sz="2300" dirty="0" smtClean="0"/>
              <a:t> : </a:t>
            </a:r>
          </a:p>
          <a:p>
            <a:pPr>
              <a:spcAft>
                <a:spcPts val="600"/>
              </a:spcAft>
            </a:pPr>
            <a:r>
              <a:rPr lang="fr-FR" sz="2300" dirty="0" smtClean="0"/>
              <a:t>Permet de visualiser et de gérer les modèles existant sur le système</a:t>
            </a:r>
          </a:p>
          <a:p>
            <a:pPr>
              <a:spcAft>
                <a:spcPts val="600"/>
              </a:spcAft>
              <a:buFontTx/>
              <a:buChar char="-"/>
            </a:pPr>
            <a:r>
              <a:rPr lang="fr-FR" sz="2300" u="sng" dirty="0" smtClean="0">
                <a:solidFill>
                  <a:schemeClr val="tx1"/>
                </a:solidFill>
              </a:rPr>
              <a:t>Configuration et analyse de la sécurité </a:t>
            </a:r>
            <a:r>
              <a:rPr lang="fr-FR" sz="2300" dirty="0" smtClean="0"/>
              <a:t>: </a:t>
            </a:r>
          </a:p>
          <a:p>
            <a:pPr>
              <a:spcAft>
                <a:spcPts val="600"/>
              </a:spcAft>
            </a:pPr>
            <a:r>
              <a:rPr lang="fr-FR" sz="2300" dirty="0" smtClean="0"/>
              <a:t>Permet de tester et d’appliquer à la machine en cours les modèles de stratégies que l’on a créés.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415" y="1848051"/>
            <a:ext cx="17703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i="1" u="sng" dirty="0" smtClean="0">
                <a:solidFill>
                  <a:srgbClr val="C00000"/>
                </a:solidFill>
              </a:rPr>
              <a:t>Création</a:t>
            </a:r>
            <a:endParaRPr lang="fr-FR" sz="2400" i="1" u="sng" dirty="0">
              <a:solidFill>
                <a:srgbClr val="C0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9780" y="4916101"/>
            <a:ext cx="8659504" cy="623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300" dirty="0" smtClean="0"/>
              <a:t>Une fois votre modèle créé et testé, vous pouvez l’importer dans Active Directory pour le déployer via une GPO.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633" y="4470703"/>
            <a:ext cx="17703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i="1" u="sng" dirty="0" smtClean="0">
                <a:solidFill>
                  <a:srgbClr val="C00000"/>
                </a:solidFill>
              </a:rPr>
              <a:t>Importation</a:t>
            </a:r>
            <a:endParaRPr lang="fr-FR" sz="2400" i="1" u="sng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-2"/>
          <p:cNvSpPr>
            <a:spLocks noGrp="1" noChangeArrowheads="1"/>
          </p:cNvSpPr>
          <p:nvPr>
            <p:ph type="title"/>
          </p:nvPr>
        </p:nvSpPr>
        <p:spPr>
          <a:xfrm>
            <a:off x="177421" y="310488"/>
            <a:ext cx="8966579" cy="758952"/>
          </a:xfrm>
        </p:spPr>
        <p:txBody>
          <a:bodyPr vert="horz" anchor="b">
            <a:normAutofit fontScale="90000"/>
          </a:bodyPr>
          <a:lstStyle/>
          <a:p>
            <a:r>
              <a:rPr lang="fr-FR" altLang="zh-CN" sz="3000" b="1" dirty="0" smtClean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Outils de création et d’importation des</a:t>
            </a:r>
            <a:br>
              <a:rPr lang="fr-FR" altLang="zh-CN" sz="3000" b="1" dirty="0" smtClean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</a:br>
            <a:r>
              <a:rPr lang="fr-FR" altLang="zh-CN" sz="3000" b="1" dirty="0" smtClean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modèles de sécurité personnalisés</a:t>
            </a:r>
            <a:endParaRPr lang="en-US" altLang="zh-CN" sz="3000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pic>
        <p:nvPicPr>
          <p:cNvPr id="483349" name="Picture 21" descr="2144A1017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 t="16982" r="10196" b="12871"/>
          <a:stretch>
            <a:fillRect/>
          </a:stretch>
        </p:blipFill>
        <p:spPr>
          <a:xfrm>
            <a:off x="0" y="2388358"/>
            <a:ext cx="9031712" cy="3439236"/>
          </a:xfrm>
          <a:noFill/>
          <a:ln/>
        </p:spPr>
      </p:pic>
      <p:sp>
        <p:nvSpPr>
          <p:cNvPr id="483341" name="Line-13"/>
          <p:cNvSpPr>
            <a:spLocks noChangeShapeType="1"/>
          </p:cNvSpPr>
          <p:nvPr/>
        </p:nvSpPr>
        <p:spPr bwMode="auto">
          <a:xfrm flipH="1" flipV="1">
            <a:off x="6810639" y="1337794"/>
            <a:ext cx="11112" cy="155733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none" w="lg" len="lg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483342" name="Line-14"/>
          <p:cNvSpPr>
            <a:spLocks noChangeShapeType="1"/>
          </p:cNvSpPr>
          <p:nvPr/>
        </p:nvSpPr>
        <p:spPr bwMode="auto">
          <a:xfrm flipH="1" flipV="1">
            <a:off x="7971103" y="4209865"/>
            <a:ext cx="11113" cy="1544638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none" w="lg" len="lg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483343" name="Line-15"/>
          <p:cNvSpPr>
            <a:spLocks noChangeShapeType="1"/>
          </p:cNvSpPr>
          <p:nvPr/>
        </p:nvSpPr>
        <p:spPr bwMode="auto">
          <a:xfrm flipH="1" flipV="1">
            <a:off x="4525913" y="1425080"/>
            <a:ext cx="12700" cy="17018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none" w="lg" len="lg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483335" name="AutoShape-7"/>
          <p:cNvSpPr>
            <a:spLocks noChangeArrowheads="1"/>
          </p:cNvSpPr>
          <p:nvPr/>
        </p:nvSpPr>
        <p:spPr bwMode="auto">
          <a:xfrm>
            <a:off x="5914481" y="1290686"/>
            <a:ext cx="1838325" cy="73183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algn="ctr">
              <a:lnSpc>
                <a:spcPct val="85000"/>
              </a:lnSpc>
            </a:pPr>
            <a:r>
              <a:rPr lang="fr-FR" altLang="zh-CN" sz="1800">
                <a:ea typeface="SimSun" pitchFamily="2" charset="-122"/>
                <a:cs typeface="Times New Roman" charset="0"/>
              </a:rPr>
              <a:t>Paramètre du modèle</a:t>
            </a:r>
            <a:r>
              <a:rPr lang="en-IE" altLang="zh-CN" sz="1800">
                <a:ea typeface="SimSun" pitchFamily="2" charset="-122"/>
                <a:cs typeface="Times New Roman" charset="0"/>
              </a:rPr>
              <a:t> </a:t>
            </a:r>
            <a:endParaRPr lang="en-US" sz="1800">
              <a:ea typeface="SimSun" pitchFamily="2" charset="-122"/>
              <a:cs typeface="Times New Roman" charset="0"/>
            </a:endParaRPr>
          </a:p>
        </p:txBody>
      </p:sp>
      <p:sp>
        <p:nvSpPr>
          <p:cNvPr id="483336" name="AutoShape-8"/>
          <p:cNvSpPr>
            <a:spLocks noChangeArrowheads="1"/>
          </p:cNvSpPr>
          <p:nvPr/>
        </p:nvSpPr>
        <p:spPr bwMode="auto">
          <a:xfrm>
            <a:off x="7076199" y="5207593"/>
            <a:ext cx="1555750" cy="73183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algn="ctr">
              <a:lnSpc>
                <a:spcPct val="85000"/>
              </a:lnSpc>
            </a:pPr>
            <a:r>
              <a:rPr lang="fr-FR" altLang="zh-CN" sz="1800" dirty="0">
                <a:ea typeface="SimSun" pitchFamily="2" charset="-122"/>
                <a:cs typeface="Times New Roman" charset="0"/>
              </a:rPr>
              <a:t>Paramètre effectif</a:t>
            </a:r>
            <a:r>
              <a:rPr lang="en-IE" altLang="zh-CN" sz="1800" dirty="0">
                <a:ea typeface="SimSun" pitchFamily="2" charset="-122"/>
                <a:cs typeface="Times New Roman" charset="0"/>
              </a:rPr>
              <a:t> </a:t>
            </a:r>
            <a:endParaRPr lang="en-US" sz="1800" dirty="0">
              <a:ea typeface="SimSun" pitchFamily="2" charset="-122"/>
              <a:cs typeface="Times New Roman" charset="0"/>
            </a:endParaRP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3314160" y="1263390"/>
            <a:ext cx="2446337" cy="731837"/>
            <a:chOff x="1099" y="899"/>
            <a:chExt cx="1541" cy="461"/>
          </a:xfrm>
        </p:grpSpPr>
        <p:sp>
          <p:nvSpPr>
            <p:cNvPr id="483333" name="AutoShape-5"/>
            <p:cNvSpPr>
              <a:spLocks noChangeArrowheads="1"/>
            </p:cNvSpPr>
            <p:nvPr/>
          </p:nvSpPr>
          <p:spPr bwMode="auto">
            <a:xfrm>
              <a:off x="1099" y="899"/>
              <a:ext cx="1541" cy="461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DACD0"/>
                </a:gs>
                <a:gs pos="100000">
                  <a:srgbClr val="DEE7F1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lIns="365760" anchor="ctr"/>
            <a:lstStyle/>
            <a:p>
              <a:pPr>
                <a:lnSpc>
                  <a:spcPct val="85000"/>
                </a:lnSpc>
              </a:pPr>
              <a:r>
                <a:rPr lang="fr-FR" altLang="zh-CN" sz="1800">
                  <a:ea typeface="SimSun" pitchFamily="2" charset="-122"/>
                  <a:cs typeface="Times New Roman" charset="0"/>
                </a:rPr>
                <a:t>Paramètre ne correspondant pas au modèle</a:t>
              </a:r>
              <a:r>
                <a:rPr lang="en-IE" altLang="zh-CN" sz="1700">
                  <a:ea typeface="SimSun" pitchFamily="2" charset="-122"/>
                  <a:cs typeface="Times New Roman" charset="0"/>
                </a:rPr>
                <a:t> </a:t>
              </a:r>
              <a:endParaRPr lang="en-US" sz="1700">
                <a:ea typeface="SimSun" pitchFamily="2" charset="-122"/>
                <a:cs typeface="Times New Roman" charset="0"/>
              </a:endParaRPr>
            </a:p>
          </p:txBody>
        </p:sp>
        <p:pic>
          <p:nvPicPr>
            <p:cNvPr id="483334" name="Picture-6" descr="sec_redX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137" y="984"/>
              <a:ext cx="198" cy="195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Rectangle-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altLang="zh-CN" b="1" dirty="0" smtClean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3. Configuration </a:t>
            </a:r>
            <a:r>
              <a:rPr lang="fr-FR" altLang="zh-CN" b="1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de l'audit</a:t>
            </a:r>
            <a:r>
              <a:rPr lang="en-IE" altLang="zh-CN" b="1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490499" name="Rectangle-3"/>
          <p:cNvSpPr>
            <a:spLocks noGrp="1" noChangeArrowheads="1"/>
          </p:cNvSpPr>
          <p:nvPr>
            <p:ph sz="quarter" idx="1"/>
          </p:nvPr>
        </p:nvSpPr>
        <p:spPr>
          <a:xfrm>
            <a:off x="424585" y="2086607"/>
            <a:ext cx="6617662" cy="2021370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sz="3000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Description de l'audit</a:t>
            </a:r>
            <a:r>
              <a:rPr lang="en-IE" altLang="zh-CN" sz="3000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3000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sz="3000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Description d'une stratégie d'audit</a:t>
            </a:r>
            <a:r>
              <a:rPr lang="en-IE" altLang="zh-CN" sz="3000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3000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sz="3000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Types d'événements à auditer</a:t>
            </a:r>
            <a:r>
              <a:rPr lang="en-IE" altLang="zh-CN" sz="3000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sz="3000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-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Description de l'audit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465923" name="Rectangle-3"/>
          <p:cNvSpPr>
            <a:spLocks noGrp="1" noChangeArrowheads="1"/>
          </p:cNvSpPr>
          <p:nvPr>
            <p:ph sz="quarter" idx="1"/>
          </p:nvPr>
        </p:nvSpPr>
        <p:spPr>
          <a:xfrm>
            <a:off x="232012" y="1447799"/>
            <a:ext cx="8679975" cy="514406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altLang="zh-CN" sz="2400" b="1" dirty="0">
                <a:solidFill>
                  <a:srgbClr val="000000"/>
                </a:solidFill>
                <a:latin typeface="Arial Narrow" charset="0"/>
                <a:ea typeface="SimSun" pitchFamily="2" charset="-122"/>
                <a:cs typeface="Times New Roman" charset="0"/>
              </a:rPr>
              <a:t>L'audit suit les activités des utilisateurs et du système d'exploitation et consigne les événements sélectionnés dans des fichiers journaux de sécurité</a:t>
            </a:r>
            <a:r>
              <a:rPr lang="en-IE" altLang="zh-CN" sz="2400" b="1" dirty="0">
                <a:solidFill>
                  <a:srgbClr val="000000"/>
                </a:solidFill>
                <a:latin typeface="Arial Narrow" charset="0"/>
                <a:ea typeface="SimSun" pitchFamily="2" charset="-122"/>
                <a:cs typeface="Times New Roman" charset="0"/>
              </a:rPr>
              <a:t> </a:t>
            </a:r>
            <a:endParaRPr lang="en-US" altLang="zh-CN" sz="2400" b="1" dirty="0">
              <a:solidFill>
                <a:srgbClr val="000000"/>
              </a:solidFill>
              <a:latin typeface="Arial Narrow" charset="0"/>
              <a:ea typeface="SimSun" pitchFamily="2" charset="-122"/>
              <a:cs typeface="Times New Roman" charset="0"/>
            </a:endParaRPr>
          </a:p>
        </p:txBody>
      </p:sp>
      <p:sp>
        <p:nvSpPr>
          <p:cNvPr id="465927" name="Rectangle-7"/>
          <p:cNvSpPr>
            <a:spLocks noChangeArrowheads="1"/>
          </p:cNvSpPr>
          <p:nvPr/>
        </p:nvSpPr>
        <p:spPr bwMode="auto">
          <a:xfrm>
            <a:off x="327547" y="3731813"/>
            <a:ext cx="8516202" cy="1945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28600" indent="-228600">
              <a:lnSpc>
                <a:spcPct val="90000"/>
              </a:lnSpc>
              <a:spcBef>
                <a:spcPct val="40000"/>
              </a:spcBef>
              <a:buBlip>
                <a:blip r:embed="rId3"/>
              </a:buBlip>
            </a:pPr>
            <a:r>
              <a:rPr lang="fr-FR" altLang="zh-CN" sz="2400" dirty="0">
                <a:ea typeface="SimSun" pitchFamily="2" charset="-122"/>
                <a:cs typeface="Times New Roman" charset="0"/>
              </a:rPr>
              <a:t>Activez l'audit pour :</a:t>
            </a:r>
            <a:r>
              <a:rPr lang="en-IE" altLang="zh-CN" sz="2400" dirty="0">
                <a:ea typeface="SimSun" pitchFamily="2" charset="-122"/>
                <a:cs typeface="Times New Roman" charset="0"/>
              </a:rPr>
              <a:t> </a:t>
            </a:r>
            <a:endParaRPr lang="en-US" sz="2400" dirty="0">
              <a:solidFill>
                <a:schemeClr val="tx1"/>
              </a:solidFill>
              <a:ea typeface="SimSun" pitchFamily="2" charset="-122"/>
              <a:cs typeface="Times New Roman" charset="0"/>
            </a:endParaRPr>
          </a:p>
          <a:p>
            <a:pPr marL="631825" lvl="1" indent="-174625">
              <a:lnSpc>
                <a:spcPct val="100000"/>
              </a:lnSpc>
              <a:spcBef>
                <a:spcPts val="0"/>
              </a:spcBef>
              <a:buSzTx/>
              <a:buFont typeface="Wingdings" pitchFamily="2" charset="2"/>
              <a:buChar char="Ø"/>
            </a:pPr>
            <a:r>
              <a:rPr lang="fr-FR" altLang="zh-CN" sz="2400" b="0" dirty="0" smtClean="0">
                <a:ea typeface="SimSun" pitchFamily="2" charset="-122"/>
                <a:cs typeface="Times New Roman" charset="0"/>
              </a:rPr>
              <a:t>Créer </a:t>
            </a:r>
            <a:r>
              <a:rPr lang="fr-FR" altLang="zh-CN" sz="2400" b="0" dirty="0">
                <a:ea typeface="SimSun" pitchFamily="2" charset="-122"/>
                <a:cs typeface="Times New Roman" charset="0"/>
              </a:rPr>
              <a:t>une référence </a:t>
            </a:r>
            <a:endParaRPr lang="en-US" sz="2400" b="0" dirty="0">
              <a:solidFill>
                <a:schemeClr val="tx1"/>
              </a:solidFill>
            </a:endParaRPr>
          </a:p>
          <a:p>
            <a:pPr marL="631825" lvl="1" indent="-174625">
              <a:lnSpc>
                <a:spcPct val="100000"/>
              </a:lnSpc>
              <a:spcBef>
                <a:spcPts val="0"/>
              </a:spcBef>
              <a:buSzTx/>
              <a:buFont typeface="Wingdings" pitchFamily="2" charset="2"/>
              <a:buChar char="Ø"/>
            </a:pPr>
            <a:r>
              <a:rPr lang="fr-FR" altLang="zh-CN" sz="2400" b="0" dirty="0" smtClean="0">
                <a:ea typeface="SimSun" pitchFamily="2" charset="-122"/>
              </a:rPr>
              <a:t>Détecter </a:t>
            </a:r>
            <a:r>
              <a:rPr lang="fr-FR" altLang="zh-CN" sz="2400" b="0" dirty="0">
                <a:ea typeface="SimSun" pitchFamily="2" charset="-122"/>
              </a:rPr>
              <a:t>les </a:t>
            </a:r>
            <a:r>
              <a:rPr lang="fr-FR" altLang="zh-CN" sz="2400" b="0" dirty="0" smtClean="0">
                <a:ea typeface="SimSun" pitchFamily="2" charset="-122"/>
              </a:rPr>
              <a:t>attaques et </a:t>
            </a:r>
            <a:r>
              <a:rPr lang="fr-FR" altLang="zh-CN" sz="2400" b="0" dirty="0">
                <a:ea typeface="SimSun" pitchFamily="2" charset="-122"/>
              </a:rPr>
              <a:t>les </a:t>
            </a:r>
            <a:r>
              <a:rPr lang="fr-FR" altLang="zh-CN" sz="2400" b="0" dirty="0" smtClean="0">
                <a:ea typeface="SimSun" pitchFamily="2" charset="-122"/>
              </a:rPr>
              <a:t>menaces</a:t>
            </a:r>
          </a:p>
          <a:p>
            <a:pPr marL="631825" lvl="1" indent="-174625">
              <a:lnSpc>
                <a:spcPct val="100000"/>
              </a:lnSpc>
              <a:spcBef>
                <a:spcPts val="0"/>
              </a:spcBef>
              <a:buSzTx/>
              <a:buFont typeface="Wingdings" pitchFamily="2" charset="2"/>
              <a:buChar char="Ø"/>
            </a:pPr>
            <a:r>
              <a:rPr lang="fr-FR" altLang="zh-CN" sz="2400" b="0" dirty="0" smtClean="0">
                <a:ea typeface="SimSun" pitchFamily="2" charset="-122"/>
                <a:cs typeface="Times New Roman" charset="0"/>
              </a:rPr>
              <a:t>Déterminer les dégâts</a:t>
            </a:r>
          </a:p>
          <a:p>
            <a:pPr marL="631825" lvl="1" indent="-174625">
              <a:lnSpc>
                <a:spcPct val="100000"/>
              </a:lnSpc>
              <a:spcBef>
                <a:spcPts val="0"/>
              </a:spcBef>
              <a:buSzTx/>
              <a:buFont typeface="Wingdings" pitchFamily="2" charset="2"/>
              <a:buChar char="Ø"/>
            </a:pPr>
            <a:r>
              <a:rPr lang="fr-FR" altLang="zh-CN" sz="2400" b="0" dirty="0" smtClean="0">
                <a:ea typeface="SimSun" pitchFamily="2" charset="-122"/>
                <a:cs typeface="Times New Roman" charset="0"/>
              </a:rPr>
              <a:t>Eviter des dégâts supplémentaires</a:t>
            </a:r>
            <a:endParaRPr lang="en-US" sz="2400" b="0" dirty="0"/>
          </a:p>
        </p:txBody>
      </p:sp>
      <p:sp>
        <p:nvSpPr>
          <p:cNvPr id="465928" name="Rectangle-8"/>
          <p:cNvSpPr>
            <a:spLocks noChangeArrowheads="1"/>
          </p:cNvSpPr>
          <p:nvPr/>
        </p:nvSpPr>
        <p:spPr bwMode="auto">
          <a:xfrm>
            <a:off x="4618038" y="3957638"/>
            <a:ext cx="3579812" cy="1420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631825" lvl="1" indent="-174625">
              <a:lnSpc>
                <a:spcPct val="100000"/>
              </a:lnSpc>
              <a:spcBef>
                <a:spcPct val="40000"/>
              </a:spcBef>
              <a:buSzTx/>
              <a:buFont typeface="Wingdings" charset="2"/>
              <a:buChar char=""/>
            </a:pPr>
            <a:endParaRPr lang="en-US" sz="2400" b="0" dirty="0">
              <a:ea typeface="SimSun" pitchFamily="2" charset="-122"/>
              <a:cs typeface="Times New Roman" charset="0"/>
            </a:endParaRPr>
          </a:p>
        </p:txBody>
      </p:sp>
      <p:sp>
        <p:nvSpPr>
          <p:cNvPr id="465929" name="Rectangle-9"/>
          <p:cNvSpPr>
            <a:spLocks noChangeArrowheads="1"/>
          </p:cNvSpPr>
          <p:nvPr/>
        </p:nvSpPr>
        <p:spPr bwMode="auto">
          <a:xfrm>
            <a:off x="245661" y="5731997"/>
            <a:ext cx="8598088" cy="832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28600" indent="-228600">
              <a:lnSpc>
                <a:spcPct val="90000"/>
              </a:lnSpc>
              <a:spcBef>
                <a:spcPct val="40000"/>
              </a:spcBef>
              <a:buBlip>
                <a:blip r:embed="rId3"/>
              </a:buBlip>
            </a:pPr>
            <a:r>
              <a:rPr lang="fr-FR" altLang="zh-CN" sz="2400" dirty="0">
                <a:ea typeface="SimSun" pitchFamily="2" charset="-122"/>
                <a:cs typeface="Times New Roman" charset="0"/>
              </a:rPr>
              <a:t>Réalisez l'audit des accès aux objets, de l'administration des comptes et des ouvertures et fermetures de session des utilisateurs</a:t>
            </a:r>
            <a:endParaRPr lang="en-US" sz="2400" dirty="0">
              <a:ea typeface="SimSun" pitchFamily="2" charset="-122"/>
              <a:cs typeface="Times New Roman" charset="0"/>
            </a:endParaRPr>
          </a:p>
        </p:txBody>
      </p:sp>
      <p:grpSp>
        <p:nvGrpSpPr>
          <p:cNvPr id="465942" name="Group-22"/>
          <p:cNvGrpSpPr>
            <a:grpSpLocks/>
          </p:cNvGrpSpPr>
          <p:nvPr/>
        </p:nvGrpSpPr>
        <p:grpSpPr bwMode="auto">
          <a:xfrm>
            <a:off x="273055" y="2707282"/>
            <a:ext cx="8597879" cy="903288"/>
            <a:chOff x="89" y="1436"/>
            <a:chExt cx="5416" cy="569"/>
          </a:xfrm>
        </p:grpSpPr>
        <p:sp>
          <p:nvSpPr>
            <p:cNvPr id="465937" name="AutoShape-17"/>
            <p:cNvSpPr>
              <a:spLocks noChangeArrowheads="1"/>
            </p:cNvSpPr>
            <p:nvPr/>
          </p:nvSpPr>
          <p:spPr bwMode="auto">
            <a:xfrm>
              <a:off x="89" y="1436"/>
              <a:ext cx="1684" cy="240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ADE2A1"/>
                </a:gs>
                <a:gs pos="100000">
                  <a:srgbClr val="E8F6E4"/>
                </a:gs>
              </a:gsLst>
              <a:lin ang="2700000" scaled="1"/>
            </a:gra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 algn="ctr">
                <a:lnSpc>
                  <a:spcPct val="85000"/>
                </a:lnSpc>
                <a:buClrTx/>
                <a:buSzTx/>
                <a:buFontTx/>
                <a:buNone/>
              </a:pPr>
              <a:r>
                <a:rPr lang="fr-FR" altLang="zh-CN" sz="2200">
                  <a:ea typeface="SimSun" pitchFamily="2" charset="-122"/>
                  <a:cs typeface="Times New Roman" charset="0"/>
                </a:rPr>
                <a:t>Que s'est-il passé ?</a:t>
              </a:r>
              <a:r>
                <a:rPr lang="en-IE" altLang="zh-CN" sz="2200">
                  <a:ea typeface="SimSun" pitchFamily="2" charset="-122"/>
                  <a:cs typeface="Times New Roman" charset="0"/>
                </a:rPr>
                <a:t> </a:t>
              </a:r>
              <a:endParaRPr lang="en-US" sz="2200">
                <a:ea typeface="SimSun" pitchFamily="2" charset="-122"/>
                <a:cs typeface="Times New Roman" charset="0"/>
              </a:endParaRPr>
            </a:p>
          </p:txBody>
        </p:sp>
        <p:sp>
          <p:nvSpPr>
            <p:cNvPr id="465939" name="AutoShape-19"/>
            <p:cNvSpPr>
              <a:spLocks noChangeArrowheads="1"/>
            </p:cNvSpPr>
            <p:nvPr/>
          </p:nvSpPr>
          <p:spPr bwMode="auto">
            <a:xfrm>
              <a:off x="3839" y="1436"/>
              <a:ext cx="1666" cy="240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ADE2A1"/>
                </a:gs>
                <a:gs pos="100000">
                  <a:srgbClr val="E8F6E4"/>
                </a:gs>
              </a:gsLst>
              <a:lin ang="2700000" scaled="1"/>
            </a:gra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 algn="ctr">
                <a:lnSpc>
                  <a:spcPct val="85000"/>
                </a:lnSpc>
                <a:buClrTx/>
                <a:buSzTx/>
                <a:buFontTx/>
                <a:buNone/>
              </a:pPr>
              <a:r>
                <a:rPr lang="fr-FR" altLang="zh-CN" sz="2200">
                  <a:ea typeface="SimSun" pitchFamily="2" charset="-122"/>
                  <a:cs typeface="Times New Roman" charset="0"/>
                </a:rPr>
                <a:t>Quand ?</a:t>
              </a:r>
              <a:r>
                <a:rPr lang="en-IE" altLang="zh-CN" sz="2200">
                  <a:ea typeface="SimSun" pitchFamily="2" charset="-122"/>
                  <a:cs typeface="Times New Roman" charset="0"/>
                </a:rPr>
                <a:t> </a:t>
              </a:r>
              <a:endParaRPr lang="en-US" sz="2200">
                <a:ea typeface="SimSun" pitchFamily="2" charset="-122"/>
                <a:cs typeface="Times New Roman" charset="0"/>
              </a:endParaRPr>
            </a:p>
          </p:txBody>
        </p:sp>
        <p:sp>
          <p:nvSpPr>
            <p:cNvPr id="465938" name="AutoShape-18"/>
            <p:cNvSpPr>
              <a:spLocks noChangeArrowheads="1"/>
            </p:cNvSpPr>
            <p:nvPr/>
          </p:nvSpPr>
          <p:spPr bwMode="auto">
            <a:xfrm>
              <a:off x="2088" y="1436"/>
              <a:ext cx="1534" cy="240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ADE2A1"/>
                </a:gs>
                <a:gs pos="100000">
                  <a:srgbClr val="E8F6E4"/>
                </a:gs>
              </a:gsLst>
              <a:lin ang="2700000" scaled="1"/>
            </a:gra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 algn="ctr">
                <a:lnSpc>
                  <a:spcPct val="85000"/>
                </a:lnSpc>
                <a:buClrTx/>
                <a:buSzTx/>
                <a:buFontTx/>
                <a:buNone/>
              </a:pPr>
              <a:r>
                <a:rPr lang="fr-FR" altLang="zh-CN" sz="2200">
                  <a:ea typeface="SimSun" pitchFamily="2" charset="-122"/>
                  <a:cs typeface="Times New Roman" charset="0"/>
                </a:rPr>
                <a:t>Qui l'a fait ?</a:t>
              </a:r>
              <a:r>
                <a:rPr lang="en-IE" altLang="zh-CN" sz="2200">
                  <a:ea typeface="SimSun" pitchFamily="2" charset="-122"/>
                  <a:cs typeface="Times New Roman" charset="0"/>
                </a:rPr>
                <a:t> </a:t>
              </a:r>
              <a:endParaRPr lang="en-US" sz="2200">
                <a:ea typeface="SimSun" pitchFamily="2" charset="-122"/>
                <a:cs typeface="Times New Roman" charset="0"/>
              </a:endParaRPr>
            </a:p>
          </p:txBody>
        </p:sp>
        <p:sp>
          <p:nvSpPr>
            <p:cNvPr id="465940" name="AutoShape-20"/>
            <p:cNvSpPr>
              <a:spLocks noChangeArrowheads="1"/>
            </p:cNvSpPr>
            <p:nvPr/>
          </p:nvSpPr>
          <p:spPr bwMode="auto">
            <a:xfrm>
              <a:off x="1841" y="1765"/>
              <a:ext cx="2203" cy="240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ADE2A1"/>
                </a:gs>
                <a:gs pos="100000">
                  <a:srgbClr val="E8F6E4"/>
                </a:gs>
              </a:gsLst>
              <a:lin ang="2700000" scaled="1"/>
            </a:gra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 algn="ctr">
                <a:lnSpc>
                  <a:spcPct val="85000"/>
                </a:lnSpc>
                <a:buClrTx/>
                <a:buSzTx/>
                <a:buFontTx/>
                <a:buNone/>
              </a:pPr>
              <a:r>
                <a:rPr lang="fr-FR" altLang="zh-CN" sz="2200">
                  <a:ea typeface="SimSun" pitchFamily="2" charset="-122"/>
                  <a:cs typeface="Times New Roman" charset="0"/>
                </a:rPr>
                <a:t>Quel est le résultat ?</a:t>
              </a:r>
              <a:r>
                <a:rPr lang="en-IE" altLang="zh-CN" sz="2200">
                  <a:ea typeface="SimSun" pitchFamily="2" charset="-122"/>
                  <a:cs typeface="Times New Roman" charset="0"/>
                </a:rPr>
                <a:t> </a:t>
              </a:r>
              <a:endParaRPr lang="en-US" sz="2200">
                <a:ea typeface="SimSun" pitchFamily="2" charset="-122"/>
                <a:cs typeface="Times New Roman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65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65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65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5927" grpId="0"/>
      <p:bldP spid="46592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8" name="Rectangle-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Description d'une stratégie d'audit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505859" name="Rectangle-3"/>
          <p:cNvSpPr>
            <a:spLocks noGrp="1" noChangeArrowheads="1"/>
          </p:cNvSpPr>
          <p:nvPr>
            <p:ph sz="quarter" idx="1"/>
          </p:nvPr>
        </p:nvSpPr>
        <p:spPr>
          <a:xfrm>
            <a:off x="204717" y="1527048"/>
            <a:ext cx="8761862" cy="4572000"/>
          </a:xfrm>
        </p:spPr>
        <p:txBody>
          <a:bodyPr>
            <a:normAutofit lnSpcReduction="10000"/>
          </a:bodyPr>
          <a:lstStyle/>
          <a:p>
            <a:pPr>
              <a:spcBef>
                <a:spcPct val="50000"/>
              </a:spcBef>
              <a:spcAft>
                <a:spcPct val="10000"/>
              </a:spcAft>
              <a:buBlip>
                <a:blip r:embed="rId3"/>
              </a:buBlip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Une stratégie d'audit détermine les événements </a:t>
            </a:r>
            <a:b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</a:b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de sécurité qui seront signalés à l'administrateur réseau</a:t>
            </a:r>
            <a:r>
              <a:rPr lang="en-US" dirty="0">
                <a:ea typeface="SimSun" pitchFamily="2" charset="-122"/>
                <a:cs typeface="Times New Roman" charset="0"/>
              </a:rPr>
              <a:t> </a:t>
            </a:r>
          </a:p>
          <a:p>
            <a:pPr>
              <a:spcBef>
                <a:spcPct val="50000"/>
              </a:spcBef>
              <a:spcAft>
                <a:spcPct val="10000"/>
              </a:spcAft>
              <a:buBlip>
                <a:blip r:embed="rId3"/>
              </a:buBlip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Configurez une stratégie d'audit pour :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altLang="zh-CN" dirty="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  <a:p>
            <a:pPr lvl="1">
              <a:spcBef>
                <a:spcPct val="50000"/>
              </a:spcBef>
              <a:spcAft>
                <a:spcPct val="10000"/>
              </a:spcAft>
            </a:pPr>
            <a:r>
              <a:rPr lang="fr-FR" altLang="zh-CN" dirty="0" smtClean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Suivre </a:t>
            </a: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la réussite ou l'échec des événements 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dirty="0">
              <a:ea typeface="SimSun" pitchFamily="2" charset="-122"/>
              <a:cs typeface="Times New Roman" charset="0"/>
            </a:endParaRPr>
          </a:p>
          <a:p>
            <a:pPr lvl="1">
              <a:spcBef>
                <a:spcPct val="50000"/>
              </a:spcBef>
              <a:spcAft>
                <a:spcPct val="10000"/>
              </a:spcAft>
            </a:pPr>
            <a:r>
              <a:rPr lang="fr-FR" altLang="zh-CN" dirty="0" smtClean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Réduire </a:t>
            </a: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l'accès non autorisé aux ressources </a:t>
            </a:r>
            <a:endParaRPr lang="en-US" dirty="0">
              <a:ea typeface="SimSun" pitchFamily="2" charset="-122"/>
              <a:cs typeface="Times New Roman" charset="0"/>
            </a:endParaRPr>
          </a:p>
          <a:p>
            <a:pPr lvl="1">
              <a:spcBef>
                <a:spcPct val="50000"/>
              </a:spcBef>
              <a:spcAft>
                <a:spcPct val="10000"/>
              </a:spcAft>
            </a:pPr>
            <a:r>
              <a:rPr lang="fr-FR" altLang="zh-CN" dirty="0" smtClean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Conserver </a:t>
            </a: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un historique de l'activité</a:t>
            </a:r>
            <a:endParaRPr lang="en-US" dirty="0">
              <a:ea typeface="SimSun" pitchFamily="2" charset="-122"/>
              <a:cs typeface="Times New Roman" charset="0"/>
            </a:endParaRPr>
          </a:p>
          <a:p>
            <a:pPr>
              <a:spcBef>
                <a:spcPct val="50000"/>
              </a:spcBef>
              <a:spcAft>
                <a:spcPct val="10000"/>
              </a:spcAft>
              <a:buBlip>
                <a:blip r:embed="rId3"/>
              </a:buBlip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Les événements de sécurité sont stockés dans des fichiers journaux de sécurité</a:t>
            </a:r>
            <a:endParaRPr lang="en-US" altLang="zh-CN" dirty="0">
              <a:solidFill>
                <a:srgbClr val="000000"/>
              </a:solidFill>
              <a:ea typeface="SimSun" pitchFamily="2" charset="-122"/>
              <a:cs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05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505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505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505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505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-2"/>
          <p:cNvSpPr>
            <a:spLocks noGrp="1" noChangeArrowheads="1"/>
          </p:cNvSpPr>
          <p:nvPr>
            <p:ph type="title"/>
          </p:nvPr>
        </p:nvSpPr>
        <p:spPr>
          <a:xfrm>
            <a:off x="196755" y="296153"/>
            <a:ext cx="8783471" cy="809316"/>
          </a:xfrm>
        </p:spPr>
        <p:txBody>
          <a:bodyPr/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Types d'événements à auditer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graphicFrame>
        <p:nvGraphicFramePr>
          <p:cNvPr id="4" name="Tableau 3"/>
          <p:cNvGraphicFramePr>
            <a:graphicFrameLocks noGrp="1"/>
          </p:cNvGraphicFramePr>
          <p:nvPr/>
        </p:nvGraphicFramePr>
        <p:xfrm>
          <a:off x="95536" y="1460309"/>
          <a:ext cx="8943832" cy="4844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293"/>
                <a:gridCol w="7069539"/>
              </a:tblGrid>
              <a:tr h="912124">
                <a:tc>
                  <a:txBody>
                    <a:bodyPr/>
                    <a:lstStyle/>
                    <a:p>
                      <a:pPr algn="ctr"/>
                      <a:r>
                        <a:rPr lang="fr-FR" altLang="zh-CN" sz="2200" b="1" dirty="0" smtClean="0">
                          <a:solidFill>
                            <a:srgbClr val="000000"/>
                          </a:solidFill>
                          <a:ea typeface="SimSun" pitchFamily="2" charset="-122"/>
                          <a:cs typeface="Times New Roman" charset="0"/>
                        </a:rPr>
                        <a:t>Connexion aux comptes</a:t>
                      </a:r>
                      <a:r>
                        <a:rPr lang="en-IE" altLang="zh-CN" sz="2200" b="1" dirty="0" smtClean="0">
                          <a:solidFill>
                            <a:srgbClr val="000000"/>
                          </a:solidFill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lang="fr-FR" sz="2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fr-FR" sz="22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 évènement est enregistré à chaque  authentification d’un compte sur la machine qui authentifie l’utilisateur.</a:t>
                      </a:r>
                      <a:endParaRPr lang="fr-FR" sz="2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114095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zh-CN" sz="2200" b="1" dirty="0" smtClean="0">
                          <a:solidFill>
                            <a:srgbClr val="000000"/>
                          </a:solidFill>
                          <a:ea typeface="SimSun" pitchFamily="2" charset="-122"/>
                          <a:cs typeface="Times New Roman" charset="0"/>
                        </a:rPr>
                        <a:t>Gestion des comptes</a:t>
                      </a:r>
                      <a:endParaRPr lang="fr-FR" sz="2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fr-FR" sz="2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chaque </a:t>
                      </a:r>
                      <a:r>
                        <a:rPr kumimoji="0" lang="fr-FR" sz="2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création, modification ou suppression d’un compte ou d’une propriété d’un utilisateur ou d’un groupe.</a:t>
                      </a:r>
                      <a:endParaRPr lang="fr-FR" sz="2200" b="1" dirty="0"/>
                    </a:p>
                  </a:txBody>
                  <a:tcPr/>
                </a:tc>
              </a:tr>
              <a:tr h="1303034">
                <a:tc>
                  <a:txBody>
                    <a:bodyPr/>
                    <a:lstStyle/>
                    <a:p>
                      <a:pPr algn="ctr"/>
                      <a:r>
                        <a:rPr lang="fr-FR" altLang="zh-CN" sz="2200" b="1" dirty="0" smtClean="0">
                          <a:solidFill>
                            <a:srgbClr val="000000"/>
                          </a:solidFill>
                          <a:ea typeface="SimSun" pitchFamily="2" charset="-122"/>
                          <a:cs typeface="Times New Roman" charset="0"/>
                        </a:rPr>
                        <a:t>Accès au service d'annuaire</a:t>
                      </a:r>
                      <a:r>
                        <a:rPr lang="en-IE" altLang="zh-CN" sz="2200" b="1" dirty="0" smtClean="0">
                          <a:solidFill>
                            <a:srgbClr val="000000"/>
                          </a:solidFill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lang="fr-FR" sz="2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fr-FR" sz="2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chaque </a:t>
                      </a:r>
                      <a:r>
                        <a:rPr kumimoji="0" lang="fr-FR" sz="2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accès à un objet Active Directory. </a:t>
                      </a:r>
                      <a:endParaRPr lang="fr-FR" sz="2200" b="1" dirty="0"/>
                    </a:p>
                  </a:txBody>
                  <a:tcPr/>
                </a:tc>
              </a:tr>
              <a:tr h="130303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zh-CN" sz="2200" b="1" dirty="0" smtClean="0">
                          <a:solidFill>
                            <a:srgbClr val="000000"/>
                          </a:solidFill>
                          <a:ea typeface="SimSun" pitchFamily="2" charset="-122"/>
                          <a:cs typeface="Times New Roman" charset="0"/>
                        </a:rPr>
                        <a:t>Ouverture de session</a:t>
                      </a:r>
                      <a:r>
                        <a:rPr lang="en-IE" altLang="zh-CN" sz="2200" b="1" dirty="0" smtClean="0">
                          <a:solidFill>
                            <a:srgbClr val="000000"/>
                          </a:solidFill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lang="fr-FR" sz="2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fr-FR" sz="2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</a:t>
                      </a:r>
                      <a:r>
                        <a:rPr kumimoji="0" lang="fr-FR" sz="2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chaque ouverture de session réseau ou local sur l’ordinateur qui accepte la connexion.</a:t>
                      </a:r>
                      <a:endParaRPr lang="fr-FR" sz="2200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-2"/>
          <p:cNvSpPr>
            <a:spLocks noGrp="1" noChangeArrowheads="1"/>
          </p:cNvSpPr>
          <p:nvPr>
            <p:ph type="title"/>
          </p:nvPr>
        </p:nvSpPr>
        <p:spPr>
          <a:xfrm>
            <a:off x="196755" y="296153"/>
            <a:ext cx="8783471" cy="809316"/>
          </a:xfrm>
        </p:spPr>
        <p:txBody>
          <a:bodyPr/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Types d'événements à auditer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graphicFrame>
        <p:nvGraphicFramePr>
          <p:cNvPr id="4" name="Tableau 3"/>
          <p:cNvGraphicFramePr>
            <a:graphicFrameLocks noGrp="1"/>
          </p:cNvGraphicFramePr>
          <p:nvPr/>
        </p:nvGraphicFramePr>
        <p:xfrm>
          <a:off x="131928" y="1437945"/>
          <a:ext cx="8943832" cy="4193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8191"/>
                <a:gridCol w="6755641"/>
              </a:tblGrid>
              <a:tr h="84123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zh-CN" sz="2200" b="1" dirty="0" smtClean="0">
                          <a:solidFill>
                            <a:srgbClr val="000000"/>
                          </a:solidFill>
                          <a:ea typeface="SimSun" pitchFamily="2" charset="-122"/>
                          <a:cs typeface="Times New Roman" charset="0"/>
                        </a:rPr>
                        <a:t>Accès aux objets</a:t>
                      </a:r>
                      <a:r>
                        <a:rPr lang="en-IE" altLang="zh-CN" sz="2200" b="1" dirty="0" smtClean="0">
                          <a:solidFill>
                            <a:srgbClr val="000000"/>
                          </a:solidFill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lang="fr-FR" sz="2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fr-FR" sz="2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chaque </a:t>
                      </a:r>
                      <a:r>
                        <a:rPr kumimoji="0" lang="fr-FR" sz="2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accès à un fichier, dossier NTFS ou imprimante. </a:t>
                      </a:r>
                      <a:endParaRPr lang="fr-FR" sz="2200" b="1" dirty="0"/>
                    </a:p>
                  </a:txBody>
                  <a:tcPr/>
                </a:tc>
              </a:tr>
              <a:tr h="837996">
                <a:tc>
                  <a:txBody>
                    <a:bodyPr/>
                    <a:lstStyle/>
                    <a:p>
                      <a:pPr algn="ctr"/>
                      <a:r>
                        <a:rPr lang="fr-FR" altLang="zh-CN" sz="2200" b="1" dirty="0" smtClean="0">
                          <a:solidFill>
                            <a:srgbClr val="000000"/>
                          </a:solidFill>
                          <a:ea typeface="SimSun" pitchFamily="2" charset="-122"/>
                          <a:cs typeface="Times New Roman" charset="0"/>
                        </a:rPr>
                        <a:t>Modification de stratégie</a:t>
                      </a:r>
                      <a:r>
                        <a:rPr lang="en-IE" altLang="zh-CN" sz="2200" b="1" dirty="0" smtClean="0">
                          <a:solidFill>
                            <a:srgbClr val="000000"/>
                          </a:solidFill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lang="fr-FR" sz="2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fr-FR" sz="2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chaque </a:t>
                      </a:r>
                      <a:r>
                        <a:rPr kumimoji="0" lang="fr-FR" sz="2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modification des options de stratégies  de sécurité.</a:t>
                      </a:r>
                      <a:endParaRPr lang="fr-FR" sz="2200" b="1" dirty="0"/>
                    </a:p>
                  </a:txBody>
                  <a:tcPr/>
                </a:tc>
              </a:tr>
              <a:tr h="83799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zh-CN" sz="2200" b="1" dirty="0" smtClean="0">
                          <a:solidFill>
                            <a:srgbClr val="000000"/>
                          </a:solidFill>
                          <a:ea typeface="SimSun" pitchFamily="2" charset="-122"/>
                          <a:cs typeface="Times New Roman" charset="0"/>
                        </a:rPr>
                        <a:t>Utilisation des privilèges</a:t>
                      </a:r>
                      <a:r>
                        <a:rPr lang="en-IE" altLang="zh-CN" sz="2200" b="1" dirty="0" smtClean="0">
                          <a:solidFill>
                            <a:srgbClr val="000000"/>
                          </a:solidFill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lang="fr-FR" sz="2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2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chaque </a:t>
                      </a:r>
                      <a:r>
                        <a:rPr kumimoji="0" lang="fr-FR" sz="2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utilisation d’un droit.</a:t>
                      </a:r>
                      <a:endParaRPr lang="fr-FR" sz="2200" b="1" dirty="0"/>
                    </a:p>
                  </a:txBody>
                  <a:tcPr/>
                </a:tc>
              </a:tr>
              <a:tr h="83799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zh-CN" sz="2200" b="1" dirty="0" smtClean="0">
                          <a:solidFill>
                            <a:srgbClr val="000000"/>
                          </a:solidFill>
                          <a:ea typeface="SimSun" pitchFamily="2" charset="-122"/>
                          <a:cs typeface="Times New Roman" charset="0"/>
                        </a:rPr>
                        <a:t>Suivi des processus</a:t>
                      </a:r>
                      <a:r>
                        <a:rPr lang="en-IE" altLang="zh-CN" sz="2200" b="1" dirty="0" smtClean="0">
                          <a:solidFill>
                            <a:srgbClr val="000000"/>
                          </a:solidFill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lang="fr-FR" sz="2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2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Lorsqu’une </a:t>
                      </a:r>
                      <a:r>
                        <a:rPr kumimoji="0" lang="fr-FR" sz="2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 exécute une action.</a:t>
                      </a:r>
                      <a:endParaRPr lang="fr-FR" sz="2200" b="1" dirty="0"/>
                    </a:p>
                  </a:txBody>
                  <a:tcPr/>
                </a:tc>
              </a:tr>
              <a:tr h="837996">
                <a:tc>
                  <a:txBody>
                    <a:bodyPr/>
                    <a:lstStyle/>
                    <a:p>
                      <a:pPr algn="ctr"/>
                      <a:r>
                        <a:rPr lang="fr-FR" altLang="zh-CN" sz="2200" b="1" dirty="0" smtClean="0">
                          <a:solidFill>
                            <a:srgbClr val="000000"/>
                          </a:solidFill>
                          <a:ea typeface="SimSun" pitchFamily="2" charset="-122"/>
                          <a:cs typeface="Times New Roman" charset="0"/>
                        </a:rPr>
                        <a:t>Système</a:t>
                      </a:r>
                      <a:r>
                        <a:rPr lang="en-IE" altLang="zh-CN" sz="2200" b="1" dirty="0" smtClean="0">
                          <a:solidFill>
                            <a:srgbClr val="000000"/>
                          </a:solidFill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lang="fr-FR" sz="2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fr-FR" sz="2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Lorsqu’un </a:t>
                      </a:r>
                      <a:r>
                        <a:rPr kumimoji="0" lang="fr-FR" sz="2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utilisateur redémarre ou arrête Win Server 2003.</a:t>
                      </a:r>
                      <a:endParaRPr lang="fr-FR" sz="2200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-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b="1" dirty="0" smtClean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4. Gestion </a:t>
            </a:r>
            <a:r>
              <a:rPr lang="fr-FR" altLang="zh-CN" b="1" dirty="0">
                <a:solidFill>
                  <a:srgbClr val="000000"/>
                </a:solidFill>
                <a:ea typeface="SimSun" pitchFamily="2" charset="-122"/>
                <a:cs typeface="Times New Roman" charset="0"/>
              </a:rPr>
              <a:t>des journaux de sécurité</a:t>
            </a:r>
            <a:r>
              <a:rPr lang="en-IE" altLang="zh-CN" b="1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330755" name="Rectangle-3"/>
          <p:cNvSpPr>
            <a:spLocks noGrp="1" noChangeArrowheads="1"/>
          </p:cNvSpPr>
          <p:nvPr>
            <p:ph sz="quarter" idx="1"/>
          </p:nvPr>
        </p:nvSpPr>
        <p:spPr>
          <a:xfrm>
            <a:off x="300251" y="2248897"/>
            <a:ext cx="8311486" cy="1203988"/>
          </a:xfrm>
        </p:spPr>
        <p:txBody>
          <a:bodyPr/>
          <a:lstStyle/>
          <a:p>
            <a:pPr>
              <a:buClr>
                <a:srgbClr val="C00000"/>
              </a:buClr>
              <a:buFont typeface="Wingdings" pitchFamily="2" charset="2"/>
              <a:buChar char="v"/>
            </a:pPr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Description des fichiers journaux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  <a:p>
            <a:pPr>
              <a:buClr>
                <a:srgbClr val="C00000"/>
              </a:buClr>
              <a:buFont typeface="Wingdings" pitchFamily="2" charset="2"/>
              <a:buChar char="v"/>
            </a:pPr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Événements de sécurité courants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-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Description des fichiers journaux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sp>
        <p:nvSpPr>
          <p:cNvPr id="331826" name="Text-Box-50"/>
          <p:cNvSpPr txBox="1">
            <a:spLocks noChangeArrowheads="1"/>
          </p:cNvSpPr>
          <p:nvPr/>
        </p:nvSpPr>
        <p:spPr bwMode="auto">
          <a:xfrm>
            <a:off x="327546" y="1533525"/>
            <a:ext cx="8229600" cy="6647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marL="1588" indent="12700">
              <a:lnSpc>
                <a:spcPct val="90000"/>
              </a:lnSpc>
            </a:pPr>
            <a:r>
              <a:rPr lang="fr-FR" altLang="zh-CN" sz="2400" dirty="0">
                <a:ea typeface="SimSun" pitchFamily="2" charset="-122"/>
                <a:cs typeface="Times New Roman" charset="0"/>
              </a:rPr>
              <a:t>Les fichiers journaux suivants sont </a:t>
            </a:r>
            <a:r>
              <a:rPr lang="fr-FR" altLang="zh-CN" sz="2400" dirty="0" smtClean="0">
                <a:ea typeface="SimSun" pitchFamily="2" charset="-122"/>
                <a:cs typeface="Times New Roman" charset="0"/>
              </a:rPr>
              <a:t>disponibles dans </a:t>
            </a:r>
            <a:r>
              <a:rPr lang="fr-FR" altLang="zh-CN" sz="2400" dirty="0">
                <a:ea typeface="SimSun" pitchFamily="2" charset="-122"/>
                <a:cs typeface="Times New Roman" charset="0"/>
              </a:rPr>
              <a:t>l'Observateur d'événements :</a:t>
            </a:r>
            <a:r>
              <a:rPr lang="en-IE" altLang="zh-CN" sz="2400" dirty="0">
                <a:ea typeface="SimSun" pitchFamily="2" charset="-122"/>
                <a:cs typeface="Times New Roman" charset="0"/>
              </a:rPr>
              <a:t> </a:t>
            </a:r>
            <a:endParaRPr lang="en-US" sz="2400" dirty="0">
              <a:ea typeface="SimSun" pitchFamily="2" charset="-122"/>
              <a:cs typeface="Times New Roman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3773" y="2307751"/>
            <a:ext cx="8980227" cy="1540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5906" y="4634624"/>
            <a:ext cx="8978094" cy="117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Rectangle-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Événements de sécurité courants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Times New Roman" charset="0"/>
              </a:rPr>
              <a:t> </a:t>
            </a:r>
            <a:endParaRPr lang="en-US" b="1" dirty="0">
              <a:solidFill>
                <a:srgbClr val="C00000"/>
              </a:solidFill>
              <a:ea typeface="SimSun" pitchFamily="2" charset="-122"/>
              <a:cs typeface="Times New Roman" charset="0"/>
            </a:endParaRPr>
          </a:p>
        </p:txBody>
      </p:sp>
      <p:graphicFrame>
        <p:nvGraphicFramePr>
          <p:cNvPr id="493652" name="Group 84"/>
          <p:cNvGraphicFramePr>
            <a:graphicFrameLocks noGrp="1"/>
          </p:cNvGraphicFramePr>
          <p:nvPr/>
        </p:nvGraphicFramePr>
        <p:xfrm>
          <a:off x="191069" y="1377950"/>
          <a:ext cx="8761862" cy="1981772"/>
        </p:xfrm>
        <a:graphic>
          <a:graphicData uri="http://schemas.openxmlformats.org/drawingml/2006/table">
            <a:tbl>
              <a:tblPr/>
              <a:tblGrid>
                <a:gridCol w="2194460"/>
                <a:gridCol w="6567402"/>
              </a:tblGrid>
              <a:tr h="403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Ouverture </a:t>
                      </a:r>
                      <a:b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</a:b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de session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charset="0"/>
                        <a:ea typeface="SimSun" pitchFamily="2" charset="-122"/>
                        <a:cs typeface="Times New Roman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Description de l'événement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charset="0"/>
                        <a:ea typeface="SimSun" pitchFamily="2" charset="-122"/>
                        <a:cs typeface="Times New Roman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</a:tr>
              <a:tr h="4333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ID d'</a:t>
                      </a:r>
                      <a:r>
                        <a:rPr kumimoji="0" lang="fr-FR" altLang="zh-CN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évnmt</a:t>
                      </a: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 528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charset="0"/>
                        <a:ea typeface="SimSun" pitchFamily="2" charset="-122"/>
                        <a:cs typeface="Times New Roman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Ouverture de session réussie</a:t>
                      </a:r>
                      <a:r>
                        <a:rPr kumimoji="0" lang="en-IE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kumimoji="0" 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charset="0"/>
                        <a:ea typeface="SimSun" pitchFamily="2" charset="-122"/>
                        <a:cs typeface="Times New Roman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ID d'</a:t>
                      </a:r>
                      <a:r>
                        <a:rPr kumimoji="0" lang="fr-FR" altLang="zh-CN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évnmt</a:t>
                      </a: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 529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charset="0"/>
                        <a:ea typeface="SimSun" pitchFamily="2" charset="-122"/>
                        <a:cs typeface="Times New Roman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Tentative d'ouverture de session infructueuse</a:t>
                      </a:r>
                      <a:r>
                        <a:rPr kumimoji="0" lang="en-IE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kumimoji="0" 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charset="0"/>
                        <a:ea typeface="SimSun" pitchFamily="2" charset="-122"/>
                        <a:cs typeface="Times New Roman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ID d'</a:t>
                      </a:r>
                      <a:r>
                        <a:rPr kumimoji="0" lang="fr-FR" altLang="zh-CN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évnmt</a:t>
                      </a: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 539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charset="0"/>
                        <a:ea typeface="SimSun" pitchFamily="2" charset="-122"/>
                        <a:cs typeface="Times New Roman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Tentative d'ouverture de session sur un compte verrouillé</a:t>
                      </a:r>
                      <a:r>
                        <a:rPr kumimoji="0" lang="en-IE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kumimoji="0" 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charset="0"/>
                        <a:ea typeface="SimSun" pitchFamily="2" charset="-122"/>
                        <a:cs typeface="Times New Roman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3650" name="Group 82"/>
          <p:cNvGraphicFramePr>
            <a:graphicFrameLocks noGrp="1"/>
          </p:cNvGraphicFramePr>
          <p:nvPr/>
        </p:nvGraphicFramePr>
        <p:xfrm>
          <a:off x="204716" y="3313113"/>
          <a:ext cx="8761863" cy="1128332"/>
        </p:xfrm>
        <a:graphic>
          <a:graphicData uri="http://schemas.openxmlformats.org/drawingml/2006/table">
            <a:tbl>
              <a:tblPr/>
              <a:tblGrid>
                <a:gridCol w="2193129"/>
                <a:gridCol w="6568734"/>
              </a:tblGrid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Appartenance des fichiers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charset="0"/>
                        <a:ea typeface="SimSun" pitchFamily="2" charset="-122"/>
                        <a:cs typeface="Times New Roman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Description de l'événement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charset="0"/>
                        <a:ea typeface="SimSun" pitchFamily="2" charset="-122"/>
                        <a:cs typeface="Times New Roman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</a:tr>
              <a:tr h="4333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ID d'</a:t>
                      </a:r>
                      <a:r>
                        <a:rPr kumimoji="0" lang="fr-FR" altLang="zh-CN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évnmt</a:t>
                      </a: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 578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charset="0"/>
                        <a:ea typeface="SimSun" pitchFamily="2" charset="-122"/>
                        <a:cs typeface="Times New Roman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Changement d'appartenance d'un fichier</a:t>
                      </a:r>
                      <a:r>
                        <a:rPr kumimoji="0" lang="en-IE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kumimoji="0" 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charset="0"/>
                        <a:ea typeface="SimSun" pitchFamily="2" charset="-122"/>
                        <a:cs typeface="Times New Roman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3647" name="Group-79"/>
          <p:cNvGraphicFramePr>
            <a:graphicFrameLocks noGrp="1"/>
          </p:cNvGraphicFramePr>
          <p:nvPr/>
        </p:nvGraphicFramePr>
        <p:xfrm>
          <a:off x="204716" y="4438650"/>
          <a:ext cx="8775511" cy="826580"/>
        </p:xfrm>
        <a:graphic>
          <a:graphicData uri="http://schemas.openxmlformats.org/drawingml/2006/table">
            <a:tbl>
              <a:tblPr/>
              <a:tblGrid>
                <a:gridCol w="2195212"/>
                <a:gridCol w="6580299"/>
              </a:tblGrid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Journal sécurité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charset="0"/>
                        <a:ea typeface="SimSun" pitchFamily="2" charset="-122"/>
                        <a:cs typeface="Times New Roman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Description de l'événement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charset="0"/>
                        <a:ea typeface="SimSun" pitchFamily="2" charset="-122"/>
                        <a:cs typeface="Times New Roman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</a:tr>
              <a:tr h="4333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ID d'</a:t>
                      </a:r>
                      <a:r>
                        <a:rPr kumimoji="0" lang="fr-FR" altLang="zh-CN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évnmt</a:t>
                      </a: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 517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charset="0"/>
                        <a:ea typeface="SimSun" pitchFamily="2" charset="-122"/>
                        <a:cs typeface="Times New Roman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Fichier journal de sécurité effacé</a:t>
                      </a:r>
                      <a:r>
                        <a:rPr kumimoji="0" lang="en-IE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kumimoji="0" 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charset="0"/>
                        <a:ea typeface="SimSun" pitchFamily="2" charset="-122"/>
                        <a:cs typeface="Times New Roman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3648" name="Group-80"/>
          <p:cNvGraphicFramePr>
            <a:graphicFrameLocks noGrp="1"/>
          </p:cNvGraphicFramePr>
          <p:nvPr/>
        </p:nvGraphicFramePr>
        <p:xfrm>
          <a:off x="191069" y="5251450"/>
          <a:ext cx="8789158" cy="826580"/>
        </p:xfrm>
        <a:graphic>
          <a:graphicData uri="http://schemas.openxmlformats.org/drawingml/2006/table">
            <a:tbl>
              <a:tblPr/>
              <a:tblGrid>
                <a:gridCol w="2198625"/>
                <a:gridCol w="6590533"/>
              </a:tblGrid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Arrêter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charset="0"/>
                        <a:ea typeface="SimSun" pitchFamily="2" charset="-122"/>
                        <a:cs typeface="Times New Roman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Description de l'événement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charset="0"/>
                        <a:ea typeface="SimSun" pitchFamily="2" charset="-122"/>
                        <a:cs typeface="Times New Roman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</a:tr>
              <a:tr h="4333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ID d'</a:t>
                      </a:r>
                      <a:r>
                        <a:rPr kumimoji="0" lang="fr-FR" altLang="zh-CN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évnmt</a:t>
                      </a: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 513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charset="0"/>
                        <a:ea typeface="SimSun" pitchFamily="2" charset="-122"/>
                        <a:cs typeface="Times New Roman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Système éteint</a:t>
                      </a:r>
                      <a:r>
                        <a:rPr kumimoji="0" lang="en-IE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charset="0"/>
                          <a:ea typeface="SimSun" pitchFamily="2" charset="-122"/>
                          <a:cs typeface="Times New Roman" charset="0"/>
                        </a:rPr>
                        <a:t> </a:t>
                      </a:r>
                      <a:endParaRPr kumimoji="0" 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charset="0"/>
                        <a:ea typeface="SimSun" pitchFamily="2" charset="-122"/>
                        <a:cs typeface="Times New Roman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C00000"/>
                </a:solidFill>
              </a:rPr>
              <a:t>Exercices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996582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  <a:buFont typeface="Wingdings" pitchFamily="2" charset="2"/>
              <a:buChar char="q"/>
            </a:pPr>
            <a:r>
              <a:rPr lang="fr-FR" sz="2400" dirty="0" smtClean="0"/>
              <a:t>Pour un utilisateur donné, quelle  est la différence entre un droit et une autorisation ?</a:t>
            </a:r>
          </a:p>
          <a:p>
            <a:pPr>
              <a:buClr>
                <a:schemeClr val="tx2"/>
              </a:buClr>
              <a:buNone/>
            </a:pPr>
            <a:r>
              <a:rPr lang="fr-FR" sz="2400" dirty="0" smtClean="0"/>
              <a:t>Un droit est la possibilité d’agir sur la configuration du système, une autorisation est le type d'accès sur une ressource</a:t>
            </a:r>
          </a:p>
          <a:p>
            <a:pPr lvl="0">
              <a:buClr>
                <a:schemeClr val="tx1"/>
              </a:buClr>
              <a:buFont typeface="Wingdings" pitchFamily="2" charset="2"/>
              <a:buChar char="q"/>
            </a:pPr>
            <a:r>
              <a:rPr lang="fr-FR" sz="2400" dirty="0" smtClean="0"/>
              <a:t>C’est quoi une stratégie de sécurité ?</a:t>
            </a:r>
          </a:p>
          <a:p>
            <a:pPr>
              <a:buClr>
                <a:schemeClr val="tx1"/>
              </a:buClr>
              <a:buNone/>
            </a:pPr>
            <a:r>
              <a:rPr lang="fr-FR" sz="2400" dirty="0" smtClean="0"/>
              <a:t>C’est une combinaison de paramètres de sécurité affectant la sécurité d’un ordinateur</a:t>
            </a:r>
          </a:p>
          <a:p>
            <a:pPr lvl="0">
              <a:buClr>
                <a:schemeClr val="tx1"/>
              </a:buClr>
              <a:buFont typeface="Wingdings" pitchFamily="2" charset="2"/>
              <a:buChar char="q"/>
            </a:pPr>
            <a:r>
              <a:rPr lang="fr-FR" sz="2400" dirty="0" smtClean="0"/>
              <a:t>Donner quelques exemples de stratégies de sécurité </a:t>
            </a:r>
          </a:p>
          <a:p>
            <a:pPr lvl="0">
              <a:buClr>
                <a:schemeClr val="tx1"/>
              </a:buClr>
              <a:buNone/>
            </a:pPr>
            <a:r>
              <a:rPr lang="fr-FR" sz="2400" dirty="0" smtClean="0"/>
              <a:t>Stratégie de mot de passe, verrouillage de compte, ouverture de session locale, ….</a:t>
            </a:r>
          </a:p>
          <a:p>
            <a:pPr lvl="0">
              <a:buClr>
                <a:schemeClr val="tx1"/>
              </a:buClr>
              <a:buFont typeface="Wingdings" pitchFamily="2" charset="2"/>
              <a:buChar char="q"/>
            </a:pPr>
            <a:endParaRPr lang="fr-FR" sz="2400" dirty="0" smtClean="0"/>
          </a:p>
          <a:p>
            <a:pPr>
              <a:buClr>
                <a:schemeClr val="tx1"/>
              </a:buClr>
              <a:buFont typeface="Wingdings" pitchFamily="2" charset="2"/>
              <a:buChar char="q"/>
            </a:pPr>
            <a:endParaRPr lang="fr-FR" sz="2400" dirty="0" smtClean="0"/>
          </a:p>
          <a:p>
            <a:pPr lvl="0">
              <a:buClr>
                <a:schemeClr val="tx2"/>
              </a:buClr>
              <a:buFont typeface="Wingdings" pitchFamily="2" charset="2"/>
              <a:buChar char="q"/>
            </a:pPr>
            <a:endParaRPr lang="fr-FR" sz="2400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C00000"/>
                </a:solidFill>
              </a:rPr>
              <a:t>Exercices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lvl="0">
              <a:buClr>
                <a:schemeClr val="tx2"/>
              </a:buClr>
              <a:buFont typeface="Wingdings" pitchFamily="2" charset="2"/>
              <a:buChar char="q"/>
            </a:pPr>
            <a:r>
              <a:rPr lang="fr-FR" sz="2800" dirty="0" smtClean="0"/>
              <a:t>Que signifie l'audit?</a:t>
            </a:r>
          </a:p>
          <a:p>
            <a:pPr lvl="0">
              <a:buClr>
                <a:schemeClr val="tx2"/>
              </a:buClr>
              <a:buNone/>
            </a:pPr>
            <a:r>
              <a:rPr lang="fr-FR" sz="2800" dirty="0" smtClean="0"/>
              <a:t> </a:t>
            </a:r>
            <a:r>
              <a:rPr lang="fr-FR" altLang="zh-CN" sz="2800" dirty="0" smtClean="0"/>
              <a:t>L'audit suit les activités des utilisateurs et du système d'exploitation et consigne les événements sélectionnés dans des fichiers journaux de sécurité</a:t>
            </a:r>
            <a:endParaRPr lang="fr-FR" sz="2800" dirty="0" smtClean="0"/>
          </a:p>
          <a:p>
            <a:pPr lvl="0">
              <a:buClr>
                <a:schemeClr val="tx1"/>
              </a:buClr>
              <a:buFont typeface="Wingdings" pitchFamily="2" charset="2"/>
              <a:buChar char="q"/>
            </a:pPr>
            <a:r>
              <a:rPr lang="fr-FR" sz="2800" dirty="0" smtClean="0"/>
              <a:t> C'est quoi le stratégie d'audit</a:t>
            </a:r>
          </a:p>
          <a:p>
            <a:pPr lvl="0">
              <a:buClr>
                <a:schemeClr val="tx1"/>
              </a:buClr>
              <a:buNone/>
            </a:pPr>
            <a:r>
              <a:rPr lang="fr-FR" sz="2800" dirty="0" smtClean="0"/>
              <a:t>C'est </a:t>
            </a:r>
            <a:r>
              <a:rPr lang="fr-FR" sz="2800" dirty="0" smtClean="0"/>
              <a:t>le processus qui définit les événements qui seront enregistrés sur le journal de sécurité</a:t>
            </a:r>
          </a:p>
          <a:p>
            <a:pPr lvl="0">
              <a:buClr>
                <a:schemeClr val="tx1"/>
              </a:buClr>
              <a:buFont typeface="Wingdings" pitchFamily="2" charset="2"/>
              <a:buChar char="q"/>
            </a:pPr>
            <a:r>
              <a:rPr lang="fr-FR" sz="2800" dirty="0" smtClean="0"/>
              <a:t>Donner un exemple d’une stratégie d’audit ? </a:t>
            </a:r>
          </a:p>
          <a:p>
            <a:pPr lvl="0">
              <a:buClr>
                <a:schemeClr val="tx1"/>
              </a:buClr>
              <a:buNone/>
            </a:pPr>
            <a:r>
              <a:rPr lang="fr-FR" sz="2800" dirty="0" smtClean="0"/>
              <a:t>échec </a:t>
            </a:r>
            <a:r>
              <a:rPr lang="fr-FR" sz="2800" dirty="0" smtClean="0"/>
              <a:t>d'ouverture de session locale, Réussite ou échec d'authentification dur le DC, …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Nuances de gri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8357</TotalTime>
  <Words>1189</Words>
  <Application>Microsoft PowerPoint</Application>
  <PresentationFormat>Affichage à l'écran (4:3)</PresentationFormat>
  <Paragraphs>253</Paragraphs>
  <Slides>27</Slides>
  <Notes>25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28" baseType="lpstr">
      <vt:lpstr>Civil</vt:lpstr>
      <vt:lpstr>Chapitre 8  Implémentation de modèles d'administration et d'une stratégie d'audit </vt:lpstr>
      <vt:lpstr>Plan du cours</vt:lpstr>
      <vt:lpstr>1. Vue d'ensemble de la sécurité dans Windows Server 2003  </vt:lpstr>
      <vt:lpstr>Description des droits utilisateur </vt:lpstr>
      <vt:lpstr>Droits utilisateur et autorisations </vt:lpstr>
      <vt:lpstr>Droits utilisateur attribués à des groupes prédéfinis </vt:lpstr>
      <vt:lpstr>Droits utilisateur attribués à des groupes prédéfinis </vt:lpstr>
      <vt:lpstr>Droits utilisateur attribués à des groupes prédéfinis </vt:lpstr>
      <vt:lpstr>Droits utilisateur attribués à des groupes prédéfinis </vt:lpstr>
      <vt:lpstr>2. Utilisation de modèles de sécurité pour protéger les ordinateurs </vt:lpstr>
      <vt:lpstr>Qu'est-ce qu'une stratégie de sécurité ? </vt:lpstr>
      <vt:lpstr>Description des modèles de sécurité </vt:lpstr>
      <vt:lpstr>Description des paramètres de modèles  de sécurité </vt:lpstr>
      <vt:lpstr>Description des paramètres de modèles  de sécurité </vt:lpstr>
      <vt:lpstr>Description des paramètres de modèles  de sécurité </vt:lpstr>
      <vt:lpstr>Outils de création et d’importation des modèles de sécurité personnalisés</vt:lpstr>
      <vt:lpstr>Outils de création et d’importation des modèles de sécurité personnalisés</vt:lpstr>
      <vt:lpstr>3. Configuration de l'audit </vt:lpstr>
      <vt:lpstr>Description de l'audit </vt:lpstr>
      <vt:lpstr>Description d'une stratégie d'audit </vt:lpstr>
      <vt:lpstr>Types d'événements à auditer </vt:lpstr>
      <vt:lpstr>Types d'événements à auditer </vt:lpstr>
      <vt:lpstr>4. Gestion des journaux de sécurité </vt:lpstr>
      <vt:lpstr>Description des fichiers journaux </vt:lpstr>
      <vt:lpstr>Événements de sécurité courants </vt:lpstr>
      <vt:lpstr>Exercices</vt:lpstr>
      <vt:lpstr>Exercices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#: Module Title</dc:title>
  <dc:creator>User</dc:creator>
  <cp:lastModifiedBy>Halima</cp:lastModifiedBy>
  <cp:revision>560</cp:revision>
  <dcterms:created xsi:type="dcterms:W3CDTF">2002-08-07T17:51:12Z</dcterms:created>
  <dcterms:modified xsi:type="dcterms:W3CDTF">2016-04-05T21:44:08Z</dcterms:modified>
</cp:coreProperties>
</file>