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22"/>
  </p:notesMasterIdLst>
  <p:handoutMasterIdLst>
    <p:handoutMasterId r:id="rId23"/>
  </p:handoutMasterIdLst>
  <p:sldIdLst>
    <p:sldId id="416" r:id="rId2"/>
    <p:sldId id="420" r:id="rId3"/>
    <p:sldId id="447" r:id="rId4"/>
    <p:sldId id="550" r:id="rId5"/>
    <p:sldId id="504" r:id="rId6"/>
    <p:sldId id="578" r:id="rId7"/>
    <p:sldId id="559" r:id="rId8"/>
    <p:sldId id="551" r:id="rId9"/>
    <p:sldId id="508" r:id="rId10"/>
    <p:sldId id="561" r:id="rId11"/>
    <p:sldId id="560" r:id="rId12"/>
    <p:sldId id="554" r:id="rId13"/>
    <p:sldId id="479" r:id="rId14"/>
    <p:sldId id="465" r:id="rId15"/>
    <p:sldId id="580" r:id="rId16"/>
    <p:sldId id="521" r:id="rId17"/>
    <p:sldId id="581" r:id="rId18"/>
    <p:sldId id="582" r:id="rId19"/>
    <p:sldId id="584" r:id="rId20"/>
    <p:sldId id="583" r:id="rId21"/>
  </p:sldIdLst>
  <p:sldSz cx="9144000" cy="6858000" type="screen4x3"/>
  <p:notesSz cx="6934200" cy="9220200"/>
  <p:defaultTextStyle>
    <a:defPPr>
      <a:defRPr lang="en-US"/>
    </a:defPPr>
    <a:lvl1pPr algn="ctr" rtl="0" eaLnBrk="0" fontAlgn="base" hangingPunct="0">
      <a:spcBef>
        <a:spcPct val="0"/>
      </a:spcBef>
      <a:spcAft>
        <a:spcPct val="0"/>
      </a:spcAft>
      <a:defRPr b="1" kern="1200">
        <a:solidFill>
          <a:schemeClr val="tx1"/>
        </a:solidFill>
        <a:latin typeface="Arial Narrow" pitchFamily="34" charset="0"/>
        <a:ea typeface="+mn-ea"/>
        <a:cs typeface="+mn-cs"/>
      </a:defRPr>
    </a:lvl1pPr>
    <a:lvl2pPr marL="457200" algn="ctr" rtl="0" eaLnBrk="0" fontAlgn="base" hangingPunct="0">
      <a:spcBef>
        <a:spcPct val="0"/>
      </a:spcBef>
      <a:spcAft>
        <a:spcPct val="0"/>
      </a:spcAft>
      <a:defRPr b="1" kern="1200">
        <a:solidFill>
          <a:schemeClr val="tx1"/>
        </a:solidFill>
        <a:latin typeface="Arial Narrow" pitchFamily="34" charset="0"/>
        <a:ea typeface="+mn-ea"/>
        <a:cs typeface="+mn-cs"/>
      </a:defRPr>
    </a:lvl2pPr>
    <a:lvl3pPr marL="914400" algn="ctr" rtl="0" eaLnBrk="0" fontAlgn="base" hangingPunct="0">
      <a:spcBef>
        <a:spcPct val="0"/>
      </a:spcBef>
      <a:spcAft>
        <a:spcPct val="0"/>
      </a:spcAft>
      <a:defRPr b="1" kern="1200">
        <a:solidFill>
          <a:schemeClr val="tx1"/>
        </a:solidFill>
        <a:latin typeface="Arial Narrow" pitchFamily="34" charset="0"/>
        <a:ea typeface="+mn-ea"/>
        <a:cs typeface="+mn-cs"/>
      </a:defRPr>
    </a:lvl3pPr>
    <a:lvl4pPr marL="1371600" algn="ctr" rtl="0" eaLnBrk="0" fontAlgn="base" hangingPunct="0">
      <a:spcBef>
        <a:spcPct val="0"/>
      </a:spcBef>
      <a:spcAft>
        <a:spcPct val="0"/>
      </a:spcAft>
      <a:defRPr b="1" kern="1200">
        <a:solidFill>
          <a:schemeClr val="tx1"/>
        </a:solidFill>
        <a:latin typeface="Arial Narrow" pitchFamily="34" charset="0"/>
        <a:ea typeface="+mn-ea"/>
        <a:cs typeface="+mn-cs"/>
      </a:defRPr>
    </a:lvl4pPr>
    <a:lvl5pPr marL="1828800" algn="ctr" rtl="0" eaLnBrk="0" fontAlgn="base" hangingPunct="0">
      <a:spcBef>
        <a:spcPct val="0"/>
      </a:spcBef>
      <a:spcAft>
        <a:spcPct val="0"/>
      </a:spcAft>
      <a:defRPr b="1" kern="1200">
        <a:solidFill>
          <a:schemeClr val="tx1"/>
        </a:solidFill>
        <a:latin typeface="Arial Narrow" pitchFamily="34" charset="0"/>
        <a:ea typeface="+mn-ea"/>
        <a:cs typeface="+mn-cs"/>
      </a:defRPr>
    </a:lvl5pPr>
    <a:lvl6pPr marL="2286000" algn="l" defTabSz="914400" rtl="0" eaLnBrk="1" latinLnBrk="0" hangingPunct="1">
      <a:defRPr b="1" kern="1200">
        <a:solidFill>
          <a:schemeClr val="tx1"/>
        </a:solidFill>
        <a:latin typeface="Arial Narrow" pitchFamily="34" charset="0"/>
        <a:ea typeface="+mn-ea"/>
        <a:cs typeface="+mn-cs"/>
      </a:defRPr>
    </a:lvl6pPr>
    <a:lvl7pPr marL="2743200" algn="l" defTabSz="914400" rtl="0" eaLnBrk="1" latinLnBrk="0" hangingPunct="1">
      <a:defRPr b="1" kern="1200">
        <a:solidFill>
          <a:schemeClr val="tx1"/>
        </a:solidFill>
        <a:latin typeface="Arial Narrow" pitchFamily="34" charset="0"/>
        <a:ea typeface="+mn-ea"/>
        <a:cs typeface="+mn-cs"/>
      </a:defRPr>
    </a:lvl7pPr>
    <a:lvl8pPr marL="3200400" algn="l" defTabSz="914400" rtl="0" eaLnBrk="1" latinLnBrk="0" hangingPunct="1">
      <a:defRPr b="1" kern="1200">
        <a:solidFill>
          <a:schemeClr val="tx1"/>
        </a:solidFill>
        <a:latin typeface="Arial Narrow" pitchFamily="34" charset="0"/>
        <a:ea typeface="+mn-ea"/>
        <a:cs typeface="+mn-cs"/>
      </a:defRPr>
    </a:lvl8pPr>
    <a:lvl9pPr marL="3657600" algn="l" defTabSz="914400" rtl="0" eaLnBrk="1" latinLnBrk="0" hangingPunct="1">
      <a:defRPr b="1" kern="1200">
        <a:solidFill>
          <a:schemeClr val="tx1"/>
        </a:solidFill>
        <a:latin typeface="Arial Narrow"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webPr encoding="windows-1252"/>
  <p:clrMru>
    <a:srgbClr val="333333"/>
    <a:srgbClr val="EEEFD7"/>
    <a:srgbClr val="D5D69C"/>
    <a:srgbClr val="DFE8F2"/>
    <a:srgbClr val="BBCDE3"/>
    <a:srgbClr val="E4E4BF"/>
    <a:srgbClr val="8DACD0"/>
    <a:srgbClr val="CC0000"/>
  </p:clrMru>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vertBarState="minimized" horzBarState="maximized">
    <p:restoredLeft sz="24400" autoAdjust="0"/>
    <p:restoredTop sz="99300" autoAdjust="0"/>
  </p:normalViewPr>
  <p:slideViewPr>
    <p:cSldViewPr snapToGrid="0">
      <p:cViewPr varScale="1">
        <p:scale>
          <a:sx n="69" d="100"/>
          <a:sy n="69" d="100"/>
        </p:scale>
        <p:origin x="-1350"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8530" name="Rectangle 2"/>
          <p:cNvSpPr>
            <a:spLocks noGrp="1" noChangeArrowheads="1"/>
          </p:cNvSpPr>
          <p:nvPr>
            <p:ph type="hdr" sz="quarter"/>
          </p:nvPr>
        </p:nvSpPr>
        <p:spPr bwMode="auto">
          <a:xfrm>
            <a:off x="0" y="0"/>
            <a:ext cx="3005138" cy="460375"/>
          </a:xfrm>
          <a:prstGeom prst="rect">
            <a:avLst/>
          </a:prstGeom>
          <a:noFill/>
          <a:ln w="9525">
            <a:noFill/>
            <a:miter lim="800000"/>
            <a:headEnd/>
            <a:tailEnd/>
          </a:ln>
          <a:effectLst/>
        </p:spPr>
        <p:txBody>
          <a:bodyPr vert="horz" wrap="square" lIns="92309" tIns="46156" rIns="92309" bIns="46156" numCol="1" anchor="t" anchorCtr="0" compatLnSpc="1">
            <a:prstTxWarp prst="textNoShape">
              <a:avLst/>
            </a:prstTxWarp>
          </a:bodyPr>
          <a:lstStyle>
            <a:lvl1pPr algn="l" defTabSz="922338" eaLnBrk="1" hangingPunct="1">
              <a:defRPr sz="1200" b="0">
                <a:latin typeface="Arial" charset="0"/>
              </a:defRPr>
            </a:lvl1pPr>
          </a:lstStyle>
          <a:p>
            <a:endParaRPr lang="en-US"/>
          </a:p>
        </p:txBody>
      </p:sp>
      <p:sp>
        <p:nvSpPr>
          <p:cNvPr id="278531" name="Rectangle 3"/>
          <p:cNvSpPr>
            <a:spLocks noGrp="1" noChangeArrowheads="1"/>
          </p:cNvSpPr>
          <p:nvPr>
            <p:ph type="dt" sz="quarter" idx="1"/>
          </p:nvPr>
        </p:nvSpPr>
        <p:spPr bwMode="auto">
          <a:xfrm>
            <a:off x="3927475" y="0"/>
            <a:ext cx="3005138" cy="460375"/>
          </a:xfrm>
          <a:prstGeom prst="rect">
            <a:avLst/>
          </a:prstGeom>
          <a:noFill/>
          <a:ln w="9525">
            <a:noFill/>
            <a:miter lim="800000"/>
            <a:headEnd/>
            <a:tailEnd/>
          </a:ln>
          <a:effectLst/>
        </p:spPr>
        <p:txBody>
          <a:bodyPr vert="horz" wrap="square" lIns="92309" tIns="46156" rIns="92309" bIns="46156" numCol="1" anchor="t" anchorCtr="0" compatLnSpc="1">
            <a:prstTxWarp prst="textNoShape">
              <a:avLst/>
            </a:prstTxWarp>
          </a:bodyPr>
          <a:lstStyle>
            <a:lvl1pPr algn="r" defTabSz="922338" eaLnBrk="1" hangingPunct="1">
              <a:defRPr sz="1200" b="0">
                <a:latin typeface="Arial" charset="0"/>
              </a:defRPr>
            </a:lvl1pPr>
          </a:lstStyle>
          <a:p>
            <a:endParaRPr lang="en-US"/>
          </a:p>
        </p:txBody>
      </p:sp>
      <p:sp>
        <p:nvSpPr>
          <p:cNvPr id="278532" name="Rectangle 4"/>
          <p:cNvSpPr>
            <a:spLocks noGrp="1" noChangeArrowheads="1"/>
          </p:cNvSpPr>
          <p:nvPr>
            <p:ph type="ftr" sz="quarter" idx="2"/>
          </p:nvPr>
        </p:nvSpPr>
        <p:spPr bwMode="auto">
          <a:xfrm>
            <a:off x="0" y="8758238"/>
            <a:ext cx="3005138" cy="460375"/>
          </a:xfrm>
          <a:prstGeom prst="rect">
            <a:avLst/>
          </a:prstGeom>
          <a:noFill/>
          <a:ln w="9525">
            <a:noFill/>
            <a:miter lim="800000"/>
            <a:headEnd/>
            <a:tailEnd/>
          </a:ln>
          <a:effectLst/>
        </p:spPr>
        <p:txBody>
          <a:bodyPr vert="horz" wrap="square" lIns="92309" tIns="46156" rIns="92309" bIns="46156" numCol="1" anchor="b" anchorCtr="0" compatLnSpc="1">
            <a:prstTxWarp prst="textNoShape">
              <a:avLst/>
            </a:prstTxWarp>
          </a:bodyPr>
          <a:lstStyle>
            <a:lvl1pPr algn="l" defTabSz="922338" eaLnBrk="1" hangingPunct="1">
              <a:defRPr sz="1200" b="0">
                <a:latin typeface="Arial" charset="0"/>
              </a:defRPr>
            </a:lvl1pPr>
          </a:lstStyle>
          <a:p>
            <a:endParaRPr lang="en-US"/>
          </a:p>
        </p:txBody>
      </p:sp>
      <p:sp>
        <p:nvSpPr>
          <p:cNvPr id="278533" name="Rectangle 5"/>
          <p:cNvSpPr>
            <a:spLocks noGrp="1" noChangeArrowheads="1"/>
          </p:cNvSpPr>
          <p:nvPr>
            <p:ph type="sldNum" sz="quarter" idx="3"/>
          </p:nvPr>
        </p:nvSpPr>
        <p:spPr bwMode="auto">
          <a:xfrm>
            <a:off x="3927475" y="8758238"/>
            <a:ext cx="3005138" cy="460375"/>
          </a:xfrm>
          <a:prstGeom prst="rect">
            <a:avLst/>
          </a:prstGeom>
          <a:noFill/>
          <a:ln w="9525">
            <a:noFill/>
            <a:miter lim="800000"/>
            <a:headEnd/>
            <a:tailEnd/>
          </a:ln>
          <a:effectLst/>
        </p:spPr>
        <p:txBody>
          <a:bodyPr vert="horz" wrap="square" lIns="92309" tIns="46156" rIns="92309" bIns="46156" numCol="1" anchor="b" anchorCtr="0" compatLnSpc="1">
            <a:prstTxWarp prst="textNoShape">
              <a:avLst/>
            </a:prstTxWarp>
          </a:bodyPr>
          <a:lstStyle>
            <a:lvl1pPr algn="r" defTabSz="922338" eaLnBrk="1" hangingPunct="1">
              <a:defRPr sz="1200" b="0">
                <a:latin typeface="Arial" charset="0"/>
              </a:defRPr>
            </a:lvl1pPr>
          </a:lstStyle>
          <a:p>
            <a:fld id="{547EC2E4-A80C-4AF8-AD56-891AD4EFE6BE}" type="slidenum">
              <a:rPr lang="en-US"/>
              <a:pPr/>
              <a:t>‹N°›</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005138" cy="460375"/>
          </a:xfrm>
          <a:prstGeom prst="rect">
            <a:avLst/>
          </a:prstGeom>
          <a:noFill/>
          <a:ln w="9525">
            <a:noFill/>
            <a:miter lim="800000"/>
            <a:headEnd/>
            <a:tailEnd/>
          </a:ln>
          <a:effectLst/>
        </p:spPr>
        <p:txBody>
          <a:bodyPr vert="horz" wrap="square" lIns="92309" tIns="46156" rIns="92309" bIns="46156" numCol="1" anchor="t" anchorCtr="0" compatLnSpc="1">
            <a:prstTxWarp prst="textNoShape">
              <a:avLst/>
            </a:prstTxWarp>
          </a:bodyPr>
          <a:lstStyle>
            <a:lvl1pPr algn="l" defTabSz="922338" eaLnBrk="1" hangingPunct="1">
              <a:defRPr sz="1200" b="0">
                <a:latin typeface="Arial" charset="0"/>
              </a:defRPr>
            </a:lvl1pPr>
          </a:lstStyle>
          <a:p>
            <a:endParaRPr lang="en-US"/>
          </a:p>
        </p:txBody>
      </p:sp>
      <p:sp>
        <p:nvSpPr>
          <p:cNvPr id="5123" name="Rectangle 3"/>
          <p:cNvSpPr>
            <a:spLocks noGrp="1" noChangeArrowheads="1"/>
          </p:cNvSpPr>
          <p:nvPr>
            <p:ph type="dt" idx="1"/>
          </p:nvPr>
        </p:nvSpPr>
        <p:spPr bwMode="auto">
          <a:xfrm>
            <a:off x="3927475" y="0"/>
            <a:ext cx="3005138" cy="460375"/>
          </a:xfrm>
          <a:prstGeom prst="rect">
            <a:avLst/>
          </a:prstGeom>
          <a:noFill/>
          <a:ln w="9525">
            <a:noFill/>
            <a:miter lim="800000"/>
            <a:headEnd/>
            <a:tailEnd/>
          </a:ln>
          <a:effectLst/>
        </p:spPr>
        <p:txBody>
          <a:bodyPr vert="horz" wrap="square" lIns="92309" tIns="46156" rIns="92309" bIns="46156" numCol="1" anchor="t" anchorCtr="0" compatLnSpc="1">
            <a:prstTxWarp prst="textNoShape">
              <a:avLst/>
            </a:prstTxWarp>
          </a:bodyPr>
          <a:lstStyle>
            <a:lvl1pPr algn="r" defTabSz="922338" eaLnBrk="1" hangingPunct="1">
              <a:defRPr sz="1200" b="0">
                <a:latin typeface="Arial" charset="0"/>
              </a:defRPr>
            </a:lvl1pPr>
          </a:lstStyle>
          <a:p>
            <a:endParaRPr lang="en-US"/>
          </a:p>
        </p:txBody>
      </p:sp>
      <p:sp>
        <p:nvSpPr>
          <p:cNvPr id="5124" name="Rectangle 4"/>
          <p:cNvSpPr>
            <a:spLocks noGrp="1" noRot="1" noChangeAspect="1" noChangeArrowheads="1" noTextEdit="1"/>
          </p:cNvSpPr>
          <p:nvPr>
            <p:ph type="sldImg" idx="2"/>
          </p:nvPr>
        </p:nvSpPr>
        <p:spPr bwMode="auto">
          <a:xfrm>
            <a:off x="1162050" y="692150"/>
            <a:ext cx="4610100" cy="3457575"/>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nvPr>
        </p:nvSpPr>
        <p:spPr bwMode="auto">
          <a:xfrm>
            <a:off x="693738" y="4379913"/>
            <a:ext cx="5546725" cy="4148137"/>
          </a:xfrm>
          <a:prstGeom prst="rect">
            <a:avLst/>
          </a:prstGeom>
          <a:noFill/>
          <a:ln w="9525">
            <a:noFill/>
            <a:miter lim="800000"/>
            <a:headEnd/>
            <a:tailEnd/>
          </a:ln>
          <a:effectLst/>
        </p:spPr>
        <p:txBody>
          <a:bodyPr vert="horz" wrap="square" lIns="92309" tIns="46156" rIns="92309" bIns="46156"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5126" name="Rectangle 6"/>
          <p:cNvSpPr>
            <a:spLocks noGrp="1" noChangeArrowheads="1"/>
          </p:cNvSpPr>
          <p:nvPr>
            <p:ph type="ftr" sz="quarter" idx="4"/>
          </p:nvPr>
        </p:nvSpPr>
        <p:spPr bwMode="auto">
          <a:xfrm>
            <a:off x="0" y="8758238"/>
            <a:ext cx="3005138" cy="460375"/>
          </a:xfrm>
          <a:prstGeom prst="rect">
            <a:avLst/>
          </a:prstGeom>
          <a:noFill/>
          <a:ln w="9525">
            <a:noFill/>
            <a:miter lim="800000"/>
            <a:headEnd/>
            <a:tailEnd/>
          </a:ln>
          <a:effectLst/>
        </p:spPr>
        <p:txBody>
          <a:bodyPr vert="horz" wrap="square" lIns="92309" tIns="46156" rIns="92309" bIns="46156" numCol="1" anchor="b" anchorCtr="0" compatLnSpc="1">
            <a:prstTxWarp prst="textNoShape">
              <a:avLst/>
            </a:prstTxWarp>
          </a:bodyPr>
          <a:lstStyle>
            <a:lvl1pPr algn="l" defTabSz="922338" eaLnBrk="1" hangingPunct="1">
              <a:defRPr sz="1200" b="0">
                <a:latin typeface="Arial" charset="0"/>
              </a:defRPr>
            </a:lvl1pPr>
          </a:lstStyle>
          <a:p>
            <a:endParaRPr lang="en-US"/>
          </a:p>
        </p:txBody>
      </p:sp>
      <p:sp>
        <p:nvSpPr>
          <p:cNvPr id="5127" name="Rectangle 7"/>
          <p:cNvSpPr>
            <a:spLocks noGrp="1" noChangeArrowheads="1"/>
          </p:cNvSpPr>
          <p:nvPr>
            <p:ph type="sldNum" sz="quarter" idx="5"/>
          </p:nvPr>
        </p:nvSpPr>
        <p:spPr bwMode="auto">
          <a:xfrm>
            <a:off x="3927475" y="8758238"/>
            <a:ext cx="3005138" cy="460375"/>
          </a:xfrm>
          <a:prstGeom prst="rect">
            <a:avLst/>
          </a:prstGeom>
          <a:noFill/>
          <a:ln w="9525">
            <a:noFill/>
            <a:miter lim="800000"/>
            <a:headEnd/>
            <a:tailEnd/>
          </a:ln>
          <a:effectLst/>
        </p:spPr>
        <p:txBody>
          <a:bodyPr vert="horz" wrap="square" lIns="92309" tIns="46156" rIns="92309" bIns="46156" numCol="1" anchor="b" anchorCtr="0" compatLnSpc="1">
            <a:prstTxWarp prst="textNoShape">
              <a:avLst/>
            </a:prstTxWarp>
          </a:bodyPr>
          <a:lstStyle>
            <a:lvl1pPr algn="r" defTabSz="922338" eaLnBrk="1" hangingPunct="1">
              <a:defRPr sz="1200" b="0">
                <a:latin typeface="Arial" charset="0"/>
              </a:defRPr>
            </a:lvl1pPr>
          </a:lstStyle>
          <a:p>
            <a:fld id="{F199DF98-5372-4814-A720-36C4EBCB3586}"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Info/DTP/laura/FR/DONE/HELP=glossary.hlp%20TOPIC=administrators" TargetMode="External"/><Relationship Id="rId2" Type="http://schemas.openxmlformats.org/officeDocument/2006/relationships/slide" Target="../slides/slide14.xml"/><Relationship Id="rId1" Type="http://schemas.openxmlformats.org/officeDocument/2006/relationships/notesMaster" Target="../notesMasters/notesMaster1.xml"/><Relationship Id="rId6" Type="http://schemas.openxmlformats.org/officeDocument/2006/relationships/hyperlink" Target="MS-ITS:mpconcepts.chm::/SAG_MPmonperf_howto.htm" TargetMode="External"/><Relationship Id="rId5" Type="http://schemas.openxmlformats.org/officeDocument/2006/relationships/hyperlink" Target="MS-ITS:MPconcepts.chm::/manage_command_perf.htm" TargetMode="External"/><Relationship Id="rId4" Type="http://schemas.openxmlformats.org/officeDocument/2006/relationships/hyperlink" Target="MS-ITS:ctasks.chm::/ctasks019.htm"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D351F19-7FA7-4D83-9099-89088E0D8F12}" type="slidenum">
              <a:rPr lang="en-US"/>
              <a:pPr/>
              <a:t>1</a:t>
            </a:fld>
            <a:endParaRPr lang="en-US"/>
          </a:p>
        </p:txBody>
      </p:sp>
      <p:sp>
        <p:nvSpPr>
          <p:cNvPr id="515074" name="Rectangle-2"/>
          <p:cNvSpPr>
            <a:spLocks noGrp="1" noRot="1" noChangeAspect="1" noChangeArrowheads="1" noTextEdit="1"/>
          </p:cNvSpPr>
          <p:nvPr>
            <p:ph type="sldImg"/>
          </p:nvPr>
        </p:nvSpPr>
        <p:spPr>
          <a:ln/>
        </p:spPr>
      </p:sp>
      <p:sp>
        <p:nvSpPr>
          <p:cNvPr id="515075" name="Rectangle-3"/>
          <p:cNvSpPr>
            <a:spLocks noGrp="1" noChangeArrowheads="1"/>
          </p:cNvSpPr>
          <p:nvPr>
            <p:ph type="body" idx="1"/>
          </p:nvPr>
        </p:nvSpPr>
        <p:spPr/>
        <p:txBody>
          <a:bodyPr/>
          <a:lstStyle/>
          <a:p>
            <a:endParaRPr lang="en-I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937281-9076-486C-84EE-0D7B6F905307}" type="slidenum">
              <a:rPr lang="en-US"/>
              <a:pPr/>
              <a:t>2</a:t>
            </a:fld>
            <a:endParaRPr lang="en-US"/>
          </a:p>
        </p:txBody>
      </p:sp>
      <p:sp>
        <p:nvSpPr>
          <p:cNvPr id="392194" name="Rectangle-2"/>
          <p:cNvSpPr>
            <a:spLocks noGrp="1" noRot="1" noChangeAspect="1" noChangeArrowheads="1" noTextEdit="1"/>
          </p:cNvSpPr>
          <p:nvPr>
            <p:ph type="sldImg"/>
          </p:nvPr>
        </p:nvSpPr>
        <p:spPr>
          <a:ln/>
        </p:spPr>
      </p:sp>
      <p:sp>
        <p:nvSpPr>
          <p:cNvPr id="392195" name="Rectangle-3"/>
          <p:cNvSpPr>
            <a:spLocks noGrp="1" noChangeArrowheads="1"/>
          </p:cNvSpPr>
          <p:nvPr>
            <p:ph type="body" idx="1"/>
          </p:nvPr>
        </p:nvSpPr>
        <p:spPr/>
        <p:txBody>
          <a:bodyPr/>
          <a:lstStyle/>
          <a:p>
            <a:endParaRPr lang="en-I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55F635A-D64E-46E9-AAF9-20C50C628522}" type="slidenum">
              <a:rPr lang="en-US"/>
              <a:pPr/>
              <a:t>3</a:t>
            </a:fld>
            <a:endParaRPr lang="en-US"/>
          </a:p>
        </p:txBody>
      </p:sp>
      <p:sp>
        <p:nvSpPr>
          <p:cNvPr id="516098" name="Rectangle-2"/>
          <p:cNvSpPr>
            <a:spLocks noGrp="1" noRot="1" noChangeAspect="1" noChangeArrowheads="1" noTextEdit="1"/>
          </p:cNvSpPr>
          <p:nvPr>
            <p:ph type="sldImg"/>
          </p:nvPr>
        </p:nvSpPr>
        <p:spPr>
          <a:ln/>
        </p:spPr>
      </p:sp>
      <p:sp>
        <p:nvSpPr>
          <p:cNvPr id="516099" name="Rectangle-3"/>
          <p:cNvSpPr>
            <a:spLocks noGrp="1" noChangeArrowheads="1"/>
          </p:cNvSpPr>
          <p:nvPr>
            <p:ph type="body" idx="1"/>
          </p:nvPr>
        </p:nvSpPr>
        <p:spPr/>
        <p:txBody>
          <a:bodyPr/>
          <a:lstStyle/>
          <a:p>
            <a:endParaRPr lang="en-I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C5FB9A9-DC98-4E04-B1F0-47297EE40086}" type="slidenum">
              <a:rPr lang="en-US"/>
              <a:pPr/>
              <a:t>4</a:t>
            </a:fld>
            <a:endParaRPr lang="en-US"/>
          </a:p>
        </p:txBody>
      </p:sp>
      <p:sp>
        <p:nvSpPr>
          <p:cNvPr id="595970" name="Rectangle-2"/>
          <p:cNvSpPr>
            <a:spLocks noGrp="1" noRot="1" noChangeAspect="1" noChangeArrowheads="1" noTextEdit="1"/>
          </p:cNvSpPr>
          <p:nvPr>
            <p:ph type="sldImg"/>
          </p:nvPr>
        </p:nvSpPr>
        <p:spPr>
          <a:ln/>
        </p:spPr>
      </p:sp>
      <p:sp>
        <p:nvSpPr>
          <p:cNvPr id="595971" name="Rectangle-3"/>
          <p:cNvSpPr>
            <a:spLocks noGrp="1" noChangeArrowheads="1"/>
          </p:cNvSpPr>
          <p:nvPr>
            <p:ph type="body" idx="1"/>
          </p:nvPr>
        </p:nvSpPr>
        <p:spPr/>
        <p:txBody>
          <a:bodyPr/>
          <a:lstStyle/>
          <a:p>
            <a:endParaRPr lang="en-I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7E7836D-C77C-4F69-98C9-45DA4B5E168A}" type="slidenum">
              <a:rPr lang="en-US"/>
              <a:pPr/>
              <a:t>5</a:t>
            </a:fld>
            <a:endParaRPr lang="en-US"/>
          </a:p>
        </p:txBody>
      </p:sp>
      <p:sp>
        <p:nvSpPr>
          <p:cNvPr id="517122" name="Rectangle-2"/>
          <p:cNvSpPr>
            <a:spLocks noGrp="1" noRot="1" noChangeAspect="1" noChangeArrowheads="1" noTextEdit="1"/>
          </p:cNvSpPr>
          <p:nvPr>
            <p:ph type="sldImg"/>
          </p:nvPr>
        </p:nvSpPr>
        <p:spPr>
          <a:ln/>
        </p:spPr>
      </p:sp>
      <p:sp>
        <p:nvSpPr>
          <p:cNvPr id="517123" name="Rectangle-3"/>
          <p:cNvSpPr>
            <a:spLocks noGrp="1" noChangeArrowheads="1"/>
          </p:cNvSpPr>
          <p:nvPr>
            <p:ph type="body" idx="1"/>
          </p:nvPr>
        </p:nvSpPr>
        <p:spPr/>
        <p:txBody>
          <a:bodyPr/>
          <a:lstStyle/>
          <a:p>
            <a:endParaRPr lang="en-I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7E7836D-C77C-4F69-98C9-45DA4B5E168A}" type="slidenum">
              <a:rPr lang="en-US"/>
              <a:pPr/>
              <a:t>6</a:t>
            </a:fld>
            <a:endParaRPr lang="en-US"/>
          </a:p>
        </p:txBody>
      </p:sp>
      <p:sp>
        <p:nvSpPr>
          <p:cNvPr id="517122" name="Rectangle-2"/>
          <p:cNvSpPr>
            <a:spLocks noGrp="1" noRot="1" noChangeAspect="1" noChangeArrowheads="1" noTextEdit="1"/>
          </p:cNvSpPr>
          <p:nvPr>
            <p:ph type="sldImg"/>
          </p:nvPr>
        </p:nvSpPr>
        <p:spPr>
          <a:ln/>
        </p:spPr>
      </p:sp>
      <p:sp>
        <p:nvSpPr>
          <p:cNvPr id="517123" name="Rectangle-3"/>
          <p:cNvSpPr>
            <a:spLocks noGrp="1" noChangeArrowheads="1"/>
          </p:cNvSpPr>
          <p:nvPr>
            <p:ph type="body" idx="1"/>
          </p:nvPr>
        </p:nvSpPr>
        <p:spPr/>
        <p:txBody>
          <a:bodyPr/>
          <a:lstStyle/>
          <a:p>
            <a:endParaRPr lang="en-I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C055A88-8485-427C-8437-EB1F7BD70308}" type="slidenum">
              <a:rPr lang="en-US"/>
              <a:pPr/>
              <a:t>7</a:t>
            </a:fld>
            <a:endParaRPr lang="en-US"/>
          </a:p>
        </p:txBody>
      </p:sp>
      <p:sp>
        <p:nvSpPr>
          <p:cNvPr id="596994" name="Rectangle-2"/>
          <p:cNvSpPr>
            <a:spLocks noGrp="1" noRot="1" noChangeAspect="1" noChangeArrowheads="1" noTextEdit="1"/>
          </p:cNvSpPr>
          <p:nvPr>
            <p:ph type="sldImg"/>
          </p:nvPr>
        </p:nvSpPr>
        <p:spPr>
          <a:ln/>
        </p:spPr>
      </p:sp>
      <p:sp>
        <p:nvSpPr>
          <p:cNvPr id="596995" name="Rectangle-3"/>
          <p:cNvSpPr>
            <a:spLocks noGrp="1" noChangeArrowheads="1"/>
          </p:cNvSpPr>
          <p:nvPr>
            <p:ph type="body" idx="1"/>
          </p:nvPr>
        </p:nvSpPr>
        <p:spPr/>
        <p:txBody>
          <a:bodyPr/>
          <a:lstStyle/>
          <a:p>
            <a:endParaRPr lang="en-I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831EAC-6AB5-4EEA-9B41-A3198DF86AC2}" type="slidenum">
              <a:rPr lang="en-US"/>
              <a:pPr/>
              <a:t>8</a:t>
            </a:fld>
            <a:endParaRPr lang="en-US"/>
          </a:p>
        </p:txBody>
      </p:sp>
      <p:sp>
        <p:nvSpPr>
          <p:cNvPr id="534530" name="Rectangle-2"/>
          <p:cNvSpPr>
            <a:spLocks noGrp="1" noRot="1" noChangeAspect="1" noChangeArrowheads="1" noTextEdit="1"/>
          </p:cNvSpPr>
          <p:nvPr>
            <p:ph type="sldImg"/>
          </p:nvPr>
        </p:nvSpPr>
        <p:spPr>
          <a:ln/>
        </p:spPr>
      </p:sp>
      <p:sp>
        <p:nvSpPr>
          <p:cNvPr id="534531" name="Rectangle-3"/>
          <p:cNvSpPr>
            <a:spLocks noGrp="1" noChangeArrowheads="1"/>
          </p:cNvSpPr>
          <p:nvPr>
            <p:ph type="body" idx="1"/>
          </p:nvPr>
        </p:nvSpPr>
        <p:spPr/>
        <p:txBody>
          <a:bodyPr/>
          <a:lstStyle/>
          <a:p>
            <a:r>
              <a:rPr lang="en-US"/>
              <a:t>Terminal Objective: After completing this lesson, students will be able to prepare to monitor performance.</a:t>
            </a:r>
          </a:p>
          <a:p>
            <a:r>
              <a:rPr lang="en-US"/>
              <a:t>Enabling Objectives: </a:t>
            </a:r>
          </a:p>
          <a:p>
            <a:r>
              <a:rPr lang="en-US"/>
              <a:t>After completing this lesson, students will be able to:</a:t>
            </a:r>
          </a:p>
          <a:p>
            <a:pPr>
              <a:buFontTx/>
              <a:buChar char="•"/>
            </a:pPr>
            <a:r>
              <a:rPr lang="en-US"/>
              <a:t>Explain how to use the Performance tool.</a:t>
            </a:r>
          </a:p>
          <a:p>
            <a:pPr>
              <a:buFontTx/>
              <a:buChar char="•"/>
            </a:pPr>
            <a:r>
              <a:rPr lang="en-US"/>
              <a:t>Explain how to use the Task Manager tool. </a:t>
            </a:r>
          </a:p>
          <a:p>
            <a:pPr>
              <a:buFontTx/>
              <a:buChar char="•"/>
            </a:pPr>
            <a:r>
              <a:rPr lang="en-US"/>
              <a:t>Explain the Ad-hoc and historical monitoring.</a:t>
            </a:r>
            <a:endParaRPr lang="en-US" u="sng"/>
          </a:p>
          <a:p>
            <a:pPr>
              <a:buFontTx/>
              <a:buChar char="•"/>
            </a:pPr>
            <a:r>
              <a:rPr lang="en-US"/>
              <a:t>Log on to a remote computer by using Performance</a:t>
            </a:r>
          </a:p>
          <a:p>
            <a:pPr>
              <a:buFontTx/>
              <a:buChar char="•"/>
            </a:pPr>
            <a:r>
              <a:rPr lang="en-US"/>
              <a:t>Use Task Manager for ad-hoc monitoring. </a:t>
            </a:r>
          </a:p>
          <a:p>
            <a:pPr>
              <a:buFontTx/>
              <a:buChar char="•"/>
            </a:pPr>
            <a:r>
              <a:rPr lang="en-US"/>
              <a:t>Use Performance for ad-hoc and historical monitoring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8C6BC7C-0E9F-472D-ACB3-007882E4B01A}" type="slidenum">
              <a:rPr lang="en-US"/>
              <a:pPr/>
              <a:t>9</a:t>
            </a:fld>
            <a:endParaRPr lang="en-US"/>
          </a:p>
        </p:txBody>
      </p:sp>
      <p:sp>
        <p:nvSpPr>
          <p:cNvPr id="486402" name="Rectangle-2"/>
          <p:cNvSpPr>
            <a:spLocks noGrp="1" noRot="1" noChangeAspect="1" noChangeArrowheads="1" noTextEdit="1"/>
          </p:cNvSpPr>
          <p:nvPr>
            <p:ph type="sldImg"/>
          </p:nvPr>
        </p:nvSpPr>
        <p:spPr>
          <a:ln/>
        </p:spPr>
      </p:sp>
      <p:sp>
        <p:nvSpPr>
          <p:cNvPr id="486403" name="Rectangle-3"/>
          <p:cNvSpPr>
            <a:spLocks noGrp="1" noChangeArrowheads="1"/>
          </p:cNvSpPr>
          <p:nvPr>
            <p:ph type="body" idx="1"/>
          </p:nvPr>
        </p:nvSpPr>
        <p:spPr/>
        <p:txBody>
          <a:bodyPr/>
          <a:lstStyle/>
          <a:p>
            <a:r>
              <a:rPr lang="en-US"/>
              <a:t>Use ad hoc or real-time monitoring in crisis situations.</a:t>
            </a:r>
          </a:p>
          <a:p>
            <a:r>
              <a:rPr lang="en-US"/>
              <a:t>(For example, the printer normally prints 10 pages per minute but today it is printing 1 page per minute.)</a:t>
            </a:r>
          </a:p>
          <a:p>
            <a:r>
              <a:rPr lang="en-US"/>
              <a:t>Use historical monitoring for trend analysis.</a:t>
            </a:r>
          </a:p>
          <a:p>
            <a:r>
              <a:rPr lang="en-US"/>
              <a:t>(For example, one of the users is reporting that the 600 page monthly report took 60 minutes to print in January, 65 minutes to print in February, and 70 minutes to print in March. Other users are also complaining that “printing seems to have been slowing down lately.”)</a:t>
            </a:r>
          </a:p>
          <a:p>
            <a:r>
              <a:rPr lang="en-US"/>
              <a:t>Use historical monitoring for capacity planning</a:t>
            </a:r>
          </a:p>
          <a:p>
            <a:r>
              <a:rPr lang="en-US"/>
              <a:t>(For example, as you look at logs and determine trends in user activity or resource demands, you can identify areas that might require additional resources.)</a:t>
            </a:r>
          </a:p>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7374556-08FE-446B-A9EB-48EC967C74F8}" type="slidenum">
              <a:rPr lang="en-US"/>
              <a:pPr/>
              <a:t>11</a:t>
            </a:fld>
            <a:endParaRPr lang="en-US"/>
          </a:p>
        </p:txBody>
      </p:sp>
      <p:sp>
        <p:nvSpPr>
          <p:cNvPr id="599042" name="Rectangle-2"/>
          <p:cNvSpPr>
            <a:spLocks noGrp="1" noRot="1" noChangeAspect="1" noChangeArrowheads="1" noTextEdit="1"/>
          </p:cNvSpPr>
          <p:nvPr>
            <p:ph type="sldImg"/>
          </p:nvPr>
        </p:nvSpPr>
        <p:spPr>
          <a:ln/>
        </p:spPr>
      </p:sp>
      <p:sp>
        <p:nvSpPr>
          <p:cNvPr id="599043" name="Rectangle-3"/>
          <p:cNvSpPr>
            <a:spLocks noGrp="1" noChangeArrowheads="1"/>
          </p:cNvSpPr>
          <p:nvPr>
            <p:ph type="body" idx="1"/>
          </p:nvPr>
        </p:nvSpPr>
        <p:spPr/>
        <p:txBody>
          <a:bodyPr/>
          <a:lstStyle/>
          <a:p>
            <a:endParaRPr lang="en-I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F4C828-A439-4313-A1D4-C28A13789B14}" type="slidenum">
              <a:rPr lang="en-US"/>
              <a:pPr/>
              <a:t>12</a:t>
            </a:fld>
            <a:endParaRPr lang="en-US"/>
          </a:p>
        </p:txBody>
      </p:sp>
      <p:sp>
        <p:nvSpPr>
          <p:cNvPr id="602114" name="Rectangle-2"/>
          <p:cNvSpPr>
            <a:spLocks noGrp="1" noRot="1" noChangeAspect="1" noChangeArrowheads="1" noTextEdit="1"/>
          </p:cNvSpPr>
          <p:nvPr>
            <p:ph type="sldImg"/>
          </p:nvPr>
        </p:nvSpPr>
        <p:spPr>
          <a:ln/>
        </p:spPr>
      </p:sp>
      <p:sp>
        <p:nvSpPr>
          <p:cNvPr id="602115" name="Rectangle-3"/>
          <p:cNvSpPr>
            <a:spLocks noGrp="1" noChangeArrowheads="1"/>
          </p:cNvSpPr>
          <p:nvPr>
            <p:ph type="body" idx="1"/>
          </p:nvPr>
        </p:nvSpPr>
        <p:spPr/>
        <p:txBody>
          <a:bodyPr/>
          <a:lstStyle/>
          <a:p>
            <a:endParaRPr lang="en-I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3CB332-62FA-4F8F-BE38-907006BEC76E}" type="slidenum">
              <a:rPr lang="en-US"/>
              <a:pPr/>
              <a:t>13</a:t>
            </a:fld>
            <a:endParaRPr lang="en-US"/>
          </a:p>
        </p:txBody>
      </p:sp>
      <p:sp>
        <p:nvSpPr>
          <p:cNvPr id="520194" name="Rectangle-2"/>
          <p:cNvSpPr>
            <a:spLocks noGrp="1" noRot="1" noChangeAspect="1" noChangeArrowheads="1" noTextEdit="1"/>
          </p:cNvSpPr>
          <p:nvPr>
            <p:ph type="sldImg"/>
          </p:nvPr>
        </p:nvSpPr>
        <p:spPr>
          <a:ln/>
        </p:spPr>
      </p:sp>
      <p:sp>
        <p:nvSpPr>
          <p:cNvPr id="520195" name="Rectangle-3"/>
          <p:cNvSpPr>
            <a:spLocks noGrp="1" noChangeArrowheads="1"/>
          </p:cNvSpPr>
          <p:nvPr>
            <p:ph type="body" idx="1"/>
          </p:nvPr>
        </p:nvSpPr>
        <p:spPr/>
        <p:txBody>
          <a:bodyPr/>
          <a:lstStyle/>
          <a:p>
            <a:r>
              <a:rPr lang="en-US"/>
              <a:t>Terminal Objective: After completing this lesson, students will be able to configure and manage performance logs.</a:t>
            </a:r>
          </a:p>
          <a:p>
            <a:r>
              <a:rPr lang="en-US"/>
              <a:t>Enabling Objectives: </a:t>
            </a:r>
          </a:p>
          <a:p>
            <a:r>
              <a:rPr lang="en-US"/>
              <a:t>After completing this lesson, students will be able to:</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C6D9BBB-CE03-46DB-81AF-B1DF6189AC45}" type="slidenum">
              <a:rPr lang="en-US"/>
              <a:pPr/>
              <a:t>14</a:t>
            </a:fld>
            <a:endParaRPr lang="en-US"/>
          </a:p>
        </p:txBody>
      </p:sp>
      <p:sp>
        <p:nvSpPr>
          <p:cNvPr id="425986" name="Rectangle-2"/>
          <p:cNvSpPr>
            <a:spLocks noGrp="1" noRot="1" noChangeAspect="1" noChangeArrowheads="1" noTextEdit="1"/>
          </p:cNvSpPr>
          <p:nvPr>
            <p:ph type="sldImg"/>
          </p:nvPr>
        </p:nvSpPr>
        <p:spPr>
          <a:ln/>
        </p:spPr>
      </p:sp>
      <p:sp>
        <p:nvSpPr>
          <p:cNvPr id="425987" name="Rectangle-3"/>
          <p:cNvSpPr>
            <a:spLocks noGrp="1" noChangeArrowheads="1"/>
          </p:cNvSpPr>
          <p:nvPr>
            <p:ph type="body" idx="1"/>
          </p:nvPr>
        </p:nvSpPr>
        <p:spPr/>
        <p:txBody>
          <a:bodyPr/>
          <a:lstStyle/>
          <a:p>
            <a:r>
              <a:rPr lang="en-US" b="1"/>
              <a:t>Monitoring server performance</a:t>
            </a:r>
            <a:endParaRPr lang="en-US"/>
          </a:p>
          <a:p>
            <a:r>
              <a:rPr lang="en-US"/>
              <a:t>Today's business environment demands that </a:t>
            </a:r>
            <a:r>
              <a:rPr lang="en-US">
                <a:hlinkClick r:id="rId3" action="ppaction://hlinkfile"/>
              </a:rPr>
              <a:t>administrators</a:t>
            </a:r>
            <a:r>
              <a:rPr lang="en-US"/>
              <a:t> ensure their computer systems are efficient and reliable. To optimize your server's performance, you need the data supplied by performance monitoring. (i.e. collecting the data in logs) This topic provides a starting point for those tasked with monitoring a simple server configuration, one that has only a few client workstations connected to a single facility that houses one or more servers. The client and server computers are in close proximity to one another. The servers are used primarily as file, e-mail, and intranet Web servers. Either a wired or wireless network links the computers to one another.</a:t>
            </a:r>
            <a:endParaRPr lang="en-US" b="1"/>
          </a:p>
          <a:p>
            <a:r>
              <a:rPr lang="en-US" b="1"/>
              <a:t>Monitoring the performance of a simple server configuration demands that you collect three different types of performance data over a period of time: </a:t>
            </a:r>
          </a:p>
          <a:p>
            <a:r>
              <a:rPr lang="en-US" b="1"/>
              <a:t>General performance data: Information that can help you to identify short-term trends such as memory leaks. After a month or two of data collection, you can average the results and save them in a more compact format. This archived data can assist you in capacity planning as your business grows, and later help you to evaluate the effectiveness of your plan. ‘</a:t>
            </a:r>
          </a:p>
          <a:p>
            <a:r>
              <a:rPr lang="en-US" b="1"/>
              <a:t>Baseline performance data: Information that can help you to discover changes that occur slowly, over time. By comparing the current state of your system with historical data, you can troubleshoot and tune your system. Because this information is collected only periodically, there is no need to compress it for storage. </a:t>
            </a:r>
          </a:p>
          <a:p>
            <a:r>
              <a:rPr lang="en-US" b="1"/>
              <a:t>Data for service level reports: Information that can help you to ensure that your system meets a certain service or performance level, and which you will likely present to decision makers who are not performance analysts. How often you collect and maintain this data depends on your specific business needs.</a:t>
            </a:r>
            <a:endParaRPr lang="en-US"/>
          </a:p>
          <a:p>
            <a:r>
              <a:rPr lang="en-US"/>
              <a:t>To collect all three types of data you need to know how to </a:t>
            </a:r>
            <a:r>
              <a:rPr lang="en-US">
                <a:hlinkClick r:id="rId4"/>
              </a:rPr>
              <a:t>create a counter log</a:t>
            </a:r>
            <a:r>
              <a:rPr lang="en-US"/>
              <a:t> using the Performance Logs and Alerts graphical user interface (GUI). You can also collect this information from the </a:t>
            </a:r>
            <a:r>
              <a:rPr lang="en-US">
                <a:hlinkClick r:id="rId5"/>
              </a:rPr>
              <a:t>command line</a:t>
            </a:r>
            <a:r>
              <a:rPr lang="en-US"/>
              <a:t>. You can then run these logs over time, either manually or with automated scheduling. </a:t>
            </a:r>
            <a:r>
              <a:rPr lang="en-US">
                <a:hlinkClick r:id="rId4"/>
              </a:rPr>
              <a:t>Adding objects to a log</a:t>
            </a:r>
            <a:r>
              <a:rPr lang="en-US"/>
              <a:t>, and </a:t>
            </a:r>
            <a:r>
              <a:rPr lang="en-US">
                <a:hlinkClick r:id="rId4"/>
              </a:rPr>
              <a:t>Adding counters to a log</a:t>
            </a:r>
            <a:r>
              <a:rPr lang="en-US"/>
              <a:t> help you to further customize logs to your needs. For more information about monitoring server performance, including how to further modify counter logs, create reports in various formats, and use the collected data, see </a:t>
            </a:r>
            <a:r>
              <a:rPr lang="en-US">
                <a:hlinkClick r:id="rId6"/>
              </a:rPr>
              <a:t>How To</a:t>
            </a:r>
            <a:r>
              <a:rPr lang="en-US"/>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1C5BF5-208A-4257-BEBC-E9F6D0502D62}" type="slidenum">
              <a:rPr lang="en-US"/>
              <a:pPr/>
              <a:t>16</a:t>
            </a:fld>
            <a:endParaRPr lang="en-US"/>
          </a:p>
        </p:txBody>
      </p:sp>
      <p:sp>
        <p:nvSpPr>
          <p:cNvPr id="460802" name="Rectangle-2"/>
          <p:cNvSpPr>
            <a:spLocks noGrp="1" noRot="1" noChangeAspect="1" noChangeArrowheads="1" noTextEdit="1"/>
          </p:cNvSpPr>
          <p:nvPr>
            <p:ph type="sldImg"/>
          </p:nvPr>
        </p:nvSpPr>
        <p:spPr>
          <a:ln/>
        </p:spPr>
      </p:sp>
      <p:sp>
        <p:nvSpPr>
          <p:cNvPr id="460803" name="Rectangle-3"/>
          <p:cNvSpPr>
            <a:spLocks noGrp="1" noChangeArrowheads="1"/>
          </p:cNvSpPr>
          <p:nvPr>
            <p:ph type="body" idx="1"/>
          </p:nvPr>
        </p:nvSpPr>
        <p:spPr/>
        <p:txBody>
          <a:bodyPr/>
          <a:lstStyle/>
          <a:p>
            <a:r>
              <a:rPr lang="en-US"/>
              <a:t>[W2K RK]</a:t>
            </a:r>
          </a:p>
          <a:p>
            <a:r>
              <a:rPr lang="en-US"/>
              <a:t>With the alerting function, you can define a counter value that will trigger actions such as sending a network message, running a program, or starting a log. Alerts are useful if you are not actively monitoring a particular counter threshold value but want to be notified when it exceeds or falls below a specified value so that you can investigate and determine the cause of the change. You might want to set alerts based on established performance baseline values for your system. </a:t>
            </a:r>
          </a:p>
          <a:p>
            <a:endParaRPr lang="en-US"/>
          </a:p>
          <a:p>
            <a:r>
              <a:rPr lang="en-US"/>
              <a:t>(http://www.microsoft.com/windows2000/en/server/help/default.asp?url=/windows2000/en/server/help/sag_mpmonperf_10.htm)</a:t>
            </a:r>
          </a:p>
          <a:p>
            <a:r>
              <a:rPr lang="en-US"/>
              <a:t>An alert threshold is when a selected counter’s value exceeds or falls below a specified setting. For example, you can set an alert on a counter, thereby defining that a message be sent, a program be run, or a log be started when the alert threshold has been exceeded. </a:t>
            </a:r>
          </a:p>
          <a:p>
            <a:endParaRPr lang="en-US"/>
          </a:p>
          <a:p>
            <a:endParaRPr lang="en-US"/>
          </a:p>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1C5BF5-208A-4257-BEBC-E9F6D0502D62}" type="slidenum">
              <a:rPr lang="en-US"/>
              <a:pPr/>
              <a:t>17</a:t>
            </a:fld>
            <a:endParaRPr lang="en-US"/>
          </a:p>
        </p:txBody>
      </p:sp>
      <p:sp>
        <p:nvSpPr>
          <p:cNvPr id="460802" name="Rectangle-2"/>
          <p:cNvSpPr>
            <a:spLocks noGrp="1" noRot="1" noChangeAspect="1" noChangeArrowheads="1" noTextEdit="1"/>
          </p:cNvSpPr>
          <p:nvPr>
            <p:ph type="sldImg"/>
          </p:nvPr>
        </p:nvSpPr>
        <p:spPr>
          <a:ln/>
        </p:spPr>
      </p:sp>
      <p:sp>
        <p:nvSpPr>
          <p:cNvPr id="460803" name="Rectangle-3"/>
          <p:cNvSpPr>
            <a:spLocks noGrp="1" noChangeArrowheads="1"/>
          </p:cNvSpPr>
          <p:nvPr>
            <p:ph type="body" idx="1"/>
          </p:nvPr>
        </p:nvSpPr>
        <p:spPr/>
        <p:txBody>
          <a:bodyPr/>
          <a:lstStyle/>
          <a:p>
            <a:r>
              <a:rPr lang="en-US"/>
              <a:t>[W2K RK]</a:t>
            </a:r>
          </a:p>
          <a:p>
            <a:r>
              <a:rPr lang="en-US"/>
              <a:t>With the alerting function, you can define a counter value that will trigger actions such as sending a network message, running a program, or starting a log. Alerts are useful if you are not actively monitoring a particular counter threshold value but want to be notified when it exceeds or falls below a specified value so that you can investigate and determine the cause of the change. You might want to set alerts based on established performance baseline values for your system. </a:t>
            </a:r>
          </a:p>
          <a:p>
            <a:endParaRPr lang="en-US"/>
          </a:p>
          <a:p>
            <a:r>
              <a:rPr lang="en-US"/>
              <a:t>(http://www.microsoft.com/windows2000/en/server/help/default.asp?url=/windows2000/en/server/help/sag_mpmonperf_10.htm)</a:t>
            </a:r>
          </a:p>
          <a:p>
            <a:r>
              <a:rPr lang="en-US"/>
              <a:t>An alert threshold is when a selected counter’s value exceeds or falls below a specified setting. For example, you can set an alert on a counter, thereby defining that a message be sent, a program be run, or a log be started when the alert threshold has been exceeded. </a:t>
            </a:r>
          </a:p>
          <a:p>
            <a:endParaRPr lang="en-US"/>
          </a:p>
          <a:p>
            <a:endParaRPr lang="en-US"/>
          </a:p>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9D21D778-B565-4D7E-94D7-64010A445B68}" type="datetimeFigureOut">
              <a:rPr lang="en-US" smtClean="0"/>
              <a:pPr/>
              <a:t>4/24/2016</a:t>
            </a:fld>
            <a:endParaRPr lang="en-US"/>
          </a:p>
        </p:txBody>
      </p:sp>
      <p:sp>
        <p:nvSpPr>
          <p:cNvPr id="17" name="Espace réservé du pied de page 16"/>
          <p:cNvSpPr>
            <a:spLocks noGrp="1"/>
          </p:cNvSpPr>
          <p:nvPr>
            <p:ph type="ftr" sz="quarter" idx="11"/>
          </p:nvPr>
        </p:nvSpPr>
        <p:spPr/>
        <p:txBody>
          <a:bodyPr/>
          <a:lstStyle/>
          <a:p>
            <a:endParaRPr kumimoji="0" lang="en-US"/>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solidFill>
                  <a:schemeClr val="accent3">
                    <a:shade val="75000"/>
                  </a:schemeClr>
                </a:solidFill>
              </a:defRPr>
            </a:lvl1p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4/24/2016</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a:t>
            </a:fld>
            <a:endParaRPr kumimoji="0" lang="en-US" dirty="0"/>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4/24/2016</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9D21D778-B565-4D7E-94D7-64010A445B68}" type="datetimeFigureOut">
              <a:rPr lang="en-US" smtClean="0"/>
              <a:pPr/>
              <a:t>4/24/2016</a:t>
            </a:fld>
            <a:endParaRPr lang="en-US"/>
          </a:p>
        </p:txBody>
      </p:sp>
      <p:sp>
        <p:nvSpPr>
          <p:cNvPr id="6" name="Espace réservé du pied de page 5"/>
          <p:cNvSpPr>
            <a:spLocks noGrp="1"/>
          </p:cNvSpPr>
          <p:nvPr>
            <p:ph type="ftr" sz="quarter" idx="11"/>
          </p:nvPr>
        </p:nvSpPr>
        <p:spPr/>
        <p:txBody>
          <a:bodyPr/>
          <a:lstStyle/>
          <a:p>
            <a:endParaRPr kumimoji="0" lang="en-US" dirty="0"/>
          </a:p>
        </p:txBody>
      </p:sp>
      <p:sp>
        <p:nvSpPr>
          <p:cNvPr id="7" name="Espace réservé du numéro de diapositive 6"/>
          <p:cNvSpPr>
            <a:spLocks noGrp="1"/>
          </p:cNvSpPr>
          <p:nvPr>
            <p:ph type="sldNum" sz="quarter" idx="12"/>
          </p:nvPr>
        </p:nvSpPr>
        <p:spPr/>
        <p:txBody>
          <a:bodyPr/>
          <a:lstStyle/>
          <a:p>
            <a:fld id="{2C6B1FF6-39B9-40F5-8B67-33C6354A3D4F}"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9D21D778-B565-4D7E-94D7-64010A445B68}" type="datetimeFigureOut">
              <a:rPr lang="en-US" smtClean="0"/>
              <a:pPr/>
              <a:t>4/24/2016</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a:t>
            </a:fld>
            <a:endParaRPr kumimoji="0" lang="en-US" dirty="0"/>
          </a:p>
        </p:txBody>
      </p:sp>
      <p:sp>
        <p:nvSpPr>
          <p:cNvPr id="23" name="Titre 22"/>
          <p:cNvSpPr>
            <a:spLocks noGrp="1"/>
          </p:cNvSpPr>
          <p:nvPr>
            <p:ph type="title"/>
          </p:nvPr>
        </p:nvSpPr>
        <p:spPr/>
        <p:txBody>
          <a:bodyPr rtlCol="0" anchor="b" anchorCtr="0"/>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9D21D778-B565-4D7E-94D7-64010A445B68}" type="datetimeFigureOut">
              <a:rPr lang="en-US" smtClean="0"/>
              <a:pPr/>
              <a:t>4/24/2016</a:t>
            </a:fld>
            <a:endParaRPr lang="en-US"/>
          </a:p>
        </p:txBody>
      </p:sp>
      <p:sp>
        <p:nvSpPr>
          <p:cNvPr id="4" name="Espace réservé du pied de page 3"/>
          <p:cNvSpPr>
            <a:spLocks noGrp="1"/>
          </p:cNvSpPr>
          <p:nvPr>
            <p:ph type="ftr" sz="quarter" idx="11"/>
          </p:nvPr>
        </p:nvSpPr>
        <p:spPr/>
        <p:txBody>
          <a:bodyPr/>
          <a:lstStyle/>
          <a:p>
            <a:endParaRPr kumimoji="0" lang="en-US" dirty="0"/>
          </a:p>
        </p:txBody>
      </p:sp>
      <p:sp>
        <p:nvSpPr>
          <p:cNvPr id="5" name="Espace réservé du numéro de diapositive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9D21D778-B565-4D7E-94D7-64010A445B68}" type="datetimeFigureOut">
              <a:rPr lang="en-US" smtClean="0"/>
              <a:pPr/>
              <a:t>4/24/2016</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a:t>
            </a:fld>
            <a:endParaRPr kumimoji="0" lang="en-US" dirty="0">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9D21D778-B565-4D7E-94D7-64010A445B68}" type="datetimeFigureOut">
              <a:rPr lang="en-US" smtClean="0"/>
              <a:pPr/>
              <a:t>4/24/2016</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a:t>
            </a:fld>
            <a:endParaRPr kumimoji="0" lang="en-US" dirty="0"/>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9D21D778-B565-4D7E-94D7-64010A445B68}" type="datetimeFigureOut">
              <a:rPr lang="en-US" smtClean="0"/>
              <a:pPr/>
              <a:t>4/24/2016</a:t>
            </a:fld>
            <a:endParaRPr lang="en-US" dirty="0"/>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4/24/2016</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a:t>
            </a:fld>
            <a:endParaRPr kumimoji="0" lang="en-US" dirty="0"/>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4/24/2016</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Titre. Contenu et 2 contenus">
    <p:spTree>
      <p:nvGrpSpPr>
        <p:cNvPr id="1" name=""/>
        <p:cNvGrpSpPr/>
        <p:nvPr/>
      </p:nvGrpSpPr>
      <p:grpSpPr>
        <a:xfrm>
          <a:off x="0" y="0"/>
          <a:ext cx="0" cy="0"/>
          <a:chOff x="0" y="0"/>
          <a:chExt cx="0" cy="0"/>
        </a:xfrm>
      </p:grpSpPr>
      <p:sp>
        <p:nvSpPr>
          <p:cNvPr id="2" name="Titre 1"/>
          <p:cNvSpPr>
            <a:spLocks noGrp="1"/>
          </p:cNvSpPr>
          <p:nvPr>
            <p:ph type="title"/>
          </p:nvPr>
        </p:nvSpPr>
        <p:spPr>
          <a:xfrm>
            <a:off x="838200" y="77788"/>
            <a:ext cx="7391400" cy="684212"/>
          </a:xfrm>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1050925" y="1447800"/>
            <a:ext cx="3436938" cy="4694238"/>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quarter" idx="2"/>
          </p:nvPr>
        </p:nvSpPr>
        <p:spPr>
          <a:xfrm>
            <a:off x="4640263" y="1447800"/>
            <a:ext cx="3436937" cy="2270125"/>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contenu 4"/>
          <p:cNvSpPr>
            <a:spLocks noGrp="1"/>
          </p:cNvSpPr>
          <p:nvPr>
            <p:ph sz="quarter" idx="3"/>
          </p:nvPr>
        </p:nvSpPr>
        <p:spPr>
          <a:xfrm>
            <a:off x="4640263" y="3870325"/>
            <a:ext cx="3436937" cy="2271713"/>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D21D778-B565-4D7E-94D7-64010A445B68}" type="datetimeFigureOut">
              <a:rPr lang="en-US" smtClean="0"/>
              <a:pPr algn="r" eaLnBrk="1" latinLnBrk="0" hangingPunct="1"/>
              <a:t>4/24/2016</a:t>
            </a:fld>
            <a:endParaRPr lang="en-US" sz="1400" dirty="0">
              <a:solidFill>
                <a:srgbClr val="FFFFFF"/>
              </a:solidFill>
            </a:endParaRPr>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a:t>
            </a:fld>
            <a:endParaRPr kumimoji="0" lang="en-US" sz="1600" dirty="0">
              <a:solidFill>
                <a:schemeClr val="accent3">
                  <a:shade val="75000"/>
                </a:schemeClr>
              </a:solidFill>
            </a:endParaRPr>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80" name="Rectangle-4"/>
          <p:cNvSpPr>
            <a:spLocks noGrp="1" noChangeArrowheads="1"/>
          </p:cNvSpPr>
          <p:nvPr>
            <p:ph type="ctrTitle"/>
          </p:nvPr>
        </p:nvSpPr>
        <p:spPr>
          <a:xfrm>
            <a:off x="457199" y="2786207"/>
            <a:ext cx="8201891" cy="2884488"/>
          </a:xfrm>
        </p:spPr>
        <p:txBody>
          <a:bodyPr>
            <a:noAutofit/>
          </a:bodyPr>
          <a:lstStyle/>
          <a:p>
            <a:r>
              <a:rPr lang="fr-FR" altLang="zh-CN" sz="4800" dirty="0" smtClean="0">
                <a:solidFill>
                  <a:srgbClr val="000000"/>
                </a:solidFill>
                <a:ea typeface="SimSun" pitchFamily="2" charset="-122"/>
                <a:cs typeface="Arial Narrow" pitchFamily="34" charset="0"/>
              </a:rPr>
              <a:t>Chapitre 10</a:t>
            </a:r>
            <a:br>
              <a:rPr lang="fr-FR" altLang="zh-CN" sz="4800" dirty="0" smtClean="0">
                <a:solidFill>
                  <a:srgbClr val="000000"/>
                </a:solidFill>
                <a:ea typeface="SimSun" pitchFamily="2" charset="-122"/>
                <a:cs typeface="Arial Narrow" pitchFamily="34" charset="0"/>
              </a:rPr>
            </a:br>
            <a:r>
              <a:rPr lang="fr-FR" altLang="zh-CN" sz="4800" dirty="0" smtClean="0">
                <a:solidFill>
                  <a:srgbClr val="000000"/>
                </a:solidFill>
                <a:ea typeface="SimSun" pitchFamily="2" charset="-122"/>
                <a:cs typeface="Arial Narrow" pitchFamily="34" charset="0"/>
              </a:rPr>
              <a:t>Préparation </a:t>
            </a:r>
            <a:r>
              <a:rPr lang="fr-FR" altLang="zh-CN" sz="4800" dirty="0">
                <a:solidFill>
                  <a:srgbClr val="000000"/>
                </a:solidFill>
                <a:ea typeface="SimSun" pitchFamily="2" charset="-122"/>
                <a:cs typeface="Arial Narrow" pitchFamily="34" charset="0"/>
              </a:rPr>
              <a:t>de l'analyse des performances du serveur</a:t>
            </a:r>
            <a:r>
              <a:rPr lang="en-IE" altLang="zh-CN" sz="4800" dirty="0">
                <a:solidFill>
                  <a:srgbClr val="000000"/>
                </a:solidFill>
                <a:ea typeface="SimSun" pitchFamily="2" charset="-122"/>
                <a:cs typeface="Arial Narrow" pitchFamily="34" charset="0"/>
              </a:rPr>
              <a:t> </a:t>
            </a:r>
          </a:p>
        </p:txBody>
      </p:sp>
      <p:sp>
        <p:nvSpPr>
          <p:cNvPr id="4" name="ZoneTexte 3"/>
          <p:cNvSpPr txBox="1"/>
          <p:nvPr/>
        </p:nvSpPr>
        <p:spPr>
          <a:xfrm>
            <a:off x="1620965" y="1122218"/>
            <a:ext cx="5957455" cy="830997"/>
          </a:xfrm>
          <a:prstGeom prst="rect">
            <a:avLst/>
          </a:prstGeom>
          <a:noFill/>
        </p:spPr>
        <p:txBody>
          <a:bodyPr wrap="square" rtlCol="0">
            <a:spAutoFit/>
          </a:bodyPr>
          <a:lstStyle/>
          <a:p>
            <a:r>
              <a:rPr lang="fr-FR" sz="4800" dirty="0" smtClean="0"/>
              <a:t>Module S42</a:t>
            </a:r>
            <a:endParaRPr lang="fr-FR" sz="4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2"/>
          <p:cNvSpPr>
            <a:spLocks noGrp="1" noChangeArrowheads="1"/>
          </p:cNvSpPr>
          <p:nvPr>
            <p:ph type="title"/>
          </p:nvPr>
        </p:nvSpPr>
        <p:spPr/>
        <p:txBody>
          <a:bodyPr/>
          <a:lstStyle/>
          <a:p>
            <a:r>
              <a:rPr lang="fr-FR" altLang="zh-CN" b="1" dirty="0" smtClean="0">
                <a:solidFill>
                  <a:srgbClr val="000000"/>
                </a:solidFill>
                <a:ea typeface="SimSun" pitchFamily="2" charset="-122"/>
                <a:cs typeface="Arial Narrow" pitchFamily="34" charset="0"/>
              </a:rPr>
              <a:t>Plan du cours</a:t>
            </a:r>
            <a:endParaRPr lang="en-US" altLang="zh-CN" b="1" dirty="0">
              <a:solidFill>
                <a:srgbClr val="000000"/>
              </a:solidFill>
              <a:ea typeface="SimSun" pitchFamily="2" charset="-122"/>
              <a:cs typeface="Arial Narrow" pitchFamily="34" charset="0"/>
            </a:endParaRPr>
          </a:p>
        </p:txBody>
      </p:sp>
      <p:sp>
        <p:nvSpPr>
          <p:cNvPr id="287747" name="Rectangle-3"/>
          <p:cNvSpPr>
            <a:spLocks noGrp="1" noChangeArrowheads="1"/>
          </p:cNvSpPr>
          <p:nvPr>
            <p:ph sz="quarter" idx="1"/>
          </p:nvPr>
        </p:nvSpPr>
        <p:spPr>
          <a:xfrm>
            <a:off x="301752" y="2247485"/>
            <a:ext cx="8503920" cy="2837134"/>
          </a:xfrm>
        </p:spPr>
        <p:txBody>
          <a:bodyPr/>
          <a:lstStyle/>
          <a:p>
            <a:pPr marL="514350" indent="-514350">
              <a:buClrTx/>
              <a:buFont typeface="+mj-lt"/>
              <a:buAutoNum type="arabicPeriod"/>
            </a:pPr>
            <a:r>
              <a:rPr lang="fr-FR" altLang="zh-CN" b="1" dirty="0">
                <a:solidFill>
                  <a:srgbClr val="000000"/>
                </a:solidFill>
                <a:ea typeface="SimSun" pitchFamily="2" charset="-122"/>
                <a:cs typeface="Arial Narrow" pitchFamily="34" charset="0"/>
              </a:rPr>
              <a:t>Présentation de l'analyse des performances du serveur</a:t>
            </a:r>
            <a:r>
              <a:rPr lang="en-IE" altLang="zh-CN" b="1" dirty="0">
                <a:solidFill>
                  <a:srgbClr val="000000"/>
                </a:solidFill>
                <a:ea typeface="SimSun" pitchFamily="2" charset="-122"/>
                <a:cs typeface="Arial Narrow" pitchFamily="34" charset="0"/>
              </a:rPr>
              <a:t> </a:t>
            </a:r>
            <a:endParaRPr lang="en-US" altLang="zh-CN" b="1" dirty="0">
              <a:ea typeface="SimSun" pitchFamily="2" charset="-122"/>
              <a:cs typeface="Arial Narrow" pitchFamily="34" charset="0"/>
            </a:endParaRPr>
          </a:p>
          <a:p>
            <a:pPr marL="514350" indent="-514350">
              <a:buClrTx/>
              <a:buFont typeface="+mj-lt"/>
              <a:buAutoNum type="arabicPeriod"/>
            </a:pPr>
            <a:r>
              <a:rPr lang="fr-FR" altLang="zh-CN" b="1" dirty="0">
                <a:solidFill>
                  <a:srgbClr val="000000"/>
                </a:solidFill>
                <a:ea typeface="SimSun" pitchFamily="2" charset="-122"/>
                <a:cs typeface="Arial Narrow" pitchFamily="34" charset="0"/>
              </a:rPr>
              <a:t>Analyse en temps réel et programmée</a:t>
            </a:r>
            <a:r>
              <a:rPr lang="en-IE" altLang="zh-CN" b="1" dirty="0">
                <a:solidFill>
                  <a:srgbClr val="000000"/>
                </a:solidFill>
                <a:ea typeface="SimSun" pitchFamily="2" charset="-122"/>
                <a:cs typeface="Arial Narrow" pitchFamily="34" charset="0"/>
              </a:rPr>
              <a:t> </a:t>
            </a:r>
            <a:endParaRPr lang="en-US" altLang="zh-CN" b="1" dirty="0">
              <a:ea typeface="SimSun" pitchFamily="2" charset="-122"/>
              <a:cs typeface="Arial Narrow" pitchFamily="34" charset="0"/>
            </a:endParaRPr>
          </a:p>
          <a:p>
            <a:pPr marL="514350" indent="-514350">
              <a:buClrTx/>
              <a:buFont typeface="+mj-lt"/>
              <a:buAutoNum type="arabicPeriod"/>
            </a:pPr>
            <a:r>
              <a:rPr lang="fr-FR" altLang="zh-CN" b="1" dirty="0">
                <a:solidFill>
                  <a:srgbClr val="000000"/>
                </a:solidFill>
                <a:ea typeface="SimSun" pitchFamily="2" charset="-122"/>
                <a:cs typeface="Arial Narrow" pitchFamily="34" charset="0"/>
              </a:rPr>
              <a:t>Configuration et gestion des journaux de compteur</a:t>
            </a:r>
            <a:r>
              <a:rPr lang="en-IE" altLang="zh-CN" b="1" dirty="0">
                <a:solidFill>
                  <a:srgbClr val="000000"/>
                </a:solidFill>
                <a:ea typeface="SimSun" pitchFamily="2" charset="-122"/>
                <a:cs typeface="Arial Narrow" pitchFamily="34" charset="0"/>
              </a:rPr>
              <a:t> </a:t>
            </a:r>
            <a:r>
              <a:rPr lang="en-IE" altLang="zh-CN" b="1" dirty="0" smtClean="0">
                <a:solidFill>
                  <a:srgbClr val="000000"/>
                </a:solidFill>
                <a:ea typeface="SimSun" pitchFamily="2" charset="-122"/>
                <a:cs typeface="Arial Narrow" pitchFamily="34" charset="0"/>
              </a:rPr>
              <a:t>et </a:t>
            </a:r>
            <a:r>
              <a:rPr lang="fr-FR" altLang="zh-CN" b="1" dirty="0" smtClean="0">
                <a:solidFill>
                  <a:srgbClr val="000000"/>
                </a:solidFill>
                <a:ea typeface="SimSun" pitchFamily="2" charset="-122"/>
                <a:cs typeface="Arial Narrow" pitchFamily="34" charset="0"/>
              </a:rPr>
              <a:t>des </a:t>
            </a:r>
            <a:r>
              <a:rPr lang="fr-FR" altLang="zh-CN" b="1" dirty="0">
                <a:solidFill>
                  <a:srgbClr val="000000"/>
                </a:solidFill>
                <a:ea typeface="SimSun" pitchFamily="2" charset="-122"/>
                <a:cs typeface="Arial Narrow" pitchFamily="34" charset="0"/>
              </a:rPr>
              <a:t>alertes</a:t>
            </a:r>
            <a:r>
              <a:rPr lang="en-IE" altLang="zh-CN" b="1" dirty="0">
                <a:solidFill>
                  <a:srgbClr val="000000"/>
                </a:solidFill>
                <a:ea typeface="SimSun" pitchFamily="2" charset="-122"/>
                <a:cs typeface="Arial Narrow" pitchFamily="34" charset="0"/>
              </a:rPr>
              <a:t> </a:t>
            </a:r>
            <a:r>
              <a:rPr lang="en-US" altLang="zh-CN" b="1" dirty="0">
                <a:ea typeface="SimSun" pitchFamily="2" charset="-122"/>
                <a:cs typeface="Arial Narrow" pitchFamily="34" charset="0"/>
              </a:rPr>
              <a:t> </a:t>
            </a:r>
          </a:p>
          <a:p>
            <a:pPr marL="514350" indent="-514350">
              <a:buClrTx/>
              <a:buFont typeface="+mj-lt"/>
              <a:buAutoNum type="arabicPeriod"/>
            </a:pPr>
            <a:endParaRPr lang="en-US" altLang="zh-CN" b="1" dirty="0">
              <a:ea typeface="SimSun" pitchFamily="2" charset="-122"/>
              <a:cs typeface="Arial Narrow"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2"/>
          <p:cNvSpPr>
            <a:spLocks noGrp="1" noChangeArrowheads="1"/>
          </p:cNvSpPr>
          <p:nvPr>
            <p:ph type="title"/>
          </p:nvPr>
        </p:nvSpPr>
        <p:spPr>
          <a:xfrm>
            <a:off x="193964" y="221680"/>
            <a:ext cx="8950036" cy="854075"/>
          </a:xfrm>
        </p:spPr>
        <p:txBody>
          <a:bodyPr>
            <a:noAutofit/>
          </a:bodyPr>
          <a:lstStyle/>
          <a:p>
            <a:r>
              <a:rPr lang="fr-FR" altLang="zh-CN" sz="3000" b="1" dirty="0" smtClean="0">
                <a:solidFill>
                  <a:srgbClr val="000000"/>
                </a:solidFill>
                <a:ea typeface="SimSun" pitchFamily="2" charset="-122"/>
                <a:cs typeface="Arial Narrow" pitchFamily="34" charset="0"/>
              </a:rPr>
              <a:t>1. Présentation </a:t>
            </a:r>
            <a:r>
              <a:rPr lang="fr-FR" altLang="zh-CN" sz="3000" b="1" dirty="0">
                <a:solidFill>
                  <a:srgbClr val="000000"/>
                </a:solidFill>
                <a:ea typeface="SimSun" pitchFamily="2" charset="-122"/>
                <a:cs typeface="Arial Narrow" pitchFamily="34" charset="0"/>
              </a:rPr>
              <a:t>de l'analyse des performances </a:t>
            </a:r>
            <a:r>
              <a:rPr lang="fr-FR" altLang="zh-CN" sz="3000" b="1" dirty="0" smtClean="0">
                <a:solidFill>
                  <a:srgbClr val="000000"/>
                </a:solidFill>
                <a:ea typeface="SimSun" pitchFamily="2" charset="-122"/>
                <a:cs typeface="Arial Narrow" pitchFamily="34" charset="0"/>
              </a:rPr>
              <a:t> du </a:t>
            </a:r>
            <a:r>
              <a:rPr lang="fr-FR" altLang="zh-CN" sz="3000" b="1" dirty="0">
                <a:solidFill>
                  <a:srgbClr val="000000"/>
                </a:solidFill>
                <a:ea typeface="SimSun" pitchFamily="2" charset="-122"/>
                <a:cs typeface="Arial Narrow" pitchFamily="34" charset="0"/>
              </a:rPr>
              <a:t>serveur</a:t>
            </a:r>
            <a:r>
              <a:rPr lang="en-IE" altLang="zh-CN" sz="3000" b="1" dirty="0">
                <a:solidFill>
                  <a:srgbClr val="000000"/>
                </a:solidFill>
                <a:ea typeface="SimSun" pitchFamily="2" charset="-122"/>
                <a:cs typeface="Arial Narrow" pitchFamily="34" charset="0"/>
              </a:rPr>
              <a:t> </a:t>
            </a:r>
            <a:endParaRPr lang="en-US" altLang="zh-CN" sz="3000" b="1" dirty="0">
              <a:solidFill>
                <a:srgbClr val="000000"/>
              </a:solidFill>
              <a:ea typeface="SimSun" pitchFamily="2" charset="-122"/>
              <a:cs typeface="Arial Narrow" pitchFamily="34" charset="0"/>
            </a:endParaRPr>
          </a:p>
        </p:txBody>
      </p:sp>
      <p:sp>
        <p:nvSpPr>
          <p:cNvPr id="325635" name="Rectangle-3"/>
          <p:cNvSpPr>
            <a:spLocks noGrp="1" noChangeArrowheads="1"/>
          </p:cNvSpPr>
          <p:nvPr>
            <p:ph sz="quarter" idx="1"/>
          </p:nvPr>
        </p:nvSpPr>
        <p:spPr>
          <a:xfrm>
            <a:off x="379267" y="2120488"/>
            <a:ext cx="8279823" cy="2839459"/>
          </a:xfrm>
        </p:spPr>
        <p:txBody>
          <a:bodyPr>
            <a:normAutofit/>
          </a:bodyPr>
          <a:lstStyle/>
          <a:p>
            <a:pPr marL="514350" indent="-514350">
              <a:buClrTx/>
            </a:pPr>
            <a:r>
              <a:rPr lang="fr-FR" altLang="zh-CN" sz="3000" dirty="0">
                <a:solidFill>
                  <a:srgbClr val="000000"/>
                </a:solidFill>
                <a:ea typeface="SimSun" pitchFamily="2" charset="-122"/>
                <a:cs typeface="Arial Narrow" pitchFamily="34" charset="0"/>
              </a:rPr>
              <a:t>Pourquoi analyser les performances ?</a:t>
            </a:r>
            <a:r>
              <a:rPr lang="en-IE" altLang="zh-CN" sz="3000" dirty="0">
                <a:solidFill>
                  <a:srgbClr val="000000"/>
                </a:solidFill>
                <a:ea typeface="SimSun" pitchFamily="2" charset="-122"/>
                <a:cs typeface="Arial Narrow" pitchFamily="34" charset="0"/>
              </a:rPr>
              <a:t> </a:t>
            </a:r>
            <a:endParaRPr lang="en-US" altLang="zh-CN" sz="3000" dirty="0">
              <a:ea typeface="SimSun" pitchFamily="2" charset="-122"/>
              <a:cs typeface="Arial Narrow" pitchFamily="34" charset="0"/>
            </a:endParaRPr>
          </a:p>
          <a:p>
            <a:pPr marL="514350" indent="-514350">
              <a:buClrTx/>
            </a:pPr>
            <a:r>
              <a:rPr lang="fr-FR" altLang="zh-CN" sz="3000" dirty="0" smtClean="0">
                <a:solidFill>
                  <a:srgbClr val="000000"/>
                </a:solidFill>
                <a:ea typeface="SimSun" pitchFamily="2" charset="-122"/>
                <a:cs typeface="Arial Narrow" pitchFamily="34" charset="0"/>
              </a:rPr>
              <a:t>Création </a:t>
            </a:r>
            <a:r>
              <a:rPr lang="fr-FR" altLang="zh-CN" sz="3000" dirty="0">
                <a:solidFill>
                  <a:srgbClr val="000000"/>
                </a:solidFill>
                <a:ea typeface="SimSun" pitchFamily="2" charset="-122"/>
                <a:cs typeface="Arial Narrow" pitchFamily="34" charset="0"/>
              </a:rPr>
              <a:t>d'une ligne de base des performances</a:t>
            </a:r>
            <a:r>
              <a:rPr lang="en-IE" altLang="zh-CN" sz="3000" dirty="0">
                <a:solidFill>
                  <a:srgbClr val="000000"/>
                </a:solidFill>
                <a:ea typeface="SimSun" pitchFamily="2" charset="-122"/>
                <a:cs typeface="Arial Narrow" pitchFamily="34" charset="0"/>
              </a:rPr>
              <a:t> </a:t>
            </a:r>
            <a:endParaRPr lang="en-US" altLang="zh-CN" sz="3000" dirty="0">
              <a:ea typeface="SimSun" pitchFamily="2" charset="-122"/>
              <a:cs typeface="Arial Narrow" pitchFamily="34" charset="0"/>
            </a:endParaRPr>
          </a:p>
          <a:p>
            <a:pPr marL="514350" indent="-514350">
              <a:buClrTx/>
            </a:pPr>
            <a:r>
              <a:rPr lang="fr-FR" altLang="zh-CN" sz="3000" dirty="0">
                <a:solidFill>
                  <a:srgbClr val="000000"/>
                </a:solidFill>
                <a:ea typeface="SimSun" pitchFamily="2" charset="-122"/>
                <a:cs typeface="Arial Narrow" pitchFamily="34" charset="0"/>
              </a:rPr>
              <a:t>Instructions pour l'établissement d'une ligne de base</a:t>
            </a:r>
            <a:r>
              <a:rPr lang="en-IE" altLang="zh-CN" sz="3000" dirty="0">
                <a:solidFill>
                  <a:srgbClr val="000000"/>
                </a:solidFill>
                <a:ea typeface="SimSun" pitchFamily="2" charset="-122"/>
                <a:cs typeface="Arial Narrow" pitchFamily="34" charset="0"/>
              </a:rPr>
              <a:t> </a:t>
            </a:r>
            <a:endParaRPr lang="en-US" altLang="zh-CN" sz="3000" dirty="0">
              <a:solidFill>
                <a:srgbClr val="000000"/>
              </a:solidFill>
              <a:ea typeface="SimSun" pitchFamily="2" charset="-122"/>
              <a:cs typeface="Arial Narrow"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2" name="Rectangle-2"/>
          <p:cNvSpPr>
            <a:spLocks noGrp="1" noChangeArrowheads="1"/>
          </p:cNvSpPr>
          <p:nvPr>
            <p:ph type="title"/>
          </p:nvPr>
        </p:nvSpPr>
        <p:spPr>
          <a:xfrm>
            <a:off x="180109" y="242454"/>
            <a:ext cx="8780733" cy="758952"/>
          </a:xfrm>
        </p:spPr>
        <p:txBody>
          <a:bodyPr vert="horz" anchor="b">
            <a:normAutofit/>
          </a:bodyPr>
          <a:lstStyle/>
          <a:p>
            <a:r>
              <a:rPr lang="fr-FR" altLang="zh-CN" sz="3000" b="1" dirty="0" smtClean="0">
                <a:solidFill>
                  <a:srgbClr val="C00000"/>
                </a:solidFill>
                <a:ea typeface="SimSun" pitchFamily="2" charset="-122"/>
                <a:cs typeface="Arial Narrow" pitchFamily="34" charset="0"/>
              </a:rPr>
              <a:t>Pourquoi </a:t>
            </a:r>
            <a:r>
              <a:rPr lang="fr-FR" altLang="zh-CN" sz="3000" b="1" dirty="0">
                <a:solidFill>
                  <a:srgbClr val="C00000"/>
                </a:solidFill>
                <a:ea typeface="SimSun" pitchFamily="2" charset="-122"/>
                <a:cs typeface="Arial Narrow" pitchFamily="34" charset="0"/>
              </a:rPr>
              <a:t>analyser les performances ?</a:t>
            </a:r>
            <a:r>
              <a:rPr lang="en-IE" altLang="zh-CN" sz="3000" b="1" dirty="0">
                <a:solidFill>
                  <a:srgbClr val="C00000"/>
                </a:solidFill>
                <a:ea typeface="SimSun" pitchFamily="2" charset="-122"/>
                <a:cs typeface="Arial Narrow" pitchFamily="34" charset="0"/>
              </a:rPr>
              <a:t> </a:t>
            </a:r>
            <a:endParaRPr lang="en-US" altLang="zh-CN" sz="3000" b="1" dirty="0">
              <a:solidFill>
                <a:srgbClr val="C00000"/>
              </a:solidFill>
              <a:ea typeface="SimSun" pitchFamily="2" charset="-122"/>
              <a:cs typeface="Arial Narrow" pitchFamily="34" charset="0"/>
            </a:endParaRPr>
          </a:p>
        </p:txBody>
      </p:sp>
      <p:sp>
        <p:nvSpPr>
          <p:cNvPr id="532483" name="Rectangle-3"/>
          <p:cNvSpPr>
            <a:spLocks noGrp="1" noChangeArrowheads="1"/>
          </p:cNvSpPr>
          <p:nvPr>
            <p:ph sz="quarter" idx="1"/>
          </p:nvPr>
        </p:nvSpPr>
        <p:spPr>
          <a:xfrm>
            <a:off x="235528" y="1675113"/>
            <a:ext cx="8714508" cy="4697989"/>
          </a:xfrm>
        </p:spPr>
        <p:txBody>
          <a:bodyPr>
            <a:normAutofit/>
          </a:bodyPr>
          <a:lstStyle/>
          <a:p>
            <a:pPr>
              <a:lnSpc>
                <a:spcPct val="80000"/>
              </a:lnSpc>
              <a:spcBef>
                <a:spcPct val="20000"/>
              </a:spcBef>
              <a:buClrTx/>
              <a:buFont typeface="Wingdings" pitchFamily="2" charset="2"/>
              <a:buChar char="q"/>
            </a:pPr>
            <a:r>
              <a:rPr lang="fr-FR" altLang="zh-CN" dirty="0" smtClean="0">
                <a:solidFill>
                  <a:srgbClr val="000000"/>
                </a:solidFill>
                <a:ea typeface="SimSun" pitchFamily="2" charset="-122"/>
                <a:cs typeface="Arial Narrow" pitchFamily="34" charset="0"/>
              </a:rPr>
              <a:t>Obtenir </a:t>
            </a:r>
            <a:r>
              <a:rPr lang="fr-FR" altLang="zh-CN" dirty="0">
                <a:solidFill>
                  <a:srgbClr val="000000"/>
                </a:solidFill>
                <a:ea typeface="SimSun" pitchFamily="2" charset="-122"/>
                <a:cs typeface="Arial Narrow" pitchFamily="34" charset="0"/>
              </a:rPr>
              <a:t>des données qui sont utiles pour :</a:t>
            </a:r>
            <a:r>
              <a:rPr lang="en-IE" altLang="zh-CN" dirty="0">
                <a:solidFill>
                  <a:srgbClr val="000000"/>
                </a:solidFill>
                <a:ea typeface="SimSun" pitchFamily="2" charset="-122"/>
                <a:cs typeface="Arial Narrow" pitchFamily="34" charset="0"/>
              </a:rPr>
              <a:t> </a:t>
            </a:r>
            <a:endParaRPr lang="en-US" altLang="zh-CN" dirty="0">
              <a:ea typeface="SimSun" pitchFamily="2" charset="-122"/>
              <a:cs typeface="Arial Narrow" pitchFamily="34" charset="0"/>
            </a:endParaRPr>
          </a:p>
          <a:p>
            <a:pPr lvl="1">
              <a:lnSpc>
                <a:spcPct val="90000"/>
              </a:lnSpc>
              <a:spcBef>
                <a:spcPct val="20000"/>
              </a:spcBef>
              <a:spcAft>
                <a:spcPts val="600"/>
              </a:spcAft>
            </a:pPr>
            <a:r>
              <a:rPr lang="fr-FR" altLang="zh-CN" sz="2300" dirty="0">
                <a:solidFill>
                  <a:srgbClr val="C00000"/>
                </a:solidFill>
                <a:ea typeface="SimSun" pitchFamily="2" charset="-122"/>
                <a:cs typeface="Arial Narrow" pitchFamily="34" charset="0"/>
              </a:rPr>
              <a:t>Comprendre la charge de travail et son incidence sur les ressources du système</a:t>
            </a:r>
            <a:r>
              <a:rPr lang="en-IE" altLang="zh-CN" sz="2300" dirty="0">
                <a:solidFill>
                  <a:srgbClr val="C00000"/>
                </a:solidFill>
                <a:ea typeface="SimSun" pitchFamily="2" charset="-122"/>
              </a:rPr>
              <a:t> </a:t>
            </a:r>
            <a:endParaRPr lang="en-US" altLang="zh-CN" sz="2300" dirty="0">
              <a:solidFill>
                <a:srgbClr val="C00000"/>
              </a:solidFill>
              <a:ea typeface="SimSun" pitchFamily="2" charset="-122"/>
            </a:endParaRPr>
          </a:p>
          <a:p>
            <a:pPr lvl="1">
              <a:lnSpc>
                <a:spcPct val="90000"/>
              </a:lnSpc>
              <a:spcBef>
                <a:spcPct val="20000"/>
              </a:spcBef>
              <a:spcAft>
                <a:spcPts val="600"/>
              </a:spcAft>
            </a:pPr>
            <a:r>
              <a:rPr lang="fr-FR" altLang="zh-CN" sz="2300" dirty="0">
                <a:solidFill>
                  <a:srgbClr val="C00000"/>
                </a:solidFill>
                <a:ea typeface="SimSun" pitchFamily="2" charset="-122"/>
              </a:rPr>
              <a:t>Observer les modifications et les tendances relatives à cette charge et à l'utilisation des ressources afin de planifier les mises à niveau ultérieures</a:t>
            </a:r>
            <a:r>
              <a:rPr lang="en-IE" altLang="zh-CN" sz="2300" dirty="0">
                <a:solidFill>
                  <a:srgbClr val="C00000"/>
                </a:solidFill>
                <a:ea typeface="SimSun" pitchFamily="2" charset="-122"/>
              </a:rPr>
              <a:t> </a:t>
            </a:r>
            <a:endParaRPr lang="en-US" altLang="zh-CN" sz="2300" dirty="0">
              <a:solidFill>
                <a:srgbClr val="C00000"/>
              </a:solidFill>
              <a:ea typeface="SimSun" pitchFamily="2" charset="-122"/>
            </a:endParaRPr>
          </a:p>
          <a:p>
            <a:pPr lvl="1">
              <a:lnSpc>
                <a:spcPct val="90000"/>
              </a:lnSpc>
              <a:spcBef>
                <a:spcPct val="20000"/>
              </a:spcBef>
              <a:spcAft>
                <a:spcPts val="600"/>
              </a:spcAft>
            </a:pPr>
            <a:r>
              <a:rPr lang="fr-FR" altLang="zh-CN" sz="2300" dirty="0">
                <a:solidFill>
                  <a:srgbClr val="C00000"/>
                </a:solidFill>
                <a:ea typeface="SimSun" pitchFamily="2" charset="-122"/>
              </a:rPr>
              <a:t>Tester les changements de configuration ou tout autre effort de réglage en analysant les résultats</a:t>
            </a:r>
            <a:r>
              <a:rPr lang="en-IE" altLang="zh-CN" sz="2300" dirty="0">
                <a:solidFill>
                  <a:srgbClr val="C00000"/>
                </a:solidFill>
                <a:ea typeface="SimSun" pitchFamily="2" charset="-122"/>
              </a:rPr>
              <a:t> </a:t>
            </a:r>
            <a:endParaRPr lang="en-US" altLang="zh-CN" sz="2300" dirty="0">
              <a:solidFill>
                <a:srgbClr val="C00000"/>
              </a:solidFill>
              <a:ea typeface="SimSun" pitchFamily="2" charset="-122"/>
            </a:endParaRPr>
          </a:p>
          <a:p>
            <a:pPr lvl="1">
              <a:lnSpc>
                <a:spcPct val="90000"/>
              </a:lnSpc>
              <a:spcBef>
                <a:spcPct val="20000"/>
              </a:spcBef>
              <a:spcAft>
                <a:spcPts val="600"/>
              </a:spcAft>
            </a:pPr>
            <a:r>
              <a:rPr lang="fr-FR" altLang="zh-CN" sz="2300" dirty="0">
                <a:solidFill>
                  <a:srgbClr val="C00000"/>
                </a:solidFill>
                <a:ea typeface="SimSun" pitchFamily="2" charset="-122"/>
              </a:rPr>
              <a:t>Diagnostiquer les problèmes et identifier les composants ou les processus pour optimiser les performances</a:t>
            </a:r>
            <a:r>
              <a:rPr lang="en-IE" altLang="zh-CN" dirty="0">
                <a:solidFill>
                  <a:srgbClr val="000000"/>
                </a:solidFill>
                <a:ea typeface="SimSun" pitchFamily="2" charset="-122"/>
              </a:rPr>
              <a:t> </a:t>
            </a:r>
            <a:endParaRPr lang="en-US" altLang="zh-CN" dirty="0">
              <a:ea typeface="SimSun" pitchFamily="2" charset="-122"/>
            </a:endParaRPr>
          </a:p>
          <a:p>
            <a:pPr>
              <a:lnSpc>
                <a:spcPct val="80000"/>
              </a:lnSpc>
              <a:buClrTx/>
              <a:buFont typeface="Wingdings" pitchFamily="2" charset="2"/>
              <a:buChar char="q"/>
            </a:pPr>
            <a:r>
              <a:rPr lang="fr-FR" altLang="zh-CN" dirty="0" smtClean="0">
                <a:solidFill>
                  <a:srgbClr val="000000"/>
                </a:solidFill>
                <a:ea typeface="SimSun" pitchFamily="2" charset="-122"/>
                <a:cs typeface="Arial Narrow" pitchFamily="34" charset="0"/>
              </a:rPr>
              <a:t>Détecter </a:t>
            </a:r>
            <a:r>
              <a:rPr lang="fr-FR" altLang="zh-CN" dirty="0">
                <a:solidFill>
                  <a:srgbClr val="000000"/>
                </a:solidFill>
                <a:ea typeface="SimSun" pitchFamily="2" charset="-122"/>
                <a:cs typeface="Arial Narrow" pitchFamily="34" charset="0"/>
              </a:rPr>
              <a:t>les goulots d'étranglement</a:t>
            </a:r>
            <a:r>
              <a:rPr lang="en-IE" altLang="zh-CN" dirty="0">
                <a:solidFill>
                  <a:srgbClr val="000000"/>
                </a:solidFill>
                <a:ea typeface="SimSun" pitchFamily="2" charset="-122"/>
                <a:cs typeface="Arial Narrow" pitchFamily="34" charset="0"/>
              </a:rPr>
              <a:t> </a:t>
            </a:r>
            <a:endParaRPr lang="en-US" altLang="zh-CN" dirty="0">
              <a:solidFill>
                <a:srgbClr val="000000"/>
              </a:solidFill>
              <a:ea typeface="SimSun" pitchFamily="2" charset="-122"/>
              <a:cs typeface="Arial Narrow"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32483">
                                            <p:txEl>
                                              <p:pRg st="0" end="0"/>
                                            </p:txEl>
                                          </p:spTgt>
                                        </p:tgtEl>
                                        <p:attrNameLst>
                                          <p:attrName>style.visibility</p:attrName>
                                        </p:attrNameLst>
                                      </p:cBhvr>
                                      <p:to>
                                        <p:strVal val="visible"/>
                                      </p:to>
                                    </p:set>
                                    <p:animEffect transition="in" filter="checkerboard(across)">
                                      <p:cBhvr>
                                        <p:cTn id="7" dur="500"/>
                                        <p:tgtEl>
                                          <p:spTgt spid="5324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32483">
                                            <p:txEl>
                                              <p:pRg st="1" end="1"/>
                                            </p:txEl>
                                          </p:spTgt>
                                        </p:tgtEl>
                                        <p:attrNameLst>
                                          <p:attrName>style.visibility</p:attrName>
                                        </p:attrNameLst>
                                      </p:cBhvr>
                                      <p:to>
                                        <p:strVal val="visible"/>
                                      </p:to>
                                    </p:set>
                                    <p:animEffect transition="in" filter="checkerboard(across)">
                                      <p:cBhvr>
                                        <p:cTn id="12" dur="500"/>
                                        <p:tgtEl>
                                          <p:spTgt spid="5324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532483">
                                            <p:txEl>
                                              <p:pRg st="2" end="2"/>
                                            </p:txEl>
                                          </p:spTgt>
                                        </p:tgtEl>
                                        <p:attrNameLst>
                                          <p:attrName>style.visibility</p:attrName>
                                        </p:attrNameLst>
                                      </p:cBhvr>
                                      <p:to>
                                        <p:strVal val="visible"/>
                                      </p:to>
                                    </p:set>
                                    <p:animEffect transition="in" filter="checkerboard(across)">
                                      <p:cBhvr>
                                        <p:cTn id="17" dur="500"/>
                                        <p:tgtEl>
                                          <p:spTgt spid="53248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532483">
                                            <p:txEl>
                                              <p:pRg st="3" end="3"/>
                                            </p:txEl>
                                          </p:spTgt>
                                        </p:tgtEl>
                                        <p:attrNameLst>
                                          <p:attrName>style.visibility</p:attrName>
                                        </p:attrNameLst>
                                      </p:cBhvr>
                                      <p:to>
                                        <p:strVal val="visible"/>
                                      </p:to>
                                    </p:set>
                                    <p:animEffect transition="in" filter="checkerboard(across)">
                                      <p:cBhvr>
                                        <p:cTn id="22" dur="500"/>
                                        <p:tgtEl>
                                          <p:spTgt spid="53248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532483">
                                            <p:txEl>
                                              <p:pRg st="4" end="4"/>
                                            </p:txEl>
                                          </p:spTgt>
                                        </p:tgtEl>
                                        <p:attrNameLst>
                                          <p:attrName>style.visibility</p:attrName>
                                        </p:attrNameLst>
                                      </p:cBhvr>
                                      <p:to>
                                        <p:strVal val="visible"/>
                                      </p:to>
                                    </p:set>
                                    <p:animEffect transition="in" filter="checkerboard(across)">
                                      <p:cBhvr>
                                        <p:cTn id="27" dur="500"/>
                                        <p:tgtEl>
                                          <p:spTgt spid="53248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532483">
                                            <p:txEl>
                                              <p:pRg st="5" end="5"/>
                                            </p:txEl>
                                          </p:spTgt>
                                        </p:tgtEl>
                                        <p:attrNameLst>
                                          <p:attrName>style.visibility</p:attrName>
                                        </p:attrNameLst>
                                      </p:cBhvr>
                                      <p:to>
                                        <p:strVal val="visible"/>
                                      </p:to>
                                    </p:set>
                                    <p:animEffect transition="in" filter="checkerboard(across)">
                                      <p:cBhvr>
                                        <p:cTn id="32" dur="500"/>
                                        <p:tgtEl>
                                          <p:spTgt spid="53248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2"/>
          <p:cNvSpPr>
            <a:spLocks noGrp="1" noChangeArrowheads="1"/>
          </p:cNvSpPr>
          <p:nvPr>
            <p:ph type="title"/>
          </p:nvPr>
        </p:nvSpPr>
        <p:spPr>
          <a:xfrm>
            <a:off x="193963" y="249385"/>
            <a:ext cx="8769927" cy="835025"/>
          </a:xfrm>
        </p:spPr>
        <p:txBody>
          <a:bodyPr>
            <a:normAutofit fontScale="90000"/>
          </a:bodyPr>
          <a:lstStyle/>
          <a:p>
            <a:r>
              <a:rPr lang="fr-FR" altLang="zh-CN" b="1" dirty="0" smtClean="0">
                <a:solidFill>
                  <a:srgbClr val="C00000"/>
                </a:solidFill>
                <a:ea typeface="SimSun" pitchFamily="2" charset="-122"/>
                <a:cs typeface="Arial Narrow" pitchFamily="34" charset="0"/>
              </a:rPr>
              <a:t>Création </a:t>
            </a:r>
            <a:r>
              <a:rPr lang="fr-FR" altLang="zh-CN" b="1" dirty="0">
                <a:solidFill>
                  <a:srgbClr val="C00000"/>
                </a:solidFill>
                <a:ea typeface="SimSun" pitchFamily="2" charset="-122"/>
                <a:cs typeface="Arial Narrow" pitchFamily="34" charset="0"/>
              </a:rPr>
              <a:t>d'une ligne de base des performances</a:t>
            </a:r>
            <a:endParaRPr lang="en-US" altLang="zh-CN" b="1" dirty="0">
              <a:solidFill>
                <a:srgbClr val="C00000"/>
              </a:solidFill>
              <a:ea typeface="SimSun" pitchFamily="2" charset="-122"/>
              <a:cs typeface="Arial Narrow" pitchFamily="34" charset="0"/>
            </a:endParaRPr>
          </a:p>
        </p:txBody>
      </p:sp>
      <p:sp>
        <p:nvSpPr>
          <p:cNvPr id="399364" name="Rectangle-4"/>
          <p:cNvSpPr>
            <a:spLocks noGrp="1" noChangeArrowheads="1"/>
          </p:cNvSpPr>
          <p:nvPr>
            <p:ph sz="quarter" idx="1"/>
          </p:nvPr>
        </p:nvSpPr>
        <p:spPr>
          <a:xfrm>
            <a:off x="193964" y="1939636"/>
            <a:ext cx="8728363" cy="3574473"/>
          </a:xfrm>
        </p:spPr>
        <p:txBody>
          <a:bodyPr>
            <a:normAutofit/>
          </a:bodyPr>
          <a:lstStyle/>
          <a:p>
            <a:r>
              <a:rPr lang="fr-FR" altLang="zh-CN" dirty="0" smtClean="0">
                <a:solidFill>
                  <a:srgbClr val="000000"/>
                </a:solidFill>
                <a:ea typeface="SimSun" pitchFamily="2" charset="-122"/>
                <a:cs typeface="Arial Narrow" pitchFamily="34" charset="0"/>
              </a:rPr>
              <a:t>Une ligne de base est le niveau de performances système que vous définissez comme acceptable.</a:t>
            </a:r>
          </a:p>
          <a:p>
            <a:r>
              <a:rPr lang="fr-FR" altLang="zh-CN" dirty="0" smtClean="0">
                <a:solidFill>
                  <a:srgbClr val="000000"/>
                </a:solidFill>
                <a:ea typeface="SimSun" pitchFamily="2" charset="-122"/>
                <a:cs typeface="Arial Narrow" pitchFamily="34" charset="0"/>
              </a:rPr>
              <a:t>Une ligne de base permet de:</a:t>
            </a:r>
          </a:p>
          <a:p>
            <a:pPr lvl="1"/>
            <a:r>
              <a:rPr lang="fr-FR" altLang="zh-CN" sz="2400" dirty="0" smtClean="0">
                <a:solidFill>
                  <a:srgbClr val="000000"/>
                </a:solidFill>
                <a:ea typeface="SimSun" pitchFamily="2" charset="-122"/>
                <a:cs typeface="Arial Narrow" pitchFamily="34" charset="0"/>
              </a:rPr>
              <a:t>Observer les tendances relatives aux charges de travail et à l’utilisation des ressources </a:t>
            </a:r>
          </a:p>
          <a:p>
            <a:pPr lvl="1"/>
            <a:r>
              <a:rPr lang="fr-FR" altLang="zh-CN" sz="2400" dirty="0" smtClean="0">
                <a:solidFill>
                  <a:srgbClr val="000000"/>
                </a:solidFill>
                <a:ea typeface="SimSun" pitchFamily="2" charset="-122"/>
                <a:cs typeface="Arial Narrow" pitchFamily="34" charset="0"/>
              </a:rPr>
              <a:t>Tester les modifications de configuration </a:t>
            </a:r>
          </a:p>
          <a:p>
            <a:pPr lvl="1"/>
            <a:r>
              <a:rPr lang="fr-FR" altLang="zh-CN" sz="2400" dirty="0" smtClean="0">
                <a:solidFill>
                  <a:srgbClr val="000000"/>
                </a:solidFill>
                <a:ea typeface="SimSun" pitchFamily="2" charset="-122"/>
                <a:cs typeface="Arial Narrow" pitchFamily="34" charset="0"/>
              </a:rPr>
              <a:t>Détecter les éventuels problèmes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99364">
                                            <p:txEl>
                                              <p:pRg st="0" end="0"/>
                                            </p:txEl>
                                          </p:spTgt>
                                        </p:tgtEl>
                                        <p:attrNameLst>
                                          <p:attrName>style.visibility</p:attrName>
                                        </p:attrNameLst>
                                      </p:cBhvr>
                                      <p:to>
                                        <p:strVal val="visible"/>
                                      </p:to>
                                    </p:set>
                                    <p:animEffect transition="in" filter="checkerboard(across)">
                                      <p:cBhvr>
                                        <p:cTn id="7" dur="500"/>
                                        <p:tgtEl>
                                          <p:spTgt spid="39936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99364">
                                            <p:txEl>
                                              <p:pRg st="1" end="1"/>
                                            </p:txEl>
                                          </p:spTgt>
                                        </p:tgtEl>
                                        <p:attrNameLst>
                                          <p:attrName>style.visibility</p:attrName>
                                        </p:attrNameLst>
                                      </p:cBhvr>
                                      <p:to>
                                        <p:strVal val="visible"/>
                                      </p:to>
                                    </p:set>
                                    <p:animEffect transition="in" filter="checkerboard(across)">
                                      <p:cBhvr>
                                        <p:cTn id="12" dur="500"/>
                                        <p:tgtEl>
                                          <p:spTgt spid="399364">
                                            <p:txEl>
                                              <p:pRg st="1" end="1"/>
                                            </p:txEl>
                                          </p:spTgt>
                                        </p:tgtEl>
                                      </p:cBhvr>
                                    </p:animEffect>
                                  </p:childTnLst>
                                </p:cTn>
                              </p:par>
                            </p:childTnLst>
                          </p:cTn>
                        </p:par>
                        <p:par>
                          <p:cTn id="13" fill="hold">
                            <p:stCondLst>
                              <p:cond delay="500"/>
                            </p:stCondLst>
                            <p:childTnLst>
                              <p:par>
                                <p:cTn id="14" presetID="5" presetClass="entr" presetSubtype="10" fill="hold" nodeType="afterEffect">
                                  <p:stCondLst>
                                    <p:cond delay="0"/>
                                  </p:stCondLst>
                                  <p:childTnLst>
                                    <p:set>
                                      <p:cBhvr>
                                        <p:cTn id="15" dur="1" fill="hold">
                                          <p:stCondLst>
                                            <p:cond delay="0"/>
                                          </p:stCondLst>
                                        </p:cTn>
                                        <p:tgtEl>
                                          <p:spTgt spid="399364">
                                            <p:txEl>
                                              <p:pRg st="2" end="2"/>
                                            </p:txEl>
                                          </p:spTgt>
                                        </p:tgtEl>
                                        <p:attrNameLst>
                                          <p:attrName>style.visibility</p:attrName>
                                        </p:attrNameLst>
                                      </p:cBhvr>
                                      <p:to>
                                        <p:strVal val="visible"/>
                                      </p:to>
                                    </p:set>
                                    <p:animEffect transition="in" filter="checkerboard(across)">
                                      <p:cBhvr>
                                        <p:cTn id="16" dur="500"/>
                                        <p:tgtEl>
                                          <p:spTgt spid="399364">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399364">
                                            <p:txEl>
                                              <p:pRg st="3" end="3"/>
                                            </p:txEl>
                                          </p:spTgt>
                                        </p:tgtEl>
                                        <p:attrNameLst>
                                          <p:attrName>style.visibility</p:attrName>
                                        </p:attrNameLst>
                                      </p:cBhvr>
                                      <p:to>
                                        <p:strVal val="visible"/>
                                      </p:to>
                                    </p:set>
                                    <p:animEffect transition="in" filter="checkerboard(across)">
                                      <p:cBhvr>
                                        <p:cTn id="21" dur="500"/>
                                        <p:tgtEl>
                                          <p:spTgt spid="399364">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399364">
                                            <p:txEl>
                                              <p:pRg st="4" end="4"/>
                                            </p:txEl>
                                          </p:spTgt>
                                        </p:tgtEl>
                                        <p:attrNameLst>
                                          <p:attrName>style.visibility</p:attrName>
                                        </p:attrNameLst>
                                      </p:cBhvr>
                                      <p:to>
                                        <p:strVal val="visible"/>
                                      </p:to>
                                    </p:set>
                                    <p:animEffect transition="in" filter="checkerboard(across)">
                                      <p:cBhvr>
                                        <p:cTn id="26" dur="500"/>
                                        <p:tgtEl>
                                          <p:spTgt spid="39936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2"/>
          <p:cNvSpPr>
            <a:spLocks noGrp="1" noChangeArrowheads="1"/>
          </p:cNvSpPr>
          <p:nvPr>
            <p:ph type="title"/>
          </p:nvPr>
        </p:nvSpPr>
        <p:spPr>
          <a:xfrm>
            <a:off x="193963" y="249385"/>
            <a:ext cx="8769927" cy="835025"/>
          </a:xfrm>
        </p:spPr>
        <p:txBody>
          <a:bodyPr>
            <a:normAutofit fontScale="90000"/>
          </a:bodyPr>
          <a:lstStyle/>
          <a:p>
            <a:r>
              <a:rPr lang="fr-FR" altLang="zh-CN" b="1" dirty="0" smtClean="0">
                <a:solidFill>
                  <a:srgbClr val="C00000"/>
                </a:solidFill>
                <a:ea typeface="SimSun" pitchFamily="2" charset="-122"/>
                <a:cs typeface="Arial Narrow" pitchFamily="34" charset="0"/>
              </a:rPr>
              <a:t>Création </a:t>
            </a:r>
            <a:r>
              <a:rPr lang="fr-FR" altLang="zh-CN" b="1" dirty="0">
                <a:solidFill>
                  <a:srgbClr val="C00000"/>
                </a:solidFill>
                <a:ea typeface="SimSun" pitchFamily="2" charset="-122"/>
                <a:cs typeface="Arial Narrow" pitchFamily="34" charset="0"/>
              </a:rPr>
              <a:t>d'une ligne de base des performances</a:t>
            </a:r>
            <a:endParaRPr lang="en-US" altLang="zh-CN" b="1" dirty="0">
              <a:solidFill>
                <a:srgbClr val="C00000"/>
              </a:solidFill>
              <a:ea typeface="SimSun" pitchFamily="2" charset="-122"/>
              <a:cs typeface="Arial Narrow" pitchFamily="34" charset="0"/>
            </a:endParaRPr>
          </a:p>
        </p:txBody>
      </p:sp>
      <p:sp>
        <p:nvSpPr>
          <p:cNvPr id="399364" name="Rectangle-4"/>
          <p:cNvSpPr>
            <a:spLocks noGrp="1" noChangeArrowheads="1"/>
          </p:cNvSpPr>
          <p:nvPr>
            <p:ph sz="quarter" idx="1"/>
          </p:nvPr>
        </p:nvSpPr>
        <p:spPr>
          <a:xfrm>
            <a:off x="166255" y="1524000"/>
            <a:ext cx="8783781" cy="5043054"/>
          </a:xfrm>
        </p:spPr>
        <p:txBody>
          <a:bodyPr>
            <a:normAutofit lnSpcReduction="10000"/>
          </a:bodyPr>
          <a:lstStyle/>
          <a:p>
            <a:pPr>
              <a:buNone/>
            </a:pPr>
            <a:r>
              <a:rPr lang="fr-FR" dirty="0" smtClean="0"/>
              <a:t>Principales étapes de création d’une ligne de base</a:t>
            </a:r>
          </a:p>
          <a:p>
            <a:pPr marL="457200" indent="-457200">
              <a:buClr>
                <a:schemeClr val="tx1"/>
              </a:buClr>
              <a:buFont typeface="+mj-lt"/>
              <a:buAutoNum type="arabicPeriod"/>
            </a:pPr>
            <a:r>
              <a:rPr lang="fr-FR" sz="2400" dirty="0" smtClean="0">
                <a:solidFill>
                  <a:srgbClr val="C00000"/>
                </a:solidFill>
              </a:rPr>
              <a:t>Identifier les ressources</a:t>
            </a:r>
          </a:p>
          <a:p>
            <a:pPr lvl="1"/>
            <a:r>
              <a:rPr lang="fr-FR" sz="2300" dirty="0" smtClean="0"/>
              <a:t>Mémoire</a:t>
            </a:r>
          </a:p>
          <a:p>
            <a:pPr lvl="1"/>
            <a:r>
              <a:rPr lang="fr-FR" sz="2300" dirty="0" smtClean="0"/>
              <a:t>Processeur</a:t>
            </a:r>
          </a:p>
          <a:p>
            <a:pPr lvl="1"/>
            <a:r>
              <a:rPr lang="fr-FR" sz="2300" dirty="0" smtClean="0"/>
              <a:t>Disque physique</a:t>
            </a:r>
          </a:p>
          <a:p>
            <a:pPr lvl="1"/>
            <a:r>
              <a:rPr lang="fr-FR" sz="2300" dirty="0" smtClean="0"/>
              <a:t>Réseau</a:t>
            </a:r>
            <a:endParaRPr lang="fr-FR" dirty="0" smtClean="0"/>
          </a:p>
          <a:p>
            <a:pPr marL="514350" indent="-514350">
              <a:buClrTx/>
              <a:buFont typeface="+mj-lt"/>
              <a:buAutoNum type="arabicPeriod"/>
            </a:pPr>
            <a:r>
              <a:rPr lang="fr-FR" sz="2400" dirty="0" smtClean="0">
                <a:solidFill>
                  <a:srgbClr val="C00000"/>
                </a:solidFill>
              </a:rPr>
              <a:t>Capturer les données</a:t>
            </a:r>
          </a:p>
          <a:p>
            <a:pPr marL="514350" indent="-514350">
              <a:buClrTx/>
              <a:buFont typeface="+mj-lt"/>
              <a:buAutoNum type="arabicPeriod"/>
            </a:pPr>
            <a:endParaRPr lang="fr-FR" sz="2400" dirty="0" smtClean="0"/>
          </a:p>
          <a:p>
            <a:pPr marL="514350" indent="-514350">
              <a:buClrTx/>
              <a:buFont typeface="+mj-lt"/>
              <a:buAutoNum type="arabicPeriod"/>
            </a:pPr>
            <a:endParaRPr lang="fr-FR" sz="2400" dirty="0" smtClean="0"/>
          </a:p>
          <a:p>
            <a:pPr marL="514350" indent="-514350">
              <a:buClrTx/>
              <a:buFont typeface="+mj-lt"/>
              <a:buAutoNum type="arabicPeriod"/>
            </a:pPr>
            <a:r>
              <a:rPr lang="fr-FR" sz="2400" dirty="0" smtClean="0">
                <a:solidFill>
                  <a:srgbClr val="C00000"/>
                </a:solidFill>
              </a:rPr>
              <a:t>Enregistrer les données</a:t>
            </a:r>
          </a:p>
          <a:p>
            <a:pPr lvl="2"/>
            <a:r>
              <a:rPr lang="fr-FR" altLang="zh-CN" dirty="0" smtClean="0">
                <a:ea typeface="SimSun" pitchFamily="2" charset="-122"/>
                <a:cs typeface="Arial Narrow" pitchFamily="34" charset="0"/>
              </a:rPr>
              <a:t>Une analyse ultérieure</a:t>
            </a:r>
          </a:p>
          <a:p>
            <a:pPr lvl="2"/>
            <a:r>
              <a:rPr lang="fr-FR" altLang="zh-CN" dirty="0" smtClean="0">
                <a:ea typeface="SimSun" pitchFamily="2" charset="-122"/>
                <a:cs typeface="Arial Narrow" pitchFamily="34" charset="0"/>
              </a:rPr>
              <a:t>Une exportation pour des rapports</a:t>
            </a:r>
            <a:endParaRPr lang="en-US" altLang="zh-CN" dirty="0">
              <a:ea typeface="SimSun" pitchFamily="2" charset="-122"/>
              <a:cs typeface="Arial Narrow" pitchFamily="34" charset="0"/>
            </a:endParaRPr>
          </a:p>
        </p:txBody>
      </p:sp>
      <p:pic>
        <p:nvPicPr>
          <p:cNvPr id="423939" name="Picture 3"/>
          <p:cNvPicPr>
            <a:picLocks noChangeAspect="1" noChangeArrowheads="1"/>
          </p:cNvPicPr>
          <p:nvPr/>
        </p:nvPicPr>
        <p:blipFill>
          <a:blip r:embed="rId3"/>
          <a:srcRect r="49980" b="22566"/>
          <a:stretch>
            <a:fillRect/>
          </a:stretch>
        </p:blipFill>
        <p:spPr bwMode="auto">
          <a:xfrm>
            <a:off x="4068610" y="2846928"/>
            <a:ext cx="4382663" cy="2140707"/>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99364">
                                            <p:txEl>
                                              <p:pRg st="0" end="0"/>
                                            </p:txEl>
                                          </p:spTgt>
                                        </p:tgtEl>
                                        <p:attrNameLst>
                                          <p:attrName>style.visibility</p:attrName>
                                        </p:attrNameLst>
                                      </p:cBhvr>
                                      <p:to>
                                        <p:strVal val="visible"/>
                                      </p:to>
                                    </p:set>
                                    <p:animEffect transition="in" filter="checkerboard(across)">
                                      <p:cBhvr>
                                        <p:cTn id="7" dur="500"/>
                                        <p:tgtEl>
                                          <p:spTgt spid="39936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99364">
                                            <p:txEl>
                                              <p:pRg st="1" end="1"/>
                                            </p:txEl>
                                          </p:spTgt>
                                        </p:tgtEl>
                                        <p:attrNameLst>
                                          <p:attrName>style.visibility</p:attrName>
                                        </p:attrNameLst>
                                      </p:cBhvr>
                                      <p:to>
                                        <p:strVal val="visible"/>
                                      </p:to>
                                    </p:set>
                                    <p:animEffect transition="in" filter="checkerboard(across)">
                                      <p:cBhvr>
                                        <p:cTn id="12" dur="500"/>
                                        <p:tgtEl>
                                          <p:spTgt spid="399364">
                                            <p:txEl>
                                              <p:pRg st="1" end="1"/>
                                            </p:txEl>
                                          </p:spTgt>
                                        </p:tgtEl>
                                      </p:cBhvr>
                                    </p:animEffect>
                                  </p:childTnLst>
                                </p:cTn>
                              </p:par>
                            </p:childTnLst>
                          </p:cTn>
                        </p:par>
                        <p:par>
                          <p:cTn id="13" fill="hold">
                            <p:stCondLst>
                              <p:cond delay="500"/>
                            </p:stCondLst>
                            <p:childTnLst>
                              <p:par>
                                <p:cTn id="14" presetID="5" presetClass="entr" presetSubtype="10" fill="hold" nodeType="afterEffect">
                                  <p:stCondLst>
                                    <p:cond delay="0"/>
                                  </p:stCondLst>
                                  <p:childTnLst>
                                    <p:set>
                                      <p:cBhvr>
                                        <p:cTn id="15" dur="1" fill="hold">
                                          <p:stCondLst>
                                            <p:cond delay="0"/>
                                          </p:stCondLst>
                                        </p:cTn>
                                        <p:tgtEl>
                                          <p:spTgt spid="399364">
                                            <p:txEl>
                                              <p:pRg st="2" end="2"/>
                                            </p:txEl>
                                          </p:spTgt>
                                        </p:tgtEl>
                                        <p:attrNameLst>
                                          <p:attrName>style.visibility</p:attrName>
                                        </p:attrNameLst>
                                      </p:cBhvr>
                                      <p:to>
                                        <p:strVal val="visible"/>
                                      </p:to>
                                    </p:set>
                                    <p:animEffect transition="in" filter="checkerboard(across)">
                                      <p:cBhvr>
                                        <p:cTn id="16" dur="500"/>
                                        <p:tgtEl>
                                          <p:spTgt spid="399364">
                                            <p:txEl>
                                              <p:pRg st="2" end="2"/>
                                            </p:txEl>
                                          </p:spTgt>
                                        </p:tgtEl>
                                      </p:cBhvr>
                                    </p:animEffect>
                                  </p:childTnLst>
                                </p:cTn>
                              </p:par>
                            </p:childTnLst>
                          </p:cTn>
                        </p:par>
                        <p:par>
                          <p:cTn id="17" fill="hold">
                            <p:stCondLst>
                              <p:cond delay="1000"/>
                            </p:stCondLst>
                            <p:childTnLst>
                              <p:par>
                                <p:cTn id="18" presetID="5" presetClass="entr" presetSubtype="10" fill="hold" nodeType="afterEffect">
                                  <p:stCondLst>
                                    <p:cond delay="0"/>
                                  </p:stCondLst>
                                  <p:childTnLst>
                                    <p:set>
                                      <p:cBhvr>
                                        <p:cTn id="19" dur="1" fill="hold">
                                          <p:stCondLst>
                                            <p:cond delay="0"/>
                                          </p:stCondLst>
                                        </p:cTn>
                                        <p:tgtEl>
                                          <p:spTgt spid="399364">
                                            <p:txEl>
                                              <p:pRg st="3" end="3"/>
                                            </p:txEl>
                                          </p:spTgt>
                                        </p:tgtEl>
                                        <p:attrNameLst>
                                          <p:attrName>style.visibility</p:attrName>
                                        </p:attrNameLst>
                                      </p:cBhvr>
                                      <p:to>
                                        <p:strVal val="visible"/>
                                      </p:to>
                                    </p:set>
                                    <p:animEffect transition="in" filter="checkerboard(across)">
                                      <p:cBhvr>
                                        <p:cTn id="20" dur="500"/>
                                        <p:tgtEl>
                                          <p:spTgt spid="399364">
                                            <p:txEl>
                                              <p:pRg st="3" end="3"/>
                                            </p:txEl>
                                          </p:spTgt>
                                        </p:tgtEl>
                                      </p:cBhvr>
                                    </p:animEffect>
                                  </p:childTnLst>
                                </p:cTn>
                              </p:par>
                            </p:childTnLst>
                          </p:cTn>
                        </p:par>
                        <p:par>
                          <p:cTn id="21" fill="hold">
                            <p:stCondLst>
                              <p:cond delay="1500"/>
                            </p:stCondLst>
                            <p:childTnLst>
                              <p:par>
                                <p:cTn id="22" presetID="5" presetClass="entr" presetSubtype="10" fill="hold" nodeType="afterEffect">
                                  <p:stCondLst>
                                    <p:cond delay="0"/>
                                  </p:stCondLst>
                                  <p:childTnLst>
                                    <p:set>
                                      <p:cBhvr>
                                        <p:cTn id="23" dur="1" fill="hold">
                                          <p:stCondLst>
                                            <p:cond delay="0"/>
                                          </p:stCondLst>
                                        </p:cTn>
                                        <p:tgtEl>
                                          <p:spTgt spid="399364">
                                            <p:txEl>
                                              <p:pRg st="4" end="4"/>
                                            </p:txEl>
                                          </p:spTgt>
                                        </p:tgtEl>
                                        <p:attrNameLst>
                                          <p:attrName>style.visibility</p:attrName>
                                        </p:attrNameLst>
                                      </p:cBhvr>
                                      <p:to>
                                        <p:strVal val="visible"/>
                                      </p:to>
                                    </p:set>
                                    <p:animEffect transition="in" filter="checkerboard(across)">
                                      <p:cBhvr>
                                        <p:cTn id="24" dur="500"/>
                                        <p:tgtEl>
                                          <p:spTgt spid="399364">
                                            <p:txEl>
                                              <p:pRg st="4" end="4"/>
                                            </p:txEl>
                                          </p:spTgt>
                                        </p:tgtEl>
                                      </p:cBhvr>
                                    </p:animEffect>
                                  </p:childTnLst>
                                </p:cTn>
                              </p:par>
                            </p:childTnLst>
                          </p:cTn>
                        </p:par>
                        <p:par>
                          <p:cTn id="25" fill="hold">
                            <p:stCondLst>
                              <p:cond delay="2000"/>
                            </p:stCondLst>
                            <p:childTnLst>
                              <p:par>
                                <p:cTn id="26" presetID="5" presetClass="entr" presetSubtype="10" fill="hold" nodeType="afterEffect">
                                  <p:stCondLst>
                                    <p:cond delay="0"/>
                                  </p:stCondLst>
                                  <p:childTnLst>
                                    <p:set>
                                      <p:cBhvr>
                                        <p:cTn id="27" dur="1" fill="hold">
                                          <p:stCondLst>
                                            <p:cond delay="0"/>
                                          </p:stCondLst>
                                        </p:cTn>
                                        <p:tgtEl>
                                          <p:spTgt spid="399364">
                                            <p:txEl>
                                              <p:pRg st="5" end="5"/>
                                            </p:txEl>
                                          </p:spTgt>
                                        </p:tgtEl>
                                        <p:attrNameLst>
                                          <p:attrName>style.visibility</p:attrName>
                                        </p:attrNameLst>
                                      </p:cBhvr>
                                      <p:to>
                                        <p:strVal val="visible"/>
                                      </p:to>
                                    </p:set>
                                    <p:animEffect transition="in" filter="checkerboard(across)">
                                      <p:cBhvr>
                                        <p:cTn id="28" dur="500"/>
                                        <p:tgtEl>
                                          <p:spTgt spid="399364">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nodeType="clickEffect">
                                  <p:stCondLst>
                                    <p:cond delay="0"/>
                                  </p:stCondLst>
                                  <p:childTnLst>
                                    <p:set>
                                      <p:cBhvr>
                                        <p:cTn id="32" dur="1" fill="hold">
                                          <p:stCondLst>
                                            <p:cond delay="0"/>
                                          </p:stCondLst>
                                        </p:cTn>
                                        <p:tgtEl>
                                          <p:spTgt spid="399364">
                                            <p:txEl>
                                              <p:pRg st="6" end="6"/>
                                            </p:txEl>
                                          </p:spTgt>
                                        </p:tgtEl>
                                        <p:attrNameLst>
                                          <p:attrName>style.visibility</p:attrName>
                                        </p:attrNameLst>
                                      </p:cBhvr>
                                      <p:to>
                                        <p:strVal val="visible"/>
                                      </p:to>
                                    </p:set>
                                    <p:animEffect transition="in" filter="checkerboard(across)">
                                      <p:cBhvr>
                                        <p:cTn id="33" dur="500"/>
                                        <p:tgtEl>
                                          <p:spTgt spid="399364">
                                            <p:txEl>
                                              <p:pRg st="6" end="6"/>
                                            </p:txEl>
                                          </p:spTgt>
                                        </p:tgtEl>
                                      </p:cBhvr>
                                    </p:animEffect>
                                  </p:childTnLst>
                                </p:cTn>
                              </p:par>
                            </p:childTnLst>
                          </p:cTn>
                        </p:par>
                        <p:par>
                          <p:cTn id="34" fill="hold">
                            <p:stCondLst>
                              <p:cond delay="500"/>
                            </p:stCondLst>
                            <p:childTnLst>
                              <p:par>
                                <p:cTn id="35" presetID="22" presetClass="entr" presetSubtype="4" fill="hold" nodeType="afterEffect">
                                  <p:stCondLst>
                                    <p:cond delay="0"/>
                                  </p:stCondLst>
                                  <p:childTnLst>
                                    <p:set>
                                      <p:cBhvr>
                                        <p:cTn id="36" dur="1" fill="hold">
                                          <p:stCondLst>
                                            <p:cond delay="0"/>
                                          </p:stCondLst>
                                        </p:cTn>
                                        <p:tgtEl>
                                          <p:spTgt spid="423939"/>
                                        </p:tgtEl>
                                        <p:attrNameLst>
                                          <p:attrName>style.visibility</p:attrName>
                                        </p:attrNameLst>
                                      </p:cBhvr>
                                      <p:to>
                                        <p:strVal val="visible"/>
                                      </p:to>
                                    </p:set>
                                    <p:animEffect transition="in" filter="wipe(down)">
                                      <p:cBhvr>
                                        <p:cTn id="37" dur="500"/>
                                        <p:tgtEl>
                                          <p:spTgt spid="423939"/>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399364">
                                            <p:txEl>
                                              <p:pRg st="9" end="9"/>
                                            </p:txEl>
                                          </p:spTgt>
                                        </p:tgtEl>
                                        <p:attrNameLst>
                                          <p:attrName>style.visibility</p:attrName>
                                        </p:attrNameLst>
                                      </p:cBhvr>
                                      <p:to>
                                        <p:strVal val="visible"/>
                                      </p:to>
                                    </p:set>
                                    <p:animEffect transition="in" filter="checkerboard(across)">
                                      <p:cBhvr>
                                        <p:cTn id="42" dur="500"/>
                                        <p:tgtEl>
                                          <p:spTgt spid="399364">
                                            <p:txEl>
                                              <p:pRg st="9" end="9"/>
                                            </p:txEl>
                                          </p:spTgt>
                                        </p:tgtEl>
                                      </p:cBhvr>
                                    </p:animEffect>
                                  </p:childTnLst>
                                </p:cTn>
                              </p:par>
                            </p:childTnLst>
                          </p:cTn>
                        </p:par>
                        <p:par>
                          <p:cTn id="43" fill="hold">
                            <p:stCondLst>
                              <p:cond delay="500"/>
                            </p:stCondLst>
                            <p:childTnLst>
                              <p:par>
                                <p:cTn id="44" presetID="5" presetClass="entr" presetSubtype="10" fill="hold" nodeType="afterEffect">
                                  <p:stCondLst>
                                    <p:cond delay="0"/>
                                  </p:stCondLst>
                                  <p:childTnLst>
                                    <p:set>
                                      <p:cBhvr>
                                        <p:cTn id="45" dur="1" fill="hold">
                                          <p:stCondLst>
                                            <p:cond delay="0"/>
                                          </p:stCondLst>
                                        </p:cTn>
                                        <p:tgtEl>
                                          <p:spTgt spid="399364">
                                            <p:txEl>
                                              <p:pRg st="10" end="10"/>
                                            </p:txEl>
                                          </p:spTgt>
                                        </p:tgtEl>
                                        <p:attrNameLst>
                                          <p:attrName>style.visibility</p:attrName>
                                        </p:attrNameLst>
                                      </p:cBhvr>
                                      <p:to>
                                        <p:strVal val="visible"/>
                                      </p:to>
                                    </p:set>
                                    <p:animEffect transition="in" filter="checkerboard(across)">
                                      <p:cBhvr>
                                        <p:cTn id="46" dur="500"/>
                                        <p:tgtEl>
                                          <p:spTgt spid="399364">
                                            <p:txEl>
                                              <p:pRg st="10" end="10"/>
                                            </p:txEl>
                                          </p:spTgt>
                                        </p:tgtEl>
                                      </p:cBhvr>
                                    </p:animEffect>
                                  </p:childTnLst>
                                </p:cTn>
                              </p:par>
                            </p:childTnLst>
                          </p:cTn>
                        </p:par>
                        <p:par>
                          <p:cTn id="47" fill="hold">
                            <p:stCondLst>
                              <p:cond delay="1000"/>
                            </p:stCondLst>
                            <p:childTnLst>
                              <p:par>
                                <p:cTn id="48" presetID="5" presetClass="entr" presetSubtype="10" fill="hold" nodeType="afterEffect">
                                  <p:stCondLst>
                                    <p:cond delay="0"/>
                                  </p:stCondLst>
                                  <p:childTnLst>
                                    <p:set>
                                      <p:cBhvr>
                                        <p:cTn id="49" dur="1" fill="hold">
                                          <p:stCondLst>
                                            <p:cond delay="0"/>
                                          </p:stCondLst>
                                        </p:cTn>
                                        <p:tgtEl>
                                          <p:spTgt spid="399364">
                                            <p:txEl>
                                              <p:pRg st="11" end="11"/>
                                            </p:txEl>
                                          </p:spTgt>
                                        </p:tgtEl>
                                        <p:attrNameLst>
                                          <p:attrName>style.visibility</p:attrName>
                                        </p:attrNameLst>
                                      </p:cBhvr>
                                      <p:to>
                                        <p:strVal val="visible"/>
                                      </p:to>
                                    </p:set>
                                    <p:animEffect transition="in" filter="checkerboard(across)">
                                      <p:cBhvr>
                                        <p:cTn id="50" dur="500"/>
                                        <p:tgtEl>
                                          <p:spTgt spid="39936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2"/>
          <p:cNvSpPr>
            <a:spLocks noGrp="1" noChangeArrowheads="1"/>
          </p:cNvSpPr>
          <p:nvPr>
            <p:ph type="title"/>
          </p:nvPr>
        </p:nvSpPr>
        <p:spPr>
          <a:xfrm>
            <a:off x="166255" y="277100"/>
            <a:ext cx="8797636" cy="844550"/>
          </a:xfrm>
        </p:spPr>
        <p:txBody>
          <a:bodyPr>
            <a:normAutofit fontScale="90000"/>
          </a:bodyPr>
          <a:lstStyle/>
          <a:p>
            <a:r>
              <a:rPr lang="fr-FR" altLang="zh-CN" b="1" dirty="0">
                <a:solidFill>
                  <a:srgbClr val="C00000"/>
                </a:solidFill>
                <a:ea typeface="SimSun" pitchFamily="2" charset="-122"/>
                <a:cs typeface="Arial Narrow" pitchFamily="34" charset="0"/>
              </a:rPr>
              <a:t>Instructions pour l'établissement d'une ligne </a:t>
            </a:r>
            <a:r>
              <a:rPr lang="fr-FR" altLang="zh-CN" b="1" dirty="0" smtClean="0">
                <a:solidFill>
                  <a:srgbClr val="C00000"/>
                </a:solidFill>
                <a:ea typeface="SimSun" pitchFamily="2" charset="-122"/>
                <a:cs typeface="Arial Narrow" pitchFamily="34" charset="0"/>
              </a:rPr>
              <a:t>de </a:t>
            </a:r>
            <a:r>
              <a:rPr lang="fr-FR" altLang="zh-CN" b="1" dirty="0">
                <a:solidFill>
                  <a:srgbClr val="C00000"/>
                </a:solidFill>
                <a:ea typeface="SimSun" pitchFamily="2" charset="-122"/>
                <a:cs typeface="Arial Narrow" pitchFamily="34" charset="0"/>
              </a:rPr>
              <a:t>base</a:t>
            </a:r>
            <a:r>
              <a:rPr lang="en-IE" altLang="zh-CN" b="1" dirty="0">
                <a:solidFill>
                  <a:srgbClr val="C00000"/>
                </a:solidFill>
                <a:ea typeface="SimSun" pitchFamily="2" charset="-122"/>
                <a:cs typeface="Arial Narrow" pitchFamily="34" charset="0"/>
              </a:rPr>
              <a:t> </a:t>
            </a:r>
            <a:endParaRPr lang="en-US" altLang="zh-CN" b="1" dirty="0">
              <a:solidFill>
                <a:srgbClr val="C00000"/>
              </a:solidFill>
              <a:ea typeface="SimSun" pitchFamily="2" charset="-122"/>
              <a:cs typeface="Arial Narrow" pitchFamily="34" charset="0"/>
            </a:endParaRPr>
          </a:p>
        </p:txBody>
      </p:sp>
      <p:sp>
        <p:nvSpPr>
          <p:cNvPr id="545799" name="AutoShape-7"/>
          <p:cNvSpPr>
            <a:spLocks noChangeArrowheads="1"/>
          </p:cNvSpPr>
          <p:nvPr/>
        </p:nvSpPr>
        <p:spPr bwMode="auto">
          <a:xfrm>
            <a:off x="166255" y="1606703"/>
            <a:ext cx="8797636" cy="985837"/>
          </a:xfrm>
          <a:prstGeom prst="roundRect">
            <a:avLst>
              <a:gd name="adj" fmla="val 5796"/>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buSzPct val="80000"/>
              <a:buFontTx/>
              <a:buBlip>
                <a:blip r:embed="rId3"/>
              </a:buBlip>
            </a:pPr>
            <a:r>
              <a:rPr lang="fr-FR" altLang="zh-CN" sz="2400">
                <a:solidFill>
                  <a:srgbClr val="000000"/>
                </a:solidFill>
                <a:ea typeface="SimSun" pitchFamily="2" charset="-122"/>
                <a:cs typeface="Arial Narrow" pitchFamily="34" charset="0"/>
              </a:rPr>
              <a:t>La ligne de base repose sur des données collectées au fil du temps lors de charges de travail et de connexions utilisateur variées mais représentatives</a:t>
            </a:r>
            <a:r>
              <a:rPr lang="en-IE" altLang="zh-CN" sz="2400">
                <a:solidFill>
                  <a:srgbClr val="000000"/>
                </a:solidFill>
                <a:ea typeface="SimSun" pitchFamily="2" charset="-122"/>
                <a:cs typeface="Arial Narrow" pitchFamily="34" charset="0"/>
              </a:rPr>
              <a:t> </a:t>
            </a:r>
          </a:p>
        </p:txBody>
      </p:sp>
      <p:sp>
        <p:nvSpPr>
          <p:cNvPr id="545800" name="AutoShape-8"/>
          <p:cNvSpPr>
            <a:spLocks noChangeArrowheads="1"/>
          </p:cNvSpPr>
          <p:nvPr/>
        </p:nvSpPr>
        <p:spPr bwMode="auto">
          <a:xfrm>
            <a:off x="177367" y="2663978"/>
            <a:ext cx="8797636" cy="1162050"/>
          </a:xfrm>
          <a:prstGeom prst="roundRect">
            <a:avLst>
              <a:gd name="adj" fmla="val 5796"/>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buSzPct val="80000"/>
              <a:buFontTx/>
              <a:buBlip>
                <a:blip r:embed="rId3"/>
              </a:buBlip>
            </a:pPr>
            <a:r>
              <a:rPr lang="fr-FR" altLang="zh-CN" sz="2400">
                <a:solidFill>
                  <a:srgbClr val="000000"/>
                </a:solidFill>
                <a:ea typeface="SimSun" pitchFamily="2" charset="-122"/>
                <a:cs typeface="Arial Narrow" pitchFamily="34" charset="0"/>
              </a:rPr>
              <a:t>Lors de la définition des performances de base, prenez en compte les types de tâches effectuées ainsi que les heures et les jours au cours desquels elles ont été réalisées</a:t>
            </a:r>
            <a:r>
              <a:rPr lang="en-IE" altLang="zh-CN" sz="2400">
                <a:solidFill>
                  <a:srgbClr val="000000"/>
                </a:solidFill>
                <a:ea typeface="SimSun" pitchFamily="2" charset="-122"/>
                <a:cs typeface="Arial Narrow" pitchFamily="34" charset="0"/>
              </a:rPr>
              <a:t> </a:t>
            </a:r>
            <a:endParaRPr lang="en-US" altLang="zh-CN" sz="2400">
              <a:solidFill>
                <a:srgbClr val="000000"/>
              </a:solidFill>
              <a:ea typeface="SimSun" pitchFamily="2" charset="-122"/>
              <a:cs typeface="Arial Narrow" pitchFamily="34" charset="0"/>
            </a:endParaRPr>
          </a:p>
        </p:txBody>
      </p:sp>
      <p:sp>
        <p:nvSpPr>
          <p:cNvPr id="545801" name="AutoShape-9"/>
          <p:cNvSpPr>
            <a:spLocks noChangeArrowheads="1"/>
          </p:cNvSpPr>
          <p:nvPr/>
        </p:nvSpPr>
        <p:spPr bwMode="auto">
          <a:xfrm>
            <a:off x="166255" y="3910165"/>
            <a:ext cx="8797636" cy="1263650"/>
          </a:xfrm>
          <a:prstGeom prst="roundRect">
            <a:avLst>
              <a:gd name="adj" fmla="val 5796"/>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buSzPct val="80000"/>
              <a:buFontTx/>
              <a:buBlip>
                <a:blip r:embed="rId3"/>
              </a:buBlip>
            </a:pPr>
            <a:r>
              <a:rPr lang="fr-FR" altLang="zh-CN" sz="2400">
                <a:solidFill>
                  <a:srgbClr val="000000"/>
                </a:solidFill>
                <a:ea typeface="SimSun" pitchFamily="2" charset="-122"/>
                <a:cs typeface="Arial Narrow" pitchFamily="34" charset="0"/>
              </a:rPr>
              <a:t>Établissez les performances de base au début du déploiement, puis évaluez les performances actuelles par rapport à la ligne de base, au cours du déploiement</a:t>
            </a:r>
            <a:r>
              <a:rPr lang="en-IE" altLang="zh-CN" sz="2400">
                <a:solidFill>
                  <a:srgbClr val="000000"/>
                </a:solidFill>
                <a:ea typeface="SimSun" pitchFamily="2" charset="-122"/>
                <a:cs typeface="Arial Narrow" pitchFamily="34" charset="0"/>
              </a:rPr>
              <a:t> </a:t>
            </a:r>
            <a:endParaRPr lang="en-US" altLang="zh-CN" sz="2400">
              <a:solidFill>
                <a:srgbClr val="000000"/>
              </a:solidFill>
              <a:ea typeface="SimSun" pitchFamily="2" charset="-122"/>
              <a:cs typeface="Arial Narrow" pitchFamily="34" charset="0"/>
            </a:endParaRPr>
          </a:p>
        </p:txBody>
      </p:sp>
      <p:sp>
        <p:nvSpPr>
          <p:cNvPr id="545802" name="AutoShape-10"/>
          <p:cNvSpPr>
            <a:spLocks noChangeArrowheads="1"/>
          </p:cNvSpPr>
          <p:nvPr/>
        </p:nvSpPr>
        <p:spPr bwMode="auto">
          <a:xfrm>
            <a:off x="166255" y="5237315"/>
            <a:ext cx="8797636" cy="976313"/>
          </a:xfrm>
          <a:prstGeom prst="roundRect">
            <a:avLst>
              <a:gd name="adj" fmla="val 5796"/>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buSzPct val="80000"/>
              <a:buFontTx/>
              <a:buBlip>
                <a:blip r:embed="rId3"/>
              </a:buBlip>
            </a:pPr>
            <a:r>
              <a:rPr lang="fr-FR" altLang="zh-CN" sz="2400" dirty="0">
                <a:solidFill>
                  <a:srgbClr val="000000"/>
                </a:solidFill>
                <a:ea typeface="SimSun" pitchFamily="2" charset="-122"/>
                <a:cs typeface="Arial Narrow" pitchFamily="34" charset="0"/>
              </a:rPr>
              <a:t>Le fait d'établir les performances de base au plus tôt permet d'identifier rapidement les goulots d'étranglement du </a:t>
            </a:r>
            <a:r>
              <a:rPr lang="fr-FR" altLang="zh-CN" sz="2400" dirty="0" smtClean="0">
                <a:solidFill>
                  <a:srgbClr val="000000"/>
                </a:solidFill>
                <a:ea typeface="SimSun" pitchFamily="2" charset="-122"/>
                <a:cs typeface="Arial Narrow" pitchFamily="34" charset="0"/>
              </a:rPr>
              <a:t>système</a:t>
            </a:r>
            <a:endParaRPr lang="en-IE" altLang="zh-CN" sz="2400" dirty="0">
              <a:solidFill>
                <a:srgbClr val="000000"/>
              </a:solidFill>
              <a:ea typeface="SimSun" pitchFamily="2" charset="-122"/>
              <a:cs typeface="Arial Narrow"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45799"/>
                                        </p:tgtEl>
                                        <p:attrNameLst>
                                          <p:attrName>style.visibility</p:attrName>
                                        </p:attrNameLst>
                                      </p:cBhvr>
                                      <p:to>
                                        <p:strVal val="visible"/>
                                      </p:to>
                                    </p:set>
                                    <p:animEffect transition="in" filter="checkerboard(across)">
                                      <p:cBhvr>
                                        <p:cTn id="7" dur="500"/>
                                        <p:tgtEl>
                                          <p:spTgt spid="54579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45800"/>
                                        </p:tgtEl>
                                        <p:attrNameLst>
                                          <p:attrName>style.visibility</p:attrName>
                                        </p:attrNameLst>
                                      </p:cBhvr>
                                      <p:to>
                                        <p:strVal val="visible"/>
                                      </p:to>
                                    </p:set>
                                    <p:animEffect transition="in" filter="checkerboard(across)">
                                      <p:cBhvr>
                                        <p:cTn id="12" dur="500"/>
                                        <p:tgtEl>
                                          <p:spTgt spid="545800"/>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45801"/>
                                        </p:tgtEl>
                                        <p:attrNameLst>
                                          <p:attrName>style.visibility</p:attrName>
                                        </p:attrNameLst>
                                      </p:cBhvr>
                                      <p:to>
                                        <p:strVal val="visible"/>
                                      </p:to>
                                    </p:set>
                                    <p:animEffect transition="in" filter="checkerboard(across)">
                                      <p:cBhvr>
                                        <p:cTn id="17" dur="500"/>
                                        <p:tgtEl>
                                          <p:spTgt spid="545801"/>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45802"/>
                                        </p:tgtEl>
                                        <p:attrNameLst>
                                          <p:attrName>style.visibility</p:attrName>
                                        </p:attrNameLst>
                                      </p:cBhvr>
                                      <p:to>
                                        <p:strVal val="visible"/>
                                      </p:to>
                                    </p:set>
                                    <p:animEffect transition="in" filter="checkerboard(across)">
                                      <p:cBhvr>
                                        <p:cTn id="22" dur="500"/>
                                        <p:tgtEl>
                                          <p:spTgt spid="5458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5799" grpId="0" animBg="1"/>
      <p:bldP spid="545800" grpId="0" animBg="1"/>
      <p:bldP spid="545801" grpId="0" animBg="1"/>
      <p:bldP spid="54580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2"/>
          <p:cNvSpPr>
            <a:spLocks noGrp="1" noChangeArrowheads="1"/>
          </p:cNvSpPr>
          <p:nvPr>
            <p:ph type="title"/>
          </p:nvPr>
        </p:nvSpPr>
        <p:spPr>
          <a:xfrm>
            <a:off x="180109" y="228600"/>
            <a:ext cx="8797636" cy="758952"/>
          </a:xfrm>
        </p:spPr>
        <p:txBody>
          <a:bodyPr>
            <a:normAutofit fontScale="90000"/>
          </a:bodyPr>
          <a:lstStyle/>
          <a:p>
            <a:r>
              <a:rPr lang="fr-FR" altLang="zh-CN" b="1" dirty="0" smtClean="0">
                <a:solidFill>
                  <a:srgbClr val="000000"/>
                </a:solidFill>
                <a:ea typeface="SimSun" pitchFamily="2" charset="-122"/>
                <a:cs typeface="Arial Narrow" pitchFamily="34" charset="0"/>
              </a:rPr>
              <a:t>2. Analyse </a:t>
            </a:r>
            <a:r>
              <a:rPr lang="fr-FR" altLang="zh-CN" b="1" dirty="0">
                <a:solidFill>
                  <a:srgbClr val="000000"/>
                </a:solidFill>
                <a:ea typeface="SimSun" pitchFamily="2" charset="-122"/>
                <a:cs typeface="Arial Narrow" pitchFamily="34" charset="0"/>
              </a:rPr>
              <a:t>en temps réel et programmée</a:t>
            </a:r>
            <a:r>
              <a:rPr lang="en-IE" altLang="zh-CN" b="1" dirty="0">
                <a:solidFill>
                  <a:srgbClr val="000000"/>
                </a:solidFill>
                <a:ea typeface="SimSun" pitchFamily="2" charset="-122"/>
                <a:cs typeface="Arial Narrow" pitchFamily="34" charset="0"/>
              </a:rPr>
              <a:t> </a:t>
            </a:r>
            <a:endParaRPr lang="en-US" altLang="zh-CN" b="1" dirty="0">
              <a:solidFill>
                <a:srgbClr val="000000"/>
              </a:solidFill>
              <a:ea typeface="SimSun" pitchFamily="2" charset="-122"/>
              <a:cs typeface="Arial Narrow" pitchFamily="34" charset="0"/>
            </a:endParaRPr>
          </a:p>
        </p:txBody>
      </p:sp>
      <p:sp>
        <p:nvSpPr>
          <p:cNvPr id="533507" name="Rectangle-3"/>
          <p:cNvSpPr>
            <a:spLocks noGrp="1" noChangeArrowheads="1"/>
          </p:cNvSpPr>
          <p:nvPr>
            <p:ph sz="quarter" idx="1"/>
          </p:nvPr>
        </p:nvSpPr>
        <p:spPr>
          <a:xfrm>
            <a:off x="301752" y="1818004"/>
            <a:ext cx="8503920" cy="2476906"/>
          </a:xfrm>
        </p:spPr>
        <p:txBody>
          <a:bodyPr/>
          <a:lstStyle/>
          <a:p>
            <a:pPr>
              <a:buClr>
                <a:srgbClr val="C00000"/>
              </a:buClr>
              <a:buFont typeface="Wingdings" pitchFamily="2" charset="2"/>
              <a:buChar char="q"/>
            </a:pPr>
            <a:r>
              <a:rPr lang="fr-FR" altLang="zh-CN" dirty="0">
                <a:solidFill>
                  <a:srgbClr val="C00000"/>
                </a:solidFill>
                <a:ea typeface="SimSun" pitchFamily="2" charset="-122"/>
                <a:cs typeface="Arial Narrow" pitchFamily="34" charset="0"/>
              </a:rPr>
              <a:t>Qu'est-ce que l'analyse en temps réel et programmée ?</a:t>
            </a:r>
            <a:r>
              <a:rPr lang="en-IE" altLang="zh-CN" dirty="0">
                <a:solidFill>
                  <a:srgbClr val="C00000"/>
                </a:solidFill>
                <a:ea typeface="SimSun" pitchFamily="2" charset="-122"/>
                <a:cs typeface="Arial Narrow" pitchFamily="34" charset="0"/>
              </a:rPr>
              <a:t> </a:t>
            </a:r>
            <a:endParaRPr lang="en-US" altLang="zh-CN" dirty="0">
              <a:solidFill>
                <a:srgbClr val="C00000"/>
              </a:solidFill>
              <a:ea typeface="SimSun" pitchFamily="2" charset="-122"/>
              <a:cs typeface="Arial Narrow" pitchFamily="34" charset="0"/>
            </a:endParaRPr>
          </a:p>
          <a:p>
            <a:pPr>
              <a:buClr>
                <a:srgbClr val="C00000"/>
              </a:buClr>
              <a:buFont typeface="Wingdings" pitchFamily="2" charset="2"/>
              <a:buChar char="q"/>
            </a:pPr>
            <a:r>
              <a:rPr lang="fr-FR" altLang="zh-CN" dirty="0">
                <a:solidFill>
                  <a:srgbClr val="C00000"/>
                </a:solidFill>
                <a:ea typeface="SimSun" pitchFamily="2" charset="-122"/>
                <a:cs typeface="Arial Narrow" pitchFamily="34" charset="0"/>
              </a:rPr>
              <a:t>Qu'est-ce que le Gestionnaire des tâches ?</a:t>
            </a:r>
            <a:r>
              <a:rPr lang="en-IE" altLang="zh-CN" dirty="0">
                <a:solidFill>
                  <a:srgbClr val="C00000"/>
                </a:solidFill>
                <a:ea typeface="SimSun" pitchFamily="2" charset="-122"/>
                <a:cs typeface="Arial Narrow" pitchFamily="34" charset="0"/>
              </a:rPr>
              <a:t> </a:t>
            </a:r>
            <a:endParaRPr lang="en-US" altLang="zh-CN" dirty="0">
              <a:solidFill>
                <a:srgbClr val="C00000"/>
              </a:solidFill>
              <a:ea typeface="SimSun" pitchFamily="2" charset="-122"/>
              <a:cs typeface="Arial Narrow" pitchFamily="34" charset="0"/>
            </a:endParaRPr>
          </a:p>
          <a:p>
            <a:pPr>
              <a:buClr>
                <a:srgbClr val="C00000"/>
              </a:buClr>
              <a:buFont typeface="Wingdings" pitchFamily="2" charset="2"/>
              <a:buChar char="q"/>
            </a:pPr>
            <a:r>
              <a:rPr lang="fr-FR" altLang="zh-CN" dirty="0">
                <a:solidFill>
                  <a:srgbClr val="C00000"/>
                </a:solidFill>
                <a:ea typeface="SimSun" pitchFamily="2" charset="-122"/>
                <a:cs typeface="Arial Narrow" pitchFamily="34" charset="0"/>
              </a:rPr>
              <a:t>Qu'est-ce que la console Performances ?</a:t>
            </a:r>
            <a:r>
              <a:rPr lang="en-IE" altLang="zh-CN" dirty="0">
                <a:solidFill>
                  <a:srgbClr val="C00000"/>
                </a:solidFill>
                <a:ea typeface="SimSun" pitchFamily="2" charset="-122"/>
                <a:cs typeface="Arial Narrow" pitchFamily="34" charset="0"/>
              </a:rPr>
              <a:t> </a:t>
            </a:r>
            <a:endParaRPr lang="en-US" altLang="zh-CN" dirty="0">
              <a:solidFill>
                <a:srgbClr val="C00000"/>
              </a:solidFill>
              <a:ea typeface="SimSun" pitchFamily="2" charset="-122"/>
              <a:cs typeface="Arial Narrow" pitchFamily="34" charset="0"/>
            </a:endParaRPr>
          </a:p>
          <a:p>
            <a:pPr>
              <a:buClr>
                <a:srgbClr val="C00000"/>
              </a:buClr>
              <a:buFont typeface="Wingdings" pitchFamily="2" charset="2"/>
              <a:buChar char="q"/>
            </a:pPr>
            <a:r>
              <a:rPr lang="fr-FR" altLang="zh-CN" dirty="0" smtClean="0">
                <a:solidFill>
                  <a:srgbClr val="C00000"/>
                </a:solidFill>
                <a:ea typeface="SimSun" pitchFamily="2" charset="-122"/>
                <a:cs typeface="Arial Narrow" pitchFamily="34" charset="0"/>
              </a:rPr>
              <a:t>Pourquoi </a:t>
            </a:r>
            <a:r>
              <a:rPr lang="fr-FR" altLang="zh-CN" dirty="0">
                <a:solidFill>
                  <a:srgbClr val="C00000"/>
                </a:solidFill>
                <a:ea typeface="SimSun" pitchFamily="2" charset="-122"/>
                <a:cs typeface="Arial Narrow" pitchFamily="34" charset="0"/>
              </a:rPr>
              <a:t>analyser les serveurs à distance ?</a:t>
            </a:r>
            <a:r>
              <a:rPr lang="en-IE" altLang="zh-CN" dirty="0">
                <a:solidFill>
                  <a:srgbClr val="C00000"/>
                </a:solidFill>
                <a:ea typeface="SimSun" pitchFamily="2" charset="-122"/>
                <a:cs typeface="Arial Narrow" pitchFamily="34" charset="0"/>
              </a:rPr>
              <a:t> </a:t>
            </a:r>
            <a:endParaRPr lang="en-US" altLang="zh-CN" dirty="0">
              <a:solidFill>
                <a:srgbClr val="C00000"/>
              </a:solidFill>
              <a:ea typeface="SimSun" pitchFamily="2" charset="-122"/>
              <a:cs typeface="Arial Narrow" pitchFamily="34" charset="0"/>
            </a:endParaRPr>
          </a:p>
          <a:p>
            <a:pPr>
              <a:buClr>
                <a:srgbClr val="C00000"/>
              </a:buClr>
              <a:buFont typeface="Wingdings" pitchFamily="2" charset="2"/>
              <a:buChar char="q"/>
            </a:pPr>
            <a:endParaRPr lang="en-US" altLang="zh-CN" dirty="0">
              <a:solidFill>
                <a:srgbClr val="C00000"/>
              </a:solidFill>
              <a:ea typeface="SimSun" pitchFamily="2" charset="-122"/>
              <a:cs typeface="Arial Narrow"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2"/>
          <p:cNvSpPr>
            <a:spLocks noGrp="1" noChangeArrowheads="1"/>
          </p:cNvSpPr>
          <p:nvPr>
            <p:ph type="title"/>
          </p:nvPr>
        </p:nvSpPr>
        <p:spPr>
          <a:xfrm>
            <a:off x="173182" y="166255"/>
            <a:ext cx="8790709" cy="973573"/>
          </a:xfrm>
        </p:spPr>
        <p:txBody>
          <a:bodyPr>
            <a:normAutofit fontScale="90000"/>
          </a:bodyPr>
          <a:lstStyle/>
          <a:p>
            <a:r>
              <a:rPr lang="fr-FR" altLang="zh-CN" b="1" dirty="0">
                <a:solidFill>
                  <a:srgbClr val="C00000"/>
                </a:solidFill>
                <a:ea typeface="SimSun" pitchFamily="2" charset="-122"/>
                <a:cs typeface="Arial Narrow" pitchFamily="34" charset="0"/>
              </a:rPr>
              <a:t>Qu'est-ce que l'analyse en temps réel et programmée ?</a:t>
            </a:r>
            <a:endParaRPr lang="en-US" altLang="zh-CN" b="1" dirty="0">
              <a:solidFill>
                <a:srgbClr val="C00000"/>
              </a:solidFill>
              <a:ea typeface="SimSun" pitchFamily="2" charset="-122"/>
              <a:cs typeface="Arial Narrow" pitchFamily="34" charset="0"/>
            </a:endParaRPr>
          </a:p>
        </p:txBody>
      </p:sp>
      <p:sp>
        <p:nvSpPr>
          <p:cNvPr id="414723" name="AutoShape-3"/>
          <p:cNvSpPr>
            <a:spLocks noChangeArrowheads="1"/>
          </p:cNvSpPr>
          <p:nvPr/>
        </p:nvSpPr>
        <p:spPr bwMode="auto">
          <a:xfrm>
            <a:off x="166256" y="1233488"/>
            <a:ext cx="8769926" cy="2574925"/>
          </a:xfrm>
          <a:prstGeom prst="roundRect">
            <a:avLst>
              <a:gd name="adj" fmla="val 4167"/>
            </a:avLst>
          </a:prstGeom>
          <a:solidFill>
            <a:srgbClr val="B3C8DF"/>
          </a:solidFill>
          <a:ln w="9525">
            <a:solidFill>
              <a:srgbClr val="4D4D4D"/>
            </a:solidFill>
            <a:round/>
            <a:headEnd/>
            <a:tailEnd/>
          </a:ln>
          <a:effectLst>
            <a:outerShdw dist="35921" dir="2700000" algn="ctr" rotWithShape="0">
              <a:srgbClr val="AFAFAF"/>
            </a:outerShdw>
          </a:effectLst>
        </p:spPr>
        <p:txBody>
          <a:bodyPr/>
          <a:lstStyle/>
          <a:p>
            <a:pPr algn="l"/>
            <a:r>
              <a:rPr lang="fr-FR" altLang="zh-CN" sz="2200">
                <a:solidFill>
                  <a:srgbClr val="000000"/>
                </a:solidFill>
                <a:ea typeface="SimSun" pitchFamily="2" charset="-122"/>
                <a:cs typeface="Arial Narrow" pitchFamily="34" charset="0"/>
              </a:rPr>
              <a:t>Analyse en temps réel</a:t>
            </a:r>
            <a:r>
              <a:rPr lang="en-IE" altLang="zh-CN" sz="2200">
                <a:solidFill>
                  <a:srgbClr val="000000"/>
                </a:solidFill>
                <a:ea typeface="SimSun" pitchFamily="2" charset="-122"/>
                <a:cs typeface="Arial Narrow" pitchFamily="34" charset="0"/>
              </a:rPr>
              <a:t> </a:t>
            </a:r>
            <a:endParaRPr lang="en-US" altLang="zh-CN" sz="2200">
              <a:solidFill>
                <a:srgbClr val="000000"/>
              </a:solidFill>
              <a:ea typeface="SimSun" pitchFamily="2" charset="-122"/>
              <a:cs typeface="Arial Narrow" pitchFamily="34" charset="0"/>
            </a:endParaRPr>
          </a:p>
        </p:txBody>
      </p:sp>
      <p:sp>
        <p:nvSpPr>
          <p:cNvPr id="414725" name="AutoShape-5"/>
          <p:cNvSpPr>
            <a:spLocks noChangeArrowheads="1"/>
          </p:cNvSpPr>
          <p:nvPr/>
        </p:nvSpPr>
        <p:spPr bwMode="auto">
          <a:xfrm>
            <a:off x="166256" y="3887788"/>
            <a:ext cx="8783780" cy="2471448"/>
          </a:xfrm>
          <a:prstGeom prst="roundRect">
            <a:avLst>
              <a:gd name="adj" fmla="val 4167"/>
            </a:avLst>
          </a:prstGeom>
          <a:solidFill>
            <a:srgbClr val="B3C8DF"/>
          </a:solidFill>
          <a:ln w="9525">
            <a:solidFill>
              <a:srgbClr val="4D4D4D"/>
            </a:solidFill>
            <a:round/>
            <a:headEnd/>
            <a:tailEnd/>
          </a:ln>
          <a:effectLst>
            <a:outerShdw dist="35921" dir="2700000" algn="ctr" rotWithShape="0">
              <a:srgbClr val="AFAFAF"/>
            </a:outerShdw>
          </a:effectLst>
        </p:spPr>
        <p:txBody>
          <a:bodyPr/>
          <a:lstStyle/>
          <a:p>
            <a:pPr algn="l"/>
            <a:r>
              <a:rPr lang="fr-FR" altLang="zh-CN" sz="2200" dirty="0">
                <a:solidFill>
                  <a:srgbClr val="000000"/>
                </a:solidFill>
                <a:ea typeface="SimSun" pitchFamily="2" charset="-122"/>
                <a:cs typeface="Arial Narrow" pitchFamily="34" charset="0"/>
              </a:rPr>
              <a:t>Analyse programmée</a:t>
            </a:r>
            <a:r>
              <a:rPr lang="en-IE" altLang="zh-CN" sz="2200" dirty="0">
                <a:solidFill>
                  <a:srgbClr val="000000"/>
                </a:solidFill>
                <a:ea typeface="SimSun" pitchFamily="2" charset="-122"/>
                <a:cs typeface="Arial Narrow" pitchFamily="34" charset="0"/>
              </a:rPr>
              <a:t> </a:t>
            </a:r>
            <a:endParaRPr lang="en-US" altLang="zh-CN" sz="2200" dirty="0">
              <a:ea typeface="SimSun" pitchFamily="2" charset="-122"/>
              <a:cs typeface="Arial Narrow" pitchFamily="34" charset="0"/>
            </a:endParaRPr>
          </a:p>
          <a:p>
            <a:pPr algn="l"/>
            <a:endParaRPr lang="en-US" altLang="zh-CN" sz="2200" dirty="0">
              <a:ea typeface="SimSun" pitchFamily="2" charset="-122"/>
              <a:cs typeface="Arial Narrow" pitchFamily="34" charset="0"/>
            </a:endParaRPr>
          </a:p>
          <a:p>
            <a:pPr algn="l"/>
            <a:endParaRPr lang="en-US" altLang="zh-CN" sz="2200" b="0" dirty="0">
              <a:ea typeface="SimSun" pitchFamily="2" charset="-122"/>
              <a:cs typeface="Arial Narrow" pitchFamily="34" charset="0"/>
            </a:endParaRPr>
          </a:p>
        </p:txBody>
      </p:sp>
      <p:sp>
        <p:nvSpPr>
          <p:cNvPr id="414727" name="AutoShape-7"/>
          <p:cNvSpPr>
            <a:spLocks noChangeArrowheads="1"/>
          </p:cNvSpPr>
          <p:nvPr/>
        </p:nvSpPr>
        <p:spPr bwMode="auto">
          <a:xfrm>
            <a:off x="346363" y="1685925"/>
            <a:ext cx="8423563" cy="2062163"/>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25000"/>
              </a:spcBef>
              <a:buSzPct val="80000"/>
              <a:buFontTx/>
              <a:buBlip>
                <a:blip r:embed="rId3"/>
              </a:buBlip>
            </a:pPr>
            <a:r>
              <a:rPr lang="fr-FR" altLang="zh-CN" sz="2200" dirty="0">
                <a:solidFill>
                  <a:srgbClr val="000000"/>
                </a:solidFill>
                <a:ea typeface="SimSun" pitchFamily="2" charset="-122"/>
                <a:cs typeface="Arial Narrow" pitchFamily="34" charset="0"/>
              </a:rPr>
              <a:t>Implique le traitement et la mise à jour des compteurs de données dès la réception des données par le système d'exploitation</a:t>
            </a:r>
            <a:r>
              <a:rPr lang="en-IE" altLang="zh-CN" sz="2200" dirty="0">
                <a:solidFill>
                  <a:srgbClr val="000000"/>
                </a:solidFill>
                <a:ea typeface="SimSun" pitchFamily="2" charset="-122"/>
                <a:cs typeface="Arial Narrow" pitchFamily="34" charset="0"/>
              </a:rPr>
              <a:t> </a:t>
            </a:r>
            <a:endParaRPr lang="en-US" altLang="zh-CN" sz="2200" dirty="0">
              <a:ea typeface="SimSun" pitchFamily="2" charset="-122"/>
              <a:cs typeface="Arial Narrow" pitchFamily="34" charset="0"/>
            </a:endParaRPr>
          </a:p>
          <a:p>
            <a:pPr marL="231775" indent="-231775" algn="l">
              <a:lnSpc>
                <a:spcPct val="90000"/>
              </a:lnSpc>
              <a:spcBef>
                <a:spcPct val="25000"/>
              </a:spcBef>
              <a:buSzPct val="80000"/>
              <a:buFontTx/>
              <a:buBlip>
                <a:blip r:embed="rId3"/>
              </a:buBlip>
            </a:pPr>
            <a:r>
              <a:rPr lang="fr-FR" altLang="zh-CN" sz="2200" dirty="0">
                <a:solidFill>
                  <a:srgbClr val="000000"/>
                </a:solidFill>
                <a:ea typeface="SimSun" pitchFamily="2" charset="-122"/>
                <a:cs typeface="Arial Narrow" pitchFamily="34" charset="0"/>
              </a:rPr>
              <a:t>Détermine l'état actuel des quatre sous-systèmes : mémoire, processeur, disque et réseau</a:t>
            </a:r>
            <a:r>
              <a:rPr lang="en-IE" altLang="zh-CN" sz="2200" dirty="0">
                <a:solidFill>
                  <a:srgbClr val="000000"/>
                </a:solidFill>
                <a:ea typeface="SimSun" pitchFamily="2" charset="-122"/>
                <a:cs typeface="Arial Narrow" pitchFamily="34" charset="0"/>
              </a:rPr>
              <a:t> </a:t>
            </a:r>
            <a:endParaRPr lang="en-US" altLang="zh-CN" sz="2200" dirty="0">
              <a:ea typeface="SimSun" pitchFamily="2" charset="-122"/>
              <a:cs typeface="Arial Narrow" pitchFamily="34" charset="0"/>
            </a:endParaRPr>
          </a:p>
          <a:p>
            <a:pPr marL="231775" indent="-231775" algn="l">
              <a:lnSpc>
                <a:spcPct val="90000"/>
              </a:lnSpc>
              <a:spcBef>
                <a:spcPct val="25000"/>
              </a:spcBef>
              <a:buSzPct val="80000"/>
              <a:buFontTx/>
              <a:buBlip>
                <a:blip r:embed="rId3"/>
              </a:buBlip>
            </a:pPr>
            <a:r>
              <a:rPr lang="fr-FR" altLang="zh-CN" sz="2200" dirty="0">
                <a:solidFill>
                  <a:srgbClr val="000000"/>
                </a:solidFill>
                <a:ea typeface="SimSun" pitchFamily="2" charset="-122"/>
                <a:cs typeface="Arial Narrow" pitchFamily="34" charset="0"/>
              </a:rPr>
              <a:t>Outil utilisé : Moniteur système</a:t>
            </a:r>
            <a:r>
              <a:rPr lang="en-IE" altLang="zh-CN" sz="2200" dirty="0">
                <a:solidFill>
                  <a:srgbClr val="000000"/>
                </a:solidFill>
                <a:ea typeface="SimSun" pitchFamily="2" charset="-122"/>
                <a:cs typeface="Arial Narrow" pitchFamily="34" charset="0"/>
              </a:rPr>
              <a:t> </a:t>
            </a:r>
            <a:endParaRPr lang="en-US" altLang="zh-CN" sz="2200" dirty="0">
              <a:solidFill>
                <a:srgbClr val="000000"/>
              </a:solidFill>
              <a:ea typeface="SimSun" pitchFamily="2" charset="-122"/>
              <a:cs typeface="Arial Narrow" pitchFamily="34" charset="0"/>
            </a:endParaRPr>
          </a:p>
        </p:txBody>
      </p:sp>
      <p:sp>
        <p:nvSpPr>
          <p:cNvPr id="414728" name="AutoShape-8"/>
          <p:cNvSpPr>
            <a:spLocks noChangeArrowheads="1"/>
          </p:cNvSpPr>
          <p:nvPr/>
        </p:nvSpPr>
        <p:spPr bwMode="auto">
          <a:xfrm>
            <a:off x="374073" y="4410223"/>
            <a:ext cx="8340436" cy="1773237"/>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25000"/>
              </a:spcBef>
              <a:buSzPct val="80000"/>
              <a:buFontTx/>
              <a:buBlip>
                <a:blip r:embed="rId3"/>
              </a:buBlip>
            </a:pPr>
            <a:r>
              <a:rPr lang="fr-FR" altLang="zh-CN" sz="2200" dirty="0">
                <a:solidFill>
                  <a:srgbClr val="000000"/>
                </a:solidFill>
                <a:ea typeface="SimSun" pitchFamily="2" charset="-122"/>
                <a:cs typeface="Arial Narrow" pitchFamily="34" charset="0"/>
              </a:rPr>
              <a:t>Consiste à récupérer et à conserver des données sur une période donnée pour les analyser ultérieurement</a:t>
            </a:r>
            <a:r>
              <a:rPr lang="en-IE" altLang="zh-CN" sz="2200" dirty="0">
                <a:solidFill>
                  <a:srgbClr val="000000"/>
                </a:solidFill>
                <a:ea typeface="SimSun" pitchFamily="2" charset="-122"/>
                <a:cs typeface="Arial Narrow" pitchFamily="34" charset="0"/>
              </a:rPr>
              <a:t> </a:t>
            </a:r>
            <a:endParaRPr lang="en-US" altLang="zh-CN" sz="2200" dirty="0">
              <a:ea typeface="SimSun" pitchFamily="2" charset="-122"/>
              <a:cs typeface="Arial Narrow" pitchFamily="34" charset="0"/>
            </a:endParaRPr>
          </a:p>
          <a:p>
            <a:pPr marL="231775" indent="-231775" algn="l">
              <a:lnSpc>
                <a:spcPct val="90000"/>
              </a:lnSpc>
              <a:spcBef>
                <a:spcPct val="25000"/>
              </a:spcBef>
              <a:buSzPct val="80000"/>
              <a:buFontTx/>
              <a:buBlip>
                <a:blip r:embed="rId3"/>
              </a:buBlip>
            </a:pPr>
            <a:r>
              <a:rPr lang="fr-FR" altLang="zh-CN" sz="2200" dirty="0">
                <a:solidFill>
                  <a:srgbClr val="000000"/>
                </a:solidFill>
                <a:ea typeface="SimSun" pitchFamily="2" charset="-122"/>
                <a:cs typeface="Arial Narrow" pitchFamily="34" charset="0"/>
              </a:rPr>
              <a:t>Permet de détecter les goulots d'étranglement et de déterminer les modifications du système</a:t>
            </a:r>
            <a:r>
              <a:rPr lang="en-IE" altLang="zh-CN" sz="2200" dirty="0">
                <a:solidFill>
                  <a:srgbClr val="000000"/>
                </a:solidFill>
                <a:ea typeface="SimSun" pitchFamily="2" charset="-122"/>
                <a:cs typeface="Arial Narrow" pitchFamily="34" charset="0"/>
              </a:rPr>
              <a:t> </a:t>
            </a:r>
            <a:endParaRPr lang="en-US" altLang="zh-CN" sz="2200" dirty="0">
              <a:ea typeface="SimSun" pitchFamily="2" charset="-122"/>
              <a:cs typeface="Arial Narrow" pitchFamily="34" charset="0"/>
            </a:endParaRPr>
          </a:p>
          <a:p>
            <a:pPr marL="231775" indent="-231775" algn="l">
              <a:lnSpc>
                <a:spcPct val="90000"/>
              </a:lnSpc>
              <a:spcBef>
                <a:spcPct val="25000"/>
              </a:spcBef>
              <a:buSzPct val="80000"/>
              <a:buFontTx/>
              <a:buBlip>
                <a:blip r:embed="rId3"/>
              </a:buBlip>
            </a:pPr>
            <a:r>
              <a:rPr lang="fr-FR" altLang="zh-CN" sz="2200" dirty="0">
                <a:solidFill>
                  <a:srgbClr val="000000"/>
                </a:solidFill>
                <a:ea typeface="SimSun" pitchFamily="2" charset="-122"/>
                <a:cs typeface="Arial Narrow" pitchFamily="34" charset="0"/>
              </a:rPr>
              <a:t>Outil utilisé : Journaux et alertes de performance</a:t>
            </a:r>
            <a:r>
              <a:rPr lang="en-IE" altLang="zh-CN" sz="2200" dirty="0">
                <a:solidFill>
                  <a:srgbClr val="000000"/>
                </a:solidFill>
                <a:ea typeface="SimSun" pitchFamily="2" charset="-122"/>
                <a:cs typeface="Arial Narrow" pitchFamily="34" charset="0"/>
              </a:rPr>
              <a:t> </a:t>
            </a:r>
            <a:endParaRPr lang="en-US" altLang="zh-CN" sz="2200" dirty="0">
              <a:solidFill>
                <a:srgbClr val="000000"/>
              </a:solidFill>
              <a:ea typeface="SimSun" pitchFamily="2" charset="-122"/>
              <a:cs typeface="Arial Narrow"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14727"/>
                                        </p:tgtEl>
                                        <p:attrNameLst>
                                          <p:attrName>style.visibility</p:attrName>
                                        </p:attrNameLst>
                                      </p:cBhvr>
                                      <p:to>
                                        <p:strVal val="visible"/>
                                      </p:to>
                                    </p:set>
                                    <p:animEffect transition="in" filter="checkerboard(across)">
                                      <p:cBhvr>
                                        <p:cTn id="7" dur="500"/>
                                        <p:tgtEl>
                                          <p:spTgt spid="41472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14728"/>
                                        </p:tgtEl>
                                        <p:attrNameLst>
                                          <p:attrName>style.visibility</p:attrName>
                                        </p:attrNameLst>
                                      </p:cBhvr>
                                      <p:to>
                                        <p:strVal val="visible"/>
                                      </p:to>
                                    </p:set>
                                    <p:animEffect transition="in" filter="checkerboard(across)">
                                      <p:cBhvr>
                                        <p:cTn id="12" dur="500"/>
                                        <p:tgtEl>
                                          <p:spTgt spid="4147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7" grpId="0" animBg="1"/>
      <p:bldP spid="41472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2" name="Rectangle 2"/>
          <p:cNvSpPr>
            <a:spLocks noGrp="1" noChangeArrowheads="1"/>
          </p:cNvSpPr>
          <p:nvPr>
            <p:ph type="title"/>
          </p:nvPr>
        </p:nvSpPr>
        <p:spPr/>
        <p:txBody>
          <a:bodyPr>
            <a:normAutofit fontScale="90000"/>
          </a:bodyPr>
          <a:lstStyle/>
          <a:p>
            <a:r>
              <a:rPr lang="fr-FR" b="1" dirty="0">
                <a:solidFill>
                  <a:srgbClr val="C00000"/>
                </a:solidFill>
              </a:rPr>
              <a:t>Qu'est-ce que le Gestionnaire des tâches ?</a:t>
            </a:r>
            <a:r>
              <a:rPr lang="en-US" b="1" dirty="0">
                <a:solidFill>
                  <a:srgbClr val="C00000"/>
                </a:solidFill>
              </a:rPr>
              <a:t> </a:t>
            </a:r>
          </a:p>
        </p:txBody>
      </p:sp>
      <p:sp>
        <p:nvSpPr>
          <p:cNvPr id="614404" name="Rectangle 4"/>
          <p:cNvSpPr>
            <a:spLocks noChangeArrowheads="1"/>
          </p:cNvSpPr>
          <p:nvPr/>
        </p:nvSpPr>
        <p:spPr bwMode="auto">
          <a:xfrm>
            <a:off x="166256" y="1461228"/>
            <a:ext cx="5306289" cy="5091978"/>
          </a:xfrm>
          <a:prstGeom prst="rect">
            <a:avLst/>
          </a:prstGeom>
          <a:noFill/>
          <a:ln w="9525">
            <a:noFill/>
            <a:miter lim="800000"/>
            <a:headEnd/>
            <a:tailEnd/>
          </a:ln>
          <a:effectLst/>
        </p:spPr>
        <p:txBody>
          <a:bodyPr lIns="0" tIns="0" rIns="0" bIns="0"/>
          <a:lstStyle/>
          <a:p>
            <a:pPr marL="342900" indent="-342900" algn="l">
              <a:lnSpc>
                <a:spcPct val="90000"/>
              </a:lnSpc>
              <a:spcBef>
                <a:spcPct val="40000"/>
              </a:spcBef>
              <a:buClr>
                <a:srgbClr val="8DACD0"/>
              </a:buClr>
              <a:buSzPct val="70000"/>
            </a:pPr>
            <a:r>
              <a:rPr lang="fr-FR" sz="2200" dirty="0"/>
              <a:t>Un outil permettant d'afficher des informations sur :</a:t>
            </a:r>
            <a:r>
              <a:rPr lang="en-US" sz="2400" dirty="0"/>
              <a:t> </a:t>
            </a:r>
            <a:endParaRPr lang="en-US" sz="2200" dirty="0"/>
          </a:p>
          <a:p>
            <a:pPr marL="355600" lvl="1" indent="-285750" algn="l">
              <a:spcBef>
                <a:spcPct val="40000"/>
              </a:spcBef>
              <a:buClr>
                <a:srgbClr val="8DACD0"/>
              </a:buClr>
              <a:buFont typeface="Wingdings" pitchFamily="2" charset="2"/>
              <a:buChar char="Ø"/>
            </a:pPr>
            <a:r>
              <a:rPr lang="fr-FR" sz="2200" dirty="0"/>
              <a:t>Les programmes et les processus en cours sur votre ordinateur</a:t>
            </a:r>
            <a:r>
              <a:rPr lang="en-US" sz="2200" dirty="0"/>
              <a:t> </a:t>
            </a:r>
          </a:p>
          <a:p>
            <a:pPr marL="355600" lvl="1" indent="-285750" algn="l">
              <a:spcBef>
                <a:spcPct val="40000"/>
              </a:spcBef>
              <a:buClr>
                <a:srgbClr val="8DACD0"/>
              </a:buClr>
              <a:buFont typeface="Wingdings" pitchFamily="2" charset="2"/>
              <a:buChar char="Ø"/>
            </a:pPr>
            <a:r>
              <a:rPr lang="fr-FR" sz="2200" dirty="0"/>
              <a:t>L'état des programmes en cours</a:t>
            </a:r>
            <a:r>
              <a:rPr lang="en-US" sz="2200" dirty="0"/>
              <a:t> </a:t>
            </a:r>
          </a:p>
          <a:p>
            <a:pPr marL="355600" lvl="1" indent="-285750" algn="l">
              <a:spcBef>
                <a:spcPct val="40000"/>
              </a:spcBef>
              <a:buClr>
                <a:srgbClr val="8DACD0"/>
              </a:buClr>
              <a:buFont typeface="Wingdings" pitchFamily="2" charset="2"/>
              <a:buChar char="Ø"/>
            </a:pPr>
            <a:r>
              <a:rPr lang="fr-FR" sz="2200" dirty="0"/>
              <a:t>Les performances de l'ordinateur (vue d'ensemble dynamique)</a:t>
            </a:r>
            <a:r>
              <a:rPr lang="en-US" sz="2200" dirty="0"/>
              <a:t> </a:t>
            </a:r>
          </a:p>
          <a:p>
            <a:pPr marL="355600" lvl="1" indent="-285750" algn="l">
              <a:spcBef>
                <a:spcPct val="40000"/>
              </a:spcBef>
              <a:buClr>
                <a:srgbClr val="8DACD0"/>
              </a:buClr>
              <a:buFont typeface="Wingdings" pitchFamily="2" charset="2"/>
              <a:buChar char="Ø"/>
            </a:pPr>
            <a:r>
              <a:rPr lang="fr-FR" sz="2200" dirty="0"/>
              <a:t>L'état du réseau</a:t>
            </a:r>
            <a:r>
              <a:rPr lang="en-US" sz="2200" dirty="0"/>
              <a:t> </a:t>
            </a:r>
          </a:p>
          <a:p>
            <a:pPr marL="355600" lvl="1" indent="-285750" algn="l">
              <a:spcBef>
                <a:spcPct val="40000"/>
              </a:spcBef>
              <a:buClr>
                <a:srgbClr val="8DACD0"/>
              </a:buClr>
              <a:buFont typeface="Wingdings" pitchFamily="2" charset="2"/>
              <a:buChar char="Ø"/>
            </a:pPr>
            <a:r>
              <a:rPr lang="fr-FR" sz="2200" dirty="0"/>
              <a:t>Le nombre d'utilisateurs connectés à l'ordinateur et les tâches sur lesquelles ils travaillent. Les administrateurs </a:t>
            </a:r>
            <a:br>
              <a:rPr lang="fr-FR" sz="2200" dirty="0"/>
            </a:br>
            <a:r>
              <a:rPr lang="fr-FR" sz="2200" dirty="0"/>
              <a:t>ont la possibilité d'envoyer un message</a:t>
            </a:r>
            <a:r>
              <a:rPr lang="en-US" sz="2200" dirty="0"/>
              <a:t> </a:t>
            </a:r>
          </a:p>
        </p:txBody>
      </p:sp>
      <p:pic>
        <p:nvPicPr>
          <p:cNvPr id="614405" name="Picture 5" descr="tm5"/>
          <p:cNvPicPr>
            <a:picLocks noChangeAspect="1" noChangeArrowheads="1"/>
          </p:cNvPicPr>
          <p:nvPr/>
        </p:nvPicPr>
        <p:blipFill>
          <a:blip r:embed="rId2"/>
          <a:srcRect/>
          <a:stretch>
            <a:fillRect/>
          </a:stretch>
        </p:blipFill>
        <p:spPr bwMode="auto">
          <a:xfrm>
            <a:off x="5385395" y="1809750"/>
            <a:ext cx="3605213" cy="3987800"/>
          </a:xfrm>
          <a:prstGeom prst="rect">
            <a:avLst/>
          </a:prstGeom>
          <a:noFill/>
        </p:spPr>
      </p:pic>
      <p:pic>
        <p:nvPicPr>
          <p:cNvPr id="614406" name="Picture 6" descr="tm4"/>
          <p:cNvPicPr>
            <a:picLocks noChangeAspect="1" noChangeArrowheads="1"/>
          </p:cNvPicPr>
          <p:nvPr/>
        </p:nvPicPr>
        <p:blipFill>
          <a:blip r:embed="rId3"/>
          <a:srcRect/>
          <a:stretch>
            <a:fillRect/>
          </a:stretch>
        </p:blipFill>
        <p:spPr bwMode="auto">
          <a:xfrm>
            <a:off x="5385395" y="1809750"/>
            <a:ext cx="3540125" cy="3914775"/>
          </a:xfrm>
          <a:prstGeom prst="rect">
            <a:avLst/>
          </a:prstGeom>
          <a:noFill/>
        </p:spPr>
      </p:pic>
      <p:pic>
        <p:nvPicPr>
          <p:cNvPr id="614407" name="Picture 7" descr="tm3"/>
          <p:cNvPicPr>
            <a:picLocks noChangeAspect="1" noChangeArrowheads="1"/>
          </p:cNvPicPr>
          <p:nvPr/>
        </p:nvPicPr>
        <p:blipFill>
          <a:blip r:embed="rId4"/>
          <a:srcRect/>
          <a:stretch>
            <a:fillRect/>
          </a:stretch>
        </p:blipFill>
        <p:spPr bwMode="auto">
          <a:xfrm>
            <a:off x="5385395" y="1809750"/>
            <a:ext cx="3554413" cy="3932238"/>
          </a:xfrm>
          <a:prstGeom prst="rect">
            <a:avLst/>
          </a:prstGeom>
          <a:noFill/>
        </p:spPr>
      </p:pic>
      <p:pic>
        <p:nvPicPr>
          <p:cNvPr id="614408" name="Picture 8" descr="tm2"/>
          <p:cNvPicPr>
            <a:picLocks noChangeAspect="1" noChangeArrowheads="1"/>
          </p:cNvPicPr>
          <p:nvPr/>
        </p:nvPicPr>
        <p:blipFill>
          <a:blip r:embed="rId5"/>
          <a:srcRect/>
          <a:stretch>
            <a:fillRect/>
          </a:stretch>
        </p:blipFill>
        <p:spPr bwMode="auto">
          <a:xfrm>
            <a:off x="5385395" y="1809750"/>
            <a:ext cx="3606800" cy="3989388"/>
          </a:xfrm>
          <a:prstGeom prst="rect">
            <a:avLst/>
          </a:prstGeom>
          <a:noFill/>
        </p:spPr>
      </p:pic>
      <p:pic>
        <p:nvPicPr>
          <p:cNvPr id="614409" name="Picture 9" descr="tm1"/>
          <p:cNvPicPr>
            <a:picLocks noChangeAspect="1" noChangeArrowheads="1"/>
          </p:cNvPicPr>
          <p:nvPr/>
        </p:nvPicPr>
        <p:blipFill>
          <a:blip r:embed="rId6"/>
          <a:srcRect/>
          <a:stretch>
            <a:fillRect/>
          </a:stretch>
        </p:blipFill>
        <p:spPr bwMode="auto">
          <a:xfrm>
            <a:off x="5385395" y="1809750"/>
            <a:ext cx="3605213" cy="39878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14404">
                                            <p:txEl>
                                              <p:pRg st="1" end="1"/>
                                            </p:txEl>
                                          </p:spTgt>
                                        </p:tgtEl>
                                        <p:attrNameLst>
                                          <p:attrName>style.visibility</p:attrName>
                                        </p:attrNameLst>
                                      </p:cBhvr>
                                      <p:to>
                                        <p:strVal val="visible"/>
                                      </p:to>
                                    </p:set>
                                    <p:animEffect transition="in" filter="checkerboard(across)">
                                      <p:cBhvr>
                                        <p:cTn id="7" dur="500"/>
                                        <p:tgtEl>
                                          <p:spTgt spid="61440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14404">
                                            <p:txEl>
                                              <p:pRg st="2" end="2"/>
                                            </p:txEl>
                                          </p:spTgt>
                                        </p:tgtEl>
                                        <p:attrNameLst>
                                          <p:attrName>style.visibility</p:attrName>
                                        </p:attrNameLst>
                                      </p:cBhvr>
                                      <p:to>
                                        <p:strVal val="visible"/>
                                      </p:to>
                                    </p:set>
                                    <p:animEffect transition="in" filter="checkerboard(across)">
                                      <p:cBhvr>
                                        <p:cTn id="12" dur="500"/>
                                        <p:tgtEl>
                                          <p:spTgt spid="614404">
                                            <p:txEl>
                                              <p:pRg st="2" end="2"/>
                                            </p:txEl>
                                          </p:spTgt>
                                        </p:tgtEl>
                                      </p:cBhvr>
                                    </p:animEffect>
                                  </p:childTnLst>
                                </p:cTn>
                              </p:par>
                              <p:par>
                                <p:cTn id="13" presetID="2" presetClass="exit" presetSubtype="4" fill="hold" nodeType="withEffect">
                                  <p:stCondLst>
                                    <p:cond delay="0"/>
                                  </p:stCondLst>
                                  <p:childTnLst>
                                    <p:anim calcmode="lin" valueType="num">
                                      <p:cBhvr additive="base">
                                        <p:cTn id="14" dur="500"/>
                                        <p:tgtEl>
                                          <p:spTgt spid="614409"/>
                                        </p:tgtEl>
                                        <p:attrNameLst>
                                          <p:attrName>ppt_x</p:attrName>
                                        </p:attrNameLst>
                                      </p:cBhvr>
                                      <p:tavLst>
                                        <p:tav tm="0">
                                          <p:val>
                                            <p:strVal val="ppt_x"/>
                                          </p:val>
                                        </p:tav>
                                        <p:tav tm="100000">
                                          <p:val>
                                            <p:strVal val="ppt_x"/>
                                          </p:val>
                                        </p:tav>
                                      </p:tavLst>
                                    </p:anim>
                                    <p:anim calcmode="lin" valueType="num">
                                      <p:cBhvr additive="base">
                                        <p:cTn id="15" dur="500"/>
                                        <p:tgtEl>
                                          <p:spTgt spid="614409"/>
                                        </p:tgtEl>
                                        <p:attrNameLst>
                                          <p:attrName>ppt_y</p:attrName>
                                        </p:attrNameLst>
                                      </p:cBhvr>
                                      <p:tavLst>
                                        <p:tav tm="0">
                                          <p:val>
                                            <p:strVal val="ppt_y"/>
                                          </p:val>
                                        </p:tav>
                                        <p:tav tm="100000">
                                          <p:val>
                                            <p:strVal val="1+ppt_h/2"/>
                                          </p:val>
                                        </p:tav>
                                      </p:tavLst>
                                    </p:anim>
                                    <p:set>
                                      <p:cBhvr>
                                        <p:cTn id="16" dur="1" fill="hold">
                                          <p:stCondLst>
                                            <p:cond delay="499"/>
                                          </p:stCondLst>
                                        </p:cTn>
                                        <p:tgtEl>
                                          <p:spTgt spid="614409"/>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614404">
                                            <p:txEl>
                                              <p:pRg st="3" end="3"/>
                                            </p:txEl>
                                          </p:spTgt>
                                        </p:tgtEl>
                                        <p:attrNameLst>
                                          <p:attrName>style.visibility</p:attrName>
                                        </p:attrNameLst>
                                      </p:cBhvr>
                                      <p:to>
                                        <p:strVal val="visible"/>
                                      </p:to>
                                    </p:set>
                                    <p:animEffect transition="in" filter="checkerboard(across)">
                                      <p:cBhvr>
                                        <p:cTn id="21" dur="500"/>
                                        <p:tgtEl>
                                          <p:spTgt spid="614404">
                                            <p:txEl>
                                              <p:pRg st="3" end="3"/>
                                            </p:txEl>
                                          </p:spTgt>
                                        </p:tgtEl>
                                      </p:cBhvr>
                                    </p:animEffect>
                                  </p:childTnLst>
                                </p:cTn>
                              </p:par>
                              <p:par>
                                <p:cTn id="22" presetID="2" presetClass="exit" presetSubtype="4" fill="hold" nodeType="withEffect">
                                  <p:stCondLst>
                                    <p:cond delay="0"/>
                                  </p:stCondLst>
                                  <p:childTnLst>
                                    <p:anim calcmode="lin" valueType="num">
                                      <p:cBhvr additive="base">
                                        <p:cTn id="23" dur="500"/>
                                        <p:tgtEl>
                                          <p:spTgt spid="614408"/>
                                        </p:tgtEl>
                                        <p:attrNameLst>
                                          <p:attrName>ppt_x</p:attrName>
                                        </p:attrNameLst>
                                      </p:cBhvr>
                                      <p:tavLst>
                                        <p:tav tm="0">
                                          <p:val>
                                            <p:strVal val="ppt_x"/>
                                          </p:val>
                                        </p:tav>
                                        <p:tav tm="100000">
                                          <p:val>
                                            <p:strVal val="ppt_x"/>
                                          </p:val>
                                        </p:tav>
                                      </p:tavLst>
                                    </p:anim>
                                    <p:anim calcmode="lin" valueType="num">
                                      <p:cBhvr additive="base">
                                        <p:cTn id="24" dur="500"/>
                                        <p:tgtEl>
                                          <p:spTgt spid="614408"/>
                                        </p:tgtEl>
                                        <p:attrNameLst>
                                          <p:attrName>ppt_y</p:attrName>
                                        </p:attrNameLst>
                                      </p:cBhvr>
                                      <p:tavLst>
                                        <p:tav tm="0">
                                          <p:val>
                                            <p:strVal val="ppt_y"/>
                                          </p:val>
                                        </p:tav>
                                        <p:tav tm="100000">
                                          <p:val>
                                            <p:strVal val="1+ppt_h/2"/>
                                          </p:val>
                                        </p:tav>
                                      </p:tavLst>
                                    </p:anim>
                                    <p:set>
                                      <p:cBhvr>
                                        <p:cTn id="25" dur="1" fill="hold">
                                          <p:stCondLst>
                                            <p:cond delay="499"/>
                                          </p:stCondLst>
                                        </p:cTn>
                                        <p:tgtEl>
                                          <p:spTgt spid="614408"/>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nodeType="clickEffect">
                                  <p:stCondLst>
                                    <p:cond delay="0"/>
                                  </p:stCondLst>
                                  <p:childTnLst>
                                    <p:set>
                                      <p:cBhvr>
                                        <p:cTn id="29" dur="1" fill="hold">
                                          <p:stCondLst>
                                            <p:cond delay="0"/>
                                          </p:stCondLst>
                                        </p:cTn>
                                        <p:tgtEl>
                                          <p:spTgt spid="614404">
                                            <p:txEl>
                                              <p:pRg st="4" end="4"/>
                                            </p:txEl>
                                          </p:spTgt>
                                        </p:tgtEl>
                                        <p:attrNameLst>
                                          <p:attrName>style.visibility</p:attrName>
                                        </p:attrNameLst>
                                      </p:cBhvr>
                                      <p:to>
                                        <p:strVal val="visible"/>
                                      </p:to>
                                    </p:set>
                                    <p:animEffect transition="in" filter="checkerboard(across)">
                                      <p:cBhvr>
                                        <p:cTn id="30" dur="500"/>
                                        <p:tgtEl>
                                          <p:spTgt spid="614404">
                                            <p:txEl>
                                              <p:pRg st="4" end="4"/>
                                            </p:txEl>
                                          </p:spTgt>
                                        </p:tgtEl>
                                      </p:cBhvr>
                                    </p:animEffect>
                                  </p:childTnLst>
                                </p:cTn>
                              </p:par>
                              <p:par>
                                <p:cTn id="31" presetID="2" presetClass="exit" presetSubtype="4" fill="hold" nodeType="withEffect">
                                  <p:stCondLst>
                                    <p:cond delay="0"/>
                                  </p:stCondLst>
                                  <p:childTnLst>
                                    <p:anim calcmode="lin" valueType="num">
                                      <p:cBhvr additive="base">
                                        <p:cTn id="32" dur="500"/>
                                        <p:tgtEl>
                                          <p:spTgt spid="614407"/>
                                        </p:tgtEl>
                                        <p:attrNameLst>
                                          <p:attrName>ppt_x</p:attrName>
                                        </p:attrNameLst>
                                      </p:cBhvr>
                                      <p:tavLst>
                                        <p:tav tm="0">
                                          <p:val>
                                            <p:strVal val="ppt_x"/>
                                          </p:val>
                                        </p:tav>
                                        <p:tav tm="100000">
                                          <p:val>
                                            <p:strVal val="ppt_x"/>
                                          </p:val>
                                        </p:tav>
                                      </p:tavLst>
                                    </p:anim>
                                    <p:anim calcmode="lin" valueType="num">
                                      <p:cBhvr additive="base">
                                        <p:cTn id="33" dur="500"/>
                                        <p:tgtEl>
                                          <p:spTgt spid="614407"/>
                                        </p:tgtEl>
                                        <p:attrNameLst>
                                          <p:attrName>ppt_y</p:attrName>
                                        </p:attrNameLst>
                                      </p:cBhvr>
                                      <p:tavLst>
                                        <p:tav tm="0">
                                          <p:val>
                                            <p:strVal val="ppt_y"/>
                                          </p:val>
                                        </p:tav>
                                        <p:tav tm="100000">
                                          <p:val>
                                            <p:strVal val="1+ppt_h/2"/>
                                          </p:val>
                                        </p:tav>
                                      </p:tavLst>
                                    </p:anim>
                                    <p:set>
                                      <p:cBhvr>
                                        <p:cTn id="34" dur="1" fill="hold">
                                          <p:stCondLst>
                                            <p:cond delay="499"/>
                                          </p:stCondLst>
                                        </p:cTn>
                                        <p:tgtEl>
                                          <p:spTgt spid="614407"/>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5" presetClass="entr" presetSubtype="10" fill="hold" nodeType="clickEffect">
                                  <p:stCondLst>
                                    <p:cond delay="0"/>
                                  </p:stCondLst>
                                  <p:childTnLst>
                                    <p:set>
                                      <p:cBhvr>
                                        <p:cTn id="38" dur="1" fill="hold">
                                          <p:stCondLst>
                                            <p:cond delay="0"/>
                                          </p:stCondLst>
                                        </p:cTn>
                                        <p:tgtEl>
                                          <p:spTgt spid="614404">
                                            <p:txEl>
                                              <p:pRg st="5" end="5"/>
                                            </p:txEl>
                                          </p:spTgt>
                                        </p:tgtEl>
                                        <p:attrNameLst>
                                          <p:attrName>style.visibility</p:attrName>
                                        </p:attrNameLst>
                                      </p:cBhvr>
                                      <p:to>
                                        <p:strVal val="visible"/>
                                      </p:to>
                                    </p:set>
                                    <p:animEffect transition="in" filter="checkerboard(across)">
                                      <p:cBhvr>
                                        <p:cTn id="39" dur="500"/>
                                        <p:tgtEl>
                                          <p:spTgt spid="614404">
                                            <p:txEl>
                                              <p:pRg st="5" end="5"/>
                                            </p:txEl>
                                          </p:spTgt>
                                        </p:tgtEl>
                                      </p:cBhvr>
                                    </p:animEffect>
                                  </p:childTnLst>
                                </p:cTn>
                              </p:par>
                              <p:par>
                                <p:cTn id="40" presetID="2" presetClass="exit" presetSubtype="4" fill="hold" nodeType="withEffect">
                                  <p:stCondLst>
                                    <p:cond delay="0"/>
                                  </p:stCondLst>
                                  <p:childTnLst>
                                    <p:anim calcmode="lin" valueType="num">
                                      <p:cBhvr additive="base">
                                        <p:cTn id="41" dur="500"/>
                                        <p:tgtEl>
                                          <p:spTgt spid="614406"/>
                                        </p:tgtEl>
                                        <p:attrNameLst>
                                          <p:attrName>ppt_x</p:attrName>
                                        </p:attrNameLst>
                                      </p:cBhvr>
                                      <p:tavLst>
                                        <p:tav tm="0">
                                          <p:val>
                                            <p:strVal val="ppt_x"/>
                                          </p:val>
                                        </p:tav>
                                        <p:tav tm="100000">
                                          <p:val>
                                            <p:strVal val="ppt_x"/>
                                          </p:val>
                                        </p:tav>
                                      </p:tavLst>
                                    </p:anim>
                                    <p:anim calcmode="lin" valueType="num">
                                      <p:cBhvr additive="base">
                                        <p:cTn id="42" dur="500"/>
                                        <p:tgtEl>
                                          <p:spTgt spid="614406"/>
                                        </p:tgtEl>
                                        <p:attrNameLst>
                                          <p:attrName>ppt_y</p:attrName>
                                        </p:attrNameLst>
                                      </p:cBhvr>
                                      <p:tavLst>
                                        <p:tav tm="0">
                                          <p:val>
                                            <p:strVal val="ppt_y"/>
                                          </p:val>
                                        </p:tav>
                                        <p:tav tm="100000">
                                          <p:val>
                                            <p:strVal val="1+ppt_h/2"/>
                                          </p:val>
                                        </p:tav>
                                      </p:tavLst>
                                    </p:anim>
                                    <p:set>
                                      <p:cBhvr>
                                        <p:cTn id="43" dur="1" fill="hold">
                                          <p:stCondLst>
                                            <p:cond delay="499"/>
                                          </p:stCondLst>
                                        </p:cTn>
                                        <p:tgtEl>
                                          <p:spTgt spid="61440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24695" y="4835862"/>
            <a:ext cx="8811489" cy="1897443"/>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marL="342900" indent="-342900" algn="l">
              <a:lnSpc>
                <a:spcPct val="90000"/>
              </a:lnSpc>
              <a:spcBef>
                <a:spcPct val="30000"/>
              </a:spcBef>
              <a:buClr>
                <a:srgbClr val="8DACD0"/>
              </a:buClr>
              <a:buSzPct val="70000"/>
            </a:pPr>
            <a:r>
              <a:rPr lang="fr-FR" altLang="zh-CN" sz="2300" dirty="0" smtClean="0">
                <a:solidFill>
                  <a:srgbClr val="000000"/>
                </a:solidFill>
                <a:ea typeface="SimSun" pitchFamily="2" charset="-122"/>
                <a:cs typeface="Arial Narrow" pitchFamily="34" charset="0"/>
              </a:rPr>
              <a:t>Avec le Moniteur système, vous pouvez :</a:t>
            </a:r>
            <a:r>
              <a:rPr lang="en-IE" altLang="zh-CN" sz="2300" dirty="0" smtClean="0">
                <a:solidFill>
                  <a:srgbClr val="000000"/>
                </a:solidFill>
                <a:ea typeface="SimSun" pitchFamily="2" charset="-122"/>
                <a:cs typeface="Arial Narrow" pitchFamily="34" charset="0"/>
              </a:rPr>
              <a:t> </a:t>
            </a:r>
            <a:endParaRPr lang="en-US" altLang="zh-CN" sz="2300" dirty="0" smtClean="0">
              <a:ea typeface="SimSun" pitchFamily="2" charset="-122"/>
              <a:cs typeface="Arial Narrow" pitchFamily="34" charset="0"/>
            </a:endParaRPr>
          </a:p>
          <a:p>
            <a:pPr marL="355600" lvl="1" indent="-285750" algn="l">
              <a:spcBef>
                <a:spcPct val="10000"/>
              </a:spcBef>
              <a:buClr>
                <a:srgbClr val="8DACD0"/>
              </a:buClr>
              <a:buFont typeface="Wingdings" pitchFamily="2" charset="2"/>
              <a:buChar char="§"/>
            </a:pPr>
            <a:r>
              <a:rPr lang="fr-FR" altLang="zh-CN" sz="2300" b="0" dirty="0" smtClean="0">
                <a:solidFill>
                  <a:srgbClr val="000000"/>
                </a:solidFill>
                <a:ea typeface="SimSun" pitchFamily="2" charset="-122"/>
                <a:cs typeface="Arial Narrow" pitchFamily="34" charset="0"/>
              </a:rPr>
              <a:t>Récupérer et afficher les données en temps réel d'un ordinateur local ou de plusieurs ordinateurs distants</a:t>
            </a:r>
            <a:r>
              <a:rPr lang="en-IE" altLang="zh-CN" sz="2300" b="0" dirty="0" smtClean="0">
                <a:solidFill>
                  <a:srgbClr val="000000"/>
                </a:solidFill>
                <a:ea typeface="SimSun" pitchFamily="2" charset="-122"/>
                <a:cs typeface="Arial Narrow" pitchFamily="34" charset="0"/>
              </a:rPr>
              <a:t> </a:t>
            </a:r>
            <a:endParaRPr lang="en-US" altLang="zh-CN" sz="2300" b="0" dirty="0" smtClean="0">
              <a:ea typeface="SimSun" pitchFamily="2" charset="-122"/>
              <a:cs typeface="Arial Narrow" pitchFamily="34" charset="0"/>
            </a:endParaRPr>
          </a:p>
          <a:p>
            <a:pPr marL="355600" lvl="1" indent="-285750" algn="l">
              <a:spcBef>
                <a:spcPct val="10000"/>
              </a:spcBef>
              <a:buClr>
                <a:srgbClr val="8DACD0"/>
              </a:buClr>
              <a:buFont typeface="Wingdings" pitchFamily="2" charset="2"/>
              <a:buChar char="§"/>
            </a:pPr>
            <a:r>
              <a:rPr lang="fr-FR" altLang="zh-CN" sz="2300" b="0" dirty="0" smtClean="0">
                <a:solidFill>
                  <a:srgbClr val="000000"/>
                </a:solidFill>
                <a:ea typeface="SimSun" pitchFamily="2" charset="-122"/>
                <a:cs typeface="Arial Narrow" pitchFamily="34" charset="0"/>
              </a:rPr>
              <a:t>Créer des graphiques, des histogrammes et des rapports relatifs aux données des compteurs de performance</a:t>
            </a:r>
            <a:r>
              <a:rPr lang="en-IE" altLang="zh-CN" sz="2300" b="0" dirty="0" smtClean="0">
                <a:solidFill>
                  <a:srgbClr val="000000"/>
                </a:solidFill>
                <a:ea typeface="SimSun" pitchFamily="2" charset="-122"/>
                <a:cs typeface="Arial Narrow" pitchFamily="34" charset="0"/>
              </a:rPr>
              <a:t> </a:t>
            </a:r>
            <a:endParaRPr lang="en-US" altLang="zh-CN" sz="2300" b="0" dirty="0">
              <a:ea typeface="SimSun" pitchFamily="2" charset="-122"/>
              <a:cs typeface="Arial Narrow" pitchFamily="34" charset="0"/>
            </a:endParaRPr>
          </a:p>
        </p:txBody>
      </p:sp>
      <p:sp>
        <p:nvSpPr>
          <p:cNvPr id="546818" name="Rectangle-2"/>
          <p:cNvSpPr>
            <a:spLocks noGrp="1" noChangeArrowheads="1"/>
          </p:cNvSpPr>
          <p:nvPr>
            <p:ph type="title"/>
          </p:nvPr>
        </p:nvSpPr>
        <p:spPr>
          <a:xfrm>
            <a:off x="180109" y="228600"/>
            <a:ext cx="8797636" cy="758952"/>
          </a:xfrm>
        </p:spPr>
        <p:txBody>
          <a:bodyPr/>
          <a:lstStyle/>
          <a:p>
            <a:r>
              <a:rPr lang="fr-FR" altLang="zh-CN" b="1" dirty="0">
                <a:solidFill>
                  <a:srgbClr val="C00000"/>
                </a:solidFill>
                <a:ea typeface="SimSun" pitchFamily="2" charset="-122"/>
                <a:cs typeface="Arial Narrow" pitchFamily="34" charset="0"/>
              </a:rPr>
              <a:t>Qu'est-ce que la console Performances ?</a:t>
            </a:r>
            <a:r>
              <a:rPr lang="en-IE" altLang="zh-CN" b="1" dirty="0">
                <a:solidFill>
                  <a:srgbClr val="C00000"/>
                </a:solidFill>
                <a:ea typeface="SimSun" pitchFamily="2" charset="-122"/>
                <a:cs typeface="Arial Narrow" pitchFamily="34" charset="0"/>
              </a:rPr>
              <a:t> </a:t>
            </a:r>
            <a:endParaRPr lang="en-US" altLang="zh-CN" b="1" dirty="0">
              <a:solidFill>
                <a:srgbClr val="C00000"/>
              </a:solidFill>
              <a:ea typeface="SimSun" pitchFamily="2" charset="-122"/>
              <a:cs typeface="Arial Narrow" pitchFamily="34" charset="0"/>
            </a:endParaRPr>
          </a:p>
        </p:txBody>
      </p:sp>
      <p:grpSp>
        <p:nvGrpSpPr>
          <p:cNvPr id="546832" name="Group-16"/>
          <p:cNvGrpSpPr>
            <a:grpSpLocks/>
          </p:cNvGrpSpPr>
          <p:nvPr/>
        </p:nvGrpSpPr>
        <p:grpSpPr bwMode="auto">
          <a:xfrm>
            <a:off x="4558145" y="1214726"/>
            <a:ext cx="4404465" cy="3384983"/>
            <a:chOff x="3892" y="971"/>
            <a:chExt cx="1457" cy="1422"/>
          </a:xfrm>
        </p:grpSpPr>
        <p:sp>
          <p:nvSpPr>
            <p:cNvPr id="546829" name="AutoShape-13"/>
            <p:cNvSpPr>
              <a:spLocks noChangeArrowheads="1"/>
            </p:cNvSpPr>
            <p:nvPr/>
          </p:nvSpPr>
          <p:spPr bwMode="auto">
            <a:xfrm>
              <a:off x="3892" y="971"/>
              <a:ext cx="1457" cy="1422"/>
            </a:xfrm>
            <a:prstGeom prst="roundRect">
              <a:avLst>
                <a:gd name="adj" fmla="val 4167"/>
              </a:avLst>
            </a:prstGeom>
            <a:solidFill>
              <a:srgbClr val="B3C8DF"/>
            </a:solidFill>
            <a:ln w="9525">
              <a:solidFill>
                <a:srgbClr val="4D4D4D"/>
              </a:solidFill>
              <a:round/>
              <a:headEnd/>
              <a:tailEnd/>
            </a:ln>
            <a:effectLst>
              <a:outerShdw dist="35921" dir="2700000" algn="ctr" rotWithShape="0">
                <a:srgbClr val="AFAFAF"/>
              </a:outerShdw>
            </a:effectLst>
          </p:spPr>
          <p:txBody>
            <a:bodyPr/>
            <a:lstStyle/>
            <a:p>
              <a:pPr algn="l"/>
              <a:endParaRPr lang="en-IE" sz="2200"/>
            </a:p>
          </p:txBody>
        </p:sp>
        <p:pic>
          <p:nvPicPr>
            <p:cNvPr id="546823" name="Picture-7" descr="mod 2lesson3x"/>
            <p:cNvPicPr>
              <a:picLocks noChangeAspect="1" noChangeArrowheads="1"/>
            </p:cNvPicPr>
            <p:nvPr/>
          </p:nvPicPr>
          <p:blipFill>
            <a:blip r:embed="rId3"/>
            <a:srcRect/>
            <a:stretch>
              <a:fillRect/>
            </a:stretch>
          </p:blipFill>
          <p:spPr bwMode="auto">
            <a:xfrm>
              <a:off x="3918" y="1005"/>
              <a:ext cx="1397" cy="1354"/>
            </a:xfrm>
            <a:prstGeom prst="rect">
              <a:avLst/>
            </a:prstGeom>
            <a:noFill/>
            <a:ln>
              <a:noFill/>
            </a:ln>
            <a:effectLst/>
          </p:spPr>
        </p:pic>
      </p:grpSp>
      <p:sp>
        <p:nvSpPr>
          <p:cNvPr id="546828" name="Rectangle-12"/>
          <p:cNvSpPr>
            <a:spLocks noChangeArrowheads="1"/>
          </p:cNvSpPr>
          <p:nvPr/>
        </p:nvSpPr>
        <p:spPr bwMode="auto">
          <a:xfrm>
            <a:off x="180109" y="1489683"/>
            <a:ext cx="4419600" cy="2860644"/>
          </a:xfrm>
          <a:prstGeom prst="rect">
            <a:avLst/>
          </a:prstGeom>
          <a:noFill/>
          <a:ln w="9525">
            <a:noFill/>
            <a:miter lim="800000"/>
            <a:headEnd/>
            <a:tailEnd/>
          </a:ln>
          <a:effectLst/>
        </p:spPr>
        <p:txBody>
          <a:bodyPr lIns="0" tIns="0" rIns="0" bIns="0"/>
          <a:lstStyle/>
          <a:p>
            <a:pPr algn="l">
              <a:buFont typeface="Wingdings" pitchFamily="2" charset="2"/>
              <a:buChar char="q"/>
            </a:pPr>
            <a:r>
              <a:rPr lang="fr-FR" sz="2400" dirty="0" smtClean="0"/>
              <a:t> C’est l’outil permettant d’effectuer des analyses de performances en temps réel ou programmé</a:t>
            </a:r>
          </a:p>
          <a:p>
            <a:pPr algn="l">
              <a:buFont typeface="Wingdings" pitchFamily="2" charset="2"/>
              <a:buChar char="q"/>
            </a:pPr>
            <a:r>
              <a:rPr lang="fr-FR" altLang="zh-CN" sz="2400" dirty="0" smtClean="0">
                <a:solidFill>
                  <a:srgbClr val="000000"/>
                </a:solidFill>
                <a:ea typeface="SimSun" pitchFamily="2" charset="-122"/>
                <a:cs typeface="Arial Narrow" pitchFamily="34" charset="0"/>
              </a:rPr>
              <a:t> Elle </a:t>
            </a:r>
            <a:r>
              <a:rPr lang="fr-FR" altLang="zh-CN" sz="2300" dirty="0" smtClean="0">
                <a:solidFill>
                  <a:srgbClr val="000000"/>
                </a:solidFill>
                <a:ea typeface="SimSun" pitchFamily="2" charset="-122"/>
                <a:cs typeface="Arial Narrow" pitchFamily="34" charset="0"/>
              </a:rPr>
              <a:t>contient:</a:t>
            </a:r>
          </a:p>
          <a:p>
            <a:pPr marL="800100" lvl="1" indent="-342900" algn="l">
              <a:lnSpc>
                <a:spcPct val="90000"/>
              </a:lnSpc>
              <a:spcBef>
                <a:spcPct val="30000"/>
              </a:spcBef>
              <a:buClr>
                <a:srgbClr val="8DACD0"/>
              </a:buClr>
              <a:buSzPct val="70000"/>
              <a:buFont typeface="Arial" pitchFamily="34" charset="0"/>
              <a:buChar char="•"/>
            </a:pPr>
            <a:r>
              <a:rPr lang="fr-FR" altLang="zh-CN" sz="2300" dirty="0" smtClean="0">
                <a:solidFill>
                  <a:srgbClr val="000000"/>
                </a:solidFill>
                <a:ea typeface="SimSun" pitchFamily="2" charset="-122"/>
                <a:cs typeface="Arial Narrow" pitchFamily="34" charset="0"/>
              </a:rPr>
              <a:t>Les </a:t>
            </a:r>
            <a:r>
              <a:rPr lang="fr-FR" altLang="zh-CN" sz="2300" dirty="0">
                <a:solidFill>
                  <a:srgbClr val="000000"/>
                </a:solidFill>
                <a:ea typeface="SimSun" pitchFamily="2" charset="-122"/>
                <a:cs typeface="Arial Narrow" pitchFamily="34" charset="0"/>
              </a:rPr>
              <a:t>outils Moniteur système </a:t>
            </a:r>
            <a:endParaRPr lang="fr-FR" altLang="zh-CN" sz="2300" dirty="0" smtClean="0">
              <a:solidFill>
                <a:srgbClr val="000000"/>
              </a:solidFill>
              <a:ea typeface="SimSun" pitchFamily="2" charset="-122"/>
              <a:cs typeface="Arial Narrow" pitchFamily="34" charset="0"/>
            </a:endParaRPr>
          </a:p>
          <a:p>
            <a:pPr marL="800100" lvl="1" indent="-342900" algn="l">
              <a:lnSpc>
                <a:spcPct val="90000"/>
              </a:lnSpc>
              <a:spcBef>
                <a:spcPct val="30000"/>
              </a:spcBef>
              <a:buClr>
                <a:srgbClr val="8DACD0"/>
              </a:buClr>
              <a:buSzPct val="70000"/>
              <a:buFont typeface="Arial" pitchFamily="34" charset="0"/>
              <a:buChar char="•"/>
            </a:pPr>
            <a:r>
              <a:rPr lang="fr-FR" altLang="zh-CN" sz="2300" dirty="0" smtClean="0">
                <a:solidFill>
                  <a:srgbClr val="000000"/>
                </a:solidFill>
                <a:ea typeface="SimSun" pitchFamily="2" charset="-122"/>
                <a:cs typeface="Arial Narrow" pitchFamily="34" charset="0"/>
              </a:rPr>
              <a:t>Journaux et </a:t>
            </a:r>
            <a:r>
              <a:rPr lang="fr-FR" altLang="zh-CN" sz="2300" dirty="0">
                <a:solidFill>
                  <a:srgbClr val="000000"/>
                </a:solidFill>
                <a:ea typeface="SimSun" pitchFamily="2" charset="-122"/>
                <a:cs typeface="Arial Narrow" pitchFamily="34" charset="0"/>
              </a:rPr>
              <a:t>alertes de performance</a:t>
            </a:r>
            <a:r>
              <a:rPr lang="en-IE" altLang="zh-CN" sz="2300" dirty="0">
                <a:solidFill>
                  <a:srgbClr val="000000"/>
                </a:solidFill>
                <a:ea typeface="SimSun" pitchFamily="2" charset="-122"/>
                <a:cs typeface="Arial Narrow" pitchFamily="34" charset="0"/>
              </a:rPr>
              <a:t> </a:t>
            </a:r>
            <a:endParaRPr lang="en-US" altLang="zh-CN" sz="2300" dirty="0">
              <a:ea typeface="SimSun" pitchFamily="2" charset="-122"/>
              <a:cs typeface="Arial Narrow" pitchFamily="34" charset="0"/>
            </a:endParaRPr>
          </a:p>
        </p:txBody>
      </p:sp>
      <p:sp>
        <p:nvSpPr>
          <p:cNvPr id="7" name="Rectangle 6"/>
          <p:cNvSpPr/>
          <p:nvPr/>
        </p:nvSpPr>
        <p:spPr>
          <a:xfrm>
            <a:off x="152395" y="4828679"/>
            <a:ext cx="8797635" cy="1862048"/>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marL="342900" indent="-342900" algn="l">
              <a:lnSpc>
                <a:spcPct val="90000"/>
              </a:lnSpc>
              <a:spcBef>
                <a:spcPct val="20000"/>
              </a:spcBef>
              <a:buClr>
                <a:srgbClr val="8DACD0"/>
              </a:buClr>
              <a:buSzPct val="70000"/>
            </a:pPr>
            <a:r>
              <a:rPr lang="fr-FR" altLang="zh-CN" sz="2300" dirty="0" smtClean="0">
                <a:solidFill>
                  <a:srgbClr val="000000"/>
                </a:solidFill>
                <a:ea typeface="SimSun" pitchFamily="2" charset="-122"/>
                <a:cs typeface="Arial Narrow" pitchFamily="34" charset="0"/>
              </a:rPr>
              <a:t>Avec l'outil Journaux et alertes de performance,  vous pouvez :</a:t>
            </a:r>
            <a:r>
              <a:rPr lang="en-IE" altLang="zh-CN" sz="2300" dirty="0" smtClean="0">
                <a:solidFill>
                  <a:srgbClr val="000000"/>
                </a:solidFill>
                <a:ea typeface="SimSun" pitchFamily="2" charset="-122"/>
                <a:cs typeface="Arial Narrow" pitchFamily="34" charset="0"/>
              </a:rPr>
              <a:t> </a:t>
            </a:r>
            <a:endParaRPr lang="en-US" altLang="zh-CN" sz="2300" dirty="0" smtClean="0">
              <a:ea typeface="SimSun" pitchFamily="2" charset="-122"/>
              <a:cs typeface="Arial Narrow" pitchFamily="34" charset="0"/>
            </a:endParaRPr>
          </a:p>
          <a:p>
            <a:pPr marL="355600" lvl="1" indent="-285750" algn="l">
              <a:spcBef>
                <a:spcPct val="10000"/>
              </a:spcBef>
              <a:buClr>
                <a:srgbClr val="8DACD0"/>
              </a:buClr>
              <a:buFont typeface="Wingdings" pitchFamily="2" charset="2"/>
              <a:buChar char="§"/>
            </a:pPr>
            <a:r>
              <a:rPr lang="fr-FR" altLang="zh-CN" sz="2300" b="0" dirty="0" smtClean="0">
                <a:solidFill>
                  <a:srgbClr val="000000"/>
                </a:solidFill>
                <a:ea typeface="SimSun" pitchFamily="2" charset="-122"/>
                <a:cs typeface="Arial Narrow" pitchFamily="34" charset="0"/>
              </a:rPr>
              <a:t>Créer des journaux et des alertes</a:t>
            </a:r>
            <a:r>
              <a:rPr lang="en-IE" altLang="zh-CN" sz="2300" b="0" dirty="0" smtClean="0">
                <a:solidFill>
                  <a:srgbClr val="000000"/>
                </a:solidFill>
                <a:ea typeface="SimSun" pitchFamily="2" charset="-122"/>
                <a:cs typeface="Arial Narrow" pitchFamily="34" charset="0"/>
              </a:rPr>
              <a:t> </a:t>
            </a:r>
            <a:endParaRPr lang="en-US" altLang="zh-CN" sz="2300" b="0" dirty="0" smtClean="0">
              <a:ea typeface="SimSun" pitchFamily="2" charset="-122"/>
              <a:cs typeface="Arial Narrow" pitchFamily="34" charset="0"/>
            </a:endParaRPr>
          </a:p>
          <a:p>
            <a:pPr marL="355600" lvl="1" indent="-285750" algn="l">
              <a:spcBef>
                <a:spcPct val="10000"/>
              </a:spcBef>
              <a:buClr>
                <a:srgbClr val="8DACD0"/>
              </a:buClr>
              <a:buFont typeface="Wingdings" pitchFamily="2" charset="2"/>
              <a:buChar char="§"/>
            </a:pPr>
            <a:r>
              <a:rPr lang="fr-FR" altLang="zh-CN" sz="2300" b="0" dirty="0" smtClean="0">
                <a:solidFill>
                  <a:srgbClr val="000000"/>
                </a:solidFill>
                <a:ea typeface="SimSun" pitchFamily="2" charset="-122"/>
                <a:cs typeface="Arial Narrow" pitchFamily="34" charset="0"/>
              </a:rPr>
              <a:t>Définir les paramètres des journaux de compteurs, des journaux de traçage et des alertes</a:t>
            </a:r>
            <a:r>
              <a:rPr lang="en-IE" altLang="zh-CN" sz="2300" b="0" dirty="0" smtClean="0">
                <a:solidFill>
                  <a:srgbClr val="000000"/>
                </a:solidFill>
                <a:ea typeface="SimSun" pitchFamily="2" charset="-122"/>
                <a:cs typeface="Arial Narrow" pitchFamily="34" charset="0"/>
              </a:rPr>
              <a:t> </a:t>
            </a:r>
            <a:endParaRPr lang="en-US" altLang="zh-CN" sz="2300" b="0" dirty="0">
              <a:solidFill>
                <a:srgbClr val="000000"/>
              </a:solidFill>
              <a:ea typeface="SimSun" pitchFamily="2" charset="-122"/>
              <a:cs typeface="Arial Narrow"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46828">
                                            <p:txEl>
                                              <p:pRg st="0" end="0"/>
                                            </p:txEl>
                                          </p:spTgt>
                                        </p:tgtEl>
                                        <p:attrNameLst>
                                          <p:attrName>style.visibility</p:attrName>
                                        </p:attrNameLst>
                                      </p:cBhvr>
                                      <p:to>
                                        <p:strVal val="visible"/>
                                      </p:to>
                                    </p:set>
                                    <p:animEffect transition="in" filter="checkerboard(across)">
                                      <p:cBhvr>
                                        <p:cTn id="7" dur="500"/>
                                        <p:tgtEl>
                                          <p:spTgt spid="5468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46828">
                                            <p:txEl>
                                              <p:pRg st="1" end="1"/>
                                            </p:txEl>
                                          </p:spTgt>
                                        </p:tgtEl>
                                        <p:attrNameLst>
                                          <p:attrName>style.visibility</p:attrName>
                                        </p:attrNameLst>
                                      </p:cBhvr>
                                      <p:to>
                                        <p:strVal val="visible"/>
                                      </p:to>
                                    </p:set>
                                    <p:animEffect transition="in" filter="checkerboard(across)">
                                      <p:cBhvr>
                                        <p:cTn id="12" dur="500"/>
                                        <p:tgtEl>
                                          <p:spTgt spid="546828">
                                            <p:txEl>
                                              <p:pRg st="1" end="1"/>
                                            </p:txEl>
                                          </p:spTgt>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546828">
                                            <p:txEl>
                                              <p:pRg st="2" end="2"/>
                                            </p:txEl>
                                          </p:spTgt>
                                        </p:tgtEl>
                                        <p:attrNameLst>
                                          <p:attrName>style.visibility</p:attrName>
                                        </p:attrNameLst>
                                      </p:cBhvr>
                                      <p:to>
                                        <p:strVal val="visible"/>
                                      </p:to>
                                    </p:set>
                                    <p:animEffect transition="in" filter="checkerboard(across)">
                                      <p:cBhvr>
                                        <p:cTn id="15" dur="500"/>
                                        <p:tgtEl>
                                          <p:spTgt spid="546828">
                                            <p:txEl>
                                              <p:pRg st="2" end="2"/>
                                            </p:txEl>
                                          </p:spTgt>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546828">
                                            <p:txEl>
                                              <p:pRg st="3" end="3"/>
                                            </p:txEl>
                                          </p:spTgt>
                                        </p:tgtEl>
                                        <p:attrNameLst>
                                          <p:attrName>style.visibility</p:attrName>
                                        </p:attrNameLst>
                                      </p:cBhvr>
                                      <p:to>
                                        <p:strVal val="visible"/>
                                      </p:to>
                                    </p:set>
                                    <p:animEffect transition="in" filter="checkerboard(across)">
                                      <p:cBhvr>
                                        <p:cTn id="18" dur="500"/>
                                        <p:tgtEl>
                                          <p:spTgt spid="546828">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checkerboard(across)">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checkerboard(across)">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46828" grpId="0" uiExpand="1" build="allAtOnce"/>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Rectangle-2"/>
          <p:cNvSpPr>
            <a:spLocks noGrp="1" noChangeArrowheads="1"/>
          </p:cNvSpPr>
          <p:nvPr>
            <p:ph type="title"/>
          </p:nvPr>
        </p:nvSpPr>
        <p:spPr>
          <a:xfrm>
            <a:off x="173181" y="257897"/>
            <a:ext cx="8804563" cy="684212"/>
          </a:xfrm>
        </p:spPr>
        <p:txBody>
          <a:bodyPr>
            <a:normAutofit fontScale="90000"/>
          </a:bodyPr>
          <a:lstStyle/>
          <a:p>
            <a:r>
              <a:rPr lang="fr-FR" altLang="zh-CN" b="1" dirty="0">
                <a:solidFill>
                  <a:srgbClr val="C00000"/>
                </a:solidFill>
                <a:ea typeface="SimSun" pitchFamily="2" charset="-122"/>
                <a:cs typeface="Arial Narrow" pitchFamily="34" charset="0"/>
              </a:rPr>
              <a:t>Pourquoi analyser les serveurs à distance ?</a:t>
            </a:r>
            <a:r>
              <a:rPr lang="en-IE" altLang="zh-CN" b="1" dirty="0">
                <a:solidFill>
                  <a:srgbClr val="C00000"/>
                </a:solidFill>
                <a:ea typeface="SimSun" pitchFamily="2" charset="-122"/>
                <a:cs typeface="Arial Narrow" pitchFamily="34" charset="0"/>
              </a:rPr>
              <a:t> </a:t>
            </a:r>
            <a:endParaRPr lang="en-US" altLang="zh-CN" b="1" dirty="0">
              <a:solidFill>
                <a:srgbClr val="C00000"/>
              </a:solidFill>
              <a:ea typeface="SimSun" pitchFamily="2" charset="-122"/>
              <a:cs typeface="Arial Narrow" pitchFamily="34" charset="0"/>
            </a:endParaRPr>
          </a:p>
        </p:txBody>
      </p:sp>
      <p:sp>
        <p:nvSpPr>
          <p:cNvPr id="539664" name="Rectangle-16"/>
          <p:cNvSpPr>
            <a:spLocks noChangeArrowheads="1"/>
          </p:cNvSpPr>
          <p:nvPr/>
        </p:nvSpPr>
        <p:spPr bwMode="auto">
          <a:xfrm>
            <a:off x="374080" y="1745673"/>
            <a:ext cx="8312727" cy="3796145"/>
          </a:xfrm>
          <a:prstGeom prst="rect">
            <a:avLst/>
          </a:prstGeom>
          <a:noFill/>
          <a:ln w="9525">
            <a:noFill/>
            <a:miter lim="800000"/>
            <a:headEnd/>
            <a:tailEnd/>
          </a:ln>
          <a:effectLst/>
        </p:spPr>
        <p:txBody>
          <a:bodyPr lIns="0" tIns="0" rIns="0" bIns="0"/>
          <a:lstStyle/>
          <a:p>
            <a:pPr marL="287338" indent="-287338" algn="l">
              <a:spcBef>
                <a:spcPts val="1200"/>
              </a:spcBef>
              <a:buClr>
                <a:srgbClr val="8DACD0"/>
              </a:buClr>
              <a:buSzPct val="70000"/>
              <a:buFont typeface="Wingdings" pitchFamily="2" charset="2"/>
              <a:buBlip>
                <a:blip r:embed="rId3"/>
              </a:buBlip>
            </a:pPr>
            <a:r>
              <a:rPr lang="fr-FR" altLang="zh-CN" sz="2500" dirty="0">
                <a:solidFill>
                  <a:srgbClr val="000000"/>
                </a:solidFill>
                <a:ea typeface="SimSun" pitchFamily="2" charset="-122"/>
                <a:cs typeface="Arial Narrow" pitchFamily="34" charset="0"/>
              </a:rPr>
              <a:t>Pour empêcher les outils Gestionnaire des tâches et Performances de constituer une charge supplémentaire pour le serveur, ce qui pourrait fausser la représentation </a:t>
            </a:r>
            <a:r>
              <a:rPr lang="fr-FR" altLang="zh-CN" sz="2500" dirty="0" smtClean="0">
                <a:solidFill>
                  <a:srgbClr val="000000"/>
                </a:solidFill>
                <a:ea typeface="SimSun" pitchFamily="2" charset="-122"/>
                <a:cs typeface="Arial Narrow" pitchFamily="34" charset="0"/>
              </a:rPr>
              <a:t>des </a:t>
            </a:r>
            <a:r>
              <a:rPr lang="fr-FR" altLang="zh-CN" sz="2500" dirty="0">
                <a:solidFill>
                  <a:srgbClr val="000000"/>
                </a:solidFill>
                <a:ea typeface="SimSun" pitchFamily="2" charset="-122"/>
                <a:cs typeface="Arial Narrow" pitchFamily="34" charset="0"/>
              </a:rPr>
              <a:t>données collectées</a:t>
            </a:r>
            <a:r>
              <a:rPr lang="en-IE" altLang="zh-CN" sz="2500" dirty="0">
                <a:solidFill>
                  <a:srgbClr val="000000"/>
                </a:solidFill>
                <a:ea typeface="SimSun" pitchFamily="2" charset="-122"/>
                <a:cs typeface="Arial Narrow" pitchFamily="34" charset="0"/>
              </a:rPr>
              <a:t> </a:t>
            </a:r>
            <a:endParaRPr lang="en-US" altLang="zh-CN" sz="2500" dirty="0">
              <a:ea typeface="SimSun" pitchFamily="2" charset="-122"/>
              <a:cs typeface="Arial Narrow" pitchFamily="34" charset="0"/>
            </a:endParaRPr>
          </a:p>
          <a:p>
            <a:pPr marL="287338" indent="-287338" algn="l">
              <a:spcBef>
                <a:spcPts val="1200"/>
              </a:spcBef>
              <a:buClr>
                <a:srgbClr val="8DACD0"/>
              </a:buClr>
              <a:buSzPct val="70000"/>
              <a:buFont typeface="Wingdings" pitchFamily="2" charset="2"/>
              <a:buBlip>
                <a:blip r:embed="rId3"/>
              </a:buBlip>
            </a:pPr>
            <a:r>
              <a:rPr lang="fr-FR" altLang="zh-CN" sz="2500" dirty="0">
                <a:solidFill>
                  <a:srgbClr val="000000"/>
                </a:solidFill>
                <a:ea typeface="SimSun" pitchFamily="2" charset="-122"/>
                <a:cs typeface="Arial Narrow" pitchFamily="34" charset="0"/>
              </a:rPr>
              <a:t>Les administrateurs étant souvent responsables de plusieurs centaines de serveurs, il leur est impossible d'analyser individuellement chaque serveur</a:t>
            </a:r>
            <a:r>
              <a:rPr lang="en-IE" altLang="zh-CN" sz="2500" dirty="0">
                <a:solidFill>
                  <a:srgbClr val="000000"/>
                </a:solidFill>
                <a:ea typeface="SimSun" pitchFamily="2" charset="-122"/>
                <a:cs typeface="Arial Narrow"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39664">
                                            <p:txEl>
                                              <p:pRg st="0" end="0"/>
                                            </p:txEl>
                                          </p:spTgt>
                                        </p:tgtEl>
                                        <p:attrNameLst>
                                          <p:attrName>style.visibility</p:attrName>
                                        </p:attrNameLst>
                                      </p:cBhvr>
                                      <p:to>
                                        <p:strVal val="visible"/>
                                      </p:to>
                                    </p:set>
                                    <p:animEffect transition="in" filter="checkerboard(across)">
                                      <p:cBhvr>
                                        <p:cTn id="7" dur="500"/>
                                        <p:tgtEl>
                                          <p:spTgt spid="53966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39664">
                                            <p:txEl>
                                              <p:pRg st="1" end="1"/>
                                            </p:txEl>
                                          </p:spTgt>
                                        </p:tgtEl>
                                        <p:attrNameLst>
                                          <p:attrName>style.visibility</p:attrName>
                                        </p:attrNameLst>
                                      </p:cBhvr>
                                      <p:to>
                                        <p:strVal val="visible"/>
                                      </p:to>
                                    </p:set>
                                    <p:animEffect transition="in" filter="checkerboard(across)">
                                      <p:cBhvr>
                                        <p:cTn id="12" dur="500"/>
                                        <p:tgtEl>
                                          <p:spTgt spid="53966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2"/>
          <p:cNvSpPr>
            <a:spLocks noGrp="1" noChangeArrowheads="1"/>
          </p:cNvSpPr>
          <p:nvPr>
            <p:ph type="title"/>
          </p:nvPr>
        </p:nvSpPr>
        <p:spPr>
          <a:xfrm>
            <a:off x="180109" y="313037"/>
            <a:ext cx="8797636" cy="844551"/>
          </a:xfrm>
        </p:spPr>
        <p:txBody>
          <a:bodyPr>
            <a:normAutofit fontScale="90000"/>
          </a:bodyPr>
          <a:lstStyle/>
          <a:p>
            <a:r>
              <a:rPr lang="fr-FR" altLang="zh-CN" b="1" dirty="0" smtClean="0">
                <a:solidFill>
                  <a:srgbClr val="000000"/>
                </a:solidFill>
                <a:ea typeface="SimSun" pitchFamily="2" charset="-122"/>
                <a:cs typeface="Arial Narrow" pitchFamily="34" charset="0"/>
              </a:rPr>
              <a:t>3. Configuration </a:t>
            </a:r>
            <a:r>
              <a:rPr lang="fr-FR" altLang="zh-CN" b="1" dirty="0">
                <a:solidFill>
                  <a:srgbClr val="000000"/>
                </a:solidFill>
                <a:ea typeface="SimSun" pitchFamily="2" charset="-122"/>
                <a:cs typeface="Arial Narrow" pitchFamily="34" charset="0"/>
              </a:rPr>
              <a:t>et gestion des journaux de </a:t>
            </a:r>
            <a:r>
              <a:rPr lang="fr-FR" altLang="zh-CN" b="1" dirty="0" smtClean="0">
                <a:solidFill>
                  <a:srgbClr val="000000"/>
                </a:solidFill>
                <a:ea typeface="SimSun" pitchFamily="2" charset="-122"/>
                <a:cs typeface="Arial Narrow" pitchFamily="34" charset="0"/>
              </a:rPr>
              <a:t>compteur et des alertes</a:t>
            </a:r>
            <a:r>
              <a:rPr lang="en-IE" altLang="zh-CN" b="1" dirty="0" smtClean="0">
                <a:solidFill>
                  <a:srgbClr val="000000"/>
                </a:solidFill>
                <a:ea typeface="SimSun" pitchFamily="2" charset="-122"/>
                <a:cs typeface="Arial Narrow" pitchFamily="34" charset="0"/>
              </a:rPr>
              <a:t> </a:t>
            </a:r>
            <a:endParaRPr lang="en-US" altLang="zh-CN" b="1" dirty="0">
              <a:solidFill>
                <a:srgbClr val="000000"/>
              </a:solidFill>
              <a:ea typeface="SimSun" pitchFamily="2" charset="-122"/>
              <a:cs typeface="Arial Narrow" pitchFamily="34" charset="0"/>
            </a:endParaRPr>
          </a:p>
        </p:txBody>
      </p:sp>
      <p:sp>
        <p:nvSpPr>
          <p:cNvPr id="362499" name="Rectangle-3"/>
          <p:cNvSpPr>
            <a:spLocks noGrp="1" noChangeArrowheads="1"/>
          </p:cNvSpPr>
          <p:nvPr>
            <p:ph sz="quarter" idx="1"/>
          </p:nvPr>
        </p:nvSpPr>
        <p:spPr>
          <a:xfrm>
            <a:off x="249382" y="2132315"/>
            <a:ext cx="8562109" cy="2065611"/>
          </a:xfrm>
        </p:spPr>
        <p:txBody>
          <a:bodyPr>
            <a:normAutofit/>
          </a:bodyPr>
          <a:lstStyle/>
          <a:p>
            <a:r>
              <a:rPr lang="fr-FR" altLang="zh-CN" b="1" dirty="0">
                <a:solidFill>
                  <a:srgbClr val="C00000"/>
                </a:solidFill>
                <a:ea typeface="SimSun" pitchFamily="2" charset="-122"/>
                <a:cs typeface="Arial Narrow" pitchFamily="34" charset="0"/>
              </a:rPr>
              <a:t>Qu'est-ce qu'un journal de compteur ?</a:t>
            </a:r>
            <a:r>
              <a:rPr lang="en-IE" altLang="zh-CN" b="1" dirty="0">
                <a:solidFill>
                  <a:srgbClr val="C00000"/>
                </a:solidFill>
                <a:ea typeface="SimSun" pitchFamily="2" charset="-122"/>
                <a:cs typeface="Arial Narrow" pitchFamily="34" charset="0"/>
              </a:rPr>
              <a:t> </a:t>
            </a:r>
            <a:endParaRPr lang="en-US" altLang="zh-CN" b="1" dirty="0">
              <a:solidFill>
                <a:srgbClr val="C00000"/>
              </a:solidFill>
              <a:ea typeface="SimSun" pitchFamily="2" charset="-122"/>
              <a:cs typeface="Arial Narrow" pitchFamily="34" charset="0"/>
            </a:endParaRPr>
          </a:p>
          <a:p>
            <a:r>
              <a:rPr lang="fr-FR" altLang="zh-CN" b="1" dirty="0" smtClean="0">
                <a:solidFill>
                  <a:srgbClr val="C00000"/>
                </a:solidFill>
                <a:ea typeface="SimSun" pitchFamily="2" charset="-122"/>
                <a:cs typeface="Arial Narrow" pitchFamily="34" charset="0"/>
              </a:rPr>
              <a:t>Comment </a:t>
            </a:r>
            <a:r>
              <a:rPr lang="fr-FR" altLang="zh-CN" b="1" dirty="0">
                <a:solidFill>
                  <a:srgbClr val="C00000"/>
                </a:solidFill>
                <a:ea typeface="SimSun" pitchFamily="2" charset="-122"/>
                <a:cs typeface="Arial Narrow" pitchFamily="34" charset="0"/>
              </a:rPr>
              <a:t>planifier un journal de compteur ?</a:t>
            </a:r>
            <a:r>
              <a:rPr lang="en-IE" altLang="zh-CN" b="1" dirty="0">
                <a:solidFill>
                  <a:srgbClr val="C00000"/>
                </a:solidFill>
                <a:ea typeface="SimSun" pitchFamily="2" charset="-122"/>
                <a:cs typeface="Arial Narrow" pitchFamily="34" charset="0"/>
              </a:rPr>
              <a:t> </a:t>
            </a:r>
            <a:endParaRPr lang="en-IE" altLang="zh-CN" b="1" dirty="0" smtClean="0">
              <a:solidFill>
                <a:srgbClr val="C00000"/>
              </a:solidFill>
              <a:ea typeface="SimSun" pitchFamily="2" charset="-122"/>
              <a:cs typeface="Arial Narrow" pitchFamily="34" charset="0"/>
            </a:endParaRPr>
          </a:p>
          <a:p>
            <a:r>
              <a:rPr lang="fr-FR" altLang="zh-CN" sz="2800" b="1" dirty="0" smtClean="0">
                <a:solidFill>
                  <a:srgbClr val="C00000"/>
                </a:solidFill>
                <a:ea typeface="SimSun" pitchFamily="2" charset="-122"/>
                <a:cs typeface="Arial Narrow" pitchFamily="34" charset="0"/>
              </a:rPr>
              <a:t>Qu'est-ce qu'une alerte ?</a:t>
            </a:r>
            <a:r>
              <a:rPr lang="en-IE" altLang="zh-CN" sz="2800" b="1" dirty="0" smtClean="0">
                <a:solidFill>
                  <a:srgbClr val="C00000"/>
                </a:solidFill>
                <a:ea typeface="SimSun" pitchFamily="2" charset="-122"/>
                <a:cs typeface="Arial Narrow" pitchFamily="34" charset="0"/>
              </a:rPr>
              <a:t> </a:t>
            </a:r>
            <a:endParaRPr lang="en-US" altLang="zh-CN" sz="2800" b="1" dirty="0" smtClean="0">
              <a:solidFill>
                <a:srgbClr val="C00000"/>
              </a:solidFill>
              <a:ea typeface="SimSun" pitchFamily="2" charset="-122"/>
              <a:cs typeface="Arial Narrow" pitchFamily="34" charset="0"/>
            </a:endParaRPr>
          </a:p>
          <a:p>
            <a:endParaRPr lang="en-US" altLang="zh-CN" b="1" dirty="0">
              <a:solidFill>
                <a:srgbClr val="C00000"/>
              </a:solidFill>
              <a:ea typeface="SimSun" pitchFamily="2" charset="-122"/>
              <a:cs typeface="Arial Narrow" pitchFamily="34" charset="0"/>
            </a:endParaRPr>
          </a:p>
          <a:p>
            <a:endParaRPr lang="en-US" altLang="zh-CN" b="1" dirty="0">
              <a:solidFill>
                <a:srgbClr val="C00000"/>
              </a:solidFill>
              <a:ea typeface="SimSun" pitchFamily="2" charset="-122"/>
              <a:cs typeface="Arial Narrow"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2"/>
          <p:cNvSpPr>
            <a:spLocks noGrp="1" noChangeArrowheads="1"/>
          </p:cNvSpPr>
          <p:nvPr>
            <p:ph type="title"/>
          </p:nvPr>
        </p:nvSpPr>
        <p:spPr>
          <a:xfrm>
            <a:off x="180109" y="228600"/>
            <a:ext cx="8797636" cy="758952"/>
          </a:xfrm>
        </p:spPr>
        <p:txBody>
          <a:bodyPr/>
          <a:lstStyle/>
          <a:p>
            <a:r>
              <a:rPr lang="fr-FR" altLang="zh-CN" b="1" dirty="0" smtClean="0">
                <a:solidFill>
                  <a:srgbClr val="C00000"/>
                </a:solidFill>
                <a:ea typeface="SimSun" pitchFamily="2" charset="-122"/>
                <a:cs typeface="Arial Narrow" pitchFamily="34" charset="0"/>
              </a:rPr>
              <a:t>Qu'est ce </a:t>
            </a:r>
            <a:r>
              <a:rPr lang="fr-FR" altLang="zh-CN" b="1" dirty="0">
                <a:solidFill>
                  <a:srgbClr val="C00000"/>
                </a:solidFill>
                <a:ea typeface="SimSun" pitchFamily="2" charset="-122"/>
                <a:cs typeface="Arial Narrow" pitchFamily="34" charset="0"/>
              </a:rPr>
              <a:t>qu'un journal de compteur ?</a:t>
            </a:r>
            <a:endParaRPr lang="en-US" altLang="zh-CN" b="1" dirty="0">
              <a:solidFill>
                <a:srgbClr val="C00000"/>
              </a:solidFill>
              <a:ea typeface="SimSun" pitchFamily="2" charset="-122"/>
              <a:cs typeface="Arial Narrow" pitchFamily="34" charset="0"/>
            </a:endParaRPr>
          </a:p>
        </p:txBody>
      </p:sp>
      <p:sp>
        <p:nvSpPr>
          <p:cNvPr id="347150" name="Rectangle-14"/>
          <p:cNvSpPr>
            <a:spLocks noGrp="1" noChangeArrowheads="1"/>
          </p:cNvSpPr>
          <p:nvPr>
            <p:ph sz="quarter" idx="1"/>
          </p:nvPr>
        </p:nvSpPr>
        <p:spPr>
          <a:xfrm>
            <a:off x="180109" y="1527048"/>
            <a:ext cx="8797635" cy="2435352"/>
          </a:xfrm>
        </p:spPr>
        <p:txBody>
          <a:bodyPr/>
          <a:lstStyle/>
          <a:p>
            <a:r>
              <a:rPr lang="fr-FR" altLang="zh-CN" dirty="0">
                <a:solidFill>
                  <a:srgbClr val="000000"/>
                </a:solidFill>
                <a:ea typeface="SimSun" pitchFamily="2" charset="-122"/>
                <a:cs typeface="Arial Narrow" pitchFamily="34" charset="0"/>
              </a:rPr>
              <a:t>Chaque objet de performance comporte des compteurs qui fournissent des données sur des aspects spécifiques d'un système ou d'un serveur</a:t>
            </a:r>
            <a:r>
              <a:rPr lang="en-IE" altLang="zh-CN" dirty="0">
                <a:solidFill>
                  <a:srgbClr val="000000"/>
                </a:solidFill>
                <a:ea typeface="SimSun" pitchFamily="2" charset="-122"/>
                <a:cs typeface="Arial Narrow" pitchFamily="34" charset="0"/>
              </a:rPr>
              <a:t> </a:t>
            </a:r>
            <a:endParaRPr lang="en-US" altLang="zh-CN" dirty="0">
              <a:ea typeface="SimSun" pitchFamily="2" charset="-122"/>
              <a:cs typeface="Arial Narrow" pitchFamily="34" charset="0"/>
            </a:endParaRPr>
          </a:p>
          <a:p>
            <a:r>
              <a:rPr lang="fr-FR" altLang="zh-CN" dirty="0">
                <a:solidFill>
                  <a:srgbClr val="000000"/>
                </a:solidFill>
                <a:ea typeface="SimSun" pitchFamily="2" charset="-122"/>
                <a:cs typeface="Arial Narrow" pitchFamily="34" charset="0"/>
              </a:rPr>
              <a:t>Les journaux de compteur définissent les données stockées dans le fichier journal</a:t>
            </a:r>
            <a:r>
              <a:rPr lang="en-IE" altLang="zh-CN" dirty="0">
                <a:solidFill>
                  <a:srgbClr val="000000"/>
                </a:solidFill>
                <a:ea typeface="SimSun" pitchFamily="2" charset="-122"/>
                <a:cs typeface="Arial Narrow" pitchFamily="34" charset="0"/>
              </a:rPr>
              <a:t> </a:t>
            </a:r>
            <a:endParaRPr lang="en-US" altLang="zh-CN" dirty="0">
              <a:solidFill>
                <a:srgbClr val="000000"/>
              </a:solidFill>
              <a:ea typeface="SimSun" pitchFamily="2" charset="-122"/>
              <a:cs typeface="Arial Narrow" pitchFamily="34" charset="0"/>
            </a:endParaRPr>
          </a:p>
        </p:txBody>
      </p:sp>
      <p:grpSp>
        <p:nvGrpSpPr>
          <p:cNvPr id="347149" name="Group-13"/>
          <p:cNvGrpSpPr>
            <a:grpSpLocks/>
          </p:cNvGrpSpPr>
          <p:nvPr/>
        </p:nvGrpSpPr>
        <p:grpSpPr bwMode="auto">
          <a:xfrm>
            <a:off x="745273" y="3809735"/>
            <a:ext cx="7653455" cy="2849283"/>
            <a:chOff x="211" y="1244"/>
            <a:chExt cx="4930" cy="1951"/>
          </a:xfrm>
        </p:grpSpPr>
        <p:sp>
          <p:nvSpPr>
            <p:cNvPr id="347147" name="AutoShape-11"/>
            <p:cNvSpPr>
              <a:spLocks noChangeArrowheads="1"/>
            </p:cNvSpPr>
            <p:nvPr/>
          </p:nvSpPr>
          <p:spPr bwMode="auto">
            <a:xfrm>
              <a:off x="211" y="1244"/>
              <a:ext cx="4930" cy="1951"/>
            </a:xfrm>
            <a:prstGeom prst="roundRect">
              <a:avLst>
                <a:gd name="adj" fmla="val 4167"/>
              </a:avLst>
            </a:prstGeom>
            <a:solidFill>
              <a:srgbClr val="B3C8DF"/>
            </a:solidFill>
            <a:ln w="9525">
              <a:solidFill>
                <a:srgbClr val="4D4D4D"/>
              </a:solidFill>
              <a:round/>
              <a:headEnd/>
              <a:tailEnd/>
            </a:ln>
            <a:effectLst>
              <a:outerShdw dist="35921" dir="2700000" algn="ctr" rotWithShape="0">
                <a:srgbClr val="AFAFAF"/>
              </a:outerShdw>
            </a:effectLst>
          </p:spPr>
          <p:txBody>
            <a:bodyPr/>
            <a:lstStyle/>
            <a:p>
              <a:endParaRPr lang="en-IE" sz="2400" b="0"/>
            </a:p>
          </p:txBody>
        </p:sp>
        <p:pic>
          <p:nvPicPr>
            <p:cNvPr id="347144" name="Picture-8" descr="Mod2L3"/>
            <p:cNvPicPr>
              <a:picLocks noChangeAspect="1" noChangeArrowheads="1"/>
            </p:cNvPicPr>
            <p:nvPr/>
          </p:nvPicPr>
          <p:blipFill>
            <a:blip r:embed="rId3"/>
            <a:srcRect/>
            <a:stretch>
              <a:fillRect/>
            </a:stretch>
          </p:blipFill>
          <p:spPr bwMode="auto">
            <a:xfrm>
              <a:off x="324" y="1339"/>
              <a:ext cx="4764" cy="1798"/>
            </a:xfrm>
            <a:prstGeom prst="rect">
              <a:avLst/>
            </a:prstGeom>
            <a:noFill/>
            <a:ln>
              <a:noFill/>
            </a:ln>
            <a:effectLst/>
          </p:spPr>
        </p:pic>
      </p:grpSp>
      <p:sp>
        <p:nvSpPr>
          <p:cNvPr id="347152" name="Rectangle-16"/>
          <p:cNvSpPr>
            <a:spLocks noChangeArrowheads="1"/>
          </p:cNvSpPr>
          <p:nvPr/>
        </p:nvSpPr>
        <p:spPr bwMode="auto">
          <a:xfrm>
            <a:off x="1493838" y="5520775"/>
            <a:ext cx="1306512" cy="166688"/>
          </a:xfrm>
          <a:prstGeom prst="rect">
            <a:avLst/>
          </a:prstGeom>
          <a:noFill/>
          <a:ln w="38100">
            <a:solidFill>
              <a:srgbClr val="CC0000"/>
            </a:solidFill>
            <a:miter lim="800000"/>
            <a:headEnd/>
            <a:tailEnd/>
          </a:ln>
          <a:effectLst/>
        </p:spPr>
        <p:txBody>
          <a:bodyPr wrap="none" anchor="ctr"/>
          <a:lstStyle/>
          <a:p>
            <a:endParaRPr lang="fr-FR"/>
          </a:p>
        </p:txBody>
      </p:sp>
      <p:sp>
        <p:nvSpPr>
          <p:cNvPr id="347153" name="AutoShape-17"/>
          <p:cNvSpPr>
            <a:spLocks noChangeArrowheads="1"/>
          </p:cNvSpPr>
          <p:nvPr/>
        </p:nvSpPr>
        <p:spPr bwMode="auto">
          <a:xfrm>
            <a:off x="2852738" y="5425525"/>
            <a:ext cx="619125" cy="360363"/>
          </a:xfrm>
          <a:prstGeom prst="leftArrow">
            <a:avLst>
              <a:gd name="adj1" fmla="val 49778"/>
              <a:gd name="adj2" fmla="val 71809"/>
            </a:avLst>
          </a:prstGeom>
          <a:solidFill>
            <a:srgbClr val="FF0000">
              <a:alpha val="75000"/>
            </a:srgbClr>
          </a:solidFill>
          <a:ln w="9525">
            <a:noFill/>
            <a:miter lim="800000"/>
            <a:headEnd/>
            <a:tailEnd/>
          </a:ln>
        </p:spPr>
        <p:txBody>
          <a:bodyPr/>
          <a:lstStyle/>
          <a:p>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47150">
                                            <p:txEl>
                                              <p:pRg st="0" end="0"/>
                                            </p:txEl>
                                          </p:spTgt>
                                        </p:tgtEl>
                                        <p:attrNameLst>
                                          <p:attrName>style.visibility</p:attrName>
                                        </p:attrNameLst>
                                      </p:cBhvr>
                                      <p:to>
                                        <p:strVal val="visible"/>
                                      </p:to>
                                    </p:set>
                                    <p:animEffect transition="in" filter="checkerboard(across)">
                                      <p:cBhvr>
                                        <p:cTn id="7" dur="500"/>
                                        <p:tgtEl>
                                          <p:spTgt spid="3471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47150">
                                            <p:txEl>
                                              <p:pRg st="1" end="1"/>
                                            </p:txEl>
                                          </p:spTgt>
                                        </p:tgtEl>
                                        <p:attrNameLst>
                                          <p:attrName>style.visibility</p:attrName>
                                        </p:attrNameLst>
                                      </p:cBhvr>
                                      <p:to>
                                        <p:strVal val="visible"/>
                                      </p:to>
                                    </p:set>
                                    <p:animEffect transition="in" filter="checkerboard(across)">
                                      <p:cBhvr>
                                        <p:cTn id="12" dur="500"/>
                                        <p:tgtEl>
                                          <p:spTgt spid="347150">
                                            <p:txEl>
                                              <p:pRg st="1" end="1"/>
                                            </p:txEl>
                                          </p:spTgt>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347149"/>
                                        </p:tgtEl>
                                        <p:attrNameLst>
                                          <p:attrName>style.visibility</p:attrName>
                                        </p:attrNameLst>
                                      </p:cBhvr>
                                      <p:to>
                                        <p:strVal val="visible"/>
                                      </p:to>
                                    </p:set>
                                    <p:animEffect transition="in" filter="wipe(down)">
                                      <p:cBhvr>
                                        <p:cTn id="16" dur="500"/>
                                        <p:tgtEl>
                                          <p:spTgt spid="347149"/>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47152"/>
                                        </p:tgtEl>
                                        <p:attrNameLst>
                                          <p:attrName>style.visibility</p:attrName>
                                        </p:attrNameLst>
                                      </p:cBhvr>
                                      <p:to>
                                        <p:strVal val="visible"/>
                                      </p:to>
                                    </p:set>
                                    <p:animEffect transition="in" filter="wipe(down)">
                                      <p:cBhvr>
                                        <p:cTn id="19" dur="500"/>
                                        <p:tgtEl>
                                          <p:spTgt spid="34715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47153"/>
                                        </p:tgtEl>
                                        <p:attrNameLst>
                                          <p:attrName>style.visibility</p:attrName>
                                        </p:attrNameLst>
                                      </p:cBhvr>
                                      <p:to>
                                        <p:strVal val="visible"/>
                                      </p:to>
                                    </p:set>
                                    <p:animEffect transition="in" filter="wipe(down)">
                                      <p:cBhvr>
                                        <p:cTn id="22" dur="500"/>
                                        <p:tgtEl>
                                          <p:spTgt spid="347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52" grpId="0" animBg="1"/>
      <p:bldP spid="34715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1752" y="325585"/>
            <a:ext cx="8534400" cy="758952"/>
          </a:xfrm>
        </p:spPr>
        <p:txBody>
          <a:bodyPr>
            <a:normAutofit fontScale="90000"/>
          </a:bodyPr>
          <a:lstStyle/>
          <a:p>
            <a:r>
              <a:rPr lang="fr-FR" b="1" dirty="0" smtClean="0">
                <a:solidFill>
                  <a:srgbClr val="C00000"/>
                </a:solidFill>
              </a:rPr>
              <a:t>Comment planifier un journal de compteur ?</a:t>
            </a:r>
            <a:endParaRPr lang="fr-FR" dirty="0">
              <a:solidFill>
                <a:srgbClr val="C00000"/>
              </a:solidFill>
            </a:endParaRPr>
          </a:p>
        </p:txBody>
      </p:sp>
      <p:sp>
        <p:nvSpPr>
          <p:cNvPr id="3" name="Espace réservé du contenu 2"/>
          <p:cNvSpPr>
            <a:spLocks noGrp="1"/>
          </p:cNvSpPr>
          <p:nvPr>
            <p:ph sz="quarter" idx="1"/>
          </p:nvPr>
        </p:nvSpPr>
        <p:spPr>
          <a:xfrm>
            <a:off x="246334" y="2025812"/>
            <a:ext cx="8503920" cy="2601607"/>
          </a:xfrm>
        </p:spPr>
        <p:txBody>
          <a:bodyPr/>
          <a:lstStyle/>
          <a:p>
            <a:r>
              <a:rPr lang="fr-FR" dirty="0" smtClean="0"/>
              <a:t>Il est possible de lancer un journal de compteur manuellement ou via une planification.</a:t>
            </a:r>
          </a:p>
          <a:p>
            <a:r>
              <a:rPr lang="fr-FR" dirty="0" smtClean="0"/>
              <a:t>La planification se définit dans les propriétés du journal, ou pendant le processus de création du journal.</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2"/>
          <p:cNvSpPr>
            <a:spLocks noGrp="1" noChangeArrowheads="1"/>
          </p:cNvSpPr>
          <p:nvPr>
            <p:ph type="title"/>
          </p:nvPr>
        </p:nvSpPr>
        <p:spPr>
          <a:xfrm>
            <a:off x="190915" y="311727"/>
            <a:ext cx="8786829" cy="758952"/>
          </a:xfrm>
        </p:spPr>
        <p:txBody>
          <a:bodyPr/>
          <a:lstStyle/>
          <a:p>
            <a:r>
              <a:rPr lang="fr-FR" altLang="zh-CN" b="1" dirty="0">
                <a:solidFill>
                  <a:srgbClr val="C00000"/>
                </a:solidFill>
                <a:ea typeface="SimSun" pitchFamily="2" charset="-122"/>
                <a:cs typeface="Arial Narrow" pitchFamily="34" charset="0"/>
              </a:rPr>
              <a:t>Qu'est-ce qu'une alerte ? </a:t>
            </a:r>
          </a:p>
        </p:txBody>
      </p:sp>
      <p:sp>
        <p:nvSpPr>
          <p:cNvPr id="459779" name="Rectangle-3"/>
          <p:cNvSpPr>
            <a:spLocks noGrp="1" noChangeArrowheads="1"/>
          </p:cNvSpPr>
          <p:nvPr>
            <p:ph sz="quarter" idx="1"/>
          </p:nvPr>
        </p:nvSpPr>
        <p:spPr>
          <a:xfrm>
            <a:off x="41558" y="1320800"/>
            <a:ext cx="8991601" cy="5135418"/>
          </a:xfrm>
        </p:spPr>
        <p:txBody>
          <a:bodyPr>
            <a:normAutofit fontScale="92500"/>
          </a:bodyPr>
          <a:lstStyle/>
          <a:p>
            <a:pPr>
              <a:lnSpc>
                <a:spcPct val="120000"/>
              </a:lnSpc>
              <a:spcBef>
                <a:spcPct val="20000"/>
              </a:spcBef>
              <a:spcAft>
                <a:spcPts val="1200"/>
              </a:spcAft>
              <a:buClrTx/>
              <a:buFont typeface="Wingdings" pitchFamily="2" charset="2"/>
              <a:buChar char="q"/>
            </a:pPr>
            <a:r>
              <a:rPr lang="fr-FR" altLang="zh-CN" sz="2600" dirty="0">
                <a:solidFill>
                  <a:srgbClr val="000000"/>
                </a:solidFill>
                <a:ea typeface="SimSun" pitchFamily="2" charset="-122"/>
                <a:cs typeface="Arial Narrow" pitchFamily="34" charset="0"/>
              </a:rPr>
              <a:t>Fonction qui détecte à quel moment une valeur de compteur </a:t>
            </a:r>
            <a:r>
              <a:rPr lang="fr-FR" altLang="zh-CN" sz="2600" dirty="0" smtClean="0">
                <a:solidFill>
                  <a:srgbClr val="000000"/>
                </a:solidFill>
                <a:ea typeface="SimSun" pitchFamily="2" charset="-122"/>
                <a:cs typeface="Arial Narrow" pitchFamily="34" charset="0"/>
              </a:rPr>
              <a:t>prédéfinie </a:t>
            </a:r>
            <a:r>
              <a:rPr lang="fr-FR" altLang="zh-CN" sz="2600" dirty="0">
                <a:solidFill>
                  <a:srgbClr val="000000"/>
                </a:solidFill>
                <a:ea typeface="SimSun" pitchFamily="2" charset="-122"/>
                <a:cs typeface="Arial Narrow" pitchFamily="34" charset="0"/>
              </a:rPr>
              <a:t>est supérieure ou inférieure à un paramètre spécifié</a:t>
            </a:r>
            <a:r>
              <a:rPr lang="en-IE" altLang="zh-CN" sz="2600" dirty="0">
                <a:solidFill>
                  <a:srgbClr val="000000"/>
                </a:solidFill>
                <a:ea typeface="SimSun" pitchFamily="2" charset="-122"/>
                <a:cs typeface="Arial Narrow" pitchFamily="34" charset="0"/>
              </a:rPr>
              <a:t> </a:t>
            </a:r>
            <a:endParaRPr lang="en-US" altLang="zh-CN" sz="2600" dirty="0">
              <a:ea typeface="SimSun" pitchFamily="2" charset="-122"/>
              <a:cs typeface="Arial Narrow" pitchFamily="34" charset="0"/>
            </a:endParaRPr>
          </a:p>
          <a:p>
            <a:pPr>
              <a:lnSpc>
                <a:spcPct val="80000"/>
              </a:lnSpc>
              <a:spcBef>
                <a:spcPct val="20000"/>
              </a:spcBef>
              <a:spcAft>
                <a:spcPts val="1200"/>
              </a:spcAft>
              <a:buClrTx/>
              <a:buFont typeface="Wingdings" pitchFamily="2" charset="2"/>
              <a:buChar char="q"/>
            </a:pPr>
            <a:r>
              <a:rPr lang="fr-FR" altLang="zh-CN" sz="2600" dirty="0">
                <a:solidFill>
                  <a:srgbClr val="000000"/>
                </a:solidFill>
                <a:ea typeface="SimSun" pitchFamily="2" charset="-122"/>
                <a:cs typeface="Arial Narrow" pitchFamily="34" charset="0"/>
              </a:rPr>
              <a:t>Le paramètre spécifié est appelé seuil d'alerte</a:t>
            </a:r>
            <a:r>
              <a:rPr lang="en-IE" altLang="zh-CN" sz="2600" dirty="0">
                <a:solidFill>
                  <a:srgbClr val="000000"/>
                </a:solidFill>
                <a:ea typeface="SimSun" pitchFamily="2" charset="-122"/>
                <a:cs typeface="Arial Narrow" pitchFamily="34" charset="0"/>
              </a:rPr>
              <a:t> </a:t>
            </a:r>
            <a:endParaRPr lang="en-IE" altLang="zh-CN" sz="2600" dirty="0" smtClean="0">
              <a:solidFill>
                <a:srgbClr val="000000"/>
              </a:solidFill>
              <a:ea typeface="SimSun" pitchFamily="2" charset="-122"/>
              <a:cs typeface="Arial Narrow" pitchFamily="34" charset="0"/>
            </a:endParaRPr>
          </a:p>
          <a:p>
            <a:pPr>
              <a:lnSpc>
                <a:spcPct val="80000"/>
              </a:lnSpc>
              <a:spcBef>
                <a:spcPct val="20000"/>
              </a:spcBef>
              <a:spcAft>
                <a:spcPts val="1200"/>
              </a:spcAft>
              <a:buClrTx/>
              <a:buFont typeface="Wingdings" pitchFamily="2" charset="2"/>
              <a:buChar char="q"/>
            </a:pPr>
            <a:r>
              <a:rPr lang="fr-FR" altLang="zh-CN" sz="2600" dirty="0" smtClean="0">
                <a:solidFill>
                  <a:srgbClr val="000000"/>
                </a:solidFill>
                <a:ea typeface="SimSun" pitchFamily="2" charset="-122"/>
                <a:cs typeface="Arial Narrow" pitchFamily="34" charset="0"/>
              </a:rPr>
              <a:t>Vous </a:t>
            </a:r>
            <a:r>
              <a:rPr lang="fr-FR" altLang="zh-CN" sz="2600" dirty="0">
                <a:solidFill>
                  <a:srgbClr val="000000"/>
                </a:solidFill>
                <a:ea typeface="SimSun" pitchFamily="2" charset="-122"/>
                <a:cs typeface="Arial Narrow" pitchFamily="34" charset="0"/>
              </a:rPr>
              <a:t>pouvez définir une alerte </a:t>
            </a:r>
            <a:r>
              <a:rPr lang="fr-FR" altLang="zh-CN" sz="2600" dirty="0" smtClean="0">
                <a:solidFill>
                  <a:srgbClr val="000000"/>
                </a:solidFill>
                <a:ea typeface="SimSun" pitchFamily="2" charset="-122"/>
                <a:cs typeface="Arial Narrow" pitchFamily="34" charset="0"/>
              </a:rPr>
              <a:t>afin d’effectuer les actions suivantes :</a:t>
            </a:r>
            <a:endParaRPr lang="en-US" altLang="zh-CN" sz="2600" dirty="0">
              <a:solidFill>
                <a:srgbClr val="000000"/>
              </a:solidFill>
              <a:ea typeface="SimSun" pitchFamily="2" charset="-122"/>
              <a:cs typeface="Arial Narrow" pitchFamily="34" charset="0"/>
            </a:endParaRPr>
          </a:p>
          <a:p>
            <a:pPr lvl="1">
              <a:lnSpc>
                <a:spcPct val="90000"/>
              </a:lnSpc>
              <a:spcBef>
                <a:spcPct val="20000"/>
              </a:spcBef>
              <a:spcAft>
                <a:spcPts val="1200"/>
              </a:spcAft>
              <a:buClrTx/>
              <a:buFont typeface="Wingdings" pitchFamily="2" charset="2"/>
              <a:buChar char="v"/>
            </a:pPr>
            <a:r>
              <a:rPr lang="fr-FR" altLang="zh-CN" sz="2400" dirty="0">
                <a:solidFill>
                  <a:srgbClr val="C00000"/>
                </a:solidFill>
                <a:ea typeface="SimSun" pitchFamily="2" charset="-122"/>
                <a:cs typeface="Arial Narrow" pitchFamily="34" charset="0"/>
              </a:rPr>
              <a:t>Une entrée est créée dans le journal des événements de l'application</a:t>
            </a:r>
            <a:r>
              <a:rPr lang="en-IE" altLang="zh-CN" sz="2400" dirty="0">
                <a:solidFill>
                  <a:srgbClr val="C00000"/>
                </a:solidFill>
                <a:ea typeface="SimSun" pitchFamily="2" charset="-122"/>
                <a:cs typeface="Arial Narrow" pitchFamily="34" charset="0"/>
              </a:rPr>
              <a:t> </a:t>
            </a:r>
            <a:endParaRPr lang="en-US" altLang="zh-CN" sz="2400" dirty="0">
              <a:solidFill>
                <a:srgbClr val="C00000"/>
              </a:solidFill>
              <a:ea typeface="SimSun" pitchFamily="2" charset="-122"/>
              <a:cs typeface="Arial Narrow" pitchFamily="34" charset="0"/>
            </a:endParaRPr>
          </a:p>
          <a:p>
            <a:pPr lvl="1">
              <a:lnSpc>
                <a:spcPct val="90000"/>
              </a:lnSpc>
              <a:spcBef>
                <a:spcPct val="20000"/>
              </a:spcBef>
              <a:spcAft>
                <a:spcPts val="1200"/>
              </a:spcAft>
              <a:buClrTx/>
              <a:buFont typeface="Wingdings" pitchFamily="2" charset="2"/>
              <a:buChar char="v"/>
            </a:pPr>
            <a:r>
              <a:rPr lang="fr-FR" altLang="zh-CN" sz="2400" dirty="0">
                <a:solidFill>
                  <a:srgbClr val="C00000"/>
                </a:solidFill>
                <a:ea typeface="SimSun" pitchFamily="2" charset="-122"/>
                <a:cs typeface="Arial Narrow" pitchFamily="34" charset="0"/>
              </a:rPr>
              <a:t>La valeur de compteur prédéfinie est supérieure ou inférieure </a:t>
            </a:r>
            <a:br>
              <a:rPr lang="fr-FR" altLang="zh-CN" sz="2400" dirty="0">
                <a:solidFill>
                  <a:srgbClr val="C00000"/>
                </a:solidFill>
                <a:ea typeface="SimSun" pitchFamily="2" charset="-122"/>
                <a:cs typeface="Arial Narrow" pitchFamily="34" charset="0"/>
              </a:rPr>
            </a:br>
            <a:r>
              <a:rPr lang="fr-FR" altLang="zh-CN" sz="2400" dirty="0">
                <a:solidFill>
                  <a:srgbClr val="C00000"/>
                </a:solidFill>
                <a:ea typeface="SimSun" pitchFamily="2" charset="-122"/>
                <a:cs typeface="Arial Narrow" pitchFamily="34" charset="0"/>
              </a:rPr>
              <a:t>au seuil d'alerte</a:t>
            </a:r>
            <a:r>
              <a:rPr lang="en-IE" altLang="zh-CN" sz="2400" dirty="0">
                <a:solidFill>
                  <a:srgbClr val="C00000"/>
                </a:solidFill>
                <a:ea typeface="SimSun" pitchFamily="2" charset="-122"/>
                <a:cs typeface="Arial Narrow" pitchFamily="34" charset="0"/>
              </a:rPr>
              <a:t> </a:t>
            </a:r>
            <a:endParaRPr lang="en-US" altLang="zh-CN" sz="2400" dirty="0">
              <a:solidFill>
                <a:srgbClr val="C00000"/>
              </a:solidFill>
              <a:ea typeface="SimSun" pitchFamily="2" charset="-122"/>
              <a:cs typeface="Arial Narrow" pitchFamily="34" charset="0"/>
            </a:endParaRPr>
          </a:p>
          <a:p>
            <a:pPr lvl="1">
              <a:lnSpc>
                <a:spcPct val="90000"/>
              </a:lnSpc>
              <a:spcBef>
                <a:spcPct val="20000"/>
              </a:spcBef>
              <a:spcAft>
                <a:spcPts val="1200"/>
              </a:spcAft>
              <a:buClrTx/>
              <a:buFont typeface="Wingdings" pitchFamily="2" charset="2"/>
              <a:buChar char="v"/>
            </a:pPr>
            <a:r>
              <a:rPr lang="fr-FR" altLang="zh-CN" sz="2400" dirty="0">
                <a:solidFill>
                  <a:srgbClr val="C00000"/>
                </a:solidFill>
                <a:ea typeface="SimSun" pitchFamily="2" charset="-122"/>
                <a:cs typeface="Arial Narrow" pitchFamily="34" charset="0"/>
              </a:rPr>
              <a:t>Un message est envoyé</a:t>
            </a:r>
            <a:r>
              <a:rPr lang="en-IE" altLang="zh-CN" sz="2400" dirty="0">
                <a:solidFill>
                  <a:srgbClr val="C00000"/>
                </a:solidFill>
                <a:ea typeface="SimSun" pitchFamily="2" charset="-122"/>
                <a:cs typeface="Arial Narrow" pitchFamily="34" charset="0"/>
              </a:rPr>
              <a:t> </a:t>
            </a:r>
            <a:endParaRPr lang="en-US" altLang="zh-CN" sz="2400" dirty="0">
              <a:solidFill>
                <a:srgbClr val="C00000"/>
              </a:solidFill>
              <a:ea typeface="SimSun" pitchFamily="2" charset="-122"/>
              <a:cs typeface="Arial Narrow" pitchFamily="34" charset="0"/>
            </a:endParaRPr>
          </a:p>
          <a:p>
            <a:pPr lvl="1">
              <a:lnSpc>
                <a:spcPct val="90000"/>
              </a:lnSpc>
              <a:spcAft>
                <a:spcPts val="1200"/>
              </a:spcAft>
              <a:buClrTx/>
              <a:buFont typeface="Wingdings" pitchFamily="2" charset="2"/>
              <a:buChar char="v"/>
            </a:pPr>
            <a:r>
              <a:rPr lang="fr-FR" altLang="zh-CN" sz="2400" dirty="0" smtClean="0">
                <a:solidFill>
                  <a:srgbClr val="C00000"/>
                </a:solidFill>
                <a:ea typeface="SimSun" pitchFamily="2" charset="-122"/>
                <a:cs typeface="Arial Narrow" pitchFamily="34" charset="0"/>
              </a:rPr>
              <a:t>Exécuter un programme</a:t>
            </a:r>
            <a:r>
              <a:rPr lang="en-IE" altLang="zh-CN" sz="2400" dirty="0" smtClean="0">
                <a:solidFill>
                  <a:srgbClr val="C00000"/>
                </a:solidFill>
                <a:ea typeface="SimSun" pitchFamily="2" charset="-122"/>
                <a:cs typeface="Arial Narrow" pitchFamily="34" charset="0"/>
              </a:rPr>
              <a:t> </a:t>
            </a:r>
            <a:endParaRPr lang="en-US" altLang="zh-CN" sz="2400" dirty="0">
              <a:solidFill>
                <a:srgbClr val="C00000"/>
              </a:solidFill>
              <a:ea typeface="SimSun" pitchFamily="2" charset="-122"/>
              <a:cs typeface="Arial Narrow"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59779">
                                            <p:txEl>
                                              <p:pRg st="0" end="0"/>
                                            </p:txEl>
                                          </p:spTgt>
                                        </p:tgtEl>
                                        <p:attrNameLst>
                                          <p:attrName>style.visibility</p:attrName>
                                        </p:attrNameLst>
                                      </p:cBhvr>
                                      <p:to>
                                        <p:strVal val="visible"/>
                                      </p:to>
                                    </p:set>
                                    <p:animEffect transition="in" filter="checkerboard(across)">
                                      <p:cBhvr>
                                        <p:cTn id="7" dur="500"/>
                                        <p:tgtEl>
                                          <p:spTgt spid="4597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59779">
                                            <p:txEl>
                                              <p:pRg st="1" end="1"/>
                                            </p:txEl>
                                          </p:spTgt>
                                        </p:tgtEl>
                                        <p:attrNameLst>
                                          <p:attrName>style.visibility</p:attrName>
                                        </p:attrNameLst>
                                      </p:cBhvr>
                                      <p:to>
                                        <p:strVal val="visible"/>
                                      </p:to>
                                    </p:set>
                                    <p:animEffect transition="in" filter="checkerboard(across)">
                                      <p:cBhvr>
                                        <p:cTn id="12" dur="500"/>
                                        <p:tgtEl>
                                          <p:spTgt spid="4597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59779">
                                            <p:txEl>
                                              <p:pRg st="2" end="2"/>
                                            </p:txEl>
                                          </p:spTgt>
                                        </p:tgtEl>
                                        <p:attrNameLst>
                                          <p:attrName>style.visibility</p:attrName>
                                        </p:attrNameLst>
                                      </p:cBhvr>
                                      <p:to>
                                        <p:strVal val="visible"/>
                                      </p:to>
                                    </p:set>
                                    <p:animEffect transition="in" filter="checkerboard(across)">
                                      <p:cBhvr>
                                        <p:cTn id="17" dur="500"/>
                                        <p:tgtEl>
                                          <p:spTgt spid="459779">
                                            <p:txEl>
                                              <p:pRg st="2" end="2"/>
                                            </p:txEl>
                                          </p:spTgt>
                                        </p:tgtEl>
                                      </p:cBhvr>
                                    </p:animEffect>
                                  </p:childTnLst>
                                </p:cTn>
                              </p:par>
                            </p:childTnLst>
                          </p:cTn>
                        </p:par>
                        <p:par>
                          <p:cTn id="18" fill="hold">
                            <p:stCondLst>
                              <p:cond delay="500"/>
                            </p:stCondLst>
                            <p:childTnLst>
                              <p:par>
                                <p:cTn id="19" presetID="5" presetClass="entr" presetSubtype="10" fill="hold" nodeType="afterEffect">
                                  <p:stCondLst>
                                    <p:cond delay="0"/>
                                  </p:stCondLst>
                                  <p:childTnLst>
                                    <p:set>
                                      <p:cBhvr>
                                        <p:cTn id="20" dur="1" fill="hold">
                                          <p:stCondLst>
                                            <p:cond delay="0"/>
                                          </p:stCondLst>
                                        </p:cTn>
                                        <p:tgtEl>
                                          <p:spTgt spid="459779">
                                            <p:txEl>
                                              <p:pRg st="3" end="3"/>
                                            </p:txEl>
                                          </p:spTgt>
                                        </p:tgtEl>
                                        <p:attrNameLst>
                                          <p:attrName>style.visibility</p:attrName>
                                        </p:attrNameLst>
                                      </p:cBhvr>
                                      <p:to>
                                        <p:strVal val="visible"/>
                                      </p:to>
                                    </p:set>
                                    <p:animEffect transition="in" filter="checkerboard(across)">
                                      <p:cBhvr>
                                        <p:cTn id="21" dur="500"/>
                                        <p:tgtEl>
                                          <p:spTgt spid="459779">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459779">
                                            <p:txEl>
                                              <p:pRg st="4" end="4"/>
                                            </p:txEl>
                                          </p:spTgt>
                                        </p:tgtEl>
                                        <p:attrNameLst>
                                          <p:attrName>style.visibility</p:attrName>
                                        </p:attrNameLst>
                                      </p:cBhvr>
                                      <p:to>
                                        <p:strVal val="visible"/>
                                      </p:to>
                                    </p:set>
                                    <p:animEffect transition="in" filter="checkerboard(across)">
                                      <p:cBhvr>
                                        <p:cTn id="26" dur="500"/>
                                        <p:tgtEl>
                                          <p:spTgt spid="459779">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459779">
                                            <p:txEl>
                                              <p:pRg st="5" end="5"/>
                                            </p:txEl>
                                          </p:spTgt>
                                        </p:tgtEl>
                                        <p:attrNameLst>
                                          <p:attrName>style.visibility</p:attrName>
                                        </p:attrNameLst>
                                      </p:cBhvr>
                                      <p:to>
                                        <p:strVal val="visible"/>
                                      </p:to>
                                    </p:set>
                                    <p:animEffect transition="in" filter="checkerboard(across)">
                                      <p:cBhvr>
                                        <p:cTn id="31" dur="500"/>
                                        <p:tgtEl>
                                          <p:spTgt spid="459779">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nodeType="clickEffect">
                                  <p:stCondLst>
                                    <p:cond delay="0"/>
                                  </p:stCondLst>
                                  <p:childTnLst>
                                    <p:set>
                                      <p:cBhvr>
                                        <p:cTn id="35" dur="1" fill="hold">
                                          <p:stCondLst>
                                            <p:cond delay="0"/>
                                          </p:stCondLst>
                                        </p:cTn>
                                        <p:tgtEl>
                                          <p:spTgt spid="459779">
                                            <p:txEl>
                                              <p:pRg st="6" end="6"/>
                                            </p:txEl>
                                          </p:spTgt>
                                        </p:tgtEl>
                                        <p:attrNameLst>
                                          <p:attrName>style.visibility</p:attrName>
                                        </p:attrNameLst>
                                      </p:cBhvr>
                                      <p:to>
                                        <p:strVal val="visible"/>
                                      </p:to>
                                    </p:set>
                                    <p:animEffect transition="in" filter="checkerboard(across)">
                                      <p:cBhvr>
                                        <p:cTn id="36" dur="500"/>
                                        <p:tgtEl>
                                          <p:spTgt spid="45977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2"/>
          <p:cNvSpPr>
            <a:spLocks noGrp="1" noChangeArrowheads="1"/>
          </p:cNvSpPr>
          <p:nvPr>
            <p:ph type="title"/>
          </p:nvPr>
        </p:nvSpPr>
        <p:spPr>
          <a:xfrm>
            <a:off x="190915" y="311727"/>
            <a:ext cx="8786829" cy="758952"/>
          </a:xfrm>
        </p:spPr>
        <p:txBody>
          <a:bodyPr/>
          <a:lstStyle/>
          <a:p>
            <a:r>
              <a:rPr lang="fr-FR" altLang="zh-CN" b="1" dirty="0">
                <a:solidFill>
                  <a:srgbClr val="C00000"/>
                </a:solidFill>
                <a:ea typeface="SimSun" pitchFamily="2" charset="-122"/>
                <a:cs typeface="Arial Narrow" pitchFamily="34" charset="0"/>
              </a:rPr>
              <a:t>Qu'est-ce qu'une alerte ? </a:t>
            </a:r>
          </a:p>
        </p:txBody>
      </p:sp>
      <p:sp>
        <p:nvSpPr>
          <p:cNvPr id="459779" name="Rectangle-3"/>
          <p:cNvSpPr>
            <a:spLocks noGrp="1" noChangeArrowheads="1"/>
          </p:cNvSpPr>
          <p:nvPr>
            <p:ph sz="quarter" idx="1"/>
          </p:nvPr>
        </p:nvSpPr>
        <p:spPr>
          <a:xfrm>
            <a:off x="277094" y="2055091"/>
            <a:ext cx="8548260" cy="2724727"/>
          </a:xfrm>
        </p:spPr>
        <p:txBody>
          <a:bodyPr>
            <a:normAutofit/>
          </a:bodyPr>
          <a:lstStyle/>
          <a:p>
            <a:pPr>
              <a:spcBef>
                <a:spcPct val="20000"/>
              </a:spcBef>
              <a:spcAft>
                <a:spcPts val="1200"/>
              </a:spcAft>
              <a:buClrTx/>
              <a:buFont typeface="Wingdings" pitchFamily="2" charset="2"/>
              <a:buChar char="q"/>
            </a:pPr>
            <a:r>
              <a:rPr lang="fr-FR" altLang="zh-CN" sz="2600" dirty="0" smtClean="0">
                <a:solidFill>
                  <a:srgbClr val="000000"/>
                </a:solidFill>
                <a:ea typeface="SimSun" pitchFamily="2" charset="-122"/>
                <a:cs typeface="Arial Narrow" pitchFamily="34" charset="0"/>
              </a:rPr>
              <a:t>Vous </a:t>
            </a:r>
            <a:r>
              <a:rPr lang="fr-FR" altLang="zh-CN" sz="2600" dirty="0">
                <a:solidFill>
                  <a:srgbClr val="000000"/>
                </a:solidFill>
                <a:ea typeface="SimSun" pitchFamily="2" charset="-122"/>
                <a:cs typeface="Arial Narrow" pitchFamily="34" charset="0"/>
              </a:rPr>
              <a:t>pouvez également définir des alertes en fonction des valeurs des performances de base établies pour votre système</a:t>
            </a:r>
            <a:r>
              <a:rPr lang="en-IE" altLang="zh-CN" sz="2600" dirty="0">
                <a:solidFill>
                  <a:srgbClr val="000000"/>
                </a:solidFill>
                <a:ea typeface="SimSun" pitchFamily="2" charset="-122"/>
                <a:cs typeface="Arial Narrow" pitchFamily="34" charset="0"/>
              </a:rPr>
              <a:t> </a:t>
            </a:r>
            <a:endParaRPr lang="en-US" altLang="zh-CN" sz="2600" dirty="0">
              <a:ea typeface="SimSun" pitchFamily="2" charset="-122"/>
              <a:cs typeface="Arial Narrow" pitchFamily="34" charset="0"/>
            </a:endParaRPr>
          </a:p>
          <a:p>
            <a:pPr>
              <a:spcBef>
                <a:spcPct val="20000"/>
              </a:spcBef>
              <a:spcAft>
                <a:spcPts val="1200"/>
              </a:spcAft>
              <a:buClrTx/>
              <a:buFont typeface="Wingdings" pitchFamily="2" charset="2"/>
              <a:buChar char="q"/>
            </a:pPr>
            <a:r>
              <a:rPr lang="fr-FR" altLang="zh-CN" sz="2600" dirty="0">
                <a:solidFill>
                  <a:srgbClr val="000000"/>
                </a:solidFill>
                <a:ea typeface="SimSun" pitchFamily="2" charset="-122"/>
                <a:cs typeface="Arial Narrow" pitchFamily="34" charset="0"/>
              </a:rPr>
              <a:t>Utilisez les alertes si vous souhaitez être informé lorsque la valeur seuil d'un compteur est supérieure ou inférieure à une valeur spécifiée</a:t>
            </a:r>
            <a:r>
              <a:rPr lang="en-IE" altLang="zh-CN" sz="2600" dirty="0">
                <a:solidFill>
                  <a:srgbClr val="000000"/>
                </a:solidFill>
                <a:ea typeface="SimSun" pitchFamily="2" charset="-122"/>
                <a:cs typeface="Arial Narrow" pitchFamily="34" charset="0"/>
              </a:rPr>
              <a:t> </a:t>
            </a:r>
            <a:endParaRPr lang="en-US" altLang="zh-CN" sz="2600" dirty="0">
              <a:solidFill>
                <a:srgbClr val="000000"/>
              </a:solidFill>
              <a:ea typeface="SimSun" pitchFamily="2" charset="-122"/>
              <a:cs typeface="Arial Narrow"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59779">
                                            <p:txEl>
                                              <p:pRg st="0" end="0"/>
                                            </p:txEl>
                                          </p:spTgt>
                                        </p:tgtEl>
                                        <p:attrNameLst>
                                          <p:attrName>style.visibility</p:attrName>
                                        </p:attrNameLst>
                                      </p:cBhvr>
                                      <p:to>
                                        <p:strVal val="visible"/>
                                      </p:to>
                                    </p:set>
                                    <p:animEffect transition="in" filter="checkerboard(across)">
                                      <p:cBhvr>
                                        <p:cTn id="7" dur="500"/>
                                        <p:tgtEl>
                                          <p:spTgt spid="4597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59779">
                                            <p:txEl>
                                              <p:pRg st="1" end="1"/>
                                            </p:txEl>
                                          </p:spTgt>
                                        </p:tgtEl>
                                        <p:attrNameLst>
                                          <p:attrName>style.visibility</p:attrName>
                                        </p:attrNameLst>
                                      </p:cBhvr>
                                      <p:to>
                                        <p:strVal val="visible"/>
                                      </p:to>
                                    </p:set>
                                    <p:animEffect transition="in" filter="checkerboard(across)">
                                      <p:cBhvr>
                                        <p:cTn id="12" dur="500"/>
                                        <p:tgtEl>
                                          <p:spTgt spid="45977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1752" y="166255"/>
            <a:ext cx="8534400" cy="821297"/>
          </a:xfrm>
        </p:spPr>
        <p:txBody>
          <a:bodyPr>
            <a:noAutofit/>
          </a:bodyPr>
          <a:lstStyle/>
          <a:p>
            <a:r>
              <a:rPr lang="fr-FR" sz="2600" b="1" dirty="0" smtClean="0">
                <a:solidFill>
                  <a:srgbClr val="C00000"/>
                </a:solidFill>
              </a:rPr>
              <a:t>Exercice </a:t>
            </a:r>
            <a:endParaRPr lang="fr-FR" sz="2600" dirty="0">
              <a:solidFill>
                <a:schemeClr val="tx1"/>
              </a:solidFill>
            </a:endParaRPr>
          </a:p>
        </p:txBody>
      </p:sp>
      <p:sp>
        <p:nvSpPr>
          <p:cNvPr id="3" name="Espace réservé du contenu 2"/>
          <p:cNvSpPr>
            <a:spLocks noGrp="1"/>
          </p:cNvSpPr>
          <p:nvPr>
            <p:ph sz="quarter" idx="1"/>
          </p:nvPr>
        </p:nvSpPr>
        <p:spPr>
          <a:xfrm>
            <a:off x="357170" y="2995630"/>
            <a:ext cx="8503920" cy="1631788"/>
          </a:xfrm>
        </p:spPr>
        <p:txBody>
          <a:bodyPr>
            <a:normAutofit/>
          </a:bodyPr>
          <a:lstStyle/>
          <a:p>
            <a:pPr marL="273050" indent="-9525">
              <a:buNone/>
            </a:pPr>
            <a:r>
              <a:rPr lang="fr-FR" sz="2400" dirty="0" smtClean="0"/>
              <a:t>Choisir la méthode d’analyse appropriée pour chaque scénario : </a:t>
            </a:r>
            <a:r>
              <a:rPr lang="fr-FR" sz="2400" dirty="0" smtClean="0">
                <a:solidFill>
                  <a:srgbClr val="C00000"/>
                </a:solidFill>
              </a:rPr>
              <a:t>R</a:t>
            </a:r>
            <a:r>
              <a:rPr lang="fr-FR" sz="2400" dirty="0" smtClean="0"/>
              <a:t>=Temps réel, </a:t>
            </a:r>
            <a:r>
              <a:rPr lang="fr-FR" sz="2400" dirty="0" smtClean="0">
                <a:solidFill>
                  <a:srgbClr val="C00000"/>
                </a:solidFill>
              </a:rPr>
              <a:t>P</a:t>
            </a:r>
            <a:r>
              <a:rPr lang="fr-FR" sz="2400" dirty="0" smtClean="0"/>
              <a:t>=Programmée, </a:t>
            </a:r>
            <a:r>
              <a:rPr lang="fr-FR" sz="2400" dirty="0" smtClean="0">
                <a:solidFill>
                  <a:srgbClr val="C00000"/>
                </a:solidFill>
              </a:rPr>
              <a:t>A</a:t>
            </a:r>
            <a:r>
              <a:rPr lang="fr-FR" sz="2400" dirty="0" smtClean="0"/>
              <a:t>=Alertes. Si plusieurs méthodes conviennent, placez-les par ordre de préférence.</a:t>
            </a:r>
            <a:endParaRPr lang="fr-FR" sz="2400" dirty="0"/>
          </a:p>
        </p:txBody>
      </p:sp>
      <p:sp>
        <p:nvSpPr>
          <p:cNvPr id="5" name="Rectangle 4"/>
          <p:cNvSpPr/>
          <p:nvPr/>
        </p:nvSpPr>
        <p:spPr>
          <a:xfrm>
            <a:off x="479370" y="1789607"/>
            <a:ext cx="6118983" cy="492443"/>
          </a:xfrm>
          <a:prstGeom prst="rect">
            <a:avLst/>
          </a:prstGeom>
        </p:spPr>
        <p:txBody>
          <a:bodyPr wrap="none">
            <a:spAutoFit/>
          </a:bodyPr>
          <a:lstStyle/>
          <a:p>
            <a:r>
              <a:rPr lang="fr-FR" sz="2600" dirty="0" smtClean="0"/>
              <a:t>Sélection de la méthode d’analyse appropriée</a:t>
            </a:r>
            <a:endParaRPr lang="fr-FR" sz="26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7898" y="221673"/>
            <a:ext cx="8534400" cy="821297"/>
          </a:xfrm>
        </p:spPr>
        <p:txBody>
          <a:bodyPr>
            <a:noAutofit/>
          </a:bodyPr>
          <a:lstStyle/>
          <a:p>
            <a:r>
              <a:rPr lang="fr-FR" sz="2600" b="1" dirty="0" smtClean="0">
                <a:solidFill>
                  <a:srgbClr val="C00000"/>
                </a:solidFill>
              </a:rPr>
              <a:t>Exercice </a:t>
            </a:r>
            <a:endParaRPr lang="fr-FR" sz="2600" dirty="0">
              <a:solidFill>
                <a:schemeClr val="tx1"/>
              </a:solidFill>
            </a:endParaRPr>
          </a:p>
        </p:txBody>
      </p:sp>
      <p:graphicFrame>
        <p:nvGraphicFramePr>
          <p:cNvPr id="4" name="Tableau 3"/>
          <p:cNvGraphicFramePr>
            <a:graphicFrameLocks noGrp="1"/>
          </p:cNvGraphicFramePr>
          <p:nvPr/>
        </p:nvGraphicFramePr>
        <p:xfrm>
          <a:off x="249380" y="1468583"/>
          <a:ext cx="8700656" cy="4710543"/>
        </p:xfrm>
        <a:graphic>
          <a:graphicData uri="http://schemas.openxmlformats.org/drawingml/2006/table">
            <a:tbl>
              <a:tblPr firstRow="1" bandRow="1">
                <a:tableStyleId>{5C22544A-7EE6-4342-B048-85BDC9FD1C3A}</a:tableStyleId>
              </a:tblPr>
              <a:tblGrid>
                <a:gridCol w="6941130"/>
                <a:gridCol w="1759526"/>
              </a:tblGrid>
              <a:tr h="1045192">
                <a:tc>
                  <a:txBody>
                    <a:bodyPr/>
                    <a:lstStyle/>
                    <a:p>
                      <a:r>
                        <a:rPr lang="fr-FR" sz="2200" b="1" baseline="0" dirty="0" smtClean="0">
                          <a:solidFill>
                            <a:schemeClr val="tx1"/>
                          </a:solidFill>
                          <a:latin typeface="Arial,Bold"/>
                        </a:rPr>
                        <a:t>Scénario</a:t>
                      </a:r>
                      <a:endParaRPr lang="fr-FR" sz="2200" dirty="0">
                        <a:solidFill>
                          <a:schemeClr val="tx1"/>
                        </a:solidFill>
                      </a:endParaRPr>
                    </a:p>
                  </a:txBody>
                  <a:tcPr/>
                </a:tc>
                <a:tc>
                  <a:txBody>
                    <a:bodyPr/>
                    <a:lstStyle/>
                    <a:p>
                      <a:r>
                        <a:rPr lang="fr-FR" sz="2200" b="1" baseline="0" dirty="0" smtClean="0">
                          <a:solidFill>
                            <a:schemeClr val="tx1"/>
                          </a:solidFill>
                          <a:latin typeface="Arial,Bold"/>
                        </a:rPr>
                        <a:t>Méthode(s) d’analyse</a:t>
                      </a:r>
                      <a:endParaRPr lang="fr-FR" sz="2200" dirty="0">
                        <a:solidFill>
                          <a:schemeClr val="tx1"/>
                        </a:solidFill>
                      </a:endParaRPr>
                    </a:p>
                  </a:txBody>
                  <a:tcPr/>
                </a:tc>
              </a:tr>
              <a:tr h="1029593">
                <a:tc>
                  <a:txBody>
                    <a:bodyPr/>
                    <a:lstStyle/>
                    <a:p>
                      <a:r>
                        <a:rPr kumimoji="0" lang="fr-FR" sz="2200" kern="1200" baseline="0" dirty="0" smtClean="0">
                          <a:solidFill>
                            <a:schemeClr val="dk1"/>
                          </a:solidFill>
                          <a:latin typeface="+mn-lt"/>
                          <a:ea typeface="+mn-ea"/>
                          <a:cs typeface="+mn-cs"/>
                        </a:rPr>
                        <a:t>Déterminer à quel moment l’espace disponible sur le disque dur est insuffisant</a:t>
                      </a:r>
                      <a:endParaRPr lang="fr-FR" sz="2200" dirty="0"/>
                    </a:p>
                  </a:txBody>
                  <a:tcPr/>
                </a:tc>
                <a:tc>
                  <a:txBody>
                    <a:bodyPr/>
                    <a:lstStyle/>
                    <a:p>
                      <a:endParaRPr lang="fr-FR" dirty="0"/>
                    </a:p>
                  </a:txBody>
                  <a:tcPr/>
                </a:tc>
              </a:tr>
              <a:tr h="1029593">
                <a:tc>
                  <a:txBody>
                    <a:bodyPr/>
                    <a:lstStyle/>
                    <a:p>
                      <a:r>
                        <a:rPr kumimoji="0" lang="fr-FR" sz="2200" kern="1200" baseline="0" dirty="0" smtClean="0">
                          <a:solidFill>
                            <a:schemeClr val="dk1"/>
                          </a:solidFill>
                          <a:latin typeface="+mn-lt"/>
                          <a:ea typeface="+mn-ea"/>
                          <a:cs typeface="+mn-cs"/>
                        </a:rPr>
                        <a:t>Fournir des informations à la direction pouvant être utilisées à des fins budgétaires.</a:t>
                      </a:r>
                      <a:endParaRPr lang="fr-FR" sz="2200" dirty="0"/>
                    </a:p>
                  </a:txBody>
                  <a:tcPr/>
                </a:tc>
                <a:tc>
                  <a:txBody>
                    <a:bodyPr/>
                    <a:lstStyle/>
                    <a:p>
                      <a:endParaRPr lang="fr-FR" dirty="0"/>
                    </a:p>
                  </a:txBody>
                  <a:tcPr/>
                </a:tc>
              </a:tr>
              <a:tr h="576572">
                <a:tc>
                  <a:txBody>
                    <a:bodyPr/>
                    <a:lstStyle/>
                    <a:p>
                      <a:r>
                        <a:rPr kumimoji="0" lang="fr-FR" sz="2200" kern="1200" baseline="0" dirty="0" smtClean="0">
                          <a:solidFill>
                            <a:schemeClr val="dk1"/>
                          </a:solidFill>
                          <a:latin typeface="+mn-lt"/>
                          <a:ea typeface="+mn-ea"/>
                          <a:cs typeface="+mn-cs"/>
                        </a:rPr>
                        <a:t>Analyser plusieurs serveurs</a:t>
                      </a:r>
                      <a:endParaRPr lang="fr-FR" sz="2200" dirty="0"/>
                    </a:p>
                  </a:txBody>
                  <a:tcPr/>
                </a:tc>
                <a:tc>
                  <a:txBody>
                    <a:bodyPr/>
                    <a:lstStyle/>
                    <a:p>
                      <a:endParaRPr lang="fr-FR" dirty="0"/>
                    </a:p>
                  </a:txBody>
                  <a:tcPr/>
                </a:tc>
              </a:tr>
              <a:tr h="1029593">
                <a:tc>
                  <a:txBody>
                    <a:bodyPr/>
                    <a:lstStyle/>
                    <a:p>
                      <a:r>
                        <a:rPr kumimoji="0" lang="fr-FR" sz="2200" kern="1200" baseline="0" dirty="0" smtClean="0">
                          <a:solidFill>
                            <a:schemeClr val="dk1"/>
                          </a:solidFill>
                          <a:latin typeface="+mn-lt"/>
                          <a:ea typeface="+mn-ea"/>
                          <a:cs typeface="+mn-cs"/>
                        </a:rPr>
                        <a:t>Rechercher des problèmes intermittents liés aux performances.</a:t>
                      </a:r>
                      <a:endParaRPr lang="fr-FR" sz="2200" dirty="0"/>
                    </a:p>
                  </a:txBody>
                  <a:tcPr/>
                </a:tc>
                <a:tc>
                  <a:txBody>
                    <a:bodyPr/>
                    <a:lstStyle/>
                    <a:p>
                      <a:endParaRPr lang="fr-FR" dirty="0"/>
                    </a:p>
                  </a:txBody>
                  <a:tcPr/>
                </a:tc>
              </a:tr>
            </a:tbl>
          </a:graphicData>
        </a:graphic>
      </p:graphicFrame>
      <p:sp>
        <p:nvSpPr>
          <p:cNvPr id="6" name="Rectangle 5"/>
          <p:cNvSpPr/>
          <p:nvPr/>
        </p:nvSpPr>
        <p:spPr>
          <a:xfrm>
            <a:off x="7315200" y="2618509"/>
            <a:ext cx="1510145" cy="8174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solidFill>
              </a:rPr>
              <a:t>A, R</a:t>
            </a:r>
            <a:endParaRPr lang="fr-FR" dirty="0">
              <a:solidFill>
                <a:schemeClr val="tx1"/>
              </a:solidFill>
            </a:endParaRPr>
          </a:p>
        </p:txBody>
      </p:sp>
      <p:sp>
        <p:nvSpPr>
          <p:cNvPr id="7" name="Rectangle 6"/>
          <p:cNvSpPr/>
          <p:nvPr/>
        </p:nvSpPr>
        <p:spPr>
          <a:xfrm>
            <a:off x="7315200" y="3643746"/>
            <a:ext cx="1510145" cy="8174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solidFill>
              </a:rPr>
              <a:t>P</a:t>
            </a:r>
            <a:endParaRPr lang="fr-FR" dirty="0">
              <a:solidFill>
                <a:schemeClr val="tx1"/>
              </a:solidFill>
            </a:endParaRPr>
          </a:p>
        </p:txBody>
      </p:sp>
      <p:sp>
        <p:nvSpPr>
          <p:cNvPr id="8" name="Rectangle 7"/>
          <p:cNvSpPr/>
          <p:nvPr/>
        </p:nvSpPr>
        <p:spPr>
          <a:xfrm>
            <a:off x="7315200" y="4599708"/>
            <a:ext cx="1510145" cy="5126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solidFill>
              </a:rPr>
              <a:t>P, R</a:t>
            </a:r>
            <a:endParaRPr lang="fr-FR" dirty="0">
              <a:solidFill>
                <a:schemeClr val="tx1"/>
              </a:solidFill>
            </a:endParaRPr>
          </a:p>
        </p:txBody>
      </p:sp>
      <p:sp>
        <p:nvSpPr>
          <p:cNvPr id="9" name="Rectangle 8"/>
          <p:cNvSpPr/>
          <p:nvPr/>
        </p:nvSpPr>
        <p:spPr>
          <a:xfrm>
            <a:off x="7329054" y="5264727"/>
            <a:ext cx="1510145" cy="8174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solidFill>
              </a:rPr>
              <a:t>P</a:t>
            </a:r>
            <a:endParaRPr lang="fr-FR"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heckerboard(across)">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checkerboard(across)">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checkerboard(across)">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01752" y="166255"/>
            <a:ext cx="8534400" cy="821297"/>
          </a:xfrm>
        </p:spPr>
        <p:txBody>
          <a:bodyPr>
            <a:noAutofit/>
          </a:bodyPr>
          <a:lstStyle/>
          <a:p>
            <a:r>
              <a:rPr lang="fr-FR" sz="2600" b="1" dirty="0" smtClean="0">
                <a:solidFill>
                  <a:srgbClr val="C00000"/>
                </a:solidFill>
              </a:rPr>
              <a:t>Exercice</a:t>
            </a:r>
            <a:endParaRPr lang="fr-FR" sz="2600" dirty="0">
              <a:solidFill>
                <a:schemeClr val="tx1"/>
              </a:solidFill>
            </a:endParaRPr>
          </a:p>
        </p:txBody>
      </p:sp>
      <p:graphicFrame>
        <p:nvGraphicFramePr>
          <p:cNvPr id="4" name="Tableau 3"/>
          <p:cNvGraphicFramePr>
            <a:graphicFrameLocks noGrp="1"/>
          </p:cNvGraphicFramePr>
          <p:nvPr/>
        </p:nvGraphicFramePr>
        <p:xfrm>
          <a:off x="235524" y="1687945"/>
          <a:ext cx="8700656" cy="4685148"/>
        </p:xfrm>
        <a:graphic>
          <a:graphicData uri="http://schemas.openxmlformats.org/drawingml/2006/table">
            <a:tbl>
              <a:tblPr firstRow="1" bandRow="1">
                <a:tableStyleId>{5C22544A-7EE6-4342-B048-85BDC9FD1C3A}</a:tableStyleId>
              </a:tblPr>
              <a:tblGrid>
                <a:gridCol w="6941130"/>
                <a:gridCol w="1759526"/>
              </a:tblGrid>
              <a:tr h="1001100">
                <a:tc>
                  <a:txBody>
                    <a:bodyPr/>
                    <a:lstStyle/>
                    <a:p>
                      <a:r>
                        <a:rPr lang="fr-FR" sz="2200" b="1" baseline="0" dirty="0" smtClean="0">
                          <a:solidFill>
                            <a:schemeClr val="tx1"/>
                          </a:solidFill>
                          <a:latin typeface="Arial,Bold"/>
                        </a:rPr>
                        <a:t>Scénario</a:t>
                      </a:r>
                      <a:endParaRPr lang="fr-FR" sz="2200" dirty="0">
                        <a:solidFill>
                          <a:schemeClr val="tx1"/>
                        </a:solidFill>
                      </a:endParaRPr>
                    </a:p>
                  </a:txBody>
                  <a:tcPr/>
                </a:tc>
                <a:tc>
                  <a:txBody>
                    <a:bodyPr/>
                    <a:lstStyle/>
                    <a:p>
                      <a:r>
                        <a:rPr lang="fr-FR" sz="2200" b="1" baseline="0" dirty="0" smtClean="0">
                          <a:solidFill>
                            <a:schemeClr val="tx1"/>
                          </a:solidFill>
                          <a:latin typeface="Arial,Bold"/>
                        </a:rPr>
                        <a:t>Méthode(s) d’analyse</a:t>
                      </a:r>
                      <a:endParaRPr lang="fr-FR" sz="2200" dirty="0">
                        <a:solidFill>
                          <a:schemeClr val="tx1"/>
                        </a:solidFill>
                      </a:endParaRPr>
                    </a:p>
                  </a:txBody>
                  <a:tcPr/>
                </a:tc>
              </a:tr>
              <a:tr h="1001100">
                <a:tc>
                  <a:txBody>
                    <a:bodyPr/>
                    <a:lstStyle/>
                    <a:p>
                      <a:r>
                        <a:rPr kumimoji="0" lang="fr-FR" sz="2200" kern="1200" baseline="0" dirty="0" smtClean="0">
                          <a:solidFill>
                            <a:schemeClr val="dk1"/>
                          </a:solidFill>
                          <a:latin typeface="+mn-lt"/>
                          <a:ea typeface="+mn-ea"/>
                          <a:cs typeface="+mn-cs"/>
                        </a:rPr>
                        <a:t>Déterminer pourquoi une application est lente ou inefficace</a:t>
                      </a:r>
                      <a:endParaRPr lang="fr-FR" sz="2200" dirty="0"/>
                    </a:p>
                  </a:txBody>
                  <a:tcPr/>
                </a:tc>
                <a:tc>
                  <a:txBody>
                    <a:bodyPr/>
                    <a:lstStyle/>
                    <a:p>
                      <a:endParaRPr lang="fr-FR" dirty="0"/>
                    </a:p>
                  </a:txBody>
                  <a:tcPr/>
                </a:tc>
              </a:tr>
              <a:tr h="560616">
                <a:tc>
                  <a:txBody>
                    <a:bodyPr/>
                    <a:lstStyle/>
                    <a:p>
                      <a:r>
                        <a:rPr kumimoji="0" lang="fr-FR" sz="2200" kern="1200" baseline="0" dirty="0" smtClean="0">
                          <a:solidFill>
                            <a:schemeClr val="dk1"/>
                          </a:solidFill>
                          <a:latin typeface="+mn-lt"/>
                          <a:ea typeface="+mn-ea"/>
                          <a:cs typeface="+mn-cs"/>
                        </a:rPr>
                        <a:t>Créer une ligne de base pour un serveur</a:t>
                      </a:r>
                      <a:endParaRPr lang="fr-FR" sz="2200" dirty="0"/>
                    </a:p>
                  </a:txBody>
                  <a:tcPr/>
                </a:tc>
                <a:tc>
                  <a:txBody>
                    <a:bodyPr/>
                    <a:lstStyle/>
                    <a:p>
                      <a:endParaRPr lang="fr-FR" dirty="0"/>
                    </a:p>
                  </a:txBody>
                  <a:tcPr/>
                </a:tc>
              </a:tr>
              <a:tr h="560616">
                <a:tc>
                  <a:txBody>
                    <a:bodyPr/>
                    <a:lstStyle/>
                    <a:p>
                      <a:r>
                        <a:rPr kumimoji="0" lang="fr-FR" sz="2200" kern="1200" baseline="0" dirty="0" smtClean="0">
                          <a:solidFill>
                            <a:schemeClr val="dk1"/>
                          </a:solidFill>
                          <a:latin typeface="+mn-lt"/>
                          <a:ea typeface="+mn-ea"/>
                          <a:cs typeface="+mn-cs"/>
                        </a:rPr>
                        <a:t>Analyser un ordinateur 24 heures sur 24, 7 jours sur 7.</a:t>
                      </a:r>
                      <a:endParaRPr lang="fr-FR" sz="2200" dirty="0"/>
                    </a:p>
                  </a:txBody>
                  <a:tcPr/>
                </a:tc>
                <a:tc>
                  <a:txBody>
                    <a:bodyPr/>
                    <a:lstStyle/>
                    <a:p>
                      <a:endParaRPr lang="fr-FR" dirty="0"/>
                    </a:p>
                  </a:txBody>
                  <a:tcPr/>
                </a:tc>
              </a:tr>
              <a:tr h="560616">
                <a:tc>
                  <a:txBody>
                    <a:bodyPr/>
                    <a:lstStyle/>
                    <a:p>
                      <a:r>
                        <a:rPr kumimoji="0" lang="fr-FR" sz="2200" kern="1200" baseline="0" dirty="0" smtClean="0">
                          <a:solidFill>
                            <a:schemeClr val="dk1"/>
                          </a:solidFill>
                          <a:latin typeface="+mn-lt"/>
                          <a:ea typeface="+mn-ea"/>
                          <a:cs typeface="+mn-cs"/>
                        </a:rPr>
                        <a:t>Résoudre les problèmes d’un serveur</a:t>
                      </a:r>
                      <a:endParaRPr lang="fr-FR" sz="2200" dirty="0"/>
                    </a:p>
                  </a:txBody>
                  <a:tcPr/>
                </a:tc>
                <a:tc>
                  <a:txBody>
                    <a:bodyPr/>
                    <a:lstStyle/>
                    <a:p>
                      <a:endParaRPr lang="fr-FR" dirty="0"/>
                    </a:p>
                  </a:txBody>
                  <a:tcPr/>
                </a:tc>
              </a:tr>
              <a:tr h="1001100">
                <a:tc>
                  <a:txBody>
                    <a:bodyPr/>
                    <a:lstStyle/>
                    <a:p>
                      <a:r>
                        <a:rPr kumimoji="0" lang="fr-FR" sz="2200" kern="1200" baseline="0" dirty="0" smtClean="0">
                          <a:solidFill>
                            <a:schemeClr val="dk1"/>
                          </a:solidFill>
                          <a:latin typeface="+mn-lt"/>
                          <a:ea typeface="+mn-ea"/>
                          <a:cs typeface="+mn-cs"/>
                        </a:rPr>
                        <a:t>Déterminer à quel moment effectuer une mise à niveau du système.</a:t>
                      </a:r>
                      <a:endParaRPr lang="fr-FR" sz="2200" dirty="0"/>
                    </a:p>
                  </a:txBody>
                  <a:tcPr/>
                </a:tc>
                <a:tc>
                  <a:txBody>
                    <a:bodyPr/>
                    <a:lstStyle/>
                    <a:p>
                      <a:endParaRPr lang="fr-FR" dirty="0"/>
                    </a:p>
                  </a:txBody>
                  <a:tcPr/>
                </a:tc>
              </a:tr>
            </a:tbl>
          </a:graphicData>
        </a:graphic>
      </p:graphicFrame>
      <p:sp>
        <p:nvSpPr>
          <p:cNvPr id="5" name="Rectangle 4"/>
          <p:cNvSpPr/>
          <p:nvPr/>
        </p:nvSpPr>
        <p:spPr>
          <a:xfrm>
            <a:off x="7315200" y="2784769"/>
            <a:ext cx="1510145" cy="8174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solidFill>
              </a:rPr>
              <a:t>R, P</a:t>
            </a:r>
            <a:endParaRPr lang="fr-FR" dirty="0">
              <a:solidFill>
                <a:schemeClr val="tx1"/>
              </a:solidFill>
            </a:endParaRPr>
          </a:p>
        </p:txBody>
      </p:sp>
      <p:sp>
        <p:nvSpPr>
          <p:cNvPr id="6" name="Rectangle 5"/>
          <p:cNvSpPr/>
          <p:nvPr/>
        </p:nvSpPr>
        <p:spPr>
          <a:xfrm>
            <a:off x="7342909" y="3782295"/>
            <a:ext cx="1510145" cy="3879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solidFill>
              </a:rPr>
              <a:t>P</a:t>
            </a:r>
            <a:endParaRPr lang="fr-FR" dirty="0">
              <a:solidFill>
                <a:schemeClr val="tx1"/>
              </a:solidFill>
            </a:endParaRPr>
          </a:p>
        </p:txBody>
      </p:sp>
      <p:sp>
        <p:nvSpPr>
          <p:cNvPr id="7" name="Rectangle 6"/>
          <p:cNvSpPr/>
          <p:nvPr/>
        </p:nvSpPr>
        <p:spPr>
          <a:xfrm>
            <a:off x="7342909" y="4336473"/>
            <a:ext cx="1510145" cy="40178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solidFill>
              </a:rPr>
              <a:t>P</a:t>
            </a:r>
            <a:endParaRPr lang="fr-FR" dirty="0">
              <a:solidFill>
                <a:schemeClr val="tx1"/>
              </a:solidFill>
            </a:endParaRPr>
          </a:p>
        </p:txBody>
      </p:sp>
      <p:sp>
        <p:nvSpPr>
          <p:cNvPr id="8" name="Rectangle 7"/>
          <p:cNvSpPr/>
          <p:nvPr/>
        </p:nvSpPr>
        <p:spPr>
          <a:xfrm>
            <a:off x="7342913" y="4821381"/>
            <a:ext cx="1510145" cy="55418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solidFill>
              </a:rPr>
              <a:t>R, P, A</a:t>
            </a:r>
            <a:endParaRPr lang="fr-FR" dirty="0">
              <a:solidFill>
                <a:schemeClr val="tx1"/>
              </a:solidFill>
            </a:endParaRPr>
          </a:p>
        </p:txBody>
      </p:sp>
      <p:sp>
        <p:nvSpPr>
          <p:cNvPr id="9" name="Rectangle 8"/>
          <p:cNvSpPr/>
          <p:nvPr/>
        </p:nvSpPr>
        <p:spPr>
          <a:xfrm>
            <a:off x="7315201" y="5458691"/>
            <a:ext cx="1510145" cy="81741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tx1"/>
                </a:solidFill>
              </a:rPr>
              <a:t>P, R</a:t>
            </a:r>
            <a:endParaRPr lang="fr-FR"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checkerboard(across)">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checkerboard(across)">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checkerboard(across)">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25142</TotalTime>
  <Words>1798</Words>
  <Application>Microsoft PowerPoint</Application>
  <PresentationFormat>Affichage à l'écran (4:3)</PresentationFormat>
  <Paragraphs>176</Paragraphs>
  <Slides>20</Slides>
  <Notes>15</Notes>
  <HiddenSlides>0</HiddenSlides>
  <MMClips>0</MMClips>
  <ScaleCrop>false</ScaleCrop>
  <HeadingPairs>
    <vt:vector size="4" baseType="variant">
      <vt:variant>
        <vt:lpstr>Thème</vt:lpstr>
      </vt:variant>
      <vt:variant>
        <vt:i4>1</vt:i4>
      </vt:variant>
      <vt:variant>
        <vt:lpstr>Titres des diapositives</vt:lpstr>
      </vt:variant>
      <vt:variant>
        <vt:i4>20</vt:i4>
      </vt:variant>
    </vt:vector>
  </HeadingPairs>
  <TitlesOfParts>
    <vt:vector size="21" baseType="lpstr">
      <vt:lpstr>Civil</vt:lpstr>
      <vt:lpstr>Chapitre 10 Préparation de l'analyse des performances du serveur </vt:lpstr>
      <vt:lpstr>Plan du cours</vt:lpstr>
      <vt:lpstr>1. Présentation de l'analyse des performances  du serveur </vt:lpstr>
      <vt:lpstr>Pourquoi analyser les performances ? </vt:lpstr>
      <vt:lpstr>Création d'une ligne de base des performances</vt:lpstr>
      <vt:lpstr>Création d'une ligne de base des performances</vt:lpstr>
      <vt:lpstr>Instructions pour l'établissement d'une ligne de base </vt:lpstr>
      <vt:lpstr>2. Analyse en temps réel et programmée </vt:lpstr>
      <vt:lpstr>Qu'est-ce que l'analyse en temps réel et programmée ?</vt:lpstr>
      <vt:lpstr>Qu'est-ce que le Gestionnaire des tâches ? </vt:lpstr>
      <vt:lpstr>Qu'est-ce que la console Performances ? </vt:lpstr>
      <vt:lpstr>Pourquoi analyser les serveurs à distance ? </vt:lpstr>
      <vt:lpstr>3. Configuration et gestion des journaux de compteur et des alertes </vt:lpstr>
      <vt:lpstr>Qu'est ce qu'un journal de compteur ?</vt:lpstr>
      <vt:lpstr>Comment planifier un journal de compteur ?</vt:lpstr>
      <vt:lpstr>Qu'est-ce qu'une alerte ? </vt:lpstr>
      <vt:lpstr>Qu'est-ce qu'une alerte ? </vt:lpstr>
      <vt:lpstr>Exercice </vt:lpstr>
      <vt:lpstr>Exercice </vt:lpstr>
      <vt:lpstr>Exercice</vt:lpstr>
    </vt:vector>
  </TitlesOfParts>
  <Company>Microsoft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 Module Title</dc:title>
  <dc:creator>User</dc:creator>
  <cp:lastModifiedBy>Halima</cp:lastModifiedBy>
  <cp:revision>768</cp:revision>
  <dcterms:created xsi:type="dcterms:W3CDTF">2002-08-07T17:51:12Z</dcterms:created>
  <dcterms:modified xsi:type="dcterms:W3CDTF">2016-04-24T20:32:15Z</dcterms:modified>
</cp:coreProperties>
</file>