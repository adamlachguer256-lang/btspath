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30"/>
  </p:notesMasterIdLst>
  <p:handoutMasterIdLst>
    <p:handoutMasterId r:id="rId31"/>
  </p:handoutMasterIdLst>
  <p:sldIdLst>
    <p:sldId id="416" r:id="rId2"/>
    <p:sldId id="420" r:id="rId3"/>
    <p:sldId id="544" r:id="rId4"/>
    <p:sldId id="600" r:id="rId5"/>
    <p:sldId id="546" r:id="rId6"/>
    <p:sldId id="576" r:id="rId7"/>
    <p:sldId id="577" r:id="rId8"/>
    <p:sldId id="578" r:id="rId9"/>
    <p:sldId id="579" r:id="rId10"/>
    <p:sldId id="580" r:id="rId11"/>
    <p:sldId id="597" r:id="rId12"/>
    <p:sldId id="545" r:id="rId13"/>
    <p:sldId id="565" r:id="rId14"/>
    <p:sldId id="583" r:id="rId15"/>
    <p:sldId id="601" r:id="rId16"/>
    <p:sldId id="551" r:id="rId17"/>
    <p:sldId id="584" r:id="rId18"/>
    <p:sldId id="585" r:id="rId19"/>
    <p:sldId id="586" r:id="rId20"/>
    <p:sldId id="491" r:id="rId21"/>
    <p:sldId id="492" r:id="rId22"/>
    <p:sldId id="496" r:id="rId23"/>
    <p:sldId id="543" r:id="rId24"/>
    <p:sldId id="573" r:id="rId25"/>
    <p:sldId id="587" r:id="rId26"/>
    <p:sldId id="588" r:id="rId27"/>
    <p:sldId id="590" r:id="rId28"/>
    <p:sldId id="591" r:id="rId29"/>
  </p:sldIdLst>
  <p:sldSz cx="9144000" cy="6858000" type="screen4x3"/>
  <p:notesSz cx="7315200" cy="9601200"/>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7" name="jimcla" initials="" lastIdx="11" clrIdx="7"/>
  <p:cmAuthor id="1" name="v-sonalm" initials="" lastIdx="2" clrIdx="1"/>
  <p:cmAuthor id="8" name="Misty Shock" initials="" lastIdx="36" clrIdx="8"/>
  <p:cmAuthor id="2" name="Sonal Mangrulkar" initials="" lastIdx="6" clrIdx="2"/>
  <p:cmAuthor id="9" name="Diana Jahrling" initials="" lastIdx="6" clrIdx="9"/>
  <p:cmAuthor id="3" name="Microsoft Employee" initials="" lastIdx="1" clrIdx="3"/>
  <p:cmAuthor id="4" name="Jeff Johnson" initials="" lastIdx="43" clrIdx="4"/>
  <p:cmAuthor id="5" name="jtoland" initials="" lastIdx="20" clrIdx="5"/>
  <p:cmAuthor id="6" name="Jim Toland" initials="" lastIdx="36" clrIdx="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5D69C"/>
    <a:srgbClr val="BBCDE3"/>
    <a:srgbClr val="99CCFF"/>
    <a:srgbClr val="333333"/>
    <a:srgbClr val="EEEFD7"/>
    <a:srgbClr val="DFE8F2"/>
    <a:srgbClr val="C0C0C0"/>
    <a:srgbClr val="CC00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4" autoAdjust="0"/>
    <p:restoredTop sz="94624" autoAdjust="0"/>
  </p:normalViewPr>
  <p:slideViewPr>
    <p:cSldViewPr snapToGrid="0">
      <p:cViewPr varScale="1">
        <p:scale>
          <a:sx n="45" d="100"/>
          <a:sy n="45" d="100"/>
        </p:scale>
        <p:origin x="1288" y="20"/>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25" d="100"/>
        <a:sy n="25" d="100"/>
      </p:scale>
      <p:origin x="0" y="0"/>
    </p:cViewPr>
  </p:sorterViewPr>
  <p:notesViewPr>
    <p:cSldViewPr snapToGrid="0">
      <p:cViewPr varScale="1">
        <p:scale>
          <a:sx n="56" d="100"/>
          <a:sy n="56" d="100"/>
        </p:scale>
        <p:origin x="-1806" y="-78"/>
      </p:cViewPr>
      <p:guideLst>
        <p:guide orient="horz" pos="3025"/>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slide" Target="slides/slide18.xml"/><Relationship Id="rId1"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l" defTabSz="966788" eaLnBrk="1" hangingPunct="1">
              <a:defRPr sz="1300" b="0">
                <a:latin typeface="Arial" charset="0"/>
              </a:defRPr>
            </a:lvl1pPr>
          </a:lstStyle>
          <a:p>
            <a:endParaRPr lang="en-US"/>
          </a:p>
        </p:txBody>
      </p:sp>
      <p:sp>
        <p:nvSpPr>
          <p:cNvPr id="278531"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r" defTabSz="966788" eaLnBrk="1" hangingPunct="1">
              <a:defRPr sz="1300" b="0">
                <a:latin typeface="Arial" charset="0"/>
              </a:defRPr>
            </a:lvl1pPr>
          </a:lstStyle>
          <a:p>
            <a:endParaRPr lang="en-US"/>
          </a:p>
        </p:txBody>
      </p:sp>
      <p:sp>
        <p:nvSpPr>
          <p:cNvPr id="278532"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l" defTabSz="966788" eaLnBrk="1" hangingPunct="1">
              <a:defRPr sz="1300" b="0">
                <a:latin typeface="Arial" charset="0"/>
              </a:defRPr>
            </a:lvl1pPr>
          </a:lstStyle>
          <a:p>
            <a:endParaRPr lang="en-US"/>
          </a:p>
        </p:txBody>
      </p:sp>
      <p:sp>
        <p:nvSpPr>
          <p:cNvPr id="278533"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r" defTabSz="966788" eaLnBrk="1" hangingPunct="1">
              <a:defRPr sz="1300" b="0">
                <a:latin typeface="Arial" charset="0"/>
              </a:defRPr>
            </a:lvl1pPr>
          </a:lstStyle>
          <a:p>
            <a:fld id="{DC1A1125-F622-42CD-8461-CA28AA386870}"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l" defTabSz="966788" eaLnBrk="1" hangingPunct="1">
              <a:defRPr sz="1300" b="0">
                <a:latin typeface="Arial" charset="0"/>
              </a:defRPr>
            </a:lvl1pPr>
          </a:lstStyle>
          <a:p>
            <a:endParaRPr lang="en-US"/>
          </a:p>
        </p:txBody>
      </p:sp>
      <p:sp>
        <p:nvSpPr>
          <p:cNvPr id="512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lvl1pPr algn="r" defTabSz="966788" eaLnBrk="1" hangingPunct="1">
              <a:defRPr sz="13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51" tIns="48326" rIns="96651" bIns="4832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l" defTabSz="966788" eaLnBrk="1" hangingPunct="1">
              <a:defRPr sz="1300" b="0">
                <a:latin typeface="Arial" charset="0"/>
              </a:defRPr>
            </a:lvl1pPr>
          </a:lstStyle>
          <a:p>
            <a:endParaRPr lang="en-US"/>
          </a:p>
        </p:txBody>
      </p:sp>
      <p:sp>
        <p:nvSpPr>
          <p:cNvPr id="512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51" tIns="48326" rIns="96651" bIns="48326" numCol="1" anchor="b" anchorCtr="0" compatLnSpc="1">
            <a:prstTxWarp prst="textNoShape">
              <a:avLst/>
            </a:prstTxWarp>
          </a:bodyPr>
          <a:lstStyle>
            <a:lvl1pPr algn="r" defTabSz="966788" eaLnBrk="1" hangingPunct="1">
              <a:defRPr sz="1300" b="0">
                <a:latin typeface="Arial" charset="0"/>
              </a:defRPr>
            </a:lvl1pPr>
          </a:lstStyle>
          <a:p>
            <a:fld id="{45035FD7-862C-4593-884F-69D7C38D0C55}"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_anchor_1','_com_1"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2E5588-57E0-477A-AA01-5AF149A52414}" type="slidenum">
              <a:rPr lang="en-US"/>
              <a:pPr/>
              <a:t>1</a:t>
            </a:fld>
            <a:endParaRPr lang="en-US"/>
          </a:p>
        </p:txBody>
      </p:sp>
      <p:sp>
        <p:nvSpPr>
          <p:cNvPr id="416770" name="Rectangle-2"/>
          <p:cNvSpPr>
            <a:spLocks noGrp="1" noRot="1" noChangeAspect="1" noChangeArrowheads="1" noTextEdit="1"/>
          </p:cNvSpPr>
          <p:nvPr>
            <p:ph type="sldImg"/>
          </p:nvPr>
        </p:nvSpPr>
        <p:spPr>
          <a:ln/>
        </p:spPr>
      </p:sp>
      <p:sp>
        <p:nvSpPr>
          <p:cNvPr id="416771" name="Rectangle-3"/>
          <p:cNvSpPr>
            <a:spLocks noGrp="1" noChangeArrowheads="1"/>
          </p:cNvSpPr>
          <p:nvPr>
            <p:ph type="body" idx="1"/>
          </p:nvPr>
        </p:nvSpPr>
        <p:spPr/>
        <p:txBody>
          <a:bodyPr/>
          <a:lstStyle/>
          <a:p>
            <a:endParaRPr lang="en-I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1E9132-4EA2-48DE-82ED-A7A652A6A9BA}" type="slidenum">
              <a:rPr lang="en-US"/>
              <a:pPr/>
              <a:t>2</a:t>
            </a:fld>
            <a:endParaRPr lang="en-US"/>
          </a:p>
        </p:txBody>
      </p:sp>
      <p:sp>
        <p:nvSpPr>
          <p:cNvPr id="415746" name="Rectangle-2"/>
          <p:cNvSpPr>
            <a:spLocks noGrp="1" noRot="1" noChangeAspect="1" noChangeArrowheads="1" noTextEdit="1"/>
          </p:cNvSpPr>
          <p:nvPr>
            <p:ph type="sldImg"/>
          </p:nvPr>
        </p:nvSpPr>
        <p:spPr>
          <a:ln/>
        </p:spPr>
      </p:sp>
      <p:sp>
        <p:nvSpPr>
          <p:cNvPr id="415747"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B24034-ED53-4663-9B78-56F9AA991F55}" type="slidenum">
              <a:rPr lang="en-US"/>
              <a:pPr/>
              <a:t>3</a:t>
            </a:fld>
            <a:endParaRPr lang="en-US"/>
          </a:p>
        </p:txBody>
      </p:sp>
      <p:sp>
        <p:nvSpPr>
          <p:cNvPr id="628738" name="Rectangle-2"/>
          <p:cNvSpPr>
            <a:spLocks noGrp="1" noRot="1" noChangeAspect="1" noChangeArrowheads="1" noTextEdit="1"/>
          </p:cNvSpPr>
          <p:nvPr>
            <p:ph type="sldImg"/>
          </p:nvPr>
        </p:nvSpPr>
        <p:spPr>
          <a:ln/>
        </p:spPr>
      </p:sp>
      <p:sp>
        <p:nvSpPr>
          <p:cNvPr id="628739"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p:cNvSpPr>
          <p:nvPr>
            <p:ph type="sldImg"/>
          </p:nvPr>
        </p:nvSpPr>
        <p:spPr>
          <a:ln/>
        </p:spPr>
      </p:sp>
      <p:sp>
        <p:nvSpPr>
          <p:cNvPr id="27650" name="Notes Placeholder 2"/>
          <p:cNvSpPr>
            <a:spLocks noGrp="1"/>
          </p:cNvSpPr>
          <p:nvPr>
            <p:ph type="body" idx="1"/>
          </p:nvPr>
        </p:nvSpPr>
        <p:spPr>
          <a:xfrm>
            <a:off x="327991" y="2334718"/>
            <a:ext cx="6559826" cy="6989399"/>
          </a:xfrm>
          <a:noFill/>
          <a:ln/>
        </p:spPr>
        <p:txBody>
          <a:bodyPr/>
          <a:lstStyle/>
          <a:p>
            <a:r>
              <a:rPr lang="en-US" dirty="0">
                <a:latin typeface="Arial" pitchFamily="34" charset="0"/>
              </a:rPr>
              <a:t>Use this topic to highlight server management considerations your students my face when managing Windows Server 2008 servers.</a:t>
            </a:r>
          </a:p>
          <a:p>
            <a:endParaRPr lang="en-US" dirty="0">
              <a:latin typeface="Arial" pitchFamily="34" charset="0"/>
            </a:endParaRPr>
          </a:p>
          <a:p>
            <a:r>
              <a:rPr lang="en-US" dirty="0">
                <a:latin typeface="Arial" pitchFamily="34" charset="0"/>
              </a:rPr>
              <a:t>The points on the slide server cover some common considerations that most organizations will face. Discuss with the students some of the considerations they now face in their current environments.</a:t>
            </a:r>
          </a:p>
          <a:p>
            <a:r>
              <a:rPr lang="en-US" dirty="0">
                <a:latin typeface="Arial" pitchFamily="34" charset="0"/>
              </a:rPr>
              <a:t>Use the following question to start a discussion: </a:t>
            </a:r>
          </a:p>
          <a:p>
            <a:endParaRPr lang="en-US" b="1" dirty="0">
              <a:latin typeface="Arial" pitchFamily="34" charset="0"/>
            </a:endParaRPr>
          </a:p>
          <a:p>
            <a:r>
              <a:rPr lang="en-US" b="1" dirty="0">
                <a:latin typeface="Arial" pitchFamily="34" charset="0"/>
              </a:rPr>
              <a:t>Question:</a:t>
            </a:r>
            <a:r>
              <a:rPr lang="en-US" dirty="0">
                <a:latin typeface="Arial" pitchFamily="34" charset="0"/>
              </a:rPr>
              <a:t> Does your organization manage servers that may have some of the requirements in</a:t>
            </a:r>
            <a:r>
              <a:rPr lang="en-US" baseline="0" dirty="0">
                <a:latin typeface="Arial" pitchFamily="34" charset="0"/>
              </a:rPr>
              <a:t> this topic</a:t>
            </a:r>
            <a:r>
              <a:rPr lang="en-US" dirty="0">
                <a:latin typeface="Arial" pitchFamily="34" charset="0"/>
              </a:rPr>
              <a:t>?</a:t>
            </a:r>
          </a:p>
          <a:p>
            <a:r>
              <a:rPr lang="en-US" b="1" dirty="0">
                <a:latin typeface="Arial" pitchFamily="34" charset="0"/>
              </a:rPr>
              <a:t>Answer:</a:t>
            </a:r>
            <a:r>
              <a:rPr lang="en-US" dirty="0">
                <a:latin typeface="Arial" pitchFamily="34" charset="0"/>
              </a:rPr>
              <a:t> Answers will vary, this question is intended to create a discussion in the class regarding server management considerations and how they may affect their current environment. These considerations will be addressed by specific topics on server management covered later in this module.</a:t>
            </a:r>
          </a:p>
          <a:p>
            <a:endParaRPr lang="en-US" b="1" dirty="0">
              <a:latin typeface="Arial" pitchFamily="34" charset="0"/>
            </a:endParaRPr>
          </a:p>
          <a:p>
            <a:r>
              <a:rPr lang="en-US" b="1" dirty="0">
                <a:latin typeface="Arial" pitchFamily="34" charset="0"/>
              </a:rPr>
              <a:t>References</a:t>
            </a:r>
          </a:p>
          <a:p>
            <a:r>
              <a:rPr lang="en-US" dirty="0">
                <a:latin typeface="Arial" pitchFamily="34" charset="0"/>
              </a:rPr>
              <a:t>Windows Server 2008 R2 Upgrade Paths</a:t>
            </a:r>
            <a:br>
              <a:rPr lang="en-US" dirty="0">
                <a:latin typeface="Arial" pitchFamily="34" charset="0"/>
              </a:rPr>
            </a:br>
            <a:r>
              <a:rPr lang="en-US" dirty="0">
                <a:latin typeface="Arial" pitchFamily="34" charset="0"/>
              </a:rPr>
              <a:t>http://go.microsoft.com/fwlink/?LinkID=211885</a:t>
            </a:r>
          </a:p>
          <a:p>
            <a:r>
              <a:rPr lang="en-US" dirty="0">
                <a:latin typeface="Arial" pitchFamily="34" charset="0"/>
              </a:rPr>
              <a:t>Migrate Server Roles to Windows Server 2008 R2</a:t>
            </a:r>
            <a:br>
              <a:rPr lang="en-US" dirty="0">
                <a:latin typeface="Arial" pitchFamily="34" charset="0"/>
              </a:rPr>
            </a:br>
            <a:r>
              <a:rPr lang="en-US" dirty="0">
                <a:latin typeface="Arial" pitchFamily="34" charset="0"/>
              </a:rPr>
              <a:t>http://go.microsoft.com/fwlink/?LinkID=211886</a:t>
            </a:r>
          </a:p>
          <a:p>
            <a:endParaRPr lang="en-US" dirty="0">
              <a:latin typeface="Arial" pitchFamily="34" charset="0"/>
            </a:endParaRPr>
          </a:p>
          <a:p>
            <a:endParaRPr lang="en-US" dirty="0">
              <a:latin typeface="Arial" pitchFamily="34" charset="0"/>
            </a:endParaRPr>
          </a:p>
        </p:txBody>
      </p:sp>
      <p:sp>
        <p:nvSpPr>
          <p:cNvPr id="6" name="Slide Number Placeholder 5"/>
          <p:cNvSpPr>
            <a:spLocks noGrp="1"/>
          </p:cNvSpPr>
          <p:nvPr>
            <p:ph type="sldNum" sz="quarter" idx="5"/>
          </p:nvPr>
        </p:nvSpPr>
        <p:spPr/>
        <p:txBody>
          <a:bodyPr/>
          <a:lstStyle/>
          <a:p>
            <a:pPr>
              <a:defRPr/>
            </a:pPr>
            <a:fld id="{735585A2-765F-4D33-8A95-D19CEB2635DD}" type="slidenum">
              <a:rPr lang="en-US" smtClean="0"/>
              <a:pPr>
                <a:defRPr/>
              </a:pPr>
              <a:t>4</a:t>
            </a:fld>
            <a:endParaRPr lang="en-US"/>
          </a:p>
        </p:txBody>
      </p:sp>
      <p:sp>
        <p:nvSpPr>
          <p:cNvPr id="7" name="Header Placeholder 3"/>
          <p:cNvSpPr>
            <a:spLocks noGrp="1"/>
          </p:cNvSpPr>
          <p:nvPr>
            <p:ph type="hdr" sz="quarter"/>
          </p:nvPr>
        </p:nvSpPr>
        <p:spPr/>
        <p:txBody>
          <a:bodyPr/>
          <a:lstStyle/>
          <a:p>
            <a:pPr>
              <a:defRPr/>
            </a:pPr>
            <a:r>
              <a:rPr lang="en-US" dirty="0">
                <a:solidFill>
                  <a:schemeClr val="tx1"/>
                </a:solidFill>
              </a:rPr>
              <a:t>Module 1: Overview of the Windows Server 2008 Management Environment</a:t>
            </a:r>
          </a:p>
          <a:p>
            <a:pPr>
              <a:defRPr/>
            </a:pPr>
            <a:endParaRPr lang="en-US" dirty="0">
              <a:solidFill>
                <a:schemeClr val="tx1"/>
              </a:solidFill>
            </a:endParaRPr>
          </a:p>
        </p:txBody>
      </p:sp>
      <p:sp>
        <p:nvSpPr>
          <p:cNvPr id="8" name="Date Placeholder 4"/>
          <p:cNvSpPr>
            <a:spLocks noGrp="1"/>
          </p:cNvSpPr>
          <p:nvPr>
            <p:ph type="dt" sz="quarter" idx="1"/>
          </p:nvPr>
        </p:nvSpPr>
        <p:spPr/>
        <p:txBody>
          <a:bodyPr/>
          <a:lstStyle/>
          <a:p>
            <a:pPr>
              <a:defRPr/>
            </a:pPr>
            <a:r>
              <a:rPr lang="en-US" dirty="0"/>
              <a:t>Course 6419B</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1F5A4-2A29-464F-972D-C7251867F000}" type="slidenum">
              <a:rPr lang="en-US"/>
              <a:pPr/>
              <a:t>5</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1F5A4-2A29-464F-972D-C7251867F000}" type="slidenum">
              <a:rPr lang="en-US"/>
              <a:pPr/>
              <a:t>6</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1F5A4-2A29-464F-972D-C7251867F000}" type="slidenum">
              <a:rPr lang="en-US"/>
              <a:pPr/>
              <a:t>7</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1F5A4-2A29-464F-972D-C7251867F000}" type="slidenum">
              <a:rPr lang="en-US"/>
              <a:pPr/>
              <a:t>8</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1F5A4-2A29-464F-972D-C7251867F000}" type="slidenum">
              <a:rPr lang="en-US"/>
              <a:pPr/>
              <a:t>9</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D1F5A4-2A29-464F-972D-C7251867F000}" type="slidenum">
              <a:rPr lang="en-US"/>
              <a:pPr/>
              <a:t>10</a:t>
            </a:fld>
            <a:endParaRPr lang="en-US"/>
          </a:p>
        </p:txBody>
      </p:sp>
      <p:sp>
        <p:nvSpPr>
          <p:cNvPr id="630786" name="Rectangle-2"/>
          <p:cNvSpPr>
            <a:spLocks noGrp="1" noRot="1" noChangeAspect="1" noChangeArrowheads="1" noTextEdit="1"/>
          </p:cNvSpPr>
          <p:nvPr>
            <p:ph type="sldImg"/>
          </p:nvPr>
        </p:nvSpPr>
        <p:spPr>
          <a:ln/>
        </p:spPr>
      </p:sp>
      <p:sp>
        <p:nvSpPr>
          <p:cNvPr id="63078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327991" y="2196996"/>
            <a:ext cx="6559826" cy="7127121"/>
          </a:xfrm>
        </p:spPr>
        <p:txBody>
          <a:bodyPr/>
          <a:lstStyle/>
          <a:p>
            <a:r>
              <a:rPr lang="en-US" dirty="0">
                <a:latin typeface="Arial" pitchFamily="34" charset="0"/>
              </a:rPr>
              <a:t>List the infrastructure and application roles, giving a brief explanation of each one, using the student handbook as a guide.</a:t>
            </a:r>
          </a:p>
          <a:p>
            <a:endParaRPr lang="en-US" dirty="0">
              <a:latin typeface="Arial" pitchFamily="34" charset="0"/>
            </a:endParaRPr>
          </a:p>
          <a:p>
            <a:r>
              <a:rPr lang="en-US" dirty="0">
                <a:latin typeface="Arial" pitchFamily="34" charset="0"/>
              </a:rPr>
              <a:t>Ensure to mention that role changes have occurred between Windows Server 2008 and Windows Server 2008 R2:</a:t>
            </a:r>
          </a:p>
          <a:p>
            <a:pPr>
              <a:buFontTx/>
              <a:buChar char="•"/>
            </a:pPr>
            <a:r>
              <a:rPr lang="en-US" dirty="0">
                <a:latin typeface="Arial" pitchFamily="34" charset="0"/>
              </a:rPr>
              <a:t>UDDI has been removed; it is available as a downloadable option from the Microsoft website.</a:t>
            </a:r>
          </a:p>
          <a:p>
            <a:pPr>
              <a:buFontTx/>
              <a:buChar char="•"/>
            </a:pPr>
            <a:r>
              <a:rPr lang="en-US" dirty="0">
                <a:latin typeface="Arial" pitchFamily="34" charset="0"/>
              </a:rPr>
              <a:t>Printer Server is now Print and Document Services.</a:t>
            </a:r>
          </a:p>
          <a:p>
            <a:pPr>
              <a:buFontTx/>
              <a:buChar char="•"/>
            </a:pPr>
            <a:r>
              <a:rPr lang="en-US" dirty="0">
                <a:latin typeface="Arial" pitchFamily="34" charset="0"/>
              </a:rPr>
              <a:t>Terminal Services is now Remote Desktop Services.</a:t>
            </a:r>
          </a:p>
          <a:p>
            <a:pPr>
              <a:buFontTx/>
              <a:buChar char="•"/>
            </a:pPr>
            <a:r>
              <a:rPr lang="en-US" dirty="0">
                <a:latin typeface="Arial" pitchFamily="34" charset="0"/>
              </a:rPr>
              <a:t>Windows Server Update Services (WSUS) has been added as a role.</a:t>
            </a:r>
          </a:p>
          <a:p>
            <a:pPr>
              <a:buFontTx/>
              <a:buChar char="•"/>
            </a:pPr>
            <a:endParaRPr lang="en-US" dirty="0">
              <a:latin typeface="Arial" pitchFamily="34" charset="0"/>
            </a:endParaRPr>
          </a:p>
          <a:p>
            <a:r>
              <a:rPr lang="en-US" b="1" dirty="0">
                <a:latin typeface="Arial" pitchFamily="34" charset="0"/>
              </a:rPr>
              <a:t>Reference</a:t>
            </a:r>
          </a:p>
          <a:p>
            <a:r>
              <a:rPr lang="en-US" dirty="0">
                <a:latin typeface="Arial" pitchFamily="34" charset="0"/>
              </a:rPr>
              <a:t>Windows Server 2008 R2 Edition Comparison by Server Role</a:t>
            </a:r>
            <a:br>
              <a:rPr lang="en-US" dirty="0">
                <a:latin typeface="Arial" pitchFamily="34" charset="0"/>
              </a:rPr>
            </a:br>
            <a:r>
              <a:rPr lang="en-US" dirty="0">
                <a:latin typeface="Arial" pitchFamily="34" charset="0"/>
              </a:rPr>
              <a:t>http://go.microsoft.com/fwlink/?LinkID=211889</a:t>
            </a:r>
          </a:p>
          <a:p>
            <a:endParaRPr lang="en-US" dirty="0">
              <a:latin typeface="Arial" pitchFamily="34" charset="0"/>
            </a:endParaRPr>
          </a:p>
          <a:p>
            <a:endParaRPr lang="en-US" dirty="0">
              <a:latin typeface="Arial" pitchFamily="34" charset="0"/>
            </a:endParaRPr>
          </a:p>
        </p:txBody>
      </p:sp>
      <p:sp>
        <p:nvSpPr>
          <p:cNvPr id="6" name="Slide Number Placeholder 5"/>
          <p:cNvSpPr>
            <a:spLocks noGrp="1"/>
          </p:cNvSpPr>
          <p:nvPr>
            <p:ph type="sldNum" sz="quarter" idx="5"/>
          </p:nvPr>
        </p:nvSpPr>
        <p:spPr/>
        <p:txBody>
          <a:bodyPr/>
          <a:lstStyle/>
          <a:p>
            <a:pPr>
              <a:defRPr/>
            </a:pPr>
            <a:fld id="{F4832ED1-3BE4-4FF8-A84A-257F1E11BD1D}" type="slidenum">
              <a:rPr lang="en-US" smtClean="0"/>
              <a:pPr>
                <a:defRPr/>
              </a:pPr>
              <a:t>11</a:t>
            </a:fld>
            <a:endParaRPr lang="en-US"/>
          </a:p>
        </p:txBody>
      </p:sp>
      <p:sp>
        <p:nvSpPr>
          <p:cNvPr id="7" name="Header Placeholder 3"/>
          <p:cNvSpPr>
            <a:spLocks noGrp="1"/>
          </p:cNvSpPr>
          <p:nvPr>
            <p:ph type="hdr" sz="quarter"/>
          </p:nvPr>
        </p:nvSpPr>
        <p:spPr/>
        <p:txBody>
          <a:bodyPr/>
          <a:lstStyle/>
          <a:p>
            <a:pPr>
              <a:defRPr/>
            </a:pPr>
            <a:r>
              <a:rPr lang="en-US" dirty="0">
                <a:solidFill>
                  <a:schemeClr val="tx1"/>
                </a:solidFill>
              </a:rPr>
              <a:t>Module 1: Overview of the Windows Server 2008 Management Environment</a:t>
            </a:r>
          </a:p>
          <a:p>
            <a:pPr>
              <a:defRPr/>
            </a:pPr>
            <a:endParaRPr lang="en-US" dirty="0">
              <a:solidFill>
                <a:schemeClr val="tx1"/>
              </a:solidFill>
            </a:endParaRPr>
          </a:p>
        </p:txBody>
      </p:sp>
      <p:sp>
        <p:nvSpPr>
          <p:cNvPr id="8" name="Date Placeholder 4"/>
          <p:cNvSpPr>
            <a:spLocks noGrp="1"/>
          </p:cNvSpPr>
          <p:nvPr>
            <p:ph type="dt" sz="quarter" idx="1"/>
          </p:nvPr>
        </p:nvSpPr>
        <p:spPr/>
        <p:txBody>
          <a:bodyPr/>
          <a:lstStyle/>
          <a:p>
            <a:pPr>
              <a:defRPr/>
            </a:pPr>
            <a:r>
              <a:rPr lang="en-US"/>
              <a:t>Course 6419B</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709DAF-3E2B-492E-80A6-557B03424FDD}" type="slidenum">
              <a:rPr lang="en-US"/>
              <a:pPr/>
              <a:t>12</a:t>
            </a:fld>
            <a:endParaRPr lang="en-US"/>
          </a:p>
        </p:txBody>
      </p:sp>
      <p:sp>
        <p:nvSpPr>
          <p:cNvPr id="629762" name="Rectangle-2"/>
          <p:cNvSpPr>
            <a:spLocks noGrp="1" noRot="1" noChangeAspect="1" noChangeArrowheads="1" noTextEdit="1"/>
          </p:cNvSpPr>
          <p:nvPr>
            <p:ph type="sldImg"/>
          </p:nvPr>
        </p:nvSpPr>
        <p:spPr>
          <a:ln/>
        </p:spPr>
      </p:sp>
      <p:sp>
        <p:nvSpPr>
          <p:cNvPr id="62976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E0EF2C-A031-42D3-960C-05E2907CD639}" type="slidenum">
              <a:rPr lang="en-US"/>
              <a:pPr/>
              <a:t>13</a:t>
            </a:fld>
            <a:endParaRPr lang="en-US"/>
          </a:p>
        </p:txBody>
      </p:sp>
      <p:sp>
        <p:nvSpPr>
          <p:cNvPr id="666626" name="Rectangle-2"/>
          <p:cNvSpPr>
            <a:spLocks noGrp="1" noRot="1" noChangeAspect="1" noChangeArrowheads="1" noTextEdit="1"/>
          </p:cNvSpPr>
          <p:nvPr>
            <p:ph type="sldImg"/>
          </p:nvPr>
        </p:nvSpPr>
        <p:spPr>
          <a:ln/>
        </p:spPr>
      </p:sp>
      <p:sp>
        <p:nvSpPr>
          <p:cNvPr id="66662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E0EF2C-A031-42D3-960C-05E2907CD639}" type="slidenum">
              <a:rPr lang="en-US"/>
              <a:pPr/>
              <a:t>14</a:t>
            </a:fld>
            <a:endParaRPr lang="en-US"/>
          </a:p>
        </p:txBody>
      </p:sp>
      <p:sp>
        <p:nvSpPr>
          <p:cNvPr id="666626" name="Rectangle-2"/>
          <p:cNvSpPr>
            <a:spLocks noGrp="1" noRot="1" noChangeAspect="1" noChangeArrowheads="1" noTextEdit="1"/>
          </p:cNvSpPr>
          <p:nvPr>
            <p:ph type="sldImg"/>
          </p:nvPr>
        </p:nvSpPr>
        <p:spPr>
          <a:ln/>
        </p:spPr>
      </p:sp>
      <p:sp>
        <p:nvSpPr>
          <p:cNvPr id="66662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681965-3D1E-46A8-9CAB-0C58E2D16FF7}" type="slidenum">
              <a:rPr lang="en-US"/>
              <a:pPr/>
              <a:t>15</a:t>
            </a:fld>
            <a:endParaRPr lang="en-US"/>
          </a:p>
        </p:txBody>
      </p:sp>
      <p:sp>
        <p:nvSpPr>
          <p:cNvPr id="667650" name="Rectangle-2"/>
          <p:cNvSpPr>
            <a:spLocks noGrp="1" noRot="1" noChangeAspect="1" noChangeArrowheads="1" noTextEdit="1"/>
          </p:cNvSpPr>
          <p:nvPr>
            <p:ph type="sldImg"/>
          </p:nvPr>
        </p:nvSpPr>
        <p:spPr>
          <a:ln/>
        </p:spPr>
      </p:sp>
      <p:sp>
        <p:nvSpPr>
          <p:cNvPr id="66765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869065-7B51-4429-9282-49BFB6D85CC1}" type="slidenum">
              <a:rPr lang="en-US"/>
              <a:pPr/>
              <a:t>16</a:t>
            </a:fld>
            <a:endParaRPr lang="en-US"/>
          </a:p>
        </p:txBody>
      </p:sp>
      <p:sp>
        <p:nvSpPr>
          <p:cNvPr id="635906" name="Rectangle-2"/>
          <p:cNvSpPr>
            <a:spLocks noGrp="1" noRot="1" noChangeAspect="1" noChangeArrowheads="1" noTextEdit="1"/>
          </p:cNvSpPr>
          <p:nvPr>
            <p:ph type="sldImg"/>
          </p:nvPr>
        </p:nvSpPr>
        <p:spPr>
          <a:ln/>
        </p:spPr>
      </p:sp>
      <p:sp>
        <p:nvSpPr>
          <p:cNvPr id="635907" name="Rectangle-3"/>
          <p:cNvSpPr>
            <a:spLocks noGrp="1" noChangeArrowheads="1"/>
          </p:cNvSpPr>
          <p:nvPr>
            <p:ph type="body" idx="1"/>
          </p:nvPr>
        </p:nvSpPr>
        <p:spPr/>
        <p:txBody>
          <a:bodyPr/>
          <a:lstStyle/>
          <a:p>
            <a:endParaRPr lang="en-I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85E27E-3FE6-4323-B27B-76BE50A7422F}" type="slidenum">
              <a:rPr lang="en-US"/>
              <a:pPr/>
              <a:t>17</a:t>
            </a:fld>
            <a:endParaRPr lang="en-US"/>
          </a:p>
        </p:txBody>
      </p:sp>
      <p:sp>
        <p:nvSpPr>
          <p:cNvPr id="626690" name="Rectangle-2"/>
          <p:cNvSpPr>
            <a:spLocks noGrp="1" noRot="1" noChangeAspect="1" noChangeArrowheads="1" noTextEdit="1"/>
          </p:cNvSpPr>
          <p:nvPr>
            <p:ph type="sldImg"/>
          </p:nvPr>
        </p:nvSpPr>
        <p:spPr>
          <a:ln/>
        </p:spPr>
      </p:sp>
      <p:sp>
        <p:nvSpPr>
          <p:cNvPr id="62669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85E27E-3FE6-4323-B27B-76BE50A7422F}" type="slidenum">
              <a:rPr lang="en-US"/>
              <a:pPr/>
              <a:t>18</a:t>
            </a:fld>
            <a:endParaRPr lang="en-US"/>
          </a:p>
        </p:txBody>
      </p:sp>
      <p:sp>
        <p:nvSpPr>
          <p:cNvPr id="626690" name="Rectangle-2"/>
          <p:cNvSpPr>
            <a:spLocks noGrp="1" noRot="1" noChangeAspect="1" noChangeArrowheads="1" noTextEdit="1"/>
          </p:cNvSpPr>
          <p:nvPr>
            <p:ph type="sldImg"/>
          </p:nvPr>
        </p:nvSpPr>
        <p:spPr>
          <a:ln/>
        </p:spPr>
      </p:sp>
      <p:sp>
        <p:nvSpPr>
          <p:cNvPr id="62669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85E27E-3FE6-4323-B27B-76BE50A7422F}" type="slidenum">
              <a:rPr lang="en-US"/>
              <a:pPr/>
              <a:t>19</a:t>
            </a:fld>
            <a:endParaRPr lang="en-US"/>
          </a:p>
        </p:txBody>
      </p:sp>
      <p:sp>
        <p:nvSpPr>
          <p:cNvPr id="626690" name="Rectangle-2"/>
          <p:cNvSpPr>
            <a:spLocks noGrp="1" noRot="1" noChangeAspect="1" noChangeArrowheads="1" noTextEdit="1"/>
          </p:cNvSpPr>
          <p:nvPr>
            <p:ph type="sldImg"/>
          </p:nvPr>
        </p:nvSpPr>
        <p:spPr>
          <a:ln/>
        </p:spPr>
      </p:sp>
      <p:sp>
        <p:nvSpPr>
          <p:cNvPr id="626691" name="Rectangle-3"/>
          <p:cNvSpPr>
            <a:spLocks noGrp="1" noChangeArrowheads="1"/>
          </p:cNvSpPr>
          <p:nvPr>
            <p:ph type="body" idx="1"/>
          </p:nvPr>
        </p:nvSpPr>
        <p:spPr/>
        <p:txBody>
          <a:bodyPr/>
          <a:lstStyle/>
          <a:p>
            <a:endParaRPr lang="en-I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783661-D0C8-4DFA-87F7-5C3B03C2BFC0}" type="slidenum">
              <a:rPr lang="en-US"/>
              <a:pPr/>
              <a:t>20</a:t>
            </a:fld>
            <a:endParaRPr lang="en-US"/>
          </a:p>
        </p:txBody>
      </p:sp>
      <p:sp>
        <p:nvSpPr>
          <p:cNvPr id="438274" name="Rectangle-2"/>
          <p:cNvSpPr>
            <a:spLocks noGrp="1" noRot="1" noChangeAspect="1" noChangeArrowheads="1" noTextEdit="1"/>
          </p:cNvSpPr>
          <p:nvPr>
            <p:ph type="sldImg"/>
          </p:nvPr>
        </p:nvSpPr>
        <p:spPr>
          <a:ln/>
        </p:spPr>
      </p:sp>
      <p:sp>
        <p:nvSpPr>
          <p:cNvPr id="438275" name="Rectangle-3"/>
          <p:cNvSpPr>
            <a:spLocks noGrp="1" noChangeArrowheads="1"/>
          </p:cNvSpPr>
          <p:nvPr>
            <p:ph type="body" idx="1"/>
          </p:nvPr>
        </p:nvSpPr>
        <p:spPr/>
        <p:txBody>
          <a:bodyPr/>
          <a:lstStyle/>
          <a:p>
            <a:endParaRPr lang="en-IE">
              <a:hlinkClick r:id="" action="ppaction://noaction"/>
              <a:hlinkMouseOver r:id="rId3" action="ppaction://hlinkfile"/>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BEB229-28DA-4BAF-BC4A-AD673964F1F6}" type="slidenum">
              <a:rPr lang="en-US"/>
              <a:pPr/>
              <a:t>21</a:t>
            </a:fld>
            <a:endParaRPr lang="en-US"/>
          </a:p>
        </p:txBody>
      </p:sp>
      <p:sp>
        <p:nvSpPr>
          <p:cNvPr id="439298" name="Rectangle-2"/>
          <p:cNvSpPr>
            <a:spLocks noGrp="1" noRot="1" noChangeAspect="1" noChangeArrowheads="1" noTextEdit="1"/>
          </p:cNvSpPr>
          <p:nvPr>
            <p:ph type="sldImg"/>
          </p:nvPr>
        </p:nvSpPr>
        <p:spPr>
          <a:ln/>
        </p:spPr>
      </p:sp>
      <p:sp>
        <p:nvSpPr>
          <p:cNvPr id="439299" name="Rectangle-3"/>
          <p:cNvSpPr>
            <a:spLocks noGrp="1" noChangeArrowheads="1"/>
          </p:cNvSpPr>
          <p:nvPr>
            <p:ph type="body" idx="1"/>
          </p:nvPr>
        </p:nvSpPr>
        <p:spPr/>
        <p:txBody>
          <a:bodyPr/>
          <a:lstStyle/>
          <a:p>
            <a:pPr marL="228600" indent="-228600"/>
            <a:endParaRPr lang="en-IE" sz="10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8B8B19-88F8-4D38-B2EB-4317581289F9}" type="slidenum">
              <a:rPr lang="en-US"/>
              <a:pPr/>
              <a:t>22</a:t>
            </a:fld>
            <a:endParaRPr lang="en-US"/>
          </a:p>
        </p:txBody>
      </p:sp>
      <p:sp>
        <p:nvSpPr>
          <p:cNvPr id="443394" name="Rectangle-2"/>
          <p:cNvSpPr>
            <a:spLocks noGrp="1" noRot="1" noChangeAspect="1" noChangeArrowheads="1" noTextEdit="1"/>
          </p:cNvSpPr>
          <p:nvPr>
            <p:ph type="sldImg"/>
          </p:nvPr>
        </p:nvSpPr>
        <p:spPr>
          <a:ln/>
        </p:spPr>
      </p:sp>
      <p:sp>
        <p:nvSpPr>
          <p:cNvPr id="443395" name="Rectangle-3"/>
          <p:cNvSpPr>
            <a:spLocks noGrp="1" noChangeArrowheads="1"/>
          </p:cNvSpPr>
          <p:nvPr>
            <p:ph type="body" idx="1"/>
          </p:nvPr>
        </p:nvSpPr>
        <p:spPr/>
        <p:txBody>
          <a:bodyPr/>
          <a:lstStyle/>
          <a:p>
            <a:pPr marL="228600" indent="-228600"/>
            <a:endParaRPr lang="en-IE" b="1"/>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1CEB38-9E0E-47AF-991A-CA0C8ECFAE60}" type="slidenum">
              <a:rPr lang="en-US"/>
              <a:pPr/>
              <a:t>23</a:t>
            </a:fld>
            <a:endParaRPr lang="en-US"/>
          </a:p>
        </p:txBody>
      </p:sp>
      <p:sp>
        <p:nvSpPr>
          <p:cNvPr id="569346" name="Rectangle-2"/>
          <p:cNvSpPr>
            <a:spLocks noGrp="1" noRot="1" noChangeAspect="1" noChangeArrowheads="1" noTextEdit="1"/>
          </p:cNvSpPr>
          <p:nvPr>
            <p:ph type="sldImg"/>
          </p:nvPr>
        </p:nvSpPr>
        <p:spPr>
          <a:ln/>
        </p:spPr>
      </p:sp>
      <p:sp>
        <p:nvSpPr>
          <p:cNvPr id="569347" name="Rectangle-3"/>
          <p:cNvSpPr>
            <a:spLocks noGrp="1" noChangeArrowheads="1"/>
          </p:cNvSpPr>
          <p:nvPr>
            <p:ph type="body" idx="1"/>
          </p:nvPr>
        </p:nvSpPr>
        <p:spPr/>
        <p:txBody>
          <a:bodyPr/>
          <a:lstStyle/>
          <a:p>
            <a:pPr>
              <a:lnSpc>
                <a:spcPct val="80000"/>
              </a:lnSpc>
            </a:pPr>
            <a:endParaRPr lang="en-IE" sz="8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CA671F-D0BF-407A-85BD-0F150CF12A62}" type="slidenum">
              <a:rPr lang="en-US"/>
              <a:pPr/>
              <a:t>24</a:t>
            </a:fld>
            <a:endParaRPr lang="en-US"/>
          </a:p>
        </p:txBody>
      </p:sp>
      <p:sp>
        <p:nvSpPr>
          <p:cNvPr id="669698" name="Rectangle-2"/>
          <p:cNvSpPr>
            <a:spLocks noGrp="1" noRot="1" noChangeAspect="1" noChangeArrowheads="1" noTextEdit="1"/>
          </p:cNvSpPr>
          <p:nvPr>
            <p:ph type="sldImg"/>
          </p:nvPr>
        </p:nvSpPr>
        <p:spPr>
          <a:ln/>
        </p:spPr>
      </p:sp>
      <p:sp>
        <p:nvSpPr>
          <p:cNvPr id="669699" name="Rectangle-3"/>
          <p:cNvSpPr>
            <a:spLocks noGrp="1" noChangeArrowheads="1"/>
          </p:cNvSpPr>
          <p:nvPr>
            <p:ph type="body" idx="1"/>
          </p:nvPr>
        </p:nvSpPr>
        <p:spPr/>
        <p:txBody>
          <a:bodyPr/>
          <a:lstStyle/>
          <a:p>
            <a:endParaRPr lang="en-I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2/2/2025</a:t>
            </a:fld>
            <a:endParaRPr lang="en-US"/>
          </a:p>
        </p:txBody>
      </p:sp>
      <p:sp>
        <p:nvSpPr>
          <p:cNvPr id="17" name="Espace réservé du pied de page 16"/>
          <p:cNvSpPr>
            <a:spLocks noGrp="1"/>
          </p:cNvSpPr>
          <p:nvPr>
            <p:ph type="ftr" sz="quarter" idx="11"/>
          </p:nvPr>
        </p:nvSpPr>
        <p:spPr/>
        <p:txBody>
          <a:bodyPr/>
          <a:lstStyle/>
          <a:p>
            <a:endParaRPr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1"/>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2/2/2025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2/2/2025</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2/2/2025</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2/2/2025</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2/2/2025</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2/2/2025</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2/2/2025</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2/2/2025</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2/2/2025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2/2/2025</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a:t>Cliquez pour modifier le style du titre</a:t>
            </a:r>
          </a:p>
        </p:txBody>
      </p:sp>
      <p:sp>
        <p:nvSpPr>
          <p:cNvPr id="3" name="Espace réservé du texte 2"/>
          <p:cNvSpPr>
            <a:spLocks noGrp="1"/>
          </p:cNvSpPr>
          <p:nvPr>
            <p:ph type="body" sz="half" idx="1"/>
          </p:nvPr>
        </p:nvSpPr>
        <p:spPr>
          <a:xfrm>
            <a:off x="1050925" y="1447800"/>
            <a:ext cx="3436938"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0263" y="1447800"/>
            <a:ext cx="3436937"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re et 4 contenus">
    <p:spTree>
      <p:nvGrpSpPr>
        <p:cNvPr id="1" name=""/>
        <p:cNvGrpSpPr/>
        <p:nvPr/>
      </p:nvGrpSpPr>
      <p:grpSpPr>
        <a:xfrm>
          <a:off x="0" y="0"/>
          <a:ext cx="0" cy="0"/>
          <a:chOff x="0" y="0"/>
          <a:chExt cx="0" cy="0"/>
        </a:xfrm>
      </p:grpSpPr>
      <p:sp>
        <p:nvSpPr>
          <p:cNvPr id="2" name="Titre 1"/>
          <p:cNvSpPr>
            <a:spLocks noGrp="1"/>
          </p:cNvSpPr>
          <p:nvPr>
            <p:ph type="title" sz="quarter"/>
          </p:nvPr>
        </p:nvSpPr>
        <p:spPr>
          <a:xfrm>
            <a:off x="838200" y="77788"/>
            <a:ext cx="7391400" cy="684212"/>
          </a:xfrm>
        </p:spPr>
        <p:txBody>
          <a:bodyPr/>
          <a:lstStyle/>
          <a:p>
            <a:r>
              <a:rPr lang="fr-FR"/>
              <a:t>Cliquez pour modifier le style du titre</a:t>
            </a:r>
          </a:p>
        </p:txBody>
      </p:sp>
      <p:sp>
        <p:nvSpPr>
          <p:cNvPr id="3" name="Espace réservé du contenu 2"/>
          <p:cNvSpPr>
            <a:spLocks noGrp="1"/>
          </p:cNvSpPr>
          <p:nvPr>
            <p:ph sz="quarter" idx="1"/>
          </p:nvPr>
        </p:nvSpPr>
        <p:spPr>
          <a:xfrm>
            <a:off x="1050925" y="1447800"/>
            <a:ext cx="3436938" cy="2270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4640263" y="1447800"/>
            <a:ext cx="3436937" cy="2270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1050925" y="3870325"/>
            <a:ext cx="3436938" cy="22717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p:cNvSpPr>
            <a:spLocks noGrp="1"/>
          </p:cNvSpPr>
          <p:nvPr>
            <p:ph sz="quarter" idx="4"/>
          </p:nvPr>
        </p:nvSpPr>
        <p:spPr>
          <a:xfrm>
            <a:off x="4640263" y="3870325"/>
            <a:ext cx="3436937" cy="22717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2/2/2025</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8" r:id="rId13"/>
  </p:sldLayoutIdLst>
  <p:txStyles>
    <p:titleStyle>
      <a:lvl1pPr algn="ctr" rtl="0" eaLnBrk="1" latinLnBrk="0" hangingPunct="1">
        <a:spcBef>
          <a:spcPct val="0"/>
        </a:spcBef>
        <a:buNone/>
        <a:defRPr kumimoji="0" sz="3300" b="1" kern="1200">
          <a:solidFill>
            <a:schemeClr val="tx1"/>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261257" y="2835954"/>
            <a:ext cx="8490857" cy="3113087"/>
          </a:xfrm>
        </p:spPr>
        <p:txBody>
          <a:bodyPr>
            <a:noAutofit/>
          </a:bodyPr>
          <a:lstStyle/>
          <a:p>
            <a:r>
              <a:rPr lang="fr-FR" altLang="zh-CN" sz="4800" b="1" dirty="0">
                <a:solidFill>
                  <a:srgbClr val="000000"/>
                </a:solidFill>
                <a:ea typeface="SimSun" pitchFamily="2" charset="-122"/>
                <a:cs typeface="Times New Roman" pitchFamily="18" charset="0"/>
              </a:rPr>
              <a:t>Chapitre 1 </a:t>
            </a:r>
            <a:br>
              <a:rPr lang="fr-FR" altLang="zh-CN" sz="4800" b="1" dirty="0">
                <a:solidFill>
                  <a:srgbClr val="000000"/>
                </a:solidFill>
                <a:ea typeface="SimSun" pitchFamily="2" charset="-122"/>
                <a:cs typeface="Times New Roman" pitchFamily="18" charset="0"/>
              </a:rPr>
            </a:br>
            <a:r>
              <a:rPr lang="fr-FR" altLang="zh-CN" sz="4800" b="1" dirty="0">
                <a:solidFill>
                  <a:srgbClr val="000000"/>
                </a:solidFill>
                <a:ea typeface="SimSun" pitchFamily="2" charset="-122"/>
                <a:cs typeface="Times New Roman" pitchFamily="18" charset="0"/>
              </a:rPr>
              <a:t> Présentation </a:t>
            </a:r>
            <a:br>
              <a:rPr lang="fr-FR" altLang="zh-CN" sz="4800" b="1" dirty="0">
                <a:solidFill>
                  <a:srgbClr val="000000"/>
                </a:solidFill>
                <a:ea typeface="SimSun" pitchFamily="2" charset="-122"/>
                <a:cs typeface="Times New Roman" pitchFamily="18" charset="0"/>
              </a:rPr>
            </a:br>
            <a:r>
              <a:rPr lang="fr-FR" altLang="zh-CN" sz="4800" b="1" dirty="0">
                <a:solidFill>
                  <a:srgbClr val="000000"/>
                </a:solidFill>
                <a:ea typeface="SimSun" pitchFamily="2" charset="-122"/>
                <a:cs typeface="Times New Roman" pitchFamily="18" charset="0"/>
              </a:rPr>
              <a:t>de l'administration des comptes et des ressources</a:t>
            </a:r>
            <a:endParaRPr lang="en-US" sz="4800" b="1" dirty="0">
              <a:ea typeface="SimSun" pitchFamily="2" charset="-122"/>
              <a:cs typeface="Times New Roman" pitchFamily="18" charset="0"/>
            </a:endParaRPr>
          </a:p>
        </p:txBody>
      </p:sp>
      <p:sp>
        <p:nvSpPr>
          <p:cNvPr id="5" name="ZoneTexte 4"/>
          <p:cNvSpPr txBox="1"/>
          <p:nvPr/>
        </p:nvSpPr>
        <p:spPr>
          <a:xfrm>
            <a:off x="1567549" y="769257"/>
            <a:ext cx="5965371" cy="830997"/>
          </a:xfrm>
          <a:prstGeom prst="rect">
            <a:avLst/>
          </a:prstGeom>
          <a:noFill/>
        </p:spPr>
        <p:txBody>
          <a:bodyPr wrap="square" rtlCol="0">
            <a:spAutoFit/>
          </a:bodyPr>
          <a:lstStyle/>
          <a:p>
            <a:r>
              <a:rPr lang="fr-FR" sz="4800" dirty="0"/>
              <a:t>Module S42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2"/>
          <p:cNvSpPr>
            <a:spLocks noGrp="1" noChangeArrowheads="1"/>
          </p:cNvSpPr>
          <p:nvPr>
            <p:ph type="title"/>
          </p:nvPr>
        </p:nvSpPr>
        <p:spPr/>
        <p:txBody>
          <a:bodyPr/>
          <a:lstStyle/>
          <a:p>
            <a:r>
              <a:rPr lang="fr-FR" altLang="zh-CN" dirty="0">
                <a:solidFill>
                  <a:srgbClr val="000000"/>
                </a:solidFill>
                <a:ea typeface="SimSun" pitchFamily="2" charset="-122"/>
                <a:cs typeface="Times New Roman" pitchFamily="18" charset="0"/>
              </a:rPr>
              <a:t>Plan du cours</a:t>
            </a:r>
            <a:endParaRPr lang="en-US" dirty="0">
              <a:solidFill>
                <a:srgbClr val="000000"/>
              </a:solidFill>
              <a:ea typeface="SimSun" pitchFamily="2" charset="-122"/>
              <a:cs typeface="Times New Roman" pitchFamily="18" charset="0"/>
            </a:endParaRPr>
          </a:p>
        </p:txBody>
      </p:sp>
      <p:sp>
        <p:nvSpPr>
          <p:cNvPr id="287747" name="Rectangle-3"/>
          <p:cNvSpPr>
            <a:spLocks noGrp="1" noChangeArrowheads="1"/>
          </p:cNvSpPr>
          <p:nvPr>
            <p:ph sz="quarter" idx="1"/>
          </p:nvPr>
        </p:nvSpPr>
        <p:spPr>
          <a:xfrm>
            <a:off x="274043" y="2303557"/>
            <a:ext cx="8503920" cy="2933462"/>
          </a:xfrm>
        </p:spPr>
        <p:txBody>
          <a:bodyPr>
            <a:normAutofit/>
          </a:bodyPr>
          <a:lstStyle/>
          <a:p>
            <a:pPr marL="514350" indent="-514350">
              <a:buClr>
                <a:schemeClr val="tx1"/>
              </a:buClr>
              <a:buFont typeface="+mj-lt"/>
              <a:buAutoNum type="arabicPeriod"/>
            </a:pPr>
            <a:r>
              <a:rPr lang="fr-FR" altLang="zh-CN" sz="2800" b="1" dirty="0">
                <a:solidFill>
                  <a:srgbClr val="000000"/>
                </a:solidFill>
                <a:ea typeface="SimSun" pitchFamily="2" charset="-122"/>
                <a:cs typeface="Times New Roman" pitchFamily="18" charset="0"/>
              </a:rPr>
              <a:t>L'environnement Windows Server 2008 </a:t>
            </a:r>
          </a:p>
          <a:p>
            <a:pPr marL="514350" indent="-514350">
              <a:buClr>
                <a:schemeClr val="tx1"/>
              </a:buClr>
              <a:buFont typeface="+mj-lt"/>
              <a:buAutoNum type="arabicPeriod"/>
            </a:pPr>
            <a:r>
              <a:rPr lang="fr-FR" altLang="zh-CN" sz="2800" b="1" dirty="0">
                <a:solidFill>
                  <a:srgbClr val="000000"/>
                </a:solidFill>
                <a:ea typeface="SimSun" pitchFamily="2" charset="-122"/>
                <a:cs typeface="Times New Roman" pitchFamily="18" charset="0"/>
              </a:rPr>
              <a:t>O</a:t>
            </a:r>
            <a:r>
              <a:rPr lang="fr-FR" altLang="zh-CN" sz="2800" b="1" dirty="0">
                <a:solidFill>
                  <a:srgbClr val="000000"/>
                </a:solidFill>
                <a:ea typeface="SimSun" pitchFamily="2" charset="-122"/>
              </a:rPr>
              <a:t>uverture de session sur Windows Server 2008</a:t>
            </a:r>
            <a:endParaRPr lang="en-US" sz="2800" b="1" dirty="0"/>
          </a:p>
          <a:p>
            <a:pPr marL="514350" indent="-514350">
              <a:buClr>
                <a:schemeClr val="tx1"/>
              </a:buClr>
              <a:buFont typeface="+mj-lt"/>
              <a:buAutoNum type="arabicPeriod"/>
            </a:pPr>
            <a:r>
              <a:rPr lang="fr-FR" altLang="zh-CN" sz="2800" b="1" dirty="0">
                <a:solidFill>
                  <a:srgbClr val="000000"/>
                </a:solidFill>
                <a:ea typeface="SimSun" pitchFamily="2" charset="-122"/>
              </a:rPr>
              <a:t>Création d'une unité d'organisation</a:t>
            </a:r>
            <a:r>
              <a:rPr lang="en-IE" altLang="zh-CN" sz="2800" b="1" dirty="0">
                <a:solidFill>
                  <a:srgbClr val="000000"/>
                </a:solidFill>
                <a:ea typeface="SimSun" pitchFamily="2" charset="-122"/>
              </a:rPr>
              <a:t> </a:t>
            </a:r>
            <a:endParaRPr lang="en-US" sz="2800" b="1" dirty="0"/>
          </a:p>
          <a:p>
            <a:pPr marL="514350" indent="-514350">
              <a:buClr>
                <a:schemeClr val="tx1"/>
              </a:buClr>
              <a:buFont typeface="+mj-lt"/>
              <a:buAutoNum type="arabicPeriod"/>
            </a:pPr>
            <a:r>
              <a:rPr lang="fr-FR" altLang="zh-CN" sz="2800" b="1" dirty="0">
                <a:solidFill>
                  <a:srgbClr val="000000"/>
                </a:solidFill>
                <a:ea typeface="SimSun" pitchFamily="2" charset="-122"/>
              </a:rPr>
              <a:t>Déplacement des objets de domaine </a:t>
            </a:r>
            <a:r>
              <a:rPr lang="en-IE" altLang="zh-CN" sz="2800" b="1" dirty="0">
                <a:solidFill>
                  <a:srgbClr val="000000"/>
                </a:solidFill>
                <a:ea typeface="SimSun" pitchFamily="2" charset="-122"/>
              </a:rPr>
              <a:t> </a:t>
            </a:r>
            <a:endParaRPr lang="en-US" sz="2800" b="1"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2"/>
          <p:cNvSpPr>
            <a:spLocks noGrp="1" noChangeArrowheads="1"/>
          </p:cNvSpPr>
          <p:nvPr>
            <p:ph type="title"/>
          </p:nvPr>
        </p:nvSpPr>
        <p:spPr/>
        <p:txBody>
          <a:bodyPr>
            <a:normAutofit fontScale="90000"/>
          </a:bodyPr>
          <a:lstStyle/>
          <a:p>
            <a:r>
              <a:rPr lang="fr-FR" altLang="zh-CN" dirty="0">
                <a:solidFill>
                  <a:srgbClr val="000000"/>
                </a:solidFill>
                <a:ea typeface="SimSun" pitchFamily="2" charset="-122"/>
                <a:cs typeface="Times New Roman" pitchFamily="18" charset="0"/>
              </a:rPr>
              <a:t>1. L'environnement Windows Server 2008</a:t>
            </a:r>
            <a:endParaRPr lang="en-US" dirty="0">
              <a:ea typeface="SimSun" pitchFamily="2" charset="-122"/>
              <a:cs typeface="Times New Roman" pitchFamily="18" charset="0"/>
            </a:endParaRPr>
          </a:p>
        </p:txBody>
      </p:sp>
      <p:sp>
        <p:nvSpPr>
          <p:cNvPr id="587779" name="Rectangle-3"/>
          <p:cNvSpPr>
            <a:spLocks noGrp="1" noChangeArrowheads="1"/>
          </p:cNvSpPr>
          <p:nvPr>
            <p:ph sz="quarter" idx="1"/>
          </p:nvPr>
        </p:nvSpPr>
        <p:spPr>
          <a:xfrm>
            <a:off x="287238" y="1846362"/>
            <a:ext cx="8503920" cy="3103009"/>
          </a:xfrm>
        </p:spPr>
        <p:txBody>
          <a:bodyPr/>
          <a:lstStyle/>
          <a:p>
            <a:r>
              <a:rPr lang="en-US" altLang="zh-CN" dirty="0">
                <a:solidFill>
                  <a:srgbClr val="C00000"/>
                </a:solidFill>
                <a:ea typeface="SimSun" pitchFamily="2" charset="-122"/>
                <a:cs typeface="Times New Roman" pitchFamily="18" charset="0"/>
              </a:rPr>
              <a:t>Les </a:t>
            </a:r>
            <a:r>
              <a:rPr lang="en-US" altLang="zh-CN" dirty="0" err="1">
                <a:solidFill>
                  <a:srgbClr val="C00000"/>
                </a:solidFill>
                <a:ea typeface="SimSun" pitchFamily="2" charset="-122"/>
                <a:cs typeface="Times New Roman" pitchFamily="18" charset="0"/>
              </a:rPr>
              <a:t>considérations</a:t>
            </a:r>
            <a:r>
              <a:rPr lang="en-US" altLang="zh-CN" dirty="0">
                <a:solidFill>
                  <a:srgbClr val="C00000"/>
                </a:solidFill>
                <a:ea typeface="SimSun" pitchFamily="2" charset="-122"/>
                <a:cs typeface="Times New Roman" pitchFamily="18" charset="0"/>
              </a:rPr>
              <a:t> pour la </a:t>
            </a:r>
            <a:r>
              <a:rPr lang="en-US" altLang="zh-CN" dirty="0" err="1">
                <a:solidFill>
                  <a:srgbClr val="C00000"/>
                </a:solidFill>
                <a:ea typeface="SimSun" pitchFamily="2" charset="-122"/>
                <a:cs typeface="Times New Roman" pitchFamily="18" charset="0"/>
              </a:rPr>
              <a:t>gestion</a:t>
            </a:r>
            <a:r>
              <a:rPr lang="en-US" altLang="zh-CN" dirty="0">
                <a:solidFill>
                  <a:srgbClr val="C00000"/>
                </a:solidFill>
                <a:ea typeface="SimSun" pitchFamily="2" charset="-122"/>
                <a:cs typeface="Times New Roman" pitchFamily="18" charset="0"/>
              </a:rPr>
              <a:t> d’un </a:t>
            </a:r>
            <a:r>
              <a:rPr lang="en-US" altLang="zh-CN" dirty="0" err="1">
                <a:solidFill>
                  <a:srgbClr val="C00000"/>
                </a:solidFill>
                <a:ea typeface="SimSun" pitchFamily="2" charset="-122"/>
                <a:cs typeface="Times New Roman" pitchFamily="18" charset="0"/>
              </a:rPr>
              <a:t>serveur</a:t>
            </a:r>
            <a:endParaRPr lang="en-US" altLang="zh-CN" dirty="0">
              <a:solidFill>
                <a:srgbClr val="C00000"/>
              </a:solidFill>
              <a:ea typeface="SimSun" pitchFamily="2" charset="-122"/>
              <a:cs typeface="Times New Roman" pitchFamily="18" charset="0"/>
            </a:endParaRPr>
          </a:p>
          <a:p>
            <a:r>
              <a:rPr lang="fr-FR" altLang="zh-CN" dirty="0">
                <a:solidFill>
                  <a:srgbClr val="C00000"/>
                </a:solidFill>
                <a:ea typeface="SimSun" pitchFamily="2" charset="-122"/>
                <a:cs typeface="Times New Roman" pitchFamily="18" charset="0"/>
              </a:rPr>
              <a:t>Rôles de serveur</a:t>
            </a:r>
            <a:r>
              <a:rPr lang="en-IE" altLang="zh-CN" dirty="0">
                <a:solidFill>
                  <a:srgbClr val="C00000"/>
                </a:solidFill>
                <a:ea typeface="SimSun" pitchFamily="2" charset="-122"/>
                <a:cs typeface="Times New Roman" pitchFamily="18" charset="0"/>
              </a:rPr>
              <a:t> </a:t>
            </a:r>
            <a:r>
              <a:rPr lang="en-US" altLang="zh-CN" dirty="0">
                <a:solidFill>
                  <a:srgbClr val="C00000"/>
                </a:solidFill>
                <a:ea typeface="SimSun" pitchFamily="2" charset="-122"/>
                <a:cs typeface="Times New Roman" pitchFamily="18" charset="0"/>
              </a:rPr>
              <a:t> </a:t>
            </a:r>
          </a:p>
          <a:p>
            <a:r>
              <a:rPr lang="fr-FR" altLang="zh-CN" dirty="0">
                <a:solidFill>
                  <a:srgbClr val="C00000"/>
                </a:solidFill>
                <a:ea typeface="SimSun" pitchFamily="2" charset="-122"/>
                <a:cs typeface="Times New Roman" pitchFamily="18" charset="0"/>
              </a:rPr>
              <a:t>La famille Windows Server 2008</a:t>
            </a:r>
            <a:r>
              <a:rPr lang="en-IE" altLang="zh-CN" dirty="0">
                <a:solidFill>
                  <a:srgbClr val="C00000"/>
                </a:solidFill>
                <a:ea typeface="SimSun" pitchFamily="2" charset="-122"/>
                <a:cs typeface="Times New Roman" pitchFamily="18" charset="0"/>
              </a:rPr>
              <a:t> </a:t>
            </a:r>
            <a:endParaRPr lang="en-US" altLang="zh-CN" dirty="0">
              <a:solidFill>
                <a:srgbClr val="C00000"/>
              </a:solidFill>
              <a:ea typeface="SimSun" pitchFamily="2" charset="-122"/>
              <a:cs typeface="Times New Roman" pitchFamily="18" charset="0"/>
            </a:endParaRPr>
          </a:p>
          <a:p>
            <a:r>
              <a:rPr lang="fr-FR" altLang="zh-CN" dirty="0">
                <a:solidFill>
                  <a:srgbClr val="C00000"/>
                </a:solidFill>
                <a:ea typeface="SimSun" pitchFamily="2" charset="-122"/>
                <a:cs typeface="Times New Roman" pitchFamily="18" charset="0"/>
              </a:rPr>
              <a:t>Description d'un service d'annuaire</a:t>
            </a:r>
            <a:r>
              <a:rPr lang="en-IE" altLang="zh-CN" dirty="0">
                <a:solidFill>
                  <a:srgbClr val="C00000"/>
                </a:solidFill>
                <a:ea typeface="SimSun" pitchFamily="2" charset="-122"/>
                <a:cs typeface="Times New Roman" pitchFamily="18" charset="0"/>
              </a:rPr>
              <a:t> </a:t>
            </a:r>
            <a:endParaRPr lang="en-US" altLang="zh-CN" dirty="0">
              <a:solidFill>
                <a:srgbClr val="C00000"/>
              </a:solidFill>
              <a:ea typeface="SimSun" pitchFamily="2" charset="-122"/>
              <a:cs typeface="Times New Roman" pitchFamily="18" charset="0"/>
            </a:endParaRPr>
          </a:p>
          <a:p>
            <a:r>
              <a:rPr lang="fr-FR" altLang="zh-CN" dirty="0">
                <a:solidFill>
                  <a:srgbClr val="C00000"/>
                </a:solidFill>
                <a:ea typeface="SimSun" pitchFamily="2" charset="-122"/>
                <a:cs typeface="Times New Roman" pitchFamily="18" charset="0"/>
              </a:rPr>
              <a:t>Terminologie Active Directory</a:t>
            </a:r>
            <a:r>
              <a:rPr lang="en-IE" altLang="zh-CN" dirty="0">
                <a:solidFill>
                  <a:srgbClr val="C00000"/>
                </a:solidFill>
                <a:ea typeface="SimSun" pitchFamily="2" charset="-122"/>
                <a:cs typeface="Times New Roman" pitchFamily="18" charset="0"/>
              </a:rPr>
              <a:t> </a:t>
            </a:r>
            <a:endParaRPr lang="en-US" altLang="zh-CN" dirty="0">
              <a:solidFill>
                <a:srgbClr val="C00000"/>
              </a:solidFill>
              <a:ea typeface="SimSun" pitchFamily="2" charset="-122"/>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301752" y="317088"/>
            <a:ext cx="8534400" cy="758952"/>
          </a:xfrm>
        </p:spPr>
        <p:txBody>
          <a:bodyPr>
            <a:noAutofit/>
          </a:bodyPr>
          <a:lstStyle/>
          <a:p>
            <a:r>
              <a:rPr lang="en-US" altLang="zh-CN" dirty="0">
                <a:solidFill>
                  <a:srgbClr val="C00000"/>
                </a:solidFill>
                <a:ea typeface="SimSun" pitchFamily="2" charset="-122"/>
                <a:cs typeface="Times New Roman" pitchFamily="18" charset="0"/>
              </a:rPr>
              <a:t>Les </a:t>
            </a:r>
            <a:r>
              <a:rPr lang="en-US" altLang="zh-CN" dirty="0" err="1">
                <a:solidFill>
                  <a:srgbClr val="C00000"/>
                </a:solidFill>
                <a:ea typeface="SimSun" pitchFamily="2" charset="-122"/>
                <a:cs typeface="Times New Roman" pitchFamily="18" charset="0"/>
              </a:rPr>
              <a:t>considérations</a:t>
            </a:r>
            <a:r>
              <a:rPr lang="en-US" altLang="zh-CN" dirty="0">
                <a:solidFill>
                  <a:srgbClr val="C00000"/>
                </a:solidFill>
                <a:ea typeface="SimSun" pitchFamily="2" charset="-122"/>
                <a:cs typeface="Times New Roman" pitchFamily="18" charset="0"/>
              </a:rPr>
              <a:t> pour la </a:t>
            </a:r>
            <a:r>
              <a:rPr lang="en-US" altLang="zh-CN" dirty="0" err="1">
                <a:solidFill>
                  <a:srgbClr val="C00000"/>
                </a:solidFill>
                <a:ea typeface="SimSun" pitchFamily="2" charset="-122"/>
                <a:cs typeface="Times New Roman" pitchFamily="18" charset="0"/>
              </a:rPr>
              <a:t>gestion</a:t>
            </a:r>
            <a:r>
              <a:rPr lang="en-US" altLang="zh-CN" dirty="0">
                <a:solidFill>
                  <a:srgbClr val="C00000"/>
                </a:solidFill>
                <a:ea typeface="SimSun" pitchFamily="2" charset="-122"/>
                <a:cs typeface="Times New Roman" pitchFamily="18" charset="0"/>
              </a:rPr>
              <a:t> d’un </a:t>
            </a:r>
            <a:r>
              <a:rPr lang="en-US" altLang="zh-CN" dirty="0" err="1">
                <a:solidFill>
                  <a:srgbClr val="C00000"/>
                </a:solidFill>
                <a:ea typeface="SimSun" pitchFamily="2" charset="-122"/>
                <a:cs typeface="Times New Roman" pitchFamily="18" charset="0"/>
              </a:rPr>
              <a:t>serveur</a:t>
            </a:r>
            <a:endParaRPr lang="en-US" altLang="zh-CN" dirty="0">
              <a:solidFill>
                <a:srgbClr val="C00000"/>
              </a:solidFill>
              <a:ea typeface="SimSun" pitchFamily="2" charset="-122"/>
              <a:cs typeface="Times New Roman" pitchFamily="18" charset="0"/>
            </a:endParaRPr>
          </a:p>
        </p:txBody>
      </p:sp>
      <p:sp>
        <p:nvSpPr>
          <p:cNvPr id="26626" name="AutoShape 12"/>
          <p:cNvSpPr>
            <a:spLocks noChangeArrowheads="1"/>
          </p:cNvSpPr>
          <p:nvPr/>
        </p:nvSpPr>
        <p:spPr bwMode="auto">
          <a:xfrm>
            <a:off x="217488" y="1489587"/>
            <a:ext cx="8705850" cy="3797079"/>
          </a:xfrm>
          <a:prstGeom prst="roundRect">
            <a:avLst>
              <a:gd name="adj" fmla="val 2856"/>
            </a:avLst>
          </a:prstGeom>
          <a:solidFill>
            <a:srgbClr val="DEE7F1"/>
          </a:solidFill>
          <a:ln w="9525" algn="ctr">
            <a:solidFill>
              <a:srgbClr val="333333"/>
            </a:solidFill>
            <a:round/>
            <a:headEnd/>
            <a:tailEnd/>
          </a:ln>
        </p:spPr>
        <p:txBody>
          <a:bodyPr/>
          <a:lstStyle/>
          <a:p>
            <a:pPr algn="l" eaLnBrk="0" hangingPunct="0">
              <a:lnSpc>
                <a:spcPct val="90000"/>
              </a:lnSpc>
              <a:spcBef>
                <a:spcPct val="40000"/>
              </a:spcBef>
              <a:buClr>
                <a:srgbClr val="8DACD0"/>
              </a:buClr>
              <a:buSzPct val="70000"/>
              <a:buFont typeface="Wingdings" pitchFamily="2" charset="2"/>
              <a:buNone/>
            </a:pPr>
            <a:r>
              <a:rPr lang="fr-FR" sz="2200" dirty="0">
                <a:ea typeface="PMingLiU" pitchFamily="18" charset="-120"/>
              </a:rPr>
              <a:t>Lorsque vous gérez des serveurs, posez les questions suivantes:</a:t>
            </a:r>
            <a:endParaRPr lang="en-GB" sz="2200" dirty="0">
              <a:ea typeface="PMingLiU" pitchFamily="18" charset="-120"/>
            </a:endParaRPr>
          </a:p>
        </p:txBody>
      </p:sp>
      <p:grpSp>
        <p:nvGrpSpPr>
          <p:cNvPr id="2" name="Group 1"/>
          <p:cNvGrpSpPr>
            <a:grpSpLocks/>
          </p:cNvGrpSpPr>
          <p:nvPr/>
        </p:nvGrpSpPr>
        <p:grpSpPr bwMode="auto">
          <a:xfrm>
            <a:off x="504825" y="2187866"/>
            <a:ext cx="8089900" cy="641350"/>
            <a:chOff x="780842" y="4884425"/>
            <a:chExt cx="8040897" cy="641350"/>
          </a:xfrm>
        </p:grpSpPr>
        <p:sp>
          <p:nvSpPr>
            <p:cNvPr id="26639" name="AutoShape 8"/>
            <p:cNvSpPr>
              <a:spLocks noChangeArrowheads="1"/>
            </p:cNvSpPr>
            <p:nvPr/>
          </p:nvSpPr>
          <p:spPr bwMode="auto">
            <a:xfrm>
              <a:off x="1047751" y="4884425"/>
              <a:ext cx="7773988" cy="641350"/>
            </a:xfrm>
            <a:prstGeom prst="roundRect">
              <a:avLst>
                <a:gd name="adj" fmla="val 4167"/>
              </a:avLst>
            </a:prstGeom>
            <a:solidFill>
              <a:srgbClr val="F2E7CE"/>
            </a:solidFill>
            <a:ln w="9525" algn="ctr">
              <a:solidFill>
                <a:srgbClr val="333333"/>
              </a:solidFill>
              <a:round/>
              <a:headEnd/>
              <a:tailEnd/>
            </a:ln>
          </p:spPr>
          <p:txBody>
            <a:bodyPr anchor="ctr"/>
            <a:lstStyle/>
            <a:p>
              <a:pPr marL="285750" indent="-285750" algn="l" eaLnBrk="0" hangingPunct="0">
                <a:lnSpc>
                  <a:spcPct val="90000"/>
                </a:lnSpc>
                <a:spcBef>
                  <a:spcPct val="40000"/>
                </a:spcBef>
                <a:buClr>
                  <a:srgbClr val="006699"/>
                </a:buClr>
                <a:buFont typeface="Arial" pitchFamily="34" charset="0"/>
                <a:buChar char="•"/>
              </a:pPr>
              <a:r>
                <a:rPr lang="fr-FR" sz="2100" dirty="0"/>
                <a:t>Quels sont les rôles du serveur au sein de l’infrastructure du réseau ?</a:t>
              </a:r>
              <a:endParaRPr lang="en-GB" sz="2100" dirty="0"/>
            </a:p>
          </p:txBody>
        </p:sp>
        <p:sp>
          <p:nvSpPr>
            <p:cNvPr id="7" name="Rounded Rectangle 8"/>
            <p:cNvSpPr>
              <a:spLocks noChangeArrowheads="1"/>
            </p:cNvSpPr>
            <p:nvPr/>
          </p:nvSpPr>
          <p:spPr bwMode="auto">
            <a:xfrm>
              <a:off x="780842" y="4949513"/>
              <a:ext cx="527013" cy="5016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eaLnBrk="0" hangingPunct="0">
                <a:defRPr/>
              </a:pPr>
              <a:r>
                <a:rPr lang="en-US" sz="2100">
                  <a:solidFill>
                    <a:srgbClr val="990033"/>
                  </a:solidFill>
                  <a:latin typeface="Wingdings" pitchFamily="2" charset="2"/>
                  <a:cs typeface="Arial" charset="0"/>
                </a:rPr>
                <a:t>ü</a:t>
              </a:r>
            </a:p>
          </p:txBody>
        </p:sp>
      </p:grpSp>
      <p:grpSp>
        <p:nvGrpSpPr>
          <p:cNvPr id="3" name="Group 15"/>
          <p:cNvGrpSpPr>
            <a:grpSpLocks/>
          </p:cNvGrpSpPr>
          <p:nvPr/>
        </p:nvGrpSpPr>
        <p:grpSpPr bwMode="auto">
          <a:xfrm>
            <a:off x="492125" y="2953041"/>
            <a:ext cx="8102600" cy="641350"/>
            <a:chOff x="757238" y="4884425"/>
            <a:chExt cx="8064501" cy="641350"/>
          </a:xfrm>
        </p:grpSpPr>
        <p:sp>
          <p:nvSpPr>
            <p:cNvPr id="26637" name="AutoShape 8"/>
            <p:cNvSpPr>
              <a:spLocks noChangeArrowheads="1"/>
            </p:cNvSpPr>
            <p:nvPr/>
          </p:nvSpPr>
          <p:spPr bwMode="auto">
            <a:xfrm>
              <a:off x="1047751" y="4884425"/>
              <a:ext cx="7773988" cy="641350"/>
            </a:xfrm>
            <a:prstGeom prst="roundRect">
              <a:avLst>
                <a:gd name="adj" fmla="val 4167"/>
              </a:avLst>
            </a:prstGeom>
            <a:solidFill>
              <a:srgbClr val="F2E7CE"/>
            </a:solidFill>
            <a:ln w="9525" algn="ctr">
              <a:solidFill>
                <a:srgbClr val="333333"/>
              </a:solidFill>
              <a:round/>
              <a:headEnd/>
              <a:tailEnd/>
            </a:ln>
          </p:spPr>
          <p:txBody>
            <a:bodyPr anchor="ctr"/>
            <a:lstStyle/>
            <a:p>
              <a:pPr marL="169863" indent="-169863" algn="l" eaLnBrk="0" hangingPunct="0">
                <a:lnSpc>
                  <a:spcPct val="90000"/>
                </a:lnSpc>
                <a:spcBef>
                  <a:spcPct val="40000"/>
                </a:spcBef>
                <a:buClr>
                  <a:srgbClr val="006699"/>
                </a:buClr>
              </a:pPr>
              <a:r>
                <a:rPr lang="en-US" sz="2100" dirty="0"/>
                <a:t>•	  </a:t>
              </a:r>
              <a:r>
                <a:rPr lang="fr-FR" sz="2100" dirty="0"/>
                <a:t>Y a-t-il des besoins de sécurité spécifiques associées à ce serveur ?</a:t>
              </a:r>
              <a:endParaRPr lang="en-GB" sz="2100" dirty="0"/>
            </a:p>
          </p:txBody>
        </p:sp>
        <p:sp>
          <p:nvSpPr>
            <p:cNvPr id="10" name="Rounded Rectangle 8"/>
            <p:cNvSpPr>
              <a:spLocks noChangeArrowheads="1"/>
            </p:cNvSpPr>
            <p:nvPr/>
          </p:nvSpPr>
          <p:spPr bwMode="auto">
            <a:xfrm>
              <a:off x="757238" y="4949513"/>
              <a:ext cx="527732" cy="5016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eaLnBrk="0" hangingPunct="0">
                <a:defRPr/>
              </a:pPr>
              <a:r>
                <a:rPr lang="en-US" sz="2100">
                  <a:solidFill>
                    <a:srgbClr val="990033"/>
                  </a:solidFill>
                  <a:latin typeface="Wingdings" pitchFamily="2" charset="2"/>
                  <a:cs typeface="Arial" charset="0"/>
                </a:rPr>
                <a:t>ü</a:t>
              </a:r>
            </a:p>
          </p:txBody>
        </p:sp>
      </p:grpSp>
      <p:grpSp>
        <p:nvGrpSpPr>
          <p:cNvPr id="4" name="Group 18"/>
          <p:cNvGrpSpPr>
            <a:grpSpLocks/>
          </p:cNvGrpSpPr>
          <p:nvPr/>
        </p:nvGrpSpPr>
        <p:grpSpPr bwMode="auto">
          <a:xfrm>
            <a:off x="492125" y="3718216"/>
            <a:ext cx="8102600" cy="641350"/>
            <a:chOff x="757238" y="4884425"/>
            <a:chExt cx="7299004" cy="641350"/>
          </a:xfrm>
        </p:grpSpPr>
        <p:sp>
          <p:nvSpPr>
            <p:cNvPr id="26635" name="AutoShape 8"/>
            <p:cNvSpPr>
              <a:spLocks noChangeArrowheads="1"/>
            </p:cNvSpPr>
            <p:nvPr/>
          </p:nvSpPr>
          <p:spPr bwMode="auto">
            <a:xfrm>
              <a:off x="1047750" y="4884425"/>
              <a:ext cx="7008492" cy="641350"/>
            </a:xfrm>
            <a:prstGeom prst="roundRect">
              <a:avLst>
                <a:gd name="adj" fmla="val 4167"/>
              </a:avLst>
            </a:prstGeom>
            <a:solidFill>
              <a:srgbClr val="F2E7CE"/>
            </a:solidFill>
            <a:ln w="9525" algn="ctr">
              <a:solidFill>
                <a:srgbClr val="333333"/>
              </a:solidFill>
              <a:round/>
              <a:headEnd/>
              <a:tailEnd/>
            </a:ln>
          </p:spPr>
          <p:txBody>
            <a:bodyPr anchor="ctr"/>
            <a:lstStyle/>
            <a:p>
              <a:pPr marL="169863" indent="-169863" algn="l" eaLnBrk="0" hangingPunct="0">
                <a:lnSpc>
                  <a:spcPct val="90000"/>
                </a:lnSpc>
                <a:spcBef>
                  <a:spcPct val="40000"/>
                </a:spcBef>
                <a:buClr>
                  <a:srgbClr val="006699"/>
                </a:buClr>
              </a:pPr>
              <a:r>
                <a:rPr lang="en-GB" sz="2100" dirty="0"/>
                <a:t>	  </a:t>
              </a:r>
              <a:r>
                <a:rPr lang="fr-FR" sz="2100" dirty="0"/>
                <a:t>Comment sera géré le serveur ?</a:t>
              </a:r>
              <a:endParaRPr lang="en-GB" sz="2100" dirty="0"/>
            </a:p>
          </p:txBody>
        </p:sp>
        <p:sp>
          <p:nvSpPr>
            <p:cNvPr id="13" name="Rounded Rectangle 8"/>
            <p:cNvSpPr>
              <a:spLocks noChangeArrowheads="1"/>
            </p:cNvSpPr>
            <p:nvPr/>
          </p:nvSpPr>
          <p:spPr bwMode="auto">
            <a:xfrm>
              <a:off x="757238" y="4949513"/>
              <a:ext cx="527691" cy="5016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eaLnBrk="0" hangingPunct="0">
                <a:defRPr/>
              </a:pPr>
              <a:r>
                <a:rPr lang="en-US" sz="2100">
                  <a:solidFill>
                    <a:srgbClr val="990033"/>
                  </a:solidFill>
                  <a:latin typeface="Wingdings" pitchFamily="2" charset="2"/>
                  <a:cs typeface="Arial" charset="0"/>
                </a:rPr>
                <a:t>ü</a:t>
              </a:r>
            </a:p>
          </p:txBody>
        </p:sp>
      </p:grpSp>
      <p:grpSp>
        <p:nvGrpSpPr>
          <p:cNvPr id="5" name="Group 13"/>
          <p:cNvGrpSpPr>
            <a:grpSpLocks/>
          </p:cNvGrpSpPr>
          <p:nvPr/>
        </p:nvGrpSpPr>
        <p:grpSpPr bwMode="auto">
          <a:xfrm>
            <a:off x="492125" y="4478629"/>
            <a:ext cx="8102600" cy="641350"/>
            <a:chOff x="495300" y="4221628"/>
            <a:chExt cx="8064500" cy="641350"/>
          </a:xfrm>
        </p:grpSpPr>
        <p:sp>
          <p:nvSpPr>
            <p:cNvPr id="26633" name="AutoShape 8"/>
            <p:cNvSpPr>
              <a:spLocks noChangeArrowheads="1"/>
            </p:cNvSpPr>
            <p:nvPr/>
          </p:nvSpPr>
          <p:spPr bwMode="auto">
            <a:xfrm>
              <a:off x="785813" y="4221628"/>
              <a:ext cx="7773987" cy="641350"/>
            </a:xfrm>
            <a:prstGeom prst="roundRect">
              <a:avLst>
                <a:gd name="adj" fmla="val 4167"/>
              </a:avLst>
            </a:prstGeom>
            <a:solidFill>
              <a:srgbClr val="F2E7CE"/>
            </a:solidFill>
            <a:ln w="9525" algn="ctr">
              <a:solidFill>
                <a:srgbClr val="333333"/>
              </a:solidFill>
              <a:round/>
              <a:headEnd/>
              <a:tailEnd/>
            </a:ln>
          </p:spPr>
          <p:txBody>
            <a:bodyPr anchor="ctr"/>
            <a:lstStyle/>
            <a:p>
              <a:pPr marL="169863" indent="-169863" algn="l" eaLnBrk="0" hangingPunct="0">
                <a:lnSpc>
                  <a:spcPct val="90000"/>
                </a:lnSpc>
                <a:spcBef>
                  <a:spcPct val="40000"/>
                </a:spcBef>
                <a:buClr>
                  <a:srgbClr val="006699"/>
                </a:buClr>
              </a:pPr>
              <a:r>
                <a:rPr lang="en-GB" sz="2100" dirty="0"/>
                <a:t>	  </a:t>
              </a:r>
              <a:r>
                <a:rPr lang="fr-FR" sz="2100" dirty="0"/>
                <a:t>Y a-t-il une exigence pour la disponibilité des serveurs ?</a:t>
              </a:r>
              <a:endParaRPr lang="en-GB" sz="2100" dirty="0"/>
            </a:p>
          </p:txBody>
        </p:sp>
        <p:sp>
          <p:nvSpPr>
            <p:cNvPr id="16" name="Rounded Rectangle 8"/>
            <p:cNvSpPr>
              <a:spLocks noChangeArrowheads="1"/>
            </p:cNvSpPr>
            <p:nvPr/>
          </p:nvSpPr>
          <p:spPr bwMode="auto">
            <a:xfrm>
              <a:off x="495300" y="4291478"/>
              <a:ext cx="527732" cy="5016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p>
              <a:pPr eaLnBrk="0" hangingPunct="0">
                <a:defRPr/>
              </a:pPr>
              <a:r>
                <a:rPr lang="en-US" sz="2100">
                  <a:solidFill>
                    <a:srgbClr val="990033"/>
                  </a:solidFill>
                  <a:latin typeface="Wingdings" pitchFamily="2" charset="2"/>
                  <a:cs typeface="Arial" charset="0"/>
                </a:rPr>
                <a:t>ü</a:t>
              </a:r>
            </a:p>
          </p:txBody>
        </p:sp>
      </p:grpSp>
      <p:pic>
        <p:nvPicPr>
          <p:cNvPr id="26631" name="Picture 16"/>
          <p:cNvPicPr>
            <a:picLocks noChangeAspect="1"/>
          </p:cNvPicPr>
          <p:nvPr/>
        </p:nvPicPr>
        <p:blipFill>
          <a:blip r:embed="rId3" cstate="print"/>
          <a:srcRect/>
          <a:stretch>
            <a:fillRect/>
          </a:stretch>
        </p:blipFill>
        <p:spPr bwMode="auto">
          <a:xfrm>
            <a:off x="4938713" y="5410491"/>
            <a:ext cx="1208087" cy="1420813"/>
          </a:xfrm>
          <a:prstGeom prst="rect">
            <a:avLst/>
          </a:prstGeom>
          <a:noFill/>
          <a:ln w="9525">
            <a:noFill/>
            <a:miter lim="800000"/>
            <a:headEnd/>
            <a:tailEnd/>
          </a:ln>
        </p:spPr>
      </p:pic>
      <p:pic>
        <p:nvPicPr>
          <p:cNvPr id="26632" name="Picture 18"/>
          <p:cNvPicPr>
            <a:picLocks noChangeAspect="1"/>
          </p:cNvPicPr>
          <p:nvPr/>
        </p:nvPicPr>
        <p:blipFill>
          <a:blip r:embed="rId4" cstate="print"/>
          <a:srcRect/>
          <a:stretch>
            <a:fillRect/>
          </a:stretch>
        </p:blipFill>
        <p:spPr bwMode="auto">
          <a:xfrm>
            <a:off x="2955925" y="5567654"/>
            <a:ext cx="949325" cy="1106487"/>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3961" y="1172314"/>
            <a:ext cx="7919883" cy="5612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9826"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Rôles de serveur</a:t>
            </a:r>
            <a:endParaRPr lang="en-US" dirty="0">
              <a:solidFill>
                <a:srgbClr val="C00000"/>
              </a:solidFill>
              <a:ea typeface="SimSun" pitchFamily="2" charset="-122"/>
              <a:cs typeface="Times New Roman" pitchFamily="18" charset="0"/>
            </a:endParaRPr>
          </a:p>
        </p:txBody>
      </p:sp>
      <p:pic>
        <p:nvPicPr>
          <p:cNvPr id="589830" name="Picture-6" descr="Server01"/>
          <p:cNvPicPr>
            <a:picLocks noChangeAspect="1" noChangeArrowheads="1"/>
          </p:cNvPicPr>
          <p:nvPr/>
        </p:nvPicPr>
        <p:blipFill>
          <a:blip r:embed="rId4" cstate="print"/>
          <a:srcRect/>
          <a:stretch>
            <a:fillRect/>
          </a:stretch>
        </p:blipFill>
        <p:spPr bwMode="auto">
          <a:xfrm>
            <a:off x="348352" y="1705647"/>
            <a:ext cx="1152000" cy="1354844"/>
          </a:xfrm>
          <a:prstGeom prst="rect">
            <a:avLst/>
          </a:prstGeom>
          <a:noFill/>
        </p:spPr>
      </p:pic>
      <p:sp>
        <p:nvSpPr>
          <p:cNvPr id="589836" name="Text-Box-12"/>
          <p:cNvSpPr txBox="1">
            <a:spLocks noChangeArrowheads="1"/>
          </p:cNvSpPr>
          <p:nvPr/>
        </p:nvSpPr>
        <p:spPr bwMode="auto">
          <a:xfrm>
            <a:off x="207818" y="1294322"/>
            <a:ext cx="3846286" cy="46166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2400" dirty="0">
                <a:solidFill>
                  <a:srgbClr val="000000"/>
                </a:solidFill>
                <a:ea typeface="SimSun" pitchFamily="2" charset="-122"/>
                <a:cs typeface="Times New Roman" pitchFamily="18" charset="0"/>
              </a:rPr>
              <a:t>Contrôleur de domaine</a:t>
            </a:r>
            <a:r>
              <a:rPr lang="en-IE" altLang="zh-CN" sz="2400" dirty="0">
                <a:solidFill>
                  <a:srgbClr val="000000"/>
                </a:solidFill>
                <a:ea typeface="SimSun" pitchFamily="2" charset="-122"/>
                <a:cs typeface="Times New Roman" pitchFamily="18" charset="0"/>
              </a:rPr>
              <a:t> </a:t>
            </a:r>
            <a:endParaRPr lang="en-US" sz="2400" dirty="0">
              <a:solidFill>
                <a:srgbClr val="000000"/>
              </a:solidFill>
              <a:ea typeface="SimSun" pitchFamily="2" charset="-122"/>
              <a:cs typeface="Times New Roman" pitchFamily="18" charset="0"/>
            </a:endParaRPr>
          </a:p>
        </p:txBody>
      </p:sp>
      <p:sp>
        <p:nvSpPr>
          <p:cNvPr id="589838" name="Text-Box-14"/>
          <p:cNvSpPr txBox="1">
            <a:spLocks noChangeArrowheads="1"/>
          </p:cNvSpPr>
          <p:nvPr/>
        </p:nvSpPr>
        <p:spPr bwMode="auto">
          <a:xfrm>
            <a:off x="0" y="3085872"/>
            <a:ext cx="3294743" cy="46166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2400" dirty="0">
                <a:solidFill>
                  <a:srgbClr val="000000"/>
                </a:solidFill>
                <a:ea typeface="SimSun" pitchFamily="2" charset="-122"/>
                <a:cs typeface="Times New Roman" pitchFamily="18" charset="0"/>
              </a:rPr>
              <a:t>Serveur  de fichiers</a:t>
            </a:r>
            <a:r>
              <a:rPr lang="en-IE" altLang="zh-CN" sz="2400" dirty="0">
                <a:solidFill>
                  <a:srgbClr val="000000"/>
                </a:solidFill>
                <a:ea typeface="SimSun" pitchFamily="2" charset="-122"/>
                <a:cs typeface="Times New Roman" pitchFamily="18" charset="0"/>
              </a:rPr>
              <a:t> </a:t>
            </a:r>
            <a:endParaRPr lang="en-US" sz="2400" dirty="0">
              <a:solidFill>
                <a:srgbClr val="000000"/>
              </a:solidFill>
              <a:ea typeface="SimSun" pitchFamily="2" charset="-122"/>
              <a:cs typeface="Times New Roman" pitchFamily="18" charset="0"/>
            </a:endParaRPr>
          </a:p>
        </p:txBody>
      </p:sp>
      <p:sp>
        <p:nvSpPr>
          <p:cNvPr id="589839" name="Text-Box-15"/>
          <p:cNvSpPr txBox="1">
            <a:spLocks noChangeArrowheads="1"/>
          </p:cNvSpPr>
          <p:nvPr/>
        </p:nvSpPr>
        <p:spPr bwMode="auto">
          <a:xfrm>
            <a:off x="-1" y="4892445"/>
            <a:ext cx="3585029" cy="46166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2400" dirty="0">
                <a:solidFill>
                  <a:srgbClr val="000000"/>
                </a:solidFill>
                <a:ea typeface="SimSun" pitchFamily="2" charset="-122"/>
                <a:cs typeface="Times New Roman" pitchFamily="18" charset="0"/>
              </a:rPr>
              <a:t>Serveur d'impression</a:t>
            </a:r>
            <a:r>
              <a:rPr lang="en-IE" altLang="zh-CN" sz="2400" dirty="0">
                <a:solidFill>
                  <a:srgbClr val="000000"/>
                </a:solidFill>
                <a:ea typeface="SimSun" pitchFamily="2" charset="-122"/>
                <a:cs typeface="Times New Roman" pitchFamily="18" charset="0"/>
              </a:rPr>
              <a:t> </a:t>
            </a:r>
            <a:endParaRPr lang="en-US" sz="2400" dirty="0">
              <a:solidFill>
                <a:srgbClr val="000000"/>
              </a:solidFill>
              <a:ea typeface="SimSun" pitchFamily="2" charset="-122"/>
              <a:cs typeface="Times New Roman" pitchFamily="18" charset="0"/>
            </a:endParaRPr>
          </a:p>
        </p:txBody>
      </p:sp>
      <p:sp>
        <p:nvSpPr>
          <p:cNvPr id="589840" name="Text-Box-16"/>
          <p:cNvSpPr txBox="1">
            <a:spLocks noChangeArrowheads="1"/>
          </p:cNvSpPr>
          <p:nvPr/>
        </p:nvSpPr>
        <p:spPr bwMode="auto">
          <a:xfrm>
            <a:off x="6720114" y="1252759"/>
            <a:ext cx="2219149" cy="46166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2400" dirty="0">
                <a:solidFill>
                  <a:srgbClr val="000000"/>
                </a:solidFill>
                <a:ea typeface="SimSun" pitchFamily="2" charset="-122"/>
                <a:cs typeface="Times New Roman" pitchFamily="18" charset="0"/>
              </a:rPr>
              <a:t>Serveur DNS</a:t>
            </a:r>
            <a:r>
              <a:rPr lang="en-IE" altLang="zh-CN" sz="2400" dirty="0">
                <a:solidFill>
                  <a:srgbClr val="000000"/>
                </a:solidFill>
                <a:ea typeface="SimSun" pitchFamily="2" charset="-122"/>
                <a:cs typeface="Times New Roman" pitchFamily="18" charset="0"/>
              </a:rPr>
              <a:t> </a:t>
            </a:r>
            <a:endParaRPr lang="en-US" sz="2400" dirty="0">
              <a:solidFill>
                <a:srgbClr val="000000"/>
              </a:solidFill>
              <a:ea typeface="SimSun" pitchFamily="2" charset="-122"/>
              <a:cs typeface="Times New Roman" pitchFamily="18" charset="0"/>
            </a:endParaRPr>
          </a:p>
        </p:txBody>
      </p:sp>
      <p:sp>
        <p:nvSpPr>
          <p:cNvPr id="589841" name="Text-Box-17"/>
          <p:cNvSpPr txBox="1">
            <a:spLocks noChangeArrowheads="1"/>
          </p:cNvSpPr>
          <p:nvPr/>
        </p:nvSpPr>
        <p:spPr bwMode="auto">
          <a:xfrm>
            <a:off x="5167086" y="3085872"/>
            <a:ext cx="3947883" cy="46166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2400" dirty="0">
                <a:solidFill>
                  <a:srgbClr val="000000"/>
                </a:solidFill>
                <a:ea typeface="SimSun" pitchFamily="2" charset="-122"/>
                <a:cs typeface="Times New Roman" pitchFamily="18" charset="0"/>
              </a:rPr>
              <a:t>Serveur  d'applications</a:t>
            </a:r>
            <a:r>
              <a:rPr lang="en-IE" altLang="zh-CN" sz="2400" dirty="0">
                <a:solidFill>
                  <a:srgbClr val="000000"/>
                </a:solidFill>
                <a:ea typeface="SimSun" pitchFamily="2" charset="-122"/>
                <a:cs typeface="Times New Roman" pitchFamily="18" charset="0"/>
              </a:rPr>
              <a:t> </a:t>
            </a:r>
            <a:endParaRPr lang="en-US" sz="2400" dirty="0">
              <a:solidFill>
                <a:srgbClr val="000000"/>
              </a:solidFill>
              <a:ea typeface="SimSun" pitchFamily="2" charset="-122"/>
              <a:cs typeface="Times New Roman" pitchFamily="18" charset="0"/>
            </a:endParaRPr>
          </a:p>
        </p:txBody>
      </p:sp>
      <p:pic>
        <p:nvPicPr>
          <p:cNvPr id="589847" name="Picture-23" descr="Server01"/>
          <p:cNvPicPr>
            <a:picLocks noChangeAspect="1" noChangeArrowheads="1"/>
          </p:cNvPicPr>
          <p:nvPr/>
        </p:nvPicPr>
        <p:blipFill>
          <a:blip r:embed="rId4" cstate="print"/>
          <a:srcRect/>
          <a:stretch>
            <a:fillRect/>
          </a:stretch>
        </p:blipFill>
        <p:spPr bwMode="auto">
          <a:xfrm>
            <a:off x="308243" y="3555087"/>
            <a:ext cx="1152000" cy="1354844"/>
          </a:xfrm>
          <a:prstGeom prst="rect">
            <a:avLst/>
          </a:prstGeom>
          <a:noFill/>
        </p:spPr>
      </p:pic>
      <p:pic>
        <p:nvPicPr>
          <p:cNvPr id="589848" name="Picture-24" descr="Server01"/>
          <p:cNvPicPr>
            <a:picLocks noChangeAspect="1" noChangeArrowheads="1"/>
          </p:cNvPicPr>
          <p:nvPr/>
        </p:nvPicPr>
        <p:blipFill>
          <a:blip r:embed="rId4" cstate="print"/>
          <a:srcRect/>
          <a:stretch>
            <a:fillRect/>
          </a:stretch>
        </p:blipFill>
        <p:spPr bwMode="auto">
          <a:xfrm>
            <a:off x="290295" y="5348507"/>
            <a:ext cx="1152000" cy="1354844"/>
          </a:xfrm>
          <a:prstGeom prst="rect">
            <a:avLst/>
          </a:prstGeom>
          <a:noFill/>
        </p:spPr>
      </p:pic>
      <p:pic>
        <p:nvPicPr>
          <p:cNvPr id="589849" name="Picture-25" descr="Server01"/>
          <p:cNvPicPr>
            <a:picLocks noChangeAspect="1" noChangeArrowheads="1"/>
          </p:cNvPicPr>
          <p:nvPr/>
        </p:nvPicPr>
        <p:blipFill>
          <a:blip r:embed="rId4" cstate="print"/>
          <a:srcRect/>
          <a:stretch>
            <a:fillRect/>
          </a:stretch>
        </p:blipFill>
        <p:spPr bwMode="auto">
          <a:xfrm>
            <a:off x="7617723" y="3488906"/>
            <a:ext cx="1152000" cy="1354843"/>
          </a:xfrm>
          <a:prstGeom prst="rect">
            <a:avLst/>
          </a:prstGeom>
          <a:noFill/>
        </p:spPr>
      </p:pic>
      <p:pic>
        <p:nvPicPr>
          <p:cNvPr id="589850" name="Picture-26" descr="Server01"/>
          <p:cNvPicPr>
            <a:picLocks noChangeAspect="1" noChangeArrowheads="1"/>
          </p:cNvPicPr>
          <p:nvPr/>
        </p:nvPicPr>
        <p:blipFill>
          <a:blip r:embed="rId4" cstate="print"/>
          <a:srcRect/>
          <a:stretch>
            <a:fillRect/>
          </a:stretch>
        </p:blipFill>
        <p:spPr bwMode="auto">
          <a:xfrm>
            <a:off x="7617723" y="1609363"/>
            <a:ext cx="1152000" cy="1354844"/>
          </a:xfrm>
          <a:prstGeom prst="rect">
            <a:avLst/>
          </a:prstGeom>
          <a:noFill/>
        </p:spPr>
      </p:pic>
      <p:pic>
        <p:nvPicPr>
          <p:cNvPr id="589851" name="Picture-27" descr="Server01"/>
          <p:cNvPicPr>
            <a:picLocks noChangeAspect="1" noChangeArrowheads="1"/>
          </p:cNvPicPr>
          <p:nvPr/>
        </p:nvPicPr>
        <p:blipFill>
          <a:blip r:embed="rId4" cstate="print"/>
          <a:srcRect/>
          <a:stretch>
            <a:fillRect/>
          </a:stretch>
        </p:blipFill>
        <p:spPr bwMode="auto">
          <a:xfrm>
            <a:off x="7617723" y="5235154"/>
            <a:ext cx="1152000" cy="1354844"/>
          </a:xfrm>
          <a:prstGeom prst="rect">
            <a:avLst/>
          </a:prstGeom>
          <a:noFill/>
        </p:spPr>
      </p:pic>
      <p:sp>
        <p:nvSpPr>
          <p:cNvPr id="589837" name="Text-Box-13"/>
          <p:cNvSpPr txBox="1">
            <a:spLocks noChangeArrowheads="1"/>
          </p:cNvSpPr>
          <p:nvPr/>
        </p:nvSpPr>
        <p:spPr bwMode="auto">
          <a:xfrm>
            <a:off x="4949371" y="4892445"/>
            <a:ext cx="4137699" cy="46166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2400" dirty="0">
                <a:solidFill>
                  <a:srgbClr val="000000"/>
                </a:solidFill>
                <a:ea typeface="SimSun" pitchFamily="2" charset="-122"/>
                <a:cs typeface="Times New Roman" pitchFamily="18" charset="0"/>
              </a:rPr>
              <a:t>Serveur Terminal Server</a:t>
            </a:r>
            <a:endParaRPr lang="en-US" sz="2400" dirty="0">
              <a:solidFill>
                <a:srgbClr val="000000"/>
              </a:solidFill>
              <a:ea typeface="SimSun" pitchFamily="2"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9836"/>
                                        </p:tgtEl>
                                        <p:attrNameLst>
                                          <p:attrName>style.visibility</p:attrName>
                                        </p:attrNameLst>
                                      </p:cBhvr>
                                      <p:to>
                                        <p:strVal val="visible"/>
                                      </p:to>
                                    </p:set>
                                    <p:animEffect transition="in" filter="checkerboard(across)">
                                      <p:cBhvr>
                                        <p:cTn id="7" dur="2000"/>
                                        <p:tgtEl>
                                          <p:spTgt spid="589836"/>
                                        </p:tgtEl>
                                      </p:cBhvr>
                                    </p:animEffect>
                                  </p:childTnLst>
                                </p:cTn>
                              </p:par>
                              <p:par>
                                <p:cTn id="8" presetID="5" presetClass="entr" presetSubtype="10" fill="hold" nodeType="withEffect">
                                  <p:stCondLst>
                                    <p:cond delay="0"/>
                                  </p:stCondLst>
                                  <p:childTnLst>
                                    <p:set>
                                      <p:cBhvr>
                                        <p:cTn id="9" dur="1" fill="hold">
                                          <p:stCondLst>
                                            <p:cond delay="0"/>
                                          </p:stCondLst>
                                        </p:cTn>
                                        <p:tgtEl>
                                          <p:spTgt spid="589830"/>
                                        </p:tgtEl>
                                        <p:attrNameLst>
                                          <p:attrName>style.visibility</p:attrName>
                                        </p:attrNameLst>
                                      </p:cBhvr>
                                      <p:to>
                                        <p:strVal val="visible"/>
                                      </p:to>
                                    </p:set>
                                    <p:animEffect transition="in" filter="checkerboard(across)">
                                      <p:cBhvr>
                                        <p:cTn id="10" dur="2000"/>
                                        <p:tgtEl>
                                          <p:spTgt spid="589830"/>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589840"/>
                                        </p:tgtEl>
                                        <p:attrNameLst>
                                          <p:attrName>style.visibility</p:attrName>
                                        </p:attrNameLst>
                                      </p:cBhvr>
                                      <p:to>
                                        <p:strVal val="visible"/>
                                      </p:to>
                                    </p:set>
                                    <p:animEffect transition="in" filter="checkerboard(across)">
                                      <p:cBhvr>
                                        <p:cTn id="15" dur="2000"/>
                                        <p:tgtEl>
                                          <p:spTgt spid="589840"/>
                                        </p:tgtEl>
                                      </p:cBhvr>
                                    </p:animEffect>
                                  </p:childTnLst>
                                </p:cTn>
                              </p:par>
                              <p:par>
                                <p:cTn id="16" presetID="5" presetClass="entr" presetSubtype="10" fill="hold" nodeType="withEffect">
                                  <p:stCondLst>
                                    <p:cond delay="0"/>
                                  </p:stCondLst>
                                  <p:childTnLst>
                                    <p:set>
                                      <p:cBhvr>
                                        <p:cTn id="17" dur="1" fill="hold">
                                          <p:stCondLst>
                                            <p:cond delay="0"/>
                                          </p:stCondLst>
                                        </p:cTn>
                                        <p:tgtEl>
                                          <p:spTgt spid="589850"/>
                                        </p:tgtEl>
                                        <p:attrNameLst>
                                          <p:attrName>style.visibility</p:attrName>
                                        </p:attrNameLst>
                                      </p:cBhvr>
                                      <p:to>
                                        <p:strVal val="visible"/>
                                      </p:to>
                                    </p:set>
                                    <p:animEffect transition="in" filter="checkerboard(across)">
                                      <p:cBhvr>
                                        <p:cTn id="18" dur="2000"/>
                                        <p:tgtEl>
                                          <p:spTgt spid="589850"/>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589838"/>
                                        </p:tgtEl>
                                        <p:attrNameLst>
                                          <p:attrName>style.visibility</p:attrName>
                                        </p:attrNameLst>
                                      </p:cBhvr>
                                      <p:to>
                                        <p:strVal val="visible"/>
                                      </p:to>
                                    </p:set>
                                    <p:animEffect transition="in" filter="checkerboard(across)">
                                      <p:cBhvr>
                                        <p:cTn id="23" dur="2000"/>
                                        <p:tgtEl>
                                          <p:spTgt spid="589838"/>
                                        </p:tgtEl>
                                      </p:cBhvr>
                                    </p:animEffect>
                                  </p:childTnLst>
                                </p:cTn>
                              </p:par>
                              <p:par>
                                <p:cTn id="24" presetID="5" presetClass="entr" presetSubtype="10" fill="hold" nodeType="withEffect">
                                  <p:stCondLst>
                                    <p:cond delay="0"/>
                                  </p:stCondLst>
                                  <p:childTnLst>
                                    <p:set>
                                      <p:cBhvr>
                                        <p:cTn id="25" dur="1" fill="hold">
                                          <p:stCondLst>
                                            <p:cond delay="0"/>
                                          </p:stCondLst>
                                        </p:cTn>
                                        <p:tgtEl>
                                          <p:spTgt spid="589847"/>
                                        </p:tgtEl>
                                        <p:attrNameLst>
                                          <p:attrName>style.visibility</p:attrName>
                                        </p:attrNameLst>
                                      </p:cBhvr>
                                      <p:to>
                                        <p:strVal val="visible"/>
                                      </p:to>
                                    </p:set>
                                    <p:animEffect transition="in" filter="checkerboard(across)">
                                      <p:cBhvr>
                                        <p:cTn id="26" dur="2000"/>
                                        <p:tgtEl>
                                          <p:spTgt spid="589847"/>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589841"/>
                                        </p:tgtEl>
                                        <p:attrNameLst>
                                          <p:attrName>style.visibility</p:attrName>
                                        </p:attrNameLst>
                                      </p:cBhvr>
                                      <p:to>
                                        <p:strVal val="visible"/>
                                      </p:to>
                                    </p:set>
                                    <p:animEffect transition="in" filter="checkerboard(across)">
                                      <p:cBhvr>
                                        <p:cTn id="31" dur="2000"/>
                                        <p:tgtEl>
                                          <p:spTgt spid="589841"/>
                                        </p:tgtEl>
                                      </p:cBhvr>
                                    </p:animEffect>
                                  </p:childTnLst>
                                </p:cTn>
                              </p:par>
                              <p:par>
                                <p:cTn id="32" presetID="5" presetClass="entr" presetSubtype="10" fill="hold" nodeType="withEffect">
                                  <p:stCondLst>
                                    <p:cond delay="0"/>
                                  </p:stCondLst>
                                  <p:childTnLst>
                                    <p:set>
                                      <p:cBhvr>
                                        <p:cTn id="33" dur="1" fill="hold">
                                          <p:stCondLst>
                                            <p:cond delay="0"/>
                                          </p:stCondLst>
                                        </p:cTn>
                                        <p:tgtEl>
                                          <p:spTgt spid="589849"/>
                                        </p:tgtEl>
                                        <p:attrNameLst>
                                          <p:attrName>style.visibility</p:attrName>
                                        </p:attrNameLst>
                                      </p:cBhvr>
                                      <p:to>
                                        <p:strVal val="visible"/>
                                      </p:to>
                                    </p:set>
                                    <p:animEffect transition="in" filter="checkerboard(across)">
                                      <p:cBhvr>
                                        <p:cTn id="34" dur="2000"/>
                                        <p:tgtEl>
                                          <p:spTgt spid="589849"/>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589839"/>
                                        </p:tgtEl>
                                        <p:attrNameLst>
                                          <p:attrName>style.visibility</p:attrName>
                                        </p:attrNameLst>
                                      </p:cBhvr>
                                      <p:to>
                                        <p:strVal val="visible"/>
                                      </p:to>
                                    </p:set>
                                    <p:animEffect transition="in" filter="checkerboard(across)">
                                      <p:cBhvr>
                                        <p:cTn id="39" dur="2000"/>
                                        <p:tgtEl>
                                          <p:spTgt spid="589839"/>
                                        </p:tgtEl>
                                      </p:cBhvr>
                                    </p:animEffect>
                                  </p:childTnLst>
                                </p:cTn>
                              </p:par>
                              <p:par>
                                <p:cTn id="40" presetID="5" presetClass="entr" presetSubtype="10" fill="hold" nodeType="withEffect">
                                  <p:stCondLst>
                                    <p:cond delay="0"/>
                                  </p:stCondLst>
                                  <p:childTnLst>
                                    <p:set>
                                      <p:cBhvr>
                                        <p:cTn id="41" dur="1" fill="hold">
                                          <p:stCondLst>
                                            <p:cond delay="0"/>
                                          </p:stCondLst>
                                        </p:cTn>
                                        <p:tgtEl>
                                          <p:spTgt spid="589848"/>
                                        </p:tgtEl>
                                        <p:attrNameLst>
                                          <p:attrName>style.visibility</p:attrName>
                                        </p:attrNameLst>
                                      </p:cBhvr>
                                      <p:to>
                                        <p:strVal val="visible"/>
                                      </p:to>
                                    </p:set>
                                    <p:animEffect transition="in" filter="checkerboard(across)">
                                      <p:cBhvr>
                                        <p:cTn id="42" dur="2000"/>
                                        <p:tgtEl>
                                          <p:spTgt spid="589848"/>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89837"/>
                                        </p:tgtEl>
                                        <p:attrNameLst>
                                          <p:attrName>style.visibility</p:attrName>
                                        </p:attrNameLst>
                                      </p:cBhvr>
                                      <p:to>
                                        <p:strVal val="visible"/>
                                      </p:to>
                                    </p:set>
                                    <p:animEffect transition="in" filter="checkerboard(across)">
                                      <p:cBhvr>
                                        <p:cTn id="47" dur="2000"/>
                                        <p:tgtEl>
                                          <p:spTgt spid="589837"/>
                                        </p:tgtEl>
                                      </p:cBhvr>
                                    </p:animEffect>
                                  </p:childTnLst>
                                </p:cTn>
                              </p:par>
                              <p:par>
                                <p:cTn id="48" presetID="5" presetClass="entr" presetSubtype="10" fill="hold" nodeType="withEffect">
                                  <p:stCondLst>
                                    <p:cond delay="0"/>
                                  </p:stCondLst>
                                  <p:childTnLst>
                                    <p:set>
                                      <p:cBhvr>
                                        <p:cTn id="49" dur="1" fill="hold">
                                          <p:stCondLst>
                                            <p:cond delay="0"/>
                                          </p:stCondLst>
                                        </p:cTn>
                                        <p:tgtEl>
                                          <p:spTgt spid="589851"/>
                                        </p:tgtEl>
                                        <p:attrNameLst>
                                          <p:attrName>style.visibility</p:attrName>
                                        </p:attrNameLst>
                                      </p:cBhvr>
                                      <p:to>
                                        <p:strVal val="visible"/>
                                      </p:to>
                                    </p:set>
                                    <p:animEffect transition="in" filter="checkerboard(across)">
                                      <p:cBhvr>
                                        <p:cTn id="50" dur="2000"/>
                                        <p:tgtEl>
                                          <p:spTgt spid="5898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36" grpId="0" animBg="1"/>
      <p:bldP spid="589838" grpId="0" animBg="1"/>
      <p:bldP spid="589839" grpId="0" animBg="1"/>
      <p:bldP spid="589840" grpId="0" animBg="1"/>
      <p:bldP spid="589841" grpId="0" animBg="1"/>
      <p:bldP spid="5898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Rôles de serveur</a:t>
            </a:r>
            <a:endParaRPr lang="en-US" dirty="0">
              <a:solidFill>
                <a:srgbClr val="C00000"/>
              </a:solidFill>
              <a:ea typeface="SimSun" pitchFamily="2" charset="-122"/>
              <a:cs typeface="Times New Roman" pitchFamily="18" charset="0"/>
            </a:endParaRPr>
          </a:p>
        </p:txBody>
      </p:sp>
      <p:sp>
        <p:nvSpPr>
          <p:cNvPr id="589836" name="Text-Box-12"/>
          <p:cNvSpPr txBox="1">
            <a:spLocks noChangeArrowheads="1"/>
          </p:cNvSpPr>
          <p:nvPr/>
        </p:nvSpPr>
        <p:spPr bwMode="auto">
          <a:xfrm>
            <a:off x="188685" y="1484988"/>
            <a:ext cx="5173024" cy="58477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3200" dirty="0">
                <a:solidFill>
                  <a:srgbClr val="000000"/>
                </a:solidFill>
                <a:ea typeface="SimSun" pitchFamily="2" charset="-122"/>
                <a:cs typeface="Times New Roman" pitchFamily="18" charset="0"/>
              </a:rPr>
              <a:t>Contrôleur de domaine</a:t>
            </a:r>
            <a:r>
              <a:rPr lang="en-IE" altLang="zh-CN" sz="3200" dirty="0">
                <a:solidFill>
                  <a:srgbClr val="000000"/>
                </a:solidFill>
                <a:ea typeface="SimSun" pitchFamily="2" charset="-122"/>
                <a:cs typeface="Times New Roman" pitchFamily="18" charset="0"/>
              </a:rPr>
              <a:t> </a:t>
            </a:r>
            <a:endParaRPr lang="en-US" sz="3200" dirty="0">
              <a:solidFill>
                <a:srgbClr val="000000"/>
              </a:solidFill>
              <a:ea typeface="SimSun" pitchFamily="2" charset="-122"/>
              <a:cs typeface="Times New Roman" pitchFamily="18" charset="0"/>
            </a:endParaRPr>
          </a:p>
        </p:txBody>
      </p:sp>
      <p:sp>
        <p:nvSpPr>
          <p:cNvPr id="18" name="ZoneTexte 17"/>
          <p:cNvSpPr txBox="1"/>
          <p:nvPr/>
        </p:nvSpPr>
        <p:spPr>
          <a:xfrm>
            <a:off x="362857" y="2249714"/>
            <a:ext cx="8534399" cy="2677656"/>
          </a:xfrm>
          <a:prstGeom prst="rect">
            <a:avLst/>
          </a:prstGeom>
          <a:noFill/>
        </p:spPr>
        <p:txBody>
          <a:bodyPr wrap="square" rtlCol="0">
            <a:spAutoFit/>
          </a:bodyPr>
          <a:lstStyle/>
          <a:p>
            <a:pPr algn="l">
              <a:buFont typeface="Wingdings" pitchFamily="2" charset="2"/>
              <a:buChar char="q"/>
            </a:pPr>
            <a:r>
              <a:rPr lang="fr-FR" sz="2400" dirty="0"/>
              <a:t> </a:t>
            </a:r>
            <a:r>
              <a:rPr lang="fr-FR" sz="2800" dirty="0"/>
              <a:t>Stocke les données d’annuaire</a:t>
            </a:r>
          </a:p>
          <a:p>
            <a:pPr algn="l">
              <a:buFont typeface="Wingdings" pitchFamily="2" charset="2"/>
              <a:buChar char="q"/>
            </a:pPr>
            <a:r>
              <a:rPr lang="fr-FR" sz="2800" dirty="0"/>
              <a:t> Gère les communications entre les utilisateurs et les domaines</a:t>
            </a:r>
          </a:p>
          <a:p>
            <a:pPr lvl="1" algn="l">
              <a:buFont typeface="Wingdings" pitchFamily="2" charset="2"/>
              <a:buChar char="Ø"/>
            </a:pPr>
            <a:r>
              <a:rPr lang="fr-FR" sz="2800" dirty="0"/>
              <a:t> Ouverture de session utilisateur</a:t>
            </a:r>
          </a:p>
          <a:p>
            <a:pPr lvl="1" algn="l">
              <a:buFont typeface="Wingdings" pitchFamily="2" charset="2"/>
              <a:buChar char="Ø"/>
            </a:pPr>
            <a:r>
              <a:rPr lang="fr-FR" sz="2800" dirty="0"/>
              <a:t> Authentification</a:t>
            </a:r>
          </a:p>
          <a:p>
            <a:pPr lvl="1" algn="l">
              <a:buFont typeface="Wingdings" pitchFamily="2" charset="2"/>
              <a:buChar char="Ø"/>
            </a:pPr>
            <a:r>
              <a:rPr lang="fr-FR" sz="2800" dirty="0"/>
              <a:t> Recherche dans l’annuaire</a:t>
            </a:r>
          </a:p>
        </p:txBody>
      </p:sp>
      <p:sp>
        <p:nvSpPr>
          <p:cNvPr id="19" name="ZoneTexte 18"/>
          <p:cNvSpPr txBox="1"/>
          <p:nvPr/>
        </p:nvSpPr>
        <p:spPr>
          <a:xfrm>
            <a:off x="166255" y="5319517"/>
            <a:ext cx="4336472" cy="1384995"/>
          </a:xfrm>
          <a:prstGeom prst="rect">
            <a:avLst/>
          </a:prstGeom>
          <a:noFill/>
        </p:spPr>
        <p:txBody>
          <a:bodyPr wrap="square" rtlCol="0">
            <a:spAutoFit/>
          </a:bodyPr>
          <a:lstStyle/>
          <a:p>
            <a:r>
              <a:rPr lang="fr-FR" sz="2800" dirty="0">
                <a:solidFill>
                  <a:srgbClr val="C00000"/>
                </a:solidFill>
              </a:rPr>
              <a:t>Active Directory (AD DS) installé sur ordinateur sous 2008 Server</a:t>
            </a:r>
          </a:p>
        </p:txBody>
      </p:sp>
      <p:sp>
        <p:nvSpPr>
          <p:cNvPr id="20" name="Flèche droite 19"/>
          <p:cNvSpPr/>
          <p:nvPr/>
        </p:nvSpPr>
        <p:spPr>
          <a:xfrm>
            <a:off x="4571999" y="5377574"/>
            <a:ext cx="1857830" cy="740228"/>
          </a:xfrm>
          <a:prstGeom prst="rightArrow">
            <a:avLst/>
          </a:prstGeom>
          <a:solidFill>
            <a:srgbClr val="00206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1" name="ZoneTexte 20"/>
          <p:cNvSpPr txBox="1"/>
          <p:nvPr/>
        </p:nvSpPr>
        <p:spPr>
          <a:xfrm>
            <a:off x="6562442" y="5326773"/>
            <a:ext cx="2409925" cy="954107"/>
          </a:xfrm>
          <a:prstGeom prst="rect">
            <a:avLst/>
          </a:prstGeom>
          <a:noFill/>
        </p:spPr>
        <p:txBody>
          <a:bodyPr wrap="square" rtlCol="0">
            <a:spAutoFit/>
          </a:bodyPr>
          <a:lstStyle/>
          <a:p>
            <a:r>
              <a:rPr lang="fr-FR" sz="2800" dirty="0">
                <a:solidFill>
                  <a:srgbClr val="C00000"/>
                </a:solidFill>
              </a:rPr>
              <a:t>Contrôleur de domaine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checkerboard(across)">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checkerboard(across)">
                                      <p:cBhvr>
                                        <p:cTn id="12" dur="2000"/>
                                        <p:tgtEl>
                                          <p:spTgt spid="18">
                                            <p:txEl>
                                              <p:pRg st="1" end="1"/>
                                            </p:txEl>
                                          </p:spTgt>
                                        </p:tgtEl>
                                      </p:cBhvr>
                                    </p:animEffect>
                                  </p:childTnLst>
                                </p:cTn>
                              </p:par>
                            </p:childTnLst>
                          </p:cTn>
                        </p:par>
                        <p:par>
                          <p:cTn id="13" fill="hold">
                            <p:stCondLst>
                              <p:cond delay="2000"/>
                            </p:stCondLst>
                            <p:childTnLst>
                              <p:par>
                                <p:cTn id="14" presetID="5" presetClass="entr" presetSubtype="10" fill="hold" nodeType="afterEffect">
                                  <p:stCondLst>
                                    <p:cond delay="0"/>
                                  </p:stCondLst>
                                  <p:childTnLst>
                                    <p:set>
                                      <p:cBhvr>
                                        <p:cTn id="15" dur="1" fill="hold">
                                          <p:stCondLst>
                                            <p:cond delay="0"/>
                                          </p:stCondLst>
                                        </p:cTn>
                                        <p:tgtEl>
                                          <p:spTgt spid="18">
                                            <p:txEl>
                                              <p:pRg st="2" end="2"/>
                                            </p:txEl>
                                          </p:spTgt>
                                        </p:tgtEl>
                                        <p:attrNameLst>
                                          <p:attrName>style.visibility</p:attrName>
                                        </p:attrNameLst>
                                      </p:cBhvr>
                                      <p:to>
                                        <p:strVal val="visible"/>
                                      </p:to>
                                    </p:set>
                                    <p:animEffect transition="in" filter="checkerboard(across)">
                                      <p:cBhvr>
                                        <p:cTn id="16" dur="2000"/>
                                        <p:tgtEl>
                                          <p:spTgt spid="18">
                                            <p:txEl>
                                              <p:pRg st="2" end="2"/>
                                            </p:txEl>
                                          </p:spTgt>
                                        </p:tgtEl>
                                      </p:cBhvr>
                                    </p:animEffect>
                                  </p:childTnLst>
                                </p:cTn>
                              </p:par>
                            </p:childTnLst>
                          </p:cTn>
                        </p:par>
                        <p:par>
                          <p:cTn id="17" fill="hold">
                            <p:stCondLst>
                              <p:cond delay="4000"/>
                            </p:stCondLst>
                            <p:childTnLst>
                              <p:par>
                                <p:cTn id="18" presetID="5" presetClass="entr" presetSubtype="10" fill="hold" nodeType="afterEffect">
                                  <p:stCondLst>
                                    <p:cond delay="0"/>
                                  </p:stCondLst>
                                  <p:childTnLst>
                                    <p:set>
                                      <p:cBhvr>
                                        <p:cTn id="19" dur="1" fill="hold">
                                          <p:stCondLst>
                                            <p:cond delay="0"/>
                                          </p:stCondLst>
                                        </p:cTn>
                                        <p:tgtEl>
                                          <p:spTgt spid="18">
                                            <p:txEl>
                                              <p:pRg st="3" end="3"/>
                                            </p:txEl>
                                          </p:spTgt>
                                        </p:tgtEl>
                                        <p:attrNameLst>
                                          <p:attrName>style.visibility</p:attrName>
                                        </p:attrNameLst>
                                      </p:cBhvr>
                                      <p:to>
                                        <p:strVal val="visible"/>
                                      </p:to>
                                    </p:set>
                                    <p:animEffect transition="in" filter="checkerboard(across)">
                                      <p:cBhvr>
                                        <p:cTn id="20" dur="2000"/>
                                        <p:tgtEl>
                                          <p:spTgt spid="18">
                                            <p:txEl>
                                              <p:pRg st="3" end="3"/>
                                            </p:txEl>
                                          </p:spTgt>
                                        </p:tgtEl>
                                      </p:cBhvr>
                                    </p:animEffect>
                                  </p:childTnLst>
                                </p:cTn>
                              </p:par>
                            </p:childTnLst>
                          </p:cTn>
                        </p:par>
                        <p:par>
                          <p:cTn id="21" fill="hold">
                            <p:stCondLst>
                              <p:cond delay="6000"/>
                            </p:stCondLst>
                            <p:childTnLst>
                              <p:par>
                                <p:cTn id="22" presetID="5" presetClass="entr" presetSubtype="10" fill="hold" nodeType="afterEffect">
                                  <p:stCondLst>
                                    <p:cond delay="0"/>
                                  </p:stCondLst>
                                  <p:childTnLst>
                                    <p:set>
                                      <p:cBhvr>
                                        <p:cTn id="23" dur="1" fill="hold">
                                          <p:stCondLst>
                                            <p:cond delay="0"/>
                                          </p:stCondLst>
                                        </p:cTn>
                                        <p:tgtEl>
                                          <p:spTgt spid="18">
                                            <p:txEl>
                                              <p:pRg st="4" end="4"/>
                                            </p:txEl>
                                          </p:spTgt>
                                        </p:tgtEl>
                                        <p:attrNameLst>
                                          <p:attrName>style.visibility</p:attrName>
                                        </p:attrNameLst>
                                      </p:cBhvr>
                                      <p:to>
                                        <p:strVal val="visible"/>
                                      </p:to>
                                    </p:set>
                                    <p:animEffect transition="in" filter="checkerboard(across)">
                                      <p:cBhvr>
                                        <p:cTn id="24" dur="2000"/>
                                        <p:tgtEl>
                                          <p:spTgt spid="18">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0-#ppt_w/2"/>
                                          </p:val>
                                        </p:tav>
                                        <p:tav tm="100000">
                                          <p:val>
                                            <p:strVal val="#ppt_x"/>
                                          </p:val>
                                        </p:tav>
                                      </p:tavLst>
                                    </p:anim>
                                    <p:anim calcmode="lin" valueType="num">
                                      <p:cBhvr additive="base">
                                        <p:cTn id="30" dur="500" fill="hold"/>
                                        <p:tgtEl>
                                          <p:spTgt spid="19"/>
                                        </p:tgtEl>
                                        <p:attrNameLst>
                                          <p:attrName>ppt_y</p:attrName>
                                        </p:attrNameLst>
                                      </p:cBhvr>
                                      <p:tavLst>
                                        <p:tav tm="0">
                                          <p:val>
                                            <p:strVal val="#ppt_y"/>
                                          </p:val>
                                        </p:tav>
                                        <p:tav tm="100000">
                                          <p:val>
                                            <p:strVal val="#ppt_y"/>
                                          </p:val>
                                        </p:tav>
                                      </p:tavLst>
                                    </p:anim>
                                  </p:childTnLst>
                                </p:cTn>
                              </p:par>
                            </p:childTnLst>
                          </p:cTn>
                        </p:par>
                        <p:par>
                          <p:cTn id="31" fill="hold">
                            <p:stCondLst>
                              <p:cond delay="500"/>
                            </p:stCondLst>
                            <p:childTnLst>
                              <p:par>
                                <p:cTn id="32" presetID="2" presetClass="entr" presetSubtype="8"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0-#ppt_w/2"/>
                                          </p:val>
                                        </p:tav>
                                        <p:tav tm="100000">
                                          <p:val>
                                            <p:strVal val="#ppt_x"/>
                                          </p:val>
                                        </p:tav>
                                      </p:tavLst>
                                    </p:anim>
                                    <p:anim calcmode="lin" valueType="num">
                                      <p:cBhvr additive="base">
                                        <p:cTn id="35" dur="500" fill="hold"/>
                                        <p:tgtEl>
                                          <p:spTgt spid="20"/>
                                        </p:tgtEl>
                                        <p:attrNameLst>
                                          <p:attrName>ppt_y</p:attrName>
                                        </p:attrNameLst>
                                      </p:cBhvr>
                                      <p:tavLst>
                                        <p:tav tm="0">
                                          <p:val>
                                            <p:strVal val="#ppt_y"/>
                                          </p:val>
                                        </p:tav>
                                        <p:tav tm="100000">
                                          <p:val>
                                            <p:strVal val="#ppt_y"/>
                                          </p:val>
                                        </p:tav>
                                      </p:tavLst>
                                    </p:anim>
                                  </p:childTnLst>
                                </p:cTn>
                              </p:par>
                            </p:childTnLst>
                          </p:cTn>
                        </p:par>
                        <p:par>
                          <p:cTn id="36" fill="hold">
                            <p:stCondLst>
                              <p:cond delay="1000"/>
                            </p:stCondLst>
                            <p:childTnLst>
                              <p:par>
                                <p:cTn id="37" presetID="2" presetClass="entr" presetSubtype="8"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0-#ppt_w/2"/>
                                          </p:val>
                                        </p:tav>
                                        <p:tav tm="100000">
                                          <p:val>
                                            <p:strVal val="#ppt_x"/>
                                          </p:val>
                                        </p:tav>
                                      </p:tavLst>
                                    </p:anim>
                                    <p:anim calcmode="lin" valueType="num">
                                      <p:cBhvr additive="base">
                                        <p:cTn id="40"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Rôles de serveur</a:t>
            </a:r>
            <a:endParaRPr lang="en-US" dirty="0">
              <a:solidFill>
                <a:srgbClr val="C00000"/>
              </a:solidFill>
              <a:ea typeface="SimSun" pitchFamily="2" charset="-122"/>
              <a:cs typeface="Times New Roman" pitchFamily="18" charset="0"/>
            </a:endParaRPr>
          </a:p>
        </p:txBody>
      </p:sp>
      <p:sp>
        <p:nvSpPr>
          <p:cNvPr id="589836" name="Text-Box-12"/>
          <p:cNvSpPr txBox="1">
            <a:spLocks noChangeArrowheads="1"/>
          </p:cNvSpPr>
          <p:nvPr/>
        </p:nvSpPr>
        <p:spPr bwMode="auto">
          <a:xfrm>
            <a:off x="188685" y="1484988"/>
            <a:ext cx="5020624" cy="58477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3200" dirty="0">
                <a:solidFill>
                  <a:srgbClr val="000000"/>
                </a:solidFill>
                <a:ea typeface="SimSun" pitchFamily="2" charset="-122"/>
                <a:cs typeface="Times New Roman" pitchFamily="18" charset="0"/>
              </a:rPr>
              <a:t>Serveur de fichiers</a:t>
            </a:r>
            <a:endParaRPr lang="en-US" sz="3200" dirty="0">
              <a:solidFill>
                <a:srgbClr val="000000"/>
              </a:solidFill>
              <a:ea typeface="SimSun" pitchFamily="2" charset="-122"/>
              <a:cs typeface="Times New Roman" pitchFamily="18" charset="0"/>
            </a:endParaRPr>
          </a:p>
        </p:txBody>
      </p:sp>
      <p:sp>
        <p:nvSpPr>
          <p:cNvPr id="18" name="ZoneTexte 17"/>
          <p:cNvSpPr txBox="1"/>
          <p:nvPr/>
        </p:nvSpPr>
        <p:spPr>
          <a:xfrm>
            <a:off x="406400" y="2670628"/>
            <a:ext cx="8534399" cy="1949123"/>
          </a:xfrm>
          <a:prstGeom prst="rect">
            <a:avLst/>
          </a:prstGeom>
          <a:noFill/>
        </p:spPr>
        <p:txBody>
          <a:bodyPr wrap="square" rtlCol="0">
            <a:spAutoFit/>
          </a:bodyPr>
          <a:lstStyle/>
          <a:p>
            <a:pPr algn="l">
              <a:lnSpc>
                <a:spcPct val="150000"/>
              </a:lnSpc>
              <a:buFont typeface="Wingdings" pitchFamily="2" charset="2"/>
              <a:buChar char="q"/>
            </a:pPr>
            <a:r>
              <a:rPr lang="fr-FR" sz="2400" dirty="0"/>
              <a:t>  </a:t>
            </a:r>
            <a:r>
              <a:rPr lang="fr-FR" sz="2800" dirty="0"/>
              <a:t>Fournit, sur le réseau, un emplacement central pour:  </a:t>
            </a:r>
          </a:p>
          <a:p>
            <a:pPr lvl="1" algn="l">
              <a:lnSpc>
                <a:spcPct val="150000"/>
              </a:lnSpc>
              <a:buFont typeface="Wingdings" pitchFamily="2" charset="2"/>
              <a:buChar char="Ø"/>
            </a:pPr>
            <a:r>
              <a:rPr lang="fr-FR" sz="2800" dirty="0"/>
              <a:t> Stocker les fichiers</a:t>
            </a:r>
          </a:p>
          <a:p>
            <a:pPr lvl="1" algn="l">
              <a:lnSpc>
                <a:spcPct val="150000"/>
              </a:lnSpc>
              <a:buFont typeface="Wingdings" pitchFamily="2" charset="2"/>
              <a:buChar char="Ø"/>
            </a:pPr>
            <a:r>
              <a:rPr lang="fr-FR" sz="2800" dirty="0"/>
              <a:t> Partager  les fichiers pour les utilisateurs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checkerboard(across)">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checkerboard(across)">
                                      <p:cBhvr>
                                        <p:cTn id="12" dur="20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checkerboard(across)">
                                      <p:cBhvr>
                                        <p:cTn id="17" dur="20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Rôles de serveur</a:t>
            </a:r>
            <a:endParaRPr lang="en-US" dirty="0">
              <a:solidFill>
                <a:srgbClr val="C00000"/>
              </a:solidFill>
              <a:ea typeface="SimSun" pitchFamily="2" charset="-122"/>
              <a:cs typeface="Times New Roman" pitchFamily="18" charset="0"/>
            </a:endParaRPr>
          </a:p>
        </p:txBody>
      </p:sp>
      <p:sp>
        <p:nvSpPr>
          <p:cNvPr id="589836" name="Text-Box-12"/>
          <p:cNvSpPr txBox="1">
            <a:spLocks noChangeArrowheads="1"/>
          </p:cNvSpPr>
          <p:nvPr/>
        </p:nvSpPr>
        <p:spPr bwMode="auto">
          <a:xfrm>
            <a:off x="188684" y="1484988"/>
            <a:ext cx="5699497" cy="58477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3200" dirty="0">
                <a:solidFill>
                  <a:srgbClr val="000000"/>
                </a:solidFill>
                <a:ea typeface="SimSun" pitchFamily="2" charset="-122"/>
                <a:cs typeface="Times New Roman" pitchFamily="18" charset="0"/>
              </a:rPr>
              <a:t>Serveur d’impression</a:t>
            </a:r>
            <a:endParaRPr lang="en-US" sz="3200" dirty="0">
              <a:solidFill>
                <a:srgbClr val="000000"/>
              </a:solidFill>
              <a:ea typeface="SimSun" pitchFamily="2" charset="-122"/>
              <a:cs typeface="Times New Roman" pitchFamily="18" charset="0"/>
            </a:endParaRPr>
          </a:p>
        </p:txBody>
      </p:sp>
      <p:sp>
        <p:nvSpPr>
          <p:cNvPr id="18" name="ZoneTexte 17"/>
          <p:cNvSpPr txBox="1"/>
          <p:nvPr/>
        </p:nvSpPr>
        <p:spPr>
          <a:xfrm>
            <a:off x="406400" y="2670628"/>
            <a:ext cx="8534399" cy="3241785"/>
          </a:xfrm>
          <a:prstGeom prst="rect">
            <a:avLst/>
          </a:prstGeom>
          <a:noFill/>
        </p:spPr>
        <p:txBody>
          <a:bodyPr wrap="square" rtlCol="0">
            <a:spAutoFit/>
          </a:bodyPr>
          <a:lstStyle/>
          <a:p>
            <a:pPr algn="l">
              <a:lnSpc>
                <a:spcPct val="150000"/>
              </a:lnSpc>
              <a:buFont typeface="Wingdings" pitchFamily="2" charset="2"/>
              <a:buChar char="q"/>
            </a:pPr>
            <a:r>
              <a:rPr lang="fr-FR" sz="2400" dirty="0"/>
              <a:t>  </a:t>
            </a:r>
            <a:r>
              <a:rPr lang="fr-FR" sz="2800" dirty="0"/>
              <a:t>Fournit, sur le réseau, un emplacement central dans laquelle les utilisateurs peuvent imprimer.</a:t>
            </a:r>
          </a:p>
          <a:p>
            <a:pPr algn="l">
              <a:lnSpc>
                <a:spcPct val="150000"/>
              </a:lnSpc>
              <a:buFont typeface="Wingdings" pitchFamily="2" charset="2"/>
              <a:buChar char="q"/>
            </a:pPr>
            <a:r>
              <a:rPr lang="fr-FR" sz="2800" dirty="0"/>
              <a:t>  Fournit des mises à jour des pilotes d’imprimantes  </a:t>
            </a:r>
          </a:p>
          <a:p>
            <a:pPr algn="l">
              <a:lnSpc>
                <a:spcPct val="150000"/>
              </a:lnSpc>
              <a:buFont typeface="Wingdings" pitchFamily="2" charset="2"/>
              <a:buChar char="q"/>
            </a:pPr>
            <a:r>
              <a:rPr lang="fr-FR" sz="2800" dirty="0"/>
              <a:t>  Gère la mise en file d’attente d’impression.</a:t>
            </a:r>
          </a:p>
          <a:p>
            <a:pPr algn="l">
              <a:lnSpc>
                <a:spcPct val="150000"/>
              </a:lnSpc>
              <a:buFont typeface="Wingdings" pitchFamily="2" charset="2"/>
              <a:buChar char="q"/>
            </a:pPr>
            <a:r>
              <a:rPr lang="fr-FR" sz="2800" dirty="0"/>
              <a:t>  Gère la sécurité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checkerboard(across)">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checkerboard(across)">
                                      <p:cBhvr>
                                        <p:cTn id="12" dur="20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checkerboard(across)">
                                      <p:cBhvr>
                                        <p:cTn id="17" dur="20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checkerboard(across)">
                                      <p:cBhvr>
                                        <p:cTn id="22" dur="20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Rôles de serveur</a:t>
            </a:r>
            <a:endParaRPr lang="en-US" dirty="0">
              <a:solidFill>
                <a:srgbClr val="C00000"/>
              </a:solidFill>
              <a:ea typeface="SimSun" pitchFamily="2" charset="-122"/>
              <a:cs typeface="Times New Roman" pitchFamily="18" charset="0"/>
            </a:endParaRPr>
          </a:p>
        </p:txBody>
      </p:sp>
      <p:sp>
        <p:nvSpPr>
          <p:cNvPr id="589836" name="Text-Box-12"/>
          <p:cNvSpPr txBox="1">
            <a:spLocks noChangeArrowheads="1"/>
          </p:cNvSpPr>
          <p:nvPr/>
        </p:nvSpPr>
        <p:spPr bwMode="auto">
          <a:xfrm>
            <a:off x="188685" y="1484988"/>
            <a:ext cx="3846286" cy="58477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3200" dirty="0">
                <a:solidFill>
                  <a:srgbClr val="000000"/>
                </a:solidFill>
                <a:ea typeface="SimSun" pitchFamily="2" charset="-122"/>
                <a:cs typeface="Times New Roman" pitchFamily="18" charset="0"/>
              </a:rPr>
              <a:t>Serveur DNS</a:t>
            </a:r>
            <a:endParaRPr lang="en-US" sz="3200" dirty="0">
              <a:solidFill>
                <a:srgbClr val="000000"/>
              </a:solidFill>
              <a:ea typeface="SimSun" pitchFamily="2" charset="-122"/>
              <a:cs typeface="Times New Roman" pitchFamily="18" charset="0"/>
            </a:endParaRPr>
          </a:p>
        </p:txBody>
      </p:sp>
      <p:sp>
        <p:nvSpPr>
          <p:cNvPr id="18" name="ZoneTexte 17"/>
          <p:cNvSpPr txBox="1"/>
          <p:nvPr/>
        </p:nvSpPr>
        <p:spPr>
          <a:xfrm>
            <a:off x="406400" y="2670628"/>
            <a:ext cx="8534399" cy="1406026"/>
          </a:xfrm>
          <a:prstGeom prst="rect">
            <a:avLst/>
          </a:prstGeom>
          <a:noFill/>
        </p:spPr>
        <p:txBody>
          <a:bodyPr wrap="square" rtlCol="0">
            <a:spAutoFit/>
          </a:bodyPr>
          <a:lstStyle/>
          <a:p>
            <a:pPr algn="l">
              <a:lnSpc>
                <a:spcPts val="3500"/>
              </a:lnSpc>
              <a:buFont typeface="Wingdings" pitchFamily="2" charset="2"/>
              <a:buChar char="q"/>
            </a:pPr>
            <a:r>
              <a:rPr lang="fr-FR" sz="2400" dirty="0"/>
              <a:t>  </a:t>
            </a:r>
            <a:r>
              <a:rPr lang="fr-FR" sz="2800" dirty="0"/>
              <a:t>Permet aux ordinateurs de résoudre des noms de domaine DNS</a:t>
            </a:r>
          </a:p>
          <a:p>
            <a:pPr algn="l">
              <a:lnSpc>
                <a:spcPts val="3500"/>
              </a:lnSpc>
              <a:buFont typeface="Wingdings" pitchFamily="2" charset="2"/>
              <a:buChar char="q"/>
            </a:pPr>
            <a:r>
              <a:rPr lang="fr-FR" sz="2800" dirty="0"/>
              <a:t> Nécessaire pour implémenter Active Directory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checkerboard(across)">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checkerboard(across)">
                                      <p:cBhvr>
                                        <p:cTn id="12" dur="20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Rôles de serveur</a:t>
            </a:r>
            <a:endParaRPr lang="en-US" dirty="0">
              <a:solidFill>
                <a:srgbClr val="C00000"/>
              </a:solidFill>
              <a:ea typeface="SimSun" pitchFamily="2" charset="-122"/>
              <a:cs typeface="Times New Roman" pitchFamily="18" charset="0"/>
            </a:endParaRPr>
          </a:p>
        </p:txBody>
      </p:sp>
      <p:sp>
        <p:nvSpPr>
          <p:cNvPr id="589836" name="Text-Box-12"/>
          <p:cNvSpPr txBox="1">
            <a:spLocks noChangeArrowheads="1"/>
          </p:cNvSpPr>
          <p:nvPr/>
        </p:nvSpPr>
        <p:spPr bwMode="auto">
          <a:xfrm>
            <a:off x="188684" y="1484988"/>
            <a:ext cx="5048333" cy="584775"/>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r>
              <a:rPr lang="fr-FR" altLang="zh-CN" sz="3200" dirty="0">
                <a:solidFill>
                  <a:srgbClr val="000000"/>
                </a:solidFill>
                <a:ea typeface="SimSun" pitchFamily="2" charset="-122"/>
                <a:cs typeface="Times New Roman" pitchFamily="18" charset="0"/>
              </a:rPr>
              <a:t>Serveur d’applications</a:t>
            </a:r>
            <a:endParaRPr lang="en-US" sz="3200" dirty="0">
              <a:solidFill>
                <a:srgbClr val="000000"/>
              </a:solidFill>
              <a:ea typeface="SimSun" pitchFamily="2" charset="-122"/>
              <a:cs typeface="Times New Roman" pitchFamily="18" charset="0"/>
            </a:endParaRPr>
          </a:p>
        </p:txBody>
      </p:sp>
      <p:sp>
        <p:nvSpPr>
          <p:cNvPr id="18" name="ZoneTexte 17"/>
          <p:cNvSpPr txBox="1"/>
          <p:nvPr/>
        </p:nvSpPr>
        <p:spPr>
          <a:xfrm>
            <a:off x="406400" y="2670628"/>
            <a:ext cx="8534399" cy="1406026"/>
          </a:xfrm>
          <a:prstGeom prst="rect">
            <a:avLst/>
          </a:prstGeom>
          <a:noFill/>
        </p:spPr>
        <p:txBody>
          <a:bodyPr wrap="square" rtlCol="0">
            <a:spAutoFit/>
          </a:bodyPr>
          <a:lstStyle/>
          <a:p>
            <a:pPr algn="l">
              <a:lnSpc>
                <a:spcPts val="3500"/>
              </a:lnSpc>
              <a:buFont typeface="Wingdings" pitchFamily="2" charset="2"/>
              <a:buChar char="q"/>
            </a:pPr>
            <a:r>
              <a:rPr lang="fr-FR" sz="2400" dirty="0"/>
              <a:t>  </a:t>
            </a:r>
            <a:r>
              <a:rPr lang="fr-FR" sz="2800" dirty="0"/>
              <a:t>Fournir une infrastructure et des services essentiels aux applications hébergées dans un système</a:t>
            </a:r>
          </a:p>
          <a:p>
            <a:pPr algn="l">
              <a:lnSpc>
                <a:spcPts val="3500"/>
              </a:lnSpc>
              <a:buFont typeface="Wingdings" pitchFamily="2" charset="2"/>
              <a:buChar char="q"/>
            </a:pPr>
            <a:r>
              <a:rPr lang="fr-FR" sz="2800" dirty="0"/>
              <a:t>Créer un point de distribution pour les applications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390242" y="243349"/>
            <a:ext cx="8534400" cy="758952"/>
          </a:xfrm>
        </p:spPr>
        <p:txBody>
          <a:bodyPr>
            <a:normAutofit/>
          </a:bodyPr>
          <a:lstStyle/>
          <a:p>
            <a:r>
              <a:rPr lang="fr-FR" altLang="zh-CN" dirty="0">
                <a:solidFill>
                  <a:srgbClr val="C00000"/>
                </a:solidFill>
                <a:ea typeface="SimSun" pitchFamily="2" charset="-122"/>
                <a:cs typeface="Times New Roman" pitchFamily="18" charset="0"/>
              </a:rPr>
              <a:t>Autres rôles de serveur</a:t>
            </a:r>
            <a:endParaRPr lang="en-US" altLang="zh-CN" dirty="0">
              <a:solidFill>
                <a:srgbClr val="C00000"/>
              </a:solidFill>
              <a:ea typeface="SimSun" pitchFamily="2" charset="-122"/>
              <a:cs typeface="Times New Roman" pitchFamily="18" charset="0"/>
            </a:endParaRPr>
          </a:p>
        </p:txBody>
      </p:sp>
      <p:graphicFrame>
        <p:nvGraphicFramePr>
          <p:cNvPr id="4" name="Group 35"/>
          <p:cNvGraphicFramePr>
            <a:graphicFrameLocks noGrp="1"/>
          </p:cNvGraphicFramePr>
          <p:nvPr>
            <p:ph idx="4294967295"/>
            <p:extLst>
              <p:ext uri="{D42A27DB-BD31-4B8C-83A1-F6EECF244321}">
                <p14:modId xmlns:p14="http://schemas.microsoft.com/office/powerpoint/2010/main" val="1703326221"/>
              </p:ext>
            </p:extLst>
          </p:nvPr>
        </p:nvGraphicFramePr>
        <p:xfrm>
          <a:off x="88493" y="1501400"/>
          <a:ext cx="8967019" cy="4983592"/>
        </p:xfrm>
        <a:graphic>
          <a:graphicData uri="http://schemas.openxmlformats.org/drawingml/2006/table">
            <a:tbl>
              <a:tblPr/>
              <a:tblGrid>
                <a:gridCol w="2732984">
                  <a:extLst>
                    <a:ext uri="{9D8B030D-6E8A-4147-A177-3AD203B41FA5}">
                      <a16:colId xmlns:a16="http://schemas.microsoft.com/office/drawing/2014/main" val="20000"/>
                    </a:ext>
                  </a:extLst>
                </a:gridCol>
                <a:gridCol w="6234035">
                  <a:extLst>
                    <a:ext uri="{9D8B030D-6E8A-4147-A177-3AD203B41FA5}">
                      <a16:colId xmlns:a16="http://schemas.microsoft.com/office/drawing/2014/main" val="20001"/>
                    </a:ext>
                  </a:extLst>
                </a:gridCol>
              </a:tblGrid>
              <a:tr h="537505">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err="1">
                          <a:ln>
                            <a:noFill/>
                          </a:ln>
                          <a:solidFill>
                            <a:srgbClr val="000000"/>
                          </a:solidFill>
                          <a:effectLst/>
                          <a:latin typeface="Verdana" pitchFamily="34" charset="0"/>
                          <a:ea typeface="+mn-ea"/>
                          <a:cs typeface="Arial" charset="0"/>
                        </a:rPr>
                        <a:t>Serveur</a:t>
                      </a:r>
                      <a:r>
                        <a:rPr kumimoji="0" lang="en-US" sz="1800" b="1" i="0" u="none" strike="noStrike" kern="1200" cap="none" normalizeH="0" baseline="0" dirty="0">
                          <a:ln>
                            <a:noFill/>
                          </a:ln>
                          <a:solidFill>
                            <a:srgbClr val="000000"/>
                          </a:solidFill>
                          <a:effectLst/>
                          <a:latin typeface="Verdana" pitchFamily="34" charset="0"/>
                          <a:ea typeface="+mn-ea"/>
                          <a:cs typeface="Arial" charset="0"/>
                        </a:rPr>
                        <a:t> DHCP</a:t>
                      </a: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Attribue automatiquement les @ IP et les informations de configuration IP aux clients</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4741">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a:ln>
                            <a:noFill/>
                          </a:ln>
                          <a:solidFill>
                            <a:srgbClr val="000000"/>
                          </a:solidFill>
                          <a:effectLst/>
                          <a:latin typeface="Verdana" pitchFamily="34" charset="0"/>
                          <a:ea typeface="+mn-ea"/>
                          <a:cs typeface="Arial" charset="0"/>
                        </a:rPr>
                        <a:t>Hyper-V</a:t>
                      </a: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Fournit des fonctionnalités de la virtualisation</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43099">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err="1">
                          <a:ln>
                            <a:noFill/>
                          </a:ln>
                          <a:solidFill>
                            <a:srgbClr val="000000"/>
                          </a:solidFill>
                          <a:effectLst/>
                          <a:latin typeface="Verdana" pitchFamily="34" charset="0"/>
                          <a:ea typeface="+mn-ea"/>
                          <a:cs typeface="Arial" charset="0"/>
                        </a:rPr>
                        <a:t>Serveur</a:t>
                      </a:r>
                      <a:r>
                        <a:rPr kumimoji="0" lang="en-US" sz="1800" b="1" i="0" u="none" strike="noStrike" kern="1200" cap="none" normalizeH="0" baseline="0" dirty="0">
                          <a:ln>
                            <a:noFill/>
                          </a:ln>
                          <a:solidFill>
                            <a:srgbClr val="000000"/>
                          </a:solidFill>
                          <a:effectLst/>
                          <a:latin typeface="Verdana" pitchFamily="34" charset="0"/>
                          <a:ea typeface="+mn-ea"/>
                          <a:cs typeface="Arial" charset="0"/>
                        </a:rPr>
                        <a:t> </a:t>
                      </a:r>
                      <a:r>
                        <a:rPr kumimoji="0" lang="en-US" sz="1800" b="1" i="0" u="none" strike="noStrike" kern="1200" cap="none" normalizeH="0" baseline="0" dirty="0" err="1">
                          <a:ln>
                            <a:noFill/>
                          </a:ln>
                          <a:solidFill>
                            <a:srgbClr val="000000"/>
                          </a:solidFill>
                          <a:effectLst/>
                          <a:latin typeface="Verdana" pitchFamily="34" charset="0"/>
                          <a:ea typeface="+mn-ea"/>
                          <a:cs typeface="Arial" charset="0"/>
                        </a:rPr>
                        <a:t>d’accès</a:t>
                      </a:r>
                      <a:r>
                        <a:rPr kumimoji="0" lang="en-US" sz="1800" b="1" i="0" u="none" strike="noStrike" kern="1200" cap="none" normalizeH="0" baseline="0" dirty="0">
                          <a:ln>
                            <a:noFill/>
                          </a:ln>
                          <a:solidFill>
                            <a:srgbClr val="000000"/>
                          </a:solidFill>
                          <a:effectLst/>
                          <a:latin typeface="Verdana" pitchFamily="34" charset="0"/>
                          <a:ea typeface="+mn-ea"/>
                          <a:cs typeface="Arial" charset="0"/>
                        </a:rPr>
                        <a:t> </a:t>
                      </a:r>
                      <a:r>
                        <a:rPr kumimoji="0" lang="en-US" sz="1800" b="1" i="0" u="none" strike="noStrike" kern="1200" cap="none" normalizeH="0" baseline="0" dirty="0" err="1">
                          <a:ln>
                            <a:noFill/>
                          </a:ln>
                          <a:solidFill>
                            <a:srgbClr val="000000"/>
                          </a:solidFill>
                          <a:effectLst/>
                          <a:latin typeface="Verdana" pitchFamily="34" charset="0"/>
                          <a:ea typeface="+mn-ea"/>
                          <a:cs typeface="Arial" charset="0"/>
                        </a:rPr>
                        <a:t>réseau</a:t>
                      </a:r>
                      <a:r>
                        <a:rPr kumimoji="0" lang="en-US" sz="1800" b="1" i="0" u="none" strike="noStrike" kern="1200" cap="none" normalizeH="0" baseline="0" dirty="0">
                          <a:ln>
                            <a:noFill/>
                          </a:ln>
                          <a:solidFill>
                            <a:srgbClr val="000000"/>
                          </a:solidFill>
                          <a:effectLst/>
                          <a:latin typeface="Verdana" pitchFamily="34" charset="0"/>
                          <a:ea typeface="+mn-ea"/>
                          <a:cs typeface="Arial" charset="0"/>
                        </a:rPr>
                        <a:t> et </a:t>
                      </a:r>
                      <a:r>
                        <a:rPr kumimoji="0" lang="en-US" sz="1800" b="1" i="0" u="none" strike="noStrike" kern="1200" cap="none" normalizeH="0" baseline="0" dirty="0" err="1">
                          <a:ln>
                            <a:noFill/>
                          </a:ln>
                          <a:solidFill>
                            <a:srgbClr val="000000"/>
                          </a:solidFill>
                          <a:effectLst/>
                          <a:latin typeface="Verdana" pitchFamily="34" charset="0"/>
                          <a:ea typeface="+mn-ea"/>
                          <a:cs typeface="Arial" charset="0"/>
                        </a:rPr>
                        <a:t>routage</a:t>
                      </a:r>
                      <a:endParaRPr kumimoji="0" lang="en-US" sz="1800" b="1" i="0" u="none" strike="noStrike" kern="1200" cap="none" normalizeH="0" baseline="0" dirty="0">
                        <a:ln>
                          <a:noFill/>
                        </a:ln>
                        <a:solidFill>
                          <a:srgbClr val="000000"/>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Prend en charge de routage LAN ou WAN, application de stratégies de l’accès réseau, connexions VPN et connexions dial-up</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537505">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err="1">
                          <a:ln>
                            <a:noFill/>
                          </a:ln>
                          <a:solidFill>
                            <a:srgbClr val="000000"/>
                          </a:solidFill>
                          <a:effectLst/>
                          <a:latin typeface="Verdana" pitchFamily="34" charset="0"/>
                          <a:ea typeface="+mn-ea"/>
                          <a:cs typeface="Arial" charset="0"/>
                        </a:rPr>
                        <a:t>Serveur</a:t>
                      </a:r>
                      <a:r>
                        <a:rPr kumimoji="0" lang="en-US" sz="1800" b="1" i="0" u="none" strike="noStrike" kern="1200" cap="none" normalizeH="0" baseline="0" dirty="0">
                          <a:ln>
                            <a:noFill/>
                          </a:ln>
                          <a:solidFill>
                            <a:srgbClr val="000000"/>
                          </a:solidFill>
                          <a:effectLst/>
                          <a:latin typeface="Verdana" pitchFamily="34" charset="0"/>
                          <a:ea typeface="+mn-ea"/>
                          <a:cs typeface="Arial" charset="0"/>
                        </a:rPr>
                        <a:t> </a:t>
                      </a:r>
                      <a:r>
                        <a:rPr kumimoji="0" lang="en-US" sz="1800" b="1" i="0" u="none" strike="noStrike" kern="1200" cap="none" normalizeH="0" baseline="0" dirty="0" err="1">
                          <a:ln>
                            <a:noFill/>
                          </a:ln>
                          <a:solidFill>
                            <a:srgbClr val="000000"/>
                          </a:solidFill>
                          <a:effectLst/>
                          <a:latin typeface="Verdana" pitchFamily="34" charset="0"/>
                          <a:ea typeface="+mn-ea"/>
                          <a:cs typeface="Arial" charset="0"/>
                        </a:rPr>
                        <a:t>d’accès</a:t>
                      </a:r>
                      <a:r>
                        <a:rPr kumimoji="0" lang="en-US" sz="1800" b="1" i="0" u="none" strike="noStrike" kern="1200" cap="none" normalizeH="0" baseline="0" dirty="0">
                          <a:ln>
                            <a:noFill/>
                          </a:ln>
                          <a:solidFill>
                            <a:srgbClr val="000000"/>
                          </a:solidFill>
                          <a:effectLst/>
                          <a:latin typeface="Verdana" pitchFamily="34" charset="0"/>
                          <a:ea typeface="+mn-ea"/>
                          <a:cs typeface="Arial" charset="0"/>
                        </a:rPr>
                        <a:t> à distance</a:t>
                      </a: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Permet aux utilisateurs d’exécuter des programmes sur un serveur distant</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4741">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err="1">
                          <a:ln>
                            <a:noFill/>
                          </a:ln>
                          <a:solidFill>
                            <a:srgbClr val="000000"/>
                          </a:solidFill>
                          <a:effectLst/>
                          <a:latin typeface="Verdana" pitchFamily="34" charset="0"/>
                          <a:ea typeface="+mn-ea"/>
                          <a:cs typeface="Arial" charset="0"/>
                        </a:rPr>
                        <a:t>Serveur</a:t>
                      </a:r>
                      <a:r>
                        <a:rPr kumimoji="0" lang="en-US" sz="1800" b="1" i="0" u="none" strike="noStrike" kern="1200" cap="none" normalizeH="0" baseline="0" dirty="0">
                          <a:ln>
                            <a:noFill/>
                          </a:ln>
                          <a:solidFill>
                            <a:srgbClr val="000000"/>
                          </a:solidFill>
                          <a:effectLst/>
                          <a:latin typeface="Verdana" pitchFamily="34" charset="0"/>
                          <a:ea typeface="+mn-ea"/>
                          <a:cs typeface="Arial" charset="0"/>
                        </a:rPr>
                        <a:t> Web(IIS)</a:t>
                      </a: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Active Win Server 2008 comme un serveur Web</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34079">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err="1">
                          <a:ln>
                            <a:noFill/>
                          </a:ln>
                          <a:solidFill>
                            <a:srgbClr val="000000"/>
                          </a:solidFill>
                          <a:effectLst/>
                          <a:latin typeface="Verdana" pitchFamily="34" charset="0"/>
                          <a:ea typeface="+mn-ea"/>
                          <a:cs typeface="Arial" charset="0"/>
                        </a:rPr>
                        <a:t>Serveur</a:t>
                      </a:r>
                      <a:r>
                        <a:rPr kumimoji="0" lang="en-US" sz="1800" b="1" i="0" u="none" strike="noStrike" kern="1200" cap="none" normalizeH="0" baseline="0" dirty="0">
                          <a:ln>
                            <a:noFill/>
                          </a:ln>
                          <a:solidFill>
                            <a:srgbClr val="000000"/>
                          </a:solidFill>
                          <a:effectLst/>
                          <a:latin typeface="Verdana" pitchFamily="34" charset="0"/>
                          <a:ea typeface="+mn-ea"/>
                          <a:cs typeface="Arial" charset="0"/>
                        </a:rPr>
                        <a:t> de </a:t>
                      </a:r>
                      <a:r>
                        <a:rPr kumimoji="0" lang="en-US" sz="1800" b="1" i="0" u="none" strike="noStrike" kern="1200" cap="none" normalizeH="0" baseline="0" dirty="0" err="1">
                          <a:ln>
                            <a:noFill/>
                          </a:ln>
                          <a:solidFill>
                            <a:srgbClr val="000000"/>
                          </a:solidFill>
                          <a:effectLst/>
                          <a:latin typeface="Verdana" pitchFamily="34" charset="0"/>
                          <a:ea typeface="+mn-ea"/>
                          <a:cs typeface="Arial" charset="0"/>
                        </a:rPr>
                        <a:t>déploiement</a:t>
                      </a:r>
                      <a:r>
                        <a:rPr kumimoji="0" lang="en-US" sz="1800" b="1" i="0" u="none" strike="noStrike" kern="1200" cap="none" normalizeH="0" baseline="0" dirty="0">
                          <a:ln>
                            <a:noFill/>
                          </a:ln>
                          <a:solidFill>
                            <a:srgbClr val="000000"/>
                          </a:solidFill>
                          <a:effectLst/>
                          <a:latin typeface="Verdana" pitchFamily="34" charset="0"/>
                          <a:ea typeface="+mn-ea"/>
                          <a:cs typeface="Arial" charset="0"/>
                        </a:rPr>
                        <a:t> Windows</a:t>
                      </a: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Déploie des systèmes d’exploitation Windows sur les ordinateurs du réseau</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537505">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en-US" sz="1800" b="1" i="0" u="none" strike="noStrike" kern="1200" cap="none" normalizeH="0" baseline="0" dirty="0">
                          <a:ln>
                            <a:noFill/>
                          </a:ln>
                          <a:solidFill>
                            <a:srgbClr val="000000"/>
                          </a:solidFill>
                          <a:effectLst/>
                          <a:latin typeface="Verdana" pitchFamily="34" charset="0"/>
                          <a:ea typeface="+mn-ea"/>
                          <a:cs typeface="Arial" charset="0"/>
                        </a:rPr>
                        <a:t>Windows Server Update (WSUS)</a:t>
                      </a: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rgbClr val="E4CD9A"/>
                    </a:solidFill>
                  </a:tcPr>
                </a:tc>
                <a:tc>
                  <a:txBody>
                    <a:bodyPr/>
                    <a:lstStyle/>
                    <a:p>
                      <a:pPr marL="0" marR="0" lvl="0" indent="0" algn="l" defTabSz="914400" rtl="0" eaLnBrk="0" fontAlgn="base" latinLnBrk="0" hangingPunct="0">
                        <a:lnSpc>
                          <a:spcPct val="90000"/>
                        </a:lnSpc>
                        <a:spcBef>
                          <a:spcPct val="70000"/>
                        </a:spcBef>
                        <a:spcAft>
                          <a:spcPct val="0"/>
                        </a:spcAft>
                        <a:buClr>
                          <a:schemeClr val="hlink"/>
                        </a:buClr>
                        <a:buSzPct val="90000"/>
                        <a:buFontTx/>
                        <a:buNone/>
                        <a:tabLst/>
                      </a:pPr>
                      <a:r>
                        <a:rPr kumimoji="0" lang="fr-FR" sz="1800" b="1" i="0" u="none" strike="noStrike" kern="1200" cap="none" normalizeH="0" baseline="0" dirty="0">
                          <a:ln>
                            <a:noFill/>
                          </a:ln>
                          <a:solidFill>
                            <a:schemeClr val="tx1"/>
                          </a:solidFill>
                          <a:effectLst/>
                          <a:latin typeface="Verdana" pitchFamily="34" charset="0"/>
                          <a:ea typeface="+mn-ea"/>
                          <a:cs typeface="Arial" charset="0"/>
                        </a:rPr>
                        <a:t>Permet la distribution de la mise à jour Microsoft pour les clients et les serveurs</a:t>
                      </a:r>
                      <a:endParaRPr kumimoji="0" lang="en-US" sz="1800" b="1" i="0" u="none" strike="noStrike" kern="1200" cap="none" normalizeH="0" baseline="0" dirty="0">
                        <a:ln>
                          <a:noFill/>
                        </a:ln>
                        <a:solidFill>
                          <a:schemeClr val="tx1"/>
                        </a:solidFill>
                        <a:effectLst/>
                        <a:latin typeface="Verdana" pitchFamily="34" charset="0"/>
                        <a:ea typeface="+mn-ea"/>
                        <a:cs typeface="Arial" charset="0"/>
                      </a:endParaRPr>
                    </a:p>
                  </a:txBody>
                  <a:tcPr marT="91448" marB="91448" anchor="ctr" horzOverflow="overflow">
                    <a:lnL w="12700" cap="flat" cmpd="sng" algn="ctr">
                      <a:solidFill>
                        <a:srgbClr val="D2AC56"/>
                      </a:solidFill>
                      <a:prstDash val="solid"/>
                      <a:round/>
                      <a:headEnd type="none" w="med" len="med"/>
                      <a:tailEnd type="none" w="med" len="med"/>
                    </a:lnL>
                    <a:lnR w="12700" cap="flat" cmpd="sng" algn="ctr">
                      <a:solidFill>
                        <a:srgbClr val="D2AC56"/>
                      </a:solidFill>
                      <a:prstDash val="solid"/>
                      <a:round/>
                      <a:headEnd type="none" w="med" len="med"/>
                      <a:tailEnd type="none" w="med" len="med"/>
                    </a:lnR>
                    <a:lnT w="12700" cap="flat" cmpd="sng" algn="ctr">
                      <a:solidFill>
                        <a:srgbClr val="D2AC56"/>
                      </a:solidFill>
                      <a:prstDash val="solid"/>
                      <a:round/>
                      <a:headEnd type="none" w="med" len="med"/>
                      <a:tailEnd type="none" w="med" len="med"/>
                    </a:lnT>
                    <a:lnB w="12700" cap="flat" cmpd="sng" algn="ctr">
                      <a:solidFill>
                        <a:srgbClr val="D2AC5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La famille Windows Server 2008</a:t>
            </a:r>
            <a:endParaRPr lang="en-US" dirty="0">
              <a:solidFill>
                <a:srgbClr val="C00000"/>
              </a:solidFill>
              <a:ea typeface="SimSun" pitchFamily="2" charset="-122"/>
              <a:cs typeface="Times New Roman" pitchFamily="18" charset="0"/>
            </a:endParaRPr>
          </a:p>
        </p:txBody>
      </p:sp>
      <p:graphicFrame>
        <p:nvGraphicFramePr>
          <p:cNvPr id="11" name="Group 27"/>
          <p:cNvGraphicFramePr>
            <a:graphicFrameLocks noGrp="1"/>
          </p:cNvGraphicFramePr>
          <p:nvPr>
            <p:ph idx="1"/>
          </p:nvPr>
        </p:nvGraphicFramePr>
        <p:xfrm>
          <a:off x="206017" y="1605457"/>
          <a:ext cx="8746254" cy="5146151"/>
        </p:xfrm>
        <a:graphic>
          <a:graphicData uri="http://schemas.openxmlformats.org/drawingml/2006/table">
            <a:tbl>
              <a:tblPr/>
              <a:tblGrid>
                <a:gridCol w="2566680">
                  <a:extLst>
                    <a:ext uri="{9D8B030D-6E8A-4147-A177-3AD203B41FA5}">
                      <a16:colId xmlns:a16="http://schemas.microsoft.com/office/drawing/2014/main" val="20000"/>
                    </a:ext>
                  </a:extLst>
                </a:gridCol>
                <a:gridCol w="6179574">
                  <a:extLst>
                    <a:ext uri="{9D8B030D-6E8A-4147-A177-3AD203B41FA5}">
                      <a16:colId xmlns:a16="http://schemas.microsoft.com/office/drawing/2014/main" val="20001"/>
                    </a:ext>
                  </a:extLst>
                </a:gridCol>
              </a:tblGrid>
              <a:tr h="341232">
                <a:tc>
                  <a:txBody>
                    <a:bodyPr/>
                    <a:lstStyle/>
                    <a:p>
                      <a:pPr marL="0" marR="0" lvl="0" indent="0" algn="ctr" defTabSz="914400" rtl="0" eaLnBrk="0" fontAlgn="base" latinLnBrk="0" hangingPunct="0">
                        <a:lnSpc>
                          <a:spcPct val="100000"/>
                        </a:lnSpc>
                        <a:spcBef>
                          <a:spcPts val="0"/>
                        </a:spcBef>
                        <a:spcAft>
                          <a:spcPct val="0"/>
                        </a:spcAft>
                        <a:buClr>
                          <a:schemeClr val="hlink"/>
                        </a:buClr>
                        <a:buSzPct val="90000"/>
                        <a:buFontTx/>
                        <a:buNone/>
                        <a:tabLst/>
                      </a:pPr>
                      <a:r>
                        <a:rPr kumimoji="0" lang="en-US" sz="2000" b="1" i="0" u="sng" strike="noStrike" cap="none" normalizeH="0" baseline="0" dirty="0">
                          <a:ln>
                            <a:noFill/>
                          </a:ln>
                          <a:solidFill>
                            <a:srgbClr val="000000"/>
                          </a:solidFill>
                          <a:effectLst/>
                          <a:latin typeface="Verdana" pitchFamily="34" charset="0"/>
                          <a:cs typeface="Arial" charset="0"/>
                        </a:rPr>
                        <a:t>Edition</a:t>
                      </a: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rgbClr val="E4CD9A"/>
                    </a:solidFill>
                  </a:tcPr>
                </a:tc>
                <a:tc>
                  <a:txBody>
                    <a:bodyPr/>
                    <a:lstStyle/>
                    <a:p>
                      <a:pPr marL="0" marR="0" lvl="0" indent="0" algn="ctr" defTabSz="914400" rtl="0" eaLnBrk="0" fontAlgn="base" latinLnBrk="0" hangingPunct="0">
                        <a:lnSpc>
                          <a:spcPct val="100000"/>
                        </a:lnSpc>
                        <a:spcBef>
                          <a:spcPts val="0"/>
                        </a:spcBef>
                        <a:spcAft>
                          <a:spcPct val="0"/>
                        </a:spcAft>
                        <a:buClr>
                          <a:schemeClr val="hlink"/>
                        </a:buClr>
                        <a:buSzPct val="90000"/>
                        <a:buFontTx/>
                        <a:buNone/>
                        <a:tabLst/>
                      </a:pPr>
                      <a:r>
                        <a:rPr kumimoji="0" lang="en-US" sz="2000" b="1" i="0" u="sng" strike="noStrike" cap="none" normalizeH="0" baseline="0" dirty="0">
                          <a:ln>
                            <a:noFill/>
                          </a:ln>
                          <a:solidFill>
                            <a:schemeClr val="tx1"/>
                          </a:solidFill>
                          <a:effectLst/>
                          <a:latin typeface="Verdana" pitchFamily="34" charset="0"/>
                          <a:cs typeface="Arial" charset="0"/>
                        </a:rPr>
                        <a:t>Specifications</a:t>
                      </a: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rgbClr val="E4CD9A"/>
                    </a:solidFill>
                  </a:tcPr>
                </a:tc>
                <a:extLst>
                  <a:ext uri="{0D108BD9-81ED-4DB2-BD59-A6C34878D82A}">
                    <a16:rowId xmlns:a16="http://schemas.microsoft.com/office/drawing/2014/main" val="10000"/>
                  </a:ext>
                </a:extLst>
              </a:tr>
              <a:tr h="826676">
                <a:tc>
                  <a:txBody>
                    <a:bodyPr/>
                    <a:lstStyle/>
                    <a:p>
                      <a:pPr marL="0" marR="0" lvl="0" indent="0" algn="l" defTabSz="914400" rtl="0" eaLnBrk="0" fontAlgn="base" latinLnBrk="0" hangingPunct="0">
                        <a:lnSpc>
                          <a:spcPct val="100000"/>
                        </a:lnSpc>
                        <a:spcBef>
                          <a:spcPts val="0"/>
                        </a:spcBef>
                        <a:spcAft>
                          <a:spcPct val="0"/>
                        </a:spcAft>
                        <a:buClr>
                          <a:schemeClr val="hlink"/>
                        </a:buClr>
                        <a:buSzPct val="90000"/>
                        <a:buFontTx/>
                        <a:buNone/>
                        <a:tabLst/>
                      </a:pPr>
                      <a:r>
                        <a:rPr kumimoji="0" lang="en-US" sz="2000" b="1" i="0" u="none" strike="noStrike" cap="none" normalizeH="0" baseline="0" dirty="0">
                          <a:ln>
                            <a:noFill/>
                          </a:ln>
                          <a:solidFill>
                            <a:srgbClr val="000000"/>
                          </a:solidFill>
                          <a:effectLst/>
                          <a:latin typeface="Arial" pitchFamily="34" charset="0"/>
                          <a:cs typeface="Arial" pitchFamily="34" charset="0"/>
                        </a:rPr>
                        <a:t>Windows Server 2008 Standard</a:t>
                      </a:r>
                      <a:endParaRPr kumimoji="0" lang="en-US" sz="2000" b="1"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rgbClr val="F2E7CE"/>
                    </a:solidFill>
                  </a:tcPr>
                </a:tc>
                <a:tc>
                  <a:txBody>
                    <a:bodyPr/>
                    <a:lstStyle/>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4 processeurs physiques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jusqu'à 32 Go (64 bits) 4Go (32bits) de RAM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1 Machine virtuelle + hôte</a:t>
                      </a:r>
                      <a:endParaRPr kumimoji="0" lang="en-US" sz="2000" b="1"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1024116">
                <a:tc>
                  <a:txBody>
                    <a:bodyPr/>
                    <a:lstStyle/>
                    <a:p>
                      <a:pPr marL="0" marR="0" lvl="0" indent="0" algn="l" defTabSz="914400" rtl="0" eaLnBrk="0" fontAlgn="base" latinLnBrk="0" hangingPunct="0">
                        <a:lnSpc>
                          <a:spcPct val="100000"/>
                        </a:lnSpc>
                        <a:spcBef>
                          <a:spcPts val="0"/>
                        </a:spcBef>
                        <a:spcAft>
                          <a:spcPct val="0"/>
                        </a:spcAft>
                        <a:buClr>
                          <a:schemeClr val="hlink"/>
                        </a:buClr>
                        <a:buSzPct val="90000"/>
                        <a:buFontTx/>
                        <a:buNone/>
                        <a:tabLst/>
                      </a:pPr>
                      <a:r>
                        <a:rPr kumimoji="0" lang="en-US" sz="2000" b="1" i="0" u="none" strike="noStrike" cap="none" normalizeH="0" baseline="0" dirty="0">
                          <a:ln>
                            <a:noFill/>
                          </a:ln>
                          <a:solidFill>
                            <a:srgbClr val="000000"/>
                          </a:solidFill>
                          <a:effectLst/>
                          <a:latin typeface="Arial" pitchFamily="34" charset="0"/>
                          <a:cs typeface="Arial" pitchFamily="34" charset="0"/>
                        </a:rPr>
                        <a:t>Windows Server 2008 Enterprise</a:t>
                      </a: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rgbClr val="F2E7CE"/>
                    </a:solidFill>
                  </a:tcPr>
                </a:tc>
                <a:tc>
                  <a:txBody>
                    <a:bodyPr/>
                    <a:lstStyle/>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8 processeurs physiques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jusqu'à 2 to (64 bits) 32 Go (32bits) de RAM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4 Machines virtuelles + hôte</a:t>
                      </a:r>
                      <a:endParaRPr kumimoji="0" lang="en-US" sz="2000" b="1"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1039091">
                <a:tc>
                  <a:txBody>
                    <a:bodyPr/>
                    <a:lstStyle/>
                    <a:p>
                      <a:pPr marL="0" marR="0" lvl="0" indent="0" algn="l" defTabSz="914400" rtl="0" eaLnBrk="0" fontAlgn="base" latinLnBrk="0" hangingPunct="0">
                        <a:lnSpc>
                          <a:spcPct val="100000"/>
                        </a:lnSpc>
                        <a:spcBef>
                          <a:spcPts val="0"/>
                        </a:spcBef>
                        <a:spcAft>
                          <a:spcPct val="0"/>
                        </a:spcAft>
                        <a:buClr>
                          <a:schemeClr val="hlink"/>
                        </a:buClr>
                        <a:buSzPct val="90000"/>
                        <a:buFontTx/>
                        <a:buNone/>
                        <a:tabLst/>
                      </a:pPr>
                      <a:r>
                        <a:rPr kumimoji="0" lang="en-US" sz="2000" b="1" i="0" u="none" strike="noStrike" cap="none" normalizeH="0" baseline="0" dirty="0">
                          <a:ln>
                            <a:noFill/>
                          </a:ln>
                          <a:solidFill>
                            <a:srgbClr val="000000"/>
                          </a:solidFill>
                          <a:effectLst/>
                          <a:latin typeface="Arial" pitchFamily="34" charset="0"/>
                          <a:cs typeface="Arial" pitchFamily="34" charset="0"/>
                        </a:rPr>
                        <a:t>Windows Server 2008 Datacenter</a:t>
                      </a: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rgbClr val="F2E7CE"/>
                    </a:solidFill>
                  </a:tcPr>
                </a:tc>
                <a:tc>
                  <a:txBody>
                    <a:bodyPr/>
                    <a:lstStyle/>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64 processeurs physiques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jusqu'à 2 to (64 bits) 64 Go (32bits) de RAM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Machines virtuelles illimitées</a:t>
                      </a:r>
                      <a:endParaRPr kumimoji="0" lang="en-US" sz="2000" b="1"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1680844">
                <a:tc>
                  <a:txBody>
                    <a:bodyPr/>
                    <a:lstStyle/>
                    <a:p>
                      <a:pPr marL="0" marR="0" lvl="0" indent="0" algn="l" defTabSz="914400" rtl="0" eaLnBrk="0" fontAlgn="base" latinLnBrk="0" hangingPunct="0">
                        <a:lnSpc>
                          <a:spcPct val="100000"/>
                        </a:lnSpc>
                        <a:spcBef>
                          <a:spcPts val="0"/>
                        </a:spcBef>
                        <a:spcAft>
                          <a:spcPct val="0"/>
                        </a:spcAft>
                        <a:buClr>
                          <a:schemeClr val="hlink"/>
                        </a:buClr>
                        <a:buSzPct val="90000"/>
                        <a:buFontTx/>
                        <a:buNone/>
                        <a:tabLst/>
                      </a:pPr>
                      <a:r>
                        <a:rPr kumimoji="0" lang="en-US" sz="2000" b="1" i="0" u="none" strike="noStrike" cap="none" normalizeH="0" baseline="0" dirty="0">
                          <a:ln>
                            <a:noFill/>
                          </a:ln>
                          <a:solidFill>
                            <a:srgbClr val="000000"/>
                          </a:solidFill>
                          <a:effectLst/>
                          <a:latin typeface="Arial" pitchFamily="34" charset="0"/>
                          <a:cs typeface="Arial" pitchFamily="34" charset="0"/>
                        </a:rPr>
                        <a:t>Windows Server 2008 </a:t>
                      </a:r>
                      <a:r>
                        <a:rPr kumimoji="0" lang="en-US" sz="2000" b="1" i="0" u="none" strike="noStrike" cap="none" normalizeH="0" baseline="0">
                          <a:ln>
                            <a:noFill/>
                          </a:ln>
                          <a:solidFill>
                            <a:srgbClr val="000000"/>
                          </a:solidFill>
                          <a:effectLst/>
                          <a:latin typeface="Arial" pitchFamily="34" charset="0"/>
                          <a:cs typeface="Arial" pitchFamily="34" charset="0"/>
                        </a:rPr>
                        <a:t>Web </a:t>
                      </a:r>
                      <a:endParaRPr kumimoji="0" lang="en-US" sz="2000" b="1" i="0" u="none" strike="noStrike" cap="none" normalizeH="0" baseline="0" dirty="0">
                        <a:ln>
                          <a:noFill/>
                        </a:ln>
                        <a:solidFill>
                          <a:srgbClr val="000000"/>
                        </a:solidFill>
                        <a:effectLst/>
                        <a:latin typeface="Arial" pitchFamily="34" charset="0"/>
                        <a:cs typeface="Arial" pitchFamily="34" charset="0"/>
                      </a:endParaRP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rgbClr val="F2E7CE"/>
                    </a:solidFill>
                  </a:tcPr>
                </a:tc>
                <a:tc>
                  <a:txBody>
                    <a:bodyPr/>
                    <a:lstStyle/>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2 processeurs physiques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jusqu'à 2 Go de RAM </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r>
                        <a:rPr kumimoji="0" lang="fr-FR" sz="2000" b="1" i="0" u="none" strike="noStrike" cap="none" normalizeH="0" baseline="0" dirty="0">
                          <a:ln>
                            <a:noFill/>
                          </a:ln>
                          <a:solidFill>
                            <a:schemeClr val="tx1"/>
                          </a:solidFill>
                          <a:effectLst/>
                          <a:latin typeface="Arial" pitchFamily="34" charset="0"/>
                          <a:cs typeface="Arial" pitchFamily="34" charset="0"/>
                        </a:rPr>
                        <a:t> Ne peut pas contenir le rôle AD</a:t>
                      </a:r>
                    </a:p>
                    <a:p>
                      <a:pPr marL="115888" marR="0" lvl="0" indent="-115888" algn="l" defTabSz="914400" rtl="0" eaLnBrk="0" fontAlgn="base" latinLnBrk="0" hangingPunct="0">
                        <a:lnSpc>
                          <a:spcPct val="100000"/>
                        </a:lnSpc>
                        <a:spcBef>
                          <a:spcPts val="0"/>
                        </a:spcBef>
                        <a:spcAft>
                          <a:spcPct val="0"/>
                        </a:spcAft>
                        <a:buClr>
                          <a:schemeClr val="hlink"/>
                        </a:buClr>
                        <a:buSzPct val="90000"/>
                        <a:buFontTx/>
                        <a:buChar char="•"/>
                        <a:tabLst/>
                      </a:pPr>
                      <a:endParaRPr kumimoji="0" lang="en-US" sz="2000" b="1" i="0" u="none" strike="noStrike" cap="none" normalizeH="0" baseline="0" dirty="0">
                        <a:ln>
                          <a:noFill/>
                        </a:ln>
                        <a:solidFill>
                          <a:schemeClr val="tx1"/>
                        </a:solidFill>
                        <a:effectLst/>
                        <a:latin typeface="Arial" pitchFamily="34" charset="0"/>
                        <a:cs typeface="Arial" pitchFamily="34" charset="0"/>
                      </a:endParaRPr>
                    </a:p>
                  </a:txBody>
                  <a:tcPr marT="45725" marB="45725" horzOverflow="overflow">
                    <a:lnL w="12700" cap="flat" cmpd="sng" algn="ctr">
                      <a:solidFill>
                        <a:srgbClr val="E4CD9A"/>
                      </a:solidFill>
                      <a:prstDash val="solid"/>
                      <a:round/>
                      <a:headEnd type="none" w="med" len="med"/>
                      <a:tailEnd type="none" w="med" len="med"/>
                    </a:lnL>
                    <a:lnR w="12700" cap="flat" cmpd="sng" algn="ctr">
                      <a:solidFill>
                        <a:srgbClr val="E4CD9A"/>
                      </a:solidFill>
                      <a:prstDash val="solid"/>
                      <a:round/>
                      <a:headEnd type="none" w="med" len="med"/>
                      <a:tailEnd type="none" w="med" len="med"/>
                    </a:lnR>
                    <a:lnT w="12700" cap="flat" cmpd="sng" algn="ctr">
                      <a:solidFill>
                        <a:srgbClr val="E4CD9A"/>
                      </a:solidFill>
                      <a:prstDash val="solid"/>
                      <a:round/>
                      <a:headEnd type="none" w="med" len="med"/>
                      <a:tailEnd type="none" w="med" len="med"/>
                    </a:lnT>
                    <a:lnB w="12700" cap="flat" cmpd="sng" algn="ctr">
                      <a:solidFill>
                        <a:srgbClr val="E4CD9A"/>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Description d'un service d'annuaire</a:t>
            </a:r>
            <a:endParaRPr lang="en-US" dirty="0">
              <a:solidFill>
                <a:srgbClr val="C00000"/>
              </a:solidFill>
              <a:ea typeface="SimSun" pitchFamily="2" charset="-122"/>
              <a:cs typeface="Times New Roman" pitchFamily="18" charset="0"/>
            </a:endParaRPr>
          </a:p>
        </p:txBody>
      </p:sp>
      <p:sp>
        <p:nvSpPr>
          <p:cNvPr id="644101" name="Rectangle-5"/>
          <p:cNvSpPr>
            <a:spLocks noGrp="1" noChangeArrowheads="1"/>
          </p:cNvSpPr>
          <p:nvPr>
            <p:ph sz="quarter" idx="1"/>
          </p:nvPr>
        </p:nvSpPr>
        <p:spPr>
          <a:xfrm>
            <a:off x="203200" y="1603375"/>
            <a:ext cx="6821714" cy="4579711"/>
          </a:xfrm>
          <a:noFill/>
          <a:ln/>
        </p:spPr>
        <p:txBody>
          <a:bodyPr>
            <a:normAutofit/>
          </a:bodyPr>
          <a:lstStyle/>
          <a:p>
            <a:pPr>
              <a:buClrTx/>
              <a:buFont typeface="Wingdings" pitchFamily="2" charset="2"/>
              <a:buChar char="q"/>
            </a:pPr>
            <a:r>
              <a:rPr lang="fr-FR" altLang="zh-CN" dirty="0">
                <a:solidFill>
                  <a:srgbClr val="000000"/>
                </a:solidFill>
                <a:ea typeface="SimSun" pitchFamily="2" charset="-122"/>
                <a:cs typeface="Times New Roman" pitchFamily="18" charset="0"/>
              </a:rPr>
              <a:t>Il identifie les ressources</a:t>
            </a:r>
            <a:r>
              <a:rPr lang="en-IE" altLang="zh-CN" dirty="0">
                <a:solidFill>
                  <a:srgbClr val="000000"/>
                </a:solidFill>
                <a:ea typeface="SimSun" pitchFamily="2" charset="-122"/>
                <a:cs typeface="Times New Roman" pitchFamily="18" charset="0"/>
              </a:rPr>
              <a:t> </a:t>
            </a:r>
            <a:endParaRPr lang="en-US" dirty="0">
              <a:ea typeface="SimSun" pitchFamily="2" charset="-122"/>
              <a:cs typeface="Times New Roman" pitchFamily="18" charset="0"/>
            </a:endParaRPr>
          </a:p>
          <a:p>
            <a:pPr>
              <a:buClrTx/>
              <a:buFont typeface="Wingdings" pitchFamily="2" charset="2"/>
              <a:buChar char="q"/>
            </a:pPr>
            <a:r>
              <a:rPr lang="fr-FR" altLang="zh-CN" dirty="0">
                <a:solidFill>
                  <a:srgbClr val="000000"/>
                </a:solidFill>
                <a:ea typeface="SimSun" pitchFamily="2" charset="-122"/>
                <a:cs typeface="Times New Roman" pitchFamily="18" charset="0"/>
              </a:rPr>
              <a:t>Il fournit un cadre cohérent pour :</a:t>
            </a:r>
            <a:r>
              <a:rPr lang="en-IE" altLang="zh-CN" sz="2100" dirty="0">
                <a:solidFill>
                  <a:srgbClr val="000000"/>
                </a:solidFill>
                <a:ea typeface="SimSun" pitchFamily="2" charset="-122"/>
                <a:cs typeface="Times New Roman" pitchFamily="18" charset="0"/>
              </a:rPr>
              <a:t> </a:t>
            </a:r>
            <a:endParaRPr lang="en-US" sz="2100" dirty="0">
              <a:ea typeface="SimSun" pitchFamily="2" charset="-122"/>
              <a:cs typeface="Times New Roman" pitchFamily="18" charset="0"/>
            </a:endParaRPr>
          </a:p>
          <a:p>
            <a:pPr lvl="1">
              <a:lnSpc>
                <a:spcPct val="85000"/>
              </a:lnSpc>
            </a:pPr>
            <a:r>
              <a:rPr lang="fr-FR" altLang="zh-CN" sz="2400" b="1" dirty="0">
                <a:solidFill>
                  <a:srgbClr val="C00000"/>
                </a:solidFill>
                <a:ea typeface="SimSun" pitchFamily="2" charset="-122"/>
                <a:cs typeface="Times New Roman" pitchFamily="18" charset="0"/>
              </a:rPr>
              <a:t>l'attribution de noms </a:t>
            </a:r>
            <a:r>
              <a:rPr lang="en-IE" altLang="zh-CN" sz="2400" b="1" dirty="0">
                <a:solidFill>
                  <a:srgbClr val="C00000"/>
                </a:solidFill>
                <a:ea typeface="SimSun" pitchFamily="2" charset="-122"/>
                <a:cs typeface="Times New Roman" pitchFamily="18" charset="0"/>
              </a:rPr>
              <a:t> </a:t>
            </a:r>
            <a:endParaRPr lang="en-US" sz="2400" b="1" dirty="0">
              <a:solidFill>
                <a:srgbClr val="C00000"/>
              </a:solidFill>
              <a:ea typeface="SimSun" pitchFamily="2" charset="-122"/>
              <a:cs typeface="Times New Roman" pitchFamily="18" charset="0"/>
            </a:endParaRPr>
          </a:p>
          <a:p>
            <a:pPr lvl="1">
              <a:lnSpc>
                <a:spcPct val="85000"/>
              </a:lnSpc>
            </a:pPr>
            <a:r>
              <a:rPr lang="fr-FR" altLang="zh-CN" sz="2400" b="1" dirty="0">
                <a:solidFill>
                  <a:srgbClr val="C00000"/>
                </a:solidFill>
                <a:ea typeface="SimSun" pitchFamily="2" charset="-122"/>
                <a:cs typeface="Times New Roman" pitchFamily="18" charset="0"/>
              </a:rPr>
              <a:t>la description </a:t>
            </a:r>
            <a:r>
              <a:rPr lang="en-IE" altLang="zh-CN" sz="2400" b="1" dirty="0">
                <a:solidFill>
                  <a:srgbClr val="C00000"/>
                </a:solidFill>
                <a:ea typeface="SimSun" pitchFamily="2" charset="-122"/>
                <a:cs typeface="Times New Roman" pitchFamily="18" charset="0"/>
              </a:rPr>
              <a:t> </a:t>
            </a:r>
            <a:endParaRPr lang="en-US" sz="2400" b="1" dirty="0">
              <a:solidFill>
                <a:srgbClr val="C00000"/>
              </a:solidFill>
              <a:ea typeface="SimSun" pitchFamily="2" charset="-122"/>
              <a:cs typeface="Times New Roman" pitchFamily="18" charset="0"/>
            </a:endParaRPr>
          </a:p>
          <a:p>
            <a:pPr lvl="1">
              <a:lnSpc>
                <a:spcPct val="85000"/>
              </a:lnSpc>
            </a:pPr>
            <a:r>
              <a:rPr lang="fr-FR" altLang="zh-CN" sz="2400" b="1" dirty="0">
                <a:solidFill>
                  <a:srgbClr val="C00000"/>
                </a:solidFill>
                <a:ea typeface="SimSun" pitchFamily="2" charset="-122"/>
                <a:cs typeface="Times New Roman" pitchFamily="18" charset="0"/>
              </a:rPr>
              <a:t>la localisation </a:t>
            </a:r>
            <a:r>
              <a:rPr lang="en-IE" altLang="zh-CN" sz="2400" b="1" dirty="0">
                <a:solidFill>
                  <a:srgbClr val="C00000"/>
                </a:solidFill>
                <a:ea typeface="SimSun" pitchFamily="2" charset="-122"/>
                <a:cs typeface="Times New Roman" pitchFamily="18" charset="0"/>
              </a:rPr>
              <a:t> </a:t>
            </a:r>
            <a:endParaRPr lang="en-US" sz="2400" b="1" dirty="0">
              <a:solidFill>
                <a:srgbClr val="C00000"/>
              </a:solidFill>
              <a:ea typeface="SimSun" pitchFamily="2" charset="-122"/>
              <a:cs typeface="Times New Roman" pitchFamily="18" charset="0"/>
            </a:endParaRPr>
          </a:p>
          <a:p>
            <a:pPr lvl="1">
              <a:lnSpc>
                <a:spcPct val="85000"/>
              </a:lnSpc>
            </a:pPr>
            <a:r>
              <a:rPr lang="fr-FR" altLang="zh-CN" sz="2400" b="1" dirty="0">
                <a:solidFill>
                  <a:srgbClr val="C00000"/>
                </a:solidFill>
                <a:ea typeface="SimSun" pitchFamily="2" charset="-122"/>
                <a:cs typeface="Times New Roman" pitchFamily="18" charset="0"/>
              </a:rPr>
              <a:t>les accès </a:t>
            </a:r>
            <a:r>
              <a:rPr lang="en-IE" altLang="zh-CN" sz="2400" b="1" dirty="0">
                <a:solidFill>
                  <a:srgbClr val="C00000"/>
                </a:solidFill>
                <a:ea typeface="SimSun" pitchFamily="2" charset="-122"/>
                <a:cs typeface="Times New Roman" pitchFamily="18" charset="0"/>
              </a:rPr>
              <a:t> </a:t>
            </a:r>
            <a:endParaRPr lang="en-US" sz="2400" b="1" dirty="0">
              <a:solidFill>
                <a:srgbClr val="C00000"/>
              </a:solidFill>
              <a:ea typeface="SimSun" pitchFamily="2" charset="-122"/>
              <a:cs typeface="Times New Roman" pitchFamily="18" charset="0"/>
            </a:endParaRPr>
          </a:p>
          <a:p>
            <a:pPr lvl="1">
              <a:lnSpc>
                <a:spcPct val="85000"/>
              </a:lnSpc>
            </a:pPr>
            <a:r>
              <a:rPr lang="fr-FR" altLang="zh-CN" sz="2400" b="1" dirty="0">
                <a:solidFill>
                  <a:srgbClr val="C00000"/>
                </a:solidFill>
                <a:ea typeface="SimSun" pitchFamily="2" charset="-122"/>
                <a:cs typeface="Times New Roman" pitchFamily="18" charset="0"/>
              </a:rPr>
              <a:t>l'administration </a:t>
            </a:r>
            <a:r>
              <a:rPr lang="en-IE" altLang="zh-CN" sz="2400" b="1" dirty="0">
                <a:solidFill>
                  <a:srgbClr val="C00000"/>
                </a:solidFill>
                <a:ea typeface="SimSun" pitchFamily="2" charset="-122"/>
                <a:cs typeface="Times New Roman" pitchFamily="18" charset="0"/>
              </a:rPr>
              <a:t> </a:t>
            </a:r>
            <a:endParaRPr lang="en-US" sz="2400" b="1" dirty="0">
              <a:solidFill>
                <a:srgbClr val="C00000"/>
              </a:solidFill>
              <a:ea typeface="SimSun" pitchFamily="2" charset="-122"/>
              <a:cs typeface="Times New Roman" pitchFamily="18" charset="0"/>
            </a:endParaRPr>
          </a:p>
          <a:p>
            <a:pPr lvl="1">
              <a:lnSpc>
                <a:spcPct val="85000"/>
              </a:lnSpc>
            </a:pPr>
            <a:r>
              <a:rPr lang="fr-FR" altLang="zh-CN" sz="2400" b="1" dirty="0">
                <a:solidFill>
                  <a:srgbClr val="C00000"/>
                </a:solidFill>
                <a:ea typeface="SimSun" pitchFamily="2" charset="-122"/>
                <a:cs typeface="Times New Roman" pitchFamily="18" charset="0"/>
              </a:rPr>
              <a:t>la sécurité</a:t>
            </a:r>
            <a:r>
              <a:rPr lang="en-IE" altLang="zh-CN" sz="2400" b="1" dirty="0">
                <a:solidFill>
                  <a:srgbClr val="C00000"/>
                </a:solidFill>
                <a:ea typeface="SimSun" pitchFamily="2" charset="-122"/>
                <a:cs typeface="Times New Roman" pitchFamily="18" charset="0"/>
              </a:rPr>
              <a:t> </a:t>
            </a:r>
            <a:endParaRPr lang="en-US" sz="2400" b="1" dirty="0">
              <a:solidFill>
                <a:srgbClr val="C00000"/>
              </a:solidFill>
              <a:ea typeface="SimSun" pitchFamily="2" charset="-122"/>
              <a:cs typeface="Times New Roman" pitchFamily="18" charset="0"/>
            </a:endParaRPr>
          </a:p>
        </p:txBody>
      </p:sp>
      <p:pic>
        <p:nvPicPr>
          <p:cNvPr id="644102" name="Picture-6" descr="ActiveDirectory01"/>
          <p:cNvPicPr>
            <a:picLocks noChangeAspect="1" noChangeArrowheads="1"/>
          </p:cNvPicPr>
          <p:nvPr/>
        </p:nvPicPr>
        <p:blipFill>
          <a:blip r:embed="rId3"/>
          <a:srcRect/>
          <a:stretch>
            <a:fillRect/>
          </a:stretch>
        </p:blipFill>
        <p:spPr bwMode="auto">
          <a:xfrm>
            <a:off x="5883226" y="2854036"/>
            <a:ext cx="3026009" cy="1982397"/>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44101">
                                            <p:txEl>
                                              <p:pRg st="0" end="0"/>
                                            </p:txEl>
                                          </p:spTgt>
                                        </p:tgtEl>
                                        <p:attrNameLst>
                                          <p:attrName>style.visibility</p:attrName>
                                        </p:attrNameLst>
                                      </p:cBhvr>
                                      <p:to>
                                        <p:strVal val="visible"/>
                                      </p:to>
                                    </p:set>
                                    <p:animEffect transition="in" filter="checkerboard(across)">
                                      <p:cBhvr>
                                        <p:cTn id="7" dur="2000"/>
                                        <p:tgtEl>
                                          <p:spTgt spid="644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44101">
                                            <p:txEl>
                                              <p:pRg st="1" end="1"/>
                                            </p:txEl>
                                          </p:spTgt>
                                        </p:tgtEl>
                                        <p:attrNameLst>
                                          <p:attrName>style.visibility</p:attrName>
                                        </p:attrNameLst>
                                      </p:cBhvr>
                                      <p:to>
                                        <p:strVal val="visible"/>
                                      </p:to>
                                    </p:set>
                                    <p:animEffect transition="in" filter="checkerboard(across)">
                                      <p:cBhvr>
                                        <p:cTn id="12" dur="2000"/>
                                        <p:tgtEl>
                                          <p:spTgt spid="644101">
                                            <p:txEl>
                                              <p:pRg st="1" end="1"/>
                                            </p:txEl>
                                          </p:spTgt>
                                        </p:tgtEl>
                                      </p:cBhvr>
                                    </p:animEffect>
                                  </p:childTnLst>
                                </p:cTn>
                              </p:par>
                            </p:childTnLst>
                          </p:cTn>
                        </p:par>
                        <p:par>
                          <p:cTn id="13" fill="hold">
                            <p:stCondLst>
                              <p:cond delay="2000"/>
                            </p:stCondLst>
                            <p:childTnLst>
                              <p:par>
                                <p:cTn id="14" presetID="5" presetClass="entr" presetSubtype="10" fill="hold" nodeType="afterEffect">
                                  <p:stCondLst>
                                    <p:cond delay="0"/>
                                  </p:stCondLst>
                                  <p:childTnLst>
                                    <p:set>
                                      <p:cBhvr>
                                        <p:cTn id="15" dur="1" fill="hold">
                                          <p:stCondLst>
                                            <p:cond delay="0"/>
                                          </p:stCondLst>
                                        </p:cTn>
                                        <p:tgtEl>
                                          <p:spTgt spid="644101">
                                            <p:txEl>
                                              <p:pRg st="2" end="2"/>
                                            </p:txEl>
                                          </p:spTgt>
                                        </p:tgtEl>
                                        <p:attrNameLst>
                                          <p:attrName>style.visibility</p:attrName>
                                        </p:attrNameLst>
                                      </p:cBhvr>
                                      <p:to>
                                        <p:strVal val="visible"/>
                                      </p:to>
                                    </p:set>
                                    <p:animEffect transition="in" filter="checkerboard(across)">
                                      <p:cBhvr>
                                        <p:cTn id="16" dur="2000"/>
                                        <p:tgtEl>
                                          <p:spTgt spid="644101">
                                            <p:txEl>
                                              <p:pRg st="2" end="2"/>
                                            </p:txEl>
                                          </p:spTgt>
                                        </p:tgtEl>
                                      </p:cBhvr>
                                    </p:animEffect>
                                  </p:childTnLst>
                                </p:cTn>
                              </p:par>
                            </p:childTnLst>
                          </p:cTn>
                        </p:par>
                        <p:par>
                          <p:cTn id="17" fill="hold">
                            <p:stCondLst>
                              <p:cond delay="4000"/>
                            </p:stCondLst>
                            <p:childTnLst>
                              <p:par>
                                <p:cTn id="18" presetID="5" presetClass="entr" presetSubtype="10" fill="hold" nodeType="afterEffect">
                                  <p:stCondLst>
                                    <p:cond delay="0"/>
                                  </p:stCondLst>
                                  <p:childTnLst>
                                    <p:set>
                                      <p:cBhvr>
                                        <p:cTn id="19" dur="1" fill="hold">
                                          <p:stCondLst>
                                            <p:cond delay="0"/>
                                          </p:stCondLst>
                                        </p:cTn>
                                        <p:tgtEl>
                                          <p:spTgt spid="644101">
                                            <p:txEl>
                                              <p:pRg st="3" end="3"/>
                                            </p:txEl>
                                          </p:spTgt>
                                        </p:tgtEl>
                                        <p:attrNameLst>
                                          <p:attrName>style.visibility</p:attrName>
                                        </p:attrNameLst>
                                      </p:cBhvr>
                                      <p:to>
                                        <p:strVal val="visible"/>
                                      </p:to>
                                    </p:set>
                                    <p:animEffect transition="in" filter="checkerboard(across)">
                                      <p:cBhvr>
                                        <p:cTn id="20" dur="2000"/>
                                        <p:tgtEl>
                                          <p:spTgt spid="644101">
                                            <p:txEl>
                                              <p:pRg st="3" end="3"/>
                                            </p:txEl>
                                          </p:spTgt>
                                        </p:tgtEl>
                                      </p:cBhvr>
                                    </p:animEffect>
                                  </p:childTnLst>
                                </p:cTn>
                              </p:par>
                            </p:childTnLst>
                          </p:cTn>
                        </p:par>
                        <p:par>
                          <p:cTn id="21" fill="hold">
                            <p:stCondLst>
                              <p:cond delay="6000"/>
                            </p:stCondLst>
                            <p:childTnLst>
                              <p:par>
                                <p:cTn id="22" presetID="5" presetClass="entr" presetSubtype="10" fill="hold" nodeType="afterEffect">
                                  <p:stCondLst>
                                    <p:cond delay="0"/>
                                  </p:stCondLst>
                                  <p:childTnLst>
                                    <p:set>
                                      <p:cBhvr>
                                        <p:cTn id="23" dur="1" fill="hold">
                                          <p:stCondLst>
                                            <p:cond delay="0"/>
                                          </p:stCondLst>
                                        </p:cTn>
                                        <p:tgtEl>
                                          <p:spTgt spid="644101">
                                            <p:txEl>
                                              <p:pRg st="4" end="4"/>
                                            </p:txEl>
                                          </p:spTgt>
                                        </p:tgtEl>
                                        <p:attrNameLst>
                                          <p:attrName>style.visibility</p:attrName>
                                        </p:attrNameLst>
                                      </p:cBhvr>
                                      <p:to>
                                        <p:strVal val="visible"/>
                                      </p:to>
                                    </p:set>
                                    <p:animEffect transition="in" filter="checkerboard(across)">
                                      <p:cBhvr>
                                        <p:cTn id="24" dur="2000"/>
                                        <p:tgtEl>
                                          <p:spTgt spid="644101">
                                            <p:txEl>
                                              <p:pRg st="4" end="4"/>
                                            </p:txEl>
                                          </p:spTgt>
                                        </p:tgtEl>
                                      </p:cBhvr>
                                    </p:animEffect>
                                  </p:childTnLst>
                                </p:cTn>
                              </p:par>
                            </p:childTnLst>
                          </p:cTn>
                        </p:par>
                        <p:par>
                          <p:cTn id="25" fill="hold">
                            <p:stCondLst>
                              <p:cond delay="8000"/>
                            </p:stCondLst>
                            <p:childTnLst>
                              <p:par>
                                <p:cTn id="26" presetID="5" presetClass="entr" presetSubtype="10" fill="hold" nodeType="afterEffect">
                                  <p:stCondLst>
                                    <p:cond delay="0"/>
                                  </p:stCondLst>
                                  <p:childTnLst>
                                    <p:set>
                                      <p:cBhvr>
                                        <p:cTn id="27" dur="1" fill="hold">
                                          <p:stCondLst>
                                            <p:cond delay="0"/>
                                          </p:stCondLst>
                                        </p:cTn>
                                        <p:tgtEl>
                                          <p:spTgt spid="644101">
                                            <p:txEl>
                                              <p:pRg st="5" end="5"/>
                                            </p:txEl>
                                          </p:spTgt>
                                        </p:tgtEl>
                                        <p:attrNameLst>
                                          <p:attrName>style.visibility</p:attrName>
                                        </p:attrNameLst>
                                      </p:cBhvr>
                                      <p:to>
                                        <p:strVal val="visible"/>
                                      </p:to>
                                    </p:set>
                                    <p:animEffect transition="in" filter="checkerboard(across)">
                                      <p:cBhvr>
                                        <p:cTn id="28" dur="2000"/>
                                        <p:tgtEl>
                                          <p:spTgt spid="644101">
                                            <p:txEl>
                                              <p:pRg st="5" end="5"/>
                                            </p:txEl>
                                          </p:spTgt>
                                        </p:tgtEl>
                                      </p:cBhvr>
                                    </p:animEffect>
                                  </p:childTnLst>
                                </p:cTn>
                              </p:par>
                            </p:childTnLst>
                          </p:cTn>
                        </p:par>
                        <p:par>
                          <p:cTn id="29" fill="hold">
                            <p:stCondLst>
                              <p:cond delay="10000"/>
                            </p:stCondLst>
                            <p:childTnLst>
                              <p:par>
                                <p:cTn id="30" presetID="5" presetClass="entr" presetSubtype="10" fill="hold" nodeType="afterEffect">
                                  <p:stCondLst>
                                    <p:cond delay="0"/>
                                  </p:stCondLst>
                                  <p:childTnLst>
                                    <p:set>
                                      <p:cBhvr>
                                        <p:cTn id="31" dur="1" fill="hold">
                                          <p:stCondLst>
                                            <p:cond delay="0"/>
                                          </p:stCondLst>
                                        </p:cTn>
                                        <p:tgtEl>
                                          <p:spTgt spid="644101">
                                            <p:txEl>
                                              <p:pRg st="6" end="6"/>
                                            </p:txEl>
                                          </p:spTgt>
                                        </p:tgtEl>
                                        <p:attrNameLst>
                                          <p:attrName>style.visibility</p:attrName>
                                        </p:attrNameLst>
                                      </p:cBhvr>
                                      <p:to>
                                        <p:strVal val="visible"/>
                                      </p:to>
                                    </p:set>
                                    <p:animEffect transition="in" filter="checkerboard(across)">
                                      <p:cBhvr>
                                        <p:cTn id="32" dur="2000"/>
                                        <p:tgtEl>
                                          <p:spTgt spid="644101">
                                            <p:txEl>
                                              <p:pRg st="6" end="6"/>
                                            </p:txEl>
                                          </p:spTgt>
                                        </p:tgtEl>
                                      </p:cBhvr>
                                    </p:animEffect>
                                  </p:childTnLst>
                                </p:cTn>
                              </p:par>
                            </p:childTnLst>
                          </p:cTn>
                        </p:par>
                        <p:par>
                          <p:cTn id="33" fill="hold">
                            <p:stCondLst>
                              <p:cond delay="12000"/>
                            </p:stCondLst>
                            <p:childTnLst>
                              <p:par>
                                <p:cTn id="34" presetID="5" presetClass="entr" presetSubtype="10" fill="hold" nodeType="afterEffect">
                                  <p:stCondLst>
                                    <p:cond delay="0"/>
                                  </p:stCondLst>
                                  <p:childTnLst>
                                    <p:set>
                                      <p:cBhvr>
                                        <p:cTn id="35" dur="1" fill="hold">
                                          <p:stCondLst>
                                            <p:cond delay="0"/>
                                          </p:stCondLst>
                                        </p:cTn>
                                        <p:tgtEl>
                                          <p:spTgt spid="644101">
                                            <p:txEl>
                                              <p:pRg st="7" end="7"/>
                                            </p:txEl>
                                          </p:spTgt>
                                        </p:tgtEl>
                                        <p:attrNameLst>
                                          <p:attrName>style.visibility</p:attrName>
                                        </p:attrNameLst>
                                      </p:cBhvr>
                                      <p:to>
                                        <p:strVal val="visible"/>
                                      </p:to>
                                    </p:set>
                                    <p:animEffect transition="in" filter="checkerboard(across)">
                                      <p:cBhvr>
                                        <p:cTn id="36" dur="2000"/>
                                        <p:tgtEl>
                                          <p:spTgt spid="64410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Description d'un service d'annuaire</a:t>
            </a:r>
            <a:endParaRPr lang="en-US" dirty="0">
              <a:solidFill>
                <a:srgbClr val="C00000"/>
              </a:solidFill>
              <a:ea typeface="SimSun" pitchFamily="2" charset="-122"/>
              <a:cs typeface="Times New Roman" pitchFamily="18" charset="0"/>
            </a:endParaRPr>
          </a:p>
        </p:txBody>
      </p:sp>
      <p:sp>
        <p:nvSpPr>
          <p:cNvPr id="644109" name="AutoShape-13"/>
          <p:cNvSpPr>
            <a:spLocks noChangeArrowheads="1"/>
          </p:cNvSpPr>
          <p:nvPr/>
        </p:nvSpPr>
        <p:spPr bwMode="auto">
          <a:xfrm>
            <a:off x="173887" y="1277128"/>
            <a:ext cx="8795942" cy="5522816"/>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wrap="none"/>
          <a:lstStyle/>
          <a:p>
            <a:pPr algn="l"/>
            <a:r>
              <a:rPr lang="fr-FR" altLang="zh-CN" sz="2600" dirty="0">
                <a:solidFill>
                  <a:srgbClr val="000000"/>
                </a:solidFill>
                <a:ea typeface="SimSun" pitchFamily="2" charset="-122"/>
                <a:cs typeface="Times New Roman" pitchFamily="18" charset="0"/>
              </a:rPr>
              <a:t>Avantages d'Active Directory</a:t>
            </a:r>
            <a:r>
              <a:rPr lang="en-IE" altLang="zh-CN" sz="2600" dirty="0">
                <a:solidFill>
                  <a:srgbClr val="000000"/>
                </a:solidFill>
                <a:ea typeface="SimSun" pitchFamily="2" charset="-122"/>
                <a:cs typeface="Times New Roman" pitchFamily="18" charset="0"/>
              </a:rPr>
              <a:t> </a:t>
            </a:r>
            <a:endParaRPr lang="en-US" sz="2600" dirty="0">
              <a:solidFill>
                <a:srgbClr val="000000"/>
              </a:solidFill>
              <a:ea typeface="SimSun" pitchFamily="2" charset="-122"/>
              <a:cs typeface="Times New Roman" pitchFamily="18" charset="0"/>
            </a:endParaRPr>
          </a:p>
        </p:txBody>
      </p:sp>
      <p:sp>
        <p:nvSpPr>
          <p:cNvPr id="644105" name="AutoShape-9"/>
          <p:cNvSpPr>
            <a:spLocks noChangeArrowheads="1"/>
          </p:cNvSpPr>
          <p:nvPr/>
        </p:nvSpPr>
        <p:spPr bwMode="auto">
          <a:xfrm>
            <a:off x="280518" y="1892851"/>
            <a:ext cx="8457082" cy="1432186"/>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spcBef>
                <a:spcPct val="40000"/>
              </a:spcBef>
              <a:buSzPct val="80000"/>
              <a:buFontTx/>
              <a:buBlip>
                <a:blip r:embed="rId3"/>
              </a:buBlip>
            </a:pPr>
            <a:r>
              <a:rPr lang="fr-FR" altLang="zh-CN" sz="2400" u="sng" dirty="0">
                <a:solidFill>
                  <a:srgbClr val="000000"/>
                </a:solidFill>
                <a:ea typeface="SimSun" pitchFamily="2" charset="-122"/>
                <a:cs typeface="Arial Narrow" pitchFamily="34" charset="0"/>
              </a:rPr>
              <a:t>Intégration DNS:  </a:t>
            </a:r>
          </a:p>
          <a:p>
            <a:pPr marL="1139825" lvl="2" indent="-225425" algn="l">
              <a:spcBef>
                <a:spcPts val="0"/>
              </a:spcBef>
              <a:buSzPct val="80000"/>
              <a:buFont typeface="Wingdings" pitchFamily="2" charset="2"/>
              <a:buChar char="Ø"/>
            </a:pPr>
            <a:r>
              <a:rPr lang="en-IE" altLang="zh-CN" sz="2400" dirty="0">
                <a:solidFill>
                  <a:srgbClr val="000000"/>
                </a:solidFill>
                <a:ea typeface="SimSun" pitchFamily="2" charset="-122"/>
                <a:cs typeface="Arial Narrow" pitchFamily="34" charset="0"/>
              </a:rPr>
              <a:t> </a:t>
            </a:r>
            <a:r>
              <a:rPr lang="en-IE" altLang="zh-CN" sz="2400" dirty="0" err="1">
                <a:solidFill>
                  <a:srgbClr val="000000"/>
                </a:solidFill>
                <a:ea typeface="SimSun" pitchFamily="2" charset="-122"/>
                <a:cs typeface="Arial Narrow" pitchFamily="34" charset="0"/>
              </a:rPr>
              <a:t>Utiliser</a:t>
            </a:r>
            <a:r>
              <a:rPr lang="en-IE" altLang="zh-CN" sz="2400" dirty="0">
                <a:solidFill>
                  <a:srgbClr val="000000"/>
                </a:solidFill>
                <a:ea typeface="SimSun" pitchFamily="2" charset="-122"/>
                <a:cs typeface="Arial Narrow" pitchFamily="34" charset="0"/>
              </a:rPr>
              <a:t> les conventions </a:t>
            </a:r>
            <a:r>
              <a:rPr lang="en-IE" altLang="zh-CN" sz="2400" dirty="0" err="1">
                <a:solidFill>
                  <a:srgbClr val="000000"/>
                </a:solidFill>
                <a:ea typeface="SimSun" pitchFamily="2" charset="-122"/>
                <a:cs typeface="Arial Narrow" pitchFamily="34" charset="0"/>
              </a:rPr>
              <a:t>d’attribution</a:t>
            </a:r>
            <a:r>
              <a:rPr lang="en-IE" altLang="zh-CN" sz="2400" dirty="0">
                <a:solidFill>
                  <a:srgbClr val="000000"/>
                </a:solidFill>
                <a:ea typeface="SimSun" pitchFamily="2" charset="-122"/>
                <a:cs typeface="Arial Narrow" pitchFamily="34" charset="0"/>
              </a:rPr>
              <a:t> de </a:t>
            </a:r>
            <a:r>
              <a:rPr lang="en-IE" altLang="zh-CN" sz="2400" dirty="0" err="1">
                <a:solidFill>
                  <a:srgbClr val="000000"/>
                </a:solidFill>
                <a:ea typeface="SimSun" pitchFamily="2" charset="-122"/>
                <a:cs typeface="Arial Narrow" pitchFamily="34" charset="0"/>
              </a:rPr>
              <a:t>noms</a:t>
            </a:r>
            <a:r>
              <a:rPr lang="en-IE" altLang="zh-CN" sz="2400" dirty="0">
                <a:solidFill>
                  <a:srgbClr val="000000"/>
                </a:solidFill>
                <a:ea typeface="SimSun" pitchFamily="2" charset="-122"/>
                <a:cs typeface="Arial Narrow" pitchFamily="34" charset="0"/>
              </a:rPr>
              <a:t> DNS</a:t>
            </a:r>
          </a:p>
          <a:p>
            <a:pPr marL="1139825" lvl="2" indent="-225425" algn="l">
              <a:spcBef>
                <a:spcPts val="0"/>
              </a:spcBef>
              <a:buSzPct val="80000"/>
              <a:buFont typeface="Wingdings" pitchFamily="2" charset="2"/>
              <a:buChar char="Ø"/>
            </a:pPr>
            <a:r>
              <a:rPr lang="en-IE" altLang="zh-CN" sz="2400" dirty="0" err="1">
                <a:solidFill>
                  <a:srgbClr val="000000"/>
                </a:solidFill>
                <a:ea typeface="SimSun" pitchFamily="2" charset="-122"/>
                <a:cs typeface="Arial Narrow" pitchFamily="34" charset="0"/>
              </a:rPr>
              <a:t>Correspondre</a:t>
            </a:r>
            <a:r>
              <a:rPr lang="en-IE" altLang="zh-CN" sz="2400" dirty="0">
                <a:solidFill>
                  <a:srgbClr val="000000"/>
                </a:solidFill>
                <a:ea typeface="SimSun" pitchFamily="2" charset="-122"/>
                <a:cs typeface="Arial Narrow" pitchFamily="34" charset="0"/>
              </a:rPr>
              <a:t> les </a:t>
            </a:r>
            <a:r>
              <a:rPr lang="en-IE" altLang="zh-CN" sz="2400" dirty="0" err="1">
                <a:solidFill>
                  <a:srgbClr val="000000"/>
                </a:solidFill>
                <a:ea typeface="SimSun" pitchFamily="2" charset="-122"/>
                <a:cs typeface="Arial Narrow" pitchFamily="34" charset="0"/>
              </a:rPr>
              <a:t>noms</a:t>
            </a:r>
            <a:r>
              <a:rPr lang="en-IE" altLang="zh-CN" sz="2400" dirty="0">
                <a:solidFill>
                  <a:srgbClr val="000000"/>
                </a:solidFill>
                <a:ea typeface="SimSun" pitchFamily="2" charset="-122"/>
                <a:cs typeface="Arial Narrow" pitchFamily="34" charset="0"/>
              </a:rPr>
              <a:t> d’hôte à des </a:t>
            </a:r>
            <a:r>
              <a:rPr lang="en-IE" altLang="zh-CN" sz="2400" dirty="0" err="1">
                <a:solidFill>
                  <a:srgbClr val="000000"/>
                </a:solidFill>
                <a:ea typeface="SimSun" pitchFamily="2" charset="-122"/>
                <a:cs typeface="Arial Narrow" pitchFamily="34" charset="0"/>
              </a:rPr>
              <a:t>adresses</a:t>
            </a:r>
            <a:r>
              <a:rPr lang="en-IE" altLang="zh-CN" sz="2400" dirty="0">
                <a:solidFill>
                  <a:srgbClr val="000000"/>
                </a:solidFill>
                <a:ea typeface="SimSun" pitchFamily="2" charset="-122"/>
                <a:cs typeface="Arial Narrow" pitchFamily="34" charset="0"/>
              </a:rPr>
              <a:t> IP</a:t>
            </a:r>
            <a:endParaRPr lang="en-US" sz="2400" dirty="0">
              <a:solidFill>
                <a:srgbClr val="000000"/>
              </a:solidFill>
              <a:ea typeface="SimSun" pitchFamily="2" charset="-122"/>
              <a:cs typeface="Arial Narrow" pitchFamily="34" charset="0"/>
            </a:endParaRPr>
          </a:p>
        </p:txBody>
      </p:sp>
      <p:sp>
        <p:nvSpPr>
          <p:cNvPr id="644106" name="AutoShape-10"/>
          <p:cNvSpPr>
            <a:spLocks noChangeArrowheads="1"/>
          </p:cNvSpPr>
          <p:nvPr/>
        </p:nvSpPr>
        <p:spPr bwMode="auto">
          <a:xfrm>
            <a:off x="280516" y="3481175"/>
            <a:ext cx="8471597" cy="857716"/>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marL="225425" indent="-225425" algn="l">
              <a:spcBef>
                <a:spcPct val="40000"/>
              </a:spcBef>
              <a:buSzPct val="80000"/>
              <a:buFontTx/>
              <a:buBlip>
                <a:blip r:embed="rId3"/>
              </a:buBlip>
            </a:pPr>
            <a:r>
              <a:rPr lang="fr-FR" altLang="zh-CN" sz="2400" u="sng" dirty="0">
                <a:solidFill>
                  <a:srgbClr val="000000"/>
                </a:solidFill>
                <a:ea typeface="SimSun" pitchFamily="2" charset="-122"/>
                <a:cs typeface="Arial Narrow" pitchFamily="34" charset="0"/>
              </a:rPr>
              <a:t>Évolutivité:</a:t>
            </a:r>
          </a:p>
          <a:p>
            <a:pPr marL="1139825" lvl="2" indent="-225425" algn="l">
              <a:spcBef>
                <a:spcPts val="0"/>
              </a:spcBef>
              <a:buSzPct val="80000"/>
              <a:buFont typeface="Wingdings" pitchFamily="2" charset="2"/>
              <a:buChar char="Ø"/>
            </a:pPr>
            <a:r>
              <a:rPr lang="fr-FR" altLang="zh-CN" sz="2400" dirty="0">
                <a:solidFill>
                  <a:srgbClr val="000000"/>
                </a:solidFill>
                <a:ea typeface="SimSun" pitchFamily="2" charset="-122"/>
                <a:cs typeface="Arial Narrow" pitchFamily="34" charset="0"/>
              </a:rPr>
              <a:t> AD est organisé en sections</a:t>
            </a:r>
            <a:r>
              <a:rPr lang="en-IE" altLang="zh-CN" sz="2400" dirty="0">
                <a:solidFill>
                  <a:srgbClr val="000000"/>
                </a:solidFill>
                <a:ea typeface="SimSun" pitchFamily="2" charset="-122"/>
                <a:cs typeface="Arial Narrow" pitchFamily="34" charset="0"/>
              </a:rPr>
              <a:t> </a:t>
            </a:r>
            <a:endParaRPr lang="en-US" sz="2400" dirty="0">
              <a:solidFill>
                <a:srgbClr val="000000"/>
              </a:solidFill>
              <a:ea typeface="SimSun" pitchFamily="2" charset="-122"/>
              <a:cs typeface="Arial Narrow" pitchFamily="34" charset="0"/>
            </a:endParaRPr>
          </a:p>
        </p:txBody>
      </p:sp>
      <p:sp>
        <p:nvSpPr>
          <p:cNvPr id="644107" name="AutoShape-11"/>
          <p:cNvSpPr>
            <a:spLocks noChangeArrowheads="1"/>
          </p:cNvSpPr>
          <p:nvPr/>
        </p:nvSpPr>
        <p:spPr bwMode="auto">
          <a:xfrm>
            <a:off x="251489" y="4463112"/>
            <a:ext cx="8515140" cy="93620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marL="225425" indent="-225425" algn="l">
              <a:buSzPct val="80000"/>
              <a:buFontTx/>
              <a:buBlip>
                <a:blip r:embed="rId3"/>
              </a:buBlip>
            </a:pPr>
            <a:r>
              <a:rPr lang="fr-FR" altLang="zh-CN" sz="2400" u="sng" dirty="0">
                <a:solidFill>
                  <a:srgbClr val="000000"/>
                </a:solidFill>
                <a:ea typeface="SimSun" pitchFamily="2" charset="-122"/>
                <a:cs typeface="Arial Narrow" pitchFamily="34" charset="0"/>
              </a:rPr>
              <a:t>Administration centralisée</a:t>
            </a:r>
            <a:r>
              <a:rPr lang="fr-FR" altLang="zh-CN" sz="2400" dirty="0">
                <a:solidFill>
                  <a:srgbClr val="000000"/>
                </a:solidFill>
                <a:ea typeface="SimSun" pitchFamily="2" charset="-122"/>
                <a:cs typeface="Arial Narrow" pitchFamily="34" charset="0"/>
              </a:rPr>
              <a:t>: </a:t>
            </a:r>
          </a:p>
          <a:p>
            <a:pPr marL="1139825" lvl="2" indent="-225425" algn="l">
              <a:buSzPct val="80000"/>
              <a:buFont typeface="Wingdings" pitchFamily="2" charset="2"/>
              <a:buChar char="Ø"/>
            </a:pPr>
            <a:r>
              <a:rPr lang="fr-FR" altLang="zh-CN" sz="2400" dirty="0">
                <a:solidFill>
                  <a:srgbClr val="000000"/>
                </a:solidFill>
                <a:ea typeface="SimSun" pitchFamily="2" charset="-122"/>
                <a:cs typeface="Arial Narrow" pitchFamily="34" charset="0"/>
              </a:rPr>
              <a:t>Administrer à partir d’un emplacement central </a:t>
            </a:r>
            <a:endParaRPr lang="en-US" sz="2400" dirty="0">
              <a:solidFill>
                <a:srgbClr val="000000"/>
              </a:solidFill>
              <a:ea typeface="SimSun" pitchFamily="2" charset="-122"/>
              <a:cs typeface="Arial Narrow" pitchFamily="34" charset="0"/>
            </a:endParaRPr>
          </a:p>
        </p:txBody>
      </p:sp>
      <p:sp>
        <p:nvSpPr>
          <p:cNvPr id="644108" name="AutoShape-12"/>
          <p:cNvSpPr>
            <a:spLocks noChangeArrowheads="1"/>
          </p:cNvSpPr>
          <p:nvPr/>
        </p:nvSpPr>
        <p:spPr bwMode="auto">
          <a:xfrm>
            <a:off x="250796" y="5491432"/>
            <a:ext cx="8544861" cy="112708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marL="225425" indent="-225425" algn="l">
              <a:buSzPct val="80000"/>
              <a:buFontTx/>
              <a:buBlip>
                <a:blip r:embed="rId3"/>
              </a:buBlip>
            </a:pPr>
            <a:r>
              <a:rPr lang="fr-FR" altLang="zh-CN" sz="2400" u="sng" dirty="0">
                <a:solidFill>
                  <a:srgbClr val="000000"/>
                </a:solidFill>
                <a:ea typeface="SimSun" pitchFamily="2" charset="-122"/>
                <a:cs typeface="Arial Narrow" pitchFamily="34" charset="0"/>
              </a:rPr>
              <a:t>Administration déléguée</a:t>
            </a:r>
            <a:r>
              <a:rPr lang="fr-FR" altLang="zh-CN" sz="2400" dirty="0">
                <a:solidFill>
                  <a:srgbClr val="000000"/>
                </a:solidFill>
                <a:ea typeface="SimSun" pitchFamily="2" charset="-122"/>
                <a:cs typeface="Arial Narrow" pitchFamily="34" charset="0"/>
              </a:rPr>
              <a:t>: </a:t>
            </a:r>
          </a:p>
          <a:p>
            <a:pPr marL="1139825" lvl="2" indent="-225425" algn="l">
              <a:buSzPct val="80000"/>
              <a:buFont typeface="Wingdings" pitchFamily="2" charset="2"/>
              <a:buChar char="Ø"/>
            </a:pPr>
            <a:r>
              <a:rPr lang="fr-FR" altLang="zh-CN" sz="2400" dirty="0">
                <a:solidFill>
                  <a:srgbClr val="000000"/>
                </a:solidFill>
                <a:ea typeface="SimSun" pitchFamily="2" charset="-122"/>
                <a:cs typeface="Arial Narrow" pitchFamily="34" charset="0"/>
              </a:rPr>
              <a:t>Déléguer le contrôle d’administration sur des parties spécifiques de la hiérarchie</a:t>
            </a:r>
            <a:r>
              <a:rPr lang="en-IE" altLang="zh-CN" sz="2400" dirty="0">
                <a:solidFill>
                  <a:srgbClr val="000000"/>
                </a:solidFill>
                <a:ea typeface="SimSun" pitchFamily="2" charset="-122"/>
                <a:cs typeface="Arial Narrow" pitchFamily="34" charset="0"/>
              </a:rPr>
              <a:t> </a:t>
            </a:r>
            <a:endParaRPr lang="en-US" sz="2400"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4105"/>
                                        </p:tgtEl>
                                        <p:attrNameLst>
                                          <p:attrName>style.visibility</p:attrName>
                                        </p:attrNameLst>
                                      </p:cBhvr>
                                      <p:to>
                                        <p:strVal val="visible"/>
                                      </p:to>
                                    </p:set>
                                    <p:anim calcmode="lin" valueType="num">
                                      <p:cBhvr additive="base">
                                        <p:cTn id="7" dur="1000" fill="hold"/>
                                        <p:tgtEl>
                                          <p:spTgt spid="644105"/>
                                        </p:tgtEl>
                                        <p:attrNameLst>
                                          <p:attrName>ppt_x</p:attrName>
                                        </p:attrNameLst>
                                      </p:cBhvr>
                                      <p:tavLst>
                                        <p:tav tm="0">
                                          <p:val>
                                            <p:strVal val="#ppt_x"/>
                                          </p:val>
                                        </p:tav>
                                        <p:tav tm="100000">
                                          <p:val>
                                            <p:strVal val="#ppt_x"/>
                                          </p:val>
                                        </p:tav>
                                      </p:tavLst>
                                    </p:anim>
                                    <p:anim calcmode="lin" valueType="num">
                                      <p:cBhvr additive="base">
                                        <p:cTn id="8" dur="1000" fill="hold"/>
                                        <p:tgtEl>
                                          <p:spTgt spid="6441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4106"/>
                                        </p:tgtEl>
                                        <p:attrNameLst>
                                          <p:attrName>style.visibility</p:attrName>
                                        </p:attrNameLst>
                                      </p:cBhvr>
                                      <p:to>
                                        <p:strVal val="visible"/>
                                      </p:to>
                                    </p:set>
                                    <p:anim calcmode="lin" valueType="num">
                                      <p:cBhvr additive="base">
                                        <p:cTn id="13" dur="1000" fill="hold"/>
                                        <p:tgtEl>
                                          <p:spTgt spid="644106"/>
                                        </p:tgtEl>
                                        <p:attrNameLst>
                                          <p:attrName>ppt_x</p:attrName>
                                        </p:attrNameLst>
                                      </p:cBhvr>
                                      <p:tavLst>
                                        <p:tav tm="0">
                                          <p:val>
                                            <p:strVal val="#ppt_x"/>
                                          </p:val>
                                        </p:tav>
                                        <p:tav tm="100000">
                                          <p:val>
                                            <p:strVal val="#ppt_x"/>
                                          </p:val>
                                        </p:tav>
                                      </p:tavLst>
                                    </p:anim>
                                    <p:anim calcmode="lin" valueType="num">
                                      <p:cBhvr additive="base">
                                        <p:cTn id="14" dur="1000" fill="hold"/>
                                        <p:tgtEl>
                                          <p:spTgt spid="6441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44107"/>
                                        </p:tgtEl>
                                        <p:attrNameLst>
                                          <p:attrName>style.visibility</p:attrName>
                                        </p:attrNameLst>
                                      </p:cBhvr>
                                      <p:to>
                                        <p:strVal val="visible"/>
                                      </p:to>
                                    </p:set>
                                    <p:anim calcmode="lin" valueType="num">
                                      <p:cBhvr additive="base">
                                        <p:cTn id="19" dur="1000" fill="hold"/>
                                        <p:tgtEl>
                                          <p:spTgt spid="644107"/>
                                        </p:tgtEl>
                                        <p:attrNameLst>
                                          <p:attrName>ppt_x</p:attrName>
                                        </p:attrNameLst>
                                      </p:cBhvr>
                                      <p:tavLst>
                                        <p:tav tm="0">
                                          <p:val>
                                            <p:strVal val="#ppt_x"/>
                                          </p:val>
                                        </p:tav>
                                        <p:tav tm="100000">
                                          <p:val>
                                            <p:strVal val="#ppt_x"/>
                                          </p:val>
                                        </p:tav>
                                      </p:tavLst>
                                    </p:anim>
                                    <p:anim calcmode="lin" valueType="num">
                                      <p:cBhvr additive="base">
                                        <p:cTn id="20" dur="1000" fill="hold"/>
                                        <p:tgtEl>
                                          <p:spTgt spid="64410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44108"/>
                                        </p:tgtEl>
                                        <p:attrNameLst>
                                          <p:attrName>style.visibility</p:attrName>
                                        </p:attrNameLst>
                                      </p:cBhvr>
                                      <p:to>
                                        <p:strVal val="visible"/>
                                      </p:to>
                                    </p:set>
                                    <p:anim calcmode="lin" valueType="num">
                                      <p:cBhvr additive="base">
                                        <p:cTn id="25" dur="1000" fill="hold"/>
                                        <p:tgtEl>
                                          <p:spTgt spid="644108"/>
                                        </p:tgtEl>
                                        <p:attrNameLst>
                                          <p:attrName>ppt_x</p:attrName>
                                        </p:attrNameLst>
                                      </p:cBhvr>
                                      <p:tavLst>
                                        <p:tav tm="0">
                                          <p:val>
                                            <p:strVal val="#ppt_x"/>
                                          </p:val>
                                        </p:tav>
                                        <p:tav tm="100000">
                                          <p:val>
                                            <p:strVal val="#ppt_x"/>
                                          </p:val>
                                        </p:tav>
                                      </p:tavLst>
                                    </p:anim>
                                    <p:anim calcmode="lin" valueType="num">
                                      <p:cBhvr additive="base">
                                        <p:cTn id="26" dur="1000" fill="hold"/>
                                        <p:tgtEl>
                                          <p:spTgt spid="644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05" grpId="0" animBg="1"/>
      <p:bldP spid="644106" grpId="0" animBg="1"/>
      <p:bldP spid="644107" grpId="0" animBg="1"/>
      <p:bldP spid="64410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p:cNvGrpSpPr>
            <a:grpSpLocks/>
          </p:cNvGrpSpPr>
          <p:nvPr/>
        </p:nvGrpSpPr>
        <p:grpSpPr bwMode="auto">
          <a:xfrm>
            <a:off x="609050" y="1310256"/>
            <a:ext cx="7702921" cy="3441853"/>
            <a:chOff x="632" y="826"/>
            <a:chExt cx="4386" cy="3077"/>
          </a:xfrm>
        </p:grpSpPr>
        <p:sp>
          <p:nvSpPr>
            <p:cNvPr id="645159" name="AutoShape-39"/>
            <p:cNvSpPr>
              <a:spLocks noChangeArrowheads="1"/>
            </p:cNvSpPr>
            <p:nvPr/>
          </p:nvSpPr>
          <p:spPr bwMode="auto">
            <a:xfrm>
              <a:off x="632" y="846"/>
              <a:ext cx="4347" cy="3057"/>
            </a:xfrm>
            <a:prstGeom prst="roundRect">
              <a:avLst>
                <a:gd name="adj" fmla="val 1264"/>
              </a:avLst>
            </a:prstGeom>
            <a:solidFill>
              <a:srgbClr val="EEEFD7"/>
            </a:solidFill>
            <a:ln w="28575">
              <a:solidFill>
                <a:srgbClr val="969696"/>
              </a:solidFill>
              <a:round/>
              <a:headEnd/>
              <a:tailEnd/>
            </a:ln>
            <a:effectLst/>
          </p:spPr>
          <p:txBody>
            <a:bodyPr/>
            <a:lstStyle/>
            <a:p>
              <a:pPr marL="177800" indent="-177800" algn="l">
                <a:buSzPct val="85000"/>
              </a:pPr>
              <a:r>
                <a:rPr lang="fr-FR" altLang="zh-CN" sz="2200">
                  <a:solidFill>
                    <a:srgbClr val="000000"/>
                  </a:solidFill>
                  <a:ea typeface="SimSun" pitchFamily="2" charset="-122"/>
                  <a:cs typeface="Arial Narrow" pitchFamily="34" charset="0"/>
                </a:rPr>
                <a:t>Forêt</a:t>
              </a:r>
              <a:r>
                <a:rPr lang="en-IE" altLang="zh-CN" sz="2200">
                  <a:solidFill>
                    <a:srgbClr val="000000"/>
                  </a:solidFill>
                  <a:ea typeface="SimSun" pitchFamily="2" charset="-122"/>
                  <a:cs typeface="Arial Narrow" pitchFamily="34" charset="0"/>
                </a:rPr>
                <a:t> </a:t>
              </a:r>
              <a:endParaRPr lang="en-US" sz="2200">
                <a:solidFill>
                  <a:srgbClr val="000000"/>
                </a:solidFill>
                <a:ea typeface="SimSun" pitchFamily="2" charset="-122"/>
                <a:cs typeface="Arial Narrow" pitchFamily="34" charset="0"/>
              </a:endParaRPr>
            </a:p>
          </p:txBody>
        </p:sp>
        <p:sp>
          <p:nvSpPr>
            <p:cNvPr id="645160" name="AutoShape-40"/>
            <p:cNvSpPr>
              <a:spLocks noChangeArrowheads="1"/>
            </p:cNvSpPr>
            <p:nvPr/>
          </p:nvSpPr>
          <p:spPr bwMode="auto">
            <a:xfrm>
              <a:off x="672" y="2880"/>
              <a:ext cx="1649" cy="994"/>
            </a:xfrm>
            <a:prstGeom prst="roundRect">
              <a:avLst>
                <a:gd name="adj" fmla="val 4167"/>
              </a:avLst>
            </a:prstGeom>
            <a:solidFill>
              <a:srgbClr val="CC0000">
                <a:alpha val="11000"/>
              </a:srgbClr>
            </a:solidFill>
            <a:ln w="28575">
              <a:solidFill>
                <a:srgbClr val="969696"/>
              </a:solidFill>
              <a:round/>
              <a:headEnd/>
              <a:tailEnd/>
            </a:ln>
            <a:effectLst/>
          </p:spPr>
          <p:txBody>
            <a:bodyPr/>
            <a:lstStyle/>
            <a:p>
              <a:pPr marL="177800" indent="-177800" algn="l">
                <a:buSzPct val="85000"/>
              </a:pPr>
              <a:r>
                <a:rPr lang="fr-FR" altLang="zh-CN" sz="2200" dirty="0">
                  <a:solidFill>
                    <a:srgbClr val="000000"/>
                  </a:solidFill>
                  <a:ea typeface="SimSun" pitchFamily="2" charset="-122"/>
                  <a:cs typeface="Times New Roman" pitchFamily="18" charset="0"/>
                </a:rPr>
                <a:t>OU dans un</a:t>
              </a:r>
              <a:r>
                <a:rPr lang="en-IE" altLang="zh-CN" sz="2200" dirty="0">
                  <a:solidFill>
                    <a:srgbClr val="000000"/>
                  </a:solidFill>
                  <a:ea typeface="SimSun" pitchFamily="2" charset="-122"/>
                  <a:cs typeface="Times New Roman" pitchFamily="18" charset="0"/>
                </a:rPr>
                <a:t> </a:t>
              </a:r>
              <a:r>
                <a:rPr lang="en-US" sz="2200" dirty="0">
                  <a:ea typeface="SimSun" pitchFamily="2" charset="-122"/>
                  <a:cs typeface="Times New Roman" pitchFamily="18" charset="0"/>
                </a:rPr>
                <a:t> </a:t>
              </a:r>
            </a:p>
            <a:p>
              <a:pPr marL="177800" indent="-177800" algn="l">
                <a:buSzPct val="85000"/>
              </a:pPr>
              <a:r>
                <a:rPr lang="fr-FR" altLang="zh-CN" sz="2200" dirty="0">
                  <a:solidFill>
                    <a:srgbClr val="000000"/>
                  </a:solidFill>
                  <a:ea typeface="SimSun" pitchFamily="2" charset="-122"/>
                  <a:cs typeface="Times New Roman" pitchFamily="18" charset="0"/>
                </a:rPr>
                <a:t>domaine</a:t>
              </a:r>
              <a:r>
                <a:rPr lang="en-IE" altLang="zh-CN" sz="2200" dirty="0">
                  <a:solidFill>
                    <a:srgbClr val="000000"/>
                  </a:solidFill>
                  <a:ea typeface="SimSun" pitchFamily="2" charset="-122"/>
                  <a:cs typeface="Times New Roman" pitchFamily="18" charset="0"/>
                </a:rPr>
                <a:t> </a:t>
              </a:r>
              <a:endParaRPr lang="en-US" sz="2200" dirty="0">
                <a:solidFill>
                  <a:srgbClr val="000000"/>
                </a:solidFill>
                <a:ea typeface="SimSun" pitchFamily="2" charset="-122"/>
                <a:cs typeface="Times New Roman" pitchFamily="18" charset="0"/>
              </a:endParaRPr>
            </a:p>
          </p:txBody>
        </p:sp>
        <p:sp>
          <p:nvSpPr>
            <p:cNvPr id="645161" name="AutoShape-41"/>
            <p:cNvSpPr>
              <a:spLocks noChangeArrowheads="1"/>
            </p:cNvSpPr>
            <p:nvPr/>
          </p:nvSpPr>
          <p:spPr bwMode="auto">
            <a:xfrm>
              <a:off x="2087" y="826"/>
              <a:ext cx="1361" cy="1012"/>
            </a:xfrm>
            <a:prstGeom prst="roundRect">
              <a:avLst>
                <a:gd name="adj" fmla="val 4167"/>
              </a:avLst>
            </a:prstGeom>
            <a:solidFill>
              <a:srgbClr val="CC0000">
                <a:alpha val="11000"/>
              </a:srgbClr>
            </a:solidFill>
            <a:ln w="28575">
              <a:solidFill>
                <a:srgbClr val="969696"/>
              </a:solidFill>
              <a:round/>
              <a:headEnd/>
              <a:tailEnd/>
            </a:ln>
            <a:effectLst/>
          </p:spPr>
          <p:txBody>
            <a:bodyPr/>
            <a:lstStyle/>
            <a:p>
              <a:pPr marL="177800" indent="-177800" algn="l">
                <a:buSzPct val="85000"/>
              </a:pPr>
              <a:r>
                <a:rPr lang="fr-FR" altLang="zh-CN" sz="2200" dirty="0">
                  <a:solidFill>
                    <a:srgbClr val="000000"/>
                  </a:solidFill>
                  <a:ea typeface="SimSun" pitchFamily="2" charset="-122"/>
                  <a:cs typeface="Times New Roman" pitchFamily="18" charset="0"/>
                </a:rPr>
                <a:t>Domaine</a:t>
              </a:r>
              <a:r>
                <a:rPr lang="en-IE" altLang="zh-CN" sz="2200" dirty="0">
                  <a:solidFill>
                    <a:srgbClr val="000000"/>
                  </a:solidFill>
                  <a:ea typeface="SimSun" pitchFamily="2" charset="-122"/>
                  <a:cs typeface="Times New Roman" pitchFamily="18" charset="0"/>
                </a:rPr>
                <a:t> </a:t>
              </a:r>
              <a:endParaRPr lang="en-US" sz="2200" dirty="0">
                <a:solidFill>
                  <a:srgbClr val="000000"/>
                </a:solidFill>
                <a:ea typeface="SimSun" pitchFamily="2" charset="-122"/>
                <a:cs typeface="Times New Roman" pitchFamily="18" charset="0"/>
              </a:endParaRPr>
            </a:p>
          </p:txBody>
        </p:sp>
        <p:grpSp>
          <p:nvGrpSpPr>
            <p:cNvPr id="3" name="Group 42"/>
            <p:cNvGrpSpPr>
              <a:grpSpLocks/>
            </p:cNvGrpSpPr>
            <p:nvPr/>
          </p:nvGrpSpPr>
          <p:grpSpPr bwMode="auto">
            <a:xfrm>
              <a:off x="1213" y="894"/>
              <a:ext cx="3382" cy="2931"/>
              <a:chOff x="1117" y="1065"/>
              <a:chExt cx="3223" cy="2793"/>
            </a:xfrm>
          </p:grpSpPr>
          <p:sp>
            <p:nvSpPr>
              <p:cNvPr id="645163" name="Line-43"/>
              <p:cNvSpPr>
                <a:spLocks noChangeShapeType="1"/>
              </p:cNvSpPr>
              <p:nvPr/>
            </p:nvSpPr>
            <p:spPr bwMode="auto">
              <a:xfrm flipH="1">
                <a:off x="1748" y="1766"/>
                <a:ext cx="795" cy="1453"/>
              </a:xfrm>
              <a:prstGeom prst="line">
                <a:avLst/>
              </a:prstGeom>
              <a:noFill/>
              <a:ln w="38100">
                <a:solidFill>
                  <a:srgbClr val="808080"/>
                </a:solidFill>
                <a:round/>
                <a:headEnd/>
                <a:tailEnd/>
              </a:ln>
              <a:effectLst/>
            </p:spPr>
            <p:txBody>
              <a:bodyPr anchor="ctr"/>
              <a:lstStyle/>
              <a:p>
                <a:endParaRPr lang="fr-FR"/>
              </a:p>
            </p:txBody>
          </p:sp>
          <p:sp>
            <p:nvSpPr>
              <p:cNvPr id="645164" name="Line-44"/>
              <p:cNvSpPr>
                <a:spLocks noChangeShapeType="1"/>
              </p:cNvSpPr>
              <p:nvPr/>
            </p:nvSpPr>
            <p:spPr bwMode="auto">
              <a:xfrm>
                <a:off x="2902" y="1766"/>
                <a:ext cx="795" cy="1453"/>
              </a:xfrm>
              <a:prstGeom prst="line">
                <a:avLst/>
              </a:prstGeom>
              <a:noFill/>
              <a:ln w="38100">
                <a:solidFill>
                  <a:srgbClr val="808080"/>
                </a:solidFill>
                <a:round/>
                <a:headEnd/>
                <a:tailEnd/>
              </a:ln>
              <a:effectLst/>
            </p:spPr>
            <p:txBody>
              <a:bodyPr anchor="ctr"/>
              <a:lstStyle/>
              <a:p>
                <a:endParaRPr lang="fr-FR"/>
              </a:p>
            </p:txBody>
          </p:sp>
          <p:pic>
            <p:nvPicPr>
              <p:cNvPr id="645165" name="Picture-45" descr="2Domain01"/>
              <p:cNvPicPr>
                <a:picLocks noChangeAspect="1" noChangeArrowheads="1"/>
              </p:cNvPicPr>
              <p:nvPr/>
            </p:nvPicPr>
            <p:blipFill>
              <a:blip r:embed="rId3" cstate="print"/>
              <a:srcRect/>
              <a:stretch>
                <a:fillRect/>
              </a:stretch>
            </p:blipFill>
            <p:spPr bwMode="auto">
              <a:xfrm>
                <a:off x="2792" y="2023"/>
                <a:ext cx="982" cy="867"/>
              </a:xfrm>
              <a:prstGeom prst="rect">
                <a:avLst/>
              </a:prstGeom>
              <a:noFill/>
            </p:spPr>
          </p:pic>
          <p:pic>
            <p:nvPicPr>
              <p:cNvPr id="645166" name="Picture-46" descr="2DomainWithOus01"/>
              <p:cNvPicPr>
                <a:picLocks noChangeAspect="1" noChangeArrowheads="1"/>
              </p:cNvPicPr>
              <p:nvPr/>
            </p:nvPicPr>
            <p:blipFill>
              <a:blip r:embed="rId4"/>
              <a:srcRect/>
              <a:stretch>
                <a:fillRect/>
              </a:stretch>
            </p:blipFill>
            <p:spPr bwMode="auto">
              <a:xfrm>
                <a:off x="1117" y="2978"/>
                <a:ext cx="997" cy="880"/>
              </a:xfrm>
              <a:prstGeom prst="rect">
                <a:avLst/>
              </a:prstGeom>
              <a:noFill/>
            </p:spPr>
          </p:pic>
          <p:pic>
            <p:nvPicPr>
              <p:cNvPr id="645167" name="Picture-47" descr="2Domain01"/>
              <p:cNvPicPr>
                <a:picLocks noChangeAspect="1" noChangeArrowheads="1"/>
              </p:cNvPicPr>
              <p:nvPr/>
            </p:nvPicPr>
            <p:blipFill>
              <a:blip r:embed="rId3" cstate="print"/>
              <a:srcRect/>
              <a:stretch>
                <a:fillRect/>
              </a:stretch>
            </p:blipFill>
            <p:spPr bwMode="auto">
              <a:xfrm>
                <a:off x="3358" y="2982"/>
                <a:ext cx="982" cy="867"/>
              </a:xfrm>
              <a:prstGeom prst="rect">
                <a:avLst/>
              </a:prstGeom>
              <a:noFill/>
            </p:spPr>
          </p:pic>
          <p:pic>
            <p:nvPicPr>
              <p:cNvPr id="645168" name="Picture-48" descr="2Domain01"/>
              <p:cNvPicPr>
                <a:picLocks noChangeAspect="1" noChangeArrowheads="1"/>
              </p:cNvPicPr>
              <p:nvPr/>
            </p:nvPicPr>
            <p:blipFill>
              <a:blip r:embed="rId3" cstate="print"/>
              <a:srcRect/>
              <a:stretch>
                <a:fillRect/>
              </a:stretch>
            </p:blipFill>
            <p:spPr bwMode="auto">
              <a:xfrm>
                <a:off x="2236" y="1065"/>
                <a:ext cx="982" cy="867"/>
              </a:xfrm>
              <a:prstGeom prst="rect">
                <a:avLst/>
              </a:prstGeom>
              <a:noFill/>
            </p:spPr>
          </p:pic>
          <p:pic>
            <p:nvPicPr>
              <p:cNvPr id="645169" name="Picture-49" descr="2Domain01"/>
              <p:cNvPicPr>
                <a:picLocks noChangeAspect="1" noChangeArrowheads="1"/>
              </p:cNvPicPr>
              <p:nvPr/>
            </p:nvPicPr>
            <p:blipFill>
              <a:blip r:embed="rId3" cstate="print"/>
              <a:srcRect/>
              <a:stretch>
                <a:fillRect/>
              </a:stretch>
            </p:blipFill>
            <p:spPr bwMode="auto">
              <a:xfrm>
                <a:off x="1686" y="2010"/>
                <a:ext cx="982" cy="867"/>
              </a:xfrm>
              <a:prstGeom prst="rect">
                <a:avLst/>
              </a:prstGeom>
              <a:noFill/>
            </p:spPr>
          </p:pic>
          <p:sp>
            <p:nvSpPr>
              <p:cNvPr id="645170" name="Text-Box-50"/>
              <p:cNvSpPr txBox="1">
                <a:spLocks noChangeArrowheads="1"/>
              </p:cNvSpPr>
              <p:nvPr/>
            </p:nvSpPr>
            <p:spPr bwMode="auto">
              <a:xfrm>
                <a:off x="1766" y="2494"/>
                <a:ext cx="816" cy="302"/>
              </a:xfrm>
              <a:prstGeom prst="rect">
                <a:avLst/>
              </a:prstGeom>
              <a:noFill/>
              <a:ln w="9525" algn="ctr">
                <a:noFill/>
                <a:miter lim="800000"/>
                <a:headEnd/>
                <a:tailEnd/>
              </a:ln>
              <a:effectLst/>
            </p:spPr>
            <p:txBody>
              <a:bodyPr>
                <a:spAutoFit/>
              </a:bodyPr>
              <a:lstStyle/>
              <a:p>
                <a:pPr>
                  <a:spcBef>
                    <a:spcPct val="50000"/>
                  </a:spcBef>
                </a:pPr>
                <a:r>
                  <a:rPr lang="fr-FR" altLang="zh-CN" sz="1700" dirty="0">
                    <a:solidFill>
                      <a:srgbClr val="000000"/>
                    </a:solidFill>
                    <a:ea typeface="SimSun" pitchFamily="2" charset="-122"/>
                    <a:cs typeface="Times New Roman" pitchFamily="18" charset="0"/>
                  </a:rPr>
                  <a:t>SRI.Bts.net</a:t>
                </a:r>
                <a:endParaRPr lang="en-US" sz="1700" dirty="0">
                  <a:solidFill>
                    <a:srgbClr val="000000"/>
                  </a:solidFill>
                  <a:ea typeface="SimSun" pitchFamily="2" charset="-122"/>
                  <a:cs typeface="Times New Roman" pitchFamily="18" charset="0"/>
                </a:endParaRPr>
              </a:p>
            </p:txBody>
          </p:sp>
          <p:sp>
            <p:nvSpPr>
              <p:cNvPr id="645171" name="Text-Box-51"/>
              <p:cNvSpPr txBox="1">
                <a:spLocks noChangeArrowheads="1"/>
              </p:cNvSpPr>
              <p:nvPr/>
            </p:nvSpPr>
            <p:spPr bwMode="auto">
              <a:xfrm>
                <a:off x="3424" y="3467"/>
                <a:ext cx="869" cy="302"/>
              </a:xfrm>
              <a:prstGeom prst="rect">
                <a:avLst/>
              </a:prstGeom>
              <a:noFill/>
              <a:ln w="9525" algn="ctr">
                <a:noFill/>
                <a:miter lim="800000"/>
                <a:headEnd/>
                <a:tailEnd/>
              </a:ln>
              <a:effectLst/>
            </p:spPr>
            <p:txBody>
              <a:bodyPr wrap="square">
                <a:spAutoFit/>
              </a:bodyPr>
              <a:lstStyle/>
              <a:p>
                <a:pPr>
                  <a:spcBef>
                    <a:spcPct val="50000"/>
                  </a:spcBef>
                </a:pPr>
                <a:r>
                  <a:rPr lang="fr-FR" altLang="zh-CN" sz="1700" dirty="0">
                    <a:solidFill>
                      <a:srgbClr val="000000"/>
                    </a:solidFill>
                    <a:ea typeface="SimSun" pitchFamily="2" charset="-122"/>
                    <a:cs typeface="Times New Roman" pitchFamily="18" charset="0"/>
                  </a:rPr>
                  <a:t>CG2.CG.Bts.net</a:t>
                </a:r>
                <a:endParaRPr lang="en-US" sz="1700" dirty="0">
                  <a:solidFill>
                    <a:srgbClr val="000000"/>
                  </a:solidFill>
                  <a:ea typeface="SimSun" pitchFamily="2" charset="-122"/>
                  <a:cs typeface="Times New Roman" pitchFamily="18" charset="0"/>
                </a:endParaRPr>
              </a:p>
            </p:txBody>
          </p:sp>
          <p:sp>
            <p:nvSpPr>
              <p:cNvPr id="645172" name="Text-Box-52"/>
              <p:cNvSpPr txBox="1">
                <a:spLocks noChangeArrowheads="1"/>
              </p:cNvSpPr>
              <p:nvPr/>
            </p:nvSpPr>
            <p:spPr bwMode="auto">
              <a:xfrm>
                <a:off x="2332" y="1612"/>
                <a:ext cx="816" cy="302"/>
              </a:xfrm>
              <a:prstGeom prst="rect">
                <a:avLst/>
              </a:prstGeom>
              <a:noFill/>
              <a:ln w="9525" algn="ctr">
                <a:noFill/>
                <a:miter lim="800000"/>
                <a:headEnd/>
                <a:tailEnd/>
              </a:ln>
              <a:effectLst/>
            </p:spPr>
            <p:txBody>
              <a:bodyPr>
                <a:spAutoFit/>
              </a:bodyPr>
              <a:lstStyle/>
              <a:p>
                <a:pPr>
                  <a:spcBef>
                    <a:spcPct val="50000"/>
                  </a:spcBef>
                </a:pPr>
                <a:r>
                  <a:rPr lang="fr-FR" altLang="zh-CN" sz="1700" dirty="0">
                    <a:solidFill>
                      <a:srgbClr val="000000"/>
                    </a:solidFill>
                    <a:ea typeface="SimSun" pitchFamily="2" charset="-122"/>
                    <a:cs typeface="Times New Roman" pitchFamily="18" charset="0"/>
                  </a:rPr>
                  <a:t>Bts.net</a:t>
                </a:r>
                <a:r>
                  <a:rPr lang="en-IE" altLang="zh-CN" sz="1700" dirty="0">
                    <a:solidFill>
                      <a:srgbClr val="000000"/>
                    </a:solidFill>
                    <a:ea typeface="SimSun" pitchFamily="2" charset="-122"/>
                    <a:cs typeface="Times New Roman" pitchFamily="18" charset="0"/>
                  </a:rPr>
                  <a:t> </a:t>
                </a:r>
                <a:endParaRPr lang="en-US" sz="1700" dirty="0">
                  <a:solidFill>
                    <a:srgbClr val="000000"/>
                  </a:solidFill>
                  <a:ea typeface="SimSun" pitchFamily="2" charset="-122"/>
                  <a:cs typeface="Times New Roman" pitchFamily="18" charset="0"/>
                </a:endParaRPr>
              </a:p>
            </p:txBody>
          </p:sp>
          <p:sp>
            <p:nvSpPr>
              <p:cNvPr id="645173" name="Text-Box-53"/>
              <p:cNvSpPr txBox="1">
                <a:spLocks noChangeArrowheads="1"/>
              </p:cNvSpPr>
              <p:nvPr/>
            </p:nvSpPr>
            <p:spPr bwMode="auto">
              <a:xfrm>
                <a:off x="2885" y="2481"/>
                <a:ext cx="816" cy="302"/>
              </a:xfrm>
              <a:prstGeom prst="rect">
                <a:avLst/>
              </a:prstGeom>
              <a:noFill/>
              <a:ln w="9525" algn="ctr">
                <a:noFill/>
                <a:miter lim="800000"/>
                <a:headEnd/>
                <a:tailEnd/>
              </a:ln>
              <a:effectLst/>
            </p:spPr>
            <p:txBody>
              <a:bodyPr>
                <a:spAutoFit/>
              </a:bodyPr>
              <a:lstStyle/>
              <a:p>
                <a:pPr>
                  <a:spcBef>
                    <a:spcPct val="50000"/>
                  </a:spcBef>
                </a:pPr>
                <a:r>
                  <a:rPr lang="fr-FR" altLang="zh-CN" sz="1700" dirty="0">
                    <a:solidFill>
                      <a:srgbClr val="000000"/>
                    </a:solidFill>
                    <a:ea typeface="SimSun" pitchFamily="2" charset="-122"/>
                    <a:cs typeface="Times New Roman" pitchFamily="18" charset="0"/>
                  </a:rPr>
                  <a:t>CG.Bts.net</a:t>
                </a:r>
                <a:endParaRPr lang="en-US" sz="1700" dirty="0">
                  <a:solidFill>
                    <a:srgbClr val="000000"/>
                  </a:solidFill>
                  <a:ea typeface="SimSun" pitchFamily="2" charset="-122"/>
                  <a:cs typeface="Times New Roman" pitchFamily="18" charset="0"/>
                </a:endParaRPr>
              </a:p>
            </p:txBody>
          </p:sp>
        </p:grpSp>
        <p:grpSp>
          <p:nvGrpSpPr>
            <p:cNvPr id="4" name="Group 54"/>
            <p:cNvGrpSpPr>
              <a:grpSpLocks/>
            </p:cNvGrpSpPr>
            <p:nvPr/>
          </p:nvGrpSpPr>
          <p:grpSpPr bwMode="auto">
            <a:xfrm rot="3591122">
              <a:off x="3010" y="2157"/>
              <a:ext cx="1801" cy="284"/>
              <a:chOff x="2320" y="268"/>
              <a:chExt cx="1801" cy="284"/>
            </a:xfrm>
          </p:grpSpPr>
          <p:sp>
            <p:nvSpPr>
              <p:cNvPr id="645175" name="Freeform-55"/>
              <p:cNvSpPr>
                <a:spLocks/>
              </p:cNvSpPr>
              <p:nvPr/>
            </p:nvSpPr>
            <p:spPr bwMode="auto">
              <a:xfrm>
                <a:off x="2320" y="268"/>
                <a:ext cx="1801" cy="284"/>
              </a:xfrm>
              <a:custGeom>
                <a:avLst/>
                <a:gdLst/>
                <a:ahLst/>
                <a:cxnLst>
                  <a:cxn ang="0">
                    <a:pos x="0" y="268"/>
                  </a:cxn>
                  <a:cxn ang="0">
                    <a:pos x="0" y="0"/>
                  </a:cxn>
                  <a:cxn ang="0">
                    <a:pos x="1801" y="0"/>
                  </a:cxn>
                  <a:cxn ang="0">
                    <a:pos x="1801" y="284"/>
                  </a:cxn>
                </a:cxnLst>
                <a:rect l="0" t="0" r="r" b="b"/>
                <a:pathLst>
                  <a:path w="1801" h="284">
                    <a:moveTo>
                      <a:pt x="0" y="268"/>
                    </a:moveTo>
                    <a:lnTo>
                      <a:pt x="0" y="0"/>
                    </a:lnTo>
                    <a:lnTo>
                      <a:pt x="1801" y="0"/>
                    </a:lnTo>
                    <a:lnTo>
                      <a:pt x="1801" y="284"/>
                    </a:lnTo>
                  </a:path>
                </a:pathLst>
              </a:custGeom>
              <a:noFill/>
              <a:ln w="38100" cap="flat" cmpd="sng">
                <a:solidFill>
                  <a:srgbClr val="CC0000"/>
                </a:solidFill>
                <a:prstDash val="solid"/>
                <a:round/>
                <a:headEnd type="triangle" w="med" len="med"/>
                <a:tailEnd type="triangle" w="med" len="med"/>
              </a:ln>
              <a:effectLst/>
            </p:spPr>
            <p:txBody>
              <a:bodyPr anchor="ctr"/>
              <a:lstStyle/>
              <a:p>
                <a:endParaRPr lang="fr-FR"/>
              </a:p>
            </p:txBody>
          </p:sp>
          <p:sp>
            <p:nvSpPr>
              <p:cNvPr id="645176" name="Line-56"/>
              <p:cNvSpPr>
                <a:spLocks noChangeShapeType="1"/>
              </p:cNvSpPr>
              <p:nvPr/>
            </p:nvSpPr>
            <p:spPr bwMode="auto">
              <a:xfrm>
                <a:off x="3221" y="268"/>
                <a:ext cx="0" cy="267"/>
              </a:xfrm>
              <a:prstGeom prst="line">
                <a:avLst/>
              </a:prstGeom>
              <a:noFill/>
              <a:ln w="38100">
                <a:solidFill>
                  <a:srgbClr val="CC0000"/>
                </a:solidFill>
                <a:round/>
                <a:headEnd/>
                <a:tailEnd type="triangle" w="med" len="med"/>
              </a:ln>
              <a:effectLst/>
            </p:spPr>
            <p:txBody>
              <a:bodyPr anchor="ctr"/>
              <a:lstStyle/>
              <a:p>
                <a:endParaRPr lang="fr-FR"/>
              </a:p>
            </p:txBody>
          </p:sp>
        </p:grpSp>
        <p:sp>
          <p:nvSpPr>
            <p:cNvPr id="645177" name="Text-Box-57"/>
            <p:cNvSpPr txBox="1">
              <a:spLocks noChangeArrowheads="1"/>
            </p:cNvSpPr>
            <p:nvPr/>
          </p:nvSpPr>
          <p:spPr bwMode="auto">
            <a:xfrm>
              <a:off x="4021" y="2069"/>
              <a:ext cx="997" cy="558"/>
            </a:xfrm>
            <a:prstGeom prst="rect">
              <a:avLst/>
            </a:prstGeom>
            <a:noFill/>
            <a:ln w="9525" algn="ctr">
              <a:noFill/>
              <a:miter lim="800000"/>
              <a:headEnd/>
              <a:tailEnd/>
            </a:ln>
            <a:effectLst/>
          </p:spPr>
          <p:txBody>
            <a:bodyPr/>
            <a:lstStyle/>
            <a:p>
              <a:pPr>
                <a:spcBef>
                  <a:spcPct val="50000"/>
                </a:spcBef>
              </a:pPr>
              <a:r>
                <a:rPr lang="fr-FR" altLang="zh-CN" sz="2200" dirty="0">
                  <a:solidFill>
                    <a:srgbClr val="000000"/>
                  </a:solidFill>
                  <a:ea typeface="SimSun" pitchFamily="2" charset="-122"/>
                  <a:cs typeface="Times New Roman" pitchFamily="18" charset="0"/>
                </a:rPr>
                <a:t>Arborescence</a:t>
              </a:r>
              <a:r>
                <a:rPr lang="en-IE" altLang="zh-CN" sz="2200" dirty="0">
                  <a:solidFill>
                    <a:srgbClr val="000000"/>
                  </a:solidFill>
                  <a:ea typeface="SimSun" pitchFamily="2" charset="-122"/>
                  <a:cs typeface="Times New Roman" pitchFamily="18" charset="0"/>
                </a:rPr>
                <a:t> </a:t>
              </a:r>
              <a:endParaRPr lang="en-US" sz="2200" dirty="0">
                <a:solidFill>
                  <a:srgbClr val="000000"/>
                </a:solidFill>
                <a:ea typeface="SimSun" pitchFamily="2" charset="-122"/>
                <a:cs typeface="Times New Roman" pitchFamily="18" charset="0"/>
              </a:endParaRPr>
            </a:p>
          </p:txBody>
        </p:sp>
        <p:sp>
          <p:nvSpPr>
            <p:cNvPr id="645178" name="Freeform-58"/>
            <p:cNvSpPr>
              <a:spLocks/>
            </p:cNvSpPr>
            <p:nvPr/>
          </p:nvSpPr>
          <p:spPr bwMode="auto">
            <a:xfrm>
              <a:off x="1192" y="3155"/>
              <a:ext cx="535" cy="487"/>
            </a:xfrm>
            <a:custGeom>
              <a:avLst/>
              <a:gdLst/>
              <a:ahLst/>
              <a:cxnLst>
                <a:cxn ang="0">
                  <a:pos x="535" y="0"/>
                </a:cxn>
                <a:cxn ang="0">
                  <a:pos x="275" y="0"/>
                </a:cxn>
                <a:cxn ang="0">
                  <a:pos x="0" y="487"/>
                </a:cxn>
                <a:cxn ang="0">
                  <a:pos x="284" y="487"/>
                </a:cxn>
              </a:cxnLst>
              <a:rect l="0" t="0" r="r" b="b"/>
              <a:pathLst>
                <a:path w="535" h="487">
                  <a:moveTo>
                    <a:pt x="535" y="0"/>
                  </a:moveTo>
                  <a:lnTo>
                    <a:pt x="275" y="0"/>
                  </a:lnTo>
                  <a:lnTo>
                    <a:pt x="0" y="487"/>
                  </a:lnTo>
                  <a:lnTo>
                    <a:pt x="284" y="487"/>
                  </a:lnTo>
                </a:path>
              </a:pathLst>
            </a:custGeom>
            <a:noFill/>
            <a:ln w="38100" cap="flat" cmpd="sng">
              <a:solidFill>
                <a:srgbClr val="CC0000"/>
              </a:solidFill>
              <a:prstDash val="solid"/>
              <a:round/>
              <a:headEnd type="triangle" w="med" len="med"/>
              <a:tailEnd type="triangle" w="med" len="med"/>
            </a:ln>
            <a:effectLst/>
          </p:spPr>
          <p:txBody>
            <a:bodyPr anchor="ctr"/>
            <a:lstStyle/>
            <a:p>
              <a:endParaRPr lang="fr-FR"/>
            </a:p>
          </p:txBody>
        </p:sp>
      </p:grpSp>
      <p:sp>
        <p:nvSpPr>
          <p:cNvPr id="31" name="Rectangle-2"/>
          <p:cNvSpPr txBox="1">
            <a:spLocks noChangeArrowheads="1"/>
          </p:cNvSpPr>
          <p:nvPr/>
        </p:nvSpPr>
        <p:spPr>
          <a:xfrm>
            <a:off x="301752" y="228600"/>
            <a:ext cx="8534400" cy="758952"/>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altLang="zh-CN" sz="3300" b="1" i="0" u="none" strike="noStrike" kern="1200" cap="none" spc="0" normalizeH="0" baseline="0" noProof="0">
                <a:ln>
                  <a:noFill/>
                </a:ln>
                <a:solidFill>
                  <a:srgbClr val="C00000"/>
                </a:solidFill>
                <a:effectLst/>
                <a:uLnTx/>
                <a:uFillTx/>
                <a:latin typeface="+mj-lt"/>
                <a:ea typeface="SimSun" pitchFamily="2" charset="-122"/>
                <a:cs typeface="Arial Narrow" pitchFamily="34" charset="0"/>
              </a:rPr>
              <a:t>Terminologie Active Directory</a:t>
            </a:r>
            <a:endParaRPr kumimoji="0" lang="en-US" sz="3300" b="1" i="0" u="none" strike="noStrike" kern="1200" cap="none" spc="0" normalizeH="0" baseline="0" noProof="0" dirty="0">
              <a:ln>
                <a:noFill/>
              </a:ln>
              <a:solidFill>
                <a:srgbClr val="C00000"/>
              </a:solidFill>
              <a:effectLst/>
              <a:uLnTx/>
              <a:uFillTx/>
              <a:latin typeface="+mj-lt"/>
              <a:ea typeface="SimSun" pitchFamily="2" charset="-122"/>
              <a:cs typeface="Arial Narrow" pitchFamily="34" charset="0"/>
            </a:endParaRPr>
          </a:p>
        </p:txBody>
      </p:sp>
      <p:sp>
        <p:nvSpPr>
          <p:cNvPr id="34" name="ZoneTexte 33"/>
          <p:cNvSpPr txBox="1"/>
          <p:nvPr/>
        </p:nvSpPr>
        <p:spPr>
          <a:xfrm>
            <a:off x="183404" y="4734342"/>
            <a:ext cx="8766632" cy="2123658"/>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l"/>
            <a:r>
              <a:rPr lang="fr-FR" sz="2200" u="sng" dirty="0">
                <a:solidFill>
                  <a:srgbClr val="C00000"/>
                </a:solidFill>
              </a:rPr>
              <a:t>Le domaine</a:t>
            </a:r>
          </a:p>
          <a:p>
            <a:pPr algn="l">
              <a:buFont typeface="Wingdings" pitchFamily="2" charset="2"/>
              <a:buChar char="q"/>
            </a:pPr>
            <a:r>
              <a:rPr lang="fr-FR" sz="2200" dirty="0">
                <a:solidFill>
                  <a:schemeClr val="tx1"/>
                </a:solidFill>
              </a:rPr>
              <a:t> C’est l’unité centrale de la structure logique d’AD</a:t>
            </a:r>
          </a:p>
          <a:p>
            <a:pPr algn="l">
              <a:buFont typeface="Wingdings" pitchFamily="2" charset="2"/>
              <a:buChar char="q"/>
            </a:pPr>
            <a:r>
              <a:rPr lang="fr-FR" sz="2200" dirty="0">
                <a:solidFill>
                  <a:schemeClr val="tx1"/>
                </a:solidFill>
              </a:rPr>
              <a:t> C’est un ensemble d’ordinateurs qui partagent une BD d’annuaires</a:t>
            </a:r>
          </a:p>
          <a:p>
            <a:pPr algn="l">
              <a:buFont typeface="Wingdings" pitchFamily="2" charset="2"/>
              <a:buChar char="q"/>
            </a:pPr>
            <a:r>
              <a:rPr lang="fr-FR" sz="2200" dirty="0">
                <a:solidFill>
                  <a:schemeClr val="tx1"/>
                </a:solidFill>
              </a:rPr>
              <a:t> Dispose d’un nom unique</a:t>
            </a:r>
          </a:p>
          <a:p>
            <a:pPr algn="l">
              <a:buFont typeface="Wingdings" pitchFamily="2" charset="2"/>
              <a:buChar char="q"/>
            </a:pPr>
            <a:r>
              <a:rPr lang="fr-FR" sz="2200" dirty="0">
                <a:solidFill>
                  <a:schemeClr val="tx1"/>
                </a:solidFill>
              </a:rPr>
              <a:t> Fournit un accès aux comptes d’utilisateurs centralisés</a:t>
            </a:r>
          </a:p>
        </p:txBody>
      </p:sp>
      <p:sp>
        <p:nvSpPr>
          <p:cNvPr id="35" name="ZoneTexte 34"/>
          <p:cNvSpPr txBox="1"/>
          <p:nvPr/>
        </p:nvSpPr>
        <p:spPr>
          <a:xfrm>
            <a:off x="197259" y="4734342"/>
            <a:ext cx="8766632" cy="2123658"/>
          </a:xfrm>
          <a:prstGeom prst="rect">
            <a:avLst/>
          </a:prstGeom>
          <a:solidFill>
            <a:srgbClr val="BBCDE3"/>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pPr algn="l"/>
            <a:r>
              <a:rPr lang="fr-FR" sz="2200" u="sng" dirty="0">
                <a:solidFill>
                  <a:srgbClr val="C00000"/>
                </a:solidFill>
              </a:rPr>
              <a:t>Unité d’organisation OU</a:t>
            </a:r>
          </a:p>
          <a:p>
            <a:pPr algn="l">
              <a:buFont typeface="Wingdings" pitchFamily="2" charset="2"/>
              <a:buChar char="q"/>
            </a:pPr>
            <a:r>
              <a:rPr lang="fr-FR" sz="2200" dirty="0">
                <a:solidFill>
                  <a:schemeClr val="tx1"/>
                </a:solidFill>
              </a:rPr>
              <a:t> C’est un objet conteneur qui permet d’organiser les objets dans un domaine</a:t>
            </a:r>
          </a:p>
          <a:p>
            <a:pPr algn="l">
              <a:buFont typeface="Wingdings" pitchFamily="2" charset="2"/>
              <a:buChar char="q"/>
            </a:pPr>
            <a:r>
              <a:rPr lang="fr-FR" sz="2200" dirty="0">
                <a:solidFill>
                  <a:schemeClr val="tx1"/>
                </a:solidFill>
              </a:rPr>
              <a:t> Elle peut contenir des objets tels que:</a:t>
            </a:r>
          </a:p>
          <a:p>
            <a:pPr lvl="1" algn="l"/>
            <a:r>
              <a:rPr lang="fr-FR" sz="2200" dirty="0">
                <a:solidFill>
                  <a:schemeClr val="tx1"/>
                </a:solidFill>
              </a:rPr>
              <a:t>Comptes d’utilisateurs, Groupes, Ordinateurs, Imprimantes, Autres OU</a:t>
            </a:r>
          </a:p>
        </p:txBody>
      </p:sp>
      <p:sp>
        <p:nvSpPr>
          <p:cNvPr id="36" name="ZoneTexte 35"/>
          <p:cNvSpPr txBox="1"/>
          <p:nvPr/>
        </p:nvSpPr>
        <p:spPr>
          <a:xfrm>
            <a:off x="169550" y="4917695"/>
            <a:ext cx="8766632" cy="1446550"/>
          </a:xfrm>
          <a:prstGeom prst="rect">
            <a:avLst/>
          </a:prstGeom>
          <a:solidFill>
            <a:srgbClr val="99CCFF"/>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pPr algn="l"/>
            <a:r>
              <a:rPr lang="fr-FR" sz="2200" u="sng" dirty="0">
                <a:solidFill>
                  <a:srgbClr val="C00000"/>
                </a:solidFill>
              </a:rPr>
              <a:t>Forêt</a:t>
            </a:r>
          </a:p>
          <a:p>
            <a:pPr algn="l">
              <a:buFont typeface="Wingdings" pitchFamily="2" charset="2"/>
              <a:buChar char="q"/>
            </a:pPr>
            <a:r>
              <a:rPr lang="fr-FR" sz="2200" dirty="0">
                <a:solidFill>
                  <a:schemeClr val="tx1"/>
                </a:solidFill>
              </a:rPr>
              <a:t> C’est une ou plusieurs domaines qui partagent:</a:t>
            </a:r>
          </a:p>
          <a:p>
            <a:pPr lvl="1" algn="l">
              <a:buFont typeface="Wingdings" pitchFamily="2" charset="2"/>
              <a:buChar char="Ø"/>
            </a:pPr>
            <a:r>
              <a:rPr lang="fr-FR" sz="2200" dirty="0">
                <a:solidFill>
                  <a:schemeClr val="tx1"/>
                </a:solidFill>
              </a:rPr>
              <a:t> une configuration, Un schéma et Un catalogue global commun</a:t>
            </a:r>
          </a:p>
        </p:txBody>
      </p:sp>
      <p:sp>
        <p:nvSpPr>
          <p:cNvPr id="37" name="ZoneTexte 36"/>
          <p:cNvSpPr txBox="1"/>
          <p:nvPr/>
        </p:nvSpPr>
        <p:spPr>
          <a:xfrm>
            <a:off x="211115" y="5120238"/>
            <a:ext cx="8766632" cy="1107996"/>
          </a:xfrm>
          <a:prstGeom prst="rect">
            <a:avLst/>
          </a:prstGeom>
          <a:solidFill>
            <a:srgbClr val="D5D69C"/>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pPr algn="l"/>
            <a:r>
              <a:rPr lang="fr-FR" sz="2200" u="sng" dirty="0">
                <a:solidFill>
                  <a:srgbClr val="C00000"/>
                </a:solidFill>
              </a:rPr>
              <a:t>Arborescence</a:t>
            </a:r>
          </a:p>
          <a:p>
            <a:pPr algn="l">
              <a:buFont typeface="Wingdings" pitchFamily="2" charset="2"/>
              <a:buChar char="q"/>
            </a:pPr>
            <a:r>
              <a:rPr lang="fr-FR" sz="2200" dirty="0">
                <a:solidFill>
                  <a:schemeClr val="tx1"/>
                </a:solidFill>
              </a:rPr>
              <a:t> Constituée des domaines d’une forêt qui partagent un espace de noms DNS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1000" fill="hold"/>
                                        <p:tgtEl>
                                          <p:spTgt spid="34"/>
                                        </p:tgtEl>
                                        <p:attrNameLst>
                                          <p:attrName>ppt_x</p:attrName>
                                        </p:attrNameLst>
                                      </p:cBhvr>
                                      <p:tavLst>
                                        <p:tav tm="0">
                                          <p:val>
                                            <p:strVal val="#ppt_x"/>
                                          </p:val>
                                        </p:tav>
                                        <p:tav tm="100000">
                                          <p:val>
                                            <p:strVal val="#ppt_x"/>
                                          </p:val>
                                        </p:tav>
                                      </p:tavLst>
                                    </p:anim>
                                    <p:anim calcmode="lin" valueType="num">
                                      <p:cBhvr additive="base">
                                        <p:cTn id="8" dur="10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1000" fill="hold"/>
                                        <p:tgtEl>
                                          <p:spTgt spid="35"/>
                                        </p:tgtEl>
                                        <p:attrNameLst>
                                          <p:attrName>ppt_x</p:attrName>
                                        </p:attrNameLst>
                                      </p:cBhvr>
                                      <p:tavLst>
                                        <p:tav tm="0">
                                          <p:val>
                                            <p:strVal val="#ppt_x"/>
                                          </p:val>
                                        </p:tav>
                                        <p:tav tm="100000">
                                          <p:val>
                                            <p:strVal val="#ppt_x"/>
                                          </p:val>
                                        </p:tav>
                                      </p:tavLst>
                                    </p:anim>
                                    <p:anim calcmode="lin" valueType="num">
                                      <p:cBhvr additive="base">
                                        <p:cTn id="14" dur="1000" fill="hold"/>
                                        <p:tgtEl>
                                          <p:spTgt spid="35"/>
                                        </p:tgtEl>
                                        <p:attrNameLst>
                                          <p:attrName>ppt_y</p:attrName>
                                        </p:attrNameLst>
                                      </p:cBhvr>
                                      <p:tavLst>
                                        <p:tav tm="0">
                                          <p:val>
                                            <p:strVal val="1+#ppt_h/2"/>
                                          </p:val>
                                        </p:tav>
                                        <p:tav tm="100000">
                                          <p:val>
                                            <p:strVal val="#ppt_y"/>
                                          </p:val>
                                        </p:tav>
                                      </p:tavLst>
                                    </p:anim>
                                  </p:childTnLst>
                                </p:cTn>
                              </p:par>
                              <p:par>
                                <p:cTn id="15" presetID="5" presetClass="exit" presetSubtype="10" fill="hold" grpId="1" nodeType="withEffect">
                                  <p:stCondLst>
                                    <p:cond delay="0"/>
                                  </p:stCondLst>
                                  <p:childTnLst>
                                    <p:animEffect transition="out" filter="checkerboard(across)">
                                      <p:cBhvr>
                                        <p:cTn id="16" dur="500"/>
                                        <p:tgtEl>
                                          <p:spTgt spid="34"/>
                                        </p:tgtEl>
                                      </p:cBhvr>
                                    </p:animEffect>
                                    <p:set>
                                      <p:cBhvr>
                                        <p:cTn id="17" dur="1" fill="hold">
                                          <p:stCondLst>
                                            <p:cond delay="499"/>
                                          </p:stCondLst>
                                        </p:cTn>
                                        <p:tgtEl>
                                          <p:spTgt spid="3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1000" fill="hold"/>
                                        <p:tgtEl>
                                          <p:spTgt spid="36"/>
                                        </p:tgtEl>
                                        <p:attrNameLst>
                                          <p:attrName>ppt_x</p:attrName>
                                        </p:attrNameLst>
                                      </p:cBhvr>
                                      <p:tavLst>
                                        <p:tav tm="0">
                                          <p:val>
                                            <p:strVal val="#ppt_x"/>
                                          </p:val>
                                        </p:tav>
                                        <p:tav tm="100000">
                                          <p:val>
                                            <p:strVal val="#ppt_x"/>
                                          </p:val>
                                        </p:tav>
                                      </p:tavLst>
                                    </p:anim>
                                    <p:anim calcmode="lin" valueType="num">
                                      <p:cBhvr additive="base">
                                        <p:cTn id="23" dur="1000" fill="hold"/>
                                        <p:tgtEl>
                                          <p:spTgt spid="36"/>
                                        </p:tgtEl>
                                        <p:attrNameLst>
                                          <p:attrName>ppt_y</p:attrName>
                                        </p:attrNameLst>
                                      </p:cBhvr>
                                      <p:tavLst>
                                        <p:tav tm="0">
                                          <p:val>
                                            <p:strVal val="1+#ppt_h/2"/>
                                          </p:val>
                                        </p:tav>
                                        <p:tav tm="100000">
                                          <p:val>
                                            <p:strVal val="#ppt_y"/>
                                          </p:val>
                                        </p:tav>
                                      </p:tavLst>
                                    </p:anim>
                                  </p:childTnLst>
                                </p:cTn>
                              </p:par>
                              <p:par>
                                <p:cTn id="24" presetID="5" presetClass="exit" presetSubtype="10" fill="hold" nodeType="withEffect">
                                  <p:stCondLst>
                                    <p:cond delay="0"/>
                                  </p:stCondLst>
                                  <p:childTnLst>
                                    <p:animEffect transition="out" filter="checkerboard(across)">
                                      <p:cBhvr>
                                        <p:cTn id="25" dur="500"/>
                                        <p:tgtEl>
                                          <p:spTgt spid="35"/>
                                        </p:tgtEl>
                                      </p:cBhvr>
                                    </p:animEffect>
                                    <p:set>
                                      <p:cBhvr>
                                        <p:cTn id="26" dur="1" fill="hold">
                                          <p:stCondLst>
                                            <p:cond delay="499"/>
                                          </p:stCondLst>
                                        </p:cTn>
                                        <p:tgtEl>
                                          <p:spTgt spid="3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1000" fill="hold"/>
                                        <p:tgtEl>
                                          <p:spTgt spid="37"/>
                                        </p:tgtEl>
                                        <p:attrNameLst>
                                          <p:attrName>ppt_x</p:attrName>
                                        </p:attrNameLst>
                                      </p:cBhvr>
                                      <p:tavLst>
                                        <p:tav tm="0">
                                          <p:val>
                                            <p:strVal val="#ppt_x"/>
                                          </p:val>
                                        </p:tav>
                                        <p:tav tm="100000">
                                          <p:val>
                                            <p:strVal val="#ppt_x"/>
                                          </p:val>
                                        </p:tav>
                                      </p:tavLst>
                                    </p:anim>
                                    <p:anim calcmode="lin" valueType="num">
                                      <p:cBhvr additive="base">
                                        <p:cTn id="32" dur="1000" fill="hold"/>
                                        <p:tgtEl>
                                          <p:spTgt spid="37"/>
                                        </p:tgtEl>
                                        <p:attrNameLst>
                                          <p:attrName>ppt_y</p:attrName>
                                        </p:attrNameLst>
                                      </p:cBhvr>
                                      <p:tavLst>
                                        <p:tav tm="0">
                                          <p:val>
                                            <p:strVal val="1+#ppt_h/2"/>
                                          </p:val>
                                        </p:tav>
                                        <p:tav tm="100000">
                                          <p:val>
                                            <p:strVal val="#ppt_y"/>
                                          </p:val>
                                        </p:tav>
                                      </p:tavLst>
                                    </p:anim>
                                  </p:childTnLst>
                                </p:cTn>
                              </p:par>
                              <p:par>
                                <p:cTn id="33" presetID="5" presetClass="exit" presetSubtype="10" fill="hold" grpId="1" nodeType="withEffect">
                                  <p:stCondLst>
                                    <p:cond delay="0"/>
                                  </p:stCondLst>
                                  <p:childTnLst>
                                    <p:animEffect transition="out" filter="checkerboard(across)">
                                      <p:cBhvr>
                                        <p:cTn id="34" dur="500"/>
                                        <p:tgtEl>
                                          <p:spTgt spid="36"/>
                                        </p:tgtEl>
                                      </p:cBhvr>
                                    </p:animEffect>
                                    <p:set>
                                      <p:cBhvr>
                                        <p:cTn id="35"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5" grpId="0" animBg="1"/>
      <p:bldP spid="36" grpId="0" animBg="1"/>
      <p:bldP spid="36" grpId="1"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2"/>
          <p:cNvSpPr>
            <a:spLocks noGrp="1" noChangeArrowheads="1"/>
          </p:cNvSpPr>
          <p:nvPr>
            <p:ph type="title"/>
          </p:nvPr>
        </p:nvSpPr>
        <p:spPr>
          <a:xfrm>
            <a:off x="301752" y="301170"/>
            <a:ext cx="8534400" cy="758952"/>
          </a:xfrm>
        </p:spPr>
        <p:txBody>
          <a:bodyPr>
            <a:normAutofit fontScale="90000"/>
          </a:bodyPr>
          <a:lstStyle/>
          <a:p>
            <a:r>
              <a:rPr lang="fr-FR" altLang="zh-CN" dirty="0">
                <a:solidFill>
                  <a:srgbClr val="000000"/>
                </a:solidFill>
                <a:ea typeface="SimSun" pitchFamily="2" charset="-122"/>
                <a:cs typeface="Times New Roman" pitchFamily="18" charset="0"/>
              </a:rPr>
              <a:t>2. Ouverture de session sur Windows Server 2008</a:t>
            </a:r>
            <a:endParaRPr lang="en-US" dirty="0">
              <a:solidFill>
                <a:srgbClr val="000000"/>
              </a:solidFill>
              <a:ea typeface="SimSun" pitchFamily="2" charset="-122"/>
              <a:cs typeface="Times New Roman" pitchFamily="18" charset="0"/>
            </a:endParaRPr>
          </a:p>
        </p:txBody>
      </p:sp>
      <p:sp>
        <p:nvSpPr>
          <p:cNvPr id="594947" name="Rectangle-3"/>
          <p:cNvSpPr>
            <a:spLocks noGrp="1" noChangeArrowheads="1"/>
          </p:cNvSpPr>
          <p:nvPr>
            <p:ph sz="quarter" idx="1"/>
          </p:nvPr>
        </p:nvSpPr>
        <p:spPr>
          <a:xfrm>
            <a:off x="301752" y="2049562"/>
            <a:ext cx="8503920" cy="2493409"/>
          </a:xfrm>
        </p:spPr>
        <p:txBody>
          <a:bodyPr/>
          <a:lstStyle/>
          <a:p>
            <a:r>
              <a:rPr lang="fr-FR" altLang="zh-CN" dirty="0">
                <a:solidFill>
                  <a:srgbClr val="000000"/>
                </a:solidFill>
                <a:ea typeface="SimSun" pitchFamily="2" charset="-122"/>
              </a:rPr>
              <a:t>Options de la boîte de dialogue d'ouverture de session</a:t>
            </a:r>
            <a:r>
              <a:rPr lang="en-IE" altLang="zh-CN" sz="2000" dirty="0">
                <a:solidFill>
                  <a:srgbClr val="000000"/>
                </a:solidFill>
                <a:ea typeface="SimSun" pitchFamily="2" charset="-122"/>
              </a:rPr>
              <a:t> </a:t>
            </a:r>
            <a:endParaRPr lang="en-US" sz="2000" dirty="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707" name="Rectangle-43"/>
          <p:cNvSpPr>
            <a:spLocks noGrp="1" noChangeArrowheads="1"/>
          </p:cNvSpPr>
          <p:nvPr>
            <p:ph type="title"/>
          </p:nvPr>
        </p:nvSpPr>
        <p:spPr/>
        <p:txBody>
          <a:bodyPr>
            <a:normAutofit fontScale="90000"/>
          </a:bodyPr>
          <a:lstStyle/>
          <a:p>
            <a:r>
              <a:rPr lang="fr-FR" altLang="zh-CN" dirty="0">
                <a:solidFill>
                  <a:srgbClr val="C00000"/>
                </a:solidFill>
                <a:ea typeface="SimSun" pitchFamily="2" charset="-122"/>
                <a:cs typeface="Times New Roman" pitchFamily="18" charset="0"/>
              </a:rPr>
              <a:t>Ouverture de session et authentification</a:t>
            </a:r>
            <a:endParaRPr lang="en-US" dirty="0">
              <a:solidFill>
                <a:srgbClr val="C00000"/>
              </a:solidFill>
              <a:ea typeface="SimSun" pitchFamily="2" charset="-122"/>
              <a:cs typeface="Times New Roman" pitchFamily="18" charset="0"/>
            </a:endParaRPr>
          </a:p>
        </p:txBody>
      </p:sp>
      <p:sp>
        <p:nvSpPr>
          <p:cNvPr id="4" name="Espace réservé du contenu 3"/>
          <p:cNvSpPr>
            <a:spLocks noGrp="1"/>
          </p:cNvSpPr>
          <p:nvPr>
            <p:ph sz="quarter" idx="1"/>
          </p:nvPr>
        </p:nvSpPr>
        <p:spPr>
          <a:xfrm>
            <a:off x="188686" y="1527049"/>
            <a:ext cx="8766628" cy="1608038"/>
          </a:xfrm>
        </p:spPr>
        <p:txBody>
          <a:bodyPr>
            <a:noAutofit/>
          </a:bodyPr>
          <a:lstStyle/>
          <a:p>
            <a:pPr>
              <a:lnSpc>
                <a:spcPct val="120000"/>
              </a:lnSpc>
              <a:buNone/>
            </a:pPr>
            <a:r>
              <a:rPr lang="fr-FR" sz="2400" b="1" dirty="0"/>
              <a:t>1. Quelle est la différence entre l’authentification d’une ouverture de session locale et l’authentification d’une ouverture de session de domaine ?</a:t>
            </a:r>
          </a:p>
        </p:txBody>
      </p:sp>
      <p:sp>
        <p:nvSpPr>
          <p:cNvPr id="5" name="Rectangle 4"/>
          <p:cNvSpPr/>
          <p:nvPr/>
        </p:nvSpPr>
        <p:spPr>
          <a:xfrm>
            <a:off x="413656" y="3290839"/>
            <a:ext cx="8236857" cy="1938992"/>
          </a:xfrm>
          <a:prstGeom prst="rect">
            <a:avLst/>
          </a:prstGeom>
        </p:spPr>
        <p:txBody>
          <a:bodyPr wrap="square">
            <a:spAutoFit/>
          </a:bodyPr>
          <a:lstStyle/>
          <a:p>
            <a:pPr algn="just">
              <a:buFont typeface="Wingdings" pitchFamily="2" charset="2"/>
              <a:buChar char="q"/>
            </a:pPr>
            <a:r>
              <a:rPr lang="fr-FR" sz="2400" b="0" u="sng" dirty="0">
                <a:solidFill>
                  <a:srgbClr val="C00000"/>
                </a:solidFill>
              </a:rPr>
              <a:t>Le gestionnaire des comptes de sécurité </a:t>
            </a:r>
            <a:r>
              <a:rPr lang="fr-FR" sz="2400" b="0" dirty="0"/>
              <a:t>(SAM, </a:t>
            </a:r>
            <a:r>
              <a:rPr lang="fr-FR" sz="2400" b="0" i="1" dirty="0"/>
              <a:t>Security </a:t>
            </a:r>
            <a:r>
              <a:rPr lang="fr-FR" sz="2400" b="0" i="1" dirty="0" err="1"/>
              <a:t>Accounts</a:t>
            </a:r>
            <a:r>
              <a:rPr lang="fr-FR" sz="2400" b="0" i="1" dirty="0"/>
              <a:t>  Manager) de l’ordinateur local authentifie l’ouverture de session locale </a:t>
            </a:r>
            <a:r>
              <a:rPr lang="fr-FR" sz="2400" b="0" dirty="0"/>
              <a:t>et autorise l’accès aux ressources sur cet  ordinateur uniquement.</a:t>
            </a:r>
          </a:p>
          <a:p>
            <a:pPr algn="just">
              <a:buFont typeface="Wingdings" pitchFamily="2" charset="2"/>
              <a:buChar char="q"/>
            </a:pPr>
            <a:r>
              <a:rPr lang="fr-FR" sz="2400" b="0" u="sng" dirty="0">
                <a:solidFill>
                  <a:srgbClr val="C00000"/>
                </a:solidFill>
              </a:rPr>
              <a:t>Un contrôleur de domaine </a:t>
            </a:r>
            <a:r>
              <a:rPr lang="fr-FR" sz="2400" b="0" dirty="0"/>
              <a:t>authentifie une ouverture de session de domaine et autorise l’accès aux ressources du réseau.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707" name="Rectangle-43"/>
          <p:cNvSpPr>
            <a:spLocks noGrp="1" noChangeArrowheads="1"/>
          </p:cNvSpPr>
          <p:nvPr>
            <p:ph type="title"/>
          </p:nvPr>
        </p:nvSpPr>
        <p:spPr/>
        <p:txBody>
          <a:bodyPr>
            <a:normAutofit fontScale="90000"/>
          </a:bodyPr>
          <a:lstStyle/>
          <a:p>
            <a:r>
              <a:rPr lang="fr-FR" altLang="zh-CN" dirty="0">
                <a:solidFill>
                  <a:srgbClr val="C00000"/>
                </a:solidFill>
                <a:ea typeface="SimSun" pitchFamily="2" charset="-122"/>
                <a:cs typeface="Times New Roman" pitchFamily="18" charset="0"/>
              </a:rPr>
              <a:t>Ouverture de session et authentification</a:t>
            </a:r>
            <a:endParaRPr lang="en-US" dirty="0">
              <a:solidFill>
                <a:srgbClr val="C00000"/>
              </a:solidFill>
              <a:ea typeface="SimSun" pitchFamily="2" charset="-122"/>
              <a:cs typeface="Times New Roman" pitchFamily="18" charset="0"/>
            </a:endParaRPr>
          </a:p>
        </p:txBody>
      </p:sp>
      <p:sp>
        <p:nvSpPr>
          <p:cNvPr id="4" name="Espace réservé du contenu 3"/>
          <p:cNvSpPr>
            <a:spLocks noGrp="1"/>
          </p:cNvSpPr>
          <p:nvPr>
            <p:ph sz="quarter" idx="1"/>
          </p:nvPr>
        </p:nvSpPr>
        <p:spPr>
          <a:xfrm>
            <a:off x="188686" y="1527049"/>
            <a:ext cx="8766628" cy="795237"/>
          </a:xfrm>
        </p:spPr>
        <p:txBody>
          <a:bodyPr>
            <a:noAutofit/>
          </a:bodyPr>
          <a:lstStyle/>
          <a:p>
            <a:pPr>
              <a:lnSpc>
                <a:spcPct val="120000"/>
              </a:lnSpc>
              <a:buNone/>
            </a:pPr>
            <a:r>
              <a:rPr lang="fr-FR" sz="2400" b="1" dirty="0"/>
              <a:t>2. Comment ouvrez-vous une session secondaire ?</a:t>
            </a:r>
          </a:p>
        </p:txBody>
      </p:sp>
      <p:sp>
        <p:nvSpPr>
          <p:cNvPr id="5" name="Rectangle 4"/>
          <p:cNvSpPr/>
          <p:nvPr/>
        </p:nvSpPr>
        <p:spPr>
          <a:xfrm>
            <a:off x="442685" y="2840896"/>
            <a:ext cx="8236857" cy="2308324"/>
          </a:xfrm>
          <a:prstGeom prst="rect">
            <a:avLst/>
          </a:prstGeom>
        </p:spPr>
        <p:txBody>
          <a:bodyPr wrap="square">
            <a:spAutoFit/>
          </a:bodyPr>
          <a:lstStyle/>
          <a:p>
            <a:pPr algn="just"/>
            <a:r>
              <a:rPr lang="fr-FR" sz="2400" dirty="0"/>
              <a:t>Pour effectuer une ouverture de session secondaire, cliquez avec le bouton droit sur le programme, l’outil ou l’élément, puis cliquez sur Exécuter en tant que. Entrez le nom du compte et le mot de passe administrateur dans la boîte de dialogue.</a:t>
            </a:r>
          </a:p>
          <a:p>
            <a:pPr algn="just"/>
            <a:r>
              <a:rPr lang="fr-FR" sz="2400" dirty="0"/>
              <a:t>Vous pouvez exécuter la commande </a:t>
            </a:r>
            <a:r>
              <a:rPr lang="fr-FR" sz="2400" dirty="0" err="1">
                <a:solidFill>
                  <a:srgbClr val="C00000"/>
                </a:solidFill>
              </a:rPr>
              <a:t>runas</a:t>
            </a:r>
            <a:r>
              <a:rPr lang="fr-FR" sz="2400" dirty="0"/>
              <a:t> avec des commandes dans une invite de commandes</a:t>
            </a:r>
            <a:endParaRPr lang="fr-FR" sz="24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707" name="Rectangle-43"/>
          <p:cNvSpPr>
            <a:spLocks noGrp="1" noChangeArrowheads="1"/>
          </p:cNvSpPr>
          <p:nvPr>
            <p:ph type="title"/>
          </p:nvPr>
        </p:nvSpPr>
        <p:spPr/>
        <p:txBody>
          <a:bodyPr>
            <a:normAutofit fontScale="90000"/>
          </a:bodyPr>
          <a:lstStyle/>
          <a:p>
            <a:r>
              <a:rPr lang="fr-FR" altLang="zh-CN" dirty="0">
                <a:solidFill>
                  <a:srgbClr val="C00000"/>
                </a:solidFill>
                <a:ea typeface="SimSun" pitchFamily="2" charset="-122"/>
                <a:cs typeface="Times New Roman" pitchFamily="18" charset="0"/>
              </a:rPr>
              <a:t>Ouverture de session et authentification</a:t>
            </a:r>
            <a:endParaRPr lang="en-US" dirty="0">
              <a:solidFill>
                <a:srgbClr val="C00000"/>
              </a:solidFill>
              <a:ea typeface="SimSun" pitchFamily="2" charset="-122"/>
              <a:cs typeface="Times New Roman" pitchFamily="18" charset="0"/>
            </a:endParaRPr>
          </a:p>
        </p:txBody>
      </p:sp>
      <p:sp>
        <p:nvSpPr>
          <p:cNvPr id="4" name="Espace réservé du contenu 3"/>
          <p:cNvSpPr>
            <a:spLocks noGrp="1"/>
          </p:cNvSpPr>
          <p:nvPr>
            <p:ph sz="quarter" idx="1"/>
          </p:nvPr>
        </p:nvSpPr>
        <p:spPr>
          <a:xfrm>
            <a:off x="0" y="1527049"/>
            <a:ext cx="9144000" cy="795237"/>
          </a:xfrm>
        </p:spPr>
        <p:txBody>
          <a:bodyPr>
            <a:noAutofit/>
          </a:bodyPr>
          <a:lstStyle/>
          <a:p>
            <a:pPr>
              <a:lnSpc>
                <a:spcPct val="120000"/>
              </a:lnSpc>
              <a:buNone/>
            </a:pPr>
            <a:r>
              <a:rPr lang="fr-FR" sz="2400" b="1" dirty="0"/>
              <a:t>3. Quel type d’informations un jeton d’accès contient-il ?</a:t>
            </a:r>
          </a:p>
        </p:txBody>
      </p:sp>
      <p:sp>
        <p:nvSpPr>
          <p:cNvPr id="5" name="Rectangle 4"/>
          <p:cNvSpPr/>
          <p:nvPr/>
        </p:nvSpPr>
        <p:spPr>
          <a:xfrm>
            <a:off x="442685" y="2840896"/>
            <a:ext cx="8236857" cy="1723549"/>
          </a:xfrm>
          <a:prstGeom prst="rect">
            <a:avLst/>
          </a:prstGeom>
        </p:spPr>
        <p:txBody>
          <a:bodyPr wrap="square">
            <a:spAutoFit/>
          </a:bodyPr>
          <a:lstStyle/>
          <a:p>
            <a:pPr algn="just">
              <a:spcAft>
                <a:spcPts val="600"/>
              </a:spcAft>
            </a:pPr>
            <a:r>
              <a:rPr lang="fr-FR" sz="2400" dirty="0"/>
              <a:t>Un jeton d’accès contient:</a:t>
            </a:r>
          </a:p>
          <a:p>
            <a:pPr algn="just">
              <a:spcAft>
                <a:spcPts val="600"/>
              </a:spcAft>
              <a:buFont typeface="Wingdings" pitchFamily="2" charset="2"/>
              <a:buChar char="q"/>
            </a:pPr>
            <a:r>
              <a:rPr lang="fr-FR" sz="2400" dirty="0"/>
              <a:t>Les identificateurs de sécurité (SID,</a:t>
            </a:r>
            <a:r>
              <a:rPr lang="fr-FR" sz="2400" i="1" dirty="0"/>
              <a:t> Security  Identifier) qui définissent les droits et les privilèges des utilisateurs.</a:t>
            </a:r>
          </a:p>
          <a:p>
            <a:pPr algn="just">
              <a:spcAft>
                <a:spcPts val="600"/>
              </a:spcAft>
              <a:buFont typeface="Wingdings" pitchFamily="2" charset="2"/>
              <a:buChar char="q"/>
            </a:pPr>
            <a:r>
              <a:rPr lang="fr-FR" sz="2400" dirty="0"/>
              <a:t>Les SID des groupes dont vous êtes membre.</a:t>
            </a:r>
            <a:endParaRPr lang="fr-FR" sz="24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2"/>
          <p:cNvSpPr>
            <a:spLocks noGrp="1" noChangeArrowheads="1"/>
          </p:cNvSpPr>
          <p:nvPr>
            <p:ph type="title"/>
          </p:nvPr>
        </p:nvSpPr>
        <p:spPr/>
        <p:txBody>
          <a:bodyPr>
            <a:normAutofit/>
          </a:bodyPr>
          <a:lstStyle/>
          <a:p>
            <a:r>
              <a:rPr lang="fr-FR" altLang="zh-CN" dirty="0">
                <a:solidFill>
                  <a:srgbClr val="000000"/>
                </a:solidFill>
                <a:ea typeface="SimSun" pitchFamily="2" charset="-122"/>
                <a:cs typeface="Times New Roman" pitchFamily="18" charset="0"/>
              </a:rPr>
              <a:t>3. Création d'une unité d'organisation</a:t>
            </a:r>
            <a:endParaRPr lang="en-US" dirty="0">
              <a:solidFill>
                <a:srgbClr val="000000"/>
              </a:solidFill>
              <a:ea typeface="SimSun" pitchFamily="2" charset="-122"/>
              <a:cs typeface="Times New Roman" pitchFamily="18" charset="0"/>
            </a:endParaRPr>
          </a:p>
        </p:txBody>
      </p:sp>
      <p:sp>
        <p:nvSpPr>
          <p:cNvPr id="374787" name="Rectangle-3"/>
          <p:cNvSpPr>
            <a:spLocks noGrp="1" noChangeArrowheads="1"/>
          </p:cNvSpPr>
          <p:nvPr>
            <p:ph sz="quarter" idx="1"/>
          </p:nvPr>
        </p:nvSpPr>
        <p:spPr>
          <a:xfrm>
            <a:off x="301752" y="2165677"/>
            <a:ext cx="8503920" cy="2536952"/>
          </a:xfrm>
        </p:spPr>
        <p:txBody>
          <a:bodyPr/>
          <a:lstStyle/>
          <a:p>
            <a:r>
              <a:rPr lang="fr-FR" altLang="zh-CN" dirty="0">
                <a:solidFill>
                  <a:srgbClr val="000000"/>
                </a:solidFill>
                <a:ea typeface="SimSun" pitchFamily="2" charset="-122"/>
                <a:cs typeface="Times New Roman" pitchFamily="18" charset="0"/>
              </a:rPr>
              <a:t>Description d'une unité d'organisation </a:t>
            </a:r>
            <a:r>
              <a:rPr lang="en-IE" altLang="zh-CN" dirty="0">
                <a:solidFill>
                  <a:srgbClr val="000000"/>
                </a:solidFill>
                <a:ea typeface="SimSun" pitchFamily="2" charset="-122"/>
                <a:cs typeface="Times New Roman" pitchFamily="18" charset="0"/>
              </a:rPr>
              <a:t> </a:t>
            </a:r>
            <a:endParaRPr lang="en-US" dirty="0">
              <a:ea typeface="SimSun" pitchFamily="2" charset="-122"/>
              <a:cs typeface="Times New Roman" pitchFamily="18" charset="0"/>
            </a:endParaRPr>
          </a:p>
          <a:p>
            <a:r>
              <a:rPr lang="fr-FR" altLang="zh-CN" dirty="0">
                <a:solidFill>
                  <a:srgbClr val="000000"/>
                </a:solidFill>
                <a:ea typeface="SimSun" pitchFamily="2" charset="-122"/>
                <a:cs typeface="Times New Roman" pitchFamily="18" charset="0"/>
              </a:rPr>
              <a:t>Modèles hiérarchiques des unités d'organisation</a:t>
            </a:r>
            <a:r>
              <a:rPr lang="en-IE" altLang="zh-CN" dirty="0">
                <a:solidFill>
                  <a:srgbClr val="000000"/>
                </a:solidFill>
                <a:ea typeface="SimSun" pitchFamily="2" charset="-122"/>
                <a:cs typeface="Times New Roman" pitchFamily="18" charset="0"/>
              </a:rPr>
              <a:t> </a:t>
            </a:r>
            <a:endParaRPr lang="en-US" dirty="0">
              <a:ea typeface="SimSun" pitchFamily="2" charset="-122"/>
              <a:cs typeface="Times New Roman" pitchFamily="18" charset="0"/>
            </a:endParaRPr>
          </a:p>
          <a:p>
            <a:r>
              <a:rPr lang="fr-FR" altLang="zh-CN" dirty="0">
                <a:solidFill>
                  <a:srgbClr val="000000"/>
                </a:solidFill>
                <a:ea typeface="SimSun" pitchFamily="2" charset="-122"/>
                <a:cs typeface="Times New Roman" pitchFamily="18" charset="0"/>
              </a:rPr>
              <a:t>Noms des unités d'organisation</a:t>
            </a:r>
            <a:r>
              <a:rPr lang="en-IE" altLang="zh-CN" dirty="0">
                <a:solidFill>
                  <a:srgbClr val="000000"/>
                </a:solidFill>
                <a:ea typeface="SimSun" pitchFamily="2" charset="-122"/>
                <a:cs typeface="Times New Roman" pitchFamily="18" charset="0"/>
              </a:rPr>
              <a:t> </a:t>
            </a:r>
            <a:endParaRPr lang="en-US" dirty="0">
              <a:ea typeface="SimSun" pitchFamily="2" charset="-122"/>
              <a:cs typeface="Times New Roman" pitchFamily="18" charset="0"/>
            </a:endParaRPr>
          </a:p>
          <a:p>
            <a:r>
              <a:rPr lang="fr-FR" altLang="zh-CN" dirty="0">
                <a:solidFill>
                  <a:srgbClr val="000000"/>
                </a:solidFill>
                <a:ea typeface="SimSun" pitchFamily="2" charset="-122"/>
                <a:cs typeface="Times New Roman" pitchFamily="18" charset="0"/>
              </a:rPr>
              <a:t>Procédure de création d'une unité d'organisation</a:t>
            </a:r>
            <a:r>
              <a:rPr lang="en-IE" altLang="zh-CN" sz="2000" dirty="0">
                <a:solidFill>
                  <a:srgbClr val="000000"/>
                </a:solidFill>
                <a:ea typeface="SimSun" pitchFamily="2" charset="-122"/>
                <a:cs typeface="Times New Roman" pitchFamily="18" charset="0"/>
              </a:rPr>
              <a:t> </a:t>
            </a:r>
            <a:endParaRPr lang="en-US" sz="2000" dirty="0">
              <a:solidFill>
                <a:srgbClr val="000000"/>
              </a:solidFill>
              <a:ea typeface="SimSun" pitchFamily="2" charset="-122"/>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2"/>
          <p:cNvSpPr>
            <a:spLocks noGrp="1" noChangeArrowheads="1"/>
          </p:cNvSpPr>
          <p:nvPr>
            <p:ph type="title"/>
          </p:nvPr>
        </p:nvSpPr>
        <p:spPr>
          <a:xfrm>
            <a:off x="377371" y="295503"/>
            <a:ext cx="8766629" cy="684212"/>
          </a:xfrm>
        </p:spPr>
        <p:txBody>
          <a:bodyPr>
            <a:normAutofit/>
          </a:bodyPr>
          <a:lstStyle/>
          <a:p>
            <a:r>
              <a:rPr lang="fr-FR" altLang="zh-CN" dirty="0">
                <a:solidFill>
                  <a:srgbClr val="C00000"/>
                </a:solidFill>
                <a:ea typeface="SimSun" pitchFamily="2" charset="-122"/>
                <a:cs typeface="Times New Roman" pitchFamily="18" charset="0"/>
              </a:rPr>
              <a:t>Description d'une unité d'organisation </a:t>
            </a:r>
            <a:endParaRPr lang="en-US" dirty="0">
              <a:solidFill>
                <a:srgbClr val="C00000"/>
              </a:solidFill>
              <a:ea typeface="SimSun" pitchFamily="2" charset="-122"/>
              <a:cs typeface="Times New Roman" pitchFamily="18" charset="0"/>
            </a:endParaRPr>
          </a:p>
        </p:txBody>
      </p:sp>
      <p:sp>
        <p:nvSpPr>
          <p:cNvPr id="375815" name="Rectangle-7"/>
          <p:cNvSpPr>
            <a:spLocks noGrp="1" noChangeArrowheads="1"/>
          </p:cNvSpPr>
          <p:nvPr>
            <p:ph type="body" sz="half" idx="1"/>
          </p:nvPr>
        </p:nvSpPr>
        <p:spPr>
          <a:xfrm>
            <a:off x="406401" y="1999343"/>
            <a:ext cx="8244114" cy="3196112"/>
          </a:xfrm>
          <a:noFill/>
          <a:ln/>
        </p:spPr>
        <p:txBody>
          <a:bodyPr>
            <a:normAutofit fontScale="92500"/>
          </a:bodyPr>
          <a:lstStyle/>
          <a:p>
            <a:pPr>
              <a:lnSpc>
                <a:spcPct val="150000"/>
              </a:lnSpc>
              <a:buClrTx/>
              <a:buFont typeface="Wingdings" pitchFamily="2" charset="2"/>
              <a:buChar char="q"/>
            </a:pPr>
            <a:r>
              <a:rPr lang="fr-FR" altLang="zh-CN" b="1" dirty="0">
                <a:solidFill>
                  <a:srgbClr val="000000"/>
                </a:solidFill>
                <a:ea typeface="SimSun" pitchFamily="2" charset="-122"/>
                <a:cs typeface="Times New Roman" pitchFamily="18" charset="0"/>
              </a:rPr>
              <a:t>Organise les objets d'un domaine</a:t>
            </a:r>
            <a:r>
              <a:rPr lang="en-IE" altLang="zh-CN" b="1" dirty="0">
                <a:solidFill>
                  <a:srgbClr val="000000"/>
                </a:solidFill>
                <a:ea typeface="SimSun" pitchFamily="2" charset="-122"/>
                <a:cs typeface="Times New Roman" pitchFamily="18" charset="0"/>
              </a:rPr>
              <a:t> </a:t>
            </a:r>
            <a:endParaRPr lang="en-US" b="1" dirty="0">
              <a:ea typeface="SimSun" pitchFamily="2" charset="-122"/>
              <a:cs typeface="Times New Roman" pitchFamily="18" charset="0"/>
            </a:endParaRPr>
          </a:p>
          <a:p>
            <a:pPr>
              <a:lnSpc>
                <a:spcPct val="150000"/>
              </a:lnSpc>
              <a:buClrTx/>
              <a:buFont typeface="Wingdings" pitchFamily="2" charset="2"/>
              <a:buChar char="q"/>
            </a:pPr>
            <a:r>
              <a:rPr lang="fr-FR" altLang="zh-CN" b="1" dirty="0">
                <a:solidFill>
                  <a:srgbClr val="000000"/>
                </a:solidFill>
                <a:ea typeface="SimSun" pitchFamily="2" charset="-122"/>
                <a:cs typeface="Times New Roman" pitchFamily="18" charset="0"/>
              </a:rPr>
              <a:t>Permet de déléguer le contrôle de l'administration</a:t>
            </a:r>
            <a:r>
              <a:rPr lang="en-IE" altLang="zh-CN" b="1" dirty="0">
                <a:solidFill>
                  <a:srgbClr val="000000"/>
                </a:solidFill>
                <a:ea typeface="SimSun" pitchFamily="2" charset="-122"/>
                <a:cs typeface="Times New Roman" pitchFamily="18" charset="0"/>
              </a:rPr>
              <a:t> </a:t>
            </a:r>
            <a:endParaRPr lang="en-US" b="1" dirty="0">
              <a:ea typeface="SimSun" pitchFamily="2" charset="-122"/>
              <a:cs typeface="Times New Roman" pitchFamily="18" charset="0"/>
            </a:endParaRPr>
          </a:p>
          <a:p>
            <a:pPr>
              <a:lnSpc>
                <a:spcPct val="150000"/>
              </a:lnSpc>
              <a:buClrTx/>
              <a:buFont typeface="Wingdings" pitchFamily="2" charset="2"/>
              <a:buChar char="q"/>
            </a:pPr>
            <a:r>
              <a:rPr lang="fr-FR" altLang="zh-CN" b="1" dirty="0">
                <a:solidFill>
                  <a:srgbClr val="000000"/>
                </a:solidFill>
                <a:ea typeface="SimSun" pitchFamily="2" charset="-122"/>
                <a:cs typeface="Times New Roman" pitchFamily="18" charset="0"/>
              </a:rPr>
              <a:t>Simplifie l'administration des ressources qui appartiennent communément à des groupes</a:t>
            </a:r>
            <a:r>
              <a:rPr lang="en-IE" altLang="zh-CN" b="1" dirty="0">
                <a:solidFill>
                  <a:srgbClr val="000000"/>
                </a:solidFill>
                <a:ea typeface="SimSun" pitchFamily="2" charset="-122"/>
                <a:cs typeface="Times New Roman" pitchFamily="18" charset="0"/>
              </a:rPr>
              <a:t> </a:t>
            </a:r>
            <a:endParaRPr lang="en-US" b="1" dirty="0">
              <a:solidFill>
                <a:srgbClr val="000000"/>
              </a:solidFill>
              <a:ea typeface="SimSun" pitchFamily="2"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75815">
                                            <p:txEl>
                                              <p:pRg st="0" end="0"/>
                                            </p:txEl>
                                          </p:spTgt>
                                        </p:tgtEl>
                                        <p:attrNameLst>
                                          <p:attrName>style.visibility</p:attrName>
                                        </p:attrNameLst>
                                      </p:cBhvr>
                                      <p:to>
                                        <p:strVal val="visible"/>
                                      </p:to>
                                    </p:set>
                                    <p:animEffect transition="in" filter="checkerboard(across)">
                                      <p:cBhvr>
                                        <p:cTn id="7" dur="2000"/>
                                        <p:tgtEl>
                                          <p:spTgt spid="3758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75815">
                                            <p:txEl>
                                              <p:pRg st="1" end="1"/>
                                            </p:txEl>
                                          </p:spTgt>
                                        </p:tgtEl>
                                        <p:attrNameLst>
                                          <p:attrName>style.visibility</p:attrName>
                                        </p:attrNameLst>
                                      </p:cBhvr>
                                      <p:to>
                                        <p:strVal val="visible"/>
                                      </p:to>
                                    </p:set>
                                    <p:animEffect transition="in" filter="checkerboard(across)">
                                      <p:cBhvr>
                                        <p:cTn id="12" dur="2000"/>
                                        <p:tgtEl>
                                          <p:spTgt spid="3758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5815">
                                            <p:txEl>
                                              <p:pRg st="2" end="2"/>
                                            </p:txEl>
                                          </p:spTgt>
                                        </p:tgtEl>
                                        <p:attrNameLst>
                                          <p:attrName>style.visibility</p:attrName>
                                        </p:attrNameLst>
                                      </p:cBhvr>
                                      <p:to>
                                        <p:strVal val="visible"/>
                                      </p:to>
                                    </p:set>
                                    <p:animEffect transition="in" filter="checkerboard(across)">
                                      <p:cBhvr>
                                        <p:cTn id="17" dur="2000"/>
                                        <p:tgtEl>
                                          <p:spTgt spid="3758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2"/>
          <p:cNvSpPr>
            <a:spLocks noGrp="1" noChangeArrowheads="1"/>
          </p:cNvSpPr>
          <p:nvPr>
            <p:ph type="title" sz="quarter"/>
          </p:nvPr>
        </p:nvSpPr>
        <p:spPr>
          <a:xfrm>
            <a:off x="199570" y="310017"/>
            <a:ext cx="8755743" cy="684212"/>
          </a:xfrm>
        </p:spPr>
        <p:txBody>
          <a:bodyPr>
            <a:normAutofit fontScale="90000"/>
          </a:bodyPr>
          <a:lstStyle/>
          <a:p>
            <a:r>
              <a:rPr lang="fr-FR" altLang="zh-CN" dirty="0">
                <a:solidFill>
                  <a:srgbClr val="C00000"/>
                </a:solidFill>
                <a:ea typeface="SimSun" pitchFamily="2" charset="-122"/>
                <a:cs typeface="Times New Roman" pitchFamily="18" charset="0"/>
              </a:rPr>
              <a:t>Modèles hiérarchiques des unités d'organisation</a:t>
            </a:r>
            <a:endParaRPr lang="en-US" dirty="0">
              <a:solidFill>
                <a:srgbClr val="C00000"/>
              </a:solidFill>
              <a:ea typeface="SimSun" pitchFamily="2" charset="-122"/>
              <a:cs typeface="Times New Roman" pitchFamily="18" charset="0"/>
            </a:endParaRPr>
          </a:p>
        </p:txBody>
      </p:sp>
      <p:grpSp>
        <p:nvGrpSpPr>
          <p:cNvPr id="380053" name="Group 149"/>
          <p:cNvGrpSpPr>
            <a:grpSpLocks/>
          </p:cNvGrpSpPr>
          <p:nvPr/>
        </p:nvGrpSpPr>
        <p:grpSpPr bwMode="auto">
          <a:xfrm>
            <a:off x="522144" y="1274763"/>
            <a:ext cx="3554556" cy="1736725"/>
            <a:chOff x="490" y="803"/>
            <a:chExt cx="2078" cy="1094"/>
          </a:xfrm>
        </p:grpSpPr>
        <p:sp>
          <p:nvSpPr>
            <p:cNvPr id="379971" name="AutoShape-67"/>
            <p:cNvSpPr>
              <a:spLocks noChangeArrowheads="1"/>
            </p:cNvSpPr>
            <p:nvPr/>
          </p:nvSpPr>
          <p:spPr bwMode="auto">
            <a:xfrm>
              <a:off x="490" y="803"/>
              <a:ext cx="2078" cy="1011"/>
            </a:xfrm>
            <a:prstGeom prst="roundRect">
              <a:avLst>
                <a:gd name="adj" fmla="val 16667"/>
              </a:avLst>
            </a:prstGeom>
            <a:solidFill>
              <a:srgbClr val="DFE8F2"/>
            </a:solidFill>
            <a:ln w="28575" algn="ctr">
              <a:solidFill>
                <a:srgbClr val="808080"/>
              </a:solidFill>
              <a:prstDash val="sysDot"/>
              <a:round/>
              <a:headEnd/>
              <a:tailEnd/>
            </a:ln>
            <a:effectLst/>
          </p:spPr>
          <p:txBody>
            <a:bodyPr wrap="none" bIns="1600200"/>
            <a:lstStyle/>
            <a:p>
              <a:r>
                <a:rPr lang="fr-FR" altLang="zh-CN" sz="2200" dirty="0">
                  <a:solidFill>
                    <a:srgbClr val="000000"/>
                  </a:solidFill>
                  <a:ea typeface="SimSun" pitchFamily="2" charset="-122"/>
                  <a:cs typeface="Times New Roman" pitchFamily="18" charset="0"/>
                </a:rPr>
                <a:t>Fondée sur la fonction</a:t>
              </a:r>
              <a:r>
                <a:rPr lang="en-IE" altLang="zh-CN" sz="2200" dirty="0">
                  <a:solidFill>
                    <a:srgbClr val="000000"/>
                  </a:solidFill>
                  <a:ea typeface="SimSun" pitchFamily="2" charset="-122"/>
                  <a:cs typeface="Times New Roman" pitchFamily="18" charset="0"/>
                </a:rPr>
                <a:t> </a:t>
              </a:r>
              <a:endParaRPr lang="en-US" sz="2200" dirty="0">
                <a:solidFill>
                  <a:srgbClr val="000000"/>
                </a:solidFill>
                <a:ea typeface="SimSun" pitchFamily="2" charset="-122"/>
                <a:cs typeface="Times New Roman" pitchFamily="18" charset="0"/>
              </a:endParaRPr>
            </a:p>
          </p:txBody>
        </p:sp>
        <p:grpSp>
          <p:nvGrpSpPr>
            <p:cNvPr id="380052" name="Group 148"/>
            <p:cNvGrpSpPr>
              <a:grpSpLocks/>
            </p:cNvGrpSpPr>
            <p:nvPr/>
          </p:nvGrpSpPr>
          <p:grpSpPr bwMode="auto">
            <a:xfrm>
              <a:off x="734" y="1024"/>
              <a:ext cx="824" cy="873"/>
              <a:chOff x="734" y="1024"/>
              <a:chExt cx="824" cy="873"/>
            </a:xfrm>
          </p:grpSpPr>
          <p:pic>
            <p:nvPicPr>
              <p:cNvPr id="379983" name="Picture-79" descr="2DomainWithOus01"/>
              <p:cNvPicPr>
                <a:picLocks noChangeAspect="1" noChangeArrowheads="1"/>
              </p:cNvPicPr>
              <p:nvPr/>
            </p:nvPicPr>
            <p:blipFill>
              <a:blip r:embed="rId3" cstate="print"/>
              <a:srcRect/>
              <a:stretch>
                <a:fillRect/>
              </a:stretch>
            </p:blipFill>
            <p:spPr bwMode="auto">
              <a:xfrm>
                <a:off x="734" y="1024"/>
                <a:ext cx="824" cy="727"/>
              </a:xfrm>
              <a:prstGeom prst="rect">
                <a:avLst/>
              </a:prstGeom>
              <a:noFill/>
            </p:spPr>
          </p:pic>
          <p:sp>
            <p:nvSpPr>
              <p:cNvPr id="379986" name="Text-Box-82"/>
              <p:cNvSpPr txBox="1">
                <a:spLocks noChangeArrowheads="1"/>
              </p:cNvSpPr>
              <p:nvPr/>
            </p:nvSpPr>
            <p:spPr bwMode="auto">
              <a:xfrm>
                <a:off x="1040" y="1121"/>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V</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9987" name="Text-Box-83"/>
              <p:cNvSpPr txBox="1">
                <a:spLocks noChangeArrowheads="1"/>
              </p:cNvSpPr>
              <p:nvPr/>
            </p:nvSpPr>
            <p:spPr bwMode="auto">
              <a:xfrm>
                <a:off x="826" y="1493"/>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C</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9989" name="Text-Box-85"/>
              <p:cNvSpPr txBox="1">
                <a:spLocks noChangeArrowheads="1"/>
              </p:cNvSpPr>
              <p:nvPr/>
            </p:nvSpPr>
            <p:spPr bwMode="auto">
              <a:xfrm>
                <a:off x="1246" y="1491"/>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M</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grpSp>
        <p:sp>
          <p:nvSpPr>
            <p:cNvPr id="379997" name="Rectangle-93"/>
            <p:cNvSpPr>
              <a:spLocks noChangeArrowheads="1"/>
            </p:cNvSpPr>
            <p:nvPr/>
          </p:nvSpPr>
          <p:spPr bwMode="auto">
            <a:xfrm>
              <a:off x="1564" y="1108"/>
              <a:ext cx="816" cy="480"/>
            </a:xfrm>
            <a:prstGeom prst="rect">
              <a:avLst/>
            </a:prstGeom>
            <a:noFill/>
            <a:ln w="9525" algn="ctr">
              <a:noFill/>
              <a:miter lim="800000"/>
              <a:headEnd/>
              <a:tailEnd/>
            </a:ln>
            <a:effectLst/>
          </p:spPr>
          <p:txBody>
            <a:bodyPr wrap="none" anchor="ctr"/>
            <a:lstStyle/>
            <a:p>
              <a:pPr algn="l"/>
              <a:r>
                <a:rPr lang="fr-FR" altLang="zh-CN" sz="1600" dirty="0">
                  <a:solidFill>
                    <a:srgbClr val="000000"/>
                  </a:solidFill>
                  <a:ea typeface="SimSun" pitchFamily="2" charset="-122"/>
                  <a:cs typeface="Times New Roman" pitchFamily="18" charset="0"/>
                </a:rPr>
                <a:t>V</a:t>
              </a:r>
              <a:r>
                <a:rPr lang="fr-FR" altLang="zh-CN" sz="1600" b="0" dirty="0">
                  <a:solidFill>
                    <a:srgbClr val="000000"/>
                  </a:solidFill>
                  <a:ea typeface="SimSun" pitchFamily="2" charset="-122"/>
                  <a:cs typeface="Times New Roman" pitchFamily="18" charset="0"/>
                </a:rPr>
                <a:t> – Ventes</a:t>
              </a:r>
              <a:r>
                <a:rPr lang="en-IE" altLang="zh-CN" sz="1600" b="0" dirty="0">
                  <a:solidFill>
                    <a:srgbClr val="000000"/>
                  </a:solidFill>
                  <a:ea typeface="SimSun" pitchFamily="2" charset="-122"/>
                  <a:cs typeface="Times New Roman" pitchFamily="18" charset="0"/>
                </a:rPr>
                <a:t> </a:t>
              </a:r>
              <a:endParaRPr lang="en-US" sz="1600" b="0" dirty="0">
                <a:ea typeface="SimSun" pitchFamily="2" charset="-122"/>
                <a:cs typeface="Times New Roman" pitchFamily="18" charset="0"/>
              </a:endParaRPr>
            </a:p>
            <a:p>
              <a:pPr algn="l"/>
              <a:r>
                <a:rPr lang="fr-FR" altLang="zh-CN" sz="1600" dirty="0">
                  <a:solidFill>
                    <a:srgbClr val="000000"/>
                  </a:solidFill>
                  <a:ea typeface="SimSun" pitchFamily="2" charset="-122"/>
                  <a:cs typeface="Times New Roman" pitchFamily="18" charset="0"/>
                </a:rPr>
                <a:t>C</a:t>
              </a:r>
              <a:r>
                <a:rPr lang="fr-FR" altLang="zh-CN" sz="1600" b="0" dirty="0">
                  <a:solidFill>
                    <a:srgbClr val="000000"/>
                  </a:solidFill>
                  <a:ea typeface="SimSun" pitchFamily="2" charset="-122"/>
                  <a:cs typeface="Times New Roman" pitchFamily="18" charset="0"/>
                </a:rPr>
                <a:t> – Consultants</a:t>
              </a:r>
              <a:r>
                <a:rPr lang="en-IE" altLang="zh-CN" sz="1600" b="0" dirty="0">
                  <a:solidFill>
                    <a:srgbClr val="000000"/>
                  </a:solidFill>
                  <a:ea typeface="SimSun" pitchFamily="2" charset="-122"/>
                  <a:cs typeface="Times New Roman" pitchFamily="18" charset="0"/>
                </a:rPr>
                <a:t> </a:t>
              </a:r>
              <a:endParaRPr lang="en-US" sz="1600" b="0" dirty="0">
                <a:ea typeface="SimSun" pitchFamily="2" charset="-122"/>
                <a:cs typeface="Times New Roman" pitchFamily="18" charset="0"/>
              </a:endParaRPr>
            </a:p>
            <a:p>
              <a:pPr algn="l"/>
              <a:r>
                <a:rPr lang="fr-FR" altLang="zh-CN" sz="1600" dirty="0">
                  <a:solidFill>
                    <a:srgbClr val="000000"/>
                  </a:solidFill>
                  <a:ea typeface="SimSun" pitchFamily="2" charset="-122"/>
                  <a:cs typeface="Times New Roman" pitchFamily="18" charset="0"/>
                </a:rPr>
                <a:t>M</a:t>
              </a:r>
              <a:r>
                <a:rPr lang="fr-FR" altLang="zh-CN" sz="1600" b="0" dirty="0">
                  <a:solidFill>
                    <a:srgbClr val="000000"/>
                  </a:solidFill>
                  <a:ea typeface="SimSun" pitchFamily="2" charset="-122"/>
                  <a:cs typeface="Times New Roman" pitchFamily="18" charset="0"/>
                </a:rPr>
                <a:t> - Marketing</a:t>
              </a:r>
              <a:r>
                <a:rPr lang="en-IE" altLang="zh-CN" sz="1600" b="0" dirty="0">
                  <a:solidFill>
                    <a:srgbClr val="000000"/>
                  </a:solidFill>
                  <a:ea typeface="SimSun" pitchFamily="2" charset="-122"/>
                  <a:cs typeface="Times New Roman" pitchFamily="18" charset="0"/>
                </a:rPr>
                <a:t> </a:t>
              </a:r>
              <a:endParaRPr lang="en-US" sz="1600" b="0" dirty="0">
                <a:solidFill>
                  <a:srgbClr val="000000"/>
                </a:solidFill>
                <a:ea typeface="SimSun" pitchFamily="2" charset="-122"/>
                <a:cs typeface="Times New Roman" pitchFamily="18" charset="0"/>
              </a:endParaRPr>
            </a:p>
          </p:txBody>
        </p:sp>
      </p:grpSp>
      <p:grpSp>
        <p:nvGrpSpPr>
          <p:cNvPr id="380058" name="Group 154"/>
          <p:cNvGrpSpPr>
            <a:grpSpLocks/>
          </p:cNvGrpSpPr>
          <p:nvPr/>
        </p:nvGrpSpPr>
        <p:grpSpPr bwMode="auto">
          <a:xfrm>
            <a:off x="5335588" y="1193800"/>
            <a:ext cx="2822575" cy="3235325"/>
            <a:chOff x="3361" y="752"/>
            <a:chExt cx="1778" cy="2038"/>
          </a:xfrm>
        </p:grpSpPr>
        <p:sp>
          <p:nvSpPr>
            <p:cNvPr id="380033" name="AutoShape-129"/>
            <p:cNvSpPr>
              <a:spLocks noChangeArrowheads="1"/>
            </p:cNvSpPr>
            <p:nvPr/>
          </p:nvSpPr>
          <p:spPr bwMode="auto">
            <a:xfrm>
              <a:off x="3528" y="1167"/>
              <a:ext cx="1444" cy="1623"/>
            </a:xfrm>
            <a:prstGeom prst="roundRect">
              <a:avLst>
                <a:gd name="adj" fmla="val 4292"/>
              </a:avLst>
            </a:prstGeom>
            <a:gradFill rotWithShape="1">
              <a:gsLst>
                <a:gs pos="0">
                  <a:srgbClr val="BBCDE3"/>
                </a:gs>
                <a:gs pos="100000">
                  <a:schemeClr val="bg1"/>
                </a:gs>
              </a:gsLst>
              <a:lin ang="5400000" scaled="1"/>
            </a:gradFill>
            <a:ln w="9525" algn="ctr">
              <a:noFill/>
              <a:round/>
              <a:headEnd/>
              <a:tailEnd/>
            </a:ln>
            <a:effectLst/>
          </p:spPr>
          <p:txBody>
            <a:bodyPr wrap="none" anchor="ctr"/>
            <a:lstStyle/>
            <a:p>
              <a:endParaRPr lang="fr-FR"/>
            </a:p>
          </p:txBody>
        </p:sp>
        <p:sp>
          <p:nvSpPr>
            <p:cNvPr id="380014" name="Text-Box-110"/>
            <p:cNvSpPr txBox="1">
              <a:spLocks noChangeArrowheads="1"/>
            </p:cNvSpPr>
            <p:nvPr/>
          </p:nvSpPr>
          <p:spPr bwMode="auto">
            <a:xfrm>
              <a:off x="3361" y="752"/>
              <a:ext cx="1778" cy="404"/>
            </a:xfrm>
            <a:prstGeom prst="rect">
              <a:avLst/>
            </a:prstGeom>
            <a:noFill/>
            <a:ln w="9525" algn="ctr">
              <a:noFill/>
              <a:miter lim="800000"/>
              <a:headEnd/>
              <a:tailEnd/>
            </a:ln>
            <a:effectLst/>
          </p:spPr>
          <p:txBody>
            <a:bodyPr>
              <a:spAutoFit/>
            </a:bodyPr>
            <a:lstStyle/>
            <a:p>
              <a:pPr>
                <a:spcBef>
                  <a:spcPct val="50000"/>
                </a:spcBef>
              </a:pPr>
              <a:r>
                <a:rPr lang="fr-FR" altLang="zh-CN" dirty="0">
                  <a:solidFill>
                    <a:srgbClr val="000000"/>
                  </a:solidFill>
                  <a:ea typeface="SimSun" pitchFamily="2" charset="-122"/>
                  <a:cs typeface="Times New Roman" pitchFamily="18" charset="0"/>
                </a:rPr>
                <a:t>Exemples de modèles hybrides</a:t>
              </a:r>
              <a:r>
                <a:rPr lang="en-IE" altLang="zh-CN" dirty="0">
                  <a:solidFill>
                    <a:srgbClr val="000000"/>
                  </a:solidFill>
                  <a:ea typeface="SimSun" pitchFamily="2" charset="-122"/>
                  <a:cs typeface="Times New Roman" pitchFamily="18" charset="0"/>
                </a:rPr>
                <a:t> </a:t>
              </a:r>
              <a:endParaRPr lang="en-US" dirty="0">
                <a:solidFill>
                  <a:srgbClr val="000000"/>
                </a:solidFill>
                <a:ea typeface="SimSun" pitchFamily="2" charset="-122"/>
                <a:cs typeface="Times New Roman" pitchFamily="18" charset="0"/>
              </a:endParaRPr>
            </a:p>
          </p:txBody>
        </p:sp>
        <p:sp>
          <p:nvSpPr>
            <p:cNvPr id="380032" name="Line-128"/>
            <p:cNvSpPr>
              <a:spLocks noChangeShapeType="1"/>
            </p:cNvSpPr>
            <p:nvPr/>
          </p:nvSpPr>
          <p:spPr bwMode="auto">
            <a:xfrm>
              <a:off x="3576" y="1167"/>
              <a:ext cx="1331" cy="0"/>
            </a:xfrm>
            <a:prstGeom prst="line">
              <a:avLst/>
            </a:prstGeom>
            <a:noFill/>
            <a:ln w="28575">
              <a:solidFill>
                <a:srgbClr val="808080"/>
              </a:solidFill>
              <a:prstDash val="sysDot"/>
              <a:round/>
              <a:headEnd/>
              <a:tailEnd/>
            </a:ln>
            <a:effectLst/>
          </p:spPr>
          <p:txBody>
            <a:bodyPr wrap="none" anchor="ctr"/>
            <a:lstStyle/>
            <a:p>
              <a:endParaRPr lang="fr-FR"/>
            </a:p>
          </p:txBody>
        </p:sp>
        <p:sp>
          <p:nvSpPr>
            <p:cNvPr id="380026" name="AutoShape-122"/>
            <p:cNvSpPr>
              <a:spLocks noChangeArrowheads="1"/>
            </p:cNvSpPr>
            <p:nvPr/>
          </p:nvSpPr>
          <p:spPr bwMode="auto">
            <a:xfrm>
              <a:off x="3595" y="1254"/>
              <a:ext cx="1314" cy="413"/>
            </a:xfrm>
            <a:prstGeom prst="roundRect">
              <a:avLst>
                <a:gd name="adj" fmla="val 16667"/>
              </a:avLst>
            </a:prstGeom>
            <a:solidFill>
              <a:schemeClr val="accent1"/>
            </a:solidFill>
            <a:ln w="28575" algn="ctr">
              <a:solidFill>
                <a:srgbClr val="808080"/>
              </a:solidFill>
              <a:prstDash val="sysDot"/>
              <a:round/>
              <a:headEnd/>
              <a:tailEnd/>
            </a:ln>
            <a:effectLst/>
          </p:spPr>
          <p:txBody>
            <a:bodyPr wrap="none" anchor="ctr"/>
            <a:lstStyle/>
            <a:p>
              <a:pPr algn="l">
                <a:lnSpc>
                  <a:spcPct val="85000"/>
                </a:lnSpc>
                <a:spcBef>
                  <a:spcPct val="15000"/>
                </a:spcBef>
                <a:buClr>
                  <a:srgbClr val="8DACD0"/>
                </a:buClr>
                <a:buSzPct val="70000"/>
                <a:buFont typeface="Wingdings" pitchFamily="2" charset="2"/>
                <a:buBlip>
                  <a:blip r:embed="rId4"/>
                </a:buBlip>
              </a:pPr>
              <a:r>
                <a:rPr lang="fr-FR" altLang="zh-CN">
                  <a:solidFill>
                    <a:srgbClr val="000000"/>
                  </a:solidFill>
                  <a:ea typeface="SimSun" pitchFamily="2" charset="-122"/>
                  <a:cs typeface="Times New Roman" pitchFamily="18" charset="0"/>
                </a:rPr>
                <a:t>Fonction</a:t>
              </a:r>
              <a:r>
                <a:rPr lang="en-IE" altLang="zh-CN">
                  <a:solidFill>
                    <a:srgbClr val="000000"/>
                  </a:solidFill>
                  <a:ea typeface="SimSun" pitchFamily="2" charset="-122"/>
                  <a:cs typeface="Times New Roman" pitchFamily="18" charset="0"/>
                </a:rPr>
                <a:t> </a:t>
              </a:r>
              <a:endParaRPr lang="en-US">
                <a:ea typeface="SimSun" pitchFamily="2" charset="-122"/>
                <a:cs typeface="Times New Roman" pitchFamily="18" charset="0"/>
              </a:endParaRPr>
            </a:p>
            <a:p>
              <a:pPr marL="395288" lvl="1" indent="-163513" algn="l">
                <a:lnSpc>
                  <a:spcPct val="85000"/>
                </a:lnSpc>
                <a:spcBef>
                  <a:spcPct val="15000"/>
                </a:spcBef>
                <a:buClr>
                  <a:srgbClr val="8DACD0"/>
                </a:buClr>
                <a:buFont typeface="Wingdings" pitchFamily="2" charset="2"/>
                <a:buChar char=""/>
              </a:pPr>
              <a:r>
                <a:rPr lang="fr-FR" altLang="zh-CN" b="0">
                  <a:solidFill>
                    <a:srgbClr val="000000"/>
                  </a:solidFill>
                  <a:ea typeface="SimSun" pitchFamily="2" charset="-122"/>
                  <a:cs typeface="Times New Roman" pitchFamily="18" charset="0"/>
                </a:rPr>
                <a:t>Organisation</a:t>
              </a:r>
              <a:r>
                <a:rPr lang="en-IE" altLang="zh-CN" b="0">
                  <a:solidFill>
                    <a:srgbClr val="000000"/>
                  </a:solidFill>
                  <a:ea typeface="SimSun" pitchFamily="2" charset="-122"/>
                </a:rPr>
                <a:t> </a:t>
              </a:r>
              <a:endParaRPr lang="en-US" b="0">
                <a:solidFill>
                  <a:srgbClr val="000000"/>
                </a:solidFill>
              </a:endParaRPr>
            </a:p>
          </p:txBody>
        </p:sp>
        <p:sp>
          <p:nvSpPr>
            <p:cNvPr id="380030" name="AutoShape-126"/>
            <p:cNvSpPr>
              <a:spLocks noChangeArrowheads="1"/>
            </p:cNvSpPr>
            <p:nvPr/>
          </p:nvSpPr>
          <p:spPr bwMode="auto">
            <a:xfrm>
              <a:off x="3595" y="1725"/>
              <a:ext cx="1314" cy="413"/>
            </a:xfrm>
            <a:prstGeom prst="roundRect">
              <a:avLst>
                <a:gd name="adj" fmla="val 16667"/>
              </a:avLst>
            </a:prstGeom>
            <a:solidFill>
              <a:schemeClr val="accent1"/>
            </a:solidFill>
            <a:ln w="28575" algn="ctr">
              <a:solidFill>
                <a:srgbClr val="808080"/>
              </a:solidFill>
              <a:prstDash val="sysDot"/>
              <a:round/>
              <a:headEnd/>
              <a:tailEnd/>
            </a:ln>
            <a:effectLst/>
          </p:spPr>
          <p:txBody>
            <a:bodyPr wrap="none" anchor="ctr"/>
            <a:lstStyle/>
            <a:p>
              <a:pPr algn="l">
                <a:lnSpc>
                  <a:spcPct val="85000"/>
                </a:lnSpc>
                <a:spcBef>
                  <a:spcPct val="15000"/>
                </a:spcBef>
                <a:buClr>
                  <a:srgbClr val="8DACD0"/>
                </a:buClr>
                <a:buSzPct val="70000"/>
                <a:buFont typeface="Wingdings" pitchFamily="2" charset="2"/>
                <a:buBlip>
                  <a:blip r:embed="rId4"/>
                </a:buBlip>
              </a:pPr>
              <a:r>
                <a:rPr lang="fr-FR" altLang="zh-CN">
                  <a:solidFill>
                    <a:srgbClr val="000000"/>
                  </a:solidFill>
                  <a:ea typeface="SimSun" pitchFamily="2" charset="-122"/>
                  <a:cs typeface="Times New Roman" pitchFamily="18" charset="0"/>
                </a:rPr>
                <a:t>Emplacement</a:t>
              </a:r>
              <a:r>
                <a:rPr lang="en-IE" altLang="zh-CN">
                  <a:solidFill>
                    <a:srgbClr val="000000"/>
                  </a:solidFill>
                  <a:ea typeface="SimSun" pitchFamily="2" charset="-122"/>
                  <a:cs typeface="Times New Roman" pitchFamily="18" charset="0"/>
                </a:rPr>
                <a:t> </a:t>
              </a:r>
              <a:endParaRPr lang="en-US">
                <a:ea typeface="SimSun" pitchFamily="2" charset="-122"/>
                <a:cs typeface="Times New Roman" pitchFamily="18" charset="0"/>
              </a:endParaRPr>
            </a:p>
            <a:p>
              <a:pPr marL="395288" lvl="1" indent="-163513" algn="l">
                <a:lnSpc>
                  <a:spcPct val="85000"/>
                </a:lnSpc>
                <a:spcBef>
                  <a:spcPct val="15000"/>
                </a:spcBef>
                <a:buClr>
                  <a:srgbClr val="8DACD0"/>
                </a:buClr>
                <a:buFont typeface="Wingdings" pitchFamily="2" charset="2"/>
                <a:buChar char=""/>
              </a:pPr>
              <a:r>
                <a:rPr lang="fr-FR" altLang="zh-CN" b="0">
                  <a:solidFill>
                    <a:srgbClr val="000000"/>
                  </a:solidFill>
                  <a:ea typeface="SimSun" pitchFamily="2" charset="-122"/>
                  <a:cs typeface="Times New Roman" pitchFamily="18" charset="0"/>
                </a:rPr>
                <a:t>Fonction</a:t>
              </a:r>
              <a:r>
                <a:rPr lang="en-IE" altLang="zh-CN" b="0">
                  <a:solidFill>
                    <a:srgbClr val="000000"/>
                  </a:solidFill>
                  <a:ea typeface="SimSun" pitchFamily="2" charset="-122"/>
                </a:rPr>
                <a:t> </a:t>
              </a:r>
              <a:endParaRPr lang="en-US" b="0">
                <a:solidFill>
                  <a:srgbClr val="000000"/>
                </a:solidFill>
              </a:endParaRPr>
            </a:p>
          </p:txBody>
        </p:sp>
        <p:sp>
          <p:nvSpPr>
            <p:cNvPr id="380031" name="AutoShape-127"/>
            <p:cNvSpPr>
              <a:spLocks noChangeArrowheads="1"/>
            </p:cNvSpPr>
            <p:nvPr/>
          </p:nvSpPr>
          <p:spPr bwMode="auto">
            <a:xfrm>
              <a:off x="3595" y="2197"/>
              <a:ext cx="1314" cy="413"/>
            </a:xfrm>
            <a:prstGeom prst="roundRect">
              <a:avLst>
                <a:gd name="adj" fmla="val 16667"/>
              </a:avLst>
            </a:prstGeom>
            <a:solidFill>
              <a:schemeClr val="accent1"/>
            </a:solidFill>
            <a:ln w="28575" algn="ctr">
              <a:solidFill>
                <a:srgbClr val="808080"/>
              </a:solidFill>
              <a:prstDash val="sysDot"/>
              <a:round/>
              <a:headEnd/>
              <a:tailEnd/>
            </a:ln>
            <a:effectLst/>
          </p:spPr>
          <p:txBody>
            <a:bodyPr wrap="none" anchor="ctr"/>
            <a:lstStyle/>
            <a:p>
              <a:pPr algn="l">
                <a:lnSpc>
                  <a:spcPct val="85000"/>
                </a:lnSpc>
                <a:spcBef>
                  <a:spcPct val="15000"/>
                </a:spcBef>
                <a:buClr>
                  <a:srgbClr val="8DACD0"/>
                </a:buClr>
                <a:buSzPct val="70000"/>
                <a:buFont typeface="Wingdings" pitchFamily="2" charset="2"/>
                <a:buBlip>
                  <a:blip r:embed="rId4"/>
                </a:buBlip>
              </a:pPr>
              <a:r>
                <a:rPr lang="fr-FR" altLang="zh-CN">
                  <a:solidFill>
                    <a:srgbClr val="000000"/>
                  </a:solidFill>
                  <a:ea typeface="SimSun" pitchFamily="2" charset="-122"/>
                  <a:cs typeface="Times New Roman" pitchFamily="18" charset="0"/>
                </a:rPr>
                <a:t>Organisation</a:t>
              </a:r>
              <a:r>
                <a:rPr lang="en-IE" altLang="zh-CN">
                  <a:solidFill>
                    <a:srgbClr val="000000"/>
                  </a:solidFill>
                  <a:ea typeface="SimSun" pitchFamily="2" charset="-122"/>
                  <a:cs typeface="Times New Roman" pitchFamily="18" charset="0"/>
                </a:rPr>
                <a:t> </a:t>
              </a:r>
              <a:endParaRPr lang="en-US">
                <a:ea typeface="SimSun" pitchFamily="2" charset="-122"/>
                <a:cs typeface="Times New Roman" pitchFamily="18" charset="0"/>
              </a:endParaRPr>
            </a:p>
            <a:p>
              <a:pPr marL="395288" lvl="1" indent="-163513" algn="l">
                <a:lnSpc>
                  <a:spcPct val="85000"/>
                </a:lnSpc>
                <a:spcBef>
                  <a:spcPct val="15000"/>
                </a:spcBef>
                <a:buClr>
                  <a:srgbClr val="8DACD0"/>
                </a:buClr>
                <a:buFont typeface="Wingdings" pitchFamily="2" charset="2"/>
                <a:buChar char=""/>
              </a:pPr>
              <a:r>
                <a:rPr lang="fr-FR" altLang="zh-CN" b="0">
                  <a:solidFill>
                    <a:srgbClr val="000000"/>
                  </a:solidFill>
                  <a:ea typeface="SimSun" pitchFamily="2" charset="-122"/>
                  <a:cs typeface="Times New Roman" pitchFamily="18" charset="0"/>
                </a:rPr>
                <a:t>Emplacement</a:t>
              </a:r>
              <a:r>
                <a:rPr lang="en-IE" altLang="zh-CN" b="0">
                  <a:solidFill>
                    <a:srgbClr val="000000"/>
                  </a:solidFill>
                  <a:ea typeface="SimSun" pitchFamily="2" charset="-122"/>
                </a:rPr>
                <a:t> </a:t>
              </a:r>
              <a:endParaRPr lang="en-US" b="0">
                <a:solidFill>
                  <a:srgbClr val="000000"/>
                </a:solidFill>
              </a:endParaRPr>
            </a:p>
          </p:txBody>
        </p:sp>
      </p:grpSp>
      <p:grpSp>
        <p:nvGrpSpPr>
          <p:cNvPr id="380055" name="Group 151"/>
          <p:cNvGrpSpPr>
            <a:grpSpLocks/>
          </p:cNvGrpSpPr>
          <p:nvPr/>
        </p:nvGrpSpPr>
        <p:grpSpPr bwMode="auto">
          <a:xfrm>
            <a:off x="1553029" y="2954338"/>
            <a:ext cx="3606346" cy="1731962"/>
            <a:chOff x="1331" y="1861"/>
            <a:chExt cx="1919" cy="1091"/>
          </a:xfrm>
        </p:grpSpPr>
        <p:sp>
          <p:nvSpPr>
            <p:cNvPr id="380041" name="AutoShape-137"/>
            <p:cNvSpPr>
              <a:spLocks noChangeArrowheads="1"/>
            </p:cNvSpPr>
            <p:nvPr/>
          </p:nvSpPr>
          <p:spPr bwMode="auto">
            <a:xfrm>
              <a:off x="1331" y="1861"/>
              <a:ext cx="1919" cy="1011"/>
            </a:xfrm>
            <a:prstGeom prst="roundRect">
              <a:avLst>
                <a:gd name="adj" fmla="val 16667"/>
              </a:avLst>
            </a:prstGeom>
            <a:solidFill>
              <a:srgbClr val="DFE8F2"/>
            </a:solidFill>
            <a:ln w="28575" algn="ctr">
              <a:solidFill>
                <a:srgbClr val="808080"/>
              </a:solidFill>
              <a:prstDash val="sysDot"/>
              <a:round/>
              <a:headEnd/>
              <a:tailEnd/>
            </a:ln>
            <a:effectLst/>
          </p:spPr>
          <p:txBody>
            <a:bodyPr wrap="none" bIns="1600200"/>
            <a:lstStyle/>
            <a:p>
              <a:r>
                <a:rPr lang="fr-FR" altLang="zh-CN" sz="2200" dirty="0">
                  <a:solidFill>
                    <a:srgbClr val="000000"/>
                  </a:solidFill>
                  <a:ea typeface="SimSun" pitchFamily="2" charset="-122"/>
                </a:rPr>
                <a:t>Fondée sur</a:t>
              </a:r>
              <a:r>
                <a:rPr lang="fr-FR" altLang="zh-CN" sz="2200" dirty="0">
                  <a:ea typeface="SimSun" pitchFamily="2" charset="-122"/>
                </a:rPr>
                <a:t> </a:t>
              </a:r>
              <a:r>
                <a:rPr lang="fr-FR" altLang="zh-CN" sz="2200" dirty="0">
                  <a:solidFill>
                    <a:srgbClr val="000000"/>
                  </a:solidFill>
                  <a:ea typeface="SimSun" pitchFamily="2" charset="-122"/>
                  <a:cs typeface="Times New Roman" pitchFamily="18" charset="0"/>
                </a:rPr>
                <a:t>l'organisation</a:t>
              </a:r>
              <a:r>
                <a:rPr lang="en-IE" altLang="zh-CN" sz="2200" dirty="0">
                  <a:solidFill>
                    <a:srgbClr val="000000"/>
                  </a:solidFill>
                  <a:ea typeface="SimSun" pitchFamily="2" charset="-122"/>
                  <a:cs typeface="Times New Roman" pitchFamily="18" charset="0"/>
                </a:rPr>
                <a:t> </a:t>
              </a:r>
              <a:endParaRPr lang="en-US" sz="2200" dirty="0">
                <a:solidFill>
                  <a:srgbClr val="000000"/>
                </a:solidFill>
                <a:ea typeface="SimSun" pitchFamily="2" charset="-122"/>
                <a:cs typeface="Times New Roman" pitchFamily="18" charset="0"/>
              </a:endParaRPr>
            </a:p>
          </p:txBody>
        </p:sp>
        <p:grpSp>
          <p:nvGrpSpPr>
            <p:cNvPr id="380054" name="Group 150"/>
            <p:cNvGrpSpPr>
              <a:grpSpLocks/>
            </p:cNvGrpSpPr>
            <p:nvPr/>
          </p:nvGrpSpPr>
          <p:grpSpPr bwMode="auto">
            <a:xfrm>
              <a:off x="1416" y="2079"/>
              <a:ext cx="824" cy="873"/>
              <a:chOff x="1416" y="2079"/>
              <a:chExt cx="824" cy="873"/>
            </a:xfrm>
          </p:grpSpPr>
          <p:pic>
            <p:nvPicPr>
              <p:cNvPr id="379984" name="Picture-80" descr="2DomainWithOus01"/>
              <p:cNvPicPr>
                <a:picLocks noChangeAspect="1" noChangeArrowheads="1"/>
              </p:cNvPicPr>
              <p:nvPr/>
            </p:nvPicPr>
            <p:blipFill>
              <a:blip r:embed="rId3" cstate="print"/>
              <a:srcRect/>
              <a:stretch>
                <a:fillRect/>
              </a:stretch>
            </p:blipFill>
            <p:spPr bwMode="auto">
              <a:xfrm>
                <a:off x="1416" y="2079"/>
                <a:ext cx="824" cy="727"/>
              </a:xfrm>
              <a:prstGeom prst="rect">
                <a:avLst/>
              </a:prstGeom>
              <a:noFill/>
            </p:spPr>
          </p:pic>
          <p:sp>
            <p:nvSpPr>
              <p:cNvPr id="379990" name="Text-Box-86"/>
              <p:cNvSpPr txBox="1">
                <a:spLocks noChangeArrowheads="1"/>
              </p:cNvSpPr>
              <p:nvPr/>
            </p:nvSpPr>
            <p:spPr bwMode="auto">
              <a:xfrm>
                <a:off x="1730" y="2168"/>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F</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9991" name="Text-Box-87"/>
              <p:cNvSpPr txBox="1">
                <a:spLocks noChangeArrowheads="1"/>
              </p:cNvSpPr>
              <p:nvPr/>
            </p:nvSpPr>
            <p:spPr bwMode="auto">
              <a:xfrm>
                <a:off x="1528" y="2548"/>
                <a:ext cx="180" cy="231"/>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I</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9992" name="Text-Box-88"/>
              <p:cNvSpPr txBox="1">
                <a:spLocks noChangeArrowheads="1"/>
              </p:cNvSpPr>
              <p:nvPr/>
            </p:nvSpPr>
            <p:spPr bwMode="auto">
              <a:xfrm>
                <a:off x="1938" y="2548"/>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R</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grpSp>
        <p:sp>
          <p:nvSpPr>
            <p:cNvPr id="379998" name="Rectangle-94"/>
            <p:cNvSpPr>
              <a:spLocks noChangeArrowheads="1"/>
            </p:cNvSpPr>
            <p:nvPr/>
          </p:nvSpPr>
          <p:spPr bwMode="auto">
            <a:xfrm>
              <a:off x="2246" y="2238"/>
              <a:ext cx="816" cy="354"/>
            </a:xfrm>
            <a:prstGeom prst="rect">
              <a:avLst/>
            </a:prstGeom>
            <a:noFill/>
            <a:ln w="9525" algn="ctr">
              <a:noFill/>
              <a:miter lim="800000"/>
              <a:headEnd/>
              <a:tailEnd/>
            </a:ln>
            <a:effectLst/>
          </p:spPr>
          <p:txBody>
            <a:bodyPr wrap="none" anchor="ctr"/>
            <a:lstStyle/>
            <a:p>
              <a:pPr algn="l"/>
              <a:r>
                <a:rPr lang="fr-FR" altLang="zh-CN" sz="1600">
                  <a:solidFill>
                    <a:srgbClr val="000000"/>
                  </a:solidFill>
                  <a:ea typeface="SimSun" pitchFamily="2" charset="-122"/>
                  <a:cs typeface="Times New Roman" pitchFamily="18" charset="0"/>
                </a:rPr>
                <a:t>F</a:t>
              </a:r>
              <a:r>
                <a:rPr lang="fr-FR" altLang="zh-CN" sz="1600" b="0">
                  <a:solidFill>
                    <a:srgbClr val="000000"/>
                  </a:solidFill>
                  <a:ea typeface="SimSun" pitchFamily="2" charset="-122"/>
                  <a:cs typeface="Times New Roman" pitchFamily="18" charset="0"/>
                </a:rPr>
                <a:t> – Fabrication</a:t>
              </a:r>
              <a:r>
                <a:rPr lang="en-IE" altLang="zh-CN" sz="1600" b="0">
                  <a:solidFill>
                    <a:srgbClr val="000000"/>
                  </a:solidFill>
                  <a:ea typeface="SimSun" pitchFamily="2" charset="-122"/>
                  <a:cs typeface="Times New Roman" pitchFamily="18" charset="0"/>
                </a:rPr>
                <a:t> </a:t>
              </a:r>
              <a:endParaRPr lang="en-US" sz="1600" b="0">
                <a:ea typeface="SimSun" pitchFamily="2" charset="-122"/>
                <a:cs typeface="Times New Roman" pitchFamily="18" charset="0"/>
              </a:endParaRPr>
            </a:p>
            <a:p>
              <a:pPr algn="l"/>
              <a:r>
                <a:rPr lang="fr-FR" altLang="zh-CN" sz="1600">
                  <a:solidFill>
                    <a:srgbClr val="000000"/>
                  </a:solidFill>
                  <a:ea typeface="SimSun" pitchFamily="2" charset="-122"/>
                  <a:cs typeface="Times New Roman" pitchFamily="18" charset="0"/>
                </a:rPr>
                <a:t>I</a:t>
              </a:r>
              <a:r>
                <a:rPr lang="fr-FR" altLang="zh-CN" sz="1600" b="0">
                  <a:solidFill>
                    <a:srgbClr val="000000"/>
                  </a:solidFill>
                  <a:ea typeface="SimSun" pitchFamily="2" charset="-122"/>
                  <a:cs typeface="Times New Roman" pitchFamily="18" charset="0"/>
                </a:rPr>
                <a:t> – Ingénierie</a:t>
              </a:r>
              <a:r>
                <a:rPr lang="en-IE" altLang="zh-CN" sz="1600" b="0">
                  <a:solidFill>
                    <a:srgbClr val="000000"/>
                  </a:solidFill>
                  <a:ea typeface="SimSun" pitchFamily="2" charset="-122"/>
                  <a:cs typeface="Times New Roman" pitchFamily="18" charset="0"/>
                </a:rPr>
                <a:t> </a:t>
              </a:r>
              <a:endParaRPr lang="en-US" sz="1600" b="0">
                <a:ea typeface="SimSun" pitchFamily="2" charset="-122"/>
                <a:cs typeface="Times New Roman" pitchFamily="18" charset="0"/>
              </a:endParaRPr>
            </a:p>
            <a:p>
              <a:pPr algn="l"/>
              <a:r>
                <a:rPr lang="fr-FR" altLang="zh-CN" sz="1600">
                  <a:solidFill>
                    <a:srgbClr val="000000"/>
                  </a:solidFill>
                  <a:ea typeface="SimSun" pitchFamily="2" charset="-122"/>
                  <a:cs typeface="Times New Roman" pitchFamily="18" charset="0"/>
                </a:rPr>
                <a:t>R</a:t>
              </a:r>
              <a:r>
                <a:rPr lang="fr-FR" altLang="zh-CN" sz="1600" b="0">
                  <a:solidFill>
                    <a:srgbClr val="000000"/>
                  </a:solidFill>
                  <a:ea typeface="SimSun" pitchFamily="2" charset="-122"/>
                  <a:cs typeface="Times New Roman" pitchFamily="18" charset="0"/>
                </a:rPr>
                <a:t> - Recherche</a:t>
              </a:r>
              <a:r>
                <a:rPr lang="en-IE" altLang="zh-CN" sz="1600" b="0">
                  <a:solidFill>
                    <a:srgbClr val="000000"/>
                  </a:solidFill>
                  <a:ea typeface="SimSun" pitchFamily="2" charset="-122"/>
                  <a:cs typeface="Times New Roman" pitchFamily="18" charset="0"/>
                </a:rPr>
                <a:t> </a:t>
              </a:r>
              <a:endParaRPr lang="en-US" sz="1600" b="0">
                <a:solidFill>
                  <a:srgbClr val="000000"/>
                </a:solidFill>
                <a:ea typeface="SimSun" pitchFamily="2" charset="-122"/>
                <a:cs typeface="Times New Roman" pitchFamily="18" charset="0"/>
              </a:endParaRPr>
            </a:p>
          </p:txBody>
        </p:sp>
      </p:grpSp>
      <p:grpSp>
        <p:nvGrpSpPr>
          <p:cNvPr id="380057" name="Group 153"/>
          <p:cNvGrpSpPr>
            <a:grpSpLocks/>
          </p:cNvGrpSpPr>
          <p:nvPr/>
        </p:nvGrpSpPr>
        <p:grpSpPr bwMode="auto">
          <a:xfrm>
            <a:off x="2540000" y="4635500"/>
            <a:ext cx="3689350" cy="1747838"/>
            <a:chOff x="2005" y="2920"/>
            <a:chExt cx="1919" cy="1101"/>
          </a:xfrm>
        </p:grpSpPr>
        <p:sp>
          <p:nvSpPr>
            <p:cNvPr id="380043" name="AutoShape-139"/>
            <p:cNvSpPr>
              <a:spLocks noChangeArrowheads="1"/>
            </p:cNvSpPr>
            <p:nvPr/>
          </p:nvSpPr>
          <p:spPr bwMode="auto">
            <a:xfrm>
              <a:off x="2005" y="2920"/>
              <a:ext cx="1919" cy="1011"/>
            </a:xfrm>
            <a:prstGeom prst="roundRect">
              <a:avLst>
                <a:gd name="adj" fmla="val 16667"/>
              </a:avLst>
            </a:prstGeom>
            <a:solidFill>
              <a:srgbClr val="DFE8F2"/>
            </a:solidFill>
            <a:ln w="28575" algn="ctr">
              <a:solidFill>
                <a:srgbClr val="808080"/>
              </a:solidFill>
              <a:prstDash val="sysDot"/>
              <a:round/>
              <a:headEnd/>
              <a:tailEnd/>
            </a:ln>
            <a:effectLst/>
          </p:spPr>
          <p:txBody>
            <a:bodyPr wrap="none" bIns="1600200"/>
            <a:lstStyle/>
            <a:p>
              <a:r>
                <a:rPr lang="fr-FR" altLang="zh-CN" sz="2200" dirty="0">
                  <a:solidFill>
                    <a:srgbClr val="000000"/>
                  </a:solidFill>
                  <a:ea typeface="SimSun" pitchFamily="2" charset="-122"/>
                  <a:cs typeface="Times New Roman" pitchFamily="18" charset="0"/>
                </a:rPr>
                <a:t>Fondée sur l'emplacement</a:t>
              </a:r>
              <a:r>
                <a:rPr lang="en-IE" altLang="zh-CN" sz="2200" dirty="0">
                  <a:solidFill>
                    <a:srgbClr val="000000"/>
                  </a:solidFill>
                  <a:ea typeface="SimSun" pitchFamily="2" charset="-122"/>
                  <a:cs typeface="Times New Roman" pitchFamily="18" charset="0"/>
                </a:rPr>
                <a:t> </a:t>
              </a:r>
              <a:endParaRPr lang="en-US" sz="2200" dirty="0">
                <a:solidFill>
                  <a:srgbClr val="000000"/>
                </a:solidFill>
                <a:ea typeface="SimSun" pitchFamily="2" charset="-122"/>
                <a:cs typeface="Times New Roman" pitchFamily="18" charset="0"/>
              </a:endParaRPr>
            </a:p>
          </p:txBody>
        </p:sp>
        <p:grpSp>
          <p:nvGrpSpPr>
            <p:cNvPr id="380056" name="Group 152"/>
            <p:cNvGrpSpPr>
              <a:grpSpLocks/>
            </p:cNvGrpSpPr>
            <p:nvPr/>
          </p:nvGrpSpPr>
          <p:grpSpPr bwMode="auto">
            <a:xfrm>
              <a:off x="2090" y="3148"/>
              <a:ext cx="824" cy="873"/>
              <a:chOff x="2090" y="3148"/>
              <a:chExt cx="824" cy="873"/>
            </a:xfrm>
          </p:grpSpPr>
          <p:pic>
            <p:nvPicPr>
              <p:cNvPr id="379985" name="Picture-81" descr="2DomainWithOus01"/>
              <p:cNvPicPr>
                <a:picLocks noChangeAspect="1" noChangeArrowheads="1"/>
              </p:cNvPicPr>
              <p:nvPr/>
            </p:nvPicPr>
            <p:blipFill>
              <a:blip r:embed="rId3" cstate="print"/>
              <a:srcRect/>
              <a:stretch>
                <a:fillRect/>
              </a:stretch>
            </p:blipFill>
            <p:spPr bwMode="auto">
              <a:xfrm>
                <a:off x="2090" y="3148"/>
                <a:ext cx="824" cy="727"/>
              </a:xfrm>
              <a:prstGeom prst="rect">
                <a:avLst/>
              </a:prstGeom>
              <a:noFill/>
            </p:spPr>
          </p:pic>
          <p:sp>
            <p:nvSpPr>
              <p:cNvPr id="379993" name="Text-Box-89"/>
              <p:cNvSpPr txBox="1">
                <a:spLocks noChangeArrowheads="1"/>
              </p:cNvSpPr>
              <p:nvPr/>
            </p:nvSpPr>
            <p:spPr bwMode="auto">
              <a:xfrm>
                <a:off x="2392" y="3237"/>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N</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9994" name="Text-Box-90"/>
              <p:cNvSpPr txBox="1">
                <a:spLocks noChangeArrowheads="1"/>
              </p:cNvSpPr>
              <p:nvPr/>
            </p:nvSpPr>
            <p:spPr bwMode="auto">
              <a:xfrm>
                <a:off x="2192" y="3617"/>
                <a:ext cx="180" cy="404"/>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F</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sp>
            <p:nvSpPr>
              <p:cNvPr id="379995" name="Text-Box-91"/>
              <p:cNvSpPr txBox="1">
                <a:spLocks noChangeArrowheads="1"/>
              </p:cNvSpPr>
              <p:nvPr/>
            </p:nvSpPr>
            <p:spPr bwMode="auto">
              <a:xfrm>
                <a:off x="2626" y="3617"/>
                <a:ext cx="180" cy="231"/>
              </a:xfrm>
              <a:prstGeom prst="rect">
                <a:avLst/>
              </a:prstGeom>
              <a:noFill/>
              <a:ln w="9525" algn="ctr">
                <a:noFill/>
                <a:miter lim="800000"/>
                <a:headEnd/>
                <a:tailEnd/>
              </a:ln>
              <a:effectLst/>
            </p:spPr>
            <p:txBody>
              <a:bodyPr>
                <a:spAutoFit/>
              </a:bodyPr>
              <a:lstStyle/>
              <a:p>
                <a:pPr>
                  <a:spcBef>
                    <a:spcPct val="50000"/>
                  </a:spcBef>
                </a:pPr>
                <a:r>
                  <a:rPr lang="fr-FR" altLang="zh-CN">
                    <a:solidFill>
                      <a:srgbClr val="000000"/>
                    </a:solidFill>
                    <a:latin typeface="Arial" charset="0"/>
                    <a:ea typeface="SimSun" pitchFamily="2" charset="-122"/>
                    <a:cs typeface="Times New Roman" pitchFamily="18" charset="0"/>
                  </a:rPr>
                  <a:t>I</a:t>
                </a:r>
                <a:r>
                  <a:rPr lang="en-IE" altLang="zh-CN">
                    <a:solidFill>
                      <a:srgbClr val="000000"/>
                    </a:solidFill>
                    <a:ea typeface="SimSun" pitchFamily="2" charset="-122"/>
                    <a:cs typeface="Times New Roman" pitchFamily="18" charset="0"/>
                  </a:rPr>
                  <a:t> </a:t>
                </a:r>
                <a:endParaRPr lang="en-US">
                  <a:solidFill>
                    <a:srgbClr val="000000"/>
                  </a:solidFill>
                  <a:ea typeface="SimSun" pitchFamily="2" charset="-122"/>
                  <a:cs typeface="Times New Roman" pitchFamily="18" charset="0"/>
                </a:endParaRPr>
              </a:p>
            </p:txBody>
          </p:sp>
        </p:grpSp>
        <p:sp>
          <p:nvSpPr>
            <p:cNvPr id="379999" name="Rectangle-95"/>
            <p:cNvSpPr>
              <a:spLocks noChangeArrowheads="1"/>
            </p:cNvSpPr>
            <p:nvPr/>
          </p:nvSpPr>
          <p:spPr bwMode="auto">
            <a:xfrm>
              <a:off x="2920" y="3237"/>
              <a:ext cx="816" cy="480"/>
            </a:xfrm>
            <a:prstGeom prst="rect">
              <a:avLst/>
            </a:prstGeom>
            <a:noFill/>
            <a:ln w="9525" algn="ctr">
              <a:noFill/>
              <a:miter lim="800000"/>
              <a:headEnd/>
              <a:tailEnd/>
            </a:ln>
            <a:effectLst/>
          </p:spPr>
          <p:txBody>
            <a:bodyPr wrap="none" anchor="ctr"/>
            <a:lstStyle/>
            <a:p>
              <a:pPr algn="l"/>
              <a:r>
                <a:rPr lang="fr-FR" altLang="zh-CN" sz="1600">
                  <a:solidFill>
                    <a:srgbClr val="000000"/>
                  </a:solidFill>
                  <a:ea typeface="SimSun" pitchFamily="2" charset="-122"/>
                  <a:cs typeface="Times New Roman" pitchFamily="18" charset="0"/>
                </a:rPr>
                <a:t>N</a:t>
              </a:r>
              <a:r>
                <a:rPr lang="fr-FR" altLang="zh-CN" sz="1600" b="0">
                  <a:solidFill>
                    <a:srgbClr val="000000"/>
                  </a:solidFill>
                  <a:ea typeface="SimSun" pitchFamily="2" charset="-122"/>
                  <a:cs typeface="Times New Roman" pitchFamily="18" charset="0"/>
                </a:rPr>
                <a:t> – Norvège</a:t>
              </a:r>
              <a:r>
                <a:rPr lang="en-IE" altLang="zh-CN" sz="1600" b="0">
                  <a:solidFill>
                    <a:srgbClr val="000000"/>
                  </a:solidFill>
                  <a:ea typeface="SimSun" pitchFamily="2" charset="-122"/>
                  <a:cs typeface="Times New Roman" pitchFamily="18" charset="0"/>
                </a:rPr>
                <a:t> </a:t>
              </a:r>
              <a:r>
                <a:rPr lang="en-US" sz="1600" b="0">
                  <a:ea typeface="SimSun" pitchFamily="2" charset="-122"/>
                  <a:cs typeface="Times New Roman" pitchFamily="18" charset="0"/>
                </a:rPr>
                <a:t> </a:t>
              </a:r>
            </a:p>
            <a:p>
              <a:pPr algn="l"/>
              <a:r>
                <a:rPr lang="fr-FR" altLang="zh-CN" sz="1600">
                  <a:solidFill>
                    <a:srgbClr val="000000"/>
                  </a:solidFill>
                  <a:ea typeface="SimSun" pitchFamily="2" charset="-122"/>
                  <a:cs typeface="Times New Roman" pitchFamily="18" charset="0"/>
                </a:rPr>
                <a:t>F</a:t>
              </a:r>
              <a:r>
                <a:rPr lang="fr-FR" altLang="zh-CN" sz="1600" b="0">
                  <a:solidFill>
                    <a:srgbClr val="000000"/>
                  </a:solidFill>
                  <a:ea typeface="SimSun" pitchFamily="2" charset="-122"/>
                  <a:cs typeface="Times New Roman" pitchFamily="18" charset="0"/>
                </a:rPr>
                <a:t> – France</a:t>
              </a:r>
              <a:r>
                <a:rPr lang="en-IE" altLang="zh-CN" sz="1600" b="0">
                  <a:solidFill>
                    <a:srgbClr val="000000"/>
                  </a:solidFill>
                  <a:ea typeface="SimSun" pitchFamily="2" charset="-122"/>
                  <a:cs typeface="Times New Roman" pitchFamily="18" charset="0"/>
                </a:rPr>
                <a:t> </a:t>
              </a:r>
              <a:endParaRPr lang="en-US" sz="1600" b="0">
                <a:ea typeface="SimSun" pitchFamily="2" charset="-122"/>
                <a:cs typeface="Times New Roman" pitchFamily="18" charset="0"/>
              </a:endParaRPr>
            </a:p>
            <a:p>
              <a:pPr algn="l"/>
              <a:r>
                <a:rPr lang="fr-FR" altLang="zh-CN" sz="1600">
                  <a:solidFill>
                    <a:srgbClr val="000000"/>
                  </a:solidFill>
                  <a:ea typeface="SimSun" pitchFamily="2" charset="-122"/>
                  <a:cs typeface="Times New Roman" pitchFamily="18" charset="0"/>
                </a:rPr>
                <a:t>I</a:t>
              </a:r>
              <a:r>
                <a:rPr lang="fr-FR" altLang="zh-CN" sz="1600" b="0">
                  <a:solidFill>
                    <a:srgbClr val="000000"/>
                  </a:solidFill>
                  <a:ea typeface="SimSun" pitchFamily="2" charset="-122"/>
                  <a:cs typeface="Times New Roman" pitchFamily="18" charset="0"/>
                </a:rPr>
                <a:t> – Indonésie</a:t>
              </a:r>
              <a:r>
                <a:rPr lang="en-IE" altLang="zh-CN" sz="1600" b="0">
                  <a:solidFill>
                    <a:srgbClr val="000000"/>
                  </a:solidFill>
                  <a:ea typeface="SimSun" pitchFamily="2" charset="-122"/>
                  <a:cs typeface="Times New Roman" pitchFamily="18" charset="0"/>
                </a:rPr>
                <a:t> </a:t>
              </a:r>
              <a:r>
                <a:rPr lang="en-US" sz="1600" b="0">
                  <a:ea typeface="SimSun" pitchFamily="2" charset="-122"/>
                  <a:cs typeface="Times New Roman"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0053"/>
                                        </p:tgtEl>
                                        <p:attrNameLst>
                                          <p:attrName>style.visibility</p:attrName>
                                        </p:attrNameLst>
                                      </p:cBhvr>
                                      <p:to>
                                        <p:strVal val="visible"/>
                                      </p:to>
                                    </p:set>
                                    <p:animEffect transition="in" filter="checkerboard(across)">
                                      <p:cBhvr>
                                        <p:cTn id="7" dur="2000"/>
                                        <p:tgtEl>
                                          <p:spTgt spid="38005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0055"/>
                                        </p:tgtEl>
                                        <p:attrNameLst>
                                          <p:attrName>style.visibility</p:attrName>
                                        </p:attrNameLst>
                                      </p:cBhvr>
                                      <p:to>
                                        <p:strVal val="visible"/>
                                      </p:to>
                                    </p:set>
                                    <p:animEffect transition="in" filter="checkerboard(across)">
                                      <p:cBhvr>
                                        <p:cTn id="12" dur="2000"/>
                                        <p:tgtEl>
                                          <p:spTgt spid="38005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0057"/>
                                        </p:tgtEl>
                                        <p:attrNameLst>
                                          <p:attrName>style.visibility</p:attrName>
                                        </p:attrNameLst>
                                      </p:cBhvr>
                                      <p:to>
                                        <p:strVal val="visible"/>
                                      </p:to>
                                    </p:set>
                                    <p:animEffect transition="in" filter="checkerboard(across)">
                                      <p:cBhvr>
                                        <p:cTn id="17" dur="2000"/>
                                        <p:tgtEl>
                                          <p:spTgt spid="38005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0058"/>
                                        </p:tgtEl>
                                        <p:attrNameLst>
                                          <p:attrName>style.visibility</p:attrName>
                                        </p:attrNameLst>
                                      </p:cBhvr>
                                      <p:to>
                                        <p:strVal val="visible"/>
                                      </p:to>
                                    </p:set>
                                    <p:animEffect transition="in" filter="checkerboard(across)">
                                      <p:cBhvr>
                                        <p:cTn id="22" dur="1000"/>
                                        <p:tgtEl>
                                          <p:spTgt spid="380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2"/>
          <p:cNvSpPr>
            <a:spLocks noGrp="1" noChangeArrowheads="1"/>
          </p:cNvSpPr>
          <p:nvPr>
            <p:ph type="title"/>
          </p:nvPr>
        </p:nvSpPr>
        <p:spPr/>
        <p:txBody>
          <a:bodyPr/>
          <a:lstStyle/>
          <a:p>
            <a:r>
              <a:rPr lang="fr-FR" altLang="zh-CN" dirty="0">
                <a:solidFill>
                  <a:srgbClr val="C00000"/>
                </a:solidFill>
                <a:ea typeface="SimSun" pitchFamily="2" charset="-122"/>
                <a:cs typeface="Times New Roman" pitchFamily="18" charset="0"/>
              </a:rPr>
              <a:t>Noms des unités d'organisation</a:t>
            </a:r>
            <a:endParaRPr lang="en-US" dirty="0">
              <a:solidFill>
                <a:srgbClr val="C00000"/>
              </a:solidFill>
              <a:ea typeface="SimSun" pitchFamily="2" charset="-122"/>
              <a:cs typeface="Times New Roman" pitchFamily="18" charset="0"/>
            </a:endParaRPr>
          </a:p>
        </p:txBody>
      </p:sp>
      <p:graphicFrame>
        <p:nvGraphicFramePr>
          <p:cNvPr id="568387" name="Group 67"/>
          <p:cNvGraphicFramePr>
            <a:graphicFrameLocks noGrp="1"/>
          </p:cNvGraphicFramePr>
          <p:nvPr/>
        </p:nvGraphicFramePr>
        <p:xfrm>
          <a:off x="290286" y="1468438"/>
          <a:ext cx="8476343" cy="4322762"/>
        </p:xfrm>
        <a:graphic>
          <a:graphicData uri="http://schemas.openxmlformats.org/drawingml/2006/table">
            <a:tbl>
              <a:tblPr/>
              <a:tblGrid>
                <a:gridCol w="2208352">
                  <a:extLst>
                    <a:ext uri="{9D8B030D-6E8A-4147-A177-3AD203B41FA5}">
                      <a16:colId xmlns:a16="http://schemas.microsoft.com/office/drawing/2014/main" val="20000"/>
                    </a:ext>
                  </a:extLst>
                </a:gridCol>
                <a:gridCol w="6267991">
                  <a:extLst>
                    <a:ext uri="{9D8B030D-6E8A-4147-A177-3AD203B41FA5}">
                      <a16:colId xmlns:a16="http://schemas.microsoft.com/office/drawing/2014/main" val="20001"/>
                    </a:ext>
                  </a:extLst>
                </a:gridCol>
              </a:tblGrid>
              <a:tr h="568159">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Nom</a:t>
                      </a:r>
                      <a:r>
                        <a:rPr kumimoji="0" lang="en-IE"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 </a:t>
                      </a:r>
                      <a:endParaRPr kumimoji="0" lang="en-US" sz="2200" b="1" i="0" u="none" strike="noStrike" cap="none" normalizeH="0" baseline="0">
                        <a:ln>
                          <a:noFill/>
                        </a:ln>
                        <a:solidFill>
                          <a:srgbClr val="000000"/>
                        </a:solidFill>
                        <a:effectLst/>
                        <a:latin typeface="Arial Narrow" pitchFamily="34" charset="0"/>
                        <a:ea typeface="SimSun" pitchFamily="2" charset="-122"/>
                        <a:cs typeface="Times New Roman" pitchFamily="18" charset="0"/>
                      </a:endParaRP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fr-FR"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Exemple</a:t>
                      </a:r>
                      <a:r>
                        <a:rPr kumimoji="0" lang="en-IE"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 </a:t>
                      </a:r>
                      <a:endParaRPr kumimoji="0" lang="en-US" sz="2200" b="1" i="0" u="none" strike="noStrike" cap="none" normalizeH="0" baseline="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1004188">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Nom unique relatif LDAP</a:t>
                      </a:r>
                      <a:r>
                        <a:rPr kumimoji="0" lang="en-IE"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 </a:t>
                      </a:r>
                      <a:endParaRPr kumimoji="0" lang="en-US" sz="2200" b="1" i="0" u="none" strike="noStrike" cap="none" normalizeH="0" baseline="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200" b="0" i="0" u="none" strike="noStrike" cap="none" normalizeH="0" baseline="0">
                          <a:ln>
                            <a:noFill/>
                          </a:ln>
                          <a:solidFill>
                            <a:srgbClr val="000000"/>
                          </a:solidFill>
                          <a:effectLst/>
                          <a:latin typeface="Arial Narrow" pitchFamily="34" charset="0"/>
                          <a:ea typeface="SimSun" pitchFamily="2" charset="-122"/>
                          <a:cs typeface="Times New Roman" pitchFamily="18" charset="0"/>
                        </a:rPr>
                        <a:t>OU=MonUnitéOrganisation</a:t>
                      </a:r>
                      <a:r>
                        <a:rPr kumimoji="0" lang="en-IE" altLang="zh-CN" sz="2200" b="0" i="0" u="none" strike="noStrike" cap="none" normalizeH="0" baseline="0">
                          <a:ln>
                            <a:noFill/>
                          </a:ln>
                          <a:solidFill>
                            <a:srgbClr val="000000"/>
                          </a:solidFill>
                          <a:effectLst/>
                          <a:latin typeface="Arial Narrow" pitchFamily="34" charset="0"/>
                          <a:ea typeface="SimSun" pitchFamily="2" charset="-122"/>
                          <a:cs typeface="Times New Roman" pitchFamily="18" charset="0"/>
                        </a:rPr>
                        <a:t> </a:t>
                      </a:r>
                      <a:endParaRPr kumimoji="0" lang="en-US" sz="2200" b="0" i="0" u="none" strike="noStrike" cap="none" normalizeH="0" baseline="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374061">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200" b="1" i="0" u="none" strike="noStrike" cap="none" normalizeH="0" baseline="0" dirty="0">
                          <a:ln>
                            <a:noFill/>
                          </a:ln>
                          <a:solidFill>
                            <a:srgbClr val="000000"/>
                          </a:solidFill>
                          <a:effectLst/>
                          <a:latin typeface="Arial Narrow" pitchFamily="34" charset="0"/>
                          <a:ea typeface="SimSun" pitchFamily="2" charset="-122"/>
                          <a:cs typeface="Times New Roman" pitchFamily="18" charset="0"/>
                        </a:rPr>
                        <a:t>Nom unique LDAP</a:t>
                      </a:r>
                      <a:r>
                        <a:rPr kumimoji="0" lang="en-IE" altLang="zh-CN" sz="2000" b="1" i="0" u="none" strike="noStrike" cap="none" normalizeH="0" baseline="0" dirty="0">
                          <a:ln>
                            <a:noFill/>
                          </a:ln>
                          <a:solidFill>
                            <a:srgbClr val="000000"/>
                          </a:solidFill>
                          <a:effectLst/>
                          <a:latin typeface="Arial Narrow" pitchFamily="34" charset="0"/>
                          <a:ea typeface="SimSun" pitchFamily="2" charset="-122"/>
                          <a:cs typeface="Times New Roman" pitchFamily="18" charset="0"/>
                        </a:rPr>
                        <a:t> </a:t>
                      </a:r>
                      <a:endParaRPr kumimoji="0" lang="en-US" sz="2000" b="1" i="0" u="none" strike="noStrike" cap="none" normalizeH="0" baseline="0" dirty="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0"/>
                        </a:spcBef>
                        <a:spcAft>
                          <a:spcPct val="0"/>
                        </a:spcAft>
                        <a:buClrTx/>
                        <a:buSzTx/>
                        <a:buFontTx/>
                        <a:buNone/>
                        <a:tabLst/>
                      </a:pPr>
                      <a:r>
                        <a:rPr kumimoji="0" lang="fr-FR" altLang="zh-CN" sz="2200" b="0" i="0" u="none" strike="noStrike" cap="none" normalizeH="0" baseline="0">
                          <a:ln>
                            <a:noFill/>
                          </a:ln>
                          <a:solidFill>
                            <a:srgbClr val="000000"/>
                          </a:solidFill>
                          <a:effectLst/>
                          <a:latin typeface="Arial Narrow" pitchFamily="34" charset="0"/>
                          <a:ea typeface="SimSun" pitchFamily="2" charset="-122"/>
                          <a:cs typeface="Times New Roman" pitchFamily="18" charset="0"/>
                        </a:rPr>
                        <a:t>OU=MonUnitéOrganisation, DC=microsoft, DC=com</a:t>
                      </a:r>
                      <a:r>
                        <a:rPr kumimoji="0" lang="en-IE" altLang="zh-CN" sz="2000" b="0" i="0" u="none" strike="noStrike" cap="none" normalizeH="0" baseline="0">
                          <a:ln>
                            <a:noFill/>
                          </a:ln>
                          <a:solidFill>
                            <a:srgbClr val="000000"/>
                          </a:solidFill>
                          <a:effectLst/>
                          <a:latin typeface="Arial Narrow" pitchFamily="34" charset="0"/>
                          <a:ea typeface="SimSun" pitchFamily="2" charset="-122"/>
                          <a:cs typeface="Times New Roman" pitchFamily="18" charset="0"/>
                        </a:rPr>
                        <a:t> </a:t>
                      </a:r>
                      <a:endParaRPr kumimoji="0" lang="en-US" sz="2000" b="0" i="0" u="none" strike="noStrike" cap="none" normalizeH="0" baseline="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376354">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2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Nom complet</a:t>
                      </a:r>
                      <a:r>
                        <a:rPr kumimoji="0" lang="en-IE" altLang="zh-CN" sz="2000" b="1" i="0" u="none" strike="noStrike" cap="none" normalizeH="0" baseline="0">
                          <a:ln>
                            <a:noFill/>
                          </a:ln>
                          <a:solidFill>
                            <a:srgbClr val="000000"/>
                          </a:solidFill>
                          <a:effectLst/>
                          <a:latin typeface="Arial Narrow" pitchFamily="34" charset="0"/>
                          <a:ea typeface="SimSun" pitchFamily="2" charset="-122"/>
                          <a:cs typeface="Times New Roman" pitchFamily="18" charset="0"/>
                        </a:rPr>
                        <a:t> </a:t>
                      </a:r>
                      <a:endParaRPr kumimoji="0" lang="en-US" sz="2000" b="1" i="0" u="none" strike="noStrike" cap="none" normalizeH="0" baseline="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fr-FR" altLang="zh-CN" sz="2200" b="0" i="0" u="none" strike="noStrike" cap="none" normalizeH="0" baseline="0" dirty="0">
                          <a:ln>
                            <a:noFill/>
                          </a:ln>
                          <a:solidFill>
                            <a:srgbClr val="000000"/>
                          </a:solidFill>
                          <a:effectLst/>
                          <a:latin typeface="Arial Narrow" pitchFamily="34" charset="0"/>
                          <a:ea typeface="SimSun" pitchFamily="2" charset="-122"/>
                          <a:cs typeface="Times New Roman" pitchFamily="18" charset="0"/>
                        </a:rPr>
                        <a:t>Microsoft.com/</a:t>
                      </a:r>
                      <a:r>
                        <a:rPr kumimoji="0" lang="fr-FR" altLang="zh-CN" sz="2200" b="0" i="0" u="none" strike="noStrike" cap="none" normalizeH="0" baseline="0" dirty="0" err="1">
                          <a:ln>
                            <a:noFill/>
                          </a:ln>
                          <a:solidFill>
                            <a:srgbClr val="000000"/>
                          </a:solidFill>
                          <a:effectLst/>
                          <a:latin typeface="Arial Narrow" pitchFamily="34" charset="0"/>
                          <a:ea typeface="SimSun" pitchFamily="2" charset="-122"/>
                          <a:cs typeface="Times New Roman" pitchFamily="18" charset="0"/>
                        </a:rPr>
                        <a:t>MonUnitéOrganisation</a:t>
                      </a:r>
                      <a:r>
                        <a:rPr kumimoji="0" lang="en-IE" altLang="zh-CN" sz="2200" b="0" i="0" u="none" strike="noStrike" cap="none" normalizeH="0" baseline="0" dirty="0">
                          <a:ln>
                            <a:noFill/>
                          </a:ln>
                          <a:solidFill>
                            <a:srgbClr val="000000"/>
                          </a:solidFill>
                          <a:effectLst/>
                          <a:latin typeface="Arial Narrow" pitchFamily="34" charset="0"/>
                          <a:ea typeface="SimSun" pitchFamily="2" charset="-122"/>
                          <a:cs typeface="Times New Roman" pitchFamily="18" charset="0"/>
                        </a:rPr>
                        <a:t> </a:t>
                      </a:r>
                      <a:endParaRPr kumimoji="0" lang="en-US" sz="2200" b="0" i="0" u="none" strike="noStrike" cap="none" normalizeH="0" baseline="0" dirty="0">
                        <a:ln>
                          <a:noFill/>
                        </a:ln>
                        <a:solidFill>
                          <a:srgbClr val="000000"/>
                        </a:solidFill>
                        <a:effectLst/>
                        <a:latin typeface="Arial Narrow" pitchFamily="34" charset="0"/>
                        <a:ea typeface="SimSun" pitchFamily="2" charset="-122"/>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2"/>
          <p:cNvSpPr>
            <a:spLocks noGrp="1" noChangeArrowheads="1"/>
          </p:cNvSpPr>
          <p:nvPr>
            <p:ph type="title"/>
          </p:nvPr>
        </p:nvSpPr>
        <p:spPr>
          <a:xfrm>
            <a:off x="272724" y="373742"/>
            <a:ext cx="8534400" cy="758952"/>
          </a:xfrm>
        </p:spPr>
        <p:txBody>
          <a:bodyPr>
            <a:normAutofit fontScale="90000"/>
          </a:bodyPr>
          <a:lstStyle/>
          <a:p>
            <a:r>
              <a:rPr lang="fr-FR" altLang="zh-CN" dirty="0">
                <a:solidFill>
                  <a:srgbClr val="C00000"/>
                </a:solidFill>
                <a:ea typeface="SimSun" pitchFamily="2" charset="-122"/>
                <a:cs typeface="Times New Roman" pitchFamily="18" charset="0"/>
              </a:rPr>
              <a:t>Procédure de création d'une unité d'organisation</a:t>
            </a:r>
            <a:endParaRPr lang="en-US" dirty="0">
              <a:solidFill>
                <a:srgbClr val="C00000"/>
              </a:solidFill>
              <a:ea typeface="SimSun" pitchFamily="2" charset="-122"/>
              <a:cs typeface="Times New Roman" pitchFamily="18" charset="0"/>
            </a:endParaRPr>
          </a:p>
        </p:txBody>
      </p:sp>
      <p:pic>
        <p:nvPicPr>
          <p:cNvPr id="654344" name="Picture 8" descr="2144A0126"/>
          <p:cNvPicPr>
            <a:picLocks noGrp="1" noChangeAspect="1" noChangeArrowheads="1"/>
          </p:cNvPicPr>
          <p:nvPr>
            <p:ph sz="quarter" idx="1"/>
          </p:nvPr>
        </p:nvPicPr>
        <p:blipFill>
          <a:blip r:embed="rId3"/>
          <a:srcRect/>
          <a:stretch>
            <a:fillRect/>
          </a:stretch>
        </p:blipFill>
        <p:spPr>
          <a:xfrm>
            <a:off x="1395185" y="1787524"/>
            <a:ext cx="5789386" cy="4705455"/>
          </a:xfrm>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p:txBody>
          <a:bodyPr>
            <a:noAutofit/>
          </a:bodyPr>
          <a:lstStyle/>
          <a:p>
            <a:pPr marL="457200" lvl="0" indent="-457200">
              <a:buClrTx/>
              <a:buFont typeface="+mj-lt"/>
              <a:buAutoNum type="arabicPeriod"/>
            </a:pPr>
            <a:r>
              <a:rPr lang="fr-FR" sz="2400" dirty="0"/>
              <a:t>Que devez-vous toujours vérifier avant de procéder à l’installation de Windows Server 2008 ?</a:t>
            </a:r>
          </a:p>
          <a:p>
            <a:pPr marL="457200" lvl="1" indent="-457200">
              <a:buClrTx/>
            </a:pPr>
            <a:r>
              <a:rPr lang="fr-FR" sz="2400" i="1" dirty="0"/>
              <a:t>Quelle version de Windows server 2008 nous allons installer puis vérifier la configuration minimale pour processeur</a:t>
            </a:r>
            <a:endParaRPr lang="fr-FR" sz="2400" dirty="0"/>
          </a:p>
          <a:p>
            <a:pPr marL="457200" lvl="0" indent="-457200">
              <a:buClrTx/>
              <a:buFont typeface="+mj-lt"/>
              <a:buAutoNum type="arabicPeriod"/>
            </a:pPr>
            <a:r>
              <a:rPr lang="fr-FR" sz="2400" dirty="0"/>
              <a:t>Listez les différentes Editions du système d’exploitation Windows 2008 ?</a:t>
            </a:r>
          </a:p>
          <a:p>
            <a:pPr marL="447675" lvl="1" indent="-447675">
              <a:buClrTx/>
            </a:pPr>
            <a:r>
              <a:rPr lang="en-US" sz="2400" i="1" dirty="0"/>
              <a:t>Windows 2008 standard Edition, Windows 2008 </a:t>
            </a:r>
            <a:r>
              <a:rPr lang="en-US" sz="2400" i="1" dirty="0" err="1"/>
              <a:t>Entreprise</a:t>
            </a:r>
            <a:r>
              <a:rPr lang="en-US" sz="2400" i="1" dirty="0"/>
              <a:t> Edition et Windows 2008 Datacenter </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319222"/>
            <a:ext cx="8503920" cy="5150843"/>
          </a:xfrm>
        </p:spPr>
        <p:txBody>
          <a:bodyPr>
            <a:noAutofit/>
          </a:bodyPr>
          <a:lstStyle/>
          <a:p>
            <a:pPr marL="457200" lvl="0" indent="-457200">
              <a:buClrTx/>
              <a:buFont typeface="+mj-lt"/>
              <a:buAutoNum type="arabicPeriod" startAt="3"/>
            </a:pPr>
            <a:r>
              <a:rPr lang="fr-FR" sz="2400" dirty="0"/>
              <a:t>Citer 5 rôles possibles pour un serveur Windows 2008</a:t>
            </a:r>
          </a:p>
          <a:p>
            <a:pPr marL="457200" lvl="1" indent="-457200">
              <a:buClrTx/>
            </a:pPr>
            <a:r>
              <a:rPr lang="fr-FR" sz="2400" i="1" dirty="0"/>
              <a:t>Contrôleur de domaine, serveur DNS, serveur DHCP, serveur d’impression, serveur de fichiers</a:t>
            </a:r>
            <a:endParaRPr lang="fr-FR" sz="2400" dirty="0"/>
          </a:p>
          <a:p>
            <a:pPr marL="457200" lvl="0" indent="-457200">
              <a:buClrTx/>
              <a:buFont typeface="+mj-lt"/>
              <a:buAutoNum type="arabicPeriod" startAt="3"/>
            </a:pPr>
            <a:r>
              <a:rPr lang="fr-FR" sz="2400" dirty="0"/>
              <a:t>Comment appelle-t-on un serveur Windows 2008 qui possède l'annuaire d'un domaine ?</a:t>
            </a:r>
          </a:p>
          <a:p>
            <a:pPr marL="457200" lvl="1" indent="-457200">
              <a:buClrTx/>
            </a:pPr>
            <a:r>
              <a:rPr lang="fr-FR" sz="2400" i="1" dirty="0"/>
              <a:t>Contrôleur de domaine</a:t>
            </a:r>
          </a:p>
          <a:p>
            <a:pPr marL="457200" lvl="0" indent="-457200">
              <a:buClrTx/>
              <a:buFont typeface="+mj-lt"/>
              <a:buAutoNum type="arabicPeriod" startAt="6"/>
            </a:pPr>
            <a:r>
              <a:rPr lang="fr-FR" sz="2400" dirty="0"/>
              <a:t>Quel est le nom de la base d’annuaire Windows 2008 ?</a:t>
            </a:r>
          </a:p>
          <a:p>
            <a:pPr marL="457200" lvl="1" indent="-457200">
              <a:buClrTx/>
            </a:pPr>
            <a:r>
              <a:rPr lang="fr-FR" sz="2400" i="1" dirty="0"/>
              <a:t>AD DS</a:t>
            </a:r>
            <a:endParaRPr lang="fr-FR" sz="2400" dirty="0"/>
          </a:p>
          <a:p>
            <a:pPr marL="457200" lvl="0" indent="-457200">
              <a:buClrTx/>
              <a:buFont typeface="+mj-lt"/>
              <a:buAutoNum type="arabicPeriod" startAt="6"/>
            </a:pPr>
            <a:r>
              <a:rPr lang="fr-FR" sz="2400" dirty="0"/>
              <a:t>Quels sont les serveurs obligatoires dans un domaine  ?</a:t>
            </a:r>
          </a:p>
          <a:p>
            <a:pPr marL="457200" lvl="1" indent="-457200">
              <a:buClrTx/>
            </a:pPr>
            <a:r>
              <a:rPr lang="fr-FR" sz="2400" i="1" dirty="0"/>
              <a:t>Contrôleur de domaine, serveur DNS</a:t>
            </a:r>
            <a:endParaRPr lang="fr-FR" sz="2400" dirty="0"/>
          </a:p>
          <a:p>
            <a:pPr marL="457200" indent="-457200">
              <a:buClrTx/>
              <a:buFont typeface="+mj-lt"/>
              <a:buAutoNum type="arabicPeriod" startAt="6"/>
            </a:pPr>
            <a:r>
              <a:rPr lang="fr-FR" sz="2400" dirty="0"/>
              <a:t>Quel est le rôle d'AD?</a:t>
            </a:r>
          </a:p>
          <a:p>
            <a:pPr marL="457200" lvl="1" indent="-457200">
              <a:buClrTx/>
            </a:pPr>
            <a:r>
              <a:rPr lang="fr-FR" sz="2400" i="1" dirty="0"/>
              <a:t>Gestion centralisée, Une administration simplifiée</a:t>
            </a:r>
            <a:endParaRPr lang="fr-FR" sz="2400" dirty="0"/>
          </a:p>
          <a:p>
            <a:pPr marL="457200" lvl="1" indent="-457200">
              <a:buClrTx/>
            </a:pP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heckerboard(across)">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heckerboard(across)">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checkerboard(across)">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checkerboard(across)">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416207"/>
            <a:ext cx="8503920" cy="5164697"/>
          </a:xfrm>
        </p:spPr>
        <p:txBody>
          <a:bodyPr>
            <a:noAutofit/>
          </a:bodyPr>
          <a:lstStyle/>
          <a:p>
            <a:pPr marL="457200" lvl="0" indent="-457200">
              <a:buClrTx/>
              <a:buFont typeface="+mj-lt"/>
              <a:buAutoNum type="arabicPeriod" startAt="9"/>
            </a:pPr>
            <a:r>
              <a:rPr lang="fr-FR" sz="2400" dirty="0"/>
              <a:t>Qu’appelle-t-on une </a:t>
            </a:r>
            <a:r>
              <a:rPr lang="fr-FR" sz="2400" dirty="0" err="1"/>
              <a:t>arbrorescence</a:t>
            </a:r>
            <a:r>
              <a:rPr lang="fr-FR" sz="2400" dirty="0"/>
              <a:t> ?</a:t>
            </a:r>
          </a:p>
          <a:p>
            <a:pPr marL="457200" lvl="1" indent="-457200">
              <a:buClrTx/>
            </a:pPr>
            <a:r>
              <a:rPr lang="fr-FR" sz="2400" i="1" dirty="0"/>
              <a:t>C’est un ensemble de domaines disposant d’un espace de noms contigu.</a:t>
            </a:r>
            <a:endParaRPr lang="fr-FR" sz="2400" dirty="0"/>
          </a:p>
          <a:p>
            <a:pPr marL="457200" lvl="0" indent="-457200">
              <a:buClrTx/>
              <a:buFont typeface="+mj-lt"/>
              <a:buAutoNum type="arabicPeriod" startAt="9"/>
            </a:pPr>
            <a:r>
              <a:rPr lang="fr-FR" sz="2400" dirty="0"/>
              <a:t>Donner deux noms de domaines qui pourraient appartenir à la même arborescence</a:t>
            </a:r>
          </a:p>
          <a:p>
            <a:pPr marL="457200" lvl="1" indent="-457200">
              <a:buClrTx/>
            </a:pPr>
            <a:r>
              <a:rPr lang="fr-FR" sz="2400" i="1" dirty="0"/>
              <a:t>Bts.net, sri.bts.net</a:t>
            </a:r>
            <a:endParaRPr lang="fr-FR" sz="2400" dirty="0"/>
          </a:p>
          <a:p>
            <a:pPr marL="457200" lvl="0" indent="-457200">
              <a:buClrTx/>
              <a:buFont typeface="+mj-lt"/>
              <a:buAutoNum type="arabicPeriod" startAt="9"/>
            </a:pPr>
            <a:r>
              <a:rPr lang="fr-FR" sz="2400" dirty="0"/>
              <a:t>Donner deux noms de domaines qui ne pourraient pas appartenir à la même arborescence</a:t>
            </a:r>
          </a:p>
          <a:p>
            <a:pPr marL="457200" lvl="1" indent="-457200">
              <a:buClrTx/>
            </a:pPr>
            <a:r>
              <a:rPr lang="fr-FR" sz="2400" i="1" dirty="0"/>
              <a:t>Sri.net, cg.net</a:t>
            </a:r>
            <a:endParaRPr lang="fr-FR" sz="2400" dirty="0"/>
          </a:p>
          <a:p>
            <a:pPr marL="457200" lvl="0" indent="-457200">
              <a:buClrTx/>
              <a:buFont typeface="+mj-lt"/>
              <a:buAutoNum type="arabicPeriod" startAt="9"/>
            </a:pPr>
            <a:r>
              <a:rPr lang="fr-FR" sz="2400" dirty="0"/>
              <a:t>Qu’appelle-t-on une forêt ?</a:t>
            </a:r>
          </a:p>
          <a:p>
            <a:pPr marL="457200" lvl="1" indent="-457200">
              <a:buClrTx/>
            </a:pPr>
            <a:r>
              <a:rPr lang="fr-FR" sz="2400" i="1" dirty="0"/>
              <a:t>C’est un ensemble de un ou plusieurs arbres reliés entre eux par des relations</a:t>
            </a:r>
            <a:endParaRPr lang="fr-FR"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heckerboard(across)">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heckerboard(across)">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416207"/>
            <a:ext cx="8503920" cy="5164697"/>
          </a:xfrm>
        </p:spPr>
        <p:txBody>
          <a:bodyPr>
            <a:noAutofit/>
          </a:bodyPr>
          <a:lstStyle/>
          <a:p>
            <a:pPr marL="457200" lvl="0" indent="-457200">
              <a:buClrTx/>
              <a:buFont typeface="+mj-lt"/>
              <a:buAutoNum type="arabicPeriod" startAt="13"/>
            </a:pPr>
            <a:r>
              <a:rPr lang="fr-FR" sz="2400" dirty="0"/>
              <a:t>Quel est le rôle d’une unité d’organisation ?</a:t>
            </a:r>
          </a:p>
          <a:p>
            <a:pPr marL="457200" lvl="1" indent="-457200">
              <a:buClrTx/>
            </a:pPr>
            <a:r>
              <a:rPr lang="fr-FR" sz="2400" i="1" dirty="0"/>
              <a:t>Sert à organiser les objets réseau afin de simplifier l’administration</a:t>
            </a:r>
            <a:endParaRPr lang="fr-FR" sz="2400" dirty="0"/>
          </a:p>
          <a:p>
            <a:pPr marL="457200" lvl="0" indent="-457200">
              <a:buClrTx/>
              <a:buFont typeface="+mj-lt"/>
              <a:buAutoNum type="arabicPeriod" startAt="13"/>
            </a:pPr>
            <a:r>
              <a:rPr lang="fr-FR" sz="2400" dirty="0"/>
              <a:t>Si Khalid </a:t>
            </a:r>
            <a:r>
              <a:rPr lang="fr-FR" sz="2400" dirty="0" err="1"/>
              <a:t>jood</a:t>
            </a:r>
            <a:r>
              <a:rPr lang="fr-FR" sz="2400" dirty="0"/>
              <a:t> est un compte utilisateur créé dans une OU appelée utilisateur, du domaine societe.ma, quel est alors le nom complet de cet objet ?</a:t>
            </a:r>
          </a:p>
          <a:p>
            <a:pPr marL="457200" lvl="1" indent="-457200">
              <a:buClrTx/>
            </a:pPr>
            <a:r>
              <a:rPr lang="fr-FR" sz="2400" i="1" dirty="0"/>
              <a:t>DC=ma, DC=</a:t>
            </a:r>
            <a:r>
              <a:rPr lang="fr-FR" sz="2400" i="1" dirty="0" err="1"/>
              <a:t>societe</a:t>
            </a:r>
            <a:r>
              <a:rPr lang="fr-FR" sz="2400" i="1" dirty="0"/>
              <a:t> , OU=utilisateur, CN=Khalid </a:t>
            </a:r>
            <a:r>
              <a:rPr lang="fr-FR" sz="2400" i="1" dirty="0" err="1"/>
              <a:t>jood</a:t>
            </a:r>
            <a:endParaRPr lang="fr-FR" sz="2400" dirty="0"/>
          </a:p>
          <a:p>
            <a:pPr marL="457200" lvl="0" indent="-457200">
              <a:buClrTx/>
              <a:buFont typeface="+mj-lt"/>
              <a:buAutoNum type="arabicPeriod" startAt="13"/>
            </a:pPr>
            <a:r>
              <a:rPr lang="fr-FR" sz="2400" dirty="0"/>
              <a:t>Quelle est la commande permettant d’installer Active Directory sur un serveur Windows 2008?</a:t>
            </a:r>
          </a:p>
          <a:p>
            <a:pPr marL="457200" lvl="1" indent="-457200">
              <a:buClrTx/>
            </a:pPr>
            <a:r>
              <a:rPr lang="fr-FR" sz="2400" i="1" dirty="0"/>
              <a:t>Dcpromo.exe </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13284</TotalTime>
  <Words>1752</Words>
  <Application>Microsoft Office PowerPoint</Application>
  <PresentationFormat>Affichage à l'écran (4:3)</PresentationFormat>
  <Paragraphs>280</Paragraphs>
  <Slides>28</Slides>
  <Notes>24</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28</vt:i4>
      </vt:variant>
    </vt:vector>
  </HeadingPairs>
  <TitlesOfParts>
    <vt:vector size="37" baseType="lpstr">
      <vt:lpstr>PMingLiU</vt:lpstr>
      <vt:lpstr>SimSun</vt:lpstr>
      <vt:lpstr>Arial</vt:lpstr>
      <vt:lpstr>Arial Narrow</vt:lpstr>
      <vt:lpstr>Georgia</vt:lpstr>
      <vt:lpstr>Verdana</vt:lpstr>
      <vt:lpstr>Wingdings</vt:lpstr>
      <vt:lpstr>Wingdings 2</vt:lpstr>
      <vt:lpstr>Civil</vt:lpstr>
      <vt:lpstr>Chapitre 1   Présentation  de l'administration des comptes et des ressources</vt:lpstr>
      <vt:lpstr>Plan du cours</vt:lpstr>
      <vt:lpstr>1. L'environnement Windows Server 2008</vt:lpstr>
      <vt:lpstr>Les considérations pour la gestion d’un serveur</vt:lpstr>
      <vt:lpstr>Rôles de serveur</vt:lpstr>
      <vt:lpstr>Rôles de serveur</vt:lpstr>
      <vt:lpstr>Rôles de serveur</vt:lpstr>
      <vt:lpstr>Rôles de serveur</vt:lpstr>
      <vt:lpstr>Rôles de serveur</vt:lpstr>
      <vt:lpstr>Rôles de serveur</vt:lpstr>
      <vt:lpstr>Autres rôles de serveur</vt:lpstr>
      <vt:lpstr>La famille Windows Server 2008</vt:lpstr>
      <vt:lpstr>Description d'un service d'annuaire</vt:lpstr>
      <vt:lpstr>Description d'un service d'annuaire</vt:lpstr>
      <vt:lpstr>Présentation PowerPoint</vt:lpstr>
      <vt:lpstr>2. Ouverture de session sur Windows Server 2008</vt:lpstr>
      <vt:lpstr>Ouverture de session et authentification</vt:lpstr>
      <vt:lpstr>Ouverture de session et authentification</vt:lpstr>
      <vt:lpstr>Ouverture de session et authentification</vt:lpstr>
      <vt:lpstr>3. Création d'une unité d'organisation</vt:lpstr>
      <vt:lpstr>Description d'une unité d'organisation </vt:lpstr>
      <vt:lpstr>Modèles hiérarchiques des unités d'organisation</vt:lpstr>
      <vt:lpstr>Noms des unités d'organisation</vt:lpstr>
      <vt:lpstr>Procédure de création d'une unité d'organisation</vt:lpstr>
      <vt:lpstr>Exercices</vt:lpstr>
      <vt:lpstr>Exercices</vt:lpstr>
      <vt:lpstr>Exercices</vt:lpstr>
      <vt:lpstr>Exercices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HALIMA.HOUSNY</cp:lastModifiedBy>
  <cp:revision>698</cp:revision>
  <dcterms:created xsi:type="dcterms:W3CDTF">2002-08-07T17:51:12Z</dcterms:created>
  <dcterms:modified xsi:type="dcterms:W3CDTF">2025-02-02T15:17:24Z</dcterms:modified>
</cp:coreProperties>
</file>