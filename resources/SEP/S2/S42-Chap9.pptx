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20"/>
  </p:notesMasterIdLst>
  <p:handoutMasterIdLst>
    <p:handoutMasterId r:id="rId21"/>
  </p:handoutMasterIdLst>
  <p:sldIdLst>
    <p:sldId id="475" r:id="rId2"/>
    <p:sldId id="476" r:id="rId3"/>
    <p:sldId id="477" r:id="rId4"/>
    <p:sldId id="479" r:id="rId5"/>
    <p:sldId id="527" r:id="rId6"/>
    <p:sldId id="480" r:id="rId7"/>
    <p:sldId id="481" r:id="rId8"/>
    <p:sldId id="482" r:id="rId9"/>
    <p:sldId id="488" r:id="rId10"/>
    <p:sldId id="489" r:id="rId11"/>
    <p:sldId id="490" r:id="rId12"/>
    <p:sldId id="491" r:id="rId13"/>
    <p:sldId id="492" r:id="rId14"/>
    <p:sldId id="519" r:id="rId15"/>
    <p:sldId id="523" r:id="rId16"/>
    <p:sldId id="498" r:id="rId17"/>
    <p:sldId id="499" r:id="rId18"/>
    <p:sldId id="500" r:id="rId19"/>
  </p:sldIdLst>
  <p:sldSz cx="9144000" cy="6858000" type="screen4x3"/>
  <p:notesSz cx="6858000" cy="9199563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 Narrow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webPr encoding="windows-1252"/>
  <p:clrMru>
    <a:srgbClr val="333333"/>
    <a:srgbClr val="EEEFD7"/>
    <a:srgbClr val="D5D69C"/>
    <a:srgbClr val="DFE8F2"/>
    <a:srgbClr val="BBCDE3"/>
    <a:srgbClr val="E4E4BF"/>
    <a:srgbClr val="8DACD0"/>
    <a:srgbClr val="CC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inimized" horzBarState="maximized">
    <p:restoredLeft sz="21400" autoAdjust="0"/>
    <p:restoredTop sz="62600" autoAdjust="0"/>
  </p:normalViewPr>
  <p:slideViewPr>
    <p:cSldViewPr snapToGrid="0">
      <p:cViewPr>
        <p:scale>
          <a:sx n="70" d="100"/>
          <a:sy n="70" d="100"/>
        </p:scale>
        <p:origin x="-1800" y="-84"/>
      </p:cViewPr>
      <p:guideLst>
        <p:guide orient="horz" pos="2160"/>
        <p:guide orient="horz" pos="199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2785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2785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E3640945-15D8-4DFE-B791-D4D317A63FB0}" type="slidenum">
              <a:rPr lang="en-US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30300" y="690563"/>
            <a:ext cx="4598988" cy="3449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70388"/>
            <a:ext cx="5486400" cy="4138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73760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Arial" charset="0"/>
              </a:defRPr>
            </a:lvl1pPr>
          </a:lstStyle>
          <a:p>
            <a:fld id="{5EEE34F7-1527-465D-A1D6-8FFEAF3050EF}" type="slidenum">
              <a:rPr lang="en-US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211CB5-28F3-496E-9DA2-A7ABE7FE5C3A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46387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387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A00B368-5D57-46E0-A864-79F1E53E60C5}" type="slidenum">
              <a:rPr lang="en-US"/>
              <a:pPr/>
              <a:t>2</a:t>
            </a:fld>
            <a:endParaRPr lang="en-US" dirty="0"/>
          </a:p>
        </p:txBody>
      </p:sp>
      <p:sp>
        <p:nvSpPr>
          <p:cNvPr id="46592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592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1738C50-372F-4013-AD86-95C48F9E4275}" type="slidenum">
              <a:rPr lang="en-US"/>
              <a:pPr/>
              <a:t>3</a:t>
            </a:fld>
            <a:endParaRPr lang="en-US" dirty="0"/>
          </a:p>
        </p:txBody>
      </p:sp>
      <p:sp>
        <p:nvSpPr>
          <p:cNvPr id="46797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797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F0F5B7-C846-4A7C-BBD4-D0996BA1DAA1}" type="slidenum">
              <a:rPr lang="en-US"/>
              <a:pPr/>
              <a:t>4</a:t>
            </a:fld>
            <a:endParaRPr lang="en-US" dirty="0"/>
          </a:p>
        </p:txBody>
      </p:sp>
      <p:sp>
        <p:nvSpPr>
          <p:cNvPr id="47206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206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F0F5B7-C846-4A7C-BBD4-D0996BA1DAA1}" type="slidenum">
              <a:rPr lang="en-US"/>
              <a:pPr/>
              <a:t>5</a:t>
            </a:fld>
            <a:endParaRPr lang="en-US" dirty="0"/>
          </a:p>
        </p:txBody>
      </p:sp>
      <p:sp>
        <p:nvSpPr>
          <p:cNvPr id="47206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206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B1F9FA-4121-4FCB-9CE8-219C8A3080D0}" type="slidenum">
              <a:rPr lang="en-US"/>
              <a:pPr/>
              <a:t>6</a:t>
            </a:fld>
            <a:endParaRPr lang="en-US" dirty="0"/>
          </a:p>
        </p:txBody>
      </p:sp>
      <p:sp>
        <p:nvSpPr>
          <p:cNvPr id="474114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4115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 sz="800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70251F-9A5E-473D-A2BF-226EA516A418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476162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6163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C0C98C7-020F-4F87-A4C9-3BA4AE9FF6DA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47821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821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C8BB16-4968-40FE-B9B4-D035DA07BAE9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49049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049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34C855-03D6-4BD8-B7AC-5BD1CF2096BE}" type="slidenum">
              <a:rPr lang="en-US"/>
              <a:pPr/>
              <a:t>10</a:t>
            </a:fld>
            <a:endParaRPr lang="en-US" dirty="0"/>
          </a:p>
        </p:txBody>
      </p:sp>
      <p:sp>
        <p:nvSpPr>
          <p:cNvPr id="49254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0775" y="690563"/>
            <a:ext cx="4598988" cy="3449637"/>
          </a:xfrm>
          <a:ln/>
        </p:spPr>
      </p:sp>
      <p:sp>
        <p:nvSpPr>
          <p:cNvPr id="49254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755C2EE-5A1A-4771-94E7-DBE17356B9F7}" type="slidenum">
              <a:rPr lang="en-US"/>
              <a:pPr/>
              <a:t>11</a:t>
            </a:fld>
            <a:endParaRPr lang="en-US" dirty="0"/>
          </a:p>
        </p:txBody>
      </p:sp>
      <p:sp>
        <p:nvSpPr>
          <p:cNvPr id="55398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398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B0459D-14D3-44E1-B686-BBDB32B142A5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49561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561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F46F8A7-4F15-42BB-9299-35BF9E48474A}" type="slidenum">
              <a:rPr lang="en-US"/>
              <a:pPr/>
              <a:t>13</a:t>
            </a:fld>
            <a:endParaRPr lang="en-US" dirty="0"/>
          </a:p>
        </p:txBody>
      </p:sp>
      <p:sp>
        <p:nvSpPr>
          <p:cNvPr id="49766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766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2514816-F44E-4BBB-A006-F93FA15B706C}" type="slidenum">
              <a:rPr lang="en-US"/>
              <a:pPr/>
              <a:t>15</a:t>
            </a:fld>
            <a:endParaRPr lang="en-US" dirty="0"/>
          </a:p>
        </p:txBody>
      </p:sp>
      <p:sp>
        <p:nvSpPr>
          <p:cNvPr id="57753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753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5EFC643-168E-4354-BF4C-3617D48B74DC}" type="slidenum">
              <a:rPr lang="en-US"/>
              <a:pPr/>
              <a:t>16</a:t>
            </a:fld>
            <a:endParaRPr lang="en-US" dirty="0"/>
          </a:p>
        </p:txBody>
      </p:sp>
      <p:sp>
        <p:nvSpPr>
          <p:cNvPr id="508930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8931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36D59EA-B93E-4547-98CB-AF31DA7E8453}" type="slidenum">
              <a:rPr lang="en-US"/>
              <a:pPr/>
              <a:t>17</a:t>
            </a:fld>
            <a:endParaRPr lang="en-US" dirty="0"/>
          </a:p>
        </p:txBody>
      </p:sp>
      <p:sp>
        <p:nvSpPr>
          <p:cNvPr id="510978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0979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800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29D803-EC5F-4A2F-8C2D-983EE4795056}" type="slidenum">
              <a:rPr lang="en-US"/>
              <a:pPr/>
              <a:t>18</a:t>
            </a:fld>
            <a:endParaRPr lang="en-US" dirty="0"/>
          </a:p>
        </p:txBody>
      </p:sp>
      <p:sp>
        <p:nvSpPr>
          <p:cNvPr id="513026" name="Rectangle-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3027" name="Rectangle-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endParaRPr lang="en-IE" sz="1000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ous-titr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4/12/2016</a:t>
            </a:fld>
            <a:endParaRPr lang="en-US" dirty="0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8" name="Titr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4/12/2016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4/12/2016</a:t>
            </a:fld>
            <a:endParaRPr lang="en-US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4/12/2016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4/12/2016</a:t>
            </a:fld>
            <a:endParaRPr lang="en-US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kumimoji="0" lang="en-US" dirty="0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dirty="0"/>
          </a:p>
        </p:txBody>
      </p:sp>
      <p:sp>
        <p:nvSpPr>
          <p:cNvPr id="23" name="Titr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4/12/2016</a:t>
            </a:fld>
            <a:endParaRPr lang="en-US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4/12/2016</a:t>
            </a:fld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4/12/2016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dirty="0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9D21D778-B565-4D7E-94D7-64010A445B68}" type="datetimeFigureOut">
              <a:rPr lang="en-US" smtClean="0"/>
              <a:pPr/>
              <a:t>4/12/2016</a:t>
            </a:fld>
            <a:endParaRPr lang="en-US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4/12/2016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2C6B1FF6-39B9-40F5-8B67-33C6354A3D4F}" type="slidenum">
              <a:rPr kumimoji="0" lang="en-US" smtClean="0"/>
              <a:pPr/>
              <a:t>‹N°›</a:t>
            </a:fld>
            <a:endParaRPr kumimoji="0" lang="en-US" dirty="0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4/12/2016</a:t>
            </a:fld>
            <a:endParaRPr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7788"/>
            <a:ext cx="7391400" cy="68421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1050925" y="1447800"/>
            <a:ext cx="7026275" cy="4694238"/>
          </a:xfrm>
        </p:spPr>
        <p:txBody>
          <a:bodyPr/>
          <a:lstStyle/>
          <a:p>
            <a:endParaRPr lang="fr-FR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7788"/>
            <a:ext cx="7391400" cy="68421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050925" y="1447800"/>
            <a:ext cx="3436938" cy="469423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0263" y="1447800"/>
            <a:ext cx="3436937" cy="227012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0263" y="3870325"/>
            <a:ext cx="3436937" cy="2271713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re et texte sur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7788"/>
            <a:ext cx="7391400" cy="68421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050925" y="1447800"/>
            <a:ext cx="7026275" cy="2270125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1050925" y="3870325"/>
            <a:ext cx="7026275" cy="2271713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8200" y="77788"/>
            <a:ext cx="7391400" cy="684212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1050925" y="1447800"/>
            <a:ext cx="3436938" cy="469423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0263" y="1447800"/>
            <a:ext cx="3436937" cy="4694238"/>
          </a:xfrm>
        </p:spPr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pPr algn="r" eaLnBrk="1" latinLnBrk="0" hangingPunct="1"/>
            <a:fld id="{9D21D778-B565-4D7E-94D7-64010A445B68}" type="datetimeFigureOut">
              <a:rPr lang="en-US" smtClean="0"/>
              <a:pPr algn="r" eaLnBrk="1" latinLnBrk="0" hangingPunct="1"/>
              <a:t>4/12/2016</a:t>
            </a:fld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‹N°›</a:t>
            </a:fld>
            <a:endParaRPr kumimoji="0" lang="en-US" sz="1600" dirty="0">
              <a:solidFill>
                <a:schemeClr val="accent3">
                  <a:shade val="75000"/>
                </a:schemeClr>
              </a:solidFill>
            </a:endParaRPr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</a:p>
          <a:p>
            <a:pPr lvl="1" eaLnBrk="1" latinLnBrk="0" hangingPunct="1"/>
            <a:r>
              <a:rPr kumimoji="0" lang="fr-FR" smtClean="0"/>
              <a:t>Deuxième niveau</a:t>
            </a:r>
          </a:p>
          <a:p>
            <a:pPr lvl="2" eaLnBrk="1" latinLnBrk="0" hangingPunct="1"/>
            <a:r>
              <a:rPr kumimoji="0" lang="fr-FR" smtClean="0"/>
              <a:t>Troisième niveau</a:t>
            </a:r>
          </a:p>
          <a:p>
            <a:pPr lvl="3" eaLnBrk="1" latinLnBrk="0" hangingPunct="1"/>
            <a:r>
              <a:rPr kumimoji="0" lang="fr-FR" smtClean="0"/>
              <a:t>Quatrième niveau</a:t>
            </a:r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850" name="Rectangle-2"/>
          <p:cNvSpPr>
            <a:spLocks noGrp="1" noChangeArrowheads="1"/>
          </p:cNvSpPr>
          <p:nvPr>
            <p:ph type="ctrTitle"/>
          </p:nvPr>
        </p:nvSpPr>
        <p:spPr>
          <a:xfrm>
            <a:off x="706582" y="2992582"/>
            <a:ext cx="7620000" cy="3117272"/>
          </a:xfrm>
        </p:spPr>
        <p:txBody>
          <a:bodyPr>
            <a:noAutofit/>
          </a:bodyPr>
          <a:lstStyle/>
          <a:p>
            <a:r>
              <a:rPr lang="fr-FR" altLang="zh-CN" sz="48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Chapitre 9</a:t>
            </a:r>
            <a:r>
              <a:rPr lang="fr-FR" altLang="zh-CN" sz="4800" dirty="0">
                <a:solidFill>
                  <a:srgbClr val="000000"/>
                </a:solidFill>
                <a:latin typeface="Times New Roman" charset="0"/>
                <a:ea typeface="SimSun" pitchFamily="2" charset="-122"/>
                <a:cs typeface="Times New Roman" charset="0"/>
              </a:rPr>
              <a:t> </a:t>
            </a:r>
            <a:r>
              <a:rPr lang="fr-FR" altLang="zh-CN" sz="48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/>
            </a:r>
            <a:br>
              <a:rPr lang="fr-FR" altLang="zh-CN" sz="48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</a:br>
            <a:r>
              <a:rPr lang="fr-FR" altLang="zh-CN" sz="48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r>
              <a:rPr lang="fr-FR" altLang="zh-CN" sz="48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Préparation de l'administration d'un serveur</a:t>
            </a:r>
            <a:r>
              <a:rPr lang="en-IE" altLang="zh-CN" sz="4800" dirty="0">
                <a:solidFill>
                  <a:srgbClr val="000000"/>
                </a:solidFill>
                <a:ea typeface="SimSun" pitchFamily="2" charset="-122"/>
              </a:rPr>
              <a:t> 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1246890" y="845127"/>
            <a:ext cx="652549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dirty="0" smtClean="0"/>
              <a:t>Module S42</a:t>
            </a:r>
            <a:endParaRPr lang="fr-FR" sz="4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898" name="Rectangle-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CN" b="1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Plan du cours</a:t>
            </a:r>
            <a:endParaRPr lang="en-US" altLang="zh-CN" b="1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64899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287897" y="2285999"/>
            <a:ext cx="8503920" cy="3034145"/>
          </a:xfrm>
        </p:spPr>
        <p:txBody>
          <a:bodyPr>
            <a:normAutofit/>
          </a:bodyPr>
          <a:lstStyle/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Préparation de l'administration d'un serveur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r>
              <a:rPr lang="en-US" altLang="zh-CN" b="1" dirty="0">
                <a:ea typeface="SimSun" pitchFamily="2" charset="-122"/>
                <a:cs typeface="Arial Narrow" pitchFamily="34" charset="0"/>
              </a:rPr>
              <a:t> </a:t>
            </a: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Configuration de la fonction Bureau à distance pour administrer un serveur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b="1" dirty="0">
              <a:ea typeface="SimSun" pitchFamily="2" charset="-122"/>
              <a:cs typeface="Arial Narrow" pitchFamily="34" charset="0"/>
            </a:endParaRP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Gestion des connexions au Bureau à distance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b="1" dirty="0">
              <a:ea typeface="SimSun" pitchFamily="2" charset="-122"/>
              <a:cs typeface="Arial Narrow" pitchFamily="34" charset="0"/>
            </a:endParaRPr>
          </a:p>
          <a:p>
            <a:pPr marL="514350" indent="-514350">
              <a:buClr>
                <a:schemeClr val="tx1"/>
              </a:buClr>
              <a:buFont typeface="+mj-lt"/>
              <a:buAutoNum type="arabicPeriod"/>
            </a:pPr>
            <a:endParaRPr lang="en-US" altLang="zh-CN" b="1" dirty="0">
              <a:ea typeface="SimSun" pitchFamily="2" charset="-122"/>
              <a:cs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946" name="Rectangle-2"/>
          <p:cNvSpPr>
            <a:spLocks noGrp="1" noChangeArrowheads="1"/>
          </p:cNvSpPr>
          <p:nvPr>
            <p:ph type="title"/>
          </p:nvPr>
        </p:nvSpPr>
        <p:spPr>
          <a:xfrm>
            <a:off x="329461" y="339438"/>
            <a:ext cx="8534400" cy="758952"/>
          </a:xfrm>
        </p:spPr>
        <p:txBody>
          <a:bodyPr>
            <a:normAutofit fontScale="90000"/>
          </a:bodyPr>
          <a:lstStyle/>
          <a:p>
            <a:r>
              <a:rPr lang="fr-FR" altLang="zh-CN" b="1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1. Préparation </a:t>
            </a: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de l'administration d'un serveur</a:t>
            </a:r>
            <a:endParaRPr lang="en-US" altLang="zh-CN" b="1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66947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290945" y="1921811"/>
            <a:ext cx="8589819" cy="3220194"/>
          </a:xfrm>
        </p:spPr>
        <p:txBody>
          <a:bodyPr>
            <a:noAutofit/>
          </a:bodyPr>
          <a:lstStyle/>
          <a:p>
            <a:pPr>
              <a:spcBef>
                <a:spcPct val="20000"/>
              </a:spcBef>
              <a:buClrTx/>
              <a:buFont typeface="Wingdings" pitchFamily="2" charset="2"/>
              <a:buChar char="q"/>
            </a:pPr>
            <a:r>
              <a:rPr lang="fr-FR" altLang="zh-CN" sz="2200" dirty="0" smtClean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Utilisation </a:t>
            </a:r>
            <a:r>
              <a:rPr lang="fr-FR" altLang="zh-CN" sz="2200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des appartenances de groupe pour administrer </a:t>
            </a:r>
            <a:br>
              <a:rPr lang="fr-FR" altLang="zh-CN" sz="2200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</a:br>
            <a:r>
              <a:rPr lang="fr-FR" altLang="zh-CN" sz="2200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un serveur</a:t>
            </a:r>
            <a:r>
              <a:rPr lang="en-IE" altLang="zh-CN" sz="2200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200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>
              <a:spcBef>
                <a:spcPct val="20000"/>
              </a:spcBef>
              <a:buClrTx/>
              <a:buFont typeface="Wingdings" pitchFamily="2" charset="2"/>
              <a:buChar char="q"/>
            </a:pPr>
            <a:r>
              <a:rPr lang="fr-FR" altLang="zh-CN" sz="2200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Qu'est-ce que la commande Exécuter en tant que ?</a:t>
            </a:r>
            <a:r>
              <a:rPr lang="en-IE" altLang="zh-CN" sz="2200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200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>
              <a:spcBef>
                <a:spcPct val="20000"/>
              </a:spcBef>
              <a:buClrTx/>
              <a:buFont typeface="Wingdings" pitchFamily="2" charset="2"/>
              <a:buChar char="q"/>
            </a:pPr>
            <a:r>
              <a:rPr lang="fr-FR" altLang="zh-CN" sz="2200" dirty="0" smtClean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Qu'est-ce </a:t>
            </a:r>
            <a:r>
              <a:rPr lang="fr-FR" altLang="zh-CN" sz="2200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que l'outil Gestion de l'ordinateur ?</a:t>
            </a:r>
            <a:r>
              <a:rPr lang="en-IE" altLang="zh-CN" sz="2200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200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>
              <a:spcBef>
                <a:spcPct val="20000"/>
              </a:spcBef>
              <a:buClrTx/>
              <a:buFont typeface="Wingdings" pitchFamily="2" charset="2"/>
              <a:buChar char="q"/>
            </a:pPr>
            <a:r>
              <a:rPr lang="fr-FR" altLang="zh-CN" sz="2200" dirty="0" smtClean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Rôle </a:t>
            </a:r>
            <a:r>
              <a:rPr lang="fr-FR" altLang="zh-CN" sz="2200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de la console MMC dans le cadre d'une administration à distance</a:t>
            </a:r>
            <a:r>
              <a:rPr lang="en-IE" altLang="zh-CN" sz="2200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200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5" name="Rectangle-25"/>
          <p:cNvSpPr>
            <a:spLocks noGrp="1" noChangeArrowheads="1"/>
          </p:cNvSpPr>
          <p:nvPr>
            <p:ph type="title"/>
          </p:nvPr>
        </p:nvSpPr>
        <p:spPr>
          <a:xfrm>
            <a:off x="200890" y="271752"/>
            <a:ext cx="8943109" cy="684212"/>
          </a:xfrm>
        </p:spPr>
        <p:txBody>
          <a:bodyPr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Utilisation des appartenances de groupe pour administrer un serveur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</a:p>
        </p:txBody>
      </p:sp>
      <p:sp>
        <p:nvSpPr>
          <p:cNvPr id="471068" name="AutoShape-28"/>
          <p:cNvSpPr>
            <a:spLocks noChangeArrowheads="1"/>
          </p:cNvSpPr>
          <p:nvPr/>
        </p:nvSpPr>
        <p:spPr bwMode="auto">
          <a:xfrm>
            <a:off x="463138" y="2013444"/>
            <a:ext cx="8241475" cy="3852965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Les membres </a:t>
            </a: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des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groupes </a:t>
            </a: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par défaut </a:t>
            </a: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se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voient accorder des autorisations leur permettant d'effectuer des tâches système spécifiques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IE" altLang="zh-CN" sz="2400" dirty="0" smtClean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sz="2400" dirty="0" smtClean="0"/>
              <a:t>Il est impossible de supprimer ces groupes</a:t>
            </a: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sz="2400" dirty="0" smtClean="0"/>
              <a:t>Connectez-vous en tant qu’administrateur uniquement lorsque cela est nécessaire</a:t>
            </a:r>
            <a:endParaRPr lang="en-US" altLang="zh-CN" sz="2400" dirty="0">
              <a:ea typeface="SimSun" pitchFamily="2" charset="-122"/>
              <a:cs typeface="Arial Narrow" pitchFamily="34" charset="0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Les administrateurs doivent toujours </a:t>
            </a: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ajouter d’autres utilisateurs au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groupe le plus restrictif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710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4710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4710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4710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5" name="Rectangle-25"/>
          <p:cNvSpPr>
            <a:spLocks noGrp="1" noChangeArrowheads="1"/>
          </p:cNvSpPr>
          <p:nvPr>
            <p:ph type="title"/>
          </p:nvPr>
        </p:nvSpPr>
        <p:spPr>
          <a:xfrm>
            <a:off x="200890" y="271752"/>
            <a:ext cx="8943109" cy="684212"/>
          </a:xfrm>
        </p:spPr>
        <p:txBody>
          <a:bodyPr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Utilisation des appartenances de groupe pour administrer un serveur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</a:p>
        </p:txBody>
      </p:sp>
      <p:graphicFrame>
        <p:nvGraphicFramePr>
          <p:cNvPr id="471115" name="Group 75"/>
          <p:cNvGraphicFramePr>
            <a:graphicFrameLocks noGrp="1"/>
          </p:cNvGraphicFramePr>
          <p:nvPr>
            <p:ph type="tbl" idx="1"/>
          </p:nvPr>
        </p:nvGraphicFramePr>
        <p:xfrm>
          <a:off x="158338" y="1296621"/>
          <a:ext cx="8783781" cy="5044801"/>
        </p:xfrm>
        <a:graphic>
          <a:graphicData uri="http://schemas.openxmlformats.org/drawingml/2006/table">
            <a:tbl>
              <a:tblPr/>
              <a:tblGrid>
                <a:gridCol w="2181101"/>
                <a:gridCol w="6602680"/>
              </a:tblGrid>
              <a:tr h="83852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Groupe local de domaine intégré</a:t>
                      </a:r>
                      <a:r>
                        <a:rPr kumimoji="0" lang="en-IE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Description</a:t>
                      </a:r>
                      <a:r>
                        <a:rPr kumimoji="0" lang="en-IE" altLang="zh-CN" sz="24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4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64764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Administrateurs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3"/>
                        </a:buBlip>
                        <a:tabLst/>
                      </a:pPr>
                      <a:r>
                        <a:rPr kumimoji="0" lang="fr-FR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Exécutent toutes les tâches administratives sur les serveurs et sur les clients</a:t>
                      </a:r>
                      <a:r>
                        <a:rPr kumimoji="0" lang="en-IE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7717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Opérateurs de sauvegarde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3"/>
                        </a:buBlip>
                        <a:tabLst/>
                      </a:pPr>
                      <a:r>
                        <a:rPr kumimoji="0" lang="fr-FR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Assurent la sauvegarde et la restauration des serveurs à l'aide de l'utilitaire de sauvegarde</a:t>
                      </a:r>
                      <a:r>
                        <a:rPr kumimoji="0" lang="en-IE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2271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Opérateurs de compte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3"/>
                        </a:buBlip>
                        <a:tabLst/>
                      </a:pPr>
                      <a:r>
                        <a:rPr kumimoji="0" lang="fr-FR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Créent, suppriment et modifient les comptes d'utilisateurs et les groupes</a:t>
                      </a:r>
                      <a:r>
                        <a:rPr kumimoji="0" lang="en-IE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  <a:p>
                      <a:pPr marL="177800" marR="0" lvl="0" indent="-1778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3"/>
                        </a:buBlip>
                        <a:tabLst/>
                      </a:pPr>
                      <a:r>
                        <a:rPr kumimoji="0" lang="fr-FR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Ne peuvent pas modifier le groupe des Administrateurs ni celui des Opérateurs</a:t>
                      </a:r>
                      <a:r>
                        <a:rPr kumimoji="0" lang="en-IE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7717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Opérateurs de serveur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3"/>
                        </a:buBlip>
                        <a:tabLst/>
                      </a:pPr>
                      <a:r>
                        <a:rPr kumimoji="0" lang="fr-FR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Partagent les ressources disque ; assurent la sauvegarde et la restauration des fichiers</a:t>
                      </a:r>
                      <a:r>
                        <a:rPr kumimoji="0" lang="en-IE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7717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Opérateurs d'impression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0" fontAlgn="base" latinLnBrk="0" hangingPunct="0">
                        <a:lnSpc>
                          <a:spcPct val="8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3"/>
                        </a:buBlip>
                        <a:tabLst/>
                      </a:pPr>
                      <a:r>
                        <a:rPr kumimoji="0" lang="fr-FR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Assurent la configuration et la gestion des imprimantes réseau</a:t>
                      </a:r>
                      <a:r>
                        <a:rPr kumimoji="0" lang="en-IE" altLang="zh-CN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090" name="Rectangle-2"/>
          <p:cNvSpPr>
            <a:spLocks noGrp="1" noChangeArrowheads="1"/>
          </p:cNvSpPr>
          <p:nvPr>
            <p:ph type="title"/>
          </p:nvPr>
        </p:nvSpPr>
        <p:spPr>
          <a:xfrm>
            <a:off x="173182" y="285008"/>
            <a:ext cx="8816439" cy="823913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Qu'est-ce que la commande Exécuter en tant que ? </a:t>
            </a:r>
          </a:p>
        </p:txBody>
      </p:sp>
      <p:sp>
        <p:nvSpPr>
          <p:cNvPr id="473092" name="AutoShape-4"/>
          <p:cNvSpPr>
            <a:spLocks noChangeArrowheads="1"/>
          </p:cNvSpPr>
          <p:nvPr/>
        </p:nvSpPr>
        <p:spPr bwMode="auto">
          <a:xfrm>
            <a:off x="190005" y="1349375"/>
            <a:ext cx="8775865" cy="290353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2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La commande Exécuter en tant que permet d'ouvrir une session avec un compte non administratif et d'effectuer, néanmoins, des tâches administratives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200" dirty="0">
              <a:ea typeface="SimSun" pitchFamily="2" charset="-122"/>
              <a:cs typeface="Arial Narrow" pitchFamily="34" charset="0"/>
            </a:endParaRPr>
          </a:p>
          <a:p>
            <a:pPr marL="231775" indent="-231775" algn="l">
              <a:lnSpc>
                <a:spcPct val="90000"/>
              </a:lnSpc>
              <a:spcBef>
                <a:spcPct val="2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À l'aide de la commande Exécuter en tant que, l'utilisateur peut utiliser des outils et des programmes spécifiques avec des autorisations différentes de celles attribuées à l'ouverture de la session en cours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200" dirty="0">
              <a:ea typeface="SimSun" pitchFamily="2" charset="-122"/>
              <a:cs typeface="Arial Narrow" pitchFamily="34" charset="0"/>
            </a:endParaRPr>
          </a:p>
          <a:p>
            <a:pPr marL="231775" indent="-231775" algn="l">
              <a:lnSpc>
                <a:spcPct val="90000"/>
              </a:lnSpc>
              <a:spcBef>
                <a:spcPct val="2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Pour les tâches de routine, ouvrez une session en tant qu'utilisateur ; pour les tâches administratives, utilisez la commande Exécuter en tant que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</a:p>
        </p:txBody>
      </p:sp>
      <p:sp>
        <p:nvSpPr>
          <p:cNvPr id="473097" name="AutoShape-9"/>
          <p:cNvSpPr>
            <a:spLocks noChangeArrowheads="1"/>
          </p:cNvSpPr>
          <p:nvPr/>
        </p:nvSpPr>
        <p:spPr bwMode="auto">
          <a:xfrm>
            <a:off x="225631" y="4492625"/>
            <a:ext cx="8668987" cy="2205058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20000"/>
              </a:spcBef>
              <a:buSzPct val="80000"/>
            </a:pPr>
            <a:r>
              <a:rPr lang="fr-FR" altLang="zh-CN" sz="2200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Vous pouvez lancer la commande Exécuter en tant que à partir de :</a:t>
            </a:r>
            <a:r>
              <a:rPr lang="en-IE" altLang="zh-CN" sz="2200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200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 marL="519113" lvl="1" indent="-173038" algn="l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q"/>
            </a:pPr>
            <a:r>
              <a:rPr lang="fr-FR" altLang="zh-CN" sz="2200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L'interface utilisateur sur le menu Démarrer</a:t>
            </a:r>
            <a:r>
              <a:rPr lang="en-IE" altLang="zh-CN" sz="2200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altLang="zh-CN" sz="2200" dirty="0">
              <a:solidFill>
                <a:srgbClr val="C00000"/>
              </a:solidFill>
              <a:ea typeface="SimSun" pitchFamily="2" charset="-122"/>
            </a:endParaRPr>
          </a:p>
          <a:p>
            <a:pPr marL="519113" lvl="1" indent="-173038" algn="l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q"/>
            </a:pPr>
            <a:r>
              <a:rPr lang="fr-FR" altLang="zh-CN" sz="2200" dirty="0">
                <a:solidFill>
                  <a:srgbClr val="C00000"/>
                </a:solidFill>
                <a:ea typeface="SimSun" pitchFamily="2" charset="-122"/>
              </a:rPr>
              <a:t>L'Explorateur Windows</a:t>
            </a:r>
            <a:r>
              <a:rPr lang="en-IE" altLang="zh-CN" sz="2200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altLang="zh-CN" sz="2200" dirty="0">
              <a:solidFill>
                <a:srgbClr val="C00000"/>
              </a:solidFill>
              <a:ea typeface="SimSun" pitchFamily="2" charset="-122"/>
            </a:endParaRPr>
          </a:p>
          <a:p>
            <a:pPr marL="519113" lvl="1" indent="-173038" algn="l">
              <a:lnSpc>
                <a:spcPct val="90000"/>
              </a:lnSpc>
              <a:spcBef>
                <a:spcPct val="20000"/>
              </a:spcBef>
              <a:buFont typeface="Wingdings" pitchFamily="2" charset="2"/>
              <a:buChar char="q"/>
            </a:pPr>
            <a:r>
              <a:rPr lang="fr-FR" altLang="zh-CN" sz="2200" dirty="0">
                <a:solidFill>
                  <a:srgbClr val="C00000"/>
                </a:solidFill>
                <a:ea typeface="SimSun" pitchFamily="2" charset="-122"/>
              </a:rPr>
              <a:t>L'invite de commandes</a:t>
            </a:r>
            <a:r>
              <a:rPr lang="en-IE" altLang="zh-CN" sz="2200" dirty="0">
                <a:solidFill>
                  <a:srgbClr val="C00000"/>
                </a:solidFill>
                <a:ea typeface="SimSun" pitchFamily="2" charset="-122"/>
              </a:rPr>
              <a:t> </a:t>
            </a:r>
            <a:r>
              <a:rPr lang="en-IE" altLang="zh-CN" sz="2200" dirty="0" smtClean="0">
                <a:solidFill>
                  <a:srgbClr val="C00000"/>
                </a:solidFill>
                <a:ea typeface="SimSun" pitchFamily="2" charset="-122"/>
              </a:rPr>
              <a:t>:</a:t>
            </a:r>
          </a:p>
          <a:p>
            <a:pPr marL="519113" lvl="1" indent="-173038" algn="l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itchFamily="2" charset="2"/>
              <a:buChar char=""/>
            </a:pPr>
            <a:r>
              <a:rPr lang="fr-FR" sz="2400" dirty="0" smtClean="0"/>
              <a:t>runas /user:</a:t>
            </a:r>
            <a:r>
              <a:rPr lang="fr-FR" sz="2400" i="1" dirty="0" smtClean="0"/>
              <a:t>nom_domaine\nom_utilisateur  nom_programme</a:t>
            </a:r>
            <a:endParaRPr lang="en-US" altLang="zh-CN" sz="2200" dirty="0">
              <a:solidFill>
                <a:srgbClr val="C00000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73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47309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47309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4730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4730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1000"/>
                                        <p:tgtEl>
                                          <p:spTgt spid="4730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1000"/>
                                        <p:tgtEl>
                                          <p:spTgt spid="4730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0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1000"/>
                                        <p:tgtEl>
                                          <p:spTgt spid="4730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138" name="Rectangle-2"/>
          <p:cNvSpPr>
            <a:spLocks noGrp="1" noChangeArrowheads="1"/>
          </p:cNvSpPr>
          <p:nvPr>
            <p:ph type="title"/>
          </p:nvPr>
        </p:nvSpPr>
        <p:spPr>
          <a:xfrm>
            <a:off x="171126" y="264225"/>
            <a:ext cx="8794743" cy="758952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Qu'est-ce que l'outil Gestion de l'ordinateur ? </a:t>
            </a:r>
          </a:p>
        </p:txBody>
      </p:sp>
      <p:sp>
        <p:nvSpPr>
          <p:cNvPr id="475139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154386" y="1302744"/>
            <a:ext cx="8728364" cy="977301"/>
          </a:xfrm>
        </p:spPr>
        <p:txBody>
          <a:bodyPr>
            <a:normAutofit/>
          </a:bodyPr>
          <a:lstStyle/>
          <a:p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Un ensemble d'outils d'administration </a:t>
            </a:r>
            <a:r>
              <a:rPr lang="en-US" altLang="zh-CN" sz="2200" dirty="0">
                <a:ea typeface="SimSun" pitchFamily="2" charset="-122"/>
                <a:cs typeface="Arial Narrow" pitchFamily="34" charset="0"/>
              </a:rPr>
              <a:t> </a:t>
            </a:r>
          </a:p>
          <a:p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À utiliser pour la gestion d'ordinateurs locaux et distants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200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  <p:graphicFrame>
        <p:nvGraphicFramePr>
          <p:cNvPr id="475163" name="Group 27"/>
          <p:cNvGraphicFramePr>
            <a:graphicFrameLocks noGrp="1"/>
          </p:cNvGraphicFramePr>
          <p:nvPr/>
        </p:nvGraphicFramePr>
        <p:xfrm>
          <a:off x="201882" y="2237613"/>
          <a:ext cx="8763988" cy="4355592"/>
        </p:xfrm>
        <a:graphic>
          <a:graphicData uri="http://schemas.openxmlformats.org/drawingml/2006/table">
            <a:tbl>
              <a:tblPr/>
              <a:tblGrid>
                <a:gridCol w="1508165"/>
                <a:gridCol w="7255823"/>
              </a:tblGrid>
              <a:tr h="39052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Outil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Description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13668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Outils système</a:t>
                      </a:r>
                      <a:r>
                        <a:rPr kumimoji="0" lang="en-IE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Blip>
                          <a:blip r:embed="rId3"/>
                        </a:buBlip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Analyser des événements système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  <a:p>
                      <a:pPr marL="177800" marR="0" lvl="0" indent="-177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Blip>
                          <a:blip r:embed="rId3"/>
                        </a:buBlip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Créer et gérer des ressources partagées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  <a:p>
                      <a:pPr marL="177800" marR="0" lvl="0" indent="-177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Blip>
                          <a:blip r:embed="rId3"/>
                        </a:buBlip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Afficher la liste des utilisateurs connectés à un ordinateur local ou distant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  <a:p>
                      <a:pPr marL="177800" marR="0" lvl="0" indent="-177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Blip>
                          <a:blip r:embed="rId3"/>
                        </a:buBlip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Afficher les configurations de périphérique et ajouter de nouveaux pilotes de périphériques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4984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Outils de stockage</a:t>
                      </a:r>
                      <a:r>
                        <a:rPr kumimoji="0" lang="en-IE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Blip>
                          <a:blip r:embed="rId3"/>
                        </a:buBlip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Définir les propriétés des périphériques de stockage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  <a:p>
                      <a:pPr marL="177800" marR="0" lvl="0" indent="-177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Blip>
                          <a:blip r:embed="rId3"/>
                        </a:buBlip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Mettre à jour les informations sur le disque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7207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Outils Services et applications</a:t>
                      </a:r>
                      <a:r>
                        <a:rPr kumimoji="0" lang="en-IE" altLang="zh-CN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177800" marR="0" lvl="0" indent="-177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Blip>
                          <a:blip r:embed="rId3"/>
                        </a:buBlip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Gérer les applications et les services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  <a:p>
                      <a:pPr marL="177800" marR="0" lvl="0" indent="-1778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Blip>
                          <a:blip r:embed="rId3"/>
                        </a:buBlip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Démarrer et arrêter les services système, tels que le Planificateur de tâches et le service d'indexation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51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4751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1000"/>
                                        <p:tgtEl>
                                          <p:spTgt spid="475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186" name="Rectangle-2"/>
          <p:cNvSpPr>
            <a:spLocks noGrp="1" noChangeArrowheads="1"/>
          </p:cNvSpPr>
          <p:nvPr>
            <p:ph type="title"/>
          </p:nvPr>
        </p:nvSpPr>
        <p:spPr>
          <a:xfrm>
            <a:off x="171123" y="335478"/>
            <a:ext cx="8806621" cy="758952"/>
          </a:xfrm>
        </p:spPr>
        <p:txBody>
          <a:bodyPr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Rôle de la console MMC dans le cadre d'une administration à distance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</a:p>
        </p:txBody>
      </p:sp>
      <p:sp>
        <p:nvSpPr>
          <p:cNvPr id="477187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273132" y="1333500"/>
            <a:ext cx="8728363" cy="4808538"/>
          </a:xfrm>
        </p:spPr>
        <p:txBody>
          <a:bodyPr>
            <a:normAutofit/>
          </a:bodyPr>
          <a:lstStyle/>
          <a:p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Microsoft Management Console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r>
              <a:rPr lang="en-IE" altLang="zh-CN" sz="24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MMC</a:t>
            </a:r>
            <a:endParaRPr lang="en-US" altLang="zh-CN" sz="2400" dirty="0">
              <a:ea typeface="SimSun" pitchFamily="2" charset="-122"/>
              <a:cs typeface="Arial Narrow" pitchFamily="34" charset="0"/>
            </a:endParaRPr>
          </a:p>
          <a:p>
            <a:pPr lvl="1"/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Cette console fournit une interface aux composants logiciels enfichables qui permettent de gérer les composants matériels, logiciels et réseau sur les serveurs fonctionnant sous Windows Server 2003 </a:t>
            </a: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et sur 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les ordinateurs exécutant Windows XP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400" dirty="0">
              <a:ea typeface="SimSun" pitchFamily="2" charset="-122"/>
            </a:endParaRPr>
          </a:p>
          <a:p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Pourquoi utiliser MMC dans le cadre d'une administration à distance ?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400" dirty="0">
              <a:ea typeface="SimSun" pitchFamily="2" charset="-122"/>
            </a:endParaRPr>
          </a:p>
          <a:p>
            <a:pPr lvl="1"/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Pour effectuer des tâches fréquentes sur les ordinateurs distants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400" dirty="0">
              <a:ea typeface="SimSun" pitchFamily="2" charset="-122"/>
            </a:endParaRPr>
          </a:p>
          <a:p>
            <a:pPr lvl="1"/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Pour gérer des tâches similaires sur plusieurs ordinateurs distants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400" dirty="0">
              <a:solidFill>
                <a:srgbClr val="000000"/>
              </a:solidFill>
              <a:ea typeface="SimSun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771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477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477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477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77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474" name="Rectangle-2"/>
          <p:cNvSpPr>
            <a:spLocks noGrp="1" noChangeArrowheads="1"/>
          </p:cNvSpPr>
          <p:nvPr>
            <p:ph type="title"/>
          </p:nvPr>
        </p:nvSpPr>
        <p:spPr>
          <a:xfrm>
            <a:off x="173181" y="213756"/>
            <a:ext cx="8768938" cy="854075"/>
          </a:xfrm>
        </p:spPr>
        <p:txBody>
          <a:bodyPr>
            <a:noAutofit/>
          </a:bodyPr>
          <a:lstStyle/>
          <a:p>
            <a:r>
              <a:rPr lang="fr-FR" altLang="zh-CN" sz="3000" b="1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2. Configuration </a:t>
            </a:r>
            <a:r>
              <a:rPr lang="fr-FR" altLang="zh-CN" sz="3000" b="1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de la fonction Bureau à distance pour administrer un serveur</a:t>
            </a:r>
            <a:r>
              <a:rPr lang="en-IE" altLang="zh-CN" sz="3000" b="1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3000" b="1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89475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225631" y="1640350"/>
            <a:ext cx="8716488" cy="4746625"/>
          </a:xfrm>
        </p:spPr>
        <p:txBody>
          <a:bodyPr>
            <a:normAutofit lnSpcReduction="10000"/>
          </a:bodyPr>
          <a:lstStyle/>
          <a:p>
            <a:pPr>
              <a:spcBef>
                <a:spcPct val="30000"/>
              </a:spcBef>
              <a:buClrTx/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Qu'est-ce que l'outil Bureau à distance pour administration ?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>
              <a:spcBef>
                <a:spcPct val="30000"/>
              </a:spcBef>
              <a:buClrTx/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Pourquoi utiliser l'outil Bureau à distance pour administration ?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>
              <a:spcBef>
                <a:spcPct val="30000"/>
              </a:spcBef>
              <a:buClrTx/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Quelle est la configuration requise pour le Service de bureau à distance ? </a:t>
            </a:r>
            <a:endParaRPr lang="en-US" altLang="zh-CN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>
              <a:spcBef>
                <a:spcPct val="30000"/>
              </a:spcBef>
              <a:buClrTx/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Que sont les préférences des ordinateurs clients dans le cadre d'une connexion Bureau à distance ?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>
              <a:spcBef>
                <a:spcPct val="30000"/>
              </a:spcBef>
              <a:buClrTx/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Connexion Bureau à distance et Bureaux à distance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>
              <a:spcBef>
                <a:spcPct val="30000"/>
              </a:spcBef>
              <a:buClrTx/>
              <a:buFont typeface="Wingdings" pitchFamily="2" charset="2"/>
              <a:buChar char="q"/>
            </a:pP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Comment se connecter à un serveur distant ?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22" name="Rectangle-2"/>
          <p:cNvSpPr>
            <a:spLocks noGrp="1" noChangeArrowheads="1"/>
          </p:cNvSpPr>
          <p:nvPr>
            <p:ph type="title"/>
          </p:nvPr>
        </p:nvSpPr>
        <p:spPr>
          <a:xfrm>
            <a:off x="194873" y="347353"/>
            <a:ext cx="8759121" cy="758952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Qu'est-ce que l'outil Bureau à distance pour administration ?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91550" name="Oval-30"/>
          <p:cNvSpPr>
            <a:spLocks noChangeArrowheads="1"/>
          </p:cNvSpPr>
          <p:nvPr/>
        </p:nvSpPr>
        <p:spPr bwMode="auto">
          <a:xfrm>
            <a:off x="4102100" y="3570288"/>
            <a:ext cx="1049338" cy="1009650"/>
          </a:xfrm>
          <a:prstGeom prst="ellipse">
            <a:avLst/>
          </a:prstGeom>
          <a:solidFill>
            <a:srgbClr val="CC0000">
              <a:alpha val="25000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 dirty="0"/>
          </a:p>
        </p:txBody>
      </p:sp>
      <p:sp>
        <p:nvSpPr>
          <p:cNvPr id="491551" name="Oval-31"/>
          <p:cNvSpPr>
            <a:spLocks noChangeArrowheads="1"/>
          </p:cNvSpPr>
          <p:nvPr/>
        </p:nvSpPr>
        <p:spPr bwMode="auto">
          <a:xfrm>
            <a:off x="1176288" y="1553125"/>
            <a:ext cx="1049337" cy="1009650"/>
          </a:xfrm>
          <a:prstGeom prst="ellipse">
            <a:avLst/>
          </a:prstGeom>
          <a:solidFill>
            <a:srgbClr val="CC0000">
              <a:alpha val="25000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 dirty="0"/>
          </a:p>
        </p:txBody>
      </p:sp>
      <p:sp>
        <p:nvSpPr>
          <p:cNvPr id="491557" name="Line-37"/>
          <p:cNvSpPr>
            <a:spLocks noChangeShapeType="1"/>
          </p:cNvSpPr>
          <p:nvPr/>
        </p:nvSpPr>
        <p:spPr bwMode="auto">
          <a:xfrm>
            <a:off x="2410697" y="3028211"/>
            <a:ext cx="1647454" cy="1026577"/>
          </a:xfrm>
          <a:prstGeom prst="line">
            <a:avLst/>
          </a:prstGeom>
          <a:noFill/>
          <a:ln w="57150">
            <a:solidFill>
              <a:srgbClr val="808080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 dirty="0"/>
          </a:p>
        </p:txBody>
      </p:sp>
      <p:pic>
        <p:nvPicPr>
          <p:cNvPr id="491558" name="Picture-38" descr="UserWithDesktopComputer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41750" y="3692525"/>
            <a:ext cx="1190625" cy="1384300"/>
          </a:xfrm>
          <a:prstGeom prst="rect">
            <a:avLst/>
          </a:prstGeom>
          <a:noFill/>
        </p:spPr>
      </p:pic>
      <p:pic>
        <p:nvPicPr>
          <p:cNvPr id="491559" name="Picture-39" descr="Lan0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76225" y="1743625"/>
            <a:ext cx="1960563" cy="1662113"/>
          </a:xfrm>
          <a:prstGeom prst="rect">
            <a:avLst/>
          </a:prstGeom>
          <a:noFill/>
        </p:spPr>
      </p:pic>
      <p:sp>
        <p:nvSpPr>
          <p:cNvPr id="491560" name="Text-Box-40"/>
          <p:cNvSpPr txBox="1">
            <a:spLocks noChangeArrowheads="1"/>
          </p:cNvSpPr>
          <p:nvPr/>
        </p:nvSpPr>
        <p:spPr bwMode="auto">
          <a:xfrm>
            <a:off x="2306638" y="4529138"/>
            <a:ext cx="157003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Administrateur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91561" name="Oval-41"/>
          <p:cNvSpPr>
            <a:spLocks noChangeArrowheads="1"/>
          </p:cNvSpPr>
          <p:nvPr/>
        </p:nvSpPr>
        <p:spPr bwMode="auto">
          <a:xfrm>
            <a:off x="1435050" y="2589763"/>
            <a:ext cx="566738" cy="452437"/>
          </a:xfrm>
          <a:prstGeom prst="ellipse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85000"/>
              </a:lnSpc>
            </a:pPr>
            <a:r>
              <a:rPr lang="fr-FR" altLang="zh-CN" sz="16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Réseau </a:t>
            </a:r>
            <a:br>
              <a:rPr lang="fr-FR" altLang="zh-CN" sz="16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</a:br>
            <a:r>
              <a:rPr lang="fr-FR" altLang="zh-CN" sz="16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local</a:t>
            </a:r>
            <a:r>
              <a:rPr lang="en-IE" altLang="zh-CN" sz="16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1600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91562" name="AutoShape-42"/>
          <p:cNvSpPr>
            <a:spLocks noChangeArrowheads="1"/>
          </p:cNvSpPr>
          <p:nvPr/>
        </p:nvSpPr>
        <p:spPr bwMode="auto">
          <a:xfrm>
            <a:off x="2785651" y="5114533"/>
            <a:ext cx="2641600" cy="844550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Ordinateur distant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ea typeface="SimSun" pitchFamily="2" charset="-122"/>
              <a:cs typeface="Arial Narrow" pitchFamily="34" charset="0"/>
            </a:endParaRPr>
          </a:p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exécutant une Connexion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ea typeface="SimSun" pitchFamily="2" charset="-122"/>
              <a:cs typeface="Arial Narrow" pitchFamily="34" charset="0"/>
            </a:endParaRPr>
          </a:p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Bureau à distance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91563" name="Oval-43"/>
          <p:cNvSpPr>
            <a:spLocks noChangeArrowheads="1"/>
          </p:cNvSpPr>
          <p:nvPr/>
        </p:nvSpPr>
        <p:spPr bwMode="auto">
          <a:xfrm>
            <a:off x="6394450" y="2429888"/>
            <a:ext cx="1358900" cy="1355725"/>
          </a:xfrm>
          <a:prstGeom prst="ellipse">
            <a:avLst/>
          </a:prstGeom>
          <a:solidFill>
            <a:srgbClr val="CC0000">
              <a:alpha val="25000"/>
            </a:srgb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endParaRPr lang="fr-FR" dirty="0"/>
          </a:p>
        </p:txBody>
      </p:sp>
      <p:sp>
        <p:nvSpPr>
          <p:cNvPr id="491564" name="AutoShape-44"/>
          <p:cNvSpPr>
            <a:spLocks noChangeArrowheads="1"/>
          </p:cNvSpPr>
          <p:nvPr/>
        </p:nvSpPr>
        <p:spPr bwMode="auto">
          <a:xfrm>
            <a:off x="7092621" y="3626016"/>
            <a:ext cx="2051379" cy="1622878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Service de bureau à distance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ea typeface="SimSun" pitchFamily="2" charset="-122"/>
              <a:cs typeface="Arial Narrow" pitchFamily="34" charset="0"/>
            </a:endParaRPr>
          </a:p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activé sur Windows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ea typeface="SimSun" pitchFamily="2" charset="-122"/>
              <a:cs typeface="Arial Narrow" pitchFamily="34" charset="0"/>
            </a:endParaRPr>
          </a:p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Server 2003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91565" name="Line-45"/>
          <p:cNvSpPr>
            <a:spLocks noChangeShapeType="1"/>
          </p:cNvSpPr>
          <p:nvPr/>
        </p:nvSpPr>
        <p:spPr bwMode="auto">
          <a:xfrm flipH="1" flipV="1">
            <a:off x="2470068" y="2600696"/>
            <a:ext cx="4183144" cy="451810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fr-FR" dirty="0"/>
          </a:p>
        </p:txBody>
      </p:sp>
      <p:sp>
        <p:nvSpPr>
          <p:cNvPr id="491566" name="Line-46"/>
          <p:cNvSpPr>
            <a:spLocks noChangeShapeType="1"/>
          </p:cNvSpPr>
          <p:nvPr/>
        </p:nvSpPr>
        <p:spPr bwMode="auto">
          <a:xfrm>
            <a:off x="5308788" y="2132138"/>
            <a:ext cx="0" cy="863600"/>
          </a:xfrm>
          <a:prstGeom prst="line">
            <a:avLst/>
          </a:prstGeom>
          <a:noFill/>
          <a:ln w="28575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 dirty="0"/>
          </a:p>
        </p:txBody>
      </p:sp>
      <p:sp>
        <p:nvSpPr>
          <p:cNvPr id="491567" name="AutoShape-47"/>
          <p:cNvSpPr>
            <a:spLocks noChangeArrowheads="1"/>
          </p:cNvSpPr>
          <p:nvPr/>
        </p:nvSpPr>
        <p:spPr bwMode="auto">
          <a:xfrm>
            <a:off x="3509963" y="1295400"/>
            <a:ext cx="3730625" cy="1109663"/>
          </a:xfrm>
          <a:prstGeom prst="roundRect">
            <a:avLst>
              <a:gd name="adj" fmla="val 4167"/>
            </a:avLst>
          </a:prstGeom>
          <a:solidFill>
            <a:schemeClr val="bg1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Services Terminal Server </a:t>
            </a:r>
            <a:endParaRPr lang="en-US" altLang="zh-CN" dirty="0">
              <a:ea typeface="SimSun" pitchFamily="2" charset="-122"/>
              <a:cs typeface="Arial Narrow" pitchFamily="34" charset="0"/>
            </a:endParaRPr>
          </a:p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Protocole RDP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ea typeface="SimSun" pitchFamily="2" charset="-122"/>
              <a:cs typeface="Arial Narrow" pitchFamily="34" charset="0"/>
            </a:endParaRPr>
          </a:p>
          <a:p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(réseau local, réseau étendu ou connexion d'accès à distance)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91568" name="Arc-48"/>
          <p:cNvSpPr>
            <a:spLocks/>
          </p:cNvSpPr>
          <p:nvPr/>
        </p:nvSpPr>
        <p:spPr bwMode="auto">
          <a:xfrm>
            <a:off x="5121713" y="2732075"/>
            <a:ext cx="187325" cy="333375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42886 w 42886"/>
              <a:gd name="T1" fmla="*/ 25271 h 43200"/>
              <a:gd name="T2" fmla="*/ 41672 w 42886"/>
              <a:gd name="T3" fmla="*/ 13620 h 43200"/>
              <a:gd name="T4" fmla="*/ 21600 w 42886"/>
              <a:gd name="T5" fmla="*/ 21600 h 432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2886" h="43200" fill="none" extrusionOk="0">
                <a:moveTo>
                  <a:pt x="42885" y="25270"/>
                </a:moveTo>
                <a:cubicBezTo>
                  <a:pt x="41099" y="35630"/>
                  <a:pt x="3211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0448" y="-1"/>
                  <a:pt x="38402" y="5397"/>
                  <a:pt x="41671" y="13620"/>
                </a:cubicBezTo>
              </a:path>
              <a:path w="42886" h="43200" stroke="0" extrusionOk="0">
                <a:moveTo>
                  <a:pt x="42885" y="25270"/>
                </a:moveTo>
                <a:cubicBezTo>
                  <a:pt x="41099" y="35630"/>
                  <a:pt x="32112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0448" y="-1"/>
                  <a:pt x="38402" y="5397"/>
                  <a:pt x="41671" y="13620"/>
                </a:cubicBezTo>
                <a:lnTo>
                  <a:pt x="21600" y="21600"/>
                </a:lnTo>
                <a:close/>
              </a:path>
            </a:pathLst>
          </a:custGeom>
          <a:noFill/>
          <a:ln w="28575">
            <a:solidFill>
              <a:srgbClr val="333333"/>
            </a:solidFill>
            <a:round/>
            <a:headEnd/>
            <a:tailEnd/>
          </a:ln>
          <a:effectLst/>
        </p:spPr>
        <p:txBody>
          <a:bodyPr anchor="ctr"/>
          <a:lstStyle/>
          <a:p>
            <a:endParaRPr lang="fr-FR" dirty="0"/>
          </a:p>
        </p:txBody>
      </p:sp>
      <p:pic>
        <p:nvPicPr>
          <p:cNvPr id="491569" name="Picture-49" descr="Server0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97650" y="2599750"/>
            <a:ext cx="952500" cy="11207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570" name="Rectangle-2"/>
          <p:cNvSpPr>
            <a:spLocks noGrp="1" noChangeArrowheads="1"/>
          </p:cNvSpPr>
          <p:nvPr>
            <p:ph type="title"/>
          </p:nvPr>
        </p:nvSpPr>
        <p:spPr>
          <a:xfrm>
            <a:off x="161306" y="249382"/>
            <a:ext cx="8804564" cy="854075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Pourquoi utiliser l'outil Bureau à distance pour administration ?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6" name="AutoShape-5"/>
          <p:cNvSpPr>
            <a:spLocks noChangeArrowheads="1"/>
          </p:cNvSpPr>
          <p:nvPr/>
        </p:nvSpPr>
        <p:spPr bwMode="auto">
          <a:xfrm>
            <a:off x="225631" y="1581151"/>
            <a:ext cx="8657112" cy="4689020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347663" indent="-347663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Il fournit un accès distant à la plupart des paramètres de configuration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dirty="0">
              <a:ea typeface="SimSun" pitchFamily="2" charset="-122"/>
              <a:cs typeface="Arial Narrow" pitchFamily="34" charset="0"/>
            </a:endParaRPr>
          </a:p>
          <a:p>
            <a:pPr marL="347663" indent="-347663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Il permet de diagnostiquer un problème et de tester plusieurs solutions rapidement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dirty="0">
              <a:ea typeface="SimSun" pitchFamily="2" charset="-122"/>
              <a:cs typeface="Arial Narrow" pitchFamily="34" charset="0"/>
            </a:endParaRPr>
          </a:p>
          <a:p>
            <a:pPr marL="347663" indent="-347663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Il permet d'accéder aux serveurs depuis n'importe quel site dans le monde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dirty="0">
              <a:ea typeface="SimSun" pitchFamily="2" charset="-122"/>
              <a:cs typeface="Arial Narrow" pitchFamily="34" charset="0"/>
            </a:endParaRPr>
          </a:p>
          <a:p>
            <a:pPr marL="347663" indent="-347663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Il effectue des tâches administratives qui prennent un certain temps, telles que les sauvegardes sur bande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dirty="0">
              <a:ea typeface="SimSun" pitchFamily="2" charset="-122"/>
              <a:cs typeface="Arial Narrow" pitchFamily="34" charset="0"/>
            </a:endParaRPr>
          </a:p>
          <a:p>
            <a:pPr marL="347663" indent="-347663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Il met à niveau les applications serveur et les systèmes d'exploitation à distance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594" name="Rectangle-2"/>
          <p:cNvSpPr>
            <a:spLocks noGrp="1" noChangeArrowheads="1"/>
          </p:cNvSpPr>
          <p:nvPr>
            <p:ph type="title"/>
          </p:nvPr>
        </p:nvSpPr>
        <p:spPr>
          <a:xfrm>
            <a:off x="185056" y="273132"/>
            <a:ext cx="8780813" cy="855663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Quelle est la configuration requise pour le Service de bureau à distance ?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94597" name="AutoShape-5"/>
          <p:cNvSpPr>
            <a:spLocks noChangeArrowheads="1"/>
          </p:cNvSpPr>
          <p:nvPr/>
        </p:nvSpPr>
        <p:spPr bwMode="auto">
          <a:xfrm>
            <a:off x="344384" y="1800224"/>
            <a:ext cx="8502733" cy="4493697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6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Le Service de bureau à distance doit être activé localement sur le serveur distant</a:t>
            </a:r>
            <a:r>
              <a:rPr lang="en-IE" altLang="zh-CN" sz="26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600" dirty="0" smtClean="0">
              <a:ea typeface="SimSun" pitchFamily="2" charset="-122"/>
              <a:cs typeface="Arial Narrow" pitchFamily="34" charset="0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6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Le Service de bureau à distance doit être configuré de sorte que les utilisateurs puissent se connecter à distance au serveur</a:t>
            </a:r>
            <a:r>
              <a:rPr lang="en-IE" altLang="zh-CN" sz="26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600" dirty="0" smtClean="0">
              <a:ea typeface="SimSun" pitchFamily="2" charset="-122"/>
              <a:cs typeface="Arial Narrow" pitchFamily="34" charset="0"/>
            </a:endParaRPr>
          </a:p>
          <a:p>
            <a:pPr marL="696913" lvl="1" indent="-239713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400" b="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Par </a:t>
            </a:r>
            <a:r>
              <a:rPr lang="fr-FR" altLang="zh-CN" sz="2400" b="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défaut, l'administrateur dispose de privilèges de connexion distante pour le serveur distant</a:t>
            </a:r>
            <a:r>
              <a:rPr lang="en-IE" altLang="zh-CN" sz="2400" b="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b="0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1000"/>
                                        <p:tgtEl>
                                          <p:spTgt spid="4945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1000"/>
                                        <p:tgtEl>
                                          <p:spTgt spid="4945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5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1000"/>
                                        <p:tgtEl>
                                          <p:spTgt spid="4945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6694" name="Picture 54" descr="image072_FR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971327" y="1382912"/>
            <a:ext cx="4006419" cy="4857571"/>
          </a:xfrm>
          <a:prstGeom prst="rect">
            <a:avLst/>
          </a:prstGeom>
          <a:noFill/>
        </p:spPr>
      </p:pic>
      <p:sp>
        <p:nvSpPr>
          <p:cNvPr id="496645" name="Rectangle-5"/>
          <p:cNvSpPr>
            <a:spLocks noGrp="1" noChangeArrowheads="1"/>
          </p:cNvSpPr>
          <p:nvPr>
            <p:ph type="title"/>
          </p:nvPr>
        </p:nvSpPr>
        <p:spPr>
          <a:xfrm>
            <a:off x="176296" y="332509"/>
            <a:ext cx="8789574" cy="855663"/>
          </a:xfrm>
        </p:spPr>
        <p:txBody>
          <a:bodyPr>
            <a:noAutofit/>
          </a:bodyPr>
          <a:lstStyle/>
          <a:p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Que sont les préférences des ordinateurs clients dans le cadre d'une connexion Bureau à distance ?</a:t>
            </a:r>
            <a:r>
              <a:rPr lang="en-IE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496646" name="Rectangle-6"/>
          <p:cNvSpPr>
            <a:spLocks noGrp="1" noChangeArrowheads="1"/>
          </p:cNvSpPr>
          <p:nvPr>
            <p:ph type="body" sz="half" idx="1"/>
          </p:nvPr>
        </p:nvSpPr>
        <p:spPr>
          <a:xfrm>
            <a:off x="296883" y="1631950"/>
            <a:ext cx="4583875" cy="4175084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Les préférences sous Connexion Bureau à distance sont les suivantes :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ea typeface="SimSun" pitchFamily="2" charset="-122"/>
              <a:cs typeface="Arial Narrow" pitchFamily="34" charset="0"/>
            </a:endParaRPr>
          </a:p>
          <a:p>
            <a:pPr lvl="1">
              <a:lnSpc>
                <a:spcPct val="90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Général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Affichage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r>
              <a:rPr lang="en-US" altLang="zh-CN" dirty="0">
                <a:ea typeface="SimSun" pitchFamily="2" charset="-122"/>
              </a:rPr>
              <a:t> </a:t>
            </a:r>
          </a:p>
          <a:p>
            <a:pPr lvl="1">
              <a:lnSpc>
                <a:spcPct val="90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Ressources locales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Programmes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dirty="0">
              <a:ea typeface="SimSun" pitchFamily="2" charset="-122"/>
            </a:endParaRPr>
          </a:p>
          <a:p>
            <a:pPr lvl="1">
              <a:lnSpc>
                <a:spcPct val="90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</a:rPr>
              <a:t>Avancé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dirty="0">
              <a:solidFill>
                <a:srgbClr val="000000"/>
              </a:solidFill>
              <a:ea typeface="SimSun" pitchFamily="2" charset="-122"/>
            </a:endParaRPr>
          </a:p>
        </p:txBody>
      </p:sp>
      <p:grpSp>
        <p:nvGrpSpPr>
          <p:cNvPr id="496686" name="Group-46"/>
          <p:cNvGrpSpPr>
            <a:grpSpLocks/>
          </p:cNvGrpSpPr>
          <p:nvPr/>
        </p:nvGrpSpPr>
        <p:grpSpPr bwMode="auto">
          <a:xfrm>
            <a:off x="609600" y="6051550"/>
            <a:ext cx="914400" cy="425450"/>
            <a:chOff x="384" y="3024"/>
            <a:chExt cx="720" cy="336"/>
          </a:xfrm>
        </p:grpSpPr>
        <p:sp>
          <p:nvSpPr>
            <p:cNvPr id="496687" name="Oval-47"/>
            <p:cNvSpPr>
              <a:spLocks noChangeArrowheads="1"/>
            </p:cNvSpPr>
            <p:nvPr/>
          </p:nvSpPr>
          <p:spPr bwMode="auto">
            <a:xfrm>
              <a:off x="384" y="3024"/>
              <a:ext cx="720" cy="336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  <a:effectLst>
              <a:outerShdw dist="17961" dir="2700000" algn="ctr" rotWithShape="0">
                <a:srgbClr val="969696"/>
              </a:outerShdw>
            </a:effectLst>
          </p:spPr>
          <p:txBody>
            <a:bodyPr wrap="none" anchor="ctr"/>
            <a:lstStyle/>
            <a:p>
              <a:endParaRPr lang="fr-FR" dirty="0"/>
            </a:p>
          </p:txBody>
        </p:sp>
        <p:grpSp>
          <p:nvGrpSpPr>
            <p:cNvPr id="496688" name="Group 48"/>
            <p:cNvGrpSpPr>
              <a:grpSpLocks/>
            </p:cNvGrpSpPr>
            <p:nvPr/>
          </p:nvGrpSpPr>
          <p:grpSpPr bwMode="auto">
            <a:xfrm>
              <a:off x="480" y="3096"/>
              <a:ext cx="240" cy="192"/>
              <a:chOff x="480" y="3096"/>
              <a:chExt cx="240" cy="192"/>
            </a:xfrm>
          </p:grpSpPr>
          <p:sp>
            <p:nvSpPr>
              <p:cNvPr id="496689" name="Oval-49"/>
              <p:cNvSpPr>
                <a:spLocks noChangeArrowheads="1"/>
              </p:cNvSpPr>
              <p:nvPr/>
            </p:nvSpPr>
            <p:spPr bwMode="auto">
              <a:xfrm>
                <a:off x="480" y="3096"/>
                <a:ext cx="240" cy="192"/>
              </a:xfrm>
              <a:prstGeom prst="ellipse">
                <a:avLst/>
              </a:prstGeom>
              <a:gradFill rotWithShape="0">
                <a:gsLst>
                  <a:gs pos="0">
                    <a:srgbClr val="666699"/>
                  </a:gs>
                  <a:gs pos="100000">
                    <a:srgbClr val="99CCFF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endParaRPr lang="fr-FR" dirty="0"/>
              </a:p>
            </p:txBody>
          </p:sp>
          <p:sp>
            <p:nvSpPr>
              <p:cNvPr id="496690" name="Freeform-50"/>
              <p:cNvSpPr>
                <a:spLocks/>
              </p:cNvSpPr>
              <p:nvPr/>
            </p:nvSpPr>
            <p:spPr bwMode="auto">
              <a:xfrm>
                <a:off x="539" y="3123"/>
                <a:ext cx="138" cy="13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576"/>
                  </a:cxn>
                  <a:cxn ang="0">
                    <a:pos x="432" y="288"/>
                  </a:cxn>
                  <a:cxn ang="0">
                    <a:pos x="0" y="0"/>
                  </a:cxn>
                </a:cxnLst>
                <a:rect l="0" t="0" r="r" b="b"/>
                <a:pathLst>
                  <a:path w="432" h="576">
                    <a:moveTo>
                      <a:pt x="0" y="0"/>
                    </a:moveTo>
                    <a:cubicBezTo>
                      <a:pt x="0" y="0"/>
                      <a:pt x="91" y="226"/>
                      <a:pt x="0" y="576"/>
                    </a:cubicBezTo>
                    <a:cubicBezTo>
                      <a:pt x="216" y="432"/>
                      <a:pt x="432" y="288"/>
                      <a:pt x="432" y="288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FFFFCC"/>
                  </a:gs>
                  <a:gs pos="100000">
                    <a:srgbClr val="FFCC66"/>
                  </a:gs>
                </a:gsLst>
                <a:lin ang="18900000" scaled="1"/>
              </a:gradFill>
              <a:ln w="9525">
                <a:solidFill>
                  <a:srgbClr val="666699"/>
                </a:solidFill>
                <a:round/>
                <a:headEnd/>
                <a:tailEnd/>
              </a:ln>
              <a:effectLst>
                <a:outerShdw dist="17961" dir="8100000" algn="ctr" rotWithShape="0">
                  <a:schemeClr val="tx1"/>
                </a:outerShdw>
              </a:effectLst>
            </p:spPr>
            <p:txBody>
              <a:bodyPr wrap="none" anchor="ctr"/>
              <a:lstStyle/>
              <a:p>
                <a:endParaRPr lang="fr-FR" dirty="0"/>
              </a:p>
            </p:txBody>
          </p:sp>
        </p:grpSp>
      </p:grpSp>
      <p:grpSp>
        <p:nvGrpSpPr>
          <p:cNvPr id="496691" name="Group-51"/>
          <p:cNvGrpSpPr>
            <a:grpSpLocks/>
          </p:cNvGrpSpPr>
          <p:nvPr/>
        </p:nvGrpSpPr>
        <p:grpSpPr bwMode="auto">
          <a:xfrm>
            <a:off x="1096963" y="6142038"/>
            <a:ext cx="304800" cy="244475"/>
            <a:chOff x="768" y="3096"/>
            <a:chExt cx="240" cy="192"/>
          </a:xfrm>
        </p:grpSpPr>
        <p:sp>
          <p:nvSpPr>
            <p:cNvPr id="496692" name="Oval-52"/>
            <p:cNvSpPr>
              <a:spLocks noChangeArrowheads="1"/>
            </p:cNvSpPr>
            <p:nvPr/>
          </p:nvSpPr>
          <p:spPr bwMode="auto">
            <a:xfrm>
              <a:off x="768" y="3096"/>
              <a:ext cx="240" cy="192"/>
            </a:xfrm>
            <a:prstGeom prst="ellipse">
              <a:avLst/>
            </a:prstGeom>
            <a:gradFill rotWithShape="0">
              <a:gsLst>
                <a:gs pos="0">
                  <a:srgbClr val="666699"/>
                </a:gs>
                <a:gs pos="100000">
                  <a:srgbClr val="99CCFF"/>
                </a:gs>
              </a:gsLst>
              <a:lin ang="1890000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fr-FR" dirty="0"/>
            </a:p>
          </p:txBody>
        </p:sp>
        <p:sp>
          <p:nvSpPr>
            <p:cNvPr id="496693" name="Rectangle-53"/>
            <p:cNvSpPr>
              <a:spLocks noChangeArrowheads="1"/>
            </p:cNvSpPr>
            <p:nvPr/>
          </p:nvSpPr>
          <p:spPr bwMode="auto">
            <a:xfrm>
              <a:off x="840" y="3144"/>
              <a:ext cx="96" cy="96"/>
            </a:xfrm>
            <a:prstGeom prst="rect">
              <a:avLst/>
            </a:prstGeom>
            <a:gradFill rotWithShape="1">
              <a:gsLst>
                <a:gs pos="0">
                  <a:srgbClr val="FFFFCC"/>
                </a:gs>
                <a:gs pos="100000">
                  <a:srgbClr val="FFCC66"/>
                </a:gs>
              </a:gsLst>
              <a:lin ang="18900000" scaled="1"/>
            </a:gradFill>
            <a:ln w="9525">
              <a:solidFill>
                <a:srgbClr val="666699"/>
              </a:solidFill>
              <a:miter lim="800000"/>
              <a:headEnd/>
              <a:tailEnd/>
            </a:ln>
            <a:effectLst>
              <a:outerShdw dist="17961" dir="8100000" algn="ctr" rotWithShape="0">
                <a:schemeClr val="tx1"/>
              </a:outerShdw>
            </a:effectLst>
          </p:spPr>
          <p:txBody>
            <a:bodyPr wrap="none" anchor="ctr"/>
            <a:lstStyle/>
            <a:p>
              <a:endParaRPr lang="fr-FR" dirty="0"/>
            </a:p>
          </p:txBody>
        </p:sp>
      </p:grpSp>
      <p:pic>
        <p:nvPicPr>
          <p:cNvPr id="496695" name="Picture 55" descr="image074_FR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961331" y="1348329"/>
            <a:ext cx="4004543" cy="4853820"/>
          </a:xfrm>
          <a:prstGeom prst="rect">
            <a:avLst/>
          </a:prstGeom>
          <a:noFill/>
        </p:spPr>
      </p:pic>
      <p:pic>
        <p:nvPicPr>
          <p:cNvPr id="496703" name="Picture 63" descr="image076_FR"/>
          <p:cNvPicPr>
            <a:picLocks noGrp="1" noChangeAspect="1" noChangeArrowheads="1"/>
          </p:cNvPicPr>
          <p:nvPr>
            <p:ph sz="quarter" idx="3"/>
          </p:nvPr>
        </p:nvPicPr>
        <p:blipFill>
          <a:blip r:embed="rId5"/>
          <a:srcRect/>
          <a:stretch>
            <a:fillRect/>
          </a:stretch>
        </p:blipFill>
        <p:spPr>
          <a:xfrm>
            <a:off x="4955708" y="1350939"/>
            <a:ext cx="4010167" cy="4836948"/>
          </a:xfrm>
          <a:noFill/>
          <a:ln/>
        </p:spPr>
      </p:pic>
      <p:pic>
        <p:nvPicPr>
          <p:cNvPr id="496699" name="Picture 59" descr="image078_FR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6"/>
          <a:srcRect/>
          <a:stretch>
            <a:fillRect/>
          </a:stretch>
        </p:blipFill>
        <p:spPr>
          <a:xfrm>
            <a:off x="4953563" y="1380726"/>
            <a:ext cx="3987670" cy="4844448"/>
          </a:xfrm>
          <a:noFill/>
          <a:ln/>
        </p:spPr>
      </p:pic>
      <p:pic>
        <p:nvPicPr>
          <p:cNvPr id="496701" name="Picture 61" descr="image080_FR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928143" y="1336035"/>
            <a:ext cx="4028915" cy="4904441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496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96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6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4966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966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6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4967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967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6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4966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4966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6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4966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4966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2" name="Rectangle-2"/>
          <p:cNvSpPr>
            <a:spLocks noGrp="1" noChangeArrowheads="1"/>
          </p:cNvSpPr>
          <p:nvPr>
            <p:ph type="title"/>
          </p:nvPr>
        </p:nvSpPr>
        <p:spPr>
          <a:xfrm>
            <a:off x="301752" y="311725"/>
            <a:ext cx="8534400" cy="758952"/>
          </a:xfrm>
          <a:noFill/>
          <a:ln/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</a:rPr>
              <a:t>Connexion Bureau à distance et Bureaux à distance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</a:rPr>
              <a:t> 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</a:endParaRPr>
          </a:p>
        </p:txBody>
      </p:sp>
      <p:graphicFrame>
        <p:nvGraphicFramePr>
          <p:cNvPr id="580637" name="Group 29"/>
          <p:cNvGraphicFramePr>
            <a:graphicFrameLocks noGrp="1"/>
          </p:cNvGraphicFramePr>
          <p:nvPr/>
        </p:nvGraphicFramePr>
        <p:xfrm>
          <a:off x="190005" y="1336675"/>
          <a:ext cx="8787740" cy="5273612"/>
        </p:xfrm>
        <a:graphic>
          <a:graphicData uri="http://schemas.openxmlformats.org/drawingml/2006/table">
            <a:tbl>
              <a:tblPr/>
              <a:tblGrid>
                <a:gridCol w="1612365"/>
                <a:gridCol w="7175375"/>
              </a:tblGrid>
              <a:tr h="204788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Service</a:t>
                      </a:r>
                      <a:r>
                        <a:rPr kumimoji="0" lang="en-IE" altLang="zh-CN" sz="2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Fonctions</a:t>
                      </a:r>
                      <a:r>
                        <a:rPr kumimoji="0" lang="en-IE" altLang="zh-CN" sz="23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3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165417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Connexion Bureau à distance</a:t>
                      </a:r>
                      <a:r>
                        <a:rPr kumimoji="0" lang="en-IE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2"/>
                        </a:buBlip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Se connecter à un serveur (exécutant la fonction Bureau à distance) par session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  <a:p>
                      <a:pPr marL="568325" marR="0" lvl="1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Vous pouvez lancer plusieurs connexions si vous ouvrez plusieurs sessions Connexion Bureau à distance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 </a:t>
                      </a:r>
                      <a:endParaRPr kumimoji="0" lang="en-US" altLang="zh-CN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SimSun" pitchFamily="2" charset="-122"/>
                      </a:endParaRPr>
                    </a:p>
                    <a:p>
                      <a:pPr marL="568325" marR="0" lvl="1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L'arborescence de la console affiche le nom du serveur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 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 </a:t>
                      </a:r>
                      <a:endParaRPr kumimoji="0" lang="en-US" altLang="zh-CN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SimSun" pitchFamily="2" charset="-122"/>
                      </a:endParaRPr>
                    </a:p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2"/>
                        </a:buBlip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Chaque connexion peut être affichée en mode plein écran ou bien dans une fenêtre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SimSun" pitchFamily="2" charset="-122"/>
                      </a:endParaRPr>
                    </a:p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2"/>
                        </a:buBlip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Le service ouvre par défaut une session distante sur un serveur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</a:rPr>
                        <a:t> </a:t>
                      </a:r>
                      <a:endParaRPr kumimoji="0" lang="en-US" altLang="zh-CN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19573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Bureaux à distance</a:t>
                      </a:r>
                      <a:r>
                        <a:rPr kumimoji="0" lang="en-IE" altLang="zh-CN" sz="2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1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2"/>
                        </a:buBlip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Se connecter à plusieurs serveurs simultanément </a:t>
                      </a:r>
                      <a:r>
                        <a:rPr kumimoji="0" lang="en-US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2"/>
                        </a:buBlip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Chaque connexion est affichée dans une console MMC : </a:t>
                      </a: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</a:p>
                    <a:p>
                      <a:pPr marL="457200" marR="0" lvl="1" indent="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L'arborescence de la console affiche le nom du serveur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</a:p>
                    <a:p>
                      <a:pPr marL="457200" marR="0" lvl="1" indent="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Char char=""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Le volet des informations affiche la session distante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r>
                        <a:rPr kumimoji="0" lang="en-US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</a:p>
                    <a:p>
                      <a:pPr marL="225425" marR="0" lvl="0" indent="-225425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Tx/>
                        <a:buBlip>
                          <a:blip r:embed="rId2"/>
                        </a:buBlip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La session de la console s'ouvre par défaut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298" name="Rectangle-2"/>
          <p:cNvSpPr>
            <a:spLocks noGrp="1" noChangeArrowheads="1"/>
          </p:cNvSpPr>
          <p:nvPr>
            <p:ph type="title"/>
          </p:nvPr>
        </p:nvSpPr>
        <p:spPr>
          <a:xfrm>
            <a:off x="182999" y="201881"/>
            <a:ext cx="8534400" cy="1023173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Comment se connecter à un serveur distant ?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567301" name="AutoShape-5"/>
          <p:cNvSpPr>
            <a:spLocks noChangeArrowheads="1"/>
          </p:cNvSpPr>
          <p:nvPr/>
        </p:nvSpPr>
        <p:spPr bwMode="auto">
          <a:xfrm>
            <a:off x="237506" y="1524000"/>
            <a:ext cx="8645237" cy="4841174"/>
          </a:xfrm>
          <a:prstGeom prst="roundRect">
            <a:avLst>
              <a:gd name="adj" fmla="val 4167"/>
            </a:avLst>
          </a:prstGeom>
          <a:solidFill>
            <a:srgbClr val="B3C8DF"/>
          </a:soli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/>
          <a:lstStyle/>
          <a:p>
            <a:pPr algn="l">
              <a:lnSpc>
                <a:spcPct val="90000"/>
              </a:lnSpc>
              <a:spcBef>
                <a:spcPct val="40000"/>
              </a:spcBef>
            </a:pPr>
            <a:r>
              <a:rPr lang="fr-FR" altLang="zh-CN" sz="24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Comment</a:t>
            </a: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 :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sz="2400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567302" name="AutoShape-6"/>
          <p:cNvSpPr>
            <a:spLocks noChangeArrowheads="1"/>
          </p:cNvSpPr>
          <p:nvPr/>
        </p:nvSpPr>
        <p:spPr bwMode="auto">
          <a:xfrm>
            <a:off x="463138" y="2057399"/>
            <a:ext cx="8146472" cy="4189021"/>
          </a:xfrm>
          <a:prstGeom prst="roundRect">
            <a:avLst>
              <a:gd name="adj" fmla="val 4167"/>
            </a:avLst>
          </a:prstGeom>
          <a:gradFill rotWithShape="1">
            <a:gsLst>
              <a:gs pos="0">
                <a:srgbClr val="EEEFD7"/>
              </a:gs>
              <a:gs pos="100000">
                <a:srgbClr val="D5D69C"/>
              </a:gs>
            </a:gsLst>
            <a:lin ang="2700000" scaled="1"/>
          </a:gradFill>
          <a:ln w="9525">
            <a:solidFill>
              <a:srgbClr val="4D4D4D"/>
            </a:solidFill>
            <a:round/>
            <a:headEnd/>
            <a:tailEnd/>
          </a:ln>
          <a:effectLst>
            <a:outerShdw dist="35921" dir="2700000" algn="ctr" rotWithShape="0">
              <a:srgbClr val="AFAFAF"/>
            </a:outerShdw>
          </a:effectLst>
        </p:spPr>
        <p:txBody>
          <a:bodyPr anchor="ctr"/>
          <a:lstStyle/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Vous connecter à un serveur distant à l'aide du service Connexion Bureau à distance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r>
              <a:rPr lang="en-IE" altLang="zh-CN" sz="22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:</a:t>
            </a:r>
          </a:p>
          <a:p>
            <a:pPr algn="l"/>
            <a:r>
              <a:rPr lang="fr-FR" altLang="zh-CN" sz="2200" dirty="0" smtClean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Démarrer</a:t>
            </a:r>
            <a:r>
              <a:rPr lang="en-IE" altLang="zh-CN" sz="2200" dirty="0" smtClean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/</a:t>
            </a:r>
            <a:r>
              <a:rPr lang="fr-FR" sz="2400" dirty="0" smtClean="0">
                <a:solidFill>
                  <a:srgbClr val="C00000"/>
                </a:solidFill>
              </a:rPr>
              <a:t>Tous les programmes/Accessoires /Communications/ Connexion Bureau à distance</a:t>
            </a:r>
            <a:endParaRPr lang="en-US" altLang="zh-CN" sz="2200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Vous connecter à la session de la console sur un serveur distant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r>
              <a:rPr lang="en-IE" altLang="zh-CN" sz="22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:</a:t>
            </a:r>
          </a:p>
          <a:p>
            <a:pPr algn="l"/>
            <a:r>
              <a:rPr lang="fr-FR" sz="2400" dirty="0" smtClean="0">
                <a:solidFill>
                  <a:srgbClr val="C00000"/>
                </a:solidFill>
              </a:rPr>
              <a:t>Démarrer/Outils d’administration/Bureaux à distance</a:t>
            </a:r>
            <a:endParaRPr lang="en-US" altLang="zh-CN" sz="2200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  <a:buFontTx/>
              <a:buBlip>
                <a:blip r:embed="rId3"/>
              </a:buBlip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Vous connecter à un serveur distant à l'aide de l'outil de ligne de commande mstsc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r>
              <a:rPr lang="en-IE" altLang="zh-CN" sz="2200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:</a:t>
            </a:r>
          </a:p>
          <a:p>
            <a:pPr marL="231775" indent="-231775" algn="l">
              <a:lnSpc>
                <a:spcPct val="90000"/>
              </a:lnSpc>
              <a:spcBef>
                <a:spcPct val="40000"/>
              </a:spcBef>
              <a:buSzPct val="80000"/>
            </a:pPr>
            <a:r>
              <a:rPr lang="fr-FR" sz="2400" dirty="0" smtClean="0">
                <a:solidFill>
                  <a:srgbClr val="C00000"/>
                </a:solidFill>
              </a:rPr>
              <a:t>mstsc /v:</a:t>
            </a:r>
            <a:r>
              <a:rPr lang="fr-FR" sz="2400" i="1" dirty="0" smtClean="0">
                <a:solidFill>
                  <a:srgbClr val="C00000"/>
                </a:solidFill>
              </a:rPr>
              <a:t>serveur /console</a:t>
            </a:r>
            <a:endParaRPr lang="en-US" altLang="zh-CN" sz="2200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673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673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5673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673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673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5673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906" name="Rectangle-2"/>
          <p:cNvSpPr>
            <a:spLocks noGrp="1" noChangeArrowheads="1"/>
          </p:cNvSpPr>
          <p:nvPr>
            <p:ph type="title"/>
          </p:nvPr>
        </p:nvSpPr>
        <p:spPr>
          <a:xfrm>
            <a:off x="173181" y="237506"/>
            <a:ext cx="8780813" cy="823913"/>
          </a:xfrm>
        </p:spPr>
        <p:txBody>
          <a:bodyPr>
            <a:normAutofit fontScale="90000"/>
          </a:bodyPr>
          <a:lstStyle/>
          <a:p>
            <a:r>
              <a:rPr lang="fr-FR" altLang="zh-CN" b="1" dirty="0" smtClean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3. Gestion </a:t>
            </a: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des connexions au Bureau </a:t>
            </a:r>
            <a:br>
              <a:rPr lang="fr-FR" altLang="zh-CN" b="1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</a:br>
            <a:r>
              <a:rPr lang="fr-FR" altLang="zh-CN" b="1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à distance</a:t>
            </a:r>
            <a:r>
              <a:rPr lang="en-IE" altLang="zh-CN" b="1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b="1" dirty="0">
              <a:solidFill>
                <a:srgbClr val="0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507907" name="Rectangle-3"/>
          <p:cNvSpPr>
            <a:spLocks noGrp="1" noChangeArrowheads="1"/>
          </p:cNvSpPr>
          <p:nvPr>
            <p:ph sz="quarter" idx="1"/>
          </p:nvPr>
        </p:nvSpPr>
        <p:spPr>
          <a:xfrm>
            <a:off x="308758" y="1608138"/>
            <a:ext cx="8585860" cy="2132589"/>
          </a:xfrm>
        </p:spPr>
        <p:txBody>
          <a:bodyPr/>
          <a:lstStyle/>
          <a:p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Que sont les paramètres de délai des connexions de Bureau à distance ?</a:t>
            </a:r>
            <a:r>
              <a:rPr lang="en-IE" altLang="zh-CN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r>
              <a:rPr lang="fr-FR" altLang="zh-CN" dirty="0" smtClean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Qu'est-ce </a:t>
            </a:r>
            <a:r>
              <a:rPr lang="fr-FR" altLang="zh-CN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que le Gestionnaire des services Terminal Server ? </a:t>
            </a:r>
            <a:endParaRPr lang="en-US" altLang="zh-CN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  <a:p>
            <a:pPr>
              <a:buFont typeface="Wingdings" pitchFamily="2" charset="2"/>
              <a:buNone/>
            </a:pPr>
            <a:endParaRPr lang="en-US" altLang="zh-CN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954" name="Rectangle-2"/>
          <p:cNvSpPr>
            <a:spLocks noGrp="1" noChangeArrowheads="1"/>
          </p:cNvSpPr>
          <p:nvPr>
            <p:ph type="title"/>
          </p:nvPr>
        </p:nvSpPr>
        <p:spPr>
          <a:xfrm>
            <a:off x="161306" y="398419"/>
            <a:ext cx="8804563" cy="684212"/>
          </a:xfrm>
        </p:spPr>
        <p:txBody>
          <a:bodyPr>
            <a:normAutofit fontScale="90000"/>
          </a:bodyPr>
          <a:lstStyle/>
          <a:p>
            <a:r>
              <a:rPr lang="fr-FR" altLang="zh-CN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Que sont les paramètres de délai des connexions de Bureau à distance ?</a:t>
            </a:r>
            <a:r>
              <a:rPr lang="en-IE" altLang="zh-CN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509955" name="Rectangle-3"/>
          <p:cNvSpPr>
            <a:spLocks noGrp="1" noChangeArrowheads="1"/>
          </p:cNvSpPr>
          <p:nvPr>
            <p:ph type="body" sz="half" idx="1"/>
          </p:nvPr>
        </p:nvSpPr>
        <p:spPr>
          <a:xfrm>
            <a:off x="166255" y="1486100"/>
            <a:ext cx="8823365" cy="3038393"/>
          </a:xfrm>
        </p:spPr>
        <p:txBody>
          <a:bodyPr>
            <a:normAutofit/>
          </a:bodyPr>
          <a:lstStyle/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Ils définissent la durée pendant laquelle les sessions clientes peuvent rester actives sur le serveur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400" dirty="0">
              <a:ea typeface="SimSun" pitchFamily="2" charset="-122"/>
            </a:endParaRPr>
          </a:p>
          <a:p>
            <a:pPr marL="573088" lvl="1" indent="-1778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</a:rPr>
              <a:t>Les sessions de connexion restent ouvertes lorsque vous fermez la fenêtre Bureau à distance sur l'ordinateur client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200" dirty="0">
              <a:ea typeface="SimSun" pitchFamily="2" charset="-122"/>
            </a:endParaRPr>
          </a:p>
          <a:p>
            <a:pPr marL="573088" lvl="1" indent="-177800">
              <a:lnSpc>
                <a:spcPct val="85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</a:rPr>
              <a:t>La définition de paramètres de délai permet de réinitialiser </a:t>
            </a:r>
            <a:br>
              <a:rPr lang="fr-FR" altLang="zh-CN" sz="2200" dirty="0">
                <a:solidFill>
                  <a:srgbClr val="000000"/>
                </a:solidFill>
                <a:ea typeface="SimSun" pitchFamily="2" charset="-122"/>
              </a:rPr>
            </a:br>
            <a:r>
              <a:rPr lang="fr-FR" altLang="zh-CN" sz="2200" dirty="0">
                <a:solidFill>
                  <a:srgbClr val="000000"/>
                </a:solidFill>
                <a:ea typeface="SimSun" pitchFamily="2" charset="-122"/>
              </a:rPr>
              <a:t>la session ou de fermer la session d'un utilisateur</a:t>
            </a:r>
            <a:r>
              <a:rPr lang="en-IE" altLang="zh-CN" sz="2200" dirty="0">
                <a:solidFill>
                  <a:srgbClr val="000000"/>
                </a:solidFill>
                <a:ea typeface="SimSun" pitchFamily="2" charset="-122"/>
              </a:rPr>
              <a:t> </a:t>
            </a:r>
            <a:endParaRPr lang="en-US" altLang="zh-CN" sz="2200" dirty="0">
              <a:ea typeface="SimSun" pitchFamily="2" charset="-122"/>
            </a:endParaRPr>
          </a:p>
          <a:p>
            <a:pPr>
              <a:lnSpc>
                <a:spcPct val="85000"/>
              </a:lnSpc>
              <a:spcBef>
                <a:spcPct val="0"/>
              </a:spcBef>
              <a:spcAft>
                <a:spcPts val="600"/>
              </a:spcAft>
              <a:buClrTx/>
              <a:buFont typeface="Wingdings" pitchFamily="2" charset="2"/>
              <a:buChar char="q"/>
            </a:pPr>
            <a:r>
              <a:rPr lang="fr-FR" altLang="zh-CN" sz="2400" dirty="0">
                <a:solidFill>
                  <a:srgbClr val="000000"/>
                </a:solidFill>
                <a:ea typeface="SimSun" pitchFamily="2" charset="-122"/>
              </a:rPr>
              <a:t>Utilisez les paramètres de délai pour empêcher une connexion distante de consommer d'importantes ressources sur le serveur</a:t>
            </a:r>
            <a:r>
              <a:rPr lang="en-IE" altLang="zh-CN" sz="2400" dirty="0">
                <a:solidFill>
                  <a:srgbClr val="000000"/>
                </a:solidFill>
                <a:ea typeface="SimSun" pitchFamily="2" charset="-122"/>
              </a:rPr>
              <a:t> </a:t>
            </a:r>
          </a:p>
        </p:txBody>
      </p:sp>
      <p:graphicFrame>
        <p:nvGraphicFramePr>
          <p:cNvPr id="509975" name="Group 23"/>
          <p:cNvGraphicFramePr>
            <a:graphicFrameLocks noGrp="1"/>
          </p:cNvGraphicFramePr>
          <p:nvPr>
            <p:ph sz="half" idx="2"/>
          </p:nvPr>
        </p:nvGraphicFramePr>
        <p:xfrm>
          <a:off x="35626" y="4539575"/>
          <a:ext cx="9108374" cy="2181853"/>
        </p:xfrm>
        <a:graphic>
          <a:graphicData uri="http://schemas.openxmlformats.org/drawingml/2006/table">
            <a:tbl>
              <a:tblPr/>
              <a:tblGrid>
                <a:gridCol w="3040083"/>
                <a:gridCol w="6068291"/>
              </a:tblGrid>
              <a:tr h="2714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Paramètres de délai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Description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3C8D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Fin d'une session déconnectée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Force l'utilisateur à fermer la session après déconnexion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Limite de session active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Déconnecte l'utilisateur, une fois le délai expiré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  <a:tr h="66699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Limite de session inactive</a:t>
                      </a:r>
                      <a:r>
                        <a:rPr kumimoji="0" lang="en-IE" altLang="zh-CN" sz="2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gradFill rotWithShape="0">
                      <a:gsLst>
                        <a:gs pos="0">
                          <a:srgbClr val="EEEFD7"/>
                        </a:gs>
                        <a:gs pos="100000">
                          <a:srgbClr val="D5D69C"/>
                        </a:gs>
                      </a:gsLst>
                      <a:lin ang="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35000"/>
                        </a:spcBef>
                        <a:spcAft>
                          <a:spcPct val="0"/>
                        </a:spcAft>
                        <a:buClr>
                          <a:srgbClr val="8DACD0"/>
                        </a:buClr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fr-FR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Déconnecte l'utilisateur, une fois le délai d'inactivité expiré</a:t>
                      </a:r>
                      <a:r>
                        <a:rPr kumimoji="0" lang="en-IE" altLang="zh-CN" sz="2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 Narrow" pitchFamily="34" charset="0"/>
                          <a:ea typeface="SimSun" pitchFamily="2" charset="-122"/>
                          <a:cs typeface="Arial Narrow" pitchFamily="34" charset="0"/>
                        </a:rPr>
                        <a:t> </a:t>
                      </a:r>
                      <a:endParaRPr kumimoji="0" lang="en-US" altLang="zh-CN" sz="2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 Narrow" pitchFamily="34" charset="0"/>
                        <a:ea typeface="SimSun" pitchFamily="2" charset="-122"/>
                        <a:cs typeface="Arial Narrow" pitchFamily="34" charset="0"/>
                      </a:endParaRPr>
                    </a:p>
                  </a:txBody>
                  <a:tcPr anchor="ctr" horzOverflow="overflow">
                    <a:lnL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099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509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509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" dur="500"/>
                                        <p:tgtEl>
                                          <p:spTgt spid="5099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" dur="500"/>
                                        <p:tgtEl>
                                          <p:spTgt spid="5099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02" name="Rectangle-2"/>
          <p:cNvSpPr>
            <a:spLocks noGrp="1" noChangeArrowheads="1"/>
          </p:cNvSpPr>
          <p:nvPr>
            <p:ph type="title"/>
          </p:nvPr>
        </p:nvSpPr>
        <p:spPr>
          <a:xfrm>
            <a:off x="185057" y="196544"/>
            <a:ext cx="8792688" cy="931614"/>
          </a:xfrm>
        </p:spPr>
        <p:txBody>
          <a:bodyPr>
            <a:normAutofit/>
          </a:bodyPr>
          <a:lstStyle/>
          <a:p>
            <a:r>
              <a:rPr lang="fr-FR" altLang="zh-CN" sz="2600" b="1" dirty="0" smtClean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Qu'est ce </a:t>
            </a:r>
            <a:r>
              <a:rPr lang="fr-FR" altLang="zh-CN" sz="2600" b="1" dirty="0">
                <a:solidFill>
                  <a:srgbClr val="C00000"/>
                </a:solidFill>
                <a:ea typeface="SimSun" pitchFamily="2" charset="-122"/>
                <a:cs typeface="Arial Narrow" pitchFamily="34" charset="0"/>
              </a:rPr>
              <a:t>que le Gestionnaire des services Terminal Server ?</a:t>
            </a:r>
            <a:endParaRPr lang="en-US" altLang="zh-CN" sz="2600" b="1" dirty="0">
              <a:solidFill>
                <a:srgbClr val="C00000"/>
              </a:solidFill>
              <a:ea typeface="SimSun" pitchFamily="2" charset="-122"/>
              <a:cs typeface="Arial Narrow" pitchFamily="34" charset="0"/>
            </a:endParaRPr>
          </a:p>
        </p:txBody>
      </p:sp>
      <p:sp>
        <p:nvSpPr>
          <p:cNvPr id="512003" name="Rectangle-3"/>
          <p:cNvSpPr>
            <a:spLocks noGrp="1" noChangeArrowheads="1"/>
          </p:cNvSpPr>
          <p:nvPr>
            <p:ph type="body" sz="half" idx="1"/>
          </p:nvPr>
        </p:nvSpPr>
        <p:spPr>
          <a:xfrm>
            <a:off x="190005" y="1543888"/>
            <a:ext cx="8787739" cy="16510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Il analyse les sessions utilisateur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ea typeface="SimSun" pitchFamily="2" charset="-122"/>
              <a:cs typeface="Arial Narrow" pitchFamily="34" charset="0"/>
            </a:endParaRPr>
          </a:p>
          <a:p>
            <a:pPr>
              <a:lnSpc>
                <a:spcPct val="80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Il force manuellement l'utilisateur à fermer la session ou </a:t>
            </a:r>
            <a:b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</a:b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à se déconnecter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  <a:endParaRPr lang="en-US" altLang="zh-CN" dirty="0">
              <a:ea typeface="SimSun" pitchFamily="2" charset="-122"/>
              <a:cs typeface="Arial Narrow" pitchFamily="34" charset="0"/>
            </a:endParaRPr>
          </a:p>
          <a:p>
            <a:pPr>
              <a:lnSpc>
                <a:spcPct val="80000"/>
              </a:lnSpc>
            </a:pPr>
            <a:r>
              <a:rPr lang="fr-FR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Il permet de surveiller tous les utilisateurs et toutes les sessions sur un serveur à partir d'un seul emplacement</a:t>
            </a:r>
            <a:r>
              <a:rPr lang="en-IE" altLang="zh-CN" dirty="0">
                <a:solidFill>
                  <a:srgbClr val="000000"/>
                </a:solidFill>
                <a:ea typeface="SimSun" pitchFamily="2" charset="-122"/>
                <a:cs typeface="Arial Narrow" pitchFamily="34" charset="0"/>
              </a:rPr>
              <a:t> </a:t>
            </a:r>
          </a:p>
        </p:txBody>
      </p:sp>
      <p:pic>
        <p:nvPicPr>
          <p:cNvPr id="512004" name="Picture-4" descr="terminal_svcs_mgr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 b="51082"/>
          <a:stretch>
            <a:fillRect/>
          </a:stretch>
        </p:blipFill>
        <p:spPr>
          <a:xfrm>
            <a:off x="202985" y="3158837"/>
            <a:ext cx="8762555" cy="3212276"/>
          </a:xfrm>
          <a:noFill/>
          <a:ln>
            <a:solidFill>
              <a:srgbClr val="000066"/>
            </a:solidFill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120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120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120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Nuances de gris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8303</TotalTime>
  <Words>1001</Words>
  <Application>Microsoft PowerPoint</Application>
  <PresentationFormat>Affichage à l'écran (4:3)</PresentationFormat>
  <Paragraphs>157</Paragraphs>
  <Slides>18</Slides>
  <Notes>17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19" baseType="lpstr">
      <vt:lpstr>Civil</vt:lpstr>
      <vt:lpstr>Chapitre 9   Préparation de l'administration d'un serveur </vt:lpstr>
      <vt:lpstr>Plan du cours</vt:lpstr>
      <vt:lpstr>1. Préparation de l'administration d'un serveur</vt:lpstr>
      <vt:lpstr>Utilisation des appartenances de groupe pour administrer un serveur </vt:lpstr>
      <vt:lpstr>Utilisation des appartenances de groupe pour administrer un serveur </vt:lpstr>
      <vt:lpstr>Qu'est-ce que la commande Exécuter en tant que ? </vt:lpstr>
      <vt:lpstr>Qu'est-ce que l'outil Gestion de l'ordinateur ? </vt:lpstr>
      <vt:lpstr>Rôle de la console MMC dans le cadre d'une administration à distance </vt:lpstr>
      <vt:lpstr>2. Configuration de la fonction Bureau à distance pour administrer un serveur </vt:lpstr>
      <vt:lpstr>Qu'est-ce que l'outil Bureau à distance pour administration ? </vt:lpstr>
      <vt:lpstr>Pourquoi utiliser l'outil Bureau à distance pour administration ? </vt:lpstr>
      <vt:lpstr>Quelle est la configuration requise pour le Service de bureau à distance ? </vt:lpstr>
      <vt:lpstr>Que sont les préférences des ordinateurs clients dans le cadre d'une connexion Bureau à distance ? </vt:lpstr>
      <vt:lpstr>Connexion Bureau à distance et Bureaux à distance </vt:lpstr>
      <vt:lpstr>Comment se connecter à un serveur distant ? </vt:lpstr>
      <vt:lpstr>3. Gestion des connexions au Bureau  à distance </vt:lpstr>
      <vt:lpstr>Que sont les paramètres de délai des connexions de Bureau à distance ? </vt:lpstr>
      <vt:lpstr>Qu'est ce que le Gestionnaire des services Terminal Server ?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#: Module Title</dc:title>
  <dc:creator>User</dc:creator>
  <cp:lastModifiedBy>Halima</cp:lastModifiedBy>
  <cp:revision>433</cp:revision>
  <dcterms:created xsi:type="dcterms:W3CDTF">2002-08-07T17:51:12Z</dcterms:created>
  <dcterms:modified xsi:type="dcterms:W3CDTF">2016-04-12T22:13:20Z</dcterms:modified>
</cp:coreProperties>
</file>