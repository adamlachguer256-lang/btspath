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2"/>
  </p:notesMasterIdLst>
  <p:handoutMasterIdLst>
    <p:handoutMasterId r:id="rId23"/>
  </p:handoutMasterIdLst>
  <p:sldIdLst>
    <p:sldId id="416" r:id="rId2"/>
    <p:sldId id="420" r:id="rId3"/>
    <p:sldId id="421" r:id="rId4"/>
    <p:sldId id="537" r:id="rId5"/>
    <p:sldId id="489" r:id="rId6"/>
    <p:sldId id="580" r:id="rId7"/>
    <p:sldId id="544" r:id="rId8"/>
    <p:sldId id="545" r:id="rId9"/>
    <p:sldId id="549" r:id="rId10"/>
    <p:sldId id="550" r:id="rId11"/>
    <p:sldId id="551" r:id="rId12"/>
    <p:sldId id="553" r:id="rId13"/>
    <p:sldId id="561" r:id="rId14"/>
    <p:sldId id="563" r:id="rId15"/>
    <p:sldId id="564" r:id="rId16"/>
    <p:sldId id="571" r:id="rId17"/>
    <p:sldId id="575" r:id="rId18"/>
    <p:sldId id="581" r:id="rId19"/>
    <p:sldId id="582" r:id="rId20"/>
    <p:sldId id="583" r:id="rId21"/>
  </p:sldIdLst>
  <p:sldSz cx="9144000" cy="6858000" type="screen4x3"/>
  <p:notesSz cx="6858000" cy="9199563"/>
  <p:defaultTextStyle>
    <a:defPPr>
      <a:defRPr lang="en-US"/>
    </a:defPPr>
    <a:lvl1pPr algn="ctr" rtl="0" eaLnBrk="0" fontAlgn="base" hangingPunct="0">
      <a:spcBef>
        <a:spcPct val="0"/>
      </a:spcBef>
      <a:spcAft>
        <a:spcPct val="0"/>
      </a:spcAft>
      <a:defRPr b="1" kern="1200">
        <a:solidFill>
          <a:schemeClr val="tx1"/>
        </a:solidFill>
        <a:latin typeface="Arial Narrow" charset="0"/>
        <a:ea typeface="+mn-ea"/>
        <a:cs typeface="+mn-cs"/>
      </a:defRPr>
    </a:lvl1pPr>
    <a:lvl2pPr marL="457200" algn="ctr" rtl="0" eaLnBrk="0" fontAlgn="base" hangingPunct="0">
      <a:spcBef>
        <a:spcPct val="0"/>
      </a:spcBef>
      <a:spcAft>
        <a:spcPct val="0"/>
      </a:spcAft>
      <a:defRPr b="1" kern="1200">
        <a:solidFill>
          <a:schemeClr val="tx1"/>
        </a:solidFill>
        <a:latin typeface="Arial Narrow" charset="0"/>
        <a:ea typeface="+mn-ea"/>
        <a:cs typeface="+mn-cs"/>
      </a:defRPr>
    </a:lvl2pPr>
    <a:lvl3pPr marL="914400" algn="ctr" rtl="0" eaLnBrk="0" fontAlgn="base" hangingPunct="0">
      <a:spcBef>
        <a:spcPct val="0"/>
      </a:spcBef>
      <a:spcAft>
        <a:spcPct val="0"/>
      </a:spcAft>
      <a:defRPr b="1" kern="1200">
        <a:solidFill>
          <a:schemeClr val="tx1"/>
        </a:solidFill>
        <a:latin typeface="Arial Narrow" charset="0"/>
        <a:ea typeface="+mn-ea"/>
        <a:cs typeface="+mn-cs"/>
      </a:defRPr>
    </a:lvl3pPr>
    <a:lvl4pPr marL="1371600" algn="ctr" rtl="0" eaLnBrk="0" fontAlgn="base" hangingPunct="0">
      <a:spcBef>
        <a:spcPct val="0"/>
      </a:spcBef>
      <a:spcAft>
        <a:spcPct val="0"/>
      </a:spcAft>
      <a:defRPr b="1" kern="1200">
        <a:solidFill>
          <a:schemeClr val="tx1"/>
        </a:solidFill>
        <a:latin typeface="Arial Narrow" charset="0"/>
        <a:ea typeface="+mn-ea"/>
        <a:cs typeface="+mn-cs"/>
      </a:defRPr>
    </a:lvl4pPr>
    <a:lvl5pPr marL="1828800" algn="ctr" rtl="0" eaLnBrk="0" fontAlgn="base" hangingPunct="0">
      <a:spcBef>
        <a:spcPct val="0"/>
      </a:spcBef>
      <a:spcAft>
        <a:spcPct val="0"/>
      </a:spcAft>
      <a:defRPr b="1" kern="1200">
        <a:solidFill>
          <a:schemeClr val="tx1"/>
        </a:solidFill>
        <a:latin typeface="Arial Narrow" charset="0"/>
        <a:ea typeface="+mn-ea"/>
        <a:cs typeface="+mn-cs"/>
      </a:defRPr>
    </a:lvl5pPr>
    <a:lvl6pPr marL="2286000" algn="l" defTabSz="914400" rtl="0" eaLnBrk="1" latinLnBrk="0" hangingPunct="1">
      <a:defRPr b="1" kern="1200">
        <a:solidFill>
          <a:schemeClr val="tx1"/>
        </a:solidFill>
        <a:latin typeface="Arial Narrow" charset="0"/>
        <a:ea typeface="+mn-ea"/>
        <a:cs typeface="+mn-cs"/>
      </a:defRPr>
    </a:lvl6pPr>
    <a:lvl7pPr marL="2743200" algn="l" defTabSz="914400" rtl="0" eaLnBrk="1" latinLnBrk="0" hangingPunct="1">
      <a:defRPr b="1" kern="1200">
        <a:solidFill>
          <a:schemeClr val="tx1"/>
        </a:solidFill>
        <a:latin typeface="Arial Narrow" charset="0"/>
        <a:ea typeface="+mn-ea"/>
        <a:cs typeface="+mn-cs"/>
      </a:defRPr>
    </a:lvl7pPr>
    <a:lvl8pPr marL="3200400" algn="l" defTabSz="914400" rtl="0" eaLnBrk="1" latinLnBrk="0" hangingPunct="1">
      <a:defRPr b="1" kern="1200">
        <a:solidFill>
          <a:schemeClr val="tx1"/>
        </a:solidFill>
        <a:latin typeface="Arial Narrow" charset="0"/>
        <a:ea typeface="+mn-ea"/>
        <a:cs typeface="+mn-cs"/>
      </a:defRPr>
    </a:lvl8pPr>
    <a:lvl9pPr marL="3657600" algn="l" defTabSz="914400" rtl="0" eaLnBrk="1" latinLnBrk="0" hangingPunct="1">
      <a:defRPr b="1" kern="1200">
        <a:solidFill>
          <a:schemeClr val="tx1"/>
        </a:solidFill>
        <a:latin typeface="Arial Narrow"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1" name="Jim Toland" initials="" lastIdx="10" clrIdx="1"/>
  <p:cmAuthor id="2" name="Jeff Johnson" initials="" lastIdx="29" clrIdx="2"/>
  <p:cmAuthor id="3" name="Diana Jahrling" initials="" lastIdx="21" clrIdx="3"/>
  <p:cmAuthor id="4" name="Misty Shock" initials="" lastIdx="48" clrIdx="4"/>
  <p:cmAuthor id="5" name="jimcla" initials="" lastIdx="4" clrIdx="5"/>
  <p:cmAuthor id="6" name="dianaj" initials="" lastIdx="1" clrIdx="6"/>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D5D69C"/>
    <a:srgbClr val="E4E4BF"/>
    <a:srgbClr val="333333"/>
    <a:srgbClr val="EEEFD7"/>
    <a:srgbClr val="DFE8F2"/>
    <a:srgbClr val="BBCDE3"/>
    <a:srgbClr val="8DACD0"/>
    <a:srgbClr val="80808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snapVertSplitter="1" vertBarState="minimized" horzBarState="maximized">
    <p:restoredLeft sz="15422" autoAdjust="0"/>
    <p:restoredTop sz="94660" autoAdjust="0"/>
  </p:normalViewPr>
  <p:slideViewPr>
    <p:cSldViewPr snapToGrid="0">
      <p:cViewPr>
        <p:scale>
          <a:sx n="80" d="100"/>
          <a:sy n="80" d="100"/>
        </p:scale>
        <p:origin x="-1482" y="14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56" d="100"/>
          <a:sy n="56" d="100"/>
        </p:scale>
        <p:origin x="-1806" y="-78"/>
      </p:cViewPr>
      <p:guideLst>
        <p:guide orient="horz" pos="2898"/>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7" Type="http://schemas.openxmlformats.org/officeDocument/2006/relationships/slide" Target="slides/slide12.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11.xml"/><Relationship Id="rId5" Type="http://schemas.openxmlformats.org/officeDocument/2006/relationships/slide" Target="slides/slide10.xml"/><Relationship Id="rId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278531" name="Rectangle 3"/>
          <p:cNvSpPr>
            <a:spLocks noGrp="1" noChangeArrowheads="1"/>
          </p:cNvSpPr>
          <p:nvPr>
            <p:ph type="dt" sz="quarter"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8532" name="Rectangle 4"/>
          <p:cNvSpPr>
            <a:spLocks noGrp="1" noChangeArrowheads="1"/>
          </p:cNvSpPr>
          <p:nvPr>
            <p:ph type="ftr" sz="quarter" idx="2"/>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278533" name="Rectangle 5"/>
          <p:cNvSpPr>
            <a:spLocks noGrp="1" noChangeArrowheads="1"/>
          </p:cNvSpPr>
          <p:nvPr>
            <p:ph type="sldNum" sz="quarter" idx="3"/>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3B94C457-B26E-47F1-BD2A-321DFBAEA53C}"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endParaRPr lang="en-US"/>
          </a:p>
        </p:txBody>
      </p:sp>
      <p:sp>
        <p:nvSpPr>
          <p:cNvPr id="5123" name="Rectangle 3"/>
          <p:cNvSpPr>
            <a:spLocks noGrp="1" noChangeArrowheads="1"/>
          </p:cNvSpPr>
          <p:nvPr>
            <p:ph type="dt"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30300" y="690563"/>
            <a:ext cx="4598988" cy="3449637"/>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85800" y="4370388"/>
            <a:ext cx="5486400" cy="41386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endParaRPr lang="en-US"/>
          </a:p>
        </p:txBody>
      </p:sp>
      <p:sp>
        <p:nvSpPr>
          <p:cNvPr id="5127" name="Rectangle 7"/>
          <p:cNvSpPr>
            <a:spLocks noGrp="1" noChangeArrowheads="1"/>
          </p:cNvSpPr>
          <p:nvPr>
            <p:ph type="sldNum" sz="quarter" idx="5"/>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AC992923-B641-4AD7-B06F-54586BFD183E}"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450BF3-FF26-41F4-BF81-B860838753A4}" type="slidenum">
              <a:rPr lang="en-US"/>
              <a:pPr/>
              <a:t>1</a:t>
            </a:fld>
            <a:endParaRPr lang="en-US"/>
          </a:p>
        </p:txBody>
      </p:sp>
      <p:sp>
        <p:nvSpPr>
          <p:cNvPr id="393218" name="Rectangle-2"/>
          <p:cNvSpPr>
            <a:spLocks noGrp="1" noRot="1" noChangeAspect="1" noChangeArrowheads="1" noTextEdit="1"/>
          </p:cNvSpPr>
          <p:nvPr>
            <p:ph type="sldImg"/>
          </p:nvPr>
        </p:nvSpPr>
        <p:spPr>
          <a:ln/>
        </p:spPr>
      </p:sp>
      <p:sp>
        <p:nvSpPr>
          <p:cNvPr id="393219" name="Rectangle-3"/>
          <p:cNvSpPr>
            <a:spLocks noGrp="1" noChangeArrowheads="1"/>
          </p:cNvSpPr>
          <p:nvPr>
            <p:ph type="body" idx="1"/>
          </p:nvPr>
        </p:nvSpPr>
        <p:spPr/>
        <p:txBody>
          <a:bodyPr/>
          <a:lstStyle/>
          <a:p>
            <a:endParaRPr lang="en-I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63DE4C-140B-43A3-9B6F-E454643CE16A}" type="slidenum">
              <a:rPr lang="en-US"/>
              <a:pPr/>
              <a:t>2</a:t>
            </a:fld>
            <a:endParaRPr lang="en-US"/>
          </a:p>
        </p:txBody>
      </p:sp>
      <p:sp>
        <p:nvSpPr>
          <p:cNvPr id="356354" name="Rectangle-2"/>
          <p:cNvSpPr>
            <a:spLocks noGrp="1" noRot="1" noChangeAspect="1" noChangeArrowheads="1" noTextEdit="1"/>
          </p:cNvSpPr>
          <p:nvPr>
            <p:ph type="sldImg"/>
          </p:nvPr>
        </p:nvSpPr>
        <p:spPr>
          <a:ln/>
        </p:spPr>
      </p:sp>
      <p:sp>
        <p:nvSpPr>
          <p:cNvPr id="356355"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F921CA-01EB-4331-B8FE-C2F36A17AAA5}" type="slidenum">
              <a:rPr lang="en-US"/>
              <a:pPr/>
              <a:t>3</a:t>
            </a:fld>
            <a:endParaRPr lang="en-US"/>
          </a:p>
        </p:txBody>
      </p:sp>
      <p:sp>
        <p:nvSpPr>
          <p:cNvPr id="357378" name="Rectangle-2"/>
          <p:cNvSpPr>
            <a:spLocks noGrp="1" noRot="1" noChangeAspect="1" noChangeArrowheads="1" noTextEdit="1"/>
          </p:cNvSpPr>
          <p:nvPr>
            <p:ph type="sldImg"/>
          </p:nvPr>
        </p:nvSpPr>
        <p:spPr>
          <a:ln/>
        </p:spPr>
      </p:sp>
      <p:sp>
        <p:nvSpPr>
          <p:cNvPr id="357379"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EDE67D-AA25-4DA6-BE50-B087A2A6406A}" type="slidenum">
              <a:rPr lang="en-US"/>
              <a:pPr/>
              <a:t>4</a:t>
            </a:fld>
            <a:endParaRPr lang="en-US"/>
          </a:p>
        </p:txBody>
      </p:sp>
      <p:sp>
        <p:nvSpPr>
          <p:cNvPr id="553986" name="Rectangle-2"/>
          <p:cNvSpPr>
            <a:spLocks noGrp="1" noRot="1" noChangeAspect="1" noChangeArrowheads="1" noTextEdit="1"/>
          </p:cNvSpPr>
          <p:nvPr>
            <p:ph type="sldImg"/>
          </p:nvPr>
        </p:nvSpPr>
        <p:spPr>
          <a:ln/>
        </p:spPr>
      </p:sp>
      <p:sp>
        <p:nvSpPr>
          <p:cNvPr id="5539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5D0FD6-509A-49C4-A1D2-F5F95D83E07D}" type="slidenum">
              <a:rPr lang="en-US"/>
              <a:pPr/>
              <a:t>5</a:t>
            </a:fld>
            <a:endParaRPr lang="en-US"/>
          </a:p>
        </p:txBody>
      </p:sp>
      <p:sp>
        <p:nvSpPr>
          <p:cNvPr id="398338" name="Rectangle-2"/>
          <p:cNvSpPr>
            <a:spLocks noGrp="1" noRot="1" noChangeAspect="1" noChangeArrowheads="1" noTextEdit="1"/>
          </p:cNvSpPr>
          <p:nvPr>
            <p:ph type="sldImg"/>
          </p:nvPr>
        </p:nvSpPr>
        <p:spPr>
          <a:ln/>
        </p:spPr>
      </p:sp>
      <p:sp>
        <p:nvSpPr>
          <p:cNvPr id="398339"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4D3A40-0BFA-4ADD-8046-70866D77A6AF}" type="slidenum">
              <a:rPr lang="en-US"/>
              <a:pPr/>
              <a:t>6</a:t>
            </a:fld>
            <a:endParaRPr lang="en-US"/>
          </a:p>
        </p:txBody>
      </p:sp>
      <p:sp>
        <p:nvSpPr>
          <p:cNvPr id="556034" name="Rectangle-2"/>
          <p:cNvSpPr>
            <a:spLocks noGrp="1" noRot="1" noChangeAspect="1" noChangeArrowheads="1" noTextEdit="1"/>
          </p:cNvSpPr>
          <p:nvPr>
            <p:ph type="sldImg"/>
          </p:nvPr>
        </p:nvSpPr>
        <p:spPr>
          <a:ln/>
        </p:spPr>
      </p:sp>
      <p:sp>
        <p:nvSpPr>
          <p:cNvPr id="556035" name="Rectangle-3"/>
          <p:cNvSpPr>
            <a:spLocks noGrp="1" noChangeArrowheads="1"/>
          </p:cNvSpPr>
          <p:nvPr>
            <p:ph type="body" idx="1"/>
          </p:nvPr>
        </p:nvSpPr>
        <p:spPr/>
        <p:txBody>
          <a:bodyPr/>
          <a:lstStyle/>
          <a:p>
            <a:endParaRPr lang="en-I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8C67FB-7FAE-45C6-B64B-4DB24BB5629B}" type="slidenum">
              <a:rPr lang="en-US"/>
              <a:pPr/>
              <a:t>7</a:t>
            </a:fld>
            <a:endParaRPr lang="en-US"/>
          </a:p>
        </p:txBody>
      </p:sp>
      <p:sp>
        <p:nvSpPr>
          <p:cNvPr id="557058" name="Rectangle-2"/>
          <p:cNvSpPr>
            <a:spLocks noGrp="1" noRot="1" noChangeAspect="1" noChangeArrowheads="1" noTextEdit="1"/>
          </p:cNvSpPr>
          <p:nvPr>
            <p:ph type="sldImg"/>
          </p:nvPr>
        </p:nvSpPr>
        <p:spPr>
          <a:ln/>
        </p:spPr>
      </p:sp>
      <p:sp>
        <p:nvSpPr>
          <p:cNvPr id="557059" name="Rectangle-3"/>
          <p:cNvSpPr>
            <a:spLocks noGrp="1" noChangeArrowheads="1"/>
          </p:cNvSpPr>
          <p:nvPr>
            <p:ph type="body" idx="1"/>
          </p:nvPr>
        </p:nvSpPr>
        <p:spPr/>
        <p:txBody>
          <a:bodyPr/>
          <a:lstStyle/>
          <a:p>
            <a:endParaRPr lang="en-I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3F5300-06F6-4A24-ADDC-BD3A8F9E6CBD}" type="slidenum">
              <a:rPr lang="en-US"/>
              <a:pPr/>
              <a:t>8</a:t>
            </a:fld>
            <a:endParaRPr lang="en-US"/>
          </a:p>
        </p:txBody>
      </p:sp>
      <p:sp>
        <p:nvSpPr>
          <p:cNvPr id="558082" name="Rectangle-2"/>
          <p:cNvSpPr>
            <a:spLocks noGrp="1" noRot="1" noChangeAspect="1" noChangeArrowheads="1" noTextEdit="1"/>
          </p:cNvSpPr>
          <p:nvPr>
            <p:ph type="sldImg"/>
          </p:nvPr>
        </p:nvSpPr>
        <p:spPr>
          <a:ln/>
        </p:spPr>
      </p:sp>
      <p:sp>
        <p:nvSpPr>
          <p:cNvPr id="558083" name="Rectangle-3"/>
          <p:cNvSpPr>
            <a:spLocks noGrp="1" noChangeArrowheads="1"/>
          </p:cNvSpPr>
          <p:nvPr>
            <p:ph type="body" idx="1"/>
          </p:nvPr>
        </p:nvSpPr>
        <p:spPr/>
        <p:txBody>
          <a:bodyPr/>
          <a:lstStyle/>
          <a:p>
            <a:endParaRPr lang="en-I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54A65A-737E-4A87-BC35-4C6499C3B261}" type="slidenum">
              <a:rPr lang="en-US"/>
              <a:pPr/>
              <a:t>9</a:t>
            </a:fld>
            <a:endParaRPr lang="en-US"/>
          </a:p>
        </p:txBody>
      </p:sp>
      <p:sp>
        <p:nvSpPr>
          <p:cNvPr id="498690" name="Rectangle-2"/>
          <p:cNvSpPr>
            <a:spLocks noGrp="1" noRot="1" noChangeAspect="1" noChangeArrowheads="1" noTextEdit="1"/>
          </p:cNvSpPr>
          <p:nvPr>
            <p:ph type="sldImg"/>
          </p:nvPr>
        </p:nvSpPr>
        <p:spPr>
          <a:ln/>
        </p:spPr>
      </p:sp>
      <p:sp>
        <p:nvSpPr>
          <p:cNvPr id="49869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7844CF-9402-4AB2-A0FE-CFFB79BC4F4A}" type="slidenum">
              <a:rPr lang="en-US"/>
              <a:pPr/>
              <a:t>10</a:t>
            </a:fld>
            <a:endParaRPr lang="en-US"/>
          </a:p>
        </p:txBody>
      </p:sp>
      <p:sp>
        <p:nvSpPr>
          <p:cNvPr id="500738" name="Rectangle-2"/>
          <p:cNvSpPr>
            <a:spLocks noGrp="1" noRot="1" noChangeAspect="1" noChangeArrowheads="1" noTextEdit="1"/>
          </p:cNvSpPr>
          <p:nvPr>
            <p:ph type="sldImg"/>
          </p:nvPr>
        </p:nvSpPr>
        <p:spPr>
          <a:ln/>
        </p:spPr>
      </p:sp>
      <p:sp>
        <p:nvSpPr>
          <p:cNvPr id="500739" name="Rectangle-3"/>
          <p:cNvSpPr>
            <a:spLocks noGrp="1" noChangeArrowheads="1"/>
          </p:cNvSpPr>
          <p:nvPr>
            <p:ph type="body" idx="1"/>
          </p:nvPr>
        </p:nvSpPr>
        <p:spPr/>
        <p:txBody>
          <a:bodyPr/>
          <a:lstStyle/>
          <a:p>
            <a:pPr marL="152400" indent="-152400">
              <a:lnSpc>
                <a:spcPct val="80000"/>
              </a:lnSpc>
            </a:pPr>
            <a:endParaRPr lang="en-IE" sz="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BBF487-A5C2-47B4-8A58-1847459C7FED}" type="slidenum">
              <a:rPr lang="en-US"/>
              <a:pPr/>
              <a:t>11</a:t>
            </a:fld>
            <a:endParaRPr lang="en-US"/>
          </a:p>
        </p:txBody>
      </p:sp>
      <p:sp>
        <p:nvSpPr>
          <p:cNvPr id="502786" name="Rectangle-2"/>
          <p:cNvSpPr>
            <a:spLocks noGrp="1" noRot="1" noChangeAspect="1" noChangeArrowheads="1" noTextEdit="1"/>
          </p:cNvSpPr>
          <p:nvPr>
            <p:ph type="sldImg"/>
          </p:nvPr>
        </p:nvSpPr>
        <p:spPr>
          <a:ln/>
        </p:spPr>
      </p:sp>
      <p:sp>
        <p:nvSpPr>
          <p:cNvPr id="502787" name="Rectangle-3"/>
          <p:cNvSpPr>
            <a:spLocks noGrp="1" noChangeArrowheads="1"/>
          </p:cNvSpPr>
          <p:nvPr>
            <p:ph type="body" idx="1"/>
          </p:nvPr>
        </p:nvSpPr>
        <p:spPr/>
        <p:txBody>
          <a:bodyPr/>
          <a:lstStyle/>
          <a:p>
            <a:pPr>
              <a:lnSpc>
                <a:spcPct val="80000"/>
              </a:lnSpc>
            </a:pPr>
            <a:endParaRPr lang="en-IE" sz="10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6FDA54-C9CA-4591-BCE9-5A11FF34C88A}" type="slidenum">
              <a:rPr lang="en-US"/>
              <a:pPr/>
              <a:t>12</a:t>
            </a:fld>
            <a:endParaRPr lang="en-US"/>
          </a:p>
        </p:txBody>
      </p:sp>
      <p:sp>
        <p:nvSpPr>
          <p:cNvPr id="506882" name="Rectangle-2"/>
          <p:cNvSpPr>
            <a:spLocks noGrp="1" noRot="1" noChangeAspect="1" noChangeArrowheads="1" noTextEdit="1"/>
          </p:cNvSpPr>
          <p:nvPr>
            <p:ph type="sldImg"/>
          </p:nvPr>
        </p:nvSpPr>
        <p:spPr>
          <a:ln/>
        </p:spPr>
      </p:sp>
      <p:sp>
        <p:nvSpPr>
          <p:cNvPr id="506883" name="Rectangle-3"/>
          <p:cNvSpPr>
            <a:spLocks noGrp="1" noChangeArrowheads="1"/>
          </p:cNvSpPr>
          <p:nvPr>
            <p:ph type="body" idx="1"/>
          </p:nvPr>
        </p:nvSpPr>
        <p:spPr/>
        <p:txBody>
          <a:bodyPr/>
          <a:lstStyle/>
          <a:p>
            <a:pPr marL="228600" indent="-228600">
              <a:lnSpc>
                <a:spcPct val="80000"/>
              </a:lnSpc>
            </a:pPr>
            <a:endParaRPr lang="en-US" sz="800"/>
          </a:p>
          <a:p>
            <a:pPr marL="228600" indent="-228600">
              <a:lnSpc>
                <a:spcPct val="80000"/>
              </a:lnSpc>
            </a:pPr>
            <a:endParaRPr lang="en-US" sz="800"/>
          </a:p>
          <a:p>
            <a:pPr marL="228600" indent="-228600">
              <a:lnSpc>
                <a:spcPct val="90000"/>
              </a:lnSpc>
            </a:pPr>
            <a:endParaRPr lang="en-US"/>
          </a:p>
          <a:p>
            <a:pPr marL="228600" indent="-228600">
              <a:lnSpc>
                <a:spcPct val="80000"/>
              </a:lnSpc>
            </a:pPr>
            <a:endParaRPr lang="en-US" sz="800"/>
          </a:p>
          <a:p>
            <a:pPr marL="228600" indent="-228600">
              <a:lnSpc>
                <a:spcPct val="80000"/>
              </a:lnSpc>
            </a:pPr>
            <a:endParaRPr lang="en-US" sz="800"/>
          </a:p>
          <a:p>
            <a:pPr marL="228600" indent="-228600">
              <a:lnSpc>
                <a:spcPct val="80000"/>
              </a:lnSpc>
            </a:pPr>
            <a:endParaRPr lang="en-US" sz="800"/>
          </a:p>
          <a:p>
            <a:pPr marL="228600" indent="-228600">
              <a:lnSpc>
                <a:spcPct val="80000"/>
              </a:lnSpc>
            </a:pPr>
            <a:r>
              <a:rPr lang="en-US" sz="800"/>
              <a:t>There are three available settings for folder redirection: none, basic, and advanced. To implement folder redirection:</a:t>
            </a:r>
          </a:p>
          <a:p>
            <a:pPr marL="1143000" lvl="2" indent="-228600">
              <a:lnSpc>
                <a:spcPct val="80000"/>
              </a:lnSpc>
            </a:pPr>
            <a:r>
              <a:rPr lang="en-US" sz="800"/>
              <a:t>Open the appropriate GPO in Group Policy.</a:t>
            </a:r>
          </a:p>
          <a:p>
            <a:pPr marL="1143000" lvl="2" indent="-228600">
              <a:lnSpc>
                <a:spcPct val="80000"/>
              </a:lnSpc>
            </a:pPr>
            <a:r>
              <a:rPr lang="en-US" sz="800"/>
              <a:t>Expand </a:t>
            </a:r>
            <a:r>
              <a:rPr lang="en-US" sz="800" b="1"/>
              <a:t>User Configuration</a:t>
            </a:r>
            <a:r>
              <a:rPr lang="en-US" sz="800"/>
              <a:t>, expand </a:t>
            </a:r>
            <a:r>
              <a:rPr lang="en-US" sz="800" b="1"/>
              <a:t>Windows Settings</a:t>
            </a:r>
            <a:r>
              <a:rPr lang="en-US" sz="800"/>
              <a:t>, and then expand </a:t>
            </a:r>
            <a:r>
              <a:rPr lang="en-US" sz="800" b="1"/>
              <a:t>Folder Redirection</a:t>
            </a:r>
            <a:r>
              <a:rPr lang="en-US" sz="800"/>
              <a:t>.</a:t>
            </a:r>
          </a:p>
          <a:p>
            <a:pPr marL="1143000" lvl="2" indent="-228600">
              <a:lnSpc>
                <a:spcPct val="80000"/>
              </a:lnSpc>
            </a:pPr>
            <a:r>
              <a:rPr lang="en-US" sz="800"/>
              <a:t>Right-click the folder that you want to redirect, and then click </a:t>
            </a:r>
            <a:r>
              <a:rPr lang="en-US" sz="800" b="1"/>
              <a:t>Properties</a:t>
            </a:r>
            <a:r>
              <a:rPr lang="en-US" sz="800"/>
              <a:t>.</a:t>
            </a:r>
          </a:p>
          <a:p>
            <a:pPr marL="228600" indent="-228600">
              <a:lnSpc>
                <a:spcPct val="80000"/>
              </a:lnSpc>
            </a:pPr>
            <a:endParaRPr lang="en-US" sz="800"/>
          </a:p>
          <a:p>
            <a:pPr marL="228600" indent="-228600">
              <a:lnSpc>
                <a:spcPct val="80000"/>
              </a:lnSpc>
            </a:pPr>
            <a:r>
              <a:rPr lang="en-US" sz="800"/>
              <a:t>The options on the </a:t>
            </a:r>
            <a:r>
              <a:rPr lang="en-US" sz="800" b="1"/>
              <a:t>Target</a:t>
            </a:r>
            <a:r>
              <a:rPr lang="en-US" sz="800"/>
              <a:t> tab are described in the following table.</a:t>
            </a:r>
            <a:endParaRPr lang="en-US" sz="800" b="1"/>
          </a:p>
          <a:p>
            <a:pPr marL="228600" indent="-228600">
              <a:lnSpc>
                <a:spcPct val="80000"/>
              </a:lnSpc>
            </a:pPr>
            <a:r>
              <a:rPr lang="en-US" sz="800" b="1"/>
              <a:t>Options </a:t>
            </a:r>
          </a:p>
          <a:p>
            <a:pPr marL="228600" indent="-228600">
              <a:lnSpc>
                <a:spcPct val="80000"/>
              </a:lnSpc>
            </a:pPr>
            <a:r>
              <a:rPr lang="en-US" sz="800" b="1"/>
              <a:t>	Description</a:t>
            </a:r>
          </a:p>
          <a:p>
            <a:pPr marL="228600" indent="-228600">
              <a:lnSpc>
                <a:spcPct val="80000"/>
              </a:lnSpc>
            </a:pPr>
            <a:r>
              <a:rPr lang="en-US" sz="800" b="1"/>
              <a:t>Setting</a:t>
            </a:r>
          </a:p>
          <a:p>
            <a:pPr marL="228600" indent="-228600">
              <a:lnSpc>
                <a:spcPct val="80000"/>
              </a:lnSpc>
            </a:pPr>
            <a:r>
              <a:rPr lang="en-US" sz="800" b="1"/>
              <a:t>	No administrative policy specified</a:t>
            </a:r>
            <a:r>
              <a:rPr lang="en-US" sz="800"/>
              <a:t>. Selected by default. </a:t>
            </a:r>
            <a:r>
              <a:rPr lang="en-US" sz="800" b="1"/>
              <a:t>Basic</a:t>
            </a:r>
            <a:r>
              <a:rPr lang="en-US" sz="800"/>
              <a:t>. Redirects all folders to the same location. </a:t>
            </a:r>
            <a:r>
              <a:rPr lang="en-US" sz="800" b="1"/>
              <a:t>Advanced</a:t>
            </a:r>
            <a:r>
              <a:rPr lang="en-US" sz="800"/>
              <a:t>. Specifies locations for various security groups. This option allows you to redirect the folders of users to whom this GPO applies and to specify different locations, depending on group membership.</a:t>
            </a:r>
          </a:p>
          <a:p>
            <a:pPr marL="228600" indent="-228600">
              <a:lnSpc>
                <a:spcPct val="80000"/>
              </a:lnSpc>
            </a:pPr>
            <a:r>
              <a:rPr lang="en-US" sz="800" b="1"/>
              <a:t>Target folder location</a:t>
            </a:r>
          </a:p>
          <a:p>
            <a:pPr marL="228600" indent="-228600">
              <a:lnSpc>
                <a:spcPct val="80000"/>
              </a:lnSpc>
            </a:pPr>
            <a:r>
              <a:rPr lang="en-US" sz="800"/>
              <a:t>	This option appears when you select </a:t>
            </a:r>
            <a:r>
              <a:rPr lang="en-US" sz="800" b="1"/>
              <a:t>Basic</a:t>
            </a:r>
            <a:r>
              <a:rPr lang="en-US" sz="800"/>
              <a:t>. This option redirects all folders to the same location and allows you to specify a universal naming convention (UNC) path name to the new location. You can use the following syntax to create target folders named after a user’s logon name: \\</a:t>
            </a:r>
            <a:r>
              <a:rPr lang="en-US" sz="800" i="1"/>
              <a:t>server_name</a:t>
            </a:r>
            <a:r>
              <a:rPr lang="en-US" sz="800"/>
              <a:t>\</a:t>
            </a:r>
            <a:r>
              <a:rPr lang="en-US" sz="800" i="1"/>
              <a:t>share_name</a:t>
            </a:r>
            <a:r>
              <a:rPr lang="en-US" sz="800"/>
              <a:t>\%</a:t>
            </a:r>
            <a:r>
              <a:rPr lang="en-US" sz="800" i="1"/>
              <a:t>username%</a:t>
            </a:r>
          </a:p>
          <a:p>
            <a:pPr marL="228600" indent="-228600">
              <a:lnSpc>
                <a:spcPct val="80000"/>
              </a:lnSpc>
            </a:pPr>
            <a:r>
              <a:rPr lang="en-US" sz="800" b="1"/>
              <a:t>Security Group Membership</a:t>
            </a:r>
          </a:p>
          <a:p>
            <a:pPr marL="228600" indent="-228600">
              <a:lnSpc>
                <a:spcPct val="80000"/>
              </a:lnSpc>
            </a:pPr>
            <a:r>
              <a:rPr lang="en-US" sz="800"/>
              <a:t>	This option appears when you select </a:t>
            </a:r>
            <a:r>
              <a:rPr lang="en-US" sz="800" b="1"/>
              <a:t>Advanced</a:t>
            </a:r>
            <a:r>
              <a:rPr lang="en-US" sz="800"/>
              <a:t>. This option specifies locations for various security groups. The security groups and the path to the redirected folders appear here. As with the previous option, you can use \\</a:t>
            </a:r>
            <a:r>
              <a:rPr lang="en-US" sz="800" i="1"/>
              <a:t>server_name</a:t>
            </a:r>
            <a:r>
              <a:rPr lang="en-US" sz="800"/>
              <a:t>\</a:t>
            </a:r>
            <a:r>
              <a:rPr lang="en-US" sz="800" i="1"/>
              <a:t>share_name</a:t>
            </a:r>
            <a:r>
              <a:rPr lang="en-US" sz="800"/>
              <a:t>\%</a:t>
            </a:r>
            <a:r>
              <a:rPr lang="en-US" sz="800" i="1"/>
              <a:t>username%</a:t>
            </a:r>
            <a:r>
              <a:rPr lang="en-US" sz="800"/>
              <a:t> to create folders named after a user’s logon name.</a:t>
            </a:r>
          </a:p>
          <a:p>
            <a:pPr marL="228600" indent="-228600">
              <a:lnSpc>
                <a:spcPct val="80000"/>
              </a:lnSpc>
            </a:pPr>
            <a:endParaRPr lang="en-US" sz="800"/>
          </a:p>
          <a:p>
            <a:pPr marL="228600" indent="-228600">
              <a:lnSpc>
                <a:spcPct val="80000"/>
              </a:lnSpc>
            </a:pPr>
            <a:r>
              <a:rPr lang="en-US" sz="800"/>
              <a:t>The options on the </a:t>
            </a:r>
            <a:r>
              <a:rPr lang="en-US" sz="800" b="1"/>
              <a:t>Setting</a:t>
            </a:r>
            <a:r>
              <a:rPr lang="en-US" sz="800"/>
              <a:t> tab control the behavior of folder redirection. You should be aware of the defaults for these settings, as they have implications for server disk space and security. The settings for folder redirection are explained in the following table:</a:t>
            </a:r>
            <a:endParaRPr lang="en-US" sz="800" b="1"/>
          </a:p>
          <a:p>
            <a:pPr marL="228600" indent="-228600">
              <a:lnSpc>
                <a:spcPct val="80000"/>
              </a:lnSpc>
            </a:pPr>
            <a:r>
              <a:rPr lang="en-US" sz="800" b="1"/>
              <a:t>Setting </a:t>
            </a:r>
          </a:p>
          <a:p>
            <a:pPr marL="228600" indent="-228600">
              <a:lnSpc>
                <a:spcPct val="80000"/>
              </a:lnSpc>
            </a:pPr>
            <a:r>
              <a:rPr lang="en-US" sz="800" b="1"/>
              <a:t>	Effect</a:t>
            </a:r>
          </a:p>
          <a:p>
            <a:pPr marL="228600" indent="-228600">
              <a:lnSpc>
                <a:spcPct val="80000"/>
              </a:lnSpc>
            </a:pPr>
            <a:r>
              <a:rPr lang="en-US" sz="800" b="1"/>
              <a:t>Grant the user exclusive rights to </a:t>
            </a:r>
            <a:r>
              <a:rPr lang="en-US" sz="800" b="1" i="1"/>
              <a:t>folder</a:t>
            </a:r>
            <a:r>
              <a:rPr lang="en-US" sz="800" b="1"/>
              <a:t>.</a:t>
            </a:r>
          </a:p>
          <a:p>
            <a:pPr marL="228600" indent="-228600">
              <a:lnSpc>
                <a:spcPct val="80000"/>
              </a:lnSpc>
            </a:pPr>
            <a:r>
              <a:rPr lang="en-US" sz="800"/>
              <a:t>	Enabled by default, this setting ensures that only the user and the system have rights to the folder. Administrators will not have access to the folder. If this checkbox is cleared, the new folder location will retain the rights of the previous location.</a:t>
            </a:r>
          </a:p>
          <a:p>
            <a:pPr marL="228600" indent="-228600">
              <a:lnSpc>
                <a:spcPct val="80000"/>
              </a:lnSpc>
            </a:pPr>
            <a:r>
              <a:rPr lang="en-US" sz="800" b="1"/>
              <a:t>Move the contents of </a:t>
            </a:r>
            <a:r>
              <a:rPr lang="en-US" sz="800" b="1" i="1"/>
              <a:t>folder</a:t>
            </a:r>
            <a:r>
              <a:rPr lang="en-US" sz="800" b="1"/>
              <a:t> to the new location.</a:t>
            </a:r>
          </a:p>
          <a:p>
            <a:pPr marL="228600" indent="-228600">
              <a:lnSpc>
                <a:spcPct val="80000"/>
              </a:lnSpc>
            </a:pPr>
            <a:r>
              <a:rPr lang="en-US" sz="800" b="1"/>
              <a:t>	</a:t>
            </a:r>
            <a:r>
              <a:rPr lang="en-US" sz="800"/>
              <a:t>Enabled by default, this setting moves the contents of the folder to the new location the next time the policy is applied. If this checkbox is cleared, the folder will be redirected, but the contents will remain in the previous location.</a:t>
            </a:r>
          </a:p>
          <a:p>
            <a:pPr marL="228600" indent="-228600">
              <a:lnSpc>
                <a:spcPct val="80000"/>
              </a:lnSpc>
            </a:pPr>
            <a:r>
              <a:rPr lang="en-US" sz="800" b="1"/>
              <a:t>Policy Removal</a:t>
            </a:r>
          </a:p>
          <a:p>
            <a:pPr marL="228600" indent="-228600">
              <a:lnSpc>
                <a:spcPct val="80000"/>
              </a:lnSpc>
            </a:pPr>
            <a:r>
              <a:rPr lang="en-US" sz="800" b="1"/>
              <a:t>	</a:t>
            </a:r>
            <a:r>
              <a:rPr lang="en-US" sz="800"/>
              <a:t>By default, when a folder redirection policy is removed, the folder remains in the redirected location. You can also choose to return redirected folders to the local user profile location when the policy is removed.</a:t>
            </a:r>
          </a:p>
          <a:p>
            <a:pPr marL="228600" indent="-228600">
              <a:lnSpc>
                <a:spcPct val="80000"/>
              </a:lnSpc>
            </a:pPr>
            <a:endParaRPr lang="en-US" sz="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C59CD9-63E9-432A-BB0A-7F8C9A28FE5C}" type="slidenum">
              <a:rPr lang="en-US"/>
              <a:pPr/>
              <a:t>13</a:t>
            </a:fld>
            <a:endParaRPr lang="en-US"/>
          </a:p>
        </p:txBody>
      </p:sp>
      <p:sp>
        <p:nvSpPr>
          <p:cNvPr id="563202" name="Rectangle-2"/>
          <p:cNvSpPr>
            <a:spLocks noGrp="1" noRot="1" noChangeAspect="1" noChangeArrowheads="1" noTextEdit="1"/>
          </p:cNvSpPr>
          <p:nvPr>
            <p:ph type="sldImg"/>
          </p:nvPr>
        </p:nvSpPr>
        <p:spPr>
          <a:ln/>
        </p:spPr>
      </p:sp>
      <p:sp>
        <p:nvSpPr>
          <p:cNvPr id="56320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B6B44E-06D5-4814-A714-E53A2547DE68}" type="slidenum">
              <a:rPr lang="en-US"/>
              <a:pPr/>
              <a:t>14</a:t>
            </a:fld>
            <a:endParaRPr lang="en-US"/>
          </a:p>
        </p:txBody>
      </p:sp>
      <p:sp>
        <p:nvSpPr>
          <p:cNvPr id="564226" name="Rectangle-2"/>
          <p:cNvSpPr>
            <a:spLocks noGrp="1" noRot="1" noChangeAspect="1" noChangeArrowheads="1" noTextEdit="1"/>
          </p:cNvSpPr>
          <p:nvPr>
            <p:ph type="sldImg"/>
          </p:nvPr>
        </p:nvSpPr>
        <p:spPr>
          <a:ln/>
        </p:spPr>
      </p:sp>
      <p:sp>
        <p:nvSpPr>
          <p:cNvPr id="56422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C87D13-4BBE-4B05-A0FD-2A29E219BCD7}" type="slidenum">
              <a:rPr lang="en-US"/>
              <a:pPr/>
              <a:t>15</a:t>
            </a:fld>
            <a:endParaRPr lang="en-US"/>
          </a:p>
        </p:txBody>
      </p:sp>
      <p:sp>
        <p:nvSpPr>
          <p:cNvPr id="565250" name="Rectangle-2"/>
          <p:cNvSpPr>
            <a:spLocks noGrp="1" noRot="1" noChangeAspect="1" noChangeArrowheads="1" noTextEdit="1"/>
          </p:cNvSpPr>
          <p:nvPr>
            <p:ph type="sldImg"/>
          </p:nvPr>
        </p:nvSpPr>
        <p:spPr>
          <a:ln/>
        </p:spPr>
      </p:sp>
      <p:sp>
        <p:nvSpPr>
          <p:cNvPr id="56525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2B38EB-D6A4-402A-853F-1E9BB383D949}" type="slidenum">
              <a:rPr lang="en-US"/>
              <a:pPr/>
              <a:t>16</a:t>
            </a:fld>
            <a:endParaRPr lang="en-US"/>
          </a:p>
        </p:txBody>
      </p:sp>
      <p:sp>
        <p:nvSpPr>
          <p:cNvPr id="570370" name="Rectangle-2"/>
          <p:cNvSpPr>
            <a:spLocks noGrp="1" noRot="1" noChangeAspect="1" noChangeArrowheads="1" noTextEdit="1"/>
          </p:cNvSpPr>
          <p:nvPr>
            <p:ph type="sldImg"/>
          </p:nvPr>
        </p:nvSpPr>
        <p:spPr>
          <a:ln/>
        </p:spPr>
      </p:sp>
      <p:sp>
        <p:nvSpPr>
          <p:cNvPr id="57037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AF0576-27A6-43C3-9711-6C55AB2C6279}" type="slidenum">
              <a:rPr lang="en-US"/>
              <a:pPr/>
              <a:t>17</a:t>
            </a:fld>
            <a:endParaRPr lang="en-US"/>
          </a:p>
        </p:txBody>
      </p:sp>
      <p:sp>
        <p:nvSpPr>
          <p:cNvPr id="573442" name="Rectangle-2"/>
          <p:cNvSpPr>
            <a:spLocks noGrp="1" noRot="1" noChangeAspect="1" noChangeArrowheads="1" noTextEdit="1"/>
          </p:cNvSpPr>
          <p:nvPr>
            <p:ph type="sldImg"/>
          </p:nvPr>
        </p:nvSpPr>
        <p:spPr>
          <a:ln/>
        </p:spPr>
      </p:sp>
      <p:sp>
        <p:nvSpPr>
          <p:cNvPr id="573443" name="Rectangle-3"/>
          <p:cNvSpPr>
            <a:spLocks noGrp="1" noChangeArrowheads="1"/>
          </p:cNvSpPr>
          <p:nvPr>
            <p:ph type="body" idx="1"/>
          </p:nvPr>
        </p:nvSpPr>
        <p:spPr/>
        <p:txBody>
          <a:bodyPr/>
          <a:lstStyle/>
          <a:p>
            <a:endParaRPr lang="en-I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3/29/2016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3/29/2016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lvl1pPr>
              <a:buClrTx/>
              <a:buFont typeface="Wingdings" pitchFamily="2" charset="2"/>
              <a:buChar char="q"/>
              <a:defRPr/>
            </a:lvl1pPr>
          </a:lstStyle>
          <a:p>
            <a:pPr lvl="0" eaLnBrk="1" latinLnBrk="0" hangingPunct="1"/>
            <a:r>
              <a:rPr lang="fr-FR" dirty="0" smtClean="0"/>
              <a:t>Cliquez pour modifier les styles du texte du masque</a:t>
            </a:r>
          </a:p>
          <a:p>
            <a:pPr lvl="1" eaLnBrk="1" latinLnBrk="0" hangingPunct="1"/>
            <a:r>
              <a:rPr lang="fr-FR" dirty="0" smtClean="0"/>
              <a:t>Deuxième niveau</a:t>
            </a:r>
          </a:p>
          <a:p>
            <a:pPr lvl="2" eaLnBrk="1" latinLnBrk="0" hangingPunct="1"/>
            <a:r>
              <a:rPr lang="fr-FR" dirty="0" smtClean="0"/>
              <a:t>Troisième niveau</a:t>
            </a:r>
          </a:p>
          <a:p>
            <a:pPr lvl="3" eaLnBrk="1" latinLnBrk="0" hangingPunct="1"/>
            <a:r>
              <a:rPr lang="fr-FR" dirty="0" smtClean="0"/>
              <a:t>Quatrième niveau</a:t>
            </a:r>
          </a:p>
          <a:p>
            <a:pPr lvl="4" eaLnBrk="1" latinLnBrk="0" hangingPunct="1"/>
            <a:r>
              <a:rPr lang="fr-FR" dirty="0" smtClean="0"/>
              <a:t>Cinquième niveau</a:t>
            </a:r>
            <a:endParaRPr kumimoji="0"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3/29/2016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3/29/2016</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3/29/2016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3/29/2016</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3/29/2016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3/29/2016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3/29/2016</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3/29/2016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3/29/2016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3/29/2016</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_anchor_1','_com_1"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526472" y="2618509"/>
            <a:ext cx="7772400" cy="3701329"/>
          </a:xfrm>
        </p:spPr>
        <p:txBody>
          <a:bodyPr>
            <a:noAutofit/>
          </a:bodyPr>
          <a:lstStyle/>
          <a:p>
            <a:r>
              <a:rPr lang="fr-FR" altLang="zh-CN" sz="4800" dirty="0" smtClean="0">
                <a:solidFill>
                  <a:srgbClr val="000000"/>
                </a:solidFill>
                <a:ea typeface="SimSun" pitchFamily="2" charset="-122"/>
                <a:cs typeface="Times New Roman" charset="0"/>
              </a:rPr>
              <a:t>Chapitre 7</a:t>
            </a:r>
            <a:r>
              <a:rPr lang="fr-FR" altLang="zh-CN" sz="4800" dirty="0">
                <a:solidFill>
                  <a:srgbClr val="000000"/>
                </a:solidFill>
                <a:ea typeface="SimSun" pitchFamily="2" charset="-122"/>
                <a:cs typeface="Times New Roman" charset="0"/>
              </a:rPr>
              <a:t> </a:t>
            </a:r>
            <a:br>
              <a:rPr lang="fr-FR" altLang="zh-CN" sz="4800" dirty="0">
                <a:solidFill>
                  <a:srgbClr val="000000"/>
                </a:solidFill>
                <a:ea typeface="SimSun" pitchFamily="2" charset="-122"/>
                <a:cs typeface="Times New Roman" charset="0"/>
              </a:rPr>
            </a:br>
            <a:r>
              <a:rPr lang="fr-FR" sz="4800" dirty="0">
                <a:solidFill>
                  <a:srgbClr val="000000"/>
                </a:solidFill>
                <a:ea typeface="SimSun" pitchFamily="2" charset="-122"/>
                <a:cs typeface="Times New Roman" charset="0"/>
              </a:rPr>
              <a:t>Administration de l'environnement utilisateur au moyen de la stratégie de groupe </a:t>
            </a:r>
            <a:endParaRPr lang="en-US" sz="4800" dirty="0">
              <a:solidFill>
                <a:srgbClr val="000000"/>
              </a:solidFill>
              <a:ea typeface="SimSun" pitchFamily="2" charset="-122"/>
              <a:cs typeface="Times New Roman" charset="0"/>
            </a:endParaRPr>
          </a:p>
        </p:txBody>
      </p:sp>
      <p:sp>
        <p:nvSpPr>
          <p:cNvPr id="4" name="Rectangle 3"/>
          <p:cNvSpPr/>
          <p:nvPr/>
        </p:nvSpPr>
        <p:spPr>
          <a:xfrm>
            <a:off x="2951028" y="831273"/>
            <a:ext cx="3255818" cy="830997"/>
          </a:xfrm>
          <a:prstGeom prst="rect">
            <a:avLst/>
          </a:prstGeom>
        </p:spPr>
        <p:txBody>
          <a:bodyPr wrap="square">
            <a:spAutoFit/>
          </a:bodyPr>
          <a:lstStyle/>
          <a:p>
            <a:r>
              <a:rPr lang="fr-FR" altLang="zh-CN" sz="4800" dirty="0" smtClean="0">
                <a:solidFill>
                  <a:srgbClr val="000000"/>
                </a:solidFill>
                <a:ea typeface="SimSun" pitchFamily="2" charset="-122"/>
                <a:cs typeface="Times New Roman" charset="0"/>
              </a:rPr>
              <a:t>Module S42 </a:t>
            </a:r>
            <a:endParaRPr lang="fr-FR"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2"/>
          <p:cNvSpPr>
            <a:spLocks noGrp="1" noChangeArrowheads="1"/>
          </p:cNvSpPr>
          <p:nvPr>
            <p:ph type="title"/>
          </p:nvPr>
        </p:nvSpPr>
        <p:spPr/>
        <p:txBody>
          <a:bodyPr/>
          <a:lstStyle/>
          <a:p>
            <a:r>
              <a:rPr lang="fr-FR" altLang="zh-CN" b="1" dirty="0" smtClean="0">
                <a:solidFill>
                  <a:srgbClr val="000000"/>
                </a:solidFill>
                <a:ea typeface="SimSun" pitchFamily="2" charset="-122"/>
                <a:cs typeface="Times New Roman" charset="0"/>
              </a:rPr>
              <a:t>Plan du cours</a:t>
            </a:r>
            <a:endParaRPr lang="en-US" b="1" dirty="0">
              <a:solidFill>
                <a:srgbClr val="000000"/>
              </a:solidFill>
              <a:ea typeface="SimSun" pitchFamily="2" charset="-122"/>
              <a:cs typeface="Times New Roman" charset="0"/>
            </a:endParaRPr>
          </a:p>
        </p:txBody>
      </p:sp>
      <p:sp>
        <p:nvSpPr>
          <p:cNvPr id="287747" name="Rectangle-3"/>
          <p:cNvSpPr>
            <a:spLocks noGrp="1" noChangeArrowheads="1"/>
          </p:cNvSpPr>
          <p:nvPr>
            <p:ph sz="quarter" idx="1"/>
          </p:nvPr>
        </p:nvSpPr>
        <p:spPr>
          <a:xfrm>
            <a:off x="287898" y="1901121"/>
            <a:ext cx="8503920" cy="3003388"/>
          </a:xfrm>
        </p:spPr>
        <p:txBody>
          <a:bodyPr/>
          <a:lstStyle/>
          <a:p>
            <a:pPr marL="514350" indent="-514350">
              <a:buClrTx/>
              <a:buFont typeface="+mj-lt"/>
              <a:buAutoNum type="arabicPeriod"/>
            </a:pPr>
            <a:r>
              <a:rPr lang="fr-FR" altLang="zh-CN" dirty="0">
                <a:solidFill>
                  <a:srgbClr val="000000"/>
                </a:solidFill>
                <a:ea typeface="SimSun" pitchFamily="2" charset="-122"/>
                <a:cs typeface="Times New Roman" charset="0"/>
              </a:rPr>
              <a:t>Configuration de paramètres de stratégie de groupe</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solidFill>
                  <a:srgbClr val="000000"/>
                </a:solidFill>
                <a:ea typeface="SimSun" pitchFamily="2" charset="-122"/>
                <a:cs typeface="Times New Roman" charset="0"/>
              </a:rPr>
              <a:t>Attribution de scripts avec la stratégie de groupe</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solidFill>
                  <a:srgbClr val="000000"/>
                </a:solidFill>
                <a:ea typeface="SimSun" pitchFamily="2" charset="-122"/>
                <a:cs typeface="Times New Roman" charset="0"/>
              </a:rPr>
              <a:t>Configuration de la redirection de dossiers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solidFill>
                  <a:srgbClr val="000000"/>
                </a:solidFill>
                <a:ea typeface="SimSun" pitchFamily="2" charset="-122"/>
                <a:cs typeface="Times New Roman" charset="0"/>
              </a:rPr>
              <a:t>Détermination des objets de stratégie de groupe appliqués</a:t>
            </a:r>
            <a:r>
              <a:rPr lang="en-IE" altLang="zh-CN" dirty="0">
                <a:solidFill>
                  <a:srgbClr val="000000"/>
                </a:solidFill>
                <a:ea typeface="SimSun" pitchFamily="2" charset="-122"/>
                <a:cs typeface="Times New Roman" charset="0"/>
              </a:rPr>
              <a:t> </a:t>
            </a:r>
            <a:endParaRPr lang="en-US"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2"/>
          <p:cNvSpPr>
            <a:spLocks noGrp="1" noChangeArrowheads="1"/>
          </p:cNvSpPr>
          <p:nvPr>
            <p:ph type="title"/>
          </p:nvPr>
        </p:nvSpPr>
        <p:spPr>
          <a:xfrm>
            <a:off x="180109" y="228600"/>
            <a:ext cx="8797636" cy="879764"/>
          </a:xfrm>
        </p:spPr>
        <p:txBody>
          <a:bodyPr>
            <a:normAutofit fontScale="90000"/>
          </a:bodyPr>
          <a:lstStyle/>
          <a:p>
            <a:r>
              <a:rPr lang="fr-FR" altLang="zh-CN" b="1" dirty="0" smtClean="0">
                <a:solidFill>
                  <a:srgbClr val="000000"/>
                </a:solidFill>
                <a:ea typeface="SimSun" pitchFamily="2" charset="-122"/>
                <a:cs typeface="Times New Roman" charset="0"/>
              </a:rPr>
              <a:t>1. Configuration </a:t>
            </a:r>
            <a:r>
              <a:rPr lang="fr-FR" altLang="zh-CN" b="1" dirty="0">
                <a:solidFill>
                  <a:srgbClr val="000000"/>
                </a:solidFill>
                <a:ea typeface="SimSun" pitchFamily="2" charset="-122"/>
                <a:cs typeface="Times New Roman" charset="0"/>
              </a:rPr>
              <a:t>de </a:t>
            </a:r>
            <a:r>
              <a:rPr lang="fr-FR" altLang="zh-CN" b="1" dirty="0" smtClean="0">
                <a:solidFill>
                  <a:srgbClr val="000000"/>
                </a:solidFill>
                <a:ea typeface="SimSun" pitchFamily="2" charset="-122"/>
                <a:cs typeface="Times New Roman" charset="0"/>
              </a:rPr>
              <a:t>paramètres de </a:t>
            </a:r>
            <a:r>
              <a:rPr lang="fr-FR" altLang="zh-CN" b="1" dirty="0">
                <a:solidFill>
                  <a:srgbClr val="000000"/>
                </a:solidFill>
                <a:ea typeface="SimSun" pitchFamily="2" charset="-122"/>
                <a:cs typeface="Times New Roman" charset="0"/>
              </a:rPr>
              <a:t>stratégie de groupe</a:t>
            </a:r>
            <a:r>
              <a:rPr lang="en-IE" altLang="zh-CN" b="1" dirty="0">
                <a:solidFill>
                  <a:srgbClr val="000000"/>
                </a:solidFill>
                <a:ea typeface="SimSun" pitchFamily="2" charset="-122"/>
              </a:rPr>
              <a:t> </a:t>
            </a:r>
            <a:endParaRPr lang="en-US" b="1" dirty="0">
              <a:solidFill>
                <a:srgbClr val="000000"/>
              </a:solidFill>
            </a:endParaRPr>
          </a:p>
        </p:txBody>
      </p:sp>
      <p:sp>
        <p:nvSpPr>
          <p:cNvPr id="288771" name="Rectangle-3"/>
          <p:cNvSpPr>
            <a:spLocks noGrp="1" noChangeArrowheads="1"/>
          </p:cNvSpPr>
          <p:nvPr>
            <p:ph sz="quarter" idx="1"/>
          </p:nvPr>
        </p:nvSpPr>
        <p:spPr>
          <a:xfrm>
            <a:off x="274043" y="1887266"/>
            <a:ext cx="8503920" cy="2975679"/>
          </a:xfrm>
        </p:spPr>
        <p:txBody>
          <a:bodyPr/>
          <a:lstStyle/>
          <a:p>
            <a:pPr>
              <a:buClr>
                <a:srgbClr val="C00000"/>
              </a:buClr>
              <a:buFont typeface="Wingdings" pitchFamily="2" charset="2"/>
              <a:buChar char="q"/>
            </a:pPr>
            <a:r>
              <a:rPr lang="fr-FR" altLang="zh-CN" dirty="0">
                <a:solidFill>
                  <a:srgbClr val="C00000"/>
                </a:solidFill>
                <a:ea typeface="SimSun" pitchFamily="2" charset="-122"/>
                <a:cs typeface="Times New Roman" charset="0"/>
              </a:rPr>
              <a:t>Pourquoi utiliser une stratégie de groupe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pPr>
              <a:buClr>
                <a:srgbClr val="C00000"/>
              </a:buClr>
              <a:buFont typeface="Wingdings" pitchFamily="2" charset="2"/>
              <a:buChar char="q"/>
            </a:pPr>
            <a:r>
              <a:rPr lang="fr-FR" altLang="zh-CN" dirty="0">
                <a:solidFill>
                  <a:srgbClr val="C00000"/>
                </a:solidFill>
                <a:ea typeface="SimSun" pitchFamily="2" charset="-122"/>
                <a:cs typeface="Times New Roman" charset="0"/>
              </a:rPr>
              <a:t>Que sont les paramètres de stratégie de groupe activés et désactivés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pPr>
              <a:buClr>
                <a:srgbClr val="C00000"/>
              </a:buClr>
              <a:buFont typeface="Wingdings" pitchFamily="2" charset="2"/>
              <a:buChar char="q"/>
            </a:pPr>
            <a:r>
              <a:rPr lang="fr-FR" altLang="zh-CN" dirty="0">
                <a:solidFill>
                  <a:srgbClr val="C00000"/>
                </a:solidFill>
                <a:ea typeface="SimSun" pitchFamily="2" charset="-122"/>
                <a:cs typeface="Times New Roman" charset="0"/>
              </a:rPr>
              <a:t>Procédure de modification d'un paramètre de stratégie de groupe</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2"/>
          <p:cNvSpPr>
            <a:spLocks noGrp="1" noChangeArrowheads="1"/>
          </p:cNvSpPr>
          <p:nvPr>
            <p:ph type="title"/>
          </p:nvPr>
        </p:nvSpPr>
        <p:spPr/>
        <p:txBody>
          <a:bodyPr>
            <a:normAutofit fontScale="90000"/>
          </a:bodyPr>
          <a:lstStyle/>
          <a:p>
            <a:r>
              <a:rPr lang="fr-FR" altLang="zh-CN" b="1" dirty="0">
                <a:solidFill>
                  <a:srgbClr val="C00000"/>
                </a:solidFill>
                <a:ea typeface="SimSun" pitchFamily="2" charset="-122"/>
                <a:cs typeface="Times New Roman" charset="0"/>
              </a:rPr>
              <a:t>Pourquoi utiliser une </a:t>
            </a:r>
            <a:r>
              <a:rPr lang="fr-FR" altLang="zh-CN" b="1" dirty="0" smtClean="0">
                <a:solidFill>
                  <a:srgbClr val="C00000"/>
                </a:solidFill>
                <a:ea typeface="SimSun" pitchFamily="2" charset="-122"/>
                <a:cs typeface="Times New Roman" charset="0"/>
              </a:rPr>
              <a:t>stratégie </a:t>
            </a:r>
            <a:r>
              <a:rPr lang="fr-FR" altLang="zh-CN" b="1" dirty="0">
                <a:solidFill>
                  <a:srgbClr val="C00000"/>
                </a:solidFill>
                <a:ea typeface="SimSun" pitchFamily="2" charset="-122"/>
                <a:cs typeface="Times New Roman" charset="0"/>
              </a:rPr>
              <a:t>de groupe ?</a:t>
            </a:r>
            <a:endParaRPr lang="en-US" b="1" dirty="0">
              <a:solidFill>
                <a:srgbClr val="C00000"/>
              </a:solidFill>
              <a:ea typeface="SimSun" pitchFamily="2" charset="-122"/>
              <a:cs typeface="Times New Roman" charset="0"/>
            </a:endParaRPr>
          </a:p>
        </p:txBody>
      </p:sp>
      <p:sp>
        <p:nvSpPr>
          <p:cNvPr id="483333" name="AutoShape-5"/>
          <p:cNvSpPr>
            <a:spLocks noChangeArrowheads="1"/>
          </p:cNvSpPr>
          <p:nvPr/>
        </p:nvSpPr>
        <p:spPr bwMode="auto">
          <a:xfrm>
            <a:off x="526473" y="1777489"/>
            <a:ext cx="7382493" cy="2818261"/>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spcBef>
                <a:spcPct val="40000"/>
              </a:spcBef>
              <a:buSzPct val="80000"/>
              <a:buBlip>
                <a:blip r:embed="rId3"/>
              </a:buBlip>
            </a:pPr>
            <a:r>
              <a:rPr lang="fr-FR" altLang="zh-CN" sz="2600" dirty="0">
                <a:solidFill>
                  <a:srgbClr val="000000"/>
                </a:solidFill>
                <a:ea typeface="SimSun" pitchFamily="2" charset="-122"/>
                <a:cs typeface="Times New Roman" charset="0"/>
              </a:rPr>
              <a:t>Administration des utilisateurs et des ordinateurs</a:t>
            </a:r>
            <a:r>
              <a:rPr lang="en-IE" altLang="zh-CN" sz="2600" dirty="0">
                <a:solidFill>
                  <a:srgbClr val="000000"/>
                </a:solidFill>
                <a:ea typeface="SimSun" pitchFamily="2" charset="-122"/>
                <a:cs typeface="Times New Roman" charset="0"/>
              </a:rPr>
              <a:t> </a:t>
            </a:r>
            <a:r>
              <a:rPr lang="en-US" sz="2600" dirty="0">
                <a:ea typeface="SimSun" pitchFamily="2" charset="-122"/>
                <a:cs typeface="Times New Roman" charset="0"/>
              </a:rPr>
              <a:t> </a:t>
            </a:r>
          </a:p>
          <a:p>
            <a:pPr marL="225425" indent="-225425" algn="l">
              <a:lnSpc>
                <a:spcPct val="85000"/>
              </a:lnSpc>
              <a:spcBef>
                <a:spcPct val="40000"/>
              </a:spcBef>
              <a:buSzPct val="80000"/>
              <a:buBlip>
                <a:blip r:embed="rId3"/>
              </a:buBlip>
            </a:pPr>
            <a:r>
              <a:rPr lang="fr-FR" altLang="zh-CN" sz="2600" dirty="0">
                <a:solidFill>
                  <a:srgbClr val="000000"/>
                </a:solidFill>
                <a:ea typeface="SimSun" pitchFamily="2" charset="-122"/>
                <a:cs typeface="Times New Roman" charset="0"/>
              </a:rPr>
              <a:t>Déploiement de logiciels</a:t>
            </a:r>
            <a:r>
              <a:rPr lang="en-IE" altLang="zh-CN" sz="2600" dirty="0">
                <a:solidFill>
                  <a:srgbClr val="000000"/>
                </a:solidFill>
                <a:ea typeface="SimSun" pitchFamily="2" charset="-122"/>
                <a:cs typeface="Times New Roman" charset="0"/>
              </a:rPr>
              <a:t> </a:t>
            </a:r>
            <a:endParaRPr lang="en-US" sz="2600" dirty="0">
              <a:ea typeface="SimSun" pitchFamily="2" charset="-122"/>
              <a:cs typeface="Times New Roman" charset="0"/>
            </a:endParaRPr>
          </a:p>
          <a:p>
            <a:pPr marL="225425" indent="-225425" algn="l">
              <a:lnSpc>
                <a:spcPct val="85000"/>
              </a:lnSpc>
              <a:spcBef>
                <a:spcPct val="40000"/>
              </a:spcBef>
              <a:buSzPct val="80000"/>
              <a:buBlip>
                <a:blip r:embed="rId3"/>
              </a:buBlip>
            </a:pPr>
            <a:r>
              <a:rPr lang="fr-FR" altLang="zh-CN" sz="2600" dirty="0">
                <a:solidFill>
                  <a:srgbClr val="000000"/>
                </a:solidFill>
                <a:ea typeface="SimSun" pitchFamily="2" charset="-122"/>
                <a:cs typeface="Times New Roman" charset="0"/>
              </a:rPr>
              <a:t>Application des paramètres de sécurité</a:t>
            </a:r>
            <a:r>
              <a:rPr lang="en-IE" altLang="zh-CN" sz="2600" dirty="0">
                <a:solidFill>
                  <a:srgbClr val="000000"/>
                </a:solidFill>
                <a:ea typeface="SimSun" pitchFamily="2" charset="-122"/>
                <a:cs typeface="Times New Roman" charset="0"/>
              </a:rPr>
              <a:t> </a:t>
            </a:r>
            <a:endParaRPr lang="en-US" sz="2600" dirty="0">
              <a:ea typeface="SimSun" pitchFamily="2" charset="-122"/>
              <a:cs typeface="Times New Roman" charset="0"/>
            </a:endParaRPr>
          </a:p>
          <a:p>
            <a:pPr marL="225425" indent="-225425" algn="l">
              <a:lnSpc>
                <a:spcPct val="85000"/>
              </a:lnSpc>
              <a:spcBef>
                <a:spcPct val="40000"/>
              </a:spcBef>
              <a:buSzPct val="80000"/>
              <a:buBlip>
                <a:blip r:embed="rId3"/>
              </a:buBlip>
            </a:pPr>
            <a:r>
              <a:rPr lang="fr-FR" altLang="zh-CN" sz="2600" dirty="0">
                <a:solidFill>
                  <a:srgbClr val="000000"/>
                </a:solidFill>
                <a:ea typeface="SimSun" pitchFamily="2" charset="-122"/>
                <a:cs typeface="Times New Roman" charset="0"/>
              </a:rPr>
              <a:t>Application d'un environnement de Bureau cohérent</a:t>
            </a:r>
            <a:r>
              <a:rPr lang="en-IE" altLang="zh-CN" sz="2600" dirty="0">
                <a:solidFill>
                  <a:srgbClr val="000000"/>
                </a:solidFill>
                <a:ea typeface="SimSun" pitchFamily="2" charset="-122"/>
                <a:cs typeface="Times New Roman" charset="0"/>
              </a:rPr>
              <a:t> </a:t>
            </a:r>
            <a:endParaRPr lang="en-US" sz="2600"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3333">
                                            <p:txEl>
                                              <p:pRg st="0" end="0"/>
                                            </p:txEl>
                                          </p:spTgt>
                                        </p:tgtEl>
                                        <p:attrNameLst>
                                          <p:attrName>style.visibility</p:attrName>
                                        </p:attrNameLst>
                                      </p:cBhvr>
                                      <p:to>
                                        <p:strVal val="visible"/>
                                      </p:to>
                                    </p:set>
                                    <p:animEffect transition="in" filter="checkerboard(across)">
                                      <p:cBhvr>
                                        <p:cTn id="7" dur="1000"/>
                                        <p:tgtEl>
                                          <p:spTgt spid="4833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3333">
                                            <p:txEl>
                                              <p:pRg st="1" end="1"/>
                                            </p:txEl>
                                          </p:spTgt>
                                        </p:tgtEl>
                                        <p:attrNameLst>
                                          <p:attrName>style.visibility</p:attrName>
                                        </p:attrNameLst>
                                      </p:cBhvr>
                                      <p:to>
                                        <p:strVal val="visible"/>
                                      </p:to>
                                    </p:set>
                                    <p:animEffect transition="in" filter="checkerboard(across)">
                                      <p:cBhvr>
                                        <p:cTn id="12" dur="1000"/>
                                        <p:tgtEl>
                                          <p:spTgt spid="4833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83333">
                                            <p:txEl>
                                              <p:pRg st="2" end="2"/>
                                            </p:txEl>
                                          </p:spTgt>
                                        </p:tgtEl>
                                        <p:attrNameLst>
                                          <p:attrName>style.visibility</p:attrName>
                                        </p:attrNameLst>
                                      </p:cBhvr>
                                      <p:to>
                                        <p:strVal val="visible"/>
                                      </p:to>
                                    </p:set>
                                    <p:animEffect transition="in" filter="checkerboard(across)">
                                      <p:cBhvr>
                                        <p:cTn id="17" dur="1000"/>
                                        <p:tgtEl>
                                          <p:spTgt spid="4833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83333">
                                            <p:txEl>
                                              <p:pRg st="3" end="3"/>
                                            </p:txEl>
                                          </p:spTgt>
                                        </p:tgtEl>
                                        <p:attrNameLst>
                                          <p:attrName>style.visibility</p:attrName>
                                        </p:attrNameLst>
                                      </p:cBhvr>
                                      <p:to>
                                        <p:strVal val="visible"/>
                                      </p:to>
                                    </p:set>
                                    <p:animEffect transition="in" filter="checkerboard(across)">
                                      <p:cBhvr>
                                        <p:cTn id="22" dur="1000"/>
                                        <p:tgtEl>
                                          <p:spTgt spid="4833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81" name="AutoShape-17"/>
          <p:cNvSpPr>
            <a:spLocks noChangeArrowheads="1"/>
          </p:cNvSpPr>
          <p:nvPr/>
        </p:nvSpPr>
        <p:spPr bwMode="auto">
          <a:xfrm>
            <a:off x="166255" y="1878012"/>
            <a:ext cx="3879271" cy="4024023"/>
          </a:xfrm>
          <a:prstGeom prst="roundRect">
            <a:avLst>
              <a:gd name="adj" fmla="val 2560"/>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buSzPct val="85000"/>
            </a:pPr>
            <a:endParaRPr lang="en-IE"/>
          </a:p>
        </p:txBody>
      </p:sp>
      <p:sp>
        <p:nvSpPr>
          <p:cNvPr id="395266" name="Rectangle-2"/>
          <p:cNvSpPr>
            <a:spLocks noGrp="1" noChangeArrowheads="1"/>
          </p:cNvSpPr>
          <p:nvPr>
            <p:ph type="title"/>
          </p:nvPr>
        </p:nvSpPr>
        <p:spPr/>
        <p:txBody>
          <a:bodyPr>
            <a:noAutofit/>
          </a:bodyPr>
          <a:lstStyle/>
          <a:p>
            <a:r>
              <a:rPr lang="fr-FR" altLang="zh-CN" sz="2600" b="1" dirty="0">
                <a:solidFill>
                  <a:srgbClr val="C00000"/>
                </a:solidFill>
                <a:ea typeface="SimSun" pitchFamily="2" charset="-122"/>
                <a:cs typeface="Times New Roman" charset="0"/>
              </a:rPr>
              <a:t>Que sont les paramètres de stratégie de groupe activés et désactivés ?</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pic>
        <p:nvPicPr>
          <p:cNvPr id="395297" name="Picture 33" descr="2144A0905a"/>
          <p:cNvPicPr>
            <a:picLocks noGrp="1" noChangeAspect="1" noChangeArrowheads="1"/>
          </p:cNvPicPr>
          <p:nvPr>
            <p:ph sz="quarter" idx="1"/>
          </p:nvPr>
        </p:nvPicPr>
        <p:blipFill>
          <a:blip r:embed="rId3"/>
          <a:srcRect/>
          <a:stretch>
            <a:fillRect/>
          </a:stretch>
        </p:blipFill>
        <p:spPr>
          <a:xfrm>
            <a:off x="231392" y="2074863"/>
            <a:ext cx="3751427" cy="3647064"/>
          </a:xfrm>
          <a:noFill/>
          <a:ln/>
        </p:spPr>
      </p:pic>
      <p:sp>
        <p:nvSpPr>
          <p:cNvPr id="395282" name="AutoShape-18"/>
          <p:cNvSpPr>
            <a:spLocks noChangeArrowheads="1"/>
          </p:cNvSpPr>
          <p:nvPr/>
        </p:nvSpPr>
        <p:spPr bwMode="auto">
          <a:xfrm>
            <a:off x="334378" y="1492250"/>
            <a:ext cx="3430587" cy="492125"/>
          </a:xfrm>
          <a:prstGeom prst="roundRect">
            <a:avLst>
              <a:gd name="adj" fmla="val 19935"/>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ltLang="zh-CN" sz="2400">
                <a:solidFill>
                  <a:srgbClr val="000000"/>
                </a:solidFill>
                <a:ea typeface="SimSun" pitchFamily="2" charset="-122"/>
                <a:cs typeface="Times New Roman" charset="0"/>
              </a:rPr>
              <a:t>Activer / Désactiver</a:t>
            </a:r>
            <a:r>
              <a:rPr lang="en-IE" altLang="zh-CN" sz="2400">
                <a:solidFill>
                  <a:srgbClr val="000000"/>
                </a:solidFill>
                <a:ea typeface="SimSun" pitchFamily="2" charset="-122"/>
                <a:cs typeface="Times New Roman" charset="0"/>
              </a:rPr>
              <a:t> </a:t>
            </a:r>
            <a:endParaRPr lang="en-US" sz="2400">
              <a:solidFill>
                <a:srgbClr val="000000"/>
              </a:solidFill>
              <a:ea typeface="SimSun" pitchFamily="2" charset="-122"/>
              <a:cs typeface="Times New Roman" charset="0"/>
            </a:endParaRPr>
          </a:p>
        </p:txBody>
      </p:sp>
      <p:sp>
        <p:nvSpPr>
          <p:cNvPr id="395283" name="AutoShape-19"/>
          <p:cNvSpPr>
            <a:spLocks noChangeArrowheads="1"/>
          </p:cNvSpPr>
          <p:nvPr/>
        </p:nvSpPr>
        <p:spPr bwMode="auto">
          <a:xfrm>
            <a:off x="4200525" y="1878013"/>
            <a:ext cx="4777220" cy="3774642"/>
          </a:xfrm>
          <a:prstGeom prst="roundRect">
            <a:avLst>
              <a:gd name="adj" fmla="val 995"/>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buSzPct val="85000"/>
            </a:pPr>
            <a:endParaRPr lang="en-IE"/>
          </a:p>
        </p:txBody>
      </p:sp>
      <p:sp>
        <p:nvSpPr>
          <p:cNvPr id="395286" name="AutoShape-22"/>
          <p:cNvSpPr>
            <a:spLocks noChangeArrowheads="1"/>
          </p:cNvSpPr>
          <p:nvPr/>
        </p:nvSpPr>
        <p:spPr bwMode="auto">
          <a:xfrm>
            <a:off x="4429858" y="1492250"/>
            <a:ext cx="4422775" cy="492125"/>
          </a:xfrm>
          <a:prstGeom prst="roundRect">
            <a:avLst>
              <a:gd name="adj" fmla="val 19935"/>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ltLang="zh-CN" sz="2400">
                <a:solidFill>
                  <a:srgbClr val="000000"/>
                </a:solidFill>
                <a:ea typeface="SimSun" pitchFamily="2" charset="-122"/>
                <a:cs typeface="Times New Roman" charset="0"/>
              </a:rPr>
              <a:t>Paramètres à valeurs multiples</a:t>
            </a:r>
            <a:r>
              <a:rPr lang="en-IE" altLang="zh-CN" sz="2400">
                <a:solidFill>
                  <a:srgbClr val="000000"/>
                </a:solidFill>
                <a:ea typeface="SimSun" pitchFamily="2" charset="-122"/>
                <a:cs typeface="Times New Roman" charset="0"/>
              </a:rPr>
              <a:t> </a:t>
            </a:r>
            <a:endParaRPr lang="en-US" sz="2400">
              <a:solidFill>
                <a:srgbClr val="000000"/>
              </a:solidFill>
              <a:ea typeface="SimSun" pitchFamily="2" charset="-122"/>
              <a:cs typeface="Times New Roman" charset="0"/>
            </a:endParaRPr>
          </a:p>
        </p:txBody>
      </p:sp>
      <p:pic>
        <p:nvPicPr>
          <p:cNvPr id="395298" name="Picture 34" descr="2144A0905b"/>
          <p:cNvPicPr>
            <a:picLocks noChangeAspect="1" noChangeArrowheads="1"/>
          </p:cNvPicPr>
          <p:nvPr/>
        </p:nvPicPr>
        <p:blipFill>
          <a:blip r:embed="rId4"/>
          <a:srcRect/>
          <a:stretch>
            <a:fillRect/>
          </a:stretch>
        </p:blipFill>
        <p:spPr bwMode="auto">
          <a:xfrm>
            <a:off x="4238625" y="2074863"/>
            <a:ext cx="4679607" cy="287121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5281"/>
                                        </p:tgtEl>
                                        <p:attrNameLst>
                                          <p:attrName>style.visibility</p:attrName>
                                        </p:attrNameLst>
                                      </p:cBhvr>
                                      <p:to>
                                        <p:strVal val="visible"/>
                                      </p:to>
                                    </p:set>
                                    <p:animEffect transition="in" filter="checkerboard(across)">
                                      <p:cBhvr>
                                        <p:cTn id="7" dur="1000"/>
                                        <p:tgtEl>
                                          <p:spTgt spid="395281"/>
                                        </p:tgtEl>
                                      </p:cBhvr>
                                    </p:animEffect>
                                  </p:childTnLst>
                                </p:cTn>
                              </p:par>
                              <p:par>
                                <p:cTn id="8" presetID="5" presetClass="entr" presetSubtype="10" fill="hold" nodeType="withEffect">
                                  <p:stCondLst>
                                    <p:cond delay="0"/>
                                  </p:stCondLst>
                                  <p:childTnLst>
                                    <p:set>
                                      <p:cBhvr>
                                        <p:cTn id="9" dur="1" fill="hold">
                                          <p:stCondLst>
                                            <p:cond delay="0"/>
                                          </p:stCondLst>
                                        </p:cTn>
                                        <p:tgtEl>
                                          <p:spTgt spid="395297"/>
                                        </p:tgtEl>
                                        <p:attrNameLst>
                                          <p:attrName>style.visibility</p:attrName>
                                        </p:attrNameLst>
                                      </p:cBhvr>
                                      <p:to>
                                        <p:strVal val="visible"/>
                                      </p:to>
                                    </p:set>
                                    <p:animEffect transition="in" filter="checkerboard(across)">
                                      <p:cBhvr>
                                        <p:cTn id="10" dur="1000"/>
                                        <p:tgtEl>
                                          <p:spTgt spid="395297"/>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95282"/>
                                        </p:tgtEl>
                                        <p:attrNameLst>
                                          <p:attrName>style.visibility</p:attrName>
                                        </p:attrNameLst>
                                      </p:cBhvr>
                                      <p:to>
                                        <p:strVal val="visible"/>
                                      </p:to>
                                    </p:set>
                                    <p:animEffect transition="in" filter="checkerboard(across)">
                                      <p:cBhvr>
                                        <p:cTn id="13" dur="1000"/>
                                        <p:tgtEl>
                                          <p:spTgt spid="39528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95286"/>
                                        </p:tgtEl>
                                        <p:attrNameLst>
                                          <p:attrName>style.visibility</p:attrName>
                                        </p:attrNameLst>
                                      </p:cBhvr>
                                      <p:to>
                                        <p:strVal val="visible"/>
                                      </p:to>
                                    </p:set>
                                    <p:animEffect transition="in" filter="checkerboard(across)">
                                      <p:cBhvr>
                                        <p:cTn id="18" dur="500"/>
                                        <p:tgtEl>
                                          <p:spTgt spid="395286"/>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395283"/>
                                        </p:tgtEl>
                                        <p:attrNameLst>
                                          <p:attrName>style.visibility</p:attrName>
                                        </p:attrNameLst>
                                      </p:cBhvr>
                                      <p:to>
                                        <p:strVal val="visible"/>
                                      </p:to>
                                    </p:set>
                                    <p:animEffect transition="in" filter="checkerboard(across)">
                                      <p:cBhvr>
                                        <p:cTn id="21" dur="1000"/>
                                        <p:tgtEl>
                                          <p:spTgt spid="395283"/>
                                        </p:tgtEl>
                                      </p:cBhvr>
                                    </p:animEffect>
                                  </p:childTnLst>
                                </p:cTn>
                              </p:par>
                              <p:par>
                                <p:cTn id="22" presetID="5" presetClass="entr" presetSubtype="10" fill="hold" nodeType="withEffect">
                                  <p:stCondLst>
                                    <p:cond delay="0"/>
                                  </p:stCondLst>
                                  <p:childTnLst>
                                    <p:set>
                                      <p:cBhvr>
                                        <p:cTn id="23" dur="1" fill="hold">
                                          <p:stCondLst>
                                            <p:cond delay="0"/>
                                          </p:stCondLst>
                                        </p:cTn>
                                        <p:tgtEl>
                                          <p:spTgt spid="395298"/>
                                        </p:tgtEl>
                                        <p:attrNameLst>
                                          <p:attrName>style.visibility</p:attrName>
                                        </p:attrNameLst>
                                      </p:cBhvr>
                                      <p:to>
                                        <p:strVal val="visible"/>
                                      </p:to>
                                    </p:set>
                                    <p:animEffect transition="in" filter="checkerboard(across)">
                                      <p:cBhvr>
                                        <p:cTn id="24" dur="1000"/>
                                        <p:tgtEl>
                                          <p:spTgt spid="39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81" grpId="0" animBg="1"/>
      <p:bldP spid="395282" grpId="0" animBg="1"/>
      <p:bldP spid="395283" grpId="0" animBg="1"/>
      <p:bldP spid="39528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5" name="Rectangle-3"/>
          <p:cNvSpPr>
            <a:spLocks noGrp="1" noChangeArrowheads="1"/>
          </p:cNvSpPr>
          <p:nvPr>
            <p:ph type="title"/>
          </p:nvPr>
        </p:nvSpPr>
        <p:spPr>
          <a:xfrm>
            <a:off x="180974" y="133350"/>
            <a:ext cx="8791575" cy="1019175"/>
          </a:xfrm>
        </p:spPr>
        <p:txBody>
          <a:bodyPr>
            <a:normAutofit fontScale="90000"/>
          </a:bodyPr>
          <a:lstStyle/>
          <a:p>
            <a:r>
              <a:rPr lang="fr-FR" altLang="zh-CN" b="1" dirty="0" smtClean="0">
                <a:solidFill>
                  <a:srgbClr val="C00000"/>
                </a:solidFill>
                <a:ea typeface="SimSun" pitchFamily="2" charset="-122"/>
                <a:cs typeface="Times New Roman" charset="0"/>
              </a:rPr>
              <a:t>Exemples de modification </a:t>
            </a:r>
            <a:r>
              <a:rPr lang="fr-FR" altLang="zh-CN" b="1" dirty="0">
                <a:solidFill>
                  <a:srgbClr val="C00000"/>
                </a:solidFill>
                <a:ea typeface="SimSun" pitchFamily="2" charset="-122"/>
                <a:cs typeface="Times New Roman" charset="0"/>
              </a:rPr>
              <a:t>des paramètres de stratégie de groupe</a:t>
            </a:r>
            <a:endParaRPr lang="en-US" sz="3400" b="1" dirty="0">
              <a:solidFill>
                <a:srgbClr val="C00000"/>
              </a:solidFill>
              <a:ea typeface="SimSun" pitchFamily="2" charset="-122"/>
              <a:cs typeface="Times New Roman" charset="0"/>
            </a:endParaRPr>
          </a:p>
        </p:txBody>
      </p:sp>
      <p:sp>
        <p:nvSpPr>
          <p:cNvPr id="545796" name="Rectangle-4"/>
          <p:cNvSpPr>
            <a:spLocks noGrp="1" noChangeArrowheads="1"/>
          </p:cNvSpPr>
          <p:nvPr>
            <p:ph type="body" idx="1"/>
          </p:nvPr>
        </p:nvSpPr>
        <p:spPr>
          <a:xfrm>
            <a:off x="261999" y="2004354"/>
            <a:ext cx="8610600" cy="2769526"/>
          </a:xfrm>
        </p:spPr>
        <p:txBody>
          <a:bodyPr>
            <a:noAutofit/>
          </a:bodyPr>
          <a:lstStyle/>
          <a:p>
            <a:r>
              <a:rPr lang="fr-FR" sz="2400" b="1" dirty="0" smtClean="0"/>
              <a:t>Supprimer le menu Exécuter du menu Démarrer</a:t>
            </a:r>
          </a:p>
          <a:p>
            <a:r>
              <a:rPr lang="fr-FR" sz="2400" b="1" dirty="0" smtClean="0"/>
              <a:t>Empêcher l’accès au Panneau de configuration</a:t>
            </a:r>
          </a:p>
          <a:p>
            <a:r>
              <a:rPr lang="fr-FR" sz="2400" b="1" dirty="0" smtClean="0"/>
              <a:t>Cacher l’icône Favoris réseau sur le bureau</a:t>
            </a:r>
          </a:p>
          <a:p>
            <a:r>
              <a:rPr lang="fr-FR" sz="2400" b="1" dirty="0" smtClean="0"/>
              <a:t>Supprimer les Connexions réseau du menu Démarrer</a:t>
            </a:r>
            <a:endParaRPr lang="en-US" sz="2400"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2"/>
          <p:cNvSpPr>
            <a:spLocks noGrp="1" noChangeArrowheads="1"/>
          </p:cNvSpPr>
          <p:nvPr>
            <p:ph type="title"/>
          </p:nvPr>
        </p:nvSpPr>
        <p:spPr>
          <a:xfrm>
            <a:off x="180109" y="311730"/>
            <a:ext cx="8769927" cy="758952"/>
          </a:xfrm>
        </p:spPr>
        <p:txBody>
          <a:bodyPr>
            <a:normAutofit fontScale="90000"/>
          </a:bodyPr>
          <a:lstStyle/>
          <a:p>
            <a:r>
              <a:rPr lang="fr-FR" altLang="zh-CN" b="1" dirty="0" smtClean="0">
                <a:solidFill>
                  <a:srgbClr val="000000"/>
                </a:solidFill>
                <a:ea typeface="SimSun" pitchFamily="2" charset="-122"/>
                <a:cs typeface="Times New Roman" charset="0"/>
              </a:rPr>
              <a:t>2. Attribution </a:t>
            </a:r>
            <a:r>
              <a:rPr lang="fr-FR" altLang="zh-CN" b="1" dirty="0">
                <a:solidFill>
                  <a:srgbClr val="000000"/>
                </a:solidFill>
                <a:ea typeface="SimSun" pitchFamily="2" charset="-122"/>
                <a:cs typeface="Times New Roman" charset="0"/>
              </a:rPr>
              <a:t>de scripts avec la stratégie de groupe</a:t>
            </a:r>
            <a:r>
              <a:rPr lang="en-IE" altLang="zh-CN" b="1" dirty="0">
                <a:solidFill>
                  <a:srgbClr val="000000"/>
                </a:solidFill>
                <a:ea typeface="SimSun" pitchFamily="2" charset="-122"/>
              </a:rPr>
              <a:t> </a:t>
            </a:r>
            <a:endParaRPr lang="en-US" b="1" dirty="0">
              <a:solidFill>
                <a:srgbClr val="000000"/>
              </a:solidFill>
            </a:endParaRPr>
          </a:p>
        </p:txBody>
      </p:sp>
      <p:sp>
        <p:nvSpPr>
          <p:cNvPr id="492547" name="Rectangle-3"/>
          <p:cNvSpPr>
            <a:spLocks noGrp="1" noChangeArrowheads="1"/>
          </p:cNvSpPr>
          <p:nvPr>
            <p:ph sz="quarter" idx="1"/>
          </p:nvPr>
        </p:nvSpPr>
        <p:spPr>
          <a:xfrm>
            <a:off x="301752" y="1956539"/>
            <a:ext cx="8503920" cy="2726297"/>
          </a:xfrm>
        </p:spPr>
        <p:txBody>
          <a:bodyPr/>
          <a:lstStyle/>
          <a:p>
            <a:pPr>
              <a:buClr>
                <a:srgbClr val="C00000"/>
              </a:buClr>
              <a:buFont typeface="Wingdings" pitchFamily="2" charset="2"/>
              <a:buChar char="q"/>
            </a:pPr>
            <a:r>
              <a:rPr lang="fr-FR" altLang="zh-CN" dirty="0">
                <a:solidFill>
                  <a:srgbClr val="C00000"/>
                </a:solidFill>
                <a:ea typeface="SimSun" pitchFamily="2" charset="-122"/>
                <a:cs typeface="Times New Roman" charset="0"/>
              </a:rPr>
              <a:t>Que sont les paramètres de script de stratégie </a:t>
            </a:r>
            <a:br>
              <a:rPr lang="fr-FR" altLang="zh-CN" dirty="0">
                <a:solidFill>
                  <a:srgbClr val="C00000"/>
                </a:solidFill>
                <a:ea typeface="SimSun" pitchFamily="2" charset="-122"/>
                <a:cs typeface="Times New Roman" charset="0"/>
              </a:rPr>
            </a:br>
            <a:r>
              <a:rPr lang="fr-FR" altLang="zh-CN" dirty="0">
                <a:solidFill>
                  <a:srgbClr val="C00000"/>
                </a:solidFill>
                <a:ea typeface="SimSun" pitchFamily="2" charset="-122"/>
                <a:cs typeface="Times New Roman" charset="0"/>
              </a:rPr>
              <a:t>de groupe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pPr>
              <a:buClr>
                <a:srgbClr val="C00000"/>
              </a:buClr>
              <a:buFont typeface="Wingdings" pitchFamily="2" charset="2"/>
              <a:buChar char="q"/>
            </a:pPr>
            <a:r>
              <a:rPr lang="fr-FR" altLang="zh-CN" dirty="0">
                <a:solidFill>
                  <a:srgbClr val="C00000"/>
                </a:solidFill>
                <a:ea typeface="SimSun" pitchFamily="2" charset="-122"/>
                <a:cs typeface="Times New Roman" charset="0"/>
              </a:rPr>
              <a:t>Procédure d'attribution des scripts avec une stratégie </a:t>
            </a:r>
            <a:br>
              <a:rPr lang="fr-FR" altLang="zh-CN" dirty="0">
                <a:solidFill>
                  <a:srgbClr val="C00000"/>
                </a:solidFill>
                <a:ea typeface="SimSun" pitchFamily="2" charset="-122"/>
                <a:cs typeface="Times New Roman" charset="0"/>
              </a:rPr>
            </a:br>
            <a:r>
              <a:rPr lang="fr-FR" altLang="zh-CN" dirty="0">
                <a:solidFill>
                  <a:srgbClr val="C00000"/>
                </a:solidFill>
                <a:ea typeface="SimSun" pitchFamily="2" charset="-122"/>
                <a:cs typeface="Times New Roman" charset="0"/>
              </a:rPr>
              <a:t>de groupe</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2"/>
          <p:cNvSpPr>
            <a:spLocks noGrp="1" noChangeArrowheads="1"/>
          </p:cNvSpPr>
          <p:nvPr>
            <p:ph type="title"/>
          </p:nvPr>
        </p:nvSpPr>
        <p:spPr>
          <a:xfrm>
            <a:off x="301752" y="359225"/>
            <a:ext cx="8534400" cy="758952"/>
          </a:xfrm>
        </p:spPr>
        <p:txBody>
          <a:bodyPr>
            <a:normAutofit fontScale="90000"/>
          </a:bodyPr>
          <a:lstStyle/>
          <a:p>
            <a:r>
              <a:rPr lang="fr-FR" altLang="zh-CN" b="1" dirty="0">
                <a:solidFill>
                  <a:srgbClr val="C00000"/>
                </a:solidFill>
                <a:ea typeface="SimSun" pitchFamily="2" charset="-122"/>
                <a:cs typeface="Times New Roman" charset="0"/>
              </a:rPr>
              <a:t>Que sont les paramètres de script de stratégie de groupe ?</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493571" name="Rectangle-3"/>
          <p:cNvSpPr>
            <a:spLocks noGrp="1" noChangeArrowheads="1"/>
          </p:cNvSpPr>
          <p:nvPr>
            <p:ph sz="quarter" idx="1"/>
          </p:nvPr>
        </p:nvSpPr>
        <p:spPr>
          <a:xfrm>
            <a:off x="302816" y="4143500"/>
            <a:ext cx="8575964" cy="1829789"/>
          </a:xfrm>
          <a:solidFill>
            <a:srgbClr val="E4E4BF"/>
          </a:solidFill>
          <a:ln w="28575">
            <a:solidFill>
              <a:srgbClr val="D5D69C"/>
            </a:solidFill>
          </a:ln>
        </p:spPr>
        <p:txBody>
          <a:bodyPr>
            <a:normAutofit/>
          </a:bodyPr>
          <a:lstStyle/>
          <a:p>
            <a:pPr>
              <a:buFont typeface="Wingdings" charset="2"/>
              <a:buNone/>
            </a:pPr>
            <a:r>
              <a:rPr lang="fr-FR" altLang="zh-CN" sz="2200" dirty="0">
                <a:solidFill>
                  <a:srgbClr val="000000"/>
                </a:solidFill>
                <a:ea typeface="SimSun" pitchFamily="2" charset="-122"/>
                <a:cs typeface="Times New Roman" charset="0"/>
              </a:rPr>
              <a:t>Set </a:t>
            </a:r>
            <a:r>
              <a:rPr lang="fr-FR" altLang="zh-CN" sz="2200" dirty="0" err="1">
                <a:solidFill>
                  <a:srgbClr val="000000"/>
                </a:solidFill>
                <a:ea typeface="SimSun" pitchFamily="2" charset="-122"/>
                <a:cs typeface="Times New Roman" charset="0"/>
              </a:rPr>
              <a:t>objNetwork</a:t>
            </a:r>
            <a:r>
              <a:rPr lang="fr-FR" altLang="zh-CN" sz="2200" dirty="0">
                <a:solidFill>
                  <a:srgbClr val="000000"/>
                </a:solidFill>
                <a:ea typeface="SimSun" pitchFamily="2" charset="-122"/>
                <a:cs typeface="Times New Roman" charset="0"/>
              </a:rPr>
              <a:t> = </a:t>
            </a:r>
            <a:r>
              <a:rPr lang="fr-FR" altLang="zh-CN" sz="2200" dirty="0" err="1" smtClean="0">
                <a:solidFill>
                  <a:srgbClr val="000000"/>
                </a:solidFill>
                <a:ea typeface="SimSun" pitchFamily="2" charset="-122"/>
                <a:cs typeface="Times New Roman" charset="0"/>
              </a:rPr>
              <a:t>Wscript.CreateObject</a:t>
            </a:r>
            <a:r>
              <a:rPr lang="fr-FR" altLang="zh-CN" sz="2200" dirty="0" smtClean="0">
                <a:solidFill>
                  <a:srgbClr val="000000"/>
                </a:solidFill>
                <a:ea typeface="SimSun" pitchFamily="2" charset="-122"/>
                <a:cs typeface="Times New Roman" charset="0"/>
              </a:rPr>
              <a:t>(«</a:t>
            </a:r>
            <a:r>
              <a:rPr lang="fr-FR" altLang="zh-CN" sz="2200" dirty="0" err="1" smtClean="0">
                <a:solidFill>
                  <a:srgbClr val="000000"/>
                </a:solidFill>
                <a:ea typeface="SimSun" pitchFamily="2" charset="-122"/>
                <a:cs typeface="Times New Roman" charset="0"/>
              </a:rPr>
              <a:t>WScript.Network</a:t>
            </a:r>
            <a:r>
              <a:rPr lang="fr-FR" altLang="zh-CN" sz="2200" dirty="0">
                <a:solidFill>
                  <a:srgbClr val="000000"/>
                </a:solidFill>
                <a:ea typeface="SimSun" pitchFamily="2" charset="-122"/>
                <a:cs typeface="Times New Roman" charset="0"/>
              </a:rPr>
              <a:t>»)</a:t>
            </a:r>
            <a:r>
              <a:rPr lang="en-IE" altLang="zh-CN" sz="2200" dirty="0">
                <a:solidFill>
                  <a:srgbClr val="000000"/>
                </a:solidFill>
                <a:ea typeface="SimSun" pitchFamily="2" charset="-122"/>
                <a:cs typeface="Times New Roman" charset="0"/>
              </a:rPr>
              <a:t> </a:t>
            </a:r>
            <a:endParaRPr lang="en-US" sz="2200" dirty="0">
              <a:ea typeface="SimSun" pitchFamily="2" charset="-122"/>
              <a:cs typeface="Times New Roman" charset="0"/>
            </a:endParaRPr>
          </a:p>
          <a:p>
            <a:pPr>
              <a:buFont typeface="Wingdings" charset="2"/>
              <a:buNone/>
            </a:pPr>
            <a:r>
              <a:rPr lang="fr-FR" altLang="zh-CN" sz="2200" dirty="0" err="1" smtClean="0">
                <a:solidFill>
                  <a:srgbClr val="000000"/>
                </a:solidFill>
                <a:ea typeface="SimSun" pitchFamily="2" charset="-122"/>
                <a:cs typeface="Times New Roman" charset="0"/>
              </a:rPr>
              <a:t>objNetwork.MapNetworkDrive«G</a:t>
            </a:r>
            <a:r>
              <a:rPr lang="fr-FR" altLang="zh-CN" sz="2200" dirty="0" smtClean="0">
                <a:solidFill>
                  <a:srgbClr val="000000"/>
                </a:solidFill>
                <a:ea typeface="SimSun" pitchFamily="2" charset="-122"/>
                <a:cs typeface="Times New Roman" charset="0"/>
              </a:rPr>
              <a:t>:», «\\</a:t>
            </a:r>
            <a:r>
              <a:rPr lang="fr-FR" altLang="zh-CN" sz="2200" i="1" dirty="0" smtClean="0">
                <a:solidFill>
                  <a:srgbClr val="000000"/>
                </a:solidFill>
                <a:ea typeface="SimSun" pitchFamily="2" charset="-122"/>
                <a:cs typeface="Times New Roman" charset="0"/>
              </a:rPr>
              <a:t>DossierPartagé</a:t>
            </a:r>
            <a:r>
              <a:rPr lang="fr-FR" altLang="zh-CN" sz="2200" dirty="0" smtClean="0">
                <a:solidFill>
                  <a:srgbClr val="000000"/>
                </a:solidFill>
                <a:ea typeface="SimSun" pitchFamily="2" charset="-122"/>
                <a:cs typeface="Times New Roman" charset="0"/>
              </a:rPr>
              <a:t>»</a:t>
            </a:r>
            <a:r>
              <a:rPr lang="en-IE" altLang="zh-CN" sz="2200" dirty="0" smtClean="0">
                <a:solidFill>
                  <a:srgbClr val="000000"/>
                </a:solidFill>
                <a:ea typeface="SimSun" pitchFamily="2" charset="-122"/>
                <a:cs typeface="Times New Roman" charset="0"/>
              </a:rPr>
              <a:t> </a:t>
            </a:r>
            <a:endParaRPr lang="en-US" sz="2200" dirty="0" smtClean="0">
              <a:ea typeface="SimSun" pitchFamily="2" charset="-122"/>
              <a:cs typeface="Times New Roman" charset="0"/>
            </a:endParaRPr>
          </a:p>
          <a:p>
            <a:pPr>
              <a:buFont typeface="Wingdings" charset="2"/>
              <a:buNone/>
            </a:pPr>
            <a:r>
              <a:rPr lang="fr-FR" altLang="zh-CN" sz="2200" dirty="0" err="1" smtClean="0">
                <a:solidFill>
                  <a:srgbClr val="000000"/>
                </a:solidFill>
                <a:ea typeface="SimSun" pitchFamily="2" charset="-122"/>
                <a:cs typeface="Times New Roman" charset="0"/>
              </a:rPr>
              <a:t>msgbox</a:t>
            </a:r>
            <a:r>
              <a:rPr lang="fr-FR" altLang="zh-CN" sz="2200" dirty="0" smtClean="0">
                <a:solidFill>
                  <a:srgbClr val="000000"/>
                </a:solidFill>
                <a:ea typeface="SimSun" pitchFamily="2" charset="-122"/>
                <a:cs typeface="Times New Roman" charset="0"/>
              </a:rPr>
              <a:t> «Votre script a fonctionné !!!!!»</a:t>
            </a:r>
            <a:r>
              <a:rPr lang="en-IE" altLang="zh-CN" sz="2200" dirty="0" smtClean="0">
                <a:solidFill>
                  <a:srgbClr val="000000"/>
                </a:solidFill>
                <a:ea typeface="SimSun" pitchFamily="2" charset="-122"/>
                <a:cs typeface="Times New Roman" charset="0"/>
              </a:rPr>
              <a:t> </a:t>
            </a:r>
            <a:endParaRPr lang="en-US" sz="2200" dirty="0">
              <a:solidFill>
                <a:srgbClr val="000000"/>
              </a:solidFill>
              <a:ea typeface="SimSun" pitchFamily="2" charset="-122"/>
              <a:cs typeface="Times New Roman" charset="0"/>
            </a:endParaRPr>
          </a:p>
        </p:txBody>
      </p:sp>
      <p:sp>
        <p:nvSpPr>
          <p:cNvPr id="4" name="Rectangle 3"/>
          <p:cNvSpPr/>
          <p:nvPr/>
        </p:nvSpPr>
        <p:spPr>
          <a:xfrm>
            <a:off x="148441" y="1404073"/>
            <a:ext cx="8793678" cy="2462213"/>
          </a:xfrm>
          <a:prstGeom prst="rect">
            <a:avLst/>
          </a:prstGeom>
        </p:spPr>
        <p:txBody>
          <a:bodyPr wrap="square">
            <a:spAutoFit/>
          </a:bodyPr>
          <a:lstStyle/>
          <a:p>
            <a:pPr algn="l">
              <a:buFont typeface="Wingdings" pitchFamily="2" charset="2"/>
              <a:buChar char="q"/>
            </a:pPr>
            <a:r>
              <a:rPr lang="fr-FR" sz="2200" dirty="0" smtClean="0">
                <a:latin typeface="Arial" pitchFamily="34" charset="0"/>
                <a:cs typeface="Arial" pitchFamily="34" charset="0"/>
              </a:rPr>
              <a:t> </a:t>
            </a:r>
            <a:r>
              <a:rPr lang="fr-FR" sz="2200" b="0" dirty="0" smtClean="0">
                <a:latin typeface="Arial" pitchFamily="34" charset="0"/>
                <a:cs typeface="Arial" pitchFamily="34" charset="0"/>
              </a:rPr>
              <a:t>Vous pouvez utiliser une GPO pour déployer des scripts sur des ordinateurs et à l’attention d’utilisateurs. </a:t>
            </a:r>
          </a:p>
          <a:p>
            <a:pPr algn="l">
              <a:buFont typeface="Wingdings" pitchFamily="2" charset="2"/>
              <a:buChar char="q"/>
            </a:pPr>
            <a:r>
              <a:rPr lang="fr-FR" sz="2200" b="0" dirty="0" smtClean="0">
                <a:latin typeface="Arial" pitchFamily="34" charset="0"/>
                <a:cs typeface="Arial" pitchFamily="34" charset="0"/>
              </a:rPr>
              <a:t> Un script est un fichier qui peut exécuter du code ou effectuer des tâches d’administration. </a:t>
            </a:r>
          </a:p>
          <a:p>
            <a:pPr algn="l">
              <a:buFont typeface="Wingdings" pitchFamily="2" charset="2"/>
              <a:buChar char="q"/>
            </a:pPr>
            <a:r>
              <a:rPr lang="fr-FR" sz="2200" b="0" dirty="0" smtClean="0">
                <a:latin typeface="Arial" pitchFamily="34" charset="0"/>
                <a:cs typeface="Arial" pitchFamily="34" charset="0"/>
              </a:rPr>
              <a:t> Vous pouvez utiliser une GPO pour exécuter des scripts au démarrage et à l’arrêt d’un ordinateur et à l’ouverture et la fermeture d’une session.</a:t>
            </a:r>
            <a:endParaRPr lang="fr-FR" sz="2200" b="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heckerboard(across)">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heckerboard(across)">
                                      <p:cBhvr>
                                        <p:cTn id="17" dur="1000"/>
                                        <p:tgtEl>
                                          <p:spTgt spid="4">
                                            <p:txEl>
                                              <p:pRg st="2" end="2"/>
                                            </p:txEl>
                                          </p:spTgt>
                                        </p:tgtEl>
                                      </p:cBhvr>
                                    </p:animEffect>
                                  </p:childTnLst>
                                </p:cTn>
                              </p:par>
                            </p:childTnLst>
                          </p:cTn>
                        </p:par>
                        <p:par>
                          <p:cTn id="18" fill="hold">
                            <p:stCondLst>
                              <p:cond delay="1000"/>
                            </p:stCondLst>
                            <p:childTnLst>
                              <p:par>
                                <p:cTn id="19" presetID="5" presetClass="entr" presetSubtype="10" fill="hold" grpId="0" nodeType="afterEffect">
                                  <p:stCondLst>
                                    <p:cond delay="0"/>
                                  </p:stCondLst>
                                  <p:childTnLst>
                                    <p:set>
                                      <p:cBhvr>
                                        <p:cTn id="20" dur="1" fill="hold">
                                          <p:stCondLst>
                                            <p:cond delay="0"/>
                                          </p:stCondLst>
                                        </p:cTn>
                                        <p:tgtEl>
                                          <p:spTgt spid="493571">
                                            <p:bg/>
                                          </p:spTgt>
                                        </p:tgtEl>
                                        <p:attrNameLst>
                                          <p:attrName>style.visibility</p:attrName>
                                        </p:attrNameLst>
                                      </p:cBhvr>
                                      <p:to>
                                        <p:strVal val="visible"/>
                                      </p:to>
                                    </p:set>
                                    <p:animEffect transition="in" filter="checkerboard(across)">
                                      <p:cBhvr>
                                        <p:cTn id="21" dur="1000"/>
                                        <p:tgtEl>
                                          <p:spTgt spid="493571">
                                            <p:bg/>
                                          </p:spTgt>
                                        </p:tgtEl>
                                      </p:cBhvr>
                                    </p:animEffect>
                                  </p:childTnLst>
                                </p:cTn>
                              </p:par>
                            </p:childTnLst>
                          </p:cTn>
                        </p:par>
                        <p:par>
                          <p:cTn id="22" fill="hold">
                            <p:stCondLst>
                              <p:cond delay="2000"/>
                            </p:stCondLst>
                            <p:childTnLst>
                              <p:par>
                                <p:cTn id="23" presetID="5" presetClass="entr" presetSubtype="10" fill="hold" grpId="0" nodeType="afterEffect">
                                  <p:stCondLst>
                                    <p:cond delay="0"/>
                                  </p:stCondLst>
                                  <p:childTnLst>
                                    <p:set>
                                      <p:cBhvr>
                                        <p:cTn id="24" dur="1" fill="hold">
                                          <p:stCondLst>
                                            <p:cond delay="0"/>
                                          </p:stCondLst>
                                        </p:cTn>
                                        <p:tgtEl>
                                          <p:spTgt spid="493571">
                                            <p:txEl>
                                              <p:pRg st="0" end="0"/>
                                            </p:txEl>
                                          </p:spTgt>
                                        </p:tgtEl>
                                        <p:attrNameLst>
                                          <p:attrName>style.visibility</p:attrName>
                                        </p:attrNameLst>
                                      </p:cBhvr>
                                      <p:to>
                                        <p:strVal val="visible"/>
                                      </p:to>
                                    </p:set>
                                    <p:animEffect transition="in" filter="checkerboard(across)">
                                      <p:cBhvr>
                                        <p:cTn id="25" dur="1000"/>
                                        <p:tgtEl>
                                          <p:spTgt spid="493571">
                                            <p:txEl>
                                              <p:pRg st="0" end="0"/>
                                            </p:txEl>
                                          </p:spTgt>
                                        </p:tgtEl>
                                      </p:cBhvr>
                                    </p:animEffect>
                                  </p:childTnLst>
                                </p:cTn>
                              </p:par>
                            </p:childTnLst>
                          </p:cTn>
                        </p:par>
                        <p:par>
                          <p:cTn id="26" fill="hold">
                            <p:stCondLst>
                              <p:cond delay="3000"/>
                            </p:stCondLst>
                            <p:childTnLst>
                              <p:par>
                                <p:cTn id="27" presetID="5" presetClass="entr" presetSubtype="10" fill="hold" grpId="0" nodeType="afterEffect">
                                  <p:stCondLst>
                                    <p:cond delay="0"/>
                                  </p:stCondLst>
                                  <p:childTnLst>
                                    <p:set>
                                      <p:cBhvr>
                                        <p:cTn id="28" dur="1" fill="hold">
                                          <p:stCondLst>
                                            <p:cond delay="0"/>
                                          </p:stCondLst>
                                        </p:cTn>
                                        <p:tgtEl>
                                          <p:spTgt spid="493571">
                                            <p:txEl>
                                              <p:pRg st="1" end="1"/>
                                            </p:txEl>
                                          </p:spTgt>
                                        </p:tgtEl>
                                        <p:attrNameLst>
                                          <p:attrName>style.visibility</p:attrName>
                                        </p:attrNameLst>
                                      </p:cBhvr>
                                      <p:to>
                                        <p:strVal val="visible"/>
                                      </p:to>
                                    </p:set>
                                    <p:animEffect transition="in" filter="checkerboard(across)">
                                      <p:cBhvr>
                                        <p:cTn id="29" dur="1000"/>
                                        <p:tgtEl>
                                          <p:spTgt spid="493571">
                                            <p:txEl>
                                              <p:pRg st="1" end="1"/>
                                            </p:txEl>
                                          </p:spTgt>
                                        </p:tgtEl>
                                      </p:cBhvr>
                                    </p:animEffect>
                                  </p:childTnLst>
                                </p:cTn>
                              </p:par>
                            </p:childTnLst>
                          </p:cTn>
                        </p:par>
                        <p:par>
                          <p:cTn id="30" fill="hold">
                            <p:stCondLst>
                              <p:cond delay="4000"/>
                            </p:stCondLst>
                            <p:childTnLst>
                              <p:par>
                                <p:cTn id="31" presetID="5" presetClass="entr" presetSubtype="10" fill="hold" grpId="0" nodeType="afterEffect">
                                  <p:stCondLst>
                                    <p:cond delay="0"/>
                                  </p:stCondLst>
                                  <p:childTnLst>
                                    <p:set>
                                      <p:cBhvr>
                                        <p:cTn id="32" dur="1" fill="hold">
                                          <p:stCondLst>
                                            <p:cond delay="0"/>
                                          </p:stCondLst>
                                        </p:cTn>
                                        <p:tgtEl>
                                          <p:spTgt spid="493571">
                                            <p:txEl>
                                              <p:pRg st="2" end="2"/>
                                            </p:txEl>
                                          </p:spTgt>
                                        </p:tgtEl>
                                        <p:attrNameLst>
                                          <p:attrName>style.visibility</p:attrName>
                                        </p:attrNameLst>
                                      </p:cBhvr>
                                      <p:to>
                                        <p:strVal val="visible"/>
                                      </p:to>
                                    </p:set>
                                    <p:animEffect transition="in" filter="checkerboard(across)">
                                      <p:cBhvr>
                                        <p:cTn id="33" dur="1000"/>
                                        <p:tgtEl>
                                          <p:spTgt spid="493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1"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2"/>
          <p:cNvSpPr>
            <a:spLocks noGrp="1" noChangeArrowheads="1"/>
          </p:cNvSpPr>
          <p:nvPr>
            <p:ph type="title"/>
          </p:nvPr>
        </p:nvSpPr>
        <p:spPr>
          <a:xfrm>
            <a:off x="180109" y="166255"/>
            <a:ext cx="8783782" cy="932133"/>
          </a:xfrm>
        </p:spPr>
        <p:txBody>
          <a:bodyPr>
            <a:normAutofit fontScale="90000"/>
          </a:bodyPr>
          <a:lstStyle/>
          <a:p>
            <a:r>
              <a:rPr lang="fr-FR" altLang="zh-CN" b="1" dirty="0" smtClean="0">
                <a:solidFill>
                  <a:srgbClr val="000000"/>
                </a:solidFill>
                <a:ea typeface="SimSun" pitchFamily="2" charset="-122"/>
                <a:cs typeface="Times New Roman" charset="0"/>
              </a:rPr>
              <a:t>3. Configuration </a:t>
            </a:r>
            <a:r>
              <a:rPr lang="fr-FR" altLang="zh-CN" b="1" dirty="0">
                <a:solidFill>
                  <a:srgbClr val="000000"/>
                </a:solidFill>
                <a:ea typeface="SimSun" pitchFamily="2" charset="-122"/>
                <a:cs typeface="Times New Roman" charset="0"/>
              </a:rPr>
              <a:t>de la </a:t>
            </a:r>
            <a:r>
              <a:rPr lang="fr-FR" altLang="zh-CN" b="1" dirty="0" smtClean="0">
                <a:solidFill>
                  <a:srgbClr val="000000"/>
                </a:solidFill>
                <a:ea typeface="SimSun" pitchFamily="2" charset="-122"/>
                <a:cs typeface="Times New Roman" charset="0"/>
              </a:rPr>
              <a:t>redirection de </a:t>
            </a:r>
            <a:r>
              <a:rPr lang="fr-FR" altLang="zh-CN" b="1" dirty="0">
                <a:solidFill>
                  <a:srgbClr val="000000"/>
                </a:solidFill>
                <a:ea typeface="SimSun" pitchFamily="2" charset="-122"/>
                <a:cs typeface="Times New Roman" charset="0"/>
              </a:rPr>
              <a:t>dossiers</a:t>
            </a:r>
            <a:r>
              <a:rPr lang="en-IE" altLang="zh-CN" b="1" dirty="0">
                <a:solidFill>
                  <a:srgbClr val="000000"/>
                </a:solidFill>
                <a:ea typeface="SimSun" pitchFamily="2" charset="-122"/>
              </a:rPr>
              <a:t> </a:t>
            </a:r>
            <a:r>
              <a:rPr lang="en-US" b="1" dirty="0"/>
              <a:t> </a:t>
            </a:r>
          </a:p>
        </p:txBody>
      </p:sp>
      <p:sp>
        <p:nvSpPr>
          <p:cNvPr id="497667" name="Rectangle-3"/>
          <p:cNvSpPr>
            <a:spLocks noGrp="1" noChangeArrowheads="1"/>
          </p:cNvSpPr>
          <p:nvPr>
            <p:ph sz="quarter" idx="1"/>
          </p:nvPr>
        </p:nvSpPr>
        <p:spPr/>
        <p:txBody>
          <a:bodyPr/>
          <a:lstStyle/>
          <a:p>
            <a:pPr>
              <a:buClr>
                <a:srgbClr val="C00000"/>
              </a:buClr>
              <a:buFont typeface="Wingdings" pitchFamily="2" charset="2"/>
              <a:buChar char="q"/>
            </a:pPr>
            <a:r>
              <a:rPr lang="fr-FR" altLang="zh-CN" dirty="0">
                <a:solidFill>
                  <a:srgbClr val="C00000"/>
                </a:solidFill>
                <a:ea typeface="SimSun" pitchFamily="2" charset="-122"/>
                <a:cs typeface="Times New Roman" charset="0"/>
              </a:rPr>
              <a:t>Qu'est-ce que la redirection de dossiers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pPr>
              <a:buClr>
                <a:srgbClr val="C00000"/>
              </a:buClr>
              <a:buFont typeface="Wingdings" pitchFamily="2" charset="2"/>
              <a:buChar char="q"/>
            </a:pPr>
            <a:r>
              <a:rPr lang="fr-FR" altLang="zh-CN" dirty="0">
                <a:solidFill>
                  <a:srgbClr val="C00000"/>
                </a:solidFill>
                <a:ea typeface="SimSun" pitchFamily="2" charset="-122"/>
                <a:cs typeface="Times New Roman" charset="0"/>
              </a:rPr>
              <a:t>Dossiers pouvant être redirigés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pPr>
              <a:buClr>
                <a:srgbClr val="C00000"/>
              </a:buClr>
              <a:buFont typeface="Wingdings" pitchFamily="2" charset="2"/>
              <a:buChar char="q"/>
            </a:pPr>
            <a:r>
              <a:rPr lang="en-US" dirty="0" err="1">
                <a:solidFill>
                  <a:srgbClr val="C00000"/>
                </a:solidFill>
                <a:ea typeface="SimSun" pitchFamily="2" charset="-122"/>
                <a:cs typeface="Times New Roman" charset="0"/>
              </a:rPr>
              <a:t>Param</a:t>
            </a:r>
            <a:r>
              <a:rPr lang="fr-FR" altLang="zh-CN" dirty="0" err="1">
                <a:solidFill>
                  <a:srgbClr val="C00000"/>
                </a:solidFill>
                <a:ea typeface="SimSun" pitchFamily="2" charset="-122"/>
                <a:cs typeface="Times New Roman" charset="0"/>
              </a:rPr>
              <a:t>ètres</a:t>
            </a:r>
            <a:r>
              <a:rPr lang="fr-FR" altLang="zh-CN" dirty="0">
                <a:solidFill>
                  <a:srgbClr val="C00000"/>
                </a:solidFill>
                <a:ea typeface="SimSun" pitchFamily="2" charset="-122"/>
                <a:cs typeface="Times New Roman" charset="0"/>
              </a:rPr>
              <a:t> requis pour la configuration de la redirection de dossiers</a:t>
            </a:r>
            <a:endParaRPr lang="en-US" dirty="0">
              <a:solidFill>
                <a:srgbClr val="C00000"/>
              </a:solidFill>
              <a:ea typeface="SimSun" pitchFamily="2" charset="-122"/>
              <a:cs typeface="Times New Roman" charset="0"/>
              <a:hlinkClick r:id="" action="ppaction://noaction"/>
              <a:hlinkMouseOver r:id="rId3" action="ppaction://hlinkfile"/>
            </a:endParaRPr>
          </a:p>
          <a:p>
            <a:pPr>
              <a:buClr>
                <a:srgbClr val="C00000"/>
              </a:buClr>
              <a:buFont typeface="Wingdings" pitchFamily="2" charset="2"/>
              <a:buChar char="q"/>
            </a:pPr>
            <a:r>
              <a:rPr lang="fr-FR" altLang="zh-CN" dirty="0" smtClean="0">
                <a:solidFill>
                  <a:srgbClr val="C00000"/>
                </a:solidFill>
                <a:ea typeface="SimSun" pitchFamily="2" charset="-122"/>
                <a:cs typeface="Times New Roman" charset="0"/>
              </a:rPr>
              <a:t>Procédure </a:t>
            </a:r>
            <a:r>
              <a:rPr lang="fr-FR" altLang="zh-CN" dirty="0">
                <a:solidFill>
                  <a:srgbClr val="C00000"/>
                </a:solidFill>
                <a:ea typeface="SimSun" pitchFamily="2" charset="-122"/>
                <a:cs typeface="Times New Roman" charset="0"/>
              </a:rPr>
              <a:t>de configuration de la redirection de dossiers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2"/>
          <p:cNvSpPr>
            <a:spLocks noGrp="1" noChangeArrowheads="1"/>
          </p:cNvSpPr>
          <p:nvPr>
            <p:ph type="title"/>
          </p:nvPr>
        </p:nvSpPr>
        <p:spPr/>
        <p:txBody>
          <a:bodyPr>
            <a:normAutofit fontScale="90000"/>
          </a:bodyPr>
          <a:lstStyle/>
          <a:p>
            <a:r>
              <a:rPr lang="fr-FR" altLang="zh-CN" b="1" dirty="0">
                <a:solidFill>
                  <a:srgbClr val="C00000"/>
                </a:solidFill>
                <a:ea typeface="SimSun" pitchFamily="2" charset="-122"/>
                <a:cs typeface="Times New Roman" charset="0"/>
              </a:rPr>
              <a:t>Qu'est-ce que la redirection de dossiers ?</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499715" name="Rectangle-3"/>
          <p:cNvSpPr>
            <a:spLocks noGrp="1" noChangeArrowheads="1"/>
          </p:cNvSpPr>
          <p:nvPr>
            <p:ph sz="quarter" idx="1"/>
          </p:nvPr>
        </p:nvSpPr>
        <p:spPr>
          <a:xfrm>
            <a:off x="254251" y="1776430"/>
            <a:ext cx="8503920" cy="3603092"/>
          </a:xfrm>
        </p:spPr>
        <p:txBody>
          <a:bodyPr/>
          <a:lstStyle/>
          <a:p>
            <a:r>
              <a:rPr lang="fr-FR" altLang="zh-CN" dirty="0">
                <a:solidFill>
                  <a:srgbClr val="000000"/>
                </a:solidFill>
                <a:ea typeface="SimSun" pitchFamily="2" charset="-122"/>
                <a:cs typeface="Times New Roman" charset="0"/>
              </a:rPr>
              <a:t>La redirection des dossiers permet aux utilisateurs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et administrateurs de rediriger les dossiers vers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un nouvel emplacement</a:t>
            </a:r>
            <a:r>
              <a:rPr lang="en-IE" altLang="zh-CN" dirty="0">
                <a:solidFill>
                  <a:srgbClr val="000000"/>
                </a:solidFill>
                <a:ea typeface="SimSun" pitchFamily="2" charset="-122"/>
                <a:cs typeface="Times New Roman" charset="0"/>
              </a:rPr>
              <a:t> </a:t>
            </a:r>
            <a:r>
              <a:rPr lang="en-US" dirty="0">
                <a:ea typeface="SimSun" pitchFamily="2" charset="-122"/>
                <a:cs typeface="Times New Roman" charset="0"/>
              </a:rPr>
              <a:t> </a:t>
            </a:r>
          </a:p>
          <a:p>
            <a:pPr lvl="1"/>
            <a:r>
              <a:rPr lang="fr-FR" altLang="zh-CN" dirty="0">
                <a:solidFill>
                  <a:srgbClr val="000000"/>
                </a:solidFill>
                <a:ea typeface="SimSun" pitchFamily="2" charset="-122"/>
                <a:cs typeface="Times New Roman" charset="0"/>
              </a:rPr>
              <a:t>Le nouvel emplacement peut être un dossier sur l'ordinateur local ou un dossier partagé sur le réseau</a:t>
            </a:r>
            <a:r>
              <a:rPr lang="en-IE" altLang="zh-CN" dirty="0">
                <a:solidFill>
                  <a:srgbClr val="000000"/>
                </a:solidFill>
                <a:ea typeface="SimSun" pitchFamily="2" charset="-122"/>
              </a:rPr>
              <a:t> </a:t>
            </a:r>
            <a:endParaRPr lang="en-US" dirty="0"/>
          </a:p>
          <a:p>
            <a:pPr lvl="1"/>
            <a:r>
              <a:rPr lang="fr-FR" altLang="zh-CN" dirty="0">
                <a:solidFill>
                  <a:srgbClr val="000000"/>
                </a:solidFill>
                <a:ea typeface="SimSun" pitchFamily="2" charset="-122"/>
              </a:rPr>
              <a:t>Les utilisateurs peuvent travailler avec les documents d'un serveur comme s'ils étaient sur le disque local</a:t>
            </a:r>
            <a:r>
              <a:rPr lang="en-IE" altLang="zh-CN" dirty="0">
                <a:solidFill>
                  <a:srgbClr val="000000"/>
                </a:solidFill>
                <a:ea typeface="SimSun" pitchFamily="2" charset="-122"/>
              </a:rPr>
              <a:t> </a:t>
            </a:r>
            <a:endParaRPr lang="en-US"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99715">
                                            <p:txEl>
                                              <p:pRg st="0" end="0"/>
                                            </p:txEl>
                                          </p:spTgt>
                                        </p:tgtEl>
                                        <p:attrNameLst>
                                          <p:attrName>style.visibility</p:attrName>
                                        </p:attrNameLst>
                                      </p:cBhvr>
                                      <p:to>
                                        <p:strVal val="visible"/>
                                      </p:to>
                                    </p:set>
                                    <p:animEffect transition="in" filter="checkerboard(across)">
                                      <p:cBhvr>
                                        <p:cTn id="7" dur="500"/>
                                        <p:tgtEl>
                                          <p:spTgt spid="49971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99715">
                                            <p:txEl>
                                              <p:pRg st="1" end="1"/>
                                            </p:txEl>
                                          </p:spTgt>
                                        </p:tgtEl>
                                        <p:attrNameLst>
                                          <p:attrName>style.visibility</p:attrName>
                                        </p:attrNameLst>
                                      </p:cBhvr>
                                      <p:to>
                                        <p:strVal val="visible"/>
                                      </p:to>
                                    </p:set>
                                    <p:animEffect transition="in" filter="checkerboard(across)">
                                      <p:cBhvr>
                                        <p:cTn id="10" dur="500"/>
                                        <p:tgtEl>
                                          <p:spTgt spid="49971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99715">
                                            <p:txEl>
                                              <p:pRg st="2" end="2"/>
                                            </p:txEl>
                                          </p:spTgt>
                                        </p:tgtEl>
                                        <p:attrNameLst>
                                          <p:attrName>style.visibility</p:attrName>
                                        </p:attrNameLst>
                                      </p:cBhvr>
                                      <p:to>
                                        <p:strVal val="visible"/>
                                      </p:to>
                                    </p:set>
                                    <p:animEffect transition="in" filter="checkerboard(across)">
                                      <p:cBhvr>
                                        <p:cTn id="13" dur="500"/>
                                        <p:tgtEl>
                                          <p:spTgt spid="499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4" name="Rectangle-4"/>
          <p:cNvSpPr>
            <a:spLocks noGrp="1" noChangeArrowheads="1"/>
          </p:cNvSpPr>
          <p:nvPr>
            <p:ph type="title"/>
          </p:nvPr>
        </p:nvSpPr>
        <p:spPr/>
        <p:txBody>
          <a:bodyPr/>
          <a:lstStyle/>
          <a:p>
            <a:r>
              <a:rPr lang="fr-FR" altLang="zh-CN" b="1" dirty="0">
                <a:solidFill>
                  <a:srgbClr val="C00000"/>
                </a:solidFill>
                <a:ea typeface="SimSun" pitchFamily="2" charset="-122"/>
                <a:cs typeface="Times New Roman" charset="0"/>
              </a:rPr>
              <a:t>Dossiers pouvant être redirigés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01765" name="Rectangle-5"/>
          <p:cNvSpPr>
            <a:spLocks noGrp="1" noChangeArrowheads="1"/>
          </p:cNvSpPr>
          <p:nvPr>
            <p:ph sz="quarter" idx="1"/>
          </p:nvPr>
        </p:nvSpPr>
        <p:spPr/>
        <p:txBody>
          <a:bodyPr/>
          <a:lstStyle/>
          <a:p>
            <a:r>
              <a:rPr lang="fr-FR" altLang="zh-CN" b="1" u="sng" dirty="0">
                <a:solidFill>
                  <a:srgbClr val="C00000"/>
                </a:solidFill>
                <a:ea typeface="SimSun" pitchFamily="2" charset="-122"/>
                <a:cs typeface="Times New Roman" charset="0"/>
              </a:rPr>
              <a:t>Mes </a:t>
            </a:r>
            <a:r>
              <a:rPr lang="fr-FR" altLang="zh-CN" b="1" u="sng" dirty="0" smtClean="0">
                <a:solidFill>
                  <a:srgbClr val="C00000"/>
                </a:solidFill>
                <a:ea typeface="SimSun" pitchFamily="2" charset="-122"/>
                <a:cs typeface="Times New Roman" charset="0"/>
              </a:rPr>
              <a:t>documents</a:t>
            </a:r>
            <a:r>
              <a:rPr lang="fr-FR" altLang="zh-CN" dirty="0" smtClean="0">
                <a:solidFill>
                  <a:srgbClr val="000000"/>
                </a:solidFill>
                <a:ea typeface="SimSun" pitchFamily="2" charset="-122"/>
                <a:cs typeface="Times New Roman" charset="0"/>
              </a:rPr>
              <a:t>: </a:t>
            </a:r>
            <a:r>
              <a:rPr lang="fr-FR" dirty="0" smtClean="0"/>
              <a:t>ce dossier a tendance à prendre du volume au fil du temps</a:t>
            </a:r>
            <a:r>
              <a:rPr lang="en-IE" altLang="zh-CN" dirty="0" smtClean="0">
                <a:solidFill>
                  <a:srgbClr val="000000"/>
                </a:solidFill>
                <a:ea typeface="SimSun" pitchFamily="2" charset="-122"/>
                <a:cs typeface="Times New Roman" charset="0"/>
              </a:rPr>
              <a:t> </a:t>
            </a:r>
            <a:endParaRPr lang="en-US" dirty="0">
              <a:ea typeface="SimSun" pitchFamily="2" charset="-122"/>
              <a:cs typeface="Times New Roman" charset="0"/>
            </a:endParaRPr>
          </a:p>
          <a:p>
            <a:r>
              <a:rPr lang="fr-FR" altLang="zh-CN" b="1" u="sng" dirty="0">
                <a:solidFill>
                  <a:srgbClr val="C00000"/>
                </a:solidFill>
                <a:ea typeface="SimSun" pitchFamily="2" charset="-122"/>
                <a:cs typeface="Times New Roman" charset="0"/>
              </a:rPr>
              <a:t>Application Data</a:t>
            </a:r>
            <a:r>
              <a:rPr lang="en-IE" altLang="zh-CN" b="1" u="sng" dirty="0">
                <a:solidFill>
                  <a:srgbClr val="C00000"/>
                </a:solidFill>
                <a:ea typeface="SimSun" pitchFamily="2" charset="-122"/>
                <a:cs typeface="Times New Roman" charset="0"/>
              </a:rPr>
              <a:t> </a:t>
            </a:r>
            <a:r>
              <a:rPr lang="en-IE" altLang="zh-CN" dirty="0" smtClean="0">
                <a:solidFill>
                  <a:srgbClr val="000000"/>
                </a:solidFill>
                <a:ea typeface="SimSun" pitchFamily="2" charset="-122"/>
                <a:cs typeface="Times New Roman" charset="0"/>
              </a:rPr>
              <a:t>: </a:t>
            </a:r>
            <a:r>
              <a:rPr lang="fr-FR" dirty="0" smtClean="0"/>
              <a:t>Toute modification des données d’application est synchronisée sur le client et sur le serveur</a:t>
            </a:r>
            <a:endParaRPr lang="en-US" dirty="0">
              <a:ea typeface="SimSun" pitchFamily="2" charset="-122"/>
              <a:cs typeface="Times New Roman" charset="0"/>
            </a:endParaRPr>
          </a:p>
          <a:p>
            <a:r>
              <a:rPr lang="fr-FR" altLang="zh-CN" b="1" u="sng" dirty="0">
                <a:solidFill>
                  <a:srgbClr val="C00000"/>
                </a:solidFill>
                <a:ea typeface="SimSun" pitchFamily="2" charset="-122"/>
                <a:cs typeface="Times New Roman" charset="0"/>
              </a:rPr>
              <a:t>Bureau</a:t>
            </a:r>
            <a:r>
              <a:rPr lang="en-IE" altLang="zh-CN" dirty="0">
                <a:solidFill>
                  <a:srgbClr val="000000"/>
                </a:solidFill>
                <a:ea typeface="SimSun" pitchFamily="2" charset="-122"/>
                <a:cs typeface="Times New Roman" charset="0"/>
              </a:rPr>
              <a:t> </a:t>
            </a:r>
            <a:r>
              <a:rPr lang="en-IE" altLang="zh-CN" dirty="0" smtClean="0">
                <a:solidFill>
                  <a:srgbClr val="000000"/>
                </a:solidFill>
                <a:ea typeface="SimSun" pitchFamily="2" charset="-122"/>
                <a:cs typeface="Times New Roman" charset="0"/>
              </a:rPr>
              <a:t>: </a:t>
            </a:r>
            <a:r>
              <a:rPr lang="fr-FR" dirty="0" smtClean="0"/>
              <a:t>le dossier Bureau et tous les fichiers, raccourcis et dossiers qu’il contient</a:t>
            </a:r>
            <a:endParaRPr lang="en-US" dirty="0">
              <a:ea typeface="SimSun" pitchFamily="2" charset="-122"/>
              <a:cs typeface="Times New Roman" charset="0"/>
            </a:endParaRPr>
          </a:p>
          <a:p>
            <a:r>
              <a:rPr lang="fr-FR" altLang="zh-CN" b="1" u="sng" dirty="0">
                <a:solidFill>
                  <a:srgbClr val="C00000"/>
                </a:solidFill>
                <a:ea typeface="SimSun" pitchFamily="2" charset="-122"/>
                <a:cs typeface="Times New Roman" charset="0"/>
              </a:rPr>
              <a:t>Menu Démarrer</a:t>
            </a:r>
            <a:r>
              <a:rPr lang="en-IE" altLang="zh-CN" b="1" u="sng" dirty="0">
                <a:solidFill>
                  <a:srgbClr val="C00000"/>
                </a:solidFill>
                <a:ea typeface="SimSun" pitchFamily="2" charset="-122"/>
                <a:cs typeface="Times New Roman" charset="0"/>
              </a:rPr>
              <a:t> </a:t>
            </a:r>
            <a:r>
              <a:rPr lang="en-IE" altLang="zh-CN" dirty="0" smtClean="0">
                <a:ea typeface="SimSun" pitchFamily="2" charset="-122"/>
                <a:cs typeface="Times New Roman" charset="0"/>
              </a:rPr>
              <a:t>: </a:t>
            </a:r>
            <a:r>
              <a:rPr lang="en-IE" altLang="zh-CN" dirty="0" err="1" smtClean="0">
                <a:ea typeface="SimSun" pitchFamily="2" charset="-122"/>
                <a:cs typeface="Times New Roman" charset="0"/>
              </a:rPr>
              <a:t>aussi</a:t>
            </a:r>
            <a:r>
              <a:rPr lang="en-IE" altLang="zh-CN" dirty="0" smtClean="0">
                <a:ea typeface="SimSun" pitchFamily="2" charset="-122"/>
                <a:cs typeface="Times New Roman" charset="0"/>
              </a:rPr>
              <a:t> </a:t>
            </a:r>
            <a:r>
              <a:rPr lang="fr-FR" dirty="0" smtClean="0"/>
              <a:t>ses sous-dossiers</a:t>
            </a:r>
            <a:endParaRPr lang="en-US" altLang="zh-CN" dirty="0">
              <a:ea typeface="SimSun" pitchFamily="2" charset="-122"/>
              <a:cs typeface="Times New Roman"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2"/>
          <p:cNvSpPr>
            <a:spLocks noGrp="1" noChangeArrowheads="1"/>
          </p:cNvSpPr>
          <p:nvPr>
            <p:ph type="title"/>
          </p:nvPr>
        </p:nvSpPr>
        <p:spPr>
          <a:xfrm>
            <a:off x="180109" y="166255"/>
            <a:ext cx="8783781" cy="858990"/>
          </a:xfrm>
        </p:spPr>
        <p:txBody>
          <a:bodyPr>
            <a:normAutofit fontScale="90000"/>
          </a:bodyPr>
          <a:lstStyle/>
          <a:p>
            <a:r>
              <a:rPr lang="fr-FR" altLang="zh-CN" b="1" dirty="0">
                <a:solidFill>
                  <a:srgbClr val="C00000"/>
                </a:solidFill>
                <a:ea typeface="SimSun" pitchFamily="2" charset="-122"/>
                <a:cs typeface="Times New Roman" charset="0"/>
              </a:rPr>
              <a:t>Paramètres requis pour la configuration </a:t>
            </a:r>
            <a:br>
              <a:rPr lang="fr-FR" altLang="zh-CN" b="1" dirty="0">
                <a:solidFill>
                  <a:srgbClr val="C00000"/>
                </a:solidFill>
                <a:ea typeface="SimSun" pitchFamily="2" charset="-122"/>
                <a:cs typeface="Times New Roman" charset="0"/>
              </a:rPr>
            </a:br>
            <a:r>
              <a:rPr lang="fr-FR" altLang="zh-CN" b="1" dirty="0">
                <a:solidFill>
                  <a:srgbClr val="C00000"/>
                </a:solidFill>
                <a:ea typeface="SimSun" pitchFamily="2" charset="-122"/>
                <a:cs typeface="Times New Roman" charset="0"/>
              </a:rPr>
              <a:t>de la redirection de dossiers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05859" name="Rectangle-3"/>
          <p:cNvSpPr>
            <a:spLocks noGrp="1" noChangeArrowheads="1"/>
          </p:cNvSpPr>
          <p:nvPr>
            <p:ph sz="quarter" idx="1"/>
          </p:nvPr>
        </p:nvSpPr>
        <p:spPr>
          <a:xfrm>
            <a:off x="235527" y="1412875"/>
            <a:ext cx="5818909" cy="4904798"/>
          </a:xfrm>
        </p:spPr>
        <p:txBody>
          <a:bodyPr>
            <a:normAutofit/>
          </a:bodyPr>
          <a:lstStyle/>
          <a:p>
            <a:pPr>
              <a:lnSpc>
                <a:spcPct val="80000"/>
              </a:lnSpc>
            </a:pPr>
            <a:r>
              <a:rPr lang="fr-FR" altLang="zh-CN" dirty="0">
                <a:solidFill>
                  <a:srgbClr val="000000"/>
                </a:solidFill>
                <a:ea typeface="SimSun" pitchFamily="2" charset="-122"/>
                <a:cs typeface="Times New Roman" charset="0"/>
              </a:rPr>
              <a:t>Utilisez la redirection des dossiers de base pour :</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lvl="1">
              <a:lnSpc>
                <a:spcPct val="90000"/>
              </a:lnSpc>
            </a:pPr>
            <a:r>
              <a:rPr lang="fr-FR" altLang="zh-CN" dirty="0">
                <a:solidFill>
                  <a:srgbClr val="000000"/>
                </a:solidFill>
                <a:ea typeface="SimSun" pitchFamily="2" charset="-122"/>
                <a:cs typeface="Times New Roman" charset="0"/>
              </a:rPr>
              <a:t>les utilisateurs qui utilisent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un secteur commun </a:t>
            </a:r>
            <a:r>
              <a:rPr lang="en-IE" altLang="zh-CN" dirty="0">
                <a:solidFill>
                  <a:srgbClr val="000000"/>
                </a:solidFill>
                <a:ea typeface="SimSun" pitchFamily="2" charset="-122"/>
              </a:rPr>
              <a:t> </a:t>
            </a:r>
            <a:endParaRPr lang="en-US" dirty="0"/>
          </a:p>
          <a:p>
            <a:pPr lvl="1">
              <a:lnSpc>
                <a:spcPct val="90000"/>
              </a:lnSpc>
            </a:pPr>
            <a:r>
              <a:rPr lang="fr-FR" altLang="zh-CN" dirty="0" smtClean="0">
                <a:solidFill>
                  <a:srgbClr val="000000"/>
                </a:solidFill>
                <a:ea typeface="SimSun" pitchFamily="2" charset="-122"/>
              </a:rPr>
              <a:t>les </a:t>
            </a:r>
            <a:r>
              <a:rPr lang="fr-FR" altLang="zh-CN" dirty="0">
                <a:solidFill>
                  <a:srgbClr val="000000"/>
                </a:solidFill>
                <a:ea typeface="SimSun" pitchFamily="2" charset="-122"/>
              </a:rPr>
              <a:t>utilisateurs qui utilisent des données privées</a:t>
            </a:r>
            <a:r>
              <a:rPr lang="en-IE" altLang="zh-CN" dirty="0">
                <a:solidFill>
                  <a:srgbClr val="000000"/>
                </a:solidFill>
                <a:ea typeface="SimSun" pitchFamily="2" charset="-122"/>
              </a:rPr>
              <a:t> </a:t>
            </a:r>
            <a:endParaRPr lang="en-US" dirty="0"/>
          </a:p>
          <a:p>
            <a:pPr>
              <a:lnSpc>
                <a:spcPct val="80000"/>
              </a:lnSpc>
            </a:pPr>
            <a:r>
              <a:rPr lang="fr-FR" altLang="zh-CN" dirty="0">
                <a:solidFill>
                  <a:srgbClr val="000000"/>
                </a:solidFill>
                <a:ea typeface="SimSun" pitchFamily="2" charset="-122"/>
              </a:rPr>
              <a:t>Avec la redirection de dossiers avancée, le serveur hébergeant l'emplacement du dossier dépend de l'appartenance à un groupe</a:t>
            </a:r>
            <a:r>
              <a:rPr lang="en-IE" altLang="zh-CN" dirty="0">
                <a:solidFill>
                  <a:srgbClr val="000000"/>
                </a:solidFill>
                <a:ea typeface="SimSun" pitchFamily="2" charset="-122"/>
              </a:rPr>
              <a:t> </a:t>
            </a:r>
            <a:endParaRPr lang="en-US" dirty="0">
              <a:solidFill>
                <a:srgbClr val="000000"/>
              </a:solidFill>
            </a:endParaRPr>
          </a:p>
        </p:txBody>
      </p:sp>
      <p:grpSp>
        <p:nvGrpSpPr>
          <p:cNvPr id="505898" name="Group-42"/>
          <p:cNvGrpSpPr>
            <a:grpSpLocks/>
          </p:cNvGrpSpPr>
          <p:nvPr/>
        </p:nvGrpSpPr>
        <p:grpSpPr bwMode="auto">
          <a:xfrm>
            <a:off x="6077113" y="1228725"/>
            <a:ext cx="2854325" cy="5002213"/>
            <a:chOff x="3149" y="758"/>
            <a:chExt cx="1798" cy="3151"/>
          </a:xfrm>
        </p:grpSpPr>
        <p:sp>
          <p:nvSpPr>
            <p:cNvPr id="505899" name="AutoShape-43"/>
            <p:cNvSpPr>
              <a:spLocks noChangeArrowheads="1"/>
            </p:cNvSpPr>
            <p:nvPr/>
          </p:nvSpPr>
          <p:spPr bwMode="auto">
            <a:xfrm>
              <a:off x="3149" y="758"/>
              <a:ext cx="1798" cy="3151"/>
            </a:xfrm>
            <a:prstGeom prst="roundRect">
              <a:avLst>
                <a:gd name="adj" fmla="val 4167"/>
              </a:avLst>
            </a:prstGeom>
            <a:solidFill>
              <a:srgbClr val="F0F1E1"/>
            </a:solidFill>
            <a:ln w="9525">
              <a:solidFill>
                <a:srgbClr val="808080"/>
              </a:solidFill>
              <a:round/>
              <a:headEnd/>
              <a:tailEnd/>
            </a:ln>
            <a:effectLst>
              <a:outerShdw dist="35921" dir="2700000" algn="ctr" rotWithShape="0">
                <a:srgbClr val="AFAFAF"/>
              </a:outerShdw>
            </a:effectLst>
          </p:spPr>
          <p:txBody>
            <a:bodyPr anchor="ctr"/>
            <a:lstStyle/>
            <a:p>
              <a:pPr marL="177800" indent="-177800" algn="l">
                <a:buSzPct val="85000"/>
              </a:pPr>
              <a:endParaRPr lang="en-IE" b="0"/>
            </a:p>
          </p:txBody>
        </p:sp>
        <p:grpSp>
          <p:nvGrpSpPr>
            <p:cNvPr id="505900" name="Group 44"/>
            <p:cNvGrpSpPr>
              <a:grpSpLocks/>
            </p:cNvGrpSpPr>
            <p:nvPr/>
          </p:nvGrpSpPr>
          <p:grpSpPr bwMode="auto">
            <a:xfrm>
              <a:off x="3270" y="835"/>
              <a:ext cx="1577" cy="3009"/>
              <a:chOff x="883" y="835"/>
              <a:chExt cx="1577" cy="3009"/>
            </a:xfrm>
          </p:grpSpPr>
          <p:sp>
            <p:nvSpPr>
              <p:cNvPr id="505901" name="Line-45"/>
              <p:cNvSpPr>
                <a:spLocks noChangeShapeType="1"/>
              </p:cNvSpPr>
              <p:nvPr/>
            </p:nvSpPr>
            <p:spPr bwMode="auto">
              <a:xfrm>
                <a:off x="1136" y="1473"/>
                <a:ext cx="460" cy="0"/>
              </a:xfrm>
              <a:prstGeom prst="line">
                <a:avLst/>
              </a:prstGeom>
              <a:noFill/>
              <a:ln w="28575">
                <a:solidFill>
                  <a:srgbClr val="5F5F5F"/>
                </a:solidFill>
                <a:round/>
                <a:headEnd/>
                <a:tailEnd/>
              </a:ln>
              <a:effectLst/>
            </p:spPr>
            <p:txBody>
              <a:bodyPr anchor="ctr"/>
              <a:lstStyle/>
              <a:p>
                <a:endParaRPr lang="fr-FR"/>
              </a:p>
            </p:txBody>
          </p:sp>
          <p:sp>
            <p:nvSpPr>
              <p:cNvPr id="505902" name="Freeform-46"/>
              <p:cNvSpPr>
                <a:spLocks/>
              </p:cNvSpPr>
              <p:nvPr/>
            </p:nvSpPr>
            <p:spPr bwMode="auto">
              <a:xfrm>
                <a:off x="1136" y="1152"/>
                <a:ext cx="419" cy="856"/>
              </a:xfrm>
              <a:custGeom>
                <a:avLst/>
                <a:gdLst/>
                <a:ahLst/>
                <a:cxnLst>
                  <a:cxn ang="0">
                    <a:pos x="0" y="0"/>
                  </a:cxn>
                  <a:cxn ang="0">
                    <a:pos x="0" y="362"/>
                  </a:cxn>
                  <a:cxn ang="0">
                    <a:pos x="419" y="362"/>
                  </a:cxn>
                </a:cxnLst>
                <a:rect l="0" t="0" r="r" b="b"/>
                <a:pathLst>
                  <a:path w="419" h="362">
                    <a:moveTo>
                      <a:pt x="0" y="0"/>
                    </a:moveTo>
                    <a:lnTo>
                      <a:pt x="0" y="362"/>
                    </a:lnTo>
                    <a:lnTo>
                      <a:pt x="419" y="362"/>
                    </a:lnTo>
                  </a:path>
                </a:pathLst>
              </a:custGeom>
              <a:noFill/>
              <a:ln w="28575" cap="flat" cmpd="sng">
                <a:solidFill>
                  <a:srgbClr val="5F5F5F"/>
                </a:solidFill>
                <a:prstDash val="solid"/>
                <a:round/>
                <a:headEnd/>
                <a:tailEnd/>
              </a:ln>
              <a:effectLst/>
            </p:spPr>
            <p:txBody>
              <a:bodyPr anchor="ctr"/>
              <a:lstStyle/>
              <a:p>
                <a:endParaRPr lang="fr-FR"/>
              </a:p>
            </p:txBody>
          </p:sp>
          <p:pic>
            <p:nvPicPr>
              <p:cNvPr id="505903" name="Picture-47" descr="Folder_FolderOpen01"/>
              <p:cNvPicPr>
                <a:picLocks noChangeAspect="1" noChangeArrowheads="1"/>
              </p:cNvPicPr>
              <p:nvPr/>
            </p:nvPicPr>
            <p:blipFill>
              <a:blip r:embed="rId3" cstate="print"/>
              <a:srcRect/>
              <a:stretch>
                <a:fillRect/>
              </a:stretch>
            </p:blipFill>
            <p:spPr bwMode="auto">
              <a:xfrm>
                <a:off x="883" y="835"/>
                <a:ext cx="463" cy="414"/>
              </a:xfrm>
              <a:prstGeom prst="rect">
                <a:avLst/>
              </a:prstGeom>
              <a:noFill/>
            </p:spPr>
          </p:pic>
          <p:pic>
            <p:nvPicPr>
              <p:cNvPr id="505904" name="Picture-48" descr="Folder_FolderOpenWithDocumentWriting01"/>
              <p:cNvPicPr>
                <a:picLocks noChangeAspect="1" noChangeArrowheads="1"/>
              </p:cNvPicPr>
              <p:nvPr/>
            </p:nvPicPr>
            <p:blipFill>
              <a:blip r:embed="rId4" cstate="print"/>
              <a:srcRect/>
              <a:stretch>
                <a:fillRect/>
              </a:stretch>
            </p:blipFill>
            <p:spPr bwMode="auto">
              <a:xfrm>
                <a:off x="1428" y="1280"/>
                <a:ext cx="443" cy="515"/>
              </a:xfrm>
              <a:prstGeom prst="rect">
                <a:avLst/>
              </a:prstGeom>
              <a:noFill/>
            </p:spPr>
          </p:pic>
          <p:sp>
            <p:nvSpPr>
              <p:cNvPr id="505905" name="Text-Box-49"/>
              <p:cNvSpPr txBox="1">
                <a:spLocks noChangeArrowheads="1"/>
              </p:cNvSpPr>
              <p:nvPr/>
            </p:nvSpPr>
            <p:spPr bwMode="auto">
              <a:xfrm>
                <a:off x="1321" y="881"/>
                <a:ext cx="877" cy="366"/>
              </a:xfrm>
              <a:prstGeom prst="rect">
                <a:avLst/>
              </a:prstGeom>
              <a:noFill/>
              <a:ln w="9525" algn="ctr">
                <a:noFill/>
                <a:miter lim="800000"/>
                <a:headEnd/>
                <a:tailEnd/>
              </a:ln>
              <a:effectLst/>
            </p:spPr>
            <p:txBody>
              <a:bodyPr wrap="none">
                <a:spAutoFit/>
              </a:bodyPr>
              <a:lstStyle/>
              <a:p>
                <a:pPr algn="l"/>
                <a:r>
                  <a:rPr lang="fr-FR" altLang="zh-CN" sz="1600">
                    <a:solidFill>
                      <a:srgbClr val="000000"/>
                    </a:solidFill>
                    <a:ea typeface="SimSun" pitchFamily="2" charset="-122"/>
                    <a:cs typeface="Times New Roman" charset="0"/>
                  </a:rPr>
                  <a:t>Utilisateurs de</a:t>
                </a:r>
                <a:r>
                  <a:rPr lang="en-IE" altLang="zh-CN" sz="1600">
                    <a:solidFill>
                      <a:srgbClr val="000000"/>
                    </a:solidFill>
                    <a:ea typeface="SimSun" pitchFamily="2" charset="-122"/>
                    <a:cs typeface="Times New Roman" charset="0"/>
                  </a:rPr>
                  <a:t> </a:t>
                </a:r>
                <a:endParaRPr lang="en-US" sz="1600">
                  <a:ea typeface="SimSun" pitchFamily="2" charset="-122"/>
                  <a:cs typeface="Times New Roman" charset="0"/>
                </a:endParaRPr>
              </a:p>
              <a:p>
                <a:pPr algn="l"/>
                <a:r>
                  <a:rPr lang="fr-FR" altLang="zh-CN" sz="1600">
                    <a:solidFill>
                      <a:srgbClr val="000000"/>
                    </a:solidFill>
                    <a:ea typeface="SimSun" pitchFamily="2" charset="-122"/>
                    <a:cs typeface="Times New Roman" charset="0"/>
                  </a:rPr>
                  <a:t>la comptabilité</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505906" name="Text-Box-50"/>
              <p:cNvSpPr txBox="1">
                <a:spLocks noChangeArrowheads="1"/>
              </p:cNvSpPr>
              <p:nvPr/>
            </p:nvSpPr>
            <p:spPr bwMode="auto">
              <a:xfrm>
                <a:off x="1867" y="1960"/>
                <a:ext cx="593" cy="366"/>
              </a:xfrm>
              <a:prstGeom prst="rect">
                <a:avLst/>
              </a:prstGeom>
              <a:noFill/>
              <a:ln w="9525" algn="ctr">
                <a:noFill/>
                <a:miter lim="800000"/>
                <a:headEnd/>
                <a:tailEnd/>
              </a:ln>
              <a:effectLst/>
            </p:spPr>
            <p:txBody>
              <a:bodyPr wrap="none">
                <a:spAutoFit/>
              </a:bodyPr>
              <a:lstStyle/>
              <a:p>
                <a:pPr algn="l"/>
                <a:r>
                  <a:rPr lang="fr-FR" altLang="zh-CN" sz="1600">
                    <a:solidFill>
                      <a:srgbClr val="000000"/>
                    </a:solidFill>
                    <a:ea typeface="SimSun" pitchFamily="2" charset="-122"/>
                    <a:cs typeface="Times New Roman" charset="0"/>
                  </a:rPr>
                  <a:t>Comptes</a:t>
                </a:r>
                <a:r>
                  <a:rPr lang="en-IE" altLang="zh-CN" sz="1600">
                    <a:solidFill>
                      <a:srgbClr val="000000"/>
                    </a:solidFill>
                    <a:ea typeface="SimSun" pitchFamily="2" charset="-122"/>
                    <a:cs typeface="Times New Roman" charset="0"/>
                  </a:rPr>
                  <a:t> </a:t>
                </a:r>
                <a:endParaRPr lang="en-US" sz="1600">
                  <a:ea typeface="SimSun" pitchFamily="2" charset="-122"/>
                  <a:cs typeface="Times New Roman" charset="0"/>
                </a:endParaRPr>
              </a:p>
              <a:p>
                <a:pPr algn="l"/>
                <a:r>
                  <a:rPr lang="fr-FR" altLang="zh-CN" sz="1600">
                    <a:solidFill>
                      <a:srgbClr val="000000"/>
                    </a:solidFill>
                    <a:ea typeface="SimSun" pitchFamily="2" charset="-122"/>
                    <a:cs typeface="Times New Roman" charset="0"/>
                  </a:rPr>
                  <a:t>N-Z</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505907" name="Text-Box-51"/>
              <p:cNvSpPr txBox="1">
                <a:spLocks noChangeArrowheads="1"/>
              </p:cNvSpPr>
              <p:nvPr/>
            </p:nvSpPr>
            <p:spPr bwMode="auto">
              <a:xfrm>
                <a:off x="1867" y="1451"/>
                <a:ext cx="593" cy="366"/>
              </a:xfrm>
              <a:prstGeom prst="rect">
                <a:avLst/>
              </a:prstGeom>
              <a:noFill/>
              <a:ln w="9525" algn="ctr">
                <a:noFill/>
                <a:miter lim="800000"/>
                <a:headEnd/>
                <a:tailEnd/>
              </a:ln>
              <a:effectLst/>
            </p:spPr>
            <p:txBody>
              <a:bodyPr wrap="none">
                <a:spAutoFit/>
              </a:bodyPr>
              <a:lstStyle/>
              <a:p>
                <a:pPr algn="l"/>
                <a:r>
                  <a:rPr lang="fr-FR" altLang="zh-CN" sz="1600">
                    <a:solidFill>
                      <a:srgbClr val="000000"/>
                    </a:solidFill>
                    <a:ea typeface="SimSun" pitchFamily="2" charset="-122"/>
                    <a:cs typeface="Times New Roman" charset="0"/>
                  </a:rPr>
                  <a:t>Comptes</a:t>
                </a:r>
                <a:r>
                  <a:rPr lang="en-IE" altLang="zh-CN" sz="1600">
                    <a:solidFill>
                      <a:srgbClr val="000000"/>
                    </a:solidFill>
                    <a:ea typeface="SimSun" pitchFamily="2" charset="-122"/>
                    <a:cs typeface="Times New Roman" charset="0"/>
                  </a:rPr>
                  <a:t> </a:t>
                </a:r>
                <a:endParaRPr lang="en-US" sz="1600">
                  <a:ea typeface="SimSun" pitchFamily="2" charset="-122"/>
                  <a:cs typeface="Times New Roman" charset="0"/>
                </a:endParaRPr>
              </a:p>
              <a:p>
                <a:pPr algn="l"/>
                <a:r>
                  <a:rPr lang="fr-FR" altLang="zh-CN" sz="1600">
                    <a:solidFill>
                      <a:srgbClr val="000000"/>
                    </a:solidFill>
                    <a:ea typeface="SimSun" pitchFamily="2" charset="-122"/>
                    <a:cs typeface="Times New Roman" charset="0"/>
                  </a:rPr>
                  <a:t>A-M</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pic>
            <p:nvPicPr>
              <p:cNvPr id="505908" name="Picture-52" descr="Folder_FolderOpenWithDocumentWriting01"/>
              <p:cNvPicPr>
                <a:picLocks noChangeAspect="1" noChangeArrowheads="1"/>
              </p:cNvPicPr>
              <p:nvPr/>
            </p:nvPicPr>
            <p:blipFill>
              <a:blip r:embed="rId4" cstate="print"/>
              <a:srcRect/>
              <a:stretch>
                <a:fillRect/>
              </a:stretch>
            </p:blipFill>
            <p:spPr bwMode="auto">
              <a:xfrm>
                <a:off x="1428" y="1790"/>
                <a:ext cx="443" cy="515"/>
              </a:xfrm>
              <a:prstGeom prst="rect">
                <a:avLst/>
              </a:prstGeom>
              <a:noFill/>
            </p:spPr>
          </p:pic>
          <p:sp>
            <p:nvSpPr>
              <p:cNvPr id="505909" name="Line-53"/>
              <p:cNvSpPr>
                <a:spLocks noChangeShapeType="1"/>
              </p:cNvSpPr>
              <p:nvPr/>
            </p:nvSpPr>
            <p:spPr bwMode="auto">
              <a:xfrm>
                <a:off x="1136" y="3012"/>
                <a:ext cx="460" cy="0"/>
              </a:xfrm>
              <a:prstGeom prst="line">
                <a:avLst/>
              </a:prstGeom>
              <a:noFill/>
              <a:ln w="28575">
                <a:solidFill>
                  <a:srgbClr val="5F5F5F"/>
                </a:solidFill>
                <a:round/>
                <a:headEnd/>
                <a:tailEnd/>
              </a:ln>
              <a:effectLst/>
            </p:spPr>
            <p:txBody>
              <a:bodyPr anchor="ctr"/>
              <a:lstStyle/>
              <a:p>
                <a:endParaRPr lang="fr-FR"/>
              </a:p>
            </p:txBody>
          </p:sp>
          <p:sp>
            <p:nvSpPr>
              <p:cNvPr id="505910" name="Freeform-54"/>
              <p:cNvSpPr>
                <a:spLocks/>
              </p:cNvSpPr>
              <p:nvPr/>
            </p:nvSpPr>
            <p:spPr bwMode="auto">
              <a:xfrm>
                <a:off x="1136" y="2691"/>
                <a:ext cx="419" cy="856"/>
              </a:xfrm>
              <a:custGeom>
                <a:avLst/>
                <a:gdLst/>
                <a:ahLst/>
                <a:cxnLst>
                  <a:cxn ang="0">
                    <a:pos x="0" y="0"/>
                  </a:cxn>
                  <a:cxn ang="0">
                    <a:pos x="0" y="362"/>
                  </a:cxn>
                  <a:cxn ang="0">
                    <a:pos x="419" y="362"/>
                  </a:cxn>
                </a:cxnLst>
                <a:rect l="0" t="0" r="r" b="b"/>
                <a:pathLst>
                  <a:path w="419" h="362">
                    <a:moveTo>
                      <a:pt x="0" y="0"/>
                    </a:moveTo>
                    <a:lnTo>
                      <a:pt x="0" y="362"/>
                    </a:lnTo>
                    <a:lnTo>
                      <a:pt x="419" y="362"/>
                    </a:lnTo>
                  </a:path>
                </a:pathLst>
              </a:custGeom>
              <a:noFill/>
              <a:ln w="28575" cap="flat" cmpd="sng">
                <a:solidFill>
                  <a:srgbClr val="5F5F5F"/>
                </a:solidFill>
                <a:prstDash val="solid"/>
                <a:round/>
                <a:headEnd/>
                <a:tailEnd/>
              </a:ln>
              <a:effectLst/>
            </p:spPr>
            <p:txBody>
              <a:bodyPr anchor="ctr"/>
              <a:lstStyle/>
              <a:p>
                <a:endParaRPr lang="fr-FR"/>
              </a:p>
            </p:txBody>
          </p:sp>
          <p:pic>
            <p:nvPicPr>
              <p:cNvPr id="505911" name="Picture-55" descr="Folder_FolderOpen01"/>
              <p:cNvPicPr>
                <a:picLocks noChangeAspect="1" noChangeArrowheads="1"/>
              </p:cNvPicPr>
              <p:nvPr/>
            </p:nvPicPr>
            <p:blipFill>
              <a:blip r:embed="rId3" cstate="print"/>
              <a:srcRect/>
              <a:stretch>
                <a:fillRect/>
              </a:stretch>
            </p:blipFill>
            <p:spPr bwMode="auto">
              <a:xfrm>
                <a:off x="883" y="2374"/>
                <a:ext cx="463" cy="414"/>
              </a:xfrm>
              <a:prstGeom prst="rect">
                <a:avLst/>
              </a:prstGeom>
              <a:noFill/>
            </p:spPr>
          </p:pic>
          <p:pic>
            <p:nvPicPr>
              <p:cNvPr id="505912" name="Picture-56" descr="Folder_FolderOpenWithDocumentWriting01"/>
              <p:cNvPicPr>
                <a:picLocks noChangeAspect="1" noChangeArrowheads="1"/>
              </p:cNvPicPr>
              <p:nvPr/>
            </p:nvPicPr>
            <p:blipFill>
              <a:blip r:embed="rId4" cstate="print"/>
              <a:srcRect/>
              <a:stretch>
                <a:fillRect/>
              </a:stretch>
            </p:blipFill>
            <p:spPr bwMode="auto">
              <a:xfrm>
                <a:off x="1428" y="2819"/>
                <a:ext cx="443" cy="515"/>
              </a:xfrm>
              <a:prstGeom prst="rect">
                <a:avLst/>
              </a:prstGeom>
              <a:noFill/>
            </p:spPr>
          </p:pic>
          <p:sp>
            <p:nvSpPr>
              <p:cNvPr id="505913" name="Text-Box-57"/>
              <p:cNvSpPr txBox="1">
                <a:spLocks noChangeArrowheads="1"/>
              </p:cNvSpPr>
              <p:nvPr/>
            </p:nvSpPr>
            <p:spPr bwMode="auto">
              <a:xfrm>
                <a:off x="1321" y="2420"/>
                <a:ext cx="1028" cy="366"/>
              </a:xfrm>
              <a:prstGeom prst="rect">
                <a:avLst/>
              </a:prstGeom>
              <a:noFill/>
              <a:ln w="9525" algn="ctr">
                <a:noFill/>
                <a:miter lim="800000"/>
                <a:headEnd/>
                <a:tailEnd/>
              </a:ln>
              <a:effectLst/>
            </p:spPr>
            <p:txBody>
              <a:bodyPr wrap="none">
                <a:spAutoFit/>
              </a:bodyPr>
              <a:lstStyle/>
              <a:p>
                <a:pPr algn="l"/>
                <a:r>
                  <a:rPr lang="fr-FR" altLang="zh-CN" sz="1600">
                    <a:solidFill>
                      <a:srgbClr val="000000"/>
                    </a:solidFill>
                    <a:ea typeface="SimSun" pitchFamily="2" charset="-122"/>
                    <a:cs typeface="Times New Roman" charset="0"/>
                  </a:rPr>
                  <a:t>Responsables</a:t>
                </a:r>
                <a:r>
                  <a:rPr lang="en-IE" altLang="zh-CN" sz="1600">
                    <a:solidFill>
                      <a:srgbClr val="000000"/>
                    </a:solidFill>
                    <a:ea typeface="SimSun" pitchFamily="2" charset="-122"/>
                    <a:cs typeface="Times New Roman" charset="0"/>
                  </a:rPr>
                  <a:t> </a:t>
                </a:r>
                <a:endParaRPr lang="en-US" sz="1600">
                  <a:ea typeface="SimSun" pitchFamily="2" charset="-122"/>
                  <a:cs typeface="Times New Roman" charset="0"/>
                </a:endParaRPr>
              </a:p>
              <a:p>
                <a:pPr algn="l"/>
                <a:r>
                  <a:rPr lang="fr-FR" altLang="zh-CN" sz="1600">
                    <a:solidFill>
                      <a:srgbClr val="000000"/>
                    </a:solidFill>
                    <a:ea typeface="SimSun" pitchFamily="2" charset="-122"/>
                    <a:cs typeface="Times New Roman" charset="0"/>
                  </a:rPr>
                  <a:t>de la comptabilité</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505914" name="Text-Box-58"/>
              <p:cNvSpPr txBox="1">
                <a:spLocks noChangeArrowheads="1"/>
              </p:cNvSpPr>
              <p:nvPr/>
            </p:nvSpPr>
            <p:spPr bwMode="auto">
              <a:xfrm>
                <a:off x="1867" y="3498"/>
                <a:ext cx="535" cy="212"/>
              </a:xfrm>
              <a:prstGeom prst="rect">
                <a:avLst/>
              </a:prstGeom>
              <a:noFill/>
              <a:ln w="9525" algn="ctr">
                <a:noFill/>
                <a:miter lim="800000"/>
                <a:headEnd/>
                <a:tailEnd/>
              </a:ln>
              <a:effectLst/>
            </p:spPr>
            <p:txBody>
              <a:bodyPr wrap="none">
                <a:spAutoFit/>
              </a:bodyPr>
              <a:lstStyle/>
              <a:p>
                <a:pPr algn="l"/>
                <a:r>
                  <a:rPr lang="fr-FR" altLang="zh-CN" sz="1600">
                    <a:solidFill>
                      <a:srgbClr val="000000"/>
                    </a:solidFill>
                    <a:ea typeface="SimSun" pitchFamily="2" charset="-122"/>
                    <a:cs typeface="Times New Roman" charset="0"/>
                  </a:rPr>
                  <a:t>AnnePa</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sp>
            <p:nvSpPr>
              <p:cNvPr id="505915" name="Text-Box-59"/>
              <p:cNvSpPr txBox="1">
                <a:spLocks noChangeArrowheads="1"/>
              </p:cNvSpPr>
              <p:nvPr/>
            </p:nvSpPr>
            <p:spPr bwMode="auto">
              <a:xfrm>
                <a:off x="1867" y="2989"/>
                <a:ext cx="540" cy="212"/>
              </a:xfrm>
              <a:prstGeom prst="rect">
                <a:avLst/>
              </a:prstGeom>
              <a:noFill/>
              <a:ln w="9525" algn="ctr">
                <a:noFill/>
                <a:miter lim="800000"/>
                <a:headEnd/>
                <a:tailEnd/>
              </a:ln>
              <a:effectLst/>
            </p:spPr>
            <p:txBody>
              <a:bodyPr wrap="none">
                <a:spAutoFit/>
              </a:bodyPr>
              <a:lstStyle/>
              <a:p>
                <a:pPr algn="l"/>
                <a:r>
                  <a:rPr lang="fr-FR" altLang="zh-CN" sz="1600">
                    <a:solidFill>
                      <a:srgbClr val="000000"/>
                    </a:solidFill>
                    <a:ea typeface="SimSun" pitchFamily="2" charset="-122"/>
                    <a:cs typeface="Times New Roman" charset="0"/>
                  </a:rPr>
                  <a:t>MichelS</a:t>
                </a:r>
                <a:r>
                  <a:rPr lang="en-IE" altLang="zh-CN" sz="1600">
                    <a:solidFill>
                      <a:srgbClr val="000000"/>
                    </a:solidFill>
                    <a:ea typeface="SimSun" pitchFamily="2" charset="-122"/>
                    <a:cs typeface="Times New Roman" charset="0"/>
                  </a:rPr>
                  <a:t> </a:t>
                </a:r>
                <a:endParaRPr lang="en-US" sz="1600">
                  <a:solidFill>
                    <a:srgbClr val="000000"/>
                  </a:solidFill>
                  <a:ea typeface="SimSun" pitchFamily="2" charset="-122"/>
                  <a:cs typeface="Times New Roman" charset="0"/>
                </a:endParaRPr>
              </a:p>
            </p:txBody>
          </p:sp>
          <p:pic>
            <p:nvPicPr>
              <p:cNvPr id="505916" name="Picture-60" descr="Folder_FolderOpenWithDocumentWriting01"/>
              <p:cNvPicPr>
                <a:picLocks noChangeAspect="1" noChangeArrowheads="1"/>
              </p:cNvPicPr>
              <p:nvPr/>
            </p:nvPicPr>
            <p:blipFill>
              <a:blip r:embed="rId4" cstate="print"/>
              <a:srcRect/>
              <a:stretch>
                <a:fillRect/>
              </a:stretch>
            </p:blipFill>
            <p:spPr bwMode="auto">
              <a:xfrm>
                <a:off x="1428" y="3329"/>
                <a:ext cx="443" cy="515"/>
              </a:xfrm>
              <a:prstGeom prst="rect">
                <a:avLst/>
              </a:prstGeom>
              <a:noFill/>
            </p:spPr>
          </p:pic>
          <p:sp>
            <p:nvSpPr>
              <p:cNvPr id="505917" name="AutoShape-61"/>
              <p:cNvSpPr>
                <a:spLocks noChangeArrowheads="1"/>
              </p:cNvSpPr>
              <p:nvPr/>
            </p:nvSpPr>
            <p:spPr bwMode="auto">
              <a:xfrm rot="-1800000">
                <a:off x="1474" y="2897"/>
                <a:ext cx="427" cy="181"/>
              </a:xfrm>
              <a:prstGeom prst="roundRect">
                <a:avLst>
                  <a:gd name="adj" fmla="val 16667"/>
                </a:avLst>
              </a:prstGeom>
              <a:solidFill>
                <a:schemeClr val="bg1">
                  <a:alpha val="50000"/>
                </a:schemeClr>
              </a:solidFill>
              <a:ln w="9525" algn="ctr">
                <a:solidFill>
                  <a:srgbClr val="CC0000"/>
                </a:solidFill>
                <a:round/>
                <a:headEnd/>
                <a:tailEnd/>
              </a:ln>
              <a:effectLst/>
            </p:spPr>
            <p:txBody>
              <a:bodyPr wrap="none" anchor="ctr"/>
              <a:lstStyle/>
              <a:p>
                <a:r>
                  <a:rPr lang="fr-FR" altLang="zh-CN" sz="1400">
                    <a:solidFill>
                      <a:srgbClr val="CC0000"/>
                    </a:solidFill>
                    <a:ea typeface="SimSun" pitchFamily="2" charset="-122"/>
                    <a:cs typeface="Times New Roman" charset="0"/>
                  </a:rPr>
                  <a:t>Privé</a:t>
                </a:r>
                <a:r>
                  <a:rPr lang="en-IE" altLang="zh-CN" sz="1400">
                    <a:solidFill>
                      <a:srgbClr val="000000"/>
                    </a:solidFill>
                    <a:ea typeface="SimSun" pitchFamily="2" charset="-122"/>
                    <a:cs typeface="Times New Roman" charset="0"/>
                  </a:rPr>
                  <a:t> </a:t>
                </a:r>
                <a:endParaRPr lang="en-US" sz="1400">
                  <a:solidFill>
                    <a:srgbClr val="000000"/>
                  </a:solidFill>
                  <a:ea typeface="SimSun" pitchFamily="2" charset="-122"/>
                  <a:cs typeface="Times New Roman" charset="0"/>
                </a:endParaRPr>
              </a:p>
            </p:txBody>
          </p:sp>
          <p:sp>
            <p:nvSpPr>
              <p:cNvPr id="505918" name="AutoShape-62"/>
              <p:cNvSpPr>
                <a:spLocks noChangeArrowheads="1"/>
              </p:cNvSpPr>
              <p:nvPr/>
            </p:nvSpPr>
            <p:spPr bwMode="auto">
              <a:xfrm rot="-1800000">
                <a:off x="1474" y="3448"/>
                <a:ext cx="427" cy="181"/>
              </a:xfrm>
              <a:prstGeom prst="roundRect">
                <a:avLst>
                  <a:gd name="adj" fmla="val 16667"/>
                </a:avLst>
              </a:prstGeom>
              <a:solidFill>
                <a:schemeClr val="bg1">
                  <a:alpha val="50000"/>
                </a:schemeClr>
              </a:solidFill>
              <a:ln w="9525" algn="ctr">
                <a:solidFill>
                  <a:srgbClr val="CC0000"/>
                </a:solidFill>
                <a:round/>
                <a:headEnd/>
                <a:tailEnd/>
              </a:ln>
              <a:effectLst/>
            </p:spPr>
            <p:txBody>
              <a:bodyPr wrap="none" anchor="ctr"/>
              <a:lstStyle/>
              <a:p>
                <a:r>
                  <a:rPr lang="fr-FR" altLang="zh-CN" sz="1400">
                    <a:solidFill>
                      <a:srgbClr val="CC0000"/>
                    </a:solidFill>
                    <a:ea typeface="SimSun" pitchFamily="2" charset="-122"/>
                    <a:cs typeface="Times New Roman" charset="0"/>
                  </a:rPr>
                  <a:t>Privé</a:t>
                </a:r>
                <a:r>
                  <a:rPr lang="en-IE" altLang="zh-CN" sz="1400">
                    <a:solidFill>
                      <a:srgbClr val="000000"/>
                    </a:solidFill>
                    <a:ea typeface="SimSun" pitchFamily="2" charset="-122"/>
                    <a:cs typeface="Times New Roman" charset="0"/>
                  </a:rPr>
                  <a:t> </a:t>
                </a:r>
                <a:endParaRPr lang="en-US" sz="1400">
                  <a:solidFill>
                    <a:srgbClr val="000000"/>
                  </a:solidFill>
                  <a:ea typeface="SimSun" pitchFamily="2" charset="-122"/>
                  <a:cs typeface="Times New Roman"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05859">
                                            <p:txEl>
                                              <p:pRg st="0" end="0"/>
                                            </p:txEl>
                                          </p:spTgt>
                                        </p:tgtEl>
                                        <p:attrNameLst>
                                          <p:attrName>style.visibility</p:attrName>
                                        </p:attrNameLst>
                                      </p:cBhvr>
                                      <p:to>
                                        <p:strVal val="visible"/>
                                      </p:to>
                                    </p:set>
                                    <p:animEffect transition="in" filter="checkerboard(across)">
                                      <p:cBhvr>
                                        <p:cTn id="7" dur="1000"/>
                                        <p:tgtEl>
                                          <p:spTgt spid="505859">
                                            <p:txEl>
                                              <p:pRg st="0" end="0"/>
                                            </p:txEl>
                                          </p:spTgt>
                                        </p:tgtEl>
                                      </p:cBhvr>
                                    </p:animEffect>
                                  </p:childTnLst>
                                </p:cTn>
                              </p:par>
                            </p:childTnLst>
                          </p:cTn>
                        </p:par>
                        <p:par>
                          <p:cTn id="8" fill="hold">
                            <p:stCondLst>
                              <p:cond delay="1000"/>
                            </p:stCondLst>
                            <p:childTnLst>
                              <p:par>
                                <p:cTn id="9" presetID="5" presetClass="entr" presetSubtype="10" fill="hold" nodeType="afterEffect">
                                  <p:stCondLst>
                                    <p:cond delay="0"/>
                                  </p:stCondLst>
                                  <p:childTnLst>
                                    <p:set>
                                      <p:cBhvr>
                                        <p:cTn id="10" dur="1" fill="hold">
                                          <p:stCondLst>
                                            <p:cond delay="0"/>
                                          </p:stCondLst>
                                        </p:cTn>
                                        <p:tgtEl>
                                          <p:spTgt spid="505859">
                                            <p:txEl>
                                              <p:pRg st="1" end="1"/>
                                            </p:txEl>
                                          </p:spTgt>
                                        </p:tgtEl>
                                        <p:attrNameLst>
                                          <p:attrName>style.visibility</p:attrName>
                                        </p:attrNameLst>
                                      </p:cBhvr>
                                      <p:to>
                                        <p:strVal val="visible"/>
                                      </p:to>
                                    </p:set>
                                    <p:animEffect transition="in" filter="checkerboard(across)">
                                      <p:cBhvr>
                                        <p:cTn id="11" dur="1000"/>
                                        <p:tgtEl>
                                          <p:spTgt spid="505859">
                                            <p:txEl>
                                              <p:pRg st="1" end="1"/>
                                            </p:txEl>
                                          </p:spTgt>
                                        </p:tgtEl>
                                      </p:cBhvr>
                                    </p:animEffect>
                                  </p:childTnLst>
                                </p:cTn>
                              </p:par>
                            </p:childTnLst>
                          </p:cTn>
                        </p:par>
                        <p:par>
                          <p:cTn id="12" fill="hold">
                            <p:stCondLst>
                              <p:cond delay="2000"/>
                            </p:stCondLst>
                            <p:childTnLst>
                              <p:par>
                                <p:cTn id="13" presetID="5" presetClass="entr" presetSubtype="10" fill="hold" nodeType="afterEffect">
                                  <p:stCondLst>
                                    <p:cond delay="0"/>
                                  </p:stCondLst>
                                  <p:childTnLst>
                                    <p:set>
                                      <p:cBhvr>
                                        <p:cTn id="14" dur="1" fill="hold">
                                          <p:stCondLst>
                                            <p:cond delay="0"/>
                                          </p:stCondLst>
                                        </p:cTn>
                                        <p:tgtEl>
                                          <p:spTgt spid="505859">
                                            <p:txEl>
                                              <p:pRg st="2" end="2"/>
                                            </p:txEl>
                                          </p:spTgt>
                                        </p:tgtEl>
                                        <p:attrNameLst>
                                          <p:attrName>style.visibility</p:attrName>
                                        </p:attrNameLst>
                                      </p:cBhvr>
                                      <p:to>
                                        <p:strVal val="visible"/>
                                      </p:to>
                                    </p:set>
                                    <p:animEffect transition="in" filter="checkerboard(across)">
                                      <p:cBhvr>
                                        <p:cTn id="15" dur="1000"/>
                                        <p:tgtEl>
                                          <p:spTgt spid="50585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05859">
                                            <p:txEl>
                                              <p:pRg st="3" end="3"/>
                                            </p:txEl>
                                          </p:spTgt>
                                        </p:tgtEl>
                                        <p:attrNameLst>
                                          <p:attrName>style.visibility</p:attrName>
                                        </p:attrNameLst>
                                      </p:cBhvr>
                                      <p:to>
                                        <p:strVal val="visible"/>
                                      </p:to>
                                    </p:set>
                                    <p:animEffect transition="in" filter="checkerboard(across)">
                                      <p:cBhvr>
                                        <p:cTn id="20" dur="1000"/>
                                        <p:tgtEl>
                                          <p:spTgt spid="505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2"/>
          <p:cNvSpPr>
            <a:spLocks noGrp="1" noChangeArrowheads="1"/>
          </p:cNvSpPr>
          <p:nvPr>
            <p:ph type="title"/>
          </p:nvPr>
        </p:nvSpPr>
        <p:spPr>
          <a:xfrm>
            <a:off x="193963" y="394860"/>
            <a:ext cx="8769927" cy="758952"/>
          </a:xfrm>
        </p:spPr>
        <p:txBody>
          <a:bodyPr>
            <a:normAutofit fontScale="90000"/>
          </a:bodyPr>
          <a:lstStyle/>
          <a:p>
            <a:r>
              <a:rPr lang="fr-FR" altLang="zh-CN" b="1" dirty="0" smtClean="0">
                <a:solidFill>
                  <a:srgbClr val="000000"/>
                </a:solidFill>
                <a:ea typeface="SimSun" pitchFamily="2" charset="-122"/>
                <a:cs typeface="Times New Roman" charset="0"/>
              </a:rPr>
              <a:t>4. Détermination </a:t>
            </a:r>
            <a:r>
              <a:rPr lang="fr-FR" altLang="zh-CN" b="1" dirty="0">
                <a:solidFill>
                  <a:srgbClr val="000000"/>
                </a:solidFill>
                <a:ea typeface="SimSun" pitchFamily="2" charset="-122"/>
                <a:cs typeface="Times New Roman" charset="0"/>
              </a:rPr>
              <a:t>des objets de stratégie </a:t>
            </a:r>
            <a:br>
              <a:rPr lang="fr-FR" altLang="zh-CN" b="1" dirty="0">
                <a:solidFill>
                  <a:srgbClr val="000000"/>
                </a:solidFill>
                <a:ea typeface="SimSun" pitchFamily="2" charset="-122"/>
                <a:cs typeface="Times New Roman" charset="0"/>
              </a:rPr>
            </a:br>
            <a:r>
              <a:rPr lang="fr-FR" altLang="zh-CN" b="1" dirty="0">
                <a:solidFill>
                  <a:srgbClr val="000000"/>
                </a:solidFill>
                <a:ea typeface="SimSun" pitchFamily="2" charset="-122"/>
                <a:cs typeface="Times New Roman" charset="0"/>
              </a:rPr>
              <a:t>de groupe appliqués</a:t>
            </a:r>
            <a:r>
              <a:rPr lang="en-IE" altLang="zh-CN" b="1" dirty="0">
                <a:solidFill>
                  <a:srgbClr val="000000"/>
                </a:solidFill>
                <a:ea typeface="SimSun" pitchFamily="2" charset="-122"/>
              </a:rPr>
              <a:t> </a:t>
            </a:r>
            <a:endParaRPr lang="en-US" b="1" dirty="0">
              <a:solidFill>
                <a:srgbClr val="000000"/>
              </a:solidFill>
            </a:endParaRPr>
          </a:p>
        </p:txBody>
      </p:sp>
      <p:sp>
        <p:nvSpPr>
          <p:cNvPr id="519171" name="Rectangle-3"/>
          <p:cNvSpPr>
            <a:spLocks noGrp="1" noChangeArrowheads="1"/>
          </p:cNvSpPr>
          <p:nvPr>
            <p:ph sz="quarter" idx="1"/>
          </p:nvPr>
        </p:nvSpPr>
        <p:spPr>
          <a:xfrm>
            <a:off x="301752" y="1596323"/>
            <a:ext cx="8503920" cy="4572000"/>
          </a:xfrm>
        </p:spPr>
        <p:txBody>
          <a:bodyPr/>
          <a:lstStyle/>
          <a:p>
            <a:pPr>
              <a:buClr>
                <a:srgbClr val="C00000"/>
              </a:buClr>
              <a:buFont typeface="Wingdings" pitchFamily="2" charset="2"/>
              <a:buChar char="q"/>
            </a:pPr>
            <a:r>
              <a:rPr lang="fr-FR" altLang="zh-CN" dirty="0">
                <a:solidFill>
                  <a:srgbClr val="C00000"/>
                </a:solidFill>
                <a:ea typeface="SimSun" pitchFamily="2" charset="-122"/>
                <a:cs typeface="Times New Roman" charset="0"/>
              </a:rPr>
              <a:t>Qu'est-ce que </a:t>
            </a:r>
            <a:r>
              <a:rPr lang="fr-FR" altLang="zh-CN" dirty="0" err="1">
                <a:solidFill>
                  <a:srgbClr val="C00000"/>
                </a:solidFill>
                <a:ea typeface="SimSun" pitchFamily="2" charset="-122"/>
                <a:cs typeface="Times New Roman" charset="0"/>
              </a:rPr>
              <a:t>Gpupdate</a:t>
            </a:r>
            <a:r>
              <a:rPr lang="fr-FR" altLang="zh-CN" dirty="0">
                <a:solidFill>
                  <a:srgbClr val="C00000"/>
                </a:solidFill>
                <a:ea typeface="SimSun" pitchFamily="2" charset="-122"/>
                <a:cs typeface="Times New Roman" charset="0"/>
              </a:rPr>
              <a:t>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pPr>
              <a:buClr>
                <a:srgbClr val="C00000"/>
              </a:buClr>
              <a:buFont typeface="Wingdings" pitchFamily="2" charset="2"/>
              <a:buChar char="q"/>
            </a:pPr>
            <a:r>
              <a:rPr lang="fr-FR" altLang="zh-CN" dirty="0">
                <a:solidFill>
                  <a:srgbClr val="C00000"/>
                </a:solidFill>
                <a:ea typeface="SimSun" pitchFamily="2" charset="-122"/>
                <a:cs typeface="Times New Roman" charset="0"/>
              </a:rPr>
              <a:t>Qu'est-ce que </a:t>
            </a:r>
            <a:r>
              <a:rPr lang="fr-FR" altLang="zh-CN" dirty="0" err="1">
                <a:solidFill>
                  <a:srgbClr val="C00000"/>
                </a:solidFill>
                <a:ea typeface="SimSun" pitchFamily="2" charset="-122"/>
                <a:cs typeface="Times New Roman" charset="0"/>
              </a:rPr>
              <a:t>Gpresult</a:t>
            </a:r>
            <a:r>
              <a:rPr lang="fr-FR" altLang="zh-CN" dirty="0">
                <a:solidFill>
                  <a:srgbClr val="C00000"/>
                </a:solidFill>
                <a:ea typeface="SimSun" pitchFamily="2" charset="-122"/>
                <a:cs typeface="Times New Roman" charset="0"/>
              </a:rPr>
              <a:t> ?</a:t>
            </a:r>
            <a:r>
              <a:rPr lang="fr-FR" altLang="zh-CN" dirty="0">
                <a:solidFill>
                  <a:srgbClr val="C00000"/>
                </a:solidFill>
                <a:ea typeface="SimSun" pitchFamily="2" charset="-122"/>
                <a:cs typeface="Arial Narrow" charset="0"/>
              </a:rPr>
              <a:t> </a:t>
            </a:r>
            <a:r>
              <a:rPr lang="en-US" dirty="0">
                <a:solidFill>
                  <a:srgbClr val="C00000"/>
                </a:solidFill>
              </a:rPr>
              <a:t> </a:t>
            </a:r>
          </a:p>
          <a:p>
            <a:pPr>
              <a:buClr>
                <a:srgbClr val="C00000"/>
              </a:buClr>
              <a:buFont typeface="Wingdings" pitchFamily="2" charset="2"/>
              <a:buChar char="q"/>
            </a:pPr>
            <a:r>
              <a:rPr lang="fr-FR" altLang="zh-CN" dirty="0" smtClean="0">
                <a:solidFill>
                  <a:srgbClr val="C00000"/>
                </a:solidFill>
                <a:ea typeface="SimSun" pitchFamily="2" charset="-122"/>
              </a:rPr>
              <a:t>Description </a:t>
            </a:r>
            <a:r>
              <a:rPr lang="fr-FR" altLang="zh-CN" dirty="0">
                <a:solidFill>
                  <a:srgbClr val="C00000"/>
                </a:solidFill>
                <a:ea typeface="SimSun" pitchFamily="2" charset="-122"/>
              </a:rPr>
              <a:t>de la modélisation de stratégie de groupe</a:t>
            </a:r>
            <a:r>
              <a:rPr lang="en-IE" altLang="zh-CN" dirty="0">
                <a:solidFill>
                  <a:srgbClr val="C00000"/>
                </a:solidFill>
                <a:ea typeface="SimSun" pitchFamily="2" charset="-122"/>
              </a:rPr>
              <a:t> </a:t>
            </a:r>
            <a:endParaRPr lang="en-US" dirty="0">
              <a:solidFill>
                <a:srgbClr val="C00000"/>
              </a:solidFill>
            </a:endParaRPr>
          </a:p>
          <a:p>
            <a:pPr>
              <a:buClr>
                <a:srgbClr val="C00000"/>
              </a:buClr>
              <a:buFont typeface="Wingdings" pitchFamily="2" charset="2"/>
              <a:buChar char="q"/>
            </a:pPr>
            <a:r>
              <a:rPr lang="fr-FR" altLang="zh-CN" dirty="0" smtClean="0">
                <a:solidFill>
                  <a:srgbClr val="C00000"/>
                </a:solidFill>
                <a:ea typeface="SimSun" pitchFamily="2" charset="-122"/>
              </a:rPr>
              <a:t>Description </a:t>
            </a:r>
            <a:r>
              <a:rPr lang="fr-FR" altLang="zh-CN" dirty="0">
                <a:solidFill>
                  <a:srgbClr val="C00000"/>
                </a:solidFill>
                <a:ea typeface="SimSun" pitchFamily="2" charset="-122"/>
              </a:rPr>
              <a:t>des résultats de la stratégie de groupe</a:t>
            </a:r>
            <a:r>
              <a:rPr lang="en-IE" altLang="zh-CN" dirty="0">
                <a:solidFill>
                  <a:srgbClr val="C00000"/>
                </a:solidFill>
                <a:ea typeface="SimSun" pitchFamily="2" charset="-122"/>
              </a:rPr>
              <a:t> </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2"/>
          <p:cNvSpPr>
            <a:spLocks noGrp="1" noChangeArrowheads="1"/>
          </p:cNvSpPr>
          <p:nvPr>
            <p:ph type="title"/>
          </p:nvPr>
        </p:nvSpPr>
        <p:spPr/>
        <p:txBody>
          <a:bodyPr/>
          <a:lstStyle/>
          <a:p>
            <a:r>
              <a:rPr lang="fr-FR" altLang="zh-CN" b="1" dirty="0">
                <a:solidFill>
                  <a:srgbClr val="C00000"/>
                </a:solidFill>
                <a:ea typeface="SimSun" pitchFamily="2" charset="-122"/>
                <a:cs typeface="Times New Roman" charset="0"/>
              </a:rPr>
              <a:t>Qu'est-ce que </a:t>
            </a:r>
            <a:r>
              <a:rPr lang="fr-FR" altLang="zh-CN" b="1" dirty="0" err="1">
                <a:solidFill>
                  <a:srgbClr val="C00000"/>
                </a:solidFill>
                <a:ea typeface="SimSun" pitchFamily="2" charset="-122"/>
                <a:cs typeface="Times New Roman" charset="0"/>
              </a:rPr>
              <a:t>Gpupdate</a:t>
            </a:r>
            <a:r>
              <a:rPr lang="fr-FR"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21219" name="Rectangle-3"/>
          <p:cNvSpPr>
            <a:spLocks noGrp="1" noChangeArrowheads="1"/>
          </p:cNvSpPr>
          <p:nvPr>
            <p:ph sz="quarter" idx="1"/>
          </p:nvPr>
        </p:nvSpPr>
        <p:spPr>
          <a:xfrm>
            <a:off x="219653" y="2605643"/>
            <a:ext cx="7026275" cy="481941"/>
          </a:xfrm>
        </p:spPr>
        <p:txBody>
          <a:bodyPr>
            <a:normAutofit/>
          </a:bodyPr>
          <a:lstStyle/>
          <a:p>
            <a:pPr>
              <a:buFont typeface="Wingdings" charset="2"/>
              <a:buNone/>
            </a:pPr>
            <a:r>
              <a:rPr lang="fr-FR" altLang="zh-CN" sz="2400" b="1" i="1" u="sng" dirty="0">
                <a:solidFill>
                  <a:srgbClr val="000000"/>
                </a:solidFill>
                <a:ea typeface="SimSun" pitchFamily="2" charset="-122"/>
                <a:cs typeface="Times New Roman" charset="0"/>
              </a:rPr>
              <a:t>Syntaxe de </a:t>
            </a:r>
            <a:r>
              <a:rPr lang="fr-FR" altLang="zh-CN" sz="2400" b="1" i="1" u="sng" dirty="0" err="1">
                <a:solidFill>
                  <a:srgbClr val="000000"/>
                </a:solidFill>
                <a:ea typeface="SimSun" pitchFamily="2" charset="-122"/>
                <a:cs typeface="Times New Roman" charset="0"/>
              </a:rPr>
              <a:t>gpupdate</a:t>
            </a:r>
            <a:r>
              <a:rPr lang="en-IE" altLang="zh-CN" sz="2400" b="1" i="1" u="sng" dirty="0">
                <a:solidFill>
                  <a:srgbClr val="000000"/>
                </a:solidFill>
                <a:ea typeface="SimSun" pitchFamily="2" charset="-122"/>
                <a:cs typeface="Times New Roman" charset="0"/>
              </a:rPr>
              <a:t> </a:t>
            </a:r>
            <a:endParaRPr lang="en-US" sz="2400" b="1" i="1" u="sng" dirty="0">
              <a:solidFill>
                <a:srgbClr val="000000"/>
              </a:solidFill>
              <a:ea typeface="SimSun" pitchFamily="2" charset="-122"/>
              <a:cs typeface="Times New Roman" charset="0"/>
            </a:endParaRPr>
          </a:p>
        </p:txBody>
      </p:sp>
      <p:sp>
        <p:nvSpPr>
          <p:cNvPr id="521221" name="AutoShape-5"/>
          <p:cNvSpPr>
            <a:spLocks noChangeArrowheads="1"/>
          </p:cNvSpPr>
          <p:nvPr/>
        </p:nvSpPr>
        <p:spPr bwMode="auto">
          <a:xfrm>
            <a:off x="193572" y="3101824"/>
            <a:ext cx="8366557" cy="805158"/>
          </a:xfrm>
          <a:prstGeom prst="roundRect">
            <a:avLst>
              <a:gd name="adj" fmla="val 17500"/>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p>
            <a:pPr algn="l" defTabSz="457200">
              <a:lnSpc>
                <a:spcPct val="90000"/>
              </a:lnSpc>
              <a:tabLst>
                <a:tab pos="457200" algn="l"/>
              </a:tabLst>
            </a:pPr>
            <a:r>
              <a:rPr lang="fr-FR" altLang="zh-CN" sz="2200" dirty="0" err="1">
                <a:solidFill>
                  <a:srgbClr val="000000"/>
                </a:solidFill>
                <a:latin typeface="Lucida Sans Typewriter" charset="0"/>
                <a:ea typeface="SimSun" pitchFamily="2" charset="-122"/>
                <a:cs typeface="Times New Roman" charset="0"/>
              </a:rPr>
              <a:t>gpupdate</a:t>
            </a:r>
            <a:r>
              <a:rPr lang="fr-FR" altLang="zh-CN" sz="2200" dirty="0">
                <a:solidFill>
                  <a:srgbClr val="000000"/>
                </a:solidFill>
                <a:latin typeface="Lucida Sans Typewriter" charset="0"/>
                <a:ea typeface="SimSun" pitchFamily="2" charset="-122"/>
                <a:cs typeface="Times New Roman" charset="0"/>
              </a:rPr>
              <a:t> [/Target:{Computer | User}] [/Force] [/</a:t>
            </a:r>
            <a:r>
              <a:rPr lang="fr-FR" altLang="zh-CN" sz="2200" dirty="0" err="1">
                <a:solidFill>
                  <a:srgbClr val="000000"/>
                </a:solidFill>
                <a:latin typeface="Lucida Sans Typewriter" charset="0"/>
                <a:ea typeface="SimSun" pitchFamily="2" charset="-122"/>
                <a:cs typeface="Times New Roman" charset="0"/>
              </a:rPr>
              <a:t>Wait:</a:t>
            </a:r>
            <a:r>
              <a:rPr lang="fr-FR" altLang="zh-CN" sz="2200" i="1" dirty="0" err="1">
                <a:solidFill>
                  <a:srgbClr val="000000"/>
                </a:solidFill>
                <a:latin typeface="Lucida Sans Typewriter" charset="0"/>
                <a:ea typeface="SimSun" pitchFamily="2" charset="-122"/>
                <a:cs typeface="Times New Roman" charset="0"/>
              </a:rPr>
              <a:t>valeur</a:t>
            </a:r>
            <a:r>
              <a:rPr lang="fr-FR" altLang="zh-CN" sz="2200" dirty="0">
                <a:solidFill>
                  <a:srgbClr val="000000"/>
                </a:solidFill>
                <a:latin typeface="Lucida Sans Typewriter" charset="0"/>
                <a:ea typeface="SimSun" pitchFamily="2" charset="-122"/>
                <a:cs typeface="Times New Roman" charset="0"/>
              </a:rPr>
              <a:t>] [/</a:t>
            </a:r>
            <a:r>
              <a:rPr lang="fr-FR" altLang="zh-CN" sz="2200" dirty="0" err="1">
                <a:solidFill>
                  <a:srgbClr val="000000"/>
                </a:solidFill>
                <a:latin typeface="Lucida Sans Typewriter" charset="0"/>
                <a:ea typeface="SimSun" pitchFamily="2" charset="-122"/>
                <a:cs typeface="Times New Roman" charset="0"/>
              </a:rPr>
              <a:t>Logoff</a:t>
            </a:r>
            <a:r>
              <a:rPr lang="fr-FR" altLang="zh-CN" sz="2200" dirty="0">
                <a:solidFill>
                  <a:srgbClr val="000000"/>
                </a:solidFill>
                <a:latin typeface="Lucida Sans Typewriter" charset="0"/>
                <a:ea typeface="SimSun" pitchFamily="2" charset="-122"/>
                <a:cs typeface="Times New Roman" charset="0"/>
              </a:rPr>
              <a:t>] [/Boot] [/</a:t>
            </a:r>
            <a:r>
              <a:rPr lang="fr-FR" altLang="zh-CN" sz="2200" dirty="0" err="1">
                <a:solidFill>
                  <a:srgbClr val="000000"/>
                </a:solidFill>
                <a:latin typeface="Lucida Sans Typewriter" charset="0"/>
                <a:ea typeface="SimSun" pitchFamily="2" charset="-122"/>
                <a:cs typeface="Times New Roman" charset="0"/>
              </a:rPr>
              <a:t>Sync</a:t>
            </a:r>
            <a:r>
              <a:rPr lang="fr-FR" altLang="zh-CN" sz="2200" dirty="0">
                <a:solidFill>
                  <a:srgbClr val="000000"/>
                </a:solidFill>
                <a:latin typeface="Lucida Sans Typewriter" charset="0"/>
                <a:ea typeface="SimSun" pitchFamily="2" charset="-122"/>
                <a:cs typeface="Times New Roman" charset="0"/>
              </a:rPr>
              <a:t>]</a:t>
            </a:r>
            <a:r>
              <a:rPr lang="en-IE" altLang="zh-CN" sz="2200" dirty="0">
                <a:solidFill>
                  <a:srgbClr val="000000"/>
                </a:solidFill>
                <a:latin typeface="Lucida Sans Typewriter" charset="0"/>
                <a:ea typeface="SimSun" pitchFamily="2" charset="-122"/>
                <a:cs typeface="Times New Roman" charset="0"/>
              </a:rPr>
              <a:t> </a:t>
            </a:r>
            <a:endParaRPr lang="en-US" sz="2200" dirty="0">
              <a:solidFill>
                <a:srgbClr val="000000"/>
              </a:solidFill>
              <a:latin typeface="Lucida Sans Typewriter" charset="0"/>
              <a:ea typeface="SimSun" pitchFamily="2" charset="-122"/>
              <a:cs typeface="Times New Roman" charset="0"/>
            </a:endParaRPr>
          </a:p>
        </p:txBody>
      </p:sp>
      <p:sp>
        <p:nvSpPr>
          <p:cNvPr id="5" name="Rectangle 4"/>
          <p:cNvSpPr/>
          <p:nvPr/>
        </p:nvSpPr>
        <p:spPr>
          <a:xfrm>
            <a:off x="273132" y="1483334"/>
            <a:ext cx="8514608" cy="1107996"/>
          </a:xfrm>
          <a:prstGeom prst="rect">
            <a:avLst/>
          </a:prstGeom>
        </p:spPr>
        <p:txBody>
          <a:bodyPr wrap="square">
            <a:spAutoFit/>
          </a:bodyPr>
          <a:lstStyle/>
          <a:p>
            <a:pPr algn="l">
              <a:buFont typeface="Wingdings" pitchFamily="2" charset="2"/>
              <a:buChar char="q"/>
            </a:pPr>
            <a:r>
              <a:rPr lang="fr-FR" sz="2200" b="0" dirty="0" smtClean="0">
                <a:latin typeface="Arial" pitchFamily="34" charset="0"/>
                <a:cs typeface="Arial" pitchFamily="34" charset="0"/>
              </a:rPr>
              <a:t> C’est un utilitaire de ligne de commande qui actualise les paramètres de la stratégie de groupe locale et ceux stockés dans Active Directory, y compris les paramètres de sécurité.  </a:t>
            </a:r>
            <a:endParaRPr lang="fr-FR" sz="2200" b="0" dirty="0">
              <a:latin typeface="Arial" pitchFamily="34" charset="0"/>
              <a:cs typeface="Arial" pitchFamily="34" charset="0"/>
            </a:endParaRPr>
          </a:p>
        </p:txBody>
      </p:sp>
      <p:sp>
        <p:nvSpPr>
          <p:cNvPr id="6" name="Rectangle-3"/>
          <p:cNvSpPr txBox="1">
            <a:spLocks noChangeArrowheads="1"/>
          </p:cNvSpPr>
          <p:nvPr/>
        </p:nvSpPr>
        <p:spPr>
          <a:xfrm>
            <a:off x="241425" y="3933700"/>
            <a:ext cx="7026275" cy="481941"/>
          </a:xfrm>
          <a:prstGeom prst="rect">
            <a:avLst/>
          </a:prstGeom>
        </p:spPr>
        <p:txBody>
          <a:bodyPr vert="horz">
            <a:normAutofit/>
          </a:bodyPr>
          <a:lstStyle/>
          <a:p>
            <a:pPr marL="274320" marR="0" lvl="0" indent="-274320" algn="l" defTabSz="914400" rtl="0" eaLnBrk="1" fontAlgn="auto" latinLnBrk="0" hangingPunct="1">
              <a:lnSpc>
                <a:spcPct val="100000"/>
              </a:lnSpc>
              <a:spcBef>
                <a:spcPct val="20000"/>
              </a:spcBef>
              <a:spcAft>
                <a:spcPts val="0"/>
              </a:spcAft>
              <a:buClr>
                <a:schemeClr val="accent1"/>
              </a:buClr>
              <a:buSzPct val="85000"/>
              <a:buFont typeface="Wingdings" charset="2"/>
              <a:buNone/>
              <a:tabLst/>
              <a:defRPr/>
            </a:pPr>
            <a:r>
              <a:rPr kumimoji="0" lang="fr-FR" altLang="zh-CN" sz="2400" b="1" i="1" u="sng" strike="noStrike" kern="1200" cap="none" spc="0" normalizeH="0" baseline="0" noProof="0" dirty="0" smtClean="0">
                <a:ln>
                  <a:noFill/>
                </a:ln>
                <a:solidFill>
                  <a:srgbClr val="000000"/>
                </a:solidFill>
                <a:effectLst/>
                <a:uLnTx/>
                <a:uFillTx/>
                <a:latin typeface="+mn-lt"/>
                <a:ea typeface="SimSun" pitchFamily="2" charset="-122"/>
                <a:cs typeface="Times New Roman" charset="0"/>
              </a:rPr>
              <a:t>Exemples d’utilisation</a:t>
            </a:r>
            <a:endParaRPr kumimoji="0" lang="en-US" sz="2400" b="1" i="1" u="sng" strike="noStrike" kern="1200" cap="none" spc="0" normalizeH="0" baseline="0" noProof="0" dirty="0">
              <a:ln>
                <a:noFill/>
              </a:ln>
              <a:solidFill>
                <a:srgbClr val="000000"/>
              </a:solidFill>
              <a:effectLst/>
              <a:uLnTx/>
              <a:uFillTx/>
              <a:latin typeface="+mn-lt"/>
              <a:ea typeface="SimSun" pitchFamily="2" charset="-122"/>
              <a:cs typeface="Times New Roman" charset="0"/>
            </a:endParaRPr>
          </a:p>
        </p:txBody>
      </p:sp>
      <p:sp>
        <p:nvSpPr>
          <p:cNvPr id="7" name="Rectangle 6"/>
          <p:cNvSpPr/>
          <p:nvPr/>
        </p:nvSpPr>
        <p:spPr>
          <a:xfrm>
            <a:off x="1454727" y="4538883"/>
            <a:ext cx="4572000" cy="1446550"/>
          </a:xfrm>
          <a:prstGeom prst="rect">
            <a:avLst/>
          </a:prstGeom>
        </p:spPr>
        <p:txBody>
          <a:bodyPr wrap="square">
            <a:spAutoFit/>
          </a:bodyPr>
          <a:lstStyle/>
          <a:p>
            <a:pPr algn="l"/>
            <a:r>
              <a:rPr lang="fr-FR" sz="2200" dirty="0" smtClean="0"/>
              <a:t>C:\gpupdate</a:t>
            </a:r>
          </a:p>
          <a:p>
            <a:pPr algn="l"/>
            <a:r>
              <a:rPr lang="fr-FR" sz="2200" dirty="0" smtClean="0"/>
              <a:t>C:\gpupdate /</a:t>
            </a:r>
            <a:r>
              <a:rPr lang="fr-FR" sz="2200" dirty="0" err="1" smtClean="0"/>
              <a:t>target:computer</a:t>
            </a:r>
            <a:endParaRPr lang="fr-FR" sz="2200" dirty="0" smtClean="0"/>
          </a:p>
          <a:p>
            <a:pPr algn="l"/>
            <a:r>
              <a:rPr lang="fr-FR" sz="2200" dirty="0" smtClean="0"/>
              <a:t>C:\gpupdate /force /</a:t>
            </a:r>
            <a:r>
              <a:rPr lang="fr-FR" sz="2200" dirty="0" err="1" smtClean="0"/>
              <a:t>wait</a:t>
            </a:r>
            <a:r>
              <a:rPr lang="fr-FR" sz="2200" dirty="0" smtClean="0"/>
              <a:t>:100</a:t>
            </a:r>
          </a:p>
          <a:p>
            <a:pPr algn="l"/>
            <a:r>
              <a:rPr lang="fr-FR" sz="2200" dirty="0" smtClean="0"/>
              <a:t>C:\gpupdate /boot</a:t>
            </a:r>
            <a:endParaRPr lang="fr-F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1219">
                                            <p:txEl>
                                              <p:pRg st="0" end="0"/>
                                            </p:txEl>
                                          </p:spTgt>
                                        </p:tgtEl>
                                        <p:attrNameLst>
                                          <p:attrName>style.visibility</p:attrName>
                                        </p:attrNameLst>
                                      </p:cBhvr>
                                      <p:to>
                                        <p:strVal val="visible"/>
                                      </p:to>
                                    </p:set>
                                    <p:animEffect transition="in" filter="checkerboard(across)">
                                      <p:cBhvr>
                                        <p:cTn id="12" dur="1000"/>
                                        <p:tgtEl>
                                          <p:spTgt spid="521219">
                                            <p:txEl>
                                              <p:pRg st="0" end="0"/>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521221"/>
                                        </p:tgtEl>
                                        <p:attrNameLst>
                                          <p:attrName>style.visibility</p:attrName>
                                        </p:attrNameLst>
                                      </p:cBhvr>
                                      <p:to>
                                        <p:strVal val="visible"/>
                                      </p:to>
                                    </p:set>
                                    <p:animEffect transition="in" filter="checkerboard(across)">
                                      <p:cBhvr>
                                        <p:cTn id="15" dur="1000"/>
                                        <p:tgtEl>
                                          <p:spTgt spid="521221"/>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heckerboard(across)">
                                      <p:cBhvr>
                                        <p:cTn id="20" dur="1000"/>
                                        <p:tgtEl>
                                          <p:spTgt spid="6"/>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checkerboard(across)">
                                      <p:cBhvr>
                                        <p:cTn id="2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9" grpId="0" build="p"/>
      <p:bldP spid="521221" grpId="0" animBg="1"/>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2"/>
          <p:cNvSpPr>
            <a:spLocks noGrp="1" noChangeArrowheads="1"/>
          </p:cNvSpPr>
          <p:nvPr>
            <p:ph type="title"/>
          </p:nvPr>
        </p:nvSpPr>
        <p:spPr/>
        <p:txBody>
          <a:bodyPr/>
          <a:lstStyle/>
          <a:p>
            <a:r>
              <a:rPr lang="fr-FR" altLang="zh-CN" b="1" dirty="0">
                <a:solidFill>
                  <a:srgbClr val="C00000"/>
                </a:solidFill>
                <a:ea typeface="SimSun" pitchFamily="2" charset="-122"/>
                <a:cs typeface="Times New Roman" charset="0"/>
              </a:rPr>
              <a:t>Qu'est-ce que </a:t>
            </a:r>
            <a:r>
              <a:rPr lang="fr-FR" altLang="zh-CN" b="1" dirty="0" err="1">
                <a:solidFill>
                  <a:srgbClr val="C00000"/>
                </a:solidFill>
                <a:ea typeface="SimSun" pitchFamily="2" charset="-122"/>
                <a:cs typeface="Times New Roman" charset="0"/>
              </a:rPr>
              <a:t>Gpresult</a:t>
            </a:r>
            <a:r>
              <a:rPr lang="fr-FR"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22243" name="Rectangle-3"/>
          <p:cNvSpPr>
            <a:spLocks noGrp="1" noChangeArrowheads="1"/>
          </p:cNvSpPr>
          <p:nvPr>
            <p:ph sz="quarter" idx="1"/>
          </p:nvPr>
        </p:nvSpPr>
        <p:spPr>
          <a:xfrm>
            <a:off x="294863" y="3177637"/>
            <a:ext cx="7026275" cy="709613"/>
          </a:xfrm>
        </p:spPr>
        <p:txBody>
          <a:bodyPr>
            <a:normAutofit/>
          </a:bodyPr>
          <a:lstStyle/>
          <a:p>
            <a:pPr>
              <a:buFont typeface="Wingdings" charset="2"/>
              <a:buNone/>
            </a:pPr>
            <a:r>
              <a:rPr lang="fr-FR" altLang="zh-CN" sz="2400" b="1" i="1" u="sng" dirty="0">
                <a:solidFill>
                  <a:srgbClr val="000000"/>
                </a:solidFill>
                <a:ea typeface="SimSun" pitchFamily="2" charset="-122"/>
                <a:cs typeface="Times New Roman" charset="0"/>
              </a:rPr>
              <a:t>Syntaxe de </a:t>
            </a:r>
            <a:r>
              <a:rPr lang="fr-FR" altLang="zh-CN" sz="2400" b="1" i="1" u="sng" dirty="0" err="1">
                <a:solidFill>
                  <a:srgbClr val="000000"/>
                </a:solidFill>
                <a:ea typeface="SimSun" pitchFamily="2" charset="-122"/>
                <a:cs typeface="Times New Roman" charset="0"/>
              </a:rPr>
              <a:t>gpresult</a:t>
            </a:r>
            <a:r>
              <a:rPr lang="en-IE" altLang="zh-CN" sz="2400" b="1" i="1" u="sng" dirty="0">
                <a:solidFill>
                  <a:srgbClr val="000000"/>
                </a:solidFill>
                <a:ea typeface="SimSun" pitchFamily="2" charset="-122"/>
                <a:cs typeface="Times New Roman" charset="0"/>
              </a:rPr>
              <a:t> </a:t>
            </a:r>
            <a:endParaRPr lang="en-US" sz="2400" b="1" i="1" u="sng" dirty="0">
              <a:solidFill>
                <a:srgbClr val="000000"/>
              </a:solidFill>
              <a:ea typeface="SimSun" pitchFamily="2" charset="-122"/>
              <a:cs typeface="Times New Roman" charset="0"/>
            </a:endParaRPr>
          </a:p>
        </p:txBody>
      </p:sp>
      <p:sp>
        <p:nvSpPr>
          <p:cNvPr id="522244" name="AutoShape-4"/>
          <p:cNvSpPr>
            <a:spLocks noChangeArrowheads="1"/>
          </p:cNvSpPr>
          <p:nvPr/>
        </p:nvSpPr>
        <p:spPr bwMode="auto">
          <a:xfrm>
            <a:off x="388462" y="3931225"/>
            <a:ext cx="8480425" cy="1092037"/>
          </a:xfrm>
          <a:prstGeom prst="roundRect">
            <a:avLst>
              <a:gd name="adj" fmla="val 17500"/>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p>
            <a:pPr algn="l" defTabSz="457200">
              <a:lnSpc>
                <a:spcPct val="90000"/>
              </a:lnSpc>
              <a:tabLst>
                <a:tab pos="457200" algn="l"/>
              </a:tabLst>
            </a:pPr>
            <a:r>
              <a:rPr lang="fr-FR" altLang="zh-CN" sz="2200">
                <a:solidFill>
                  <a:srgbClr val="000000"/>
                </a:solidFill>
                <a:latin typeface="Lucida Sans Typewriter" charset="0"/>
                <a:ea typeface="SimSun" pitchFamily="2" charset="-122"/>
                <a:cs typeface="Times New Roman" charset="0"/>
              </a:rPr>
              <a:t>gpresult [/s </a:t>
            </a:r>
            <a:r>
              <a:rPr lang="fr-FR" altLang="zh-CN" sz="2200" i="1">
                <a:solidFill>
                  <a:srgbClr val="000000"/>
                </a:solidFill>
                <a:latin typeface="Lucida Sans Typewriter" charset="0"/>
                <a:ea typeface="SimSun" pitchFamily="2" charset="-122"/>
                <a:cs typeface="Times New Roman" charset="0"/>
              </a:rPr>
              <a:t>Ordinateur</a:t>
            </a:r>
            <a:r>
              <a:rPr lang="fr-FR" altLang="zh-CN" sz="2200">
                <a:solidFill>
                  <a:srgbClr val="000000"/>
                </a:solidFill>
                <a:latin typeface="Lucida Sans Typewriter" charset="0"/>
                <a:ea typeface="SimSun" pitchFamily="2" charset="-122"/>
                <a:cs typeface="Times New Roman" charset="0"/>
              </a:rPr>
              <a:t> [/u </a:t>
            </a:r>
            <a:r>
              <a:rPr lang="fr-FR" altLang="zh-CN" sz="2200" i="1">
                <a:solidFill>
                  <a:srgbClr val="000000"/>
                </a:solidFill>
                <a:latin typeface="Lucida Sans Typewriter" charset="0"/>
                <a:ea typeface="SimSun" pitchFamily="2" charset="-122"/>
                <a:cs typeface="Times New Roman" charset="0"/>
              </a:rPr>
              <a:t>Domaine\Utilisateur</a:t>
            </a:r>
            <a:r>
              <a:rPr lang="fr-FR" altLang="zh-CN" sz="2200">
                <a:solidFill>
                  <a:srgbClr val="000000"/>
                </a:solidFill>
                <a:latin typeface="Lucida Sans Typewriter" charset="0"/>
                <a:ea typeface="SimSun" pitchFamily="2" charset="-122"/>
                <a:cs typeface="Times New Roman" charset="0"/>
              </a:rPr>
              <a:t> /p </a:t>
            </a:r>
            <a:r>
              <a:rPr lang="fr-FR" altLang="zh-CN" sz="2200" i="1">
                <a:solidFill>
                  <a:srgbClr val="000000"/>
                </a:solidFill>
                <a:latin typeface="Lucida Sans Typewriter" charset="0"/>
                <a:ea typeface="SimSun" pitchFamily="2" charset="-122"/>
                <a:cs typeface="Times New Roman" charset="0"/>
              </a:rPr>
              <a:t>Mot de passe</a:t>
            </a:r>
            <a:r>
              <a:rPr lang="fr-FR" altLang="zh-CN" sz="2200">
                <a:solidFill>
                  <a:srgbClr val="000000"/>
                </a:solidFill>
                <a:latin typeface="Lucida Sans Typewriter" charset="0"/>
                <a:ea typeface="SimSun" pitchFamily="2" charset="-122"/>
                <a:cs typeface="Times New Roman" charset="0"/>
              </a:rPr>
              <a:t>]] [/user </a:t>
            </a:r>
            <a:r>
              <a:rPr lang="fr-FR" altLang="zh-CN" sz="2200" i="1">
                <a:solidFill>
                  <a:srgbClr val="000000"/>
                </a:solidFill>
                <a:latin typeface="Lucida Sans Typewriter" charset="0"/>
                <a:ea typeface="SimSun" pitchFamily="2" charset="-122"/>
                <a:cs typeface="Times New Roman" charset="0"/>
              </a:rPr>
              <a:t>NomUtilisateurCible</a:t>
            </a:r>
            <a:r>
              <a:rPr lang="fr-FR" altLang="zh-CN" sz="2200">
                <a:solidFill>
                  <a:srgbClr val="000000"/>
                </a:solidFill>
                <a:latin typeface="Lucida Sans Typewriter" charset="0"/>
                <a:ea typeface="SimSun" pitchFamily="2" charset="-122"/>
                <a:cs typeface="Times New Roman" charset="0"/>
              </a:rPr>
              <a:t>] [/scope {user|computer}] [/v] [/z]</a:t>
            </a:r>
            <a:r>
              <a:rPr lang="en-IE" altLang="zh-CN" sz="2200">
                <a:solidFill>
                  <a:srgbClr val="000000"/>
                </a:solidFill>
                <a:latin typeface="Lucida Sans Typewriter" charset="0"/>
                <a:ea typeface="SimSun" pitchFamily="2" charset="-122"/>
                <a:cs typeface="Times New Roman" charset="0"/>
              </a:rPr>
              <a:t> </a:t>
            </a:r>
            <a:endParaRPr lang="en-US" sz="2200">
              <a:solidFill>
                <a:srgbClr val="000000"/>
              </a:solidFill>
              <a:latin typeface="Lucida Sans Typewriter" charset="0"/>
              <a:ea typeface="SimSun" pitchFamily="2" charset="-122"/>
              <a:cs typeface="Times New Roman" charset="0"/>
            </a:endParaRPr>
          </a:p>
        </p:txBody>
      </p:sp>
      <p:sp>
        <p:nvSpPr>
          <p:cNvPr id="5" name="Rectangle 4"/>
          <p:cNvSpPr/>
          <p:nvPr/>
        </p:nvSpPr>
        <p:spPr>
          <a:xfrm>
            <a:off x="290946" y="1546301"/>
            <a:ext cx="8473044" cy="1107996"/>
          </a:xfrm>
          <a:prstGeom prst="rect">
            <a:avLst/>
          </a:prstGeom>
        </p:spPr>
        <p:txBody>
          <a:bodyPr wrap="square">
            <a:spAutoFit/>
          </a:bodyPr>
          <a:lstStyle/>
          <a:p>
            <a:pPr algn="l"/>
            <a:r>
              <a:rPr lang="fr-FR" sz="2200" b="0" dirty="0" smtClean="0">
                <a:latin typeface="Arial" pitchFamily="34" charset="0"/>
                <a:cs typeface="Arial" pitchFamily="34" charset="0"/>
              </a:rPr>
              <a:t>La commande </a:t>
            </a:r>
            <a:r>
              <a:rPr lang="fr-FR" sz="2200" dirty="0" err="1" smtClean="0">
                <a:latin typeface="Arial" pitchFamily="34" charset="0"/>
                <a:cs typeface="Arial" pitchFamily="34" charset="0"/>
              </a:rPr>
              <a:t>gpresult</a:t>
            </a:r>
            <a:r>
              <a:rPr lang="fr-FR" sz="2200" b="0" dirty="0" smtClean="0">
                <a:latin typeface="Arial" pitchFamily="34" charset="0"/>
                <a:cs typeface="Arial" pitchFamily="34" charset="0"/>
              </a:rPr>
              <a:t> affiche les paramètres de stratégie de groupe et les données du jeu de stratégies résultant (</a:t>
            </a:r>
            <a:r>
              <a:rPr lang="fr-FR" sz="2200" b="0" dirty="0" err="1" smtClean="0">
                <a:latin typeface="Arial" pitchFamily="34" charset="0"/>
                <a:cs typeface="Arial" pitchFamily="34" charset="0"/>
              </a:rPr>
              <a:t>RSoP</a:t>
            </a:r>
            <a:r>
              <a:rPr lang="fr-FR" sz="2200" b="0" dirty="0" smtClean="0">
                <a:latin typeface="Arial" pitchFamily="34" charset="0"/>
                <a:cs typeface="Arial" pitchFamily="34" charset="0"/>
              </a:rPr>
              <a:t>) d’un utilisateur ou d’un ordinateur.</a:t>
            </a:r>
            <a:endParaRPr lang="fr-FR" sz="2200" b="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2243">
                                            <p:txEl>
                                              <p:pRg st="0" end="0"/>
                                            </p:txEl>
                                          </p:spTgt>
                                        </p:tgtEl>
                                        <p:attrNameLst>
                                          <p:attrName>style.visibility</p:attrName>
                                        </p:attrNameLst>
                                      </p:cBhvr>
                                      <p:to>
                                        <p:strVal val="visible"/>
                                      </p:to>
                                    </p:set>
                                    <p:animEffect transition="in" filter="checkerboard(across)">
                                      <p:cBhvr>
                                        <p:cTn id="12" dur="1000"/>
                                        <p:tgtEl>
                                          <p:spTgt spid="522243">
                                            <p:txEl>
                                              <p:pRg st="0" end="0"/>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522244"/>
                                        </p:tgtEl>
                                        <p:attrNameLst>
                                          <p:attrName>style.visibility</p:attrName>
                                        </p:attrNameLst>
                                      </p:cBhvr>
                                      <p:to>
                                        <p:strVal val="visible"/>
                                      </p:to>
                                    </p:set>
                                    <p:animEffect transition="in" filter="checkerboard(across)">
                                      <p:cBhvr>
                                        <p:cTn id="15" dur="1000"/>
                                        <p:tgtEl>
                                          <p:spTgt spid="52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3" grpId="0" build="p"/>
      <p:bldP spid="522244" grpId="0" animBg="1"/>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7" name="Rectangle-5"/>
          <p:cNvSpPr>
            <a:spLocks noGrp="1" noChangeArrowheads="1"/>
          </p:cNvSpPr>
          <p:nvPr>
            <p:ph type="title"/>
          </p:nvPr>
        </p:nvSpPr>
        <p:spPr>
          <a:xfrm>
            <a:off x="154379" y="154379"/>
            <a:ext cx="8823366" cy="940048"/>
          </a:xfrm>
        </p:spPr>
        <p:txBody>
          <a:bodyPr>
            <a:normAutofit fontScale="90000"/>
          </a:bodyPr>
          <a:lstStyle/>
          <a:p>
            <a:r>
              <a:rPr lang="fr-FR" altLang="zh-CN" b="1" dirty="0">
                <a:solidFill>
                  <a:srgbClr val="C00000"/>
                </a:solidFill>
                <a:ea typeface="SimSun" pitchFamily="2" charset="-122"/>
                <a:cs typeface="Times New Roman" charset="0"/>
              </a:rPr>
              <a:t>Description de la modélisation de stratégie </a:t>
            </a:r>
            <a:r>
              <a:rPr lang="fr-FR" altLang="zh-CN" b="1" dirty="0" smtClean="0">
                <a:solidFill>
                  <a:srgbClr val="C00000"/>
                </a:solidFill>
                <a:ea typeface="SimSun" pitchFamily="2" charset="-122"/>
                <a:cs typeface="Times New Roman" charset="0"/>
              </a:rPr>
              <a:t>de </a:t>
            </a:r>
            <a:r>
              <a:rPr lang="fr-FR" altLang="zh-CN" b="1" dirty="0">
                <a:solidFill>
                  <a:srgbClr val="C00000"/>
                </a:solidFill>
                <a:ea typeface="SimSun" pitchFamily="2" charset="-122"/>
                <a:cs typeface="Times New Roman" charset="0"/>
              </a:rPr>
              <a:t>groupe</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pic>
        <p:nvPicPr>
          <p:cNvPr id="530448" name="Picture 16" descr="2144A0926"/>
          <p:cNvPicPr>
            <a:picLocks noGrp="1" noChangeAspect="1" noChangeArrowheads="1"/>
          </p:cNvPicPr>
          <p:nvPr>
            <p:ph sz="quarter" idx="1"/>
          </p:nvPr>
        </p:nvPicPr>
        <p:blipFill>
          <a:blip r:embed="rId3"/>
          <a:srcRect t="11013" b="56520"/>
          <a:stretch>
            <a:fillRect/>
          </a:stretch>
        </p:blipFill>
        <p:spPr>
          <a:xfrm>
            <a:off x="168273" y="3935723"/>
            <a:ext cx="8797597" cy="2049441"/>
          </a:xfrm>
          <a:noFill/>
          <a:ln/>
        </p:spPr>
      </p:pic>
      <p:sp>
        <p:nvSpPr>
          <p:cNvPr id="4" name="Rectangle 3"/>
          <p:cNvSpPr/>
          <p:nvPr/>
        </p:nvSpPr>
        <p:spPr>
          <a:xfrm>
            <a:off x="154379" y="1495208"/>
            <a:ext cx="8823365" cy="2200602"/>
          </a:xfrm>
          <a:prstGeom prst="rect">
            <a:avLst/>
          </a:prstGeom>
        </p:spPr>
        <p:txBody>
          <a:bodyPr wrap="square">
            <a:spAutoFit/>
          </a:bodyPr>
          <a:lstStyle/>
          <a:p>
            <a:pPr algn="l">
              <a:spcAft>
                <a:spcPts val="600"/>
              </a:spcAft>
              <a:buFont typeface="Wingdings" pitchFamily="2" charset="2"/>
              <a:buChar char="q"/>
            </a:pPr>
            <a:r>
              <a:rPr lang="fr-FR" sz="2200" dirty="0" smtClean="0"/>
              <a:t> Windows Server 2003 permet de simuler le déploiement d’un objet de stratégie de groupe appliqué aux utilisateurs et aux ordinateurs avant de le déployer réellement. </a:t>
            </a:r>
          </a:p>
          <a:p>
            <a:pPr algn="l">
              <a:spcAft>
                <a:spcPts val="600"/>
              </a:spcAft>
              <a:buFont typeface="Wingdings" pitchFamily="2" charset="2"/>
              <a:buChar char="q"/>
            </a:pPr>
            <a:r>
              <a:rPr lang="fr-FR" sz="2200" dirty="0" smtClean="0"/>
              <a:t> La simulation crée un rapport qui prend en compte l’unité d’organisation de l’utilisateur et celle de l’ordinateur, de l’appartenance à un groupe ou le filtrage et les conflits d’héritage de stratégie de groupe.</a:t>
            </a:r>
            <a:endParaRPr lang="fr-F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heckerboard(across)">
                                      <p:cBhvr>
                                        <p:cTn id="12" dur="1000"/>
                                        <p:tgtEl>
                                          <p:spTgt spid="4">
                                            <p:txEl>
                                              <p:pRg st="1" end="1"/>
                                            </p:txEl>
                                          </p:spTgt>
                                        </p:tgtEl>
                                      </p:cBhvr>
                                    </p:animEffect>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530448"/>
                                        </p:tgtEl>
                                        <p:attrNameLst>
                                          <p:attrName>style.visibility</p:attrName>
                                        </p:attrNameLst>
                                      </p:cBhvr>
                                      <p:to>
                                        <p:strVal val="visible"/>
                                      </p:to>
                                    </p:set>
                                    <p:animEffect transition="in" filter="checkerboard(across)">
                                      <p:cBhvr>
                                        <p:cTn id="16" dur="1000"/>
                                        <p:tgtEl>
                                          <p:spTgt spid="530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2"/>
          <p:cNvSpPr>
            <a:spLocks noGrp="1" noChangeArrowheads="1"/>
          </p:cNvSpPr>
          <p:nvPr>
            <p:ph type="title"/>
          </p:nvPr>
        </p:nvSpPr>
        <p:spPr/>
        <p:txBody>
          <a:bodyPr>
            <a:normAutofit fontScale="90000"/>
          </a:bodyPr>
          <a:lstStyle/>
          <a:p>
            <a:r>
              <a:rPr lang="fr-FR" altLang="zh-CN" b="1" dirty="0">
                <a:solidFill>
                  <a:srgbClr val="C00000"/>
                </a:solidFill>
                <a:ea typeface="SimSun" pitchFamily="2" charset="-122"/>
                <a:cs typeface="Times New Roman" charset="0"/>
              </a:rPr>
              <a:t>Description des résultats de la stratégie </a:t>
            </a:r>
            <a:br>
              <a:rPr lang="fr-FR" altLang="zh-CN" b="1" dirty="0">
                <a:solidFill>
                  <a:srgbClr val="C00000"/>
                </a:solidFill>
                <a:ea typeface="SimSun" pitchFamily="2" charset="-122"/>
                <a:cs typeface="Times New Roman" charset="0"/>
              </a:rPr>
            </a:br>
            <a:r>
              <a:rPr lang="fr-FR" altLang="zh-CN" b="1" dirty="0">
                <a:solidFill>
                  <a:srgbClr val="C00000"/>
                </a:solidFill>
                <a:ea typeface="SimSun" pitchFamily="2" charset="-122"/>
                <a:cs typeface="Times New Roman" charset="0"/>
              </a:rPr>
              <a:t>de groupe</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pic>
        <p:nvPicPr>
          <p:cNvPr id="536589" name="Picture 13" descr="2144A0923"/>
          <p:cNvPicPr>
            <a:picLocks noChangeAspect="1" noChangeArrowheads="1"/>
          </p:cNvPicPr>
          <p:nvPr/>
        </p:nvPicPr>
        <p:blipFill>
          <a:blip r:embed="rId3"/>
          <a:srcRect t="11588" b="4921"/>
          <a:stretch>
            <a:fillRect/>
          </a:stretch>
        </p:blipFill>
        <p:spPr bwMode="auto">
          <a:xfrm>
            <a:off x="1004950" y="2525398"/>
            <a:ext cx="7134101" cy="4273227"/>
          </a:xfrm>
          <a:prstGeom prst="rect">
            <a:avLst/>
          </a:prstGeom>
          <a:noFill/>
        </p:spPr>
      </p:pic>
      <p:sp>
        <p:nvSpPr>
          <p:cNvPr id="4" name="Rectangle 3"/>
          <p:cNvSpPr/>
          <p:nvPr/>
        </p:nvSpPr>
        <p:spPr>
          <a:xfrm>
            <a:off x="172192" y="1360300"/>
            <a:ext cx="8793678" cy="1107996"/>
          </a:xfrm>
          <a:prstGeom prst="rect">
            <a:avLst/>
          </a:prstGeom>
        </p:spPr>
        <p:txBody>
          <a:bodyPr wrap="square">
            <a:spAutoFit/>
          </a:bodyPr>
          <a:lstStyle/>
          <a:p>
            <a:pPr algn="l"/>
            <a:r>
              <a:rPr lang="fr-FR" sz="2200" dirty="0" smtClean="0"/>
              <a:t>Contrairement à la modélisation de stratégie de groupe, les données des résultats de la stratégie de groupe sont obtenues auprès du client et ne sont pas simulées sur le contrôleur de domaine</a:t>
            </a:r>
            <a:endParaRPr lang="fr-F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536589"/>
                                        </p:tgtEl>
                                        <p:attrNameLst>
                                          <p:attrName>style.visibility</p:attrName>
                                        </p:attrNameLst>
                                      </p:cBhvr>
                                      <p:to>
                                        <p:strVal val="visible"/>
                                      </p:to>
                                    </p:set>
                                    <p:animEffect transition="in" filter="checkerboard(across)">
                                      <p:cBhvr>
                                        <p:cTn id="11" dur="1000"/>
                                        <p:tgtEl>
                                          <p:spTgt spid="536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301752" y="1425039"/>
            <a:ext cx="8503920" cy="4999511"/>
          </a:xfrm>
        </p:spPr>
        <p:txBody>
          <a:bodyPr>
            <a:normAutofit fontScale="77500" lnSpcReduction="20000"/>
          </a:bodyPr>
          <a:lstStyle/>
          <a:p>
            <a:pPr marL="514350" lvl="0" indent="-514350">
              <a:lnSpc>
                <a:spcPct val="120000"/>
              </a:lnSpc>
              <a:buFont typeface="+mj-lt"/>
              <a:buAutoNum type="arabicPeriod"/>
            </a:pPr>
            <a:r>
              <a:rPr lang="fr-FR" dirty="0" smtClean="0"/>
              <a:t>Que contient un objet stratégie de groupe ?</a:t>
            </a:r>
          </a:p>
          <a:p>
            <a:pPr>
              <a:lnSpc>
                <a:spcPct val="120000"/>
              </a:lnSpc>
            </a:pPr>
            <a:r>
              <a:rPr lang="fr-FR" i="1" dirty="0" smtClean="0"/>
              <a:t>Un objet stratégie de groupe contient deux grandes familles de paramètres. Les paramètres ordinateur s’appliquent aux ordinateurs, tandis que les paramètres utilisateur s’appliquent aux utilisateurs.</a:t>
            </a:r>
            <a:endParaRPr lang="fr-FR" dirty="0" smtClean="0"/>
          </a:p>
          <a:p>
            <a:pPr marL="514350" lvl="0" indent="-514350">
              <a:lnSpc>
                <a:spcPct val="120000"/>
              </a:lnSpc>
              <a:buFont typeface="+mj-lt"/>
              <a:buAutoNum type="arabicPeriod" startAt="2"/>
            </a:pPr>
            <a:r>
              <a:rPr lang="fr-FR" dirty="0" smtClean="0"/>
              <a:t>Quels sont les éléments sur lesquels on peut lier une GPO ?</a:t>
            </a:r>
          </a:p>
          <a:p>
            <a:pPr lvl="0">
              <a:lnSpc>
                <a:spcPct val="120000"/>
              </a:lnSpc>
            </a:pPr>
            <a:r>
              <a:rPr lang="fr-FR" dirty="0" smtClean="0"/>
              <a:t>Un site, un domaine une Unité d'organisation</a:t>
            </a:r>
          </a:p>
          <a:p>
            <a:pPr marL="514350" lvl="0" indent="-514350">
              <a:lnSpc>
                <a:spcPct val="120000"/>
              </a:lnSpc>
              <a:buFont typeface="+mj-lt"/>
              <a:buAutoNum type="arabicPeriod" startAt="3"/>
            </a:pPr>
            <a:r>
              <a:rPr lang="fr-FR" dirty="0" smtClean="0"/>
              <a:t>Quels sont les outils d’administration Active Directory qui permettent de lier des objets stratégies de groupe ?</a:t>
            </a:r>
          </a:p>
          <a:p>
            <a:pPr>
              <a:lnSpc>
                <a:spcPct val="120000"/>
              </a:lnSpc>
            </a:pPr>
            <a:r>
              <a:rPr lang="fr-FR" i="1" dirty="0" smtClean="0"/>
              <a:t>Utilisateurs et ordinateurs Active Directory pour lier des GPO sur des domaines et </a:t>
            </a:r>
            <a:r>
              <a:rPr lang="fr-FR" i="1" dirty="0" err="1" smtClean="0"/>
              <a:t>OUs</a:t>
            </a:r>
            <a:r>
              <a:rPr lang="fr-FR" i="1" dirty="0" smtClean="0"/>
              <a:t>, </a:t>
            </a:r>
          </a:p>
          <a:p>
            <a:pPr>
              <a:lnSpc>
                <a:spcPct val="120000"/>
              </a:lnSpc>
            </a:pPr>
            <a:r>
              <a:rPr lang="fr-FR" i="1" dirty="0" smtClean="0"/>
              <a:t>Sites et services AD pour lier des GPO sur des sites AD. </a:t>
            </a:r>
          </a:p>
          <a:p>
            <a:pPr>
              <a:lnSpc>
                <a:spcPct val="120000"/>
              </a:lnSpc>
            </a:pPr>
            <a:r>
              <a:rPr lang="fr-FR" i="1" dirty="0" smtClean="0"/>
              <a:t>la console de gestion des stratégies de groupe GPMC</a:t>
            </a:r>
            <a:endParaRPr lang="fr-FR" dirty="0" smtClean="0"/>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heckerboard(across)">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heckerboard(across)">
                                      <p:cBhvr>
                                        <p:cTn id="4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301752" y="1425039"/>
            <a:ext cx="8503920" cy="4999511"/>
          </a:xfrm>
        </p:spPr>
        <p:txBody>
          <a:bodyPr>
            <a:normAutofit lnSpcReduction="10000"/>
          </a:bodyPr>
          <a:lstStyle/>
          <a:p>
            <a:pPr marL="514350" lvl="0" indent="-514350">
              <a:buFont typeface="+mj-lt"/>
              <a:buAutoNum type="arabicPeriod" startAt="4"/>
            </a:pPr>
            <a:r>
              <a:rPr lang="fr-FR" dirty="0" smtClean="0"/>
              <a:t>Est-il possible de lier le même objet stratégie de groupe à plusieurs sites, domaines ou </a:t>
            </a:r>
            <a:r>
              <a:rPr lang="fr-FR" dirty="0" err="1" smtClean="0"/>
              <a:t>OUs</a:t>
            </a:r>
            <a:r>
              <a:rPr lang="fr-FR" dirty="0" smtClean="0"/>
              <a:t> ?</a:t>
            </a:r>
          </a:p>
          <a:p>
            <a:r>
              <a:rPr lang="fr-FR" i="1" dirty="0" smtClean="0"/>
              <a:t>Oui.</a:t>
            </a:r>
            <a:endParaRPr lang="fr-FR" dirty="0" smtClean="0"/>
          </a:p>
          <a:p>
            <a:pPr marL="514350" lvl="0" indent="-514350">
              <a:buFont typeface="+mj-lt"/>
              <a:buAutoNum type="arabicPeriod" startAt="5"/>
            </a:pPr>
            <a:r>
              <a:rPr lang="fr-FR" dirty="0" smtClean="0"/>
              <a:t>Est-il possible de lier plusieurs objets stratégies de groupe à un même site, domaine ou </a:t>
            </a:r>
            <a:r>
              <a:rPr lang="fr-FR" dirty="0" err="1" smtClean="0"/>
              <a:t>OU</a:t>
            </a:r>
            <a:r>
              <a:rPr lang="fr-FR" dirty="0" smtClean="0"/>
              <a:t> ?</a:t>
            </a:r>
          </a:p>
          <a:p>
            <a:r>
              <a:rPr lang="fr-FR" i="1" dirty="0" smtClean="0"/>
              <a:t>Oui.</a:t>
            </a:r>
            <a:r>
              <a:rPr lang="fr-FR" dirty="0" smtClean="0"/>
              <a:t> </a:t>
            </a:r>
          </a:p>
          <a:p>
            <a:pPr marL="514350" lvl="0" indent="-514350">
              <a:buFont typeface="+mj-lt"/>
              <a:buAutoNum type="arabicPeriod" startAt="6"/>
            </a:pPr>
            <a:r>
              <a:rPr lang="fr-FR" dirty="0" smtClean="0"/>
              <a:t>Que se passe-t-il lorsque plusieurs stratégies de groupe s’appliquent sur le même conteneur ?</a:t>
            </a:r>
          </a:p>
          <a:p>
            <a:r>
              <a:rPr lang="fr-FR" i="1" dirty="0" smtClean="0"/>
              <a:t>S’il n’y a pas de conflit, les paramètres se cumulent. </a:t>
            </a:r>
          </a:p>
          <a:p>
            <a:r>
              <a:rPr lang="fr-FR" i="1" dirty="0" smtClean="0"/>
              <a:t>S’il y a un conflit sur un paramètre donné, alors c’est la dernière modification qui l’emporte.</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heckerboard(across)">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301751" y="1425039"/>
            <a:ext cx="8640367" cy="4952010"/>
          </a:xfrm>
        </p:spPr>
        <p:txBody>
          <a:bodyPr>
            <a:noAutofit/>
          </a:bodyPr>
          <a:lstStyle/>
          <a:p>
            <a:pPr marL="457200" lvl="0" indent="-457200">
              <a:buFont typeface="+mj-lt"/>
              <a:buAutoNum type="arabicPeriod" startAt="7"/>
            </a:pPr>
            <a:r>
              <a:rPr lang="fr-FR" sz="2200" dirty="0" smtClean="0"/>
              <a:t>Dans quel ordre s’appliquent les GPO lorsqu’ils sont reliés sur le même conteneur de type site, domaine ou </a:t>
            </a:r>
            <a:r>
              <a:rPr lang="fr-FR" sz="2200" dirty="0" err="1" smtClean="0"/>
              <a:t>OU</a:t>
            </a:r>
            <a:r>
              <a:rPr lang="fr-FR" sz="2200" dirty="0" smtClean="0"/>
              <a:t> ?</a:t>
            </a:r>
          </a:p>
          <a:p>
            <a:r>
              <a:rPr lang="fr-FR" sz="2200" i="1" dirty="0" smtClean="0"/>
              <a:t>Les GPO sont appliqués de bas en haut. La stratégie de groupe située au plus haut est donc la plus prioritaire.</a:t>
            </a:r>
          </a:p>
          <a:p>
            <a:pPr marL="457200" lvl="0" indent="-457200">
              <a:buFont typeface="+mj-lt"/>
              <a:buAutoNum type="arabicPeriod" startAt="8"/>
            </a:pPr>
            <a:r>
              <a:rPr lang="fr-FR" sz="2200" i="1" dirty="0" smtClean="0"/>
              <a:t> </a:t>
            </a:r>
            <a:r>
              <a:rPr lang="fr-FR" sz="2200" dirty="0" smtClean="0"/>
              <a:t>Comment pouvez-vous faire en sorte que les GPO des </a:t>
            </a:r>
            <a:r>
              <a:rPr lang="fr-FR" sz="2200" dirty="0" err="1" smtClean="0"/>
              <a:t>OUs</a:t>
            </a:r>
            <a:r>
              <a:rPr lang="fr-FR" sz="2200" dirty="0" smtClean="0"/>
              <a:t> de niveaux supérieurs ne s’appliquent pas sur une OU particulière ?</a:t>
            </a:r>
          </a:p>
          <a:p>
            <a:r>
              <a:rPr lang="fr-FR" sz="2200" i="1" dirty="0" smtClean="0"/>
              <a:t>Il suffit de valider l’option "Bloquer l’héritage" sur l'OU.</a:t>
            </a:r>
            <a:endParaRPr lang="fr-FR" sz="22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8710</TotalTime>
  <Words>916</Words>
  <Application>Microsoft PowerPoint</Application>
  <PresentationFormat>Affichage à l'écran (4:3)</PresentationFormat>
  <Paragraphs>157</Paragraphs>
  <Slides>20</Slides>
  <Notes>17</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Civil</vt:lpstr>
      <vt:lpstr>Chapitre 7  Administration de l'environnement utilisateur au moyen de la stratégie de groupe </vt:lpstr>
      <vt:lpstr>Plan du cours</vt:lpstr>
      <vt:lpstr>1. Configuration de paramètres de stratégie de groupe </vt:lpstr>
      <vt:lpstr>Pourquoi utiliser une stratégie de groupe ?</vt:lpstr>
      <vt:lpstr>Que sont les paramètres de stratégie de groupe activés et désactivés ? </vt:lpstr>
      <vt:lpstr>Exemples de modification des paramètres de stratégie de groupe</vt:lpstr>
      <vt:lpstr>2. Attribution de scripts avec la stratégie de groupe </vt:lpstr>
      <vt:lpstr>Que sont les paramètres de script de stratégie de groupe ? </vt:lpstr>
      <vt:lpstr>3. Configuration de la redirection de dossiers  </vt:lpstr>
      <vt:lpstr>Qu'est-ce que la redirection de dossiers ? </vt:lpstr>
      <vt:lpstr>Dossiers pouvant être redirigés </vt:lpstr>
      <vt:lpstr>Paramètres requis pour la configuration  de la redirection de dossiers </vt:lpstr>
      <vt:lpstr>4. Détermination des objets de stratégie  de groupe appliqués </vt:lpstr>
      <vt:lpstr>Qu'est-ce que Gpupdate ?</vt:lpstr>
      <vt:lpstr>Qu'est-ce que Gpresult ?</vt:lpstr>
      <vt:lpstr>Description de la modélisation de stratégie de groupe </vt:lpstr>
      <vt:lpstr>Description des résultats de la stratégie  de groupe </vt:lpstr>
      <vt:lpstr>Exercices</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cp:lastModifiedBy>
  <cp:revision>345</cp:revision>
  <dcterms:created xsi:type="dcterms:W3CDTF">2002-08-07T17:51:12Z</dcterms:created>
  <dcterms:modified xsi:type="dcterms:W3CDTF">2016-03-29T17:24:06Z</dcterms:modified>
</cp:coreProperties>
</file>