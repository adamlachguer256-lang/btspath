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7"/>
  </p:notesMasterIdLst>
  <p:handoutMasterIdLst>
    <p:handoutMasterId r:id="rId18"/>
  </p:handoutMasterIdLst>
  <p:sldIdLst>
    <p:sldId id="416" r:id="rId2"/>
    <p:sldId id="420" r:id="rId3"/>
    <p:sldId id="447" r:id="rId4"/>
    <p:sldId id="531" r:id="rId5"/>
    <p:sldId id="569" r:id="rId6"/>
    <p:sldId id="579" r:id="rId7"/>
    <p:sldId id="503" r:id="rId8"/>
    <p:sldId id="559" r:id="rId9"/>
    <p:sldId id="479" r:id="rId10"/>
    <p:sldId id="567" r:id="rId11"/>
    <p:sldId id="580" r:id="rId12"/>
    <p:sldId id="543" r:id="rId13"/>
    <p:sldId id="510" r:id="rId14"/>
    <p:sldId id="552" r:id="rId15"/>
    <p:sldId id="511" r:id="rId16"/>
  </p:sldIdLst>
  <p:sldSz cx="9144000" cy="6858000" type="screen4x3"/>
  <p:notesSz cx="6781800" cy="99187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windows-1252"/>
  <p:clrMru>
    <a:srgbClr val="333333"/>
    <a:srgbClr val="EEEFD7"/>
    <a:srgbClr val="D5D69C"/>
    <a:srgbClr val="DFE8F2"/>
    <a:srgbClr val="BBCDE3"/>
    <a:srgbClr val="E4E4BF"/>
    <a:srgbClr val="CC0000"/>
    <a:srgbClr val="C0C0C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1765" autoAdjust="0"/>
    <p:restoredTop sz="63082" autoAdjust="0"/>
  </p:normalViewPr>
  <p:slideViewPr>
    <p:cSldViewPr snapToGrid="0">
      <p:cViewPr>
        <p:scale>
          <a:sx n="80" d="100"/>
          <a:sy n="80" d="100"/>
        </p:scale>
        <p:origin x="-1158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46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1750" y="0"/>
            <a:ext cx="293846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0225"/>
            <a:ext cx="293846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1750" y="9420225"/>
            <a:ext cx="293846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fld id="{6FFEE5BB-BD23-4F47-A256-431BB89FFF4B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46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1750" y="0"/>
            <a:ext cx="293846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2813" y="744538"/>
            <a:ext cx="4959350" cy="37195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7863" y="4711700"/>
            <a:ext cx="5426075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0225"/>
            <a:ext cx="293846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1750" y="9420225"/>
            <a:ext cx="293846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fld id="{947ED124-38F6-4BE4-8C09-8DF444E8D3FC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FBE6DF-3B86-4220-B117-2C373A2472D0}" type="slidenum">
              <a:rPr lang="en-US"/>
              <a:pPr/>
              <a:t>1</a:t>
            </a:fld>
            <a:endParaRPr lang="en-US"/>
          </a:p>
        </p:txBody>
      </p:sp>
      <p:sp>
        <p:nvSpPr>
          <p:cNvPr id="47309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309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77CCB6-F174-4B92-9199-1E9E88E08935}" type="slidenum">
              <a:rPr lang="en-US"/>
              <a:pPr/>
              <a:t>2</a:t>
            </a:fld>
            <a:endParaRPr lang="en-US"/>
          </a:p>
        </p:txBody>
      </p:sp>
      <p:sp>
        <p:nvSpPr>
          <p:cNvPr id="47411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411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8ECA33-5B52-45A1-9BE3-A196FB6CF591}" type="slidenum">
              <a:rPr lang="en-US"/>
              <a:pPr/>
              <a:t>3</a:t>
            </a:fld>
            <a:endParaRPr lang="en-US"/>
          </a:p>
        </p:txBody>
      </p:sp>
      <p:sp>
        <p:nvSpPr>
          <p:cNvPr id="45261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261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I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F3D948-ED8A-4751-9096-036CB427BEDE}" type="slidenum">
              <a:rPr lang="en-US"/>
              <a:pPr/>
              <a:t>4</a:t>
            </a:fld>
            <a:endParaRPr lang="en-US"/>
          </a:p>
        </p:txBody>
      </p:sp>
      <p:sp>
        <p:nvSpPr>
          <p:cNvPr id="449538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9539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 sz="8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D806DD-4FE2-4B89-A97A-67C7B731BBA5}" type="slidenum">
              <a:rPr lang="en-US"/>
              <a:pPr/>
              <a:t>5</a:t>
            </a:fld>
            <a:endParaRPr lang="en-US"/>
          </a:p>
        </p:txBody>
      </p:sp>
      <p:sp>
        <p:nvSpPr>
          <p:cNvPr id="56115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115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369A2C-AC6B-4928-866A-43022FD98B9C}" type="slidenum">
              <a:rPr lang="en-US"/>
              <a:pPr/>
              <a:t>6</a:t>
            </a:fld>
            <a:endParaRPr lang="en-US"/>
          </a:p>
        </p:txBody>
      </p:sp>
      <p:sp>
        <p:nvSpPr>
          <p:cNvPr id="58061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061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7ECE3A-71ED-4373-BF82-1B1FDEB16F93}" type="slidenum">
              <a:rPr lang="en-US"/>
              <a:pPr/>
              <a:t>7</a:t>
            </a:fld>
            <a:endParaRPr lang="en-US"/>
          </a:p>
        </p:txBody>
      </p:sp>
      <p:sp>
        <p:nvSpPr>
          <p:cNvPr id="450562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63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8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34D560-C676-4F5F-B6CA-1583E17670B9}" type="slidenum">
              <a:rPr lang="en-US"/>
              <a:pPr/>
              <a:t>8</a:t>
            </a:fld>
            <a:endParaRPr lang="en-US"/>
          </a:p>
        </p:txBody>
      </p:sp>
      <p:sp>
        <p:nvSpPr>
          <p:cNvPr id="51507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507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0EA6A0-0EC8-4A55-8D2B-1DD0848229F2}" type="slidenum">
              <a:rPr lang="en-US"/>
              <a:pPr/>
              <a:t>9</a:t>
            </a:fld>
            <a:endParaRPr lang="en-US"/>
          </a:p>
        </p:txBody>
      </p:sp>
      <p:sp>
        <p:nvSpPr>
          <p:cNvPr id="487426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7427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B8FD2B-F560-4D43-A968-15D07AF5C7DE}" type="slidenum">
              <a:rPr lang="en-US"/>
              <a:pPr/>
              <a:t>10</a:t>
            </a:fld>
            <a:endParaRPr lang="en-US"/>
          </a:p>
        </p:txBody>
      </p:sp>
      <p:sp>
        <p:nvSpPr>
          <p:cNvPr id="53965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965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A5D465-EA11-47CE-9D45-55531420CD3E}" type="slidenum">
              <a:rPr lang="en-US"/>
              <a:pPr/>
              <a:t>11</a:t>
            </a:fld>
            <a:endParaRPr lang="en-US"/>
          </a:p>
        </p:txBody>
      </p:sp>
      <p:sp>
        <p:nvSpPr>
          <p:cNvPr id="58163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163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6D3F07-8998-49A9-9CB5-3CBDDDD122B2}" type="slidenum">
              <a:rPr lang="en-US"/>
              <a:pPr/>
              <a:t>12</a:t>
            </a:fld>
            <a:endParaRPr lang="en-US"/>
          </a:p>
        </p:txBody>
      </p:sp>
      <p:sp>
        <p:nvSpPr>
          <p:cNvPr id="455682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5683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8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F63FB7-B578-4BB2-8D37-CFC148DE8C98}" type="slidenum">
              <a:rPr lang="en-US"/>
              <a:pPr/>
              <a:t>13</a:t>
            </a:fld>
            <a:endParaRPr lang="en-US"/>
          </a:p>
        </p:txBody>
      </p:sp>
      <p:sp>
        <p:nvSpPr>
          <p:cNvPr id="505858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5859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76E3D9-8DB8-4121-9C12-B3299AE3C9F7}" type="slidenum">
              <a:rPr lang="en-US"/>
              <a:pPr/>
              <a:t>14</a:t>
            </a:fld>
            <a:endParaRPr lang="en-US"/>
          </a:p>
        </p:txBody>
      </p:sp>
      <p:sp>
        <p:nvSpPr>
          <p:cNvPr id="506882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6883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8EB578-7916-4699-A791-C622161BC945}" type="slidenum">
              <a:rPr lang="en-US"/>
              <a:pPr/>
              <a:t>15</a:t>
            </a:fld>
            <a:endParaRPr lang="en-US"/>
          </a:p>
        </p:txBody>
      </p:sp>
      <p:sp>
        <p:nvSpPr>
          <p:cNvPr id="46797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797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8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5/16/2017</a:t>
            </a:fld>
            <a:endParaRPr lang="en-US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5/16/2017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5/16/2017</a:t>
            </a:fld>
            <a:endParaRPr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5/16/2017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5/16/2017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dirty="0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5/16/2017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5/16/2017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5/16/2017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5/16/2017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5/16/2017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5/16/2017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re et texte sur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77788"/>
            <a:ext cx="7391400" cy="684212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1050925" y="1447800"/>
            <a:ext cx="7026275" cy="2270125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050925" y="3870325"/>
            <a:ext cx="7026275" cy="2271713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77788"/>
            <a:ext cx="7391400" cy="684212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1050925" y="1447800"/>
            <a:ext cx="3436938" cy="4694238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0263" y="1447800"/>
            <a:ext cx="3436937" cy="4694238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fld id="{9D21D778-B565-4D7E-94D7-64010A445B68}" type="datetimeFigureOut">
              <a:rPr lang="en-US" smtClean="0"/>
              <a:pPr algn="r" eaLnBrk="1" latinLnBrk="0" hangingPunct="1"/>
              <a:t>5/16/2017</a:t>
            </a:fld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sz="1600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80" name="Rectangle-4"/>
          <p:cNvSpPr>
            <a:spLocks noGrp="1" noChangeArrowheads="1"/>
          </p:cNvSpPr>
          <p:nvPr>
            <p:ph type="ctrTitle"/>
          </p:nvPr>
        </p:nvSpPr>
        <p:spPr>
          <a:xfrm>
            <a:off x="1350169" y="2732809"/>
            <a:ext cx="6443662" cy="3113088"/>
          </a:xfrm>
        </p:spPr>
        <p:txBody>
          <a:bodyPr>
            <a:normAutofit/>
          </a:bodyPr>
          <a:lstStyle/>
          <a:p>
            <a:r>
              <a:rPr lang="fr-FR" altLang="zh-CN" sz="4800" dirty="0" smtClean="0">
                <a:solidFill>
                  <a:srgbClr val="000000"/>
                </a:solidFill>
                <a:ea typeface="SimSun" pitchFamily="2" charset="-122"/>
              </a:rPr>
              <a:t>Chapitre 13</a:t>
            </a:r>
            <a:br>
              <a:rPr lang="fr-FR" altLang="zh-CN" sz="4800" dirty="0" smtClean="0">
                <a:solidFill>
                  <a:srgbClr val="000000"/>
                </a:solidFill>
                <a:ea typeface="SimSun" pitchFamily="2" charset="-122"/>
              </a:rPr>
            </a:br>
            <a:r>
              <a:rPr lang="fr-FR" altLang="zh-CN" sz="4800" dirty="0" smtClean="0">
                <a:solidFill>
                  <a:srgbClr val="000000"/>
                </a:solidFill>
                <a:ea typeface="SimSun" pitchFamily="2" charset="-122"/>
              </a:rPr>
              <a:t>Gestion </a:t>
            </a:r>
            <a:r>
              <a:rPr lang="fr-FR" altLang="zh-CN" sz="4800" dirty="0">
                <a:solidFill>
                  <a:srgbClr val="000000"/>
                </a:solidFill>
                <a:ea typeface="SimSun" pitchFamily="2" charset="-122"/>
              </a:rPr>
              <a:t>du stockage des données</a:t>
            </a:r>
            <a:r>
              <a:rPr lang="en-IE" altLang="zh-CN" sz="48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4800" dirty="0">
              <a:solidFill>
                <a:srgbClr val="000000"/>
              </a:solidFill>
              <a:ea typeface="SimSun" pitchFamily="2" charset="-122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586346" y="498764"/>
            <a:ext cx="5971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b="1" dirty="0" smtClean="0"/>
              <a:t>Module S42</a:t>
            </a:r>
            <a:endParaRPr lang="fr-FR" sz="4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-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altLang="zh-CN" b="1" dirty="0" smtClean="0">
                <a:solidFill>
                  <a:srgbClr val="000000"/>
                </a:solidFill>
                <a:ea typeface="SimSun" pitchFamily="2" charset="-122"/>
              </a:rPr>
              <a:t>Plan du cours</a:t>
            </a:r>
            <a:endParaRPr lang="en-US" altLang="zh-CN" b="1" dirty="0">
              <a:solidFill>
                <a:srgbClr val="000000"/>
              </a:solidFill>
              <a:ea typeface="SimSun" pitchFamily="2" charset="-122"/>
            </a:endParaRPr>
          </a:p>
        </p:txBody>
      </p:sp>
      <p:sp>
        <p:nvSpPr>
          <p:cNvPr id="287747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301752" y="1984248"/>
            <a:ext cx="8503920" cy="2033570"/>
          </a:xfrm>
        </p:spPr>
        <p:txBody>
          <a:bodyPr>
            <a:normAutofit/>
          </a:bodyPr>
          <a:lstStyle/>
          <a:p>
            <a:pPr marL="457200" indent="-457200">
              <a:buClrTx/>
              <a:buFont typeface="+mj-lt"/>
              <a:buAutoNum type="arabicPeriod"/>
            </a:pPr>
            <a:r>
              <a:rPr lang="fr-FR" altLang="zh-CN" sz="3000" dirty="0">
                <a:solidFill>
                  <a:srgbClr val="000000"/>
                </a:solidFill>
                <a:ea typeface="SimSun" pitchFamily="2" charset="-122"/>
              </a:rPr>
              <a:t>Gestion de la compression des fichiers</a:t>
            </a:r>
            <a:r>
              <a:rPr lang="en-IE" altLang="zh-CN" sz="3000" dirty="0">
                <a:solidFill>
                  <a:srgbClr val="000000"/>
                </a:solidFill>
                <a:ea typeface="SimSun" pitchFamily="2" charset="-122"/>
              </a:rPr>
              <a:t> </a:t>
            </a:r>
            <a:r>
              <a:rPr lang="en-US" altLang="zh-CN" sz="3000" dirty="0">
                <a:ea typeface="SimSun" pitchFamily="2" charset="-122"/>
              </a:rPr>
              <a:t> 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fr-FR" altLang="zh-CN" sz="3000" dirty="0">
                <a:solidFill>
                  <a:srgbClr val="000000"/>
                </a:solidFill>
                <a:ea typeface="SimSun" pitchFamily="2" charset="-122"/>
              </a:rPr>
              <a:t>Configuration du cryptage des fichiers</a:t>
            </a:r>
            <a:r>
              <a:rPr lang="en-IE" altLang="zh-CN" sz="3000" dirty="0">
                <a:solidFill>
                  <a:srgbClr val="000000"/>
                </a:solidFill>
                <a:ea typeface="SimSun" pitchFamily="2" charset="-122"/>
              </a:rPr>
              <a:t> </a:t>
            </a:r>
            <a:r>
              <a:rPr lang="en-US" altLang="zh-CN" sz="3000" dirty="0">
                <a:ea typeface="SimSun" pitchFamily="2" charset="-122"/>
              </a:rPr>
              <a:t> 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fr-FR" altLang="zh-CN" sz="3000" dirty="0">
                <a:solidFill>
                  <a:srgbClr val="000000"/>
                </a:solidFill>
                <a:ea typeface="SimSun" pitchFamily="2" charset="-122"/>
              </a:rPr>
              <a:t>Implémentation des quotas de disque</a:t>
            </a:r>
            <a:r>
              <a:rPr lang="en-IE" altLang="zh-CN" sz="3000" dirty="0">
                <a:solidFill>
                  <a:srgbClr val="000000"/>
                </a:solidFill>
                <a:ea typeface="SimSun" pitchFamily="2" charset="-122"/>
              </a:rPr>
              <a:t> </a:t>
            </a:r>
            <a:r>
              <a:rPr lang="en-US" altLang="zh-CN" sz="3000" dirty="0">
                <a:ea typeface="SimSun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-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altLang="zh-CN" b="1" dirty="0" smtClean="0">
                <a:solidFill>
                  <a:srgbClr val="000000"/>
                </a:solidFill>
                <a:ea typeface="SimSun" pitchFamily="2" charset="-122"/>
              </a:rPr>
              <a:t>1. Gestion </a:t>
            </a:r>
            <a:r>
              <a:rPr lang="fr-FR" altLang="zh-CN" b="1" dirty="0">
                <a:solidFill>
                  <a:srgbClr val="000000"/>
                </a:solidFill>
                <a:ea typeface="SimSun" pitchFamily="2" charset="-122"/>
              </a:rPr>
              <a:t>de la compression des fichiers</a:t>
            </a:r>
            <a:endParaRPr lang="en-US" altLang="zh-CN" b="1" dirty="0">
              <a:solidFill>
                <a:srgbClr val="000000"/>
              </a:solidFill>
              <a:ea typeface="SimSun" pitchFamily="2" charset="-122"/>
            </a:endParaRPr>
          </a:p>
        </p:txBody>
      </p:sp>
      <p:sp>
        <p:nvSpPr>
          <p:cNvPr id="325635" name="Rectangle-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altLang="zh-CN" sz="2300" b="1" dirty="0">
                <a:solidFill>
                  <a:srgbClr val="C00000"/>
                </a:solidFill>
                <a:ea typeface="SimSun" pitchFamily="2" charset="-122"/>
              </a:rPr>
              <a:t>Qu'</a:t>
            </a:r>
            <a:r>
              <a:rPr lang="fr-FR" altLang="zh-CN" sz="2300" b="1" dirty="0" err="1">
                <a:solidFill>
                  <a:srgbClr val="C00000"/>
                </a:solidFill>
                <a:ea typeface="SimSun" pitchFamily="2" charset="-122"/>
              </a:rPr>
              <a:t>est‑ce</a:t>
            </a:r>
            <a:r>
              <a:rPr lang="fr-FR" altLang="zh-CN" sz="2300" b="1" dirty="0">
                <a:solidFill>
                  <a:srgbClr val="C00000"/>
                </a:solidFill>
                <a:ea typeface="SimSun" pitchFamily="2" charset="-122"/>
              </a:rPr>
              <a:t> que la compression des fichiers ?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</a:rPr>
              <a:t> </a:t>
            </a:r>
            <a:endParaRPr lang="en-US" altLang="zh-CN" b="1" dirty="0">
              <a:solidFill>
                <a:srgbClr val="C00000"/>
              </a:solidFill>
              <a:ea typeface="SimSun" pitchFamily="2" charset="-122"/>
            </a:endParaRPr>
          </a:p>
          <a:p>
            <a:r>
              <a:rPr lang="fr-FR" altLang="zh-CN" sz="2300" b="1" dirty="0">
                <a:solidFill>
                  <a:srgbClr val="C00000"/>
                </a:solidFill>
                <a:ea typeface="SimSun" pitchFamily="2" charset="-122"/>
              </a:rPr>
              <a:t>Qu'</a:t>
            </a:r>
            <a:r>
              <a:rPr lang="fr-FR" altLang="zh-CN" sz="2300" b="1" dirty="0" err="1">
                <a:solidFill>
                  <a:srgbClr val="C00000"/>
                </a:solidFill>
                <a:ea typeface="SimSun" pitchFamily="2" charset="-122"/>
              </a:rPr>
              <a:t>est‑ce</a:t>
            </a:r>
            <a:r>
              <a:rPr lang="fr-FR" altLang="zh-CN" sz="2300" b="1" dirty="0">
                <a:solidFill>
                  <a:srgbClr val="C00000"/>
                </a:solidFill>
                <a:ea typeface="SimSun" pitchFamily="2" charset="-122"/>
              </a:rPr>
              <a:t> que la commande compact ?</a:t>
            </a:r>
            <a:r>
              <a:rPr lang="en-IE" altLang="zh-CN" sz="2300" b="1" dirty="0">
                <a:solidFill>
                  <a:srgbClr val="C00000"/>
                </a:solidFill>
                <a:ea typeface="SimSun" pitchFamily="2" charset="-122"/>
              </a:rPr>
              <a:t> </a:t>
            </a:r>
            <a:endParaRPr lang="en-US" altLang="zh-CN" sz="2300" b="1" dirty="0">
              <a:solidFill>
                <a:srgbClr val="C00000"/>
              </a:solidFill>
              <a:ea typeface="SimSun" pitchFamily="2" charset="-122"/>
            </a:endParaRPr>
          </a:p>
          <a:p>
            <a:r>
              <a:rPr lang="fr-FR" altLang="zh-CN" sz="2300" b="1" dirty="0">
                <a:solidFill>
                  <a:srgbClr val="C00000"/>
                </a:solidFill>
                <a:ea typeface="SimSun" pitchFamily="2" charset="-122"/>
              </a:rPr>
              <a:t>Comment compresser un fichier ou un dossier ?</a:t>
            </a:r>
            <a:r>
              <a:rPr lang="en-IE" altLang="zh-CN" sz="2300" b="1" dirty="0">
                <a:solidFill>
                  <a:srgbClr val="C00000"/>
                </a:solidFill>
                <a:ea typeface="SimSun" pitchFamily="2" charset="-122"/>
              </a:rPr>
              <a:t> </a:t>
            </a:r>
            <a:endParaRPr lang="en-US" altLang="zh-CN" sz="2300" b="1" dirty="0">
              <a:solidFill>
                <a:srgbClr val="C00000"/>
              </a:solidFill>
              <a:ea typeface="SimSun" pitchFamily="2" charset="-122"/>
            </a:endParaRPr>
          </a:p>
          <a:p>
            <a:r>
              <a:rPr lang="fr-FR" altLang="zh-CN" sz="2300" b="1" dirty="0">
                <a:solidFill>
                  <a:srgbClr val="C00000"/>
                </a:solidFill>
                <a:ea typeface="SimSun" pitchFamily="2" charset="-122"/>
              </a:rPr>
              <a:t>Quels sont les effets produits par le déplacement ou la copie de fichiers ou de dossiers compressés ?</a:t>
            </a:r>
            <a:r>
              <a:rPr lang="en-IE" altLang="zh-CN" sz="2300" b="1" dirty="0">
                <a:solidFill>
                  <a:srgbClr val="C00000"/>
                </a:solidFill>
                <a:ea typeface="SimSun" pitchFamily="2" charset="-122"/>
              </a:rPr>
              <a:t> </a:t>
            </a:r>
            <a:endParaRPr lang="en-US" altLang="zh-CN" sz="2300" b="1" dirty="0">
              <a:solidFill>
                <a:srgbClr val="C00000"/>
              </a:solidFill>
              <a:ea typeface="SimSun" pitchFamily="2" charset="-122"/>
            </a:endParaRPr>
          </a:p>
          <a:p>
            <a:r>
              <a:rPr lang="fr-FR" altLang="zh-CN" sz="2300" b="1" dirty="0">
                <a:solidFill>
                  <a:srgbClr val="C00000"/>
                </a:solidFill>
                <a:ea typeface="SimSun" pitchFamily="2" charset="-122"/>
              </a:rPr>
              <a:t>Méthodes conseillées pour la compression de fichiers ou de dossiers</a:t>
            </a:r>
            <a:r>
              <a:rPr lang="en-IE" altLang="zh-CN" sz="2300" b="1" dirty="0">
                <a:solidFill>
                  <a:srgbClr val="C00000"/>
                </a:solidFill>
                <a:ea typeface="SimSun" pitchFamily="2" charset="-122"/>
              </a:rPr>
              <a:t> </a:t>
            </a:r>
            <a:endParaRPr lang="en-US" altLang="zh-CN" sz="2300" b="1" dirty="0">
              <a:solidFill>
                <a:srgbClr val="C00000"/>
              </a:solidFill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-2"/>
          <p:cNvSpPr>
            <a:spLocks noGrp="1" noChangeArrowheads="1"/>
          </p:cNvSpPr>
          <p:nvPr>
            <p:ph type="title"/>
          </p:nvPr>
        </p:nvSpPr>
        <p:spPr>
          <a:xfrm>
            <a:off x="214745" y="285607"/>
            <a:ext cx="8749145" cy="684212"/>
          </a:xfrm>
        </p:spPr>
        <p:txBody>
          <a:bodyPr>
            <a:normAutofit fontScale="90000"/>
          </a:bodyPr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</a:rPr>
              <a:t>Qu'</a:t>
            </a:r>
            <a:r>
              <a:rPr lang="fr-FR" altLang="zh-CN" b="1" dirty="0" err="1">
                <a:solidFill>
                  <a:srgbClr val="C00000"/>
                </a:solidFill>
                <a:ea typeface="SimSun" pitchFamily="2" charset="-122"/>
              </a:rPr>
              <a:t>est‑ce</a:t>
            </a:r>
            <a:r>
              <a:rPr lang="fr-FR" altLang="zh-CN" b="1" dirty="0">
                <a:solidFill>
                  <a:srgbClr val="C00000"/>
                </a:solidFill>
                <a:ea typeface="SimSun" pitchFamily="2" charset="-122"/>
              </a:rPr>
              <a:t> que la compression des fichiers ?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</a:rPr>
              <a:t> </a:t>
            </a:r>
            <a:endParaRPr lang="en-US" altLang="zh-CN" b="1" dirty="0">
              <a:solidFill>
                <a:srgbClr val="C00000"/>
              </a:solidFill>
              <a:ea typeface="SimSun" pitchFamily="2" charset="-122"/>
            </a:endParaRPr>
          </a:p>
        </p:txBody>
      </p:sp>
      <p:sp>
        <p:nvSpPr>
          <p:cNvPr id="422915" name="Rectangle-3"/>
          <p:cNvSpPr>
            <a:spLocks noGrp="1" noChangeArrowheads="1"/>
          </p:cNvSpPr>
          <p:nvPr>
            <p:ph type="body" sz="half" idx="1"/>
          </p:nvPr>
        </p:nvSpPr>
        <p:spPr>
          <a:xfrm>
            <a:off x="200602" y="1292802"/>
            <a:ext cx="8749434" cy="5066434"/>
          </a:xfrm>
          <a:noFill/>
          <a:ln/>
        </p:spPr>
        <p:txBody>
          <a:bodyPr>
            <a:normAutofit/>
          </a:bodyPr>
          <a:lstStyle/>
          <a:p>
            <a:pPr>
              <a:buClrTx/>
              <a:buFont typeface="Wingdings" pitchFamily="2" charset="2"/>
              <a:buChar char="q"/>
            </a:pPr>
            <a:r>
              <a:rPr lang="fr-FR" altLang="zh-CN" sz="2100" dirty="0">
                <a:solidFill>
                  <a:srgbClr val="000000"/>
                </a:solidFill>
                <a:ea typeface="SimSun" pitchFamily="2" charset="-122"/>
              </a:rPr>
              <a:t>L'état de chaque fichier et dossier sur une partition NTFS</a:t>
            </a:r>
            <a:r>
              <a:rPr lang="en-IE" altLang="zh-CN" sz="21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100" dirty="0">
              <a:ea typeface="SimSun" pitchFamily="2" charset="-122"/>
            </a:endParaRPr>
          </a:p>
          <a:p>
            <a:pPr>
              <a:buClrTx/>
              <a:buFont typeface="Wingdings" pitchFamily="2" charset="2"/>
              <a:buChar char="q"/>
            </a:pPr>
            <a:r>
              <a:rPr lang="fr-FR" altLang="zh-CN" sz="2100" dirty="0">
                <a:solidFill>
                  <a:srgbClr val="000000"/>
                </a:solidFill>
                <a:ea typeface="SimSun" pitchFamily="2" charset="-122"/>
              </a:rPr>
              <a:t>Il peut aussi s'agir de la compression via la fonction Dossiers compressés</a:t>
            </a:r>
            <a:r>
              <a:rPr lang="en-IE" altLang="zh-CN" sz="21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100" dirty="0">
              <a:ea typeface="SimSun" pitchFamily="2" charset="-122"/>
            </a:endParaRPr>
          </a:p>
          <a:p>
            <a:pPr>
              <a:buClrTx/>
              <a:buFont typeface="Wingdings" pitchFamily="2" charset="2"/>
              <a:buChar char="q"/>
            </a:pPr>
            <a:r>
              <a:rPr lang="fr-FR" altLang="zh-CN" sz="2100" dirty="0">
                <a:solidFill>
                  <a:srgbClr val="000000"/>
                </a:solidFill>
                <a:ea typeface="SimSun" pitchFamily="2" charset="-122"/>
              </a:rPr>
              <a:t>Ne reflète pas forcément l'état de</a:t>
            </a:r>
            <a:br>
              <a:rPr lang="fr-FR" altLang="zh-CN" sz="2100" dirty="0">
                <a:solidFill>
                  <a:srgbClr val="000000"/>
                </a:solidFill>
                <a:ea typeface="SimSun" pitchFamily="2" charset="-122"/>
              </a:rPr>
            </a:br>
            <a:r>
              <a:rPr lang="fr-FR" altLang="zh-CN" sz="2100" dirty="0">
                <a:solidFill>
                  <a:srgbClr val="000000"/>
                </a:solidFill>
                <a:ea typeface="SimSun" pitchFamily="2" charset="-122"/>
              </a:rPr>
              <a:t>compression des fichiers d'un dossier</a:t>
            </a:r>
            <a:r>
              <a:rPr lang="en-IE" altLang="zh-CN" sz="21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100" dirty="0">
              <a:ea typeface="SimSun" pitchFamily="2" charset="-122"/>
            </a:endParaRPr>
          </a:p>
          <a:p>
            <a:pPr>
              <a:buClrTx/>
              <a:buFont typeface="Wingdings" pitchFamily="2" charset="2"/>
              <a:buChar char="q"/>
            </a:pPr>
            <a:r>
              <a:rPr lang="fr-FR" altLang="zh-CN" sz="2100" dirty="0">
                <a:solidFill>
                  <a:srgbClr val="000000"/>
                </a:solidFill>
                <a:ea typeface="SimSun" pitchFamily="2" charset="-122"/>
              </a:rPr>
              <a:t>L'espace disque est alloué en fonction </a:t>
            </a:r>
            <a:br>
              <a:rPr lang="fr-FR" altLang="zh-CN" sz="2100" dirty="0">
                <a:solidFill>
                  <a:srgbClr val="000000"/>
                </a:solidFill>
                <a:ea typeface="SimSun" pitchFamily="2" charset="-122"/>
              </a:rPr>
            </a:br>
            <a:r>
              <a:rPr lang="fr-FR" altLang="zh-CN" sz="2100" dirty="0">
                <a:solidFill>
                  <a:srgbClr val="000000"/>
                </a:solidFill>
                <a:ea typeface="SimSun" pitchFamily="2" charset="-122"/>
              </a:rPr>
              <a:t>de la taille du fichier non compressé</a:t>
            </a:r>
            <a:r>
              <a:rPr lang="en-IE" altLang="zh-CN" sz="21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100" dirty="0">
              <a:ea typeface="SimSun" pitchFamily="2" charset="-122"/>
            </a:endParaRPr>
          </a:p>
          <a:p>
            <a:pPr>
              <a:buClrTx/>
              <a:buFont typeface="Wingdings" pitchFamily="2" charset="2"/>
              <a:buChar char="q"/>
            </a:pPr>
            <a:r>
              <a:rPr lang="fr-FR" altLang="zh-CN" sz="2100" dirty="0">
                <a:solidFill>
                  <a:srgbClr val="000000"/>
                </a:solidFill>
                <a:ea typeface="SimSun" pitchFamily="2" charset="-122"/>
              </a:rPr>
              <a:t>La compression est utilisée lorsque </a:t>
            </a:r>
            <a:br>
              <a:rPr lang="fr-FR" altLang="zh-CN" sz="2100" dirty="0">
                <a:solidFill>
                  <a:srgbClr val="000000"/>
                </a:solidFill>
                <a:ea typeface="SimSun" pitchFamily="2" charset="-122"/>
              </a:rPr>
            </a:br>
            <a:r>
              <a:rPr lang="fr-FR" altLang="zh-CN" sz="2100" dirty="0">
                <a:solidFill>
                  <a:srgbClr val="000000"/>
                </a:solidFill>
                <a:ea typeface="SimSun" pitchFamily="2" charset="-122"/>
              </a:rPr>
              <a:t>vous avez besoin de davantage </a:t>
            </a:r>
            <a:br>
              <a:rPr lang="fr-FR" altLang="zh-CN" sz="2100" dirty="0">
                <a:solidFill>
                  <a:srgbClr val="000000"/>
                </a:solidFill>
                <a:ea typeface="SimSun" pitchFamily="2" charset="-122"/>
              </a:rPr>
            </a:br>
            <a:r>
              <a:rPr lang="fr-FR" altLang="zh-CN" sz="2100" dirty="0">
                <a:solidFill>
                  <a:srgbClr val="000000"/>
                </a:solidFill>
                <a:ea typeface="SimSun" pitchFamily="2" charset="-122"/>
              </a:rPr>
              <a:t>d'espace sur votre disque dur</a:t>
            </a:r>
            <a:r>
              <a:rPr lang="en-IE" altLang="zh-CN" sz="21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100" dirty="0">
              <a:ea typeface="SimSun" pitchFamily="2" charset="-122"/>
            </a:endParaRPr>
          </a:p>
          <a:p>
            <a:pPr>
              <a:buClrTx/>
              <a:buFont typeface="Wingdings" pitchFamily="2" charset="2"/>
              <a:buChar char="q"/>
            </a:pPr>
            <a:r>
              <a:rPr lang="fr-FR" altLang="zh-CN" sz="2100" dirty="0">
                <a:solidFill>
                  <a:srgbClr val="000000"/>
                </a:solidFill>
                <a:ea typeface="SimSun" pitchFamily="2" charset="-122"/>
              </a:rPr>
              <a:t>À ne pas utiliser avec les fichiers</a:t>
            </a:r>
            <a:br>
              <a:rPr lang="fr-FR" altLang="zh-CN" sz="2100" dirty="0">
                <a:solidFill>
                  <a:srgbClr val="000000"/>
                </a:solidFill>
                <a:ea typeface="SimSun" pitchFamily="2" charset="-122"/>
              </a:rPr>
            </a:br>
            <a:r>
              <a:rPr lang="fr-FR" altLang="zh-CN" sz="2100" dirty="0">
                <a:solidFill>
                  <a:srgbClr val="000000"/>
                </a:solidFill>
                <a:ea typeface="SimSun" pitchFamily="2" charset="-122"/>
              </a:rPr>
              <a:t>ou les dossiers du système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</a:p>
        </p:txBody>
      </p:sp>
      <p:pic>
        <p:nvPicPr>
          <p:cNvPr id="423131" name="Picture-219" descr="Volume0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93113" y="3276600"/>
            <a:ext cx="1909762" cy="1543050"/>
          </a:xfrm>
          <a:prstGeom prst="rect">
            <a:avLst/>
          </a:prstGeom>
          <a:noFill/>
        </p:spPr>
      </p:pic>
      <p:grpSp>
        <p:nvGrpSpPr>
          <p:cNvPr id="423132" name="Group-220"/>
          <p:cNvGrpSpPr>
            <a:grpSpLocks/>
          </p:cNvGrpSpPr>
          <p:nvPr/>
        </p:nvGrpSpPr>
        <p:grpSpPr bwMode="auto">
          <a:xfrm>
            <a:off x="5932650" y="2379663"/>
            <a:ext cx="1779588" cy="1431925"/>
            <a:chOff x="3388" y="1499"/>
            <a:chExt cx="1121" cy="902"/>
          </a:xfrm>
        </p:grpSpPr>
        <p:sp>
          <p:nvSpPr>
            <p:cNvPr id="423133" name="Freeform-221"/>
            <p:cNvSpPr>
              <a:spLocks/>
            </p:cNvSpPr>
            <p:nvPr/>
          </p:nvSpPr>
          <p:spPr bwMode="auto">
            <a:xfrm>
              <a:off x="3698" y="1582"/>
              <a:ext cx="811" cy="819"/>
            </a:xfrm>
            <a:custGeom>
              <a:avLst/>
              <a:gdLst/>
              <a:ahLst/>
              <a:cxnLst>
                <a:cxn ang="0">
                  <a:pos x="479" y="819"/>
                </a:cxn>
                <a:cxn ang="0">
                  <a:pos x="811" y="501"/>
                </a:cxn>
                <a:cxn ang="0">
                  <a:pos x="0" y="0"/>
                </a:cxn>
                <a:cxn ang="0">
                  <a:pos x="171" y="811"/>
                </a:cxn>
                <a:cxn ang="0">
                  <a:pos x="479" y="819"/>
                </a:cxn>
              </a:cxnLst>
              <a:rect l="0" t="0" r="r" b="b"/>
              <a:pathLst>
                <a:path w="811" h="819">
                  <a:moveTo>
                    <a:pt x="479" y="819"/>
                  </a:moveTo>
                  <a:lnTo>
                    <a:pt x="811" y="501"/>
                  </a:lnTo>
                  <a:lnTo>
                    <a:pt x="0" y="0"/>
                  </a:lnTo>
                  <a:lnTo>
                    <a:pt x="171" y="811"/>
                  </a:lnTo>
                  <a:lnTo>
                    <a:pt x="479" y="819"/>
                  </a:lnTo>
                  <a:close/>
                </a:path>
              </a:pathLst>
            </a:custGeom>
            <a:solidFill>
              <a:srgbClr val="DFE8F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pic>
          <p:nvPicPr>
            <p:cNvPr id="423134" name="Picture-222" descr="Document_Document01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388" y="1499"/>
              <a:ext cx="531" cy="900"/>
            </a:xfrm>
            <a:prstGeom prst="rect">
              <a:avLst/>
            </a:prstGeom>
            <a:noFill/>
          </p:spPr>
        </p:pic>
        <p:sp>
          <p:nvSpPr>
            <p:cNvPr id="423135" name="AutoShape-223"/>
            <p:cNvSpPr>
              <a:spLocks noChangeArrowheads="1"/>
            </p:cNvSpPr>
            <p:nvPr/>
          </p:nvSpPr>
          <p:spPr bwMode="auto">
            <a:xfrm>
              <a:off x="3640" y="1921"/>
              <a:ext cx="706" cy="235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>
                <a:lnSpc>
                  <a:spcPct val="70000"/>
                </a:lnSpc>
              </a:pPr>
              <a:r>
                <a:rPr lang="fr-FR" altLang="zh-CN" sz="1800" b="1" dirty="0">
                  <a:solidFill>
                    <a:srgbClr val="000000"/>
                  </a:solidFill>
                  <a:ea typeface="SimSun" pitchFamily="2" charset="-122"/>
                </a:rPr>
                <a:t>Fichier A</a:t>
              </a:r>
              <a:r>
                <a:rPr lang="en-IE" altLang="zh-CN" sz="1800" b="1" dirty="0">
                  <a:solidFill>
                    <a:srgbClr val="000000"/>
                  </a:solidFill>
                  <a:ea typeface="SimSun" pitchFamily="2" charset="-122"/>
                </a:rPr>
                <a:t> </a:t>
              </a:r>
              <a:endParaRPr lang="en-US" altLang="zh-CN" sz="1800" b="1" dirty="0">
                <a:solidFill>
                  <a:srgbClr val="000000"/>
                </a:solidFill>
                <a:ea typeface="SimSun" pitchFamily="2" charset="-122"/>
              </a:endParaRPr>
            </a:p>
          </p:txBody>
        </p:sp>
      </p:grpSp>
      <p:grpSp>
        <p:nvGrpSpPr>
          <p:cNvPr id="423136" name="Group-224"/>
          <p:cNvGrpSpPr>
            <a:grpSpLocks/>
          </p:cNvGrpSpPr>
          <p:nvPr/>
        </p:nvGrpSpPr>
        <p:grpSpPr bwMode="auto">
          <a:xfrm>
            <a:off x="5551650" y="3967163"/>
            <a:ext cx="2225675" cy="2025650"/>
            <a:chOff x="3148" y="2499"/>
            <a:chExt cx="1402" cy="1276"/>
          </a:xfrm>
        </p:grpSpPr>
        <p:sp>
          <p:nvSpPr>
            <p:cNvPr id="423137" name="Freeform-225"/>
            <p:cNvSpPr>
              <a:spLocks/>
            </p:cNvSpPr>
            <p:nvPr/>
          </p:nvSpPr>
          <p:spPr bwMode="auto">
            <a:xfrm>
              <a:off x="3285" y="2499"/>
              <a:ext cx="1265" cy="600"/>
            </a:xfrm>
            <a:custGeom>
              <a:avLst/>
              <a:gdLst/>
              <a:ahLst/>
              <a:cxnLst>
                <a:cxn ang="0">
                  <a:pos x="1265" y="16"/>
                </a:cxn>
                <a:cxn ang="0">
                  <a:pos x="1127" y="0"/>
                </a:cxn>
                <a:cxn ang="0">
                  <a:pos x="0" y="356"/>
                </a:cxn>
                <a:cxn ang="0">
                  <a:pos x="665" y="600"/>
                </a:cxn>
                <a:cxn ang="0">
                  <a:pos x="1265" y="16"/>
                </a:cxn>
              </a:cxnLst>
              <a:rect l="0" t="0" r="r" b="b"/>
              <a:pathLst>
                <a:path w="1265" h="600">
                  <a:moveTo>
                    <a:pt x="1265" y="16"/>
                  </a:moveTo>
                  <a:lnTo>
                    <a:pt x="1127" y="0"/>
                  </a:lnTo>
                  <a:lnTo>
                    <a:pt x="0" y="356"/>
                  </a:lnTo>
                  <a:lnTo>
                    <a:pt x="665" y="600"/>
                  </a:lnTo>
                  <a:lnTo>
                    <a:pt x="1265" y="16"/>
                  </a:lnTo>
                  <a:close/>
                </a:path>
              </a:pathLst>
            </a:custGeom>
            <a:solidFill>
              <a:srgbClr val="DFE8F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pic>
          <p:nvPicPr>
            <p:cNvPr id="423138" name="Picture-226" descr="Vise_CompressedFile01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148" y="2755"/>
              <a:ext cx="1110" cy="738"/>
            </a:xfrm>
            <a:prstGeom prst="rect">
              <a:avLst/>
            </a:prstGeom>
            <a:noFill/>
          </p:spPr>
        </p:pic>
        <p:sp>
          <p:nvSpPr>
            <p:cNvPr id="423139" name="AutoShape-227"/>
            <p:cNvSpPr>
              <a:spLocks noChangeArrowheads="1"/>
            </p:cNvSpPr>
            <p:nvPr/>
          </p:nvSpPr>
          <p:spPr bwMode="auto">
            <a:xfrm>
              <a:off x="3381" y="3535"/>
              <a:ext cx="747" cy="240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>
                <a:lnSpc>
                  <a:spcPct val="70000"/>
                </a:lnSpc>
              </a:pPr>
              <a:r>
                <a:rPr lang="fr-FR" altLang="zh-CN" sz="1800" b="1">
                  <a:solidFill>
                    <a:srgbClr val="000000"/>
                  </a:solidFill>
                  <a:ea typeface="SimSun" pitchFamily="2" charset="-122"/>
                </a:rPr>
                <a:t>Fichier B</a:t>
              </a:r>
              <a:r>
                <a:rPr lang="en-IE" altLang="zh-CN" sz="1800" b="1">
                  <a:solidFill>
                    <a:srgbClr val="000000"/>
                  </a:solidFill>
                  <a:ea typeface="SimSun" pitchFamily="2" charset="-122"/>
                </a:rPr>
                <a:t> </a:t>
              </a:r>
              <a:endParaRPr lang="en-US" altLang="zh-CN" sz="1800" b="1">
                <a:solidFill>
                  <a:srgbClr val="000000"/>
                </a:solidFill>
                <a:ea typeface="SimSun" pitchFamily="2" charset="-122"/>
              </a:endParaRPr>
            </a:p>
          </p:txBody>
        </p:sp>
      </p:grpSp>
      <p:sp>
        <p:nvSpPr>
          <p:cNvPr id="423140" name="Arc-228"/>
          <p:cNvSpPr>
            <a:spLocks/>
          </p:cNvSpPr>
          <p:nvPr/>
        </p:nvSpPr>
        <p:spPr bwMode="auto">
          <a:xfrm>
            <a:off x="7542375" y="3644900"/>
            <a:ext cx="501650" cy="371475"/>
          </a:xfrm>
          <a:custGeom>
            <a:avLst/>
            <a:gdLst>
              <a:gd name="G0" fmla="+- 11578 0 0"/>
              <a:gd name="G1" fmla="+- 0 0 0"/>
              <a:gd name="G2" fmla="+- 21600 0 0"/>
              <a:gd name="T0" fmla="*/ 5781 w 11578"/>
              <a:gd name="T1" fmla="*/ 20808 h 20808"/>
              <a:gd name="T2" fmla="*/ 0 w 11578"/>
              <a:gd name="T3" fmla="*/ 18235 h 20808"/>
              <a:gd name="T4" fmla="*/ 11578 w 11578"/>
              <a:gd name="T5" fmla="*/ 0 h 208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578" h="20808" fill="none" extrusionOk="0">
                <a:moveTo>
                  <a:pt x="5781" y="20807"/>
                </a:moveTo>
                <a:cubicBezTo>
                  <a:pt x="3738" y="20238"/>
                  <a:pt x="1790" y="19371"/>
                  <a:pt x="0" y="18234"/>
                </a:cubicBezTo>
              </a:path>
              <a:path w="11578" h="20808" stroke="0" extrusionOk="0">
                <a:moveTo>
                  <a:pt x="5781" y="20807"/>
                </a:moveTo>
                <a:cubicBezTo>
                  <a:pt x="3738" y="20238"/>
                  <a:pt x="1790" y="19371"/>
                  <a:pt x="0" y="18234"/>
                </a:cubicBezTo>
                <a:lnTo>
                  <a:pt x="11578" y="0"/>
                </a:lnTo>
                <a:close/>
              </a:path>
            </a:pathLst>
          </a:custGeom>
          <a:solidFill>
            <a:srgbClr val="666699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3141" name="Arc-229"/>
          <p:cNvSpPr>
            <a:spLocks/>
          </p:cNvSpPr>
          <p:nvPr/>
        </p:nvSpPr>
        <p:spPr bwMode="auto">
          <a:xfrm>
            <a:off x="7108988" y="3297238"/>
            <a:ext cx="935037" cy="506412"/>
          </a:xfrm>
          <a:custGeom>
            <a:avLst/>
            <a:gdLst>
              <a:gd name="G0" fmla="+- 21600 0 0"/>
              <a:gd name="G1" fmla="+- 20131 0 0"/>
              <a:gd name="G2" fmla="+- 21600 0 0"/>
              <a:gd name="T0" fmla="*/ 1635 w 21600"/>
              <a:gd name="T1" fmla="*/ 28376 h 28376"/>
              <a:gd name="T2" fmla="*/ 13772 w 21600"/>
              <a:gd name="T3" fmla="*/ 0 h 28376"/>
              <a:gd name="T4" fmla="*/ 21600 w 21600"/>
              <a:gd name="T5" fmla="*/ 20131 h 28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8376" fill="none" extrusionOk="0">
                <a:moveTo>
                  <a:pt x="1635" y="28375"/>
                </a:moveTo>
                <a:cubicBezTo>
                  <a:pt x="555" y="25761"/>
                  <a:pt x="0" y="22959"/>
                  <a:pt x="0" y="20131"/>
                </a:cubicBezTo>
                <a:cubicBezTo>
                  <a:pt x="-1" y="11222"/>
                  <a:pt x="5469" y="3228"/>
                  <a:pt x="13771" y="-1"/>
                </a:cubicBezTo>
              </a:path>
              <a:path w="21600" h="28376" stroke="0" extrusionOk="0">
                <a:moveTo>
                  <a:pt x="1635" y="28375"/>
                </a:moveTo>
                <a:cubicBezTo>
                  <a:pt x="555" y="25761"/>
                  <a:pt x="0" y="22959"/>
                  <a:pt x="0" y="20131"/>
                </a:cubicBezTo>
                <a:cubicBezTo>
                  <a:pt x="-1" y="11222"/>
                  <a:pt x="5469" y="3228"/>
                  <a:pt x="13771" y="-1"/>
                </a:cubicBezTo>
                <a:lnTo>
                  <a:pt x="21600" y="20131"/>
                </a:lnTo>
                <a:close/>
              </a:path>
            </a:pathLst>
          </a:custGeom>
          <a:solidFill>
            <a:srgbClr val="666699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23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423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423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23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22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422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422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422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422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422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140" grpId="0" animBg="1"/>
      <p:bldP spid="4231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46" name="Rectangle-2"/>
          <p:cNvSpPr>
            <a:spLocks noGrp="1" noChangeArrowheads="1"/>
          </p:cNvSpPr>
          <p:nvPr>
            <p:ph type="title"/>
          </p:nvPr>
        </p:nvSpPr>
        <p:spPr>
          <a:xfrm>
            <a:off x="173181" y="341025"/>
            <a:ext cx="8790710" cy="684212"/>
          </a:xfrm>
        </p:spPr>
        <p:txBody>
          <a:bodyPr/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</a:rPr>
              <a:t>Qu'</a:t>
            </a:r>
            <a:r>
              <a:rPr lang="fr-FR" altLang="zh-CN" b="1" dirty="0" err="1">
                <a:solidFill>
                  <a:srgbClr val="C00000"/>
                </a:solidFill>
                <a:ea typeface="SimSun" pitchFamily="2" charset="-122"/>
              </a:rPr>
              <a:t>est‑ce</a:t>
            </a:r>
            <a:r>
              <a:rPr lang="fr-FR" altLang="zh-CN" b="1" dirty="0">
                <a:solidFill>
                  <a:srgbClr val="C00000"/>
                </a:solidFill>
                <a:ea typeface="SimSun" pitchFamily="2" charset="-122"/>
              </a:rPr>
              <a:t> que la commande Compact ?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</a:rPr>
              <a:t> </a:t>
            </a:r>
            <a:endParaRPr lang="en-US" altLang="zh-CN" b="1" dirty="0">
              <a:solidFill>
                <a:srgbClr val="C00000"/>
              </a:solidFill>
              <a:ea typeface="SimSun" pitchFamily="2" charset="-122"/>
            </a:endParaRPr>
          </a:p>
        </p:txBody>
      </p:sp>
      <p:sp>
        <p:nvSpPr>
          <p:cNvPr id="543747" name="Rectangle-3"/>
          <p:cNvSpPr>
            <a:spLocks noGrp="1" noChangeArrowheads="1"/>
          </p:cNvSpPr>
          <p:nvPr>
            <p:ph type="body" sz="half" idx="1"/>
          </p:nvPr>
        </p:nvSpPr>
        <p:spPr>
          <a:xfrm>
            <a:off x="180108" y="1314450"/>
            <a:ext cx="8756073" cy="2295650"/>
          </a:xfrm>
          <a:noFill/>
          <a:ln/>
        </p:spPr>
        <p:txBody>
          <a:bodyPr>
            <a:no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</a:rPr>
              <a:t>Un outil de ligne de commande permettant de compresser les fichiers et les dossiers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IE" altLang="zh-CN" sz="2200" dirty="0" smtClean="0">
              <a:solidFill>
                <a:srgbClr val="000000"/>
              </a:solidFill>
              <a:ea typeface="SimSun" pitchFamily="2" charset="-122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altLang="zh-CN" sz="2200" dirty="0" smtClean="0">
                <a:solidFill>
                  <a:srgbClr val="000000"/>
                </a:solidFill>
                <a:ea typeface="SimSun" pitchFamily="2" charset="-122"/>
              </a:rPr>
              <a:t>Utilisée </a:t>
            </a: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</a:rPr>
              <a:t>sans paramètre, la commande Compact affiche l'état de la compression du répertoire actif et des fichiers qu'il contient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IE" altLang="zh-CN" sz="2200" dirty="0" smtClean="0">
              <a:solidFill>
                <a:srgbClr val="000000"/>
              </a:solidFill>
              <a:ea typeface="SimSun" pitchFamily="2" charset="-122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altLang="zh-CN" sz="2200" dirty="0" smtClean="0">
                <a:solidFill>
                  <a:srgbClr val="000000"/>
                </a:solidFill>
                <a:ea typeface="SimSun" pitchFamily="2" charset="-122"/>
              </a:rPr>
              <a:t>Vous pouvez utiliser plusieurs noms </a:t>
            </a: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</a:rPr>
              <a:t>de fichiers</a:t>
            </a:r>
            <a:r>
              <a:rPr lang="fr-FR" altLang="zh-CN" sz="2200" dirty="0" smtClean="0">
                <a:solidFill>
                  <a:srgbClr val="000000"/>
                </a:solidFill>
                <a:ea typeface="SimSun" pitchFamily="2" charset="-122"/>
              </a:rPr>
              <a:t>, ainsi </a:t>
            </a: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</a:rPr>
              <a:t>que des</a:t>
            </a:r>
            <a:br>
              <a:rPr lang="fr-FR" altLang="zh-CN" sz="2200" dirty="0">
                <a:solidFill>
                  <a:srgbClr val="000000"/>
                </a:solidFill>
                <a:ea typeface="SimSun" pitchFamily="2" charset="-122"/>
              </a:rPr>
            </a:br>
            <a:r>
              <a:rPr lang="fr-FR" altLang="zh-CN" sz="2200" dirty="0" smtClean="0">
                <a:solidFill>
                  <a:srgbClr val="000000"/>
                </a:solidFill>
                <a:ea typeface="SimSun" pitchFamily="2" charset="-122"/>
              </a:rPr>
              <a:t>caractères génériques</a:t>
            </a:r>
            <a:r>
              <a:rPr lang="en-IE" altLang="zh-CN" sz="2200" dirty="0" smtClean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IE" altLang="zh-CN" sz="2200" dirty="0">
              <a:solidFill>
                <a:srgbClr val="000000"/>
              </a:solidFill>
              <a:ea typeface="SimSun" pitchFamily="2" charset="-122"/>
            </a:endParaRPr>
          </a:p>
        </p:txBody>
      </p:sp>
      <p:pic>
        <p:nvPicPr>
          <p:cNvPr id="543757" name="Picture 13"/>
          <p:cNvPicPr>
            <a:picLocks noChangeAspect="1" noChangeArrowheads="1"/>
          </p:cNvPicPr>
          <p:nvPr/>
        </p:nvPicPr>
        <p:blipFill>
          <a:blip r:embed="rId3"/>
          <a:srcRect t="22909"/>
          <a:stretch>
            <a:fillRect/>
          </a:stretch>
        </p:blipFill>
        <p:spPr bwMode="auto">
          <a:xfrm>
            <a:off x="0" y="3764478"/>
            <a:ext cx="9144000" cy="2737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43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43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43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418" name="Rectangle-2"/>
          <p:cNvSpPr>
            <a:spLocks noGrp="1" noChangeArrowheads="1"/>
          </p:cNvSpPr>
          <p:nvPr>
            <p:ph type="title"/>
          </p:nvPr>
        </p:nvSpPr>
        <p:spPr>
          <a:xfrm>
            <a:off x="166255" y="228600"/>
            <a:ext cx="8797636" cy="758952"/>
          </a:xfrm>
        </p:spPr>
        <p:txBody>
          <a:bodyPr>
            <a:normAutofit fontScale="90000"/>
          </a:bodyPr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</a:rPr>
              <a:t>Comment compresser un fichier ou un dossier ?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</a:rPr>
              <a:t> </a:t>
            </a:r>
            <a:endParaRPr lang="en-US" altLang="zh-CN" b="1" dirty="0">
              <a:solidFill>
                <a:srgbClr val="C00000"/>
              </a:solidFill>
              <a:ea typeface="SimSun" pitchFamily="2" charset="-122"/>
            </a:endParaRPr>
          </a:p>
        </p:txBody>
      </p:sp>
      <p:sp>
        <p:nvSpPr>
          <p:cNvPr id="572421" name="AutoShape-5"/>
          <p:cNvSpPr>
            <a:spLocks noChangeArrowheads="1"/>
          </p:cNvSpPr>
          <p:nvPr/>
        </p:nvSpPr>
        <p:spPr bwMode="auto">
          <a:xfrm>
            <a:off x="484910" y="2057399"/>
            <a:ext cx="8104908" cy="3227119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600" b="1" dirty="0">
                <a:solidFill>
                  <a:srgbClr val="000000"/>
                </a:solidFill>
                <a:ea typeface="SimSun" pitchFamily="2" charset="-122"/>
              </a:rPr>
              <a:t>Compresser un fichier ou un dossier sur un lecteur NTFS</a:t>
            </a:r>
            <a:r>
              <a:rPr lang="en-IE" altLang="zh-CN" sz="2600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600" b="1" dirty="0">
              <a:ea typeface="SimSun" pitchFamily="2" charset="-122"/>
            </a:endParaRPr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600" b="1" dirty="0">
                <a:solidFill>
                  <a:srgbClr val="000000"/>
                </a:solidFill>
                <a:ea typeface="SimSun" pitchFamily="2" charset="-122"/>
              </a:rPr>
              <a:t>Compresser un fichier ou un dossier via la fonction Dossiers compressés</a:t>
            </a:r>
            <a:r>
              <a:rPr lang="en-IE" altLang="zh-CN" sz="2600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600" b="1" dirty="0">
              <a:ea typeface="SimSun" pitchFamily="2" charset="-122"/>
            </a:endParaRPr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600" b="1" dirty="0">
                <a:solidFill>
                  <a:srgbClr val="000000"/>
                </a:solidFill>
                <a:ea typeface="SimSun" pitchFamily="2" charset="-122"/>
              </a:rPr>
              <a:t>Compresser un fichier ou un dossier à l'aide de l'outil de ligne de commande Compact</a:t>
            </a:r>
            <a:r>
              <a:rPr lang="en-IE" altLang="zh-CN" sz="2600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r>
              <a:rPr lang="en-IE" altLang="zh-CN" sz="2600" b="1" dirty="0" smtClean="0">
                <a:solidFill>
                  <a:srgbClr val="000000"/>
                </a:solidFill>
                <a:ea typeface="SimSun" pitchFamily="2" charset="-122"/>
              </a:rPr>
              <a:t>:</a:t>
            </a:r>
          </a:p>
          <a:p>
            <a:pPr marL="231775" indent="-231775">
              <a:lnSpc>
                <a:spcPct val="90000"/>
              </a:lnSpc>
              <a:spcBef>
                <a:spcPct val="40000"/>
              </a:spcBef>
              <a:buSzPct val="80000"/>
            </a:pPr>
            <a:r>
              <a:rPr lang="fr-FR" sz="2800" b="1" dirty="0">
                <a:solidFill>
                  <a:srgbClr val="C00000"/>
                </a:solidFill>
              </a:rPr>
              <a:t>compact /c </a:t>
            </a:r>
            <a:r>
              <a:rPr lang="fr-FR" sz="2800" b="1" i="1" dirty="0">
                <a:solidFill>
                  <a:srgbClr val="C00000"/>
                </a:solidFill>
              </a:rPr>
              <a:t>c</a:t>
            </a:r>
            <a:r>
              <a:rPr lang="fr-FR" sz="2800" b="1" i="1" dirty="0" smtClean="0">
                <a:solidFill>
                  <a:srgbClr val="C00000"/>
                </a:solidFill>
              </a:rPr>
              <a:t>:\dossier\*.*</a:t>
            </a:r>
            <a:endParaRPr lang="en-US" altLang="zh-CN" sz="2600" b="1" dirty="0">
              <a:solidFill>
                <a:srgbClr val="C00000"/>
              </a:solidFill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724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52" name="Rectangle 984"/>
          <p:cNvSpPr>
            <a:spLocks noGrp="1" noChangeArrowheads="1"/>
          </p:cNvSpPr>
          <p:nvPr>
            <p:ph type="title"/>
          </p:nvPr>
        </p:nvSpPr>
        <p:spPr>
          <a:xfrm>
            <a:off x="180109" y="228600"/>
            <a:ext cx="8783782" cy="758952"/>
          </a:xfrm>
          <a:noFill/>
          <a:ln/>
        </p:spPr>
        <p:txBody>
          <a:bodyPr>
            <a:normAutofit fontScale="90000"/>
          </a:bodyPr>
          <a:lstStyle/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</a:rPr>
              <a:t>Quels sont les effets produits par le déplacement ou la copie de fichiers ou de dossiers compressés ?</a:t>
            </a:r>
            <a:endParaRPr lang="en-US" sz="2600" b="1" dirty="0">
              <a:solidFill>
                <a:srgbClr val="C00000"/>
              </a:solidFill>
              <a:ea typeface="SimSun" pitchFamily="2" charset="-122"/>
            </a:endParaRPr>
          </a:p>
        </p:txBody>
      </p:sp>
      <p:sp>
        <p:nvSpPr>
          <p:cNvPr id="392153" name="AutoShape 985"/>
          <p:cNvSpPr>
            <a:spLocks noChangeArrowheads="1"/>
          </p:cNvSpPr>
          <p:nvPr/>
        </p:nvSpPr>
        <p:spPr bwMode="auto">
          <a:xfrm>
            <a:off x="180110" y="4725988"/>
            <a:ext cx="4280766" cy="1668462"/>
          </a:xfrm>
          <a:prstGeom prst="roundRect">
            <a:avLst>
              <a:gd name="adj" fmla="val 2931"/>
            </a:avLst>
          </a:prstGeom>
          <a:solidFill>
            <a:srgbClr val="DFE8F2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wrap="none"/>
          <a:lstStyle/>
          <a:p>
            <a:r>
              <a:rPr lang="fr-FR" altLang="zh-CN" sz="2000" b="1">
                <a:solidFill>
                  <a:srgbClr val="000000"/>
                </a:solidFill>
                <a:ea typeface="SimSun" pitchFamily="2" charset="-122"/>
              </a:rPr>
              <a:t>Dossier d'une partition FAT</a:t>
            </a:r>
            <a:endParaRPr lang="en-US" sz="2000" b="1"/>
          </a:p>
          <a:p>
            <a:endParaRPr lang="en-US" sz="2000" b="1"/>
          </a:p>
        </p:txBody>
      </p:sp>
      <p:sp>
        <p:nvSpPr>
          <p:cNvPr id="392154" name="AutoShape 986"/>
          <p:cNvSpPr>
            <a:spLocks noChangeArrowheads="1"/>
          </p:cNvSpPr>
          <p:nvPr/>
        </p:nvSpPr>
        <p:spPr bwMode="auto">
          <a:xfrm>
            <a:off x="4587875" y="4725988"/>
            <a:ext cx="4389870" cy="1668462"/>
          </a:xfrm>
          <a:prstGeom prst="roundRect">
            <a:avLst>
              <a:gd name="adj" fmla="val 2931"/>
            </a:avLst>
          </a:prstGeom>
          <a:solidFill>
            <a:srgbClr val="DFE8F2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wrap="none"/>
          <a:lstStyle/>
          <a:p>
            <a:r>
              <a:rPr lang="fr-FR" altLang="zh-CN" sz="2000" b="1">
                <a:solidFill>
                  <a:srgbClr val="000000"/>
                </a:solidFill>
                <a:ea typeface="SimSun" pitchFamily="2" charset="-122"/>
              </a:rPr>
              <a:t>Dossier d'une partition NTFS</a:t>
            </a:r>
            <a:r>
              <a:rPr lang="en-IE" altLang="zh-CN" sz="2000" b="1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000" b="1">
              <a:ea typeface="SimSun" pitchFamily="2" charset="-122"/>
            </a:endParaRPr>
          </a:p>
          <a:p>
            <a:endParaRPr lang="en-US" altLang="zh-CN" sz="2000" b="1">
              <a:ea typeface="SimSun" pitchFamily="2" charset="-122"/>
            </a:endParaRPr>
          </a:p>
          <a:p>
            <a:endParaRPr lang="en-US" sz="2000" b="1"/>
          </a:p>
          <a:p>
            <a:endParaRPr lang="en-US" sz="2000" b="1"/>
          </a:p>
        </p:txBody>
      </p:sp>
      <p:sp>
        <p:nvSpPr>
          <p:cNvPr id="392155" name="AutoShape 987"/>
          <p:cNvSpPr>
            <a:spLocks noChangeArrowheads="1"/>
          </p:cNvSpPr>
          <p:nvPr/>
        </p:nvSpPr>
        <p:spPr bwMode="auto">
          <a:xfrm>
            <a:off x="281838" y="4794250"/>
            <a:ext cx="328612" cy="328613"/>
          </a:xfrm>
          <a:prstGeom prst="roundRect">
            <a:avLst>
              <a:gd name="adj" fmla="val 16667"/>
            </a:avLst>
          </a:prstGeom>
          <a:solidFill>
            <a:srgbClr val="8DACD0"/>
          </a:solidFill>
          <a:ln w="9525">
            <a:solidFill>
              <a:srgbClr val="33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D</a:t>
            </a:r>
          </a:p>
        </p:txBody>
      </p:sp>
      <p:pic>
        <p:nvPicPr>
          <p:cNvPr id="392156" name="Picture 988" descr="Folder_Closed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38838" y="5226050"/>
            <a:ext cx="957262" cy="101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2157" name="Picture 989" descr="Vise_CompressedFile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14525" y="5265738"/>
            <a:ext cx="1268413" cy="90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2158" name="AutoShape 990"/>
          <p:cNvSpPr>
            <a:spLocks noChangeArrowheads="1"/>
          </p:cNvSpPr>
          <p:nvPr/>
        </p:nvSpPr>
        <p:spPr bwMode="auto">
          <a:xfrm>
            <a:off x="4587875" y="2943225"/>
            <a:ext cx="4389870" cy="1666875"/>
          </a:xfrm>
          <a:prstGeom prst="roundRect">
            <a:avLst>
              <a:gd name="adj" fmla="val 2931"/>
            </a:avLst>
          </a:prstGeom>
          <a:solidFill>
            <a:srgbClr val="DFE8F2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wrap="none"/>
          <a:lstStyle/>
          <a:p>
            <a:r>
              <a:rPr lang="fr-FR" altLang="zh-CN" sz="2000" b="1">
                <a:solidFill>
                  <a:srgbClr val="000000"/>
                </a:solidFill>
                <a:ea typeface="SimSun" pitchFamily="2" charset="-122"/>
              </a:rPr>
              <a:t>Dans plusieurs volumes et partitions NTFS</a:t>
            </a:r>
            <a:r>
              <a:rPr lang="en-IE" altLang="zh-CN" sz="2000" b="1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000" b="1">
              <a:ea typeface="SimSun" pitchFamily="2" charset="-122"/>
            </a:endParaRPr>
          </a:p>
          <a:p>
            <a:endParaRPr lang="en-US" altLang="zh-CN" sz="2000" b="1">
              <a:ea typeface="SimSun" pitchFamily="2" charset="-122"/>
            </a:endParaRPr>
          </a:p>
          <a:p>
            <a:endParaRPr lang="en-US" sz="2000" b="1"/>
          </a:p>
          <a:p>
            <a:endParaRPr lang="en-US" sz="2000" b="1"/>
          </a:p>
        </p:txBody>
      </p:sp>
      <p:pic>
        <p:nvPicPr>
          <p:cNvPr id="392159" name="Picture 991" descr="Folder_Closed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38838" y="3397250"/>
            <a:ext cx="957262" cy="101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2160" name="AutoShape 992"/>
          <p:cNvSpPr>
            <a:spLocks noChangeArrowheads="1"/>
          </p:cNvSpPr>
          <p:nvPr/>
        </p:nvSpPr>
        <p:spPr bwMode="auto">
          <a:xfrm>
            <a:off x="180110" y="2943225"/>
            <a:ext cx="4280766" cy="1666875"/>
          </a:xfrm>
          <a:prstGeom prst="roundRect">
            <a:avLst>
              <a:gd name="adj" fmla="val 2931"/>
            </a:avLst>
          </a:prstGeom>
          <a:solidFill>
            <a:srgbClr val="DFE8F2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wrap="none"/>
          <a:lstStyle/>
          <a:p>
            <a:r>
              <a:rPr lang="fr-FR" altLang="zh-CN" sz="2000" b="1">
                <a:solidFill>
                  <a:srgbClr val="000000"/>
                </a:solidFill>
                <a:ea typeface="SimSun" pitchFamily="2" charset="-122"/>
              </a:rPr>
              <a:t>Dans plusieurs partitions NTFS</a:t>
            </a:r>
            <a:endParaRPr lang="en-US" sz="2000" b="1">
              <a:solidFill>
                <a:srgbClr val="000000"/>
              </a:solidFill>
              <a:ea typeface="SimSun" pitchFamily="2" charset="-122"/>
            </a:endParaRPr>
          </a:p>
        </p:txBody>
      </p:sp>
      <p:sp>
        <p:nvSpPr>
          <p:cNvPr id="392161" name="AutoShape 993"/>
          <p:cNvSpPr>
            <a:spLocks noChangeArrowheads="1"/>
          </p:cNvSpPr>
          <p:nvPr/>
        </p:nvSpPr>
        <p:spPr bwMode="auto">
          <a:xfrm>
            <a:off x="281838" y="3016250"/>
            <a:ext cx="328612" cy="328613"/>
          </a:xfrm>
          <a:prstGeom prst="roundRect">
            <a:avLst>
              <a:gd name="adj" fmla="val 16667"/>
            </a:avLst>
          </a:prstGeom>
          <a:solidFill>
            <a:srgbClr val="8DACD0"/>
          </a:solidFill>
          <a:ln w="9525">
            <a:solidFill>
              <a:srgbClr val="33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C</a:t>
            </a:r>
          </a:p>
        </p:txBody>
      </p:sp>
      <p:pic>
        <p:nvPicPr>
          <p:cNvPr id="392162" name="Picture 994" descr="Vise_CompressedFile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14525" y="3451225"/>
            <a:ext cx="1268413" cy="90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2163" name="AutoShape 995"/>
          <p:cNvSpPr>
            <a:spLocks noChangeArrowheads="1"/>
          </p:cNvSpPr>
          <p:nvPr/>
        </p:nvSpPr>
        <p:spPr bwMode="auto">
          <a:xfrm>
            <a:off x="4587875" y="1160463"/>
            <a:ext cx="4389870" cy="1668462"/>
          </a:xfrm>
          <a:prstGeom prst="roundRect">
            <a:avLst>
              <a:gd name="adj" fmla="val 2931"/>
            </a:avLst>
          </a:prstGeom>
          <a:solidFill>
            <a:srgbClr val="DFE8F2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wrap="none"/>
          <a:lstStyle/>
          <a:p>
            <a:r>
              <a:rPr lang="fr-FR" altLang="zh-CN" sz="2000" b="1">
                <a:solidFill>
                  <a:srgbClr val="000000"/>
                </a:solidFill>
                <a:ea typeface="SimSun" pitchFamily="2" charset="-122"/>
              </a:rPr>
              <a:t>Dans une partition NTFS</a:t>
            </a:r>
            <a:r>
              <a:rPr lang="en-IE" altLang="zh-CN" sz="2000" b="1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000" b="1">
              <a:solidFill>
                <a:srgbClr val="000000"/>
              </a:solidFill>
              <a:ea typeface="SimSun" pitchFamily="2" charset="-122"/>
            </a:endParaRPr>
          </a:p>
          <a:p>
            <a:endParaRPr lang="en-US" sz="2000" b="1"/>
          </a:p>
        </p:txBody>
      </p:sp>
      <p:sp>
        <p:nvSpPr>
          <p:cNvPr id="392164" name="AutoShape 996"/>
          <p:cNvSpPr>
            <a:spLocks noChangeArrowheads="1"/>
          </p:cNvSpPr>
          <p:nvPr/>
        </p:nvSpPr>
        <p:spPr bwMode="auto">
          <a:xfrm>
            <a:off x="4630738" y="1212850"/>
            <a:ext cx="328612" cy="328613"/>
          </a:xfrm>
          <a:prstGeom prst="roundRect">
            <a:avLst>
              <a:gd name="adj" fmla="val 16667"/>
            </a:avLst>
          </a:prstGeom>
          <a:solidFill>
            <a:srgbClr val="8DACD0"/>
          </a:solidFill>
          <a:ln w="9525">
            <a:solidFill>
              <a:srgbClr val="33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 dirty="0"/>
              <a:t>B</a:t>
            </a:r>
          </a:p>
        </p:txBody>
      </p:sp>
      <p:pic>
        <p:nvPicPr>
          <p:cNvPr id="392165" name="Picture 997" descr="Vise_CompressedFile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08525" y="1712913"/>
            <a:ext cx="1052513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2166" name="Picture 998" descr="Folder_Closed0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462705" y="1566863"/>
            <a:ext cx="862013" cy="91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2167" name="Picture 999" descr="Vise_CompressedFile0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527793" y="1763713"/>
            <a:ext cx="750887" cy="534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2168" name="AutoShape 1000"/>
          <p:cNvSpPr>
            <a:spLocks noChangeArrowheads="1"/>
          </p:cNvSpPr>
          <p:nvPr/>
        </p:nvSpPr>
        <p:spPr bwMode="auto">
          <a:xfrm>
            <a:off x="180110" y="1160463"/>
            <a:ext cx="4280766" cy="1668462"/>
          </a:xfrm>
          <a:prstGeom prst="roundRect">
            <a:avLst>
              <a:gd name="adj" fmla="val 2931"/>
            </a:avLst>
          </a:prstGeom>
          <a:solidFill>
            <a:srgbClr val="DFE8F2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wrap="none"/>
          <a:lstStyle/>
          <a:p>
            <a:r>
              <a:rPr lang="fr-FR" altLang="zh-CN" sz="2000" b="1" dirty="0">
                <a:solidFill>
                  <a:srgbClr val="000000"/>
                </a:solidFill>
                <a:ea typeface="SimSun" pitchFamily="2" charset="-122"/>
              </a:rPr>
              <a:t>Dans une partition NTFS</a:t>
            </a:r>
            <a:endParaRPr lang="en-US" sz="2000" b="1" dirty="0">
              <a:solidFill>
                <a:srgbClr val="000000"/>
              </a:solidFill>
              <a:ea typeface="SimSun" pitchFamily="2" charset="-122"/>
            </a:endParaRPr>
          </a:p>
        </p:txBody>
      </p:sp>
      <p:sp>
        <p:nvSpPr>
          <p:cNvPr id="392169" name="AutoShape 1001"/>
          <p:cNvSpPr>
            <a:spLocks noChangeArrowheads="1"/>
          </p:cNvSpPr>
          <p:nvPr/>
        </p:nvSpPr>
        <p:spPr bwMode="auto">
          <a:xfrm>
            <a:off x="281838" y="1212850"/>
            <a:ext cx="328612" cy="328613"/>
          </a:xfrm>
          <a:prstGeom prst="roundRect">
            <a:avLst>
              <a:gd name="adj" fmla="val 16667"/>
            </a:avLst>
          </a:prstGeom>
          <a:solidFill>
            <a:srgbClr val="8DACD0"/>
          </a:solidFill>
          <a:ln w="9525">
            <a:solidFill>
              <a:srgbClr val="33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 dirty="0"/>
              <a:t>A</a:t>
            </a:r>
          </a:p>
        </p:txBody>
      </p:sp>
      <p:pic>
        <p:nvPicPr>
          <p:cNvPr id="392170" name="Picture 1002" descr="Vise_CompressedFile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27113" y="1712913"/>
            <a:ext cx="1052512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2171" name="Picture 1003" descr="Folder_Closed0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263900" y="1566863"/>
            <a:ext cx="862013" cy="91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2172" name="AutoShape 1004"/>
          <p:cNvSpPr>
            <a:spLocks noChangeArrowheads="1"/>
          </p:cNvSpPr>
          <p:nvPr/>
        </p:nvSpPr>
        <p:spPr bwMode="auto">
          <a:xfrm>
            <a:off x="2249488" y="1755775"/>
            <a:ext cx="1028102" cy="582613"/>
          </a:xfrm>
          <a:prstGeom prst="rightArrow">
            <a:avLst>
              <a:gd name="adj1" fmla="val 54491"/>
              <a:gd name="adj2" fmla="val 55311"/>
            </a:avLst>
          </a:prstGeom>
          <a:solidFill>
            <a:srgbClr val="FF0000">
              <a:alpha val="7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fr-FR" altLang="zh-CN" sz="2000" b="1" dirty="0">
                <a:solidFill>
                  <a:srgbClr val="000000"/>
                </a:solidFill>
                <a:ea typeface="SimSun" pitchFamily="2" charset="-122"/>
              </a:rPr>
              <a:t>Copie</a:t>
            </a:r>
            <a:endParaRPr lang="en-US" sz="2000" b="1" dirty="0">
              <a:solidFill>
                <a:srgbClr val="000000"/>
              </a:solidFill>
              <a:ea typeface="SimSun" pitchFamily="2" charset="-122"/>
            </a:endParaRPr>
          </a:p>
        </p:txBody>
      </p:sp>
      <p:sp>
        <p:nvSpPr>
          <p:cNvPr id="392173" name="AutoShape 1005"/>
          <p:cNvSpPr>
            <a:spLocks noChangeArrowheads="1"/>
          </p:cNvSpPr>
          <p:nvPr/>
        </p:nvSpPr>
        <p:spPr bwMode="auto">
          <a:xfrm>
            <a:off x="2968040" y="2452113"/>
            <a:ext cx="1395268" cy="318798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fr-FR" altLang="zh-CN" sz="2200" b="1">
                <a:solidFill>
                  <a:srgbClr val="000000"/>
                </a:solidFill>
                <a:ea typeface="SimSun" pitchFamily="2" charset="-122"/>
              </a:rPr>
              <a:t>Hérite</a:t>
            </a:r>
            <a:r>
              <a:rPr lang="en-IE" altLang="zh-CN" sz="2200" b="1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200" b="1">
              <a:solidFill>
                <a:srgbClr val="000000"/>
              </a:solidFill>
              <a:ea typeface="SimSun" pitchFamily="2" charset="-122"/>
            </a:endParaRPr>
          </a:p>
        </p:txBody>
      </p:sp>
      <p:sp>
        <p:nvSpPr>
          <p:cNvPr id="392174" name="AutoShape 1006"/>
          <p:cNvSpPr>
            <a:spLocks noChangeArrowheads="1"/>
          </p:cNvSpPr>
          <p:nvPr/>
        </p:nvSpPr>
        <p:spPr bwMode="auto">
          <a:xfrm>
            <a:off x="5815013" y="1755775"/>
            <a:ext cx="1638732" cy="582613"/>
          </a:xfrm>
          <a:prstGeom prst="rightArrow">
            <a:avLst>
              <a:gd name="adj1" fmla="val 54491"/>
              <a:gd name="adj2" fmla="val 81797"/>
            </a:avLst>
          </a:prstGeom>
          <a:solidFill>
            <a:srgbClr val="FF0000">
              <a:alpha val="7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fr-FR" altLang="zh-CN" sz="2000" b="1" dirty="0">
                <a:solidFill>
                  <a:srgbClr val="000000"/>
                </a:solidFill>
                <a:ea typeface="SimSun" pitchFamily="2" charset="-122"/>
              </a:rPr>
              <a:t>Déplacement</a:t>
            </a:r>
            <a:endParaRPr lang="en-US" sz="2000" b="1" dirty="0">
              <a:solidFill>
                <a:srgbClr val="000000"/>
              </a:solidFill>
              <a:ea typeface="SimSun" pitchFamily="2" charset="-122"/>
            </a:endParaRPr>
          </a:p>
        </p:txBody>
      </p:sp>
      <p:sp>
        <p:nvSpPr>
          <p:cNvPr id="392175" name="AutoShape 1007"/>
          <p:cNvSpPr>
            <a:spLocks noChangeArrowheads="1"/>
          </p:cNvSpPr>
          <p:nvPr/>
        </p:nvSpPr>
        <p:spPr bwMode="auto">
          <a:xfrm>
            <a:off x="7457800" y="2382838"/>
            <a:ext cx="1395268" cy="318798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fr-FR" altLang="zh-CN" sz="2200" b="1" dirty="0">
                <a:solidFill>
                  <a:srgbClr val="000000"/>
                </a:solidFill>
                <a:ea typeface="SimSun" pitchFamily="2" charset="-122"/>
              </a:rPr>
              <a:t>Conserve</a:t>
            </a:r>
            <a:endParaRPr lang="en-US" sz="2200" b="1" dirty="0">
              <a:solidFill>
                <a:srgbClr val="000000"/>
              </a:solidFill>
              <a:ea typeface="SimSun" pitchFamily="2" charset="-122"/>
            </a:endParaRPr>
          </a:p>
        </p:txBody>
      </p:sp>
      <p:sp>
        <p:nvSpPr>
          <p:cNvPr id="392176" name="AutoShape 1008"/>
          <p:cNvSpPr>
            <a:spLocks noChangeArrowheads="1"/>
          </p:cNvSpPr>
          <p:nvPr/>
        </p:nvSpPr>
        <p:spPr bwMode="auto">
          <a:xfrm>
            <a:off x="7486523" y="3748088"/>
            <a:ext cx="1395268" cy="318798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fr-FR" altLang="zh-CN" sz="2200" b="1">
                <a:solidFill>
                  <a:srgbClr val="000000"/>
                </a:solidFill>
                <a:ea typeface="SimSun" pitchFamily="2" charset="-122"/>
              </a:rPr>
              <a:t>Hérite</a:t>
            </a:r>
            <a:endParaRPr lang="en-US" sz="2200" b="1">
              <a:solidFill>
                <a:srgbClr val="000000"/>
              </a:solidFill>
              <a:ea typeface="SimSun" pitchFamily="2" charset="-122"/>
            </a:endParaRPr>
          </a:p>
        </p:txBody>
      </p:sp>
      <p:sp>
        <p:nvSpPr>
          <p:cNvPr id="392177" name="AutoShape 1009"/>
          <p:cNvSpPr>
            <a:spLocks noChangeArrowheads="1"/>
          </p:cNvSpPr>
          <p:nvPr/>
        </p:nvSpPr>
        <p:spPr bwMode="auto">
          <a:xfrm>
            <a:off x="3551238" y="3379788"/>
            <a:ext cx="2203450" cy="457923"/>
          </a:xfrm>
          <a:prstGeom prst="rightArrow">
            <a:avLst>
              <a:gd name="adj1" fmla="val 62944"/>
              <a:gd name="adj2" fmla="val 99056"/>
            </a:avLst>
          </a:prstGeom>
          <a:solidFill>
            <a:srgbClr val="FF0000">
              <a:alpha val="7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fr-FR" altLang="zh-CN" sz="2000" b="1" dirty="0">
                <a:solidFill>
                  <a:srgbClr val="000000"/>
                </a:solidFill>
                <a:ea typeface="SimSun" pitchFamily="2" charset="-122"/>
              </a:rPr>
              <a:t>Copie</a:t>
            </a:r>
            <a:endParaRPr lang="en-US" sz="2000" b="1" dirty="0">
              <a:solidFill>
                <a:srgbClr val="000000"/>
              </a:solidFill>
              <a:ea typeface="SimSun" pitchFamily="2" charset="-122"/>
            </a:endParaRPr>
          </a:p>
        </p:txBody>
      </p:sp>
      <p:sp>
        <p:nvSpPr>
          <p:cNvPr id="392178" name="AutoShape 1010"/>
          <p:cNvSpPr>
            <a:spLocks noChangeArrowheads="1"/>
          </p:cNvSpPr>
          <p:nvPr/>
        </p:nvSpPr>
        <p:spPr bwMode="auto">
          <a:xfrm>
            <a:off x="3551238" y="3971925"/>
            <a:ext cx="2203450" cy="504825"/>
          </a:xfrm>
          <a:prstGeom prst="rightArrow">
            <a:avLst>
              <a:gd name="adj1" fmla="val 62944"/>
              <a:gd name="adj2" fmla="val 99056"/>
            </a:avLst>
          </a:prstGeom>
          <a:solidFill>
            <a:srgbClr val="FF0000">
              <a:alpha val="7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fr-FR" altLang="zh-CN" sz="2000" b="1">
                <a:solidFill>
                  <a:srgbClr val="000000"/>
                </a:solidFill>
                <a:ea typeface="SimSun" pitchFamily="2" charset="-122"/>
              </a:rPr>
              <a:t>Déplacement</a:t>
            </a:r>
            <a:endParaRPr lang="en-US" sz="2000" b="1">
              <a:solidFill>
                <a:srgbClr val="000000"/>
              </a:solidFill>
              <a:ea typeface="SimSun" pitchFamily="2" charset="-122"/>
            </a:endParaRPr>
          </a:p>
        </p:txBody>
      </p:sp>
      <p:sp>
        <p:nvSpPr>
          <p:cNvPr id="392179" name="AutoShape 1011"/>
          <p:cNvSpPr>
            <a:spLocks noChangeArrowheads="1"/>
          </p:cNvSpPr>
          <p:nvPr/>
        </p:nvSpPr>
        <p:spPr bwMode="auto">
          <a:xfrm>
            <a:off x="290783" y="5576888"/>
            <a:ext cx="1395268" cy="318798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fr-FR" altLang="zh-CN" sz="2200" b="1">
                <a:solidFill>
                  <a:srgbClr val="000000"/>
                </a:solidFill>
                <a:ea typeface="SimSun" pitchFamily="2" charset="-122"/>
              </a:rPr>
              <a:t>Hérite</a:t>
            </a:r>
            <a:endParaRPr lang="en-US" sz="2200" b="1">
              <a:solidFill>
                <a:srgbClr val="000000"/>
              </a:solidFill>
              <a:ea typeface="SimSun" pitchFamily="2" charset="-122"/>
            </a:endParaRPr>
          </a:p>
        </p:txBody>
      </p:sp>
      <p:sp>
        <p:nvSpPr>
          <p:cNvPr id="392180" name="AutoShape 1012"/>
          <p:cNvSpPr>
            <a:spLocks noChangeArrowheads="1"/>
          </p:cNvSpPr>
          <p:nvPr/>
        </p:nvSpPr>
        <p:spPr bwMode="auto">
          <a:xfrm>
            <a:off x="7486523" y="5576888"/>
            <a:ext cx="1395268" cy="318798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fr-FR" altLang="zh-CN" sz="2200" b="1" dirty="0">
                <a:solidFill>
                  <a:srgbClr val="000000"/>
                </a:solidFill>
                <a:ea typeface="SimSun" pitchFamily="2" charset="-122"/>
              </a:rPr>
              <a:t>Hérite</a:t>
            </a:r>
            <a:endParaRPr lang="en-US" sz="2200" b="1" dirty="0">
              <a:solidFill>
                <a:srgbClr val="000000"/>
              </a:solidFill>
              <a:ea typeface="SimSun" pitchFamily="2" charset="-122"/>
            </a:endParaRPr>
          </a:p>
        </p:txBody>
      </p:sp>
      <p:sp>
        <p:nvSpPr>
          <p:cNvPr id="392181" name="AutoShape 1013"/>
          <p:cNvSpPr>
            <a:spLocks noChangeArrowheads="1"/>
          </p:cNvSpPr>
          <p:nvPr/>
        </p:nvSpPr>
        <p:spPr bwMode="auto">
          <a:xfrm>
            <a:off x="3846513" y="5006975"/>
            <a:ext cx="1908175" cy="504825"/>
          </a:xfrm>
          <a:prstGeom prst="rightArrow">
            <a:avLst>
              <a:gd name="adj1" fmla="val 62889"/>
              <a:gd name="adj2" fmla="val 101252"/>
            </a:avLst>
          </a:prstGeom>
          <a:solidFill>
            <a:srgbClr val="FF0000">
              <a:alpha val="7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/>
            <a:endParaRPr lang="en-GB" sz="1800" b="1"/>
          </a:p>
        </p:txBody>
      </p:sp>
      <p:sp>
        <p:nvSpPr>
          <p:cNvPr id="392182" name="AutoShape 1014"/>
          <p:cNvSpPr>
            <a:spLocks noChangeArrowheads="1"/>
          </p:cNvSpPr>
          <p:nvPr/>
        </p:nvSpPr>
        <p:spPr bwMode="auto">
          <a:xfrm>
            <a:off x="3846513" y="5599113"/>
            <a:ext cx="1908175" cy="504825"/>
          </a:xfrm>
          <a:prstGeom prst="rightArrow">
            <a:avLst>
              <a:gd name="adj1" fmla="val 62889"/>
              <a:gd name="adj2" fmla="val 98749"/>
            </a:avLst>
          </a:prstGeom>
          <a:solidFill>
            <a:srgbClr val="FF0000">
              <a:alpha val="7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/>
            <a:endParaRPr lang="en-GB" sz="1800" b="1"/>
          </a:p>
        </p:txBody>
      </p:sp>
      <p:sp>
        <p:nvSpPr>
          <p:cNvPr id="392183" name="AutoShape 1015"/>
          <p:cNvSpPr>
            <a:spLocks noChangeArrowheads="1"/>
          </p:cNvSpPr>
          <p:nvPr/>
        </p:nvSpPr>
        <p:spPr bwMode="auto">
          <a:xfrm flipH="1">
            <a:off x="3343275" y="5008563"/>
            <a:ext cx="1908175" cy="504825"/>
          </a:xfrm>
          <a:prstGeom prst="rightArrow">
            <a:avLst>
              <a:gd name="adj1" fmla="val 62889"/>
              <a:gd name="adj2" fmla="val 101252"/>
            </a:avLst>
          </a:prstGeom>
          <a:solidFill>
            <a:srgbClr val="FF0000">
              <a:alpha val="7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/>
            <a:endParaRPr lang="en-GB" sz="1800" b="1"/>
          </a:p>
        </p:txBody>
      </p:sp>
      <p:sp>
        <p:nvSpPr>
          <p:cNvPr id="392184" name="AutoShape 1016"/>
          <p:cNvSpPr>
            <a:spLocks noChangeArrowheads="1"/>
          </p:cNvSpPr>
          <p:nvPr/>
        </p:nvSpPr>
        <p:spPr bwMode="auto">
          <a:xfrm flipH="1">
            <a:off x="3343275" y="5600700"/>
            <a:ext cx="1908175" cy="504825"/>
          </a:xfrm>
          <a:prstGeom prst="rightArrow">
            <a:avLst>
              <a:gd name="adj1" fmla="val 62889"/>
              <a:gd name="adj2" fmla="val 98749"/>
            </a:avLst>
          </a:prstGeom>
          <a:solidFill>
            <a:srgbClr val="FF0000">
              <a:alpha val="7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/>
            <a:endParaRPr lang="en-GB" sz="1800" b="1"/>
          </a:p>
        </p:txBody>
      </p:sp>
      <p:sp>
        <p:nvSpPr>
          <p:cNvPr id="392185" name="Text Box 1017"/>
          <p:cNvSpPr txBox="1">
            <a:spLocks noChangeArrowheads="1"/>
          </p:cNvSpPr>
          <p:nvPr/>
        </p:nvSpPr>
        <p:spPr bwMode="auto">
          <a:xfrm>
            <a:off x="4205430" y="5046805"/>
            <a:ext cx="768159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altLang="zh-CN" sz="2000" b="1" dirty="0">
                <a:solidFill>
                  <a:srgbClr val="000000"/>
                </a:solidFill>
                <a:ea typeface="SimSun" pitchFamily="2" charset="-122"/>
              </a:rPr>
              <a:t>Copie</a:t>
            </a:r>
            <a:endParaRPr lang="en-US" sz="2000" b="1" dirty="0">
              <a:solidFill>
                <a:srgbClr val="000000"/>
              </a:solidFill>
              <a:ea typeface="SimSun" pitchFamily="2" charset="-122"/>
            </a:endParaRPr>
          </a:p>
        </p:txBody>
      </p:sp>
      <p:sp>
        <p:nvSpPr>
          <p:cNvPr id="392186" name="Text Box 1018"/>
          <p:cNvSpPr txBox="1">
            <a:spLocks noChangeArrowheads="1"/>
          </p:cNvSpPr>
          <p:nvPr/>
        </p:nvSpPr>
        <p:spPr bwMode="auto">
          <a:xfrm>
            <a:off x="3983038" y="5656263"/>
            <a:ext cx="1552028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FR" altLang="zh-CN" sz="2000" b="1" dirty="0">
                <a:solidFill>
                  <a:srgbClr val="000000"/>
                </a:solidFill>
                <a:ea typeface="SimSun" pitchFamily="2" charset="-122"/>
              </a:rPr>
              <a:t>Déplacement</a:t>
            </a:r>
            <a:r>
              <a:rPr lang="en-IE" altLang="zh-CN" sz="2000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000" b="1" dirty="0">
              <a:solidFill>
                <a:srgbClr val="000000"/>
              </a:solidFill>
              <a:ea typeface="SimSun" pitchFamily="2" charset="-122"/>
            </a:endParaRPr>
          </a:p>
          <a:p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2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92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2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92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92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92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92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92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2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92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92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92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392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392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392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392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392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392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392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392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392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92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72" grpId="0" animBg="1"/>
      <p:bldP spid="392173" grpId="0" animBg="1"/>
      <p:bldP spid="392174" grpId="0" animBg="1"/>
      <p:bldP spid="392175" grpId="0" animBg="1"/>
      <p:bldP spid="392176" grpId="0" animBg="1"/>
      <p:bldP spid="392177" grpId="0" animBg="1"/>
      <p:bldP spid="392178" grpId="0" animBg="1"/>
      <p:bldP spid="392179" grpId="0" animBg="1"/>
      <p:bldP spid="392180" grpId="0" animBg="1"/>
      <p:bldP spid="392180" grpId="1" animBg="1"/>
      <p:bldP spid="392181" grpId="0" animBg="1"/>
      <p:bldP spid="392182" grpId="0" animBg="1"/>
      <p:bldP spid="392182" grpId="1" animBg="1"/>
      <p:bldP spid="392183" grpId="0" animBg="1"/>
      <p:bldP spid="392184" grpId="0" animBg="1"/>
      <p:bldP spid="392185" grpId="0"/>
      <p:bldP spid="392185" grpId="1"/>
      <p:bldP spid="39218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Rectangle-2"/>
          <p:cNvSpPr>
            <a:spLocks noGrp="1" noChangeArrowheads="1"/>
          </p:cNvSpPr>
          <p:nvPr>
            <p:ph type="title"/>
          </p:nvPr>
        </p:nvSpPr>
        <p:spPr>
          <a:xfrm>
            <a:off x="177060" y="297873"/>
            <a:ext cx="8772975" cy="758952"/>
          </a:xfrm>
        </p:spPr>
        <p:txBody>
          <a:bodyPr>
            <a:normAutofit fontScale="90000"/>
          </a:bodyPr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</a:rPr>
              <a:t>Méthodes conseillées pour la compression de fichiers ou de dossiers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</a:rPr>
              <a:t> </a:t>
            </a:r>
            <a:endParaRPr lang="en-US" altLang="zh-CN" b="1" dirty="0">
              <a:solidFill>
                <a:srgbClr val="C00000"/>
              </a:solidFill>
              <a:ea typeface="SimSun" pitchFamily="2" charset="-122"/>
            </a:endParaRPr>
          </a:p>
        </p:txBody>
      </p:sp>
      <p:sp>
        <p:nvSpPr>
          <p:cNvPr id="513029" name="AutoShape-5"/>
          <p:cNvSpPr>
            <a:spLocks noChangeArrowheads="1"/>
          </p:cNvSpPr>
          <p:nvPr/>
        </p:nvSpPr>
        <p:spPr bwMode="auto">
          <a:xfrm>
            <a:off x="207818" y="1636713"/>
            <a:ext cx="8728364" cy="99940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buSzPct val="80000"/>
              <a:buFontTx/>
              <a:buBlip>
                <a:blip r:embed="rId3"/>
              </a:buBlip>
            </a:pPr>
            <a:r>
              <a:rPr lang="fr-FR" altLang="zh-CN" sz="2600" b="1">
                <a:solidFill>
                  <a:srgbClr val="000000"/>
                </a:solidFill>
                <a:ea typeface="SimSun" pitchFamily="2" charset="-122"/>
              </a:rPr>
              <a:t>Définir des types de fichiers à compresser</a:t>
            </a:r>
            <a:r>
              <a:rPr lang="en-IE" altLang="zh-CN" sz="2600" b="1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600" b="1">
              <a:solidFill>
                <a:srgbClr val="000000"/>
              </a:solidFill>
              <a:ea typeface="SimSun" pitchFamily="2" charset="-122"/>
            </a:endParaRPr>
          </a:p>
        </p:txBody>
      </p:sp>
      <p:sp>
        <p:nvSpPr>
          <p:cNvPr id="513030" name="AutoShape-6"/>
          <p:cNvSpPr>
            <a:spLocks noChangeArrowheads="1"/>
          </p:cNvSpPr>
          <p:nvPr/>
        </p:nvSpPr>
        <p:spPr bwMode="auto">
          <a:xfrm>
            <a:off x="207818" y="2860975"/>
            <a:ext cx="8728364" cy="99940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buSzPct val="80000"/>
              <a:buFontTx/>
              <a:buBlip>
                <a:blip r:embed="rId3"/>
              </a:buBlip>
            </a:pPr>
            <a:r>
              <a:rPr lang="fr-FR" altLang="zh-CN" sz="2600" b="1" dirty="0">
                <a:solidFill>
                  <a:srgbClr val="000000"/>
                </a:solidFill>
                <a:ea typeface="SimSun" pitchFamily="2" charset="-122"/>
              </a:rPr>
              <a:t>Ne pas compresser des fichiers </a:t>
            </a:r>
            <a:r>
              <a:rPr lang="fr-FR" altLang="zh-CN" sz="2600" b="1" dirty="0" smtClean="0">
                <a:solidFill>
                  <a:srgbClr val="000000"/>
                </a:solidFill>
                <a:ea typeface="SimSun" pitchFamily="2" charset="-122"/>
              </a:rPr>
              <a:t>système ou </a:t>
            </a:r>
            <a:r>
              <a:rPr lang="fr-FR" altLang="zh-CN" sz="2600" b="1" dirty="0">
                <a:solidFill>
                  <a:srgbClr val="000000"/>
                </a:solidFill>
                <a:ea typeface="SimSun" pitchFamily="2" charset="-122"/>
              </a:rPr>
              <a:t>fichiers </a:t>
            </a:r>
            <a:r>
              <a:rPr lang="fr-FR" altLang="zh-CN" sz="2600" b="1" dirty="0" smtClean="0">
                <a:solidFill>
                  <a:srgbClr val="000000"/>
                </a:solidFill>
                <a:ea typeface="SimSun" pitchFamily="2" charset="-122"/>
              </a:rPr>
              <a:t>déjà </a:t>
            </a:r>
            <a:r>
              <a:rPr lang="fr-FR" altLang="zh-CN" sz="2600" b="1" dirty="0">
                <a:solidFill>
                  <a:srgbClr val="000000"/>
                </a:solidFill>
                <a:ea typeface="SimSun" pitchFamily="2" charset="-122"/>
              </a:rPr>
              <a:t>compressés</a:t>
            </a:r>
            <a:r>
              <a:rPr lang="en-IE" altLang="zh-CN" sz="2600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600" b="1" dirty="0">
              <a:solidFill>
                <a:srgbClr val="000000"/>
              </a:solidFill>
              <a:ea typeface="SimSun" pitchFamily="2" charset="-122"/>
            </a:endParaRPr>
          </a:p>
        </p:txBody>
      </p:sp>
      <p:sp>
        <p:nvSpPr>
          <p:cNvPr id="513031" name="AutoShape-7"/>
          <p:cNvSpPr>
            <a:spLocks noChangeArrowheads="1"/>
          </p:cNvSpPr>
          <p:nvPr/>
        </p:nvSpPr>
        <p:spPr bwMode="auto">
          <a:xfrm>
            <a:off x="207818" y="4182223"/>
            <a:ext cx="8728364" cy="99940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buSzPct val="80000"/>
              <a:buFontTx/>
              <a:buBlip>
                <a:blip r:embed="rId3"/>
              </a:buBlip>
            </a:pPr>
            <a:r>
              <a:rPr lang="fr-FR" altLang="zh-CN" sz="2600" b="1" dirty="0">
                <a:solidFill>
                  <a:srgbClr val="000000"/>
                </a:solidFill>
                <a:ea typeface="SimSun" pitchFamily="2" charset="-122"/>
              </a:rPr>
              <a:t>Compresser des données statiques, plutôt que des données souvent modifiées</a:t>
            </a:r>
            <a:r>
              <a:rPr lang="en-IE" altLang="zh-CN" sz="2600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600" b="1" dirty="0">
              <a:solidFill>
                <a:srgbClr val="000000"/>
              </a:solidFill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1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1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13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29" grpId="0" animBg="1"/>
      <p:bldP spid="513030" grpId="0" animBg="1"/>
      <p:bldP spid="5130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-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altLang="zh-CN" b="1" dirty="0" smtClean="0">
                <a:solidFill>
                  <a:srgbClr val="000000"/>
                </a:solidFill>
                <a:ea typeface="SimSun" pitchFamily="2" charset="-122"/>
              </a:rPr>
              <a:t>2. Configuration </a:t>
            </a:r>
            <a:r>
              <a:rPr lang="fr-FR" altLang="zh-CN" b="1" dirty="0">
                <a:solidFill>
                  <a:srgbClr val="000000"/>
                </a:solidFill>
                <a:ea typeface="SimSun" pitchFamily="2" charset="-122"/>
              </a:rPr>
              <a:t>du cryptage des fichiers</a:t>
            </a:r>
            <a:r>
              <a:rPr lang="en-IE" altLang="zh-CN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b="1" dirty="0">
              <a:solidFill>
                <a:srgbClr val="000000"/>
              </a:solidFill>
              <a:ea typeface="SimSun" pitchFamily="2" charset="-122"/>
            </a:endParaRPr>
          </a:p>
        </p:txBody>
      </p:sp>
      <p:sp>
        <p:nvSpPr>
          <p:cNvPr id="362499" name="Rectangle-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</a:rPr>
              <a:t>Qu'</a:t>
            </a:r>
            <a:r>
              <a:rPr lang="fr-FR" altLang="zh-CN" sz="2600" b="1" dirty="0" err="1">
                <a:solidFill>
                  <a:srgbClr val="C00000"/>
                </a:solidFill>
                <a:ea typeface="SimSun" pitchFamily="2" charset="-122"/>
              </a:rPr>
              <a:t>est‑ce</a:t>
            </a:r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</a:rPr>
              <a:t> que le cryptage EFS ? </a:t>
            </a:r>
            <a:r>
              <a:rPr lang="en-US" altLang="zh-CN" sz="2600" b="1" dirty="0">
                <a:solidFill>
                  <a:srgbClr val="C00000"/>
                </a:solidFill>
                <a:ea typeface="SimSun" pitchFamily="2" charset="-122"/>
              </a:rPr>
              <a:t> </a:t>
            </a:r>
          </a:p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</a:rPr>
              <a:t>Comment crypter un fichier ou un dossier ?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</a:rPr>
              <a:t> </a:t>
            </a:r>
            <a:r>
              <a:rPr lang="en-US" altLang="zh-CN" sz="2600" b="1" dirty="0">
                <a:solidFill>
                  <a:srgbClr val="C00000"/>
                </a:solidFill>
                <a:ea typeface="SimSun" pitchFamily="2" charset="-122"/>
              </a:rPr>
              <a:t> </a:t>
            </a:r>
          </a:p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</a:rPr>
              <a:t>Quels sont les effets produits par le déplacement ou la copie de fichiers ou de dossiers cryptés ?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</a:rPr>
              <a:t> </a:t>
            </a:r>
            <a:endParaRPr lang="en-US" altLang="zh-CN" sz="2600" b="1" dirty="0">
              <a:solidFill>
                <a:srgbClr val="C00000"/>
              </a:solidFill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-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b="1" dirty="0" smtClean="0">
                <a:solidFill>
                  <a:srgbClr val="C00000"/>
                </a:solidFill>
                <a:ea typeface="SimSun" pitchFamily="2" charset="-122"/>
              </a:rPr>
              <a:t>Qu'est ce </a:t>
            </a:r>
            <a:r>
              <a:rPr lang="fr-FR" altLang="zh-CN" b="1" dirty="0">
                <a:solidFill>
                  <a:srgbClr val="C00000"/>
                </a:solidFill>
                <a:ea typeface="SimSun" pitchFamily="2" charset="-122"/>
              </a:rPr>
              <a:t>que le cryptage EFS ?</a:t>
            </a:r>
            <a:endParaRPr lang="en-US" altLang="zh-CN" b="1" dirty="0">
              <a:solidFill>
                <a:srgbClr val="C00000"/>
              </a:solidFill>
              <a:ea typeface="SimSun" pitchFamily="2" charset="-122"/>
            </a:endParaRPr>
          </a:p>
        </p:txBody>
      </p:sp>
      <p:sp>
        <p:nvSpPr>
          <p:cNvPr id="538628" name="AutoShape-4"/>
          <p:cNvSpPr>
            <a:spLocks noChangeArrowheads="1"/>
          </p:cNvSpPr>
          <p:nvPr/>
        </p:nvSpPr>
        <p:spPr bwMode="auto">
          <a:xfrm>
            <a:off x="166255" y="1165225"/>
            <a:ext cx="8797636" cy="5526520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algn="l"/>
            <a:r>
              <a:rPr lang="fr-FR" altLang="zh-CN" b="1" dirty="0">
                <a:solidFill>
                  <a:srgbClr val="000000"/>
                </a:solidFill>
                <a:ea typeface="SimSun" pitchFamily="2" charset="-122"/>
              </a:rPr>
              <a:t>Le cryptage EFS consiste à convertir les données afin de les rendre incompréhensibles sans la clé de décryptage</a:t>
            </a:r>
            <a:r>
              <a:rPr lang="en-IE" altLang="zh-CN" b="1" dirty="0">
                <a:solidFill>
                  <a:srgbClr val="000000"/>
                </a:solidFill>
                <a:ea typeface="SimSun" pitchFamily="2" charset="-122"/>
              </a:rPr>
              <a:t> </a:t>
            </a:r>
          </a:p>
        </p:txBody>
      </p:sp>
      <p:sp>
        <p:nvSpPr>
          <p:cNvPr id="538629" name="AutoShape-5"/>
          <p:cNvSpPr>
            <a:spLocks noChangeArrowheads="1"/>
          </p:cNvSpPr>
          <p:nvPr/>
        </p:nvSpPr>
        <p:spPr bwMode="auto">
          <a:xfrm>
            <a:off x="235527" y="2088830"/>
            <a:ext cx="8603673" cy="4262438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200" b="1" dirty="0">
                <a:solidFill>
                  <a:srgbClr val="000000"/>
                </a:solidFill>
                <a:ea typeface="SimSun" pitchFamily="2" charset="-122"/>
              </a:rPr>
              <a:t>EFS pour crypter des données</a:t>
            </a:r>
            <a:r>
              <a:rPr lang="en-IE" altLang="zh-CN" sz="2200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200" b="1" dirty="0">
              <a:ea typeface="SimSun" pitchFamily="2" charset="-122"/>
            </a:endParaRPr>
          </a:p>
          <a:p>
            <a:pPr marL="363538" lvl="1" indent="-225425" algn="l">
              <a:lnSpc>
                <a:spcPct val="90000"/>
              </a:lnSpc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Ÿ"/>
            </a:pPr>
            <a:r>
              <a:rPr lang="fr-FR" altLang="zh-CN" sz="2000" dirty="0">
                <a:solidFill>
                  <a:srgbClr val="000000"/>
                </a:solidFill>
                <a:ea typeface="SimSun" pitchFamily="2" charset="-122"/>
              </a:rPr>
              <a:t>Pour crypter un fichier ou un dossier, l'utilisateur doit définir la propriété de cryptage</a:t>
            </a:r>
            <a:r>
              <a:rPr lang="en-IE" altLang="zh-CN" sz="20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000" dirty="0">
              <a:ea typeface="SimSun" pitchFamily="2" charset="-122"/>
            </a:endParaRPr>
          </a:p>
          <a:p>
            <a:pPr marL="363538" lvl="1" indent="-225425" algn="l">
              <a:lnSpc>
                <a:spcPct val="90000"/>
              </a:lnSpc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Ÿ"/>
            </a:pPr>
            <a:r>
              <a:rPr lang="fr-FR" altLang="zh-CN" sz="2000" dirty="0">
                <a:solidFill>
                  <a:srgbClr val="000000"/>
                </a:solidFill>
                <a:ea typeface="SimSun" pitchFamily="2" charset="-122"/>
              </a:rPr>
              <a:t>Tous les fichiers et </a:t>
            </a:r>
            <a:r>
              <a:rPr lang="fr-FR" altLang="zh-CN" sz="2000" dirty="0" err="1">
                <a:solidFill>
                  <a:srgbClr val="000000"/>
                </a:solidFill>
                <a:ea typeface="SimSun" pitchFamily="2" charset="-122"/>
              </a:rPr>
              <a:t>sous‑dossiers</a:t>
            </a:r>
            <a:r>
              <a:rPr lang="fr-FR" altLang="zh-CN" sz="2000" dirty="0">
                <a:solidFill>
                  <a:srgbClr val="000000"/>
                </a:solidFill>
                <a:ea typeface="SimSun" pitchFamily="2" charset="-122"/>
              </a:rPr>
              <a:t> ajoutés ou créés dans un dossier crypté seront automatiquement cryptés </a:t>
            </a:r>
            <a:endParaRPr lang="en-US" altLang="zh-CN" sz="2000" dirty="0">
              <a:ea typeface="SimSun" pitchFamily="2" charset="-122"/>
            </a:endParaRPr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Blip>
                <a:blip r:embed="rId3"/>
              </a:buBlip>
            </a:pPr>
            <a:r>
              <a:rPr lang="fr-FR" altLang="zh-CN" sz="2200" b="1" dirty="0">
                <a:solidFill>
                  <a:srgbClr val="000000"/>
                </a:solidFill>
                <a:ea typeface="SimSun" pitchFamily="2" charset="-122"/>
              </a:rPr>
              <a:t>EFS pour accéder aux données cryptées</a:t>
            </a:r>
            <a:r>
              <a:rPr lang="en-IE" altLang="zh-CN" sz="2200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200" b="1" dirty="0">
              <a:solidFill>
                <a:srgbClr val="000000"/>
              </a:solidFill>
              <a:ea typeface="SimSun" pitchFamily="2" charset="-122"/>
            </a:endParaRPr>
          </a:p>
          <a:p>
            <a:pPr marL="363538" lvl="1" indent="-225425" algn="l">
              <a:lnSpc>
                <a:spcPct val="90000"/>
              </a:lnSpc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Ÿ"/>
            </a:pPr>
            <a:r>
              <a:rPr lang="fr-FR" altLang="zh-CN" sz="2000" dirty="0">
                <a:solidFill>
                  <a:srgbClr val="000000"/>
                </a:solidFill>
                <a:ea typeface="SimSun" pitchFamily="2" charset="-122"/>
              </a:rPr>
              <a:t>Lorsqu'un utilisateur ouvre un fichier crypté, il peut lire normalement le contenu du fichier</a:t>
            </a:r>
            <a:r>
              <a:rPr lang="en-IE" altLang="zh-CN" sz="20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000" dirty="0">
              <a:solidFill>
                <a:srgbClr val="000000"/>
              </a:solidFill>
              <a:ea typeface="SimSun" pitchFamily="2" charset="-122"/>
            </a:endParaRPr>
          </a:p>
          <a:p>
            <a:pPr marL="363538" lvl="1" indent="-225425" algn="l">
              <a:lnSpc>
                <a:spcPct val="90000"/>
              </a:lnSpc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Ÿ"/>
            </a:pPr>
            <a:r>
              <a:rPr lang="fr-FR" altLang="zh-CN" sz="2000" dirty="0">
                <a:solidFill>
                  <a:srgbClr val="000000"/>
                </a:solidFill>
                <a:ea typeface="SimSun" pitchFamily="2" charset="-122"/>
              </a:rPr>
              <a:t>Lorsque l'utilisateur ferme ce fichier, le système EFS le crypte à nouveau</a:t>
            </a:r>
            <a:r>
              <a:rPr lang="en-IE" altLang="zh-CN" sz="20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000" dirty="0">
              <a:solidFill>
                <a:srgbClr val="000000"/>
              </a:solidFill>
              <a:ea typeface="SimSun" pitchFamily="2" charset="-122"/>
            </a:endParaRPr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Blip>
                <a:blip r:embed="rId3"/>
              </a:buBlip>
            </a:pPr>
            <a:r>
              <a:rPr lang="fr-FR" altLang="zh-CN" sz="2200" b="1" dirty="0">
                <a:solidFill>
                  <a:srgbClr val="000000"/>
                </a:solidFill>
                <a:ea typeface="SimSun" pitchFamily="2" charset="-122"/>
              </a:rPr>
              <a:t>EFS pour décrypter des données</a:t>
            </a:r>
            <a:r>
              <a:rPr lang="en-IE" altLang="zh-CN" sz="2200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200" b="1" dirty="0">
              <a:solidFill>
                <a:srgbClr val="000000"/>
              </a:solidFill>
              <a:ea typeface="SimSun" pitchFamily="2" charset="-122"/>
            </a:endParaRPr>
          </a:p>
          <a:p>
            <a:pPr marL="363538" lvl="1" indent="-225425" algn="l">
              <a:lnSpc>
                <a:spcPct val="90000"/>
              </a:lnSpc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Ÿ"/>
            </a:pPr>
            <a:r>
              <a:rPr lang="fr-FR" altLang="zh-CN" sz="2000" dirty="0">
                <a:solidFill>
                  <a:srgbClr val="000000"/>
                </a:solidFill>
                <a:ea typeface="SimSun" pitchFamily="2" charset="-122"/>
              </a:rPr>
              <a:t>Un fichier reste décrypté jusqu'au prochain cryptage</a:t>
            </a:r>
            <a:r>
              <a:rPr lang="en-IE" altLang="zh-CN" sz="20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000" dirty="0">
              <a:solidFill>
                <a:srgbClr val="000000"/>
              </a:solidFill>
              <a:ea typeface="SimSun" pitchFamily="2" charset="-122"/>
            </a:endParaRPr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Blip>
                <a:blip r:embed="rId3"/>
              </a:buBlip>
            </a:pPr>
            <a:r>
              <a:rPr lang="fr-FR" altLang="zh-CN" sz="2200" b="1" dirty="0">
                <a:solidFill>
                  <a:srgbClr val="000000"/>
                </a:solidFill>
                <a:ea typeface="SimSun" pitchFamily="2" charset="-122"/>
              </a:rPr>
              <a:t>Commande </a:t>
            </a:r>
            <a:r>
              <a:rPr lang="fr-FR" altLang="zh-CN" sz="2200" b="1" dirty="0" err="1">
                <a:solidFill>
                  <a:srgbClr val="000000"/>
                </a:solidFill>
                <a:ea typeface="SimSun" pitchFamily="2" charset="-122"/>
              </a:rPr>
              <a:t>cipher</a:t>
            </a:r>
            <a:r>
              <a:rPr lang="fr-FR" altLang="zh-CN" sz="2200" b="1" dirty="0">
                <a:solidFill>
                  <a:srgbClr val="000000"/>
                </a:solidFill>
                <a:ea typeface="SimSun" pitchFamily="2" charset="-122"/>
              </a:rPr>
              <a:t> pour afficher ou modifier le cryptage des dossiers et des fichiers sur les volumes NTFS</a:t>
            </a:r>
            <a:r>
              <a:rPr lang="en-IE" altLang="zh-CN" sz="2200" b="1" dirty="0">
                <a:solidFill>
                  <a:srgbClr val="000000"/>
                </a:solidFill>
                <a:ea typeface="SimSun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38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38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38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38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538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538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538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5386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386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5386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42" name="Rectangle-2"/>
          <p:cNvSpPr>
            <a:spLocks noGrp="1" noChangeArrowheads="1"/>
          </p:cNvSpPr>
          <p:nvPr>
            <p:ph type="title"/>
          </p:nvPr>
        </p:nvSpPr>
        <p:spPr>
          <a:xfrm>
            <a:off x="180109" y="228600"/>
            <a:ext cx="8656043" cy="758952"/>
          </a:xfrm>
        </p:spPr>
        <p:txBody>
          <a:bodyPr>
            <a:normAutofit fontScale="90000"/>
          </a:bodyPr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</a:rPr>
              <a:t>Comment crypter un fichier ou un dossier ?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</a:rPr>
              <a:t> </a:t>
            </a:r>
            <a:endParaRPr lang="en-US" altLang="zh-CN" b="1" dirty="0">
              <a:solidFill>
                <a:srgbClr val="C00000"/>
              </a:solidFill>
              <a:ea typeface="SimSun" pitchFamily="2" charset="-122"/>
            </a:endParaRPr>
          </a:p>
        </p:txBody>
      </p:sp>
      <p:sp>
        <p:nvSpPr>
          <p:cNvPr id="573445" name="AutoShape-5"/>
          <p:cNvSpPr>
            <a:spLocks noChangeArrowheads="1"/>
          </p:cNvSpPr>
          <p:nvPr/>
        </p:nvSpPr>
        <p:spPr bwMode="auto">
          <a:xfrm>
            <a:off x="291090" y="2001981"/>
            <a:ext cx="8548110" cy="3531919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600" b="1" dirty="0">
                <a:solidFill>
                  <a:srgbClr val="000000"/>
                </a:solidFill>
                <a:ea typeface="SimSun" pitchFamily="2" charset="-122"/>
              </a:rPr>
              <a:t>Crypter des fichiers ou des dossiers à l'aide de l'Explorateur Windows</a:t>
            </a:r>
            <a:r>
              <a:rPr lang="en-IE" altLang="zh-CN" sz="2600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600" b="1" dirty="0">
              <a:ea typeface="SimSun" pitchFamily="2" charset="-122"/>
            </a:endParaRPr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600" b="1" dirty="0">
                <a:solidFill>
                  <a:srgbClr val="000000"/>
                </a:solidFill>
                <a:ea typeface="SimSun" pitchFamily="2" charset="-122"/>
              </a:rPr>
              <a:t>Crypter des fichiers ou des dossiers hors connexion à l'aide de l'Explorateur Windows</a:t>
            </a:r>
            <a:r>
              <a:rPr lang="en-IE" altLang="zh-CN" sz="2600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600" b="1" dirty="0">
              <a:ea typeface="SimSun" pitchFamily="2" charset="-122"/>
            </a:endParaRPr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600" b="1" dirty="0">
                <a:solidFill>
                  <a:srgbClr val="000000"/>
                </a:solidFill>
                <a:ea typeface="SimSun" pitchFamily="2" charset="-122"/>
              </a:rPr>
              <a:t>Crypter des fichiers ou des dossiers à l'aide de la commande </a:t>
            </a:r>
            <a:r>
              <a:rPr lang="fr-FR" altLang="zh-CN" sz="2600" b="1" dirty="0" err="1">
                <a:solidFill>
                  <a:srgbClr val="000000"/>
                </a:solidFill>
                <a:ea typeface="SimSun" pitchFamily="2" charset="-122"/>
              </a:rPr>
              <a:t>cipher</a:t>
            </a:r>
            <a:r>
              <a:rPr lang="en-IE" altLang="zh-CN" sz="2600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r>
              <a:rPr lang="en-IE" altLang="zh-CN" sz="2600" b="1" dirty="0" smtClean="0">
                <a:solidFill>
                  <a:srgbClr val="000000"/>
                </a:solidFill>
                <a:ea typeface="SimSun" pitchFamily="2" charset="-122"/>
              </a:rPr>
              <a:t>:</a:t>
            </a:r>
          </a:p>
          <a:p>
            <a:pPr marL="231775" indent="-231775">
              <a:lnSpc>
                <a:spcPct val="90000"/>
              </a:lnSpc>
              <a:spcBef>
                <a:spcPct val="40000"/>
              </a:spcBef>
              <a:buSzPct val="80000"/>
            </a:pPr>
            <a:r>
              <a:rPr lang="pt-BR" sz="2800" b="1" dirty="0">
                <a:solidFill>
                  <a:srgbClr val="C00000"/>
                </a:solidFill>
              </a:rPr>
              <a:t>cipher /e /a /s: Secret</a:t>
            </a:r>
            <a:endParaRPr lang="en-US" altLang="zh-CN" sz="2600" b="1" dirty="0">
              <a:solidFill>
                <a:srgbClr val="C00000"/>
              </a:solidFill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734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720" name="Rectangle 496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Autofit/>
          </a:bodyPr>
          <a:lstStyle/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</a:rPr>
              <a:t>Quels sont les effets produits par le déplacement ou la copie de fichiers ou de dossiers cryptés ?</a:t>
            </a:r>
            <a:endParaRPr lang="en-US" sz="2600" b="1" dirty="0">
              <a:solidFill>
                <a:srgbClr val="C00000"/>
              </a:solidFill>
            </a:endParaRPr>
          </a:p>
        </p:txBody>
      </p:sp>
      <p:sp>
        <p:nvSpPr>
          <p:cNvPr id="436722" name="AutoShape 498"/>
          <p:cNvSpPr>
            <a:spLocks noChangeArrowheads="1"/>
          </p:cNvSpPr>
          <p:nvPr/>
        </p:nvSpPr>
        <p:spPr bwMode="auto">
          <a:xfrm>
            <a:off x="1953492" y="3867150"/>
            <a:ext cx="5237017" cy="2298700"/>
          </a:xfrm>
          <a:prstGeom prst="roundRect">
            <a:avLst>
              <a:gd name="adj" fmla="val 2931"/>
            </a:avLst>
          </a:prstGeom>
          <a:solidFill>
            <a:srgbClr val="DFE8F2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wrap="none" lIns="457200"/>
          <a:lstStyle/>
          <a:p>
            <a:pPr marL="360363" indent="-360363">
              <a:lnSpc>
                <a:spcPct val="85000"/>
              </a:lnSpc>
            </a:pPr>
            <a:r>
              <a:rPr lang="fr-FR" altLang="zh-CN" sz="2200" b="1" dirty="0">
                <a:solidFill>
                  <a:srgbClr val="000000"/>
                </a:solidFill>
                <a:ea typeface="SimSun" pitchFamily="2" charset="-122"/>
              </a:rPr>
              <a:t>Dossier crypté dans un dossier </a:t>
            </a:r>
            <a:endParaRPr lang="fr-FR" altLang="zh-CN" sz="2200" b="1" dirty="0" smtClean="0">
              <a:solidFill>
                <a:srgbClr val="000000"/>
              </a:solidFill>
              <a:ea typeface="SimSun" pitchFamily="2" charset="-122"/>
            </a:endParaRPr>
          </a:p>
          <a:p>
            <a:pPr marL="360363" indent="-360363">
              <a:lnSpc>
                <a:spcPct val="85000"/>
              </a:lnSpc>
            </a:pPr>
            <a:r>
              <a:rPr lang="fr-FR" altLang="zh-CN" sz="2200" b="1" dirty="0" smtClean="0">
                <a:solidFill>
                  <a:srgbClr val="000000"/>
                </a:solidFill>
                <a:ea typeface="SimSun" pitchFamily="2" charset="-122"/>
              </a:rPr>
              <a:t>non </a:t>
            </a:r>
            <a:r>
              <a:rPr lang="fr-FR" altLang="zh-CN" sz="2200" b="1" dirty="0">
                <a:solidFill>
                  <a:srgbClr val="000000"/>
                </a:solidFill>
                <a:ea typeface="SimSun" pitchFamily="2" charset="-122"/>
              </a:rPr>
              <a:t>crypté</a:t>
            </a:r>
            <a:endParaRPr lang="en-US" sz="2200" b="1" dirty="0">
              <a:solidFill>
                <a:srgbClr val="000000"/>
              </a:solidFill>
              <a:ea typeface="SimSun" pitchFamily="2" charset="-122"/>
            </a:endParaRPr>
          </a:p>
        </p:txBody>
      </p:sp>
      <p:sp>
        <p:nvSpPr>
          <p:cNvPr id="436723" name="AutoShape 499"/>
          <p:cNvSpPr>
            <a:spLocks noChangeArrowheads="1"/>
          </p:cNvSpPr>
          <p:nvPr/>
        </p:nvSpPr>
        <p:spPr bwMode="auto">
          <a:xfrm>
            <a:off x="2008193" y="3957638"/>
            <a:ext cx="406168" cy="328613"/>
          </a:xfrm>
          <a:prstGeom prst="roundRect">
            <a:avLst>
              <a:gd name="adj" fmla="val 16667"/>
            </a:avLst>
          </a:prstGeom>
          <a:solidFill>
            <a:srgbClr val="8DACD0"/>
          </a:solidFill>
          <a:ln w="9525">
            <a:solidFill>
              <a:srgbClr val="33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C</a:t>
            </a:r>
          </a:p>
        </p:txBody>
      </p:sp>
      <p:pic>
        <p:nvPicPr>
          <p:cNvPr id="436724" name="Picture 500" descr="Folder_FolderOpenWithDocumentWriting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64612" y="4749800"/>
            <a:ext cx="1022288" cy="962025"/>
          </a:xfrm>
          <a:prstGeom prst="rect">
            <a:avLst/>
          </a:prstGeom>
          <a:noFill/>
        </p:spPr>
      </p:pic>
      <p:grpSp>
        <p:nvGrpSpPr>
          <p:cNvPr id="436725" name="Group 501"/>
          <p:cNvGrpSpPr>
            <a:grpSpLocks/>
          </p:cNvGrpSpPr>
          <p:nvPr/>
        </p:nvGrpSpPr>
        <p:grpSpPr bwMode="auto">
          <a:xfrm>
            <a:off x="2094528" y="4749800"/>
            <a:ext cx="1022288" cy="1071563"/>
            <a:chOff x="1443" y="1387"/>
            <a:chExt cx="521" cy="675"/>
          </a:xfrm>
        </p:grpSpPr>
        <p:pic>
          <p:nvPicPr>
            <p:cNvPr id="436726" name="Picture 502" descr="Folder_FolderOpenWithDocumentWriting0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443" y="1387"/>
              <a:ext cx="521" cy="606"/>
            </a:xfrm>
            <a:prstGeom prst="rect">
              <a:avLst/>
            </a:prstGeom>
            <a:noFill/>
          </p:spPr>
        </p:pic>
        <p:pic>
          <p:nvPicPr>
            <p:cNvPr id="436727" name="Picture 503" descr="Encryption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545" y="1514"/>
              <a:ext cx="341" cy="548"/>
            </a:xfrm>
            <a:prstGeom prst="rect">
              <a:avLst/>
            </a:prstGeom>
            <a:noFill/>
          </p:spPr>
        </p:pic>
      </p:grpSp>
      <p:sp>
        <p:nvSpPr>
          <p:cNvPr id="436728" name="AutoShape 504"/>
          <p:cNvSpPr>
            <a:spLocks noChangeArrowheads="1"/>
          </p:cNvSpPr>
          <p:nvPr/>
        </p:nvSpPr>
        <p:spPr bwMode="auto">
          <a:xfrm>
            <a:off x="4622800" y="1370013"/>
            <a:ext cx="4354945" cy="2298700"/>
          </a:xfrm>
          <a:prstGeom prst="roundRect">
            <a:avLst>
              <a:gd name="adj" fmla="val 2931"/>
            </a:avLst>
          </a:prstGeom>
          <a:solidFill>
            <a:srgbClr val="DFE8F2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457200"/>
          <a:lstStyle/>
          <a:p>
            <a:r>
              <a:rPr lang="fr-FR" altLang="zh-CN" sz="2200" b="1" dirty="0">
                <a:solidFill>
                  <a:srgbClr val="000000"/>
                </a:solidFill>
                <a:ea typeface="SimSun" pitchFamily="2" charset="-122"/>
              </a:rPr>
              <a:t>Dossier non crypté </a:t>
            </a:r>
            <a:br>
              <a:rPr lang="fr-FR" altLang="zh-CN" sz="2200" b="1" dirty="0">
                <a:solidFill>
                  <a:srgbClr val="000000"/>
                </a:solidFill>
                <a:ea typeface="SimSun" pitchFamily="2" charset="-122"/>
              </a:rPr>
            </a:br>
            <a:r>
              <a:rPr lang="fr-FR" altLang="zh-CN" sz="2200" b="1" dirty="0">
                <a:solidFill>
                  <a:srgbClr val="000000"/>
                </a:solidFill>
                <a:ea typeface="SimSun" pitchFamily="2" charset="-122"/>
              </a:rPr>
              <a:t>dans un dossier crypté</a:t>
            </a:r>
            <a:endParaRPr lang="en-US" sz="2200" b="1" dirty="0">
              <a:solidFill>
                <a:srgbClr val="000000"/>
              </a:solidFill>
              <a:ea typeface="SimSun" pitchFamily="2" charset="-122"/>
            </a:endParaRPr>
          </a:p>
        </p:txBody>
      </p:sp>
      <p:sp>
        <p:nvSpPr>
          <p:cNvPr id="436729" name="AutoShape 505"/>
          <p:cNvSpPr>
            <a:spLocks noChangeArrowheads="1"/>
          </p:cNvSpPr>
          <p:nvPr/>
        </p:nvSpPr>
        <p:spPr bwMode="auto">
          <a:xfrm>
            <a:off x="4702175" y="1473200"/>
            <a:ext cx="328613" cy="328613"/>
          </a:xfrm>
          <a:prstGeom prst="roundRect">
            <a:avLst>
              <a:gd name="adj" fmla="val 16667"/>
            </a:avLst>
          </a:prstGeom>
          <a:solidFill>
            <a:srgbClr val="8DACD0"/>
          </a:solidFill>
          <a:ln w="9525">
            <a:solidFill>
              <a:srgbClr val="33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B</a:t>
            </a:r>
          </a:p>
        </p:txBody>
      </p:sp>
      <p:grpSp>
        <p:nvGrpSpPr>
          <p:cNvPr id="436730" name="Group 506"/>
          <p:cNvGrpSpPr>
            <a:grpSpLocks/>
          </p:cNvGrpSpPr>
          <p:nvPr/>
        </p:nvGrpSpPr>
        <p:grpSpPr bwMode="auto">
          <a:xfrm>
            <a:off x="6216650" y="2111375"/>
            <a:ext cx="827088" cy="1071563"/>
            <a:chOff x="1443" y="1387"/>
            <a:chExt cx="521" cy="675"/>
          </a:xfrm>
        </p:grpSpPr>
        <p:pic>
          <p:nvPicPr>
            <p:cNvPr id="436731" name="Picture 507" descr="Folder_FolderOpenWithDocumentWriting0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443" y="1387"/>
              <a:ext cx="521" cy="606"/>
            </a:xfrm>
            <a:prstGeom prst="rect">
              <a:avLst/>
            </a:prstGeom>
            <a:noFill/>
          </p:spPr>
        </p:pic>
        <p:pic>
          <p:nvPicPr>
            <p:cNvPr id="436732" name="Picture 508" descr="Encryption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545" y="1514"/>
              <a:ext cx="341" cy="548"/>
            </a:xfrm>
            <a:prstGeom prst="rect">
              <a:avLst/>
            </a:prstGeom>
            <a:noFill/>
          </p:spPr>
        </p:pic>
      </p:grpSp>
      <p:pic>
        <p:nvPicPr>
          <p:cNvPr id="436733" name="Picture 509" descr="Document_Writing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35513" y="2179638"/>
            <a:ext cx="654050" cy="1057275"/>
          </a:xfrm>
          <a:prstGeom prst="rect">
            <a:avLst/>
          </a:prstGeom>
          <a:noFill/>
        </p:spPr>
      </p:pic>
      <p:sp>
        <p:nvSpPr>
          <p:cNvPr id="436735" name="AutoShape 511"/>
          <p:cNvSpPr>
            <a:spLocks noChangeArrowheads="1"/>
          </p:cNvSpPr>
          <p:nvPr/>
        </p:nvSpPr>
        <p:spPr bwMode="auto">
          <a:xfrm>
            <a:off x="207819" y="1370013"/>
            <a:ext cx="4249882" cy="2298700"/>
          </a:xfrm>
          <a:prstGeom prst="roundRect">
            <a:avLst>
              <a:gd name="adj" fmla="val 2931"/>
            </a:avLst>
          </a:prstGeom>
          <a:solidFill>
            <a:srgbClr val="DFE8F2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wrap="none" lIns="457200"/>
          <a:lstStyle/>
          <a:p>
            <a:pPr>
              <a:lnSpc>
                <a:spcPct val="85000"/>
              </a:lnSpc>
            </a:pPr>
            <a:r>
              <a:rPr lang="fr-FR" altLang="zh-CN" sz="2200" b="1" dirty="0">
                <a:solidFill>
                  <a:srgbClr val="000000"/>
                </a:solidFill>
                <a:ea typeface="SimSun" pitchFamily="2" charset="-122"/>
              </a:rPr>
              <a:t>Dossier non crypté </a:t>
            </a:r>
            <a:br>
              <a:rPr lang="fr-FR" altLang="zh-CN" sz="2200" b="1" dirty="0">
                <a:solidFill>
                  <a:srgbClr val="000000"/>
                </a:solidFill>
                <a:ea typeface="SimSun" pitchFamily="2" charset="-122"/>
              </a:rPr>
            </a:br>
            <a:r>
              <a:rPr lang="fr-FR" altLang="zh-CN" sz="2200" b="1" dirty="0">
                <a:solidFill>
                  <a:srgbClr val="000000"/>
                </a:solidFill>
                <a:ea typeface="SimSun" pitchFamily="2" charset="-122"/>
              </a:rPr>
              <a:t>vers un dossier crypté</a:t>
            </a:r>
            <a:endParaRPr lang="en-US" sz="2200" b="1" dirty="0">
              <a:solidFill>
                <a:srgbClr val="000000"/>
              </a:solidFill>
              <a:ea typeface="SimSun" pitchFamily="2" charset="-122"/>
            </a:endParaRPr>
          </a:p>
        </p:txBody>
      </p:sp>
      <p:sp>
        <p:nvSpPr>
          <p:cNvPr id="436736" name="AutoShape 512"/>
          <p:cNvSpPr>
            <a:spLocks noChangeArrowheads="1"/>
          </p:cNvSpPr>
          <p:nvPr/>
        </p:nvSpPr>
        <p:spPr bwMode="auto">
          <a:xfrm>
            <a:off x="295409" y="1473201"/>
            <a:ext cx="362624" cy="328613"/>
          </a:xfrm>
          <a:prstGeom prst="roundRect">
            <a:avLst>
              <a:gd name="adj" fmla="val 16667"/>
            </a:avLst>
          </a:prstGeom>
          <a:solidFill>
            <a:srgbClr val="8DACD0"/>
          </a:solidFill>
          <a:ln w="9525">
            <a:solidFill>
              <a:srgbClr val="33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A</a:t>
            </a:r>
          </a:p>
        </p:txBody>
      </p:sp>
      <p:grpSp>
        <p:nvGrpSpPr>
          <p:cNvPr id="436737" name="Group 513"/>
          <p:cNvGrpSpPr>
            <a:grpSpLocks/>
          </p:cNvGrpSpPr>
          <p:nvPr/>
        </p:nvGrpSpPr>
        <p:grpSpPr bwMode="auto">
          <a:xfrm>
            <a:off x="2260936" y="2152651"/>
            <a:ext cx="912691" cy="1071563"/>
            <a:chOff x="1538" y="1387"/>
            <a:chExt cx="521" cy="675"/>
          </a:xfrm>
        </p:grpSpPr>
        <p:pic>
          <p:nvPicPr>
            <p:cNvPr id="436738" name="Picture 514" descr="Folder_FolderOpenWithDocumentWriting0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538" y="1387"/>
              <a:ext cx="521" cy="606"/>
            </a:xfrm>
            <a:prstGeom prst="rect">
              <a:avLst/>
            </a:prstGeom>
            <a:noFill/>
          </p:spPr>
        </p:pic>
        <p:pic>
          <p:nvPicPr>
            <p:cNvPr id="436739" name="Picture 515" descr="Encryption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640" y="1514"/>
              <a:ext cx="341" cy="548"/>
            </a:xfrm>
            <a:prstGeom prst="rect">
              <a:avLst/>
            </a:prstGeom>
            <a:noFill/>
          </p:spPr>
        </p:pic>
      </p:grpSp>
      <p:pic>
        <p:nvPicPr>
          <p:cNvPr id="436740" name="Picture 516" descr="Folder_FolderOpenWithDocumentWriting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6139" y="2152651"/>
            <a:ext cx="912691" cy="962025"/>
          </a:xfrm>
          <a:prstGeom prst="rect">
            <a:avLst/>
          </a:prstGeom>
          <a:noFill/>
        </p:spPr>
      </p:pic>
      <p:sp>
        <p:nvSpPr>
          <p:cNvPr id="436742" name="AutoShape 518"/>
          <p:cNvSpPr>
            <a:spLocks noChangeArrowheads="1"/>
          </p:cNvSpPr>
          <p:nvPr/>
        </p:nvSpPr>
        <p:spPr bwMode="auto">
          <a:xfrm>
            <a:off x="1235034" y="2444750"/>
            <a:ext cx="1038266" cy="582613"/>
          </a:xfrm>
          <a:prstGeom prst="rightArrow">
            <a:avLst>
              <a:gd name="adj1" fmla="val 54491"/>
              <a:gd name="adj2" fmla="val 46696"/>
            </a:avLst>
          </a:prstGeom>
          <a:solidFill>
            <a:srgbClr val="FF0000">
              <a:alpha val="7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fr-FR" altLang="zh-CN" sz="1800" b="1" dirty="0">
                <a:solidFill>
                  <a:srgbClr val="000000"/>
                </a:solidFill>
                <a:ea typeface="SimSun" pitchFamily="2" charset="-122"/>
              </a:rPr>
              <a:t/>
            </a:r>
            <a:br>
              <a:rPr lang="fr-FR" altLang="zh-CN" sz="1800" b="1" dirty="0">
                <a:solidFill>
                  <a:srgbClr val="000000"/>
                </a:solidFill>
                <a:ea typeface="SimSun" pitchFamily="2" charset="-122"/>
              </a:rPr>
            </a:br>
            <a:r>
              <a:rPr lang="fr-FR" altLang="zh-CN" sz="1800" b="1" dirty="0">
                <a:solidFill>
                  <a:srgbClr val="000000"/>
                </a:solidFill>
                <a:ea typeface="SimSun" pitchFamily="2" charset="-122"/>
              </a:rPr>
              <a:t/>
            </a:r>
            <a:br>
              <a:rPr lang="fr-FR" altLang="zh-CN" sz="1800" b="1" dirty="0">
                <a:solidFill>
                  <a:srgbClr val="000000"/>
                </a:solidFill>
                <a:ea typeface="SimSun" pitchFamily="2" charset="-122"/>
              </a:rPr>
            </a:br>
            <a:r>
              <a:rPr lang="fr-FR" altLang="zh-CN" sz="1400" b="1" dirty="0">
                <a:solidFill>
                  <a:srgbClr val="000000"/>
                </a:solidFill>
                <a:ea typeface="SimSun" pitchFamily="2" charset="-122"/>
              </a:rPr>
              <a:t>Déplacement</a:t>
            </a:r>
            <a:endParaRPr lang="en-US" altLang="zh-CN" sz="1400" b="1" dirty="0">
              <a:solidFill>
                <a:srgbClr val="000000"/>
              </a:solidFill>
              <a:ea typeface="SimSun" pitchFamily="2" charset="-122"/>
            </a:endParaRPr>
          </a:p>
          <a:p>
            <a:endParaRPr lang="en-US" sz="1800" b="1" dirty="0"/>
          </a:p>
          <a:p>
            <a:endParaRPr lang="en-US" sz="1800" b="1" dirty="0"/>
          </a:p>
        </p:txBody>
      </p:sp>
      <p:sp>
        <p:nvSpPr>
          <p:cNvPr id="436743" name="Text Box 519"/>
          <p:cNvSpPr txBox="1">
            <a:spLocks noChangeArrowheads="1"/>
          </p:cNvSpPr>
          <p:nvPr/>
        </p:nvSpPr>
        <p:spPr bwMode="auto">
          <a:xfrm>
            <a:off x="3124200" y="2309813"/>
            <a:ext cx="476250" cy="8239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rgbClr val="FF5050"/>
                </a:solidFill>
              </a:rPr>
              <a:t>=</a:t>
            </a:r>
          </a:p>
        </p:txBody>
      </p:sp>
      <p:grpSp>
        <p:nvGrpSpPr>
          <p:cNvPr id="436744" name="Group 520"/>
          <p:cNvGrpSpPr>
            <a:grpSpLocks/>
          </p:cNvGrpSpPr>
          <p:nvPr/>
        </p:nvGrpSpPr>
        <p:grpSpPr bwMode="auto">
          <a:xfrm>
            <a:off x="3513138" y="2152650"/>
            <a:ext cx="827087" cy="1071563"/>
            <a:chOff x="1443" y="1387"/>
            <a:chExt cx="521" cy="675"/>
          </a:xfrm>
        </p:grpSpPr>
        <p:pic>
          <p:nvPicPr>
            <p:cNvPr id="436745" name="Picture 521" descr="Folder_FolderOpenWithDocumentWriting0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443" y="1387"/>
              <a:ext cx="521" cy="606"/>
            </a:xfrm>
            <a:prstGeom prst="rect">
              <a:avLst/>
            </a:prstGeom>
            <a:noFill/>
          </p:spPr>
        </p:pic>
        <p:pic>
          <p:nvPicPr>
            <p:cNvPr id="436746" name="Picture 522" descr="Encryption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545" y="1514"/>
              <a:ext cx="341" cy="548"/>
            </a:xfrm>
            <a:prstGeom prst="rect">
              <a:avLst/>
            </a:prstGeom>
            <a:noFill/>
          </p:spPr>
        </p:pic>
      </p:grpSp>
      <p:sp>
        <p:nvSpPr>
          <p:cNvPr id="436748" name="AutoShape 524"/>
          <p:cNvSpPr>
            <a:spLocks noChangeArrowheads="1"/>
          </p:cNvSpPr>
          <p:nvPr/>
        </p:nvSpPr>
        <p:spPr bwMode="auto">
          <a:xfrm>
            <a:off x="5476875" y="2403476"/>
            <a:ext cx="696913" cy="582613"/>
          </a:xfrm>
          <a:prstGeom prst="rightArrow">
            <a:avLst>
              <a:gd name="adj1" fmla="val 54491"/>
              <a:gd name="adj2" fmla="val 46696"/>
            </a:avLst>
          </a:prstGeom>
          <a:solidFill>
            <a:srgbClr val="FF0000">
              <a:alpha val="7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fr-FR" altLang="zh-CN" sz="1400" b="1" dirty="0">
                <a:solidFill>
                  <a:srgbClr val="000000"/>
                </a:solidFill>
                <a:ea typeface="SimSun" pitchFamily="2" charset="-122"/>
              </a:rPr>
              <a:t>Copie</a:t>
            </a:r>
            <a:endParaRPr lang="en-US" sz="1400" b="1" dirty="0">
              <a:solidFill>
                <a:srgbClr val="000000"/>
              </a:solidFill>
              <a:ea typeface="SimSun" pitchFamily="2" charset="-122"/>
            </a:endParaRPr>
          </a:p>
        </p:txBody>
      </p:sp>
      <p:sp>
        <p:nvSpPr>
          <p:cNvPr id="436749" name="Text Box 525"/>
          <p:cNvSpPr txBox="1">
            <a:spLocks noChangeArrowheads="1"/>
          </p:cNvSpPr>
          <p:nvPr/>
        </p:nvSpPr>
        <p:spPr bwMode="auto">
          <a:xfrm>
            <a:off x="7024688" y="2268538"/>
            <a:ext cx="476250" cy="8239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rgbClr val="FF5050"/>
                </a:solidFill>
              </a:rPr>
              <a:t>=</a:t>
            </a:r>
          </a:p>
        </p:txBody>
      </p:sp>
      <p:grpSp>
        <p:nvGrpSpPr>
          <p:cNvPr id="436750" name="Group 526"/>
          <p:cNvGrpSpPr>
            <a:grpSpLocks/>
          </p:cNvGrpSpPr>
          <p:nvPr/>
        </p:nvGrpSpPr>
        <p:grpSpPr bwMode="auto">
          <a:xfrm>
            <a:off x="7550150" y="2179638"/>
            <a:ext cx="765175" cy="1057275"/>
            <a:chOff x="4716" y="1373"/>
            <a:chExt cx="482" cy="666"/>
          </a:xfrm>
        </p:grpSpPr>
        <p:pic>
          <p:nvPicPr>
            <p:cNvPr id="436751" name="Picture 527" descr="Document_Writing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786" y="1373"/>
              <a:ext cx="412" cy="666"/>
            </a:xfrm>
            <a:prstGeom prst="rect">
              <a:avLst/>
            </a:prstGeom>
            <a:noFill/>
          </p:spPr>
        </p:pic>
        <p:pic>
          <p:nvPicPr>
            <p:cNvPr id="436752" name="Picture 528" descr="Encryption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716" y="1457"/>
              <a:ext cx="341" cy="548"/>
            </a:xfrm>
            <a:prstGeom prst="rect">
              <a:avLst/>
            </a:prstGeom>
            <a:noFill/>
          </p:spPr>
        </p:pic>
      </p:grpSp>
      <p:sp>
        <p:nvSpPr>
          <p:cNvPr id="436754" name="AutoShape 530"/>
          <p:cNvSpPr>
            <a:spLocks noChangeArrowheads="1"/>
          </p:cNvSpPr>
          <p:nvPr/>
        </p:nvSpPr>
        <p:spPr bwMode="auto">
          <a:xfrm>
            <a:off x="3468688" y="5041901"/>
            <a:ext cx="696913" cy="582613"/>
          </a:xfrm>
          <a:prstGeom prst="rightArrow">
            <a:avLst>
              <a:gd name="adj1" fmla="val 54491"/>
              <a:gd name="adj2" fmla="val 46696"/>
            </a:avLst>
          </a:prstGeom>
          <a:solidFill>
            <a:srgbClr val="FF0000">
              <a:alpha val="7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fr-FR" altLang="zh-CN" sz="1400" b="1" dirty="0">
                <a:solidFill>
                  <a:srgbClr val="000000"/>
                </a:solidFill>
                <a:ea typeface="SimSun" pitchFamily="2" charset="-122"/>
              </a:rPr>
              <a:t/>
            </a:r>
            <a:br>
              <a:rPr lang="fr-FR" altLang="zh-CN" sz="1400" b="1" dirty="0">
                <a:solidFill>
                  <a:srgbClr val="000000"/>
                </a:solidFill>
                <a:ea typeface="SimSun" pitchFamily="2" charset="-122"/>
              </a:rPr>
            </a:br>
            <a:r>
              <a:rPr lang="fr-FR" altLang="zh-CN" sz="1400" b="1" dirty="0" smtClean="0">
                <a:solidFill>
                  <a:srgbClr val="000000"/>
                </a:solidFill>
                <a:ea typeface="SimSun" pitchFamily="2" charset="-122"/>
              </a:rPr>
              <a:t>Copie</a:t>
            </a:r>
            <a:endParaRPr lang="en-US" sz="1400" b="1" dirty="0">
              <a:solidFill>
                <a:srgbClr val="000000"/>
              </a:solidFill>
              <a:ea typeface="SimSun" pitchFamily="2" charset="-122"/>
            </a:endParaRPr>
          </a:p>
          <a:p>
            <a:endParaRPr lang="en-US" sz="1400" b="1" dirty="0"/>
          </a:p>
        </p:txBody>
      </p:sp>
      <p:sp>
        <p:nvSpPr>
          <p:cNvPr id="436755" name="Text Box 531"/>
          <p:cNvSpPr txBox="1">
            <a:spLocks noChangeArrowheads="1"/>
          </p:cNvSpPr>
          <p:nvPr/>
        </p:nvSpPr>
        <p:spPr bwMode="auto">
          <a:xfrm>
            <a:off x="5170876" y="4906963"/>
            <a:ext cx="476250" cy="8239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rgbClr val="FF5050"/>
                </a:solidFill>
              </a:rPr>
              <a:t>=</a:t>
            </a:r>
          </a:p>
        </p:txBody>
      </p:sp>
      <p:grpSp>
        <p:nvGrpSpPr>
          <p:cNvPr id="436756" name="Group 532"/>
          <p:cNvGrpSpPr>
            <a:grpSpLocks/>
          </p:cNvGrpSpPr>
          <p:nvPr/>
        </p:nvGrpSpPr>
        <p:grpSpPr bwMode="auto">
          <a:xfrm>
            <a:off x="5556251" y="4818063"/>
            <a:ext cx="750888" cy="1057275"/>
            <a:chOff x="3500" y="3003"/>
            <a:chExt cx="473" cy="666"/>
          </a:xfrm>
        </p:grpSpPr>
        <p:pic>
          <p:nvPicPr>
            <p:cNvPr id="436757" name="Picture 533" descr="Document_Writing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561" y="3003"/>
              <a:ext cx="412" cy="666"/>
            </a:xfrm>
            <a:prstGeom prst="rect">
              <a:avLst/>
            </a:prstGeom>
            <a:noFill/>
          </p:spPr>
        </p:pic>
        <p:pic>
          <p:nvPicPr>
            <p:cNvPr id="436758" name="Picture 534" descr="Encryption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500" y="3087"/>
              <a:ext cx="341" cy="548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36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3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43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3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436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436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436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36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436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436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436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742" grpId="0" animBg="1"/>
      <p:bldP spid="436743" grpId="0"/>
      <p:bldP spid="436748" grpId="0" animBg="1"/>
      <p:bldP spid="436749" grpId="0"/>
      <p:bldP spid="436754" grpId="0" animBg="1"/>
      <p:bldP spid="43675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-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altLang="zh-CN" b="1" dirty="0" smtClean="0">
                <a:solidFill>
                  <a:srgbClr val="000000"/>
                </a:solidFill>
                <a:ea typeface="SimSun" pitchFamily="2" charset="-122"/>
              </a:rPr>
              <a:t>3. Implémentation </a:t>
            </a:r>
            <a:r>
              <a:rPr lang="fr-FR" altLang="zh-CN" b="1" dirty="0">
                <a:solidFill>
                  <a:srgbClr val="000000"/>
                </a:solidFill>
                <a:ea typeface="SimSun" pitchFamily="2" charset="-122"/>
              </a:rPr>
              <a:t>des quotas de disque</a:t>
            </a:r>
            <a:r>
              <a:rPr lang="en-IE" altLang="zh-CN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b="1" dirty="0">
              <a:solidFill>
                <a:srgbClr val="000000"/>
              </a:solidFill>
              <a:ea typeface="SimSun" pitchFamily="2" charset="-122"/>
            </a:endParaRPr>
          </a:p>
        </p:txBody>
      </p:sp>
      <p:sp>
        <p:nvSpPr>
          <p:cNvPr id="401411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266126" y="2346446"/>
            <a:ext cx="8503920" cy="1703040"/>
          </a:xfrm>
        </p:spPr>
        <p:txBody>
          <a:bodyPr/>
          <a:lstStyle/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sz="2300" b="1" dirty="0" smtClean="0">
                <a:solidFill>
                  <a:srgbClr val="C00000"/>
                </a:solidFill>
                <a:ea typeface="SimSun" pitchFamily="2" charset="-122"/>
              </a:rPr>
              <a:t>Qu'</a:t>
            </a:r>
            <a:r>
              <a:rPr lang="fr-FR" altLang="zh-CN" sz="2300" b="1" dirty="0" err="1" smtClean="0">
                <a:solidFill>
                  <a:srgbClr val="C00000"/>
                </a:solidFill>
                <a:ea typeface="SimSun" pitchFamily="2" charset="-122"/>
              </a:rPr>
              <a:t>est‑ce</a:t>
            </a:r>
            <a:r>
              <a:rPr lang="fr-FR" altLang="zh-CN" sz="2300" b="1" dirty="0" smtClean="0">
                <a:solidFill>
                  <a:srgbClr val="C00000"/>
                </a:solidFill>
                <a:ea typeface="SimSun" pitchFamily="2" charset="-122"/>
              </a:rPr>
              <a:t> </a:t>
            </a:r>
            <a:r>
              <a:rPr lang="fr-FR" altLang="zh-CN" sz="2300" b="1" dirty="0">
                <a:solidFill>
                  <a:srgbClr val="C00000"/>
                </a:solidFill>
                <a:ea typeface="SimSun" pitchFamily="2" charset="-122"/>
              </a:rPr>
              <a:t>qu'un quota de disque ?</a:t>
            </a:r>
            <a:r>
              <a:rPr lang="en-IE" altLang="zh-CN" sz="2300" b="1" dirty="0">
                <a:solidFill>
                  <a:srgbClr val="C00000"/>
                </a:solidFill>
                <a:ea typeface="SimSun" pitchFamily="2" charset="-122"/>
              </a:rPr>
              <a:t> </a:t>
            </a:r>
            <a:endParaRPr lang="en-US" altLang="zh-CN" sz="2300" b="1" dirty="0">
              <a:solidFill>
                <a:srgbClr val="C00000"/>
              </a:solidFill>
              <a:ea typeface="SimSun" pitchFamily="2" charset="-122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sz="2300" b="1" dirty="0">
                <a:solidFill>
                  <a:srgbClr val="C00000"/>
                </a:solidFill>
                <a:ea typeface="SimSun" pitchFamily="2" charset="-122"/>
              </a:rPr>
              <a:t>Qu’</a:t>
            </a:r>
            <a:r>
              <a:rPr lang="fr-FR" altLang="zh-CN" sz="2300" b="1" dirty="0" err="1">
                <a:solidFill>
                  <a:srgbClr val="C00000"/>
                </a:solidFill>
                <a:ea typeface="SimSun" pitchFamily="2" charset="-122"/>
              </a:rPr>
              <a:t>est‑ce</a:t>
            </a:r>
            <a:r>
              <a:rPr lang="fr-FR" altLang="zh-CN" sz="2300" b="1" dirty="0">
                <a:solidFill>
                  <a:srgbClr val="C00000"/>
                </a:solidFill>
                <a:ea typeface="SimSun" pitchFamily="2" charset="-122"/>
              </a:rPr>
              <a:t> qu'un paramètre de quota de disque ? </a:t>
            </a:r>
            <a:r>
              <a:rPr lang="en-US" altLang="zh-CN" sz="2300" b="1" dirty="0">
                <a:solidFill>
                  <a:srgbClr val="C00000"/>
                </a:solidFill>
                <a:ea typeface="SimSun" pitchFamily="2" charset="-122"/>
              </a:rPr>
              <a:t> </a:t>
            </a:r>
          </a:p>
          <a:p>
            <a:pPr>
              <a:buClr>
                <a:srgbClr val="C00000"/>
              </a:buClr>
              <a:buFont typeface="Wingdings" pitchFamily="2" charset="2"/>
              <a:buChar char="q"/>
            </a:pPr>
            <a:r>
              <a:rPr lang="fr-FR" altLang="zh-CN" sz="2300" b="1" dirty="0">
                <a:solidFill>
                  <a:srgbClr val="C00000"/>
                </a:solidFill>
                <a:ea typeface="SimSun" pitchFamily="2" charset="-122"/>
              </a:rPr>
              <a:t>Comment activer et désactiver des quotas de disque ?</a:t>
            </a:r>
            <a:r>
              <a:rPr lang="en-IE" altLang="zh-CN" sz="2300" b="1" dirty="0">
                <a:solidFill>
                  <a:srgbClr val="C00000"/>
                </a:solidFill>
                <a:ea typeface="SimSun" pitchFamily="2" charset="-122"/>
              </a:rPr>
              <a:t> </a:t>
            </a:r>
            <a:r>
              <a:rPr lang="en-US" altLang="zh-CN" sz="2300" b="1" dirty="0">
                <a:solidFill>
                  <a:srgbClr val="C00000"/>
                </a:solidFill>
                <a:ea typeface="SimSun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-2"/>
          <p:cNvSpPr>
            <a:spLocks noGrp="1" noChangeArrowheads="1"/>
          </p:cNvSpPr>
          <p:nvPr>
            <p:ph type="title"/>
          </p:nvPr>
        </p:nvSpPr>
        <p:spPr>
          <a:xfrm>
            <a:off x="161305" y="316057"/>
            <a:ext cx="8816439" cy="649288"/>
          </a:xfrm>
        </p:spPr>
        <p:txBody>
          <a:bodyPr>
            <a:normAutofit/>
          </a:bodyPr>
          <a:lstStyle/>
          <a:p>
            <a:r>
              <a:rPr lang="fr-FR" altLang="zh-CN" b="1" dirty="0" smtClean="0">
                <a:solidFill>
                  <a:srgbClr val="C00000"/>
                </a:solidFill>
                <a:ea typeface="SimSun" pitchFamily="2" charset="-122"/>
              </a:rPr>
              <a:t>Qu'est </a:t>
            </a:r>
            <a:r>
              <a:rPr lang="fr-FR" altLang="zh-CN" b="1" dirty="0">
                <a:solidFill>
                  <a:srgbClr val="C00000"/>
                </a:solidFill>
                <a:ea typeface="SimSun" pitchFamily="2" charset="-122"/>
              </a:rPr>
              <a:t>ce qu'un quota de disque ?</a:t>
            </a:r>
            <a:endParaRPr lang="en-US" altLang="zh-CN" b="1" dirty="0">
              <a:solidFill>
                <a:srgbClr val="C00000"/>
              </a:solidFill>
              <a:ea typeface="SimSun" pitchFamily="2" charset="-122"/>
            </a:endParaRPr>
          </a:p>
        </p:txBody>
      </p:sp>
      <p:sp>
        <p:nvSpPr>
          <p:cNvPr id="445444" name="Rectangle-4"/>
          <p:cNvSpPr>
            <a:spLocks noGrp="1" noChangeArrowheads="1"/>
          </p:cNvSpPr>
          <p:nvPr>
            <p:ph sz="quarter" idx="1"/>
          </p:nvPr>
        </p:nvSpPr>
        <p:spPr>
          <a:xfrm>
            <a:off x="296883" y="1447800"/>
            <a:ext cx="8550234" cy="4694238"/>
          </a:xfrm>
        </p:spPr>
        <p:txBody>
          <a:bodyPr>
            <a:normAutofit/>
          </a:bodyPr>
          <a:lstStyle/>
          <a:p>
            <a:pPr marL="0" indent="0">
              <a:buClrTx/>
              <a:buFont typeface="Wingdings" pitchFamily="2" charset="2"/>
              <a:buChar char="q"/>
            </a:pPr>
            <a:r>
              <a:rPr lang="fr-FR" altLang="zh-CN" sz="2300" dirty="0" smtClean="0">
                <a:solidFill>
                  <a:srgbClr val="000000"/>
                </a:solidFill>
                <a:ea typeface="SimSun" pitchFamily="2" charset="-122"/>
              </a:rPr>
              <a:t>Le quota de disque consiste à appliquer des limites à l'espace  disque alloué à chaque utilisateur.</a:t>
            </a:r>
          </a:p>
          <a:p>
            <a:pPr marL="0" indent="0">
              <a:buClrTx/>
              <a:buFont typeface="Wingdings" pitchFamily="2" charset="2"/>
              <a:buChar char="q"/>
            </a:pPr>
            <a:r>
              <a:rPr lang="fr-FR" altLang="zh-CN" sz="2300" dirty="0" smtClean="0">
                <a:solidFill>
                  <a:srgbClr val="000000"/>
                </a:solidFill>
                <a:ea typeface="SimSun" pitchFamily="2" charset="-122"/>
              </a:rPr>
              <a:t>Eviter toute saturation de l'espace disque lorsque vous autorisez les utilisateurs à stocker des données sur les serveurs du réseau</a:t>
            </a:r>
          </a:p>
          <a:p>
            <a:pPr marL="0" indent="0">
              <a:buClrTx/>
              <a:buFont typeface="Wingdings" pitchFamily="2" charset="2"/>
              <a:buChar char="q"/>
            </a:pPr>
            <a:r>
              <a:rPr lang="fr-FR" altLang="zh-CN" sz="2300" dirty="0" smtClean="0">
                <a:solidFill>
                  <a:srgbClr val="000000"/>
                </a:solidFill>
                <a:ea typeface="SimSun" pitchFamily="2" charset="-122"/>
              </a:rPr>
              <a:t>Vous pouvez définir un quota de disque différent pour chaque utilisateur ou choisir une valeur standard  applicable sur tous les utilisateurs</a:t>
            </a:r>
          </a:p>
          <a:p>
            <a:pPr marL="0" indent="0">
              <a:buClrTx/>
              <a:buFont typeface="Wingdings" pitchFamily="2" charset="2"/>
              <a:buChar char="q"/>
            </a:pPr>
            <a:r>
              <a:rPr lang="en-IE" altLang="zh-CN" sz="2300" dirty="0" smtClean="0">
                <a:solidFill>
                  <a:srgbClr val="000000"/>
                </a:solidFill>
                <a:ea typeface="SimSun" pitchFamily="2" charset="-122"/>
              </a:rPr>
              <a:t> </a:t>
            </a:r>
            <a:r>
              <a:rPr lang="fr-FR" altLang="zh-CN" sz="2300" dirty="0" smtClean="0">
                <a:solidFill>
                  <a:srgbClr val="000000"/>
                </a:solidFill>
                <a:ea typeface="SimSun" pitchFamily="2" charset="-122"/>
              </a:rPr>
              <a:t>lorsque vous activez le quota de disque vous devez définir deux valeurs:</a:t>
            </a:r>
          </a:p>
          <a:p>
            <a:pPr marL="274320" lvl="1" indent="0">
              <a:buClrTx/>
              <a:buFont typeface="Wingdings" pitchFamily="2" charset="2"/>
              <a:buChar char="§"/>
            </a:pPr>
            <a:r>
              <a:rPr lang="fr-FR" altLang="zh-CN" dirty="0" smtClean="0">
                <a:solidFill>
                  <a:srgbClr val="000000"/>
                </a:solidFill>
                <a:ea typeface="SimSun" pitchFamily="2" charset="-122"/>
              </a:rPr>
              <a:t>La limite </a:t>
            </a:r>
          </a:p>
          <a:p>
            <a:pPr marL="274320" lvl="1" indent="0">
              <a:buClrTx/>
              <a:buFont typeface="Wingdings" pitchFamily="2" charset="2"/>
              <a:buChar char="§"/>
            </a:pPr>
            <a:r>
              <a:rPr lang="fr-FR" altLang="zh-CN" dirty="0" smtClean="0">
                <a:solidFill>
                  <a:srgbClr val="000000"/>
                </a:solidFill>
                <a:ea typeface="SimSun" pitchFamily="2" charset="-122"/>
              </a:rPr>
              <a:t>Le niveau d'alerte</a:t>
            </a:r>
            <a:endParaRPr lang="en-US" altLang="zh-CN" dirty="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45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45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45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454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45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454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-2"/>
          <p:cNvSpPr>
            <a:spLocks noGrp="1" noChangeArrowheads="1"/>
          </p:cNvSpPr>
          <p:nvPr>
            <p:ph type="title"/>
          </p:nvPr>
        </p:nvSpPr>
        <p:spPr>
          <a:xfrm>
            <a:off x="194874" y="216725"/>
            <a:ext cx="8770995" cy="758952"/>
          </a:xfrm>
        </p:spPr>
        <p:txBody>
          <a:bodyPr>
            <a:normAutofit fontScale="90000"/>
          </a:bodyPr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</a:rPr>
              <a:t>Qu’</a:t>
            </a:r>
            <a:r>
              <a:rPr lang="fr-FR" altLang="zh-CN" b="1" dirty="0" err="1">
                <a:solidFill>
                  <a:srgbClr val="C00000"/>
                </a:solidFill>
                <a:ea typeface="SimSun" pitchFamily="2" charset="-122"/>
              </a:rPr>
              <a:t>est‑ce</a:t>
            </a:r>
            <a:r>
              <a:rPr lang="fr-FR" altLang="zh-CN" b="1" dirty="0">
                <a:solidFill>
                  <a:srgbClr val="C00000"/>
                </a:solidFill>
                <a:ea typeface="SimSun" pitchFamily="2" charset="-122"/>
              </a:rPr>
              <a:t> qu'un paramètre de quota de disque ? </a:t>
            </a:r>
          </a:p>
        </p:txBody>
      </p:sp>
      <p:sp>
        <p:nvSpPr>
          <p:cNvPr id="6" name="AutoShape-5"/>
          <p:cNvSpPr>
            <a:spLocks noChangeArrowheads="1"/>
          </p:cNvSpPr>
          <p:nvPr/>
        </p:nvSpPr>
        <p:spPr bwMode="auto">
          <a:xfrm>
            <a:off x="273131" y="1531938"/>
            <a:ext cx="8645237" cy="4486275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b="1" dirty="0">
                <a:solidFill>
                  <a:srgbClr val="000000"/>
                </a:solidFill>
                <a:ea typeface="SimSun" pitchFamily="2" charset="-122"/>
              </a:rPr>
              <a:t>Effectue le suivi de l'espace disque utilisateur sur des volumes NTFS</a:t>
            </a:r>
            <a:r>
              <a:rPr lang="en-IE" altLang="zh-CN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dirty="0">
              <a:ea typeface="SimSun" pitchFamily="2" charset="-122"/>
            </a:endParaRPr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b="1" dirty="0">
                <a:solidFill>
                  <a:srgbClr val="000000"/>
                </a:solidFill>
                <a:ea typeface="SimSun" pitchFamily="2" charset="-122"/>
              </a:rPr>
              <a:t>Empêche les utilisateurs de dépasser leur limite de quota</a:t>
            </a:r>
            <a:r>
              <a:rPr lang="en-IE" altLang="zh-CN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b="1" dirty="0">
              <a:ea typeface="SimSun" pitchFamily="2" charset="-122"/>
            </a:endParaRPr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b="1" dirty="0">
                <a:solidFill>
                  <a:srgbClr val="000000"/>
                </a:solidFill>
                <a:ea typeface="SimSun" pitchFamily="2" charset="-122"/>
              </a:rPr>
              <a:t>Enregistre un événement lorsqu'un utilisateur excède sa limite de quota ou s'en approche</a:t>
            </a:r>
            <a:r>
              <a:rPr lang="en-IE" altLang="zh-CN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b="1" dirty="0">
              <a:ea typeface="SimSun" pitchFamily="2" charset="-122"/>
            </a:endParaRPr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b="1" dirty="0">
                <a:solidFill>
                  <a:srgbClr val="000000"/>
                </a:solidFill>
                <a:ea typeface="SimSun" pitchFamily="2" charset="-122"/>
              </a:rPr>
              <a:t>Peut être activé sur des volumes locaux, des volumes réseau et des lecteurs amovibles à condition qu'ils soient au format NTFS</a:t>
            </a:r>
            <a:r>
              <a:rPr lang="en-IE" altLang="zh-CN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b="1" dirty="0">
              <a:ea typeface="SimSun" pitchFamily="2" charset="-122"/>
            </a:endParaRPr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b="1" dirty="0">
                <a:solidFill>
                  <a:srgbClr val="000000"/>
                </a:solidFill>
                <a:ea typeface="SimSun" pitchFamily="2" charset="-122"/>
              </a:rPr>
              <a:t>Peut être activé sur des ordinateurs locaux et distants</a:t>
            </a:r>
            <a:r>
              <a:rPr lang="en-IE" altLang="zh-CN" b="1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b="1" dirty="0">
              <a:ea typeface="SimSun" pitchFamily="2" charset="-122"/>
            </a:endParaRPr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b="1" dirty="0">
                <a:solidFill>
                  <a:srgbClr val="000000"/>
                </a:solidFill>
                <a:ea typeface="SimSun" pitchFamily="2" charset="-122"/>
              </a:rPr>
              <a:t>La compression des fichiers ne peut pas être utilisée pour éviter que les utilisateurs ne dépassent leur limite</a:t>
            </a:r>
            <a:r>
              <a:rPr lang="en-IE" altLang="zh-CN" b="1" dirty="0">
                <a:solidFill>
                  <a:srgbClr val="000000"/>
                </a:solidFill>
                <a:ea typeface="SimSun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11100</TotalTime>
  <Words>676</Words>
  <Application>Microsoft PowerPoint</Application>
  <PresentationFormat>Affichage à l'écran (4:3)</PresentationFormat>
  <Paragraphs>125</Paragraphs>
  <Slides>15</Slides>
  <Notes>15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Civil</vt:lpstr>
      <vt:lpstr>Chapitre 13 Gestion du stockage des données </vt:lpstr>
      <vt:lpstr>Plan du cours</vt:lpstr>
      <vt:lpstr>1. Gestion de la compression des fichiers</vt:lpstr>
      <vt:lpstr>Qu'est‑ce que la compression des fichiers ? </vt:lpstr>
      <vt:lpstr>Qu'est‑ce que la commande Compact ? </vt:lpstr>
      <vt:lpstr>Comment compresser un fichier ou un dossier ? </vt:lpstr>
      <vt:lpstr>Quels sont les effets produits par le déplacement ou la copie de fichiers ou de dossiers compressés ?</vt:lpstr>
      <vt:lpstr>Méthodes conseillées pour la compression de fichiers ou de dossiers </vt:lpstr>
      <vt:lpstr>2. Configuration du cryptage des fichiers </vt:lpstr>
      <vt:lpstr>Qu'est ce que le cryptage EFS ?</vt:lpstr>
      <vt:lpstr>Comment crypter un fichier ou un dossier ? </vt:lpstr>
      <vt:lpstr>Quels sont les effets produits par le déplacement ou la copie de fichiers ou de dossiers cryptés ?</vt:lpstr>
      <vt:lpstr>3. Implémentation des quotas de disque </vt:lpstr>
      <vt:lpstr>Qu'est ce qu'un quota de disque ?</vt:lpstr>
      <vt:lpstr>Qu’est‑ce qu'un paramètre de quota de disque ? 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#: Module Title</dc:title>
  <dc:creator>User</dc:creator>
  <cp:lastModifiedBy>Halima</cp:lastModifiedBy>
  <cp:revision>485</cp:revision>
  <dcterms:created xsi:type="dcterms:W3CDTF">2002-08-07T17:51:12Z</dcterms:created>
  <dcterms:modified xsi:type="dcterms:W3CDTF">2017-05-16T20:23:37Z</dcterms:modified>
</cp:coreProperties>
</file>