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9"/>
  </p:notesMasterIdLst>
  <p:sldIdLst>
    <p:sldId id="257" r:id="rId2"/>
    <p:sldId id="258" r:id="rId3"/>
    <p:sldId id="299" r:id="rId4"/>
    <p:sldId id="300" r:id="rId5"/>
    <p:sldId id="302" r:id="rId6"/>
    <p:sldId id="305" r:id="rId7"/>
    <p:sldId id="309" r:id="rId8"/>
    <p:sldId id="311" r:id="rId9"/>
    <p:sldId id="312" r:id="rId10"/>
    <p:sldId id="313" r:id="rId11"/>
    <p:sldId id="260" r:id="rId12"/>
    <p:sldId id="391" r:id="rId13"/>
    <p:sldId id="392" r:id="rId14"/>
    <p:sldId id="318" r:id="rId15"/>
    <p:sldId id="319" r:id="rId16"/>
    <p:sldId id="320" r:id="rId17"/>
    <p:sldId id="321" r:id="rId18"/>
    <p:sldId id="383" r:id="rId19"/>
    <p:sldId id="384" r:id="rId20"/>
    <p:sldId id="386" r:id="rId21"/>
    <p:sldId id="340" r:id="rId22"/>
    <p:sldId id="341" r:id="rId23"/>
    <p:sldId id="379" r:id="rId24"/>
    <p:sldId id="343" r:id="rId25"/>
    <p:sldId id="344" r:id="rId26"/>
    <p:sldId id="345" r:id="rId27"/>
    <p:sldId id="346" r:id="rId28"/>
    <p:sldId id="351" r:id="rId29"/>
    <p:sldId id="352" r:id="rId30"/>
    <p:sldId id="358" r:id="rId31"/>
    <p:sldId id="360" r:id="rId32"/>
    <p:sldId id="396" r:id="rId33"/>
    <p:sldId id="395" r:id="rId34"/>
    <p:sldId id="364" r:id="rId35"/>
    <p:sldId id="367" r:id="rId36"/>
    <p:sldId id="370" r:id="rId37"/>
    <p:sldId id="371" r:id="rId38"/>
    <p:sldId id="372" r:id="rId39"/>
    <p:sldId id="380" r:id="rId40"/>
    <p:sldId id="381" r:id="rId41"/>
    <p:sldId id="375" r:id="rId42"/>
    <p:sldId id="393" r:id="rId43"/>
    <p:sldId id="377" r:id="rId44"/>
    <p:sldId id="387" r:id="rId45"/>
    <p:sldId id="388" r:id="rId46"/>
    <p:sldId id="390" r:id="rId47"/>
    <p:sldId id="389" r:id="rId48"/>
  </p:sldIdLst>
  <p:sldSz cx="9144000" cy="6858000" type="screen4x3"/>
  <p:notesSz cx="6781800" cy="99187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4" autoAdjust="0"/>
    <p:restoredTop sz="94660" autoAdjust="0"/>
  </p:normalViewPr>
  <p:slideViewPr>
    <p:cSldViewPr snapToGrid="0">
      <p:cViewPr varScale="1">
        <p:scale>
          <a:sx n="45" d="100"/>
          <a:sy n="45" d="100"/>
        </p:scale>
        <p:origin x="1344" y="40"/>
      </p:cViewPr>
      <p:guideLst>
        <p:guide orient="horz" pos="2151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22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8.xml"/><Relationship Id="rId2" Type="http://schemas.openxmlformats.org/officeDocument/2006/relationships/slide" Target="slides/slide20.xml"/><Relationship Id="rId1" Type="http://schemas.openxmlformats.org/officeDocument/2006/relationships/slide" Target="slides/slide15.xml"/><Relationship Id="rId4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3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3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F54EE613-ACED-4909-96B5-720F0926CB9C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_anchor_2','_com_2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31D470-B07B-442E-973B-9884FBCA8684}" type="slidenum">
              <a:rPr lang="en-US"/>
              <a:pPr/>
              <a:t>1</a:t>
            </a:fld>
            <a:endParaRPr lang="en-US"/>
          </a:p>
        </p:txBody>
      </p:sp>
      <p:sp>
        <p:nvSpPr>
          <p:cNvPr id="19763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1BF5F8-4821-4EEB-9BBA-0A2D4D6A5C3D}" type="slidenum">
              <a:rPr lang="en-US"/>
              <a:pPr/>
              <a:t>2</a:t>
            </a:fld>
            <a:endParaRPr lang="en-US"/>
          </a:p>
        </p:txBody>
      </p:sp>
      <p:sp>
        <p:nvSpPr>
          <p:cNvPr id="921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I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E6615D-2B64-4C92-AC98-9160CDBB58F6}" type="slidenum">
              <a:rPr lang="en-US"/>
              <a:pPr/>
              <a:t>3</a:t>
            </a:fld>
            <a:endParaRPr lang="en-US"/>
          </a:p>
        </p:txBody>
      </p:sp>
      <p:sp>
        <p:nvSpPr>
          <p:cNvPr id="11571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BDF479-CF81-49D0-A5DB-05B94E3752C5}" type="slidenum">
              <a:rPr lang="en-US"/>
              <a:pPr/>
              <a:t>4</a:t>
            </a:fld>
            <a:endParaRPr lang="en-US"/>
          </a:p>
        </p:txBody>
      </p:sp>
      <p:sp>
        <p:nvSpPr>
          <p:cNvPr id="1177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4C13C4-A394-4E8E-BD6C-1B5A61CA25B4}" type="slidenum">
              <a:rPr lang="en-US"/>
              <a:pPr/>
              <a:t>5</a:t>
            </a:fld>
            <a:endParaRPr lang="en-US"/>
          </a:p>
        </p:txBody>
      </p:sp>
      <p:sp>
        <p:nvSpPr>
          <p:cNvPr id="12185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A943CF-95AD-46A4-9ADE-BCEFAE2955FC}" type="slidenum">
              <a:rPr lang="en-US"/>
              <a:pPr/>
              <a:t>6</a:t>
            </a:fld>
            <a:endParaRPr lang="en-US"/>
          </a:p>
        </p:txBody>
      </p:sp>
      <p:sp>
        <p:nvSpPr>
          <p:cNvPr id="12800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282564-FD84-4993-BDF6-800574329EFD}" type="slidenum">
              <a:rPr lang="en-US"/>
              <a:pPr/>
              <a:t>7</a:t>
            </a:fld>
            <a:endParaRPr lang="en-US"/>
          </a:p>
        </p:txBody>
      </p:sp>
      <p:sp>
        <p:nvSpPr>
          <p:cNvPr id="1361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CE5DD2-42B8-43CA-8AAD-0FA20246CBD1}" type="slidenum">
              <a:rPr lang="en-US"/>
              <a:pPr/>
              <a:t>8</a:t>
            </a:fld>
            <a:endParaRPr lang="en-US"/>
          </a:p>
        </p:txBody>
      </p:sp>
      <p:sp>
        <p:nvSpPr>
          <p:cNvPr id="1402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1DDE1E-095F-437E-816B-0047C940A01C}" type="slidenum">
              <a:rPr lang="en-US"/>
              <a:pPr/>
              <a:t>9</a:t>
            </a:fld>
            <a:endParaRPr lang="en-US"/>
          </a:p>
        </p:txBody>
      </p:sp>
      <p:sp>
        <p:nvSpPr>
          <p:cNvPr id="14233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7C730C-2A64-48BE-A236-C948A4B38305}" type="slidenum">
              <a:rPr lang="en-US"/>
              <a:pPr/>
              <a:t>10</a:t>
            </a:fld>
            <a:endParaRPr lang="en-US"/>
          </a:p>
        </p:txBody>
      </p:sp>
      <p:sp>
        <p:nvSpPr>
          <p:cNvPr id="14438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C6A82A-522E-4FAC-93FC-E227A05A5D8D}" type="slidenum">
              <a:rPr lang="en-US"/>
              <a:pPr/>
              <a:t>11</a:t>
            </a:fld>
            <a:endParaRPr lang="en-US"/>
          </a:p>
        </p:txBody>
      </p:sp>
      <p:sp>
        <p:nvSpPr>
          <p:cNvPr id="1331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48319F-F1AA-4945-86A1-102EA55AAD68}" type="slidenum">
              <a:rPr lang="en-US"/>
              <a:pPr/>
              <a:t>12</a:t>
            </a:fld>
            <a:endParaRPr lang="en-US"/>
          </a:p>
        </p:txBody>
      </p:sp>
      <p:sp>
        <p:nvSpPr>
          <p:cNvPr id="153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1768ED-27A0-4CC4-931D-004A0C0172B1}" type="slidenum">
              <a:rPr lang="en-US"/>
              <a:pPr/>
              <a:t>13</a:t>
            </a:fld>
            <a:endParaRPr lang="en-US"/>
          </a:p>
        </p:txBody>
      </p:sp>
      <p:sp>
        <p:nvSpPr>
          <p:cNvPr id="1741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600"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C26089-1FDF-4641-A616-239DDAC11F9A}" type="slidenum">
              <a:rPr lang="en-US"/>
              <a:pPr/>
              <a:t>14</a:t>
            </a:fld>
            <a:endParaRPr lang="en-US"/>
          </a:p>
        </p:txBody>
      </p:sp>
      <p:sp>
        <p:nvSpPr>
          <p:cNvPr id="15462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0AF244-20B9-413E-8193-E04CFCD94B96}" type="slidenum">
              <a:rPr lang="en-US"/>
              <a:pPr/>
              <a:t>15</a:t>
            </a:fld>
            <a:endParaRPr lang="en-US"/>
          </a:p>
        </p:txBody>
      </p:sp>
      <p:sp>
        <p:nvSpPr>
          <p:cNvPr id="1566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52400" indent="-152400"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9C6F72-8DE3-4C35-9C63-99E7F278BC8A}" type="slidenum">
              <a:rPr lang="en-US"/>
              <a:pPr/>
              <a:t>16</a:t>
            </a:fld>
            <a:endParaRPr lang="en-US"/>
          </a:p>
        </p:txBody>
      </p:sp>
      <p:sp>
        <p:nvSpPr>
          <p:cNvPr id="15872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52400" indent="-152400"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95CBD4-C83C-4913-8FB5-C869BD2D22E3}" type="slidenum">
              <a:rPr lang="en-US"/>
              <a:pPr/>
              <a:t>17</a:t>
            </a:fld>
            <a:endParaRPr lang="en-US"/>
          </a:p>
        </p:txBody>
      </p:sp>
      <p:sp>
        <p:nvSpPr>
          <p:cNvPr id="16077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9EDA35-8CC2-4857-B5F6-FCFD7A96A397}" type="slidenum">
              <a:rPr lang="en-US"/>
              <a:pPr/>
              <a:t>18</a:t>
            </a:fld>
            <a:endParaRPr lang="en-US"/>
          </a:p>
        </p:txBody>
      </p:sp>
      <p:sp>
        <p:nvSpPr>
          <p:cNvPr id="225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AD0256-8253-4030-9C66-C9178844EFC7}" type="slidenum">
              <a:rPr lang="en-US"/>
              <a:pPr/>
              <a:t>19</a:t>
            </a:fld>
            <a:endParaRPr lang="en-US"/>
          </a:p>
        </p:txBody>
      </p:sp>
      <p:sp>
        <p:nvSpPr>
          <p:cNvPr id="2457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1E7AB-B683-4BAD-BC24-0E12453C2D14}" type="slidenum">
              <a:rPr lang="en-US"/>
              <a:pPr/>
              <a:t>20</a:t>
            </a:fld>
            <a:endParaRPr lang="en-US"/>
          </a:p>
        </p:txBody>
      </p:sp>
      <p:sp>
        <p:nvSpPr>
          <p:cNvPr id="2765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483260-350E-4B92-A123-655F6275D2B7}" type="slidenum">
              <a:rPr lang="en-US"/>
              <a:pPr/>
              <a:t>21</a:t>
            </a:fld>
            <a:endParaRPr lang="en-US"/>
          </a:p>
        </p:txBody>
      </p:sp>
      <p:sp>
        <p:nvSpPr>
          <p:cNvPr id="40243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243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>
              <a:hlinkClick r:id="" action="ppaction://noaction"/>
              <a:hlinkMouseOver r:id="rId3" action="ppaction://hlinkfile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E4EA49-8C96-4ACA-8A6F-91F37411AEF9}" type="slidenum">
              <a:rPr lang="en-US"/>
              <a:pPr/>
              <a:t>22</a:t>
            </a:fld>
            <a:endParaRPr lang="en-US"/>
          </a:p>
        </p:txBody>
      </p:sp>
      <p:sp>
        <p:nvSpPr>
          <p:cNvPr id="4065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7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E4EA49-8C96-4ACA-8A6F-91F37411AEF9}" type="slidenum">
              <a:rPr lang="en-US"/>
              <a:pPr/>
              <a:t>23</a:t>
            </a:fld>
            <a:endParaRPr lang="en-US"/>
          </a:p>
        </p:txBody>
      </p:sp>
      <p:sp>
        <p:nvSpPr>
          <p:cNvPr id="4065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7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121B50-083A-4729-B5D9-ED9CC86E4122}" type="slidenum">
              <a:rPr lang="en-US"/>
              <a:pPr/>
              <a:t>24</a:t>
            </a:fld>
            <a:endParaRPr lang="en-US"/>
          </a:p>
        </p:txBody>
      </p:sp>
      <p:sp>
        <p:nvSpPr>
          <p:cNvPr id="43008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7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9640BD-8040-4A14-9209-DF05A7F45B50}" type="slidenum">
              <a:rPr lang="en-US"/>
              <a:pPr/>
              <a:t>25</a:t>
            </a:fld>
            <a:endParaRPr lang="en-US"/>
          </a:p>
        </p:txBody>
      </p:sp>
      <p:sp>
        <p:nvSpPr>
          <p:cNvPr id="5529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FCABC5-5258-493D-A9B8-6E1654964A5C}" type="slidenum">
              <a:rPr lang="en-US"/>
              <a:pPr/>
              <a:t>26</a:t>
            </a:fld>
            <a:endParaRPr lang="en-US"/>
          </a:p>
        </p:txBody>
      </p:sp>
      <p:sp>
        <p:nvSpPr>
          <p:cNvPr id="43417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69EF73-B295-492F-A7D1-EBA73787AA5C}" type="slidenum">
              <a:rPr lang="en-US"/>
              <a:pPr/>
              <a:t>27</a:t>
            </a:fld>
            <a:endParaRPr lang="en-US"/>
          </a:p>
        </p:txBody>
      </p:sp>
      <p:sp>
        <p:nvSpPr>
          <p:cNvPr id="55398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98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A7BD0D-3488-40CB-B43D-3458506D3D59}" type="slidenum">
              <a:rPr lang="en-US"/>
              <a:pPr/>
              <a:t>28</a:t>
            </a:fld>
            <a:endParaRPr lang="en-US"/>
          </a:p>
        </p:txBody>
      </p:sp>
      <p:sp>
        <p:nvSpPr>
          <p:cNvPr id="3993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C639E8-D54E-4AEA-BAE5-7A057CFC0FD6}" type="slidenum">
              <a:rPr lang="en-US"/>
              <a:pPr/>
              <a:t>29</a:t>
            </a:fld>
            <a:endParaRPr lang="en-US"/>
          </a:p>
        </p:txBody>
      </p:sp>
      <p:sp>
        <p:nvSpPr>
          <p:cNvPr id="4730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1E985F-A27E-4C2E-8CFB-69E458D0785C}" type="slidenum">
              <a:rPr lang="en-US"/>
              <a:pPr/>
              <a:t>30</a:t>
            </a:fld>
            <a:endParaRPr lang="en-US"/>
          </a:p>
        </p:txBody>
      </p:sp>
      <p:sp>
        <p:nvSpPr>
          <p:cNvPr id="49664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10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2D8BEF-1D4A-464D-A377-46C327EB5B56}" type="slidenum">
              <a:rPr lang="en-US"/>
              <a:pPr/>
              <a:t>31</a:t>
            </a:fld>
            <a:endParaRPr lang="en-US"/>
          </a:p>
        </p:txBody>
      </p:sp>
      <p:sp>
        <p:nvSpPr>
          <p:cNvPr id="4986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2"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C1AB9D-3048-4E47-BF74-0A31DD98D9D5}" type="slidenum">
              <a:rPr lang="en-US"/>
              <a:pPr/>
              <a:t>34</a:t>
            </a:fld>
            <a:endParaRPr lang="en-US"/>
          </a:p>
        </p:txBody>
      </p:sp>
      <p:sp>
        <p:nvSpPr>
          <p:cNvPr id="42598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10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AD6318-1B4D-46F6-AFB7-E630F81FA2C9}" type="slidenum">
              <a:rPr lang="en-US"/>
              <a:pPr/>
              <a:t>35</a:t>
            </a:fld>
            <a:endParaRPr lang="en-US"/>
          </a:p>
        </p:txBody>
      </p:sp>
      <p:sp>
        <p:nvSpPr>
          <p:cNvPr id="5662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62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B2C2EE-4F1E-4656-853A-03650239E556}" type="slidenum">
              <a:rPr lang="en-US"/>
              <a:pPr/>
              <a:t>36</a:t>
            </a:fld>
            <a:endParaRPr lang="en-US"/>
          </a:p>
        </p:txBody>
      </p:sp>
      <p:sp>
        <p:nvSpPr>
          <p:cNvPr id="5693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86B36F-6A9E-496C-8B1D-C7A06209BE68}" type="slidenum">
              <a:rPr lang="en-US"/>
              <a:pPr/>
              <a:t>37</a:t>
            </a:fld>
            <a:endParaRPr lang="en-US"/>
          </a:p>
        </p:txBody>
      </p:sp>
      <p:sp>
        <p:nvSpPr>
          <p:cNvPr id="4833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7E52A-0073-431D-868A-44F6B0A237D1}" type="slidenum">
              <a:rPr lang="en-US"/>
              <a:pPr/>
              <a:t>38</a:t>
            </a:fld>
            <a:endParaRPr lang="en-US"/>
          </a:p>
        </p:txBody>
      </p:sp>
      <p:sp>
        <p:nvSpPr>
          <p:cNvPr id="48128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b="1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0FDBFE-CCB1-46EB-AE95-93853E56F14C}" type="slidenum">
              <a:rPr lang="en-US"/>
              <a:pPr/>
              <a:t>39</a:t>
            </a:fld>
            <a:endParaRPr lang="en-US"/>
          </a:p>
        </p:txBody>
      </p:sp>
      <p:sp>
        <p:nvSpPr>
          <p:cNvPr id="57037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037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C29A7A-C8AB-47E8-B1BC-87C84038B3F0}" type="slidenum">
              <a:rPr lang="en-US"/>
              <a:pPr/>
              <a:t>40</a:t>
            </a:fld>
            <a:endParaRPr lang="en-US"/>
          </a:p>
        </p:txBody>
      </p:sp>
      <p:sp>
        <p:nvSpPr>
          <p:cNvPr id="5713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272F88-FD54-4375-B2A0-E6881542E67D}" type="slidenum">
              <a:rPr lang="en-US"/>
              <a:pPr/>
              <a:t>41</a:t>
            </a:fld>
            <a:endParaRPr lang="en-US"/>
          </a:p>
        </p:txBody>
      </p:sp>
      <p:sp>
        <p:nvSpPr>
          <p:cNvPr id="57241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272F88-FD54-4375-B2A0-E6881542E67D}" type="slidenum">
              <a:rPr lang="en-US"/>
              <a:pPr/>
              <a:t>42</a:t>
            </a:fld>
            <a:endParaRPr lang="en-US"/>
          </a:p>
        </p:txBody>
      </p:sp>
      <p:sp>
        <p:nvSpPr>
          <p:cNvPr id="57241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E60219-A871-414A-87FD-BDFFE746E9CF}" type="slidenum">
              <a:rPr lang="en-US"/>
              <a:pPr/>
              <a:t>43</a:t>
            </a:fld>
            <a:endParaRPr lang="en-US"/>
          </a:p>
        </p:txBody>
      </p:sp>
      <p:sp>
        <p:nvSpPr>
          <p:cNvPr id="4157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050925" y="1447800"/>
            <a:ext cx="7026275" cy="4694238"/>
          </a:xfr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re. Contenu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0263" y="1447800"/>
            <a:ext cx="3436937" cy="2270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0263" y="3870325"/>
            <a:ext cx="3436937" cy="22717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2/9/2025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9" r:id="rId14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../../Animations-S42/2144A_2270A_06_2_3_0_A.SW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1.png"/><Relationship Id="rId18" Type="http://schemas.openxmlformats.org/officeDocument/2006/relationships/image" Target="../media/image48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3.png"/><Relationship Id="rId5" Type="http://schemas.openxmlformats.org/officeDocument/2006/relationships/image" Target="../media/image28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19" Type="http://schemas.openxmlformats.org/officeDocument/2006/relationships/image" Target="../media/image49.png"/><Relationship Id="rId4" Type="http://schemas.openxmlformats.org/officeDocument/2006/relationships/image" Target="../media/image38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4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-2"/>
          <p:cNvSpPr>
            <a:spLocks noGrp="1" noChangeArrowheads="1"/>
          </p:cNvSpPr>
          <p:nvPr>
            <p:ph type="ctrTitle"/>
          </p:nvPr>
        </p:nvSpPr>
        <p:spPr>
          <a:xfrm>
            <a:off x="235131" y="2743200"/>
            <a:ext cx="8725989" cy="3213463"/>
          </a:xfrm>
        </p:spPr>
        <p:txBody>
          <a:bodyPr>
            <a:noAutofit/>
          </a:bodyPr>
          <a:lstStyle/>
          <a:p>
            <a:r>
              <a:rPr lang="fr-FR" altLang="zh-CN" sz="48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Chapitre 2 </a:t>
            </a:r>
            <a:br>
              <a:rPr lang="fr-FR" altLang="zh-CN" sz="48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sz="48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Gestion des comptes d'utilisateurs, d'ordinateurs et des groupes</a:t>
            </a:r>
            <a:endParaRPr lang="en-US" sz="4800" dirty="0"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744581" y="849086"/>
            <a:ext cx="7628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/>
              <a:t>Module S42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Plan du cours</a:t>
            </a:r>
            <a:endParaRPr lang="en-US" b="1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717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49501" y="2023437"/>
            <a:ext cx="8503920" cy="3580529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Création et modification de comptes d'utilisateurs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et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d'ordinateurs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Création d'un modèle de compte d'utilisateur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/>
              <a:t>Création de groupes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/>
              <a:t>Gestion des groupes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/>
              <a:t>Groupes par défaut et groupes systèmes</a:t>
            </a:r>
            <a:endParaRPr lang="en-US" dirty="0"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-2"/>
          <p:cNvSpPr>
            <a:spLocks noGrp="1" noChangeArrowheads="1"/>
          </p:cNvSpPr>
          <p:nvPr>
            <p:ph type="title"/>
          </p:nvPr>
        </p:nvSpPr>
        <p:spPr>
          <a:xfrm>
            <a:off x="182881" y="169817"/>
            <a:ext cx="8791302" cy="869987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fr-FR" altLang="zh-CN" sz="28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1.  Création et modification de comptes d'utilisateurs</a:t>
            </a:r>
            <a:r>
              <a:rPr lang="en-IE" altLang="zh-CN" sz="28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et </a:t>
            </a:r>
            <a:r>
              <a:rPr lang="fr-FR" altLang="zh-CN" sz="28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d'ordinateurs</a:t>
            </a:r>
            <a:r>
              <a:rPr lang="en-IE" altLang="zh-CN" sz="28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800" b="1" dirty="0"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1469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169818" y="1619793"/>
            <a:ext cx="8791302" cy="4598127"/>
          </a:xfrm>
        </p:spPr>
        <p:txBody>
          <a:bodyPr>
            <a:noAutofit/>
          </a:bodyPr>
          <a:lstStyle/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comptes d'utilisateurs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Noms associés aux comptes d'utilisateurs de domaine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Options de mot de passe utilisateur</a:t>
            </a: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comptes d'ordinateurs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Intérêt de la création d'un compte d'ordinateur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Emplacement de création des comptes d'ordinateurs dans un domaine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Quand modifier les propriétés des comptes d'utilisateurs et des comptes d'ordinateurs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-2"/>
          <p:cNvSpPr>
            <a:spLocks noGrp="1" noChangeArrowheads="1"/>
          </p:cNvSpPr>
          <p:nvPr>
            <p:ph type="title"/>
          </p:nvPr>
        </p:nvSpPr>
        <p:spPr>
          <a:xfrm>
            <a:off x="182880" y="228600"/>
            <a:ext cx="8778240" cy="75895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comptes d'utilisateurs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17237" name="AutoShape-501"/>
          <p:cNvSpPr>
            <a:spLocks noChangeArrowheads="1"/>
          </p:cNvSpPr>
          <p:nvPr/>
        </p:nvSpPr>
        <p:spPr bwMode="auto">
          <a:xfrm>
            <a:off x="159519" y="4022169"/>
            <a:ext cx="8804366" cy="156210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Comptes d'utilisateurs de domaine </a:t>
            </a:r>
            <a:b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(stockés dans Active Directory)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17238" name="AutoShape-502"/>
          <p:cNvSpPr>
            <a:spLocks noChangeArrowheads="1"/>
          </p:cNvSpPr>
          <p:nvPr/>
        </p:nvSpPr>
        <p:spPr bwMode="auto">
          <a:xfrm>
            <a:off x="156754" y="1832713"/>
            <a:ext cx="8804365" cy="149860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Comptes d'utilisateurs locaux </a:t>
            </a:r>
            <a:b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(stockés sur l'ordinateur local)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grpSp>
        <p:nvGrpSpPr>
          <p:cNvPr id="117239" name="Group-503"/>
          <p:cNvGrpSpPr>
            <a:grpSpLocks/>
          </p:cNvGrpSpPr>
          <p:nvPr/>
        </p:nvGrpSpPr>
        <p:grpSpPr bwMode="auto">
          <a:xfrm>
            <a:off x="6669916" y="1939075"/>
            <a:ext cx="2135187" cy="1292225"/>
            <a:chOff x="3535" y="1046"/>
            <a:chExt cx="1345" cy="814"/>
          </a:xfrm>
        </p:grpSpPr>
        <p:sp>
          <p:nvSpPr>
            <p:cNvPr id="117240" name="AutoShape-504"/>
            <p:cNvSpPr>
              <a:spLocks noChangeArrowheads="1"/>
            </p:cNvSpPr>
            <p:nvPr/>
          </p:nvSpPr>
          <p:spPr bwMode="auto">
            <a:xfrm>
              <a:off x="3535" y="1046"/>
              <a:ext cx="1345" cy="814"/>
            </a:xfrm>
            <a:prstGeom prst="roundRect">
              <a:avLst>
                <a:gd name="adj" fmla="val 4167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buSzPct val="85000"/>
              </a:pPr>
              <a:endParaRPr lang="en-IE"/>
            </a:p>
          </p:txBody>
        </p:sp>
        <p:pic>
          <p:nvPicPr>
            <p:cNvPr id="117241" name="Picture-505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620" y="1103"/>
              <a:ext cx="546" cy="6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7242" name="Picture-506" descr="Database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987" y="1456"/>
              <a:ext cx="389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17243" name="Group 507"/>
            <p:cNvGrpSpPr>
              <a:grpSpLocks/>
            </p:cNvGrpSpPr>
            <p:nvPr/>
          </p:nvGrpSpPr>
          <p:grpSpPr bwMode="auto">
            <a:xfrm>
              <a:off x="4430" y="1132"/>
              <a:ext cx="362" cy="619"/>
              <a:chOff x="3871" y="1301"/>
              <a:chExt cx="302" cy="516"/>
            </a:xfrm>
          </p:grpSpPr>
          <p:sp>
            <p:nvSpPr>
              <p:cNvPr id="117244" name="Freeform-508"/>
              <p:cNvSpPr>
                <a:spLocks/>
              </p:cNvSpPr>
              <p:nvPr/>
            </p:nvSpPr>
            <p:spPr bwMode="auto">
              <a:xfrm>
                <a:off x="3912" y="1387"/>
                <a:ext cx="150" cy="3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44"/>
                  </a:cxn>
                  <a:cxn ang="0">
                    <a:pos x="400" y="244"/>
                  </a:cxn>
                </a:cxnLst>
                <a:rect l="0" t="0" r="r" b="b"/>
                <a:pathLst>
                  <a:path w="400" h="244">
                    <a:moveTo>
                      <a:pt x="0" y="0"/>
                    </a:moveTo>
                    <a:lnTo>
                      <a:pt x="0" y="244"/>
                    </a:lnTo>
                    <a:lnTo>
                      <a:pt x="400" y="2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7245" name="Line-509"/>
              <p:cNvSpPr>
                <a:spLocks noChangeShapeType="1"/>
              </p:cNvSpPr>
              <p:nvPr/>
            </p:nvSpPr>
            <p:spPr bwMode="auto">
              <a:xfrm>
                <a:off x="3942" y="1382"/>
                <a:ext cx="126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7246" name="Line-510"/>
              <p:cNvSpPr>
                <a:spLocks noChangeShapeType="1"/>
              </p:cNvSpPr>
              <p:nvPr/>
            </p:nvSpPr>
            <p:spPr bwMode="auto">
              <a:xfrm>
                <a:off x="3906" y="1543"/>
                <a:ext cx="16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117247" name="Group 511"/>
              <p:cNvGrpSpPr>
                <a:grpSpLocks/>
              </p:cNvGrpSpPr>
              <p:nvPr/>
            </p:nvGrpSpPr>
            <p:grpSpPr bwMode="auto">
              <a:xfrm>
                <a:off x="4035" y="1301"/>
                <a:ext cx="129" cy="157"/>
                <a:chOff x="847" y="1168"/>
                <a:chExt cx="747" cy="909"/>
              </a:xfrm>
            </p:grpSpPr>
            <p:sp>
              <p:nvSpPr>
                <p:cNvPr id="117248" name="Freeform-512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249" name="Rectangle-513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0" name="Rectangle-514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1" name="Rectangle-515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2" name="Rectangle-516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3" name="Freeform-517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254" name="Rectangle-518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5" name="Rectangle-519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6" name="Rectangle-520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7" name="Rectangle-521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8" name="Rectangle-522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59" name="Rectangle-523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0" name="Rectangle-524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1" name="Rectangle-525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2" name="Rectangle-526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3" name="Rectangle-527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4" name="Rectangle-528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5" name="Rectangle-529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6" name="Rectangle-530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7" name="Rectangle-531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8" name="Rectangle-532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69" name="Rectangle-533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0" name="Rectangle-534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1" name="Rectangle-535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2" name="Rectangle-536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3" name="Rectangle-537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4" name="Rectangle-538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5" name="Rectangle-539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6" name="Rectangle-540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7" name="Rectangle-541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78" name="Rectangle-542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279" name="Group 543"/>
              <p:cNvGrpSpPr>
                <a:grpSpLocks/>
              </p:cNvGrpSpPr>
              <p:nvPr/>
            </p:nvGrpSpPr>
            <p:grpSpPr bwMode="auto">
              <a:xfrm>
                <a:off x="3871" y="1346"/>
                <a:ext cx="78" cy="78"/>
                <a:chOff x="1964" y="1584"/>
                <a:chExt cx="188" cy="188"/>
              </a:xfrm>
            </p:grpSpPr>
            <p:sp>
              <p:nvSpPr>
                <p:cNvPr id="117280" name="Rectangle-544"/>
                <p:cNvSpPr>
                  <a:spLocks noChangeArrowheads="1"/>
                </p:cNvSpPr>
                <p:nvPr/>
              </p:nvSpPr>
              <p:spPr bwMode="auto">
                <a:xfrm>
                  <a:off x="1964" y="1584"/>
                  <a:ext cx="188" cy="1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81" name="AutoShape-545"/>
                <p:cNvSpPr>
                  <a:spLocks noChangeArrowheads="1"/>
                </p:cNvSpPr>
                <p:nvPr/>
              </p:nvSpPr>
              <p:spPr bwMode="auto">
                <a:xfrm>
                  <a:off x="1985" y="1605"/>
                  <a:ext cx="146" cy="146"/>
                </a:xfrm>
                <a:prstGeom prst="plus">
                  <a:avLst>
                    <a:gd name="adj" fmla="val 39042"/>
                  </a:avLst>
                </a:prstGeom>
                <a:solidFill>
                  <a:schemeClr val="tx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282" name="Group 546"/>
              <p:cNvGrpSpPr>
                <a:grpSpLocks/>
              </p:cNvGrpSpPr>
              <p:nvPr/>
            </p:nvGrpSpPr>
            <p:grpSpPr bwMode="auto">
              <a:xfrm>
                <a:off x="3871" y="1505"/>
                <a:ext cx="78" cy="78"/>
                <a:chOff x="1964" y="1584"/>
                <a:chExt cx="188" cy="188"/>
              </a:xfrm>
            </p:grpSpPr>
            <p:sp>
              <p:nvSpPr>
                <p:cNvPr id="117283" name="Rectangle-547"/>
                <p:cNvSpPr>
                  <a:spLocks noChangeArrowheads="1"/>
                </p:cNvSpPr>
                <p:nvPr/>
              </p:nvSpPr>
              <p:spPr bwMode="auto">
                <a:xfrm>
                  <a:off x="1964" y="1584"/>
                  <a:ext cx="188" cy="1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84" name="AutoShape-548"/>
                <p:cNvSpPr>
                  <a:spLocks noChangeArrowheads="1"/>
                </p:cNvSpPr>
                <p:nvPr/>
              </p:nvSpPr>
              <p:spPr bwMode="auto">
                <a:xfrm>
                  <a:off x="1985" y="1605"/>
                  <a:ext cx="146" cy="146"/>
                </a:xfrm>
                <a:prstGeom prst="plus">
                  <a:avLst>
                    <a:gd name="adj" fmla="val 39042"/>
                  </a:avLst>
                </a:prstGeom>
                <a:solidFill>
                  <a:schemeClr val="tx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285" name="Group 549"/>
              <p:cNvGrpSpPr>
                <a:grpSpLocks/>
              </p:cNvGrpSpPr>
              <p:nvPr/>
            </p:nvGrpSpPr>
            <p:grpSpPr bwMode="auto">
              <a:xfrm>
                <a:off x="3871" y="1692"/>
                <a:ext cx="78" cy="78"/>
                <a:chOff x="1964" y="1584"/>
                <a:chExt cx="188" cy="188"/>
              </a:xfrm>
            </p:grpSpPr>
            <p:sp>
              <p:nvSpPr>
                <p:cNvPr id="117286" name="Rectangle-550"/>
                <p:cNvSpPr>
                  <a:spLocks noChangeArrowheads="1"/>
                </p:cNvSpPr>
                <p:nvPr/>
              </p:nvSpPr>
              <p:spPr bwMode="auto">
                <a:xfrm>
                  <a:off x="1964" y="1584"/>
                  <a:ext cx="188" cy="1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87" name="AutoShape-551"/>
                <p:cNvSpPr>
                  <a:spLocks noChangeArrowheads="1"/>
                </p:cNvSpPr>
                <p:nvPr/>
              </p:nvSpPr>
              <p:spPr bwMode="auto">
                <a:xfrm>
                  <a:off x="1985" y="1605"/>
                  <a:ext cx="146" cy="146"/>
                </a:xfrm>
                <a:prstGeom prst="plus">
                  <a:avLst>
                    <a:gd name="adj" fmla="val 39042"/>
                  </a:avLst>
                </a:prstGeom>
                <a:solidFill>
                  <a:schemeClr val="tx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288" name="Group 552"/>
              <p:cNvGrpSpPr>
                <a:grpSpLocks/>
              </p:cNvGrpSpPr>
              <p:nvPr/>
            </p:nvGrpSpPr>
            <p:grpSpPr bwMode="auto">
              <a:xfrm>
                <a:off x="4043" y="1486"/>
                <a:ext cx="129" cy="157"/>
                <a:chOff x="847" y="1168"/>
                <a:chExt cx="747" cy="909"/>
              </a:xfrm>
            </p:grpSpPr>
            <p:sp>
              <p:nvSpPr>
                <p:cNvPr id="117289" name="Freeform-553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290" name="Rectangle-554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1" name="Rectangle-555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2" name="Rectangle-556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3" name="Rectangle-557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4" name="Freeform-558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295" name="Rectangle-559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6" name="Rectangle-560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7" name="Rectangle-561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8" name="Rectangle-562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299" name="Rectangle-563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0" name="Rectangle-564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1" name="Rectangle-565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2" name="Rectangle-566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3" name="Rectangle-567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4" name="Rectangle-568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5" name="Rectangle-569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6" name="Rectangle-570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7" name="Rectangle-571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8" name="Rectangle-572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09" name="Rectangle-573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0" name="Rectangle-574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1" name="Rectangle-575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2" name="Rectangle-576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3" name="Rectangle-577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4" name="Rectangle-578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5" name="Rectangle-579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6" name="Rectangle-580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7" name="Rectangle-581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8" name="Rectangle-582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19" name="Rectangle-583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320" name="Group 584"/>
              <p:cNvGrpSpPr>
                <a:grpSpLocks/>
              </p:cNvGrpSpPr>
              <p:nvPr/>
            </p:nvGrpSpPr>
            <p:grpSpPr bwMode="auto">
              <a:xfrm>
                <a:off x="4044" y="1660"/>
                <a:ext cx="129" cy="157"/>
                <a:chOff x="847" y="1168"/>
                <a:chExt cx="747" cy="909"/>
              </a:xfrm>
            </p:grpSpPr>
            <p:sp>
              <p:nvSpPr>
                <p:cNvPr id="117321" name="Freeform-585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322" name="Rectangle-586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23" name="Rectangle-587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24" name="Rectangle-588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25" name="Rectangle-589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26" name="Freeform-590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327" name="Rectangle-591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28" name="Rectangle-592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29" name="Rectangle-593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0" name="Rectangle-594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1" name="Rectangle-595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2" name="Rectangle-596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3" name="Rectangle-597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4" name="Rectangle-598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5" name="Rectangle-599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6" name="Rectangle-600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7" name="Rectangle-601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8" name="Rectangle-602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39" name="Rectangle-603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0" name="Rectangle-604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1" name="Rectangle-605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2" name="Rectangle-606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3" name="Rectangle-607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4" name="Rectangle-608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5" name="Rectangle-609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6" name="Rectangle-610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7" name="Rectangle-611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8" name="Rectangle-612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49" name="Rectangle-613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50" name="Rectangle-614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51" name="Rectangle-615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</p:grpSp>
      <p:pic>
        <p:nvPicPr>
          <p:cNvPr id="117352" name="Picture-616" descr="2Domain0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49241" y="3762833"/>
            <a:ext cx="2425700" cy="2143125"/>
          </a:xfrm>
          <a:prstGeom prst="rect">
            <a:avLst/>
          </a:prstGeom>
          <a:noFill/>
        </p:spPr>
      </p:pic>
      <p:grpSp>
        <p:nvGrpSpPr>
          <p:cNvPr id="117353" name="Group-617"/>
          <p:cNvGrpSpPr>
            <a:grpSpLocks/>
          </p:cNvGrpSpPr>
          <p:nvPr/>
        </p:nvGrpSpPr>
        <p:grpSpPr bwMode="auto">
          <a:xfrm>
            <a:off x="6280978" y="4027945"/>
            <a:ext cx="1395413" cy="1417638"/>
            <a:chOff x="3159" y="2114"/>
            <a:chExt cx="807" cy="820"/>
          </a:xfrm>
        </p:grpSpPr>
        <p:pic>
          <p:nvPicPr>
            <p:cNvPr id="117354" name="Picture-618" descr="Server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159" y="2285"/>
              <a:ext cx="525" cy="649"/>
            </a:xfrm>
            <a:prstGeom prst="rect">
              <a:avLst/>
            </a:prstGeom>
            <a:noFill/>
          </p:spPr>
        </p:pic>
        <p:pic>
          <p:nvPicPr>
            <p:cNvPr id="117355" name="Picture-619" descr="ActiveDirectory0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465" y="2422"/>
              <a:ext cx="501" cy="346"/>
            </a:xfrm>
            <a:prstGeom prst="rect">
              <a:avLst/>
            </a:prstGeom>
            <a:noFill/>
          </p:spPr>
        </p:pic>
        <p:pic>
          <p:nvPicPr>
            <p:cNvPr id="117356" name="Picture-620" descr="WindowsFlagLogo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273" y="2114"/>
              <a:ext cx="366" cy="339"/>
            </a:xfrm>
            <a:prstGeom prst="rect">
              <a:avLst/>
            </a:prstGeom>
            <a:noFill/>
          </p:spPr>
        </p:pic>
      </p:grpSp>
      <p:sp>
        <p:nvSpPr>
          <p:cNvPr id="117357" name="Text-Box-621"/>
          <p:cNvSpPr txBox="1">
            <a:spLocks noChangeArrowheads="1"/>
          </p:cNvSpPr>
          <p:nvPr/>
        </p:nvSpPr>
        <p:spPr bwMode="auto">
          <a:xfrm>
            <a:off x="6357178" y="5528133"/>
            <a:ext cx="236193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altLang="zh-CN" sz="1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Domaine Windows Server 2008</a:t>
            </a:r>
            <a:endParaRPr lang="en-US" sz="14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grpSp>
        <p:nvGrpSpPr>
          <p:cNvPr id="117358" name="Group-622"/>
          <p:cNvGrpSpPr>
            <a:grpSpLocks/>
          </p:cNvGrpSpPr>
          <p:nvPr/>
        </p:nvGrpSpPr>
        <p:grpSpPr bwMode="auto">
          <a:xfrm>
            <a:off x="7898641" y="3777120"/>
            <a:ext cx="869950" cy="1493838"/>
            <a:chOff x="4406" y="2135"/>
            <a:chExt cx="548" cy="941"/>
          </a:xfrm>
        </p:grpSpPr>
        <p:sp>
          <p:nvSpPr>
            <p:cNvPr id="117359" name="AutoShape-623"/>
            <p:cNvSpPr>
              <a:spLocks noChangeArrowheads="1"/>
            </p:cNvSpPr>
            <p:nvPr/>
          </p:nvSpPr>
          <p:spPr bwMode="auto">
            <a:xfrm>
              <a:off x="4406" y="2135"/>
              <a:ext cx="548" cy="941"/>
            </a:xfrm>
            <a:prstGeom prst="roundRect">
              <a:avLst>
                <a:gd name="adj" fmla="val 4167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buSzPct val="85000"/>
              </a:pPr>
              <a:endParaRPr lang="en-IE"/>
            </a:p>
          </p:txBody>
        </p:sp>
        <p:sp>
          <p:nvSpPr>
            <p:cNvPr id="117360" name="Freeform-624"/>
            <p:cNvSpPr>
              <a:spLocks/>
            </p:cNvSpPr>
            <p:nvPr/>
          </p:nvSpPr>
          <p:spPr bwMode="auto">
            <a:xfrm>
              <a:off x="4465" y="2191"/>
              <a:ext cx="213" cy="179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7361" name="Group 625"/>
            <p:cNvGrpSpPr>
              <a:grpSpLocks/>
            </p:cNvGrpSpPr>
            <p:nvPr/>
          </p:nvGrpSpPr>
          <p:grpSpPr bwMode="auto">
            <a:xfrm>
              <a:off x="4489" y="2219"/>
              <a:ext cx="155" cy="141"/>
              <a:chOff x="762" y="1114"/>
              <a:chExt cx="980" cy="855"/>
            </a:xfrm>
          </p:grpSpPr>
          <p:sp>
            <p:nvSpPr>
              <p:cNvPr id="117362" name="Freeform-626"/>
              <p:cNvSpPr>
                <a:spLocks/>
              </p:cNvSpPr>
              <p:nvPr/>
            </p:nvSpPr>
            <p:spPr bwMode="auto">
              <a:xfrm>
                <a:off x="762" y="1192"/>
                <a:ext cx="980" cy="777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17363" name="Freeform-627"/>
              <p:cNvSpPr>
                <a:spLocks/>
              </p:cNvSpPr>
              <p:nvPr/>
            </p:nvSpPr>
            <p:spPr bwMode="auto">
              <a:xfrm>
                <a:off x="808" y="1205"/>
                <a:ext cx="893" cy="727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17364" name="Freeform-628"/>
              <p:cNvSpPr>
                <a:spLocks/>
              </p:cNvSpPr>
              <p:nvPr/>
            </p:nvSpPr>
            <p:spPr bwMode="auto">
              <a:xfrm>
                <a:off x="763" y="1114"/>
                <a:ext cx="883" cy="410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17365" name="Freeform-629"/>
              <p:cNvSpPr>
                <a:spLocks/>
              </p:cNvSpPr>
              <p:nvPr/>
            </p:nvSpPr>
            <p:spPr bwMode="auto">
              <a:xfrm>
                <a:off x="840" y="1412"/>
                <a:ext cx="854" cy="33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  <p:grpSp>
          <p:nvGrpSpPr>
            <p:cNvPr id="117366" name="Group 630"/>
            <p:cNvGrpSpPr>
              <a:grpSpLocks/>
            </p:cNvGrpSpPr>
            <p:nvPr/>
          </p:nvGrpSpPr>
          <p:grpSpPr bwMode="auto">
            <a:xfrm>
              <a:off x="4536" y="2421"/>
              <a:ext cx="362" cy="619"/>
              <a:chOff x="4536" y="2421"/>
              <a:chExt cx="362" cy="619"/>
            </a:xfrm>
          </p:grpSpPr>
          <p:sp>
            <p:nvSpPr>
              <p:cNvPr id="117367" name="Freeform-631"/>
              <p:cNvSpPr>
                <a:spLocks/>
              </p:cNvSpPr>
              <p:nvPr/>
            </p:nvSpPr>
            <p:spPr bwMode="auto">
              <a:xfrm>
                <a:off x="4585" y="2524"/>
                <a:ext cx="180" cy="4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44"/>
                  </a:cxn>
                  <a:cxn ang="0">
                    <a:pos x="400" y="244"/>
                  </a:cxn>
                </a:cxnLst>
                <a:rect l="0" t="0" r="r" b="b"/>
                <a:pathLst>
                  <a:path w="400" h="244">
                    <a:moveTo>
                      <a:pt x="0" y="0"/>
                    </a:moveTo>
                    <a:lnTo>
                      <a:pt x="0" y="244"/>
                    </a:lnTo>
                    <a:lnTo>
                      <a:pt x="400" y="2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7368" name="Line-632"/>
              <p:cNvSpPr>
                <a:spLocks noChangeShapeType="1"/>
              </p:cNvSpPr>
              <p:nvPr/>
            </p:nvSpPr>
            <p:spPr bwMode="auto">
              <a:xfrm>
                <a:off x="4621" y="2518"/>
                <a:ext cx="151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7369" name="Line-633"/>
              <p:cNvSpPr>
                <a:spLocks noChangeShapeType="1"/>
              </p:cNvSpPr>
              <p:nvPr/>
            </p:nvSpPr>
            <p:spPr bwMode="auto">
              <a:xfrm>
                <a:off x="4578" y="2711"/>
                <a:ext cx="194" cy="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117370" name="Group 634"/>
              <p:cNvGrpSpPr>
                <a:grpSpLocks/>
              </p:cNvGrpSpPr>
              <p:nvPr/>
            </p:nvGrpSpPr>
            <p:grpSpPr bwMode="auto">
              <a:xfrm>
                <a:off x="4733" y="2421"/>
                <a:ext cx="154" cy="188"/>
                <a:chOff x="847" y="1168"/>
                <a:chExt cx="747" cy="909"/>
              </a:xfrm>
            </p:grpSpPr>
            <p:sp>
              <p:nvSpPr>
                <p:cNvPr id="117371" name="Freeform-635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372" name="Rectangle-636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73" name="Rectangle-637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74" name="Rectangle-638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75" name="Rectangle-639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76" name="Freeform-640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377" name="Rectangle-641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78" name="Rectangle-642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79" name="Rectangle-643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0" name="Rectangle-644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1" name="Rectangle-645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2" name="Rectangle-646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3" name="Rectangle-647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4" name="Rectangle-648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5" name="Rectangle-649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6" name="Rectangle-650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7" name="Rectangle-651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8" name="Rectangle-652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89" name="Rectangle-653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0" name="Rectangle-654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1" name="Rectangle-655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2" name="Rectangle-656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3" name="Rectangle-657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4" name="Rectangle-658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5" name="Rectangle-659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6" name="Rectangle-660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7" name="Rectangle-661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8" name="Rectangle-662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399" name="Rectangle-663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00" name="Rectangle-664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01" name="Rectangle-665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402" name="Group 666"/>
              <p:cNvGrpSpPr>
                <a:grpSpLocks/>
              </p:cNvGrpSpPr>
              <p:nvPr/>
            </p:nvGrpSpPr>
            <p:grpSpPr bwMode="auto">
              <a:xfrm>
                <a:off x="4536" y="2475"/>
                <a:ext cx="93" cy="94"/>
                <a:chOff x="1964" y="1584"/>
                <a:chExt cx="188" cy="188"/>
              </a:xfrm>
            </p:grpSpPr>
            <p:sp>
              <p:nvSpPr>
                <p:cNvPr id="117403" name="Rectangle-667"/>
                <p:cNvSpPr>
                  <a:spLocks noChangeArrowheads="1"/>
                </p:cNvSpPr>
                <p:nvPr/>
              </p:nvSpPr>
              <p:spPr bwMode="auto">
                <a:xfrm>
                  <a:off x="1964" y="1584"/>
                  <a:ext cx="188" cy="1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04" name="AutoShape-668"/>
                <p:cNvSpPr>
                  <a:spLocks noChangeArrowheads="1"/>
                </p:cNvSpPr>
                <p:nvPr/>
              </p:nvSpPr>
              <p:spPr bwMode="auto">
                <a:xfrm>
                  <a:off x="1985" y="1605"/>
                  <a:ext cx="146" cy="146"/>
                </a:xfrm>
                <a:prstGeom prst="plus">
                  <a:avLst>
                    <a:gd name="adj" fmla="val 39042"/>
                  </a:avLst>
                </a:prstGeom>
                <a:solidFill>
                  <a:schemeClr val="tx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405" name="Group 669"/>
              <p:cNvGrpSpPr>
                <a:grpSpLocks/>
              </p:cNvGrpSpPr>
              <p:nvPr/>
            </p:nvGrpSpPr>
            <p:grpSpPr bwMode="auto">
              <a:xfrm>
                <a:off x="4536" y="2666"/>
                <a:ext cx="93" cy="93"/>
                <a:chOff x="1964" y="1584"/>
                <a:chExt cx="188" cy="188"/>
              </a:xfrm>
            </p:grpSpPr>
            <p:sp>
              <p:nvSpPr>
                <p:cNvPr id="117406" name="Rectangle-670"/>
                <p:cNvSpPr>
                  <a:spLocks noChangeArrowheads="1"/>
                </p:cNvSpPr>
                <p:nvPr/>
              </p:nvSpPr>
              <p:spPr bwMode="auto">
                <a:xfrm>
                  <a:off x="1964" y="1584"/>
                  <a:ext cx="188" cy="1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07" name="AutoShape-671"/>
                <p:cNvSpPr>
                  <a:spLocks noChangeArrowheads="1"/>
                </p:cNvSpPr>
                <p:nvPr/>
              </p:nvSpPr>
              <p:spPr bwMode="auto">
                <a:xfrm>
                  <a:off x="1985" y="1605"/>
                  <a:ext cx="146" cy="146"/>
                </a:xfrm>
                <a:prstGeom prst="plus">
                  <a:avLst>
                    <a:gd name="adj" fmla="val 39042"/>
                  </a:avLst>
                </a:prstGeom>
                <a:solidFill>
                  <a:schemeClr val="tx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408" name="Group 672"/>
              <p:cNvGrpSpPr>
                <a:grpSpLocks/>
              </p:cNvGrpSpPr>
              <p:nvPr/>
            </p:nvGrpSpPr>
            <p:grpSpPr bwMode="auto">
              <a:xfrm>
                <a:off x="4536" y="2890"/>
                <a:ext cx="93" cy="94"/>
                <a:chOff x="1964" y="1584"/>
                <a:chExt cx="188" cy="188"/>
              </a:xfrm>
            </p:grpSpPr>
            <p:sp>
              <p:nvSpPr>
                <p:cNvPr id="117409" name="Rectangle-673"/>
                <p:cNvSpPr>
                  <a:spLocks noChangeArrowheads="1"/>
                </p:cNvSpPr>
                <p:nvPr/>
              </p:nvSpPr>
              <p:spPr bwMode="auto">
                <a:xfrm>
                  <a:off x="1964" y="1584"/>
                  <a:ext cx="188" cy="1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10" name="AutoShape-674"/>
                <p:cNvSpPr>
                  <a:spLocks noChangeArrowheads="1"/>
                </p:cNvSpPr>
                <p:nvPr/>
              </p:nvSpPr>
              <p:spPr bwMode="auto">
                <a:xfrm>
                  <a:off x="1985" y="1605"/>
                  <a:ext cx="146" cy="146"/>
                </a:xfrm>
                <a:prstGeom prst="plus">
                  <a:avLst>
                    <a:gd name="adj" fmla="val 39042"/>
                  </a:avLst>
                </a:prstGeom>
                <a:solidFill>
                  <a:schemeClr val="tx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411" name="Group 675"/>
              <p:cNvGrpSpPr>
                <a:grpSpLocks/>
              </p:cNvGrpSpPr>
              <p:nvPr/>
            </p:nvGrpSpPr>
            <p:grpSpPr bwMode="auto">
              <a:xfrm>
                <a:off x="4742" y="2643"/>
                <a:ext cx="155" cy="188"/>
                <a:chOff x="847" y="1168"/>
                <a:chExt cx="747" cy="909"/>
              </a:xfrm>
            </p:grpSpPr>
            <p:sp>
              <p:nvSpPr>
                <p:cNvPr id="117412" name="Freeform-676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413" name="Rectangle-677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14" name="Rectangle-678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15" name="Rectangle-679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16" name="Rectangle-680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17" name="Freeform-681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418" name="Rectangle-682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19" name="Rectangle-683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0" name="Rectangle-684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1" name="Rectangle-685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2" name="Rectangle-686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3" name="Rectangle-687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4" name="Rectangle-688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5" name="Rectangle-689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6" name="Rectangle-690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7" name="Rectangle-691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8" name="Rectangle-692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29" name="Rectangle-693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0" name="Rectangle-694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1" name="Rectangle-695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2" name="Rectangle-696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3" name="Rectangle-697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4" name="Rectangle-698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5" name="Rectangle-699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6" name="Rectangle-700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7" name="Rectangle-701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8" name="Rectangle-702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39" name="Rectangle-703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0" name="Rectangle-704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1" name="Rectangle-705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2" name="Rectangle-706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17443" name="Group 707"/>
              <p:cNvGrpSpPr>
                <a:grpSpLocks/>
              </p:cNvGrpSpPr>
              <p:nvPr/>
            </p:nvGrpSpPr>
            <p:grpSpPr bwMode="auto">
              <a:xfrm>
                <a:off x="4743" y="2852"/>
                <a:ext cx="155" cy="188"/>
                <a:chOff x="847" y="1168"/>
                <a:chExt cx="747" cy="909"/>
              </a:xfrm>
            </p:grpSpPr>
            <p:sp>
              <p:nvSpPr>
                <p:cNvPr id="117444" name="Freeform-708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445" name="Rectangle-709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6" name="Rectangle-710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7" name="Rectangle-711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8" name="Rectangle-712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49" name="Freeform-713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7450" name="Rectangle-714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1" name="Rectangle-715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2" name="Rectangle-716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3" name="Rectangle-717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4" name="Rectangle-718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5" name="Rectangle-719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6" name="Rectangle-720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7" name="Rectangle-721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8" name="Rectangle-722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59" name="Rectangle-723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0" name="Rectangle-724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1" name="Rectangle-725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2" name="Rectangle-726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3" name="Rectangle-727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4" name="Rectangle-728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5" name="Rectangle-729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6" name="Rectangle-730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7" name="Rectangle-731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8" name="Rectangle-732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69" name="Rectangle-733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70" name="Rectangle-734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71" name="Rectangle-735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72" name="Rectangle-736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73" name="Rectangle-737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7474" name="Rectangle-738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1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11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1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1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1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1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237" grpId="0" animBg="1"/>
      <p:bldP spid="117238" grpId="0" animBg="1"/>
      <p:bldP spid="1173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80852"/>
            <a:ext cx="8817429" cy="758952"/>
          </a:xfrm>
        </p:spPr>
        <p:txBody>
          <a:bodyPr vert="horz" anchor="b">
            <a:normAutofit fontScale="90000"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Noms associés aux comptes d'utilisateurs de domaine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120875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89350"/>
              </p:ext>
            </p:extLst>
          </p:nvPr>
        </p:nvGraphicFramePr>
        <p:xfrm>
          <a:off x="182880" y="1280160"/>
          <a:ext cx="8804366" cy="5408023"/>
        </p:xfrm>
        <a:graphic>
          <a:graphicData uri="http://schemas.openxmlformats.org/drawingml/2006/table">
            <a:tbl>
              <a:tblPr/>
              <a:tblGrid>
                <a:gridCol w="3304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9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600" b="1" i="1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Nom</a:t>
                      </a:r>
                      <a:r>
                        <a:rPr kumimoji="0" lang="en-IE" altLang="zh-CN" sz="2600" b="1" i="1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600" b="1" i="1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600" b="1" i="1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Exemple</a:t>
                      </a:r>
                      <a:r>
                        <a:rPr kumimoji="0" lang="en-IE" altLang="zh-CN" sz="2600" b="1" i="1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600" b="1" i="1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0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Nom d'ouverture de session d'utilisateur</a:t>
                      </a:r>
                      <a:r>
                        <a:rPr kumimoji="0" lang="en-I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UserSri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67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Nom d'ouverture de session pré-Win 2000</a:t>
                      </a:r>
                      <a:r>
                        <a:rPr kumimoji="0" lang="en-I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BTSSRI\</a:t>
                      </a:r>
                      <a:r>
                        <a:rPr kumimoji="0" lang="fr-F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UserS</a:t>
                      </a:r>
                      <a:r>
                        <a:rPr kumimoji="0" lang="en-IE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ri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92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Nom principal d'ouverture </a:t>
                      </a:r>
                      <a:b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</a:br>
                      <a: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 session d'utilisateur</a:t>
                      </a:r>
                      <a:r>
                        <a:rPr kumimoji="0" lang="en-I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UserSri@BTSSRI.net</a:t>
                      </a:r>
                      <a:r>
                        <a:rPr kumimoji="0" lang="en-I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Nom unique LDAP</a:t>
                      </a:r>
                      <a:r>
                        <a:rPr kumimoji="0" lang="en-I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CN=</a:t>
                      </a:r>
                      <a:r>
                        <a:rPr kumimoji="0" lang="fr-F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UserSri,CN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fr-F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users,dc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fr-F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BTSSRI,dc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=net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-2"/>
          <p:cNvSpPr>
            <a:spLocks noGrp="1" noChangeArrowheads="1"/>
          </p:cNvSpPr>
          <p:nvPr>
            <p:ph type="title"/>
          </p:nvPr>
        </p:nvSpPr>
        <p:spPr>
          <a:xfrm>
            <a:off x="185057" y="247605"/>
            <a:ext cx="8789126" cy="684212"/>
          </a:xfrm>
        </p:spPr>
        <p:txBody>
          <a:bodyPr vert="horz" anchor="b"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Options de mot de passe utilisateur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127024" name="Group 48"/>
          <p:cNvGraphicFramePr>
            <a:graphicFrameLocks noGrp="1"/>
          </p:cNvGraphicFramePr>
          <p:nvPr>
            <p:ph type="tbl" idx="1"/>
          </p:nvPr>
        </p:nvGraphicFramePr>
        <p:xfrm>
          <a:off x="195943" y="1447799"/>
          <a:ext cx="8752114" cy="4966063"/>
        </p:xfrm>
        <a:graphic>
          <a:graphicData uri="http://schemas.openxmlformats.org/drawingml/2006/table">
            <a:tbl>
              <a:tblPr/>
              <a:tblGrid>
                <a:gridCol w="3370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Options de compte</a:t>
                      </a:r>
                      <a:r>
                        <a:rPr kumimoji="0" lang="en-IE" altLang="zh-CN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Description</a:t>
                      </a:r>
                      <a:r>
                        <a:rPr kumimoji="0" lang="en-IE" altLang="zh-CN" sz="24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7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L'utilisateur doit changer le mot  de passe à la prochaine ouverture  de session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Les utilisateurs doivent modifier leur mot de passe la prochaine fois qu'ils ouvrent une session sur le réseau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L'utilisateur ne peut pas changer de mot de passe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Un utilisateur ne possède pas les autorisations pour changer son mot de passe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3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Le mot de passe n'expire jamais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Le mot de passe d'un utilisateur ne peut pas expirer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5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Le compte est désactivé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Un utilisateur ne peut pas ouvrir de session avec le compte sélectionné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515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3912" y="1288473"/>
            <a:ext cx="6389820" cy="537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05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-2"/>
          <p:cNvSpPr>
            <a:spLocks noGrp="1" noChangeArrowheads="1"/>
          </p:cNvSpPr>
          <p:nvPr>
            <p:ph type="title"/>
          </p:nvPr>
        </p:nvSpPr>
        <p:spPr>
          <a:xfrm>
            <a:off x="195941" y="280852"/>
            <a:ext cx="8791303" cy="758952"/>
          </a:xfrm>
        </p:spPr>
        <p:txBody>
          <a:bodyPr vert="horz" anchor="b">
            <a:normAutofit fontScale="90000"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Recommandations pour la création de comptes d'utilisateurs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5172" name="AutoShape-4"/>
          <p:cNvSpPr>
            <a:spLocks noChangeArrowheads="1"/>
          </p:cNvSpPr>
          <p:nvPr/>
        </p:nvSpPr>
        <p:spPr bwMode="auto">
          <a:xfrm>
            <a:off x="182880" y="1244600"/>
            <a:ext cx="8791303" cy="2411413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85000"/>
              </a:lnSpc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Recommandations pour la création de comptes d'utilisateurs locaux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algn="l"/>
            <a:endParaRPr lang="en-US" b="0" dirty="0"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5173" name="AutoShape-5"/>
          <p:cNvSpPr>
            <a:spLocks noChangeArrowheads="1"/>
          </p:cNvSpPr>
          <p:nvPr/>
        </p:nvSpPr>
        <p:spPr bwMode="auto">
          <a:xfrm>
            <a:off x="274320" y="1984375"/>
            <a:ext cx="8543109" cy="7048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N'activez pas le compte Invité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5174" name="AutoShape-6"/>
          <p:cNvSpPr>
            <a:spLocks noChangeArrowheads="1"/>
          </p:cNvSpPr>
          <p:nvPr/>
        </p:nvSpPr>
        <p:spPr bwMode="auto">
          <a:xfrm>
            <a:off x="274320" y="2794000"/>
            <a:ext cx="8543109" cy="7048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Limitez le nombre de personnes qui peuvent ouvrir une session locale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5176" name="AutoShape-8"/>
          <p:cNvSpPr>
            <a:spLocks noChangeArrowheads="1"/>
          </p:cNvSpPr>
          <p:nvPr/>
        </p:nvSpPr>
        <p:spPr bwMode="auto">
          <a:xfrm>
            <a:off x="169817" y="3751263"/>
            <a:ext cx="8804365" cy="2449512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85000"/>
              </a:lnSpc>
            </a:pP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Recommandations pour la création de comptes d'utilisateurs de domaine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>
              <a:ea typeface="SimSun" pitchFamily="2" charset="-122"/>
              <a:cs typeface="Times New Roman" pitchFamily="18" charset="0"/>
            </a:endParaRPr>
          </a:p>
          <a:p>
            <a:pPr algn="l"/>
            <a:endParaRPr lang="en-US" sz="2400" b="0"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5177" name="AutoShape-9"/>
          <p:cNvSpPr>
            <a:spLocks noChangeArrowheads="1"/>
          </p:cNvSpPr>
          <p:nvPr/>
        </p:nvSpPr>
        <p:spPr bwMode="auto">
          <a:xfrm>
            <a:off x="287383" y="4484688"/>
            <a:ext cx="8477794" cy="6699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Désactivez les comptes qui ne seront pas immédiatement utilisés</a:t>
            </a:r>
            <a:endParaRPr lang="en-US" sz="20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5178" name="AutoShape-10"/>
          <p:cNvSpPr>
            <a:spLocks noChangeArrowheads="1"/>
          </p:cNvSpPr>
          <p:nvPr/>
        </p:nvSpPr>
        <p:spPr bwMode="auto">
          <a:xfrm>
            <a:off x="287383" y="5267325"/>
            <a:ext cx="8477794" cy="8223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Exigez des utilisateurs qu'ils changent leurs mots de passe lors de l'ouverture de leur première session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animBg="1"/>
      <p:bldP spid="135173" grpId="0" animBg="1"/>
      <p:bldP spid="135174" grpId="0" animBg="1"/>
      <p:bldP spid="135176" grpId="0" animBg="1"/>
      <p:bldP spid="135177" grpId="0" animBg="1"/>
      <p:bldP spid="1351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-2"/>
          <p:cNvSpPr>
            <a:spLocks noGrp="1" noChangeArrowheads="1"/>
          </p:cNvSpPr>
          <p:nvPr>
            <p:ph type="title"/>
          </p:nvPr>
        </p:nvSpPr>
        <p:spPr>
          <a:xfrm>
            <a:off x="158931" y="260668"/>
            <a:ext cx="8815251" cy="68421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comptes d'ordinateurs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39267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156755" y="2265217"/>
            <a:ext cx="8987245" cy="2098964"/>
          </a:xfrm>
          <a:noFill/>
          <a:ln/>
        </p:spPr>
        <p:txBody>
          <a:bodyPr>
            <a:normAutofit/>
          </a:bodyPr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II identifie un ordinateur dans un domaine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Il fournit un moyen d'authentifier et d'auditer l'accès des ordinateurs au réseau ainsi qu'aux ressources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du domaine</a:t>
            </a:r>
            <a:endParaRPr lang="en-US" dirty="0"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-2"/>
          <p:cNvSpPr>
            <a:spLocks noGrp="1" noChangeArrowheads="1"/>
          </p:cNvSpPr>
          <p:nvPr>
            <p:ph type="title"/>
          </p:nvPr>
        </p:nvSpPr>
        <p:spPr>
          <a:xfrm>
            <a:off x="183670" y="409901"/>
            <a:ext cx="8791303" cy="68421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Intérêt de la création d'un compte d'ordinateur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41315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418011" y="1447800"/>
            <a:ext cx="8464732" cy="4694238"/>
          </a:xfrm>
        </p:spPr>
        <p:txBody>
          <a:bodyPr/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Sécurité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marL="504825" lvl="1" indent="-47625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Authentification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marL="504825" lvl="1" indent="-47625"/>
            <a:r>
              <a:rPr lang="fr-FR" altLang="zh-CN" dirty="0" err="1">
                <a:solidFill>
                  <a:srgbClr val="000000"/>
                </a:solidFill>
                <a:ea typeface="SimSun" pitchFamily="2" charset="-122"/>
              </a:rPr>
              <a:t>IPSec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marL="504825" lvl="1" indent="-47625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Audit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Administration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marL="504825" lvl="1" indent="-47625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Fonctions de Active Directory :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marL="854075" lvl="2" indent="0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Déploiement de logiciels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marL="854075" lvl="2" indent="0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Gestion des Bureaux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marL="504825" lvl="1" indent="-47625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Inventaire matériel et logiciel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28600"/>
            <a:ext cx="8817429" cy="758952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Emplacement de création des comptes d'ordinateurs dans un domaine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6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143382" name="Picture 22" descr="2144A02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219200"/>
            <a:ext cx="8961120" cy="5455920"/>
          </a:xfrm>
          <a:noFill/>
          <a:ln/>
        </p:spPr>
      </p:pic>
      <p:sp>
        <p:nvSpPr>
          <p:cNvPr id="143365" name="Rectangle-5"/>
          <p:cNvSpPr>
            <a:spLocks noChangeArrowheads="1"/>
          </p:cNvSpPr>
          <p:nvPr/>
        </p:nvSpPr>
        <p:spPr bwMode="auto">
          <a:xfrm>
            <a:off x="505541" y="2825344"/>
            <a:ext cx="1025525" cy="282575"/>
          </a:xfrm>
          <a:prstGeom prst="rect">
            <a:avLst/>
          </a:prstGeom>
          <a:noFill/>
          <a:ln w="3810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43366" name="Rectangle-6"/>
          <p:cNvSpPr>
            <a:spLocks noChangeArrowheads="1"/>
          </p:cNvSpPr>
          <p:nvPr/>
        </p:nvSpPr>
        <p:spPr bwMode="auto">
          <a:xfrm>
            <a:off x="492478" y="3730809"/>
            <a:ext cx="1025525" cy="282575"/>
          </a:xfrm>
          <a:prstGeom prst="rect">
            <a:avLst/>
          </a:prstGeom>
          <a:noFill/>
          <a:ln w="3810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43367" name="Line-7"/>
          <p:cNvSpPr>
            <a:spLocks noChangeShapeType="1"/>
          </p:cNvSpPr>
          <p:nvPr/>
        </p:nvSpPr>
        <p:spPr bwMode="auto">
          <a:xfrm>
            <a:off x="1529479" y="2968219"/>
            <a:ext cx="151288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43368" name="Line-8"/>
          <p:cNvSpPr>
            <a:spLocks noChangeShapeType="1"/>
          </p:cNvSpPr>
          <p:nvPr/>
        </p:nvSpPr>
        <p:spPr bwMode="auto">
          <a:xfrm>
            <a:off x="1516416" y="3878447"/>
            <a:ext cx="151288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43369" name="AutoShape-9"/>
          <p:cNvSpPr>
            <a:spLocks noChangeArrowheads="1"/>
          </p:cNvSpPr>
          <p:nvPr/>
        </p:nvSpPr>
        <p:spPr bwMode="auto">
          <a:xfrm>
            <a:off x="2043829" y="2627405"/>
            <a:ext cx="6656034" cy="68079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algn="l">
              <a:lnSpc>
                <a:spcPct val="85000"/>
              </a:lnSpc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ordinateurs qui rejoignent le domaine sont créés dans le conteneur Computers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43370" name="AutoShape-10"/>
          <p:cNvSpPr>
            <a:spLocks noChangeArrowheads="1"/>
          </p:cNvSpPr>
          <p:nvPr/>
        </p:nvSpPr>
        <p:spPr bwMode="auto">
          <a:xfrm>
            <a:off x="2030766" y="3550333"/>
            <a:ext cx="6669767" cy="68079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algn="l">
              <a:lnSpc>
                <a:spcPct val="85000"/>
              </a:lnSpc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comptes d'ordinateurs peuvent être déplacés ou créés dans d'autres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unités d'organisation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6" grpId="0" animBg="1"/>
      <p:bldP spid="143368" grpId="0" animBg="1"/>
      <p:bldP spid="1433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28600"/>
            <a:ext cx="8804366" cy="758952"/>
          </a:xfrm>
        </p:spPr>
        <p:txBody>
          <a:bodyPr>
            <a:normAutofit fontScale="90000"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Quand modifier les propriétés des comptes d'utilisateurs et des comptes d'ordinateurs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6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2295" name="AutoShape-7"/>
          <p:cNvSpPr>
            <a:spLocks noChangeArrowheads="1"/>
          </p:cNvSpPr>
          <p:nvPr/>
        </p:nvSpPr>
        <p:spPr bwMode="auto">
          <a:xfrm>
            <a:off x="182880" y="1384300"/>
            <a:ext cx="8776560" cy="2649538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Modifiez les propriétés des comptes d'utilisateur pour :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2296" name="AutoShape-8"/>
          <p:cNvSpPr>
            <a:spLocks noChangeArrowheads="1"/>
          </p:cNvSpPr>
          <p:nvPr/>
        </p:nvSpPr>
        <p:spPr bwMode="auto">
          <a:xfrm>
            <a:off x="235131" y="2032000"/>
            <a:ext cx="8608423" cy="147453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faciliter l'utilisation des fonctionnalités de recherche pour trouver des utilisateurs </a:t>
            </a:r>
            <a:endParaRPr lang="en-US" sz="2200" dirty="0">
              <a:ea typeface="SimSun" pitchFamily="2" charset="-122"/>
              <a:cs typeface="Times New Roman" pitchFamily="18" charset="0"/>
            </a:endParaRPr>
          </a:p>
          <a:p>
            <a:pPr marL="231775" indent="-23177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reproduire la hiérarchie organisationnelle de la société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ea typeface="SimSun" pitchFamily="2" charset="-122"/>
              <a:cs typeface="Times New Roman" pitchFamily="18" charset="0"/>
            </a:endParaRPr>
          </a:p>
          <a:p>
            <a:pPr marL="231775" indent="-23177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déterminer l'appartenance à un groupe d'un compte d'utilisateur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2297" name="AutoShape-9"/>
          <p:cNvSpPr>
            <a:spLocks noChangeArrowheads="1"/>
          </p:cNvSpPr>
          <p:nvPr/>
        </p:nvSpPr>
        <p:spPr bwMode="auto">
          <a:xfrm>
            <a:off x="169818" y="4186238"/>
            <a:ext cx="8791302" cy="1992312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Modifiez les propriétés des comptes d'ordinateur pour :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2298" name="AutoShape-10"/>
          <p:cNvSpPr>
            <a:spLocks noChangeArrowheads="1"/>
          </p:cNvSpPr>
          <p:nvPr/>
        </p:nvSpPr>
        <p:spPr bwMode="auto">
          <a:xfrm>
            <a:off x="274321" y="4865688"/>
            <a:ext cx="8608422" cy="78432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faciliter le suivi des ressources (propriété Emplacement) </a:t>
            </a:r>
            <a:endParaRPr lang="en-US" sz="2200">
              <a:ea typeface="SimSun" pitchFamily="2" charset="-122"/>
              <a:cs typeface="Times New Roman" pitchFamily="18" charset="0"/>
            </a:endParaRPr>
          </a:p>
          <a:p>
            <a:pPr marL="231775" indent="-231775" algn="l">
              <a:lnSpc>
                <a:spcPct val="85000"/>
              </a:lnSpc>
              <a:spcBef>
                <a:spcPct val="3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renseigner qui assure l'administration d'un ordinateur (propriété Géré par)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12299" name="Picture-11" descr="UserAccount_UserAccountAuthenticatedB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14154" y="1288869"/>
            <a:ext cx="952500" cy="915988"/>
          </a:xfrm>
          <a:prstGeom prst="rect">
            <a:avLst/>
          </a:prstGeom>
          <a:noFill/>
        </p:spPr>
      </p:pic>
      <p:pic>
        <p:nvPicPr>
          <p:cNvPr id="12300" name="Picture-12" descr="ComputerAccount_Authenticated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02316" y="4011523"/>
            <a:ext cx="928687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6" grpId="0" animBg="1"/>
      <p:bldP spid="12297" grpId="0" animBg="1"/>
      <p:bldP spid="122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Propriétés des comptes d'utilisateurs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29286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8419" y="1181875"/>
            <a:ext cx="5165581" cy="5518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-4" descr="UserAccount_UserAccountAuthenticatedB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22674" y="5522138"/>
            <a:ext cx="1200150" cy="1154112"/>
          </a:xfrm>
          <a:prstGeom prst="rect">
            <a:avLst/>
          </a:prstGeom>
          <a:noFill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EFA5E8-2E18-5544-1130-CBD4BCB95009}"/>
              </a:ext>
            </a:extLst>
          </p:cNvPr>
          <p:cNvSpPr txBox="1"/>
          <p:nvPr/>
        </p:nvSpPr>
        <p:spPr>
          <a:xfrm>
            <a:off x="301752" y="2100683"/>
            <a:ext cx="35226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dirty="0"/>
              <a:t>Les attributs de compte d’utilisateur contrôlent la façon dont le compte d’utilisateur interagit avec l’environnement.</a:t>
            </a:r>
          </a:p>
          <a:p>
            <a:pPr algn="l"/>
            <a:endParaRPr lang="fr-FR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-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Propriétés des comptes d'ordinateurs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16388" name="Picture-4" descr="ComputerAccount_Authenticated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38461" y="4171085"/>
            <a:ext cx="1206500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0817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7964" y="1266392"/>
            <a:ext cx="5234853" cy="5487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28599"/>
            <a:ext cx="8791303" cy="88174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2.  Création d'un modèle de compte d'utilisateur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53603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75626" y="2363071"/>
            <a:ext cx="8503920" cy="2091363"/>
          </a:xfrm>
        </p:spPr>
        <p:txBody>
          <a:bodyPr>
            <a:normAutofit/>
          </a:bodyPr>
          <a:lstStyle/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d'un modèle de compte d'utilisateur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Propriétés d'un modèle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Instructions de création de modèles de comptes d'utilisateurs</a:t>
            </a:r>
            <a:r>
              <a:rPr lang="en-IE" altLang="zh-CN" sz="25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5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AutoShape-2"/>
          <p:cNvSpPr>
            <a:spLocks noChangeArrowheads="1"/>
          </p:cNvSpPr>
          <p:nvPr/>
        </p:nvSpPr>
        <p:spPr bwMode="auto">
          <a:xfrm>
            <a:off x="3467100" y="4494266"/>
            <a:ext cx="4551363" cy="1489075"/>
          </a:xfrm>
          <a:prstGeom prst="roundRect">
            <a:avLst>
              <a:gd name="adj" fmla="val 16667"/>
            </a:avLst>
          </a:prstGeom>
          <a:solidFill>
            <a:srgbClr val="DEE7F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5651" name="AutoShape-3"/>
          <p:cNvSpPr>
            <a:spLocks noChangeArrowheads="1"/>
          </p:cNvSpPr>
          <p:nvPr/>
        </p:nvSpPr>
        <p:spPr bwMode="auto">
          <a:xfrm>
            <a:off x="942975" y="4494266"/>
            <a:ext cx="1616075" cy="1489075"/>
          </a:xfrm>
          <a:prstGeom prst="roundRect">
            <a:avLst>
              <a:gd name="adj" fmla="val 16667"/>
            </a:avLst>
          </a:prstGeom>
          <a:solidFill>
            <a:srgbClr val="DEE7F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5652" name="Rectangle-4"/>
          <p:cNvSpPr>
            <a:spLocks noGrp="1" noChangeArrowheads="1"/>
          </p:cNvSpPr>
          <p:nvPr>
            <p:ph type="title"/>
          </p:nvPr>
        </p:nvSpPr>
        <p:spPr>
          <a:xfrm>
            <a:off x="198119" y="325982"/>
            <a:ext cx="8776063" cy="68421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d'un modèle de compte d'utilisateur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5653" name="Rectangle-5"/>
          <p:cNvSpPr>
            <a:spLocks noGrp="1" noChangeArrowheads="1"/>
          </p:cNvSpPr>
          <p:nvPr>
            <p:ph type="body" sz="half" idx="1"/>
          </p:nvPr>
        </p:nvSpPr>
        <p:spPr>
          <a:xfrm>
            <a:off x="195943" y="1447800"/>
            <a:ext cx="8778240" cy="4694238"/>
          </a:xfrm>
          <a:noFill/>
          <a:ln/>
        </p:spPr>
        <p:txBody>
          <a:bodyPr/>
          <a:lstStyle/>
          <a:p>
            <a:pPr marL="342900" indent="-342900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Un modèle de compte d'utilisateur est un compte d'utilisateur contenant des propriétés qui s'appliquent aux utilisateurs courants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marL="342900" indent="-342900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modèles de compte d'utilisateur rationalisent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la création de comptes d'utilisateur avec des configurations standard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155654" name="Picture-6" descr="UserAccount_UserAccountC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850" y="4619679"/>
            <a:ext cx="1344613" cy="1290637"/>
          </a:xfrm>
          <a:prstGeom prst="rect">
            <a:avLst/>
          </a:prstGeom>
          <a:noFill/>
        </p:spPr>
      </p:pic>
      <p:pic>
        <p:nvPicPr>
          <p:cNvPr id="155655" name="Picture-7" descr="UserAccount_UserAccountC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4619679"/>
            <a:ext cx="1344612" cy="1290637"/>
          </a:xfrm>
          <a:prstGeom prst="rect">
            <a:avLst/>
          </a:prstGeom>
          <a:noFill/>
        </p:spPr>
      </p:pic>
      <p:pic>
        <p:nvPicPr>
          <p:cNvPr id="155656" name="Picture-8" descr="UserAccount_UserAccountC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8150" y="4619679"/>
            <a:ext cx="1344613" cy="1290637"/>
          </a:xfrm>
          <a:prstGeom prst="rect">
            <a:avLst/>
          </a:prstGeom>
          <a:noFill/>
        </p:spPr>
      </p:pic>
      <p:pic>
        <p:nvPicPr>
          <p:cNvPr id="155657" name="Picture-9" descr="UserAccount_UserAccountC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2638" y="4619679"/>
            <a:ext cx="1344612" cy="1290637"/>
          </a:xfrm>
          <a:prstGeom prst="rect">
            <a:avLst/>
          </a:prstGeom>
          <a:noFill/>
        </p:spPr>
      </p:pic>
      <p:pic>
        <p:nvPicPr>
          <p:cNvPr id="155658" name="Picture-10" descr="UserAccount_UserAccountC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7125" y="4619679"/>
            <a:ext cx="1344613" cy="1290637"/>
          </a:xfrm>
          <a:prstGeom prst="rect">
            <a:avLst/>
          </a:prstGeom>
          <a:noFill/>
        </p:spPr>
      </p:pic>
      <p:sp>
        <p:nvSpPr>
          <p:cNvPr id="155659" name="AutoShape-11"/>
          <p:cNvSpPr>
            <a:spLocks noChangeArrowheads="1"/>
          </p:cNvSpPr>
          <p:nvPr/>
        </p:nvSpPr>
        <p:spPr bwMode="auto">
          <a:xfrm>
            <a:off x="844550" y="6053191"/>
            <a:ext cx="1849438" cy="66675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>
            <a:spAutoFit/>
          </a:bodyPr>
          <a:lstStyle/>
          <a:p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Modèle de compte</a:t>
            </a:r>
            <a:b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d'utilisateur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5660" name="Freeform-12"/>
          <p:cNvSpPr>
            <a:spLocks/>
          </p:cNvSpPr>
          <p:nvPr/>
        </p:nvSpPr>
        <p:spPr bwMode="auto">
          <a:xfrm>
            <a:off x="2416175" y="5070529"/>
            <a:ext cx="1344613" cy="398462"/>
          </a:xfrm>
          <a:custGeom>
            <a:avLst/>
            <a:gdLst/>
            <a:ahLst/>
            <a:cxnLst>
              <a:cxn ang="0">
                <a:pos x="571" y="59"/>
              </a:cxn>
              <a:cxn ang="0">
                <a:pos x="566" y="30"/>
              </a:cxn>
              <a:cxn ang="0">
                <a:pos x="561" y="0"/>
              </a:cxn>
              <a:cxn ang="0">
                <a:pos x="703" y="53"/>
              </a:cxn>
              <a:cxn ang="0">
                <a:pos x="800" y="91"/>
              </a:cxn>
              <a:cxn ang="0">
                <a:pos x="843" y="108"/>
              </a:cxn>
              <a:cxn ang="0">
                <a:pos x="832" y="113"/>
              </a:cxn>
              <a:cxn ang="0">
                <a:pos x="800" y="124"/>
              </a:cxn>
              <a:cxn ang="0">
                <a:pos x="703" y="158"/>
              </a:cxn>
              <a:cxn ang="0">
                <a:pos x="561" y="207"/>
              </a:cxn>
              <a:cxn ang="0">
                <a:pos x="571" y="149"/>
              </a:cxn>
              <a:cxn ang="0">
                <a:pos x="0" y="108"/>
              </a:cxn>
              <a:cxn ang="0">
                <a:pos x="571" y="59"/>
              </a:cxn>
            </a:cxnLst>
            <a:rect l="0" t="0" r="r" b="b"/>
            <a:pathLst>
              <a:path w="843" h="207">
                <a:moveTo>
                  <a:pt x="571" y="59"/>
                </a:moveTo>
                <a:lnTo>
                  <a:pt x="566" y="30"/>
                </a:lnTo>
                <a:lnTo>
                  <a:pt x="561" y="0"/>
                </a:lnTo>
                <a:lnTo>
                  <a:pt x="703" y="53"/>
                </a:lnTo>
                <a:lnTo>
                  <a:pt x="800" y="91"/>
                </a:lnTo>
                <a:lnTo>
                  <a:pt x="843" y="108"/>
                </a:lnTo>
                <a:lnTo>
                  <a:pt x="832" y="113"/>
                </a:lnTo>
                <a:lnTo>
                  <a:pt x="800" y="124"/>
                </a:lnTo>
                <a:lnTo>
                  <a:pt x="703" y="158"/>
                </a:lnTo>
                <a:lnTo>
                  <a:pt x="561" y="207"/>
                </a:lnTo>
                <a:lnTo>
                  <a:pt x="571" y="149"/>
                </a:lnTo>
                <a:lnTo>
                  <a:pt x="0" y="108"/>
                </a:lnTo>
                <a:lnTo>
                  <a:pt x="571" y="5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55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55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nimBg="1"/>
      <p:bldP spid="155651" grpId="0" animBg="1"/>
      <p:bldP spid="155659" grpId="0" animBg="1"/>
      <p:bldP spid="1556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-2"/>
          <p:cNvSpPr>
            <a:spLocks noGrp="1" noChangeArrowheads="1"/>
          </p:cNvSpPr>
          <p:nvPr>
            <p:ph type="title"/>
          </p:nvPr>
        </p:nvSpPr>
        <p:spPr>
          <a:xfrm>
            <a:off x="185057" y="286794"/>
            <a:ext cx="8789126" cy="684212"/>
          </a:xfrm>
        </p:spPr>
        <p:txBody>
          <a:bodyPr vert="horz" anchor="b"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Propriétés d’un modèle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157739" name="Group 43"/>
          <p:cNvGraphicFramePr>
            <a:graphicFrameLocks noGrp="1"/>
          </p:cNvGraphicFramePr>
          <p:nvPr/>
        </p:nvGraphicFramePr>
        <p:xfrm>
          <a:off x="156754" y="1376363"/>
          <a:ext cx="8817429" cy="3940220"/>
        </p:xfrm>
        <a:graphic>
          <a:graphicData uri="http://schemas.openxmlformats.org/drawingml/2006/table">
            <a:tbl>
              <a:tblPr/>
              <a:tblGrid>
                <a:gridCol w="218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8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Onglet</a:t>
                      </a:r>
                      <a:r>
                        <a:rPr kumimoji="0" lang="en-I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Propriétés copiées</a:t>
                      </a:r>
                      <a:r>
                        <a:rPr kumimoji="0" lang="en-I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Adresse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Toutes les propriétés, à l'exception de </a:t>
                      </a: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Adresse</a:t>
                      </a:r>
                      <a:r>
                        <a:rPr kumimoji="0" lang="fr-FR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, sont copiées</a:t>
                      </a:r>
                      <a:r>
                        <a:rPr kumimoji="0" lang="en-IE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9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Compte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Toutes les propriétés, à l'exception de </a:t>
                      </a:r>
                      <a:r>
                        <a:rPr kumimoji="0" lang="fr-FR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Nom d'ouverture de session de l’utilisateur</a:t>
                      </a: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, sont copiées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7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Profil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Toutes les propriétés, à l'exception des entrées </a:t>
                      </a: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Chemin du profil </a:t>
                      </a: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et </a:t>
                      </a: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Dossier de base</a:t>
                      </a: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, reflètent le nom d'ouverture de session du nouvel utilisateur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Organisation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Toutes les propriétés à l'exception de </a:t>
                      </a: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Titre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 de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Toutes les propriétés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7728" name="Picture-32" descr="UserAccount_UserAccountC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93479" y="5306926"/>
            <a:ext cx="1487487" cy="14271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-2"/>
          <p:cNvSpPr>
            <a:spLocks noGrp="1" noChangeArrowheads="1"/>
          </p:cNvSpPr>
          <p:nvPr>
            <p:ph type="title"/>
          </p:nvPr>
        </p:nvSpPr>
        <p:spPr>
          <a:xfrm>
            <a:off x="197248" y="306977"/>
            <a:ext cx="8763871" cy="758952"/>
          </a:xfrm>
        </p:spPr>
        <p:txBody>
          <a:bodyPr vert="horz" anchor="b"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Instructions de création de modèles de comptes d'utilisateurs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9748" name="AutoShape-4"/>
          <p:cNvSpPr>
            <a:spLocks noChangeArrowheads="1"/>
          </p:cNvSpPr>
          <p:nvPr/>
        </p:nvSpPr>
        <p:spPr bwMode="auto">
          <a:xfrm>
            <a:off x="195944" y="1303338"/>
            <a:ext cx="8765176" cy="4829175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endParaRPr lang="en-US" sz="2400"/>
          </a:p>
          <a:p>
            <a:pPr algn="l"/>
            <a:endParaRPr lang="en-US" sz="2400" b="0"/>
          </a:p>
        </p:txBody>
      </p:sp>
      <p:sp>
        <p:nvSpPr>
          <p:cNvPr id="159749" name="AutoShape-5"/>
          <p:cNvSpPr>
            <a:spLocks noChangeArrowheads="1"/>
          </p:cNvSpPr>
          <p:nvPr/>
        </p:nvSpPr>
        <p:spPr bwMode="auto">
          <a:xfrm>
            <a:off x="334227" y="1460500"/>
            <a:ext cx="8522390" cy="81756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Créez une classification distincte pour chaque département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9750" name="AutoShape-6"/>
          <p:cNvSpPr>
            <a:spLocks noChangeArrowheads="1"/>
          </p:cNvSpPr>
          <p:nvPr/>
        </p:nvSpPr>
        <p:spPr bwMode="auto">
          <a:xfrm>
            <a:off x="334227" y="2343150"/>
            <a:ext cx="8522390" cy="81756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Créez un groupe distinct pour les employés à court terme et temporaires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9751" name="AutoShape-7"/>
          <p:cNvSpPr>
            <a:spLocks noChangeArrowheads="1"/>
          </p:cNvSpPr>
          <p:nvPr/>
        </p:nvSpPr>
        <p:spPr bwMode="auto">
          <a:xfrm>
            <a:off x="334227" y="3243263"/>
            <a:ext cx="8522390" cy="7717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Définissez les dates d'expiration des comptes d'utilisateurs pour les employés à court terme et temporaires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9752" name="AutoShape-8"/>
          <p:cNvSpPr>
            <a:spLocks noChangeArrowheads="1"/>
          </p:cNvSpPr>
          <p:nvPr/>
        </p:nvSpPr>
        <p:spPr bwMode="auto">
          <a:xfrm>
            <a:off x="334227" y="4104690"/>
            <a:ext cx="8522390" cy="81756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Désactivez le modèle de compte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59753" name="AutoShape-9"/>
          <p:cNvSpPr>
            <a:spLocks noChangeArrowheads="1"/>
          </p:cNvSpPr>
          <p:nvPr/>
        </p:nvSpPr>
        <p:spPr bwMode="auto">
          <a:xfrm>
            <a:off x="334227" y="5003215"/>
            <a:ext cx="8522390" cy="81756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Identifiez le modèle de compte</a:t>
            </a:r>
            <a:r>
              <a:rPr lang="en-IE" altLang="zh-CN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9" grpId="0" animBg="1"/>
      <p:bldP spid="159750" grpId="0" animBg="1"/>
      <p:bldP spid="159751" grpId="0" animBg="1"/>
      <p:bldP spid="159752" grpId="0" animBg="1"/>
      <p:bldP spid="1597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28600"/>
            <a:ext cx="8791303" cy="75895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3. Activation et déverrouillage des comptes d'utilisateurs et des comptes d'ordinateurs</a:t>
            </a:r>
            <a:r>
              <a:rPr lang="en-IE" altLang="zh-CN" sz="30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3000" b="1" dirty="0">
              <a:solidFill>
                <a:srgbClr val="000000"/>
              </a:solidFill>
            </a:endParaRPr>
          </a:p>
        </p:txBody>
      </p:sp>
      <p:sp>
        <p:nvSpPr>
          <p:cNvPr id="2150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Intérêt de l'activation et de la désactivation des comptes d'utilisateurs et des comptes d'ordinateurs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Procédure d'activation et de désactivation des comptes d'utilisateurs et des comptes d'ordinateurs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comptes d'utilisateurs verrouillés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Procédure de déverrouillage des comptes d'utilisateurs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-2"/>
          <p:cNvSpPr>
            <a:spLocks noGrp="1" noChangeArrowheads="1"/>
          </p:cNvSpPr>
          <p:nvPr>
            <p:ph type="title"/>
          </p:nvPr>
        </p:nvSpPr>
        <p:spPr>
          <a:xfrm>
            <a:off x="182880" y="152399"/>
            <a:ext cx="8778240" cy="1264643"/>
          </a:xfrm>
        </p:spPr>
        <p:txBody>
          <a:bodyPr vert="horz" anchor="b">
            <a:noAutofit/>
          </a:bodyPr>
          <a:lstStyle/>
          <a:p>
            <a:r>
              <a:rPr lang="fr-FR" altLang="zh-CN" sz="28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Intérêt de l'activation et de la désactivation des comptes d'utilisateurs et des comptes d'ordinateurs</a:t>
            </a:r>
            <a:r>
              <a:rPr lang="en-IE" altLang="zh-CN" sz="28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8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27852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689" y="1778591"/>
            <a:ext cx="8843730" cy="4165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-2"/>
          <p:cNvSpPr>
            <a:spLocks noGrp="1" noChangeArrowheads="1"/>
          </p:cNvSpPr>
          <p:nvPr>
            <p:ph type="title"/>
          </p:nvPr>
        </p:nvSpPr>
        <p:spPr>
          <a:xfrm>
            <a:off x="171994" y="384571"/>
            <a:ext cx="8789126" cy="684212"/>
          </a:xfrm>
        </p:spPr>
        <p:txBody>
          <a:bodyPr vert="horz" anchor="b"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comptes d'utilisateurs verrouillés</a:t>
            </a:r>
            <a:r>
              <a:rPr lang="en-IE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26627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65313" y="1290638"/>
            <a:ext cx="4807131" cy="503078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 seuil de verrouillage de compte :</a:t>
            </a:r>
            <a:r>
              <a:rPr lang="en-IE" altLang="zh-CN" sz="17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700" dirty="0">
              <a:ea typeface="SimSun" pitchFamily="2" charset="-122"/>
              <a:cs typeface="Times New Roman" pitchFamily="18" charset="0"/>
            </a:endParaRPr>
          </a:p>
          <a:p>
            <a:pPr marL="504825" lvl="1" indent="-47625">
              <a:lnSpc>
                <a:spcPct val="85000"/>
              </a:lnSpc>
              <a:spcBef>
                <a:spcPct val="30000"/>
              </a:spcBef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Définit le nombre d'échecs d'ouverture de session </a:t>
            </a:r>
            <a:endParaRPr lang="en-US" sz="2000" dirty="0"/>
          </a:p>
          <a:p>
            <a:pPr marL="504825" lvl="1" indent="-47625">
              <a:lnSpc>
                <a:spcPct val="85000"/>
              </a:lnSpc>
              <a:spcBef>
                <a:spcPct val="30000"/>
              </a:spcBef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Empêche les pirates informatiques de deviner les mots de passe d'utilisateur</a:t>
            </a:r>
            <a:endParaRPr lang="en-US" sz="2000" dirty="0"/>
          </a:p>
          <a:p>
            <a:pPr>
              <a:lnSpc>
                <a:spcPct val="80000"/>
              </a:lnSpc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Un compte peut dépasser son seuil de verrouillage par un trop grand nombre d'échecs d'ouverture de session :</a:t>
            </a:r>
            <a:r>
              <a:rPr lang="en-IE" altLang="zh-CN" sz="20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0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  <a:p>
            <a:pPr marL="504825" lvl="1" indent="-47625">
              <a:lnSpc>
                <a:spcPct val="85000"/>
              </a:lnSpc>
              <a:spcBef>
                <a:spcPct val="30000"/>
              </a:spcBef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A l'écran d'ouverture de session </a:t>
            </a:r>
            <a:r>
              <a:rPr lang="en-IE" altLang="zh-CN" sz="20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000" dirty="0"/>
          </a:p>
          <a:p>
            <a:pPr marL="504825" lvl="1" indent="-47625">
              <a:lnSpc>
                <a:spcPct val="85000"/>
              </a:lnSpc>
              <a:spcBef>
                <a:spcPct val="30000"/>
              </a:spcBef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A un écran de veille protégé par mot de passe </a:t>
            </a:r>
            <a:endParaRPr lang="en-US" sz="2000" dirty="0"/>
          </a:p>
          <a:p>
            <a:pPr marL="504825" lvl="1" indent="-47625">
              <a:lnSpc>
                <a:spcPct val="85000"/>
              </a:lnSpc>
              <a:spcBef>
                <a:spcPct val="30000"/>
              </a:spcBef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Lors de l'accès à des ressources réseau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6633" name="Picture 9" descr="2144A023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864376" y="1701800"/>
            <a:ext cx="4216400" cy="4014788"/>
          </a:xfrm>
          <a:noFill/>
          <a:ln/>
        </p:spPr>
      </p:pic>
      <p:sp>
        <p:nvSpPr>
          <p:cNvPr id="26629" name="Oval-5"/>
          <p:cNvSpPr>
            <a:spLocks noChangeArrowheads="1"/>
          </p:cNvSpPr>
          <p:nvPr/>
        </p:nvSpPr>
        <p:spPr bwMode="auto">
          <a:xfrm>
            <a:off x="4846914" y="3398838"/>
            <a:ext cx="1535112" cy="406400"/>
          </a:xfrm>
          <a:prstGeom prst="ellipse">
            <a:avLst/>
          </a:prstGeom>
          <a:noFill/>
          <a:ln w="57150" algn="ctr">
            <a:solidFill>
              <a:srgbClr val="CC0000">
                <a:alpha val="75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4.  Création de groupes</a:t>
            </a:r>
            <a:endParaRPr lang="en-US" b="1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288772" name="Rectangle-4"/>
          <p:cNvSpPr>
            <a:spLocks noGrp="1" noChangeArrowheads="1"/>
          </p:cNvSpPr>
          <p:nvPr>
            <p:ph type="body" idx="1"/>
          </p:nvPr>
        </p:nvSpPr>
        <p:spPr>
          <a:xfrm>
            <a:off x="169817" y="1527048"/>
            <a:ext cx="8804365" cy="4572000"/>
          </a:xfrm>
          <a:noFill/>
        </p:spPr>
        <p:txBody>
          <a:bodyPr>
            <a:normAutofit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niveaux fonctionnels d'un domaine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globaux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universels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de domaine local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locaux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Instructions d'attribution de noms aux groupes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73" name="AutoShape-81"/>
          <p:cNvSpPr>
            <a:spLocks noChangeArrowheads="1"/>
          </p:cNvSpPr>
          <p:nvPr/>
        </p:nvSpPr>
        <p:spPr bwMode="auto">
          <a:xfrm>
            <a:off x="195944" y="2636203"/>
            <a:ext cx="8712924" cy="1706562"/>
          </a:xfrm>
          <a:prstGeom prst="roundRect">
            <a:avLst>
              <a:gd name="adj" fmla="val 1374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89794" name="Rectangle-2"/>
          <p:cNvSpPr>
            <a:spLocks noGrp="1" noChangeArrowheads="1"/>
          </p:cNvSpPr>
          <p:nvPr>
            <p:ph type="title"/>
          </p:nvPr>
        </p:nvSpPr>
        <p:spPr>
          <a:xfrm>
            <a:off x="171993" y="286794"/>
            <a:ext cx="8802189" cy="68421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289795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169817" y="1450295"/>
            <a:ext cx="8817429" cy="835705"/>
          </a:xfrm>
        </p:spPr>
        <p:txBody>
          <a:bodyPr>
            <a:noAutofit/>
          </a:bodyPr>
          <a:lstStyle/>
          <a:p>
            <a:pPr marL="84138" indent="0" algn="ctr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fr-FR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groupes simplifient l'administration par l'attribution d'autorisations d'accès aux ressources</a:t>
            </a:r>
            <a:r>
              <a:rPr lang="en-IE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b="1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289803" name="Rectangle-11"/>
          <p:cNvSpPr>
            <a:spLocks noChangeArrowheads="1"/>
          </p:cNvSpPr>
          <p:nvPr/>
        </p:nvSpPr>
        <p:spPr bwMode="auto">
          <a:xfrm>
            <a:off x="251005" y="4483916"/>
            <a:ext cx="8213725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fr-FR" altLang="zh-CN" sz="26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groupes se caractérisent par l'étendue et le type</a:t>
            </a:r>
            <a:endParaRPr lang="en-US" sz="26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grpSp>
        <p:nvGrpSpPr>
          <p:cNvPr id="2" name="Group-72"/>
          <p:cNvGrpSpPr>
            <a:grpSpLocks/>
          </p:cNvGrpSpPr>
          <p:nvPr/>
        </p:nvGrpSpPr>
        <p:grpSpPr bwMode="auto">
          <a:xfrm>
            <a:off x="1338717" y="2822439"/>
            <a:ext cx="661987" cy="900112"/>
            <a:chOff x="845" y="1038"/>
            <a:chExt cx="423" cy="575"/>
          </a:xfrm>
        </p:grpSpPr>
        <p:pic>
          <p:nvPicPr>
            <p:cNvPr id="289807" name="Picture-15" descr="User_UserB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45" y="1038"/>
              <a:ext cx="253" cy="575"/>
            </a:xfrm>
            <a:prstGeom prst="rect">
              <a:avLst/>
            </a:prstGeom>
            <a:noFill/>
          </p:spPr>
        </p:pic>
        <p:pic>
          <p:nvPicPr>
            <p:cNvPr id="289810" name="Picture-18" descr="Security_Permissions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89" y="1217"/>
              <a:ext cx="279" cy="395"/>
            </a:xfrm>
            <a:prstGeom prst="rect">
              <a:avLst/>
            </a:prstGeom>
            <a:noFill/>
          </p:spPr>
        </p:pic>
      </p:grpSp>
      <p:sp>
        <p:nvSpPr>
          <p:cNvPr id="289855" name="Rectangle-63"/>
          <p:cNvSpPr>
            <a:spLocks noChangeArrowheads="1"/>
          </p:cNvSpPr>
          <p:nvPr/>
        </p:nvSpPr>
        <p:spPr bwMode="auto">
          <a:xfrm>
            <a:off x="253365" y="5084763"/>
            <a:ext cx="8707755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631825" lvl="1" indent="-174625" algn="l">
              <a:spcBef>
                <a:spcPct val="25000"/>
              </a:spcBef>
              <a:buClr>
                <a:srgbClr val="8DACD0"/>
              </a:buClr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L'étendue</a:t>
            </a: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d'un groupe détermine si le groupe couvre plusieurs domaines ou s'il est limité à un seul domaine</a:t>
            </a:r>
            <a:r>
              <a:rPr lang="en-IE" altLang="zh-CN" sz="2400" b="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400" b="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  <a:p>
            <a:pPr marL="631825" lvl="1" indent="-174625" algn="l">
              <a:spcBef>
                <a:spcPct val="25000"/>
              </a:spcBef>
              <a:buClr>
                <a:srgbClr val="8DACD0"/>
              </a:buClr>
            </a:pP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trois étendues de groupe sont </a:t>
            </a: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global</a:t>
            </a: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, </a:t>
            </a: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domaine local </a:t>
            </a: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et </a:t>
            </a:r>
            <a:r>
              <a:rPr lang="fr-FR" altLang="zh-CN" sz="2400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universel</a:t>
            </a:r>
            <a:r>
              <a:rPr lang="en-IE" altLang="zh-CN" sz="2400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pSp>
        <p:nvGrpSpPr>
          <p:cNvPr id="3" name="Group-73"/>
          <p:cNvGrpSpPr>
            <a:grpSpLocks/>
          </p:cNvGrpSpPr>
          <p:nvPr/>
        </p:nvGrpSpPr>
        <p:grpSpPr bwMode="auto">
          <a:xfrm>
            <a:off x="5148717" y="2435089"/>
            <a:ext cx="1778000" cy="1241425"/>
            <a:chOff x="3529" y="1048"/>
            <a:chExt cx="968" cy="676"/>
          </a:xfrm>
        </p:grpSpPr>
        <p:pic>
          <p:nvPicPr>
            <p:cNvPr id="289813" name="Picture-21" descr="Collection_Group0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29" y="1048"/>
              <a:ext cx="870" cy="676"/>
            </a:xfrm>
            <a:prstGeom prst="rect">
              <a:avLst/>
            </a:prstGeom>
            <a:noFill/>
          </p:spPr>
        </p:pic>
        <p:pic>
          <p:nvPicPr>
            <p:cNvPr id="289804" name="Picture-12" descr="Security_Permissions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218" y="1214"/>
              <a:ext cx="279" cy="395"/>
            </a:xfrm>
            <a:prstGeom prst="rect">
              <a:avLst/>
            </a:prstGeom>
            <a:noFill/>
          </p:spPr>
        </p:pic>
      </p:grpSp>
      <p:sp>
        <p:nvSpPr>
          <p:cNvPr id="289862" name="AutoShape-70"/>
          <p:cNvSpPr>
            <a:spLocks noChangeArrowheads="1"/>
          </p:cNvSpPr>
          <p:nvPr/>
        </p:nvSpPr>
        <p:spPr bwMode="auto">
          <a:xfrm>
            <a:off x="5482092" y="3603489"/>
            <a:ext cx="1009650" cy="287337"/>
          </a:xfrm>
          <a:prstGeom prst="roundRect">
            <a:avLst>
              <a:gd name="adj" fmla="val 12060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 algn="l"/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grpSp>
        <p:nvGrpSpPr>
          <p:cNvPr id="4" name="Group-74"/>
          <p:cNvGrpSpPr>
            <a:grpSpLocks/>
          </p:cNvGrpSpPr>
          <p:nvPr/>
        </p:nvGrpSpPr>
        <p:grpSpPr bwMode="auto">
          <a:xfrm>
            <a:off x="2156279" y="2822439"/>
            <a:ext cx="661988" cy="900112"/>
            <a:chOff x="845" y="1038"/>
            <a:chExt cx="423" cy="575"/>
          </a:xfrm>
        </p:grpSpPr>
        <p:pic>
          <p:nvPicPr>
            <p:cNvPr id="289867" name="Picture-75" descr="User_UserB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45" y="1038"/>
              <a:ext cx="253" cy="575"/>
            </a:xfrm>
            <a:prstGeom prst="rect">
              <a:avLst/>
            </a:prstGeom>
            <a:noFill/>
          </p:spPr>
        </p:pic>
        <p:pic>
          <p:nvPicPr>
            <p:cNvPr id="289868" name="Picture-76" descr="Security_Permissions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89" y="1217"/>
              <a:ext cx="279" cy="395"/>
            </a:xfrm>
            <a:prstGeom prst="rect">
              <a:avLst/>
            </a:prstGeom>
            <a:noFill/>
          </p:spPr>
        </p:pic>
      </p:grpSp>
      <p:grpSp>
        <p:nvGrpSpPr>
          <p:cNvPr id="5" name="Group-77"/>
          <p:cNvGrpSpPr>
            <a:grpSpLocks/>
          </p:cNvGrpSpPr>
          <p:nvPr/>
        </p:nvGrpSpPr>
        <p:grpSpPr bwMode="auto">
          <a:xfrm>
            <a:off x="2975429" y="2822439"/>
            <a:ext cx="661988" cy="900112"/>
            <a:chOff x="845" y="1038"/>
            <a:chExt cx="423" cy="575"/>
          </a:xfrm>
        </p:grpSpPr>
        <p:pic>
          <p:nvPicPr>
            <p:cNvPr id="289870" name="Picture-78" descr="User_UserB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45" y="1038"/>
              <a:ext cx="253" cy="575"/>
            </a:xfrm>
            <a:prstGeom prst="rect">
              <a:avLst/>
            </a:prstGeom>
            <a:noFill/>
          </p:spPr>
        </p:pic>
        <p:pic>
          <p:nvPicPr>
            <p:cNvPr id="289871" name="Picture-79" descr="Security_Permissions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89" y="1217"/>
              <a:ext cx="279" cy="395"/>
            </a:xfrm>
            <a:prstGeom prst="rect">
              <a:avLst/>
            </a:prstGeom>
            <a:noFill/>
          </p:spPr>
        </p:pic>
      </p:grpSp>
      <p:sp>
        <p:nvSpPr>
          <p:cNvPr id="289872" name="Freeform-80"/>
          <p:cNvSpPr>
            <a:spLocks/>
          </p:cNvSpPr>
          <p:nvPr/>
        </p:nvSpPr>
        <p:spPr bwMode="auto">
          <a:xfrm rot="5400000">
            <a:off x="4346235" y="2704170"/>
            <a:ext cx="442913" cy="1038225"/>
          </a:xfrm>
          <a:custGeom>
            <a:avLst/>
            <a:gdLst/>
            <a:ahLst/>
            <a:cxnLst>
              <a:cxn ang="0">
                <a:pos x="57" y="239"/>
              </a:cxn>
              <a:cxn ang="0">
                <a:pos x="0" y="252"/>
              </a:cxn>
              <a:cxn ang="0">
                <a:pos x="106" y="0"/>
              </a:cxn>
              <a:cxn ang="0">
                <a:pos x="205" y="252"/>
              </a:cxn>
              <a:cxn ang="0">
                <a:pos x="147" y="238"/>
              </a:cxn>
              <a:cxn ang="0">
                <a:pos x="126" y="429"/>
              </a:cxn>
              <a:cxn ang="0">
                <a:pos x="76" y="429"/>
              </a:cxn>
              <a:cxn ang="0">
                <a:pos x="57" y="239"/>
              </a:cxn>
            </a:cxnLst>
            <a:rect l="0" t="0" r="r" b="b"/>
            <a:pathLst>
              <a:path w="205" h="429">
                <a:moveTo>
                  <a:pt x="57" y="239"/>
                </a:moveTo>
                <a:lnTo>
                  <a:pt x="0" y="252"/>
                </a:lnTo>
                <a:lnTo>
                  <a:pt x="106" y="0"/>
                </a:lnTo>
                <a:lnTo>
                  <a:pt x="205" y="252"/>
                </a:lnTo>
                <a:lnTo>
                  <a:pt x="147" y="238"/>
                </a:lnTo>
                <a:lnTo>
                  <a:pt x="126" y="429"/>
                </a:lnTo>
                <a:lnTo>
                  <a:pt x="76" y="429"/>
                </a:lnTo>
                <a:lnTo>
                  <a:pt x="57" y="23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8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28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28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28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28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73" grpId="0" animBg="1"/>
      <p:bldP spid="289795" grpId="0" build="p"/>
      <p:bldP spid="289803" grpId="0"/>
      <p:bldP spid="289855" grpId="0"/>
      <p:bldP spid="289862" grpId="0" animBg="1"/>
      <p:bldP spid="2898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-2"/>
          <p:cNvSpPr>
            <a:spLocks noGrp="1" noChangeArrowheads="1"/>
          </p:cNvSpPr>
          <p:nvPr>
            <p:ph type="title"/>
          </p:nvPr>
        </p:nvSpPr>
        <p:spPr>
          <a:xfrm>
            <a:off x="171993" y="286794"/>
            <a:ext cx="8802189" cy="68421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289897" name="Group 105"/>
          <p:cNvGraphicFramePr>
            <a:graphicFrameLocks noGrp="1"/>
          </p:cNvGraphicFramePr>
          <p:nvPr/>
        </p:nvGraphicFramePr>
        <p:xfrm>
          <a:off x="259533" y="2383972"/>
          <a:ext cx="8492580" cy="3376747"/>
        </p:xfrm>
        <a:graphic>
          <a:graphicData uri="http://schemas.openxmlformats.org/drawingml/2006/table">
            <a:tbl>
              <a:tblPr/>
              <a:tblGrid>
                <a:gridCol w="2056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5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Type de groupe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Description</a:t>
                      </a:r>
                      <a:r>
                        <a:rPr kumimoji="0" lang="en-I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0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Sécurité</a:t>
                      </a:r>
                      <a:r>
                        <a:rPr kumimoji="0" lang="en-I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Utilisée pour attribuer des droits et des autorisations </a:t>
                      </a:r>
                      <a:b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</a:b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d'utilisateur</a:t>
                      </a:r>
                      <a:r>
                        <a:rPr kumimoji="0" lang="en-I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Utilisable uniquement sous forme </a:t>
                      </a:r>
                      <a:b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</a:b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 liste de distribution de courrier électronique</a:t>
                      </a:r>
                      <a:r>
                        <a:rPr kumimoji="0" lang="en-I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0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Distribution</a:t>
                      </a:r>
                      <a:r>
                        <a:rPr kumimoji="0" lang="en-I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Utilisable uniquement avec les applications </a:t>
                      </a:r>
                      <a:b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</a:b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 messagerie électronique. Ne peut pas </a:t>
                      </a:r>
                      <a:b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</a:b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être utilisée pour attribuer des autorisations</a:t>
                      </a:r>
                      <a:r>
                        <a:rPr kumimoji="0" lang="en-I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89858" name="Picture-66" descr="Collection_SecurityGroup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39504" y="3552553"/>
            <a:ext cx="1071563" cy="841375"/>
          </a:xfrm>
          <a:prstGeom prst="rect">
            <a:avLst/>
          </a:prstGeom>
          <a:noFill/>
        </p:spPr>
      </p:pic>
      <p:pic>
        <p:nvPicPr>
          <p:cNvPr id="289859" name="Picture-67" descr="Collection_DistributionGroup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43767" y="4887867"/>
            <a:ext cx="1098550" cy="862013"/>
          </a:xfrm>
          <a:prstGeom prst="rect">
            <a:avLst/>
          </a:prstGeom>
          <a:noFill/>
        </p:spPr>
      </p:pic>
      <p:sp>
        <p:nvSpPr>
          <p:cNvPr id="6" name="Rectangle-11"/>
          <p:cNvSpPr>
            <a:spLocks noChangeArrowheads="1"/>
          </p:cNvSpPr>
          <p:nvPr/>
        </p:nvSpPr>
        <p:spPr bwMode="auto">
          <a:xfrm>
            <a:off x="277131" y="1531711"/>
            <a:ext cx="8213725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28600" indent="-2286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fr-FR" altLang="zh-CN" sz="26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groupes se caractérisent par le type</a:t>
            </a:r>
            <a:endParaRPr lang="en-US" sz="26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28600"/>
            <a:ext cx="8791303" cy="75895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globaux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429148" name="Group 92"/>
          <p:cNvGraphicFramePr>
            <a:graphicFrameLocks noGrp="1"/>
          </p:cNvGraphicFramePr>
          <p:nvPr/>
        </p:nvGraphicFramePr>
        <p:xfrm>
          <a:off x="169817" y="1612763"/>
          <a:ext cx="8804366" cy="374649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4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Comptes d'utilisateurs, comptes d'ordinateurs et groupes globaux du même domaine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4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Appartenance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Groupes universel et de domaine local dans un domaine quelconque et groupes globaux dans le même domaine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Étendue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Tous les domaines de la forêt et tous les domaines qui approuvent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Autorisations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Tous les domaines de la forêt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et </a:t>
                      </a:r>
                      <a:r>
                        <a:rPr kumimoji="0" lang="en-IE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tous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les </a:t>
                      </a:r>
                      <a:r>
                        <a:rPr kumimoji="0" lang="en-IE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domaines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qui </a:t>
                      </a:r>
                      <a:r>
                        <a:rPr kumimoji="0" lang="en-IE" altLang="zh-CN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approuvent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29120" name="Picture-64" descr="Collection_GlobalGroup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61138" y="5279077"/>
            <a:ext cx="1984375" cy="1558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universels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493631" name="Group 63"/>
          <p:cNvGraphicFramePr>
            <a:graphicFrameLocks noGrp="1"/>
          </p:cNvGraphicFramePr>
          <p:nvPr/>
        </p:nvGraphicFramePr>
        <p:xfrm>
          <a:off x="169817" y="1789112"/>
          <a:ext cx="8804366" cy="3814853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5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Comptes d'utilisateurs, comptes d‘ordinateurs, groupes globaux et autres groupes universels de n'importe quel domaine de la forêt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67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Appartenance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Groupes de domaine local et universels </a:t>
                      </a:r>
                      <a:b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</a:b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de n'importe quel domaine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1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Étendue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Visible dans tous les domaines d'une forêt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4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Autorisations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Tous les domaines d'une forêt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93620" name="Picture-52" descr="Collection_UniversalGroup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68133" y="5169539"/>
            <a:ext cx="2055813" cy="1616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de domaine local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433279" name="Group 127"/>
          <p:cNvGraphicFramePr>
            <a:graphicFrameLocks noGrp="1"/>
          </p:cNvGraphicFramePr>
          <p:nvPr/>
        </p:nvGraphicFramePr>
        <p:xfrm>
          <a:off x="195944" y="1681163"/>
          <a:ext cx="8765176" cy="2335657"/>
        </p:xfrm>
        <a:graphic>
          <a:graphicData uri="http://schemas.openxmlformats.org/drawingml/2006/table">
            <a:tbl>
              <a:tblPr/>
              <a:tblGrid>
                <a:gridCol w="1802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2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9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Comptes d'utilisateurs, comptes d'ordinateurs, groupes globaux et groupes universels de n'importe quel domaine de la forêt ainsi que groupes de domaine local du même domaine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Appartenance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Groupes de domaine local du même domaine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Étendue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Visible uniquement dans son propre domaine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Autorisations</a:t>
                      </a:r>
                      <a:r>
                        <a:rPr kumimoji="0" lang="en-IE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Domaine auquel appartient le groupe de domaine local</a:t>
                      </a:r>
                      <a:r>
                        <a:rPr kumimoji="0" lang="en-IE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R="27432"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3246" name="Picture-94" descr="Collection_DomainGroup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19850" y="5160876"/>
            <a:ext cx="2058988" cy="15541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des groupes locaux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515122" name="Group 50"/>
          <p:cNvGraphicFramePr>
            <a:graphicFrameLocks noGrp="1"/>
          </p:cNvGraphicFramePr>
          <p:nvPr/>
        </p:nvGraphicFramePr>
        <p:xfrm>
          <a:off x="569912" y="2330450"/>
          <a:ext cx="8090761" cy="2248462"/>
        </p:xfrm>
        <a:graphic>
          <a:graphicData uri="http://schemas.openxmlformats.org/drawingml/2006/table">
            <a:tbl>
              <a:tblPr/>
              <a:tblGrid>
                <a:gridCol w="2502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45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</a:t>
                      </a:r>
                      <a:r>
                        <a:rPr kumimoji="0" lang="en-I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Comptes d'utilisateurs locaux provenant de l'ordinateur, des comptes de domaines et des groupes de domaines</a:t>
                      </a:r>
                      <a:r>
                        <a:rPr kumimoji="0" lang="en-I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4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Appartenance</a:t>
                      </a:r>
                      <a:r>
                        <a:rPr kumimoji="0" lang="en-I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Aucun</a:t>
                      </a:r>
                      <a:r>
                        <a:rPr kumimoji="0" lang="en-I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15113" name="Picture-41" descr="Collection_LocalGroupp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2838" y="4735513"/>
            <a:ext cx="2179637" cy="17129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-2"/>
          <p:cNvSpPr>
            <a:spLocks noGrp="1" noChangeArrowheads="1"/>
          </p:cNvSpPr>
          <p:nvPr>
            <p:ph type="title"/>
          </p:nvPr>
        </p:nvSpPr>
        <p:spPr>
          <a:xfrm>
            <a:off x="180159" y="312919"/>
            <a:ext cx="8794024" cy="684212"/>
          </a:xfrm>
        </p:spPr>
        <p:txBody>
          <a:bodyPr>
            <a:normAutofit/>
          </a:bodyPr>
          <a:lstStyle/>
          <a:p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5.  Gestion des groupes </a:t>
            </a:r>
            <a:endParaRPr lang="en-US" b="1" dirty="0"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330755" name="Rectangle-3"/>
          <p:cNvSpPr>
            <a:spLocks noGrp="1" noChangeArrowheads="1"/>
          </p:cNvSpPr>
          <p:nvPr>
            <p:ph type="body" idx="1"/>
          </p:nvPr>
        </p:nvSpPr>
        <p:spPr>
          <a:xfrm>
            <a:off x="327878" y="1958122"/>
            <a:ext cx="8503920" cy="4276423"/>
          </a:xfrm>
          <a:noFill/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Propriétés Membres et Membre de</a:t>
            </a:r>
          </a:p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Stratégie d'utilisation des groupes dans un seul domaine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 l'imbrication des groupes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Stratégies de groupes</a:t>
            </a:r>
          </a:p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 la modification de l'étendue ou du type d'un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Intérêt de l'affectation d'un responsable à un groupe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9" name="Rectangle-5"/>
          <p:cNvSpPr>
            <a:spLocks noGrp="1" noChangeArrowheads="1"/>
          </p:cNvSpPr>
          <p:nvPr>
            <p:ph type="title"/>
          </p:nvPr>
        </p:nvSpPr>
        <p:spPr>
          <a:xfrm>
            <a:off x="237307" y="299857"/>
            <a:ext cx="8710749" cy="68421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Propriétés Membres et Membre de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72150" name="AutoShape-86"/>
          <p:cNvSpPr>
            <a:spLocks noChangeArrowheads="1"/>
          </p:cNvSpPr>
          <p:nvPr/>
        </p:nvSpPr>
        <p:spPr bwMode="auto">
          <a:xfrm>
            <a:off x="274320" y="1266825"/>
            <a:ext cx="2778443" cy="4910138"/>
          </a:xfrm>
          <a:prstGeom prst="roundRect">
            <a:avLst>
              <a:gd name="adj" fmla="val 4139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marL="177800" indent="-177800"/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 ou équipe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ea typeface="SimSun" pitchFamily="2" charset="-122"/>
              <a:cs typeface="Times New Roman" pitchFamily="18" charset="0"/>
            </a:endParaRPr>
          </a:p>
          <a:p>
            <a:pPr marL="177800" indent="-177800" algn="l">
              <a:buSzPct val="85000"/>
            </a:pPr>
            <a:endParaRPr lang="en-US" sz="2200" b="0"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72151" name="AutoShape-87"/>
          <p:cNvSpPr>
            <a:spLocks noChangeArrowheads="1"/>
          </p:cNvSpPr>
          <p:nvPr/>
        </p:nvSpPr>
        <p:spPr bwMode="auto">
          <a:xfrm>
            <a:off x="3259138" y="1266824"/>
            <a:ext cx="2492375" cy="5356045"/>
          </a:xfrm>
          <a:prstGeom prst="roundRect">
            <a:avLst>
              <a:gd name="adj" fmla="val 4139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marL="177800" indent="-177800"/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 global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72152" name="AutoShape-88"/>
          <p:cNvSpPr>
            <a:spLocks noChangeArrowheads="1"/>
          </p:cNvSpPr>
          <p:nvPr/>
        </p:nvSpPr>
        <p:spPr bwMode="auto">
          <a:xfrm>
            <a:off x="5891349" y="1266824"/>
            <a:ext cx="3017520" cy="3461929"/>
          </a:xfrm>
          <a:prstGeom prst="roundRect">
            <a:avLst>
              <a:gd name="adj" fmla="val 4139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5720" rIns="45720"/>
          <a:lstStyle/>
          <a:p>
            <a:pPr marL="177800" indent="-177800"/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 de domaine local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ea typeface="SimSun" pitchFamily="2" charset="-122"/>
              <a:cs typeface="Times New Roman" pitchFamily="18" charset="0"/>
            </a:endParaRPr>
          </a:p>
          <a:p>
            <a:pPr marL="177800" indent="-177800"/>
            <a:endParaRPr lang="en-US" sz="2200" dirty="0"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472248" name="Group 184"/>
          <p:cNvGraphicFramePr>
            <a:graphicFrameLocks noGrp="1"/>
          </p:cNvGraphicFramePr>
          <p:nvPr/>
        </p:nvGraphicFramePr>
        <p:xfrm>
          <a:off x="313510" y="3154363"/>
          <a:ext cx="2637654" cy="676656"/>
        </p:xfrm>
        <a:graphic>
          <a:graphicData uri="http://schemas.openxmlformats.org/drawingml/2006/table">
            <a:tbl>
              <a:tblPr/>
              <a:tblGrid>
                <a:gridCol w="1132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 de</a:t>
                      </a:r>
                      <a:r>
                        <a:rPr kumimoji="0" lang="en-IE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Sans objet</a:t>
                      </a:r>
                      <a:r>
                        <a:rPr kumimoji="0" lang="en-IE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Denver </a:t>
                      </a:r>
                      <a:r>
                        <a:rPr kumimoji="0" lang="fr-FR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Admins</a:t>
                      </a:r>
                      <a:r>
                        <a:rPr kumimoji="0" lang="en-IE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164" name="AutoShape-100"/>
          <p:cNvSpPr>
            <a:spLocks noChangeArrowheads="1"/>
          </p:cNvSpPr>
          <p:nvPr/>
        </p:nvSpPr>
        <p:spPr bwMode="auto">
          <a:xfrm>
            <a:off x="1012825" y="2649538"/>
            <a:ext cx="1587500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Tom, Jo et Kim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472246" name="Group 182"/>
          <p:cNvGraphicFramePr>
            <a:graphicFrameLocks noGrp="1"/>
          </p:cNvGraphicFramePr>
          <p:nvPr/>
        </p:nvGraphicFramePr>
        <p:xfrm>
          <a:off x="352698" y="5376863"/>
          <a:ext cx="2598466" cy="621792"/>
        </p:xfrm>
        <a:graphic>
          <a:graphicData uri="http://schemas.openxmlformats.org/drawingml/2006/table">
            <a:tbl>
              <a:tblPr/>
              <a:tblGrid>
                <a:gridCol w="982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 de</a:t>
                      </a:r>
                      <a:r>
                        <a:rPr kumimoji="0" lang="en-IE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Sans objet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Vancouver </a:t>
                      </a:r>
                      <a:r>
                        <a:rPr kumimoji="0" lang="fr-FR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Admins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176" name="AutoShape-112"/>
          <p:cNvSpPr>
            <a:spLocks noChangeArrowheads="1"/>
          </p:cNvSpPr>
          <p:nvPr/>
        </p:nvSpPr>
        <p:spPr bwMode="auto">
          <a:xfrm>
            <a:off x="857250" y="4943475"/>
            <a:ext cx="1898650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Sam, Scott et Amy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472177" name="Picture-113" descr="Collection_GlobalGroup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3813" y="1651000"/>
            <a:ext cx="1341437" cy="1054100"/>
          </a:xfrm>
          <a:prstGeom prst="rect">
            <a:avLst/>
          </a:prstGeom>
          <a:noFill/>
        </p:spPr>
      </p:pic>
      <p:graphicFrame>
        <p:nvGraphicFramePr>
          <p:cNvPr id="472243" name="Group 179"/>
          <p:cNvGraphicFramePr>
            <a:graphicFrameLocks noGrp="1"/>
          </p:cNvGraphicFramePr>
          <p:nvPr/>
        </p:nvGraphicFramePr>
        <p:xfrm>
          <a:off x="3239590" y="3154363"/>
          <a:ext cx="2495004" cy="841248"/>
        </p:xfrm>
        <a:graphic>
          <a:graphicData uri="http://schemas.openxmlformats.org/drawingml/2006/table">
            <a:tbl>
              <a:tblPr/>
              <a:tblGrid>
                <a:gridCol w="92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 de</a:t>
                      </a:r>
                      <a:r>
                        <a:rPr kumimoji="0" lang="en-IE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Tom, Jo, Kim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Denver OU </a:t>
                      </a:r>
                      <a:r>
                        <a:rPr kumimoji="0" lang="fr-FR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Admins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189" name="AutoShape-125"/>
          <p:cNvSpPr>
            <a:spLocks noChangeArrowheads="1"/>
          </p:cNvSpPr>
          <p:nvPr/>
        </p:nvSpPr>
        <p:spPr bwMode="auto">
          <a:xfrm>
            <a:off x="3730625" y="2649538"/>
            <a:ext cx="1587500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 sz="160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Denver Admins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72201" name="AutoShape-137"/>
          <p:cNvSpPr>
            <a:spLocks noChangeArrowheads="1"/>
          </p:cNvSpPr>
          <p:nvPr/>
        </p:nvSpPr>
        <p:spPr bwMode="auto">
          <a:xfrm>
            <a:off x="3711575" y="2649538"/>
            <a:ext cx="1587500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Denver Admins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graphicFrame>
        <p:nvGraphicFramePr>
          <p:cNvPr id="472247" name="Group 183"/>
          <p:cNvGraphicFramePr>
            <a:graphicFrameLocks noGrp="1"/>
          </p:cNvGraphicFramePr>
          <p:nvPr/>
        </p:nvGraphicFramePr>
        <p:xfrm>
          <a:off x="3367088" y="5362575"/>
          <a:ext cx="2301875" cy="1060704"/>
        </p:xfrm>
        <a:graphic>
          <a:graphicData uri="http://schemas.openxmlformats.org/drawingml/2006/table">
            <a:tbl>
              <a:tblPr/>
              <a:tblGrid>
                <a:gridCol w="93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 de</a:t>
                      </a:r>
                      <a:r>
                        <a:rPr kumimoji="0" lang="en-IE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Sam, Scott, Amy</a:t>
                      </a:r>
                      <a:r>
                        <a:rPr kumimoji="0" lang="en-IE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Denver OU </a:t>
                      </a:r>
                      <a:r>
                        <a:rPr kumimoji="0" lang="de-DE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Admins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213" name="AutoShape-149"/>
          <p:cNvSpPr>
            <a:spLocks noChangeArrowheads="1"/>
          </p:cNvSpPr>
          <p:nvPr/>
        </p:nvSpPr>
        <p:spPr bwMode="auto">
          <a:xfrm>
            <a:off x="3648075" y="4929188"/>
            <a:ext cx="1714500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Vancouver Admins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472214" name="Picture-150" descr="Collection_Group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2838" y="1631950"/>
            <a:ext cx="1387475" cy="1077913"/>
          </a:xfrm>
          <a:prstGeom prst="rect">
            <a:avLst/>
          </a:prstGeom>
          <a:noFill/>
        </p:spPr>
      </p:pic>
      <p:pic>
        <p:nvPicPr>
          <p:cNvPr id="472215" name="Picture-151" descr="Collection_Group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2838" y="3925888"/>
            <a:ext cx="1387475" cy="1077912"/>
          </a:xfrm>
          <a:prstGeom prst="rect">
            <a:avLst/>
          </a:prstGeom>
          <a:noFill/>
        </p:spPr>
      </p:pic>
      <p:pic>
        <p:nvPicPr>
          <p:cNvPr id="472216" name="Picture-152" descr="Collection_GlobalGroup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3813" y="1655763"/>
            <a:ext cx="1341437" cy="1054100"/>
          </a:xfrm>
          <a:prstGeom prst="rect">
            <a:avLst/>
          </a:prstGeom>
          <a:noFill/>
        </p:spPr>
      </p:pic>
      <p:pic>
        <p:nvPicPr>
          <p:cNvPr id="472217" name="Picture-153" descr="Collection_GlobalGroup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3813" y="3930650"/>
            <a:ext cx="1341437" cy="1054100"/>
          </a:xfrm>
          <a:prstGeom prst="rect">
            <a:avLst/>
          </a:prstGeom>
          <a:noFill/>
        </p:spPr>
      </p:pic>
      <p:sp>
        <p:nvSpPr>
          <p:cNvPr id="472218" name="AutoShape-154"/>
          <p:cNvSpPr>
            <a:spLocks noChangeArrowheads="1"/>
          </p:cNvSpPr>
          <p:nvPr/>
        </p:nvSpPr>
        <p:spPr bwMode="auto">
          <a:xfrm>
            <a:off x="6307138" y="2649538"/>
            <a:ext cx="1793875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Denver OU Admins</a:t>
            </a:r>
            <a:r>
              <a:rPr lang="en-IE" altLang="zh-CN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472219" name="Picture-155" descr="Collection_DomainGroup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38913" y="1662113"/>
            <a:ext cx="1331912" cy="1047750"/>
          </a:xfrm>
          <a:prstGeom prst="rect">
            <a:avLst/>
          </a:prstGeom>
          <a:noFill/>
        </p:spPr>
      </p:pic>
      <p:graphicFrame>
        <p:nvGraphicFramePr>
          <p:cNvPr id="472253" name="Group 189"/>
          <p:cNvGraphicFramePr>
            <a:graphicFrameLocks noGrp="1"/>
          </p:cNvGraphicFramePr>
          <p:nvPr/>
        </p:nvGraphicFramePr>
        <p:xfrm>
          <a:off x="6062662" y="3082925"/>
          <a:ext cx="2807017" cy="1158240"/>
        </p:xfrm>
        <a:graphic>
          <a:graphicData uri="http://schemas.openxmlformats.org/drawingml/2006/table">
            <a:tbl>
              <a:tblPr/>
              <a:tblGrid>
                <a:gridCol w="1538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Membres</a:t>
                      </a:r>
                      <a:r>
                        <a:rPr kumimoji="0" lang="en-IE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Membre de</a:t>
                      </a:r>
                      <a:r>
                        <a:rPr kumimoji="0" lang="en-IE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Denver </a:t>
                      </a:r>
                      <a:r>
                        <a:rPr kumimoji="0" lang="fr-FR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Admins</a:t>
                      </a: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Vancouver </a:t>
                      </a:r>
                      <a:r>
                        <a:rPr kumimoji="0" lang="fr-FR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Admins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Sans objet</a:t>
                      </a:r>
                      <a:r>
                        <a:rPr kumimoji="0" lang="en-IE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Times New Roman" pitchFamily="18" charset="0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231" name="Freeform-167"/>
          <p:cNvSpPr>
            <a:spLocks/>
          </p:cNvSpPr>
          <p:nvPr/>
        </p:nvSpPr>
        <p:spPr bwMode="auto">
          <a:xfrm rot="-3600000" flipH="1" flipV="1">
            <a:off x="5472112" y="4275138"/>
            <a:ext cx="1444625" cy="850900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72232" name="Freeform-168"/>
          <p:cNvSpPr>
            <a:spLocks/>
          </p:cNvSpPr>
          <p:nvPr/>
        </p:nvSpPr>
        <p:spPr bwMode="auto">
          <a:xfrm rot="5400000">
            <a:off x="3007519" y="1843881"/>
            <a:ext cx="390525" cy="823913"/>
          </a:xfrm>
          <a:custGeom>
            <a:avLst/>
            <a:gdLst/>
            <a:ahLst/>
            <a:cxnLst>
              <a:cxn ang="0">
                <a:pos x="57" y="239"/>
              </a:cxn>
              <a:cxn ang="0">
                <a:pos x="0" y="252"/>
              </a:cxn>
              <a:cxn ang="0">
                <a:pos x="106" y="0"/>
              </a:cxn>
              <a:cxn ang="0">
                <a:pos x="205" y="252"/>
              </a:cxn>
              <a:cxn ang="0">
                <a:pos x="147" y="238"/>
              </a:cxn>
              <a:cxn ang="0">
                <a:pos x="126" y="429"/>
              </a:cxn>
              <a:cxn ang="0">
                <a:pos x="76" y="429"/>
              </a:cxn>
              <a:cxn ang="0">
                <a:pos x="57" y="239"/>
              </a:cxn>
            </a:cxnLst>
            <a:rect l="0" t="0" r="r" b="b"/>
            <a:pathLst>
              <a:path w="205" h="429">
                <a:moveTo>
                  <a:pt x="57" y="239"/>
                </a:moveTo>
                <a:lnTo>
                  <a:pt x="0" y="252"/>
                </a:lnTo>
                <a:lnTo>
                  <a:pt x="106" y="0"/>
                </a:lnTo>
                <a:lnTo>
                  <a:pt x="205" y="252"/>
                </a:lnTo>
                <a:lnTo>
                  <a:pt x="147" y="238"/>
                </a:lnTo>
                <a:lnTo>
                  <a:pt x="126" y="429"/>
                </a:lnTo>
                <a:lnTo>
                  <a:pt x="76" y="429"/>
                </a:lnTo>
                <a:lnTo>
                  <a:pt x="57" y="23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72233" name="Freeform-169"/>
          <p:cNvSpPr>
            <a:spLocks/>
          </p:cNvSpPr>
          <p:nvPr/>
        </p:nvSpPr>
        <p:spPr bwMode="auto">
          <a:xfrm rot="5400000">
            <a:off x="5687219" y="1843881"/>
            <a:ext cx="390525" cy="823913"/>
          </a:xfrm>
          <a:custGeom>
            <a:avLst/>
            <a:gdLst/>
            <a:ahLst/>
            <a:cxnLst>
              <a:cxn ang="0">
                <a:pos x="57" y="239"/>
              </a:cxn>
              <a:cxn ang="0">
                <a:pos x="0" y="252"/>
              </a:cxn>
              <a:cxn ang="0">
                <a:pos x="106" y="0"/>
              </a:cxn>
              <a:cxn ang="0">
                <a:pos x="205" y="252"/>
              </a:cxn>
              <a:cxn ang="0">
                <a:pos x="147" y="238"/>
              </a:cxn>
              <a:cxn ang="0">
                <a:pos x="126" y="429"/>
              </a:cxn>
              <a:cxn ang="0">
                <a:pos x="76" y="429"/>
              </a:cxn>
              <a:cxn ang="0">
                <a:pos x="57" y="239"/>
              </a:cxn>
            </a:cxnLst>
            <a:rect l="0" t="0" r="r" b="b"/>
            <a:pathLst>
              <a:path w="205" h="429">
                <a:moveTo>
                  <a:pt x="57" y="239"/>
                </a:moveTo>
                <a:lnTo>
                  <a:pt x="0" y="252"/>
                </a:lnTo>
                <a:lnTo>
                  <a:pt x="106" y="0"/>
                </a:lnTo>
                <a:lnTo>
                  <a:pt x="205" y="252"/>
                </a:lnTo>
                <a:lnTo>
                  <a:pt x="147" y="238"/>
                </a:lnTo>
                <a:lnTo>
                  <a:pt x="126" y="429"/>
                </a:lnTo>
                <a:lnTo>
                  <a:pt x="76" y="429"/>
                </a:lnTo>
                <a:lnTo>
                  <a:pt x="57" y="23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72234" name="Freeform-170"/>
          <p:cNvSpPr>
            <a:spLocks/>
          </p:cNvSpPr>
          <p:nvPr/>
        </p:nvSpPr>
        <p:spPr bwMode="auto">
          <a:xfrm rot="5400000">
            <a:off x="3017044" y="4139406"/>
            <a:ext cx="390525" cy="823913"/>
          </a:xfrm>
          <a:custGeom>
            <a:avLst/>
            <a:gdLst/>
            <a:ahLst/>
            <a:cxnLst>
              <a:cxn ang="0">
                <a:pos x="57" y="239"/>
              </a:cxn>
              <a:cxn ang="0">
                <a:pos x="0" y="252"/>
              </a:cxn>
              <a:cxn ang="0">
                <a:pos x="106" y="0"/>
              </a:cxn>
              <a:cxn ang="0">
                <a:pos x="205" y="252"/>
              </a:cxn>
              <a:cxn ang="0">
                <a:pos x="147" y="238"/>
              </a:cxn>
              <a:cxn ang="0">
                <a:pos x="126" y="429"/>
              </a:cxn>
              <a:cxn ang="0">
                <a:pos x="76" y="429"/>
              </a:cxn>
              <a:cxn ang="0">
                <a:pos x="57" y="239"/>
              </a:cxn>
            </a:cxnLst>
            <a:rect l="0" t="0" r="r" b="b"/>
            <a:pathLst>
              <a:path w="205" h="429">
                <a:moveTo>
                  <a:pt x="57" y="239"/>
                </a:moveTo>
                <a:lnTo>
                  <a:pt x="0" y="252"/>
                </a:lnTo>
                <a:lnTo>
                  <a:pt x="106" y="0"/>
                </a:lnTo>
                <a:lnTo>
                  <a:pt x="205" y="252"/>
                </a:lnTo>
                <a:lnTo>
                  <a:pt x="147" y="238"/>
                </a:lnTo>
                <a:lnTo>
                  <a:pt x="126" y="429"/>
                </a:lnTo>
                <a:lnTo>
                  <a:pt x="76" y="429"/>
                </a:lnTo>
                <a:lnTo>
                  <a:pt x="57" y="23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-2"/>
          <p:cNvSpPr>
            <a:spLocks noGrp="1" noChangeArrowheads="1"/>
          </p:cNvSpPr>
          <p:nvPr>
            <p:ph type="title"/>
          </p:nvPr>
        </p:nvSpPr>
        <p:spPr>
          <a:xfrm>
            <a:off x="185058" y="448301"/>
            <a:ext cx="8776062" cy="68421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Stratégie d'utilisation des groupes dans un seul domaine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95620" name="Rectangle-4"/>
          <p:cNvSpPr>
            <a:spLocks noGrp="1" noChangeArrowheads="1"/>
          </p:cNvSpPr>
          <p:nvPr>
            <p:ph type="body" sz="half" idx="1"/>
          </p:nvPr>
        </p:nvSpPr>
        <p:spPr>
          <a:xfrm>
            <a:off x="548641" y="1447800"/>
            <a:ext cx="8268788" cy="1060269"/>
          </a:xfrm>
          <a:noFill/>
          <a:ln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Cette présentation décrit la stratégie CGDLA pour l'utilisation des groupes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495656" name="Picture-40" descr="media icon">
            <a:hlinkClick r:id="rId3" action="ppaction://hlinkfile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3940947" y="5799183"/>
            <a:ext cx="1363474" cy="653868"/>
          </a:xfrm>
          <a:ln/>
        </p:spPr>
      </p:pic>
      <p:pic>
        <p:nvPicPr>
          <p:cNvPr id="495658" name="Picture 42" descr="2144A032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82007" y="2363154"/>
            <a:ext cx="4979987" cy="3330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Stratégies de l’utilisation des groupes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grpSp>
        <p:nvGrpSpPr>
          <p:cNvPr id="2" name="Group-446"/>
          <p:cNvGrpSpPr>
            <a:grpSpLocks/>
          </p:cNvGrpSpPr>
          <p:nvPr/>
        </p:nvGrpSpPr>
        <p:grpSpPr bwMode="auto">
          <a:xfrm>
            <a:off x="903288" y="1463859"/>
            <a:ext cx="7248525" cy="4992688"/>
            <a:chOff x="567" y="793"/>
            <a:chExt cx="4566" cy="3145"/>
          </a:xfrm>
        </p:grpSpPr>
        <p:sp>
          <p:nvSpPr>
            <p:cNvPr id="498111" name="AutoShape-447"/>
            <p:cNvSpPr>
              <a:spLocks noChangeArrowheads="1"/>
            </p:cNvSpPr>
            <p:nvPr/>
          </p:nvSpPr>
          <p:spPr bwMode="auto">
            <a:xfrm>
              <a:off x="567" y="793"/>
              <a:ext cx="4566" cy="3145"/>
            </a:xfrm>
            <a:prstGeom prst="roundRect">
              <a:avLst>
                <a:gd name="adj" fmla="val 362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8F6E4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fr-FR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 G A </a:t>
              </a:r>
              <a:endParaRPr lang="en-US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12" name="Freeform-448"/>
            <p:cNvSpPr>
              <a:spLocks/>
            </p:cNvSpPr>
            <p:nvPr/>
          </p:nvSpPr>
          <p:spPr bwMode="auto">
            <a:xfrm>
              <a:off x="1419" y="1895"/>
              <a:ext cx="1200" cy="926"/>
            </a:xfrm>
            <a:custGeom>
              <a:avLst/>
              <a:gdLst/>
              <a:ahLst/>
              <a:cxnLst>
                <a:cxn ang="0">
                  <a:pos x="543" y="640"/>
                </a:cxn>
                <a:cxn ang="0">
                  <a:pos x="1080" y="18"/>
                </a:cxn>
                <a:cxn ang="0">
                  <a:pos x="1092" y="10"/>
                </a:cxn>
                <a:cxn ang="0">
                  <a:pos x="1104" y="4"/>
                </a:cxn>
                <a:cxn ang="0">
                  <a:pos x="1117" y="1"/>
                </a:cxn>
                <a:cxn ang="0">
                  <a:pos x="1130" y="1"/>
                </a:cxn>
                <a:cxn ang="0">
                  <a:pos x="1143" y="4"/>
                </a:cxn>
                <a:cxn ang="0">
                  <a:pos x="1156" y="10"/>
                </a:cxn>
                <a:cxn ang="0">
                  <a:pos x="1167" y="18"/>
                </a:cxn>
                <a:cxn ang="0">
                  <a:pos x="1700" y="640"/>
                </a:cxn>
                <a:cxn ang="0">
                  <a:pos x="2232" y="1264"/>
                </a:cxn>
                <a:cxn ang="0">
                  <a:pos x="2237" y="1274"/>
                </a:cxn>
                <a:cxn ang="0">
                  <a:pos x="2241" y="1285"/>
                </a:cxn>
                <a:cxn ang="0">
                  <a:pos x="2242" y="1301"/>
                </a:cxn>
                <a:cxn ang="0">
                  <a:pos x="2241" y="1312"/>
                </a:cxn>
                <a:cxn ang="0">
                  <a:pos x="2236" y="1323"/>
                </a:cxn>
                <a:cxn ang="0">
                  <a:pos x="2232" y="1330"/>
                </a:cxn>
                <a:cxn ang="0">
                  <a:pos x="2227" y="1336"/>
                </a:cxn>
                <a:cxn ang="0">
                  <a:pos x="2220" y="1342"/>
                </a:cxn>
                <a:cxn ang="0">
                  <a:pos x="2202" y="1350"/>
                </a:cxn>
                <a:cxn ang="0">
                  <a:pos x="2191" y="1353"/>
                </a:cxn>
                <a:cxn ang="0">
                  <a:pos x="2179" y="1355"/>
                </a:cxn>
                <a:cxn ang="0">
                  <a:pos x="1120" y="1355"/>
                </a:cxn>
                <a:cxn ang="0">
                  <a:pos x="61" y="1355"/>
                </a:cxn>
                <a:cxn ang="0">
                  <a:pos x="45" y="1352"/>
                </a:cxn>
                <a:cxn ang="0">
                  <a:pos x="32" y="1346"/>
                </a:cxn>
                <a:cxn ang="0">
                  <a:pos x="21" y="1339"/>
                </a:cxn>
                <a:cxn ang="0">
                  <a:pos x="12" y="1330"/>
                </a:cxn>
                <a:cxn ang="0">
                  <a:pos x="4" y="1316"/>
                </a:cxn>
                <a:cxn ang="0">
                  <a:pos x="0" y="1301"/>
                </a:cxn>
                <a:cxn ang="0">
                  <a:pos x="1" y="1285"/>
                </a:cxn>
                <a:cxn ang="0">
                  <a:pos x="4" y="1274"/>
                </a:cxn>
                <a:cxn ang="0">
                  <a:pos x="9" y="1264"/>
                </a:cxn>
                <a:cxn ang="0">
                  <a:pos x="13" y="1258"/>
                </a:cxn>
              </a:cxnLst>
              <a:rect l="0" t="0" r="r" b="b"/>
              <a:pathLst>
                <a:path w="2242" h="1355">
                  <a:moveTo>
                    <a:pt x="13" y="1258"/>
                  </a:moveTo>
                  <a:lnTo>
                    <a:pt x="543" y="640"/>
                  </a:lnTo>
                  <a:lnTo>
                    <a:pt x="1075" y="24"/>
                  </a:lnTo>
                  <a:lnTo>
                    <a:pt x="1080" y="18"/>
                  </a:lnTo>
                  <a:lnTo>
                    <a:pt x="1086" y="14"/>
                  </a:lnTo>
                  <a:lnTo>
                    <a:pt x="1092" y="10"/>
                  </a:lnTo>
                  <a:lnTo>
                    <a:pt x="1098" y="6"/>
                  </a:lnTo>
                  <a:lnTo>
                    <a:pt x="1104" y="4"/>
                  </a:lnTo>
                  <a:lnTo>
                    <a:pt x="1110" y="2"/>
                  </a:lnTo>
                  <a:lnTo>
                    <a:pt x="1117" y="1"/>
                  </a:lnTo>
                  <a:lnTo>
                    <a:pt x="1124" y="0"/>
                  </a:lnTo>
                  <a:lnTo>
                    <a:pt x="1130" y="1"/>
                  </a:lnTo>
                  <a:lnTo>
                    <a:pt x="1137" y="2"/>
                  </a:lnTo>
                  <a:lnTo>
                    <a:pt x="1143" y="4"/>
                  </a:lnTo>
                  <a:lnTo>
                    <a:pt x="1149" y="6"/>
                  </a:lnTo>
                  <a:lnTo>
                    <a:pt x="1156" y="10"/>
                  </a:lnTo>
                  <a:lnTo>
                    <a:pt x="1161" y="14"/>
                  </a:lnTo>
                  <a:lnTo>
                    <a:pt x="1167" y="18"/>
                  </a:lnTo>
                  <a:lnTo>
                    <a:pt x="1172" y="24"/>
                  </a:lnTo>
                  <a:lnTo>
                    <a:pt x="1700" y="640"/>
                  </a:lnTo>
                  <a:lnTo>
                    <a:pt x="2227" y="1258"/>
                  </a:lnTo>
                  <a:lnTo>
                    <a:pt x="2232" y="1264"/>
                  </a:lnTo>
                  <a:lnTo>
                    <a:pt x="2235" y="1271"/>
                  </a:lnTo>
                  <a:lnTo>
                    <a:pt x="2237" y="1274"/>
                  </a:lnTo>
                  <a:lnTo>
                    <a:pt x="2238" y="1278"/>
                  </a:lnTo>
                  <a:lnTo>
                    <a:pt x="2241" y="1285"/>
                  </a:lnTo>
                  <a:lnTo>
                    <a:pt x="2242" y="1293"/>
                  </a:lnTo>
                  <a:lnTo>
                    <a:pt x="2242" y="1301"/>
                  </a:lnTo>
                  <a:lnTo>
                    <a:pt x="2241" y="1308"/>
                  </a:lnTo>
                  <a:lnTo>
                    <a:pt x="2241" y="1312"/>
                  </a:lnTo>
                  <a:lnTo>
                    <a:pt x="2239" y="1316"/>
                  </a:lnTo>
                  <a:lnTo>
                    <a:pt x="2236" y="1323"/>
                  </a:lnTo>
                  <a:lnTo>
                    <a:pt x="2234" y="1326"/>
                  </a:lnTo>
                  <a:lnTo>
                    <a:pt x="2232" y="1330"/>
                  </a:lnTo>
                  <a:lnTo>
                    <a:pt x="2230" y="1333"/>
                  </a:lnTo>
                  <a:lnTo>
                    <a:pt x="2227" y="1336"/>
                  </a:lnTo>
                  <a:lnTo>
                    <a:pt x="2223" y="1339"/>
                  </a:lnTo>
                  <a:lnTo>
                    <a:pt x="2220" y="1342"/>
                  </a:lnTo>
                  <a:lnTo>
                    <a:pt x="2212" y="1346"/>
                  </a:lnTo>
                  <a:lnTo>
                    <a:pt x="2202" y="1350"/>
                  </a:lnTo>
                  <a:lnTo>
                    <a:pt x="2197" y="1352"/>
                  </a:lnTo>
                  <a:lnTo>
                    <a:pt x="2191" y="1353"/>
                  </a:lnTo>
                  <a:lnTo>
                    <a:pt x="2185" y="1354"/>
                  </a:lnTo>
                  <a:lnTo>
                    <a:pt x="2179" y="1355"/>
                  </a:lnTo>
                  <a:lnTo>
                    <a:pt x="1649" y="1355"/>
                  </a:lnTo>
                  <a:lnTo>
                    <a:pt x="1120" y="1355"/>
                  </a:lnTo>
                  <a:lnTo>
                    <a:pt x="591" y="1355"/>
                  </a:lnTo>
                  <a:lnTo>
                    <a:pt x="61" y="1355"/>
                  </a:lnTo>
                  <a:lnTo>
                    <a:pt x="50" y="1353"/>
                  </a:lnTo>
                  <a:lnTo>
                    <a:pt x="45" y="1352"/>
                  </a:lnTo>
                  <a:lnTo>
                    <a:pt x="40" y="1350"/>
                  </a:lnTo>
                  <a:lnTo>
                    <a:pt x="32" y="1346"/>
                  </a:lnTo>
                  <a:lnTo>
                    <a:pt x="24" y="1342"/>
                  </a:lnTo>
                  <a:lnTo>
                    <a:pt x="21" y="1339"/>
                  </a:lnTo>
                  <a:lnTo>
                    <a:pt x="17" y="1336"/>
                  </a:lnTo>
                  <a:lnTo>
                    <a:pt x="12" y="1330"/>
                  </a:lnTo>
                  <a:lnTo>
                    <a:pt x="7" y="1323"/>
                  </a:lnTo>
                  <a:lnTo>
                    <a:pt x="4" y="1316"/>
                  </a:lnTo>
                  <a:lnTo>
                    <a:pt x="2" y="1308"/>
                  </a:lnTo>
                  <a:lnTo>
                    <a:pt x="0" y="1301"/>
                  </a:lnTo>
                  <a:lnTo>
                    <a:pt x="0" y="1293"/>
                  </a:lnTo>
                  <a:lnTo>
                    <a:pt x="1" y="1285"/>
                  </a:lnTo>
                  <a:lnTo>
                    <a:pt x="3" y="1278"/>
                  </a:lnTo>
                  <a:lnTo>
                    <a:pt x="4" y="1274"/>
                  </a:lnTo>
                  <a:lnTo>
                    <a:pt x="5" y="1271"/>
                  </a:lnTo>
                  <a:lnTo>
                    <a:pt x="9" y="1264"/>
                  </a:lnTo>
                  <a:lnTo>
                    <a:pt x="11" y="1261"/>
                  </a:lnTo>
                  <a:lnTo>
                    <a:pt x="13" y="1258"/>
                  </a:lnTo>
                  <a:close/>
                </a:path>
              </a:pathLst>
            </a:custGeom>
            <a:gradFill rotWithShape="1">
              <a:gsLst>
                <a:gs pos="0">
                  <a:srgbClr val="DEE7F1"/>
                </a:gs>
                <a:gs pos="100000">
                  <a:srgbClr val="B3C8DF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98113" name="AutoShape-449"/>
            <p:cNvSpPr>
              <a:spLocks noChangeArrowheads="1"/>
            </p:cNvSpPr>
            <p:nvPr/>
          </p:nvSpPr>
          <p:spPr bwMode="auto">
            <a:xfrm>
              <a:off x="1139" y="3057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14" name="AutoShape-450"/>
            <p:cNvSpPr>
              <a:spLocks noChangeArrowheads="1"/>
            </p:cNvSpPr>
            <p:nvPr/>
          </p:nvSpPr>
          <p:spPr bwMode="auto">
            <a:xfrm>
              <a:off x="4231" y="3057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15" name="Picture-451" descr="Security_Keys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6" y="2057"/>
              <a:ext cx="560" cy="790"/>
            </a:xfrm>
            <a:prstGeom prst="rect">
              <a:avLst/>
            </a:prstGeom>
            <a:noFill/>
          </p:spPr>
        </p:pic>
        <p:sp>
          <p:nvSpPr>
            <p:cNvPr id="498116" name="AutoShape-452"/>
            <p:cNvSpPr>
              <a:spLocks noChangeArrowheads="1"/>
            </p:cNvSpPr>
            <p:nvPr/>
          </p:nvSpPr>
          <p:spPr bwMode="auto">
            <a:xfrm>
              <a:off x="2704" y="3057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17" name="Picture-453" descr="UserAccount_UserAccounts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13" y="2105"/>
              <a:ext cx="954" cy="858"/>
            </a:xfrm>
            <a:prstGeom prst="rect">
              <a:avLst/>
            </a:prstGeom>
            <a:noFill/>
          </p:spPr>
        </p:pic>
        <p:pic>
          <p:nvPicPr>
            <p:cNvPr id="498118" name="Picture-454" descr="Collection_GlobalGroup0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313" y="1958"/>
              <a:ext cx="1192" cy="937"/>
            </a:xfrm>
            <a:prstGeom prst="rect">
              <a:avLst/>
            </a:prstGeom>
            <a:noFill/>
          </p:spPr>
        </p:pic>
        <p:sp>
          <p:nvSpPr>
            <p:cNvPr id="498119" name="AutoShape-455"/>
            <p:cNvSpPr>
              <a:spLocks noChangeArrowheads="1"/>
            </p:cNvSpPr>
            <p:nvPr/>
          </p:nvSpPr>
          <p:spPr bwMode="auto">
            <a:xfrm>
              <a:off x="2392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globaux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20" name="AutoShape-456"/>
            <p:cNvSpPr>
              <a:spLocks noChangeArrowheads="1"/>
            </p:cNvSpPr>
            <p:nvPr/>
          </p:nvSpPr>
          <p:spPr bwMode="auto">
            <a:xfrm>
              <a:off x="3946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Autorisations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21" name="AutoShape-457"/>
            <p:cNvSpPr>
              <a:spLocks noChangeArrowheads="1"/>
            </p:cNvSpPr>
            <p:nvPr/>
          </p:nvSpPr>
          <p:spPr bwMode="auto">
            <a:xfrm>
              <a:off x="839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Comptes d'utilisateurs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</p:grpSp>
      <p:sp>
        <p:nvSpPr>
          <p:cNvPr id="498122" name="Freeform-458"/>
          <p:cNvSpPr>
            <a:spLocks/>
          </p:cNvSpPr>
          <p:nvPr/>
        </p:nvSpPr>
        <p:spPr bwMode="auto">
          <a:xfrm rot="-1537153" flipH="1" flipV="1">
            <a:off x="2940050" y="4564247"/>
            <a:ext cx="1052513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23" name="Freeform-459"/>
          <p:cNvSpPr>
            <a:spLocks/>
          </p:cNvSpPr>
          <p:nvPr/>
        </p:nvSpPr>
        <p:spPr bwMode="auto">
          <a:xfrm rot="1537153" flipV="1">
            <a:off x="5218113" y="4564247"/>
            <a:ext cx="1052512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612"/>
          <p:cNvGrpSpPr>
            <a:grpSpLocks/>
          </p:cNvGrpSpPr>
          <p:nvPr/>
        </p:nvGrpSpPr>
        <p:grpSpPr bwMode="auto">
          <a:xfrm>
            <a:off x="863600" y="1495609"/>
            <a:ext cx="7248525" cy="4992688"/>
            <a:chOff x="572" y="772"/>
            <a:chExt cx="4566" cy="3145"/>
          </a:xfrm>
        </p:grpSpPr>
        <p:sp>
          <p:nvSpPr>
            <p:cNvPr id="498125" name="AutoShape-461"/>
            <p:cNvSpPr>
              <a:spLocks noChangeArrowheads="1"/>
            </p:cNvSpPr>
            <p:nvPr/>
          </p:nvSpPr>
          <p:spPr bwMode="auto">
            <a:xfrm>
              <a:off x="572" y="772"/>
              <a:ext cx="4566" cy="3145"/>
            </a:xfrm>
            <a:prstGeom prst="roundRect">
              <a:avLst>
                <a:gd name="adj" fmla="val 362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8F6E4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fr-FR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 DL A</a:t>
              </a:r>
              <a:r>
                <a:rPr lang="en-IE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26" name="AutoShape-462"/>
            <p:cNvSpPr>
              <a:spLocks noChangeArrowheads="1"/>
            </p:cNvSpPr>
            <p:nvPr/>
          </p:nvSpPr>
          <p:spPr bwMode="auto">
            <a:xfrm>
              <a:off x="1144" y="3036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27" name="AutoShape-463"/>
            <p:cNvSpPr>
              <a:spLocks noChangeArrowheads="1"/>
            </p:cNvSpPr>
            <p:nvPr/>
          </p:nvSpPr>
          <p:spPr bwMode="auto">
            <a:xfrm>
              <a:off x="4236" y="3036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28" name="Picture-464" descr="Security_Keys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21" y="2036"/>
              <a:ext cx="560" cy="790"/>
            </a:xfrm>
            <a:prstGeom prst="rect">
              <a:avLst/>
            </a:prstGeom>
            <a:noFill/>
          </p:spPr>
        </p:pic>
        <p:sp>
          <p:nvSpPr>
            <p:cNvPr id="498129" name="AutoShape-465"/>
            <p:cNvSpPr>
              <a:spLocks noChangeArrowheads="1"/>
            </p:cNvSpPr>
            <p:nvPr/>
          </p:nvSpPr>
          <p:spPr bwMode="auto">
            <a:xfrm>
              <a:off x="2667" y="3036"/>
              <a:ext cx="412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DL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30" name="Freeform-466"/>
            <p:cNvSpPr>
              <a:spLocks/>
            </p:cNvSpPr>
            <p:nvPr/>
          </p:nvSpPr>
          <p:spPr bwMode="auto">
            <a:xfrm>
              <a:off x="1424" y="1874"/>
              <a:ext cx="1200" cy="926"/>
            </a:xfrm>
            <a:custGeom>
              <a:avLst/>
              <a:gdLst/>
              <a:ahLst/>
              <a:cxnLst>
                <a:cxn ang="0">
                  <a:pos x="543" y="640"/>
                </a:cxn>
                <a:cxn ang="0">
                  <a:pos x="1080" y="18"/>
                </a:cxn>
                <a:cxn ang="0">
                  <a:pos x="1092" y="10"/>
                </a:cxn>
                <a:cxn ang="0">
                  <a:pos x="1104" y="4"/>
                </a:cxn>
                <a:cxn ang="0">
                  <a:pos x="1117" y="1"/>
                </a:cxn>
                <a:cxn ang="0">
                  <a:pos x="1130" y="1"/>
                </a:cxn>
                <a:cxn ang="0">
                  <a:pos x="1143" y="4"/>
                </a:cxn>
                <a:cxn ang="0">
                  <a:pos x="1156" y="10"/>
                </a:cxn>
                <a:cxn ang="0">
                  <a:pos x="1167" y="18"/>
                </a:cxn>
                <a:cxn ang="0">
                  <a:pos x="1700" y="640"/>
                </a:cxn>
                <a:cxn ang="0">
                  <a:pos x="2232" y="1264"/>
                </a:cxn>
                <a:cxn ang="0">
                  <a:pos x="2237" y="1274"/>
                </a:cxn>
                <a:cxn ang="0">
                  <a:pos x="2241" y="1285"/>
                </a:cxn>
                <a:cxn ang="0">
                  <a:pos x="2242" y="1301"/>
                </a:cxn>
                <a:cxn ang="0">
                  <a:pos x="2241" y="1312"/>
                </a:cxn>
                <a:cxn ang="0">
                  <a:pos x="2236" y="1323"/>
                </a:cxn>
                <a:cxn ang="0">
                  <a:pos x="2232" y="1330"/>
                </a:cxn>
                <a:cxn ang="0">
                  <a:pos x="2227" y="1336"/>
                </a:cxn>
                <a:cxn ang="0">
                  <a:pos x="2220" y="1342"/>
                </a:cxn>
                <a:cxn ang="0">
                  <a:pos x="2202" y="1350"/>
                </a:cxn>
                <a:cxn ang="0">
                  <a:pos x="2191" y="1353"/>
                </a:cxn>
                <a:cxn ang="0">
                  <a:pos x="2179" y="1355"/>
                </a:cxn>
                <a:cxn ang="0">
                  <a:pos x="1120" y="1355"/>
                </a:cxn>
                <a:cxn ang="0">
                  <a:pos x="61" y="1355"/>
                </a:cxn>
                <a:cxn ang="0">
                  <a:pos x="45" y="1352"/>
                </a:cxn>
                <a:cxn ang="0">
                  <a:pos x="32" y="1346"/>
                </a:cxn>
                <a:cxn ang="0">
                  <a:pos x="21" y="1339"/>
                </a:cxn>
                <a:cxn ang="0">
                  <a:pos x="12" y="1330"/>
                </a:cxn>
                <a:cxn ang="0">
                  <a:pos x="4" y="1316"/>
                </a:cxn>
                <a:cxn ang="0">
                  <a:pos x="0" y="1301"/>
                </a:cxn>
                <a:cxn ang="0">
                  <a:pos x="1" y="1285"/>
                </a:cxn>
                <a:cxn ang="0">
                  <a:pos x="4" y="1274"/>
                </a:cxn>
                <a:cxn ang="0">
                  <a:pos x="9" y="1264"/>
                </a:cxn>
                <a:cxn ang="0">
                  <a:pos x="13" y="1258"/>
                </a:cxn>
              </a:cxnLst>
              <a:rect l="0" t="0" r="r" b="b"/>
              <a:pathLst>
                <a:path w="2242" h="1355">
                  <a:moveTo>
                    <a:pt x="13" y="1258"/>
                  </a:moveTo>
                  <a:lnTo>
                    <a:pt x="543" y="640"/>
                  </a:lnTo>
                  <a:lnTo>
                    <a:pt x="1075" y="24"/>
                  </a:lnTo>
                  <a:lnTo>
                    <a:pt x="1080" y="18"/>
                  </a:lnTo>
                  <a:lnTo>
                    <a:pt x="1086" y="14"/>
                  </a:lnTo>
                  <a:lnTo>
                    <a:pt x="1092" y="10"/>
                  </a:lnTo>
                  <a:lnTo>
                    <a:pt x="1098" y="6"/>
                  </a:lnTo>
                  <a:lnTo>
                    <a:pt x="1104" y="4"/>
                  </a:lnTo>
                  <a:lnTo>
                    <a:pt x="1110" y="2"/>
                  </a:lnTo>
                  <a:lnTo>
                    <a:pt x="1117" y="1"/>
                  </a:lnTo>
                  <a:lnTo>
                    <a:pt x="1124" y="0"/>
                  </a:lnTo>
                  <a:lnTo>
                    <a:pt x="1130" y="1"/>
                  </a:lnTo>
                  <a:lnTo>
                    <a:pt x="1137" y="2"/>
                  </a:lnTo>
                  <a:lnTo>
                    <a:pt x="1143" y="4"/>
                  </a:lnTo>
                  <a:lnTo>
                    <a:pt x="1149" y="6"/>
                  </a:lnTo>
                  <a:lnTo>
                    <a:pt x="1156" y="10"/>
                  </a:lnTo>
                  <a:lnTo>
                    <a:pt x="1161" y="14"/>
                  </a:lnTo>
                  <a:lnTo>
                    <a:pt x="1167" y="18"/>
                  </a:lnTo>
                  <a:lnTo>
                    <a:pt x="1172" y="24"/>
                  </a:lnTo>
                  <a:lnTo>
                    <a:pt x="1700" y="640"/>
                  </a:lnTo>
                  <a:lnTo>
                    <a:pt x="2227" y="1258"/>
                  </a:lnTo>
                  <a:lnTo>
                    <a:pt x="2232" y="1264"/>
                  </a:lnTo>
                  <a:lnTo>
                    <a:pt x="2235" y="1271"/>
                  </a:lnTo>
                  <a:lnTo>
                    <a:pt x="2237" y="1274"/>
                  </a:lnTo>
                  <a:lnTo>
                    <a:pt x="2238" y="1278"/>
                  </a:lnTo>
                  <a:lnTo>
                    <a:pt x="2241" y="1285"/>
                  </a:lnTo>
                  <a:lnTo>
                    <a:pt x="2242" y="1293"/>
                  </a:lnTo>
                  <a:lnTo>
                    <a:pt x="2242" y="1301"/>
                  </a:lnTo>
                  <a:lnTo>
                    <a:pt x="2241" y="1308"/>
                  </a:lnTo>
                  <a:lnTo>
                    <a:pt x="2241" y="1312"/>
                  </a:lnTo>
                  <a:lnTo>
                    <a:pt x="2239" y="1316"/>
                  </a:lnTo>
                  <a:lnTo>
                    <a:pt x="2236" y="1323"/>
                  </a:lnTo>
                  <a:lnTo>
                    <a:pt x="2234" y="1326"/>
                  </a:lnTo>
                  <a:lnTo>
                    <a:pt x="2232" y="1330"/>
                  </a:lnTo>
                  <a:lnTo>
                    <a:pt x="2230" y="1333"/>
                  </a:lnTo>
                  <a:lnTo>
                    <a:pt x="2227" y="1336"/>
                  </a:lnTo>
                  <a:lnTo>
                    <a:pt x="2223" y="1339"/>
                  </a:lnTo>
                  <a:lnTo>
                    <a:pt x="2220" y="1342"/>
                  </a:lnTo>
                  <a:lnTo>
                    <a:pt x="2212" y="1346"/>
                  </a:lnTo>
                  <a:lnTo>
                    <a:pt x="2202" y="1350"/>
                  </a:lnTo>
                  <a:lnTo>
                    <a:pt x="2197" y="1352"/>
                  </a:lnTo>
                  <a:lnTo>
                    <a:pt x="2191" y="1353"/>
                  </a:lnTo>
                  <a:lnTo>
                    <a:pt x="2185" y="1354"/>
                  </a:lnTo>
                  <a:lnTo>
                    <a:pt x="2179" y="1355"/>
                  </a:lnTo>
                  <a:lnTo>
                    <a:pt x="1649" y="1355"/>
                  </a:lnTo>
                  <a:lnTo>
                    <a:pt x="1120" y="1355"/>
                  </a:lnTo>
                  <a:lnTo>
                    <a:pt x="591" y="1355"/>
                  </a:lnTo>
                  <a:lnTo>
                    <a:pt x="61" y="1355"/>
                  </a:lnTo>
                  <a:lnTo>
                    <a:pt x="50" y="1353"/>
                  </a:lnTo>
                  <a:lnTo>
                    <a:pt x="45" y="1352"/>
                  </a:lnTo>
                  <a:lnTo>
                    <a:pt x="40" y="1350"/>
                  </a:lnTo>
                  <a:lnTo>
                    <a:pt x="32" y="1346"/>
                  </a:lnTo>
                  <a:lnTo>
                    <a:pt x="24" y="1342"/>
                  </a:lnTo>
                  <a:lnTo>
                    <a:pt x="21" y="1339"/>
                  </a:lnTo>
                  <a:lnTo>
                    <a:pt x="17" y="1336"/>
                  </a:lnTo>
                  <a:lnTo>
                    <a:pt x="12" y="1330"/>
                  </a:lnTo>
                  <a:lnTo>
                    <a:pt x="7" y="1323"/>
                  </a:lnTo>
                  <a:lnTo>
                    <a:pt x="4" y="1316"/>
                  </a:lnTo>
                  <a:lnTo>
                    <a:pt x="2" y="1308"/>
                  </a:lnTo>
                  <a:lnTo>
                    <a:pt x="0" y="1301"/>
                  </a:lnTo>
                  <a:lnTo>
                    <a:pt x="0" y="1293"/>
                  </a:lnTo>
                  <a:lnTo>
                    <a:pt x="1" y="1285"/>
                  </a:lnTo>
                  <a:lnTo>
                    <a:pt x="3" y="1278"/>
                  </a:lnTo>
                  <a:lnTo>
                    <a:pt x="4" y="1274"/>
                  </a:lnTo>
                  <a:lnTo>
                    <a:pt x="5" y="1271"/>
                  </a:lnTo>
                  <a:lnTo>
                    <a:pt x="9" y="1264"/>
                  </a:lnTo>
                  <a:lnTo>
                    <a:pt x="11" y="1261"/>
                  </a:lnTo>
                  <a:lnTo>
                    <a:pt x="13" y="1258"/>
                  </a:lnTo>
                  <a:close/>
                </a:path>
              </a:pathLst>
            </a:custGeom>
            <a:gradFill rotWithShape="1">
              <a:gsLst>
                <a:gs pos="0">
                  <a:srgbClr val="DEE7F1"/>
                </a:gs>
                <a:gs pos="100000">
                  <a:srgbClr val="B3C8DF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pic>
          <p:nvPicPr>
            <p:cNvPr id="498131" name="Picture-467" descr="UserAccount_UserAccounts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18" y="2084"/>
              <a:ext cx="954" cy="858"/>
            </a:xfrm>
            <a:prstGeom prst="rect">
              <a:avLst/>
            </a:prstGeom>
            <a:noFill/>
          </p:spPr>
        </p:pic>
        <p:pic>
          <p:nvPicPr>
            <p:cNvPr id="498132" name="Picture-468" descr="Collection_DomainGroup0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352" y="1940"/>
              <a:ext cx="1203" cy="946"/>
            </a:xfrm>
            <a:prstGeom prst="rect">
              <a:avLst/>
            </a:prstGeom>
            <a:noFill/>
          </p:spPr>
        </p:pic>
        <p:sp>
          <p:nvSpPr>
            <p:cNvPr id="498133" name="AutoShape-469"/>
            <p:cNvSpPr>
              <a:spLocks noChangeArrowheads="1"/>
            </p:cNvSpPr>
            <p:nvPr/>
          </p:nvSpPr>
          <p:spPr bwMode="auto">
            <a:xfrm>
              <a:off x="2397" y="1401"/>
              <a:ext cx="1005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de domaine local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34" name="AutoShape-470"/>
            <p:cNvSpPr>
              <a:spLocks noChangeArrowheads="1"/>
            </p:cNvSpPr>
            <p:nvPr/>
          </p:nvSpPr>
          <p:spPr bwMode="auto">
            <a:xfrm>
              <a:off x="3951" y="1401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Autorisations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35" name="AutoShape-471"/>
            <p:cNvSpPr>
              <a:spLocks noChangeArrowheads="1"/>
            </p:cNvSpPr>
            <p:nvPr/>
          </p:nvSpPr>
          <p:spPr bwMode="auto">
            <a:xfrm>
              <a:off x="844" y="1401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Comptes d'utilisateurs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</p:grpSp>
      <p:sp>
        <p:nvSpPr>
          <p:cNvPr id="498136" name="Freeform-472"/>
          <p:cNvSpPr>
            <a:spLocks/>
          </p:cNvSpPr>
          <p:nvPr/>
        </p:nvSpPr>
        <p:spPr bwMode="auto">
          <a:xfrm rot="-1537153" flipH="1" flipV="1">
            <a:off x="2895600" y="4599172"/>
            <a:ext cx="1052513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37" name="Freeform-473"/>
          <p:cNvSpPr>
            <a:spLocks/>
          </p:cNvSpPr>
          <p:nvPr/>
        </p:nvSpPr>
        <p:spPr bwMode="auto">
          <a:xfrm rot="1537153" flipV="1">
            <a:off x="5173663" y="4599172"/>
            <a:ext cx="1052512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pSp>
        <p:nvGrpSpPr>
          <p:cNvPr id="4" name="Group 610"/>
          <p:cNvGrpSpPr>
            <a:grpSpLocks/>
          </p:cNvGrpSpPr>
          <p:nvPr/>
        </p:nvGrpSpPr>
        <p:grpSpPr bwMode="auto">
          <a:xfrm>
            <a:off x="919163" y="1487672"/>
            <a:ext cx="7248525" cy="4992687"/>
            <a:chOff x="579" y="778"/>
            <a:chExt cx="4566" cy="3145"/>
          </a:xfrm>
        </p:grpSpPr>
        <p:sp>
          <p:nvSpPr>
            <p:cNvPr id="498139" name="AutoShape-475"/>
            <p:cNvSpPr>
              <a:spLocks noChangeArrowheads="1"/>
            </p:cNvSpPr>
            <p:nvPr/>
          </p:nvSpPr>
          <p:spPr bwMode="auto">
            <a:xfrm>
              <a:off x="579" y="778"/>
              <a:ext cx="4566" cy="3145"/>
            </a:xfrm>
            <a:prstGeom prst="roundRect">
              <a:avLst>
                <a:gd name="adj" fmla="val 362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8F6E4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fr-FR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 G DL A</a:t>
              </a:r>
              <a:r>
                <a:rPr lang="en-IE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40" name="AutoShape-476"/>
            <p:cNvSpPr>
              <a:spLocks noChangeArrowheads="1"/>
            </p:cNvSpPr>
            <p:nvPr/>
          </p:nvSpPr>
          <p:spPr bwMode="auto">
            <a:xfrm>
              <a:off x="957" y="3147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41" name="AutoShape-477"/>
            <p:cNvSpPr>
              <a:spLocks noChangeArrowheads="1"/>
            </p:cNvSpPr>
            <p:nvPr/>
          </p:nvSpPr>
          <p:spPr bwMode="auto">
            <a:xfrm>
              <a:off x="4438" y="3147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42" name="Picture-478" descr="Security_Keys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22" y="2139"/>
              <a:ext cx="560" cy="790"/>
            </a:xfrm>
            <a:prstGeom prst="rect">
              <a:avLst/>
            </a:prstGeom>
            <a:noFill/>
          </p:spPr>
        </p:pic>
        <p:sp>
          <p:nvSpPr>
            <p:cNvPr id="498143" name="AutoShape-479"/>
            <p:cNvSpPr>
              <a:spLocks noChangeArrowheads="1"/>
            </p:cNvSpPr>
            <p:nvPr/>
          </p:nvSpPr>
          <p:spPr bwMode="auto">
            <a:xfrm>
              <a:off x="2933" y="1407"/>
              <a:ext cx="969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de domaine local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44" name="AutoShape-480"/>
            <p:cNvSpPr>
              <a:spLocks noChangeArrowheads="1"/>
            </p:cNvSpPr>
            <p:nvPr/>
          </p:nvSpPr>
          <p:spPr bwMode="auto">
            <a:xfrm>
              <a:off x="3252" y="3147"/>
              <a:ext cx="412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DL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45" name="Freeform-481"/>
            <p:cNvSpPr>
              <a:spLocks/>
            </p:cNvSpPr>
            <p:nvPr/>
          </p:nvSpPr>
          <p:spPr bwMode="auto">
            <a:xfrm>
              <a:off x="955" y="1912"/>
              <a:ext cx="1200" cy="926"/>
            </a:xfrm>
            <a:custGeom>
              <a:avLst/>
              <a:gdLst/>
              <a:ahLst/>
              <a:cxnLst>
                <a:cxn ang="0">
                  <a:pos x="543" y="640"/>
                </a:cxn>
                <a:cxn ang="0">
                  <a:pos x="1080" y="18"/>
                </a:cxn>
                <a:cxn ang="0">
                  <a:pos x="1092" y="10"/>
                </a:cxn>
                <a:cxn ang="0">
                  <a:pos x="1104" y="4"/>
                </a:cxn>
                <a:cxn ang="0">
                  <a:pos x="1117" y="1"/>
                </a:cxn>
                <a:cxn ang="0">
                  <a:pos x="1130" y="1"/>
                </a:cxn>
                <a:cxn ang="0">
                  <a:pos x="1143" y="4"/>
                </a:cxn>
                <a:cxn ang="0">
                  <a:pos x="1156" y="10"/>
                </a:cxn>
                <a:cxn ang="0">
                  <a:pos x="1167" y="18"/>
                </a:cxn>
                <a:cxn ang="0">
                  <a:pos x="1700" y="640"/>
                </a:cxn>
                <a:cxn ang="0">
                  <a:pos x="2232" y="1264"/>
                </a:cxn>
                <a:cxn ang="0">
                  <a:pos x="2237" y="1274"/>
                </a:cxn>
                <a:cxn ang="0">
                  <a:pos x="2241" y="1285"/>
                </a:cxn>
                <a:cxn ang="0">
                  <a:pos x="2242" y="1301"/>
                </a:cxn>
                <a:cxn ang="0">
                  <a:pos x="2241" y="1312"/>
                </a:cxn>
                <a:cxn ang="0">
                  <a:pos x="2236" y="1323"/>
                </a:cxn>
                <a:cxn ang="0">
                  <a:pos x="2232" y="1330"/>
                </a:cxn>
                <a:cxn ang="0">
                  <a:pos x="2227" y="1336"/>
                </a:cxn>
                <a:cxn ang="0">
                  <a:pos x="2220" y="1342"/>
                </a:cxn>
                <a:cxn ang="0">
                  <a:pos x="2202" y="1350"/>
                </a:cxn>
                <a:cxn ang="0">
                  <a:pos x="2191" y="1353"/>
                </a:cxn>
                <a:cxn ang="0">
                  <a:pos x="2179" y="1355"/>
                </a:cxn>
                <a:cxn ang="0">
                  <a:pos x="1120" y="1355"/>
                </a:cxn>
                <a:cxn ang="0">
                  <a:pos x="61" y="1355"/>
                </a:cxn>
                <a:cxn ang="0">
                  <a:pos x="45" y="1352"/>
                </a:cxn>
                <a:cxn ang="0">
                  <a:pos x="32" y="1346"/>
                </a:cxn>
                <a:cxn ang="0">
                  <a:pos x="21" y="1339"/>
                </a:cxn>
                <a:cxn ang="0">
                  <a:pos x="12" y="1330"/>
                </a:cxn>
                <a:cxn ang="0">
                  <a:pos x="4" y="1316"/>
                </a:cxn>
                <a:cxn ang="0">
                  <a:pos x="0" y="1301"/>
                </a:cxn>
                <a:cxn ang="0">
                  <a:pos x="1" y="1285"/>
                </a:cxn>
                <a:cxn ang="0">
                  <a:pos x="4" y="1274"/>
                </a:cxn>
                <a:cxn ang="0">
                  <a:pos x="9" y="1264"/>
                </a:cxn>
                <a:cxn ang="0">
                  <a:pos x="13" y="1258"/>
                </a:cxn>
              </a:cxnLst>
              <a:rect l="0" t="0" r="r" b="b"/>
              <a:pathLst>
                <a:path w="2242" h="1355">
                  <a:moveTo>
                    <a:pt x="13" y="1258"/>
                  </a:moveTo>
                  <a:lnTo>
                    <a:pt x="543" y="640"/>
                  </a:lnTo>
                  <a:lnTo>
                    <a:pt x="1075" y="24"/>
                  </a:lnTo>
                  <a:lnTo>
                    <a:pt x="1080" y="18"/>
                  </a:lnTo>
                  <a:lnTo>
                    <a:pt x="1086" y="14"/>
                  </a:lnTo>
                  <a:lnTo>
                    <a:pt x="1092" y="10"/>
                  </a:lnTo>
                  <a:lnTo>
                    <a:pt x="1098" y="6"/>
                  </a:lnTo>
                  <a:lnTo>
                    <a:pt x="1104" y="4"/>
                  </a:lnTo>
                  <a:lnTo>
                    <a:pt x="1110" y="2"/>
                  </a:lnTo>
                  <a:lnTo>
                    <a:pt x="1117" y="1"/>
                  </a:lnTo>
                  <a:lnTo>
                    <a:pt x="1124" y="0"/>
                  </a:lnTo>
                  <a:lnTo>
                    <a:pt x="1130" y="1"/>
                  </a:lnTo>
                  <a:lnTo>
                    <a:pt x="1137" y="2"/>
                  </a:lnTo>
                  <a:lnTo>
                    <a:pt x="1143" y="4"/>
                  </a:lnTo>
                  <a:lnTo>
                    <a:pt x="1149" y="6"/>
                  </a:lnTo>
                  <a:lnTo>
                    <a:pt x="1156" y="10"/>
                  </a:lnTo>
                  <a:lnTo>
                    <a:pt x="1161" y="14"/>
                  </a:lnTo>
                  <a:lnTo>
                    <a:pt x="1167" y="18"/>
                  </a:lnTo>
                  <a:lnTo>
                    <a:pt x="1172" y="24"/>
                  </a:lnTo>
                  <a:lnTo>
                    <a:pt x="1700" y="640"/>
                  </a:lnTo>
                  <a:lnTo>
                    <a:pt x="2227" y="1258"/>
                  </a:lnTo>
                  <a:lnTo>
                    <a:pt x="2232" y="1264"/>
                  </a:lnTo>
                  <a:lnTo>
                    <a:pt x="2235" y="1271"/>
                  </a:lnTo>
                  <a:lnTo>
                    <a:pt x="2237" y="1274"/>
                  </a:lnTo>
                  <a:lnTo>
                    <a:pt x="2238" y="1278"/>
                  </a:lnTo>
                  <a:lnTo>
                    <a:pt x="2241" y="1285"/>
                  </a:lnTo>
                  <a:lnTo>
                    <a:pt x="2242" y="1293"/>
                  </a:lnTo>
                  <a:lnTo>
                    <a:pt x="2242" y="1301"/>
                  </a:lnTo>
                  <a:lnTo>
                    <a:pt x="2241" y="1308"/>
                  </a:lnTo>
                  <a:lnTo>
                    <a:pt x="2241" y="1312"/>
                  </a:lnTo>
                  <a:lnTo>
                    <a:pt x="2239" y="1316"/>
                  </a:lnTo>
                  <a:lnTo>
                    <a:pt x="2236" y="1323"/>
                  </a:lnTo>
                  <a:lnTo>
                    <a:pt x="2234" y="1326"/>
                  </a:lnTo>
                  <a:lnTo>
                    <a:pt x="2232" y="1330"/>
                  </a:lnTo>
                  <a:lnTo>
                    <a:pt x="2230" y="1333"/>
                  </a:lnTo>
                  <a:lnTo>
                    <a:pt x="2227" y="1336"/>
                  </a:lnTo>
                  <a:lnTo>
                    <a:pt x="2223" y="1339"/>
                  </a:lnTo>
                  <a:lnTo>
                    <a:pt x="2220" y="1342"/>
                  </a:lnTo>
                  <a:lnTo>
                    <a:pt x="2212" y="1346"/>
                  </a:lnTo>
                  <a:lnTo>
                    <a:pt x="2202" y="1350"/>
                  </a:lnTo>
                  <a:lnTo>
                    <a:pt x="2197" y="1352"/>
                  </a:lnTo>
                  <a:lnTo>
                    <a:pt x="2191" y="1353"/>
                  </a:lnTo>
                  <a:lnTo>
                    <a:pt x="2185" y="1354"/>
                  </a:lnTo>
                  <a:lnTo>
                    <a:pt x="2179" y="1355"/>
                  </a:lnTo>
                  <a:lnTo>
                    <a:pt x="1649" y="1355"/>
                  </a:lnTo>
                  <a:lnTo>
                    <a:pt x="1120" y="1355"/>
                  </a:lnTo>
                  <a:lnTo>
                    <a:pt x="591" y="1355"/>
                  </a:lnTo>
                  <a:lnTo>
                    <a:pt x="61" y="1355"/>
                  </a:lnTo>
                  <a:lnTo>
                    <a:pt x="50" y="1353"/>
                  </a:lnTo>
                  <a:lnTo>
                    <a:pt x="45" y="1352"/>
                  </a:lnTo>
                  <a:lnTo>
                    <a:pt x="40" y="1350"/>
                  </a:lnTo>
                  <a:lnTo>
                    <a:pt x="32" y="1346"/>
                  </a:lnTo>
                  <a:lnTo>
                    <a:pt x="24" y="1342"/>
                  </a:lnTo>
                  <a:lnTo>
                    <a:pt x="21" y="1339"/>
                  </a:lnTo>
                  <a:lnTo>
                    <a:pt x="17" y="1336"/>
                  </a:lnTo>
                  <a:lnTo>
                    <a:pt x="12" y="1330"/>
                  </a:lnTo>
                  <a:lnTo>
                    <a:pt x="7" y="1323"/>
                  </a:lnTo>
                  <a:lnTo>
                    <a:pt x="4" y="1316"/>
                  </a:lnTo>
                  <a:lnTo>
                    <a:pt x="2" y="1308"/>
                  </a:lnTo>
                  <a:lnTo>
                    <a:pt x="0" y="1301"/>
                  </a:lnTo>
                  <a:lnTo>
                    <a:pt x="0" y="1293"/>
                  </a:lnTo>
                  <a:lnTo>
                    <a:pt x="1" y="1285"/>
                  </a:lnTo>
                  <a:lnTo>
                    <a:pt x="3" y="1278"/>
                  </a:lnTo>
                  <a:lnTo>
                    <a:pt x="4" y="1274"/>
                  </a:lnTo>
                  <a:lnTo>
                    <a:pt x="5" y="1271"/>
                  </a:lnTo>
                  <a:lnTo>
                    <a:pt x="9" y="1264"/>
                  </a:lnTo>
                  <a:lnTo>
                    <a:pt x="11" y="1261"/>
                  </a:lnTo>
                  <a:lnTo>
                    <a:pt x="13" y="1258"/>
                  </a:lnTo>
                  <a:close/>
                </a:path>
              </a:pathLst>
            </a:custGeom>
            <a:gradFill rotWithShape="1">
              <a:gsLst>
                <a:gs pos="0">
                  <a:srgbClr val="DEE7F1"/>
                </a:gs>
                <a:gs pos="100000">
                  <a:srgbClr val="B3C8DF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pic>
          <p:nvPicPr>
            <p:cNvPr id="498146" name="Picture-482" descr="UserAccount_UserAccounts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07" y="2106"/>
              <a:ext cx="828" cy="744"/>
            </a:xfrm>
            <a:prstGeom prst="rect">
              <a:avLst/>
            </a:prstGeom>
            <a:noFill/>
          </p:spPr>
        </p:pic>
        <p:pic>
          <p:nvPicPr>
            <p:cNvPr id="498147" name="Picture-483" descr="Collection_DomainGroup0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956" y="2107"/>
              <a:ext cx="1002" cy="788"/>
            </a:xfrm>
            <a:prstGeom prst="rect">
              <a:avLst/>
            </a:prstGeom>
            <a:noFill/>
          </p:spPr>
        </p:pic>
        <p:sp>
          <p:nvSpPr>
            <p:cNvPr id="498148" name="AutoShape-484"/>
            <p:cNvSpPr>
              <a:spLocks noChangeArrowheads="1"/>
            </p:cNvSpPr>
            <p:nvPr/>
          </p:nvSpPr>
          <p:spPr bwMode="auto">
            <a:xfrm>
              <a:off x="2120" y="3147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49" name="Picture-485" descr="Collection_GlobalGroup0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788" y="2103"/>
              <a:ext cx="991" cy="779"/>
            </a:xfrm>
            <a:prstGeom prst="rect">
              <a:avLst/>
            </a:prstGeom>
            <a:noFill/>
          </p:spPr>
        </p:pic>
        <p:sp>
          <p:nvSpPr>
            <p:cNvPr id="498150" name="AutoShape-486"/>
            <p:cNvSpPr>
              <a:spLocks noChangeArrowheads="1"/>
            </p:cNvSpPr>
            <p:nvPr/>
          </p:nvSpPr>
          <p:spPr bwMode="auto">
            <a:xfrm>
              <a:off x="4144" y="1407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Autorisations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51" name="AutoShape-487"/>
            <p:cNvSpPr>
              <a:spLocks noChangeArrowheads="1"/>
            </p:cNvSpPr>
            <p:nvPr/>
          </p:nvSpPr>
          <p:spPr bwMode="auto">
            <a:xfrm>
              <a:off x="1829" y="1407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globaux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52" name="AutoShape-488"/>
            <p:cNvSpPr>
              <a:spLocks noChangeArrowheads="1"/>
            </p:cNvSpPr>
            <p:nvPr/>
          </p:nvSpPr>
          <p:spPr bwMode="auto">
            <a:xfrm>
              <a:off x="672" y="1407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Comptes d'utilisateurs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</p:grpSp>
      <p:sp>
        <p:nvSpPr>
          <p:cNvPr id="498153" name="Freeform-489"/>
          <p:cNvSpPr>
            <a:spLocks/>
          </p:cNvSpPr>
          <p:nvPr/>
        </p:nvSpPr>
        <p:spPr bwMode="auto">
          <a:xfrm rot="-1537153" flipH="1" flipV="1">
            <a:off x="2166938" y="4632509"/>
            <a:ext cx="1052512" cy="661988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54" name="Freeform-490"/>
          <p:cNvSpPr>
            <a:spLocks/>
          </p:cNvSpPr>
          <p:nvPr/>
        </p:nvSpPr>
        <p:spPr bwMode="auto">
          <a:xfrm rot="-1537153" flipH="1" flipV="1">
            <a:off x="3956050" y="4632509"/>
            <a:ext cx="1052513" cy="661988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55" name="Freeform-491"/>
          <p:cNvSpPr>
            <a:spLocks/>
          </p:cNvSpPr>
          <p:nvPr/>
        </p:nvSpPr>
        <p:spPr bwMode="auto">
          <a:xfrm rot="1537153" flipV="1">
            <a:off x="5954713" y="4632509"/>
            <a:ext cx="1052512" cy="661988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608"/>
          <p:cNvGrpSpPr>
            <a:grpSpLocks/>
          </p:cNvGrpSpPr>
          <p:nvPr/>
        </p:nvGrpSpPr>
        <p:grpSpPr bwMode="auto">
          <a:xfrm>
            <a:off x="876300" y="1459097"/>
            <a:ext cx="7248525" cy="4992687"/>
            <a:chOff x="571" y="778"/>
            <a:chExt cx="4566" cy="3145"/>
          </a:xfrm>
        </p:grpSpPr>
        <p:sp>
          <p:nvSpPr>
            <p:cNvPr id="498157" name="AutoShape-493"/>
            <p:cNvSpPr>
              <a:spLocks noChangeArrowheads="1"/>
            </p:cNvSpPr>
            <p:nvPr/>
          </p:nvSpPr>
          <p:spPr bwMode="auto">
            <a:xfrm>
              <a:off x="571" y="778"/>
              <a:ext cx="4566" cy="3145"/>
            </a:xfrm>
            <a:prstGeom prst="roundRect">
              <a:avLst>
                <a:gd name="adj" fmla="val 362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8F6E4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fr-FR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 G U DL A</a:t>
              </a:r>
              <a:r>
                <a:rPr lang="en-IE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58" name="AutoShape-494"/>
            <p:cNvSpPr>
              <a:spLocks noChangeArrowheads="1"/>
            </p:cNvSpPr>
            <p:nvPr/>
          </p:nvSpPr>
          <p:spPr bwMode="auto">
            <a:xfrm>
              <a:off x="799" y="2297"/>
              <a:ext cx="28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59" name="AutoShape-495"/>
            <p:cNvSpPr>
              <a:spLocks noChangeArrowheads="1"/>
            </p:cNvSpPr>
            <p:nvPr/>
          </p:nvSpPr>
          <p:spPr bwMode="auto">
            <a:xfrm>
              <a:off x="4550" y="2297"/>
              <a:ext cx="28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60" name="Picture-496" descr="Security_Keys0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474" y="1581"/>
              <a:ext cx="434" cy="612"/>
            </a:xfrm>
            <a:prstGeom prst="rect">
              <a:avLst/>
            </a:prstGeom>
            <a:noFill/>
          </p:spPr>
        </p:pic>
        <p:sp>
          <p:nvSpPr>
            <p:cNvPr id="498161" name="AutoShape-497"/>
            <p:cNvSpPr>
              <a:spLocks noChangeArrowheads="1"/>
            </p:cNvSpPr>
            <p:nvPr/>
          </p:nvSpPr>
          <p:spPr bwMode="auto">
            <a:xfrm>
              <a:off x="3301" y="1140"/>
              <a:ext cx="848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de domaine local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62" name="AutoShape-498"/>
            <p:cNvSpPr>
              <a:spLocks noChangeArrowheads="1"/>
            </p:cNvSpPr>
            <p:nvPr/>
          </p:nvSpPr>
          <p:spPr bwMode="auto">
            <a:xfrm>
              <a:off x="3559" y="2297"/>
              <a:ext cx="35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DL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63" name="Freeform-499"/>
            <p:cNvSpPr>
              <a:spLocks/>
            </p:cNvSpPr>
            <p:nvPr/>
          </p:nvSpPr>
          <p:spPr bwMode="auto">
            <a:xfrm>
              <a:off x="833" y="1411"/>
              <a:ext cx="1054" cy="763"/>
            </a:xfrm>
            <a:custGeom>
              <a:avLst/>
              <a:gdLst/>
              <a:ahLst/>
              <a:cxnLst>
                <a:cxn ang="0">
                  <a:pos x="543" y="640"/>
                </a:cxn>
                <a:cxn ang="0">
                  <a:pos x="1080" y="18"/>
                </a:cxn>
                <a:cxn ang="0">
                  <a:pos x="1092" y="10"/>
                </a:cxn>
                <a:cxn ang="0">
                  <a:pos x="1104" y="4"/>
                </a:cxn>
                <a:cxn ang="0">
                  <a:pos x="1117" y="1"/>
                </a:cxn>
                <a:cxn ang="0">
                  <a:pos x="1130" y="1"/>
                </a:cxn>
                <a:cxn ang="0">
                  <a:pos x="1143" y="4"/>
                </a:cxn>
                <a:cxn ang="0">
                  <a:pos x="1156" y="10"/>
                </a:cxn>
                <a:cxn ang="0">
                  <a:pos x="1167" y="18"/>
                </a:cxn>
                <a:cxn ang="0">
                  <a:pos x="1700" y="640"/>
                </a:cxn>
                <a:cxn ang="0">
                  <a:pos x="2232" y="1264"/>
                </a:cxn>
                <a:cxn ang="0">
                  <a:pos x="2237" y="1274"/>
                </a:cxn>
                <a:cxn ang="0">
                  <a:pos x="2241" y="1285"/>
                </a:cxn>
                <a:cxn ang="0">
                  <a:pos x="2242" y="1301"/>
                </a:cxn>
                <a:cxn ang="0">
                  <a:pos x="2241" y="1312"/>
                </a:cxn>
                <a:cxn ang="0">
                  <a:pos x="2236" y="1323"/>
                </a:cxn>
                <a:cxn ang="0">
                  <a:pos x="2232" y="1330"/>
                </a:cxn>
                <a:cxn ang="0">
                  <a:pos x="2227" y="1336"/>
                </a:cxn>
                <a:cxn ang="0">
                  <a:pos x="2220" y="1342"/>
                </a:cxn>
                <a:cxn ang="0">
                  <a:pos x="2202" y="1350"/>
                </a:cxn>
                <a:cxn ang="0">
                  <a:pos x="2191" y="1353"/>
                </a:cxn>
                <a:cxn ang="0">
                  <a:pos x="2179" y="1355"/>
                </a:cxn>
                <a:cxn ang="0">
                  <a:pos x="1120" y="1355"/>
                </a:cxn>
                <a:cxn ang="0">
                  <a:pos x="61" y="1355"/>
                </a:cxn>
                <a:cxn ang="0">
                  <a:pos x="45" y="1352"/>
                </a:cxn>
                <a:cxn ang="0">
                  <a:pos x="32" y="1346"/>
                </a:cxn>
                <a:cxn ang="0">
                  <a:pos x="21" y="1339"/>
                </a:cxn>
                <a:cxn ang="0">
                  <a:pos x="12" y="1330"/>
                </a:cxn>
                <a:cxn ang="0">
                  <a:pos x="4" y="1316"/>
                </a:cxn>
                <a:cxn ang="0">
                  <a:pos x="0" y="1301"/>
                </a:cxn>
                <a:cxn ang="0">
                  <a:pos x="1" y="1285"/>
                </a:cxn>
                <a:cxn ang="0">
                  <a:pos x="4" y="1274"/>
                </a:cxn>
                <a:cxn ang="0">
                  <a:pos x="9" y="1264"/>
                </a:cxn>
                <a:cxn ang="0">
                  <a:pos x="13" y="1258"/>
                </a:cxn>
              </a:cxnLst>
              <a:rect l="0" t="0" r="r" b="b"/>
              <a:pathLst>
                <a:path w="2242" h="1355">
                  <a:moveTo>
                    <a:pt x="13" y="1258"/>
                  </a:moveTo>
                  <a:lnTo>
                    <a:pt x="543" y="640"/>
                  </a:lnTo>
                  <a:lnTo>
                    <a:pt x="1075" y="24"/>
                  </a:lnTo>
                  <a:lnTo>
                    <a:pt x="1080" y="18"/>
                  </a:lnTo>
                  <a:lnTo>
                    <a:pt x="1086" y="14"/>
                  </a:lnTo>
                  <a:lnTo>
                    <a:pt x="1092" y="10"/>
                  </a:lnTo>
                  <a:lnTo>
                    <a:pt x="1098" y="6"/>
                  </a:lnTo>
                  <a:lnTo>
                    <a:pt x="1104" y="4"/>
                  </a:lnTo>
                  <a:lnTo>
                    <a:pt x="1110" y="2"/>
                  </a:lnTo>
                  <a:lnTo>
                    <a:pt x="1117" y="1"/>
                  </a:lnTo>
                  <a:lnTo>
                    <a:pt x="1124" y="0"/>
                  </a:lnTo>
                  <a:lnTo>
                    <a:pt x="1130" y="1"/>
                  </a:lnTo>
                  <a:lnTo>
                    <a:pt x="1137" y="2"/>
                  </a:lnTo>
                  <a:lnTo>
                    <a:pt x="1143" y="4"/>
                  </a:lnTo>
                  <a:lnTo>
                    <a:pt x="1149" y="6"/>
                  </a:lnTo>
                  <a:lnTo>
                    <a:pt x="1156" y="10"/>
                  </a:lnTo>
                  <a:lnTo>
                    <a:pt x="1161" y="14"/>
                  </a:lnTo>
                  <a:lnTo>
                    <a:pt x="1167" y="18"/>
                  </a:lnTo>
                  <a:lnTo>
                    <a:pt x="1172" y="24"/>
                  </a:lnTo>
                  <a:lnTo>
                    <a:pt x="1700" y="640"/>
                  </a:lnTo>
                  <a:lnTo>
                    <a:pt x="2227" y="1258"/>
                  </a:lnTo>
                  <a:lnTo>
                    <a:pt x="2232" y="1264"/>
                  </a:lnTo>
                  <a:lnTo>
                    <a:pt x="2235" y="1271"/>
                  </a:lnTo>
                  <a:lnTo>
                    <a:pt x="2237" y="1274"/>
                  </a:lnTo>
                  <a:lnTo>
                    <a:pt x="2238" y="1278"/>
                  </a:lnTo>
                  <a:lnTo>
                    <a:pt x="2241" y="1285"/>
                  </a:lnTo>
                  <a:lnTo>
                    <a:pt x="2242" y="1293"/>
                  </a:lnTo>
                  <a:lnTo>
                    <a:pt x="2242" y="1301"/>
                  </a:lnTo>
                  <a:lnTo>
                    <a:pt x="2241" y="1308"/>
                  </a:lnTo>
                  <a:lnTo>
                    <a:pt x="2241" y="1312"/>
                  </a:lnTo>
                  <a:lnTo>
                    <a:pt x="2239" y="1316"/>
                  </a:lnTo>
                  <a:lnTo>
                    <a:pt x="2236" y="1323"/>
                  </a:lnTo>
                  <a:lnTo>
                    <a:pt x="2234" y="1326"/>
                  </a:lnTo>
                  <a:lnTo>
                    <a:pt x="2232" y="1330"/>
                  </a:lnTo>
                  <a:lnTo>
                    <a:pt x="2230" y="1333"/>
                  </a:lnTo>
                  <a:lnTo>
                    <a:pt x="2227" y="1336"/>
                  </a:lnTo>
                  <a:lnTo>
                    <a:pt x="2223" y="1339"/>
                  </a:lnTo>
                  <a:lnTo>
                    <a:pt x="2220" y="1342"/>
                  </a:lnTo>
                  <a:lnTo>
                    <a:pt x="2212" y="1346"/>
                  </a:lnTo>
                  <a:lnTo>
                    <a:pt x="2202" y="1350"/>
                  </a:lnTo>
                  <a:lnTo>
                    <a:pt x="2197" y="1352"/>
                  </a:lnTo>
                  <a:lnTo>
                    <a:pt x="2191" y="1353"/>
                  </a:lnTo>
                  <a:lnTo>
                    <a:pt x="2185" y="1354"/>
                  </a:lnTo>
                  <a:lnTo>
                    <a:pt x="2179" y="1355"/>
                  </a:lnTo>
                  <a:lnTo>
                    <a:pt x="1649" y="1355"/>
                  </a:lnTo>
                  <a:lnTo>
                    <a:pt x="1120" y="1355"/>
                  </a:lnTo>
                  <a:lnTo>
                    <a:pt x="591" y="1355"/>
                  </a:lnTo>
                  <a:lnTo>
                    <a:pt x="61" y="1355"/>
                  </a:lnTo>
                  <a:lnTo>
                    <a:pt x="50" y="1353"/>
                  </a:lnTo>
                  <a:lnTo>
                    <a:pt x="45" y="1352"/>
                  </a:lnTo>
                  <a:lnTo>
                    <a:pt x="40" y="1350"/>
                  </a:lnTo>
                  <a:lnTo>
                    <a:pt x="32" y="1346"/>
                  </a:lnTo>
                  <a:lnTo>
                    <a:pt x="24" y="1342"/>
                  </a:lnTo>
                  <a:lnTo>
                    <a:pt x="21" y="1339"/>
                  </a:lnTo>
                  <a:lnTo>
                    <a:pt x="17" y="1336"/>
                  </a:lnTo>
                  <a:lnTo>
                    <a:pt x="12" y="1330"/>
                  </a:lnTo>
                  <a:lnTo>
                    <a:pt x="7" y="1323"/>
                  </a:lnTo>
                  <a:lnTo>
                    <a:pt x="4" y="1316"/>
                  </a:lnTo>
                  <a:lnTo>
                    <a:pt x="2" y="1308"/>
                  </a:lnTo>
                  <a:lnTo>
                    <a:pt x="0" y="1301"/>
                  </a:lnTo>
                  <a:lnTo>
                    <a:pt x="0" y="1293"/>
                  </a:lnTo>
                  <a:lnTo>
                    <a:pt x="1" y="1285"/>
                  </a:lnTo>
                  <a:lnTo>
                    <a:pt x="3" y="1278"/>
                  </a:lnTo>
                  <a:lnTo>
                    <a:pt x="4" y="1274"/>
                  </a:lnTo>
                  <a:lnTo>
                    <a:pt x="5" y="1271"/>
                  </a:lnTo>
                  <a:lnTo>
                    <a:pt x="9" y="1264"/>
                  </a:lnTo>
                  <a:lnTo>
                    <a:pt x="11" y="1261"/>
                  </a:lnTo>
                  <a:lnTo>
                    <a:pt x="13" y="1258"/>
                  </a:lnTo>
                  <a:close/>
                </a:path>
              </a:pathLst>
            </a:custGeom>
            <a:gradFill rotWithShape="1">
              <a:gsLst>
                <a:gs pos="0">
                  <a:srgbClr val="DEE7F1"/>
                </a:gs>
                <a:gs pos="100000">
                  <a:srgbClr val="B3C8DF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pic>
          <p:nvPicPr>
            <p:cNvPr id="498164" name="Picture-500" descr="UserAccount_UserAccounts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44" y="1621"/>
              <a:ext cx="692" cy="622"/>
            </a:xfrm>
            <a:prstGeom prst="rect">
              <a:avLst/>
            </a:prstGeom>
            <a:noFill/>
          </p:spPr>
        </p:pic>
        <p:pic>
          <p:nvPicPr>
            <p:cNvPr id="498165" name="Picture-501" descr="Collection_DomainGroup01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3370" y="1537"/>
              <a:ext cx="824" cy="648"/>
            </a:xfrm>
            <a:prstGeom prst="rect">
              <a:avLst/>
            </a:prstGeom>
            <a:noFill/>
          </p:spPr>
        </p:pic>
        <p:sp>
          <p:nvSpPr>
            <p:cNvPr id="498166" name="AutoShape-502"/>
            <p:cNvSpPr>
              <a:spLocks noChangeArrowheads="1"/>
            </p:cNvSpPr>
            <p:nvPr/>
          </p:nvSpPr>
          <p:spPr bwMode="auto">
            <a:xfrm>
              <a:off x="1719" y="2297"/>
              <a:ext cx="28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67" name="Picture-503" descr="Collection_GlobalGroup01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1414" y="1601"/>
              <a:ext cx="734" cy="578"/>
            </a:xfrm>
            <a:prstGeom prst="rect">
              <a:avLst/>
            </a:prstGeom>
            <a:noFill/>
          </p:spPr>
        </p:pic>
        <p:sp>
          <p:nvSpPr>
            <p:cNvPr id="498168" name="AutoShape-504"/>
            <p:cNvSpPr>
              <a:spLocks noChangeArrowheads="1"/>
            </p:cNvSpPr>
            <p:nvPr/>
          </p:nvSpPr>
          <p:spPr bwMode="auto">
            <a:xfrm>
              <a:off x="4253" y="1140"/>
              <a:ext cx="823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Autorisations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69" name="AutoShape-505"/>
            <p:cNvSpPr>
              <a:spLocks noChangeArrowheads="1"/>
            </p:cNvSpPr>
            <p:nvPr/>
          </p:nvSpPr>
          <p:spPr bwMode="auto">
            <a:xfrm>
              <a:off x="1492" y="1140"/>
              <a:ext cx="626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globaux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70" name="AutoShape-506"/>
            <p:cNvSpPr>
              <a:spLocks noChangeArrowheads="1"/>
            </p:cNvSpPr>
            <p:nvPr/>
          </p:nvSpPr>
          <p:spPr bwMode="auto">
            <a:xfrm>
              <a:off x="610" y="1140"/>
              <a:ext cx="794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Comptes d'utilisateurs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71" name="AutoShape-507"/>
            <p:cNvSpPr>
              <a:spLocks noChangeArrowheads="1"/>
            </p:cNvSpPr>
            <p:nvPr/>
          </p:nvSpPr>
          <p:spPr bwMode="auto">
            <a:xfrm>
              <a:off x="2333" y="1140"/>
              <a:ext cx="714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universels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72" name="AutoShape-508"/>
            <p:cNvSpPr>
              <a:spLocks noChangeArrowheads="1"/>
            </p:cNvSpPr>
            <p:nvPr/>
          </p:nvSpPr>
          <p:spPr bwMode="auto">
            <a:xfrm>
              <a:off x="2639" y="2297"/>
              <a:ext cx="28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U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73" name="Picture-509" descr="Collection_UniversalGroup01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2369" y="1535"/>
              <a:ext cx="840" cy="660"/>
            </a:xfrm>
            <a:prstGeom prst="rect">
              <a:avLst/>
            </a:prstGeom>
            <a:noFill/>
          </p:spPr>
        </p:pic>
        <p:sp>
          <p:nvSpPr>
            <p:cNvPr id="498174" name="AutoShape-510"/>
            <p:cNvSpPr>
              <a:spLocks noChangeArrowheads="1"/>
            </p:cNvSpPr>
            <p:nvPr/>
          </p:nvSpPr>
          <p:spPr bwMode="auto">
            <a:xfrm>
              <a:off x="824" y="3603"/>
              <a:ext cx="28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75" name="Freeform-511"/>
            <p:cNvSpPr>
              <a:spLocks/>
            </p:cNvSpPr>
            <p:nvPr/>
          </p:nvSpPr>
          <p:spPr bwMode="auto">
            <a:xfrm>
              <a:off x="858" y="2741"/>
              <a:ext cx="1054" cy="763"/>
            </a:xfrm>
            <a:custGeom>
              <a:avLst/>
              <a:gdLst/>
              <a:ahLst/>
              <a:cxnLst>
                <a:cxn ang="0">
                  <a:pos x="543" y="640"/>
                </a:cxn>
                <a:cxn ang="0">
                  <a:pos x="1080" y="18"/>
                </a:cxn>
                <a:cxn ang="0">
                  <a:pos x="1092" y="10"/>
                </a:cxn>
                <a:cxn ang="0">
                  <a:pos x="1104" y="4"/>
                </a:cxn>
                <a:cxn ang="0">
                  <a:pos x="1117" y="1"/>
                </a:cxn>
                <a:cxn ang="0">
                  <a:pos x="1130" y="1"/>
                </a:cxn>
                <a:cxn ang="0">
                  <a:pos x="1143" y="4"/>
                </a:cxn>
                <a:cxn ang="0">
                  <a:pos x="1156" y="10"/>
                </a:cxn>
                <a:cxn ang="0">
                  <a:pos x="1167" y="18"/>
                </a:cxn>
                <a:cxn ang="0">
                  <a:pos x="1700" y="640"/>
                </a:cxn>
                <a:cxn ang="0">
                  <a:pos x="2232" y="1264"/>
                </a:cxn>
                <a:cxn ang="0">
                  <a:pos x="2237" y="1274"/>
                </a:cxn>
                <a:cxn ang="0">
                  <a:pos x="2241" y="1285"/>
                </a:cxn>
                <a:cxn ang="0">
                  <a:pos x="2242" y="1301"/>
                </a:cxn>
                <a:cxn ang="0">
                  <a:pos x="2241" y="1312"/>
                </a:cxn>
                <a:cxn ang="0">
                  <a:pos x="2236" y="1323"/>
                </a:cxn>
                <a:cxn ang="0">
                  <a:pos x="2232" y="1330"/>
                </a:cxn>
                <a:cxn ang="0">
                  <a:pos x="2227" y="1336"/>
                </a:cxn>
                <a:cxn ang="0">
                  <a:pos x="2220" y="1342"/>
                </a:cxn>
                <a:cxn ang="0">
                  <a:pos x="2202" y="1350"/>
                </a:cxn>
                <a:cxn ang="0">
                  <a:pos x="2191" y="1353"/>
                </a:cxn>
                <a:cxn ang="0">
                  <a:pos x="2179" y="1355"/>
                </a:cxn>
                <a:cxn ang="0">
                  <a:pos x="1120" y="1355"/>
                </a:cxn>
                <a:cxn ang="0">
                  <a:pos x="61" y="1355"/>
                </a:cxn>
                <a:cxn ang="0">
                  <a:pos x="45" y="1352"/>
                </a:cxn>
                <a:cxn ang="0">
                  <a:pos x="32" y="1346"/>
                </a:cxn>
                <a:cxn ang="0">
                  <a:pos x="21" y="1339"/>
                </a:cxn>
                <a:cxn ang="0">
                  <a:pos x="12" y="1330"/>
                </a:cxn>
                <a:cxn ang="0">
                  <a:pos x="4" y="1316"/>
                </a:cxn>
                <a:cxn ang="0">
                  <a:pos x="0" y="1301"/>
                </a:cxn>
                <a:cxn ang="0">
                  <a:pos x="1" y="1285"/>
                </a:cxn>
                <a:cxn ang="0">
                  <a:pos x="4" y="1274"/>
                </a:cxn>
                <a:cxn ang="0">
                  <a:pos x="9" y="1264"/>
                </a:cxn>
                <a:cxn ang="0">
                  <a:pos x="13" y="1258"/>
                </a:cxn>
              </a:cxnLst>
              <a:rect l="0" t="0" r="r" b="b"/>
              <a:pathLst>
                <a:path w="2242" h="1355">
                  <a:moveTo>
                    <a:pt x="13" y="1258"/>
                  </a:moveTo>
                  <a:lnTo>
                    <a:pt x="543" y="640"/>
                  </a:lnTo>
                  <a:lnTo>
                    <a:pt x="1075" y="24"/>
                  </a:lnTo>
                  <a:lnTo>
                    <a:pt x="1080" y="18"/>
                  </a:lnTo>
                  <a:lnTo>
                    <a:pt x="1086" y="14"/>
                  </a:lnTo>
                  <a:lnTo>
                    <a:pt x="1092" y="10"/>
                  </a:lnTo>
                  <a:lnTo>
                    <a:pt x="1098" y="6"/>
                  </a:lnTo>
                  <a:lnTo>
                    <a:pt x="1104" y="4"/>
                  </a:lnTo>
                  <a:lnTo>
                    <a:pt x="1110" y="2"/>
                  </a:lnTo>
                  <a:lnTo>
                    <a:pt x="1117" y="1"/>
                  </a:lnTo>
                  <a:lnTo>
                    <a:pt x="1124" y="0"/>
                  </a:lnTo>
                  <a:lnTo>
                    <a:pt x="1130" y="1"/>
                  </a:lnTo>
                  <a:lnTo>
                    <a:pt x="1137" y="2"/>
                  </a:lnTo>
                  <a:lnTo>
                    <a:pt x="1143" y="4"/>
                  </a:lnTo>
                  <a:lnTo>
                    <a:pt x="1149" y="6"/>
                  </a:lnTo>
                  <a:lnTo>
                    <a:pt x="1156" y="10"/>
                  </a:lnTo>
                  <a:lnTo>
                    <a:pt x="1161" y="14"/>
                  </a:lnTo>
                  <a:lnTo>
                    <a:pt x="1167" y="18"/>
                  </a:lnTo>
                  <a:lnTo>
                    <a:pt x="1172" y="24"/>
                  </a:lnTo>
                  <a:lnTo>
                    <a:pt x="1700" y="640"/>
                  </a:lnTo>
                  <a:lnTo>
                    <a:pt x="2227" y="1258"/>
                  </a:lnTo>
                  <a:lnTo>
                    <a:pt x="2232" y="1264"/>
                  </a:lnTo>
                  <a:lnTo>
                    <a:pt x="2235" y="1271"/>
                  </a:lnTo>
                  <a:lnTo>
                    <a:pt x="2237" y="1274"/>
                  </a:lnTo>
                  <a:lnTo>
                    <a:pt x="2238" y="1278"/>
                  </a:lnTo>
                  <a:lnTo>
                    <a:pt x="2241" y="1285"/>
                  </a:lnTo>
                  <a:lnTo>
                    <a:pt x="2242" y="1293"/>
                  </a:lnTo>
                  <a:lnTo>
                    <a:pt x="2242" y="1301"/>
                  </a:lnTo>
                  <a:lnTo>
                    <a:pt x="2241" y="1308"/>
                  </a:lnTo>
                  <a:lnTo>
                    <a:pt x="2241" y="1312"/>
                  </a:lnTo>
                  <a:lnTo>
                    <a:pt x="2239" y="1316"/>
                  </a:lnTo>
                  <a:lnTo>
                    <a:pt x="2236" y="1323"/>
                  </a:lnTo>
                  <a:lnTo>
                    <a:pt x="2234" y="1326"/>
                  </a:lnTo>
                  <a:lnTo>
                    <a:pt x="2232" y="1330"/>
                  </a:lnTo>
                  <a:lnTo>
                    <a:pt x="2230" y="1333"/>
                  </a:lnTo>
                  <a:lnTo>
                    <a:pt x="2227" y="1336"/>
                  </a:lnTo>
                  <a:lnTo>
                    <a:pt x="2223" y="1339"/>
                  </a:lnTo>
                  <a:lnTo>
                    <a:pt x="2220" y="1342"/>
                  </a:lnTo>
                  <a:lnTo>
                    <a:pt x="2212" y="1346"/>
                  </a:lnTo>
                  <a:lnTo>
                    <a:pt x="2202" y="1350"/>
                  </a:lnTo>
                  <a:lnTo>
                    <a:pt x="2197" y="1352"/>
                  </a:lnTo>
                  <a:lnTo>
                    <a:pt x="2191" y="1353"/>
                  </a:lnTo>
                  <a:lnTo>
                    <a:pt x="2185" y="1354"/>
                  </a:lnTo>
                  <a:lnTo>
                    <a:pt x="2179" y="1355"/>
                  </a:lnTo>
                  <a:lnTo>
                    <a:pt x="1649" y="1355"/>
                  </a:lnTo>
                  <a:lnTo>
                    <a:pt x="1120" y="1355"/>
                  </a:lnTo>
                  <a:lnTo>
                    <a:pt x="591" y="1355"/>
                  </a:lnTo>
                  <a:lnTo>
                    <a:pt x="61" y="1355"/>
                  </a:lnTo>
                  <a:lnTo>
                    <a:pt x="50" y="1353"/>
                  </a:lnTo>
                  <a:lnTo>
                    <a:pt x="45" y="1352"/>
                  </a:lnTo>
                  <a:lnTo>
                    <a:pt x="40" y="1350"/>
                  </a:lnTo>
                  <a:lnTo>
                    <a:pt x="32" y="1346"/>
                  </a:lnTo>
                  <a:lnTo>
                    <a:pt x="24" y="1342"/>
                  </a:lnTo>
                  <a:lnTo>
                    <a:pt x="21" y="1339"/>
                  </a:lnTo>
                  <a:lnTo>
                    <a:pt x="17" y="1336"/>
                  </a:lnTo>
                  <a:lnTo>
                    <a:pt x="12" y="1330"/>
                  </a:lnTo>
                  <a:lnTo>
                    <a:pt x="7" y="1323"/>
                  </a:lnTo>
                  <a:lnTo>
                    <a:pt x="4" y="1316"/>
                  </a:lnTo>
                  <a:lnTo>
                    <a:pt x="2" y="1308"/>
                  </a:lnTo>
                  <a:lnTo>
                    <a:pt x="0" y="1301"/>
                  </a:lnTo>
                  <a:lnTo>
                    <a:pt x="0" y="1293"/>
                  </a:lnTo>
                  <a:lnTo>
                    <a:pt x="1" y="1285"/>
                  </a:lnTo>
                  <a:lnTo>
                    <a:pt x="3" y="1278"/>
                  </a:lnTo>
                  <a:lnTo>
                    <a:pt x="4" y="1274"/>
                  </a:lnTo>
                  <a:lnTo>
                    <a:pt x="5" y="1271"/>
                  </a:lnTo>
                  <a:lnTo>
                    <a:pt x="9" y="1264"/>
                  </a:lnTo>
                  <a:lnTo>
                    <a:pt x="11" y="1261"/>
                  </a:lnTo>
                  <a:lnTo>
                    <a:pt x="13" y="1258"/>
                  </a:lnTo>
                  <a:close/>
                </a:path>
              </a:pathLst>
            </a:custGeom>
            <a:solidFill>
              <a:srgbClr val="CBEDC3"/>
            </a:soli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98176" name="AutoShape-512"/>
            <p:cNvSpPr>
              <a:spLocks noChangeArrowheads="1"/>
            </p:cNvSpPr>
            <p:nvPr/>
          </p:nvSpPr>
          <p:spPr bwMode="auto">
            <a:xfrm>
              <a:off x="1744" y="3603"/>
              <a:ext cx="282" cy="198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</a:t>
              </a:r>
              <a:r>
                <a:rPr lang="en-IE" altLang="zh-CN" sz="20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0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77" name="AutoShape-513"/>
            <p:cNvSpPr>
              <a:spLocks noChangeArrowheads="1"/>
            </p:cNvSpPr>
            <p:nvPr/>
          </p:nvSpPr>
          <p:spPr bwMode="auto">
            <a:xfrm>
              <a:off x="1517" y="2624"/>
              <a:ext cx="626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globaux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78" name="AutoShape-514"/>
            <p:cNvSpPr>
              <a:spLocks noChangeArrowheads="1"/>
            </p:cNvSpPr>
            <p:nvPr/>
          </p:nvSpPr>
          <p:spPr bwMode="auto">
            <a:xfrm>
              <a:off x="653" y="2624"/>
              <a:ext cx="786" cy="324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Comptes d'utilisateurs</a:t>
              </a:r>
              <a:r>
                <a:rPr lang="en-IE" altLang="zh-CN" sz="16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79" name="Picture-515" descr="UserAccount_UserAccounts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69" y="2951"/>
              <a:ext cx="692" cy="622"/>
            </a:xfrm>
            <a:prstGeom prst="rect">
              <a:avLst/>
            </a:prstGeom>
            <a:noFill/>
          </p:spPr>
        </p:pic>
        <p:pic>
          <p:nvPicPr>
            <p:cNvPr id="498180" name="Picture-516" descr="Collection_GlobalGroup01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1439" y="2931"/>
              <a:ext cx="734" cy="578"/>
            </a:xfrm>
            <a:prstGeom prst="rect">
              <a:avLst/>
            </a:prstGeom>
            <a:noFill/>
          </p:spPr>
        </p:pic>
      </p:grpSp>
      <p:sp>
        <p:nvSpPr>
          <p:cNvPr id="498181" name="Freeform-517"/>
          <p:cNvSpPr>
            <a:spLocks/>
          </p:cNvSpPr>
          <p:nvPr/>
        </p:nvSpPr>
        <p:spPr bwMode="auto">
          <a:xfrm rot="-1537153" flipH="1" flipV="1">
            <a:off x="1876425" y="3592697"/>
            <a:ext cx="723900" cy="455612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82" name="Freeform-518"/>
          <p:cNvSpPr>
            <a:spLocks/>
          </p:cNvSpPr>
          <p:nvPr/>
        </p:nvSpPr>
        <p:spPr bwMode="auto">
          <a:xfrm rot="-1537153" flipH="1" flipV="1">
            <a:off x="3178175" y="3592697"/>
            <a:ext cx="723900" cy="455612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83" name="Freeform-519"/>
          <p:cNvSpPr>
            <a:spLocks/>
          </p:cNvSpPr>
          <p:nvPr/>
        </p:nvSpPr>
        <p:spPr bwMode="auto">
          <a:xfrm rot="-3938362" flipH="1" flipV="1">
            <a:off x="3395663" y="4565834"/>
            <a:ext cx="1076325" cy="523875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84" name="Freeform-520"/>
          <p:cNvSpPr>
            <a:spLocks/>
          </p:cNvSpPr>
          <p:nvPr/>
        </p:nvSpPr>
        <p:spPr bwMode="auto">
          <a:xfrm rot="-1537153" flipH="1" flipV="1">
            <a:off x="4684713" y="3592697"/>
            <a:ext cx="723900" cy="455612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85" name="Freeform-521"/>
          <p:cNvSpPr>
            <a:spLocks/>
          </p:cNvSpPr>
          <p:nvPr/>
        </p:nvSpPr>
        <p:spPr bwMode="auto">
          <a:xfrm rot="1537153" flipV="1">
            <a:off x="6397625" y="3592697"/>
            <a:ext cx="723900" cy="455612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186" name="Freeform-522"/>
          <p:cNvSpPr>
            <a:spLocks/>
          </p:cNvSpPr>
          <p:nvPr/>
        </p:nvSpPr>
        <p:spPr bwMode="auto">
          <a:xfrm rot="-1537153" flipH="1" flipV="1">
            <a:off x="1914525" y="5756459"/>
            <a:ext cx="723900" cy="455613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pSp>
        <p:nvGrpSpPr>
          <p:cNvPr id="6" name="Group-523"/>
          <p:cNvGrpSpPr>
            <a:grpSpLocks/>
          </p:cNvGrpSpPr>
          <p:nvPr/>
        </p:nvGrpSpPr>
        <p:grpSpPr bwMode="auto">
          <a:xfrm>
            <a:off x="917575" y="1473384"/>
            <a:ext cx="7248525" cy="4992688"/>
            <a:chOff x="567" y="793"/>
            <a:chExt cx="4566" cy="3145"/>
          </a:xfrm>
        </p:grpSpPr>
        <p:sp>
          <p:nvSpPr>
            <p:cNvPr id="498188" name="AutoShape-524"/>
            <p:cNvSpPr>
              <a:spLocks noChangeArrowheads="1"/>
            </p:cNvSpPr>
            <p:nvPr/>
          </p:nvSpPr>
          <p:spPr bwMode="auto">
            <a:xfrm>
              <a:off x="567" y="793"/>
              <a:ext cx="4566" cy="3145"/>
            </a:xfrm>
            <a:prstGeom prst="roundRect">
              <a:avLst>
                <a:gd name="adj" fmla="val 362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8F6E4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fr-FR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 G L A</a:t>
              </a:r>
              <a:r>
                <a:rPr lang="en-IE" altLang="zh-CN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4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89" name="AutoShape-525"/>
            <p:cNvSpPr>
              <a:spLocks noChangeArrowheads="1"/>
            </p:cNvSpPr>
            <p:nvPr/>
          </p:nvSpPr>
          <p:spPr bwMode="auto">
            <a:xfrm>
              <a:off x="945" y="3162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90" name="AutoShape-526"/>
            <p:cNvSpPr>
              <a:spLocks noChangeArrowheads="1"/>
            </p:cNvSpPr>
            <p:nvPr/>
          </p:nvSpPr>
          <p:spPr bwMode="auto">
            <a:xfrm>
              <a:off x="4426" y="3162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91" name="Picture-527" descr="Security_Keys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10" y="2081"/>
              <a:ext cx="560" cy="790"/>
            </a:xfrm>
            <a:prstGeom prst="rect">
              <a:avLst/>
            </a:prstGeom>
            <a:noFill/>
          </p:spPr>
        </p:pic>
        <p:sp>
          <p:nvSpPr>
            <p:cNvPr id="498192" name="AutoShape-528"/>
            <p:cNvSpPr>
              <a:spLocks noChangeArrowheads="1"/>
            </p:cNvSpPr>
            <p:nvPr/>
          </p:nvSpPr>
          <p:spPr bwMode="auto">
            <a:xfrm>
              <a:off x="2974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locaux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93" name="AutoShape-529"/>
            <p:cNvSpPr>
              <a:spLocks noChangeArrowheads="1"/>
            </p:cNvSpPr>
            <p:nvPr/>
          </p:nvSpPr>
          <p:spPr bwMode="auto">
            <a:xfrm>
              <a:off x="3240" y="3162"/>
              <a:ext cx="412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L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94" name="Freeform-530"/>
            <p:cNvSpPr>
              <a:spLocks/>
            </p:cNvSpPr>
            <p:nvPr/>
          </p:nvSpPr>
          <p:spPr bwMode="auto">
            <a:xfrm>
              <a:off x="943" y="1927"/>
              <a:ext cx="1200" cy="926"/>
            </a:xfrm>
            <a:custGeom>
              <a:avLst/>
              <a:gdLst/>
              <a:ahLst/>
              <a:cxnLst>
                <a:cxn ang="0">
                  <a:pos x="543" y="640"/>
                </a:cxn>
                <a:cxn ang="0">
                  <a:pos x="1080" y="18"/>
                </a:cxn>
                <a:cxn ang="0">
                  <a:pos x="1092" y="10"/>
                </a:cxn>
                <a:cxn ang="0">
                  <a:pos x="1104" y="4"/>
                </a:cxn>
                <a:cxn ang="0">
                  <a:pos x="1117" y="1"/>
                </a:cxn>
                <a:cxn ang="0">
                  <a:pos x="1130" y="1"/>
                </a:cxn>
                <a:cxn ang="0">
                  <a:pos x="1143" y="4"/>
                </a:cxn>
                <a:cxn ang="0">
                  <a:pos x="1156" y="10"/>
                </a:cxn>
                <a:cxn ang="0">
                  <a:pos x="1167" y="18"/>
                </a:cxn>
                <a:cxn ang="0">
                  <a:pos x="1700" y="640"/>
                </a:cxn>
                <a:cxn ang="0">
                  <a:pos x="2232" y="1264"/>
                </a:cxn>
                <a:cxn ang="0">
                  <a:pos x="2237" y="1274"/>
                </a:cxn>
                <a:cxn ang="0">
                  <a:pos x="2241" y="1285"/>
                </a:cxn>
                <a:cxn ang="0">
                  <a:pos x="2242" y="1301"/>
                </a:cxn>
                <a:cxn ang="0">
                  <a:pos x="2241" y="1312"/>
                </a:cxn>
                <a:cxn ang="0">
                  <a:pos x="2236" y="1323"/>
                </a:cxn>
                <a:cxn ang="0">
                  <a:pos x="2232" y="1330"/>
                </a:cxn>
                <a:cxn ang="0">
                  <a:pos x="2227" y="1336"/>
                </a:cxn>
                <a:cxn ang="0">
                  <a:pos x="2220" y="1342"/>
                </a:cxn>
                <a:cxn ang="0">
                  <a:pos x="2202" y="1350"/>
                </a:cxn>
                <a:cxn ang="0">
                  <a:pos x="2191" y="1353"/>
                </a:cxn>
                <a:cxn ang="0">
                  <a:pos x="2179" y="1355"/>
                </a:cxn>
                <a:cxn ang="0">
                  <a:pos x="1120" y="1355"/>
                </a:cxn>
                <a:cxn ang="0">
                  <a:pos x="61" y="1355"/>
                </a:cxn>
                <a:cxn ang="0">
                  <a:pos x="45" y="1352"/>
                </a:cxn>
                <a:cxn ang="0">
                  <a:pos x="32" y="1346"/>
                </a:cxn>
                <a:cxn ang="0">
                  <a:pos x="21" y="1339"/>
                </a:cxn>
                <a:cxn ang="0">
                  <a:pos x="12" y="1330"/>
                </a:cxn>
                <a:cxn ang="0">
                  <a:pos x="4" y="1316"/>
                </a:cxn>
                <a:cxn ang="0">
                  <a:pos x="0" y="1301"/>
                </a:cxn>
                <a:cxn ang="0">
                  <a:pos x="1" y="1285"/>
                </a:cxn>
                <a:cxn ang="0">
                  <a:pos x="4" y="1274"/>
                </a:cxn>
                <a:cxn ang="0">
                  <a:pos x="9" y="1264"/>
                </a:cxn>
                <a:cxn ang="0">
                  <a:pos x="13" y="1258"/>
                </a:cxn>
              </a:cxnLst>
              <a:rect l="0" t="0" r="r" b="b"/>
              <a:pathLst>
                <a:path w="2242" h="1355">
                  <a:moveTo>
                    <a:pt x="13" y="1258"/>
                  </a:moveTo>
                  <a:lnTo>
                    <a:pt x="543" y="640"/>
                  </a:lnTo>
                  <a:lnTo>
                    <a:pt x="1075" y="24"/>
                  </a:lnTo>
                  <a:lnTo>
                    <a:pt x="1080" y="18"/>
                  </a:lnTo>
                  <a:lnTo>
                    <a:pt x="1086" y="14"/>
                  </a:lnTo>
                  <a:lnTo>
                    <a:pt x="1092" y="10"/>
                  </a:lnTo>
                  <a:lnTo>
                    <a:pt x="1098" y="6"/>
                  </a:lnTo>
                  <a:lnTo>
                    <a:pt x="1104" y="4"/>
                  </a:lnTo>
                  <a:lnTo>
                    <a:pt x="1110" y="2"/>
                  </a:lnTo>
                  <a:lnTo>
                    <a:pt x="1117" y="1"/>
                  </a:lnTo>
                  <a:lnTo>
                    <a:pt x="1124" y="0"/>
                  </a:lnTo>
                  <a:lnTo>
                    <a:pt x="1130" y="1"/>
                  </a:lnTo>
                  <a:lnTo>
                    <a:pt x="1137" y="2"/>
                  </a:lnTo>
                  <a:lnTo>
                    <a:pt x="1143" y="4"/>
                  </a:lnTo>
                  <a:lnTo>
                    <a:pt x="1149" y="6"/>
                  </a:lnTo>
                  <a:lnTo>
                    <a:pt x="1156" y="10"/>
                  </a:lnTo>
                  <a:lnTo>
                    <a:pt x="1161" y="14"/>
                  </a:lnTo>
                  <a:lnTo>
                    <a:pt x="1167" y="18"/>
                  </a:lnTo>
                  <a:lnTo>
                    <a:pt x="1172" y="24"/>
                  </a:lnTo>
                  <a:lnTo>
                    <a:pt x="1700" y="640"/>
                  </a:lnTo>
                  <a:lnTo>
                    <a:pt x="2227" y="1258"/>
                  </a:lnTo>
                  <a:lnTo>
                    <a:pt x="2232" y="1264"/>
                  </a:lnTo>
                  <a:lnTo>
                    <a:pt x="2235" y="1271"/>
                  </a:lnTo>
                  <a:lnTo>
                    <a:pt x="2237" y="1274"/>
                  </a:lnTo>
                  <a:lnTo>
                    <a:pt x="2238" y="1278"/>
                  </a:lnTo>
                  <a:lnTo>
                    <a:pt x="2241" y="1285"/>
                  </a:lnTo>
                  <a:lnTo>
                    <a:pt x="2242" y="1293"/>
                  </a:lnTo>
                  <a:lnTo>
                    <a:pt x="2242" y="1301"/>
                  </a:lnTo>
                  <a:lnTo>
                    <a:pt x="2241" y="1308"/>
                  </a:lnTo>
                  <a:lnTo>
                    <a:pt x="2241" y="1312"/>
                  </a:lnTo>
                  <a:lnTo>
                    <a:pt x="2239" y="1316"/>
                  </a:lnTo>
                  <a:lnTo>
                    <a:pt x="2236" y="1323"/>
                  </a:lnTo>
                  <a:lnTo>
                    <a:pt x="2234" y="1326"/>
                  </a:lnTo>
                  <a:lnTo>
                    <a:pt x="2232" y="1330"/>
                  </a:lnTo>
                  <a:lnTo>
                    <a:pt x="2230" y="1333"/>
                  </a:lnTo>
                  <a:lnTo>
                    <a:pt x="2227" y="1336"/>
                  </a:lnTo>
                  <a:lnTo>
                    <a:pt x="2223" y="1339"/>
                  </a:lnTo>
                  <a:lnTo>
                    <a:pt x="2220" y="1342"/>
                  </a:lnTo>
                  <a:lnTo>
                    <a:pt x="2212" y="1346"/>
                  </a:lnTo>
                  <a:lnTo>
                    <a:pt x="2202" y="1350"/>
                  </a:lnTo>
                  <a:lnTo>
                    <a:pt x="2197" y="1352"/>
                  </a:lnTo>
                  <a:lnTo>
                    <a:pt x="2191" y="1353"/>
                  </a:lnTo>
                  <a:lnTo>
                    <a:pt x="2185" y="1354"/>
                  </a:lnTo>
                  <a:lnTo>
                    <a:pt x="2179" y="1355"/>
                  </a:lnTo>
                  <a:lnTo>
                    <a:pt x="1649" y="1355"/>
                  </a:lnTo>
                  <a:lnTo>
                    <a:pt x="1120" y="1355"/>
                  </a:lnTo>
                  <a:lnTo>
                    <a:pt x="591" y="1355"/>
                  </a:lnTo>
                  <a:lnTo>
                    <a:pt x="61" y="1355"/>
                  </a:lnTo>
                  <a:lnTo>
                    <a:pt x="50" y="1353"/>
                  </a:lnTo>
                  <a:lnTo>
                    <a:pt x="45" y="1352"/>
                  </a:lnTo>
                  <a:lnTo>
                    <a:pt x="40" y="1350"/>
                  </a:lnTo>
                  <a:lnTo>
                    <a:pt x="32" y="1346"/>
                  </a:lnTo>
                  <a:lnTo>
                    <a:pt x="24" y="1342"/>
                  </a:lnTo>
                  <a:lnTo>
                    <a:pt x="21" y="1339"/>
                  </a:lnTo>
                  <a:lnTo>
                    <a:pt x="17" y="1336"/>
                  </a:lnTo>
                  <a:lnTo>
                    <a:pt x="12" y="1330"/>
                  </a:lnTo>
                  <a:lnTo>
                    <a:pt x="7" y="1323"/>
                  </a:lnTo>
                  <a:lnTo>
                    <a:pt x="4" y="1316"/>
                  </a:lnTo>
                  <a:lnTo>
                    <a:pt x="2" y="1308"/>
                  </a:lnTo>
                  <a:lnTo>
                    <a:pt x="0" y="1301"/>
                  </a:lnTo>
                  <a:lnTo>
                    <a:pt x="0" y="1293"/>
                  </a:lnTo>
                  <a:lnTo>
                    <a:pt x="1" y="1285"/>
                  </a:lnTo>
                  <a:lnTo>
                    <a:pt x="3" y="1278"/>
                  </a:lnTo>
                  <a:lnTo>
                    <a:pt x="4" y="1274"/>
                  </a:lnTo>
                  <a:lnTo>
                    <a:pt x="5" y="1271"/>
                  </a:lnTo>
                  <a:lnTo>
                    <a:pt x="9" y="1264"/>
                  </a:lnTo>
                  <a:lnTo>
                    <a:pt x="11" y="1261"/>
                  </a:lnTo>
                  <a:lnTo>
                    <a:pt x="13" y="1258"/>
                  </a:lnTo>
                  <a:close/>
                </a:path>
              </a:pathLst>
            </a:custGeom>
            <a:gradFill rotWithShape="1">
              <a:gsLst>
                <a:gs pos="0">
                  <a:srgbClr val="DEE7F1"/>
                </a:gs>
                <a:gs pos="100000">
                  <a:srgbClr val="B3C8DF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pic>
          <p:nvPicPr>
            <p:cNvPr id="498195" name="Picture-531" descr="UserAccount_UserAccounts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95" y="2064"/>
              <a:ext cx="828" cy="744"/>
            </a:xfrm>
            <a:prstGeom prst="rect">
              <a:avLst/>
            </a:prstGeom>
            <a:noFill/>
          </p:spPr>
        </p:pic>
        <p:sp>
          <p:nvSpPr>
            <p:cNvPr id="498196" name="AutoShape-532"/>
            <p:cNvSpPr>
              <a:spLocks noChangeArrowheads="1"/>
            </p:cNvSpPr>
            <p:nvPr/>
          </p:nvSpPr>
          <p:spPr bwMode="auto">
            <a:xfrm>
              <a:off x="2108" y="3162"/>
              <a:ext cx="329" cy="247"/>
            </a:xfrm>
            <a:prstGeom prst="roundRect">
              <a:avLst>
                <a:gd name="adj" fmla="val 31722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EE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fr-FR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</a:t>
              </a:r>
              <a:r>
                <a:rPr lang="en-IE" altLang="zh-CN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197" name="Picture-533" descr="Collection_GlobalGroup0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776" y="2037"/>
              <a:ext cx="991" cy="779"/>
            </a:xfrm>
            <a:prstGeom prst="rect">
              <a:avLst/>
            </a:prstGeom>
            <a:noFill/>
          </p:spPr>
        </p:pic>
        <p:sp>
          <p:nvSpPr>
            <p:cNvPr id="498198" name="AutoShape-534"/>
            <p:cNvSpPr>
              <a:spLocks noChangeArrowheads="1"/>
            </p:cNvSpPr>
            <p:nvPr/>
          </p:nvSpPr>
          <p:spPr bwMode="auto">
            <a:xfrm>
              <a:off x="4132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Autorisations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199" name="AutoShape-535"/>
            <p:cNvSpPr>
              <a:spLocks noChangeArrowheads="1"/>
            </p:cNvSpPr>
            <p:nvPr/>
          </p:nvSpPr>
          <p:spPr bwMode="auto">
            <a:xfrm>
              <a:off x="1817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Groupes globaux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498200" name="AutoShape-536"/>
            <p:cNvSpPr>
              <a:spLocks noChangeArrowheads="1"/>
            </p:cNvSpPr>
            <p:nvPr/>
          </p:nvSpPr>
          <p:spPr bwMode="auto">
            <a:xfrm>
              <a:off x="660" y="1422"/>
              <a:ext cx="916" cy="406"/>
            </a:xfrm>
            <a:prstGeom prst="roundRect">
              <a:avLst>
                <a:gd name="adj" fmla="val 4139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Comptes d'utilisateurs</a:t>
              </a:r>
              <a:r>
                <a:rPr lang="en-IE" altLang="zh-CN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rPr>
                <a:t> </a:t>
              </a:r>
              <a:endParaRPr lang="en-US">
                <a:solidFill>
                  <a:srgbClr val="000000"/>
                </a:solidFill>
                <a:ea typeface="SimSun" pitchFamily="2" charset="-122"/>
                <a:cs typeface="Times New Roman" pitchFamily="18" charset="0"/>
              </a:endParaRPr>
            </a:p>
          </p:txBody>
        </p:sp>
        <p:pic>
          <p:nvPicPr>
            <p:cNvPr id="498201" name="Picture-537" descr="Collection_LocalGroupp01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981" y="2042"/>
              <a:ext cx="985" cy="774"/>
            </a:xfrm>
            <a:prstGeom prst="rect">
              <a:avLst/>
            </a:prstGeom>
            <a:noFill/>
          </p:spPr>
        </p:pic>
      </p:grpSp>
      <p:sp>
        <p:nvSpPr>
          <p:cNvPr id="498202" name="Freeform-538"/>
          <p:cNvSpPr>
            <a:spLocks/>
          </p:cNvSpPr>
          <p:nvPr/>
        </p:nvSpPr>
        <p:spPr bwMode="auto">
          <a:xfrm rot="-1537153" flipH="1" flipV="1">
            <a:off x="2182813" y="4602347"/>
            <a:ext cx="1052512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203" name="Freeform-539"/>
          <p:cNvSpPr>
            <a:spLocks/>
          </p:cNvSpPr>
          <p:nvPr/>
        </p:nvSpPr>
        <p:spPr bwMode="auto">
          <a:xfrm rot="-1537153" flipH="1" flipV="1">
            <a:off x="3971925" y="4602347"/>
            <a:ext cx="1052513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98204" name="Freeform-540"/>
          <p:cNvSpPr>
            <a:spLocks/>
          </p:cNvSpPr>
          <p:nvPr/>
        </p:nvSpPr>
        <p:spPr bwMode="auto">
          <a:xfrm rot="1537153" flipV="1">
            <a:off x="5970588" y="4602347"/>
            <a:ext cx="1052512" cy="661987"/>
          </a:xfrm>
          <a:custGeom>
            <a:avLst/>
            <a:gdLst/>
            <a:ahLst/>
            <a:cxnLst>
              <a:cxn ang="0">
                <a:pos x="242" y="149"/>
              </a:cxn>
              <a:cxn ang="0">
                <a:pos x="245" y="165"/>
              </a:cxn>
              <a:cxn ang="0">
                <a:pos x="248" y="182"/>
              </a:cxn>
              <a:cxn ang="0">
                <a:pos x="251" y="204"/>
              </a:cxn>
              <a:cxn ang="0">
                <a:pos x="0" y="98"/>
              </a:cxn>
              <a:cxn ang="0">
                <a:pos x="251" y="0"/>
              </a:cxn>
              <a:cxn ang="0">
                <a:pos x="248" y="20"/>
              </a:cxn>
              <a:cxn ang="0">
                <a:pos x="245" y="37"/>
              </a:cxn>
              <a:cxn ang="0">
                <a:pos x="242" y="53"/>
              </a:cxn>
              <a:cxn ang="0">
                <a:pos x="258" y="55"/>
              </a:cxn>
              <a:cxn ang="0">
                <a:pos x="275" y="58"/>
              </a:cxn>
              <a:cxn ang="0">
                <a:pos x="300" y="62"/>
              </a:cxn>
              <a:cxn ang="0">
                <a:pos x="329" y="69"/>
              </a:cxn>
              <a:cxn ang="0">
                <a:pos x="361" y="78"/>
              </a:cxn>
              <a:cxn ang="0">
                <a:pos x="396" y="90"/>
              </a:cxn>
              <a:cxn ang="0">
                <a:pos x="414" y="97"/>
              </a:cxn>
              <a:cxn ang="0">
                <a:pos x="433" y="105"/>
              </a:cxn>
              <a:cxn ang="0">
                <a:pos x="452" y="114"/>
              </a:cxn>
              <a:cxn ang="0">
                <a:pos x="469" y="124"/>
              </a:cxn>
              <a:cxn ang="0">
                <a:pos x="488" y="136"/>
              </a:cxn>
              <a:cxn ang="0">
                <a:pos x="507" y="147"/>
              </a:cxn>
              <a:cxn ang="0">
                <a:pos x="526" y="161"/>
              </a:cxn>
              <a:cxn ang="0">
                <a:pos x="543" y="175"/>
              </a:cxn>
              <a:cxn ang="0">
                <a:pos x="561" y="191"/>
              </a:cxn>
              <a:cxn ang="0">
                <a:pos x="577" y="208"/>
              </a:cxn>
              <a:cxn ang="0">
                <a:pos x="593" y="226"/>
              </a:cxn>
              <a:cxn ang="0">
                <a:pos x="609" y="246"/>
              </a:cxn>
              <a:cxn ang="0">
                <a:pos x="622" y="268"/>
              </a:cxn>
              <a:cxn ang="0">
                <a:pos x="635" y="290"/>
              </a:cxn>
              <a:cxn ang="0">
                <a:pos x="640" y="301"/>
              </a:cxn>
              <a:cxn ang="0">
                <a:pos x="646" y="314"/>
              </a:cxn>
              <a:cxn ang="0">
                <a:pos x="651" y="326"/>
              </a:cxn>
              <a:cxn ang="0">
                <a:pos x="656" y="339"/>
              </a:cxn>
              <a:cxn ang="0">
                <a:pos x="664" y="366"/>
              </a:cxn>
              <a:cxn ang="0">
                <a:pos x="671" y="395"/>
              </a:cxn>
              <a:cxn ang="0">
                <a:pos x="665" y="382"/>
              </a:cxn>
              <a:cxn ang="0">
                <a:pos x="658" y="369"/>
              </a:cxn>
              <a:cxn ang="0">
                <a:pos x="645" y="345"/>
              </a:cxn>
              <a:cxn ang="0">
                <a:pos x="630" y="323"/>
              </a:cxn>
              <a:cxn ang="0">
                <a:pos x="614" y="301"/>
              </a:cxn>
              <a:cxn ang="0">
                <a:pos x="598" y="282"/>
              </a:cxn>
              <a:cxn ang="0">
                <a:pos x="583" y="265"/>
              </a:cxn>
              <a:cxn ang="0">
                <a:pos x="565" y="249"/>
              </a:cxn>
              <a:cxn ang="0">
                <a:pos x="548" y="234"/>
              </a:cxn>
              <a:cxn ang="0">
                <a:pos x="530" y="221"/>
              </a:cxn>
              <a:cxn ang="0">
                <a:pos x="513" y="210"/>
              </a:cxn>
              <a:cxn ang="0">
                <a:pos x="496" y="200"/>
              </a:cxn>
              <a:cxn ang="0">
                <a:pos x="477" y="190"/>
              </a:cxn>
              <a:cxn ang="0">
                <a:pos x="459" y="182"/>
              </a:cxn>
              <a:cxn ang="0">
                <a:pos x="442" y="175"/>
              </a:cxn>
              <a:cxn ang="0">
                <a:pos x="425" y="168"/>
              </a:cxn>
              <a:cxn ang="0">
                <a:pos x="407" y="163"/>
              </a:cxn>
              <a:cxn ang="0">
                <a:pos x="390" y="159"/>
              </a:cxn>
              <a:cxn ang="0">
                <a:pos x="374" y="156"/>
              </a:cxn>
              <a:cxn ang="0">
                <a:pos x="343" y="150"/>
              </a:cxn>
              <a:cxn ang="0">
                <a:pos x="329" y="149"/>
              </a:cxn>
              <a:cxn ang="0">
                <a:pos x="314" y="147"/>
              </a:cxn>
              <a:cxn ang="0">
                <a:pos x="290" y="147"/>
              </a:cxn>
              <a:cxn ang="0">
                <a:pos x="269" y="147"/>
              </a:cxn>
              <a:cxn ang="0">
                <a:pos x="255" y="147"/>
              </a:cxn>
              <a:cxn ang="0">
                <a:pos x="242" y="149"/>
              </a:cxn>
            </a:cxnLst>
            <a:rect l="0" t="0" r="r" b="b"/>
            <a:pathLst>
              <a:path w="671" h="395">
                <a:moveTo>
                  <a:pt x="242" y="149"/>
                </a:moveTo>
                <a:lnTo>
                  <a:pt x="245" y="165"/>
                </a:lnTo>
                <a:lnTo>
                  <a:pt x="248" y="182"/>
                </a:lnTo>
                <a:lnTo>
                  <a:pt x="251" y="204"/>
                </a:lnTo>
                <a:lnTo>
                  <a:pt x="0" y="98"/>
                </a:lnTo>
                <a:lnTo>
                  <a:pt x="251" y="0"/>
                </a:lnTo>
                <a:lnTo>
                  <a:pt x="248" y="20"/>
                </a:lnTo>
                <a:lnTo>
                  <a:pt x="245" y="37"/>
                </a:lnTo>
                <a:lnTo>
                  <a:pt x="242" y="53"/>
                </a:lnTo>
                <a:lnTo>
                  <a:pt x="258" y="55"/>
                </a:lnTo>
                <a:lnTo>
                  <a:pt x="275" y="58"/>
                </a:lnTo>
                <a:lnTo>
                  <a:pt x="300" y="62"/>
                </a:lnTo>
                <a:lnTo>
                  <a:pt x="329" y="69"/>
                </a:lnTo>
                <a:lnTo>
                  <a:pt x="361" y="78"/>
                </a:lnTo>
                <a:lnTo>
                  <a:pt x="396" y="90"/>
                </a:lnTo>
                <a:lnTo>
                  <a:pt x="414" y="97"/>
                </a:lnTo>
                <a:lnTo>
                  <a:pt x="433" y="105"/>
                </a:lnTo>
                <a:lnTo>
                  <a:pt x="452" y="114"/>
                </a:lnTo>
                <a:lnTo>
                  <a:pt x="469" y="124"/>
                </a:lnTo>
                <a:lnTo>
                  <a:pt x="488" y="136"/>
                </a:lnTo>
                <a:lnTo>
                  <a:pt x="507" y="147"/>
                </a:lnTo>
                <a:lnTo>
                  <a:pt x="526" y="161"/>
                </a:lnTo>
                <a:lnTo>
                  <a:pt x="543" y="175"/>
                </a:lnTo>
                <a:lnTo>
                  <a:pt x="561" y="191"/>
                </a:lnTo>
                <a:lnTo>
                  <a:pt x="577" y="208"/>
                </a:lnTo>
                <a:lnTo>
                  <a:pt x="593" y="226"/>
                </a:lnTo>
                <a:lnTo>
                  <a:pt x="609" y="246"/>
                </a:lnTo>
                <a:lnTo>
                  <a:pt x="622" y="268"/>
                </a:lnTo>
                <a:lnTo>
                  <a:pt x="635" y="290"/>
                </a:lnTo>
                <a:lnTo>
                  <a:pt x="640" y="301"/>
                </a:lnTo>
                <a:lnTo>
                  <a:pt x="646" y="314"/>
                </a:lnTo>
                <a:lnTo>
                  <a:pt x="651" y="326"/>
                </a:lnTo>
                <a:lnTo>
                  <a:pt x="656" y="339"/>
                </a:lnTo>
                <a:lnTo>
                  <a:pt x="664" y="366"/>
                </a:lnTo>
                <a:lnTo>
                  <a:pt x="671" y="395"/>
                </a:lnTo>
                <a:lnTo>
                  <a:pt x="665" y="382"/>
                </a:lnTo>
                <a:lnTo>
                  <a:pt x="658" y="369"/>
                </a:lnTo>
                <a:lnTo>
                  <a:pt x="645" y="345"/>
                </a:lnTo>
                <a:lnTo>
                  <a:pt x="630" y="323"/>
                </a:lnTo>
                <a:lnTo>
                  <a:pt x="614" y="301"/>
                </a:lnTo>
                <a:lnTo>
                  <a:pt x="598" y="282"/>
                </a:lnTo>
                <a:lnTo>
                  <a:pt x="583" y="265"/>
                </a:lnTo>
                <a:lnTo>
                  <a:pt x="565" y="249"/>
                </a:lnTo>
                <a:lnTo>
                  <a:pt x="548" y="234"/>
                </a:lnTo>
                <a:lnTo>
                  <a:pt x="530" y="221"/>
                </a:lnTo>
                <a:lnTo>
                  <a:pt x="513" y="210"/>
                </a:lnTo>
                <a:lnTo>
                  <a:pt x="496" y="200"/>
                </a:lnTo>
                <a:lnTo>
                  <a:pt x="477" y="190"/>
                </a:lnTo>
                <a:lnTo>
                  <a:pt x="459" y="182"/>
                </a:lnTo>
                <a:lnTo>
                  <a:pt x="442" y="175"/>
                </a:lnTo>
                <a:lnTo>
                  <a:pt x="425" y="168"/>
                </a:lnTo>
                <a:lnTo>
                  <a:pt x="407" y="163"/>
                </a:lnTo>
                <a:lnTo>
                  <a:pt x="390" y="159"/>
                </a:lnTo>
                <a:lnTo>
                  <a:pt x="374" y="156"/>
                </a:lnTo>
                <a:lnTo>
                  <a:pt x="343" y="150"/>
                </a:lnTo>
                <a:lnTo>
                  <a:pt x="329" y="149"/>
                </a:lnTo>
                <a:lnTo>
                  <a:pt x="314" y="147"/>
                </a:lnTo>
                <a:lnTo>
                  <a:pt x="290" y="147"/>
                </a:lnTo>
                <a:lnTo>
                  <a:pt x="269" y="147"/>
                </a:lnTo>
                <a:lnTo>
                  <a:pt x="255" y="147"/>
                </a:lnTo>
                <a:lnTo>
                  <a:pt x="242" y="14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605"/>
          <p:cNvGrpSpPr>
            <a:grpSpLocks/>
          </p:cNvGrpSpPr>
          <p:nvPr/>
        </p:nvGrpSpPr>
        <p:grpSpPr bwMode="auto">
          <a:xfrm>
            <a:off x="898525" y="1446397"/>
            <a:ext cx="7248525" cy="4992687"/>
            <a:chOff x="564" y="759"/>
            <a:chExt cx="4566" cy="3145"/>
          </a:xfrm>
        </p:grpSpPr>
        <p:sp>
          <p:nvSpPr>
            <p:cNvPr id="498206" name="AutoShape-542"/>
            <p:cNvSpPr>
              <a:spLocks noChangeArrowheads="1"/>
            </p:cNvSpPr>
            <p:nvPr/>
          </p:nvSpPr>
          <p:spPr bwMode="auto">
            <a:xfrm>
              <a:off x="564" y="759"/>
              <a:ext cx="4566" cy="3145"/>
            </a:xfrm>
            <a:prstGeom prst="roundRect">
              <a:avLst>
                <a:gd name="adj" fmla="val 362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8F6E4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8" name="Group 543"/>
            <p:cNvGrpSpPr>
              <a:grpSpLocks/>
            </p:cNvGrpSpPr>
            <p:nvPr/>
          </p:nvGrpSpPr>
          <p:grpSpPr bwMode="auto">
            <a:xfrm>
              <a:off x="601" y="962"/>
              <a:ext cx="1052" cy="1282"/>
              <a:chOff x="604" y="1069"/>
              <a:chExt cx="1052" cy="1282"/>
            </a:xfrm>
          </p:grpSpPr>
          <p:sp>
            <p:nvSpPr>
              <p:cNvPr id="498208" name="AutoShape-544"/>
              <p:cNvSpPr>
                <a:spLocks noChangeArrowheads="1"/>
              </p:cNvSpPr>
              <p:nvPr/>
            </p:nvSpPr>
            <p:spPr bwMode="auto">
              <a:xfrm>
                <a:off x="604" y="1069"/>
                <a:ext cx="1052" cy="1152"/>
              </a:xfrm>
              <a:prstGeom prst="roundRect">
                <a:avLst>
                  <a:gd name="adj" fmla="val 4139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/>
              <a:lstStyle/>
              <a:p>
                <a:pPr marL="177800" indent="-177800">
                  <a:lnSpc>
                    <a:spcPct val="80000"/>
                  </a:lnSpc>
                </a:pPr>
                <a: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Comptes d'utilisateurs</a:t>
                </a:r>
                <a:r>
                  <a:rPr lang="en-IE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1700">
                  <a:ea typeface="SimSun" pitchFamily="2" charset="-122"/>
                  <a:cs typeface="Times New Roman" pitchFamily="18" charset="0"/>
                </a:endParaRPr>
              </a:p>
              <a:p>
                <a:pPr marL="177800" indent="-177800"/>
                <a:endParaRPr lang="en-US" sz="1700">
                  <a:ea typeface="SimSun" pitchFamily="2" charset="-122"/>
                  <a:cs typeface="Times New Roman" pitchFamily="18" charset="0"/>
                </a:endParaRPr>
              </a:p>
            </p:txBody>
          </p:sp>
          <p:pic>
            <p:nvPicPr>
              <p:cNvPr id="498209" name="Picture-545" descr="UserAccount_UserAccounts01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739" y="1436"/>
                <a:ext cx="781" cy="703"/>
              </a:xfrm>
              <a:prstGeom prst="rect">
                <a:avLst/>
              </a:prstGeom>
              <a:noFill/>
            </p:spPr>
          </p:pic>
          <p:sp>
            <p:nvSpPr>
              <p:cNvPr id="498210" name="AutoShape-546"/>
              <p:cNvSpPr>
                <a:spLocks noChangeArrowheads="1"/>
              </p:cNvSpPr>
              <p:nvPr/>
            </p:nvSpPr>
            <p:spPr bwMode="auto">
              <a:xfrm>
                <a:off x="965" y="2104"/>
                <a:ext cx="329" cy="247"/>
              </a:xfrm>
              <a:prstGeom prst="roundRect">
                <a:avLst>
                  <a:gd name="adj" fmla="val 31722"/>
                </a:avLst>
              </a:prstGeom>
              <a:gradFill rotWithShape="1">
                <a:gsLst>
                  <a:gs pos="0">
                    <a:srgbClr val="B395D8"/>
                  </a:gs>
                  <a:gs pos="100000">
                    <a:srgbClr val="DFD2EE"/>
                  </a:gs>
                </a:gsLst>
                <a:lin ang="2700000" scaled="1"/>
              </a:gradFill>
              <a:ln w="9525" algn="ctr">
                <a:solidFill>
                  <a:srgbClr val="333333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fr-FR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C</a:t>
                </a:r>
                <a:r>
                  <a:rPr lang="en-IE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9" name="Group 547"/>
            <p:cNvGrpSpPr>
              <a:grpSpLocks/>
            </p:cNvGrpSpPr>
            <p:nvPr/>
          </p:nvGrpSpPr>
          <p:grpSpPr bwMode="auto">
            <a:xfrm>
              <a:off x="1729" y="962"/>
              <a:ext cx="1078" cy="1282"/>
              <a:chOff x="1732" y="1069"/>
              <a:chExt cx="1052" cy="1282"/>
            </a:xfrm>
          </p:grpSpPr>
          <p:sp>
            <p:nvSpPr>
              <p:cNvPr id="498212" name="AutoShape-548"/>
              <p:cNvSpPr>
                <a:spLocks noChangeArrowheads="1"/>
              </p:cNvSpPr>
              <p:nvPr/>
            </p:nvSpPr>
            <p:spPr bwMode="auto">
              <a:xfrm>
                <a:off x="1732" y="1069"/>
                <a:ext cx="1052" cy="1152"/>
              </a:xfrm>
              <a:prstGeom prst="roundRect">
                <a:avLst>
                  <a:gd name="adj" fmla="val 4139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/>
              <a:lstStyle/>
              <a:p>
                <a:pPr marL="177800" indent="-177800">
                  <a:lnSpc>
                    <a:spcPct val="80000"/>
                  </a:lnSpc>
                </a:pPr>
                <a: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Groupes globaux</a:t>
                </a:r>
                <a:r>
                  <a:rPr lang="en-IE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17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8213" name="AutoShape-549"/>
              <p:cNvSpPr>
                <a:spLocks noChangeArrowheads="1"/>
              </p:cNvSpPr>
              <p:nvPr/>
            </p:nvSpPr>
            <p:spPr bwMode="auto">
              <a:xfrm>
                <a:off x="2093" y="2104"/>
                <a:ext cx="329" cy="247"/>
              </a:xfrm>
              <a:prstGeom prst="roundRect">
                <a:avLst>
                  <a:gd name="adj" fmla="val 31722"/>
                </a:avLst>
              </a:prstGeom>
              <a:gradFill rotWithShape="1">
                <a:gsLst>
                  <a:gs pos="0">
                    <a:srgbClr val="B395D8"/>
                  </a:gs>
                  <a:gs pos="100000">
                    <a:srgbClr val="DFD2EE"/>
                  </a:gs>
                </a:gsLst>
                <a:lin ang="2700000" scaled="1"/>
              </a:gradFill>
              <a:ln w="9525" algn="ctr">
                <a:solidFill>
                  <a:srgbClr val="333333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fr-FR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G</a:t>
                </a:r>
                <a:r>
                  <a:rPr lang="en-IE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pic>
            <p:nvPicPr>
              <p:cNvPr id="498214" name="Picture-550" descr="Collection_GlobalGroup01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1832" y="1380"/>
                <a:ext cx="852" cy="669"/>
              </a:xfrm>
              <a:prstGeom prst="rect">
                <a:avLst/>
              </a:prstGeom>
              <a:noFill/>
            </p:spPr>
          </p:pic>
        </p:grpSp>
        <p:grpSp>
          <p:nvGrpSpPr>
            <p:cNvPr id="10" name="Group 551"/>
            <p:cNvGrpSpPr>
              <a:grpSpLocks/>
            </p:cNvGrpSpPr>
            <p:nvPr/>
          </p:nvGrpSpPr>
          <p:grpSpPr bwMode="auto">
            <a:xfrm>
              <a:off x="2865" y="962"/>
              <a:ext cx="1052" cy="1282"/>
              <a:chOff x="2868" y="996"/>
              <a:chExt cx="1052" cy="1282"/>
            </a:xfrm>
          </p:grpSpPr>
          <p:sp>
            <p:nvSpPr>
              <p:cNvPr id="498216" name="AutoShape-552"/>
              <p:cNvSpPr>
                <a:spLocks noChangeArrowheads="1"/>
              </p:cNvSpPr>
              <p:nvPr/>
            </p:nvSpPr>
            <p:spPr bwMode="auto">
              <a:xfrm>
                <a:off x="2868" y="996"/>
                <a:ext cx="1052" cy="1152"/>
              </a:xfrm>
              <a:prstGeom prst="roundRect">
                <a:avLst>
                  <a:gd name="adj" fmla="val 4139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/>
              <a:lstStyle/>
              <a:p>
                <a:pPr>
                  <a:lnSpc>
                    <a:spcPct val="80000"/>
                  </a:lnSpc>
                </a:pPr>
                <a:r>
                  <a:rPr lang="fr-FR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Groupes </a:t>
                </a:r>
                <a:b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</a:br>
                <a: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universels</a:t>
                </a:r>
                <a:r>
                  <a:rPr lang="en-IE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8217" name="AutoShape-553"/>
              <p:cNvSpPr>
                <a:spLocks noChangeArrowheads="1"/>
              </p:cNvSpPr>
              <p:nvPr/>
            </p:nvSpPr>
            <p:spPr bwMode="auto">
              <a:xfrm>
                <a:off x="3229" y="2031"/>
                <a:ext cx="329" cy="247"/>
              </a:xfrm>
              <a:prstGeom prst="roundRect">
                <a:avLst>
                  <a:gd name="adj" fmla="val 31722"/>
                </a:avLst>
              </a:prstGeom>
              <a:gradFill rotWithShape="1">
                <a:gsLst>
                  <a:gs pos="0">
                    <a:srgbClr val="B395D8"/>
                  </a:gs>
                  <a:gs pos="100000">
                    <a:srgbClr val="DFD2EE"/>
                  </a:gs>
                </a:gsLst>
                <a:lin ang="2700000" scaled="1"/>
              </a:gradFill>
              <a:ln w="9525" algn="ctr">
                <a:solidFill>
                  <a:srgbClr val="333333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fr-FR" altLang="zh-CN" sz="2200">
                    <a:solidFill>
                      <a:srgbClr val="000000"/>
                    </a:solidFill>
                    <a:ea typeface="SimSun" pitchFamily="2" charset="-122"/>
                  </a:rPr>
                  <a:t>U</a:t>
                </a:r>
                <a:endParaRPr lang="en-US" sz="2200">
                  <a:solidFill>
                    <a:srgbClr val="000000"/>
                  </a:solidFill>
                </a:endParaRPr>
              </a:p>
            </p:txBody>
          </p:sp>
          <p:pic>
            <p:nvPicPr>
              <p:cNvPr id="498218" name="Picture-554" descr="Collection_UniversalGroup01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2974" y="1315"/>
                <a:ext cx="840" cy="660"/>
              </a:xfrm>
              <a:prstGeom prst="rect">
                <a:avLst/>
              </a:prstGeom>
              <a:noFill/>
            </p:spPr>
          </p:pic>
        </p:grpSp>
        <p:grpSp>
          <p:nvGrpSpPr>
            <p:cNvPr id="11" name="Group 555"/>
            <p:cNvGrpSpPr>
              <a:grpSpLocks/>
            </p:cNvGrpSpPr>
            <p:nvPr/>
          </p:nvGrpSpPr>
          <p:grpSpPr bwMode="auto">
            <a:xfrm>
              <a:off x="4001" y="962"/>
              <a:ext cx="1052" cy="1282"/>
              <a:chOff x="4004" y="996"/>
              <a:chExt cx="1052" cy="1282"/>
            </a:xfrm>
          </p:grpSpPr>
          <p:sp>
            <p:nvSpPr>
              <p:cNvPr id="498220" name="AutoShape-556"/>
              <p:cNvSpPr>
                <a:spLocks noChangeArrowheads="1"/>
              </p:cNvSpPr>
              <p:nvPr/>
            </p:nvSpPr>
            <p:spPr bwMode="auto">
              <a:xfrm>
                <a:off x="4004" y="996"/>
                <a:ext cx="1052" cy="1152"/>
              </a:xfrm>
              <a:prstGeom prst="roundRect">
                <a:avLst>
                  <a:gd name="adj" fmla="val 4139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/>
              <a:lstStyle/>
              <a:p>
                <a:pPr marL="177800" indent="-177800">
                  <a:lnSpc>
                    <a:spcPct val="80000"/>
                  </a:lnSpc>
                </a:pPr>
                <a:r>
                  <a:rPr lang="fr-FR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Groupes de</a:t>
                </a:r>
                <a:r>
                  <a:rPr lang="en-IE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r>
                  <a:rPr lang="en-US" sz="1700">
                    <a:ea typeface="SimSun" pitchFamily="2" charset="-122"/>
                    <a:cs typeface="Times New Roman" pitchFamily="18" charset="0"/>
                  </a:rPr>
                  <a:t> </a:t>
                </a:r>
              </a:p>
              <a:p>
                <a:pPr marL="177800" indent="-177800"/>
                <a:r>
                  <a:rPr lang="fr-FR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domaine local</a:t>
                </a:r>
                <a:r>
                  <a:rPr lang="en-IE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1700">
                  <a:ea typeface="SimSun" pitchFamily="2" charset="-122"/>
                  <a:cs typeface="Times New Roman" pitchFamily="18" charset="0"/>
                </a:endParaRPr>
              </a:p>
              <a:p>
                <a:pPr marL="177800" indent="-177800"/>
                <a:endParaRPr lang="en-US" sz="1700">
                  <a:ea typeface="SimSun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8221" name="AutoShape-557"/>
              <p:cNvSpPr>
                <a:spLocks noChangeArrowheads="1"/>
              </p:cNvSpPr>
              <p:nvPr/>
            </p:nvSpPr>
            <p:spPr bwMode="auto">
              <a:xfrm>
                <a:off x="4313" y="2031"/>
                <a:ext cx="434" cy="247"/>
              </a:xfrm>
              <a:prstGeom prst="roundRect">
                <a:avLst>
                  <a:gd name="adj" fmla="val 31722"/>
                </a:avLst>
              </a:prstGeom>
              <a:gradFill rotWithShape="1">
                <a:gsLst>
                  <a:gs pos="0">
                    <a:srgbClr val="B395D8"/>
                  </a:gs>
                  <a:gs pos="100000">
                    <a:srgbClr val="DFD2EE"/>
                  </a:gs>
                </a:gsLst>
                <a:lin ang="2700000" scaled="1"/>
              </a:gradFill>
              <a:ln w="9525" algn="ctr">
                <a:solidFill>
                  <a:srgbClr val="333333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fr-FR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DL</a:t>
                </a:r>
                <a:r>
                  <a:rPr lang="en-IE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pic>
            <p:nvPicPr>
              <p:cNvPr id="498222" name="Picture-558" descr="Collection_DomainGroup01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153" y="1381"/>
                <a:ext cx="754" cy="592"/>
              </a:xfrm>
              <a:prstGeom prst="rect">
                <a:avLst/>
              </a:prstGeom>
              <a:noFill/>
            </p:spPr>
          </p:pic>
        </p:grpSp>
        <p:grpSp>
          <p:nvGrpSpPr>
            <p:cNvPr id="12" name="Group 559"/>
            <p:cNvGrpSpPr>
              <a:grpSpLocks/>
            </p:cNvGrpSpPr>
            <p:nvPr/>
          </p:nvGrpSpPr>
          <p:grpSpPr bwMode="auto">
            <a:xfrm>
              <a:off x="2853" y="2459"/>
              <a:ext cx="2200" cy="1151"/>
              <a:chOff x="2856" y="2493"/>
              <a:chExt cx="2200" cy="1151"/>
            </a:xfrm>
          </p:grpSpPr>
          <p:sp>
            <p:nvSpPr>
              <p:cNvPr id="498224" name="AutoShape-560"/>
              <p:cNvSpPr>
                <a:spLocks noChangeArrowheads="1"/>
              </p:cNvSpPr>
              <p:nvPr/>
            </p:nvSpPr>
            <p:spPr bwMode="auto">
              <a:xfrm>
                <a:off x="2856" y="2493"/>
                <a:ext cx="2200" cy="1151"/>
              </a:xfrm>
              <a:prstGeom prst="roundRect">
                <a:avLst>
                  <a:gd name="adj" fmla="val 4167"/>
                </a:avLst>
              </a:prstGeom>
              <a:solidFill>
                <a:srgbClr val="B3C8DF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r>
                  <a:rPr lang="fr-FR" altLang="zh-CN" sz="24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Stratégies de groupe :</a:t>
                </a:r>
                <a:r>
                  <a:rPr lang="en-IE" altLang="zh-CN" sz="24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24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3" name="Group 561"/>
              <p:cNvGrpSpPr>
                <a:grpSpLocks/>
              </p:cNvGrpSpPr>
              <p:nvPr/>
            </p:nvGrpSpPr>
            <p:grpSpPr bwMode="auto">
              <a:xfrm>
                <a:off x="2949" y="2813"/>
                <a:ext cx="2015" cy="743"/>
                <a:chOff x="2949" y="2813"/>
                <a:chExt cx="2015" cy="743"/>
              </a:xfrm>
            </p:grpSpPr>
            <p:sp>
              <p:nvSpPr>
                <p:cNvPr id="498226" name="AutoShape-562"/>
                <p:cNvSpPr>
                  <a:spLocks noChangeArrowheads="1"/>
                </p:cNvSpPr>
                <p:nvPr/>
              </p:nvSpPr>
              <p:spPr bwMode="auto">
                <a:xfrm>
                  <a:off x="2949" y="2813"/>
                  <a:ext cx="2015" cy="743"/>
                </a:xfrm>
                <a:prstGeom prst="roundRect">
                  <a:avLst>
                    <a:gd name="adj" fmla="val 4167"/>
                  </a:avLst>
                </a:prstGeom>
                <a:gradFill rotWithShape="1">
                  <a:gsLst>
                    <a:gs pos="0">
                      <a:srgbClr val="EEEFD7"/>
                    </a:gs>
                    <a:gs pos="100000">
                      <a:srgbClr val="D5D69C"/>
                    </a:gs>
                  </a:gsLst>
                  <a:lin ang="2700000" scaled="1"/>
                </a:gradFill>
                <a:ln w="9525" algn="ctr">
                  <a:solidFill>
                    <a:srgbClr val="4D4D4D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AFAFAF"/>
                  </a:outerShdw>
                </a:effectLst>
              </p:spPr>
              <p:txBody>
                <a:bodyPr anchor="ctr"/>
                <a:lstStyle/>
                <a:p>
                  <a:pPr marL="231775" indent="-231775" algn="l">
                    <a:buSzPct val="80000"/>
                    <a:buFontTx/>
                    <a:buBlip>
                      <a:blip r:embed="rId17"/>
                    </a:buBlip>
                  </a:pPr>
                  <a:r>
                    <a:rPr lang="fr-FR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C G A </a:t>
                  </a:r>
                  <a:endParaRPr lang="en-US" sz="2200">
                    <a:ea typeface="SimSun" pitchFamily="2" charset="-122"/>
                    <a:cs typeface="Times New Roman" pitchFamily="18" charset="0"/>
                  </a:endParaRPr>
                </a:p>
                <a:p>
                  <a:pPr marL="231775" indent="-231775" algn="l">
                    <a:buSzPct val="80000"/>
                    <a:buFontTx/>
                    <a:buBlip>
                      <a:blip r:embed="rId17"/>
                    </a:buBlip>
                  </a:pPr>
                  <a:r>
                    <a:rPr lang="fr-FR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C DL A</a:t>
                  </a:r>
                  <a:r>
                    <a:rPr lang="en-IE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 </a:t>
                  </a:r>
                  <a:r>
                    <a:rPr lang="en-US" sz="2200">
                      <a:ea typeface="SimSun" pitchFamily="2" charset="-122"/>
                      <a:cs typeface="Times New Roman" pitchFamily="18" charset="0"/>
                    </a:rPr>
                    <a:t> </a:t>
                  </a:r>
                </a:p>
                <a:p>
                  <a:pPr marL="231775" indent="-231775" algn="l">
                    <a:buSzPct val="80000"/>
                    <a:buFontTx/>
                    <a:buBlip>
                      <a:blip r:embed="rId17"/>
                    </a:buBlip>
                  </a:pPr>
                  <a:r>
                    <a:rPr lang="fr-FR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C G DL A</a:t>
                  </a:r>
                  <a:r>
                    <a:rPr lang="en-IE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 </a:t>
                  </a:r>
                  <a:endParaRPr lang="en-US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98227" name="AutoShape-563"/>
                <p:cNvSpPr>
                  <a:spLocks noChangeArrowheads="1"/>
                </p:cNvSpPr>
                <p:nvPr/>
              </p:nvSpPr>
              <p:spPr bwMode="auto">
                <a:xfrm>
                  <a:off x="3875" y="2814"/>
                  <a:ext cx="1056" cy="506"/>
                </a:xfrm>
                <a:prstGeom prst="roundRect">
                  <a:avLst>
                    <a:gd name="adj" fmla="val 4167"/>
                  </a:avLst>
                </a:prstGeom>
                <a:noFill/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marL="231775" indent="-231775" algn="l">
                    <a:buSzPct val="80000"/>
                    <a:buFontTx/>
                    <a:buBlip>
                      <a:blip r:embed="rId17"/>
                    </a:buBlip>
                  </a:pPr>
                  <a:r>
                    <a:rPr lang="fr-FR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C G U DL A</a:t>
                  </a:r>
                  <a:r>
                    <a:rPr lang="en-IE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 </a:t>
                  </a:r>
                  <a:endParaRPr lang="en-US" sz="2200">
                    <a:ea typeface="SimSun" pitchFamily="2" charset="-122"/>
                    <a:cs typeface="Times New Roman" pitchFamily="18" charset="0"/>
                  </a:endParaRPr>
                </a:p>
                <a:p>
                  <a:pPr marL="231775" indent="-231775" algn="l">
                    <a:buSzPct val="80000"/>
                    <a:buFontTx/>
                    <a:buBlip>
                      <a:blip r:embed="rId17"/>
                    </a:buBlip>
                  </a:pPr>
                  <a:r>
                    <a:rPr lang="fr-FR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C G L A</a:t>
                  </a:r>
                  <a:r>
                    <a:rPr lang="en-IE" altLang="zh-CN" sz="2200">
                      <a:solidFill>
                        <a:srgbClr val="000000"/>
                      </a:solidFill>
                      <a:ea typeface="SimSun" pitchFamily="2" charset="-122"/>
                      <a:cs typeface="Times New Roman" pitchFamily="18" charset="0"/>
                    </a:rPr>
                    <a:t> </a:t>
                  </a:r>
                  <a:endParaRPr lang="en-US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4" name="Group 564"/>
            <p:cNvGrpSpPr>
              <a:grpSpLocks/>
            </p:cNvGrpSpPr>
            <p:nvPr/>
          </p:nvGrpSpPr>
          <p:grpSpPr bwMode="auto">
            <a:xfrm>
              <a:off x="601" y="2459"/>
              <a:ext cx="1052" cy="1282"/>
              <a:chOff x="604" y="2493"/>
              <a:chExt cx="1052" cy="1282"/>
            </a:xfrm>
          </p:grpSpPr>
          <p:sp>
            <p:nvSpPr>
              <p:cNvPr id="498229" name="AutoShape-565"/>
              <p:cNvSpPr>
                <a:spLocks noChangeArrowheads="1"/>
              </p:cNvSpPr>
              <p:nvPr/>
            </p:nvSpPr>
            <p:spPr bwMode="auto">
              <a:xfrm>
                <a:off x="604" y="2493"/>
                <a:ext cx="1052" cy="1152"/>
              </a:xfrm>
              <a:prstGeom prst="roundRect">
                <a:avLst>
                  <a:gd name="adj" fmla="val 4139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/>
              <a:lstStyle/>
              <a:p>
                <a:pPr marL="177800" indent="-177800"/>
                <a: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Autorisations</a:t>
                </a:r>
                <a:r>
                  <a:rPr lang="en-IE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>
                  <a:ea typeface="SimSun" pitchFamily="2" charset="-122"/>
                  <a:cs typeface="Times New Roman" pitchFamily="18" charset="0"/>
                </a:endParaRPr>
              </a:p>
              <a:p>
                <a:pPr marL="177800" indent="-177800"/>
                <a:endParaRPr lang="en-US">
                  <a:ea typeface="SimSun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8230" name="AutoShape-566"/>
              <p:cNvSpPr>
                <a:spLocks noChangeArrowheads="1"/>
              </p:cNvSpPr>
              <p:nvPr/>
            </p:nvSpPr>
            <p:spPr bwMode="auto">
              <a:xfrm>
                <a:off x="965" y="3528"/>
                <a:ext cx="329" cy="247"/>
              </a:xfrm>
              <a:prstGeom prst="roundRect">
                <a:avLst>
                  <a:gd name="adj" fmla="val 31722"/>
                </a:avLst>
              </a:prstGeom>
              <a:gradFill rotWithShape="1">
                <a:gsLst>
                  <a:gs pos="0">
                    <a:srgbClr val="B395D8"/>
                  </a:gs>
                  <a:gs pos="100000">
                    <a:srgbClr val="DFD2EE"/>
                  </a:gs>
                </a:gsLst>
                <a:lin ang="2700000" scaled="1"/>
              </a:gradFill>
              <a:ln w="9525" algn="ctr">
                <a:solidFill>
                  <a:srgbClr val="333333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fr-FR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A</a:t>
                </a:r>
                <a:r>
                  <a:rPr lang="en-IE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pic>
            <p:nvPicPr>
              <p:cNvPr id="498231" name="Picture-567" descr="Security_Keys01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889" y="2755"/>
                <a:ext cx="482" cy="680"/>
              </a:xfrm>
              <a:prstGeom prst="rect">
                <a:avLst/>
              </a:prstGeom>
              <a:noFill/>
            </p:spPr>
          </p:pic>
        </p:grpSp>
        <p:grpSp>
          <p:nvGrpSpPr>
            <p:cNvPr id="15" name="Group 568"/>
            <p:cNvGrpSpPr>
              <a:grpSpLocks/>
            </p:cNvGrpSpPr>
            <p:nvPr/>
          </p:nvGrpSpPr>
          <p:grpSpPr bwMode="auto">
            <a:xfrm>
              <a:off x="1729" y="2459"/>
              <a:ext cx="1052" cy="1282"/>
              <a:chOff x="1732" y="2493"/>
              <a:chExt cx="1052" cy="1282"/>
            </a:xfrm>
          </p:grpSpPr>
          <p:sp>
            <p:nvSpPr>
              <p:cNvPr id="498233" name="AutoShape-569"/>
              <p:cNvSpPr>
                <a:spLocks noChangeArrowheads="1"/>
              </p:cNvSpPr>
              <p:nvPr/>
            </p:nvSpPr>
            <p:spPr bwMode="auto">
              <a:xfrm>
                <a:off x="1732" y="2493"/>
                <a:ext cx="1052" cy="1152"/>
              </a:xfrm>
              <a:prstGeom prst="roundRect">
                <a:avLst>
                  <a:gd name="adj" fmla="val 4139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/>
              <a:lstStyle/>
              <a:p>
                <a:pPr marL="177800" indent="-177800"/>
                <a:r>
                  <a:rPr lang="fr-FR" altLang="zh-CN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Groupes locaux</a:t>
                </a:r>
                <a:r>
                  <a:rPr lang="en-IE" altLang="zh-CN" sz="17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17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8234" name="AutoShape-570"/>
              <p:cNvSpPr>
                <a:spLocks noChangeArrowheads="1"/>
              </p:cNvSpPr>
              <p:nvPr/>
            </p:nvSpPr>
            <p:spPr bwMode="auto">
              <a:xfrm>
                <a:off x="2093" y="3528"/>
                <a:ext cx="329" cy="247"/>
              </a:xfrm>
              <a:prstGeom prst="roundRect">
                <a:avLst>
                  <a:gd name="adj" fmla="val 31722"/>
                </a:avLst>
              </a:prstGeom>
              <a:gradFill rotWithShape="1">
                <a:gsLst>
                  <a:gs pos="0">
                    <a:srgbClr val="B395D8"/>
                  </a:gs>
                  <a:gs pos="100000">
                    <a:srgbClr val="DFD2EE"/>
                  </a:gs>
                </a:gsLst>
                <a:lin ang="2700000" scaled="1"/>
              </a:gradFill>
              <a:ln w="9525" algn="ctr">
                <a:solidFill>
                  <a:srgbClr val="333333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fr-FR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L</a:t>
                </a:r>
                <a:r>
                  <a:rPr lang="en-IE" altLang="zh-CN" sz="2200">
                    <a:solidFill>
                      <a:srgbClr val="000000"/>
                    </a:solidFill>
                    <a:ea typeface="SimSun" pitchFamily="2" charset="-122"/>
                    <a:cs typeface="Times New Roman" pitchFamily="18" charset="0"/>
                  </a:rPr>
                  <a:t> </a:t>
                </a:r>
                <a:endParaRPr lang="en-US" sz="2200">
                  <a:solidFill>
                    <a:srgbClr val="000000"/>
                  </a:solidFill>
                  <a:ea typeface="SimSun" pitchFamily="2" charset="-122"/>
                  <a:cs typeface="Times New Roman" pitchFamily="18" charset="0"/>
                </a:endParaRPr>
              </a:p>
            </p:txBody>
          </p:sp>
          <p:pic>
            <p:nvPicPr>
              <p:cNvPr id="498235" name="Picture-571" descr="Collection_LocalGroupp01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1838" y="2792"/>
                <a:ext cx="841" cy="661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9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9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9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9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9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9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9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49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122" grpId="0" animBg="1"/>
      <p:bldP spid="498123" grpId="0" animBg="1"/>
      <p:bldP spid="498136" grpId="0" animBg="1"/>
      <p:bldP spid="498137" grpId="0" animBg="1"/>
      <p:bldP spid="498153" grpId="0" animBg="1"/>
      <p:bldP spid="498154" grpId="0" animBg="1"/>
      <p:bldP spid="498155" grpId="0" animBg="1"/>
      <p:bldP spid="498181" grpId="0" animBg="1"/>
      <p:bldP spid="498182" grpId="0" animBg="1"/>
      <p:bldP spid="498183" grpId="0" animBg="1"/>
      <p:bldP spid="498184" grpId="0" animBg="1"/>
      <p:bldP spid="498185" grpId="0" animBg="1"/>
      <p:bldP spid="498186" grpId="0" animBg="1"/>
      <p:bldP spid="498202" grpId="0" animBg="1"/>
      <p:bldP spid="498203" grpId="0" animBg="1"/>
      <p:bldP spid="49820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Etude de cas 1</a:t>
            </a:r>
          </a:p>
        </p:txBody>
      </p:sp>
      <p:sp>
        <p:nvSpPr>
          <p:cNvPr id="4" name="AutoShape-4"/>
          <p:cNvSpPr>
            <a:spLocks noGrp="1" noChangeArrowheads="1"/>
          </p:cNvSpPr>
          <p:nvPr>
            <p:ph sz="quarter" idx="1"/>
          </p:nvPr>
        </p:nvSpPr>
        <p:spPr bwMode="auto">
          <a:xfrm>
            <a:off x="301752" y="1305368"/>
            <a:ext cx="8503920" cy="5330952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marL="273050" indent="-9525">
              <a:buNone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L’entreprise </a:t>
            </a:r>
            <a:r>
              <a:rPr lang="fr-FR" altLang="zh-CN" sz="2400" b="1" dirty="0" err="1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SysInfo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possède un seul domaine situé à Rabat au Maroc.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directeurs de </a:t>
            </a:r>
            <a:r>
              <a:rPr lang="fr-FR" altLang="zh-CN" sz="2400" b="1" dirty="0" err="1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SysInfo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ont besoin d'accéder à la base de données </a:t>
            </a:r>
            <a:r>
              <a:rPr lang="fr-FR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Inventaire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pour effectuer leur travail.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Que faites-vous pour permettre aux directeurs d'accéder à la base de données ?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US" sz="2400" dirty="0"/>
              <a:t> </a:t>
            </a:r>
          </a:p>
        </p:txBody>
      </p:sp>
      <p:sp>
        <p:nvSpPr>
          <p:cNvPr id="5" name="AutoShape-33"/>
          <p:cNvSpPr>
            <a:spLocks noChangeArrowheads="1"/>
          </p:cNvSpPr>
          <p:nvPr/>
        </p:nvSpPr>
        <p:spPr bwMode="auto">
          <a:xfrm>
            <a:off x="436707" y="1371600"/>
            <a:ext cx="8291657" cy="523701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/>
          <a:lstStyle/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Placez tous les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directeurs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dans un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 global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 Directeurs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.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dirty="0">
              <a:ea typeface="SimSun" pitchFamily="2" charset="-122"/>
              <a:cs typeface="Times New Roman" pitchFamily="18" charset="0"/>
            </a:endParaRPr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Créez un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 de domaine local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DL Inventaire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.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dirty="0">
              <a:ea typeface="SimSun" pitchFamily="2" charset="-122"/>
              <a:cs typeface="Times New Roman" pitchFamily="18" charset="0"/>
            </a:endParaRPr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Placez le groupe global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 Directeurs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dans le groupe de domaine local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DL Inventaire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Accordez les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autorisations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au groupe de domaine local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DL Inventaire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pour attribuer les accès à la base de données Inventaire.</a:t>
            </a:r>
          </a:p>
          <a:p>
            <a:pPr marL="225425" indent="-225425">
              <a:lnSpc>
                <a:spcPct val="90000"/>
              </a:lnSpc>
              <a:spcBef>
                <a:spcPct val="55000"/>
              </a:spcBef>
              <a:buSzPct val="80000"/>
            </a:pP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CGDLA</a:t>
            </a:r>
            <a:r>
              <a:rPr lang="en-IE" altLang="zh-CN" sz="2400" u="sng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400" u="sng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-34"/>
          <p:cNvSpPr>
            <a:spLocks noGrp="1" noChangeArrowheads="1"/>
          </p:cNvSpPr>
          <p:nvPr>
            <p:ph sz="quarter" idx="1"/>
          </p:nvPr>
        </p:nvSpPr>
        <p:spPr bwMode="auto">
          <a:xfrm>
            <a:off x="301752" y="1527047"/>
            <a:ext cx="8503920" cy="5150843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>
            <a:normAutofit/>
          </a:bodyPr>
          <a:lstStyle/>
          <a:p>
            <a:pPr marL="77788" indent="4763">
              <a:lnSpc>
                <a:spcPct val="85000"/>
              </a:lnSpc>
              <a:buNone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L'entreprise </a:t>
            </a:r>
            <a:r>
              <a:rPr lang="fr-FR" altLang="zh-CN" sz="2400" b="1" dirty="0" err="1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SysInfo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veut que les données comptables soient accessibles à l'ensemble du personnel du service </a:t>
            </a:r>
            <a:r>
              <a:rPr lang="fr-FR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Comptabilité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.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 </a:t>
            </a:r>
            <a:r>
              <a:rPr lang="fr-FR" altLang="zh-CN" sz="2400" b="1" dirty="0" err="1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SysInfo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désire créer la structure de groupes pour toute la division </a:t>
            </a:r>
            <a:r>
              <a:rPr lang="fr-FR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Comptabilité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qui comprend les services </a:t>
            </a:r>
            <a:r>
              <a:rPr lang="fr-FR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Comptabilité Payable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et </a:t>
            </a:r>
            <a:r>
              <a:rPr lang="fr-FR" altLang="zh-CN" sz="2400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Comptabilité Recevable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.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Que faites-vous pour que les directeurs disposent des accès nécessaires et réduire au minimum les tâches d'administration ?</a:t>
            </a:r>
            <a:r>
              <a:rPr lang="fr-FR" altLang="zh-CN" sz="2400" dirty="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5" name="AutoShape-35"/>
          <p:cNvSpPr>
            <a:spLocks noChangeArrowheads="1"/>
          </p:cNvSpPr>
          <p:nvPr/>
        </p:nvSpPr>
        <p:spPr bwMode="auto">
          <a:xfrm>
            <a:off x="401781" y="1551710"/>
            <a:ext cx="8326583" cy="491836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/>
          <a:lstStyle/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Vérifier que le réseau fonctionne en mode natif.</a:t>
            </a:r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Créez trois groupes globaux nommés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</a:rPr>
              <a:t>G Comptabilité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,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</a:rPr>
              <a:t>G Comptabilité Payable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 et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</a:rPr>
              <a:t>G Comptabilité Recevable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.</a:t>
            </a:r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Placez les groupes globaux G Comptabilité Payable et G Comptabilité Recevable dans le groupe G Comptabilité</a:t>
            </a:r>
            <a:endParaRPr lang="en-US" sz="2400" dirty="0"/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Placez le groupe global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</a:rPr>
              <a:t>G Comptabilité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dans le groupe de domaine local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</a:rPr>
              <a:t>DL Comptabilité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.</a:t>
            </a:r>
            <a:endParaRPr lang="en-US" sz="2400" dirty="0"/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Octroyez au groupe </a:t>
            </a:r>
            <a:r>
              <a:rPr lang="fr-FR" altLang="zh-CN" sz="2400" u="sng" dirty="0">
                <a:solidFill>
                  <a:srgbClr val="000000"/>
                </a:solidFill>
                <a:ea typeface="SimSun" pitchFamily="2" charset="-122"/>
              </a:rPr>
              <a:t>DL Comptabilité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l'autorisation appropriée pour accéder aux ressources comptables.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  <a:p>
            <a:pPr marL="225425" indent="-225425">
              <a:lnSpc>
                <a:spcPct val="90000"/>
              </a:lnSpc>
              <a:spcBef>
                <a:spcPct val="55000"/>
              </a:spcBef>
              <a:buSzPct val="80000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CGDLA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US" sz="2400" dirty="0"/>
              <a:t> </a:t>
            </a:r>
          </a:p>
          <a:p>
            <a:pPr marL="225425" indent="-225425" algn="l">
              <a:lnSpc>
                <a:spcPct val="90000"/>
              </a:lnSpc>
              <a:spcBef>
                <a:spcPct val="55000"/>
              </a:spcBef>
              <a:buSzPct val="80000"/>
              <a:buFontTx/>
              <a:buBlip>
                <a:blip r:embed="rId2"/>
              </a:buBlip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Etude de cas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328" name="Rectangle-64"/>
          <p:cNvSpPr>
            <a:spLocks noGrp="1" noChangeArrowheads="1"/>
          </p:cNvSpPr>
          <p:nvPr>
            <p:ph type="title"/>
          </p:nvPr>
        </p:nvSpPr>
        <p:spPr>
          <a:xfrm>
            <a:off x="169817" y="311730"/>
            <a:ext cx="8804366" cy="75895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Description de la modification de l'étendue ou du type d'un groupe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395329" name="Rectangle-6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Modification de l'étendue d'un groupe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Global à universel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Domaine local à universel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Universel à global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Universel à domaine local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Modification du type d'un groupe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Sécurité à distribution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Distribution à sécurité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95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95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95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95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3953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953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3953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3953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60" name="AutoShape-12"/>
          <p:cNvSpPr>
            <a:spLocks noChangeArrowheads="1"/>
          </p:cNvSpPr>
          <p:nvPr/>
        </p:nvSpPr>
        <p:spPr bwMode="auto">
          <a:xfrm>
            <a:off x="1144588" y="1579563"/>
            <a:ext cx="6696075" cy="1744662"/>
          </a:xfrm>
          <a:prstGeom prst="roundRect">
            <a:avLst>
              <a:gd name="adj" fmla="val 1374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88461" name="Freeform-13"/>
          <p:cNvSpPr>
            <a:spLocks/>
          </p:cNvSpPr>
          <p:nvPr/>
        </p:nvSpPr>
        <p:spPr bwMode="auto">
          <a:xfrm rot="5400000">
            <a:off x="4022726" y="1781175"/>
            <a:ext cx="557212" cy="1277937"/>
          </a:xfrm>
          <a:custGeom>
            <a:avLst/>
            <a:gdLst/>
            <a:ahLst/>
            <a:cxnLst>
              <a:cxn ang="0">
                <a:pos x="57" y="239"/>
              </a:cxn>
              <a:cxn ang="0">
                <a:pos x="0" y="252"/>
              </a:cxn>
              <a:cxn ang="0">
                <a:pos x="106" y="0"/>
              </a:cxn>
              <a:cxn ang="0">
                <a:pos x="205" y="252"/>
              </a:cxn>
              <a:cxn ang="0">
                <a:pos x="147" y="238"/>
              </a:cxn>
              <a:cxn ang="0">
                <a:pos x="126" y="429"/>
              </a:cxn>
              <a:cxn ang="0">
                <a:pos x="76" y="429"/>
              </a:cxn>
              <a:cxn ang="0">
                <a:pos x="57" y="239"/>
              </a:cxn>
            </a:cxnLst>
            <a:rect l="0" t="0" r="r" b="b"/>
            <a:pathLst>
              <a:path w="205" h="429">
                <a:moveTo>
                  <a:pt x="57" y="239"/>
                </a:moveTo>
                <a:lnTo>
                  <a:pt x="0" y="252"/>
                </a:lnTo>
                <a:lnTo>
                  <a:pt x="106" y="0"/>
                </a:lnTo>
                <a:lnTo>
                  <a:pt x="205" y="252"/>
                </a:lnTo>
                <a:lnTo>
                  <a:pt x="147" y="238"/>
                </a:lnTo>
                <a:lnTo>
                  <a:pt x="126" y="429"/>
                </a:lnTo>
                <a:lnTo>
                  <a:pt x="76" y="429"/>
                </a:lnTo>
                <a:lnTo>
                  <a:pt x="57" y="23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88450" name="Rectangle-2"/>
          <p:cNvSpPr>
            <a:spLocks noGrp="1" noChangeArrowheads="1"/>
          </p:cNvSpPr>
          <p:nvPr>
            <p:ph type="title"/>
          </p:nvPr>
        </p:nvSpPr>
        <p:spPr>
          <a:xfrm>
            <a:off x="169817" y="253739"/>
            <a:ext cx="8778239" cy="840377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Intérêt de l'affectation d'un responsable à un groupe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88451" name="Rectangle-3"/>
          <p:cNvSpPr>
            <a:spLocks noGrp="1" noChangeArrowheads="1"/>
          </p:cNvSpPr>
          <p:nvPr>
            <p:ph type="body" idx="1"/>
          </p:nvPr>
        </p:nvSpPr>
        <p:spPr>
          <a:xfrm>
            <a:off x="195942" y="3414713"/>
            <a:ext cx="8948057" cy="3138487"/>
          </a:xfrm>
        </p:spPr>
        <p:txBody>
          <a:bodyPr>
            <a:normAutofit/>
          </a:bodyPr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Vous pouvez alors :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identifier le responsable des différents groupes 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dirty="0"/>
              <a:t> </a:t>
            </a: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déléguer au responsable du groupe l'autorisation d'ajouter et de supprimer des utilisateurs dans le groupe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dirty="0"/>
              <a:t> </a:t>
            </a: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Vous pouvez distribuer la responsabilité administrative d'ajout d'utilisateurs à des groupes aux personnes qui demandent le groupe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488454" name="Picture-6" descr="Collection_Group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9838" y="1474788"/>
            <a:ext cx="1897062" cy="1474787"/>
          </a:xfrm>
          <a:prstGeom prst="rect">
            <a:avLst/>
          </a:prstGeom>
          <a:noFill/>
        </p:spPr>
      </p:pic>
      <p:sp>
        <p:nvSpPr>
          <p:cNvPr id="488455" name="AutoShape-7"/>
          <p:cNvSpPr>
            <a:spLocks noChangeArrowheads="1"/>
          </p:cNvSpPr>
          <p:nvPr/>
        </p:nvSpPr>
        <p:spPr bwMode="auto">
          <a:xfrm>
            <a:off x="5464175" y="2878138"/>
            <a:ext cx="1009650" cy="327025"/>
          </a:xfrm>
          <a:prstGeom prst="roundRect">
            <a:avLst>
              <a:gd name="adj" fmla="val 12060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Groupe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488453" name="Picture-5" descr="Security_Permissions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2888" y="1892300"/>
            <a:ext cx="617537" cy="874713"/>
          </a:xfrm>
          <a:prstGeom prst="rect">
            <a:avLst/>
          </a:prstGeom>
          <a:noFill/>
        </p:spPr>
      </p:pic>
      <p:pic>
        <p:nvPicPr>
          <p:cNvPr id="488462" name="Picture-14" descr="User_UserE0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693988" y="1449388"/>
            <a:ext cx="774700" cy="1760537"/>
          </a:xfrm>
          <a:prstGeom prst="rect">
            <a:avLst/>
          </a:prstGeom>
          <a:noFill/>
        </p:spPr>
      </p:pic>
      <p:sp>
        <p:nvSpPr>
          <p:cNvPr id="488463" name="AutoShape-15"/>
          <p:cNvSpPr>
            <a:spLocks noChangeArrowheads="1"/>
          </p:cNvSpPr>
          <p:nvPr/>
        </p:nvSpPr>
        <p:spPr bwMode="auto">
          <a:xfrm>
            <a:off x="1247775" y="2843213"/>
            <a:ext cx="1495425" cy="398462"/>
          </a:xfrm>
          <a:prstGeom prst="roundRect">
            <a:avLst>
              <a:gd name="adj" fmla="val 12060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>
            <a:spAutoFit/>
          </a:bodyPr>
          <a:lstStyle/>
          <a:p>
            <a:r>
              <a:rPr lang="fr-FR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Responsable</a:t>
            </a:r>
            <a:r>
              <a:rPr lang="en-IE" altLang="zh-CN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6. Groupes par défaut et groupes systèmes</a:t>
            </a:r>
            <a:endParaRPr lang="en-US" b="1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7923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par défaut sur les serveurs membres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par défaut dans Active Directory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Quand utiliser les groupes par défaut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Considérations relatives à la sécurité des groupes par défaut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système</a:t>
            </a:r>
          </a:p>
          <a:p>
            <a:r>
              <a:rPr lang="fr-FR" altLang="zh-CN" sz="28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Recommandations relatives à l'administration des groupes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-2"/>
          <p:cNvSpPr>
            <a:spLocks noGrp="1" noChangeArrowheads="1"/>
          </p:cNvSpPr>
          <p:nvPr>
            <p:ph type="title"/>
          </p:nvPr>
        </p:nvSpPr>
        <p:spPr>
          <a:xfrm>
            <a:off x="301752" y="325585"/>
            <a:ext cx="8534400" cy="75895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par défaut sur les serveurs membres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82308" name="Rectangle-4"/>
          <p:cNvSpPr>
            <a:spLocks noChangeArrowheads="1"/>
          </p:cNvSpPr>
          <p:nvPr/>
        </p:nvSpPr>
        <p:spPr bwMode="auto">
          <a:xfrm>
            <a:off x="938213" y="3884613"/>
            <a:ext cx="6519862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/>
            <a:endParaRPr lang="en-IE"/>
          </a:p>
        </p:txBody>
      </p:sp>
      <p:pic>
        <p:nvPicPr>
          <p:cNvPr id="482324" name="Picture 20" descr="2144A0334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18332" y="1565274"/>
            <a:ext cx="7907337" cy="5224491"/>
          </a:xfrm>
          <a:noFill/>
          <a:ln/>
        </p:spPr>
      </p:pic>
      <p:sp>
        <p:nvSpPr>
          <p:cNvPr id="482314" name="Rectangle-10"/>
          <p:cNvSpPr>
            <a:spLocks noChangeArrowheads="1"/>
          </p:cNvSpPr>
          <p:nvPr/>
        </p:nvSpPr>
        <p:spPr bwMode="auto">
          <a:xfrm>
            <a:off x="1676627" y="5251132"/>
            <a:ext cx="1079636" cy="235267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2315" name="Rectangle-11"/>
          <p:cNvSpPr>
            <a:spLocks noChangeArrowheads="1"/>
          </p:cNvSpPr>
          <p:nvPr/>
        </p:nvSpPr>
        <p:spPr bwMode="auto">
          <a:xfrm>
            <a:off x="5094832" y="2946945"/>
            <a:ext cx="3356837" cy="3375478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>
              <a:solidFill>
                <a:srgbClr val="FF0000"/>
              </a:solidFill>
            </a:endParaRPr>
          </a:p>
        </p:txBody>
      </p:sp>
      <p:sp>
        <p:nvSpPr>
          <p:cNvPr id="482317" name="Rectangle-13"/>
          <p:cNvSpPr>
            <a:spLocks noChangeArrowheads="1"/>
          </p:cNvSpPr>
          <p:nvPr/>
        </p:nvSpPr>
        <p:spPr bwMode="auto">
          <a:xfrm>
            <a:off x="1447437" y="4762818"/>
            <a:ext cx="2445294" cy="292508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-2"/>
          <p:cNvSpPr>
            <a:spLocks noGrp="1" noChangeArrowheads="1"/>
          </p:cNvSpPr>
          <p:nvPr>
            <p:ph type="title"/>
          </p:nvPr>
        </p:nvSpPr>
        <p:spPr>
          <a:xfrm>
            <a:off x="185057" y="325982"/>
            <a:ext cx="8763000" cy="684212"/>
          </a:xfrm>
        </p:spPr>
        <p:txBody>
          <a:bodyPr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par défaut dans Active Directory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pic>
        <p:nvPicPr>
          <p:cNvPr id="480309" name="Picture 53" descr="2144A0335a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5604" y="1593669"/>
            <a:ext cx="4462259" cy="3579994"/>
          </a:xfrm>
          <a:noFill/>
          <a:ln/>
        </p:spPr>
      </p:pic>
      <p:sp>
        <p:nvSpPr>
          <p:cNvPr id="480293" name="Rectangle-23"/>
          <p:cNvSpPr>
            <a:spLocks noChangeArrowheads="1"/>
          </p:cNvSpPr>
          <p:nvPr/>
        </p:nvSpPr>
        <p:spPr bwMode="auto">
          <a:xfrm>
            <a:off x="2201773" y="2391592"/>
            <a:ext cx="2291850" cy="252004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>
              <a:solidFill>
                <a:srgbClr val="FF0000"/>
              </a:solidFill>
            </a:endParaRPr>
          </a:p>
        </p:txBody>
      </p:sp>
      <p:sp>
        <p:nvSpPr>
          <p:cNvPr id="480294" name="Rectangle-24"/>
          <p:cNvSpPr>
            <a:spLocks noChangeArrowheads="1"/>
          </p:cNvSpPr>
          <p:nvPr/>
        </p:nvSpPr>
        <p:spPr bwMode="auto">
          <a:xfrm>
            <a:off x="578712" y="2773816"/>
            <a:ext cx="610007" cy="20451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0271" name="Rectangle-15"/>
          <p:cNvSpPr>
            <a:spLocks noChangeArrowheads="1"/>
          </p:cNvSpPr>
          <p:nvPr/>
        </p:nvSpPr>
        <p:spPr bwMode="auto">
          <a:xfrm>
            <a:off x="1023938" y="4572000"/>
            <a:ext cx="7019925" cy="161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342900" indent="-3429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Blip>
                <a:blip r:embed="rId4"/>
              </a:buBlip>
            </a:pPr>
            <a:endParaRPr lang="en-IE" sz="2200"/>
          </a:p>
        </p:txBody>
      </p:sp>
      <p:graphicFrame>
        <p:nvGraphicFramePr>
          <p:cNvPr id="480313" name="Object 5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24375" y="1580607"/>
          <a:ext cx="4597510" cy="3412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4926984" imgH="3657143" progId="">
                  <p:embed/>
                </p:oleObj>
              </mc:Choice>
              <mc:Fallback>
                <p:oleObj name="Image" r:id="rId5" imgW="4926984" imgH="3657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1580607"/>
                        <a:ext cx="4597510" cy="3412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98" name="Rectangle-25"/>
          <p:cNvSpPr>
            <a:spLocks noChangeArrowheads="1"/>
          </p:cNvSpPr>
          <p:nvPr/>
        </p:nvSpPr>
        <p:spPr bwMode="auto">
          <a:xfrm>
            <a:off x="6928350" y="2682785"/>
            <a:ext cx="2215650" cy="2294164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>
              <a:solidFill>
                <a:srgbClr val="FF0000"/>
              </a:solidFill>
            </a:endParaRPr>
          </a:p>
        </p:txBody>
      </p:sp>
      <p:sp>
        <p:nvSpPr>
          <p:cNvPr id="480299" name="Rectangle-21"/>
          <p:cNvSpPr>
            <a:spLocks noChangeArrowheads="1"/>
          </p:cNvSpPr>
          <p:nvPr/>
        </p:nvSpPr>
        <p:spPr bwMode="auto">
          <a:xfrm>
            <a:off x="5169987" y="4710247"/>
            <a:ext cx="812801" cy="24057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6" name="Rectangle-4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Quand utiliser les groupes par défaut?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84357" name="Rectangle-5"/>
          <p:cNvSpPr>
            <a:spLocks noGrp="1" noChangeArrowheads="1"/>
          </p:cNvSpPr>
          <p:nvPr>
            <p:ph type="body" idx="1"/>
          </p:nvPr>
        </p:nvSpPr>
        <p:spPr>
          <a:xfrm>
            <a:off x="431074" y="1840085"/>
            <a:ext cx="8712926" cy="3320143"/>
          </a:xfrm>
        </p:spPr>
        <p:txBody>
          <a:bodyPr/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groupes par défaut sont :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créés pendant l'installation du système d'exploitation ou lorsque des services comme Active Directory ou DHCP sont ajoutés </a:t>
            </a:r>
            <a:r>
              <a:rPr lang="en-US" dirty="0"/>
              <a:t> </a:t>
            </a: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automatiquement affectés d'un ensemble de droits d'utilisateur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Utilisez les groupes par défaut pour :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contrôler l'accès aux ressources partagées </a:t>
            </a:r>
            <a:endParaRPr lang="en-US" dirty="0"/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déléguer une administration spécifique à l'échelle d'un domaine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8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84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84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84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484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484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-2"/>
          <p:cNvSpPr>
            <a:spLocks noGrp="1" noChangeArrowheads="1"/>
          </p:cNvSpPr>
          <p:nvPr>
            <p:ph type="title"/>
          </p:nvPr>
        </p:nvSpPr>
        <p:spPr>
          <a:xfrm>
            <a:off x="198120" y="400011"/>
            <a:ext cx="8763000" cy="684212"/>
          </a:xfrm>
        </p:spPr>
        <p:txBody>
          <a:bodyPr vert="horz" anchor="b"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Considérations relatives à la sécurité des groupes par défaut</a:t>
            </a:r>
            <a:endParaRPr lang="en-US" altLang="zh-CN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86403" name="Rectangle-3"/>
          <p:cNvSpPr>
            <a:spLocks noGrp="1" noChangeArrowheads="1"/>
          </p:cNvSpPr>
          <p:nvPr>
            <p:ph type="body" idx="1"/>
          </p:nvPr>
        </p:nvSpPr>
        <p:spPr>
          <a:xfrm>
            <a:off x="248985" y="1821873"/>
            <a:ext cx="8660675" cy="3789218"/>
          </a:xfrm>
        </p:spPr>
        <p:txBody>
          <a:bodyPr>
            <a:normAutofit/>
          </a:bodyPr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Placez un utilisateur dans un groupe par défaut uniquement lorsque vous êtes certain de vouloir lui accorder tous les droits et autorisations d'utilisateur affectés à ce groupe dans Active Directory ; sinon,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créez un groupe de sécurité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Pour des raisons de sécurité, il est recommandé que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membres des groupes par défaut utilisent Exécuter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en tant que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en-US" sz="2200" dirty="0">
                <a:ea typeface="SimSun" pitchFamily="2" charset="-122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8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0" name="Rectangle-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système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85381" name="Rectangle-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groupes système représentent différents utilisateurs à des moments différents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Vous pouvez accorder des droits utilisateur et des autorisations aux groupes système, mais vous ne pouvez ni modifier ni consulter l'appartenance à ces groupes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étendues de groupe ne s'appliquent pas aux groupes système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dirty="0">
              <a:ea typeface="SimSun" pitchFamily="2" charset="-122"/>
              <a:cs typeface="Times New Roman" pitchFamily="18" charset="0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Les utilisateurs sont affectés automatiquement aux groupes système dès qu'ils ouvrent une session ou qu'ils accèdent à une ressource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0" name="Rectangle-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Groupes système</a:t>
            </a:r>
            <a:endParaRPr lang="en-US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85381" name="Rectangle-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None/>
            </a:pPr>
            <a:r>
              <a:rPr lang="fr-FR" sz="2400" dirty="0"/>
              <a:t>Exemples de groupes systèmes: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sz="2400" dirty="0"/>
              <a:t>Tout le monde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sz="2400" dirty="0"/>
              <a:t>Réseau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sz="2400" dirty="0"/>
              <a:t>Utilisateurs authentifiés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-2"/>
          <p:cNvSpPr>
            <a:spLocks noGrp="1" noChangeArrowheads="1"/>
          </p:cNvSpPr>
          <p:nvPr>
            <p:ph type="title"/>
          </p:nvPr>
        </p:nvSpPr>
        <p:spPr>
          <a:xfrm>
            <a:off x="315606" y="284018"/>
            <a:ext cx="8534400" cy="758952"/>
          </a:xfrm>
        </p:spPr>
        <p:txBody>
          <a:bodyPr>
            <a:noAutofit/>
          </a:bodyPr>
          <a:lstStyle/>
          <a:p>
            <a:r>
              <a:rPr lang="fr-FR" altLang="zh-CN" sz="3000" b="1" dirty="0">
                <a:solidFill>
                  <a:srgbClr val="C00000"/>
                </a:solidFill>
                <a:ea typeface="SimSun" pitchFamily="2" charset="-122"/>
                <a:cs typeface="Times New Roman" pitchFamily="18" charset="0"/>
              </a:rPr>
              <a:t>Recommandations relatives à l'administration des groupes</a:t>
            </a:r>
            <a:endParaRPr lang="en-US" sz="3000" b="1" dirty="0">
              <a:solidFill>
                <a:srgbClr val="C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14735" name="AutoShape-15"/>
          <p:cNvSpPr>
            <a:spLocks noChangeArrowheads="1"/>
          </p:cNvSpPr>
          <p:nvPr/>
        </p:nvSpPr>
        <p:spPr bwMode="auto">
          <a:xfrm>
            <a:off x="169817" y="1271588"/>
            <a:ext cx="8804366" cy="5090023"/>
          </a:xfrm>
          <a:prstGeom prst="roundRect">
            <a:avLst>
              <a:gd name="adj" fmla="val 2824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endParaRPr lang="en-US" sz="2400"/>
          </a:p>
          <a:p>
            <a:pPr algn="l"/>
            <a:endParaRPr lang="en-US" sz="2400" b="0"/>
          </a:p>
        </p:txBody>
      </p:sp>
      <p:sp>
        <p:nvSpPr>
          <p:cNvPr id="414736" name="AutoShape-16"/>
          <p:cNvSpPr>
            <a:spLocks noChangeArrowheads="1"/>
          </p:cNvSpPr>
          <p:nvPr/>
        </p:nvSpPr>
        <p:spPr bwMode="auto">
          <a:xfrm>
            <a:off x="277943" y="1395413"/>
            <a:ext cx="8552548" cy="4508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Créez des groupes selon les besoins d'administration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en-US" sz="2200"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414737" name="AutoShape-17"/>
          <p:cNvSpPr>
            <a:spLocks noChangeArrowheads="1"/>
          </p:cNvSpPr>
          <p:nvPr/>
        </p:nvSpPr>
        <p:spPr bwMode="auto">
          <a:xfrm>
            <a:off x="277943" y="1895475"/>
            <a:ext cx="8552548" cy="71530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Utilisez des groupes locaux sur un ordinateur qui n'est pas membre d'un domaine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r>
              <a:rPr lang="en-US" sz="2200">
                <a:ea typeface="SimSun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414738" name="AutoShape-18"/>
          <p:cNvSpPr>
            <a:spLocks noChangeArrowheads="1"/>
          </p:cNvSpPr>
          <p:nvPr/>
        </p:nvSpPr>
        <p:spPr bwMode="auto">
          <a:xfrm>
            <a:off x="277943" y="2682300"/>
            <a:ext cx="8552548" cy="4508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Ajoutez des comptes d'utilisateurs au groupe le plus restrictif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14739" name="AutoShape-19"/>
          <p:cNvSpPr>
            <a:spLocks noChangeArrowheads="1"/>
          </p:cNvSpPr>
          <p:nvPr/>
        </p:nvSpPr>
        <p:spPr bwMode="auto">
          <a:xfrm>
            <a:off x="279531" y="3955333"/>
            <a:ext cx="8552548" cy="68079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85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Utilisez le groupe Utilisateurs authentifiés au lieu du groupe Tout le monde pour accorder la plupart des droits utilisateurs et des autorisations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14740" name="AutoShape-20"/>
          <p:cNvSpPr>
            <a:spLocks noChangeArrowheads="1"/>
          </p:cNvSpPr>
          <p:nvPr/>
        </p:nvSpPr>
        <p:spPr bwMode="auto">
          <a:xfrm>
            <a:off x="279531" y="4710688"/>
            <a:ext cx="8552548" cy="4508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Limitez le nombre d'utilisateurs du groupe Administrateurs</a:t>
            </a:r>
            <a:r>
              <a:rPr lang="en-IE" altLang="zh-CN" sz="220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14742" name="AutoShape-22"/>
          <p:cNvSpPr>
            <a:spLocks noChangeArrowheads="1"/>
          </p:cNvSpPr>
          <p:nvPr/>
        </p:nvSpPr>
        <p:spPr bwMode="auto">
          <a:xfrm>
            <a:off x="279530" y="3182363"/>
            <a:ext cx="8548907" cy="71530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Plutôt que de créer un groupe, utilisez dans la mesure du possible le groupe intégré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414743" name="AutoShape-23"/>
          <p:cNvSpPr>
            <a:spLocks noChangeArrowheads="1"/>
          </p:cNvSpPr>
          <p:nvPr/>
        </p:nvSpPr>
        <p:spPr bwMode="auto">
          <a:xfrm>
            <a:off x="277943" y="5240048"/>
            <a:ext cx="8552548" cy="92236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 marL="231775" indent="-231775" algn="l">
              <a:lnSpc>
                <a:spcPct val="8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Approuvez toutes les personnes membres des groupes Administrateurs, Utilisateurs avec pouvoir, Opérateurs d'impression et Opérateurs de sauvegarde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</a:t>
            </a:r>
            <a:endParaRPr lang="en-US" sz="2200" dirty="0">
              <a:solidFill>
                <a:srgbClr val="000000"/>
              </a:solidFill>
              <a:ea typeface="SimSun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1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1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1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1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1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41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41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5" grpId="0" animBg="1"/>
      <p:bldP spid="414736" grpId="0" animBg="1"/>
      <p:bldP spid="414737" grpId="0" animBg="1"/>
      <p:bldP spid="414738" grpId="0" animBg="1"/>
      <p:bldP spid="414739" grpId="0" animBg="1"/>
      <p:bldP spid="414740" grpId="0" animBg="1"/>
      <p:bldP spid="414742" grpId="0" animBg="1"/>
      <p:bldP spid="41474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943025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r-FR" dirty="0"/>
              <a:t>Quels genres de comptes  peuvent être définis via la console "utilisateurs et ordinateurs Active Directory" ?</a:t>
            </a:r>
          </a:p>
          <a:p>
            <a:r>
              <a:rPr lang="fr-FR" i="1" dirty="0"/>
              <a:t>Comptes de domaine</a:t>
            </a:r>
            <a:endParaRPr lang="fr-FR" dirty="0"/>
          </a:p>
          <a:p>
            <a:pPr lvl="0"/>
            <a:r>
              <a:rPr lang="fr-FR" dirty="0"/>
              <a:t>Quel est le meilleur moyen d’empêcher un compte d’être momentanément utilisé, de manière à minimiser les risques au niveau sécurité ?</a:t>
            </a:r>
          </a:p>
          <a:p>
            <a:r>
              <a:rPr lang="fr-FR" i="1" dirty="0"/>
              <a:t>Le désactiver</a:t>
            </a:r>
            <a:endParaRPr lang="fr-FR" dirty="0"/>
          </a:p>
          <a:p>
            <a:pPr lvl="0"/>
            <a:r>
              <a:rPr lang="fr-FR" dirty="0"/>
              <a:t>Vous souhaitez laisser libre choix des mots de passe pour vos utilisateurs. Comment allez-vous procéder lors de la création de leur compte utilisateur ?</a:t>
            </a:r>
          </a:p>
          <a:p>
            <a:r>
              <a:rPr lang="fr-FR" i="1" dirty="0"/>
              <a:t>Cocher l’option «L’utilisateur doit changer le mot de passe à la prochaine ouverture de session»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fr-FR" dirty="0"/>
              <a:t>En éditant les propriétés du compte d’un utilisateur, l’option Le compte verrouillé est grisé. Comment pouvez-vous verrouiller son compte ?</a:t>
            </a:r>
          </a:p>
          <a:p>
            <a:r>
              <a:rPr lang="fr-FR" i="1" dirty="0"/>
              <a:t>Après dépassement d’un seuil d’échec d’ouverture de session</a:t>
            </a:r>
            <a:endParaRPr lang="fr-FR" dirty="0"/>
          </a:p>
          <a:p>
            <a:pPr lvl="0"/>
            <a:r>
              <a:rPr lang="fr-FR" dirty="0"/>
              <a:t>A quoi sert un groupe de distribution ?</a:t>
            </a:r>
          </a:p>
          <a:p>
            <a:r>
              <a:rPr lang="fr-FR" i="1" dirty="0"/>
              <a:t>Exploitables via un logiciel de messagerie. Ils ne permettent pas d’affecter des permissions sur des ressources aux utilisateurs.</a:t>
            </a:r>
          </a:p>
          <a:p>
            <a:pPr lvl="0"/>
            <a:r>
              <a:rPr lang="fr-FR" dirty="0"/>
              <a:t>A quoi sert un groupe de sécurité ?</a:t>
            </a:r>
          </a:p>
          <a:p>
            <a:r>
              <a:rPr lang="fr-FR" i="1" dirty="0"/>
              <a:t>Permettent d’affecter des utilisateurs et des ordinateurs à des ressources. Peuvent aussi être utilisés comme groupes de distribution.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Que peut contenir un groupe domaine locale  ?</a:t>
            </a:r>
          </a:p>
          <a:p>
            <a:r>
              <a:rPr lang="fr-FR" i="1" dirty="0"/>
              <a:t>Comptes d’utilisateurs et groupes globaux du même domaine</a:t>
            </a:r>
          </a:p>
          <a:p>
            <a:pPr lvl="0"/>
            <a:r>
              <a:rPr lang="fr-FR" dirty="0"/>
              <a:t>Que peut contenir un groupe global  ?</a:t>
            </a:r>
          </a:p>
          <a:p>
            <a:r>
              <a:rPr lang="fr-FR" i="1" dirty="0"/>
              <a:t>Comptes d’utilisateurs, groupes globaux et groupes universels d’un domaine quelconque de la forêt, et groupes de domaine local du même domaine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tx1"/>
                </a:solidFill>
              </a:rPr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Que peut contenir un groupe universel?</a:t>
            </a:r>
          </a:p>
          <a:p>
            <a:r>
              <a:rPr lang="fr-FR" i="1" dirty="0"/>
              <a:t>Comptes d’utilisateurs, groupes globaux et autres groupes universels d’un domaine quelconque de la forêt.</a:t>
            </a:r>
            <a:endParaRPr lang="fr-FR" dirty="0"/>
          </a:p>
          <a:p>
            <a:pPr lvl="0"/>
            <a:r>
              <a:rPr lang="fr-FR" dirty="0"/>
              <a:t>Comment faire en sorte de créer rapidement des répertoires de base pour une centaine de comptes ?</a:t>
            </a:r>
          </a:p>
          <a:p>
            <a:r>
              <a:rPr lang="fr-FR" i="1" dirty="0"/>
              <a:t>Créer des modèles de comptes</a:t>
            </a:r>
            <a:endParaRPr lang="fr-FR" dirty="0"/>
          </a:p>
          <a:p>
            <a:pPr>
              <a:buClrTx/>
              <a:buFont typeface="Wingdings" pitchFamily="2" charset="2"/>
              <a:buChar char="q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3643</TotalTime>
  <Words>2475</Words>
  <Application>Microsoft Office PowerPoint</Application>
  <PresentationFormat>Affichage à l'écran (4:3)</PresentationFormat>
  <Paragraphs>411</Paragraphs>
  <Slides>47</Slides>
  <Notes>41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6" baseType="lpstr">
      <vt:lpstr>SimSun</vt:lpstr>
      <vt:lpstr>Arial</vt:lpstr>
      <vt:lpstr>Arial Narrow</vt:lpstr>
      <vt:lpstr>Georgia</vt:lpstr>
      <vt:lpstr>Times New Roman</vt:lpstr>
      <vt:lpstr>Wingdings</vt:lpstr>
      <vt:lpstr>Wingdings 2</vt:lpstr>
      <vt:lpstr>Civil</vt:lpstr>
      <vt:lpstr>Image</vt:lpstr>
      <vt:lpstr>Chapitre 2  Gestion des comptes d'utilisateurs, d'ordinateurs et des groupes</vt:lpstr>
      <vt:lpstr>Plan du cours</vt:lpstr>
      <vt:lpstr>1.  Création et modification de comptes d'utilisateurs et d'ordinateurs </vt:lpstr>
      <vt:lpstr>Description des comptes d'utilisateurs </vt:lpstr>
      <vt:lpstr>Noms associés aux comptes d'utilisateurs de domaine</vt:lpstr>
      <vt:lpstr>Options de mot de passe utilisateur </vt:lpstr>
      <vt:lpstr>Recommandations pour la création de comptes d'utilisateurs </vt:lpstr>
      <vt:lpstr>Description des comptes d'ordinateurs </vt:lpstr>
      <vt:lpstr>Intérêt de la création d'un compte d'ordinateur </vt:lpstr>
      <vt:lpstr>Emplacement de création des comptes d'ordinateurs dans un domaine </vt:lpstr>
      <vt:lpstr>Quand modifier les propriétés des comptes d'utilisateurs et des comptes d'ordinateurs </vt:lpstr>
      <vt:lpstr>Propriétés des comptes d'utilisateurs </vt:lpstr>
      <vt:lpstr>Propriétés des comptes d'ordinateurs </vt:lpstr>
      <vt:lpstr>2.  Création d'un modèle de compte d'utilisateur </vt:lpstr>
      <vt:lpstr>Description d'un modèle de compte d'utilisateur</vt:lpstr>
      <vt:lpstr>Propriétés d’un modèle </vt:lpstr>
      <vt:lpstr>Instructions de création de modèles de comptes d'utilisateurs </vt:lpstr>
      <vt:lpstr>3. Activation et déverrouillage des comptes d'utilisateurs et des comptes d'ordinateurs </vt:lpstr>
      <vt:lpstr>Intérêt de l'activation et de la désactivation des comptes d'utilisateurs et des comptes d'ordinateurs </vt:lpstr>
      <vt:lpstr>Description des comptes d'utilisateurs verrouillés </vt:lpstr>
      <vt:lpstr>4.  Création de groupes</vt:lpstr>
      <vt:lpstr>Description des groupes</vt:lpstr>
      <vt:lpstr>Description des groupes</vt:lpstr>
      <vt:lpstr>Description des groupes globaux</vt:lpstr>
      <vt:lpstr>Description des groupes universels</vt:lpstr>
      <vt:lpstr>Description des groupes de domaine local</vt:lpstr>
      <vt:lpstr>Description des groupes locaux</vt:lpstr>
      <vt:lpstr>5.  Gestion des groupes </vt:lpstr>
      <vt:lpstr>Propriétés Membres et Membre de</vt:lpstr>
      <vt:lpstr>Stratégie d'utilisation des groupes dans un seul domaine</vt:lpstr>
      <vt:lpstr>Stratégies de l’utilisation des groupes</vt:lpstr>
      <vt:lpstr>Etude de cas 1</vt:lpstr>
      <vt:lpstr>Etude de cas 2</vt:lpstr>
      <vt:lpstr>Description de la modification de l'étendue ou du type d'un groupe</vt:lpstr>
      <vt:lpstr>Intérêt de l'affectation d'un responsable à un groupe</vt:lpstr>
      <vt:lpstr>6. Groupes par défaut et groupes systèmes</vt:lpstr>
      <vt:lpstr>Groupes par défaut sur les serveurs membres</vt:lpstr>
      <vt:lpstr>Groupes par défaut dans Active Directory</vt:lpstr>
      <vt:lpstr>Quand utiliser les groupes par défaut?</vt:lpstr>
      <vt:lpstr>Considérations relatives à la sécurité des groupes par défaut</vt:lpstr>
      <vt:lpstr>Groupes système</vt:lpstr>
      <vt:lpstr>Groupes système</vt:lpstr>
      <vt:lpstr>Recommandations relatives à l'administration des groupes</vt:lpstr>
      <vt:lpstr>Exercices</vt:lpstr>
      <vt:lpstr>Exercices</vt:lpstr>
      <vt:lpstr>Exercices</vt:lpstr>
      <vt:lpstr>Exercices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Managing User and Computer Accounts</dc:title>
  <dc:creator>Marlene Lambert</dc:creator>
  <cp:lastModifiedBy>HALIMA.HOUSNY</cp:lastModifiedBy>
  <cp:revision>391</cp:revision>
  <dcterms:created xsi:type="dcterms:W3CDTF">2003-02-14T18:50:33Z</dcterms:created>
  <dcterms:modified xsi:type="dcterms:W3CDTF">2025-02-09T21:13:06Z</dcterms:modified>
</cp:coreProperties>
</file>